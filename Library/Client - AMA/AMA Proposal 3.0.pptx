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3" r:id="rId18"/>
    <p:sldId id="270" r:id="rId19"/>
    <p:sldId id="274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5" d="100"/>
          <a:sy n="75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4B53DBB6-96D7-41B4-A2E5-982BEEBCE3A0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D77E5467-4B2D-4E44-8363-CF295ED35EEB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D1D8F734-6FC9-46FB-8AAB-1793374DB0BF}" type="presOf" srcId="{E20769C5-73DC-4E8A-913F-24C08F2848CC}" destId="{D7B10E75-58CC-4807-BD47-EBDD0F301C5F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28D9035-97C4-41EB-8003-12D940579F40}" type="presOf" srcId="{973D7B39-D5D2-4B89-A3E7-1C0B9FD794DD}" destId="{3260B18C-0F12-415C-B2B5-B0D612D38936}" srcOrd="0" destOrd="0" presId="urn:microsoft.com/office/officeart/2005/8/layout/funnel1"/>
    <dgm:cxn modelId="{8393CDFA-7965-4B5A-AE99-BE90C5410D45}" type="presOf" srcId="{39749F21-8792-4349-A6A7-BF01EB94F789}" destId="{0B61870B-E2AE-47B9-90BE-64D52B77842D}" srcOrd="0" destOrd="0" presId="urn:microsoft.com/office/officeart/2005/8/layout/funnel1"/>
    <dgm:cxn modelId="{39E7F857-758C-428F-A175-1A5EC0C01116}" type="presParOf" srcId="{D7B10E75-58CC-4807-BD47-EBDD0F301C5F}" destId="{E1C58007-ADFE-400C-A7E7-0C16929F4834}" srcOrd="0" destOrd="0" presId="urn:microsoft.com/office/officeart/2005/8/layout/funnel1"/>
    <dgm:cxn modelId="{EAC90AC9-29FF-40D5-95C8-716C03FEFD61}" type="presParOf" srcId="{D7B10E75-58CC-4807-BD47-EBDD0F301C5F}" destId="{BE474BB7-A5E2-4490-A567-03B382957073}" srcOrd="1" destOrd="0" presId="urn:microsoft.com/office/officeart/2005/8/layout/funnel1"/>
    <dgm:cxn modelId="{EFA693D5-1402-4ADF-8C9C-844B8D56F919}" type="presParOf" srcId="{D7B10E75-58CC-4807-BD47-EBDD0F301C5F}" destId="{0B61870B-E2AE-47B9-90BE-64D52B77842D}" srcOrd="2" destOrd="0" presId="urn:microsoft.com/office/officeart/2005/8/layout/funnel1"/>
    <dgm:cxn modelId="{4EB44B82-6C04-4875-8068-46CAF77CD5C6}" type="presParOf" srcId="{D7B10E75-58CC-4807-BD47-EBDD0F301C5F}" destId="{3260B18C-0F12-415C-B2B5-B0D612D38936}" srcOrd="3" destOrd="0" presId="urn:microsoft.com/office/officeart/2005/8/layout/funnel1"/>
    <dgm:cxn modelId="{03ABA694-FF55-4D5A-9D65-0DA8B61C6F37}" type="presParOf" srcId="{D7B10E75-58CC-4807-BD47-EBDD0F301C5F}" destId="{F96B2562-BEBF-42CE-9FF0-1BBD38426426}" srcOrd="4" destOrd="0" presId="urn:microsoft.com/office/officeart/2005/8/layout/funnel1"/>
    <dgm:cxn modelId="{C9E7B409-92C8-48B4-8BA3-AC57E3DF8873}" type="presParOf" srcId="{D7B10E75-58CC-4807-BD47-EBDD0F301C5F}" destId="{1700B4C8-12E4-4D00-876C-94377F786E85}" srcOrd="5" destOrd="0" presId="urn:microsoft.com/office/officeart/2005/8/layout/funnel1"/>
    <dgm:cxn modelId="{632CC4FB-1988-4F8D-99C3-B8B6227AE55F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E32315AD-287F-4C5A-8178-9C12FB284AE9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40C782-E768-4900-8453-D6EEBE7A0856}" type="presOf" srcId="{673AE5C1-39E1-47D6-9713-8CA9BE6EA1DA}" destId="{F6218397-5286-4BF9-91BC-3A8217C085AF}" srcOrd="0" destOrd="0" presId="urn:microsoft.com/office/officeart/2005/8/layout/hProcess9"/>
    <dgm:cxn modelId="{204E9FB7-1034-451D-879A-529763B18033}" type="presOf" srcId="{56F0B946-F863-43B5-9AE7-3ED2571CC1F7}" destId="{D195289F-4E10-4B57-8C58-6BB3CB9CCF4B}" srcOrd="0" destOrd="0" presId="urn:microsoft.com/office/officeart/2005/8/layout/hProcess9"/>
    <dgm:cxn modelId="{331C9E4D-3B97-454D-B6E3-904B6713F6FD}" type="presOf" srcId="{F75D5E40-C0EA-4FAA-9275-3C70938E00EE}" destId="{EDBBB759-F01A-4C3B-A1A8-D2C8F1E5A578}" srcOrd="0" destOrd="0" presId="urn:microsoft.com/office/officeart/2005/8/layout/hProcess9"/>
    <dgm:cxn modelId="{EC5932F4-A118-4A15-9D10-E01638BB7D78}" type="presParOf" srcId="{F6218397-5286-4BF9-91BC-3A8217C085AF}" destId="{57B6F08F-F180-42E5-86EE-1F47EC70A8B7}" srcOrd="0" destOrd="0" presId="urn:microsoft.com/office/officeart/2005/8/layout/hProcess9"/>
    <dgm:cxn modelId="{A5FAB8E3-7753-469D-A4B6-B4EDCEDE9CF5}" type="presParOf" srcId="{F6218397-5286-4BF9-91BC-3A8217C085AF}" destId="{ED339E6A-99DE-44B5-8942-676116993976}" srcOrd="1" destOrd="0" presId="urn:microsoft.com/office/officeart/2005/8/layout/hProcess9"/>
    <dgm:cxn modelId="{75F663C9-0005-4388-B97F-4E789864985E}" type="presParOf" srcId="{ED339E6A-99DE-44B5-8942-676116993976}" destId="{D195289F-4E10-4B57-8C58-6BB3CB9CCF4B}" srcOrd="0" destOrd="0" presId="urn:microsoft.com/office/officeart/2005/8/layout/hProcess9"/>
    <dgm:cxn modelId="{4E10D462-BE8B-4A56-BC43-1A58D4C9567B}" type="presParOf" srcId="{ED339E6A-99DE-44B5-8942-676116993976}" destId="{B5A6657B-DFA9-42AD-BD72-82BAEBF8B87E}" srcOrd="1" destOrd="0" presId="urn:microsoft.com/office/officeart/2005/8/layout/hProcess9"/>
    <dgm:cxn modelId="{7F3B2439-53D4-4760-A727-A26725EC6599}" type="presParOf" srcId="{ED339E6A-99DE-44B5-8942-676116993976}" destId="{EDBBB759-F01A-4C3B-A1A8-D2C8F1E5A578}" srcOrd="2" destOrd="0" presId="urn:microsoft.com/office/officeart/2005/8/layout/hProcess9"/>
    <dgm:cxn modelId="{929A9DDA-E11C-4BFE-AF26-B168B9AE7B5A}" type="presParOf" srcId="{ED339E6A-99DE-44B5-8942-676116993976}" destId="{7E687DF4-201B-4FB8-B89C-9863D30313FA}" srcOrd="3" destOrd="0" presId="urn:microsoft.com/office/officeart/2005/8/layout/hProcess9"/>
    <dgm:cxn modelId="{5DE68921-0322-4125-8026-012E7DCF02D4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354CA971-1877-4963-A2BB-135428611037}" type="presOf" srcId="{D6F595D2-470C-401C-A533-3E80B84244AA}" destId="{07AFC6E7-B973-46CA-8BED-AD11916A26C6}" srcOrd="1" destOrd="0" presId="urn:microsoft.com/office/officeart/2005/8/layout/cycle2"/>
    <dgm:cxn modelId="{2F0F4320-A845-4B39-A254-718A2EC4D76D}" type="presOf" srcId="{723CC3D7-5D8F-4BE3-AE6D-CE228595E268}" destId="{C3DD57C0-4A46-47E8-A3EB-683924E5F05E}" srcOrd="0" destOrd="0" presId="urn:microsoft.com/office/officeart/2005/8/layout/cycle2"/>
    <dgm:cxn modelId="{40AE9B77-7F91-4AFC-B4EF-7DB8A399F384}" type="presOf" srcId="{45C84ECF-EE1B-4B49-8EF8-7CAEF2A5F7D7}" destId="{DBEDE08A-D6E8-4108-896E-C113DB47C979}" srcOrd="1" destOrd="0" presId="urn:microsoft.com/office/officeart/2005/8/layout/cycle2"/>
    <dgm:cxn modelId="{BEAAD8BD-30BA-4EF6-BFC1-3830F4C2C98E}" type="presOf" srcId="{2D59D820-0CB4-4E1F-92BB-95FFDD082F73}" destId="{225F2983-0321-4A3D-86C7-7E3CCDC569BC}" srcOrd="0" destOrd="0" presId="urn:microsoft.com/office/officeart/2005/8/layout/cycle2"/>
    <dgm:cxn modelId="{A4433A16-48F6-48F7-856A-9E9BBDBC49AC}" type="presOf" srcId="{ACC9FE0A-FD41-47FD-A639-30E1D7390D3C}" destId="{F38FA08F-FE08-42BB-8EE8-5C1C65DF85EB}" srcOrd="1" destOrd="0" presId="urn:microsoft.com/office/officeart/2005/8/layout/cycle2"/>
    <dgm:cxn modelId="{3993E6AF-50BE-4607-805C-75760156EC02}" type="presOf" srcId="{F1CE9FE8-D255-4002-AFE1-7D2B290D77A4}" destId="{0BB1AB6A-657E-4BE7-B826-04310CB87FD6}" srcOrd="0" destOrd="0" presId="urn:microsoft.com/office/officeart/2005/8/layout/cycle2"/>
    <dgm:cxn modelId="{16240303-29ED-48F1-815A-801CD3FCE4B6}" type="presOf" srcId="{D6F595D2-470C-401C-A533-3E80B84244AA}" destId="{E7314FF0-C3D4-4067-9A96-DAE7F230A6B3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A5D684EA-FA1B-4B67-96D9-057DFD770C82}" type="presOf" srcId="{73A865D5-5B91-4B22-BA06-C26D9BCB2EE5}" destId="{C25E6119-54FA-4530-870F-778E283C0BD5}" srcOrd="0" destOrd="0" presId="urn:microsoft.com/office/officeart/2005/8/layout/cycle2"/>
    <dgm:cxn modelId="{22E91B80-EB3C-4B23-9285-E5669527C98B}" type="presOf" srcId="{73A865D5-5B91-4B22-BA06-C26D9BCB2EE5}" destId="{DBE7C2DC-A3D5-4950-9D16-A38DF0EA4010}" srcOrd="1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D36A24-62F4-4BBB-8A9A-ABDF574E79E5}" type="presOf" srcId="{45C84ECF-EE1B-4B49-8EF8-7CAEF2A5F7D7}" destId="{A7D0551F-936B-4658-B33F-A836AF1BBB6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EB97AD3A-498F-4DEE-8DB0-4306A85AB3C9}" type="presOf" srcId="{55E28E46-380A-467B-AE34-589B0252C611}" destId="{A2460FAC-F0F1-4820-B573-16079F413D80}" srcOrd="1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FD46FCC0-5F65-4239-BD84-E4CF0C41C15D}" type="presOf" srcId="{ACC9FE0A-FD41-47FD-A639-30E1D7390D3C}" destId="{3D2113D7-D3E7-4CB9-BC98-536F54DAF21C}" srcOrd="0" destOrd="0" presId="urn:microsoft.com/office/officeart/2005/8/layout/cycle2"/>
    <dgm:cxn modelId="{2E9F8112-EA74-4A02-98C1-4F11FA857FC1}" type="presOf" srcId="{6C0CCD30-116E-48B1-9F0C-6D8A7EE2F2A8}" destId="{A7C42B21-429E-4C68-A376-78D2C78D89EA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BF0A08F2-C4C5-4986-9A44-D6184141B56C}" type="presOf" srcId="{D9EF2CA6-CB89-4C75-A47A-2A8DFD1700AB}" destId="{C6CB6EE8-F817-48B1-A2A4-7074F5E20ADC}" srcOrd="0" destOrd="0" presId="urn:microsoft.com/office/officeart/2005/8/layout/cycle2"/>
    <dgm:cxn modelId="{527A875E-E385-47CD-8952-55931BB9A674}" type="presOf" srcId="{6C9C8D6C-34E9-4C0C-BCBD-DFB9CDC55631}" destId="{DEEF388A-0A0E-4C93-AF3E-70FF1B41590B}" srcOrd="0" destOrd="0" presId="urn:microsoft.com/office/officeart/2005/8/layout/cycle2"/>
    <dgm:cxn modelId="{DEBC7E03-93FB-455E-A071-64973BD961FC}" type="presOf" srcId="{55E28E46-380A-467B-AE34-589B0252C611}" destId="{3B18EA10-55B7-4FA2-B1AF-880978BD726E}" srcOrd="0" destOrd="0" presId="urn:microsoft.com/office/officeart/2005/8/layout/cycle2"/>
    <dgm:cxn modelId="{CDA1EE88-11E2-4EC0-AE42-A66B374CC6C5}" type="presParOf" srcId="{DEEF388A-0A0E-4C93-AF3E-70FF1B41590B}" destId="{C6CB6EE8-F817-48B1-A2A4-7074F5E20ADC}" srcOrd="0" destOrd="0" presId="urn:microsoft.com/office/officeart/2005/8/layout/cycle2"/>
    <dgm:cxn modelId="{384275B7-3A04-47A5-9376-DE05C176A2AF}" type="presParOf" srcId="{DEEF388A-0A0E-4C93-AF3E-70FF1B41590B}" destId="{E7314FF0-C3D4-4067-9A96-DAE7F230A6B3}" srcOrd="1" destOrd="0" presId="urn:microsoft.com/office/officeart/2005/8/layout/cycle2"/>
    <dgm:cxn modelId="{906E51E1-C2BD-41F3-9085-DA0DD5B15883}" type="presParOf" srcId="{E7314FF0-C3D4-4067-9A96-DAE7F230A6B3}" destId="{07AFC6E7-B973-46CA-8BED-AD11916A26C6}" srcOrd="0" destOrd="0" presId="urn:microsoft.com/office/officeart/2005/8/layout/cycle2"/>
    <dgm:cxn modelId="{BAC8B3E8-4AB5-4B3A-A4E3-FC8998F28E31}" type="presParOf" srcId="{DEEF388A-0A0E-4C93-AF3E-70FF1B41590B}" destId="{0BB1AB6A-657E-4BE7-B826-04310CB87FD6}" srcOrd="2" destOrd="0" presId="urn:microsoft.com/office/officeart/2005/8/layout/cycle2"/>
    <dgm:cxn modelId="{B8A525C4-97F4-4F56-B22F-BBD412A68A9F}" type="presParOf" srcId="{DEEF388A-0A0E-4C93-AF3E-70FF1B41590B}" destId="{3D2113D7-D3E7-4CB9-BC98-536F54DAF21C}" srcOrd="3" destOrd="0" presId="urn:microsoft.com/office/officeart/2005/8/layout/cycle2"/>
    <dgm:cxn modelId="{27640018-03E2-4291-9E02-B26E2CAD521E}" type="presParOf" srcId="{3D2113D7-D3E7-4CB9-BC98-536F54DAF21C}" destId="{F38FA08F-FE08-42BB-8EE8-5C1C65DF85EB}" srcOrd="0" destOrd="0" presId="urn:microsoft.com/office/officeart/2005/8/layout/cycle2"/>
    <dgm:cxn modelId="{F3C70AF2-4B0B-4EC7-8496-5214102AEA4D}" type="presParOf" srcId="{DEEF388A-0A0E-4C93-AF3E-70FF1B41590B}" destId="{A7C42B21-429E-4C68-A376-78D2C78D89EA}" srcOrd="4" destOrd="0" presId="urn:microsoft.com/office/officeart/2005/8/layout/cycle2"/>
    <dgm:cxn modelId="{72433398-358C-4442-8C4B-4458D10A0976}" type="presParOf" srcId="{DEEF388A-0A0E-4C93-AF3E-70FF1B41590B}" destId="{3B18EA10-55B7-4FA2-B1AF-880978BD726E}" srcOrd="5" destOrd="0" presId="urn:microsoft.com/office/officeart/2005/8/layout/cycle2"/>
    <dgm:cxn modelId="{E51D4CC2-133A-4FE9-ACF4-3818F46EA74C}" type="presParOf" srcId="{3B18EA10-55B7-4FA2-B1AF-880978BD726E}" destId="{A2460FAC-F0F1-4820-B573-16079F413D80}" srcOrd="0" destOrd="0" presId="urn:microsoft.com/office/officeart/2005/8/layout/cycle2"/>
    <dgm:cxn modelId="{1455D5C1-1EF9-472B-8793-F63B0CBE85D5}" type="presParOf" srcId="{DEEF388A-0A0E-4C93-AF3E-70FF1B41590B}" destId="{225F2983-0321-4A3D-86C7-7E3CCDC569BC}" srcOrd="6" destOrd="0" presId="urn:microsoft.com/office/officeart/2005/8/layout/cycle2"/>
    <dgm:cxn modelId="{19A8F474-9B9B-4827-ADA6-31B060D6EB0B}" type="presParOf" srcId="{DEEF388A-0A0E-4C93-AF3E-70FF1B41590B}" destId="{A7D0551F-936B-4658-B33F-A836AF1BBB65}" srcOrd="7" destOrd="0" presId="urn:microsoft.com/office/officeart/2005/8/layout/cycle2"/>
    <dgm:cxn modelId="{07C6B696-880E-46EC-8FDA-05F191B9B0B7}" type="presParOf" srcId="{A7D0551F-936B-4658-B33F-A836AF1BBB65}" destId="{DBEDE08A-D6E8-4108-896E-C113DB47C979}" srcOrd="0" destOrd="0" presId="urn:microsoft.com/office/officeart/2005/8/layout/cycle2"/>
    <dgm:cxn modelId="{6AA42819-08B5-4E7B-8073-86DDDE16BD8B}" type="presParOf" srcId="{DEEF388A-0A0E-4C93-AF3E-70FF1B41590B}" destId="{C3DD57C0-4A46-47E8-A3EB-683924E5F05E}" srcOrd="8" destOrd="0" presId="urn:microsoft.com/office/officeart/2005/8/layout/cycle2"/>
    <dgm:cxn modelId="{D3716DF0-E003-43E5-9030-54E7DAB89203}" type="presParOf" srcId="{DEEF388A-0A0E-4C93-AF3E-70FF1B41590B}" destId="{C25E6119-54FA-4530-870F-778E283C0BD5}" srcOrd="9" destOrd="0" presId="urn:microsoft.com/office/officeart/2005/8/layout/cycle2"/>
    <dgm:cxn modelId="{BE3A3D76-1DB0-4B4E-8776-675E69D4A176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7/17/2009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7/17/2009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 New Value Proposition</a:t>
            </a:r>
            <a:br>
              <a:rPr lang="en-US" b="1" smtClean="0"/>
            </a:br>
            <a:r>
              <a:rPr lang="en-US" b="1" smtClean="0"/>
              <a:t>for the AMA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Current Challenges</a:t>
            </a:r>
          </a:p>
          <a:p>
            <a:pPr eaLnBrk="1" hangingPunct="1"/>
            <a:r>
              <a:rPr lang="en-US" sz="2400" dirty="0" smtClean="0"/>
              <a:t>AMA’s Role in Healthcare Reform</a:t>
            </a:r>
          </a:p>
          <a:p>
            <a:pPr eaLnBrk="1" hangingPunct="1"/>
            <a:r>
              <a:rPr lang="en-US" sz="2400" dirty="0" smtClean="0"/>
              <a:t>Needs of the providers</a:t>
            </a:r>
          </a:p>
          <a:p>
            <a:pPr eaLnBrk="1" hangingPunct="1"/>
            <a:r>
              <a:rPr lang="en-US" sz="2400" dirty="0" smtClean="0"/>
              <a:t>Needs of the practitioners</a:t>
            </a:r>
          </a:p>
          <a:p>
            <a:pPr eaLnBrk="1" hangingPunct="1"/>
            <a:r>
              <a:rPr lang="en-US" sz="2400" dirty="0" smtClean="0"/>
              <a:t>Needs of the patients</a:t>
            </a:r>
          </a:p>
          <a:p>
            <a:pPr eaLnBrk="1" hangingPunct="1"/>
            <a:r>
              <a:rPr lang="en-US" sz="2400" dirty="0" smtClean="0"/>
              <a:t>AMA’s Opportunity to enable Value</a:t>
            </a:r>
          </a:p>
          <a:p>
            <a:pPr eaLnBrk="1" hangingPunct="1"/>
            <a:r>
              <a:rPr lang="en-US" sz="2400" dirty="0" smtClean="0"/>
              <a:t>Positioning AMA at the forefront of Healthcare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Current Challenges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AMA is facing an eroding member base.  </a:t>
            </a:r>
          </a:p>
          <a:p>
            <a:pPr eaLnBrk="1" hangingPunct="1"/>
            <a:r>
              <a:rPr lang="en-US" sz="2400" dirty="0" smtClean="0"/>
              <a:t>Average membership age has been steadily increasing.</a:t>
            </a:r>
          </a:p>
          <a:p>
            <a:pPr eaLnBrk="1" hangingPunct="1"/>
            <a:r>
              <a:rPr lang="en-US" sz="2400" dirty="0" smtClean="0"/>
              <a:t>Profits have declined significantly in 2008 (before the recession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Many practitioners no longer look to the AMA for </a:t>
            </a:r>
            <a:r>
              <a:rPr lang="en-US" sz="2400" dirty="0" smtClean="0"/>
              <a:t>innovation. 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AMA is competing with many other organizations for mindshare &amp; wallet [e.g. ADA, ACC, HIMSS, </a:t>
            </a:r>
            <a:r>
              <a:rPr lang="en-US" sz="2400" dirty="0" smtClean="0"/>
              <a:t>…].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Healthcare has reached a precipice and everyone is looking to the government for answers (be happy what you wish for</a:t>
            </a:r>
            <a:r>
              <a:rPr lang="en-US" sz="2400" dirty="0" smtClean="0"/>
              <a:t>…).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Role in Healthcare Reform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Still a relevant voice that should be heard by the </a:t>
            </a:r>
            <a:r>
              <a:rPr lang="en-US" sz="2400" dirty="0" smtClean="0"/>
              <a:t>government. </a:t>
            </a:r>
            <a:endParaRPr lang="en-US" sz="2400" dirty="0" smtClean="0"/>
          </a:p>
          <a:p>
            <a:r>
              <a:rPr lang="en-US" sz="2400" dirty="0" smtClean="0"/>
              <a:t>The stakeholders are looking for </a:t>
            </a:r>
            <a:r>
              <a:rPr lang="en-US" sz="2400" dirty="0" smtClean="0"/>
              <a:t>answers:</a:t>
            </a:r>
            <a:endParaRPr lang="en-US" sz="2400" dirty="0" smtClean="0"/>
          </a:p>
          <a:p>
            <a:pPr lvl="1"/>
            <a:r>
              <a:rPr lang="en-US" sz="2000" dirty="0" smtClean="0"/>
              <a:t>Practitioners are worried about quality &amp; income</a:t>
            </a:r>
          </a:p>
          <a:p>
            <a:pPr lvl="1"/>
            <a:r>
              <a:rPr lang="en-US" sz="2000" dirty="0" smtClean="0"/>
              <a:t>Providers are worried about loss of control &amp; income</a:t>
            </a:r>
          </a:p>
          <a:p>
            <a:pPr lvl="1"/>
            <a:r>
              <a:rPr lang="en-US" sz="2000" dirty="0" smtClean="0"/>
              <a:t>Patients are worried about quality, loss of control, and income as well</a:t>
            </a:r>
          </a:p>
          <a:p>
            <a:r>
              <a:rPr lang="en-US" sz="2400" dirty="0" smtClean="0"/>
              <a:t>Opportunity for unifying leadership to provide guidance and direction for change (much of which will be disruptive</a:t>
            </a:r>
            <a:r>
              <a:rPr lang="en-US" sz="2400" dirty="0" smtClean="0"/>
              <a:t>). </a:t>
            </a:r>
            <a:endParaRPr lang="en-US" sz="2400" dirty="0" smtClean="0"/>
          </a:p>
          <a:p>
            <a:r>
              <a:rPr lang="en-US" sz="2400" dirty="0" smtClean="0"/>
              <a:t>Opportunity to encourage collaboration and cooperation to solve the healthcare needs in the US and across the </a:t>
            </a:r>
            <a:r>
              <a:rPr lang="en-US" sz="2400" dirty="0" smtClean="0"/>
              <a:t>world.</a:t>
            </a:r>
            <a:endParaRPr lang="en-US" sz="2400" dirty="0" smtClean="0"/>
          </a:p>
          <a:p>
            <a:r>
              <a:rPr lang="en-US" sz="2400" dirty="0" smtClean="0"/>
              <a:t>Opportunity to create a “system” of healthcare guided by consistent value-driven metrics (outcomes</a:t>
            </a:r>
            <a:r>
              <a:rPr lang="en-US" sz="2400" dirty="0" smtClean="0"/>
              <a:t>).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/>
              <a:t>To get the pharmaceutical and device manufacturers, the insurers, and healthcare suppliers to become aligned, unified and collaborative by focusing on a consistent set of outcomes.</a:t>
            </a:r>
          </a:p>
          <a:p>
            <a:r>
              <a:rPr lang="en-US" sz="2400" dirty="0" smtClean="0"/>
              <a:t>To increase collaboration NOT competition.</a:t>
            </a:r>
          </a:p>
          <a:p>
            <a:r>
              <a:rPr lang="en-US" sz="2400" dirty="0" smtClean="0"/>
              <a:t>To understand how to identify, measure and deliver value throughout the healthcare value network.</a:t>
            </a:r>
          </a:p>
          <a:p>
            <a:r>
              <a:rPr lang="en-US" sz="2400" dirty="0" smtClean="0"/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Practitioners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improve diagnostic capabilities in a cost effective manner.</a:t>
            </a:r>
          </a:p>
          <a:p>
            <a:r>
              <a:rPr lang="en-US" sz="2400" dirty="0" smtClean="0"/>
              <a:t>To improve clinical processes. </a:t>
            </a:r>
          </a:p>
          <a:p>
            <a:r>
              <a:rPr lang="en-US" sz="2400" dirty="0" smtClean="0"/>
              <a:t>To provide consistent levels of quality.</a:t>
            </a:r>
          </a:p>
          <a:p>
            <a:r>
              <a:rPr lang="en-US" sz="2400" dirty="0" smtClean="0"/>
              <a:t>To move beyond service, where they can deliver a positive  experience. </a:t>
            </a:r>
          </a:p>
          <a:p>
            <a:r>
              <a:rPr lang="en-US" sz="2400" dirty="0" smtClean="0"/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Patients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 smtClean="0"/>
              <a:t>To have affordable </a:t>
            </a:r>
            <a:r>
              <a:rPr lang="en-US" sz="2400" dirty="0" smtClean="0"/>
              <a:t>healthcare.</a:t>
            </a:r>
            <a:endParaRPr lang="en-US" sz="2400" dirty="0" smtClean="0"/>
          </a:p>
          <a:p>
            <a:r>
              <a:rPr lang="en-US" sz="2400" dirty="0" smtClean="0"/>
              <a:t>To have attainable </a:t>
            </a:r>
            <a:r>
              <a:rPr lang="en-US" sz="2400" dirty="0" smtClean="0"/>
              <a:t>healthcare.</a:t>
            </a:r>
            <a:endParaRPr lang="en-US" sz="2400" dirty="0" smtClean="0"/>
          </a:p>
          <a:p>
            <a:r>
              <a:rPr lang="en-US" sz="2400" dirty="0" smtClean="0"/>
              <a:t>To have more accessible </a:t>
            </a:r>
            <a:r>
              <a:rPr lang="en-US" sz="2400" dirty="0" smtClean="0"/>
              <a:t>healthcare. </a:t>
            </a:r>
            <a:endParaRPr lang="en-US" sz="2400" dirty="0" smtClean="0"/>
          </a:p>
          <a:p>
            <a:r>
              <a:rPr lang="en-US" sz="2400" dirty="0" smtClean="0"/>
              <a:t>To have consistent levels of quality (results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dirty="0" smtClean="0"/>
              <a:t>To deliver a total healthcare </a:t>
            </a:r>
            <a:r>
              <a:rPr lang="en-US" sz="2400" dirty="0" smtClean="0"/>
              <a:t>experience:</a:t>
            </a:r>
            <a:endParaRPr lang="en-US" sz="2400" dirty="0" smtClean="0"/>
          </a:p>
          <a:p>
            <a:pPr lvl="1"/>
            <a:r>
              <a:rPr lang="en-US" sz="2400" dirty="0" smtClean="0"/>
              <a:t>To ensure their functional outcomes </a:t>
            </a:r>
            <a:r>
              <a:rPr lang="en-US" sz="2400" dirty="0" smtClean="0"/>
              <a:t>met.</a:t>
            </a:r>
            <a:endParaRPr lang="en-US" sz="2400" dirty="0" smtClean="0"/>
          </a:p>
          <a:p>
            <a:pPr lvl="1"/>
            <a:r>
              <a:rPr lang="en-US" sz="2400" dirty="0" smtClean="0"/>
              <a:t>To ensure their emotional outcomes </a:t>
            </a:r>
            <a:r>
              <a:rPr lang="en-US" sz="2400" dirty="0" smtClean="0"/>
              <a:t>met.</a:t>
            </a:r>
            <a:endParaRPr lang="en-US" sz="2400" dirty="0" smtClean="0"/>
          </a:p>
          <a:p>
            <a:r>
              <a:rPr lang="en-US" sz="2400" dirty="0" smtClean="0"/>
              <a:t>To have their outcomes met across the continuum of care (beyond the hospital, into clinics, and into the home</a:t>
            </a:r>
            <a:r>
              <a:rPr lang="en-US" sz="2400" dirty="0" smtClean="0"/>
              <a:t>).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Opportunity to enable Value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Innovate their current business model to address the needs of the providers, practitioners, and the patients (3Ps).</a:t>
            </a:r>
          </a:p>
          <a:p>
            <a:r>
              <a:rPr lang="en-US" sz="2400" dirty="0" smtClean="0"/>
              <a:t>Use a disciplined process to capture and assess the needs of the 3Ps in a quantifiable manner.</a:t>
            </a:r>
          </a:p>
          <a:p>
            <a:r>
              <a:rPr lang="en-US" sz="2400" dirty="0" smtClean="0"/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dirty="0" smtClean="0"/>
              <a:t>License the information in this repository to the 3Ps to build a self-sustaining model for improving value delivery in healthcare</a:t>
            </a:r>
          </a:p>
          <a:p>
            <a:r>
              <a:rPr lang="en-US" sz="2400" dirty="0" smtClean="0"/>
              <a:t>Guide (and possibly drive) innovation in healthcare  to create new value while reducing the overall costs for the 3Ps.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at the forefront of Healthcare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/>
              <a:t>The prescription for healthcare reform should come from within healthcare not lead by the government.</a:t>
            </a:r>
          </a:p>
          <a:p>
            <a:r>
              <a:rPr lang="en-US" sz="2400" dirty="0" smtClean="0"/>
              <a:t>The AMA can create a vision for a new healthcare system by forming a collaborative model with healthcare advocacy organizations, institutions, and practitioners.</a:t>
            </a:r>
          </a:p>
          <a:p>
            <a:r>
              <a:rPr lang="en-US" sz="2400" dirty="0" smtClean="0"/>
              <a:t>The AMA can provide the practitioners with a consistent set of benchmarks for measuring the value they deliver to patients.</a:t>
            </a:r>
          </a:p>
          <a:p>
            <a:r>
              <a:rPr lang="en-US" sz="2400" dirty="0" smtClean="0"/>
              <a:t>The AMA can drive open innovation amongst the providers to create a more efficient process for guiding and creating value.</a:t>
            </a:r>
          </a:p>
          <a:p>
            <a:r>
              <a:rPr lang="en-US" sz="2400" dirty="0" smtClean="0"/>
              <a:t>The government can support the AMA by guiding funds in a more efficient and effective manner to drive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Moving from Assumptions to Implementation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Establish a program focused on mapping the Jobs &amp; Outcomes across the healthcare </a:t>
            </a:r>
            <a:r>
              <a:rPr lang="en-US" sz="2400" dirty="0" smtClean="0"/>
              <a:t>domain.</a:t>
            </a:r>
            <a:endParaRPr lang="en-US" sz="2400" dirty="0" smtClean="0"/>
          </a:p>
          <a:p>
            <a:r>
              <a:rPr lang="en-US" sz="2400" dirty="0" smtClean="0"/>
              <a:t>Build a portfolio of unmet needs (opportunities) for improving value delivery to patients and practitioners.</a:t>
            </a:r>
          </a:p>
          <a:p>
            <a:r>
              <a:rPr lang="en-US" sz="2400" dirty="0" smtClean="0"/>
              <a:t>Establish a prioritization model to direct resources in an efficient </a:t>
            </a:r>
            <a:r>
              <a:rPr lang="en-US" sz="2400" dirty="0" smtClean="0"/>
              <a:t>manner.</a:t>
            </a:r>
            <a:endParaRPr lang="en-US" sz="2400" dirty="0" smtClean="0"/>
          </a:p>
          <a:p>
            <a:r>
              <a:rPr lang="en-US" sz="2400" dirty="0" smtClean="0"/>
              <a:t>Create an open innovation framework using the opportunities to generate ideas that can address the most important (prioritized) unmet </a:t>
            </a:r>
            <a:r>
              <a:rPr lang="en-US" sz="2400" dirty="0" smtClean="0"/>
              <a:t>needs. </a:t>
            </a:r>
            <a:endParaRPr lang="en-US" sz="2400" dirty="0" smtClean="0"/>
          </a:p>
          <a:p>
            <a:r>
              <a:rPr lang="en-US" sz="2400" dirty="0" smtClean="0"/>
              <a:t>Establish a shared revenue model as part of a collaborative to address these unmet </a:t>
            </a:r>
            <a:r>
              <a:rPr lang="en-US" sz="2400" dirty="0" smtClean="0"/>
              <a:t>needs.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Federated Portfolio of  Jobs &amp; Outcomes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Measurement Platform for Healthcare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Jobs</a:t>
            </a:r>
            <a:endParaRPr lang="en-US" b="1" dirty="0"/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Domains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Prevention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Diagnostics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Treatment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</a:t>
            </a:r>
            <a:endParaRPr lang="en-US" b="1" dirty="0"/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24200" y="32766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(Patients &amp; Practitioners)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portfolio of jobs &amp; </a:t>
            </a:r>
            <a:r>
              <a:rPr lang="en-US" dirty="0" smtClean="0"/>
              <a:t>outcomes:</a:t>
            </a:r>
            <a:endParaRPr lang="en-US" dirty="0" smtClean="0"/>
          </a:p>
          <a:p>
            <a:pPr lvl="1"/>
            <a:r>
              <a:rPr lang="en-US" dirty="0" smtClean="0"/>
              <a:t>For measuring </a:t>
            </a:r>
            <a:r>
              <a:rPr lang="en-US" dirty="0" smtClean="0"/>
              <a:t>value.</a:t>
            </a:r>
            <a:endParaRPr lang="en-US" dirty="0" smtClean="0"/>
          </a:p>
          <a:p>
            <a:pPr lvl="1"/>
            <a:r>
              <a:rPr lang="en-US" dirty="0" smtClean="0"/>
              <a:t>For capturing customer* </a:t>
            </a:r>
            <a:r>
              <a:rPr lang="en-US" dirty="0" smtClean="0"/>
              <a:t>needs.</a:t>
            </a:r>
            <a:endParaRPr lang="en-US" dirty="0" smtClean="0"/>
          </a:p>
          <a:p>
            <a:pPr lvl="1"/>
            <a:r>
              <a:rPr lang="en-US" dirty="0" smtClean="0"/>
              <a:t>For guiding </a:t>
            </a:r>
            <a:r>
              <a:rPr lang="en-US" dirty="0" smtClean="0"/>
              <a:t>innovation.</a:t>
            </a:r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* The focus is on Patients and Providers in the Healthcare Value Network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Value 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Compliance</a:t>
            </a:r>
          </a:p>
          <a:p>
            <a:pPr algn="ctr"/>
            <a:r>
              <a:rPr lang="en-US" b="1" dirty="0" smtClean="0"/>
              <a:t>Rules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an innovation portfolio to drive </a:t>
            </a:r>
            <a:r>
              <a:rPr lang="en-US" dirty="0" smtClean="0"/>
              <a:t>value by:</a:t>
            </a:r>
            <a:endParaRPr lang="en-US" dirty="0" smtClean="0"/>
          </a:p>
          <a:p>
            <a:pPr lvl="1"/>
            <a:r>
              <a:rPr lang="en-US" dirty="0" smtClean="0"/>
              <a:t>Creating </a:t>
            </a:r>
            <a:r>
              <a:rPr lang="en-US" dirty="0" smtClean="0"/>
              <a:t>a portfolio of outcomes that can be used by the 3 Ps </a:t>
            </a:r>
            <a:r>
              <a:rPr lang="en-US" dirty="0" smtClean="0"/>
              <a:t>to measure value.</a:t>
            </a:r>
            <a:endParaRPr lang="en-US" dirty="0" smtClean="0"/>
          </a:p>
          <a:p>
            <a:pPr lvl="1"/>
            <a:r>
              <a:rPr lang="en-US" dirty="0" smtClean="0"/>
              <a:t>Creating </a:t>
            </a:r>
            <a:r>
              <a:rPr lang="en-US" dirty="0" smtClean="0"/>
              <a:t>a portfolio of opportunities (IP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r>
              <a:rPr lang="en-US" dirty="0" smtClean="0"/>
              <a:t>Leveraging open innovation to create a portfolio of i</a:t>
            </a:r>
            <a:r>
              <a:rPr lang="en-US" dirty="0" smtClean="0"/>
              <a:t>deas to address unmet needs.</a:t>
            </a:r>
            <a:endParaRPr lang="en-US" dirty="0" smtClean="0"/>
          </a:p>
          <a:p>
            <a:pPr lvl="1"/>
            <a:r>
              <a:rPr lang="en-US" dirty="0" smtClean="0"/>
              <a:t>Engaging innovators in a collaborative effort to create new products and </a:t>
            </a:r>
            <a:r>
              <a:rPr lang="en-US" dirty="0" smtClean="0"/>
              <a:t>services to </a:t>
            </a:r>
            <a:r>
              <a:rPr lang="en-US" dirty="0" smtClean="0"/>
              <a:t>solve the most important needs in healthcare.</a:t>
            </a:r>
            <a:endParaRPr lang="en-US" dirty="0" smtClean="0"/>
          </a:p>
          <a:p>
            <a:pPr lvl="1"/>
            <a:r>
              <a:rPr lang="en-US" dirty="0" smtClean="0"/>
              <a:t>Aligning </a:t>
            </a:r>
            <a:r>
              <a:rPr lang="en-US" dirty="0" smtClean="0"/>
              <a:t>sustainable value delivery within a system of healthcare.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identifying the priorities for healthcare upfront, the AMA </a:t>
            </a:r>
            <a:r>
              <a:rPr lang="en-US" dirty="0" smtClean="0"/>
              <a:t>can:</a:t>
            </a:r>
          </a:p>
          <a:p>
            <a:pPr lvl="1"/>
            <a:r>
              <a:rPr lang="en-US" dirty="0" smtClean="0"/>
              <a:t>R</a:t>
            </a:r>
            <a:r>
              <a:rPr lang="en-US" dirty="0" smtClean="0"/>
              <a:t>educe the risks for  </a:t>
            </a:r>
            <a:r>
              <a:rPr lang="en-US" dirty="0" smtClean="0"/>
              <a:t>the upfront investments </a:t>
            </a:r>
            <a:r>
              <a:rPr lang="en-US" dirty="0" smtClean="0"/>
              <a:t>in new </a:t>
            </a:r>
            <a:r>
              <a:rPr lang="en-US" dirty="0" smtClean="0"/>
              <a:t>products </a:t>
            </a:r>
            <a:r>
              <a:rPr lang="en-US" dirty="0" smtClean="0"/>
              <a:t>and services.</a:t>
            </a:r>
          </a:p>
          <a:p>
            <a:pPr lvl="1"/>
            <a:r>
              <a:rPr lang="en-US" dirty="0" smtClean="0"/>
              <a:t>Focus 3</a:t>
            </a:r>
            <a:r>
              <a:rPr lang="en-US" baseline="30000" dirty="0" smtClean="0"/>
              <a:t>rd</a:t>
            </a:r>
            <a:r>
              <a:rPr lang="en-US" dirty="0" smtClean="0"/>
              <a:t> party resources in a more efficient manner.</a:t>
            </a:r>
          </a:p>
          <a:p>
            <a:pPr lvl="1"/>
            <a:r>
              <a:rPr lang="en-US" dirty="0" smtClean="0"/>
              <a:t>Reduce the costs associated with investment planning.</a:t>
            </a:r>
          </a:p>
          <a:p>
            <a:pPr lvl="1"/>
            <a:r>
              <a:rPr lang="en-US" dirty="0" smtClean="0"/>
              <a:t>Reduce the cycle time for bringing new value to address the most important needs in healthcare.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By </a:t>
            </a:r>
            <a:r>
              <a:rPr lang="en-US" dirty="0" smtClean="0"/>
              <a:t>using a managed IP model, the AMA </a:t>
            </a:r>
            <a:r>
              <a:rPr lang="en-US" dirty="0" smtClean="0"/>
              <a:t>can:</a:t>
            </a:r>
          </a:p>
          <a:p>
            <a:pPr lvl="1"/>
            <a:r>
              <a:rPr lang="en-US" dirty="0" smtClean="0"/>
              <a:t>E</a:t>
            </a:r>
            <a:r>
              <a:rPr lang="en-US" dirty="0" smtClean="0"/>
              <a:t>ncourage open innovation to leverage mindshare across all disciplines to focus on solving the most important needs in healthcare.</a:t>
            </a:r>
          </a:p>
          <a:p>
            <a:pPr lvl="1"/>
            <a:r>
              <a:rPr lang="en-US" dirty="0" smtClean="0"/>
              <a:t>Promote collaboration instead of competition to:</a:t>
            </a:r>
          </a:p>
          <a:p>
            <a:pPr lvl="2"/>
            <a:r>
              <a:rPr lang="en-US" dirty="0" smtClean="0"/>
              <a:t>B</a:t>
            </a:r>
            <a:r>
              <a:rPr lang="en-US" dirty="0" smtClean="0"/>
              <a:t>ring new efficiencies to research and development of new products and services.</a:t>
            </a:r>
          </a:p>
          <a:p>
            <a:pPr lvl="2"/>
            <a:r>
              <a:rPr lang="en-US" dirty="0" smtClean="0"/>
              <a:t>Reduce the costs and cycle time associated with bringing new products and services into the healthcare system.</a:t>
            </a:r>
          </a:p>
          <a:p>
            <a:pPr lvl="2"/>
            <a:r>
              <a:rPr lang="en-US" dirty="0" smtClean="0"/>
              <a:t>To </a:t>
            </a:r>
            <a:r>
              <a:rPr lang="en-US" dirty="0" smtClean="0"/>
              <a:t>even the </a:t>
            </a:r>
            <a:r>
              <a:rPr lang="en-US" dirty="0" smtClean="0"/>
              <a:t>playing field for providers and innovators of all sizes to leverage their intellectual capital.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Costs &amp; Driving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dirty="0" smtClean="0"/>
              <a:t>Today….</a:t>
            </a:r>
          </a:p>
          <a:p>
            <a:pPr lvl="1"/>
            <a:r>
              <a:rPr lang="en-US" dirty="0" smtClean="0"/>
              <a:t>Every company creates value based on </a:t>
            </a:r>
            <a:r>
              <a:rPr lang="en-US" dirty="0" smtClean="0"/>
              <a:t>their own </a:t>
            </a:r>
            <a:r>
              <a:rPr lang="en-US" dirty="0" smtClean="0"/>
              <a:t>perceived understanding of customer </a:t>
            </a:r>
            <a:r>
              <a:rPr lang="en-US" dirty="0" smtClean="0"/>
              <a:t>needs.</a:t>
            </a:r>
            <a:endParaRPr lang="en-US" dirty="0" smtClean="0"/>
          </a:p>
          <a:p>
            <a:r>
              <a:rPr lang="en-US" dirty="0" smtClean="0"/>
              <a:t>Tomorrow</a:t>
            </a:r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The AMA can will be able to provide a beacon of truth </a:t>
            </a:r>
            <a:r>
              <a:rPr lang="en-US" dirty="0" smtClean="0"/>
              <a:t>and leadership to:</a:t>
            </a:r>
          </a:p>
          <a:p>
            <a:pPr lvl="2"/>
            <a:r>
              <a:rPr lang="en-US" dirty="0" smtClean="0"/>
              <a:t>U</a:t>
            </a:r>
            <a:r>
              <a:rPr lang="en-US" dirty="0" smtClean="0"/>
              <a:t>nderstand </a:t>
            </a:r>
            <a:r>
              <a:rPr lang="en-US" dirty="0" smtClean="0"/>
              <a:t>customer </a:t>
            </a:r>
            <a:r>
              <a:rPr lang="en-US" dirty="0" smtClean="0"/>
              <a:t>needs throughout  healthcare.</a:t>
            </a:r>
          </a:p>
          <a:p>
            <a:pPr lvl="2"/>
            <a:r>
              <a:rPr lang="en-US" dirty="0" smtClean="0"/>
              <a:t>E</a:t>
            </a:r>
            <a:r>
              <a:rPr lang="en-US" dirty="0" smtClean="0"/>
              <a:t>fficiently guide </a:t>
            </a:r>
            <a:r>
              <a:rPr lang="en-US" dirty="0" smtClean="0"/>
              <a:t>the providers to build the right products </a:t>
            </a:r>
            <a:r>
              <a:rPr lang="en-US" dirty="0" smtClean="0"/>
              <a:t> and services to addre</a:t>
            </a:r>
            <a:r>
              <a:rPr lang="en-US" dirty="0" smtClean="0"/>
              <a:t>ss the most important needs</a:t>
            </a:r>
            <a:r>
              <a:rPr lang="en-US" dirty="0" smtClean="0"/>
              <a:t> .</a:t>
            </a:r>
          </a:p>
          <a:p>
            <a:pPr lvl="2"/>
            <a:r>
              <a:rPr lang="en-US" dirty="0" smtClean="0"/>
              <a:t>To</a:t>
            </a:r>
            <a:r>
              <a:rPr lang="en-US" dirty="0" smtClean="0"/>
              <a:t> </a:t>
            </a:r>
            <a:r>
              <a:rPr lang="en-US" dirty="0" smtClean="0"/>
              <a:t>deliver value to </a:t>
            </a:r>
            <a:r>
              <a:rPr lang="en-US" dirty="0" smtClean="0"/>
              <a:t>customers throughout the healthcare continuum.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New Business Model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0574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8600" y="3429000"/>
            <a:ext cx="1371600" cy="76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1600200" cy="3886200"/>
          </a:xfrm>
        </p:spPr>
        <p:txBody>
          <a:bodyPr/>
          <a:lstStyle/>
          <a:p>
            <a:pPr marL="168275" indent="-168275"/>
            <a:r>
              <a:rPr lang="en-US" sz="1400" dirty="0" smtClean="0"/>
              <a:t>Provides new value creation</a:t>
            </a:r>
          </a:p>
          <a:p>
            <a:pPr marL="168275" indent="-168275"/>
            <a:r>
              <a:rPr lang="en-US" sz="1400" dirty="0" smtClean="0"/>
              <a:t>Repositioned for leading healthcare change</a:t>
            </a:r>
          </a:p>
          <a:p>
            <a:pPr marL="168275" indent="-168275"/>
            <a:r>
              <a:rPr lang="en-US" sz="1400" dirty="0" smtClean="0"/>
              <a:t>Relevant to  all Providers, Practitioners, and Patients</a:t>
            </a:r>
          </a:p>
          <a:p>
            <a:pPr marL="168275" indent="-168275"/>
            <a:r>
              <a:rPr lang="en-US" sz="1400" dirty="0" smtClean="0"/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391400" y="1752601"/>
            <a:ext cx="1600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noProof="0" dirty="0" smtClean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to Lead Healthcare Reform</a:t>
            </a:r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AMA (Globally Focused)</a:t>
              </a:r>
              <a:endParaRPr lang="en-US" sz="13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Advocacy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Groups</a:t>
              </a:r>
              <a:endParaRPr lang="en-US" sz="13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Disciplines</a:t>
              </a:r>
              <a:endParaRPr lang="en-US" sz="1300" b="1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Providers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(Products &amp; Services)</a:t>
              </a:r>
              <a:endParaRPr lang="en-US" sz="13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Institutions</a:t>
              </a:r>
              <a:endParaRPr lang="en-US" sz="1300" b="1" kern="12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Government Bodies</a:t>
              </a:r>
              <a:endParaRPr lang="en-US" sz="1300" b="1" kern="1200" dirty="0"/>
            </a:p>
          </p:txBody>
        </p:sp>
      </p:grpSp>
      <p:sp>
        <p:nvSpPr>
          <p:cNvPr id="25" name="Pentagon 24"/>
          <p:cNvSpPr/>
          <p:nvPr/>
        </p:nvSpPr>
        <p:spPr>
          <a:xfrm rot="5400000">
            <a:off x="-1409700" y="3314700"/>
            <a:ext cx="4038600" cy="4572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Driving</a:t>
            </a:r>
            <a:r>
              <a:rPr lang="en-US" dirty="0" smtClean="0"/>
              <a:t> Innovation</a:t>
            </a:r>
            <a:endParaRPr lang="en-US" dirty="0"/>
          </a:p>
        </p:txBody>
      </p:sp>
      <p:sp>
        <p:nvSpPr>
          <p:cNvPr id="28" name="Pentagon 27"/>
          <p:cNvSpPr/>
          <p:nvPr/>
        </p:nvSpPr>
        <p:spPr>
          <a:xfrm rot="16200000">
            <a:off x="6515100" y="3314700"/>
            <a:ext cx="4038600" cy="4572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Enabling Value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133600" y="36576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itchFamily="34" charset="0"/>
              <a:buChar char="•"/>
            </a:pPr>
            <a:r>
              <a:rPr lang="en-US" b="1" i="1" dirty="0" smtClean="0"/>
              <a:t>Advocacy Body for: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enablement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capture &amp; measurement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Collaboration  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Unification &amp; cooperation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2934</TotalTime>
  <Words>1315</Words>
  <Application>Microsoft Office PowerPoint</Application>
  <PresentationFormat>On-screen Show (4:3)</PresentationFormat>
  <Paragraphs>179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VEG</vt:lpstr>
      <vt:lpstr>A New Value Proposition for the AMA</vt:lpstr>
      <vt:lpstr>Outline</vt:lpstr>
      <vt:lpstr>Current Challenges</vt:lpstr>
      <vt:lpstr>AMA’s Role in Healthcare Reform</vt:lpstr>
      <vt:lpstr>Needs of the Providers</vt:lpstr>
      <vt:lpstr>Needs of the Practitioners</vt:lpstr>
      <vt:lpstr>Needs of the Patients</vt:lpstr>
      <vt:lpstr>AMA’s Opportunity to enable Value</vt:lpstr>
      <vt:lpstr>Positioning the 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Reducing Costs &amp; Driving Value</vt:lpstr>
      <vt:lpstr>Creating a New Business Model</vt:lpstr>
      <vt:lpstr>Positioning the AMA to Lead Healthcare Reform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59</cp:revision>
  <dcterms:created xsi:type="dcterms:W3CDTF">2009-06-09T11:36:35Z</dcterms:created>
  <dcterms:modified xsi:type="dcterms:W3CDTF">2009-07-17T11:49:02Z</dcterms:modified>
</cp:coreProperties>
</file>
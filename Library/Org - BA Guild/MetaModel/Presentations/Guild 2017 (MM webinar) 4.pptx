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0"/>
  </p:notesMasterIdLst>
  <p:handoutMasterIdLst>
    <p:handoutMasterId r:id="rId21"/>
  </p:handoutMasterIdLst>
  <p:sldIdLst>
    <p:sldId id="272" r:id="rId2"/>
    <p:sldId id="273" r:id="rId3"/>
    <p:sldId id="278" r:id="rId4"/>
    <p:sldId id="270" r:id="rId5"/>
    <p:sldId id="271" r:id="rId6"/>
    <p:sldId id="274" r:id="rId7"/>
    <p:sldId id="275" r:id="rId8"/>
    <p:sldId id="262" r:id="rId9"/>
    <p:sldId id="268" r:id="rId10"/>
    <p:sldId id="263" r:id="rId11"/>
    <p:sldId id="266" r:id="rId12"/>
    <p:sldId id="279" r:id="rId13"/>
    <p:sldId id="280" r:id="rId14"/>
    <p:sldId id="276" r:id="rId15"/>
    <p:sldId id="265" r:id="rId16"/>
    <p:sldId id="267" r:id="rId17"/>
    <p:sldId id="277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4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5413"/>
    <a:srgbClr val="00C49E"/>
    <a:srgbClr val="252E33"/>
    <a:srgbClr val="3F4E56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17"/>
    <p:restoredTop sz="97106" autoAdjust="0"/>
  </p:normalViewPr>
  <p:slideViewPr>
    <p:cSldViewPr snapToGrid="0">
      <p:cViewPr varScale="1">
        <p:scale>
          <a:sx n="113" d="100"/>
          <a:sy n="113" d="100"/>
        </p:scale>
        <p:origin x="216" y="488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3/12/17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Business Architecture Guild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3/12/17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Copyright 2012 @ Business Architecture Guild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FBC6A-D929-477C-9F9C-F4D337BD5F7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7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-1587" y="3523787"/>
            <a:ext cx="12195173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95072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2044314" y="2798082"/>
            <a:ext cx="8103372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3368555" y="3515231"/>
            <a:ext cx="545489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61" name="Rectangle 60"/>
          <p:cNvSpPr/>
          <p:nvPr userDrawn="1"/>
        </p:nvSpPr>
        <p:spPr>
          <a:xfrm>
            <a:off x="6297507" y="534126"/>
            <a:ext cx="560832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6297507" y="170064"/>
            <a:ext cx="5608320" cy="515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00629"/>
            <a:ext cx="109728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3368555" y="3515226"/>
            <a:ext cx="545489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2044315" y="2798077"/>
            <a:ext cx="8103372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12192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6" name="Rectangle 45"/>
          <p:cNvSpPr/>
          <p:nvPr userDrawn="1"/>
        </p:nvSpPr>
        <p:spPr>
          <a:xfrm>
            <a:off x="6297507" y="534126"/>
            <a:ext cx="560832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6297507" y="170064"/>
            <a:ext cx="5608320" cy="515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097280"/>
            <a:ext cx="42672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200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6688" y="1097280"/>
            <a:ext cx="42672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701848"/>
            <a:ext cx="42672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70933" y="927100"/>
            <a:ext cx="107696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0" y="365759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629"/>
            <a:ext cx="1002792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1" y="6440697"/>
            <a:ext cx="750270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72063" y="6440697"/>
            <a:ext cx="157094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3962400" y="5969852"/>
            <a:ext cx="4267200" cy="4309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760" y="304053"/>
            <a:ext cx="853440" cy="68687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46400" y="6395870"/>
            <a:ext cx="62992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304800" y="958850"/>
            <a:ext cx="115824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cid:4DBC9F8D-BEF1-4230-8A54-274AB7F2DC6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tiff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4" Type="http://schemas.openxmlformats.org/officeDocument/2006/relationships/image" Target="../media/image15.tiff"/><Relationship Id="rId5" Type="http://schemas.openxmlformats.org/officeDocument/2006/relationships/image" Target="../media/image16.tiff"/><Relationship Id="rId6" Type="http://schemas.openxmlformats.org/officeDocument/2006/relationships/image" Target="../media/image17.tiff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tiff"/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sinessarchitectureguild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8462" y="2270818"/>
            <a:ext cx="5932714" cy="1231106"/>
          </a:xfrm>
        </p:spPr>
        <p:txBody>
          <a:bodyPr/>
          <a:lstStyle/>
          <a:p>
            <a:r>
              <a:rPr lang="en-US" dirty="0" smtClean="0"/>
              <a:t>Business Architecture</a:t>
            </a:r>
            <a:br>
              <a:rPr lang="en-US" dirty="0" smtClean="0"/>
            </a:br>
            <a:r>
              <a:rPr lang="en-US" dirty="0" smtClean="0"/>
              <a:t>Metamodel Update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617551" y="3515231"/>
            <a:ext cx="2956899" cy="369332"/>
          </a:xfrm>
        </p:spPr>
        <p:txBody>
          <a:bodyPr/>
          <a:lstStyle/>
          <a:p>
            <a:r>
              <a:rPr lang="en-US" dirty="0"/>
              <a:t>2017 Summit Update</a:t>
            </a:r>
          </a:p>
        </p:txBody>
      </p:sp>
    </p:spTree>
    <p:extLst>
      <p:ext uri="{BB962C8B-B14F-4D97-AF65-F5344CB8AC3E}">
        <p14:creationId xmlns:p14="http://schemas.microsoft.com/office/powerpoint/2010/main" val="279543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Business </a:t>
            </a:r>
            <a:r>
              <a:rPr lang="en-US" sz="2400" dirty="0" smtClean="0"/>
              <a:t>architecture framework </a:t>
            </a:r>
            <a:r>
              <a:rPr lang="en-US" sz="2400" dirty="0"/>
              <a:t>recap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Business architecture knowledgebase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Knowledgebase and metamodel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Sample metamodel from BIZBOK® Guide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What the </a:t>
            </a:r>
            <a:r>
              <a:rPr lang="en-US" sz="2400" dirty="0" smtClean="0"/>
              <a:t>Business Architecture Guild </a:t>
            </a:r>
            <a:r>
              <a:rPr lang="en-US" sz="2400" dirty="0"/>
              <a:t>is doing to standardize metamodel views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27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2926" y="1740709"/>
            <a:ext cx="10871394" cy="3579849"/>
          </a:xfrm>
        </p:spPr>
        <p:txBody>
          <a:bodyPr/>
          <a:lstStyle/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/>
              <a:t>Goal – create an international standard for a business architecture metamodel that aligns to </a:t>
            </a:r>
            <a:r>
              <a:rPr lang="en-US" dirty="0" smtClean="0"/>
              <a:t>and </a:t>
            </a:r>
            <a:r>
              <a:rPr lang="en-US" dirty="0"/>
              <a:t>implements the underlying metamodel in the BIZBOK® Guide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The Win – any tool aligned to a standard metamodel based on BIZBOK® Guide can input and export and ideally represent standard business architecture representations as defined by best practices in the BIZBOK® Guide 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Tools will align more readily to best practices and reduce customization often required by in-house teams</a:t>
            </a:r>
          </a:p>
          <a:p>
            <a:pPr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Business architecture work will be streamlined and expedited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Value Proposition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68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57980" y="259630"/>
            <a:ext cx="6858000" cy="548640"/>
          </a:xfrm>
        </p:spPr>
        <p:txBody>
          <a:bodyPr/>
          <a:lstStyle/>
          <a:p>
            <a:r>
              <a:rPr lang="en-US" dirty="0" smtClean="0"/>
              <a:t>Business Architecture Framework Relies on Robust Knowledgebase</a:t>
            </a:r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1319351" y="5017206"/>
            <a:ext cx="9586348" cy="102570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600" dirty="0"/>
              <a:t>Knowledgebase: Manages business architecture metadata and relationships in easily accessed facility</a:t>
            </a:r>
          </a:p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600" dirty="0"/>
              <a:t>Blueprints: On demand and ad hoc business architecture diagrams, extracts and reporting</a:t>
            </a:r>
          </a:p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600" dirty="0"/>
              <a:t>Scenarios: Specific business context shaped by business objectives, related challenges, action items,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178" y="4484011"/>
            <a:ext cx="26428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Source of Basic </a:t>
            </a:r>
            <a:r>
              <a:rPr lang="en-US" sz="1050" i="1" dirty="0" smtClean="0"/>
              <a:t>Framework: </a:t>
            </a:r>
          </a:p>
          <a:p>
            <a:r>
              <a:rPr lang="en-US" sz="1050" i="1" dirty="0" smtClean="0"/>
              <a:t>(BIZBOK® Guide)</a:t>
            </a:r>
            <a:endParaRPr lang="en-US" sz="105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493" y="1043664"/>
            <a:ext cx="7590242" cy="400541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6917726" y="1666526"/>
            <a:ext cx="1540475" cy="551935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21219" y="1127878"/>
            <a:ext cx="2590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Business Architecture Knowledgebase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17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05840" y="242191"/>
            <a:ext cx="8843554" cy="548640"/>
          </a:xfrm>
        </p:spPr>
        <p:txBody>
          <a:bodyPr/>
          <a:lstStyle/>
          <a:p>
            <a:r>
              <a:rPr lang="en-US" dirty="0" smtClean="0"/>
              <a:t>Knowledgebase is Based on BIZBOK® Guide’s Underlying MEtamodel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10346" y="1357681"/>
            <a:ext cx="9953894" cy="44377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Arial" panose="020B0604020202020204" pitchFamily="34" charset="0"/>
              </a:rPr>
              <a:t>Business architecture </a:t>
            </a:r>
            <a:r>
              <a:rPr lang="en-US" sz="2000" dirty="0" smtClean="0">
                <a:cs typeface="Arial" panose="020B0604020202020204" pitchFamily="34" charset="0"/>
              </a:rPr>
              <a:t>maps </a:t>
            </a:r>
            <a:r>
              <a:rPr lang="en-US" sz="2000" dirty="0">
                <a:cs typeface="Arial" panose="020B0604020202020204" pitchFamily="34" charset="0"/>
              </a:rPr>
              <a:t>various business </a:t>
            </a:r>
            <a:r>
              <a:rPr lang="en-US" sz="2000" dirty="0" smtClean="0">
                <a:cs typeface="Arial" panose="020B0604020202020204" pitchFamily="34" charset="0"/>
              </a:rPr>
              <a:t>domains that </a:t>
            </a:r>
            <a:r>
              <a:rPr lang="en-US" sz="2000" dirty="0">
                <a:cs typeface="Arial" panose="020B0604020202020204" pitchFamily="34" charset="0"/>
              </a:rPr>
              <a:t>need to be accessible in a wide variety of ways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Arial" panose="020B0604020202020204" pitchFamily="34" charset="0"/>
              </a:rPr>
              <a:t>This perspective is reflected in the BIZBOK® Guide’s </a:t>
            </a:r>
            <a:r>
              <a:rPr lang="en-US" sz="2000" dirty="0" smtClean="0">
                <a:cs typeface="Arial" panose="020B0604020202020204" pitchFamily="34" charset="0"/>
              </a:rPr>
              <a:t>business architecture framework</a:t>
            </a:r>
            <a:endParaRPr lang="en-US" sz="2000" dirty="0"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Arial" panose="020B0604020202020204" pitchFamily="34" charset="0"/>
              </a:rPr>
              <a:t>Managing a well-articulated business architecture requires a robust knowledgebase – the centerpiece of that framework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cs typeface="Arial" panose="020B0604020202020204" pitchFamily="34" charset="0"/>
              </a:rPr>
              <a:t>Best practices and emerging standards dictate basic relationships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cs typeface="Arial" panose="020B0604020202020204" pitchFamily="34" charset="0"/>
              </a:rPr>
              <a:t>Repositories, databases and third party software enable management of knowledgebase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cs typeface="Arial" panose="020B0604020202020204" pitchFamily="34" charset="0"/>
              </a:rPr>
              <a:t>Best practices are evolving into standards for managing this information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cs typeface="Arial" panose="020B0604020202020204" pitchFamily="34" charset="0"/>
              </a:rPr>
              <a:t>In all cases a robust metamodel </a:t>
            </a:r>
            <a:r>
              <a:rPr lang="en-US" sz="1800" dirty="0" smtClean="0">
                <a:cs typeface="Arial" panose="020B0604020202020204" pitchFamily="34" charset="0"/>
              </a:rPr>
              <a:t>is needed to </a:t>
            </a:r>
            <a:r>
              <a:rPr lang="en-US" sz="1800" dirty="0">
                <a:cs typeface="Arial" panose="020B0604020202020204" pitchFamily="34" charset="0"/>
              </a:rPr>
              <a:t>enable </a:t>
            </a:r>
            <a:r>
              <a:rPr lang="en-US" sz="1800" dirty="0" smtClean="0">
                <a:cs typeface="Arial" panose="020B0604020202020204" pitchFamily="34" charset="0"/>
              </a:rPr>
              <a:t>tool </a:t>
            </a:r>
            <a:r>
              <a:rPr lang="en-US" sz="1800" dirty="0">
                <a:cs typeface="Arial" panose="020B0604020202020204" pitchFamily="34" charset="0"/>
              </a:rPr>
              <a:t>vendors and practitioners to represent, exchange and disseminate standard business architecture blueprints and related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425714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2745" y="316331"/>
            <a:ext cx="8766021" cy="548640"/>
          </a:xfrm>
        </p:spPr>
        <p:txBody>
          <a:bodyPr/>
          <a:lstStyle/>
          <a:p>
            <a:r>
              <a:rPr lang="en-US" dirty="0" smtClean="0"/>
              <a:t>Sample Early Stage Metamodel from BIZBOK® Guide Part 5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623530" y="5839106"/>
            <a:ext cx="2190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BIZBOK® Guide Part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728" y="5538625"/>
            <a:ext cx="8136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metamodel depicting relationships among business architecture artifacts </a:t>
            </a:r>
          </a:p>
        </p:txBody>
      </p:sp>
      <p:pic>
        <p:nvPicPr>
          <p:cNvPr id="8" name="Picture 7" descr="cid:4DBC9F8D-BEF1-4230-8A54-274AB7F2DC6D"/>
          <p:cNvPicPr/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" t="1931" r="2285" b="2790"/>
          <a:stretch/>
        </p:blipFill>
        <p:spPr bwMode="auto">
          <a:xfrm>
            <a:off x="1357694" y="1072769"/>
            <a:ext cx="9667358" cy="44789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5420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93813" y="1100629"/>
            <a:ext cx="9631680" cy="481414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Metamodel Design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Inviting international participants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Finalizing the core mappings</a:t>
            </a:r>
          </a:p>
          <a:p>
            <a:pPr lvl="2">
              <a:buFont typeface="Arial" charset="0"/>
              <a:buChar char="•"/>
            </a:pPr>
            <a:r>
              <a:rPr lang="en-US" dirty="0"/>
              <a:t>Drafting the penumbra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Object Management Group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OMG Business Architecture Metamodel RFP drafted 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Targeting standard submissions for 2018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Open Group</a:t>
            </a:r>
            <a:endParaRPr lang="en-US" dirty="0"/>
          </a:p>
          <a:p>
            <a:pPr lvl="2">
              <a:buFont typeface="Arial" charset="0"/>
              <a:buChar char="•"/>
            </a:pPr>
            <a:r>
              <a:rPr lang="en-US" dirty="0" smtClean="0"/>
              <a:t>Guild is active member working on business architecture efforts</a:t>
            </a:r>
            <a:endParaRPr lang="en-US" dirty="0"/>
          </a:p>
          <a:p>
            <a:pPr lvl="2">
              <a:buFont typeface="Arial" charset="0"/>
              <a:buChar char="•"/>
            </a:pPr>
            <a:r>
              <a:rPr lang="en-US" dirty="0" smtClean="0"/>
              <a:t>Contributing recommendations to update Open Group TOGAF™ content model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 smtClean="0"/>
              <a:t>Vendor Engagement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Collaborating with tool vendors on metamodel design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Inviting vendors to join Guild in a formal submission response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36468" y="289024"/>
            <a:ext cx="9287691" cy="548640"/>
          </a:xfrm>
        </p:spPr>
        <p:txBody>
          <a:bodyPr/>
          <a:lstStyle/>
          <a:p>
            <a:r>
              <a:rPr lang="en-US" dirty="0" smtClean="0"/>
              <a:t>Current Work in Progress by Guild Metamodel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22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Metamodel Team Roadmap (2017/2018 Timeline)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902671" y="4413764"/>
            <a:ext cx="10239946" cy="1564744"/>
          </a:xfrm>
        </p:spPr>
        <p:txBody>
          <a:bodyPr>
            <a:normAutofit/>
          </a:bodyPr>
          <a:lstStyle/>
          <a:p>
            <a:pPr marL="0" indent="0"/>
            <a:r>
              <a:rPr lang="en-US" sz="1800" b="0" dirty="0"/>
              <a:t>The team is working on multiple threads. Much work and time was spent in the last 12-18 months incorporating new thinking and approach for the m</a:t>
            </a:r>
            <a:r>
              <a:rPr lang="en-US" sz="1800" b="0" dirty="0" smtClean="0"/>
              <a:t>etamodel, </a:t>
            </a:r>
            <a:r>
              <a:rPr lang="en-US" sz="1800" b="0" dirty="0"/>
              <a:t>engaging constituencies in OMG to socialize and build consensus towards a </a:t>
            </a:r>
            <a:r>
              <a:rPr lang="en-US" sz="1800" b="0" dirty="0" smtClean="0"/>
              <a:t>Business Architecture Metamodel </a:t>
            </a:r>
            <a:r>
              <a:rPr lang="en-US" sz="1800" b="0" dirty="0"/>
              <a:t>RFP, and working with the vendor community to outline opportunities for ongoing collaboration and participation for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71939" y="1636134"/>
            <a:ext cx="1627996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OMG RFP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9935" y="1636134"/>
            <a:ext cx="6757514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RFP 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9239" y="2104545"/>
            <a:ext cx="12191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4476" y="3044211"/>
            <a:ext cx="3443707" cy="4572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BIZBOK®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71940" y="3506969"/>
            <a:ext cx="7486478" cy="4572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Vendor 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1940" y="2104545"/>
            <a:ext cx="12572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MM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4181" y="2098872"/>
            <a:ext cx="2289085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Penumbra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8438" y="2573967"/>
            <a:ext cx="5009980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Extensions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756716" y="1305749"/>
            <a:ext cx="860073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71130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690554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673552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297777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682053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92176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1318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Q2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004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0252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Q4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9657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48749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5726" y="6440697"/>
            <a:ext cx="8976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Capability as the centerpiece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265646" y="1516220"/>
            <a:ext cx="9890034" cy="4270626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</a:pPr>
            <a:r>
              <a:rPr lang="en-US" sz="2400" dirty="0"/>
              <a:t>Capability is the natural starting point for a </a:t>
            </a:r>
            <a:r>
              <a:rPr lang="en-US" sz="2400" dirty="0" smtClean="0"/>
              <a:t>business architecture </a:t>
            </a:r>
            <a:r>
              <a:rPr lang="en-US" sz="2400" dirty="0"/>
              <a:t>because it describes “what” a business does in a way that supports analysis of various related business management concerns by: </a:t>
            </a:r>
          </a:p>
          <a:p>
            <a:pPr marL="579438" lvl="2" indent="-341313">
              <a:spcBef>
                <a:spcPts val="12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/>
              <a:t>Engaging business and operational stakeholders about their relevant concerns (current state), and </a:t>
            </a:r>
          </a:p>
          <a:p>
            <a:pPr marL="579438" lvl="2" indent="-341313">
              <a:spcBef>
                <a:spcPts val="12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/>
              <a:t>Guiding them towards a progressive set of steps to achieve their goals and objectives (strategy) for the </a:t>
            </a:r>
            <a:r>
              <a:rPr lang="en-US" sz="2400" dirty="0" smtClean="0"/>
              <a:t>short-term and long </a:t>
            </a:r>
            <a:r>
              <a:rPr lang="en-US" sz="2400" dirty="0"/>
              <a:t>term (future states)</a:t>
            </a:r>
          </a:p>
        </p:txBody>
      </p:sp>
    </p:spTree>
    <p:extLst>
      <p:ext uri="{BB962C8B-B14F-4D97-AF65-F5344CB8AC3E}">
        <p14:creationId xmlns:p14="http://schemas.microsoft.com/office/powerpoint/2010/main" val="147385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3310" y="6440697"/>
            <a:ext cx="174600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905000" y="365759"/>
            <a:ext cx="7866529" cy="548640"/>
          </a:xfrm>
        </p:spPr>
        <p:txBody>
          <a:bodyPr/>
          <a:lstStyle/>
          <a:p>
            <a:r>
              <a:rPr lang="en-US" dirty="0" smtClean="0"/>
              <a:t>BIZBOK® Based, Layered MetaModel View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684" y="1147603"/>
            <a:ext cx="7674754" cy="4738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99041" y="3390840"/>
            <a:ext cx="2678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Represents “core” business architecture domains</a:t>
            </a:r>
          </a:p>
        </p:txBody>
      </p:sp>
      <p:sp>
        <p:nvSpPr>
          <p:cNvPr id="8" name="Right Arrow 7"/>
          <p:cNvSpPr/>
          <p:nvPr/>
        </p:nvSpPr>
        <p:spPr>
          <a:xfrm rot="10800000">
            <a:off x="6727066" y="3615004"/>
            <a:ext cx="1262129" cy="231820"/>
          </a:xfrm>
          <a:prstGeom prst="rightArrow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4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2220" y="6440697"/>
            <a:ext cx="176780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2 layers of metamodel</a:t>
            </a: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rot="16852770">
            <a:off x="4970754" y="1283666"/>
            <a:ext cx="2467686" cy="3509291"/>
          </a:xfrm>
          <a:prstGeom prst="trapezoid">
            <a:avLst>
              <a:gd name="adj" fmla="val 4304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986166"/>
              </p:ext>
            </p:extLst>
          </p:nvPr>
        </p:nvGraphicFramePr>
        <p:xfrm>
          <a:off x="7517027" y="2112277"/>
          <a:ext cx="2585823" cy="2468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5823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Strategy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Initiative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Product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Stakeholder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Policy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BPM and Management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Case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Performance Mgmt.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Requirements Alignment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28920" y="1742944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Penumbra</a:t>
            </a:r>
          </a:p>
        </p:txBody>
      </p:sp>
      <p:sp>
        <p:nvSpPr>
          <p:cNvPr id="14" name="Trapezoid 13"/>
          <p:cNvSpPr/>
          <p:nvPr/>
        </p:nvSpPr>
        <p:spPr>
          <a:xfrm>
            <a:off x="2750330" y="3204964"/>
            <a:ext cx="1912287" cy="1154676"/>
          </a:xfrm>
          <a:prstGeom prst="trapezoid">
            <a:avLst>
              <a:gd name="adj" fmla="val 7228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387" y="1496343"/>
            <a:ext cx="3250826" cy="2006911"/>
          </a:xfrm>
          <a:prstGeom prst="rect">
            <a:avLst/>
          </a:prstGeom>
        </p:spPr>
      </p:pic>
      <p:graphicFrame>
        <p:nvGraphicFramePr>
          <p:cNvPr id="1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739324"/>
              </p:ext>
            </p:extLst>
          </p:nvPr>
        </p:nvGraphicFramePr>
        <p:xfrm>
          <a:off x="1793788" y="4756993"/>
          <a:ext cx="4005649" cy="1280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005649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Capability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Centerpiece defines WHAT the business does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Value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defines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WHY the business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has the capabilities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Information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HOW we build alignment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between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Capability,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Value, and Organization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Organization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HOW we align resources to deliver value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09494" y="4376561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5291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8000" y="326571"/>
            <a:ext cx="9824720" cy="548640"/>
          </a:xfrm>
        </p:spPr>
        <p:txBody>
          <a:bodyPr/>
          <a:lstStyle/>
          <a:p>
            <a:r>
              <a:rPr lang="en-US" dirty="0" smtClean="0"/>
              <a:t>Metamodel Summary of core Business Architecture Domain Packages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22" y="2325511"/>
            <a:ext cx="6273264" cy="3444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9222" y="1956179"/>
            <a:ext cx="269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Package:  Capability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915" y="1317007"/>
            <a:ext cx="5101242" cy="24981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27915" y="3815186"/>
            <a:ext cx="269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Package: 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8000" y="326571"/>
            <a:ext cx="9824720" cy="548640"/>
          </a:xfrm>
        </p:spPr>
        <p:txBody>
          <a:bodyPr/>
          <a:lstStyle/>
          <a:p>
            <a:r>
              <a:rPr lang="en-US" dirty="0" smtClean="0"/>
              <a:t>Metamodel Summary of core Business Architecture Domain Packages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3230" y="1978115"/>
            <a:ext cx="269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Package:  Organization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75418" y="5547115"/>
            <a:ext cx="269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Package:  Value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30" y="2402492"/>
            <a:ext cx="5817713" cy="328710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418" y="988847"/>
            <a:ext cx="5916582" cy="45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4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0842" y="6440697"/>
            <a:ext cx="179537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27909" y="247555"/>
            <a:ext cx="9339941" cy="548640"/>
          </a:xfrm>
        </p:spPr>
        <p:txBody>
          <a:bodyPr/>
          <a:lstStyle/>
          <a:p>
            <a:r>
              <a:rPr lang="en-US" dirty="0" smtClean="0"/>
              <a:t>OMG RFP View of Business Architecture Metamodel Response Requirements </a:t>
            </a:r>
            <a:endParaRPr lang="en-US" dirty="0"/>
          </a:p>
        </p:txBody>
      </p:sp>
      <p:pic>
        <p:nvPicPr>
          <p:cNvPr id="102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312" y="1023347"/>
            <a:ext cx="5540886" cy="500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3820" y="4594454"/>
            <a:ext cx="2778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Capability Oriented Business Perspective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2671" y="1315957"/>
            <a:ext cx="3319378" cy="1849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Capability required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 representations desired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Must interface with existing standards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060312" y="3523643"/>
            <a:ext cx="2614808" cy="129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58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Scenario-Driven Business Architecture MetaModeling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097" y="1370954"/>
            <a:ext cx="9261566" cy="858794"/>
          </a:xfrm>
        </p:spPr>
        <p:txBody>
          <a:bodyPr>
            <a:noAutofit/>
          </a:bodyPr>
          <a:lstStyle/>
          <a:p>
            <a:pPr marL="0" lvl="0" indent="0"/>
            <a:r>
              <a:rPr lang="en-US" dirty="0" smtClean="0"/>
              <a:t>The business architecture metamodel was derived from business architecture best practices as outlined in the BIZBOK® Guide and the organizations by leveraging common business scenarios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67097" y="2686303"/>
            <a:ext cx="9130937" cy="2209799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Investment Analysis</a:t>
            </a:r>
          </a:p>
          <a:p>
            <a:r>
              <a:rPr lang="en-US" dirty="0"/>
              <a:t>Shift to Customer Centric Business Model</a:t>
            </a:r>
          </a:p>
          <a:p>
            <a:r>
              <a:rPr lang="en-US" dirty="0"/>
              <a:t>Merger &amp; Acquisition Analysis</a:t>
            </a:r>
          </a:p>
          <a:p>
            <a:r>
              <a:rPr lang="en-US" dirty="0"/>
              <a:t>New Product/Service Rollout</a:t>
            </a:r>
          </a:p>
          <a:p>
            <a:r>
              <a:rPr lang="en-US" dirty="0"/>
              <a:t>Globalization </a:t>
            </a:r>
          </a:p>
          <a:p>
            <a:r>
              <a:rPr lang="en-US" dirty="0"/>
              <a:t>Business Capability </a:t>
            </a:r>
          </a:p>
          <a:p>
            <a:r>
              <a:rPr lang="en-US" dirty="0"/>
              <a:t>Outsourcing</a:t>
            </a:r>
          </a:p>
          <a:p>
            <a:r>
              <a:rPr lang="en-US" dirty="0"/>
              <a:t>Supply Chain Streamlining </a:t>
            </a:r>
          </a:p>
          <a:p>
            <a:r>
              <a:rPr lang="en-US" dirty="0"/>
              <a:t>Divestiture</a:t>
            </a:r>
          </a:p>
          <a:p>
            <a:r>
              <a:rPr lang="en-US" dirty="0"/>
              <a:t>Regulatory Compliance </a:t>
            </a:r>
          </a:p>
          <a:p>
            <a:r>
              <a:rPr lang="en-US" dirty="0"/>
              <a:t>Change Management</a:t>
            </a:r>
          </a:p>
          <a:p>
            <a:r>
              <a:rPr lang="en-US" dirty="0"/>
              <a:t>Operational Cost Reduction </a:t>
            </a:r>
          </a:p>
          <a:p>
            <a:r>
              <a:rPr lang="en-US" dirty="0"/>
              <a:t>Joint Venture Deployment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F152-005F-4D94-91F4-54D46561C73D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761515" y="6440697"/>
            <a:ext cx="178190" cy="184666"/>
          </a:xfrm>
        </p:spPr>
        <p:txBody>
          <a:bodyPr/>
          <a:lstStyle/>
          <a:p>
            <a:fld id="{C8701F13-D499-404E-A11B-CE66F4C6465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Vendor Engagement – Discussion Engagement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539" y="1272740"/>
            <a:ext cx="4831344" cy="441960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</a:pPr>
            <a:r>
              <a:rPr lang="en-US" sz="1600" dirty="0"/>
              <a:t>Variations for candidate metamodel have been adopted, are under review for adoption, or have been or are being user implemented across numerous tool vendors 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</a:pPr>
            <a:r>
              <a:rPr lang="en-US" sz="1600" dirty="0"/>
              <a:t>Candidate metamodel is based on the concepts captured across practitioner communities, as embodied in the BIZBOK® Guide, which has wide adoption across government, institutions, commercial, and non-profit (US &amp; International)</a:t>
            </a:r>
          </a:p>
          <a:p>
            <a:pPr marL="0" indent="0">
              <a:lnSpc>
                <a:spcPct val="120000"/>
              </a:lnSpc>
              <a:spcBef>
                <a:spcPts val="1200"/>
              </a:spcBef>
            </a:pPr>
            <a:r>
              <a:rPr lang="en-US" sz="1600" dirty="0"/>
              <a:t>Next steps – Guild will engage with vendor community in more focused ways to submit a response to the OMG RFP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33" y="1424070"/>
            <a:ext cx="1734886" cy="1237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22173"/>
          <a:stretch/>
        </p:blipFill>
        <p:spPr>
          <a:xfrm>
            <a:off x="7978148" y="3171605"/>
            <a:ext cx="2461252" cy="8589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13" y="4412532"/>
            <a:ext cx="2258322" cy="8364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595" y="1072974"/>
            <a:ext cx="1837765" cy="11503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204" y="3930609"/>
            <a:ext cx="1807211" cy="4819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7581" y="2748000"/>
            <a:ext cx="2209800" cy="447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6364" y="4830739"/>
            <a:ext cx="1752600" cy="7075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7943" y="5473265"/>
            <a:ext cx="120967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Guild engaged with OMG for long-term to work on rollout and evolution of a standard metamodel</a:t>
            </a:r>
          </a:p>
          <a:p>
            <a:pPr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Guild also a member of Open Group to influence TOGAF® and its content model</a:t>
            </a:r>
          </a:p>
          <a:p>
            <a:pPr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Guild team has created a UML Profile for BIZBOK® for UML based tools</a:t>
            </a:r>
          </a:p>
          <a:p>
            <a:pPr lvl="2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This could be standardized as well and aligns to the Guild metamodel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1932" y="6440697"/>
            <a:ext cx="177356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Standards and Tool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2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3/12/17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3471" y="6440697"/>
            <a:ext cx="174278" cy="184666"/>
          </a:xfrm>
        </p:spPr>
        <p:txBody>
          <a:bodyPr/>
          <a:lstStyle/>
          <a:p>
            <a:fld id="{8D059518-4F10-4CC2-99CC-9CA73E17034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1947044" y="3767024"/>
            <a:ext cx="8149988" cy="1887696"/>
          </a:xfrm>
        </p:spPr>
        <p:txBody>
          <a:bodyPr/>
          <a:lstStyle/>
          <a:p>
            <a:r>
              <a:rPr lang="en-US" dirty="0" smtClean="0"/>
              <a:t>We are looking for additional participants to accelerate </a:t>
            </a:r>
          </a:p>
          <a:p>
            <a:r>
              <a:rPr lang="en-US" dirty="0" smtClean="0"/>
              <a:t>our efforts on this landmark work plan. Please contact the </a:t>
            </a:r>
          </a:p>
          <a:p>
            <a:r>
              <a:rPr lang="en-US" dirty="0" smtClean="0"/>
              <a:t>Team Leader (Jeffrey Wallk) on the Guild Site (see link)</a:t>
            </a:r>
          </a:p>
          <a:p>
            <a:endParaRPr lang="en-US" dirty="0" smtClean="0"/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www.businessarchitectureguild.org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2044315" y="2798077"/>
            <a:ext cx="2744211" cy="61555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1014</TotalTime>
  <Words>1009</Words>
  <Application>Microsoft Macintosh PowerPoint</Application>
  <PresentationFormat>Widescreen</PresentationFormat>
  <Paragraphs>171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Franklin Gothic Book</vt:lpstr>
      <vt:lpstr>Franklin Gothic Medium</vt:lpstr>
      <vt:lpstr>Times New Roman</vt:lpstr>
      <vt:lpstr>Tunga</vt:lpstr>
      <vt:lpstr>Wingdings</vt:lpstr>
      <vt:lpstr>Arial</vt:lpstr>
      <vt:lpstr>1_Angles</vt:lpstr>
      <vt:lpstr>Business Architecture Metamodel Update</vt:lpstr>
      <vt:lpstr>Overview</vt:lpstr>
      <vt:lpstr>The Value Proposition</vt:lpstr>
      <vt:lpstr>Business Architecture Framework Relies on Robust Knowledgebase</vt:lpstr>
      <vt:lpstr>Knowledgebase is Based on BIZBOK® Guide’s Underlying MEtamodel</vt:lpstr>
      <vt:lpstr>Sample Early Stage Metamodel from BIZBOK® Guide Part 5</vt:lpstr>
      <vt:lpstr>Current Work in Progress by Guild Metamodel Team</vt:lpstr>
      <vt:lpstr>Metamodel Team Roadmap (2017/2018 Timeline)</vt:lpstr>
      <vt:lpstr>Capability as the centerpiece</vt:lpstr>
      <vt:lpstr>BIZBOK® Based, Layered MetaModel View</vt:lpstr>
      <vt:lpstr>First 2 layers of metamodel</vt:lpstr>
      <vt:lpstr>Metamodel Summary of core Business Architecture Domain Packages</vt:lpstr>
      <vt:lpstr>Metamodel Summary of core Business Architecture Domain Packages</vt:lpstr>
      <vt:lpstr>OMG RFP View of Business Architecture Metamodel Response Requirements </vt:lpstr>
      <vt:lpstr>Scenario-Driven Business Architecture MetaModeling</vt:lpstr>
      <vt:lpstr>Vendor Engagement – Discussion Engagement</vt:lpstr>
      <vt:lpstr>Related Standards and Tool Work</vt:lpstr>
      <vt:lpstr>Thank you</vt:lpstr>
    </vt:vector>
  </TitlesOfParts>
  <Company>Toshiba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106</cp:revision>
  <dcterms:created xsi:type="dcterms:W3CDTF">2012-10-06T17:50:46Z</dcterms:created>
  <dcterms:modified xsi:type="dcterms:W3CDTF">2017-03-13T03:42:16Z</dcterms:modified>
</cp:coreProperties>
</file>
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8"/>
  </p:notesMasterIdLst>
  <p:handoutMasterIdLst>
    <p:handoutMasterId r:id="rId19"/>
  </p:handoutMasterIdLst>
  <p:sldIdLst>
    <p:sldId id="272" r:id="rId2"/>
    <p:sldId id="273" r:id="rId3"/>
    <p:sldId id="278" r:id="rId4"/>
    <p:sldId id="270" r:id="rId5"/>
    <p:sldId id="271" r:id="rId6"/>
    <p:sldId id="274" r:id="rId7"/>
    <p:sldId id="275" r:id="rId8"/>
    <p:sldId id="262" r:id="rId9"/>
    <p:sldId id="268" r:id="rId10"/>
    <p:sldId id="263" r:id="rId11"/>
    <p:sldId id="266" r:id="rId12"/>
    <p:sldId id="276" r:id="rId13"/>
    <p:sldId id="265" r:id="rId14"/>
    <p:sldId id="267" r:id="rId15"/>
    <p:sldId id="277" r:id="rId16"/>
    <p:sldId id="26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4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5413"/>
    <a:srgbClr val="00C49E"/>
    <a:srgbClr val="252E33"/>
    <a:srgbClr val="3F4E56"/>
    <a:srgbClr val="00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50"/>
    <p:restoredTop sz="97106" autoAdjust="0"/>
  </p:normalViewPr>
  <p:slideViewPr>
    <p:cSldViewPr snapToGrid="0">
      <p:cViewPr varScale="1">
        <p:scale>
          <a:sx n="110" d="100"/>
          <a:sy n="110" d="100"/>
        </p:scale>
        <p:origin x="184" y="568"/>
      </p:cViewPr>
      <p:guideLst>
        <p:guide orient="horz" pos="1774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2DA1F-A37C-41D2-82C0-7922EAA70BF9}" type="datetimeFigureOut">
              <a:rPr lang="en-US" smtClean="0"/>
              <a:t>3/10/17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7DD-8410-4B48-BF9F-010B3E13D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6644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Business Architecture Guild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78605-75FF-4090-82E1-8992D952D785}" type="datetimeFigureOut">
              <a:rPr lang="en-US" smtClean="0"/>
              <a:t>3/10/17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2012 @ Business Architecture Guild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F5204-EB12-4271-A49D-308523C9B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12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8FBC6A-D929-477C-9F9C-F4D337BD5F7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27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190" y="3523787"/>
            <a:ext cx="9146380" cy="36576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0" y="3523129"/>
            <a:ext cx="1463040" cy="3657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457200" y="2798081"/>
            <a:ext cx="8229600" cy="615553"/>
          </a:xfrm>
          <a:noFill/>
        </p:spPr>
        <p:txBody>
          <a:bodyPr wrap="none" lIns="91440" tIns="0" rIns="91440" bIns="0" anchor="b">
            <a:spAutoFit/>
          </a:bodyPr>
          <a:lstStyle>
            <a:lvl1pPr algn="ctr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463040" y="3515231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52" name="Date Placeholder 5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913EAD0-FE42-479E-BFD1-82A4FA54F9B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53" name="Footer Placeholder 52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56" name="Slide Number Placeholder 5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12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35798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4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C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3D1F-8B6B-46FD-90B9-289ACA433332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463040" y="3515226"/>
            <a:ext cx="6217920" cy="369332"/>
          </a:xfrm>
          <a:noFill/>
        </p:spPr>
        <p:txBody>
          <a:bodyPr wrap="none" anchor="ctr" anchorCtr="0">
            <a:spAutoFit/>
          </a:bodyPr>
          <a:lstStyle>
            <a:lvl1pPr algn="ctr">
              <a:defRPr sz="1800" b="0" spc="300" baseline="0">
                <a:solidFill>
                  <a:srgbClr val="252E33"/>
                </a:solidFill>
              </a:defRPr>
            </a:lvl1pPr>
            <a:lvl2pPr marL="0" indent="0">
              <a:buNone/>
              <a:defRPr/>
            </a:lvl2pPr>
            <a:lvl3pPr marL="237744" indent="0">
              <a:buNone/>
              <a:defRPr/>
            </a:lvl3pPr>
            <a:lvl4pPr marL="466344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SUBTITLE STYLE</a:t>
            </a: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20314" y="2798076"/>
            <a:ext cx="8103373" cy="615553"/>
          </a:xfrm>
          <a:noFill/>
        </p:spPr>
        <p:txBody>
          <a:bodyPr vert="horz" wrap="none" lIns="91440" tIns="0" rIns="91440" bIns="0" rtlCol="0" anchor="b">
            <a:spAutoFit/>
          </a:bodyPr>
          <a:lstStyle>
            <a:lvl1pPr>
              <a:defRPr lang="en-US" sz="4000" b="1" dirty="0">
                <a:solidFill>
                  <a:srgbClr val="252E33"/>
                </a:solidFill>
              </a:defRPr>
            </a:lvl1pPr>
          </a:lstStyle>
          <a:p>
            <a:pPr marL="0" lvl="0" algn="ctr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 userDrawn="1"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 userDrawn="1"/>
        </p:nvSpPr>
        <p:spPr>
          <a:xfrm>
            <a:off x="0" y="548102"/>
            <a:ext cx="9144000" cy="137160"/>
          </a:xfrm>
          <a:prstGeom prst="rect">
            <a:avLst/>
          </a:prstGeom>
          <a:solidFill>
            <a:srgbClr val="F254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 userDrawn="1"/>
        </p:nvSpPr>
        <p:spPr>
          <a:xfrm>
            <a:off x="4723130" y="534126"/>
            <a:ext cx="4206240" cy="182880"/>
          </a:xfrm>
          <a:prstGeom prst="rect">
            <a:avLst/>
          </a:prstGeom>
          <a:solidFill>
            <a:srgbClr val="252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3" descr="C:\Users\rou6\Documents\1_ILLUSTRATION\STA ppt\guild\BAGuild_Logo_DarkBG.pn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32"/>
          <a:stretch/>
        </p:blipFill>
        <p:spPr bwMode="auto">
          <a:xfrm>
            <a:off x="4723130" y="170063"/>
            <a:ext cx="4206240" cy="5157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29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81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7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03200" y="927100"/>
            <a:ext cx="807720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2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65759"/>
            <a:ext cx="6858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" y="6440697"/>
            <a:ext cx="681277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94182" y="6440697"/>
            <a:ext cx="187552" cy="184666"/>
          </a:xfrm>
          <a:prstGeom prst="rect">
            <a:avLst/>
          </a:prstGeom>
          <a:ln w="19050">
            <a:noFill/>
          </a:ln>
        </p:spPr>
        <p:txBody>
          <a:bodyPr vert="horz" wrap="none" lIns="0" tIns="0" rIns="0" bIns="0" rtlCol="0" anchor="ctr">
            <a:spAutoFit/>
          </a:bodyPr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8D059518-4F10-4CC2-99CC-9CA73E17034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rou6\Documents\1_ILLUSTRATION\STA ppt\guild\BAGuild_Logo_LightBG.png"/>
          <p:cNvPicPr>
            <a:picLocks noChangeAspect="1" noChangeArrowheads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2867"/>
          <a:stretch/>
        </p:blipFill>
        <p:spPr bwMode="auto">
          <a:xfrm>
            <a:off x="2971800" y="5969851"/>
            <a:ext cx="3200400" cy="4309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ou6\Documents\1_ILLUSTRATION\STA ppt\guild\BAGuild_Badge_NoLetters.pn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320" y="304053"/>
            <a:ext cx="640080" cy="68687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09800" y="6395870"/>
            <a:ext cx="4724400" cy="274320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228600" y="958850"/>
            <a:ext cx="8686800" cy="27432"/>
          </a:xfrm>
          <a:prstGeom prst="rect">
            <a:avLst/>
          </a:prstGeom>
          <a:solidFill>
            <a:srgbClr val="3F4E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7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cid:4DBC9F8D-BEF1-4230-8A54-274AB7F2DC6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4" Type="http://schemas.openxmlformats.org/officeDocument/2006/relationships/image" Target="../media/image11.tiff"/><Relationship Id="rId5" Type="http://schemas.openxmlformats.org/officeDocument/2006/relationships/image" Target="../media/image12.tiff"/><Relationship Id="rId6" Type="http://schemas.openxmlformats.org/officeDocument/2006/relationships/image" Target="../media/image13.tiff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sinessarchitectureguild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4462" y="2270818"/>
            <a:ext cx="5932714" cy="1231106"/>
          </a:xfrm>
        </p:spPr>
        <p:txBody>
          <a:bodyPr/>
          <a:lstStyle/>
          <a:p>
            <a:r>
              <a:rPr lang="en-US" dirty="0" smtClean="0"/>
              <a:t>Business Architecture</a:t>
            </a:r>
            <a:br>
              <a:rPr lang="en-US" dirty="0" smtClean="0"/>
            </a:br>
            <a:r>
              <a:rPr lang="en-US" dirty="0" smtClean="0"/>
              <a:t>Metamodel Update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3093550" y="3515231"/>
            <a:ext cx="2956899" cy="369332"/>
          </a:xfrm>
        </p:spPr>
        <p:txBody>
          <a:bodyPr/>
          <a:lstStyle/>
          <a:p>
            <a:r>
              <a:rPr lang="en-US" dirty="0"/>
              <a:t>2017 Summit Update</a:t>
            </a:r>
          </a:p>
        </p:txBody>
      </p:sp>
    </p:spTree>
    <p:extLst>
      <p:ext uri="{BB962C8B-B14F-4D97-AF65-F5344CB8AC3E}">
        <p14:creationId xmlns:p14="http://schemas.microsoft.com/office/powerpoint/2010/main" val="279543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Business Architecture Framework recap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Business architecture knowledgebase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Knowledgebase and metamodel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Sample metamodel from BIZBOK® Guide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What the Guild is doing to standardize metamodel views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27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Goal – create an international standard for a business architecture metamodel that aligns to / implements the underlying metamodel in the BIZBOK® Guide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Win – any tool aligned to a standard metamodel based on BIZBOK® Guide can input and export and ideally represent standard business architecture representations as defined by best practices in the BIZBOK® Guide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Value Proposition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683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3980" y="259630"/>
            <a:ext cx="6858000" cy="548640"/>
          </a:xfrm>
        </p:spPr>
        <p:txBody>
          <a:bodyPr/>
          <a:lstStyle/>
          <a:p>
            <a:r>
              <a:rPr lang="en-US" dirty="0" smtClean="0"/>
              <a:t>Business Architecture Framework Relies on Robust Knowledgebase</a:t>
            </a:r>
            <a:endParaRPr lang="en-US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381000" y="5030269"/>
            <a:ext cx="8870067" cy="102570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Knowledgebase: Manages business architecture metadata and relationships in easily accessed facility</a:t>
            </a:r>
            <a:endParaRPr lang="en-US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Blueprints: On demand and ad hoc business architecture diagrams, extracts and reporting</a:t>
            </a:r>
          </a:p>
          <a:p>
            <a:pPr marL="228600" lvl="2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bg2"/>
              </a:buClr>
              <a:buSzPct val="50000"/>
              <a:buFont typeface="Wingdings" charset="2"/>
              <a:buChar char="u"/>
            </a:pPr>
            <a:r>
              <a:rPr lang="en-US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Scenarios: </a:t>
            </a:r>
            <a:r>
              <a:rPr lang="en-US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Specific business context shaped by business objectives, related challenges, action items, plans</a:t>
            </a:r>
            <a:endParaRPr lang="en-US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70378" y="4575354"/>
            <a:ext cx="212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smtClean="0"/>
              <a:t>Source of Basic Framework: </a:t>
            </a:r>
          </a:p>
          <a:p>
            <a:r>
              <a:rPr lang="en-US" sz="900" i="1" dirty="0" smtClean="0"/>
              <a:t>(BIZBOK</a:t>
            </a:r>
            <a:r>
              <a:rPr lang="en-US" sz="900" i="1" dirty="0"/>
              <a:t>® </a:t>
            </a:r>
            <a:r>
              <a:rPr lang="en-US" sz="900" i="1" dirty="0" smtClean="0"/>
              <a:t>Guide)</a:t>
            </a:r>
            <a:endParaRPr lang="en-US" sz="9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77" y="1192996"/>
            <a:ext cx="7109428" cy="375169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5393725" y="1666525"/>
            <a:ext cx="1540475" cy="551935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34200" y="1432719"/>
            <a:ext cx="14658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smtClean="0"/>
              <a:t>Knowledgebase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175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39811" y="242191"/>
            <a:ext cx="6858000" cy="548640"/>
          </a:xfrm>
        </p:spPr>
        <p:txBody>
          <a:bodyPr/>
          <a:lstStyle/>
          <a:p>
            <a:r>
              <a:rPr lang="en-US" dirty="0" smtClean="0"/>
              <a:t>Knowledgebase is Based on BIZBOK® Guide’s Underlying </a:t>
            </a:r>
            <a:r>
              <a:rPr lang="en-US" dirty="0" err="1" smtClean="0"/>
              <a:t>MEtamodel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16742" y="1279303"/>
            <a:ext cx="7901181" cy="443775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ts val="8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37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23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30936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9536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0" indent="-173736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33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1912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92224" indent="-164592" algn="l" defTabSz="914400" rtl="0" eaLnBrk="1" latinLnBrk="0" hangingPunct="1">
              <a:spcBef>
                <a:spcPts val="300"/>
              </a:spcBef>
              <a:buClr>
                <a:schemeClr val="accent2"/>
              </a:buClr>
              <a:buFont typeface="Wingdings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smtClean="0">
                <a:cs typeface="Arial" panose="020B0604020202020204" pitchFamily="34" charset="0"/>
              </a:rPr>
              <a:t>Business architecture maps various business domains – which need to be accessible in a wide variety of ways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smtClean="0">
                <a:cs typeface="Arial" panose="020B0604020202020204" pitchFamily="34" charset="0"/>
              </a:rPr>
              <a:t>This perspective is reflected in the BIZBOK® Guide’s Business Architecture Framework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smtClean="0">
                <a:cs typeface="Arial" panose="020B0604020202020204" pitchFamily="34" charset="0"/>
              </a:rPr>
              <a:t>Managing a well-articulated business architecture requires a robust knowledgebase – the centerpiece of that framework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1800" dirty="0" smtClean="0">
                <a:cs typeface="Arial" panose="020B0604020202020204" pitchFamily="34" charset="0"/>
              </a:rPr>
              <a:t>Best practices and emerging standards dictate basic relationships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cs typeface="Arial" panose="020B0604020202020204" pitchFamily="34" charset="0"/>
              </a:rPr>
              <a:t>Repositories, databases and third party software enable management of knowledgebase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cs typeface="Arial" panose="020B0604020202020204" pitchFamily="34" charset="0"/>
              </a:rPr>
              <a:t>Best practices are evolving into standards for managing this </a:t>
            </a:r>
            <a:r>
              <a:rPr lang="en-US" dirty="0" smtClean="0">
                <a:cs typeface="Arial" panose="020B0604020202020204" pitchFamily="34" charset="0"/>
              </a:rPr>
              <a:t>information</a:t>
            </a:r>
          </a:p>
          <a:p>
            <a:pPr lvl="2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dirty="0" smtClean="0">
                <a:cs typeface="Arial" panose="020B0604020202020204" pitchFamily="34" charset="0"/>
              </a:rPr>
              <a:t>In all cases a robust metamodel must be established to enable a cross-section of tool vendors and practitioners to represent, exchange and disseminate standard business architecture blueprints and related representations </a:t>
            </a:r>
          </a:p>
        </p:txBody>
      </p:sp>
    </p:spTree>
    <p:extLst>
      <p:ext uri="{BB962C8B-B14F-4D97-AF65-F5344CB8AC3E}">
        <p14:creationId xmlns:p14="http://schemas.microsoft.com/office/powerpoint/2010/main" val="425714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316331"/>
            <a:ext cx="6858000" cy="548640"/>
          </a:xfrm>
        </p:spPr>
        <p:txBody>
          <a:bodyPr/>
          <a:lstStyle/>
          <a:p>
            <a:r>
              <a:rPr lang="en-US" dirty="0" smtClean="0"/>
              <a:t>Sample Early Stage Metamodel from BIZBOK® Guide Part 5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95519" y="5924133"/>
            <a:ext cx="20353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smtClean="0"/>
              <a:t>BIZBOK® Guide </a:t>
            </a:r>
            <a:r>
              <a:rPr lang="en-US" sz="1200" dirty="0"/>
              <a:t>Part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727" y="5538625"/>
            <a:ext cx="780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metamodel depicting relationships among business architecture artifacts </a:t>
            </a:r>
          </a:p>
        </p:txBody>
      </p:sp>
      <p:pic>
        <p:nvPicPr>
          <p:cNvPr id="8" name="Picture 7" descr="cid:4DBC9F8D-BEF1-4230-8A54-274AB7F2DC6D"/>
          <p:cNvPicPr/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4" t="1931" r="2285" b="2790"/>
          <a:stretch/>
        </p:blipFill>
        <p:spPr bwMode="auto">
          <a:xfrm>
            <a:off x="243221" y="1447139"/>
            <a:ext cx="8567437" cy="383653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54209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00628"/>
            <a:ext cx="8229600" cy="4814140"/>
          </a:xfrm>
        </p:spPr>
        <p:txBody>
          <a:bodyPr/>
          <a:lstStyle/>
          <a:p>
            <a:pPr>
              <a:buFont typeface="Arial" charset="0"/>
              <a:buChar char="•"/>
            </a:pPr>
            <a:r>
              <a:rPr lang="en-US" dirty="0" smtClean="0"/>
              <a:t>OMG RFP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OMG Discussions ongoing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Response to RFP underway (targeting EOY ‘17)</a:t>
            </a:r>
          </a:p>
          <a:p>
            <a:pPr lvl="2"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MM Design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Inviting international participants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Finalizing the Core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Drafting the Penumbra</a:t>
            </a:r>
          </a:p>
          <a:p>
            <a:pPr lvl="2"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Vendor Engagement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Collaborating with vendors on MM design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Preparing our first vendor breakfast in Reston</a:t>
            </a:r>
          </a:p>
          <a:p>
            <a:pPr lvl="2">
              <a:buFont typeface="Arial" charset="0"/>
              <a:buChar char="•"/>
            </a:pPr>
            <a:r>
              <a:rPr lang="en-US" dirty="0" smtClean="0"/>
              <a:t>Inviting vendors to join us in a formal submission response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48049" y="289024"/>
            <a:ext cx="6858000" cy="548640"/>
          </a:xfrm>
        </p:spPr>
        <p:txBody>
          <a:bodyPr/>
          <a:lstStyle/>
          <a:p>
            <a:r>
              <a:rPr lang="en-US" dirty="0" smtClean="0"/>
              <a:t>Current Work in Progress by Guild Metamodel Team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226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Metamodel Team Roadmap (2017/2018 Timeline)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47939" y="4413764"/>
            <a:ext cx="8229600" cy="1564744"/>
          </a:xfrm>
        </p:spPr>
        <p:txBody>
          <a:bodyPr>
            <a:normAutofit/>
          </a:bodyPr>
          <a:lstStyle/>
          <a:p>
            <a:pPr marL="0" indent="0"/>
            <a:r>
              <a:rPr lang="en-US" sz="1400" dirty="0" smtClean="0">
                <a:solidFill>
                  <a:schemeClr val="accent6">
                    <a:lumMod val="75000"/>
                  </a:schemeClr>
                </a:solidFill>
              </a:rPr>
              <a:t>The team is working on multiple threads. Much work and time was spent in the last 12-18 months incorporating new thinking and approach for the MM, engaging constituencies in OMG to socialize and build consensus towards a BAMM RFP, and working with the vendor community to outline opportunities for ongoing collaboration and participation for the future.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7939" y="1636134"/>
            <a:ext cx="1627996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OMG RFP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75935" y="1636134"/>
            <a:ext cx="6757514" cy="45720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RFP Response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05238" y="2104545"/>
            <a:ext cx="12191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Core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50475" y="3044211"/>
            <a:ext cx="3443707" cy="457200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BIZBOK® Updates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7940" y="3506969"/>
            <a:ext cx="7486478" cy="457200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Vendor Engagement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7939" y="2104545"/>
            <a:ext cx="1257299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MM Design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950180" y="2098872"/>
            <a:ext cx="2289085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Penumbra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924438" y="2573967"/>
            <a:ext cx="5009980" cy="4572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Extensions</a:t>
            </a:r>
            <a:endParaRPr lang="en-US" sz="1600" b="1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32716" y="1305749"/>
            <a:ext cx="8600734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47129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166553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149551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3776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158052" y="1107714"/>
            <a:ext cx="12357" cy="39607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68176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Q1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7318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Q2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72004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Q3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66252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Q4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815657" y="99972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5">
                    <a:lumMod val="50000"/>
                  </a:schemeClr>
                </a:solidFill>
              </a:rPr>
              <a:t>Q1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9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Capability as the centerpiece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70476" y="1516220"/>
            <a:ext cx="8229600" cy="364890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Capability is the natural starting point for a BA because it describes “what” a business does in a way that supports analysis of various related business management concerns by: </a:t>
            </a:r>
          </a:p>
          <a:p>
            <a:pPr marL="579438" lvl="2" indent="-341313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Engaging business and operational stakeholders about their relevant concerns (current state), and </a:t>
            </a:r>
            <a:endParaRPr lang="en-US" sz="24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579438" lvl="2" indent="-341313">
              <a:spcBef>
                <a:spcPts val="600"/>
              </a:spcBef>
              <a:spcAft>
                <a:spcPts val="600"/>
              </a:spcAft>
              <a:buClr>
                <a:schemeClr val="accent6"/>
              </a:buClr>
              <a:buFont typeface="Wingdings" charset="2"/>
              <a:buChar char="v"/>
            </a:pPr>
            <a:r>
              <a:rPr lang="en-US" sz="2400" dirty="0" smtClean="0">
                <a:solidFill>
                  <a:schemeClr val="accent6">
                    <a:lumMod val="75000"/>
                  </a:schemeClr>
                </a:solidFill>
              </a:rPr>
              <a:t>Guiding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them towards a progressive set of steps to achieve their goals and objectives (strategy) for the short term and over the long term (future states)</a:t>
            </a:r>
          </a:p>
        </p:txBody>
      </p:sp>
    </p:spTree>
    <p:extLst>
      <p:ext uri="{BB962C8B-B14F-4D97-AF65-F5344CB8AC3E}">
        <p14:creationId xmlns:p14="http://schemas.microsoft.com/office/powerpoint/2010/main" val="1473851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0999" y="365759"/>
            <a:ext cx="7866529" cy="548640"/>
          </a:xfrm>
        </p:spPr>
        <p:txBody>
          <a:bodyPr/>
          <a:lstStyle/>
          <a:p>
            <a:r>
              <a:rPr lang="en-US" dirty="0" smtClean="0"/>
              <a:t>Layered view of </a:t>
            </a:r>
            <a:r>
              <a:rPr lang="en-US" dirty="0" err="1" smtClean="0"/>
              <a:t>MetaModel</a:t>
            </a:r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 smtClean="0"/>
              <a:t>bizbok</a:t>
            </a:r>
            <a:r>
              <a:rPr lang="en-US" dirty="0" smtClean="0"/>
              <a:t>®)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38" y="1327909"/>
            <a:ext cx="7466742" cy="46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1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AECBC-A02B-4AAF-96EF-C1FB7CCADF94}" type="datetime1">
              <a:rPr lang="en-US" smtClean="0"/>
              <a:pPr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2 layers of MM</a:t>
            </a:r>
            <a:endParaRPr lang="en-US" dirty="0"/>
          </a:p>
        </p:txBody>
      </p:sp>
      <p:sp>
        <p:nvSpPr>
          <p:cNvPr id="7" name="Trapezoid 6"/>
          <p:cNvSpPr/>
          <p:nvPr/>
        </p:nvSpPr>
        <p:spPr>
          <a:xfrm rot="16852770">
            <a:off x="3446754" y="1283665"/>
            <a:ext cx="2467686" cy="3509291"/>
          </a:xfrm>
          <a:prstGeom prst="trapezoid">
            <a:avLst>
              <a:gd name="adj" fmla="val 4304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6986166"/>
              </p:ext>
            </p:extLst>
          </p:nvPr>
        </p:nvGraphicFramePr>
        <p:xfrm>
          <a:off x="5993026" y="2112277"/>
          <a:ext cx="2585823" cy="2468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585823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Strategy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Initiative Mapping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Product Mapping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Stakeholder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Policy Mapping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BPM and Management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Case Management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Business Performance Mgmt.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Requirements Alignment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320040" marR="45720"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4920" y="1742944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mtClean="0"/>
              <a:t>Penumbra</a:t>
            </a:r>
            <a:endParaRPr lang="en-US"/>
          </a:p>
        </p:txBody>
      </p:sp>
      <p:sp>
        <p:nvSpPr>
          <p:cNvPr id="14" name="Trapezoid 13"/>
          <p:cNvSpPr/>
          <p:nvPr/>
        </p:nvSpPr>
        <p:spPr>
          <a:xfrm>
            <a:off x="1226329" y="3204964"/>
            <a:ext cx="1912287" cy="1154676"/>
          </a:xfrm>
          <a:prstGeom prst="trapezoid">
            <a:avLst>
              <a:gd name="adj" fmla="val 72283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87" y="1496342"/>
            <a:ext cx="3250826" cy="2006911"/>
          </a:xfrm>
          <a:prstGeom prst="rect">
            <a:avLst/>
          </a:prstGeom>
        </p:spPr>
      </p:pic>
      <p:graphicFrame>
        <p:nvGraphicFramePr>
          <p:cNvPr id="1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739324"/>
              </p:ext>
            </p:extLst>
          </p:nvPr>
        </p:nvGraphicFramePr>
        <p:xfrm>
          <a:off x="269787" y="4756993"/>
          <a:ext cx="4005649" cy="1280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005649"/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Capability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Centerpiece defines WHAT the business does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Value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defines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WHY the business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has the capabilities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Information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HOW we build alignment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between</a:t>
                      </a:r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 Capability,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Value, and Organization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 smtClean="0">
                          <a:ln>
                            <a:noFill/>
                          </a:ln>
                          <a:effectLst/>
                        </a:rPr>
                        <a:t>Organization </a:t>
                      </a:r>
                      <a:r>
                        <a:rPr lang="mr-IN" sz="1200" u="none" strike="noStrike" dirty="0" smtClean="0">
                          <a:ln>
                            <a:noFill/>
                          </a:ln>
                          <a:effectLst/>
                        </a:rPr>
                        <a:t>–</a:t>
                      </a:r>
                      <a:r>
                        <a:rPr lang="en-US" sz="1200" u="none" strike="noStrike" baseline="0" dirty="0" smtClean="0">
                          <a:ln>
                            <a:noFill/>
                          </a:ln>
                          <a:effectLst/>
                        </a:rPr>
                        <a:t> HOW we align resources to deliver value</a:t>
                      </a:r>
                      <a:endParaRPr lang="en-US" sz="12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anchor="b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85494" y="4376561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1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FE3BD-E6E5-415F-8D6E-D2B3F7C63698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4938" y="247555"/>
            <a:ext cx="6858000" cy="548640"/>
          </a:xfrm>
        </p:spPr>
        <p:txBody>
          <a:bodyPr/>
          <a:lstStyle/>
          <a:p>
            <a:r>
              <a:rPr lang="en-US" dirty="0" smtClean="0"/>
              <a:t>RFP View of Business Architecture Metamodel Response Requirements </a:t>
            </a:r>
            <a:endParaRPr lang="en-US" dirty="0"/>
          </a:p>
        </p:txBody>
      </p:sp>
      <p:pic>
        <p:nvPicPr>
          <p:cNvPr id="102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330" y="1075599"/>
            <a:ext cx="5145817" cy="464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713907" y="5350313"/>
            <a:ext cx="4256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Capability Oriented Business Perspective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273" y="1507524"/>
            <a:ext cx="2626013" cy="24713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Capability required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Other representations desired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/>
                </a:solidFill>
              </a:rPr>
              <a:t>Must interface with existing standards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58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Scenario-Driven BA Meta Modeling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58794"/>
          </a:xfrm>
        </p:spPr>
        <p:txBody>
          <a:bodyPr>
            <a:normAutofit/>
          </a:bodyPr>
          <a:lstStyle/>
          <a:p>
            <a:pPr lvl="0"/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The BA MM was derived from the practitioners of Business Architecture and the organizations by leveraging common business scenarios: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11004" y="2686302"/>
            <a:ext cx="7721991" cy="2209799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/>
                </a:solidFill>
              </a:rPr>
              <a:t>Investment Analysis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Shift to Customer Centric Business Model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Merger &amp; Acquisition Analysis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New Product/Service Rollout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Globalization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Business Capability 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Outsourcing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Supply Chain Streamlining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Divestiture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Regulatory Compliance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Change Management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Operational Cost Reduction </a:t>
            </a:r>
          </a:p>
          <a:p>
            <a:r>
              <a:rPr lang="en-US" dirty="0" smtClean="0">
                <a:solidFill>
                  <a:schemeClr val="tx2"/>
                </a:solidFill>
              </a:rPr>
              <a:t>Joint Venture Deployment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FF152-005F-4D94-91F4-54D46561C73D}" type="datetime1">
              <a:rPr lang="en-US" smtClean="0"/>
              <a:t>3/10/17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1F13-D499-404E-A11B-CE66F4C6465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60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Vendor Engagement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" y="1272739"/>
            <a:ext cx="4351461" cy="4419600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spcBef>
                <a:spcPts val="600"/>
              </a:spcBef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Variations for candidate metamodel have been adopted, are under review for adoption, or have been or are being user implemented across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numerous tool vendors </a:t>
            </a:r>
            <a:endParaRPr lang="en-US" sz="16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lvl="0" indent="0">
              <a:lnSpc>
                <a:spcPct val="120000"/>
              </a:lnSpc>
              <a:spcBef>
                <a:spcPts val="600"/>
              </a:spcBef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Candidate metamodel is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based on the concepts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captured across practitioner communities, as embodied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in the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BIZBOK® Guide,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which has wide adoption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across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government, institutions, commercial, and non-profit (US &amp; </a:t>
            </a: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International)</a:t>
            </a:r>
          </a:p>
          <a:p>
            <a:pPr marL="0" lvl="0" indent="0">
              <a:lnSpc>
                <a:spcPct val="120000"/>
              </a:lnSpc>
              <a:spcBef>
                <a:spcPts val="600"/>
              </a:spcBef>
            </a:pPr>
            <a:r>
              <a:rPr lang="en-US" sz="1600" dirty="0" smtClean="0">
                <a:solidFill>
                  <a:schemeClr val="accent6">
                    <a:lumMod val="75000"/>
                  </a:schemeClr>
                </a:solidFill>
              </a:rPr>
              <a:t>Next steps – Guild will engage with vendor community in more focused ways to submit a response to the OMG RFP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233" y="1424070"/>
            <a:ext cx="1734886" cy="1237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r="22173"/>
          <a:stretch/>
        </p:blipFill>
        <p:spPr>
          <a:xfrm>
            <a:off x="6454148" y="3171605"/>
            <a:ext cx="2461252" cy="85898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113" y="4412531"/>
            <a:ext cx="2258322" cy="83641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5594" y="1072973"/>
            <a:ext cx="1837765" cy="11503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203" y="3930608"/>
            <a:ext cx="1807211" cy="48192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3581" y="2747999"/>
            <a:ext cx="2209800" cy="447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5203" y="4984808"/>
            <a:ext cx="1752600" cy="70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7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Guild engaged with OMG for long-term to work on rollout and evolution of a standard metamodel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Guild also a member of Open Group to influence TOGAF® and its content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Guild team has created a UML Profile for BIZBOK® for UML based tools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 smtClean="0"/>
              <a:t>This could be standardized as well and aligns to the Guild metamodel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099F0-A5F1-4ED5-9377-F6752109C662}" type="datetime1">
              <a:rPr lang="en-US" smtClean="0"/>
              <a:t>3/10/17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smtClean="0"/>
              <a:t>Copyright 2017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Standards and Tool </a:t>
            </a:r>
            <a:r>
              <a:rPr lang="en-US" dirty="0" err="1" smtClean="0"/>
              <a:t>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26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7B1AF-C811-49A0-AC28-BC2743A8A5B8}" type="datetime1">
              <a:rPr lang="en-US" smtClean="0"/>
              <a:t>3/10/17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2017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59518-4F10-4CC2-99CC-9CA73E17034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488711" y="3767024"/>
            <a:ext cx="8018654" cy="1887696"/>
          </a:xfrm>
        </p:spPr>
        <p:txBody>
          <a:bodyPr/>
          <a:lstStyle/>
          <a:p>
            <a:r>
              <a:rPr lang="en-US" dirty="0" smtClean="0"/>
              <a:t>We are looking for additional participants to accelerate </a:t>
            </a:r>
          </a:p>
          <a:p>
            <a:r>
              <a:rPr lang="en-US" dirty="0" smtClean="0"/>
              <a:t>our efforts on this landmark work plan. Please contact the </a:t>
            </a:r>
          </a:p>
          <a:p>
            <a:r>
              <a:rPr lang="en-US" dirty="0" smtClean="0"/>
              <a:t>Team Leader (Jeffrey Wallk) on the Guild Site (see link)</a:t>
            </a:r>
          </a:p>
          <a:p>
            <a:endParaRPr lang="en-US" dirty="0" smtClean="0"/>
          </a:p>
          <a:p>
            <a:r>
              <a:rPr lang="en-US" dirty="0"/>
              <a:t>(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www.businessarchitectureguild.org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520314" y="2798076"/>
            <a:ext cx="2744211" cy="61555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21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Angles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Angl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ngl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>
    <a:spDef>
      <a:spPr>
        <a:solidFill>
          <a:srgbClr val="F2541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937</TotalTime>
  <Words>918</Words>
  <Application>Microsoft Macintosh PowerPoint</Application>
  <PresentationFormat>On-screen Show (4:3)</PresentationFormat>
  <Paragraphs>156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Franklin Gothic Book</vt:lpstr>
      <vt:lpstr>Franklin Gothic Medium</vt:lpstr>
      <vt:lpstr>Mangal</vt:lpstr>
      <vt:lpstr>Times New Roman</vt:lpstr>
      <vt:lpstr>Tunga</vt:lpstr>
      <vt:lpstr>Wingdings</vt:lpstr>
      <vt:lpstr>Arial</vt:lpstr>
      <vt:lpstr>1_Angles</vt:lpstr>
      <vt:lpstr>Business Architecture Metamodel Update</vt:lpstr>
      <vt:lpstr>Overview</vt:lpstr>
      <vt:lpstr>The Value Proposition</vt:lpstr>
      <vt:lpstr>Business Architecture Framework Relies on Robust Knowledgebase</vt:lpstr>
      <vt:lpstr>Knowledgebase is Based on BIZBOK® Guide’s Underlying MEtamodel</vt:lpstr>
      <vt:lpstr>Sample Early Stage Metamodel from BIZBOK® Guide Part 5</vt:lpstr>
      <vt:lpstr>Current Work in Progress by Guild Metamodel Team</vt:lpstr>
      <vt:lpstr>Metamodel Team Roadmap (2017/2018 Timeline)</vt:lpstr>
      <vt:lpstr>Capability as the centerpiece</vt:lpstr>
      <vt:lpstr>Layered view of MetaModel (bizbok®)</vt:lpstr>
      <vt:lpstr>First 2 layers of MM</vt:lpstr>
      <vt:lpstr>RFP View of Business Architecture Metamodel Response Requirements </vt:lpstr>
      <vt:lpstr>Scenario-Driven BA Meta Modeling</vt:lpstr>
      <vt:lpstr>Vendor Engagement</vt:lpstr>
      <vt:lpstr>Related Standards and Tool WOrk</vt:lpstr>
      <vt:lpstr>Thank you</vt:lpstr>
    </vt:vector>
  </TitlesOfParts>
  <Company>Toshiba</Company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kathy</dc:creator>
  <cp:lastModifiedBy>Jeffrey Wallk</cp:lastModifiedBy>
  <cp:revision>69</cp:revision>
  <dcterms:created xsi:type="dcterms:W3CDTF">2012-10-06T17:50:46Z</dcterms:created>
  <dcterms:modified xsi:type="dcterms:W3CDTF">2017-03-11T01:17:49Z</dcterms:modified>
</cp:coreProperties>
</file>
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4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Lst>
  <p:notesMasterIdLst>
    <p:notesMasterId r:id="rId86"/>
  </p:notesMasterIdLst>
  <p:handoutMasterIdLst>
    <p:handoutMasterId r:id="rId87"/>
  </p:handoutMasterIdLst>
  <p:sldIdLst>
    <p:sldId id="278"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342" r:id="rId66"/>
    <p:sldId id="343" r:id="rId67"/>
    <p:sldId id="344" r:id="rId68"/>
    <p:sldId id="345" r:id="rId69"/>
    <p:sldId id="346" r:id="rId70"/>
    <p:sldId id="347" r:id="rId71"/>
    <p:sldId id="348" r:id="rId72"/>
    <p:sldId id="349" r:id="rId73"/>
    <p:sldId id="350" r:id="rId74"/>
    <p:sldId id="351" r:id="rId75"/>
    <p:sldId id="352" r:id="rId76"/>
    <p:sldId id="353" r:id="rId77"/>
    <p:sldId id="354" r:id="rId78"/>
    <p:sldId id="355" r:id="rId79"/>
    <p:sldId id="356" r:id="rId80"/>
    <p:sldId id="357" r:id="rId81"/>
    <p:sldId id="358" r:id="rId82"/>
    <p:sldId id="359" r:id="rId83"/>
    <p:sldId id="360" r:id="rId84"/>
    <p:sldId id="277" r:id="rId8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77" autoAdjust="0"/>
    <p:restoredTop sz="94660"/>
  </p:normalViewPr>
  <p:slideViewPr>
    <p:cSldViewPr>
      <p:cViewPr varScale="1">
        <p:scale>
          <a:sx n="71" d="100"/>
          <a:sy n="71" d="100"/>
        </p:scale>
        <p:origin x="-1518" y="-90"/>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74"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1DD8D3DF-C8E7-400F-A470-C35BFABFEA8B}" type="datetime1">
              <a:rPr lang="en-US"/>
              <a:pPr>
                <a:defRPr/>
              </a:pPr>
              <a:t>12/6/2009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ADFC0378-E924-45D2-833F-2407825596E3}"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110"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110" charset="0"/>
              </a:defRPr>
            </a:lvl1pPr>
          </a:lstStyle>
          <a:p>
            <a:pPr>
              <a:defRPr/>
            </a:pPr>
            <a:fld id="{BA5DA134-F246-4A0D-B32C-1C816EB1D884}" type="datetime1">
              <a:rPr lang="en-US"/>
              <a:pPr>
                <a:defRPr/>
              </a:pPr>
              <a:t>12/6/2009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110"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110" charset="0"/>
              </a:defRPr>
            </a:lvl1pPr>
          </a:lstStyle>
          <a:p>
            <a:pPr>
              <a:defRPr/>
            </a:pPr>
            <a:fld id="{D8C2B3F5-6F9B-4CB9-8D11-1CB8B4199FBB}"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10"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1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7EBFD5-6BE7-418E-85A6-2C728D1C3605}" type="slidenum">
              <a:rPr lang="en-US" smtClean="0"/>
              <a:pPr>
                <a:defRPr/>
              </a:pPr>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a:lstStyle/>
          <a:p>
            <a:endParaRPr lang="en-US" smtClean="0">
              <a:ea typeface="ＭＳ Ｐゴシック" pitchFamily="34" charset="-128"/>
            </a:endParaRPr>
          </a:p>
        </p:txBody>
      </p:sp>
      <p:sp>
        <p:nvSpPr>
          <p:cNvPr id="65540" name="Slide Number Placeholder 3"/>
          <p:cNvSpPr>
            <a:spLocks noGrp="1"/>
          </p:cNvSpPr>
          <p:nvPr>
            <p:ph type="sldNum" sz="quarter" idx="5"/>
          </p:nvPr>
        </p:nvSpPr>
        <p:spPr bwMode="auto">
          <a:noFill/>
          <a:ln>
            <a:miter lim="800000"/>
            <a:headEnd/>
            <a:tailEnd/>
          </a:ln>
        </p:spPr>
        <p:txBody>
          <a:bodyPr/>
          <a:lstStyle/>
          <a:p>
            <a:fld id="{1724FB15-D4DD-42F5-8CEF-6AFF62F6DDF1}" type="slidenum">
              <a:rPr lang="en-US" smtClean="0">
                <a:latin typeface="Calibri" pitchFamily="34" charset="0"/>
              </a:rPr>
              <a:pPr/>
              <a:t>84</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Grassy Ridgelines, Briones Regional Park, California.jpg"/>
          <p:cNvPicPr>
            <a:picLocks noChangeAspect="1"/>
          </p:cNvPicPr>
          <p:nvPr/>
        </p:nvPicPr>
        <p:blipFill>
          <a:blip r:embed="rId2" cstate="print">
            <a:lum bright="20000"/>
          </a:blip>
          <a:srcRect/>
          <a:stretch>
            <a:fillRect/>
          </a:stretch>
        </p:blipFill>
        <p:spPr bwMode="auto">
          <a:xfrm>
            <a:off x="0" y="0"/>
            <a:ext cx="9144000" cy="6858000"/>
          </a:xfrm>
          <a:prstGeom prst="rect">
            <a:avLst/>
          </a:prstGeom>
          <a:solidFill>
            <a:schemeClr val="bg1"/>
          </a:solidFill>
          <a:ln w="9525">
            <a:noFill/>
            <a:miter lim="800000"/>
            <a:headEnd/>
            <a:tailEnd/>
          </a:ln>
        </p:spPr>
      </p:pic>
      <p:sp>
        <p:nvSpPr>
          <p:cNvPr id="5" name="Rectangle 4"/>
          <p:cNvSpPr/>
          <p:nvPr/>
        </p:nvSpPr>
        <p:spPr>
          <a:xfrm>
            <a:off x="1219200" y="0"/>
            <a:ext cx="7924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pic>
        <p:nvPicPr>
          <p:cNvPr id="6" name="Picture 8" descr="small VEG  logo.png"/>
          <p:cNvPicPr>
            <a:picLocks noChangeAspect="1"/>
          </p:cNvPicPr>
          <p:nvPr/>
        </p:nvPicPr>
        <p:blipFill>
          <a:blip r:embed="rId3" cstate="print"/>
          <a:srcRect/>
          <a:stretch>
            <a:fillRect/>
          </a:stretch>
        </p:blipFill>
        <p:spPr bwMode="auto">
          <a:xfrm>
            <a:off x="2590800" y="457200"/>
            <a:ext cx="4008438" cy="1066800"/>
          </a:xfrm>
          <a:prstGeom prst="rect">
            <a:avLst/>
          </a:prstGeom>
          <a:noFill/>
          <a:ln w="9525">
            <a:noFill/>
            <a:miter lim="800000"/>
            <a:headEnd/>
            <a:tailEnd/>
          </a:ln>
        </p:spPr>
      </p:pic>
      <p:sp>
        <p:nvSpPr>
          <p:cNvPr id="7" name="TextBox 6"/>
          <p:cNvSpPr txBox="1"/>
          <p:nvPr/>
        </p:nvSpPr>
        <p:spPr>
          <a:xfrm>
            <a:off x="2200275" y="6478588"/>
            <a:ext cx="4722813" cy="215900"/>
          </a:xfrm>
          <a:prstGeom prst="rect">
            <a:avLst/>
          </a:prstGeom>
          <a:noFill/>
        </p:spPr>
        <p:txBody>
          <a:bodyPr wrap="none">
            <a:spAutoFit/>
          </a:bodyPr>
          <a:lstStyle/>
          <a:p>
            <a:pPr algn="ctr">
              <a:defRPr/>
            </a:pPr>
            <a:r>
              <a:rPr lang="en-US" sz="800" dirty="0"/>
              <a:t>Privileged and Confidential..Copyright The Value Enablement Group, LLC 2009, All rights reserved.</a:t>
            </a:r>
          </a:p>
        </p:txBody>
      </p:sp>
      <p:sp>
        <p:nvSpPr>
          <p:cNvPr id="8" name="TextBox 7"/>
          <p:cNvSpPr txBox="1"/>
          <p:nvPr userDrawn="1"/>
        </p:nvSpPr>
        <p:spPr>
          <a:xfrm>
            <a:off x="2200275" y="6478588"/>
            <a:ext cx="4722813" cy="215900"/>
          </a:xfrm>
          <a:prstGeom prst="rect">
            <a:avLst/>
          </a:prstGeom>
          <a:noFill/>
        </p:spPr>
        <p:txBody>
          <a:bodyPr wrap="none">
            <a:spAutoFit/>
          </a:bodyPr>
          <a:lstStyle/>
          <a:p>
            <a:pPr algn="ctr">
              <a:defRPr/>
            </a:pPr>
            <a:r>
              <a:rPr lang="en-US" sz="800" dirty="0"/>
              <a:t>Privileged and Confidential..Copyright The Value Enablement Group, LLC 2009, All rights reserved.</a:t>
            </a: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9" name="Date Placeholder 3"/>
          <p:cNvSpPr>
            <a:spLocks noGrp="1"/>
          </p:cNvSpPr>
          <p:nvPr>
            <p:ph type="dt" sz="half" idx="10"/>
          </p:nvPr>
        </p:nvSpPr>
        <p:spPr/>
        <p:txBody>
          <a:bodyPr/>
          <a:lstStyle>
            <a:lvl1pPr algn="l">
              <a:defRPr/>
            </a:lvl1pPr>
          </a:lstStyle>
          <a:p>
            <a:pPr>
              <a:defRPr/>
            </a:pPr>
            <a:endParaRPr lang="en-US"/>
          </a:p>
        </p:txBody>
      </p:sp>
      <p:sp>
        <p:nvSpPr>
          <p:cNvPr id="10" name="Footer Placeholder 4"/>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11" name="Slide Number Placeholder 5"/>
          <p:cNvSpPr>
            <a:spLocks noGrp="1"/>
          </p:cNvSpPr>
          <p:nvPr>
            <p:ph type="sldNum" sz="quarter" idx="12"/>
          </p:nvPr>
        </p:nvSpPr>
        <p:spPr/>
        <p:txBody>
          <a:bodyPr/>
          <a:lstStyle>
            <a:lvl1pPr algn="r">
              <a:defRPr/>
            </a:lvl1pPr>
          </a:lstStyle>
          <a:p>
            <a:pPr>
              <a:defRPr/>
            </a:pPr>
            <a:fld id="{68A67391-9C2F-4576-BC27-1C9C10A9520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small VEG  logo.png"/>
          <p:cNvPicPr>
            <a:picLocks noChangeAspect="1"/>
          </p:cNvPicPr>
          <p:nvPr/>
        </p:nvPicPr>
        <p:blipFill>
          <a:blip r:embed="rId2" cstate="print"/>
          <a:srcRect/>
          <a:stretch>
            <a:fillRect/>
          </a:stretch>
        </p:blipFill>
        <p:spPr bwMode="auto">
          <a:xfrm>
            <a:off x="9525" y="0"/>
            <a:ext cx="3038475" cy="808038"/>
          </a:xfrm>
          <a:prstGeom prst="rect">
            <a:avLst/>
          </a:prstGeom>
          <a:noFill/>
          <a:ln w="9525">
            <a:noFill/>
            <a:miter lim="800000"/>
            <a:headEnd/>
            <a:tailEnd/>
          </a:ln>
        </p:spPr>
      </p:pic>
      <p:cxnSp>
        <p:nvCxnSpPr>
          <p:cNvPr id="5" name="Straight Connector 4"/>
          <p:cNvCxnSpPr/>
          <p:nvPr/>
        </p:nvCxnSpPr>
        <p:spPr>
          <a:xfrm>
            <a:off x="457200" y="1219200"/>
            <a:ext cx="8229600" cy="0"/>
          </a:xfrm>
          <a:prstGeom prst="line">
            <a:avLst/>
          </a:prstGeom>
          <a:ln w="82550" cap="rnd">
            <a:solidFill>
              <a:srgbClr val="216778"/>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200275" y="6478588"/>
            <a:ext cx="4722813" cy="215900"/>
          </a:xfrm>
          <a:prstGeom prst="rect">
            <a:avLst/>
          </a:prstGeom>
          <a:noFill/>
        </p:spPr>
        <p:txBody>
          <a:bodyPr wrap="none">
            <a:spAutoFit/>
          </a:bodyPr>
          <a:lstStyle/>
          <a:p>
            <a:pPr algn="ctr">
              <a:defRPr/>
            </a:pPr>
            <a:r>
              <a:rPr lang="en-US" sz="800" dirty="0"/>
              <a:t>Privileged and Confidential..Copyright The Value Enablement Group, LLC 2009, All rights reserved.</a:t>
            </a:r>
          </a:p>
        </p:txBody>
      </p:sp>
      <p:sp>
        <p:nvSpPr>
          <p:cNvPr id="2" name="Title 1"/>
          <p:cNvSpPr>
            <a:spLocks noGrp="1"/>
          </p:cNvSpPr>
          <p:nvPr>
            <p:ph type="title"/>
          </p:nvPr>
        </p:nvSpPr>
        <p:spPr>
          <a:xfrm>
            <a:off x="457200" y="762000"/>
            <a:ext cx="8229600" cy="350838"/>
          </a:xfrm>
        </p:spPr>
        <p:txBody>
          <a:bodyPr>
            <a:noAutofit/>
          </a:bodyPr>
          <a:lstStyle>
            <a:lvl1pPr>
              <a:defRPr sz="2800" b="1"/>
            </a:lvl1pPr>
          </a:lstStyle>
          <a:p>
            <a:r>
              <a:rPr lang="en-US" smtClean="0"/>
              <a:t>Click to edit Master title style</a:t>
            </a:r>
            <a:endParaRPr lang="en-US" dirty="0"/>
          </a:p>
        </p:txBody>
      </p:sp>
      <p:sp>
        <p:nvSpPr>
          <p:cNvPr id="3" name="Content Placeholder 2"/>
          <p:cNvSpPr>
            <a:spLocks noGrp="1"/>
          </p:cNvSpPr>
          <p:nvPr>
            <p:ph idx="1"/>
          </p:nvPr>
        </p:nvSpPr>
        <p:spPr>
          <a:xfrm>
            <a:off x="457200" y="1295400"/>
            <a:ext cx="8229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10"/>
          <p:cNvSpPr>
            <a:spLocks noGrp="1"/>
          </p:cNvSpPr>
          <p:nvPr>
            <p:ph type="sldNum" sz="quarter" idx="10"/>
          </p:nvPr>
        </p:nvSpPr>
        <p:spPr>
          <a:xfrm>
            <a:off x="8001000" y="6356350"/>
            <a:ext cx="685800" cy="365125"/>
          </a:xfrm>
        </p:spPr>
        <p:txBody>
          <a:bodyPr/>
          <a:lstStyle>
            <a:lvl1pPr>
              <a:defRPr sz="1600" b="1">
                <a:solidFill>
                  <a:schemeClr val="accent1">
                    <a:lumMod val="50000"/>
                  </a:schemeClr>
                </a:solidFill>
              </a:defRPr>
            </a:lvl1pPr>
          </a:lstStyle>
          <a:p>
            <a:pPr>
              <a:defRPr/>
            </a:pPr>
            <a:fld id="{B17766A0-4E7E-4346-9845-753A3E560A4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lgn="l">
              <a:defRPr/>
            </a:lvl1pPr>
          </a:lstStyle>
          <a:p>
            <a:pPr>
              <a:defRPr/>
            </a:pPr>
            <a:endParaRPr lang="en-US"/>
          </a:p>
        </p:txBody>
      </p:sp>
      <p:sp>
        <p:nvSpPr>
          <p:cNvPr id="6" name="Footer Placeholder 5"/>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7" name="Slide Number Placeholder 6"/>
          <p:cNvSpPr>
            <a:spLocks noGrp="1"/>
          </p:cNvSpPr>
          <p:nvPr>
            <p:ph type="sldNum" sz="quarter" idx="12"/>
          </p:nvPr>
        </p:nvSpPr>
        <p:spPr/>
        <p:txBody>
          <a:bodyPr/>
          <a:lstStyle>
            <a:lvl1pPr algn="r">
              <a:defRPr/>
            </a:lvl1pPr>
          </a:lstStyle>
          <a:p>
            <a:pPr>
              <a:defRPr/>
            </a:pPr>
            <a:fld id="{3887C531-DA27-446A-8A3B-0540AE8DE5B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lgn="l">
              <a:defRPr/>
            </a:lvl1pPr>
          </a:lstStyle>
          <a:p>
            <a:pPr>
              <a:defRPr/>
            </a:pPr>
            <a:endParaRPr lang="en-US"/>
          </a:p>
        </p:txBody>
      </p:sp>
      <p:sp>
        <p:nvSpPr>
          <p:cNvPr id="8" name="Footer Placeholder 7"/>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9" name="Slide Number Placeholder 8"/>
          <p:cNvSpPr>
            <a:spLocks noGrp="1"/>
          </p:cNvSpPr>
          <p:nvPr>
            <p:ph type="sldNum" sz="quarter" idx="12"/>
          </p:nvPr>
        </p:nvSpPr>
        <p:spPr/>
        <p:txBody>
          <a:bodyPr/>
          <a:lstStyle>
            <a:lvl1pPr algn="r">
              <a:defRPr/>
            </a:lvl1pPr>
          </a:lstStyle>
          <a:p>
            <a:pPr>
              <a:defRPr/>
            </a:pPr>
            <a:fld id="{FC9C5604-86D9-4EB0-BC59-58A9D6CCB311}"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lgn="l">
              <a:defRPr/>
            </a:lvl1pPr>
          </a:lstStyle>
          <a:p>
            <a:pPr>
              <a:defRPr/>
            </a:pPr>
            <a:endParaRPr lang="en-US"/>
          </a:p>
        </p:txBody>
      </p:sp>
      <p:sp>
        <p:nvSpPr>
          <p:cNvPr id="4" name="Footer Placeholder 3"/>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5" name="Slide Number Placeholder 4"/>
          <p:cNvSpPr>
            <a:spLocks noGrp="1"/>
          </p:cNvSpPr>
          <p:nvPr>
            <p:ph type="sldNum" sz="quarter" idx="12"/>
          </p:nvPr>
        </p:nvSpPr>
        <p:spPr/>
        <p:txBody>
          <a:bodyPr/>
          <a:lstStyle>
            <a:lvl1pPr algn="r">
              <a:defRPr/>
            </a:lvl1pPr>
          </a:lstStyle>
          <a:p>
            <a:pPr>
              <a:defRPr/>
            </a:pPr>
            <a:fld id="{DCA6F392-9C2D-4F42-B20A-C1BECCDA9F4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lgn="l">
              <a:defRPr/>
            </a:lvl1pPr>
          </a:lstStyle>
          <a:p>
            <a:pPr>
              <a:defRPr/>
            </a:pPr>
            <a:endParaRPr lang="en-US"/>
          </a:p>
        </p:txBody>
      </p:sp>
      <p:sp>
        <p:nvSpPr>
          <p:cNvPr id="3" name="Footer Placeholder 2"/>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4" name="Slide Number Placeholder 3"/>
          <p:cNvSpPr>
            <a:spLocks noGrp="1"/>
          </p:cNvSpPr>
          <p:nvPr>
            <p:ph type="sldNum" sz="quarter" idx="12"/>
          </p:nvPr>
        </p:nvSpPr>
        <p:spPr/>
        <p:txBody>
          <a:bodyPr/>
          <a:lstStyle>
            <a:lvl1pPr algn="r">
              <a:defRPr/>
            </a:lvl1pPr>
          </a:lstStyle>
          <a:p>
            <a:pPr>
              <a:defRPr/>
            </a:pPr>
            <a:fld id="{B372FCA7-C354-429C-9ED2-828CB4DE6D89}"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pPr>
              <a:defRPr/>
            </a:pPr>
            <a:endParaRPr lang="en-US"/>
          </a:p>
        </p:txBody>
      </p:sp>
      <p:sp>
        <p:nvSpPr>
          <p:cNvPr id="6" name="Footer Placeholder 5"/>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7" name="Slide Number Placeholder 6"/>
          <p:cNvSpPr>
            <a:spLocks noGrp="1"/>
          </p:cNvSpPr>
          <p:nvPr>
            <p:ph type="sldNum" sz="quarter" idx="12"/>
          </p:nvPr>
        </p:nvSpPr>
        <p:spPr/>
        <p:txBody>
          <a:bodyPr/>
          <a:lstStyle>
            <a:lvl1pPr algn="r">
              <a:defRPr/>
            </a:lvl1pPr>
          </a:lstStyle>
          <a:p>
            <a:pPr>
              <a:defRPr/>
            </a:pPr>
            <a:fld id="{0DBBCB50-9D3D-47BD-8364-0BC282FB859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pPr>
              <a:defRPr/>
            </a:pPr>
            <a:endParaRPr lang="en-US"/>
          </a:p>
        </p:txBody>
      </p:sp>
      <p:sp>
        <p:nvSpPr>
          <p:cNvPr id="6" name="Footer Placeholder 5"/>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7" name="Slide Number Placeholder 6"/>
          <p:cNvSpPr>
            <a:spLocks noGrp="1"/>
          </p:cNvSpPr>
          <p:nvPr>
            <p:ph type="sldNum" sz="quarter" idx="12"/>
          </p:nvPr>
        </p:nvSpPr>
        <p:spPr/>
        <p:txBody>
          <a:bodyPr/>
          <a:lstStyle>
            <a:lvl1pPr algn="r">
              <a:defRPr/>
            </a:lvl1pPr>
          </a:lstStyle>
          <a:p>
            <a:pPr>
              <a:defRPr/>
            </a:pPr>
            <a:fld id="{36D52CC7-5F5A-4913-8F2B-3DD5AAB29E42}"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pPr>
              <a:defRPr/>
            </a:pPr>
            <a:endParaRPr lang="en-US"/>
          </a:p>
        </p:txBody>
      </p:sp>
      <p:sp>
        <p:nvSpPr>
          <p:cNvPr id="5" name="Footer Placeholder 4"/>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6" name="Slide Number Placeholder 5"/>
          <p:cNvSpPr>
            <a:spLocks noGrp="1"/>
          </p:cNvSpPr>
          <p:nvPr>
            <p:ph type="sldNum" sz="quarter" idx="12"/>
          </p:nvPr>
        </p:nvSpPr>
        <p:spPr/>
        <p:txBody>
          <a:bodyPr/>
          <a:lstStyle>
            <a:lvl1pPr algn="r">
              <a:defRPr/>
            </a:lvl1pPr>
          </a:lstStyle>
          <a:p>
            <a:pPr>
              <a:defRPr/>
            </a:pPr>
            <a:fld id="{298569EF-EF0C-43C2-A2A7-1FCA48F5D3A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pPr>
              <a:defRPr/>
            </a:pPr>
            <a:endParaRPr lang="en-US"/>
          </a:p>
        </p:txBody>
      </p:sp>
      <p:sp>
        <p:nvSpPr>
          <p:cNvPr id="5" name="Footer Placeholder 4"/>
          <p:cNvSpPr>
            <a:spLocks noGrp="1"/>
          </p:cNvSpPr>
          <p:nvPr>
            <p:ph type="ftr" sz="quarter" idx="11"/>
          </p:nvPr>
        </p:nvSpPr>
        <p:spPr/>
        <p:txBody>
          <a:bodyPr/>
          <a:lstStyle>
            <a:lvl1pPr>
              <a:defRPr>
                <a:solidFill>
                  <a:srgbClr val="898989"/>
                </a:solidFill>
              </a:defRPr>
            </a:lvl1pPr>
          </a:lstStyle>
          <a:p>
            <a:pPr>
              <a:defRPr/>
            </a:pPr>
            <a:r>
              <a:rPr lang="en-US"/>
              <a:t>asdfasdf</a:t>
            </a:r>
          </a:p>
        </p:txBody>
      </p:sp>
      <p:sp>
        <p:nvSpPr>
          <p:cNvPr id="6" name="Slide Number Placeholder 5"/>
          <p:cNvSpPr>
            <a:spLocks noGrp="1"/>
          </p:cNvSpPr>
          <p:nvPr>
            <p:ph type="sldNum" sz="quarter" idx="12"/>
          </p:nvPr>
        </p:nvSpPr>
        <p:spPr/>
        <p:txBody>
          <a:bodyPr/>
          <a:lstStyle>
            <a:lvl1pPr algn="r">
              <a:defRPr/>
            </a:lvl1pPr>
          </a:lstStyle>
          <a:p>
            <a:pPr>
              <a:defRPr/>
            </a:pPr>
            <a:fld id="{1C33277A-904F-48AA-BB90-3186DF325E8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6200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914400" y="1447800"/>
            <a:ext cx="7620000" cy="4648200"/>
          </a:xfrm>
        </p:spPr>
        <p:txBody>
          <a:bodyPr/>
          <a:lstStyle/>
          <a:p>
            <a:pPr lvl="0"/>
            <a:endParaRPr lang="en-US" noProof="0"/>
          </a:p>
        </p:txBody>
      </p:sp>
      <p:sp>
        <p:nvSpPr>
          <p:cNvPr id="4" name="Rectangle 6"/>
          <p:cNvSpPr>
            <a:spLocks noGrp="1" noChangeArrowheads="1"/>
          </p:cNvSpPr>
          <p:nvPr>
            <p:ph type="sldNum" sz="quarter" idx="10"/>
          </p:nvPr>
        </p:nvSpPr>
        <p:spPr>
          <a:ln/>
        </p:spPr>
        <p:txBody>
          <a:bodyPr/>
          <a:lstStyle>
            <a:lvl1pPr>
              <a:defRPr/>
            </a:lvl1pPr>
          </a:lstStyle>
          <a:p>
            <a:pPr>
              <a:defRPr/>
            </a:pPr>
            <a:fld id="{298CC4E8-673E-4CCF-AA02-1B73D759D82C}"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0" charset="0"/>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AFADA5"/>
                </a:solidFill>
                <a:latin typeface="Calibri" pitchFamily="-110" charset="0"/>
              </a:defRPr>
            </a:lvl1pPr>
          </a:lstStyle>
          <a:p>
            <a:pPr>
              <a:defRPr/>
            </a:pPr>
            <a:r>
              <a:rPr lang="en-US"/>
              <a:t>asdfasdf</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110" charset="0"/>
              </a:defRPr>
            </a:lvl1pPr>
          </a:lstStyle>
          <a:p>
            <a:pPr>
              <a:defRPr/>
            </a:pPr>
            <a:fld id="{5D87D35D-A695-453C-87D5-A9ECB16D7C0D}"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pitchFamily="-110" charset="-128"/>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pitchFamily="-110" charset="-128"/>
        </a:defRPr>
      </a:lvl2pPr>
      <a:lvl3pPr algn="ctr" rtl="0" eaLnBrk="0" fontAlgn="base" hangingPunct="0">
        <a:spcBef>
          <a:spcPct val="0"/>
        </a:spcBef>
        <a:spcAft>
          <a:spcPct val="0"/>
        </a:spcAft>
        <a:defRPr sz="4400">
          <a:solidFill>
            <a:schemeClr val="tx1"/>
          </a:solidFill>
          <a:latin typeface="Calibri" pitchFamily="34" charset="0"/>
          <a:ea typeface="ＭＳ Ｐゴシック" pitchFamily="-110" charset="-128"/>
        </a:defRPr>
      </a:lvl3pPr>
      <a:lvl4pPr algn="ctr" rtl="0" eaLnBrk="0" fontAlgn="base" hangingPunct="0">
        <a:spcBef>
          <a:spcPct val="0"/>
        </a:spcBef>
        <a:spcAft>
          <a:spcPct val="0"/>
        </a:spcAft>
        <a:defRPr sz="4400">
          <a:solidFill>
            <a:schemeClr val="tx1"/>
          </a:solidFill>
          <a:latin typeface="Calibri" pitchFamily="34" charset="0"/>
          <a:ea typeface="ＭＳ Ｐゴシック" pitchFamily="-110" charset="-128"/>
        </a:defRPr>
      </a:lvl4pPr>
      <a:lvl5pPr algn="ctr" rtl="0" eaLnBrk="0" fontAlgn="base" hangingPunct="0">
        <a:spcBef>
          <a:spcPct val="0"/>
        </a:spcBef>
        <a:spcAft>
          <a:spcPct val="0"/>
        </a:spcAft>
        <a:defRPr sz="4400">
          <a:solidFill>
            <a:schemeClr val="tx1"/>
          </a:solidFill>
          <a:latin typeface="Calibri" pitchFamily="34" charset="0"/>
          <a:ea typeface="ＭＳ Ｐゴシック" pitchFamily="-110" charset="-128"/>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pitchFamily="-110"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pitchFamily="-110"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pitchFamily="-110"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pitchFamily="-110"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pitchFamily="-110"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8"/>
          <p:cNvSpPr>
            <a:spLocks noGrp="1" noChangeArrowheads="1"/>
          </p:cNvSpPr>
          <p:nvPr>
            <p:ph type="ctrTitle"/>
          </p:nvPr>
        </p:nvSpPr>
        <p:spPr>
          <a:xfrm>
            <a:off x="1447800" y="3124200"/>
            <a:ext cx="7315200" cy="1470025"/>
          </a:xfrm>
        </p:spPr>
        <p:txBody>
          <a:bodyPr/>
          <a:lstStyle/>
          <a:p>
            <a:pPr eaLnBrk="1" hangingPunct="1"/>
            <a:r>
              <a:rPr lang="en-GB" sz="2800" b="1" dirty="0" smtClean="0"/>
              <a:t>Analysis of the Total Market General Infusion Pump data for the Job of Infusing Therapeutic Agents in a Hospital Setting</a:t>
            </a:r>
            <a:r>
              <a:rPr lang="en-GB" sz="2000" dirty="0" smtClean="0"/>
              <a:t/>
            </a:r>
            <a:br>
              <a:rPr lang="en-GB" sz="2000" dirty="0" smtClean="0"/>
            </a:br>
            <a:endParaRPr lang="en-GB" sz="2000" dirty="0" smtClean="0"/>
          </a:p>
        </p:txBody>
      </p:sp>
      <p:sp>
        <p:nvSpPr>
          <p:cNvPr id="18434" name="Rectangle 9"/>
          <p:cNvSpPr>
            <a:spLocks noGrp="1" noChangeArrowheads="1"/>
          </p:cNvSpPr>
          <p:nvPr>
            <p:ph type="subTitle" idx="1"/>
          </p:nvPr>
        </p:nvSpPr>
        <p:spPr>
          <a:xfrm>
            <a:off x="2590800" y="4724400"/>
            <a:ext cx="4851400" cy="838200"/>
          </a:xfrm>
        </p:spPr>
        <p:txBody>
          <a:bodyPr/>
          <a:lstStyle/>
          <a:p>
            <a:pPr eaLnBrk="1" hangingPunct="1">
              <a:buFont typeface="Times"/>
              <a:buNone/>
            </a:pPr>
            <a:r>
              <a:rPr lang="en-GB" sz="1600" b="1" dirty="0" smtClean="0"/>
              <a:t>Analysis of nurse responses working with Adults  &amp; Paediatrics in the ICU, and Other Units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34"/>
          <p:cNvSpPr>
            <a:spLocks noGrp="1" noChangeArrowheads="1"/>
          </p:cNvSpPr>
          <p:nvPr>
            <p:ph type="title"/>
          </p:nvPr>
        </p:nvSpPr>
        <p:spPr/>
        <p:txBody>
          <a:bodyPr/>
          <a:lstStyle/>
          <a:p>
            <a:r>
              <a:rPr lang="en-US" smtClean="0"/>
              <a:t>Respondent Demographics</a:t>
            </a:r>
          </a:p>
        </p:txBody>
      </p:sp>
      <p:graphicFrame>
        <p:nvGraphicFramePr>
          <p:cNvPr id="19494" name="Group 38"/>
          <p:cNvGraphicFramePr>
            <a:graphicFrameLocks noGrp="1"/>
          </p:cNvGraphicFramePr>
          <p:nvPr>
            <p:ph idx="1"/>
          </p:nvPr>
        </p:nvGraphicFramePr>
        <p:xfrm>
          <a:off x="457200" y="1295400"/>
          <a:ext cx="8229600" cy="2386648"/>
        </p:xfrm>
        <a:graphic>
          <a:graphicData uri="http://schemas.openxmlformats.org/drawingml/2006/table">
            <a:tbl>
              <a:tblPr/>
              <a:tblGrid>
                <a:gridCol w="4229672"/>
                <a:gridCol w="1639062"/>
                <a:gridCol w="1179576"/>
                <a:gridCol w="1181290"/>
              </a:tblGrid>
              <a:tr h="393700">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chemeClr val="tx1"/>
                          </a:solidFill>
                          <a:effectLst/>
                          <a:latin typeface="Times"/>
                        </a:rPr>
                        <a:t>Type of Nurse</a:t>
                      </a: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chemeClr val="tx1"/>
                          </a:solidFill>
                          <a:effectLst/>
                          <a:latin typeface="Times"/>
                        </a:rPr>
                        <a:t>#</a:t>
                      </a: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chemeClr val="tx1"/>
                          </a:solidFill>
                          <a:effectLst/>
                          <a:latin typeface="Times"/>
                        </a:rPr>
                        <a:t>%</a:t>
                      </a: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12788">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S12b. Do you work on either a Medical-Surgical or in an Intensive Care Unit? If yes, which one? If no, indicate the unit in which you work.</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Medical-Surgical – Adult</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124</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37.20%</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5750">
                <a:tc rowSpan="4">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Times"/>
                        </a:rPr>
                        <a:t> </a:t>
                      </a:r>
                      <a:endParaRPr kumimoji="0" lang="en-GB" sz="1200" b="0" i="0" u="none" strike="noStrike" cap="none" normalizeH="0" baseline="0" smtClean="0">
                        <a:ln>
                          <a:noFill/>
                        </a:ln>
                        <a:solidFill>
                          <a:schemeClr val="tx1"/>
                        </a:solidFill>
                        <a:effectLst/>
                        <a:latin typeface="Times"/>
                      </a:endParaRPr>
                    </a:p>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Times"/>
                        </a:rPr>
                        <a:t> </a:t>
                      </a:r>
                      <a:endParaRPr kumimoji="0" lang="en-GB" sz="1200" b="0" i="0" u="none" strike="noStrike" cap="none" normalizeH="0" baseline="0" smtClean="0">
                        <a:ln>
                          <a:noFill/>
                        </a:ln>
                        <a:solidFill>
                          <a:schemeClr val="tx1"/>
                        </a:solidFill>
                        <a:effectLst/>
                        <a:latin typeface="Times"/>
                      </a:endParaRPr>
                    </a:p>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Times"/>
                        </a:rPr>
                        <a:t> </a:t>
                      </a:r>
                      <a:endParaRPr kumimoji="0" lang="en-GB" sz="1200" b="0" i="0" u="none" strike="noStrike" cap="none" normalizeH="0" baseline="0" smtClean="0">
                        <a:ln>
                          <a:noFill/>
                        </a:ln>
                        <a:solidFill>
                          <a:schemeClr val="tx1"/>
                        </a:solidFill>
                        <a:effectLst/>
                        <a:latin typeface="Times"/>
                      </a:endParaRPr>
                    </a:p>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Times"/>
                        </a:rPr>
                        <a:t> </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Medical-Surgical – Pediatric</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20</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6.00%</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73038">
                <a:tc vMerge="1">
                  <a:txBody>
                    <a:bodyPr/>
                    <a:lstStyle/>
                    <a:p>
                      <a:endParaRPr lang="en-US"/>
                    </a:p>
                  </a:txBody>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ICU – Adult</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145</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43.50%</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73038">
                <a:tc vMerge="1">
                  <a:txBody>
                    <a:bodyPr/>
                    <a:lstStyle/>
                    <a:p>
                      <a:endParaRPr lang="en-US"/>
                    </a:p>
                  </a:txBody>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ICU – Pediatric</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13</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3.90%</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vMerge="1">
                  <a:txBody>
                    <a:bodyPr/>
                    <a:lstStyle/>
                    <a:p>
                      <a:endParaRPr lang="en-US"/>
                    </a:p>
                  </a:txBody>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No, other</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31</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b"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rgbClr val="000000"/>
                          </a:solidFill>
                          <a:effectLst/>
                          <a:latin typeface="Calibri" pitchFamily="34" charset="0"/>
                        </a:rPr>
                        <a:t>9.30%</a:t>
                      </a:r>
                      <a:endParaRPr kumimoji="0" lang="en-GB" sz="1200" b="0" i="0" u="none" strike="noStrike" cap="none" normalizeH="0" baseline="0" smtClean="0">
                        <a:ln>
                          <a:noFill/>
                        </a:ln>
                        <a:solidFill>
                          <a:schemeClr val="tx1"/>
                        </a:solidFill>
                        <a:effectLst/>
                        <a:latin typeface="Times"/>
                      </a:endParaRPr>
                    </a:p>
                  </a:txBody>
                  <a:tcPr marL="98755" marR="98755"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9492" name="Text Box 137"/>
          <p:cNvSpPr txBox="1">
            <a:spLocks noChangeArrowheads="1"/>
          </p:cNvSpPr>
          <p:nvPr/>
        </p:nvSpPr>
        <p:spPr bwMode="auto">
          <a:xfrm>
            <a:off x="1131888" y="4154488"/>
            <a:ext cx="5573712" cy="2100262"/>
          </a:xfrm>
          <a:prstGeom prst="rect">
            <a:avLst/>
          </a:prstGeom>
          <a:noFill/>
          <a:ln w="9525">
            <a:noFill/>
            <a:miter lim="800000"/>
            <a:headEnd/>
            <a:tailEnd/>
          </a:ln>
        </p:spPr>
        <p:txBody>
          <a:bodyPr>
            <a:spAutoFit/>
          </a:bodyPr>
          <a:lstStyle/>
          <a:p>
            <a:pPr eaLnBrk="0" hangingPunct="0"/>
            <a:r>
              <a:rPr lang="en-US" sz="1200" b="1">
                <a:solidFill>
                  <a:srgbClr val="040404"/>
                </a:solidFill>
              </a:rPr>
              <a:t>Nurses that responded as “Other”:  10 different units represented</a:t>
            </a:r>
          </a:p>
          <a:p>
            <a:pPr eaLnBrk="0" hangingPunct="0">
              <a:buFontTx/>
              <a:buChar char="•"/>
            </a:pPr>
            <a:r>
              <a:rPr lang="en-US" sz="1200">
                <a:solidFill>
                  <a:srgbClr val="040404"/>
                </a:solidFill>
              </a:rPr>
              <a:t>ER – 7</a:t>
            </a:r>
          </a:p>
          <a:p>
            <a:pPr eaLnBrk="0" hangingPunct="0">
              <a:buFontTx/>
              <a:buChar char="•"/>
            </a:pPr>
            <a:r>
              <a:rPr lang="en-US" sz="1200">
                <a:solidFill>
                  <a:srgbClr val="040404"/>
                </a:solidFill>
              </a:rPr>
              <a:t>Cardiac:  telemetry, testing, ICU, interventional</a:t>
            </a:r>
          </a:p>
          <a:p>
            <a:pPr eaLnBrk="0" hangingPunct="0">
              <a:buFontTx/>
              <a:buChar char="•"/>
            </a:pPr>
            <a:r>
              <a:rPr lang="en-US" sz="1200">
                <a:solidFill>
                  <a:srgbClr val="040404"/>
                </a:solidFill>
              </a:rPr>
              <a:t>Birthing center – 2</a:t>
            </a:r>
          </a:p>
          <a:p>
            <a:pPr eaLnBrk="0" hangingPunct="0">
              <a:buFontTx/>
              <a:buChar char="•"/>
            </a:pPr>
            <a:r>
              <a:rPr lang="en-US" sz="1200">
                <a:solidFill>
                  <a:srgbClr val="040404"/>
                </a:solidFill>
              </a:rPr>
              <a:t>Inpatient dialysis</a:t>
            </a:r>
          </a:p>
          <a:p>
            <a:pPr eaLnBrk="0" hangingPunct="0">
              <a:buFontTx/>
              <a:buChar char="•"/>
            </a:pPr>
            <a:r>
              <a:rPr lang="en-US" sz="1200">
                <a:solidFill>
                  <a:srgbClr val="040404"/>
                </a:solidFill>
              </a:rPr>
              <a:t>Inpatient oncology</a:t>
            </a:r>
          </a:p>
          <a:p>
            <a:pPr eaLnBrk="0" hangingPunct="0">
              <a:buFontTx/>
              <a:buChar char="•"/>
            </a:pPr>
            <a:r>
              <a:rPr lang="en-US" sz="1200">
                <a:solidFill>
                  <a:srgbClr val="040404"/>
                </a:solidFill>
              </a:rPr>
              <a:t>Imaging – 2</a:t>
            </a:r>
          </a:p>
          <a:p>
            <a:pPr eaLnBrk="0" hangingPunct="0">
              <a:buFontTx/>
              <a:buChar char="•"/>
            </a:pPr>
            <a:r>
              <a:rPr lang="en-US" sz="1200">
                <a:solidFill>
                  <a:srgbClr val="040404"/>
                </a:solidFill>
              </a:rPr>
              <a:t>NICU</a:t>
            </a:r>
          </a:p>
          <a:p>
            <a:pPr eaLnBrk="0" hangingPunct="0">
              <a:buFontTx/>
              <a:buChar char="•"/>
            </a:pPr>
            <a:r>
              <a:rPr lang="en-US" sz="1200">
                <a:solidFill>
                  <a:srgbClr val="040404"/>
                </a:solidFill>
              </a:rPr>
              <a:t>Outpatient clinic</a:t>
            </a:r>
          </a:p>
          <a:p>
            <a:pPr eaLnBrk="0" hangingPunct="0">
              <a:buFontTx/>
              <a:buChar char="•"/>
            </a:pPr>
            <a:r>
              <a:rPr lang="en-US" sz="1200">
                <a:solidFill>
                  <a:srgbClr val="040404"/>
                </a:solidFill>
              </a:rPr>
              <a:t>Progressive care</a:t>
            </a:r>
          </a:p>
          <a:p>
            <a:pPr eaLnBrk="0" hangingPunct="0">
              <a:buFontTx/>
              <a:buChar char="•"/>
            </a:pPr>
            <a:endParaRPr lang="en-US" sz="1200">
              <a:solidFill>
                <a:srgbClr val="040404"/>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r>
              <a:rPr lang="en-US" sz="2800" dirty="0" smtClean="0"/>
              <a:t>Total Market </a:t>
            </a:r>
            <a:r>
              <a:rPr lang="en-US" sz="2800" dirty="0" smtClean="0"/>
              <a:t>Opportunities Job </a:t>
            </a:r>
            <a:r>
              <a:rPr lang="en-US" sz="2800" dirty="0" smtClean="0"/>
              <a:t>Map</a:t>
            </a:r>
          </a:p>
        </p:txBody>
      </p:sp>
      <p:pic>
        <p:nvPicPr>
          <p:cNvPr id="20482" name="Picture 3" descr="rnwf_091908b"/>
          <p:cNvPicPr>
            <a:picLocks noGrp="1" noChangeAspect="1" noChangeArrowheads="1"/>
          </p:cNvPicPr>
          <p:nvPr>
            <p:ph idx="1"/>
          </p:nvPr>
        </p:nvPicPr>
        <p:blipFill>
          <a:blip r:embed="rId3" cstate="print"/>
          <a:stretch>
            <a:fillRect/>
          </a:stretch>
        </p:blipFill>
        <p:spPr>
          <a:xfrm>
            <a:off x="608907" y="1310481"/>
            <a:ext cx="7926185" cy="4800600"/>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mtClean="0"/>
              <a:t>Step 1:  Assess the Patient</a:t>
            </a:r>
          </a:p>
        </p:txBody>
      </p:sp>
      <p:sp>
        <p:nvSpPr>
          <p:cNvPr id="21506"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Pediatric nurses are especially concerned with minimizing trauma and/or adverse events for their patients.  They are also very sensitive to the cycle time required to obtain information to assess whether the patient is responding to the therapy.  </a:t>
            </a:r>
          </a:p>
          <a:p>
            <a:pPr lvl="1"/>
            <a:r>
              <a:rPr lang="en-US" sz="2400" dirty="0" smtClean="0">
                <a:solidFill>
                  <a:srgbClr val="0033CC"/>
                </a:solidFill>
              </a:rPr>
              <a:t>Extreme opportunity to ensure pediatric nurses have the alerts &amp; available knowledge to determine if a given patient condition contraindicates the therapy.</a:t>
            </a:r>
          </a:p>
          <a:p>
            <a:pPr lvl="1"/>
            <a:r>
              <a:rPr lang="en-US" sz="2400" dirty="0" smtClean="0">
                <a:solidFill>
                  <a:srgbClr val="0033CC"/>
                </a:solidFill>
              </a:rPr>
              <a:t>Adult &amp; pediatric nurses are both concerned with getting accurate data to assess patient needs.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914400" y="195263"/>
            <a:ext cx="7620000" cy="482600"/>
          </a:xfrm>
        </p:spPr>
        <p:txBody>
          <a:bodyPr/>
          <a:lstStyle/>
          <a:p>
            <a:r>
              <a:rPr lang="en-US" smtClean="0"/>
              <a:t>Step 1:  Assess the Patient</a:t>
            </a:r>
          </a:p>
        </p:txBody>
      </p:sp>
      <p:pic>
        <p:nvPicPr>
          <p:cNvPr id="22530" name="Picture 6"/>
          <p:cNvPicPr>
            <a:picLocks noChangeAspect="1" noChangeArrowheads="1"/>
          </p:cNvPicPr>
          <p:nvPr/>
        </p:nvPicPr>
        <p:blipFill>
          <a:blip r:embed="rId3" cstate="print"/>
          <a:srcRect/>
          <a:stretch>
            <a:fillRect/>
          </a:stretch>
        </p:blipFill>
        <p:spPr bwMode="auto">
          <a:xfrm>
            <a:off x="762000" y="1295400"/>
            <a:ext cx="7462837" cy="5187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r>
              <a:rPr lang="en-US" smtClean="0"/>
              <a:t>Step 1:  Assess the Patient</a:t>
            </a:r>
          </a:p>
        </p:txBody>
      </p:sp>
      <p:graphicFrame>
        <p:nvGraphicFramePr>
          <p:cNvPr id="85548" name="Group 556"/>
          <p:cNvGraphicFramePr>
            <a:graphicFrameLocks noGrp="1"/>
          </p:cNvGraphicFramePr>
          <p:nvPr/>
        </p:nvGraphicFramePr>
        <p:xfrm>
          <a:off x="304799" y="1336326"/>
          <a:ext cx="8688389" cy="5324827"/>
        </p:xfrm>
        <a:graphic>
          <a:graphicData uri="http://schemas.openxmlformats.org/drawingml/2006/table">
            <a:tbl>
              <a:tblPr/>
              <a:tblGrid>
                <a:gridCol w="4678746"/>
                <a:gridCol w="667442"/>
                <a:gridCol w="669106"/>
                <a:gridCol w="667441"/>
                <a:gridCol w="667442"/>
                <a:gridCol w="670770"/>
                <a:gridCol w="667442"/>
              </a:tblGrid>
              <a:tr h="226921">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25485">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8022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likelihood that the determination of need is made incorrectly, e.g., due to incorrect lab results, incorrect interpretation, incorrect physical assessment,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35171">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likelihood of being unaware of a patient condition that would contraindicate the administration of a specific fluid/agent.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3660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amount of physical trauma to the patient when determining the need for infusion, e.g., pain, bruising, venous scarring,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8022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time required to obtain the results of measures used to determine the patient's need for infusion therapy, e.g., lab results, x-ray results, patient weight,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3660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likelihood that a measure required for the determination of the need for infusion therapy cannot be obtained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35171">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Increase the likelihood of knowing whether key measures have been conducted, e.g., lab results, test results,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0734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time to obtain samples for lab measurements.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81664">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time required to determine if the patient's symptoms can be treated with infusion therapy, e.g., by reviewing their chart, previous infusions, the orders, medication guidelines,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6245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amount of variability in time that it takes to obtain the results of measures used to determine the patient's need for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81664">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900" b="0" i="0" u="none" strike="noStrike" cap="none" normalizeH="0" baseline="0" smtClean="0">
                          <a:ln>
                            <a:noFill/>
                          </a:ln>
                          <a:solidFill>
                            <a:schemeClr val="tx1"/>
                          </a:solidFill>
                          <a:effectLst/>
                          <a:latin typeface="Verdana" pitchFamily="34" charset="0"/>
                          <a:cs typeface="Arial" charset="0"/>
                        </a:rPr>
                        <a:t>Minimize the time required to assess the patient's condition when the responsibility for their care has been transferred, e.g., from shift to shift, ward to ward, hospital to hospital,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7.8</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914400" y="533400"/>
            <a:ext cx="7886700" cy="609600"/>
          </a:xfrm>
        </p:spPr>
        <p:txBody>
          <a:bodyPr/>
          <a:lstStyle/>
          <a:p>
            <a:r>
              <a:rPr lang="en-US" sz="2800" smtClean="0"/>
              <a:t>Step 2:  Determine what Fluids/Agents to Use</a:t>
            </a:r>
          </a:p>
        </p:txBody>
      </p:sp>
      <p:sp>
        <p:nvSpPr>
          <p:cNvPr id="24578"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Access to timely data about drugs, patient labs, and timing for therapy is an extreme opportunity for nurses in Adult &amp; Pediatric hospital units to they avoid:</a:t>
            </a:r>
          </a:p>
          <a:p>
            <a:pPr marL="1143000" lvl="2" indent="-228600"/>
            <a:r>
              <a:rPr lang="en-US" sz="2000" dirty="0" smtClean="0">
                <a:solidFill>
                  <a:srgbClr val="0033CC"/>
                </a:solidFill>
              </a:rPr>
              <a:t>Avoid adverse reactions due to unnecessary or inappropriate therapy.</a:t>
            </a:r>
          </a:p>
          <a:p>
            <a:pPr marL="1143000" lvl="2" indent="-228600"/>
            <a:r>
              <a:rPr lang="en-US" sz="2000" dirty="0" smtClean="0">
                <a:solidFill>
                  <a:srgbClr val="0033CC"/>
                </a:solidFill>
              </a:rPr>
              <a:t>Don’t miss therapy when it’s scheduled to be delivered</a:t>
            </a:r>
          </a:p>
          <a:p>
            <a:pPr marL="1143000" lvl="2" indent="-228600"/>
            <a:r>
              <a:rPr lang="en-US" sz="2000" dirty="0" smtClean="0">
                <a:solidFill>
                  <a:srgbClr val="0033CC"/>
                </a:solidFill>
              </a:rPr>
              <a:t>Exacerbate a patient condition.</a:t>
            </a:r>
          </a:p>
          <a:p>
            <a:pPr lvl="1"/>
            <a:r>
              <a:rPr lang="en-US" sz="2400" dirty="0" smtClean="0">
                <a:solidFill>
                  <a:srgbClr val="0033CC"/>
                </a:solidFill>
              </a:rPr>
              <a:t>Ability to make timely decisions to assess the impact of a given therapy on a patient is also significant opportunity for nurses in Adult hospital units.</a:t>
            </a:r>
          </a:p>
          <a:p>
            <a:pPr lvl="1"/>
            <a:endParaRPr lang="en-US" sz="2400" dirty="0" smtClean="0">
              <a:solidFill>
                <a:srgbClr val="0033CC"/>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sz="2800" smtClean="0"/>
              <a:t>Step 2:  Determine what Fluids/Agents to Use</a:t>
            </a:r>
          </a:p>
        </p:txBody>
      </p:sp>
      <p:pic>
        <p:nvPicPr>
          <p:cNvPr id="25602" name="Picture 5"/>
          <p:cNvPicPr>
            <a:picLocks noChangeAspect="1" noChangeArrowheads="1"/>
          </p:cNvPicPr>
          <p:nvPr/>
        </p:nvPicPr>
        <p:blipFill>
          <a:blip r:embed="rId3" cstate="print"/>
          <a:srcRect/>
          <a:stretch>
            <a:fillRect/>
          </a:stretch>
        </p:blipFill>
        <p:spPr bwMode="auto">
          <a:xfrm>
            <a:off x="990600" y="1371600"/>
            <a:ext cx="7210425" cy="51763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479"/>
          <p:cNvSpPr>
            <a:spLocks noGrp="1" noChangeArrowheads="1"/>
          </p:cNvSpPr>
          <p:nvPr>
            <p:ph type="title"/>
          </p:nvPr>
        </p:nvSpPr>
        <p:spPr/>
        <p:txBody>
          <a:bodyPr/>
          <a:lstStyle/>
          <a:p>
            <a:r>
              <a:rPr lang="en-US" sz="2800" smtClean="0"/>
              <a:t>Step 2:  Determine what Fluids/Agents to Use</a:t>
            </a:r>
          </a:p>
        </p:txBody>
      </p:sp>
      <p:graphicFrame>
        <p:nvGraphicFramePr>
          <p:cNvPr id="86143" name="Group 1151"/>
          <p:cNvGraphicFramePr>
            <a:graphicFrameLocks noGrp="1"/>
          </p:cNvGraphicFramePr>
          <p:nvPr/>
        </p:nvGraphicFramePr>
        <p:xfrm>
          <a:off x="304799" y="1371599"/>
          <a:ext cx="8572502" cy="5240340"/>
        </p:xfrm>
        <a:graphic>
          <a:graphicData uri="http://schemas.openxmlformats.org/drawingml/2006/table">
            <a:tbl>
              <a:tblPr/>
              <a:tblGrid>
                <a:gridCol w="4616222"/>
                <a:gridCol w="659946"/>
                <a:gridCol w="658249"/>
                <a:gridCol w="659945"/>
                <a:gridCol w="659946"/>
                <a:gridCol w="659945"/>
                <a:gridCol w="658249"/>
              </a:tblGrid>
              <a:tr h="258615">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60126">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2006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Minimize the time required to determine if a prescribed fluid/agent will exacerbate a patient condition, e.g., renal failure, liver failure, etc.</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006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infusing an agent that is inappropriate based on the patient's lab results, e.g., K+ for patient with high potassium.</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50500">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fluids/agents chosen cause an adverse reaction.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4710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delivering a fluid/agent to a patient when they do not need it, e.g., when contraindicated, when inappropriate based on a lab test,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006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if a proposed infusion therapy will cause an adverse reaction in a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75843">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missing or delaying an order for infusion therapy, e.g., not including a specific medication, not starting at a specified time,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7942">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find an alternative to a prescribed fluid/agent, e.g., because it is not available, because it is contraindicated for use with another fluid/agent,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15.0</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479"/>
          <p:cNvSpPr>
            <a:spLocks noGrp="1" noChangeArrowheads="1"/>
          </p:cNvSpPr>
          <p:nvPr>
            <p:ph type="title"/>
          </p:nvPr>
        </p:nvSpPr>
        <p:spPr/>
        <p:txBody>
          <a:bodyPr/>
          <a:lstStyle/>
          <a:p>
            <a:r>
              <a:rPr lang="en-US" sz="2800" smtClean="0"/>
              <a:t>Step 2:  Determine what Fluids/Agents to Use</a:t>
            </a:r>
          </a:p>
        </p:txBody>
      </p:sp>
      <p:graphicFrame>
        <p:nvGraphicFramePr>
          <p:cNvPr id="27371" name="Group 747"/>
          <p:cNvGraphicFramePr>
            <a:graphicFrameLocks noGrp="1"/>
          </p:cNvGraphicFramePr>
          <p:nvPr/>
        </p:nvGraphicFramePr>
        <p:xfrm>
          <a:off x="381001" y="1371601"/>
          <a:ext cx="7999412" cy="4775200"/>
        </p:xfrm>
        <a:graphic>
          <a:graphicData uri="http://schemas.openxmlformats.org/drawingml/2006/table">
            <a:tbl>
              <a:tblPr/>
              <a:tblGrid>
                <a:gridCol w="4307899"/>
                <a:gridCol w="614686"/>
                <a:gridCol w="614686"/>
                <a:gridCol w="616384"/>
                <a:gridCol w="614686"/>
                <a:gridCol w="616385"/>
                <a:gridCol w="614686"/>
              </a:tblGrid>
              <a:tr h="357988">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57988">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79456">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get the order for a fluid/agent.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625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how a prescribed fluid/agent must be infused.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1025424">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an optimal medication administration schedule for the patient's infusion therapy when the therapy is being started.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79802">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complying with hospital protocols for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7828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how a proposed infusion therapy will benefit a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10.1</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914400" y="533400"/>
            <a:ext cx="7886700" cy="609600"/>
          </a:xfrm>
        </p:spPr>
        <p:txBody>
          <a:bodyPr/>
          <a:lstStyle/>
          <a:p>
            <a:r>
              <a:rPr lang="en-US" smtClean="0"/>
              <a:t>Step 3:  Gather supplies</a:t>
            </a:r>
          </a:p>
        </p:txBody>
      </p:sp>
      <p:sp>
        <p:nvSpPr>
          <p:cNvPr id="28674" name="Rectangle 3"/>
          <p:cNvSpPr>
            <a:spLocks noGrp="1" noChangeArrowheads="1"/>
          </p:cNvSpPr>
          <p:nvPr>
            <p:ph idx="1"/>
          </p:nvPr>
        </p:nvSpPr>
        <p:spPr/>
        <p:txBody>
          <a:bodyPr/>
          <a:lstStyle/>
          <a:p>
            <a:r>
              <a:rPr lang="en-US" b="1" smtClean="0"/>
              <a:t>Key Messages:</a:t>
            </a:r>
          </a:p>
          <a:p>
            <a:pPr lvl="1"/>
            <a:r>
              <a:rPr lang="en-US" smtClean="0">
                <a:solidFill>
                  <a:srgbClr val="0033CC"/>
                </a:solidFill>
              </a:rPr>
              <a:t>Nurses in Pediatric hospital units have higher opportunities than nurses in Adult hospital units in the following areas:</a:t>
            </a:r>
          </a:p>
          <a:p>
            <a:pPr marL="1143000" lvl="2" indent="-228600"/>
            <a:r>
              <a:rPr lang="en-US" smtClean="0">
                <a:solidFill>
                  <a:srgbClr val="0033CC"/>
                </a:solidFill>
              </a:rPr>
              <a:t>Avoiding exposure to hazardous materials for all parties (practitioners &amp; patients) [Significant Opportunity]</a:t>
            </a:r>
          </a:p>
          <a:p>
            <a:pPr marL="1143000" lvl="2" indent="-228600"/>
            <a:r>
              <a:rPr lang="en-US" smtClean="0">
                <a:solidFill>
                  <a:srgbClr val="0033CC"/>
                </a:solidFill>
              </a:rPr>
              <a:t>Sourcing the right materials (equipments &amp; drugs)</a:t>
            </a:r>
          </a:p>
          <a:p>
            <a:pPr marL="1143000" lvl="2" indent="-228600"/>
            <a:r>
              <a:rPr lang="en-US" smtClean="0">
                <a:solidFill>
                  <a:srgbClr val="0033CC"/>
                </a:solidFill>
              </a:rPr>
              <a:t>Turnaround time to obtain the right materials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914400" y="238125"/>
            <a:ext cx="7620000" cy="904875"/>
          </a:xfrm>
        </p:spPr>
        <p:txBody>
          <a:bodyPr/>
          <a:lstStyle/>
          <a:p>
            <a:r>
              <a:rPr lang="en-US" smtClean="0"/>
              <a:t>Step 3:  Gather supplies</a:t>
            </a:r>
          </a:p>
        </p:txBody>
      </p:sp>
      <p:pic>
        <p:nvPicPr>
          <p:cNvPr id="29698" name="Picture 5"/>
          <p:cNvPicPr>
            <a:picLocks noChangeAspect="1" noChangeArrowheads="1"/>
          </p:cNvPicPr>
          <p:nvPr/>
        </p:nvPicPr>
        <p:blipFill>
          <a:blip r:embed="rId3" cstate="print"/>
          <a:srcRect/>
          <a:stretch>
            <a:fillRect/>
          </a:stretch>
        </p:blipFill>
        <p:spPr bwMode="auto">
          <a:xfrm>
            <a:off x="1219200" y="1416089"/>
            <a:ext cx="7011988" cy="50259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479"/>
          <p:cNvSpPr>
            <a:spLocks noGrp="1" noChangeArrowheads="1"/>
          </p:cNvSpPr>
          <p:nvPr>
            <p:ph type="title"/>
          </p:nvPr>
        </p:nvSpPr>
        <p:spPr/>
        <p:txBody>
          <a:bodyPr/>
          <a:lstStyle/>
          <a:p>
            <a:r>
              <a:rPr lang="en-US" smtClean="0"/>
              <a:t>Step 3:  Gather supplies</a:t>
            </a:r>
          </a:p>
        </p:txBody>
      </p:sp>
      <p:graphicFrame>
        <p:nvGraphicFramePr>
          <p:cNvPr id="29467" name="Group 795"/>
          <p:cNvGraphicFramePr>
            <a:graphicFrameLocks noGrp="1"/>
          </p:cNvGraphicFramePr>
          <p:nvPr/>
        </p:nvGraphicFramePr>
        <p:xfrm>
          <a:off x="304798" y="1295402"/>
          <a:ext cx="8289927" cy="5235574"/>
        </p:xfrm>
        <a:graphic>
          <a:graphicData uri="http://schemas.openxmlformats.org/drawingml/2006/table">
            <a:tbl>
              <a:tblPr/>
              <a:tblGrid>
                <a:gridCol w="4464479"/>
                <a:gridCol w="637283"/>
                <a:gridCol w="637283"/>
                <a:gridCol w="637283"/>
                <a:gridCol w="639033"/>
                <a:gridCol w="637283"/>
                <a:gridCol w="637283"/>
              </a:tblGrid>
              <a:tr h="326651">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25125">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729622">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gathering the wrong fluid/agent for a patient's order, e.g., wrong drug, wrong concentration, wrong amount,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3114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exposure to biohazardous materials for all individuals while gathering 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29622">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needed fluids/agents are not available, e.g., D5/W, Ampicillan,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29622">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obtain fluids/agents that are custom formulations needed for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34161">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obtain the fluids/agents needed for the infusion therapy, e.g., medications, hydration fluids, chemotherapy agents,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29622">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needed equipment/supplies are not available, e.g., infusion device, tubing,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12.6</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r>
              <a:rPr lang="en-US" smtClean="0"/>
              <a:t>Step 3:  Gather supplies</a:t>
            </a:r>
          </a:p>
        </p:txBody>
      </p:sp>
      <p:graphicFrame>
        <p:nvGraphicFramePr>
          <p:cNvPr id="30502" name="Group 806"/>
          <p:cNvGraphicFramePr>
            <a:graphicFrameLocks noGrp="1"/>
          </p:cNvGraphicFramePr>
          <p:nvPr/>
        </p:nvGraphicFramePr>
        <p:xfrm>
          <a:off x="304803" y="1371600"/>
          <a:ext cx="8453436" cy="5186367"/>
        </p:xfrm>
        <a:graphic>
          <a:graphicData uri="http://schemas.openxmlformats.org/drawingml/2006/table">
            <a:tbl>
              <a:tblPr/>
              <a:tblGrid>
                <a:gridCol w="4551719"/>
                <a:gridCol w="650001"/>
                <a:gridCol w="650001"/>
                <a:gridCol w="651712"/>
                <a:gridCol w="650001"/>
                <a:gridCol w="650001"/>
                <a:gridCol w="650001"/>
              </a:tblGrid>
              <a:tr h="290179">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90179">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829081">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obtain fluids/agents that are controlled substances needed for the infusion therapy, e.g., narcotics, paralytics,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4944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obtain the equipment/supplies needed for the infusion therapy, e.g., infusion device, tubing,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0952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when an ordered fluid/agent will be received.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4944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choosing the wrong equipment or supplies for the desired fluids/therapy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49447">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move supplies/equipment, from source of the supplies/equipment to patient's room.</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952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storage space the supplies/equipment occupy in a patient's room.</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60952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open all the packages, e.g., tubing, connectors,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3.6</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914400" y="533400"/>
            <a:ext cx="7886700" cy="609600"/>
          </a:xfrm>
        </p:spPr>
        <p:txBody>
          <a:bodyPr/>
          <a:lstStyle/>
          <a:p>
            <a:r>
              <a:rPr lang="en-US" smtClean="0"/>
              <a:t>Step 4:  Verify the supplies</a:t>
            </a:r>
          </a:p>
        </p:txBody>
      </p:sp>
      <p:sp>
        <p:nvSpPr>
          <p:cNvPr id="32770"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Nurses in both Adult &amp; Pediatric hospital units both struggle with having access to the right knowledge about the materials gathered for preparing the therapy to avoid adverse events.  [Significant opportunities]</a:t>
            </a:r>
          </a:p>
          <a:p>
            <a:pPr lvl="1"/>
            <a:r>
              <a:rPr lang="en-US" sz="2400" dirty="0" smtClean="0">
                <a:solidFill>
                  <a:srgbClr val="0033CC"/>
                </a:solidFill>
              </a:rPr>
              <a:t>Nurses in Pediatric hospital units have a much higher level of concern than nurses in Adult hospital units to:</a:t>
            </a:r>
          </a:p>
          <a:p>
            <a:pPr marL="1143000" lvl="2" indent="-228600"/>
            <a:r>
              <a:rPr lang="en-US" sz="2000" dirty="0" smtClean="0">
                <a:solidFill>
                  <a:srgbClr val="0033CC"/>
                </a:solidFill>
              </a:rPr>
              <a:t>Resolve a problem with supplies in a timely manner</a:t>
            </a:r>
          </a:p>
          <a:p>
            <a:pPr marL="1143000" lvl="2" indent="-228600"/>
            <a:r>
              <a:rPr lang="en-US" sz="2000" dirty="0" smtClean="0">
                <a:solidFill>
                  <a:srgbClr val="0033CC"/>
                </a:solidFill>
              </a:rPr>
              <a:t>Determine compatibility of supplies in a timely manner</a:t>
            </a:r>
          </a:p>
          <a:p>
            <a:pPr marL="1143000" lvl="2" indent="-228600"/>
            <a:r>
              <a:rPr lang="en-US" sz="2000" dirty="0" smtClean="0">
                <a:solidFill>
                  <a:srgbClr val="0033CC"/>
                </a:solidFill>
              </a:rPr>
              <a:t>[Significant opportunity for </a:t>
            </a:r>
            <a:r>
              <a:rPr lang="en-US" sz="2000" dirty="0" err="1" smtClean="0">
                <a:solidFill>
                  <a:srgbClr val="0033CC"/>
                </a:solidFill>
              </a:rPr>
              <a:t>Peds</a:t>
            </a:r>
            <a:r>
              <a:rPr lang="en-US" sz="2000" dirty="0" smtClean="0">
                <a:solidFill>
                  <a:srgbClr val="0033CC"/>
                </a:solidFill>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914400" y="250825"/>
            <a:ext cx="7620000" cy="892175"/>
          </a:xfrm>
        </p:spPr>
        <p:txBody>
          <a:bodyPr/>
          <a:lstStyle/>
          <a:p>
            <a:r>
              <a:rPr lang="en-US" smtClean="0"/>
              <a:t>Step 4:  Verify the supplies</a:t>
            </a:r>
          </a:p>
        </p:txBody>
      </p:sp>
      <p:sp>
        <p:nvSpPr>
          <p:cNvPr id="33794" name="Rectangle 5"/>
          <p:cNvSpPr>
            <a:spLocks noChangeArrowheads="1"/>
          </p:cNvSpPr>
          <p:nvPr/>
        </p:nvSpPr>
        <p:spPr bwMode="auto">
          <a:xfrm>
            <a:off x="1066800" y="1065213"/>
            <a:ext cx="7620000" cy="623887"/>
          </a:xfrm>
          <a:prstGeom prst="rect">
            <a:avLst/>
          </a:prstGeom>
          <a:noFill/>
          <a:ln w="9525">
            <a:noFill/>
            <a:miter lim="800000"/>
            <a:headEnd/>
            <a:tailEnd/>
          </a:ln>
        </p:spPr>
        <p:txBody>
          <a:bodyPr lIns="0" tIns="0" rIns="0" bIns="0"/>
          <a:lstStyle/>
          <a:p>
            <a:pPr eaLnBrk="0" hangingPunct="0">
              <a:lnSpc>
                <a:spcPct val="90000"/>
              </a:lnSpc>
            </a:pPr>
            <a:endParaRPr lang="en-US" sz="1400" b="1">
              <a:solidFill>
                <a:schemeClr val="hlink"/>
              </a:solidFill>
              <a:latin typeface="Arial" charset="0"/>
            </a:endParaRPr>
          </a:p>
        </p:txBody>
      </p:sp>
      <p:pic>
        <p:nvPicPr>
          <p:cNvPr id="33795" name="Picture 6"/>
          <p:cNvPicPr>
            <a:picLocks noChangeAspect="1" noChangeArrowheads="1"/>
          </p:cNvPicPr>
          <p:nvPr/>
        </p:nvPicPr>
        <p:blipFill>
          <a:blip r:embed="rId3" cstate="print"/>
          <a:srcRect/>
          <a:stretch>
            <a:fillRect/>
          </a:stretch>
        </p:blipFill>
        <p:spPr bwMode="auto">
          <a:xfrm>
            <a:off x="685800" y="1371600"/>
            <a:ext cx="7231063" cy="51967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97"/>
          <p:cNvSpPr>
            <a:spLocks noGrp="1" noChangeArrowheads="1"/>
          </p:cNvSpPr>
          <p:nvPr>
            <p:ph type="title"/>
          </p:nvPr>
        </p:nvSpPr>
        <p:spPr/>
        <p:txBody>
          <a:bodyPr/>
          <a:lstStyle/>
          <a:p>
            <a:r>
              <a:rPr lang="en-US" smtClean="0"/>
              <a:t>Step 4:  Verify the supplies</a:t>
            </a:r>
          </a:p>
        </p:txBody>
      </p:sp>
      <p:graphicFrame>
        <p:nvGraphicFramePr>
          <p:cNvPr id="32338" name="Group 594"/>
          <p:cNvGraphicFramePr>
            <a:graphicFrameLocks noGrp="1"/>
          </p:cNvGraphicFramePr>
          <p:nvPr/>
        </p:nvGraphicFramePr>
        <p:xfrm>
          <a:off x="152399" y="1295399"/>
          <a:ext cx="8718552" cy="5189410"/>
        </p:xfrm>
        <a:graphic>
          <a:graphicData uri="http://schemas.openxmlformats.org/drawingml/2006/table">
            <a:tbl>
              <a:tblPr/>
              <a:tblGrid>
                <a:gridCol w="4693696"/>
                <a:gridCol w="670527"/>
                <a:gridCol w="672217"/>
                <a:gridCol w="670528"/>
                <a:gridCol w="668840"/>
                <a:gridCol w="672217"/>
                <a:gridCol w="670527"/>
              </a:tblGrid>
              <a:tr h="239936">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9936">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7176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fluids/agents are mislabeled due to nurse or pharmacist error, e.g., with the wrong name, concentration, patient ID,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70353">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Minimize the likelihood of causing an adverse reaction due to not knowing pharmaceutical information, e.g., the drug is a derivative of another drug, drug-drug interactions, etc.</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7176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making an error when confirming the attributes of a new fluid/agent to be infused, e.g., misreading, misunderstanding,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711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using a fluid/agent that is not included in an order, e.g., due to incorrectly anticipating, misunderstanding,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45810">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equipment/supplies are mislabeled, e.g., a pump, tubing,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95343">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resolve a problem with incorrect supplies e.g., an incorrect fluid, piece of equipment,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711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equipment/supplies are not compatible with each other, e.g., one piece does not fit another,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95343">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verify that the equipment/supplies are compatible with the fluids/therapy to be delivered.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711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supplies expire before the patient is ready for the infusion e.g.,supplies gathered or opened too early,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6.3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7.8</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r>
              <a:rPr lang="en-US" smtClean="0"/>
              <a:t>Step 5:  Confirm the patient’s information</a:t>
            </a:r>
          </a:p>
        </p:txBody>
      </p:sp>
      <p:sp>
        <p:nvSpPr>
          <p:cNvPr id="35842"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Availability of knowledge regarding patient allergies, medications being taken by a patient, vital signs and labs are extreme opportunities for nurses in both Adult &amp; Pediatrics hospital units.</a:t>
            </a:r>
          </a:p>
          <a:p>
            <a:pPr lvl="1"/>
            <a:r>
              <a:rPr lang="en-US" sz="2400" dirty="0" smtClean="0">
                <a:solidFill>
                  <a:srgbClr val="0033CC"/>
                </a:solidFill>
              </a:rPr>
              <a:t>There is also an important opportunity to identify conflicts with information from multiple sources as well as the drugs themselves.  Nurses in Adult units have a higher need than nurses in Pediatric units.</a:t>
            </a:r>
          </a:p>
          <a:p>
            <a:pPr lvl="1"/>
            <a:r>
              <a:rPr lang="en-US" sz="2400" dirty="0" smtClean="0">
                <a:solidFill>
                  <a:srgbClr val="0033CC"/>
                </a:solidFill>
              </a:rPr>
              <a:t>Timely access to information is also important to reduce the time required for decisions.  Higher need for nurses in Adult units than nurses in Pediatric units.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914400" y="196850"/>
            <a:ext cx="7620000" cy="946150"/>
          </a:xfrm>
        </p:spPr>
        <p:txBody>
          <a:bodyPr/>
          <a:lstStyle/>
          <a:p>
            <a:r>
              <a:rPr lang="en-US" smtClean="0"/>
              <a:t>Step 5:  Confirm the patient’s information</a:t>
            </a:r>
          </a:p>
        </p:txBody>
      </p:sp>
      <p:sp>
        <p:nvSpPr>
          <p:cNvPr id="36866" name="Rectangle 5"/>
          <p:cNvSpPr>
            <a:spLocks noChangeArrowheads="1"/>
          </p:cNvSpPr>
          <p:nvPr/>
        </p:nvSpPr>
        <p:spPr bwMode="auto">
          <a:xfrm>
            <a:off x="1066800" y="769938"/>
            <a:ext cx="7620000" cy="806450"/>
          </a:xfrm>
          <a:prstGeom prst="rect">
            <a:avLst/>
          </a:prstGeom>
          <a:noFill/>
          <a:ln w="9525">
            <a:noFill/>
            <a:miter lim="800000"/>
            <a:headEnd/>
            <a:tailEnd/>
          </a:ln>
        </p:spPr>
        <p:txBody>
          <a:bodyPr lIns="0" tIns="0" rIns="0" bIns="0"/>
          <a:lstStyle/>
          <a:p>
            <a:pPr eaLnBrk="0" hangingPunct="0">
              <a:lnSpc>
                <a:spcPct val="90000"/>
              </a:lnSpc>
            </a:pPr>
            <a:endParaRPr lang="en-US" sz="1400" b="1">
              <a:solidFill>
                <a:schemeClr val="hlink"/>
              </a:solidFill>
              <a:latin typeface="Arial" charset="0"/>
            </a:endParaRPr>
          </a:p>
        </p:txBody>
      </p:sp>
      <p:pic>
        <p:nvPicPr>
          <p:cNvPr id="36867" name="Picture 5"/>
          <p:cNvPicPr>
            <a:picLocks noChangeAspect="1" noChangeArrowheads="1"/>
          </p:cNvPicPr>
          <p:nvPr/>
        </p:nvPicPr>
        <p:blipFill>
          <a:blip r:embed="rId3" cstate="print"/>
          <a:srcRect/>
          <a:stretch>
            <a:fillRect/>
          </a:stretch>
        </p:blipFill>
        <p:spPr bwMode="auto">
          <a:xfrm>
            <a:off x="1066800" y="1447800"/>
            <a:ext cx="7185025" cy="5152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15"/>
          <p:cNvSpPr>
            <a:spLocks noGrp="1" noChangeArrowheads="1"/>
          </p:cNvSpPr>
          <p:nvPr>
            <p:ph type="title"/>
          </p:nvPr>
        </p:nvSpPr>
        <p:spPr/>
        <p:txBody>
          <a:bodyPr/>
          <a:lstStyle/>
          <a:p>
            <a:r>
              <a:rPr lang="en-US" smtClean="0"/>
              <a:t>Step 5:  Confirm the patient’s information</a:t>
            </a:r>
          </a:p>
        </p:txBody>
      </p:sp>
      <p:graphicFrame>
        <p:nvGraphicFramePr>
          <p:cNvPr id="37305" name="Group 441"/>
          <p:cNvGraphicFramePr>
            <a:graphicFrameLocks noGrp="1"/>
          </p:cNvGraphicFramePr>
          <p:nvPr/>
        </p:nvGraphicFramePr>
        <p:xfrm>
          <a:off x="304804" y="1371599"/>
          <a:ext cx="8547097" cy="5068891"/>
        </p:xfrm>
        <a:graphic>
          <a:graphicData uri="http://schemas.openxmlformats.org/drawingml/2006/table">
            <a:tbl>
              <a:tblPr/>
              <a:tblGrid>
                <a:gridCol w="4601500"/>
                <a:gridCol w="657600"/>
                <a:gridCol w="657599"/>
                <a:gridCol w="657600"/>
                <a:gridCol w="657599"/>
                <a:gridCol w="657600"/>
                <a:gridCol w="657599"/>
              </a:tblGrid>
              <a:tr h="30652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0652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4445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giving a patient a medication to which they are allergic.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482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information from different sources conflict, e.g., allergies, tolerances,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631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a medication error due to incomplete knowledge of all the medications and fluids that a patient is being given.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7771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there are adverse events due to an interaction between the medication and another patient attribute, e.g., with other disease states, other medications,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482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verify that the fluids/agents obtained are correct according to five rights of medication administration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7771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verify that the fluids/agents obtained remain correct according to five rights of medication administration when care is transferred to another shift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15.7</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643"/>
          <p:cNvSpPr>
            <a:spLocks noGrp="1" noChangeArrowheads="1"/>
          </p:cNvSpPr>
          <p:nvPr>
            <p:ph type="title"/>
          </p:nvPr>
        </p:nvSpPr>
        <p:spPr/>
        <p:txBody>
          <a:bodyPr/>
          <a:lstStyle/>
          <a:p>
            <a:r>
              <a:rPr lang="en-US" smtClean="0"/>
              <a:t>Step 5:  Confirm the patient’s information</a:t>
            </a:r>
          </a:p>
        </p:txBody>
      </p:sp>
      <p:graphicFrame>
        <p:nvGraphicFramePr>
          <p:cNvPr id="38660" name="Group 772"/>
          <p:cNvGraphicFramePr>
            <a:graphicFrameLocks noGrp="1"/>
          </p:cNvGraphicFramePr>
          <p:nvPr/>
        </p:nvGraphicFramePr>
        <p:xfrm>
          <a:off x="885825" y="1281113"/>
          <a:ext cx="7745413" cy="5235577"/>
        </p:xfrm>
        <a:graphic>
          <a:graphicData uri="http://schemas.openxmlformats.org/drawingml/2006/table">
            <a:tbl>
              <a:tblPr/>
              <a:tblGrid>
                <a:gridCol w="4170363"/>
                <a:gridCol w="595312"/>
                <a:gridCol w="596900"/>
                <a:gridCol w="595313"/>
                <a:gridCol w="595312"/>
                <a:gridCol w="596900"/>
                <a:gridCol w="595313"/>
              </a:tblGrid>
              <a:tr h="3159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1750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9048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drug is given without having the vital signs checked when these are critical to the infusion therapy, e.g., cardio-active or anesthesia medications.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064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reconcile the information about all of the patient's medications when the responsibility for their care is changing, e.g., discharge, ward transfer,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802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drug is given without having the lab results checked when these are critical to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51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resolve questions about an infusion order.</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961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confirm historical patient information that will affect infusion therapy, e.g., previous infusions, allergies,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802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confirm the patient information that will affect the infusion therapy, e.g., weight, vital signs, identity,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lstStyle/>
          <a:p>
            <a:r>
              <a:rPr lang="en-US" smtClean="0"/>
              <a:t>Step 6:  Prepare the patient for the infusion</a:t>
            </a:r>
          </a:p>
        </p:txBody>
      </p:sp>
      <p:sp>
        <p:nvSpPr>
          <p:cNvPr id="39938"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Both nursing units struggle with targeting access to veins,  finding enough access sites, and gaining access in difficult to access veins.</a:t>
            </a:r>
          </a:p>
          <a:p>
            <a:pPr lvl="1"/>
            <a:r>
              <a:rPr lang="en-US" sz="2400" dirty="0" smtClean="0">
                <a:solidFill>
                  <a:srgbClr val="0033CC"/>
                </a:solidFill>
              </a:rPr>
              <a:t>Both nursing units are very sensitive to avoiding pain, tissue trauma or other adverse events to the patients while avoiding exposure to </a:t>
            </a:r>
            <a:r>
              <a:rPr lang="en-US" sz="2400" dirty="0" err="1" smtClean="0">
                <a:solidFill>
                  <a:srgbClr val="0033CC"/>
                </a:solidFill>
              </a:rPr>
              <a:t>biohazardous</a:t>
            </a:r>
            <a:r>
              <a:rPr lang="en-US" sz="2400" dirty="0" smtClean="0">
                <a:solidFill>
                  <a:srgbClr val="0033CC"/>
                </a:solidFill>
              </a:rPr>
              <a:t> materials.</a:t>
            </a:r>
          </a:p>
          <a:p>
            <a:pPr lvl="1"/>
            <a:r>
              <a:rPr lang="en-US" sz="2400" dirty="0" smtClean="0">
                <a:solidFill>
                  <a:srgbClr val="0033CC"/>
                </a:solidFill>
              </a:rPr>
              <a:t>Nurses in Pediatric units represent a consistently higher opportunity than nurses in Adult units.  Both represent significant to extreme opportunities.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1066800" y="685800"/>
            <a:ext cx="7620000" cy="466725"/>
          </a:xfrm>
        </p:spPr>
        <p:txBody>
          <a:bodyPr/>
          <a:lstStyle/>
          <a:p>
            <a:r>
              <a:rPr lang="en-US" sz="2800" dirty="0" smtClean="0"/>
              <a:t>Step 6:  Prepare the patient for the infusion</a:t>
            </a:r>
          </a:p>
        </p:txBody>
      </p:sp>
      <p:sp>
        <p:nvSpPr>
          <p:cNvPr id="40962" name="Rectangle 5"/>
          <p:cNvSpPr>
            <a:spLocks noChangeArrowheads="1"/>
          </p:cNvSpPr>
          <p:nvPr/>
        </p:nvSpPr>
        <p:spPr bwMode="auto">
          <a:xfrm>
            <a:off x="1066800" y="769938"/>
            <a:ext cx="7620000" cy="806450"/>
          </a:xfrm>
          <a:prstGeom prst="rect">
            <a:avLst/>
          </a:prstGeom>
          <a:noFill/>
          <a:ln w="9525">
            <a:noFill/>
            <a:miter lim="800000"/>
            <a:headEnd/>
            <a:tailEnd/>
          </a:ln>
        </p:spPr>
        <p:txBody>
          <a:bodyPr lIns="0" tIns="0" rIns="0" bIns="0"/>
          <a:lstStyle/>
          <a:p>
            <a:pPr eaLnBrk="0" hangingPunct="0">
              <a:lnSpc>
                <a:spcPct val="90000"/>
              </a:lnSpc>
            </a:pPr>
            <a:r>
              <a:rPr lang="en-US" sz="1400" b="1">
                <a:solidFill>
                  <a:schemeClr val="hlink"/>
                </a:solidFill>
                <a:latin typeface="Arial" charset="0"/>
              </a:rPr>
              <a:t/>
            </a:r>
            <a:br>
              <a:rPr lang="en-US" sz="1400" b="1">
                <a:solidFill>
                  <a:schemeClr val="hlink"/>
                </a:solidFill>
                <a:latin typeface="Arial" charset="0"/>
              </a:rPr>
            </a:br>
            <a:endParaRPr lang="en-US" sz="1400" b="1">
              <a:solidFill>
                <a:schemeClr val="hlink"/>
              </a:solidFill>
              <a:latin typeface="Arial" charset="0"/>
            </a:endParaRPr>
          </a:p>
        </p:txBody>
      </p:sp>
      <p:pic>
        <p:nvPicPr>
          <p:cNvPr id="40963" name="Picture 6"/>
          <p:cNvPicPr>
            <a:picLocks noChangeAspect="1" noChangeArrowheads="1"/>
          </p:cNvPicPr>
          <p:nvPr/>
        </p:nvPicPr>
        <p:blipFill>
          <a:blip r:embed="rId3" cstate="print"/>
          <a:srcRect/>
          <a:stretch>
            <a:fillRect/>
          </a:stretch>
        </p:blipFill>
        <p:spPr bwMode="auto">
          <a:xfrm>
            <a:off x="1295400" y="1361048"/>
            <a:ext cx="7116763" cy="52143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4"/>
          <p:cNvSpPr>
            <a:spLocks noGrp="1" noChangeArrowheads="1"/>
          </p:cNvSpPr>
          <p:nvPr>
            <p:ph type="title"/>
          </p:nvPr>
        </p:nvSpPr>
        <p:spPr/>
        <p:txBody>
          <a:bodyPr/>
          <a:lstStyle/>
          <a:p>
            <a:r>
              <a:rPr lang="en-US" sz="2800" smtClean="0"/>
              <a:t>Step 6:  Prepare the patient for the infusion</a:t>
            </a:r>
          </a:p>
        </p:txBody>
      </p:sp>
      <p:graphicFrame>
        <p:nvGraphicFramePr>
          <p:cNvPr id="40447" name="Group 511"/>
          <p:cNvGraphicFramePr>
            <a:graphicFrameLocks noGrp="1"/>
          </p:cNvGraphicFramePr>
          <p:nvPr/>
        </p:nvGraphicFramePr>
        <p:xfrm>
          <a:off x="381001" y="1365722"/>
          <a:ext cx="8407400" cy="5243043"/>
        </p:xfrm>
        <a:graphic>
          <a:graphicData uri="http://schemas.openxmlformats.org/drawingml/2006/table">
            <a:tbl>
              <a:tblPr/>
              <a:tblGrid>
                <a:gridCol w="4526407"/>
                <a:gridCol w="647116"/>
                <a:gridCol w="647116"/>
                <a:gridCol w="647116"/>
                <a:gridCol w="645413"/>
                <a:gridCol w="647116"/>
                <a:gridCol w="647116"/>
              </a:tblGrid>
              <a:tr h="24015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4164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7571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number of access sites needed to deliver a patient's IV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914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gain intravenous access in a patient with difficult to access veins, e.g., diabetics, elderly patients, small children,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571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nurse becomes infected with a biohazardous agent when gaining access to the patient's circulatory system.</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914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causing an adverse effect when gaining access to the patient's circulatory system, .e.g., an infection, nerve damage, blood clots,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422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pain the patient experiences when gaining access to their circulatory system.</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571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causing trauma to the tissues around the access site for infusion therapy due to needle sticks,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571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vein cannot be found which will support the prescribed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15.3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516"/>
          <p:cNvSpPr>
            <a:spLocks noGrp="1" noChangeArrowheads="1"/>
          </p:cNvSpPr>
          <p:nvPr>
            <p:ph type="title"/>
          </p:nvPr>
        </p:nvSpPr>
        <p:spPr/>
        <p:txBody>
          <a:bodyPr/>
          <a:lstStyle/>
          <a:p>
            <a:r>
              <a:rPr lang="en-US" sz="2800" smtClean="0"/>
              <a:t>Step 6:  Prepare the patient for the infusion</a:t>
            </a:r>
          </a:p>
        </p:txBody>
      </p:sp>
      <p:graphicFrame>
        <p:nvGraphicFramePr>
          <p:cNvPr id="41766" name="Group 806"/>
          <p:cNvGraphicFramePr>
            <a:graphicFrameLocks noGrp="1"/>
          </p:cNvGraphicFramePr>
          <p:nvPr/>
        </p:nvGraphicFramePr>
        <p:xfrm>
          <a:off x="304801" y="1295403"/>
          <a:ext cx="8518524" cy="5360986"/>
        </p:xfrm>
        <a:graphic>
          <a:graphicData uri="http://schemas.openxmlformats.org/drawingml/2006/table">
            <a:tbl>
              <a:tblPr/>
              <a:tblGrid>
                <a:gridCol w="4586898"/>
                <a:gridCol w="655271"/>
                <a:gridCol w="655271"/>
                <a:gridCol w="655271"/>
                <a:gridCol w="655271"/>
                <a:gridCol w="655271"/>
                <a:gridCol w="655271"/>
              </a:tblGrid>
              <a:tr h="24578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4438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8820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number of access sites needed to deliver a patient's IV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680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movement of the patient can interrupt the infusion therapy, e.g., by the patient, a nurse, a visitor,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225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what access site to use to add another fluid/agent to an existing infusion therapy, e.g., which vein, at what level,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225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required rate for a fluid/agent cannot be achieved with the access site, e.g., due to too small a catheter, inadequate tubing,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225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removing a catheter at the end of a prescribed infusion when it may be required for a future infusion during the current hospital stay.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680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which vein will support the prescribed infusion therapy, e.g., is large enough, is accessible, is patent,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225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start of infusion therapy is delayed because of a need to attend directly to a patient's needs, e.g., due to bleeding, retching, mobility,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11.4</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lstStyle/>
          <a:p>
            <a:r>
              <a:rPr lang="en-US" smtClean="0"/>
              <a:t>Step 7:  Assemble the equipment</a:t>
            </a:r>
          </a:p>
        </p:txBody>
      </p:sp>
      <p:sp>
        <p:nvSpPr>
          <p:cNvPr id="44034"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Nurses in both Adult &amp; Pediatric units had consistent needs to address the following:</a:t>
            </a:r>
          </a:p>
          <a:p>
            <a:pPr marL="1143000" lvl="2" indent="-228600"/>
            <a:r>
              <a:rPr lang="en-US" sz="2000" dirty="0" smtClean="0">
                <a:solidFill>
                  <a:srgbClr val="0033CC"/>
                </a:solidFill>
              </a:rPr>
              <a:t>Minimize the waste of space, time, and effort in assembling equipment</a:t>
            </a:r>
          </a:p>
          <a:p>
            <a:pPr marL="1143000" lvl="2" indent="-228600"/>
            <a:r>
              <a:rPr lang="en-US" sz="2000" dirty="0" smtClean="0">
                <a:solidFill>
                  <a:srgbClr val="0033CC"/>
                </a:solidFill>
              </a:rPr>
              <a:t>Avoiding adverse events</a:t>
            </a:r>
          </a:p>
          <a:p>
            <a:pPr marL="1143000" lvl="2" indent="-228600"/>
            <a:r>
              <a:rPr lang="en-US" sz="2000" dirty="0" smtClean="0">
                <a:solidFill>
                  <a:srgbClr val="0033CC"/>
                </a:solidFill>
              </a:rPr>
              <a:t>Avoiding errors with the assembly process</a:t>
            </a:r>
          </a:p>
          <a:p>
            <a:pPr marL="1143000" lvl="2" indent="-228600"/>
            <a:r>
              <a:rPr lang="en-US" sz="2000" dirty="0" smtClean="0">
                <a:solidFill>
                  <a:srgbClr val="0033CC"/>
                </a:solidFill>
              </a:rPr>
              <a:t>Avoiding waste of materials</a:t>
            </a:r>
          </a:p>
          <a:p>
            <a:pPr lvl="1"/>
            <a:r>
              <a:rPr lang="en-US" sz="2400" dirty="0" smtClean="0">
                <a:solidFill>
                  <a:srgbClr val="0033CC"/>
                </a:solidFill>
              </a:rPr>
              <a:t>There were also opportunities to improve the reliability, readiness, and resiliency of the equipment (esp. during transitions, hand-offs, and when mobilizing patients to avoid disruption in therapy).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914400" y="533400"/>
            <a:ext cx="7620000" cy="609600"/>
          </a:xfrm>
        </p:spPr>
        <p:txBody>
          <a:bodyPr/>
          <a:lstStyle/>
          <a:p>
            <a:r>
              <a:rPr lang="en-US" dirty="0" smtClean="0"/>
              <a:t>Step 7:  Assemble the equipment</a:t>
            </a:r>
          </a:p>
        </p:txBody>
      </p:sp>
      <p:pic>
        <p:nvPicPr>
          <p:cNvPr id="45058" name="Picture 6"/>
          <p:cNvPicPr>
            <a:picLocks noChangeAspect="1" noChangeArrowheads="1"/>
          </p:cNvPicPr>
          <p:nvPr/>
        </p:nvPicPr>
        <p:blipFill>
          <a:blip r:embed="rId3" cstate="print"/>
          <a:srcRect/>
          <a:stretch>
            <a:fillRect/>
          </a:stretch>
        </p:blipFill>
        <p:spPr bwMode="auto">
          <a:xfrm>
            <a:off x="990600" y="1295400"/>
            <a:ext cx="6994525" cy="51407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514"/>
          <p:cNvSpPr>
            <a:spLocks noGrp="1" noChangeArrowheads="1"/>
          </p:cNvSpPr>
          <p:nvPr>
            <p:ph type="title"/>
          </p:nvPr>
        </p:nvSpPr>
        <p:spPr/>
        <p:txBody>
          <a:bodyPr/>
          <a:lstStyle/>
          <a:p>
            <a:r>
              <a:rPr lang="en-US" smtClean="0"/>
              <a:t>Step 7:  Assemble the equipment</a:t>
            </a:r>
          </a:p>
        </p:txBody>
      </p:sp>
      <p:graphicFrame>
        <p:nvGraphicFramePr>
          <p:cNvPr id="43532" name="Group 524"/>
          <p:cNvGraphicFramePr>
            <a:graphicFrameLocks noGrp="1"/>
          </p:cNvGraphicFramePr>
          <p:nvPr/>
        </p:nvGraphicFramePr>
        <p:xfrm>
          <a:off x="457202" y="1371599"/>
          <a:ext cx="8477249" cy="5193742"/>
        </p:xfrm>
        <a:graphic>
          <a:graphicData uri="http://schemas.openxmlformats.org/drawingml/2006/table">
            <a:tbl>
              <a:tblPr/>
              <a:tblGrid>
                <a:gridCol w="4564799"/>
                <a:gridCol w="652347"/>
                <a:gridCol w="652348"/>
                <a:gridCol w="650713"/>
                <a:gridCol w="652347"/>
                <a:gridCol w="652348"/>
                <a:gridCol w="652347"/>
              </a:tblGrid>
              <a:tr h="23872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872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7848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introducing incompatible fluids/agents into the same line.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330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start infusion therapy for patients in a critical status.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48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making an error assembling infusion components when multiple infusion devices are being used.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330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an air embolism is introduced into the patient's circulatory system when assembling the equipment/supplies.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48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injuring any person with infusion equipment during transport, e.g., due to tipping or falling equipment, the tubing being pulled out,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48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risk that the nurse is injured when assembling the equipment/supplies, e.g., is cut or punctured, burned by caustic fluids, injured when opening packages,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12.3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r>
              <a:rPr lang="en-US" smtClean="0"/>
              <a:t>Step 7:  Assemble the equipment</a:t>
            </a:r>
          </a:p>
        </p:txBody>
      </p:sp>
      <p:graphicFrame>
        <p:nvGraphicFramePr>
          <p:cNvPr id="101678" name="Group 1326"/>
          <p:cNvGraphicFramePr>
            <a:graphicFrameLocks noGrp="1"/>
          </p:cNvGraphicFramePr>
          <p:nvPr/>
        </p:nvGraphicFramePr>
        <p:xfrm>
          <a:off x="304798" y="1371599"/>
          <a:ext cx="8555040" cy="5248747"/>
        </p:xfrm>
        <a:graphic>
          <a:graphicData uri="http://schemas.openxmlformats.org/drawingml/2006/table">
            <a:tbl>
              <a:tblPr/>
              <a:tblGrid>
                <a:gridCol w="4606815"/>
                <a:gridCol w="658592"/>
                <a:gridCol w="656928"/>
                <a:gridCol w="658592"/>
                <a:gridCol w="658592"/>
                <a:gridCol w="656929"/>
                <a:gridCol w="658592"/>
              </a:tblGrid>
              <a:tr h="23349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562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795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verify that the equipment/supplies are prepared correctly, e.g., they are assembled, connected,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95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making an error when using unfamiliar equipment/supplies.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95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infusion therapy is delayed due to unreliable pump components, e.g., they are worn or broken, or have unclear labels,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102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prepare the equipment/supplies for an infusion therapy composed of multiple fluids/agents.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254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patient does not receive all of a required dose due to waste incurred when assembling the equipment/supplies, e.g., due to priming, spills,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95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therapy is interrupted because unintended movement of the equipment/supplies interferes with infusion therapy, e.g., it falls, moves down the pole,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795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injuring any person with the infusion equipment, e.g., due to tipping or falling equipment, the tubing being pulled out,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11.1</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r>
              <a:rPr lang="en-US" smtClean="0"/>
              <a:t>Step 7:  Assemble the equipment</a:t>
            </a:r>
          </a:p>
        </p:txBody>
      </p:sp>
      <p:graphicFrame>
        <p:nvGraphicFramePr>
          <p:cNvPr id="102749" name="Group 1373"/>
          <p:cNvGraphicFramePr>
            <a:graphicFrameLocks noGrp="1"/>
          </p:cNvGraphicFramePr>
          <p:nvPr/>
        </p:nvGraphicFramePr>
        <p:xfrm>
          <a:off x="304799" y="1345957"/>
          <a:ext cx="8572501" cy="5004046"/>
        </p:xfrm>
        <a:graphic>
          <a:graphicData uri="http://schemas.openxmlformats.org/drawingml/2006/table">
            <a:tbl>
              <a:tblPr/>
              <a:tblGrid>
                <a:gridCol w="4616218"/>
                <a:gridCol w="659936"/>
                <a:gridCol w="659936"/>
                <a:gridCol w="658270"/>
                <a:gridCol w="659936"/>
                <a:gridCol w="658269"/>
                <a:gridCol w="659936"/>
              </a:tblGrid>
              <a:tr h="23176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027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4625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supplies are not ready for use, e.g., tubing is tangled, needles are not sterile,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4477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making an error when assembling infusion components, e.g., using a wrong connector for the IV tubing.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4477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equipment is not ready for use, e.g., inadequate power, not clean,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4625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prepare the equipment/supplies for an infusion therapy when multiple infusion devices are being used.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328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space taken up in the patient's room by the equipment/supplies needed for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625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interrupting the infusion when transporting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477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if equipment is ready for use, e.g., has power, has current maintenance, is clean,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8.4</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64"/>
          <p:cNvSpPr>
            <a:spLocks noGrp="1" noChangeArrowheads="1"/>
          </p:cNvSpPr>
          <p:nvPr>
            <p:ph type="title"/>
          </p:nvPr>
        </p:nvSpPr>
        <p:spPr/>
        <p:txBody>
          <a:bodyPr/>
          <a:lstStyle/>
          <a:p>
            <a:r>
              <a:rPr lang="en-US" smtClean="0"/>
              <a:t>Step 7:  Assemble the equipment</a:t>
            </a:r>
          </a:p>
        </p:txBody>
      </p:sp>
      <p:graphicFrame>
        <p:nvGraphicFramePr>
          <p:cNvPr id="259494" name="Group 422"/>
          <p:cNvGraphicFramePr>
            <a:graphicFrameLocks noGrp="1"/>
          </p:cNvGraphicFramePr>
          <p:nvPr>
            <p:ph idx="1"/>
          </p:nvPr>
        </p:nvGraphicFramePr>
        <p:xfrm>
          <a:off x="457200" y="1295400"/>
          <a:ext cx="8229597" cy="5080002"/>
        </p:xfrm>
        <a:graphic>
          <a:graphicData uri="http://schemas.openxmlformats.org/drawingml/2006/table">
            <a:tbl>
              <a:tblPr/>
              <a:tblGrid>
                <a:gridCol w="3551388"/>
                <a:gridCol w="428042"/>
                <a:gridCol w="506693"/>
                <a:gridCol w="499130"/>
                <a:gridCol w="409891"/>
                <a:gridCol w="412917"/>
                <a:gridCol w="497617"/>
                <a:gridCol w="414429"/>
                <a:gridCol w="411404"/>
                <a:gridCol w="497618"/>
                <a:gridCol w="600468"/>
              </a:tblGrid>
              <a:tr h="366713">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Med-Surge</a:t>
                      </a:r>
                    </a:p>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N = 156</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ICU</a:t>
                      </a:r>
                    </a:p>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N = 149</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Other</a:t>
                      </a:r>
                    </a:p>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N = 31</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366713">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Outcome</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I</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S</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O</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I</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S</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O</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I</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S</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O</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Times" pitchFamily="18" charset="0"/>
                        </a:rPr>
                        <a:t>Theme</a:t>
                      </a: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852488">
                <a:tc>
                  <a:txBody>
                    <a:bodyPr/>
                    <a:lstStyle/>
                    <a:p>
                      <a:pPr marL="234950" marR="0" lvl="0" indent="-23495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space taken up in the patient's room by the equipment/supplies needed for infusion therapy.</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6.1</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pitchFamily="18" charset="0"/>
                      </a:endParaRPr>
                    </a:p>
                  </a:txBody>
                  <a:tcPr marL="87121" marR="8712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2775">
                <a:tc>
                  <a:txBody>
                    <a:bodyPr/>
                    <a:lstStyle/>
                    <a:p>
                      <a:pPr marL="234950" marR="0" lvl="0" indent="-23495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prime a pump administration set.</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6.3</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pitchFamily="18" charset="0"/>
                      </a:endParaRPr>
                    </a:p>
                  </a:txBody>
                  <a:tcPr marL="87121" marR="8712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2488">
                <a:tc>
                  <a:txBody>
                    <a:bodyPr/>
                    <a:lstStyle/>
                    <a:p>
                      <a:pPr marL="234950" marR="0" lvl="0" indent="-23495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switch infusion equipment when transferring a patient from one unit to another.</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pitchFamily="18" charset="0"/>
                      </a:endParaRPr>
                    </a:p>
                  </a:txBody>
                  <a:tcPr marL="87121" marR="8712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85850">
                <a:tc>
                  <a:txBody>
                    <a:bodyPr/>
                    <a:lstStyle/>
                    <a:p>
                      <a:pPr marL="234950" marR="0" lvl="0" indent="-23495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fatigue the nurse experiences when assembling equipment/supplies, e.g., due to weight, force, repetitive actions, etc.</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pitchFamily="18" charset="0"/>
                      </a:endParaRPr>
                    </a:p>
                  </a:txBody>
                  <a:tcPr marL="87121" marR="8712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2488">
                <a:tc>
                  <a:txBody>
                    <a:bodyPr/>
                    <a:lstStyle/>
                    <a:p>
                      <a:pPr marL="234950" marR="0" lvl="0" indent="-23495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there is a restriction on patient mobility due to the infusion equipment/supplies.</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pitchFamily="18" charset="0"/>
                      </a:endParaRPr>
                    </a:p>
                  </a:txBody>
                  <a:tcPr marL="87121" marR="8712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pitchFamily="18" charset="0"/>
                      </a:endParaRPr>
                    </a:p>
                  </a:txBody>
                  <a:tcPr marL="87121" marR="8712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p:txBody>
          <a:bodyPr/>
          <a:lstStyle/>
          <a:p>
            <a:r>
              <a:rPr lang="en-US" smtClean="0"/>
              <a:t>Step 8:  Program the infusion</a:t>
            </a:r>
          </a:p>
        </p:txBody>
      </p:sp>
      <p:sp>
        <p:nvSpPr>
          <p:cNvPr id="50178"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Extreme opportunity with nurses in Pediatric units to minimize the amount of time to verify the 5 rights (to avoid adverse events)</a:t>
            </a:r>
          </a:p>
          <a:p>
            <a:pPr lvl="1"/>
            <a:r>
              <a:rPr lang="en-US" sz="2400" dirty="0" smtClean="0">
                <a:solidFill>
                  <a:srgbClr val="0033CC"/>
                </a:solidFill>
              </a:rPr>
              <a:t>Significant opportunities exist with nurses getting timely alerts and having information available to prevent errors from occurring.</a:t>
            </a:r>
          </a:p>
          <a:p>
            <a:pPr lvl="1"/>
            <a:r>
              <a:rPr lang="en-US" sz="2400" dirty="0" smtClean="0">
                <a:solidFill>
                  <a:srgbClr val="0033CC"/>
                </a:solidFill>
              </a:rPr>
              <a:t>Conservation of time is an important need for nurses to :</a:t>
            </a:r>
          </a:p>
          <a:p>
            <a:pPr marL="1143000" lvl="2" indent="-228600"/>
            <a:r>
              <a:rPr lang="en-US" sz="2000" dirty="0" smtClean="0">
                <a:solidFill>
                  <a:srgbClr val="0033CC"/>
                </a:solidFill>
              </a:rPr>
              <a:t>Gain access to information</a:t>
            </a:r>
          </a:p>
          <a:p>
            <a:pPr marL="1143000" lvl="2" indent="-228600"/>
            <a:r>
              <a:rPr lang="en-US" sz="2000" dirty="0" smtClean="0">
                <a:solidFill>
                  <a:srgbClr val="0033CC"/>
                </a:solidFill>
              </a:rPr>
              <a:t>Calculate dosages</a:t>
            </a:r>
          </a:p>
          <a:p>
            <a:pPr marL="1143000" lvl="2" indent="-228600"/>
            <a:r>
              <a:rPr lang="en-US" sz="2000" dirty="0" smtClean="0">
                <a:solidFill>
                  <a:srgbClr val="0033CC"/>
                </a:solidFill>
              </a:rPr>
              <a:t>Make any adjustments</a:t>
            </a:r>
          </a:p>
          <a:p>
            <a:pPr marL="1143000" lvl="2" indent="-228600"/>
            <a:r>
              <a:rPr lang="en-US" sz="2000" dirty="0" smtClean="0">
                <a:solidFill>
                  <a:srgbClr val="0033CC"/>
                </a:solidFill>
              </a:rPr>
              <a:t>Setup multiple infusion devices</a:t>
            </a:r>
          </a:p>
          <a:p>
            <a:pPr marL="1143000" lvl="2" indent="-228600"/>
            <a:r>
              <a:rPr lang="en-US" sz="2000" dirty="0" smtClean="0">
                <a:solidFill>
                  <a:srgbClr val="0033CC"/>
                </a:solidFill>
              </a:rPr>
              <a:t>Verify the therapy is setup accurately</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6"/>
          <p:cNvPicPr>
            <a:picLocks noChangeAspect="1" noChangeArrowheads="1"/>
          </p:cNvPicPr>
          <p:nvPr/>
        </p:nvPicPr>
        <p:blipFill>
          <a:blip r:embed="rId3" cstate="print"/>
          <a:srcRect/>
          <a:stretch>
            <a:fillRect/>
          </a:stretch>
        </p:blipFill>
        <p:spPr bwMode="auto">
          <a:xfrm>
            <a:off x="1143000" y="1295400"/>
            <a:ext cx="6561138" cy="4842879"/>
          </a:xfrm>
          <a:prstGeom prst="rect">
            <a:avLst/>
          </a:prstGeom>
          <a:noFill/>
          <a:ln w="9525">
            <a:noFill/>
            <a:miter lim="800000"/>
            <a:headEnd/>
            <a:tailEnd/>
          </a:ln>
        </p:spPr>
      </p:pic>
      <p:sp>
        <p:nvSpPr>
          <p:cNvPr id="51202" name="Rectangle 2"/>
          <p:cNvSpPr>
            <a:spLocks noGrp="1" noChangeArrowheads="1"/>
          </p:cNvSpPr>
          <p:nvPr>
            <p:ph type="title"/>
          </p:nvPr>
        </p:nvSpPr>
        <p:spPr>
          <a:xfrm>
            <a:off x="914400" y="762000"/>
            <a:ext cx="7620000" cy="469900"/>
          </a:xfrm>
        </p:spPr>
        <p:txBody>
          <a:bodyPr/>
          <a:lstStyle/>
          <a:p>
            <a:r>
              <a:rPr lang="en-US" dirty="0" smtClean="0"/>
              <a:t>Step 8:  Program the infusion</a:t>
            </a:r>
          </a:p>
        </p:txBody>
      </p:sp>
      <p:sp>
        <p:nvSpPr>
          <p:cNvPr id="51203" name="Rectangle 6"/>
          <p:cNvSpPr>
            <a:spLocks noChangeArrowheads="1"/>
          </p:cNvSpPr>
          <p:nvPr/>
        </p:nvSpPr>
        <p:spPr bwMode="auto">
          <a:xfrm>
            <a:off x="811213" y="765175"/>
            <a:ext cx="7620000" cy="1003300"/>
          </a:xfrm>
          <a:prstGeom prst="rect">
            <a:avLst/>
          </a:prstGeom>
          <a:noFill/>
          <a:ln w="9525">
            <a:noFill/>
            <a:miter lim="800000"/>
            <a:headEnd/>
            <a:tailEnd/>
          </a:ln>
        </p:spPr>
        <p:txBody>
          <a:bodyPr lIns="0" tIns="0" rIns="0" bIns="0"/>
          <a:lstStyle/>
          <a:p>
            <a:pPr eaLnBrk="0" hangingPunct="0">
              <a:lnSpc>
                <a:spcPct val="90000"/>
              </a:lnSpc>
            </a:pPr>
            <a:endParaRPr lang="en-US" sz="1400" b="1">
              <a:solidFill>
                <a:schemeClr val="hlink"/>
              </a:solidFill>
              <a:latin typeface="Arial"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64"/>
          <p:cNvSpPr>
            <a:spLocks noGrp="1" noChangeArrowheads="1"/>
          </p:cNvSpPr>
          <p:nvPr>
            <p:ph type="title"/>
          </p:nvPr>
        </p:nvSpPr>
        <p:spPr/>
        <p:txBody>
          <a:bodyPr/>
          <a:lstStyle/>
          <a:p>
            <a:r>
              <a:rPr lang="en-US" smtClean="0"/>
              <a:t>Step 8:  Program the infusion</a:t>
            </a:r>
          </a:p>
        </p:txBody>
      </p:sp>
      <p:graphicFrame>
        <p:nvGraphicFramePr>
          <p:cNvPr id="48302" name="Group 174"/>
          <p:cNvGraphicFramePr>
            <a:graphicFrameLocks noGrp="1"/>
          </p:cNvGraphicFramePr>
          <p:nvPr/>
        </p:nvGraphicFramePr>
        <p:xfrm>
          <a:off x="380999" y="1295400"/>
          <a:ext cx="8259764" cy="5143503"/>
        </p:xfrm>
        <a:graphic>
          <a:graphicData uri="http://schemas.openxmlformats.org/drawingml/2006/table">
            <a:tbl>
              <a:tblPr/>
              <a:tblGrid>
                <a:gridCol w="4448605"/>
                <a:gridCol w="635757"/>
                <a:gridCol w="634065"/>
                <a:gridCol w="635757"/>
                <a:gridCol w="635757"/>
                <a:gridCol w="634066"/>
                <a:gridCol w="635757"/>
              </a:tblGrid>
              <a:tr h="28078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8235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2744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calculate a dose for a patient's infusion therapy, e.g., a non-standard one, one that is outside of protocol,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3058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being informed of a programming error, e.g., in dosage, flow rate,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3058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incorrect flow rate is being given to patients who are sensitive to the volume of fluid infused.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0470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prevent the inappropriate administration of medication because the checks on medication identity, dosage or concentration are unavailable.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5333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making an error when calculating doses/rates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0470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settings from one infusion therapy session unintentionally influences a new infusion therapy session, e.g., dosage, alarm settings, limits,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901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starting a fluid/agent at the wrong time, e.g., off-schedule, too early, too late,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13.3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439"/>
          <p:cNvSpPr>
            <a:spLocks noGrp="1" noChangeArrowheads="1"/>
          </p:cNvSpPr>
          <p:nvPr>
            <p:ph type="title"/>
          </p:nvPr>
        </p:nvSpPr>
        <p:spPr/>
        <p:txBody>
          <a:bodyPr/>
          <a:lstStyle/>
          <a:p>
            <a:r>
              <a:rPr lang="en-US" smtClean="0"/>
              <a:t>Step 8:  Program the infusion</a:t>
            </a:r>
          </a:p>
        </p:txBody>
      </p:sp>
      <p:graphicFrame>
        <p:nvGraphicFramePr>
          <p:cNvPr id="50166" name="Group 1014"/>
          <p:cNvGraphicFramePr>
            <a:graphicFrameLocks noGrp="1"/>
          </p:cNvGraphicFramePr>
          <p:nvPr/>
        </p:nvGraphicFramePr>
        <p:xfrm>
          <a:off x="381000" y="1295399"/>
          <a:ext cx="8434388" cy="5254748"/>
        </p:xfrm>
        <a:graphic>
          <a:graphicData uri="http://schemas.openxmlformats.org/drawingml/2006/table">
            <a:tbl>
              <a:tblPr/>
              <a:tblGrid>
                <a:gridCol w="4541721"/>
                <a:gridCol w="649055"/>
                <a:gridCol w="649054"/>
                <a:gridCol w="647394"/>
                <a:gridCol w="649055"/>
                <a:gridCol w="649054"/>
                <a:gridCol w="649055"/>
              </a:tblGrid>
              <a:tr h="2333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484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2388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calculate the rate of fluid/agent delivery in order to achieve the prescribed dosage.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237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program the infusion devices when a patient needs multiple infusion devices.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793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adjust the delivery program for an infusion, e.g. rate, volume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388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reprogram the infusion device when information is lost, e.g., due to power loss, pump failure,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1442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convert the infusion therapy from one medication concentration to another, e.g., when the patient is transferred from another ward, when orders change,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388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data must be entered more than one time during programming, e.g., patient identity, weight,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99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set up the correct volume to be infused on the infusion device when an additional volume must be added to ensure that all of the therapeutic agent is infused.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785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verify the programming of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7785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change the dosing schedule when programming the infusion device.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9.3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smtClean="0"/>
              <a:t>Step 9:  Begin the infusion</a:t>
            </a:r>
          </a:p>
        </p:txBody>
      </p:sp>
      <p:sp>
        <p:nvSpPr>
          <p:cNvPr id="54274" name="Rectangle 3"/>
          <p:cNvSpPr>
            <a:spLocks noGrp="1" noChangeArrowheads="1"/>
          </p:cNvSpPr>
          <p:nvPr>
            <p:ph idx="1"/>
          </p:nvPr>
        </p:nvSpPr>
        <p:spPr/>
        <p:txBody>
          <a:bodyPr/>
          <a:lstStyle/>
          <a:p>
            <a:r>
              <a:rPr lang="en-US" b="1" smtClean="0"/>
              <a:t>Key Messages:</a:t>
            </a:r>
          </a:p>
          <a:p>
            <a:pPr lvl="1"/>
            <a:r>
              <a:rPr lang="en-US" smtClean="0">
                <a:solidFill>
                  <a:srgbClr val="0033CC"/>
                </a:solidFill>
              </a:rPr>
              <a:t>Time lag to initiate therapy is an issue during emergency situations</a:t>
            </a:r>
          </a:p>
          <a:p>
            <a:pPr lvl="1"/>
            <a:r>
              <a:rPr lang="en-US" smtClean="0">
                <a:solidFill>
                  <a:srgbClr val="0033CC"/>
                </a:solidFill>
              </a:rPr>
              <a:t>Patient risk (trauma, discomfort) are important for all nurses</a:t>
            </a:r>
          </a:p>
          <a:p>
            <a:pPr lvl="1"/>
            <a:r>
              <a:rPr lang="en-US" smtClean="0">
                <a:solidFill>
                  <a:srgbClr val="0033CC"/>
                </a:solidFill>
              </a:rPr>
              <a:t>Information availability and awareness (via alerts) is a significant concern for all nurses</a:t>
            </a:r>
          </a:p>
          <a:p>
            <a:pPr lvl="1"/>
            <a:r>
              <a:rPr lang="en-US" smtClean="0">
                <a:solidFill>
                  <a:srgbClr val="0033CC"/>
                </a:solidFill>
              </a:rPr>
              <a:t>Exposure is a consistently high concern amongst the nurses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5"/>
          <p:cNvSpPr>
            <a:spLocks noGrp="1" noChangeArrowheads="1"/>
          </p:cNvSpPr>
          <p:nvPr>
            <p:ph type="title"/>
          </p:nvPr>
        </p:nvSpPr>
        <p:spPr/>
        <p:txBody>
          <a:bodyPr/>
          <a:lstStyle/>
          <a:p>
            <a:r>
              <a:rPr lang="en-US" smtClean="0"/>
              <a:t>Step 9:  Begin the infusion</a:t>
            </a:r>
          </a:p>
        </p:txBody>
      </p:sp>
      <p:sp>
        <p:nvSpPr>
          <p:cNvPr id="55298" name="Text Box 28"/>
          <p:cNvSpPr txBox="1">
            <a:spLocks noChangeArrowheads="1"/>
          </p:cNvSpPr>
          <p:nvPr/>
        </p:nvSpPr>
        <p:spPr bwMode="auto">
          <a:xfrm>
            <a:off x="904875" y="1106488"/>
            <a:ext cx="7964488" cy="304800"/>
          </a:xfrm>
          <a:prstGeom prst="rect">
            <a:avLst/>
          </a:prstGeom>
          <a:noFill/>
          <a:ln w="9525">
            <a:noFill/>
            <a:miter lim="800000"/>
            <a:headEnd/>
            <a:tailEnd/>
          </a:ln>
        </p:spPr>
        <p:txBody>
          <a:bodyPr>
            <a:spAutoFit/>
          </a:bodyPr>
          <a:lstStyle/>
          <a:p>
            <a:pPr marL="119063" indent="-119063" eaLnBrk="0" hangingPunct="0">
              <a:spcBef>
                <a:spcPct val="50000"/>
              </a:spcBef>
              <a:buFontTx/>
              <a:buChar char="•"/>
            </a:pPr>
            <a:endParaRPr lang="en-US" sz="1400" b="1">
              <a:solidFill>
                <a:schemeClr val="hlink"/>
              </a:solidFill>
              <a:latin typeface="Arial" charset="0"/>
            </a:endParaRPr>
          </a:p>
        </p:txBody>
      </p:sp>
      <p:pic>
        <p:nvPicPr>
          <p:cNvPr id="55299" name="Picture 5"/>
          <p:cNvPicPr>
            <a:picLocks noChangeAspect="1" noChangeArrowheads="1"/>
          </p:cNvPicPr>
          <p:nvPr/>
        </p:nvPicPr>
        <p:blipFill>
          <a:blip r:embed="rId3" cstate="print"/>
          <a:srcRect/>
          <a:stretch>
            <a:fillRect/>
          </a:stretch>
        </p:blipFill>
        <p:spPr bwMode="auto">
          <a:xfrm>
            <a:off x="1219200" y="1371600"/>
            <a:ext cx="6513513" cy="48371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514"/>
          <p:cNvSpPr>
            <a:spLocks noGrp="1" noChangeArrowheads="1"/>
          </p:cNvSpPr>
          <p:nvPr>
            <p:ph type="title"/>
          </p:nvPr>
        </p:nvSpPr>
        <p:spPr/>
        <p:txBody>
          <a:bodyPr/>
          <a:lstStyle/>
          <a:p>
            <a:r>
              <a:rPr lang="en-US" smtClean="0"/>
              <a:t>Step 9:  Begin the infusion</a:t>
            </a:r>
          </a:p>
        </p:txBody>
      </p:sp>
      <p:graphicFrame>
        <p:nvGraphicFramePr>
          <p:cNvPr id="52748" name="Group 524"/>
          <p:cNvGraphicFramePr>
            <a:graphicFrameLocks noGrp="1"/>
          </p:cNvGraphicFramePr>
          <p:nvPr/>
        </p:nvGraphicFramePr>
        <p:xfrm>
          <a:off x="304802" y="1371599"/>
          <a:ext cx="8456611" cy="5187954"/>
        </p:xfrm>
        <a:graphic>
          <a:graphicData uri="http://schemas.openxmlformats.org/drawingml/2006/table">
            <a:tbl>
              <a:tblPr/>
              <a:tblGrid>
                <a:gridCol w="4553821"/>
                <a:gridCol w="651028"/>
                <a:gridCol w="649338"/>
                <a:gridCol w="651029"/>
                <a:gridCol w="651028"/>
                <a:gridCol w="649338"/>
                <a:gridCol w="651029"/>
              </a:tblGrid>
              <a:tr h="32881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272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3127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infection while fluids/agents are being delivered.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3374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for fluids/agents to start flowing into the patient's circulatory system in an emergency situation.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3127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being aware that infusion is not flowing.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3526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exposure to dangerous materials for all individuals when beginning the infusion, e.g., biohazardous, oncolytic.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3526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discomfort the patient experiences when beginning the infusion, e.g., pressure, burning, itching,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3526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for fluids/agents to start flowing into the patient's circulatory system.</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975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annoyance caused to the patient by sounds of the infusion equipment.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7.7</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r>
              <a:rPr lang="en-US" smtClean="0"/>
              <a:t>Step 10:  Assess the status of the infusion</a:t>
            </a:r>
          </a:p>
        </p:txBody>
      </p:sp>
      <p:sp>
        <p:nvSpPr>
          <p:cNvPr id="57346" name="Rectangle 3"/>
          <p:cNvSpPr>
            <a:spLocks noGrp="1" noChangeArrowheads="1"/>
          </p:cNvSpPr>
          <p:nvPr>
            <p:ph idx="1"/>
          </p:nvPr>
        </p:nvSpPr>
        <p:spPr/>
        <p:txBody>
          <a:bodyPr/>
          <a:lstStyle/>
          <a:p>
            <a:pPr>
              <a:lnSpc>
                <a:spcPct val="90000"/>
              </a:lnSpc>
            </a:pPr>
            <a:r>
              <a:rPr lang="en-US" b="1" dirty="0" smtClean="0"/>
              <a:t>Key Messages:</a:t>
            </a:r>
          </a:p>
          <a:p>
            <a:pPr lvl="1">
              <a:lnSpc>
                <a:spcPct val="90000"/>
              </a:lnSpc>
            </a:pPr>
            <a:r>
              <a:rPr lang="en-US" sz="2000" dirty="0" smtClean="0">
                <a:solidFill>
                  <a:srgbClr val="0033CC"/>
                </a:solidFill>
              </a:rPr>
              <a:t>The time required to assess, decide, and take corrective action to prevent/mitigate adverse reaction is a common theme for all nurses.</a:t>
            </a:r>
          </a:p>
          <a:p>
            <a:pPr lvl="1">
              <a:lnSpc>
                <a:spcPct val="90000"/>
              </a:lnSpc>
            </a:pPr>
            <a:r>
              <a:rPr lang="en-US" sz="2000" dirty="0" smtClean="0">
                <a:solidFill>
                  <a:srgbClr val="0033CC"/>
                </a:solidFill>
              </a:rPr>
              <a:t>Avoiding situations that lead to adverse events is an extreme opportunity for all nurses.</a:t>
            </a:r>
          </a:p>
          <a:p>
            <a:pPr lvl="1">
              <a:lnSpc>
                <a:spcPct val="90000"/>
              </a:lnSpc>
            </a:pPr>
            <a:r>
              <a:rPr lang="en-US" sz="2000" dirty="0" smtClean="0">
                <a:solidFill>
                  <a:srgbClr val="0033CC"/>
                </a:solidFill>
              </a:rPr>
              <a:t>The timeliness and awareness of information (alerts) are critical factors for assessment. Information availability, insights &amp; accuracy are critical for guiding timely decisions [significant to extreme opportunity for nurses in Pediatric units]</a:t>
            </a:r>
          </a:p>
          <a:p>
            <a:pPr lvl="1">
              <a:lnSpc>
                <a:spcPct val="90000"/>
              </a:lnSpc>
            </a:pPr>
            <a:r>
              <a:rPr lang="en-US" sz="2000" dirty="0" smtClean="0">
                <a:solidFill>
                  <a:srgbClr val="0033CC"/>
                </a:solidFill>
              </a:rPr>
              <a:t>Avoiding disruption in therapy is an important opportunity to improve the resiliency of the equipment (esp. when power is not available, transitions or occlusion in the tube to avoid disruption in therapy).</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smtClean="0"/>
              <a:t>Step 10:  Assess the status of the infusion</a:t>
            </a:r>
          </a:p>
        </p:txBody>
      </p:sp>
      <p:pic>
        <p:nvPicPr>
          <p:cNvPr id="58370" name="Picture 5"/>
          <p:cNvPicPr>
            <a:picLocks noChangeAspect="1" noChangeArrowheads="1"/>
          </p:cNvPicPr>
          <p:nvPr/>
        </p:nvPicPr>
        <p:blipFill>
          <a:blip r:embed="rId3" cstate="print"/>
          <a:srcRect/>
          <a:stretch>
            <a:fillRect/>
          </a:stretch>
        </p:blipFill>
        <p:spPr bwMode="auto">
          <a:xfrm>
            <a:off x="1143000" y="1382389"/>
            <a:ext cx="6789738" cy="50104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439"/>
          <p:cNvSpPr>
            <a:spLocks noGrp="1" noChangeArrowheads="1"/>
          </p:cNvSpPr>
          <p:nvPr>
            <p:ph type="title"/>
          </p:nvPr>
        </p:nvSpPr>
        <p:spPr/>
        <p:txBody>
          <a:bodyPr/>
          <a:lstStyle/>
          <a:p>
            <a:r>
              <a:rPr lang="en-US" smtClean="0"/>
              <a:t>Step 10:  Assess the status of the infusion</a:t>
            </a:r>
          </a:p>
        </p:txBody>
      </p:sp>
      <p:graphicFrame>
        <p:nvGraphicFramePr>
          <p:cNvPr id="103569" name="Group 1169"/>
          <p:cNvGraphicFramePr>
            <a:graphicFrameLocks noGrp="1"/>
          </p:cNvGraphicFramePr>
          <p:nvPr/>
        </p:nvGraphicFramePr>
        <p:xfrm>
          <a:off x="304801" y="1371599"/>
          <a:ext cx="8189912" cy="5083177"/>
        </p:xfrm>
        <a:graphic>
          <a:graphicData uri="http://schemas.openxmlformats.org/drawingml/2006/table">
            <a:tbl>
              <a:tblPr/>
              <a:tblGrid>
                <a:gridCol w="4410222"/>
                <a:gridCol w="630530"/>
                <a:gridCol w="628784"/>
                <a:gridCol w="630531"/>
                <a:gridCol w="630530"/>
                <a:gridCol w="628784"/>
                <a:gridCol w="630531"/>
              </a:tblGrid>
              <a:tr h="270657">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70657">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0517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risk of not being notified that the patient is having an adverse reaction to the infusion therapy, e.g., analyphylaxis, pain,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7020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detect infiltration.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0517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having an adverse reaction at the IV access site, e.g., due to the equipment, fluids,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7547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become aware that there is a problem with infusion therapy, e.g., fluids are not infusing, fluids are infusing too fast or too slow,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7395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interrupting an infusion, e.g., from an occlusion in the tubing due to a blood clot, or the catheter or needle comes out during delivery, or there is air in line.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0517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infusion therapy is interrupted because the supply of fluids/agents is depleted, e.g., due to titration, flushing,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0669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an infusion device reports inaccurate data, e.g., rate, volume, medication,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13.5</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r>
              <a:rPr lang="en-US" smtClean="0"/>
              <a:t>Step 10:  Assess the status of the infusion</a:t>
            </a:r>
          </a:p>
        </p:txBody>
      </p:sp>
      <p:graphicFrame>
        <p:nvGraphicFramePr>
          <p:cNvPr id="105668" name="Group 2244"/>
          <p:cNvGraphicFramePr>
            <a:graphicFrameLocks noGrp="1"/>
          </p:cNvGraphicFramePr>
          <p:nvPr/>
        </p:nvGraphicFramePr>
        <p:xfrm>
          <a:off x="304800" y="1371600"/>
          <a:ext cx="8305800" cy="5257798"/>
        </p:xfrm>
        <a:graphic>
          <a:graphicData uri="http://schemas.openxmlformats.org/drawingml/2006/table">
            <a:tbl>
              <a:tblPr/>
              <a:tblGrid>
                <a:gridCol w="4471672"/>
                <a:gridCol w="639317"/>
                <a:gridCol w="639316"/>
                <a:gridCol w="639317"/>
                <a:gridCol w="637545"/>
                <a:gridCol w="639316"/>
                <a:gridCol w="639317"/>
              </a:tblGrid>
              <a:tr h="28052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7892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2676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find the source of an infusion alarm when multiple infusions are running.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676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an adverse reaction due to the equipment/supplies used, e.g., tubing, tape, arm board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8829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exceeding the prescribed hourly input.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0149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when a supply will need to be refreshed, e.g., to estimate when fluids will be depleted, when tubing will need to be replaced,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676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interrupting an infusion due to inadequate power, e.g., due to low batteries, an unplugged or unreliable device.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0149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frequency with which an alarm situation is not addressed because the alarm is shut off inappropriately, e.g., by the patient, by a visitor, due to equipment failure,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676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Increase the likelihood that the prescribed amount of fluid/agent is completely delivered to the patient according to the desired schedule.</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11.4</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lang="en-US" smtClean="0"/>
              <a:t>Step 10:  Assess the status of the infusion</a:t>
            </a:r>
          </a:p>
        </p:txBody>
      </p:sp>
      <p:graphicFrame>
        <p:nvGraphicFramePr>
          <p:cNvPr id="106669" name="Group 1197"/>
          <p:cNvGraphicFramePr>
            <a:graphicFrameLocks noGrp="1"/>
          </p:cNvGraphicFramePr>
          <p:nvPr/>
        </p:nvGraphicFramePr>
        <p:xfrm>
          <a:off x="380999" y="1371599"/>
          <a:ext cx="8253414" cy="4983164"/>
        </p:xfrm>
        <a:graphic>
          <a:graphicData uri="http://schemas.openxmlformats.org/drawingml/2006/table">
            <a:tbl>
              <a:tblPr/>
              <a:tblGrid>
                <a:gridCol w="4443502"/>
                <a:gridCol w="635264"/>
                <a:gridCol w="635264"/>
                <a:gridCol w="635264"/>
                <a:gridCol w="633592"/>
                <a:gridCol w="635264"/>
                <a:gridCol w="635264"/>
              </a:tblGrid>
              <a:tr h="30187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0340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8035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frequency with which a sleeping patient must be disturbed, e.g, to monitor the infusion therapy, to refresh supplies,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7036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determine the attributes of a patient's infusion therapy when transfer of care occurs, e.g., fluids/agents, supplies, equipment, rates, volumes,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8035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infusion therapies of multiple patients require attention at the same time.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6883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that the equipment is working properly, e.g., connections are good, power is sufficient, calibration is current, flow is normal,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898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being notified that the fluid flow is as planned.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898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when a volume of fluid/agent will be fully delivered.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7.3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r>
              <a:rPr lang="en-US" sz="2400" smtClean="0"/>
              <a:t>Step 11:  Assess the therapeutic results of the infusion</a:t>
            </a:r>
          </a:p>
        </p:txBody>
      </p:sp>
      <p:sp>
        <p:nvSpPr>
          <p:cNvPr id="62466"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The time required to measure, capture &amp; consume data to assess and decide on corrective action to prevent/mitigate adverse reaction is very important.  Significant opportunity for Pediatric nurses.</a:t>
            </a:r>
          </a:p>
          <a:p>
            <a:pPr lvl="1"/>
            <a:r>
              <a:rPr lang="en-US" sz="2400" dirty="0" smtClean="0">
                <a:solidFill>
                  <a:srgbClr val="0033CC"/>
                </a:solidFill>
              </a:rPr>
              <a:t>Information availability, insights and accuracy are key factors for assessment and detection of adverse events.  The opportunities range from significant to extreme, especially for Pediatric nurses.</a:t>
            </a:r>
          </a:p>
          <a:p>
            <a:pPr lvl="1"/>
            <a:r>
              <a:rPr lang="en-US" sz="2400" dirty="0" smtClean="0">
                <a:solidFill>
                  <a:srgbClr val="0033CC"/>
                </a:solidFill>
              </a:rPr>
              <a:t>One opportunity that has a heightened impact for Adult nurses concerns inaccurate patient data (due to confusion with another patient or that is simply incorrect vitals or lab data)</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r>
              <a:rPr lang="en-US" sz="2400" smtClean="0"/>
              <a:t>Step 11:  Assess the therapeutic results of the infusion</a:t>
            </a:r>
          </a:p>
        </p:txBody>
      </p:sp>
      <p:pic>
        <p:nvPicPr>
          <p:cNvPr id="63490" name="Picture 5"/>
          <p:cNvPicPr>
            <a:picLocks noChangeAspect="1" noChangeArrowheads="1"/>
          </p:cNvPicPr>
          <p:nvPr/>
        </p:nvPicPr>
        <p:blipFill>
          <a:blip r:embed="rId3" cstate="print"/>
          <a:srcRect/>
          <a:stretch>
            <a:fillRect/>
          </a:stretch>
        </p:blipFill>
        <p:spPr bwMode="auto">
          <a:xfrm>
            <a:off x="869950" y="1387475"/>
            <a:ext cx="7288213" cy="53292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589"/>
          <p:cNvSpPr>
            <a:spLocks noGrp="1" noChangeArrowheads="1"/>
          </p:cNvSpPr>
          <p:nvPr>
            <p:ph type="title"/>
          </p:nvPr>
        </p:nvSpPr>
        <p:spPr/>
        <p:txBody>
          <a:bodyPr/>
          <a:lstStyle/>
          <a:p>
            <a:r>
              <a:rPr lang="en-US" sz="2800" smtClean="0"/>
              <a:t>Step 11:  Assess the therapeutic results of the infusion</a:t>
            </a:r>
          </a:p>
        </p:txBody>
      </p:sp>
      <p:graphicFrame>
        <p:nvGraphicFramePr>
          <p:cNvPr id="58907" name="Group 539"/>
          <p:cNvGraphicFramePr>
            <a:graphicFrameLocks noGrp="1"/>
          </p:cNvGraphicFramePr>
          <p:nvPr/>
        </p:nvGraphicFramePr>
        <p:xfrm>
          <a:off x="533400" y="1447800"/>
          <a:ext cx="8154988" cy="5154616"/>
        </p:xfrm>
        <a:graphic>
          <a:graphicData uri="http://schemas.openxmlformats.org/drawingml/2006/table">
            <a:tbl>
              <a:tblPr/>
              <a:tblGrid>
                <a:gridCol w="4389883"/>
                <a:gridCol w="626421"/>
                <a:gridCol w="629710"/>
                <a:gridCol w="626421"/>
                <a:gridCol w="626422"/>
                <a:gridCol w="629709"/>
                <a:gridCol w="626422"/>
              </a:tblGrid>
              <a:tr h="25337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5337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616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patient data are incorrect, e.g., blood pressure, heart rate, weight, lab results.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490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detecting respiratory depression when the patient has narcotics infused.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651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results of one patient are confused with another.</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329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measurements from a patient are misidentified, e.g., a patient's, x-rays, vital signs, etc., are mixed up with another patient's.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329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detecting adverse reactions when the patient is sedated.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490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continuing infusion therapy that is causing problems for the patient, e.g, fluid overload, anaphylaxis, incompatible fluids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329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the benefit a patient receives from a change made to the infusion therapy, e.g., during titration, after a change in medications,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14.7</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64"/>
          <p:cNvSpPr>
            <a:spLocks noGrp="1" noChangeArrowheads="1"/>
          </p:cNvSpPr>
          <p:nvPr>
            <p:ph type="title"/>
          </p:nvPr>
        </p:nvSpPr>
        <p:spPr/>
        <p:txBody>
          <a:bodyPr/>
          <a:lstStyle/>
          <a:p>
            <a:r>
              <a:rPr lang="en-US" sz="2800" smtClean="0"/>
              <a:t>Step 11:  Assess the therapeutic results of the infusion</a:t>
            </a:r>
          </a:p>
        </p:txBody>
      </p:sp>
      <p:graphicFrame>
        <p:nvGraphicFramePr>
          <p:cNvPr id="60175" name="Group 783"/>
          <p:cNvGraphicFramePr>
            <a:graphicFrameLocks noGrp="1"/>
          </p:cNvGraphicFramePr>
          <p:nvPr/>
        </p:nvGraphicFramePr>
        <p:xfrm>
          <a:off x="849313" y="1441450"/>
          <a:ext cx="7754937" cy="5086353"/>
        </p:xfrm>
        <a:graphic>
          <a:graphicData uri="http://schemas.openxmlformats.org/drawingml/2006/table">
            <a:tbl>
              <a:tblPr/>
              <a:tblGrid>
                <a:gridCol w="4176712"/>
                <a:gridCol w="595313"/>
                <a:gridCol w="595312"/>
                <a:gridCol w="598488"/>
                <a:gridCol w="595312"/>
                <a:gridCol w="598488"/>
                <a:gridCol w="595312"/>
              </a:tblGrid>
              <a:tr h="3143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1591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9064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perform the measurements needed to assess the results of the infusion therapy, e.g., cardiac output, lab values, x-rays, vital signs, Ins-and-Outs,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27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if the patient is getting a benefit from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0805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which metrics should be used to assess the results of the infusion therapy, e.g., which vital signs, what total dosage, what length of time,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961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gather all information about the patient's condition that is needed to make a decision about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961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benefits of one fluid/agent cannot be determined due to effects of another fluid/agent.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961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the how much of each fluid/agent has been infused into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r>
              <a:rPr lang="en-US" sz="2800" smtClean="0"/>
              <a:t>Step 12:  Troubleshoot problems with the infusion</a:t>
            </a:r>
          </a:p>
        </p:txBody>
      </p:sp>
      <p:sp>
        <p:nvSpPr>
          <p:cNvPr id="66562" name="Rectangle 3"/>
          <p:cNvSpPr>
            <a:spLocks noGrp="1" noChangeArrowheads="1"/>
          </p:cNvSpPr>
          <p:nvPr>
            <p:ph idx="1"/>
          </p:nvPr>
        </p:nvSpPr>
        <p:spPr/>
        <p:txBody>
          <a:bodyPr/>
          <a:lstStyle/>
          <a:p>
            <a:r>
              <a:rPr lang="en-US" b="1" dirty="0" smtClean="0"/>
              <a:t>Key Messages:</a:t>
            </a:r>
          </a:p>
          <a:p>
            <a:pPr lvl="1"/>
            <a:r>
              <a:rPr lang="en-US" dirty="0" smtClean="0">
                <a:solidFill>
                  <a:srgbClr val="0033CC"/>
                </a:solidFill>
              </a:rPr>
              <a:t>Time required for root cause analysis is an extreme opportunity for nurses in Pediatric units.</a:t>
            </a:r>
          </a:p>
          <a:p>
            <a:pPr lvl="1"/>
            <a:r>
              <a:rPr lang="en-US" dirty="0" smtClean="0">
                <a:solidFill>
                  <a:srgbClr val="0033CC"/>
                </a:solidFill>
              </a:rPr>
              <a:t>Information awareness (alerts) and timeliness are very important factors for avoiding interruption of therapy and mitigating adverse reaction to patients.  Significant opportunity for all nurses.</a:t>
            </a:r>
          </a:p>
          <a:p>
            <a:pPr lvl="1"/>
            <a:r>
              <a:rPr lang="en-US" dirty="0" smtClean="0">
                <a:solidFill>
                  <a:srgbClr val="0033CC"/>
                </a:solidFill>
              </a:rPr>
              <a:t>Secure access to equipment is a significant opportunity for nurses in Pediatric units.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1066800" y="685800"/>
            <a:ext cx="7866063" cy="609600"/>
          </a:xfrm>
        </p:spPr>
        <p:txBody>
          <a:bodyPr/>
          <a:lstStyle/>
          <a:p>
            <a:r>
              <a:rPr lang="en-US" sz="2800" dirty="0" smtClean="0"/>
              <a:t>Step 12:  Troubleshoot problems with the infusion</a:t>
            </a:r>
          </a:p>
        </p:txBody>
      </p:sp>
      <p:sp>
        <p:nvSpPr>
          <p:cNvPr id="67586" name="Text Box 5"/>
          <p:cNvSpPr txBox="1">
            <a:spLocks noChangeArrowheads="1"/>
          </p:cNvSpPr>
          <p:nvPr/>
        </p:nvSpPr>
        <p:spPr bwMode="auto">
          <a:xfrm>
            <a:off x="987425" y="1363663"/>
            <a:ext cx="7964488" cy="304800"/>
          </a:xfrm>
          <a:prstGeom prst="rect">
            <a:avLst/>
          </a:prstGeom>
          <a:noFill/>
          <a:ln w="9525">
            <a:noFill/>
            <a:miter lim="800000"/>
            <a:headEnd/>
            <a:tailEnd/>
          </a:ln>
        </p:spPr>
        <p:txBody>
          <a:bodyPr>
            <a:spAutoFit/>
          </a:bodyPr>
          <a:lstStyle/>
          <a:p>
            <a:pPr marL="119063" indent="-119063" eaLnBrk="0" hangingPunct="0">
              <a:spcBef>
                <a:spcPct val="50000"/>
              </a:spcBef>
              <a:buFontTx/>
              <a:buChar char="•"/>
            </a:pPr>
            <a:endParaRPr lang="en-US" sz="1400" b="1">
              <a:solidFill>
                <a:schemeClr val="hlink"/>
              </a:solidFill>
              <a:latin typeface="Arial" charset="0"/>
            </a:endParaRPr>
          </a:p>
        </p:txBody>
      </p:sp>
      <p:pic>
        <p:nvPicPr>
          <p:cNvPr id="67587" name="Picture 6"/>
          <p:cNvPicPr>
            <a:picLocks noChangeAspect="1" noChangeArrowheads="1"/>
          </p:cNvPicPr>
          <p:nvPr/>
        </p:nvPicPr>
        <p:blipFill>
          <a:blip r:embed="rId3" cstate="print"/>
          <a:srcRect/>
          <a:stretch>
            <a:fillRect/>
          </a:stretch>
        </p:blipFill>
        <p:spPr bwMode="auto">
          <a:xfrm>
            <a:off x="1143000" y="1498236"/>
            <a:ext cx="6938962" cy="50819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589"/>
          <p:cNvSpPr>
            <a:spLocks noGrp="1" noChangeArrowheads="1"/>
          </p:cNvSpPr>
          <p:nvPr>
            <p:ph type="title"/>
          </p:nvPr>
        </p:nvSpPr>
        <p:spPr/>
        <p:txBody>
          <a:bodyPr/>
          <a:lstStyle/>
          <a:p>
            <a:r>
              <a:rPr lang="en-US" sz="2800" smtClean="0"/>
              <a:t>Step 12:  Troubleshoot problems with the infusion</a:t>
            </a:r>
          </a:p>
        </p:txBody>
      </p:sp>
      <p:graphicFrame>
        <p:nvGraphicFramePr>
          <p:cNvPr id="62999" name="Group 535"/>
          <p:cNvGraphicFramePr>
            <a:graphicFrameLocks noGrp="1"/>
          </p:cNvGraphicFramePr>
          <p:nvPr/>
        </p:nvGraphicFramePr>
        <p:xfrm>
          <a:off x="304802" y="1371599"/>
          <a:ext cx="8364537" cy="5310049"/>
        </p:xfrm>
        <a:graphic>
          <a:graphicData uri="http://schemas.openxmlformats.org/drawingml/2006/table">
            <a:tbl>
              <a:tblPr/>
              <a:tblGrid>
                <a:gridCol w="4503721"/>
                <a:gridCol w="642903"/>
                <a:gridCol w="644600"/>
                <a:gridCol w="642905"/>
                <a:gridCol w="642903"/>
                <a:gridCol w="644600"/>
                <a:gridCol w="642905"/>
              </a:tblGrid>
              <a:tr h="24390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4239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8352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not being notified of an interruption in the infusion therapy, e.g., patient shuts off alarm, alarm is not heard,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201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not being able to determine what the problem is when troubleshooting.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707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if the patient's vessels are the source of a problem with the infusion therapy, e.g., a vein has collapsed, a venous valve is closed,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352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time that infusion therapy is interrupted when troubleshooting.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707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if the equipment/supplies are the source of a problem with the infusion therapy, e.g., equipment failure, supply failure, air bubbles,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707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problem with infusion therapy is identified incorrectly by the device, e.g., kinked tubing causes an air alarm, denser fluids cause a line occluded alarm,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8201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encountering a dosage alarm in a critical care situation, e.g., soft limit, hard limit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12.4</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439"/>
          <p:cNvSpPr>
            <a:spLocks noGrp="1" noChangeArrowheads="1"/>
          </p:cNvSpPr>
          <p:nvPr>
            <p:ph type="title"/>
          </p:nvPr>
        </p:nvSpPr>
        <p:spPr/>
        <p:txBody>
          <a:bodyPr/>
          <a:lstStyle/>
          <a:p>
            <a:r>
              <a:rPr lang="en-US" sz="2800" smtClean="0"/>
              <a:t>Step 12:  Troubleshoot problems with the infusion</a:t>
            </a:r>
          </a:p>
        </p:txBody>
      </p:sp>
      <p:graphicFrame>
        <p:nvGraphicFramePr>
          <p:cNvPr id="62376" name="Group 936"/>
          <p:cNvGraphicFramePr>
            <a:graphicFrameLocks noGrp="1"/>
          </p:cNvGraphicFramePr>
          <p:nvPr/>
        </p:nvGraphicFramePr>
        <p:xfrm>
          <a:off x="304802" y="1295399"/>
          <a:ext cx="8610597" cy="5350690"/>
        </p:xfrm>
        <a:graphic>
          <a:graphicData uri="http://schemas.openxmlformats.org/drawingml/2006/table">
            <a:tbl>
              <a:tblPr/>
              <a:tblGrid>
                <a:gridCol w="4637121"/>
                <a:gridCol w="661967"/>
                <a:gridCol w="661966"/>
                <a:gridCol w="661967"/>
                <a:gridCol w="663643"/>
                <a:gridCol w="661966"/>
                <a:gridCol w="661967"/>
              </a:tblGrid>
              <a:tr h="23549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549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an unauthorized person controls the pump, e.g., turns off alarms, restarts the pump, stops the pump.</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it takes to know why an infusion device is alarming.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verify that adjustments have restored the infusion therapy to the desired state.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an alarm continues when a problem with infusion therapy no longer exists.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the adjustments needed to restore the infusion therapy to the desired state.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that an alarm continues while the nurse tries to troubleshoot the issue.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5497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frequency with which an infusion device has alarms that do not need immediate attention, e.g., due tiny air bubbles, unplugged device, long pause time, temporary obstructions,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annoyance caused by the sound of alarms, e.g., due to the volume, pitch, pattern,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2600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waste of the fluids/agents that occurs during troubleshooting, e.g., due to spills, priming, flushing,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6.7</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lstStyle/>
          <a:p>
            <a:r>
              <a:rPr lang="en-US" sz="2800" smtClean="0"/>
              <a:t>Step 13:  Determine changes to the infusion</a:t>
            </a:r>
          </a:p>
        </p:txBody>
      </p:sp>
      <p:sp>
        <p:nvSpPr>
          <p:cNvPr id="70658"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Reducing the amount of time required to make decisions about adjusting therapy is very important for all nurses:  </a:t>
            </a:r>
          </a:p>
          <a:p>
            <a:pPr marL="1143000" lvl="2" indent="-228600"/>
            <a:r>
              <a:rPr lang="en-US" sz="2000" dirty="0" smtClean="0">
                <a:solidFill>
                  <a:srgbClr val="0033CC"/>
                </a:solidFill>
              </a:rPr>
              <a:t>Nurses in Pediatric units are higher opportunities than nurses in Adult units. </a:t>
            </a:r>
          </a:p>
          <a:p>
            <a:pPr marL="1143000" lvl="2" indent="-228600"/>
            <a:r>
              <a:rPr lang="en-US" sz="2000" dirty="0" smtClean="0">
                <a:solidFill>
                  <a:srgbClr val="0033CC"/>
                </a:solidFill>
              </a:rPr>
              <a:t>Many outcomes are significant opportunities</a:t>
            </a:r>
          </a:p>
          <a:p>
            <a:pPr marL="1143000" lvl="2" indent="-228600"/>
            <a:r>
              <a:rPr lang="en-US" sz="2000" dirty="0" smtClean="0">
                <a:solidFill>
                  <a:srgbClr val="0033CC"/>
                </a:solidFill>
              </a:rPr>
              <a:t>One extreme opportunity involves having the available knowledge in a timely manner to assess drug interaction with other fluids/agents as part of overall therapy.</a:t>
            </a:r>
          </a:p>
          <a:p>
            <a:pPr lvl="1"/>
            <a:r>
              <a:rPr lang="en-US" sz="2400" dirty="0" smtClean="0">
                <a:solidFill>
                  <a:srgbClr val="0033CC"/>
                </a:solidFill>
              </a:rPr>
              <a:t>Information availability and the time required to obtain the information are also important opportunities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sz="2800" smtClean="0"/>
              <a:t>Step 13:  Determine changes to the infusion</a:t>
            </a:r>
          </a:p>
        </p:txBody>
      </p:sp>
      <p:sp>
        <p:nvSpPr>
          <p:cNvPr id="71682" name="Text Box 5"/>
          <p:cNvSpPr txBox="1">
            <a:spLocks noChangeArrowheads="1"/>
          </p:cNvSpPr>
          <p:nvPr/>
        </p:nvSpPr>
        <p:spPr bwMode="auto">
          <a:xfrm>
            <a:off x="969963" y="1108075"/>
            <a:ext cx="7964487" cy="304800"/>
          </a:xfrm>
          <a:prstGeom prst="rect">
            <a:avLst/>
          </a:prstGeom>
          <a:noFill/>
          <a:ln w="9525">
            <a:noFill/>
            <a:miter lim="800000"/>
            <a:headEnd/>
            <a:tailEnd/>
          </a:ln>
        </p:spPr>
        <p:txBody>
          <a:bodyPr>
            <a:spAutoFit/>
          </a:bodyPr>
          <a:lstStyle/>
          <a:p>
            <a:pPr marL="119063" indent="-119063" eaLnBrk="0" hangingPunct="0">
              <a:spcBef>
                <a:spcPct val="50000"/>
              </a:spcBef>
              <a:buFontTx/>
              <a:buChar char="•"/>
            </a:pPr>
            <a:endParaRPr lang="en-US" sz="1400" b="1">
              <a:solidFill>
                <a:schemeClr val="hlink"/>
              </a:solidFill>
              <a:latin typeface="Arial" charset="0"/>
            </a:endParaRPr>
          </a:p>
        </p:txBody>
      </p:sp>
      <p:pic>
        <p:nvPicPr>
          <p:cNvPr id="71683" name="Picture 5"/>
          <p:cNvPicPr>
            <a:picLocks noChangeAspect="1" noChangeArrowheads="1"/>
          </p:cNvPicPr>
          <p:nvPr/>
        </p:nvPicPr>
        <p:blipFill>
          <a:blip r:embed="rId3" cstate="print"/>
          <a:srcRect/>
          <a:stretch>
            <a:fillRect/>
          </a:stretch>
        </p:blipFill>
        <p:spPr bwMode="auto">
          <a:xfrm>
            <a:off x="1066800" y="1450032"/>
            <a:ext cx="6740525" cy="51047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514"/>
          <p:cNvSpPr>
            <a:spLocks noGrp="1" noChangeArrowheads="1"/>
          </p:cNvSpPr>
          <p:nvPr>
            <p:ph type="title"/>
          </p:nvPr>
        </p:nvSpPr>
        <p:spPr/>
        <p:txBody>
          <a:bodyPr/>
          <a:lstStyle/>
          <a:p>
            <a:r>
              <a:rPr lang="en-US" sz="2800" smtClean="0"/>
              <a:t>Step 13:  Determine changes to the infusion</a:t>
            </a:r>
          </a:p>
        </p:txBody>
      </p:sp>
      <p:graphicFrame>
        <p:nvGraphicFramePr>
          <p:cNvPr id="66059" name="Group 523"/>
          <p:cNvGraphicFramePr>
            <a:graphicFrameLocks noGrp="1"/>
          </p:cNvGraphicFramePr>
          <p:nvPr/>
        </p:nvGraphicFramePr>
        <p:xfrm>
          <a:off x="304799" y="1354070"/>
          <a:ext cx="8262939" cy="5118170"/>
        </p:xfrm>
        <a:graphic>
          <a:graphicData uri="http://schemas.openxmlformats.org/drawingml/2006/table">
            <a:tbl>
              <a:tblPr/>
              <a:tblGrid>
                <a:gridCol w="4449537"/>
                <a:gridCol w="636135"/>
                <a:gridCol w="636136"/>
                <a:gridCol w="634430"/>
                <a:gridCol w="636135"/>
                <a:gridCol w="634430"/>
                <a:gridCol w="636136"/>
              </a:tblGrid>
              <a:tr h="24004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4004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9109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how a new fluid/agent that will be added will interact with the other fluids/agents already being delivered to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1311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get a decision/order about what to change during the patient's infusion therapy in a critical situation.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109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how a new fluid/agent that will be added will interact with the equipment/supplies already being used in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109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what changes in the fluid/agent should be made to improve the patient condition, e.g., raise the blood pressure, improve cardiac output,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1464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get a decision/order about what to change during the patient's infusion therapy after a patient transfer.</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9109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what change in the infusion rate or volume should be made to improve the patient condition, e.g., raise the blood pressure, improve cardiac output,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840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an order is made to change a patient's infusion therapy based on an incomplete understanding of the patient's situation.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12.8</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364"/>
          <p:cNvSpPr>
            <a:spLocks noGrp="1" noChangeArrowheads="1"/>
          </p:cNvSpPr>
          <p:nvPr>
            <p:ph type="title"/>
          </p:nvPr>
        </p:nvSpPr>
        <p:spPr/>
        <p:txBody>
          <a:bodyPr/>
          <a:lstStyle/>
          <a:p>
            <a:r>
              <a:rPr lang="en-US" sz="2800" smtClean="0"/>
              <a:t>Step 13:  Determine changes to the infusion</a:t>
            </a:r>
          </a:p>
        </p:txBody>
      </p:sp>
      <p:graphicFrame>
        <p:nvGraphicFramePr>
          <p:cNvPr id="67295" name="Group 735"/>
          <p:cNvGraphicFramePr>
            <a:graphicFrameLocks noGrp="1"/>
          </p:cNvGraphicFramePr>
          <p:nvPr/>
        </p:nvGraphicFramePr>
        <p:xfrm>
          <a:off x="720725" y="1054100"/>
          <a:ext cx="7874000" cy="5551488"/>
        </p:xfrm>
        <a:graphic>
          <a:graphicData uri="http://schemas.openxmlformats.org/drawingml/2006/table">
            <a:tbl>
              <a:tblPr/>
              <a:tblGrid>
                <a:gridCol w="4240213"/>
                <a:gridCol w="604837"/>
                <a:gridCol w="606425"/>
                <a:gridCol w="604838"/>
                <a:gridCol w="606425"/>
                <a:gridCol w="604837"/>
                <a:gridCol w="606425"/>
              </a:tblGrid>
              <a:tr h="34448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460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9683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what fluids/agents are being given to the patient, e.g., fluid/agent names, doses,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683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continuing an infusion therapy when it is no longer needed by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8742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become aware that a patient needs a change to their infusion therapy, e.g., a different fluid/agent, a different dose, a different schedule,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683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get a decision/order for what to change during the patient's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683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the rate at which a new fluid/agent should be delivered when added into an existing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r>
              <a:rPr lang="en-US" smtClean="0"/>
              <a:t>Step 14:  Adjust the infusion</a:t>
            </a:r>
          </a:p>
        </p:txBody>
      </p:sp>
      <p:sp>
        <p:nvSpPr>
          <p:cNvPr id="74754" name="Rectangle 3"/>
          <p:cNvSpPr>
            <a:spLocks noGrp="1" noChangeArrowheads="1"/>
          </p:cNvSpPr>
          <p:nvPr>
            <p:ph idx="1"/>
          </p:nvPr>
        </p:nvSpPr>
        <p:spPr/>
        <p:txBody>
          <a:bodyPr/>
          <a:lstStyle/>
          <a:p>
            <a:r>
              <a:rPr lang="en-US" b="1" dirty="0" smtClean="0"/>
              <a:t>Key Messages:</a:t>
            </a:r>
          </a:p>
          <a:p>
            <a:pPr lvl="1"/>
            <a:r>
              <a:rPr lang="en-US" sz="2400" dirty="0" smtClean="0">
                <a:solidFill>
                  <a:srgbClr val="0033CC"/>
                </a:solidFill>
              </a:rPr>
              <a:t>Reducing the amount of time required to source materials, prepare the access site, apply the adjustment and restore the patient vitals to target levels is very important for all nurses. Nurses in Pediatric units were consistently higher opportunities than nurses in Adult units.</a:t>
            </a:r>
          </a:p>
          <a:p>
            <a:pPr lvl="1"/>
            <a:r>
              <a:rPr lang="en-US" sz="2400" dirty="0" smtClean="0">
                <a:solidFill>
                  <a:srgbClr val="0033CC"/>
                </a:solidFill>
              </a:rPr>
              <a:t>Working with an existing access site that is difficult to work with is a very high opportunity for all nurses.</a:t>
            </a:r>
          </a:p>
          <a:p>
            <a:pPr lvl="1"/>
            <a:r>
              <a:rPr lang="en-US" sz="2400" dirty="0" smtClean="0">
                <a:solidFill>
                  <a:srgbClr val="0033CC"/>
                </a:solidFill>
              </a:rPr>
              <a:t>Avoiding adverse reactions was an extreme opportunity for nurses in Pediatric units in cases where:</a:t>
            </a:r>
          </a:p>
          <a:p>
            <a:pPr marL="1143000" lvl="2" indent="-228600"/>
            <a:r>
              <a:rPr lang="en-US" sz="2000" dirty="0" smtClean="0">
                <a:solidFill>
                  <a:srgbClr val="0033CC"/>
                </a:solidFill>
              </a:rPr>
              <a:t>Fluids become depleted after titration adjustments</a:t>
            </a:r>
          </a:p>
          <a:p>
            <a:pPr marL="1143000" lvl="2" indent="-228600"/>
            <a:r>
              <a:rPr lang="en-US" sz="2000" dirty="0" smtClean="0">
                <a:solidFill>
                  <a:srgbClr val="0033CC"/>
                </a:solidFill>
              </a:rPr>
              <a:t>A dose was missed due to schedule change</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p:txBody>
          <a:bodyPr/>
          <a:lstStyle/>
          <a:p>
            <a:r>
              <a:rPr lang="en-US" smtClean="0"/>
              <a:t>Step 14:  Adjust the infusion</a:t>
            </a:r>
          </a:p>
        </p:txBody>
      </p:sp>
      <p:pic>
        <p:nvPicPr>
          <p:cNvPr id="75778" name="Picture 5"/>
          <p:cNvPicPr>
            <a:picLocks noChangeAspect="1" noChangeArrowheads="1"/>
          </p:cNvPicPr>
          <p:nvPr/>
        </p:nvPicPr>
        <p:blipFill>
          <a:blip r:embed="rId3" cstate="print"/>
          <a:srcRect/>
          <a:stretch>
            <a:fillRect/>
          </a:stretch>
        </p:blipFill>
        <p:spPr bwMode="auto">
          <a:xfrm>
            <a:off x="1066800" y="1327239"/>
            <a:ext cx="6796088" cy="50656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514"/>
          <p:cNvSpPr>
            <a:spLocks noGrp="1" noChangeArrowheads="1"/>
          </p:cNvSpPr>
          <p:nvPr>
            <p:ph type="title"/>
          </p:nvPr>
        </p:nvSpPr>
        <p:spPr/>
        <p:txBody>
          <a:bodyPr/>
          <a:lstStyle/>
          <a:p>
            <a:r>
              <a:rPr lang="en-US" smtClean="0"/>
              <a:t>Step 14:  Adjust the infusion</a:t>
            </a:r>
          </a:p>
        </p:txBody>
      </p:sp>
      <p:graphicFrame>
        <p:nvGraphicFramePr>
          <p:cNvPr id="107630" name="Group 1134"/>
          <p:cNvGraphicFramePr>
            <a:graphicFrameLocks noGrp="1"/>
          </p:cNvGraphicFramePr>
          <p:nvPr/>
        </p:nvGraphicFramePr>
        <p:xfrm>
          <a:off x="457202" y="1371600"/>
          <a:ext cx="7745411" cy="4975227"/>
        </p:xfrm>
        <a:graphic>
          <a:graphicData uri="http://schemas.openxmlformats.org/drawingml/2006/table">
            <a:tbl>
              <a:tblPr/>
              <a:tblGrid>
                <a:gridCol w="4170481"/>
                <a:gridCol w="595550"/>
                <a:gridCol w="595549"/>
                <a:gridCol w="597182"/>
                <a:gridCol w="595550"/>
                <a:gridCol w="595549"/>
                <a:gridCol w="595550"/>
              </a:tblGrid>
              <a:tr h="28111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8111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3064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being able to start an additional new infusion therapy on a patient with difficult venous access.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5513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introduce a new fluid/agent that is needed in an emergency.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5513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missing a dose due to schedule changes.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8165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causing an adverse reaction in the patient while making adjustments to the titration, e.g., due to an overdose, incompatible medications, pain, introduce infection,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5364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that supplies are available when a fluid is about to be depleted.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80615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titrate fluid/agents so that the patient to achieves a desired result, e.g., a target blood pressure, a target heart rate, a level of consciousness,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3064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risk of fluids/agents becoming depleted after titration adjustments are completed.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12.8</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514"/>
          <p:cNvSpPr>
            <a:spLocks noGrp="1" noChangeArrowheads="1"/>
          </p:cNvSpPr>
          <p:nvPr>
            <p:ph type="title"/>
          </p:nvPr>
        </p:nvSpPr>
        <p:spPr/>
        <p:txBody>
          <a:bodyPr/>
          <a:lstStyle/>
          <a:p>
            <a:r>
              <a:rPr lang="en-US" smtClean="0"/>
              <a:t>Step 14:  Adjust the infusion</a:t>
            </a:r>
          </a:p>
        </p:txBody>
      </p:sp>
      <p:graphicFrame>
        <p:nvGraphicFramePr>
          <p:cNvPr id="108656" name="Group 1136"/>
          <p:cNvGraphicFramePr>
            <a:graphicFrameLocks noGrp="1"/>
          </p:cNvGraphicFramePr>
          <p:nvPr/>
        </p:nvGraphicFramePr>
        <p:xfrm>
          <a:off x="304800" y="1371600"/>
          <a:ext cx="8291513" cy="5246689"/>
        </p:xfrm>
        <a:graphic>
          <a:graphicData uri="http://schemas.openxmlformats.org/drawingml/2006/table">
            <a:tbl>
              <a:tblPr/>
              <a:tblGrid>
                <a:gridCol w="4464791"/>
                <a:gridCol w="638071"/>
                <a:gridCol w="638070"/>
                <a:gridCol w="636369"/>
                <a:gridCol w="638071"/>
                <a:gridCol w="638070"/>
                <a:gridCol w="638071"/>
              </a:tblGrid>
              <a:tr h="319939">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18436">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51670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receive replacements for depleted 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520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needed replacement fluid/agent is not available.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670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receive replacements for depleted fluids/agents.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1475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restore the infusion therapy to the desired state after an interruption in therapy, e.g., due to an alarm, a bag change, the loss of power,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91325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causing discomfort to the patient when making adjustments to an infusion setup, e.g., tubing, valve settings, labels,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1670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replenish depleted fluids/agents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1497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re-program an infusion device that is already running when making a change to the settings.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10.4</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439"/>
          <p:cNvSpPr>
            <a:spLocks noGrp="1" noChangeArrowheads="1"/>
          </p:cNvSpPr>
          <p:nvPr>
            <p:ph type="title"/>
          </p:nvPr>
        </p:nvSpPr>
        <p:spPr/>
        <p:txBody>
          <a:bodyPr/>
          <a:lstStyle/>
          <a:p>
            <a:r>
              <a:rPr lang="en-US" smtClean="0"/>
              <a:t>Step 14:  Adjust the infusion</a:t>
            </a:r>
          </a:p>
        </p:txBody>
      </p:sp>
      <p:graphicFrame>
        <p:nvGraphicFramePr>
          <p:cNvPr id="109667" name="Group 1123"/>
          <p:cNvGraphicFramePr>
            <a:graphicFrameLocks noGrp="1"/>
          </p:cNvGraphicFramePr>
          <p:nvPr/>
        </p:nvGraphicFramePr>
        <p:xfrm>
          <a:off x="304801" y="1295400"/>
          <a:ext cx="8191499" cy="5246690"/>
        </p:xfrm>
        <a:graphic>
          <a:graphicData uri="http://schemas.openxmlformats.org/drawingml/2006/table">
            <a:tbl>
              <a:tblPr/>
              <a:tblGrid>
                <a:gridCol w="4410549"/>
                <a:gridCol w="629599"/>
                <a:gridCol w="631278"/>
                <a:gridCol w="629598"/>
                <a:gridCol w="629599"/>
                <a:gridCol w="629598"/>
                <a:gridCol w="631278"/>
              </a:tblGrid>
              <a:tr h="31486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13327">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70498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identify the equipment/lines that need to be changed when multiple fluids/agents are running.</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0838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restart a intentionally discontinued therapy on an infusion device.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0158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upsetting a patient when making changes to the infusion therapy, e.g., tubing changes, programming modifications,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3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add a new piece of equipment or a supply to an existing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96644">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add a new fluid/agent into an existing infusion therapy, e.g., a new medication to the same infusion device, a new fluid to an existing set of infusions,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703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replace the tubing located between an infusion device and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7.8</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p:txBody>
          <a:bodyPr/>
          <a:lstStyle/>
          <a:p>
            <a:r>
              <a:rPr lang="en-US" smtClean="0"/>
              <a:t>Step 15:  Document the infusion</a:t>
            </a:r>
          </a:p>
        </p:txBody>
      </p:sp>
      <p:sp>
        <p:nvSpPr>
          <p:cNvPr id="79874" name="Rectangle 3"/>
          <p:cNvSpPr>
            <a:spLocks noGrp="1" noChangeArrowheads="1"/>
          </p:cNvSpPr>
          <p:nvPr>
            <p:ph idx="1"/>
          </p:nvPr>
        </p:nvSpPr>
        <p:spPr/>
        <p:txBody>
          <a:bodyPr/>
          <a:lstStyle/>
          <a:p>
            <a:pPr>
              <a:lnSpc>
                <a:spcPct val="90000"/>
              </a:lnSpc>
            </a:pPr>
            <a:r>
              <a:rPr lang="en-US" b="1" dirty="0" smtClean="0"/>
              <a:t>Key Messages:</a:t>
            </a:r>
          </a:p>
          <a:p>
            <a:pPr lvl="1">
              <a:lnSpc>
                <a:spcPct val="90000"/>
              </a:lnSpc>
            </a:pPr>
            <a:r>
              <a:rPr lang="en-US" sz="2400" dirty="0" smtClean="0">
                <a:solidFill>
                  <a:srgbClr val="0033CC"/>
                </a:solidFill>
              </a:rPr>
              <a:t>Nurses in Pediatric units were consistently higher with their opportunity scores then nurses in Adult units across all the opportunities.</a:t>
            </a:r>
          </a:p>
          <a:p>
            <a:pPr lvl="1">
              <a:lnSpc>
                <a:spcPct val="90000"/>
              </a:lnSpc>
            </a:pPr>
            <a:r>
              <a:rPr lang="en-US" sz="2400" dirty="0" smtClean="0">
                <a:solidFill>
                  <a:srgbClr val="0033CC"/>
                </a:solidFill>
              </a:rPr>
              <a:t>Ensuring documentation is correct, clear &amp; complete are significant opportunities.</a:t>
            </a:r>
          </a:p>
          <a:p>
            <a:pPr lvl="1">
              <a:lnSpc>
                <a:spcPct val="90000"/>
              </a:lnSpc>
            </a:pPr>
            <a:r>
              <a:rPr lang="en-US" sz="2400" dirty="0" smtClean="0">
                <a:solidFill>
                  <a:srgbClr val="0033CC"/>
                </a:solidFill>
              </a:rPr>
              <a:t>Reducing the amount of time required to find information, record &amp; verify the documented records carries through most of the outcomes.  Significant opportunities here.</a:t>
            </a:r>
          </a:p>
          <a:p>
            <a:pPr lvl="1">
              <a:lnSpc>
                <a:spcPct val="90000"/>
              </a:lnSpc>
            </a:pPr>
            <a:r>
              <a:rPr lang="en-US" sz="2400" dirty="0" smtClean="0">
                <a:solidFill>
                  <a:srgbClr val="0033CC"/>
                </a:solidFill>
              </a:rPr>
              <a:t>Reducing time allocated for documentation allows nurses to devote more value-added time towards patient care is a highly significant opportunity.</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p:txBody>
          <a:bodyPr/>
          <a:lstStyle/>
          <a:p>
            <a:r>
              <a:rPr lang="en-US" smtClean="0"/>
              <a:t>Step 15:  Document the infusion</a:t>
            </a:r>
          </a:p>
        </p:txBody>
      </p:sp>
      <p:graphicFrame>
        <p:nvGraphicFramePr>
          <p:cNvPr id="72089" name="Group 409"/>
          <p:cNvGraphicFramePr>
            <a:graphicFrameLocks noGrp="1"/>
          </p:cNvGraphicFramePr>
          <p:nvPr/>
        </p:nvGraphicFramePr>
        <p:xfrm>
          <a:off x="304799" y="1295400"/>
          <a:ext cx="8364539" cy="5216526"/>
        </p:xfrm>
        <a:graphic>
          <a:graphicData uri="http://schemas.openxmlformats.org/drawingml/2006/table">
            <a:tbl>
              <a:tblPr/>
              <a:tblGrid>
                <a:gridCol w="4503467"/>
                <a:gridCol w="644069"/>
                <a:gridCol w="644070"/>
                <a:gridCol w="642397"/>
                <a:gridCol w="642397"/>
                <a:gridCol w="644069"/>
                <a:gridCol w="644070"/>
              </a:tblGrid>
              <a:tr h="27579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7579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1739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that all required documentation is recorded, e.g., to meet regulations, standards, protocols,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1739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spent documenting items that have already been documented, i.e., double documentation.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1739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documenting information incorrectly, e.g., the wrong values, names, times, drugs,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819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previously documented information cannot be read, e.g., due to poor handwriting, smudges, a different language.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1739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time that documenting the infusion therapy takes away from direct patient care.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8976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communication with the physician, e.g., changes that have been made to orders, status of titrations,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1739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communicate information about the infusion therapy to the next clinician that will care for the same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12.8</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439"/>
          <p:cNvSpPr>
            <a:spLocks noGrp="1" noChangeArrowheads="1"/>
          </p:cNvSpPr>
          <p:nvPr>
            <p:ph type="title"/>
          </p:nvPr>
        </p:nvSpPr>
        <p:spPr/>
        <p:txBody>
          <a:bodyPr/>
          <a:lstStyle/>
          <a:p>
            <a:r>
              <a:rPr lang="en-US" smtClean="0"/>
              <a:t>Step 15:  Document the infusion</a:t>
            </a:r>
          </a:p>
        </p:txBody>
      </p:sp>
      <p:graphicFrame>
        <p:nvGraphicFramePr>
          <p:cNvPr id="110599" name="Group 1031"/>
          <p:cNvGraphicFramePr>
            <a:graphicFrameLocks noGrp="1"/>
          </p:cNvGraphicFramePr>
          <p:nvPr/>
        </p:nvGraphicFramePr>
        <p:xfrm>
          <a:off x="304799" y="1371599"/>
          <a:ext cx="8145464" cy="5102227"/>
        </p:xfrm>
        <a:graphic>
          <a:graphicData uri="http://schemas.openxmlformats.org/drawingml/2006/table">
            <a:tbl>
              <a:tblPr/>
              <a:tblGrid>
                <a:gridCol w="4385762"/>
                <a:gridCol w="626060"/>
                <a:gridCol w="627730"/>
                <a:gridCol w="626061"/>
                <a:gridCol w="626060"/>
                <a:gridCol w="627730"/>
                <a:gridCol w="626061"/>
              </a:tblGrid>
              <a:tr h="33604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3604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75460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find the information needed to evaluate the patient's condition.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5310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amount of documentation that is not double documentation but has no bearing on the patient care.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81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determine if the orders for infusion therapy have been followed.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5310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frequency with which contradictory pieces of information about the infusion therapy are encountered.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0810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the assessment of the patient's condition.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753107">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the patient's reactions to the infusion therapy, e.g., benefits achieved, adverse reactions,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10.1</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bl>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64"/>
          <p:cNvSpPr>
            <a:spLocks noGrp="1" noChangeArrowheads="1"/>
          </p:cNvSpPr>
          <p:nvPr>
            <p:ph type="title"/>
          </p:nvPr>
        </p:nvSpPr>
        <p:spPr/>
        <p:txBody>
          <a:bodyPr/>
          <a:lstStyle/>
          <a:p>
            <a:r>
              <a:rPr lang="en-US" smtClean="0"/>
              <a:t>Step 15:  Document the infusion</a:t>
            </a:r>
          </a:p>
        </p:txBody>
      </p:sp>
      <p:graphicFrame>
        <p:nvGraphicFramePr>
          <p:cNvPr id="74745" name="Group 1017"/>
          <p:cNvGraphicFramePr>
            <a:graphicFrameLocks noGrp="1"/>
          </p:cNvGraphicFramePr>
          <p:nvPr/>
        </p:nvGraphicFramePr>
        <p:xfrm>
          <a:off x="381002" y="1371600"/>
          <a:ext cx="8250237" cy="4826002"/>
        </p:xfrm>
        <a:graphic>
          <a:graphicData uri="http://schemas.openxmlformats.org/drawingml/2006/table">
            <a:tbl>
              <a:tblPr/>
              <a:tblGrid>
                <a:gridCol w="4442179"/>
                <a:gridCol w="634118"/>
                <a:gridCol w="635792"/>
                <a:gridCol w="634119"/>
                <a:gridCol w="634118"/>
                <a:gridCol w="635792"/>
                <a:gridCol w="634119"/>
              </a:tblGrid>
              <a:tr h="35547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356980">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Outcomes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101972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information about the access site used for the infusion therapy, e.g., the materials used, the location used,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830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the attributes of infusion therapy, e.g., the schedule, the rate, the dosage,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680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the patient output during the infusion therapy, e.g., urine, wound drainage, vomit,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5010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the fluids/agents used in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74860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document the equipment/supplies used in the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3.5</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p:nvPr>
        </p:nvSpPr>
        <p:spPr/>
        <p:txBody>
          <a:bodyPr/>
          <a:lstStyle/>
          <a:p>
            <a:r>
              <a:rPr lang="en-US" smtClean="0"/>
              <a:t>Step 16:  Discontinue the infusion</a:t>
            </a:r>
          </a:p>
        </p:txBody>
      </p:sp>
      <p:sp>
        <p:nvSpPr>
          <p:cNvPr id="83970" name="Rectangle 3"/>
          <p:cNvSpPr>
            <a:spLocks noGrp="1" noChangeArrowheads="1"/>
          </p:cNvSpPr>
          <p:nvPr>
            <p:ph idx="1"/>
          </p:nvPr>
        </p:nvSpPr>
        <p:spPr/>
        <p:txBody>
          <a:bodyPr/>
          <a:lstStyle/>
          <a:p>
            <a:r>
              <a:rPr lang="en-US" b="1" smtClean="0"/>
              <a:t>Key Messages:</a:t>
            </a:r>
          </a:p>
          <a:p>
            <a:pPr lvl="1"/>
            <a:r>
              <a:rPr lang="en-US" smtClean="0">
                <a:solidFill>
                  <a:srgbClr val="0033CC"/>
                </a:solidFill>
              </a:rPr>
              <a:t>Nurses in Adult &amp; Pediatric units have consistent needs to:</a:t>
            </a:r>
          </a:p>
          <a:p>
            <a:pPr marL="1143000" lvl="2" indent="-228600"/>
            <a:r>
              <a:rPr lang="en-US" smtClean="0">
                <a:solidFill>
                  <a:srgbClr val="0033CC"/>
                </a:solidFill>
              </a:rPr>
              <a:t>Avoid discontinuing therapy at the wrong time</a:t>
            </a:r>
          </a:p>
          <a:p>
            <a:pPr marL="1143000" lvl="2" indent="-228600"/>
            <a:r>
              <a:rPr lang="en-US" smtClean="0">
                <a:solidFill>
                  <a:srgbClr val="0033CC"/>
                </a:solidFill>
              </a:rPr>
              <a:t>Avoid discontinuing the wrong therapy</a:t>
            </a:r>
          </a:p>
          <a:p>
            <a:pPr marL="1143000" lvl="2" indent="-228600"/>
            <a:r>
              <a:rPr lang="en-US" smtClean="0">
                <a:solidFill>
                  <a:srgbClr val="0033CC"/>
                </a:solidFill>
              </a:rPr>
              <a:t>Avoid continuing the therapy when no longer necessary</a:t>
            </a:r>
          </a:p>
          <a:p>
            <a:pPr marL="1143000" lvl="2" indent="-228600"/>
            <a:endParaRPr lang="en-US" smtClean="0">
              <a:solidFill>
                <a:srgbClr val="0033CC"/>
              </a:solidFill>
            </a:endParaRPr>
          </a:p>
          <a:p>
            <a:pPr lvl="1"/>
            <a:r>
              <a:rPr lang="en-US" smtClean="0">
                <a:solidFill>
                  <a:srgbClr val="0033CC"/>
                </a:solidFill>
              </a:rPr>
              <a:t>Minimizing infection is a significant opportunity (esp. for nurses in Adult units)</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p:txBody>
          <a:bodyPr/>
          <a:lstStyle/>
          <a:p>
            <a:r>
              <a:rPr lang="en-US" smtClean="0"/>
              <a:t>Step 16:  Discontinue the infusion</a:t>
            </a:r>
          </a:p>
        </p:txBody>
      </p:sp>
      <p:pic>
        <p:nvPicPr>
          <p:cNvPr id="84994" name="Picture 5"/>
          <p:cNvPicPr>
            <a:picLocks noChangeAspect="1" noChangeArrowheads="1"/>
          </p:cNvPicPr>
          <p:nvPr/>
        </p:nvPicPr>
        <p:blipFill>
          <a:blip r:embed="rId3" cstate="print"/>
          <a:srcRect/>
          <a:stretch>
            <a:fillRect/>
          </a:stretch>
        </p:blipFill>
        <p:spPr bwMode="auto">
          <a:xfrm>
            <a:off x="1066800" y="1316633"/>
            <a:ext cx="6910388" cy="50667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514"/>
          <p:cNvSpPr>
            <a:spLocks noGrp="1" noChangeArrowheads="1"/>
          </p:cNvSpPr>
          <p:nvPr>
            <p:ph type="title"/>
          </p:nvPr>
        </p:nvSpPr>
        <p:spPr/>
        <p:txBody>
          <a:bodyPr/>
          <a:lstStyle/>
          <a:p>
            <a:r>
              <a:rPr lang="en-US" smtClean="0"/>
              <a:t>Step 16:  Discontinue the infusion</a:t>
            </a:r>
          </a:p>
        </p:txBody>
      </p:sp>
      <p:graphicFrame>
        <p:nvGraphicFramePr>
          <p:cNvPr id="77303" name="Group 503"/>
          <p:cNvGraphicFramePr>
            <a:graphicFrameLocks noGrp="1"/>
          </p:cNvGraphicFramePr>
          <p:nvPr/>
        </p:nvGraphicFramePr>
        <p:xfrm>
          <a:off x="380999" y="1371599"/>
          <a:ext cx="8032751" cy="5016506"/>
        </p:xfrm>
        <a:graphic>
          <a:graphicData uri="http://schemas.openxmlformats.org/drawingml/2006/table">
            <a:tbl>
              <a:tblPr/>
              <a:tblGrid>
                <a:gridCol w="4325066"/>
                <a:gridCol w="617382"/>
                <a:gridCol w="619079"/>
                <a:gridCol w="617382"/>
                <a:gridCol w="617382"/>
                <a:gridCol w="619078"/>
                <a:gridCol w="617382"/>
              </a:tblGrid>
              <a:tr h="29807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9653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2687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Minimize the likelihood of introducing an infection in the patient when discontinuing an infusion.</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533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discontinuing the wrong fluid/agent.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533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the infusion therapy is continued unnecessarily.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687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discontinuing an infusion at the wrong time.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6528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fluids/agents will continue to flow after the infusion has been stopped.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62687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to stop an infusion that is no longer required.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2533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obtain an order to discontinue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6.0</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lstStyle/>
          <a:p>
            <a:r>
              <a:rPr lang="en-US" smtClean="0"/>
              <a:t>Step 17:  Dispose of supplies</a:t>
            </a:r>
          </a:p>
        </p:txBody>
      </p:sp>
      <p:sp>
        <p:nvSpPr>
          <p:cNvPr id="87042" name="Rectangle 3"/>
          <p:cNvSpPr>
            <a:spLocks noGrp="1" noChangeArrowheads="1"/>
          </p:cNvSpPr>
          <p:nvPr>
            <p:ph idx="1"/>
          </p:nvPr>
        </p:nvSpPr>
        <p:spPr/>
        <p:txBody>
          <a:bodyPr/>
          <a:lstStyle/>
          <a:p>
            <a:r>
              <a:rPr lang="en-US" b="1" smtClean="0"/>
              <a:t>Key Messages:</a:t>
            </a:r>
          </a:p>
          <a:p>
            <a:pPr lvl="1"/>
            <a:r>
              <a:rPr lang="en-US" smtClean="0">
                <a:solidFill>
                  <a:srgbClr val="0033CC"/>
                </a:solidFill>
              </a:rPr>
              <a:t>Nurses in Adult &amp; Pediatric units have consistent needs to:</a:t>
            </a:r>
          </a:p>
          <a:p>
            <a:pPr marL="1143000" lvl="2" indent="-228600"/>
            <a:r>
              <a:rPr lang="en-US" smtClean="0">
                <a:solidFill>
                  <a:srgbClr val="0033CC"/>
                </a:solidFill>
              </a:rPr>
              <a:t>Avoid risk of exposure to hazardous materials and avoid injury to all parties (practitioners and patients)</a:t>
            </a:r>
          </a:p>
          <a:p>
            <a:pPr marL="1143000" lvl="2" indent="-228600"/>
            <a:r>
              <a:rPr lang="en-US" smtClean="0">
                <a:solidFill>
                  <a:srgbClr val="0033CC"/>
                </a:solidFill>
              </a:rPr>
              <a:t>Reduce the potential for theft of controlled substances</a:t>
            </a:r>
          </a:p>
          <a:p>
            <a:pPr marL="1143000" lvl="2" indent="-228600"/>
            <a:r>
              <a:rPr lang="en-US" smtClean="0">
                <a:solidFill>
                  <a:srgbClr val="0033CC"/>
                </a:solidFill>
              </a:rPr>
              <a:t>Ensure disposal procedures are compliant with policies.</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p:nvPr>
        </p:nvSpPr>
        <p:spPr/>
        <p:txBody>
          <a:bodyPr/>
          <a:lstStyle/>
          <a:p>
            <a:r>
              <a:rPr lang="en-US" smtClean="0"/>
              <a:t>Step 17:  Dispose of supplies</a:t>
            </a:r>
          </a:p>
        </p:txBody>
      </p:sp>
      <p:pic>
        <p:nvPicPr>
          <p:cNvPr id="88066" name="Picture 5"/>
          <p:cNvPicPr>
            <a:picLocks noChangeAspect="1" noChangeArrowheads="1"/>
          </p:cNvPicPr>
          <p:nvPr/>
        </p:nvPicPr>
        <p:blipFill>
          <a:blip r:embed="rId3" cstate="print"/>
          <a:srcRect/>
          <a:stretch>
            <a:fillRect/>
          </a:stretch>
        </p:blipFill>
        <p:spPr bwMode="auto">
          <a:xfrm>
            <a:off x="990600" y="1302947"/>
            <a:ext cx="6915150" cy="50772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664"/>
          <p:cNvSpPr>
            <a:spLocks noGrp="1" noChangeArrowheads="1"/>
          </p:cNvSpPr>
          <p:nvPr>
            <p:ph type="title"/>
          </p:nvPr>
        </p:nvSpPr>
        <p:spPr/>
        <p:txBody>
          <a:bodyPr/>
          <a:lstStyle/>
          <a:p>
            <a:r>
              <a:rPr lang="en-US" smtClean="0"/>
              <a:t>Step 17:  Dispose of supplies</a:t>
            </a:r>
          </a:p>
        </p:txBody>
      </p:sp>
      <p:graphicFrame>
        <p:nvGraphicFramePr>
          <p:cNvPr id="79491" name="Group 643"/>
          <p:cNvGraphicFramePr>
            <a:graphicFrameLocks noGrp="1"/>
          </p:cNvGraphicFramePr>
          <p:nvPr/>
        </p:nvGraphicFramePr>
        <p:xfrm>
          <a:off x="381000" y="1371599"/>
          <a:ext cx="8205789" cy="5176308"/>
        </p:xfrm>
        <a:graphic>
          <a:graphicData uri="http://schemas.openxmlformats.org/drawingml/2006/table">
            <a:tbl>
              <a:tblPr/>
              <a:tblGrid>
                <a:gridCol w="4418245"/>
                <a:gridCol w="630702"/>
                <a:gridCol w="632367"/>
                <a:gridCol w="630703"/>
                <a:gridCol w="630702"/>
                <a:gridCol w="630703"/>
                <a:gridCol w="632367"/>
              </a:tblGrid>
              <a:tr h="23828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828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Outcomes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68718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Minimize the likelihood that a person is exposed to caustic agents during the disconnecting and disposal of them, e.g., chemotherapy fluids, </a:t>
                      </a:r>
                      <a:r>
                        <a:rPr kumimoji="0" lang="en-GB" sz="1000" b="0" i="0" u="none" strike="noStrike" cap="none" normalizeH="0" baseline="0" dirty="0" err="1" smtClean="0">
                          <a:ln>
                            <a:noFill/>
                          </a:ln>
                          <a:solidFill>
                            <a:schemeClr val="tx1"/>
                          </a:solidFill>
                          <a:effectLst/>
                          <a:latin typeface="Verdana" pitchFamily="34" charset="0"/>
                          <a:cs typeface="Arial" charset="0"/>
                        </a:rPr>
                        <a:t>biohazardous</a:t>
                      </a:r>
                      <a:r>
                        <a:rPr kumimoji="0" lang="en-GB" sz="1000" b="0" i="0" u="none" strike="noStrike" cap="none" normalizeH="0" baseline="0" dirty="0" smtClean="0">
                          <a:ln>
                            <a:noFill/>
                          </a:ln>
                          <a:solidFill>
                            <a:schemeClr val="tx1"/>
                          </a:solidFill>
                          <a:effectLst/>
                          <a:latin typeface="Verdana" pitchFamily="34" charset="0"/>
                          <a:cs typeface="Arial" charset="0"/>
                        </a:rPr>
                        <a:t> agents, etc.</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3806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a person is exposed to biohazardous materials during the disposal of infusion therapy 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3806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that controlled substances can be stolen from a patient's infusion therapy, e.g., narcotics, paralytics, ketamines,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3806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likelihood of a sharps injury during the disposal of infusion therapy supplies e.g., a needle puncture, a cut,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5197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Increase the likelihood of complying with the policies for disposal of 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5350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dispose of caustic agents, e.g., chemotherapy fluids,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48118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dispose of controlled substances, e.g., narcotics, paralytics, ketamines,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806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dispose of biohazard materials, e.g., to find the right place, find the necessary materials,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5197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Minimize the time required to dispose of general supplies, e.g., tubing, clamps, tape, bags,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2.2</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ChangeArrowheads="1"/>
          </p:cNvSpPr>
          <p:nvPr>
            <p:ph type="title"/>
          </p:nvPr>
        </p:nvSpPr>
        <p:spPr/>
        <p:txBody>
          <a:bodyPr/>
          <a:lstStyle/>
          <a:p>
            <a:r>
              <a:rPr lang="en-US" smtClean="0"/>
              <a:t>Related Jobs</a:t>
            </a:r>
          </a:p>
        </p:txBody>
      </p:sp>
      <p:sp>
        <p:nvSpPr>
          <p:cNvPr id="90114" name="Rectangle 3"/>
          <p:cNvSpPr>
            <a:spLocks noGrp="1" noChangeArrowheads="1"/>
          </p:cNvSpPr>
          <p:nvPr>
            <p:ph idx="1"/>
          </p:nvPr>
        </p:nvSpPr>
        <p:spPr/>
        <p:txBody>
          <a:bodyPr/>
          <a:lstStyle/>
          <a:p>
            <a:r>
              <a:rPr lang="en-US" b="1" smtClean="0"/>
              <a:t>Key Messages:</a:t>
            </a:r>
          </a:p>
          <a:p>
            <a:pPr lvl="1"/>
            <a:r>
              <a:rPr lang="en-US" smtClean="0">
                <a:solidFill>
                  <a:srgbClr val="0033CC"/>
                </a:solidFill>
              </a:rPr>
              <a:t>These are the other jobs the nurse is trying to get done while performing the job of infusing therapeutic agents</a:t>
            </a:r>
          </a:p>
          <a:p>
            <a:pPr lvl="1"/>
            <a:r>
              <a:rPr lang="en-US" smtClean="0">
                <a:solidFill>
                  <a:srgbClr val="0033CC"/>
                </a:solidFill>
              </a:rPr>
              <a:t>The nurses in the Adult units rated these opportunities higher then the nurses in Pediatric units</a:t>
            </a:r>
          </a:p>
          <a:p>
            <a:pPr lvl="1"/>
            <a:r>
              <a:rPr lang="en-US" smtClean="0">
                <a:solidFill>
                  <a:srgbClr val="0033CC"/>
                </a:solidFill>
              </a:rPr>
              <a:t>Of the 28 Social &amp; Emotional Jobs, 14 are opportunities</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txBox="1">
            <a:spLocks noGrp="1"/>
          </p:cNvSpPr>
          <p:nvPr/>
        </p:nvSpPr>
        <p:spPr bwMode="auto">
          <a:xfrm>
            <a:off x="152400" y="6500813"/>
            <a:ext cx="304800" cy="207962"/>
          </a:xfrm>
          <a:prstGeom prst="rect">
            <a:avLst/>
          </a:prstGeom>
          <a:noFill/>
          <a:ln>
            <a:miter lim="800000"/>
            <a:headEnd/>
            <a:tailEnd/>
          </a:ln>
        </p:spPr>
        <p:txBody>
          <a:bodyPr wrap="none" lIns="0" tIns="0" rIns="0" bIns="0" anchor="ctr"/>
          <a:lstStyle/>
          <a:p>
            <a:pPr algn="ctr" eaLnBrk="0" hangingPunct="0">
              <a:lnSpc>
                <a:spcPct val="90000"/>
              </a:lnSpc>
              <a:defRPr/>
            </a:pPr>
            <a:fld id="{C51D9E5A-4336-4843-80F5-CF58ADBEEA2E}" type="slidenum">
              <a:rPr lang="en-GB" sz="1100">
                <a:solidFill>
                  <a:schemeClr val="bg1"/>
                </a:solidFill>
                <a:latin typeface="+mn-lt"/>
              </a:rPr>
              <a:pPr algn="ctr" eaLnBrk="0" hangingPunct="0">
                <a:lnSpc>
                  <a:spcPct val="90000"/>
                </a:lnSpc>
                <a:defRPr/>
              </a:pPr>
              <a:t>72</a:t>
            </a:fld>
            <a:endParaRPr lang="en-GB" sz="1100">
              <a:solidFill>
                <a:schemeClr val="bg1"/>
              </a:solidFill>
              <a:latin typeface="+mn-lt"/>
            </a:endParaRPr>
          </a:p>
        </p:txBody>
      </p:sp>
      <p:sp>
        <p:nvSpPr>
          <p:cNvPr id="91138" name="Rectangle 2"/>
          <p:cNvSpPr>
            <a:spLocks noGrp="1" noChangeArrowheads="1"/>
          </p:cNvSpPr>
          <p:nvPr>
            <p:ph type="title"/>
          </p:nvPr>
        </p:nvSpPr>
        <p:spPr/>
        <p:txBody>
          <a:bodyPr/>
          <a:lstStyle/>
          <a:p>
            <a:pPr algn="ctr" eaLnBrk="1" hangingPunct="1"/>
            <a:r>
              <a:rPr lang="en-US" smtClean="0"/>
              <a:t>Adjacent Jobs Total Market</a:t>
            </a:r>
            <a:endParaRPr lang="en-US" sz="1600" b="1" smtClean="0">
              <a:solidFill>
                <a:srgbClr val="0F0F0F"/>
              </a:solidFill>
            </a:endParaRPr>
          </a:p>
        </p:txBody>
      </p:sp>
      <p:sp>
        <p:nvSpPr>
          <p:cNvPr id="91139" name="Rectangle 2"/>
          <p:cNvSpPr>
            <a:spLocks noChangeArrowheads="1"/>
          </p:cNvSpPr>
          <p:nvPr/>
        </p:nvSpPr>
        <p:spPr bwMode="auto">
          <a:xfrm>
            <a:off x="1066800" y="1058863"/>
            <a:ext cx="7620000" cy="1601787"/>
          </a:xfrm>
          <a:prstGeom prst="rect">
            <a:avLst/>
          </a:prstGeom>
          <a:noFill/>
          <a:ln w="9525">
            <a:noFill/>
            <a:miter lim="800000"/>
            <a:headEnd/>
            <a:tailEnd/>
          </a:ln>
        </p:spPr>
        <p:txBody>
          <a:bodyPr lIns="0" tIns="0" rIns="0" bIns="0"/>
          <a:lstStyle/>
          <a:p>
            <a:pPr algn="ctr">
              <a:lnSpc>
                <a:spcPct val="90000"/>
              </a:lnSpc>
            </a:pPr>
            <a:endParaRPr lang="en-US" sz="3000">
              <a:solidFill>
                <a:schemeClr val="tx2"/>
              </a:solidFill>
              <a:latin typeface="Arial" charset="0"/>
            </a:endParaRPr>
          </a:p>
        </p:txBody>
      </p:sp>
      <p:graphicFrame>
        <p:nvGraphicFramePr>
          <p:cNvPr id="99128" name="Group 2872"/>
          <p:cNvGraphicFramePr>
            <a:graphicFrameLocks noGrp="1"/>
          </p:cNvGraphicFramePr>
          <p:nvPr/>
        </p:nvGraphicFramePr>
        <p:xfrm>
          <a:off x="152400" y="1295395"/>
          <a:ext cx="8839198" cy="5425440"/>
        </p:xfrm>
        <a:graphic>
          <a:graphicData uri="http://schemas.openxmlformats.org/drawingml/2006/table">
            <a:tbl>
              <a:tblPr/>
              <a:tblGrid>
                <a:gridCol w="3203690"/>
                <a:gridCol w="940118"/>
                <a:gridCol w="938385"/>
                <a:gridCol w="938384"/>
                <a:gridCol w="940118"/>
                <a:gridCol w="938385"/>
                <a:gridCol w="940118"/>
              </a:tblGrid>
              <a:tr h="23973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Times"/>
                          <a:cs typeface="Arial" charset="0"/>
                        </a:rPr>
                        <a:t> </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39731">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Q2 - Adjacent Jobs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23973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Address urgent patient care needs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23973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Ensure the comfort of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23973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Learn about new medications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Monitor other procedures being performed on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12.0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Learn about a medicine-related topic, e.g., a protocol</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Inform other medical personnel about the patient's status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Educate the patient/family about the procedure being performed</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Educate patient/family members on care post discharge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Document patient care not related to infusion therapy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Field questions from patients/patient-caregivers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23973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Monitor other patients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11.0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239731">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Coach/educate the patient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r>
              <a:tr h="53939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Prepare the patient for other exams/procedures that will happen while on the current infusion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95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Provide emotional support to the patient/family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9.7</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txBox="1">
            <a:spLocks noGrp="1"/>
          </p:cNvSpPr>
          <p:nvPr/>
        </p:nvSpPr>
        <p:spPr bwMode="auto">
          <a:xfrm>
            <a:off x="152400" y="6500813"/>
            <a:ext cx="304800" cy="207962"/>
          </a:xfrm>
          <a:prstGeom prst="rect">
            <a:avLst/>
          </a:prstGeom>
          <a:noFill/>
          <a:ln>
            <a:miter lim="800000"/>
            <a:headEnd/>
            <a:tailEnd/>
          </a:ln>
        </p:spPr>
        <p:txBody>
          <a:bodyPr wrap="none" lIns="0" tIns="0" rIns="0" bIns="0" anchor="ctr"/>
          <a:lstStyle/>
          <a:p>
            <a:pPr algn="ctr" eaLnBrk="0" hangingPunct="0">
              <a:lnSpc>
                <a:spcPct val="90000"/>
              </a:lnSpc>
              <a:defRPr/>
            </a:pPr>
            <a:fld id="{F69B23DE-5F88-41A3-BF99-349EE4AD3D6E}" type="slidenum">
              <a:rPr lang="en-GB" sz="1100">
                <a:solidFill>
                  <a:schemeClr val="bg1"/>
                </a:solidFill>
                <a:latin typeface="+mn-lt"/>
              </a:rPr>
              <a:pPr algn="ctr" eaLnBrk="0" hangingPunct="0">
                <a:lnSpc>
                  <a:spcPct val="90000"/>
                </a:lnSpc>
                <a:defRPr/>
              </a:pPr>
              <a:t>73</a:t>
            </a:fld>
            <a:endParaRPr lang="en-GB" sz="1100">
              <a:solidFill>
                <a:schemeClr val="bg1"/>
              </a:solidFill>
              <a:latin typeface="+mn-lt"/>
            </a:endParaRPr>
          </a:p>
        </p:txBody>
      </p:sp>
      <p:sp>
        <p:nvSpPr>
          <p:cNvPr id="92162" name="Rectangle 2"/>
          <p:cNvSpPr>
            <a:spLocks noGrp="1" noChangeArrowheads="1"/>
          </p:cNvSpPr>
          <p:nvPr>
            <p:ph type="title"/>
          </p:nvPr>
        </p:nvSpPr>
        <p:spPr/>
        <p:txBody>
          <a:bodyPr/>
          <a:lstStyle/>
          <a:p>
            <a:pPr algn="ctr" eaLnBrk="1" hangingPunct="1"/>
            <a:r>
              <a:rPr lang="en-US" sz="2800" smtClean="0"/>
              <a:t>Adjacent Jobs Total Market</a:t>
            </a:r>
            <a:br>
              <a:rPr lang="en-US" sz="2800" smtClean="0"/>
            </a:br>
            <a:endParaRPr lang="en-US" sz="1400" b="1" smtClean="0">
              <a:solidFill>
                <a:srgbClr val="0F0F0F"/>
              </a:solidFill>
            </a:endParaRPr>
          </a:p>
        </p:txBody>
      </p:sp>
      <p:sp>
        <p:nvSpPr>
          <p:cNvPr id="92163" name="Rectangle 2"/>
          <p:cNvSpPr>
            <a:spLocks noChangeArrowheads="1"/>
          </p:cNvSpPr>
          <p:nvPr/>
        </p:nvSpPr>
        <p:spPr bwMode="auto">
          <a:xfrm>
            <a:off x="1066800" y="1058863"/>
            <a:ext cx="7620000" cy="1601787"/>
          </a:xfrm>
          <a:prstGeom prst="rect">
            <a:avLst/>
          </a:prstGeom>
          <a:noFill/>
          <a:ln w="9525">
            <a:noFill/>
            <a:miter lim="800000"/>
            <a:headEnd/>
            <a:tailEnd/>
          </a:ln>
        </p:spPr>
        <p:txBody>
          <a:bodyPr lIns="0" tIns="0" rIns="0" bIns="0"/>
          <a:lstStyle/>
          <a:p>
            <a:pPr algn="ctr">
              <a:lnSpc>
                <a:spcPct val="90000"/>
              </a:lnSpc>
            </a:pPr>
            <a:endParaRPr lang="en-US" sz="3000">
              <a:solidFill>
                <a:schemeClr val="tx2"/>
              </a:solidFill>
              <a:latin typeface="Arial" charset="0"/>
            </a:endParaRPr>
          </a:p>
        </p:txBody>
      </p:sp>
      <p:graphicFrame>
        <p:nvGraphicFramePr>
          <p:cNvPr id="99787" name="Group 1483"/>
          <p:cNvGraphicFramePr>
            <a:graphicFrameLocks noGrp="1"/>
          </p:cNvGraphicFramePr>
          <p:nvPr/>
        </p:nvGraphicFramePr>
        <p:xfrm>
          <a:off x="304802" y="1295399"/>
          <a:ext cx="8377237" cy="5013448"/>
        </p:xfrm>
        <a:graphic>
          <a:graphicData uri="http://schemas.openxmlformats.org/drawingml/2006/table">
            <a:tbl>
              <a:tblPr/>
              <a:tblGrid>
                <a:gridCol w="3035544"/>
                <a:gridCol w="890559"/>
                <a:gridCol w="890559"/>
                <a:gridCol w="888898"/>
                <a:gridCol w="890559"/>
                <a:gridCol w="890559"/>
                <a:gridCol w="890559"/>
              </a:tblGrid>
              <a:tr h="221449">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Times"/>
                          <a:cs typeface="Arial" charset="0"/>
                        </a:rPr>
                        <a:t> </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Adult (N=269)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Pediatric (N=35)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hMerge="1">
                  <a:txBody>
                    <a:bodyPr/>
                    <a:lstStyle/>
                    <a:p>
                      <a:endParaRPr lang="en-US"/>
                    </a:p>
                  </a:txBody>
                  <a:tcPr/>
                </a:tc>
                <a:tc hMerge="1">
                  <a:txBody>
                    <a:bodyPr/>
                    <a:lstStyle/>
                    <a:p>
                      <a:endParaRPr lang="en-US"/>
                    </a:p>
                  </a:txBody>
                  <a:tcPr/>
                </a:tc>
              </a:tr>
              <a:tr h="221449">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dirty="0" smtClean="0">
                          <a:ln>
                            <a:noFill/>
                          </a:ln>
                          <a:solidFill>
                            <a:schemeClr val="tx1"/>
                          </a:solidFill>
                          <a:effectLst/>
                          <a:latin typeface="Verdana" pitchFamily="34" charset="0"/>
                          <a:cs typeface="Arial" charset="0"/>
                        </a:rPr>
                        <a:t>Q2 - Adjacent Jobs</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I</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1" i="0" u="none" strike="noStrike" cap="none" normalizeH="0" baseline="0" smtClean="0">
                          <a:ln>
                            <a:noFill/>
                          </a:ln>
                          <a:solidFill>
                            <a:schemeClr val="tx1"/>
                          </a:solidFill>
                          <a:effectLst/>
                          <a:latin typeface="Verdana" pitchFamily="34" charset="0"/>
                          <a:cs typeface="Arial" charset="0"/>
                        </a:rPr>
                        <a:t>O</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36003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Give other medications; e.g., oral, anal</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10.3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14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Assist the patient with mobility/ambulation</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Educate colleagues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9.3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003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Ensure adequate stock of infusion supplies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8.4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1462">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Transport the patient to other hospital departments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003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Provide feedback regarding infusion equipment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Plan patient discharge</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0.8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003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Field questions from colleagues about other patients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0046">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Prepare the equipment for the next use, e.g., maintain it, test it, replenish supplies/power, etc.</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7.0</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Clean the infusion equipment</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Field phone calls and handle pages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3.7</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Help get supplies for other nurses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6.2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3.1</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1.3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Monitor pages</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4.5</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5.8</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3.6</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4.3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21449">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Track infusion system inventory</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3.4</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2.9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3.9</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3.3</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smtClean="0">
                          <a:ln>
                            <a:noFill/>
                          </a:ln>
                          <a:solidFill>
                            <a:schemeClr val="tx1"/>
                          </a:solidFill>
                          <a:effectLst/>
                          <a:latin typeface="Verdana" pitchFamily="34" charset="0"/>
                          <a:cs typeface="Arial" charset="0"/>
                        </a:rPr>
                        <a:t>5.2</a:t>
                      </a:r>
                      <a:endParaRPr kumimoji="0" lang="en-GB" sz="2400" b="0" i="0" u="none" strike="noStrike" cap="none" normalizeH="0" baseline="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GB" sz="1000" b="0" i="0" u="none" strike="noStrike" cap="none" normalizeH="0" baseline="0" dirty="0" smtClean="0">
                          <a:ln>
                            <a:noFill/>
                          </a:ln>
                          <a:solidFill>
                            <a:schemeClr val="tx1"/>
                          </a:solidFill>
                          <a:effectLst/>
                          <a:latin typeface="Verdana" pitchFamily="34" charset="0"/>
                          <a:cs typeface="Arial" charset="0"/>
                        </a:rPr>
                        <a:t>3.3</a:t>
                      </a:r>
                      <a:endParaRPr kumimoji="0" lang="en-GB" sz="2400" b="0" i="0" u="none" strike="noStrike" cap="none" normalizeH="0" baseline="0" dirty="0" smtClean="0">
                        <a:ln>
                          <a:noFill/>
                        </a:ln>
                        <a:solidFill>
                          <a:schemeClr val="tx1"/>
                        </a:solidFill>
                        <a:effectLst/>
                        <a:latin typeface="Time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p:txBody>
          <a:bodyPr/>
          <a:lstStyle/>
          <a:p>
            <a:r>
              <a:rPr lang="en-US" smtClean="0"/>
              <a:t>Social &amp; Emotional Jobs</a:t>
            </a:r>
          </a:p>
        </p:txBody>
      </p:sp>
      <p:sp>
        <p:nvSpPr>
          <p:cNvPr id="93186" name="Rectangle 3"/>
          <p:cNvSpPr>
            <a:spLocks noGrp="1" noChangeArrowheads="1"/>
          </p:cNvSpPr>
          <p:nvPr>
            <p:ph idx="1"/>
          </p:nvPr>
        </p:nvSpPr>
        <p:spPr/>
        <p:txBody>
          <a:bodyPr/>
          <a:lstStyle/>
          <a:p>
            <a:r>
              <a:rPr lang="en-US" b="1" smtClean="0"/>
              <a:t>Key Messages:</a:t>
            </a:r>
          </a:p>
          <a:p>
            <a:pPr lvl="1"/>
            <a:r>
              <a:rPr lang="en-US" smtClean="0">
                <a:solidFill>
                  <a:srgbClr val="0033CC"/>
                </a:solidFill>
              </a:rPr>
              <a:t>Of the 21 Social &amp; Emotional Jobs, 20 are important opportunities (over half of them are extreme)</a:t>
            </a:r>
            <a:br>
              <a:rPr lang="en-US" smtClean="0">
                <a:solidFill>
                  <a:srgbClr val="0033CC"/>
                </a:solidFill>
              </a:rPr>
            </a:br>
            <a:endParaRPr lang="en-US" smtClean="0">
              <a:solidFill>
                <a:srgbClr val="0033CC"/>
              </a:solidFill>
            </a:endParaRPr>
          </a:p>
          <a:p>
            <a:pPr lvl="1"/>
            <a:r>
              <a:rPr lang="en-US" smtClean="0">
                <a:solidFill>
                  <a:srgbClr val="0033CC"/>
                </a:solidFill>
              </a:rPr>
              <a:t>Notes:</a:t>
            </a:r>
          </a:p>
          <a:p>
            <a:pPr marL="1143000" lvl="2" indent="-228600"/>
            <a:r>
              <a:rPr lang="en-US" smtClean="0">
                <a:solidFill>
                  <a:srgbClr val="0033CC"/>
                </a:solidFill>
              </a:rPr>
              <a:t>Importance is rated for Social &amp; Emotional Jobs </a:t>
            </a:r>
          </a:p>
          <a:p>
            <a:pPr marL="1143000" lvl="2" indent="-228600"/>
            <a:r>
              <a:rPr lang="en-US" smtClean="0">
                <a:solidFill>
                  <a:srgbClr val="0033CC"/>
                </a:solidFill>
              </a:rPr>
              <a:t>Satisfaction is not rated</a:t>
            </a:r>
          </a:p>
          <a:p>
            <a:pPr marL="1143000" lvl="2" indent="-228600"/>
            <a:r>
              <a:rPr lang="en-US" smtClean="0">
                <a:solidFill>
                  <a:srgbClr val="0033CC"/>
                </a:solidFill>
              </a:rPr>
              <a:t>The importance was the same for both nurses in Adult &amp; Pediatric units in the hospital</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txBox="1">
            <a:spLocks noGrp="1"/>
          </p:cNvSpPr>
          <p:nvPr/>
        </p:nvSpPr>
        <p:spPr bwMode="auto">
          <a:xfrm>
            <a:off x="152400" y="6500813"/>
            <a:ext cx="304800" cy="207962"/>
          </a:xfrm>
          <a:prstGeom prst="rect">
            <a:avLst/>
          </a:prstGeom>
          <a:noFill/>
          <a:ln>
            <a:miter lim="800000"/>
            <a:headEnd/>
            <a:tailEnd/>
          </a:ln>
        </p:spPr>
        <p:txBody>
          <a:bodyPr wrap="none" lIns="0" tIns="0" rIns="0" bIns="0" anchor="ctr"/>
          <a:lstStyle/>
          <a:p>
            <a:pPr algn="ctr" eaLnBrk="0" hangingPunct="0">
              <a:lnSpc>
                <a:spcPct val="90000"/>
              </a:lnSpc>
              <a:defRPr/>
            </a:pPr>
            <a:fld id="{EB932774-E4BD-49A9-9037-26C8DBEF1BF9}" type="slidenum">
              <a:rPr lang="en-GB" sz="1100">
                <a:solidFill>
                  <a:schemeClr val="bg1"/>
                </a:solidFill>
                <a:latin typeface="+mn-lt"/>
              </a:rPr>
              <a:pPr algn="ctr" eaLnBrk="0" hangingPunct="0">
                <a:lnSpc>
                  <a:spcPct val="90000"/>
                </a:lnSpc>
                <a:defRPr/>
              </a:pPr>
              <a:t>75</a:t>
            </a:fld>
            <a:endParaRPr lang="en-GB" sz="1100">
              <a:solidFill>
                <a:schemeClr val="bg1"/>
              </a:solidFill>
              <a:latin typeface="+mn-lt"/>
            </a:endParaRPr>
          </a:p>
        </p:txBody>
      </p:sp>
      <p:sp>
        <p:nvSpPr>
          <p:cNvPr id="94210" name="Rectangle 2"/>
          <p:cNvSpPr>
            <a:spLocks noGrp="1" noChangeArrowheads="1"/>
          </p:cNvSpPr>
          <p:nvPr>
            <p:ph type="title"/>
          </p:nvPr>
        </p:nvSpPr>
        <p:spPr/>
        <p:txBody>
          <a:bodyPr/>
          <a:lstStyle/>
          <a:p>
            <a:pPr algn="ctr" eaLnBrk="1" hangingPunct="1"/>
            <a:r>
              <a:rPr lang="en-US" sz="2400" dirty="0" smtClean="0"/>
              <a:t>Social &amp; Emotional Jobs Total </a:t>
            </a:r>
            <a:r>
              <a:rPr lang="en-US" sz="2400" dirty="0" smtClean="0"/>
              <a:t>Market</a:t>
            </a:r>
            <a:endParaRPr lang="en-US" sz="1600" dirty="0" smtClean="0"/>
          </a:p>
        </p:txBody>
      </p:sp>
      <p:sp>
        <p:nvSpPr>
          <p:cNvPr id="94211" name="Rectangle 3"/>
          <p:cNvSpPr>
            <a:spLocks noGrp="1" noChangeArrowheads="1"/>
          </p:cNvSpPr>
          <p:nvPr>
            <p:ph idx="1"/>
          </p:nvPr>
        </p:nvSpPr>
        <p:spPr/>
        <p:txBody>
          <a:bodyPr/>
          <a:lstStyle/>
          <a:p>
            <a:pPr marL="457200" indent="-457200">
              <a:buFont typeface="Times"/>
              <a:buNone/>
            </a:pPr>
            <a:endParaRPr lang="en-US" sz="400" smtClean="0"/>
          </a:p>
          <a:p>
            <a:pPr marL="457200" indent="-457200" eaLnBrk="1" hangingPunct="1">
              <a:buFont typeface="Times"/>
              <a:buAutoNum type="arabicPeriod"/>
            </a:pPr>
            <a:endParaRPr lang="en-US" sz="400" smtClean="0"/>
          </a:p>
        </p:txBody>
      </p:sp>
      <p:graphicFrame>
        <p:nvGraphicFramePr>
          <p:cNvPr id="101901" name="Group 1549"/>
          <p:cNvGraphicFramePr>
            <a:graphicFrameLocks noGrp="1"/>
          </p:cNvGraphicFramePr>
          <p:nvPr/>
        </p:nvGraphicFramePr>
        <p:xfrm>
          <a:off x="4330700" y="3232150"/>
          <a:ext cx="482600" cy="396240"/>
        </p:xfrm>
        <a:graphic>
          <a:graphicData uri="http://schemas.openxmlformats.org/drawingml/2006/table">
            <a:tbl>
              <a:tblPr/>
              <a:tblGrid>
                <a:gridCol w="482600"/>
              </a:tblGrid>
              <a:tr h="16192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Times" pitchFamily="18" charset="0"/>
                        <a:buNone/>
                        <a:tabLst/>
                      </a:pPr>
                      <a:endParaRPr kumimoji="0" lang="en-US" sz="2000" b="0" i="0" u="none" strike="noStrike" cap="none" normalizeH="0" baseline="0" smtClean="0">
                        <a:ln>
                          <a:noFill/>
                        </a:ln>
                        <a:solidFill>
                          <a:schemeClr val="tx1"/>
                        </a:solidFill>
                        <a:effectLst/>
                        <a:latin typeface="Arial" charset="0"/>
                      </a:endParaRPr>
                    </a:p>
                  </a:txBody>
                  <a:tcPr anchor="b" horzOverflow="overflow">
                    <a:lnL cap="flat">
                      <a:noFill/>
                    </a:lnL>
                    <a:lnR cap="flat">
                      <a:noFill/>
                    </a:lnR>
                    <a:lnT cap="flat">
                      <a:noFill/>
                    </a:lnT>
                    <a:lnB cap="flat">
                      <a:noFill/>
                    </a:lnB>
                    <a:lnTlToBr>
                      <a:noFill/>
                    </a:lnTlToBr>
                    <a:lnBlToTr>
                      <a:noFill/>
                    </a:lnBlToTr>
                    <a:noFill/>
                  </a:tcPr>
                </a:tc>
              </a:tr>
            </a:tbl>
          </a:graphicData>
        </a:graphic>
      </p:graphicFrame>
      <p:graphicFrame>
        <p:nvGraphicFramePr>
          <p:cNvPr id="101911" name="Group 1559"/>
          <p:cNvGraphicFramePr>
            <a:graphicFrameLocks noGrp="1"/>
          </p:cNvGraphicFramePr>
          <p:nvPr/>
        </p:nvGraphicFramePr>
        <p:xfrm>
          <a:off x="4330700" y="3232150"/>
          <a:ext cx="482600" cy="396240"/>
        </p:xfrm>
        <a:graphic>
          <a:graphicData uri="http://schemas.openxmlformats.org/drawingml/2006/table">
            <a:tbl>
              <a:tblPr/>
              <a:tblGrid>
                <a:gridCol w="482600"/>
              </a:tblGrid>
              <a:tr h="16192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Times" pitchFamily="18" charset="0"/>
                        <a:buNone/>
                        <a:tabLst/>
                      </a:pPr>
                      <a:endParaRPr kumimoji="0" lang="en-US" sz="2000" b="0" i="0" u="none" strike="noStrike" cap="none" normalizeH="0" baseline="0" smtClean="0">
                        <a:ln>
                          <a:noFill/>
                        </a:ln>
                        <a:solidFill>
                          <a:schemeClr val="tx1"/>
                        </a:solidFill>
                        <a:effectLst/>
                        <a:latin typeface="Arial" charset="0"/>
                      </a:endParaRPr>
                    </a:p>
                  </a:txBody>
                  <a:tcPr anchor="b" horzOverflow="overflow">
                    <a:lnL cap="flat">
                      <a:noFill/>
                    </a:lnL>
                    <a:lnR cap="flat">
                      <a:noFill/>
                    </a:lnR>
                    <a:lnT cap="flat">
                      <a:noFill/>
                    </a:lnT>
                    <a:lnB cap="flat">
                      <a:noFill/>
                    </a:lnB>
                    <a:lnTlToBr>
                      <a:noFill/>
                    </a:lnTlToBr>
                    <a:lnBlToTr>
                      <a:noFill/>
                    </a:lnBlToTr>
                    <a:noFill/>
                  </a:tcPr>
                </a:tc>
              </a:tr>
            </a:tbl>
          </a:graphicData>
        </a:graphic>
      </p:graphicFrame>
      <p:graphicFrame>
        <p:nvGraphicFramePr>
          <p:cNvPr id="110529" name="Group 5057"/>
          <p:cNvGraphicFramePr>
            <a:graphicFrameLocks noGrp="1"/>
          </p:cNvGraphicFramePr>
          <p:nvPr/>
        </p:nvGraphicFramePr>
        <p:xfrm>
          <a:off x="304800" y="1143000"/>
          <a:ext cx="8620125" cy="5438218"/>
        </p:xfrm>
        <a:graphic>
          <a:graphicData uri="http://schemas.openxmlformats.org/drawingml/2006/table">
            <a:tbl>
              <a:tblPr/>
              <a:tblGrid>
                <a:gridCol w="4341989"/>
                <a:gridCol w="1609762"/>
                <a:gridCol w="1929026"/>
                <a:gridCol w="739348"/>
              </a:tblGrid>
              <a:tr h="262460">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rgbClr val="0F0F0F"/>
                          </a:solidFill>
                          <a:effectLst/>
                          <a:latin typeface="Times" pitchFamily="18" charset="0"/>
                        </a:rPr>
                        <a:t>Social &amp; Emotional Jobs</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rgbClr val="0F0F0F"/>
                          </a:solidFill>
                          <a:effectLst/>
                          <a:latin typeface="Times" pitchFamily="18" charset="0"/>
                        </a:rPr>
                        <a:t>Importance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rgbClr val="0F0F0F"/>
                          </a:solidFill>
                          <a:effectLst/>
                          <a:latin typeface="Times" pitchFamily="18" charset="0"/>
                        </a:rPr>
                        <a:t>Opportunity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200" b="1" i="0" u="none" strike="noStrike" cap="none" normalizeH="0" baseline="0" smtClean="0">
                          <a:ln>
                            <a:noFill/>
                          </a:ln>
                          <a:solidFill>
                            <a:srgbClr val="0F0F0F"/>
                          </a:solidFill>
                          <a:effectLst/>
                          <a:latin typeface="Times" pitchFamily="18" charset="0"/>
                        </a:rPr>
                        <a:t>Rank</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6B154"/>
                    </a:solidFill>
                  </a:tcPr>
                </a:tc>
              </a:tr>
              <a:tr h="26165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trustworthy</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9.8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19.6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279">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protecting the patient's safety</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9.4</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18.8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2</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competent</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9.3</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18.6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3</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knowledgeable</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9.0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18.0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4</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caring</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8.9</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17.8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5</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disorganized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17.6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sincere</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8.7</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17.4</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collaborative</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8.5</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17.0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up to date</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8.5</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17.0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9</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frustrated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8.0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16.0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a sense of mistrust</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7.9</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15.8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11</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inadequate</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7.7</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15.4</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12</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stressed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7.3</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14.6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13</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irritated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7.2</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14.4</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14</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Be perceived as happy in my job</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7.1</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14.2</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15</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Feel a sense of accomplishment</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14.0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stupid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14.0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17</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uncomfortable/insecure</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6.9</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13.8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18</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Feel appreciated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5.6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11.2</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19</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feeling embarrassed</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5.5</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11.0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CE2A9"/>
                    </a:solid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20</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3298">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Avoid being perceived as a servant</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3.6</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smtClean="0">
                          <a:ln>
                            <a:noFill/>
                          </a:ln>
                          <a:solidFill>
                            <a:srgbClr val="0F0F0F"/>
                          </a:solidFill>
                          <a:effectLst/>
                          <a:latin typeface="Verdana" pitchFamily="34" charset="0"/>
                          <a:cs typeface="Arial" charset="0"/>
                        </a:rPr>
                        <a:t>7.2</a:t>
                      </a:r>
                      <a:endParaRPr kumimoji="0" lang="en-GB" sz="2400" b="0" i="0" u="none" strike="noStrike" cap="none" normalizeH="0" baseline="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GB" sz="1000" b="0" i="0" u="none" strike="noStrike" cap="none" normalizeH="0" baseline="0" dirty="0" smtClean="0">
                          <a:ln>
                            <a:noFill/>
                          </a:ln>
                          <a:solidFill>
                            <a:srgbClr val="0F0F0F"/>
                          </a:solidFill>
                          <a:effectLst/>
                          <a:latin typeface="Verdana" pitchFamily="34" charset="0"/>
                          <a:cs typeface="Arial" charset="0"/>
                        </a:rPr>
                        <a:t>21</a:t>
                      </a:r>
                      <a:endParaRPr kumimoji="0" lang="en-GB" sz="2400" b="0" i="0" u="none" strike="noStrike" cap="none" normalizeH="0" baseline="0" dirty="0" smtClean="0">
                        <a:ln>
                          <a:noFill/>
                        </a:ln>
                        <a:solidFill>
                          <a:srgbClr val="0F0F0F"/>
                        </a:solidFill>
                        <a:effectLst/>
                        <a:latin typeface="Times"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62000" y="2209800"/>
            <a:ext cx="7772400" cy="1470025"/>
          </a:xfrm>
        </p:spPr>
        <p:txBody>
          <a:bodyPr/>
          <a:lstStyle/>
          <a:p>
            <a:r>
              <a:rPr lang="en-US" b="1" dirty="0" smtClean="0"/>
              <a:t>Project </a:t>
            </a:r>
            <a:r>
              <a:rPr lang="en-US" b="1" dirty="0" smtClean="0"/>
              <a:t> Methodology</a:t>
            </a:r>
            <a:endParaRPr lang="en-US" b="1" dirty="0"/>
          </a:p>
        </p:txBody>
      </p:sp>
      <p:sp>
        <p:nvSpPr>
          <p:cNvPr id="5" name="Subtitle 4"/>
          <p:cNvSpPr>
            <a:spLocks noGrp="1"/>
          </p:cNvSpPr>
          <p:nvPr>
            <p:ph type="subTitle" idx="1"/>
          </p:nvPr>
        </p:nvSpPr>
        <p:spPr/>
        <p:txBody>
          <a:bodyPr/>
          <a:lstStyle/>
          <a:p>
            <a:r>
              <a:rPr lang="en-US" dirty="0" smtClean="0"/>
              <a:t>Overview</a:t>
            </a:r>
            <a:endParaRPr lang="en-US" dirty="0"/>
          </a:p>
        </p:txBody>
      </p:sp>
      <p:sp>
        <p:nvSpPr>
          <p:cNvPr id="2" name="Slide Number Placeholder 1"/>
          <p:cNvSpPr>
            <a:spLocks noGrp="1"/>
          </p:cNvSpPr>
          <p:nvPr>
            <p:ph type="sldNum" sz="quarter" idx="12"/>
          </p:nvPr>
        </p:nvSpPr>
        <p:spPr/>
        <p:txBody>
          <a:bodyPr/>
          <a:lstStyle/>
          <a:p>
            <a:pPr>
              <a:defRPr/>
            </a:pPr>
            <a:fld id="{1C275BC4-3E8D-4536-AC7F-3B31C1E880D7}" type="slidenum">
              <a:rPr lang="en-US" smtClean="0"/>
              <a:pPr>
                <a:defRPr/>
              </a:pPr>
              <a:t>76</a:t>
            </a:fld>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Key Milestones</a:t>
            </a:r>
            <a:endParaRPr lang="en-US" kern="1200" dirty="0">
              <a:latin typeface="+mj-lt"/>
              <a:ea typeface="+mj-ea"/>
              <a:cs typeface="+mj-cs"/>
            </a:endParaRPr>
          </a:p>
        </p:txBody>
      </p:sp>
      <p:sp>
        <p:nvSpPr>
          <p:cNvPr id="15362" name="Rectangle 3"/>
          <p:cNvSpPr>
            <a:spLocks noGrp="1" noChangeArrowheads="1"/>
          </p:cNvSpPr>
          <p:nvPr>
            <p:ph idx="1"/>
          </p:nvPr>
        </p:nvSpPr>
        <p:spPr/>
        <p:txBody>
          <a:bodyPr/>
          <a:lstStyle/>
          <a:p>
            <a:pPr lvl="0"/>
            <a:r>
              <a:rPr lang="en-US" sz="2400" dirty="0" smtClean="0"/>
              <a:t>Define domain model </a:t>
            </a:r>
          </a:p>
          <a:p>
            <a:pPr lvl="0"/>
            <a:r>
              <a:rPr lang="en-US" sz="2400" dirty="0" smtClean="0"/>
              <a:t>Define customer focus methodology</a:t>
            </a:r>
          </a:p>
          <a:p>
            <a:pPr lvl="0"/>
            <a:r>
              <a:rPr lang="en-US" sz="2400" dirty="0" smtClean="0"/>
              <a:t>Define action plan to capture unmet needs</a:t>
            </a:r>
          </a:p>
          <a:p>
            <a:pPr lvl="0"/>
            <a:r>
              <a:rPr lang="en-US" sz="2400" dirty="0" smtClean="0"/>
              <a:t>Begin interviews with key stakeholders</a:t>
            </a:r>
          </a:p>
          <a:p>
            <a:pPr lvl="0"/>
            <a:r>
              <a:rPr lang="en-US" sz="2400" dirty="0" smtClean="0"/>
              <a:t>Complete qualitative analysis</a:t>
            </a:r>
          </a:p>
          <a:p>
            <a:pPr lvl="0"/>
            <a:r>
              <a:rPr lang="en-US" sz="2400" dirty="0" smtClean="0"/>
              <a:t>Draft survey for quantitative analysis</a:t>
            </a:r>
          </a:p>
          <a:p>
            <a:pPr lvl="0"/>
            <a:r>
              <a:rPr lang="en-US" sz="2400" dirty="0" smtClean="0"/>
              <a:t>Conduct survey and capture data </a:t>
            </a:r>
          </a:p>
          <a:p>
            <a:pPr lvl="0"/>
            <a:r>
              <a:rPr lang="en-US" sz="2400" dirty="0" smtClean="0"/>
              <a:t>Present recommendations </a:t>
            </a:r>
          </a:p>
          <a:p>
            <a:endParaRPr lang="en-US" sz="2400" dirty="0" smtClean="0"/>
          </a:p>
          <a:p>
            <a:pPr>
              <a:buNone/>
            </a:pPr>
            <a:r>
              <a:rPr lang="en-US" sz="2400" b="1" dirty="0" smtClean="0">
                <a:solidFill>
                  <a:schemeClr val="tx2">
                    <a:lumMod val="75000"/>
                  </a:schemeClr>
                </a:solidFill>
                <a:latin typeface="Times New Roman" pitchFamily="18" charset="0"/>
                <a:cs typeface="Times New Roman" pitchFamily="18" charset="0"/>
              </a:rPr>
              <a:t>        Based on the </a:t>
            </a:r>
            <a:r>
              <a:rPr lang="en-US" sz="2400" b="1" dirty="0" err="1" smtClean="0">
                <a:solidFill>
                  <a:schemeClr val="tx2">
                    <a:lumMod val="75000"/>
                  </a:schemeClr>
                </a:solidFill>
                <a:latin typeface="Times New Roman" pitchFamily="18" charset="0"/>
                <a:cs typeface="Times New Roman" pitchFamily="18" charset="0"/>
              </a:rPr>
              <a:t>Strategyn</a:t>
            </a:r>
            <a:r>
              <a:rPr lang="en-US" sz="2400" b="1" dirty="0" smtClean="0">
                <a:solidFill>
                  <a:schemeClr val="tx2">
                    <a:lumMod val="75000"/>
                  </a:schemeClr>
                </a:solidFill>
                <a:latin typeface="Times New Roman" pitchFamily="18" charset="0"/>
                <a:cs typeface="Times New Roman" pitchFamily="18" charset="0"/>
              </a:rPr>
              <a:t> Methodology (see next slides)</a:t>
            </a:r>
            <a:endParaRPr lang="en-US" sz="2400" b="1" dirty="0">
              <a:solidFill>
                <a:schemeClr val="tx2">
                  <a:lumMod val="75000"/>
                </a:schemeClr>
              </a:solidFill>
              <a:latin typeface="Times New Roman" pitchFamily="18" charset="0"/>
              <a:cs typeface="Times New Roman" pitchFamily="18" charset="0"/>
            </a:endParaRPr>
          </a:p>
        </p:txBody>
      </p:sp>
      <p:sp>
        <p:nvSpPr>
          <p:cNvPr id="5" name="Slide Number Placeholder 3"/>
          <p:cNvSpPr>
            <a:spLocks noGrp="1"/>
          </p:cNvSpPr>
          <p:nvPr>
            <p:ph type="sldNum" sz="quarter" idx="4294967295"/>
          </p:nvPr>
        </p:nvSpPr>
        <p:spPr>
          <a:xfrm>
            <a:off x="8001000" y="6356350"/>
            <a:ext cx="685800" cy="365125"/>
          </a:xfrm>
          <a:prstGeom prst="rect">
            <a:avLst/>
          </a:prstGeom>
        </p:spPr>
        <p:txBody>
          <a:bodyPr/>
          <a:lstStyle/>
          <a:p>
            <a:pPr>
              <a:defRPr/>
            </a:pPr>
            <a:fld id="{43520158-F53C-41E9-8B98-829BF24DDC72}" type="slidenum">
              <a:rPr lang="en-US"/>
              <a:pPr>
                <a:defRPr/>
              </a:pPr>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t>What is a Job ?</a:t>
            </a:r>
            <a:endParaRPr lang="en-US" sz="4000" dirty="0"/>
          </a:p>
        </p:txBody>
      </p:sp>
      <p:sp>
        <p:nvSpPr>
          <p:cNvPr id="2" name="Slide Number Placeholder 1"/>
          <p:cNvSpPr>
            <a:spLocks noGrp="1"/>
          </p:cNvSpPr>
          <p:nvPr>
            <p:ph type="sldNum" sz="quarter" idx="4294967295"/>
          </p:nvPr>
        </p:nvSpPr>
        <p:spPr>
          <a:xfrm>
            <a:off x="6553200" y="6356350"/>
            <a:ext cx="2133600" cy="365125"/>
          </a:xfrm>
          <a:prstGeom prst="rect">
            <a:avLst/>
          </a:prstGeom>
        </p:spPr>
        <p:txBody>
          <a:bodyPr/>
          <a:lstStyle/>
          <a:p>
            <a:pPr>
              <a:defRPr/>
            </a:pPr>
            <a:fld id="{1C275BC4-3E8D-4536-AC7F-3B31C1E880D7}" type="slidenum">
              <a:rPr lang="en-US" smtClean="0"/>
              <a:pPr>
                <a:defRPr/>
              </a:pPr>
              <a:t>78</a:t>
            </a:fld>
            <a:endParaRPr lang="en-US" dirty="0"/>
          </a:p>
        </p:txBody>
      </p:sp>
      <p:pic>
        <p:nvPicPr>
          <p:cNvPr id="1028" name="Picture 4"/>
          <p:cNvPicPr>
            <a:picLocks noChangeAspect="1" noChangeArrowheads="1"/>
          </p:cNvPicPr>
          <p:nvPr/>
        </p:nvPicPr>
        <p:blipFill>
          <a:blip r:embed="rId3" cstate="print"/>
          <a:srcRect/>
          <a:stretch>
            <a:fillRect/>
          </a:stretch>
        </p:blipFill>
        <p:spPr bwMode="auto">
          <a:xfrm>
            <a:off x="609600" y="1685233"/>
            <a:ext cx="7239000" cy="4791767"/>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outcomes ?</a:t>
            </a:r>
            <a:endParaRPr lang="en-US"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BFC4A571-B8E2-4EAF-BC3C-919E85F30506}" type="slidenum">
              <a:rPr lang="en-US" smtClean="0"/>
              <a:pPr>
                <a:defRPr/>
              </a:pPr>
              <a:t>79</a:t>
            </a:fld>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685800" y="1676400"/>
            <a:ext cx="7433408" cy="4800600"/>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Model for Relating Jobs &amp; Outcomes</a:t>
            </a:r>
            <a:endParaRPr lang="en-US" sz="3600"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BFC4A571-B8E2-4EAF-BC3C-919E85F30506}" type="slidenum">
              <a:rPr lang="en-US" smtClean="0"/>
              <a:pPr>
                <a:defRPr/>
              </a:pPr>
              <a:t>80</a:t>
            </a:fld>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1371600" y="1676400"/>
            <a:ext cx="6136087" cy="4876800"/>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Capturing &amp; Measuring Value</a:t>
            </a:r>
            <a:endParaRPr lang="en-US"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BFC4A571-B8E2-4EAF-BC3C-919E85F30506}" type="slidenum">
              <a:rPr lang="en-US" smtClean="0"/>
              <a:pPr>
                <a:defRPr/>
              </a:pPr>
              <a:t>81</a:t>
            </a:fld>
            <a:endParaRPr lang="en-US" dirty="0"/>
          </a:p>
        </p:txBody>
      </p:sp>
      <p:pic>
        <p:nvPicPr>
          <p:cNvPr id="4098" name="Picture 2"/>
          <p:cNvPicPr>
            <a:picLocks noChangeAspect="1" noChangeArrowheads="1"/>
          </p:cNvPicPr>
          <p:nvPr/>
        </p:nvPicPr>
        <p:blipFill>
          <a:blip r:embed="rId3" cstate="print"/>
          <a:srcRect/>
          <a:stretch>
            <a:fillRect/>
          </a:stretch>
        </p:blipFill>
        <p:spPr bwMode="auto">
          <a:xfrm>
            <a:off x="533400" y="1981200"/>
            <a:ext cx="8247063" cy="3990975"/>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914400"/>
            <a:ext cx="7391400" cy="503238"/>
          </a:xfrm>
        </p:spPr>
        <p:txBody>
          <a:bodyPr>
            <a:normAutofit fontScale="90000"/>
          </a:bodyPr>
          <a:lstStyle/>
          <a:p>
            <a:r>
              <a:rPr lang="en-US" sz="3600" dirty="0" smtClean="0"/>
              <a:t>Identifying &amp; Prioritizing Opportunities</a:t>
            </a:r>
            <a:endParaRPr lang="en-US" sz="3600"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BFC4A571-B8E2-4EAF-BC3C-919E85F30506}" type="slidenum">
              <a:rPr lang="en-US" smtClean="0"/>
              <a:pPr>
                <a:defRPr/>
              </a:pPr>
              <a:t>82</a:t>
            </a:fld>
            <a:endParaRPr lang="en-US" dirty="0"/>
          </a:p>
        </p:txBody>
      </p:sp>
      <p:pic>
        <p:nvPicPr>
          <p:cNvPr id="5122" name="Picture 2"/>
          <p:cNvPicPr>
            <a:picLocks noChangeAspect="1" noChangeArrowheads="1"/>
          </p:cNvPicPr>
          <p:nvPr/>
        </p:nvPicPr>
        <p:blipFill>
          <a:blip r:embed="rId3" cstate="print"/>
          <a:srcRect/>
          <a:stretch>
            <a:fillRect/>
          </a:stretch>
        </p:blipFill>
        <p:spPr bwMode="auto">
          <a:xfrm>
            <a:off x="851166" y="1676400"/>
            <a:ext cx="7029184" cy="496790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r>
              <a:rPr lang="en-US" sz="2400" b="1" dirty="0" smtClean="0"/>
              <a:t>Job of Storing &amp; Retrieving Music</a:t>
            </a:r>
            <a:endParaRPr lang="en-US" b="1"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BFC4A571-B8E2-4EAF-BC3C-919E85F30506}" type="slidenum">
              <a:rPr lang="en-US" smtClean="0"/>
              <a:pPr>
                <a:defRPr/>
              </a:pPr>
              <a:t>83</a:t>
            </a:fld>
            <a:endParaRPr lang="en-US" dirty="0"/>
          </a:p>
        </p:txBody>
      </p:sp>
      <p:pic>
        <p:nvPicPr>
          <p:cNvPr id="6146" name="Picture 2"/>
          <p:cNvPicPr>
            <a:picLocks noChangeAspect="1" noChangeArrowheads="1"/>
          </p:cNvPicPr>
          <p:nvPr/>
        </p:nvPicPr>
        <p:blipFill>
          <a:blip r:embed="rId3" cstate="print"/>
          <a:srcRect/>
          <a:stretch>
            <a:fillRect/>
          </a:stretch>
        </p:blipFill>
        <p:spPr bwMode="auto">
          <a:xfrm>
            <a:off x="1371600" y="1696718"/>
            <a:ext cx="6427787" cy="4856482"/>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p:txBody>
          <a:bodyPr/>
          <a:lstStyle/>
          <a:p>
            <a:r>
              <a:rPr lang="en-US" b="1" dirty="0" smtClean="0">
                <a:ea typeface="ＭＳ Ｐゴシック" pitchFamily="34" charset="-128"/>
              </a:rPr>
              <a:t>Thank You</a:t>
            </a:r>
          </a:p>
        </p:txBody>
      </p:sp>
      <p:sp>
        <p:nvSpPr>
          <p:cNvPr id="4" name="Slide Number Placeholder 3"/>
          <p:cNvSpPr>
            <a:spLocks noGrp="1"/>
          </p:cNvSpPr>
          <p:nvPr>
            <p:ph type="sldNum" sz="quarter" idx="12"/>
          </p:nvPr>
        </p:nvSpPr>
        <p:spPr/>
        <p:txBody>
          <a:bodyPr/>
          <a:lstStyle/>
          <a:p>
            <a:pPr>
              <a:defRPr/>
            </a:pPr>
            <a:fld id="{43990685-1496-41A7-8D7C-6CE4810F3A23}" type="slidenum">
              <a:rPr lang="en-US"/>
              <a:pPr>
                <a:defRPr/>
              </a:pPr>
              <a:t>84</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E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VEG</Template>
  <TotalTime>8755</TotalTime>
  <Words>9748</Words>
  <Application>Microsoft Office PowerPoint</Application>
  <PresentationFormat>On-screen Show (4:3)</PresentationFormat>
  <Paragraphs>2555</Paragraphs>
  <Slides>84</Slides>
  <Notes>84</Notes>
  <HiddenSlides>0</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VEG</vt:lpstr>
      <vt:lpstr>Analysis of the Total Market General Infusion Pump data for the Job of Infusing Therapeutic Agents in a Hospital Setting </vt:lpstr>
      <vt:lpstr>Respondent Demographics</vt:lpstr>
      <vt:lpstr>Total Market Opportunities Job Map</vt:lpstr>
      <vt:lpstr>Step 1:  Assess the Patient</vt:lpstr>
      <vt:lpstr>Step 1:  Assess the Patient</vt:lpstr>
      <vt:lpstr>Step 1:  Assess the Patient</vt:lpstr>
      <vt:lpstr>Step 2:  Determine what Fluids/Agents to Use</vt:lpstr>
      <vt:lpstr>Step 2:  Determine what Fluids/Agents to Use</vt:lpstr>
      <vt:lpstr>Step 2:  Determine what Fluids/Agents to Use</vt:lpstr>
      <vt:lpstr>Step 2:  Determine what Fluids/Agents to Use</vt:lpstr>
      <vt:lpstr>Step 3:  Gather supplies</vt:lpstr>
      <vt:lpstr>Step 3:  Gather supplies</vt:lpstr>
      <vt:lpstr>Step 3:  Gather supplies</vt:lpstr>
      <vt:lpstr>Step 3:  Gather supplies</vt:lpstr>
      <vt:lpstr>Step 4:  Verify the supplies</vt:lpstr>
      <vt:lpstr>Step 4:  Verify the supplies</vt:lpstr>
      <vt:lpstr>Step 4:  Verify the supplies</vt:lpstr>
      <vt:lpstr>Step 5:  Confirm the patient’s information</vt:lpstr>
      <vt:lpstr>Step 5:  Confirm the patient’s information</vt:lpstr>
      <vt:lpstr>Step 5:  Confirm the patient’s information</vt:lpstr>
      <vt:lpstr>Step 5:  Confirm the patient’s information</vt:lpstr>
      <vt:lpstr>Step 6:  Prepare the patient for the infusion</vt:lpstr>
      <vt:lpstr>Step 6:  Prepare the patient for the infusion</vt:lpstr>
      <vt:lpstr>Step 6:  Prepare the patient for the infusion</vt:lpstr>
      <vt:lpstr>Step 6:  Prepare the patient for the infusion</vt:lpstr>
      <vt:lpstr>Step 7:  Assemble the equipment</vt:lpstr>
      <vt:lpstr>Step 7:  Assemble the equipment</vt:lpstr>
      <vt:lpstr>Step 7:  Assemble the equipment</vt:lpstr>
      <vt:lpstr>Step 7:  Assemble the equipment</vt:lpstr>
      <vt:lpstr>Step 7:  Assemble the equipment</vt:lpstr>
      <vt:lpstr>Step 7:  Assemble the equipment</vt:lpstr>
      <vt:lpstr>Step 8:  Program the infusion</vt:lpstr>
      <vt:lpstr>Step 8:  Program the infusion</vt:lpstr>
      <vt:lpstr>Step 8:  Program the infusion</vt:lpstr>
      <vt:lpstr>Step 8:  Program the infusion</vt:lpstr>
      <vt:lpstr>Step 9:  Begin the infusion</vt:lpstr>
      <vt:lpstr>Step 9:  Begin the infusion</vt:lpstr>
      <vt:lpstr>Step 9:  Begin the infusion</vt:lpstr>
      <vt:lpstr>Step 10:  Assess the status of the infusion</vt:lpstr>
      <vt:lpstr>Step 10:  Assess the status of the infusion</vt:lpstr>
      <vt:lpstr>Step 10:  Assess the status of the infusion</vt:lpstr>
      <vt:lpstr>Step 10:  Assess the status of the infusion</vt:lpstr>
      <vt:lpstr>Step 10:  Assess the status of the infusion</vt:lpstr>
      <vt:lpstr>Step 11:  Assess the therapeutic results of the infusion</vt:lpstr>
      <vt:lpstr>Step 11:  Assess the therapeutic results of the infusion</vt:lpstr>
      <vt:lpstr>Step 11:  Assess the therapeutic results of the infusion</vt:lpstr>
      <vt:lpstr>Step 11:  Assess the therapeutic results of the infusion</vt:lpstr>
      <vt:lpstr>Step 12:  Troubleshoot problems with the infusion</vt:lpstr>
      <vt:lpstr>Step 12:  Troubleshoot problems with the infusion</vt:lpstr>
      <vt:lpstr>Step 12:  Troubleshoot problems with the infusion</vt:lpstr>
      <vt:lpstr>Step 12:  Troubleshoot problems with the infusion</vt:lpstr>
      <vt:lpstr>Step 13:  Determine changes to the infusion</vt:lpstr>
      <vt:lpstr>Step 13:  Determine changes to the infusion</vt:lpstr>
      <vt:lpstr>Step 13:  Determine changes to the infusion</vt:lpstr>
      <vt:lpstr>Step 13:  Determine changes to the infusion</vt:lpstr>
      <vt:lpstr>Step 14:  Adjust the infusion</vt:lpstr>
      <vt:lpstr>Step 14:  Adjust the infusion</vt:lpstr>
      <vt:lpstr>Step 14:  Adjust the infusion</vt:lpstr>
      <vt:lpstr>Step 14:  Adjust the infusion</vt:lpstr>
      <vt:lpstr>Step 14:  Adjust the infusion</vt:lpstr>
      <vt:lpstr>Step 15:  Document the infusion</vt:lpstr>
      <vt:lpstr>Step 15:  Document the infusion</vt:lpstr>
      <vt:lpstr>Step 15:  Document the infusion</vt:lpstr>
      <vt:lpstr>Step 15:  Document the infusion</vt:lpstr>
      <vt:lpstr>Step 16:  Discontinue the infusion</vt:lpstr>
      <vt:lpstr>Step 16:  Discontinue the infusion</vt:lpstr>
      <vt:lpstr>Step 16:  Discontinue the infusion</vt:lpstr>
      <vt:lpstr>Step 17:  Dispose of supplies</vt:lpstr>
      <vt:lpstr>Step 17:  Dispose of supplies</vt:lpstr>
      <vt:lpstr>Step 17:  Dispose of supplies</vt:lpstr>
      <vt:lpstr>Related Jobs</vt:lpstr>
      <vt:lpstr>Adjacent Jobs Total Market</vt:lpstr>
      <vt:lpstr>Adjacent Jobs Total Market </vt:lpstr>
      <vt:lpstr>Social &amp; Emotional Jobs</vt:lpstr>
      <vt:lpstr>Social &amp; Emotional Jobs Total Market</vt:lpstr>
      <vt:lpstr>Project  Methodology</vt:lpstr>
      <vt:lpstr>Key Milestones</vt:lpstr>
      <vt:lpstr>What is a Job ?</vt:lpstr>
      <vt:lpstr>What are outcomes ?</vt:lpstr>
      <vt:lpstr>Model for Relating Jobs &amp; Outcomes</vt:lpstr>
      <vt:lpstr>Capturing &amp; Measuring Value</vt:lpstr>
      <vt:lpstr>Identifying &amp; Prioritizing Opportunities</vt:lpstr>
      <vt:lpstr>Example: Job of Storing &amp; Retrieving Music</vt:lpstr>
      <vt:lpstr>Thank You</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Delivery Model</dc:title>
  <dc:creator>jw</dc:creator>
  <cp:lastModifiedBy>JEFF</cp:lastModifiedBy>
  <cp:revision>224</cp:revision>
  <dcterms:created xsi:type="dcterms:W3CDTF">2009-06-09T11:36:35Z</dcterms:created>
  <dcterms:modified xsi:type="dcterms:W3CDTF">2009-12-06T21:25:44Z</dcterms:modified>
</cp:coreProperties>
</file>

<file path=[Content_Types].xml><?xml version="1.0" encoding="utf-8"?>
<Types xmlns="http://schemas.openxmlformats.org/package/2006/content-types">
  <Override PartName="/ppt/slideMasters/slideMaster3.xml" ContentType="application/vnd.openxmlformats-officedocument.presentationml.slideMaster+xml"/>
  <Override PartName="/ppt/slideLayouts/slideLayout39.xml" ContentType="application/vnd.openxmlformats-officedocument.presentationml.slideLayout+xml"/>
  <Override PartName="/ppt/slideLayouts/slideLayout57.xml" ContentType="application/vnd.openxmlformats-officedocument.presentationml.slideLayout+xml"/>
  <Override PartName="/ppt/theme/theme5.xml" ContentType="application/vnd.openxmlformats-officedocument.theme+xml"/>
  <Override PartName="/ppt/slideLayouts/slideLayout86.xml" ContentType="application/vnd.openxmlformats-officedocument.presentationml.slideLayout+xml"/>
  <Override PartName="/ppt/notesSlides/notesSlide2.xml" ContentType="application/vnd.openxmlformats-officedocument.presentationml.notesSlide+xml"/>
  <Override PartName="/ppt/slides/slide4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8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71.xml" ContentType="application/vnd.openxmlformats-officedocument.presentationml.slideLayout+xml"/>
  <Override PartName="/ppt/notesSlides/notesSlide16.xml" ContentType="application/vnd.openxmlformats-officedocument.presentationml.notesSlide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2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Masters/slideMaster8.xml" ContentType="application/vnd.openxmlformats-officedocument.presentationml.slideMaster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slideMasters/slideMaster4.xml" ContentType="application/vnd.openxmlformats-officedocument.presentationml.slideMaster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69.xml" ContentType="application/vnd.openxmlformats-officedocument.presentationml.slideLayout+xml"/>
  <Override PartName="/ppt/theme/theme6.xml" ContentType="application/vnd.openxmlformats-officedocument.theme+xml"/>
  <Override PartName="/ppt/slideLayouts/slideLayout87.xml" ContentType="application/vnd.openxmlformats-officedocument.presentationml.slideLayout+xml"/>
  <Override PartName="/ppt/slideLayouts/slideLayout98.xml" ContentType="application/vnd.openxmlformats-officedocument.presentationml.slideLayout+xml"/>
  <Override PartName="/ppt/theme/theme10.xml" ContentType="application/vnd.openxmlformats-officedocument.theme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Layouts/slideLayout29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76.xml" ContentType="application/vnd.openxmlformats-officedocument.presentationml.slideLayout+xml"/>
  <Override PartName="/ppt/notesSlides/notesSlide3.xml" ContentType="application/vnd.openxmlformats-officedocument.presentationml.notesSlide+xml"/>
  <Default Extension="bin" ContentType="application/vnd.openxmlformats-officedocument.oleObject"/>
  <Override PartName="/ppt/presProps.xml" ContentType="application/vnd.openxmlformats-officedocument.presentationml.presProps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3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Default Extension="emf" ContentType="image/x-emf"/>
  <Override PartName="/ppt/slideLayouts/slideLayout25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90.xml" ContentType="application/vnd.openxmlformats-officedocument.presentationml.slideLayout+xml"/>
  <Override PartName="/ppt/notesSlides/notesSlide17.xml" ContentType="application/vnd.openxmlformats-officedocument.presentationml.notesSlide+xml"/>
  <Override PartName="/ppt/presentation.xml" ContentType="application/vnd.openxmlformats-officedocument.presentationml.presentation.main+xml"/>
  <Override PartName="/ppt/tags/tag1.xml" ContentType="application/vnd.openxmlformats-officedocument.presentationml.tags+xml"/>
  <Override PartName="/ppt/slideLayouts/slideLayout14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103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21.xml" ContentType="application/vnd.openxmlformats-officedocument.presentationml.slideLayout+xml"/>
  <Override PartName="/ppt/slideLayouts/slideLayout50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Masters/slideMaster9.xml" ContentType="application/vnd.openxmlformats-officedocument.presentationml.slideMaster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Default Extension="vml" ContentType="application/vnd.openxmlformats-officedocument.vmlDrawing"/>
  <Override PartName="/ppt/slideMasters/slideMaster7.xml" ContentType="application/vnd.openxmlformats-officedocument.presentationml.slideMaster+xml"/>
  <Override PartName="/ppt/slideLayouts/slideLayout99.xml" ContentType="application/vnd.openxmlformats-officedocument.presentationml.slideLayout+xml"/>
  <Override PartName="/ppt/theme/theme9.xml" ContentType="application/vnd.openxmlformats-officedocument.theme+xml"/>
  <Override PartName="/ppt/notesSlides/notesSlide6.xml" ContentType="application/vnd.openxmlformats-officedocument.presentationml.notesSlide+xml"/>
  <Override PartName="/ppt/slideMasters/slideMaster5.xml" ContentType="application/vnd.openxmlformats-officedocument.presentationml.slideMaster+xml"/>
  <Override PartName="/ppt/slides/slide8.xml" ContentType="application/vnd.openxmlformats-officedocument.presentationml.slide+xml"/>
  <Override PartName="/ppt/handoutMasters/handoutMaster1.xml" ContentType="application/vnd.openxmlformats-officedocument.presentationml.handoutMaster+xml"/>
  <Override PartName="/ppt/slideLayouts/slideLayout59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79.xml" ContentType="application/vnd.openxmlformats-officedocument.presentationml.slideLayout+xml"/>
  <Override PartName="/ppt/theme/theme7.xml" ContentType="application/vnd.openxmlformats-officedocument.theme+xml"/>
  <Override PartName="/ppt/slideLayouts/slideLayout88.xml" ContentType="application/vnd.openxmlformats-officedocument.presentationml.slideLayout+xml"/>
  <Override PartName="/ppt/slideLayouts/slideLayout97.xml" ContentType="application/vnd.openxmlformats-officedocument.presentationml.slideLayout+xml"/>
  <Override PartName="/ppt/theme/theme11.xml" ContentType="application/vnd.openxmlformats-officedocument.them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4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3.xml" ContentType="application/vnd.openxmlformats-officedocument.theme+xml"/>
  <Override PartName="/ppt/slideLayouts/slideLayout55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91.xml" ContentType="application/vnd.openxmlformats-officedocument.presentationml.slideLayout+xml"/>
  <Default Extension="rels" ContentType="application/vnd.openxmlformats-package.relationships+xml"/>
  <Override PartName="/ppt/slideLayouts/slideLayout2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s/slide12.xml" ContentType="application/vnd.openxmlformats-officedocument.presentationml.slide+xml"/>
  <Override PartName="/ppt/slideLayouts/slideLayout11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14.xml" ContentType="application/vnd.openxmlformats-officedocument.presentationml.notesSlide+xml"/>
  <Override PartName="/ppt/slideLayouts/slideLayout100.xml" ContentType="application/vnd.openxmlformats-officedocument.presentationml.slideLayout+xml"/>
  <Override PartName="/ppt/notesSlides/notesSlide9.xml" ContentType="application/vnd.openxmlformats-officedocument.presentationml.notesSlide+xml"/>
  <Override PartName="/ppt/slideMasters/slideMaster6.xml" ContentType="application/vnd.openxmlformats-officedocument.presentationml.slideMaster+xml"/>
  <Override PartName="/ppt/slideLayouts/slideLayout89.xml" ContentType="application/vnd.openxmlformats-officedocument.presentationml.slideLayout+xml"/>
  <Override PartName="/ppt/theme/theme8.xml" ContentType="application/vnd.openxmlformats-officedocument.them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Layouts/slideLayout9.xml" ContentType="application/vnd.openxmlformats-officedocument.presentationml.slideLayout+xml"/>
  <Override PartName="/ppt/slideLayouts/slideLayout78.xml" ContentType="application/vnd.openxmlformats-officedocument.presentationml.slideLayout+xml"/>
  <Override PartName="/ppt/notesSlides/notesSlide5.xml" ContentType="application/vnd.openxmlformats-officedocument.presentationml.notesSlide+xml"/>
  <Override PartName="/ppt/slideMasters/slideMaster2.xml" ContentType="application/vnd.openxmlformats-officedocument.presentationml.slideMaster+xml"/>
  <Override PartName="/ppt/slideLayouts/slideLayout3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4.xml" ContentType="application/vnd.openxmlformats-officedocument.theme+xml"/>
  <Override PartName="/ppt/slideLayouts/slideLayout67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96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Layouts/slideLayout5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slideLayouts/slideLayout34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70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0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4" r:id="rId1"/>
    <p:sldMasterId id="2147483681" r:id="rId2"/>
    <p:sldMasterId id="2147483693" r:id="rId3"/>
    <p:sldMasterId id="2147483705" r:id="rId4"/>
    <p:sldMasterId id="2147483717" r:id="rId5"/>
    <p:sldMasterId id="2147483729" r:id="rId6"/>
    <p:sldMasterId id="2147483741" r:id="rId7"/>
    <p:sldMasterId id="2147483753" r:id="rId8"/>
    <p:sldMasterId id="2147483765" r:id="rId9"/>
  </p:sldMasterIdLst>
  <p:notesMasterIdLst>
    <p:notesMasterId r:id="rId27"/>
  </p:notesMasterIdLst>
  <p:handoutMasterIdLst>
    <p:handoutMasterId r:id="rId28"/>
  </p:handoutMasterIdLst>
  <p:sldIdLst>
    <p:sldId id="256" r:id="rId10"/>
    <p:sldId id="326" r:id="rId11"/>
    <p:sldId id="282" r:id="rId12"/>
    <p:sldId id="319" r:id="rId13"/>
    <p:sldId id="331" r:id="rId14"/>
    <p:sldId id="333" r:id="rId15"/>
    <p:sldId id="334" r:id="rId16"/>
    <p:sldId id="336" r:id="rId17"/>
    <p:sldId id="337" r:id="rId18"/>
    <p:sldId id="332" r:id="rId19"/>
    <p:sldId id="320" r:id="rId20"/>
    <p:sldId id="322" r:id="rId21"/>
    <p:sldId id="323" r:id="rId22"/>
    <p:sldId id="324" r:id="rId23"/>
    <p:sldId id="321" r:id="rId24"/>
    <p:sldId id="329" r:id="rId25"/>
    <p:sldId id="325" r:id="rId26"/>
  </p:sldIdLst>
  <p:sldSz cx="9144000" cy="6858000" type="screen4x3"/>
  <p:notesSz cx="7099300" cy="10234613"/>
  <p:custDataLst>
    <p:tags r:id="rId29"/>
  </p:custDataLst>
  <p:defaultTextStyle>
    <a:defPPr>
      <a:defRPr lang="en-GB"/>
    </a:defPPr>
    <a:lvl1pPr algn="ctr" rtl="0" eaLnBrk="0" fontAlgn="base" hangingPunct="0">
      <a:spcBef>
        <a:spcPct val="0"/>
      </a:spcBef>
      <a:spcAft>
        <a:spcPct val="0"/>
      </a:spcAft>
      <a:defRPr sz="900" b="1" kern="1200">
        <a:solidFill>
          <a:srgbClr val="800000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spcBef>
        <a:spcPct val="0"/>
      </a:spcBef>
      <a:spcAft>
        <a:spcPct val="0"/>
      </a:spcAft>
      <a:defRPr sz="900" b="1" kern="1200">
        <a:solidFill>
          <a:srgbClr val="800000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spcBef>
        <a:spcPct val="0"/>
      </a:spcBef>
      <a:spcAft>
        <a:spcPct val="0"/>
      </a:spcAft>
      <a:defRPr sz="900" b="1" kern="1200">
        <a:solidFill>
          <a:srgbClr val="800000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spcBef>
        <a:spcPct val="0"/>
      </a:spcBef>
      <a:spcAft>
        <a:spcPct val="0"/>
      </a:spcAft>
      <a:defRPr sz="900" b="1" kern="1200">
        <a:solidFill>
          <a:srgbClr val="800000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spcBef>
        <a:spcPct val="0"/>
      </a:spcBef>
      <a:spcAft>
        <a:spcPct val="0"/>
      </a:spcAft>
      <a:defRPr sz="900" b="1" kern="1200">
        <a:solidFill>
          <a:srgbClr val="800000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900" b="1" kern="1200">
        <a:solidFill>
          <a:srgbClr val="800000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900" b="1" kern="1200">
        <a:solidFill>
          <a:srgbClr val="800000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900" b="1" kern="1200">
        <a:solidFill>
          <a:srgbClr val="800000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900" b="1" kern="1200">
        <a:solidFill>
          <a:srgbClr val="800000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545F3"/>
    <a:srgbClr val="405F9C"/>
    <a:srgbClr val="1E4E82"/>
    <a:srgbClr val="666633"/>
    <a:srgbClr val="CC6600"/>
    <a:srgbClr val="FFFF99"/>
    <a:srgbClr val="6666FF"/>
    <a:srgbClr val="FF00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 autoAdjust="0"/>
    <p:restoredTop sz="94660"/>
  </p:normalViewPr>
  <p:slideViewPr>
    <p:cSldViewPr>
      <p:cViewPr>
        <p:scale>
          <a:sx n="75" d="100"/>
          <a:sy n="75" d="100"/>
        </p:scale>
        <p:origin x="-115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0" d="100"/>
          <a:sy n="50" d="100"/>
        </p:scale>
        <p:origin x="-1590" y="-102"/>
      </p:cViewPr>
      <p:guideLst>
        <p:guide orient="horz" pos="3224"/>
        <p:guide pos="2236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4.xml"/><Relationship Id="rId18" Type="http://schemas.openxmlformats.org/officeDocument/2006/relationships/slide" Target="slides/slide9.xml"/><Relationship Id="rId26" Type="http://schemas.openxmlformats.org/officeDocument/2006/relationships/slide" Target="slides/slide17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2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3.xml"/><Relationship Id="rId17" Type="http://schemas.openxmlformats.org/officeDocument/2006/relationships/slide" Target="slides/slide8.xml"/><Relationship Id="rId25" Type="http://schemas.openxmlformats.org/officeDocument/2006/relationships/slide" Target="slides/slide16.xml"/><Relationship Id="rId33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7.xml"/><Relationship Id="rId20" Type="http://schemas.openxmlformats.org/officeDocument/2006/relationships/slide" Target="slides/slide11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2.xml"/><Relationship Id="rId24" Type="http://schemas.openxmlformats.org/officeDocument/2006/relationships/slide" Target="slides/slide15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6.xml"/><Relationship Id="rId23" Type="http://schemas.openxmlformats.org/officeDocument/2006/relationships/slide" Target="slides/slide14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1.xml"/><Relationship Id="rId19" Type="http://schemas.openxmlformats.org/officeDocument/2006/relationships/slide" Target="slides/slide10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5.xml"/><Relationship Id="rId22" Type="http://schemas.openxmlformats.org/officeDocument/2006/relationships/slide" Target="slides/slide13.xml"/><Relationship Id="rId27" Type="http://schemas.openxmlformats.org/officeDocument/2006/relationships/notesMaster" Target="notesMasters/notesMaster1.xml"/><Relationship Id="rId30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1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14" tIns="47957" rIns="95914" bIns="47957" numCol="1" anchor="t" anchorCtr="0" compatLnSpc="1">
            <a:prstTxWarp prst="textNoShape">
              <a:avLst/>
            </a:prstTxWarp>
          </a:bodyPr>
          <a:lstStyle>
            <a:lvl1pPr algn="l" defTabSz="960438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GB"/>
              <a:t>EAMP Module 8</a:t>
            </a:r>
          </a:p>
        </p:txBody>
      </p:sp>
      <p:sp>
        <p:nvSpPr>
          <p:cNvPr id="78851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14" tIns="47957" rIns="95914" bIns="47957" numCol="1" anchor="t" anchorCtr="0" compatLnSpc="1">
            <a:prstTxWarp prst="textNoShape">
              <a:avLst/>
            </a:prstTxWarp>
          </a:bodyPr>
          <a:lstStyle>
            <a:lvl1pPr algn="r" defTabSz="960438">
              <a:defRPr sz="12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8852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422592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14" tIns="47957" rIns="95914" bIns="47957" numCol="1" anchor="b" anchorCtr="0" compatLnSpc="1">
            <a:prstTxWarp prst="textNoShape">
              <a:avLst/>
            </a:prstTxWarp>
          </a:bodyPr>
          <a:lstStyle>
            <a:lvl1pPr algn="l" defTabSz="960438">
              <a:defRPr sz="8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r>
              <a:rPr lang="en-GB"/>
              <a:t>© Copyrights Institute For Enterprise Architecture Developments 2001-2008</a:t>
            </a:r>
          </a:p>
        </p:txBody>
      </p:sp>
      <p:sp>
        <p:nvSpPr>
          <p:cNvPr id="78853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14" tIns="47957" rIns="95914" bIns="47957" numCol="1" anchor="b" anchorCtr="0" compatLnSpc="1">
            <a:prstTxWarp prst="textNoShape">
              <a:avLst/>
            </a:prstTxWarp>
          </a:bodyPr>
          <a:lstStyle>
            <a:lvl1pPr algn="r" defTabSz="960438">
              <a:defRPr sz="1000">
                <a:solidFill>
                  <a:schemeClr val="tx1"/>
                </a:solidFill>
              </a:defRPr>
            </a:lvl1pPr>
          </a:lstStyle>
          <a:p>
            <a:pPr>
              <a:defRPr/>
            </a:pPr>
            <a:fld id="{01B38991-A241-4F0C-B04A-D3BDB2B8400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14" tIns="47957" rIns="95914" bIns="47957" numCol="1" anchor="t" anchorCtr="0" compatLnSpc="1">
            <a:prstTxWarp prst="textNoShape">
              <a:avLst/>
            </a:prstTxWarp>
          </a:bodyPr>
          <a:lstStyle>
            <a:lvl1pPr algn="l" defTabSz="960438">
              <a:defRPr sz="12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2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14" tIns="47957" rIns="95914" bIns="47957" numCol="1" anchor="t" anchorCtr="0" compatLnSpc="1">
            <a:prstTxWarp prst="textNoShape">
              <a:avLst/>
            </a:prstTxWarp>
          </a:bodyPr>
          <a:lstStyle>
            <a:lvl1pPr algn="r" defTabSz="960438">
              <a:defRPr sz="12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3796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93775" y="768350"/>
            <a:ext cx="5113338" cy="38354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7738" y="4860925"/>
            <a:ext cx="520382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14" tIns="47957" rIns="95914" bIns="4795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 smtClean="0"/>
              <a:t>Click to edit Master text styles</a:t>
            </a:r>
          </a:p>
          <a:p>
            <a:pPr lvl="1"/>
            <a:r>
              <a:rPr lang="en-GB" noProof="0" smtClean="0"/>
              <a:t>Second level</a:t>
            </a:r>
          </a:p>
          <a:p>
            <a:pPr lvl="2"/>
            <a:r>
              <a:rPr lang="en-GB" noProof="0" smtClean="0"/>
              <a:t>Third level</a:t>
            </a:r>
          </a:p>
          <a:p>
            <a:pPr lvl="3"/>
            <a:r>
              <a:rPr lang="en-GB" noProof="0" smtClean="0"/>
              <a:t>Fourth level</a:t>
            </a:r>
          </a:p>
          <a:p>
            <a:pPr lvl="4"/>
            <a:r>
              <a:rPr lang="en-GB" noProof="0" smtClean="0"/>
              <a:t>Fifth level</a:t>
            </a:r>
          </a:p>
        </p:txBody>
      </p:sp>
      <p:sp>
        <p:nvSpPr>
          <p:cNvPr id="122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14" tIns="47957" rIns="95914" bIns="47957" numCol="1" anchor="b" anchorCtr="0" compatLnSpc="1">
            <a:prstTxWarp prst="textNoShape">
              <a:avLst/>
            </a:prstTxWarp>
          </a:bodyPr>
          <a:lstStyle>
            <a:lvl1pPr algn="l" defTabSz="960438">
              <a:defRPr sz="12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22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3438"/>
            <a:ext cx="3076575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5914" tIns="47957" rIns="95914" bIns="47957" numCol="1" anchor="b" anchorCtr="0" compatLnSpc="1">
            <a:prstTxWarp prst="textNoShape">
              <a:avLst/>
            </a:prstTxWarp>
          </a:bodyPr>
          <a:lstStyle>
            <a:lvl1pPr algn="r" defTabSz="960438">
              <a:defRPr sz="1200">
                <a:solidFill>
                  <a:schemeClr val="tx1"/>
                </a:solidFill>
                <a:latin typeface="Verdana" pitchFamily="34" charset="0"/>
              </a:defRPr>
            </a:lvl1pPr>
          </a:lstStyle>
          <a:p>
            <a:pPr>
              <a:defRPr/>
            </a:pPr>
            <a:fld id="{C19DC8C0-B00C-445D-83EC-333F87D5A65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F661C902-FB96-45C0-8F9D-4DE64B35F8D5}" type="slidenum">
              <a:rPr lang="en-GB" smtClean="0"/>
              <a:pPr/>
              <a:t>1</a:t>
            </a:fld>
            <a:endParaRPr lang="en-GB" smtClean="0"/>
          </a:p>
        </p:txBody>
      </p:sp>
      <p:sp>
        <p:nvSpPr>
          <p:cNvPr id="3481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DA1EBFF-B0D6-4ED3-8532-7C96B11CF162}" type="slidenum">
              <a:rPr lang="en-GB" smtClean="0"/>
              <a:pPr/>
              <a:t>2</a:t>
            </a:fld>
            <a:endParaRPr lang="en-GB" smtClean="0"/>
          </a:p>
        </p:txBody>
      </p:sp>
      <p:sp>
        <p:nvSpPr>
          <p:cNvPr id="3584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F78B948-7F8D-47B3-9182-B9F44483D53F}" type="slidenum">
              <a:rPr lang="en-GB" smtClean="0"/>
              <a:pPr/>
              <a:t>3</a:t>
            </a:fld>
            <a:endParaRPr lang="en-GB" smtClean="0"/>
          </a:p>
        </p:txBody>
      </p:sp>
      <p:sp>
        <p:nvSpPr>
          <p:cNvPr id="36867" name="Rectangle 2"/>
          <p:cNvSpPr>
            <a:spLocks noChangeArrowheads="1" noTextEdit="1"/>
          </p:cNvSpPr>
          <p:nvPr>
            <p:ph type="sldImg"/>
          </p:nvPr>
        </p:nvSpPr>
        <p:spPr>
          <a:xfrm>
            <a:off x="993775" y="768350"/>
            <a:ext cx="5111750" cy="3833813"/>
          </a:xfrm>
          <a:ln/>
        </p:spPr>
      </p:sp>
      <p:sp>
        <p:nvSpPr>
          <p:cNvPr id="3686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 smtClean="0"/>
          </a:p>
        </p:txBody>
      </p:sp>
      <p:sp>
        <p:nvSpPr>
          <p:cNvPr id="36869" name="Rectangle 4"/>
          <p:cNvSpPr>
            <a:spLocks noChangeArrowheads="1"/>
          </p:cNvSpPr>
          <p:nvPr/>
        </p:nvSpPr>
        <p:spPr bwMode="auto">
          <a:xfrm>
            <a:off x="236538" y="4832350"/>
            <a:ext cx="2603500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240" tIns="48120" rIns="96240" bIns="48120"/>
          <a:lstStyle/>
          <a:p>
            <a:pPr algn="l" defTabSz="960438" eaLnBrk="1" hangingPunct="1"/>
            <a:r>
              <a:rPr lang="en-US" sz="1100" u="sng">
                <a:solidFill>
                  <a:schemeClr val="tx1"/>
                </a:solidFill>
                <a:latin typeface="Times New Roman" pitchFamily="18" charset="0"/>
              </a:rPr>
              <a:t>Human Factors in EA</a:t>
            </a:r>
          </a:p>
          <a:p>
            <a:pPr algn="l" defTabSz="960438" eaLnBrk="1" hangingPunct="1"/>
            <a:r>
              <a:rPr lang="en-US" sz="1100">
                <a:solidFill>
                  <a:schemeClr val="tx1"/>
                </a:solidFill>
                <a:latin typeface="Times New Roman" pitchFamily="18" charset="0"/>
              </a:rPr>
              <a:t>Conflicts</a:t>
            </a:r>
          </a:p>
          <a:p>
            <a:pPr algn="l" defTabSz="960438" eaLnBrk="1" hangingPunct="1"/>
            <a:r>
              <a:rPr lang="en-US" sz="1100">
                <a:solidFill>
                  <a:schemeClr val="tx1"/>
                </a:solidFill>
                <a:latin typeface="Times New Roman" pitchFamily="18" charset="0"/>
              </a:rPr>
              <a:t>Schedules, delays, differing priorities and requirements</a:t>
            </a:r>
          </a:p>
          <a:p>
            <a:pPr algn="l" defTabSz="960438" eaLnBrk="1" hangingPunct="1"/>
            <a:r>
              <a:rPr lang="en-US" sz="1100">
                <a:solidFill>
                  <a:schemeClr val="tx1"/>
                </a:solidFill>
                <a:latin typeface="Times New Roman" pitchFamily="18" charset="0"/>
              </a:rPr>
              <a:t>Insufficient data</a:t>
            </a:r>
          </a:p>
          <a:p>
            <a:pPr algn="l" defTabSz="960438" eaLnBrk="1" hangingPunct="1"/>
            <a:r>
              <a:rPr lang="en-US" sz="1100">
                <a:solidFill>
                  <a:schemeClr val="tx1"/>
                </a:solidFill>
                <a:latin typeface="Times New Roman" pitchFamily="18" charset="0"/>
              </a:rPr>
              <a:t>Specifications</a:t>
            </a:r>
          </a:p>
          <a:p>
            <a:pPr algn="l" defTabSz="960438" eaLnBrk="1" hangingPunct="1"/>
            <a:r>
              <a:rPr lang="en-US" sz="1100">
                <a:solidFill>
                  <a:schemeClr val="tx1"/>
                </a:solidFill>
                <a:latin typeface="Times New Roman" pitchFamily="18" charset="0"/>
              </a:rPr>
              <a:t>Funding</a:t>
            </a:r>
          </a:p>
          <a:p>
            <a:pPr algn="l" defTabSz="960438" eaLnBrk="1" hangingPunct="1"/>
            <a:r>
              <a:rPr lang="en-US" sz="1100">
                <a:solidFill>
                  <a:schemeClr val="tx1"/>
                </a:solidFill>
                <a:latin typeface="Times New Roman" pitchFamily="18" charset="0"/>
              </a:rPr>
              <a:t>Poor communications</a:t>
            </a:r>
          </a:p>
          <a:p>
            <a:pPr algn="l" defTabSz="960438" eaLnBrk="1" hangingPunct="1"/>
            <a:endParaRPr lang="en-US" sz="1100">
              <a:solidFill>
                <a:schemeClr val="tx1"/>
              </a:solidFill>
              <a:latin typeface="Times New Roman" pitchFamily="18" charset="0"/>
            </a:endParaRPr>
          </a:p>
          <a:p>
            <a:pPr algn="l" defTabSz="960438" eaLnBrk="1" hangingPunct="1"/>
            <a:r>
              <a:rPr lang="en-US" sz="1100" u="sng">
                <a:solidFill>
                  <a:schemeClr val="tx1"/>
                </a:solidFill>
                <a:latin typeface="Times New Roman" pitchFamily="18" charset="0"/>
              </a:rPr>
              <a:t>Leadership in EA</a:t>
            </a:r>
          </a:p>
          <a:p>
            <a:pPr algn="l" defTabSz="960438" eaLnBrk="1" hangingPunct="1"/>
            <a:r>
              <a:rPr lang="en-US" sz="1200">
                <a:solidFill>
                  <a:schemeClr val="tx1"/>
                </a:solidFill>
                <a:latin typeface="Times New Roman" pitchFamily="18" charset="0"/>
              </a:rPr>
              <a:t>Knowing and Using Resources</a:t>
            </a:r>
          </a:p>
          <a:p>
            <a:pPr algn="l" defTabSz="960438" eaLnBrk="1" hangingPunct="1"/>
            <a:r>
              <a:rPr lang="en-US" sz="1200">
                <a:solidFill>
                  <a:schemeClr val="tx1"/>
                </a:solidFill>
                <a:latin typeface="Times New Roman" pitchFamily="18" charset="0"/>
              </a:rPr>
              <a:t>Communications</a:t>
            </a:r>
          </a:p>
          <a:p>
            <a:pPr algn="l" defTabSz="960438" eaLnBrk="1" hangingPunct="1"/>
            <a:r>
              <a:rPr lang="en-US" sz="1200">
                <a:solidFill>
                  <a:schemeClr val="tx1"/>
                </a:solidFill>
                <a:latin typeface="Times New Roman" pitchFamily="18" charset="0"/>
              </a:rPr>
              <a:t>Planning</a:t>
            </a:r>
          </a:p>
          <a:p>
            <a:pPr algn="l" defTabSz="960438" eaLnBrk="1" hangingPunct="1"/>
            <a:r>
              <a:rPr lang="en-US" sz="1200">
                <a:solidFill>
                  <a:schemeClr val="tx1"/>
                </a:solidFill>
                <a:latin typeface="Times New Roman" pitchFamily="18" charset="0"/>
              </a:rPr>
              <a:t>Controlling the group</a:t>
            </a:r>
          </a:p>
          <a:p>
            <a:pPr algn="l" defTabSz="960438" eaLnBrk="1" hangingPunct="1"/>
            <a:r>
              <a:rPr lang="en-US" sz="1200">
                <a:solidFill>
                  <a:schemeClr val="tx1"/>
                </a:solidFill>
                <a:latin typeface="Times New Roman" pitchFamily="18" charset="0"/>
              </a:rPr>
              <a:t>Representing the group</a:t>
            </a:r>
          </a:p>
          <a:p>
            <a:pPr algn="l" defTabSz="960438" eaLnBrk="1" hangingPunct="1"/>
            <a:r>
              <a:rPr lang="en-US" sz="1200">
                <a:solidFill>
                  <a:schemeClr val="tx1"/>
                </a:solidFill>
                <a:latin typeface="Times New Roman" pitchFamily="18" charset="0"/>
              </a:rPr>
              <a:t>Evaluating</a:t>
            </a:r>
          </a:p>
          <a:p>
            <a:pPr algn="l" defTabSz="960438" eaLnBrk="1" hangingPunct="1"/>
            <a:r>
              <a:rPr lang="en-US" sz="1200">
                <a:solidFill>
                  <a:schemeClr val="tx1"/>
                </a:solidFill>
                <a:latin typeface="Times New Roman" pitchFamily="18" charset="0"/>
              </a:rPr>
              <a:t>Sharing leadership</a:t>
            </a:r>
          </a:p>
          <a:p>
            <a:pPr algn="l" defTabSz="960438" eaLnBrk="1" hangingPunct="1"/>
            <a:r>
              <a:rPr lang="en-US" sz="1200">
                <a:solidFill>
                  <a:schemeClr val="tx1"/>
                </a:solidFill>
                <a:latin typeface="Times New Roman" pitchFamily="18" charset="0"/>
              </a:rPr>
              <a:t>Setting the example</a:t>
            </a:r>
          </a:p>
          <a:p>
            <a:pPr algn="l" defTabSz="960438" eaLnBrk="1" hangingPunct="1"/>
            <a:endParaRPr lang="en-US" sz="1100">
              <a:solidFill>
                <a:schemeClr val="tx1"/>
              </a:solidFill>
              <a:latin typeface="Times New Roman" pitchFamily="18" charset="0"/>
            </a:endParaRPr>
          </a:p>
          <a:p>
            <a:pPr algn="l" defTabSz="960438" eaLnBrk="1" hangingPunct="1"/>
            <a:endParaRPr lang="en-US" sz="1100">
              <a:solidFill>
                <a:schemeClr val="tx1"/>
              </a:solidFill>
              <a:latin typeface="Times New Roman" pitchFamily="18" charset="0"/>
            </a:endParaRPr>
          </a:p>
          <a:p>
            <a:pPr algn="l" defTabSz="960438" eaLnBrk="1" hangingPunct="1"/>
            <a:endParaRPr lang="en-US" sz="1200">
              <a:solidFill>
                <a:schemeClr val="tx1"/>
              </a:solidFill>
              <a:latin typeface="Times New Roman" pitchFamily="18" charset="0"/>
            </a:endParaRPr>
          </a:p>
          <a:p>
            <a:pPr algn="l" defTabSz="960438" eaLnBrk="1" hangingPunct="1">
              <a:spcBef>
                <a:spcPct val="30000"/>
              </a:spcBef>
            </a:pPr>
            <a:endParaRPr lang="en-US" sz="1200">
              <a:solidFill>
                <a:schemeClr val="tx1"/>
              </a:solidFill>
              <a:latin typeface="Times New Roman" pitchFamily="18" charset="0"/>
            </a:endParaRPr>
          </a:p>
        </p:txBody>
      </p:sp>
      <p:sp>
        <p:nvSpPr>
          <p:cNvPr id="36870" name="Rectangle 5"/>
          <p:cNvSpPr>
            <a:spLocks noChangeArrowheads="1"/>
          </p:cNvSpPr>
          <p:nvPr/>
        </p:nvSpPr>
        <p:spPr bwMode="auto">
          <a:xfrm>
            <a:off x="3549650" y="4832350"/>
            <a:ext cx="3549650" cy="5087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6240" tIns="48120" rIns="96240" bIns="48120"/>
          <a:lstStyle/>
          <a:p>
            <a:pPr algn="l" defTabSz="960438" eaLnBrk="1" hangingPunct="1"/>
            <a:r>
              <a:rPr lang="en-US" sz="1100" u="sng">
                <a:solidFill>
                  <a:schemeClr val="tx1"/>
                </a:solidFill>
                <a:latin typeface="Times New Roman" pitchFamily="18" charset="0"/>
              </a:rPr>
              <a:t>Why Sell Architecture?</a:t>
            </a:r>
          </a:p>
          <a:p>
            <a:pPr algn="l" defTabSz="960438" eaLnBrk="1" hangingPunct="1"/>
            <a:r>
              <a:rPr lang="en-US" sz="1100">
                <a:solidFill>
                  <a:schemeClr val="tx1"/>
                </a:solidFill>
                <a:latin typeface="Times New Roman" pitchFamily="18" charset="0"/>
              </a:rPr>
              <a:t>EA is not well understood</a:t>
            </a:r>
          </a:p>
          <a:p>
            <a:pPr algn="l" defTabSz="960438" eaLnBrk="1" hangingPunct="1"/>
            <a:r>
              <a:rPr lang="en-US" sz="1100">
                <a:solidFill>
                  <a:schemeClr val="tx1"/>
                </a:solidFill>
                <a:latin typeface="Times New Roman" pitchFamily="18" charset="0"/>
              </a:rPr>
              <a:t>    It’s an investment</a:t>
            </a:r>
          </a:p>
          <a:p>
            <a:pPr algn="l" defTabSz="960438" eaLnBrk="1" hangingPunct="1"/>
            <a:r>
              <a:rPr lang="en-US" sz="1100">
                <a:solidFill>
                  <a:schemeClr val="tx1"/>
                </a:solidFill>
                <a:latin typeface="Times New Roman" pitchFamily="18" charset="0"/>
              </a:rPr>
              <a:t>    What is the value?</a:t>
            </a:r>
          </a:p>
          <a:p>
            <a:pPr algn="l" defTabSz="960438" eaLnBrk="1" hangingPunct="1"/>
            <a:r>
              <a:rPr lang="en-US" sz="1100">
                <a:solidFill>
                  <a:schemeClr val="tx1"/>
                </a:solidFill>
                <a:latin typeface="Times New Roman" pitchFamily="18" charset="0"/>
              </a:rPr>
              <a:t>You need sponsorship and support</a:t>
            </a:r>
          </a:p>
          <a:p>
            <a:pPr algn="l" defTabSz="960438" eaLnBrk="1" hangingPunct="1"/>
            <a:r>
              <a:rPr lang="en-US" sz="1100">
                <a:solidFill>
                  <a:schemeClr val="tx1"/>
                </a:solidFill>
                <a:latin typeface="Times New Roman" pitchFamily="18" charset="0"/>
              </a:rPr>
              <a:t>Many forces arrayed against you</a:t>
            </a:r>
          </a:p>
          <a:p>
            <a:pPr algn="l" defTabSz="960438" eaLnBrk="1" hangingPunct="1"/>
            <a:r>
              <a:rPr lang="en-US" sz="1100">
                <a:solidFill>
                  <a:schemeClr val="tx1"/>
                </a:solidFill>
                <a:latin typeface="Times New Roman" pitchFamily="18" charset="0"/>
              </a:rPr>
              <a:t>Have to sell over and over again</a:t>
            </a:r>
          </a:p>
          <a:p>
            <a:pPr algn="l" defTabSz="960438" eaLnBrk="1" hangingPunct="1"/>
            <a:endParaRPr lang="en-US" sz="1100">
              <a:solidFill>
                <a:schemeClr val="tx1"/>
              </a:solidFill>
              <a:latin typeface="Times New Roman" pitchFamily="18" charset="0"/>
            </a:endParaRPr>
          </a:p>
          <a:p>
            <a:pPr algn="l" defTabSz="960438" eaLnBrk="1" hangingPunct="1"/>
            <a:r>
              <a:rPr lang="en-US" sz="1100" u="sng">
                <a:solidFill>
                  <a:schemeClr val="tx1"/>
                </a:solidFill>
                <a:latin typeface="Times New Roman" pitchFamily="18" charset="0"/>
              </a:rPr>
              <a:t>Your Goals</a:t>
            </a:r>
            <a:r>
              <a:rPr lang="en-US" sz="1100">
                <a:solidFill>
                  <a:schemeClr val="tx1"/>
                </a:solidFill>
                <a:latin typeface="Times New Roman" pitchFamily="18" charset="0"/>
              </a:rPr>
              <a:t>     </a:t>
            </a:r>
          </a:p>
          <a:p>
            <a:pPr algn="l" defTabSz="960438" eaLnBrk="1" hangingPunct="1"/>
            <a:r>
              <a:rPr lang="en-US" sz="1100">
                <a:solidFill>
                  <a:schemeClr val="tx1"/>
                </a:solidFill>
                <a:latin typeface="Times New Roman" pitchFamily="18" charset="0"/>
              </a:rPr>
              <a:t>Disarm your foes; get other selling for you; obtain agreement on developing and continuing EA work.</a:t>
            </a:r>
          </a:p>
          <a:p>
            <a:pPr algn="l" defTabSz="960438" eaLnBrk="1" hangingPunct="1"/>
            <a:endParaRPr lang="en-US" sz="1100">
              <a:solidFill>
                <a:schemeClr val="tx1"/>
              </a:solidFill>
              <a:latin typeface="Times New Roman" pitchFamily="18" charset="0"/>
            </a:endParaRPr>
          </a:p>
          <a:p>
            <a:pPr algn="l" defTabSz="960438" eaLnBrk="1" hangingPunct="1"/>
            <a:r>
              <a:rPr lang="en-US" sz="1100" u="sng">
                <a:solidFill>
                  <a:schemeClr val="tx1"/>
                </a:solidFill>
                <a:latin typeface="Times New Roman" pitchFamily="18" charset="0"/>
              </a:rPr>
              <a:t>The Message</a:t>
            </a:r>
          </a:p>
          <a:p>
            <a:pPr algn="l" defTabSz="960438" eaLnBrk="1" hangingPunct="1"/>
            <a:r>
              <a:rPr lang="en-US" sz="1200">
                <a:solidFill>
                  <a:schemeClr val="tx1"/>
                </a:solidFill>
                <a:latin typeface="Times New Roman" pitchFamily="18" charset="0"/>
              </a:rPr>
              <a:t>Avoid negative issues; we’re not broken, dysfunctional . . . No one listens to complainers.</a:t>
            </a:r>
          </a:p>
          <a:p>
            <a:pPr algn="l" defTabSz="960438" eaLnBrk="1" hangingPunct="1"/>
            <a:endParaRPr lang="en-US" sz="1200">
              <a:solidFill>
                <a:schemeClr val="tx1"/>
              </a:solidFill>
              <a:latin typeface="Times New Roman" pitchFamily="18" charset="0"/>
            </a:endParaRPr>
          </a:p>
          <a:p>
            <a:pPr algn="l" defTabSz="960438" eaLnBrk="1" hangingPunct="1"/>
            <a:r>
              <a:rPr lang="en-US" sz="1200">
                <a:solidFill>
                  <a:schemeClr val="tx1"/>
                </a:solidFill>
                <a:latin typeface="Times New Roman" pitchFamily="18" charset="0"/>
              </a:rPr>
              <a:t>Focus on the positive:  Offer solutions, continuous improvement is the goal.</a:t>
            </a:r>
          </a:p>
          <a:p>
            <a:pPr algn="l" defTabSz="960438" eaLnBrk="1" hangingPunct="1"/>
            <a:endParaRPr lang="en-US" sz="1200">
              <a:solidFill>
                <a:schemeClr val="tx1"/>
              </a:solidFill>
              <a:latin typeface="Times New Roman" pitchFamily="18" charset="0"/>
            </a:endParaRPr>
          </a:p>
          <a:p>
            <a:pPr algn="l" defTabSz="960438" eaLnBrk="1" hangingPunct="1"/>
            <a:r>
              <a:rPr lang="en-US" sz="1200">
                <a:solidFill>
                  <a:schemeClr val="tx1"/>
                </a:solidFill>
                <a:latin typeface="Times New Roman" pitchFamily="18" charset="0"/>
              </a:rPr>
              <a:t>What’s in it for the state:  benefits and services to citizens; to the state; cost avoidances and savings</a:t>
            </a:r>
          </a:p>
          <a:p>
            <a:pPr algn="l" defTabSz="960438" eaLnBrk="1" hangingPunct="1">
              <a:spcBef>
                <a:spcPct val="30000"/>
              </a:spcBef>
            </a:pPr>
            <a:endParaRPr lang="en-US" sz="1200">
              <a:solidFill>
                <a:schemeClr val="tx1"/>
              </a:solidFill>
              <a:latin typeface="Times New Roman" pitchFamily="18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54F1299-F37F-4687-B254-64449B6BFE85}" type="slidenum">
              <a:rPr lang="en-GB" smtClean="0"/>
              <a:pPr/>
              <a:t>4</a:t>
            </a:fld>
            <a:endParaRPr lang="en-GB" smtClean="0"/>
          </a:p>
        </p:txBody>
      </p:sp>
      <p:sp>
        <p:nvSpPr>
          <p:cNvPr id="3789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B1C1BEFF-2E77-4E6F-B388-14E004C8492B}" type="slidenum">
              <a:rPr lang="en-GB" smtClean="0"/>
              <a:pPr/>
              <a:t>5</a:t>
            </a:fld>
            <a:endParaRPr lang="en-GB" smtClean="0"/>
          </a:p>
        </p:txBody>
      </p:sp>
      <p:sp>
        <p:nvSpPr>
          <p:cNvPr id="3891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9DC8C0-B00C-445D-83EC-333F87D5A655}" type="slidenum">
              <a:rPr lang="en-GB" smtClean="0"/>
              <a:pPr>
                <a:defRPr/>
              </a:pPr>
              <a:t>6</a:t>
            </a:fld>
            <a:endParaRPr lang="en-GB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9DC8C0-B00C-445D-83EC-333F87D5A655}" type="slidenum">
              <a:rPr lang="en-GB" smtClean="0"/>
              <a:pPr>
                <a:defRPr/>
              </a:pPr>
              <a:t>7</a:t>
            </a:fld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9DC8C0-B00C-445D-83EC-333F87D5A655}" type="slidenum">
              <a:rPr lang="en-GB" smtClean="0"/>
              <a:pPr>
                <a:defRPr/>
              </a:pPr>
              <a:t>8</a:t>
            </a:fld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19DC8C0-B00C-445D-83EC-333F87D5A655}" type="slidenum">
              <a:rPr lang="en-GB" smtClean="0"/>
              <a:pPr>
                <a:defRPr/>
              </a:pPr>
              <a:t>9</a:t>
            </a:fld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1284E486-134E-45D9-A9CE-E4A94B0F3410}" type="slidenum">
              <a:rPr lang="en-GB" smtClean="0"/>
              <a:pPr/>
              <a:t>10</a:t>
            </a:fld>
            <a:endParaRPr lang="en-GB" smtClean="0"/>
          </a:p>
        </p:txBody>
      </p:sp>
      <p:sp>
        <p:nvSpPr>
          <p:cNvPr id="3993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6672097B-79B3-40DC-9BE2-B9D95ACE6E76}" type="slidenum">
              <a:rPr lang="en-GB" smtClean="0"/>
              <a:pPr/>
              <a:t>11</a:t>
            </a:fld>
            <a:endParaRPr lang="en-GB" smtClean="0"/>
          </a:p>
        </p:txBody>
      </p:sp>
      <p:sp>
        <p:nvSpPr>
          <p:cNvPr id="4096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D6B91AF-9C4D-4ECD-8773-8D2E795A6B25}" type="slidenum">
              <a:rPr lang="en-GB" smtClean="0"/>
              <a:pPr/>
              <a:t>12</a:t>
            </a:fld>
            <a:endParaRPr lang="en-GB" smtClean="0"/>
          </a:p>
        </p:txBody>
      </p:sp>
      <p:sp>
        <p:nvSpPr>
          <p:cNvPr id="4198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49591780-E8B6-453E-8C1C-10FF70762AB4}" type="slidenum">
              <a:rPr lang="en-GB" smtClean="0"/>
              <a:pPr/>
              <a:t>13</a:t>
            </a:fld>
            <a:endParaRPr lang="en-GB" smtClean="0"/>
          </a:p>
        </p:txBody>
      </p:sp>
      <p:sp>
        <p:nvSpPr>
          <p:cNvPr id="4301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E178AD5C-2D83-4FF8-80D9-CD7233F36F98}" type="slidenum">
              <a:rPr lang="en-GB" smtClean="0"/>
              <a:pPr/>
              <a:t>14</a:t>
            </a:fld>
            <a:endParaRPr lang="en-GB" smtClean="0"/>
          </a:p>
        </p:txBody>
      </p:sp>
      <p:sp>
        <p:nvSpPr>
          <p:cNvPr id="4403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276504D5-9E20-4EA9-9BE1-716A95BBD4C8}" type="slidenum">
              <a:rPr lang="en-GB" smtClean="0"/>
              <a:pPr/>
              <a:t>15</a:t>
            </a:fld>
            <a:endParaRPr lang="en-GB" smtClean="0"/>
          </a:p>
        </p:txBody>
      </p:sp>
      <p:sp>
        <p:nvSpPr>
          <p:cNvPr id="4505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F9DBA15-0152-4B24-9876-FC84624B0312}" type="slidenum">
              <a:rPr lang="en-GB" smtClean="0"/>
              <a:pPr/>
              <a:t>16</a:t>
            </a:fld>
            <a:endParaRPr lang="en-GB" smtClean="0"/>
          </a:p>
        </p:txBody>
      </p:sp>
      <p:sp>
        <p:nvSpPr>
          <p:cNvPr id="4608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D24A774C-EB6F-4FE1-8785-6C809B7546B8}" type="slidenum">
              <a:rPr lang="en-GB" smtClean="0"/>
              <a:pPr/>
              <a:t>17</a:t>
            </a:fld>
            <a:endParaRPr lang="en-GB" smtClean="0"/>
          </a:p>
        </p:txBody>
      </p:sp>
      <p:sp>
        <p:nvSpPr>
          <p:cNvPr id="4710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endParaRPr lang="nl-NL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179388" y="115888"/>
            <a:ext cx="2862262" cy="882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" name="Picture 8" descr="photo"/>
          <p:cNvPicPr>
            <a:picLocks noChangeAspect="1" noChangeArrowheads="1"/>
          </p:cNvPicPr>
          <p:nvPr/>
        </p:nvPicPr>
        <p:blipFill>
          <a:blip r:embed="rId3" cstate="print">
            <a:lum bright="-6000" contrast="12000"/>
          </a:blip>
          <a:srcRect l="7753" r="6699" b="1320"/>
          <a:stretch>
            <a:fillRect/>
          </a:stretch>
        </p:blipFill>
        <p:spPr bwMode="gray">
          <a:xfrm>
            <a:off x="0" y="1112838"/>
            <a:ext cx="9144000" cy="534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3"/>
          <p:cNvSpPr>
            <a:spLocks noChangeArrowheads="1"/>
          </p:cNvSpPr>
          <p:nvPr/>
        </p:nvSpPr>
        <p:spPr bwMode="gray">
          <a:xfrm>
            <a:off x="0" y="6381750"/>
            <a:ext cx="9144000" cy="4762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gray">
          <a:xfrm>
            <a:off x="6659563" y="6381750"/>
            <a:ext cx="2119312" cy="4762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342900" indent="-342900" algn="r">
              <a:buClr>
                <a:srgbClr val="808080"/>
              </a:buClr>
              <a:defRPr/>
            </a:pPr>
            <a:r>
              <a:rPr lang="en-GB" sz="600"/>
              <a:t>© Logica - IFEAD 2008. All rights reserved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gray">
          <a:xfrm>
            <a:off x="2151063" y="6545263"/>
            <a:ext cx="4803775" cy="14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Rectangle 38"/>
          <p:cNvSpPr>
            <a:spLocks noChangeArrowheads="1"/>
          </p:cNvSpPr>
          <p:nvPr/>
        </p:nvSpPr>
        <p:spPr bwMode="gray">
          <a:xfrm flipV="1">
            <a:off x="0" y="1125538"/>
            <a:ext cx="9144000" cy="69850"/>
          </a:xfrm>
          <a:prstGeom prst="rect">
            <a:avLst/>
          </a:prstGeom>
          <a:solidFill>
            <a:srgbClr val="000066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0000" tIns="72000" rIns="90000" bIns="72000" anchor="ctr"/>
          <a:lstStyle/>
          <a:p>
            <a:pPr>
              <a:defRPr/>
            </a:pPr>
            <a:endParaRPr lang="en-US"/>
          </a:p>
        </p:txBody>
      </p:sp>
      <p:sp>
        <p:nvSpPr>
          <p:cNvPr id="37924" name="Rectangle 3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sz="3200" b="0" smtClean="0"/>
            </a:lvl1pPr>
          </a:lstStyle>
          <a:p>
            <a:r>
              <a:rPr lang="en-US" smtClean="0"/>
              <a:t>Click to edit Master subtitle style</a:t>
            </a:r>
            <a:endParaRPr lang="nl-NL" smtClean="0"/>
          </a:p>
        </p:txBody>
      </p:sp>
      <p:sp>
        <p:nvSpPr>
          <p:cNvPr id="37925" name="Rectangle 38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 smtClean="0"/>
            </a:lvl1pPr>
          </a:lstStyle>
          <a:p>
            <a:r>
              <a:rPr lang="en-US" smtClean="0"/>
              <a:t>Click to edit Master title style</a:t>
            </a:r>
            <a:endParaRPr lang="nl-NL" smtClean="0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gray">
          <a:xfrm>
            <a:off x="179388" y="115888"/>
            <a:ext cx="2862262" cy="8826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pic>
        <p:nvPicPr>
          <p:cNvPr id="5" name="Picture 8" descr="photo"/>
          <p:cNvPicPr>
            <a:picLocks noChangeAspect="1" noChangeArrowheads="1"/>
          </p:cNvPicPr>
          <p:nvPr/>
        </p:nvPicPr>
        <p:blipFill>
          <a:blip r:embed="rId3" cstate="print">
            <a:lum bright="-6000" contrast="12000"/>
          </a:blip>
          <a:srcRect l="7753" r="6699" b="1320"/>
          <a:stretch>
            <a:fillRect/>
          </a:stretch>
        </p:blipFill>
        <p:spPr bwMode="gray">
          <a:xfrm>
            <a:off x="0" y="1112838"/>
            <a:ext cx="9144000" cy="534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Rectangle 3"/>
          <p:cNvSpPr>
            <a:spLocks noChangeArrowheads="1"/>
          </p:cNvSpPr>
          <p:nvPr/>
        </p:nvSpPr>
        <p:spPr bwMode="gray">
          <a:xfrm>
            <a:off x="0" y="6381750"/>
            <a:ext cx="9144000" cy="476250"/>
          </a:xfrm>
          <a:prstGeom prst="rect">
            <a:avLst/>
          </a:prstGeom>
          <a:solidFill>
            <a:schemeClr val="accent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pPr>
              <a:defRPr/>
            </a:pPr>
            <a:endParaRPr lang="en-GB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gray">
          <a:xfrm>
            <a:off x="6659563" y="6381750"/>
            <a:ext cx="2119312" cy="4762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lIns="0" tIns="0" rIns="0" bIns="0" anchor="ctr"/>
          <a:lstStyle/>
          <a:p>
            <a:pPr marL="342900" indent="-342900" algn="r">
              <a:buClr>
                <a:srgbClr val="808080"/>
              </a:buClr>
              <a:defRPr/>
            </a:pPr>
            <a:r>
              <a:rPr lang="en-GB" sz="600" dirty="0">
                <a:latin typeface="Arial" pitchFamily="34" charset="0"/>
              </a:rPr>
              <a:t>© IFEAD 2001 - 2008. All rights reserved</a:t>
            </a:r>
          </a:p>
        </p:txBody>
      </p:sp>
      <p:pic>
        <p:nvPicPr>
          <p:cNvPr id="8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gray">
          <a:xfrm>
            <a:off x="2151063" y="6545263"/>
            <a:ext cx="4803775" cy="14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9" name="Group 9"/>
          <p:cNvGrpSpPr>
            <a:grpSpLocks/>
          </p:cNvGrpSpPr>
          <p:nvPr/>
        </p:nvGrpSpPr>
        <p:grpSpPr bwMode="auto">
          <a:xfrm>
            <a:off x="6443663" y="276225"/>
            <a:ext cx="2520950" cy="674688"/>
            <a:chOff x="250" y="224"/>
            <a:chExt cx="1588" cy="425"/>
          </a:xfrm>
        </p:grpSpPr>
        <p:sp>
          <p:nvSpPr>
            <p:cNvPr id="10" name="Freeform 10"/>
            <p:cNvSpPr>
              <a:spLocks noEditPoints="1"/>
            </p:cNvSpPr>
            <p:nvPr/>
          </p:nvSpPr>
          <p:spPr bwMode="auto">
            <a:xfrm>
              <a:off x="339" y="296"/>
              <a:ext cx="180" cy="179"/>
            </a:xfrm>
            <a:custGeom>
              <a:avLst/>
              <a:gdLst/>
              <a:ahLst/>
              <a:cxnLst>
                <a:cxn ang="0">
                  <a:pos x="0" y="186"/>
                </a:cxn>
                <a:cxn ang="0">
                  <a:pos x="187" y="373"/>
                </a:cxn>
                <a:cxn ang="0">
                  <a:pos x="373" y="186"/>
                </a:cxn>
                <a:cxn ang="0">
                  <a:pos x="187" y="0"/>
                </a:cxn>
                <a:cxn ang="0">
                  <a:pos x="0" y="186"/>
                </a:cxn>
                <a:cxn ang="0">
                  <a:pos x="87" y="188"/>
                </a:cxn>
                <a:cxn ang="0">
                  <a:pos x="187" y="87"/>
                </a:cxn>
                <a:cxn ang="0">
                  <a:pos x="288" y="188"/>
                </a:cxn>
                <a:cxn ang="0">
                  <a:pos x="187" y="288"/>
                </a:cxn>
                <a:cxn ang="0">
                  <a:pos x="87" y="188"/>
                </a:cxn>
              </a:cxnLst>
              <a:rect l="0" t="0" r="r" b="b"/>
              <a:pathLst>
                <a:path w="373" h="373">
                  <a:moveTo>
                    <a:pt x="0" y="186"/>
                  </a:moveTo>
                  <a:cubicBezTo>
                    <a:pt x="0" y="289"/>
                    <a:pt x="84" y="373"/>
                    <a:pt x="187" y="373"/>
                  </a:cubicBezTo>
                  <a:cubicBezTo>
                    <a:pt x="290" y="373"/>
                    <a:pt x="373" y="289"/>
                    <a:pt x="373" y="186"/>
                  </a:cubicBezTo>
                  <a:cubicBezTo>
                    <a:pt x="373" y="84"/>
                    <a:pt x="290" y="0"/>
                    <a:pt x="187" y="0"/>
                  </a:cubicBezTo>
                  <a:cubicBezTo>
                    <a:pt x="84" y="0"/>
                    <a:pt x="0" y="84"/>
                    <a:pt x="0" y="186"/>
                  </a:cubicBezTo>
                  <a:close/>
                  <a:moveTo>
                    <a:pt x="87" y="188"/>
                  </a:moveTo>
                  <a:cubicBezTo>
                    <a:pt x="87" y="132"/>
                    <a:pt x="132" y="87"/>
                    <a:pt x="187" y="87"/>
                  </a:cubicBezTo>
                  <a:cubicBezTo>
                    <a:pt x="243" y="87"/>
                    <a:pt x="288" y="132"/>
                    <a:pt x="288" y="188"/>
                  </a:cubicBezTo>
                  <a:cubicBezTo>
                    <a:pt x="288" y="243"/>
                    <a:pt x="243" y="288"/>
                    <a:pt x="187" y="288"/>
                  </a:cubicBezTo>
                  <a:cubicBezTo>
                    <a:pt x="132" y="288"/>
                    <a:pt x="87" y="243"/>
                    <a:pt x="87" y="188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" name="Freeform 11"/>
            <p:cNvSpPr>
              <a:spLocks/>
            </p:cNvSpPr>
            <p:nvPr/>
          </p:nvSpPr>
          <p:spPr bwMode="auto">
            <a:xfrm>
              <a:off x="250" y="224"/>
              <a:ext cx="89" cy="251"/>
            </a:xfrm>
            <a:custGeom>
              <a:avLst/>
              <a:gdLst/>
              <a:ahLst/>
              <a:cxnLst>
                <a:cxn ang="0">
                  <a:pos x="86" y="334"/>
                </a:cxn>
                <a:cxn ang="0">
                  <a:pos x="86" y="0"/>
                </a:cxn>
                <a:cxn ang="0">
                  <a:pos x="0" y="0"/>
                </a:cxn>
                <a:cxn ang="0">
                  <a:pos x="0" y="334"/>
                </a:cxn>
                <a:cxn ang="0">
                  <a:pos x="0" y="334"/>
                </a:cxn>
                <a:cxn ang="0">
                  <a:pos x="187" y="521"/>
                </a:cxn>
                <a:cxn ang="0">
                  <a:pos x="187" y="436"/>
                </a:cxn>
                <a:cxn ang="0">
                  <a:pos x="86" y="336"/>
                </a:cxn>
                <a:cxn ang="0">
                  <a:pos x="86" y="334"/>
                </a:cxn>
              </a:cxnLst>
              <a:rect l="0" t="0" r="r" b="b"/>
              <a:pathLst>
                <a:path w="187" h="521">
                  <a:moveTo>
                    <a:pt x="86" y="334"/>
                  </a:moveTo>
                  <a:cubicBezTo>
                    <a:pt x="86" y="0"/>
                    <a:pt x="86" y="0"/>
                    <a:pt x="8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34"/>
                    <a:pt x="0" y="334"/>
                    <a:pt x="0" y="334"/>
                  </a:cubicBezTo>
                  <a:cubicBezTo>
                    <a:pt x="0" y="334"/>
                    <a:pt x="0" y="334"/>
                    <a:pt x="0" y="334"/>
                  </a:cubicBezTo>
                  <a:cubicBezTo>
                    <a:pt x="0" y="437"/>
                    <a:pt x="84" y="521"/>
                    <a:pt x="187" y="521"/>
                  </a:cubicBezTo>
                  <a:cubicBezTo>
                    <a:pt x="187" y="436"/>
                    <a:pt x="187" y="436"/>
                    <a:pt x="187" y="436"/>
                  </a:cubicBezTo>
                  <a:cubicBezTo>
                    <a:pt x="131" y="436"/>
                    <a:pt x="86" y="391"/>
                    <a:pt x="86" y="336"/>
                  </a:cubicBezTo>
                  <a:lnTo>
                    <a:pt x="86" y="33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2" name="Freeform 12"/>
            <p:cNvSpPr>
              <a:spLocks noEditPoints="1"/>
            </p:cNvSpPr>
            <p:nvPr/>
          </p:nvSpPr>
          <p:spPr bwMode="auto">
            <a:xfrm>
              <a:off x="529" y="298"/>
              <a:ext cx="131" cy="131"/>
            </a:xfrm>
            <a:custGeom>
              <a:avLst/>
              <a:gdLst/>
              <a:ahLst/>
              <a:cxnLst>
                <a:cxn ang="0">
                  <a:pos x="0" y="136"/>
                </a:cxn>
                <a:cxn ang="0">
                  <a:pos x="136" y="272"/>
                </a:cxn>
                <a:cxn ang="0">
                  <a:pos x="272" y="136"/>
                </a:cxn>
                <a:cxn ang="0">
                  <a:pos x="136" y="0"/>
                </a:cxn>
                <a:cxn ang="0">
                  <a:pos x="0" y="136"/>
                </a:cxn>
                <a:cxn ang="0">
                  <a:pos x="75" y="137"/>
                </a:cxn>
                <a:cxn ang="0">
                  <a:pos x="136" y="75"/>
                </a:cxn>
                <a:cxn ang="0">
                  <a:pos x="198" y="137"/>
                </a:cxn>
                <a:cxn ang="0">
                  <a:pos x="136" y="199"/>
                </a:cxn>
                <a:cxn ang="0">
                  <a:pos x="75" y="137"/>
                </a:cxn>
              </a:cxnLst>
              <a:rect l="0" t="0" r="r" b="b"/>
              <a:pathLst>
                <a:path w="272" h="272">
                  <a:moveTo>
                    <a:pt x="0" y="136"/>
                  </a:moveTo>
                  <a:cubicBezTo>
                    <a:pt x="0" y="211"/>
                    <a:pt x="61" y="272"/>
                    <a:pt x="136" y="272"/>
                  </a:cubicBezTo>
                  <a:cubicBezTo>
                    <a:pt x="211" y="272"/>
                    <a:pt x="272" y="211"/>
                    <a:pt x="272" y="136"/>
                  </a:cubicBezTo>
                  <a:cubicBezTo>
                    <a:pt x="272" y="61"/>
                    <a:pt x="211" y="0"/>
                    <a:pt x="136" y="0"/>
                  </a:cubicBezTo>
                  <a:cubicBezTo>
                    <a:pt x="61" y="0"/>
                    <a:pt x="0" y="61"/>
                    <a:pt x="0" y="136"/>
                  </a:cubicBezTo>
                  <a:close/>
                  <a:moveTo>
                    <a:pt x="75" y="137"/>
                  </a:moveTo>
                  <a:cubicBezTo>
                    <a:pt x="75" y="103"/>
                    <a:pt x="102" y="75"/>
                    <a:pt x="136" y="75"/>
                  </a:cubicBezTo>
                  <a:cubicBezTo>
                    <a:pt x="170" y="75"/>
                    <a:pt x="198" y="103"/>
                    <a:pt x="198" y="137"/>
                  </a:cubicBezTo>
                  <a:cubicBezTo>
                    <a:pt x="198" y="171"/>
                    <a:pt x="170" y="199"/>
                    <a:pt x="136" y="199"/>
                  </a:cubicBezTo>
                  <a:cubicBezTo>
                    <a:pt x="102" y="199"/>
                    <a:pt x="75" y="171"/>
                    <a:pt x="75" y="137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3" name="Freeform 13"/>
            <p:cNvSpPr>
              <a:spLocks/>
            </p:cNvSpPr>
            <p:nvPr/>
          </p:nvSpPr>
          <p:spPr bwMode="auto">
            <a:xfrm>
              <a:off x="726" y="295"/>
              <a:ext cx="147" cy="178"/>
            </a:xfrm>
            <a:custGeom>
              <a:avLst/>
              <a:gdLst/>
              <a:ahLst/>
              <a:cxnLst>
                <a:cxn ang="0">
                  <a:pos x="265" y="245"/>
                </a:cxn>
                <a:cxn ang="0">
                  <a:pos x="264" y="245"/>
                </a:cxn>
                <a:cxn ang="0">
                  <a:pos x="186" y="284"/>
                </a:cxn>
                <a:cxn ang="0">
                  <a:pos x="88" y="186"/>
                </a:cxn>
                <a:cxn ang="0">
                  <a:pos x="186" y="88"/>
                </a:cxn>
                <a:cxn ang="0">
                  <a:pos x="264" y="126"/>
                </a:cxn>
                <a:cxn ang="0">
                  <a:pos x="265" y="127"/>
                </a:cxn>
                <a:cxn ang="0">
                  <a:pos x="307" y="45"/>
                </a:cxn>
                <a:cxn ang="0">
                  <a:pos x="306" y="44"/>
                </a:cxn>
                <a:cxn ang="0">
                  <a:pos x="186" y="0"/>
                </a:cxn>
                <a:cxn ang="0">
                  <a:pos x="0" y="186"/>
                </a:cxn>
                <a:cxn ang="0">
                  <a:pos x="186" y="372"/>
                </a:cxn>
                <a:cxn ang="0">
                  <a:pos x="299" y="334"/>
                </a:cxn>
                <a:cxn ang="0">
                  <a:pos x="307" y="327"/>
                </a:cxn>
                <a:cxn ang="0">
                  <a:pos x="265" y="245"/>
                </a:cxn>
              </a:cxnLst>
              <a:rect l="0" t="0" r="r" b="b"/>
              <a:pathLst>
                <a:path w="307" h="372">
                  <a:moveTo>
                    <a:pt x="265" y="245"/>
                  </a:moveTo>
                  <a:cubicBezTo>
                    <a:pt x="264" y="245"/>
                    <a:pt x="264" y="245"/>
                    <a:pt x="264" y="245"/>
                  </a:cubicBezTo>
                  <a:cubicBezTo>
                    <a:pt x="245" y="270"/>
                    <a:pt x="217" y="284"/>
                    <a:pt x="186" y="284"/>
                  </a:cubicBezTo>
                  <a:cubicBezTo>
                    <a:pt x="132" y="284"/>
                    <a:pt x="88" y="240"/>
                    <a:pt x="88" y="186"/>
                  </a:cubicBezTo>
                  <a:cubicBezTo>
                    <a:pt x="88" y="132"/>
                    <a:pt x="132" y="88"/>
                    <a:pt x="186" y="88"/>
                  </a:cubicBezTo>
                  <a:cubicBezTo>
                    <a:pt x="217" y="88"/>
                    <a:pt x="245" y="102"/>
                    <a:pt x="264" y="126"/>
                  </a:cubicBezTo>
                  <a:cubicBezTo>
                    <a:pt x="265" y="127"/>
                    <a:pt x="265" y="127"/>
                    <a:pt x="265" y="127"/>
                  </a:cubicBezTo>
                  <a:cubicBezTo>
                    <a:pt x="273" y="96"/>
                    <a:pt x="287" y="68"/>
                    <a:pt x="307" y="45"/>
                  </a:cubicBezTo>
                  <a:cubicBezTo>
                    <a:pt x="306" y="44"/>
                    <a:pt x="306" y="44"/>
                    <a:pt x="306" y="44"/>
                  </a:cubicBezTo>
                  <a:cubicBezTo>
                    <a:pt x="272" y="16"/>
                    <a:pt x="230" y="0"/>
                    <a:pt x="186" y="0"/>
                  </a:cubicBezTo>
                  <a:cubicBezTo>
                    <a:pt x="84" y="0"/>
                    <a:pt x="0" y="84"/>
                    <a:pt x="0" y="186"/>
                  </a:cubicBezTo>
                  <a:cubicBezTo>
                    <a:pt x="0" y="289"/>
                    <a:pt x="84" y="372"/>
                    <a:pt x="186" y="372"/>
                  </a:cubicBezTo>
                  <a:cubicBezTo>
                    <a:pt x="228" y="372"/>
                    <a:pt x="266" y="359"/>
                    <a:pt x="299" y="334"/>
                  </a:cubicBezTo>
                  <a:cubicBezTo>
                    <a:pt x="299" y="334"/>
                    <a:pt x="302" y="332"/>
                    <a:pt x="307" y="327"/>
                  </a:cubicBezTo>
                  <a:cubicBezTo>
                    <a:pt x="287" y="303"/>
                    <a:pt x="273" y="275"/>
                    <a:pt x="265" y="245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4" name="Freeform 14"/>
            <p:cNvSpPr>
              <a:spLocks noEditPoints="1"/>
            </p:cNvSpPr>
            <p:nvPr/>
          </p:nvSpPr>
          <p:spPr bwMode="auto">
            <a:xfrm>
              <a:off x="867" y="295"/>
              <a:ext cx="179" cy="178"/>
            </a:xfrm>
            <a:custGeom>
              <a:avLst/>
              <a:gdLst/>
              <a:ahLst/>
              <a:cxnLst>
                <a:cxn ang="0">
                  <a:pos x="372" y="186"/>
                </a:cxn>
                <a:cxn ang="0">
                  <a:pos x="186" y="0"/>
                </a:cxn>
                <a:cxn ang="0">
                  <a:pos x="0" y="186"/>
                </a:cxn>
                <a:cxn ang="0">
                  <a:pos x="186" y="372"/>
                </a:cxn>
                <a:cxn ang="0">
                  <a:pos x="294" y="338"/>
                </a:cxn>
                <a:cxn ang="0">
                  <a:pos x="294" y="372"/>
                </a:cxn>
                <a:cxn ang="0">
                  <a:pos x="372" y="372"/>
                </a:cxn>
                <a:cxn ang="0">
                  <a:pos x="372" y="199"/>
                </a:cxn>
                <a:cxn ang="0">
                  <a:pos x="372" y="199"/>
                </a:cxn>
                <a:cxn ang="0">
                  <a:pos x="372" y="186"/>
                </a:cxn>
                <a:cxn ang="0">
                  <a:pos x="187" y="294"/>
                </a:cxn>
                <a:cxn ang="0">
                  <a:pos x="80" y="187"/>
                </a:cxn>
                <a:cxn ang="0">
                  <a:pos x="187" y="80"/>
                </a:cxn>
                <a:cxn ang="0">
                  <a:pos x="293" y="187"/>
                </a:cxn>
                <a:cxn ang="0">
                  <a:pos x="187" y="294"/>
                </a:cxn>
              </a:cxnLst>
              <a:rect l="0" t="0" r="r" b="b"/>
              <a:pathLst>
                <a:path w="372" h="372">
                  <a:moveTo>
                    <a:pt x="372" y="186"/>
                  </a:moveTo>
                  <a:cubicBezTo>
                    <a:pt x="372" y="83"/>
                    <a:pt x="289" y="0"/>
                    <a:pt x="186" y="0"/>
                  </a:cubicBezTo>
                  <a:cubicBezTo>
                    <a:pt x="83" y="0"/>
                    <a:pt x="0" y="83"/>
                    <a:pt x="0" y="186"/>
                  </a:cubicBezTo>
                  <a:cubicBezTo>
                    <a:pt x="0" y="289"/>
                    <a:pt x="83" y="372"/>
                    <a:pt x="186" y="372"/>
                  </a:cubicBezTo>
                  <a:cubicBezTo>
                    <a:pt x="226" y="372"/>
                    <a:pt x="263" y="360"/>
                    <a:pt x="294" y="338"/>
                  </a:cubicBezTo>
                  <a:cubicBezTo>
                    <a:pt x="294" y="372"/>
                    <a:pt x="294" y="372"/>
                    <a:pt x="294" y="372"/>
                  </a:cubicBezTo>
                  <a:cubicBezTo>
                    <a:pt x="372" y="372"/>
                    <a:pt x="372" y="372"/>
                    <a:pt x="372" y="372"/>
                  </a:cubicBezTo>
                  <a:cubicBezTo>
                    <a:pt x="372" y="199"/>
                    <a:pt x="372" y="199"/>
                    <a:pt x="372" y="199"/>
                  </a:cubicBezTo>
                  <a:cubicBezTo>
                    <a:pt x="372" y="199"/>
                    <a:pt x="372" y="199"/>
                    <a:pt x="372" y="199"/>
                  </a:cubicBezTo>
                  <a:cubicBezTo>
                    <a:pt x="372" y="195"/>
                    <a:pt x="372" y="190"/>
                    <a:pt x="372" y="186"/>
                  </a:cubicBezTo>
                  <a:close/>
                  <a:moveTo>
                    <a:pt x="187" y="294"/>
                  </a:moveTo>
                  <a:cubicBezTo>
                    <a:pt x="128" y="294"/>
                    <a:pt x="80" y="246"/>
                    <a:pt x="80" y="187"/>
                  </a:cubicBezTo>
                  <a:cubicBezTo>
                    <a:pt x="80" y="128"/>
                    <a:pt x="128" y="80"/>
                    <a:pt x="187" y="80"/>
                  </a:cubicBezTo>
                  <a:cubicBezTo>
                    <a:pt x="245" y="80"/>
                    <a:pt x="293" y="128"/>
                    <a:pt x="293" y="187"/>
                  </a:cubicBezTo>
                  <a:cubicBezTo>
                    <a:pt x="293" y="246"/>
                    <a:pt x="245" y="294"/>
                    <a:pt x="187" y="294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5" name="Freeform 15"/>
            <p:cNvSpPr>
              <a:spLocks noEditPoints="1"/>
            </p:cNvSpPr>
            <p:nvPr/>
          </p:nvSpPr>
          <p:spPr bwMode="auto">
            <a:xfrm>
              <a:off x="461" y="435"/>
              <a:ext cx="214" cy="214"/>
            </a:xfrm>
            <a:custGeom>
              <a:avLst/>
              <a:gdLst/>
              <a:ahLst/>
              <a:cxnLst>
                <a:cxn ang="0">
                  <a:pos x="0" y="223"/>
                </a:cxn>
                <a:cxn ang="0">
                  <a:pos x="223" y="445"/>
                </a:cxn>
                <a:cxn ang="0">
                  <a:pos x="445" y="223"/>
                </a:cxn>
                <a:cxn ang="0">
                  <a:pos x="223" y="0"/>
                </a:cxn>
                <a:cxn ang="0">
                  <a:pos x="0" y="223"/>
                </a:cxn>
                <a:cxn ang="0">
                  <a:pos x="104" y="224"/>
                </a:cxn>
                <a:cxn ang="0">
                  <a:pos x="224" y="104"/>
                </a:cxn>
                <a:cxn ang="0">
                  <a:pos x="343" y="224"/>
                </a:cxn>
                <a:cxn ang="0">
                  <a:pos x="224" y="344"/>
                </a:cxn>
                <a:cxn ang="0">
                  <a:pos x="104" y="224"/>
                </a:cxn>
              </a:cxnLst>
              <a:rect l="0" t="0" r="r" b="b"/>
              <a:pathLst>
                <a:path w="445" h="445">
                  <a:moveTo>
                    <a:pt x="0" y="223"/>
                  </a:moveTo>
                  <a:cubicBezTo>
                    <a:pt x="0" y="345"/>
                    <a:pt x="100" y="445"/>
                    <a:pt x="223" y="445"/>
                  </a:cubicBezTo>
                  <a:cubicBezTo>
                    <a:pt x="346" y="445"/>
                    <a:pt x="445" y="345"/>
                    <a:pt x="445" y="223"/>
                  </a:cubicBezTo>
                  <a:cubicBezTo>
                    <a:pt x="445" y="100"/>
                    <a:pt x="346" y="0"/>
                    <a:pt x="223" y="0"/>
                  </a:cubicBezTo>
                  <a:cubicBezTo>
                    <a:pt x="100" y="0"/>
                    <a:pt x="0" y="100"/>
                    <a:pt x="0" y="223"/>
                  </a:cubicBezTo>
                  <a:close/>
                  <a:moveTo>
                    <a:pt x="104" y="224"/>
                  </a:moveTo>
                  <a:cubicBezTo>
                    <a:pt x="104" y="158"/>
                    <a:pt x="158" y="104"/>
                    <a:pt x="224" y="104"/>
                  </a:cubicBezTo>
                  <a:cubicBezTo>
                    <a:pt x="290" y="104"/>
                    <a:pt x="343" y="158"/>
                    <a:pt x="343" y="224"/>
                  </a:cubicBezTo>
                  <a:cubicBezTo>
                    <a:pt x="343" y="290"/>
                    <a:pt x="290" y="344"/>
                    <a:pt x="224" y="344"/>
                  </a:cubicBezTo>
                  <a:cubicBezTo>
                    <a:pt x="158" y="344"/>
                    <a:pt x="104" y="290"/>
                    <a:pt x="104" y="224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674" y="347"/>
              <a:ext cx="38" cy="122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0" y="255"/>
                </a:cxn>
                <a:cxn ang="0">
                  <a:pos x="80" y="255"/>
                </a:cxn>
                <a:cxn ang="0">
                  <a:pos x="80" y="0"/>
                </a:cxn>
                <a:cxn ang="0">
                  <a:pos x="40" y="11"/>
                </a:cxn>
                <a:cxn ang="0">
                  <a:pos x="0" y="0"/>
                </a:cxn>
              </a:cxnLst>
              <a:rect l="0" t="0" r="r" b="b"/>
              <a:pathLst>
                <a:path w="80" h="255">
                  <a:moveTo>
                    <a:pt x="0" y="0"/>
                  </a:moveTo>
                  <a:cubicBezTo>
                    <a:pt x="0" y="255"/>
                    <a:pt x="0" y="255"/>
                    <a:pt x="0" y="255"/>
                  </a:cubicBezTo>
                  <a:cubicBezTo>
                    <a:pt x="80" y="255"/>
                    <a:pt x="80" y="255"/>
                    <a:pt x="80" y="255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68" y="7"/>
                    <a:pt x="55" y="11"/>
                    <a:pt x="40" y="11"/>
                  </a:cubicBezTo>
                  <a:cubicBezTo>
                    <a:pt x="25" y="11"/>
                    <a:pt x="12" y="7"/>
                    <a:pt x="0" y="0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7" name="Oval 17"/>
            <p:cNvSpPr>
              <a:spLocks noChangeArrowheads="1"/>
            </p:cNvSpPr>
            <p:nvPr/>
          </p:nvSpPr>
          <p:spPr bwMode="auto">
            <a:xfrm>
              <a:off x="671" y="296"/>
              <a:ext cx="44" cy="43"/>
            </a:xfrm>
            <a:prstGeom prst="ellipse">
              <a:avLst/>
            </a:pr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8" name="Freeform 18"/>
            <p:cNvSpPr>
              <a:spLocks/>
            </p:cNvSpPr>
            <p:nvPr/>
          </p:nvSpPr>
          <p:spPr bwMode="auto">
            <a:xfrm>
              <a:off x="1105" y="295"/>
              <a:ext cx="89" cy="62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6" y="3"/>
                </a:cxn>
                <a:cxn ang="0">
                  <a:pos x="26" y="21"/>
                </a:cxn>
                <a:cxn ang="0">
                  <a:pos x="27" y="21"/>
                </a:cxn>
                <a:cxn ang="0">
                  <a:pos x="66" y="0"/>
                </a:cxn>
                <a:cxn ang="0">
                  <a:pos x="101" y="21"/>
                </a:cxn>
                <a:cxn ang="0">
                  <a:pos x="141" y="0"/>
                </a:cxn>
                <a:cxn ang="0">
                  <a:pos x="184" y="43"/>
                </a:cxn>
                <a:cxn ang="0">
                  <a:pos x="184" y="130"/>
                </a:cxn>
                <a:cxn ang="0">
                  <a:pos x="156" y="130"/>
                </a:cxn>
                <a:cxn ang="0">
                  <a:pos x="156" y="56"/>
                </a:cxn>
                <a:cxn ang="0">
                  <a:pos x="133" y="22"/>
                </a:cxn>
                <a:cxn ang="0">
                  <a:pos x="106" y="56"/>
                </a:cxn>
                <a:cxn ang="0">
                  <a:pos x="106" y="130"/>
                </a:cxn>
                <a:cxn ang="0">
                  <a:pos x="78" y="130"/>
                </a:cxn>
                <a:cxn ang="0">
                  <a:pos x="78" y="49"/>
                </a:cxn>
                <a:cxn ang="0">
                  <a:pos x="55" y="22"/>
                </a:cxn>
                <a:cxn ang="0">
                  <a:pos x="28" y="55"/>
                </a:cxn>
                <a:cxn ang="0">
                  <a:pos x="28" y="130"/>
                </a:cxn>
                <a:cxn ang="0">
                  <a:pos x="0" y="130"/>
                </a:cxn>
                <a:cxn ang="0">
                  <a:pos x="0" y="3"/>
                </a:cxn>
              </a:cxnLst>
              <a:rect l="0" t="0" r="r" b="b"/>
              <a:pathLst>
                <a:path w="184" h="130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21"/>
                    <a:pt x="26" y="21"/>
                    <a:pt x="26" y="21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35" y="8"/>
                    <a:pt x="46" y="0"/>
                    <a:pt x="66" y="0"/>
                  </a:cubicBezTo>
                  <a:cubicBezTo>
                    <a:pt x="81" y="0"/>
                    <a:pt x="96" y="7"/>
                    <a:pt x="101" y="21"/>
                  </a:cubicBezTo>
                  <a:cubicBezTo>
                    <a:pt x="111" y="8"/>
                    <a:pt x="123" y="0"/>
                    <a:pt x="141" y="0"/>
                  </a:cubicBezTo>
                  <a:cubicBezTo>
                    <a:pt x="168" y="0"/>
                    <a:pt x="184" y="12"/>
                    <a:pt x="184" y="43"/>
                  </a:cubicBezTo>
                  <a:cubicBezTo>
                    <a:pt x="184" y="130"/>
                    <a:pt x="184" y="130"/>
                    <a:pt x="184" y="130"/>
                  </a:cubicBezTo>
                  <a:cubicBezTo>
                    <a:pt x="156" y="130"/>
                    <a:pt x="156" y="130"/>
                    <a:pt x="156" y="130"/>
                  </a:cubicBezTo>
                  <a:cubicBezTo>
                    <a:pt x="156" y="56"/>
                    <a:pt x="156" y="56"/>
                    <a:pt x="156" y="56"/>
                  </a:cubicBezTo>
                  <a:cubicBezTo>
                    <a:pt x="156" y="36"/>
                    <a:pt x="154" y="22"/>
                    <a:pt x="133" y="22"/>
                  </a:cubicBezTo>
                  <a:cubicBezTo>
                    <a:pt x="114" y="22"/>
                    <a:pt x="106" y="34"/>
                    <a:pt x="106" y="56"/>
                  </a:cubicBezTo>
                  <a:cubicBezTo>
                    <a:pt x="106" y="130"/>
                    <a:pt x="106" y="130"/>
                    <a:pt x="106" y="130"/>
                  </a:cubicBezTo>
                  <a:cubicBezTo>
                    <a:pt x="78" y="130"/>
                    <a:pt x="78" y="130"/>
                    <a:pt x="78" y="130"/>
                  </a:cubicBezTo>
                  <a:cubicBezTo>
                    <a:pt x="78" y="49"/>
                    <a:pt x="78" y="49"/>
                    <a:pt x="78" y="49"/>
                  </a:cubicBezTo>
                  <a:cubicBezTo>
                    <a:pt x="78" y="31"/>
                    <a:pt x="72" y="22"/>
                    <a:pt x="55" y="22"/>
                  </a:cubicBezTo>
                  <a:cubicBezTo>
                    <a:pt x="41" y="22"/>
                    <a:pt x="28" y="34"/>
                    <a:pt x="28" y="55"/>
                  </a:cubicBezTo>
                  <a:cubicBezTo>
                    <a:pt x="28" y="130"/>
                    <a:pt x="28" y="130"/>
                    <a:pt x="28" y="130"/>
                  </a:cubicBezTo>
                  <a:cubicBezTo>
                    <a:pt x="0" y="130"/>
                    <a:pt x="0" y="130"/>
                    <a:pt x="0" y="13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9" name="Freeform 19"/>
            <p:cNvSpPr>
              <a:spLocks noEditPoints="1"/>
            </p:cNvSpPr>
            <p:nvPr/>
          </p:nvSpPr>
          <p:spPr bwMode="auto">
            <a:xfrm>
              <a:off x="1208" y="295"/>
              <a:ext cx="61" cy="64"/>
            </a:xfrm>
            <a:custGeom>
              <a:avLst/>
              <a:gdLst/>
              <a:ahLst/>
              <a:cxnLst>
                <a:cxn ang="0">
                  <a:pos x="113" y="102"/>
                </a:cxn>
                <a:cxn ang="0">
                  <a:pos x="119" y="111"/>
                </a:cxn>
                <a:cxn ang="0">
                  <a:pos x="126" y="111"/>
                </a:cxn>
                <a:cxn ang="0">
                  <a:pos x="126" y="130"/>
                </a:cxn>
                <a:cxn ang="0">
                  <a:pos x="109" y="134"/>
                </a:cxn>
                <a:cxn ang="0">
                  <a:pos x="87" y="118"/>
                </a:cxn>
                <a:cxn ang="0">
                  <a:pos x="43" y="134"/>
                </a:cxn>
                <a:cxn ang="0">
                  <a:pos x="0" y="97"/>
                </a:cxn>
                <a:cxn ang="0">
                  <a:pos x="48" y="57"/>
                </a:cxn>
                <a:cxn ang="0">
                  <a:pos x="87" y="39"/>
                </a:cxn>
                <a:cxn ang="0">
                  <a:pos x="60" y="22"/>
                </a:cxn>
                <a:cxn ang="0">
                  <a:pos x="32" y="42"/>
                </a:cxn>
                <a:cxn ang="0">
                  <a:pos x="4" y="42"/>
                </a:cxn>
                <a:cxn ang="0">
                  <a:pos x="62" y="0"/>
                </a:cxn>
                <a:cxn ang="0">
                  <a:pos x="113" y="37"/>
                </a:cxn>
                <a:cxn ang="0">
                  <a:pos x="113" y="102"/>
                </a:cxn>
                <a:cxn ang="0">
                  <a:pos x="85" y="67"/>
                </a:cxn>
                <a:cxn ang="0">
                  <a:pos x="50" y="74"/>
                </a:cxn>
                <a:cxn ang="0">
                  <a:pos x="28" y="95"/>
                </a:cxn>
                <a:cxn ang="0">
                  <a:pos x="53" y="111"/>
                </a:cxn>
                <a:cxn ang="0">
                  <a:pos x="85" y="87"/>
                </a:cxn>
                <a:cxn ang="0">
                  <a:pos x="85" y="67"/>
                </a:cxn>
              </a:cxnLst>
              <a:rect l="0" t="0" r="r" b="b"/>
              <a:pathLst>
                <a:path w="126" h="134">
                  <a:moveTo>
                    <a:pt x="113" y="102"/>
                  </a:moveTo>
                  <a:cubicBezTo>
                    <a:pt x="113" y="109"/>
                    <a:pt x="114" y="111"/>
                    <a:pt x="119" y="111"/>
                  </a:cubicBezTo>
                  <a:cubicBezTo>
                    <a:pt x="121" y="111"/>
                    <a:pt x="123" y="111"/>
                    <a:pt x="126" y="111"/>
                  </a:cubicBezTo>
                  <a:cubicBezTo>
                    <a:pt x="126" y="130"/>
                    <a:pt x="126" y="130"/>
                    <a:pt x="126" y="130"/>
                  </a:cubicBezTo>
                  <a:cubicBezTo>
                    <a:pt x="122" y="132"/>
                    <a:pt x="113" y="134"/>
                    <a:pt x="109" y="134"/>
                  </a:cubicBezTo>
                  <a:cubicBezTo>
                    <a:pt x="97" y="134"/>
                    <a:pt x="89" y="130"/>
                    <a:pt x="87" y="118"/>
                  </a:cubicBezTo>
                  <a:cubicBezTo>
                    <a:pt x="76" y="129"/>
                    <a:pt x="58" y="134"/>
                    <a:pt x="43" y="134"/>
                  </a:cubicBezTo>
                  <a:cubicBezTo>
                    <a:pt x="20" y="134"/>
                    <a:pt x="0" y="121"/>
                    <a:pt x="0" y="97"/>
                  </a:cubicBezTo>
                  <a:cubicBezTo>
                    <a:pt x="0" y="65"/>
                    <a:pt x="25" y="60"/>
                    <a:pt x="48" y="57"/>
                  </a:cubicBezTo>
                  <a:cubicBezTo>
                    <a:pt x="69" y="53"/>
                    <a:pt x="87" y="56"/>
                    <a:pt x="87" y="39"/>
                  </a:cubicBezTo>
                  <a:cubicBezTo>
                    <a:pt x="87" y="25"/>
                    <a:pt x="72" y="22"/>
                    <a:pt x="60" y="22"/>
                  </a:cubicBezTo>
                  <a:cubicBezTo>
                    <a:pt x="45" y="22"/>
                    <a:pt x="34" y="28"/>
                    <a:pt x="32" y="42"/>
                  </a:cubicBezTo>
                  <a:cubicBezTo>
                    <a:pt x="4" y="42"/>
                    <a:pt x="4" y="42"/>
                    <a:pt x="4" y="42"/>
                  </a:cubicBezTo>
                  <a:cubicBezTo>
                    <a:pt x="6" y="9"/>
                    <a:pt x="34" y="0"/>
                    <a:pt x="62" y="0"/>
                  </a:cubicBezTo>
                  <a:cubicBezTo>
                    <a:pt x="87" y="0"/>
                    <a:pt x="113" y="10"/>
                    <a:pt x="113" y="37"/>
                  </a:cubicBezTo>
                  <a:lnTo>
                    <a:pt x="113" y="102"/>
                  </a:lnTo>
                  <a:close/>
                  <a:moveTo>
                    <a:pt x="85" y="67"/>
                  </a:moveTo>
                  <a:cubicBezTo>
                    <a:pt x="76" y="72"/>
                    <a:pt x="63" y="72"/>
                    <a:pt x="50" y="74"/>
                  </a:cubicBezTo>
                  <a:cubicBezTo>
                    <a:pt x="38" y="76"/>
                    <a:pt x="28" y="81"/>
                    <a:pt x="28" y="95"/>
                  </a:cubicBezTo>
                  <a:cubicBezTo>
                    <a:pt x="28" y="108"/>
                    <a:pt x="44" y="111"/>
                    <a:pt x="53" y="111"/>
                  </a:cubicBezTo>
                  <a:cubicBezTo>
                    <a:pt x="66" y="111"/>
                    <a:pt x="85" y="105"/>
                    <a:pt x="85" y="87"/>
                  </a:cubicBezTo>
                  <a:lnTo>
                    <a:pt x="85" y="6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0" name="Freeform 20"/>
            <p:cNvSpPr>
              <a:spLocks/>
            </p:cNvSpPr>
            <p:nvPr/>
          </p:nvSpPr>
          <p:spPr bwMode="auto">
            <a:xfrm>
              <a:off x="1282" y="295"/>
              <a:ext cx="53" cy="62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6" y="3"/>
                </a:cxn>
                <a:cxn ang="0">
                  <a:pos x="26" y="22"/>
                </a:cxn>
                <a:cxn ang="0">
                  <a:pos x="27" y="22"/>
                </a:cxn>
                <a:cxn ang="0">
                  <a:pos x="66" y="0"/>
                </a:cxn>
                <a:cxn ang="0">
                  <a:pos x="111" y="43"/>
                </a:cxn>
                <a:cxn ang="0">
                  <a:pos x="111" y="130"/>
                </a:cxn>
                <a:cxn ang="0">
                  <a:pos x="83" y="130"/>
                </a:cxn>
                <a:cxn ang="0">
                  <a:pos x="83" y="50"/>
                </a:cxn>
                <a:cxn ang="0">
                  <a:pos x="58" y="22"/>
                </a:cxn>
                <a:cxn ang="0">
                  <a:pos x="28" y="55"/>
                </a:cxn>
                <a:cxn ang="0">
                  <a:pos x="28" y="130"/>
                </a:cxn>
                <a:cxn ang="0">
                  <a:pos x="0" y="130"/>
                </a:cxn>
                <a:cxn ang="0">
                  <a:pos x="0" y="3"/>
                </a:cxn>
              </a:cxnLst>
              <a:rect l="0" t="0" r="r" b="b"/>
              <a:pathLst>
                <a:path w="111" h="130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22"/>
                    <a:pt x="26" y="22"/>
                    <a:pt x="26" y="22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35" y="8"/>
                    <a:pt x="49" y="0"/>
                    <a:pt x="66" y="0"/>
                  </a:cubicBezTo>
                  <a:cubicBezTo>
                    <a:pt x="94" y="0"/>
                    <a:pt x="111" y="15"/>
                    <a:pt x="111" y="43"/>
                  </a:cubicBezTo>
                  <a:cubicBezTo>
                    <a:pt x="111" y="130"/>
                    <a:pt x="111" y="130"/>
                    <a:pt x="111" y="130"/>
                  </a:cubicBezTo>
                  <a:cubicBezTo>
                    <a:pt x="83" y="130"/>
                    <a:pt x="83" y="130"/>
                    <a:pt x="83" y="130"/>
                  </a:cubicBezTo>
                  <a:cubicBezTo>
                    <a:pt x="83" y="50"/>
                    <a:pt x="83" y="50"/>
                    <a:pt x="83" y="50"/>
                  </a:cubicBezTo>
                  <a:cubicBezTo>
                    <a:pt x="82" y="31"/>
                    <a:pt x="75" y="22"/>
                    <a:pt x="58" y="22"/>
                  </a:cubicBezTo>
                  <a:cubicBezTo>
                    <a:pt x="40" y="22"/>
                    <a:pt x="28" y="37"/>
                    <a:pt x="28" y="55"/>
                  </a:cubicBezTo>
                  <a:cubicBezTo>
                    <a:pt x="28" y="130"/>
                    <a:pt x="28" y="130"/>
                    <a:pt x="28" y="130"/>
                  </a:cubicBezTo>
                  <a:cubicBezTo>
                    <a:pt x="0" y="130"/>
                    <a:pt x="0" y="130"/>
                    <a:pt x="0" y="13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1" name="Freeform 21"/>
            <p:cNvSpPr>
              <a:spLocks noEditPoints="1"/>
            </p:cNvSpPr>
            <p:nvPr/>
          </p:nvSpPr>
          <p:spPr bwMode="auto">
            <a:xfrm>
              <a:off x="1349" y="295"/>
              <a:ext cx="61" cy="64"/>
            </a:xfrm>
            <a:custGeom>
              <a:avLst/>
              <a:gdLst/>
              <a:ahLst/>
              <a:cxnLst>
                <a:cxn ang="0">
                  <a:pos x="113" y="102"/>
                </a:cxn>
                <a:cxn ang="0">
                  <a:pos x="120" y="111"/>
                </a:cxn>
                <a:cxn ang="0">
                  <a:pos x="127" y="111"/>
                </a:cxn>
                <a:cxn ang="0">
                  <a:pos x="127" y="130"/>
                </a:cxn>
                <a:cxn ang="0">
                  <a:pos x="109" y="134"/>
                </a:cxn>
                <a:cxn ang="0">
                  <a:pos x="87" y="118"/>
                </a:cxn>
                <a:cxn ang="0">
                  <a:pos x="44" y="134"/>
                </a:cxn>
                <a:cxn ang="0">
                  <a:pos x="0" y="97"/>
                </a:cxn>
                <a:cxn ang="0">
                  <a:pos x="49" y="57"/>
                </a:cxn>
                <a:cxn ang="0">
                  <a:pos x="87" y="39"/>
                </a:cxn>
                <a:cxn ang="0">
                  <a:pos x="61" y="22"/>
                </a:cxn>
                <a:cxn ang="0">
                  <a:pos x="33" y="42"/>
                </a:cxn>
                <a:cxn ang="0">
                  <a:pos x="5" y="42"/>
                </a:cxn>
                <a:cxn ang="0">
                  <a:pos x="62" y="0"/>
                </a:cxn>
                <a:cxn ang="0">
                  <a:pos x="113" y="37"/>
                </a:cxn>
                <a:cxn ang="0">
                  <a:pos x="113" y="102"/>
                </a:cxn>
                <a:cxn ang="0">
                  <a:pos x="85" y="67"/>
                </a:cxn>
                <a:cxn ang="0">
                  <a:pos x="51" y="74"/>
                </a:cxn>
                <a:cxn ang="0">
                  <a:pos x="28" y="95"/>
                </a:cxn>
                <a:cxn ang="0">
                  <a:pos x="54" y="111"/>
                </a:cxn>
                <a:cxn ang="0">
                  <a:pos x="85" y="87"/>
                </a:cxn>
                <a:cxn ang="0">
                  <a:pos x="85" y="67"/>
                </a:cxn>
              </a:cxnLst>
              <a:rect l="0" t="0" r="r" b="b"/>
              <a:pathLst>
                <a:path w="127" h="134">
                  <a:moveTo>
                    <a:pt x="113" y="102"/>
                  </a:moveTo>
                  <a:cubicBezTo>
                    <a:pt x="113" y="109"/>
                    <a:pt x="115" y="111"/>
                    <a:pt x="120" y="111"/>
                  </a:cubicBezTo>
                  <a:cubicBezTo>
                    <a:pt x="122" y="111"/>
                    <a:pt x="124" y="111"/>
                    <a:pt x="127" y="111"/>
                  </a:cubicBezTo>
                  <a:cubicBezTo>
                    <a:pt x="127" y="130"/>
                    <a:pt x="127" y="130"/>
                    <a:pt x="127" y="130"/>
                  </a:cubicBezTo>
                  <a:cubicBezTo>
                    <a:pt x="123" y="132"/>
                    <a:pt x="114" y="134"/>
                    <a:pt x="109" y="134"/>
                  </a:cubicBezTo>
                  <a:cubicBezTo>
                    <a:pt x="98" y="134"/>
                    <a:pt x="90" y="130"/>
                    <a:pt x="87" y="118"/>
                  </a:cubicBezTo>
                  <a:cubicBezTo>
                    <a:pt x="76" y="129"/>
                    <a:pt x="59" y="134"/>
                    <a:pt x="44" y="134"/>
                  </a:cubicBezTo>
                  <a:cubicBezTo>
                    <a:pt x="21" y="134"/>
                    <a:pt x="0" y="121"/>
                    <a:pt x="0" y="97"/>
                  </a:cubicBezTo>
                  <a:cubicBezTo>
                    <a:pt x="0" y="65"/>
                    <a:pt x="25" y="60"/>
                    <a:pt x="49" y="57"/>
                  </a:cubicBezTo>
                  <a:cubicBezTo>
                    <a:pt x="69" y="53"/>
                    <a:pt x="87" y="56"/>
                    <a:pt x="87" y="39"/>
                  </a:cubicBezTo>
                  <a:cubicBezTo>
                    <a:pt x="87" y="25"/>
                    <a:pt x="72" y="22"/>
                    <a:pt x="61" y="22"/>
                  </a:cubicBezTo>
                  <a:cubicBezTo>
                    <a:pt x="45" y="22"/>
                    <a:pt x="34" y="28"/>
                    <a:pt x="33" y="42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7" y="9"/>
                    <a:pt x="34" y="0"/>
                    <a:pt x="62" y="0"/>
                  </a:cubicBezTo>
                  <a:cubicBezTo>
                    <a:pt x="87" y="0"/>
                    <a:pt x="113" y="10"/>
                    <a:pt x="113" y="37"/>
                  </a:cubicBezTo>
                  <a:lnTo>
                    <a:pt x="113" y="102"/>
                  </a:lnTo>
                  <a:close/>
                  <a:moveTo>
                    <a:pt x="85" y="67"/>
                  </a:moveTo>
                  <a:cubicBezTo>
                    <a:pt x="77" y="72"/>
                    <a:pt x="63" y="72"/>
                    <a:pt x="51" y="74"/>
                  </a:cubicBezTo>
                  <a:cubicBezTo>
                    <a:pt x="39" y="76"/>
                    <a:pt x="28" y="81"/>
                    <a:pt x="28" y="95"/>
                  </a:cubicBezTo>
                  <a:cubicBezTo>
                    <a:pt x="28" y="108"/>
                    <a:pt x="44" y="111"/>
                    <a:pt x="54" y="111"/>
                  </a:cubicBezTo>
                  <a:cubicBezTo>
                    <a:pt x="66" y="111"/>
                    <a:pt x="85" y="105"/>
                    <a:pt x="85" y="87"/>
                  </a:cubicBezTo>
                  <a:lnTo>
                    <a:pt x="85" y="6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2" name="Freeform 22"/>
            <p:cNvSpPr>
              <a:spLocks noEditPoints="1"/>
            </p:cNvSpPr>
            <p:nvPr/>
          </p:nvSpPr>
          <p:spPr bwMode="auto">
            <a:xfrm>
              <a:off x="1419" y="295"/>
              <a:ext cx="59" cy="86"/>
            </a:xfrm>
            <a:custGeom>
              <a:avLst/>
              <a:gdLst/>
              <a:ahLst/>
              <a:cxnLst>
                <a:cxn ang="0">
                  <a:pos x="124" y="123"/>
                </a:cxn>
                <a:cxn ang="0">
                  <a:pos x="62" y="180"/>
                </a:cxn>
                <a:cxn ang="0">
                  <a:pos x="5" y="141"/>
                </a:cxn>
                <a:cxn ang="0">
                  <a:pos x="33" y="141"/>
                </a:cxn>
                <a:cxn ang="0">
                  <a:pos x="63" y="160"/>
                </a:cxn>
                <a:cxn ang="0">
                  <a:pos x="96" y="127"/>
                </a:cxn>
                <a:cxn ang="0">
                  <a:pos x="96" y="108"/>
                </a:cxn>
                <a:cxn ang="0">
                  <a:pos x="95" y="108"/>
                </a:cxn>
                <a:cxn ang="0">
                  <a:pos x="57" y="130"/>
                </a:cxn>
                <a:cxn ang="0">
                  <a:pos x="0" y="63"/>
                </a:cxn>
                <a:cxn ang="0">
                  <a:pos x="58" y="0"/>
                </a:cxn>
                <a:cxn ang="0">
                  <a:pos x="95" y="21"/>
                </a:cxn>
                <a:cxn ang="0">
                  <a:pos x="96" y="21"/>
                </a:cxn>
                <a:cxn ang="0">
                  <a:pos x="96" y="3"/>
                </a:cxn>
                <a:cxn ang="0">
                  <a:pos x="124" y="3"/>
                </a:cxn>
                <a:cxn ang="0">
                  <a:pos x="124" y="123"/>
                </a:cxn>
                <a:cxn ang="0">
                  <a:pos x="96" y="64"/>
                </a:cxn>
                <a:cxn ang="0">
                  <a:pos x="62" y="22"/>
                </a:cxn>
                <a:cxn ang="0">
                  <a:pos x="28" y="66"/>
                </a:cxn>
                <a:cxn ang="0">
                  <a:pos x="62" y="108"/>
                </a:cxn>
                <a:cxn ang="0">
                  <a:pos x="96" y="64"/>
                </a:cxn>
              </a:cxnLst>
              <a:rect l="0" t="0" r="r" b="b"/>
              <a:pathLst>
                <a:path w="124" h="180">
                  <a:moveTo>
                    <a:pt x="124" y="123"/>
                  </a:moveTo>
                  <a:cubicBezTo>
                    <a:pt x="124" y="162"/>
                    <a:pt x="102" y="180"/>
                    <a:pt x="62" y="180"/>
                  </a:cubicBezTo>
                  <a:cubicBezTo>
                    <a:pt x="36" y="180"/>
                    <a:pt x="7" y="171"/>
                    <a:pt x="5" y="141"/>
                  </a:cubicBezTo>
                  <a:cubicBezTo>
                    <a:pt x="33" y="141"/>
                    <a:pt x="33" y="141"/>
                    <a:pt x="33" y="141"/>
                  </a:cubicBezTo>
                  <a:cubicBezTo>
                    <a:pt x="36" y="157"/>
                    <a:pt x="49" y="160"/>
                    <a:pt x="63" y="160"/>
                  </a:cubicBezTo>
                  <a:cubicBezTo>
                    <a:pt x="86" y="160"/>
                    <a:pt x="96" y="148"/>
                    <a:pt x="96" y="127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5" y="108"/>
                    <a:pt x="95" y="108"/>
                    <a:pt x="95" y="108"/>
                  </a:cubicBezTo>
                  <a:cubicBezTo>
                    <a:pt x="88" y="122"/>
                    <a:pt x="73" y="130"/>
                    <a:pt x="57" y="130"/>
                  </a:cubicBezTo>
                  <a:cubicBezTo>
                    <a:pt x="17" y="130"/>
                    <a:pt x="0" y="100"/>
                    <a:pt x="0" y="63"/>
                  </a:cubicBezTo>
                  <a:cubicBezTo>
                    <a:pt x="0" y="29"/>
                    <a:pt x="22" y="0"/>
                    <a:pt x="58" y="0"/>
                  </a:cubicBezTo>
                  <a:cubicBezTo>
                    <a:pt x="74" y="0"/>
                    <a:pt x="88" y="7"/>
                    <a:pt x="95" y="21"/>
                  </a:cubicBezTo>
                  <a:cubicBezTo>
                    <a:pt x="96" y="21"/>
                    <a:pt x="96" y="21"/>
                    <a:pt x="96" y="21"/>
                  </a:cubicBezTo>
                  <a:cubicBezTo>
                    <a:pt x="96" y="3"/>
                    <a:pt x="96" y="3"/>
                    <a:pt x="96" y="3"/>
                  </a:cubicBezTo>
                  <a:cubicBezTo>
                    <a:pt x="124" y="3"/>
                    <a:pt x="124" y="3"/>
                    <a:pt x="124" y="3"/>
                  </a:cubicBezTo>
                  <a:lnTo>
                    <a:pt x="124" y="123"/>
                  </a:lnTo>
                  <a:close/>
                  <a:moveTo>
                    <a:pt x="96" y="64"/>
                  </a:moveTo>
                  <a:cubicBezTo>
                    <a:pt x="96" y="42"/>
                    <a:pt x="86" y="22"/>
                    <a:pt x="62" y="22"/>
                  </a:cubicBezTo>
                  <a:cubicBezTo>
                    <a:pt x="37" y="22"/>
                    <a:pt x="28" y="45"/>
                    <a:pt x="28" y="66"/>
                  </a:cubicBezTo>
                  <a:cubicBezTo>
                    <a:pt x="28" y="87"/>
                    <a:pt x="38" y="108"/>
                    <a:pt x="62" y="108"/>
                  </a:cubicBezTo>
                  <a:cubicBezTo>
                    <a:pt x="87" y="108"/>
                    <a:pt x="96" y="85"/>
                    <a:pt x="96" y="64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3" name="Freeform 23"/>
            <p:cNvSpPr>
              <a:spLocks noEditPoints="1"/>
            </p:cNvSpPr>
            <p:nvPr/>
          </p:nvSpPr>
          <p:spPr bwMode="auto">
            <a:xfrm>
              <a:off x="1492" y="295"/>
              <a:ext cx="60" cy="64"/>
            </a:xfrm>
            <a:custGeom>
              <a:avLst/>
              <a:gdLst/>
              <a:ahLst/>
              <a:cxnLst>
                <a:cxn ang="0">
                  <a:pos x="28" y="74"/>
                </a:cxn>
                <a:cxn ang="0">
                  <a:pos x="62" y="111"/>
                </a:cxn>
                <a:cxn ang="0">
                  <a:pos x="93" y="90"/>
                </a:cxn>
                <a:cxn ang="0">
                  <a:pos x="119" y="90"/>
                </a:cxn>
                <a:cxn ang="0">
                  <a:pos x="62" y="134"/>
                </a:cxn>
                <a:cxn ang="0">
                  <a:pos x="0" y="67"/>
                </a:cxn>
                <a:cxn ang="0">
                  <a:pos x="61" y="0"/>
                </a:cxn>
                <a:cxn ang="0">
                  <a:pos x="121" y="74"/>
                </a:cxn>
                <a:cxn ang="0">
                  <a:pos x="28" y="74"/>
                </a:cxn>
                <a:cxn ang="0">
                  <a:pos x="93" y="56"/>
                </a:cxn>
                <a:cxn ang="0">
                  <a:pos x="61" y="22"/>
                </a:cxn>
                <a:cxn ang="0">
                  <a:pos x="28" y="56"/>
                </a:cxn>
                <a:cxn ang="0">
                  <a:pos x="93" y="56"/>
                </a:cxn>
              </a:cxnLst>
              <a:rect l="0" t="0" r="r" b="b"/>
              <a:pathLst>
                <a:path w="125" h="134">
                  <a:moveTo>
                    <a:pt x="28" y="74"/>
                  </a:moveTo>
                  <a:cubicBezTo>
                    <a:pt x="28" y="94"/>
                    <a:pt x="38" y="111"/>
                    <a:pt x="62" y="111"/>
                  </a:cubicBezTo>
                  <a:cubicBezTo>
                    <a:pt x="78" y="111"/>
                    <a:pt x="88" y="104"/>
                    <a:pt x="93" y="90"/>
                  </a:cubicBezTo>
                  <a:cubicBezTo>
                    <a:pt x="119" y="90"/>
                    <a:pt x="119" y="90"/>
                    <a:pt x="119" y="90"/>
                  </a:cubicBezTo>
                  <a:cubicBezTo>
                    <a:pt x="113" y="118"/>
                    <a:pt x="89" y="134"/>
                    <a:pt x="62" y="134"/>
                  </a:cubicBezTo>
                  <a:cubicBezTo>
                    <a:pt x="22" y="134"/>
                    <a:pt x="0" y="106"/>
                    <a:pt x="0" y="67"/>
                  </a:cubicBezTo>
                  <a:cubicBezTo>
                    <a:pt x="0" y="31"/>
                    <a:pt x="23" y="0"/>
                    <a:pt x="61" y="0"/>
                  </a:cubicBezTo>
                  <a:cubicBezTo>
                    <a:pt x="101" y="0"/>
                    <a:pt x="125" y="36"/>
                    <a:pt x="121" y="74"/>
                  </a:cubicBezTo>
                  <a:lnTo>
                    <a:pt x="28" y="74"/>
                  </a:lnTo>
                  <a:close/>
                  <a:moveTo>
                    <a:pt x="93" y="56"/>
                  </a:moveTo>
                  <a:cubicBezTo>
                    <a:pt x="92" y="38"/>
                    <a:pt x="80" y="22"/>
                    <a:pt x="61" y="22"/>
                  </a:cubicBezTo>
                  <a:cubicBezTo>
                    <a:pt x="41" y="22"/>
                    <a:pt x="28" y="37"/>
                    <a:pt x="28" y="56"/>
                  </a:cubicBezTo>
                  <a:lnTo>
                    <a:pt x="93" y="5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4" name="Freeform 24"/>
            <p:cNvSpPr>
              <a:spLocks/>
            </p:cNvSpPr>
            <p:nvPr/>
          </p:nvSpPr>
          <p:spPr bwMode="auto">
            <a:xfrm>
              <a:off x="1564" y="295"/>
              <a:ext cx="89" cy="62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7" y="3"/>
                </a:cxn>
                <a:cxn ang="0">
                  <a:pos x="27" y="21"/>
                </a:cxn>
                <a:cxn ang="0">
                  <a:pos x="28" y="21"/>
                </a:cxn>
                <a:cxn ang="0">
                  <a:pos x="67" y="0"/>
                </a:cxn>
                <a:cxn ang="0">
                  <a:pos x="102" y="21"/>
                </a:cxn>
                <a:cxn ang="0">
                  <a:pos x="142" y="0"/>
                </a:cxn>
                <a:cxn ang="0">
                  <a:pos x="184" y="43"/>
                </a:cxn>
                <a:cxn ang="0">
                  <a:pos x="184" y="130"/>
                </a:cxn>
                <a:cxn ang="0">
                  <a:pos x="156" y="130"/>
                </a:cxn>
                <a:cxn ang="0">
                  <a:pos x="156" y="56"/>
                </a:cxn>
                <a:cxn ang="0">
                  <a:pos x="133" y="22"/>
                </a:cxn>
                <a:cxn ang="0">
                  <a:pos x="106" y="56"/>
                </a:cxn>
                <a:cxn ang="0">
                  <a:pos x="106" y="130"/>
                </a:cxn>
                <a:cxn ang="0">
                  <a:pos x="78" y="130"/>
                </a:cxn>
                <a:cxn ang="0">
                  <a:pos x="78" y="49"/>
                </a:cxn>
                <a:cxn ang="0">
                  <a:pos x="56" y="22"/>
                </a:cxn>
                <a:cxn ang="0">
                  <a:pos x="28" y="55"/>
                </a:cxn>
                <a:cxn ang="0">
                  <a:pos x="28" y="130"/>
                </a:cxn>
                <a:cxn ang="0">
                  <a:pos x="0" y="130"/>
                </a:cxn>
                <a:cxn ang="0">
                  <a:pos x="0" y="3"/>
                </a:cxn>
              </a:cxnLst>
              <a:rect l="0" t="0" r="r" b="b"/>
              <a:pathLst>
                <a:path w="184" h="130">
                  <a:moveTo>
                    <a:pt x="0" y="3"/>
                  </a:moveTo>
                  <a:cubicBezTo>
                    <a:pt x="27" y="3"/>
                    <a:pt x="27" y="3"/>
                    <a:pt x="27" y="3"/>
                  </a:cubicBezTo>
                  <a:cubicBezTo>
                    <a:pt x="27" y="21"/>
                    <a:pt x="27" y="21"/>
                    <a:pt x="27" y="21"/>
                  </a:cubicBezTo>
                  <a:cubicBezTo>
                    <a:pt x="28" y="21"/>
                    <a:pt x="28" y="21"/>
                    <a:pt x="28" y="21"/>
                  </a:cubicBezTo>
                  <a:cubicBezTo>
                    <a:pt x="36" y="8"/>
                    <a:pt x="46" y="0"/>
                    <a:pt x="67" y="0"/>
                  </a:cubicBezTo>
                  <a:cubicBezTo>
                    <a:pt x="82" y="0"/>
                    <a:pt x="96" y="7"/>
                    <a:pt x="102" y="21"/>
                  </a:cubicBezTo>
                  <a:cubicBezTo>
                    <a:pt x="111" y="8"/>
                    <a:pt x="123" y="0"/>
                    <a:pt x="142" y="0"/>
                  </a:cubicBezTo>
                  <a:cubicBezTo>
                    <a:pt x="169" y="0"/>
                    <a:pt x="184" y="12"/>
                    <a:pt x="184" y="43"/>
                  </a:cubicBezTo>
                  <a:cubicBezTo>
                    <a:pt x="184" y="130"/>
                    <a:pt x="184" y="130"/>
                    <a:pt x="184" y="130"/>
                  </a:cubicBezTo>
                  <a:cubicBezTo>
                    <a:pt x="156" y="130"/>
                    <a:pt x="156" y="130"/>
                    <a:pt x="156" y="130"/>
                  </a:cubicBezTo>
                  <a:cubicBezTo>
                    <a:pt x="156" y="56"/>
                    <a:pt x="156" y="56"/>
                    <a:pt x="156" y="56"/>
                  </a:cubicBezTo>
                  <a:cubicBezTo>
                    <a:pt x="156" y="36"/>
                    <a:pt x="155" y="22"/>
                    <a:pt x="133" y="22"/>
                  </a:cubicBezTo>
                  <a:cubicBezTo>
                    <a:pt x="114" y="22"/>
                    <a:pt x="106" y="34"/>
                    <a:pt x="106" y="56"/>
                  </a:cubicBezTo>
                  <a:cubicBezTo>
                    <a:pt x="106" y="130"/>
                    <a:pt x="106" y="130"/>
                    <a:pt x="106" y="130"/>
                  </a:cubicBezTo>
                  <a:cubicBezTo>
                    <a:pt x="78" y="130"/>
                    <a:pt x="78" y="130"/>
                    <a:pt x="78" y="130"/>
                  </a:cubicBezTo>
                  <a:cubicBezTo>
                    <a:pt x="78" y="49"/>
                    <a:pt x="78" y="49"/>
                    <a:pt x="78" y="49"/>
                  </a:cubicBezTo>
                  <a:cubicBezTo>
                    <a:pt x="78" y="31"/>
                    <a:pt x="73" y="22"/>
                    <a:pt x="56" y="22"/>
                  </a:cubicBezTo>
                  <a:cubicBezTo>
                    <a:pt x="42" y="22"/>
                    <a:pt x="28" y="34"/>
                    <a:pt x="28" y="55"/>
                  </a:cubicBezTo>
                  <a:cubicBezTo>
                    <a:pt x="28" y="130"/>
                    <a:pt x="28" y="130"/>
                    <a:pt x="28" y="130"/>
                  </a:cubicBezTo>
                  <a:cubicBezTo>
                    <a:pt x="0" y="130"/>
                    <a:pt x="0" y="130"/>
                    <a:pt x="0" y="13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5" name="Freeform 25"/>
            <p:cNvSpPr>
              <a:spLocks noEditPoints="1"/>
            </p:cNvSpPr>
            <p:nvPr/>
          </p:nvSpPr>
          <p:spPr bwMode="auto">
            <a:xfrm>
              <a:off x="1666" y="295"/>
              <a:ext cx="61" cy="64"/>
            </a:xfrm>
            <a:custGeom>
              <a:avLst/>
              <a:gdLst/>
              <a:ahLst/>
              <a:cxnLst>
                <a:cxn ang="0">
                  <a:pos x="27" y="74"/>
                </a:cxn>
                <a:cxn ang="0">
                  <a:pos x="62" y="111"/>
                </a:cxn>
                <a:cxn ang="0">
                  <a:pos x="92" y="90"/>
                </a:cxn>
                <a:cxn ang="0">
                  <a:pos x="119" y="90"/>
                </a:cxn>
                <a:cxn ang="0">
                  <a:pos x="62" y="134"/>
                </a:cxn>
                <a:cxn ang="0">
                  <a:pos x="0" y="67"/>
                </a:cxn>
                <a:cxn ang="0">
                  <a:pos x="61" y="0"/>
                </a:cxn>
                <a:cxn ang="0">
                  <a:pos x="121" y="74"/>
                </a:cxn>
                <a:cxn ang="0">
                  <a:pos x="27" y="74"/>
                </a:cxn>
                <a:cxn ang="0">
                  <a:pos x="93" y="56"/>
                </a:cxn>
                <a:cxn ang="0">
                  <a:pos x="61" y="22"/>
                </a:cxn>
                <a:cxn ang="0">
                  <a:pos x="27" y="56"/>
                </a:cxn>
                <a:cxn ang="0">
                  <a:pos x="93" y="56"/>
                </a:cxn>
              </a:cxnLst>
              <a:rect l="0" t="0" r="r" b="b"/>
              <a:pathLst>
                <a:path w="125" h="134">
                  <a:moveTo>
                    <a:pt x="27" y="74"/>
                  </a:moveTo>
                  <a:cubicBezTo>
                    <a:pt x="27" y="94"/>
                    <a:pt x="38" y="111"/>
                    <a:pt x="62" y="111"/>
                  </a:cubicBezTo>
                  <a:cubicBezTo>
                    <a:pt x="78" y="111"/>
                    <a:pt x="88" y="104"/>
                    <a:pt x="92" y="90"/>
                  </a:cubicBezTo>
                  <a:cubicBezTo>
                    <a:pt x="119" y="90"/>
                    <a:pt x="119" y="90"/>
                    <a:pt x="119" y="90"/>
                  </a:cubicBezTo>
                  <a:cubicBezTo>
                    <a:pt x="113" y="118"/>
                    <a:pt x="89" y="134"/>
                    <a:pt x="62" y="134"/>
                  </a:cubicBezTo>
                  <a:cubicBezTo>
                    <a:pt x="22" y="134"/>
                    <a:pt x="0" y="106"/>
                    <a:pt x="0" y="67"/>
                  </a:cubicBezTo>
                  <a:cubicBezTo>
                    <a:pt x="0" y="31"/>
                    <a:pt x="23" y="0"/>
                    <a:pt x="61" y="0"/>
                  </a:cubicBezTo>
                  <a:cubicBezTo>
                    <a:pt x="101" y="0"/>
                    <a:pt x="125" y="36"/>
                    <a:pt x="121" y="74"/>
                  </a:cubicBezTo>
                  <a:lnTo>
                    <a:pt x="27" y="74"/>
                  </a:lnTo>
                  <a:close/>
                  <a:moveTo>
                    <a:pt x="93" y="56"/>
                  </a:moveTo>
                  <a:cubicBezTo>
                    <a:pt x="92" y="38"/>
                    <a:pt x="80" y="22"/>
                    <a:pt x="61" y="22"/>
                  </a:cubicBezTo>
                  <a:cubicBezTo>
                    <a:pt x="41" y="22"/>
                    <a:pt x="28" y="37"/>
                    <a:pt x="27" y="56"/>
                  </a:cubicBezTo>
                  <a:lnTo>
                    <a:pt x="93" y="5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6" name="Freeform 26"/>
            <p:cNvSpPr>
              <a:spLocks/>
            </p:cNvSpPr>
            <p:nvPr/>
          </p:nvSpPr>
          <p:spPr bwMode="auto">
            <a:xfrm>
              <a:off x="1738" y="295"/>
              <a:ext cx="53" cy="62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6" y="3"/>
                </a:cxn>
                <a:cxn ang="0">
                  <a:pos x="26" y="22"/>
                </a:cxn>
                <a:cxn ang="0">
                  <a:pos x="27" y="22"/>
                </a:cxn>
                <a:cxn ang="0">
                  <a:pos x="66" y="0"/>
                </a:cxn>
                <a:cxn ang="0">
                  <a:pos x="111" y="43"/>
                </a:cxn>
                <a:cxn ang="0">
                  <a:pos x="111" y="130"/>
                </a:cxn>
                <a:cxn ang="0">
                  <a:pos x="83" y="130"/>
                </a:cxn>
                <a:cxn ang="0">
                  <a:pos x="83" y="50"/>
                </a:cxn>
                <a:cxn ang="0">
                  <a:pos x="58" y="22"/>
                </a:cxn>
                <a:cxn ang="0">
                  <a:pos x="28" y="55"/>
                </a:cxn>
                <a:cxn ang="0">
                  <a:pos x="28" y="130"/>
                </a:cxn>
                <a:cxn ang="0">
                  <a:pos x="0" y="130"/>
                </a:cxn>
                <a:cxn ang="0">
                  <a:pos x="0" y="3"/>
                </a:cxn>
              </a:cxnLst>
              <a:rect l="0" t="0" r="r" b="b"/>
              <a:pathLst>
                <a:path w="111" h="130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22"/>
                    <a:pt x="26" y="22"/>
                    <a:pt x="26" y="22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35" y="8"/>
                    <a:pt x="49" y="0"/>
                    <a:pt x="66" y="0"/>
                  </a:cubicBezTo>
                  <a:cubicBezTo>
                    <a:pt x="94" y="0"/>
                    <a:pt x="111" y="15"/>
                    <a:pt x="111" y="43"/>
                  </a:cubicBezTo>
                  <a:cubicBezTo>
                    <a:pt x="111" y="130"/>
                    <a:pt x="111" y="130"/>
                    <a:pt x="111" y="130"/>
                  </a:cubicBezTo>
                  <a:cubicBezTo>
                    <a:pt x="83" y="130"/>
                    <a:pt x="83" y="130"/>
                    <a:pt x="83" y="130"/>
                  </a:cubicBezTo>
                  <a:cubicBezTo>
                    <a:pt x="83" y="50"/>
                    <a:pt x="83" y="50"/>
                    <a:pt x="83" y="50"/>
                  </a:cubicBezTo>
                  <a:cubicBezTo>
                    <a:pt x="83" y="31"/>
                    <a:pt x="75" y="22"/>
                    <a:pt x="58" y="22"/>
                  </a:cubicBezTo>
                  <a:cubicBezTo>
                    <a:pt x="40" y="22"/>
                    <a:pt x="28" y="37"/>
                    <a:pt x="28" y="55"/>
                  </a:cubicBezTo>
                  <a:cubicBezTo>
                    <a:pt x="28" y="130"/>
                    <a:pt x="28" y="130"/>
                    <a:pt x="28" y="130"/>
                  </a:cubicBezTo>
                  <a:cubicBezTo>
                    <a:pt x="0" y="130"/>
                    <a:pt x="0" y="130"/>
                    <a:pt x="0" y="13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7" name="Freeform 27"/>
            <p:cNvSpPr>
              <a:spLocks/>
            </p:cNvSpPr>
            <p:nvPr/>
          </p:nvSpPr>
          <p:spPr bwMode="auto">
            <a:xfrm>
              <a:off x="1802" y="278"/>
              <a:ext cx="36" cy="80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21" y="38"/>
                </a:cxn>
                <a:cxn ang="0">
                  <a:pos x="21" y="0"/>
                </a:cxn>
                <a:cxn ang="0">
                  <a:pos x="49" y="0"/>
                </a:cxn>
                <a:cxn ang="0">
                  <a:pos x="49" y="38"/>
                </a:cxn>
                <a:cxn ang="0">
                  <a:pos x="74" y="38"/>
                </a:cxn>
                <a:cxn ang="0">
                  <a:pos x="74" y="59"/>
                </a:cxn>
                <a:cxn ang="0">
                  <a:pos x="49" y="59"/>
                </a:cxn>
                <a:cxn ang="0">
                  <a:pos x="49" y="127"/>
                </a:cxn>
                <a:cxn ang="0">
                  <a:pos x="62" y="144"/>
                </a:cxn>
                <a:cxn ang="0">
                  <a:pos x="74" y="143"/>
                </a:cxn>
                <a:cxn ang="0">
                  <a:pos x="74" y="165"/>
                </a:cxn>
                <a:cxn ang="0">
                  <a:pos x="56" y="166"/>
                </a:cxn>
                <a:cxn ang="0">
                  <a:pos x="21" y="134"/>
                </a:cxn>
                <a:cxn ang="0">
                  <a:pos x="21" y="59"/>
                </a:cxn>
                <a:cxn ang="0">
                  <a:pos x="0" y="59"/>
                </a:cxn>
                <a:cxn ang="0">
                  <a:pos x="0" y="38"/>
                </a:cxn>
              </a:cxnLst>
              <a:rect l="0" t="0" r="r" b="b"/>
              <a:pathLst>
                <a:path w="74" h="166">
                  <a:moveTo>
                    <a:pt x="0" y="38"/>
                  </a:moveTo>
                  <a:cubicBezTo>
                    <a:pt x="21" y="38"/>
                    <a:pt x="21" y="38"/>
                    <a:pt x="21" y="38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59"/>
                    <a:pt x="74" y="59"/>
                    <a:pt x="74" y="59"/>
                  </a:cubicBezTo>
                  <a:cubicBezTo>
                    <a:pt x="49" y="59"/>
                    <a:pt x="49" y="59"/>
                    <a:pt x="49" y="59"/>
                  </a:cubicBezTo>
                  <a:cubicBezTo>
                    <a:pt x="49" y="127"/>
                    <a:pt x="49" y="127"/>
                    <a:pt x="49" y="127"/>
                  </a:cubicBezTo>
                  <a:cubicBezTo>
                    <a:pt x="49" y="138"/>
                    <a:pt x="50" y="144"/>
                    <a:pt x="62" y="144"/>
                  </a:cubicBezTo>
                  <a:cubicBezTo>
                    <a:pt x="66" y="144"/>
                    <a:pt x="70" y="144"/>
                    <a:pt x="74" y="143"/>
                  </a:cubicBezTo>
                  <a:cubicBezTo>
                    <a:pt x="74" y="165"/>
                    <a:pt x="74" y="165"/>
                    <a:pt x="74" y="165"/>
                  </a:cubicBezTo>
                  <a:cubicBezTo>
                    <a:pt x="68" y="165"/>
                    <a:pt x="62" y="166"/>
                    <a:pt x="56" y="166"/>
                  </a:cubicBezTo>
                  <a:cubicBezTo>
                    <a:pt x="27" y="166"/>
                    <a:pt x="21" y="155"/>
                    <a:pt x="21" y="134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0" y="59"/>
                    <a:pt x="0" y="59"/>
                    <a:pt x="0" y="59"/>
                  </a:cubicBez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8" name="Freeform 28"/>
            <p:cNvSpPr>
              <a:spLocks/>
            </p:cNvSpPr>
            <p:nvPr/>
          </p:nvSpPr>
          <p:spPr bwMode="auto">
            <a:xfrm>
              <a:off x="1103" y="406"/>
              <a:ext cx="57" cy="64"/>
            </a:xfrm>
            <a:custGeom>
              <a:avLst/>
              <a:gdLst/>
              <a:ahLst/>
              <a:cxnLst>
                <a:cxn ang="0">
                  <a:pos x="91" y="46"/>
                </a:cxn>
                <a:cxn ang="0">
                  <a:pos x="62" y="22"/>
                </a:cxn>
                <a:cxn ang="0">
                  <a:pos x="28" y="68"/>
                </a:cxn>
                <a:cxn ang="0">
                  <a:pos x="61" y="111"/>
                </a:cxn>
                <a:cxn ang="0">
                  <a:pos x="91" y="82"/>
                </a:cxn>
                <a:cxn ang="0">
                  <a:pos x="119" y="82"/>
                </a:cxn>
                <a:cxn ang="0">
                  <a:pos x="61" y="133"/>
                </a:cxn>
                <a:cxn ang="0">
                  <a:pos x="0" y="68"/>
                </a:cxn>
                <a:cxn ang="0">
                  <a:pos x="62" y="0"/>
                </a:cxn>
                <a:cxn ang="0">
                  <a:pos x="119" y="46"/>
                </a:cxn>
                <a:cxn ang="0">
                  <a:pos x="91" y="46"/>
                </a:cxn>
              </a:cxnLst>
              <a:rect l="0" t="0" r="r" b="b"/>
              <a:pathLst>
                <a:path w="119" h="133">
                  <a:moveTo>
                    <a:pt x="91" y="46"/>
                  </a:moveTo>
                  <a:cubicBezTo>
                    <a:pt x="89" y="30"/>
                    <a:pt x="78" y="22"/>
                    <a:pt x="62" y="22"/>
                  </a:cubicBezTo>
                  <a:cubicBezTo>
                    <a:pt x="48" y="22"/>
                    <a:pt x="28" y="29"/>
                    <a:pt x="28" y="68"/>
                  </a:cubicBezTo>
                  <a:cubicBezTo>
                    <a:pt x="28" y="89"/>
                    <a:pt x="37" y="111"/>
                    <a:pt x="61" y="111"/>
                  </a:cubicBezTo>
                  <a:cubicBezTo>
                    <a:pt x="77" y="111"/>
                    <a:pt x="89" y="101"/>
                    <a:pt x="91" y="82"/>
                  </a:cubicBezTo>
                  <a:cubicBezTo>
                    <a:pt x="119" y="82"/>
                    <a:pt x="119" y="82"/>
                    <a:pt x="119" y="82"/>
                  </a:cubicBezTo>
                  <a:cubicBezTo>
                    <a:pt x="114" y="115"/>
                    <a:pt x="94" y="133"/>
                    <a:pt x="61" y="133"/>
                  </a:cubicBezTo>
                  <a:cubicBezTo>
                    <a:pt x="21" y="133"/>
                    <a:pt x="0" y="105"/>
                    <a:pt x="0" y="68"/>
                  </a:cubicBezTo>
                  <a:cubicBezTo>
                    <a:pt x="0" y="30"/>
                    <a:pt x="20" y="0"/>
                    <a:pt x="62" y="0"/>
                  </a:cubicBezTo>
                  <a:cubicBezTo>
                    <a:pt x="92" y="0"/>
                    <a:pt x="117" y="14"/>
                    <a:pt x="119" y="46"/>
                  </a:cubicBezTo>
                  <a:lnTo>
                    <a:pt x="91" y="46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29" name="Freeform 29"/>
            <p:cNvSpPr>
              <a:spLocks noEditPoints="1"/>
            </p:cNvSpPr>
            <p:nvPr/>
          </p:nvSpPr>
          <p:spPr bwMode="auto">
            <a:xfrm>
              <a:off x="1171" y="406"/>
              <a:ext cx="62" cy="64"/>
            </a:xfrm>
            <a:custGeom>
              <a:avLst/>
              <a:gdLst/>
              <a:ahLst/>
              <a:cxnLst>
                <a:cxn ang="0">
                  <a:pos x="0" y="66"/>
                </a:cxn>
                <a:cxn ang="0">
                  <a:pos x="64" y="0"/>
                </a:cxn>
                <a:cxn ang="0">
                  <a:pos x="128" y="66"/>
                </a:cxn>
                <a:cxn ang="0">
                  <a:pos x="64" y="133"/>
                </a:cxn>
                <a:cxn ang="0">
                  <a:pos x="0" y="66"/>
                </a:cxn>
                <a:cxn ang="0">
                  <a:pos x="101" y="66"/>
                </a:cxn>
                <a:cxn ang="0">
                  <a:pos x="64" y="22"/>
                </a:cxn>
                <a:cxn ang="0">
                  <a:pos x="28" y="66"/>
                </a:cxn>
                <a:cxn ang="0">
                  <a:pos x="64" y="111"/>
                </a:cxn>
                <a:cxn ang="0">
                  <a:pos x="101" y="66"/>
                </a:cxn>
              </a:cxnLst>
              <a:rect l="0" t="0" r="r" b="b"/>
              <a:pathLst>
                <a:path w="128" h="133">
                  <a:moveTo>
                    <a:pt x="0" y="66"/>
                  </a:moveTo>
                  <a:cubicBezTo>
                    <a:pt x="0" y="28"/>
                    <a:pt x="24" y="0"/>
                    <a:pt x="64" y="0"/>
                  </a:cubicBezTo>
                  <a:cubicBezTo>
                    <a:pt x="105" y="0"/>
                    <a:pt x="128" y="28"/>
                    <a:pt x="128" y="66"/>
                  </a:cubicBezTo>
                  <a:cubicBezTo>
                    <a:pt x="128" y="105"/>
                    <a:pt x="105" y="133"/>
                    <a:pt x="64" y="133"/>
                  </a:cubicBezTo>
                  <a:cubicBezTo>
                    <a:pt x="24" y="133"/>
                    <a:pt x="0" y="105"/>
                    <a:pt x="0" y="66"/>
                  </a:cubicBezTo>
                  <a:close/>
                  <a:moveTo>
                    <a:pt x="101" y="66"/>
                  </a:moveTo>
                  <a:cubicBezTo>
                    <a:pt x="101" y="45"/>
                    <a:pt x="89" y="22"/>
                    <a:pt x="64" y="22"/>
                  </a:cubicBezTo>
                  <a:cubicBezTo>
                    <a:pt x="39" y="22"/>
                    <a:pt x="28" y="45"/>
                    <a:pt x="28" y="66"/>
                  </a:cubicBezTo>
                  <a:cubicBezTo>
                    <a:pt x="28" y="89"/>
                    <a:pt x="39" y="111"/>
                    <a:pt x="64" y="111"/>
                  </a:cubicBezTo>
                  <a:cubicBezTo>
                    <a:pt x="89" y="111"/>
                    <a:pt x="101" y="89"/>
                    <a:pt x="101" y="66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0" name="Freeform 30"/>
            <p:cNvSpPr>
              <a:spLocks/>
            </p:cNvSpPr>
            <p:nvPr/>
          </p:nvSpPr>
          <p:spPr bwMode="auto">
            <a:xfrm>
              <a:off x="1246" y="406"/>
              <a:ext cx="54" cy="63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6" y="3"/>
                </a:cxn>
                <a:cxn ang="0">
                  <a:pos x="26" y="22"/>
                </a:cxn>
                <a:cxn ang="0">
                  <a:pos x="27" y="22"/>
                </a:cxn>
                <a:cxn ang="0">
                  <a:pos x="66" y="0"/>
                </a:cxn>
                <a:cxn ang="0">
                  <a:pos x="111" y="43"/>
                </a:cxn>
                <a:cxn ang="0">
                  <a:pos x="111" y="130"/>
                </a:cxn>
                <a:cxn ang="0">
                  <a:pos x="83" y="130"/>
                </a:cxn>
                <a:cxn ang="0">
                  <a:pos x="83" y="50"/>
                </a:cxn>
                <a:cxn ang="0">
                  <a:pos x="58" y="22"/>
                </a:cxn>
                <a:cxn ang="0">
                  <a:pos x="28" y="55"/>
                </a:cxn>
                <a:cxn ang="0">
                  <a:pos x="28" y="130"/>
                </a:cxn>
                <a:cxn ang="0">
                  <a:pos x="0" y="130"/>
                </a:cxn>
                <a:cxn ang="0">
                  <a:pos x="0" y="3"/>
                </a:cxn>
              </a:cxnLst>
              <a:rect l="0" t="0" r="r" b="b"/>
              <a:pathLst>
                <a:path w="111" h="130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22"/>
                    <a:pt x="26" y="22"/>
                    <a:pt x="26" y="22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35" y="8"/>
                    <a:pt x="50" y="0"/>
                    <a:pt x="66" y="0"/>
                  </a:cubicBezTo>
                  <a:cubicBezTo>
                    <a:pt x="94" y="0"/>
                    <a:pt x="111" y="14"/>
                    <a:pt x="111" y="43"/>
                  </a:cubicBezTo>
                  <a:cubicBezTo>
                    <a:pt x="111" y="130"/>
                    <a:pt x="111" y="130"/>
                    <a:pt x="111" y="130"/>
                  </a:cubicBezTo>
                  <a:cubicBezTo>
                    <a:pt x="83" y="130"/>
                    <a:pt x="83" y="130"/>
                    <a:pt x="83" y="130"/>
                  </a:cubicBezTo>
                  <a:cubicBezTo>
                    <a:pt x="83" y="50"/>
                    <a:pt x="83" y="50"/>
                    <a:pt x="83" y="50"/>
                  </a:cubicBezTo>
                  <a:cubicBezTo>
                    <a:pt x="83" y="30"/>
                    <a:pt x="75" y="22"/>
                    <a:pt x="58" y="22"/>
                  </a:cubicBezTo>
                  <a:cubicBezTo>
                    <a:pt x="40" y="22"/>
                    <a:pt x="28" y="37"/>
                    <a:pt x="28" y="55"/>
                  </a:cubicBezTo>
                  <a:cubicBezTo>
                    <a:pt x="28" y="130"/>
                    <a:pt x="28" y="130"/>
                    <a:pt x="28" y="130"/>
                  </a:cubicBezTo>
                  <a:cubicBezTo>
                    <a:pt x="0" y="130"/>
                    <a:pt x="0" y="130"/>
                    <a:pt x="0" y="13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1" name="Freeform 31"/>
            <p:cNvSpPr>
              <a:spLocks/>
            </p:cNvSpPr>
            <p:nvPr/>
          </p:nvSpPr>
          <p:spPr bwMode="auto">
            <a:xfrm>
              <a:off x="1315" y="406"/>
              <a:ext cx="54" cy="64"/>
            </a:xfrm>
            <a:custGeom>
              <a:avLst/>
              <a:gdLst/>
              <a:ahLst/>
              <a:cxnLst>
                <a:cxn ang="0">
                  <a:pos x="28" y="89"/>
                </a:cxn>
                <a:cxn ang="0">
                  <a:pos x="57" y="111"/>
                </a:cxn>
                <a:cxn ang="0">
                  <a:pos x="85" y="95"/>
                </a:cxn>
                <a:cxn ang="0">
                  <a:pos x="43" y="74"/>
                </a:cxn>
                <a:cxn ang="0">
                  <a:pos x="3" y="36"/>
                </a:cxn>
                <a:cxn ang="0">
                  <a:pos x="56" y="0"/>
                </a:cxn>
                <a:cxn ang="0">
                  <a:pos x="109" y="39"/>
                </a:cxn>
                <a:cxn ang="0">
                  <a:pos x="79" y="39"/>
                </a:cxn>
                <a:cxn ang="0">
                  <a:pos x="54" y="22"/>
                </a:cxn>
                <a:cxn ang="0">
                  <a:pos x="31" y="35"/>
                </a:cxn>
                <a:cxn ang="0">
                  <a:pos x="72" y="55"/>
                </a:cxn>
                <a:cxn ang="0">
                  <a:pos x="113" y="92"/>
                </a:cxn>
                <a:cxn ang="0">
                  <a:pos x="56" y="133"/>
                </a:cxn>
                <a:cxn ang="0">
                  <a:pos x="0" y="89"/>
                </a:cxn>
                <a:cxn ang="0">
                  <a:pos x="28" y="89"/>
                </a:cxn>
              </a:cxnLst>
              <a:rect l="0" t="0" r="r" b="b"/>
              <a:pathLst>
                <a:path w="113" h="133">
                  <a:moveTo>
                    <a:pt x="28" y="89"/>
                  </a:moveTo>
                  <a:cubicBezTo>
                    <a:pt x="29" y="105"/>
                    <a:pt x="42" y="111"/>
                    <a:pt x="57" y="111"/>
                  </a:cubicBezTo>
                  <a:cubicBezTo>
                    <a:pt x="67" y="111"/>
                    <a:pt x="86" y="109"/>
                    <a:pt x="85" y="95"/>
                  </a:cubicBezTo>
                  <a:cubicBezTo>
                    <a:pt x="84" y="80"/>
                    <a:pt x="64" y="78"/>
                    <a:pt x="43" y="74"/>
                  </a:cubicBezTo>
                  <a:cubicBezTo>
                    <a:pt x="23" y="69"/>
                    <a:pt x="3" y="62"/>
                    <a:pt x="3" y="36"/>
                  </a:cubicBezTo>
                  <a:cubicBezTo>
                    <a:pt x="3" y="8"/>
                    <a:pt x="33" y="0"/>
                    <a:pt x="56" y="0"/>
                  </a:cubicBezTo>
                  <a:cubicBezTo>
                    <a:pt x="82" y="0"/>
                    <a:pt x="105" y="11"/>
                    <a:pt x="109" y="39"/>
                  </a:cubicBezTo>
                  <a:cubicBezTo>
                    <a:pt x="79" y="39"/>
                    <a:pt x="79" y="39"/>
                    <a:pt x="79" y="39"/>
                  </a:cubicBezTo>
                  <a:cubicBezTo>
                    <a:pt x="77" y="25"/>
                    <a:pt x="66" y="22"/>
                    <a:pt x="54" y="22"/>
                  </a:cubicBezTo>
                  <a:cubicBezTo>
                    <a:pt x="46" y="22"/>
                    <a:pt x="31" y="24"/>
                    <a:pt x="31" y="35"/>
                  </a:cubicBezTo>
                  <a:cubicBezTo>
                    <a:pt x="31" y="49"/>
                    <a:pt x="51" y="50"/>
                    <a:pt x="72" y="55"/>
                  </a:cubicBezTo>
                  <a:cubicBezTo>
                    <a:pt x="92" y="60"/>
                    <a:pt x="113" y="67"/>
                    <a:pt x="113" y="92"/>
                  </a:cubicBezTo>
                  <a:cubicBezTo>
                    <a:pt x="113" y="122"/>
                    <a:pt x="82" y="133"/>
                    <a:pt x="56" y="133"/>
                  </a:cubicBezTo>
                  <a:cubicBezTo>
                    <a:pt x="24" y="133"/>
                    <a:pt x="0" y="119"/>
                    <a:pt x="0" y="89"/>
                  </a:cubicBezTo>
                  <a:lnTo>
                    <a:pt x="28" y="89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2" name="Freeform 32"/>
            <p:cNvSpPr>
              <a:spLocks/>
            </p:cNvSpPr>
            <p:nvPr/>
          </p:nvSpPr>
          <p:spPr bwMode="auto">
            <a:xfrm>
              <a:off x="1383" y="407"/>
              <a:ext cx="53" cy="63"/>
            </a:xfrm>
            <a:custGeom>
              <a:avLst/>
              <a:gdLst/>
              <a:ahLst/>
              <a:cxnLst>
                <a:cxn ang="0">
                  <a:pos x="111" y="127"/>
                </a:cxn>
                <a:cxn ang="0">
                  <a:pos x="84" y="127"/>
                </a:cxn>
                <a:cxn ang="0">
                  <a:pos x="84" y="109"/>
                </a:cxn>
                <a:cxn ang="0">
                  <a:pos x="83" y="109"/>
                </a:cxn>
                <a:cxn ang="0">
                  <a:pos x="47" y="130"/>
                </a:cxn>
                <a:cxn ang="0">
                  <a:pos x="0" y="81"/>
                </a:cxn>
                <a:cxn ang="0">
                  <a:pos x="0" y="0"/>
                </a:cxn>
                <a:cxn ang="0">
                  <a:pos x="28" y="0"/>
                </a:cxn>
                <a:cxn ang="0">
                  <a:pos x="28" y="78"/>
                </a:cxn>
                <a:cxn ang="0">
                  <a:pos x="52" y="108"/>
                </a:cxn>
                <a:cxn ang="0">
                  <a:pos x="83" y="74"/>
                </a:cxn>
                <a:cxn ang="0">
                  <a:pos x="83" y="0"/>
                </a:cxn>
                <a:cxn ang="0">
                  <a:pos x="111" y="0"/>
                </a:cxn>
                <a:cxn ang="0">
                  <a:pos x="111" y="127"/>
                </a:cxn>
              </a:cxnLst>
              <a:rect l="0" t="0" r="r" b="b"/>
              <a:pathLst>
                <a:path w="111" h="130">
                  <a:moveTo>
                    <a:pt x="111" y="127"/>
                  </a:moveTo>
                  <a:cubicBezTo>
                    <a:pt x="84" y="127"/>
                    <a:pt x="84" y="127"/>
                    <a:pt x="84" y="12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3" y="109"/>
                    <a:pt x="83" y="109"/>
                    <a:pt x="83" y="109"/>
                  </a:cubicBezTo>
                  <a:cubicBezTo>
                    <a:pt x="77" y="122"/>
                    <a:pt x="61" y="130"/>
                    <a:pt x="47" y="130"/>
                  </a:cubicBezTo>
                  <a:cubicBezTo>
                    <a:pt x="14" y="130"/>
                    <a:pt x="0" y="114"/>
                    <a:pt x="0" y="8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8" y="78"/>
                    <a:pt x="28" y="78"/>
                    <a:pt x="28" y="78"/>
                  </a:cubicBezTo>
                  <a:cubicBezTo>
                    <a:pt x="28" y="100"/>
                    <a:pt x="37" y="108"/>
                    <a:pt x="52" y="108"/>
                  </a:cubicBezTo>
                  <a:cubicBezTo>
                    <a:pt x="76" y="108"/>
                    <a:pt x="83" y="93"/>
                    <a:pt x="83" y="74"/>
                  </a:cubicBezTo>
                  <a:cubicBezTo>
                    <a:pt x="83" y="0"/>
                    <a:pt x="83" y="0"/>
                    <a:pt x="83" y="0"/>
                  </a:cubicBezTo>
                  <a:cubicBezTo>
                    <a:pt x="111" y="0"/>
                    <a:pt x="111" y="0"/>
                    <a:pt x="111" y="0"/>
                  </a:cubicBezTo>
                  <a:lnTo>
                    <a:pt x="111" y="127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3" name="Rectangle 33"/>
            <p:cNvSpPr>
              <a:spLocks noChangeArrowheads="1"/>
            </p:cNvSpPr>
            <p:nvPr/>
          </p:nvSpPr>
          <p:spPr bwMode="auto">
            <a:xfrm>
              <a:off x="1455" y="385"/>
              <a:ext cx="13" cy="84"/>
            </a:xfrm>
            <a:prstGeom prst="rect">
              <a:avLst/>
            </a:prstGeom>
            <a:solidFill>
              <a:srgbClr val="000000"/>
            </a:solidFill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4" name="Freeform 34"/>
            <p:cNvSpPr>
              <a:spLocks/>
            </p:cNvSpPr>
            <p:nvPr/>
          </p:nvSpPr>
          <p:spPr bwMode="auto">
            <a:xfrm>
              <a:off x="1480" y="389"/>
              <a:ext cx="36" cy="80"/>
            </a:xfrm>
            <a:custGeom>
              <a:avLst/>
              <a:gdLst/>
              <a:ahLst/>
              <a:cxnLst>
                <a:cxn ang="0">
                  <a:pos x="0" y="38"/>
                </a:cxn>
                <a:cxn ang="0">
                  <a:pos x="21" y="38"/>
                </a:cxn>
                <a:cxn ang="0">
                  <a:pos x="21" y="0"/>
                </a:cxn>
                <a:cxn ang="0">
                  <a:pos x="49" y="0"/>
                </a:cxn>
                <a:cxn ang="0">
                  <a:pos x="49" y="38"/>
                </a:cxn>
                <a:cxn ang="0">
                  <a:pos x="74" y="38"/>
                </a:cxn>
                <a:cxn ang="0">
                  <a:pos x="74" y="59"/>
                </a:cxn>
                <a:cxn ang="0">
                  <a:pos x="49" y="59"/>
                </a:cxn>
                <a:cxn ang="0">
                  <a:pos x="49" y="127"/>
                </a:cxn>
                <a:cxn ang="0">
                  <a:pos x="63" y="144"/>
                </a:cxn>
                <a:cxn ang="0">
                  <a:pos x="74" y="143"/>
                </a:cxn>
                <a:cxn ang="0">
                  <a:pos x="74" y="165"/>
                </a:cxn>
                <a:cxn ang="0">
                  <a:pos x="56" y="166"/>
                </a:cxn>
                <a:cxn ang="0">
                  <a:pos x="21" y="134"/>
                </a:cxn>
                <a:cxn ang="0">
                  <a:pos x="21" y="59"/>
                </a:cxn>
                <a:cxn ang="0">
                  <a:pos x="0" y="59"/>
                </a:cxn>
                <a:cxn ang="0">
                  <a:pos x="0" y="38"/>
                </a:cxn>
              </a:cxnLst>
              <a:rect l="0" t="0" r="r" b="b"/>
              <a:pathLst>
                <a:path w="74" h="166">
                  <a:moveTo>
                    <a:pt x="0" y="38"/>
                  </a:moveTo>
                  <a:cubicBezTo>
                    <a:pt x="21" y="38"/>
                    <a:pt x="21" y="38"/>
                    <a:pt x="21" y="38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49" y="0"/>
                    <a:pt x="49" y="0"/>
                    <a:pt x="49" y="0"/>
                  </a:cubicBezTo>
                  <a:cubicBezTo>
                    <a:pt x="49" y="38"/>
                    <a:pt x="49" y="38"/>
                    <a:pt x="49" y="38"/>
                  </a:cubicBezTo>
                  <a:cubicBezTo>
                    <a:pt x="74" y="38"/>
                    <a:pt x="74" y="38"/>
                    <a:pt x="74" y="38"/>
                  </a:cubicBezTo>
                  <a:cubicBezTo>
                    <a:pt x="74" y="59"/>
                    <a:pt x="74" y="59"/>
                    <a:pt x="74" y="59"/>
                  </a:cubicBezTo>
                  <a:cubicBezTo>
                    <a:pt x="49" y="59"/>
                    <a:pt x="49" y="59"/>
                    <a:pt x="49" y="59"/>
                  </a:cubicBezTo>
                  <a:cubicBezTo>
                    <a:pt x="49" y="127"/>
                    <a:pt x="49" y="127"/>
                    <a:pt x="49" y="127"/>
                  </a:cubicBezTo>
                  <a:cubicBezTo>
                    <a:pt x="49" y="138"/>
                    <a:pt x="50" y="144"/>
                    <a:pt x="63" y="144"/>
                  </a:cubicBezTo>
                  <a:cubicBezTo>
                    <a:pt x="66" y="144"/>
                    <a:pt x="70" y="144"/>
                    <a:pt x="74" y="143"/>
                  </a:cubicBezTo>
                  <a:cubicBezTo>
                    <a:pt x="74" y="165"/>
                    <a:pt x="74" y="165"/>
                    <a:pt x="74" y="165"/>
                  </a:cubicBezTo>
                  <a:cubicBezTo>
                    <a:pt x="68" y="165"/>
                    <a:pt x="62" y="166"/>
                    <a:pt x="56" y="166"/>
                  </a:cubicBezTo>
                  <a:cubicBezTo>
                    <a:pt x="27" y="166"/>
                    <a:pt x="22" y="155"/>
                    <a:pt x="21" y="134"/>
                  </a:cubicBezTo>
                  <a:cubicBezTo>
                    <a:pt x="21" y="59"/>
                    <a:pt x="21" y="59"/>
                    <a:pt x="21" y="59"/>
                  </a:cubicBezTo>
                  <a:cubicBezTo>
                    <a:pt x="0" y="59"/>
                    <a:pt x="0" y="59"/>
                    <a:pt x="0" y="59"/>
                  </a:cubicBezTo>
                  <a:lnTo>
                    <a:pt x="0" y="38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5" name="Freeform 35"/>
            <p:cNvSpPr>
              <a:spLocks noEditPoints="1"/>
            </p:cNvSpPr>
            <p:nvPr/>
          </p:nvSpPr>
          <p:spPr bwMode="auto">
            <a:xfrm>
              <a:off x="1530" y="385"/>
              <a:ext cx="14" cy="84"/>
            </a:xfrm>
            <a:custGeom>
              <a:avLst/>
              <a:gdLst/>
              <a:ahLst/>
              <a:cxnLst>
                <a:cxn ang="0">
                  <a:pos x="0" y="0"/>
                </a:cxn>
                <a:cxn ang="0">
                  <a:pos x="20" y="0"/>
                </a:cxn>
                <a:cxn ang="0">
                  <a:pos x="20" y="19"/>
                </a:cxn>
                <a:cxn ang="0">
                  <a:pos x="0" y="19"/>
                </a:cxn>
                <a:cxn ang="0">
                  <a:pos x="0" y="0"/>
                </a:cxn>
                <a:cxn ang="0">
                  <a:pos x="0" y="34"/>
                </a:cxn>
                <a:cxn ang="0">
                  <a:pos x="20" y="34"/>
                </a:cxn>
                <a:cxn ang="0">
                  <a:pos x="20" y="125"/>
                </a:cxn>
                <a:cxn ang="0">
                  <a:pos x="0" y="125"/>
                </a:cxn>
                <a:cxn ang="0">
                  <a:pos x="0" y="34"/>
                </a:cxn>
              </a:cxnLst>
              <a:rect l="0" t="0" r="r" b="b"/>
              <a:pathLst>
                <a:path w="20" h="125">
                  <a:moveTo>
                    <a:pt x="0" y="0"/>
                  </a:moveTo>
                  <a:lnTo>
                    <a:pt x="20" y="0"/>
                  </a:lnTo>
                  <a:lnTo>
                    <a:pt x="20" y="19"/>
                  </a:lnTo>
                  <a:lnTo>
                    <a:pt x="0" y="19"/>
                  </a:lnTo>
                  <a:lnTo>
                    <a:pt x="0" y="0"/>
                  </a:lnTo>
                  <a:close/>
                  <a:moveTo>
                    <a:pt x="0" y="34"/>
                  </a:moveTo>
                  <a:lnTo>
                    <a:pt x="20" y="34"/>
                  </a:lnTo>
                  <a:lnTo>
                    <a:pt x="20" y="125"/>
                  </a:lnTo>
                  <a:lnTo>
                    <a:pt x="0" y="125"/>
                  </a:lnTo>
                  <a:lnTo>
                    <a:pt x="0" y="3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6" name="Freeform 36"/>
            <p:cNvSpPr>
              <a:spLocks/>
            </p:cNvSpPr>
            <p:nvPr/>
          </p:nvSpPr>
          <p:spPr bwMode="auto">
            <a:xfrm>
              <a:off x="1562" y="406"/>
              <a:ext cx="53" cy="63"/>
            </a:xfrm>
            <a:custGeom>
              <a:avLst/>
              <a:gdLst/>
              <a:ahLst/>
              <a:cxnLst>
                <a:cxn ang="0">
                  <a:pos x="0" y="3"/>
                </a:cxn>
                <a:cxn ang="0">
                  <a:pos x="26" y="3"/>
                </a:cxn>
                <a:cxn ang="0">
                  <a:pos x="26" y="22"/>
                </a:cxn>
                <a:cxn ang="0">
                  <a:pos x="27" y="22"/>
                </a:cxn>
                <a:cxn ang="0">
                  <a:pos x="66" y="0"/>
                </a:cxn>
                <a:cxn ang="0">
                  <a:pos x="111" y="43"/>
                </a:cxn>
                <a:cxn ang="0">
                  <a:pos x="111" y="130"/>
                </a:cxn>
                <a:cxn ang="0">
                  <a:pos x="83" y="130"/>
                </a:cxn>
                <a:cxn ang="0">
                  <a:pos x="83" y="50"/>
                </a:cxn>
                <a:cxn ang="0">
                  <a:pos x="58" y="22"/>
                </a:cxn>
                <a:cxn ang="0">
                  <a:pos x="28" y="55"/>
                </a:cxn>
                <a:cxn ang="0">
                  <a:pos x="28" y="130"/>
                </a:cxn>
                <a:cxn ang="0">
                  <a:pos x="0" y="130"/>
                </a:cxn>
                <a:cxn ang="0">
                  <a:pos x="0" y="3"/>
                </a:cxn>
              </a:cxnLst>
              <a:rect l="0" t="0" r="r" b="b"/>
              <a:pathLst>
                <a:path w="111" h="130">
                  <a:moveTo>
                    <a:pt x="0" y="3"/>
                  </a:moveTo>
                  <a:cubicBezTo>
                    <a:pt x="26" y="3"/>
                    <a:pt x="26" y="3"/>
                    <a:pt x="26" y="3"/>
                  </a:cubicBezTo>
                  <a:cubicBezTo>
                    <a:pt x="26" y="22"/>
                    <a:pt x="26" y="22"/>
                    <a:pt x="26" y="22"/>
                  </a:cubicBezTo>
                  <a:cubicBezTo>
                    <a:pt x="27" y="22"/>
                    <a:pt x="27" y="22"/>
                    <a:pt x="27" y="22"/>
                  </a:cubicBezTo>
                  <a:cubicBezTo>
                    <a:pt x="35" y="8"/>
                    <a:pt x="50" y="0"/>
                    <a:pt x="66" y="0"/>
                  </a:cubicBezTo>
                  <a:cubicBezTo>
                    <a:pt x="94" y="0"/>
                    <a:pt x="111" y="14"/>
                    <a:pt x="111" y="43"/>
                  </a:cubicBezTo>
                  <a:cubicBezTo>
                    <a:pt x="111" y="130"/>
                    <a:pt x="111" y="130"/>
                    <a:pt x="111" y="130"/>
                  </a:cubicBezTo>
                  <a:cubicBezTo>
                    <a:pt x="83" y="130"/>
                    <a:pt x="83" y="130"/>
                    <a:pt x="83" y="130"/>
                  </a:cubicBezTo>
                  <a:cubicBezTo>
                    <a:pt x="83" y="50"/>
                    <a:pt x="83" y="50"/>
                    <a:pt x="83" y="50"/>
                  </a:cubicBezTo>
                  <a:cubicBezTo>
                    <a:pt x="83" y="30"/>
                    <a:pt x="75" y="22"/>
                    <a:pt x="58" y="22"/>
                  </a:cubicBezTo>
                  <a:cubicBezTo>
                    <a:pt x="40" y="22"/>
                    <a:pt x="28" y="37"/>
                    <a:pt x="28" y="55"/>
                  </a:cubicBezTo>
                  <a:cubicBezTo>
                    <a:pt x="28" y="130"/>
                    <a:pt x="28" y="130"/>
                    <a:pt x="28" y="130"/>
                  </a:cubicBezTo>
                  <a:cubicBezTo>
                    <a:pt x="0" y="130"/>
                    <a:pt x="0" y="130"/>
                    <a:pt x="0" y="130"/>
                  </a:cubicBezTo>
                  <a:lnTo>
                    <a:pt x="0" y="3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37" name="Freeform 37"/>
            <p:cNvSpPr>
              <a:spLocks noEditPoints="1"/>
            </p:cNvSpPr>
            <p:nvPr/>
          </p:nvSpPr>
          <p:spPr bwMode="auto">
            <a:xfrm>
              <a:off x="1628" y="406"/>
              <a:ext cx="59" cy="87"/>
            </a:xfrm>
            <a:custGeom>
              <a:avLst/>
              <a:gdLst/>
              <a:ahLst/>
              <a:cxnLst>
                <a:cxn ang="0">
                  <a:pos x="124" y="123"/>
                </a:cxn>
                <a:cxn ang="0">
                  <a:pos x="61" y="180"/>
                </a:cxn>
                <a:cxn ang="0">
                  <a:pos x="5" y="141"/>
                </a:cxn>
                <a:cxn ang="0">
                  <a:pos x="33" y="141"/>
                </a:cxn>
                <a:cxn ang="0">
                  <a:pos x="63" y="159"/>
                </a:cxn>
                <a:cxn ang="0">
                  <a:pos x="96" y="127"/>
                </a:cxn>
                <a:cxn ang="0">
                  <a:pos x="96" y="108"/>
                </a:cxn>
                <a:cxn ang="0">
                  <a:pos x="95" y="108"/>
                </a:cxn>
                <a:cxn ang="0">
                  <a:pos x="57" y="130"/>
                </a:cxn>
                <a:cxn ang="0">
                  <a:pos x="0" y="63"/>
                </a:cxn>
                <a:cxn ang="0">
                  <a:pos x="58" y="0"/>
                </a:cxn>
                <a:cxn ang="0">
                  <a:pos x="95" y="21"/>
                </a:cxn>
                <a:cxn ang="0">
                  <a:pos x="96" y="21"/>
                </a:cxn>
                <a:cxn ang="0">
                  <a:pos x="96" y="3"/>
                </a:cxn>
                <a:cxn ang="0">
                  <a:pos x="124" y="3"/>
                </a:cxn>
                <a:cxn ang="0">
                  <a:pos x="124" y="123"/>
                </a:cxn>
                <a:cxn ang="0">
                  <a:pos x="96" y="64"/>
                </a:cxn>
                <a:cxn ang="0">
                  <a:pos x="62" y="22"/>
                </a:cxn>
                <a:cxn ang="0">
                  <a:pos x="28" y="66"/>
                </a:cxn>
                <a:cxn ang="0">
                  <a:pos x="62" y="108"/>
                </a:cxn>
                <a:cxn ang="0">
                  <a:pos x="96" y="64"/>
                </a:cxn>
              </a:cxnLst>
              <a:rect l="0" t="0" r="r" b="b"/>
              <a:pathLst>
                <a:path w="124" h="180">
                  <a:moveTo>
                    <a:pt x="124" y="123"/>
                  </a:moveTo>
                  <a:cubicBezTo>
                    <a:pt x="124" y="161"/>
                    <a:pt x="101" y="180"/>
                    <a:pt x="61" y="180"/>
                  </a:cubicBezTo>
                  <a:cubicBezTo>
                    <a:pt x="36" y="180"/>
                    <a:pt x="7" y="170"/>
                    <a:pt x="5" y="141"/>
                  </a:cubicBezTo>
                  <a:cubicBezTo>
                    <a:pt x="33" y="141"/>
                    <a:pt x="33" y="141"/>
                    <a:pt x="33" y="141"/>
                  </a:cubicBezTo>
                  <a:cubicBezTo>
                    <a:pt x="36" y="157"/>
                    <a:pt x="49" y="159"/>
                    <a:pt x="63" y="159"/>
                  </a:cubicBezTo>
                  <a:cubicBezTo>
                    <a:pt x="86" y="159"/>
                    <a:pt x="96" y="148"/>
                    <a:pt x="96" y="127"/>
                  </a:cubicBezTo>
                  <a:cubicBezTo>
                    <a:pt x="96" y="108"/>
                    <a:pt x="96" y="108"/>
                    <a:pt x="96" y="108"/>
                  </a:cubicBezTo>
                  <a:cubicBezTo>
                    <a:pt x="95" y="108"/>
                    <a:pt x="95" y="108"/>
                    <a:pt x="95" y="108"/>
                  </a:cubicBezTo>
                  <a:cubicBezTo>
                    <a:pt x="87" y="122"/>
                    <a:pt x="73" y="130"/>
                    <a:pt x="57" y="130"/>
                  </a:cubicBezTo>
                  <a:cubicBezTo>
                    <a:pt x="17" y="130"/>
                    <a:pt x="0" y="100"/>
                    <a:pt x="0" y="63"/>
                  </a:cubicBezTo>
                  <a:cubicBezTo>
                    <a:pt x="0" y="29"/>
                    <a:pt x="22" y="0"/>
                    <a:pt x="58" y="0"/>
                  </a:cubicBezTo>
                  <a:cubicBezTo>
                    <a:pt x="74" y="0"/>
                    <a:pt x="88" y="6"/>
                    <a:pt x="95" y="21"/>
                  </a:cubicBezTo>
                  <a:cubicBezTo>
                    <a:pt x="96" y="21"/>
                    <a:pt x="96" y="21"/>
                    <a:pt x="96" y="21"/>
                  </a:cubicBezTo>
                  <a:cubicBezTo>
                    <a:pt x="96" y="3"/>
                    <a:pt x="96" y="3"/>
                    <a:pt x="96" y="3"/>
                  </a:cubicBezTo>
                  <a:cubicBezTo>
                    <a:pt x="124" y="3"/>
                    <a:pt x="124" y="3"/>
                    <a:pt x="124" y="3"/>
                  </a:cubicBezTo>
                  <a:lnTo>
                    <a:pt x="124" y="123"/>
                  </a:lnTo>
                  <a:close/>
                  <a:moveTo>
                    <a:pt x="96" y="64"/>
                  </a:moveTo>
                  <a:cubicBezTo>
                    <a:pt x="96" y="42"/>
                    <a:pt x="86" y="22"/>
                    <a:pt x="62" y="22"/>
                  </a:cubicBezTo>
                  <a:cubicBezTo>
                    <a:pt x="37" y="22"/>
                    <a:pt x="28" y="45"/>
                    <a:pt x="28" y="66"/>
                  </a:cubicBezTo>
                  <a:cubicBezTo>
                    <a:pt x="28" y="87"/>
                    <a:pt x="38" y="108"/>
                    <a:pt x="62" y="108"/>
                  </a:cubicBezTo>
                  <a:cubicBezTo>
                    <a:pt x="86" y="108"/>
                    <a:pt x="96" y="85"/>
                    <a:pt x="96" y="64"/>
                  </a:cubicBezTo>
                  <a:close/>
                </a:path>
              </a:pathLst>
            </a:custGeom>
            <a:solidFill>
              <a:srgbClr val="000000"/>
            </a:solidFill>
            <a:ln w="9525">
              <a:noFill/>
              <a:round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</p:grpSp>
      <p:sp>
        <p:nvSpPr>
          <p:cNvPr id="38" name="Rectangle 42"/>
          <p:cNvSpPr>
            <a:spLocks noChangeArrowheads="1"/>
          </p:cNvSpPr>
          <p:nvPr/>
        </p:nvSpPr>
        <p:spPr bwMode="gray">
          <a:xfrm flipV="1">
            <a:off x="0" y="1125538"/>
            <a:ext cx="9144000" cy="69850"/>
          </a:xfrm>
          <a:prstGeom prst="rect">
            <a:avLst/>
          </a:prstGeom>
          <a:solidFill>
            <a:srgbClr val="000066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0000" tIns="72000" rIns="90000" bIns="72000" anchor="ctr"/>
          <a:lstStyle/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ctrTitle"/>
          </p:nvPr>
        </p:nvSpPr>
        <p:spPr bwMode="gray">
          <a:xfrm>
            <a:off x="395288" y="1412875"/>
            <a:ext cx="8353425" cy="720725"/>
          </a:xfrm>
        </p:spPr>
        <p:txBody>
          <a:bodyPr anchor="b"/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5128" name="Rectangle 8"/>
          <p:cNvSpPr>
            <a:spLocks noGrp="1" noChangeArrowheads="1"/>
          </p:cNvSpPr>
          <p:nvPr>
            <p:ph type="subTitle" idx="1"/>
          </p:nvPr>
        </p:nvSpPr>
        <p:spPr>
          <a:xfrm>
            <a:off x="395288" y="2205038"/>
            <a:ext cx="4103687" cy="1800225"/>
          </a:xfrm>
          <a:ln/>
        </p:spPr>
        <p:txBody>
          <a:bodyPr tIns="118800" bIns="45720"/>
          <a:lstStyle>
            <a:lvl1pPr marL="0" indent="0">
              <a:buFontTx/>
              <a:buNone/>
              <a:defRPr sz="1600"/>
            </a:lvl1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</p:spTree>
  </p:cSld>
  <p:clrMapOvr>
    <a:masterClrMapping/>
  </p:clrMapOvr>
  <p:transition>
    <p:wipe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4E0A2BB-1C38-4BB7-A24E-B30D58AA49D7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  <p:sp>
        <p:nvSpPr>
          <p:cNvPr id="5" name="Rectangle 3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7EA161-F741-4E23-AEA6-0C6A43A8D419}" type="datetime1">
              <a:rPr lang="en-US"/>
              <a:pPr>
                <a:defRPr/>
              </a:pPr>
              <a:t>8/23/2009</a:t>
            </a:fld>
            <a:endParaRPr lang="nl-NL" dirty="0"/>
          </a:p>
        </p:txBody>
      </p:sp>
      <p:sp>
        <p:nvSpPr>
          <p:cNvPr id="6" name="Rectangle 3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(C) Copyrights IFEAD, 2001-2008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C67858-D1F9-47DD-95C2-87318726C754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  <p:sp>
        <p:nvSpPr>
          <p:cNvPr id="5" name="Rectangle 3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01CFA1-1007-49FA-B230-607F79880DFD}" type="datetime1">
              <a:rPr lang="en-US"/>
              <a:pPr>
                <a:defRPr/>
              </a:pPr>
              <a:t>8/23/2009</a:t>
            </a:fld>
            <a:endParaRPr lang="nl-NL" dirty="0"/>
          </a:p>
        </p:txBody>
      </p:sp>
      <p:sp>
        <p:nvSpPr>
          <p:cNvPr id="6" name="Rectangle 3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(C) Copyrights IFEAD, 2001-2008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95288" y="1484313"/>
            <a:ext cx="4100512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4313"/>
            <a:ext cx="4100513" cy="460851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1B8C534-0D13-4C1B-A465-77F85D2D6362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  <p:sp>
        <p:nvSpPr>
          <p:cNvPr id="6" name="Rectangle 3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3384C9-DBCA-4BB1-B9C3-0B42809DB92A}" type="datetime1">
              <a:rPr lang="en-US"/>
              <a:pPr>
                <a:defRPr/>
              </a:pPr>
              <a:t>8/23/2009</a:t>
            </a:fld>
            <a:endParaRPr lang="nl-NL" dirty="0"/>
          </a:p>
        </p:txBody>
      </p:sp>
      <p:sp>
        <p:nvSpPr>
          <p:cNvPr id="7" name="Rectangle 3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(C) Copyrights IFEAD, 2001-2008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63E400-9BC4-4535-BC69-C753CFEEAA78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  <p:sp>
        <p:nvSpPr>
          <p:cNvPr id="8" name="Rectangle 3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9AD78E-1C21-45D5-8088-4C97FF8B3504}" type="datetime1">
              <a:rPr lang="en-US"/>
              <a:pPr>
                <a:defRPr/>
              </a:pPr>
              <a:t>8/23/2009</a:t>
            </a:fld>
            <a:endParaRPr lang="nl-NL" dirty="0"/>
          </a:p>
        </p:txBody>
      </p:sp>
      <p:sp>
        <p:nvSpPr>
          <p:cNvPr id="9" name="Rectangle 3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(C) Copyrights IFEAD, 2001-2008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ACD41E-A844-494E-8FA2-989702696D1E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  <p:sp>
        <p:nvSpPr>
          <p:cNvPr id="4" name="Rectangle 3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B2D622-83B9-4965-8480-883E7D997BA5}" type="datetime1">
              <a:rPr lang="en-US"/>
              <a:pPr>
                <a:defRPr/>
              </a:pPr>
              <a:t>8/23/2009</a:t>
            </a:fld>
            <a:endParaRPr lang="nl-NL" dirty="0"/>
          </a:p>
        </p:txBody>
      </p:sp>
      <p:sp>
        <p:nvSpPr>
          <p:cNvPr id="5" name="Rectangle 3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(C) Copyrights IFEAD, 2001-2008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28C866-BB7D-4F18-97B4-8B6F312B0F79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  <p:sp>
        <p:nvSpPr>
          <p:cNvPr id="3" name="Rectangle 3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0E2357-F93B-4AFA-B493-AFE5304C0037}" type="datetime1">
              <a:rPr lang="en-US"/>
              <a:pPr>
                <a:defRPr/>
              </a:pPr>
              <a:t>8/23/2009</a:t>
            </a:fld>
            <a:endParaRPr lang="nl-NL" dirty="0"/>
          </a:p>
        </p:txBody>
      </p:sp>
      <p:sp>
        <p:nvSpPr>
          <p:cNvPr id="4" name="Rectangle 3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(C) Copyrights IFEAD, 2001-2008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2E7995-2F02-4F9B-BC68-C547DC16BF40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  <p:sp>
        <p:nvSpPr>
          <p:cNvPr id="6" name="Rectangle 3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9967F55-B3E9-47C7-B170-BE18E882E8CC}" type="datetime1">
              <a:rPr lang="en-US"/>
              <a:pPr>
                <a:defRPr/>
              </a:pPr>
              <a:t>8/23/2009</a:t>
            </a:fld>
            <a:endParaRPr lang="nl-NL" dirty="0"/>
          </a:p>
        </p:txBody>
      </p:sp>
      <p:sp>
        <p:nvSpPr>
          <p:cNvPr id="7" name="Rectangle 3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(C) Copyrights IFEAD, 2001-2008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6520A9-F12F-40F4-A74D-3AB2ADABDB03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  <p:sp>
        <p:nvSpPr>
          <p:cNvPr id="6" name="Rectangle 3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6CD03C8-03A2-4061-B8AB-22C19E0FE8D1}" type="datetime1">
              <a:rPr lang="en-US"/>
              <a:pPr>
                <a:defRPr/>
              </a:pPr>
              <a:t>8/23/2009</a:t>
            </a:fld>
            <a:endParaRPr lang="nl-NL" dirty="0"/>
          </a:p>
        </p:txBody>
      </p:sp>
      <p:sp>
        <p:nvSpPr>
          <p:cNvPr id="7" name="Rectangle 3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(C) Copyrights IFEAD, 2001-2008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EB23D92-E001-45EA-BF37-9F3866944CAF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  <p:sp>
        <p:nvSpPr>
          <p:cNvPr id="5" name="Rectangle 3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E652F6-B58C-4EE3-9F59-9BB424436985}" type="datetime1">
              <a:rPr lang="en-US"/>
              <a:pPr>
                <a:defRPr/>
              </a:pPr>
              <a:t>8/23/2009</a:t>
            </a:fld>
            <a:endParaRPr lang="nl-NL" dirty="0"/>
          </a:p>
        </p:txBody>
      </p:sp>
      <p:sp>
        <p:nvSpPr>
          <p:cNvPr id="6" name="Rectangle 3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(C) Copyrights IFEAD, 2001-2008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61150" y="765175"/>
            <a:ext cx="2087563" cy="53276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95288" y="765175"/>
            <a:ext cx="6113462" cy="53276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0248AE-9469-4C53-BFF9-68D182D40FAA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  <p:sp>
        <p:nvSpPr>
          <p:cNvPr id="5" name="Rectangle 35"/>
          <p:cNvSpPr>
            <a:spLocks noGrp="1" noChangeArrowheads="1"/>
          </p:cNvSpPr>
          <p:nvPr>
            <p:ph type="dt" sz="half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B29AC6-3C47-4352-AC53-8374E8AEB472}" type="datetime1">
              <a:rPr lang="en-US"/>
              <a:pPr>
                <a:defRPr/>
              </a:pPr>
              <a:t>8/23/2009</a:t>
            </a:fld>
            <a:endParaRPr lang="nl-NL" dirty="0"/>
          </a:p>
        </p:txBody>
      </p:sp>
      <p:sp>
        <p:nvSpPr>
          <p:cNvPr id="6" name="Rectangle 36"/>
          <p:cNvSpPr>
            <a:spLocks noGrp="1" noChangeArrowheads="1"/>
          </p:cNvSpPr>
          <p:nvPr>
            <p:ph type="ftr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(C) Copyrights IFEAD, 2001-2008</a:t>
            </a:r>
          </a:p>
        </p:txBody>
      </p:sp>
    </p:spTree>
  </p:cSld>
  <p:clrMapOvr>
    <a:masterClrMapping/>
  </p:clrMapOvr>
  <p:transition>
    <p:wipe dir="r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hart">
  <p:cSld name="Title, Text and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0338" y="214313"/>
            <a:ext cx="6443662" cy="36671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09650" y="1119188"/>
            <a:ext cx="3900488" cy="52625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hart Placeholder 3"/>
          <p:cNvSpPr>
            <a:spLocks noGrp="1"/>
          </p:cNvSpPr>
          <p:nvPr>
            <p:ph type="chart" sz="half" idx="2"/>
          </p:nvPr>
        </p:nvSpPr>
        <p:spPr>
          <a:xfrm>
            <a:off x="5062538" y="1119188"/>
            <a:ext cx="3902075" cy="5262562"/>
          </a:xfrm>
        </p:spPr>
        <p:txBody>
          <a:bodyPr/>
          <a:lstStyle/>
          <a:p>
            <a:pPr lvl="0"/>
            <a:r>
              <a:rPr lang="en-US" noProof="0" smtClean="0"/>
              <a:t>Click icon to add chart</a:t>
            </a:r>
            <a:endParaRPr lang="en-US" noProof="0"/>
          </a:p>
        </p:txBody>
      </p:sp>
    </p:spTree>
  </p:cSld>
  <p:clrMapOvr>
    <a:masterClrMapping/>
  </p:clrMapOvr>
  <p:transition>
    <p:wipe dir="r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0338" y="214313"/>
            <a:ext cx="6443662" cy="36671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009650" y="1119188"/>
            <a:ext cx="7954963" cy="5262562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US" noProof="0"/>
          </a:p>
        </p:txBody>
      </p:sp>
    </p:spTree>
  </p:cSld>
  <p:clrMapOvr>
    <a:masterClrMapping/>
  </p:clrMapOvr>
  <p:transition>
    <p:wipe dir="r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</p:spTree>
  </p:cSld>
  <p:clrMapOvr>
    <a:masterClrMapping/>
  </p:clrMapOvr>
  <p:transition>
    <p:wipe dir="r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ClipArt">
  <p:cSld name="Title, Text and Clip 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153400" cy="685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981200"/>
            <a:ext cx="4000500" cy="4114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lipArt Placeholder 3"/>
          <p:cNvSpPr>
            <a:spLocks noGrp="1"/>
          </p:cNvSpPr>
          <p:nvPr>
            <p:ph type="clipArt" sz="half" idx="2"/>
          </p:nvPr>
        </p:nvSpPr>
        <p:spPr>
          <a:xfrm>
            <a:off x="4610100" y="1981200"/>
            <a:ext cx="4000500" cy="4114800"/>
          </a:xfrm>
        </p:spPr>
        <p:txBody>
          <a:bodyPr/>
          <a:lstStyle/>
          <a:p>
            <a:pPr lvl="0"/>
            <a:r>
              <a:rPr lang="en-US" noProof="0" smtClean="0"/>
              <a:t>Click icon to add clip art</a:t>
            </a:r>
            <a:endParaRPr lang="en-US" noProof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8400"/>
            <a:ext cx="1960563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27C24E-8397-4376-B2F9-A9E643BA098A}" type="datetime1">
              <a:rPr lang="en-US"/>
              <a:pPr>
                <a:defRPr/>
              </a:pPr>
              <a:t>8/23/2009</a:t>
            </a:fld>
            <a:endParaRPr lang="nl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514600" y="6248400"/>
            <a:ext cx="4114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nl-NL"/>
              <a:t>(C) Copyrights IFEAD, 2001-2008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669088" y="6248400"/>
            <a:ext cx="1941512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687355-C870-4427-B0BB-FC6427474A01}" type="slidenum">
              <a:rPr lang="nl-NL"/>
              <a:pPr>
                <a:defRPr/>
              </a:pPr>
              <a:t>‹#›</a:t>
            </a:fld>
            <a:endParaRPr lang="nl-NL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59B7F2C-4E3A-4B07-99AB-0D4A0AD89D52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9BD0A4-4A16-40F5-A152-2823099721A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D1E867D-FEE5-49D1-BE78-3CF8DE804574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4D6638-0188-42C6-8EEA-7CFC3FF0DCB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1D9FE45-2B62-4AC6-B937-F27982E65176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2AF5EF-EDAC-4590-8C60-EC57C2B1D1A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193800"/>
            <a:ext cx="4038600" cy="4932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193800"/>
            <a:ext cx="4038600" cy="4932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679976-5B76-436D-97B1-712B7449EC6F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C14D44-715D-4031-8D20-8637403AF8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D3DE75B-65A9-4F54-ABDC-D6CA671EE407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D40B53-C847-4EE5-BC28-72F5D72BB1E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1E5E09-0267-47F3-B2FC-923AAEB8CF03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660748-9C33-4E26-A22B-58BDE70016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3D168E-8F81-4D14-B94F-6E23AD09C1D3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95E058-7257-4517-8230-F4CEA7131D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2B73D5-6010-40BD-9B75-490D7D58640D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286201-85F3-4CD8-B93C-FAD5EB484F8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882A6F-1858-4400-852A-122971647348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3BF82C-E1A9-402B-95F8-2AA1D50D30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3A116D-EA41-457D-84DE-DEE658D28B09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BFED5E2-D1CD-423C-8DB7-C07B2D44B22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38138"/>
            <a:ext cx="2057400" cy="57880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38138"/>
            <a:ext cx="6019800" cy="57880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B7A7CF-15B1-4631-AB14-2704F27F1903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955DCF-124B-4755-9A28-15C12114BE4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>
    <p:wipe dir="r"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D760626-118A-4543-B6A1-A488FA44FFA8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7B3E95-403E-41D3-85FF-910798E6619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EF9349-B839-4461-8A1B-D315AA0BD4E2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75F064-6D54-47D9-99E4-AAD4D27061E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D55B8F-AD7F-4EEA-BEDF-34DC794D13B7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B63C8D2-8D1A-4925-9874-8C47E957CBD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971800"/>
            <a:ext cx="3352800" cy="3154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971800"/>
            <a:ext cx="3352800" cy="3154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F1A7FD9-857E-426E-9804-4DBFF5F668E5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60C8E6-6073-41DC-B2F8-42E3497E296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B1781F-9430-43D3-A2D0-97A170C2AC87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8B02365-ADD2-4DA5-888C-FEBB321F67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342EE96-CDE1-436A-82D7-19ED2BAE3D8E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072FB8-5171-4C24-8AB1-F80C99714B4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66FCC2-9E5B-4C95-A3A9-01E7576EF4B7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5C2995-C670-471C-9DF8-15EDB245FE4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916E2D-C306-4B6B-B551-4AC380B9462C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ADF08C-693B-41C0-AD91-65D353330E9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E93317-5477-4655-90B2-7341EF8C3FED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E93B10-E4F0-4F82-AD93-EDF995CB463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017A38-2BEE-415E-9B4E-B92B468A749E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287BE1C-41AE-4E6F-BF02-BB63AE3ABEA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676400"/>
            <a:ext cx="2057400" cy="4449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76400"/>
            <a:ext cx="6019800" cy="4449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2D6EAC-D7A3-409D-94DD-F2F8E3C55A8A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AE011D-3AFA-473B-A9F7-94B163E63A2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6A2E50-707D-41C0-86EE-63349B3020F2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A33D34-D664-49A0-B140-0E7FFC0005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2D62FB-72BC-476A-9151-8C74FA83BAC1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C549E1-6A3A-4E96-8759-89739081101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A54E894-2410-41E7-8705-8019898F1632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2290BF-98D0-4A98-A747-A9BBA819BFD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4F51FF-C870-439F-A8A4-7FE120D41C47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2D1000-C021-4CB2-8B91-7885DFBB86B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5352972-C44B-4114-BDE4-F2A6A7F2264D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EC5E24-7B0B-46C4-A120-104A386E66E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11A0CC-6767-4103-8A70-BFF2B6C7EBD8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C35CF-1ABF-4125-8164-83F6E61EE6F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1A983B-F5B5-41D2-8239-4B51B46C597A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0D1D398-8A2D-43A7-942E-FE971921594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A3159C-D30C-4DD9-80CB-8489565A9221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652D06-88CE-4345-92CA-E217EC2C94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2E8EE-EA6B-44A6-B9D9-9C8CD1B09213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2F0223B-B598-4E9A-93D1-18C7B84B80C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9DA84F9-DB8E-451D-A920-3EA6C00A1B55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69BE3D-DB0A-422F-8F67-BB9A70599C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B4D991-BF9B-440E-8D14-189A27A1EB51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60A5BF-5633-4698-9153-130956D502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F4E5F4-23EA-42A5-BEC9-4A19619073BB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F2A05C1-0048-4539-9E18-79952E9A491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E4FD6E-620F-44F3-AAFF-F8DA070918C1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D3522B-376B-4FD4-A2E5-255BC116137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38F0F83-CB2D-493A-AB14-672688E1DA10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2229D5-A71A-47D0-A824-B1D9916B77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321FB3-F6A9-4B81-A5B6-315BB7E593D1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71BA547-1925-4E2D-B697-4B79F585861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DD9CE7-6277-48A0-B06F-3BACBA6B8522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6F5578-9303-4E30-BB3E-B07343898D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9CAD9B-51EA-4C45-80F8-06843E41E037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09AD4-9ADF-4C01-AEB9-35F1DF9CEAE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EBF01E-77C6-439C-BFD4-8D007E62C3C7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3F17F1-1FF6-4953-984C-019D70E2AE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77A70C-96C6-4977-9291-C1C6389C9277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5509B3-B39E-47E1-A874-D847DF969C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B1B866-165D-40CB-9233-0CECFA3F6F08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85456D2-1F3C-4613-BE70-0676AEFF56C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35E2F29-7BC1-4981-B731-A832C4C78DE0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1F528B-3DA7-4C62-98B2-D4282E76FDE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F13EAEE-A896-4342-A133-73A567CC7513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82A5857-A3B3-42CE-846F-CB560D01E5B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6A7E96-C19E-4A2F-8D35-62439FC87739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9FAF2-2AD3-409C-9D76-D596850F1F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C164837-53C5-4662-9FA6-1CA6062A882D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5B12D-D76B-4044-86DC-672540ABCD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0F9826-4239-4812-9790-47F46F563929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4A8D7-D810-490F-8A66-60241211513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971800"/>
            <a:ext cx="3352800" cy="3154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971800"/>
            <a:ext cx="3352800" cy="3154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6C9BD9-1C44-43B9-90A2-C135B11B7770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0E378AC-4709-45FF-9B8E-B511C2096E9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271F02-1BD8-4C5C-A6A2-B31C02FC751A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25C94C-1E30-4D3A-9EB1-D5BA2A31695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987EA75-C575-4079-8310-9C2701F63703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5E34921-7D0A-4BBC-8102-9AB5A30DBB7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9B11280-3F05-48BD-909C-E3FF51B0D590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E924FA-8C3F-44BC-98EF-618FDB30998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571D5B6-D153-4665-9585-8CA79B706C18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F49AC4-A3A4-4C9E-A1F4-D2ECA91C5F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01EFB84-FC66-4F33-9840-D2016695D29A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2D0DDFA-5F6F-4C2A-B4F7-A6ADCEEA473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C0CA7-2E18-4B7E-B7DA-D411E4DC3497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0392F7-C8B4-4E25-A4C6-213100A623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676400"/>
            <a:ext cx="2057400" cy="4449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76400"/>
            <a:ext cx="6019800" cy="4449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C7D736D-F522-4C7F-8855-1E1C5E5D2A22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ED4923-B0AB-4C6F-BBD7-C3D30508A69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B51E55-25A5-4B84-BDA2-AFED0FC5CCA7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CA2193-4A1F-4E41-97D1-6459F329223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72CEC-5AA9-4945-856D-957B085C608F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830DDC8-408A-4D7D-AC52-D94FF31538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F8417B-6F0F-4A37-BC1E-AB94CB3BAE66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697D25D-5E7F-4581-BCC5-635D07F1FBD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7DDED6F-CE8F-4C87-BA3E-E50BC9CEB12E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D9BD9C-DDCF-4E85-8FB8-4453D085DA2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C3623F-0B26-4A70-A2D9-D13914C4F56B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86950C-7D68-483D-A0FD-5942CBDCC4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E48E1B5-AA15-429F-B7DD-DE300E6B40B0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798181-1614-4519-BB10-F178862135C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016E85C-60FE-4153-831F-3FB85B19F03B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3A61FC-393E-48C7-A1B2-1DFBB989B37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26E730-CA43-47E4-A252-408ABF26B304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3B8ED2-774A-44CC-90C7-FA68B20837A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08D4D29-C437-4155-9D6D-883632F3C12C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A2617FC-D56D-47A0-BA27-02E5FA82D0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BCEBF7B-D602-4C66-B920-8025EF694CFF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C7B22B-EAA6-4FB7-B6EF-A4D391B8AA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20D83C-ABD0-4943-B63B-CD35A4F4DED9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7AFDD9-7B49-4880-9E73-17C2DF66827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C6062B2-276D-43BD-88AD-D96471DB210F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9A11793-2FB8-465E-A40D-59E73B29356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9BD10EF-C193-433A-BD9A-701F06D53C58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D8D1F51-F60C-4A90-8753-781E20395A0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B1A5BE2-61D1-4F5E-8549-2B80CE06DC27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D4FB30-41BD-4A4D-92F2-7D89D424810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63634F7-353D-40D9-BEEF-BF0900955215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137DBE-0A54-4917-B34F-2011B69A87C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927348A-ABAF-47A2-85DC-1C4605F1AF7A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66E0BE-0D26-415E-8657-A49119A4135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709775C-6099-4200-AA87-97B3B6EA9FE9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78ABAF1-5299-4D5E-A65A-738A3A811AF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968A97B-6699-4349-9453-8809CEB07ADB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CA90A1-32C4-40EC-96FA-8FFADE930AE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1E3268-37EC-4416-A842-EBCC4FAA3E63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E687C0B-403E-41BD-B934-96D4C09D9CA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F504A1E-842F-4310-8543-9DA8CA934193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AF59C6-D019-4A68-A761-EE397FC9608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B2788DB-8821-42B7-8F6E-8DCB7ABF28FE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9E29CB-3815-4997-9252-3353F6CEF0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016535B-F74B-4BD4-8AD7-EC170DFD5331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69CBCD8-8FDF-41B5-B69A-94E43D86CC7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49918CB-4A6C-492E-BE06-289725AECE0B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A910C4A-5612-4224-B540-3F3CD75E425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DDDC9D-AA6A-4247-9663-C31504665674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1CC10C1-7DD4-45AE-A9FA-4A1DDF77945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A098507-F7F0-4CA7-8353-ECC1C1567893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3E0189D-C3C0-44B7-BA89-ECFFD2AAECA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971800"/>
            <a:ext cx="3352800" cy="3154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2971800"/>
            <a:ext cx="3352800" cy="31543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BB8F62-AF75-4B01-B09E-D256600D7261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CBF3F7D-57E0-4FB4-B447-8E02436194C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C9B79B6-599A-4396-BF32-B38F2DD345BC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600345C-39DB-4ADD-848A-76F3DE71D76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BB6EB97-AA30-47B8-92BB-6436BA73732C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51076D-14D3-4FF1-8000-5EB0D10895C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59FDE85-CA3F-4522-9BE2-EBC39506BFF5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F08FA57-2619-4909-AF29-40C92C02CF0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4A7DCB-5BFE-4C2C-B8D3-C4A34DA119D5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E1DE89-3B8A-404D-AD09-E421DA5C843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98FEF57-AC5F-4AA7-9480-9A5E88799A16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3D5A2D-0703-48D8-B2EE-4EFA2B5CC12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B8110C-9312-4917-B4E6-DADBAFF82CD4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8D13E4A-0CBE-42C0-9A4D-7508009625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1676400"/>
            <a:ext cx="2057400" cy="4449763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676400"/>
            <a:ext cx="6019800" cy="4449763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1A4CED-1683-4274-B8C5-1BBFFE7E3A33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65B824-3E89-453D-AED1-83A9FCE8A69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4.xml"/><Relationship Id="rId13" Type="http://schemas.openxmlformats.org/officeDocument/2006/relationships/image" Target="../media/image5.jpeg"/><Relationship Id="rId3" Type="http://schemas.openxmlformats.org/officeDocument/2006/relationships/slideLayout" Target="../slideLayouts/slideLayout19.xml"/><Relationship Id="rId7" Type="http://schemas.openxmlformats.org/officeDocument/2006/relationships/slideLayout" Target="../slideLayouts/slideLayout23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8.xml"/><Relationship Id="rId1" Type="http://schemas.openxmlformats.org/officeDocument/2006/relationships/slideLayout" Target="../slideLayouts/slideLayout17.xml"/><Relationship Id="rId6" Type="http://schemas.openxmlformats.org/officeDocument/2006/relationships/slideLayout" Target="../slideLayouts/slideLayout22.xml"/><Relationship Id="rId11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5.xml"/><Relationship Id="rId13" Type="http://schemas.openxmlformats.org/officeDocument/2006/relationships/image" Target="../media/image6.jpeg"/><Relationship Id="rId3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4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9.xml"/><Relationship Id="rId1" Type="http://schemas.openxmlformats.org/officeDocument/2006/relationships/slideLayout" Target="../slideLayouts/slideLayout28.xml"/><Relationship Id="rId6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6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6.xml"/><Relationship Id="rId13" Type="http://schemas.openxmlformats.org/officeDocument/2006/relationships/image" Target="../media/image7.jpeg"/><Relationship Id="rId3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5.xml"/><Relationship Id="rId12" Type="http://schemas.openxmlformats.org/officeDocument/2006/relationships/theme" Target="../theme/theme4.xml"/><Relationship Id="rId2" Type="http://schemas.openxmlformats.org/officeDocument/2006/relationships/slideLayout" Target="../slideLayouts/slideLayout40.xml"/><Relationship Id="rId1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9.xml"/><Relationship Id="rId5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8.xml"/><Relationship Id="rId4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7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7.xml"/><Relationship Id="rId13" Type="http://schemas.openxmlformats.org/officeDocument/2006/relationships/image" Target="../media/image8.jpeg"/><Relationship Id="rId3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6.xml"/><Relationship Id="rId12" Type="http://schemas.openxmlformats.org/officeDocument/2006/relationships/theme" Target="../theme/theme5.xml"/><Relationship Id="rId2" Type="http://schemas.openxmlformats.org/officeDocument/2006/relationships/slideLayout" Target="../slideLayouts/slideLayout51.xml"/><Relationship Id="rId1" Type="http://schemas.openxmlformats.org/officeDocument/2006/relationships/slideLayout" Target="../slideLayouts/slideLayout50.xml"/><Relationship Id="rId6" Type="http://schemas.openxmlformats.org/officeDocument/2006/relationships/slideLayout" Target="../slideLayouts/slideLayout55.xml"/><Relationship Id="rId11" Type="http://schemas.openxmlformats.org/officeDocument/2006/relationships/slideLayout" Target="../slideLayouts/slideLayout60.xml"/><Relationship Id="rId5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59.xml"/><Relationship Id="rId4" Type="http://schemas.openxmlformats.org/officeDocument/2006/relationships/slideLayout" Target="../slideLayouts/slideLayout53.xml"/><Relationship Id="rId9" Type="http://schemas.openxmlformats.org/officeDocument/2006/relationships/slideLayout" Target="../slideLayouts/slideLayout58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image" Target="../media/image9.jpeg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theme" Target="../theme/theme6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9.xml"/><Relationship Id="rId13" Type="http://schemas.openxmlformats.org/officeDocument/2006/relationships/image" Target="../media/image10.jpeg"/><Relationship Id="rId3" Type="http://schemas.openxmlformats.org/officeDocument/2006/relationships/slideLayout" Target="../slideLayouts/slideLayout74.xml"/><Relationship Id="rId7" Type="http://schemas.openxmlformats.org/officeDocument/2006/relationships/slideLayout" Target="../slideLayouts/slideLayout78.xml"/><Relationship Id="rId12" Type="http://schemas.openxmlformats.org/officeDocument/2006/relationships/theme" Target="../theme/theme7.xml"/><Relationship Id="rId2" Type="http://schemas.openxmlformats.org/officeDocument/2006/relationships/slideLayout" Target="../slideLayouts/slideLayout73.xml"/><Relationship Id="rId1" Type="http://schemas.openxmlformats.org/officeDocument/2006/relationships/slideLayout" Target="../slideLayouts/slideLayout72.xml"/><Relationship Id="rId6" Type="http://schemas.openxmlformats.org/officeDocument/2006/relationships/slideLayout" Target="../slideLayouts/slideLayout77.xml"/><Relationship Id="rId11" Type="http://schemas.openxmlformats.org/officeDocument/2006/relationships/slideLayout" Target="../slideLayouts/slideLayout82.xml"/><Relationship Id="rId5" Type="http://schemas.openxmlformats.org/officeDocument/2006/relationships/slideLayout" Target="../slideLayouts/slideLayout76.xml"/><Relationship Id="rId10" Type="http://schemas.openxmlformats.org/officeDocument/2006/relationships/slideLayout" Target="../slideLayouts/slideLayout81.xml"/><Relationship Id="rId4" Type="http://schemas.openxmlformats.org/officeDocument/2006/relationships/slideLayout" Target="../slideLayouts/slideLayout75.xml"/><Relationship Id="rId9" Type="http://schemas.openxmlformats.org/officeDocument/2006/relationships/slideLayout" Target="../slideLayouts/slideLayout80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0.xml"/><Relationship Id="rId13" Type="http://schemas.openxmlformats.org/officeDocument/2006/relationships/image" Target="../media/image11.jpeg"/><Relationship Id="rId3" Type="http://schemas.openxmlformats.org/officeDocument/2006/relationships/slideLayout" Target="../slideLayouts/slideLayout85.xml"/><Relationship Id="rId7" Type="http://schemas.openxmlformats.org/officeDocument/2006/relationships/slideLayout" Target="../slideLayouts/slideLayout89.xml"/><Relationship Id="rId12" Type="http://schemas.openxmlformats.org/officeDocument/2006/relationships/theme" Target="../theme/theme8.xml"/><Relationship Id="rId2" Type="http://schemas.openxmlformats.org/officeDocument/2006/relationships/slideLayout" Target="../slideLayouts/slideLayout84.xml"/><Relationship Id="rId1" Type="http://schemas.openxmlformats.org/officeDocument/2006/relationships/slideLayout" Target="../slideLayouts/slideLayout83.xml"/><Relationship Id="rId6" Type="http://schemas.openxmlformats.org/officeDocument/2006/relationships/slideLayout" Target="../slideLayouts/slideLayout88.xml"/><Relationship Id="rId11" Type="http://schemas.openxmlformats.org/officeDocument/2006/relationships/slideLayout" Target="../slideLayouts/slideLayout93.xml"/><Relationship Id="rId5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92.xml"/><Relationship Id="rId4" Type="http://schemas.openxmlformats.org/officeDocument/2006/relationships/slideLayout" Target="../slideLayouts/slideLayout86.xml"/><Relationship Id="rId9" Type="http://schemas.openxmlformats.org/officeDocument/2006/relationships/slideLayout" Target="../slideLayouts/slideLayout91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1.xml"/><Relationship Id="rId13" Type="http://schemas.openxmlformats.org/officeDocument/2006/relationships/image" Target="../media/image12.jpeg"/><Relationship Id="rId3" Type="http://schemas.openxmlformats.org/officeDocument/2006/relationships/slideLayout" Target="../slideLayouts/slideLayout96.xml"/><Relationship Id="rId7" Type="http://schemas.openxmlformats.org/officeDocument/2006/relationships/slideLayout" Target="../slideLayouts/slideLayout100.xml"/><Relationship Id="rId12" Type="http://schemas.openxmlformats.org/officeDocument/2006/relationships/theme" Target="../theme/theme9.xml"/><Relationship Id="rId2" Type="http://schemas.openxmlformats.org/officeDocument/2006/relationships/slideLayout" Target="../slideLayouts/slideLayout95.xml"/><Relationship Id="rId1" Type="http://schemas.openxmlformats.org/officeDocument/2006/relationships/slideLayout" Target="../slideLayouts/slideLayout94.xml"/><Relationship Id="rId6" Type="http://schemas.openxmlformats.org/officeDocument/2006/relationships/slideLayout" Target="../slideLayouts/slideLayout99.xml"/><Relationship Id="rId11" Type="http://schemas.openxmlformats.org/officeDocument/2006/relationships/slideLayout" Target="../slideLayouts/slideLayout104.xml"/><Relationship Id="rId5" Type="http://schemas.openxmlformats.org/officeDocument/2006/relationships/slideLayout" Target="../slideLayouts/slideLayout98.xml"/><Relationship Id="rId10" Type="http://schemas.openxmlformats.org/officeDocument/2006/relationships/slideLayout" Target="../slideLayouts/slideLayout103.xml"/><Relationship Id="rId4" Type="http://schemas.openxmlformats.org/officeDocument/2006/relationships/slideLayout" Target="../slideLayouts/slideLayout97.xml"/><Relationship Id="rId9" Type="http://schemas.openxmlformats.org/officeDocument/2006/relationships/slideLayout" Target="../slideLayouts/slideLayout10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40" descr="MCPlants1.jpg"/>
          <p:cNvPicPr>
            <a:picLocks noChangeAspect="1"/>
          </p:cNvPicPr>
          <p:nvPr/>
        </p:nvPicPr>
        <p:blipFill>
          <a:blip r:embed="rId18" cstate="print"/>
          <a:srcRect/>
          <a:stretch>
            <a:fillRect/>
          </a:stretch>
        </p:blipFill>
        <p:spPr bwMode="auto">
          <a:xfrm>
            <a:off x="1655763" y="0"/>
            <a:ext cx="6516687" cy="79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4136" name="Rectangle 40"/>
          <p:cNvSpPr>
            <a:spLocks noChangeArrowheads="1"/>
          </p:cNvSpPr>
          <p:nvPr/>
        </p:nvSpPr>
        <p:spPr bwMode="gray">
          <a:xfrm>
            <a:off x="0" y="765175"/>
            <a:ext cx="9144000" cy="360363"/>
          </a:xfrm>
          <a:prstGeom prst="rect">
            <a:avLst/>
          </a:prstGeom>
          <a:solidFill>
            <a:srgbClr val="F2F2F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076" name="Rectangle 33"/>
          <p:cNvSpPr>
            <a:spLocks noGrp="1" noChangeArrowheads="1"/>
          </p:cNvSpPr>
          <p:nvPr>
            <p:ph type="body" idx="1"/>
          </p:nvPr>
        </p:nvSpPr>
        <p:spPr bwMode="gray">
          <a:xfrm>
            <a:off x="395288" y="1484313"/>
            <a:ext cx="8353425" cy="46085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 smtClean="0"/>
          </a:p>
        </p:txBody>
      </p:sp>
      <p:sp>
        <p:nvSpPr>
          <p:cNvPr id="4130" name="Rectangle 34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8101013" y="6597650"/>
            <a:ext cx="6477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r" rtl="1">
              <a:spcBef>
                <a:spcPct val="0"/>
              </a:spcBef>
              <a:buClrTx/>
              <a:defRPr sz="900" baseline="0">
                <a:solidFill>
                  <a:schemeClr val="bg2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C8257FEC-265C-471D-8FC0-B4C89626868C}" type="slidenum">
              <a:rPr lang="nl-NL"/>
              <a:pPr>
                <a:defRPr/>
              </a:pPr>
              <a:t>‹#›</a:t>
            </a:fld>
            <a:endParaRPr lang="nl-NL" dirty="0"/>
          </a:p>
        </p:txBody>
      </p:sp>
      <p:sp>
        <p:nvSpPr>
          <p:cNvPr id="4131" name="Rectangle 35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395288" y="6597650"/>
            <a:ext cx="2087562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l">
              <a:spcBef>
                <a:spcPct val="0"/>
              </a:spcBef>
              <a:buClrTx/>
              <a:defRPr sz="900" baseline="0">
                <a:solidFill>
                  <a:schemeClr val="bg2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fld id="{DF3E11ED-5661-46C2-AD25-15FBA0754542}" type="datetime1">
              <a:rPr lang="en-US"/>
              <a:pPr>
                <a:defRPr/>
              </a:pPr>
              <a:t>8/23/2009</a:t>
            </a:fld>
            <a:endParaRPr lang="nl-NL" dirty="0"/>
          </a:p>
        </p:txBody>
      </p:sp>
      <p:sp>
        <p:nvSpPr>
          <p:cNvPr id="4132" name="Rectangle 36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2484438" y="6597650"/>
            <a:ext cx="4175125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>
            <a:lvl1pPr algn="ctr">
              <a:spcBef>
                <a:spcPct val="0"/>
              </a:spcBef>
              <a:buClrTx/>
              <a:defRPr sz="900" baseline="0">
                <a:solidFill>
                  <a:schemeClr val="bg2"/>
                </a:solidFill>
                <a:latin typeface="Arial" pitchFamily="34" charset="0"/>
              </a:defRPr>
            </a:lvl1pPr>
          </a:lstStyle>
          <a:p>
            <a:pPr>
              <a:defRPr/>
            </a:pPr>
            <a:r>
              <a:rPr lang="nl-NL"/>
              <a:t>(C) Copyrights IFEAD, 2001-2008</a:t>
            </a:r>
          </a:p>
        </p:txBody>
      </p:sp>
      <p:sp>
        <p:nvSpPr>
          <p:cNvPr id="4133" name="Line 37"/>
          <p:cNvSpPr>
            <a:spLocks noChangeShapeType="1"/>
          </p:cNvSpPr>
          <p:nvPr/>
        </p:nvSpPr>
        <p:spPr bwMode="gray">
          <a:xfrm>
            <a:off x="0" y="6597650"/>
            <a:ext cx="91440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3081" name="Rectangle 38"/>
          <p:cNvSpPr>
            <a:spLocks noGrp="1" noChangeArrowheads="1"/>
          </p:cNvSpPr>
          <p:nvPr>
            <p:ph type="title"/>
          </p:nvPr>
        </p:nvSpPr>
        <p:spPr bwMode="ltGray">
          <a:xfrm>
            <a:off x="395288" y="765175"/>
            <a:ext cx="8353425" cy="360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add title</a:t>
            </a:r>
          </a:p>
        </p:txBody>
      </p:sp>
      <p:pic>
        <p:nvPicPr>
          <p:cNvPr id="3082" name="Picture 41"/>
          <p:cNvPicPr>
            <a:picLocks noChangeAspect="1" noChangeArrowheads="1"/>
          </p:cNvPicPr>
          <p:nvPr/>
        </p:nvPicPr>
        <p:blipFill>
          <a:blip r:embed="rId1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gray">
          <a:xfrm>
            <a:off x="38100" y="46038"/>
            <a:ext cx="2246313" cy="692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1066" name="Rectangle 42"/>
          <p:cNvSpPr>
            <a:spLocks noChangeArrowheads="1"/>
          </p:cNvSpPr>
          <p:nvPr/>
        </p:nvSpPr>
        <p:spPr bwMode="gray">
          <a:xfrm flipV="1">
            <a:off x="0" y="1125538"/>
            <a:ext cx="9144000" cy="69850"/>
          </a:xfrm>
          <a:prstGeom prst="rect">
            <a:avLst/>
          </a:prstGeom>
          <a:solidFill>
            <a:srgbClr val="000066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0000" tIns="72000" rIns="90000" bIns="72000" anchor="ctr"/>
          <a:lstStyle/>
          <a:p>
            <a:pPr>
              <a:defRPr/>
            </a:pPr>
            <a:endParaRPr lang="en-US"/>
          </a:p>
        </p:txBody>
      </p:sp>
      <p:sp>
        <p:nvSpPr>
          <p:cNvPr id="1067" name="Rectangle 43"/>
          <p:cNvSpPr>
            <a:spLocks noChangeArrowheads="1"/>
          </p:cNvSpPr>
          <p:nvPr/>
        </p:nvSpPr>
        <p:spPr bwMode="gray">
          <a:xfrm flipV="1">
            <a:off x="-12700" y="6561138"/>
            <a:ext cx="9144000" cy="69850"/>
          </a:xfrm>
          <a:prstGeom prst="rect">
            <a:avLst/>
          </a:prstGeom>
          <a:solidFill>
            <a:schemeClr val="accent1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90000" tIns="72000" rIns="90000" bIns="72000" anchor="ctr"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21" r:id="rId1"/>
    <p:sldLayoutId id="2147484322" r:id="rId2"/>
    <p:sldLayoutId id="2147484223" r:id="rId3"/>
    <p:sldLayoutId id="2147484224" r:id="rId4"/>
    <p:sldLayoutId id="2147484225" r:id="rId5"/>
    <p:sldLayoutId id="2147484226" r:id="rId6"/>
    <p:sldLayoutId id="2147484227" r:id="rId7"/>
    <p:sldLayoutId id="2147484228" r:id="rId8"/>
    <p:sldLayoutId id="2147484229" r:id="rId9"/>
    <p:sldLayoutId id="2147484230" r:id="rId10"/>
    <p:sldLayoutId id="2147484231" r:id="rId11"/>
    <p:sldLayoutId id="2147484232" r:id="rId12"/>
    <p:sldLayoutId id="2147484323" r:id="rId13"/>
    <p:sldLayoutId id="2147484324" r:id="rId14"/>
    <p:sldLayoutId id="2147484325" r:id="rId15"/>
    <p:sldLayoutId id="2147484326" r:id="rId16"/>
  </p:sldLayoutIdLst>
  <p:transition>
    <p:wipe dir="r"/>
  </p:transition>
  <p:timing>
    <p:tnLst>
      <p:par>
        <p:cTn id="1" dur="indefinite" restart="never" nodeType="tmRoot"/>
      </p:par>
    </p:tnLst>
  </p:timing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1"/>
          </a:solidFill>
          <a:latin typeface="Arial" charset="0"/>
        </a:defRPr>
      </a:lvl9pPr>
    </p:titleStyle>
    <p:bodyStyle>
      <a:lvl1pPr marL="182563" indent="-182563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Char char="•"/>
        <a:defRPr sz="1600" b="1">
          <a:solidFill>
            <a:schemeClr val="tx1"/>
          </a:solidFill>
          <a:latin typeface="+mn-lt"/>
          <a:ea typeface="+mn-ea"/>
          <a:cs typeface="+mn-cs"/>
        </a:defRPr>
      </a:lvl1pPr>
      <a:lvl2pPr marL="361950" indent="-177800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charset="0"/>
        <a:buChar char="–"/>
        <a:defRPr sz="1600" b="1">
          <a:solidFill>
            <a:schemeClr val="tx1"/>
          </a:solidFill>
          <a:latin typeface="+mn-lt"/>
        </a:defRPr>
      </a:lvl2pPr>
      <a:lvl3pPr marL="541338" indent="-177800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SzPct val="120000"/>
        <a:buFont typeface="Arial" charset="0"/>
        <a:buChar char="◦"/>
        <a:defRPr sz="1600">
          <a:solidFill>
            <a:schemeClr val="tx1"/>
          </a:solidFill>
          <a:latin typeface="+mn-lt"/>
        </a:defRPr>
      </a:lvl3pPr>
      <a:lvl4pPr marL="720725" indent="-177800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charset="0"/>
        <a:buChar char="–"/>
        <a:defRPr sz="1400" b="1">
          <a:solidFill>
            <a:schemeClr val="tx1"/>
          </a:solidFill>
          <a:latin typeface="+mn-lt"/>
        </a:defRPr>
      </a:lvl4pPr>
      <a:lvl5pPr marL="900113" indent="-177800" algn="l" rtl="0" eaLnBrk="0" fontAlgn="base" hangingPunct="0">
        <a:spcBef>
          <a:spcPct val="40000"/>
        </a:spcBef>
        <a:spcAft>
          <a:spcPct val="0"/>
        </a:spcAft>
        <a:buClr>
          <a:schemeClr val="bg2"/>
        </a:buClr>
        <a:buFont typeface="Arial" charset="0"/>
        <a:buChar char="›"/>
        <a:defRPr sz="1400">
          <a:solidFill>
            <a:schemeClr val="tx1"/>
          </a:solidFill>
          <a:latin typeface="+mn-lt"/>
        </a:defRPr>
      </a:lvl5pPr>
      <a:lvl6pPr marL="1357313" indent="-177800" algn="l" rtl="0" eaLnBrk="1" fontAlgn="base" hangingPunct="1">
        <a:spcBef>
          <a:spcPct val="40000"/>
        </a:spcBef>
        <a:spcAft>
          <a:spcPct val="0"/>
        </a:spcAft>
        <a:buClr>
          <a:schemeClr val="bg2"/>
        </a:buClr>
        <a:buFont typeface="Arial" charset="0"/>
        <a:buChar char="›"/>
        <a:defRPr sz="1400">
          <a:solidFill>
            <a:schemeClr val="tx1"/>
          </a:solidFill>
          <a:latin typeface="+mn-lt"/>
        </a:defRPr>
      </a:lvl6pPr>
      <a:lvl7pPr marL="1814513" indent="-177800" algn="l" rtl="0" eaLnBrk="1" fontAlgn="base" hangingPunct="1">
        <a:spcBef>
          <a:spcPct val="40000"/>
        </a:spcBef>
        <a:spcAft>
          <a:spcPct val="0"/>
        </a:spcAft>
        <a:buClr>
          <a:schemeClr val="bg2"/>
        </a:buClr>
        <a:buFont typeface="Arial" charset="0"/>
        <a:buChar char="›"/>
        <a:defRPr sz="1400">
          <a:solidFill>
            <a:schemeClr val="tx1"/>
          </a:solidFill>
          <a:latin typeface="+mn-lt"/>
        </a:defRPr>
      </a:lvl7pPr>
      <a:lvl8pPr marL="2271713" indent="-177800" algn="l" rtl="0" eaLnBrk="1" fontAlgn="base" hangingPunct="1">
        <a:spcBef>
          <a:spcPct val="40000"/>
        </a:spcBef>
        <a:spcAft>
          <a:spcPct val="0"/>
        </a:spcAft>
        <a:buClr>
          <a:schemeClr val="bg2"/>
        </a:buClr>
        <a:buFont typeface="Arial" charset="0"/>
        <a:buChar char="›"/>
        <a:defRPr sz="1400">
          <a:solidFill>
            <a:schemeClr val="tx1"/>
          </a:solidFill>
          <a:latin typeface="+mn-lt"/>
        </a:defRPr>
      </a:lvl8pPr>
      <a:lvl9pPr marL="2728913" indent="-177800" algn="l" rtl="0" eaLnBrk="1" fontAlgn="base" hangingPunct="1">
        <a:spcBef>
          <a:spcPct val="40000"/>
        </a:spcBef>
        <a:spcAft>
          <a:spcPct val="0"/>
        </a:spcAft>
        <a:buClr>
          <a:schemeClr val="bg2"/>
        </a:buClr>
        <a:buFont typeface="Arial" charset="0"/>
        <a:buChar char="›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38138"/>
            <a:ext cx="8229600" cy="53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Klik om het opmaakprofiel te bewerken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193800"/>
            <a:ext cx="8229600" cy="4932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Klik om de opmaakprofielen van de modeltekst te bewerken</a:t>
            </a:r>
          </a:p>
          <a:p>
            <a:pPr lvl="1"/>
            <a:r>
              <a:rPr lang="en-US" smtClean="0"/>
              <a:t>Tweede niveau</a:t>
            </a:r>
          </a:p>
          <a:p>
            <a:pPr lvl="2"/>
            <a:r>
              <a:rPr lang="en-US" smtClean="0"/>
              <a:t>Derde niveau</a:t>
            </a:r>
          </a:p>
          <a:p>
            <a:pPr lvl="3"/>
            <a:r>
              <a:rPr lang="en-US" smtClean="0"/>
              <a:t>Vierde niveau</a:t>
            </a:r>
          </a:p>
          <a:p>
            <a:pPr lvl="4"/>
            <a:r>
              <a:rPr lang="en-US" smtClean="0"/>
              <a:t>Vijfde niveau</a:t>
            </a:r>
          </a:p>
        </p:txBody>
      </p:sp>
      <p:sp>
        <p:nvSpPr>
          <p:cNvPr id="28672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latin typeface="+mn-lt"/>
              </a:defRPr>
            </a:lvl1pPr>
          </a:lstStyle>
          <a:p>
            <a:pPr>
              <a:defRPr/>
            </a:pPr>
            <a:fld id="{57BAE970-A92A-45EC-9B43-281CF6F94B2D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28672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28672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latin typeface="+mn-lt"/>
              </a:defRPr>
            </a:lvl1pPr>
          </a:lstStyle>
          <a:p>
            <a:pPr>
              <a:defRPr/>
            </a:pPr>
            <a:fld id="{E70B95E5-F97C-4F1A-8FE4-A1CD993EB3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286727" name="Text Box 7"/>
          <p:cNvSpPr txBox="1">
            <a:spLocks noChangeArrowheads="1"/>
          </p:cNvSpPr>
          <p:nvPr/>
        </p:nvSpPr>
        <p:spPr bwMode="auto">
          <a:xfrm>
            <a:off x="8397875" y="247650"/>
            <a:ext cx="588963" cy="247650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pPr>
              <a:lnSpc>
                <a:spcPct val="85000"/>
              </a:lnSpc>
              <a:defRPr/>
            </a:pPr>
            <a:fld id="{A3D1F963-6117-4D4F-8DA9-DF6969C33C92}" type="slidenum">
              <a:rPr lang="en-GB" sz="1200">
                <a:solidFill>
                  <a:schemeClr val="bg1"/>
                </a:solidFill>
                <a:latin typeface="Verdana" pitchFamily="34" charset="0"/>
              </a:rPr>
              <a:pPr>
                <a:lnSpc>
                  <a:spcPct val="85000"/>
                </a:lnSpc>
                <a:defRPr/>
              </a:pPr>
              <a:t>‹#›</a:t>
            </a:fld>
            <a:endParaRPr lang="en-GB" sz="1200">
              <a:solidFill>
                <a:schemeClr val="bg1"/>
              </a:solidFill>
              <a:latin typeface="Verdana" pitchFamily="34" charset="0"/>
            </a:endParaRPr>
          </a:p>
        </p:txBody>
      </p:sp>
      <p:sp>
        <p:nvSpPr>
          <p:cNvPr id="286728" name="Freeform 8"/>
          <p:cNvSpPr>
            <a:spLocks/>
          </p:cNvSpPr>
          <p:nvPr/>
        </p:nvSpPr>
        <p:spPr bwMode="auto">
          <a:xfrm>
            <a:off x="8575675" y="255588"/>
            <a:ext cx="165100" cy="209550"/>
          </a:xfrm>
          <a:custGeom>
            <a:avLst/>
            <a:gdLst/>
            <a:ahLst/>
            <a:cxnLst>
              <a:cxn ang="0">
                <a:pos x="0" y="189"/>
              </a:cxn>
              <a:cxn ang="0">
                <a:pos x="0" y="0"/>
              </a:cxn>
              <a:cxn ang="0">
                <a:pos x="236" y="0"/>
              </a:cxn>
            </a:cxnLst>
            <a:rect l="0" t="0" r="r" b="b"/>
            <a:pathLst>
              <a:path w="236" h="189">
                <a:moveTo>
                  <a:pt x="0" y="189"/>
                </a:moveTo>
                <a:lnTo>
                  <a:pt x="0" y="0"/>
                </a:lnTo>
                <a:lnTo>
                  <a:pt x="236" y="0"/>
                </a:lnTo>
              </a:path>
            </a:pathLst>
          </a:custGeom>
          <a:noFill/>
          <a:ln w="19050" cap="flat" cmpd="sng">
            <a:solidFill>
              <a:schemeClr val="bg1"/>
            </a:solidFill>
            <a:prstDash val="solid"/>
            <a:round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286729" name="Text Box 9"/>
          <p:cNvSpPr txBox="1">
            <a:spLocks noChangeArrowheads="1"/>
          </p:cNvSpPr>
          <p:nvPr/>
        </p:nvSpPr>
        <p:spPr bwMode="auto">
          <a:xfrm>
            <a:off x="8732838" y="6580188"/>
            <a:ext cx="419100" cy="298450"/>
          </a:xfrm>
          <a:prstGeom prst="rect">
            <a:avLst/>
          </a:prstGeom>
          <a:noFill/>
          <a:ln w="19050">
            <a:noFill/>
            <a:miter lim="800000"/>
            <a:headEnd type="none" w="sm" len="sm"/>
            <a:tailEnd type="none" w="sm" len="sm"/>
          </a:ln>
          <a:effectLst/>
        </p:spPr>
        <p:txBody>
          <a:bodyPr>
            <a:spAutoFit/>
          </a:bodyPr>
          <a:lstStyle/>
          <a:p>
            <a:pPr>
              <a:lnSpc>
                <a:spcPct val="85000"/>
              </a:lnSpc>
              <a:defRPr/>
            </a:pPr>
            <a:fld id="{12F025C0-8B9A-4BE3-853A-97C59B10705C}" type="slidenum">
              <a:rPr lang="en-GB" altLang="en-US" sz="800">
                <a:solidFill>
                  <a:schemeClr val="bg1"/>
                </a:solidFill>
                <a:latin typeface="Verdana" pitchFamily="34" charset="0"/>
              </a:rPr>
              <a:pPr>
                <a:lnSpc>
                  <a:spcPct val="85000"/>
                </a:lnSpc>
                <a:defRPr/>
              </a:pPr>
              <a:t>‹#›</a:t>
            </a:fld>
            <a:endParaRPr lang="en-US" sz="800">
              <a:solidFill>
                <a:schemeClr val="bg1"/>
              </a:solidFill>
              <a:latin typeface="Verdana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33" r:id="rId1"/>
    <p:sldLayoutId id="2147484234" r:id="rId2"/>
    <p:sldLayoutId id="2147484235" r:id="rId3"/>
    <p:sldLayoutId id="2147484236" r:id="rId4"/>
    <p:sldLayoutId id="2147484237" r:id="rId5"/>
    <p:sldLayoutId id="2147484238" r:id="rId6"/>
    <p:sldLayoutId id="2147484239" r:id="rId7"/>
    <p:sldLayoutId id="2147484240" r:id="rId8"/>
    <p:sldLayoutId id="2147484241" r:id="rId9"/>
    <p:sldLayoutId id="2147484242" r:id="rId10"/>
    <p:sldLayoutId id="2147484243" r:id="rId11"/>
  </p:sldLayoutIdLst>
  <p:transition>
    <p:wipe dir="r"/>
  </p:transition>
  <p:timing>
    <p:tnLst>
      <p:par>
        <p:cTn id="1" dur="indefinite" restart="never" nodeType="tmRoot"/>
      </p:par>
    </p:tnLst>
  </p:timing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Verdana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Verdana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Verdana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Verdana" pitchFamily="34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Verdana" pitchFamily="34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Verdana" pitchFamily="34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Verdana" pitchFamily="34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2000" b="1">
          <a:solidFill>
            <a:schemeClr val="tx2"/>
          </a:solidFill>
          <a:latin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6764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Klik om het opmaakprofiel te bewerken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2971800"/>
            <a:ext cx="6858000" cy="315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Klik om de opmaakprofielen van de modeltekst te bewerken</a:t>
            </a:r>
          </a:p>
          <a:p>
            <a:pPr lvl="1"/>
            <a:r>
              <a:rPr lang="en-US" smtClean="0"/>
              <a:t>Tweede niveau</a:t>
            </a:r>
          </a:p>
          <a:p>
            <a:pPr lvl="2"/>
            <a:r>
              <a:rPr lang="en-US" smtClean="0"/>
              <a:t>Derde niveau</a:t>
            </a:r>
          </a:p>
          <a:p>
            <a:pPr lvl="3"/>
            <a:r>
              <a:rPr lang="en-US" smtClean="0"/>
              <a:t>Vierde niveau</a:t>
            </a:r>
          </a:p>
          <a:p>
            <a:pPr lvl="4"/>
            <a:r>
              <a:rPr lang="en-US" smtClean="0"/>
              <a:t>Vijfde niveau</a:t>
            </a:r>
          </a:p>
        </p:txBody>
      </p:sp>
      <p:sp>
        <p:nvSpPr>
          <p:cNvPr id="28877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8D916738-6C8E-4486-ACDB-161AB12350EF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28877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28877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13A91A2A-0CBC-4C7E-8A02-6CCBF2B538D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44" r:id="rId1"/>
    <p:sldLayoutId id="2147484245" r:id="rId2"/>
    <p:sldLayoutId id="2147484246" r:id="rId3"/>
    <p:sldLayoutId id="2147484247" r:id="rId4"/>
    <p:sldLayoutId id="2147484248" r:id="rId5"/>
    <p:sldLayoutId id="2147484249" r:id="rId6"/>
    <p:sldLayoutId id="2147484250" r:id="rId7"/>
    <p:sldLayoutId id="2147484251" r:id="rId8"/>
    <p:sldLayoutId id="2147484252" r:id="rId9"/>
    <p:sldLayoutId id="2147484253" r:id="rId10"/>
    <p:sldLayoutId id="2147484254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ctr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ctr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ctr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ctr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Klik om het opmaakprofiel te bewerken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Klik om de opmaakprofielen van de modeltekst te bewerken</a:t>
            </a:r>
          </a:p>
          <a:p>
            <a:pPr lvl="1"/>
            <a:r>
              <a:rPr lang="en-US" smtClean="0"/>
              <a:t>Tweede niveau</a:t>
            </a:r>
          </a:p>
          <a:p>
            <a:pPr lvl="2"/>
            <a:r>
              <a:rPr lang="en-US" smtClean="0"/>
              <a:t>Derde niveau</a:t>
            </a:r>
          </a:p>
          <a:p>
            <a:pPr lvl="3"/>
            <a:r>
              <a:rPr lang="en-US" smtClean="0"/>
              <a:t>Vierde niveau</a:t>
            </a:r>
          </a:p>
          <a:p>
            <a:pPr lvl="4"/>
            <a:r>
              <a:rPr lang="en-US" smtClean="0"/>
              <a:t>Vijfde niveau</a:t>
            </a:r>
          </a:p>
        </p:txBody>
      </p:sp>
      <p:sp>
        <p:nvSpPr>
          <p:cNvPr id="28979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7F449216-0030-4736-89F6-51FAE82FE237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28979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28979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433ED0B-0C8E-4E33-B38D-27947919B0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55" r:id="rId1"/>
    <p:sldLayoutId id="2147484256" r:id="rId2"/>
    <p:sldLayoutId id="2147484257" r:id="rId3"/>
    <p:sldLayoutId id="2147484258" r:id="rId4"/>
    <p:sldLayoutId id="2147484259" r:id="rId5"/>
    <p:sldLayoutId id="2147484260" r:id="rId6"/>
    <p:sldLayoutId id="2147484261" r:id="rId7"/>
    <p:sldLayoutId id="2147484262" r:id="rId8"/>
    <p:sldLayoutId id="2147484263" r:id="rId9"/>
    <p:sldLayoutId id="2147484264" r:id="rId10"/>
    <p:sldLayoutId id="2147484265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Klik om het opmaakprofiel te bewerken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Klik om de opmaakprofielen van de modeltekst te bewerken</a:t>
            </a:r>
          </a:p>
          <a:p>
            <a:pPr lvl="1"/>
            <a:r>
              <a:rPr lang="en-US" smtClean="0"/>
              <a:t>Tweede niveau</a:t>
            </a:r>
          </a:p>
          <a:p>
            <a:pPr lvl="2"/>
            <a:r>
              <a:rPr lang="en-US" smtClean="0"/>
              <a:t>Derde niveau</a:t>
            </a:r>
          </a:p>
          <a:p>
            <a:pPr lvl="3"/>
            <a:r>
              <a:rPr lang="en-US" smtClean="0"/>
              <a:t>Vierde niveau</a:t>
            </a:r>
          </a:p>
          <a:p>
            <a:pPr lvl="4"/>
            <a:r>
              <a:rPr lang="en-US" smtClean="0"/>
              <a:t>Vijfde niveau</a:t>
            </a:r>
          </a:p>
        </p:txBody>
      </p:sp>
      <p:sp>
        <p:nvSpPr>
          <p:cNvPr id="290820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7582F641-974F-428F-8E88-3720058C2C55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290821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290822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82A72FB4-0D10-48C3-AF65-ACDD7F6D4EB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66" r:id="rId1"/>
    <p:sldLayoutId id="2147484267" r:id="rId2"/>
    <p:sldLayoutId id="2147484268" r:id="rId3"/>
    <p:sldLayoutId id="2147484269" r:id="rId4"/>
    <p:sldLayoutId id="2147484270" r:id="rId5"/>
    <p:sldLayoutId id="2147484271" r:id="rId6"/>
    <p:sldLayoutId id="2147484272" r:id="rId7"/>
    <p:sldLayoutId id="2147484273" r:id="rId8"/>
    <p:sldLayoutId id="2147484274" r:id="rId9"/>
    <p:sldLayoutId id="2147484275" r:id="rId10"/>
    <p:sldLayoutId id="2147484276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6764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Klik om het opmaakprofiel te bewerken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2971800"/>
            <a:ext cx="6858000" cy="315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Klik om de opmaakprofielen van de modeltekst te bewerken</a:t>
            </a:r>
          </a:p>
          <a:p>
            <a:pPr lvl="1"/>
            <a:r>
              <a:rPr lang="en-US" smtClean="0"/>
              <a:t>Tweede niveau</a:t>
            </a:r>
          </a:p>
          <a:p>
            <a:pPr lvl="2"/>
            <a:r>
              <a:rPr lang="en-US" smtClean="0"/>
              <a:t>Derde niveau</a:t>
            </a:r>
          </a:p>
          <a:p>
            <a:pPr lvl="3"/>
            <a:r>
              <a:rPr lang="en-US" smtClean="0"/>
              <a:t>Vierde niveau</a:t>
            </a:r>
          </a:p>
          <a:p>
            <a:pPr lvl="4"/>
            <a:r>
              <a:rPr lang="en-US" smtClean="0"/>
              <a:t>Vijfde niveau</a:t>
            </a:r>
          </a:p>
        </p:txBody>
      </p:sp>
      <p:sp>
        <p:nvSpPr>
          <p:cNvPr id="291844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D0A24F46-D6A6-4D76-8AF7-D19C67AFCC17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291845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291846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9727EAC8-B52F-45DC-BACA-920FF4029EF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77" r:id="rId1"/>
    <p:sldLayoutId id="2147484278" r:id="rId2"/>
    <p:sldLayoutId id="2147484279" r:id="rId3"/>
    <p:sldLayoutId id="2147484280" r:id="rId4"/>
    <p:sldLayoutId id="2147484281" r:id="rId5"/>
    <p:sldLayoutId id="2147484282" r:id="rId6"/>
    <p:sldLayoutId id="2147484283" r:id="rId7"/>
    <p:sldLayoutId id="2147484284" r:id="rId8"/>
    <p:sldLayoutId id="2147484285" r:id="rId9"/>
    <p:sldLayoutId id="2147484286" r:id="rId10"/>
    <p:sldLayoutId id="2147484287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ctr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ctr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ctr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ctr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Klik om het opmaakprofiel te bewerken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Klik om de opmaakprofielen van de modeltekst te bewerken</a:t>
            </a:r>
          </a:p>
          <a:p>
            <a:pPr lvl="1"/>
            <a:r>
              <a:rPr lang="en-US" smtClean="0"/>
              <a:t>Tweede niveau</a:t>
            </a:r>
          </a:p>
          <a:p>
            <a:pPr lvl="2"/>
            <a:r>
              <a:rPr lang="en-US" smtClean="0"/>
              <a:t>Derde niveau</a:t>
            </a:r>
          </a:p>
          <a:p>
            <a:pPr lvl="3"/>
            <a:r>
              <a:rPr lang="en-US" smtClean="0"/>
              <a:t>Vierde niveau</a:t>
            </a:r>
          </a:p>
          <a:p>
            <a:pPr lvl="4"/>
            <a:r>
              <a:rPr lang="en-US" smtClean="0"/>
              <a:t>Vijfde niveau</a:t>
            </a:r>
          </a:p>
        </p:txBody>
      </p:sp>
      <p:sp>
        <p:nvSpPr>
          <p:cNvPr id="29286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711B8C79-00EF-4212-A0E9-189FA25AF1BC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29286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29287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4635A256-34C2-46B4-96A5-E745B2FCA3B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88" r:id="rId1"/>
    <p:sldLayoutId id="2147484289" r:id="rId2"/>
    <p:sldLayoutId id="2147484290" r:id="rId3"/>
    <p:sldLayoutId id="2147484291" r:id="rId4"/>
    <p:sldLayoutId id="2147484292" r:id="rId5"/>
    <p:sldLayoutId id="2147484293" r:id="rId6"/>
    <p:sldLayoutId id="2147484294" r:id="rId7"/>
    <p:sldLayoutId id="2147484295" r:id="rId8"/>
    <p:sldLayoutId id="2147484296" r:id="rId9"/>
    <p:sldLayoutId id="2147484297" r:id="rId10"/>
    <p:sldLayoutId id="2147484298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Klik om het opmaakprofiel te bewerken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Klik om de opmaakprofielen van de modeltekst te bewerken</a:t>
            </a:r>
          </a:p>
          <a:p>
            <a:pPr lvl="1"/>
            <a:r>
              <a:rPr lang="en-US" smtClean="0"/>
              <a:t>Tweede niveau</a:t>
            </a:r>
          </a:p>
          <a:p>
            <a:pPr lvl="2"/>
            <a:r>
              <a:rPr lang="en-US" smtClean="0"/>
              <a:t>Derde niveau</a:t>
            </a:r>
          </a:p>
          <a:p>
            <a:pPr lvl="3"/>
            <a:r>
              <a:rPr lang="en-US" smtClean="0"/>
              <a:t>Vierde niveau</a:t>
            </a:r>
          </a:p>
          <a:p>
            <a:pPr lvl="4"/>
            <a:r>
              <a:rPr lang="en-US" smtClean="0"/>
              <a:t>Vijfde niveau</a:t>
            </a:r>
          </a:p>
        </p:txBody>
      </p:sp>
      <p:sp>
        <p:nvSpPr>
          <p:cNvPr id="29389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DBEA6CC7-CA03-488A-BE45-6B800DF3C4A3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29389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29389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DF719A63-D01E-4E02-AB00-903BFAB8782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299" r:id="rId1"/>
    <p:sldLayoutId id="2147484300" r:id="rId2"/>
    <p:sldLayoutId id="2147484301" r:id="rId3"/>
    <p:sldLayoutId id="2147484302" r:id="rId4"/>
    <p:sldLayoutId id="2147484303" r:id="rId5"/>
    <p:sldLayoutId id="2147484304" r:id="rId6"/>
    <p:sldLayoutId id="2147484305" r:id="rId7"/>
    <p:sldLayoutId id="2147484306" r:id="rId8"/>
    <p:sldLayoutId id="2147484307" r:id="rId9"/>
    <p:sldLayoutId id="2147484308" r:id="rId10"/>
    <p:sldLayoutId id="2147484309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1676400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Klik om het opmaakprofiel te bewerken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1143000" y="2971800"/>
            <a:ext cx="6858000" cy="31543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Klik om de opmaakprofielen van de modeltekst te bewerken</a:t>
            </a:r>
          </a:p>
          <a:p>
            <a:pPr lvl="1"/>
            <a:r>
              <a:rPr lang="en-US" smtClean="0"/>
              <a:t>Tweede niveau</a:t>
            </a:r>
          </a:p>
          <a:p>
            <a:pPr lvl="2"/>
            <a:r>
              <a:rPr lang="en-US" smtClean="0"/>
              <a:t>Derde niveau</a:t>
            </a:r>
          </a:p>
          <a:p>
            <a:pPr lvl="3"/>
            <a:r>
              <a:rPr lang="en-US" smtClean="0"/>
              <a:t>Vierde niveau</a:t>
            </a:r>
          </a:p>
          <a:p>
            <a:pPr lvl="4"/>
            <a:r>
              <a:rPr lang="en-US" smtClean="0"/>
              <a:t>Vijfde niveau</a:t>
            </a:r>
          </a:p>
        </p:txBody>
      </p:sp>
      <p:sp>
        <p:nvSpPr>
          <p:cNvPr id="29491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fld id="{C57FE983-B1C8-4EBA-8566-55CFAE907976}" type="datetime1">
              <a:rPr lang="en-US"/>
              <a:pPr>
                <a:defRPr/>
              </a:pPr>
              <a:t>8/23/2009</a:t>
            </a:fld>
            <a:endParaRPr lang="en-US"/>
          </a:p>
        </p:txBody>
      </p:sp>
      <p:sp>
        <p:nvSpPr>
          <p:cNvPr id="29491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r>
              <a:rPr lang="en-US"/>
              <a:t>(C) Copyrights IFEAD, 2001-2008</a:t>
            </a:r>
          </a:p>
        </p:txBody>
      </p:sp>
      <p:sp>
        <p:nvSpPr>
          <p:cNvPr id="29491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EF202F67-C796-4BD4-8473-EA2B9581D98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10" r:id="rId1"/>
    <p:sldLayoutId id="2147484311" r:id="rId2"/>
    <p:sldLayoutId id="2147484312" r:id="rId3"/>
    <p:sldLayoutId id="2147484313" r:id="rId4"/>
    <p:sldLayoutId id="2147484314" r:id="rId5"/>
    <p:sldLayoutId id="2147484315" r:id="rId6"/>
    <p:sldLayoutId id="2147484316" r:id="rId7"/>
    <p:sldLayoutId id="2147484317" r:id="rId8"/>
    <p:sldLayoutId id="2147484318" r:id="rId9"/>
    <p:sldLayoutId id="2147484319" r:id="rId10"/>
    <p:sldLayoutId id="2147484320" r:id="rId11"/>
  </p:sldLayoutIdLst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</a:defRPr>
      </a:lvl9pPr>
    </p:titleStyle>
    <p:bodyStyle>
      <a:lvl1pPr marL="342900" indent="-342900" algn="ctr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ctr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ctr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ctr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ctr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ctr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hinkprofits.com/images/pic-holding-puzzle.jpg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24.jpeg"/><Relationship Id="rId4" Type="http://schemas.openxmlformats.org/officeDocument/2006/relationships/oleObject" Target="../embeddings/oleObject2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00063" y="2928938"/>
            <a:ext cx="7143750" cy="914400"/>
          </a:xfrm>
        </p:spPr>
        <p:txBody>
          <a:bodyPr/>
          <a:lstStyle/>
          <a:p>
            <a:pPr eaLnBrk="1" hangingPunct="1"/>
            <a:r>
              <a:rPr lang="en-GB" sz="2400" smtClean="0"/>
              <a:t>Competence Profile of the Enterprise Architect</a:t>
            </a: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1800" smtClean="0"/>
              <a:t>Enterprise Architects: Positioning</a:t>
            </a:r>
          </a:p>
        </p:txBody>
      </p:sp>
      <p:sp>
        <p:nvSpPr>
          <p:cNvPr id="19459" name="Freeform 3"/>
          <p:cNvSpPr>
            <a:spLocks/>
          </p:cNvSpPr>
          <p:nvPr/>
        </p:nvSpPr>
        <p:spPr bwMode="auto">
          <a:xfrm>
            <a:off x="1057275" y="4714875"/>
            <a:ext cx="1346200" cy="1447800"/>
          </a:xfrm>
          <a:custGeom>
            <a:avLst/>
            <a:gdLst>
              <a:gd name="T0" fmla="*/ 2147483647 w 848"/>
              <a:gd name="T1" fmla="*/ 2147483647 h 912"/>
              <a:gd name="T2" fmla="*/ 2147483647 w 848"/>
              <a:gd name="T3" fmla="*/ 0 h 912"/>
              <a:gd name="T4" fmla="*/ 2147483647 w 848"/>
              <a:gd name="T5" fmla="*/ 0 h 912"/>
              <a:gd name="T6" fmla="*/ 0 w 848"/>
              <a:gd name="T7" fmla="*/ 2147483647 h 912"/>
              <a:gd name="T8" fmla="*/ 2147483647 w 848"/>
              <a:gd name="T9" fmla="*/ 2147483647 h 9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912"/>
              <a:gd name="T17" fmla="*/ 848 w 848"/>
              <a:gd name="T18" fmla="*/ 912 h 9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912">
                <a:moveTo>
                  <a:pt x="848" y="912"/>
                </a:moveTo>
                <a:lnTo>
                  <a:pt x="848" y="0"/>
                </a:lnTo>
                <a:lnTo>
                  <a:pt x="608" y="0"/>
                </a:lnTo>
                <a:lnTo>
                  <a:pt x="0" y="912"/>
                </a:lnTo>
                <a:lnTo>
                  <a:pt x="848" y="912"/>
                </a:lnTo>
                <a:close/>
              </a:path>
            </a:pathLst>
          </a:custGeom>
          <a:gradFill rotWithShape="0">
            <a:gsLst>
              <a:gs pos="0">
                <a:srgbClr val="CC00CC"/>
              </a:gs>
              <a:gs pos="100000">
                <a:srgbClr val="660066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0" name="Rectangle 4"/>
          <p:cNvSpPr>
            <a:spLocks noChangeArrowheads="1"/>
          </p:cNvSpPr>
          <p:nvPr/>
        </p:nvSpPr>
        <p:spPr bwMode="auto">
          <a:xfrm>
            <a:off x="2403475" y="4714875"/>
            <a:ext cx="609600" cy="1447800"/>
          </a:xfrm>
          <a:prstGeom prst="rect">
            <a:avLst/>
          </a:prstGeom>
          <a:gradFill rotWithShape="0">
            <a:gsLst>
              <a:gs pos="0">
                <a:srgbClr val="660066"/>
              </a:gs>
              <a:gs pos="100000">
                <a:schemeClr val="accent2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1" name="Rectangle 5"/>
          <p:cNvSpPr>
            <a:spLocks noChangeArrowheads="1"/>
          </p:cNvSpPr>
          <p:nvPr/>
        </p:nvSpPr>
        <p:spPr bwMode="auto">
          <a:xfrm>
            <a:off x="3013075" y="4714875"/>
            <a:ext cx="609600" cy="14478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rgbClr val="3366FF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2" name="Rectangle 6"/>
          <p:cNvSpPr>
            <a:spLocks noChangeArrowheads="1"/>
          </p:cNvSpPr>
          <p:nvPr/>
        </p:nvSpPr>
        <p:spPr bwMode="auto">
          <a:xfrm>
            <a:off x="3622675" y="4714875"/>
            <a:ext cx="609600" cy="1447800"/>
          </a:xfrm>
          <a:prstGeom prst="rect">
            <a:avLst/>
          </a:prstGeom>
          <a:gradFill rotWithShape="0">
            <a:gsLst>
              <a:gs pos="0">
                <a:srgbClr val="0066FF"/>
              </a:gs>
              <a:gs pos="100000">
                <a:srgbClr val="0099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4232275" y="4714875"/>
            <a:ext cx="609600" cy="1447800"/>
          </a:xfrm>
          <a:prstGeom prst="rect">
            <a:avLst/>
          </a:prstGeom>
          <a:gradFill rotWithShape="0">
            <a:gsLst>
              <a:gs pos="0">
                <a:srgbClr val="009900"/>
              </a:gs>
              <a:gs pos="100000">
                <a:srgbClr val="FF66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4841875" y="4714875"/>
            <a:ext cx="609600" cy="1447800"/>
          </a:xfrm>
          <a:prstGeom prst="rect">
            <a:avLst/>
          </a:prstGeom>
          <a:gradFill rotWithShape="0">
            <a:gsLst>
              <a:gs pos="0">
                <a:srgbClr val="FF6600"/>
              </a:gs>
              <a:gs pos="100000">
                <a:srgbClr val="FFCC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5" name="Freeform 9"/>
          <p:cNvSpPr>
            <a:spLocks/>
          </p:cNvSpPr>
          <p:nvPr/>
        </p:nvSpPr>
        <p:spPr bwMode="auto">
          <a:xfrm flipH="1">
            <a:off x="6061075" y="4714875"/>
            <a:ext cx="1346200" cy="1447800"/>
          </a:xfrm>
          <a:custGeom>
            <a:avLst/>
            <a:gdLst>
              <a:gd name="T0" fmla="*/ 2147483647 w 848"/>
              <a:gd name="T1" fmla="*/ 2147483647 h 912"/>
              <a:gd name="T2" fmla="*/ 2147483647 w 848"/>
              <a:gd name="T3" fmla="*/ 0 h 912"/>
              <a:gd name="T4" fmla="*/ 2147483647 w 848"/>
              <a:gd name="T5" fmla="*/ 0 h 912"/>
              <a:gd name="T6" fmla="*/ 0 w 848"/>
              <a:gd name="T7" fmla="*/ 2147483647 h 912"/>
              <a:gd name="T8" fmla="*/ 2147483647 w 848"/>
              <a:gd name="T9" fmla="*/ 2147483647 h 9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912"/>
              <a:gd name="T17" fmla="*/ 848 w 848"/>
              <a:gd name="T18" fmla="*/ 912 h 9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912">
                <a:moveTo>
                  <a:pt x="848" y="912"/>
                </a:moveTo>
                <a:lnTo>
                  <a:pt x="848" y="0"/>
                </a:lnTo>
                <a:lnTo>
                  <a:pt x="608" y="0"/>
                </a:lnTo>
                <a:lnTo>
                  <a:pt x="0" y="912"/>
                </a:lnTo>
                <a:lnTo>
                  <a:pt x="848" y="912"/>
                </a:lnTo>
                <a:close/>
              </a:path>
            </a:pathLst>
          </a:custGeom>
          <a:gradFill rotWithShape="0">
            <a:gsLst>
              <a:gs pos="0">
                <a:srgbClr val="CC0000"/>
              </a:gs>
              <a:gs pos="100000">
                <a:srgbClr val="660066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5451475" y="4714875"/>
            <a:ext cx="609600" cy="1447800"/>
          </a:xfrm>
          <a:prstGeom prst="rect">
            <a:avLst/>
          </a:prstGeom>
          <a:gradFill rotWithShape="0">
            <a:gsLst>
              <a:gs pos="0">
                <a:srgbClr val="FFCC00"/>
              </a:gs>
              <a:gs pos="100000">
                <a:srgbClr val="CC00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7" name="AutoShape 11"/>
          <p:cNvSpPr>
            <a:spLocks noChangeArrowheads="1"/>
          </p:cNvSpPr>
          <p:nvPr/>
        </p:nvSpPr>
        <p:spPr bwMode="auto">
          <a:xfrm>
            <a:off x="2955925" y="1285875"/>
            <a:ext cx="2552700" cy="1981200"/>
          </a:xfrm>
          <a:prstGeom prst="triangle">
            <a:avLst>
              <a:gd name="adj" fmla="val 50000"/>
            </a:avLst>
          </a:prstGeom>
          <a:gradFill rotWithShape="0">
            <a:gsLst>
              <a:gs pos="0">
                <a:srgbClr val="A603AB"/>
              </a:gs>
              <a:gs pos="21001">
                <a:srgbClr val="0819FB"/>
              </a:gs>
              <a:gs pos="35001">
                <a:srgbClr val="1A8D48"/>
              </a:gs>
              <a:gs pos="52000">
                <a:srgbClr val="FFFF00"/>
              </a:gs>
              <a:gs pos="73000">
                <a:srgbClr val="EE3F17"/>
              </a:gs>
              <a:gs pos="88000">
                <a:srgbClr val="E81766"/>
              </a:gs>
              <a:gs pos="100000">
                <a:srgbClr val="A603AB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68" name="Freeform 12"/>
          <p:cNvSpPr>
            <a:spLocks/>
          </p:cNvSpPr>
          <p:nvPr/>
        </p:nvSpPr>
        <p:spPr bwMode="auto">
          <a:xfrm flipH="1">
            <a:off x="5146675" y="3267075"/>
            <a:ext cx="1295400" cy="1447800"/>
          </a:xfrm>
          <a:custGeom>
            <a:avLst/>
            <a:gdLst>
              <a:gd name="T0" fmla="*/ 2147483647 w 848"/>
              <a:gd name="T1" fmla="*/ 2147483647 h 912"/>
              <a:gd name="T2" fmla="*/ 2147483647 w 848"/>
              <a:gd name="T3" fmla="*/ 0 h 912"/>
              <a:gd name="T4" fmla="*/ 2147483647 w 848"/>
              <a:gd name="T5" fmla="*/ 0 h 912"/>
              <a:gd name="T6" fmla="*/ 0 w 848"/>
              <a:gd name="T7" fmla="*/ 2147483647 h 912"/>
              <a:gd name="T8" fmla="*/ 2147483647 w 848"/>
              <a:gd name="T9" fmla="*/ 2147483647 h 9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912"/>
              <a:gd name="T17" fmla="*/ 848 w 848"/>
              <a:gd name="T18" fmla="*/ 912 h 9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912">
                <a:moveTo>
                  <a:pt x="848" y="912"/>
                </a:moveTo>
                <a:lnTo>
                  <a:pt x="848" y="0"/>
                </a:lnTo>
                <a:lnTo>
                  <a:pt x="608" y="0"/>
                </a:lnTo>
                <a:lnTo>
                  <a:pt x="0" y="912"/>
                </a:lnTo>
                <a:lnTo>
                  <a:pt x="848" y="912"/>
                </a:lnTo>
                <a:close/>
              </a:path>
            </a:pathLst>
          </a:custGeom>
          <a:gradFill rotWithShape="0">
            <a:gsLst>
              <a:gs pos="0">
                <a:srgbClr val="FFCC00"/>
              </a:gs>
              <a:gs pos="100000">
                <a:srgbClr val="A50021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69" name="Rectangle 13"/>
          <p:cNvSpPr>
            <a:spLocks noChangeArrowheads="1"/>
          </p:cNvSpPr>
          <p:nvPr/>
        </p:nvSpPr>
        <p:spPr bwMode="auto">
          <a:xfrm>
            <a:off x="4232275" y="3267075"/>
            <a:ext cx="914400" cy="1447800"/>
          </a:xfrm>
          <a:prstGeom prst="rect">
            <a:avLst/>
          </a:prstGeom>
          <a:gradFill rotWithShape="0">
            <a:gsLst>
              <a:gs pos="0">
                <a:srgbClr val="009900"/>
              </a:gs>
              <a:gs pos="100000">
                <a:srgbClr val="FFCC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0" name="Rectangle 14"/>
          <p:cNvSpPr>
            <a:spLocks noChangeArrowheads="1"/>
          </p:cNvSpPr>
          <p:nvPr/>
        </p:nvSpPr>
        <p:spPr bwMode="auto">
          <a:xfrm>
            <a:off x="3317875" y="3267075"/>
            <a:ext cx="914400" cy="1447800"/>
          </a:xfrm>
          <a:prstGeom prst="rect">
            <a:avLst/>
          </a:prstGeom>
          <a:gradFill rotWithShape="0">
            <a:gsLst>
              <a:gs pos="0">
                <a:schemeClr val="accent2"/>
              </a:gs>
              <a:gs pos="100000">
                <a:srgbClr val="009900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71" name="Freeform 15"/>
          <p:cNvSpPr>
            <a:spLocks/>
          </p:cNvSpPr>
          <p:nvPr/>
        </p:nvSpPr>
        <p:spPr bwMode="auto">
          <a:xfrm>
            <a:off x="2022475" y="3267075"/>
            <a:ext cx="1295400" cy="1447800"/>
          </a:xfrm>
          <a:custGeom>
            <a:avLst/>
            <a:gdLst>
              <a:gd name="T0" fmla="*/ 2147483647 w 848"/>
              <a:gd name="T1" fmla="*/ 2147483647 h 912"/>
              <a:gd name="T2" fmla="*/ 2147483647 w 848"/>
              <a:gd name="T3" fmla="*/ 0 h 912"/>
              <a:gd name="T4" fmla="*/ 2147483647 w 848"/>
              <a:gd name="T5" fmla="*/ 0 h 912"/>
              <a:gd name="T6" fmla="*/ 0 w 848"/>
              <a:gd name="T7" fmla="*/ 2147483647 h 912"/>
              <a:gd name="T8" fmla="*/ 2147483647 w 848"/>
              <a:gd name="T9" fmla="*/ 2147483647 h 91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848"/>
              <a:gd name="T16" fmla="*/ 0 h 912"/>
              <a:gd name="T17" fmla="*/ 848 w 848"/>
              <a:gd name="T18" fmla="*/ 912 h 91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848" h="912">
                <a:moveTo>
                  <a:pt x="848" y="912"/>
                </a:moveTo>
                <a:lnTo>
                  <a:pt x="848" y="0"/>
                </a:lnTo>
                <a:lnTo>
                  <a:pt x="608" y="0"/>
                </a:lnTo>
                <a:lnTo>
                  <a:pt x="0" y="912"/>
                </a:lnTo>
                <a:lnTo>
                  <a:pt x="848" y="912"/>
                </a:lnTo>
                <a:close/>
              </a:path>
            </a:pathLst>
          </a:custGeom>
          <a:gradFill rotWithShape="0">
            <a:gsLst>
              <a:gs pos="0">
                <a:srgbClr val="660066"/>
              </a:gs>
              <a:gs pos="100000">
                <a:schemeClr val="accent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2" name="Line 16"/>
          <p:cNvSpPr>
            <a:spLocks noChangeShapeType="1"/>
          </p:cNvSpPr>
          <p:nvPr/>
        </p:nvSpPr>
        <p:spPr bwMode="auto">
          <a:xfrm>
            <a:off x="3013075" y="3267075"/>
            <a:ext cx="2514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73" name="Line 17"/>
          <p:cNvSpPr>
            <a:spLocks noChangeShapeType="1"/>
          </p:cNvSpPr>
          <p:nvPr/>
        </p:nvSpPr>
        <p:spPr bwMode="auto">
          <a:xfrm>
            <a:off x="2098675" y="4714875"/>
            <a:ext cx="4343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466" name="Text Box 18"/>
          <p:cNvSpPr txBox="1">
            <a:spLocks noChangeArrowheads="1"/>
          </p:cNvSpPr>
          <p:nvPr/>
        </p:nvSpPr>
        <p:spPr bwMode="auto">
          <a:xfrm>
            <a:off x="2987675" y="2760663"/>
            <a:ext cx="2443163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bg1"/>
            </a:outerShdw>
          </a:effectLst>
        </p:spPr>
        <p:txBody>
          <a:bodyPr wrap="none">
            <a:spAutoFit/>
          </a:bodyPr>
          <a:lstStyle/>
          <a:p>
            <a:pPr algn="l" eaLnBrk="1" hangingPunct="1">
              <a:defRPr/>
            </a:pPr>
            <a:r>
              <a:rPr lang="en-GB" sz="1600" i="1">
                <a:solidFill>
                  <a:srgbClr val="FF0000"/>
                </a:solidFill>
              </a:rPr>
              <a:t>Enterprise Architecture</a:t>
            </a:r>
          </a:p>
        </p:txBody>
      </p:sp>
      <p:sp>
        <p:nvSpPr>
          <p:cNvPr id="104467" name="Text Box 19"/>
          <p:cNvSpPr txBox="1">
            <a:spLocks noChangeArrowheads="1"/>
          </p:cNvSpPr>
          <p:nvPr/>
        </p:nvSpPr>
        <p:spPr bwMode="auto">
          <a:xfrm>
            <a:off x="3059113" y="3357563"/>
            <a:ext cx="2251075" cy="336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bg1"/>
            </a:outerShdw>
          </a:effectLst>
        </p:spPr>
        <p:txBody>
          <a:bodyPr wrap="none">
            <a:spAutoFit/>
          </a:bodyPr>
          <a:lstStyle/>
          <a:p>
            <a:pPr algn="l" eaLnBrk="1" hangingPunct="1">
              <a:defRPr/>
            </a:pPr>
            <a:r>
              <a:rPr lang="en-GB" sz="1600" i="1">
                <a:solidFill>
                  <a:srgbClr val="FF0000"/>
                </a:solidFill>
              </a:rPr>
              <a:t>Solution Architecture</a:t>
            </a:r>
          </a:p>
        </p:txBody>
      </p:sp>
      <p:sp>
        <p:nvSpPr>
          <p:cNvPr id="104468" name="Text Box 20"/>
          <p:cNvSpPr txBox="1">
            <a:spLocks noChangeArrowheads="1"/>
          </p:cNvSpPr>
          <p:nvPr/>
        </p:nvSpPr>
        <p:spPr bwMode="auto">
          <a:xfrm>
            <a:off x="2403475" y="4257675"/>
            <a:ext cx="860425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l" eaLnBrk="1" hangingPunct="1">
              <a:defRPr/>
            </a:pPr>
            <a:r>
              <a:rPr lang="en-GB" sz="1200" i="1">
                <a:solidFill>
                  <a:schemeClr val="bg1"/>
                </a:solidFill>
              </a:rPr>
              <a:t>Business</a:t>
            </a:r>
          </a:p>
        </p:txBody>
      </p:sp>
      <p:sp>
        <p:nvSpPr>
          <p:cNvPr id="104469" name="Text Box 21"/>
          <p:cNvSpPr txBox="1">
            <a:spLocks noChangeArrowheads="1"/>
          </p:cNvSpPr>
          <p:nvPr/>
        </p:nvSpPr>
        <p:spPr bwMode="auto">
          <a:xfrm>
            <a:off x="3284538" y="4257675"/>
            <a:ext cx="1023937" cy="274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algn="l" eaLnBrk="1" hangingPunct="1">
              <a:defRPr/>
            </a:pPr>
            <a:r>
              <a:rPr lang="en-GB" sz="1200" i="1">
                <a:solidFill>
                  <a:schemeClr val="bg1"/>
                </a:solidFill>
              </a:rPr>
              <a:t>Information</a:t>
            </a:r>
          </a:p>
        </p:txBody>
      </p:sp>
      <p:sp>
        <p:nvSpPr>
          <p:cNvPr id="104470" name="Text Box 22"/>
          <p:cNvSpPr txBox="1">
            <a:spLocks noChangeArrowheads="1"/>
          </p:cNvSpPr>
          <p:nvPr/>
        </p:nvSpPr>
        <p:spPr bwMode="auto">
          <a:xfrm>
            <a:off x="4003675" y="4257675"/>
            <a:ext cx="137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GB" sz="1200" i="1">
                <a:solidFill>
                  <a:schemeClr val="bg1"/>
                </a:solidFill>
              </a:rPr>
              <a:t>Information Systems</a:t>
            </a:r>
          </a:p>
        </p:txBody>
      </p:sp>
      <p:sp>
        <p:nvSpPr>
          <p:cNvPr id="104471" name="Text Box 23"/>
          <p:cNvSpPr txBox="1">
            <a:spLocks noChangeArrowheads="1"/>
          </p:cNvSpPr>
          <p:nvPr/>
        </p:nvSpPr>
        <p:spPr bwMode="auto">
          <a:xfrm>
            <a:off x="5070475" y="4257675"/>
            <a:ext cx="137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GB" sz="1200" i="1">
                <a:solidFill>
                  <a:schemeClr val="bg1"/>
                </a:solidFill>
              </a:rPr>
              <a:t>Technology Infrastructure</a:t>
            </a:r>
          </a:p>
        </p:txBody>
      </p:sp>
      <p:sp>
        <p:nvSpPr>
          <p:cNvPr id="104472" name="Text Box 24"/>
          <p:cNvSpPr txBox="1">
            <a:spLocks noChangeArrowheads="1"/>
          </p:cNvSpPr>
          <p:nvPr/>
        </p:nvSpPr>
        <p:spPr bwMode="auto">
          <a:xfrm rot="-5400000">
            <a:off x="3491706" y="5379244"/>
            <a:ext cx="102393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sz="1200">
                <a:solidFill>
                  <a:schemeClr val="bg1"/>
                </a:solidFill>
              </a:rPr>
              <a:t>Information</a:t>
            </a:r>
          </a:p>
          <a:p>
            <a:pPr eaLnBrk="1" hangingPunct="1">
              <a:defRPr/>
            </a:pPr>
            <a:r>
              <a:rPr lang="en-GB" sz="1200">
                <a:solidFill>
                  <a:schemeClr val="bg1"/>
                </a:solidFill>
              </a:rPr>
              <a:t>Analysis</a:t>
            </a:r>
          </a:p>
        </p:txBody>
      </p:sp>
      <p:sp>
        <p:nvSpPr>
          <p:cNvPr id="104473" name="Text Box 25"/>
          <p:cNvSpPr txBox="1">
            <a:spLocks noChangeArrowheads="1"/>
          </p:cNvSpPr>
          <p:nvPr/>
        </p:nvSpPr>
        <p:spPr bwMode="auto">
          <a:xfrm>
            <a:off x="3698875" y="2124075"/>
            <a:ext cx="1041400" cy="639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sz="1200" i="1">
                <a:solidFill>
                  <a:schemeClr val="bg1"/>
                </a:solidFill>
              </a:rPr>
              <a:t>Business-</a:t>
            </a:r>
          </a:p>
          <a:p>
            <a:pPr eaLnBrk="1" hangingPunct="1">
              <a:defRPr/>
            </a:pPr>
            <a:r>
              <a:rPr lang="en-GB" sz="1200" i="1">
                <a:solidFill>
                  <a:schemeClr val="bg1"/>
                </a:solidFill>
              </a:rPr>
              <a:t>Technology</a:t>
            </a:r>
          </a:p>
          <a:p>
            <a:pPr eaLnBrk="1" hangingPunct="1">
              <a:defRPr/>
            </a:pPr>
            <a:r>
              <a:rPr lang="en-GB" sz="1200" i="1">
                <a:solidFill>
                  <a:schemeClr val="bg1"/>
                </a:solidFill>
              </a:rPr>
              <a:t>Strategy</a:t>
            </a:r>
          </a:p>
        </p:txBody>
      </p:sp>
      <p:sp>
        <p:nvSpPr>
          <p:cNvPr id="104474" name="Text Box 26"/>
          <p:cNvSpPr txBox="1">
            <a:spLocks noChangeArrowheads="1"/>
          </p:cNvSpPr>
          <p:nvPr/>
        </p:nvSpPr>
        <p:spPr bwMode="auto">
          <a:xfrm rot="-5400000">
            <a:off x="4073525" y="5381625"/>
            <a:ext cx="1079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bg1"/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sz="1200">
                <a:solidFill>
                  <a:schemeClr val="tx1"/>
                </a:solidFill>
              </a:rPr>
              <a:t>Software</a:t>
            </a:r>
          </a:p>
          <a:p>
            <a:pPr eaLnBrk="1" hangingPunct="1">
              <a:defRPr/>
            </a:pPr>
            <a:r>
              <a:rPr lang="en-GB" sz="1200">
                <a:solidFill>
                  <a:schemeClr val="tx1"/>
                </a:solidFill>
              </a:rPr>
              <a:t>Architecture</a:t>
            </a:r>
          </a:p>
        </p:txBody>
      </p:sp>
      <p:sp>
        <p:nvSpPr>
          <p:cNvPr id="104475" name="Text Box 27"/>
          <p:cNvSpPr txBox="1">
            <a:spLocks noChangeArrowheads="1"/>
          </p:cNvSpPr>
          <p:nvPr/>
        </p:nvSpPr>
        <p:spPr bwMode="auto">
          <a:xfrm rot="-5400000">
            <a:off x="4683125" y="5394325"/>
            <a:ext cx="1079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sz="1200">
                <a:solidFill>
                  <a:schemeClr val="bg1"/>
                </a:solidFill>
              </a:rPr>
              <a:t>Data</a:t>
            </a:r>
          </a:p>
          <a:p>
            <a:pPr eaLnBrk="1" hangingPunct="1">
              <a:defRPr/>
            </a:pPr>
            <a:r>
              <a:rPr lang="en-GB" sz="1200">
                <a:solidFill>
                  <a:schemeClr val="bg1"/>
                </a:solidFill>
              </a:rPr>
              <a:t>Architecture</a:t>
            </a:r>
          </a:p>
        </p:txBody>
      </p:sp>
      <p:sp>
        <p:nvSpPr>
          <p:cNvPr id="104476" name="Text Box 28"/>
          <p:cNvSpPr txBox="1">
            <a:spLocks noChangeArrowheads="1"/>
          </p:cNvSpPr>
          <p:nvPr/>
        </p:nvSpPr>
        <p:spPr bwMode="auto">
          <a:xfrm rot="-5400000">
            <a:off x="5826125" y="5381625"/>
            <a:ext cx="1079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bg1"/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sz="1200">
                <a:solidFill>
                  <a:schemeClr val="tx1"/>
                </a:solidFill>
              </a:rPr>
              <a:t>Network</a:t>
            </a:r>
          </a:p>
          <a:p>
            <a:pPr eaLnBrk="1" hangingPunct="1">
              <a:defRPr/>
            </a:pPr>
            <a:r>
              <a:rPr lang="en-GB" sz="1200">
                <a:solidFill>
                  <a:schemeClr val="tx1"/>
                </a:solidFill>
              </a:rPr>
              <a:t>Architecture</a:t>
            </a:r>
          </a:p>
        </p:txBody>
      </p:sp>
      <p:sp>
        <p:nvSpPr>
          <p:cNvPr id="104477" name="Text Box 29"/>
          <p:cNvSpPr txBox="1">
            <a:spLocks noChangeArrowheads="1"/>
          </p:cNvSpPr>
          <p:nvPr/>
        </p:nvSpPr>
        <p:spPr bwMode="auto">
          <a:xfrm rot="-5400000">
            <a:off x="5292725" y="5381625"/>
            <a:ext cx="10795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sz="1200">
                <a:solidFill>
                  <a:schemeClr val="bg1"/>
                </a:solidFill>
              </a:rPr>
              <a:t>Security</a:t>
            </a:r>
          </a:p>
          <a:p>
            <a:pPr eaLnBrk="1" hangingPunct="1">
              <a:defRPr/>
            </a:pPr>
            <a:r>
              <a:rPr lang="en-GB" sz="1200">
                <a:solidFill>
                  <a:schemeClr val="bg1"/>
                </a:solidFill>
              </a:rPr>
              <a:t>Architecture</a:t>
            </a:r>
          </a:p>
        </p:txBody>
      </p:sp>
      <p:sp>
        <p:nvSpPr>
          <p:cNvPr id="104478" name="Text Box 30"/>
          <p:cNvSpPr txBox="1">
            <a:spLocks noChangeArrowheads="1"/>
          </p:cNvSpPr>
          <p:nvPr/>
        </p:nvSpPr>
        <p:spPr bwMode="auto">
          <a:xfrm rot="-5400000">
            <a:off x="2204244" y="5277644"/>
            <a:ext cx="1160462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sz="1200">
                <a:solidFill>
                  <a:schemeClr val="bg1"/>
                </a:solidFill>
              </a:rPr>
              <a:t>Supply Chain</a:t>
            </a:r>
          </a:p>
          <a:p>
            <a:pPr eaLnBrk="1" hangingPunct="1">
              <a:defRPr/>
            </a:pPr>
            <a:r>
              <a:rPr lang="en-GB" sz="1200">
                <a:solidFill>
                  <a:schemeClr val="bg1"/>
                </a:solidFill>
              </a:rPr>
              <a:t>Management</a:t>
            </a:r>
          </a:p>
        </p:txBody>
      </p:sp>
      <p:sp>
        <p:nvSpPr>
          <p:cNvPr id="104479" name="Text Box 31"/>
          <p:cNvSpPr txBox="1">
            <a:spLocks noChangeArrowheads="1"/>
          </p:cNvSpPr>
          <p:nvPr/>
        </p:nvSpPr>
        <p:spPr bwMode="auto">
          <a:xfrm rot="-5400000">
            <a:off x="2898775" y="5362575"/>
            <a:ext cx="99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en-GB" sz="1200">
                <a:solidFill>
                  <a:schemeClr val="bg1"/>
                </a:solidFill>
              </a:rPr>
              <a:t>Workflow Analysis</a:t>
            </a:r>
          </a:p>
        </p:txBody>
      </p:sp>
      <p:sp>
        <p:nvSpPr>
          <p:cNvPr id="19488" name="Line 32"/>
          <p:cNvSpPr>
            <a:spLocks noChangeShapeType="1"/>
          </p:cNvSpPr>
          <p:nvPr/>
        </p:nvSpPr>
        <p:spPr bwMode="auto">
          <a:xfrm>
            <a:off x="3013075" y="4714875"/>
            <a:ext cx="0" cy="1447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04481" name="Text Box 33"/>
          <p:cNvSpPr txBox="1">
            <a:spLocks noChangeArrowheads="1"/>
          </p:cNvSpPr>
          <p:nvPr/>
        </p:nvSpPr>
        <p:spPr bwMode="auto">
          <a:xfrm rot="-5400000">
            <a:off x="1470819" y="5296694"/>
            <a:ext cx="1438275" cy="2746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wrap="none">
            <a:spAutoFit/>
          </a:bodyPr>
          <a:lstStyle/>
          <a:p>
            <a:pPr eaLnBrk="1" hangingPunct="1">
              <a:defRPr/>
            </a:pPr>
            <a:r>
              <a:rPr lang="en-GB" sz="1200">
                <a:solidFill>
                  <a:schemeClr val="bg1"/>
                </a:solidFill>
              </a:rPr>
              <a:t>BPM / CRM / ERP</a:t>
            </a:r>
          </a:p>
        </p:txBody>
      </p:sp>
      <p:sp>
        <p:nvSpPr>
          <p:cNvPr id="19490" name="Text Box 34"/>
          <p:cNvSpPr txBox="1">
            <a:spLocks noChangeArrowheads="1"/>
          </p:cNvSpPr>
          <p:nvPr/>
        </p:nvSpPr>
        <p:spPr bwMode="auto">
          <a:xfrm rot="-5400000">
            <a:off x="-223837" y="5419725"/>
            <a:ext cx="13906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/>
            <a:r>
              <a:rPr lang="en-GB" sz="1000">
                <a:solidFill>
                  <a:schemeClr val="tx1"/>
                </a:solidFill>
              </a:rPr>
              <a:t>Process Developers</a:t>
            </a:r>
          </a:p>
        </p:txBody>
      </p:sp>
      <p:sp>
        <p:nvSpPr>
          <p:cNvPr id="19491" name="Text Box 35"/>
          <p:cNvSpPr txBox="1">
            <a:spLocks noChangeArrowheads="1"/>
          </p:cNvSpPr>
          <p:nvPr/>
        </p:nvSpPr>
        <p:spPr bwMode="auto">
          <a:xfrm rot="-5400000">
            <a:off x="-204787" y="3916362"/>
            <a:ext cx="13462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/>
            <a:r>
              <a:rPr lang="en-GB" sz="1000">
                <a:solidFill>
                  <a:schemeClr val="tx1"/>
                </a:solidFill>
              </a:rPr>
              <a:t>Solution Architects</a:t>
            </a:r>
          </a:p>
        </p:txBody>
      </p:sp>
      <p:sp>
        <p:nvSpPr>
          <p:cNvPr id="19492" name="Text Box 36"/>
          <p:cNvSpPr txBox="1">
            <a:spLocks noChangeArrowheads="1"/>
          </p:cNvSpPr>
          <p:nvPr/>
        </p:nvSpPr>
        <p:spPr bwMode="auto">
          <a:xfrm rot="-5400000">
            <a:off x="-260350" y="2411413"/>
            <a:ext cx="146367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/>
            <a:r>
              <a:rPr lang="en-GB" sz="1000">
                <a:solidFill>
                  <a:schemeClr val="tx1"/>
                </a:solidFill>
              </a:rPr>
              <a:t>Enterprise Architects</a:t>
            </a:r>
          </a:p>
        </p:txBody>
      </p:sp>
      <p:sp>
        <p:nvSpPr>
          <p:cNvPr id="19493" name="Text Box 37"/>
          <p:cNvSpPr txBox="1">
            <a:spLocks noChangeArrowheads="1"/>
          </p:cNvSpPr>
          <p:nvPr/>
        </p:nvSpPr>
        <p:spPr bwMode="auto">
          <a:xfrm rot="10800000" flipV="1">
            <a:off x="6059488" y="3340100"/>
            <a:ext cx="258445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/>
            <a:r>
              <a:rPr lang="en-GB" sz="1400">
                <a:solidFill>
                  <a:schemeClr val="tx1"/>
                </a:solidFill>
              </a:rPr>
              <a:t>Solution Architects (2 types)</a:t>
            </a:r>
          </a:p>
        </p:txBody>
      </p:sp>
      <p:sp>
        <p:nvSpPr>
          <p:cNvPr id="19494" name="Line 39"/>
          <p:cNvSpPr>
            <a:spLocks noChangeShapeType="1"/>
          </p:cNvSpPr>
          <p:nvPr/>
        </p:nvSpPr>
        <p:spPr bwMode="auto">
          <a:xfrm>
            <a:off x="498475" y="3267075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95" name="Line 40"/>
          <p:cNvSpPr>
            <a:spLocks noChangeShapeType="1"/>
          </p:cNvSpPr>
          <p:nvPr/>
        </p:nvSpPr>
        <p:spPr bwMode="auto">
          <a:xfrm>
            <a:off x="498475" y="4714875"/>
            <a:ext cx="75438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dash"/>
            <a:round/>
            <a:headEnd/>
            <a:tailEnd/>
          </a:ln>
        </p:spPr>
        <p:txBody>
          <a:bodyPr/>
          <a:lstStyle/>
          <a:p>
            <a:endParaRPr lang="en-US"/>
          </a:p>
        </p:txBody>
      </p:sp>
      <p:sp>
        <p:nvSpPr>
          <p:cNvPr id="19496" name="Text Box 41"/>
          <p:cNvSpPr txBox="1">
            <a:spLocks noChangeArrowheads="1"/>
          </p:cNvSpPr>
          <p:nvPr/>
        </p:nvSpPr>
        <p:spPr bwMode="auto">
          <a:xfrm>
            <a:off x="7127875" y="5095875"/>
            <a:ext cx="136525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/>
            <a:r>
              <a:rPr lang="en-GB" sz="1000">
                <a:solidFill>
                  <a:schemeClr val="tx1"/>
                </a:solidFill>
              </a:rPr>
              <a:t>Software Engineers</a:t>
            </a:r>
          </a:p>
        </p:txBody>
      </p:sp>
      <p:sp>
        <p:nvSpPr>
          <p:cNvPr id="19497" name="Text Box 42"/>
          <p:cNvSpPr txBox="1">
            <a:spLocks noChangeArrowheads="1"/>
          </p:cNvSpPr>
          <p:nvPr/>
        </p:nvSpPr>
        <p:spPr bwMode="auto">
          <a:xfrm>
            <a:off x="6315075" y="3722688"/>
            <a:ext cx="2260600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000" i="1">
                <a:solidFill>
                  <a:schemeClr val="tx1"/>
                </a:solidFill>
              </a:rPr>
              <a:t>Business &amp; Information Architects</a:t>
            </a:r>
          </a:p>
        </p:txBody>
      </p:sp>
      <p:sp>
        <p:nvSpPr>
          <p:cNvPr id="19498" name="Text Box 44"/>
          <p:cNvSpPr txBox="1">
            <a:spLocks noChangeArrowheads="1"/>
          </p:cNvSpPr>
          <p:nvPr/>
        </p:nvSpPr>
        <p:spPr bwMode="auto">
          <a:xfrm>
            <a:off x="6899275" y="4845050"/>
            <a:ext cx="1849438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/>
            <a:r>
              <a:rPr lang="en-GB" sz="1400">
                <a:solidFill>
                  <a:schemeClr val="tx1"/>
                </a:solidFill>
              </a:rPr>
              <a:t>Software Architects</a:t>
            </a:r>
          </a:p>
        </p:txBody>
      </p:sp>
      <p:sp>
        <p:nvSpPr>
          <p:cNvPr id="19499" name="Text Box 46"/>
          <p:cNvSpPr txBox="1">
            <a:spLocks noChangeArrowheads="1"/>
          </p:cNvSpPr>
          <p:nvPr/>
        </p:nvSpPr>
        <p:spPr bwMode="auto">
          <a:xfrm rot="-5400000">
            <a:off x="-65087" y="5392738"/>
            <a:ext cx="1444625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/>
            <a:r>
              <a:rPr lang="en-GB" sz="1000">
                <a:solidFill>
                  <a:schemeClr val="tx1"/>
                </a:solidFill>
              </a:rPr>
              <a:t>Information Analysts</a:t>
            </a:r>
          </a:p>
        </p:txBody>
      </p:sp>
      <p:sp>
        <p:nvSpPr>
          <p:cNvPr id="19500" name="Text Box 47"/>
          <p:cNvSpPr txBox="1">
            <a:spLocks noChangeArrowheads="1"/>
          </p:cNvSpPr>
          <p:nvPr/>
        </p:nvSpPr>
        <p:spPr bwMode="auto">
          <a:xfrm>
            <a:off x="7280275" y="5399088"/>
            <a:ext cx="1376363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/>
            <a:r>
              <a:rPr lang="en-GB" sz="1000">
                <a:solidFill>
                  <a:schemeClr val="tx1"/>
                </a:solidFill>
              </a:rPr>
              <a:t>Security Specialists</a:t>
            </a:r>
          </a:p>
        </p:txBody>
      </p:sp>
      <p:sp>
        <p:nvSpPr>
          <p:cNvPr id="19501" name="Text Box 48"/>
          <p:cNvSpPr txBox="1">
            <a:spLocks noChangeArrowheads="1"/>
          </p:cNvSpPr>
          <p:nvPr/>
        </p:nvSpPr>
        <p:spPr bwMode="auto">
          <a:xfrm>
            <a:off x="7356475" y="5703888"/>
            <a:ext cx="1608138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l" eaLnBrk="1" hangingPunct="1"/>
            <a:r>
              <a:rPr lang="en-GB" sz="1000">
                <a:solidFill>
                  <a:schemeClr val="tx1"/>
                </a:solidFill>
              </a:rPr>
              <a:t>Governance Specialists</a:t>
            </a:r>
          </a:p>
        </p:txBody>
      </p:sp>
      <p:sp>
        <p:nvSpPr>
          <p:cNvPr id="19502" name="Text Box 49"/>
          <p:cNvSpPr txBox="1">
            <a:spLocks noChangeArrowheads="1"/>
          </p:cNvSpPr>
          <p:nvPr/>
        </p:nvSpPr>
        <p:spPr bwMode="auto">
          <a:xfrm>
            <a:off x="684213" y="1844675"/>
            <a:ext cx="2241550" cy="5175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>
                <a:solidFill>
                  <a:schemeClr val="tx1"/>
                </a:solidFill>
              </a:rPr>
              <a:t>Governance</a:t>
            </a:r>
          </a:p>
          <a:p>
            <a:r>
              <a:rPr lang="en-GB" sz="1400">
                <a:solidFill>
                  <a:schemeClr val="tx1"/>
                </a:solidFill>
              </a:rPr>
              <a:t>Business – IT Alignment</a:t>
            </a:r>
          </a:p>
        </p:txBody>
      </p:sp>
      <p:sp>
        <p:nvSpPr>
          <p:cNvPr id="19503" name="Text Box 50"/>
          <p:cNvSpPr txBox="1">
            <a:spLocks noChangeArrowheads="1"/>
          </p:cNvSpPr>
          <p:nvPr/>
        </p:nvSpPr>
        <p:spPr bwMode="auto">
          <a:xfrm>
            <a:off x="827088" y="4791075"/>
            <a:ext cx="892175" cy="5175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>
                <a:solidFill>
                  <a:schemeClr val="tx1"/>
                </a:solidFill>
              </a:rPr>
              <a:t>Solution</a:t>
            </a:r>
          </a:p>
          <a:p>
            <a:r>
              <a:rPr lang="en-GB" sz="1400">
                <a:solidFill>
                  <a:schemeClr val="tx1"/>
                </a:solidFill>
              </a:rPr>
              <a:t>Delivery</a:t>
            </a:r>
          </a:p>
        </p:txBody>
      </p:sp>
      <p:sp>
        <p:nvSpPr>
          <p:cNvPr id="19504" name="Text Box 51"/>
          <p:cNvSpPr txBox="1">
            <a:spLocks noChangeArrowheads="1"/>
          </p:cNvSpPr>
          <p:nvPr/>
        </p:nvSpPr>
        <p:spPr bwMode="auto">
          <a:xfrm>
            <a:off x="827088" y="3282950"/>
            <a:ext cx="892175" cy="51752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GB" sz="1400">
                <a:solidFill>
                  <a:schemeClr val="tx1"/>
                </a:solidFill>
              </a:rPr>
              <a:t>Solution</a:t>
            </a:r>
          </a:p>
          <a:p>
            <a:r>
              <a:rPr lang="en-GB" sz="1400">
                <a:solidFill>
                  <a:schemeClr val="tx1"/>
                </a:solidFill>
              </a:rPr>
              <a:t>Design</a:t>
            </a:r>
          </a:p>
        </p:txBody>
      </p:sp>
      <p:sp>
        <p:nvSpPr>
          <p:cNvPr id="19505" name="Text Box 54"/>
          <p:cNvSpPr txBox="1">
            <a:spLocks noChangeArrowheads="1"/>
          </p:cNvSpPr>
          <p:nvPr/>
        </p:nvSpPr>
        <p:spPr bwMode="auto">
          <a:xfrm>
            <a:off x="6365875" y="4027488"/>
            <a:ext cx="2209800" cy="5492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000" i="1">
                <a:solidFill>
                  <a:schemeClr val="tx1"/>
                </a:solidFill>
              </a:rPr>
              <a:t>Information-Systems &amp; Technology-Infrastructure Architects</a:t>
            </a:r>
          </a:p>
        </p:txBody>
      </p:sp>
      <p:sp>
        <p:nvSpPr>
          <p:cNvPr id="19506" name="Oval 55"/>
          <p:cNvSpPr>
            <a:spLocks noChangeArrowheads="1"/>
          </p:cNvSpPr>
          <p:nvPr/>
        </p:nvSpPr>
        <p:spPr bwMode="auto">
          <a:xfrm>
            <a:off x="1870075" y="1284288"/>
            <a:ext cx="4724400" cy="2438400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07" name="Text Box 38"/>
          <p:cNvSpPr txBox="1">
            <a:spLocks noChangeArrowheads="1"/>
          </p:cNvSpPr>
          <p:nvPr/>
        </p:nvSpPr>
        <p:spPr bwMode="auto">
          <a:xfrm>
            <a:off x="5146675" y="1893888"/>
            <a:ext cx="1219200" cy="51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/>
            <a:r>
              <a:rPr lang="en-GB" sz="1400">
                <a:solidFill>
                  <a:schemeClr val="tx1"/>
                </a:solidFill>
              </a:rPr>
              <a:t>Enterprise Architects</a:t>
            </a:r>
          </a:p>
        </p:txBody>
      </p:sp>
      <p:sp>
        <p:nvSpPr>
          <p:cNvPr id="19508" name="Oval 56"/>
          <p:cNvSpPr>
            <a:spLocks noChangeArrowheads="1"/>
          </p:cNvSpPr>
          <p:nvPr/>
        </p:nvSpPr>
        <p:spPr bwMode="auto">
          <a:xfrm rot="-5400000">
            <a:off x="3508375" y="3608388"/>
            <a:ext cx="3200400" cy="2057400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09" name="Oval 57"/>
          <p:cNvSpPr>
            <a:spLocks noChangeArrowheads="1"/>
          </p:cNvSpPr>
          <p:nvPr/>
        </p:nvSpPr>
        <p:spPr bwMode="auto">
          <a:xfrm rot="-5400000">
            <a:off x="1755775" y="3608388"/>
            <a:ext cx="3200400" cy="2057400"/>
          </a:xfrm>
          <a:prstGeom prst="ellips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510" name="Date Placeholder 53"/>
          <p:cNvSpPr>
            <a:spLocks noGrp="1"/>
          </p:cNvSpPr>
          <p:nvPr>
            <p:ph type="dt" sz="quarter" idx="11"/>
          </p:nvPr>
        </p:nvSpPr>
        <p:spPr>
          <a:noFill/>
        </p:spPr>
        <p:txBody>
          <a:bodyPr/>
          <a:lstStyle/>
          <a:p>
            <a:fld id="{0407416A-83F4-4DB5-98E3-4F6CFB740F40}" type="datetime1">
              <a:rPr lang="en-US" smtClean="0">
                <a:latin typeface="Arial" charset="0"/>
              </a:rPr>
              <a:pPr/>
              <a:t>8/23/2009</a:t>
            </a:fld>
            <a:endParaRPr lang="nl-NL" smtClean="0">
              <a:latin typeface="Arial" charset="0"/>
            </a:endParaRPr>
          </a:p>
        </p:txBody>
      </p:sp>
      <p:sp>
        <p:nvSpPr>
          <p:cNvPr id="19511" name="Footer Placeholder 5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nl-NL" smtClean="0">
                <a:latin typeface="Arial" charset="0"/>
              </a:rPr>
              <a:t>(C) Copyrights IFEAD, 2001-2008</a:t>
            </a:r>
          </a:p>
        </p:txBody>
      </p:sp>
      <p:sp>
        <p:nvSpPr>
          <p:cNvPr id="19512" name="Slide Number Placeholder 5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1E75D0DC-607A-4800-8848-AF6C67333DDB}" type="slidenum">
              <a:rPr lang="nl-NL" smtClean="0">
                <a:latin typeface="Arial" charset="0"/>
              </a:rPr>
              <a:pPr/>
              <a:t>2</a:t>
            </a:fld>
            <a:endParaRPr lang="nl-NL" smtClean="0">
              <a:latin typeface="Arial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428625" y="785813"/>
            <a:ext cx="4464050" cy="577850"/>
          </a:xfrm>
          <a:noFill/>
        </p:spPr>
        <p:txBody>
          <a:bodyPr tIns="36000" bIns="36000" anchor="t"/>
          <a:lstStyle/>
          <a:p>
            <a:pPr eaLnBrk="1" hangingPunct="1"/>
            <a:r>
              <a:rPr lang="en-US" sz="1800" smtClean="0"/>
              <a:t>About The Enterprise Architect …..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idx="1"/>
          </p:nvPr>
        </p:nvSpPr>
        <p:spPr>
          <a:xfrm>
            <a:off x="533400" y="1412875"/>
            <a:ext cx="8610600" cy="4267200"/>
          </a:xfrm>
        </p:spPr>
        <p:txBody>
          <a:bodyPr/>
          <a:lstStyle/>
          <a:p>
            <a:pPr eaLnBrk="1" hangingPunct="1"/>
            <a:r>
              <a:rPr lang="en-US" sz="1800" smtClean="0"/>
              <a:t>First of all . . . It is not a Saint that can solve all your issues.</a:t>
            </a:r>
          </a:p>
          <a:p>
            <a:pPr eaLnBrk="1" hangingPunct="1"/>
            <a:r>
              <a:rPr lang="en-US" sz="1800" smtClean="0"/>
              <a:t>You can’t become an Enterprise Architect after following a course or training.</a:t>
            </a:r>
          </a:p>
          <a:p>
            <a:pPr eaLnBrk="1" hangingPunct="1"/>
            <a:r>
              <a:rPr lang="en-US" sz="1800" smtClean="0"/>
              <a:t>Enterprise Architects have a long experience in business as well as in technology areas.</a:t>
            </a:r>
          </a:p>
          <a:p>
            <a:pPr eaLnBrk="1" hangingPunct="1"/>
            <a:r>
              <a:rPr lang="en-US" sz="1800" smtClean="0"/>
              <a:t>Enterprise Architects must have different capabilities.</a:t>
            </a:r>
          </a:p>
          <a:p>
            <a:pPr eaLnBrk="1" hangingPunct="1"/>
            <a:r>
              <a:rPr lang="en-US" sz="1800" smtClean="0"/>
              <a:t>Enterprise Architects must play different roles.</a:t>
            </a:r>
          </a:p>
          <a:p>
            <a:pPr eaLnBrk="1" hangingPunct="1"/>
            <a:r>
              <a:rPr lang="en-US" sz="1800" smtClean="0"/>
              <a:t>Enterprise Architects are familiar with different methodologies &amp; techniques.</a:t>
            </a:r>
          </a:p>
          <a:p>
            <a:pPr eaLnBrk="1" hangingPunct="1"/>
            <a:r>
              <a:rPr lang="en-US" sz="1800" smtClean="0"/>
              <a:t>Enterprise Architects are Communicators.</a:t>
            </a:r>
          </a:p>
        </p:txBody>
      </p:sp>
      <p:sp>
        <p:nvSpPr>
          <p:cNvPr id="20484" name="Date Placeholder 3"/>
          <p:cNvSpPr>
            <a:spLocks noGrp="1"/>
          </p:cNvSpPr>
          <p:nvPr>
            <p:ph type="dt" sz="quarter" idx="11"/>
          </p:nvPr>
        </p:nvSpPr>
        <p:spPr>
          <a:noFill/>
        </p:spPr>
        <p:txBody>
          <a:bodyPr/>
          <a:lstStyle/>
          <a:p>
            <a:fld id="{28542085-BD91-4E91-8CD7-31DAB4ED6E63}" type="datetime1">
              <a:rPr lang="en-US" smtClean="0">
                <a:latin typeface="Arial" charset="0"/>
              </a:rPr>
              <a:pPr/>
              <a:t>8/23/2009</a:t>
            </a:fld>
            <a:endParaRPr lang="nl-NL" smtClean="0">
              <a:latin typeface="Arial" charset="0"/>
            </a:endParaRPr>
          </a:p>
        </p:txBody>
      </p:sp>
      <p:sp>
        <p:nvSpPr>
          <p:cNvPr id="20485" name="Footer Placehold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nl-NL" smtClean="0">
                <a:latin typeface="Arial" charset="0"/>
              </a:rPr>
              <a:t>(C) Copyrights IFEAD, 2001-2008</a:t>
            </a:r>
          </a:p>
        </p:txBody>
      </p:sp>
      <p:sp>
        <p:nvSpPr>
          <p:cNvPr id="20486" name="Slide Number Placeholder 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C3A5FC49-769D-48E5-93D2-1967123C0FA5}" type="slidenum">
              <a:rPr lang="nl-NL" smtClean="0">
                <a:latin typeface="Arial" charset="0"/>
              </a:rPr>
              <a:pPr/>
              <a:t>3</a:t>
            </a:fld>
            <a:endParaRPr lang="nl-NL" smtClean="0">
              <a:latin typeface="Arial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50" y="571500"/>
            <a:ext cx="6248400" cy="755650"/>
          </a:xfrm>
        </p:spPr>
        <p:txBody>
          <a:bodyPr/>
          <a:lstStyle/>
          <a:p>
            <a:pPr eaLnBrk="1" hangingPunct="1"/>
            <a:r>
              <a:rPr lang="en-GB" sz="1800" smtClean="0"/>
              <a:t>Overall Profile of the Enterprise Architect</a:t>
            </a:r>
          </a:p>
        </p:txBody>
      </p:sp>
      <p:sp>
        <p:nvSpPr>
          <p:cNvPr id="21507" name="Text Box 3"/>
          <p:cNvSpPr txBox="1">
            <a:spLocks noChangeArrowheads="1"/>
          </p:cNvSpPr>
          <p:nvPr/>
        </p:nvSpPr>
        <p:spPr bwMode="auto">
          <a:xfrm>
            <a:off x="323850" y="1466850"/>
            <a:ext cx="6553200" cy="42481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pPr marL="287338" indent="-287338" algn="l">
              <a:lnSpc>
                <a:spcPct val="85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ü"/>
            </a:pPr>
            <a:r>
              <a:rPr lang="en-GB" sz="1600">
                <a:solidFill>
                  <a:srgbClr val="660033"/>
                </a:solidFill>
              </a:rPr>
              <a:t>Business Responsibilities</a:t>
            </a:r>
          </a:p>
          <a:p>
            <a:pPr marL="665163" lvl="1" indent="-187325" algn="l">
              <a:lnSpc>
                <a:spcPct val="85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ü"/>
            </a:pPr>
            <a:r>
              <a:rPr lang="en-GB" sz="1600">
                <a:solidFill>
                  <a:srgbClr val="660033"/>
                </a:solidFill>
              </a:rPr>
              <a:t>Understanding business objectives, drivers &amp; principles</a:t>
            </a:r>
          </a:p>
          <a:p>
            <a:pPr marL="665163" lvl="1" indent="-187325" algn="l">
              <a:lnSpc>
                <a:spcPct val="85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ü"/>
            </a:pPr>
            <a:r>
              <a:rPr lang="en-GB" sz="1600">
                <a:solidFill>
                  <a:srgbClr val="660033"/>
                </a:solidFill>
              </a:rPr>
              <a:t>Good sense of business and technical strategy to envision the “right” enterprise architectural approach to the problem set</a:t>
            </a:r>
          </a:p>
          <a:p>
            <a:pPr marL="665163" lvl="1" indent="-187325" algn="l">
              <a:lnSpc>
                <a:spcPct val="85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ü"/>
            </a:pPr>
            <a:r>
              <a:rPr lang="en-GB" sz="1600">
                <a:solidFill>
                  <a:srgbClr val="660033"/>
                </a:solidFill>
              </a:rPr>
              <a:t>Creating visualisations &amp; models, supports decision making</a:t>
            </a:r>
          </a:p>
          <a:p>
            <a:pPr marL="665163" lvl="1" indent="-187325" algn="l">
              <a:lnSpc>
                <a:spcPct val="85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ü"/>
            </a:pPr>
            <a:r>
              <a:rPr lang="en-GB" sz="1600">
                <a:solidFill>
                  <a:srgbClr val="660033"/>
                </a:solidFill>
              </a:rPr>
              <a:t>Ability to communicate and mentor others</a:t>
            </a:r>
          </a:p>
          <a:p>
            <a:pPr marL="665163" lvl="1" indent="-187325" algn="l">
              <a:lnSpc>
                <a:spcPct val="85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ü"/>
            </a:pPr>
            <a:r>
              <a:rPr lang="en-GB" sz="1600">
                <a:solidFill>
                  <a:srgbClr val="660033"/>
                </a:solidFill>
              </a:rPr>
              <a:t>“Selling” and leadership qualities</a:t>
            </a:r>
          </a:p>
          <a:p>
            <a:pPr marL="287338" indent="-287338" algn="l">
              <a:lnSpc>
                <a:spcPct val="85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ü"/>
            </a:pPr>
            <a:r>
              <a:rPr lang="en-GB" sz="1600">
                <a:solidFill>
                  <a:srgbClr val="660033"/>
                </a:solidFill>
              </a:rPr>
              <a:t>Technology Responsibility</a:t>
            </a:r>
          </a:p>
          <a:p>
            <a:pPr marL="665163" lvl="1" indent="-187325" algn="l">
              <a:lnSpc>
                <a:spcPct val="85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ü"/>
            </a:pPr>
            <a:r>
              <a:rPr lang="en-GB" sz="1600">
                <a:solidFill>
                  <a:srgbClr val="660033"/>
                </a:solidFill>
              </a:rPr>
              <a:t>Articulating the Enterprise Architectural vision</a:t>
            </a:r>
          </a:p>
          <a:p>
            <a:pPr marL="665163" lvl="1" indent="-187325" algn="l">
              <a:lnSpc>
                <a:spcPct val="85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ü"/>
            </a:pPr>
            <a:r>
              <a:rPr lang="en-GB" sz="1600">
                <a:solidFill>
                  <a:srgbClr val="660033"/>
                </a:solidFill>
              </a:rPr>
              <a:t>Conceptualising and experimenting with alternative enterprise architectural approaches</a:t>
            </a:r>
          </a:p>
          <a:p>
            <a:pPr marL="665163" lvl="1" indent="-187325" algn="l">
              <a:lnSpc>
                <a:spcPct val="85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ü"/>
            </a:pPr>
            <a:r>
              <a:rPr lang="en-GB" sz="1600">
                <a:solidFill>
                  <a:srgbClr val="660033"/>
                </a:solidFill>
              </a:rPr>
              <a:t>Creating landscape models and component and interface specification results</a:t>
            </a:r>
          </a:p>
          <a:p>
            <a:pPr marL="665163" lvl="1" indent="-187325" algn="l">
              <a:lnSpc>
                <a:spcPct val="85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ü"/>
            </a:pPr>
            <a:r>
              <a:rPr lang="en-GB" sz="1600">
                <a:solidFill>
                  <a:srgbClr val="660033"/>
                </a:solidFill>
              </a:rPr>
              <a:t>Validating the enterprise architecture against requirements and assumptions</a:t>
            </a:r>
          </a:p>
        </p:txBody>
      </p:sp>
      <p:pic>
        <p:nvPicPr>
          <p:cNvPr id="21508" name="Picture 4" descr="navigationimage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051675" y="1357313"/>
            <a:ext cx="2057400" cy="2857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509" name="Date Placeholder 4"/>
          <p:cNvSpPr>
            <a:spLocks noGrp="1"/>
          </p:cNvSpPr>
          <p:nvPr>
            <p:ph type="dt" sz="quarter" idx="11"/>
          </p:nvPr>
        </p:nvSpPr>
        <p:spPr>
          <a:noFill/>
        </p:spPr>
        <p:txBody>
          <a:bodyPr/>
          <a:lstStyle/>
          <a:p>
            <a:fld id="{3B0EEACD-896A-4E6E-A35A-36E386B10579}" type="datetime1">
              <a:rPr lang="en-US" smtClean="0">
                <a:latin typeface="Arial" charset="0"/>
              </a:rPr>
              <a:pPr/>
              <a:t>8/23/2009</a:t>
            </a:fld>
            <a:endParaRPr lang="nl-NL" smtClean="0">
              <a:latin typeface="Arial" charset="0"/>
            </a:endParaRPr>
          </a:p>
        </p:txBody>
      </p:sp>
      <p:sp>
        <p:nvSpPr>
          <p:cNvPr id="21510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nl-NL" smtClean="0">
                <a:latin typeface="Arial" charset="0"/>
              </a:rPr>
              <a:t>(C) Copyrights IFEAD, 2001-2008</a:t>
            </a:r>
          </a:p>
        </p:txBody>
      </p:sp>
      <p:sp>
        <p:nvSpPr>
          <p:cNvPr id="21511" name="Slide Number Placeholder 6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695D7A0-84A9-4F1A-88B5-98542E3E4D2F}" type="slidenum">
              <a:rPr lang="nl-NL" smtClean="0">
                <a:latin typeface="Arial" charset="0"/>
              </a:rPr>
              <a:pPr/>
              <a:t>4</a:t>
            </a:fld>
            <a:endParaRPr lang="nl-NL" smtClean="0">
              <a:latin typeface="Arial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1"/>
          <p:cNvSpPr>
            <a:spLocks noChangeArrowheads="1"/>
          </p:cNvSpPr>
          <p:nvPr/>
        </p:nvSpPr>
        <p:spPr bwMode="auto">
          <a:xfrm>
            <a:off x="392113" y="752475"/>
            <a:ext cx="6164262" cy="417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tIns="36000" bIns="36000"/>
          <a:lstStyle/>
          <a:p>
            <a:pPr algn="l">
              <a:defRPr/>
            </a:pPr>
            <a:r>
              <a:rPr lang="en-GB" sz="1800" dirty="0">
                <a:solidFill>
                  <a:schemeClr val="tx1"/>
                </a:solidFill>
                <a:latin typeface="+mj-lt"/>
              </a:rPr>
              <a:t>Enterprise Architects Competence Profile – Level 5</a:t>
            </a:r>
          </a:p>
        </p:txBody>
      </p:sp>
      <p:grpSp>
        <p:nvGrpSpPr>
          <p:cNvPr id="22531" name="Group 123"/>
          <p:cNvGrpSpPr>
            <a:grpSpLocks/>
          </p:cNvGrpSpPr>
          <p:nvPr/>
        </p:nvGrpSpPr>
        <p:grpSpPr bwMode="auto">
          <a:xfrm>
            <a:off x="642938" y="1344613"/>
            <a:ext cx="7313612" cy="5227637"/>
            <a:chOff x="163" y="391"/>
            <a:chExt cx="5257" cy="3719"/>
          </a:xfrm>
        </p:grpSpPr>
        <p:pic>
          <p:nvPicPr>
            <p:cNvPr id="22538" name="Picture 2"/>
            <p:cNvPicPr>
              <a:picLocks noChangeAspect="1" noChangeArrowheads="1"/>
            </p:cNvPicPr>
            <p:nvPr/>
          </p:nvPicPr>
          <p:blipFill>
            <a:blip r:embed="rId3" cstate="print"/>
            <a:srcRect l="28960" t="24504" r="13228" b="3780"/>
            <a:stretch>
              <a:fillRect/>
            </a:stretch>
          </p:blipFill>
          <p:spPr bwMode="auto">
            <a:xfrm>
              <a:off x="1063" y="482"/>
              <a:ext cx="3813" cy="34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</p:pic>
        <p:sp>
          <p:nvSpPr>
            <p:cNvPr id="22539" name="Freeform 3"/>
            <p:cNvSpPr>
              <a:spLocks/>
            </p:cNvSpPr>
            <p:nvPr/>
          </p:nvSpPr>
          <p:spPr bwMode="auto">
            <a:xfrm flipH="1" flipV="1">
              <a:off x="1505" y="820"/>
              <a:ext cx="1420" cy="1386"/>
            </a:xfrm>
            <a:custGeom>
              <a:avLst/>
              <a:gdLst>
                <a:gd name="T0" fmla="*/ 0 w 1452"/>
                <a:gd name="T1" fmla="*/ 0 h 1360"/>
                <a:gd name="T2" fmla="*/ 0 w 1452"/>
                <a:gd name="T3" fmla="*/ 1467 h 1360"/>
                <a:gd name="T4" fmla="*/ 166 w 1452"/>
                <a:gd name="T5" fmla="*/ 1467 h 1360"/>
                <a:gd name="T6" fmla="*/ 332 w 1452"/>
                <a:gd name="T7" fmla="*/ 1419 h 1360"/>
                <a:gd name="T8" fmla="*/ 499 w 1452"/>
                <a:gd name="T9" fmla="*/ 1370 h 1360"/>
                <a:gd name="T10" fmla="*/ 664 w 1452"/>
                <a:gd name="T11" fmla="*/ 1272 h 1360"/>
                <a:gd name="T12" fmla="*/ 788 w 1452"/>
                <a:gd name="T13" fmla="*/ 1174 h 1360"/>
                <a:gd name="T14" fmla="*/ 997 w 1452"/>
                <a:gd name="T15" fmla="*/ 978 h 1360"/>
                <a:gd name="T16" fmla="*/ 1121 w 1452"/>
                <a:gd name="T17" fmla="*/ 782 h 1360"/>
                <a:gd name="T18" fmla="*/ 1245 w 1452"/>
                <a:gd name="T19" fmla="*/ 539 h 1360"/>
                <a:gd name="T20" fmla="*/ 1328 w 1452"/>
                <a:gd name="T21" fmla="*/ 243 h 1360"/>
                <a:gd name="T22" fmla="*/ 1328 w 1452"/>
                <a:gd name="T23" fmla="*/ 0 h 1360"/>
                <a:gd name="T24" fmla="*/ 0 w 1452"/>
                <a:gd name="T25" fmla="*/ 0 h 136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452"/>
                <a:gd name="T40" fmla="*/ 0 h 1360"/>
                <a:gd name="T41" fmla="*/ 1452 w 1452"/>
                <a:gd name="T42" fmla="*/ 1360 h 136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452" h="1360">
                  <a:moveTo>
                    <a:pt x="0" y="0"/>
                  </a:moveTo>
                  <a:lnTo>
                    <a:pt x="0" y="1360"/>
                  </a:lnTo>
                  <a:lnTo>
                    <a:pt x="182" y="1360"/>
                  </a:lnTo>
                  <a:lnTo>
                    <a:pt x="363" y="1315"/>
                  </a:lnTo>
                  <a:lnTo>
                    <a:pt x="545" y="1270"/>
                  </a:lnTo>
                  <a:lnTo>
                    <a:pt x="726" y="1179"/>
                  </a:lnTo>
                  <a:lnTo>
                    <a:pt x="862" y="1088"/>
                  </a:lnTo>
                  <a:lnTo>
                    <a:pt x="1089" y="907"/>
                  </a:lnTo>
                  <a:lnTo>
                    <a:pt x="1225" y="725"/>
                  </a:lnTo>
                  <a:lnTo>
                    <a:pt x="1361" y="499"/>
                  </a:lnTo>
                  <a:lnTo>
                    <a:pt x="1452" y="226"/>
                  </a:lnTo>
                  <a:lnTo>
                    <a:pt x="14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99"/>
            </a:solidFill>
            <a:ln w="19050">
              <a:solidFill>
                <a:srgbClr val="6666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0" name="Freeform 4"/>
            <p:cNvSpPr>
              <a:spLocks/>
            </p:cNvSpPr>
            <p:nvPr/>
          </p:nvSpPr>
          <p:spPr bwMode="auto">
            <a:xfrm rot="5400000">
              <a:off x="1541" y="2184"/>
              <a:ext cx="1364" cy="1408"/>
            </a:xfrm>
            <a:custGeom>
              <a:avLst/>
              <a:gdLst>
                <a:gd name="T0" fmla="*/ 0 w 1452"/>
                <a:gd name="T1" fmla="*/ 0 h 1360"/>
                <a:gd name="T2" fmla="*/ 0 w 1452"/>
                <a:gd name="T3" fmla="*/ 1562 h 1360"/>
                <a:gd name="T4" fmla="*/ 142 w 1452"/>
                <a:gd name="T5" fmla="*/ 1562 h 1360"/>
                <a:gd name="T6" fmla="*/ 283 w 1452"/>
                <a:gd name="T7" fmla="*/ 1510 h 1360"/>
                <a:gd name="T8" fmla="*/ 425 w 1452"/>
                <a:gd name="T9" fmla="*/ 1459 h 1360"/>
                <a:gd name="T10" fmla="*/ 566 w 1452"/>
                <a:gd name="T11" fmla="*/ 1355 h 1360"/>
                <a:gd name="T12" fmla="*/ 672 w 1452"/>
                <a:gd name="T13" fmla="*/ 1250 h 1360"/>
                <a:gd name="T14" fmla="*/ 848 w 1452"/>
                <a:gd name="T15" fmla="*/ 1042 h 1360"/>
                <a:gd name="T16" fmla="*/ 953 w 1452"/>
                <a:gd name="T17" fmla="*/ 833 h 1360"/>
                <a:gd name="T18" fmla="*/ 1060 w 1452"/>
                <a:gd name="T19" fmla="*/ 574 h 1360"/>
                <a:gd name="T20" fmla="*/ 1130 w 1452"/>
                <a:gd name="T21" fmla="*/ 260 h 1360"/>
                <a:gd name="T22" fmla="*/ 1130 w 1452"/>
                <a:gd name="T23" fmla="*/ 0 h 1360"/>
                <a:gd name="T24" fmla="*/ 0 w 1452"/>
                <a:gd name="T25" fmla="*/ 0 h 136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452"/>
                <a:gd name="T40" fmla="*/ 0 h 1360"/>
                <a:gd name="T41" fmla="*/ 1452 w 1452"/>
                <a:gd name="T42" fmla="*/ 1360 h 136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452" h="1360">
                  <a:moveTo>
                    <a:pt x="0" y="0"/>
                  </a:moveTo>
                  <a:lnTo>
                    <a:pt x="0" y="1360"/>
                  </a:lnTo>
                  <a:lnTo>
                    <a:pt x="182" y="1360"/>
                  </a:lnTo>
                  <a:lnTo>
                    <a:pt x="363" y="1315"/>
                  </a:lnTo>
                  <a:lnTo>
                    <a:pt x="545" y="1270"/>
                  </a:lnTo>
                  <a:lnTo>
                    <a:pt x="726" y="1179"/>
                  </a:lnTo>
                  <a:lnTo>
                    <a:pt x="862" y="1088"/>
                  </a:lnTo>
                  <a:lnTo>
                    <a:pt x="1089" y="907"/>
                  </a:lnTo>
                  <a:lnTo>
                    <a:pt x="1225" y="725"/>
                  </a:lnTo>
                  <a:lnTo>
                    <a:pt x="1361" y="499"/>
                  </a:lnTo>
                  <a:lnTo>
                    <a:pt x="1452" y="226"/>
                  </a:lnTo>
                  <a:lnTo>
                    <a:pt x="14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FF99"/>
            </a:solidFill>
            <a:ln w="19050">
              <a:solidFill>
                <a:srgbClr val="6666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1" name="Freeform 5"/>
            <p:cNvSpPr>
              <a:spLocks/>
            </p:cNvSpPr>
            <p:nvPr/>
          </p:nvSpPr>
          <p:spPr bwMode="auto">
            <a:xfrm rot="-5400000">
              <a:off x="2939" y="772"/>
              <a:ext cx="1404" cy="1464"/>
            </a:xfrm>
            <a:custGeom>
              <a:avLst/>
              <a:gdLst>
                <a:gd name="T0" fmla="*/ 0 w 1452"/>
                <a:gd name="T1" fmla="*/ 0 h 1360"/>
                <a:gd name="T2" fmla="*/ 0 w 1452"/>
                <a:gd name="T3" fmla="*/ 1827 h 1360"/>
                <a:gd name="T4" fmla="*/ 159 w 1452"/>
                <a:gd name="T5" fmla="*/ 1827 h 1360"/>
                <a:gd name="T6" fmla="*/ 317 w 1452"/>
                <a:gd name="T7" fmla="*/ 1766 h 1360"/>
                <a:gd name="T8" fmla="*/ 477 w 1452"/>
                <a:gd name="T9" fmla="*/ 1706 h 1360"/>
                <a:gd name="T10" fmla="*/ 635 w 1452"/>
                <a:gd name="T11" fmla="*/ 1582 h 1360"/>
                <a:gd name="T12" fmla="*/ 753 w 1452"/>
                <a:gd name="T13" fmla="*/ 1461 h 1360"/>
                <a:gd name="T14" fmla="*/ 951 w 1452"/>
                <a:gd name="T15" fmla="*/ 1217 h 1360"/>
                <a:gd name="T16" fmla="*/ 1071 w 1452"/>
                <a:gd name="T17" fmla="*/ 973 h 1360"/>
                <a:gd name="T18" fmla="*/ 1189 w 1452"/>
                <a:gd name="T19" fmla="*/ 670 h 1360"/>
                <a:gd name="T20" fmla="*/ 1270 w 1452"/>
                <a:gd name="T21" fmla="*/ 304 h 1360"/>
                <a:gd name="T22" fmla="*/ 1270 w 1452"/>
                <a:gd name="T23" fmla="*/ 0 h 1360"/>
                <a:gd name="T24" fmla="*/ 0 w 1452"/>
                <a:gd name="T25" fmla="*/ 0 h 136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452"/>
                <a:gd name="T40" fmla="*/ 0 h 1360"/>
                <a:gd name="T41" fmla="*/ 1452 w 1452"/>
                <a:gd name="T42" fmla="*/ 1360 h 136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452" h="1360">
                  <a:moveTo>
                    <a:pt x="0" y="0"/>
                  </a:moveTo>
                  <a:lnTo>
                    <a:pt x="0" y="1360"/>
                  </a:lnTo>
                  <a:lnTo>
                    <a:pt x="182" y="1360"/>
                  </a:lnTo>
                  <a:lnTo>
                    <a:pt x="363" y="1315"/>
                  </a:lnTo>
                  <a:lnTo>
                    <a:pt x="545" y="1270"/>
                  </a:lnTo>
                  <a:lnTo>
                    <a:pt x="726" y="1179"/>
                  </a:lnTo>
                  <a:lnTo>
                    <a:pt x="862" y="1088"/>
                  </a:lnTo>
                  <a:lnTo>
                    <a:pt x="1089" y="907"/>
                  </a:lnTo>
                  <a:lnTo>
                    <a:pt x="1225" y="725"/>
                  </a:lnTo>
                  <a:lnTo>
                    <a:pt x="1361" y="499"/>
                  </a:lnTo>
                  <a:lnTo>
                    <a:pt x="1452" y="226"/>
                  </a:lnTo>
                  <a:lnTo>
                    <a:pt x="14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DDDDDD"/>
            </a:solidFill>
            <a:ln w="19050">
              <a:solidFill>
                <a:srgbClr val="6666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42" name="Freeform 6"/>
            <p:cNvSpPr>
              <a:spLocks/>
            </p:cNvSpPr>
            <p:nvPr/>
          </p:nvSpPr>
          <p:spPr bwMode="auto">
            <a:xfrm>
              <a:off x="2909" y="2206"/>
              <a:ext cx="1476" cy="1360"/>
            </a:xfrm>
            <a:custGeom>
              <a:avLst/>
              <a:gdLst>
                <a:gd name="T0" fmla="*/ 0 w 1452"/>
                <a:gd name="T1" fmla="*/ 0 h 1360"/>
                <a:gd name="T2" fmla="*/ 0 w 1452"/>
                <a:gd name="T3" fmla="*/ 1360 h 1360"/>
                <a:gd name="T4" fmla="*/ 194 w 1452"/>
                <a:gd name="T5" fmla="*/ 1360 h 1360"/>
                <a:gd name="T6" fmla="*/ 387 w 1452"/>
                <a:gd name="T7" fmla="*/ 1315 h 1360"/>
                <a:gd name="T8" fmla="*/ 581 w 1452"/>
                <a:gd name="T9" fmla="*/ 1270 h 1360"/>
                <a:gd name="T10" fmla="*/ 775 w 1452"/>
                <a:gd name="T11" fmla="*/ 1179 h 1360"/>
                <a:gd name="T12" fmla="*/ 920 w 1452"/>
                <a:gd name="T13" fmla="*/ 1088 h 1360"/>
                <a:gd name="T14" fmla="*/ 1163 w 1452"/>
                <a:gd name="T15" fmla="*/ 907 h 1360"/>
                <a:gd name="T16" fmla="*/ 1308 w 1452"/>
                <a:gd name="T17" fmla="*/ 725 h 1360"/>
                <a:gd name="T18" fmla="*/ 1453 w 1452"/>
                <a:gd name="T19" fmla="*/ 499 h 1360"/>
                <a:gd name="T20" fmla="*/ 1550 w 1452"/>
                <a:gd name="T21" fmla="*/ 226 h 1360"/>
                <a:gd name="T22" fmla="*/ 1550 w 1452"/>
                <a:gd name="T23" fmla="*/ 0 h 1360"/>
                <a:gd name="T24" fmla="*/ 0 w 1452"/>
                <a:gd name="T25" fmla="*/ 0 h 136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1452"/>
                <a:gd name="T40" fmla="*/ 0 h 1360"/>
                <a:gd name="T41" fmla="*/ 1452 w 1452"/>
                <a:gd name="T42" fmla="*/ 1360 h 1360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1452" h="1360">
                  <a:moveTo>
                    <a:pt x="0" y="0"/>
                  </a:moveTo>
                  <a:lnTo>
                    <a:pt x="0" y="1360"/>
                  </a:lnTo>
                  <a:lnTo>
                    <a:pt x="182" y="1360"/>
                  </a:lnTo>
                  <a:lnTo>
                    <a:pt x="363" y="1315"/>
                  </a:lnTo>
                  <a:lnTo>
                    <a:pt x="545" y="1270"/>
                  </a:lnTo>
                  <a:lnTo>
                    <a:pt x="726" y="1179"/>
                  </a:lnTo>
                  <a:lnTo>
                    <a:pt x="862" y="1088"/>
                  </a:lnTo>
                  <a:lnTo>
                    <a:pt x="1089" y="907"/>
                  </a:lnTo>
                  <a:lnTo>
                    <a:pt x="1225" y="725"/>
                  </a:lnTo>
                  <a:lnTo>
                    <a:pt x="1361" y="499"/>
                  </a:lnTo>
                  <a:lnTo>
                    <a:pt x="1452" y="226"/>
                  </a:lnTo>
                  <a:lnTo>
                    <a:pt x="1452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CCFF"/>
            </a:solidFill>
            <a:ln w="19050">
              <a:solidFill>
                <a:srgbClr val="666699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22543" name="Group 7"/>
            <p:cNvGrpSpPr>
              <a:grpSpLocks/>
            </p:cNvGrpSpPr>
            <p:nvPr/>
          </p:nvGrpSpPr>
          <p:grpSpPr bwMode="auto">
            <a:xfrm>
              <a:off x="1474" y="786"/>
              <a:ext cx="2903" cy="2781"/>
              <a:chOff x="1338" y="799"/>
              <a:chExt cx="2903" cy="2781"/>
            </a:xfrm>
          </p:grpSpPr>
          <p:sp>
            <p:nvSpPr>
              <p:cNvPr id="22634" name="Oval 8"/>
              <p:cNvSpPr>
                <a:spLocks noChangeArrowheads="1"/>
              </p:cNvSpPr>
              <p:nvPr/>
            </p:nvSpPr>
            <p:spPr bwMode="auto">
              <a:xfrm>
                <a:off x="1354" y="805"/>
                <a:ext cx="2887" cy="2775"/>
              </a:xfrm>
              <a:prstGeom prst="ellipse">
                <a:avLst/>
              </a:prstGeom>
              <a:noFill/>
              <a:ln w="76200">
                <a:solidFill>
                  <a:srgbClr val="666699"/>
                </a:solidFill>
                <a:round/>
                <a:headEnd/>
                <a:tailEnd/>
              </a:ln>
              <a:effectLst>
                <a:prstShdw prst="shdw17" dist="17961" dir="2700000">
                  <a:srgbClr val="3D3D5C"/>
                </a:prstShdw>
              </a:effec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35" name="Oval 9"/>
              <p:cNvSpPr>
                <a:spLocks noChangeArrowheads="1"/>
              </p:cNvSpPr>
              <p:nvPr/>
            </p:nvSpPr>
            <p:spPr bwMode="auto">
              <a:xfrm>
                <a:off x="1557" y="999"/>
                <a:ext cx="2470" cy="2402"/>
              </a:xfrm>
              <a:prstGeom prst="ellipse">
                <a:avLst/>
              </a:prstGeom>
              <a:noFill/>
              <a:ln w="19050">
                <a:solidFill>
                  <a:srgbClr val="6666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36" name="Oval 10"/>
              <p:cNvSpPr>
                <a:spLocks noChangeArrowheads="1"/>
              </p:cNvSpPr>
              <p:nvPr/>
            </p:nvSpPr>
            <p:spPr bwMode="auto">
              <a:xfrm>
                <a:off x="1733" y="1199"/>
                <a:ext cx="2092" cy="2018"/>
              </a:xfrm>
              <a:prstGeom prst="ellipse">
                <a:avLst/>
              </a:prstGeom>
              <a:noFill/>
              <a:ln w="19050">
                <a:solidFill>
                  <a:srgbClr val="6666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37" name="Oval 11"/>
              <p:cNvSpPr>
                <a:spLocks noChangeArrowheads="1"/>
              </p:cNvSpPr>
              <p:nvPr/>
            </p:nvSpPr>
            <p:spPr bwMode="auto">
              <a:xfrm>
                <a:off x="2021" y="1471"/>
                <a:ext cx="1532" cy="1482"/>
              </a:xfrm>
              <a:prstGeom prst="ellipse">
                <a:avLst/>
              </a:prstGeom>
              <a:noFill/>
              <a:ln w="19050">
                <a:solidFill>
                  <a:srgbClr val="6666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38" name="Oval 12"/>
              <p:cNvSpPr>
                <a:spLocks noChangeArrowheads="1"/>
              </p:cNvSpPr>
              <p:nvPr/>
            </p:nvSpPr>
            <p:spPr bwMode="auto">
              <a:xfrm>
                <a:off x="2293" y="1727"/>
                <a:ext cx="996" cy="962"/>
              </a:xfrm>
              <a:prstGeom prst="ellipse">
                <a:avLst/>
              </a:prstGeom>
              <a:noFill/>
              <a:ln w="19050">
                <a:solidFill>
                  <a:srgbClr val="6666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39" name="Line 13"/>
              <p:cNvSpPr>
                <a:spLocks noChangeShapeType="1"/>
              </p:cNvSpPr>
              <p:nvPr/>
            </p:nvSpPr>
            <p:spPr bwMode="auto">
              <a:xfrm>
                <a:off x="2789" y="799"/>
                <a:ext cx="0" cy="2767"/>
              </a:xfrm>
              <a:prstGeom prst="line">
                <a:avLst/>
              </a:prstGeom>
              <a:noFill/>
              <a:ln w="19050">
                <a:solidFill>
                  <a:srgbClr val="6666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40" name="Line 14"/>
              <p:cNvSpPr>
                <a:spLocks noChangeShapeType="1"/>
              </p:cNvSpPr>
              <p:nvPr/>
            </p:nvSpPr>
            <p:spPr bwMode="auto">
              <a:xfrm>
                <a:off x="1338" y="2205"/>
                <a:ext cx="2903" cy="0"/>
              </a:xfrm>
              <a:prstGeom prst="line">
                <a:avLst/>
              </a:prstGeom>
              <a:noFill/>
              <a:ln w="19050">
                <a:solidFill>
                  <a:srgbClr val="6666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41" name="Line 15"/>
              <p:cNvSpPr>
                <a:spLocks noChangeShapeType="1"/>
              </p:cNvSpPr>
              <p:nvPr/>
            </p:nvSpPr>
            <p:spPr bwMode="auto">
              <a:xfrm>
                <a:off x="2245" y="935"/>
                <a:ext cx="1099" cy="2545"/>
              </a:xfrm>
              <a:prstGeom prst="line">
                <a:avLst/>
              </a:prstGeom>
              <a:noFill/>
              <a:ln w="19050">
                <a:solidFill>
                  <a:srgbClr val="6666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42" name="Line 16"/>
              <p:cNvSpPr>
                <a:spLocks noChangeShapeType="1"/>
              </p:cNvSpPr>
              <p:nvPr/>
            </p:nvSpPr>
            <p:spPr bwMode="auto">
              <a:xfrm flipH="1">
                <a:off x="2245" y="890"/>
                <a:ext cx="1089" cy="2585"/>
              </a:xfrm>
              <a:prstGeom prst="line">
                <a:avLst/>
              </a:prstGeom>
              <a:noFill/>
              <a:ln w="19050">
                <a:solidFill>
                  <a:srgbClr val="6666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43" name="Line 17"/>
              <p:cNvSpPr>
                <a:spLocks noChangeShapeType="1"/>
              </p:cNvSpPr>
              <p:nvPr/>
            </p:nvSpPr>
            <p:spPr bwMode="auto">
              <a:xfrm flipH="1">
                <a:off x="1768" y="1207"/>
                <a:ext cx="2065" cy="1969"/>
              </a:xfrm>
              <a:prstGeom prst="line">
                <a:avLst/>
              </a:prstGeom>
              <a:noFill/>
              <a:ln w="19050">
                <a:solidFill>
                  <a:srgbClr val="6666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44" name="Line 18"/>
              <p:cNvSpPr>
                <a:spLocks noChangeShapeType="1"/>
              </p:cNvSpPr>
              <p:nvPr/>
            </p:nvSpPr>
            <p:spPr bwMode="auto">
              <a:xfrm>
                <a:off x="1791" y="1207"/>
                <a:ext cx="2001" cy="1969"/>
              </a:xfrm>
              <a:prstGeom prst="line">
                <a:avLst/>
              </a:prstGeom>
              <a:noFill/>
              <a:ln w="19050">
                <a:solidFill>
                  <a:srgbClr val="6666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45" name="Line 19"/>
              <p:cNvSpPr>
                <a:spLocks noChangeShapeType="1"/>
              </p:cNvSpPr>
              <p:nvPr/>
            </p:nvSpPr>
            <p:spPr bwMode="auto">
              <a:xfrm flipH="1">
                <a:off x="1474" y="1661"/>
                <a:ext cx="2631" cy="1089"/>
              </a:xfrm>
              <a:prstGeom prst="line">
                <a:avLst/>
              </a:prstGeom>
              <a:noFill/>
              <a:ln w="19050">
                <a:solidFill>
                  <a:srgbClr val="6666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2646" name="Line 20"/>
              <p:cNvSpPr>
                <a:spLocks noChangeShapeType="1"/>
              </p:cNvSpPr>
              <p:nvPr/>
            </p:nvSpPr>
            <p:spPr bwMode="auto">
              <a:xfrm>
                <a:off x="1474" y="1661"/>
                <a:ext cx="2631" cy="1089"/>
              </a:xfrm>
              <a:prstGeom prst="line">
                <a:avLst/>
              </a:prstGeom>
              <a:noFill/>
              <a:ln w="19050">
                <a:solidFill>
                  <a:srgbClr val="6666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</p:grpSp>
        <p:sp>
          <p:nvSpPr>
            <p:cNvPr id="22544" name="Rectangle 21"/>
            <p:cNvSpPr>
              <a:spLocks noChangeArrowheads="1"/>
            </p:cNvSpPr>
            <p:nvPr/>
          </p:nvSpPr>
          <p:spPr bwMode="auto">
            <a:xfrm>
              <a:off x="567" y="1253"/>
              <a:ext cx="859" cy="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>
                  <a:solidFill>
                    <a:srgbClr val="003399"/>
                  </a:solidFill>
                </a:rPr>
                <a:t>Stakeholder Analysis</a:t>
              </a:r>
            </a:p>
          </p:txBody>
        </p:sp>
        <p:sp>
          <p:nvSpPr>
            <p:cNvPr id="22545" name="Rectangle 22"/>
            <p:cNvSpPr>
              <a:spLocks noChangeArrowheads="1"/>
            </p:cNvSpPr>
            <p:nvPr/>
          </p:nvSpPr>
          <p:spPr bwMode="auto">
            <a:xfrm>
              <a:off x="163" y="1774"/>
              <a:ext cx="1172" cy="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>
                  <a:solidFill>
                    <a:srgbClr val="003399"/>
                  </a:solidFill>
                </a:rPr>
                <a:t>Enterprise Architecture Maturity &amp; Diagnostics </a:t>
              </a:r>
            </a:p>
          </p:txBody>
        </p:sp>
        <p:sp>
          <p:nvSpPr>
            <p:cNvPr id="22546" name="Rectangle 24"/>
            <p:cNvSpPr>
              <a:spLocks noChangeArrowheads="1"/>
            </p:cNvSpPr>
            <p:nvPr/>
          </p:nvSpPr>
          <p:spPr bwMode="auto">
            <a:xfrm>
              <a:off x="4696" y="2409"/>
              <a:ext cx="724" cy="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>
                  <a:solidFill>
                    <a:srgbClr val="003399"/>
                  </a:solidFill>
                </a:rPr>
                <a:t>EA Awareness Formulation</a:t>
              </a:r>
            </a:p>
          </p:txBody>
        </p:sp>
        <p:sp>
          <p:nvSpPr>
            <p:cNvPr id="22547" name="Rectangle 25"/>
            <p:cNvSpPr>
              <a:spLocks noChangeArrowheads="1"/>
            </p:cNvSpPr>
            <p:nvPr/>
          </p:nvSpPr>
          <p:spPr bwMode="auto">
            <a:xfrm>
              <a:off x="4474" y="3000"/>
              <a:ext cx="810" cy="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>
                  <a:solidFill>
                    <a:srgbClr val="003399"/>
                  </a:solidFill>
                </a:rPr>
                <a:t>EA Program Definition</a:t>
              </a:r>
            </a:p>
          </p:txBody>
        </p:sp>
        <p:sp>
          <p:nvSpPr>
            <p:cNvPr id="22548" name="Rectangle 26"/>
            <p:cNvSpPr>
              <a:spLocks noChangeArrowheads="1"/>
            </p:cNvSpPr>
            <p:nvPr/>
          </p:nvSpPr>
          <p:spPr bwMode="auto">
            <a:xfrm>
              <a:off x="4018" y="3498"/>
              <a:ext cx="1331" cy="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>
                  <a:solidFill>
                    <a:srgbClr val="003399"/>
                  </a:solidFill>
                </a:rPr>
                <a:t>Vision / Strategic Intent EA Requirements</a:t>
              </a:r>
            </a:p>
          </p:txBody>
        </p:sp>
        <p:sp>
          <p:nvSpPr>
            <p:cNvPr id="22549" name="Rectangle 27"/>
            <p:cNvSpPr>
              <a:spLocks noChangeArrowheads="1"/>
            </p:cNvSpPr>
            <p:nvPr/>
          </p:nvSpPr>
          <p:spPr bwMode="auto">
            <a:xfrm>
              <a:off x="3424" y="3796"/>
              <a:ext cx="1040" cy="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>
                  <a:solidFill>
                    <a:srgbClr val="003399"/>
                  </a:solidFill>
                </a:rPr>
                <a:t>Accelerating Market Knowledge</a:t>
              </a:r>
            </a:p>
          </p:txBody>
        </p:sp>
        <p:sp>
          <p:nvSpPr>
            <p:cNvPr id="22550" name="Rectangle 28"/>
            <p:cNvSpPr>
              <a:spLocks noChangeArrowheads="1"/>
            </p:cNvSpPr>
            <p:nvPr/>
          </p:nvSpPr>
          <p:spPr bwMode="auto">
            <a:xfrm>
              <a:off x="1190" y="3387"/>
              <a:ext cx="835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GB">
                  <a:solidFill>
                    <a:srgbClr val="003399"/>
                  </a:solidFill>
                </a:rPr>
                <a:t>EA Programs &amp; Management</a:t>
              </a:r>
            </a:p>
          </p:txBody>
        </p:sp>
        <p:sp>
          <p:nvSpPr>
            <p:cNvPr id="22551" name="Rectangle 29"/>
            <p:cNvSpPr>
              <a:spLocks noChangeArrowheads="1"/>
            </p:cNvSpPr>
            <p:nvPr/>
          </p:nvSpPr>
          <p:spPr bwMode="auto">
            <a:xfrm>
              <a:off x="1344" y="3793"/>
              <a:ext cx="1290" cy="317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GB">
                  <a:solidFill>
                    <a:srgbClr val="003399"/>
                  </a:solidFill>
                </a:rPr>
                <a:t>Visioning / Mapping </a:t>
              </a:r>
              <a:br>
                <a:rPr lang="en-GB">
                  <a:solidFill>
                    <a:srgbClr val="003399"/>
                  </a:solidFill>
                </a:rPr>
              </a:br>
              <a:r>
                <a:rPr lang="en-GB">
                  <a:solidFill>
                    <a:srgbClr val="003399"/>
                  </a:solidFill>
                </a:rPr>
                <a:t>the Enterprise Architecture Frameworks</a:t>
              </a:r>
            </a:p>
          </p:txBody>
        </p:sp>
        <p:sp>
          <p:nvSpPr>
            <p:cNvPr id="22552" name="Rectangle 30"/>
            <p:cNvSpPr>
              <a:spLocks noChangeArrowheads="1"/>
            </p:cNvSpPr>
            <p:nvPr/>
          </p:nvSpPr>
          <p:spPr bwMode="auto">
            <a:xfrm>
              <a:off x="748" y="2978"/>
              <a:ext cx="706" cy="231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GB">
                  <a:solidFill>
                    <a:srgbClr val="003399"/>
                  </a:solidFill>
                </a:rPr>
                <a:t>EA Modelling &amp; Techniques</a:t>
              </a:r>
            </a:p>
          </p:txBody>
        </p:sp>
        <p:sp>
          <p:nvSpPr>
            <p:cNvPr id="22553" name="Rectangle 31"/>
            <p:cNvSpPr>
              <a:spLocks noChangeArrowheads="1"/>
            </p:cNvSpPr>
            <p:nvPr/>
          </p:nvSpPr>
          <p:spPr bwMode="auto">
            <a:xfrm>
              <a:off x="368" y="2429"/>
              <a:ext cx="952" cy="23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anchor="ctr">
              <a:spAutoFit/>
            </a:bodyPr>
            <a:lstStyle/>
            <a:p>
              <a:pPr algn="l">
                <a:lnSpc>
                  <a:spcPct val="85000"/>
                </a:lnSpc>
              </a:pPr>
              <a:r>
                <a:rPr lang="en-GB">
                  <a:solidFill>
                    <a:srgbClr val="003399"/>
                  </a:solidFill>
                </a:rPr>
                <a:t>Business Case Design &amp; Tracking</a:t>
              </a:r>
            </a:p>
          </p:txBody>
        </p:sp>
        <p:sp>
          <p:nvSpPr>
            <p:cNvPr id="22554" name="Rectangle 32"/>
            <p:cNvSpPr>
              <a:spLocks noChangeArrowheads="1"/>
            </p:cNvSpPr>
            <p:nvPr/>
          </p:nvSpPr>
          <p:spPr bwMode="auto">
            <a:xfrm>
              <a:off x="3377" y="391"/>
              <a:ext cx="955" cy="39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>
                <a:lnSpc>
                  <a:spcPct val="85000"/>
                </a:lnSpc>
                <a:buClr>
                  <a:schemeClr val="tx2"/>
                </a:buClr>
                <a:buFont typeface="Wingdings" pitchFamily="2" charset="2"/>
                <a:buNone/>
              </a:pPr>
              <a:r>
                <a:rPr lang="en-GB">
                  <a:solidFill>
                    <a:srgbClr val="003399"/>
                  </a:solidFill>
                </a:rPr>
                <a:t>Business Technology </a:t>
              </a:r>
              <a:br>
                <a:rPr lang="en-GB">
                  <a:solidFill>
                    <a:srgbClr val="003399"/>
                  </a:solidFill>
                </a:rPr>
              </a:br>
              <a:r>
                <a:rPr lang="en-GB">
                  <a:solidFill>
                    <a:srgbClr val="003399"/>
                  </a:solidFill>
                </a:rPr>
                <a:t>Strategy development</a:t>
              </a:r>
            </a:p>
          </p:txBody>
        </p:sp>
        <p:sp>
          <p:nvSpPr>
            <p:cNvPr id="22555" name="Rectangle 33"/>
            <p:cNvSpPr>
              <a:spLocks noChangeArrowheads="1"/>
            </p:cNvSpPr>
            <p:nvPr/>
          </p:nvSpPr>
          <p:spPr bwMode="auto">
            <a:xfrm>
              <a:off x="1927" y="391"/>
              <a:ext cx="636" cy="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>
                  <a:solidFill>
                    <a:srgbClr val="003399"/>
                  </a:solidFill>
                </a:rPr>
                <a:t>Soft Skills &amp; techniques</a:t>
              </a:r>
            </a:p>
          </p:txBody>
        </p:sp>
        <p:sp>
          <p:nvSpPr>
            <p:cNvPr id="22556" name="Rectangle 34"/>
            <p:cNvSpPr>
              <a:spLocks noChangeArrowheads="1"/>
            </p:cNvSpPr>
            <p:nvPr/>
          </p:nvSpPr>
          <p:spPr bwMode="auto">
            <a:xfrm>
              <a:off x="1036" y="709"/>
              <a:ext cx="892" cy="2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>
                  <a:solidFill>
                    <a:srgbClr val="003399"/>
                  </a:solidFill>
                </a:rPr>
                <a:t>EA Capabilities Development </a:t>
              </a:r>
            </a:p>
          </p:txBody>
        </p:sp>
        <p:sp>
          <p:nvSpPr>
            <p:cNvPr id="22557" name="Text Box 39"/>
            <p:cNvSpPr txBox="1">
              <a:spLocks noChangeArrowheads="1"/>
            </p:cNvSpPr>
            <p:nvPr/>
          </p:nvSpPr>
          <p:spPr bwMode="auto">
            <a:xfrm>
              <a:off x="3968" y="709"/>
              <a:ext cx="999" cy="26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r>
                <a:rPr lang="en-GB">
                  <a:solidFill>
                    <a:srgbClr val="003399"/>
                  </a:solidFill>
                </a:rPr>
                <a:t>Organisational Politics behaviour</a:t>
              </a:r>
            </a:p>
          </p:txBody>
        </p:sp>
        <p:sp>
          <p:nvSpPr>
            <p:cNvPr id="22558" name="Text Box 42"/>
            <p:cNvSpPr txBox="1">
              <a:spLocks noChangeArrowheads="1"/>
            </p:cNvSpPr>
            <p:nvPr/>
          </p:nvSpPr>
          <p:spPr bwMode="auto">
            <a:xfrm>
              <a:off x="2688" y="3303"/>
              <a:ext cx="434" cy="16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schemeClr val="tx1"/>
                  </a:solidFill>
                  <a:latin typeface="Verdana" pitchFamily="34" charset="0"/>
                </a:rPr>
                <a:t>Expert</a:t>
              </a:r>
            </a:p>
          </p:txBody>
        </p:sp>
        <p:sp>
          <p:nvSpPr>
            <p:cNvPr id="22559" name="Text Box 46"/>
            <p:cNvSpPr txBox="1">
              <a:spLocks noChangeArrowheads="1"/>
            </p:cNvSpPr>
            <p:nvPr/>
          </p:nvSpPr>
          <p:spPr bwMode="auto">
            <a:xfrm>
              <a:off x="2688" y="899"/>
              <a:ext cx="434" cy="16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schemeClr val="tx1"/>
                  </a:solidFill>
                  <a:latin typeface="Verdana" pitchFamily="34" charset="0"/>
                </a:rPr>
                <a:t>Expert</a:t>
              </a:r>
            </a:p>
          </p:txBody>
        </p:sp>
        <p:sp>
          <p:nvSpPr>
            <p:cNvPr id="22560" name="Oval 54"/>
            <p:cNvSpPr>
              <a:spLocks noChangeArrowheads="1"/>
            </p:cNvSpPr>
            <p:nvPr/>
          </p:nvSpPr>
          <p:spPr bwMode="auto">
            <a:xfrm>
              <a:off x="1879" y="1496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1" name="Oval 55"/>
            <p:cNvSpPr>
              <a:spLocks noChangeArrowheads="1"/>
            </p:cNvSpPr>
            <p:nvPr/>
          </p:nvSpPr>
          <p:spPr bwMode="auto">
            <a:xfrm>
              <a:off x="1867" y="1967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2" name="Oval 56"/>
            <p:cNvSpPr>
              <a:spLocks noChangeArrowheads="1"/>
            </p:cNvSpPr>
            <p:nvPr/>
          </p:nvSpPr>
          <p:spPr bwMode="auto">
            <a:xfrm>
              <a:off x="1691" y="1938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3" name="Oval 57"/>
            <p:cNvSpPr>
              <a:spLocks noChangeArrowheads="1"/>
            </p:cNvSpPr>
            <p:nvPr/>
          </p:nvSpPr>
          <p:spPr bwMode="auto">
            <a:xfrm>
              <a:off x="2027" y="1596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4" name="Oval 58"/>
            <p:cNvSpPr>
              <a:spLocks noChangeArrowheads="1"/>
            </p:cNvSpPr>
            <p:nvPr/>
          </p:nvSpPr>
          <p:spPr bwMode="auto">
            <a:xfrm>
              <a:off x="3095" y="1176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5" name="Oval 59"/>
            <p:cNvSpPr>
              <a:spLocks noChangeArrowheads="1"/>
            </p:cNvSpPr>
            <p:nvPr/>
          </p:nvSpPr>
          <p:spPr bwMode="auto">
            <a:xfrm>
              <a:off x="2263" y="1766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6" name="Oval 60"/>
            <p:cNvSpPr>
              <a:spLocks noChangeArrowheads="1"/>
            </p:cNvSpPr>
            <p:nvPr/>
          </p:nvSpPr>
          <p:spPr bwMode="auto">
            <a:xfrm>
              <a:off x="2485" y="1556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7" name="Oval 61"/>
            <p:cNvSpPr>
              <a:spLocks noChangeArrowheads="1"/>
            </p:cNvSpPr>
            <p:nvPr/>
          </p:nvSpPr>
          <p:spPr bwMode="auto">
            <a:xfrm>
              <a:off x="2323" y="1322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8" name="Oval 62"/>
            <p:cNvSpPr>
              <a:spLocks noChangeArrowheads="1"/>
            </p:cNvSpPr>
            <p:nvPr/>
          </p:nvSpPr>
          <p:spPr bwMode="auto">
            <a:xfrm>
              <a:off x="2221" y="1154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69" name="Oval 63"/>
            <p:cNvSpPr>
              <a:spLocks noChangeArrowheads="1"/>
            </p:cNvSpPr>
            <p:nvPr/>
          </p:nvSpPr>
          <p:spPr bwMode="auto">
            <a:xfrm>
              <a:off x="2689" y="974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0" name="Oval 64"/>
            <p:cNvSpPr>
              <a:spLocks noChangeArrowheads="1"/>
            </p:cNvSpPr>
            <p:nvPr/>
          </p:nvSpPr>
          <p:spPr bwMode="auto">
            <a:xfrm>
              <a:off x="2707" y="1178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1" name="Oval 65"/>
            <p:cNvSpPr>
              <a:spLocks noChangeArrowheads="1"/>
            </p:cNvSpPr>
            <p:nvPr/>
          </p:nvSpPr>
          <p:spPr bwMode="auto">
            <a:xfrm>
              <a:off x="2761" y="1442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2" name="Oval 66"/>
            <p:cNvSpPr>
              <a:spLocks noChangeArrowheads="1"/>
            </p:cNvSpPr>
            <p:nvPr/>
          </p:nvSpPr>
          <p:spPr bwMode="auto">
            <a:xfrm>
              <a:off x="3037" y="1436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3" name="Text Box 48"/>
            <p:cNvSpPr txBox="1">
              <a:spLocks noChangeArrowheads="1"/>
            </p:cNvSpPr>
            <p:nvPr/>
          </p:nvSpPr>
          <p:spPr bwMode="auto">
            <a:xfrm>
              <a:off x="2593" y="1398"/>
              <a:ext cx="644" cy="16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schemeClr val="tx1"/>
                  </a:solidFill>
                  <a:latin typeface="Verdana" pitchFamily="34" charset="0"/>
                </a:rPr>
                <a:t>Knowledge</a:t>
              </a:r>
            </a:p>
          </p:txBody>
        </p:sp>
        <p:sp>
          <p:nvSpPr>
            <p:cNvPr id="22574" name="Oval 67"/>
            <p:cNvSpPr>
              <a:spLocks noChangeArrowheads="1"/>
            </p:cNvSpPr>
            <p:nvPr/>
          </p:nvSpPr>
          <p:spPr bwMode="auto">
            <a:xfrm>
              <a:off x="2149" y="2042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5" name="Oval 68"/>
            <p:cNvSpPr>
              <a:spLocks noChangeArrowheads="1"/>
            </p:cNvSpPr>
            <p:nvPr/>
          </p:nvSpPr>
          <p:spPr bwMode="auto">
            <a:xfrm>
              <a:off x="3131" y="972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6" name="Oval 69"/>
            <p:cNvSpPr>
              <a:spLocks noChangeArrowheads="1"/>
            </p:cNvSpPr>
            <p:nvPr/>
          </p:nvSpPr>
          <p:spPr bwMode="auto">
            <a:xfrm>
              <a:off x="3173" y="1770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7" name="Oval 70"/>
            <p:cNvSpPr>
              <a:spLocks noChangeArrowheads="1"/>
            </p:cNvSpPr>
            <p:nvPr/>
          </p:nvSpPr>
          <p:spPr bwMode="auto">
            <a:xfrm>
              <a:off x="3323" y="1548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8" name="Oval 71"/>
            <p:cNvSpPr>
              <a:spLocks noChangeArrowheads="1"/>
            </p:cNvSpPr>
            <p:nvPr/>
          </p:nvSpPr>
          <p:spPr bwMode="auto">
            <a:xfrm>
              <a:off x="3461" y="1332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79" name="Oval 72"/>
            <p:cNvSpPr>
              <a:spLocks noChangeArrowheads="1"/>
            </p:cNvSpPr>
            <p:nvPr/>
          </p:nvSpPr>
          <p:spPr bwMode="auto">
            <a:xfrm>
              <a:off x="3593" y="1152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0" name="Oval 73"/>
            <p:cNvSpPr>
              <a:spLocks noChangeArrowheads="1"/>
            </p:cNvSpPr>
            <p:nvPr/>
          </p:nvSpPr>
          <p:spPr bwMode="auto">
            <a:xfrm>
              <a:off x="1697" y="2400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1" name="Oval 74"/>
            <p:cNvSpPr>
              <a:spLocks noChangeArrowheads="1"/>
            </p:cNvSpPr>
            <p:nvPr/>
          </p:nvSpPr>
          <p:spPr bwMode="auto">
            <a:xfrm>
              <a:off x="1865" y="2370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2" name="Oval 75"/>
            <p:cNvSpPr>
              <a:spLocks noChangeArrowheads="1"/>
            </p:cNvSpPr>
            <p:nvPr/>
          </p:nvSpPr>
          <p:spPr bwMode="auto">
            <a:xfrm>
              <a:off x="2159" y="2316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3" name="Oval 76"/>
            <p:cNvSpPr>
              <a:spLocks noChangeArrowheads="1"/>
            </p:cNvSpPr>
            <p:nvPr/>
          </p:nvSpPr>
          <p:spPr bwMode="auto">
            <a:xfrm>
              <a:off x="2423" y="2274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4" name="Oval 77"/>
            <p:cNvSpPr>
              <a:spLocks noChangeArrowheads="1"/>
            </p:cNvSpPr>
            <p:nvPr/>
          </p:nvSpPr>
          <p:spPr bwMode="auto">
            <a:xfrm>
              <a:off x="2411" y="2064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5" name="Oval 78"/>
            <p:cNvSpPr>
              <a:spLocks noChangeArrowheads="1"/>
            </p:cNvSpPr>
            <p:nvPr/>
          </p:nvSpPr>
          <p:spPr bwMode="auto">
            <a:xfrm>
              <a:off x="2495" y="1878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6" name="Oval 79"/>
            <p:cNvSpPr>
              <a:spLocks noChangeArrowheads="1"/>
            </p:cNvSpPr>
            <p:nvPr/>
          </p:nvSpPr>
          <p:spPr bwMode="auto">
            <a:xfrm>
              <a:off x="2627" y="1770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7" name="Oval 80"/>
            <p:cNvSpPr>
              <a:spLocks noChangeArrowheads="1"/>
            </p:cNvSpPr>
            <p:nvPr/>
          </p:nvSpPr>
          <p:spPr bwMode="auto">
            <a:xfrm>
              <a:off x="2801" y="1698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8" name="Oval 81"/>
            <p:cNvSpPr>
              <a:spLocks noChangeArrowheads="1"/>
            </p:cNvSpPr>
            <p:nvPr/>
          </p:nvSpPr>
          <p:spPr bwMode="auto">
            <a:xfrm>
              <a:off x="2993" y="1692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89" name="Text Box 49"/>
            <p:cNvSpPr txBox="1">
              <a:spLocks noChangeArrowheads="1"/>
            </p:cNvSpPr>
            <p:nvPr/>
          </p:nvSpPr>
          <p:spPr bwMode="auto">
            <a:xfrm>
              <a:off x="2735" y="1652"/>
              <a:ext cx="371" cy="16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schemeClr val="tx1"/>
                  </a:solidFill>
                  <a:latin typeface="Verdana" pitchFamily="34" charset="0"/>
                </a:rPr>
                <a:t>None</a:t>
              </a:r>
            </a:p>
          </p:txBody>
        </p:sp>
        <p:sp>
          <p:nvSpPr>
            <p:cNvPr id="22590" name="Text Box 47"/>
            <p:cNvSpPr txBox="1">
              <a:spLocks noChangeArrowheads="1"/>
            </p:cNvSpPr>
            <p:nvPr/>
          </p:nvSpPr>
          <p:spPr bwMode="auto">
            <a:xfrm>
              <a:off x="2591" y="1126"/>
              <a:ext cx="679" cy="16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schemeClr val="tx1"/>
                  </a:solidFill>
                  <a:latin typeface="Verdana" pitchFamily="34" charset="0"/>
                </a:rPr>
                <a:t>Practitioner</a:t>
              </a:r>
            </a:p>
          </p:txBody>
        </p:sp>
        <p:sp>
          <p:nvSpPr>
            <p:cNvPr id="22591" name="Oval 82"/>
            <p:cNvSpPr>
              <a:spLocks noChangeArrowheads="1"/>
            </p:cNvSpPr>
            <p:nvPr/>
          </p:nvSpPr>
          <p:spPr bwMode="auto">
            <a:xfrm>
              <a:off x="2495" y="2436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2" name="Oval 83"/>
            <p:cNvSpPr>
              <a:spLocks noChangeArrowheads="1"/>
            </p:cNvSpPr>
            <p:nvPr/>
          </p:nvSpPr>
          <p:spPr bwMode="auto">
            <a:xfrm>
              <a:off x="2267" y="2586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3" name="Oval 84"/>
            <p:cNvSpPr>
              <a:spLocks noChangeArrowheads="1"/>
            </p:cNvSpPr>
            <p:nvPr/>
          </p:nvSpPr>
          <p:spPr bwMode="auto">
            <a:xfrm>
              <a:off x="2009" y="2718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4" name="Oval 85"/>
            <p:cNvSpPr>
              <a:spLocks noChangeArrowheads="1"/>
            </p:cNvSpPr>
            <p:nvPr/>
          </p:nvSpPr>
          <p:spPr bwMode="auto">
            <a:xfrm>
              <a:off x="1877" y="2838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5" name="Oval 86"/>
            <p:cNvSpPr>
              <a:spLocks noChangeArrowheads="1"/>
            </p:cNvSpPr>
            <p:nvPr/>
          </p:nvSpPr>
          <p:spPr bwMode="auto">
            <a:xfrm>
              <a:off x="2627" y="2562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6" name="Oval 87"/>
            <p:cNvSpPr>
              <a:spLocks noChangeArrowheads="1"/>
            </p:cNvSpPr>
            <p:nvPr/>
          </p:nvSpPr>
          <p:spPr bwMode="auto">
            <a:xfrm>
              <a:off x="2459" y="2778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7" name="Oval 88"/>
            <p:cNvSpPr>
              <a:spLocks noChangeArrowheads="1"/>
            </p:cNvSpPr>
            <p:nvPr/>
          </p:nvSpPr>
          <p:spPr bwMode="auto">
            <a:xfrm>
              <a:off x="2315" y="3006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8" name="Oval 89"/>
            <p:cNvSpPr>
              <a:spLocks noChangeArrowheads="1"/>
            </p:cNvSpPr>
            <p:nvPr/>
          </p:nvSpPr>
          <p:spPr bwMode="auto">
            <a:xfrm>
              <a:off x="2207" y="3156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599" name="Oval 90"/>
            <p:cNvSpPr>
              <a:spLocks noChangeArrowheads="1"/>
            </p:cNvSpPr>
            <p:nvPr/>
          </p:nvSpPr>
          <p:spPr bwMode="auto">
            <a:xfrm>
              <a:off x="2783" y="2634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0" name="Oval 91"/>
            <p:cNvSpPr>
              <a:spLocks noChangeArrowheads="1"/>
            </p:cNvSpPr>
            <p:nvPr/>
          </p:nvSpPr>
          <p:spPr bwMode="auto">
            <a:xfrm>
              <a:off x="2753" y="2898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1" name="Oval 92"/>
            <p:cNvSpPr>
              <a:spLocks noChangeArrowheads="1"/>
            </p:cNvSpPr>
            <p:nvPr/>
          </p:nvSpPr>
          <p:spPr bwMode="auto">
            <a:xfrm>
              <a:off x="2693" y="3156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2" name="Oval 93"/>
            <p:cNvSpPr>
              <a:spLocks noChangeArrowheads="1"/>
            </p:cNvSpPr>
            <p:nvPr/>
          </p:nvSpPr>
          <p:spPr bwMode="auto">
            <a:xfrm>
              <a:off x="2669" y="3336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3" name="Oval 94"/>
            <p:cNvSpPr>
              <a:spLocks noChangeArrowheads="1"/>
            </p:cNvSpPr>
            <p:nvPr/>
          </p:nvSpPr>
          <p:spPr bwMode="auto">
            <a:xfrm>
              <a:off x="2993" y="2640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4" name="Oval 95"/>
            <p:cNvSpPr>
              <a:spLocks noChangeArrowheads="1"/>
            </p:cNvSpPr>
            <p:nvPr/>
          </p:nvSpPr>
          <p:spPr bwMode="auto">
            <a:xfrm>
              <a:off x="3047" y="2898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5" name="Oval 96"/>
            <p:cNvSpPr>
              <a:spLocks noChangeArrowheads="1"/>
            </p:cNvSpPr>
            <p:nvPr/>
          </p:nvSpPr>
          <p:spPr bwMode="auto">
            <a:xfrm>
              <a:off x="3089" y="3168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6" name="Oval 97"/>
            <p:cNvSpPr>
              <a:spLocks noChangeArrowheads="1"/>
            </p:cNvSpPr>
            <p:nvPr/>
          </p:nvSpPr>
          <p:spPr bwMode="auto">
            <a:xfrm>
              <a:off x="3125" y="3342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7" name="Oval 98"/>
            <p:cNvSpPr>
              <a:spLocks noChangeArrowheads="1"/>
            </p:cNvSpPr>
            <p:nvPr/>
          </p:nvSpPr>
          <p:spPr bwMode="auto">
            <a:xfrm>
              <a:off x="3185" y="2568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8" name="Oval 99"/>
            <p:cNvSpPr>
              <a:spLocks noChangeArrowheads="1"/>
            </p:cNvSpPr>
            <p:nvPr/>
          </p:nvSpPr>
          <p:spPr bwMode="auto">
            <a:xfrm>
              <a:off x="3329" y="2778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09" name="Oval 100"/>
            <p:cNvSpPr>
              <a:spLocks noChangeArrowheads="1"/>
            </p:cNvSpPr>
            <p:nvPr/>
          </p:nvSpPr>
          <p:spPr bwMode="auto">
            <a:xfrm>
              <a:off x="3479" y="2994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0" name="Oval 101"/>
            <p:cNvSpPr>
              <a:spLocks noChangeArrowheads="1"/>
            </p:cNvSpPr>
            <p:nvPr/>
          </p:nvSpPr>
          <p:spPr bwMode="auto">
            <a:xfrm>
              <a:off x="3581" y="3168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1" name="Oval 102"/>
            <p:cNvSpPr>
              <a:spLocks noChangeArrowheads="1"/>
            </p:cNvSpPr>
            <p:nvPr/>
          </p:nvSpPr>
          <p:spPr bwMode="auto">
            <a:xfrm>
              <a:off x="3311" y="2442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2" name="Oval 103"/>
            <p:cNvSpPr>
              <a:spLocks noChangeArrowheads="1"/>
            </p:cNvSpPr>
            <p:nvPr/>
          </p:nvSpPr>
          <p:spPr bwMode="auto">
            <a:xfrm>
              <a:off x="3533" y="2586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3" name="Oval 104"/>
            <p:cNvSpPr>
              <a:spLocks noChangeArrowheads="1"/>
            </p:cNvSpPr>
            <p:nvPr/>
          </p:nvSpPr>
          <p:spPr bwMode="auto">
            <a:xfrm>
              <a:off x="3749" y="2724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4" name="Oval 105"/>
            <p:cNvSpPr>
              <a:spLocks noChangeArrowheads="1"/>
            </p:cNvSpPr>
            <p:nvPr/>
          </p:nvSpPr>
          <p:spPr bwMode="auto">
            <a:xfrm>
              <a:off x="3929" y="2832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5" name="Text Box 43"/>
            <p:cNvSpPr txBox="1">
              <a:spLocks noChangeArrowheads="1"/>
            </p:cNvSpPr>
            <p:nvPr/>
          </p:nvSpPr>
          <p:spPr bwMode="auto">
            <a:xfrm>
              <a:off x="2591" y="3076"/>
              <a:ext cx="679" cy="16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schemeClr val="tx1"/>
                  </a:solidFill>
                  <a:latin typeface="Verdana" pitchFamily="34" charset="0"/>
                </a:rPr>
                <a:t>Practitioner</a:t>
              </a:r>
            </a:p>
          </p:txBody>
        </p:sp>
        <p:sp>
          <p:nvSpPr>
            <p:cNvPr id="22616" name="Text Box 44"/>
            <p:cNvSpPr txBox="1">
              <a:spLocks noChangeArrowheads="1"/>
            </p:cNvSpPr>
            <p:nvPr/>
          </p:nvSpPr>
          <p:spPr bwMode="auto">
            <a:xfrm>
              <a:off x="2593" y="2804"/>
              <a:ext cx="644" cy="16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schemeClr val="tx1"/>
                  </a:solidFill>
                  <a:latin typeface="Verdana" pitchFamily="34" charset="0"/>
                </a:rPr>
                <a:t>Knowledge</a:t>
              </a:r>
            </a:p>
          </p:txBody>
        </p:sp>
        <p:sp>
          <p:nvSpPr>
            <p:cNvPr id="22617" name="Text Box 45"/>
            <p:cNvSpPr txBox="1">
              <a:spLocks noChangeArrowheads="1"/>
            </p:cNvSpPr>
            <p:nvPr/>
          </p:nvSpPr>
          <p:spPr bwMode="auto">
            <a:xfrm>
              <a:off x="2735" y="2577"/>
              <a:ext cx="371" cy="16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 wrap="none">
              <a:spAutoFit/>
            </a:bodyPr>
            <a:lstStyle/>
            <a:p>
              <a:r>
                <a:rPr lang="en-GB">
                  <a:solidFill>
                    <a:schemeClr val="tx1"/>
                  </a:solidFill>
                  <a:latin typeface="Verdana" pitchFamily="34" charset="0"/>
                </a:rPr>
                <a:t>None</a:t>
              </a:r>
            </a:p>
          </p:txBody>
        </p:sp>
        <p:sp>
          <p:nvSpPr>
            <p:cNvPr id="22618" name="Oval 106"/>
            <p:cNvSpPr>
              <a:spLocks noChangeArrowheads="1"/>
            </p:cNvSpPr>
            <p:nvPr/>
          </p:nvSpPr>
          <p:spPr bwMode="auto">
            <a:xfrm>
              <a:off x="3383" y="2256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19" name="Oval 107"/>
            <p:cNvSpPr>
              <a:spLocks noChangeArrowheads="1"/>
            </p:cNvSpPr>
            <p:nvPr/>
          </p:nvSpPr>
          <p:spPr bwMode="auto">
            <a:xfrm>
              <a:off x="3641" y="2316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20" name="Oval 108"/>
            <p:cNvSpPr>
              <a:spLocks noChangeArrowheads="1"/>
            </p:cNvSpPr>
            <p:nvPr/>
          </p:nvSpPr>
          <p:spPr bwMode="auto">
            <a:xfrm>
              <a:off x="3917" y="2358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21" name="Oval 109"/>
            <p:cNvSpPr>
              <a:spLocks noChangeArrowheads="1"/>
            </p:cNvSpPr>
            <p:nvPr/>
          </p:nvSpPr>
          <p:spPr bwMode="auto">
            <a:xfrm>
              <a:off x="4097" y="2424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22" name="Oval 110"/>
            <p:cNvSpPr>
              <a:spLocks noChangeArrowheads="1"/>
            </p:cNvSpPr>
            <p:nvPr/>
          </p:nvSpPr>
          <p:spPr bwMode="auto">
            <a:xfrm>
              <a:off x="3395" y="2082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23" name="Oval 111"/>
            <p:cNvSpPr>
              <a:spLocks noChangeArrowheads="1"/>
            </p:cNvSpPr>
            <p:nvPr/>
          </p:nvSpPr>
          <p:spPr bwMode="auto">
            <a:xfrm>
              <a:off x="3647" y="2028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24" name="Oval 112"/>
            <p:cNvSpPr>
              <a:spLocks noChangeArrowheads="1"/>
            </p:cNvSpPr>
            <p:nvPr/>
          </p:nvSpPr>
          <p:spPr bwMode="auto">
            <a:xfrm>
              <a:off x="3917" y="1974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25" name="Oval 113"/>
            <p:cNvSpPr>
              <a:spLocks noChangeArrowheads="1"/>
            </p:cNvSpPr>
            <p:nvPr/>
          </p:nvSpPr>
          <p:spPr bwMode="auto">
            <a:xfrm>
              <a:off x="4115" y="1944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26" name="Oval 114"/>
            <p:cNvSpPr>
              <a:spLocks noChangeArrowheads="1"/>
            </p:cNvSpPr>
            <p:nvPr/>
          </p:nvSpPr>
          <p:spPr bwMode="auto">
            <a:xfrm>
              <a:off x="3311" y="1890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27" name="Oval 115"/>
            <p:cNvSpPr>
              <a:spLocks noChangeArrowheads="1"/>
            </p:cNvSpPr>
            <p:nvPr/>
          </p:nvSpPr>
          <p:spPr bwMode="auto">
            <a:xfrm>
              <a:off x="3533" y="1758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28" name="Oval 116"/>
            <p:cNvSpPr>
              <a:spLocks noChangeArrowheads="1"/>
            </p:cNvSpPr>
            <p:nvPr/>
          </p:nvSpPr>
          <p:spPr bwMode="auto">
            <a:xfrm>
              <a:off x="3761" y="1608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29" name="Oval 117"/>
            <p:cNvSpPr>
              <a:spLocks noChangeArrowheads="1"/>
            </p:cNvSpPr>
            <p:nvPr/>
          </p:nvSpPr>
          <p:spPr bwMode="auto">
            <a:xfrm>
              <a:off x="3929" y="1500"/>
              <a:ext cx="46" cy="46"/>
            </a:xfrm>
            <a:prstGeom prst="ellipse">
              <a:avLst/>
            </a:prstGeom>
            <a:solidFill>
              <a:srgbClr val="9999FF"/>
            </a:solidFill>
            <a:ln w="19050">
              <a:solidFill>
                <a:srgbClr val="6666FF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2630" name="Text Box 35"/>
            <p:cNvSpPr txBox="1">
              <a:spLocks noChangeArrowheads="1"/>
            </p:cNvSpPr>
            <p:nvPr/>
          </p:nvSpPr>
          <p:spPr bwMode="auto">
            <a:xfrm>
              <a:off x="2936" y="1839"/>
              <a:ext cx="907" cy="28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 sz="1000">
                  <a:solidFill>
                    <a:schemeClr val="tx1"/>
                  </a:solidFill>
                  <a:latin typeface="Verdana" pitchFamily="34" charset="0"/>
                </a:rPr>
                <a:t>Core EA Competences</a:t>
              </a:r>
            </a:p>
          </p:txBody>
        </p:sp>
        <p:sp>
          <p:nvSpPr>
            <p:cNvPr id="22631" name="Text Box 36"/>
            <p:cNvSpPr txBox="1">
              <a:spLocks noChangeArrowheads="1"/>
            </p:cNvSpPr>
            <p:nvPr/>
          </p:nvSpPr>
          <p:spPr bwMode="auto">
            <a:xfrm>
              <a:off x="2952" y="2244"/>
              <a:ext cx="907" cy="28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 sz="1000">
                  <a:solidFill>
                    <a:schemeClr val="tx1"/>
                  </a:solidFill>
                  <a:latin typeface="Verdana" pitchFamily="34" charset="0"/>
                </a:rPr>
                <a:t>EA Creation Competences</a:t>
              </a:r>
            </a:p>
          </p:txBody>
        </p:sp>
        <p:sp>
          <p:nvSpPr>
            <p:cNvPr id="22632" name="Text Box 38"/>
            <p:cNvSpPr txBox="1">
              <a:spLocks noChangeArrowheads="1"/>
            </p:cNvSpPr>
            <p:nvPr/>
          </p:nvSpPr>
          <p:spPr bwMode="auto">
            <a:xfrm>
              <a:off x="1959" y="2260"/>
              <a:ext cx="907" cy="282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GB" sz="1000">
                  <a:solidFill>
                    <a:schemeClr val="tx1"/>
                  </a:solidFill>
                  <a:latin typeface="Verdana" pitchFamily="34" charset="0"/>
                </a:rPr>
                <a:t>EA Delivery Competences</a:t>
              </a:r>
            </a:p>
          </p:txBody>
        </p:sp>
        <p:sp>
          <p:nvSpPr>
            <p:cNvPr id="22633" name="Text Box 37"/>
            <p:cNvSpPr txBox="1">
              <a:spLocks noChangeArrowheads="1"/>
            </p:cNvSpPr>
            <p:nvPr/>
          </p:nvSpPr>
          <p:spPr bwMode="auto">
            <a:xfrm>
              <a:off x="1996" y="1852"/>
              <a:ext cx="908" cy="283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r"/>
              <a:r>
                <a:rPr lang="en-GB" sz="1000">
                  <a:solidFill>
                    <a:schemeClr val="tx1"/>
                  </a:solidFill>
                  <a:latin typeface="Verdana" pitchFamily="34" charset="0"/>
                </a:rPr>
                <a:t>Functional EA Competences</a:t>
              </a:r>
            </a:p>
          </p:txBody>
        </p:sp>
      </p:grpSp>
      <p:sp>
        <p:nvSpPr>
          <p:cNvPr id="22532" name="Text Box 40"/>
          <p:cNvSpPr txBox="1">
            <a:spLocks noChangeArrowheads="1"/>
          </p:cNvSpPr>
          <p:nvPr/>
        </p:nvSpPr>
        <p:spPr bwMode="auto">
          <a:xfrm>
            <a:off x="6732588" y="2355850"/>
            <a:ext cx="1738312" cy="3968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GB" sz="1000">
                <a:solidFill>
                  <a:srgbClr val="003399"/>
                </a:solidFill>
              </a:rPr>
              <a:t>Domain and pertinent technologies knowledge</a:t>
            </a:r>
          </a:p>
        </p:txBody>
      </p:sp>
      <p:sp>
        <p:nvSpPr>
          <p:cNvPr id="22533" name="Rectangle 23"/>
          <p:cNvSpPr>
            <a:spLocks noChangeArrowheads="1"/>
          </p:cNvSpPr>
          <p:nvPr/>
        </p:nvSpPr>
        <p:spPr bwMode="auto">
          <a:xfrm>
            <a:off x="6948488" y="3289300"/>
            <a:ext cx="1651000" cy="2444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l"/>
            <a:r>
              <a:rPr lang="en-GB" sz="1000">
                <a:solidFill>
                  <a:srgbClr val="003399"/>
                </a:solidFill>
              </a:rPr>
              <a:t>Leadership &amp; Coaching</a:t>
            </a:r>
          </a:p>
        </p:txBody>
      </p:sp>
      <p:sp>
        <p:nvSpPr>
          <p:cNvPr id="22534" name="Date Placeholder 114"/>
          <p:cNvSpPr>
            <a:spLocks noGrp="1"/>
          </p:cNvSpPr>
          <p:nvPr>
            <p:ph type="dt" sz="quarter" idx="11"/>
          </p:nvPr>
        </p:nvSpPr>
        <p:spPr>
          <a:noFill/>
        </p:spPr>
        <p:txBody>
          <a:bodyPr/>
          <a:lstStyle/>
          <a:p>
            <a:fld id="{F0E2730F-D214-428D-B64E-DF198B5AF771}" type="datetime1">
              <a:rPr lang="en-US" smtClean="0">
                <a:latin typeface="Arial" charset="0"/>
              </a:rPr>
              <a:pPr/>
              <a:t>8/23/2009</a:t>
            </a:fld>
            <a:endParaRPr lang="nl-NL" smtClean="0">
              <a:latin typeface="Arial" charset="0"/>
            </a:endParaRPr>
          </a:p>
        </p:txBody>
      </p:sp>
      <p:sp>
        <p:nvSpPr>
          <p:cNvPr id="22535" name="Footer Placeholder 11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nl-NL" smtClean="0">
                <a:latin typeface="Arial" charset="0"/>
              </a:rPr>
              <a:t>(C) Copyrights IFEAD, 2001-2008</a:t>
            </a:r>
          </a:p>
        </p:txBody>
      </p:sp>
      <p:sp>
        <p:nvSpPr>
          <p:cNvPr id="22536" name="Slide Number Placeholder 116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41154102-4E69-443B-A83D-5E7584B13EEA}" type="slidenum">
              <a:rPr lang="nl-NL" smtClean="0">
                <a:latin typeface="Arial" charset="0"/>
              </a:rPr>
              <a:pPr/>
              <a:t>5</a:t>
            </a:fld>
            <a:endParaRPr lang="nl-NL" smtClean="0">
              <a:latin typeface="Arial" charset="0"/>
            </a:endParaRPr>
          </a:p>
        </p:txBody>
      </p:sp>
      <p:sp>
        <p:nvSpPr>
          <p:cNvPr id="22537" name="Freeform 118"/>
          <p:cNvSpPr>
            <a:spLocks noChangeArrowheads="1"/>
          </p:cNvSpPr>
          <p:nvPr/>
        </p:nvSpPr>
        <p:spPr bwMode="auto">
          <a:xfrm>
            <a:off x="2794000" y="2171700"/>
            <a:ext cx="3390900" cy="3365500"/>
          </a:xfrm>
          <a:custGeom>
            <a:avLst/>
            <a:gdLst>
              <a:gd name="T0" fmla="*/ 2019300 w 3390900"/>
              <a:gd name="T1" fmla="*/ 0 h 3365500"/>
              <a:gd name="T2" fmla="*/ 2654300 w 3390900"/>
              <a:gd name="T3" fmla="*/ 279400 h 3365500"/>
              <a:gd name="T4" fmla="*/ 2882900 w 3390900"/>
              <a:gd name="T5" fmla="*/ 914400 h 3365500"/>
              <a:gd name="T6" fmla="*/ 3390900 w 3390900"/>
              <a:gd name="T7" fmla="*/ 1397000 h 3365500"/>
              <a:gd name="T8" fmla="*/ 3365500 w 3390900"/>
              <a:gd name="T9" fmla="*/ 2070100 h 3365500"/>
              <a:gd name="T10" fmla="*/ 3111500 w 3390900"/>
              <a:gd name="T11" fmla="*/ 2654300 h 3365500"/>
              <a:gd name="T12" fmla="*/ 2628900 w 3390900"/>
              <a:gd name="T13" fmla="*/ 3124200 h 3365500"/>
              <a:gd name="T14" fmla="*/ 1943100 w 3390900"/>
              <a:gd name="T15" fmla="*/ 3086100 h 3365500"/>
              <a:gd name="T16" fmla="*/ 1358900 w 3390900"/>
              <a:gd name="T17" fmla="*/ 3365500 h 3365500"/>
              <a:gd name="T18" fmla="*/ 685800 w 3390900"/>
              <a:gd name="T19" fmla="*/ 3086100 h 3365500"/>
              <a:gd name="T20" fmla="*/ 457200 w 3390900"/>
              <a:gd name="T21" fmla="*/ 2463800 h 3365500"/>
              <a:gd name="T22" fmla="*/ 228600 w 3390900"/>
              <a:gd name="T23" fmla="*/ 1968500 h 3365500"/>
              <a:gd name="T24" fmla="*/ 0 w 3390900"/>
              <a:gd name="T25" fmla="*/ 1384300 h 3365500"/>
              <a:gd name="T26" fmla="*/ 469900 w 3390900"/>
              <a:gd name="T27" fmla="*/ 889000 h 3365500"/>
              <a:gd name="T28" fmla="*/ 749300 w 3390900"/>
              <a:gd name="T29" fmla="*/ 254000 h 3365500"/>
              <a:gd name="T30" fmla="*/ 1397000 w 3390900"/>
              <a:gd name="T31" fmla="*/ 0 h 3365500"/>
              <a:gd name="T32" fmla="*/ 2019300 w 3390900"/>
              <a:gd name="T33" fmla="*/ 0 h 336550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3390900"/>
              <a:gd name="T52" fmla="*/ 0 h 3365500"/>
              <a:gd name="T53" fmla="*/ 3390900 w 3390900"/>
              <a:gd name="T54" fmla="*/ 3365500 h 3365500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3390900" h="3365500">
                <a:moveTo>
                  <a:pt x="2019300" y="0"/>
                </a:moveTo>
                <a:lnTo>
                  <a:pt x="2654300" y="279400"/>
                </a:lnTo>
                <a:lnTo>
                  <a:pt x="2882900" y="914400"/>
                </a:lnTo>
                <a:lnTo>
                  <a:pt x="3390900" y="1397000"/>
                </a:lnTo>
                <a:lnTo>
                  <a:pt x="3365500" y="2070100"/>
                </a:lnTo>
                <a:lnTo>
                  <a:pt x="3111500" y="2654300"/>
                </a:lnTo>
                <a:lnTo>
                  <a:pt x="2628900" y="3124200"/>
                </a:lnTo>
                <a:lnTo>
                  <a:pt x="1943100" y="3086100"/>
                </a:lnTo>
                <a:lnTo>
                  <a:pt x="1358900" y="3365500"/>
                </a:lnTo>
                <a:lnTo>
                  <a:pt x="685800" y="3086100"/>
                </a:lnTo>
                <a:lnTo>
                  <a:pt x="457200" y="2463800"/>
                </a:lnTo>
                <a:lnTo>
                  <a:pt x="228600" y="1968500"/>
                </a:lnTo>
                <a:lnTo>
                  <a:pt x="0" y="1384300"/>
                </a:lnTo>
                <a:lnTo>
                  <a:pt x="469900" y="889000"/>
                </a:lnTo>
                <a:lnTo>
                  <a:pt x="749300" y="254000"/>
                </a:lnTo>
                <a:lnTo>
                  <a:pt x="1397000" y="0"/>
                </a:lnTo>
                <a:lnTo>
                  <a:pt x="2019300" y="0"/>
                </a:lnTo>
                <a:close/>
              </a:path>
            </a:pathLst>
          </a:custGeom>
          <a:noFill/>
          <a:ln w="50800" algn="ctr">
            <a:solidFill>
              <a:srgbClr val="FFC000"/>
            </a:solidFill>
            <a:round/>
            <a:headEnd/>
            <a:tailEnd/>
          </a:ln>
        </p:spPr>
        <p:txBody>
          <a:bodyPr wrap="none" lIns="90000" tIns="72000" rIns="90000" bIns="72000" anchor="ctr"/>
          <a:lstStyle/>
          <a:p>
            <a:pPr eaLnBrk="1" hangingPunct="1">
              <a:spcBef>
                <a:spcPct val="40000"/>
              </a:spcBef>
              <a:buClr>
                <a:schemeClr val="bg2"/>
              </a:buClr>
            </a:pPr>
            <a:endParaRPr lang="en-US" sz="16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sz="1800" dirty="0" smtClean="0">
                <a:latin typeface="+mn-lt"/>
              </a:rPr>
              <a:t>Enterprise Architects Competence Profile – Level 4</a:t>
            </a:r>
            <a:endParaRPr lang="en-US" sz="1800" dirty="0">
              <a:latin typeface="+mn-lt"/>
            </a:endParaRPr>
          </a:p>
        </p:txBody>
      </p:sp>
      <p:sp>
        <p:nvSpPr>
          <p:cNvPr id="23555" name="Date Placeholder 3"/>
          <p:cNvSpPr>
            <a:spLocks noGrp="1"/>
          </p:cNvSpPr>
          <p:nvPr>
            <p:ph type="dt" sz="quarter" idx="11"/>
          </p:nvPr>
        </p:nvSpPr>
        <p:spPr>
          <a:noFill/>
        </p:spPr>
        <p:txBody>
          <a:bodyPr/>
          <a:lstStyle/>
          <a:p>
            <a:fld id="{D5C74899-E0CD-48AA-846B-8A72DB1A5154}" type="datetime1">
              <a:rPr lang="en-US" smtClean="0">
                <a:latin typeface="Arial" charset="0"/>
              </a:rPr>
              <a:pPr/>
              <a:t>8/23/2009</a:t>
            </a:fld>
            <a:endParaRPr lang="nl-NL" smtClean="0">
              <a:latin typeface="Arial" charset="0"/>
            </a:endParaRPr>
          </a:p>
        </p:txBody>
      </p:sp>
      <p:sp>
        <p:nvSpPr>
          <p:cNvPr id="23556" name="Footer Placehold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nl-NL" smtClean="0">
                <a:latin typeface="Arial" charset="0"/>
              </a:rPr>
              <a:t>(C) Copyrights IFEAD, 2001-2008</a:t>
            </a:r>
          </a:p>
        </p:txBody>
      </p:sp>
      <p:grpSp>
        <p:nvGrpSpPr>
          <p:cNvPr id="23557" name="Group 120"/>
          <p:cNvGrpSpPr>
            <a:grpSpLocks/>
          </p:cNvGrpSpPr>
          <p:nvPr/>
        </p:nvGrpSpPr>
        <p:grpSpPr bwMode="auto">
          <a:xfrm>
            <a:off x="795338" y="1344613"/>
            <a:ext cx="7956550" cy="5227637"/>
            <a:chOff x="795338" y="1344613"/>
            <a:chExt cx="7956550" cy="5227637"/>
          </a:xfrm>
        </p:grpSpPr>
        <p:grpSp>
          <p:nvGrpSpPr>
            <p:cNvPr id="23561" name="Group 123"/>
            <p:cNvGrpSpPr>
              <a:grpSpLocks/>
            </p:cNvGrpSpPr>
            <p:nvPr/>
          </p:nvGrpSpPr>
          <p:grpSpPr bwMode="auto">
            <a:xfrm>
              <a:off x="795338" y="1344613"/>
              <a:ext cx="7313612" cy="5227637"/>
              <a:chOff x="163" y="391"/>
              <a:chExt cx="5257" cy="3719"/>
            </a:xfrm>
          </p:grpSpPr>
          <p:pic>
            <p:nvPicPr>
              <p:cNvPr id="23564" name="Picture 2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 l="28960" t="24504" r="13228" b="3780"/>
              <a:stretch>
                <a:fillRect/>
              </a:stretch>
            </p:blipFill>
            <p:spPr bwMode="auto">
              <a:xfrm>
                <a:off x="1063" y="482"/>
                <a:ext cx="3813" cy="34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</p:pic>
          <p:sp>
            <p:nvSpPr>
              <p:cNvPr id="23565" name="Freeform 3"/>
              <p:cNvSpPr>
                <a:spLocks/>
              </p:cNvSpPr>
              <p:nvPr/>
            </p:nvSpPr>
            <p:spPr bwMode="auto">
              <a:xfrm flipH="1" flipV="1">
                <a:off x="1505" y="820"/>
                <a:ext cx="1420" cy="1386"/>
              </a:xfrm>
              <a:custGeom>
                <a:avLst/>
                <a:gdLst>
                  <a:gd name="T0" fmla="*/ 0 w 1452"/>
                  <a:gd name="T1" fmla="*/ 0 h 1360"/>
                  <a:gd name="T2" fmla="*/ 0 w 1452"/>
                  <a:gd name="T3" fmla="*/ 1467 h 1360"/>
                  <a:gd name="T4" fmla="*/ 166 w 1452"/>
                  <a:gd name="T5" fmla="*/ 1467 h 1360"/>
                  <a:gd name="T6" fmla="*/ 332 w 1452"/>
                  <a:gd name="T7" fmla="*/ 1419 h 1360"/>
                  <a:gd name="T8" fmla="*/ 499 w 1452"/>
                  <a:gd name="T9" fmla="*/ 1370 h 1360"/>
                  <a:gd name="T10" fmla="*/ 664 w 1452"/>
                  <a:gd name="T11" fmla="*/ 1272 h 1360"/>
                  <a:gd name="T12" fmla="*/ 788 w 1452"/>
                  <a:gd name="T13" fmla="*/ 1174 h 1360"/>
                  <a:gd name="T14" fmla="*/ 997 w 1452"/>
                  <a:gd name="T15" fmla="*/ 978 h 1360"/>
                  <a:gd name="T16" fmla="*/ 1121 w 1452"/>
                  <a:gd name="T17" fmla="*/ 782 h 1360"/>
                  <a:gd name="T18" fmla="*/ 1245 w 1452"/>
                  <a:gd name="T19" fmla="*/ 539 h 1360"/>
                  <a:gd name="T20" fmla="*/ 1328 w 1452"/>
                  <a:gd name="T21" fmla="*/ 243 h 1360"/>
                  <a:gd name="T22" fmla="*/ 1328 w 1452"/>
                  <a:gd name="T23" fmla="*/ 0 h 1360"/>
                  <a:gd name="T24" fmla="*/ 0 w 1452"/>
                  <a:gd name="T25" fmla="*/ 0 h 136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452"/>
                  <a:gd name="T40" fmla="*/ 0 h 1360"/>
                  <a:gd name="T41" fmla="*/ 1452 w 1452"/>
                  <a:gd name="T42" fmla="*/ 1360 h 136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452" h="1360">
                    <a:moveTo>
                      <a:pt x="0" y="0"/>
                    </a:moveTo>
                    <a:lnTo>
                      <a:pt x="0" y="1360"/>
                    </a:lnTo>
                    <a:lnTo>
                      <a:pt x="182" y="1360"/>
                    </a:lnTo>
                    <a:lnTo>
                      <a:pt x="363" y="1315"/>
                    </a:lnTo>
                    <a:lnTo>
                      <a:pt x="545" y="1270"/>
                    </a:lnTo>
                    <a:lnTo>
                      <a:pt x="726" y="1179"/>
                    </a:lnTo>
                    <a:lnTo>
                      <a:pt x="862" y="1088"/>
                    </a:lnTo>
                    <a:lnTo>
                      <a:pt x="1089" y="907"/>
                    </a:lnTo>
                    <a:lnTo>
                      <a:pt x="1225" y="725"/>
                    </a:lnTo>
                    <a:lnTo>
                      <a:pt x="1361" y="499"/>
                    </a:lnTo>
                    <a:lnTo>
                      <a:pt x="1452" y="226"/>
                    </a:lnTo>
                    <a:lnTo>
                      <a:pt x="14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99"/>
              </a:solidFill>
              <a:ln w="19050">
                <a:solidFill>
                  <a:srgbClr val="6666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66" name="Freeform 4"/>
              <p:cNvSpPr>
                <a:spLocks/>
              </p:cNvSpPr>
              <p:nvPr/>
            </p:nvSpPr>
            <p:spPr bwMode="auto">
              <a:xfrm rot="5400000">
                <a:off x="1541" y="2184"/>
                <a:ext cx="1364" cy="1408"/>
              </a:xfrm>
              <a:custGeom>
                <a:avLst/>
                <a:gdLst>
                  <a:gd name="T0" fmla="*/ 0 w 1452"/>
                  <a:gd name="T1" fmla="*/ 0 h 1360"/>
                  <a:gd name="T2" fmla="*/ 0 w 1452"/>
                  <a:gd name="T3" fmla="*/ 1562 h 1360"/>
                  <a:gd name="T4" fmla="*/ 142 w 1452"/>
                  <a:gd name="T5" fmla="*/ 1562 h 1360"/>
                  <a:gd name="T6" fmla="*/ 283 w 1452"/>
                  <a:gd name="T7" fmla="*/ 1510 h 1360"/>
                  <a:gd name="T8" fmla="*/ 425 w 1452"/>
                  <a:gd name="T9" fmla="*/ 1459 h 1360"/>
                  <a:gd name="T10" fmla="*/ 566 w 1452"/>
                  <a:gd name="T11" fmla="*/ 1355 h 1360"/>
                  <a:gd name="T12" fmla="*/ 672 w 1452"/>
                  <a:gd name="T13" fmla="*/ 1250 h 1360"/>
                  <a:gd name="T14" fmla="*/ 848 w 1452"/>
                  <a:gd name="T15" fmla="*/ 1042 h 1360"/>
                  <a:gd name="T16" fmla="*/ 953 w 1452"/>
                  <a:gd name="T17" fmla="*/ 833 h 1360"/>
                  <a:gd name="T18" fmla="*/ 1060 w 1452"/>
                  <a:gd name="T19" fmla="*/ 574 h 1360"/>
                  <a:gd name="T20" fmla="*/ 1130 w 1452"/>
                  <a:gd name="T21" fmla="*/ 260 h 1360"/>
                  <a:gd name="T22" fmla="*/ 1130 w 1452"/>
                  <a:gd name="T23" fmla="*/ 0 h 1360"/>
                  <a:gd name="T24" fmla="*/ 0 w 1452"/>
                  <a:gd name="T25" fmla="*/ 0 h 136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452"/>
                  <a:gd name="T40" fmla="*/ 0 h 1360"/>
                  <a:gd name="T41" fmla="*/ 1452 w 1452"/>
                  <a:gd name="T42" fmla="*/ 1360 h 136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452" h="1360">
                    <a:moveTo>
                      <a:pt x="0" y="0"/>
                    </a:moveTo>
                    <a:lnTo>
                      <a:pt x="0" y="1360"/>
                    </a:lnTo>
                    <a:lnTo>
                      <a:pt x="182" y="1360"/>
                    </a:lnTo>
                    <a:lnTo>
                      <a:pt x="363" y="1315"/>
                    </a:lnTo>
                    <a:lnTo>
                      <a:pt x="545" y="1270"/>
                    </a:lnTo>
                    <a:lnTo>
                      <a:pt x="726" y="1179"/>
                    </a:lnTo>
                    <a:lnTo>
                      <a:pt x="862" y="1088"/>
                    </a:lnTo>
                    <a:lnTo>
                      <a:pt x="1089" y="907"/>
                    </a:lnTo>
                    <a:lnTo>
                      <a:pt x="1225" y="725"/>
                    </a:lnTo>
                    <a:lnTo>
                      <a:pt x="1361" y="499"/>
                    </a:lnTo>
                    <a:lnTo>
                      <a:pt x="1452" y="226"/>
                    </a:lnTo>
                    <a:lnTo>
                      <a:pt x="14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FF99"/>
              </a:solidFill>
              <a:ln w="19050">
                <a:solidFill>
                  <a:srgbClr val="6666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67" name="Freeform 5"/>
              <p:cNvSpPr>
                <a:spLocks/>
              </p:cNvSpPr>
              <p:nvPr/>
            </p:nvSpPr>
            <p:spPr bwMode="auto">
              <a:xfrm rot="-5400000">
                <a:off x="2939" y="772"/>
                <a:ext cx="1404" cy="1464"/>
              </a:xfrm>
              <a:custGeom>
                <a:avLst/>
                <a:gdLst>
                  <a:gd name="T0" fmla="*/ 0 w 1452"/>
                  <a:gd name="T1" fmla="*/ 0 h 1360"/>
                  <a:gd name="T2" fmla="*/ 0 w 1452"/>
                  <a:gd name="T3" fmla="*/ 1827 h 1360"/>
                  <a:gd name="T4" fmla="*/ 159 w 1452"/>
                  <a:gd name="T5" fmla="*/ 1827 h 1360"/>
                  <a:gd name="T6" fmla="*/ 317 w 1452"/>
                  <a:gd name="T7" fmla="*/ 1766 h 1360"/>
                  <a:gd name="T8" fmla="*/ 477 w 1452"/>
                  <a:gd name="T9" fmla="*/ 1706 h 1360"/>
                  <a:gd name="T10" fmla="*/ 635 w 1452"/>
                  <a:gd name="T11" fmla="*/ 1582 h 1360"/>
                  <a:gd name="T12" fmla="*/ 753 w 1452"/>
                  <a:gd name="T13" fmla="*/ 1461 h 1360"/>
                  <a:gd name="T14" fmla="*/ 951 w 1452"/>
                  <a:gd name="T15" fmla="*/ 1217 h 1360"/>
                  <a:gd name="T16" fmla="*/ 1071 w 1452"/>
                  <a:gd name="T17" fmla="*/ 973 h 1360"/>
                  <a:gd name="T18" fmla="*/ 1189 w 1452"/>
                  <a:gd name="T19" fmla="*/ 670 h 1360"/>
                  <a:gd name="T20" fmla="*/ 1270 w 1452"/>
                  <a:gd name="T21" fmla="*/ 304 h 1360"/>
                  <a:gd name="T22" fmla="*/ 1270 w 1452"/>
                  <a:gd name="T23" fmla="*/ 0 h 1360"/>
                  <a:gd name="T24" fmla="*/ 0 w 1452"/>
                  <a:gd name="T25" fmla="*/ 0 h 136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452"/>
                  <a:gd name="T40" fmla="*/ 0 h 1360"/>
                  <a:gd name="T41" fmla="*/ 1452 w 1452"/>
                  <a:gd name="T42" fmla="*/ 1360 h 136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452" h="1360">
                    <a:moveTo>
                      <a:pt x="0" y="0"/>
                    </a:moveTo>
                    <a:lnTo>
                      <a:pt x="0" y="1360"/>
                    </a:lnTo>
                    <a:lnTo>
                      <a:pt x="182" y="1360"/>
                    </a:lnTo>
                    <a:lnTo>
                      <a:pt x="363" y="1315"/>
                    </a:lnTo>
                    <a:lnTo>
                      <a:pt x="545" y="1270"/>
                    </a:lnTo>
                    <a:lnTo>
                      <a:pt x="726" y="1179"/>
                    </a:lnTo>
                    <a:lnTo>
                      <a:pt x="862" y="1088"/>
                    </a:lnTo>
                    <a:lnTo>
                      <a:pt x="1089" y="907"/>
                    </a:lnTo>
                    <a:lnTo>
                      <a:pt x="1225" y="725"/>
                    </a:lnTo>
                    <a:lnTo>
                      <a:pt x="1361" y="499"/>
                    </a:lnTo>
                    <a:lnTo>
                      <a:pt x="1452" y="226"/>
                    </a:lnTo>
                    <a:lnTo>
                      <a:pt x="14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DDDDD"/>
              </a:solidFill>
              <a:ln w="19050">
                <a:solidFill>
                  <a:srgbClr val="6666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68" name="Freeform 6"/>
              <p:cNvSpPr>
                <a:spLocks/>
              </p:cNvSpPr>
              <p:nvPr/>
            </p:nvSpPr>
            <p:spPr bwMode="auto">
              <a:xfrm>
                <a:off x="2909" y="2206"/>
                <a:ext cx="1476" cy="1360"/>
              </a:xfrm>
              <a:custGeom>
                <a:avLst/>
                <a:gdLst>
                  <a:gd name="T0" fmla="*/ 0 w 1452"/>
                  <a:gd name="T1" fmla="*/ 0 h 1360"/>
                  <a:gd name="T2" fmla="*/ 0 w 1452"/>
                  <a:gd name="T3" fmla="*/ 1360 h 1360"/>
                  <a:gd name="T4" fmla="*/ 194 w 1452"/>
                  <a:gd name="T5" fmla="*/ 1360 h 1360"/>
                  <a:gd name="T6" fmla="*/ 387 w 1452"/>
                  <a:gd name="T7" fmla="*/ 1315 h 1360"/>
                  <a:gd name="T8" fmla="*/ 581 w 1452"/>
                  <a:gd name="T9" fmla="*/ 1270 h 1360"/>
                  <a:gd name="T10" fmla="*/ 775 w 1452"/>
                  <a:gd name="T11" fmla="*/ 1179 h 1360"/>
                  <a:gd name="T12" fmla="*/ 920 w 1452"/>
                  <a:gd name="T13" fmla="*/ 1088 h 1360"/>
                  <a:gd name="T14" fmla="*/ 1163 w 1452"/>
                  <a:gd name="T15" fmla="*/ 907 h 1360"/>
                  <a:gd name="T16" fmla="*/ 1308 w 1452"/>
                  <a:gd name="T17" fmla="*/ 725 h 1360"/>
                  <a:gd name="T18" fmla="*/ 1453 w 1452"/>
                  <a:gd name="T19" fmla="*/ 499 h 1360"/>
                  <a:gd name="T20" fmla="*/ 1550 w 1452"/>
                  <a:gd name="T21" fmla="*/ 226 h 1360"/>
                  <a:gd name="T22" fmla="*/ 1550 w 1452"/>
                  <a:gd name="T23" fmla="*/ 0 h 1360"/>
                  <a:gd name="T24" fmla="*/ 0 w 1452"/>
                  <a:gd name="T25" fmla="*/ 0 h 136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452"/>
                  <a:gd name="T40" fmla="*/ 0 h 1360"/>
                  <a:gd name="T41" fmla="*/ 1452 w 1452"/>
                  <a:gd name="T42" fmla="*/ 1360 h 136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452" h="1360">
                    <a:moveTo>
                      <a:pt x="0" y="0"/>
                    </a:moveTo>
                    <a:lnTo>
                      <a:pt x="0" y="1360"/>
                    </a:lnTo>
                    <a:lnTo>
                      <a:pt x="182" y="1360"/>
                    </a:lnTo>
                    <a:lnTo>
                      <a:pt x="363" y="1315"/>
                    </a:lnTo>
                    <a:lnTo>
                      <a:pt x="545" y="1270"/>
                    </a:lnTo>
                    <a:lnTo>
                      <a:pt x="726" y="1179"/>
                    </a:lnTo>
                    <a:lnTo>
                      <a:pt x="862" y="1088"/>
                    </a:lnTo>
                    <a:lnTo>
                      <a:pt x="1089" y="907"/>
                    </a:lnTo>
                    <a:lnTo>
                      <a:pt x="1225" y="725"/>
                    </a:lnTo>
                    <a:lnTo>
                      <a:pt x="1361" y="499"/>
                    </a:lnTo>
                    <a:lnTo>
                      <a:pt x="1452" y="226"/>
                    </a:lnTo>
                    <a:lnTo>
                      <a:pt x="14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CFF"/>
              </a:solidFill>
              <a:ln w="19050">
                <a:solidFill>
                  <a:srgbClr val="6666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3569" name="Group 7"/>
              <p:cNvGrpSpPr>
                <a:grpSpLocks/>
              </p:cNvGrpSpPr>
              <p:nvPr/>
            </p:nvGrpSpPr>
            <p:grpSpPr bwMode="auto">
              <a:xfrm>
                <a:off x="1474" y="786"/>
                <a:ext cx="2903" cy="2781"/>
                <a:chOff x="1338" y="799"/>
                <a:chExt cx="2903" cy="2781"/>
              </a:xfrm>
            </p:grpSpPr>
            <p:sp>
              <p:nvSpPr>
                <p:cNvPr id="23660" name="Oval 8"/>
                <p:cNvSpPr>
                  <a:spLocks noChangeArrowheads="1"/>
                </p:cNvSpPr>
                <p:nvPr/>
              </p:nvSpPr>
              <p:spPr bwMode="auto">
                <a:xfrm>
                  <a:off x="1354" y="805"/>
                  <a:ext cx="2887" cy="2775"/>
                </a:xfrm>
                <a:prstGeom prst="ellipse">
                  <a:avLst/>
                </a:prstGeom>
                <a:noFill/>
                <a:ln w="76200">
                  <a:solidFill>
                    <a:srgbClr val="666699"/>
                  </a:solidFill>
                  <a:round/>
                  <a:headEnd/>
                  <a:tailEnd/>
                </a:ln>
                <a:effectLst>
                  <a:prstShdw prst="shdw17" dist="17961" dir="2700000">
                    <a:srgbClr val="3D3D5C"/>
                  </a:prstShdw>
                </a:effec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61" name="Oval 9"/>
                <p:cNvSpPr>
                  <a:spLocks noChangeArrowheads="1"/>
                </p:cNvSpPr>
                <p:nvPr/>
              </p:nvSpPr>
              <p:spPr bwMode="auto">
                <a:xfrm>
                  <a:off x="1557" y="999"/>
                  <a:ext cx="2470" cy="2402"/>
                </a:xfrm>
                <a:prstGeom prst="ellips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62" name="Oval 10"/>
                <p:cNvSpPr>
                  <a:spLocks noChangeArrowheads="1"/>
                </p:cNvSpPr>
                <p:nvPr/>
              </p:nvSpPr>
              <p:spPr bwMode="auto">
                <a:xfrm>
                  <a:off x="1733" y="1199"/>
                  <a:ext cx="2092" cy="2018"/>
                </a:xfrm>
                <a:prstGeom prst="ellips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63" name="Oval 11"/>
                <p:cNvSpPr>
                  <a:spLocks noChangeArrowheads="1"/>
                </p:cNvSpPr>
                <p:nvPr/>
              </p:nvSpPr>
              <p:spPr bwMode="auto">
                <a:xfrm>
                  <a:off x="2021" y="1471"/>
                  <a:ext cx="1532" cy="1482"/>
                </a:xfrm>
                <a:prstGeom prst="ellips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64" name="Oval 12"/>
                <p:cNvSpPr>
                  <a:spLocks noChangeArrowheads="1"/>
                </p:cNvSpPr>
                <p:nvPr/>
              </p:nvSpPr>
              <p:spPr bwMode="auto">
                <a:xfrm>
                  <a:off x="2293" y="1727"/>
                  <a:ext cx="996" cy="962"/>
                </a:xfrm>
                <a:prstGeom prst="ellips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65" name="Line 13"/>
                <p:cNvSpPr>
                  <a:spLocks noChangeShapeType="1"/>
                </p:cNvSpPr>
                <p:nvPr/>
              </p:nvSpPr>
              <p:spPr bwMode="auto">
                <a:xfrm>
                  <a:off x="2789" y="799"/>
                  <a:ext cx="0" cy="2767"/>
                </a:xfrm>
                <a:prstGeom prst="lin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66" name="Line 14"/>
                <p:cNvSpPr>
                  <a:spLocks noChangeShapeType="1"/>
                </p:cNvSpPr>
                <p:nvPr/>
              </p:nvSpPr>
              <p:spPr bwMode="auto">
                <a:xfrm>
                  <a:off x="1338" y="2205"/>
                  <a:ext cx="2903" cy="0"/>
                </a:xfrm>
                <a:prstGeom prst="lin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67" name="Line 15"/>
                <p:cNvSpPr>
                  <a:spLocks noChangeShapeType="1"/>
                </p:cNvSpPr>
                <p:nvPr/>
              </p:nvSpPr>
              <p:spPr bwMode="auto">
                <a:xfrm>
                  <a:off x="2245" y="935"/>
                  <a:ext cx="1099" cy="2545"/>
                </a:xfrm>
                <a:prstGeom prst="lin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68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2245" y="890"/>
                  <a:ext cx="1089" cy="2585"/>
                </a:xfrm>
                <a:prstGeom prst="lin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69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1768" y="1207"/>
                  <a:ext cx="2065" cy="1969"/>
                </a:xfrm>
                <a:prstGeom prst="lin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70" name="Line 18"/>
                <p:cNvSpPr>
                  <a:spLocks noChangeShapeType="1"/>
                </p:cNvSpPr>
                <p:nvPr/>
              </p:nvSpPr>
              <p:spPr bwMode="auto">
                <a:xfrm>
                  <a:off x="1791" y="1207"/>
                  <a:ext cx="2001" cy="1969"/>
                </a:xfrm>
                <a:prstGeom prst="lin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71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1474" y="1661"/>
                  <a:ext cx="2631" cy="1089"/>
                </a:xfrm>
                <a:prstGeom prst="lin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3672" name="Line 20"/>
                <p:cNvSpPr>
                  <a:spLocks noChangeShapeType="1"/>
                </p:cNvSpPr>
                <p:nvPr/>
              </p:nvSpPr>
              <p:spPr bwMode="auto">
                <a:xfrm>
                  <a:off x="1474" y="1661"/>
                  <a:ext cx="2631" cy="1089"/>
                </a:xfrm>
                <a:prstGeom prst="lin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3570" name="Rectangle 21"/>
              <p:cNvSpPr>
                <a:spLocks noChangeArrowheads="1"/>
              </p:cNvSpPr>
              <p:nvPr/>
            </p:nvSpPr>
            <p:spPr bwMode="auto">
              <a:xfrm>
                <a:off x="567" y="1253"/>
                <a:ext cx="859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>
                    <a:solidFill>
                      <a:srgbClr val="003399"/>
                    </a:solidFill>
                  </a:rPr>
                  <a:t>Stakeholder Analysis</a:t>
                </a:r>
              </a:p>
            </p:txBody>
          </p:sp>
          <p:sp>
            <p:nvSpPr>
              <p:cNvPr id="23571" name="Rectangle 22"/>
              <p:cNvSpPr>
                <a:spLocks noChangeArrowheads="1"/>
              </p:cNvSpPr>
              <p:nvPr/>
            </p:nvSpPr>
            <p:spPr bwMode="auto">
              <a:xfrm>
                <a:off x="163" y="1774"/>
                <a:ext cx="1172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>
                    <a:solidFill>
                      <a:srgbClr val="003399"/>
                    </a:solidFill>
                  </a:rPr>
                  <a:t>Enterprise Architecture Maturity &amp; Diagnostics </a:t>
                </a:r>
              </a:p>
            </p:txBody>
          </p:sp>
          <p:sp>
            <p:nvSpPr>
              <p:cNvPr id="23572" name="Rectangle 24"/>
              <p:cNvSpPr>
                <a:spLocks noChangeArrowheads="1"/>
              </p:cNvSpPr>
              <p:nvPr/>
            </p:nvSpPr>
            <p:spPr bwMode="auto">
              <a:xfrm>
                <a:off x="4696" y="2409"/>
                <a:ext cx="724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>
                    <a:solidFill>
                      <a:srgbClr val="003399"/>
                    </a:solidFill>
                  </a:rPr>
                  <a:t>EA Awareness Formulation</a:t>
                </a:r>
              </a:p>
            </p:txBody>
          </p:sp>
          <p:sp>
            <p:nvSpPr>
              <p:cNvPr id="23573" name="Rectangle 25"/>
              <p:cNvSpPr>
                <a:spLocks noChangeArrowheads="1"/>
              </p:cNvSpPr>
              <p:nvPr/>
            </p:nvSpPr>
            <p:spPr bwMode="auto">
              <a:xfrm>
                <a:off x="4474" y="3000"/>
                <a:ext cx="810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>
                    <a:solidFill>
                      <a:srgbClr val="003399"/>
                    </a:solidFill>
                  </a:rPr>
                  <a:t>EA Program Definition</a:t>
                </a:r>
              </a:p>
            </p:txBody>
          </p:sp>
          <p:sp>
            <p:nvSpPr>
              <p:cNvPr id="23574" name="Rectangle 26"/>
              <p:cNvSpPr>
                <a:spLocks noChangeArrowheads="1"/>
              </p:cNvSpPr>
              <p:nvPr/>
            </p:nvSpPr>
            <p:spPr bwMode="auto">
              <a:xfrm>
                <a:off x="4018" y="3498"/>
                <a:ext cx="1331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>
                    <a:solidFill>
                      <a:srgbClr val="003399"/>
                    </a:solidFill>
                  </a:rPr>
                  <a:t>Vision / Strategic Intent EA Requirements</a:t>
                </a:r>
              </a:p>
            </p:txBody>
          </p:sp>
          <p:sp>
            <p:nvSpPr>
              <p:cNvPr id="23575" name="Rectangle 27"/>
              <p:cNvSpPr>
                <a:spLocks noChangeArrowheads="1"/>
              </p:cNvSpPr>
              <p:nvPr/>
            </p:nvSpPr>
            <p:spPr bwMode="auto">
              <a:xfrm>
                <a:off x="3424" y="3796"/>
                <a:ext cx="1040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>
                    <a:solidFill>
                      <a:srgbClr val="003399"/>
                    </a:solidFill>
                  </a:rPr>
                  <a:t>Accelerating Market Knowledge</a:t>
                </a:r>
              </a:p>
            </p:txBody>
          </p:sp>
          <p:sp>
            <p:nvSpPr>
              <p:cNvPr id="23576" name="Rectangle 28"/>
              <p:cNvSpPr>
                <a:spLocks noChangeArrowheads="1"/>
              </p:cNvSpPr>
              <p:nvPr/>
            </p:nvSpPr>
            <p:spPr bwMode="auto">
              <a:xfrm>
                <a:off x="1190" y="3387"/>
                <a:ext cx="835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l">
                  <a:lnSpc>
                    <a:spcPct val="85000"/>
                  </a:lnSpc>
                </a:pPr>
                <a:r>
                  <a:rPr lang="en-GB">
                    <a:solidFill>
                      <a:srgbClr val="003399"/>
                    </a:solidFill>
                  </a:rPr>
                  <a:t>EA Programs &amp; Management</a:t>
                </a:r>
              </a:p>
            </p:txBody>
          </p:sp>
          <p:sp>
            <p:nvSpPr>
              <p:cNvPr id="23577" name="Rectangle 29"/>
              <p:cNvSpPr>
                <a:spLocks noChangeArrowheads="1"/>
              </p:cNvSpPr>
              <p:nvPr/>
            </p:nvSpPr>
            <p:spPr bwMode="auto">
              <a:xfrm>
                <a:off x="1344" y="3793"/>
                <a:ext cx="1290" cy="31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l">
                  <a:lnSpc>
                    <a:spcPct val="85000"/>
                  </a:lnSpc>
                </a:pPr>
                <a:r>
                  <a:rPr lang="en-GB">
                    <a:solidFill>
                      <a:srgbClr val="003399"/>
                    </a:solidFill>
                  </a:rPr>
                  <a:t>Visioning / Mapping </a:t>
                </a:r>
                <a:br>
                  <a:rPr lang="en-GB">
                    <a:solidFill>
                      <a:srgbClr val="003399"/>
                    </a:solidFill>
                  </a:rPr>
                </a:br>
                <a:r>
                  <a:rPr lang="en-GB">
                    <a:solidFill>
                      <a:srgbClr val="003399"/>
                    </a:solidFill>
                  </a:rPr>
                  <a:t>the Enterprise Architecture Frameworks</a:t>
                </a:r>
              </a:p>
            </p:txBody>
          </p:sp>
          <p:sp>
            <p:nvSpPr>
              <p:cNvPr id="23578" name="Rectangle 30"/>
              <p:cNvSpPr>
                <a:spLocks noChangeArrowheads="1"/>
              </p:cNvSpPr>
              <p:nvPr/>
            </p:nvSpPr>
            <p:spPr bwMode="auto">
              <a:xfrm>
                <a:off x="748" y="2978"/>
                <a:ext cx="706" cy="23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l">
                  <a:lnSpc>
                    <a:spcPct val="85000"/>
                  </a:lnSpc>
                </a:pPr>
                <a:r>
                  <a:rPr lang="en-GB">
                    <a:solidFill>
                      <a:srgbClr val="003399"/>
                    </a:solidFill>
                  </a:rPr>
                  <a:t>EA Modelling &amp; Techniques</a:t>
                </a:r>
              </a:p>
            </p:txBody>
          </p:sp>
          <p:sp>
            <p:nvSpPr>
              <p:cNvPr id="23579" name="Rectangle 31"/>
              <p:cNvSpPr>
                <a:spLocks noChangeArrowheads="1"/>
              </p:cNvSpPr>
              <p:nvPr/>
            </p:nvSpPr>
            <p:spPr bwMode="auto">
              <a:xfrm>
                <a:off x="368" y="2429"/>
                <a:ext cx="952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l">
                  <a:lnSpc>
                    <a:spcPct val="85000"/>
                  </a:lnSpc>
                </a:pPr>
                <a:r>
                  <a:rPr lang="en-GB">
                    <a:solidFill>
                      <a:srgbClr val="003399"/>
                    </a:solidFill>
                  </a:rPr>
                  <a:t>Business Case Design &amp; Tracking</a:t>
                </a:r>
              </a:p>
            </p:txBody>
          </p:sp>
          <p:sp>
            <p:nvSpPr>
              <p:cNvPr id="23580" name="Rectangle 32"/>
              <p:cNvSpPr>
                <a:spLocks noChangeArrowheads="1"/>
              </p:cNvSpPr>
              <p:nvPr/>
            </p:nvSpPr>
            <p:spPr bwMode="auto">
              <a:xfrm>
                <a:off x="3377" y="391"/>
                <a:ext cx="955" cy="3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lnSpc>
                    <a:spcPct val="85000"/>
                  </a:lnSpc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GB">
                    <a:solidFill>
                      <a:srgbClr val="003399"/>
                    </a:solidFill>
                  </a:rPr>
                  <a:t>Business Technology </a:t>
                </a:r>
                <a:br>
                  <a:rPr lang="en-GB">
                    <a:solidFill>
                      <a:srgbClr val="003399"/>
                    </a:solidFill>
                  </a:rPr>
                </a:br>
                <a:r>
                  <a:rPr lang="en-GB">
                    <a:solidFill>
                      <a:srgbClr val="003399"/>
                    </a:solidFill>
                  </a:rPr>
                  <a:t>Strategy development</a:t>
                </a:r>
              </a:p>
            </p:txBody>
          </p:sp>
          <p:sp>
            <p:nvSpPr>
              <p:cNvPr id="23581" name="Rectangle 33"/>
              <p:cNvSpPr>
                <a:spLocks noChangeArrowheads="1"/>
              </p:cNvSpPr>
              <p:nvPr/>
            </p:nvSpPr>
            <p:spPr bwMode="auto">
              <a:xfrm>
                <a:off x="1927" y="391"/>
                <a:ext cx="636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>
                    <a:solidFill>
                      <a:srgbClr val="003399"/>
                    </a:solidFill>
                  </a:rPr>
                  <a:t>Soft Skills &amp; techniques</a:t>
                </a:r>
              </a:p>
            </p:txBody>
          </p:sp>
          <p:sp>
            <p:nvSpPr>
              <p:cNvPr id="23582" name="Rectangle 34"/>
              <p:cNvSpPr>
                <a:spLocks noChangeArrowheads="1"/>
              </p:cNvSpPr>
              <p:nvPr/>
            </p:nvSpPr>
            <p:spPr bwMode="auto">
              <a:xfrm>
                <a:off x="1036" y="709"/>
                <a:ext cx="892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>
                    <a:solidFill>
                      <a:srgbClr val="003399"/>
                    </a:solidFill>
                  </a:rPr>
                  <a:t>EA Capabilities Development </a:t>
                </a:r>
              </a:p>
            </p:txBody>
          </p:sp>
          <p:sp>
            <p:nvSpPr>
              <p:cNvPr id="23583" name="Text Box 39"/>
              <p:cNvSpPr txBox="1">
                <a:spLocks noChangeArrowheads="1"/>
              </p:cNvSpPr>
              <p:nvPr/>
            </p:nvSpPr>
            <p:spPr bwMode="auto">
              <a:xfrm>
                <a:off x="3968" y="709"/>
                <a:ext cx="999" cy="2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GB">
                    <a:solidFill>
                      <a:srgbClr val="003399"/>
                    </a:solidFill>
                  </a:rPr>
                  <a:t>Organisational Politics behaviour</a:t>
                </a:r>
              </a:p>
            </p:txBody>
          </p:sp>
          <p:sp>
            <p:nvSpPr>
              <p:cNvPr id="23584" name="Text Box 42"/>
              <p:cNvSpPr txBox="1">
                <a:spLocks noChangeArrowheads="1"/>
              </p:cNvSpPr>
              <p:nvPr/>
            </p:nvSpPr>
            <p:spPr bwMode="auto">
              <a:xfrm>
                <a:off x="2688" y="3303"/>
                <a:ext cx="434" cy="1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>
                    <a:solidFill>
                      <a:schemeClr val="tx1"/>
                    </a:solidFill>
                    <a:latin typeface="Verdana" pitchFamily="34" charset="0"/>
                  </a:rPr>
                  <a:t>Expert</a:t>
                </a:r>
              </a:p>
            </p:txBody>
          </p:sp>
          <p:sp>
            <p:nvSpPr>
              <p:cNvPr id="23585" name="Text Box 46"/>
              <p:cNvSpPr txBox="1">
                <a:spLocks noChangeArrowheads="1"/>
              </p:cNvSpPr>
              <p:nvPr/>
            </p:nvSpPr>
            <p:spPr bwMode="auto">
              <a:xfrm>
                <a:off x="2688" y="899"/>
                <a:ext cx="434" cy="1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>
                    <a:solidFill>
                      <a:schemeClr val="tx1"/>
                    </a:solidFill>
                    <a:latin typeface="Verdana" pitchFamily="34" charset="0"/>
                  </a:rPr>
                  <a:t>Expert</a:t>
                </a:r>
              </a:p>
            </p:txBody>
          </p:sp>
          <p:sp>
            <p:nvSpPr>
              <p:cNvPr id="23586" name="Oval 54"/>
              <p:cNvSpPr>
                <a:spLocks noChangeArrowheads="1"/>
              </p:cNvSpPr>
              <p:nvPr/>
            </p:nvSpPr>
            <p:spPr bwMode="auto">
              <a:xfrm>
                <a:off x="1879" y="149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7" name="Oval 55"/>
              <p:cNvSpPr>
                <a:spLocks noChangeArrowheads="1"/>
              </p:cNvSpPr>
              <p:nvPr/>
            </p:nvSpPr>
            <p:spPr bwMode="auto">
              <a:xfrm>
                <a:off x="1867" y="1967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8" name="Oval 56"/>
              <p:cNvSpPr>
                <a:spLocks noChangeArrowheads="1"/>
              </p:cNvSpPr>
              <p:nvPr/>
            </p:nvSpPr>
            <p:spPr bwMode="auto">
              <a:xfrm>
                <a:off x="1691" y="193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89" name="Oval 57"/>
              <p:cNvSpPr>
                <a:spLocks noChangeArrowheads="1"/>
              </p:cNvSpPr>
              <p:nvPr/>
            </p:nvSpPr>
            <p:spPr bwMode="auto">
              <a:xfrm>
                <a:off x="2027" y="159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0" name="Oval 58"/>
              <p:cNvSpPr>
                <a:spLocks noChangeArrowheads="1"/>
              </p:cNvSpPr>
              <p:nvPr/>
            </p:nvSpPr>
            <p:spPr bwMode="auto">
              <a:xfrm>
                <a:off x="3095" y="117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1" name="Oval 59"/>
              <p:cNvSpPr>
                <a:spLocks noChangeArrowheads="1"/>
              </p:cNvSpPr>
              <p:nvPr/>
            </p:nvSpPr>
            <p:spPr bwMode="auto">
              <a:xfrm>
                <a:off x="2263" y="176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2" name="Oval 60"/>
              <p:cNvSpPr>
                <a:spLocks noChangeArrowheads="1"/>
              </p:cNvSpPr>
              <p:nvPr/>
            </p:nvSpPr>
            <p:spPr bwMode="auto">
              <a:xfrm>
                <a:off x="2485" y="155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3" name="Oval 61"/>
              <p:cNvSpPr>
                <a:spLocks noChangeArrowheads="1"/>
              </p:cNvSpPr>
              <p:nvPr/>
            </p:nvSpPr>
            <p:spPr bwMode="auto">
              <a:xfrm>
                <a:off x="2323" y="132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4" name="Oval 62"/>
              <p:cNvSpPr>
                <a:spLocks noChangeArrowheads="1"/>
              </p:cNvSpPr>
              <p:nvPr/>
            </p:nvSpPr>
            <p:spPr bwMode="auto">
              <a:xfrm>
                <a:off x="2221" y="1154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5" name="Oval 63"/>
              <p:cNvSpPr>
                <a:spLocks noChangeArrowheads="1"/>
              </p:cNvSpPr>
              <p:nvPr/>
            </p:nvSpPr>
            <p:spPr bwMode="auto">
              <a:xfrm>
                <a:off x="2689" y="974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6" name="Oval 64"/>
              <p:cNvSpPr>
                <a:spLocks noChangeArrowheads="1"/>
              </p:cNvSpPr>
              <p:nvPr/>
            </p:nvSpPr>
            <p:spPr bwMode="auto">
              <a:xfrm>
                <a:off x="2707" y="117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7" name="Oval 65"/>
              <p:cNvSpPr>
                <a:spLocks noChangeArrowheads="1"/>
              </p:cNvSpPr>
              <p:nvPr/>
            </p:nvSpPr>
            <p:spPr bwMode="auto">
              <a:xfrm>
                <a:off x="2761" y="144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8" name="Oval 66"/>
              <p:cNvSpPr>
                <a:spLocks noChangeArrowheads="1"/>
              </p:cNvSpPr>
              <p:nvPr/>
            </p:nvSpPr>
            <p:spPr bwMode="auto">
              <a:xfrm>
                <a:off x="3037" y="143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599" name="Text Box 48"/>
              <p:cNvSpPr txBox="1">
                <a:spLocks noChangeArrowheads="1"/>
              </p:cNvSpPr>
              <p:nvPr/>
            </p:nvSpPr>
            <p:spPr bwMode="auto">
              <a:xfrm>
                <a:off x="2593" y="1398"/>
                <a:ext cx="644" cy="1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>
                    <a:solidFill>
                      <a:schemeClr val="tx1"/>
                    </a:solidFill>
                    <a:latin typeface="Verdana" pitchFamily="34" charset="0"/>
                  </a:rPr>
                  <a:t>Knowledge</a:t>
                </a:r>
              </a:p>
            </p:txBody>
          </p:sp>
          <p:sp>
            <p:nvSpPr>
              <p:cNvPr id="23600" name="Oval 67"/>
              <p:cNvSpPr>
                <a:spLocks noChangeArrowheads="1"/>
              </p:cNvSpPr>
              <p:nvPr/>
            </p:nvSpPr>
            <p:spPr bwMode="auto">
              <a:xfrm>
                <a:off x="2149" y="204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01" name="Oval 68"/>
              <p:cNvSpPr>
                <a:spLocks noChangeArrowheads="1"/>
              </p:cNvSpPr>
              <p:nvPr/>
            </p:nvSpPr>
            <p:spPr bwMode="auto">
              <a:xfrm>
                <a:off x="3131" y="97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02" name="Oval 69"/>
              <p:cNvSpPr>
                <a:spLocks noChangeArrowheads="1"/>
              </p:cNvSpPr>
              <p:nvPr/>
            </p:nvSpPr>
            <p:spPr bwMode="auto">
              <a:xfrm>
                <a:off x="3173" y="1770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03" name="Oval 70"/>
              <p:cNvSpPr>
                <a:spLocks noChangeArrowheads="1"/>
              </p:cNvSpPr>
              <p:nvPr/>
            </p:nvSpPr>
            <p:spPr bwMode="auto">
              <a:xfrm>
                <a:off x="3323" y="154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04" name="Oval 71"/>
              <p:cNvSpPr>
                <a:spLocks noChangeArrowheads="1"/>
              </p:cNvSpPr>
              <p:nvPr/>
            </p:nvSpPr>
            <p:spPr bwMode="auto">
              <a:xfrm>
                <a:off x="3461" y="133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05" name="Oval 72"/>
              <p:cNvSpPr>
                <a:spLocks noChangeArrowheads="1"/>
              </p:cNvSpPr>
              <p:nvPr/>
            </p:nvSpPr>
            <p:spPr bwMode="auto">
              <a:xfrm>
                <a:off x="3593" y="115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06" name="Oval 73"/>
              <p:cNvSpPr>
                <a:spLocks noChangeArrowheads="1"/>
              </p:cNvSpPr>
              <p:nvPr/>
            </p:nvSpPr>
            <p:spPr bwMode="auto">
              <a:xfrm>
                <a:off x="1697" y="2400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07" name="Oval 74"/>
              <p:cNvSpPr>
                <a:spLocks noChangeArrowheads="1"/>
              </p:cNvSpPr>
              <p:nvPr/>
            </p:nvSpPr>
            <p:spPr bwMode="auto">
              <a:xfrm>
                <a:off x="1865" y="2370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08" name="Oval 75"/>
              <p:cNvSpPr>
                <a:spLocks noChangeArrowheads="1"/>
              </p:cNvSpPr>
              <p:nvPr/>
            </p:nvSpPr>
            <p:spPr bwMode="auto">
              <a:xfrm>
                <a:off x="2159" y="231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09" name="Oval 76"/>
              <p:cNvSpPr>
                <a:spLocks noChangeArrowheads="1"/>
              </p:cNvSpPr>
              <p:nvPr/>
            </p:nvSpPr>
            <p:spPr bwMode="auto">
              <a:xfrm>
                <a:off x="2423" y="2274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10" name="Oval 77"/>
              <p:cNvSpPr>
                <a:spLocks noChangeArrowheads="1"/>
              </p:cNvSpPr>
              <p:nvPr/>
            </p:nvSpPr>
            <p:spPr bwMode="auto">
              <a:xfrm>
                <a:off x="2411" y="2064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11" name="Oval 78"/>
              <p:cNvSpPr>
                <a:spLocks noChangeArrowheads="1"/>
              </p:cNvSpPr>
              <p:nvPr/>
            </p:nvSpPr>
            <p:spPr bwMode="auto">
              <a:xfrm>
                <a:off x="2495" y="187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12" name="Oval 79"/>
              <p:cNvSpPr>
                <a:spLocks noChangeArrowheads="1"/>
              </p:cNvSpPr>
              <p:nvPr/>
            </p:nvSpPr>
            <p:spPr bwMode="auto">
              <a:xfrm>
                <a:off x="2627" y="1770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13" name="Oval 80"/>
              <p:cNvSpPr>
                <a:spLocks noChangeArrowheads="1"/>
              </p:cNvSpPr>
              <p:nvPr/>
            </p:nvSpPr>
            <p:spPr bwMode="auto">
              <a:xfrm>
                <a:off x="2801" y="169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14" name="Oval 81"/>
              <p:cNvSpPr>
                <a:spLocks noChangeArrowheads="1"/>
              </p:cNvSpPr>
              <p:nvPr/>
            </p:nvSpPr>
            <p:spPr bwMode="auto">
              <a:xfrm>
                <a:off x="2993" y="169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15" name="Text Box 49"/>
              <p:cNvSpPr txBox="1">
                <a:spLocks noChangeArrowheads="1"/>
              </p:cNvSpPr>
              <p:nvPr/>
            </p:nvSpPr>
            <p:spPr bwMode="auto">
              <a:xfrm>
                <a:off x="2735" y="1652"/>
                <a:ext cx="371" cy="1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>
                    <a:solidFill>
                      <a:schemeClr val="tx1"/>
                    </a:solidFill>
                    <a:latin typeface="Verdana" pitchFamily="34" charset="0"/>
                  </a:rPr>
                  <a:t>None</a:t>
                </a:r>
              </a:p>
            </p:txBody>
          </p:sp>
          <p:sp>
            <p:nvSpPr>
              <p:cNvPr id="23616" name="Text Box 47"/>
              <p:cNvSpPr txBox="1">
                <a:spLocks noChangeArrowheads="1"/>
              </p:cNvSpPr>
              <p:nvPr/>
            </p:nvSpPr>
            <p:spPr bwMode="auto">
              <a:xfrm>
                <a:off x="2591" y="1126"/>
                <a:ext cx="679" cy="1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>
                    <a:solidFill>
                      <a:schemeClr val="tx1"/>
                    </a:solidFill>
                    <a:latin typeface="Verdana" pitchFamily="34" charset="0"/>
                  </a:rPr>
                  <a:t>Practitioner</a:t>
                </a:r>
              </a:p>
            </p:txBody>
          </p:sp>
          <p:sp>
            <p:nvSpPr>
              <p:cNvPr id="23617" name="Oval 82"/>
              <p:cNvSpPr>
                <a:spLocks noChangeArrowheads="1"/>
              </p:cNvSpPr>
              <p:nvPr/>
            </p:nvSpPr>
            <p:spPr bwMode="auto">
              <a:xfrm>
                <a:off x="2495" y="243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18" name="Oval 83"/>
              <p:cNvSpPr>
                <a:spLocks noChangeArrowheads="1"/>
              </p:cNvSpPr>
              <p:nvPr/>
            </p:nvSpPr>
            <p:spPr bwMode="auto">
              <a:xfrm>
                <a:off x="2267" y="258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19" name="Oval 84"/>
              <p:cNvSpPr>
                <a:spLocks noChangeArrowheads="1"/>
              </p:cNvSpPr>
              <p:nvPr/>
            </p:nvSpPr>
            <p:spPr bwMode="auto">
              <a:xfrm>
                <a:off x="2009" y="271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20" name="Oval 85"/>
              <p:cNvSpPr>
                <a:spLocks noChangeArrowheads="1"/>
              </p:cNvSpPr>
              <p:nvPr/>
            </p:nvSpPr>
            <p:spPr bwMode="auto">
              <a:xfrm>
                <a:off x="1877" y="283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21" name="Oval 86"/>
              <p:cNvSpPr>
                <a:spLocks noChangeArrowheads="1"/>
              </p:cNvSpPr>
              <p:nvPr/>
            </p:nvSpPr>
            <p:spPr bwMode="auto">
              <a:xfrm>
                <a:off x="2627" y="256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22" name="Oval 87"/>
              <p:cNvSpPr>
                <a:spLocks noChangeArrowheads="1"/>
              </p:cNvSpPr>
              <p:nvPr/>
            </p:nvSpPr>
            <p:spPr bwMode="auto">
              <a:xfrm>
                <a:off x="2459" y="277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23" name="Oval 88"/>
              <p:cNvSpPr>
                <a:spLocks noChangeArrowheads="1"/>
              </p:cNvSpPr>
              <p:nvPr/>
            </p:nvSpPr>
            <p:spPr bwMode="auto">
              <a:xfrm>
                <a:off x="2315" y="300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24" name="Oval 89"/>
              <p:cNvSpPr>
                <a:spLocks noChangeArrowheads="1"/>
              </p:cNvSpPr>
              <p:nvPr/>
            </p:nvSpPr>
            <p:spPr bwMode="auto">
              <a:xfrm>
                <a:off x="2207" y="315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25" name="Oval 90"/>
              <p:cNvSpPr>
                <a:spLocks noChangeArrowheads="1"/>
              </p:cNvSpPr>
              <p:nvPr/>
            </p:nvSpPr>
            <p:spPr bwMode="auto">
              <a:xfrm>
                <a:off x="2783" y="2634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26" name="Oval 91"/>
              <p:cNvSpPr>
                <a:spLocks noChangeArrowheads="1"/>
              </p:cNvSpPr>
              <p:nvPr/>
            </p:nvSpPr>
            <p:spPr bwMode="auto">
              <a:xfrm>
                <a:off x="2753" y="289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27" name="Oval 92"/>
              <p:cNvSpPr>
                <a:spLocks noChangeArrowheads="1"/>
              </p:cNvSpPr>
              <p:nvPr/>
            </p:nvSpPr>
            <p:spPr bwMode="auto">
              <a:xfrm>
                <a:off x="2693" y="315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28" name="Oval 93"/>
              <p:cNvSpPr>
                <a:spLocks noChangeArrowheads="1"/>
              </p:cNvSpPr>
              <p:nvPr/>
            </p:nvSpPr>
            <p:spPr bwMode="auto">
              <a:xfrm>
                <a:off x="2669" y="333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29" name="Oval 94"/>
              <p:cNvSpPr>
                <a:spLocks noChangeArrowheads="1"/>
              </p:cNvSpPr>
              <p:nvPr/>
            </p:nvSpPr>
            <p:spPr bwMode="auto">
              <a:xfrm>
                <a:off x="2993" y="2640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30" name="Oval 95"/>
              <p:cNvSpPr>
                <a:spLocks noChangeArrowheads="1"/>
              </p:cNvSpPr>
              <p:nvPr/>
            </p:nvSpPr>
            <p:spPr bwMode="auto">
              <a:xfrm>
                <a:off x="3047" y="289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31" name="Oval 96"/>
              <p:cNvSpPr>
                <a:spLocks noChangeArrowheads="1"/>
              </p:cNvSpPr>
              <p:nvPr/>
            </p:nvSpPr>
            <p:spPr bwMode="auto">
              <a:xfrm>
                <a:off x="3089" y="316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32" name="Oval 97"/>
              <p:cNvSpPr>
                <a:spLocks noChangeArrowheads="1"/>
              </p:cNvSpPr>
              <p:nvPr/>
            </p:nvSpPr>
            <p:spPr bwMode="auto">
              <a:xfrm>
                <a:off x="3125" y="334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33" name="Oval 98"/>
              <p:cNvSpPr>
                <a:spLocks noChangeArrowheads="1"/>
              </p:cNvSpPr>
              <p:nvPr/>
            </p:nvSpPr>
            <p:spPr bwMode="auto">
              <a:xfrm>
                <a:off x="3185" y="256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34" name="Oval 99"/>
              <p:cNvSpPr>
                <a:spLocks noChangeArrowheads="1"/>
              </p:cNvSpPr>
              <p:nvPr/>
            </p:nvSpPr>
            <p:spPr bwMode="auto">
              <a:xfrm>
                <a:off x="3329" y="277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35" name="Oval 100"/>
              <p:cNvSpPr>
                <a:spLocks noChangeArrowheads="1"/>
              </p:cNvSpPr>
              <p:nvPr/>
            </p:nvSpPr>
            <p:spPr bwMode="auto">
              <a:xfrm>
                <a:off x="3479" y="2994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36" name="Oval 101"/>
              <p:cNvSpPr>
                <a:spLocks noChangeArrowheads="1"/>
              </p:cNvSpPr>
              <p:nvPr/>
            </p:nvSpPr>
            <p:spPr bwMode="auto">
              <a:xfrm>
                <a:off x="3581" y="316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37" name="Oval 102"/>
              <p:cNvSpPr>
                <a:spLocks noChangeArrowheads="1"/>
              </p:cNvSpPr>
              <p:nvPr/>
            </p:nvSpPr>
            <p:spPr bwMode="auto">
              <a:xfrm>
                <a:off x="3311" y="244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38" name="Oval 103"/>
              <p:cNvSpPr>
                <a:spLocks noChangeArrowheads="1"/>
              </p:cNvSpPr>
              <p:nvPr/>
            </p:nvSpPr>
            <p:spPr bwMode="auto">
              <a:xfrm>
                <a:off x="3533" y="258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39" name="Oval 104"/>
              <p:cNvSpPr>
                <a:spLocks noChangeArrowheads="1"/>
              </p:cNvSpPr>
              <p:nvPr/>
            </p:nvSpPr>
            <p:spPr bwMode="auto">
              <a:xfrm>
                <a:off x="3749" y="2724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40" name="Oval 105"/>
              <p:cNvSpPr>
                <a:spLocks noChangeArrowheads="1"/>
              </p:cNvSpPr>
              <p:nvPr/>
            </p:nvSpPr>
            <p:spPr bwMode="auto">
              <a:xfrm>
                <a:off x="3929" y="283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41" name="Text Box 43"/>
              <p:cNvSpPr txBox="1">
                <a:spLocks noChangeArrowheads="1"/>
              </p:cNvSpPr>
              <p:nvPr/>
            </p:nvSpPr>
            <p:spPr bwMode="auto">
              <a:xfrm>
                <a:off x="2591" y="3076"/>
                <a:ext cx="679" cy="1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>
                    <a:solidFill>
                      <a:schemeClr val="tx1"/>
                    </a:solidFill>
                    <a:latin typeface="Verdana" pitchFamily="34" charset="0"/>
                  </a:rPr>
                  <a:t>Practitioner</a:t>
                </a:r>
              </a:p>
            </p:txBody>
          </p:sp>
          <p:sp>
            <p:nvSpPr>
              <p:cNvPr id="23642" name="Text Box 44"/>
              <p:cNvSpPr txBox="1">
                <a:spLocks noChangeArrowheads="1"/>
              </p:cNvSpPr>
              <p:nvPr/>
            </p:nvSpPr>
            <p:spPr bwMode="auto">
              <a:xfrm>
                <a:off x="2593" y="2804"/>
                <a:ext cx="644" cy="1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>
                    <a:solidFill>
                      <a:schemeClr val="tx1"/>
                    </a:solidFill>
                    <a:latin typeface="Verdana" pitchFamily="34" charset="0"/>
                  </a:rPr>
                  <a:t>Knowledge</a:t>
                </a:r>
              </a:p>
            </p:txBody>
          </p:sp>
          <p:sp>
            <p:nvSpPr>
              <p:cNvPr id="23643" name="Text Box 45"/>
              <p:cNvSpPr txBox="1">
                <a:spLocks noChangeArrowheads="1"/>
              </p:cNvSpPr>
              <p:nvPr/>
            </p:nvSpPr>
            <p:spPr bwMode="auto">
              <a:xfrm>
                <a:off x="2735" y="2577"/>
                <a:ext cx="371" cy="1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>
                    <a:solidFill>
                      <a:schemeClr val="tx1"/>
                    </a:solidFill>
                    <a:latin typeface="Verdana" pitchFamily="34" charset="0"/>
                  </a:rPr>
                  <a:t>None</a:t>
                </a:r>
              </a:p>
            </p:txBody>
          </p:sp>
          <p:sp>
            <p:nvSpPr>
              <p:cNvPr id="23644" name="Oval 106"/>
              <p:cNvSpPr>
                <a:spLocks noChangeArrowheads="1"/>
              </p:cNvSpPr>
              <p:nvPr/>
            </p:nvSpPr>
            <p:spPr bwMode="auto">
              <a:xfrm>
                <a:off x="3383" y="225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45" name="Oval 107"/>
              <p:cNvSpPr>
                <a:spLocks noChangeArrowheads="1"/>
              </p:cNvSpPr>
              <p:nvPr/>
            </p:nvSpPr>
            <p:spPr bwMode="auto">
              <a:xfrm>
                <a:off x="3641" y="231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46" name="Oval 108"/>
              <p:cNvSpPr>
                <a:spLocks noChangeArrowheads="1"/>
              </p:cNvSpPr>
              <p:nvPr/>
            </p:nvSpPr>
            <p:spPr bwMode="auto">
              <a:xfrm>
                <a:off x="3917" y="235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47" name="Oval 109"/>
              <p:cNvSpPr>
                <a:spLocks noChangeArrowheads="1"/>
              </p:cNvSpPr>
              <p:nvPr/>
            </p:nvSpPr>
            <p:spPr bwMode="auto">
              <a:xfrm>
                <a:off x="4097" y="2424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48" name="Oval 110"/>
              <p:cNvSpPr>
                <a:spLocks noChangeArrowheads="1"/>
              </p:cNvSpPr>
              <p:nvPr/>
            </p:nvSpPr>
            <p:spPr bwMode="auto">
              <a:xfrm>
                <a:off x="3395" y="208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49" name="Oval 111"/>
              <p:cNvSpPr>
                <a:spLocks noChangeArrowheads="1"/>
              </p:cNvSpPr>
              <p:nvPr/>
            </p:nvSpPr>
            <p:spPr bwMode="auto">
              <a:xfrm>
                <a:off x="3647" y="202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50" name="Oval 112"/>
              <p:cNvSpPr>
                <a:spLocks noChangeArrowheads="1"/>
              </p:cNvSpPr>
              <p:nvPr/>
            </p:nvSpPr>
            <p:spPr bwMode="auto">
              <a:xfrm>
                <a:off x="3917" y="1974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51" name="Oval 113"/>
              <p:cNvSpPr>
                <a:spLocks noChangeArrowheads="1"/>
              </p:cNvSpPr>
              <p:nvPr/>
            </p:nvSpPr>
            <p:spPr bwMode="auto">
              <a:xfrm>
                <a:off x="4115" y="1944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52" name="Oval 114"/>
              <p:cNvSpPr>
                <a:spLocks noChangeArrowheads="1"/>
              </p:cNvSpPr>
              <p:nvPr/>
            </p:nvSpPr>
            <p:spPr bwMode="auto">
              <a:xfrm>
                <a:off x="3311" y="1890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53" name="Oval 115"/>
              <p:cNvSpPr>
                <a:spLocks noChangeArrowheads="1"/>
              </p:cNvSpPr>
              <p:nvPr/>
            </p:nvSpPr>
            <p:spPr bwMode="auto">
              <a:xfrm>
                <a:off x="3533" y="175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54" name="Oval 116"/>
              <p:cNvSpPr>
                <a:spLocks noChangeArrowheads="1"/>
              </p:cNvSpPr>
              <p:nvPr/>
            </p:nvSpPr>
            <p:spPr bwMode="auto">
              <a:xfrm>
                <a:off x="3761" y="160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55" name="Oval 117"/>
              <p:cNvSpPr>
                <a:spLocks noChangeArrowheads="1"/>
              </p:cNvSpPr>
              <p:nvPr/>
            </p:nvSpPr>
            <p:spPr bwMode="auto">
              <a:xfrm>
                <a:off x="3929" y="1500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3656" name="Text Box 35"/>
              <p:cNvSpPr txBox="1">
                <a:spLocks noChangeArrowheads="1"/>
              </p:cNvSpPr>
              <p:nvPr/>
            </p:nvSpPr>
            <p:spPr bwMode="auto">
              <a:xfrm>
                <a:off x="2936" y="1839"/>
                <a:ext cx="907" cy="28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 sz="1000">
                    <a:solidFill>
                      <a:schemeClr val="tx1"/>
                    </a:solidFill>
                    <a:latin typeface="Verdana" pitchFamily="34" charset="0"/>
                  </a:rPr>
                  <a:t>Core EA Competences</a:t>
                </a:r>
              </a:p>
            </p:txBody>
          </p:sp>
          <p:sp>
            <p:nvSpPr>
              <p:cNvPr id="23657" name="Text Box 36"/>
              <p:cNvSpPr txBox="1">
                <a:spLocks noChangeArrowheads="1"/>
              </p:cNvSpPr>
              <p:nvPr/>
            </p:nvSpPr>
            <p:spPr bwMode="auto">
              <a:xfrm>
                <a:off x="2952" y="2244"/>
                <a:ext cx="907" cy="28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 sz="1000">
                    <a:solidFill>
                      <a:schemeClr val="tx1"/>
                    </a:solidFill>
                    <a:latin typeface="Verdana" pitchFamily="34" charset="0"/>
                  </a:rPr>
                  <a:t>EA Creation Competences</a:t>
                </a:r>
              </a:p>
            </p:txBody>
          </p:sp>
          <p:sp>
            <p:nvSpPr>
              <p:cNvPr id="23658" name="Text Box 38"/>
              <p:cNvSpPr txBox="1">
                <a:spLocks noChangeArrowheads="1"/>
              </p:cNvSpPr>
              <p:nvPr/>
            </p:nvSpPr>
            <p:spPr bwMode="auto">
              <a:xfrm>
                <a:off x="1959" y="2260"/>
                <a:ext cx="907" cy="28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GB" sz="1000">
                    <a:solidFill>
                      <a:schemeClr val="tx1"/>
                    </a:solidFill>
                    <a:latin typeface="Verdana" pitchFamily="34" charset="0"/>
                  </a:rPr>
                  <a:t>EA Delivery Competences</a:t>
                </a:r>
              </a:p>
            </p:txBody>
          </p:sp>
          <p:sp>
            <p:nvSpPr>
              <p:cNvPr id="23659" name="Text Box 37"/>
              <p:cNvSpPr txBox="1">
                <a:spLocks noChangeArrowheads="1"/>
              </p:cNvSpPr>
              <p:nvPr/>
            </p:nvSpPr>
            <p:spPr bwMode="auto">
              <a:xfrm>
                <a:off x="1996" y="1852"/>
                <a:ext cx="908" cy="28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GB" sz="1000">
                    <a:solidFill>
                      <a:schemeClr val="tx1"/>
                    </a:solidFill>
                    <a:latin typeface="Verdana" pitchFamily="34" charset="0"/>
                  </a:rPr>
                  <a:t>Functional EA Competences</a:t>
                </a:r>
              </a:p>
            </p:txBody>
          </p:sp>
        </p:grpSp>
        <p:sp>
          <p:nvSpPr>
            <p:cNvPr id="23562" name="Text Box 40"/>
            <p:cNvSpPr txBox="1">
              <a:spLocks noChangeArrowheads="1"/>
            </p:cNvSpPr>
            <p:nvPr/>
          </p:nvSpPr>
          <p:spPr bwMode="auto">
            <a:xfrm>
              <a:off x="6884988" y="2355850"/>
              <a:ext cx="1738312" cy="39687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 sz="1000">
                  <a:solidFill>
                    <a:srgbClr val="003399"/>
                  </a:solidFill>
                </a:rPr>
                <a:t>Domain and pertinent technologies knowledge</a:t>
              </a:r>
            </a:p>
          </p:txBody>
        </p:sp>
        <p:sp>
          <p:nvSpPr>
            <p:cNvPr id="23563" name="Rectangle 23"/>
            <p:cNvSpPr>
              <a:spLocks noChangeArrowheads="1"/>
            </p:cNvSpPr>
            <p:nvPr/>
          </p:nvSpPr>
          <p:spPr bwMode="auto">
            <a:xfrm>
              <a:off x="7100888" y="3289300"/>
              <a:ext cx="16510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 sz="1000">
                  <a:solidFill>
                    <a:srgbClr val="003399"/>
                  </a:solidFill>
                </a:rPr>
                <a:t>Leadership &amp; Coaching</a:t>
              </a:r>
            </a:p>
          </p:txBody>
        </p:sp>
      </p:grpSp>
      <p:sp>
        <p:nvSpPr>
          <p:cNvPr id="23558" name="Date Placeholder 114"/>
          <p:cNvSpPr txBox="1">
            <a:spLocks/>
          </p:cNvSpPr>
          <p:nvPr/>
        </p:nvSpPr>
        <p:spPr bwMode="gray">
          <a:xfrm>
            <a:off x="547688" y="6597650"/>
            <a:ext cx="2087562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l"/>
            <a:endParaRPr lang="nl-NL">
              <a:solidFill>
                <a:schemeClr val="bg2"/>
              </a:solidFill>
            </a:endParaRPr>
          </a:p>
        </p:txBody>
      </p:sp>
      <p:sp>
        <p:nvSpPr>
          <p:cNvPr id="23559" name="Slide Number Placeholder 116"/>
          <p:cNvSpPr txBox="1">
            <a:spLocks/>
          </p:cNvSpPr>
          <p:nvPr/>
        </p:nvSpPr>
        <p:spPr bwMode="gray">
          <a:xfrm>
            <a:off x="8253413" y="6597650"/>
            <a:ext cx="6477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 anchor="ctr"/>
          <a:lstStyle/>
          <a:p>
            <a:pPr algn="r" rtl="1"/>
            <a:fld id="{8A9ACA77-370A-483C-8CE2-7FBE7FE0AC0F}" type="slidenum">
              <a:rPr lang="nl-NL">
                <a:solidFill>
                  <a:schemeClr val="bg2"/>
                </a:solidFill>
              </a:rPr>
              <a:pPr algn="r" rtl="1"/>
              <a:t>6</a:t>
            </a:fld>
            <a:endParaRPr lang="nl-NL">
              <a:solidFill>
                <a:schemeClr val="bg2"/>
              </a:solidFill>
            </a:endParaRPr>
          </a:p>
        </p:txBody>
      </p:sp>
      <p:sp>
        <p:nvSpPr>
          <p:cNvPr id="23560" name="Freeform 122"/>
          <p:cNvSpPr>
            <a:spLocks noChangeArrowheads="1"/>
          </p:cNvSpPr>
          <p:nvPr/>
        </p:nvSpPr>
        <p:spPr bwMode="auto">
          <a:xfrm>
            <a:off x="3187700" y="2336800"/>
            <a:ext cx="3149600" cy="3035300"/>
          </a:xfrm>
          <a:custGeom>
            <a:avLst/>
            <a:gdLst>
              <a:gd name="T0" fmla="*/ 1727200 w 3149600"/>
              <a:gd name="T1" fmla="*/ 127000 h 3035300"/>
              <a:gd name="T2" fmla="*/ 2247900 w 3149600"/>
              <a:gd name="T3" fmla="*/ 368300 h 3035300"/>
              <a:gd name="T4" fmla="*/ 2654300 w 3149600"/>
              <a:gd name="T5" fmla="*/ 762000 h 3035300"/>
              <a:gd name="T6" fmla="*/ 3149600 w 3149600"/>
              <a:gd name="T7" fmla="*/ 1244600 h 3035300"/>
              <a:gd name="T8" fmla="*/ 3111500 w 3149600"/>
              <a:gd name="T9" fmla="*/ 1917700 h 3035300"/>
              <a:gd name="T10" fmla="*/ 2870200 w 3149600"/>
              <a:gd name="T11" fmla="*/ 2501900 h 3035300"/>
              <a:gd name="T12" fmla="*/ 2311400 w 3149600"/>
              <a:gd name="T13" fmla="*/ 2794000 h 3035300"/>
              <a:gd name="T14" fmla="*/ 1701800 w 3149600"/>
              <a:gd name="T15" fmla="*/ 2946400 h 3035300"/>
              <a:gd name="T16" fmla="*/ 1130300 w 3149600"/>
              <a:gd name="T17" fmla="*/ 3035300 h 3035300"/>
              <a:gd name="T18" fmla="*/ 546100 w 3149600"/>
              <a:gd name="T19" fmla="*/ 2806700 h 3035300"/>
              <a:gd name="T20" fmla="*/ 317500 w 3149600"/>
              <a:gd name="T21" fmla="*/ 2628900 h 3035300"/>
              <a:gd name="T22" fmla="*/ 266700 w 3149600"/>
              <a:gd name="T23" fmla="*/ 2552700 h 3035300"/>
              <a:gd name="T24" fmla="*/ 228600 w 3149600"/>
              <a:gd name="T25" fmla="*/ 2514600 h 3035300"/>
              <a:gd name="T26" fmla="*/ 127000 w 3149600"/>
              <a:gd name="T27" fmla="*/ 2374900 h 3035300"/>
              <a:gd name="T28" fmla="*/ 0 w 3149600"/>
              <a:gd name="T29" fmla="*/ 1803400 h 3035300"/>
              <a:gd name="T30" fmla="*/ 0 w 3149600"/>
              <a:gd name="T31" fmla="*/ 1219200 h 3035300"/>
              <a:gd name="T32" fmla="*/ 228600 w 3149600"/>
              <a:gd name="T33" fmla="*/ 698500 h 3035300"/>
              <a:gd name="T34" fmla="*/ 558800 w 3149600"/>
              <a:gd name="T35" fmla="*/ 215900 h 3035300"/>
              <a:gd name="T36" fmla="*/ 1181100 w 3149600"/>
              <a:gd name="T37" fmla="*/ 0 h 3035300"/>
              <a:gd name="T38" fmla="*/ 1727200 w 3149600"/>
              <a:gd name="T39" fmla="*/ 127000 h 3035300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w 3149600"/>
              <a:gd name="T61" fmla="*/ 0 h 3035300"/>
              <a:gd name="T62" fmla="*/ 3149600 w 3149600"/>
              <a:gd name="T63" fmla="*/ 3035300 h 3035300"/>
            </a:gdLst>
            <a:ahLst/>
            <a:cxnLst>
              <a:cxn ang="T40">
                <a:pos x="T0" y="T1"/>
              </a:cxn>
              <a:cxn ang="T41">
                <a:pos x="T2" y="T3"/>
              </a:cxn>
              <a:cxn ang="T42">
                <a:pos x="T4" y="T5"/>
              </a:cxn>
              <a:cxn ang="T43">
                <a:pos x="T6" y="T7"/>
              </a:cxn>
              <a:cxn ang="T44">
                <a:pos x="T8" y="T9"/>
              </a:cxn>
              <a:cxn ang="T45">
                <a:pos x="T10" y="T11"/>
              </a:cxn>
              <a:cxn ang="T46">
                <a:pos x="T12" y="T13"/>
              </a:cxn>
              <a:cxn ang="T47">
                <a:pos x="T14" y="T15"/>
              </a:cxn>
              <a:cxn ang="T48">
                <a:pos x="T16" y="T17"/>
              </a:cxn>
              <a:cxn ang="T49">
                <a:pos x="T18" y="T19"/>
              </a:cxn>
              <a:cxn ang="T50">
                <a:pos x="T20" y="T21"/>
              </a:cxn>
              <a:cxn ang="T51">
                <a:pos x="T22" y="T23"/>
              </a:cxn>
              <a:cxn ang="T52">
                <a:pos x="T24" y="T25"/>
              </a:cxn>
              <a:cxn ang="T53">
                <a:pos x="T26" y="T27"/>
              </a:cxn>
              <a:cxn ang="T54">
                <a:pos x="T28" y="T29"/>
              </a:cxn>
              <a:cxn ang="T55">
                <a:pos x="T30" y="T31"/>
              </a:cxn>
              <a:cxn ang="T56">
                <a:pos x="T32" y="T33"/>
              </a:cxn>
              <a:cxn ang="T57">
                <a:pos x="T34" y="T35"/>
              </a:cxn>
              <a:cxn ang="T58">
                <a:pos x="T36" y="T37"/>
              </a:cxn>
              <a:cxn ang="T59">
                <a:pos x="T38" y="T39"/>
              </a:cxn>
            </a:cxnLst>
            <a:rect l="T60" t="T61" r="T62" b="T63"/>
            <a:pathLst>
              <a:path w="3149600" h="3035300">
                <a:moveTo>
                  <a:pt x="1727200" y="127000"/>
                </a:moveTo>
                <a:lnTo>
                  <a:pt x="2247900" y="368300"/>
                </a:lnTo>
                <a:lnTo>
                  <a:pt x="2654300" y="762000"/>
                </a:lnTo>
                <a:lnTo>
                  <a:pt x="3149600" y="1244600"/>
                </a:lnTo>
                <a:lnTo>
                  <a:pt x="3111500" y="1917700"/>
                </a:lnTo>
                <a:lnTo>
                  <a:pt x="2870200" y="2501900"/>
                </a:lnTo>
                <a:lnTo>
                  <a:pt x="2311400" y="2794000"/>
                </a:lnTo>
                <a:lnTo>
                  <a:pt x="1701800" y="2946400"/>
                </a:lnTo>
                <a:lnTo>
                  <a:pt x="1130300" y="3035300"/>
                </a:lnTo>
                <a:lnTo>
                  <a:pt x="546100" y="2806700"/>
                </a:lnTo>
                <a:cubicBezTo>
                  <a:pt x="469900" y="2747433"/>
                  <a:pt x="388930" y="2693836"/>
                  <a:pt x="317500" y="2628900"/>
                </a:cubicBezTo>
                <a:cubicBezTo>
                  <a:pt x="294912" y="2608365"/>
                  <a:pt x="292100" y="2569633"/>
                  <a:pt x="266700" y="2552700"/>
                </a:cubicBezTo>
                <a:cubicBezTo>
                  <a:pt x="225078" y="2524952"/>
                  <a:pt x="228600" y="2542564"/>
                  <a:pt x="228600" y="2514600"/>
                </a:cubicBezTo>
                <a:lnTo>
                  <a:pt x="127000" y="2374900"/>
                </a:lnTo>
                <a:lnTo>
                  <a:pt x="0" y="1803400"/>
                </a:lnTo>
                <a:lnTo>
                  <a:pt x="0" y="1219200"/>
                </a:lnTo>
                <a:lnTo>
                  <a:pt x="228600" y="698500"/>
                </a:lnTo>
                <a:lnTo>
                  <a:pt x="558800" y="215900"/>
                </a:lnTo>
                <a:lnTo>
                  <a:pt x="1181100" y="0"/>
                </a:lnTo>
                <a:lnTo>
                  <a:pt x="1727200" y="127000"/>
                </a:lnTo>
                <a:close/>
              </a:path>
            </a:pathLst>
          </a:custGeom>
          <a:noFill/>
          <a:ln w="50800" algn="ctr">
            <a:solidFill>
              <a:srgbClr val="FFC000"/>
            </a:solidFill>
            <a:round/>
            <a:headEnd/>
            <a:tailEnd/>
          </a:ln>
        </p:spPr>
        <p:txBody>
          <a:bodyPr wrap="none" lIns="90000" tIns="72000" rIns="90000" bIns="72000" anchor="ctr"/>
          <a:lstStyle/>
          <a:p>
            <a:pPr eaLnBrk="1" hangingPunct="1">
              <a:spcBef>
                <a:spcPct val="40000"/>
              </a:spcBef>
              <a:buClr>
                <a:schemeClr val="bg2"/>
              </a:buClr>
            </a:pPr>
            <a:endParaRPr lang="en-US" sz="16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1800" smtClean="0"/>
              <a:t>Enterprise Architects Competence Profile – Level 3</a:t>
            </a:r>
            <a:endParaRPr lang="en-US" sz="1800" smtClean="0"/>
          </a:p>
        </p:txBody>
      </p:sp>
      <p:sp>
        <p:nvSpPr>
          <p:cNvPr id="24579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0CCF847-BD78-43CF-A00E-DC4A6019C08B}" type="slidenum">
              <a:rPr lang="nl-NL" smtClean="0">
                <a:latin typeface="Arial" charset="0"/>
              </a:rPr>
              <a:pPr/>
              <a:t>7</a:t>
            </a:fld>
            <a:endParaRPr lang="nl-NL" smtClean="0">
              <a:latin typeface="Arial" charset="0"/>
            </a:endParaRPr>
          </a:p>
        </p:txBody>
      </p:sp>
      <p:sp>
        <p:nvSpPr>
          <p:cNvPr id="24580" name="Date Placeholder 3"/>
          <p:cNvSpPr>
            <a:spLocks noGrp="1"/>
          </p:cNvSpPr>
          <p:nvPr>
            <p:ph type="dt" sz="quarter" idx="11"/>
          </p:nvPr>
        </p:nvSpPr>
        <p:spPr>
          <a:noFill/>
        </p:spPr>
        <p:txBody>
          <a:bodyPr/>
          <a:lstStyle/>
          <a:p>
            <a:fld id="{5AB1A1E0-4665-4F02-9F00-2551E20E5997}" type="datetime1">
              <a:rPr lang="en-US" smtClean="0">
                <a:latin typeface="Arial" charset="0"/>
              </a:rPr>
              <a:pPr/>
              <a:t>8/23/2009</a:t>
            </a:fld>
            <a:endParaRPr lang="nl-NL" smtClean="0">
              <a:latin typeface="Arial" charset="0"/>
            </a:endParaRPr>
          </a:p>
        </p:txBody>
      </p:sp>
      <p:sp>
        <p:nvSpPr>
          <p:cNvPr id="24581" name="Footer Placehold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nl-NL" smtClean="0">
                <a:latin typeface="Arial" charset="0"/>
              </a:rPr>
              <a:t>(C) Copyrights IFEAD, 2001-2008</a:t>
            </a:r>
          </a:p>
        </p:txBody>
      </p:sp>
      <p:grpSp>
        <p:nvGrpSpPr>
          <p:cNvPr id="24582" name="Group 120"/>
          <p:cNvGrpSpPr>
            <a:grpSpLocks/>
          </p:cNvGrpSpPr>
          <p:nvPr/>
        </p:nvGrpSpPr>
        <p:grpSpPr bwMode="auto">
          <a:xfrm>
            <a:off x="795338" y="1344613"/>
            <a:ext cx="7956550" cy="5227637"/>
            <a:chOff x="795338" y="1344613"/>
            <a:chExt cx="7956550" cy="5227637"/>
          </a:xfrm>
        </p:grpSpPr>
        <p:grpSp>
          <p:nvGrpSpPr>
            <p:cNvPr id="24584" name="Group 123"/>
            <p:cNvGrpSpPr>
              <a:grpSpLocks/>
            </p:cNvGrpSpPr>
            <p:nvPr/>
          </p:nvGrpSpPr>
          <p:grpSpPr bwMode="auto">
            <a:xfrm>
              <a:off x="795338" y="1344613"/>
              <a:ext cx="7313612" cy="5227637"/>
              <a:chOff x="163" y="391"/>
              <a:chExt cx="5257" cy="3719"/>
            </a:xfrm>
          </p:grpSpPr>
          <p:pic>
            <p:nvPicPr>
              <p:cNvPr id="24587" name="Picture 2"/>
              <p:cNvPicPr>
                <a:picLocks noChangeAspect="1" noChangeArrowheads="1"/>
              </p:cNvPicPr>
              <p:nvPr/>
            </p:nvPicPr>
            <p:blipFill>
              <a:blip r:embed="rId3" cstate="print"/>
              <a:srcRect l="28960" t="24504" r="13228" b="3780"/>
              <a:stretch>
                <a:fillRect/>
              </a:stretch>
            </p:blipFill>
            <p:spPr bwMode="auto">
              <a:xfrm>
                <a:off x="1063" y="482"/>
                <a:ext cx="3813" cy="34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</p:pic>
          <p:sp>
            <p:nvSpPr>
              <p:cNvPr id="24588" name="Freeform 3"/>
              <p:cNvSpPr>
                <a:spLocks/>
              </p:cNvSpPr>
              <p:nvPr/>
            </p:nvSpPr>
            <p:spPr bwMode="auto">
              <a:xfrm flipH="1" flipV="1">
                <a:off x="1505" y="820"/>
                <a:ext cx="1420" cy="1386"/>
              </a:xfrm>
              <a:custGeom>
                <a:avLst/>
                <a:gdLst>
                  <a:gd name="T0" fmla="*/ 0 w 1452"/>
                  <a:gd name="T1" fmla="*/ 0 h 1360"/>
                  <a:gd name="T2" fmla="*/ 0 w 1452"/>
                  <a:gd name="T3" fmla="*/ 1467 h 1360"/>
                  <a:gd name="T4" fmla="*/ 166 w 1452"/>
                  <a:gd name="T5" fmla="*/ 1467 h 1360"/>
                  <a:gd name="T6" fmla="*/ 332 w 1452"/>
                  <a:gd name="T7" fmla="*/ 1419 h 1360"/>
                  <a:gd name="T8" fmla="*/ 499 w 1452"/>
                  <a:gd name="T9" fmla="*/ 1370 h 1360"/>
                  <a:gd name="T10" fmla="*/ 664 w 1452"/>
                  <a:gd name="T11" fmla="*/ 1272 h 1360"/>
                  <a:gd name="T12" fmla="*/ 788 w 1452"/>
                  <a:gd name="T13" fmla="*/ 1174 h 1360"/>
                  <a:gd name="T14" fmla="*/ 997 w 1452"/>
                  <a:gd name="T15" fmla="*/ 978 h 1360"/>
                  <a:gd name="T16" fmla="*/ 1121 w 1452"/>
                  <a:gd name="T17" fmla="*/ 782 h 1360"/>
                  <a:gd name="T18" fmla="*/ 1245 w 1452"/>
                  <a:gd name="T19" fmla="*/ 539 h 1360"/>
                  <a:gd name="T20" fmla="*/ 1328 w 1452"/>
                  <a:gd name="T21" fmla="*/ 243 h 1360"/>
                  <a:gd name="T22" fmla="*/ 1328 w 1452"/>
                  <a:gd name="T23" fmla="*/ 0 h 1360"/>
                  <a:gd name="T24" fmla="*/ 0 w 1452"/>
                  <a:gd name="T25" fmla="*/ 0 h 136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452"/>
                  <a:gd name="T40" fmla="*/ 0 h 1360"/>
                  <a:gd name="T41" fmla="*/ 1452 w 1452"/>
                  <a:gd name="T42" fmla="*/ 1360 h 136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452" h="1360">
                    <a:moveTo>
                      <a:pt x="0" y="0"/>
                    </a:moveTo>
                    <a:lnTo>
                      <a:pt x="0" y="1360"/>
                    </a:lnTo>
                    <a:lnTo>
                      <a:pt x="182" y="1360"/>
                    </a:lnTo>
                    <a:lnTo>
                      <a:pt x="363" y="1315"/>
                    </a:lnTo>
                    <a:lnTo>
                      <a:pt x="545" y="1270"/>
                    </a:lnTo>
                    <a:lnTo>
                      <a:pt x="726" y="1179"/>
                    </a:lnTo>
                    <a:lnTo>
                      <a:pt x="862" y="1088"/>
                    </a:lnTo>
                    <a:lnTo>
                      <a:pt x="1089" y="907"/>
                    </a:lnTo>
                    <a:lnTo>
                      <a:pt x="1225" y="725"/>
                    </a:lnTo>
                    <a:lnTo>
                      <a:pt x="1361" y="499"/>
                    </a:lnTo>
                    <a:lnTo>
                      <a:pt x="1452" y="226"/>
                    </a:lnTo>
                    <a:lnTo>
                      <a:pt x="14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99"/>
              </a:solidFill>
              <a:ln w="19050">
                <a:solidFill>
                  <a:srgbClr val="6666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89" name="Freeform 4"/>
              <p:cNvSpPr>
                <a:spLocks/>
              </p:cNvSpPr>
              <p:nvPr/>
            </p:nvSpPr>
            <p:spPr bwMode="auto">
              <a:xfrm rot="5400000">
                <a:off x="1541" y="2184"/>
                <a:ext cx="1364" cy="1408"/>
              </a:xfrm>
              <a:custGeom>
                <a:avLst/>
                <a:gdLst>
                  <a:gd name="T0" fmla="*/ 0 w 1452"/>
                  <a:gd name="T1" fmla="*/ 0 h 1360"/>
                  <a:gd name="T2" fmla="*/ 0 w 1452"/>
                  <a:gd name="T3" fmla="*/ 1562 h 1360"/>
                  <a:gd name="T4" fmla="*/ 142 w 1452"/>
                  <a:gd name="T5" fmla="*/ 1562 h 1360"/>
                  <a:gd name="T6" fmla="*/ 283 w 1452"/>
                  <a:gd name="T7" fmla="*/ 1510 h 1360"/>
                  <a:gd name="T8" fmla="*/ 425 w 1452"/>
                  <a:gd name="T9" fmla="*/ 1459 h 1360"/>
                  <a:gd name="T10" fmla="*/ 566 w 1452"/>
                  <a:gd name="T11" fmla="*/ 1355 h 1360"/>
                  <a:gd name="T12" fmla="*/ 672 w 1452"/>
                  <a:gd name="T13" fmla="*/ 1250 h 1360"/>
                  <a:gd name="T14" fmla="*/ 848 w 1452"/>
                  <a:gd name="T15" fmla="*/ 1042 h 1360"/>
                  <a:gd name="T16" fmla="*/ 953 w 1452"/>
                  <a:gd name="T17" fmla="*/ 833 h 1360"/>
                  <a:gd name="T18" fmla="*/ 1060 w 1452"/>
                  <a:gd name="T19" fmla="*/ 574 h 1360"/>
                  <a:gd name="T20" fmla="*/ 1130 w 1452"/>
                  <a:gd name="T21" fmla="*/ 260 h 1360"/>
                  <a:gd name="T22" fmla="*/ 1130 w 1452"/>
                  <a:gd name="T23" fmla="*/ 0 h 1360"/>
                  <a:gd name="T24" fmla="*/ 0 w 1452"/>
                  <a:gd name="T25" fmla="*/ 0 h 136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452"/>
                  <a:gd name="T40" fmla="*/ 0 h 1360"/>
                  <a:gd name="T41" fmla="*/ 1452 w 1452"/>
                  <a:gd name="T42" fmla="*/ 1360 h 136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452" h="1360">
                    <a:moveTo>
                      <a:pt x="0" y="0"/>
                    </a:moveTo>
                    <a:lnTo>
                      <a:pt x="0" y="1360"/>
                    </a:lnTo>
                    <a:lnTo>
                      <a:pt x="182" y="1360"/>
                    </a:lnTo>
                    <a:lnTo>
                      <a:pt x="363" y="1315"/>
                    </a:lnTo>
                    <a:lnTo>
                      <a:pt x="545" y="1270"/>
                    </a:lnTo>
                    <a:lnTo>
                      <a:pt x="726" y="1179"/>
                    </a:lnTo>
                    <a:lnTo>
                      <a:pt x="862" y="1088"/>
                    </a:lnTo>
                    <a:lnTo>
                      <a:pt x="1089" y="907"/>
                    </a:lnTo>
                    <a:lnTo>
                      <a:pt x="1225" y="725"/>
                    </a:lnTo>
                    <a:lnTo>
                      <a:pt x="1361" y="499"/>
                    </a:lnTo>
                    <a:lnTo>
                      <a:pt x="1452" y="226"/>
                    </a:lnTo>
                    <a:lnTo>
                      <a:pt x="14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CFF99"/>
              </a:solidFill>
              <a:ln w="19050">
                <a:solidFill>
                  <a:srgbClr val="6666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0" name="Freeform 5"/>
              <p:cNvSpPr>
                <a:spLocks/>
              </p:cNvSpPr>
              <p:nvPr/>
            </p:nvSpPr>
            <p:spPr bwMode="auto">
              <a:xfrm rot="-5400000">
                <a:off x="2939" y="772"/>
                <a:ext cx="1404" cy="1464"/>
              </a:xfrm>
              <a:custGeom>
                <a:avLst/>
                <a:gdLst>
                  <a:gd name="T0" fmla="*/ 0 w 1452"/>
                  <a:gd name="T1" fmla="*/ 0 h 1360"/>
                  <a:gd name="T2" fmla="*/ 0 w 1452"/>
                  <a:gd name="T3" fmla="*/ 1827 h 1360"/>
                  <a:gd name="T4" fmla="*/ 159 w 1452"/>
                  <a:gd name="T5" fmla="*/ 1827 h 1360"/>
                  <a:gd name="T6" fmla="*/ 317 w 1452"/>
                  <a:gd name="T7" fmla="*/ 1766 h 1360"/>
                  <a:gd name="T8" fmla="*/ 477 w 1452"/>
                  <a:gd name="T9" fmla="*/ 1706 h 1360"/>
                  <a:gd name="T10" fmla="*/ 635 w 1452"/>
                  <a:gd name="T11" fmla="*/ 1582 h 1360"/>
                  <a:gd name="T12" fmla="*/ 753 w 1452"/>
                  <a:gd name="T13" fmla="*/ 1461 h 1360"/>
                  <a:gd name="T14" fmla="*/ 951 w 1452"/>
                  <a:gd name="T15" fmla="*/ 1217 h 1360"/>
                  <a:gd name="T16" fmla="*/ 1071 w 1452"/>
                  <a:gd name="T17" fmla="*/ 973 h 1360"/>
                  <a:gd name="T18" fmla="*/ 1189 w 1452"/>
                  <a:gd name="T19" fmla="*/ 670 h 1360"/>
                  <a:gd name="T20" fmla="*/ 1270 w 1452"/>
                  <a:gd name="T21" fmla="*/ 304 h 1360"/>
                  <a:gd name="T22" fmla="*/ 1270 w 1452"/>
                  <a:gd name="T23" fmla="*/ 0 h 1360"/>
                  <a:gd name="T24" fmla="*/ 0 w 1452"/>
                  <a:gd name="T25" fmla="*/ 0 h 136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452"/>
                  <a:gd name="T40" fmla="*/ 0 h 1360"/>
                  <a:gd name="T41" fmla="*/ 1452 w 1452"/>
                  <a:gd name="T42" fmla="*/ 1360 h 136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452" h="1360">
                    <a:moveTo>
                      <a:pt x="0" y="0"/>
                    </a:moveTo>
                    <a:lnTo>
                      <a:pt x="0" y="1360"/>
                    </a:lnTo>
                    <a:lnTo>
                      <a:pt x="182" y="1360"/>
                    </a:lnTo>
                    <a:lnTo>
                      <a:pt x="363" y="1315"/>
                    </a:lnTo>
                    <a:lnTo>
                      <a:pt x="545" y="1270"/>
                    </a:lnTo>
                    <a:lnTo>
                      <a:pt x="726" y="1179"/>
                    </a:lnTo>
                    <a:lnTo>
                      <a:pt x="862" y="1088"/>
                    </a:lnTo>
                    <a:lnTo>
                      <a:pt x="1089" y="907"/>
                    </a:lnTo>
                    <a:lnTo>
                      <a:pt x="1225" y="725"/>
                    </a:lnTo>
                    <a:lnTo>
                      <a:pt x="1361" y="499"/>
                    </a:lnTo>
                    <a:lnTo>
                      <a:pt x="1452" y="226"/>
                    </a:lnTo>
                    <a:lnTo>
                      <a:pt x="14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DDDDDD"/>
              </a:solidFill>
              <a:ln w="19050">
                <a:solidFill>
                  <a:srgbClr val="6666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591" name="Freeform 6"/>
              <p:cNvSpPr>
                <a:spLocks/>
              </p:cNvSpPr>
              <p:nvPr/>
            </p:nvSpPr>
            <p:spPr bwMode="auto">
              <a:xfrm>
                <a:off x="2909" y="2206"/>
                <a:ext cx="1476" cy="1360"/>
              </a:xfrm>
              <a:custGeom>
                <a:avLst/>
                <a:gdLst>
                  <a:gd name="T0" fmla="*/ 0 w 1452"/>
                  <a:gd name="T1" fmla="*/ 0 h 1360"/>
                  <a:gd name="T2" fmla="*/ 0 w 1452"/>
                  <a:gd name="T3" fmla="*/ 1360 h 1360"/>
                  <a:gd name="T4" fmla="*/ 194 w 1452"/>
                  <a:gd name="T5" fmla="*/ 1360 h 1360"/>
                  <a:gd name="T6" fmla="*/ 387 w 1452"/>
                  <a:gd name="T7" fmla="*/ 1315 h 1360"/>
                  <a:gd name="T8" fmla="*/ 581 w 1452"/>
                  <a:gd name="T9" fmla="*/ 1270 h 1360"/>
                  <a:gd name="T10" fmla="*/ 775 w 1452"/>
                  <a:gd name="T11" fmla="*/ 1179 h 1360"/>
                  <a:gd name="T12" fmla="*/ 920 w 1452"/>
                  <a:gd name="T13" fmla="*/ 1088 h 1360"/>
                  <a:gd name="T14" fmla="*/ 1163 w 1452"/>
                  <a:gd name="T15" fmla="*/ 907 h 1360"/>
                  <a:gd name="T16" fmla="*/ 1308 w 1452"/>
                  <a:gd name="T17" fmla="*/ 725 h 1360"/>
                  <a:gd name="T18" fmla="*/ 1453 w 1452"/>
                  <a:gd name="T19" fmla="*/ 499 h 1360"/>
                  <a:gd name="T20" fmla="*/ 1550 w 1452"/>
                  <a:gd name="T21" fmla="*/ 226 h 1360"/>
                  <a:gd name="T22" fmla="*/ 1550 w 1452"/>
                  <a:gd name="T23" fmla="*/ 0 h 1360"/>
                  <a:gd name="T24" fmla="*/ 0 w 1452"/>
                  <a:gd name="T25" fmla="*/ 0 h 136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452"/>
                  <a:gd name="T40" fmla="*/ 0 h 1360"/>
                  <a:gd name="T41" fmla="*/ 1452 w 1452"/>
                  <a:gd name="T42" fmla="*/ 1360 h 1360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452" h="1360">
                    <a:moveTo>
                      <a:pt x="0" y="0"/>
                    </a:moveTo>
                    <a:lnTo>
                      <a:pt x="0" y="1360"/>
                    </a:lnTo>
                    <a:lnTo>
                      <a:pt x="182" y="1360"/>
                    </a:lnTo>
                    <a:lnTo>
                      <a:pt x="363" y="1315"/>
                    </a:lnTo>
                    <a:lnTo>
                      <a:pt x="545" y="1270"/>
                    </a:lnTo>
                    <a:lnTo>
                      <a:pt x="726" y="1179"/>
                    </a:lnTo>
                    <a:lnTo>
                      <a:pt x="862" y="1088"/>
                    </a:lnTo>
                    <a:lnTo>
                      <a:pt x="1089" y="907"/>
                    </a:lnTo>
                    <a:lnTo>
                      <a:pt x="1225" y="725"/>
                    </a:lnTo>
                    <a:lnTo>
                      <a:pt x="1361" y="499"/>
                    </a:lnTo>
                    <a:lnTo>
                      <a:pt x="1452" y="226"/>
                    </a:lnTo>
                    <a:lnTo>
                      <a:pt x="1452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99CCFF"/>
              </a:solidFill>
              <a:ln w="19050">
                <a:solidFill>
                  <a:srgbClr val="666699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grpSp>
            <p:nvGrpSpPr>
              <p:cNvPr id="24592" name="Group 7"/>
              <p:cNvGrpSpPr>
                <a:grpSpLocks/>
              </p:cNvGrpSpPr>
              <p:nvPr/>
            </p:nvGrpSpPr>
            <p:grpSpPr bwMode="auto">
              <a:xfrm>
                <a:off x="1474" y="786"/>
                <a:ext cx="2903" cy="2781"/>
                <a:chOff x="1338" y="799"/>
                <a:chExt cx="2903" cy="2781"/>
              </a:xfrm>
            </p:grpSpPr>
            <p:sp>
              <p:nvSpPr>
                <p:cNvPr id="24683" name="Oval 8"/>
                <p:cNvSpPr>
                  <a:spLocks noChangeArrowheads="1"/>
                </p:cNvSpPr>
                <p:nvPr/>
              </p:nvSpPr>
              <p:spPr bwMode="auto">
                <a:xfrm>
                  <a:off x="1354" y="805"/>
                  <a:ext cx="2887" cy="2775"/>
                </a:xfrm>
                <a:prstGeom prst="ellipse">
                  <a:avLst/>
                </a:prstGeom>
                <a:noFill/>
                <a:ln w="76200">
                  <a:solidFill>
                    <a:srgbClr val="666699"/>
                  </a:solidFill>
                  <a:round/>
                  <a:headEnd/>
                  <a:tailEnd/>
                </a:ln>
                <a:effectLst>
                  <a:prstShdw prst="shdw17" dist="17961" dir="2700000">
                    <a:srgbClr val="3D3D5C"/>
                  </a:prstShdw>
                </a:effectLst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684" name="Oval 9"/>
                <p:cNvSpPr>
                  <a:spLocks noChangeArrowheads="1"/>
                </p:cNvSpPr>
                <p:nvPr/>
              </p:nvSpPr>
              <p:spPr bwMode="auto">
                <a:xfrm>
                  <a:off x="1557" y="999"/>
                  <a:ext cx="2470" cy="2402"/>
                </a:xfrm>
                <a:prstGeom prst="ellips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685" name="Oval 10"/>
                <p:cNvSpPr>
                  <a:spLocks noChangeArrowheads="1"/>
                </p:cNvSpPr>
                <p:nvPr/>
              </p:nvSpPr>
              <p:spPr bwMode="auto">
                <a:xfrm>
                  <a:off x="1733" y="1199"/>
                  <a:ext cx="2092" cy="2018"/>
                </a:xfrm>
                <a:prstGeom prst="ellips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686" name="Oval 11"/>
                <p:cNvSpPr>
                  <a:spLocks noChangeArrowheads="1"/>
                </p:cNvSpPr>
                <p:nvPr/>
              </p:nvSpPr>
              <p:spPr bwMode="auto">
                <a:xfrm>
                  <a:off x="2021" y="1471"/>
                  <a:ext cx="1532" cy="1482"/>
                </a:xfrm>
                <a:prstGeom prst="ellips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687" name="Oval 12"/>
                <p:cNvSpPr>
                  <a:spLocks noChangeArrowheads="1"/>
                </p:cNvSpPr>
                <p:nvPr/>
              </p:nvSpPr>
              <p:spPr bwMode="auto">
                <a:xfrm>
                  <a:off x="2293" y="1727"/>
                  <a:ext cx="996" cy="962"/>
                </a:xfrm>
                <a:prstGeom prst="ellips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688" name="Line 13"/>
                <p:cNvSpPr>
                  <a:spLocks noChangeShapeType="1"/>
                </p:cNvSpPr>
                <p:nvPr/>
              </p:nvSpPr>
              <p:spPr bwMode="auto">
                <a:xfrm>
                  <a:off x="2789" y="799"/>
                  <a:ext cx="0" cy="2767"/>
                </a:xfrm>
                <a:prstGeom prst="lin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689" name="Line 14"/>
                <p:cNvSpPr>
                  <a:spLocks noChangeShapeType="1"/>
                </p:cNvSpPr>
                <p:nvPr/>
              </p:nvSpPr>
              <p:spPr bwMode="auto">
                <a:xfrm>
                  <a:off x="1338" y="2205"/>
                  <a:ext cx="2903" cy="0"/>
                </a:xfrm>
                <a:prstGeom prst="lin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690" name="Line 15"/>
                <p:cNvSpPr>
                  <a:spLocks noChangeShapeType="1"/>
                </p:cNvSpPr>
                <p:nvPr/>
              </p:nvSpPr>
              <p:spPr bwMode="auto">
                <a:xfrm>
                  <a:off x="2245" y="935"/>
                  <a:ext cx="1099" cy="2545"/>
                </a:xfrm>
                <a:prstGeom prst="lin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691" name="Line 16"/>
                <p:cNvSpPr>
                  <a:spLocks noChangeShapeType="1"/>
                </p:cNvSpPr>
                <p:nvPr/>
              </p:nvSpPr>
              <p:spPr bwMode="auto">
                <a:xfrm flipH="1">
                  <a:off x="2245" y="890"/>
                  <a:ext cx="1089" cy="2585"/>
                </a:xfrm>
                <a:prstGeom prst="lin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692" name="Line 17"/>
                <p:cNvSpPr>
                  <a:spLocks noChangeShapeType="1"/>
                </p:cNvSpPr>
                <p:nvPr/>
              </p:nvSpPr>
              <p:spPr bwMode="auto">
                <a:xfrm flipH="1">
                  <a:off x="1768" y="1207"/>
                  <a:ext cx="2065" cy="1969"/>
                </a:xfrm>
                <a:prstGeom prst="lin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693" name="Line 18"/>
                <p:cNvSpPr>
                  <a:spLocks noChangeShapeType="1"/>
                </p:cNvSpPr>
                <p:nvPr/>
              </p:nvSpPr>
              <p:spPr bwMode="auto">
                <a:xfrm>
                  <a:off x="1791" y="1207"/>
                  <a:ext cx="2001" cy="1969"/>
                </a:xfrm>
                <a:prstGeom prst="lin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694" name="Line 19"/>
                <p:cNvSpPr>
                  <a:spLocks noChangeShapeType="1"/>
                </p:cNvSpPr>
                <p:nvPr/>
              </p:nvSpPr>
              <p:spPr bwMode="auto">
                <a:xfrm flipH="1">
                  <a:off x="1474" y="1661"/>
                  <a:ext cx="2631" cy="1089"/>
                </a:xfrm>
                <a:prstGeom prst="lin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  <p:sp>
              <p:nvSpPr>
                <p:cNvPr id="24695" name="Line 20"/>
                <p:cNvSpPr>
                  <a:spLocks noChangeShapeType="1"/>
                </p:cNvSpPr>
                <p:nvPr/>
              </p:nvSpPr>
              <p:spPr bwMode="auto">
                <a:xfrm>
                  <a:off x="1474" y="1661"/>
                  <a:ext cx="2631" cy="1089"/>
                </a:xfrm>
                <a:prstGeom prst="line">
                  <a:avLst/>
                </a:prstGeom>
                <a:noFill/>
                <a:ln w="19050">
                  <a:solidFill>
                    <a:srgbClr val="666699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/>
                <a:p>
                  <a:endParaRPr lang="en-US"/>
                </a:p>
              </p:txBody>
            </p:sp>
          </p:grpSp>
          <p:sp>
            <p:nvSpPr>
              <p:cNvPr id="24593" name="Rectangle 21"/>
              <p:cNvSpPr>
                <a:spLocks noChangeArrowheads="1"/>
              </p:cNvSpPr>
              <p:nvPr/>
            </p:nvSpPr>
            <p:spPr bwMode="auto">
              <a:xfrm>
                <a:off x="567" y="1253"/>
                <a:ext cx="859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>
                    <a:solidFill>
                      <a:srgbClr val="003399"/>
                    </a:solidFill>
                  </a:rPr>
                  <a:t>Stakeholder Analysis</a:t>
                </a:r>
              </a:p>
            </p:txBody>
          </p:sp>
          <p:sp>
            <p:nvSpPr>
              <p:cNvPr id="24594" name="Rectangle 22"/>
              <p:cNvSpPr>
                <a:spLocks noChangeArrowheads="1"/>
              </p:cNvSpPr>
              <p:nvPr/>
            </p:nvSpPr>
            <p:spPr bwMode="auto">
              <a:xfrm>
                <a:off x="163" y="1774"/>
                <a:ext cx="1172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>
                    <a:solidFill>
                      <a:srgbClr val="003399"/>
                    </a:solidFill>
                  </a:rPr>
                  <a:t>Enterprise Architecture Maturity &amp; Diagnostics </a:t>
                </a:r>
              </a:p>
            </p:txBody>
          </p:sp>
          <p:sp>
            <p:nvSpPr>
              <p:cNvPr id="24595" name="Rectangle 24"/>
              <p:cNvSpPr>
                <a:spLocks noChangeArrowheads="1"/>
              </p:cNvSpPr>
              <p:nvPr/>
            </p:nvSpPr>
            <p:spPr bwMode="auto">
              <a:xfrm>
                <a:off x="4696" y="2409"/>
                <a:ext cx="724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>
                    <a:solidFill>
                      <a:srgbClr val="003399"/>
                    </a:solidFill>
                  </a:rPr>
                  <a:t>EA Awareness Formulation</a:t>
                </a:r>
              </a:p>
            </p:txBody>
          </p:sp>
          <p:sp>
            <p:nvSpPr>
              <p:cNvPr id="24596" name="Rectangle 25"/>
              <p:cNvSpPr>
                <a:spLocks noChangeArrowheads="1"/>
              </p:cNvSpPr>
              <p:nvPr/>
            </p:nvSpPr>
            <p:spPr bwMode="auto">
              <a:xfrm>
                <a:off x="4474" y="3000"/>
                <a:ext cx="810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>
                    <a:solidFill>
                      <a:srgbClr val="003399"/>
                    </a:solidFill>
                  </a:rPr>
                  <a:t>EA Program Definition</a:t>
                </a:r>
              </a:p>
            </p:txBody>
          </p:sp>
          <p:sp>
            <p:nvSpPr>
              <p:cNvPr id="24597" name="Rectangle 26"/>
              <p:cNvSpPr>
                <a:spLocks noChangeArrowheads="1"/>
              </p:cNvSpPr>
              <p:nvPr/>
            </p:nvSpPr>
            <p:spPr bwMode="auto">
              <a:xfrm>
                <a:off x="4018" y="3498"/>
                <a:ext cx="1331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>
                    <a:solidFill>
                      <a:srgbClr val="003399"/>
                    </a:solidFill>
                  </a:rPr>
                  <a:t>Vision / Strategic Intent EA Requirements</a:t>
                </a:r>
              </a:p>
            </p:txBody>
          </p:sp>
          <p:sp>
            <p:nvSpPr>
              <p:cNvPr id="24598" name="Rectangle 27"/>
              <p:cNvSpPr>
                <a:spLocks noChangeArrowheads="1"/>
              </p:cNvSpPr>
              <p:nvPr/>
            </p:nvSpPr>
            <p:spPr bwMode="auto">
              <a:xfrm>
                <a:off x="3424" y="3796"/>
                <a:ext cx="1040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>
                    <a:solidFill>
                      <a:srgbClr val="003399"/>
                    </a:solidFill>
                  </a:rPr>
                  <a:t>Accelerating Market Knowledge</a:t>
                </a:r>
              </a:p>
            </p:txBody>
          </p:sp>
          <p:sp>
            <p:nvSpPr>
              <p:cNvPr id="24599" name="Rectangle 28"/>
              <p:cNvSpPr>
                <a:spLocks noChangeArrowheads="1"/>
              </p:cNvSpPr>
              <p:nvPr/>
            </p:nvSpPr>
            <p:spPr bwMode="auto">
              <a:xfrm>
                <a:off x="1190" y="3387"/>
                <a:ext cx="835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l">
                  <a:lnSpc>
                    <a:spcPct val="85000"/>
                  </a:lnSpc>
                </a:pPr>
                <a:r>
                  <a:rPr lang="en-GB">
                    <a:solidFill>
                      <a:srgbClr val="003399"/>
                    </a:solidFill>
                  </a:rPr>
                  <a:t>EA Programs &amp; Management</a:t>
                </a:r>
              </a:p>
            </p:txBody>
          </p:sp>
          <p:sp>
            <p:nvSpPr>
              <p:cNvPr id="24600" name="Rectangle 29"/>
              <p:cNvSpPr>
                <a:spLocks noChangeArrowheads="1"/>
              </p:cNvSpPr>
              <p:nvPr/>
            </p:nvSpPr>
            <p:spPr bwMode="auto">
              <a:xfrm>
                <a:off x="1344" y="3793"/>
                <a:ext cx="1290" cy="317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l">
                  <a:lnSpc>
                    <a:spcPct val="85000"/>
                  </a:lnSpc>
                </a:pPr>
                <a:r>
                  <a:rPr lang="en-GB">
                    <a:solidFill>
                      <a:srgbClr val="003399"/>
                    </a:solidFill>
                  </a:rPr>
                  <a:t>Visioning / Mapping </a:t>
                </a:r>
                <a:br>
                  <a:rPr lang="en-GB">
                    <a:solidFill>
                      <a:srgbClr val="003399"/>
                    </a:solidFill>
                  </a:rPr>
                </a:br>
                <a:r>
                  <a:rPr lang="en-GB">
                    <a:solidFill>
                      <a:srgbClr val="003399"/>
                    </a:solidFill>
                  </a:rPr>
                  <a:t>the Enterprise Architecture Frameworks</a:t>
                </a:r>
              </a:p>
            </p:txBody>
          </p:sp>
          <p:sp>
            <p:nvSpPr>
              <p:cNvPr id="24601" name="Rectangle 30"/>
              <p:cNvSpPr>
                <a:spLocks noChangeArrowheads="1"/>
              </p:cNvSpPr>
              <p:nvPr/>
            </p:nvSpPr>
            <p:spPr bwMode="auto">
              <a:xfrm>
                <a:off x="748" y="2978"/>
                <a:ext cx="706" cy="231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l">
                  <a:lnSpc>
                    <a:spcPct val="85000"/>
                  </a:lnSpc>
                </a:pPr>
                <a:r>
                  <a:rPr lang="en-GB">
                    <a:solidFill>
                      <a:srgbClr val="003399"/>
                    </a:solidFill>
                  </a:rPr>
                  <a:t>EA Modelling &amp; Techniques</a:t>
                </a:r>
              </a:p>
            </p:txBody>
          </p:sp>
          <p:sp>
            <p:nvSpPr>
              <p:cNvPr id="24602" name="Rectangle 31"/>
              <p:cNvSpPr>
                <a:spLocks noChangeArrowheads="1"/>
              </p:cNvSpPr>
              <p:nvPr/>
            </p:nvSpPr>
            <p:spPr bwMode="auto">
              <a:xfrm>
                <a:off x="368" y="2429"/>
                <a:ext cx="952" cy="23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/>
              <a:p>
                <a:pPr algn="l">
                  <a:lnSpc>
                    <a:spcPct val="85000"/>
                  </a:lnSpc>
                </a:pPr>
                <a:r>
                  <a:rPr lang="en-GB">
                    <a:solidFill>
                      <a:srgbClr val="003399"/>
                    </a:solidFill>
                  </a:rPr>
                  <a:t>Business Case Design &amp; Tracking</a:t>
                </a:r>
              </a:p>
            </p:txBody>
          </p:sp>
          <p:sp>
            <p:nvSpPr>
              <p:cNvPr id="24603" name="Rectangle 32"/>
              <p:cNvSpPr>
                <a:spLocks noChangeArrowheads="1"/>
              </p:cNvSpPr>
              <p:nvPr/>
            </p:nvSpPr>
            <p:spPr bwMode="auto">
              <a:xfrm>
                <a:off x="3377" y="391"/>
                <a:ext cx="955" cy="39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>
                  <a:lnSpc>
                    <a:spcPct val="85000"/>
                  </a:lnSpc>
                  <a:buClr>
                    <a:schemeClr val="tx2"/>
                  </a:buClr>
                  <a:buFont typeface="Wingdings" pitchFamily="2" charset="2"/>
                  <a:buNone/>
                </a:pPr>
                <a:r>
                  <a:rPr lang="en-GB">
                    <a:solidFill>
                      <a:srgbClr val="003399"/>
                    </a:solidFill>
                  </a:rPr>
                  <a:t>Business Technology </a:t>
                </a:r>
                <a:br>
                  <a:rPr lang="en-GB">
                    <a:solidFill>
                      <a:srgbClr val="003399"/>
                    </a:solidFill>
                  </a:rPr>
                </a:br>
                <a:r>
                  <a:rPr lang="en-GB">
                    <a:solidFill>
                      <a:srgbClr val="003399"/>
                    </a:solidFill>
                  </a:rPr>
                  <a:t>Strategy development</a:t>
                </a:r>
              </a:p>
            </p:txBody>
          </p:sp>
          <p:sp>
            <p:nvSpPr>
              <p:cNvPr id="24604" name="Rectangle 33"/>
              <p:cNvSpPr>
                <a:spLocks noChangeArrowheads="1"/>
              </p:cNvSpPr>
              <p:nvPr/>
            </p:nvSpPr>
            <p:spPr bwMode="auto">
              <a:xfrm>
                <a:off x="1927" y="391"/>
                <a:ext cx="636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>
                    <a:solidFill>
                      <a:srgbClr val="003399"/>
                    </a:solidFill>
                  </a:rPr>
                  <a:t>Soft Skills &amp; techniques</a:t>
                </a:r>
              </a:p>
            </p:txBody>
          </p:sp>
          <p:sp>
            <p:nvSpPr>
              <p:cNvPr id="24605" name="Rectangle 34"/>
              <p:cNvSpPr>
                <a:spLocks noChangeArrowheads="1"/>
              </p:cNvSpPr>
              <p:nvPr/>
            </p:nvSpPr>
            <p:spPr bwMode="auto">
              <a:xfrm>
                <a:off x="1036" y="709"/>
                <a:ext cx="892" cy="2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>
                    <a:solidFill>
                      <a:srgbClr val="003399"/>
                    </a:solidFill>
                  </a:rPr>
                  <a:t>EA Capabilities Development </a:t>
                </a:r>
              </a:p>
            </p:txBody>
          </p:sp>
          <p:sp>
            <p:nvSpPr>
              <p:cNvPr id="24606" name="Text Box 39"/>
              <p:cNvSpPr txBox="1">
                <a:spLocks noChangeArrowheads="1"/>
              </p:cNvSpPr>
              <p:nvPr/>
            </p:nvSpPr>
            <p:spPr bwMode="auto">
              <a:xfrm>
                <a:off x="3968" y="709"/>
                <a:ext cx="999" cy="2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r>
                  <a:rPr lang="en-GB">
                    <a:solidFill>
                      <a:srgbClr val="003399"/>
                    </a:solidFill>
                  </a:rPr>
                  <a:t>Organisational Politics behaviour</a:t>
                </a:r>
              </a:p>
            </p:txBody>
          </p:sp>
          <p:sp>
            <p:nvSpPr>
              <p:cNvPr id="24607" name="Text Box 42"/>
              <p:cNvSpPr txBox="1">
                <a:spLocks noChangeArrowheads="1"/>
              </p:cNvSpPr>
              <p:nvPr/>
            </p:nvSpPr>
            <p:spPr bwMode="auto">
              <a:xfrm>
                <a:off x="2688" y="3303"/>
                <a:ext cx="434" cy="1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>
                    <a:solidFill>
                      <a:schemeClr val="tx1"/>
                    </a:solidFill>
                    <a:latin typeface="Verdana" pitchFamily="34" charset="0"/>
                  </a:rPr>
                  <a:t>Expert</a:t>
                </a:r>
              </a:p>
            </p:txBody>
          </p:sp>
          <p:sp>
            <p:nvSpPr>
              <p:cNvPr id="24608" name="Text Box 46"/>
              <p:cNvSpPr txBox="1">
                <a:spLocks noChangeArrowheads="1"/>
              </p:cNvSpPr>
              <p:nvPr/>
            </p:nvSpPr>
            <p:spPr bwMode="auto">
              <a:xfrm>
                <a:off x="2688" y="899"/>
                <a:ext cx="434" cy="1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>
                    <a:solidFill>
                      <a:schemeClr val="tx1"/>
                    </a:solidFill>
                    <a:latin typeface="Verdana" pitchFamily="34" charset="0"/>
                  </a:rPr>
                  <a:t>Expert</a:t>
                </a:r>
              </a:p>
            </p:txBody>
          </p:sp>
          <p:sp>
            <p:nvSpPr>
              <p:cNvPr id="24609" name="Oval 54"/>
              <p:cNvSpPr>
                <a:spLocks noChangeArrowheads="1"/>
              </p:cNvSpPr>
              <p:nvPr/>
            </p:nvSpPr>
            <p:spPr bwMode="auto">
              <a:xfrm>
                <a:off x="1879" y="149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10" name="Oval 55"/>
              <p:cNvSpPr>
                <a:spLocks noChangeArrowheads="1"/>
              </p:cNvSpPr>
              <p:nvPr/>
            </p:nvSpPr>
            <p:spPr bwMode="auto">
              <a:xfrm>
                <a:off x="1867" y="1967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11" name="Oval 56"/>
              <p:cNvSpPr>
                <a:spLocks noChangeArrowheads="1"/>
              </p:cNvSpPr>
              <p:nvPr/>
            </p:nvSpPr>
            <p:spPr bwMode="auto">
              <a:xfrm>
                <a:off x="1691" y="193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12" name="Oval 57"/>
              <p:cNvSpPr>
                <a:spLocks noChangeArrowheads="1"/>
              </p:cNvSpPr>
              <p:nvPr/>
            </p:nvSpPr>
            <p:spPr bwMode="auto">
              <a:xfrm>
                <a:off x="2027" y="159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13" name="Oval 58"/>
              <p:cNvSpPr>
                <a:spLocks noChangeArrowheads="1"/>
              </p:cNvSpPr>
              <p:nvPr/>
            </p:nvSpPr>
            <p:spPr bwMode="auto">
              <a:xfrm>
                <a:off x="3095" y="117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14" name="Oval 59"/>
              <p:cNvSpPr>
                <a:spLocks noChangeArrowheads="1"/>
              </p:cNvSpPr>
              <p:nvPr/>
            </p:nvSpPr>
            <p:spPr bwMode="auto">
              <a:xfrm>
                <a:off x="2263" y="176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15" name="Oval 60"/>
              <p:cNvSpPr>
                <a:spLocks noChangeArrowheads="1"/>
              </p:cNvSpPr>
              <p:nvPr/>
            </p:nvSpPr>
            <p:spPr bwMode="auto">
              <a:xfrm>
                <a:off x="2485" y="155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16" name="Oval 61"/>
              <p:cNvSpPr>
                <a:spLocks noChangeArrowheads="1"/>
              </p:cNvSpPr>
              <p:nvPr/>
            </p:nvSpPr>
            <p:spPr bwMode="auto">
              <a:xfrm>
                <a:off x="2323" y="132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17" name="Oval 62"/>
              <p:cNvSpPr>
                <a:spLocks noChangeArrowheads="1"/>
              </p:cNvSpPr>
              <p:nvPr/>
            </p:nvSpPr>
            <p:spPr bwMode="auto">
              <a:xfrm>
                <a:off x="2221" y="1154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18" name="Oval 63"/>
              <p:cNvSpPr>
                <a:spLocks noChangeArrowheads="1"/>
              </p:cNvSpPr>
              <p:nvPr/>
            </p:nvSpPr>
            <p:spPr bwMode="auto">
              <a:xfrm>
                <a:off x="2689" y="974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19" name="Oval 64"/>
              <p:cNvSpPr>
                <a:spLocks noChangeArrowheads="1"/>
              </p:cNvSpPr>
              <p:nvPr/>
            </p:nvSpPr>
            <p:spPr bwMode="auto">
              <a:xfrm>
                <a:off x="2707" y="117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20" name="Oval 65"/>
              <p:cNvSpPr>
                <a:spLocks noChangeArrowheads="1"/>
              </p:cNvSpPr>
              <p:nvPr/>
            </p:nvSpPr>
            <p:spPr bwMode="auto">
              <a:xfrm>
                <a:off x="2761" y="144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21" name="Oval 66"/>
              <p:cNvSpPr>
                <a:spLocks noChangeArrowheads="1"/>
              </p:cNvSpPr>
              <p:nvPr/>
            </p:nvSpPr>
            <p:spPr bwMode="auto">
              <a:xfrm>
                <a:off x="3037" y="143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22" name="Text Box 48"/>
              <p:cNvSpPr txBox="1">
                <a:spLocks noChangeArrowheads="1"/>
              </p:cNvSpPr>
              <p:nvPr/>
            </p:nvSpPr>
            <p:spPr bwMode="auto">
              <a:xfrm>
                <a:off x="2593" y="1398"/>
                <a:ext cx="644" cy="1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>
                    <a:solidFill>
                      <a:schemeClr val="tx1"/>
                    </a:solidFill>
                    <a:latin typeface="Verdana" pitchFamily="34" charset="0"/>
                  </a:rPr>
                  <a:t>Knowledge</a:t>
                </a:r>
              </a:p>
            </p:txBody>
          </p:sp>
          <p:sp>
            <p:nvSpPr>
              <p:cNvPr id="24623" name="Oval 67"/>
              <p:cNvSpPr>
                <a:spLocks noChangeArrowheads="1"/>
              </p:cNvSpPr>
              <p:nvPr/>
            </p:nvSpPr>
            <p:spPr bwMode="auto">
              <a:xfrm>
                <a:off x="2149" y="204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24" name="Oval 68"/>
              <p:cNvSpPr>
                <a:spLocks noChangeArrowheads="1"/>
              </p:cNvSpPr>
              <p:nvPr/>
            </p:nvSpPr>
            <p:spPr bwMode="auto">
              <a:xfrm>
                <a:off x="3131" y="97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25" name="Oval 69"/>
              <p:cNvSpPr>
                <a:spLocks noChangeArrowheads="1"/>
              </p:cNvSpPr>
              <p:nvPr/>
            </p:nvSpPr>
            <p:spPr bwMode="auto">
              <a:xfrm>
                <a:off x="3173" y="1770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26" name="Oval 70"/>
              <p:cNvSpPr>
                <a:spLocks noChangeArrowheads="1"/>
              </p:cNvSpPr>
              <p:nvPr/>
            </p:nvSpPr>
            <p:spPr bwMode="auto">
              <a:xfrm>
                <a:off x="3323" y="154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27" name="Oval 71"/>
              <p:cNvSpPr>
                <a:spLocks noChangeArrowheads="1"/>
              </p:cNvSpPr>
              <p:nvPr/>
            </p:nvSpPr>
            <p:spPr bwMode="auto">
              <a:xfrm>
                <a:off x="3461" y="133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28" name="Oval 72"/>
              <p:cNvSpPr>
                <a:spLocks noChangeArrowheads="1"/>
              </p:cNvSpPr>
              <p:nvPr/>
            </p:nvSpPr>
            <p:spPr bwMode="auto">
              <a:xfrm>
                <a:off x="3593" y="115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29" name="Oval 73"/>
              <p:cNvSpPr>
                <a:spLocks noChangeArrowheads="1"/>
              </p:cNvSpPr>
              <p:nvPr/>
            </p:nvSpPr>
            <p:spPr bwMode="auto">
              <a:xfrm>
                <a:off x="1697" y="2400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0" name="Oval 74"/>
              <p:cNvSpPr>
                <a:spLocks noChangeArrowheads="1"/>
              </p:cNvSpPr>
              <p:nvPr/>
            </p:nvSpPr>
            <p:spPr bwMode="auto">
              <a:xfrm>
                <a:off x="1865" y="2370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1" name="Oval 75"/>
              <p:cNvSpPr>
                <a:spLocks noChangeArrowheads="1"/>
              </p:cNvSpPr>
              <p:nvPr/>
            </p:nvSpPr>
            <p:spPr bwMode="auto">
              <a:xfrm>
                <a:off x="2159" y="231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2" name="Oval 76"/>
              <p:cNvSpPr>
                <a:spLocks noChangeArrowheads="1"/>
              </p:cNvSpPr>
              <p:nvPr/>
            </p:nvSpPr>
            <p:spPr bwMode="auto">
              <a:xfrm>
                <a:off x="2423" y="2274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3" name="Oval 77"/>
              <p:cNvSpPr>
                <a:spLocks noChangeArrowheads="1"/>
              </p:cNvSpPr>
              <p:nvPr/>
            </p:nvSpPr>
            <p:spPr bwMode="auto">
              <a:xfrm>
                <a:off x="2411" y="2064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4" name="Oval 78"/>
              <p:cNvSpPr>
                <a:spLocks noChangeArrowheads="1"/>
              </p:cNvSpPr>
              <p:nvPr/>
            </p:nvSpPr>
            <p:spPr bwMode="auto">
              <a:xfrm>
                <a:off x="2495" y="187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5" name="Oval 79"/>
              <p:cNvSpPr>
                <a:spLocks noChangeArrowheads="1"/>
              </p:cNvSpPr>
              <p:nvPr/>
            </p:nvSpPr>
            <p:spPr bwMode="auto">
              <a:xfrm>
                <a:off x="2627" y="1770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6" name="Oval 80"/>
              <p:cNvSpPr>
                <a:spLocks noChangeArrowheads="1"/>
              </p:cNvSpPr>
              <p:nvPr/>
            </p:nvSpPr>
            <p:spPr bwMode="auto">
              <a:xfrm>
                <a:off x="2801" y="169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7" name="Oval 81"/>
              <p:cNvSpPr>
                <a:spLocks noChangeArrowheads="1"/>
              </p:cNvSpPr>
              <p:nvPr/>
            </p:nvSpPr>
            <p:spPr bwMode="auto">
              <a:xfrm>
                <a:off x="2993" y="169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38" name="Text Box 49"/>
              <p:cNvSpPr txBox="1">
                <a:spLocks noChangeArrowheads="1"/>
              </p:cNvSpPr>
              <p:nvPr/>
            </p:nvSpPr>
            <p:spPr bwMode="auto">
              <a:xfrm>
                <a:off x="2735" y="1652"/>
                <a:ext cx="371" cy="1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>
                    <a:solidFill>
                      <a:schemeClr val="tx1"/>
                    </a:solidFill>
                    <a:latin typeface="Verdana" pitchFamily="34" charset="0"/>
                  </a:rPr>
                  <a:t>None</a:t>
                </a:r>
              </a:p>
            </p:txBody>
          </p:sp>
          <p:sp>
            <p:nvSpPr>
              <p:cNvPr id="24639" name="Text Box 47"/>
              <p:cNvSpPr txBox="1">
                <a:spLocks noChangeArrowheads="1"/>
              </p:cNvSpPr>
              <p:nvPr/>
            </p:nvSpPr>
            <p:spPr bwMode="auto">
              <a:xfrm>
                <a:off x="2591" y="1126"/>
                <a:ext cx="679" cy="1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>
                    <a:solidFill>
                      <a:schemeClr val="tx1"/>
                    </a:solidFill>
                    <a:latin typeface="Verdana" pitchFamily="34" charset="0"/>
                  </a:rPr>
                  <a:t>Practitioner</a:t>
                </a:r>
              </a:p>
            </p:txBody>
          </p:sp>
          <p:sp>
            <p:nvSpPr>
              <p:cNvPr id="24640" name="Oval 82"/>
              <p:cNvSpPr>
                <a:spLocks noChangeArrowheads="1"/>
              </p:cNvSpPr>
              <p:nvPr/>
            </p:nvSpPr>
            <p:spPr bwMode="auto">
              <a:xfrm>
                <a:off x="2495" y="243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41" name="Oval 83"/>
              <p:cNvSpPr>
                <a:spLocks noChangeArrowheads="1"/>
              </p:cNvSpPr>
              <p:nvPr/>
            </p:nvSpPr>
            <p:spPr bwMode="auto">
              <a:xfrm>
                <a:off x="2267" y="258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42" name="Oval 84"/>
              <p:cNvSpPr>
                <a:spLocks noChangeArrowheads="1"/>
              </p:cNvSpPr>
              <p:nvPr/>
            </p:nvSpPr>
            <p:spPr bwMode="auto">
              <a:xfrm>
                <a:off x="2009" y="271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43" name="Oval 85"/>
              <p:cNvSpPr>
                <a:spLocks noChangeArrowheads="1"/>
              </p:cNvSpPr>
              <p:nvPr/>
            </p:nvSpPr>
            <p:spPr bwMode="auto">
              <a:xfrm>
                <a:off x="1877" y="283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44" name="Oval 86"/>
              <p:cNvSpPr>
                <a:spLocks noChangeArrowheads="1"/>
              </p:cNvSpPr>
              <p:nvPr/>
            </p:nvSpPr>
            <p:spPr bwMode="auto">
              <a:xfrm>
                <a:off x="2627" y="256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45" name="Oval 87"/>
              <p:cNvSpPr>
                <a:spLocks noChangeArrowheads="1"/>
              </p:cNvSpPr>
              <p:nvPr/>
            </p:nvSpPr>
            <p:spPr bwMode="auto">
              <a:xfrm>
                <a:off x="2459" y="277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46" name="Oval 88"/>
              <p:cNvSpPr>
                <a:spLocks noChangeArrowheads="1"/>
              </p:cNvSpPr>
              <p:nvPr/>
            </p:nvSpPr>
            <p:spPr bwMode="auto">
              <a:xfrm>
                <a:off x="2315" y="300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47" name="Oval 89"/>
              <p:cNvSpPr>
                <a:spLocks noChangeArrowheads="1"/>
              </p:cNvSpPr>
              <p:nvPr/>
            </p:nvSpPr>
            <p:spPr bwMode="auto">
              <a:xfrm>
                <a:off x="2207" y="315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48" name="Oval 90"/>
              <p:cNvSpPr>
                <a:spLocks noChangeArrowheads="1"/>
              </p:cNvSpPr>
              <p:nvPr/>
            </p:nvSpPr>
            <p:spPr bwMode="auto">
              <a:xfrm>
                <a:off x="2783" y="2634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49" name="Oval 91"/>
              <p:cNvSpPr>
                <a:spLocks noChangeArrowheads="1"/>
              </p:cNvSpPr>
              <p:nvPr/>
            </p:nvSpPr>
            <p:spPr bwMode="auto">
              <a:xfrm>
                <a:off x="2753" y="289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50" name="Oval 92"/>
              <p:cNvSpPr>
                <a:spLocks noChangeArrowheads="1"/>
              </p:cNvSpPr>
              <p:nvPr/>
            </p:nvSpPr>
            <p:spPr bwMode="auto">
              <a:xfrm>
                <a:off x="2693" y="315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51" name="Oval 93"/>
              <p:cNvSpPr>
                <a:spLocks noChangeArrowheads="1"/>
              </p:cNvSpPr>
              <p:nvPr/>
            </p:nvSpPr>
            <p:spPr bwMode="auto">
              <a:xfrm>
                <a:off x="2669" y="333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52" name="Oval 94"/>
              <p:cNvSpPr>
                <a:spLocks noChangeArrowheads="1"/>
              </p:cNvSpPr>
              <p:nvPr/>
            </p:nvSpPr>
            <p:spPr bwMode="auto">
              <a:xfrm>
                <a:off x="2993" y="2640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53" name="Oval 95"/>
              <p:cNvSpPr>
                <a:spLocks noChangeArrowheads="1"/>
              </p:cNvSpPr>
              <p:nvPr/>
            </p:nvSpPr>
            <p:spPr bwMode="auto">
              <a:xfrm>
                <a:off x="3047" y="289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54" name="Oval 96"/>
              <p:cNvSpPr>
                <a:spLocks noChangeArrowheads="1"/>
              </p:cNvSpPr>
              <p:nvPr/>
            </p:nvSpPr>
            <p:spPr bwMode="auto">
              <a:xfrm>
                <a:off x="3089" y="316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55" name="Oval 97"/>
              <p:cNvSpPr>
                <a:spLocks noChangeArrowheads="1"/>
              </p:cNvSpPr>
              <p:nvPr/>
            </p:nvSpPr>
            <p:spPr bwMode="auto">
              <a:xfrm>
                <a:off x="3125" y="334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56" name="Oval 98"/>
              <p:cNvSpPr>
                <a:spLocks noChangeArrowheads="1"/>
              </p:cNvSpPr>
              <p:nvPr/>
            </p:nvSpPr>
            <p:spPr bwMode="auto">
              <a:xfrm>
                <a:off x="3185" y="256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57" name="Oval 99"/>
              <p:cNvSpPr>
                <a:spLocks noChangeArrowheads="1"/>
              </p:cNvSpPr>
              <p:nvPr/>
            </p:nvSpPr>
            <p:spPr bwMode="auto">
              <a:xfrm>
                <a:off x="3329" y="277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58" name="Oval 100"/>
              <p:cNvSpPr>
                <a:spLocks noChangeArrowheads="1"/>
              </p:cNvSpPr>
              <p:nvPr/>
            </p:nvSpPr>
            <p:spPr bwMode="auto">
              <a:xfrm>
                <a:off x="3479" y="2994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59" name="Oval 101"/>
              <p:cNvSpPr>
                <a:spLocks noChangeArrowheads="1"/>
              </p:cNvSpPr>
              <p:nvPr/>
            </p:nvSpPr>
            <p:spPr bwMode="auto">
              <a:xfrm>
                <a:off x="3581" y="316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60" name="Oval 102"/>
              <p:cNvSpPr>
                <a:spLocks noChangeArrowheads="1"/>
              </p:cNvSpPr>
              <p:nvPr/>
            </p:nvSpPr>
            <p:spPr bwMode="auto">
              <a:xfrm>
                <a:off x="3311" y="244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61" name="Oval 103"/>
              <p:cNvSpPr>
                <a:spLocks noChangeArrowheads="1"/>
              </p:cNvSpPr>
              <p:nvPr/>
            </p:nvSpPr>
            <p:spPr bwMode="auto">
              <a:xfrm>
                <a:off x="3533" y="258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62" name="Oval 104"/>
              <p:cNvSpPr>
                <a:spLocks noChangeArrowheads="1"/>
              </p:cNvSpPr>
              <p:nvPr/>
            </p:nvSpPr>
            <p:spPr bwMode="auto">
              <a:xfrm>
                <a:off x="3749" y="2724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63" name="Oval 105"/>
              <p:cNvSpPr>
                <a:spLocks noChangeArrowheads="1"/>
              </p:cNvSpPr>
              <p:nvPr/>
            </p:nvSpPr>
            <p:spPr bwMode="auto">
              <a:xfrm>
                <a:off x="3929" y="283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64" name="Text Box 43"/>
              <p:cNvSpPr txBox="1">
                <a:spLocks noChangeArrowheads="1"/>
              </p:cNvSpPr>
              <p:nvPr/>
            </p:nvSpPr>
            <p:spPr bwMode="auto">
              <a:xfrm>
                <a:off x="2591" y="3076"/>
                <a:ext cx="679" cy="1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>
                    <a:solidFill>
                      <a:schemeClr val="tx1"/>
                    </a:solidFill>
                    <a:latin typeface="Verdana" pitchFamily="34" charset="0"/>
                  </a:rPr>
                  <a:t>Practitioner</a:t>
                </a:r>
              </a:p>
            </p:txBody>
          </p:sp>
          <p:sp>
            <p:nvSpPr>
              <p:cNvPr id="24665" name="Text Box 44"/>
              <p:cNvSpPr txBox="1">
                <a:spLocks noChangeArrowheads="1"/>
              </p:cNvSpPr>
              <p:nvPr/>
            </p:nvSpPr>
            <p:spPr bwMode="auto">
              <a:xfrm>
                <a:off x="2593" y="2804"/>
                <a:ext cx="644" cy="1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>
                    <a:solidFill>
                      <a:schemeClr val="tx1"/>
                    </a:solidFill>
                    <a:latin typeface="Verdana" pitchFamily="34" charset="0"/>
                  </a:rPr>
                  <a:t>Knowledge</a:t>
                </a:r>
              </a:p>
            </p:txBody>
          </p:sp>
          <p:sp>
            <p:nvSpPr>
              <p:cNvPr id="24666" name="Text Box 45"/>
              <p:cNvSpPr txBox="1">
                <a:spLocks noChangeArrowheads="1"/>
              </p:cNvSpPr>
              <p:nvPr/>
            </p:nvSpPr>
            <p:spPr bwMode="auto">
              <a:xfrm>
                <a:off x="2735" y="2577"/>
                <a:ext cx="371" cy="16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 wrap="none">
                <a:spAutoFit/>
              </a:bodyPr>
              <a:lstStyle/>
              <a:p>
                <a:r>
                  <a:rPr lang="en-GB">
                    <a:solidFill>
                      <a:schemeClr val="tx1"/>
                    </a:solidFill>
                    <a:latin typeface="Verdana" pitchFamily="34" charset="0"/>
                  </a:rPr>
                  <a:t>None</a:t>
                </a:r>
              </a:p>
            </p:txBody>
          </p:sp>
          <p:sp>
            <p:nvSpPr>
              <p:cNvPr id="24667" name="Oval 106"/>
              <p:cNvSpPr>
                <a:spLocks noChangeArrowheads="1"/>
              </p:cNvSpPr>
              <p:nvPr/>
            </p:nvSpPr>
            <p:spPr bwMode="auto">
              <a:xfrm>
                <a:off x="3383" y="225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68" name="Oval 107"/>
              <p:cNvSpPr>
                <a:spLocks noChangeArrowheads="1"/>
              </p:cNvSpPr>
              <p:nvPr/>
            </p:nvSpPr>
            <p:spPr bwMode="auto">
              <a:xfrm>
                <a:off x="3641" y="2316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69" name="Oval 108"/>
              <p:cNvSpPr>
                <a:spLocks noChangeArrowheads="1"/>
              </p:cNvSpPr>
              <p:nvPr/>
            </p:nvSpPr>
            <p:spPr bwMode="auto">
              <a:xfrm>
                <a:off x="3917" y="235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70" name="Oval 109"/>
              <p:cNvSpPr>
                <a:spLocks noChangeArrowheads="1"/>
              </p:cNvSpPr>
              <p:nvPr/>
            </p:nvSpPr>
            <p:spPr bwMode="auto">
              <a:xfrm>
                <a:off x="4097" y="2424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71" name="Oval 110"/>
              <p:cNvSpPr>
                <a:spLocks noChangeArrowheads="1"/>
              </p:cNvSpPr>
              <p:nvPr/>
            </p:nvSpPr>
            <p:spPr bwMode="auto">
              <a:xfrm>
                <a:off x="3395" y="2082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72" name="Oval 111"/>
              <p:cNvSpPr>
                <a:spLocks noChangeArrowheads="1"/>
              </p:cNvSpPr>
              <p:nvPr/>
            </p:nvSpPr>
            <p:spPr bwMode="auto">
              <a:xfrm>
                <a:off x="3647" y="202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73" name="Oval 112"/>
              <p:cNvSpPr>
                <a:spLocks noChangeArrowheads="1"/>
              </p:cNvSpPr>
              <p:nvPr/>
            </p:nvSpPr>
            <p:spPr bwMode="auto">
              <a:xfrm>
                <a:off x="3917" y="1974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74" name="Oval 113"/>
              <p:cNvSpPr>
                <a:spLocks noChangeArrowheads="1"/>
              </p:cNvSpPr>
              <p:nvPr/>
            </p:nvSpPr>
            <p:spPr bwMode="auto">
              <a:xfrm>
                <a:off x="4115" y="1944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75" name="Oval 114"/>
              <p:cNvSpPr>
                <a:spLocks noChangeArrowheads="1"/>
              </p:cNvSpPr>
              <p:nvPr/>
            </p:nvSpPr>
            <p:spPr bwMode="auto">
              <a:xfrm>
                <a:off x="3311" y="1890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76" name="Oval 115"/>
              <p:cNvSpPr>
                <a:spLocks noChangeArrowheads="1"/>
              </p:cNvSpPr>
              <p:nvPr/>
            </p:nvSpPr>
            <p:spPr bwMode="auto">
              <a:xfrm>
                <a:off x="3533" y="175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77" name="Oval 116"/>
              <p:cNvSpPr>
                <a:spLocks noChangeArrowheads="1"/>
              </p:cNvSpPr>
              <p:nvPr/>
            </p:nvSpPr>
            <p:spPr bwMode="auto">
              <a:xfrm>
                <a:off x="3761" y="1608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78" name="Oval 117"/>
              <p:cNvSpPr>
                <a:spLocks noChangeArrowheads="1"/>
              </p:cNvSpPr>
              <p:nvPr/>
            </p:nvSpPr>
            <p:spPr bwMode="auto">
              <a:xfrm>
                <a:off x="3929" y="1500"/>
                <a:ext cx="46" cy="46"/>
              </a:xfrm>
              <a:prstGeom prst="ellipse">
                <a:avLst/>
              </a:prstGeom>
              <a:solidFill>
                <a:srgbClr val="9999FF"/>
              </a:solidFill>
              <a:ln w="19050">
                <a:solidFill>
                  <a:srgbClr val="6666FF"/>
                </a:solidFill>
                <a:round/>
                <a:headEnd/>
                <a:tailEnd/>
              </a:ln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679" name="Text Box 35"/>
              <p:cNvSpPr txBox="1">
                <a:spLocks noChangeArrowheads="1"/>
              </p:cNvSpPr>
              <p:nvPr/>
            </p:nvSpPr>
            <p:spPr bwMode="auto">
              <a:xfrm>
                <a:off x="2936" y="1839"/>
                <a:ext cx="907" cy="28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 sz="1000">
                    <a:solidFill>
                      <a:schemeClr val="tx1"/>
                    </a:solidFill>
                    <a:latin typeface="Verdana" pitchFamily="34" charset="0"/>
                  </a:rPr>
                  <a:t>Core EA Competences</a:t>
                </a:r>
              </a:p>
            </p:txBody>
          </p:sp>
          <p:sp>
            <p:nvSpPr>
              <p:cNvPr id="24680" name="Text Box 36"/>
              <p:cNvSpPr txBox="1">
                <a:spLocks noChangeArrowheads="1"/>
              </p:cNvSpPr>
              <p:nvPr/>
            </p:nvSpPr>
            <p:spPr bwMode="auto">
              <a:xfrm>
                <a:off x="2952" y="2244"/>
                <a:ext cx="907" cy="28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l"/>
                <a:r>
                  <a:rPr lang="en-GB" sz="1000">
                    <a:solidFill>
                      <a:schemeClr val="tx1"/>
                    </a:solidFill>
                    <a:latin typeface="Verdana" pitchFamily="34" charset="0"/>
                  </a:rPr>
                  <a:t>EA Creation Competences</a:t>
                </a:r>
              </a:p>
            </p:txBody>
          </p:sp>
          <p:sp>
            <p:nvSpPr>
              <p:cNvPr id="24681" name="Text Box 38"/>
              <p:cNvSpPr txBox="1">
                <a:spLocks noChangeArrowheads="1"/>
              </p:cNvSpPr>
              <p:nvPr/>
            </p:nvSpPr>
            <p:spPr bwMode="auto">
              <a:xfrm>
                <a:off x="1959" y="2260"/>
                <a:ext cx="907" cy="282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GB" sz="1000">
                    <a:solidFill>
                      <a:schemeClr val="tx1"/>
                    </a:solidFill>
                    <a:latin typeface="Verdana" pitchFamily="34" charset="0"/>
                  </a:rPr>
                  <a:t>EA Delivery Competences</a:t>
                </a:r>
              </a:p>
            </p:txBody>
          </p:sp>
          <p:sp>
            <p:nvSpPr>
              <p:cNvPr id="24682" name="Text Box 37"/>
              <p:cNvSpPr txBox="1">
                <a:spLocks noChangeArrowheads="1"/>
              </p:cNvSpPr>
              <p:nvPr/>
            </p:nvSpPr>
            <p:spPr bwMode="auto">
              <a:xfrm>
                <a:off x="1996" y="1852"/>
                <a:ext cx="908" cy="283"/>
              </a:xfrm>
              <a:prstGeom prst="rect">
                <a:avLst/>
              </a:prstGeom>
              <a:noFill/>
              <a:ln w="19050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r"/>
                <a:r>
                  <a:rPr lang="en-GB" sz="1000">
                    <a:solidFill>
                      <a:schemeClr val="tx1"/>
                    </a:solidFill>
                    <a:latin typeface="Verdana" pitchFamily="34" charset="0"/>
                  </a:rPr>
                  <a:t>Functional EA Competences</a:t>
                </a:r>
              </a:p>
            </p:txBody>
          </p:sp>
        </p:grpSp>
        <p:sp>
          <p:nvSpPr>
            <p:cNvPr id="24585" name="Text Box 40"/>
            <p:cNvSpPr txBox="1">
              <a:spLocks noChangeArrowheads="1"/>
            </p:cNvSpPr>
            <p:nvPr/>
          </p:nvSpPr>
          <p:spPr bwMode="auto">
            <a:xfrm>
              <a:off x="6884988" y="2355850"/>
              <a:ext cx="1738312" cy="396875"/>
            </a:xfrm>
            <a:prstGeom prst="rect">
              <a:avLst/>
            </a:prstGeom>
            <a:noFill/>
            <a:ln w="19050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 sz="1000">
                  <a:solidFill>
                    <a:srgbClr val="003399"/>
                  </a:solidFill>
                </a:rPr>
                <a:t>Domain and pertinent technologies knowledge</a:t>
              </a:r>
            </a:p>
          </p:txBody>
        </p:sp>
        <p:sp>
          <p:nvSpPr>
            <p:cNvPr id="24586" name="Rectangle 23"/>
            <p:cNvSpPr>
              <a:spLocks noChangeArrowheads="1"/>
            </p:cNvSpPr>
            <p:nvPr/>
          </p:nvSpPr>
          <p:spPr bwMode="auto">
            <a:xfrm>
              <a:off x="7100888" y="3289300"/>
              <a:ext cx="1651000" cy="2444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l"/>
              <a:r>
                <a:rPr lang="en-GB" sz="1000">
                  <a:solidFill>
                    <a:srgbClr val="003399"/>
                  </a:solidFill>
                </a:rPr>
                <a:t>Leadership &amp; Coaching</a:t>
              </a:r>
            </a:p>
          </p:txBody>
        </p:sp>
      </p:grpSp>
      <p:sp>
        <p:nvSpPr>
          <p:cNvPr id="24583" name="Freeform 118"/>
          <p:cNvSpPr>
            <a:spLocks noChangeArrowheads="1"/>
          </p:cNvSpPr>
          <p:nvPr/>
        </p:nvSpPr>
        <p:spPr bwMode="auto">
          <a:xfrm>
            <a:off x="3340100" y="2489200"/>
            <a:ext cx="2705100" cy="2743200"/>
          </a:xfrm>
          <a:custGeom>
            <a:avLst/>
            <a:gdLst>
              <a:gd name="T0" fmla="*/ 1473200 w 2705100"/>
              <a:gd name="T1" fmla="*/ 368300 h 2743200"/>
              <a:gd name="T2" fmla="*/ 1879600 w 2705100"/>
              <a:gd name="T3" fmla="*/ 508000 h 2743200"/>
              <a:gd name="T4" fmla="*/ 2501900 w 2705100"/>
              <a:gd name="T5" fmla="*/ 609600 h 2743200"/>
              <a:gd name="T6" fmla="*/ 2463800 w 2705100"/>
              <a:gd name="T7" fmla="*/ 1168400 h 2743200"/>
              <a:gd name="T8" fmla="*/ 2705100 w 2705100"/>
              <a:gd name="T9" fmla="*/ 1676400 h 2743200"/>
              <a:gd name="T10" fmla="*/ 2298700 w 2705100"/>
              <a:gd name="T11" fmla="*/ 2082800 h 2743200"/>
              <a:gd name="T12" fmla="*/ 2095500 w 2705100"/>
              <a:gd name="T13" fmla="*/ 2565400 h 2743200"/>
              <a:gd name="T14" fmla="*/ 1485900 w 2705100"/>
              <a:gd name="T15" fmla="*/ 2413000 h 2743200"/>
              <a:gd name="T16" fmla="*/ 1003300 w 2705100"/>
              <a:gd name="T17" fmla="*/ 2743200 h 2743200"/>
              <a:gd name="T18" fmla="*/ 533400 w 2705100"/>
              <a:gd name="T19" fmla="*/ 2463800 h 2743200"/>
              <a:gd name="T20" fmla="*/ 50800 w 2705100"/>
              <a:gd name="T21" fmla="*/ 2146300 h 2743200"/>
              <a:gd name="T22" fmla="*/ 63500 w 2705100"/>
              <a:gd name="T23" fmla="*/ 1651000 h 2743200"/>
              <a:gd name="T24" fmla="*/ 0 w 2705100"/>
              <a:gd name="T25" fmla="*/ 1130300 h 2743200"/>
              <a:gd name="T26" fmla="*/ 254000 w 2705100"/>
              <a:gd name="T27" fmla="*/ 660400 h 2743200"/>
              <a:gd name="T28" fmla="*/ 596900 w 2705100"/>
              <a:gd name="T29" fmla="*/ 355600 h 2743200"/>
              <a:gd name="T30" fmla="*/ 1054100 w 2705100"/>
              <a:gd name="T31" fmla="*/ 0 h 2743200"/>
              <a:gd name="T32" fmla="*/ 1473200 w 2705100"/>
              <a:gd name="T33" fmla="*/ 368300 h 2743200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w 2705100"/>
              <a:gd name="T52" fmla="*/ 0 h 2743200"/>
              <a:gd name="T53" fmla="*/ 2705100 w 2705100"/>
              <a:gd name="T54" fmla="*/ 2743200 h 2743200"/>
            </a:gdLst>
            <a:ahLst/>
            <a:cxnLst>
              <a:cxn ang="T34">
                <a:pos x="T0" y="T1"/>
              </a:cxn>
              <a:cxn ang="T35">
                <a:pos x="T2" y="T3"/>
              </a:cxn>
              <a:cxn ang="T36">
                <a:pos x="T4" y="T5"/>
              </a:cxn>
              <a:cxn ang="T37">
                <a:pos x="T6" y="T7"/>
              </a:cxn>
              <a:cxn ang="T38">
                <a:pos x="T8" y="T9"/>
              </a:cxn>
              <a:cxn ang="T39">
                <a:pos x="T10" y="T11"/>
              </a:cxn>
              <a:cxn ang="T40">
                <a:pos x="T12" y="T13"/>
              </a:cxn>
              <a:cxn ang="T41">
                <a:pos x="T14" y="T15"/>
              </a:cxn>
              <a:cxn ang="T42">
                <a:pos x="T16" y="T17"/>
              </a:cxn>
              <a:cxn ang="T43">
                <a:pos x="T18" y="T19"/>
              </a:cxn>
              <a:cxn ang="T44">
                <a:pos x="T20" y="T21"/>
              </a:cxn>
              <a:cxn ang="T45">
                <a:pos x="T22" y="T23"/>
              </a:cxn>
              <a:cxn ang="T46">
                <a:pos x="T24" y="T25"/>
              </a:cxn>
              <a:cxn ang="T47">
                <a:pos x="T26" y="T27"/>
              </a:cxn>
              <a:cxn ang="T48">
                <a:pos x="T28" y="T29"/>
              </a:cxn>
              <a:cxn ang="T49">
                <a:pos x="T30" y="T31"/>
              </a:cxn>
              <a:cxn ang="T50">
                <a:pos x="T32" y="T33"/>
              </a:cxn>
            </a:cxnLst>
            <a:rect l="T51" t="T52" r="T53" b="T54"/>
            <a:pathLst>
              <a:path w="2705100" h="2743200">
                <a:moveTo>
                  <a:pt x="1473200" y="368300"/>
                </a:moveTo>
                <a:lnTo>
                  <a:pt x="1879600" y="508000"/>
                </a:lnTo>
                <a:lnTo>
                  <a:pt x="2501900" y="609600"/>
                </a:lnTo>
                <a:lnTo>
                  <a:pt x="2463800" y="1168400"/>
                </a:lnTo>
                <a:lnTo>
                  <a:pt x="2705100" y="1676400"/>
                </a:lnTo>
                <a:lnTo>
                  <a:pt x="2298700" y="2082800"/>
                </a:lnTo>
                <a:lnTo>
                  <a:pt x="2095500" y="2565400"/>
                </a:lnTo>
                <a:lnTo>
                  <a:pt x="1485900" y="2413000"/>
                </a:lnTo>
                <a:lnTo>
                  <a:pt x="1003300" y="2743200"/>
                </a:lnTo>
                <a:lnTo>
                  <a:pt x="533400" y="2463800"/>
                </a:lnTo>
                <a:lnTo>
                  <a:pt x="50800" y="2146300"/>
                </a:lnTo>
                <a:lnTo>
                  <a:pt x="63500" y="1651000"/>
                </a:lnTo>
                <a:lnTo>
                  <a:pt x="0" y="1130300"/>
                </a:lnTo>
                <a:lnTo>
                  <a:pt x="254000" y="660400"/>
                </a:lnTo>
                <a:lnTo>
                  <a:pt x="596900" y="355600"/>
                </a:lnTo>
                <a:lnTo>
                  <a:pt x="1054100" y="0"/>
                </a:lnTo>
                <a:lnTo>
                  <a:pt x="1473200" y="368300"/>
                </a:lnTo>
                <a:close/>
              </a:path>
            </a:pathLst>
          </a:custGeom>
          <a:noFill/>
          <a:ln w="50800" algn="ctr">
            <a:solidFill>
              <a:srgbClr val="FFC000"/>
            </a:solidFill>
            <a:round/>
            <a:headEnd/>
            <a:tailEnd/>
          </a:ln>
        </p:spPr>
        <p:txBody>
          <a:bodyPr wrap="none" lIns="90000" tIns="72000" rIns="90000" bIns="72000" anchor="ctr"/>
          <a:lstStyle/>
          <a:p>
            <a:pPr eaLnBrk="1" hangingPunct="1">
              <a:spcBef>
                <a:spcPct val="40000"/>
              </a:spcBef>
              <a:buClr>
                <a:schemeClr val="bg2"/>
              </a:buClr>
            </a:pPr>
            <a:endParaRPr lang="en-US" sz="16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 dir="r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sz="1800" smtClean="0"/>
              <a:t>EA Capabilities &amp; Competence Levels Matrix, Methods &amp; Techniques </a:t>
            </a:r>
            <a:endParaRPr lang="en-US" sz="1800" smtClean="0"/>
          </a:p>
        </p:txBody>
      </p:sp>
      <p:sp>
        <p:nvSpPr>
          <p:cNvPr id="25603" name="Slide Number Placeholder 1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DFFA15B-CB4F-46B2-8275-9C8F07EB3444}" type="slidenum">
              <a:rPr lang="nl-NL" smtClean="0">
                <a:latin typeface="Arial" charset="0"/>
              </a:rPr>
              <a:pPr/>
              <a:t>8</a:t>
            </a:fld>
            <a:endParaRPr lang="nl-NL" smtClean="0">
              <a:latin typeface="Arial" charset="0"/>
            </a:endParaRPr>
          </a:p>
        </p:txBody>
      </p:sp>
      <p:sp>
        <p:nvSpPr>
          <p:cNvPr id="25604" name="Date Placeholder 2"/>
          <p:cNvSpPr>
            <a:spLocks noGrp="1"/>
          </p:cNvSpPr>
          <p:nvPr>
            <p:ph type="dt" sz="quarter" idx="11"/>
          </p:nvPr>
        </p:nvSpPr>
        <p:spPr>
          <a:noFill/>
        </p:spPr>
        <p:txBody>
          <a:bodyPr/>
          <a:lstStyle/>
          <a:p>
            <a:fld id="{E19830B3-9635-4DED-A794-84E49E9FA501}" type="datetime1">
              <a:rPr lang="en-US" smtClean="0">
                <a:latin typeface="Arial" charset="0"/>
              </a:rPr>
              <a:pPr/>
              <a:t>8/23/2009</a:t>
            </a:fld>
            <a:endParaRPr lang="nl-NL" smtClean="0">
              <a:latin typeface="Arial" charset="0"/>
            </a:endParaRPr>
          </a:p>
        </p:txBody>
      </p:sp>
      <p:sp>
        <p:nvSpPr>
          <p:cNvPr id="25605" name="Footer Placeholder 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nl-NL" smtClean="0">
                <a:latin typeface="Arial" charset="0"/>
              </a:rPr>
              <a:t>(C) Copyrights IFEAD, 2001-2008</a:t>
            </a:r>
          </a:p>
        </p:txBody>
      </p:sp>
      <p:pic>
        <p:nvPicPr>
          <p:cNvPr id="2560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8100" y="1357313"/>
            <a:ext cx="9034463" cy="4813300"/>
          </a:xfrm>
          <a:prstGeom prst="rect">
            <a:avLst/>
          </a:prstGeom>
          <a:noFill/>
          <a:ln w="19050" algn="ctr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ransition>
    <p:wipe dir="r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/>
          <p:cNvSpPr>
            <a:spLocks noGrp="1"/>
          </p:cNvSpPr>
          <p:nvPr>
            <p:ph type="title"/>
          </p:nvPr>
        </p:nvSpPr>
        <p:spPr>
          <a:xfrm>
            <a:off x="142875" y="765175"/>
            <a:ext cx="8858250" cy="360363"/>
          </a:xfrm>
        </p:spPr>
        <p:txBody>
          <a:bodyPr/>
          <a:lstStyle/>
          <a:p>
            <a:pPr eaLnBrk="1" hangingPunct="1"/>
            <a:r>
              <a:rPr lang="fr-FR" sz="1800" smtClean="0"/>
              <a:t>EA Capabilities &amp; Competence Levels Matrix, Methods &amp; Techniques, Cont. </a:t>
            </a:r>
            <a:endParaRPr lang="en-US" sz="1800" smtClean="0"/>
          </a:p>
        </p:txBody>
      </p:sp>
      <p:sp>
        <p:nvSpPr>
          <p:cNvPr id="26627" name="Slide Number Placeholder 2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EBA5FA1C-323B-4C91-BE39-B76BD92F2F76}" type="slidenum">
              <a:rPr lang="nl-NL" smtClean="0">
                <a:latin typeface="Arial" charset="0"/>
              </a:rPr>
              <a:pPr/>
              <a:t>9</a:t>
            </a:fld>
            <a:endParaRPr lang="nl-NL" smtClean="0">
              <a:latin typeface="Arial" charset="0"/>
            </a:endParaRPr>
          </a:p>
        </p:txBody>
      </p:sp>
      <p:sp>
        <p:nvSpPr>
          <p:cNvPr id="26628" name="Date Placeholder 3"/>
          <p:cNvSpPr>
            <a:spLocks noGrp="1"/>
          </p:cNvSpPr>
          <p:nvPr>
            <p:ph type="dt" sz="quarter" idx="11"/>
          </p:nvPr>
        </p:nvSpPr>
        <p:spPr>
          <a:noFill/>
        </p:spPr>
        <p:txBody>
          <a:bodyPr/>
          <a:lstStyle/>
          <a:p>
            <a:fld id="{60D22AF5-3060-4D95-99C4-47006511D001}" type="datetime1">
              <a:rPr lang="en-US" smtClean="0">
                <a:latin typeface="Arial" charset="0"/>
              </a:rPr>
              <a:pPr/>
              <a:t>8/23/2009</a:t>
            </a:fld>
            <a:endParaRPr lang="nl-NL" smtClean="0">
              <a:latin typeface="Arial" charset="0"/>
            </a:endParaRPr>
          </a:p>
        </p:txBody>
      </p:sp>
      <p:sp>
        <p:nvSpPr>
          <p:cNvPr id="26629" name="Footer Placeholder 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nl-NL" smtClean="0">
                <a:latin typeface="Arial" charset="0"/>
              </a:rPr>
              <a:t>(C) Copyrights IFEAD, 2001-2008</a:t>
            </a:r>
          </a:p>
        </p:txBody>
      </p:sp>
      <p:pic>
        <p:nvPicPr>
          <p:cNvPr id="2663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438" y="1714500"/>
            <a:ext cx="8977312" cy="4135438"/>
          </a:xfrm>
          <a:prstGeom prst="rect">
            <a:avLst/>
          </a:prstGeom>
          <a:noFill/>
          <a:ln w="19050" algn="ctr">
            <a:noFill/>
            <a:miter lim="800000"/>
            <a:headEnd type="none" w="sm" len="sm"/>
            <a:tailEnd type="none" w="sm" len="sm"/>
          </a:ln>
        </p:spPr>
      </p:pic>
    </p:spTree>
  </p:cSld>
  <p:clrMapOvr>
    <a:masterClrMapping/>
  </p:clrMapOvr>
  <p:transition>
    <p:wipe dir="r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1800" smtClean="0"/>
              <a:t>Explanation Competence Statements</a:t>
            </a:r>
          </a:p>
        </p:txBody>
      </p:sp>
      <p:sp>
        <p:nvSpPr>
          <p:cNvPr id="27651" name="Rectangle 5"/>
          <p:cNvSpPr>
            <a:spLocks noGrp="1" noChangeArrowheads="1"/>
          </p:cNvSpPr>
          <p:nvPr>
            <p:ph sz="half" idx="1"/>
          </p:nvPr>
        </p:nvSpPr>
        <p:spPr>
          <a:xfrm>
            <a:off x="381000" y="1249363"/>
            <a:ext cx="3762375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400" smtClean="0">
                <a:solidFill>
                  <a:srgbClr val="003399"/>
                </a:solidFill>
              </a:rPr>
              <a:t>Business Technology </a:t>
            </a:r>
            <a:br>
              <a:rPr lang="en-GB" sz="1400" smtClean="0">
                <a:solidFill>
                  <a:srgbClr val="003399"/>
                </a:solidFill>
              </a:rPr>
            </a:br>
            <a:r>
              <a:rPr lang="en-GB" sz="1400" smtClean="0">
                <a:solidFill>
                  <a:srgbClr val="003399"/>
                </a:solidFill>
              </a:rPr>
              <a:t>Strategy development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400" smtClean="0">
                <a:solidFill>
                  <a:srgbClr val="003399"/>
                </a:solidFill>
              </a:rPr>
              <a:t>Organisational Politics behaviour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400" smtClean="0">
                <a:solidFill>
                  <a:srgbClr val="003399"/>
                </a:solidFill>
              </a:rPr>
              <a:t>Domain and pertinent technologies knowledge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400" smtClean="0">
                <a:solidFill>
                  <a:srgbClr val="003399"/>
                </a:solidFill>
              </a:rPr>
              <a:t>Leadership &amp; Coaching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400" smtClean="0">
                <a:solidFill>
                  <a:srgbClr val="003399"/>
                </a:solidFill>
              </a:rPr>
              <a:t>EA Awareness Formulation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400" smtClean="0">
                <a:solidFill>
                  <a:srgbClr val="003399"/>
                </a:solidFill>
              </a:rPr>
              <a:t>EA Program Definition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400" smtClean="0">
                <a:solidFill>
                  <a:srgbClr val="003399"/>
                </a:solidFill>
              </a:rPr>
              <a:t>Vision / Strategic Intent, EA Requirements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400" smtClean="0">
                <a:solidFill>
                  <a:srgbClr val="003399"/>
                </a:solidFill>
              </a:rPr>
              <a:t>Accelerating Market Knowledge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400" smtClean="0">
                <a:solidFill>
                  <a:srgbClr val="003399"/>
                </a:solidFill>
              </a:rPr>
              <a:t>Visioning / Mapping the Enterprise Architecture Frameworks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400" smtClean="0">
                <a:solidFill>
                  <a:srgbClr val="003399"/>
                </a:solidFill>
              </a:rPr>
              <a:t>EA Programs &amp; Management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400" smtClean="0">
                <a:solidFill>
                  <a:srgbClr val="003399"/>
                </a:solidFill>
              </a:rPr>
              <a:t>EA Modelling &amp; Techniques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400" smtClean="0">
                <a:solidFill>
                  <a:srgbClr val="003399"/>
                </a:solidFill>
              </a:rPr>
              <a:t>Business Case Design &amp; Tracking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400" smtClean="0">
                <a:solidFill>
                  <a:srgbClr val="003399"/>
                </a:solidFill>
              </a:rPr>
              <a:t>Enterprise Architecture Maturity &amp; Diagnostics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400" smtClean="0">
                <a:solidFill>
                  <a:srgbClr val="003399"/>
                </a:solidFill>
              </a:rPr>
              <a:t>Stakeholder Analysis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400" smtClean="0">
                <a:solidFill>
                  <a:srgbClr val="003399"/>
                </a:solidFill>
              </a:rPr>
              <a:t>EA Capabilities Development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400" smtClean="0">
                <a:solidFill>
                  <a:srgbClr val="003399"/>
                </a:solidFill>
              </a:rPr>
              <a:t>Soft Skills &amp; techniques</a:t>
            </a:r>
          </a:p>
        </p:txBody>
      </p:sp>
      <p:sp>
        <p:nvSpPr>
          <p:cNvPr id="27652" name="Rectangle 6"/>
          <p:cNvSpPr>
            <a:spLocks noGrp="1" noChangeArrowheads="1"/>
          </p:cNvSpPr>
          <p:nvPr>
            <p:ph sz="half" idx="2"/>
          </p:nvPr>
        </p:nvSpPr>
        <p:spPr>
          <a:xfrm>
            <a:off x="4194175" y="1249363"/>
            <a:ext cx="4521200" cy="42672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100" smtClean="0"/>
              <a:t>Are you able to develop a Business Technology Strategy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100" smtClean="0"/>
              <a:t>Are you familiar and able to deal with in a strong organisational &amp; political behaving environment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100" smtClean="0"/>
              <a:t>Do you have knowledge about domain specific technologies and pertinent common technologies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100" smtClean="0"/>
              <a:t>Are you able to manifest EA Leadership and Coaching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100" smtClean="0"/>
              <a:t>Are you able to show and formulate EA awareness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100" smtClean="0"/>
              <a:t>Are you able to define an Enterprise Architecture Program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100" smtClean="0"/>
              <a:t>Are you able to translate the Business vision and strategic intention into EA requirements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100" smtClean="0"/>
              <a:t>Are you able to quickly adopt specific market / branch knowledge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100" smtClean="0"/>
              <a:t>Are you able to translate the Business Vision to Enterprise Architecture Frameworks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100" smtClean="0"/>
              <a:t>Are you able to manage and Enterprise Architecture Program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100" smtClean="0"/>
              <a:t>Are you familiar with the most common Business, Information, Information-Systems and Infrastructure modelling techniques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100" smtClean="0"/>
              <a:t>Are you able to set up and design a business case and track the results over time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100" smtClean="0"/>
              <a:t>Are you able to define an organisations EA maturity and diagnoses the appropriate approach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100" smtClean="0"/>
              <a:t>Are you able to do a stakeholder analysis e.q. based on the win-win theory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100" smtClean="0"/>
              <a:t>Are you able to define and develop the necessary EA capabilities for a customer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r>
              <a:rPr lang="en-GB" sz="1100" smtClean="0"/>
              <a:t>Are you familiar and can you demonstrate the necessary Soft skills &amp; techniques in different situations.</a:t>
            </a:r>
          </a:p>
          <a:p>
            <a:pPr eaLnBrk="1" hangingPunct="1">
              <a:lnSpc>
                <a:spcPct val="90000"/>
              </a:lnSpc>
              <a:buFont typeface="Symbol" pitchFamily="18" charset="2"/>
              <a:buAutoNum type="arabicPeriod"/>
            </a:pPr>
            <a:endParaRPr lang="en-GB" sz="1100" smtClean="0"/>
          </a:p>
        </p:txBody>
      </p:sp>
      <p:sp>
        <p:nvSpPr>
          <p:cNvPr id="27653" name="Date Placeholder 4"/>
          <p:cNvSpPr>
            <a:spLocks noGrp="1"/>
          </p:cNvSpPr>
          <p:nvPr>
            <p:ph type="dt" sz="quarter" idx="11"/>
          </p:nvPr>
        </p:nvSpPr>
        <p:spPr>
          <a:noFill/>
        </p:spPr>
        <p:txBody>
          <a:bodyPr/>
          <a:lstStyle/>
          <a:p>
            <a:fld id="{7B5C4F81-E1D1-4192-A229-EF809C9377F0}" type="datetime1">
              <a:rPr lang="en-US" smtClean="0">
                <a:latin typeface="Arial" charset="0"/>
              </a:rPr>
              <a:pPr/>
              <a:t>8/23/2009</a:t>
            </a:fld>
            <a:endParaRPr lang="nl-NL" smtClean="0">
              <a:latin typeface="Arial" charset="0"/>
            </a:endParaRPr>
          </a:p>
        </p:txBody>
      </p:sp>
      <p:sp>
        <p:nvSpPr>
          <p:cNvPr id="27654" name="Footer Placeholder 5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nl-NL" smtClean="0">
                <a:latin typeface="Arial" charset="0"/>
              </a:rPr>
              <a:t>(C) Copyrights IFEAD, 2001-2008</a:t>
            </a:r>
          </a:p>
        </p:txBody>
      </p:sp>
      <p:sp>
        <p:nvSpPr>
          <p:cNvPr id="27655" name="Slide Number Placeholder 6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D413903D-1CDB-4A3C-A249-1C13395F402A}" type="slidenum">
              <a:rPr lang="nl-NL" smtClean="0">
                <a:latin typeface="Arial" charset="0"/>
              </a:rPr>
              <a:pPr/>
              <a:t>10</a:t>
            </a:fld>
            <a:endParaRPr lang="nl-NL" smtClean="0">
              <a:latin typeface="Arial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>
          <a:xfrm>
            <a:off x="258763" y="762000"/>
            <a:ext cx="7956550" cy="635000"/>
          </a:xfrm>
          <a:noFill/>
        </p:spPr>
        <p:txBody>
          <a:bodyPr tIns="36000" bIns="36000" anchor="t"/>
          <a:lstStyle/>
          <a:p>
            <a:pPr eaLnBrk="1" hangingPunct="1"/>
            <a:r>
              <a:rPr lang="en-GB" sz="1800" smtClean="0"/>
              <a:t>Enterprise Architect Role Profile: Business Technology Strategy</a:t>
            </a:r>
          </a:p>
        </p:txBody>
      </p:sp>
      <p:sp>
        <p:nvSpPr>
          <p:cNvPr id="28675" name="Text Box 3"/>
          <p:cNvSpPr txBox="1">
            <a:spLocks noChangeArrowheads="1"/>
          </p:cNvSpPr>
          <p:nvPr/>
        </p:nvSpPr>
        <p:spPr bwMode="auto">
          <a:xfrm>
            <a:off x="357188" y="1357313"/>
            <a:ext cx="3200400" cy="2441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r>
              <a:rPr lang="en-GB" sz="1500">
                <a:solidFill>
                  <a:schemeClr val="tx1"/>
                </a:solidFill>
              </a:rPr>
              <a:t>What You Know</a:t>
            </a:r>
          </a:p>
          <a:p>
            <a:pPr marL="742950" lvl="1" indent="-285750" algn="l">
              <a:lnSpc>
                <a:spcPct val="85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ü"/>
            </a:pPr>
            <a:endParaRPr lang="en-GB" sz="1200">
              <a:solidFill>
                <a:srgbClr val="660033"/>
              </a:solidFill>
            </a:endParaRPr>
          </a:p>
          <a:p>
            <a:pPr marL="742950" lvl="1" indent="-285750" algn="l">
              <a:spcBef>
                <a:spcPct val="50000"/>
              </a:spcBef>
              <a:buClr>
                <a:srgbClr val="1E4E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Your organisation’s business &amp; technology strategy and Rationale</a:t>
            </a:r>
          </a:p>
          <a:p>
            <a:pPr marL="742950" lvl="1" indent="-285750" algn="l">
              <a:spcBef>
                <a:spcPct val="50000"/>
              </a:spcBef>
              <a:buClr>
                <a:srgbClr val="1E4E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Your competition(products, strategies and processes)</a:t>
            </a:r>
          </a:p>
          <a:p>
            <a:pPr marL="742950" lvl="1" indent="-285750" algn="l">
              <a:spcBef>
                <a:spcPct val="50000"/>
              </a:spcBef>
              <a:buClr>
                <a:srgbClr val="1E4E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Your company’s business practices</a:t>
            </a:r>
          </a:p>
          <a:p>
            <a:pPr marL="742950" lvl="1" indent="-285750" algn="l">
              <a:spcBef>
                <a:spcPct val="50000"/>
              </a:spcBef>
              <a:buClr>
                <a:srgbClr val="1E4E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Your Technology Portfolio</a:t>
            </a:r>
          </a:p>
        </p:txBody>
      </p:sp>
      <p:sp>
        <p:nvSpPr>
          <p:cNvPr id="28676" name="Text Box 4"/>
          <p:cNvSpPr txBox="1">
            <a:spLocks noChangeArrowheads="1"/>
          </p:cNvSpPr>
          <p:nvPr/>
        </p:nvSpPr>
        <p:spPr bwMode="auto">
          <a:xfrm>
            <a:off x="3429000" y="2700338"/>
            <a:ext cx="2895600" cy="3657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r>
              <a:rPr lang="en-GB" sz="1500">
                <a:solidFill>
                  <a:schemeClr val="tx1"/>
                </a:solidFill>
              </a:rPr>
              <a:t>What You Do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 typeface="Wingdings" pitchFamily="2" charset="2"/>
              <a:buChar char=""/>
            </a:pPr>
            <a:endParaRPr lang="en-GB" sz="1200">
              <a:solidFill>
                <a:srgbClr val="660033"/>
              </a:solidFill>
            </a:endParaRP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Influence business strategy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Translate business strategy into technical vision and strategy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Understand customer and market trends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Capture customer, organisational and business requirements of architecture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Prepare architectural documents and presentations</a:t>
            </a:r>
          </a:p>
        </p:txBody>
      </p:sp>
      <p:sp>
        <p:nvSpPr>
          <p:cNvPr id="28677" name="Text Box 5"/>
          <p:cNvSpPr txBox="1">
            <a:spLocks noChangeArrowheads="1"/>
          </p:cNvSpPr>
          <p:nvPr/>
        </p:nvSpPr>
        <p:spPr bwMode="auto">
          <a:xfrm>
            <a:off x="6215063" y="3157538"/>
            <a:ext cx="24384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r>
              <a:rPr lang="en-GB" sz="1500">
                <a:solidFill>
                  <a:schemeClr val="tx1"/>
                </a:solidFill>
              </a:rPr>
              <a:t>What You Are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 typeface="Wingdings" pitchFamily="2" charset="2"/>
              <a:buChar char=""/>
            </a:pPr>
            <a:endParaRPr lang="en-GB" sz="1200">
              <a:solidFill>
                <a:srgbClr val="660033"/>
              </a:solidFill>
            </a:endParaRP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Visionary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Entrepreneurial</a:t>
            </a:r>
          </a:p>
          <a:p>
            <a:pPr marL="742950" lvl="1" indent="-28575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endParaRPr lang="en-GB" sz="1500">
              <a:solidFill>
                <a:schemeClr val="tx1"/>
              </a:solidFill>
            </a:endParaRPr>
          </a:p>
        </p:txBody>
      </p:sp>
      <p:pic>
        <p:nvPicPr>
          <p:cNvPr id="28678" name="Picture 16" descr="ibs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58063" y="1285875"/>
            <a:ext cx="1466850" cy="1466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8679" name="Text Box 17"/>
          <p:cNvSpPr txBox="1">
            <a:spLocks noChangeArrowheads="1"/>
          </p:cNvSpPr>
          <p:nvPr/>
        </p:nvSpPr>
        <p:spPr bwMode="auto">
          <a:xfrm>
            <a:off x="107950" y="5734050"/>
            <a:ext cx="2305050" cy="244475"/>
          </a:xfrm>
          <a:prstGeom prst="rect">
            <a:avLst/>
          </a:prstGeom>
          <a:noFill/>
          <a:ln w="1905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GB" sz="1000">
                <a:solidFill>
                  <a:schemeClr val="tx1"/>
                </a:solidFill>
                <a:latin typeface="Verdana" pitchFamily="34" charset="0"/>
              </a:rPr>
              <a:t>Your = the Customers</a:t>
            </a:r>
          </a:p>
        </p:txBody>
      </p:sp>
      <p:sp>
        <p:nvSpPr>
          <p:cNvPr id="28680" name="Date Placeholder 13"/>
          <p:cNvSpPr>
            <a:spLocks noGrp="1"/>
          </p:cNvSpPr>
          <p:nvPr>
            <p:ph type="dt" sz="quarter" idx="11"/>
          </p:nvPr>
        </p:nvSpPr>
        <p:spPr>
          <a:noFill/>
        </p:spPr>
        <p:txBody>
          <a:bodyPr/>
          <a:lstStyle/>
          <a:p>
            <a:fld id="{E6FBC209-D783-4FC3-A3DC-4F9A7436B5AA}" type="datetime1">
              <a:rPr lang="en-US" smtClean="0">
                <a:latin typeface="Arial" charset="0"/>
              </a:rPr>
              <a:pPr/>
              <a:t>8/23/2009</a:t>
            </a:fld>
            <a:endParaRPr lang="nl-NL" smtClean="0">
              <a:latin typeface="Arial" charset="0"/>
            </a:endParaRPr>
          </a:p>
        </p:txBody>
      </p:sp>
      <p:sp>
        <p:nvSpPr>
          <p:cNvPr id="28681" name="Footer Placeholder 14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nl-NL" smtClean="0">
                <a:latin typeface="Arial" charset="0"/>
              </a:rPr>
              <a:t>(C) Copyrights IFEAD, 2001-2008</a:t>
            </a:r>
          </a:p>
        </p:txBody>
      </p:sp>
      <p:sp>
        <p:nvSpPr>
          <p:cNvPr id="28682" name="Slide Number Placeholder 15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6F2F488B-2F98-486C-B284-43089718ACB2}" type="slidenum">
              <a:rPr lang="nl-NL" smtClean="0">
                <a:latin typeface="Arial" charset="0"/>
              </a:rPr>
              <a:pPr/>
              <a:t>11</a:t>
            </a:fld>
            <a:endParaRPr lang="nl-NL" smtClean="0">
              <a:latin typeface="Arial" charset="0"/>
            </a:endParaRPr>
          </a:p>
        </p:txBody>
      </p:sp>
      <p:sp>
        <p:nvSpPr>
          <p:cNvPr id="28683" name="Rounded Rectangle 18"/>
          <p:cNvSpPr>
            <a:spLocks noChangeArrowheads="1"/>
          </p:cNvSpPr>
          <p:nvPr/>
        </p:nvSpPr>
        <p:spPr bwMode="auto">
          <a:xfrm>
            <a:off x="285750" y="1357313"/>
            <a:ext cx="3429000" cy="2571750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chemeClr val="accent1"/>
            </a:solidFill>
            <a:round/>
            <a:headEnd/>
            <a:tailEnd/>
          </a:ln>
        </p:spPr>
        <p:txBody>
          <a:bodyPr wrap="none" lIns="90000" tIns="72000" rIns="90000" bIns="72000" anchor="ctr"/>
          <a:lstStyle/>
          <a:p>
            <a:pPr eaLnBrk="1" hangingPunct="1">
              <a:spcBef>
                <a:spcPct val="40000"/>
              </a:spcBef>
              <a:buClr>
                <a:schemeClr val="bg2"/>
              </a:buClr>
            </a:pPr>
            <a:endParaRPr lang="en-US" sz="1600" b="0">
              <a:solidFill>
                <a:schemeClr val="tx1"/>
              </a:solidFill>
            </a:endParaRPr>
          </a:p>
        </p:txBody>
      </p:sp>
      <p:sp>
        <p:nvSpPr>
          <p:cNvPr id="28684" name="Rounded Rectangle 19"/>
          <p:cNvSpPr>
            <a:spLocks noChangeArrowheads="1"/>
          </p:cNvSpPr>
          <p:nvPr/>
        </p:nvSpPr>
        <p:spPr bwMode="auto">
          <a:xfrm>
            <a:off x="3429000" y="2428875"/>
            <a:ext cx="3071813" cy="3929063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chemeClr val="accent1"/>
            </a:solidFill>
            <a:round/>
            <a:headEnd/>
            <a:tailEnd/>
          </a:ln>
        </p:spPr>
        <p:txBody>
          <a:bodyPr wrap="none" lIns="90000" tIns="72000" rIns="90000" bIns="72000" anchor="ctr"/>
          <a:lstStyle/>
          <a:p>
            <a:pPr eaLnBrk="1" hangingPunct="1">
              <a:spcBef>
                <a:spcPct val="40000"/>
              </a:spcBef>
              <a:buClr>
                <a:schemeClr val="bg2"/>
              </a:buClr>
            </a:pPr>
            <a:endParaRPr lang="en-US" sz="1600" b="0">
              <a:solidFill>
                <a:schemeClr val="tx1"/>
              </a:solidFill>
            </a:endParaRPr>
          </a:p>
        </p:txBody>
      </p:sp>
      <p:sp>
        <p:nvSpPr>
          <p:cNvPr id="28685" name="Rounded Rectangle 20"/>
          <p:cNvSpPr>
            <a:spLocks noChangeArrowheads="1"/>
          </p:cNvSpPr>
          <p:nvPr/>
        </p:nvSpPr>
        <p:spPr bwMode="auto">
          <a:xfrm>
            <a:off x="6215063" y="2857500"/>
            <a:ext cx="2643187" cy="2571750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chemeClr val="accent1"/>
            </a:solidFill>
            <a:round/>
            <a:headEnd/>
            <a:tailEnd/>
          </a:ln>
        </p:spPr>
        <p:txBody>
          <a:bodyPr wrap="none" lIns="90000" tIns="72000" rIns="90000" bIns="72000" anchor="ctr"/>
          <a:lstStyle/>
          <a:p>
            <a:pPr eaLnBrk="1" hangingPunct="1">
              <a:spcBef>
                <a:spcPct val="40000"/>
              </a:spcBef>
              <a:buClr>
                <a:schemeClr val="bg2"/>
              </a:buClr>
            </a:pPr>
            <a:endParaRPr lang="en-US" sz="16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1800" smtClean="0"/>
              <a:t>Enterprise Architect Role Profile: Organisational Politics</a:t>
            </a:r>
          </a:p>
        </p:txBody>
      </p:sp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228600" y="2279650"/>
            <a:ext cx="2819400" cy="1524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r>
              <a:rPr lang="en-GB" sz="1500">
                <a:solidFill>
                  <a:schemeClr val="tx1"/>
                </a:solidFill>
              </a:rPr>
              <a:t>What You Know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endParaRPr lang="en-GB" sz="1200">
              <a:solidFill>
                <a:srgbClr val="660033"/>
              </a:solidFill>
            </a:endParaRP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Who the key players are in the organisation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What they want, both business and personal</a:t>
            </a:r>
          </a:p>
        </p:txBody>
      </p:sp>
      <p:sp>
        <p:nvSpPr>
          <p:cNvPr id="29700" name="Text Box 4"/>
          <p:cNvSpPr txBox="1">
            <a:spLocks noChangeArrowheads="1"/>
          </p:cNvSpPr>
          <p:nvPr/>
        </p:nvSpPr>
        <p:spPr bwMode="auto">
          <a:xfrm>
            <a:off x="5943600" y="3265488"/>
            <a:ext cx="2971800" cy="290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r>
              <a:rPr lang="en-GB" sz="1500">
                <a:solidFill>
                  <a:schemeClr val="tx1"/>
                </a:solidFill>
              </a:rPr>
              <a:t>What You Are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endParaRPr lang="en-GB" sz="1200">
              <a:solidFill>
                <a:srgbClr val="660033"/>
              </a:solidFill>
            </a:endParaRP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Able to see from and sell to multiple viewpoints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Confident and articulate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Ambitious and driven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Patient and not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Resilient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Sensitive to where the power is and how if flows in your organisation</a:t>
            </a:r>
          </a:p>
        </p:txBody>
      </p:sp>
      <p:sp>
        <p:nvSpPr>
          <p:cNvPr id="29701" name="Text Box 5"/>
          <p:cNvSpPr txBox="1">
            <a:spLocks noChangeArrowheads="1"/>
          </p:cNvSpPr>
          <p:nvPr/>
        </p:nvSpPr>
        <p:spPr bwMode="auto">
          <a:xfrm>
            <a:off x="3048000" y="2736850"/>
            <a:ext cx="28956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r>
              <a:rPr lang="en-GB" sz="1500">
                <a:solidFill>
                  <a:schemeClr val="tx1"/>
                </a:solidFill>
              </a:rPr>
              <a:t>What You Do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endParaRPr lang="en-GB" sz="1200">
              <a:solidFill>
                <a:srgbClr val="660033"/>
              </a:solidFill>
            </a:endParaRP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Communicate, communicate, communicate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Listen, network, influence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Sell the vision, keep the vision alive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Take and retake the pulse of all critical influencers of the architecture project</a:t>
            </a:r>
          </a:p>
        </p:txBody>
      </p:sp>
      <p:pic>
        <p:nvPicPr>
          <p:cNvPr id="29702" name="Picture 13" descr="politics_256x256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286625" y="1357313"/>
            <a:ext cx="1535113" cy="1535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9703" name="Date Placeholder 12"/>
          <p:cNvSpPr>
            <a:spLocks noGrp="1"/>
          </p:cNvSpPr>
          <p:nvPr>
            <p:ph type="dt" sz="quarter" idx="11"/>
          </p:nvPr>
        </p:nvSpPr>
        <p:spPr>
          <a:noFill/>
        </p:spPr>
        <p:txBody>
          <a:bodyPr/>
          <a:lstStyle/>
          <a:p>
            <a:fld id="{3F71F6FF-56F2-4A95-B3BA-0438F79AF00A}" type="datetime1">
              <a:rPr lang="en-US" smtClean="0">
                <a:latin typeface="Arial" charset="0"/>
              </a:rPr>
              <a:pPr/>
              <a:t>8/23/2009</a:t>
            </a:fld>
            <a:endParaRPr lang="nl-NL" smtClean="0">
              <a:latin typeface="Arial" charset="0"/>
            </a:endParaRPr>
          </a:p>
        </p:txBody>
      </p:sp>
      <p:sp>
        <p:nvSpPr>
          <p:cNvPr id="29704" name="Footer Placeholder 1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nl-NL" smtClean="0">
                <a:latin typeface="Arial" charset="0"/>
              </a:rPr>
              <a:t>(C) Copyrights IFEAD, 2001-2008</a:t>
            </a:r>
          </a:p>
        </p:txBody>
      </p:sp>
      <p:sp>
        <p:nvSpPr>
          <p:cNvPr id="29705" name="Slide Number Placeholder 1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5639C1E3-3A5D-4FBA-B4DE-2616B54997D6}" type="slidenum">
              <a:rPr lang="nl-NL" smtClean="0">
                <a:latin typeface="Arial" charset="0"/>
              </a:rPr>
              <a:pPr/>
              <a:t>12</a:t>
            </a:fld>
            <a:endParaRPr lang="nl-NL" smtClean="0">
              <a:latin typeface="Arial" charset="0"/>
            </a:endParaRPr>
          </a:p>
        </p:txBody>
      </p:sp>
      <p:sp>
        <p:nvSpPr>
          <p:cNvPr id="29706" name="Rounded Rectangle 15"/>
          <p:cNvSpPr>
            <a:spLocks noChangeArrowheads="1"/>
          </p:cNvSpPr>
          <p:nvPr/>
        </p:nvSpPr>
        <p:spPr bwMode="auto">
          <a:xfrm>
            <a:off x="285750" y="1928813"/>
            <a:ext cx="3071813" cy="2000250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chemeClr val="accent1"/>
            </a:solidFill>
            <a:round/>
            <a:headEnd/>
            <a:tailEnd/>
          </a:ln>
        </p:spPr>
        <p:txBody>
          <a:bodyPr wrap="none" lIns="90000" tIns="72000" rIns="90000" bIns="72000" anchor="ctr"/>
          <a:lstStyle/>
          <a:p>
            <a:pPr eaLnBrk="1" hangingPunct="1">
              <a:spcBef>
                <a:spcPct val="40000"/>
              </a:spcBef>
              <a:buClr>
                <a:schemeClr val="bg2"/>
              </a:buClr>
            </a:pPr>
            <a:endParaRPr lang="en-US" sz="1600" b="0">
              <a:solidFill>
                <a:schemeClr val="tx1"/>
              </a:solidFill>
            </a:endParaRPr>
          </a:p>
        </p:txBody>
      </p:sp>
      <p:sp>
        <p:nvSpPr>
          <p:cNvPr id="29707" name="Rounded Rectangle 16"/>
          <p:cNvSpPr>
            <a:spLocks noChangeArrowheads="1"/>
          </p:cNvSpPr>
          <p:nvPr/>
        </p:nvSpPr>
        <p:spPr bwMode="auto">
          <a:xfrm>
            <a:off x="3071813" y="2428875"/>
            <a:ext cx="3143250" cy="3071813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chemeClr val="accent1"/>
            </a:solidFill>
            <a:round/>
            <a:headEnd/>
            <a:tailEnd/>
          </a:ln>
        </p:spPr>
        <p:txBody>
          <a:bodyPr wrap="none" lIns="90000" tIns="72000" rIns="90000" bIns="72000" anchor="ctr"/>
          <a:lstStyle/>
          <a:p>
            <a:pPr eaLnBrk="1" hangingPunct="1">
              <a:spcBef>
                <a:spcPct val="40000"/>
              </a:spcBef>
              <a:buClr>
                <a:schemeClr val="bg2"/>
              </a:buClr>
            </a:pPr>
            <a:endParaRPr lang="en-US" sz="1600" b="0">
              <a:solidFill>
                <a:schemeClr val="tx1"/>
              </a:solidFill>
            </a:endParaRPr>
          </a:p>
        </p:txBody>
      </p:sp>
      <p:sp>
        <p:nvSpPr>
          <p:cNvPr id="29708" name="Rounded Rectangle 17"/>
          <p:cNvSpPr>
            <a:spLocks noChangeArrowheads="1"/>
          </p:cNvSpPr>
          <p:nvPr/>
        </p:nvSpPr>
        <p:spPr bwMode="auto">
          <a:xfrm>
            <a:off x="5929313" y="3071813"/>
            <a:ext cx="3071812" cy="3143250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chemeClr val="accent1"/>
            </a:solidFill>
            <a:round/>
            <a:headEnd/>
            <a:tailEnd/>
          </a:ln>
        </p:spPr>
        <p:txBody>
          <a:bodyPr wrap="none" lIns="90000" tIns="72000" rIns="90000" bIns="72000" anchor="ctr"/>
          <a:lstStyle/>
          <a:p>
            <a:pPr eaLnBrk="1" hangingPunct="1">
              <a:spcBef>
                <a:spcPct val="40000"/>
              </a:spcBef>
              <a:buClr>
                <a:schemeClr val="bg2"/>
              </a:buClr>
            </a:pPr>
            <a:endParaRPr lang="en-US" sz="16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1800" smtClean="0"/>
              <a:t>Enterprise Architect Role Profile: Consulting</a:t>
            </a:r>
          </a:p>
        </p:txBody>
      </p:sp>
      <p:sp>
        <p:nvSpPr>
          <p:cNvPr id="30723" name="Text Box 3"/>
          <p:cNvSpPr txBox="1">
            <a:spLocks noChangeArrowheads="1"/>
          </p:cNvSpPr>
          <p:nvPr/>
        </p:nvSpPr>
        <p:spPr bwMode="auto">
          <a:xfrm>
            <a:off x="228600" y="1974850"/>
            <a:ext cx="2819400" cy="1454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r>
              <a:rPr lang="en-GB" sz="1500">
                <a:solidFill>
                  <a:schemeClr val="tx1"/>
                </a:solidFill>
              </a:rPr>
              <a:t>What You Know</a:t>
            </a:r>
          </a:p>
          <a:p>
            <a:pPr marL="914400" lvl="1" indent="-45720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endParaRPr lang="en-GB" sz="1200">
              <a:solidFill>
                <a:srgbClr val="660033"/>
              </a:solidFill>
            </a:endParaRPr>
          </a:p>
          <a:p>
            <a:pPr marL="914400" lvl="1" indent="-45720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Elicitation techniques</a:t>
            </a:r>
          </a:p>
          <a:p>
            <a:pPr marL="914400" lvl="1" indent="-45720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Consulting frameworks</a:t>
            </a:r>
          </a:p>
          <a:p>
            <a:pPr marL="914400" lvl="1" indent="-45720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Soft Skill techniques</a:t>
            </a:r>
          </a:p>
        </p:txBody>
      </p:sp>
      <p:sp>
        <p:nvSpPr>
          <p:cNvPr id="30724" name="Text Box 4"/>
          <p:cNvSpPr txBox="1">
            <a:spLocks noChangeArrowheads="1"/>
          </p:cNvSpPr>
          <p:nvPr/>
        </p:nvSpPr>
        <p:spPr bwMode="auto">
          <a:xfrm>
            <a:off x="6172200" y="2889250"/>
            <a:ext cx="2514600" cy="30861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r>
              <a:rPr lang="en-GB" sz="1500">
                <a:solidFill>
                  <a:schemeClr val="tx1"/>
                </a:solidFill>
              </a:rPr>
              <a:t>What You Are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endParaRPr lang="en-GB" sz="1200">
              <a:solidFill>
                <a:srgbClr val="660033"/>
              </a:solidFill>
            </a:endParaRP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Committed to others’ success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Empathetic, approachable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An effective change agent, process savvy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A good mentor, teacher</a:t>
            </a:r>
          </a:p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endParaRPr lang="en-GB" sz="1200">
              <a:solidFill>
                <a:srgbClr val="660033"/>
              </a:solidFill>
            </a:endParaRPr>
          </a:p>
        </p:txBody>
      </p:sp>
      <p:sp>
        <p:nvSpPr>
          <p:cNvPr id="30725" name="Text Box 5"/>
          <p:cNvSpPr txBox="1">
            <a:spLocks noChangeArrowheads="1"/>
          </p:cNvSpPr>
          <p:nvPr/>
        </p:nvSpPr>
        <p:spPr bwMode="auto">
          <a:xfrm>
            <a:off x="3048000" y="2432050"/>
            <a:ext cx="3124200" cy="3733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r>
              <a:rPr lang="en-GB" sz="1500">
                <a:solidFill>
                  <a:schemeClr val="tx1"/>
                </a:solidFill>
              </a:rPr>
              <a:t>What You Do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endParaRPr lang="en-GB" sz="1200">
              <a:solidFill>
                <a:srgbClr val="660033"/>
              </a:solidFill>
            </a:endParaRP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Build “trusted advisor” relationship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Understand what the business people want and need from the architecture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Understand what the developers want and need from the architecture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Help developers see the value of the enterprise architecture and understand how to use technology successfully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Mentor junior architects</a:t>
            </a:r>
          </a:p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endParaRPr lang="en-GB" sz="1500">
              <a:solidFill>
                <a:schemeClr val="tx1"/>
              </a:solidFill>
            </a:endParaRPr>
          </a:p>
        </p:txBody>
      </p:sp>
      <p:pic>
        <p:nvPicPr>
          <p:cNvPr id="30726" name="Picture 17" descr="sccp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29500" y="1214438"/>
            <a:ext cx="1301750" cy="130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0727" name="Date Placeholder 12"/>
          <p:cNvSpPr>
            <a:spLocks noGrp="1"/>
          </p:cNvSpPr>
          <p:nvPr>
            <p:ph type="dt" sz="quarter" idx="11"/>
          </p:nvPr>
        </p:nvSpPr>
        <p:spPr>
          <a:noFill/>
        </p:spPr>
        <p:txBody>
          <a:bodyPr/>
          <a:lstStyle/>
          <a:p>
            <a:fld id="{0F738208-06A4-4419-AED4-5B7CEC4C9FC8}" type="datetime1">
              <a:rPr lang="en-US" smtClean="0">
                <a:latin typeface="Arial" charset="0"/>
              </a:rPr>
              <a:pPr/>
              <a:t>8/23/2009</a:t>
            </a:fld>
            <a:endParaRPr lang="nl-NL" smtClean="0">
              <a:latin typeface="Arial" charset="0"/>
            </a:endParaRPr>
          </a:p>
        </p:txBody>
      </p:sp>
      <p:sp>
        <p:nvSpPr>
          <p:cNvPr id="30728" name="Footer Placeholder 1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nl-NL" smtClean="0">
                <a:latin typeface="Arial" charset="0"/>
              </a:rPr>
              <a:t>(C) Copyrights IFEAD, 2001-2008</a:t>
            </a:r>
          </a:p>
        </p:txBody>
      </p:sp>
      <p:sp>
        <p:nvSpPr>
          <p:cNvPr id="30729" name="Slide Number Placeholder 1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EBCE507-1C7C-413E-B4C5-5D70379AC14C}" type="slidenum">
              <a:rPr lang="nl-NL" smtClean="0">
                <a:latin typeface="Arial" charset="0"/>
              </a:rPr>
              <a:pPr/>
              <a:t>13</a:t>
            </a:fld>
            <a:endParaRPr lang="nl-NL" smtClean="0">
              <a:latin typeface="Arial" charset="0"/>
            </a:endParaRPr>
          </a:p>
        </p:txBody>
      </p:sp>
      <p:sp>
        <p:nvSpPr>
          <p:cNvPr id="30730" name="Rounded Rectangle 15"/>
          <p:cNvSpPr>
            <a:spLocks noChangeArrowheads="1"/>
          </p:cNvSpPr>
          <p:nvPr/>
        </p:nvSpPr>
        <p:spPr bwMode="auto">
          <a:xfrm>
            <a:off x="214313" y="1643063"/>
            <a:ext cx="3143250" cy="2286000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chemeClr val="accent1"/>
            </a:solidFill>
            <a:round/>
            <a:headEnd/>
            <a:tailEnd/>
          </a:ln>
        </p:spPr>
        <p:txBody>
          <a:bodyPr wrap="none" lIns="90000" tIns="72000" rIns="90000" bIns="72000" anchor="ctr"/>
          <a:lstStyle/>
          <a:p>
            <a:pPr eaLnBrk="1" hangingPunct="1">
              <a:spcBef>
                <a:spcPct val="40000"/>
              </a:spcBef>
              <a:buClr>
                <a:schemeClr val="bg2"/>
              </a:buClr>
            </a:pPr>
            <a:endParaRPr lang="en-US" sz="1600" b="0">
              <a:solidFill>
                <a:schemeClr val="tx1"/>
              </a:solidFill>
            </a:endParaRPr>
          </a:p>
        </p:txBody>
      </p:sp>
      <p:sp>
        <p:nvSpPr>
          <p:cNvPr id="30731" name="Rounded Rectangle 16"/>
          <p:cNvSpPr>
            <a:spLocks noChangeArrowheads="1"/>
          </p:cNvSpPr>
          <p:nvPr/>
        </p:nvSpPr>
        <p:spPr bwMode="auto">
          <a:xfrm>
            <a:off x="3071813" y="2214563"/>
            <a:ext cx="3429000" cy="3786187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chemeClr val="accent1"/>
            </a:solidFill>
            <a:round/>
            <a:headEnd/>
            <a:tailEnd/>
          </a:ln>
        </p:spPr>
        <p:txBody>
          <a:bodyPr wrap="none" lIns="90000" tIns="72000" rIns="90000" bIns="72000" anchor="ctr"/>
          <a:lstStyle/>
          <a:p>
            <a:pPr eaLnBrk="1" hangingPunct="1">
              <a:spcBef>
                <a:spcPct val="40000"/>
              </a:spcBef>
              <a:buClr>
                <a:schemeClr val="bg2"/>
              </a:buClr>
            </a:pPr>
            <a:endParaRPr lang="en-US" sz="1600" b="0">
              <a:solidFill>
                <a:schemeClr val="tx1"/>
              </a:solidFill>
            </a:endParaRPr>
          </a:p>
        </p:txBody>
      </p:sp>
      <p:sp>
        <p:nvSpPr>
          <p:cNvPr id="30732" name="Rounded Rectangle 17"/>
          <p:cNvSpPr>
            <a:spLocks noChangeArrowheads="1"/>
          </p:cNvSpPr>
          <p:nvPr/>
        </p:nvSpPr>
        <p:spPr bwMode="auto">
          <a:xfrm>
            <a:off x="6143625" y="2643188"/>
            <a:ext cx="2786063" cy="2857500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chemeClr val="accent1"/>
            </a:solidFill>
            <a:round/>
            <a:headEnd/>
            <a:tailEnd/>
          </a:ln>
        </p:spPr>
        <p:txBody>
          <a:bodyPr wrap="none" lIns="90000" tIns="72000" rIns="90000" bIns="72000" anchor="ctr"/>
          <a:lstStyle/>
          <a:p>
            <a:pPr eaLnBrk="1" hangingPunct="1">
              <a:spcBef>
                <a:spcPct val="40000"/>
              </a:spcBef>
              <a:buClr>
                <a:schemeClr val="bg2"/>
              </a:buClr>
            </a:pPr>
            <a:endParaRPr lang="en-US" sz="16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26" name="Object 12"/>
          <p:cNvGraphicFramePr>
            <a:graphicFrameLocks noChangeAspect="1"/>
          </p:cNvGraphicFramePr>
          <p:nvPr/>
        </p:nvGraphicFramePr>
        <p:xfrm>
          <a:off x="7429500" y="1357313"/>
          <a:ext cx="952500" cy="1285875"/>
        </p:xfrm>
        <a:graphic>
          <a:graphicData uri="http://schemas.openxmlformats.org/presentationml/2006/ole">
            <p:oleObj spid="_x0000_s1026" name="Photo Editor Photo" r:id="rId4" imgW="1905266" imgH="2572109" progId="MSPhotoEd.3">
              <p:embed/>
            </p:oleObj>
          </a:graphicData>
        </a:graphic>
      </p:graphicFrame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1800" smtClean="0"/>
              <a:t>Enterprise Architect Role Profile: Leadership</a:t>
            </a:r>
          </a:p>
        </p:txBody>
      </p:sp>
      <p:sp>
        <p:nvSpPr>
          <p:cNvPr id="1028" name="Text Box 3"/>
          <p:cNvSpPr txBox="1">
            <a:spLocks noChangeArrowheads="1"/>
          </p:cNvSpPr>
          <p:nvPr/>
        </p:nvSpPr>
        <p:spPr bwMode="auto">
          <a:xfrm>
            <a:off x="228600" y="1978025"/>
            <a:ext cx="2286000" cy="129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r>
              <a:rPr lang="en-GB" sz="1500">
                <a:solidFill>
                  <a:schemeClr val="tx1"/>
                </a:solidFill>
              </a:rPr>
              <a:t>What You Know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endParaRPr lang="en-GB" sz="1200">
              <a:solidFill>
                <a:srgbClr val="660033"/>
              </a:solidFill>
            </a:endParaRP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Yourself</a:t>
            </a:r>
          </a:p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endParaRPr lang="en-GB" sz="1500">
              <a:solidFill>
                <a:schemeClr val="tx1"/>
              </a:solidFill>
            </a:endParaRPr>
          </a:p>
        </p:txBody>
      </p:sp>
      <p:sp>
        <p:nvSpPr>
          <p:cNvPr id="1029" name="Text Box 4"/>
          <p:cNvSpPr txBox="1">
            <a:spLocks noChangeArrowheads="1"/>
          </p:cNvSpPr>
          <p:nvPr/>
        </p:nvSpPr>
        <p:spPr bwMode="auto">
          <a:xfrm>
            <a:off x="5105400" y="2968625"/>
            <a:ext cx="3048000" cy="312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r>
              <a:rPr lang="en-GB" sz="1500">
                <a:solidFill>
                  <a:schemeClr val="tx1"/>
                </a:solidFill>
              </a:rPr>
              <a:t>What You Are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endParaRPr lang="en-GB" sz="1200">
              <a:solidFill>
                <a:srgbClr val="660033"/>
              </a:solidFill>
            </a:endParaRP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You and others see you as a leader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Charismatic and credible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You believe it can and should be done, and that you can lead the effort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Committed, dedicated, passionate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You see the entire effort in a broader business and personal context</a:t>
            </a:r>
          </a:p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endParaRPr lang="en-GB" sz="1500">
              <a:solidFill>
                <a:schemeClr val="tx1"/>
              </a:solidFill>
            </a:endParaRPr>
          </a:p>
        </p:txBody>
      </p:sp>
      <p:sp>
        <p:nvSpPr>
          <p:cNvPr id="1030" name="Text Box 5"/>
          <p:cNvSpPr txBox="1">
            <a:spLocks noChangeArrowheads="1"/>
          </p:cNvSpPr>
          <p:nvPr/>
        </p:nvSpPr>
        <p:spPr bwMode="auto">
          <a:xfrm>
            <a:off x="2514600" y="2511425"/>
            <a:ext cx="25908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r>
              <a:rPr lang="en-GB" sz="1500">
                <a:solidFill>
                  <a:schemeClr val="tx1"/>
                </a:solidFill>
              </a:rPr>
              <a:t>What You Do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endParaRPr lang="en-GB" sz="1200">
              <a:solidFill>
                <a:srgbClr val="660033"/>
              </a:solidFill>
            </a:endParaRP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Set team context (vision)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Make decisions (stick)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Build teams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Motivate</a:t>
            </a:r>
          </a:p>
        </p:txBody>
      </p:sp>
      <p:sp>
        <p:nvSpPr>
          <p:cNvPr id="1031" name="Date Placeholder 12"/>
          <p:cNvSpPr>
            <a:spLocks noGrp="1"/>
          </p:cNvSpPr>
          <p:nvPr>
            <p:ph type="dt" sz="quarter" idx="11"/>
          </p:nvPr>
        </p:nvSpPr>
        <p:spPr>
          <a:noFill/>
        </p:spPr>
        <p:txBody>
          <a:bodyPr/>
          <a:lstStyle/>
          <a:p>
            <a:fld id="{9915D4F3-449B-4CB3-9C12-F15BD178EC67}" type="datetime1">
              <a:rPr lang="en-US" smtClean="0">
                <a:latin typeface="Arial" charset="0"/>
              </a:rPr>
              <a:pPr/>
              <a:t>8/23/2009</a:t>
            </a:fld>
            <a:endParaRPr lang="nl-NL" smtClean="0">
              <a:latin typeface="Arial" charset="0"/>
            </a:endParaRPr>
          </a:p>
        </p:txBody>
      </p:sp>
      <p:sp>
        <p:nvSpPr>
          <p:cNvPr id="1032" name="Footer Placeholder 1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nl-NL" smtClean="0">
                <a:latin typeface="Arial" charset="0"/>
              </a:rPr>
              <a:t>(C) Copyrights IFEAD, 2001-2008</a:t>
            </a:r>
          </a:p>
        </p:txBody>
      </p:sp>
      <p:sp>
        <p:nvSpPr>
          <p:cNvPr id="1033" name="Slide Number Placeholder 1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49F3ECD2-EBB0-46B8-AC92-E7A2902DB320}" type="slidenum">
              <a:rPr lang="nl-NL" smtClean="0">
                <a:latin typeface="Arial" charset="0"/>
              </a:rPr>
              <a:pPr/>
              <a:t>14</a:t>
            </a:fld>
            <a:endParaRPr lang="nl-NL" smtClean="0">
              <a:latin typeface="Arial" charset="0"/>
            </a:endParaRPr>
          </a:p>
        </p:txBody>
      </p:sp>
      <p:sp>
        <p:nvSpPr>
          <p:cNvPr id="1034" name="Rounded Rectangle 15"/>
          <p:cNvSpPr>
            <a:spLocks noChangeArrowheads="1"/>
          </p:cNvSpPr>
          <p:nvPr/>
        </p:nvSpPr>
        <p:spPr bwMode="auto">
          <a:xfrm>
            <a:off x="142875" y="1357313"/>
            <a:ext cx="2714625" cy="1857375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chemeClr val="accent1"/>
            </a:solidFill>
            <a:round/>
            <a:headEnd/>
            <a:tailEnd/>
          </a:ln>
        </p:spPr>
        <p:txBody>
          <a:bodyPr wrap="none" lIns="90000" tIns="72000" rIns="90000" bIns="72000" anchor="ctr"/>
          <a:lstStyle/>
          <a:p>
            <a:pPr eaLnBrk="1" hangingPunct="1">
              <a:spcBef>
                <a:spcPct val="40000"/>
              </a:spcBef>
              <a:buClr>
                <a:schemeClr val="bg2"/>
              </a:buClr>
            </a:pPr>
            <a:endParaRPr lang="en-US" sz="1600" b="0">
              <a:solidFill>
                <a:schemeClr val="tx1"/>
              </a:solidFill>
            </a:endParaRPr>
          </a:p>
        </p:txBody>
      </p:sp>
      <p:sp>
        <p:nvSpPr>
          <p:cNvPr id="1035" name="Rounded Rectangle 16"/>
          <p:cNvSpPr>
            <a:spLocks noChangeArrowheads="1"/>
          </p:cNvSpPr>
          <p:nvPr/>
        </p:nvSpPr>
        <p:spPr bwMode="auto">
          <a:xfrm>
            <a:off x="2286000" y="2214563"/>
            <a:ext cx="3143250" cy="2571750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chemeClr val="accent1"/>
            </a:solidFill>
            <a:round/>
            <a:headEnd/>
            <a:tailEnd/>
          </a:ln>
        </p:spPr>
        <p:txBody>
          <a:bodyPr wrap="none" lIns="90000" tIns="72000" rIns="90000" bIns="72000" anchor="ctr"/>
          <a:lstStyle/>
          <a:p>
            <a:pPr eaLnBrk="1" hangingPunct="1">
              <a:spcBef>
                <a:spcPct val="40000"/>
              </a:spcBef>
              <a:buClr>
                <a:schemeClr val="bg2"/>
              </a:buClr>
            </a:pPr>
            <a:endParaRPr lang="en-US" sz="1600" b="0">
              <a:solidFill>
                <a:schemeClr val="tx1"/>
              </a:solidFill>
            </a:endParaRPr>
          </a:p>
        </p:txBody>
      </p:sp>
      <p:sp>
        <p:nvSpPr>
          <p:cNvPr id="1036" name="Rounded Rectangle 17"/>
          <p:cNvSpPr>
            <a:spLocks noChangeArrowheads="1"/>
          </p:cNvSpPr>
          <p:nvPr/>
        </p:nvSpPr>
        <p:spPr bwMode="auto">
          <a:xfrm>
            <a:off x="5072063" y="2714625"/>
            <a:ext cx="3214687" cy="3429000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chemeClr val="accent1"/>
            </a:solidFill>
            <a:round/>
            <a:headEnd/>
            <a:tailEnd/>
          </a:ln>
        </p:spPr>
        <p:txBody>
          <a:bodyPr wrap="none" lIns="90000" tIns="72000" rIns="90000" bIns="72000" anchor="ctr"/>
          <a:lstStyle/>
          <a:p>
            <a:pPr eaLnBrk="1" hangingPunct="1">
              <a:spcBef>
                <a:spcPct val="40000"/>
              </a:spcBef>
              <a:buClr>
                <a:schemeClr val="bg2"/>
              </a:buClr>
            </a:pPr>
            <a:endParaRPr lang="en-US" sz="16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1800" smtClean="0"/>
              <a:t>Enterprise Architect Role Profile: Technology</a:t>
            </a:r>
          </a:p>
        </p:txBody>
      </p:sp>
      <p:sp>
        <p:nvSpPr>
          <p:cNvPr id="31747" name="Text Box 3"/>
          <p:cNvSpPr txBox="1">
            <a:spLocks noChangeArrowheads="1"/>
          </p:cNvSpPr>
          <p:nvPr/>
        </p:nvSpPr>
        <p:spPr bwMode="auto">
          <a:xfrm>
            <a:off x="228600" y="2087563"/>
            <a:ext cx="2819400" cy="2917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r>
              <a:rPr lang="en-GB" sz="1500">
                <a:solidFill>
                  <a:schemeClr val="tx1"/>
                </a:solidFill>
              </a:rPr>
              <a:t>What You Know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endParaRPr lang="en-GB" sz="1200">
              <a:solidFill>
                <a:srgbClr val="660033"/>
              </a:solidFill>
            </a:endParaRP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In-depth understanding of the domain and pertinent technologies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Understand what technical issues are key to success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Development of methods and modelling techniques</a:t>
            </a:r>
          </a:p>
        </p:txBody>
      </p:sp>
      <p:sp>
        <p:nvSpPr>
          <p:cNvPr id="31748" name="Text Box 5"/>
          <p:cNvSpPr txBox="1">
            <a:spLocks noChangeArrowheads="1"/>
          </p:cNvSpPr>
          <p:nvPr/>
        </p:nvSpPr>
        <p:spPr bwMode="auto">
          <a:xfrm>
            <a:off x="5943600" y="3078163"/>
            <a:ext cx="2971800" cy="25828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r>
              <a:rPr lang="en-GB" sz="1500">
                <a:solidFill>
                  <a:schemeClr val="tx1"/>
                </a:solidFill>
              </a:rPr>
              <a:t>What You Are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endParaRPr lang="en-GB" sz="1200">
              <a:solidFill>
                <a:srgbClr val="660033"/>
              </a:solidFill>
            </a:endParaRP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Creative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Investigative, Practical, Pragmatic, Insightful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Tolerant of ambiguity, willing to backtrack, seek multiple solutions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Good at working at an abstract level</a:t>
            </a:r>
          </a:p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endParaRPr lang="en-GB" sz="1200">
              <a:solidFill>
                <a:srgbClr val="660033"/>
              </a:solidFill>
            </a:endParaRPr>
          </a:p>
        </p:txBody>
      </p:sp>
      <p:sp>
        <p:nvSpPr>
          <p:cNvPr id="31749" name="Text Box 6"/>
          <p:cNvSpPr txBox="1">
            <a:spLocks noChangeArrowheads="1"/>
          </p:cNvSpPr>
          <p:nvPr/>
        </p:nvSpPr>
        <p:spPr bwMode="auto">
          <a:xfrm>
            <a:off x="3048000" y="2544763"/>
            <a:ext cx="2895600" cy="2971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r>
              <a:rPr lang="en-GB" sz="1500">
                <a:solidFill>
                  <a:schemeClr val="tx1"/>
                </a:solidFill>
              </a:rPr>
              <a:t>What You Do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endParaRPr lang="en-GB" sz="1200">
              <a:solidFill>
                <a:srgbClr val="660033"/>
              </a:solidFill>
            </a:endParaRP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Modelling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Trade-off analysis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Prototype, Experiment, Simulate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Prepare architectural documents and presentations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Technology trend analysis/roadmaps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Take a system viewpoint</a:t>
            </a:r>
          </a:p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endParaRPr lang="en-GB" sz="1500">
              <a:solidFill>
                <a:schemeClr val="tx2"/>
              </a:solidFill>
            </a:endParaRPr>
          </a:p>
        </p:txBody>
      </p:sp>
      <p:pic>
        <p:nvPicPr>
          <p:cNvPr id="31750" name="Picture 20" descr="technology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429500" y="1285875"/>
            <a:ext cx="1403350" cy="1489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51" name="Date Placeholder 12"/>
          <p:cNvSpPr>
            <a:spLocks noGrp="1"/>
          </p:cNvSpPr>
          <p:nvPr>
            <p:ph type="dt" sz="quarter" idx="11"/>
          </p:nvPr>
        </p:nvSpPr>
        <p:spPr>
          <a:noFill/>
        </p:spPr>
        <p:txBody>
          <a:bodyPr/>
          <a:lstStyle/>
          <a:p>
            <a:fld id="{3C046B1E-7FF6-4C74-BDD3-516BC40B9217}" type="datetime1">
              <a:rPr lang="en-US" smtClean="0">
                <a:latin typeface="Arial" charset="0"/>
              </a:rPr>
              <a:pPr/>
              <a:t>8/23/2009</a:t>
            </a:fld>
            <a:endParaRPr lang="nl-NL" smtClean="0">
              <a:latin typeface="Arial" charset="0"/>
            </a:endParaRPr>
          </a:p>
        </p:txBody>
      </p:sp>
      <p:sp>
        <p:nvSpPr>
          <p:cNvPr id="31752" name="Footer Placeholder 1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nl-NL" smtClean="0">
                <a:latin typeface="Arial" charset="0"/>
              </a:rPr>
              <a:t>(C) Copyrights IFEAD, 2001-2008</a:t>
            </a:r>
          </a:p>
        </p:txBody>
      </p:sp>
      <p:sp>
        <p:nvSpPr>
          <p:cNvPr id="31753" name="Slide Number Placeholder 1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7A226BEE-A2B3-439E-9FFC-C7EBF34BE15E}" type="slidenum">
              <a:rPr lang="nl-NL" smtClean="0">
                <a:latin typeface="Arial" charset="0"/>
              </a:rPr>
              <a:pPr/>
              <a:t>15</a:t>
            </a:fld>
            <a:endParaRPr lang="nl-NL" smtClean="0">
              <a:latin typeface="Arial" charset="0"/>
            </a:endParaRPr>
          </a:p>
        </p:txBody>
      </p:sp>
      <p:sp>
        <p:nvSpPr>
          <p:cNvPr id="31754" name="Rounded Rectangle 15"/>
          <p:cNvSpPr>
            <a:spLocks noChangeArrowheads="1"/>
          </p:cNvSpPr>
          <p:nvPr/>
        </p:nvSpPr>
        <p:spPr bwMode="auto">
          <a:xfrm>
            <a:off x="214313" y="1785938"/>
            <a:ext cx="3214687" cy="2714625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chemeClr val="accent1"/>
            </a:solidFill>
            <a:round/>
            <a:headEnd/>
            <a:tailEnd/>
          </a:ln>
        </p:spPr>
        <p:txBody>
          <a:bodyPr wrap="none" lIns="90000" tIns="72000" rIns="90000" bIns="72000" anchor="ctr"/>
          <a:lstStyle/>
          <a:p>
            <a:pPr eaLnBrk="1" hangingPunct="1">
              <a:spcBef>
                <a:spcPct val="40000"/>
              </a:spcBef>
              <a:buClr>
                <a:schemeClr val="bg2"/>
              </a:buClr>
            </a:pPr>
            <a:endParaRPr lang="en-US" sz="1600" b="0">
              <a:solidFill>
                <a:schemeClr val="tx1"/>
              </a:solidFill>
            </a:endParaRPr>
          </a:p>
        </p:txBody>
      </p:sp>
      <p:sp>
        <p:nvSpPr>
          <p:cNvPr id="31755" name="Rounded Rectangle 16"/>
          <p:cNvSpPr>
            <a:spLocks noChangeArrowheads="1"/>
          </p:cNvSpPr>
          <p:nvPr/>
        </p:nvSpPr>
        <p:spPr bwMode="auto">
          <a:xfrm>
            <a:off x="3000375" y="2428875"/>
            <a:ext cx="3286125" cy="3357563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chemeClr val="accent1"/>
            </a:solidFill>
            <a:round/>
            <a:headEnd/>
            <a:tailEnd/>
          </a:ln>
        </p:spPr>
        <p:txBody>
          <a:bodyPr wrap="none" lIns="90000" tIns="72000" rIns="90000" bIns="72000" anchor="ctr"/>
          <a:lstStyle/>
          <a:p>
            <a:pPr eaLnBrk="1" hangingPunct="1">
              <a:spcBef>
                <a:spcPct val="40000"/>
              </a:spcBef>
              <a:buClr>
                <a:schemeClr val="bg2"/>
              </a:buClr>
            </a:pPr>
            <a:endParaRPr lang="en-US" sz="1600" b="0">
              <a:solidFill>
                <a:schemeClr val="tx1"/>
              </a:solidFill>
            </a:endParaRPr>
          </a:p>
        </p:txBody>
      </p:sp>
      <p:sp>
        <p:nvSpPr>
          <p:cNvPr id="31756" name="Rounded Rectangle 17"/>
          <p:cNvSpPr>
            <a:spLocks noChangeArrowheads="1"/>
          </p:cNvSpPr>
          <p:nvPr/>
        </p:nvSpPr>
        <p:spPr bwMode="auto">
          <a:xfrm>
            <a:off x="5857875" y="2928938"/>
            <a:ext cx="3071813" cy="2643187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chemeClr val="accent1"/>
            </a:solidFill>
            <a:round/>
            <a:headEnd/>
            <a:tailEnd/>
          </a:ln>
        </p:spPr>
        <p:txBody>
          <a:bodyPr wrap="none" lIns="90000" tIns="72000" rIns="90000" bIns="72000" anchor="ctr"/>
          <a:lstStyle/>
          <a:p>
            <a:pPr eaLnBrk="1" hangingPunct="1">
              <a:spcBef>
                <a:spcPct val="40000"/>
              </a:spcBef>
              <a:buClr>
                <a:schemeClr val="bg2"/>
              </a:buClr>
            </a:pPr>
            <a:endParaRPr lang="en-US" sz="16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4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1800" smtClean="0"/>
              <a:t>Enterprise Architect Role Profile: Branch Knowledge</a:t>
            </a:r>
          </a:p>
        </p:txBody>
      </p:sp>
      <p:pic>
        <p:nvPicPr>
          <p:cNvPr id="32771" name="Picture 57" descr="pic-holding-puzzle">
            <a:hlinkClick r:id="rId3"/>
          </p:cNvPr>
          <p:cNvPicPr>
            <a:picLocks noGrp="1" noChangeAspect="1" noChangeArrowheads="1"/>
          </p:cNvPicPr>
          <p:nvPr>
            <p:ph sz="half" idx="1"/>
          </p:nvPr>
        </p:nvPicPr>
        <p:blipFill>
          <a:blip r:embed="rId4" cstate="print"/>
          <a:srcRect/>
          <a:stretch>
            <a:fillRect/>
          </a:stretch>
        </p:blipFill>
        <p:spPr>
          <a:xfrm>
            <a:off x="6572250" y="1285875"/>
            <a:ext cx="2333625" cy="1552575"/>
          </a:xfrm>
        </p:spPr>
      </p:pic>
      <p:sp>
        <p:nvSpPr>
          <p:cNvPr id="32772" name="Text Box 8"/>
          <p:cNvSpPr txBox="1">
            <a:spLocks noChangeArrowheads="1"/>
          </p:cNvSpPr>
          <p:nvPr/>
        </p:nvSpPr>
        <p:spPr bwMode="auto">
          <a:xfrm>
            <a:off x="228600" y="2143125"/>
            <a:ext cx="2819400" cy="2486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r>
              <a:rPr lang="en-GB" sz="1500">
                <a:solidFill>
                  <a:schemeClr val="tx1"/>
                </a:solidFill>
              </a:rPr>
              <a:t>What You Know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endParaRPr lang="en-GB" sz="1200">
              <a:solidFill>
                <a:srgbClr val="660033"/>
              </a:solidFill>
            </a:endParaRP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In-depth understanding of the market and market movements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Understand what market issues are key to success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Understanding of Market Strategies</a:t>
            </a:r>
          </a:p>
        </p:txBody>
      </p:sp>
      <p:sp>
        <p:nvSpPr>
          <p:cNvPr id="32773" name="Text Box 11"/>
          <p:cNvSpPr txBox="1">
            <a:spLocks noChangeArrowheads="1"/>
          </p:cNvSpPr>
          <p:nvPr/>
        </p:nvSpPr>
        <p:spPr bwMode="auto">
          <a:xfrm>
            <a:off x="5943600" y="3154363"/>
            <a:ext cx="2971800" cy="2506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r>
              <a:rPr lang="en-GB" sz="1500">
                <a:solidFill>
                  <a:schemeClr val="tx1"/>
                </a:solidFill>
              </a:rPr>
              <a:t>What You Are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endParaRPr lang="en-GB" sz="1200">
              <a:solidFill>
                <a:srgbClr val="660033"/>
              </a:solidFill>
            </a:endParaRP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Creative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Investigative, Practical, Pragmatic, Insightful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Tolerant of ambiguity, willing to backtrack, seek multiple solutions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Good at working in a specific market segment</a:t>
            </a:r>
          </a:p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endParaRPr lang="en-GB" sz="1500">
              <a:solidFill>
                <a:schemeClr val="tx2"/>
              </a:solidFill>
            </a:endParaRPr>
          </a:p>
        </p:txBody>
      </p:sp>
      <p:sp>
        <p:nvSpPr>
          <p:cNvPr id="32774" name="Text Box 14"/>
          <p:cNvSpPr txBox="1">
            <a:spLocks noChangeArrowheads="1"/>
          </p:cNvSpPr>
          <p:nvPr/>
        </p:nvSpPr>
        <p:spPr bwMode="auto">
          <a:xfrm>
            <a:off x="3048000" y="2600325"/>
            <a:ext cx="2895600" cy="24606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r>
              <a:rPr lang="en-GB" sz="1500">
                <a:solidFill>
                  <a:schemeClr val="tx1"/>
                </a:solidFill>
              </a:rPr>
              <a:t>What You Do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endParaRPr lang="en-GB" sz="1200">
              <a:solidFill>
                <a:srgbClr val="660033"/>
              </a:solidFill>
            </a:endParaRP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Value Chain Analysis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Trade-off analysis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Market trend analysis/roadmaps</a:t>
            </a:r>
          </a:p>
          <a:p>
            <a:pPr marL="742950" lvl="1" indent="-285750" algn="l">
              <a:spcBef>
                <a:spcPct val="50000"/>
              </a:spcBef>
              <a:buClr>
                <a:srgbClr val="004182"/>
              </a:buClr>
              <a:buFontTx/>
              <a:buChar char="•"/>
            </a:pPr>
            <a:r>
              <a:rPr lang="en-GB" sz="1200">
                <a:solidFill>
                  <a:srgbClr val="660033"/>
                </a:solidFill>
              </a:rPr>
              <a:t>Take a business / market viewpoint</a:t>
            </a:r>
          </a:p>
          <a:p>
            <a:pPr marL="342900" indent="-342900" algn="l">
              <a:spcBef>
                <a:spcPct val="50000"/>
              </a:spcBef>
              <a:buClr>
                <a:srgbClr val="009BCC"/>
              </a:buClr>
              <a:buFont typeface="Symbol" pitchFamily="18" charset="2"/>
              <a:buChar char="·"/>
            </a:pPr>
            <a:endParaRPr lang="en-GB" sz="1200">
              <a:solidFill>
                <a:srgbClr val="660033"/>
              </a:solidFill>
            </a:endParaRPr>
          </a:p>
        </p:txBody>
      </p:sp>
      <p:sp>
        <p:nvSpPr>
          <p:cNvPr id="32775" name="Date Placeholder 12"/>
          <p:cNvSpPr>
            <a:spLocks noGrp="1"/>
          </p:cNvSpPr>
          <p:nvPr>
            <p:ph type="dt" sz="quarter" idx="11"/>
          </p:nvPr>
        </p:nvSpPr>
        <p:spPr>
          <a:noFill/>
        </p:spPr>
        <p:txBody>
          <a:bodyPr/>
          <a:lstStyle/>
          <a:p>
            <a:fld id="{C5B4F057-DFB2-400E-BA0F-FEAAAC23EBAD}" type="datetime1">
              <a:rPr lang="en-US" smtClean="0">
                <a:latin typeface="Arial" charset="0"/>
              </a:rPr>
              <a:pPr/>
              <a:t>8/23/2009</a:t>
            </a:fld>
            <a:endParaRPr lang="nl-NL" smtClean="0">
              <a:latin typeface="Arial" charset="0"/>
            </a:endParaRPr>
          </a:p>
        </p:txBody>
      </p:sp>
      <p:sp>
        <p:nvSpPr>
          <p:cNvPr id="32776" name="Footer Placeholder 13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nl-NL" smtClean="0">
                <a:latin typeface="Arial" charset="0"/>
              </a:rPr>
              <a:t>(C) Copyrights IFEAD, 2001-2008</a:t>
            </a:r>
          </a:p>
        </p:txBody>
      </p:sp>
      <p:sp>
        <p:nvSpPr>
          <p:cNvPr id="32777" name="Slide Number Placeholder 14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A278E0DC-EBCA-462B-9E2F-A64C07B2B366}" type="slidenum">
              <a:rPr lang="nl-NL" smtClean="0">
                <a:latin typeface="Arial" charset="0"/>
              </a:rPr>
              <a:pPr/>
              <a:t>16</a:t>
            </a:fld>
            <a:endParaRPr lang="nl-NL" smtClean="0">
              <a:latin typeface="Arial" charset="0"/>
            </a:endParaRPr>
          </a:p>
        </p:txBody>
      </p:sp>
      <p:sp>
        <p:nvSpPr>
          <p:cNvPr id="32778" name="Rounded Rectangle 15"/>
          <p:cNvSpPr>
            <a:spLocks noChangeArrowheads="1"/>
          </p:cNvSpPr>
          <p:nvPr/>
        </p:nvSpPr>
        <p:spPr bwMode="auto">
          <a:xfrm>
            <a:off x="214313" y="1857375"/>
            <a:ext cx="3143250" cy="2571750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chemeClr val="accent1"/>
            </a:solidFill>
            <a:round/>
            <a:headEnd/>
            <a:tailEnd/>
          </a:ln>
        </p:spPr>
        <p:txBody>
          <a:bodyPr wrap="none" lIns="90000" tIns="72000" rIns="90000" bIns="72000" anchor="ctr"/>
          <a:lstStyle/>
          <a:p>
            <a:pPr eaLnBrk="1" hangingPunct="1">
              <a:spcBef>
                <a:spcPct val="40000"/>
              </a:spcBef>
              <a:buClr>
                <a:schemeClr val="bg2"/>
              </a:buClr>
            </a:pPr>
            <a:endParaRPr lang="en-US" sz="1600" b="0">
              <a:solidFill>
                <a:schemeClr val="tx1"/>
              </a:solidFill>
            </a:endParaRPr>
          </a:p>
        </p:txBody>
      </p:sp>
      <p:sp>
        <p:nvSpPr>
          <p:cNvPr id="32779" name="Rounded Rectangle 16"/>
          <p:cNvSpPr>
            <a:spLocks noChangeArrowheads="1"/>
          </p:cNvSpPr>
          <p:nvPr/>
        </p:nvSpPr>
        <p:spPr bwMode="auto">
          <a:xfrm>
            <a:off x="3000375" y="2428875"/>
            <a:ext cx="3286125" cy="2571750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chemeClr val="accent1"/>
            </a:solidFill>
            <a:round/>
            <a:headEnd/>
            <a:tailEnd/>
          </a:ln>
        </p:spPr>
        <p:txBody>
          <a:bodyPr wrap="none" lIns="90000" tIns="72000" rIns="90000" bIns="72000" anchor="ctr"/>
          <a:lstStyle/>
          <a:p>
            <a:pPr eaLnBrk="1" hangingPunct="1">
              <a:spcBef>
                <a:spcPct val="40000"/>
              </a:spcBef>
              <a:buClr>
                <a:schemeClr val="bg2"/>
              </a:buClr>
            </a:pPr>
            <a:endParaRPr lang="en-US" sz="1600" b="0">
              <a:solidFill>
                <a:schemeClr val="tx1"/>
              </a:solidFill>
            </a:endParaRPr>
          </a:p>
        </p:txBody>
      </p:sp>
      <p:sp>
        <p:nvSpPr>
          <p:cNvPr id="32780" name="Rounded Rectangle 17"/>
          <p:cNvSpPr>
            <a:spLocks noChangeArrowheads="1"/>
          </p:cNvSpPr>
          <p:nvPr/>
        </p:nvSpPr>
        <p:spPr bwMode="auto">
          <a:xfrm>
            <a:off x="5857875" y="3000375"/>
            <a:ext cx="3000375" cy="2786063"/>
          </a:xfrm>
          <a:prstGeom prst="roundRect">
            <a:avLst>
              <a:gd name="adj" fmla="val 16667"/>
            </a:avLst>
          </a:prstGeom>
          <a:noFill/>
          <a:ln w="25400" algn="ctr">
            <a:solidFill>
              <a:schemeClr val="accent1"/>
            </a:solidFill>
            <a:round/>
            <a:headEnd/>
            <a:tailEnd/>
          </a:ln>
        </p:spPr>
        <p:txBody>
          <a:bodyPr wrap="none" lIns="90000" tIns="72000" rIns="90000" bIns="72000" anchor="ctr"/>
          <a:lstStyle/>
          <a:p>
            <a:pPr eaLnBrk="1" hangingPunct="1">
              <a:spcBef>
                <a:spcPct val="40000"/>
              </a:spcBef>
              <a:buClr>
                <a:schemeClr val="bg2"/>
              </a:buClr>
            </a:pPr>
            <a:endParaRPr lang="en-US" sz="1600" b="0">
              <a:solidFill>
                <a:schemeClr val="tx1"/>
              </a:solidFill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z="1800" smtClean="0"/>
              <a:t>Enterprise Architect Role Profile: Risks &amp; Rewards</a:t>
            </a:r>
          </a:p>
        </p:txBody>
      </p:sp>
      <p:sp>
        <p:nvSpPr>
          <p:cNvPr id="2052" name="Text Box 3"/>
          <p:cNvSpPr txBox="1">
            <a:spLocks noChangeArrowheads="1"/>
          </p:cNvSpPr>
          <p:nvPr/>
        </p:nvSpPr>
        <p:spPr bwMode="auto">
          <a:xfrm>
            <a:off x="468313" y="1484313"/>
            <a:ext cx="5791200" cy="4359275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/>
          <a:lstStyle/>
          <a:p>
            <a:pPr marL="287338" indent="-287338" algn="l">
              <a:lnSpc>
                <a:spcPct val="85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ü"/>
            </a:pPr>
            <a:r>
              <a:rPr lang="en-GB" sz="1800" b="0">
                <a:solidFill>
                  <a:schemeClr val="tx1"/>
                </a:solidFill>
              </a:rPr>
              <a:t>Risks</a:t>
            </a:r>
          </a:p>
          <a:p>
            <a:pPr marL="665163" lvl="1" indent="-187325" algn="l">
              <a:lnSpc>
                <a:spcPct val="85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ü"/>
            </a:pPr>
            <a:r>
              <a:rPr lang="en-GB" sz="1600" b="0">
                <a:solidFill>
                  <a:schemeClr val="tx1"/>
                </a:solidFill>
              </a:rPr>
              <a:t>Responsibility without corresponding control</a:t>
            </a:r>
          </a:p>
          <a:p>
            <a:pPr marL="665163" lvl="1" indent="-187325" algn="l">
              <a:lnSpc>
                <a:spcPct val="85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ü"/>
            </a:pPr>
            <a:r>
              <a:rPr lang="en-GB" sz="1600" b="0">
                <a:solidFill>
                  <a:schemeClr val="tx1"/>
                </a:solidFill>
              </a:rPr>
              <a:t>A lot of resistance and disappointments along the way</a:t>
            </a:r>
          </a:p>
          <a:p>
            <a:pPr marL="665163" lvl="1" indent="-187325" algn="l">
              <a:lnSpc>
                <a:spcPct val="85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ü"/>
            </a:pPr>
            <a:r>
              <a:rPr lang="en-GB" sz="1600" b="0">
                <a:solidFill>
                  <a:schemeClr val="tx1"/>
                </a:solidFill>
              </a:rPr>
              <a:t>Often encounter others that believe they have a better idea or solution</a:t>
            </a:r>
          </a:p>
          <a:p>
            <a:pPr marL="287338" indent="-287338" algn="l">
              <a:lnSpc>
                <a:spcPct val="85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ü"/>
            </a:pPr>
            <a:r>
              <a:rPr lang="en-GB" sz="1800" b="0">
                <a:solidFill>
                  <a:schemeClr val="tx1"/>
                </a:solidFill>
              </a:rPr>
              <a:t>Rewards</a:t>
            </a:r>
          </a:p>
          <a:p>
            <a:pPr marL="665163" lvl="1" indent="-187325" algn="l">
              <a:lnSpc>
                <a:spcPct val="85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ü"/>
            </a:pPr>
            <a:r>
              <a:rPr lang="en-GB" sz="1600" b="0">
                <a:solidFill>
                  <a:schemeClr val="tx1"/>
                </a:solidFill>
              </a:rPr>
              <a:t>Focus on interesting and complex issues</a:t>
            </a:r>
          </a:p>
          <a:p>
            <a:pPr marL="665163" lvl="1" indent="-187325" algn="l">
              <a:lnSpc>
                <a:spcPct val="85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ü"/>
            </a:pPr>
            <a:r>
              <a:rPr lang="en-GB" sz="1600" b="0">
                <a:solidFill>
                  <a:schemeClr val="tx1"/>
                </a:solidFill>
              </a:rPr>
              <a:t>Opportunity to advance to very high levels in the organisation with a business &amp; technical focus (rather than personnel and fiscal)</a:t>
            </a:r>
          </a:p>
          <a:p>
            <a:pPr marL="665163" lvl="1" indent="-187325" algn="l">
              <a:lnSpc>
                <a:spcPct val="85000"/>
              </a:lnSpc>
              <a:spcBef>
                <a:spcPct val="50000"/>
              </a:spcBef>
              <a:buClr>
                <a:schemeClr val="tx2"/>
              </a:buClr>
              <a:buFont typeface="Wingdings" pitchFamily="2" charset="2"/>
              <a:buChar char="ü"/>
            </a:pPr>
            <a:r>
              <a:rPr lang="en-GB" sz="1600" b="0">
                <a:solidFill>
                  <a:schemeClr val="tx1"/>
                </a:solidFill>
              </a:rPr>
              <a:t>Opportunity to make an enormous difference to the company and clients</a:t>
            </a:r>
          </a:p>
        </p:txBody>
      </p:sp>
      <p:graphicFrame>
        <p:nvGraphicFramePr>
          <p:cNvPr id="2050" name="Object 4"/>
          <p:cNvGraphicFramePr>
            <a:graphicFrameLocks noChangeAspect="1"/>
          </p:cNvGraphicFramePr>
          <p:nvPr/>
        </p:nvGraphicFramePr>
        <p:xfrm>
          <a:off x="6477000" y="1676400"/>
          <a:ext cx="2200275" cy="1439863"/>
        </p:xfrm>
        <a:graphic>
          <a:graphicData uri="http://schemas.openxmlformats.org/presentationml/2006/ole">
            <p:oleObj spid="_x0000_s2050" name="Photo Editor Photo" r:id="rId4" imgW="2809524" imgH="1838095" progId="MSPhotoEd.3">
              <p:embed/>
            </p:oleObj>
          </a:graphicData>
        </a:graphic>
      </p:graphicFrame>
      <p:pic>
        <p:nvPicPr>
          <p:cNvPr id="2053" name="Picture 6" descr="opportunity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19900" y="3429000"/>
            <a:ext cx="1714500" cy="24574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4" name="Date Placeholder 5"/>
          <p:cNvSpPr>
            <a:spLocks noGrp="1"/>
          </p:cNvSpPr>
          <p:nvPr>
            <p:ph type="dt" sz="quarter" idx="11"/>
          </p:nvPr>
        </p:nvSpPr>
        <p:spPr>
          <a:noFill/>
        </p:spPr>
        <p:txBody>
          <a:bodyPr/>
          <a:lstStyle/>
          <a:p>
            <a:fld id="{A9048D00-75A3-4AE8-8408-297874D18FA9}" type="datetime1">
              <a:rPr lang="en-US" smtClean="0">
                <a:latin typeface="Arial" charset="0"/>
              </a:rPr>
              <a:pPr/>
              <a:t>8/23/2009</a:t>
            </a:fld>
            <a:endParaRPr lang="nl-NL" smtClean="0">
              <a:latin typeface="Arial" charset="0"/>
            </a:endParaRPr>
          </a:p>
        </p:txBody>
      </p:sp>
      <p:sp>
        <p:nvSpPr>
          <p:cNvPr id="2055" name="Footer Placeholder 6"/>
          <p:cNvSpPr>
            <a:spLocks noGrp="1"/>
          </p:cNvSpPr>
          <p:nvPr>
            <p:ph type="ftr" sz="quarter" idx="12"/>
          </p:nvPr>
        </p:nvSpPr>
        <p:spPr>
          <a:noFill/>
        </p:spPr>
        <p:txBody>
          <a:bodyPr/>
          <a:lstStyle/>
          <a:p>
            <a:r>
              <a:rPr lang="nl-NL" smtClean="0">
                <a:latin typeface="Arial" charset="0"/>
              </a:rPr>
              <a:t>(C) Copyrights IFEAD, 2001-2008</a:t>
            </a:r>
          </a:p>
        </p:txBody>
      </p:sp>
      <p:sp>
        <p:nvSpPr>
          <p:cNvPr id="2056" name="Slide Number Placeholder 7"/>
          <p:cNvSpPr>
            <a:spLocks noGrp="1"/>
          </p:cNvSpPr>
          <p:nvPr>
            <p:ph type="sldNum" sz="quarter" idx="10"/>
          </p:nvPr>
        </p:nvSpPr>
        <p:spPr>
          <a:noFill/>
        </p:spPr>
        <p:txBody>
          <a:bodyPr/>
          <a:lstStyle/>
          <a:p>
            <a:fld id="{F40D389D-A832-455A-AF6F-384F89C9F607}" type="slidenum">
              <a:rPr lang="nl-NL" smtClean="0">
                <a:latin typeface="Arial" charset="0"/>
              </a:rPr>
              <a:pPr/>
              <a:t>17</a:t>
            </a:fld>
            <a:endParaRPr lang="nl-NL" smtClean="0">
              <a:latin typeface="Arial" charset="0"/>
            </a:endParaRPr>
          </a:p>
        </p:txBody>
      </p:sp>
    </p:spTree>
  </p:cSld>
  <p:clrMapOvr>
    <a:masterClrMapping/>
  </p:clrMapOvr>
  <p:transition>
    <p:wipe dir="r"/>
  </p:transition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DATA" val="&lt;database version=&quot;7.0&quot;&gt;&lt;object type=&quot;1&quot; unique_id=&quot;10001&quot;&gt;&lt;object type=&quot;8&quot; unique_id=&quot;10002&quot;&gt;&lt;/object&gt;&lt;object type=&quot;2&quot; unique_id=&quot;10003&quot;&gt;&lt;object type=&quot;3&quot; unique_id=&quot;10004&quot;&gt;&lt;property id=&quot;20148&quot; value=&quot;5&quot;/&gt;&lt;property id=&quot;20300&quot; value=&quot;Slide 1 - &amp;quot;Competence Profile of the Enterprise Architect&amp;quot;&quot;/&gt;&lt;property id=&quot;20307&quot; value=&quot;256&quot;/&gt;&lt;/object&gt;&lt;object type=&quot;3&quot; unique_id=&quot;10005&quot;&gt;&lt;property id=&quot;20148&quot; value=&quot;5&quot;/&gt;&lt;property id=&quot;20300&quot; value=&quot;Slide 2 - &amp;quot;Enterprise Architects: Positioning&amp;quot;&quot;/&gt;&lt;property id=&quot;20307&quot; value=&quot;326&quot;/&gt;&lt;/object&gt;&lt;object type=&quot;3&quot; unique_id=&quot;10006&quot;&gt;&lt;property id=&quot;20148&quot; value=&quot;5&quot;/&gt;&lt;property id=&quot;20300&quot; value=&quot;Slide 3 - &amp;quot;About The Enterprise Architect …..&amp;quot;&quot;/&gt;&lt;property id=&quot;20307&quot; value=&quot;282&quot;/&gt;&lt;/object&gt;&lt;object type=&quot;3&quot; unique_id=&quot;10007&quot;&gt;&lt;property id=&quot;20148&quot; value=&quot;5&quot;/&gt;&lt;property id=&quot;20300&quot; value=&quot;Slide 4 - &amp;quot;Overall Profile of the Enterprise Architect&amp;quot;&quot;/&gt;&lt;property id=&quot;20307&quot; value=&quot;319&quot;/&gt;&lt;/object&gt;&lt;object type=&quot;3&quot; unique_id=&quot;10008&quot;&gt;&lt;property id=&quot;20148&quot; value=&quot;5&quot;/&gt;&lt;property id=&quot;20300&quot; value=&quot;Slide 5&quot;/&gt;&lt;property id=&quot;20307&quot; value=&quot;331&quot;/&gt;&lt;/object&gt;&lt;object type=&quot;3&quot; unique_id=&quot;10009&quot;&gt;&lt;property id=&quot;20148&quot; value=&quot;5&quot;/&gt;&lt;property id=&quot;20300&quot; value=&quot;Slide 6 - &amp;quot;Enterprise Architects Competence Profile – Level 4&amp;quot;&quot;/&gt;&lt;property id=&quot;20307&quot; value=&quot;333&quot;/&gt;&lt;/object&gt;&lt;object type=&quot;3&quot; unique_id=&quot;10010&quot;&gt;&lt;property id=&quot;20148&quot; value=&quot;5&quot;/&gt;&lt;property id=&quot;20300&quot; value=&quot;Slide 7 - &amp;quot;Enterprise Architects Competence Profile – Level 3&amp;quot;&quot;/&gt;&lt;property id=&quot;20307&quot; value=&quot;334&quot;/&gt;&lt;/object&gt;&lt;object type=&quot;3&quot; unique_id=&quot;10011&quot;&gt;&lt;property id=&quot;20148&quot; value=&quot;5&quot;/&gt;&lt;property id=&quot;20300&quot; value=&quot;Slide 8 - &amp;quot;EA Capabilities &amp;amp; Competence Levels Matrix, Methods &amp;amp; Techniques &amp;quot;&quot;/&gt;&lt;property id=&quot;20307&quot; value=&quot;336&quot;/&gt;&lt;/object&gt;&lt;object type=&quot;3&quot; unique_id=&quot;10012&quot;&gt;&lt;property id=&quot;20148&quot; value=&quot;5&quot;/&gt;&lt;property id=&quot;20300&quot; value=&quot;Slide 9 - &amp;quot;EA Capabilities &amp;amp; Competence Levels Matrix, Methods &amp;amp; Techniques, Cont. &amp;quot;&quot;/&gt;&lt;property id=&quot;20307&quot; value=&quot;337&quot;/&gt;&lt;/object&gt;&lt;object type=&quot;3&quot; unique_id=&quot;10013&quot;&gt;&lt;property id=&quot;20148&quot; value=&quot;5&quot;/&gt;&lt;property id=&quot;20300&quot; value=&quot;Slide 10 - &amp;quot;Explanation Competence Statements&amp;quot;&quot;/&gt;&lt;property id=&quot;20307&quot; value=&quot;332&quot;/&gt;&lt;/object&gt;&lt;object type=&quot;3&quot; unique_id=&quot;10014&quot;&gt;&lt;property id=&quot;20148&quot; value=&quot;5&quot;/&gt;&lt;property id=&quot;20300&quot; value=&quot;Slide 11 - &amp;quot;Enterprise Architect Role Profile: Business Technology Strategy&amp;quot;&quot;/&gt;&lt;property id=&quot;20307&quot; value=&quot;320&quot;/&gt;&lt;/object&gt;&lt;object type=&quot;3&quot; unique_id=&quot;10015&quot;&gt;&lt;property id=&quot;20148&quot; value=&quot;5&quot;/&gt;&lt;property id=&quot;20300&quot; value=&quot;Slide 12 - &amp;quot;Enterprise Architect Role Profile: Organisational Politics&amp;quot;&quot;/&gt;&lt;property id=&quot;20307&quot; value=&quot;322&quot;/&gt;&lt;/object&gt;&lt;object type=&quot;3&quot; unique_id=&quot;10016&quot;&gt;&lt;property id=&quot;20148&quot; value=&quot;5&quot;/&gt;&lt;property id=&quot;20300&quot; value=&quot;Slide 13 - &amp;quot;Enterprise Architect Role Profile: Consulting&amp;quot;&quot;/&gt;&lt;property id=&quot;20307&quot; value=&quot;323&quot;/&gt;&lt;/object&gt;&lt;object type=&quot;3&quot; unique_id=&quot;10017&quot;&gt;&lt;property id=&quot;20148&quot; value=&quot;5&quot;/&gt;&lt;property id=&quot;20300&quot; value=&quot;Slide 14 - &amp;quot;Enterprise Architect Role Profile: Leadership&amp;quot;&quot;/&gt;&lt;property id=&quot;20307&quot; value=&quot;324&quot;/&gt;&lt;/object&gt;&lt;object type=&quot;3&quot; unique_id=&quot;10018&quot;&gt;&lt;property id=&quot;20148&quot; value=&quot;5&quot;/&gt;&lt;property id=&quot;20300&quot; value=&quot;Slide 15 - &amp;quot;Enterprise Architect Role Profile: Technology&amp;quot;&quot;/&gt;&lt;property id=&quot;20307&quot; value=&quot;321&quot;/&gt;&lt;/object&gt;&lt;object type=&quot;3&quot; unique_id=&quot;10019&quot;&gt;&lt;property id=&quot;20148&quot; value=&quot;5&quot;/&gt;&lt;property id=&quot;20300&quot; value=&quot;Slide 16 - &amp;quot;Enterprise Architect Role Profile: Branch Knowledge&amp;quot;&quot;/&gt;&lt;property id=&quot;20307&quot; value=&quot;329&quot;/&gt;&lt;/object&gt;&lt;object type=&quot;3&quot; unique_id=&quot;10020&quot;&gt;&lt;property id=&quot;20148&quot; value=&quot;5&quot;/&gt;&lt;property id=&quot;20300&quot; value=&quot;Slide 17 - &amp;quot;Enterprise Architect Role Profile: Risks &amp;amp; Rewards&amp;quot;&quot;/&gt;&lt;property id=&quot;20307&quot; value=&quot;325&quot;/&gt;&lt;/object&gt;&lt;/object&gt;&lt;/object&gt;&lt;/database&gt;"/>
  <p:tag name="SECTOMILLISECCONVERTED" val="1"/>
</p:tagLst>
</file>

<file path=ppt/theme/theme1.xml><?xml version="1.0" encoding="utf-8"?>
<a:theme xmlns:a="http://schemas.openxmlformats.org/drawingml/2006/main" name="Logica Default and MC Slide Template 08">
  <a:themeElements>
    <a:clrScheme name="© 2008 MC Slide Master 1">
      <a:dk1>
        <a:srgbClr val="000000"/>
      </a:dk1>
      <a:lt1>
        <a:srgbClr val="FFFFFF"/>
      </a:lt1>
      <a:dk2>
        <a:srgbClr val="DDDDDD"/>
      </a:dk2>
      <a:lt2>
        <a:srgbClr val="5F5F5F"/>
      </a:lt2>
      <a:accent1>
        <a:srgbClr val="FFCC00"/>
      </a:accent1>
      <a:accent2>
        <a:srgbClr val="FFF1B3"/>
      </a:accent2>
      <a:accent3>
        <a:srgbClr val="FFFFFF"/>
      </a:accent3>
      <a:accent4>
        <a:srgbClr val="000000"/>
      </a:accent4>
      <a:accent5>
        <a:srgbClr val="FFE2AA"/>
      </a:accent5>
      <a:accent6>
        <a:srgbClr val="E7DAA2"/>
      </a:accent6>
      <a:hlink>
        <a:srgbClr val="808080"/>
      </a:hlink>
      <a:folHlink>
        <a:srgbClr val="B2B2B2"/>
      </a:folHlink>
    </a:clrScheme>
    <a:fontScheme name="© 2008 MC Slide 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72000" rIns="90000" bIns="720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40000"/>
          </a:spcBef>
          <a:spcAft>
            <a:spcPct val="0"/>
          </a:spcAft>
          <a:buClr>
            <a:schemeClr val="bg2"/>
          </a:buClr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bg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0000" tIns="72000" rIns="90000" bIns="72000" numCol="1" anchor="ctr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40000"/>
          </a:spcBef>
          <a:spcAft>
            <a:spcPct val="0"/>
          </a:spcAft>
          <a:buClr>
            <a:schemeClr val="bg2"/>
          </a:buClr>
          <a:buSzTx/>
          <a:buFontTx/>
          <a:buNone/>
          <a:tabLst/>
          <a:defRPr kumimoji="0" lang="de-DE" sz="16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© 2008 MC Slide Master 1">
        <a:dk1>
          <a:srgbClr val="000000"/>
        </a:dk1>
        <a:lt1>
          <a:srgbClr val="FFFFFF"/>
        </a:lt1>
        <a:dk2>
          <a:srgbClr val="DDDDDD"/>
        </a:dk2>
        <a:lt2>
          <a:srgbClr val="5F5F5F"/>
        </a:lt2>
        <a:accent1>
          <a:srgbClr val="FFCC00"/>
        </a:accent1>
        <a:accent2>
          <a:srgbClr val="FFF1B3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E7DAA2"/>
        </a:accent6>
        <a:hlink>
          <a:srgbClr val="8080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lormaster">
  <a:themeElements>
    <a:clrScheme name="1_colormaster 2">
      <a:dk1>
        <a:srgbClr val="000000"/>
      </a:dk1>
      <a:lt1>
        <a:srgbClr val="99CCFF"/>
      </a:lt1>
      <a:dk2>
        <a:srgbClr val="1C1C1C"/>
      </a:dk2>
      <a:lt2>
        <a:srgbClr val="4D4D4D"/>
      </a:lt2>
      <a:accent1>
        <a:srgbClr val="CC0066"/>
      </a:accent1>
      <a:accent2>
        <a:srgbClr val="3366FF"/>
      </a:accent2>
      <a:accent3>
        <a:srgbClr val="CAE2FF"/>
      </a:accent3>
      <a:accent4>
        <a:srgbClr val="000000"/>
      </a:accent4>
      <a:accent5>
        <a:srgbClr val="E2AAB8"/>
      </a:accent5>
      <a:accent6>
        <a:srgbClr val="2D5CE7"/>
      </a:accent6>
      <a:hlink>
        <a:srgbClr val="FF0000"/>
      </a:hlink>
      <a:folHlink>
        <a:srgbClr val="FFFF00"/>
      </a:folHlink>
    </a:clrScheme>
    <a:fontScheme name="1_colormaster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olormaster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lormaster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lormaster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lormaster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lormaster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lormaster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lormaster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lormaster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lormaster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lormaster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lormaster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lormaster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lormaster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lormaster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olormaster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olormaster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colormaster">
  <a:themeElements>
    <a:clrScheme name="2_colormaster 2">
      <a:dk1>
        <a:srgbClr val="000000"/>
      </a:dk1>
      <a:lt1>
        <a:srgbClr val="99CCFF"/>
      </a:lt1>
      <a:dk2>
        <a:srgbClr val="1C1C1C"/>
      </a:dk2>
      <a:lt2>
        <a:srgbClr val="4D4D4D"/>
      </a:lt2>
      <a:accent1>
        <a:srgbClr val="CC0066"/>
      </a:accent1>
      <a:accent2>
        <a:srgbClr val="3366FF"/>
      </a:accent2>
      <a:accent3>
        <a:srgbClr val="CAE2FF"/>
      </a:accent3>
      <a:accent4>
        <a:srgbClr val="000000"/>
      </a:accent4>
      <a:accent5>
        <a:srgbClr val="E2AAB8"/>
      </a:accent5>
      <a:accent6>
        <a:srgbClr val="2D5CE7"/>
      </a:accent6>
      <a:hlink>
        <a:srgbClr val="FF0000"/>
      </a:hlink>
      <a:folHlink>
        <a:srgbClr val="FFFF00"/>
      </a:folHlink>
    </a:clrScheme>
    <a:fontScheme name="2_color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_colormaster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lormaster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lormaster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lormaster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lormaster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lormaster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lormaster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lormaster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lormaster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lormaster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lormaster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lormaster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lormaster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lormaster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colormaster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colormaster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colormaster">
  <a:themeElements>
    <a:clrScheme name="3_colormaster 8">
      <a:dk1>
        <a:srgbClr val="000000"/>
      </a:dk1>
      <a:lt1>
        <a:srgbClr val="64F0BE"/>
      </a:lt1>
      <a:dk2>
        <a:srgbClr val="1C1C1C"/>
      </a:dk2>
      <a:lt2>
        <a:srgbClr val="4D4D4D"/>
      </a:lt2>
      <a:accent1>
        <a:srgbClr val="008000"/>
      </a:accent1>
      <a:accent2>
        <a:srgbClr val="00FFFF"/>
      </a:accent2>
      <a:accent3>
        <a:srgbClr val="B8F6DB"/>
      </a:accent3>
      <a:accent4>
        <a:srgbClr val="000000"/>
      </a:accent4>
      <a:accent5>
        <a:srgbClr val="AAC0AA"/>
      </a:accent5>
      <a:accent6>
        <a:srgbClr val="00E7E7"/>
      </a:accent6>
      <a:hlink>
        <a:srgbClr val="3366FF"/>
      </a:hlink>
      <a:folHlink>
        <a:srgbClr val="FFCC66"/>
      </a:folHlink>
    </a:clrScheme>
    <a:fontScheme name="3_color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3_colormaster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olormaster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olormaster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olormaster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olormaster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olormaster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olormaster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olormaster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olormaster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olormaster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olormaster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olormaster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olormaster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olormaster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3_colormaster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3_colormaster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colormaster">
  <a:themeElements>
    <a:clrScheme name="4_colormaster 8">
      <a:dk1>
        <a:srgbClr val="000000"/>
      </a:dk1>
      <a:lt1>
        <a:srgbClr val="64F0BE"/>
      </a:lt1>
      <a:dk2>
        <a:srgbClr val="1C1C1C"/>
      </a:dk2>
      <a:lt2>
        <a:srgbClr val="4D4D4D"/>
      </a:lt2>
      <a:accent1>
        <a:srgbClr val="008000"/>
      </a:accent1>
      <a:accent2>
        <a:srgbClr val="00FFFF"/>
      </a:accent2>
      <a:accent3>
        <a:srgbClr val="B8F6DB"/>
      </a:accent3>
      <a:accent4>
        <a:srgbClr val="000000"/>
      </a:accent4>
      <a:accent5>
        <a:srgbClr val="AAC0AA"/>
      </a:accent5>
      <a:accent6>
        <a:srgbClr val="00E7E7"/>
      </a:accent6>
      <a:hlink>
        <a:srgbClr val="3366FF"/>
      </a:hlink>
      <a:folHlink>
        <a:srgbClr val="FFCC66"/>
      </a:folHlink>
    </a:clrScheme>
    <a:fontScheme name="4_color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4_colormaster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colormaster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colormaster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colormaster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colormaster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colormaster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colormaster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colormaster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colormaster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colormaster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colormaster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colormaster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colormaster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colormaster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4_colormaster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4_colormaster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colormaster">
  <a:themeElements>
    <a:clrScheme name="5_colormaster 8">
      <a:dk1>
        <a:srgbClr val="000000"/>
      </a:dk1>
      <a:lt1>
        <a:srgbClr val="64F0BE"/>
      </a:lt1>
      <a:dk2>
        <a:srgbClr val="1C1C1C"/>
      </a:dk2>
      <a:lt2>
        <a:srgbClr val="4D4D4D"/>
      </a:lt2>
      <a:accent1>
        <a:srgbClr val="008000"/>
      </a:accent1>
      <a:accent2>
        <a:srgbClr val="00FFFF"/>
      </a:accent2>
      <a:accent3>
        <a:srgbClr val="B8F6DB"/>
      </a:accent3>
      <a:accent4>
        <a:srgbClr val="000000"/>
      </a:accent4>
      <a:accent5>
        <a:srgbClr val="AAC0AA"/>
      </a:accent5>
      <a:accent6>
        <a:srgbClr val="00E7E7"/>
      </a:accent6>
      <a:hlink>
        <a:srgbClr val="3366FF"/>
      </a:hlink>
      <a:folHlink>
        <a:srgbClr val="FFCC66"/>
      </a:folHlink>
    </a:clrScheme>
    <a:fontScheme name="5_color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5_colormaster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olormaster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olormaster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olormaster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olormaster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olormaster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olormaster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olormaster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olormaster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olormaster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olormaster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olormaster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olormaster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olormaster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5_colormaster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5_colormaster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6_colormaster">
  <a:themeElements>
    <a:clrScheme name="">
      <a:dk1>
        <a:srgbClr val="000000"/>
      </a:dk1>
      <a:lt1>
        <a:srgbClr val="FF7C80"/>
      </a:lt1>
      <a:dk2>
        <a:srgbClr val="1C1C1C"/>
      </a:dk2>
      <a:lt2>
        <a:srgbClr val="4D4D4D"/>
      </a:lt2>
      <a:accent1>
        <a:srgbClr val="FF0000"/>
      </a:accent1>
      <a:accent2>
        <a:srgbClr val="FF99CC"/>
      </a:accent2>
      <a:accent3>
        <a:srgbClr val="FFBFC0"/>
      </a:accent3>
      <a:accent4>
        <a:srgbClr val="000000"/>
      </a:accent4>
      <a:accent5>
        <a:srgbClr val="FFAAAA"/>
      </a:accent5>
      <a:accent6>
        <a:srgbClr val="E78AB9"/>
      </a:accent6>
      <a:hlink>
        <a:srgbClr val="9933FF"/>
      </a:hlink>
      <a:folHlink>
        <a:srgbClr val="44C63A"/>
      </a:folHlink>
    </a:clrScheme>
    <a:fontScheme name="6_color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6_colormaster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colormaster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colormaster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colormaster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colormaster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colormaster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colormaster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colormaster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colormaster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colormaster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colormaster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colormaster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colormaster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colormaster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6_colormaster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6_colormaster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7_colormaster">
  <a:themeElements>
    <a:clrScheme name="">
      <a:dk1>
        <a:srgbClr val="000000"/>
      </a:dk1>
      <a:lt1>
        <a:srgbClr val="FF7C80"/>
      </a:lt1>
      <a:dk2>
        <a:srgbClr val="1C1C1C"/>
      </a:dk2>
      <a:lt2>
        <a:srgbClr val="4D4D4D"/>
      </a:lt2>
      <a:accent1>
        <a:srgbClr val="FF0000"/>
      </a:accent1>
      <a:accent2>
        <a:srgbClr val="FF99CC"/>
      </a:accent2>
      <a:accent3>
        <a:srgbClr val="FFBFC0"/>
      </a:accent3>
      <a:accent4>
        <a:srgbClr val="000000"/>
      </a:accent4>
      <a:accent5>
        <a:srgbClr val="FFAAAA"/>
      </a:accent5>
      <a:accent6>
        <a:srgbClr val="E78AB9"/>
      </a:accent6>
      <a:hlink>
        <a:srgbClr val="9933FF"/>
      </a:hlink>
      <a:folHlink>
        <a:srgbClr val="44C63A"/>
      </a:folHlink>
    </a:clrScheme>
    <a:fontScheme name="7_color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7_colormaster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colormaster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colormaster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colormaster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colormaster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colormaster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colormaster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colormaster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colormaster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colormaster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colormaster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colormaster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colormaster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colormaster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7_colormaster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7_colormaster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8_colormaster">
  <a:themeElements>
    <a:clrScheme name="">
      <a:dk1>
        <a:srgbClr val="000000"/>
      </a:dk1>
      <a:lt1>
        <a:srgbClr val="FF7C80"/>
      </a:lt1>
      <a:dk2>
        <a:srgbClr val="1C1C1C"/>
      </a:dk2>
      <a:lt2>
        <a:srgbClr val="4D4D4D"/>
      </a:lt2>
      <a:accent1>
        <a:srgbClr val="FF0000"/>
      </a:accent1>
      <a:accent2>
        <a:srgbClr val="FF99CC"/>
      </a:accent2>
      <a:accent3>
        <a:srgbClr val="FFBFC0"/>
      </a:accent3>
      <a:accent4>
        <a:srgbClr val="000000"/>
      </a:accent4>
      <a:accent5>
        <a:srgbClr val="FFAAAA"/>
      </a:accent5>
      <a:accent6>
        <a:srgbClr val="E78AB9"/>
      </a:accent6>
      <a:hlink>
        <a:srgbClr val="9933FF"/>
      </a:hlink>
      <a:folHlink>
        <a:srgbClr val="44C63A"/>
      </a:folHlink>
    </a:clrScheme>
    <a:fontScheme name="8_colormaster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905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8_colormaster 1">
        <a:dk1>
          <a:srgbClr val="C0C0C0"/>
        </a:dk1>
        <a:lt1>
          <a:srgbClr val="FFFFFF"/>
        </a:lt1>
        <a:dk2>
          <a:srgbClr val="000099"/>
        </a:dk2>
        <a:lt2>
          <a:srgbClr val="CCECFF"/>
        </a:lt2>
        <a:accent1>
          <a:srgbClr val="FF3399"/>
        </a:accent1>
        <a:accent2>
          <a:srgbClr val="99CCFF"/>
        </a:accent2>
        <a:accent3>
          <a:srgbClr val="AAAACA"/>
        </a:accent3>
        <a:accent4>
          <a:srgbClr val="DADADA"/>
        </a:accent4>
        <a:accent5>
          <a:srgbClr val="FFADCA"/>
        </a:accent5>
        <a:accent6>
          <a:srgbClr val="8AB9E7"/>
        </a:accent6>
        <a:hlink>
          <a:srgbClr val="FF505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colormaster 2">
        <a:dk1>
          <a:srgbClr val="000000"/>
        </a:dk1>
        <a:lt1>
          <a:srgbClr val="99CCFF"/>
        </a:lt1>
        <a:dk2>
          <a:srgbClr val="1C1C1C"/>
        </a:dk2>
        <a:lt2>
          <a:srgbClr val="4D4D4D"/>
        </a:lt2>
        <a:accent1>
          <a:srgbClr val="CC0066"/>
        </a:accent1>
        <a:accent2>
          <a:srgbClr val="3366FF"/>
        </a:accent2>
        <a:accent3>
          <a:srgbClr val="CAE2FF"/>
        </a:accent3>
        <a:accent4>
          <a:srgbClr val="000000"/>
        </a:accent4>
        <a:accent5>
          <a:srgbClr val="E2AAB8"/>
        </a:accent5>
        <a:accent6>
          <a:srgbClr val="2D5CE7"/>
        </a:accent6>
        <a:hlink>
          <a:srgbClr val="FF0000"/>
        </a:hlink>
        <a:folHlink>
          <a:srgbClr val="FF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colormaster 3">
        <a:dk1>
          <a:srgbClr val="C0C0C0"/>
        </a:dk1>
        <a:lt1>
          <a:srgbClr val="FFFFFF"/>
        </a:lt1>
        <a:dk2>
          <a:srgbClr val="800000"/>
        </a:dk2>
        <a:lt2>
          <a:srgbClr val="FFCC99"/>
        </a:lt2>
        <a:accent1>
          <a:srgbClr val="FF9900"/>
        </a:accent1>
        <a:accent2>
          <a:srgbClr val="CC00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B90000"/>
        </a:accent6>
        <a:hlink>
          <a:srgbClr val="FF33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colormaster 4">
        <a:dk1>
          <a:srgbClr val="000000"/>
        </a:dk1>
        <a:lt1>
          <a:srgbClr val="FF9966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6699"/>
        </a:accent2>
        <a:accent3>
          <a:srgbClr val="FFCAB8"/>
        </a:accent3>
        <a:accent4>
          <a:srgbClr val="000000"/>
        </a:accent4>
        <a:accent5>
          <a:srgbClr val="FFAAAA"/>
        </a:accent5>
        <a:accent6>
          <a:srgbClr val="E75C8A"/>
        </a:accent6>
        <a:hlink>
          <a:srgbClr val="CC00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colormaster 5">
        <a:dk1>
          <a:srgbClr val="C0C0C0"/>
        </a:dk1>
        <a:lt1>
          <a:srgbClr val="FFFFFF"/>
        </a:lt1>
        <a:dk2>
          <a:srgbClr val="008000"/>
        </a:dk2>
        <a:lt2>
          <a:srgbClr val="CCECFF"/>
        </a:lt2>
        <a:accent1>
          <a:srgbClr val="0066FF"/>
        </a:accent1>
        <a:accent2>
          <a:srgbClr val="00FF00"/>
        </a:accent2>
        <a:accent3>
          <a:srgbClr val="AAC0AA"/>
        </a:accent3>
        <a:accent4>
          <a:srgbClr val="DADADA"/>
        </a:accent4>
        <a:accent5>
          <a:srgbClr val="AAB8FF"/>
        </a:accent5>
        <a:accent6>
          <a:srgbClr val="00E700"/>
        </a:accent6>
        <a:hlink>
          <a:srgbClr val="A29E00"/>
        </a:hlink>
        <a:folHlink>
          <a:srgbClr val="EA8B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colormaster 6">
        <a:dk1>
          <a:srgbClr val="000000"/>
        </a:dk1>
        <a:lt1>
          <a:srgbClr val="97E183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99FF99"/>
        </a:accent2>
        <a:accent3>
          <a:srgbClr val="C9EEC1"/>
        </a:accent3>
        <a:accent4>
          <a:srgbClr val="000000"/>
        </a:accent4>
        <a:accent5>
          <a:srgbClr val="AAB8FF"/>
        </a:accent5>
        <a:accent6>
          <a:srgbClr val="8AE78A"/>
        </a:accent6>
        <a:hlink>
          <a:srgbClr val="CC9900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colormaster 7">
        <a:dk1>
          <a:srgbClr val="C0C0C0"/>
        </a:dk1>
        <a:lt1>
          <a:srgbClr val="FFFFFF"/>
        </a:lt1>
        <a:dk2>
          <a:srgbClr val="008080"/>
        </a:dk2>
        <a:lt2>
          <a:srgbClr val="CCECFF"/>
        </a:lt2>
        <a:accent1>
          <a:srgbClr val="29A329"/>
        </a:accent1>
        <a:accent2>
          <a:srgbClr val="00FFFF"/>
        </a:accent2>
        <a:accent3>
          <a:srgbClr val="AAC0C0"/>
        </a:accent3>
        <a:accent4>
          <a:srgbClr val="DADADA"/>
        </a:accent4>
        <a:accent5>
          <a:srgbClr val="ACCEAC"/>
        </a:accent5>
        <a:accent6>
          <a:srgbClr val="00E7E7"/>
        </a:accent6>
        <a:hlink>
          <a:srgbClr val="3B6AFF"/>
        </a:hlink>
        <a:folHlink>
          <a:srgbClr val="FF99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colormaster 8">
        <a:dk1>
          <a:srgbClr val="000000"/>
        </a:dk1>
        <a:lt1>
          <a:srgbClr val="64F0BE"/>
        </a:lt1>
        <a:dk2>
          <a:srgbClr val="1C1C1C"/>
        </a:dk2>
        <a:lt2>
          <a:srgbClr val="4D4D4D"/>
        </a:lt2>
        <a:accent1>
          <a:srgbClr val="008000"/>
        </a:accent1>
        <a:accent2>
          <a:srgbClr val="00FFFF"/>
        </a:accent2>
        <a:accent3>
          <a:srgbClr val="B8F6DB"/>
        </a:accent3>
        <a:accent4>
          <a:srgbClr val="000000"/>
        </a:accent4>
        <a:accent5>
          <a:srgbClr val="AAC0AA"/>
        </a:accent5>
        <a:accent6>
          <a:srgbClr val="00E7E7"/>
        </a:accent6>
        <a:hlink>
          <a:srgbClr val="3366FF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colormaster 9">
        <a:dk1>
          <a:srgbClr val="C0C0C0"/>
        </a:dk1>
        <a:lt1>
          <a:srgbClr val="FFFFFF"/>
        </a:lt1>
        <a:dk2>
          <a:srgbClr val="CC9900"/>
        </a:dk2>
        <a:lt2>
          <a:srgbClr val="FFFFCC"/>
        </a:lt2>
        <a:accent1>
          <a:srgbClr val="FF3300"/>
        </a:accent1>
        <a:accent2>
          <a:srgbClr val="FFCC66"/>
        </a:accent2>
        <a:accent3>
          <a:srgbClr val="E2CAAA"/>
        </a:accent3>
        <a:accent4>
          <a:srgbClr val="DADADA"/>
        </a:accent4>
        <a:accent5>
          <a:srgbClr val="FFADAA"/>
        </a:accent5>
        <a:accent6>
          <a:srgbClr val="E7B95C"/>
        </a:accent6>
        <a:hlink>
          <a:srgbClr val="008080"/>
        </a:hlink>
        <a:folHlink>
          <a:srgbClr val="33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colormaster 10">
        <a:dk1>
          <a:srgbClr val="000000"/>
        </a:dk1>
        <a:lt1>
          <a:srgbClr val="EFF274"/>
        </a:lt1>
        <a:dk2>
          <a:srgbClr val="1C1C1C"/>
        </a:dk2>
        <a:lt2>
          <a:srgbClr val="4D4D4D"/>
        </a:lt2>
        <a:accent1>
          <a:srgbClr val="9966FF"/>
        </a:accent1>
        <a:accent2>
          <a:srgbClr val="FFFFCC"/>
        </a:accent2>
        <a:accent3>
          <a:srgbClr val="F6F7BC"/>
        </a:accent3>
        <a:accent4>
          <a:srgbClr val="000000"/>
        </a:accent4>
        <a:accent5>
          <a:srgbClr val="CAB8FF"/>
        </a:accent5>
        <a:accent6>
          <a:srgbClr val="E7E7B9"/>
        </a:accent6>
        <a:hlink>
          <a:srgbClr val="6666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colormaster 11">
        <a:dk1>
          <a:srgbClr val="C0C0C0"/>
        </a:dk1>
        <a:lt1>
          <a:srgbClr val="FFFFFF"/>
        </a:lt1>
        <a:dk2>
          <a:srgbClr val="6600CC"/>
        </a:dk2>
        <a:lt2>
          <a:srgbClr val="CCCCFF"/>
        </a:lt2>
        <a:accent1>
          <a:srgbClr val="D60093"/>
        </a:accent1>
        <a:accent2>
          <a:srgbClr val="9999FF"/>
        </a:accent2>
        <a:accent3>
          <a:srgbClr val="B8AAE2"/>
        </a:accent3>
        <a:accent4>
          <a:srgbClr val="DADADA"/>
        </a:accent4>
        <a:accent5>
          <a:srgbClr val="E8AAC8"/>
        </a:accent5>
        <a:accent6>
          <a:srgbClr val="8A8AE7"/>
        </a:accent6>
        <a:hlink>
          <a:srgbClr val="008000"/>
        </a:hlink>
        <a:folHlink>
          <a:srgbClr val="FF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colormaster 12">
        <a:dk1>
          <a:srgbClr val="000000"/>
        </a:dk1>
        <a:lt1>
          <a:srgbClr val="CC99FF"/>
        </a:lt1>
        <a:dk2>
          <a:srgbClr val="1C1C1C"/>
        </a:dk2>
        <a:lt2>
          <a:srgbClr val="4D4D4D"/>
        </a:lt2>
        <a:accent1>
          <a:srgbClr val="0066FF"/>
        </a:accent1>
        <a:accent2>
          <a:srgbClr val="CCCCFF"/>
        </a:accent2>
        <a:accent3>
          <a:srgbClr val="E2CAFF"/>
        </a:accent3>
        <a:accent4>
          <a:srgbClr val="000000"/>
        </a:accent4>
        <a:accent5>
          <a:srgbClr val="AAB8FF"/>
        </a:accent5>
        <a:accent6>
          <a:srgbClr val="B9B9E7"/>
        </a:accent6>
        <a:hlink>
          <a:srgbClr val="FF0066"/>
        </a:hlink>
        <a:folHlink>
          <a:srgbClr val="66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colormaster 13">
        <a:dk1>
          <a:srgbClr val="C0C0C0"/>
        </a:dk1>
        <a:lt1>
          <a:srgbClr val="FFFFFF"/>
        </a:lt1>
        <a:dk2>
          <a:srgbClr val="CC0066"/>
        </a:dk2>
        <a:lt2>
          <a:srgbClr val="FFCCCC"/>
        </a:lt2>
        <a:accent1>
          <a:srgbClr val="993366"/>
        </a:accent1>
        <a:accent2>
          <a:srgbClr val="FF9999"/>
        </a:accent2>
        <a:accent3>
          <a:srgbClr val="E2AAB8"/>
        </a:accent3>
        <a:accent4>
          <a:srgbClr val="DADADA"/>
        </a:accent4>
        <a:accent5>
          <a:srgbClr val="CAADB8"/>
        </a:accent5>
        <a:accent6>
          <a:srgbClr val="E78A8A"/>
        </a:accent6>
        <a:hlink>
          <a:srgbClr val="009999"/>
        </a:hlink>
        <a:folHlink>
          <a:srgbClr val="FF99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colormaster 14">
        <a:dk1>
          <a:srgbClr val="000000"/>
        </a:dk1>
        <a:lt1>
          <a:srgbClr val="FF99CC"/>
        </a:lt1>
        <a:dk2>
          <a:srgbClr val="1C1C1C"/>
        </a:dk2>
        <a:lt2>
          <a:srgbClr val="4D4D4D"/>
        </a:lt2>
        <a:accent1>
          <a:srgbClr val="FF0000"/>
        </a:accent1>
        <a:accent2>
          <a:srgbClr val="FF99CC"/>
        </a:accent2>
        <a:accent3>
          <a:srgbClr val="FFCAE2"/>
        </a:accent3>
        <a:accent4>
          <a:srgbClr val="000000"/>
        </a:accent4>
        <a:accent5>
          <a:srgbClr val="FFAAAA"/>
        </a:accent5>
        <a:accent6>
          <a:srgbClr val="E78AB9"/>
        </a:accent6>
        <a:hlink>
          <a:srgbClr val="9933FF"/>
        </a:hlink>
        <a:folHlink>
          <a:srgbClr val="44C63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8_colormaster 15">
        <a:dk1>
          <a:srgbClr val="C0C0C0"/>
        </a:dk1>
        <a:lt1>
          <a:srgbClr val="FFFFFF"/>
        </a:lt1>
        <a:dk2>
          <a:srgbClr val="000000"/>
        </a:dk2>
        <a:lt2>
          <a:srgbClr val="DDDDDD"/>
        </a:lt2>
        <a:accent1>
          <a:srgbClr val="4D4D4D"/>
        </a:accent1>
        <a:accent2>
          <a:srgbClr val="C0C0C0"/>
        </a:accent2>
        <a:accent3>
          <a:srgbClr val="AAAAAA"/>
        </a:accent3>
        <a:accent4>
          <a:srgbClr val="DADADA"/>
        </a:accent4>
        <a:accent5>
          <a:srgbClr val="B2B2B2"/>
        </a:accent5>
        <a:accent6>
          <a:srgbClr val="AEAEAE"/>
        </a:accent6>
        <a:hlink>
          <a:srgbClr val="777777"/>
        </a:hlink>
        <a:folHlink>
          <a:srgbClr val="FFFF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8_colormaster 16">
        <a:dk1>
          <a:srgbClr val="000000"/>
        </a:dk1>
        <a:lt1>
          <a:srgbClr val="FFFFFF"/>
        </a:lt1>
        <a:dk2>
          <a:srgbClr val="1C1C1C"/>
        </a:dk2>
        <a:lt2>
          <a:srgbClr val="4D4D4D"/>
        </a:lt2>
        <a:accent1>
          <a:srgbClr val="4D4D4D"/>
        </a:accent1>
        <a:accent2>
          <a:srgbClr val="DDDDDD"/>
        </a:accent2>
        <a:accent3>
          <a:srgbClr val="FFFFFF"/>
        </a:accent3>
        <a:accent4>
          <a:srgbClr val="000000"/>
        </a:accent4>
        <a:accent5>
          <a:srgbClr val="B2B2B2"/>
        </a:accent5>
        <a:accent6>
          <a:srgbClr val="C8C8C8"/>
        </a:accent6>
        <a:hlink>
          <a:srgbClr val="808080"/>
        </a:hlink>
        <a:folHlink>
          <a:srgbClr val="F8F8F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Enterprise Architecture Context</Template>
  <TotalTime>2902</TotalTime>
  <Words>1617</Words>
  <Application>Microsoft Office PowerPoint</Application>
  <PresentationFormat>On-screen Show (4:3)</PresentationFormat>
  <Paragraphs>407</Paragraphs>
  <Slides>17</Slides>
  <Notes>17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9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32" baseType="lpstr">
      <vt:lpstr>Arial</vt:lpstr>
      <vt:lpstr>Times New Roman</vt:lpstr>
      <vt:lpstr>Verdana</vt:lpstr>
      <vt:lpstr>Wingdings</vt:lpstr>
      <vt:lpstr>Symbol</vt:lpstr>
      <vt:lpstr>Logica Default and MC Slide Template 08</vt:lpstr>
      <vt:lpstr>1_colormaster</vt:lpstr>
      <vt:lpstr>2_colormaster</vt:lpstr>
      <vt:lpstr>3_colormaster</vt:lpstr>
      <vt:lpstr>4_colormaster</vt:lpstr>
      <vt:lpstr>5_colormaster</vt:lpstr>
      <vt:lpstr>6_colormaster</vt:lpstr>
      <vt:lpstr>7_colormaster</vt:lpstr>
      <vt:lpstr>8_colormaster</vt:lpstr>
      <vt:lpstr>Microsoft Photo Editor 3.0 Photo</vt:lpstr>
      <vt:lpstr>Competence Profile of the Enterprise Architect</vt:lpstr>
      <vt:lpstr>Enterprise Architects: Positioning</vt:lpstr>
      <vt:lpstr>About The Enterprise Architect …..</vt:lpstr>
      <vt:lpstr>Overall Profile of the Enterprise Architect</vt:lpstr>
      <vt:lpstr>Slide 5</vt:lpstr>
      <vt:lpstr>Enterprise Architects Competence Profile – Level 4</vt:lpstr>
      <vt:lpstr>Enterprise Architects Competence Profile – Level 3</vt:lpstr>
      <vt:lpstr>EA Capabilities &amp; Competence Levels Matrix, Methods &amp; Techniques </vt:lpstr>
      <vt:lpstr>EA Capabilities &amp; Competence Levels Matrix, Methods &amp; Techniques, Cont. </vt:lpstr>
      <vt:lpstr>Explanation Competence Statements</vt:lpstr>
      <vt:lpstr>Enterprise Architect Role Profile: Business Technology Strategy</vt:lpstr>
      <vt:lpstr>Enterprise Architect Role Profile: Organisational Politics</vt:lpstr>
      <vt:lpstr>Enterprise Architect Role Profile: Consulting</vt:lpstr>
      <vt:lpstr>Enterprise Architect Role Profile: Leadership</vt:lpstr>
      <vt:lpstr>Enterprise Architect Role Profile: Technology</vt:lpstr>
      <vt:lpstr>Enterprise Architect Role Profile: Branch Knowledge</vt:lpstr>
      <vt:lpstr>Enterprise Architect Role Profile: Risks &amp; Rewards</vt:lpstr>
    </vt:vector>
  </TitlesOfParts>
  <Company>IFEAD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Profile of the Enterprise Architect</dc:title>
  <dc:creator>J. Schekkerman</dc:creator>
  <dc:description>Version 1.8 - 2006</dc:description>
  <cp:lastModifiedBy>jw</cp:lastModifiedBy>
  <cp:revision>163</cp:revision>
  <dcterms:created xsi:type="dcterms:W3CDTF">2003-05-16T08:55:54Z</dcterms:created>
  <dcterms:modified xsi:type="dcterms:W3CDTF">2009-08-23T15:00:45Z</dcterms:modified>
</cp:coreProperties>
</file>
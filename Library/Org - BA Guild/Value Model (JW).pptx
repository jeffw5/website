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9144000" cy="6858000" type="screen4x3"/>
  <p:notesSz cx="7077075" cy="93694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4"/>
    <p:restoredTop sz="94595"/>
  </p:normalViewPr>
  <p:slideViewPr>
    <p:cSldViewPr>
      <p:cViewPr varScale="1">
        <p:scale>
          <a:sx n="85" d="100"/>
          <a:sy n="85" d="100"/>
        </p:scale>
        <p:origin x="904" y="-1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8471"/>
          </a:xfrm>
          <a:prstGeom prst="rect">
            <a:avLst/>
          </a:prstGeom>
        </p:spPr>
        <p:txBody>
          <a:bodyPr vert="horz" lIns="93973" tIns="46986" rIns="93973" bIns="46986" rtlCol="0"/>
          <a:lstStyle>
            <a:lvl1pPr algn="l">
              <a:defRPr sz="1200"/>
            </a:lvl1pPr>
          </a:lstStyle>
          <a:p>
            <a:endParaRPr lang="en-US"/>
          </a:p>
        </p:txBody>
      </p:sp>
      <p:sp>
        <p:nvSpPr>
          <p:cNvPr id="3" name="Date Placeholder 2"/>
          <p:cNvSpPr>
            <a:spLocks noGrp="1"/>
          </p:cNvSpPr>
          <p:nvPr>
            <p:ph type="dt" idx="1"/>
          </p:nvPr>
        </p:nvSpPr>
        <p:spPr>
          <a:xfrm>
            <a:off x="4008705" y="0"/>
            <a:ext cx="3066733" cy="468471"/>
          </a:xfrm>
          <a:prstGeom prst="rect">
            <a:avLst/>
          </a:prstGeom>
        </p:spPr>
        <p:txBody>
          <a:bodyPr vert="horz" lIns="93973" tIns="46986" rIns="93973" bIns="46986" rtlCol="0"/>
          <a:lstStyle>
            <a:lvl1pPr algn="r">
              <a:defRPr sz="1200"/>
            </a:lvl1pPr>
          </a:lstStyle>
          <a:p>
            <a:fld id="{403C119C-5BD3-439D-ABFC-3317E9E7BC41}" type="datetimeFigureOut">
              <a:rPr lang="en-US" smtClean="0"/>
              <a:t>2/10/16</a:t>
            </a:fld>
            <a:endParaRPr lang="en-US"/>
          </a:p>
        </p:txBody>
      </p:sp>
      <p:sp>
        <p:nvSpPr>
          <p:cNvPr id="4" name="Slide Image Placeholder 3"/>
          <p:cNvSpPr>
            <a:spLocks noGrp="1" noRot="1" noChangeAspect="1"/>
          </p:cNvSpPr>
          <p:nvPr>
            <p:ph type="sldImg" idx="2"/>
          </p:nvPr>
        </p:nvSpPr>
        <p:spPr>
          <a:xfrm>
            <a:off x="1196975" y="703263"/>
            <a:ext cx="4683125" cy="3513137"/>
          </a:xfrm>
          <a:prstGeom prst="rect">
            <a:avLst/>
          </a:prstGeom>
          <a:noFill/>
          <a:ln w="12700">
            <a:solidFill>
              <a:prstClr val="black"/>
            </a:solidFill>
          </a:ln>
        </p:spPr>
        <p:txBody>
          <a:bodyPr vert="horz" lIns="93973" tIns="46986" rIns="93973" bIns="46986" rtlCol="0" anchor="ctr"/>
          <a:lstStyle/>
          <a:p>
            <a:endParaRPr lang="en-US"/>
          </a:p>
        </p:txBody>
      </p:sp>
      <p:sp>
        <p:nvSpPr>
          <p:cNvPr id="5" name="Notes Placeholder 4"/>
          <p:cNvSpPr>
            <a:spLocks noGrp="1"/>
          </p:cNvSpPr>
          <p:nvPr>
            <p:ph type="body" sz="quarter" idx="3"/>
          </p:nvPr>
        </p:nvSpPr>
        <p:spPr>
          <a:xfrm>
            <a:off x="707708" y="4450477"/>
            <a:ext cx="5661660" cy="4216241"/>
          </a:xfrm>
          <a:prstGeom prst="rect">
            <a:avLst/>
          </a:prstGeom>
        </p:spPr>
        <p:txBody>
          <a:bodyPr vert="horz" lIns="93973" tIns="46986" rIns="93973" bIns="46986"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99328"/>
            <a:ext cx="3066733" cy="468471"/>
          </a:xfrm>
          <a:prstGeom prst="rect">
            <a:avLst/>
          </a:prstGeom>
        </p:spPr>
        <p:txBody>
          <a:bodyPr vert="horz" lIns="93973" tIns="46986" rIns="93973" bIns="46986" rtlCol="0" anchor="b"/>
          <a:lstStyle>
            <a:lvl1pPr algn="l">
              <a:defRPr sz="1200"/>
            </a:lvl1pPr>
          </a:lstStyle>
          <a:p>
            <a:endParaRPr lang="en-US"/>
          </a:p>
        </p:txBody>
      </p:sp>
      <p:sp>
        <p:nvSpPr>
          <p:cNvPr id="7" name="Slide Number Placeholder 6"/>
          <p:cNvSpPr>
            <a:spLocks noGrp="1"/>
          </p:cNvSpPr>
          <p:nvPr>
            <p:ph type="sldNum" sz="quarter" idx="5"/>
          </p:nvPr>
        </p:nvSpPr>
        <p:spPr>
          <a:xfrm>
            <a:off x="4008705" y="8899328"/>
            <a:ext cx="3066733" cy="468471"/>
          </a:xfrm>
          <a:prstGeom prst="rect">
            <a:avLst/>
          </a:prstGeom>
        </p:spPr>
        <p:txBody>
          <a:bodyPr vert="horz" lIns="93973" tIns="46986" rIns="93973" bIns="46986" rtlCol="0" anchor="b"/>
          <a:lstStyle>
            <a:lvl1pPr algn="r">
              <a:defRPr sz="1200"/>
            </a:lvl1pPr>
          </a:lstStyle>
          <a:p>
            <a:fld id="{AFAB8EDF-9DFE-495F-AF17-9138EBBA864E}" type="slidenum">
              <a:rPr lang="en-US" smtClean="0"/>
              <a:t>‹#›</a:t>
            </a:fld>
            <a:endParaRPr lang="en-US"/>
          </a:p>
        </p:txBody>
      </p:sp>
    </p:spTree>
    <p:extLst>
      <p:ext uri="{BB962C8B-B14F-4D97-AF65-F5344CB8AC3E}">
        <p14:creationId xmlns:p14="http://schemas.microsoft.com/office/powerpoint/2010/main" val="175311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AB8EDF-9DFE-495F-AF17-9138EBBA864E}" type="slidenum">
              <a:rPr lang="en-US" smtClean="0"/>
              <a:t>1</a:t>
            </a:fld>
            <a:endParaRPr lang="en-US"/>
          </a:p>
        </p:txBody>
      </p:sp>
    </p:spTree>
    <p:extLst>
      <p:ext uri="{BB962C8B-B14F-4D97-AF65-F5344CB8AC3E}">
        <p14:creationId xmlns:p14="http://schemas.microsoft.com/office/powerpoint/2010/main" val="3159942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C79FE43-193A-465C-B460-7E26BE95C469}" type="datetimeFigureOut">
              <a:rPr lang="en-US" smtClean="0"/>
              <a:t>2/10/16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21A5A-AF62-4219-B424-0E7E177F2009}" type="slidenum">
              <a:rPr lang="en-US" smtClean="0"/>
              <a:t>‹#›</a:t>
            </a:fld>
            <a:endParaRPr lang="en-US"/>
          </a:p>
        </p:txBody>
      </p:sp>
    </p:spTree>
    <p:extLst>
      <p:ext uri="{BB962C8B-B14F-4D97-AF65-F5344CB8AC3E}">
        <p14:creationId xmlns:p14="http://schemas.microsoft.com/office/powerpoint/2010/main" val="2101767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79FE43-193A-465C-B460-7E26BE95C469}" type="datetimeFigureOut">
              <a:rPr lang="en-US" smtClean="0"/>
              <a:t>2/10/16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21A5A-AF62-4219-B424-0E7E177F2009}" type="slidenum">
              <a:rPr lang="en-US" smtClean="0"/>
              <a:t>‹#›</a:t>
            </a:fld>
            <a:endParaRPr lang="en-US"/>
          </a:p>
        </p:txBody>
      </p:sp>
    </p:spTree>
    <p:extLst>
      <p:ext uri="{BB962C8B-B14F-4D97-AF65-F5344CB8AC3E}">
        <p14:creationId xmlns:p14="http://schemas.microsoft.com/office/powerpoint/2010/main" val="930392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79FE43-193A-465C-B460-7E26BE95C469}" type="datetimeFigureOut">
              <a:rPr lang="en-US" smtClean="0"/>
              <a:t>2/10/16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21A5A-AF62-4219-B424-0E7E177F2009}" type="slidenum">
              <a:rPr lang="en-US" smtClean="0"/>
              <a:t>‹#›</a:t>
            </a:fld>
            <a:endParaRPr lang="en-US"/>
          </a:p>
        </p:txBody>
      </p:sp>
    </p:spTree>
    <p:extLst>
      <p:ext uri="{BB962C8B-B14F-4D97-AF65-F5344CB8AC3E}">
        <p14:creationId xmlns:p14="http://schemas.microsoft.com/office/powerpoint/2010/main" val="2206618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C79FE43-193A-465C-B460-7E26BE95C469}" type="datetimeFigureOut">
              <a:rPr lang="en-US" smtClean="0"/>
              <a:t>2/10/16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21A5A-AF62-4219-B424-0E7E177F2009}" type="slidenum">
              <a:rPr lang="en-US" smtClean="0"/>
              <a:t>‹#›</a:t>
            </a:fld>
            <a:endParaRPr lang="en-US"/>
          </a:p>
        </p:txBody>
      </p:sp>
    </p:spTree>
    <p:extLst>
      <p:ext uri="{BB962C8B-B14F-4D97-AF65-F5344CB8AC3E}">
        <p14:creationId xmlns:p14="http://schemas.microsoft.com/office/powerpoint/2010/main" val="2351975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C79FE43-193A-465C-B460-7E26BE95C469}" type="datetimeFigureOut">
              <a:rPr lang="en-US" smtClean="0"/>
              <a:t>2/10/16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A21A5A-AF62-4219-B424-0E7E177F2009}" type="slidenum">
              <a:rPr lang="en-US" smtClean="0"/>
              <a:t>‹#›</a:t>
            </a:fld>
            <a:endParaRPr lang="en-US"/>
          </a:p>
        </p:txBody>
      </p:sp>
    </p:spTree>
    <p:extLst>
      <p:ext uri="{BB962C8B-B14F-4D97-AF65-F5344CB8AC3E}">
        <p14:creationId xmlns:p14="http://schemas.microsoft.com/office/powerpoint/2010/main" val="3575393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C79FE43-193A-465C-B460-7E26BE95C469}" type="datetimeFigureOut">
              <a:rPr lang="en-US" smtClean="0"/>
              <a:t>2/10/16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A21A5A-AF62-4219-B424-0E7E177F2009}" type="slidenum">
              <a:rPr lang="en-US" smtClean="0"/>
              <a:t>‹#›</a:t>
            </a:fld>
            <a:endParaRPr lang="en-US"/>
          </a:p>
        </p:txBody>
      </p:sp>
    </p:spTree>
    <p:extLst>
      <p:ext uri="{BB962C8B-B14F-4D97-AF65-F5344CB8AC3E}">
        <p14:creationId xmlns:p14="http://schemas.microsoft.com/office/powerpoint/2010/main" val="1718352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79FE43-193A-465C-B460-7E26BE95C469}" type="datetimeFigureOut">
              <a:rPr lang="en-US" smtClean="0"/>
              <a:t>2/10/16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A21A5A-AF62-4219-B424-0E7E177F2009}" type="slidenum">
              <a:rPr lang="en-US" smtClean="0"/>
              <a:t>‹#›</a:t>
            </a:fld>
            <a:endParaRPr lang="en-US"/>
          </a:p>
        </p:txBody>
      </p:sp>
    </p:spTree>
    <p:extLst>
      <p:ext uri="{BB962C8B-B14F-4D97-AF65-F5344CB8AC3E}">
        <p14:creationId xmlns:p14="http://schemas.microsoft.com/office/powerpoint/2010/main" val="525920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79FE43-193A-465C-B460-7E26BE95C469}" type="datetimeFigureOut">
              <a:rPr lang="en-US" smtClean="0"/>
              <a:t>2/10/16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21A5A-AF62-4219-B424-0E7E177F2009}" type="slidenum">
              <a:rPr lang="en-US" smtClean="0"/>
              <a:t>‹#›</a:t>
            </a:fld>
            <a:endParaRPr lang="en-US"/>
          </a:p>
        </p:txBody>
      </p:sp>
    </p:spTree>
    <p:extLst>
      <p:ext uri="{BB962C8B-B14F-4D97-AF65-F5344CB8AC3E}">
        <p14:creationId xmlns:p14="http://schemas.microsoft.com/office/powerpoint/2010/main" val="234043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79FE43-193A-465C-B460-7E26BE95C469}" type="datetimeFigureOut">
              <a:rPr lang="en-US" smtClean="0"/>
              <a:t>2/10/16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21A5A-AF62-4219-B424-0E7E177F2009}" type="slidenum">
              <a:rPr lang="en-US" smtClean="0"/>
              <a:t>‹#›</a:t>
            </a:fld>
            <a:endParaRPr lang="en-US"/>
          </a:p>
        </p:txBody>
      </p:sp>
    </p:spTree>
    <p:extLst>
      <p:ext uri="{BB962C8B-B14F-4D97-AF65-F5344CB8AC3E}">
        <p14:creationId xmlns:p14="http://schemas.microsoft.com/office/powerpoint/2010/main" val="3545089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79FE43-193A-465C-B460-7E26BE95C469}" type="datetimeFigureOut">
              <a:rPr lang="en-US" smtClean="0"/>
              <a:t>2/10/16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21A5A-AF62-4219-B424-0E7E177F2009}" type="slidenum">
              <a:rPr lang="en-US" smtClean="0"/>
              <a:t>‹#›</a:t>
            </a:fld>
            <a:endParaRPr lang="en-US"/>
          </a:p>
        </p:txBody>
      </p:sp>
    </p:spTree>
    <p:extLst>
      <p:ext uri="{BB962C8B-B14F-4D97-AF65-F5344CB8AC3E}">
        <p14:creationId xmlns:p14="http://schemas.microsoft.com/office/powerpoint/2010/main" val="2984116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79FE43-193A-465C-B460-7E26BE95C469}" type="datetimeFigureOut">
              <a:rPr lang="en-US" smtClean="0"/>
              <a:t>2/10/16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21A5A-AF62-4219-B424-0E7E177F2009}" type="slidenum">
              <a:rPr lang="en-US" smtClean="0"/>
              <a:t>‹#›</a:t>
            </a:fld>
            <a:endParaRPr lang="en-US"/>
          </a:p>
        </p:txBody>
      </p:sp>
    </p:spTree>
    <p:extLst>
      <p:ext uri="{BB962C8B-B14F-4D97-AF65-F5344CB8AC3E}">
        <p14:creationId xmlns:p14="http://schemas.microsoft.com/office/powerpoint/2010/main" val="3818695535"/>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79FE43-193A-465C-B460-7E26BE95C469}" type="datetimeFigureOut">
              <a:rPr lang="en-US" smtClean="0"/>
              <a:t>2/10/16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A21A5A-AF62-4219-B424-0E7E177F2009}" type="slidenum">
              <a:rPr lang="en-US" smtClean="0"/>
              <a:t>‹#›</a:t>
            </a:fld>
            <a:endParaRPr lang="en-US"/>
          </a:p>
        </p:txBody>
      </p:sp>
    </p:spTree>
    <p:extLst>
      <p:ext uri="{BB962C8B-B14F-4D97-AF65-F5344CB8AC3E}">
        <p14:creationId xmlns:p14="http://schemas.microsoft.com/office/powerpoint/2010/main" val="2646885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990600"/>
            <a:ext cx="1143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Value Stream</a:t>
            </a:r>
            <a:endParaRPr lang="en-US" sz="1400" b="1" dirty="0"/>
          </a:p>
        </p:txBody>
      </p:sp>
      <p:sp>
        <p:nvSpPr>
          <p:cNvPr id="5" name="Rectangle 4"/>
          <p:cNvSpPr/>
          <p:nvPr/>
        </p:nvSpPr>
        <p:spPr>
          <a:xfrm>
            <a:off x="3735029" y="990600"/>
            <a:ext cx="1143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Value </a:t>
            </a:r>
          </a:p>
          <a:p>
            <a:pPr algn="ctr"/>
            <a:r>
              <a:rPr lang="en-US" sz="1400" b="1" dirty="0" smtClean="0"/>
              <a:t>Stage</a:t>
            </a:r>
            <a:endParaRPr lang="en-US" sz="1400" b="1" dirty="0"/>
          </a:p>
        </p:txBody>
      </p:sp>
      <p:sp>
        <p:nvSpPr>
          <p:cNvPr id="6" name="Rectangle 5"/>
          <p:cNvSpPr/>
          <p:nvPr/>
        </p:nvSpPr>
        <p:spPr>
          <a:xfrm>
            <a:off x="3735029" y="2419135"/>
            <a:ext cx="1143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Value </a:t>
            </a:r>
          </a:p>
          <a:p>
            <a:pPr algn="ctr"/>
            <a:r>
              <a:rPr lang="en-US" sz="1400" b="1" dirty="0" smtClean="0"/>
              <a:t>Item</a:t>
            </a:r>
            <a:endParaRPr lang="en-US" sz="1400" b="1" dirty="0"/>
          </a:p>
        </p:txBody>
      </p:sp>
      <p:sp>
        <p:nvSpPr>
          <p:cNvPr id="7" name="Rectangle 6"/>
          <p:cNvSpPr/>
          <p:nvPr/>
        </p:nvSpPr>
        <p:spPr>
          <a:xfrm>
            <a:off x="5334000" y="3886200"/>
            <a:ext cx="1143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Capability Outcome</a:t>
            </a:r>
            <a:endParaRPr lang="en-US" sz="1400" b="1" dirty="0"/>
          </a:p>
        </p:txBody>
      </p:sp>
      <p:sp>
        <p:nvSpPr>
          <p:cNvPr id="8" name="Rectangle 7"/>
          <p:cNvSpPr/>
          <p:nvPr/>
        </p:nvSpPr>
        <p:spPr>
          <a:xfrm>
            <a:off x="7315200" y="3930445"/>
            <a:ext cx="1143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Capability</a:t>
            </a:r>
            <a:endParaRPr lang="en-US" sz="1400" b="1" dirty="0"/>
          </a:p>
        </p:txBody>
      </p:sp>
      <p:sp>
        <p:nvSpPr>
          <p:cNvPr id="9" name="Parallelogram 8"/>
          <p:cNvSpPr/>
          <p:nvPr/>
        </p:nvSpPr>
        <p:spPr>
          <a:xfrm rot="18376161">
            <a:off x="4165473" y="3169389"/>
            <a:ext cx="282111" cy="241280"/>
          </a:xfrm>
          <a:prstGeom prst="parallelogram">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11"/>
          <p:cNvSpPr/>
          <p:nvPr/>
        </p:nvSpPr>
        <p:spPr>
          <a:xfrm rot="18376161">
            <a:off x="7745644" y="3648925"/>
            <a:ext cx="282111" cy="241280"/>
          </a:xfrm>
          <a:prstGeom prst="parallelogram">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Elbow Connector 13"/>
          <p:cNvCxnSpPr>
            <a:stCxn id="12" idx="1"/>
            <a:endCxn id="8" idx="1"/>
          </p:cNvCxnSpPr>
          <p:nvPr/>
        </p:nvCxnSpPr>
        <p:spPr>
          <a:xfrm rot="10800000" flipV="1">
            <a:off x="7315201" y="3673879"/>
            <a:ext cx="492077" cy="599465"/>
          </a:xfrm>
          <a:prstGeom prst="bentConnector3">
            <a:avLst>
              <a:gd name="adj1" fmla="val 146456"/>
            </a:avLst>
          </a:prstGeom>
        </p:spPr>
        <p:style>
          <a:lnRef idx="1">
            <a:schemeClr val="accent1"/>
          </a:lnRef>
          <a:fillRef idx="0">
            <a:schemeClr val="accent1"/>
          </a:fillRef>
          <a:effectRef idx="0">
            <a:schemeClr val="accent1"/>
          </a:effectRef>
          <a:fontRef idx="minor">
            <a:schemeClr val="tx1"/>
          </a:fontRef>
        </p:style>
      </p:cxnSp>
      <p:cxnSp>
        <p:nvCxnSpPr>
          <p:cNvPr id="18" name="Elbow Connector 17"/>
          <p:cNvCxnSpPr>
            <a:stCxn id="8" idx="2"/>
            <a:endCxn id="7" idx="2"/>
          </p:cNvCxnSpPr>
          <p:nvPr/>
        </p:nvCxnSpPr>
        <p:spPr>
          <a:xfrm rot="5400000" flipH="1">
            <a:off x="6873977" y="3603523"/>
            <a:ext cx="44245" cy="1981200"/>
          </a:xfrm>
          <a:prstGeom prst="bentConnector3">
            <a:avLst>
              <a:gd name="adj1" fmla="val -516669"/>
            </a:avLst>
          </a:prstGeom>
        </p:spPr>
        <p:style>
          <a:lnRef idx="1">
            <a:schemeClr val="accent1"/>
          </a:lnRef>
          <a:fillRef idx="0">
            <a:schemeClr val="accent1"/>
          </a:fillRef>
          <a:effectRef idx="0">
            <a:schemeClr val="accent1"/>
          </a:effectRef>
          <a:fontRef idx="minor">
            <a:schemeClr val="tx1"/>
          </a:fontRef>
        </p:style>
      </p:cxnSp>
      <p:sp>
        <p:nvSpPr>
          <p:cNvPr id="19" name="Parallelogram 18"/>
          <p:cNvSpPr/>
          <p:nvPr/>
        </p:nvSpPr>
        <p:spPr>
          <a:xfrm rot="2176161">
            <a:off x="2325654" y="1146448"/>
            <a:ext cx="282111" cy="241280"/>
          </a:xfrm>
          <a:prstGeom prst="parallelogram">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Elbow Connector 20"/>
          <p:cNvCxnSpPr>
            <a:stCxn id="19" idx="2"/>
            <a:endCxn id="5" idx="1"/>
          </p:cNvCxnSpPr>
          <p:nvPr/>
        </p:nvCxnSpPr>
        <p:spPr>
          <a:xfrm>
            <a:off x="2556118" y="1332692"/>
            <a:ext cx="1178911" cy="80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5" idx="2"/>
            <a:endCxn id="6" idx="0"/>
          </p:cNvCxnSpPr>
          <p:nvPr/>
        </p:nvCxnSpPr>
        <p:spPr>
          <a:xfrm>
            <a:off x="4306529" y="1676400"/>
            <a:ext cx="0" cy="74273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Elbow Connector 27"/>
          <p:cNvCxnSpPr>
            <a:stCxn id="5" idx="0"/>
            <a:endCxn id="5" idx="3"/>
          </p:cNvCxnSpPr>
          <p:nvPr/>
        </p:nvCxnSpPr>
        <p:spPr>
          <a:xfrm rot="16200000" flipH="1">
            <a:off x="4420829" y="876300"/>
            <a:ext cx="342900" cy="571500"/>
          </a:xfrm>
          <a:prstGeom prst="bentConnector4">
            <a:avLst>
              <a:gd name="adj1" fmla="val -66667"/>
              <a:gd name="adj2" fmla="val 140000"/>
            </a:avLst>
          </a:prstGeom>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8" idx="3"/>
          </p:cNvCxnSpPr>
          <p:nvPr/>
        </p:nvCxnSpPr>
        <p:spPr>
          <a:xfrm flipH="1" flipV="1">
            <a:off x="4878030" y="1562100"/>
            <a:ext cx="3580170" cy="2711245"/>
          </a:xfrm>
          <a:prstGeom prst="bentConnector3">
            <a:avLst>
              <a:gd name="adj1" fmla="val -6385"/>
            </a:avLst>
          </a:prstGeom>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1165123" y="3986024"/>
            <a:ext cx="1143000" cy="68580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C00000"/>
                </a:solidFill>
              </a:rPr>
              <a:t>Value Experience</a:t>
            </a:r>
            <a:endParaRPr lang="en-US" sz="1400" b="1" dirty="0">
              <a:solidFill>
                <a:srgbClr val="C00000"/>
              </a:solidFill>
            </a:endParaRPr>
          </a:p>
        </p:txBody>
      </p:sp>
      <p:sp>
        <p:nvSpPr>
          <p:cNvPr id="34" name="Rectangle 33"/>
          <p:cNvSpPr/>
          <p:nvPr/>
        </p:nvSpPr>
        <p:spPr>
          <a:xfrm>
            <a:off x="1165123" y="2419135"/>
            <a:ext cx="1143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Stakeholder</a:t>
            </a:r>
            <a:endParaRPr lang="en-US" sz="1400" b="1" dirty="0"/>
          </a:p>
        </p:txBody>
      </p:sp>
      <p:cxnSp>
        <p:nvCxnSpPr>
          <p:cNvPr id="36" name="Elbow Connector 35"/>
          <p:cNvCxnSpPr>
            <a:stCxn id="9" idx="5"/>
            <a:endCxn id="33" idx="3"/>
          </p:cNvCxnSpPr>
          <p:nvPr/>
        </p:nvCxnSpPr>
        <p:spPr>
          <a:xfrm rot="5400000">
            <a:off x="2799781" y="2887780"/>
            <a:ext cx="949486" cy="193280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34" idx="2"/>
            <a:endCxn id="33" idx="0"/>
          </p:cNvCxnSpPr>
          <p:nvPr/>
        </p:nvCxnSpPr>
        <p:spPr>
          <a:xfrm>
            <a:off x="1736623" y="3104935"/>
            <a:ext cx="0" cy="881089"/>
          </a:xfrm>
          <a:prstGeom prst="line">
            <a:avLst/>
          </a:prstGeom>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2651803" y="1086376"/>
            <a:ext cx="1083225" cy="261610"/>
          </a:xfrm>
          <a:prstGeom prst="rect">
            <a:avLst/>
          </a:prstGeom>
          <a:noFill/>
        </p:spPr>
        <p:txBody>
          <a:bodyPr wrap="square" rtlCol="0">
            <a:spAutoFit/>
          </a:bodyPr>
          <a:lstStyle/>
          <a:p>
            <a:r>
              <a:rPr lang="en-US" sz="1100" b="1" dirty="0" smtClean="0"/>
              <a:t>Assembles</a:t>
            </a:r>
            <a:endParaRPr lang="en-US" sz="1100" b="1" dirty="0"/>
          </a:p>
        </p:txBody>
      </p:sp>
      <p:sp>
        <p:nvSpPr>
          <p:cNvPr id="51" name="TextBox 50"/>
          <p:cNvSpPr txBox="1"/>
          <p:nvPr/>
        </p:nvSpPr>
        <p:spPr>
          <a:xfrm>
            <a:off x="4625942" y="457200"/>
            <a:ext cx="1083225" cy="261610"/>
          </a:xfrm>
          <a:prstGeom prst="rect">
            <a:avLst/>
          </a:prstGeom>
          <a:noFill/>
        </p:spPr>
        <p:txBody>
          <a:bodyPr wrap="square" rtlCol="0">
            <a:spAutoFit/>
          </a:bodyPr>
          <a:lstStyle/>
          <a:p>
            <a:r>
              <a:rPr lang="en-US" sz="1100" b="1" dirty="0" smtClean="0"/>
              <a:t>Succeeds</a:t>
            </a:r>
            <a:endParaRPr lang="en-US" sz="1100" b="1" dirty="0"/>
          </a:p>
        </p:txBody>
      </p:sp>
      <p:sp>
        <p:nvSpPr>
          <p:cNvPr id="52" name="TextBox 51"/>
          <p:cNvSpPr txBox="1"/>
          <p:nvPr/>
        </p:nvSpPr>
        <p:spPr>
          <a:xfrm>
            <a:off x="633813" y="3198091"/>
            <a:ext cx="988591" cy="261610"/>
          </a:xfrm>
          <a:prstGeom prst="rect">
            <a:avLst/>
          </a:prstGeom>
          <a:noFill/>
        </p:spPr>
        <p:txBody>
          <a:bodyPr wrap="square" rtlCol="0">
            <a:spAutoFit/>
          </a:bodyPr>
          <a:lstStyle/>
          <a:p>
            <a:pPr algn="r"/>
            <a:r>
              <a:rPr lang="en-US" sz="1100" b="1" dirty="0" smtClean="0"/>
              <a:t>Consumes</a:t>
            </a:r>
          </a:p>
        </p:txBody>
      </p:sp>
      <p:sp>
        <p:nvSpPr>
          <p:cNvPr id="53" name="TextBox 52"/>
          <p:cNvSpPr txBox="1"/>
          <p:nvPr/>
        </p:nvSpPr>
        <p:spPr>
          <a:xfrm>
            <a:off x="1834499" y="3195219"/>
            <a:ext cx="1083225" cy="261610"/>
          </a:xfrm>
          <a:prstGeom prst="rect">
            <a:avLst/>
          </a:prstGeom>
          <a:noFill/>
        </p:spPr>
        <p:txBody>
          <a:bodyPr wrap="square" rtlCol="0">
            <a:spAutoFit/>
          </a:bodyPr>
          <a:lstStyle/>
          <a:p>
            <a:r>
              <a:rPr lang="en-US" sz="1100" b="1" dirty="0" smtClean="0"/>
              <a:t>Transacts</a:t>
            </a:r>
            <a:endParaRPr lang="en-US" sz="1100" b="1" dirty="0" smtClean="0"/>
          </a:p>
        </p:txBody>
      </p:sp>
      <p:sp>
        <p:nvSpPr>
          <p:cNvPr id="54" name="TextBox 53"/>
          <p:cNvSpPr txBox="1"/>
          <p:nvPr/>
        </p:nvSpPr>
        <p:spPr>
          <a:xfrm>
            <a:off x="2732911" y="4055024"/>
            <a:ext cx="1392906" cy="261610"/>
          </a:xfrm>
          <a:prstGeom prst="rect">
            <a:avLst/>
          </a:prstGeom>
          <a:noFill/>
        </p:spPr>
        <p:txBody>
          <a:bodyPr wrap="square" rtlCol="0">
            <a:spAutoFit/>
          </a:bodyPr>
          <a:lstStyle/>
          <a:p>
            <a:r>
              <a:rPr lang="en-US" sz="1100" b="1" dirty="0" smtClean="0"/>
              <a:t>Collects</a:t>
            </a:r>
            <a:endParaRPr lang="en-US" sz="1100" b="1" dirty="0"/>
          </a:p>
        </p:txBody>
      </p:sp>
      <p:sp>
        <p:nvSpPr>
          <p:cNvPr id="55" name="TextBox 54"/>
          <p:cNvSpPr txBox="1"/>
          <p:nvPr/>
        </p:nvSpPr>
        <p:spPr>
          <a:xfrm>
            <a:off x="6308175" y="4572000"/>
            <a:ext cx="1083225" cy="261610"/>
          </a:xfrm>
          <a:prstGeom prst="rect">
            <a:avLst/>
          </a:prstGeom>
          <a:noFill/>
        </p:spPr>
        <p:txBody>
          <a:bodyPr wrap="square" rtlCol="0">
            <a:spAutoFit/>
          </a:bodyPr>
          <a:lstStyle/>
          <a:p>
            <a:r>
              <a:rPr lang="en-US" sz="1100" b="1" dirty="0" smtClean="0"/>
              <a:t>Is generated by</a:t>
            </a:r>
            <a:endParaRPr lang="en-US" sz="1100" b="1" dirty="0"/>
          </a:p>
        </p:txBody>
      </p:sp>
      <p:sp>
        <p:nvSpPr>
          <p:cNvPr id="56" name="TextBox 55"/>
          <p:cNvSpPr txBox="1"/>
          <p:nvPr/>
        </p:nvSpPr>
        <p:spPr>
          <a:xfrm>
            <a:off x="6923349" y="3213513"/>
            <a:ext cx="1083225" cy="261610"/>
          </a:xfrm>
          <a:prstGeom prst="rect">
            <a:avLst/>
          </a:prstGeom>
          <a:noFill/>
        </p:spPr>
        <p:txBody>
          <a:bodyPr wrap="square" rtlCol="0">
            <a:spAutoFit/>
          </a:bodyPr>
          <a:lstStyle/>
          <a:p>
            <a:r>
              <a:rPr lang="en-US" sz="1100" b="1" dirty="0" smtClean="0"/>
              <a:t>Is composed of</a:t>
            </a:r>
            <a:endParaRPr lang="en-US" sz="1100" b="1" dirty="0"/>
          </a:p>
        </p:txBody>
      </p:sp>
      <p:sp>
        <p:nvSpPr>
          <p:cNvPr id="57" name="TextBox 56"/>
          <p:cNvSpPr txBox="1"/>
          <p:nvPr/>
        </p:nvSpPr>
        <p:spPr>
          <a:xfrm>
            <a:off x="5029200" y="2500425"/>
            <a:ext cx="1083225" cy="261610"/>
          </a:xfrm>
          <a:prstGeom prst="rect">
            <a:avLst/>
          </a:prstGeom>
          <a:noFill/>
        </p:spPr>
        <p:txBody>
          <a:bodyPr wrap="square" rtlCol="0">
            <a:spAutoFit/>
          </a:bodyPr>
          <a:lstStyle/>
          <a:p>
            <a:r>
              <a:rPr lang="en-US" sz="1100" b="1" dirty="0" smtClean="0"/>
              <a:t>Is defined by</a:t>
            </a:r>
            <a:endParaRPr lang="en-US" sz="1100" b="1" dirty="0"/>
          </a:p>
        </p:txBody>
      </p:sp>
      <p:cxnSp>
        <p:nvCxnSpPr>
          <p:cNvPr id="60" name="Elbow Connector 59"/>
          <p:cNvCxnSpPr>
            <a:stCxn id="6" idx="3"/>
            <a:endCxn id="7" idx="0"/>
          </p:cNvCxnSpPr>
          <p:nvPr/>
        </p:nvCxnSpPr>
        <p:spPr>
          <a:xfrm>
            <a:off x="4878029" y="2762035"/>
            <a:ext cx="1027471" cy="112416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6892009" y="1217181"/>
            <a:ext cx="1083225" cy="261610"/>
          </a:xfrm>
          <a:prstGeom prst="rect">
            <a:avLst/>
          </a:prstGeom>
          <a:noFill/>
        </p:spPr>
        <p:txBody>
          <a:bodyPr wrap="square" rtlCol="0">
            <a:spAutoFit/>
          </a:bodyPr>
          <a:lstStyle/>
          <a:p>
            <a:r>
              <a:rPr lang="en-US" sz="1100" b="1" dirty="0" smtClean="0"/>
              <a:t>Is delivered by</a:t>
            </a:r>
            <a:endParaRPr lang="en-US" sz="1100" b="1" dirty="0"/>
          </a:p>
        </p:txBody>
      </p:sp>
      <p:sp>
        <p:nvSpPr>
          <p:cNvPr id="66" name="TextBox 65"/>
          <p:cNvSpPr txBox="1"/>
          <p:nvPr/>
        </p:nvSpPr>
        <p:spPr>
          <a:xfrm>
            <a:off x="4405856" y="1916962"/>
            <a:ext cx="1083225" cy="261610"/>
          </a:xfrm>
          <a:prstGeom prst="rect">
            <a:avLst/>
          </a:prstGeom>
          <a:noFill/>
        </p:spPr>
        <p:txBody>
          <a:bodyPr wrap="square" rtlCol="0">
            <a:spAutoFit/>
          </a:bodyPr>
          <a:lstStyle/>
          <a:p>
            <a:r>
              <a:rPr lang="en-US" sz="1100" b="1" dirty="0" smtClean="0"/>
              <a:t>Yields</a:t>
            </a:r>
            <a:endParaRPr lang="en-US" sz="1100" b="1" dirty="0"/>
          </a:p>
        </p:txBody>
      </p:sp>
      <p:sp>
        <p:nvSpPr>
          <p:cNvPr id="67" name="TextBox 66"/>
          <p:cNvSpPr txBox="1"/>
          <p:nvPr/>
        </p:nvSpPr>
        <p:spPr>
          <a:xfrm>
            <a:off x="26425" y="5083805"/>
            <a:ext cx="3320846" cy="1600438"/>
          </a:xfrm>
          <a:prstGeom prst="rect">
            <a:avLst/>
          </a:prstGeom>
          <a:noFill/>
        </p:spPr>
        <p:txBody>
          <a:bodyPr wrap="square" rtlCol="0">
            <a:spAutoFit/>
          </a:bodyPr>
          <a:lstStyle/>
          <a:p>
            <a:r>
              <a:rPr lang="en-US" sz="1400" b="1" u="sng" dirty="0" smtClean="0"/>
              <a:t>VDML “Value Proposition”</a:t>
            </a:r>
            <a:r>
              <a:rPr lang="en-US" sz="1400" b="1" dirty="0" smtClean="0"/>
              <a:t>:</a:t>
            </a:r>
          </a:p>
          <a:p>
            <a:r>
              <a:rPr lang="en-US" sz="1400" b="1" dirty="0" smtClean="0"/>
              <a:t>Maps to </a:t>
            </a:r>
            <a:r>
              <a:rPr lang="en-US" sz="1400" b="1" dirty="0" smtClean="0">
                <a:solidFill>
                  <a:srgbClr val="C00000"/>
                </a:solidFill>
              </a:rPr>
              <a:t>Value Experience</a:t>
            </a:r>
            <a:r>
              <a:rPr lang="en-US" sz="1400" b="1" dirty="0" smtClean="0"/>
              <a:t>, which allows Value Stage (BAMM), by way of Value Item (BAMM), and Value Proposition Component (VDML) to be treated as roughly equal without BAMM constraints, and to be used to get to Capabilities</a:t>
            </a:r>
            <a:endParaRPr lang="en-US" sz="1400" b="1" dirty="0"/>
          </a:p>
        </p:txBody>
      </p:sp>
      <p:sp>
        <p:nvSpPr>
          <p:cNvPr id="68" name="Rectangle 67"/>
          <p:cNvSpPr/>
          <p:nvPr/>
        </p:nvSpPr>
        <p:spPr>
          <a:xfrm>
            <a:off x="7329948" y="5776302"/>
            <a:ext cx="1143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Process/</a:t>
            </a:r>
          </a:p>
          <a:p>
            <a:pPr algn="ctr"/>
            <a:r>
              <a:rPr lang="en-US" sz="1400" b="1" dirty="0" smtClean="0"/>
              <a:t>Activity</a:t>
            </a:r>
            <a:endParaRPr lang="en-US" sz="1400" b="1" dirty="0"/>
          </a:p>
        </p:txBody>
      </p:sp>
      <p:cxnSp>
        <p:nvCxnSpPr>
          <p:cNvPr id="70" name="Straight Connector 69"/>
          <p:cNvCxnSpPr/>
          <p:nvPr/>
        </p:nvCxnSpPr>
        <p:spPr>
          <a:xfrm>
            <a:off x="8214852" y="4616245"/>
            <a:ext cx="14748" cy="1160057"/>
          </a:xfrm>
          <a:prstGeom prst="line">
            <a:avLst/>
          </a:prstGeom>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8253175" y="4953000"/>
            <a:ext cx="1083225" cy="600164"/>
          </a:xfrm>
          <a:prstGeom prst="rect">
            <a:avLst/>
          </a:prstGeom>
          <a:noFill/>
        </p:spPr>
        <p:txBody>
          <a:bodyPr wrap="square" rtlCol="0">
            <a:spAutoFit/>
          </a:bodyPr>
          <a:lstStyle/>
          <a:p>
            <a:r>
              <a:rPr lang="en-US" sz="1100" b="1" dirty="0" smtClean="0"/>
              <a:t>Is implemented by</a:t>
            </a:r>
            <a:endParaRPr lang="en-US" sz="1100" b="1" dirty="0"/>
          </a:p>
        </p:txBody>
      </p:sp>
      <p:sp>
        <p:nvSpPr>
          <p:cNvPr id="72" name="TextBox 71"/>
          <p:cNvSpPr txBox="1"/>
          <p:nvPr/>
        </p:nvSpPr>
        <p:spPr>
          <a:xfrm>
            <a:off x="3199566" y="5083805"/>
            <a:ext cx="3734634" cy="954107"/>
          </a:xfrm>
          <a:prstGeom prst="rect">
            <a:avLst/>
          </a:prstGeom>
          <a:noFill/>
        </p:spPr>
        <p:txBody>
          <a:bodyPr wrap="square" rtlCol="0">
            <a:spAutoFit/>
          </a:bodyPr>
          <a:lstStyle/>
          <a:p>
            <a:r>
              <a:rPr lang="en-US" sz="1400" b="1" u="sng" dirty="0" smtClean="0"/>
              <a:t>Bus Mod Canvass “Value Proposition”</a:t>
            </a:r>
            <a:r>
              <a:rPr lang="en-US" sz="1400" b="1" dirty="0" smtClean="0"/>
              <a:t>:</a:t>
            </a:r>
          </a:p>
          <a:p>
            <a:r>
              <a:rPr lang="en-US" sz="1400" b="1" dirty="0" smtClean="0"/>
              <a:t>Maps to </a:t>
            </a:r>
            <a:r>
              <a:rPr lang="en-US" sz="1400" b="1" dirty="0" smtClean="0">
                <a:solidFill>
                  <a:srgbClr val="C00000"/>
                </a:solidFill>
              </a:rPr>
              <a:t>Value Experience</a:t>
            </a:r>
            <a:r>
              <a:rPr lang="en-US" sz="1400" b="1" dirty="0" smtClean="0"/>
              <a:t>, which allows Value Item (in BAMM) to be used to get to Capabilities (as proxy for Key Activities in BMC)</a:t>
            </a:r>
            <a:endParaRPr lang="en-US" sz="1400" b="1" dirty="0"/>
          </a:p>
        </p:txBody>
      </p:sp>
      <p:sp>
        <p:nvSpPr>
          <p:cNvPr id="73" name="TextBox 72"/>
          <p:cNvSpPr txBox="1"/>
          <p:nvPr/>
        </p:nvSpPr>
        <p:spPr>
          <a:xfrm>
            <a:off x="3199566" y="6093023"/>
            <a:ext cx="3552961" cy="738664"/>
          </a:xfrm>
          <a:prstGeom prst="rect">
            <a:avLst/>
          </a:prstGeom>
          <a:noFill/>
        </p:spPr>
        <p:txBody>
          <a:bodyPr wrap="square" rtlCol="0">
            <a:spAutoFit/>
          </a:bodyPr>
          <a:lstStyle/>
          <a:p>
            <a:r>
              <a:rPr lang="en-US" sz="1400" b="1" u="sng" dirty="0" smtClean="0"/>
              <a:t>Customer Journey “Map” and “Stages”</a:t>
            </a:r>
            <a:r>
              <a:rPr lang="en-US" sz="1400" b="1" dirty="0" smtClean="0"/>
              <a:t>:</a:t>
            </a:r>
          </a:p>
          <a:p>
            <a:r>
              <a:rPr lang="en-US" sz="1400" b="1" dirty="0" smtClean="0"/>
              <a:t>Map to </a:t>
            </a:r>
            <a:r>
              <a:rPr lang="en-US" sz="1400" b="1" dirty="0" smtClean="0">
                <a:solidFill>
                  <a:srgbClr val="C00000"/>
                </a:solidFill>
              </a:rPr>
              <a:t>Value Experience </a:t>
            </a:r>
            <a:r>
              <a:rPr lang="en-US" sz="1400" b="1" dirty="0" smtClean="0"/>
              <a:t>and Value Stage by way of Value Item, respectively</a:t>
            </a:r>
            <a:endParaRPr lang="en-US" sz="1400" b="1" dirty="0"/>
          </a:p>
        </p:txBody>
      </p:sp>
      <p:sp>
        <p:nvSpPr>
          <p:cNvPr id="74" name="Right Brace 73"/>
          <p:cNvSpPr/>
          <p:nvPr/>
        </p:nvSpPr>
        <p:spPr>
          <a:xfrm rot="16200000">
            <a:off x="3104959" y="1722067"/>
            <a:ext cx="484624" cy="6641691"/>
          </a:xfrm>
          <a:prstGeom prst="rightBrace">
            <a:avLst>
              <a:gd name="adj1" fmla="val 8333"/>
              <a:gd name="adj2" fmla="val 26063"/>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5" name="Rounded Rectangle 74"/>
          <p:cNvSpPr/>
          <p:nvPr/>
        </p:nvSpPr>
        <p:spPr>
          <a:xfrm>
            <a:off x="914400" y="457200"/>
            <a:ext cx="4477364" cy="1459762"/>
          </a:xfrm>
          <a:prstGeom prst="roundRect">
            <a:avLst/>
          </a:prstGeom>
          <a:noFill/>
          <a:ln w="19050">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ounded Rectangle 75"/>
          <p:cNvSpPr/>
          <p:nvPr/>
        </p:nvSpPr>
        <p:spPr>
          <a:xfrm>
            <a:off x="685800" y="2214116"/>
            <a:ext cx="4343400" cy="2586483"/>
          </a:xfrm>
          <a:prstGeom prst="roundRect">
            <a:avLst/>
          </a:prstGeom>
          <a:noFill/>
          <a:ln w="19050">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5489082" y="228600"/>
            <a:ext cx="3578718" cy="523220"/>
          </a:xfrm>
          <a:prstGeom prst="rect">
            <a:avLst/>
          </a:prstGeom>
          <a:noFill/>
        </p:spPr>
        <p:txBody>
          <a:bodyPr wrap="square" rtlCol="0">
            <a:spAutoFit/>
          </a:bodyPr>
          <a:lstStyle/>
          <a:p>
            <a:r>
              <a:rPr lang="en-US" sz="1400" b="1" dirty="0" smtClean="0">
                <a:solidFill>
                  <a:schemeClr val="accent4">
                    <a:lumMod val="75000"/>
                  </a:schemeClr>
                </a:solidFill>
              </a:rPr>
              <a:t>Preserves Value Stream as an assembly statement of how the company delivers Value</a:t>
            </a:r>
            <a:endParaRPr lang="en-US" sz="1400" b="1" dirty="0">
              <a:solidFill>
                <a:schemeClr val="accent4">
                  <a:lumMod val="75000"/>
                </a:schemeClr>
              </a:solidFill>
            </a:endParaRPr>
          </a:p>
        </p:txBody>
      </p:sp>
      <p:cxnSp>
        <p:nvCxnSpPr>
          <p:cNvPr id="80" name="Straight Connector 79"/>
          <p:cNvCxnSpPr>
            <a:stCxn id="75" idx="3"/>
            <a:endCxn id="78" idx="2"/>
          </p:cNvCxnSpPr>
          <p:nvPr/>
        </p:nvCxnSpPr>
        <p:spPr>
          <a:xfrm flipV="1">
            <a:off x="5391764" y="751820"/>
            <a:ext cx="1886677" cy="435261"/>
          </a:xfrm>
          <a:prstGeom prst="line">
            <a:avLst/>
          </a:prstGeom>
          <a:ln w="19050">
            <a:solidFill>
              <a:schemeClr val="accent4">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5565282" y="1690896"/>
            <a:ext cx="3045318" cy="738664"/>
          </a:xfrm>
          <a:prstGeom prst="rect">
            <a:avLst/>
          </a:prstGeom>
          <a:noFill/>
        </p:spPr>
        <p:txBody>
          <a:bodyPr wrap="square" rtlCol="0">
            <a:spAutoFit/>
          </a:bodyPr>
          <a:lstStyle/>
          <a:p>
            <a:r>
              <a:rPr lang="en-US" sz="1400" b="1" dirty="0" smtClean="0">
                <a:solidFill>
                  <a:schemeClr val="accent4">
                    <a:lumMod val="75000"/>
                  </a:schemeClr>
                </a:solidFill>
              </a:rPr>
              <a:t>Positions Value Experience as the experiential moment that is transacted, linked through Value Item</a:t>
            </a:r>
            <a:endParaRPr lang="en-US" sz="1400" b="1" dirty="0">
              <a:solidFill>
                <a:schemeClr val="accent4">
                  <a:lumMod val="75000"/>
                </a:schemeClr>
              </a:solidFill>
            </a:endParaRPr>
          </a:p>
        </p:txBody>
      </p:sp>
      <p:cxnSp>
        <p:nvCxnSpPr>
          <p:cNvPr id="82" name="Straight Connector 81"/>
          <p:cNvCxnSpPr>
            <a:stCxn id="76" idx="3"/>
            <a:endCxn id="81" idx="2"/>
          </p:cNvCxnSpPr>
          <p:nvPr/>
        </p:nvCxnSpPr>
        <p:spPr>
          <a:xfrm flipV="1">
            <a:off x="5029200" y="2429560"/>
            <a:ext cx="2058741" cy="1077798"/>
          </a:xfrm>
          <a:prstGeom prst="line">
            <a:avLst/>
          </a:prstGeom>
          <a:ln w="19050">
            <a:solidFill>
              <a:schemeClr val="accent4">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011297" y="3641047"/>
            <a:ext cx="1507215" cy="261610"/>
          </a:xfrm>
          <a:prstGeom prst="rect">
            <a:avLst/>
          </a:prstGeom>
          <a:noFill/>
        </p:spPr>
        <p:txBody>
          <a:bodyPr wrap="square" rtlCol="0">
            <a:spAutoFit/>
          </a:bodyPr>
          <a:lstStyle/>
          <a:p>
            <a:pPr algn="ctr"/>
            <a:r>
              <a:rPr lang="en-US" sz="1100" b="1" smtClean="0"/>
              <a:t>Conveys</a:t>
            </a:r>
            <a:endParaRPr lang="en-US" sz="1100" b="1" dirty="0" smtClean="0"/>
          </a:p>
        </p:txBody>
      </p:sp>
      <p:cxnSp>
        <p:nvCxnSpPr>
          <p:cNvPr id="49" name="Straight Connector 48"/>
          <p:cNvCxnSpPr>
            <a:endCxn id="58" idx="2"/>
          </p:cNvCxnSpPr>
          <p:nvPr/>
        </p:nvCxnSpPr>
        <p:spPr>
          <a:xfrm flipH="1" flipV="1">
            <a:off x="-249169" y="2874926"/>
            <a:ext cx="998227" cy="428152"/>
          </a:xfrm>
          <a:prstGeom prst="line">
            <a:avLst/>
          </a:prstGeom>
          <a:ln w="19050">
            <a:solidFill>
              <a:schemeClr val="accent4">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1205813" y="1705375"/>
            <a:ext cx="1913288" cy="1169551"/>
          </a:xfrm>
          <a:prstGeom prst="rect">
            <a:avLst/>
          </a:prstGeom>
          <a:noFill/>
        </p:spPr>
        <p:txBody>
          <a:bodyPr wrap="square" rtlCol="0">
            <a:spAutoFit/>
          </a:bodyPr>
          <a:lstStyle/>
          <a:p>
            <a:r>
              <a:rPr lang="en-US" sz="1400" b="1" dirty="0" smtClean="0">
                <a:solidFill>
                  <a:srgbClr val="00B0F0"/>
                </a:solidFill>
              </a:rPr>
              <a:t>This is where the understanding around value consumption / mapping against needs breaks down</a:t>
            </a:r>
            <a:endParaRPr lang="en-US" sz="1400" b="1" dirty="0">
              <a:solidFill>
                <a:srgbClr val="00B0F0"/>
              </a:solidFill>
            </a:endParaRPr>
          </a:p>
        </p:txBody>
      </p:sp>
      <p:sp>
        <p:nvSpPr>
          <p:cNvPr id="59" name="TextBox 58"/>
          <p:cNvSpPr txBox="1"/>
          <p:nvPr/>
        </p:nvSpPr>
        <p:spPr>
          <a:xfrm>
            <a:off x="6052586" y="6507998"/>
            <a:ext cx="3873082" cy="954107"/>
          </a:xfrm>
          <a:prstGeom prst="rect">
            <a:avLst/>
          </a:prstGeom>
          <a:noFill/>
        </p:spPr>
        <p:txBody>
          <a:bodyPr wrap="square" rtlCol="0">
            <a:spAutoFit/>
          </a:bodyPr>
          <a:lstStyle/>
          <a:p>
            <a:r>
              <a:rPr lang="en-US" sz="1400" b="1" dirty="0" smtClean="0">
                <a:solidFill>
                  <a:srgbClr val="00B0F0"/>
                </a:solidFill>
              </a:rPr>
              <a:t>Is the </a:t>
            </a:r>
            <a:r>
              <a:rPr lang="en-US" sz="1400" b="1" dirty="0" smtClean="0">
                <a:solidFill>
                  <a:srgbClr val="00B0F0"/>
                </a:solidFill>
              </a:rPr>
              <a:t>journey focused primarily around the transaction not the consumption ? If Yes, then they are missing the opportunity for evaluating / measuring experience</a:t>
            </a:r>
            <a:endParaRPr lang="en-US" sz="1400" b="1" dirty="0">
              <a:solidFill>
                <a:srgbClr val="00B0F0"/>
              </a:solidFill>
            </a:endParaRPr>
          </a:p>
        </p:txBody>
      </p:sp>
      <p:sp>
        <p:nvSpPr>
          <p:cNvPr id="61" name="TextBox 60"/>
          <p:cNvSpPr txBox="1"/>
          <p:nvPr/>
        </p:nvSpPr>
        <p:spPr>
          <a:xfrm>
            <a:off x="-1444485" y="3273883"/>
            <a:ext cx="2228588" cy="1600438"/>
          </a:xfrm>
          <a:prstGeom prst="rect">
            <a:avLst/>
          </a:prstGeom>
          <a:noFill/>
        </p:spPr>
        <p:txBody>
          <a:bodyPr wrap="square" rtlCol="0">
            <a:spAutoFit/>
          </a:bodyPr>
          <a:lstStyle/>
          <a:p>
            <a:r>
              <a:rPr lang="en-US" sz="1400" b="1" dirty="0" smtClean="0">
                <a:solidFill>
                  <a:srgbClr val="00B0F0"/>
                </a:solidFill>
              </a:rPr>
              <a:t>The stakeholder consumes the Value Item through the Experience NOT directly (one Value Item at a time).  Need to preserve the contextual relevance of value within the experience</a:t>
            </a:r>
            <a:endParaRPr lang="en-US" sz="1400" b="1" dirty="0">
              <a:solidFill>
                <a:srgbClr val="00B0F0"/>
              </a:solidFill>
            </a:endParaRPr>
          </a:p>
        </p:txBody>
      </p:sp>
    </p:spTree>
    <p:extLst>
      <p:ext uri="{BB962C8B-B14F-4D97-AF65-F5344CB8AC3E}">
        <p14:creationId xmlns:p14="http://schemas.microsoft.com/office/powerpoint/2010/main" val="37125277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245</Words>
  <Application>Microsoft Macintosh PowerPoint</Application>
  <PresentationFormat>On-screen Show (4:3)</PresentationFormat>
  <Paragraphs>35</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Calibri</vt:lpstr>
      <vt:lpstr>Arial</vt:lpstr>
      <vt:lpstr>Office Theme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Lloyd Dugan</dc:creator>
  <cp:lastModifiedBy>Jeffrey Wallk</cp:lastModifiedBy>
  <cp:revision>7</cp:revision>
  <cp:lastPrinted>2016-02-10T22:34:09Z</cp:lastPrinted>
  <dcterms:created xsi:type="dcterms:W3CDTF">2016-02-10T21:33:44Z</dcterms:created>
  <dcterms:modified xsi:type="dcterms:W3CDTF">2016-02-10T23:00:41Z</dcterms:modified>
</cp:coreProperties>
</file>
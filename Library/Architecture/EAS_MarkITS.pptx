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9"/>
  </p:notesMasterIdLst>
  <p:handoutMasterIdLst>
    <p:handoutMasterId r:id="rId30"/>
  </p:handoutMasterIdLst>
  <p:sldIdLst>
    <p:sldId id="608" r:id="rId2"/>
    <p:sldId id="966" r:id="rId3"/>
    <p:sldId id="954" r:id="rId4"/>
    <p:sldId id="973" r:id="rId5"/>
    <p:sldId id="967" r:id="rId6"/>
    <p:sldId id="974" r:id="rId7"/>
    <p:sldId id="952" r:id="rId8"/>
    <p:sldId id="961" r:id="rId9"/>
    <p:sldId id="975" r:id="rId10"/>
    <p:sldId id="960" r:id="rId11"/>
    <p:sldId id="963" r:id="rId12"/>
    <p:sldId id="976" r:id="rId13"/>
    <p:sldId id="927" r:id="rId14"/>
    <p:sldId id="977" r:id="rId15"/>
    <p:sldId id="968" r:id="rId16"/>
    <p:sldId id="928" r:id="rId17"/>
    <p:sldId id="953" r:id="rId18"/>
    <p:sldId id="955" r:id="rId19"/>
    <p:sldId id="832" r:id="rId20"/>
    <p:sldId id="978" r:id="rId21"/>
    <p:sldId id="969" r:id="rId22"/>
    <p:sldId id="929" r:id="rId23"/>
    <p:sldId id="970" r:id="rId24"/>
    <p:sldId id="833" r:id="rId25"/>
    <p:sldId id="921" r:id="rId26"/>
    <p:sldId id="964" r:id="rId27"/>
    <p:sldId id="828" r:id="rId28"/>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ctr" rtl="0" fontAlgn="base">
      <a:spcBef>
        <a:spcPct val="0"/>
      </a:spcBef>
      <a:spcAft>
        <a:spcPct val="0"/>
      </a:spcAft>
      <a:defRPr sz="900" kern="1200">
        <a:solidFill>
          <a:schemeClr val="tx1"/>
        </a:solidFill>
        <a:latin typeface="Arial" charset="0"/>
        <a:ea typeface="+mn-ea"/>
        <a:cs typeface="+mn-cs"/>
      </a:defRPr>
    </a:lvl1pPr>
    <a:lvl2pPr marL="457200" algn="ctr" rtl="0" fontAlgn="base">
      <a:spcBef>
        <a:spcPct val="0"/>
      </a:spcBef>
      <a:spcAft>
        <a:spcPct val="0"/>
      </a:spcAft>
      <a:defRPr sz="900" kern="1200">
        <a:solidFill>
          <a:schemeClr val="tx1"/>
        </a:solidFill>
        <a:latin typeface="Arial" charset="0"/>
        <a:ea typeface="+mn-ea"/>
        <a:cs typeface="+mn-cs"/>
      </a:defRPr>
    </a:lvl2pPr>
    <a:lvl3pPr marL="914400" algn="ctr" rtl="0" fontAlgn="base">
      <a:spcBef>
        <a:spcPct val="0"/>
      </a:spcBef>
      <a:spcAft>
        <a:spcPct val="0"/>
      </a:spcAft>
      <a:defRPr sz="900" kern="1200">
        <a:solidFill>
          <a:schemeClr val="tx1"/>
        </a:solidFill>
        <a:latin typeface="Arial" charset="0"/>
        <a:ea typeface="+mn-ea"/>
        <a:cs typeface="+mn-cs"/>
      </a:defRPr>
    </a:lvl3pPr>
    <a:lvl4pPr marL="1371600" algn="ctr" rtl="0" fontAlgn="base">
      <a:spcBef>
        <a:spcPct val="0"/>
      </a:spcBef>
      <a:spcAft>
        <a:spcPct val="0"/>
      </a:spcAft>
      <a:defRPr sz="900" kern="1200">
        <a:solidFill>
          <a:schemeClr val="tx1"/>
        </a:solidFill>
        <a:latin typeface="Arial" charset="0"/>
        <a:ea typeface="+mn-ea"/>
        <a:cs typeface="+mn-cs"/>
      </a:defRPr>
    </a:lvl4pPr>
    <a:lvl5pPr marL="1828800" algn="ctr" rtl="0" fontAlgn="base">
      <a:spcBef>
        <a:spcPct val="0"/>
      </a:spcBef>
      <a:spcAft>
        <a:spcPct val="0"/>
      </a:spcAft>
      <a:defRPr sz="900" kern="1200">
        <a:solidFill>
          <a:schemeClr val="tx1"/>
        </a:solidFill>
        <a:latin typeface="Arial" charset="0"/>
        <a:ea typeface="+mn-ea"/>
        <a:cs typeface="+mn-cs"/>
      </a:defRPr>
    </a:lvl5pPr>
    <a:lvl6pPr marL="2286000" algn="l" defTabSz="914400" rtl="0" eaLnBrk="1" latinLnBrk="0" hangingPunct="1">
      <a:defRPr sz="900" kern="1200">
        <a:solidFill>
          <a:schemeClr val="tx1"/>
        </a:solidFill>
        <a:latin typeface="Arial" charset="0"/>
        <a:ea typeface="+mn-ea"/>
        <a:cs typeface="+mn-cs"/>
      </a:defRPr>
    </a:lvl6pPr>
    <a:lvl7pPr marL="2743200" algn="l" defTabSz="914400" rtl="0" eaLnBrk="1" latinLnBrk="0" hangingPunct="1">
      <a:defRPr sz="900" kern="1200">
        <a:solidFill>
          <a:schemeClr val="tx1"/>
        </a:solidFill>
        <a:latin typeface="Arial" charset="0"/>
        <a:ea typeface="+mn-ea"/>
        <a:cs typeface="+mn-cs"/>
      </a:defRPr>
    </a:lvl7pPr>
    <a:lvl8pPr marL="3200400" algn="l" defTabSz="914400" rtl="0" eaLnBrk="1" latinLnBrk="0" hangingPunct="1">
      <a:defRPr sz="900" kern="1200">
        <a:solidFill>
          <a:schemeClr val="tx1"/>
        </a:solidFill>
        <a:latin typeface="Arial" charset="0"/>
        <a:ea typeface="+mn-ea"/>
        <a:cs typeface="+mn-cs"/>
      </a:defRPr>
    </a:lvl8pPr>
    <a:lvl9pPr marL="3657600" algn="l" defTabSz="914400" rtl="0" eaLnBrk="1" latinLnBrk="0" hangingPunct="1">
      <a:defRPr sz="9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EFFFF0"/>
    <a:srgbClr val="E1FFE3"/>
    <a:srgbClr val="F5F5F5"/>
    <a:srgbClr val="EEEEEE"/>
    <a:srgbClr val="F0F0F0"/>
    <a:srgbClr val="F4F4F4"/>
    <a:srgbClr val="DCC79C"/>
    <a:srgbClr val="C7B29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52" autoAdjust="0"/>
    <p:restoredTop sz="96594" autoAdjust="0"/>
  </p:normalViewPr>
  <p:slideViewPr>
    <p:cSldViewPr snapToGrid="0">
      <p:cViewPr>
        <p:scale>
          <a:sx n="75" d="100"/>
          <a:sy n="75" d="100"/>
        </p:scale>
        <p:origin x="-1092" y="-84"/>
      </p:cViewPr>
      <p:guideLst>
        <p:guide orient="horz" pos="2160"/>
        <p:guide pos="2880"/>
      </p:guideLst>
    </p:cSldViewPr>
  </p:slideViewPr>
  <p:outlineViewPr>
    <p:cViewPr>
      <p:scale>
        <a:sx n="25" d="100"/>
        <a:sy n="25"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00" d="100"/>
        <a:sy n="100" d="100"/>
      </p:scale>
      <p:origin x="0" y="0"/>
    </p:cViewPr>
  </p:notesTextViewPr>
  <p:sorterViewPr>
    <p:cViewPr>
      <p:scale>
        <a:sx n="100" d="100"/>
        <a:sy n="100" d="100"/>
      </p:scale>
      <p:origin x="0" y="648"/>
    </p:cViewPr>
  </p:sorterViewPr>
  <p:notesViewPr>
    <p:cSldViewPr snapToGrid="0">
      <p:cViewPr>
        <p:scale>
          <a:sx n="75" d="100"/>
          <a:sy n="75" d="100"/>
        </p:scale>
        <p:origin x="-696" y="-60"/>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6.xml"/><Relationship Id="rId3" Type="http://schemas.openxmlformats.org/officeDocument/2006/relationships/slide" Target="slides/slide10.xml"/><Relationship Id="rId7" Type="http://schemas.openxmlformats.org/officeDocument/2006/relationships/slide" Target="slides/slide14.xml"/><Relationship Id="rId12" Type="http://schemas.openxmlformats.org/officeDocument/2006/relationships/slide" Target="slides/slide26.xml"/><Relationship Id="rId2" Type="http://schemas.openxmlformats.org/officeDocument/2006/relationships/slide" Target="slides/slide7.xml"/><Relationship Id="rId1" Type="http://schemas.openxmlformats.org/officeDocument/2006/relationships/slide" Target="slides/slide3.xml"/><Relationship Id="rId6" Type="http://schemas.openxmlformats.org/officeDocument/2006/relationships/slide" Target="slides/slide13.xml"/><Relationship Id="rId11" Type="http://schemas.openxmlformats.org/officeDocument/2006/relationships/slide" Target="slides/slide24.xml"/><Relationship Id="rId5" Type="http://schemas.openxmlformats.org/officeDocument/2006/relationships/slide" Target="slides/slide12.xml"/><Relationship Id="rId10" Type="http://schemas.openxmlformats.org/officeDocument/2006/relationships/slide" Target="slides/slide18.xml"/><Relationship Id="rId4" Type="http://schemas.openxmlformats.org/officeDocument/2006/relationships/slide" Target="slides/slide11.xml"/><Relationship Id="rId9"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Rectangle 3"/>
          <p:cNvSpPr>
            <a:spLocks noChangeArrowheads="1" noTextEdit="1"/>
          </p:cNvSpPr>
          <p:nvPr>
            <p:ph type="sldImg" idx="2"/>
          </p:nvPr>
        </p:nvSpPr>
        <p:spPr bwMode="auto">
          <a:xfrm>
            <a:off x="1192213" y="703263"/>
            <a:ext cx="4630737" cy="3473450"/>
          </a:xfrm>
          <a:prstGeom prst="rect">
            <a:avLst/>
          </a:prstGeom>
          <a:noFill/>
          <a:ln w="12700">
            <a:solidFill>
              <a:schemeClr val="tx1"/>
            </a:solidFill>
            <a:miter lim="800000"/>
            <a:headEnd/>
            <a:tailEnd/>
          </a:ln>
          <a:effectLst/>
        </p:spPr>
      </p:sp>
      <p:sp>
        <p:nvSpPr>
          <p:cNvPr id="2073" name="Text Box 25"/>
          <p:cNvSpPr txBox="1">
            <a:spLocks noChangeArrowheads="1"/>
          </p:cNvSpPr>
          <p:nvPr/>
        </p:nvSpPr>
        <p:spPr bwMode="auto">
          <a:xfrm>
            <a:off x="1695450" y="0"/>
            <a:ext cx="1231900" cy="534988"/>
          </a:xfrm>
          <a:prstGeom prst="rect">
            <a:avLst/>
          </a:prstGeom>
          <a:solidFill>
            <a:srgbClr val="009999"/>
          </a:solidFill>
          <a:ln w="9525">
            <a:solidFill>
              <a:srgbClr val="009999"/>
            </a:solidFill>
            <a:miter lim="800000"/>
            <a:headEnd/>
            <a:tailEnd/>
          </a:ln>
        </p:spPr>
        <p:txBody>
          <a:bodyPr lIns="91933" tIns="137903" rIns="91933" bIns="45969"/>
          <a:lstStyle/>
          <a:p>
            <a:pPr algn="r" defTabSz="928688" eaLnBrk="0" hangingPunct="0">
              <a:spcBef>
                <a:spcPts val="1813"/>
              </a:spcBef>
            </a:pPr>
            <a:r>
              <a:rPr lang="en-US" b="1" i="1">
                <a:solidFill>
                  <a:srgbClr val="FFFFFF"/>
                </a:solidFill>
                <a:latin typeface="Times New Roman" pitchFamily="18" charset="0"/>
              </a:rPr>
              <a:t>PhotoShop</a:t>
            </a:r>
            <a:br>
              <a:rPr lang="en-US" b="1" i="1">
                <a:solidFill>
                  <a:srgbClr val="FFFFFF"/>
                </a:solidFill>
                <a:latin typeface="Times New Roman" pitchFamily="18" charset="0"/>
              </a:rPr>
            </a:br>
            <a:r>
              <a:rPr lang="en-US" b="1" i="1">
                <a:solidFill>
                  <a:srgbClr val="FFFFFF"/>
                </a:solidFill>
                <a:latin typeface="Times New Roman" pitchFamily="18" charset="0"/>
              </a:rPr>
              <a:t>for the Web</a:t>
            </a:r>
            <a:endParaRPr lang="en-US" sz="1000" b="1" i="1">
              <a:solidFill>
                <a:srgbClr val="FFFFFF"/>
              </a:solidFill>
              <a:latin typeface="Times New Roman" pitchFamily="18" charset="0"/>
            </a:endParaRPr>
          </a:p>
        </p:txBody>
      </p:sp>
      <p:pic>
        <p:nvPicPr>
          <p:cNvPr id="2074" name="Picture 26" descr="DCI logo2"/>
          <p:cNvPicPr>
            <a:picLocks noChangeAspect="1" noChangeArrowheads="1"/>
          </p:cNvPicPr>
          <p:nvPr/>
        </p:nvPicPr>
        <p:blipFill>
          <a:blip r:embed="rId2"/>
          <a:srcRect/>
          <a:stretch>
            <a:fillRect/>
          </a:stretch>
        </p:blipFill>
        <p:spPr bwMode="auto">
          <a:xfrm>
            <a:off x="0" y="0"/>
            <a:ext cx="1695450" cy="546100"/>
          </a:xfrm>
          <a:prstGeom prst="rect">
            <a:avLst/>
          </a:prstGeom>
          <a:noFill/>
        </p:spPr>
      </p:pic>
      <p:grpSp>
        <p:nvGrpSpPr>
          <p:cNvPr id="2075" name="Group 27"/>
          <p:cNvGrpSpPr>
            <a:grpSpLocks/>
          </p:cNvGrpSpPr>
          <p:nvPr/>
        </p:nvGrpSpPr>
        <p:grpSpPr bwMode="auto">
          <a:xfrm>
            <a:off x="627063" y="4999038"/>
            <a:ext cx="5888037" cy="3778250"/>
            <a:chOff x="384" y="3120"/>
            <a:chExt cx="3888" cy="2304"/>
          </a:xfrm>
        </p:grpSpPr>
        <p:sp>
          <p:nvSpPr>
            <p:cNvPr id="2076" name="Line 28"/>
            <p:cNvSpPr>
              <a:spLocks noChangeShapeType="1"/>
            </p:cNvSpPr>
            <p:nvPr/>
          </p:nvSpPr>
          <p:spPr bwMode="auto">
            <a:xfrm>
              <a:off x="384" y="3408"/>
              <a:ext cx="3880" cy="0"/>
            </a:xfrm>
            <a:prstGeom prst="line">
              <a:avLst/>
            </a:prstGeom>
            <a:noFill/>
            <a:ln w="12700">
              <a:solidFill>
                <a:schemeClr val="tx1"/>
              </a:solidFill>
              <a:round/>
              <a:headEnd/>
              <a:tailEnd/>
            </a:ln>
            <a:effectLst/>
          </p:spPr>
          <p:txBody>
            <a:bodyPr wrap="none" anchor="ctr"/>
            <a:lstStyle/>
            <a:p>
              <a:endParaRPr lang="en-US"/>
            </a:p>
          </p:txBody>
        </p:sp>
        <p:sp>
          <p:nvSpPr>
            <p:cNvPr id="2077" name="Line 29"/>
            <p:cNvSpPr>
              <a:spLocks noChangeShapeType="1"/>
            </p:cNvSpPr>
            <p:nvPr/>
          </p:nvSpPr>
          <p:spPr bwMode="auto">
            <a:xfrm>
              <a:off x="384" y="3552"/>
              <a:ext cx="3880" cy="0"/>
            </a:xfrm>
            <a:prstGeom prst="line">
              <a:avLst/>
            </a:prstGeom>
            <a:noFill/>
            <a:ln w="12700">
              <a:solidFill>
                <a:schemeClr val="tx1"/>
              </a:solidFill>
              <a:round/>
              <a:headEnd/>
              <a:tailEnd/>
            </a:ln>
            <a:effectLst/>
          </p:spPr>
          <p:txBody>
            <a:bodyPr wrap="none" anchor="ctr"/>
            <a:lstStyle/>
            <a:p>
              <a:endParaRPr lang="en-US"/>
            </a:p>
          </p:txBody>
        </p:sp>
        <p:sp>
          <p:nvSpPr>
            <p:cNvPr id="2078" name="Line 30"/>
            <p:cNvSpPr>
              <a:spLocks noChangeShapeType="1"/>
            </p:cNvSpPr>
            <p:nvPr/>
          </p:nvSpPr>
          <p:spPr bwMode="auto">
            <a:xfrm>
              <a:off x="384" y="3264"/>
              <a:ext cx="3880" cy="0"/>
            </a:xfrm>
            <a:prstGeom prst="line">
              <a:avLst/>
            </a:prstGeom>
            <a:noFill/>
            <a:ln w="12700">
              <a:solidFill>
                <a:schemeClr val="tx1"/>
              </a:solidFill>
              <a:round/>
              <a:headEnd/>
              <a:tailEnd/>
            </a:ln>
            <a:effectLst/>
          </p:spPr>
          <p:txBody>
            <a:bodyPr wrap="none" anchor="ctr"/>
            <a:lstStyle/>
            <a:p>
              <a:endParaRPr lang="en-US"/>
            </a:p>
          </p:txBody>
        </p:sp>
        <p:sp>
          <p:nvSpPr>
            <p:cNvPr id="2079" name="Line 31"/>
            <p:cNvSpPr>
              <a:spLocks noChangeShapeType="1"/>
            </p:cNvSpPr>
            <p:nvPr/>
          </p:nvSpPr>
          <p:spPr bwMode="auto">
            <a:xfrm>
              <a:off x="384" y="3120"/>
              <a:ext cx="3880" cy="0"/>
            </a:xfrm>
            <a:prstGeom prst="line">
              <a:avLst/>
            </a:prstGeom>
            <a:noFill/>
            <a:ln w="12700">
              <a:solidFill>
                <a:schemeClr val="tx1"/>
              </a:solidFill>
              <a:round/>
              <a:headEnd/>
              <a:tailEnd/>
            </a:ln>
            <a:effectLst/>
          </p:spPr>
          <p:txBody>
            <a:bodyPr wrap="none" anchor="ctr"/>
            <a:lstStyle/>
            <a:p>
              <a:endParaRPr lang="en-US"/>
            </a:p>
          </p:txBody>
        </p:sp>
        <p:sp>
          <p:nvSpPr>
            <p:cNvPr id="2080" name="Line 32"/>
            <p:cNvSpPr>
              <a:spLocks noChangeShapeType="1"/>
            </p:cNvSpPr>
            <p:nvPr/>
          </p:nvSpPr>
          <p:spPr bwMode="auto">
            <a:xfrm>
              <a:off x="384" y="3984"/>
              <a:ext cx="3880" cy="0"/>
            </a:xfrm>
            <a:prstGeom prst="line">
              <a:avLst/>
            </a:prstGeom>
            <a:noFill/>
            <a:ln w="12700">
              <a:solidFill>
                <a:schemeClr val="tx1"/>
              </a:solidFill>
              <a:round/>
              <a:headEnd/>
              <a:tailEnd/>
            </a:ln>
            <a:effectLst/>
          </p:spPr>
          <p:txBody>
            <a:bodyPr wrap="none" anchor="ctr"/>
            <a:lstStyle/>
            <a:p>
              <a:endParaRPr lang="en-US"/>
            </a:p>
          </p:txBody>
        </p:sp>
        <p:sp>
          <p:nvSpPr>
            <p:cNvPr id="2081" name="Line 33"/>
            <p:cNvSpPr>
              <a:spLocks noChangeShapeType="1"/>
            </p:cNvSpPr>
            <p:nvPr/>
          </p:nvSpPr>
          <p:spPr bwMode="auto">
            <a:xfrm>
              <a:off x="384" y="4128"/>
              <a:ext cx="3880" cy="0"/>
            </a:xfrm>
            <a:prstGeom prst="line">
              <a:avLst/>
            </a:prstGeom>
            <a:noFill/>
            <a:ln w="12700">
              <a:solidFill>
                <a:schemeClr val="tx1"/>
              </a:solidFill>
              <a:round/>
              <a:headEnd/>
              <a:tailEnd/>
            </a:ln>
            <a:effectLst/>
          </p:spPr>
          <p:txBody>
            <a:bodyPr wrap="none" anchor="ctr"/>
            <a:lstStyle/>
            <a:p>
              <a:endParaRPr lang="en-US"/>
            </a:p>
          </p:txBody>
        </p:sp>
        <p:sp>
          <p:nvSpPr>
            <p:cNvPr id="2082" name="Line 34"/>
            <p:cNvSpPr>
              <a:spLocks noChangeShapeType="1"/>
            </p:cNvSpPr>
            <p:nvPr/>
          </p:nvSpPr>
          <p:spPr bwMode="auto">
            <a:xfrm>
              <a:off x="384" y="3840"/>
              <a:ext cx="3880" cy="0"/>
            </a:xfrm>
            <a:prstGeom prst="line">
              <a:avLst/>
            </a:prstGeom>
            <a:noFill/>
            <a:ln w="12700">
              <a:solidFill>
                <a:schemeClr val="tx1"/>
              </a:solidFill>
              <a:round/>
              <a:headEnd/>
              <a:tailEnd/>
            </a:ln>
            <a:effectLst/>
          </p:spPr>
          <p:txBody>
            <a:bodyPr wrap="none" anchor="ctr"/>
            <a:lstStyle/>
            <a:p>
              <a:endParaRPr lang="en-US"/>
            </a:p>
          </p:txBody>
        </p:sp>
        <p:sp>
          <p:nvSpPr>
            <p:cNvPr id="2083" name="Line 35"/>
            <p:cNvSpPr>
              <a:spLocks noChangeShapeType="1"/>
            </p:cNvSpPr>
            <p:nvPr/>
          </p:nvSpPr>
          <p:spPr bwMode="auto">
            <a:xfrm>
              <a:off x="384" y="3696"/>
              <a:ext cx="3880" cy="0"/>
            </a:xfrm>
            <a:prstGeom prst="line">
              <a:avLst/>
            </a:prstGeom>
            <a:noFill/>
            <a:ln w="12700">
              <a:solidFill>
                <a:schemeClr val="tx1"/>
              </a:solidFill>
              <a:round/>
              <a:headEnd/>
              <a:tailEnd/>
            </a:ln>
            <a:effectLst/>
          </p:spPr>
          <p:txBody>
            <a:bodyPr wrap="none" anchor="ctr"/>
            <a:lstStyle/>
            <a:p>
              <a:endParaRPr lang="en-US"/>
            </a:p>
          </p:txBody>
        </p:sp>
        <p:sp>
          <p:nvSpPr>
            <p:cNvPr id="2084" name="Line 36"/>
            <p:cNvSpPr>
              <a:spLocks noChangeShapeType="1"/>
            </p:cNvSpPr>
            <p:nvPr/>
          </p:nvSpPr>
          <p:spPr bwMode="auto">
            <a:xfrm>
              <a:off x="384" y="4560"/>
              <a:ext cx="3880" cy="0"/>
            </a:xfrm>
            <a:prstGeom prst="line">
              <a:avLst/>
            </a:prstGeom>
            <a:noFill/>
            <a:ln w="12700">
              <a:solidFill>
                <a:schemeClr val="tx1"/>
              </a:solidFill>
              <a:round/>
              <a:headEnd/>
              <a:tailEnd/>
            </a:ln>
            <a:effectLst/>
          </p:spPr>
          <p:txBody>
            <a:bodyPr wrap="none" anchor="ctr"/>
            <a:lstStyle/>
            <a:p>
              <a:endParaRPr lang="en-US"/>
            </a:p>
          </p:txBody>
        </p:sp>
        <p:sp>
          <p:nvSpPr>
            <p:cNvPr id="2085" name="Line 37"/>
            <p:cNvSpPr>
              <a:spLocks noChangeShapeType="1"/>
            </p:cNvSpPr>
            <p:nvPr/>
          </p:nvSpPr>
          <p:spPr bwMode="auto">
            <a:xfrm>
              <a:off x="384" y="4704"/>
              <a:ext cx="3880" cy="0"/>
            </a:xfrm>
            <a:prstGeom prst="line">
              <a:avLst/>
            </a:prstGeom>
            <a:noFill/>
            <a:ln w="12700">
              <a:solidFill>
                <a:schemeClr val="tx1"/>
              </a:solidFill>
              <a:round/>
              <a:headEnd/>
              <a:tailEnd/>
            </a:ln>
            <a:effectLst/>
          </p:spPr>
          <p:txBody>
            <a:bodyPr wrap="none" anchor="ctr"/>
            <a:lstStyle/>
            <a:p>
              <a:endParaRPr lang="en-US"/>
            </a:p>
          </p:txBody>
        </p:sp>
        <p:sp>
          <p:nvSpPr>
            <p:cNvPr id="2086" name="Line 38"/>
            <p:cNvSpPr>
              <a:spLocks noChangeShapeType="1"/>
            </p:cNvSpPr>
            <p:nvPr/>
          </p:nvSpPr>
          <p:spPr bwMode="auto">
            <a:xfrm>
              <a:off x="384" y="4416"/>
              <a:ext cx="3880" cy="0"/>
            </a:xfrm>
            <a:prstGeom prst="line">
              <a:avLst/>
            </a:prstGeom>
            <a:noFill/>
            <a:ln w="12700">
              <a:solidFill>
                <a:schemeClr val="tx1"/>
              </a:solidFill>
              <a:round/>
              <a:headEnd/>
              <a:tailEnd/>
            </a:ln>
            <a:effectLst/>
          </p:spPr>
          <p:txBody>
            <a:bodyPr wrap="none" anchor="ctr"/>
            <a:lstStyle/>
            <a:p>
              <a:endParaRPr lang="en-US"/>
            </a:p>
          </p:txBody>
        </p:sp>
        <p:sp>
          <p:nvSpPr>
            <p:cNvPr id="2087" name="Line 39"/>
            <p:cNvSpPr>
              <a:spLocks noChangeShapeType="1"/>
            </p:cNvSpPr>
            <p:nvPr/>
          </p:nvSpPr>
          <p:spPr bwMode="auto">
            <a:xfrm>
              <a:off x="384" y="4272"/>
              <a:ext cx="3880" cy="0"/>
            </a:xfrm>
            <a:prstGeom prst="line">
              <a:avLst/>
            </a:prstGeom>
            <a:noFill/>
            <a:ln w="12700">
              <a:solidFill>
                <a:schemeClr val="tx1"/>
              </a:solidFill>
              <a:round/>
              <a:headEnd/>
              <a:tailEnd/>
            </a:ln>
            <a:effectLst/>
          </p:spPr>
          <p:txBody>
            <a:bodyPr wrap="none" anchor="ctr"/>
            <a:lstStyle/>
            <a:p>
              <a:endParaRPr lang="en-US"/>
            </a:p>
          </p:txBody>
        </p:sp>
        <p:sp>
          <p:nvSpPr>
            <p:cNvPr id="2088" name="Line 40"/>
            <p:cNvSpPr>
              <a:spLocks noChangeShapeType="1"/>
            </p:cNvSpPr>
            <p:nvPr/>
          </p:nvSpPr>
          <p:spPr bwMode="auto">
            <a:xfrm>
              <a:off x="392" y="4848"/>
              <a:ext cx="3880" cy="0"/>
            </a:xfrm>
            <a:prstGeom prst="line">
              <a:avLst/>
            </a:prstGeom>
            <a:noFill/>
            <a:ln w="12700">
              <a:solidFill>
                <a:schemeClr val="tx1"/>
              </a:solidFill>
              <a:round/>
              <a:headEnd/>
              <a:tailEnd/>
            </a:ln>
            <a:effectLst/>
          </p:spPr>
          <p:txBody>
            <a:bodyPr wrap="none" anchor="ctr"/>
            <a:lstStyle/>
            <a:p>
              <a:endParaRPr lang="en-US"/>
            </a:p>
          </p:txBody>
        </p:sp>
        <p:sp>
          <p:nvSpPr>
            <p:cNvPr id="2089" name="Line 41"/>
            <p:cNvSpPr>
              <a:spLocks noChangeShapeType="1"/>
            </p:cNvSpPr>
            <p:nvPr/>
          </p:nvSpPr>
          <p:spPr bwMode="auto">
            <a:xfrm>
              <a:off x="392" y="5280"/>
              <a:ext cx="3880" cy="0"/>
            </a:xfrm>
            <a:prstGeom prst="line">
              <a:avLst/>
            </a:prstGeom>
            <a:noFill/>
            <a:ln w="12700">
              <a:solidFill>
                <a:schemeClr val="tx1"/>
              </a:solidFill>
              <a:round/>
              <a:headEnd/>
              <a:tailEnd/>
            </a:ln>
            <a:effectLst/>
          </p:spPr>
          <p:txBody>
            <a:bodyPr wrap="none" anchor="ctr"/>
            <a:lstStyle/>
            <a:p>
              <a:endParaRPr lang="en-US"/>
            </a:p>
          </p:txBody>
        </p:sp>
        <p:sp>
          <p:nvSpPr>
            <p:cNvPr id="2090" name="Line 42"/>
            <p:cNvSpPr>
              <a:spLocks noChangeShapeType="1"/>
            </p:cNvSpPr>
            <p:nvPr/>
          </p:nvSpPr>
          <p:spPr bwMode="auto">
            <a:xfrm>
              <a:off x="392" y="5424"/>
              <a:ext cx="3880" cy="0"/>
            </a:xfrm>
            <a:prstGeom prst="line">
              <a:avLst/>
            </a:prstGeom>
            <a:noFill/>
            <a:ln w="12700">
              <a:solidFill>
                <a:schemeClr val="tx1"/>
              </a:solidFill>
              <a:round/>
              <a:headEnd/>
              <a:tailEnd/>
            </a:ln>
            <a:effectLst/>
          </p:spPr>
          <p:txBody>
            <a:bodyPr wrap="none" anchor="ctr"/>
            <a:lstStyle/>
            <a:p>
              <a:endParaRPr lang="en-US"/>
            </a:p>
          </p:txBody>
        </p:sp>
        <p:sp>
          <p:nvSpPr>
            <p:cNvPr id="2091" name="Line 43"/>
            <p:cNvSpPr>
              <a:spLocks noChangeShapeType="1"/>
            </p:cNvSpPr>
            <p:nvPr/>
          </p:nvSpPr>
          <p:spPr bwMode="auto">
            <a:xfrm>
              <a:off x="392" y="5136"/>
              <a:ext cx="3880" cy="0"/>
            </a:xfrm>
            <a:prstGeom prst="line">
              <a:avLst/>
            </a:prstGeom>
            <a:noFill/>
            <a:ln w="12700">
              <a:solidFill>
                <a:schemeClr val="tx1"/>
              </a:solidFill>
              <a:round/>
              <a:headEnd/>
              <a:tailEnd/>
            </a:ln>
            <a:effectLst/>
          </p:spPr>
          <p:txBody>
            <a:bodyPr wrap="none" anchor="ctr"/>
            <a:lstStyle/>
            <a:p>
              <a:endParaRPr lang="en-US"/>
            </a:p>
          </p:txBody>
        </p:sp>
        <p:sp>
          <p:nvSpPr>
            <p:cNvPr id="2092" name="Line 44"/>
            <p:cNvSpPr>
              <a:spLocks noChangeShapeType="1"/>
            </p:cNvSpPr>
            <p:nvPr/>
          </p:nvSpPr>
          <p:spPr bwMode="auto">
            <a:xfrm>
              <a:off x="392" y="4992"/>
              <a:ext cx="3880" cy="0"/>
            </a:xfrm>
            <a:prstGeom prst="line">
              <a:avLst/>
            </a:prstGeom>
            <a:noFill/>
            <a:ln w="12700">
              <a:solidFill>
                <a:schemeClr val="tx1"/>
              </a:solidFill>
              <a:round/>
              <a:headEnd/>
              <a:tailEnd/>
            </a:ln>
            <a:effectLst/>
          </p:spPr>
          <p:txBody>
            <a:bodyPr wrap="none" anchor="ctr"/>
            <a:lstStyle/>
            <a:p>
              <a:endParaRPr lang="en-US"/>
            </a:p>
          </p:txBody>
        </p:sp>
      </p:grpSp>
      <p:sp>
        <p:nvSpPr>
          <p:cNvPr id="2093" name="Text Box 45"/>
          <p:cNvSpPr txBox="1">
            <a:spLocks noChangeArrowheads="1"/>
          </p:cNvSpPr>
          <p:nvPr/>
        </p:nvSpPr>
        <p:spPr bwMode="auto">
          <a:xfrm>
            <a:off x="723900" y="4495800"/>
            <a:ext cx="717550" cy="339725"/>
          </a:xfrm>
          <a:prstGeom prst="rect">
            <a:avLst/>
          </a:prstGeom>
          <a:noFill/>
          <a:ln w="12700">
            <a:noFill/>
            <a:miter lim="800000"/>
            <a:headEnd/>
            <a:tailEnd/>
          </a:ln>
          <a:effectLst/>
        </p:spPr>
        <p:txBody>
          <a:bodyPr wrap="none" lIns="94225" tIns="47112" rIns="94225" bIns="47112" anchor="ctr">
            <a:spAutoFit/>
          </a:bodyPr>
          <a:lstStyle/>
          <a:p>
            <a:pPr defTabSz="941388">
              <a:spcBef>
                <a:spcPct val="50000"/>
              </a:spcBef>
            </a:pPr>
            <a:r>
              <a:rPr lang="en-US" sz="1600">
                <a:latin typeface="BankGothic Md BT" pitchFamily="34" charset="0"/>
              </a:rPr>
              <a:t>Notes</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1058" name="Rectangle 2"/>
          <p:cNvSpPr>
            <a:spLocks noChangeArrowheads="1" noTextEdit="1"/>
          </p:cNvSpPr>
          <p:nvPr>
            <p:ph type="sldImg"/>
          </p:nvPr>
        </p:nvSpPr>
        <p:spPr bwMode="auto">
          <a:xfrm>
            <a:off x="1192213" y="703263"/>
            <a:ext cx="4630737" cy="3473450"/>
          </a:xfrm>
          <a:prstGeom prst="rect">
            <a:avLst/>
          </a:prstGeom>
          <a:solidFill>
            <a:srgbClr val="FFFFFF"/>
          </a:solidFill>
          <a:ln>
            <a:solidFill>
              <a:srgbClr val="000000"/>
            </a:solidFill>
            <a:miter lim="800000"/>
            <a:headEnd/>
            <a:tailEnd/>
          </a:ln>
        </p:spPr>
      </p:sp>
      <p:sp>
        <p:nvSpPr>
          <p:cNvPr id="1581059" name="Rectangle 3"/>
          <p:cNvSpPr>
            <a:spLocks noGrp="1" noChangeArrowheads="1"/>
          </p:cNvSpPr>
          <p:nvPr>
            <p:ph type="body" idx="1"/>
          </p:nvPr>
        </p:nvSpPr>
        <p:spPr bwMode="auto">
          <a:xfrm>
            <a:off x="912813" y="4419600"/>
            <a:ext cx="5184775" cy="4191000"/>
          </a:xfrm>
          <a:prstGeom prst="rect">
            <a:avLst/>
          </a:prstGeom>
          <a:noFill/>
          <a:ln>
            <a:miter lim="800000"/>
            <a:headEnd/>
            <a:tailEnd/>
          </a:ln>
        </p:spPr>
        <p:txBody>
          <a:bodyPr lIns="91363" tIns="45681" rIns="91363" bIns="45681"/>
          <a:lstStyle/>
          <a:p>
            <a:endParaRPr lang="en-US"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16425"/>
            <a:ext cx="5607050" cy="4183063"/>
          </a:xfrm>
          <a:prstGeom prst="rect">
            <a:avLst/>
          </a:prstGeom>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16425"/>
            <a:ext cx="5607050" cy="4183063"/>
          </a:xfrm>
          <a:prstGeom prst="rect">
            <a:avLst/>
          </a:prstGeom>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16425"/>
            <a:ext cx="5607050" cy="4183063"/>
          </a:xfrm>
          <a:prstGeom prst="rect">
            <a:avLst/>
          </a:prstGeom>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58069" name="Rectangle 21"/>
          <p:cNvSpPr>
            <a:spLocks noChangeArrowheads="1"/>
          </p:cNvSpPr>
          <p:nvPr userDrawn="1"/>
        </p:nvSpPr>
        <p:spPr bwMode="auto">
          <a:xfrm>
            <a:off x="3638550" y="3138488"/>
            <a:ext cx="9144000" cy="0"/>
          </a:xfrm>
          <a:prstGeom prst="rect">
            <a:avLst/>
          </a:prstGeom>
          <a:noFill/>
          <a:ln w="9525">
            <a:noFill/>
            <a:miter lim="800000"/>
            <a:headEnd/>
            <a:tailEnd/>
          </a:ln>
          <a:effectLst/>
        </p:spPr>
        <p:txBody>
          <a:bodyPr>
            <a:spAutoFit/>
          </a:bodyPr>
          <a:lstStyle/>
          <a:p>
            <a:endParaRPr lang="en-US"/>
          </a:p>
        </p:txBody>
      </p:sp>
      <p:grpSp>
        <p:nvGrpSpPr>
          <p:cNvPr id="258073" name="Group 25"/>
          <p:cNvGrpSpPr>
            <a:grpSpLocks/>
          </p:cNvGrpSpPr>
          <p:nvPr userDrawn="1"/>
        </p:nvGrpSpPr>
        <p:grpSpPr bwMode="auto">
          <a:xfrm>
            <a:off x="2300288" y="5942013"/>
            <a:ext cx="4740275" cy="788987"/>
            <a:chOff x="1449" y="3743"/>
            <a:chExt cx="2986" cy="497"/>
          </a:xfrm>
        </p:grpSpPr>
        <p:sp>
          <p:nvSpPr>
            <p:cNvPr id="258074" name="Rectangle 26"/>
            <p:cNvSpPr>
              <a:spLocks noChangeArrowheads="1"/>
            </p:cNvSpPr>
            <p:nvPr userDrawn="1"/>
          </p:nvSpPr>
          <p:spPr bwMode="auto">
            <a:xfrm>
              <a:off x="1489" y="3960"/>
              <a:ext cx="2500" cy="86"/>
            </a:xfrm>
            <a:prstGeom prst="rect">
              <a:avLst/>
            </a:prstGeom>
            <a:noFill/>
            <a:ln w="9525">
              <a:noFill/>
              <a:miter lim="800000"/>
              <a:headEnd/>
              <a:tailEnd/>
            </a:ln>
          </p:spPr>
          <p:txBody>
            <a:bodyPr lIns="0" tIns="0" rIns="0" bIns="0"/>
            <a:lstStyle/>
            <a:p>
              <a:r>
                <a:rPr lang="en-US">
                  <a:solidFill>
                    <a:srgbClr val="ADC299"/>
                  </a:solidFill>
                </a:rPr>
                <a:t>Leverage MarkITS for agile solutions delivery that balances strategic</a:t>
              </a:r>
              <a:endParaRPr lang="en-US"/>
            </a:p>
          </p:txBody>
        </p:sp>
        <p:sp>
          <p:nvSpPr>
            <p:cNvPr id="258075" name="Rectangle 27"/>
            <p:cNvSpPr>
              <a:spLocks noChangeArrowheads="1"/>
            </p:cNvSpPr>
            <p:nvPr userDrawn="1"/>
          </p:nvSpPr>
          <p:spPr bwMode="auto">
            <a:xfrm>
              <a:off x="1489" y="4084"/>
              <a:ext cx="2508" cy="86"/>
            </a:xfrm>
            <a:prstGeom prst="rect">
              <a:avLst/>
            </a:prstGeom>
            <a:noFill/>
            <a:ln w="9525">
              <a:noFill/>
              <a:miter lim="800000"/>
              <a:headEnd/>
              <a:tailEnd/>
            </a:ln>
          </p:spPr>
          <p:txBody>
            <a:bodyPr lIns="0" tIns="0" rIns="0" bIns="0"/>
            <a:lstStyle/>
            <a:p>
              <a:r>
                <a:rPr lang="en-US">
                  <a:solidFill>
                    <a:srgbClr val="ADC299"/>
                  </a:solidFill>
                </a:rPr>
                <a:t>thinking with tactical execution for “Business &amp; Technology Convergence”</a:t>
              </a:r>
              <a:endParaRPr lang="en-US"/>
            </a:p>
          </p:txBody>
        </p:sp>
        <p:grpSp>
          <p:nvGrpSpPr>
            <p:cNvPr id="258076" name="Group 28"/>
            <p:cNvGrpSpPr>
              <a:grpSpLocks/>
            </p:cNvGrpSpPr>
            <p:nvPr userDrawn="1"/>
          </p:nvGrpSpPr>
          <p:grpSpPr bwMode="auto">
            <a:xfrm>
              <a:off x="4051" y="3743"/>
              <a:ext cx="384" cy="497"/>
              <a:chOff x="4099" y="3759"/>
              <a:chExt cx="384" cy="497"/>
            </a:xfrm>
          </p:grpSpPr>
          <p:sp>
            <p:nvSpPr>
              <p:cNvPr id="258077" name="Freeform 29"/>
              <p:cNvSpPr>
                <a:spLocks/>
              </p:cNvSpPr>
              <p:nvPr userDrawn="1"/>
            </p:nvSpPr>
            <p:spPr bwMode="auto">
              <a:xfrm>
                <a:off x="4144" y="4112"/>
                <a:ext cx="288" cy="144"/>
              </a:xfrm>
              <a:custGeom>
                <a:avLst/>
                <a:gdLst/>
                <a:ahLst/>
                <a:cxnLst>
                  <a:cxn ang="0">
                    <a:pos x="171" y="0"/>
                  </a:cxn>
                  <a:cxn ang="0">
                    <a:pos x="155" y="19"/>
                  </a:cxn>
                  <a:cxn ang="0">
                    <a:pos x="171" y="19"/>
                  </a:cxn>
                  <a:cxn ang="0">
                    <a:pos x="171" y="36"/>
                  </a:cxn>
                  <a:cxn ang="0">
                    <a:pos x="138" y="36"/>
                  </a:cxn>
                  <a:cxn ang="0">
                    <a:pos x="119" y="55"/>
                  </a:cxn>
                  <a:cxn ang="0">
                    <a:pos x="174" y="55"/>
                  </a:cxn>
                  <a:cxn ang="0">
                    <a:pos x="174" y="72"/>
                  </a:cxn>
                  <a:cxn ang="0">
                    <a:pos x="102" y="72"/>
                  </a:cxn>
                  <a:cxn ang="0">
                    <a:pos x="83" y="91"/>
                  </a:cxn>
                  <a:cxn ang="0">
                    <a:pos x="174" y="91"/>
                  </a:cxn>
                  <a:cxn ang="0">
                    <a:pos x="174" y="108"/>
                  </a:cxn>
                  <a:cxn ang="0">
                    <a:pos x="64" y="108"/>
                  </a:cxn>
                  <a:cxn ang="0">
                    <a:pos x="44" y="130"/>
                  </a:cxn>
                  <a:cxn ang="0">
                    <a:pos x="174" y="130"/>
                  </a:cxn>
                  <a:cxn ang="0">
                    <a:pos x="174" y="149"/>
                  </a:cxn>
                  <a:cxn ang="0">
                    <a:pos x="22" y="149"/>
                  </a:cxn>
                  <a:cxn ang="0">
                    <a:pos x="0" y="171"/>
                  </a:cxn>
                  <a:cxn ang="0">
                    <a:pos x="340" y="169"/>
                  </a:cxn>
                  <a:cxn ang="0">
                    <a:pos x="171" y="0"/>
                  </a:cxn>
                </a:cxnLst>
                <a:rect l="0" t="0" r="r" b="b"/>
                <a:pathLst>
                  <a:path w="340" h="171">
                    <a:moveTo>
                      <a:pt x="171" y="0"/>
                    </a:moveTo>
                    <a:lnTo>
                      <a:pt x="155" y="19"/>
                    </a:lnTo>
                    <a:lnTo>
                      <a:pt x="171" y="19"/>
                    </a:lnTo>
                    <a:lnTo>
                      <a:pt x="171" y="36"/>
                    </a:lnTo>
                    <a:lnTo>
                      <a:pt x="138" y="36"/>
                    </a:lnTo>
                    <a:lnTo>
                      <a:pt x="119" y="55"/>
                    </a:lnTo>
                    <a:lnTo>
                      <a:pt x="174" y="55"/>
                    </a:lnTo>
                    <a:lnTo>
                      <a:pt x="174" y="72"/>
                    </a:lnTo>
                    <a:lnTo>
                      <a:pt x="102" y="72"/>
                    </a:lnTo>
                    <a:lnTo>
                      <a:pt x="83" y="91"/>
                    </a:lnTo>
                    <a:lnTo>
                      <a:pt x="174" y="91"/>
                    </a:lnTo>
                    <a:lnTo>
                      <a:pt x="174" y="108"/>
                    </a:lnTo>
                    <a:lnTo>
                      <a:pt x="64" y="108"/>
                    </a:lnTo>
                    <a:lnTo>
                      <a:pt x="44" y="130"/>
                    </a:lnTo>
                    <a:lnTo>
                      <a:pt x="174" y="130"/>
                    </a:lnTo>
                    <a:lnTo>
                      <a:pt x="174" y="149"/>
                    </a:lnTo>
                    <a:lnTo>
                      <a:pt x="22" y="149"/>
                    </a:lnTo>
                    <a:lnTo>
                      <a:pt x="0" y="171"/>
                    </a:lnTo>
                    <a:lnTo>
                      <a:pt x="340" y="169"/>
                    </a:lnTo>
                    <a:lnTo>
                      <a:pt x="171" y="0"/>
                    </a:lnTo>
                    <a:close/>
                  </a:path>
                </a:pathLst>
              </a:custGeom>
              <a:solidFill>
                <a:srgbClr val="000000"/>
              </a:solidFill>
              <a:ln w="9525">
                <a:noFill/>
                <a:round/>
                <a:headEnd/>
                <a:tailEnd/>
              </a:ln>
            </p:spPr>
            <p:txBody>
              <a:bodyPr/>
              <a:lstStyle/>
              <a:p>
                <a:endParaRPr lang="en-US"/>
              </a:p>
            </p:txBody>
          </p:sp>
          <p:pic>
            <p:nvPicPr>
              <p:cNvPr id="258078" name="Picture 30"/>
              <p:cNvPicPr>
                <a:picLocks noChangeAspect="1" noChangeArrowheads="1"/>
              </p:cNvPicPr>
              <p:nvPr userDrawn="1"/>
            </p:nvPicPr>
            <p:blipFill>
              <a:blip r:embed="rId2" cstate="print"/>
              <a:srcRect/>
              <a:stretch>
                <a:fillRect/>
              </a:stretch>
            </p:blipFill>
            <p:spPr bwMode="auto">
              <a:xfrm>
                <a:off x="4099" y="3759"/>
                <a:ext cx="384" cy="368"/>
              </a:xfrm>
              <a:prstGeom prst="rect">
                <a:avLst/>
              </a:prstGeom>
              <a:noFill/>
              <a:ln w="9525">
                <a:noFill/>
                <a:miter lim="800000"/>
                <a:headEnd/>
                <a:tailEnd/>
              </a:ln>
            </p:spPr>
          </p:pic>
        </p:grpSp>
        <p:sp>
          <p:nvSpPr>
            <p:cNvPr id="258079" name="Rectangle 31"/>
            <p:cNvSpPr>
              <a:spLocks noChangeArrowheads="1"/>
            </p:cNvSpPr>
            <p:nvPr userDrawn="1"/>
          </p:nvSpPr>
          <p:spPr bwMode="auto">
            <a:xfrm>
              <a:off x="1449" y="4061"/>
              <a:ext cx="2724" cy="15"/>
            </a:xfrm>
            <a:prstGeom prst="rect">
              <a:avLst/>
            </a:prstGeom>
            <a:solidFill>
              <a:srgbClr val="008000"/>
            </a:solidFill>
            <a:ln w="9525">
              <a:noFill/>
              <a:miter lim="800000"/>
              <a:headEnd/>
              <a:tailEnd/>
            </a:ln>
          </p:spPr>
          <p:txBody>
            <a:bodyPr/>
            <a:lstStyle/>
            <a:p>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98500" y="1257300"/>
            <a:ext cx="3810000" cy="4838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60900" y="1257300"/>
            <a:ext cx="3810000" cy="4838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36513"/>
            <a:ext cx="1943100" cy="60594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98500" y="36513"/>
            <a:ext cx="5676900" cy="60594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36513"/>
            <a:ext cx="7772400" cy="60594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7074" name="Rectangle 50"/>
          <p:cNvSpPr>
            <a:spLocks noChangeArrowheads="1"/>
          </p:cNvSpPr>
          <p:nvPr userDrawn="1"/>
        </p:nvSpPr>
        <p:spPr bwMode="auto">
          <a:xfrm>
            <a:off x="0" y="0"/>
            <a:ext cx="9144000" cy="889000"/>
          </a:xfrm>
          <a:prstGeom prst="rect">
            <a:avLst/>
          </a:prstGeom>
          <a:solidFill>
            <a:srgbClr val="EFFFF0"/>
          </a:solidFill>
          <a:ln w="9525">
            <a:noFill/>
            <a:miter lim="800000"/>
            <a:headEnd/>
            <a:tailEnd/>
          </a:ln>
          <a:effectLst/>
        </p:spPr>
        <p:txBody>
          <a:bodyPr wrap="none" anchor="ctr"/>
          <a:lstStyle/>
          <a:p>
            <a:endParaRPr lang="en-US"/>
          </a:p>
        </p:txBody>
      </p:sp>
      <p:sp>
        <p:nvSpPr>
          <p:cNvPr id="257026" name="Rectangle 2"/>
          <p:cNvSpPr>
            <a:spLocks noGrp="1" noChangeArrowheads="1"/>
          </p:cNvSpPr>
          <p:nvPr>
            <p:ph type="title"/>
          </p:nvPr>
        </p:nvSpPr>
        <p:spPr bwMode="auto">
          <a:xfrm>
            <a:off x="1536700" y="36513"/>
            <a:ext cx="6019800" cy="762000"/>
          </a:xfrm>
          <a:prstGeom prst="rect">
            <a:avLst/>
          </a:prstGeom>
          <a:noFill/>
          <a:ln w="9525">
            <a:noFill/>
            <a:miter lim="800000"/>
            <a:headEnd/>
            <a:tailEnd/>
          </a:ln>
          <a:effectLst/>
        </p:spPr>
        <p:txBody>
          <a:bodyPr vert="horz" wrap="square" lIns="137160" tIns="45720" rIns="137160" bIns="45720" numCol="1" anchor="ctr" anchorCtr="0" compatLnSpc="1">
            <a:prstTxWarp prst="textNoShape">
              <a:avLst/>
            </a:prstTxWarp>
            <a:spAutoFit/>
          </a:bodyPr>
          <a:lstStyle/>
          <a:p>
            <a:pPr lvl="0"/>
            <a:r>
              <a:rPr lang="en-US" smtClean="0"/>
              <a:t>Click to edit Master</a:t>
            </a:r>
          </a:p>
        </p:txBody>
      </p:sp>
      <p:sp>
        <p:nvSpPr>
          <p:cNvPr id="257027" name="Rectangle 3"/>
          <p:cNvSpPr>
            <a:spLocks noGrp="1" noChangeArrowheads="1"/>
          </p:cNvSpPr>
          <p:nvPr>
            <p:ph type="body" idx="1"/>
          </p:nvPr>
        </p:nvSpPr>
        <p:spPr bwMode="auto">
          <a:xfrm>
            <a:off x="698500" y="1257300"/>
            <a:ext cx="7772400" cy="4838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7071" name="Rectangle 47"/>
          <p:cNvSpPr>
            <a:spLocks noChangeArrowheads="1"/>
          </p:cNvSpPr>
          <p:nvPr userDrawn="1"/>
        </p:nvSpPr>
        <p:spPr bwMode="auto">
          <a:xfrm>
            <a:off x="3638550" y="3138488"/>
            <a:ext cx="9144000" cy="0"/>
          </a:xfrm>
          <a:prstGeom prst="rect">
            <a:avLst/>
          </a:prstGeom>
          <a:noFill/>
          <a:ln w="9525">
            <a:noFill/>
            <a:miter lim="800000"/>
            <a:headEnd/>
            <a:tailEnd/>
          </a:ln>
          <a:effectLst/>
        </p:spPr>
        <p:txBody>
          <a:bodyPr>
            <a:spAutoFit/>
          </a:bodyPr>
          <a:lstStyle/>
          <a:p>
            <a:endParaRPr lang="en-US"/>
          </a:p>
        </p:txBody>
      </p:sp>
      <p:sp>
        <p:nvSpPr>
          <p:cNvPr id="257075" name="Line 51"/>
          <p:cNvSpPr>
            <a:spLocks noChangeShapeType="1"/>
          </p:cNvSpPr>
          <p:nvPr userDrawn="1"/>
        </p:nvSpPr>
        <p:spPr bwMode="auto">
          <a:xfrm>
            <a:off x="0" y="884238"/>
            <a:ext cx="9144000" cy="11112"/>
          </a:xfrm>
          <a:prstGeom prst="line">
            <a:avLst/>
          </a:prstGeom>
          <a:noFill/>
          <a:ln w="19050">
            <a:solidFill>
              <a:srgbClr val="339765"/>
            </a:solidFill>
            <a:round/>
            <a:headEnd/>
            <a:tailEnd/>
          </a:ln>
          <a:effectLst/>
        </p:spPr>
        <p:txBody>
          <a:bodyPr wrap="none" anchor="ctr"/>
          <a:lstStyle/>
          <a:p>
            <a:endParaRPr lang="en-US"/>
          </a:p>
        </p:txBody>
      </p:sp>
      <p:grpSp>
        <p:nvGrpSpPr>
          <p:cNvPr id="257083" name="Group 59"/>
          <p:cNvGrpSpPr>
            <a:grpSpLocks/>
          </p:cNvGrpSpPr>
          <p:nvPr userDrawn="1"/>
        </p:nvGrpSpPr>
        <p:grpSpPr bwMode="auto">
          <a:xfrm>
            <a:off x="2300288" y="5942013"/>
            <a:ext cx="4740275" cy="788987"/>
            <a:chOff x="1449" y="3743"/>
            <a:chExt cx="2986" cy="497"/>
          </a:xfrm>
        </p:grpSpPr>
        <p:sp>
          <p:nvSpPr>
            <p:cNvPr id="257084" name="Rectangle 60"/>
            <p:cNvSpPr>
              <a:spLocks noChangeArrowheads="1"/>
            </p:cNvSpPr>
            <p:nvPr userDrawn="1"/>
          </p:nvSpPr>
          <p:spPr bwMode="auto">
            <a:xfrm>
              <a:off x="1489" y="3960"/>
              <a:ext cx="2500" cy="86"/>
            </a:xfrm>
            <a:prstGeom prst="rect">
              <a:avLst/>
            </a:prstGeom>
            <a:noFill/>
            <a:ln w="9525">
              <a:noFill/>
              <a:miter lim="800000"/>
              <a:headEnd/>
              <a:tailEnd/>
            </a:ln>
          </p:spPr>
          <p:txBody>
            <a:bodyPr lIns="0" tIns="0" rIns="0" bIns="0"/>
            <a:lstStyle/>
            <a:p>
              <a:r>
                <a:rPr lang="en-US">
                  <a:solidFill>
                    <a:srgbClr val="ADC299"/>
                  </a:solidFill>
                </a:rPr>
                <a:t>Leverage MarkITS for agile solutions delivery that balances strategic</a:t>
              </a:r>
              <a:endParaRPr lang="en-US"/>
            </a:p>
          </p:txBody>
        </p:sp>
        <p:sp>
          <p:nvSpPr>
            <p:cNvPr id="257085" name="Rectangle 61"/>
            <p:cNvSpPr>
              <a:spLocks noChangeArrowheads="1"/>
            </p:cNvSpPr>
            <p:nvPr userDrawn="1"/>
          </p:nvSpPr>
          <p:spPr bwMode="auto">
            <a:xfrm>
              <a:off x="1489" y="4084"/>
              <a:ext cx="2508" cy="86"/>
            </a:xfrm>
            <a:prstGeom prst="rect">
              <a:avLst/>
            </a:prstGeom>
            <a:noFill/>
            <a:ln w="9525">
              <a:noFill/>
              <a:miter lim="800000"/>
              <a:headEnd/>
              <a:tailEnd/>
            </a:ln>
          </p:spPr>
          <p:txBody>
            <a:bodyPr lIns="0" tIns="0" rIns="0" bIns="0"/>
            <a:lstStyle/>
            <a:p>
              <a:r>
                <a:rPr lang="en-US">
                  <a:solidFill>
                    <a:srgbClr val="ADC299"/>
                  </a:solidFill>
                </a:rPr>
                <a:t>thinking with tactical execution for “Business &amp; Technology Convergence”</a:t>
              </a:r>
              <a:endParaRPr lang="en-US"/>
            </a:p>
          </p:txBody>
        </p:sp>
        <p:grpSp>
          <p:nvGrpSpPr>
            <p:cNvPr id="257086" name="Group 62"/>
            <p:cNvGrpSpPr>
              <a:grpSpLocks/>
            </p:cNvGrpSpPr>
            <p:nvPr userDrawn="1"/>
          </p:nvGrpSpPr>
          <p:grpSpPr bwMode="auto">
            <a:xfrm>
              <a:off x="4051" y="3743"/>
              <a:ext cx="384" cy="497"/>
              <a:chOff x="4099" y="3759"/>
              <a:chExt cx="384" cy="497"/>
            </a:xfrm>
          </p:grpSpPr>
          <p:sp>
            <p:nvSpPr>
              <p:cNvPr id="257087" name="Freeform 63"/>
              <p:cNvSpPr>
                <a:spLocks/>
              </p:cNvSpPr>
              <p:nvPr userDrawn="1"/>
            </p:nvSpPr>
            <p:spPr bwMode="auto">
              <a:xfrm>
                <a:off x="4144" y="4112"/>
                <a:ext cx="288" cy="144"/>
              </a:xfrm>
              <a:custGeom>
                <a:avLst/>
                <a:gdLst/>
                <a:ahLst/>
                <a:cxnLst>
                  <a:cxn ang="0">
                    <a:pos x="171" y="0"/>
                  </a:cxn>
                  <a:cxn ang="0">
                    <a:pos x="155" y="19"/>
                  </a:cxn>
                  <a:cxn ang="0">
                    <a:pos x="171" y="19"/>
                  </a:cxn>
                  <a:cxn ang="0">
                    <a:pos x="171" y="36"/>
                  </a:cxn>
                  <a:cxn ang="0">
                    <a:pos x="138" y="36"/>
                  </a:cxn>
                  <a:cxn ang="0">
                    <a:pos x="119" y="55"/>
                  </a:cxn>
                  <a:cxn ang="0">
                    <a:pos x="174" y="55"/>
                  </a:cxn>
                  <a:cxn ang="0">
                    <a:pos x="174" y="72"/>
                  </a:cxn>
                  <a:cxn ang="0">
                    <a:pos x="102" y="72"/>
                  </a:cxn>
                  <a:cxn ang="0">
                    <a:pos x="83" y="91"/>
                  </a:cxn>
                  <a:cxn ang="0">
                    <a:pos x="174" y="91"/>
                  </a:cxn>
                  <a:cxn ang="0">
                    <a:pos x="174" y="108"/>
                  </a:cxn>
                  <a:cxn ang="0">
                    <a:pos x="64" y="108"/>
                  </a:cxn>
                  <a:cxn ang="0">
                    <a:pos x="44" y="130"/>
                  </a:cxn>
                  <a:cxn ang="0">
                    <a:pos x="174" y="130"/>
                  </a:cxn>
                  <a:cxn ang="0">
                    <a:pos x="174" y="149"/>
                  </a:cxn>
                  <a:cxn ang="0">
                    <a:pos x="22" y="149"/>
                  </a:cxn>
                  <a:cxn ang="0">
                    <a:pos x="0" y="171"/>
                  </a:cxn>
                  <a:cxn ang="0">
                    <a:pos x="340" y="169"/>
                  </a:cxn>
                  <a:cxn ang="0">
                    <a:pos x="171" y="0"/>
                  </a:cxn>
                </a:cxnLst>
                <a:rect l="0" t="0" r="r" b="b"/>
                <a:pathLst>
                  <a:path w="340" h="171">
                    <a:moveTo>
                      <a:pt x="171" y="0"/>
                    </a:moveTo>
                    <a:lnTo>
                      <a:pt x="155" y="19"/>
                    </a:lnTo>
                    <a:lnTo>
                      <a:pt x="171" y="19"/>
                    </a:lnTo>
                    <a:lnTo>
                      <a:pt x="171" y="36"/>
                    </a:lnTo>
                    <a:lnTo>
                      <a:pt x="138" y="36"/>
                    </a:lnTo>
                    <a:lnTo>
                      <a:pt x="119" y="55"/>
                    </a:lnTo>
                    <a:lnTo>
                      <a:pt x="174" y="55"/>
                    </a:lnTo>
                    <a:lnTo>
                      <a:pt x="174" y="72"/>
                    </a:lnTo>
                    <a:lnTo>
                      <a:pt x="102" y="72"/>
                    </a:lnTo>
                    <a:lnTo>
                      <a:pt x="83" y="91"/>
                    </a:lnTo>
                    <a:lnTo>
                      <a:pt x="174" y="91"/>
                    </a:lnTo>
                    <a:lnTo>
                      <a:pt x="174" y="108"/>
                    </a:lnTo>
                    <a:lnTo>
                      <a:pt x="64" y="108"/>
                    </a:lnTo>
                    <a:lnTo>
                      <a:pt x="44" y="130"/>
                    </a:lnTo>
                    <a:lnTo>
                      <a:pt x="174" y="130"/>
                    </a:lnTo>
                    <a:lnTo>
                      <a:pt x="174" y="149"/>
                    </a:lnTo>
                    <a:lnTo>
                      <a:pt x="22" y="149"/>
                    </a:lnTo>
                    <a:lnTo>
                      <a:pt x="0" y="171"/>
                    </a:lnTo>
                    <a:lnTo>
                      <a:pt x="340" y="169"/>
                    </a:lnTo>
                    <a:lnTo>
                      <a:pt x="171" y="0"/>
                    </a:lnTo>
                    <a:close/>
                  </a:path>
                </a:pathLst>
              </a:custGeom>
              <a:solidFill>
                <a:srgbClr val="000000"/>
              </a:solidFill>
              <a:ln w="9525">
                <a:noFill/>
                <a:round/>
                <a:headEnd/>
                <a:tailEnd/>
              </a:ln>
            </p:spPr>
            <p:txBody>
              <a:bodyPr/>
              <a:lstStyle/>
              <a:p>
                <a:endParaRPr lang="en-US"/>
              </a:p>
            </p:txBody>
          </p:sp>
          <p:pic>
            <p:nvPicPr>
              <p:cNvPr id="257088" name="Picture 64"/>
              <p:cNvPicPr>
                <a:picLocks noChangeAspect="1" noChangeArrowheads="1"/>
              </p:cNvPicPr>
              <p:nvPr userDrawn="1"/>
            </p:nvPicPr>
            <p:blipFill>
              <a:blip r:embed="rId14" cstate="print"/>
              <a:srcRect/>
              <a:stretch>
                <a:fillRect/>
              </a:stretch>
            </p:blipFill>
            <p:spPr bwMode="auto">
              <a:xfrm>
                <a:off x="4099" y="3759"/>
                <a:ext cx="384" cy="368"/>
              </a:xfrm>
              <a:prstGeom prst="rect">
                <a:avLst/>
              </a:prstGeom>
              <a:noFill/>
              <a:ln w="9525">
                <a:noFill/>
                <a:miter lim="800000"/>
                <a:headEnd/>
                <a:tailEnd/>
              </a:ln>
            </p:spPr>
          </p:pic>
        </p:grpSp>
        <p:sp>
          <p:nvSpPr>
            <p:cNvPr id="257089" name="Rectangle 65"/>
            <p:cNvSpPr>
              <a:spLocks noChangeArrowheads="1"/>
            </p:cNvSpPr>
            <p:nvPr userDrawn="1"/>
          </p:nvSpPr>
          <p:spPr bwMode="auto">
            <a:xfrm>
              <a:off x="1449" y="4061"/>
              <a:ext cx="2724" cy="15"/>
            </a:xfrm>
            <a:prstGeom prst="rect">
              <a:avLst/>
            </a:prstGeom>
            <a:solidFill>
              <a:srgbClr val="008000"/>
            </a:solidFill>
            <a:ln w="9525">
              <a:noFill/>
              <a:miter lim="800000"/>
              <a:headEnd/>
              <a:tailEnd/>
            </a:ln>
          </p:spPr>
          <p:txBody>
            <a:bodyPr/>
            <a:lstStyle/>
            <a:p>
              <a:endParaRPr 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fontAlgn="base">
        <a:spcBef>
          <a:spcPct val="0"/>
        </a:spcBef>
        <a:spcAft>
          <a:spcPct val="0"/>
        </a:spcAft>
        <a:defRPr sz="4400" b="1">
          <a:solidFill>
            <a:schemeClr val="tx1"/>
          </a:solidFill>
          <a:latin typeface="+mj-lt"/>
          <a:ea typeface="+mj-ea"/>
          <a:cs typeface="+mj-cs"/>
        </a:defRPr>
      </a:lvl1pPr>
      <a:lvl2pPr algn="ctr" rtl="0" fontAlgn="base">
        <a:spcBef>
          <a:spcPct val="0"/>
        </a:spcBef>
        <a:spcAft>
          <a:spcPct val="0"/>
        </a:spcAft>
        <a:defRPr sz="4400" b="1">
          <a:solidFill>
            <a:schemeClr val="tx1"/>
          </a:solidFill>
          <a:latin typeface="Arial Narrow" pitchFamily="34" charset="0"/>
        </a:defRPr>
      </a:lvl2pPr>
      <a:lvl3pPr algn="ctr" rtl="0" fontAlgn="base">
        <a:spcBef>
          <a:spcPct val="0"/>
        </a:spcBef>
        <a:spcAft>
          <a:spcPct val="0"/>
        </a:spcAft>
        <a:defRPr sz="4400" b="1">
          <a:solidFill>
            <a:schemeClr val="tx1"/>
          </a:solidFill>
          <a:latin typeface="Arial Narrow" pitchFamily="34" charset="0"/>
        </a:defRPr>
      </a:lvl3pPr>
      <a:lvl4pPr algn="ctr" rtl="0" fontAlgn="base">
        <a:spcBef>
          <a:spcPct val="0"/>
        </a:spcBef>
        <a:spcAft>
          <a:spcPct val="0"/>
        </a:spcAft>
        <a:defRPr sz="4400" b="1">
          <a:solidFill>
            <a:schemeClr val="tx1"/>
          </a:solidFill>
          <a:latin typeface="Arial Narrow" pitchFamily="34" charset="0"/>
        </a:defRPr>
      </a:lvl4pPr>
      <a:lvl5pPr algn="ctr" rtl="0" fontAlgn="base">
        <a:spcBef>
          <a:spcPct val="0"/>
        </a:spcBef>
        <a:spcAft>
          <a:spcPct val="0"/>
        </a:spcAft>
        <a:defRPr sz="4400" b="1">
          <a:solidFill>
            <a:schemeClr val="tx1"/>
          </a:solidFill>
          <a:latin typeface="Arial Narrow" pitchFamily="34" charset="0"/>
        </a:defRPr>
      </a:lvl5pPr>
      <a:lvl6pPr marL="457200" algn="ctr" rtl="0" fontAlgn="base">
        <a:spcBef>
          <a:spcPct val="0"/>
        </a:spcBef>
        <a:spcAft>
          <a:spcPct val="0"/>
        </a:spcAft>
        <a:defRPr sz="4400" b="1">
          <a:solidFill>
            <a:schemeClr val="tx1"/>
          </a:solidFill>
          <a:latin typeface="Arial Narrow" pitchFamily="34" charset="0"/>
        </a:defRPr>
      </a:lvl6pPr>
      <a:lvl7pPr marL="914400" algn="ctr" rtl="0" fontAlgn="base">
        <a:spcBef>
          <a:spcPct val="0"/>
        </a:spcBef>
        <a:spcAft>
          <a:spcPct val="0"/>
        </a:spcAft>
        <a:defRPr sz="4400" b="1">
          <a:solidFill>
            <a:schemeClr val="tx1"/>
          </a:solidFill>
          <a:latin typeface="Arial Narrow" pitchFamily="34" charset="0"/>
        </a:defRPr>
      </a:lvl7pPr>
      <a:lvl8pPr marL="1371600" algn="ctr" rtl="0" fontAlgn="base">
        <a:spcBef>
          <a:spcPct val="0"/>
        </a:spcBef>
        <a:spcAft>
          <a:spcPct val="0"/>
        </a:spcAft>
        <a:defRPr sz="4400" b="1">
          <a:solidFill>
            <a:schemeClr val="tx1"/>
          </a:solidFill>
          <a:latin typeface="Arial Narrow" pitchFamily="34" charset="0"/>
        </a:defRPr>
      </a:lvl8pPr>
      <a:lvl9pPr marL="1828800" algn="ctr" rtl="0" fontAlgn="base">
        <a:spcBef>
          <a:spcPct val="0"/>
        </a:spcBef>
        <a:spcAft>
          <a:spcPct val="0"/>
        </a:spcAft>
        <a:defRPr sz="4400" b="1">
          <a:solidFill>
            <a:schemeClr val="tx1"/>
          </a:solidFill>
          <a:latin typeface="Arial Narrow" pitchFamily="34" charset="0"/>
        </a:defRPr>
      </a:lvl9pPr>
    </p:titleStyle>
    <p:bodyStyle>
      <a:lvl1pPr marL="292100" indent="-292100" algn="l" rtl="0" fontAlgn="base">
        <a:spcBef>
          <a:spcPct val="20000"/>
        </a:spcBef>
        <a:spcAft>
          <a:spcPct val="0"/>
        </a:spcAft>
        <a:buClr>
          <a:schemeClr val="folHlink"/>
        </a:buClr>
        <a:buSzPct val="120000"/>
        <a:buChar char="•"/>
        <a:defRPr sz="3200">
          <a:solidFill>
            <a:schemeClr val="tx1"/>
          </a:solidFill>
          <a:latin typeface="+mn-lt"/>
          <a:ea typeface="+mn-ea"/>
          <a:cs typeface="+mn-cs"/>
        </a:defRPr>
      </a:lvl1pPr>
      <a:lvl2pPr marL="800100" indent="-342900" algn="l" rtl="0" fontAlgn="base">
        <a:spcBef>
          <a:spcPct val="20000"/>
        </a:spcBef>
        <a:spcAft>
          <a:spcPct val="0"/>
        </a:spcAft>
        <a:buClr>
          <a:srgbClr val="339765"/>
        </a:buClr>
        <a:buFont typeface="Wingdings" pitchFamily="2" charset="2"/>
        <a:buChar char="Ø"/>
        <a:defRPr sz="2800">
          <a:solidFill>
            <a:schemeClr val="tx1"/>
          </a:solidFill>
          <a:latin typeface="+mn-lt"/>
        </a:defRPr>
      </a:lvl2pPr>
      <a:lvl3pPr marL="1143000" indent="-228600" algn="l" rtl="0" fontAlgn="base">
        <a:spcBef>
          <a:spcPct val="20000"/>
        </a:spcBef>
        <a:spcAft>
          <a:spcPct val="0"/>
        </a:spcAft>
        <a:buClr>
          <a:srgbClr val="A50021"/>
        </a:buClr>
        <a:buFont typeface="Wingdings" pitchFamily="2" charset="2"/>
        <a:buChar char="ü"/>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lr>
          <a:srgbClr val="FC6316"/>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rgbClr val="FC6316"/>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FC6316"/>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FC6316"/>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FC6316"/>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emf"/><Relationship Id="rId3" Type="http://schemas.openxmlformats.org/officeDocument/2006/relationships/image" Target="../media/image3.emf"/><Relationship Id="rId7" Type="http://schemas.openxmlformats.org/officeDocument/2006/relationships/image" Target="../media/image7.emf"/><Relationship Id="rId12" Type="http://schemas.openxmlformats.org/officeDocument/2006/relationships/image" Target="../media/image12.emf"/><Relationship Id="rId17" Type="http://schemas.openxmlformats.org/officeDocument/2006/relationships/image" Target="../media/image17.emf"/><Relationship Id="rId2" Type="http://schemas.openxmlformats.org/officeDocument/2006/relationships/notesSlide" Target="../notesSlides/notesSlide3.xml"/><Relationship Id="rId16"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image" Target="../media/image6.emf"/><Relationship Id="rId11" Type="http://schemas.openxmlformats.org/officeDocument/2006/relationships/image" Target="../media/image11.emf"/><Relationship Id="rId5" Type="http://schemas.openxmlformats.org/officeDocument/2006/relationships/image" Target="../media/image5.png"/><Relationship Id="rId15" Type="http://schemas.openxmlformats.org/officeDocument/2006/relationships/image" Target="../media/image15.emf"/><Relationship Id="rId10" Type="http://schemas.openxmlformats.org/officeDocument/2006/relationships/image" Target="../media/image10.emf"/><Relationship Id="rId4" Type="http://schemas.openxmlformats.org/officeDocument/2006/relationships/image" Target="../media/image4.emf"/><Relationship Id="rId9" Type="http://schemas.openxmlformats.org/officeDocument/2006/relationships/image" Target="../media/image9.png"/><Relationship Id="rId14" Type="http://schemas.openxmlformats.org/officeDocument/2006/relationships/image" Target="../media/image14.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mailto:Mark@MarkITS.co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0038" name="Rectangle 6"/>
          <p:cNvSpPr>
            <a:spLocks noChangeArrowheads="1"/>
          </p:cNvSpPr>
          <p:nvPr>
            <p:ph type="ctrTitle"/>
          </p:nvPr>
        </p:nvSpPr>
        <p:spPr bwMode="auto">
          <a:xfrm>
            <a:off x="1539875" y="1681163"/>
            <a:ext cx="6107113" cy="1581150"/>
          </a:xfrm>
          <a:prstGeom prst="rect">
            <a:avLst/>
          </a:prstGeom>
          <a:solidFill>
            <a:srgbClr val="FFFFFF"/>
          </a:solidFill>
          <a:ln>
            <a:miter lim="800000"/>
            <a:headEnd/>
            <a:tailEnd/>
          </a:ln>
        </p:spPr>
        <p:txBody>
          <a:bodyPr/>
          <a:lstStyle/>
          <a:p>
            <a:pPr>
              <a:lnSpc>
                <a:spcPct val="80000"/>
              </a:lnSpc>
              <a:spcBef>
                <a:spcPct val="100000"/>
              </a:spcBef>
            </a:pPr>
            <a:r>
              <a:rPr lang="en-US" sz="3600"/>
              <a:t>E</a:t>
            </a:r>
            <a:r>
              <a:rPr lang="en-US" sz="3200"/>
              <a:t>nterprise </a:t>
            </a:r>
            <a:r>
              <a:rPr lang="en-US" sz="3600"/>
              <a:t>A</a:t>
            </a:r>
            <a:r>
              <a:rPr lang="en-US" sz="3200"/>
              <a:t>rchitecture</a:t>
            </a:r>
            <a:br>
              <a:rPr lang="en-US" sz="3200"/>
            </a:br>
            <a:r>
              <a:rPr lang="en-US" sz="3200"/>
              <a:t>Services</a:t>
            </a:r>
            <a:br>
              <a:rPr lang="en-US" sz="3200"/>
            </a:br>
            <a:r>
              <a:rPr lang="en-US" sz="3200"/>
              <a:t/>
            </a:r>
            <a:br>
              <a:rPr lang="en-US" sz="3200"/>
            </a:br>
            <a:r>
              <a:rPr lang="en-US" sz="1200"/>
              <a:t>7/25/2005</a:t>
            </a:r>
            <a:r>
              <a:rPr lang="en-US" sz="3200"/>
              <a:t/>
            </a:r>
            <a:br>
              <a:rPr lang="en-US" sz="3200"/>
            </a:br>
            <a:endParaRPr lang="en-US" sz="10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23" name="Rectangle 3"/>
          <p:cNvSpPr>
            <a:spLocks noGrp="1" noChangeArrowheads="1"/>
          </p:cNvSpPr>
          <p:nvPr>
            <p:ph type="body" idx="1"/>
          </p:nvPr>
        </p:nvSpPr>
        <p:spPr>
          <a:xfrm>
            <a:off x="241300" y="1289050"/>
            <a:ext cx="8737600" cy="4775200"/>
          </a:xfrm>
          <a:noFill/>
        </p:spPr>
        <p:txBody>
          <a:bodyPr/>
          <a:lstStyle/>
          <a:p>
            <a:pPr marL="520700" lvl="1" indent="-292100">
              <a:lnSpc>
                <a:spcPct val="75000"/>
              </a:lnSpc>
              <a:buSzPct val="120000"/>
              <a:buFontTx/>
              <a:buNone/>
            </a:pPr>
            <a:r>
              <a:rPr lang="en-US" sz="2000" b="1"/>
              <a:t>Enterprise Architecture Services in a Nutshell</a:t>
            </a:r>
          </a:p>
          <a:p>
            <a:pPr marL="520700" lvl="1" indent="-292100">
              <a:lnSpc>
                <a:spcPct val="175000"/>
              </a:lnSpc>
              <a:buSzPct val="120000"/>
              <a:buFontTx/>
              <a:buNone/>
            </a:pPr>
            <a:r>
              <a:rPr lang="en-US" sz="2000" b="1">
                <a:solidFill>
                  <a:schemeClr val="bg2"/>
                </a:solidFill>
              </a:rPr>
              <a:t>“WHAT” is Architecture</a:t>
            </a:r>
          </a:p>
          <a:p>
            <a:pPr lvl="2">
              <a:lnSpc>
                <a:spcPct val="85000"/>
              </a:lnSpc>
              <a:spcBef>
                <a:spcPct val="0"/>
              </a:spcBef>
              <a:buClr>
                <a:schemeClr val="folHlink"/>
              </a:buClr>
              <a:buFont typeface="Wingdings" pitchFamily="2" charset="2"/>
              <a:buChar char="Ø"/>
            </a:pPr>
            <a:r>
              <a:rPr lang="en-US" sz="1800">
                <a:solidFill>
                  <a:schemeClr val="bg2"/>
                </a:solidFill>
              </a:rPr>
              <a:t>Goals </a:t>
            </a:r>
          </a:p>
          <a:p>
            <a:pPr lvl="2">
              <a:lnSpc>
                <a:spcPct val="85000"/>
              </a:lnSpc>
              <a:spcBef>
                <a:spcPct val="0"/>
              </a:spcBef>
              <a:buClr>
                <a:schemeClr val="folHlink"/>
              </a:buClr>
              <a:buFont typeface="Wingdings" pitchFamily="2" charset="2"/>
              <a:buChar char="Ø"/>
            </a:pPr>
            <a:r>
              <a:rPr lang="en-US" sz="1800">
                <a:solidFill>
                  <a:schemeClr val="bg2"/>
                </a:solidFill>
              </a:rPr>
              <a:t>Scope</a:t>
            </a:r>
          </a:p>
          <a:p>
            <a:pPr lvl="2">
              <a:lnSpc>
                <a:spcPct val="85000"/>
              </a:lnSpc>
              <a:spcBef>
                <a:spcPct val="0"/>
              </a:spcBef>
              <a:buClr>
                <a:schemeClr val="folHlink"/>
              </a:buClr>
              <a:buFont typeface="Wingdings" pitchFamily="2" charset="2"/>
              <a:buChar char="Ø"/>
            </a:pPr>
            <a:r>
              <a:rPr lang="en-US" sz="1800">
                <a:solidFill>
                  <a:schemeClr val="bg2"/>
                </a:solidFill>
              </a:rPr>
              <a:t>Operations</a:t>
            </a:r>
          </a:p>
          <a:p>
            <a:pPr lvl="2">
              <a:lnSpc>
                <a:spcPct val="85000"/>
              </a:lnSpc>
              <a:spcBef>
                <a:spcPct val="0"/>
              </a:spcBef>
              <a:buClr>
                <a:schemeClr val="folHlink"/>
              </a:buClr>
              <a:buFont typeface="Wingdings" pitchFamily="2" charset="2"/>
              <a:buChar char="Ø"/>
            </a:pPr>
            <a:r>
              <a:rPr lang="en-US" sz="1800">
                <a:solidFill>
                  <a:schemeClr val="bg2"/>
                </a:solidFill>
              </a:rPr>
              <a:t>Deliverables</a:t>
            </a:r>
          </a:p>
          <a:p>
            <a:pPr lvl="2">
              <a:lnSpc>
                <a:spcPct val="85000"/>
              </a:lnSpc>
              <a:spcBef>
                <a:spcPct val="0"/>
              </a:spcBef>
              <a:buClr>
                <a:schemeClr val="folHlink"/>
              </a:buClr>
              <a:buFont typeface="Wingdings" pitchFamily="2" charset="2"/>
              <a:buChar char="Ø"/>
            </a:pPr>
            <a:r>
              <a:rPr lang="en-US" sz="1800">
                <a:solidFill>
                  <a:schemeClr val="bg2"/>
                </a:solidFill>
              </a:rPr>
              <a:t>Roles</a:t>
            </a:r>
          </a:p>
          <a:p>
            <a:pPr lvl="2">
              <a:lnSpc>
                <a:spcPct val="85000"/>
              </a:lnSpc>
              <a:spcBef>
                <a:spcPct val="0"/>
              </a:spcBef>
              <a:buClr>
                <a:schemeClr val="folHlink"/>
              </a:buClr>
              <a:buFont typeface="Wingdings" pitchFamily="2" charset="2"/>
              <a:buChar char="Ø"/>
            </a:pPr>
            <a:r>
              <a:rPr lang="en-US" sz="1800">
                <a:solidFill>
                  <a:schemeClr val="bg2"/>
                </a:solidFill>
              </a:rPr>
              <a:t>Shared Services (products and support)</a:t>
            </a:r>
          </a:p>
          <a:p>
            <a:pPr lvl="2">
              <a:lnSpc>
                <a:spcPct val="85000"/>
              </a:lnSpc>
              <a:spcBef>
                <a:spcPct val="0"/>
              </a:spcBef>
              <a:buClr>
                <a:schemeClr val="folHlink"/>
              </a:buClr>
              <a:buFont typeface="Wingdings" pitchFamily="2" charset="2"/>
              <a:buChar char="Ø"/>
            </a:pPr>
            <a:endParaRPr lang="en-US" sz="1800">
              <a:solidFill>
                <a:schemeClr val="bg2"/>
              </a:solidFill>
            </a:endParaRPr>
          </a:p>
          <a:p>
            <a:pPr marL="520700" lvl="1" indent="-292100">
              <a:lnSpc>
                <a:spcPct val="75000"/>
              </a:lnSpc>
              <a:spcBef>
                <a:spcPct val="0"/>
              </a:spcBef>
              <a:buClr>
                <a:schemeClr val="folHlink"/>
              </a:buClr>
              <a:buSzPct val="120000"/>
              <a:buFontTx/>
              <a:buNone/>
            </a:pPr>
            <a:r>
              <a:rPr lang="en-US" sz="2000" b="1">
                <a:solidFill>
                  <a:schemeClr val="bg2"/>
                </a:solidFill>
              </a:rPr>
              <a:t>“WHY” the "Convergence Imperative"</a:t>
            </a:r>
          </a:p>
          <a:p>
            <a:pPr lvl="2">
              <a:lnSpc>
                <a:spcPct val="85000"/>
              </a:lnSpc>
              <a:spcBef>
                <a:spcPct val="0"/>
              </a:spcBef>
              <a:buClr>
                <a:schemeClr val="folHlink"/>
              </a:buClr>
              <a:buFont typeface="Wingdings" pitchFamily="2" charset="2"/>
              <a:buChar char="Ø"/>
            </a:pPr>
            <a:r>
              <a:rPr lang="en-US" sz="1800">
                <a:solidFill>
                  <a:schemeClr val="bg2"/>
                </a:solidFill>
              </a:rPr>
              <a:t>Value</a:t>
            </a:r>
          </a:p>
          <a:p>
            <a:pPr lvl="2">
              <a:lnSpc>
                <a:spcPct val="85000"/>
              </a:lnSpc>
              <a:spcBef>
                <a:spcPct val="0"/>
              </a:spcBef>
              <a:buClr>
                <a:schemeClr val="folHlink"/>
              </a:buClr>
              <a:buFont typeface="Wingdings" pitchFamily="2" charset="2"/>
              <a:buChar char="Ø"/>
            </a:pPr>
            <a:r>
              <a:rPr lang="en-US" sz="1800">
                <a:solidFill>
                  <a:schemeClr val="bg2"/>
                </a:solidFill>
              </a:rPr>
              <a:t>SOA Enabler</a:t>
            </a:r>
          </a:p>
          <a:p>
            <a:pPr lvl="2">
              <a:lnSpc>
                <a:spcPct val="85000"/>
              </a:lnSpc>
              <a:spcBef>
                <a:spcPct val="0"/>
              </a:spcBef>
              <a:buClr>
                <a:schemeClr val="folHlink"/>
              </a:buClr>
              <a:buFont typeface="Wingdings" pitchFamily="2" charset="2"/>
              <a:buChar char="Ø"/>
            </a:pPr>
            <a:r>
              <a:rPr lang="en-US" sz="1800">
                <a:solidFill>
                  <a:schemeClr val="bg2"/>
                </a:solidFill>
              </a:rPr>
              <a:t>SOA Framework</a:t>
            </a:r>
          </a:p>
          <a:p>
            <a:pPr marL="520700" lvl="1" indent="-292100">
              <a:lnSpc>
                <a:spcPct val="175000"/>
              </a:lnSpc>
              <a:buSzPct val="120000"/>
              <a:buFontTx/>
              <a:buNone/>
            </a:pPr>
            <a:r>
              <a:rPr lang="en-US" sz="2000" b="1">
                <a:solidFill>
                  <a:schemeClr val="bg2"/>
                </a:solidFill>
              </a:rPr>
              <a:t>“WHEN” Are Projects Engaged by EAS</a:t>
            </a:r>
          </a:p>
          <a:p>
            <a:pPr marL="520700" lvl="1" indent="-292100">
              <a:lnSpc>
                <a:spcPct val="175000"/>
              </a:lnSpc>
              <a:buSzPct val="120000"/>
              <a:buFontTx/>
              <a:buNone/>
            </a:pPr>
            <a:r>
              <a:rPr lang="en-US" sz="2000" b="1">
                <a:solidFill>
                  <a:schemeClr val="bg2"/>
                </a:solidFill>
              </a:rPr>
              <a:t>“HOW” to Maintain Convergence Heading</a:t>
            </a:r>
          </a:p>
          <a:p>
            <a:pPr marL="520700" lvl="1" indent="-292100">
              <a:lnSpc>
                <a:spcPct val="175000"/>
              </a:lnSpc>
              <a:buSzPct val="120000"/>
              <a:buFontTx/>
              <a:buNone/>
            </a:pPr>
            <a:endParaRPr lang="en-US" sz="2000" b="1">
              <a:solidFill>
                <a:schemeClr val="bg2"/>
              </a:solidFill>
            </a:endParaRPr>
          </a:p>
        </p:txBody>
      </p:sp>
      <p:sp>
        <p:nvSpPr>
          <p:cNvPr id="2539524" name="AutoShape 4"/>
          <p:cNvSpPr>
            <a:spLocks noChangeArrowheads="1"/>
          </p:cNvSpPr>
          <p:nvPr/>
        </p:nvSpPr>
        <p:spPr bwMode="auto">
          <a:xfrm>
            <a:off x="6299200" y="1193800"/>
            <a:ext cx="1612900" cy="469900"/>
          </a:xfrm>
          <a:prstGeom prst="leftArrow">
            <a:avLst>
              <a:gd name="adj1" fmla="val 50000"/>
              <a:gd name="adj2" fmla="val 85811"/>
            </a:avLst>
          </a:prstGeom>
          <a:solidFill>
            <a:srgbClr val="8FCDAF"/>
          </a:solidFill>
          <a:ln w="9525">
            <a:solidFill>
              <a:schemeClr val="tx1"/>
            </a:solidFill>
            <a:miter lim="800000"/>
            <a:headEnd/>
            <a:tailEnd/>
          </a:ln>
          <a:effectLst/>
        </p:spPr>
        <p:txBody>
          <a:bodyPr wrap="none" anchor="ctr"/>
          <a:lstStyle/>
          <a:p>
            <a:endParaRPr lang="en-US"/>
          </a:p>
        </p:txBody>
      </p:sp>
      <p:sp>
        <p:nvSpPr>
          <p:cNvPr id="2539526" name="Rectangle 6"/>
          <p:cNvSpPr>
            <a:spLocks noGrp="1" noChangeArrowheads="1"/>
          </p:cNvSpPr>
          <p:nvPr>
            <p:ph type="title"/>
          </p:nvPr>
        </p:nvSpPr>
        <p:spPr>
          <a:xfrm>
            <a:off x="0" y="96838"/>
            <a:ext cx="9144000" cy="641350"/>
          </a:xfrm>
          <a:noFill/>
          <a:ln/>
        </p:spPr>
        <p:txBody>
          <a:bodyPr/>
          <a:lstStyle/>
          <a:p>
            <a:r>
              <a:rPr lang="en-US" sz="3600"/>
              <a:t>Agenda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2539524"/>
                                        </p:tgtEl>
                                        <p:attrNameLst>
                                          <p:attrName>style.visibility</p:attrName>
                                        </p:attrNameLst>
                                      </p:cBhvr>
                                      <p:to>
                                        <p:strVal val="visible"/>
                                      </p:to>
                                    </p:set>
                                    <p:anim calcmode="lin" valueType="num">
                                      <p:cBhvr additive="base">
                                        <p:cTn id="7" dur="500" fill="hold"/>
                                        <p:tgtEl>
                                          <p:spTgt spid="2539524"/>
                                        </p:tgtEl>
                                        <p:attrNameLst>
                                          <p:attrName>ppt_x</p:attrName>
                                        </p:attrNameLst>
                                      </p:cBhvr>
                                      <p:tavLst>
                                        <p:tav tm="0">
                                          <p:val>
                                            <p:strVal val="1+#ppt_w/2"/>
                                          </p:val>
                                        </p:tav>
                                        <p:tav tm="100000">
                                          <p:val>
                                            <p:strVal val="#ppt_x"/>
                                          </p:val>
                                        </p:tav>
                                      </p:tavLst>
                                    </p:anim>
                                    <p:anim calcmode="lin" valueType="num">
                                      <p:cBhvr additive="base">
                                        <p:cTn id="8" dur="500" fill="hold"/>
                                        <p:tgtEl>
                                          <p:spTgt spid="2539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2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5188" name="Rectangle 4"/>
          <p:cNvSpPr>
            <a:spLocks noGrp="1" noChangeArrowheads="1"/>
          </p:cNvSpPr>
          <p:nvPr>
            <p:ph type="title"/>
          </p:nvPr>
        </p:nvSpPr>
        <p:spPr>
          <a:xfrm>
            <a:off x="0" y="107950"/>
            <a:ext cx="9144000" cy="750888"/>
          </a:xfrm>
          <a:solidFill>
            <a:srgbClr val="EFFFF0"/>
          </a:solidFill>
          <a:ln/>
        </p:spPr>
        <p:txBody>
          <a:bodyPr/>
          <a:lstStyle/>
          <a:p>
            <a:pPr>
              <a:lnSpc>
                <a:spcPct val="80000"/>
              </a:lnSpc>
            </a:pPr>
            <a:r>
              <a:rPr lang="en-US" sz="3600"/>
              <a:t>Enterprise Architecture in a Nutshell</a:t>
            </a:r>
            <a:r>
              <a:rPr lang="en-US"/>
              <a:t/>
            </a:r>
            <a:br>
              <a:rPr lang="en-US"/>
            </a:br>
            <a:r>
              <a:rPr lang="en-US" sz="1600"/>
              <a:t> </a:t>
            </a:r>
            <a:r>
              <a:rPr lang="en-US" sz="1800" i="1"/>
              <a:t>Convergence of Technology and Business</a:t>
            </a:r>
          </a:p>
        </p:txBody>
      </p:sp>
      <p:sp>
        <p:nvSpPr>
          <p:cNvPr id="2525219" name="Rectangle 35"/>
          <p:cNvSpPr>
            <a:spLocks noChangeArrowheads="1"/>
          </p:cNvSpPr>
          <p:nvPr/>
        </p:nvSpPr>
        <p:spPr bwMode="auto">
          <a:xfrm>
            <a:off x="414338" y="1157288"/>
            <a:ext cx="1828800" cy="579437"/>
          </a:xfrm>
          <a:prstGeom prst="rect">
            <a:avLst/>
          </a:prstGeom>
          <a:noFill/>
          <a:ln w="9525">
            <a:noFill/>
            <a:miter lim="800000"/>
            <a:headEnd/>
            <a:tailEnd/>
          </a:ln>
          <a:effectLst/>
        </p:spPr>
        <p:txBody>
          <a:bodyPr wrap="none">
            <a:spAutoFit/>
          </a:bodyPr>
          <a:lstStyle/>
          <a:p>
            <a:r>
              <a:rPr lang="en-US" sz="3200" b="1" u="sng"/>
              <a:t>Mission:</a:t>
            </a:r>
          </a:p>
        </p:txBody>
      </p:sp>
      <p:sp>
        <p:nvSpPr>
          <p:cNvPr id="2525221" name="Rectangle 37"/>
          <p:cNvSpPr>
            <a:spLocks noChangeArrowheads="1"/>
          </p:cNvSpPr>
          <p:nvPr/>
        </p:nvSpPr>
        <p:spPr bwMode="auto">
          <a:xfrm>
            <a:off x="584200" y="1955800"/>
            <a:ext cx="8267700" cy="4394200"/>
          </a:xfrm>
          <a:prstGeom prst="rect">
            <a:avLst/>
          </a:prstGeom>
          <a:noFill/>
          <a:ln w="9525">
            <a:noFill/>
            <a:miter lim="800000"/>
            <a:headEnd/>
            <a:tailEnd/>
          </a:ln>
          <a:effectLst/>
        </p:spPr>
        <p:txBody>
          <a:bodyPr/>
          <a:lstStyle/>
          <a:p>
            <a:pPr algn="l">
              <a:lnSpc>
                <a:spcPct val="85000"/>
              </a:lnSpc>
              <a:spcBef>
                <a:spcPct val="50000"/>
              </a:spcBef>
              <a:buClr>
                <a:schemeClr val="folHlink"/>
              </a:buClr>
              <a:buSzPct val="150000"/>
            </a:pPr>
            <a:r>
              <a:rPr lang="en-US" sz="2400" b="1"/>
              <a:t>Pre-project “</a:t>
            </a:r>
            <a:r>
              <a:rPr lang="en-US" sz="2400" b="1" i="1"/>
              <a:t>initiation”</a:t>
            </a:r>
            <a:r>
              <a:rPr lang="en-US" sz="2400" b="1"/>
              <a:t> build of prelim. solution map</a:t>
            </a:r>
            <a:endParaRPr lang="en-US" sz="2400" b="1" i="1" u="sng"/>
          </a:p>
          <a:p>
            <a:pPr algn="l">
              <a:lnSpc>
                <a:spcPct val="125000"/>
              </a:lnSpc>
              <a:spcBef>
                <a:spcPct val="50000"/>
              </a:spcBef>
              <a:buClr>
                <a:schemeClr val="folHlink"/>
              </a:buClr>
              <a:buSzPct val="150000"/>
            </a:pPr>
            <a:r>
              <a:rPr lang="en-US" sz="2400" b="1"/>
              <a:t>Develop, maintain and support “EAI Services”.</a:t>
            </a:r>
          </a:p>
          <a:p>
            <a:pPr algn="l">
              <a:lnSpc>
                <a:spcPct val="125000"/>
              </a:lnSpc>
              <a:spcBef>
                <a:spcPct val="50000"/>
              </a:spcBef>
              <a:buClr>
                <a:schemeClr val="folHlink"/>
              </a:buClr>
              <a:buSzPct val="150000"/>
            </a:pPr>
            <a:r>
              <a:rPr lang="en-US" sz="2400" b="1"/>
              <a:t>Extend the useful life of system components.</a:t>
            </a:r>
          </a:p>
          <a:p>
            <a:pPr algn="l">
              <a:lnSpc>
                <a:spcPct val="125000"/>
              </a:lnSpc>
              <a:spcBef>
                <a:spcPct val="50000"/>
              </a:spcBef>
              <a:buClr>
                <a:schemeClr val="folHlink"/>
              </a:buClr>
              <a:buSzPct val="150000"/>
            </a:pPr>
            <a:r>
              <a:rPr lang="en-US" sz="2400" b="1"/>
              <a:t>Manage and mentor </a:t>
            </a:r>
          </a:p>
          <a:p>
            <a:pPr marL="749300" lvl="1" indent="-292100" algn="l">
              <a:lnSpc>
                <a:spcPct val="50000"/>
              </a:lnSpc>
              <a:spcBef>
                <a:spcPct val="50000"/>
              </a:spcBef>
              <a:buClr>
                <a:srgbClr val="339765"/>
              </a:buClr>
              <a:buFont typeface="Wingdings" pitchFamily="2" charset="2"/>
              <a:buChar char="Ø"/>
            </a:pPr>
            <a:r>
              <a:rPr lang="en-US" sz="1800"/>
              <a:t>Enterprise Architecture Tenets;</a:t>
            </a:r>
          </a:p>
          <a:p>
            <a:pPr marL="749300" lvl="1" indent="-292100" algn="l">
              <a:lnSpc>
                <a:spcPct val="50000"/>
              </a:lnSpc>
              <a:spcBef>
                <a:spcPct val="50000"/>
              </a:spcBef>
              <a:buClr>
                <a:srgbClr val="339765"/>
              </a:buClr>
              <a:buFont typeface="Wingdings" pitchFamily="2" charset="2"/>
              <a:buChar char="Ø"/>
            </a:pPr>
            <a:r>
              <a:rPr lang="en-US" sz="1800"/>
              <a:t>Tool standards and usage;</a:t>
            </a:r>
          </a:p>
          <a:p>
            <a:pPr marL="749300" lvl="1" indent="-292100" algn="l">
              <a:lnSpc>
                <a:spcPct val="50000"/>
              </a:lnSpc>
              <a:spcBef>
                <a:spcPct val="50000"/>
              </a:spcBef>
              <a:buClr>
                <a:srgbClr val="339765"/>
              </a:buClr>
              <a:buFont typeface="Wingdings" pitchFamily="2" charset="2"/>
              <a:buChar char="Ø"/>
            </a:pPr>
            <a:r>
              <a:rPr lang="en-US" sz="1800"/>
              <a:t>Facilitate Architecture Steering Committee.</a:t>
            </a:r>
          </a:p>
          <a:p>
            <a:pPr algn="l">
              <a:lnSpc>
                <a:spcPct val="85000"/>
              </a:lnSpc>
              <a:spcBef>
                <a:spcPct val="50000"/>
              </a:spcBef>
              <a:buClr>
                <a:schemeClr val="folHlink"/>
              </a:buClr>
              <a:buSzPct val="150000"/>
            </a:pPr>
            <a:r>
              <a:rPr lang="en-US" sz="2400" b="1"/>
              <a:t>Maintain “</a:t>
            </a:r>
            <a:r>
              <a:rPr lang="en-US" sz="2400" b="1" i="1"/>
              <a:t>convergence”</a:t>
            </a:r>
            <a:r>
              <a:rPr lang="en-US" sz="2400" b="1"/>
              <a:t> heading towards a  consistent and agile Enterprise Architecture.</a:t>
            </a:r>
          </a:p>
        </p:txBody>
      </p:sp>
      <p:sp>
        <p:nvSpPr>
          <p:cNvPr id="2525224" name="Oval 40"/>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525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5188"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50789" name="Rectangle 5"/>
          <p:cNvSpPr>
            <a:spLocks noGrp="1" noChangeArrowheads="1"/>
          </p:cNvSpPr>
          <p:nvPr>
            <p:ph type="title"/>
          </p:nvPr>
        </p:nvSpPr>
        <p:spPr>
          <a:xfrm>
            <a:off x="0" y="111125"/>
            <a:ext cx="9144000" cy="750888"/>
          </a:xfrm>
          <a:solidFill>
            <a:srgbClr val="EFFFF0"/>
          </a:solidFill>
          <a:ln/>
        </p:spPr>
        <p:txBody>
          <a:bodyPr/>
          <a:lstStyle/>
          <a:p>
            <a:pPr>
              <a:lnSpc>
                <a:spcPct val="80000"/>
              </a:lnSpc>
            </a:pPr>
            <a:r>
              <a:rPr lang="en-US" sz="3600"/>
              <a:t>Enterprise Architecture in a Nutshell</a:t>
            </a:r>
            <a:r>
              <a:rPr lang="en-US"/>
              <a:t/>
            </a:r>
            <a:br>
              <a:rPr lang="en-US"/>
            </a:br>
            <a:r>
              <a:rPr lang="en-US" sz="1600"/>
              <a:t> </a:t>
            </a:r>
            <a:r>
              <a:rPr lang="en-US" sz="1800" i="1"/>
              <a:t>Convergence of Technology and Business</a:t>
            </a:r>
          </a:p>
        </p:txBody>
      </p:sp>
      <p:sp>
        <p:nvSpPr>
          <p:cNvPr id="2550790" name="Rectangle 6"/>
          <p:cNvSpPr>
            <a:spLocks noGrp="1" noChangeArrowheads="1"/>
          </p:cNvSpPr>
          <p:nvPr>
            <p:ph type="body" idx="1"/>
          </p:nvPr>
        </p:nvSpPr>
        <p:spPr>
          <a:xfrm>
            <a:off x="596900" y="1987550"/>
            <a:ext cx="8331200" cy="3949700"/>
          </a:xfrm>
          <a:noFill/>
          <a:ln/>
        </p:spPr>
        <p:txBody>
          <a:bodyPr/>
          <a:lstStyle/>
          <a:p>
            <a:pPr marL="0" indent="0">
              <a:lnSpc>
                <a:spcPct val="80000"/>
              </a:lnSpc>
              <a:spcBef>
                <a:spcPct val="80000"/>
              </a:spcBef>
              <a:buFontTx/>
              <a:buNone/>
            </a:pPr>
            <a:r>
              <a:rPr lang="en-US" sz="2400" b="1"/>
              <a:t>Increase quality of data;</a:t>
            </a:r>
          </a:p>
          <a:p>
            <a:pPr marL="0" indent="0">
              <a:lnSpc>
                <a:spcPct val="80000"/>
              </a:lnSpc>
              <a:spcBef>
                <a:spcPct val="80000"/>
              </a:spcBef>
              <a:buFontTx/>
              <a:buNone/>
            </a:pPr>
            <a:r>
              <a:rPr lang="en-US" sz="2400" b="1"/>
              <a:t>Improve agility of processing systems;</a:t>
            </a:r>
          </a:p>
          <a:p>
            <a:pPr marL="0" indent="0">
              <a:lnSpc>
                <a:spcPct val="80000"/>
              </a:lnSpc>
              <a:spcBef>
                <a:spcPct val="80000"/>
              </a:spcBef>
              <a:buFontTx/>
              <a:buNone/>
            </a:pPr>
            <a:r>
              <a:rPr lang="en-US" sz="2400" b="1"/>
              <a:t>Convergence = Consistency + Reliability + Agility;</a:t>
            </a:r>
          </a:p>
          <a:p>
            <a:pPr marL="0" indent="0">
              <a:lnSpc>
                <a:spcPct val="80000"/>
              </a:lnSpc>
              <a:spcBef>
                <a:spcPct val="80000"/>
              </a:spcBef>
              <a:buFontTx/>
              <a:buNone/>
            </a:pPr>
            <a:r>
              <a:rPr lang="en-US" sz="2400" b="1"/>
              <a:t>Ability to create shared services which can be used across multiple systems and lines of business.</a:t>
            </a:r>
          </a:p>
        </p:txBody>
      </p:sp>
      <p:sp>
        <p:nvSpPr>
          <p:cNvPr id="2550792" name="Rectangle 8"/>
          <p:cNvSpPr>
            <a:spLocks noChangeArrowheads="1"/>
          </p:cNvSpPr>
          <p:nvPr/>
        </p:nvSpPr>
        <p:spPr bwMode="auto">
          <a:xfrm>
            <a:off x="419100" y="1155700"/>
            <a:ext cx="3392488" cy="579438"/>
          </a:xfrm>
          <a:prstGeom prst="rect">
            <a:avLst/>
          </a:prstGeom>
          <a:noFill/>
          <a:ln w="9525">
            <a:noFill/>
            <a:miter lim="800000"/>
            <a:headEnd/>
            <a:tailEnd/>
          </a:ln>
          <a:effectLst/>
        </p:spPr>
        <p:txBody>
          <a:bodyPr>
            <a:spAutoFit/>
          </a:bodyPr>
          <a:lstStyle/>
          <a:p>
            <a:pPr algn="l"/>
            <a:r>
              <a:rPr lang="en-US" sz="3200" b="1" u="sng"/>
              <a:t>Outcomes: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5507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grpId="0" nodeType="clickEffect">
                                  <p:stCondLst>
                                    <p:cond delay="0"/>
                                  </p:stCondLst>
                                  <p:childTnLst>
                                    <p:set>
                                      <p:cBhvr>
                                        <p:cTn id="10" dur="1" fill="hold">
                                          <p:stCondLst>
                                            <p:cond delay="0"/>
                                          </p:stCondLst>
                                        </p:cTn>
                                        <p:tgtEl>
                                          <p:spTgt spid="2550790">
                                            <p:txEl>
                                              <p:pRg st="0" end="0"/>
                                            </p:txEl>
                                          </p:spTgt>
                                        </p:tgtEl>
                                        <p:attrNameLst>
                                          <p:attrName>style.visibility</p:attrName>
                                        </p:attrNameLst>
                                      </p:cBhvr>
                                      <p:to>
                                        <p:strVal val="visible"/>
                                      </p:to>
                                    </p:set>
                                    <p:animEffect transition="in" filter="slide(fromTop)">
                                      <p:cBhvr>
                                        <p:cTn id="11" dur="500"/>
                                        <p:tgtEl>
                                          <p:spTgt spid="255079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2550790">
                                            <p:txEl>
                                              <p:pRg st="1" end="1"/>
                                            </p:txEl>
                                          </p:spTgt>
                                        </p:tgtEl>
                                        <p:attrNameLst>
                                          <p:attrName>style.visibility</p:attrName>
                                        </p:attrNameLst>
                                      </p:cBhvr>
                                      <p:to>
                                        <p:strVal val="visible"/>
                                      </p:to>
                                    </p:set>
                                    <p:animEffect transition="in" filter="slide(fromTop)">
                                      <p:cBhvr>
                                        <p:cTn id="16" dur="500"/>
                                        <p:tgtEl>
                                          <p:spTgt spid="255079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grpId="0" nodeType="clickEffect">
                                  <p:stCondLst>
                                    <p:cond delay="0"/>
                                  </p:stCondLst>
                                  <p:childTnLst>
                                    <p:set>
                                      <p:cBhvr>
                                        <p:cTn id="20" dur="1" fill="hold">
                                          <p:stCondLst>
                                            <p:cond delay="0"/>
                                          </p:stCondLst>
                                        </p:cTn>
                                        <p:tgtEl>
                                          <p:spTgt spid="2550790">
                                            <p:txEl>
                                              <p:pRg st="2" end="2"/>
                                            </p:txEl>
                                          </p:spTgt>
                                        </p:tgtEl>
                                        <p:attrNameLst>
                                          <p:attrName>style.visibility</p:attrName>
                                        </p:attrNameLst>
                                      </p:cBhvr>
                                      <p:to>
                                        <p:strVal val="visible"/>
                                      </p:to>
                                    </p:set>
                                    <p:animEffect transition="in" filter="slide(fromTop)">
                                      <p:cBhvr>
                                        <p:cTn id="21" dur="500"/>
                                        <p:tgtEl>
                                          <p:spTgt spid="2550790">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2550790">
                                            <p:txEl>
                                              <p:pRg st="3" end="3"/>
                                            </p:txEl>
                                          </p:spTgt>
                                        </p:tgtEl>
                                        <p:attrNameLst>
                                          <p:attrName>style.visibility</p:attrName>
                                        </p:attrNameLst>
                                      </p:cBhvr>
                                      <p:to>
                                        <p:strVal val="visible"/>
                                      </p:to>
                                    </p:set>
                                    <p:animEffect transition="in" filter="slide(fromTop)">
                                      <p:cBhvr>
                                        <p:cTn id="26" dur="500"/>
                                        <p:tgtEl>
                                          <p:spTgt spid="25507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789" grpId="0" animBg="1" autoUpdateAnimBg="0"/>
      <p:bldP spid="255079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0546" name="Rectangle 2"/>
          <p:cNvSpPr>
            <a:spLocks noGrp="1" noChangeArrowheads="1"/>
          </p:cNvSpPr>
          <p:nvPr>
            <p:ph type="title"/>
          </p:nvPr>
        </p:nvSpPr>
        <p:spPr>
          <a:xfrm>
            <a:off x="0" y="55563"/>
            <a:ext cx="9144000" cy="762000"/>
          </a:xfrm>
        </p:spPr>
        <p:txBody>
          <a:bodyPr/>
          <a:lstStyle/>
          <a:p>
            <a:r>
              <a:rPr lang="en-US"/>
              <a:t>Agenda</a:t>
            </a:r>
          </a:p>
        </p:txBody>
      </p:sp>
      <p:sp>
        <p:nvSpPr>
          <p:cNvPr id="2540547" name="Rectangle 3"/>
          <p:cNvSpPr>
            <a:spLocks noGrp="1" noChangeArrowheads="1"/>
          </p:cNvSpPr>
          <p:nvPr>
            <p:ph type="body" idx="1"/>
          </p:nvPr>
        </p:nvSpPr>
        <p:spPr>
          <a:xfrm>
            <a:off x="241300" y="1314450"/>
            <a:ext cx="8737600" cy="4864100"/>
          </a:xfrm>
          <a:noFill/>
        </p:spPr>
        <p:txBody>
          <a:bodyPr/>
          <a:lstStyle/>
          <a:p>
            <a:pPr marL="520700" lvl="1" indent="-292100">
              <a:lnSpc>
                <a:spcPct val="75000"/>
              </a:lnSpc>
              <a:buSzPct val="120000"/>
              <a:buFontTx/>
              <a:buNone/>
            </a:pPr>
            <a:r>
              <a:rPr lang="en-US" sz="2000" b="1">
                <a:solidFill>
                  <a:schemeClr val="bg2"/>
                </a:solidFill>
              </a:rPr>
              <a:t>Enterprise Architecture Services in a Nutshell</a:t>
            </a:r>
          </a:p>
          <a:p>
            <a:pPr marL="520700" lvl="1" indent="-292100">
              <a:lnSpc>
                <a:spcPct val="175000"/>
              </a:lnSpc>
              <a:buSzPct val="120000"/>
              <a:buFontTx/>
              <a:buNone/>
            </a:pPr>
            <a:r>
              <a:rPr lang="en-US" sz="2000" b="1"/>
              <a:t>“WHAT” is Architecture</a:t>
            </a:r>
          </a:p>
          <a:p>
            <a:pPr lvl="2">
              <a:lnSpc>
                <a:spcPct val="85000"/>
              </a:lnSpc>
              <a:spcBef>
                <a:spcPct val="0"/>
              </a:spcBef>
              <a:buClr>
                <a:schemeClr val="folHlink"/>
              </a:buClr>
              <a:buFont typeface="Wingdings" pitchFamily="2" charset="2"/>
              <a:buChar char="Ø"/>
            </a:pPr>
            <a:r>
              <a:rPr lang="en-US" sz="1800"/>
              <a:t>Goals </a:t>
            </a:r>
          </a:p>
          <a:p>
            <a:pPr lvl="2">
              <a:lnSpc>
                <a:spcPct val="85000"/>
              </a:lnSpc>
              <a:spcBef>
                <a:spcPct val="0"/>
              </a:spcBef>
              <a:buClr>
                <a:schemeClr val="folHlink"/>
              </a:buClr>
              <a:buFont typeface="Wingdings" pitchFamily="2" charset="2"/>
              <a:buChar char="Ø"/>
            </a:pPr>
            <a:r>
              <a:rPr lang="en-US" sz="1800"/>
              <a:t>Scope</a:t>
            </a:r>
          </a:p>
          <a:p>
            <a:pPr lvl="2">
              <a:lnSpc>
                <a:spcPct val="85000"/>
              </a:lnSpc>
              <a:spcBef>
                <a:spcPct val="0"/>
              </a:spcBef>
              <a:buClr>
                <a:schemeClr val="folHlink"/>
              </a:buClr>
              <a:buFont typeface="Wingdings" pitchFamily="2" charset="2"/>
              <a:buChar char="Ø"/>
            </a:pPr>
            <a:r>
              <a:rPr lang="en-US" sz="1800"/>
              <a:t>Operations</a:t>
            </a:r>
          </a:p>
          <a:p>
            <a:pPr lvl="2">
              <a:lnSpc>
                <a:spcPct val="85000"/>
              </a:lnSpc>
              <a:spcBef>
                <a:spcPct val="0"/>
              </a:spcBef>
              <a:buClr>
                <a:schemeClr val="folHlink"/>
              </a:buClr>
              <a:buFont typeface="Wingdings" pitchFamily="2" charset="2"/>
              <a:buChar char="Ø"/>
            </a:pPr>
            <a:r>
              <a:rPr lang="en-US" sz="1800"/>
              <a:t>Deliverables</a:t>
            </a:r>
          </a:p>
          <a:p>
            <a:pPr lvl="2">
              <a:lnSpc>
                <a:spcPct val="85000"/>
              </a:lnSpc>
              <a:spcBef>
                <a:spcPct val="0"/>
              </a:spcBef>
              <a:buClr>
                <a:schemeClr val="folHlink"/>
              </a:buClr>
              <a:buFont typeface="Wingdings" pitchFamily="2" charset="2"/>
              <a:buChar char="Ø"/>
            </a:pPr>
            <a:r>
              <a:rPr lang="en-US" sz="1800"/>
              <a:t>Roles</a:t>
            </a:r>
          </a:p>
          <a:p>
            <a:pPr lvl="2">
              <a:lnSpc>
                <a:spcPct val="85000"/>
              </a:lnSpc>
              <a:spcBef>
                <a:spcPct val="0"/>
              </a:spcBef>
              <a:buClr>
                <a:schemeClr val="folHlink"/>
              </a:buClr>
              <a:buFont typeface="Wingdings" pitchFamily="2" charset="2"/>
              <a:buChar char="Ø"/>
            </a:pPr>
            <a:r>
              <a:rPr lang="en-US" sz="1800"/>
              <a:t>Shared Services (products and support)</a:t>
            </a:r>
          </a:p>
          <a:p>
            <a:pPr lvl="2">
              <a:lnSpc>
                <a:spcPct val="75000"/>
              </a:lnSpc>
              <a:spcBef>
                <a:spcPct val="0"/>
              </a:spcBef>
              <a:buClr>
                <a:schemeClr val="folHlink"/>
              </a:buClr>
              <a:buFont typeface="Wingdings" pitchFamily="2" charset="2"/>
              <a:buChar char="Ø"/>
            </a:pPr>
            <a:endParaRPr lang="en-US" sz="1800"/>
          </a:p>
          <a:p>
            <a:pPr marL="520700" lvl="1" indent="-292100">
              <a:lnSpc>
                <a:spcPct val="75000"/>
              </a:lnSpc>
              <a:spcBef>
                <a:spcPct val="0"/>
              </a:spcBef>
              <a:buClr>
                <a:schemeClr val="folHlink"/>
              </a:buClr>
              <a:buSzPct val="120000"/>
              <a:buFontTx/>
              <a:buNone/>
            </a:pPr>
            <a:r>
              <a:rPr lang="en-US" sz="2000" b="1">
                <a:solidFill>
                  <a:schemeClr val="bg2"/>
                </a:solidFill>
              </a:rPr>
              <a:t>“WHY” the "Convergence Imperative"</a:t>
            </a:r>
          </a:p>
          <a:p>
            <a:pPr lvl="2">
              <a:lnSpc>
                <a:spcPct val="85000"/>
              </a:lnSpc>
              <a:spcBef>
                <a:spcPct val="0"/>
              </a:spcBef>
              <a:buClr>
                <a:schemeClr val="folHlink"/>
              </a:buClr>
              <a:buFont typeface="Wingdings" pitchFamily="2" charset="2"/>
              <a:buChar char="Ø"/>
            </a:pPr>
            <a:r>
              <a:rPr lang="en-US" sz="1800">
                <a:solidFill>
                  <a:schemeClr val="bg2"/>
                </a:solidFill>
              </a:rPr>
              <a:t>Value</a:t>
            </a:r>
          </a:p>
          <a:p>
            <a:pPr lvl="2">
              <a:lnSpc>
                <a:spcPct val="85000"/>
              </a:lnSpc>
              <a:spcBef>
                <a:spcPct val="0"/>
              </a:spcBef>
              <a:buClr>
                <a:schemeClr val="folHlink"/>
              </a:buClr>
              <a:buFont typeface="Wingdings" pitchFamily="2" charset="2"/>
              <a:buChar char="Ø"/>
            </a:pPr>
            <a:r>
              <a:rPr lang="en-US" sz="1800">
                <a:solidFill>
                  <a:schemeClr val="bg2"/>
                </a:solidFill>
              </a:rPr>
              <a:t>SOA Enabler</a:t>
            </a:r>
          </a:p>
          <a:p>
            <a:pPr lvl="2">
              <a:lnSpc>
                <a:spcPct val="85000"/>
              </a:lnSpc>
              <a:spcBef>
                <a:spcPct val="0"/>
              </a:spcBef>
              <a:buClr>
                <a:schemeClr val="folHlink"/>
              </a:buClr>
              <a:buFont typeface="Wingdings" pitchFamily="2" charset="2"/>
              <a:buChar char="Ø"/>
            </a:pPr>
            <a:r>
              <a:rPr lang="en-US" sz="1800">
                <a:solidFill>
                  <a:schemeClr val="bg2"/>
                </a:solidFill>
              </a:rPr>
              <a:t>SOA Framework</a:t>
            </a:r>
          </a:p>
          <a:p>
            <a:pPr marL="520700" lvl="1" indent="-292100">
              <a:lnSpc>
                <a:spcPct val="175000"/>
              </a:lnSpc>
              <a:buSzPct val="120000"/>
              <a:buFontTx/>
              <a:buNone/>
            </a:pPr>
            <a:r>
              <a:rPr lang="en-US" sz="2000" b="1">
                <a:solidFill>
                  <a:schemeClr val="bg2"/>
                </a:solidFill>
              </a:rPr>
              <a:t>“WHEN” Are Projects Engaged by EAS</a:t>
            </a:r>
          </a:p>
          <a:p>
            <a:pPr marL="520700" lvl="1" indent="-292100">
              <a:lnSpc>
                <a:spcPct val="175000"/>
              </a:lnSpc>
              <a:buSzPct val="120000"/>
              <a:buFontTx/>
              <a:buNone/>
            </a:pPr>
            <a:r>
              <a:rPr lang="en-US" sz="2000" b="1">
                <a:solidFill>
                  <a:schemeClr val="bg2"/>
                </a:solidFill>
              </a:rPr>
              <a:t>“HOW” to Maintain Convergence Heading</a:t>
            </a:r>
          </a:p>
          <a:p>
            <a:pPr marL="520700" lvl="1" indent="-292100">
              <a:lnSpc>
                <a:spcPct val="175000"/>
              </a:lnSpc>
              <a:buSzPct val="120000"/>
              <a:buFontTx/>
              <a:buNone/>
            </a:pPr>
            <a:endParaRPr lang="en-US" sz="2000" b="1">
              <a:solidFill>
                <a:schemeClr val="bg2"/>
              </a:solidFill>
            </a:endParaRPr>
          </a:p>
        </p:txBody>
      </p:sp>
      <p:sp>
        <p:nvSpPr>
          <p:cNvPr id="2540548" name="AutoShape 4"/>
          <p:cNvSpPr>
            <a:spLocks noChangeArrowheads="1"/>
          </p:cNvSpPr>
          <p:nvPr/>
        </p:nvSpPr>
        <p:spPr bwMode="auto">
          <a:xfrm>
            <a:off x="3683000" y="1778000"/>
            <a:ext cx="1612900" cy="469900"/>
          </a:xfrm>
          <a:prstGeom prst="leftArrow">
            <a:avLst>
              <a:gd name="adj1" fmla="val 50000"/>
              <a:gd name="adj2" fmla="val 85811"/>
            </a:avLst>
          </a:prstGeom>
          <a:solidFill>
            <a:srgbClr val="8FCDAF"/>
          </a:soli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2540548"/>
                                        </p:tgtEl>
                                        <p:attrNameLst>
                                          <p:attrName>style.visibility</p:attrName>
                                        </p:attrNameLst>
                                      </p:cBhvr>
                                      <p:to>
                                        <p:strVal val="visible"/>
                                      </p:to>
                                    </p:set>
                                    <p:anim calcmode="lin" valueType="num">
                                      <p:cBhvr additive="base">
                                        <p:cTn id="7" dur="500" fill="hold"/>
                                        <p:tgtEl>
                                          <p:spTgt spid="2540548"/>
                                        </p:tgtEl>
                                        <p:attrNameLst>
                                          <p:attrName>ppt_x</p:attrName>
                                        </p:attrNameLst>
                                      </p:cBhvr>
                                      <p:tavLst>
                                        <p:tav tm="0">
                                          <p:val>
                                            <p:strVal val="1+#ppt_w/2"/>
                                          </p:val>
                                        </p:tav>
                                        <p:tav tm="100000">
                                          <p:val>
                                            <p:strVal val="#ppt_x"/>
                                          </p:val>
                                        </p:tav>
                                      </p:tavLst>
                                    </p:anim>
                                    <p:anim calcmode="lin" valueType="num">
                                      <p:cBhvr additive="base">
                                        <p:cTn id="8" dur="500" fill="hold"/>
                                        <p:tgtEl>
                                          <p:spTgt spid="25405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05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1810" name="Rectangle 1026"/>
          <p:cNvSpPr>
            <a:spLocks noGrp="1" noChangeArrowheads="1"/>
          </p:cNvSpPr>
          <p:nvPr>
            <p:ph type="title"/>
          </p:nvPr>
        </p:nvSpPr>
        <p:spPr>
          <a:xfrm>
            <a:off x="0" y="257175"/>
            <a:ext cx="9144000" cy="476250"/>
          </a:xfrm>
        </p:spPr>
        <p:txBody>
          <a:bodyPr/>
          <a:lstStyle/>
          <a:p>
            <a:pPr>
              <a:lnSpc>
                <a:spcPct val="70000"/>
              </a:lnSpc>
            </a:pPr>
            <a:r>
              <a:rPr lang="en-US" sz="3600"/>
              <a:t>“What” is Architecture</a:t>
            </a:r>
          </a:p>
        </p:txBody>
      </p:sp>
      <p:sp>
        <p:nvSpPr>
          <p:cNvPr id="2551811" name="Rectangle 1027"/>
          <p:cNvSpPr>
            <a:spLocks noGrp="1" noChangeArrowheads="1"/>
          </p:cNvSpPr>
          <p:nvPr>
            <p:ph type="body" idx="1"/>
          </p:nvPr>
        </p:nvSpPr>
        <p:spPr>
          <a:xfrm>
            <a:off x="723900" y="1308100"/>
            <a:ext cx="8153400" cy="4673600"/>
          </a:xfrm>
        </p:spPr>
        <p:txBody>
          <a:bodyPr/>
          <a:lstStyle/>
          <a:p>
            <a:pPr marL="342900" indent="-342900">
              <a:lnSpc>
                <a:spcPct val="90000"/>
              </a:lnSpc>
              <a:spcBef>
                <a:spcPct val="120000"/>
              </a:spcBef>
              <a:buFontTx/>
              <a:buNone/>
            </a:pPr>
            <a:r>
              <a:rPr lang="en-US" sz="2400" b="1"/>
              <a:t>A set of conceptual patterns that:</a:t>
            </a:r>
          </a:p>
          <a:p>
            <a:pPr marL="342900" indent="-342900">
              <a:lnSpc>
                <a:spcPct val="90000"/>
              </a:lnSpc>
              <a:spcBef>
                <a:spcPct val="120000"/>
              </a:spcBef>
              <a:buSzTx/>
              <a:buFontTx/>
              <a:buAutoNum type="arabicPeriod"/>
            </a:pPr>
            <a:r>
              <a:rPr lang="en-US" sz="2000" b="1"/>
              <a:t>Guide the design and integration of each major system;</a:t>
            </a:r>
          </a:p>
          <a:p>
            <a:pPr marL="342900" indent="-342900">
              <a:lnSpc>
                <a:spcPct val="90000"/>
              </a:lnSpc>
              <a:spcBef>
                <a:spcPct val="120000"/>
              </a:spcBef>
              <a:buSzTx/>
              <a:buFontTx/>
              <a:buAutoNum type="arabicPeriod"/>
            </a:pPr>
            <a:r>
              <a:rPr lang="en-US" sz="2000" b="1"/>
              <a:t>Defines a roadmap for integration across environments;</a:t>
            </a:r>
          </a:p>
          <a:p>
            <a:pPr marL="342900" indent="-342900">
              <a:lnSpc>
                <a:spcPct val="90000"/>
              </a:lnSpc>
              <a:spcBef>
                <a:spcPct val="120000"/>
              </a:spcBef>
              <a:buSzTx/>
              <a:buFontTx/>
              <a:buAutoNum type="arabicPeriod"/>
            </a:pPr>
            <a:r>
              <a:rPr lang="en-US" sz="2000" b="1"/>
              <a:t>Facilitate the realization of improved IT “PARTS”: </a:t>
            </a:r>
          </a:p>
          <a:p>
            <a:pPr marL="1092200" lvl="1" indent="-457200">
              <a:lnSpc>
                <a:spcPct val="30000"/>
              </a:lnSpc>
              <a:spcBef>
                <a:spcPct val="120000"/>
              </a:spcBef>
            </a:pPr>
            <a:r>
              <a:rPr lang="en-US" sz="2000" b="1" i="1" u="sng"/>
              <a:t>P</a:t>
            </a:r>
            <a:r>
              <a:rPr lang="en-US" sz="2000" i="1"/>
              <a:t>erformance;</a:t>
            </a:r>
          </a:p>
          <a:p>
            <a:pPr marL="1092200" lvl="1" indent="-457200">
              <a:lnSpc>
                <a:spcPct val="30000"/>
              </a:lnSpc>
              <a:spcBef>
                <a:spcPct val="120000"/>
              </a:spcBef>
            </a:pPr>
            <a:r>
              <a:rPr lang="en-US" sz="2000" b="1" i="1" u="sng"/>
              <a:t>A</a:t>
            </a:r>
            <a:r>
              <a:rPr lang="en-US" sz="2000" i="1"/>
              <a:t>vailability;</a:t>
            </a:r>
          </a:p>
          <a:p>
            <a:pPr marL="1092200" lvl="1" indent="-457200">
              <a:lnSpc>
                <a:spcPct val="30000"/>
              </a:lnSpc>
              <a:spcBef>
                <a:spcPct val="120000"/>
              </a:spcBef>
            </a:pPr>
            <a:r>
              <a:rPr lang="en-US" sz="2000" b="1" i="1" u="sng"/>
              <a:t>R</a:t>
            </a:r>
            <a:r>
              <a:rPr lang="en-US" sz="2000" i="1"/>
              <a:t>eliability;</a:t>
            </a:r>
          </a:p>
          <a:p>
            <a:pPr marL="1092200" lvl="1" indent="-457200">
              <a:lnSpc>
                <a:spcPct val="30000"/>
              </a:lnSpc>
              <a:spcBef>
                <a:spcPct val="120000"/>
              </a:spcBef>
            </a:pPr>
            <a:r>
              <a:rPr lang="en-US" sz="2000" b="1" i="1" u="sng"/>
              <a:t>T</a:t>
            </a:r>
            <a:r>
              <a:rPr lang="en-US" sz="2000" i="1"/>
              <a:t>estability;</a:t>
            </a:r>
          </a:p>
          <a:p>
            <a:pPr marL="1092200" lvl="1" indent="-457200">
              <a:lnSpc>
                <a:spcPct val="30000"/>
              </a:lnSpc>
              <a:spcBef>
                <a:spcPct val="120000"/>
              </a:spcBef>
            </a:pPr>
            <a:r>
              <a:rPr lang="en-US" sz="2000" b="1" i="1" u="sng"/>
              <a:t>S</a:t>
            </a:r>
            <a:r>
              <a:rPr lang="en-US" sz="2000" i="1"/>
              <a:t>calability</a:t>
            </a:r>
            <a:endParaRPr lang="en-US" sz="20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3214" name="Rectangle 78"/>
          <p:cNvSpPr>
            <a:spLocks noChangeArrowheads="1"/>
          </p:cNvSpPr>
          <p:nvPr/>
        </p:nvSpPr>
        <p:spPr bwMode="auto">
          <a:xfrm>
            <a:off x="0" y="269875"/>
            <a:ext cx="9144000" cy="476250"/>
          </a:xfrm>
          <a:prstGeom prst="rect">
            <a:avLst/>
          </a:prstGeom>
          <a:noFill/>
          <a:ln w="9525">
            <a:noFill/>
            <a:miter lim="800000"/>
            <a:headEnd/>
            <a:tailEnd/>
          </a:ln>
          <a:effectLst/>
        </p:spPr>
        <p:txBody>
          <a:bodyPr lIns="137160" rIns="137160" anchor="ctr">
            <a:spAutoFit/>
          </a:bodyPr>
          <a:lstStyle/>
          <a:p>
            <a:pPr>
              <a:lnSpc>
                <a:spcPct val="70000"/>
              </a:lnSpc>
            </a:pPr>
            <a:r>
              <a:rPr lang="en-US" sz="3600" b="1">
                <a:latin typeface="Arial Narrow" pitchFamily="34" charset="0"/>
              </a:rPr>
              <a:t>“What” is Architecture </a:t>
            </a:r>
            <a:r>
              <a:rPr lang="en-US" sz="2400">
                <a:latin typeface="Arial Narrow" pitchFamily="34" charset="0"/>
              </a:rPr>
              <a:t>(Goals)</a:t>
            </a:r>
            <a:r>
              <a:rPr lang="en-US" sz="3600" b="1">
                <a:latin typeface="Arial Narrow" pitchFamily="34" charset="0"/>
              </a:rPr>
              <a:t> </a:t>
            </a:r>
          </a:p>
        </p:txBody>
      </p:sp>
      <p:sp>
        <p:nvSpPr>
          <p:cNvPr id="2523217" name="Rectangle 81"/>
          <p:cNvSpPr>
            <a:spLocks noGrp="1" noChangeArrowheads="1"/>
          </p:cNvSpPr>
          <p:nvPr>
            <p:ph type="body" idx="1"/>
          </p:nvPr>
        </p:nvSpPr>
        <p:spPr>
          <a:xfrm>
            <a:off x="444500" y="1511300"/>
            <a:ext cx="8483600" cy="4076700"/>
          </a:xfrm>
          <a:noFill/>
          <a:ln/>
        </p:spPr>
        <p:txBody>
          <a:bodyPr/>
          <a:lstStyle/>
          <a:p>
            <a:pPr marL="0" indent="0">
              <a:lnSpc>
                <a:spcPct val="80000"/>
              </a:lnSpc>
              <a:spcBef>
                <a:spcPct val="80000"/>
              </a:spcBef>
              <a:buFontTx/>
              <a:buNone/>
            </a:pPr>
            <a:r>
              <a:rPr lang="en-US" sz="2400" b="1"/>
              <a:t>Convergence of tools, techniques and solutions to gain efficiencies across multiple lines of business operations;</a:t>
            </a:r>
          </a:p>
          <a:p>
            <a:pPr marL="0" indent="0">
              <a:lnSpc>
                <a:spcPct val="80000"/>
              </a:lnSpc>
              <a:spcBef>
                <a:spcPct val="80000"/>
              </a:spcBef>
              <a:buFontTx/>
              <a:buNone/>
            </a:pPr>
            <a:r>
              <a:rPr lang="en-US" sz="2400" b="1"/>
              <a:t>Bridge the knowledge gap across the organization;</a:t>
            </a:r>
          </a:p>
          <a:p>
            <a:pPr marL="0" indent="0">
              <a:lnSpc>
                <a:spcPct val="80000"/>
              </a:lnSpc>
              <a:spcBef>
                <a:spcPct val="80000"/>
              </a:spcBef>
              <a:buFontTx/>
              <a:buNone/>
            </a:pPr>
            <a:r>
              <a:rPr lang="en-US" sz="2400" b="1"/>
              <a:t>Simplify complexity;</a:t>
            </a:r>
          </a:p>
          <a:p>
            <a:pPr marL="0" indent="0">
              <a:lnSpc>
                <a:spcPct val="80000"/>
              </a:lnSpc>
              <a:spcBef>
                <a:spcPct val="80000"/>
              </a:spcBef>
              <a:buFontTx/>
              <a:buNone/>
            </a:pPr>
            <a:r>
              <a:rPr lang="en-US" sz="2400" b="1"/>
              <a:t>Isolate dependencies;</a:t>
            </a:r>
          </a:p>
          <a:p>
            <a:pPr marL="0" indent="0">
              <a:lnSpc>
                <a:spcPct val="80000"/>
              </a:lnSpc>
              <a:spcBef>
                <a:spcPct val="80000"/>
              </a:spcBef>
              <a:buFontTx/>
              <a:buNone/>
            </a:pPr>
            <a:r>
              <a:rPr lang="en-US" sz="2400" b="1"/>
              <a:t>Better resource utilization;</a:t>
            </a:r>
          </a:p>
          <a:p>
            <a:pPr marL="0" indent="0">
              <a:lnSpc>
                <a:spcPct val="80000"/>
              </a:lnSpc>
              <a:spcBef>
                <a:spcPct val="80000"/>
              </a:spcBef>
              <a:buFontTx/>
              <a:buNone/>
            </a:pPr>
            <a:r>
              <a:rPr lang="en-US" sz="2400" b="1"/>
              <a:t>Less redundancy across all technology areas.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523217">
                                            <p:txEl>
                                              <p:pRg st="0" end="0"/>
                                            </p:txEl>
                                          </p:spTgt>
                                        </p:tgtEl>
                                        <p:attrNameLst>
                                          <p:attrName>style.visibility</p:attrName>
                                        </p:attrNameLst>
                                      </p:cBhvr>
                                      <p:to>
                                        <p:strVal val="visible"/>
                                      </p:to>
                                    </p:set>
                                    <p:animEffect transition="in" filter="slide(fromTop)">
                                      <p:cBhvr>
                                        <p:cTn id="7" dur="500"/>
                                        <p:tgtEl>
                                          <p:spTgt spid="25232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523217">
                                            <p:txEl>
                                              <p:pRg st="1" end="1"/>
                                            </p:txEl>
                                          </p:spTgt>
                                        </p:tgtEl>
                                        <p:attrNameLst>
                                          <p:attrName>style.visibility</p:attrName>
                                        </p:attrNameLst>
                                      </p:cBhvr>
                                      <p:to>
                                        <p:strVal val="visible"/>
                                      </p:to>
                                    </p:set>
                                    <p:animEffect transition="in" filter="slide(fromTop)">
                                      <p:cBhvr>
                                        <p:cTn id="12" dur="500"/>
                                        <p:tgtEl>
                                          <p:spTgt spid="25232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523217">
                                            <p:txEl>
                                              <p:pRg st="2" end="2"/>
                                            </p:txEl>
                                          </p:spTgt>
                                        </p:tgtEl>
                                        <p:attrNameLst>
                                          <p:attrName>style.visibility</p:attrName>
                                        </p:attrNameLst>
                                      </p:cBhvr>
                                      <p:to>
                                        <p:strVal val="visible"/>
                                      </p:to>
                                    </p:set>
                                    <p:animEffect transition="in" filter="slide(fromTop)">
                                      <p:cBhvr>
                                        <p:cTn id="17" dur="500"/>
                                        <p:tgtEl>
                                          <p:spTgt spid="25232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2523217">
                                            <p:txEl>
                                              <p:pRg st="3" end="3"/>
                                            </p:txEl>
                                          </p:spTgt>
                                        </p:tgtEl>
                                        <p:attrNameLst>
                                          <p:attrName>style.visibility</p:attrName>
                                        </p:attrNameLst>
                                      </p:cBhvr>
                                      <p:to>
                                        <p:strVal val="visible"/>
                                      </p:to>
                                    </p:set>
                                    <p:animEffect transition="in" filter="slide(fromTop)">
                                      <p:cBhvr>
                                        <p:cTn id="22" dur="500"/>
                                        <p:tgtEl>
                                          <p:spTgt spid="25232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2523217">
                                            <p:txEl>
                                              <p:pRg st="4" end="4"/>
                                            </p:txEl>
                                          </p:spTgt>
                                        </p:tgtEl>
                                        <p:attrNameLst>
                                          <p:attrName>style.visibility</p:attrName>
                                        </p:attrNameLst>
                                      </p:cBhvr>
                                      <p:to>
                                        <p:strVal val="visible"/>
                                      </p:to>
                                    </p:set>
                                    <p:animEffect transition="in" filter="slide(fromTop)">
                                      <p:cBhvr>
                                        <p:cTn id="27" dur="500"/>
                                        <p:tgtEl>
                                          <p:spTgt spid="25232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2523217">
                                            <p:txEl>
                                              <p:pRg st="5" end="5"/>
                                            </p:txEl>
                                          </p:spTgt>
                                        </p:tgtEl>
                                        <p:attrNameLst>
                                          <p:attrName>style.visibility</p:attrName>
                                        </p:attrNameLst>
                                      </p:cBhvr>
                                      <p:to>
                                        <p:strVal val="visible"/>
                                      </p:to>
                                    </p:set>
                                    <p:animEffect transition="in" filter="slide(fromTop)">
                                      <p:cBhvr>
                                        <p:cTn id="32" dur="500"/>
                                        <p:tgtEl>
                                          <p:spTgt spid="25232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321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2354" name="Rectangle 2"/>
          <p:cNvSpPr>
            <a:spLocks noGrp="1" noChangeArrowheads="1"/>
          </p:cNvSpPr>
          <p:nvPr>
            <p:ph type="title"/>
          </p:nvPr>
        </p:nvSpPr>
        <p:spPr>
          <a:xfrm>
            <a:off x="0" y="257175"/>
            <a:ext cx="9144000" cy="476250"/>
          </a:xfrm>
        </p:spPr>
        <p:txBody>
          <a:bodyPr/>
          <a:lstStyle/>
          <a:p>
            <a:pPr>
              <a:lnSpc>
                <a:spcPct val="70000"/>
              </a:lnSpc>
            </a:pPr>
            <a:r>
              <a:rPr lang="en-US" sz="3600"/>
              <a:t>“What” is Architecture </a:t>
            </a:r>
            <a:r>
              <a:rPr lang="en-US" sz="2400" b="0"/>
              <a:t>(Scope)</a:t>
            </a:r>
            <a:r>
              <a:rPr lang="en-US" sz="3600"/>
              <a:t> </a:t>
            </a:r>
          </a:p>
        </p:txBody>
      </p:sp>
      <p:sp>
        <p:nvSpPr>
          <p:cNvPr id="2532355" name="Rectangle 3"/>
          <p:cNvSpPr>
            <a:spLocks noGrp="1" noChangeArrowheads="1"/>
          </p:cNvSpPr>
          <p:nvPr>
            <p:ph type="body" idx="1"/>
          </p:nvPr>
        </p:nvSpPr>
        <p:spPr>
          <a:xfrm>
            <a:off x="241300" y="1155700"/>
            <a:ext cx="8902700" cy="2336800"/>
          </a:xfrm>
        </p:spPr>
        <p:txBody>
          <a:bodyPr/>
          <a:lstStyle/>
          <a:p>
            <a:pPr marL="0" indent="0">
              <a:spcBef>
                <a:spcPct val="120000"/>
              </a:spcBef>
              <a:buFontTx/>
              <a:buNone/>
            </a:pPr>
            <a:r>
              <a:rPr lang="en-US" sz="2400" b="1"/>
              <a:t>Similar to blueprints for a </a:t>
            </a:r>
            <a:r>
              <a:rPr lang="en-US" sz="2400" b="1" i="1" u="sng"/>
              <a:t>bridge architecture</a:t>
            </a:r>
            <a:r>
              <a:rPr lang="en-US" sz="2400" b="1" i="1"/>
              <a:t> </a:t>
            </a:r>
            <a:r>
              <a:rPr lang="en-US" sz="2400" b="1"/>
              <a:t>defining the:</a:t>
            </a:r>
          </a:p>
          <a:p>
            <a:pPr lvl="1">
              <a:lnSpc>
                <a:spcPct val="50000"/>
              </a:lnSpc>
              <a:spcBef>
                <a:spcPct val="50000"/>
              </a:spcBef>
            </a:pPr>
            <a:r>
              <a:rPr lang="en-US" sz="2400"/>
              <a:t>Themes; </a:t>
            </a:r>
          </a:p>
          <a:p>
            <a:pPr lvl="1">
              <a:lnSpc>
                <a:spcPct val="50000"/>
              </a:lnSpc>
              <a:spcBef>
                <a:spcPct val="50000"/>
              </a:spcBef>
            </a:pPr>
            <a:r>
              <a:rPr lang="en-US" sz="2400"/>
              <a:t>Materials, and; </a:t>
            </a:r>
          </a:p>
          <a:p>
            <a:pPr lvl="1">
              <a:lnSpc>
                <a:spcPct val="50000"/>
              </a:lnSpc>
              <a:spcBef>
                <a:spcPct val="50000"/>
              </a:spcBef>
            </a:pPr>
            <a:r>
              <a:rPr lang="en-US" sz="2400"/>
              <a:t>Inter-connections </a:t>
            </a:r>
          </a:p>
          <a:p>
            <a:pPr marL="0" indent="0">
              <a:lnSpc>
                <a:spcPct val="85000"/>
              </a:lnSpc>
              <a:spcBef>
                <a:spcPct val="50000"/>
              </a:spcBef>
              <a:buFontTx/>
              <a:buNone/>
            </a:pPr>
            <a:r>
              <a:rPr lang="en-US" sz="2400" b="1"/>
              <a:t>guiding construction of a “span” between two points…</a:t>
            </a:r>
            <a:endParaRPr lang="en-US" sz="2800"/>
          </a:p>
        </p:txBody>
      </p:sp>
      <p:sp>
        <p:nvSpPr>
          <p:cNvPr id="2532356" name="Text Box 4"/>
          <p:cNvSpPr txBox="1">
            <a:spLocks noChangeArrowheads="1"/>
          </p:cNvSpPr>
          <p:nvPr/>
        </p:nvSpPr>
        <p:spPr bwMode="auto">
          <a:xfrm>
            <a:off x="215900" y="4000500"/>
            <a:ext cx="8915400" cy="2251075"/>
          </a:xfrm>
          <a:prstGeom prst="rect">
            <a:avLst/>
          </a:prstGeom>
          <a:noFill/>
          <a:ln w="9525">
            <a:noFill/>
            <a:miter lim="800000"/>
            <a:headEnd/>
            <a:tailEnd/>
          </a:ln>
          <a:effectLst/>
        </p:spPr>
        <p:txBody>
          <a:bodyPr>
            <a:spAutoFit/>
          </a:bodyPr>
          <a:lstStyle/>
          <a:p>
            <a:pPr algn="l">
              <a:spcBef>
                <a:spcPct val="120000"/>
              </a:spcBef>
              <a:buClr>
                <a:schemeClr val="folHlink"/>
              </a:buClr>
              <a:buSzPct val="120000"/>
            </a:pPr>
            <a:r>
              <a:rPr lang="en-US" sz="2400" b="1" i="1"/>
              <a:t>…</a:t>
            </a:r>
            <a:r>
              <a:rPr lang="en-US" sz="2400" b="1" i="1" u="sng"/>
              <a:t>Enterprise Architecture</a:t>
            </a:r>
            <a:r>
              <a:rPr lang="en-US" sz="2400" b="1"/>
              <a:t> defines the:</a:t>
            </a:r>
          </a:p>
          <a:p>
            <a:pPr lvl="1" algn="l">
              <a:lnSpc>
                <a:spcPct val="50000"/>
              </a:lnSpc>
              <a:spcBef>
                <a:spcPct val="50000"/>
              </a:spcBef>
              <a:buClr>
                <a:srgbClr val="339765"/>
              </a:buClr>
              <a:buFont typeface="Wingdings" pitchFamily="2" charset="2"/>
              <a:buChar char="Ø"/>
            </a:pPr>
            <a:r>
              <a:rPr lang="en-US" sz="2400"/>
              <a:t>Tenets;</a:t>
            </a:r>
          </a:p>
          <a:p>
            <a:pPr lvl="1" algn="l">
              <a:lnSpc>
                <a:spcPct val="50000"/>
              </a:lnSpc>
              <a:spcBef>
                <a:spcPct val="50000"/>
              </a:spcBef>
              <a:buClr>
                <a:srgbClr val="339765"/>
              </a:buClr>
              <a:buFont typeface="Wingdings" pitchFamily="2" charset="2"/>
              <a:buChar char="Ø"/>
            </a:pPr>
            <a:r>
              <a:rPr lang="en-US" sz="2400"/>
              <a:t>Tools and components, and; </a:t>
            </a:r>
          </a:p>
          <a:p>
            <a:pPr lvl="1" algn="l">
              <a:lnSpc>
                <a:spcPct val="50000"/>
              </a:lnSpc>
              <a:spcBef>
                <a:spcPct val="50000"/>
              </a:spcBef>
              <a:buClr>
                <a:srgbClr val="339765"/>
              </a:buClr>
              <a:buFont typeface="Wingdings" pitchFamily="2" charset="2"/>
              <a:buChar char="Ø"/>
            </a:pPr>
            <a:r>
              <a:rPr lang="en-US" sz="2400"/>
              <a:t>Dependencies</a:t>
            </a:r>
          </a:p>
          <a:p>
            <a:pPr algn="l">
              <a:lnSpc>
                <a:spcPct val="85000"/>
              </a:lnSpc>
              <a:spcBef>
                <a:spcPct val="50000"/>
              </a:spcBef>
              <a:buClr>
                <a:schemeClr val="folHlink"/>
              </a:buClr>
              <a:buSzPct val="120000"/>
            </a:pPr>
            <a:r>
              <a:rPr lang="en-US" sz="2400" b="1"/>
              <a:t>to shape convergence between multiple teams/systems.</a:t>
            </a:r>
            <a:endParaRPr lang="en-US" sz="2400"/>
          </a:p>
          <a:p>
            <a:pPr>
              <a:spcBef>
                <a:spcPct val="50000"/>
              </a:spcBef>
            </a:pPr>
            <a:endParaRPr lang="en-US"/>
          </a:p>
        </p:txBody>
      </p:sp>
      <p:sp>
        <p:nvSpPr>
          <p:cNvPr id="2532357" name="Oval 5"/>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532355">
                                            <p:txEl>
                                              <p:pRg st="0" end="0"/>
                                            </p:txEl>
                                          </p:spTgt>
                                        </p:tgtEl>
                                        <p:attrNameLst>
                                          <p:attrName>style.visibility</p:attrName>
                                        </p:attrNameLst>
                                      </p:cBhvr>
                                      <p:to>
                                        <p:strVal val="visible"/>
                                      </p:to>
                                    </p:set>
                                    <p:animEffect transition="in" filter="slide(fromTop)">
                                      <p:cBhvr>
                                        <p:cTn id="7" dur="500"/>
                                        <p:tgtEl>
                                          <p:spTgt spid="2532355">
                                            <p:txEl>
                                              <p:pRg st="0" end="0"/>
                                            </p:txEl>
                                          </p:spTgt>
                                        </p:tgtEl>
                                      </p:cBhvr>
                                    </p:animEffect>
                                  </p:childTnLst>
                                </p:cTn>
                              </p:par>
                              <p:par>
                                <p:cTn id="8" presetID="12" presetClass="entr" presetSubtype="1" fill="hold" grpId="0" nodeType="withEffect">
                                  <p:stCondLst>
                                    <p:cond delay="0"/>
                                  </p:stCondLst>
                                  <p:childTnLst>
                                    <p:set>
                                      <p:cBhvr>
                                        <p:cTn id="9" dur="1" fill="hold">
                                          <p:stCondLst>
                                            <p:cond delay="0"/>
                                          </p:stCondLst>
                                        </p:cTn>
                                        <p:tgtEl>
                                          <p:spTgt spid="2532355">
                                            <p:txEl>
                                              <p:pRg st="1" end="1"/>
                                            </p:txEl>
                                          </p:spTgt>
                                        </p:tgtEl>
                                        <p:attrNameLst>
                                          <p:attrName>style.visibility</p:attrName>
                                        </p:attrNameLst>
                                      </p:cBhvr>
                                      <p:to>
                                        <p:strVal val="visible"/>
                                      </p:to>
                                    </p:set>
                                    <p:animEffect transition="in" filter="slide(fromTop)">
                                      <p:cBhvr>
                                        <p:cTn id="10" dur="500"/>
                                        <p:tgtEl>
                                          <p:spTgt spid="2532355">
                                            <p:txEl>
                                              <p:pRg st="1" end="1"/>
                                            </p:txEl>
                                          </p:spTgt>
                                        </p:tgtEl>
                                      </p:cBhvr>
                                    </p:animEffect>
                                  </p:childTnLst>
                                </p:cTn>
                              </p:par>
                              <p:par>
                                <p:cTn id="11" presetID="12" presetClass="entr" presetSubtype="1" fill="hold" grpId="0" nodeType="withEffect">
                                  <p:stCondLst>
                                    <p:cond delay="0"/>
                                  </p:stCondLst>
                                  <p:childTnLst>
                                    <p:set>
                                      <p:cBhvr>
                                        <p:cTn id="12" dur="1" fill="hold">
                                          <p:stCondLst>
                                            <p:cond delay="0"/>
                                          </p:stCondLst>
                                        </p:cTn>
                                        <p:tgtEl>
                                          <p:spTgt spid="2532355">
                                            <p:txEl>
                                              <p:pRg st="2" end="2"/>
                                            </p:txEl>
                                          </p:spTgt>
                                        </p:tgtEl>
                                        <p:attrNameLst>
                                          <p:attrName>style.visibility</p:attrName>
                                        </p:attrNameLst>
                                      </p:cBhvr>
                                      <p:to>
                                        <p:strVal val="visible"/>
                                      </p:to>
                                    </p:set>
                                    <p:animEffect transition="in" filter="slide(fromTop)">
                                      <p:cBhvr>
                                        <p:cTn id="13" dur="500"/>
                                        <p:tgtEl>
                                          <p:spTgt spid="2532355">
                                            <p:txEl>
                                              <p:pRg st="2" end="2"/>
                                            </p:txEl>
                                          </p:spTgt>
                                        </p:tgtEl>
                                      </p:cBhvr>
                                    </p:animEffect>
                                  </p:childTnLst>
                                </p:cTn>
                              </p:par>
                              <p:par>
                                <p:cTn id="14" presetID="12" presetClass="entr" presetSubtype="1" fill="hold" grpId="0" nodeType="withEffect">
                                  <p:stCondLst>
                                    <p:cond delay="0"/>
                                  </p:stCondLst>
                                  <p:childTnLst>
                                    <p:set>
                                      <p:cBhvr>
                                        <p:cTn id="15" dur="1" fill="hold">
                                          <p:stCondLst>
                                            <p:cond delay="0"/>
                                          </p:stCondLst>
                                        </p:cTn>
                                        <p:tgtEl>
                                          <p:spTgt spid="2532355">
                                            <p:txEl>
                                              <p:pRg st="3" end="3"/>
                                            </p:txEl>
                                          </p:spTgt>
                                        </p:tgtEl>
                                        <p:attrNameLst>
                                          <p:attrName>style.visibility</p:attrName>
                                        </p:attrNameLst>
                                      </p:cBhvr>
                                      <p:to>
                                        <p:strVal val="visible"/>
                                      </p:to>
                                    </p:set>
                                    <p:animEffect transition="in" filter="slide(fromTop)">
                                      <p:cBhvr>
                                        <p:cTn id="16" dur="500"/>
                                        <p:tgtEl>
                                          <p:spTgt spid="2532355">
                                            <p:txEl>
                                              <p:pRg st="3" end="3"/>
                                            </p:txEl>
                                          </p:spTgt>
                                        </p:tgtEl>
                                      </p:cBhvr>
                                    </p:animEffect>
                                  </p:childTnLst>
                                </p:cTn>
                              </p:par>
                            </p:childTnLst>
                          </p:cTn>
                        </p:par>
                        <p:par>
                          <p:cTn id="17" fill="hold">
                            <p:stCondLst>
                              <p:cond delay="500"/>
                            </p:stCondLst>
                            <p:childTnLst>
                              <p:par>
                                <p:cTn id="18" presetID="12" presetClass="entr" presetSubtype="1" fill="hold" grpId="0" nodeType="afterEffect">
                                  <p:stCondLst>
                                    <p:cond delay="0"/>
                                  </p:stCondLst>
                                  <p:childTnLst>
                                    <p:set>
                                      <p:cBhvr>
                                        <p:cTn id="19" dur="1" fill="hold">
                                          <p:stCondLst>
                                            <p:cond delay="0"/>
                                          </p:stCondLst>
                                        </p:cTn>
                                        <p:tgtEl>
                                          <p:spTgt spid="2532355">
                                            <p:txEl>
                                              <p:pRg st="4" end="4"/>
                                            </p:txEl>
                                          </p:spTgt>
                                        </p:tgtEl>
                                        <p:attrNameLst>
                                          <p:attrName>style.visibility</p:attrName>
                                        </p:attrNameLst>
                                      </p:cBhvr>
                                      <p:to>
                                        <p:strVal val="visible"/>
                                      </p:to>
                                    </p:set>
                                    <p:animEffect transition="in" filter="slide(fromTop)">
                                      <p:cBhvr>
                                        <p:cTn id="20" dur="500"/>
                                        <p:tgtEl>
                                          <p:spTgt spid="253235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2532356"/>
                                        </p:tgtEl>
                                        <p:attrNameLst>
                                          <p:attrName>style.visibility</p:attrName>
                                        </p:attrNameLst>
                                      </p:cBhvr>
                                      <p:to>
                                        <p:strVal val="visible"/>
                                      </p:to>
                                    </p:set>
                                    <p:animEffect transition="in" filter="slide(fromTop)">
                                      <p:cBhvr>
                                        <p:cTn id="25" dur="500"/>
                                        <p:tgtEl>
                                          <p:spTgt spid="2532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2355" grpId="0" build="p" autoUpdateAnimBg="0" advAuto="0"/>
      <p:bldP spid="253235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2834" name="Rectangle 2"/>
          <p:cNvSpPr>
            <a:spLocks noGrp="1" noChangeArrowheads="1"/>
          </p:cNvSpPr>
          <p:nvPr>
            <p:ph type="title"/>
          </p:nvPr>
        </p:nvSpPr>
        <p:spPr>
          <a:xfrm>
            <a:off x="0" y="257175"/>
            <a:ext cx="9144000" cy="476250"/>
          </a:xfrm>
        </p:spPr>
        <p:txBody>
          <a:bodyPr/>
          <a:lstStyle/>
          <a:p>
            <a:pPr>
              <a:lnSpc>
                <a:spcPct val="70000"/>
              </a:lnSpc>
            </a:pPr>
            <a:r>
              <a:rPr lang="en-US" sz="3600"/>
              <a:t>“What” is Architecture </a:t>
            </a:r>
            <a:r>
              <a:rPr lang="en-US" sz="2400" b="0"/>
              <a:t>(Operations)</a:t>
            </a:r>
            <a:r>
              <a:rPr lang="en-US" sz="3600"/>
              <a:t> </a:t>
            </a:r>
          </a:p>
        </p:txBody>
      </p:sp>
      <p:sp>
        <p:nvSpPr>
          <p:cNvPr id="2552835" name="Rectangle 3"/>
          <p:cNvSpPr>
            <a:spLocks noGrp="1" noChangeArrowheads="1"/>
          </p:cNvSpPr>
          <p:nvPr>
            <p:ph type="body" idx="1"/>
          </p:nvPr>
        </p:nvSpPr>
        <p:spPr>
          <a:xfrm>
            <a:off x="304800" y="1041400"/>
            <a:ext cx="8699500" cy="5207000"/>
          </a:xfrm>
        </p:spPr>
        <p:txBody>
          <a:bodyPr/>
          <a:lstStyle/>
          <a:p>
            <a:pPr marL="0" indent="0">
              <a:spcBef>
                <a:spcPct val="120000"/>
              </a:spcBef>
              <a:buFontTx/>
              <a:buNone/>
            </a:pPr>
            <a:r>
              <a:rPr lang="en-US" sz="2000" b="1"/>
              <a:t>The enterprise architecture team develops blueprints to describe in explicit detail the:</a:t>
            </a:r>
          </a:p>
          <a:p>
            <a:pPr lvl="1">
              <a:lnSpc>
                <a:spcPct val="85000"/>
              </a:lnSpc>
              <a:spcBef>
                <a:spcPct val="50000"/>
              </a:spcBef>
            </a:pPr>
            <a:r>
              <a:rPr lang="en-US" sz="2000"/>
              <a:t>Solution boundaries; </a:t>
            </a:r>
          </a:p>
          <a:p>
            <a:pPr lvl="1">
              <a:lnSpc>
                <a:spcPct val="50000"/>
              </a:lnSpc>
              <a:spcBef>
                <a:spcPct val="50000"/>
              </a:spcBef>
            </a:pPr>
            <a:r>
              <a:rPr lang="en-US" sz="2000"/>
              <a:t>Technical approach; </a:t>
            </a:r>
          </a:p>
          <a:p>
            <a:pPr lvl="1">
              <a:lnSpc>
                <a:spcPct val="50000"/>
              </a:lnSpc>
              <a:spcBef>
                <a:spcPct val="50000"/>
              </a:spcBef>
            </a:pPr>
            <a:r>
              <a:rPr lang="en-US" sz="2000"/>
              <a:t>Tools and technologies;</a:t>
            </a:r>
          </a:p>
          <a:p>
            <a:pPr lvl="1">
              <a:lnSpc>
                <a:spcPct val="50000"/>
              </a:lnSpc>
              <a:spcBef>
                <a:spcPct val="50000"/>
              </a:spcBef>
            </a:pPr>
            <a:r>
              <a:rPr lang="en-US" sz="2000"/>
              <a:t>Raw components and interfaces.</a:t>
            </a:r>
            <a:r>
              <a:rPr lang="en-US" sz="2000" b="1"/>
              <a:t> </a:t>
            </a:r>
          </a:p>
          <a:p>
            <a:pPr marL="0" indent="0">
              <a:spcBef>
                <a:spcPct val="120000"/>
              </a:spcBef>
              <a:buFontTx/>
              <a:buNone/>
            </a:pPr>
            <a:r>
              <a:rPr lang="en-US" sz="2000" b="1"/>
              <a:t>The Project teams utilize these blueprints in the development of business solutions.</a:t>
            </a:r>
          </a:p>
          <a:p>
            <a:pPr marL="0" indent="0">
              <a:spcBef>
                <a:spcPct val="120000"/>
              </a:spcBef>
              <a:buFontTx/>
              <a:buNone/>
            </a:pPr>
            <a:r>
              <a:rPr lang="en-US" sz="2000" b="1"/>
              <a:t>The Architecture team rewards developers for Project components submitted and accepted for inclusion in the SOA Framework.</a:t>
            </a:r>
          </a:p>
          <a:p>
            <a:pPr marL="0" indent="0">
              <a:spcBef>
                <a:spcPct val="120000"/>
              </a:spcBef>
              <a:buFontTx/>
              <a:buNone/>
            </a:pPr>
            <a:r>
              <a:rPr lang="en-US" sz="2000" b="1"/>
              <a:t>The Architecture team extends and supports components harvested from Projects to be reused by the enterprise as “EAI Services”.</a:t>
            </a:r>
          </a:p>
          <a:p>
            <a:pPr marL="0" indent="0">
              <a:spcBef>
                <a:spcPct val="120000"/>
              </a:spcBef>
              <a:buFontTx/>
              <a:buNone/>
            </a:pPr>
            <a:endParaRPr lang="en-US" sz="2000" b="1"/>
          </a:p>
        </p:txBody>
      </p:sp>
      <p:sp>
        <p:nvSpPr>
          <p:cNvPr id="2552838" name="Oval 6"/>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1331" name="Rectangle 3"/>
          <p:cNvSpPr>
            <a:spLocks noGrp="1" noChangeArrowheads="1"/>
          </p:cNvSpPr>
          <p:nvPr>
            <p:ph type="body" idx="1"/>
          </p:nvPr>
        </p:nvSpPr>
        <p:spPr>
          <a:xfrm>
            <a:off x="469900" y="1295400"/>
            <a:ext cx="8483600" cy="4889500"/>
          </a:xfrm>
        </p:spPr>
        <p:txBody>
          <a:bodyPr/>
          <a:lstStyle/>
          <a:p>
            <a:pPr marL="0" indent="0">
              <a:buFontTx/>
              <a:buNone/>
            </a:pPr>
            <a:r>
              <a:rPr lang="en-US" sz="2000" b="1" u="sng"/>
              <a:t>Architecture Document</a:t>
            </a:r>
            <a:r>
              <a:rPr lang="en-US" sz="2000"/>
              <a:t> – Maps the problem space to the solution space and presents the solution in terms of the business, systems/applications, data and technical views (see Architecture Tenets). </a:t>
            </a:r>
          </a:p>
          <a:p>
            <a:pPr marL="0" indent="0">
              <a:buFontTx/>
              <a:buNone/>
            </a:pPr>
            <a:endParaRPr lang="en-US" sz="2000"/>
          </a:p>
          <a:p>
            <a:pPr marL="0" indent="0">
              <a:buFontTx/>
              <a:buNone/>
            </a:pPr>
            <a:r>
              <a:rPr lang="en-US" sz="2000" b="1" u="sng"/>
              <a:t>Architecture Models and Tenets</a:t>
            </a:r>
            <a:r>
              <a:rPr lang="en-US" sz="2000"/>
              <a:t> – Define, own and maintain blueprints and associated principles and tenets that lead teams to convergence.</a:t>
            </a:r>
          </a:p>
          <a:p>
            <a:pPr marL="0" indent="0">
              <a:buFontTx/>
              <a:buNone/>
            </a:pPr>
            <a:endParaRPr lang="en-US" sz="2000"/>
          </a:p>
          <a:p>
            <a:pPr marL="0" indent="0">
              <a:buFontTx/>
              <a:buNone/>
            </a:pPr>
            <a:r>
              <a:rPr lang="en-US" sz="2000" b="1" u="sng"/>
              <a:t>EAI Services</a:t>
            </a:r>
            <a:r>
              <a:rPr lang="en-US" sz="2000"/>
              <a:t> – Identify, specify, design and mentor delivery of shared functionally autonomous “</a:t>
            </a:r>
            <a:r>
              <a:rPr lang="en-US" sz="2200" b="1" u="sng"/>
              <a:t>E</a:t>
            </a:r>
            <a:r>
              <a:rPr lang="en-US" sz="2000"/>
              <a:t>nterprise </a:t>
            </a:r>
            <a:r>
              <a:rPr lang="en-US" sz="2200" b="1" u="sng"/>
              <a:t>A</a:t>
            </a:r>
            <a:r>
              <a:rPr lang="en-US" sz="2000"/>
              <a:t>pplication </a:t>
            </a:r>
            <a:r>
              <a:rPr lang="en-US" sz="2200" b="1" u="sng"/>
              <a:t>I</a:t>
            </a:r>
            <a:r>
              <a:rPr lang="en-US" sz="2000"/>
              <a:t>ntegration Services” usable by multiple lines of operations.</a:t>
            </a:r>
          </a:p>
          <a:p>
            <a:pPr marL="0" indent="0">
              <a:buFontTx/>
              <a:buNone/>
            </a:pPr>
            <a:endParaRPr lang="en-US" sz="2000"/>
          </a:p>
          <a:p>
            <a:pPr marL="0" indent="0">
              <a:buFontTx/>
              <a:buNone/>
            </a:pPr>
            <a:r>
              <a:rPr lang="en-US" sz="2000" b="1" u="sng"/>
              <a:t>SOA Framework</a:t>
            </a:r>
            <a:r>
              <a:rPr lang="en-US" sz="2000"/>
              <a:t> – ID commonly needed EAI Services across the organization and assist Projects in their adoption and implementation.</a:t>
            </a:r>
          </a:p>
          <a:p>
            <a:pPr marL="0" indent="0">
              <a:buFontTx/>
              <a:buNone/>
            </a:pPr>
            <a:endParaRPr lang="en-US" sz="2000"/>
          </a:p>
        </p:txBody>
      </p:sp>
      <p:sp>
        <p:nvSpPr>
          <p:cNvPr id="2531333" name="Rectangle 5"/>
          <p:cNvSpPr>
            <a:spLocks noGrp="1" noChangeArrowheads="1"/>
          </p:cNvSpPr>
          <p:nvPr>
            <p:ph type="title"/>
          </p:nvPr>
        </p:nvSpPr>
        <p:spPr>
          <a:xfrm>
            <a:off x="0" y="257175"/>
            <a:ext cx="9144000" cy="476250"/>
          </a:xfrm>
          <a:noFill/>
          <a:ln/>
        </p:spPr>
        <p:txBody>
          <a:bodyPr/>
          <a:lstStyle/>
          <a:p>
            <a:pPr>
              <a:lnSpc>
                <a:spcPct val="70000"/>
              </a:lnSpc>
            </a:pPr>
            <a:r>
              <a:rPr lang="en-US" sz="3600"/>
              <a:t>“What” is Architecture </a:t>
            </a:r>
            <a:r>
              <a:rPr lang="en-US" sz="2400" b="0"/>
              <a:t>(Deliverables)</a:t>
            </a:r>
            <a:r>
              <a:rPr lang="en-US" sz="3600"/>
              <a:t> </a:t>
            </a:r>
          </a:p>
        </p:txBody>
      </p:sp>
      <p:sp>
        <p:nvSpPr>
          <p:cNvPr id="2531335" name="Oval 7"/>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4403" name="Rectangle 3"/>
          <p:cNvSpPr>
            <a:spLocks noGrp="1" noChangeArrowheads="1"/>
          </p:cNvSpPr>
          <p:nvPr>
            <p:ph type="body" idx="1"/>
          </p:nvPr>
        </p:nvSpPr>
        <p:spPr>
          <a:xfrm>
            <a:off x="812800" y="1511300"/>
            <a:ext cx="7416800" cy="3911600"/>
          </a:xfrm>
        </p:spPr>
        <p:txBody>
          <a:bodyPr/>
          <a:lstStyle/>
          <a:p>
            <a:pPr marL="0" indent="0">
              <a:spcBef>
                <a:spcPct val="75000"/>
              </a:spcBef>
              <a:buFontTx/>
              <a:buNone/>
            </a:pPr>
            <a:r>
              <a:rPr lang="en-US" sz="2000" b="1"/>
              <a:t>Just as a </a:t>
            </a:r>
            <a:r>
              <a:rPr lang="en-US" sz="2000" b="1" i="1" u="sng"/>
              <a:t>Building Architect</a:t>
            </a:r>
            <a:r>
              <a:rPr lang="en-US" sz="2000" b="1"/>
              <a:t> defines principles and goals of a building project and incorporates them into blueprints…</a:t>
            </a:r>
          </a:p>
          <a:p>
            <a:pPr marL="0" indent="0">
              <a:spcBef>
                <a:spcPct val="75000"/>
              </a:spcBef>
              <a:buFontTx/>
              <a:buNone/>
            </a:pPr>
            <a:r>
              <a:rPr lang="en-US" sz="2000" b="1"/>
              <a:t>…an </a:t>
            </a:r>
            <a:r>
              <a:rPr lang="en-US" sz="2000" b="1" i="1" u="sng"/>
              <a:t>Enterprise Architect</a:t>
            </a:r>
            <a:r>
              <a:rPr lang="en-US" sz="2000" b="1"/>
              <a:t> uses visual modeling to specify  convergence of the:</a:t>
            </a:r>
          </a:p>
          <a:p>
            <a:pPr lvl="1">
              <a:lnSpc>
                <a:spcPct val="70000"/>
              </a:lnSpc>
              <a:spcBef>
                <a:spcPct val="50000"/>
              </a:spcBef>
            </a:pPr>
            <a:r>
              <a:rPr lang="en-US" sz="2000"/>
              <a:t>Development;</a:t>
            </a:r>
          </a:p>
          <a:p>
            <a:pPr lvl="1">
              <a:lnSpc>
                <a:spcPct val="70000"/>
              </a:lnSpc>
              <a:spcBef>
                <a:spcPct val="50000"/>
              </a:spcBef>
            </a:pPr>
            <a:r>
              <a:rPr lang="en-US" sz="2000"/>
              <a:t>Application;</a:t>
            </a:r>
          </a:p>
          <a:p>
            <a:pPr lvl="1">
              <a:lnSpc>
                <a:spcPct val="70000"/>
              </a:lnSpc>
              <a:spcBef>
                <a:spcPct val="50000"/>
              </a:spcBef>
            </a:pPr>
            <a:r>
              <a:rPr lang="en-US" sz="2000"/>
              <a:t>Data, and;</a:t>
            </a:r>
          </a:p>
          <a:p>
            <a:pPr lvl="1">
              <a:lnSpc>
                <a:spcPct val="70000"/>
              </a:lnSpc>
              <a:spcBef>
                <a:spcPct val="50000"/>
              </a:spcBef>
            </a:pPr>
            <a:r>
              <a:rPr lang="en-US" sz="2000"/>
              <a:t>Technical</a:t>
            </a:r>
          </a:p>
          <a:p>
            <a:pPr marL="0" indent="0">
              <a:spcBef>
                <a:spcPct val="75000"/>
              </a:spcBef>
              <a:buFontTx/>
              <a:buNone/>
            </a:pPr>
            <a:r>
              <a:rPr lang="en-US" sz="2000" b="1"/>
              <a:t>architecture(s) as the basis for construction of physical systems/services for each Project.</a:t>
            </a:r>
          </a:p>
        </p:txBody>
      </p:sp>
      <p:sp>
        <p:nvSpPr>
          <p:cNvPr id="2534405" name="Rectangle 5"/>
          <p:cNvSpPr>
            <a:spLocks noGrp="1" noChangeArrowheads="1"/>
          </p:cNvSpPr>
          <p:nvPr>
            <p:ph type="title"/>
          </p:nvPr>
        </p:nvSpPr>
        <p:spPr>
          <a:xfrm>
            <a:off x="0" y="257175"/>
            <a:ext cx="9144000" cy="476250"/>
          </a:xfrm>
          <a:noFill/>
          <a:ln/>
        </p:spPr>
        <p:txBody>
          <a:bodyPr/>
          <a:lstStyle/>
          <a:p>
            <a:pPr>
              <a:lnSpc>
                <a:spcPct val="70000"/>
              </a:lnSpc>
            </a:pPr>
            <a:r>
              <a:rPr lang="en-US" sz="3600"/>
              <a:t>“What” is Architecture </a:t>
            </a:r>
            <a:r>
              <a:rPr lang="en-US" sz="2400" b="0"/>
              <a:t>(Roles)</a:t>
            </a:r>
            <a:r>
              <a:rPr lang="en-US" sz="360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3859" name="Rectangle 3"/>
          <p:cNvSpPr>
            <a:spLocks noGrp="1" noChangeArrowheads="1"/>
          </p:cNvSpPr>
          <p:nvPr>
            <p:ph type="body" idx="1"/>
          </p:nvPr>
        </p:nvSpPr>
        <p:spPr>
          <a:xfrm>
            <a:off x="889000" y="1066800"/>
            <a:ext cx="7721600" cy="5308600"/>
          </a:xfrm>
        </p:spPr>
        <p:txBody>
          <a:bodyPr/>
          <a:lstStyle/>
          <a:p>
            <a:pPr marL="0" indent="0">
              <a:spcBef>
                <a:spcPct val="75000"/>
              </a:spcBef>
              <a:buFontTx/>
              <a:buNone/>
            </a:pPr>
            <a:r>
              <a:rPr lang="en-US" sz="2000" b="1"/>
              <a:t>The </a:t>
            </a:r>
            <a:r>
              <a:rPr lang="en-US" sz="2000" b="1" i="1"/>
              <a:t>Enterprise Architect</a:t>
            </a:r>
            <a:r>
              <a:rPr lang="en-US" sz="2000" b="1"/>
              <a:t> develops:</a:t>
            </a:r>
          </a:p>
          <a:p>
            <a:pPr lvl="1">
              <a:lnSpc>
                <a:spcPct val="50000"/>
              </a:lnSpc>
              <a:spcBef>
                <a:spcPct val="50000"/>
              </a:spcBef>
            </a:pPr>
            <a:r>
              <a:rPr lang="en-US" sz="2000"/>
              <a:t>Plans software modularity and integration strategies;</a:t>
            </a:r>
          </a:p>
          <a:p>
            <a:pPr lvl="1">
              <a:lnSpc>
                <a:spcPct val="50000"/>
              </a:lnSpc>
              <a:spcBef>
                <a:spcPct val="50000"/>
              </a:spcBef>
            </a:pPr>
            <a:r>
              <a:rPr lang="en-US" sz="2000"/>
              <a:t>Business Objects (aka Services) and enterprise workflow.</a:t>
            </a:r>
            <a:endParaRPr lang="en-US" sz="2000" b="1"/>
          </a:p>
          <a:p>
            <a:pPr lvl="1">
              <a:lnSpc>
                <a:spcPct val="50000"/>
              </a:lnSpc>
              <a:spcBef>
                <a:spcPct val="50000"/>
              </a:spcBef>
            </a:pPr>
            <a:r>
              <a:rPr lang="en-US" sz="2000"/>
              <a:t>Interaction methods, particularly with external systems;</a:t>
            </a:r>
          </a:p>
          <a:p>
            <a:pPr lvl="1">
              <a:lnSpc>
                <a:spcPct val="50000"/>
              </a:lnSpc>
              <a:spcBef>
                <a:spcPct val="50000"/>
              </a:spcBef>
            </a:pPr>
            <a:r>
              <a:rPr lang="en-US" sz="2000"/>
              <a:t>General user interface dialog style;</a:t>
            </a:r>
          </a:p>
          <a:p>
            <a:pPr lvl="1">
              <a:lnSpc>
                <a:spcPct val="50000"/>
              </a:lnSpc>
              <a:spcBef>
                <a:spcPct val="50000"/>
              </a:spcBef>
            </a:pPr>
            <a:r>
              <a:rPr lang="en-US" sz="2000"/>
              <a:t>Design features, mechanisms and constraints.</a:t>
            </a:r>
          </a:p>
          <a:p>
            <a:pPr marL="0" indent="0">
              <a:spcBef>
                <a:spcPct val="85000"/>
              </a:spcBef>
              <a:buFontTx/>
              <a:buNone/>
            </a:pPr>
            <a:r>
              <a:rPr lang="en-US" sz="2000" b="1"/>
              <a:t>The </a:t>
            </a:r>
            <a:r>
              <a:rPr lang="en-US" sz="2000" b="1" i="1"/>
              <a:t>Enterprise &amp; Lead Architects</a:t>
            </a:r>
            <a:r>
              <a:rPr lang="en-US" sz="2000" b="1"/>
              <a:t> consult with Managers and Tech. Leads regarding:</a:t>
            </a:r>
          </a:p>
          <a:p>
            <a:pPr lvl="1">
              <a:lnSpc>
                <a:spcPct val="50000"/>
              </a:lnSpc>
              <a:spcBef>
                <a:spcPct val="50000"/>
              </a:spcBef>
            </a:pPr>
            <a:r>
              <a:rPr lang="en-US" sz="2000"/>
              <a:t>Scope;</a:t>
            </a:r>
          </a:p>
          <a:p>
            <a:pPr lvl="1">
              <a:lnSpc>
                <a:spcPct val="50000"/>
              </a:lnSpc>
              <a:spcBef>
                <a:spcPct val="50000"/>
              </a:spcBef>
            </a:pPr>
            <a:r>
              <a:rPr lang="en-US" sz="2000"/>
              <a:t>Process, and;</a:t>
            </a:r>
          </a:p>
          <a:p>
            <a:pPr lvl="1">
              <a:lnSpc>
                <a:spcPct val="50000"/>
              </a:lnSpc>
              <a:spcBef>
                <a:spcPct val="50000"/>
              </a:spcBef>
            </a:pPr>
            <a:r>
              <a:rPr lang="en-US" sz="2000"/>
              <a:t>Design issues.</a:t>
            </a:r>
            <a:r>
              <a:rPr lang="en-US" sz="1600"/>
              <a:t> </a:t>
            </a:r>
          </a:p>
          <a:p>
            <a:pPr marL="0" indent="0">
              <a:spcBef>
                <a:spcPct val="85000"/>
              </a:spcBef>
              <a:buFontTx/>
              <a:buNone/>
            </a:pPr>
            <a:r>
              <a:rPr lang="en-US" sz="2000" b="1"/>
              <a:t>The </a:t>
            </a:r>
            <a:r>
              <a:rPr lang="en-US" sz="2000" b="1" i="1"/>
              <a:t>Enterprise &amp; Lead Architects</a:t>
            </a:r>
            <a:r>
              <a:rPr lang="en-US" sz="2000" b="1"/>
              <a:t> consult with Developers on:</a:t>
            </a:r>
          </a:p>
          <a:p>
            <a:pPr lvl="1">
              <a:lnSpc>
                <a:spcPct val="50000"/>
              </a:lnSpc>
              <a:spcBef>
                <a:spcPct val="50000"/>
              </a:spcBef>
            </a:pPr>
            <a:r>
              <a:rPr lang="en-US" sz="2000"/>
              <a:t>Structural features;</a:t>
            </a:r>
          </a:p>
          <a:p>
            <a:pPr lvl="1">
              <a:lnSpc>
                <a:spcPct val="50000"/>
              </a:lnSpc>
              <a:spcBef>
                <a:spcPct val="50000"/>
              </a:spcBef>
            </a:pPr>
            <a:r>
              <a:rPr lang="en-US" sz="2000"/>
              <a:t>Implementation techniques;</a:t>
            </a:r>
          </a:p>
          <a:p>
            <a:pPr lvl="1">
              <a:lnSpc>
                <a:spcPct val="50000"/>
              </a:lnSpc>
              <a:spcBef>
                <a:spcPct val="50000"/>
              </a:spcBef>
            </a:pPr>
            <a:r>
              <a:rPr lang="en-US" sz="2000"/>
              <a:t>Appearance and style.</a:t>
            </a:r>
          </a:p>
        </p:txBody>
      </p:sp>
      <p:sp>
        <p:nvSpPr>
          <p:cNvPr id="2553861" name="Rectangle 5"/>
          <p:cNvSpPr>
            <a:spLocks noGrp="1" noChangeArrowheads="1"/>
          </p:cNvSpPr>
          <p:nvPr>
            <p:ph type="title"/>
          </p:nvPr>
        </p:nvSpPr>
        <p:spPr>
          <a:xfrm>
            <a:off x="0" y="257175"/>
            <a:ext cx="9144000" cy="476250"/>
          </a:xfrm>
          <a:noFill/>
          <a:ln/>
        </p:spPr>
        <p:txBody>
          <a:bodyPr/>
          <a:lstStyle/>
          <a:p>
            <a:pPr>
              <a:lnSpc>
                <a:spcPct val="70000"/>
              </a:lnSpc>
            </a:pPr>
            <a:r>
              <a:rPr lang="en-US" sz="3600"/>
              <a:t>“What” is Architecture </a:t>
            </a:r>
            <a:r>
              <a:rPr lang="en-US" sz="2400" b="0"/>
              <a:t>(Roles continued)</a:t>
            </a:r>
            <a:r>
              <a:rPr lang="en-US" sz="3600"/>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3208" name="Text Box 8"/>
          <p:cNvSpPr txBox="1">
            <a:spLocks noChangeArrowheads="1"/>
          </p:cNvSpPr>
          <p:nvPr/>
        </p:nvSpPr>
        <p:spPr bwMode="auto">
          <a:xfrm>
            <a:off x="482600" y="1314450"/>
            <a:ext cx="8407400" cy="4387850"/>
          </a:xfrm>
          <a:prstGeom prst="rect">
            <a:avLst/>
          </a:prstGeom>
          <a:noFill/>
          <a:ln w="9525">
            <a:noFill/>
            <a:miter lim="800000"/>
            <a:headEnd/>
            <a:tailEnd/>
          </a:ln>
          <a:effectLst/>
        </p:spPr>
        <p:txBody>
          <a:bodyPr>
            <a:spAutoFit/>
          </a:bodyPr>
          <a:lstStyle/>
          <a:p>
            <a:pPr algn="l">
              <a:spcBef>
                <a:spcPct val="100000"/>
              </a:spcBef>
              <a:buClr>
                <a:schemeClr val="folHlink"/>
              </a:buClr>
              <a:buSzPct val="120000"/>
            </a:pPr>
            <a:r>
              <a:rPr lang="en-US" sz="2000" b="1"/>
              <a:t>The MarkITS Service Oriented Architecture (SOA) Framework consists of “EAI Services” used by two or more Projects. </a:t>
            </a:r>
          </a:p>
          <a:p>
            <a:pPr algn="l">
              <a:spcBef>
                <a:spcPct val="100000"/>
              </a:spcBef>
              <a:buClr>
                <a:schemeClr val="folHlink"/>
              </a:buClr>
              <a:buSzPct val="120000"/>
            </a:pPr>
            <a:r>
              <a:rPr lang="en-US" sz="2000" b="1"/>
              <a:t>Enterprise Service Bus (ESB) is the logical transport mechanism allowing the EAI Services to communicate across operating lines.</a:t>
            </a:r>
          </a:p>
          <a:p>
            <a:pPr algn="l">
              <a:spcBef>
                <a:spcPct val="100000"/>
              </a:spcBef>
              <a:buClr>
                <a:schemeClr val="folHlink"/>
              </a:buClr>
              <a:buSzPct val="120000"/>
            </a:pPr>
            <a:r>
              <a:rPr lang="en-US" sz="2000" b="1"/>
              <a:t>“EAI Services” provide common functionality across multiple  business lines of operations.</a:t>
            </a:r>
          </a:p>
          <a:p>
            <a:pPr marL="520700" lvl="1" indent="-228600" algn="l">
              <a:lnSpc>
                <a:spcPct val="85000"/>
              </a:lnSpc>
              <a:spcBef>
                <a:spcPct val="50000"/>
              </a:spcBef>
              <a:buClr>
                <a:schemeClr val="folHlink"/>
              </a:buClr>
              <a:buFont typeface="Wingdings" pitchFamily="2" charset="2"/>
              <a:buChar char="Ø"/>
            </a:pPr>
            <a:r>
              <a:rPr lang="en-US" sz="1800"/>
              <a:t>Messaging Services;</a:t>
            </a:r>
          </a:p>
          <a:p>
            <a:pPr marL="520700" lvl="1" indent="-228600" algn="l">
              <a:lnSpc>
                <a:spcPct val="85000"/>
              </a:lnSpc>
              <a:spcBef>
                <a:spcPct val="50000"/>
              </a:spcBef>
              <a:buClr>
                <a:schemeClr val="folHlink"/>
              </a:buClr>
              <a:buFont typeface="Wingdings" pitchFamily="2" charset="2"/>
              <a:buChar char="Ø"/>
            </a:pPr>
            <a:r>
              <a:rPr lang="en-US" sz="1800"/>
              <a:t>OTA Services;</a:t>
            </a:r>
          </a:p>
          <a:p>
            <a:pPr marL="520700" lvl="1" indent="-228600" algn="l">
              <a:lnSpc>
                <a:spcPct val="85000"/>
              </a:lnSpc>
              <a:spcBef>
                <a:spcPct val="50000"/>
              </a:spcBef>
              <a:buClr>
                <a:schemeClr val="folHlink"/>
              </a:buClr>
              <a:buFont typeface="Wingdings" pitchFamily="2" charset="2"/>
              <a:buChar char="Ø"/>
            </a:pPr>
            <a:r>
              <a:rPr lang="en-US" sz="1800"/>
              <a:t>Monitoring Services;</a:t>
            </a:r>
          </a:p>
          <a:p>
            <a:pPr marL="520700" lvl="1" indent="-228600" algn="l">
              <a:lnSpc>
                <a:spcPct val="85000"/>
              </a:lnSpc>
              <a:spcBef>
                <a:spcPct val="50000"/>
              </a:spcBef>
              <a:buClr>
                <a:schemeClr val="folHlink"/>
              </a:buClr>
              <a:buFont typeface="Wingdings" pitchFamily="2" charset="2"/>
              <a:buChar char="Ø"/>
            </a:pPr>
            <a:r>
              <a:rPr lang="en-US" sz="1800"/>
              <a:t>Security Services;</a:t>
            </a:r>
          </a:p>
          <a:p>
            <a:pPr marL="520700" lvl="1" indent="-228600" algn="l">
              <a:lnSpc>
                <a:spcPct val="85000"/>
              </a:lnSpc>
              <a:spcBef>
                <a:spcPct val="50000"/>
              </a:spcBef>
              <a:buClr>
                <a:schemeClr val="folHlink"/>
              </a:buClr>
              <a:buFont typeface="Wingdings" pitchFamily="2" charset="2"/>
              <a:buChar char="Ø"/>
            </a:pPr>
            <a:r>
              <a:rPr lang="en-US" sz="1800"/>
              <a:t>Others to come…</a:t>
            </a:r>
          </a:p>
        </p:txBody>
      </p:sp>
      <p:sp>
        <p:nvSpPr>
          <p:cNvPr id="2483216" name="Rectangle 16"/>
          <p:cNvSpPr>
            <a:spLocks noChangeArrowheads="1"/>
          </p:cNvSpPr>
          <p:nvPr/>
        </p:nvSpPr>
        <p:spPr bwMode="auto">
          <a:xfrm>
            <a:off x="0" y="269875"/>
            <a:ext cx="9144000" cy="476250"/>
          </a:xfrm>
          <a:prstGeom prst="rect">
            <a:avLst/>
          </a:prstGeom>
          <a:noFill/>
          <a:ln w="9525">
            <a:noFill/>
            <a:miter lim="800000"/>
            <a:headEnd/>
            <a:tailEnd/>
          </a:ln>
          <a:effectLst/>
        </p:spPr>
        <p:txBody>
          <a:bodyPr lIns="137160" rIns="137160" anchor="ctr">
            <a:spAutoFit/>
          </a:bodyPr>
          <a:lstStyle/>
          <a:p>
            <a:pPr>
              <a:lnSpc>
                <a:spcPct val="70000"/>
              </a:lnSpc>
            </a:pPr>
            <a:r>
              <a:rPr lang="en-US" sz="3600" b="1">
                <a:latin typeface="Arial Narrow" pitchFamily="34" charset="0"/>
              </a:rPr>
              <a:t>“What” is Architecture </a:t>
            </a:r>
            <a:r>
              <a:rPr lang="en-US" sz="2400">
                <a:latin typeface="Arial Narrow" pitchFamily="34" charset="0"/>
              </a:rPr>
              <a:t>(Products)</a:t>
            </a:r>
            <a:r>
              <a:rPr lang="en-US" sz="3600" b="1">
                <a:latin typeface="Arial Narrow" pitchFamily="34" charset="0"/>
              </a:rPr>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5906" name="Text Box 2"/>
          <p:cNvSpPr txBox="1">
            <a:spLocks noChangeArrowheads="1"/>
          </p:cNvSpPr>
          <p:nvPr/>
        </p:nvSpPr>
        <p:spPr bwMode="auto">
          <a:xfrm>
            <a:off x="800100" y="1073150"/>
            <a:ext cx="7391400" cy="4930775"/>
          </a:xfrm>
          <a:prstGeom prst="rect">
            <a:avLst/>
          </a:prstGeom>
          <a:noFill/>
          <a:ln w="9525">
            <a:noFill/>
            <a:miter lim="800000"/>
            <a:headEnd/>
            <a:tailEnd/>
          </a:ln>
          <a:effectLst/>
        </p:spPr>
        <p:txBody>
          <a:bodyPr>
            <a:spAutoFit/>
          </a:bodyPr>
          <a:lstStyle/>
          <a:p>
            <a:pPr algn="l">
              <a:spcBef>
                <a:spcPct val="100000"/>
              </a:spcBef>
            </a:pPr>
            <a:r>
              <a:rPr lang="en-US" sz="2000" b="1"/>
              <a:t>EAS </a:t>
            </a:r>
            <a:r>
              <a:rPr lang="en-US" sz="2000" b="1" u="sng"/>
              <a:t>core</a:t>
            </a:r>
            <a:r>
              <a:rPr lang="en-US" sz="2000" b="1"/>
              <a:t> team works with Project teams to conceive and design “EAI Services” needed by tactical Projects.</a:t>
            </a:r>
          </a:p>
          <a:p>
            <a:pPr algn="l">
              <a:spcBef>
                <a:spcPct val="100000"/>
              </a:spcBef>
            </a:pPr>
            <a:r>
              <a:rPr lang="en-US" sz="2000" b="1"/>
              <a:t>EAS </a:t>
            </a:r>
            <a:r>
              <a:rPr lang="en-US" sz="2000" b="1" u="sng"/>
              <a:t>virtual</a:t>
            </a:r>
            <a:r>
              <a:rPr lang="en-US" sz="2000" b="1"/>
              <a:t> team assists Projects in applying architecture tenets appropriate for Project size and complexity.</a:t>
            </a:r>
          </a:p>
          <a:p>
            <a:pPr algn="l">
              <a:spcBef>
                <a:spcPct val="100000"/>
              </a:spcBef>
            </a:pPr>
            <a:r>
              <a:rPr lang="en-US" sz="2000" b="1"/>
              <a:t>EAS </a:t>
            </a:r>
            <a:r>
              <a:rPr lang="en-US" sz="2000" b="1" u="sng"/>
              <a:t>virtual</a:t>
            </a:r>
            <a:r>
              <a:rPr lang="en-US" sz="2000" b="1"/>
              <a:t> team assists Projects in implementing EAI Services where appropriate.</a:t>
            </a:r>
          </a:p>
          <a:p>
            <a:pPr algn="l">
              <a:spcBef>
                <a:spcPct val="100000"/>
              </a:spcBef>
            </a:pPr>
            <a:r>
              <a:rPr lang="en-US" sz="2000" b="1"/>
              <a:t>EAS generalizes reusable components into EAI Services that </a:t>
            </a:r>
            <a:r>
              <a:rPr lang="en-US" sz="2000" b="1" u="sng"/>
              <a:t>unify</a:t>
            </a:r>
            <a:r>
              <a:rPr lang="en-US" sz="2000" b="1"/>
              <a:t>, </a:t>
            </a:r>
            <a:r>
              <a:rPr lang="en-US" sz="2000" b="1" u="sng"/>
              <a:t>simplify</a:t>
            </a:r>
            <a:r>
              <a:rPr lang="en-US" sz="2000" b="1"/>
              <a:t> and </a:t>
            </a:r>
            <a:r>
              <a:rPr lang="en-US" sz="2000" b="1" u="sng"/>
              <a:t>optimize</a:t>
            </a:r>
            <a:r>
              <a:rPr lang="en-US" sz="2000" b="1"/>
              <a:t> “convergence” by:</a:t>
            </a:r>
          </a:p>
          <a:p>
            <a:pPr marL="342900" lvl="1" indent="-228600" algn="l">
              <a:lnSpc>
                <a:spcPct val="85000"/>
              </a:lnSpc>
              <a:spcBef>
                <a:spcPct val="50000"/>
              </a:spcBef>
              <a:buClr>
                <a:schemeClr val="folHlink"/>
              </a:buClr>
              <a:buFont typeface="Wingdings" pitchFamily="2" charset="2"/>
              <a:buChar char="Ø"/>
            </a:pPr>
            <a:r>
              <a:rPr lang="en-US" sz="1800"/>
              <a:t>Modeling current state enterprise </a:t>
            </a:r>
            <a:r>
              <a:rPr lang="en-US" sz="1800" u="sng"/>
              <a:t>dependencies</a:t>
            </a:r>
            <a:r>
              <a:rPr lang="en-US" sz="1800"/>
              <a:t>;</a:t>
            </a:r>
          </a:p>
          <a:p>
            <a:pPr marL="342900" lvl="1" indent="-228600" algn="l">
              <a:lnSpc>
                <a:spcPct val="85000"/>
              </a:lnSpc>
              <a:spcBef>
                <a:spcPct val="50000"/>
              </a:spcBef>
              <a:buClr>
                <a:schemeClr val="folHlink"/>
              </a:buClr>
              <a:buFont typeface="Wingdings" pitchFamily="2" charset="2"/>
              <a:buChar char="Ø"/>
            </a:pPr>
            <a:r>
              <a:rPr lang="en-US" sz="1800"/>
              <a:t>Constructing </a:t>
            </a:r>
            <a:r>
              <a:rPr lang="en-US" sz="1800" u="sng"/>
              <a:t>blueprints</a:t>
            </a:r>
            <a:r>
              <a:rPr lang="en-US" sz="1800"/>
              <a:t> to assist analysis and “</a:t>
            </a:r>
            <a:r>
              <a:rPr lang="en-US" sz="1800" b="1"/>
              <a:t>convergence</a:t>
            </a:r>
            <a:r>
              <a:rPr lang="en-US" sz="1800"/>
              <a:t>”;</a:t>
            </a:r>
          </a:p>
          <a:p>
            <a:pPr marL="342900" lvl="1" indent="-228600" algn="l">
              <a:lnSpc>
                <a:spcPct val="85000"/>
              </a:lnSpc>
              <a:spcBef>
                <a:spcPct val="50000"/>
              </a:spcBef>
              <a:buClr>
                <a:schemeClr val="folHlink"/>
              </a:buClr>
              <a:buFont typeface="Wingdings" pitchFamily="2" charset="2"/>
              <a:buChar char="Ø"/>
            </a:pPr>
            <a:r>
              <a:rPr lang="en-US" sz="1800"/>
              <a:t>Defining </a:t>
            </a:r>
            <a:r>
              <a:rPr lang="en-US" sz="1800" u="sng"/>
              <a:t>EAI Services</a:t>
            </a:r>
            <a:r>
              <a:rPr lang="en-US" sz="1800"/>
              <a:t> foundation to jump-start implementations;</a:t>
            </a:r>
          </a:p>
          <a:p>
            <a:pPr marL="342900" lvl="1" indent="-228600" algn="l">
              <a:lnSpc>
                <a:spcPct val="85000"/>
              </a:lnSpc>
              <a:spcBef>
                <a:spcPct val="50000"/>
              </a:spcBef>
              <a:buClr>
                <a:schemeClr val="folHlink"/>
              </a:buClr>
              <a:buFont typeface="Wingdings" pitchFamily="2" charset="2"/>
              <a:buChar char="Ø"/>
            </a:pPr>
            <a:r>
              <a:rPr lang="en-US" sz="1800"/>
              <a:t>Assisting Projects with refactoring of legacy designs.</a:t>
            </a:r>
          </a:p>
        </p:txBody>
      </p:sp>
      <p:sp>
        <p:nvSpPr>
          <p:cNvPr id="2555909" name="Rectangle 5"/>
          <p:cNvSpPr>
            <a:spLocks noChangeArrowheads="1"/>
          </p:cNvSpPr>
          <p:nvPr/>
        </p:nvSpPr>
        <p:spPr bwMode="auto">
          <a:xfrm>
            <a:off x="0" y="269875"/>
            <a:ext cx="9144000" cy="476250"/>
          </a:xfrm>
          <a:prstGeom prst="rect">
            <a:avLst/>
          </a:prstGeom>
          <a:noFill/>
          <a:ln w="9525">
            <a:noFill/>
            <a:miter lim="800000"/>
            <a:headEnd/>
            <a:tailEnd/>
          </a:ln>
          <a:effectLst/>
        </p:spPr>
        <p:txBody>
          <a:bodyPr lIns="137160" rIns="137160" anchor="ctr">
            <a:spAutoFit/>
          </a:bodyPr>
          <a:lstStyle/>
          <a:p>
            <a:pPr>
              <a:lnSpc>
                <a:spcPct val="70000"/>
              </a:lnSpc>
            </a:pPr>
            <a:r>
              <a:rPr lang="en-US" sz="3600" b="1">
                <a:latin typeface="Arial Narrow" pitchFamily="34" charset="0"/>
              </a:rPr>
              <a:t>“What” is Architecture </a:t>
            </a:r>
            <a:r>
              <a:rPr lang="en-US" sz="2400">
                <a:latin typeface="Arial Narrow" pitchFamily="34" charset="0"/>
              </a:rPr>
              <a:t>(Support)</a:t>
            </a:r>
            <a:r>
              <a:rPr lang="en-US" sz="3600" b="1">
                <a:latin typeface="Arial Narrow" pitchFamily="34" charset="0"/>
              </a:rPr>
              <a: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2594" name="Rectangle 2"/>
          <p:cNvSpPr>
            <a:spLocks noGrp="1" noChangeArrowheads="1"/>
          </p:cNvSpPr>
          <p:nvPr>
            <p:ph type="title"/>
          </p:nvPr>
        </p:nvSpPr>
        <p:spPr>
          <a:xfrm>
            <a:off x="0" y="96838"/>
            <a:ext cx="9144000" cy="641350"/>
          </a:xfrm>
        </p:spPr>
        <p:txBody>
          <a:bodyPr/>
          <a:lstStyle/>
          <a:p>
            <a:r>
              <a:rPr lang="en-US" sz="3600"/>
              <a:t>Agenda</a:t>
            </a:r>
          </a:p>
        </p:txBody>
      </p:sp>
      <p:sp>
        <p:nvSpPr>
          <p:cNvPr id="2542595" name="Rectangle 3"/>
          <p:cNvSpPr>
            <a:spLocks noGrp="1" noChangeArrowheads="1"/>
          </p:cNvSpPr>
          <p:nvPr>
            <p:ph type="body" idx="1"/>
          </p:nvPr>
        </p:nvSpPr>
        <p:spPr>
          <a:xfrm>
            <a:off x="241300" y="1314450"/>
            <a:ext cx="8737600" cy="4864100"/>
          </a:xfrm>
          <a:noFill/>
        </p:spPr>
        <p:txBody>
          <a:bodyPr/>
          <a:lstStyle/>
          <a:p>
            <a:pPr marL="520700" lvl="1" indent="-292100">
              <a:lnSpc>
                <a:spcPct val="75000"/>
              </a:lnSpc>
              <a:buSzPct val="120000"/>
              <a:buFontTx/>
              <a:buNone/>
            </a:pPr>
            <a:r>
              <a:rPr lang="en-US" sz="2000" b="1">
                <a:solidFill>
                  <a:schemeClr val="bg2"/>
                </a:solidFill>
              </a:rPr>
              <a:t>Enterprise Architecture Services in a Nutshell</a:t>
            </a:r>
          </a:p>
          <a:p>
            <a:pPr marL="520700" lvl="1" indent="-292100">
              <a:lnSpc>
                <a:spcPct val="175000"/>
              </a:lnSpc>
              <a:buSzPct val="120000"/>
              <a:buFontTx/>
              <a:buNone/>
            </a:pPr>
            <a:r>
              <a:rPr lang="en-US" sz="2000" b="1">
                <a:solidFill>
                  <a:schemeClr val="bg2"/>
                </a:solidFill>
              </a:rPr>
              <a:t>“WHAT” is Architecture</a:t>
            </a:r>
          </a:p>
          <a:p>
            <a:pPr lvl="2">
              <a:lnSpc>
                <a:spcPct val="85000"/>
              </a:lnSpc>
              <a:spcBef>
                <a:spcPct val="0"/>
              </a:spcBef>
              <a:buClr>
                <a:schemeClr val="folHlink"/>
              </a:buClr>
              <a:buFont typeface="Wingdings" pitchFamily="2" charset="2"/>
              <a:buChar char="Ø"/>
            </a:pPr>
            <a:r>
              <a:rPr lang="en-US" sz="1800">
                <a:solidFill>
                  <a:schemeClr val="bg2"/>
                </a:solidFill>
              </a:rPr>
              <a:t>Goals </a:t>
            </a:r>
          </a:p>
          <a:p>
            <a:pPr lvl="2">
              <a:lnSpc>
                <a:spcPct val="85000"/>
              </a:lnSpc>
              <a:spcBef>
                <a:spcPct val="0"/>
              </a:spcBef>
              <a:buClr>
                <a:schemeClr val="folHlink"/>
              </a:buClr>
              <a:buFont typeface="Wingdings" pitchFamily="2" charset="2"/>
              <a:buChar char="Ø"/>
            </a:pPr>
            <a:r>
              <a:rPr lang="en-US" sz="1800">
                <a:solidFill>
                  <a:schemeClr val="bg2"/>
                </a:solidFill>
              </a:rPr>
              <a:t>Scope</a:t>
            </a:r>
          </a:p>
          <a:p>
            <a:pPr lvl="2">
              <a:lnSpc>
                <a:spcPct val="85000"/>
              </a:lnSpc>
              <a:spcBef>
                <a:spcPct val="0"/>
              </a:spcBef>
              <a:buClr>
                <a:schemeClr val="folHlink"/>
              </a:buClr>
              <a:buFont typeface="Wingdings" pitchFamily="2" charset="2"/>
              <a:buChar char="Ø"/>
            </a:pPr>
            <a:r>
              <a:rPr lang="en-US" sz="1800">
                <a:solidFill>
                  <a:schemeClr val="bg2"/>
                </a:solidFill>
              </a:rPr>
              <a:t>Operations</a:t>
            </a:r>
          </a:p>
          <a:p>
            <a:pPr lvl="2">
              <a:lnSpc>
                <a:spcPct val="85000"/>
              </a:lnSpc>
              <a:spcBef>
                <a:spcPct val="0"/>
              </a:spcBef>
              <a:buClr>
                <a:schemeClr val="folHlink"/>
              </a:buClr>
              <a:buFont typeface="Wingdings" pitchFamily="2" charset="2"/>
              <a:buChar char="Ø"/>
            </a:pPr>
            <a:r>
              <a:rPr lang="en-US" sz="1800">
                <a:solidFill>
                  <a:schemeClr val="bg2"/>
                </a:solidFill>
              </a:rPr>
              <a:t>Deliverables</a:t>
            </a:r>
          </a:p>
          <a:p>
            <a:pPr lvl="2">
              <a:lnSpc>
                <a:spcPct val="85000"/>
              </a:lnSpc>
              <a:spcBef>
                <a:spcPct val="0"/>
              </a:spcBef>
              <a:buClr>
                <a:schemeClr val="folHlink"/>
              </a:buClr>
              <a:buFont typeface="Wingdings" pitchFamily="2" charset="2"/>
              <a:buChar char="Ø"/>
            </a:pPr>
            <a:r>
              <a:rPr lang="en-US" sz="1800">
                <a:solidFill>
                  <a:schemeClr val="bg2"/>
                </a:solidFill>
              </a:rPr>
              <a:t>Roles</a:t>
            </a:r>
          </a:p>
          <a:p>
            <a:pPr lvl="2">
              <a:lnSpc>
                <a:spcPct val="85000"/>
              </a:lnSpc>
              <a:spcBef>
                <a:spcPct val="0"/>
              </a:spcBef>
              <a:buClr>
                <a:schemeClr val="folHlink"/>
              </a:buClr>
              <a:buFont typeface="Wingdings" pitchFamily="2" charset="2"/>
              <a:buChar char="Ø"/>
            </a:pPr>
            <a:r>
              <a:rPr lang="en-US" sz="1800">
                <a:solidFill>
                  <a:schemeClr val="bg2"/>
                </a:solidFill>
              </a:rPr>
              <a:t>Shared Services (products and support)</a:t>
            </a:r>
          </a:p>
          <a:p>
            <a:pPr lvl="2">
              <a:lnSpc>
                <a:spcPct val="75000"/>
              </a:lnSpc>
              <a:spcBef>
                <a:spcPct val="0"/>
              </a:spcBef>
              <a:buClr>
                <a:schemeClr val="folHlink"/>
              </a:buClr>
              <a:buFont typeface="Wingdings" pitchFamily="2" charset="2"/>
              <a:buChar char="Ø"/>
            </a:pPr>
            <a:endParaRPr lang="en-US" sz="1800">
              <a:solidFill>
                <a:schemeClr val="bg2"/>
              </a:solidFill>
            </a:endParaRPr>
          </a:p>
          <a:p>
            <a:pPr marL="520700" lvl="1" indent="-292100">
              <a:lnSpc>
                <a:spcPct val="75000"/>
              </a:lnSpc>
              <a:spcBef>
                <a:spcPct val="0"/>
              </a:spcBef>
              <a:buClr>
                <a:schemeClr val="folHlink"/>
              </a:buClr>
              <a:buSzPct val="120000"/>
              <a:buFontTx/>
              <a:buNone/>
            </a:pPr>
            <a:r>
              <a:rPr lang="en-US" sz="2000" b="1"/>
              <a:t>“WHY” the "Convergence Imperative"</a:t>
            </a:r>
          </a:p>
          <a:p>
            <a:pPr lvl="2">
              <a:lnSpc>
                <a:spcPct val="85000"/>
              </a:lnSpc>
              <a:spcBef>
                <a:spcPct val="0"/>
              </a:spcBef>
              <a:buClr>
                <a:schemeClr val="folHlink"/>
              </a:buClr>
              <a:buFont typeface="Wingdings" pitchFamily="2" charset="2"/>
              <a:buChar char="Ø"/>
            </a:pPr>
            <a:r>
              <a:rPr lang="en-US" sz="1800"/>
              <a:t>Value</a:t>
            </a:r>
          </a:p>
          <a:p>
            <a:pPr lvl="2">
              <a:lnSpc>
                <a:spcPct val="85000"/>
              </a:lnSpc>
              <a:spcBef>
                <a:spcPct val="0"/>
              </a:spcBef>
              <a:buClr>
                <a:schemeClr val="folHlink"/>
              </a:buClr>
              <a:buFont typeface="Wingdings" pitchFamily="2" charset="2"/>
              <a:buChar char="Ø"/>
            </a:pPr>
            <a:r>
              <a:rPr lang="en-US" sz="1800"/>
              <a:t>SOA Enabler</a:t>
            </a:r>
          </a:p>
          <a:p>
            <a:pPr lvl="2">
              <a:lnSpc>
                <a:spcPct val="85000"/>
              </a:lnSpc>
              <a:spcBef>
                <a:spcPct val="0"/>
              </a:spcBef>
              <a:buClr>
                <a:schemeClr val="folHlink"/>
              </a:buClr>
              <a:buFont typeface="Wingdings" pitchFamily="2" charset="2"/>
              <a:buChar char="Ø"/>
            </a:pPr>
            <a:r>
              <a:rPr lang="en-US" sz="1800"/>
              <a:t>SOA Framework</a:t>
            </a:r>
          </a:p>
          <a:p>
            <a:pPr marL="520700" lvl="1" indent="-292100">
              <a:lnSpc>
                <a:spcPct val="175000"/>
              </a:lnSpc>
              <a:buSzPct val="120000"/>
              <a:buFontTx/>
              <a:buNone/>
            </a:pPr>
            <a:r>
              <a:rPr lang="en-US" sz="2000" b="1">
                <a:solidFill>
                  <a:schemeClr val="bg2"/>
                </a:solidFill>
              </a:rPr>
              <a:t>“WHEN” Are Projects Engaged by EAS</a:t>
            </a:r>
          </a:p>
          <a:p>
            <a:pPr marL="520700" lvl="1" indent="-292100">
              <a:lnSpc>
                <a:spcPct val="175000"/>
              </a:lnSpc>
              <a:buSzPct val="120000"/>
              <a:buFontTx/>
              <a:buNone/>
            </a:pPr>
            <a:r>
              <a:rPr lang="en-US" sz="2000" b="1">
                <a:solidFill>
                  <a:schemeClr val="bg2"/>
                </a:solidFill>
              </a:rPr>
              <a:t>“HOW” to Maintain Convergence Heading</a:t>
            </a:r>
          </a:p>
        </p:txBody>
      </p:sp>
      <p:sp>
        <p:nvSpPr>
          <p:cNvPr id="2542596" name="AutoShape 4"/>
          <p:cNvSpPr>
            <a:spLocks noChangeArrowheads="1"/>
          </p:cNvSpPr>
          <p:nvPr/>
        </p:nvSpPr>
        <p:spPr bwMode="auto">
          <a:xfrm>
            <a:off x="5270500" y="3670300"/>
            <a:ext cx="1612900" cy="469900"/>
          </a:xfrm>
          <a:prstGeom prst="leftArrow">
            <a:avLst>
              <a:gd name="adj1" fmla="val 50000"/>
              <a:gd name="adj2" fmla="val 85811"/>
            </a:avLst>
          </a:prstGeom>
          <a:solidFill>
            <a:srgbClr val="8FCDAF"/>
          </a:soli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2542596"/>
                                        </p:tgtEl>
                                        <p:attrNameLst>
                                          <p:attrName>style.visibility</p:attrName>
                                        </p:attrNameLst>
                                      </p:cBhvr>
                                      <p:to>
                                        <p:strVal val="visible"/>
                                      </p:to>
                                    </p:set>
                                    <p:anim calcmode="lin" valueType="num">
                                      <p:cBhvr additive="base">
                                        <p:cTn id="7" dur="500" fill="hold"/>
                                        <p:tgtEl>
                                          <p:spTgt spid="2542596"/>
                                        </p:tgtEl>
                                        <p:attrNameLst>
                                          <p:attrName>ppt_x</p:attrName>
                                        </p:attrNameLst>
                                      </p:cBhvr>
                                      <p:tavLst>
                                        <p:tav tm="0">
                                          <p:val>
                                            <p:strVal val="1+#ppt_w/2"/>
                                          </p:val>
                                        </p:tav>
                                        <p:tav tm="100000">
                                          <p:val>
                                            <p:strVal val="#ppt_x"/>
                                          </p:val>
                                        </p:tav>
                                      </p:tavLst>
                                    </p:anim>
                                    <p:anim calcmode="lin" valueType="num">
                                      <p:cBhvr additive="base">
                                        <p:cTn id="8" dur="500" fill="hold"/>
                                        <p:tgtEl>
                                          <p:spTgt spid="2542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259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4227" name="Rectangle 3"/>
          <p:cNvSpPr>
            <a:spLocks noGrp="1" noChangeArrowheads="1"/>
          </p:cNvSpPr>
          <p:nvPr>
            <p:ph type="body" idx="1"/>
          </p:nvPr>
        </p:nvSpPr>
        <p:spPr>
          <a:xfrm>
            <a:off x="457200" y="1435100"/>
            <a:ext cx="8369300" cy="4838700"/>
          </a:xfrm>
        </p:spPr>
        <p:txBody>
          <a:bodyPr/>
          <a:lstStyle/>
          <a:p>
            <a:pPr marL="177800" indent="-177800">
              <a:lnSpc>
                <a:spcPct val="80000"/>
              </a:lnSpc>
              <a:spcBef>
                <a:spcPct val="65000"/>
              </a:spcBef>
              <a:buFontTx/>
              <a:buNone/>
            </a:pPr>
            <a:r>
              <a:rPr lang="en-US" sz="2000" b="1"/>
              <a:t>With growth comes increased need for Business-IT convergence… </a:t>
            </a:r>
          </a:p>
          <a:p>
            <a:pPr marL="177800" indent="-177800">
              <a:lnSpc>
                <a:spcPct val="85000"/>
              </a:lnSpc>
              <a:spcBef>
                <a:spcPct val="100000"/>
              </a:spcBef>
              <a:buFontTx/>
              <a:buNone/>
            </a:pPr>
            <a:r>
              <a:rPr lang="en-US" sz="2000" b="1"/>
              <a:t>…successful mid to large cap companies </a:t>
            </a:r>
            <a:r>
              <a:rPr lang="en-US" sz="2000" b="1" u="sng"/>
              <a:t>MUST</a:t>
            </a:r>
            <a:r>
              <a:rPr lang="en-US" sz="2000" b="1"/>
              <a:t>:</a:t>
            </a:r>
          </a:p>
          <a:p>
            <a:pPr lvl="1">
              <a:lnSpc>
                <a:spcPct val="85000"/>
              </a:lnSpc>
              <a:spcBef>
                <a:spcPct val="50000"/>
              </a:spcBef>
            </a:pPr>
            <a:r>
              <a:rPr lang="en-US" sz="1800"/>
              <a:t>“Proactively” manage complexity to scale and support products;</a:t>
            </a:r>
          </a:p>
          <a:p>
            <a:pPr lvl="1">
              <a:lnSpc>
                <a:spcPct val="85000"/>
              </a:lnSpc>
              <a:spcBef>
                <a:spcPct val="50000"/>
              </a:spcBef>
            </a:pPr>
            <a:r>
              <a:rPr lang="en-US" sz="1800"/>
              <a:t>Utilize</a:t>
            </a:r>
            <a:r>
              <a:rPr lang="en-US" sz="1800" i="1"/>
              <a:t> “explicit”</a:t>
            </a:r>
            <a:r>
              <a:rPr lang="en-US" sz="1800"/>
              <a:t> vs. “</a:t>
            </a:r>
            <a:r>
              <a:rPr lang="en-US" sz="1800" i="1"/>
              <a:t>accidental”</a:t>
            </a:r>
            <a:r>
              <a:rPr lang="en-US" sz="1800"/>
              <a:t> architecture… maintain heading;</a:t>
            </a:r>
          </a:p>
          <a:p>
            <a:pPr lvl="1">
              <a:lnSpc>
                <a:spcPct val="85000"/>
              </a:lnSpc>
              <a:spcBef>
                <a:spcPct val="50000"/>
              </a:spcBef>
            </a:pPr>
            <a:r>
              <a:rPr lang="en-US" sz="1800"/>
              <a:t>Build upon a foundation of “</a:t>
            </a:r>
            <a:r>
              <a:rPr lang="en-US" sz="1800" i="1"/>
              <a:t>consistency”…</a:t>
            </a:r>
            <a:r>
              <a:rPr lang="en-US" sz="1800"/>
              <a:t> allows agility;</a:t>
            </a:r>
          </a:p>
          <a:p>
            <a:pPr lvl="1">
              <a:lnSpc>
                <a:spcPct val="85000"/>
              </a:lnSpc>
              <a:spcBef>
                <a:spcPct val="50000"/>
              </a:spcBef>
            </a:pPr>
            <a:r>
              <a:rPr lang="en-US" sz="1800"/>
              <a:t>Understand configuration item (HW and SW) dependencies;</a:t>
            </a:r>
          </a:p>
          <a:p>
            <a:pPr lvl="1">
              <a:lnSpc>
                <a:spcPct val="85000"/>
              </a:lnSpc>
              <a:spcBef>
                <a:spcPct val="50000"/>
              </a:spcBef>
            </a:pPr>
            <a:r>
              <a:rPr lang="en-US" sz="1800"/>
              <a:t>Enable effective decision support (change, costing, resources);</a:t>
            </a:r>
          </a:p>
          <a:p>
            <a:pPr marL="177800" indent="-177800">
              <a:lnSpc>
                <a:spcPct val="85000"/>
              </a:lnSpc>
              <a:spcBef>
                <a:spcPct val="100000"/>
              </a:spcBef>
              <a:buFontTx/>
              <a:buNone/>
            </a:pPr>
            <a:r>
              <a:rPr lang="en-US" sz="2000" b="1"/>
              <a:t>Customers expect it… SoX mandates it.</a:t>
            </a:r>
          </a:p>
          <a:p>
            <a:pPr marL="177800" indent="-177800">
              <a:lnSpc>
                <a:spcPct val="85000"/>
              </a:lnSpc>
              <a:spcBef>
                <a:spcPct val="100000"/>
              </a:spcBef>
              <a:buFontTx/>
              <a:buNone/>
            </a:pPr>
            <a:r>
              <a:rPr lang="en-US" sz="2000" b="1"/>
              <a:t>Best practices such as EAI, SOA, ESB empower “</a:t>
            </a:r>
            <a:r>
              <a:rPr lang="en-US" sz="2000" b="1" u="sng"/>
              <a:t>convergence</a:t>
            </a:r>
            <a:r>
              <a:rPr lang="en-US" sz="2000" b="1"/>
              <a:t>”.</a:t>
            </a:r>
          </a:p>
        </p:txBody>
      </p:sp>
      <p:sp>
        <p:nvSpPr>
          <p:cNvPr id="2484231" name="Rectangle 7"/>
          <p:cNvSpPr>
            <a:spLocks noGrp="1" noChangeArrowheads="1"/>
          </p:cNvSpPr>
          <p:nvPr>
            <p:ph type="title"/>
          </p:nvPr>
        </p:nvSpPr>
        <p:spPr>
          <a:xfrm>
            <a:off x="0" y="242888"/>
            <a:ext cx="9144000" cy="476250"/>
          </a:xfrm>
          <a:noFill/>
          <a:ln/>
        </p:spPr>
        <p:txBody>
          <a:bodyPr/>
          <a:lstStyle/>
          <a:p>
            <a:pPr>
              <a:lnSpc>
                <a:spcPct val="70000"/>
              </a:lnSpc>
            </a:pPr>
            <a:r>
              <a:rPr lang="en-US" sz="3600"/>
              <a:t>“Why” the Convergence Imperative</a:t>
            </a:r>
          </a:p>
        </p:txBody>
      </p:sp>
      <p:sp>
        <p:nvSpPr>
          <p:cNvPr id="2484233" name="Oval 9"/>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4162" name="Rectangle 2"/>
          <p:cNvSpPr>
            <a:spLocks noGrp="1" noChangeArrowheads="1"/>
          </p:cNvSpPr>
          <p:nvPr>
            <p:ph type="body" idx="1"/>
          </p:nvPr>
        </p:nvSpPr>
        <p:spPr>
          <a:xfrm>
            <a:off x="393700" y="1625600"/>
            <a:ext cx="8534400" cy="3124200"/>
          </a:xfrm>
        </p:spPr>
        <p:txBody>
          <a:bodyPr/>
          <a:lstStyle/>
          <a:p>
            <a:pPr marL="0" indent="0">
              <a:lnSpc>
                <a:spcPct val="80000"/>
              </a:lnSpc>
              <a:spcBef>
                <a:spcPct val="50000"/>
              </a:spcBef>
              <a:buFontTx/>
              <a:buNone/>
            </a:pPr>
            <a:r>
              <a:rPr lang="en-US" sz="1800" b="1"/>
              <a:t>Architecture helps manage dependencies, boundaries of scope, speed of delivery, quality, and resource planning:</a:t>
            </a:r>
          </a:p>
          <a:p>
            <a:pPr marL="520700" lvl="1" indent="-292100">
              <a:lnSpc>
                <a:spcPct val="140000"/>
              </a:lnSpc>
              <a:spcBef>
                <a:spcPct val="50000"/>
              </a:spcBef>
              <a:buClr>
                <a:schemeClr val="folHlink"/>
              </a:buClr>
            </a:pPr>
            <a:r>
              <a:rPr lang="en-US" sz="1800" u="sng"/>
              <a:t>Consistency</a:t>
            </a:r>
            <a:r>
              <a:rPr lang="en-US" sz="1800"/>
              <a:t> – reuse, extend, lower cost… faster time to market</a:t>
            </a:r>
          </a:p>
          <a:p>
            <a:pPr marL="520700" lvl="1" indent="-292100">
              <a:lnSpc>
                <a:spcPct val="140000"/>
              </a:lnSpc>
              <a:spcBef>
                <a:spcPct val="50000"/>
              </a:spcBef>
              <a:buClr>
                <a:schemeClr val="folHlink"/>
              </a:buClr>
            </a:pPr>
            <a:r>
              <a:rPr lang="en-US" sz="1800" u="sng"/>
              <a:t>Repeatability</a:t>
            </a:r>
            <a:r>
              <a:rPr lang="en-US" sz="1800"/>
              <a:t> – boundaries, patterns, jump-start projects… improves quality</a:t>
            </a:r>
          </a:p>
          <a:p>
            <a:pPr marL="520700" lvl="1" indent="-292100">
              <a:lnSpc>
                <a:spcPct val="140000"/>
              </a:lnSpc>
              <a:spcBef>
                <a:spcPct val="50000"/>
              </a:spcBef>
              <a:buClr>
                <a:schemeClr val="folHlink"/>
              </a:buClr>
            </a:pPr>
            <a:r>
              <a:rPr lang="en-US" sz="1800" u="sng"/>
              <a:t>Traceability</a:t>
            </a:r>
            <a:r>
              <a:rPr lang="en-US" sz="1800"/>
              <a:t> – empowers effective decision support… reduces churn and risk</a:t>
            </a:r>
          </a:p>
          <a:p>
            <a:pPr marL="520700" lvl="1" indent="-292100">
              <a:lnSpc>
                <a:spcPct val="90000"/>
              </a:lnSpc>
              <a:spcBef>
                <a:spcPct val="50000"/>
              </a:spcBef>
              <a:buClr>
                <a:schemeClr val="folHlink"/>
              </a:buClr>
              <a:buSzPct val="120000"/>
              <a:buFontTx/>
              <a:buNone/>
            </a:pPr>
            <a:endParaRPr lang="en-US" sz="1800" b="1" i="1">
              <a:solidFill>
                <a:schemeClr val="folHlink"/>
              </a:solidFill>
            </a:endParaRPr>
          </a:p>
          <a:p>
            <a:pPr marL="0" indent="0">
              <a:lnSpc>
                <a:spcPct val="90000"/>
              </a:lnSpc>
              <a:spcBef>
                <a:spcPct val="50000"/>
              </a:spcBef>
              <a:buFontTx/>
              <a:buNone/>
            </a:pPr>
            <a:r>
              <a:rPr lang="en-US" sz="1800" b="1"/>
              <a:t>Convergence increases agility and minimizes complexity, time and costs.</a:t>
            </a:r>
          </a:p>
        </p:txBody>
      </p:sp>
      <p:sp>
        <p:nvSpPr>
          <p:cNvPr id="2524167" name="Rectangle 7"/>
          <p:cNvSpPr>
            <a:spLocks noGrp="1" noChangeArrowheads="1"/>
          </p:cNvSpPr>
          <p:nvPr>
            <p:ph type="title"/>
          </p:nvPr>
        </p:nvSpPr>
        <p:spPr>
          <a:xfrm>
            <a:off x="0" y="223838"/>
            <a:ext cx="9144000" cy="476250"/>
          </a:xfrm>
          <a:noFill/>
          <a:ln/>
        </p:spPr>
        <p:txBody>
          <a:bodyPr/>
          <a:lstStyle/>
          <a:p>
            <a:pPr>
              <a:lnSpc>
                <a:spcPct val="70000"/>
              </a:lnSpc>
            </a:pPr>
            <a:r>
              <a:rPr lang="en-US" sz="3600"/>
              <a:t>“Value” of Architecture Convergence</a:t>
            </a:r>
          </a:p>
        </p:txBody>
      </p:sp>
      <p:sp>
        <p:nvSpPr>
          <p:cNvPr id="2524168" name="Text Box 8"/>
          <p:cNvSpPr txBox="1">
            <a:spLocks noChangeArrowheads="1"/>
          </p:cNvSpPr>
          <p:nvPr/>
        </p:nvSpPr>
        <p:spPr bwMode="auto">
          <a:xfrm>
            <a:off x="38100" y="4978400"/>
            <a:ext cx="9042400" cy="587375"/>
          </a:xfrm>
          <a:prstGeom prst="rect">
            <a:avLst/>
          </a:prstGeom>
          <a:noFill/>
          <a:ln w="9525">
            <a:noFill/>
            <a:miter lim="800000"/>
            <a:headEnd/>
            <a:tailEnd/>
          </a:ln>
          <a:effectLst/>
        </p:spPr>
        <p:txBody>
          <a:bodyPr>
            <a:spAutoFit/>
          </a:bodyPr>
          <a:lstStyle/>
          <a:p>
            <a:pPr marL="342900" lvl="1">
              <a:lnSpc>
                <a:spcPct val="90000"/>
              </a:lnSpc>
              <a:spcBef>
                <a:spcPct val="50000"/>
              </a:spcBef>
              <a:buClr>
                <a:schemeClr val="folHlink"/>
              </a:buClr>
              <a:buSzPct val="120000"/>
            </a:pPr>
            <a:r>
              <a:rPr lang="en-US" sz="1800" b="1" i="1">
                <a:solidFill>
                  <a:schemeClr val="folHlink"/>
                </a:solidFill>
              </a:rPr>
              <a:t>The more we do IT “consistently” through the use of “repeatable” patterns “traceable” to business needs, the more </a:t>
            </a:r>
            <a:r>
              <a:rPr lang="en-US" sz="1800" b="1" i="1" u="sng">
                <a:solidFill>
                  <a:schemeClr val="folHlink"/>
                </a:solidFill>
              </a:rPr>
              <a:t>convergent</a:t>
            </a:r>
            <a:r>
              <a:rPr lang="en-US" sz="1800" b="1" i="1">
                <a:solidFill>
                  <a:schemeClr val="folHlink"/>
                </a:solidFill>
              </a:rPr>
              <a:t> we become</a:t>
            </a:r>
            <a:endParaRPr lang="en-US" sz="18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526308" name="Group 100"/>
          <p:cNvGrpSpPr>
            <a:grpSpLocks/>
          </p:cNvGrpSpPr>
          <p:nvPr/>
        </p:nvGrpSpPr>
        <p:grpSpPr bwMode="auto">
          <a:xfrm>
            <a:off x="228600" y="1244600"/>
            <a:ext cx="8780463" cy="4381500"/>
            <a:chOff x="144" y="784"/>
            <a:chExt cx="5531" cy="2760"/>
          </a:xfrm>
        </p:grpSpPr>
        <p:sp>
          <p:nvSpPr>
            <p:cNvPr id="2526211" name="Rectangle 3"/>
            <p:cNvSpPr>
              <a:spLocks noChangeArrowheads="1"/>
            </p:cNvSpPr>
            <p:nvPr/>
          </p:nvSpPr>
          <p:spPr bwMode="auto">
            <a:xfrm>
              <a:off x="3275" y="2987"/>
              <a:ext cx="2232" cy="397"/>
            </a:xfrm>
            <a:prstGeom prst="rect">
              <a:avLst/>
            </a:prstGeom>
            <a:solidFill>
              <a:srgbClr val="FFFFFF"/>
            </a:solidFill>
            <a:ln w="9525">
              <a:noFill/>
              <a:miter lim="800000"/>
              <a:headEnd/>
              <a:tailEnd/>
            </a:ln>
          </p:spPr>
          <p:txBody>
            <a:bodyPr/>
            <a:lstStyle/>
            <a:p>
              <a:endParaRPr lang="en-US"/>
            </a:p>
          </p:txBody>
        </p:sp>
        <p:sp>
          <p:nvSpPr>
            <p:cNvPr id="2526212" name="Rectangle 4"/>
            <p:cNvSpPr>
              <a:spLocks noChangeArrowheads="1"/>
            </p:cNvSpPr>
            <p:nvPr/>
          </p:nvSpPr>
          <p:spPr bwMode="auto">
            <a:xfrm>
              <a:off x="3275" y="2987"/>
              <a:ext cx="2232" cy="397"/>
            </a:xfrm>
            <a:prstGeom prst="rect">
              <a:avLst/>
            </a:prstGeom>
            <a:noFill/>
            <a:ln w="3175">
              <a:solidFill>
                <a:srgbClr val="000000"/>
              </a:solidFill>
              <a:miter lim="800000"/>
              <a:headEnd/>
              <a:tailEnd/>
            </a:ln>
          </p:spPr>
          <p:txBody>
            <a:bodyPr/>
            <a:lstStyle/>
            <a:p>
              <a:endParaRPr lang="en-US"/>
            </a:p>
          </p:txBody>
        </p:sp>
        <p:sp>
          <p:nvSpPr>
            <p:cNvPr id="2526213" name="Rectangle 5"/>
            <p:cNvSpPr>
              <a:spLocks noChangeArrowheads="1"/>
            </p:cNvSpPr>
            <p:nvPr/>
          </p:nvSpPr>
          <p:spPr bwMode="auto">
            <a:xfrm>
              <a:off x="3123" y="1134"/>
              <a:ext cx="2552" cy="504"/>
            </a:xfrm>
            <a:prstGeom prst="rect">
              <a:avLst/>
            </a:prstGeom>
            <a:solidFill>
              <a:srgbClr val="E8E8E8"/>
            </a:solidFill>
            <a:ln w="9525">
              <a:noFill/>
              <a:miter lim="800000"/>
              <a:headEnd/>
              <a:tailEnd/>
            </a:ln>
          </p:spPr>
          <p:txBody>
            <a:bodyPr/>
            <a:lstStyle/>
            <a:p>
              <a:endParaRPr lang="en-US"/>
            </a:p>
          </p:txBody>
        </p:sp>
        <p:sp>
          <p:nvSpPr>
            <p:cNvPr id="2526214" name="Rectangle 6"/>
            <p:cNvSpPr>
              <a:spLocks noChangeArrowheads="1"/>
            </p:cNvSpPr>
            <p:nvPr/>
          </p:nvSpPr>
          <p:spPr bwMode="auto">
            <a:xfrm>
              <a:off x="3123" y="1134"/>
              <a:ext cx="2552" cy="504"/>
            </a:xfrm>
            <a:prstGeom prst="rect">
              <a:avLst/>
            </a:prstGeom>
            <a:noFill/>
            <a:ln w="3175">
              <a:noFill/>
              <a:miter lim="800000"/>
              <a:headEnd/>
              <a:tailEnd/>
            </a:ln>
          </p:spPr>
          <p:txBody>
            <a:bodyPr/>
            <a:lstStyle/>
            <a:p>
              <a:endParaRPr lang="en-US"/>
            </a:p>
          </p:txBody>
        </p:sp>
        <p:sp>
          <p:nvSpPr>
            <p:cNvPr id="2526215" name="Rectangle 7"/>
            <p:cNvSpPr>
              <a:spLocks noChangeArrowheads="1"/>
            </p:cNvSpPr>
            <p:nvPr/>
          </p:nvSpPr>
          <p:spPr bwMode="auto">
            <a:xfrm>
              <a:off x="3275" y="1722"/>
              <a:ext cx="2232" cy="1176"/>
            </a:xfrm>
            <a:prstGeom prst="rect">
              <a:avLst/>
            </a:prstGeom>
            <a:solidFill>
              <a:srgbClr val="FFFFFF"/>
            </a:solidFill>
            <a:ln w="9525">
              <a:noFill/>
              <a:miter lim="800000"/>
              <a:headEnd/>
              <a:tailEnd/>
            </a:ln>
          </p:spPr>
          <p:txBody>
            <a:bodyPr/>
            <a:lstStyle/>
            <a:p>
              <a:endParaRPr lang="en-US"/>
            </a:p>
          </p:txBody>
        </p:sp>
        <p:sp>
          <p:nvSpPr>
            <p:cNvPr id="2526216" name="Rectangle 8"/>
            <p:cNvSpPr>
              <a:spLocks noChangeArrowheads="1"/>
            </p:cNvSpPr>
            <p:nvPr/>
          </p:nvSpPr>
          <p:spPr bwMode="auto">
            <a:xfrm>
              <a:off x="3275" y="1722"/>
              <a:ext cx="2232" cy="1176"/>
            </a:xfrm>
            <a:prstGeom prst="rect">
              <a:avLst/>
            </a:prstGeom>
            <a:noFill/>
            <a:ln w="3175">
              <a:solidFill>
                <a:srgbClr val="000000"/>
              </a:solidFill>
              <a:miter lim="800000"/>
              <a:headEnd/>
              <a:tailEnd/>
            </a:ln>
          </p:spPr>
          <p:txBody>
            <a:bodyPr/>
            <a:lstStyle/>
            <a:p>
              <a:endParaRPr lang="en-US"/>
            </a:p>
          </p:txBody>
        </p:sp>
        <p:sp>
          <p:nvSpPr>
            <p:cNvPr id="2526217" name="Rectangle 9"/>
            <p:cNvSpPr>
              <a:spLocks noChangeArrowheads="1"/>
            </p:cNvSpPr>
            <p:nvPr/>
          </p:nvSpPr>
          <p:spPr bwMode="auto">
            <a:xfrm>
              <a:off x="3347" y="2610"/>
              <a:ext cx="2088" cy="216"/>
            </a:xfrm>
            <a:prstGeom prst="rect">
              <a:avLst/>
            </a:prstGeom>
            <a:solidFill>
              <a:srgbClr val="FFFF9D"/>
            </a:solidFill>
            <a:ln w="9525">
              <a:noFill/>
              <a:miter lim="800000"/>
              <a:headEnd/>
              <a:tailEnd/>
            </a:ln>
          </p:spPr>
          <p:txBody>
            <a:bodyPr/>
            <a:lstStyle/>
            <a:p>
              <a:endParaRPr lang="en-US"/>
            </a:p>
          </p:txBody>
        </p:sp>
        <p:sp>
          <p:nvSpPr>
            <p:cNvPr id="2526218" name="Rectangle 10"/>
            <p:cNvSpPr>
              <a:spLocks noChangeArrowheads="1"/>
            </p:cNvSpPr>
            <p:nvPr/>
          </p:nvSpPr>
          <p:spPr bwMode="auto">
            <a:xfrm>
              <a:off x="3347" y="2610"/>
              <a:ext cx="2088" cy="216"/>
            </a:xfrm>
            <a:prstGeom prst="rect">
              <a:avLst/>
            </a:prstGeom>
            <a:noFill/>
            <a:ln w="3175">
              <a:solidFill>
                <a:srgbClr val="000000"/>
              </a:solidFill>
              <a:miter lim="800000"/>
              <a:headEnd/>
              <a:tailEnd/>
            </a:ln>
          </p:spPr>
          <p:txBody>
            <a:bodyPr/>
            <a:lstStyle/>
            <a:p>
              <a:endParaRPr lang="en-US"/>
            </a:p>
          </p:txBody>
        </p:sp>
        <p:sp>
          <p:nvSpPr>
            <p:cNvPr id="2526219" name="Rectangle 11"/>
            <p:cNvSpPr>
              <a:spLocks noChangeArrowheads="1"/>
            </p:cNvSpPr>
            <p:nvPr/>
          </p:nvSpPr>
          <p:spPr bwMode="auto">
            <a:xfrm>
              <a:off x="4091" y="2679"/>
              <a:ext cx="631" cy="77"/>
            </a:xfrm>
            <a:prstGeom prst="rect">
              <a:avLst/>
            </a:prstGeom>
            <a:noFill/>
            <a:ln w="9525">
              <a:noFill/>
              <a:miter lim="800000"/>
              <a:headEnd/>
              <a:tailEnd/>
            </a:ln>
          </p:spPr>
          <p:txBody>
            <a:bodyPr wrap="none" lIns="0" tIns="0" rIns="0" bIns="0">
              <a:spAutoFit/>
            </a:bodyPr>
            <a:lstStyle/>
            <a:p>
              <a:r>
                <a:rPr lang="en-US" sz="800">
                  <a:solidFill>
                    <a:srgbClr val="000000"/>
                  </a:solidFill>
                </a:rPr>
                <a:t>fsConnect Foundation</a:t>
              </a:r>
              <a:endParaRPr lang="en-US" sz="1200"/>
            </a:p>
          </p:txBody>
        </p:sp>
        <p:sp>
          <p:nvSpPr>
            <p:cNvPr id="2526236" name="Rectangle 28"/>
            <p:cNvSpPr>
              <a:spLocks noChangeArrowheads="1"/>
            </p:cNvSpPr>
            <p:nvPr/>
          </p:nvSpPr>
          <p:spPr bwMode="auto">
            <a:xfrm>
              <a:off x="3347" y="1818"/>
              <a:ext cx="648" cy="288"/>
            </a:xfrm>
            <a:prstGeom prst="rect">
              <a:avLst/>
            </a:prstGeom>
            <a:solidFill>
              <a:srgbClr val="BFFFBF"/>
            </a:solidFill>
            <a:ln w="9525">
              <a:noFill/>
              <a:miter lim="800000"/>
              <a:headEnd/>
              <a:tailEnd/>
            </a:ln>
          </p:spPr>
          <p:txBody>
            <a:bodyPr/>
            <a:lstStyle/>
            <a:p>
              <a:endParaRPr lang="en-US"/>
            </a:p>
          </p:txBody>
        </p:sp>
        <p:sp>
          <p:nvSpPr>
            <p:cNvPr id="2526237" name="Rectangle 29"/>
            <p:cNvSpPr>
              <a:spLocks noChangeArrowheads="1"/>
            </p:cNvSpPr>
            <p:nvPr/>
          </p:nvSpPr>
          <p:spPr bwMode="auto">
            <a:xfrm>
              <a:off x="3347" y="1818"/>
              <a:ext cx="648" cy="288"/>
            </a:xfrm>
            <a:prstGeom prst="rect">
              <a:avLst/>
            </a:prstGeom>
            <a:noFill/>
            <a:ln w="3175">
              <a:solidFill>
                <a:srgbClr val="000000"/>
              </a:solidFill>
              <a:miter lim="800000"/>
              <a:headEnd/>
              <a:tailEnd/>
            </a:ln>
          </p:spPr>
          <p:txBody>
            <a:bodyPr/>
            <a:lstStyle/>
            <a:p>
              <a:endParaRPr lang="en-US"/>
            </a:p>
          </p:txBody>
        </p:sp>
        <p:sp>
          <p:nvSpPr>
            <p:cNvPr id="2526238" name="Rectangle 30"/>
            <p:cNvSpPr>
              <a:spLocks noChangeArrowheads="1"/>
            </p:cNvSpPr>
            <p:nvPr/>
          </p:nvSpPr>
          <p:spPr bwMode="auto">
            <a:xfrm>
              <a:off x="3521" y="1885"/>
              <a:ext cx="332" cy="77"/>
            </a:xfrm>
            <a:prstGeom prst="rect">
              <a:avLst/>
            </a:prstGeom>
            <a:noFill/>
            <a:ln w="9525">
              <a:noFill/>
              <a:miter lim="800000"/>
              <a:headEnd/>
              <a:tailEnd/>
            </a:ln>
          </p:spPr>
          <p:txBody>
            <a:bodyPr wrap="none" lIns="0" tIns="0" rIns="0" bIns="0">
              <a:spAutoFit/>
            </a:bodyPr>
            <a:lstStyle/>
            <a:p>
              <a:r>
                <a:rPr lang="en-US" sz="800">
                  <a:solidFill>
                    <a:srgbClr val="000000"/>
                  </a:solidFill>
                </a:rPr>
                <a:t>Customer 1</a:t>
              </a:r>
              <a:endParaRPr lang="en-US" sz="1200"/>
            </a:p>
          </p:txBody>
        </p:sp>
        <p:sp>
          <p:nvSpPr>
            <p:cNvPr id="2526239" name="Rectangle 31"/>
            <p:cNvSpPr>
              <a:spLocks noChangeArrowheads="1"/>
            </p:cNvSpPr>
            <p:nvPr/>
          </p:nvSpPr>
          <p:spPr bwMode="auto">
            <a:xfrm>
              <a:off x="3529" y="1962"/>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sp>
          <p:nvSpPr>
            <p:cNvPr id="2526240" name="Rectangle 32"/>
            <p:cNvSpPr>
              <a:spLocks noChangeArrowheads="1"/>
            </p:cNvSpPr>
            <p:nvPr/>
          </p:nvSpPr>
          <p:spPr bwMode="auto">
            <a:xfrm>
              <a:off x="4715" y="1818"/>
              <a:ext cx="720" cy="288"/>
            </a:xfrm>
            <a:prstGeom prst="rect">
              <a:avLst/>
            </a:prstGeom>
            <a:solidFill>
              <a:srgbClr val="BFFFBF"/>
            </a:solidFill>
            <a:ln w="9525">
              <a:noFill/>
              <a:miter lim="800000"/>
              <a:headEnd/>
              <a:tailEnd/>
            </a:ln>
          </p:spPr>
          <p:txBody>
            <a:bodyPr/>
            <a:lstStyle/>
            <a:p>
              <a:endParaRPr lang="en-US"/>
            </a:p>
          </p:txBody>
        </p:sp>
        <p:sp>
          <p:nvSpPr>
            <p:cNvPr id="2526241" name="Rectangle 33"/>
            <p:cNvSpPr>
              <a:spLocks noChangeArrowheads="1"/>
            </p:cNvSpPr>
            <p:nvPr/>
          </p:nvSpPr>
          <p:spPr bwMode="auto">
            <a:xfrm>
              <a:off x="4715" y="1818"/>
              <a:ext cx="720" cy="288"/>
            </a:xfrm>
            <a:prstGeom prst="rect">
              <a:avLst/>
            </a:prstGeom>
            <a:noFill/>
            <a:ln w="3175">
              <a:solidFill>
                <a:srgbClr val="000000"/>
              </a:solidFill>
              <a:miter lim="800000"/>
              <a:headEnd/>
              <a:tailEnd/>
            </a:ln>
          </p:spPr>
          <p:txBody>
            <a:bodyPr/>
            <a:lstStyle/>
            <a:p>
              <a:endParaRPr lang="en-US"/>
            </a:p>
          </p:txBody>
        </p:sp>
        <p:sp>
          <p:nvSpPr>
            <p:cNvPr id="2526242" name="Rectangle 34"/>
            <p:cNvSpPr>
              <a:spLocks noChangeArrowheads="1"/>
            </p:cNvSpPr>
            <p:nvPr/>
          </p:nvSpPr>
          <p:spPr bwMode="auto">
            <a:xfrm>
              <a:off x="4924" y="1885"/>
              <a:ext cx="332" cy="77"/>
            </a:xfrm>
            <a:prstGeom prst="rect">
              <a:avLst/>
            </a:prstGeom>
            <a:noFill/>
            <a:ln w="9525">
              <a:noFill/>
              <a:miter lim="800000"/>
              <a:headEnd/>
              <a:tailEnd/>
            </a:ln>
          </p:spPr>
          <p:txBody>
            <a:bodyPr wrap="none" lIns="0" tIns="0" rIns="0" bIns="0">
              <a:spAutoFit/>
            </a:bodyPr>
            <a:lstStyle/>
            <a:p>
              <a:r>
                <a:rPr lang="en-US" sz="800">
                  <a:solidFill>
                    <a:srgbClr val="000000"/>
                  </a:solidFill>
                </a:rPr>
                <a:t>Customer 3</a:t>
              </a:r>
              <a:endParaRPr lang="en-US" sz="1200"/>
            </a:p>
          </p:txBody>
        </p:sp>
        <p:sp>
          <p:nvSpPr>
            <p:cNvPr id="2526243" name="Rectangle 35"/>
            <p:cNvSpPr>
              <a:spLocks noChangeArrowheads="1"/>
            </p:cNvSpPr>
            <p:nvPr/>
          </p:nvSpPr>
          <p:spPr bwMode="auto">
            <a:xfrm>
              <a:off x="4932" y="1962"/>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sp>
          <p:nvSpPr>
            <p:cNvPr id="2526244" name="Rectangle 36"/>
            <p:cNvSpPr>
              <a:spLocks noChangeArrowheads="1"/>
            </p:cNvSpPr>
            <p:nvPr/>
          </p:nvSpPr>
          <p:spPr bwMode="auto">
            <a:xfrm>
              <a:off x="3995" y="1818"/>
              <a:ext cx="720" cy="288"/>
            </a:xfrm>
            <a:prstGeom prst="rect">
              <a:avLst/>
            </a:prstGeom>
            <a:solidFill>
              <a:srgbClr val="BFFFBF"/>
            </a:solidFill>
            <a:ln w="9525">
              <a:noFill/>
              <a:miter lim="800000"/>
              <a:headEnd/>
              <a:tailEnd/>
            </a:ln>
          </p:spPr>
          <p:txBody>
            <a:bodyPr/>
            <a:lstStyle/>
            <a:p>
              <a:endParaRPr lang="en-US"/>
            </a:p>
          </p:txBody>
        </p:sp>
        <p:sp>
          <p:nvSpPr>
            <p:cNvPr id="2526245" name="Rectangle 37"/>
            <p:cNvSpPr>
              <a:spLocks noChangeArrowheads="1"/>
            </p:cNvSpPr>
            <p:nvPr/>
          </p:nvSpPr>
          <p:spPr bwMode="auto">
            <a:xfrm>
              <a:off x="3995" y="1818"/>
              <a:ext cx="720" cy="288"/>
            </a:xfrm>
            <a:prstGeom prst="rect">
              <a:avLst/>
            </a:prstGeom>
            <a:noFill/>
            <a:ln w="3175">
              <a:solidFill>
                <a:srgbClr val="000000"/>
              </a:solidFill>
              <a:miter lim="800000"/>
              <a:headEnd/>
              <a:tailEnd/>
            </a:ln>
          </p:spPr>
          <p:txBody>
            <a:bodyPr/>
            <a:lstStyle/>
            <a:p>
              <a:endParaRPr lang="en-US"/>
            </a:p>
          </p:txBody>
        </p:sp>
        <p:sp>
          <p:nvSpPr>
            <p:cNvPr id="2526246" name="Rectangle 38"/>
            <p:cNvSpPr>
              <a:spLocks noChangeArrowheads="1"/>
            </p:cNvSpPr>
            <p:nvPr/>
          </p:nvSpPr>
          <p:spPr bwMode="auto">
            <a:xfrm>
              <a:off x="4205" y="1885"/>
              <a:ext cx="332" cy="77"/>
            </a:xfrm>
            <a:prstGeom prst="rect">
              <a:avLst/>
            </a:prstGeom>
            <a:noFill/>
            <a:ln w="9525">
              <a:noFill/>
              <a:miter lim="800000"/>
              <a:headEnd/>
              <a:tailEnd/>
            </a:ln>
          </p:spPr>
          <p:txBody>
            <a:bodyPr wrap="none" lIns="0" tIns="0" rIns="0" bIns="0">
              <a:spAutoFit/>
            </a:bodyPr>
            <a:lstStyle/>
            <a:p>
              <a:r>
                <a:rPr lang="en-US" sz="800">
                  <a:solidFill>
                    <a:srgbClr val="000000"/>
                  </a:solidFill>
                </a:rPr>
                <a:t>Customer 2</a:t>
              </a:r>
              <a:endParaRPr lang="en-US" sz="1200"/>
            </a:p>
          </p:txBody>
        </p:sp>
        <p:sp>
          <p:nvSpPr>
            <p:cNvPr id="2526247" name="Rectangle 39"/>
            <p:cNvSpPr>
              <a:spLocks noChangeArrowheads="1"/>
            </p:cNvSpPr>
            <p:nvPr/>
          </p:nvSpPr>
          <p:spPr bwMode="auto">
            <a:xfrm>
              <a:off x="4212" y="1962"/>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sp>
          <p:nvSpPr>
            <p:cNvPr id="2526251" name="Rectangle 43"/>
            <p:cNvSpPr>
              <a:spLocks noChangeArrowheads="1"/>
            </p:cNvSpPr>
            <p:nvPr/>
          </p:nvSpPr>
          <p:spPr bwMode="auto">
            <a:xfrm>
              <a:off x="3567" y="3066"/>
              <a:ext cx="416" cy="240"/>
            </a:xfrm>
            <a:prstGeom prst="rect">
              <a:avLst/>
            </a:prstGeom>
            <a:solidFill>
              <a:srgbClr val="FFB9B9"/>
            </a:solidFill>
            <a:ln w="9525">
              <a:solidFill>
                <a:schemeClr val="tx1"/>
              </a:solidFill>
              <a:miter lim="800000"/>
              <a:headEnd/>
              <a:tailEnd/>
            </a:ln>
          </p:spPr>
          <p:txBody>
            <a:bodyPr/>
            <a:lstStyle/>
            <a:p>
              <a:endParaRPr lang="en-US"/>
            </a:p>
          </p:txBody>
        </p:sp>
        <p:sp>
          <p:nvSpPr>
            <p:cNvPr id="2526252" name="Rectangle 44"/>
            <p:cNvSpPr>
              <a:spLocks noChangeArrowheads="1"/>
            </p:cNvSpPr>
            <p:nvPr/>
          </p:nvSpPr>
          <p:spPr bwMode="auto">
            <a:xfrm>
              <a:off x="3600" y="3147"/>
              <a:ext cx="373" cy="115"/>
            </a:xfrm>
            <a:prstGeom prst="rect">
              <a:avLst/>
            </a:prstGeom>
            <a:noFill/>
            <a:ln w="9525">
              <a:noFill/>
              <a:miter lim="800000"/>
              <a:headEnd/>
              <a:tailEnd/>
            </a:ln>
          </p:spPr>
          <p:txBody>
            <a:bodyPr wrap="none" lIns="0" tIns="0" rIns="0" bIns="0">
              <a:spAutoFit/>
            </a:bodyPr>
            <a:lstStyle/>
            <a:p>
              <a:r>
                <a:rPr lang="en-US" sz="1200" b="1">
                  <a:solidFill>
                    <a:srgbClr val="000000"/>
                  </a:solidFill>
                </a:rPr>
                <a:t>Vantage</a:t>
              </a:r>
              <a:endParaRPr lang="en-US" sz="1200" b="1"/>
            </a:p>
          </p:txBody>
        </p:sp>
        <p:sp>
          <p:nvSpPr>
            <p:cNvPr id="2526253" name="Rectangle 45"/>
            <p:cNvSpPr>
              <a:spLocks noChangeArrowheads="1"/>
            </p:cNvSpPr>
            <p:nvPr/>
          </p:nvSpPr>
          <p:spPr bwMode="auto">
            <a:xfrm>
              <a:off x="4047" y="3066"/>
              <a:ext cx="360" cy="240"/>
            </a:xfrm>
            <a:prstGeom prst="rect">
              <a:avLst/>
            </a:prstGeom>
            <a:solidFill>
              <a:srgbClr val="FFB9B9"/>
            </a:solidFill>
            <a:ln w="9525">
              <a:noFill/>
              <a:miter lim="800000"/>
              <a:headEnd/>
              <a:tailEnd/>
            </a:ln>
          </p:spPr>
          <p:txBody>
            <a:bodyPr/>
            <a:lstStyle/>
            <a:p>
              <a:endParaRPr lang="en-US"/>
            </a:p>
          </p:txBody>
        </p:sp>
        <p:sp>
          <p:nvSpPr>
            <p:cNvPr id="2526254" name="Rectangle 46"/>
            <p:cNvSpPr>
              <a:spLocks noChangeArrowheads="1"/>
            </p:cNvSpPr>
            <p:nvPr/>
          </p:nvSpPr>
          <p:spPr bwMode="auto">
            <a:xfrm>
              <a:off x="4047" y="3066"/>
              <a:ext cx="360" cy="240"/>
            </a:xfrm>
            <a:prstGeom prst="rect">
              <a:avLst/>
            </a:prstGeom>
            <a:noFill/>
            <a:ln w="3175">
              <a:solidFill>
                <a:srgbClr val="000000"/>
              </a:solidFill>
              <a:miter lim="800000"/>
              <a:headEnd/>
              <a:tailEnd/>
            </a:ln>
          </p:spPr>
          <p:txBody>
            <a:bodyPr/>
            <a:lstStyle/>
            <a:p>
              <a:endParaRPr lang="en-US"/>
            </a:p>
          </p:txBody>
        </p:sp>
        <p:sp>
          <p:nvSpPr>
            <p:cNvPr id="2526255" name="Rectangle 47"/>
            <p:cNvSpPr>
              <a:spLocks noChangeArrowheads="1"/>
            </p:cNvSpPr>
            <p:nvPr/>
          </p:nvSpPr>
          <p:spPr bwMode="auto">
            <a:xfrm>
              <a:off x="4094" y="3147"/>
              <a:ext cx="299" cy="115"/>
            </a:xfrm>
            <a:prstGeom prst="rect">
              <a:avLst/>
            </a:prstGeom>
            <a:noFill/>
            <a:ln w="9525">
              <a:noFill/>
              <a:miter lim="800000"/>
              <a:headEnd/>
              <a:tailEnd/>
            </a:ln>
          </p:spPr>
          <p:txBody>
            <a:bodyPr wrap="none" lIns="0" tIns="0" rIns="0" bIns="0">
              <a:spAutoFit/>
            </a:bodyPr>
            <a:lstStyle/>
            <a:p>
              <a:r>
                <a:rPr lang="en-US" sz="1200" b="1">
                  <a:solidFill>
                    <a:srgbClr val="000000"/>
                  </a:solidFill>
                </a:rPr>
                <a:t>VP/MS</a:t>
              </a:r>
              <a:endParaRPr lang="en-US" sz="1200" b="1"/>
            </a:p>
          </p:txBody>
        </p:sp>
        <p:sp>
          <p:nvSpPr>
            <p:cNvPr id="2526260" name="Rectangle 52"/>
            <p:cNvSpPr>
              <a:spLocks noChangeArrowheads="1"/>
            </p:cNvSpPr>
            <p:nvPr/>
          </p:nvSpPr>
          <p:spPr bwMode="auto">
            <a:xfrm>
              <a:off x="4479" y="3066"/>
              <a:ext cx="360" cy="240"/>
            </a:xfrm>
            <a:prstGeom prst="rect">
              <a:avLst/>
            </a:prstGeom>
            <a:solidFill>
              <a:srgbClr val="FFB9B9"/>
            </a:solidFill>
            <a:ln w="9525">
              <a:noFill/>
              <a:miter lim="800000"/>
              <a:headEnd/>
              <a:tailEnd/>
            </a:ln>
          </p:spPr>
          <p:txBody>
            <a:bodyPr/>
            <a:lstStyle/>
            <a:p>
              <a:endParaRPr lang="en-US"/>
            </a:p>
          </p:txBody>
        </p:sp>
        <p:sp>
          <p:nvSpPr>
            <p:cNvPr id="2526261" name="Rectangle 53"/>
            <p:cNvSpPr>
              <a:spLocks noChangeArrowheads="1"/>
            </p:cNvSpPr>
            <p:nvPr/>
          </p:nvSpPr>
          <p:spPr bwMode="auto">
            <a:xfrm>
              <a:off x="4479" y="3066"/>
              <a:ext cx="360" cy="240"/>
            </a:xfrm>
            <a:prstGeom prst="rect">
              <a:avLst/>
            </a:prstGeom>
            <a:noFill/>
            <a:ln w="3175">
              <a:solidFill>
                <a:srgbClr val="000000"/>
              </a:solidFill>
              <a:miter lim="800000"/>
              <a:headEnd/>
              <a:tailEnd/>
            </a:ln>
          </p:spPr>
          <p:txBody>
            <a:bodyPr/>
            <a:lstStyle/>
            <a:p>
              <a:endParaRPr lang="en-US"/>
            </a:p>
          </p:txBody>
        </p:sp>
        <p:sp>
          <p:nvSpPr>
            <p:cNvPr id="2526262" name="Rectangle 54"/>
            <p:cNvSpPr>
              <a:spLocks noChangeArrowheads="1"/>
            </p:cNvSpPr>
            <p:nvPr/>
          </p:nvSpPr>
          <p:spPr bwMode="auto">
            <a:xfrm>
              <a:off x="4532" y="3147"/>
              <a:ext cx="283" cy="115"/>
            </a:xfrm>
            <a:prstGeom prst="rect">
              <a:avLst/>
            </a:prstGeom>
            <a:noFill/>
            <a:ln w="9525">
              <a:noFill/>
              <a:miter lim="800000"/>
              <a:headEnd/>
              <a:tailEnd/>
            </a:ln>
          </p:spPr>
          <p:txBody>
            <a:bodyPr wrap="none" lIns="0" tIns="0" rIns="0" bIns="0">
              <a:spAutoFit/>
            </a:bodyPr>
            <a:lstStyle/>
            <a:p>
              <a:r>
                <a:rPr lang="en-US" sz="1200" b="1">
                  <a:solidFill>
                    <a:srgbClr val="000000"/>
                  </a:solidFill>
                </a:rPr>
                <a:t>TxLife</a:t>
              </a:r>
              <a:endParaRPr lang="en-US" sz="1200" b="1"/>
            </a:p>
          </p:txBody>
        </p:sp>
        <p:sp>
          <p:nvSpPr>
            <p:cNvPr id="2526263" name="Rectangle 55"/>
            <p:cNvSpPr>
              <a:spLocks noChangeArrowheads="1"/>
            </p:cNvSpPr>
            <p:nvPr/>
          </p:nvSpPr>
          <p:spPr bwMode="auto">
            <a:xfrm>
              <a:off x="4911" y="3066"/>
              <a:ext cx="360" cy="240"/>
            </a:xfrm>
            <a:prstGeom prst="rect">
              <a:avLst/>
            </a:prstGeom>
            <a:solidFill>
              <a:srgbClr val="FFB9B9"/>
            </a:solidFill>
            <a:ln w="9525">
              <a:noFill/>
              <a:miter lim="800000"/>
              <a:headEnd/>
              <a:tailEnd/>
            </a:ln>
          </p:spPr>
          <p:txBody>
            <a:bodyPr/>
            <a:lstStyle/>
            <a:p>
              <a:endParaRPr lang="en-US"/>
            </a:p>
          </p:txBody>
        </p:sp>
        <p:sp>
          <p:nvSpPr>
            <p:cNvPr id="2526264" name="Rectangle 56"/>
            <p:cNvSpPr>
              <a:spLocks noChangeArrowheads="1"/>
            </p:cNvSpPr>
            <p:nvPr/>
          </p:nvSpPr>
          <p:spPr bwMode="auto">
            <a:xfrm>
              <a:off x="4911" y="3066"/>
              <a:ext cx="360" cy="240"/>
            </a:xfrm>
            <a:prstGeom prst="rect">
              <a:avLst/>
            </a:prstGeom>
            <a:noFill/>
            <a:ln w="3175">
              <a:solidFill>
                <a:srgbClr val="000000"/>
              </a:solidFill>
              <a:miter lim="800000"/>
              <a:headEnd/>
              <a:tailEnd/>
            </a:ln>
          </p:spPr>
          <p:txBody>
            <a:bodyPr/>
            <a:lstStyle/>
            <a:p>
              <a:endParaRPr lang="en-US"/>
            </a:p>
          </p:txBody>
        </p:sp>
        <p:sp>
          <p:nvSpPr>
            <p:cNvPr id="2526265" name="Rectangle 57"/>
            <p:cNvSpPr>
              <a:spLocks noChangeArrowheads="1"/>
            </p:cNvSpPr>
            <p:nvPr/>
          </p:nvSpPr>
          <p:spPr bwMode="auto">
            <a:xfrm>
              <a:off x="4930" y="3133"/>
              <a:ext cx="352" cy="115"/>
            </a:xfrm>
            <a:prstGeom prst="rect">
              <a:avLst/>
            </a:prstGeom>
            <a:noFill/>
            <a:ln w="9525">
              <a:noFill/>
              <a:miter lim="800000"/>
              <a:headEnd/>
              <a:tailEnd/>
            </a:ln>
          </p:spPr>
          <p:txBody>
            <a:bodyPr wrap="none" lIns="0" tIns="0" rIns="0" bIns="0">
              <a:spAutoFit/>
            </a:bodyPr>
            <a:lstStyle/>
            <a:p>
              <a:r>
                <a:rPr lang="en-US" sz="1200" b="1">
                  <a:solidFill>
                    <a:srgbClr val="000000"/>
                  </a:solidFill>
                </a:rPr>
                <a:t>Futures</a:t>
              </a:r>
              <a:endParaRPr lang="en-US" sz="1200" b="1"/>
            </a:p>
          </p:txBody>
        </p:sp>
        <p:sp>
          <p:nvSpPr>
            <p:cNvPr id="2526266" name="Rectangle 58"/>
            <p:cNvSpPr>
              <a:spLocks noChangeArrowheads="1"/>
            </p:cNvSpPr>
            <p:nvPr/>
          </p:nvSpPr>
          <p:spPr bwMode="auto">
            <a:xfrm>
              <a:off x="3347" y="2394"/>
              <a:ext cx="2088" cy="216"/>
            </a:xfrm>
            <a:prstGeom prst="rect">
              <a:avLst/>
            </a:prstGeom>
            <a:solidFill>
              <a:srgbClr val="FFBDBD"/>
            </a:solidFill>
            <a:ln w="9525">
              <a:noFill/>
              <a:miter lim="800000"/>
              <a:headEnd/>
              <a:tailEnd/>
            </a:ln>
          </p:spPr>
          <p:txBody>
            <a:bodyPr/>
            <a:lstStyle/>
            <a:p>
              <a:endParaRPr lang="en-US"/>
            </a:p>
          </p:txBody>
        </p:sp>
        <p:sp>
          <p:nvSpPr>
            <p:cNvPr id="2526267" name="Rectangle 59"/>
            <p:cNvSpPr>
              <a:spLocks noChangeArrowheads="1"/>
            </p:cNvSpPr>
            <p:nvPr/>
          </p:nvSpPr>
          <p:spPr bwMode="auto">
            <a:xfrm>
              <a:off x="3347" y="2394"/>
              <a:ext cx="2088" cy="216"/>
            </a:xfrm>
            <a:prstGeom prst="rect">
              <a:avLst/>
            </a:prstGeom>
            <a:noFill/>
            <a:ln w="3175">
              <a:solidFill>
                <a:srgbClr val="000000"/>
              </a:solidFill>
              <a:miter lim="800000"/>
              <a:headEnd/>
              <a:tailEnd/>
            </a:ln>
          </p:spPr>
          <p:txBody>
            <a:bodyPr/>
            <a:lstStyle/>
            <a:p>
              <a:endParaRPr lang="en-US"/>
            </a:p>
          </p:txBody>
        </p:sp>
        <p:sp>
          <p:nvSpPr>
            <p:cNvPr id="2526268" name="Rectangle 60"/>
            <p:cNvSpPr>
              <a:spLocks noChangeArrowheads="1"/>
            </p:cNvSpPr>
            <p:nvPr/>
          </p:nvSpPr>
          <p:spPr bwMode="auto">
            <a:xfrm>
              <a:off x="3838" y="2463"/>
              <a:ext cx="1141" cy="77"/>
            </a:xfrm>
            <a:prstGeom prst="rect">
              <a:avLst/>
            </a:prstGeom>
            <a:noFill/>
            <a:ln w="9525">
              <a:noFill/>
              <a:miter lim="800000"/>
              <a:headEnd/>
              <a:tailEnd/>
            </a:ln>
          </p:spPr>
          <p:txBody>
            <a:bodyPr wrap="none" lIns="0" tIns="0" rIns="0" bIns="0">
              <a:spAutoFit/>
            </a:bodyPr>
            <a:lstStyle/>
            <a:p>
              <a:r>
                <a:rPr lang="en-US" sz="800">
                  <a:solidFill>
                    <a:srgbClr val="000000"/>
                  </a:solidFill>
                </a:rPr>
                <a:t>Acord Based Business Model / Services</a:t>
              </a:r>
              <a:endParaRPr lang="en-US" sz="1200"/>
            </a:p>
          </p:txBody>
        </p:sp>
        <p:sp>
          <p:nvSpPr>
            <p:cNvPr id="2526269" name="Rectangle 61"/>
            <p:cNvSpPr>
              <a:spLocks noChangeArrowheads="1"/>
            </p:cNvSpPr>
            <p:nvPr/>
          </p:nvSpPr>
          <p:spPr bwMode="auto">
            <a:xfrm flipH="1">
              <a:off x="3120" y="1600"/>
              <a:ext cx="96" cy="1944"/>
            </a:xfrm>
            <a:prstGeom prst="rect">
              <a:avLst/>
            </a:prstGeom>
            <a:solidFill>
              <a:srgbClr val="E8E8E8"/>
            </a:solidFill>
            <a:ln w="9525">
              <a:noFill/>
              <a:miter lim="800000"/>
              <a:headEnd/>
              <a:tailEnd/>
            </a:ln>
            <a:effectLst/>
          </p:spPr>
          <p:txBody>
            <a:bodyPr wrap="none" anchor="ctr"/>
            <a:lstStyle/>
            <a:p>
              <a:endParaRPr lang="en-US"/>
            </a:p>
          </p:txBody>
        </p:sp>
        <p:sp>
          <p:nvSpPr>
            <p:cNvPr id="2526270" name="Rectangle 62"/>
            <p:cNvSpPr>
              <a:spLocks noChangeArrowheads="1"/>
            </p:cNvSpPr>
            <p:nvPr/>
          </p:nvSpPr>
          <p:spPr bwMode="auto">
            <a:xfrm rot="16200000" flipH="1">
              <a:off x="4356" y="2308"/>
              <a:ext cx="88" cy="2384"/>
            </a:xfrm>
            <a:prstGeom prst="rect">
              <a:avLst/>
            </a:prstGeom>
            <a:solidFill>
              <a:srgbClr val="E8E8E8"/>
            </a:solidFill>
            <a:ln w="9525">
              <a:noFill/>
              <a:miter lim="800000"/>
              <a:headEnd/>
              <a:tailEnd/>
            </a:ln>
            <a:effectLst/>
          </p:spPr>
          <p:txBody>
            <a:bodyPr wrap="none" anchor="ctr"/>
            <a:lstStyle/>
            <a:p>
              <a:endParaRPr lang="en-US"/>
            </a:p>
          </p:txBody>
        </p:sp>
        <p:grpSp>
          <p:nvGrpSpPr>
            <p:cNvPr id="2526271" name="Group 63"/>
            <p:cNvGrpSpPr>
              <a:grpSpLocks/>
            </p:cNvGrpSpPr>
            <p:nvPr/>
          </p:nvGrpSpPr>
          <p:grpSpPr bwMode="auto">
            <a:xfrm>
              <a:off x="3199" y="1422"/>
              <a:ext cx="2376" cy="144"/>
              <a:chOff x="3103" y="1422"/>
              <a:chExt cx="2376" cy="144"/>
            </a:xfrm>
          </p:grpSpPr>
          <p:sp>
            <p:nvSpPr>
              <p:cNvPr id="2526272" name="Rectangle 64"/>
              <p:cNvSpPr>
                <a:spLocks noChangeArrowheads="1"/>
              </p:cNvSpPr>
              <p:nvPr/>
            </p:nvSpPr>
            <p:spPr bwMode="auto">
              <a:xfrm>
                <a:off x="4075" y="1422"/>
                <a:ext cx="360" cy="144"/>
              </a:xfrm>
              <a:prstGeom prst="rect">
                <a:avLst/>
              </a:prstGeom>
              <a:solidFill>
                <a:srgbClr val="FFBFFF"/>
              </a:solidFill>
              <a:ln w="9525">
                <a:noFill/>
                <a:miter lim="800000"/>
                <a:headEnd/>
                <a:tailEnd/>
              </a:ln>
            </p:spPr>
            <p:txBody>
              <a:bodyPr/>
              <a:lstStyle/>
              <a:p>
                <a:endParaRPr lang="en-US"/>
              </a:p>
            </p:txBody>
          </p:sp>
          <p:sp>
            <p:nvSpPr>
              <p:cNvPr id="2526273" name="Rectangle 65"/>
              <p:cNvSpPr>
                <a:spLocks noChangeArrowheads="1"/>
              </p:cNvSpPr>
              <p:nvPr/>
            </p:nvSpPr>
            <p:spPr bwMode="auto">
              <a:xfrm>
                <a:off x="4075" y="1422"/>
                <a:ext cx="360" cy="144"/>
              </a:xfrm>
              <a:prstGeom prst="rect">
                <a:avLst/>
              </a:prstGeom>
              <a:noFill/>
              <a:ln w="3175">
                <a:solidFill>
                  <a:srgbClr val="000000"/>
                </a:solidFill>
                <a:miter lim="800000"/>
                <a:headEnd/>
                <a:tailEnd/>
              </a:ln>
            </p:spPr>
            <p:txBody>
              <a:bodyPr/>
              <a:lstStyle/>
              <a:p>
                <a:endParaRPr lang="en-US"/>
              </a:p>
            </p:txBody>
          </p:sp>
          <p:sp>
            <p:nvSpPr>
              <p:cNvPr id="2526274" name="Rectangle 66"/>
              <p:cNvSpPr>
                <a:spLocks noChangeArrowheads="1"/>
              </p:cNvSpPr>
              <p:nvPr/>
            </p:nvSpPr>
            <p:spPr bwMode="auto">
              <a:xfrm>
                <a:off x="4206" y="1455"/>
                <a:ext cx="125" cy="77"/>
              </a:xfrm>
              <a:prstGeom prst="rect">
                <a:avLst/>
              </a:prstGeom>
              <a:noFill/>
              <a:ln w="9525">
                <a:noFill/>
                <a:miter lim="800000"/>
                <a:headEnd/>
                <a:tailEnd/>
              </a:ln>
            </p:spPr>
            <p:txBody>
              <a:bodyPr wrap="none" lIns="0" tIns="0" rIns="0" bIns="0">
                <a:spAutoFit/>
              </a:bodyPr>
              <a:lstStyle/>
              <a:p>
                <a:r>
                  <a:rPr lang="en-US" sz="800">
                    <a:solidFill>
                      <a:srgbClr val="000000"/>
                    </a:solidFill>
                  </a:rPr>
                  <a:t>JBO</a:t>
                </a:r>
                <a:endParaRPr lang="en-US" sz="1200"/>
              </a:p>
            </p:txBody>
          </p:sp>
          <p:grpSp>
            <p:nvGrpSpPr>
              <p:cNvPr id="2526275" name="Group 67"/>
              <p:cNvGrpSpPr>
                <a:grpSpLocks/>
              </p:cNvGrpSpPr>
              <p:nvPr/>
            </p:nvGrpSpPr>
            <p:grpSpPr bwMode="auto">
              <a:xfrm>
                <a:off x="3583" y="1422"/>
                <a:ext cx="360" cy="144"/>
                <a:chOff x="3535" y="1422"/>
                <a:chExt cx="360" cy="144"/>
              </a:xfrm>
            </p:grpSpPr>
            <p:sp>
              <p:nvSpPr>
                <p:cNvPr id="2526276" name="Rectangle 68"/>
                <p:cNvSpPr>
                  <a:spLocks noChangeArrowheads="1"/>
                </p:cNvSpPr>
                <p:nvPr/>
              </p:nvSpPr>
              <p:spPr bwMode="auto">
                <a:xfrm>
                  <a:off x="3535" y="1422"/>
                  <a:ext cx="360" cy="144"/>
                </a:xfrm>
                <a:prstGeom prst="rect">
                  <a:avLst/>
                </a:prstGeom>
                <a:solidFill>
                  <a:srgbClr val="FFBFFF"/>
                </a:solidFill>
                <a:ln w="9525">
                  <a:noFill/>
                  <a:miter lim="800000"/>
                  <a:headEnd/>
                  <a:tailEnd/>
                </a:ln>
              </p:spPr>
              <p:txBody>
                <a:bodyPr/>
                <a:lstStyle/>
                <a:p>
                  <a:endParaRPr lang="en-US"/>
                </a:p>
              </p:txBody>
            </p:sp>
            <p:sp>
              <p:nvSpPr>
                <p:cNvPr id="2526277" name="Rectangle 69"/>
                <p:cNvSpPr>
                  <a:spLocks noChangeArrowheads="1"/>
                </p:cNvSpPr>
                <p:nvPr/>
              </p:nvSpPr>
              <p:spPr bwMode="auto">
                <a:xfrm>
                  <a:off x="3535" y="1422"/>
                  <a:ext cx="360" cy="144"/>
                </a:xfrm>
                <a:prstGeom prst="rect">
                  <a:avLst/>
                </a:prstGeom>
                <a:noFill/>
                <a:ln w="3175">
                  <a:solidFill>
                    <a:srgbClr val="000000"/>
                  </a:solidFill>
                  <a:miter lim="800000"/>
                  <a:headEnd/>
                  <a:tailEnd/>
                </a:ln>
              </p:spPr>
              <p:txBody>
                <a:bodyPr/>
                <a:lstStyle/>
                <a:p>
                  <a:endParaRPr lang="en-US"/>
                </a:p>
              </p:txBody>
            </p:sp>
            <p:sp>
              <p:nvSpPr>
                <p:cNvPr id="2526278" name="Rectangle 70"/>
                <p:cNvSpPr>
                  <a:spLocks noChangeArrowheads="1"/>
                </p:cNvSpPr>
                <p:nvPr/>
              </p:nvSpPr>
              <p:spPr bwMode="auto">
                <a:xfrm>
                  <a:off x="3654" y="1455"/>
                  <a:ext cx="149" cy="77"/>
                </a:xfrm>
                <a:prstGeom prst="rect">
                  <a:avLst/>
                </a:prstGeom>
                <a:noFill/>
                <a:ln w="9525">
                  <a:noFill/>
                  <a:miter lim="800000"/>
                  <a:headEnd/>
                  <a:tailEnd/>
                </a:ln>
              </p:spPr>
              <p:txBody>
                <a:bodyPr wrap="none" lIns="0" tIns="0" rIns="0" bIns="0">
                  <a:spAutoFit/>
                </a:bodyPr>
                <a:lstStyle/>
                <a:p>
                  <a:r>
                    <a:rPr lang="en-US" sz="800">
                      <a:solidFill>
                        <a:srgbClr val="000000"/>
                      </a:solidFill>
                    </a:rPr>
                    <a:t>COM</a:t>
                  </a:r>
                  <a:endParaRPr lang="en-US" sz="1200"/>
                </a:p>
              </p:txBody>
            </p:sp>
          </p:grpSp>
          <p:sp>
            <p:nvSpPr>
              <p:cNvPr id="2526279" name="Rectangle 71"/>
              <p:cNvSpPr>
                <a:spLocks noChangeArrowheads="1"/>
              </p:cNvSpPr>
              <p:nvPr/>
            </p:nvSpPr>
            <p:spPr bwMode="auto">
              <a:xfrm>
                <a:off x="4615" y="1422"/>
                <a:ext cx="360" cy="144"/>
              </a:xfrm>
              <a:prstGeom prst="rect">
                <a:avLst/>
              </a:prstGeom>
              <a:solidFill>
                <a:srgbClr val="FFBFFF"/>
              </a:solidFill>
              <a:ln w="9525">
                <a:noFill/>
                <a:miter lim="800000"/>
                <a:headEnd/>
                <a:tailEnd/>
              </a:ln>
            </p:spPr>
            <p:txBody>
              <a:bodyPr/>
              <a:lstStyle/>
              <a:p>
                <a:endParaRPr lang="en-US"/>
              </a:p>
            </p:txBody>
          </p:sp>
          <p:sp>
            <p:nvSpPr>
              <p:cNvPr id="2526280" name="Rectangle 72"/>
              <p:cNvSpPr>
                <a:spLocks noChangeArrowheads="1"/>
              </p:cNvSpPr>
              <p:nvPr/>
            </p:nvSpPr>
            <p:spPr bwMode="auto">
              <a:xfrm>
                <a:off x="4615" y="1422"/>
                <a:ext cx="360" cy="144"/>
              </a:xfrm>
              <a:prstGeom prst="rect">
                <a:avLst/>
              </a:prstGeom>
              <a:noFill/>
              <a:ln w="3175">
                <a:solidFill>
                  <a:srgbClr val="000000"/>
                </a:solidFill>
                <a:miter lim="800000"/>
                <a:headEnd/>
                <a:tailEnd/>
              </a:ln>
            </p:spPr>
            <p:txBody>
              <a:bodyPr/>
              <a:lstStyle/>
              <a:p>
                <a:endParaRPr lang="en-US"/>
              </a:p>
            </p:txBody>
          </p:sp>
          <p:sp>
            <p:nvSpPr>
              <p:cNvPr id="2526281" name="Rectangle 73"/>
              <p:cNvSpPr>
                <a:spLocks noChangeArrowheads="1"/>
              </p:cNvSpPr>
              <p:nvPr/>
            </p:nvSpPr>
            <p:spPr bwMode="auto">
              <a:xfrm>
                <a:off x="4722" y="1455"/>
                <a:ext cx="175" cy="77"/>
              </a:xfrm>
              <a:prstGeom prst="rect">
                <a:avLst/>
              </a:prstGeom>
              <a:noFill/>
              <a:ln w="9525">
                <a:noFill/>
                <a:miter lim="800000"/>
                <a:headEnd/>
                <a:tailEnd/>
              </a:ln>
            </p:spPr>
            <p:txBody>
              <a:bodyPr wrap="none" lIns="0" tIns="0" rIns="0" bIns="0">
                <a:spAutoFit/>
              </a:bodyPr>
              <a:lstStyle/>
              <a:p>
                <a:r>
                  <a:rPr lang="en-US" sz="800">
                    <a:solidFill>
                      <a:srgbClr val="000000"/>
                    </a:solidFill>
                  </a:rPr>
                  <a:t>Corba</a:t>
                </a:r>
                <a:endParaRPr lang="en-US" sz="1200"/>
              </a:p>
            </p:txBody>
          </p:sp>
          <p:sp>
            <p:nvSpPr>
              <p:cNvPr id="2526282" name="Rectangle 74"/>
              <p:cNvSpPr>
                <a:spLocks noChangeArrowheads="1"/>
              </p:cNvSpPr>
              <p:nvPr/>
            </p:nvSpPr>
            <p:spPr bwMode="auto">
              <a:xfrm>
                <a:off x="5119" y="1422"/>
                <a:ext cx="360" cy="144"/>
              </a:xfrm>
              <a:prstGeom prst="rect">
                <a:avLst/>
              </a:prstGeom>
              <a:solidFill>
                <a:srgbClr val="FFBFFF"/>
              </a:solidFill>
              <a:ln w="9525">
                <a:noFill/>
                <a:miter lim="800000"/>
                <a:headEnd/>
                <a:tailEnd/>
              </a:ln>
            </p:spPr>
            <p:txBody>
              <a:bodyPr/>
              <a:lstStyle/>
              <a:p>
                <a:endParaRPr lang="en-US"/>
              </a:p>
            </p:txBody>
          </p:sp>
          <p:sp>
            <p:nvSpPr>
              <p:cNvPr id="2526283" name="Rectangle 75"/>
              <p:cNvSpPr>
                <a:spLocks noChangeArrowheads="1"/>
              </p:cNvSpPr>
              <p:nvPr/>
            </p:nvSpPr>
            <p:spPr bwMode="auto">
              <a:xfrm>
                <a:off x="5119" y="1422"/>
                <a:ext cx="360" cy="144"/>
              </a:xfrm>
              <a:prstGeom prst="rect">
                <a:avLst/>
              </a:prstGeom>
              <a:noFill/>
              <a:ln w="3175">
                <a:solidFill>
                  <a:srgbClr val="000000"/>
                </a:solidFill>
                <a:miter lim="800000"/>
                <a:headEnd/>
                <a:tailEnd/>
              </a:ln>
            </p:spPr>
            <p:txBody>
              <a:bodyPr/>
              <a:lstStyle/>
              <a:p>
                <a:endParaRPr lang="en-US"/>
              </a:p>
            </p:txBody>
          </p:sp>
          <p:sp>
            <p:nvSpPr>
              <p:cNvPr id="2526284" name="Rectangle 76"/>
              <p:cNvSpPr>
                <a:spLocks noChangeArrowheads="1"/>
              </p:cNvSpPr>
              <p:nvPr/>
            </p:nvSpPr>
            <p:spPr bwMode="auto">
              <a:xfrm>
                <a:off x="5197" y="1455"/>
                <a:ext cx="232" cy="77"/>
              </a:xfrm>
              <a:prstGeom prst="rect">
                <a:avLst/>
              </a:prstGeom>
              <a:noFill/>
              <a:ln w="9525">
                <a:noFill/>
                <a:miter lim="800000"/>
                <a:headEnd/>
                <a:tailEnd/>
              </a:ln>
            </p:spPr>
            <p:txBody>
              <a:bodyPr wrap="none" lIns="0" tIns="0" rIns="0" bIns="0">
                <a:spAutoFit/>
              </a:bodyPr>
              <a:lstStyle/>
              <a:p>
                <a:r>
                  <a:rPr lang="en-US" sz="800">
                    <a:solidFill>
                      <a:srgbClr val="000000"/>
                    </a:solidFill>
                  </a:rPr>
                  <a:t>Servlets</a:t>
                </a:r>
                <a:endParaRPr lang="en-US" sz="1200"/>
              </a:p>
            </p:txBody>
          </p:sp>
          <p:grpSp>
            <p:nvGrpSpPr>
              <p:cNvPr id="2526285" name="Group 77"/>
              <p:cNvGrpSpPr>
                <a:grpSpLocks/>
              </p:cNvGrpSpPr>
              <p:nvPr/>
            </p:nvGrpSpPr>
            <p:grpSpPr bwMode="auto">
              <a:xfrm>
                <a:off x="3103" y="1422"/>
                <a:ext cx="360" cy="144"/>
                <a:chOff x="3455" y="1150"/>
                <a:chExt cx="360" cy="144"/>
              </a:xfrm>
            </p:grpSpPr>
            <p:sp>
              <p:nvSpPr>
                <p:cNvPr id="2526286" name="Rectangle 78"/>
                <p:cNvSpPr>
                  <a:spLocks noChangeArrowheads="1"/>
                </p:cNvSpPr>
                <p:nvPr/>
              </p:nvSpPr>
              <p:spPr bwMode="auto">
                <a:xfrm>
                  <a:off x="3455" y="1150"/>
                  <a:ext cx="360" cy="144"/>
                </a:xfrm>
                <a:prstGeom prst="rect">
                  <a:avLst/>
                </a:prstGeom>
                <a:solidFill>
                  <a:srgbClr val="FFBFFF"/>
                </a:solidFill>
                <a:ln w="9525">
                  <a:noFill/>
                  <a:miter lim="800000"/>
                  <a:headEnd/>
                  <a:tailEnd/>
                </a:ln>
              </p:spPr>
              <p:txBody>
                <a:bodyPr/>
                <a:lstStyle/>
                <a:p>
                  <a:endParaRPr lang="en-US"/>
                </a:p>
              </p:txBody>
            </p:sp>
            <p:sp>
              <p:nvSpPr>
                <p:cNvPr id="2526287" name="Rectangle 79"/>
                <p:cNvSpPr>
                  <a:spLocks noChangeArrowheads="1"/>
                </p:cNvSpPr>
                <p:nvPr/>
              </p:nvSpPr>
              <p:spPr bwMode="auto">
                <a:xfrm>
                  <a:off x="3455" y="1150"/>
                  <a:ext cx="360" cy="144"/>
                </a:xfrm>
                <a:prstGeom prst="rect">
                  <a:avLst/>
                </a:prstGeom>
                <a:noFill/>
                <a:ln w="3175">
                  <a:solidFill>
                    <a:srgbClr val="000000"/>
                  </a:solidFill>
                  <a:miter lim="800000"/>
                  <a:headEnd/>
                  <a:tailEnd/>
                </a:ln>
              </p:spPr>
              <p:txBody>
                <a:bodyPr/>
                <a:lstStyle/>
                <a:p>
                  <a:endParaRPr lang="en-US"/>
                </a:p>
              </p:txBody>
            </p:sp>
            <p:sp>
              <p:nvSpPr>
                <p:cNvPr id="2526288" name="Rectangle 80"/>
                <p:cNvSpPr>
                  <a:spLocks noChangeArrowheads="1"/>
                </p:cNvSpPr>
                <p:nvPr/>
              </p:nvSpPr>
              <p:spPr bwMode="auto">
                <a:xfrm>
                  <a:off x="3576" y="1183"/>
                  <a:ext cx="146" cy="77"/>
                </a:xfrm>
                <a:prstGeom prst="rect">
                  <a:avLst/>
                </a:prstGeom>
                <a:noFill/>
                <a:ln w="9525">
                  <a:noFill/>
                  <a:miter lim="800000"/>
                  <a:headEnd/>
                  <a:tailEnd/>
                </a:ln>
              </p:spPr>
              <p:txBody>
                <a:bodyPr wrap="none" lIns="0" tIns="0" rIns="0" bIns="0">
                  <a:spAutoFit/>
                </a:bodyPr>
                <a:lstStyle/>
                <a:p>
                  <a:r>
                    <a:rPr lang="en-US" sz="800">
                      <a:solidFill>
                        <a:srgbClr val="000000"/>
                      </a:solidFill>
                    </a:rPr>
                    <a:t>.NET</a:t>
                  </a:r>
                  <a:endParaRPr lang="en-US" sz="1200"/>
                </a:p>
              </p:txBody>
            </p:sp>
          </p:grpSp>
        </p:grpSp>
        <p:sp>
          <p:nvSpPr>
            <p:cNvPr id="2526289" name="Text Box 81"/>
            <p:cNvSpPr txBox="1">
              <a:spLocks noChangeArrowheads="1"/>
            </p:cNvSpPr>
            <p:nvPr/>
          </p:nvSpPr>
          <p:spPr bwMode="auto">
            <a:xfrm>
              <a:off x="3624" y="1208"/>
              <a:ext cx="1472" cy="173"/>
            </a:xfrm>
            <a:prstGeom prst="rect">
              <a:avLst/>
            </a:prstGeom>
            <a:noFill/>
            <a:ln w="9525">
              <a:noFill/>
              <a:miter lim="800000"/>
              <a:headEnd/>
              <a:tailEnd/>
            </a:ln>
            <a:effectLst/>
          </p:spPr>
          <p:txBody>
            <a:bodyPr>
              <a:spAutoFit/>
            </a:bodyPr>
            <a:lstStyle/>
            <a:p>
              <a:pPr>
                <a:spcBef>
                  <a:spcPct val="50000"/>
                </a:spcBef>
              </a:pPr>
              <a:r>
                <a:rPr lang="en-US" sz="1200" b="1"/>
                <a:t>SOA Service Wrapper</a:t>
              </a:r>
            </a:p>
          </p:txBody>
        </p:sp>
        <p:sp>
          <p:nvSpPr>
            <p:cNvPr id="2526290" name="Rectangle 82"/>
            <p:cNvSpPr>
              <a:spLocks noChangeArrowheads="1"/>
            </p:cNvSpPr>
            <p:nvPr/>
          </p:nvSpPr>
          <p:spPr bwMode="auto">
            <a:xfrm flipH="1">
              <a:off x="5576" y="1600"/>
              <a:ext cx="96" cy="1944"/>
            </a:xfrm>
            <a:prstGeom prst="rect">
              <a:avLst/>
            </a:prstGeom>
            <a:solidFill>
              <a:srgbClr val="E8E8E8"/>
            </a:solidFill>
            <a:ln w="9525">
              <a:noFill/>
              <a:miter lim="800000"/>
              <a:headEnd/>
              <a:tailEnd/>
            </a:ln>
            <a:effectLst/>
          </p:spPr>
          <p:txBody>
            <a:bodyPr wrap="none" anchor="ctr"/>
            <a:lstStyle/>
            <a:p>
              <a:endParaRPr lang="en-US"/>
            </a:p>
          </p:txBody>
        </p:sp>
        <p:sp>
          <p:nvSpPr>
            <p:cNvPr id="2526292" name="Text Box 84"/>
            <p:cNvSpPr txBox="1">
              <a:spLocks noChangeArrowheads="1"/>
            </p:cNvSpPr>
            <p:nvPr/>
          </p:nvSpPr>
          <p:spPr bwMode="auto">
            <a:xfrm>
              <a:off x="144" y="784"/>
              <a:ext cx="2920" cy="826"/>
            </a:xfrm>
            <a:prstGeom prst="rect">
              <a:avLst/>
            </a:prstGeom>
            <a:noFill/>
            <a:ln w="9525">
              <a:noFill/>
              <a:miter lim="800000"/>
              <a:headEnd/>
              <a:tailEnd/>
            </a:ln>
            <a:effectLst/>
          </p:spPr>
          <p:txBody>
            <a:bodyPr>
              <a:spAutoFit/>
            </a:bodyPr>
            <a:lstStyle/>
            <a:p>
              <a:pPr algn="l">
                <a:spcBef>
                  <a:spcPct val="50000"/>
                </a:spcBef>
              </a:pPr>
              <a:r>
                <a:rPr lang="en-US" sz="2000" b="1"/>
                <a:t>“A </a:t>
              </a:r>
              <a:r>
                <a:rPr lang="en-US" sz="2000" b="1" u="sng"/>
                <a:t>S</a:t>
              </a:r>
              <a:r>
                <a:rPr lang="en-US" sz="2000" b="1"/>
                <a:t>ervice </a:t>
              </a:r>
              <a:r>
                <a:rPr lang="en-US" sz="2000" b="1" u="sng"/>
                <a:t>O</a:t>
              </a:r>
              <a:r>
                <a:rPr lang="en-US" sz="2000" b="1"/>
                <a:t>riented </a:t>
              </a:r>
              <a:r>
                <a:rPr lang="en-US" sz="2000" b="1" u="sng"/>
                <a:t>A</a:t>
              </a:r>
              <a:r>
                <a:rPr lang="en-US" sz="2000" b="1"/>
                <a:t>rchitecture and associated techniques is proven effective to manage and scale ever increasing Product “complexity”</a:t>
              </a:r>
            </a:p>
          </p:txBody>
        </p:sp>
      </p:grpSp>
      <p:sp>
        <p:nvSpPr>
          <p:cNvPr id="2526210" name="Rectangle 2"/>
          <p:cNvSpPr>
            <a:spLocks noGrp="1" noChangeArrowheads="1"/>
          </p:cNvSpPr>
          <p:nvPr>
            <p:ph type="body" idx="1"/>
          </p:nvPr>
        </p:nvSpPr>
        <p:spPr>
          <a:xfrm>
            <a:off x="138113" y="3495675"/>
            <a:ext cx="4600575" cy="504825"/>
          </a:xfrm>
          <a:noFill/>
          <a:ln/>
        </p:spPr>
        <p:txBody>
          <a:bodyPr>
            <a:spAutoFit/>
          </a:bodyPr>
          <a:lstStyle/>
          <a:p>
            <a:pPr marL="0" indent="0">
              <a:lnSpc>
                <a:spcPct val="75000"/>
              </a:lnSpc>
              <a:spcBef>
                <a:spcPct val="100000"/>
              </a:spcBef>
              <a:buFontTx/>
              <a:buNone/>
            </a:pPr>
            <a:r>
              <a:rPr lang="en-US" sz="1800"/>
              <a:t>“Whole” sets of business functionality </a:t>
            </a:r>
            <a:r>
              <a:rPr lang="en-US" sz="1400">
                <a:solidFill>
                  <a:schemeClr val="bg2"/>
                </a:solidFill>
              </a:rPr>
              <a:t>(fewer dependencies, consolidate IT footprint, more IT agility)</a:t>
            </a:r>
            <a:r>
              <a:rPr lang="en-US" sz="1800"/>
              <a:t> </a:t>
            </a:r>
          </a:p>
        </p:txBody>
      </p:sp>
      <p:grpSp>
        <p:nvGrpSpPr>
          <p:cNvPr id="2526300" name="Group 92"/>
          <p:cNvGrpSpPr>
            <a:grpSpLocks/>
          </p:cNvGrpSpPr>
          <p:nvPr/>
        </p:nvGrpSpPr>
        <p:grpSpPr bwMode="auto">
          <a:xfrm>
            <a:off x="5942013" y="3343275"/>
            <a:ext cx="628650" cy="457200"/>
            <a:chOff x="3221" y="738"/>
            <a:chExt cx="396" cy="288"/>
          </a:xfrm>
        </p:grpSpPr>
        <p:sp>
          <p:nvSpPr>
            <p:cNvPr id="2526220" name="Rectangle 12"/>
            <p:cNvSpPr>
              <a:spLocks noChangeArrowheads="1"/>
            </p:cNvSpPr>
            <p:nvPr/>
          </p:nvSpPr>
          <p:spPr bwMode="auto">
            <a:xfrm>
              <a:off x="3221" y="738"/>
              <a:ext cx="396" cy="288"/>
            </a:xfrm>
            <a:prstGeom prst="rect">
              <a:avLst/>
            </a:prstGeom>
            <a:solidFill>
              <a:srgbClr val="BDFFFF"/>
            </a:solidFill>
            <a:ln w="9525">
              <a:noFill/>
              <a:miter lim="800000"/>
              <a:headEnd/>
              <a:tailEnd/>
            </a:ln>
          </p:spPr>
          <p:txBody>
            <a:bodyPr/>
            <a:lstStyle/>
            <a:p>
              <a:endParaRPr lang="en-US"/>
            </a:p>
          </p:txBody>
        </p:sp>
        <p:sp>
          <p:nvSpPr>
            <p:cNvPr id="2526221" name="Rectangle 13"/>
            <p:cNvSpPr>
              <a:spLocks noChangeArrowheads="1"/>
            </p:cNvSpPr>
            <p:nvPr/>
          </p:nvSpPr>
          <p:spPr bwMode="auto">
            <a:xfrm>
              <a:off x="3221" y="738"/>
              <a:ext cx="396" cy="288"/>
            </a:xfrm>
            <a:prstGeom prst="rect">
              <a:avLst/>
            </a:prstGeom>
            <a:noFill/>
            <a:ln w="3175">
              <a:solidFill>
                <a:srgbClr val="000000"/>
              </a:solidFill>
              <a:miter lim="800000"/>
              <a:headEnd/>
              <a:tailEnd/>
            </a:ln>
          </p:spPr>
          <p:txBody>
            <a:bodyPr/>
            <a:lstStyle/>
            <a:p>
              <a:endParaRPr lang="en-US"/>
            </a:p>
          </p:txBody>
        </p:sp>
        <p:sp>
          <p:nvSpPr>
            <p:cNvPr id="2526222" name="Rectangle 14"/>
            <p:cNvSpPr>
              <a:spLocks noChangeArrowheads="1"/>
            </p:cNvSpPr>
            <p:nvPr/>
          </p:nvSpPr>
          <p:spPr bwMode="auto">
            <a:xfrm>
              <a:off x="3349" y="805"/>
              <a:ext cx="168" cy="77"/>
            </a:xfrm>
            <a:prstGeom prst="rect">
              <a:avLst/>
            </a:prstGeom>
            <a:noFill/>
            <a:ln w="9525">
              <a:noFill/>
              <a:miter lim="800000"/>
              <a:headEnd/>
              <a:tailEnd/>
            </a:ln>
          </p:spPr>
          <p:txBody>
            <a:bodyPr wrap="none" lIns="0" tIns="0" rIns="0" bIns="0">
              <a:spAutoFit/>
            </a:bodyPr>
            <a:lstStyle/>
            <a:p>
              <a:r>
                <a:rPr lang="en-US" sz="800">
                  <a:solidFill>
                    <a:srgbClr val="000000"/>
                  </a:solidFill>
                </a:rPr>
                <a:t>PPlus</a:t>
              </a:r>
              <a:endParaRPr lang="en-US" sz="1200"/>
            </a:p>
          </p:txBody>
        </p:sp>
        <p:sp>
          <p:nvSpPr>
            <p:cNvPr id="2526223" name="Rectangle 15"/>
            <p:cNvSpPr>
              <a:spLocks noChangeArrowheads="1"/>
            </p:cNvSpPr>
            <p:nvPr/>
          </p:nvSpPr>
          <p:spPr bwMode="auto">
            <a:xfrm>
              <a:off x="3276" y="881"/>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grpSp>
      <p:grpSp>
        <p:nvGrpSpPr>
          <p:cNvPr id="2526307" name="Group 99"/>
          <p:cNvGrpSpPr>
            <a:grpSpLocks/>
          </p:cNvGrpSpPr>
          <p:nvPr/>
        </p:nvGrpSpPr>
        <p:grpSpPr bwMode="auto">
          <a:xfrm>
            <a:off x="5313363" y="3343275"/>
            <a:ext cx="628650" cy="457200"/>
            <a:chOff x="2513" y="1782"/>
            <a:chExt cx="396" cy="288"/>
          </a:xfrm>
        </p:grpSpPr>
        <p:sp>
          <p:nvSpPr>
            <p:cNvPr id="2526224" name="Rectangle 16"/>
            <p:cNvSpPr>
              <a:spLocks noChangeArrowheads="1"/>
            </p:cNvSpPr>
            <p:nvPr/>
          </p:nvSpPr>
          <p:spPr bwMode="auto">
            <a:xfrm>
              <a:off x="2513" y="1782"/>
              <a:ext cx="396" cy="288"/>
            </a:xfrm>
            <a:prstGeom prst="rect">
              <a:avLst/>
            </a:prstGeom>
            <a:solidFill>
              <a:srgbClr val="BDFFFF"/>
            </a:solidFill>
            <a:ln w="9525">
              <a:solidFill>
                <a:schemeClr val="tx1"/>
              </a:solidFill>
              <a:miter lim="800000"/>
              <a:headEnd/>
              <a:tailEnd/>
            </a:ln>
          </p:spPr>
          <p:txBody>
            <a:bodyPr/>
            <a:lstStyle/>
            <a:p>
              <a:endParaRPr lang="en-US"/>
            </a:p>
          </p:txBody>
        </p:sp>
        <p:sp>
          <p:nvSpPr>
            <p:cNvPr id="2526226" name="Rectangle 18"/>
            <p:cNvSpPr>
              <a:spLocks noChangeArrowheads="1"/>
            </p:cNvSpPr>
            <p:nvPr/>
          </p:nvSpPr>
          <p:spPr bwMode="auto">
            <a:xfrm>
              <a:off x="2559" y="1827"/>
              <a:ext cx="310" cy="96"/>
            </a:xfrm>
            <a:prstGeom prst="rect">
              <a:avLst/>
            </a:prstGeom>
            <a:noFill/>
            <a:ln w="9525">
              <a:noFill/>
              <a:miter lim="800000"/>
              <a:headEnd/>
              <a:tailEnd/>
            </a:ln>
          </p:spPr>
          <p:txBody>
            <a:bodyPr wrap="none" lIns="0" tIns="0" rIns="0" bIns="0">
              <a:spAutoFit/>
            </a:bodyPr>
            <a:lstStyle/>
            <a:p>
              <a:r>
                <a:rPr lang="en-US" sz="1000" b="1">
                  <a:solidFill>
                    <a:srgbClr val="000000"/>
                  </a:solidFill>
                </a:rPr>
                <a:t>Vantage</a:t>
              </a:r>
              <a:endParaRPr lang="en-US" sz="1000" b="1"/>
            </a:p>
          </p:txBody>
        </p:sp>
        <p:sp>
          <p:nvSpPr>
            <p:cNvPr id="2526227" name="Rectangle 19"/>
            <p:cNvSpPr>
              <a:spLocks noChangeArrowheads="1"/>
            </p:cNvSpPr>
            <p:nvPr/>
          </p:nvSpPr>
          <p:spPr bwMode="auto">
            <a:xfrm>
              <a:off x="2542" y="1943"/>
              <a:ext cx="343" cy="77"/>
            </a:xfrm>
            <a:prstGeom prst="rect">
              <a:avLst/>
            </a:prstGeom>
            <a:noFill/>
            <a:ln w="9525">
              <a:noFill/>
              <a:miter lim="800000"/>
              <a:headEnd/>
              <a:tailEnd/>
            </a:ln>
          </p:spPr>
          <p:txBody>
            <a:bodyPr wrap="none" lIns="0" tIns="0" rIns="0" bIns="0">
              <a:spAutoFit/>
            </a:bodyPr>
            <a:lstStyle/>
            <a:p>
              <a:r>
                <a:rPr lang="en-US" sz="800" b="1">
                  <a:solidFill>
                    <a:srgbClr val="000000"/>
                  </a:solidFill>
                </a:rPr>
                <a:t>Extensions</a:t>
              </a:r>
              <a:endParaRPr lang="en-US" sz="1200" b="1"/>
            </a:p>
          </p:txBody>
        </p:sp>
      </p:grpSp>
      <p:grpSp>
        <p:nvGrpSpPr>
          <p:cNvPr id="2526304" name="Group 96"/>
          <p:cNvGrpSpPr>
            <a:grpSpLocks/>
          </p:cNvGrpSpPr>
          <p:nvPr/>
        </p:nvGrpSpPr>
        <p:grpSpPr bwMode="auto">
          <a:xfrm>
            <a:off x="6570663" y="3343275"/>
            <a:ext cx="685800" cy="457200"/>
            <a:chOff x="4097" y="690"/>
            <a:chExt cx="432" cy="288"/>
          </a:xfrm>
        </p:grpSpPr>
        <p:sp>
          <p:nvSpPr>
            <p:cNvPr id="2526228" name="Rectangle 20"/>
            <p:cNvSpPr>
              <a:spLocks noChangeArrowheads="1"/>
            </p:cNvSpPr>
            <p:nvPr/>
          </p:nvSpPr>
          <p:spPr bwMode="auto">
            <a:xfrm>
              <a:off x="4097" y="690"/>
              <a:ext cx="432" cy="288"/>
            </a:xfrm>
            <a:prstGeom prst="rect">
              <a:avLst/>
            </a:prstGeom>
            <a:solidFill>
              <a:srgbClr val="BDFFFF"/>
            </a:solidFill>
            <a:ln w="9525">
              <a:solidFill>
                <a:schemeClr val="tx1"/>
              </a:solidFill>
              <a:miter lim="800000"/>
              <a:headEnd/>
              <a:tailEnd/>
            </a:ln>
          </p:spPr>
          <p:txBody>
            <a:bodyPr/>
            <a:lstStyle/>
            <a:p>
              <a:endParaRPr lang="en-US"/>
            </a:p>
          </p:txBody>
        </p:sp>
        <p:sp>
          <p:nvSpPr>
            <p:cNvPr id="2526230" name="Rectangle 22"/>
            <p:cNvSpPr>
              <a:spLocks noChangeArrowheads="1"/>
            </p:cNvSpPr>
            <p:nvPr/>
          </p:nvSpPr>
          <p:spPr bwMode="auto">
            <a:xfrm>
              <a:off x="4227" y="757"/>
              <a:ext cx="200" cy="77"/>
            </a:xfrm>
            <a:prstGeom prst="rect">
              <a:avLst/>
            </a:prstGeom>
            <a:noFill/>
            <a:ln w="9525">
              <a:noFill/>
              <a:miter lim="800000"/>
              <a:headEnd/>
              <a:tailEnd/>
            </a:ln>
          </p:spPr>
          <p:txBody>
            <a:bodyPr wrap="none" lIns="0" tIns="0" rIns="0" bIns="0">
              <a:spAutoFit/>
            </a:bodyPr>
            <a:lstStyle/>
            <a:p>
              <a:r>
                <a:rPr lang="en-US" sz="800">
                  <a:solidFill>
                    <a:srgbClr val="000000"/>
                  </a:solidFill>
                </a:rPr>
                <a:t>VP/MS</a:t>
              </a:r>
              <a:endParaRPr lang="en-US" sz="1200"/>
            </a:p>
          </p:txBody>
        </p:sp>
        <p:sp>
          <p:nvSpPr>
            <p:cNvPr id="2526231" name="Rectangle 23"/>
            <p:cNvSpPr>
              <a:spLocks noChangeArrowheads="1"/>
            </p:cNvSpPr>
            <p:nvPr/>
          </p:nvSpPr>
          <p:spPr bwMode="auto">
            <a:xfrm>
              <a:off x="4170" y="833"/>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grpSp>
      <p:grpSp>
        <p:nvGrpSpPr>
          <p:cNvPr id="2526305" name="Group 97"/>
          <p:cNvGrpSpPr>
            <a:grpSpLocks/>
          </p:cNvGrpSpPr>
          <p:nvPr/>
        </p:nvGrpSpPr>
        <p:grpSpPr bwMode="auto">
          <a:xfrm>
            <a:off x="7256463" y="3343275"/>
            <a:ext cx="685800" cy="457200"/>
            <a:chOff x="4961" y="708"/>
            <a:chExt cx="432" cy="288"/>
          </a:xfrm>
        </p:grpSpPr>
        <p:sp>
          <p:nvSpPr>
            <p:cNvPr id="2526232" name="Rectangle 24"/>
            <p:cNvSpPr>
              <a:spLocks noChangeArrowheads="1"/>
            </p:cNvSpPr>
            <p:nvPr/>
          </p:nvSpPr>
          <p:spPr bwMode="auto">
            <a:xfrm>
              <a:off x="4961" y="708"/>
              <a:ext cx="432" cy="288"/>
            </a:xfrm>
            <a:prstGeom prst="rect">
              <a:avLst/>
            </a:prstGeom>
            <a:solidFill>
              <a:srgbClr val="BDFFFF"/>
            </a:solidFill>
            <a:ln w="9525">
              <a:solidFill>
                <a:schemeClr val="tx1"/>
              </a:solidFill>
              <a:miter lim="800000"/>
              <a:headEnd/>
              <a:tailEnd/>
            </a:ln>
          </p:spPr>
          <p:txBody>
            <a:bodyPr/>
            <a:lstStyle/>
            <a:p>
              <a:endParaRPr lang="en-US"/>
            </a:p>
          </p:txBody>
        </p:sp>
        <p:sp>
          <p:nvSpPr>
            <p:cNvPr id="2526234" name="Rectangle 26"/>
            <p:cNvSpPr>
              <a:spLocks noChangeArrowheads="1"/>
            </p:cNvSpPr>
            <p:nvPr/>
          </p:nvSpPr>
          <p:spPr bwMode="auto">
            <a:xfrm>
              <a:off x="5133" y="775"/>
              <a:ext cx="115" cy="77"/>
            </a:xfrm>
            <a:prstGeom prst="rect">
              <a:avLst/>
            </a:prstGeom>
            <a:noFill/>
            <a:ln w="9525">
              <a:noFill/>
              <a:miter lim="800000"/>
              <a:headEnd/>
              <a:tailEnd/>
            </a:ln>
          </p:spPr>
          <p:txBody>
            <a:bodyPr wrap="none" lIns="0" tIns="0" rIns="0" bIns="0">
              <a:spAutoFit/>
            </a:bodyPr>
            <a:lstStyle/>
            <a:p>
              <a:r>
                <a:rPr lang="en-US" sz="800">
                  <a:solidFill>
                    <a:srgbClr val="000000"/>
                  </a:solidFill>
                </a:rPr>
                <a:t>nbA</a:t>
              </a:r>
              <a:endParaRPr lang="en-US" sz="1200"/>
            </a:p>
          </p:txBody>
        </p:sp>
        <p:sp>
          <p:nvSpPr>
            <p:cNvPr id="2526235" name="Rectangle 27"/>
            <p:cNvSpPr>
              <a:spLocks noChangeArrowheads="1"/>
            </p:cNvSpPr>
            <p:nvPr/>
          </p:nvSpPr>
          <p:spPr bwMode="auto">
            <a:xfrm>
              <a:off x="5034" y="851"/>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grpSp>
      <p:grpSp>
        <p:nvGrpSpPr>
          <p:cNvPr id="2526306" name="Group 98"/>
          <p:cNvGrpSpPr>
            <a:grpSpLocks/>
          </p:cNvGrpSpPr>
          <p:nvPr/>
        </p:nvGrpSpPr>
        <p:grpSpPr bwMode="auto">
          <a:xfrm>
            <a:off x="7942263" y="3343275"/>
            <a:ext cx="685800" cy="457200"/>
            <a:chOff x="5003" y="2106"/>
            <a:chExt cx="432" cy="288"/>
          </a:xfrm>
        </p:grpSpPr>
        <p:sp>
          <p:nvSpPr>
            <p:cNvPr id="2526256" name="Rectangle 48"/>
            <p:cNvSpPr>
              <a:spLocks noChangeArrowheads="1"/>
            </p:cNvSpPr>
            <p:nvPr/>
          </p:nvSpPr>
          <p:spPr bwMode="auto">
            <a:xfrm>
              <a:off x="5003" y="2106"/>
              <a:ext cx="432" cy="288"/>
            </a:xfrm>
            <a:prstGeom prst="rect">
              <a:avLst/>
            </a:prstGeom>
            <a:solidFill>
              <a:srgbClr val="BDFFFF"/>
            </a:solidFill>
            <a:ln w="9525">
              <a:solidFill>
                <a:schemeClr val="tx1"/>
              </a:solidFill>
              <a:miter lim="800000"/>
              <a:headEnd/>
              <a:tailEnd/>
            </a:ln>
          </p:spPr>
          <p:txBody>
            <a:bodyPr/>
            <a:lstStyle/>
            <a:p>
              <a:endParaRPr lang="en-US"/>
            </a:p>
          </p:txBody>
        </p:sp>
        <p:sp>
          <p:nvSpPr>
            <p:cNvPr id="2526258" name="Rectangle 50"/>
            <p:cNvSpPr>
              <a:spLocks noChangeArrowheads="1"/>
            </p:cNvSpPr>
            <p:nvPr/>
          </p:nvSpPr>
          <p:spPr bwMode="auto">
            <a:xfrm>
              <a:off x="5177" y="2173"/>
              <a:ext cx="111" cy="77"/>
            </a:xfrm>
            <a:prstGeom prst="rect">
              <a:avLst/>
            </a:prstGeom>
            <a:noFill/>
            <a:ln w="9525">
              <a:noFill/>
              <a:miter lim="800000"/>
              <a:headEnd/>
              <a:tailEnd/>
            </a:ln>
          </p:spPr>
          <p:txBody>
            <a:bodyPr wrap="none" lIns="0" tIns="0" rIns="0" bIns="0">
              <a:spAutoFit/>
            </a:bodyPr>
            <a:lstStyle/>
            <a:p>
              <a:r>
                <a:rPr lang="en-US" sz="800">
                  <a:solidFill>
                    <a:srgbClr val="000000"/>
                  </a:solidFill>
                </a:rPr>
                <a:t>psA</a:t>
              </a:r>
              <a:endParaRPr lang="en-US" sz="1200"/>
            </a:p>
          </p:txBody>
        </p:sp>
        <p:sp>
          <p:nvSpPr>
            <p:cNvPr id="2526259" name="Rectangle 51"/>
            <p:cNvSpPr>
              <a:spLocks noChangeArrowheads="1"/>
            </p:cNvSpPr>
            <p:nvPr/>
          </p:nvSpPr>
          <p:spPr bwMode="auto">
            <a:xfrm>
              <a:off x="5076" y="2249"/>
              <a:ext cx="315" cy="77"/>
            </a:xfrm>
            <a:prstGeom prst="rect">
              <a:avLst/>
            </a:prstGeom>
            <a:noFill/>
            <a:ln w="9525">
              <a:noFill/>
              <a:miter lim="800000"/>
              <a:headEnd/>
              <a:tailEnd/>
            </a:ln>
          </p:spPr>
          <p:txBody>
            <a:bodyPr wrap="none" lIns="0" tIns="0" rIns="0" bIns="0">
              <a:spAutoFit/>
            </a:bodyPr>
            <a:lstStyle/>
            <a:p>
              <a:r>
                <a:rPr lang="en-US" sz="800">
                  <a:solidFill>
                    <a:srgbClr val="000000"/>
                  </a:solidFill>
                </a:rPr>
                <a:t>Extensions</a:t>
              </a:r>
              <a:endParaRPr lang="en-US" sz="1200"/>
            </a:p>
          </p:txBody>
        </p:sp>
      </p:grpSp>
      <p:sp>
        <p:nvSpPr>
          <p:cNvPr id="2526291" name="Rectangle 83"/>
          <p:cNvSpPr>
            <a:spLocks noGrp="1" noChangeArrowheads="1"/>
          </p:cNvSpPr>
          <p:nvPr>
            <p:ph type="title"/>
          </p:nvPr>
        </p:nvSpPr>
        <p:spPr>
          <a:xfrm>
            <a:off x="0" y="177800"/>
            <a:ext cx="9144000" cy="541338"/>
          </a:xfrm>
          <a:noFill/>
          <a:ln/>
        </p:spPr>
        <p:txBody>
          <a:bodyPr lIns="0" tIns="0" rIns="0" bIns="0" anchor="b"/>
          <a:lstStyle/>
          <a:p>
            <a:pPr>
              <a:lnSpc>
                <a:spcPct val="75000"/>
              </a:lnSpc>
            </a:pPr>
            <a:r>
              <a:rPr lang="en-US" sz="3600"/>
              <a:t>“Why" SOA Enables Convergence</a:t>
            </a:r>
          </a:p>
        </p:txBody>
      </p:sp>
      <p:sp>
        <p:nvSpPr>
          <p:cNvPr id="2526293" name="Text Box 85"/>
          <p:cNvSpPr txBox="1">
            <a:spLocks noChangeArrowheads="1"/>
          </p:cNvSpPr>
          <p:nvPr/>
        </p:nvSpPr>
        <p:spPr bwMode="auto">
          <a:xfrm>
            <a:off x="1554163" y="3022600"/>
            <a:ext cx="2044700" cy="396875"/>
          </a:xfrm>
          <a:prstGeom prst="rect">
            <a:avLst/>
          </a:prstGeom>
          <a:noFill/>
          <a:ln w="9525">
            <a:noFill/>
            <a:miter lim="800000"/>
            <a:headEnd/>
            <a:tailEnd/>
          </a:ln>
          <a:effectLst/>
        </p:spPr>
        <p:txBody>
          <a:bodyPr>
            <a:spAutoFit/>
          </a:bodyPr>
          <a:lstStyle/>
          <a:p>
            <a:pPr>
              <a:spcBef>
                <a:spcPct val="50000"/>
              </a:spcBef>
            </a:pPr>
            <a:r>
              <a:rPr lang="en-US" sz="2000" b="1" u="sng"/>
              <a:t>EAI Services:</a:t>
            </a:r>
          </a:p>
        </p:txBody>
      </p:sp>
      <p:sp>
        <p:nvSpPr>
          <p:cNvPr id="2526309" name="Text Box 101"/>
          <p:cNvSpPr txBox="1">
            <a:spLocks noChangeArrowheads="1"/>
          </p:cNvSpPr>
          <p:nvPr/>
        </p:nvSpPr>
        <p:spPr bwMode="auto">
          <a:xfrm>
            <a:off x="138113" y="4117975"/>
            <a:ext cx="4583112" cy="739775"/>
          </a:xfrm>
          <a:prstGeom prst="rect">
            <a:avLst/>
          </a:prstGeom>
          <a:noFill/>
          <a:ln w="9525">
            <a:noFill/>
            <a:miter lim="800000"/>
            <a:headEnd/>
            <a:tailEnd/>
          </a:ln>
          <a:effectLst/>
        </p:spPr>
        <p:txBody>
          <a:bodyPr>
            <a:spAutoFit/>
          </a:bodyPr>
          <a:lstStyle/>
          <a:p>
            <a:pPr algn="l">
              <a:lnSpc>
                <a:spcPct val="85000"/>
              </a:lnSpc>
              <a:spcBef>
                <a:spcPct val="100000"/>
              </a:spcBef>
              <a:buClr>
                <a:schemeClr val="folHlink"/>
              </a:buClr>
              <a:buSzPct val="120000"/>
            </a:pPr>
            <a:r>
              <a:rPr lang="en-US" sz="1800"/>
              <a:t>Encapsulate data and behavior to minimize cross functional dependencies </a:t>
            </a:r>
            <a:r>
              <a:rPr lang="en-US" sz="1400">
                <a:solidFill>
                  <a:schemeClr val="bg2"/>
                </a:solidFill>
              </a:rPr>
              <a:t>(more testable, more concurrency, less sequential, faster to market)</a:t>
            </a:r>
            <a:endParaRPr lang="en-US"/>
          </a:p>
        </p:txBody>
      </p:sp>
      <p:sp>
        <p:nvSpPr>
          <p:cNvPr id="2526310" name="Text Box 102"/>
          <p:cNvSpPr txBox="1">
            <a:spLocks noChangeArrowheads="1"/>
          </p:cNvSpPr>
          <p:nvPr/>
        </p:nvSpPr>
        <p:spPr bwMode="auto">
          <a:xfrm>
            <a:off x="138113" y="5029200"/>
            <a:ext cx="4219575" cy="458788"/>
          </a:xfrm>
          <a:prstGeom prst="rect">
            <a:avLst/>
          </a:prstGeom>
          <a:noFill/>
          <a:ln w="9525">
            <a:noFill/>
            <a:miter lim="800000"/>
            <a:headEnd/>
            <a:tailEnd/>
          </a:ln>
          <a:effectLst/>
        </p:spPr>
        <p:txBody>
          <a:bodyPr>
            <a:spAutoFit/>
          </a:bodyPr>
          <a:lstStyle/>
          <a:p>
            <a:pPr algn="l">
              <a:lnSpc>
                <a:spcPct val="75000"/>
              </a:lnSpc>
              <a:spcBef>
                <a:spcPct val="100000"/>
              </a:spcBef>
              <a:buClr>
                <a:schemeClr val="folHlink"/>
              </a:buClr>
              <a:buSzPct val="120000"/>
            </a:pPr>
            <a:r>
              <a:rPr lang="en-US" sz="1800"/>
              <a:t>Fewer configuration items to manage </a:t>
            </a:r>
            <a:r>
              <a:rPr lang="en-US" sz="1400">
                <a:solidFill>
                  <a:schemeClr val="bg2"/>
                </a:solidFill>
              </a:rPr>
              <a:t>(packages with high component affinity)</a:t>
            </a:r>
            <a:endParaRPr lang="en-US"/>
          </a:p>
        </p:txBody>
      </p:sp>
      <p:sp>
        <p:nvSpPr>
          <p:cNvPr id="2526314" name="Rectangle 106"/>
          <p:cNvSpPr>
            <a:spLocks noChangeArrowheads="1"/>
          </p:cNvSpPr>
          <p:nvPr/>
        </p:nvSpPr>
        <p:spPr bwMode="auto">
          <a:xfrm>
            <a:off x="5243513" y="3289300"/>
            <a:ext cx="3441700" cy="560388"/>
          </a:xfrm>
          <a:prstGeom prst="rect">
            <a:avLst/>
          </a:prstGeom>
          <a:noFill/>
          <a:ln w="28575">
            <a:solidFill>
              <a:srgbClr val="FF0000"/>
            </a:solidFill>
            <a:miter lim="800000"/>
            <a:headEnd/>
            <a:tailEnd/>
          </a:ln>
          <a:effectLst/>
        </p:spPr>
        <p:txBody>
          <a:bodyPr wrap="none" anchor="ctr"/>
          <a:lstStyle/>
          <a:p>
            <a:endParaRPr lang="en-US"/>
          </a:p>
        </p:txBody>
      </p:sp>
      <p:sp>
        <p:nvSpPr>
          <p:cNvPr id="2526317" name="Rectangle 109"/>
          <p:cNvSpPr>
            <a:spLocks noChangeArrowheads="1"/>
          </p:cNvSpPr>
          <p:nvPr/>
        </p:nvSpPr>
        <p:spPr bwMode="auto">
          <a:xfrm>
            <a:off x="5243513" y="3289300"/>
            <a:ext cx="3441700" cy="560388"/>
          </a:xfrm>
          <a:prstGeom prst="rect">
            <a:avLst/>
          </a:prstGeom>
          <a:noFill/>
          <a:ln w="28575">
            <a:solidFill>
              <a:srgbClr val="FF0000"/>
            </a:solidFill>
            <a:miter lim="800000"/>
            <a:headEnd/>
            <a:tailEnd/>
          </a:ln>
          <a:effectLst/>
        </p:spPr>
        <p:txBody>
          <a:bodyPr wrap="none" anchor="ctr"/>
          <a:lstStyle/>
          <a:p>
            <a:endParaRPr lang="en-US"/>
          </a:p>
        </p:txBody>
      </p:sp>
      <p:sp>
        <p:nvSpPr>
          <p:cNvPr id="2526318" name="Rectangle 110"/>
          <p:cNvSpPr>
            <a:spLocks noChangeArrowheads="1"/>
          </p:cNvSpPr>
          <p:nvPr/>
        </p:nvSpPr>
        <p:spPr bwMode="auto">
          <a:xfrm>
            <a:off x="5243513" y="3289300"/>
            <a:ext cx="3441700" cy="560388"/>
          </a:xfrm>
          <a:prstGeom prst="rect">
            <a:avLst/>
          </a:prstGeom>
          <a:noFill/>
          <a:ln w="28575">
            <a:solidFill>
              <a:srgbClr val="FF0000"/>
            </a:solidFill>
            <a:miter lim="800000"/>
            <a:headEnd/>
            <a:tailEnd/>
          </a:ln>
          <a:effectLst/>
        </p:spPr>
        <p:txBody>
          <a:bodyPr wrap="none" anchor="ctr"/>
          <a:lstStyle/>
          <a:p>
            <a:endParaRPr lang="en-US"/>
          </a:p>
        </p:txBody>
      </p:sp>
      <p:sp>
        <p:nvSpPr>
          <p:cNvPr id="2526319" name="Rectangle 111"/>
          <p:cNvSpPr>
            <a:spLocks noChangeArrowheads="1"/>
          </p:cNvSpPr>
          <p:nvPr/>
        </p:nvSpPr>
        <p:spPr bwMode="auto">
          <a:xfrm>
            <a:off x="5243513" y="3289300"/>
            <a:ext cx="3441700" cy="560388"/>
          </a:xfrm>
          <a:prstGeom prst="rect">
            <a:avLst/>
          </a:prstGeom>
          <a:noFill/>
          <a:ln w="28575">
            <a:solidFill>
              <a:srgbClr val="FF0000"/>
            </a:solidFill>
            <a:miter lim="800000"/>
            <a:headEnd/>
            <a:tailEnd/>
          </a:ln>
          <a:effectLst/>
        </p:spPr>
        <p:txBody>
          <a:bodyPr wrap="none" anchor="ctr"/>
          <a:lstStyle/>
          <a:p>
            <a:endParaRPr lang="en-US"/>
          </a:p>
        </p:txBody>
      </p:sp>
      <p:sp>
        <p:nvSpPr>
          <p:cNvPr id="2526320" name="Rectangle 112"/>
          <p:cNvSpPr>
            <a:spLocks noChangeArrowheads="1"/>
          </p:cNvSpPr>
          <p:nvPr/>
        </p:nvSpPr>
        <p:spPr bwMode="auto">
          <a:xfrm>
            <a:off x="5245100" y="3289300"/>
            <a:ext cx="3441700" cy="560388"/>
          </a:xfrm>
          <a:prstGeom prst="rect">
            <a:avLst/>
          </a:prstGeom>
          <a:noFill/>
          <a:ln w="28575">
            <a:solidFill>
              <a:srgbClr val="FF0000"/>
            </a:solidFill>
            <a:miter lim="800000"/>
            <a:headEnd/>
            <a:tailEnd/>
          </a:ln>
          <a:effectLst/>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526308"/>
                                        </p:tgtEl>
                                        <p:attrNameLst>
                                          <p:attrName>style.visibility</p:attrName>
                                        </p:attrNameLst>
                                      </p:cBhvr>
                                      <p:to>
                                        <p:strVal val="visible"/>
                                      </p:to>
                                    </p:set>
                                    <p:animEffect transition="in" filter="blinds(vertical)">
                                      <p:cBhvr>
                                        <p:cTn id="7" dur="500"/>
                                        <p:tgtEl>
                                          <p:spTgt spid="252630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526293"/>
                                        </p:tgtEl>
                                        <p:attrNameLst>
                                          <p:attrName>style.visibility</p:attrName>
                                        </p:attrNameLst>
                                      </p:cBhvr>
                                      <p:to>
                                        <p:strVal val="visible"/>
                                      </p:to>
                                    </p:set>
                                    <p:anim calcmode="lin" valueType="num">
                                      <p:cBhvr additive="base">
                                        <p:cTn id="12" dur="500" fill="hold"/>
                                        <p:tgtEl>
                                          <p:spTgt spid="2526293"/>
                                        </p:tgtEl>
                                        <p:attrNameLst>
                                          <p:attrName>ppt_x</p:attrName>
                                        </p:attrNameLst>
                                      </p:cBhvr>
                                      <p:tavLst>
                                        <p:tav tm="0">
                                          <p:val>
                                            <p:strVal val="0-#ppt_w/2"/>
                                          </p:val>
                                        </p:tav>
                                        <p:tav tm="100000">
                                          <p:val>
                                            <p:strVal val="#ppt_x"/>
                                          </p:val>
                                        </p:tav>
                                      </p:tavLst>
                                    </p:anim>
                                    <p:anim calcmode="lin" valueType="num">
                                      <p:cBhvr additive="base">
                                        <p:cTn id="13" dur="500" fill="hold"/>
                                        <p:tgtEl>
                                          <p:spTgt spid="2526293"/>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2" presetClass="entr" presetSubtype="1" fill="hold" grpId="0" nodeType="afterEffect">
                                  <p:stCondLst>
                                    <p:cond delay="0"/>
                                  </p:stCondLst>
                                  <p:childTnLst>
                                    <p:set>
                                      <p:cBhvr>
                                        <p:cTn id="16" dur="1" fill="hold">
                                          <p:stCondLst>
                                            <p:cond delay="0"/>
                                          </p:stCondLst>
                                        </p:cTn>
                                        <p:tgtEl>
                                          <p:spTgt spid="2526210">
                                            <p:txEl>
                                              <p:pRg st="0" end="0"/>
                                            </p:txEl>
                                          </p:spTgt>
                                        </p:tgtEl>
                                        <p:attrNameLst>
                                          <p:attrName>style.visibility</p:attrName>
                                        </p:attrNameLst>
                                      </p:cBhvr>
                                      <p:to>
                                        <p:strVal val="visible"/>
                                      </p:to>
                                    </p:set>
                                    <p:animEffect transition="in" filter="slide(fromTop)">
                                      <p:cBhvr>
                                        <p:cTn id="17" dur="500"/>
                                        <p:tgtEl>
                                          <p:spTgt spid="2526210">
                                            <p:txEl>
                                              <p:pRg st="0" end="0"/>
                                            </p:txEl>
                                          </p:spTgt>
                                        </p:tgtEl>
                                      </p:cBhvr>
                                    </p:animEffect>
                                  </p:childTnLst>
                                </p:cTn>
                              </p:par>
                            </p:childTnLst>
                          </p:cTn>
                        </p:par>
                        <p:par>
                          <p:cTn id="18" fill="hold">
                            <p:stCondLst>
                              <p:cond delay="1000"/>
                            </p:stCondLst>
                            <p:childTnLst>
                              <p:par>
                                <p:cTn id="19" presetID="15" presetClass="entr" presetSubtype="0" fill="hold" nodeType="afterEffect">
                                  <p:stCondLst>
                                    <p:cond delay="0"/>
                                  </p:stCondLst>
                                  <p:childTnLst>
                                    <p:set>
                                      <p:cBhvr>
                                        <p:cTn id="20" dur="1" fill="hold">
                                          <p:stCondLst>
                                            <p:cond delay="0"/>
                                          </p:stCondLst>
                                        </p:cTn>
                                        <p:tgtEl>
                                          <p:spTgt spid="2526307"/>
                                        </p:tgtEl>
                                        <p:attrNameLst>
                                          <p:attrName>style.visibility</p:attrName>
                                        </p:attrNameLst>
                                      </p:cBhvr>
                                      <p:to>
                                        <p:strVal val="visible"/>
                                      </p:to>
                                    </p:set>
                                    <p:anim calcmode="lin" valueType="num">
                                      <p:cBhvr>
                                        <p:cTn id="21" dur="1000" fill="hold"/>
                                        <p:tgtEl>
                                          <p:spTgt spid="2526307"/>
                                        </p:tgtEl>
                                        <p:attrNameLst>
                                          <p:attrName>ppt_w</p:attrName>
                                        </p:attrNameLst>
                                      </p:cBhvr>
                                      <p:tavLst>
                                        <p:tav tm="0">
                                          <p:val>
                                            <p:fltVal val="0"/>
                                          </p:val>
                                        </p:tav>
                                        <p:tav tm="100000">
                                          <p:val>
                                            <p:strVal val="#ppt_w"/>
                                          </p:val>
                                        </p:tav>
                                      </p:tavLst>
                                    </p:anim>
                                    <p:anim calcmode="lin" valueType="num">
                                      <p:cBhvr>
                                        <p:cTn id="22" dur="1000" fill="hold"/>
                                        <p:tgtEl>
                                          <p:spTgt spid="2526307"/>
                                        </p:tgtEl>
                                        <p:attrNameLst>
                                          <p:attrName>ppt_h</p:attrName>
                                        </p:attrNameLst>
                                      </p:cBhvr>
                                      <p:tavLst>
                                        <p:tav tm="0">
                                          <p:val>
                                            <p:fltVal val="0"/>
                                          </p:val>
                                        </p:tav>
                                        <p:tav tm="100000">
                                          <p:val>
                                            <p:strVal val="#ppt_h"/>
                                          </p:val>
                                        </p:tav>
                                      </p:tavLst>
                                    </p:anim>
                                    <p:anim calcmode="lin" valueType="num">
                                      <p:cBhvr>
                                        <p:cTn id="23" dur="1000" fill="hold"/>
                                        <p:tgtEl>
                                          <p:spTgt spid="2526307"/>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2526307"/>
                                        </p:tgtEl>
                                        <p:attrNameLst>
                                          <p:attrName>ppt_y</p:attrName>
                                        </p:attrNameLst>
                                      </p:cBhvr>
                                      <p:tavLst>
                                        <p:tav tm="0" fmla="#ppt_y+(sin(-2*pi*(1-$))*-#ppt_x+cos(-2*pi*(1-$))*(1-#ppt_y))*(1-$)">
                                          <p:val>
                                            <p:fltVal val="0"/>
                                          </p:val>
                                        </p:tav>
                                        <p:tav tm="100000">
                                          <p:val>
                                            <p:fltVal val="1"/>
                                          </p:val>
                                        </p:tav>
                                      </p:tavLst>
                                    </p:anim>
                                  </p:childTnLst>
                                </p:cTn>
                              </p:par>
                            </p:childTnLst>
                          </p:cTn>
                        </p:par>
                        <p:par>
                          <p:cTn id="25" fill="hold">
                            <p:stCondLst>
                              <p:cond delay="2000"/>
                            </p:stCondLst>
                            <p:childTnLst>
                              <p:par>
                                <p:cTn id="26" presetID="11" presetClass="entr" presetSubtype="0" fill="hold" grpId="0" nodeType="afterEffect">
                                  <p:stCondLst>
                                    <p:cond delay="2000"/>
                                  </p:stCondLst>
                                  <p:childTnLst>
                                    <p:set>
                                      <p:cBhvr>
                                        <p:cTn id="27" dur="1000">
                                          <p:stCondLst>
                                            <p:cond delay="0"/>
                                          </p:stCondLst>
                                        </p:cTn>
                                        <p:tgtEl>
                                          <p:spTgt spid="2526314"/>
                                        </p:tgtEl>
                                        <p:attrNameLst>
                                          <p:attrName>style.visibility</p:attrName>
                                        </p:attrNameLst>
                                      </p:cBhvr>
                                      <p:to>
                                        <p:strVal val="visible"/>
                                      </p:to>
                                    </p:set>
                                  </p:childTnLst>
                                </p:cTn>
                              </p:par>
                            </p:childTnLst>
                          </p:cTn>
                        </p:par>
                        <p:par>
                          <p:cTn id="28" fill="hold">
                            <p:stCondLst>
                              <p:cond delay="5000"/>
                            </p:stCondLst>
                            <p:childTnLst>
                              <p:par>
                                <p:cTn id="29" presetID="15" presetClass="entr" presetSubtype="0" fill="hold" nodeType="afterEffect">
                                  <p:stCondLst>
                                    <p:cond delay="0"/>
                                  </p:stCondLst>
                                  <p:childTnLst>
                                    <p:set>
                                      <p:cBhvr>
                                        <p:cTn id="30" dur="1" fill="hold">
                                          <p:stCondLst>
                                            <p:cond delay="0"/>
                                          </p:stCondLst>
                                        </p:cTn>
                                        <p:tgtEl>
                                          <p:spTgt spid="2526300"/>
                                        </p:tgtEl>
                                        <p:attrNameLst>
                                          <p:attrName>style.visibility</p:attrName>
                                        </p:attrNameLst>
                                      </p:cBhvr>
                                      <p:to>
                                        <p:strVal val="visible"/>
                                      </p:to>
                                    </p:set>
                                    <p:anim calcmode="lin" valueType="num">
                                      <p:cBhvr>
                                        <p:cTn id="31" dur="1000" fill="hold"/>
                                        <p:tgtEl>
                                          <p:spTgt spid="2526300"/>
                                        </p:tgtEl>
                                        <p:attrNameLst>
                                          <p:attrName>ppt_w</p:attrName>
                                        </p:attrNameLst>
                                      </p:cBhvr>
                                      <p:tavLst>
                                        <p:tav tm="0">
                                          <p:val>
                                            <p:fltVal val="0"/>
                                          </p:val>
                                        </p:tav>
                                        <p:tav tm="100000">
                                          <p:val>
                                            <p:strVal val="#ppt_w"/>
                                          </p:val>
                                        </p:tav>
                                      </p:tavLst>
                                    </p:anim>
                                    <p:anim calcmode="lin" valueType="num">
                                      <p:cBhvr>
                                        <p:cTn id="32" dur="1000" fill="hold"/>
                                        <p:tgtEl>
                                          <p:spTgt spid="2526300"/>
                                        </p:tgtEl>
                                        <p:attrNameLst>
                                          <p:attrName>ppt_h</p:attrName>
                                        </p:attrNameLst>
                                      </p:cBhvr>
                                      <p:tavLst>
                                        <p:tav tm="0">
                                          <p:val>
                                            <p:fltVal val="0"/>
                                          </p:val>
                                        </p:tav>
                                        <p:tav tm="100000">
                                          <p:val>
                                            <p:strVal val="#ppt_h"/>
                                          </p:val>
                                        </p:tav>
                                      </p:tavLst>
                                    </p:anim>
                                    <p:anim calcmode="lin" valueType="num">
                                      <p:cBhvr>
                                        <p:cTn id="33" dur="1000" fill="hold"/>
                                        <p:tgtEl>
                                          <p:spTgt spid="2526300"/>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2526300"/>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6000"/>
                            </p:stCondLst>
                            <p:childTnLst>
                              <p:par>
                                <p:cTn id="36" presetID="11" presetClass="entr" presetSubtype="0" fill="hold" grpId="0" nodeType="afterEffect">
                                  <p:stCondLst>
                                    <p:cond delay="2000"/>
                                  </p:stCondLst>
                                  <p:childTnLst>
                                    <p:set>
                                      <p:cBhvr>
                                        <p:cTn id="37" dur="1000">
                                          <p:stCondLst>
                                            <p:cond delay="0"/>
                                          </p:stCondLst>
                                        </p:cTn>
                                        <p:tgtEl>
                                          <p:spTgt spid="2526317"/>
                                        </p:tgtEl>
                                        <p:attrNameLst>
                                          <p:attrName>style.visibility</p:attrName>
                                        </p:attrNameLst>
                                      </p:cBhvr>
                                      <p:to>
                                        <p:strVal val="visible"/>
                                      </p:to>
                                    </p:set>
                                  </p:childTnLst>
                                </p:cTn>
                              </p:par>
                            </p:childTnLst>
                          </p:cTn>
                        </p:par>
                        <p:par>
                          <p:cTn id="38" fill="hold">
                            <p:stCondLst>
                              <p:cond delay="9000"/>
                            </p:stCondLst>
                            <p:childTnLst>
                              <p:par>
                                <p:cTn id="39" presetID="15" presetClass="entr" presetSubtype="0" fill="hold" nodeType="afterEffect">
                                  <p:stCondLst>
                                    <p:cond delay="0"/>
                                  </p:stCondLst>
                                  <p:childTnLst>
                                    <p:set>
                                      <p:cBhvr>
                                        <p:cTn id="40" dur="1" fill="hold">
                                          <p:stCondLst>
                                            <p:cond delay="0"/>
                                          </p:stCondLst>
                                        </p:cTn>
                                        <p:tgtEl>
                                          <p:spTgt spid="2526304"/>
                                        </p:tgtEl>
                                        <p:attrNameLst>
                                          <p:attrName>style.visibility</p:attrName>
                                        </p:attrNameLst>
                                      </p:cBhvr>
                                      <p:to>
                                        <p:strVal val="visible"/>
                                      </p:to>
                                    </p:set>
                                    <p:anim calcmode="lin" valueType="num">
                                      <p:cBhvr>
                                        <p:cTn id="41" dur="1000" fill="hold"/>
                                        <p:tgtEl>
                                          <p:spTgt spid="2526304"/>
                                        </p:tgtEl>
                                        <p:attrNameLst>
                                          <p:attrName>ppt_w</p:attrName>
                                        </p:attrNameLst>
                                      </p:cBhvr>
                                      <p:tavLst>
                                        <p:tav tm="0">
                                          <p:val>
                                            <p:fltVal val="0"/>
                                          </p:val>
                                        </p:tav>
                                        <p:tav tm="100000">
                                          <p:val>
                                            <p:strVal val="#ppt_w"/>
                                          </p:val>
                                        </p:tav>
                                      </p:tavLst>
                                    </p:anim>
                                    <p:anim calcmode="lin" valueType="num">
                                      <p:cBhvr>
                                        <p:cTn id="42" dur="1000" fill="hold"/>
                                        <p:tgtEl>
                                          <p:spTgt spid="2526304"/>
                                        </p:tgtEl>
                                        <p:attrNameLst>
                                          <p:attrName>ppt_h</p:attrName>
                                        </p:attrNameLst>
                                      </p:cBhvr>
                                      <p:tavLst>
                                        <p:tav tm="0">
                                          <p:val>
                                            <p:fltVal val="0"/>
                                          </p:val>
                                        </p:tav>
                                        <p:tav tm="100000">
                                          <p:val>
                                            <p:strVal val="#ppt_h"/>
                                          </p:val>
                                        </p:tav>
                                      </p:tavLst>
                                    </p:anim>
                                    <p:anim calcmode="lin" valueType="num">
                                      <p:cBhvr>
                                        <p:cTn id="43" dur="1000" fill="hold"/>
                                        <p:tgtEl>
                                          <p:spTgt spid="2526304"/>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2526304"/>
                                        </p:tgtEl>
                                        <p:attrNameLst>
                                          <p:attrName>ppt_y</p:attrName>
                                        </p:attrNameLst>
                                      </p:cBhvr>
                                      <p:tavLst>
                                        <p:tav tm="0" fmla="#ppt_y+(sin(-2*pi*(1-$))*-#ppt_x+cos(-2*pi*(1-$))*(1-#ppt_y))*(1-$)">
                                          <p:val>
                                            <p:fltVal val="0"/>
                                          </p:val>
                                        </p:tav>
                                        <p:tav tm="100000">
                                          <p:val>
                                            <p:fltVal val="1"/>
                                          </p:val>
                                        </p:tav>
                                      </p:tavLst>
                                    </p:anim>
                                  </p:childTnLst>
                                </p:cTn>
                              </p:par>
                            </p:childTnLst>
                          </p:cTn>
                        </p:par>
                        <p:par>
                          <p:cTn id="45" fill="hold">
                            <p:stCondLst>
                              <p:cond delay="10000"/>
                            </p:stCondLst>
                            <p:childTnLst>
                              <p:par>
                                <p:cTn id="46" presetID="11" presetClass="entr" presetSubtype="0" fill="hold" grpId="0" nodeType="afterEffect">
                                  <p:stCondLst>
                                    <p:cond delay="2000"/>
                                  </p:stCondLst>
                                  <p:childTnLst>
                                    <p:set>
                                      <p:cBhvr>
                                        <p:cTn id="47" dur="1000">
                                          <p:stCondLst>
                                            <p:cond delay="0"/>
                                          </p:stCondLst>
                                        </p:cTn>
                                        <p:tgtEl>
                                          <p:spTgt spid="2526318"/>
                                        </p:tgtEl>
                                        <p:attrNameLst>
                                          <p:attrName>style.visibility</p:attrName>
                                        </p:attrNameLst>
                                      </p:cBhvr>
                                      <p:to>
                                        <p:strVal val="visible"/>
                                      </p:to>
                                    </p:set>
                                  </p:childTnLst>
                                </p:cTn>
                              </p:par>
                            </p:childTnLst>
                          </p:cTn>
                        </p:par>
                        <p:par>
                          <p:cTn id="48" fill="hold">
                            <p:stCondLst>
                              <p:cond delay="13000"/>
                            </p:stCondLst>
                            <p:childTnLst>
                              <p:par>
                                <p:cTn id="49" presetID="12" presetClass="entr" presetSubtype="1" fill="hold" grpId="0" nodeType="afterEffect">
                                  <p:stCondLst>
                                    <p:cond delay="0"/>
                                  </p:stCondLst>
                                  <p:childTnLst>
                                    <p:set>
                                      <p:cBhvr>
                                        <p:cTn id="50" dur="1" fill="hold">
                                          <p:stCondLst>
                                            <p:cond delay="0"/>
                                          </p:stCondLst>
                                        </p:cTn>
                                        <p:tgtEl>
                                          <p:spTgt spid="2526309"/>
                                        </p:tgtEl>
                                        <p:attrNameLst>
                                          <p:attrName>style.visibility</p:attrName>
                                        </p:attrNameLst>
                                      </p:cBhvr>
                                      <p:to>
                                        <p:strVal val="visible"/>
                                      </p:to>
                                    </p:set>
                                    <p:animEffect transition="in" filter="slide(fromTop)">
                                      <p:cBhvr>
                                        <p:cTn id="51" dur="500"/>
                                        <p:tgtEl>
                                          <p:spTgt spid="2526309"/>
                                        </p:tgtEl>
                                      </p:cBhvr>
                                    </p:animEffect>
                                  </p:childTnLst>
                                </p:cTn>
                              </p:par>
                            </p:childTnLst>
                          </p:cTn>
                        </p:par>
                        <p:par>
                          <p:cTn id="52" fill="hold">
                            <p:stCondLst>
                              <p:cond delay="13500"/>
                            </p:stCondLst>
                            <p:childTnLst>
                              <p:par>
                                <p:cTn id="53" presetID="15" presetClass="entr" presetSubtype="0" fill="hold" nodeType="afterEffect">
                                  <p:stCondLst>
                                    <p:cond delay="0"/>
                                  </p:stCondLst>
                                  <p:childTnLst>
                                    <p:set>
                                      <p:cBhvr>
                                        <p:cTn id="54" dur="1" fill="hold">
                                          <p:stCondLst>
                                            <p:cond delay="0"/>
                                          </p:stCondLst>
                                        </p:cTn>
                                        <p:tgtEl>
                                          <p:spTgt spid="2526305"/>
                                        </p:tgtEl>
                                        <p:attrNameLst>
                                          <p:attrName>style.visibility</p:attrName>
                                        </p:attrNameLst>
                                      </p:cBhvr>
                                      <p:to>
                                        <p:strVal val="visible"/>
                                      </p:to>
                                    </p:set>
                                    <p:anim calcmode="lin" valueType="num">
                                      <p:cBhvr>
                                        <p:cTn id="55" dur="1000" fill="hold"/>
                                        <p:tgtEl>
                                          <p:spTgt spid="2526305"/>
                                        </p:tgtEl>
                                        <p:attrNameLst>
                                          <p:attrName>ppt_w</p:attrName>
                                        </p:attrNameLst>
                                      </p:cBhvr>
                                      <p:tavLst>
                                        <p:tav tm="0">
                                          <p:val>
                                            <p:fltVal val="0"/>
                                          </p:val>
                                        </p:tav>
                                        <p:tav tm="100000">
                                          <p:val>
                                            <p:strVal val="#ppt_w"/>
                                          </p:val>
                                        </p:tav>
                                      </p:tavLst>
                                    </p:anim>
                                    <p:anim calcmode="lin" valueType="num">
                                      <p:cBhvr>
                                        <p:cTn id="56" dur="1000" fill="hold"/>
                                        <p:tgtEl>
                                          <p:spTgt spid="2526305"/>
                                        </p:tgtEl>
                                        <p:attrNameLst>
                                          <p:attrName>ppt_h</p:attrName>
                                        </p:attrNameLst>
                                      </p:cBhvr>
                                      <p:tavLst>
                                        <p:tav tm="0">
                                          <p:val>
                                            <p:fltVal val="0"/>
                                          </p:val>
                                        </p:tav>
                                        <p:tav tm="100000">
                                          <p:val>
                                            <p:strVal val="#ppt_h"/>
                                          </p:val>
                                        </p:tav>
                                      </p:tavLst>
                                    </p:anim>
                                    <p:anim calcmode="lin" valueType="num">
                                      <p:cBhvr>
                                        <p:cTn id="57" dur="1000" fill="hold"/>
                                        <p:tgtEl>
                                          <p:spTgt spid="2526305"/>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2526305"/>
                                        </p:tgtEl>
                                        <p:attrNameLst>
                                          <p:attrName>ppt_y</p:attrName>
                                        </p:attrNameLst>
                                      </p:cBhvr>
                                      <p:tavLst>
                                        <p:tav tm="0" fmla="#ppt_y+(sin(-2*pi*(1-$))*-#ppt_x+cos(-2*pi*(1-$))*(1-#ppt_y))*(1-$)">
                                          <p:val>
                                            <p:fltVal val="0"/>
                                          </p:val>
                                        </p:tav>
                                        <p:tav tm="100000">
                                          <p:val>
                                            <p:fltVal val="1"/>
                                          </p:val>
                                        </p:tav>
                                      </p:tavLst>
                                    </p:anim>
                                  </p:childTnLst>
                                </p:cTn>
                              </p:par>
                            </p:childTnLst>
                          </p:cTn>
                        </p:par>
                        <p:par>
                          <p:cTn id="59" fill="hold">
                            <p:stCondLst>
                              <p:cond delay="14500"/>
                            </p:stCondLst>
                            <p:childTnLst>
                              <p:par>
                                <p:cTn id="60" presetID="11" presetClass="entr" presetSubtype="0" fill="hold" grpId="0" nodeType="afterEffect">
                                  <p:stCondLst>
                                    <p:cond delay="2000"/>
                                  </p:stCondLst>
                                  <p:childTnLst>
                                    <p:set>
                                      <p:cBhvr>
                                        <p:cTn id="61" dur="1000">
                                          <p:stCondLst>
                                            <p:cond delay="0"/>
                                          </p:stCondLst>
                                        </p:cTn>
                                        <p:tgtEl>
                                          <p:spTgt spid="2526319"/>
                                        </p:tgtEl>
                                        <p:attrNameLst>
                                          <p:attrName>style.visibility</p:attrName>
                                        </p:attrNameLst>
                                      </p:cBhvr>
                                      <p:to>
                                        <p:strVal val="visible"/>
                                      </p:to>
                                    </p:set>
                                  </p:childTnLst>
                                </p:cTn>
                              </p:par>
                            </p:childTnLst>
                          </p:cTn>
                        </p:par>
                        <p:par>
                          <p:cTn id="62" fill="hold">
                            <p:stCondLst>
                              <p:cond delay="17500"/>
                            </p:stCondLst>
                            <p:childTnLst>
                              <p:par>
                                <p:cTn id="63" presetID="12" presetClass="entr" presetSubtype="1" fill="hold" grpId="0" nodeType="afterEffect">
                                  <p:stCondLst>
                                    <p:cond delay="0"/>
                                  </p:stCondLst>
                                  <p:childTnLst>
                                    <p:set>
                                      <p:cBhvr>
                                        <p:cTn id="64" dur="1" fill="hold">
                                          <p:stCondLst>
                                            <p:cond delay="0"/>
                                          </p:stCondLst>
                                        </p:cTn>
                                        <p:tgtEl>
                                          <p:spTgt spid="2526310"/>
                                        </p:tgtEl>
                                        <p:attrNameLst>
                                          <p:attrName>style.visibility</p:attrName>
                                        </p:attrNameLst>
                                      </p:cBhvr>
                                      <p:to>
                                        <p:strVal val="visible"/>
                                      </p:to>
                                    </p:set>
                                    <p:animEffect transition="in" filter="slide(fromTop)">
                                      <p:cBhvr>
                                        <p:cTn id="65" dur="500"/>
                                        <p:tgtEl>
                                          <p:spTgt spid="2526310"/>
                                        </p:tgtEl>
                                      </p:cBhvr>
                                    </p:animEffect>
                                  </p:childTnLst>
                                </p:cTn>
                              </p:par>
                            </p:childTnLst>
                          </p:cTn>
                        </p:par>
                        <p:par>
                          <p:cTn id="66" fill="hold">
                            <p:stCondLst>
                              <p:cond delay="18000"/>
                            </p:stCondLst>
                            <p:childTnLst>
                              <p:par>
                                <p:cTn id="67" presetID="15" presetClass="entr" presetSubtype="0" fill="hold" nodeType="afterEffect">
                                  <p:stCondLst>
                                    <p:cond delay="0"/>
                                  </p:stCondLst>
                                  <p:childTnLst>
                                    <p:set>
                                      <p:cBhvr>
                                        <p:cTn id="68" dur="1" fill="hold">
                                          <p:stCondLst>
                                            <p:cond delay="0"/>
                                          </p:stCondLst>
                                        </p:cTn>
                                        <p:tgtEl>
                                          <p:spTgt spid="2526306"/>
                                        </p:tgtEl>
                                        <p:attrNameLst>
                                          <p:attrName>style.visibility</p:attrName>
                                        </p:attrNameLst>
                                      </p:cBhvr>
                                      <p:to>
                                        <p:strVal val="visible"/>
                                      </p:to>
                                    </p:set>
                                    <p:anim calcmode="lin" valueType="num">
                                      <p:cBhvr>
                                        <p:cTn id="69" dur="1000" fill="hold"/>
                                        <p:tgtEl>
                                          <p:spTgt spid="2526306"/>
                                        </p:tgtEl>
                                        <p:attrNameLst>
                                          <p:attrName>ppt_w</p:attrName>
                                        </p:attrNameLst>
                                      </p:cBhvr>
                                      <p:tavLst>
                                        <p:tav tm="0">
                                          <p:val>
                                            <p:fltVal val="0"/>
                                          </p:val>
                                        </p:tav>
                                        <p:tav tm="100000">
                                          <p:val>
                                            <p:strVal val="#ppt_w"/>
                                          </p:val>
                                        </p:tav>
                                      </p:tavLst>
                                    </p:anim>
                                    <p:anim calcmode="lin" valueType="num">
                                      <p:cBhvr>
                                        <p:cTn id="70" dur="1000" fill="hold"/>
                                        <p:tgtEl>
                                          <p:spTgt spid="2526306"/>
                                        </p:tgtEl>
                                        <p:attrNameLst>
                                          <p:attrName>ppt_h</p:attrName>
                                        </p:attrNameLst>
                                      </p:cBhvr>
                                      <p:tavLst>
                                        <p:tav tm="0">
                                          <p:val>
                                            <p:fltVal val="0"/>
                                          </p:val>
                                        </p:tav>
                                        <p:tav tm="100000">
                                          <p:val>
                                            <p:strVal val="#ppt_h"/>
                                          </p:val>
                                        </p:tav>
                                      </p:tavLst>
                                    </p:anim>
                                    <p:anim calcmode="lin" valueType="num">
                                      <p:cBhvr>
                                        <p:cTn id="71" dur="1000" fill="hold"/>
                                        <p:tgtEl>
                                          <p:spTgt spid="2526306"/>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2526306"/>
                                        </p:tgtEl>
                                        <p:attrNameLst>
                                          <p:attrName>ppt_y</p:attrName>
                                        </p:attrNameLst>
                                      </p:cBhvr>
                                      <p:tavLst>
                                        <p:tav tm="0" fmla="#ppt_y+(sin(-2*pi*(1-$))*-#ppt_x+cos(-2*pi*(1-$))*(1-#ppt_y))*(1-$)">
                                          <p:val>
                                            <p:fltVal val="0"/>
                                          </p:val>
                                        </p:tav>
                                        <p:tav tm="100000">
                                          <p:val>
                                            <p:fltVal val="1"/>
                                          </p:val>
                                        </p:tav>
                                      </p:tavLst>
                                    </p:anim>
                                  </p:childTnLst>
                                </p:cTn>
                              </p:par>
                            </p:childTnLst>
                          </p:cTn>
                        </p:par>
                        <p:par>
                          <p:cTn id="73" fill="hold">
                            <p:stCondLst>
                              <p:cond delay="19000"/>
                            </p:stCondLst>
                            <p:childTnLst>
                              <p:par>
                                <p:cTn id="74" presetID="1" presetClass="entr" presetSubtype="0" fill="hold" grpId="0" nodeType="afterEffect">
                                  <p:stCondLst>
                                    <p:cond delay="2000"/>
                                  </p:stCondLst>
                                  <p:childTnLst>
                                    <p:set>
                                      <p:cBhvr>
                                        <p:cTn id="75" dur="1" fill="hold">
                                          <p:stCondLst>
                                            <p:cond delay="499"/>
                                          </p:stCondLst>
                                        </p:cTn>
                                        <p:tgtEl>
                                          <p:spTgt spid="2526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6210" grpId="0" build="p" autoUpdateAnimBg="0" advAuto="0"/>
      <p:bldP spid="2526293" grpId="0" autoUpdateAnimBg="0"/>
      <p:bldP spid="2526309" grpId="0" autoUpdateAnimBg="0"/>
      <p:bldP spid="2526310" grpId="0" autoUpdateAnimBg="0"/>
      <p:bldP spid="2526314" grpId="0" animBg="1"/>
      <p:bldP spid="2526317" grpId="0" animBg="1"/>
      <p:bldP spid="2526318" grpId="0" animBg="1"/>
      <p:bldP spid="2526319" grpId="0" animBg="1"/>
      <p:bldP spid="25263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0923" name="Text Box 123"/>
          <p:cNvSpPr txBox="1">
            <a:spLocks noChangeArrowheads="1"/>
          </p:cNvSpPr>
          <p:nvPr/>
        </p:nvSpPr>
        <p:spPr bwMode="auto">
          <a:xfrm>
            <a:off x="635000" y="1257300"/>
            <a:ext cx="8255000" cy="4445000"/>
          </a:xfrm>
          <a:prstGeom prst="rect">
            <a:avLst/>
          </a:prstGeom>
          <a:noFill/>
          <a:ln w="9525">
            <a:noFill/>
            <a:miter lim="800000"/>
            <a:headEnd/>
            <a:tailEnd/>
          </a:ln>
          <a:effectLst/>
        </p:spPr>
        <p:txBody>
          <a:bodyPr>
            <a:spAutoFit/>
          </a:bodyPr>
          <a:lstStyle/>
          <a:p>
            <a:pPr algn="l">
              <a:lnSpc>
                <a:spcPct val="85000"/>
              </a:lnSpc>
              <a:spcBef>
                <a:spcPct val="50000"/>
              </a:spcBef>
            </a:pPr>
            <a:r>
              <a:rPr lang="en-US" sz="2400" b="1"/>
              <a:t>MarkITS has developed and implemented a SOA Framework to:</a:t>
            </a:r>
            <a:endParaRPr lang="en-US" sz="2400" b="1" u="sng"/>
          </a:p>
          <a:p>
            <a:pPr marL="914400" lvl="1" indent="-457200" algn="l">
              <a:lnSpc>
                <a:spcPct val="70000"/>
              </a:lnSpc>
              <a:spcBef>
                <a:spcPct val="50000"/>
              </a:spcBef>
              <a:buClr>
                <a:schemeClr val="folHlink"/>
              </a:buClr>
              <a:buFont typeface="Wingdings" pitchFamily="2" charset="2"/>
              <a:buChar char="Ø"/>
            </a:pPr>
            <a:r>
              <a:rPr lang="en-US" sz="2000" u="sng"/>
              <a:t>Simplify</a:t>
            </a:r>
            <a:r>
              <a:rPr lang="en-US" sz="2000"/>
              <a:t> complexity;</a:t>
            </a:r>
          </a:p>
          <a:p>
            <a:pPr marL="914400" lvl="1" indent="-457200" algn="l">
              <a:lnSpc>
                <a:spcPct val="70000"/>
              </a:lnSpc>
              <a:spcBef>
                <a:spcPct val="50000"/>
              </a:spcBef>
              <a:buClr>
                <a:schemeClr val="folHlink"/>
              </a:buClr>
              <a:buFont typeface="Wingdings" pitchFamily="2" charset="2"/>
              <a:buChar char="Ø"/>
            </a:pPr>
            <a:r>
              <a:rPr lang="en-US" sz="2000" u="sng"/>
              <a:t>Unify</a:t>
            </a:r>
            <a:r>
              <a:rPr lang="en-US" sz="2000"/>
              <a:t> team communications, and;</a:t>
            </a:r>
          </a:p>
          <a:p>
            <a:pPr marL="914400" lvl="1" indent="-457200" algn="l">
              <a:lnSpc>
                <a:spcPct val="70000"/>
              </a:lnSpc>
              <a:spcBef>
                <a:spcPct val="50000"/>
              </a:spcBef>
              <a:buClr>
                <a:schemeClr val="folHlink"/>
              </a:buClr>
              <a:buFont typeface="Wingdings" pitchFamily="2" charset="2"/>
              <a:buChar char="Ø"/>
            </a:pPr>
            <a:r>
              <a:rPr lang="en-US" sz="2000" u="sng"/>
              <a:t>Optimize</a:t>
            </a:r>
            <a:r>
              <a:rPr lang="en-US" sz="2000"/>
              <a:t> products. </a:t>
            </a:r>
          </a:p>
          <a:p>
            <a:pPr algn="l">
              <a:spcBef>
                <a:spcPct val="50000"/>
              </a:spcBef>
            </a:pPr>
            <a:r>
              <a:rPr lang="en-US" sz="2400" b="1"/>
              <a:t>The SOA partitions entities into taxonomic structures…</a:t>
            </a:r>
          </a:p>
          <a:p>
            <a:pPr marL="914400" lvl="1" indent="-457200" algn="l">
              <a:lnSpc>
                <a:spcPct val="55000"/>
              </a:lnSpc>
              <a:spcBef>
                <a:spcPct val="50000"/>
              </a:spcBef>
              <a:buClr>
                <a:schemeClr val="folHlink"/>
              </a:buClr>
              <a:buSzPct val="120000"/>
              <a:buFont typeface="Wingdings" pitchFamily="2" charset="2"/>
              <a:buChar char="Ø"/>
            </a:pPr>
            <a:r>
              <a:rPr lang="en-US" sz="2000"/>
              <a:t>Domains</a:t>
            </a:r>
          </a:p>
          <a:p>
            <a:pPr marL="914400" lvl="1" indent="-457200" algn="l">
              <a:lnSpc>
                <a:spcPct val="55000"/>
              </a:lnSpc>
              <a:spcBef>
                <a:spcPct val="50000"/>
              </a:spcBef>
              <a:buClr>
                <a:schemeClr val="folHlink"/>
              </a:buClr>
              <a:buSzPct val="120000"/>
              <a:buFont typeface="Wingdings" pitchFamily="2" charset="2"/>
              <a:buChar char="Ø"/>
            </a:pPr>
            <a:r>
              <a:rPr lang="en-US" sz="2000"/>
              <a:t>Tiers</a:t>
            </a:r>
          </a:p>
          <a:p>
            <a:pPr marL="914400" lvl="1" indent="-457200" algn="l">
              <a:lnSpc>
                <a:spcPct val="55000"/>
              </a:lnSpc>
              <a:spcBef>
                <a:spcPct val="50000"/>
              </a:spcBef>
              <a:buClr>
                <a:schemeClr val="folHlink"/>
              </a:buClr>
              <a:buSzPct val="120000"/>
              <a:buFont typeface="Wingdings" pitchFamily="2" charset="2"/>
              <a:buChar char="Ø"/>
            </a:pPr>
            <a:r>
              <a:rPr lang="en-US" sz="2000"/>
              <a:t>Services</a:t>
            </a:r>
          </a:p>
          <a:p>
            <a:pPr marL="914400" lvl="1" indent="-457200" algn="l">
              <a:lnSpc>
                <a:spcPct val="55000"/>
              </a:lnSpc>
              <a:spcBef>
                <a:spcPct val="50000"/>
              </a:spcBef>
              <a:buClr>
                <a:schemeClr val="folHlink"/>
              </a:buClr>
              <a:buSzPct val="120000"/>
              <a:buFont typeface="Wingdings" pitchFamily="2" charset="2"/>
              <a:buChar char="Ø"/>
            </a:pPr>
            <a:r>
              <a:rPr lang="en-US" sz="2000"/>
              <a:t>Components</a:t>
            </a:r>
          </a:p>
          <a:p>
            <a:pPr algn="l">
              <a:lnSpc>
                <a:spcPct val="85000"/>
              </a:lnSpc>
              <a:spcBef>
                <a:spcPct val="50000"/>
              </a:spcBef>
              <a:buClr>
                <a:schemeClr val="folHlink"/>
              </a:buClr>
              <a:buSzPct val="120000"/>
              <a:buFont typeface="Wingdings" pitchFamily="2" charset="2"/>
              <a:buNone/>
            </a:pPr>
            <a:r>
              <a:rPr lang="en-US" sz="2400" b="1"/>
              <a:t>…with transaction messages transported across an  Enterprise Service Bus, referred to as the MarkITS ESB.</a:t>
            </a:r>
          </a:p>
        </p:txBody>
      </p:sp>
      <p:sp>
        <p:nvSpPr>
          <p:cNvPr id="2380807" name="Rectangle 7"/>
          <p:cNvSpPr>
            <a:spLocks noGrp="1" noChangeArrowheads="1"/>
          </p:cNvSpPr>
          <p:nvPr>
            <p:ph type="title"/>
          </p:nvPr>
        </p:nvSpPr>
        <p:spPr>
          <a:xfrm>
            <a:off x="0" y="215900"/>
            <a:ext cx="9144000" cy="531813"/>
          </a:xfrm>
        </p:spPr>
        <p:txBody>
          <a:bodyPr/>
          <a:lstStyle/>
          <a:p>
            <a:pPr>
              <a:lnSpc>
                <a:spcPct val="80000"/>
              </a:lnSpc>
            </a:pPr>
            <a:r>
              <a:rPr lang="en-US" sz="3600"/>
              <a:t>SOA Framework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57956" name="Group 4"/>
          <p:cNvGrpSpPr>
            <a:grpSpLocks/>
          </p:cNvGrpSpPr>
          <p:nvPr/>
        </p:nvGrpSpPr>
        <p:grpSpPr bwMode="auto">
          <a:xfrm>
            <a:off x="285750" y="1395413"/>
            <a:ext cx="8162925" cy="4849812"/>
            <a:chOff x="180" y="879"/>
            <a:chExt cx="5142" cy="3055"/>
          </a:xfrm>
        </p:grpSpPr>
        <p:sp>
          <p:nvSpPr>
            <p:cNvPr id="2557957" name="Text Box 5"/>
            <p:cNvSpPr txBox="1">
              <a:spLocks noChangeArrowheads="1"/>
            </p:cNvSpPr>
            <p:nvPr/>
          </p:nvSpPr>
          <p:spPr bwMode="auto">
            <a:xfrm>
              <a:off x="682" y="879"/>
              <a:ext cx="4640" cy="253"/>
            </a:xfrm>
            <a:prstGeom prst="rect">
              <a:avLst/>
            </a:prstGeom>
            <a:solidFill>
              <a:srgbClr val="DDDDDD"/>
            </a:solidFill>
            <a:ln w="12700">
              <a:solidFill>
                <a:schemeClr val="tx1"/>
              </a:solidFill>
              <a:miter lim="800000"/>
              <a:headEnd/>
              <a:tailEnd/>
            </a:ln>
            <a:effectLst/>
          </p:spPr>
          <p:txBody>
            <a:bodyPr wrap="none" lIns="0" tIns="0" rIns="0" bIns="0" anchor="ctr"/>
            <a:lstStyle/>
            <a:p>
              <a:pPr>
                <a:spcBef>
                  <a:spcPct val="50000"/>
                </a:spcBef>
                <a:buClr>
                  <a:srgbClr val="D9A207"/>
                </a:buClr>
                <a:buSzPct val="80000"/>
                <a:buFont typeface="Wingdings 2" pitchFamily="18" charset="2"/>
                <a:buNone/>
              </a:pPr>
              <a:r>
                <a:rPr lang="en-US" sz="1800"/>
                <a:t>Presentation Domain</a:t>
              </a:r>
            </a:p>
          </p:txBody>
        </p:sp>
        <p:sp>
          <p:nvSpPr>
            <p:cNvPr id="2557958" name="Text Box 6"/>
            <p:cNvSpPr txBox="1">
              <a:spLocks noChangeArrowheads="1"/>
            </p:cNvSpPr>
            <p:nvPr/>
          </p:nvSpPr>
          <p:spPr bwMode="auto">
            <a:xfrm rot="-5400000">
              <a:off x="-553" y="1979"/>
              <a:ext cx="1608" cy="141"/>
            </a:xfrm>
            <a:prstGeom prst="rect">
              <a:avLst/>
            </a:prstGeom>
            <a:solidFill>
              <a:srgbClr val="DDDDDD"/>
            </a:solidFill>
            <a:ln w="12700">
              <a:solidFill>
                <a:schemeClr val="tx1"/>
              </a:solidFill>
              <a:miter lim="800000"/>
              <a:headEnd/>
              <a:tailEnd/>
            </a:ln>
            <a:effectLst/>
          </p:spPr>
          <p:txBody>
            <a:bodyPr wrap="none" lIns="0" tIns="0" rIns="0" bIns="0" anchor="ctr"/>
            <a:lstStyle/>
            <a:p>
              <a:pPr>
                <a:spcBef>
                  <a:spcPct val="50000"/>
                </a:spcBef>
                <a:buClr>
                  <a:srgbClr val="D9A207"/>
                </a:buClr>
                <a:buSzPct val="80000"/>
                <a:buFont typeface="Wingdings 2" pitchFamily="18" charset="2"/>
                <a:buNone/>
              </a:pPr>
              <a:r>
                <a:rPr lang="en-US" sz="1800"/>
                <a:t>Application Domain</a:t>
              </a:r>
            </a:p>
          </p:txBody>
        </p:sp>
        <p:sp>
          <p:nvSpPr>
            <p:cNvPr id="2557959" name="Text Box 7"/>
            <p:cNvSpPr txBox="1">
              <a:spLocks noChangeArrowheads="1"/>
            </p:cNvSpPr>
            <p:nvPr/>
          </p:nvSpPr>
          <p:spPr bwMode="auto">
            <a:xfrm rot="-5400000">
              <a:off x="-181" y="3431"/>
              <a:ext cx="872" cy="133"/>
            </a:xfrm>
            <a:prstGeom prst="rect">
              <a:avLst/>
            </a:prstGeom>
            <a:solidFill>
              <a:srgbClr val="DDDDDD"/>
            </a:solidFill>
            <a:ln w="12700">
              <a:solidFill>
                <a:schemeClr val="tx1"/>
              </a:solidFill>
              <a:miter lim="800000"/>
              <a:headEnd/>
              <a:tailEnd/>
            </a:ln>
            <a:effectLst/>
          </p:spPr>
          <p:txBody>
            <a:bodyPr wrap="none" lIns="0" tIns="0" rIns="0" bIns="0" anchor="ctr"/>
            <a:lstStyle/>
            <a:p>
              <a:pPr>
                <a:spcBef>
                  <a:spcPct val="50000"/>
                </a:spcBef>
                <a:buClr>
                  <a:srgbClr val="D9A207"/>
                </a:buClr>
                <a:buSzPct val="80000"/>
                <a:buFont typeface="Wingdings 2" pitchFamily="18" charset="2"/>
                <a:buNone/>
              </a:pPr>
              <a:r>
                <a:rPr lang="en-US" sz="1800"/>
                <a:t>Data Domain</a:t>
              </a:r>
            </a:p>
          </p:txBody>
        </p:sp>
      </p:grpSp>
      <p:sp>
        <p:nvSpPr>
          <p:cNvPr id="2557955" name="Rectangle 3"/>
          <p:cNvSpPr>
            <a:spLocks noGrp="1" noChangeArrowheads="1"/>
          </p:cNvSpPr>
          <p:nvPr>
            <p:ph type="title"/>
          </p:nvPr>
        </p:nvSpPr>
        <p:spPr>
          <a:xfrm>
            <a:off x="0" y="215900"/>
            <a:ext cx="9144000" cy="531813"/>
          </a:xfrm>
        </p:spPr>
        <p:txBody>
          <a:bodyPr/>
          <a:lstStyle/>
          <a:p>
            <a:pPr>
              <a:lnSpc>
                <a:spcPct val="80000"/>
              </a:lnSpc>
            </a:pPr>
            <a:r>
              <a:rPr lang="en-US" sz="3600"/>
              <a:t>SOA Framework </a:t>
            </a:r>
          </a:p>
        </p:txBody>
      </p:sp>
      <p:grpSp>
        <p:nvGrpSpPr>
          <p:cNvPr id="2557960" name="Group 8"/>
          <p:cNvGrpSpPr>
            <a:grpSpLocks/>
          </p:cNvGrpSpPr>
          <p:nvPr/>
        </p:nvGrpSpPr>
        <p:grpSpPr bwMode="auto">
          <a:xfrm>
            <a:off x="742950" y="1893888"/>
            <a:ext cx="7715250" cy="1292225"/>
            <a:chOff x="468" y="1193"/>
            <a:chExt cx="4860" cy="814"/>
          </a:xfrm>
        </p:grpSpPr>
        <p:sp>
          <p:nvSpPr>
            <p:cNvPr id="2557961" name="Text Box 9"/>
            <p:cNvSpPr txBox="1">
              <a:spLocks noChangeAspect="1" noChangeArrowheads="1"/>
            </p:cNvSpPr>
            <p:nvPr/>
          </p:nvSpPr>
          <p:spPr bwMode="auto">
            <a:xfrm>
              <a:off x="468" y="1473"/>
              <a:ext cx="212" cy="272"/>
            </a:xfrm>
            <a:prstGeom prst="rect">
              <a:avLst/>
            </a:prstGeom>
            <a:solidFill>
              <a:srgbClr val="95CAFF"/>
            </a:solidFill>
            <a:ln w="12700" cap="rnd">
              <a:noFill/>
              <a:prstDash val="sysDot"/>
              <a:miter lim="800000"/>
              <a:headEnd/>
              <a:tailEnd/>
            </a:ln>
            <a:effectLst/>
          </p:spPr>
          <p:txBody>
            <a:bodyPr wrap="none"/>
            <a:lstStyle/>
            <a:p>
              <a:pPr>
                <a:buClr>
                  <a:srgbClr val="D9A207"/>
                </a:buClr>
                <a:buSzPct val="80000"/>
                <a:buFont typeface="Wingdings 2" pitchFamily="18" charset="2"/>
                <a:buNone/>
              </a:pPr>
              <a:r>
                <a:rPr lang="en-US" sz="1200" b="1"/>
                <a:t>Biz</a:t>
              </a:r>
            </a:p>
            <a:p>
              <a:pPr>
                <a:buClr>
                  <a:srgbClr val="D9A207"/>
                </a:buClr>
                <a:buSzPct val="80000"/>
                <a:buFont typeface="Wingdings 2" pitchFamily="18" charset="2"/>
                <a:buNone/>
              </a:pPr>
              <a:r>
                <a:rPr lang="en-US" sz="1200" b="1"/>
                <a:t>Tier</a:t>
              </a:r>
            </a:p>
          </p:txBody>
        </p:sp>
        <p:sp>
          <p:nvSpPr>
            <p:cNvPr id="2557962" name="Rectangle 10"/>
            <p:cNvSpPr>
              <a:spLocks noChangeAspect="1" noChangeArrowheads="1"/>
            </p:cNvSpPr>
            <p:nvPr/>
          </p:nvSpPr>
          <p:spPr bwMode="auto">
            <a:xfrm>
              <a:off x="672" y="1193"/>
              <a:ext cx="4656" cy="814"/>
            </a:xfrm>
            <a:prstGeom prst="rect">
              <a:avLst/>
            </a:prstGeom>
            <a:solidFill>
              <a:srgbClr val="95CAFF"/>
            </a:solidFill>
            <a:ln w="19050" cap="rnd">
              <a:noFill/>
              <a:prstDash val="sysDot"/>
              <a:miter lim="800000"/>
              <a:headEnd/>
              <a:tailEnd/>
            </a:ln>
            <a:effectLst/>
          </p:spPr>
          <p:txBody>
            <a:bodyPr wrap="none" anchor="ctr"/>
            <a:lstStyle/>
            <a:p>
              <a:endParaRPr lang="en-US" sz="1000">
                <a:latin typeface="Times New Roman" pitchFamily="18" charset="0"/>
              </a:endParaRPr>
            </a:p>
          </p:txBody>
        </p:sp>
        <p:sp>
          <p:nvSpPr>
            <p:cNvPr id="2557963" name="Rectangle 11"/>
            <p:cNvSpPr>
              <a:spLocks noChangeAspect="1" noChangeArrowheads="1"/>
            </p:cNvSpPr>
            <p:nvPr/>
          </p:nvSpPr>
          <p:spPr bwMode="auto">
            <a:xfrm>
              <a:off x="801" y="1614"/>
              <a:ext cx="500" cy="258"/>
            </a:xfrm>
            <a:prstGeom prst="rect">
              <a:avLst/>
            </a:prstGeom>
            <a:noFill/>
            <a:ln w="12700">
              <a:solidFill>
                <a:schemeClr val="tx1"/>
              </a:solidFill>
              <a:miter lim="800000"/>
              <a:headEnd/>
              <a:tailEnd/>
            </a:ln>
            <a:effectLst/>
          </p:spPr>
          <p:txBody>
            <a:bodyPr wrap="none" anchor="ctr"/>
            <a:lstStyle/>
            <a:p>
              <a:pPr>
                <a:lnSpc>
                  <a:spcPct val="75000"/>
                </a:lnSpc>
                <a:spcBef>
                  <a:spcPct val="20000"/>
                </a:spcBef>
                <a:buClr>
                  <a:srgbClr val="D9A207"/>
                </a:buClr>
                <a:buSzPct val="80000"/>
                <a:buFont typeface="Wingdings 2" pitchFamily="18" charset="2"/>
                <a:buNone/>
              </a:pPr>
              <a:r>
                <a:rPr lang="en-US" sz="1000">
                  <a:latin typeface="Tahoma" pitchFamily="34" charset="0"/>
                </a:rPr>
                <a:t>Account</a:t>
              </a:r>
            </a:p>
            <a:p>
              <a:pPr>
                <a:lnSpc>
                  <a:spcPct val="75000"/>
                </a:lnSpc>
                <a:spcBef>
                  <a:spcPct val="20000"/>
                </a:spcBef>
                <a:buClr>
                  <a:srgbClr val="D9A207"/>
                </a:buClr>
                <a:buSzPct val="80000"/>
                <a:buFont typeface="Wingdings 2" pitchFamily="18" charset="2"/>
                <a:buNone/>
              </a:pPr>
              <a:r>
                <a:rPr lang="en-US" sz="1000">
                  <a:latin typeface="Tahoma" pitchFamily="34" charset="0"/>
                </a:rPr>
                <a:t>Transfer</a:t>
              </a:r>
            </a:p>
          </p:txBody>
        </p:sp>
        <p:sp>
          <p:nvSpPr>
            <p:cNvPr id="2557964" name="Rectangle 12"/>
            <p:cNvSpPr>
              <a:spLocks noChangeAspect="1" noChangeArrowheads="1"/>
            </p:cNvSpPr>
            <p:nvPr/>
          </p:nvSpPr>
          <p:spPr bwMode="auto">
            <a:xfrm>
              <a:off x="1344" y="1615"/>
              <a:ext cx="500"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Finance</a:t>
              </a:r>
            </a:p>
          </p:txBody>
        </p:sp>
        <p:sp>
          <p:nvSpPr>
            <p:cNvPr id="2557965" name="Rectangle 13"/>
            <p:cNvSpPr>
              <a:spLocks noChangeAspect="1" noChangeArrowheads="1"/>
            </p:cNvSpPr>
            <p:nvPr/>
          </p:nvSpPr>
          <p:spPr bwMode="auto">
            <a:xfrm>
              <a:off x="1886" y="1615"/>
              <a:ext cx="500" cy="251"/>
            </a:xfrm>
            <a:prstGeom prst="rect">
              <a:avLst/>
            </a:prstGeom>
            <a:noFill/>
            <a:ln w="12700">
              <a:solidFill>
                <a:schemeClr val="tx1"/>
              </a:solidFill>
              <a:miter lim="800000"/>
              <a:headEnd/>
              <a:tailEnd/>
            </a:ln>
            <a:effectLst/>
          </p:spPr>
          <p:txBody>
            <a:bodyPr wrap="none" anchor="ctr"/>
            <a:lstStyle/>
            <a:p>
              <a:pPr>
                <a:lnSpc>
                  <a:spcPct val="75000"/>
                </a:lnSpc>
                <a:spcBef>
                  <a:spcPct val="20000"/>
                </a:spcBef>
                <a:buClr>
                  <a:srgbClr val="D9A207"/>
                </a:buClr>
                <a:buSzPct val="80000"/>
                <a:buFont typeface="Wingdings 2" pitchFamily="18" charset="2"/>
                <a:buNone/>
              </a:pPr>
              <a:r>
                <a:rPr lang="en-US" sz="1000">
                  <a:latin typeface="Tahoma" pitchFamily="34" charset="0"/>
                </a:rPr>
                <a:t>CRM</a:t>
              </a:r>
            </a:p>
          </p:txBody>
        </p:sp>
        <p:sp>
          <p:nvSpPr>
            <p:cNvPr id="2557966" name="Rectangle 14"/>
            <p:cNvSpPr>
              <a:spLocks noChangeAspect="1" noChangeArrowheads="1"/>
            </p:cNvSpPr>
            <p:nvPr/>
          </p:nvSpPr>
          <p:spPr bwMode="auto">
            <a:xfrm>
              <a:off x="2428" y="1615"/>
              <a:ext cx="500" cy="251"/>
            </a:xfrm>
            <a:prstGeom prst="rect">
              <a:avLst/>
            </a:prstGeom>
            <a:no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Com-</a:t>
              </a:r>
            </a:p>
            <a:p>
              <a:pPr>
                <a:lnSpc>
                  <a:spcPct val="80000"/>
                </a:lnSpc>
                <a:spcBef>
                  <a:spcPct val="20000"/>
                </a:spcBef>
                <a:buClr>
                  <a:srgbClr val="D9A207"/>
                </a:buClr>
                <a:buSzPct val="80000"/>
                <a:buFont typeface="Wingdings 2" pitchFamily="18" charset="2"/>
                <a:buNone/>
              </a:pPr>
              <a:r>
                <a:rPr lang="en-US" sz="1000">
                  <a:latin typeface="Tahoma" pitchFamily="34" charset="0"/>
                </a:rPr>
                <a:t>pliance</a:t>
              </a:r>
            </a:p>
          </p:txBody>
        </p:sp>
        <p:sp>
          <p:nvSpPr>
            <p:cNvPr id="2557967" name="Rectangle 15"/>
            <p:cNvSpPr>
              <a:spLocks noChangeAspect="1" noChangeArrowheads="1"/>
            </p:cNvSpPr>
            <p:nvPr/>
          </p:nvSpPr>
          <p:spPr bwMode="auto">
            <a:xfrm>
              <a:off x="3512" y="1615"/>
              <a:ext cx="500"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Performance</a:t>
              </a:r>
            </a:p>
            <a:p>
              <a:pPr>
                <a:lnSpc>
                  <a:spcPct val="75000"/>
                </a:lnSpc>
                <a:spcBef>
                  <a:spcPct val="20000"/>
                </a:spcBef>
                <a:buClr>
                  <a:srgbClr val="D9A207"/>
                </a:buClr>
                <a:buSzPct val="80000"/>
                <a:buFont typeface="Wingdings 2" pitchFamily="18" charset="2"/>
                <a:buNone/>
              </a:pPr>
              <a:r>
                <a:rPr lang="en-US" sz="1000">
                  <a:latin typeface="Tahoma" pitchFamily="34" charset="0"/>
                </a:rPr>
                <a:t>Plus</a:t>
              </a:r>
            </a:p>
          </p:txBody>
        </p:sp>
        <p:sp>
          <p:nvSpPr>
            <p:cNvPr id="2557968" name="Rectangle 16"/>
            <p:cNvSpPr>
              <a:spLocks noChangeAspect="1" noChangeArrowheads="1"/>
            </p:cNvSpPr>
            <p:nvPr/>
          </p:nvSpPr>
          <p:spPr bwMode="auto">
            <a:xfrm>
              <a:off x="2971" y="1615"/>
              <a:ext cx="500"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Corporate</a:t>
              </a:r>
            </a:p>
          </p:txBody>
        </p:sp>
        <p:sp>
          <p:nvSpPr>
            <p:cNvPr id="2557969" name="Rectangle 17"/>
            <p:cNvSpPr>
              <a:spLocks noChangeAspect="1" noChangeArrowheads="1"/>
            </p:cNvSpPr>
            <p:nvPr/>
          </p:nvSpPr>
          <p:spPr bwMode="auto">
            <a:xfrm>
              <a:off x="4053" y="1615"/>
              <a:ext cx="500" cy="251"/>
            </a:xfrm>
            <a:prstGeom prst="rect">
              <a:avLst/>
            </a:prstGeom>
            <a:no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College</a:t>
              </a:r>
            </a:p>
            <a:p>
              <a:pPr>
                <a:lnSpc>
                  <a:spcPct val="80000"/>
                </a:lnSpc>
                <a:spcBef>
                  <a:spcPct val="20000"/>
                </a:spcBef>
                <a:buClr>
                  <a:srgbClr val="D9A207"/>
                </a:buClr>
                <a:buSzPct val="80000"/>
                <a:buFont typeface="Wingdings 2" pitchFamily="18" charset="2"/>
                <a:buNone/>
              </a:pPr>
              <a:r>
                <a:rPr lang="en-US" sz="1000">
                  <a:latin typeface="Tahoma" pitchFamily="34" charset="0"/>
                </a:rPr>
                <a:t>Savings</a:t>
              </a:r>
            </a:p>
          </p:txBody>
        </p:sp>
        <p:sp>
          <p:nvSpPr>
            <p:cNvPr id="2557970" name="Rectangle 18"/>
            <p:cNvSpPr>
              <a:spLocks noChangeAspect="1" noChangeArrowheads="1"/>
            </p:cNvSpPr>
            <p:nvPr/>
          </p:nvSpPr>
          <p:spPr bwMode="auto">
            <a:xfrm>
              <a:off x="4594" y="1613"/>
              <a:ext cx="501"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MPA</a:t>
              </a:r>
            </a:p>
          </p:txBody>
        </p:sp>
        <p:sp>
          <p:nvSpPr>
            <p:cNvPr id="2557971" name="Rectangle 19"/>
            <p:cNvSpPr>
              <a:spLocks noChangeAspect="1" noChangeArrowheads="1"/>
            </p:cNvSpPr>
            <p:nvPr/>
          </p:nvSpPr>
          <p:spPr bwMode="auto">
            <a:xfrm>
              <a:off x="807" y="1301"/>
              <a:ext cx="500" cy="251"/>
            </a:xfrm>
            <a:prstGeom prst="rect">
              <a:avLst/>
            </a:prstGeom>
            <a:no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Com –</a:t>
              </a:r>
            </a:p>
            <a:p>
              <a:pPr>
                <a:lnSpc>
                  <a:spcPct val="80000"/>
                </a:lnSpc>
                <a:spcBef>
                  <a:spcPct val="20000"/>
                </a:spcBef>
                <a:buClr>
                  <a:srgbClr val="D9A207"/>
                </a:buClr>
                <a:buSzPct val="80000"/>
                <a:buFont typeface="Wingdings 2" pitchFamily="18" charset="2"/>
                <a:buNone/>
              </a:pPr>
              <a:r>
                <a:rPr lang="en-US" sz="1000">
                  <a:latin typeface="Tahoma" pitchFamily="34" charset="0"/>
                </a:rPr>
                <a:t>mission</a:t>
              </a:r>
            </a:p>
          </p:txBody>
        </p:sp>
        <p:sp>
          <p:nvSpPr>
            <p:cNvPr id="2557972" name="Rectangle 20"/>
            <p:cNvSpPr>
              <a:spLocks noChangeAspect="1" noChangeArrowheads="1"/>
            </p:cNvSpPr>
            <p:nvPr/>
          </p:nvSpPr>
          <p:spPr bwMode="auto">
            <a:xfrm>
              <a:off x="1349" y="1301"/>
              <a:ext cx="501" cy="251"/>
            </a:xfrm>
            <a:prstGeom prst="rect">
              <a:avLst/>
            </a:prstGeom>
            <a:noFill/>
            <a:ln w="12700">
              <a:solidFill>
                <a:schemeClr val="tx1"/>
              </a:solidFill>
              <a:miter lim="800000"/>
              <a:headEnd/>
              <a:tailEnd/>
            </a:ln>
            <a:effectLst/>
          </p:spPr>
          <p:txBody>
            <a:bodyPr wrap="none" anchor="ctr"/>
            <a:lstStyle/>
            <a:p>
              <a:pPr>
                <a:lnSpc>
                  <a:spcPct val="75000"/>
                </a:lnSpc>
                <a:spcBef>
                  <a:spcPct val="20000"/>
                </a:spcBef>
                <a:buClr>
                  <a:srgbClr val="D9A207"/>
                </a:buClr>
                <a:buSzPct val="80000"/>
                <a:buFont typeface="Wingdings 2" pitchFamily="18" charset="2"/>
                <a:buNone/>
              </a:pPr>
              <a:r>
                <a:rPr lang="en-US" sz="1000">
                  <a:latin typeface="Tahoma" pitchFamily="34" charset="0"/>
                </a:rPr>
                <a:t>New </a:t>
              </a:r>
            </a:p>
            <a:p>
              <a:pPr>
                <a:lnSpc>
                  <a:spcPct val="75000"/>
                </a:lnSpc>
                <a:spcBef>
                  <a:spcPct val="20000"/>
                </a:spcBef>
                <a:buClr>
                  <a:srgbClr val="D9A207"/>
                </a:buClr>
                <a:buSzPct val="80000"/>
                <a:buFont typeface="Wingdings 2" pitchFamily="18" charset="2"/>
                <a:buNone/>
              </a:pPr>
              <a:r>
                <a:rPr lang="en-US" sz="1000">
                  <a:latin typeface="Tahoma" pitchFamily="34" charset="0"/>
                </a:rPr>
                <a:t>Business</a:t>
              </a:r>
            </a:p>
          </p:txBody>
        </p:sp>
        <p:sp>
          <p:nvSpPr>
            <p:cNvPr id="2557973" name="Rectangle 21"/>
            <p:cNvSpPr>
              <a:spLocks noChangeAspect="1" noChangeArrowheads="1"/>
            </p:cNvSpPr>
            <p:nvPr/>
          </p:nvSpPr>
          <p:spPr bwMode="auto">
            <a:xfrm>
              <a:off x="1891" y="1301"/>
              <a:ext cx="501" cy="251"/>
            </a:xfrm>
            <a:prstGeom prst="rect">
              <a:avLst/>
            </a:prstGeom>
            <a:noFill/>
            <a:ln w="12700">
              <a:solidFill>
                <a:schemeClr val="tx1"/>
              </a:solidFill>
              <a:miter lim="800000"/>
              <a:headEnd/>
              <a:tailEnd/>
            </a:ln>
            <a:effectLst/>
          </p:spPr>
          <p:txBody>
            <a:bodyPr wrap="none" anchor="ctr"/>
            <a:lstStyle/>
            <a:p>
              <a:pPr>
                <a:lnSpc>
                  <a:spcPct val="75000"/>
                </a:lnSpc>
                <a:spcBef>
                  <a:spcPct val="20000"/>
                </a:spcBef>
                <a:buClr>
                  <a:srgbClr val="D9A207"/>
                </a:buClr>
                <a:buSzPct val="80000"/>
                <a:buFont typeface="Wingdings 2" pitchFamily="18" charset="2"/>
                <a:buNone/>
              </a:pPr>
              <a:r>
                <a:rPr lang="en-US" sz="1000">
                  <a:solidFill>
                    <a:srgbClr val="FF0000"/>
                  </a:solidFill>
                  <a:latin typeface="Tahoma" pitchFamily="34" charset="0"/>
                </a:rPr>
                <a:t>Fund </a:t>
              </a:r>
            </a:p>
            <a:p>
              <a:pPr>
                <a:lnSpc>
                  <a:spcPct val="75000"/>
                </a:lnSpc>
                <a:spcBef>
                  <a:spcPct val="20000"/>
                </a:spcBef>
                <a:buClr>
                  <a:srgbClr val="D9A207"/>
                </a:buClr>
                <a:buSzPct val="80000"/>
                <a:buFont typeface="Wingdings 2" pitchFamily="18" charset="2"/>
                <a:buNone/>
              </a:pPr>
              <a:r>
                <a:rPr lang="en-US" sz="1000">
                  <a:solidFill>
                    <a:srgbClr val="FF0000"/>
                  </a:solidFill>
                  <a:latin typeface="Tahoma" pitchFamily="34" charset="0"/>
                </a:rPr>
                <a:t>Exchange</a:t>
              </a:r>
            </a:p>
          </p:txBody>
        </p:sp>
        <p:sp>
          <p:nvSpPr>
            <p:cNvPr id="2557974" name="Rectangle 22"/>
            <p:cNvSpPr>
              <a:spLocks noChangeAspect="1" noChangeArrowheads="1"/>
            </p:cNvSpPr>
            <p:nvPr/>
          </p:nvSpPr>
          <p:spPr bwMode="auto">
            <a:xfrm>
              <a:off x="2433" y="1301"/>
              <a:ext cx="501"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Payout</a:t>
              </a:r>
            </a:p>
          </p:txBody>
        </p:sp>
        <p:sp>
          <p:nvSpPr>
            <p:cNvPr id="2557975" name="Rectangle 23"/>
            <p:cNvSpPr>
              <a:spLocks noChangeAspect="1" noChangeArrowheads="1"/>
            </p:cNvSpPr>
            <p:nvPr/>
          </p:nvSpPr>
          <p:spPr bwMode="auto">
            <a:xfrm>
              <a:off x="3517" y="1301"/>
              <a:ext cx="501"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Sales</a:t>
              </a:r>
            </a:p>
          </p:txBody>
        </p:sp>
        <p:sp>
          <p:nvSpPr>
            <p:cNvPr id="2557976" name="Rectangle 24"/>
            <p:cNvSpPr>
              <a:spLocks noChangeAspect="1" noChangeArrowheads="1"/>
            </p:cNvSpPr>
            <p:nvPr/>
          </p:nvSpPr>
          <p:spPr bwMode="auto">
            <a:xfrm>
              <a:off x="2976" y="1301"/>
              <a:ext cx="501"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Marketing</a:t>
              </a:r>
            </a:p>
          </p:txBody>
        </p:sp>
        <p:sp>
          <p:nvSpPr>
            <p:cNvPr id="2557977" name="Rectangle 25"/>
            <p:cNvSpPr>
              <a:spLocks noChangeAspect="1" noChangeArrowheads="1"/>
            </p:cNvSpPr>
            <p:nvPr/>
          </p:nvSpPr>
          <p:spPr bwMode="auto">
            <a:xfrm>
              <a:off x="4058" y="1301"/>
              <a:ext cx="501" cy="251"/>
            </a:xfrm>
            <a:prstGeom prst="rect">
              <a:avLst/>
            </a:prstGeom>
            <a:no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Legal</a:t>
              </a:r>
            </a:p>
          </p:txBody>
        </p:sp>
        <p:sp>
          <p:nvSpPr>
            <p:cNvPr id="2557978" name="Rectangle 26"/>
            <p:cNvSpPr>
              <a:spLocks noChangeAspect="1" noChangeArrowheads="1"/>
            </p:cNvSpPr>
            <p:nvPr/>
          </p:nvSpPr>
          <p:spPr bwMode="auto">
            <a:xfrm>
              <a:off x="4600" y="1299"/>
              <a:ext cx="501" cy="251"/>
            </a:xfrm>
            <a:prstGeom prst="rect">
              <a:avLst/>
            </a:prstGeom>
            <a:noFill/>
            <a:ln w="12700">
              <a:solidFill>
                <a:schemeClr val="tx1"/>
              </a:solidFill>
              <a:miter lim="800000"/>
              <a:headEnd/>
              <a:tailEnd/>
            </a:ln>
            <a:effectLst/>
          </p:spPr>
          <p:txBody>
            <a:bodyPr wrap="none" lIns="0" tIns="0" rIns="0" bIns="0" anchor="ctr"/>
            <a:lstStyle/>
            <a:p>
              <a:pPr>
                <a:spcBef>
                  <a:spcPct val="20000"/>
                </a:spcBef>
                <a:buClr>
                  <a:srgbClr val="D9A207"/>
                </a:buClr>
                <a:buSzPct val="80000"/>
                <a:buFont typeface="Wingdings 2" pitchFamily="18" charset="2"/>
                <a:buNone/>
              </a:pPr>
              <a:r>
                <a:rPr lang="en-US" sz="1000">
                  <a:latin typeface="Tahoma" pitchFamily="34" charset="0"/>
                </a:rPr>
                <a:t>529</a:t>
              </a:r>
            </a:p>
          </p:txBody>
        </p:sp>
      </p:grpSp>
      <p:grpSp>
        <p:nvGrpSpPr>
          <p:cNvPr id="2558039" name="Group 87"/>
          <p:cNvGrpSpPr>
            <a:grpSpLocks/>
          </p:cNvGrpSpPr>
          <p:nvPr/>
        </p:nvGrpSpPr>
        <p:grpSpPr bwMode="auto">
          <a:xfrm>
            <a:off x="704850" y="3273425"/>
            <a:ext cx="7758113" cy="1430338"/>
            <a:chOff x="444" y="2062"/>
            <a:chExt cx="4887" cy="901"/>
          </a:xfrm>
        </p:grpSpPr>
        <p:sp>
          <p:nvSpPr>
            <p:cNvPr id="2557980" name="Text Box 28"/>
            <p:cNvSpPr txBox="1">
              <a:spLocks noChangeAspect="1" noChangeArrowheads="1"/>
            </p:cNvSpPr>
            <p:nvPr/>
          </p:nvSpPr>
          <p:spPr bwMode="auto">
            <a:xfrm>
              <a:off x="444" y="2361"/>
              <a:ext cx="236" cy="272"/>
            </a:xfrm>
            <a:prstGeom prst="rect">
              <a:avLst/>
            </a:prstGeom>
            <a:solidFill>
              <a:srgbClr val="BBD2FF"/>
            </a:solidFill>
            <a:ln w="12700" cap="rnd">
              <a:noFill/>
              <a:prstDash val="sysDot"/>
              <a:miter lim="800000"/>
              <a:headEnd/>
              <a:tailEnd/>
            </a:ln>
            <a:effectLst/>
          </p:spPr>
          <p:txBody>
            <a:bodyPr wrap="none"/>
            <a:lstStyle/>
            <a:p>
              <a:pPr>
                <a:buClr>
                  <a:srgbClr val="D9A207"/>
                </a:buClr>
                <a:buSzPct val="80000"/>
                <a:buFont typeface="Wingdings 2" pitchFamily="18" charset="2"/>
                <a:buNone/>
              </a:pPr>
              <a:r>
                <a:rPr lang="en-US" sz="1200" b="1"/>
                <a:t>Infra</a:t>
              </a:r>
            </a:p>
            <a:p>
              <a:pPr>
                <a:buClr>
                  <a:srgbClr val="D9A207"/>
                </a:buClr>
                <a:buSzPct val="80000"/>
                <a:buFont typeface="Wingdings 2" pitchFamily="18" charset="2"/>
                <a:buNone/>
              </a:pPr>
              <a:r>
                <a:rPr lang="en-US" sz="1200" b="1"/>
                <a:t>Tier</a:t>
              </a:r>
            </a:p>
          </p:txBody>
        </p:sp>
        <p:sp>
          <p:nvSpPr>
            <p:cNvPr id="2557981" name="Rectangle 29"/>
            <p:cNvSpPr>
              <a:spLocks noChangeAspect="1" noChangeArrowheads="1"/>
            </p:cNvSpPr>
            <p:nvPr/>
          </p:nvSpPr>
          <p:spPr bwMode="auto">
            <a:xfrm>
              <a:off x="675" y="2062"/>
              <a:ext cx="4656" cy="901"/>
            </a:xfrm>
            <a:prstGeom prst="rect">
              <a:avLst/>
            </a:prstGeom>
            <a:solidFill>
              <a:srgbClr val="BBD2FF"/>
            </a:solidFill>
            <a:ln w="12700" cap="rnd">
              <a:noFill/>
              <a:prstDash val="sysDot"/>
              <a:miter lim="800000"/>
              <a:headEnd/>
              <a:tailEnd/>
            </a:ln>
            <a:effectLst/>
          </p:spPr>
          <p:txBody>
            <a:bodyPr wrap="none" anchor="ctr"/>
            <a:lstStyle/>
            <a:p>
              <a:endParaRPr lang="en-US" sz="1000">
                <a:latin typeface="Times New Roman" pitchFamily="18" charset="0"/>
              </a:endParaRPr>
            </a:p>
          </p:txBody>
        </p:sp>
        <p:sp>
          <p:nvSpPr>
            <p:cNvPr id="2557982" name="Rectangle 30"/>
            <p:cNvSpPr>
              <a:spLocks noChangeArrowheads="1"/>
            </p:cNvSpPr>
            <p:nvPr/>
          </p:nvSpPr>
          <p:spPr bwMode="auto">
            <a:xfrm>
              <a:off x="4312" y="2136"/>
              <a:ext cx="936" cy="760"/>
            </a:xfrm>
            <a:prstGeom prst="rect">
              <a:avLst/>
            </a:prstGeom>
            <a:solidFill>
              <a:schemeClr val="bg1">
                <a:alpha val="50000"/>
              </a:schemeClr>
            </a:solidFill>
            <a:ln w="3175">
              <a:noFill/>
              <a:miter lim="800000"/>
              <a:headEnd/>
              <a:tailEnd/>
            </a:ln>
            <a:effectLst/>
          </p:spPr>
          <p:txBody>
            <a:bodyPr wrap="none" tIns="9144"/>
            <a:lstStyle/>
            <a:p>
              <a:r>
                <a:rPr lang="en-US" sz="1000" b="1">
                  <a:latin typeface="Tahoma" pitchFamily="34" charset="0"/>
                </a:rPr>
                <a:t>Process Mgt. Services</a:t>
              </a:r>
            </a:p>
          </p:txBody>
        </p:sp>
        <p:sp>
          <p:nvSpPr>
            <p:cNvPr id="2557983" name="Rectangle 31"/>
            <p:cNvSpPr>
              <a:spLocks noChangeArrowheads="1"/>
            </p:cNvSpPr>
            <p:nvPr/>
          </p:nvSpPr>
          <p:spPr bwMode="auto">
            <a:xfrm>
              <a:off x="2768" y="2136"/>
              <a:ext cx="1440" cy="760"/>
            </a:xfrm>
            <a:prstGeom prst="rect">
              <a:avLst/>
            </a:prstGeom>
            <a:solidFill>
              <a:schemeClr val="bg1">
                <a:alpha val="50000"/>
              </a:schemeClr>
            </a:solidFill>
            <a:ln w="3175">
              <a:noFill/>
              <a:miter lim="800000"/>
              <a:headEnd/>
              <a:tailEnd/>
            </a:ln>
            <a:effectLst/>
          </p:spPr>
          <p:txBody>
            <a:bodyPr wrap="none" tIns="9144"/>
            <a:lstStyle/>
            <a:p>
              <a:r>
                <a:rPr lang="en-US" sz="1000" b="1">
                  <a:latin typeface="Tahoma" pitchFamily="34" charset="0"/>
                </a:rPr>
                <a:t>Web Security Services (WSS)</a:t>
              </a:r>
            </a:p>
          </p:txBody>
        </p:sp>
        <p:sp>
          <p:nvSpPr>
            <p:cNvPr id="2557984" name="Rectangle 32"/>
            <p:cNvSpPr>
              <a:spLocks noChangeArrowheads="1"/>
            </p:cNvSpPr>
            <p:nvPr/>
          </p:nvSpPr>
          <p:spPr bwMode="auto">
            <a:xfrm>
              <a:off x="744" y="2136"/>
              <a:ext cx="1920" cy="760"/>
            </a:xfrm>
            <a:prstGeom prst="rect">
              <a:avLst/>
            </a:prstGeom>
            <a:solidFill>
              <a:schemeClr val="bg1">
                <a:alpha val="50000"/>
              </a:schemeClr>
            </a:solidFill>
            <a:ln w="3175">
              <a:noFill/>
              <a:prstDash val="dash"/>
              <a:miter lim="800000"/>
              <a:headEnd/>
              <a:tailEnd/>
            </a:ln>
            <a:effectLst/>
          </p:spPr>
          <p:txBody>
            <a:bodyPr wrap="none" tIns="9144"/>
            <a:lstStyle/>
            <a:p>
              <a:r>
                <a:rPr lang="en-US" sz="1000" b="1">
                  <a:latin typeface="Tahoma" pitchFamily="34" charset="0"/>
                </a:rPr>
                <a:t>Quality of Service (QoS) Services</a:t>
              </a:r>
            </a:p>
          </p:txBody>
        </p:sp>
        <p:sp>
          <p:nvSpPr>
            <p:cNvPr id="2557985" name="Rectangle 33"/>
            <p:cNvSpPr>
              <a:spLocks noChangeAspect="1" noChangeArrowheads="1"/>
            </p:cNvSpPr>
            <p:nvPr/>
          </p:nvSpPr>
          <p:spPr bwMode="auto">
            <a:xfrm>
              <a:off x="775" y="2588"/>
              <a:ext cx="330" cy="250"/>
            </a:xfrm>
            <a:prstGeom prst="rect">
              <a:avLst/>
            </a:prstGeom>
            <a:solidFill>
              <a:srgbClr val="BBD2FF"/>
            </a:solidFill>
            <a:ln w="3175">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Sub-</a:t>
              </a:r>
            </a:p>
            <a:p>
              <a:pPr>
                <a:lnSpc>
                  <a:spcPct val="80000"/>
                </a:lnSpc>
                <a:spcBef>
                  <a:spcPct val="20000"/>
                </a:spcBef>
                <a:buClr>
                  <a:srgbClr val="D9A207"/>
                </a:buClr>
                <a:buSzPct val="80000"/>
                <a:buFont typeface="Wingdings 2" pitchFamily="18" charset="2"/>
                <a:buNone/>
              </a:pPr>
              <a:r>
                <a:rPr lang="en-US" sz="1000">
                  <a:latin typeface="Tahoma" pitchFamily="34" charset="0"/>
                </a:rPr>
                <a:t>scribe</a:t>
              </a:r>
            </a:p>
          </p:txBody>
        </p:sp>
        <p:sp>
          <p:nvSpPr>
            <p:cNvPr id="2557986" name="Rectangle 34"/>
            <p:cNvSpPr>
              <a:spLocks noChangeAspect="1" noChangeArrowheads="1"/>
            </p:cNvSpPr>
            <p:nvPr/>
          </p:nvSpPr>
          <p:spPr bwMode="auto">
            <a:xfrm>
              <a:off x="1660" y="2588"/>
              <a:ext cx="503"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Exception</a:t>
              </a:r>
            </a:p>
            <a:p>
              <a:pPr>
                <a:lnSpc>
                  <a:spcPct val="80000"/>
                </a:lnSpc>
                <a:spcBef>
                  <a:spcPct val="20000"/>
                </a:spcBef>
                <a:buClr>
                  <a:srgbClr val="D9A207"/>
                </a:buClr>
                <a:buSzPct val="80000"/>
                <a:buFont typeface="Wingdings 2" pitchFamily="18" charset="2"/>
                <a:buNone/>
              </a:pPr>
              <a:r>
                <a:rPr lang="en-US" sz="1000">
                  <a:latin typeface="Tahoma" pitchFamily="34" charset="0"/>
                </a:rPr>
                <a:t>Handling</a:t>
              </a:r>
            </a:p>
          </p:txBody>
        </p:sp>
        <p:sp>
          <p:nvSpPr>
            <p:cNvPr id="2557987" name="Rectangle 35"/>
            <p:cNvSpPr>
              <a:spLocks noChangeAspect="1" noChangeArrowheads="1"/>
            </p:cNvSpPr>
            <p:nvPr/>
          </p:nvSpPr>
          <p:spPr bwMode="auto">
            <a:xfrm>
              <a:off x="775" y="2291"/>
              <a:ext cx="330" cy="250"/>
            </a:xfrm>
            <a:prstGeom prst="rect">
              <a:avLst/>
            </a:prstGeom>
            <a:solidFill>
              <a:srgbClr val="BBD2FF"/>
            </a:solid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Publish</a:t>
              </a:r>
            </a:p>
          </p:txBody>
        </p:sp>
        <p:sp>
          <p:nvSpPr>
            <p:cNvPr id="2557988" name="Rectangle 36"/>
            <p:cNvSpPr>
              <a:spLocks noChangeAspect="1" noChangeArrowheads="1"/>
            </p:cNvSpPr>
            <p:nvPr/>
          </p:nvSpPr>
          <p:spPr bwMode="auto">
            <a:xfrm>
              <a:off x="1151" y="2291"/>
              <a:ext cx="474"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solidFill>
                    <a:srgbClr val="FF0000"/>
                  </a:solidFill>
                  <a:latin typeface="Tahoma" pitchFamily="34" charset="0"/>
                </a:rPr>
                <a:t>Monitoring</a:t>
              </a:r>
            </a:p>
          </p:txBody>
        </p:sp>
        <p:sp>
          <p:nvSpPr>
            <p:cNvPr id="2557989" name="Rectangle 37"/>
            <p:cNvSpPr>
              <a:spLocks noChangeAspect="1" noChangeArrowheads="1"/>
            </p:cNvSpPr>
            <p:nvPr/>
          </p:nvSpPr>
          <p:spPr bwMode="auto">
            <a:xfrm>
              <a:off x="1658" y="2291"/>
              <a:ext cx="510" cy="250"/>
            </a:xfrm>
            <a:prstGeom prst="rect">
              <a:avLst/>
            </a:prstGeom>
            <a:solidFill>
              <a:srgbClr val="BBD2FF"/>
            </a:solidFill>
            <a:ln w="12700">
              <a:solidFill>
                <a:schemeClr val="tx1"/>
              </a:solidFill>
              <a:miter lim="800000"/>
              <a:headEnd/>
              <a:tailEnd/>
            </a:ln>
            <a:effectLst/>
          </p:spPr>
          <p:txBody>
            <a:bodyPr wrap="none" tIns="91440" anchor="ctr"/>
            <a:lstStyle/>
            <a:p>
              <a:pPr>
                <a:lnSpc>
                  <a:spcPct val="60000"/>
                </a:lnSpc>
                <a:spcBef>
                  <a:spcPct val="20000"/>
                </a:spcBef>
                <a:buClr>
                  <a:srgbClr val="D9A207"/>
                </a:buClr>
                <a:buSzPct val="80000"/>
                <a:buFont typeface="Wingdings 2" pitchFamily="18" charset="2"/>
                <a:buNone/>
              </a:pPr>
              <a:r>
                <a:rPr lang="en-US" sz="1000">
                  <a:solidFill>
                    <a:srgbClr val="FF0000"/>
                  </a:solidFill>
                  <a:latin typeface="Tahoma" pitchFamily="34" charset="0"/>
                </a:rPr>
                <a:t>Event </a:t>
              </a:r>
            </a:p>
            <a:p>
              <a:pPr>
                <a:lnSpc>
                  <a:spcPct val="60000"/>
                </a:lnSpc>
                <a:spcBef>
                  <a:spcPct val="20000"/>
                </a:spcBef>
                <a:buClr>
                  <a:srgbClr val="D9A207"/>
                </a:buClr>
                <a:buSzPct val="80000"/>
                <a:buFont typeface="Wingdings 2" pitchFamily="18" charset="2"/>
                <a:buNone/>
              </a:pPr>
              <a:r>
                <a:rPr lang="en-US" sz="1000">
                  <a:solidFill>
                    <a:srgbClr val="FF0000"/>
                  </a:solidFill>
                  <a:latin typeface="Tahoma" pitchFamily="34" charset="0"/>
                </a:rPr>
                <a:t>Monitoring &amp;</a:t>
              </a:r>
            </a:p>
            <a:p>
              <a:pPr>
                <a:lnSpc>
                  <a:spcPct val="60000"/>
                </a:lnSpc>
                <a:spcBef>
                  <a:spcPct val="20000"/>
                </a:spcBef>
                <a:buClr>
                  <a:srgbClr val="D9A207"/>
                </a:buClr>
                <a:buSzPct val="80000"/>
                <a:buFont typeface="Wingdings 2" pitchFamily="18" charset="2"/>
                <a:buNone/>
              </a:pPr>
              <a:r>
                <a:rPr lang="en-US" sz="1000">
                  <a:solidFill>
                    <a:srgbClr val="FF0000"/>
                  </a:solidFill>
                  <a:latin typeface="Tahoma" pitchFamily="34" charset="0"/>
                </a:rPr>
                <a:t>Notification</a:t>
              </a:r>
            </a:p>
          </p:txBody>
        </p:sp>
        <p:sp>
          <p:nvSpPr>
            <p:cNvPr id="2557990" name="Rectangle 38"/>
            <p:cNvSpPr>
              <a:spLocks noChangeAspect="1" noChangeArrowheads="1"/>
            </p:cNvSpPr>
            <p:nvPr/>
          </p:nvSpPr>
          <p:spPr bwMode="auto">
            <a:xfrm>
              <a:off x="1153" y="2587"/>
              <a:ext cx="468" cy="250"/>
            </a:xfrm>
            <a:prstGeom prst="rect">
              <a:avLst/>
            </a:prstGeom>
            <a:solidFill>
              <a:srgbClr val="BBD2FF"/>
            </a:solidFill>
            <a:ln w="12700">
              <a:solidFill>
                <a:schemeClr val="tx1"/>
              </a:solidFill>
              <a:miter lim="800000"/>
              <a:headEnd/>
              <a:tailEnd/>
            </a:ln>
            <a:effectLst/>
          </p:spPr>
          <p:txBody>
            <a:bodyPr wrap="none" lIns="45720" rIns="45720" anchor="ctr"/>
            <a:lstStyle/>
            <a:p>
              <a:pPr>
                <a:spcBef>
                  <a:spcPct val="20000"/>
                </a:spcBef>
                <a:buClr>
                  <a:srgbClr val="D9A207"/>
                </a:buClr>
                <a:buSzPct val="80000"/>
                <a:buFont typeface="Wingdings 2" pitchFamily="18" charset="2"/>
                <a:buNone/>
              </a:pPr>
              <a:r>
                <a:rPr lang="en-US" sz="1000">
                  <a:solidFill>
                    <a:srgbClr val="FF0000"/>
                  </a:solidFill>
                  <a:latin typeface="Tahoma" pitchFamily="34" charset="0"/>
                </a:rPr>
                <a:t>Messaging</a:t>
              </a:r>
            </a:p>
          </p:txBody>
        </p:sp>
        <p:sp>
          <p:nvSpPr>
            <p:cNvPr id="2557991" name="Rectangle 39"/>
            <p:cNvSpPr>
              <a:spLocks noChangeAspect="1" noChangeArrowheads="1"/>
            </p:cNvSpPr>
            <p:nvPr/>
          </p:nvSpPr>
          <p:spPr bwMode="auto">
            <a:xfrm>
              <a:off x="2201" y="2291"/>
              <a:ext cx="405"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Failover</a:t>
              </a:r>
            </a:p>
          </p:txBody>
        </p:sp>
        <p:sp>
          <p:nvSpPr>
            <p:cNvPr id="2557992" name="Rectangle 40"/>
            <p:cNvSpPr>
              <a:spLocks noChangeAspect="1" noChangeArrowheads="1"/>
            </p:cNvSpPr>
            <p:nvPr/>
          </p:nvSpPr>
          <p:spPr bwMode="auto">
            <a:xfrm>
              <a:off x="2211" y="2592"/>
              <a:ext cx="391" cy="251"/>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Load</a:t>
              </a:r>
            </a:p>
            <a:p>
              <a:pPr>
                <a:lnSpc>
                  <a:spcPct val="80000"/>
                </a:lnSpc>
                <a:spcBef>
                  <a:spcPct val="20000"/>
                </a:spcBef>
                <a:buClr>
                  <a:srgbClr val="D9A207"/>
                </a:buClr>
                <a:buSzPct val="80000"/>
                <a:buFont typeface="Wingdings 2" pitchFamily="18" charset="2"/>
                <a:buNone/>
              </a:pPr>
              <a:r>
                <a:rPr lang="en-US" sz="1000">
                  <a:latin typeface="Tahoma" pitchFamily="34" charset="0"/>
                </a:rPr>
                <a:t>Balancing</a:t>
              </a:r>
            </a:p>
          </p:txBody>
        </p:sp>
        <p:sp>
          <p:nvSpPr>
            <p:cNvPr id="2557993" name="Rectangle 41"/>
            <p:cNvSpPr>
              <a:spLocks noChangeAspect="1" noChangeArrowheads="1"/>
            </p:cNvSpPr>
            <p:nvPr/>
          </p:nvSpPr>
          <p:spPr bwMode="auto">
            <a:xfrm>
              <a:off x="3313" y="2260"/>
              <a:ext cx="389"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Authen-</a:t>
              </a:r>
            </a:p>
            <a:p>
              <a:pPr>
                <a:lnSpc>
                  <a:spcPct val="80000"/>
                </a:lnSpc>
                <a:spcBef>
                  <a:spcPct val="20000"/>
                </a:spcBef>
                <a:buClr>
                  <a:srgbClr val="D9A207"/>
                </a:buClr>
                <a:buSzPct val="80000"/>
                <a:buFont typeface="Wingdings 2" pitchFamily="18" charset="2"/>
                <a:buNone/>
              </a:pPr>
              <a:r>
                <a:rPr lang="en-US" sz="1000">
                  <a:latin typeface="Tahoma" pitchFamily="34" charset="0"/>
                </a:rPr>
                <a:t>ticate</a:t>
              </a:r>
            </a:p>
          </p:txBody>
        </p:sp>
        <p:sp>
          <p:nvSpPr>
            <p:cNvPr id="2557994" name="Rectangle 42"/>
            <p:cNvSpPr>
              <a:spLocks noChangeAspect="1" noChangeArrowheads="1"/>
            </p:cNvSpPr>
            <p:nvPr/>
          </p:nvSpPr>
          <p:spPr bwMode="auto">
            <a:xfrm>
              <a:off x="3767" y="2586"/>
              <a:ext cx="381" cy="250"/>
            </a:xfrm>
            <a:prstGeom prst="rect">
              <a:avLst/>
            </a:prstGeom>
            <a:solidFill>
              <a:srgbClr val="BBD2FF"/>
            </a:solid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Directory</a:t>
              </a:r>
            </a:p>
          </p:txBody>
        </p:sp>
        <p:sp>
          <p:nvSpPr>
            <p:cNvPr id="2557995" name="Rectangle 43"/>
            <p:cNvSpPr>
              <a:spLocks noChangeAspect="1" noChangeArrowheads="1"/>
            </p:cNvSpPr>
            <p:nvPr/>
          </p:nvSpPr>
          <p:spPr bwMode="auto">
            <a:xfrm>
              <a:off x="3314" y="2587"/>
              <a:ext cx="389" cy="250"/>
            </a:xfrm>
            <a:prstGeom prst="rect">
              <a:avLst/>
            </a:prstGeom>
            <a:solidFill>
              <a:srgbClr val="BBD2FF"/>
            </a:solidFill>
            <a:ln w="12700">
              <a:solidFill>
                <a:schemeClr val="tx1"/>
              </a:solidFill>
              <a:miter lim="800000"/>
              <a:headEnd/>
              <a:tailEnd/>
            </a:ln>
            <a:effectLst/>
          </p:spPr>
          <p:txBody>
            <a:bodyPr wrap="none" tIns="64008" anchor="ctr"/>
            <a:lstStyle/>
            <a:p>
              <a:pPr eaLnBrk="0" hangingPunct="0"/>
              <a:r>
                <a:rPr lang="en-US" sz="1000">
                  <a:latin typeface="Tahoma" pitchFamily="34" charset="0"/>
                </a:rPr>
                <a:t>Authorize</a:t>
              </a:r>
            </a:p>
          </p:txBody>
        </p:sp>
        <p:sp>
          <p:nvSpPr>
            <p:cNvPr id="2557996" name="Rectangle 44"/>
            <p:cNvSpPr>
              <a:spLocks noChangeAspect="1" noChangeArrowheads="1"/>
            </p:cNvSpPr>
            <p:nvPr/>
          </p:nvSpPr>
          <p:spPr bwMode="auto">
            <a:xfrm>
              <a:off x="2815" y="2267"/>
              <a:ext cx="437"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Identity</a:t>
              </a:r>
            </a:p>
            <a:p>
              <a:pPr>
                <a:lnSpc>
                  <a:spcPct val="80000"/>
                </a:lnSpc>
                <a:spcBef>
                  <a:spcPct val="20000"/>
                </a:spcBef>
                <a:buClr>
                  <a:srgbClr val="D9A207"/>
                </a:buClr>
                <a:buSzPct val="80000"/>
                <a:buFont typeface="Wingdings 2" pitchFamily="18" charset="2"/>
                <a:buNone/>
              </a:pPr>
              <a:r>
                <a:rPr lang="en-US" sz="1000">
                  <a:latin typeface="Tahoma" pitchFamily="34" charset="0"/>
                </a:rPr>
                <a:t>Mgt. / SSO</a:t>
              </a:r>
            </a:p>
          </p:txBody>
        </p:sp>
        <p:sp>
          <p:nvSpPr>
            <p:cNvPr id="2557997" name="Rectangle 45"/>
            <p:cNvSpPr>
              <a:spLocks noChangeAspect="1" noChangeArrowheads="1"/>
            </p:cNvSpPr>
            <p:nvPr/>
          </p:nvSpPr>
          <p:spPr bwMode="auto">
            <a:xfrm>
              <a:off x="3767" y="2264"/>
              <a:ext cx="388" cy="251"/>
            </a:xfrm>
            <a:prstGeom prst="rect">
              <a:avLst/>
            </a:prstGeom>
            <a:solidFill>
              <a:srgbClr val="BBD2FF"/>
            </a:solid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Discovery</a:t>
              </a:r>
            </a:p>
          </p:txBody>
        </p:sp>
        <p:sp>
          <p:nvSpPr>
            <p:cNvPr id="2557998" name="Rectangle 46"/>
            <p:cNvSpPr>
              <a:spLocks noChangeAspect="1" noChangeArrowheads="1"/>
            </p:cNvSpPr>
            <p:nvPr/>
          </p:nvSpPr>
          <p:spPr bwMode="auto">
            <a:xfrm>
              <a:off x="2815" y="2587"/>
              <a:ext cx="437"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Group </a:t>
              </a:r>
            </a:p>
            <a:p>
              <a:pPr>
                <a:lnSpc>
                  <a:spcPct val="80000"/>
                </a:lnSpc>
                <a:spcBef>
                  <a:spcPct val="20000"/>
                </a:spcBef>
                <a:buClr>
                  <a:srgbClr val="D9A207"/>
                </a:buClr>
                <a:buSzPct val="80000"/>
                <a:buFont typeface="Wingdings 2" pitchFamily="18" charset="2"/>
                <a:buNone/>
              </a:pPr>
              <a:r>
                <a:rPr lang="en-US" sz="1000">
                  <a:latin typeface="Tahoma" pitchFamily="34" charset="0"/>
                </a:rPr>
                <a:t>Policy Mgt.</a:t>
              </a:r>
            </a:p>
          </p:txBody>
        </p:sp>
        <p:sp>
          <p:nvSpPr>
            <p:cNvPr id="2557999" name="Rectangle 47"/>
            <p:cNvSpPr>
              <a:spLocks noChangeAspect="1" noChangeArrowheads="1"/>
            </p:cNvSpPr>
            <p:nvPr/>
          </p:nvSpPr>
          <p:spPr bwMode="auto">
            <a:xfrm>
              <a:off x="4376" y="2588"/>
              <a:ext cx="405" cy="250"/>
            </a:xfrm>
            <a:prstGeom prst="rect">
              <a:avLst/>
            </a:prstGeom>
            <a:solidFill>
              <a:srgbClr val="BBD2FF"/>
            </a:solidFill>
            <a:ln w="12700">
              <a:solidFill>
                <a:schemeClr val="tx1"/>
              </a:solidFill>
              <a:miter lim="800000"/>
              <a:headEnd/>
              <a:tailEnd/>
            </a:ln>
            <a:effectLst/>
          </p:spPr>
          <p:txBody>
            <a:bodyPr wrap="none" anchor="ctr"/>
            <a:lstStyle/>
            <a:p>
              <a:pPr>
                <a:spcBef>
                  <a:spcPct val="20000"/>
                </a:spcBef>
                <a:buClr>
                  <a:srgbClr val="D9A207"/>
                </a:buClr>
                <a:buSzPct val="80000"/>
                <a:buFont typeface="Wingdings 2" pitchFamily="18" charset="2"/>
                <a:buNone/>
              </a:pPr>
              <a:r>
                <a:rPr lang="en-US" sz="1000">
                  <a:latin typeface="Tahoma" pitchFamily="34" charset="0"/>
                </a:rPr>
                <a:t>Reporting</a:t>
              </a:r>
            </a:p>
          </p:txBody>
        </p:sp>
        <p:sp>
          <p:nvSpPr>
            <p:cNvPr id="2558000" name="Rectangle 48"/>
            <p:cNvSpPr>
              <a:spLocks noChangeAspect="1" noChangeArrowheads="1"/>
            </p:cNvSpPr>
            <p:nvPr/>
          </p:nvSpPr>
          <p:spPr bwMode="auto">
            <a:xfrm>
              <a:off x="4375" y="2260"/>
              <a:ext cx="405" cy="250"/>
            </a:xfrm>
            <a:prstGeom prst="rect">
              <a:avLst/>
            </a:prstGeom>
            <a:solidFill>
              <a:srgbClr val="BBD2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Disaster</a:t>
              </a:r>
            </a:p>
            <a:p>
              <a:pPr>
                <a:lnSpc>
                  <a:spcPct val="80000"/>
                </a:lnSpc>
                <a:spcBef>
                  <a:spcPct val="20000"/>
                </a:spcBef>
                <a:buClr>
                  <a:srgbClr val="D9A207"/>
                </a:buClr>
                <a:buSzPct val="80000"/>
                <a:buFont typeface="Wingdings 2" pitchFamily="18" charset="2"/>
                <a:buNone/>
              </a:pPr>
              <a:r>
                <a:rPr lang="en-US" sz="1000">
                  <a:latin typeface="Tahoma" pitchFamily="34" charset="0"/>
                </a:rPr>
                <a:t>Recovery</a:t>
              </a:r>
            </a:p>
          </p:txBody>
        </p:sp>
        <p:sp>
          <p:nvSpPr>
            <p:cNvPr id="2558001" name="Rectangle 49"/>
            <p:cNvSpPr>
              <a:spLocks noChangeAspect="1" noChangeArrowheads="1"/>
            </p:cNvSpPr>
            <p:nvPr/>
          </p:nvSpPr>
          <p:spPr bwMode="auto">
            <a:xfrm>
              <a:off x="4839" y="2264"/>
              <a:ext cx="309" cy="251"/>
            </a:xfrm>
            <a:prstGeom prst="rect">
              <a:avLst/>
            </a:prstGeom>
            <a:solidFill>
              <a:srgbClr val="BBD2FF"/>
            </a:solidFill>
            <a:ln w="12700">
              <a:solidFill>
                <a:schemeClr val="tx1"/>
              </a:solidFill>
              <a:miter lim="800000"/>
              <a:headEnd/>
              <a:tailEnd/>
            </a:ln>
            <a:effectLst/>
          </p:spPr>
          <p:txBody>
            <a:bodyPr wrap="none" anchor="ctr"/>
            <a:lstStyle/>
            <a:p>
              <a:pPr>
                <a:lnSpc>
                  <a:spcPct val="50000"/>
                </a:lnSpc>
                <a:spcBef>
                  <a:spcPct val="20000"/>
                </a:spcBef>
                <a:buClr>
                  <a:srgbClr val="D9A207"/>
                </a:buClr>
                <a:buSzPct val="80000"/>
                <a:buFont typeface="Wingdings 2" pitchFamily="18" charset="2"/>
                <a:buNone/>
              </a:pPr>
              <a:r>
                <a:rPr lang="en-US" sz="1000">
                  <a:solidFill>
                    <a:srgbClr val="FF0000"/>
                  </a:solidFill>
                  <a:latin typeface="Tahoma" pitchFamily="34" charset="0"/>
                </a:rPr>
                <a:t>OTA</a:t>
              </a:r>
            </a:p>
          </p:txBody>
        </p:sp>
        <p:sp>
          <p:nvSpPr>
            <p:cNvPr id="2558002" name="Rectangle 50"/>
            <p:cNvSpPr>
              <a:spLocks noChangeAspect="1" noChangeArrowheads="1"/>
            </p:cNvSpPr>
            <p:nvPr/>
          </p:nvSpPr>
          <p:spPr bwMode="auto">
            <a:xfrm>
              <a:off x="4839" y="2592"/>
              <a:ext cx="309" cy="251"/>
            </a:xfrm>
            <a:prstGeom prst="rect">
              <a:avLst/>
            </a:prstGeom>
            <a:solidFill>
              <a:srgbClr val="BBD2FF"/>
            </a:solidFill>
            <a:ln w="12700">
              <a:solidFill>
                <a:schemeClr val="tx1"/>
              </a:solidFill>
              <a:miter lim="800000"/>
              <a:headEnd/>
              <a:tailEnd/>
            </a:ln>
            <a:effectLst/>
          </p:spPr>
          <p:txBody>
            <a:bodyPr wrap="none" anchor="ctr"/>
            <a:lstStyle/>
            <a:p>
              <a:pPr>
                <a:lnSpc>
                  <a:spcPct val="50000"/>
                </a:lnSpc>
                <a:spcBef>
                  <a:spcPct val="20000"/>
                </a:spcBef>
                <a:buClr>
                  <a:srgbClr val="D9A207"/>
                </a:buClr>
                <a:buSzPct val="80000"/>
                <a:buFont typeface="Wingdings 2" pitchFamily="18" charset="2"/>
                <a:buNone/>
              </a:pPr>
              <a:r>
                <a:rPr lang="en-US" sz="1000">
                  <a:latin typeface="Tahoma" pitchFamily="34" charset="0"/>
                </a:rPr>
                <a:t>Work</a:t>
              </a:r>
            </a:p>
            <a:p>
              <a:pPr>
                <a:lnSpc>
                  <a:spcPct val="50000"/>
                </a:lnSpc>
                <a:spcBef>
                  <a:spcPct val="20000"/>
                </a:spcBef>
                <a:buClr>
                  <a:srgbClr val="D9A207"/>
                </a:buClr>
                <a:buSzPct val="80000"/>
                <a:buFont typeface="Wingdings 2" pitchFamily="18" charset="2"/>
                <a:buNone/>
              </a:pPr>
              <a:r>
                <a:rPr lang="en-US" sz="1000">
                  <a:latin typeface="Tahoma" pitchFamily="34" charset="0"/>
                </a:rPr>
                <a:t>Flow</a:t>
              </a:r>
            </a:p>
          </p:txBody>
        </p:sp>
      </p:grpSp>
      <p:grpSp>
        <p:nvGrpSpPr>
          <p:cNvPr id="2558003" name="Group 51"/>
          <p:cNvGrpSpPr>
            <a:grpSpLocks/>
          </p:cNvGrpSpPr>
          <p:nvPr/>
        </p:nvGrpSpPr>
        <p:grpSpPr bwMode="auto">
          <a:xfrm>
            <a:off x="673100" y="4832350"/>
            <a:ext cx="7789863" cy="1379538"/>
            <a:chOff x="424" y="3044"/>
            <a:chExt cx="4907" cy="869"/>
          </a:xfrm>
        </p:grpSpPr>
        <p:sp>
          <p:nvSpPr>
            <p:cNvPr id="2558004" name="Text Box 52"/>
            <p:cNvSpPr txBox="1">
              <a:spLocks noChangeAspect="1" noChangeArrowheads="1"/>
            </p:cNvSpPr>
            <p:nvPr/>
          </p:nvSpPr>
          <p:spPr bwMode="auto">
            <a:xfrm>
              <a:off x="424" y="3342"/>
              <a:ext cx="265" cy="240"/>
            </a:xfrm>
            <a:prstGeom prst="rect">
              <a:avLst/>
            </a:prstGeom>
            <a:solidFill>
              <a:srgbClr val="BBE8FF"/>
            </a:solidFill>
            <a:ln w="12700" cap="rnd">
              <a:noFill/>
              <a:prstDash val="sysDot"/>
              <a:miter lim="800000"/>
              <a:headEnd/>
              <a:tailEnd/>
            </a:ln>
            <a:effectLst/>
          </p:spPr>
          <p:txBody>
            <a:bodyPr wrap="none"/>
            <a:lstStyle/>
            <a:p>
              <a:pPr>
                <a:buClr>
                  <a:srgbClr val="D9A207"/>
                </a:buClr>
                <a:buSzPct val="80000"/>
                <a:buFont typeface="Wingdings 2" pitchFamily="18" charset="2"/>
                <a:buNone/>
              </a:pPr>
              <a:r>
                <a:rPr lang="en-US" sz="1200" b="1"/>
                <a:t>Data</a:t>
              </a:r>
            </a:p>
            <a:p>
              <a:pPr>
                <a:buClr>
                  <a:srgbClr val="D9A207"/>
                </a:buClr>
                <a:buSzPct val="80000"/>
                <a:buFont typeface="Wingdings 2" pitchFamily="18" charset="2"/>
                <a:buNone/>
              </a:pPr>
              <a:r>
                <a:rPr lang="en-US" sz="1200" b="1"/>
                <a:t>Tier</a:t>
              </a:r>
            </a:p>
          </p:txBody>
        </p:sp>
        <p:sp>
          <p:nvSpPr>
            <p:cNvPr id="2558005" name="Rectangle 53"/>
            <p:cNvSpPr>
              <a:spLocks noChangeAspect="1" noChangeArrowheads="1"/>
            </p:cNvSpPr>
            <p:nvPr/>
          </p:nvSpPr>
          <p:spPr bwMode="auto">
            <a:xfrm>
              <a:off x="675" y="3044"/>
              <a:ext cx="4656" cy="869"/>
            </a:xfrm>
            <a:prstGeom prst="rect">
              <a:avLst/>
            </a:prstGeom>
            <a:solidFill>
              <a:srgbClr val="BBE8FF"/>
            </a:solidFill>
            <a:ln w="12700" cap="rnd">
              <a:noFill/>
              <a:prstDash val="sysDot"/>
              <a:miter lim="800000"/>
              <a:headEnd/>
              <a:tailEnd/>
            </a:ln>
            <a:effectLst/>
          </p:spPr>
          <p:txBody>
            <a:bodyPr wrap="none" anchor="ctr"/>
            <a:lstStyle/>
            <a:p>
              <a:endParaRPr lang="en-US" sz="1000">
                <a:latin typeface="Times New Roman" pitchFamily="18" charset="0"/>
              </a:endParaRPr>
            </a:p>
          </p:txBody>
        </p:sp>
        <p:sp>
          <p:nvSpPr>
            <p:cNvPr id="2558006" name="Rectangle 54"/>
            <p:cNvSpPr>
              <a:spLocks noChangeAspect="1" noChangeArrowheads="1"/>
            </p:cNvSpPr>
            <p:nvPr/>
          </p:nvSpPr>
          <p:spPr bwMode="auto">
            <a:xfrm>
              <a:off x="2519" y="3177"/>
              <a:ext cx="1483" cy="661"/>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1000" b="1">
                  <a:latin typeface="Tahoma" pitchFamily="34" charset="0"/>
                </a:rPr>
                <a:t>Store Mgt. Services</a:t>
              </a:r>
            </a:p>
          </p:txBody>
        </p:sp>
        <p:sp>
          <p:nvSpPr>
            <p:cNvPr id="2558007" name="Rectangle 55"/>
            <p:cNvSpPr>
              <a:spLocks noChangeAspect="1" noChangeArrowheads="1"/>
            </p:cNvSpPr>
            <p:nvPr/>
          </p:nvSpPr>
          <p:spPr bwMode="auto">
            <a:xfrm>
              <a:off x="839" y="3185"/>
              <a:ext cx="1451" cy="661"/>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1000" b="1">
                  <a:latin typeface="Tahoma" pitchFamily="34" charset="0"/>
                </a:rPr>
                <a:t>Data Connect Services</a:t>
              </a:r>
            </a:p>
          </p:txBody>
        </p:sp>
        <p:sp>
          <p:nvSpPr>
            <p:cNvPr id="2558008" name="Rectangle 56"/>
            <p:cNvSpPr>
              <a:spLocks noChangeAspect="1" noChangeArrowheads="1"/>
            </p:cNvSpPr>
            <p:nvPr/>
          </p:nvSpPr>
          <p:spPr bwMode="auto">
            <a:xfrm>
              <a:off x="895" y="3315"/>
              <a:ext cx="413" cy="210"/>
            </a:xfrm>
            <a:prstGeom prst="rect">
              <a:avLst/>
            </a:prstGeom>
            <a:solidFill>
              <a:srgbClr val="BBE8FF"/>
            </a:solidFill>
            <a:ln w="12700">
              <a:solidFill>
                <a:schemeClr val="tx1"/>
              </a:solidFill>
              <a:miter lim="800000"/>
              <a:headEnd/>
              <a:tailEnd/>
            </a:ln>
            <a:effectLst/>
          </p:spPr>
          <p:txBody>
            <a:bodyPr wrap="none" anchor="ctr"/>
            <a:lstStyle/>
            <a:p>
              <a:pPr>
                <a:lnSpc>
                  <a:spcPct val="70000"/>
                </a:lnSpc>
                <a:spcBef>
                  <a:spcPct val="20000"/>
                </a:spcBef>
                <a:buClr>
                  <a:srgbClr val="D9A207"/>
                </a:buClr>
                <a:buSzPct val="80000"/>
                <a:buFont typeface="Wingdings 2" pitchFamily="18" charset="2"/>
                <a:buNone/>
              </a:pPr>
              <a:r>
                <a:rPr lang="en-US" sz="1000">
                  <a:solidFill>
                    <a:srgbClr val="FF0000"/>
                  </a:solidFill>
                  <a:latin typeface="Tahoma" pitchFamily="34" charset="0"/>
                </a:rPr>
                <a:t>SQLServer</a:t>
              </a:r>
            </a:p>
            <a:p>
              <a:pPr>
                <a:lnSpc>
                  <a:spcPct val="70000"/>
                </a:lnSpc>
                <a:spcBef>
                  <a:spcPct val="20000"/>
                </a:spcBef>
                <a:buClr>
                  <a:srgbClr val="D9A207"/>
                </a:buClr>
                <a:buSzPct val="80000"/>
                <a:buFont typeface="Wingdings 2" pitchFamily="18" charset="2"/>
                <a:buNone/>
              </a:pPr>
              <a:r>
                <a:rPr lang="en-US" sz="1000">
                  <a:solidFill>
                    <a:srgbClr val="FF0000"/>
                  </a:solidFill>
                  <a:latin typeface="Tahoma" pitchFamily="34" charset="0"/>
                </a:rPr>
                <a:t>Adapters</a:t>
              </a:r>
            </a:p>
          </p:txBody>
        </p:sp>
        <p:sp>
          <p:nvSpPr>
            <p:cNvPr id="2558009" name="Rectangle 57"/>
            <p:cNvSpPr>
              <a:spLocks noChangeAspect="1" noChangeArrowheads="1"/>
            </p:cNvSpPr>
            <p:nvPr/>
          </p:nvSpPr>
          <p:spPr bwMode="auto">
            <a:xfrm>
              <a:off x="895" y="3571"/>
              <a:ext cx="413" cy="210"/>
            </a:xfrm>
            <a:prstGeom prst="rect">
              <a:avLst/>
            </a:prstGeom>
            <a:solidFill>
              <a:srgbClr val="BBE8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solidFill>
                    <a:srgbClr val="FF0000"/>
                  </a:solidFill>
                  <a:latin typeface="Tahoma" pitchFamily="34" charset="0"/>
                </a:rPr>
                <a:t>Vantage</a:t>
              </a:r>
            </a:p>
            <a:p>
              <a:pPr>
                <a:lnSpc>
                  <a:spcPct val="80000"/>
                </a:lnSpc>
                <a:spcBef>
                  <a:spcPct val="20000"/>
                </a:spcBef>
                <a:buClr>
                  <a:srgbClr val="D9A207"/>
                </a:buClr>
                <a:buSzPct val="80000"/>
                <a:buFont typeface="Wingdings 2" pitchFamily="18" charset="2"/>
                <a:buNone/>
              </a:pPr>
              <a:r>
                <a:rPr lang="en-US" sz="1000">
                  <a:solidFill>
                    <a:srgbClr val="FF0000"/>
                  </a:solidFill>
                  <a:latin typeface="Tahoma" pitchFamily="34" charset="0"/>
                </a:rPr>
                <a:t>Adapters</a:t>
              </a:r>
            </a:p>
          </p:txBody>
        </p:sp>
        <p:sp>
          <p:nvSpPr>
            <p:cNvPr id="2558010" name="Rectangle 58"/>
            <p:cNvSpPr>
              <a:spLocks noChangeAspect="1" noChangeArrowheads="1"/>
            </p:cNvSpPr>
            <p:nvPr/>
          </p:nvSpPr>
          <p:spPr bwMode="auto">
            <a:xfrm>
              <a:off x="1351" y="3315"/>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UDB</a:t>
              </a:r>
            </a:p>
            <a:p>
              <a:pPr>
                <a:lnSpc>
                  <a:spcPct val="60000"/>
                </a:lnSpc>
                <a:spcBef>
                  <a:spcPct val="20000"/>
                </a:spcBef>
                <a:buClr>
                  <a:srgbClr val="D9A207"/>
                </a:buClr>
                <a:buSzPct val="80000"/>
                <a:buFont typeface="Wingdings 2" pitchFamily="18" charset="2"/>
                <a:buNone/>
              </a:pPr>
              <a:r>
                <a:rPr lang="en-US" sz="1000">
                  <a:latin typeface="Tahoma" pitchFamily="34" charset="0"/>
                </a:rPr>
                <a:t>Adapters</a:t>
              </a:r>
            </a:p>
          </p:txBody>
        </p:sp>
        <p:sp>
          <p:nvSpPr>
            <p:cNvPr id="2558011" name="Rectangle 59"/>
            <p:cNvSpPr>
              <a:spLocks noChangeAspect="1" noChangeArrowheads="1"/>
            </p:cNvSpPr>
            <p:nvPr/>
          </p:nvSpPr>
          <p:spPr bwMode="auto">
            <a:xfrm>
              <a:off x="1351" y="3571"/>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DB2</a:t>
              </a:r>
            </a:p>
            <a:p>
              <a:pPr>
                <a:lnSpc>
                  <a:spcPct val="60000"/>
                </a:lnSpc>
                <a:spcBef>
                  <a:spcPct val="20000"/>
                </a:spcBef>
                <a:buClr>
                  <a:srgbClr val="D9A207"/>
                </a:buClr>
                <a:buSzPct val="80000"/>
                <a:buFont typeface="Wingdings 2" pitchFamily="18" charset="2"/>
                <a:buNone/>
              </a:pPr>
              <a:r>
                <a:rPr lang="en-US" sz="1000">
                  <a:latin typeface="Tahoma" pitchFamily="34" charset="0"/>
                </a:rPr>
                <a:t>Adapters</a:t>
              </a:r>
            </a:p>
          </p:txBody>
        </p:sp>
        <p:sp>
          <p:nvSpPr>
            <p:cNvPr id="2558012" name="Rectangle 60"/>
            <p:cNvSpPr>
              <a:spLocks noChangeAspect="1" noChangeArrowheads="1"/>
            </p:cNvSpPr>
            <p:nvPr/>
          </p:nvSpPr>
          <p:spPr bwMode="auto">
            <a:xfrm>
              <a:off x="2591" y="3323"/>
              <a:ext cx="413" cy="210"/>
            </a:xfrm>
            <a:prstGeom prst="rect">
              <a:avLst/>
            </a:prstGeom>
            <a:solidFill>
              <a:srgbClr val="BBE8FF"/>
            </a:solidFill>
            <a:ln w="12700">
              <a:solidFill>
                <a:schemeClr val="tx1"/>
              </a:solidFill>
              <a:miter lim="800000"/>
              <a:headEnd/>
              <a:tailEnd/>
            </a:ln>
            <a:effectLst/>
          </p:spPr>
          <p:txBody>
            <a:bodyPr wrap="none" anchor="ctr"/>
            <a:lstStyle/>
            <a:p>
              <a:pPr>
                <a:lnSpc>
                  <a:spcPct val="70000"/>
                </a:lnSpc>
                <a:spcBef>
                  <a:spcPct val="20000"/>
                </a:spcBef>
                <a:buClr>
                  <a:srgbClr val="D9A207"/>
                </a:buClr>
                <a:buSzPct val="80000"/>
                <a:buFont typeface="Wingdings 2" pitchFamily="18" charset="2"/>
                <a:buNone/>
              </a:pPr>
              <a:r>
                <a:rPr lang="en-US" sz="1000">
                  <a:latin typeface="Tahoma" pitchFamily="34" charset="0"/>
                </a:rPr>
                <a:t>Data</a:t>
              </a:r>
            </a:p>
            <a:p>
              <a:pPr>
                <a:lnSpc>
                  <a:spcPct val="70000"/>
                </a:lnSpc>
                <a:spcBef>
                  <a:spcPct val="20000"/>
                </a:spcBef>
                <a:buClr>
                  <a:srgbClr val="D9A207"/>
                </a:buClr>
                <a:buSzPct val="80000"/>
                <a:buFont typeface="Wingdings 2" pitchFamily="18" charset="2"/>
                <a:buNone/>
              </a:pPr>
              <a:r>
                <a:rPr lang="en-US" sz="1000">
                  <a:latin typeface="Tahoma" pitchFamily="34" charset="0"/>
                </a:rPr>
                <a:t>Marts</a:t>
              </a:r>
            </a:p>
          </p:txBody>
        </p:sp>
        <p:sp>
          <p:nvSpPr>
            <p:cNvPr id="2558013" name="Rectangle 61"/>
            <p:cNvSpPr>
              <a:spLocks noChangeAspect="1" noChangeArrowheads="1"/>
            </p:cNvSpPr>
            <p:nvPr/>
          </p:nvSpPr>
          <p:spPr bwMode="auto">
            <a:xfrm>
              <a:off x="2591" y="3579"/>
              <a:ext cx="413" cy="210"/>
            </a:xfrm>
            <a:prstGeom prst="rect">
              <a:avLst/>
            </a:prstGeom>
            <a:solidFill>
              <a:srgbClr val="BBE8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View</a:t>
              </a:r>
            </a:p>
            <a:p>
              <a:pPr>
                <a:lnSpc>
                  <a:spcPct val="80000"/>
                </a:lnSpc>
                <a:spcBef>
                  <a:spcPct val="20000"/>
                </a:spcBef>
                <a:buClr>
                  <a:srgbClr val="D9A207"/>
                </a:buClr>
                <a:buSzPct val="80000"/>
                <a:buFont typeface="Wingdings 2" pitchFamily="18" charset="2"/>
                <a:buNone/>
              </a:pPr>
              <a:r>
                <a:rPr lang="en-US" sz="1000">
                  <a:latin typeface="Tahoma" pitchFamily="34" charset="0"/>
                </a:rPr>
                <a:t>Mgt.</a:t>
              </a:r>
            </a:p>
          </p:txBody>
        </p:sp>
        <p:sp>
          <p:nvSpPr>
            <p:cNvPr id="2558014" name="Rectangle 62"/>
            <p:cNvSpPr>
              <a:spLocks noChangeAspect="1" noChangeArrowheads="1"/>
            </p:cNvSpPr>
            <p:nvPr/>
          </p:nvSpPr>
          <p:spPr bwMode="auto">
            <a:xfrm>
              <a:off x="3047" y="3323"/>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Op. Data</a:t>
              </a:r>
            </a:p>
            <a:p>
              <a:pPr>
                <a:lnSpc>
                  <a:spcPct val="60000"/>
                </a:lnSpc>
                <a:spcBef>
                  <a:spcPct val="20000"/>
                </a:spcBef>
                <a:buClr>
                  <a:srgbClr val="D9A207"/>
                </a:buClr>
                <a:buSzPct val="80000"/>
                <a:buFont typeface="Wingdings 2" pitchFamily="18" charset="2"/>
                <a:buNone/>
              </a:pPr>
              <a:r>
                <a:rPr lang="en-US" sz="1000">
                  <a:latin typeface="Tahoma" pitchFamily="34" charset="0"/>
                </a:rPr>
                <a:t>Stores</a:t>
              </a:r>
            </a:p>
          </p:txBody>
        </p:sp>
        <p:sp>
          <p:nvSpPr>
            <p:cNvPr id="2558015" name="Rectangle 63"/>
            <p:cNvSpPr>
              <a:spLocks noChangeAspect="1" noChangeArrowheads="1"/>
            </p:cNvSpPr>
            <p:nvPr/>
          </p:nvSpPr>
          <p:spPr bwMode="auto">
            <a:xfrm>
              <a:off x="3047" y="3579"/>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Fact</a:t>
              </a:r>
            </a:p>
            <a:p>
              <a:pPr>
                <a:lnSpc>
                  <a:spcPct val="60000"/>
                </a:lnSpc>
                <a:spcBef>
                  <a:spcPct val="20000"/>
                </a:spcBef>
                <a:buClr>
                  <a:srgbClr val="D9A207"/>
                </a:buClr>
                <a:buSzPct val="80000"/>
                <a:buFont typeface="Wingdings 2" pitchFamily="18" charset="2"/>
                <a:buNone/>
              </a:pPr>
              <a:r>
                <a:rPr lang="en-US" sz="1000">
                  <a:latin typeface="Tahoma" pitchFamily="34" charset="0"/>
                </a:rPr>
                <a:t>Mgt.</a:t>
              </a:r>
            </a:p>
          </p:txBody>
        </p:sp>
        <p:sp>
          <p:nvSpPr>
            <p:cNvPr id="2558016" name="Rectangle 64"/>
            <p:cNvSpPr>
              <a:spLocks noChangeAspect="1" noChangeArrowheads="1"/>
            </p:cNvSpPr>
            <p:nvPr/>
          </p:nvSpPr>
          <p:spPr bwMode="auto">
            <a:xfrm>
              <a:off x="3511" y="3323"/>
              <a:ext cx="413" cy="210"/>
            </a:xfrm>
            <a:prstGeom prst="rect">
              <a:avLst/>
            </a:prstGeom>
            <a:solidFill>
              <a:srgbClr val="BBE8FF"/>
            </a:solidFill>
            <a:ln w="12700">
              <a:solidFill>
                <a:schemeClr val="tx1"/>
              </a:solidFill>
              <a:miter lim="800000"/>
              <a:headEnd/>
              <a:tailEnd/>
            </a:ln>
            <a:effectLst/>
          </p:spPr>
          <p:txBody>
            <a:bodyPr wrap="none" anchor="ctr"/>
            <a:lstStyle/>
            <a:p>
              <a:pPr>
                <a:lnSpc>
                  <a:spcPct val="70000"/>
                </a:lnSpc>
                <a:spcBef>
                  <a:spcPct val="20000"/>
                </a:spcBef>
                <a:buClr>
                  <a:srgbClr val="D9A207"/>
                </a:buClr>
                <a:buSzPct val="80000"/>
                <a:buFont typeface="Wingdings 2" pitchFamily="18" charset="2"/>
                <a:buNone/>
              </a:pPr>
              <a:r>
                <a:rPr lang="en-US" sz="1000">
                  <a:latin typeface="Tahoma" pitchFamily="34" charset="0"/>
                </a:rPr>
                <a:t>Replica-</a:t>
              </a:r>
            </a:p>
            <a:p>
              <a:pPr>
                <a:lnSpc>
                  <a:spcPct val="70000"/>
                </a:lnSpc>
                <a:spcBef>
                  <a:spcPct val="20000"/>
                </a:spcBef>
                <a:buClr>
                  <a:srgbClr val="D9A207"/>
                </a:buClr>
                <a:buSzPct val="80000"/>
                <a:buFont typeface="Wingdings 2" pitchFamily="18" charset="2"/>
                <a:buNone/>
              </a:pPr>
              <a:r>
                <a:rPr lang="en-US" sz="1000">
                  <a:latin typeface="Tahoma" pitchFamily="34" charset="0"/>
                </a:rPr>
                <a:t>tion</a:t>
              </a:r>
            </a:p>
          </p:txBody>
        </p:sp>
        <p:sp>
          <p:nvSpPr>
            <p:cNvPr id="2558017" name="Rectangle 65"/>
            <p:cNvSpPr>
              <a:spLocks noChangeAspect="1" noChangeArrowheads="1"/>
            </p:cNvSpPr>
            <p:nvPr/>
          </p:nvSpPr>
          <p:spPr bwMode="auto">
            <a:xfrm>
              <a:off x="3511" y="3579"/>
              <a:ext cx="413" cy="210"/>
            </a:xfrm>
            <a:prstGeom prst="rect">
              <a:avLst/>
            </a:prstGeom>
            <a:solidFill>
              <a:srgbClr val="BBE8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ETL</a:t>
              </a:r>
            </a:p>
          </p:txBody>
        </p:sp>
        <p:sp>
          <p:nvSpPr>
            <p:cNvPr id="2558018" name="Rectangle 66"/>
            <p:cNvSpPr>
              <a:spLocks noChangeAspect="1" noChangeArrowheads="1"/>
            </p:cNvSpPr>
            <p:nvPr/>
          </p:nvSpPr>
          <p:spPr bwMode="auto">
            <a:xfrm>
              <a:off x="4191" y="3185"/>
              <a:ext cx="1003" cy="661"/>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1000" b="1">
                  <a:latin typeface="Tahoma" pitchFamily="34" charset="0"/>
                </a:rPr>
                <a:t>Content Mgt. Services</a:t>
              </a:r>
            </a:p>
          </p:txBody>
        </p:sp>
        <p:sp>
          <p:nvSpPr>
            <p:cNvPr id="2558019" name="Rectangle 67"/>
            <p:cNvSpPr>
              <a:spLocks noChangeAspect="1" noChangeArrowheads="1"/>
            </p:cNvSpPr>
            <p:nvPr/>
          </p:nvSpPr>
          <p:spPr bwMode="auto">
            <a:xfrm>
              <a:off x="4231" y="3331"/>
              <a:ext cx="413" cy="210"/>
            </a:xfrm>
            <a:prstGeom prst="rect">
              <a:avLst/>
            </a:prstGeom>
            <a:solidFill>
              <a:srgbClr val="BBE8FF"/>
            </a:solidFill>
            <a:ln w="12700">
              <a:solidFill>
                <a:schemeClr val="tx1"/>
              </a:solidFill>
              <a:miter lim="800000"/>
              <a:headEnd/>
              <a:tailEnd/>
            </a:ln>
            <a:effectLst/>
          </p:spPr>
          <p:txBody>
            <a:bodyPr wrap="none" anchor="ctr"/>
            <a:lstStyle/>
            <a:p>
              <a:pPr>
                <a:lnSpc>
                  <a:spcPct val="70000"/>
                </a:lnSpc>
                <a:spcBef>
                  <a:spcPct val="20000"/>
                </a:spcBef>
                <a:buClr>
                  <a:srgbClr val="D9A207"/>
                </a:buClr>
                <a:buSzPct val="80000"/>
                <a:buFont typeface="Wingdings 2" pitchFamily="18" charset="2"/>
                <a:buNone/>
              </a:pPr>
              <a:r>
                <a:rPr lang="en-US" sz="1000">
                  <a:latin typeface="Tahoma" pitchFamily="34" charset="0"/>
                </a:rPr>
                <a:t>Metadata</a:t>
              </a:r>
            </a:p>
          </p:txBody>
        </p:sp>
        <p:sp>
          <p:nvSpPr>
            <p:cNvPr id="2558020" name="Rectangle 68"/>
            <p:cNvSpPr>
              <a:spLocks noChangeAspect="1" noChangeArrowheads="1"/>
            </p:cNvSpPr>
            <p:nvPr/>
          </p:nvSpPr>
          <p:spPr bwMode="auto">
            <a:xfrm>
              <a:off x="4231" y="3587"/>
              <a:ext cx="413" cy="210"/>
            </a:xfrm>
            <a:prstGeom prst="rect">
              <a:avLst/>
            </a:prstGeom>
            <a:solidFill>
              <a:srgbClr val="BBE8FF"/>
            </a:solidFill>
            <a:ln w="12700">
              <a:solidFill>
                <a:schemeClr val="tx1"/>
              </a:solidFill>
              <a:miter lim="800000"/>
              <a:headEnd/>
              <a:tailEnd/>
            </a:ln>
            <a:effectLst/>
          </p:spPr>
          <p:txBody>
            <a:bodyPr wrap="none" anchor="ctr"/>
            <a:lstStyle/>
            <a:p>
              <a:pPr>
                <a:lnSpc>
                  <a:spcPct val="80000"/>
                </a:lnSpc>
                <a:spcBef>
                  <a:spcPct val="20000"/>
                </a:spcBef>
                <a:buClr>
                  <a:srgbClr val="D9A207"/>
                </a:buClr>
                <a:buSzPct val="80000"/>
                <a:buFont typeface="Wingdings 2" pitchFamily="18" charset="2"/>
                <a:buNone/>
              </a:pPr>
              <a:r>
                <a:rPr lang="en-US" sz="1000">
                  <a:latin typeface="Tahoma" pitchFamily="34" charset="0"/>
                </a:rPr>
                <a:t>Backup</a:t>
              </a:r>
            </a:p>
          </p:txBody>
        </p:sp>
        <p:sp>
          <p:nvSpPr>
            <p:cNvPr id="2558021" name="Rectangle 69"/>
            <p:cNvSpPr>
              <a:spLocks noChangeAspect="1" noChangeArrowheads="1"/>
            </p:cNvSpPr>
            <p:nvPr/>
          </p:nvSpPr>
          <p:spPr bwMode="auto">
            <a:xfrm>
              <a:off x="4687" y="3331"/>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Data</a:t>
              </a:r>
            </a:p>
            <a:p>
              <a:pPr>
                <a:lnSpc>
                  <a:spcPct val="60000"/>
                </a:lnSpc>
                <a:spcBef>
                  <a:spcPct val="20000"/>
                </a:spcBef>
                <a:buClr>
                  <a:srgbClr val="D9A207"/>
                </a:buClr>
                <a:buSzPct val="80000"/>
                <a:buFont typeface="Wingdings 2" pitchFamily="18" charset="2"/>
                <a:buNone/>
              </a:pPr>
              <a:r>
                <a:rPr lang="en-US" sz="1000">
                  <a:latin typeface="Tahoma" pitchFamily="34" charset="0"/>
                </a:rPr>
                <a:t>Quality</a:t>
              </a:r>
            </a:p>
          </p:txBody>
        </p:sp>
        <p:sp>
          <p:nvSpPr>
            <p:cNvPr id="2558022" name="Rectangle 70"/>
            <p:cNvSpPr>
              <a:spLocks noChangeAspect="1" noChangeArrowheads="1"/>
            </p:cNvSpPr>
            <p:nvPr/>
          </p:nvSpPr>
          <p:spPr bwMode="auto">
            <a:xfrm>
              <a:off x="4687" y="3587"/>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Restore</a:t>
              </a:r>
            </a:p>
          </p:txBody>
        </p:sp>
        <p:sp>
          <p:nvSpPr>
            <p:cNvPr id="2558023" name="Rectangle 71"/>
            <p:cNvSpPr>
              <a:spLocks noChangeAspect="1" noChangeArrowheads="1"/>
            </p:cNvSpPr>
            <p:nvPr/>
          </p:nvSpPr>
          <p:spPr bwMode="auto">
            <a:xfrm>
              <a:off x="1815" y="3315"/>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solidFill>
                    <a:srgbClr val="FF0000"/>
                  </a:solidFill>
                  <a:latin typeface="Tahoma" pitchFamily="34" charset="0"/>
                </a:rPr>
                <a:t>AWD</a:t>
              </a:r>
            </a:p>
            <a:p>
              <a:pPr>
                <a:lnSpc>
                  <a:spcPct val="60000"/>
                </a:lnSpc>
                <a:spcBef>
                  <a:spcPct val="20000"/>
                </a:spcBef>
                <a:buClr>
                  <a:srgbClr val="D9A207"/>
                </a:buClr>
                <a:buSzPct val="80000"/>
                <a:buFont typeface="Wingdings 2" pitchFamily="18" charset="2"/>
                <a:buNone/>
              </a:pPr>
              <a:r>
                <a:rPr lang="en-US" sz="1000">
                  <a:solidFill>
                    <a:srgbClr val="FF0000"/>
                  </a:solidFill>
                  <a:latin typeface="Tahoma" pitchFamily="34" charset="0"/>
                </a:rPr>
                <a:t>Adapters</a:t>
              </a:r>
            </a:p>
          </p:txBody>
        </p:sp>
        <p:sp>
          <p:nvSpPr>
            <p:cNvPr id="2558024" name="Rectangle 72"/>
            <p:cNvSpPr>
              <a:spLocks noChangeAspect="1" noChangeArrowheads="1"/>
            </p:cNvSpPr>
            <p:nvPr/>
          </p:nvSpPr>
          <p:spPr bwMode="auto">
            <a:xfrm>
              <a:off x="1815" y="3571"/>
              <a:ext cx="413" cy="210"/>
            </a:xfrm>
            <a:prstGeom prst="rect">
              <a:avLst/>
            </a:prstGeom>
            <a:solidFill>
              <a:srgbClr val="BBE8FF"/>
            </a:solidFill>
            <a:ln w="12700">
              <a:solidFill>
                <a:schemeClr val="tx1"/>
              </a:solidFill>
              <a:miter lim="800000"/>
              <a:headEnd/>
              <a:tailEnd/>
            </a:ln>
            <a:effectLst/>
          </p:spPr>
          <p:txBody>
            <a:bodyPr wrap="none" anchor="ctr"/>
            <a:lstStyle/>
            <a:p>
              <a:pPr>
                <a:lnSpc>
                  <a:spcPct val="60000"/>
                </a:lnSpc>
                <a:spcBef>
                  <a:spcPct val="20000"/>
                </a:spcBef>
                <a:buClr>
                  <a:srgbClr val="D9A207"/>
                </a:buClr>
                <a:buSzPct val="80000"/>
                <a:buFont typeface="Wingdings 2" pitchFamily="18" charset="2"/>
                <a:buNone/>
              </a:pPr>
              <a:r>
                <a:rPr lang="en-US" sz="1000">
                  <a:latin typeface="Tahoma" pitchFamily="34" charset="0"/>
                </a:rPr>
                <a:t>ETL</a:t>
              </a:r>
            </a:p>
            <a:p>
              <a:pPr>
                <a:lnSpc>
                  <a:spcPct val="60000"/>
                </a:lnSpc>
                <a:spcBef>
                  <a:spcPct val="20000"/>
                </a:spcBef>
                <a:buClr>
                  <a:srgbClr val="D9A207"/>
                </a:buClr>
                <a:buSzPct val="80000"/>
                <a:buFont typeface="Wingdings 2" pitchFamily="18" charset="2"/>
                <a:buNone/>
              </a:pPr>
              <a:r>
                <a:rPr lang="en-US" sz="1000">
                  <a:latin typeface="Tahoma" pitchFamily="34" charset="0"/>
                </a:rPr>
                <a:t>Adapters</a:t>
              </a:r>
            </a:p>
          </p:txBody>
        </p:sp>
      </p:grpSp>
      <p:grpSp>
        <p:nvGrpSpPr>
          <p:cNvPr id="2558025" name="Group 73"/>
          <p:cNvGrpSpPr>
            <a:grpSpLocks/>
          </p:cNvGrpSpPr>
          <p:nvPr/>
        </p:nvGrpSpPr>
        <p:grpSpPr bwMode="auto">
          <a:xfrm>
            <a:off x="8432800" y="1295400"/>
            <a:ext cx="317500" cy="5130800"/>
            <a:chOff x="5312" y="816"/>
            <a:chExt cx="200" cy="3232"/>
          </a:xfrm>
        </p:grpSpPr>
        <p:grpSp>
          <p:nvGrpSpPr>
            <p:cNvPr id="2558026" name="Group 74"/>
            <p:cNvGrpSpPr>
              <a:grpSpLocks/>
            </p:cNvGrpSpPr>
            <p:nvPr/>
          </p:nvGrpSpPr>
          <p:grpSpPr bwMode="auto">
            <a:xfrm>
              <a:off x="5316" y="820"/>
              <a:ext cx="196" cy="3228"/>
              <a:chOff x="5116" y="1180"/>
              <a:chExt cx="196" cy="2748"/>
            </a:xfrm>
          </p:grpSpPr>
          <p:grpSp>
            <p:nvGrpSpPr>
              <p:cNvPr id="2558027" name="Group 75"/>
              <p:cNvGrpSpPr>
                <a:grpSpLocks/>
              </p:cNvGrpSpPr>
              <p:nvPr/>
            </p:nvGrpSpPr>
            <p:grpSpPr bwMode="auto">
              <a:xfrm>
                <a:off x="5116" y="1180"/>
                <a:ext cx="196" cy="2748"/>
                <a:chOff x="5116" y="1180"/>
                <a:chExt cx="196" cy="2748"/>
              </a:xfrm>
            </p:grpSpPr>
            <p:sp>
              <p:nvSpPr>
                <p:cNvPr id="2558028" name="AutoShape 76"/>
                <p:cNvSpPr>
                  <a:spLocks noChangeArrowheads="1"/>
                </p:cNvSpPr>
                <p:nvPr/>
              </p:nvSpPr>
              <p:spPr bwMode="auto">
                <a:xfrm rot="-21600000">
                  <a:off x="5116" y="1180"/>
                  <a:ext cx="196" cy="2744"/>
                </a:xfrm>
                <a:prstGeom prst="can">
                  <a:avLst>
                    <a:gd name="adj" fmla="val 68380"/>
                  </a:avLst>
                </a:prstGeom>
                <a:solidFill>
                  <a:srgbClr val="73FBB4"/>
                </a:solidFill>
                <a:ln w="9525">
                  <a:solidFill>
                    <a:schemeClr val="tx1"/>
                  </a:solidFill>
                  <a:round/>
                  <a:headEnd/>
                  <a:tailEnd/>
                </a:ln>
                <a:effectLst/>
              </p:spPr>
              <p:txBody>
                <a:bodyPr vert="eaVert" wrap="none" anchor="ctr"/>
                <a:lstStyle/>
                <a:p>
                  <a:endParaRPr lang="en-US" sz="1200" b="1"/>
                </a:p>
              </p:txBody>
            </p:sp>
            <p:sp>
              <p:nvSpPr>
                <p:cNvPr id="2558029" name="Oval 77"/>
                <p:cNvSpPr>
                  <a:spLocks noChangeArrowheads="1"/>
                </p:cNvSpPr>
                <p:nvPr/>
              </p:nvSpPr>
              <p:spPr bwMode="auto">
                <a:xfrm>
                  <a:off x="5120" y="3784"/>
                  <a:ext cx="192" cy="144"/>
                </a:xfrm>
                <a:prstGeom prst="ellipse">
                  <a:avLst/>
                </a:prstGeom>
                <a:solidFill>
                  <a:srgbClr val="73FBB4"/>
                </a:solidFill>
                <a:ln w="9525">
                  <a:solidFill>
                    <a:schemeClr val="tx1"/>
                  </a:solidFill>
                  <a:round/>
                  <a:headEnd/>
                  <a:tailEnd/>
                </a:ln>
                <a:effectLst/>
              </p:spPr>
              <p:txBody>
                <a:bodyPr wrap="none" anchor="ctr"/>
                <a:lstStyle/>
                <a:p>
                  <a:endParaRPr lang="en-US"/>
                </a:p>
              </p:txBody>
            </p:sp>
          </p:grpSp>
          <p:grpSp>
            <p:nvGrpSpPr>
              <p:cNvPr id="2558030" name="Group 78"/>
              <p:cNvGrpSpPr>
                <a:grpSpLocks/>
              </p:cNvGrpSpPr>
              <p:nvPr/>
            </p:nvGrpSpPr>
            <p:grpSpPr bwMode="auto">
              <a:xfrm>
                <a:off x="5151" y="1472"/>
                <a:ext cx="134" cy="2214"/>
                <a:chOff x="5415" y="1464"/>
                <a:chExt cx="134" cy="2214"/>
              </a:xfrm>
            </p:grpSpPr>
            <p:sp>
              <p:nvSpPr>
                <p:cNvPr id="2558031" name="Text Box 79"/>
                <p:cNvSpPr txBox="1">
                  <a:spLocks noChangeArrowheads="1"/>
                </p:cNvSpPr>
                <p:nvPr/>
              </p:nvSpPr>
              <p:spPr bwMode="auto">
                <a:xfrm rot="-5400000">
                  <a:off x="4632" y="2472"/>
                  <a:ext cx="1700" cy="134"/>
                </a:xfrm>
                <a:prstGeom prst="rect">
                  <a:avLst/>
                </a:prstGeom>
                <a:solidFill>
                  <a:srgbClr val="73FBB4"/>
                </a:solidFill>
                <a:ln w="9525">
                  <a:noFill/>
                  <a:miter lim="800000"/>
                  <a:headEnd/>
                  <a:tailEnd/>
                </a:ln>
                <a:effectLst/>
              </p:spPr>
              <p:txBody>
                <a:bodyPr lIns="0" tIns="0" rIns="0" bIns="0">
                  <a:spAutoFit/>
                </a:bodyPr>
                <a:lstStyle/>
                <a:p>
                  <a:pPr>
                    <a:spcBef>
                      <a:spcPct val="50000"/>
                    </a:spcBef>
                  </a:pPr>
                  <a:r>
                    <a:rPr lang="en-US" sz="1400" b="1"/>
                    <a:t>Enterprise  Service  Bus</a:t>
                  </a:r>
                </a:p>
              </p:txBody>
            </p:sp>
            <p:sp>
              <p:nvSpPr>
                <p:cNvPr id="2558032" name="AutoShape 80"/>
                <p:cNvSpPr>
                  <a:spLocks noChangeArrowheads="1"/>
                </p:cNvSpPr>
                <p:nvPr/>
              </p:nvSpPr>
              <p:spPr bwMode="auto">
                <a:xfrm>
                  <a:off x="5446" y="3352"/>
                  <a:ext cx="74" cy="326"/>
                </a:xfrm>
                <a:prstGeom prst="downArrow">
                  <a:avLst>
                    <a:gd name="adj1" fmla="val 50000"/>
                    <a:gd name="adj2" fmla="val 110135"/>
                  </a:avLst>
                </a:prstGeom>
                <a:solidFill>
                  <a:schemeClr val="tx1"/>
                </a:solidFill>
                <a:ln w="9525">
                  <a:noFill/>
                  <a:miter lim="800000"/>
                  <a:headEnd/>
                  <a:tailEnd/>
                </a:ln>
                <a:effectLst/>
              </p:spPr>
              <p:txBody>
                <a:bodyPr wrap="none" lIns="0" tIns="0" rIns="0" bIns="0" anchor="ctr"/>
                <a:lstStyle/>
                <a:p>
                  <a:endParaRPr lang="en-US" sz="1200"/>
                </a:p>
              </p:txBody>
            </p:sp>
            <p:sp>
              <p:nvSpPr>
                <p:cNvPr id="2558033" name="AutoShape 81"/>
                <p:cNvSpPr>
                  <a:spLocks noChangeArrowheads="1"/>
                </p:cNvSpPr>
                <p:nvPr/>
              </p:nvSpPr>
              <p:spPr bwMode="auto">
                <a:xfrm flipV="1">
                  <a:off x="5446" y="1464"/>
                  <a:ext cx="74" cy="326"/>
                </a:xfrm>
                <a:prstGeom prst="downArrow">
                  <a:avLst>
                    <a:gd name="adj1" fmla="val 50000"/>
                    <a:gd name="adj2" fmla="val 110135"/>
                  </a:avLst>
                </a:prstGeom>
                <a:solidFill>
                  <a:schemeClr val="tx1"/>
                </a:solidFill>
                <a:ln w="9525">
                  <a:noFill/>
                  <a:miter lim="800000"/>
                  <a:headEnd/>
                  <a:tailEnd/>
                </a:ln>
                <a:effectLst/>
              </p:spPr>
              <p:txBody>
                <a:bodyPr rot="10800000" wrap="none" lIns="0" tIns="0" rIns="0" bIns="0" anchor="ctr"/>
                <a:lstStyle/>
                <a:p>
                  <a:endParaRPr lang="en-US" sz="1200"/>
                </a:p>
              </p:txBody>
            </p:sp>
          </p:grpSp>
        </p:grpSp>
        <p:sp>
          <p:nvSpPr>
            <p:cNvPr id="2558034" name="Oval 82"/>
            <p:cNvSpPr>
              <a:spLocks noChangeArrowheads="1"/>
            </p:cNvSpPr>
            <p:nvPr/>
          </p:nvSpPr>
          <p:spPr bwMode="auto">
            <a:xfrm>
              <a:off x="5320" y="3880"/>
              <a:ext cx="192" cy="168"/>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558035" name="Oval 83"/>
            <p:cNvSpPr>
              <a:spLocks noChangeArrowheads="1"/>
            </p:cNvSpPr>
            <p:nvPr/>
          </p:nvSpPr>
          <p:spPr bwMode="auto">
            <a:xfrm>
              <a:off x="5312" y="816"/>
              <a:ext cx="200" cy="160"/>
            </a:xfrm>
            <a:prstGeom prst="ellipse">
              <a:avLst/>
            </a:prstGeom>
            <a:solidFill>
              <a:schemeClr val="accent1"/>
            </a:solidFill>
            <a:ln w="9525">
              <a:solidFill>
                <a:schemeClr val="tx1"/>
              </a:solidFill>
              <a:round/>
              <a:headEnd/>
              <a:tailEnd/>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557956"/>
                                        </p:tgtEl>
                                        <p:attrNameLst>
                                          <p:attrName>style.visibility</p:attrName>
                                        </p:attrNameLst>
                                      </p:cBhvr>
                                      <p:to>
                                        <p:strVal val="visible"/>
                                      </p:to>
                                    </p:set>
                                    <p:animEffect transition="in" filter="dissolve">
                                      <p:cBhvr>
                                        <p:cTn id="7" dur="500"/>
                                        <p:tgtEl>
                                          <p:spTgt spid="255795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557960"/>
                                        </p:tgtEl>
                                        <p:attrNameLst>
                                          <p:attrName>style.visibility</p:attrName>
                                        </p:attrNameLst>
                                      </p:cBhvr>
                                      <p:to>
                                        <p:strVal val="visible"/>
                                      </p:to>
                                    </p:set>
                                    <p:animEffect transition="in" filter="box(out)">
                                      <p:cBhvr>
                                        <p:cTn id="12" dur="500"/>
                                        <p:tgtEl>
                                          <p:spTgt spid="25579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558039"/>
                                        </p:tgtEl>
                                        <p:attrNameLst>
                                          <p:attrName>style.visibility</p:attrName>
                                        </p:attrNameLst>
                                      </p:cBhvr>
                                      <p:to>
                                        <p:strVal val="visible"/>
                                      </p:to>
                                    </p:set>
                                    <p:animEffect transition="in" filter="box(out)">
                                      <p:cBhvr>
                                        <p:cTn id="17" dur="500"/>
                                        <p:tgtEl>
                                          <p:spTgt spid="255803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558003"/>
                                        </p:tgtEl>
                                        <p:attrNameLst>
                                          <p:attrName>style.visibility</p:attrName>
                                        </p:attrNameLst>
                                      </p:cBhvr>
                                      <p:to>
                                        <p:strVal val="visible"/>
                                      </p:to>
                                    </p:set>
                                    <p:animEffect transition="in" filter="box(out)">
                                      <p:cBhvr>
                                        <p:cTn id="22" dur="500"/>
                                        <p:tgtEl>
                                          <p:spTgt spid="255800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558025"/>
                                        </p:tgtEl>
                                        <p:attrNameLst>
                                          <p:attrName>style.visibility</p:attrName>
                                        </p:attrNameLst>
                                      </p:cBhvr>
                                      <p:to>
                                        <p:strVal val="visible"/>
                                      </p:to>
                                    </p:set>
                                    <p:animEffect transition="in" filter="box(out)">
                                      <p:cBhvr>
                                        <p:cTn id="27" dur="500"/>
                                        <p:tgtEl>
                                          <p:spTgt spid="2558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4642" name="Rectangle 1026"/>
          <p:cNvSpPr>
            <a:spLocks noGrp="1" noChangeArrowheads="1"/>
          </p:cNvSpPr>
          <p:nvPr>
            <p:ph type="title"/>
          </p:nvPr>
        </p:nvSpPr>
        <p:spPr>
          <a:xfrm>
            <a:off x="0" y="96838"/>
            <a:ext cx="9144000" cy="641350"/>
          </a:xfrm>
        </p:spPr>
        <p:txBody>
          <a:bodyPr/>
          <a:lstStyle/>
          <a:p>
            <a:r>
              <a:rPr lang="en-US" sz="3600"/>
              <a:t>Agenda</a:t>
            </a:r>
          </a:p>
        </p:txBody>
      </p:sp>
      <p:sp>
        <p:nvSpPr>
          <p:cNvPr id="2544643" name="Rectangle 1027"/>
          <p:cNvSpPr>
            <a:spLocks noGrp="1" noChangeArrowheads="1"/>
          </p:cNvSpPr>
          <p:nvPr>
            <p:ph type="body" idx="1"/>
          </p:nvPr>
        </p:nvSpPr>
        <p:spPr>
          <a:xfrm>
            <a:off x="241300" y="1314450"/>
            <a:ext cx="8737600" cy="4864100"/>
          </a:xfrm>
          <a:noFill/>
        </p:spPr>
        <p:txBody>
          <a:bodyPr/>
          <a:lstStyle/>
          <a:p>
            <a:pPr marL="520700" lvl="1" indent="-292100">
              <a:lnSpc>
                <a:spcPct val="75000"/>
              </a:lnSpc>
              <a:buSzPct val="120000"/>
              <a:buFontTx/>
              <a:buNone/>
            </a:pPr>
            <a:r>
              <a:rPr lang="en-US" sz="2000" b="1">
                <a:solidFill>
                  <a:schemeClr val="bg2"/>
                </a:solidFill>
              </a:rPr>
              <a:t>Enterprise Architecture Services in a Nutshell</a:t>
            </a:r>
          </a:p>
          <a:p>
            <a:pPr marL="520700" lvl="1" indent="-292100">
              <a:lnSpc>
                <a:spcPct val="175000"/>
              </a:lnSpc>
              <a:buSzPct val="120000"/>
              <a:buFontTx/>
              <a:buNone/>
            </a:pPr>
            <a:r>
              <a:rPr lang="en-US" sz="2000" b="1">
                <a:solidFill>
                  <a:schemeClr val="bg2"/>
                </a:solidFill>
              </a:rPr>
              <a:t>“WHAT” is Architecture</a:t>
            </a:r>
          </a:p>
          <a:p>
            <a:pPr lvl="2">
              <a:lnSpc>
                <a:spcPct val="85000"/>
              </a:lnSpc>
              <a:spcBef>
                <a:spcPct val="0"/>
              </a:spcBef>
              <a:buClr>
                <a:schemeClr val="folHlink"/>
              </a:buClr>
              <a:buFont typeface="Wingdings" pitchFamily="2" charset="2"/>
              <a:buChar char="Ø"/>
            </a:pPr>
            <a:r>
              <a:rPr lang="en-US" sz="1800">
                <a:solidFill>
                  <a:schemeClr val="bg2"/>
                </a:solidFill>
              </a:rPr>
              <a:t>Goals </a:t>
            </a:r>
          </a:p>
          <a:p>
            <a:pPr lvl="2">
              <a:lnSpc>
                <a:spcPct val="85000"/>
              </a:lnSpc>
              <a:spcBef>
                <a:spcPct val="0"/>
              </a:spcBef>
              <a:buClr>
                <a:schemeClr val="folHlink"/>
              </a:buClr>
              <a:buFont typeface="Wingdings" pitchFamily="2" charset="2"/>
              <a:buChar char="Ø"/>
            </a:pPr>
            <a:r>
              <a:rPr lang="en-US" sz="1800">
                <a:solidFill>
                  <a:schemeClr val="bg2"/>
                </a:solidFill>
              </a:rPr>
              <a:t>Scope</a:t>
            </a:r>
          </a:p>
          <a:p>
            <a:pPr lvl="2">
              <a:lnSpc>
                <a:spcPct val="85000"/>
              </a:lnSpc>
              <a:spcBef>
                <a:spcPct val="0"/>
              </a:spcBef>
              <a:buClr>
                <a:schemeClr val="folHlink"/>
              </a:buClr>
              <a:buFont typeface="Wingdings" pitchFamily="2" charset="2"/>
              <a:buChar char="Ø"/>
            </a:pPr>
            <a:r>
              <a:rPr lang="en-US" sz="1800">
                <a:solidFill>
                  <a:schemeClr val="bg2"/>
                </a:solidFill>
              </a:rPr>
              <a:t>Operations</a:t>
            </a:r>
          </a:p>
          <a:p>
            <a:pPr lvl="2">
              <a:lnSpc>
                <a:spcPct val="85000"/>
              </a:lnSpc>
              <a:spcBef>
                <a:spcPct val="0"/>
              </a:spcBef>
              <a:buClr>
                <a:schemeClr val="folHlink"/>
              </a:buClr>
              <a:buFont typeface="Wingdings" pitchFamily="2" charset="2"/>
              <a:buChar char="Ø"/>
            </a:pPr>
            <a:r>
              <a:rPr lang="en-US" sz="1800">
                <a:solidFill>
                  <a:schemeClr val="bg2"/>
                </a:solidFill>
              </a:rPr>
              <a:t>Deliverables</a:t>
            </a:r>
          </a:p>
          <a:p>
            <a:pPr lvl="2">
              <a:lnSpc>
                <a:spcPct val="85000"/>
              </a:lnSpc>
              <a:spcBef>
                <a:spcPct val="0"/>
              </a:spcBef>
              <a:buClr>
                <a:schemeClr val="folHlink"/>
              </a:buClr>
              <a:buFont typeface="Wingdings" pitchFamily="2" charset="2"/>
              <a:buChar char="Ø"/>
            </a:pPr>
            <a:r>
              <a:rPr lang="en-US" sz="1800">
                <a:solidFill>
                  <a:schemeClr val="bg2"/>
                </a:solidFill>
              </a:rPr>
              <a:t>Roles</a:t>
            </a:r>
          </a:p>
          <a:p>
            <a:pPr lvl="2">
              <a:lnSpc>
                <a:spcPct val="85000"/>
              </a:lnSpc>
              <a:spcBef>
                <a:spcPct val="0"/>
              </a:spcBef>
              <a:buClr>
                <a:schemeClr val="folHlink"/>
              </a:buClr>
              <a:buFont typeface="Wingdings" pitchFamily="2" charset="2"/>
              <a:buChar char="Ø"/>
            </a:pPr>
            <a:r>
              <a:rPr lang="en-US" sz="1800">
                <a:solidFill>
                  <a:schemeClr val="bg2"/>
                </a:solidFill>
              </a:rPr>
              <a:t>Shared Services (products and support)</a:t>
            </a:r>
          </a:p>
          <a:p>
            <a:pPr lvl="2">
              <a:lnSpc>
                <a:spcPct val="85000"/>
              </a:lnSpc>
              <a:spcBef>
                <a:spcPct val="0"/>
              </a:spcBef>
              <a:buClr>
                <a:schemeClr val="folHlink"/>
              </a:buClr>
              <a:buFont typeface="Wingdings" pitchFamily="2" charset="2"/>
              <a:buChar char="Ø"/>
            </a:pPr>
            <a:endParaRPr lang="en-US" sz="1800">
              <a:solidFill>
                <a:schemeClr val="bg2"/>
              </a:solidFill>
            </a:endParaRPr>
          </a:p>
          <a:p>
            <a:pPr marL="520700" lvl="1" indent="-292100">
              <a:lnSpc>
                <a:spcPct val="75000"/>
              </a:lnSpc>
              <a:spcBef>
                <a:spcPct val="0"/>
              </a:spcBef>
              <a:buClr>
                <a:schemeClr val="folHlink"/>
              </a:buClr>
              <a:buSzPct val="120000"/>
              <a:buFontTx/>
              <a:buNone/>
            </a:pPr>
            <a:r>
              <a:rPr lang="en-US" sz="2000" b="1">
                <a:solidFill>
                  <a:schemeClr val="bg2"/>
                </a:solidFill>
              </a:rPr>
              <a:t>“WHY” the "Convergence Imperative"</a:t>
            </a:r>
          </a:p>
          <a:p>
            <a:pPr lvl="2">
              <a:lnSpc>
                <a:spcPct val="85000"/>
              </a:lnSpc>
              <a:spcBef>
                <a:spcPct val="0"/>
              </a:spcBef>
              <a:buClr>
                <a:schemeClr val="folHlink"/>
              </a:buClr>
              <a:buFont typeface="Wingdings" pitchFamily="2" charset="2"/>
              <a:buChar char="Ø"/>
            </a:pPr>
            <a:r>
              <a:rPr lang="en-US" sz="1800">
                <a:solidFill>
                  <a:schemeClr val="bg2"/>
                </a:solidFill>
              </a:rPr>
              <a:t>Value</a:t>
            </a:r>
          </a:p>
          <a:p>
            <a:pPr lvl="2">
              <a:lnSpc>
                <a:spcPct val="85000"/>
              </a:lnSpc>
              <a:spcBef>
                <a:spcPct val="0"/>
              </a:spcBef>
              <a:buClr>
                <a:schemeClr val="folHlink"/>
              </a:buClr>
              <a:buFont typeface="Wingdings" pitchFamily="2" charset="2"/>
              <a:buChar char="Ø"/>
            </a:pPr>
            <a:r>
              <a:rPr lang="en-US" sz="1800">
                <a:solidFill>
                  <a:schemeClr val="bg2"/>
                </a:solidFill>
              </a:rPr>
              <a:t>SOA Enabler</a:t>
            </a:r>
          </a:p>
          <a:p>
            <a:pPr lvl="2">
              <a:lnSpc>
                <a:spcPct val="85000"/>
              </a:lnSpc>
              <a:spcBef>
                <a:spcPct val="0"/>
              </a:spcBef>
              <a:buClr>
                <a:schemeClr val="folHlink"/>
              </a:buClr>
              <a:buFont typeface="Wingdings" pitchFamily="2" charset="2"/>
              <a:buChar char="Ø"/>
            </a:pPr>
            <a:r>
              <a:rPr lang="en-US" sz="1800">
                <a:solidFill>
                  <a:schemeClr val="bg2"/>
                </a:solidFill>
              </a:rPr>
              <a:t>SOA Framework</a:t>
            </a:r>
          </a:p>
          <a:p>
            <a:pPr marL="520700" lvl="1" indent="-292100">
              <a:lnSpc>
                <a:spcPct val="175000"/>
              </a:lnSpc>
              <a:buSzPct val="120000"/>
              <a:buFontTx/>
              <a:buNone/>
            </a:pPr>
            <a:r>
              <a:rPr lang="en-US" sz="2000" b="1"/>
              <a:t>“WHEN” Are Projects Engaged by EAS</a:t>
            </a:r>
          </a:p>
          <a:p>
            <a:pPr marL="520700" lvl="1" indent="-292100">
              <a:lnSpc>
                <a:spcPct val="175000"/>
              </a:lnSpc>
              <a:buSzPct val="120000"/>
              <a:buFontTx/>
              <a:buNone/>
            </a:pPr>
            <a:r>
              <a:rPr lang="en-US" sz="2000" b="1">
                <a:solidFill>
                  <a:schemeClr val="bg2"/>
                </a:solidFill>
              </a:rPr>
              <a:t>“HOW” to Stay Headed Towards Convergence</a:t>
            </a:r>
          </a:p>
        </p:txBody>
      </p:sp>
      <p:sp>
        <p:nvSpPr>
          <p:cNvPr id="2544644" name="AutoShape 1028"/>
          <p:cNvSpPr>
            <a:spLocks noChangeArrowheads="1"/>
          </p:cNvSpPr>
          <p:nvPr/>
        </p:nvSpPr>
        <p:spPr bwMode="auto">
          <a:xfrm>
            <a:off x="5880100" y="4889500"/>
            <a:ext cx="1612900" cy="469900"/>
          </a:xfrm>
          <a:prstGeom prst="leftArrow">
            <a:avLst>
              <a:gd name="adj1" fmla="val 50000"/>
              <a:gd name="adj2" fmla="val 85811"/>
            </a:avLst>
          </a:prstGeom>
          <a:solidFill>
            <a:srgbClr val="8FCDAF"/>
          </a:soli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2544644"/>
                                        </p:tgtEl>
                                        <p:attrNameLst>
                                          <p:attrName>style.visibility</p:attrName>
                                        </p:attrNameLst>
                                      </p:cBhvr>
                                      <p:to>
                                        <p:strVal val="visible"/>
                                      </p:to>
                                    </p:set>
                                    <p:anim calcmode="lin" valueType="num">
                                      <p:cBhvr additive="base">
                                        <p:cTn id="7" dur="500" fill="hold"/>
                                        <p:tgtEl>
                                          <p:spTgt spid="2544644"/>
                                        </p:tgtEl>
                                        <p:attrNameLst>
                                          <p:attrName>ppt_x</p:attrName>
                                        </p:attrNameLst>
                                      </p:cBhvr>
                                      <p:tavLst>
                                        <p:tav tm="0">
                                          <p:val>
                                            <p:strVal val="1+#ppt_w/2"/>
                                          </p:val>
                                        </p:tav>
                                        <p:tav tm="100000">
                                          <p:val>
                                            <p:strVal val="#ppt_x"/>
                                          </p:val>
                                        </p:tav>
                                      </p:tavLst>
                                    </p:anim>
                                    <p:anim calcmode="lin" valueType="num">
                                      <p:cBhvr additive="base">
                                        <p:cTn id="8" dur="500" fill="hold"/>
                                        <p:tgtEl>
                                          <p:spTgt spid="25446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46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5250" name="Rectangle 2"/>
          <p:cNvSpPr>
            <a:spLocks noGrp="1" noChangeArrowheads="1"/>
          </p:cNvSpPr>
          <p:nvPr>
            <p:ph type="title"/>
          </p:nvPr>
        </p:nvSpPr>
        <p:spPr>
          <a:xfrm>
            <a:off x="0" y="169863"/>
            <a:ext cx="9144000" cy="531812"/>
          </a:xfrm>
        </p:spPr>
        <p:txBody>
          <a:bodyPr/>
          <a:lstStyle/>
          <a:p>
            <a:pPr>
              <a:lnSpc>
                <a:spcPct val="80000"/>
              </a:lnSpc>
            </a:pPr>
            <a:r>
              <a:rPr lang="en-US" sz="3600"/>
              <a:t>“WHEN” Are Projects Are Engaged by EAS</a:t>
            </a:r>
          </a:p>
        </p:txBody>
      </p:sp>
      <p:sp>
        <p:nvSpPr>
          <p:cNvPr id="2485251" name="Rectangle 3"/>
          <p:cNvSpPr>
            <a:spLocks noGrp="1" noChangeArrowheads="1"/>
          </p:cNvSpPr>
          <p:nvPr>
            <p:ph type="body" idx="1"/>
          </p:nvPr>
        </p:nvSpPr>
        <p:spPr>
          <a:xfrm>
            <a:off x="901700" y="1028700"/>
            <a:ext cx="7785100" cy="5219700"/>
          </a:xfrm>
        </p:spPr>
        <p:txBody>
          <a:bodyPr/>
          <a:lstStyle/>
          <a:p>
            <a:pPr marL="0" indent="0">
              <a:lnSpc>
                <a:spcPct val="85000"/>
              </a:lnSpc>
              <a:buFontTx/>
              <a:buNone/>
            </a:pPr>
            <a:r>
              <a:rPr lang="en-US" sz="1800" b="1"/>
              <a:t>Begin during </a:t>
            </a:r>
            <a:r>
              <a:rPr lang="en-US" sz="1800" b="1" u="sng"/>
              <a:t>project proposal assessment</a:t>
            </a:r>
            <a:r>
              <a:rPr lang="en-US" sz="1600" b="1"/>
              <a:t> </a:t>
            </a:r>
          </a:p>
          <a:p>
            <a:pPr lvl="1">
              <a:lnSpc>
                <a:spcPct val="85000"/>
              </a:lnSpc>
            </a:pPr>
            <a:r>
              <a:rPr lang="en-US" sz="1600"/>
              <a:t>Map problem space to potential inventory of existing solutions</a:t>
            </a:r>
          </a:p>
          <a:p>
            <a:pPr marL="0" indent="0">
              <a:lnSpc>
                <a:spcPct val="85000"/>
              </a:lnSpc>
              <a:spcBef>
                <a:spcPct val="100000"/>
              </a:spcBef>
              <a:buFontTx/>
              <a:buNone/>
            </a:pPr>
            <a:r>
              <a:rPr lang="en-US" sz="1800" b="1"/>
              <a:t>EAS listens to key business requirements discussions to concurrently identify technical requirements.</a:t>
            </a:r>
          </a:p>
          <a:p>
            <a:pPr marL="0" indent="0">
              <a:lnSpc>
                <a:spcPct val="85000"/>
              </a:lnSpc>
              <a:spcBef>
                <a:spcPct val="100000"/>
              </a:spcBef>
              <a:buFontTx/>
              <a:buNone/>
            </a:pPr>
            <a:r>
              <a:rPr lang="en-US" sz="1800" b="1"/>
              <a:t>EAS helps structure the requirements as they are being identified:</a:t>
            </a:r>
          </a:p>
          <a:p>
            <a:pPr lvl="1">
              <a:lnSpc>
                <a:spcPct val="85000"/>
              </a:lnSpc>
            </a:pPr>
            <a:r>
              <a:rPr lang="en-US" sz="1600"/>
              <a:t>Business Requirements – inclusion in key Business-IT discussions;</a:t>
            </a:r>
          </a:p>
          <a:p>
            <a:pPr lvl="1">
              <a:lnSpc>
                <a:spcPct val="85000"/>
              </a:lnSpc>
            </a:pPr>
            <a:r>
              <a:rPr lang="en-US" sz="1600"/>
              <a:t>Functional Requirements – testable details of business requirements;</a:t>
            </a:r>
          </a:p>
          <a:p>
            <a:pPr lvl="1">
              <a:lnSpc>
                <a:spcPct val="85000"/>
              </a:lnSpc>
            </a:pPr>
            <a:r>
              <a:rPr lang="en-US" sz="1600"/>
              <a:t>Non-functional Requirements – supplemental needs (PARTS);</a:t>
            </a:r>
          </a:p>
          <a:p>
            <a:pPr lvl="1">
              <a:lnSpc>
                <a:spcPct val="85000"/>
              </a:lnSpc>
            </a:pPr>
            <a:r>
              <a:rPr lang="en-US" sz="1600"/>
              <a:t>Data – persistence needs;</a:t>
            </a:r>
          </a:p>
          <a:p>
            <a:pPr lvl="1">
              <a:lnSpc>
                <a:spcPct val="85000"/>
              </a:lnSpc>
            </a:pPr>
            <a:r>
              <a:rPr lang="en-US" sz="1600"/>
              <a:t>Technical – integration, sizing, hardware, environments, tools, COTS.</a:t>
            </a:r>
          </a:p>
          <a:p>
            <a:pPr marL="0" indent="0">
              <a:lnSpc>
                <a:spcPct val="85000"/>
              </a:lnSpc>
              <a:spcBef>
                <a:spcPct val="100000"/>
              </a:spcBef>
              <a:buFontTx/>
              <a:buNone/>
            </a:pPr>
            <a:r>
              <a:rPr lang="en-US" sz="1800" b="1"/>
              <a:t>EAS assists analysis to ID logical packages and raw components.</a:t>
            </a:r>
          </a:p>
          <a:p>
            <a:pPr marL="0" indent="0">
              <a:lnSpc>
                <a:spcPct val="85000"/>
              </a:lnSpc>
              <a:spcBef>
                <a:spcPct val="100000"/>
              </a:spcBef>
              <a:buFontTx/>
              <a:buNone/>
            </a:pPr>
            <a:r>
              <a:rPr lang="en-US" sz="1800" b="1"/>
              <a:t>EAS provides patterns mentoring during high level and detail design.</a:t>
            </a:r>
          </a:p>
          <a:p>
            <a:pPr marL="0" indent="0">
              <a:lnSpc>
                <a:spcPct val="85000"/>
              </a:lnSpc>
              <a:spcBef>
                <a:spcPct val="100000"/>
              </a:spcBef>
              <a:buFontTx/>
              <a:buNone/>
            </a:pPr>
            <a:r>
              <a:rPr lang="en-US" sz="1800" b="1"/>
              <a:t>EAS supports EAI Services </a:t>
            </a:r>
            <a:r>
              <a:rPr lang="en-US" sz="1800" b="1" u="sng"/>
              <a:t>through implementation warranty</a:t>
            </a:r>
            <a:r>
              <a:rPr lang="en-US" sz="1800" b="1"/>
              <a:t>.</a:t>
            </a:r>
          </a:p>
          <a:p>
            <a:pPr marL="0" indent="0">
              <a:lnSpc>
                <a:spcPct val="85000"/>
              </a:lnSpc>
              <a:spcBef>
                <a:spcPct val="100000"/>
              </a:spcBef>
              <a:buFontTx/>
              <a:buNone/>
            </a:pPr>
            <a:r>
              <a:rPr lang="en-US" sz="1800" b="1"/>
              <a:t>EAS provides long term EAI Services stewardship of PVCS baseline</a:t>
            </a:r>
          </a:p>
        </p:txBody>
      </p:sp>
      <p:sp>
        <p:nvSpPr>
          <p:cNvPr id="2485272" name="Oval 24"/>
          <p:cNvSpPr>
            <a:spLocks noChangeArrowheads="1"/>
          </p:cNvSpPr>
          <p:nvPr/>
        </p:nvSpPr>
        <p:spPr bwMode="auto">
          <a:xfrm>
            <a:off x="152400" y="152400"/>
            <a:ext cx="419100" cy="406400"/>
          </a:xfrm>
          <a:prstGeom prst="ellipse">
            <a:avLst/>
          </a:prstGeom>
          <a:solidFill>
            <a:schemeClr val="accent1"/>
          </a:solidFill>
          <a:ln w="9525">
            <a:noFill/>
            <a:round/>
            <a:headEnd/>
            <a:tailEnd/>
          </a:ln>
          <a:effectLst/>
        </p:spPr>
        <p:txBody>
          <a:bodyPr wrap="none" anchor="ctr"/>
          <a:lstStyle/>
          <a:p>
            <a:r>
              <a:rPr lang="en-US" sz="2800" b="1"/>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5666" name="Rectangle 2"/>
          <p:cNvSpPr>
            <a:spLocks noGrp="1" noChangeArrowheads="1"/>
          </p:cNvSpPr>
          <p:nvPr>
            <p:ph type="title"/>
          </p:nvPr>
        </p:nvSpPr>
        <p:spPr>
          <a:xfrm>
            <a:off x="1358900" y="96838"/>
            <a:ext cx="6019800" cy="641350"/>
          </a:xfrm>
        </p:spPr>
        <p:txBody>
          <a:bodyPr/>
          <a:lstStyle/>
          <a:p>
            <a:r>
              <a:rPr lang="en-US" sz="3600"/>
              <a:t>Agenda</a:t>
            </a:r>
          </a:p>
        </p:txBody>
      </p:sp>
      <p:sp>
        <p:nvSpPr>
          <p:cNvPr id="2545667" name="Rectangle 3"/>
          <p:cNvSpPr>
            <a:spLocks noGrp="1" noChangeArrowheads="1"/>
          </p:cNvSpPr>
          <p:nvPr>
            <p:ph type="body" idx="1"/>
          </p:nvPr>
        </p:nvSpPr>
        <p:spPr>
          <a:xfrm>
            <a:off x="241300" y="1314450"/>
            <a:ext cx="8737600" cy="4864100"/>
          </a:xfrm>
          <a:noFill/>
        </p:spPr>
        <p:txBody>
          <a:bodyPr/>
          <a:lstStyle/>
          <a:p>
            <a:pPr marL="520700" lvl="1" indent="-292100">
              <a:lnSpc>
                <a:spcPct val="75000"/>
              </a:lnSpc>
              <a:buSzPct val="120000"/>
              <a:buFontTx/>
              <a:buNone/>
            </a:pPr>
            <a:r>
              <a:rPr lang="en-US" sz="2000" b="1">
                <a:solidFill>
                  <a:schemeClr val="bg2"/>
                </a:solidFill>
              </a:rPr>
              <a:t>Enterprise Architecture Services in a Nutshell</a:t>
            </a:r>
          </a:p>
          <a:p>
            <a:pPr marL="520700" lvl="1" indent="-292100">
              <a:lnSpc>
                <a:spcPct val="175000"/>
              </a:lnSpc>
              <a:buSzPct val="120000"/>
              <a:buFontTx/>
              <a:buNone/>
            </a:pPr>
            <a:r>
              <a:rPr lang="en-US" sz="2000" b="1">
                <a:solidFill>
                  <a:schemeClr val="bg2"/>
                </a:solidFill>
              </a:rPr>
              <a:t>“WHAT” is Architecture</a:t>
            </a:r>
          </a:p>
          <a:p>
            <a:pPr lvl="2">
              <a:lnSpc>
                <a:spcPct val="85000"/>
              </a:lnSpc>
              <a:spcBef>
                <a:spcPct val="0"/>
              </a:spcBef>
              <a:buClr>
                <a:schemeClr val="folHlink"/>
              </a:buClr>
              <a:buFont typeface="Wingdings" pitchFamily="2" charset="2"/>
              <a:buChar char="Ø"/>
            </a:pPr>
            <a:r>
              <a:rPr lang="en-US" sz="1800">
                <a:solidFill>
                  <a:schemeClr val="bg2"/>
                </a:solidFill>
              </a:rPr>
              <a:t>Goals </a:t>
            </a:r>
          </a:p>
          <a:p>
            <a:pPr lvl="2">
              <a:lnSpc>
                <a:spcPct val="85000"/>
              </a:lnSpc>
              <a:spcBef>
                <a:spcPct val="0"/>
              </a:spcBef>
              <a:buClr>
                <a:schemeClr val="folHlink"/>
              </a:buClr>
              <a:buFont typeface="Wingdings" pitchFamily="2" charset="2"/>
              <a:buChar char="Ø"/>
            </a:pPr>
            <a:r>
              <a:rPr lang="en-US" sz="1800">
                <a:solidFill>
                  <a:schemeClr val="bg2"/>
                </a:solidFill>
              </a:rPr>
              <a:t>Scope</a:t>
            </a:r>
          </a:p>
          <a:p>
            <a:pPr lvl="2">
              <a:lnSpc>
                <a:spcPct val="85000"/>
              </a:lnSpc>
              <a:spcBef>
                <a:spcPct val="0"/>
              </a:spcBef>
              <a:buClr>
                <a:schemeClr val="folHlink"/>
              </a:buClr>
              <a:buFont typeface="Wingdings" pitchFamily="2" charset="2"/>
              <a:buChar char="Ø"/>
            </a:pPr>
            <a:r>
              <a:rPr lang="en-US" sz="1800">
                <a:solidFill>
                  <a:schemeClr val="bg2"/>
                </a:solidFill>
              </a:rPr>
              <a:t>Operations</a:t>
            </a:r>
          </a:p>
          <a:p>
            <a:pPr lvl="2">
              <a:lnSpc>
                <a:spcPct val="85000"/>
              </a:lnSpc>
              <a:spcBef>
                <a:spcPct val="0"/>
              </a:spcBef>
              <a:buClr>
                <a:schemeClr val="folHlink"/>
              </a:buClr>
              <a:buFont typeface="Wingdings" pitchFamily="2" charset="2"/>
              <a:buChar char="Ø"/>
            </a:pPr>
            <a:r>
              <a:rPr lang="en-US" sz="1800">
                <a:solidFill>
                  <a:schemeClr val="bg2"/>
                </a:solidFill>
              </a:rPr>
              <a:t>Deliverables</a:t>
            </a:r>
          </a:p>
          <a:p>
            <a:pPr lvl="2">
              <a:lnSpc>
                <a:spcPct val="85000"/>
              </a:lnSpc>
              <a:spcBef>
                <a:spcPct val="0"/>
              </a:spcBef>
              <a:buClr>
                <a:schemeClr val="folHlink"/>
              </a:buClr>
              <a:buFont typeface="Wingdings" pitchFamily="2" charset="2"/>
              <a:buChar char="Ø"/>
            </a:pPr>
            <a:r>
              <a:rPr lang="en-US" sz="1800">
                <a:solidFill>
                  <a:schemeClr val="bg2"/>
                </a:solidFill>
              </a:rPr>
              <a:t>Roles</a:t>
            </a:r>
          </a:p>
          <a:p>
            <a:pPr lvl="2">
              <a:lnSpc>
                <a:spcPct val="85000"/>
              </a:lnSpc>
              <a:spcBef>
                <a:spcPct val="0"/>
              </a:spcBef>
              <a:buClr>
                <a:schemeClr val="folHlink"/>
              </a:buClr>
              <a:buFont typeface="Wingdings" pitchFamily="2" charset="2"/>
              <a:buChar char="Ø"/>
            </a:pPr>
            <a:r>
              <a:rPr lang="en-US" sz="1800">
                <a:solidFill>
                  <a:schemeClr val="bg2"/>
                </a:solidFill>
              </a:rPr>
              <a:t>Shared Services (products and support)</a:t>
            </a:r>
          </a:p>
          <a:p>
            <a:pPr lvl="2">
              <a:lnSpc>
                <a:spcPct val="75000"/>
              </a:lnSpc>
              <a:spcBef>
                <a:spcPct val="0"/>
              </a:spcBef>
              <a:buClr>
                <a:schemeClr val="folHlink"/>
              </a:buClr>
              <a:buFont typeface="Wingdings" pitchFamily="2" charset="2"/>
              <a:buNone/>
            </a:pPr>
            <a:endParaRPr lang="en-US" sz="1800">
              <a:solidFill>
                <a:schemeClr val="bg2"/>
              </a:solidFill>
            </a:endParaRPr>
          </a:p>
          <a:p>
            <a:pPr marL="520700" lvl="1" indent="-292100">
              <a:lnSpc>
                <a:spcPct val="75000"/>
              </a:lnSpc>
              <a:spcBef>
                <a:spcPct val="0"/>
              </a:spcBef>
              <a:buClr>
                <a:schemeClr val="folHlink"/>
              </a:buClr>
              <a:buSzPct val="120000"/>
              <a:buFontTx/>
              <a:buNone/>
            </a:pPr>
            <a:r>
              <a:rPr lang="en-US" sz="2000" b="1">
                <a:solidFill>
                  <a:schemeClr val="bg2"/>
                </a:solidFill>
              </a:rPr>
              <a:t>“WHY” the "Convergence Imperative"</a:t>
            </a:r>
          </a:p>
          <a:p>
            <a:pPr lvl="2">
              <a:lnSpc>
                <a:spcPct val="85000"/>
              </a:lnSpc>
              <a:spcBef>
                <a:spcPct val="0"/>
              </a:spcBef>
              <a:buClr>
                <a:schemeClr val="folHlink"/>
              </a:buClr>
              <a:buFont typeface="Wingdings" pitchFamily="2" charset="2"/>
              <a:buChar char="Ø"/>
            </a:pPr>
            <a:r>
              <a:rPr lang="en-US" sz="1800">
                <a:solidFill>
                  <a:schemeClr val="bg2"/>
                </a:solidFill>
              </a:rPr>
              <a:t>Value</a:t>
            </a:r>
          </a:p>
          <a:p>
            <a:pPr lvl="2">
              <a:lnSpc>
                <a:spcPct val="85000"/>
              </a:lnSpc>
              <a:spcBef>
                <a:spcPct val="0"/>
              </a:spcBef>
              <a:buClr>
                <a:schemeClr val="folHlink"/>
              </a:buClr>
              <a:buFont typeface="Wingdings" pitchFamily="2" charset="2"/>
              <a:buChar char="Ø"/>
            </a:pPr>
            <a:r>
              <a:rPr lang="en-US" sz="1800">
                <a:solidFill>
                  <a:schemeClr val="bg2"/>
                </a:solidFill>
              </a:rPr>
              <a:t>SOA Enabler</a:t>
            </a:r>
          </a:p>
          <a:p>
            <a:pPr lvl="2">
              <a:lnSpc>
                <a:spcPct val="85000"/>
              </a:lnSpc>
              <a:spcBef>
                <a:spcPct val="0"/>
              </a:spcBef>
              <a:buClr>
                <a:schemeClr val="folHlink"/>
              </a:buClr>
              <a:buFont typeface="Wingdings" pitchFamily="2" charset="2"/>
              <a:buChar char="Ø"/>
            </a:pPr>
            <a:r>
              <a:rPr lang="en-US" sz="1800">
                <a:solidFill>
                  <a:schemeClr val="bg2"/>
                </a:solidFill>
              </a:rPr>
              <a:t>SOA Framework</a:t>
            </a:r>
          </a:p>
          <a:p>
            <a:pPr marL="520700" lvl="1" indent="-292100">
              <a:lnSpc>
                <a:spcPct val="175000"/>
              </a:lnSpc>
              <a:buSzPct val="120000"/>
              <a:buFontTx/>
              <a:buNone/>
            </a:pPr>
            <a:r>
              <a:rPr lang="en-US" sz="2000" b="1">
                <a:solidFill>
                  <a:schemeClr val="bg2"/>
                </a:solidFill>
              </a:rPr>
              <a:t>“WHEN” Are Projects Engaged by EAS</a:t>
            </a:r>
          </a:p>
          <a:p>
            <a:pPr marL="520700" lvl="1" indent="-292100">
              <a:lnSpc>
                <a:spcPct val="175000"/>
              </a:lnSpc>
              <a:buSzPct val="120000"/>
              <a:buFontTx/>
              <a:buNone/>
            </a:pPr>
            <a:r>
              <a:rPr lang="en-US" sz="2000" b="1"/>
              <a:t>“HOW” to Maintain Convergence Heading</a:t>
            </a:r>
          </a:p>
        </p:txBody>
      </p:sp>
      <p:sp>
        <p:nvSpPr>
          <p:cNvPr id="2545668" name="AutoShape 4"/>
          <p:cNvSpPr>
            <a:spLocks noChangeArrowheads="1"/>
          </p:cNvSpPr>
          <p:nvPr/>
        </p:nvSpPr>
        <p:spPr bwMode="auto">
          <a:xfrm>
            <a:off x="5816600" y="5499100"/>
            <a:ext cx="1612900" cy="469900"/>
          </a:xfrm>
          <a:prstGeom prst="leftArrow">
            <a:avLst>
              <a:gd name="adj1" fmla="val 50000"/>
              <a:gd name="adj2" fmla="val 85811"/>
            </a:avLst>
          </a:prstGeom>
          <a:solidFill>
            <a:srgbClr val="8FCDAF"/>
          </a:soli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1000"/>
                                  </p:stCondLst>
                                  <p:childTnLst>
                                    <p:set>
                                      <p:cBhvr>
                                        <p:cTn id="6" dur="1" fill="hold">
                                          <p:stCondLst>
                                            <p:cond delay="0"/>
                                          </p:stCondLst>
                                        </p:cTn>
                                        <p:tgtEl>
                                          <p:spTgt spid="2545668"/>
                                        </p:tgtEl>
                                        <p:attrNameLst>
                                          <p:attrName>style.visibility</p:attrName>
                                        </p:attrNameLst>
                                      </p:cBhvr>
                                      <p:to>
                                        <p:strVal val="visible"/>
                                      </p:to>
                                    </p:set>
                                    <p:anim calcmode="lin" valueType="num">
                                      <p:cBhvr additive="base">
                                        <p:cTn id="7" dur="500" fill="hold"/>
                                        <p:tgtEl>
                                          <p:spTgt spid="2545668"/>
                                        </p:tgtEl>
                                        <p:attrNameLst>
                                          <p:attrName>ppt_x</p:attrName>
                                        </p:attrNameLst>
                                      </p:cBhvr>
                                      <p:tavLst>
                                        <p:tav tm="0">
                                          <p:val>
                                            <p:strVal val="1+#ppt_w/2"/>
                                          </p:val>
                                        </p:tav>
                                        <p:tav tm="100000">
                                          <p:val>
                                            <p:strVal val="#ppt_x"/>
                                          </p:val>
                                        </p:tav>
                                      </p:tavLst>
                                    </p:anim>
                                    <p:anim calcmode="lin" valueType="num">
                                      <p:cBhvr additive="base">
                                        <p:cTn id="8" dur="500" fill="hold"/>
                                        <p:tgtEl>
                                          <p:spTgt spid="25456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566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1826" name="Rectangle 2"/>
          <p:cNvSpPr>
            <a:spLocks noGrp="1" noChangeArrowheads="1"/>
          </p:cNvSpPr>
          <p:nvPr>
            <p:ph type="body" idx="1"/>
          </p:nvPr>
        </p:nvSpPr>
        <p:spPr>
          <a:xfrm>
            <a:off x="292100" y="863600"/>
            <a:ext cx="8509000" cy="2641600"/>
          </a:xfrm>
        </p:spPr>
        <p:txBody>
          <a:bodyPr/>
          <a:lstStyle/>
          <a:p>
            <a:pPr marL="228600" indent="-228600">
              <a:spcBef>
                <a:spcPct val="75000"/>
              </a:spcBef>
              <a:buSzPct val="150000"/>
            </a:pPr>
            <a:r>
              <a:rPr lang="en-US" sz="2000" b="1"/>
              <a:t>Checklist of best practices across 4 architecture views</a:t>
            </a:r>
          </a:p>
          <a:p>
            <a:pPr lvl="1">
              <a:lnSpc>
                <a:spcPct val="80000"/>
              </a:lnSpc>
            </a:pPr>
            <a:r>
              <a:rPr lang="en-US" sz="1600"/>
              <a:t>1) </a:t>
            </a:r>
            <a:r>
              <a:rPr lang="en-US" sz="1600" b="1"/>
              <a:t>Applications</a:t>
            </a:r>
            <a:r>
              <a:rPr lang="en-US" sz="1600"/>
              <a:t>, 2) </a:t>
            </a:r>
            <a:r>
              <a:rPr lang="en-US" sz="1600" b="1"/>
              <a:t>Data</a:t>
            </a:r>
            <a:r>
              <a:rPr lang="en-US" sz="1600"/>
              <a:t>, 3) </a:t>
            </a:r>
            <a:r>
              <a:rPr lang="en-US" sz="1600" b="1"/>
              <a:t>Technical</a:t>
            </a:r>
            <a:r>
              <a:rPr lang="en-US" sz="1600"/>
              <a:t>, 4) </a:t>
            </a:r>
            <a:r>
              <a:rPr lang="en-US" sz="1600" b="1"/>
              <a:t>Business</a:t>
            </a:r>
            <a:r>
              <a:rPr lang="en-US" sz="1600"/>
              <a:t> </a:t>
            </a:r>
          </a:p>
          <a:p>
            <a:pPr lvl="1">
              <a:lnSpc>
                <a:spcPct val="80000"/>
              </a:lnSpc>
            </a:pPr>
            <a:r>
              <a:rPr lang="en-US" sz="1600"/>
              <a:t>Speed is the need – streamline and accelerate work products</a:t>
            </a:r>
          </a:p>
          <a:p>
            <a:pPr lvl="1">
              <a:lnSpc>
                <a:spcPct val="80000"/>
              </a:lnSpc>
            </a:pPr>
            <a:r>
              <a:rPr lang="en-US" sz="1600"/>
              <a:t>Assessment – empower self review by roles and delivery teams</a:t>
            </a:r>
          </a:p>
          <a:p>
            <a:pPr lvl="1">
              <a:lnSpc>
                <a:spcPct val="80000"/>
              </a:lnSpc>
            </a:pPr>
            <a:r>
              <a:rPr lang="en-US" sz="1600"/>
              <a:t>Continuous improvement</a:t>
            </a:r>
            <a:endParaRPr lang="en-US" sz="1600" b="1"/>
          </a:p>
          <a:p>
            <a:pPr marL="228600" indent="-228600">
              <a:lnSpc>
                <a:spcPct val="80000"/>
              </a:lnSpc>
              <a:spcBef>
                <a:spcPct val="50000"/>
              </a:spcBef>
              <a:buSzPct val="150000"/>
            </a:pPr>
            <a:r>
              <a:rPr lang="en-US" sz="2000" b="1"/>
              <a:t>Empowers repeatable process for architecture and design reviews</a:t>
            </a:r>
          </a:p>
          <a:p>
            <a:pPr marL="228600" indent="-228600">
              <a:lnSpc>
                <a:spcPct val="80000"/>
              </a:lnSpc>
              <a:spcBef>
                <a:spcPct val="50000"/>
              </a:spcBef>
              <a:buSzPct val="150000"/>
            </a:pPr>
            <a:r>
              <a:rPr lang="en-US" sz="2000" b="1"/>
              <a:t>Streamline execution of tactical deliveries with less rework</a:t>
            </a:r>
          </a:p>
          <a:p>
            <a:pPr marL="228600" indent="-228600">
              <a:lnSpc>
                <a:spcPct val="80000"/>
              </a:lnSpc>
              <a:spcBef>
                <a:spcPct val="50000"/>
              </a:spcBef>
              <a:buSzPct val="150000"/>
            </a:pPr>
            <a:r>
              <a:rPr lang="en-US" sz="2000" b="1"/>
              <a:t>Spreadsheet based “roadmap” leading to </a:t>
            </a:r>
            <a:r>
              <a:rPr lang="en-US" sz="2400" b="1"/>
              <a:t>convergence</a:t>
            </a:r>
          </a:p>
        </p:txBody>
      </p:sp>
      <p:graphicFrame>
        <p:nvGraphicFramePr>
          <p:cNvPr id="2381828" name="Group 4"/>
          <p:cNvGraphicFramePr>
            <a:graphicFrameLocks noGrp="1"/>
          </p:cNvGraphicFramePr>
          <p:nvPr/>
        </p:nvGraphicFramePr>
        <p:xfrm>
          <a:off x="381000" y="3568700"/>
          <a:ext cx="8534400" cy="2511552"/>
        </p:xfrm>
        <a:graphic>
          <a:graphicData uri="http://schemas.openxmlformats.org/drawingml/2006/table">
            <a:tbl>
              <a:tblPr/>
              <a:tblGrid>
                <a:gridCol w="1079500"/>
                <a:gridCol w="1231900"/>
                <a:gridCol w="1282700"/>
                <a:gridCol w="965200"/>
                <a:gridCol w="1384300"/>
                <a:gridCol w="1155700"/>
                <a:gridCol w="1104900"/>
                <a:gridCol w="330200"/>
              </a:tblGrid>
              <a:tr h="44767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Architecture Tenet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rPr>
                        <a:t>Quality / Best Practice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Work Product / Sub-product</a:t>
                      </a:r>
                      <a:endParaRPr kumimoji="0" lang="en-US" sz="12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SortNum -SDLC</a:t>
                      </a:r>
                      <a:endParaRPr kumimoji="0" lang="en-US" sz="12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SDLC </a:t>
                      </a:r>
                    </a:p>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Milestone</a:t>
                      </a:r>
                      <a:endParaRPr kumimoji="0" lang="en-US" sz="12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PARTS Addressed</a:t>
                      </a:r>
                      <a:endParaRPr kumimoji="0" lang="en-US" sz="12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120000"/>
                        <a:buFontTx/>
                        <a:buNone/>
                        <a:tabLst/>
                      </a:pPr>
                      <a:r>
                        <a:rPr kumimoji="0" lang="en-US" sz="1200" b="1" i="0" u="none" strike="noStrike" cap="none" normalizeH="0" baseline="0" smtClean="0">
                          <a:ln>
                            <a:noFill/>
                          </a:ln>
                          <a:solidFill>
                            <a:schemeClr val="tx1"/>
                          </a:solidFill>
                          <a:effectLst/>
                          <a:latin typeface="Arial" charset="0"/>
                          <a:cs typeface="Arial" charset="0"/>
                        </a:rPr>
                        <a:t>Role</a:t>
                      </a:r>
                      <a:endParaRPr kumimoji="0" lang="en-US" sz="12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120000"/>
                        <a:buFontTx/>
                        <a:buNone/>
                        <a:tabLst/>
                      </a:pPr>
                      <a:endParaRPr kumimoji="0" lang="en-US" sz="10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CCFF"/>
                    </a:solidFill>
                  </a:tcPr>
                </a:tc>
              </a:tr>
              <a:tr h="19431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400" b="1" i="1" u="none" strike="noStrike" cap="none" normalizeH="0" baseline="0" smtClean="0">
                          <a:ln>
                            <a:noFill/>
                          </a:ln>
                          <a:solidFill>
                            <a:schemeClr val="tx1"/>
                          </a:solidFill>
                          <a:effectLst/>
                          <a:latin typeface="Arial" charset="0"/>
                        </a:rPr>
                        <a:t>Descriptor</a:t>
                      </a:r>
                      <a:r>
                        <a:rPr kumimoji="0" lang="en-US" sz="1400" b="0" i="1" u="none" strike="noStrike" cap="none" normalizeH="0" baseline="0" smtClean="0">
                          <a:ln>
                            <a:noFill/>
                          </a:ln>
                          <a:solidFill>
                            <a:schemeClr val="tx1"/>
                          </a:solidFill>
                          <a:effectLst/>
                          <a:latin typeface="Arial" charset="0"/>
                        </a:rPr>
                        <a:t> of the best practice action step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400" b="0" i="1" u="none" strike="noStrike" cap="none" normalizeH="0" baseline="0" smtClean="0">
                          <a:ln>
                            <a:noFill/>
                          </a:ln>
                          <a:solidFill>
                            <a:schemeClr val="tx1"/>
                          </a:solidFill>
                          <a:effectLst/>
                          <a:latin typeface="Arial" charset="0"/>
                        </a:rPr>
                        <a:t>Describes some of the key </a:t>
                      </a:r>
                      <a:r>
                        <a:rPr kumimoji="0" lang="en-US" sz="1400" b="1" i="1" u="none" strike="noStrike" cap="none" normalizeH="0" baseline="0" smtClean="0">
                          <a:ln>
                            <a:noFill/>
                          </a:ln>
                          <a:solidFill>
                            <a:schemeClr val="tx1"/>
                          </a:solidFill>
                          <a:effectLst/>
                          <a:latin typeface="Arial" charset="0"/>
                        </a:rPr>
                        <a:t>goals</a:t>
                      </a:r>
                      <a:r>
                        <a:rPr kumimoji="0" lang="en-US" sz="1400" b="0" i="1" u="none" strike="noStrike" cap="none" normalizeH="0" baseline="0" smtClean="0">
                          <a:ln>
                            <a:noFill/>
                          </a:ln>
                          <a:solidFill>
                            <a:schemeClr val="tx1"/>
                          </a:solidFill>
                          <a:effectLst/>
                          <a:latin typeface="Arial" charset="0"/>
                        </a:rPr>
                        <a:t> the tenet addresses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400" b="0" i="1" u="none" strike="noStrike" cap="none" normalizeH="0" baseline="0" smtClean="0">
                          <a:ln>
                            <a:noFill/>
                          </a:ln>
                          <a:solidFill>
                            <a:schemeClr val="tx1"/>
                          </a:solidFill>
                          <a:effectLst/>
                          <a:latin typeface="Arial" charset="0"/>
                        </a:rPr>
                        <a:t>Identify SDLC work product and sub set of artifacts that would satisfy the tenet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400" b="0" i="1" u="none" strike="noStrike" cap="none" normalizeH="0" baseline="0" smtClean="0">
                          <a:ln>
                            <a:noFill/>
                          </a:ln>
                          <a:solidFill>
                            <a:schemeClr val="tx1"/>
                          </a:solidFill>
                          <a:effectLst/>
                          <a:latin typeface="Arial" charset="0"/>
                        </a:rPr>
                        <a:t>Sort </a:t>
                      </a:r>
                      <a:r>
                        <a:rPr kumimoji="0" lang="en-US" sz="1400" b="1" i="1" u="none" strike="noStrike" cap="none" normalizeH="0" baseline="0" smtClean="0">
                          <a:ln>
                            <a:noFill/>
                          </a:ln>
                          <a:solidFill>
                            <a:schemeClr val="tx1"/>
                          </a:solidFill>
                          <a:effectLst/>
                          <a:latin typeface="Arial" charset="0"/>
                        </a:rPr>
                        <a:t>order</a:t>
                      </a:r>
                      <a:r>
                        <a:rPr kumimoji="0" lang="en-US" sz="1400" b="0" i="1" u="none" strike="noStrike" cap="none" normalizeH="0" baseline="0" smtClean="0">
                          <a:ln>
                            <a:noFill/>
                          </a:ln>
                          <a:solidFill>
                            <a:schemeClr val="tx1"/>
                          </a:solidFill>
                          <a:effectLst/>
                          <a:latin typeface="Arial" charset="0"/>
                        </a:rPr>
                        <a:t> and </a:t>
                      </a:r>
                      <a:r>
                        <a:rPr kumimoji="0" lang="en-US" sz="1400" b="1" i="1" u="none" strike="noStrike" cap="none" normalizeH="0" baseline="0" smtClean="0">
                          <a:ln>
                            <a:noFill/>
                          </a:ln>
                          <a:solidFill>
                            <a:schemeClr val="tx1"/>
                          </a:solidFill>
                          <a:effectLst/>
                          <a:latin typeface="Arial" charset="0"/>
                        </a:rPr>
                        <a:t>phase</a:t>
                      </a:r>
                      <a:r>
                        <a:rPr kumimoji="0" lang="en-US" sz="1400" b="0" i="1" u="none" strike="noStrike" cap="none" normalizeH="0" baseline="0" smtClean="0">
                          <a:ln>
                            <a:noFill/>
                          </a:ln>
                          <a:solidFill>
                            <a:schemeClr val="tx1"/>
                          </a:solidFill>
                          <a:effectLst/>
                          <a:latin typeface="Arial" charset="0"/>
                        </a:rPr>
                        <a:t> within the  overall SDLC workflow</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endParaRPr kumimoji="0" lang="en-US" sz="12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400" b="0" i="1" u="none" strike="noStrike" cap="none" normalizeH="0" baseline="0" smtClean="0">
                          <a:ln>
                            <a:noFill/>
                          </a:ln>
                          <a:solidFill>
                            <a:schemeClr val="tx1"/>
                          </a:solidFill>
                          <a:effectLst/>
                          <a:latin typeface="Arial" charset="0"/>
                        </a:rPr>
                        <a:t>PAP, Requirements, Specification, Development, Test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Performance, Availability,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Adaptability,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Reliability,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Reusability, Testability,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Traceability,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Scalability,</a:t>
                      </a:r>
                    </a:p>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Supportability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r>
                        <a:rPr kumimoji="0" lang="en-US" sz="1200" b="0" i="1" u="none" strike="noStrike" cap="none" normalizeH="0" baseline="0" smtClean="0">
                          <a:ln>
                            <a:noFill/>
                          </a:ln>
                          <a:solidFill>
                            <a:schemeClr val="tx1"/>
                          </a:solidFill>
                          <a:effectLst/>
                          <a:latin typeface="Arial" charset="0"/>
                        </a:rPr>
                        <a:t>List one or more </a:t>
                      </a:r>
                      <a:r>
                        <a:rPr kumimoji="0" lang="en-US" sz="1400" b="1" i="1" u="none" strike="noStrike" cap="none" normalizeH="0" baseline="0" smtClean="0">
                          <a:ln>
                            <a:noFill/>
                          </a:ln>
                          <a:solidFill>
                            <a:schemeClr val="tx1"/>
                          </a:solidFill>
                          <a:effectLst/>
                          <a:latin typeface="Arial" charset="0"/>
                        </a:rPr>
                        <a:t>roles</a:t>
                      </a:r>
                      <a:r>
                        <a:rPr kumimoji="0" lang="en-US" sz="1200" b="0" i="1" u="none" strike="noStrike" cap="none" normalizeH="0" baseline="0" smtClean="0">
                          <a:ln>
                            <a:noFill/>
                          </a:ln>
                          <a:solidFill>
                            <a:schemeClr val="tx1"/>
                          </a:solidFill>
                          <a:effectLst/>
                          <a:latin typeface="Arial" charset="0"/>
                        </a:rPr>
                        <a:t> accountable for ensuring the tenet is incorporated into the solution or explicitly waived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120000"/>
                        <a:buFontTx/>
                        <a:buNone/>
                        <a:tabLst/>
                      </a:pPr>
                      <a:endParaRPr kumimoji="0" lang="en-US" sz="12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381857" name="Group 33"/>
          <p:cNvGrpSpPr>
            <a:grpSpLocks/>
          </p:cNvGrpSpPr>
          <p:nvPr/>
        </p:nvGrpSpPr>
        <p:grpSpPr bwMode="auto">
          <a:xfrm>
            <a:off x="8582025" y="3568700"/>
            <a:ext cx="320675" cy="492125"/>
            <a:chOff x="5022" y="2864"/>
            <a:chExt cx="378" cy="270"/>
          </a:xfrm>
        </p:grpSpPr>
        <p:sp>
          <p:nvSpPr>
            <p:cNvPr id="2381858" name="Text Box 34"/>
            <p:cNvSpPr txBox="1">
              <a:spLocks noChangeArrowheads="1"/>
            </p:cNvSpPr>
            <p:nvPr/>
          </p:nvSpPr>
          <p:spPr bwMode="auto">
            <a:xfrm>
              <a:off x="5022" y="3050"/>
              <a:ext cx="372" cy="84"/>
            </a:xfrm>
            <a:prstGeom prst="rect">
              <a:avLst/>
            </a:prstGeom>
            <a:solidFill>
              <a:srgbClr val="00CC00"/>
            </a:solidFill>
            <a:ln w="9525">
              <a:solidFill>
                <a:schemeClr val="tx1"/>
              </a:solidFill>
              <a:miter lim="800000"/>
              <a:headEnd/>
              <a:tailEnd/>
            </a:ln>
          </p:spPr>
          <p:txBody>
            <a:bodyPr/>
            <a:lstStyle/>
            <a:p>
              <a:pPr algn="l" eaLnBrk="0" hangingPunct="0"/>
              <a:endParaRPr lang="en-US" sz="2400">
                <a:latin typeface="Times New Roman" pitchFamily="18" charset="0"/>
              </a:endParaRPr>
            </a:p>
          </p:txBody>
        </p:sp>
        <p:sp>
          <p:nvSpPr>
            <p:cNvPr id="2381859" name="Text Box 35"/>
            <p:cNvSpPr txBox="1">
              <a:spLocks noChangeArrowheads="1"/>
            </p:cNvSpPr>
            <p:nvPr/>
          </p:nvSpPr>
          <p:spPr bwMode="auto">
            <a:xfrm>
              <a:off x="5022" y="2864"/>
              <a:ext cx="372" cy="96"/>
            </a:xfrm>
            <a:prstGeom prst="rect">
              <a:avLst/>
            </a:prstGeom>
            <a:solidFill>
              <a:srgbClr val="FF0000"/>
            </a:solidFill>
            <a:ln w="9525">
              <a:solidFill>
                <a:schemeClr val="tx1"/>
              </a:solidFill>
              <a:miter lim="800000"/>
              <a:headEnd/>
              <a:tailEnd/>
            </a:ln>
          </p:spPr>
          <p:txBody>
            <a:bodyPr/>
            <a:lstStyle/>
            <a:p>
              <a:pPr algn="l" eaLnBrk="0" hangingPunct="0"/>
              <a:endParaRPr lang="en-US" sz="2400">
                <a:latin typeface="Times New Roman" pitchFamily="18" charset="0"/>
              </a:endParaRPr>
            </a:p>
          </p:txBody>
        </p:sp>
        <p:sp>
          <p:nvSpPr>
            <p:cNvPr id="2381860" name="Text Box 36"/>
            <p:cNvSpPr txBox="1">
              <a:spLocks noChangeArrowheads="1"/>
            </p:cNvSpPr>
            <p:nvPr/>
          </p:nvSpPr>
          <p:spPr bwMode="auto">
            <a:xfrm>
              <a:off x="5022" y="2960"/>
              <a:ext cx="378" cy="90"/>
            </a:xfrm>
            <a:prstGeom prst="rect">
              <a:avLst/>
            </a:prstGeom>
            <a:solidFill>
              <a:srgbClr val="FFFF00"/>
            </a:solidFill>
            <a:ln w="9525">
              <a:solidFill>
                <a:schemeClr val="tx1"/>
              </a:solidFill>
              <a:miter lim="800000"/>
              <a:headEnd/>
              <a:tailEnd/>
            </a:ln>
          </p:spPr>
          <p:txBody>
            <a:bodyPr/>
            <a:lstStyle/>
            <a:p>
              <a:pPr algn="l" eaLnBrk="0" hangingPunct="0"/>
              <a:endParaRPr lang="en-US" sz="2400">
                <a:latin typeface="Times New Roman" pitchFamily="18" charset="0"/>
              </a:endParaRPr>
            </a:p>
          </p:txBody>
        </p:sp>
      </p:grpSp>
      <p:sp>
        <p:nvSpPr>
          <p:cNvPr id="2381863" name="Rectangle 39"/>
          <p:cNvSpPr>
            <a:spLocks noGrp="1" noChangeArrowheads="1"/>
          </p:cNvSpPr>
          <p:nvPr>
            <p:ph type="title"/>
          </p:nvPr>
        </p:nvSpPr>
        <p:spPr>
          <a:xfrm>
            <a:off x="254000" y="69850"/>
            <a:ext cx="8661400" cy="804863"/>
          </a:xfrm>
          <a:noFill/>
          <a:ln/>
        </p:spPr>
        <p:txBody>
          <a:bodyPr/>
          <a:lstStyle/>
          <a:p>
            <a:pPr>
              <a:lnSpc>
                <a:spcPct val="90000"/>
              </a:lnSpc>
            </a:pPr>
            <a:r>
              <a:rPr lang="en-US" sz="3400"/>
              <a:t>“How” to Maintain Convergence Heading </a:t>
            </a:r>
            <a:r>
              <a:rPr lang="en-US" sz="3600"/>
              <a:t/>
            </a:r>
            <a:br>
              <a:rPr lang="en-US" sz="3600"/>
            </a:br>
            <a:r>
              <a:rPr lang="en-US" sz="1800" i="1">
                <a:latin typeface="Arial" charset="0"/>
              </a:rPr>
              <a:t>Architecture Tenets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75573" name="Group 1589"/>
          <p:cNvGrpSpPr>
            <a:grpSpLocks/>
          </p:cNvGrpSpPr>
          <p:nvPr/>
        </p:nvGrpSpPr>
        <p:grpSpPr bwMode="auto">
          <a:xfrm>
            <a:off x="152400" y="1535113"/>
            <a:ext cx="1246188" cy="573087"/>
            <a:chOff x="98" y="1985"/>
            <a:chExt cx="785" cy="361"/>
          </a:xfrm>
        </p:grpSpPr>
        <p:grpSp>
          <p:nvGrpSpPr>
            <p:cNvPr id="2475574" name="Group 1590"/>
            <p:cNvGrpSpPr>
              <a:grpSpLocks/>
            </p:cNvGrpSpPr>
            <p:nvPr/>
          </p:nvGrpSpPr>
          <p:grpSpPr bwMode="auto">
            <a:xfrm>
              <a:off x="491" y="2017"/>
              <a:ext cx="392" cy="271"/>
              <a:chOff x="477" y="1965"/>
              <a:chExt cx="499" cy="378"/>
            </a:xfrm>
          </p:grpSpPr>
          <p:sp>
            <p:nvSpPr>
              <p:cNvPr id="2475575" name="Freeform 1591"/>
              <p:cNvSpPr>
                <a:spLocks noEditPoints="1"/>
              </p:cNvSpPr>
              <p:nvPr/>
            </p:nvSpPr>
            <p:spPr bwMode="auto">
              <a:xfrm>
                <a:off x="546" y="2019"/>
                <a:ext cx="367" cy="267"/>
              </a:xfrm>
              <a:custGeom>
                <a:avLst/>
                <a:gdLst/>
                <a:ahLst/>
                <a:cxnLst>
                  <a:cxn ang="0">
                    <a:pos x="61" y="230"/>
                  </a:cxn>
                  <a:cxn ang="0">
                    <a:pos x="183" y="138"/>
                  </a:cxn>
                  <a:cxn ang="0">
                    <a:pos x="183" y="267"/>
                  </a:cxn>
                  <a:cxn ang="0">
                    <a:pos x="183" y="138"/>
                  </a:cxn>
                  <a:cxn ang="0">
                    <a:pos x="306" y="230"/>
                  </a:cxn>
                  <a:cxn ang="0">
                    <a:pos x="183" y="138"/>
                  </a:cxn>
                  <a:cxn ang="0">
                    <a:pos x="367" y="138"/>
                  </a:cxn>
                  <a:cxn ang="0">
                    <a:pos x="183" y="138"/>
                  </a:cxn>
                  <a:cxn ang="0">
                    <a:pos x="306" y="46"/>
                  </a:cxn>
                  <a:cxn ang="0">
                    <a:pos x="183" y="138"/>
                  </a:cxn>
                  <a:cxn ang="0">
                    <a:pos x="183" y="0"/>
                  </a:cxn>
                  <a:cxn ang="0">
                    <a:pos x="183" y="138"/>
                  </a:cxn>
                  <a:cxn ang="0">
                    <a:pos x="99" y="61"/>
                  </a:cxn>
                  <a:cxn ang="0">
                    <a:pos x="183" y="138"/>
                  </a:cxn>
                  <a:cxn ang="0">
                    <a:pos x="0" y="138"/>
                  </a:cxn>
                  <a:cxn ang="0">
                    <a:pos x="183" y="138"/>
                  </a:cxn>
                </a:cxnLst>
                <a:rect l="0" t="0" r="r" b="b"/>
                <a:pathLst>
                  <a:path w="367" h="267">
                    <a:moveTo>
                      <a:pt x="61" y="230"/>
                    </a:moveTo>
                    <a:lnTo>
                      <a:pt x="183" y="138"/>
                    </a:lnTo>
                    <a:moveTo>
                      <a:pt x="183" y="267"/>
                    </a:moveTo>
                    <a:lnTo>
                      <a:pt x="183" y="138"/>
                    </a:lnTo>
                    <a:moveTo>
                      <a:pt x="306" y="230"/>
                    </a:moveTo>
                    <a:lnTo>
                      <a:pt x="183" y="138"/>
                    </a:lnTo>
                    <a:moveTo>
                      <a:pt x="367" y="138"/>
                    </a:moveTo>
                    <a:lnTo>
                      <a:pt x="183" y="138"/>
                    </a:lnTo>
                    <a:moveTo>
                      <a:pt x="306" y="46"/>
                    </a:moveTo>
                    <a:lnTo>
                      <a:pt x="183" y="138"/>
                    </a:lnTo>
                    <a:moveTo>
                      <a:pt x="183" y="0"/>
                    </a:moveTo>
                    <a:lnTo>
                      <a:pt x="183" y="138"/>
                    </a:lnTo>
                    <a:moveTo>
                      <a:pt x="99" y="61"/>
                    </a:moveTo>
                    <a:lnTo>
                      <a:pt x="183" y="138"/>
                    </a:lnTo>
                    <a:moveTo>
                      <a:pt x="0" y="138"/>
                    </a:moveTo>
                    <a:lnTo>
                      <a:pt x="183" y="138"/>
                    </a:lnTo>
                  </a:path>
                </a:pathLst>
              </a:custGeom>
              <a:noFill/>
              <a:ln w="3175" cap="rnd">
                <a:solidFill>
                  <a:srgbClr val="000000"/>
                </a:solidFill>
                <a:prstDash val="solid"/>
                <a:round/>
                <a:headEnd/>
                <a:tailEnd/>
              </a:ln>
            </p:spPr>
            <p:txBody>
              <a:bodyPr/>
              <a:lstStyle/>
              <a:p>
                <a:endParaRPr lang="en-US"/>
              </a:p>
            </p:txBody>
          </p:sp>
          <p:pic>
            <p:nvPicPr>
              <p:cNvPr id="2475576" name="Picture 1592"/>
              <p:cNvPicPr>
                <a:picLocks noChangeAspect="1" noChangeArrowheads="1"/>
              </p:cNvPicPr>
              <p:nvPr/>
            </p:nvPicPr>
            <p:blipFill>
              <a:blip r:embed="rId3" cstate="print"/>
              <a:srcRect/>
              <a:stretch>
                <a:fillRect/>
              </a:stretch>
            </p:blipFill>
            <p:spPr bwMode="auto">
              <a:xfrm>
                <a:off x="477" y="1965"/>
                <a:ext cx="499" cy="378"/>
              </a:xfrm>
              <a:prstGeom prst="rect">
                <a:avLst/>
              </a:prstGeom>
              <a:noFill/>
              <a:ln w="9525">
                <a:noFill/>
                <a:miter lim="800000"/>
                <a:headEnd/>
                <a:tailEnd/>
              </a:ln>
            </p:spPr>
          </p:pic>
          <p:pic>
            <p:nvPicPr>
              <p:cNvPr id="2475577" name="Picture 1593"/>
              <p:cNvPicPr>
                <a:picLocks noChangeAspect="1" noChangeArrowheads="1"/>
              </p:cNvPicPr>
              <p:nvPr/>
            </p:nvPicPr>
            <p:blipFill>
              <a:blip r:embed="rId4" cstate="print"/>
              <a:srcRect/>
              <a:stretch>
                <a:fillRect/>
              </a:stretch>
            </p:blipFill>
            <p:spPr bwMode="auto">
              <a:xfrm>
                <a:off x="544" y="1965"/>
                <a:ext cx="432" cy="378"/>
              </a:xfrm>
              <a:prstGeom prst="rect">
                <a:avLst/>
              </a:prstGeom>
              <a:noFill/>
              <a:ln w="9525">
                <a:noFill/>
                <a:miter lim="800000"/>
                <a:headEnd/>
                <a:tailEnd/>
              </a:ln>
            </p:spPr>
          </p:pic>
          <p:pic>
            <p:nvPicPr>
              <p:cNvPr id="2475578" name="Picture 1594"/>
              <p:cNvPicPr>
                <a:picLocks noChangeAspect="1" noChangeArrowheads="1"/>
              </p:cNvPicPr>
              <p:nvPr/>
            </p:nvPicPr>
            <p:blipFill>
              <a:blip r:embed="rId5" cstate="print"/>
              <a:srcRect/>
              <a:stretch>
                <a:fillRect/>
              </a:stretch>
            </p:blipFill>
            <p:spPr bwMode="auto">
              <a:xfrm>
                <a:off x="542" y="2098"/>
                <a:ext cx="348" cy="174"/>
              </a:xfrm>
              <a:prstGeom prst="rect">
                <a:avLst/>
              </a:prstGeom>
              <a:noFill/>
              <a:ln w="9525">
                <a:noFill/>
                <a:miter lim="800000"/>
                <a:headEnd/>
                <a:tailEnd/>
              </a:ln>
            </p:spPr>
          </p:pic>
          <p:pic>
            <p:nvPicPr>
              <p:cNvPr id="2475579" name="Picture 1595"/>
              <p:cNvPicPr>
                <a:picLocks noChangeAspect="1" noChangeArrowheads="1"/>
              </p:cNvPicPr>
              <p:nvPr/>
            </p:nvPicPr>
            <p:blipFill>
              <a:blip r:embed="rId6" cstate="print"/>
              <a:srcRect/>
              <a:stretch>
                <a:fillRect/>
              </a:stretch>
            </p:blipFill>
            <p:spPr bwMode="auto">
              <a:xfrm>
                <a:off x="711" y="1986"/>
                <a:ext cx="199" cy="174"/>
              </a:xfrm>
              <a:prstGeom prst="rect">
                <a:avLst/>
              </a:prstGeom>
              <a:noFill/>
              <a:ln w="9525">
                <a:noFill/>
                <a:miter lim="800000"/>
                <a:headEnd/>
                <a:tailEnd/>
              </a:ln>
            </p:spPr>
          </p:pic>
          <p:pic>
            <p:nvPicPr>
              <p:cNvPr id="2475580" name="Picture 1596"/>
              <p:cNvPicPr>
                <a:picLocks noChangeAspect="1" noChangeArrowheads="1"/>
              </p:cNvPicPr>
              <p:nvPr/>
            </p:nvPicPr>
            <p:blipFill>
              <a:blip r:embed="rId7" cstate="print"/>
              <a:srcRect/>
              <a:stretch>
                <a:fillRect/>
              </a:stretch>
            </p:blipFill>
            <p:spPr bwMode="auto">
              <a:xfrm>
                <a:off x="711" y="1986"/>
                <a:ext cx="199" cy="174"/>
              </a:xfrm>
              <a:prstGeom prst="rect">
                <a:avLst/>
              </a:prstGeom>
              <a:noFill/>
              <a:ln w="9525">
                <a:noFill/>
                <a:miter lim="800000"/>
                <a:headEnd/>
                <a:tailEnd/>
              </a:ln>
            </p:spPr>
          </p:pic>
          <p:pic>
            <p:nvPicPr>
              <p:cNvPr id="2475581" name="Picture 1597"/>
              <p:cNvPicPr>
                <a:picLocks noChangeAspect="1" noChangeArrowheads="1"/>
              </p:cNvPicPr>
              <p:nvPr/>
            </p:nvPicPr>
            <p:blipFill>
              <a:blip r:embed="rId8" cstate="print"/>
              <a:srcRect/>
              <a:stretch>
                <a:fillRect/>
              </a:stretch>
            </p:blipFill>
            <p:spPr bwMode="auto">
              <a:xfrm>
                <a:off x="752" y="2139"/>
                <a:ext cx="194" cy="107"/>
              </a:xfrm>
              <a:prstGeom prst="rect">
                <a:avLst/>
              </a:prstGeom>
              <a:noFill/>
              <a:ln w="9525">
                <a:noFill/>
                <a:miter lim="800000"/>
                <a:headEnd/>
                <a:tailEnd/>
              </a:ln>
            </p:spPr>
          </p:pic>
          <p:sp>
            <p:nvSpPr>
              <p:cNvPr id="2475582" name="Rectangle 1598"/>
              <p:cNvSpPr>
                <a:spLocks noChangeArrowheads="1"/>
              </p:cNvSpPr>
              <p:nvPr/>
            </p:nvSpPr>
            <p:spPr bwMode="auto">
              <a:xfrm>
                <a:off x="621" y="2123"/>
                <a:ext cx="243" cy="93"/>
              </a:xfrm>
              <a:prstGeom prst="rect">
                <a:avLst/>
              </a:prstGeom>
              <a:noFill/>
              <a:ln w="9525">
                <a:noFill/>
                <a:miter lim="800000"/>
                <a:headEnd/>
                <a:tailEnd/>
              </a:ln>
            </p:spPr>
            <p:txBody>
              <a:bodyPr wrap="none" lIns="0" tIns="0" rIns="0" bIns="0">
                <a:spAutoFit/>
              </a:bodyPr>
              <a:lstStyle/>
              <a:p>
                <a:r>
                  <a:rPr lang="en-US" sz="700">
                    <a:solidFill>
                      <a:srgbClr val="000000"/>
                    </a:solidFill>
                  </a:rPr>
                  <a:t>Internet</a:t>
                </a:r>
                <a:endParaRPr lang="en-US" sz="1200"/>
              </a:p>
            </p:txBody>
          </p:sp>
        </p:grpSp>
        <p:grpSp>
          <p:nvGrpSpPr>
            <p:cNvPr id="2475583" name="Group 1599"/>
            <p:cNvGrpSpPr>
              <a:grpSpLocks/>
            </p:cNvGrpSpPr>
            <p:nvPr/>
          </p:nvGrpSpPr>
          <p:grpSpPr bwMode="auto">
            <a:xfrm>
              <a:off x="98" y="1985"/>
              <a:ext cx="306" cy="361"/>
              <a:chOff x="400" y="563"/>
              <a:chExt cx="306" cy="361"/>
            </a:xfrm>
          </p:grpSpPr>
          <p:sp>
            <p:nvSpPr>
              <p:cNvPr id="2475584" name="Freeform 1600"/>
              <p:cNvSpPr>
                <a:spLocks/>
              </p:cNvSpPr>
              <p:nvPr/>
            </p:nvSpPr>
            <p:spPr bwMode="auto">
              <a:xfrm>
                <a:off x="668" y="808"/>
                <a:ext cx="38" cy="41"/>
              </a:xfrm>
              <a:custGeom>
                <a:avLst/>
                <a:gdLst/>
                <a:ahLst/>
                <a:cxnLst>
                  <a:cxn ang="0">
                    <a:pos x="8" y="41"/>
                  </a:cxn>
                  <a:cxn ang="0">
                    <a:pos x="0" y="0"/>
                  </a:cxn>
                  <a:cxn ang="0">
                    <a:pos x="38" y="19"/>
                  </a:cxn>
                  <a:cxn ang="0">
                    <a:pos x="8" y="41"/>
                  </a:cxn>
                </a:cxnLst>
                <a:rect l="0" t="0" r="r" b="b"/>
                <a:pathLst>
                  <a:path w="38" h="41">
                    <a:moveTo>
                      <a:pt x="8" y="41"/>
                    </a:moveTo>
                    <a:lnTo>
                      <a:pt x="0" y="0"/>
                    </a:lnTo>
                    <a:lnTo>
                      <a:pt x="38" y="19"/>
                    </a:lnTo>
                    <a:lnTo>
                      <a:pt x="8" y="41"/>
                    </a:lnTo>
                    <a:close/>
                  </a:path>
                </a:pathLst>
              </a:custGeom>
              <a:solidFill>
                <a:srgbClr val="000000"/>
              </a:solidFill>
              <a:ln w="9525">
                <a:noFill/>
                <a:round/>
                <a:headEnd/>
                <a:tailEnd/>
              </a:ln>
            </p:spPr>
            <p:txBody>
              <a:bodyPr/>
              <a:lstStyle/>
              <a:p>
                <a:endParaRPr lang="en-US"/>
              </a:p>
            </p:txBody>
          </p:sp>
          <p:sp>
            <p:nvSpPr>
              <p:cNvPr id="2475585" name="Freeform 1601"/>
              <p:cNvSpPr>
                <a:spLocks/>
              </p:cNvSpPr>
              <p:nvPr/>
            </p:nvSpPr>
            <p:spPr bwMode="auto">
              <a:xfrm>
                <a:off x="653" y="770"/>
                <a:ext cx="31" cy="76"/>
              </a:xfrm>
              <a:custGeom>
                <a:avLst/>
                <a:gdLst/>
                <a:ahLst/>
                <a:cxnLst>
                  <a:cxn ang="0">
                    <a:pos x="0" y="76"/>
                  </a:cxn>
                  <a:cxn ang="0">
                    <a:pos x="31" y="46"/>
                  </a:cxn>
                  <a:cxn ang="0">
                    <a:pos x="31" y="0"/>
                  </a:cxn>
                  <a:cxn ang="0">
                    <a:pos x="0" y="30"/>
                  </a:cxn>
                  <a:cxn ang="0">
                    <a:pos x="0" y="76"/>
                  </a:cxn>
                </a:cxnLst>
                <a:rect l="0" t="0" r="r" b="b"/>
                <a:pathLst>
                  <a:path w="31" h="76">
                    <a:moveTo>
                      <a:pt x="0" y="76"/>
                    </a:moveTo>
                    <a:lnTo>
                      <a:pt x="31" y="46"/>
                    </a:lnTo>
                    <a:lnTo>
                      <a:pt x="31" y="0"/>
                    </a:lnTo>
                    <a:lnTo>
                      <a:pt x="0" y="30"/>
                    </a:lnTo>
                    <a:lnTo>
                      <a:pt x="0" y="76"/>
                    </a:lnTo>
                    <a:close/>
                  </a:path>
                </a:pathLst>
              </a:custGeom>
              <a:solidFill>
                <a:srgbClr val="9A9A9A"/>
              </a:solidFill>
              <a:ln w="9525">
                <a:noFill/>
                <a:round/>
                <a:headEnd/>
                <a:tailEnd/>
              </a:ln>
            </p:spPr>
            <p:txBody>
              <a:bodyPr/>
              <a:lstStyle/>
              <a:p>
                <a:endParaRPr lang="en-US"/>
              </a:p>
            </p:txBody>
          </p:sp>
          <p:sp>
            <p:nvSpPr>
              <p:cNvPr id="2475586" name="Freeform 1602"/>
              <p:cNvSpPr>
                <a:spLocks/>
              </p:cNvSpPr>
              <p:nvPr/>
            </p:nvSpPr>
            <p:spPr bwMode="auto">
              <a:xfrm>
                <a:off x="638" y="770"/>
                <a:ext cx="46" cy="23"/>
              </a:xfrm>
              <a:custGeom>
                <a:avLst/>
                <a:gdLst/>
                <a:ahLst/>
                <a:cxnLst>
                  <a:cxn ang="0">
                    <a:pos x="23" y="23"/>
                  </a:cxn>
                  <a:cxn ang="0">
                    <a:pos x="46" y="0"/>
                  </a:cxn>
                  <a:cxn ang="0">
                    <a:pos x="0" y="0"/>
                  </a:cxn>
                  <a:cxn ang="0">
                    <a:pos x="23" y="23"/>
                  </a:cxn>
                </a:cxnLst>
                <a:rect l="0" t="0" r="r" b="b"/>
                <a:pathLst>
                  <a:path w="46" h="23">
                    <a:moveTo>
                      <a:pt x="23" y="23"/>
                    </a:moveTo>
                    <a:lnTo>
                      <a:pt x="46" y="0"/>
                    </a:lnTo>
                    <a:lnTo>
                      <a:pt x="0" y="0"/>
                    </a:lnTo>
                    <a:lnTo>
                      <a:pt x="23" y="23"/>
                    </a:lnTo>
                    <a:close/>
                  </a:path>
                </a:pathLst>
              </a:custGeom>
              <a:solidFill>
                <a:srgbClr val="E6E6E6"/>
              </a:solidFill>
              <a:ln w="9525">
                <a:noFill/>
                <a:round/>
                <a:headEnd/>
                <a:tailEnd/>
              </a:ln>
            </p:spPr>
            <p:txBody>
              <a:bodyPr/>
              <a:lstStyle/>
              <a:p>
                <a:endParaRPr lang="en-US"/>
              </a:p>
            </p:txBody>
          </p:sp>
          <p:sp>
            <p:nvSpPr>
              <p:cNvPr id="2475587" name="Freeform 1603"/>
              <p:cNvSpPr>
                <a:spLocks/>
              </p:cNvSpPr>
              <p:nvPr/>
            </p:nvSpPr>
            <p:spPr bwMode="auto">
              <a:xfrm>
                <a:off x="409" y="785"/>
                <a:ext cx="61" cy="15"/>
              </a:xfrm>
              <a:custGeom>
                <a:avLst/>
                <a:gdLst/>
                <a:ahLst/>
                <a:cxnLst>
                  <a:cxn ang="0">
                    <a:pos x="61" y="15"/>
                  </a:cxn>
                  <a:cxn ang="0">
                    <a:pos x="15" y="0"/>
                  </a:cxn>
                  <a:cxn ang="0">
                    <a:pos x="0" y="15"/>
                  </a:cxn>
                  <a:cxn ang="0">
                    <a:pos x="61" y="15"/>
                  </a:cxn>
                </a:cxnLst>
                <a:rect l="0" t="0" r="r" b="b"/>
                <a:pathLst>
                  <a:path w="61" h="15">
                    <a:moveTo>
                      <a:pt x="61" y="15"/>
                    </a:moveTo>
                    <a:lnTo>
                      <a:pt x="15" y="0"/>
                    </a:lnTo>
                    <a:lnTo>
                      <a:pt x="0" y="15"/>
                    </a:lnTo>
                    <a:lnTo>
                      <a:pt x="61" y="15"/>
                    </a:lnTo>
                    <a:close/>
                  </a:path>
                </a:pathLst>
              </a:custGeom>
              <a:solidFill>
                <a:srgbClr val="E6E6E6"/>
              </a:solidFill>
              <a:ln w="9525">
                <a:noFill/>
                <a:round/>
                <a:headEnd/>
                <a:tailEnd/>
              </a:ln>
            </p:spPr>
            <p:txBody>
              <a:bodyPr/>
              <a:lstStyle/>
              <a:p>
                <a:endParaRPr lang="en-US"/>
              </a:p>
            </p:txBody>
          </p:sp>
          <p:sp>
            <p:nvSpPr>
              <p:cNvPr id="2475588" name="Freeform 1604"/>
              <p:cNvSpPr>
                <a:spLocks/>
              </p:cNvSpPr>
              <p:nvPr/>
            </p:nvSpPr>
            <p:spPr bwMode="auto">
              <a:xfrm>
                <a:off x="424" y="770"/>
                <a:ext cx="252" cy="30"/>
              </a:xfrm>
              <a:custGeom>
                <a:avLst/>
                <a:gdLst/>
                <a:ahLst/>
                <a:cxnLst>
                  <a:cxn ang="0">
                    <a:pos x="252" y="7"/>
                  </a:cxn>
                  <a:cxn ang="0">
                    <a:pos x="237" y="0"/>
                  </a:cxn>
                  <a:cxn ang="0">
                    <a:pos x="15" y="0"/>
                  </a:cxn>
                  <a:cxn ang="0">
                    <a:pos x="0" y="15"/>
                  </a:cxn>
                  <a:cxn ang="0">
                    <a:pos x="46" y="30"/>
                  </a:cxn>
                  <a:cxn ang="0">
                    <a:pos x="229" y="30"/>
                  </a:cxn>
                  <a:cxn ang="0">
                    <a:pos x="252" y="7"/>
                  </a:cxn>
                </a:cxnLst>
                <a:rect l="0" t="0" r="r" b="b"/>
                <a:pathLst>
                  <a:path w="252" h="30">
                    <a:moveTo>
                      <a:pt x="252" y="7"/>
                    </a:moveTo>
                    <a:lnTo>
                      <a:pt x="237" y="0"/>
                    </a:lnTo>
                    <a:lnTo>
                      <a:pt x="15" y="0"/>
                    </a:lnTo>
                    <a:lnTo>
                      <a:pt x="0" y="15"/>
                    </a:lnTo>
                    <a:lnTo>
                      <a:pt x="46" y="30"/>
                    </a:lnTo>
                    <a:lnTo>
                      <a:pt x="229" y="30"/>
                    </a:lnTo>
                    <a:lnTo>
                      <a:pt x="252" y="7"/>
                    </a:lnTo>
                    <a:close/>
                  </a:path>
                </a:pathLst>
              </a:custGeom>
              <a:solidFill>
                <a:srgbClr val="9A9A9A"/>
              </a:solidFill>
              <a:ln w="9525">
                <a:noFill/>
                <a:round/>
                <a:headEnd/>
                <a:tailEnd/>
              </a:ln>
            </p:spPr>
            <p:txBody>
              <a:bodyPr/>
              <a:lstStyle/>
              <a:p>
                <a:endParaRPr lang="en-US"/>
              </a:p>
            </p:txBody>
          </p:sp>
          <p:pic>
            <p:nvPicPr>
              <p:cNvPr id="2475589" name="Picture 1605"/>
              <p:cNvPicPr>
                <a:picLocks noChangeAspect="1" noChangeArrowheads="1"/>
              </p:cNvPicPr>
              <p:nvPr/>
            </p:nvPicPr>
            <p:blipFill>
              <a:blip r:embed="rId9" cstate="print"/>
              <a:srcRect/>
              <a:stretch>
                <a:fillRect/>
              </a:stretch>
            </p:blipFill>
            <p:spPr bwMode="auto">
              <a:xfrm>
                <a:off x="452" y="780"/>
                <a:ext cx="183" cy="26"/>
              </a:xfrm>
              <a:prstGeom prst="rect">
                <a:avLst/>
              </a:prstGeom>
              <a:noFill/>
              <a:ln w="9525">
                <a:noFill/>
                <a:miter lim="800000"/>
                <a:headEnd/>
                <a:tailEnd/>
              </a:ln>
            </p:spPr>
          </p:pic>
          <p:sp>
            <p:nvSpPr>
              <p:cNvPr id="2475590" name="Rectangle 1606"/>
              <p:cNvSpPr>
                <a:spLocks noChangeArrowheads="1"/>
              </p:cNvSpPr>
              <p:nvPr/>
            </p:nvSpPr>
            <p:spPr bwMode="auto">
              <a:xfrm>
                <a:off x="401" y="795"/>
                <a:ext cx="5" cy="56"/>
              </a:xfrm>
              <a:prstGeom prst="rect">
                <a:avLst/>
              </a:prstGeom>
              <a:solidFill>
                <a:srgbClr val="E6E6E6"/>
              </a:solidFill>
              <a:ln w="9525">
                <a:noFill/>
                <a:miter lim="800000"/>
                <a:headEnd/>
                <a:tailEnd/>
              </a:ln>
            </p:spPr>
            <p:txBody>
              <a:bodyPr/>
              <a:lstStyle/>
              <a:p>
                <a:endParaRPr lang="en-US"/>
              </a:p>
            </p:txBody>
          </p:sp>
          <p:sp>
            <p:nvSpPr>
              <p:cNvPr id="2475591" name="Rectangle 1607"/>
              <p:cNvSpPr>
                <a:spLocks noChangeArrowheads="1"/>
              </p:cNvSpPr>
              <p:nvPr/>
            </p:nvSpPr>
            <p:spPr bwMode="auto">
              <a:xfrm>
                <a:off x="411" y="795"/>
                <a:ext cx="5" cy="56"/>
              </a:xfrm>
              <a:prstGeom prst="rect">
                <a:avLst/>
              </a:prstGeom>
              <a:solidFill>
                <a:srgbClr val="C1C1C1"/>
              </a:solidFill>
              <a:ln w="9525">
                <a:noFill/>
                <a:miter lim="800000"/>
                <a:headEnd/>
                <a:tailEnd/>
              </a:ln>
            </p:spPr>
            <p:txBody>
              <a:bodyPr/>
              <a:lstStyle/>
              <a:p>
                <a:endParaRPr lang="en-US"/>
              </a:p>
            </p:txBody>
          </p:sp>
          <p:sp>
            <p:nvSpPr>
              <p:cNvPr id="2475592" name="Rectangle 1608"/>
              <p:cNvSpPr>
                <a:spLocks noChangeArrowheads="1"/>
              </p:cNvSpPr>
              <p:nvPr/>
            </p:nvSpPr>
            <p:spPr bwMode="auto">
              <a:xfrm>
                <a:off x="416" y="795"/>
                <a:ext cx="10" cy="56"/>
              </a:xfrm>
              <a:prstGeom prst="rect">
                <a:avLst/>
              </a:prstGeom>
              <a:solidFill>
                <a:srgbClr val="C2C2C2"/>
              </a:solidFill>
              <a:ln w="9525">
                <a:noFill/>
                <a:miter lim="800000"/>
                <a:headEnd/>
                <a:tailEnd/>
              </a:ln>
            </p:spPr>
            <p:txBody>
              <a:bodyPr/>
              <a:lstStyle/>
              <a:p>
                <a:endParaRPr lang="en-US"/>
              </a:p>
            </p:txBody>
          </p:sp>
          <p:sp>
            <p:nvSpPr>
              <p:cNvPr id="2475593" name="Rectangle 1609"/>
              <p:cNvSpPr>
                <a:spLocks noChangeArrowheads="1"/>
              </p:cNvSpPr>
              <p:nvPr/>
            </p:nvSpPr>
            <p:spPr bwMode="auto">
              <a:xfrm>
                <a:off x="431" y="795"/>
                <a:ext cx="5" cy="56"/>
              </a:xfrm>
              <a:prstGeom prst="rect">
                <a:avLst/>
              </a:prstGeom>
              <a:solidFill>
                <a:srgbClr val="C4C4C4"/>
              </a:solidFill>
              <a:ln w="9525">
                <a:noFill/>
                <a:miter lim="800000"/>
                <a:headEnd/>
                <a:tailEnd/>
              </a:ln>
            </p:spPr>
            <p:txBody>
              <a:bodyPr/>
              <a:lstStyle/>
              <a:p>
                <a:endParaRPr lang="en-US"/>
              </a:p>
            </p:txBody>
          </p:sp>
          <p:sp>
            <p:nvSpPr>
              <p:cNvPr id="2475594" name="Rectangle 1610"/>
              <p:cNvSpPr>
                <a:spLocks noChangeArrowheads="1"/>
              </p:cNvSpPr>
              <p:nvPr/>
            </p:nvSpPr>
            <p:spPr bwMode="auto">
              <a:xfrm>
                <a:off x="436" y="795"/>
                <a:ext cx="5" cy="56"/>
              </a:xfrm>
              <a:prstGeom prst="rect">
                <a:avLst/>
              </a:prstGeom>
              <a:solidFill>
                <a:srgbClr val="C5C5C5"/>
              </a:solidFill>
              <a:ln w="9525">
                <a:noFill/>
                <a:miter lim="800000"/>
                <a:headEnd/>
                <a:tailEnd/>
              </a:ln>
            </p:spPr>
            <p:txBody>
              <a:bodyPr/>
              <a:lstStyle/>
              <a:p>
                <a:endParaRPr lang="en-US"/>
              </a:p>
            </p:txBody>
          </p:sp>
          <p:sp>
            <p:nvSpPr>
              <p:cNvPr id="2475595" name="Rectangle 1611"/>
              <p:cNvSpPr>
                <a:spLocks noChangeArrowheads="1"/>
              </p:cNvSpPr>
              <p:nvPr/>
            </p:nvSpPr>
            <p:spPr bwMode="auto">
              <a:xfrm>
                <a:off x="441" y="795"/>
                <a:ext cx="11" cy="56"/>
              </a:xfrm>
              <a:prstGeom prst="rect">
                <a:avLst/>
              </a:prstGeom>
              <a:solidFill>
                <a:srgbClr val="C6C6C6"/>
              </a:solidFill>
              <a:ln w="9525">
                <a:noFill/>
                <a:miter lim="800000"/>
                <a:headEnd/>
                <a:tailEnd/>
              </a:ln>
            </p:spPr>
            <p:txBody>
              <a:bodyPr/>
              <a:lstStyle/>
              <a:p>
                <a:endParaRPr lang="en-US"/>
              </a:p>
            </p:txBody>
          </p:sp>
          <p:sp>
            <p:nvSpPr>
              <p:cNvPr id="2475596" name="Rectangle 1612"/>
              <p:cNvSpPr>
                <a:spLocks noChangeArrowheads="1"/>
              </p:cNvSpPr>
              <p:nvPr/>
            </p:nvSpPr>
            <p:spPr bwMode="auto">
              <a:xfrm>
                <a:off x="452" y="795"/>
                <a:ext cx="5" cy="56"/>
              </a:xfrm>
              <a:prstGeom prst="rect">
                <a:avLst/>
              </a:prstGeom>
              <a:solidFill>
                <a:srgbClr val="C7C7C7"/>
              </a:solidFill>
              <a:ln w="9525">
                <a:noFill/>
                <a:miter lim="800000"/>
                <a:headEnd/>
                <a:tailEnd/>
              </a:ln>
            </p:spPr>
            <p:txBody>
              <a:bodyPr/>
              <a:lstStyle/>
              <a:p>
                <a:endParaRPr lang="en-US"/>
              </a:p>
            </p:txBody>
          </p:sp>
          <p:sp>
            <p:nvSpPr>
              <p:cNvPr id="2475597" name="Rectangle 1613"/>
              <p:cNvSpPr>
                <a:spLocks noChangeArrowheads="1"/>
              </p:cNvSpPr>
              <p:nvPr/>
            </p:nvSpPr>
            <p:spPr bwMode="auto">
              <a:xfrm>
                <a:off x="457" y="795"/>
                <a:ext cx="5" cy="56"/>
              </a:xfrm>
              <a:prstGeom prst="rect">
                <a:avLst/>
              </a:prstGeom>
              <a:solidFill>
                <a:srgbClr val="C8C8C8"/>
              </a:solidFill>
              <a:ln w="9525">
                <a:noFill/>
                <a:miter lim="800000"/>
                <a:headEnd/>
                <a:tailEnd/>
              </a:ln>
            </p:spPr>
            <p:txBody>
              <a:bodyPr/>
              <a:lstStyle/>
              <a:p>
                <a:endParaRPr lang="en-US"/>
              </a:p>
            </p:txBody>
          </p:sp>
          <p:sp>
            <p:nvSpPr>
              <p:cNvPr id="2475598" name="Rectangle 1614"/>
              <p:cNvSpPr>
                <a:spLocks noChangeArrowheads="1"/>
              </p:cNvSpPr>
              <p:nvPr/>
            </p:nvSpPr>
            <p:spPr bwMode="auto">
              <a:xfrm>
                <a:off x="462" y="795"/>
                <a:ext cx="5" cy="56"/>
              </a:xfrm>
              <a:prstGeom prst="rect">
                <a:avLst/>
              </a:prstGeom>
              <a:solidFill>
                <a:srgbClr val="C9C9C9"/>
              </a:solidFill>
              <a:ln w="9525">
                <a:noFill/>
                <a:miter lim="800000"/>
                <a:headEnd/>
                <a:tailEnd/>
              </a:ln>
            </p:spPr>
            <p:txBody>
              <a:bodyPr/>
              <a:lstStyle/>
              <a:p>
                <a:endParaRPr lang="en-US"/>
              </a:p>
            </p:txBody>
          </p:sp>
          <p:sp>
            <p:nvSpPr>
              <p:cNvPr id="2475599" name="Rectangle 1615"/>
              <p:cNvSpPr>
                <a:spLocks noChangeArrowheads="1"/>
              </p:cNvSpPr>
              <p:nvPr/>
            </p:nvSpPr>
            <p:spPr bwMode="auto">
              <a:xfrm>
                <a:off x="472" y="795"/>
                <a:ext cx="10" cy="56"/>
              </a:xfrm>
              <a:prstGeom prst="rect">
                <a:avLst/>
              </a:prstGeom>
              <a:solidFill>
                <a:srgbClr val="CBCBCB"/>
              </a:solidFill>
              <a:ln w="9525">
                <a:noFill/>
                <a:miter lim="800000"/>
                <a:headEnd/>
                <a:tailEnd/>
              </a:ln>
            </p:spPr>
            <p:txBody>
              <a:bodyPr/>
              <a:lstStyle/>
              <a:p>
                <a:endParaRPr lang="en-US"/>
              </a:p>
            </p:txBody>
          </p:sp>
          <p:sp>
            <p:nvSpPr>
              <p:cNvPr id="2475600" name="Rectangle 1616"/>
              <p:cNvSpPr>
                <a:spLocks noChangeArrowheads="1"/>
              </p:cNvSpPr>
              <p:nvPr/>
            </p:nvSpPr>
            <p:spPr bwMode="auto">
              <a:xfrm>
                <a:off x="482" y="795"/>
                <a:ext cx="5" cy="56"/>
              </a:xfrm>
              <a:prstGeom prst="rect">
                <a:avLst/>
              </a:prstGeom>
              <a:solidFill>
                <a:srgbClr val="CCCCCC"/>
              </a:solidFill>
              <a:ln w="9525">
                <a:noFill/>
                <a:miter lim="800000"/>
                <a:headEnd/>
                <a:tailEnd/>
              </a:ln>
            </p:spPr>
            <p:txBody>
              <a:bodyPr/>
              <a:lstStyle/>
              <a:p>
                <a:endParaRPr lang="en-US"/>
              </a:p>
            </p:txBody>
          </p:sp>
          <p:sp>
            <p:nvSpPr>
              <p:cNvPr id="2475601" name="Rectangle 1617"/>
              <p:cNvSpPr>
                <a:spLocks noChangeArrowheads="1"/>
              </p:cNvSpPr>
              <p:nvPr/>
            </p:nvSpPr>
            <p:spPr bwMode="auto">
              <a:xfrm>
                <a:off x="487" y="795"/>
                <a:ext cx="10" cy="56"/>
              </a:xfrm>
              <a:prstGeom prst="rect">
                <a:avLst/>
              </a:prstGeom>
              <a:solidFill>
                <a:srgbClr val="CDCDCD"/>
              </a:solidFill>
              <a:ln w="9525">
                <a:noFill/>
                <a:miter lim="800000"/>
                <a:headEnd/>
                <a:tailEnd/>
              </a:ln>
            </p:spPr>
            <p:txBody>
              <a:bodyPr/>
              <a:lstStyle/>
              <a:p>
                <a:endParaRPr lang="en-US"/>
              </a:p>
            </p:txBody>
          </p:sp>
          <p:sp>
            <p:nvSpPr>
              <p:cNvPr id="2475602" name="Rectangle 1618"/>
              <p:cNvSpPr>
                <a:spLocks noChangeArrowheads="1"/>
              </p:cNvSpPr>
              <p:nvPr/>
            </p:nvSpPr>
            <p:spPr bwMode="auto">
              <a:xfrm>
                <a:off x="497" y="795"/>
                <a:ext cx="6" cy="56"/>
              </a:xfrm>
              <a:prstGeom prst="rect">
                <a:avLst/>
              </a:prstGeom>
              <a:solidFill>
                <a:srgbClr val="CECECE"/>
              </a:solidFill>
              <a:ln w="9525">
                <a:noFill/>
                <a:miter lim="800000"/>
                <a:headEnd/>
                <a:tailEnd/>
              </a:ln>
            </p:spPr>
            <p:txBody>
              <a:bodyPr/>
              <a:lstStyle/>
              <a:p>
                <a:endParaRPr lang="en-US"/>
              </a:p>
            </p:txBody>
          </p:sp>
          <p:sp>
            <p:nvSpPr>
              <p:cNvPr id="2475603" name="Rectangle 1619"/>
              <p:cNvSpPr>
                <a:spLocks noChangeArrowheads="1"/>
              </p:cNvSpPr>
              <p:nvPr/>
            </p:nvSpPr>
            <p:spPr bwMode="auto">
              <a:xfrm>
                <a:off x="503" y="795"/>
                <a:ext cx="5" cy="56"/>
              </a:xfrm>
              <a:prstGeom prst="rect">
                <a:avLst/>
              </a:prstGeom>
              <a:solidFill>
                <a:srgbClr val="CFCFCF"/>
              </a:solidFill>
              <a:ln w="9525">
                <a:noFill/>
                <a:miter lim="800000"/>
                <a:headEnd/>
                <a:tailEnd/>
              </a:ln>
            </p:spPr>
            <p:txBody>
              <a:bodyPr/>
              <a:lstStyle/>
              <a:p>
                <a:endParaRPr lang="en-US"/>
              </a:p>
            </p:txBody>
          </p:sp>
          <p:sp>
            <p:nvSpPr>
              <p:cNvPr id="2475604" name="Rectangle 1620"/>
              <p:cNvSpPr>
                <a:spLocks noChangeArrowheads="1"/>
              </p:cNvSpPr>
              <p:nvPr/>
            </p:nvSpPr>
            <p:spPr bwMode="auto">
              <a:xfrm>
                <a:off x="508" y="795"/>
                <a:ext cx="5" cy="56"/>
              </a:xfrm>
              <a:prstGeom prst="rect">
                <a:avLst/>
              </a:prstGeom>
              <a:solidFill>
                <a:srgbClr val="D0D0D0"/>
              </a:solidFill>
              <a:ln w="9525">
                <a:noFill/>
                <a:miter lim="800000"/>
                <a:headEnd/>
                <a:tailEnd/>
              </a:ln>
            </p:spPr>
            <p:txBody>
              <a:bodyPr/>
              <a:lstStyle/>
              <a:p>
                <a:endParaRPr lang="en-US"/>
              </a:p>
            </p:txBody>
          </p:sp>
          <p:sp>
            <p:nvSpPr>
              <p:cNvPr id="2475605" name="Rectangle 1621"/>
              <p:cNvSpPr>
                <a:spLocks noChangeArrowheads="1"/>
              </p:cNvSpPr>
              <p:nvPr/>
            </p:nvSpPr>
            <p:spPr bwMode="auto">
              <a:xfrm>
                <a:off x="513" y="795"/>
                <a:ext cx="10" cy="56"/>
              </a:xfrm>
              <a:prstGeom prst="rect">
                <a:avLst/>
              </a:prstGeom>
              <a:solidFill>
                <a:srgbClr val="D1D1D1"/>
              </a:solidFill>
              <a:ln w="9525">
                <a:noFill/>
                <a:miter lim="800000"/>
                <a:headEnd/>
                <a:tailEnd/>
              </a:ln>
            </p:spPr>
            <p:txBody>
              <a:bodyPr/>
              <a:lstStyle/>
              <a:p>
                <a:endParaRPr lang="en-US"/>
              </a:p>
            </p:txBody>
          </p:sp>
          <p:sp>
            <p:nvSpPr>
              <p:cNvPr id="2475606" name="Rectangle 1622"/>
              <p:cNvSpPr>
                <a:spLocks noChangeArrowheads="1"/>
              </p:cNvSpPr>
              <p:nvPr/>
            </p:nvSpPr>
            <p:spPr bwMode="auto">
              <a:xfrm>
                <a:off x="523" y="795"/>
                <a:ext cx="5" cy="56"/>
              </a:xfrm>
              <a:prstGeom prst="rect">
                <a:avLst/>
              </a:prstGeom>
              <a:solidFill>
                <a:srgbClr val="D2D2D2"/>
              </a:solidFill>
              <a:ln w="9525">
                <a:noFill/>
                <a:miter lim="800000"/>
                <a:headEnd/>
                <a:tailEnd/>
              </a:ln>
            </p:spPr>
            <p:txBody>
              <a:bodyPr/>
              <a:lstStyle/>
              <a:p>
                <a:endParaRPr lang="en-US"/>
              </a:p>
            </p:txBody>
          </p:sp>
          <p:sp>
            <p:nvSpPr>
              <p:cNvPr id="2475607" name="Rectangle 1623"/>
              <p:cNvSpPr>
                <a:spLocks noChangeArrowheads="1"/>
              </p:cNvSpPr>
              <p:nvPr/>
            </p:nvSpPr>
            <p:spPr bwMode="auto">
              <a:xfrm>
                <a:off x="528" y="795"/>
                <a:ext cx="10" cy="56"/>
              </a:xfrm>
              <a:prstGeom prst="rect">
                <a:avLst/>
              </a:prstGeom>
              <a:solidFill>
                <a:srgbClr val="D3D3D3"/>
              </a:solidFill>
              <a:ln w="9525">
                <a:noFill/>
                <a:miter lim="800000"/>
                <a:headEnd/>
                <a:tailEnd/>
              </a:ln>
            </p:spPr>
            <p:txBody>
              <a:bodyPr/>
              <a:lstStyle/>
              <a:p>
                <a:endParaRPr lang="en-US"/>
              </a:p>
            </p:txBody>
          </p:sp>
          <p:sp>
            <p:nvSpPr>
              <p:cNvPr id="2475608" name="Rectangle 1624"/>
              <p:cNvSpPr>
                <a:spLocks noChangeArrowheads="1"/>
              </p:cNvSpPr>
              <p:nvPr/>
            </p:nvSpPr>
            <p:spPr bwMode="auto">
              <a:xfrm>
                <a:off x="538" y="795"/>
                <a:ext cx="5" cy="56"/>
              </a:xfrm>
              <a:prstGeom prst="rect">
                <a:avLst/>
              </a:prstGeom>
              <a:solidFill>
                <a:srgbClr val="D4D4D4"/>
              </a:solidFill>
              <a:ln w="9525">
                <a:noFill/>
                <a:miter lim="800000"/>
                <a:headEnd/>
                <a:tailEnd/>
              </a:ln>
            </p:spPr>
            <p:txBody>
              <a:bodyPr/>
              <a:lstStyle/>
              <a:p>
                <a:endParaRPr lang="en-US"/>
              </a:p>
            </p:txBody>
          </p:sp>
          <p:sp>
            <p:nvSpPr>
              <p:cNvPr id="2475609" name="Rectangle 1625"/>
              <p:cNvSpPr>
                <a:spLocks noChangeArrowheads="1"/>
              </p:cNvSpPr>
              <p:nvPr/>
            </p:nvSpPr>
            <p:spPr bwMode="auto">
              <a:xfrm>
                <a:off x="543" y="795"/>
                <a:ext cx="10" cy="56"/>
              </a:xfrm>
              <a:prstGeom prst="rect">
                <a:avLst/>
              </a:prstGeom>
              <a:solidFill>
                <a:srgbClr val="D5D5D5"/>
              </a:solidFill>
              <a:ln w="9525">
                <a:noFill/>
                <a:miter lim="800000"/>
                <a:headEnd/>
                <a:tailEnd/>
              </a:ln>
            </p:spPr>
            <p:txBody>
              <a:bodyPr/>
              <a:lstStyle/>
              <a:p>
                <a:endParaRPr lang="en-US"/>
              </a:p>
            </p:txBody>
          </p:sp>
          <p:sp>
            <p:nvSpPr>
              <p:cNvPr id="2475610" name="Rectangle 1626"/>
              <p:cNvSpPr>
                <a:spLocks noChangeArrowheads="1"/>
              </p:cNvSpPr>
              <p:nvPr/>
            </p:nvSpPr>
            <p:spPr bwMode="auto">
              <a:xfrm>
                <a:off x="559" y="795"/>
                <a:ext cx="5" cy="56"/>
              </a:xfrm>
              <a:prstGeom prst="rect">
                <a:avLst/>
              </a:prstGeom>
              <a:solidFill>
                <a:srgbClr val="D7D7D7"/>
              </a:solidFill>
              <a:ln w="9525">
                <a:noFill/>
                <a:miter lim="800000"/>
                <a:headEnd/>
                <a:tailEnd/>
              </a:ln>
            </p:spPr>
            <p:txBody>
              <a:bodyPr/>
              <a:lstStyle/>
              <a:p>
                <a:endParaRPr lang="en-US"/>
              </a:p>
            </p:txBody>
          </p:sp>
          <p:sp>
            <p:nvSpPr>
              <p:cNvPr id="2475611" name="Rectangle 1627"/>
              <p:cNvSpPr>
                <a:spLocks noChangeArrowheads="1"/>
              </p:cNvSpPr>
              <p:nvPr/>
            </p:nvSpPr>
            <p:spPr bwMode="auto">
              <a:xfrm>
                <a:off x="564" y="795"/>
                <a:ext cx="5" cy="56"/>
              </a:xfrm>
              <a:prstGeom prst="rect">
                <a:avLst/>
              </a:prstGeom>
              <a:solidFill>
                <a:srgbClr val="D8D8D8"/>
              </a:solidFill>
              <a:ln w="9525">
                <a:noFill/>
                <a:miter lim="800000"/>
                <a:headEnd/>
                <a:tailEnd/>
              </a:ln>
            </p:spPr>
            <p:txBody>
              <a:bodyPr/>
              <a:lstStyle/>
              <a:p>
                <a:endParaRPr lang="en-US"/>
              </a:p>
            </p:txBody>
          </p:sp>
          <p:sp>
            <p:nvSpPr>
              <p:cNvPr id="2475612" name="Rectangle 1628"/>
              <p:cNvSpPr>
                <a:spLocks noChangeArrowheads="1"/>
              </p:cNvSpPr>
              <p:nvPr/>
            </p:nvSpPr>
            <p:spPr bwMode="auto">
              <a:xfrm>
                <a:off x="569" y="795"/>
                <a:ext cx="10" cy="56"/>
              </a:xfrm>
              <a:prstGeom prst="rect">
                <a:avLst/>
              </a:prstGeom>
              <a:solidFill>
                <a:srgbClr val="D9D9D9"/>
              </a:solidFill>
              <a:ln w="9525">
                <a:noFill/>
                <a:miter lim="800000"/>
                <a:headEnd/>
                <a:tailEnd/>
              </a:ln>
            </p:spPr>
            <p:txBody>
              <a:bodyPr/>
              <a:lstStyle/>
              <a:p>
                <a:endParaRPr lang="en-US"/>
              </a:p>
            </p:txBody>
          </p:sp>
          <p:sp>
            <p:nvSpPr>
              <p:cNvPr id="2475613" name="Rectangle 1629"/>
              <p:cNvSpPr>
                <a:spLocks noChangeArrowheads="1"/>
              </p:cNvSpPr>
              <p:nvPr/>
            </p:nvSpPr>
            <p:spPr bwMode="auto">
              <a:xfrm>
                <a:off x="579" y="795"/>
                <a:ext cx="5" cy="56"/>
              </a:xfrm>
              <a:prstGeom prst="rect">
                <a:avLst/>
              </a:prstGeom>
              <a:solidFill>
                <a:srgbClr val="DADADA"/>
              </a:solidFill>
              <a:ln w="9525">
                <a:noFill/>
                <a:miter lim="800000"/>
                <a:headEnd/>
                <a:tailEnd/>
              </a:ln>
            </p:spPr>
            <p:txBody>
              <a:bodyPr/>
              <a:lstStyle/>
              <a:p>
                <a:endParaRPr lang="en-US"/>
              </a:p>
            </p:txBody>
          </p:sp>
          <p:sp>
            <p:nvSpPr>
              <p:cNvPr id="2475614" name="Rectangle 1630"/>
              <p:cNvSpPr>
                <a:spLocks noChangeArrowheads="1"/>
              </p:cNvSpPr>
              <p:nvPr/>
            </p:nvSpPr>
            <p:spPr bwMode="auto">
              <a:xfrm>
                <a:off x="584" y="795"/>
                <a:ext cx="5" cy="56"/>
              </a:xfrm>
              <a:prstGeom prst="rect">
                <a:avLst/>
              </a:prstGeom>
              <a:solidFill>
                <a:srgbClr val="DBDBDB"/>
              </a:solidFill>
              <a:ln w="9525">
                <a:noFill/>
                <a:miter lim="800000"/>
                <a:headEnd/>
                <a:tailEnd/>
              </a:ln>
            </p:spPr>
            <p:txBody>
              <a:bodyPr/>
              <a:lstStyle/>
              <a:p>
                <a:endParaRPr lang="en-US"/>
              </a:p>
            </p:txBody>
          </p:sp>
          <p:sp>
            <p:nvSpPr>
              <p:cNvPr id="2475615" name="Rectangle 1631"/>
              <p:cNvSpPr>
                <a:spLocks noChangeArrowheads="1"/>
              </p:cNvSpPr>
              <p:nvPr/>
            </p:nvSpPr>
            <p:spPr bwMode="auto">
              <a:xfrm>
                <a:off x="589" y="795"/>
                <a:ext cx="5" cy="56"/>
              </a:xfrm>
              <a:prstGeom prst="rect">
                <a:avLst/>
              </a:prstGeom>
              <a:solidFill>
                <a:srgbClr val="DCDCDC"/>
              </a:solidFill>
              <a:ln w="9525">
                <a:noFill/>
                <a:miter lim="800000"/>
                <a:headEnd/>
                <a:tailEnd/>
              </a:ln>
            </p:spPr>
            <p:txBody>
              <a:bodyPr/>
              <a:lstStyle/>
              <a:p>
                <a:endParaRPr lang="en-US"/>
              </a:p>
            </p:txBody>
          </p:sp>
          <p:sp>
            <p:nvSpPr>
              <p:cNvPr id="2475616" name="Rectangle 1632"/>
              <p:cNvSpPr>
                <a:spLocks noChangeArrowheads="1"/>
              </p:cNvSpPr>
              <p:nvPr/>
            </p:nvSpPr>
            <p:spPr bwMode="auto">
              <a:xfrm>
                <a:off x="599" y="795"/>
                <a:ext cx="10" cy="56"/>
              </a:xfrm>
              <a:prstGeom prst="rect">
                <a:avLst/>
              </a:prstGeom>
              <a:solidFill>
                <a:srgbClr val="DEDEDE"/>
              </a:solidFill>
              <a:ln w="9525">
                <a:noFill/>
                <a:miter lim="800000"/>
                <a:headEnd/>
                <a:tailEnd/>
              </a:ln>
            </p:spPr>
            <p:txBody>
              <a:bodyPr/>
              <a:lstStyle/>
              <a:p>
                <a:endParaRPr lang="en-US"/>
              </a:p>
            </p:txBody>
          </p:sp>
          <p:sp>
            <p:nvSpPr>
              <p:cNvPr id="2475617" name="Rectangle 1633"/>
              <p:cNvSpPr>
                <a:spLocks noChangeArrowheads="1"/>
              </p:cNvSpPr>
              <p:nvPr/>
            </p:nvSpPr>
            <p:spPr bwMode="auto">
              <a:xfrm>
                <a:off x="609" y="795"/>
                <a:ext cx="6" cy="56"/>
              </a:xfrm>
              <a:prstGeom prst="rect">
                <a:avLst/>
              </a:prstGeom>
              <a:solidFill>
                <a:srgbClr val="DFDFDF"/>
              </a:solidFill>
              <a:ln w="9525">
                <a:noFill/>
                <a:miter lim="800000"/>
                <a:headEnd/>
                <a:tailEnd/>
              </a:ln>
            </p:spPr>
            <p:txBody>
              <a:bodyPr/>
              <a:lstStyle/>
              <a:p>
                <a:endParaRPr lang="en-US"/>
              </a:p>
            </p:txBody>
          </p:sp>
          <p:sp>
            <p:nvSpPr>
              <p:cNvPr id="2475618" name="Rectangle 1634"/>
              <p:cNvSpPr>
                <a:spLocks noChangeArrowheads="1"/>
              </p:cNvSpPr>
              <p:nvPr/>
            </p:nvSpPr>
            <p:spPr bwMode="auto">
              <a:xfrm>
                <a:off x="615" y="795"/>
                <a:ext cx="10" cy="56"/>
              </a:xfrm>
              <a:prstGeom prst="rect">
                <a:avLst/>
              </a:prstGeom>
              <a:solidFill>
                <a:srgbClr val="E0E0E0"/>
              </a:solidFill>
              <a:ln w="9525">
                <a:noFill/>
                <a:miter lim="800000"/>
                <a:headEnd/>
                <a:tailEnd/>
              </a:ln>
            </p:spPr>
            <p:txBody>
              <a:bodyPr/>
              <a:lstStyle/>
              <a:p>
                <a:endParaRPr lang="en-US"/>
              </a:p>
            </p:txBody>
          </p:sp>
          <p:sp>
            <p:nvSpPr>
              <p:cNvPr id="2475619" name="Rectangle 1635"/>
              <p:cNvSpPr>
                <a:spLocks noChangeArrowheads="1"/>
              </p:cNvSpPr>
              <p:nvPr/>
            </p:nvSpPr>
            <p:spPr bwMode="auto">
              <a:xfrm>
                <a:off x="625" y="795"/>
                <a:ext cx="5" cy="56"/>
              </a:xfrm>
              <a:prstGeom prst="rect">
                <a:avLst/>
              </a:prstGeom>
              <a:solidFill>
                <a:srgbClr val="E1E1E1"/>
              </a:solidFill>
              <a:ln w="9525">
                <a:noFill/>
                <a:miter lim="800000"/>
                <a:headEnd/>
                <a:tailEnd/>
              </a:ln>
            </p:spPr>
            <p:txBody>
              <a:bodyPr/>
              <a:lstStyle/>
              <a:p>
                <a:endParaRPr lang="en-US"/>
              </a:p>
            </p:txBody>
          </p:sp>
          <p:sp>
            <p:nvSpPr>
              <p:cNvPr id="2475620" name="Rectangle 1636"/>
              <p:cNvSpPr>
                <a:spLocks noChangeArrowheads="1"/>
              </p:cNvSpPr>
              <p:nvPr/>
            </p:nvSpPr>
            <p:spPr bwMode="auto">
              <a:xfrm>
                <a:off x="630" y="795"/>
                <a:ext cx="5" cy="56"/>
              </a:xfrm>
              <a:prstGeom prst="rect">
                <a:avLst/>
              </a:prstGeom>
              <a:solidFill>
                <a:srgbClr val="E2E2E2"/>
              </a:solidFill>
              <a:ln w="9525">
                <a:noFill/>
                <a:miter lim="800000"/>
                <a:headEnd/>
                <a:tailEnd/>
              </a:ln>
            </p:spPr>
            <p:txBody>
              <a:bodyPr/>
              <a:lstStyle/>
              <a:p>
                <a:endParaRPr lang="en-US"/>
              </a:p>
            </p:txBody>
          </p:sp>
          <p:sp>
            <p:nvSpPr>
              <p:cNvPr id="2475621" name="Rectangle 1637"/>
              <p:cNvSpPr>
                <a:spLocks noChangeArrowheads="1"/>
              </p:cNvSpPr>
              <p:nvPr/>
            </p:nvSpPr>
            <p:spPr bwMode="auto">
              <a:xfrm>
                <a:off x="635" y="795"/>
                <a:ext cx="5" cy="56"/>
              </a:xfrm>
              <a:prstGeom prst="rect">
                <a:avLst/>
              </a:prstGeom>
              <a:solidFill>
                <a:srgbClr val="E3E3E3"/>
              </a:solidFill>
              <a:ln w="9525">
                <a:noFill/>
                <a:miter lim="800000"/>
                <a:headEnd/>
                <a:tailEnd/>
              </a:ln>
            </p:spPr>
            <p:txBody>
              <a:bodyPr/>
              <a:lstStyle/>
              <a:p>
                <a:endParaRPr lang="en-US"/>
              </a:p>
            </p:txBody>
          </p:sp>
          <p:sp>
            <p:nvSpPr>
              <p:cNvPr id="2475622" name="Rectangle 1638"/>
              <p:cNvSpPr>
                <a:spLocks noChangeArrowheads="1"/>
              </p:cNvSpPr>
              <p:nvPr/>
            </p:nvSpPr>
            <p:spPr bwMode="auto">
              <a:xfrm>
                <a:off x="640" y="795"/>
                <a:ext cx="10" cy="56"/>
              </a:xfrm>
              <a:prstGeom prst="rect">
                <a:avLst/>
              </a:prstGeom>
              <a:solidFill>
                <a:srgbClr val="E4E4E4"/>
              </a:solidFill>
              <a:ln w="9525">
                <a:noFill/>
                <a:miter lim="800000"/>
                <a:headEnd/>
                <a:tailEnd/>
              </a:ln>
            </p:spPr>
            <p:txBody>
              <a:bodyPr/>
              <a:lstStyle/>
              <a:p>
                <a:endParaRPr lang="en-US"/>
              </a:p>
            </p:txBody>
          </p:sp>
          <p:sp>
            <p:nvSpPr>
              <p:cNvPr id="2475623" name="Rectangle 1639"/>
              <p:cNvSpPr>
                <a:spLocks noChangeArrowheads="1"/>
              </p:cNvSpPr>
              <p:nvPr/>
            </p:nvSpPr>
            <p:spPr bwMode="auto">
              <a:xfrm>
                <a:off x="650" y="795"/>
                <a:ext cx="5" cy="56"/>
              </a:xfrm>
              <a:prstGeom prst="rect">
                <a:avLst/>
              </a:prstGeom>
              <a:solidFill>
                <a:srgbClr val="E5E5E5"/>
              </a:solidFill>
              <a:ln w="9525">
                <a:noFill/>
                <a:miter lim="800000"/>
                <a:headEnd/>
                <a:tailEnd/>
              </a:ln>
            </p:spPr>
            <p:txBody>
              <a:bodyPr/>
              <a:lstStyle/>
              <a:p>
                <a:endParaRPr lang="en-US"/>
              </a:p>
            </p:txBody>
          </p:sp>
          <p:sp>
            <p:nvSpPr>
              <p:cNvPr id="2475624" name="Rectangle 1640"/>
              <p:cNvSpPr>
                <a:spLocks noChangeArrowheads="1"/>
              </p:cNvSpPr>
              <p:nvPr/>
            </p:nvSpPr>
            <p:spPr bwMode="auto">
              <a:xfrm>
                <a:off x="409" y="800"/>
                <a:ext cx="244" cy="46"/>
              </a:xfrm>
              <a:prstGeom prst="rect">
                <a:avLst/>
              </a:prstGeom>
              <a:noFill/>
              <a:ln w="3175" cap="rnd">
                <a:solidFill>
                  <a:srgbClr val="000000"/>
                </a:solidFill>
                <a:round/>
                <a:headEnd/>
                <a:tailEnd/>
              </a:ln>
            </p:spPr>
            <p:txBody>
              <a:bodyPr/>
              <a:lstStyle/>
              <a:p>
                <a:endParaRPr lang="en-US"/>
              </a:p>
            </p:txBody>
          </p:sp>
          <p:sp>
            <p:nvSpPr>
              <p:cNvPr id="2475625" name="Rectangle 1641"/>
              <p:cNvSpPr>
                <a:spLocks noChangeArrowheads="1"/>
              </p:cNvSpPr>
              <p:nvPr/>
            </p:nvSpPr>
            <p:spPr bwMode="auto">
              <a:xfrm>
                <a:off x="406" y="806"/>
                <a:ext cx="254" cy="5"/>
              </a:xfrm>
              <a:prstGeom prst="rect">
                <a:avLst/>
              </a:prstGeom>
              <a:solidFill>
                <a:srgbClr val="9F9F9F"/>
              </a:solidFill>
              <a:ln w="9525">
                <a:noFill/>
                <a:miter lim="800000"/>
                <a:headEnd/>
                <a:tailEnd/>
              </a:ln>
            </p:spPr>
            <p:txBody>
              <a:bodyPr/>
              <a:lstStyle/>
              <a:p>
                <a:endParaRPr lang="en-US"/>
              </a:p>
            </p:txBody>
          </p:sp>
          <p:sp>
            <p:nvSpPr>
              <p:cNvPr id="2475626" name="Rectangle 1642"/>
              <p:cNvSpPr>
                <a:spLocks noChangeArrowheads="1"/>
              </p:cNvSpPr>
              <p:nvPr/>
            </p:nvSpPr>
            <p:spPr bwMode="auto">
              <a:xfrm>
                <a:off x="406" y="811"/>
                <a:ext cx="254" cy="5"/>
              </a:xfrm>
              <a:prstGeom prst="rect">
                <a:avLst/>
              </a:prstGeom>
              <a:solidFill>
                <a:srgbClr val="C4C4C4"/>
              </a:solidFill>
              <a:ln w="9525">
                <a:noFill/>
                <a:miter lim="800000"/>
                <a:headEnd/>
                <a:tailEnd/>
              </a:ln>
            </p:spPr>
            <p:txBody>
              <a:bodyPr/>
              <a:lstStyle/>
              <a:p>
                <a:endParaRPr lang="en-US"/>
              </a:p>
            </p:txBody>
          </p:sp>
          <p:sp>
            <p:nvSpPr>
              <p:cNvPr id="2475627" name="Rectangle 1643"/>
              <p:cNvSpPr>
                <a:spLocks noChangeArrowheads="1"/>
              </p:cNvSpPr>
              <p:nvPr/>
            </p:nvSpPr>
            <p:spPr bwMode="auto">
              <a:xfrm>
                <a:off x="406" y="816"/>
                <a:ext cx="254" cy="5"/>
              </a:xfrm>
              <a:prstGeom prst="rect">
                <a:avLst/>
              </a:prstGeom>
              <a:solidFill>
                <a:srgbClr val="DBDBDB"/>
              </a:solidFill>
              <a:ln w="9525">
                <a:noFill/>
                <a:miter lim="800000"/>
                <a:headEnd/>
                <a:tailEnd/>
              </a:ln>
            </p:spPr>
            <p:txBody>
              <a:bodyPr/>
              <a:lstStyle/>
              <a:p>
                <a:endParaRPr lang="en-US"/>
              </a:p>
            </p:txBody>
          </p:sp>
          <p:sp>
            <p:nvSpPr>
              <p:cNvPr id="2475628" name="Rectangle 1644"/>
              <p:cNvSpPr>
                <a:spLocks noChangeArrowheads="1"/>
              </p:cNvSpPr>
              <p:nvPr/>
            </p:nvSpPr>
            <p:spPr bwMode="auto">
              <a:xfrm>
                <a:off x="411" y="811"/>
                <a:ext cx="240" cy="7"/>
              </a:xfrm>
              <a:prstGeom prst="rect">
                <a:avLst/>
              </a:prstGeom>
              <a:noFill/>
              <a:ln w="1588" cap="rnd">
                <a:solidFill>
                  <a:srgbClr val="000000"/>
                </a:solidFill>
                <a:round/>
                <a:headEnd/>
                <a:tailEnd/>
              </a:ln>
            </p:spPr>
            <p:txBody>
              <a:bodyPr/>
              <a:lstStyle/>
              <a:p>
                <a:endParaRPr lang="en-US"/>
              </a:p>
            </p:txBody>
          </p:sp>
          <p:sp>
            <p:nvSpPr>
              <p:cNvPr id="2475629" name="Rectangle 1645"/>
              <p:cNvSpPr>
                <a:spLocks noChangeArrowheads="1"/>
              </p:cNvSpPr>
              <p:nvPr/>
            </p:nvSpPr>
            <p:spPr bwMode="auto">
              <a:xfrm>
                <a:off x="431" y="811"/>
                <a:ext cx="42" cy="7"/>
              </a:xfrm>
              <a:prstGeom prst="rect">
                <a:avLst/>
              </a:prstGeom>
              <a:solidFill>
                <a:srgbClr val="000000"/>
              </a:solidFill>
              <a:ln w="9525">
                <a:noFill/>
                <a:miter lim="800000"/>
                <a:headEnd/>
                <a:tailEnd/>
              </a:ln>
            </p:spPr>
            <p:txBody>
              <a:bodyPr/>
              <a:lstStyle/>
              <a:p>
                <a:endParaRPr lang="en-US"/>
              </a:p>
            </p:txBody>
          </p:sp>
          <p:sp>
            <p:nvSpPr>
              <p:cNvPr id="2475630" name="Rectangle 1646"/>
              <p:cNvSpPr>
                <a:spLocks noChangeArrowheads="1"/>
              </p:cNvSpPr>
              <p:nvPr/>
            </p:nvSpPr>
            <p:spPr bwMode="auto">
              <a:xfrm>
                <a:off x="431" y="811"/>
                <a:ext cx="42" cy="7"/>
              </a:xfrm>
              <a:prstGeom prst="rect">
                <a:avLst/>
              </a:prstGeom>
              <a:noFill/>
              <a:ln w="1588" cap="rnd">
                <a:solidFill>
                  <a:srgbClr val="000000"/>
                </a:solidFill>
                <a:round/>
                <a:headEnd/>
                <a:tailEnd/>
              </a:ln>
            </p:spPr>
            <p:txBody>
              <a:bodyPr/>
              <a:lstStyle/>
              <a:p>
                <a:endParaRPr lang="en-US"/>
              </a:p>
            </p:txBody>
          </p:sp>
          <p:pic>
            <p:nvPicPr>
              <p:cNvPr id="2475631" name="Picture 1647"/>
              <p:cNvPicPr>
                <a:picLocks noChangeAspect="1" noChangeArrowheads="1"/>
              </p:cNvPicPr>
              <p:nvPr/>
            </p:nvPicPr>
            <p:blipFill>
              <a:blip r:embed="rId10" cstate="print"/>
              <a:srcRect/>
              <a:stretch>
                <a:fillRect/>
              </a:stretch>
            </p:blipFill>
            <p:spPr bwMode="auto">
              <a:xfrm>
                <a:off x="411" y="816"/>
                <a:ext cx="36" cy="35"/>
              </a:xfrm>
              <a:prstGeom prst="rect">
                <a:avLst/>
              </a:prstGeom>
              <a:noFill/>
              <a:ln w="9525">
                <a:noFill/>
                <a:miter lim="800000"/>
                <a:headEnd/>
                <a:tailEnd/>
              </a:ln>
            </p:spPr>
          </p:pic>
          <p:pic>
            <p:nvPicPr>
              <p:cNvPr id="2475632" name="Picture 1648"/>
              <p:cNvPicPr>
                <a:picLocks noChangeAspect="1" noChangeArrowheads="1"/>
              </p:cNvPicPr>
              <p:nvPr/>
            </p:nvPicPr>
            <p:blipFill>
              <a:blip r:embed="rId11" cstate="print"/>
              <a:srcRect/>
              <a:stretch>
                <a:fillRect/>
              </a:stretch>
            </p:blipFill>
            <p:spPr bwMode="auto">
              <a:xfrm>
                <a:off x="411" y="816"/>
                <a:ext cx="36" cy="35"/>
              </a:xfrm>
              <a:prstGeom prst="rect">
                <a:avLst/>
              </a:prstGeom>
              <a:noFill/>
              <a:ln w="9525">
                <a:noFill/>
                <a:miter lim="800000"/>
                <a:headEnd/>
                <a:tailEnd/>
              </a:ln>
            </p:spPr>
          </p:pic>
          <p:sp>
            <p:nvSpPr>
              <p:cNvPr id="2475633" name="Rectangle 1649"/>
              <p:cNvSpPr>
                <a:spLocks noChangeArrowheads="1"/>
              </p:cNvSpPr>
              <p:nvPr/>
            </p:nvSpPr>
            <p:spPr bwMode="auto">
              <a:xfrm>
                <a:off x="436" y="826"/>
                <a:ext cx="5" cy="20"/>
              </a:xfrm>
              <a:prstGeom prst="rect">
                <a:avLst/>
              </a:prstGeom>
              <a:solidFill>
                <a:srgbClr val="CBCABB"/>
              </a:solidFill>
              <a:ln w="9525">
                <a:noFill/>
                <a:miter lim="800000"/>
                <a:headEnd/>
                <a:tailEnd/>
              </a:ln>
            </p:spPr>
            <p:txBody>
              <a:bodyPr/>
              <a:lstStyle/>
              <a:p>
                <a:endParaRPr lang="en-US"/>
              </a:p>
            </p:txBody>
          </p:sp>
          <p:sp>
            <p:nvSpPr>
              <p:cNvPr id="2475634" name="Rectangle 1650"/>
              <p:cNvSpPr>
                <a:spLocks noChangeArrowheads="1"/>
              </p:cNvSpPr>
              <p:nvPr/>
            </p:nvSpPr>
            <p:spPr bwMode="auto">
              <a:xfrm>
                <a:off x="441" y="826"/>
                <a:ext cx="6" cy="20"/>
              </a:xfrm>
              <a:prstGeom prst="rect">
                <a:avLst/>
              </a:prstGeom>
              <a:solidFill>
                <a:srgbClr val="D8D7C4"/>
              </a:solidFill>
              <a:ln w="9525">
                <a:noFill/>
                <a:miter lim="800000"/>
                <a:headEnd/>
                <a:tailEnd/>
              </a:ln>
            </p:spPr>
            <p:txBody>
              <a:bodyPr/>
              <a:lstStyle/>
              <a:p>
                <a:endParaRPr lang="en-US"/>
              </a:p>
            </p:txBody>
          </p:sp>
          <p:sp>
            <p:nvSpPr>
              <p:cNvPr id="2475635" name="Rectangle 1651"/>
              <p:cNvSpPr>
                <a:spLocks noChangeArrowheads="1"/>
              </p:cNvSpPr>
              <p:nvPr/>
            </p:nvSpPr>
            <p:spPr bwMode="auto">
              <a:xfrm>
                <a:off x="452" y="826"/>
                <a:ext cx="5" cy="20"/>
              </a:xfrm>
              <a:prstGeom prst="rect">
                <a:avLst/>
              </a:prstGeom>
              <a:solidFill>
                <a:srgbClr val="B0B0AA"/>
              </a:solidFill>
              <a:ln w="9525">
                <a:noFill/>
                <a:miter lim="800000"/>
                <a:headEnd/>
                <a:tailEnd/>
              </a:ln>
            </p:spPr>
            <p:txBody>
              <a:bodyPr/>
              <a:lstStyle/>
              <a:p>
                <a:endParaRPr lang="en-US"/>
              </a:p>
            </p:txBody>
          </p:sp>
          <p:sp>
            <p:nvSpPr>
              <p:cNvPr id="2475636" name="Rectangle 1652"/>
              <p:cNvSpPr>
                <a:spLocks noChangeArrowheads="1"/>
              </p:cNvSpPr>
              <p:nvPr/>
            </p:nvSpPr>
            <p:spPr bwMode="auto">
              <a:xfrm>
                <a:off x="457" y="826"/>
                <a:ext cx="5" cy="20"/>
              </a:xfrm>
              <a:prstGeom prst="rect">
                <a:avLst/>
              </a:prstGeom>
              <a:solidFill>
                <a:srgbClr val="9D9D9C"/>
              </a:solidFill>
              <a:ln w="9525">
                <a:noFill/>
                <a:miter lim="800000"/>
                <a:headEnd/>
                <a:tailEnd/>
              </a:ln>
            </p:spPr>
            <p:txBody>
              <a:bodyPr/>
              <a:lstStyle/>
              <a:p>
                <a:endParaRPr lang="en-US"/>
              </a:p>
            </p:txBody>
          </p:sp>
          <p:sp>
            <p:nvSpPr>
              <p:cNvPr id="2475637" name="Rectangle 1653"/>
              <p:cNvSpPr>
                <a:spLocks noChangeArrowheads="1"/>
              </p:cNvSpPr>
              <p:nvPr/>
            </p:nvSpPr>
            <p:spPr bwMode="auto">
              <a:xfrm>
                <a:off x="462" y="826"/>
                <a:ext cx="5" cy="20"/>
              </a:xfrm>
              <a:prstGeom prst="rect">
                <a:avLst/>
              </a:prstGeom>
              <a:solidFill>
                <a:srgbClr val="AAAAA5"/>
              </a:solidFill>
              <a:ln w="9525">
                <a:noFill/>
                <a:miter lim="800000"/>
                <a:headEnd/>
                <a:tailEnd/>
              </a:ln>
            </p:spPr>
            <p:txBody>
              <a:bodyPr/>
              <a:lstStyle/>
              <a:p>
                <a:endParaRPr lang="en-US"/>
              </a:p>
            </p:txBody>
          </p:sp>
          <p:pic>
            <p:nvPicPr>
              <p:cNvPr id="2475638" name="Picture 1654"/>
              <p:cNvPicPr>
                <a:picLocks noChangeAspect="1" noChangeArrowheads="1"/>
              </p:cNvPicPr>
              <p:nvPr/>
            </p:nvPicPr>
            <p:blipFill>
              <a:blip r:embed="rId12" cstate="print"/>
              <a:srcRect/>
              <a:stretch>
                <a:fillRect/>
              </a:stretch>
            </p:blipFill>
            <p:spPr bwMode="auto">
              <a:xfrm>
                <a:off x="411" y="816"/>
                <a:ext cx="30" cy="30"/>
              </a:xfrm>
              <a:prstGeom prst="rect">
                <a:avLst/>
              </a:prstGeom>
              <a:noFill/>
              <a:ln w="9525">
                <a:noFill/>
                <a:miter lim="800000"/>
                <a:headEnd/>
                <a:tailEnd/>
              </a:ln>
            </p:spPr>
          </p:pic>
          <p:pic>
            <p:nvPicPr>
              <p:cNvPr id="2475639" name="Picture 1655"/>
              <p:cNvPicPr>
                <a:picLocks noChangeAspect="1" noChangeArrowheads="1"/>
              </p:cNvPicPr>
              <p:nvPr/>
            </p:nvPicPr>
            <p:blipFill>
              <a:blip r:embed="rId13" cstate="print"/>
              <a:srcRect/>
              <a:stretch>
                <a:fillRect/>
              </a:stretch>
            </p:blipFill>
            <p:spPr bwMode="auto">
              <a:xfrm>
                <a:off x="411" y="816"/>
                <a:ext cx="30" cy="30"/>
              </a:xfrm>
              <a:prstGeom prst="rect">
                <a:avLst/>
              </a:prstGeom>
              <a:noFill/>
              <a:ln w="9525">
                <a:noFill/>
                <a:miter lim="800000"/>
                <a:headEnd/>
                <a:tailEnd/>
              </a:ln>
            </p:spPr>
          </p:pic>
          <p:sp>
            <p:nvSpPr>
              <p:cNvPr id="2475640" name="Freeform 1656"/>
              <p:cNvSpPr>
                <a:spLocks/>
              </p:cNvSpPr>
              <p:nvPr/>
            </p:nvSpPr>
            <p:spPr bwMode="auto">
              <a:xfrm>
                <a:off x="426" y="831"/>
                <a:ext cx="2" cy="2"/>
              </a:xfrm>
              <a:custGeom>
                <a:avLst/>
                <a:gdLst/>
                <a:ahLst/>
                <a:cxnLst>
                  <a:cxn ang="0">
                    <a:pos x="1" y="2"/>
                  </a:cxn>
                  <a:cxn ang="0">
                    <a:pos x="2" y="1"/>
                  </a:cxn>
                  <a:cxn ang="0">
                    <a:pos x="1" y="0"/>
                  </a:cxn>
                  <a:cxn ang="0">
                    <a:pos x="0" y="1"/>
                  </a:cxn>
                  <a:cxn ang="0">
                    <a:pos x="1" y="2"/>
                  </a:cxn>
                </a:cxnLst>
                <a:rect l="0" t="0" r="r" b="b"/>
                <a:pathLst>
                  <a:path w="2" h="2">
                    <a:moveTo>
                      <a:pt x="1" y="2"/>
                    </a:moveTo>
                    <a:lnTo>
                      <a:pt x="2" y="1"/>
                    </a:lnTo>
                    <a:lnTo>
                      <a:pt x="1" y="0"/>
                    </a:lnTo>
                    <a:lnTo>
                      <a:pt x="0" y="1"/>
                    </a:lnTo>
                    <a:lnTo>
                      <a:pt x="1" y="2"/>
                    </a:lnTo>
                    <a:close/>
                  </a:path>
                </a:pathLst>
              </a:custGeom>
              <a:solidFill>
                <a:srgbClr val="00FF00"/>
              </a:solidFill>
              <a:ln w="9525">
                <a:noFill/>
                <a:round/>
                <a:headEnd/>
                <a:tailEnd/>
              </a:ln>
            </p:spPr>
            <p:txBody>
              <a:bodyPr/>
              <a:lstStyle/>
              <a:p>
                <a:endParaRPr lang="en-US"/>
              </a:p>
            </p:txBody>
          </p:sp>
          <p:sp>
            <p:nvSpPr>
              <p:cNvPr id="2475641" name="Freeform 1657"/>
              <p:cNvSpPr>
                <a:spLocks/>
              </p:cNvSpPr>
              <p:nvPr/>
            </p:nvSpPr>
            <p:spPr bwMode="auto">
              <a:xfrm>
                <a:off x="426" y="831"/>
                <a:ext cx="2" cy="2"/>
              </a:xfrm>
              <a:custGeom>
                <a:avLst/>
                <a:gdLst/>
                <a:ahLst/>
                <a:cxnLst>
                  <a:cxn ang="0">
                    <a:pos x="1" y="2"/>
                  </a:cxn>
                  <a:cxn ang="0">
                    <a:pos x="2" y="1"/>
                  </a:cxn>
                  <a:cxn ang="0">
                    <a:pos x="1" y="0"/>
                  </a:cxn>
                  <a:cxn ang="0">
                    <a:pos x="0" y="1"/>
                  </a:cxn>
                  <a:cxn ang="0">
                    <a:pos x="1" y="2"/>
                  </a:cxn>
                </a:cxnLst>
                <a:rect l="0" t="0" r="r" b="b"/>
                <a:pathLst>
                  <a:path w="2" h="2">
                    <a:moveTo>
                      <a:pt x="1" y="2"/>
                    </a:moveTo>
                    <a:lnTo>
                      <a:pt x="2" y="1"/>
                    </a:lnTo>
                    <a:lnTo>
                      <a:pt x="1" y="0"/>
                    </a:lnTo>
                    <a:lnTo>
                      <a:pt x="0" y="1"/>
                    </a:lnTo>
                    <a:lnTo>
                      <a:pt x="1" y="2"/>
                    </a:lnTo>
                    <a:close/>
                  </a:path>
                </a:pathLst>
              </a:custGeom>
              <a:noFill/>
              <a:ln w="3175" cap="flat">
                <a:solidFill>
                  <a:srgbClr val="00FF00"/>
                </a:solidFill>
                <a:prstDash val="solid"/>
                <a:miter lim="800000"/>
                <a:headEnd/>
                <a:tailEnd/>
              </a:ln>
            </p:spPr>
            <p:txBody>
              <a:bodyPr/>
              <a:lstStyle/>
              <a:p>
                <a:endParaRPr lang="en-US"/>
              </a:p>
            </p:txBody>
          </p:sp>
          <p:sp>
            <p:nvSpPr>
              <p:cNvPr id="2475642" name="Freeform 1658"/>
              <p:cNvSpPr>
                <a:spLocks/>
              </p:cNvSpPr>
              <p:nvPr/>
            </p:nvSpPr>
            <p:spPr bwMode="auto">
              <a:xfrm>
                <a:off x="646" y="563"/>
                <a:ext cx="38" cy="225"/>
              </a:xfrm>
              <a:custGeom>
                <a:avLst/>
                <a:gdLst/>
                <a:ahLst/>
                <a:cxnLst>
                  <a:cxn ang="0">
                    <a:pos x="0" y="225"/>
                  </a:cxn>
                  <a:cxn ang="0">
                    <a:pos x="28" y="197"/>
                  </a:cxn>
                  <a:cxn ang="0">
                    <a:pos x="28" y="144"/>
                  </a:cxn>
                  <a:cxn ang="0">
                    <a:pos x="38" y="115"/>
                  </a:cxn>
                  <a:cxn ang="0">
                    <a:pos x="38" y="0"/>
                  </a:cxn>
                  <a:cxn ang="0">
                    <a:pos x="0" y="38"/>
                  </a:cxn>
                  <a:cxn ang="0">
                    <a:pos x="0" y="225"/>
                  </a:cxn>
                </a:cxnLst>
                <a:rect l="0" t="0" r="r" b="b"/>
                <a:pathLst>
                  <a:path w="38" h="225">
                    <a:moveTo>
                      <a:pt x="0" y="225"/>
                    </a:moveTo>
                    <a:lnTo>
                      <a:pt x="28" y="197"/>
                    </a:lnTo>
                    <a:lnTo>
                      <a:pt x="28" y="144"/>
                    </a:lnTo>
                    <a:lnTo>
                      <a:pt x="38" y="115"/>
                    </a:lnTo>
                    <a:lnTo>
                      <a:pt x="38" y="0"/>
                    </a:lnTo>
                    <a:lnTo>
                      <a:pt x="0" y="38"/>
                    </a:lnTo>
                    <a:lnTo>
                      <a:pt x="0" y="225"/>
                    </a:lnTo>
                    <a:close/>
                  </a:path>
                </a:pathLst>
              </a:custGeom>
              <a:solidFill>
                <a:srgbClr val="9A9A9A"/>
              </a:solidFill>
              <a:ln w="9525">
                <a:noFill/>
                <a:round/>
                <a:headEnd/>
                <a:tailEnd/>
              </a:ln>
            </p:spPr>
            <p:txBody>
              <a:bodyPr/>
              <a:lstStyle/>
              <a:p>
                <a:endParaRPr lang="en-US"/>
              </a:p>
            </p:txBody>
          </p:sp>
          <p:sp>
            <p:nvSpPr>
              <p:cNvPr id="2475643" name="Freeform 1659"/>
              <p:cNvSpPr>
                <a:spLocks/>
              </p:cNvSpPr>
              <p:nvPr/>
            </p:nvSpPr>
            <p:spPr bwMode="auto">
              <a:xfrm>
                <a:off x="416" y="563"/>
                <a:ext cx="268" cy="38"/>
              </a:xfrm>
              <a:custGeom>
                <a:avLst/>
                <a:gdLst/>
                <a:ahLst/>
                <a:cxnLst>
                  <a:cxn ang="0">
                    <a:pos x="268" y="0"/>
                  </a:cxn>
                  <a:cxn ang="0">
                    <a:pos x="38" y="0"/>
                  </a:cxn>
                  <a:cxn ang="0">
                    <a:pos x="0" y="38"/>
                  </a:cxn>
                  <a:cxn ang="0">
                    <a:pos x="230" y="38"/>
                  </a:cxn>
                  <a:cxn ang="0">
                    <a:pos x="268" y="0"/>
                  </a:cxn>
                </a:cxnLst>
                <a:rect l="0" t="0" r="r" b="b"/>
                <a:pathLst>
                  <a:path w="268" h="38">
                    <a:moveTo>
                      <a:pt x="268" y="0"/>
                    </a:moveTo>
                    <a:lnTo>
                      <a:pt x="38" y="0"/>
                    </a:lnTo>
                    <a:lnTo>
                      <a:pt x="0" y="38"/>
                    </a:lnTo>
                    <a:lnTo>
                      <a:pt x="230" y="38"/>
                    </a:lnTo>
                    <a:lnTo>
                      <a:pt x="268" y="0"/>
                    </a:lnTo>
                    <a:close/>
                  </a:path>
                </a:pathLst>
              </a:custGeom>
              <a:solidFill>
                <a:srgbClr val="E6E6E6"/>
              </a:solidFill>
              <a:ln w="9525">
                <a:noFill/>
                <a:round/>
                <a:headEnd/>
                <a:tailEnd/>
              </a:ln>
            </p:spPr>
            <p:txBody>
              <a:bodyPr/>
              <a:lstStyle/>
              <a:p>
                <a:endParaRPr lang="en-US"/>
              </a:p>
            </p:txBody>
          </p:sp>
          <p:sp>
            <p:nvSpPr>
              <p:cNvPr id="2475644" name="Rectangle 1660"/>
              <p:cNvSpPr>
                <a:spLocks noChangeArrowheads="1"/>
              </p:cNvSpPr>
              <p:nvPr/>
            </p:nvSpPr>
            <p:spPr bwMode="auto">
              <a:xfrm>
                <a:off x="416" y="601"/>
                <a:ext cx="230" cy="187"/>
              </a:xfrm>
              <a:prstGeom prst="rect">
                <a:avLst/>
              </a:prstGeom>
              <a:solidFill>
                <a:srgbClr val="C0C0C0"/>
              </a:solidFill>
              <a:ln w="9525">
                <a:noFill/>
                <a:miter lim="800000"/>
                <a:headEnd/>
                <a:tailEnd/>
              </a:ln>
            </p:spPr>
            <p:txBody>
              <a:bodyPr/>
              <a:lstStyle/>
              <a:p>
                <a:endParaRPr lang="en-US"/>
              </a:p>
            </p:txBody>
          </p:sp>
          <p:sp>
            <p:nvSpPr>
              <p:cNvPr id="2475645" name="Rectangle 1661"/>
              <p:cNvSpPr>
                <a:spLocks noChangeArrowheads="1"/>
              </p:cNvSpPr>
              <p:nvPr/>
            </p:nvSpPr>
            <p:spPr bwMode="auto">
              <a:xfrm>
                <a:off x="416" y="601"/>
                <a:ext cx="230" cy="187"/>
              </a:xfrm>
              <a:prstGeom prst="rect">
                <a:avLst/>
              </a:prstGeom>
              <a:noFill/>
              <a:ln w="3175" cap="rnd">
                <a:solidFill>
                  <a:srgbClr val="000000"/>
                </a:solidFill>
                <a:round/>
                <a:headEnd/>
                <a:tailEnd/>
              </a:ln>
            </p:spPr>
            <p:txBody>
              <a:bodyPr/>
              <a:lstStyle/>
              <a:p>
                <a:endParaRPr lang="en-US"/>
              </a:p>
            </p:txBody>
          </p:sp>
          <p:sp>
            <p:nvSpPr>
              <p:cNvPr id="2475646" name="Rectangle 1662"/>
              <p:cNvSpPr>
                <a:spLocks noChangeArrowheads="1"/>
              </p:cNvSpPr>
              <p:nvPr/>
            </p:nvSpPr>
            <p:spPr bwMode="auto">
              <a:xfrm>
                <a:off x="623" y="765"/>
                <a:ext cx="11" cy="5"/>
              </a:xfrm>
              <a:prstGeom prst="rect">
                <a:avLst/>
              </a:prstGeom>
              <a:solidFill>
                <a:srgbClr val="00FF00"/>
              </a:solidFill>
              <a:ln w="9525">
                <a:noFill/>
                <a:miter lim="800000"/>
                <a:headEnd/>
                <a:tailEnd/>
              </a:ln>
            </p:spPr>
            <p:txBody>
              <a:bodyPr/>
              <a:lstStyle/>
              <a:p>
                <a:endParaRPr lang="en-US"/>
              </a:p>
            </p:txBody>
          </p:sp>
          <p:pic>
            <p:nvPicPr>
              <p:cNvPr id="2475647" name="Picture 1663"/>
              <p:cNvPicPr>
                <a:picLocks noChangeAspect="1" noChangeArrowheads="1"/>
              </p:cNvPicPr>
              <p:nvPr/>
            </p:nvPicPr>
            <p:blipFill>
              <a:blip r:embed="rId14" cstate="print"/>
              <a:srcRect/>
              <a:stretch>
                <a:fillRect/>
              </a:stretch>
            </p:blipFill>
            <p:spPr bwMode="auto">
              <a:xfrm>
                <a:off x="436" y="622"/>
                <a:ext cx="179" cy="132"/>
              </a:xfrm>
              <a:prstGeom prst="rect">
                <a:avLst/>
              </a:prstGeom>
              <a:noFill/>
              <a:ln w="9525">
                <a:noFill/>
                <a:miter lim="800000"/>
                <a:headEnd/>
                <a:tailEnd/>
              </a:ln>
            </p:spPr>
          </p:pic>
          <p:pic>
            <p:nvPicPr>
              <p:cNvPr id="2475648" name="Picture 1664"/>
              <p:cNvPicPr>
                <a:picLocks noChangeAspect="1" noChangeArrowheads="1"/>
              </p:cNvPicPr>
              <p:nvPr/>
            </p:nvPicPr>
            <p:blipFill>
              <a:blip r:embed="rId15" cstate="print"/>
              <a:srcRect/>
              <a:stretch>
                <a:fillRect/>
              </a:stretch>
            </p:blipFill>
            <p:spPr bwMode="auto">
              <a:xfrm>
                <a:off x="436" y="622"/>
                <a:ext cx="179" cy="132"/>
              </a:xfrm>
              <a:prstGeom prst="rect">
                <a:avLst/>
              </a:prstGeom>
              <a:noFill/>
              <a:ln w="9525">
                <a:noFill/>
                <a:miter lim="800000"/>
                <a:headEnd/>
                <a:tailEnd/>
              </a:ln>
            </p:spPr>
          </p:pic>
          <p:sp>
            <p:nvSpPr>
              <p:cNvPr id="2475649" name="Freeform 1665"/>
              <p:cNvSpPr>
                <a:spLocks noEditPoints="1"/>
              </p:cNvSpPr>
              <p:nvPr/>
            </p:nvSpPr>
            <p:spPr bwMode="auto">
              <a:xfrm>
                <a:off x="437" y="821"/>
                <a:ext cx="205" cy="20"/>
              </a:xfrm>
              <a:custGeom>
                <a:avLst/>
                <a:gdLst/>
                <a:ahLst/>
                <a:cxnLst>
                  <a:cxn ang="0">
                    <a:pos x="140" y="3"/>
                  </a:cxn>
                  <a:cxn ang="0">
                    <a:pos x="161" y="0"/>
                  </a:cxn>
                  <a:cxn ang="0">
                    <a:pos x="161" y="7"/>
                  </a:cxn>
                  <a:cxn ang="0">
                    <a:pos x="174" y="3"/>
                  </a:cxn>
                  <a:cxn ang="0">
                    <a:pos x="196" y="0"/>
                  </a:cxn>
                  <a:cxn ang="0">
                    <a:pos x="196" y="7"/>
                  </a:cxn>
                  <a:cxn ang="0">
                    <a:pos x="122" y="3"/>
                  </a:cxn>
                  <a:cxn ang="0">
                    <a:pos x="92" y="0"/>
                  </a:cxn>
                  <a:cxn ang="0">
                    <a:pos x="92" y="7"/>
                  </a:cxn>
                  <a:cxn ang="0">
                    <a:pos x="105" y="3"/>
                  </a:cxn>
                  <a:cxn ang="0">
                    <a:pos x="39" y="0"/>
                  </a:cxn>
                  <a:cxn ang="0">
                    <a:pos x="39" y="7"/>
                  </a:cxn>
                  <a:cxn ang="0">
                    <a:pos x="52" y="3"/>
                  </a:cxn>
                  <a:cxn ang="0">
                    <a:pos x="74" y="0"/>
                  </a:cxn>
                  <a:cxn ang="0">
                    <a:pos x="74" y="7"/>
                  </a:cxn>
                  <a:cxn ang="0">
                    <a:pos x="48" y="16"/>
                  </a:cxn>
                  <a:cxn ang="0">
                    <a:pos x="188" y="13"/>
                  </a:cxn>
                  <a:cxn ang="0">
                    <a:pos x="188" y="20"/>
                  </a:cxn>
                  <a:cxn ang="0">
                    <a:pos x="201" y="16"/>
                  </a:cxn>
                  <a:cxn ang="0">
                    <a:pos x="155" y="13"/>
                  </a:cxn>
                  <a:cxn ang="0">
                    <a:pos x="155" y="20"/>
                  </a:cxn>
                  <a:cxn ang="0">
                    <a:pos x="168" y="16"/>
                  </a:cxn>
                  <a:cxn ang="0">
                    <a:pos x="85" y="13"/>
                  </a:cxn>
                  <a:cxn ang="0">
                    <a:pos x="85" y="20"/>
                  </a:cxn>
                  <a:cxn ang="0">
                    <a:pos x="98" y="16"/>
                  </a:cxn>
                  <a:cxn ang="0">
                    <a:pos x="120" y="13"/>
                  </a:cxn>
                  <a:cxn ang="0">
                    <a:pos x="120" y="20"/>
                  </a:cxn>
                  <a:cxn ang="0">
                    <a:pos x="133" y="16"/>
                  </a:cxn>
                  <a:cxn ang="0">
                    <a:pos x="67" y="13"/>
                  </a:cxn>
                  <a:cxn ang="0">
                    <a:pos x="67" y="20"/>
                  </a:cxn>
                  <a:cxn ang="0">
                    <a:pos x="17" y="3"/>
                  </a:cxn>
                  <a:cxn ang="0">
                    <a:pos x="4" y="0"/>
                  </a:cxn>
                  <a:cxn ang="0">
                    <a:pos x="4" y="7"/>
                  </a:cxn>
                </a:cxnLst>
                <a:rect l="0" t="0" r="r" b="b"/>
                <a:pathLst>
                  <a:path w="205" h="20">
                    <a:moveTo>
                      <a:pt x="144" y="0"/>
                    </a:moveTo>
                    <a:lnTo>
                      <a:pt x="140" y="3"/>
                    </a:lnTo>
                    <a:lnTo>
                      <a:pt x="144" y="7"/>
                    </a:lnTo>
                    <a:moveTo>
                      <a:pt x="161" y="0"/>
                    </a:moveTo>
                    <a:lnTo>
                      <a:pt x="157" y="3"/>
                    </a:lnTo>
                    <a:lnTo>
                      <a:pt x="161" y="7"/>
                    </a:lnTo>
                    <a:moveTo>
                      <a:pt x="179" y="0"/>
                    </a:moveTo>
                    <a:lnTo>
                      <a:pt x="174" y="3"/>
                    </a:lnTo>
                    <a:lnTo>
                      <a:pt x="179" y="7"/>
                    </a:lnTo>
                    <a:moveTo>
                      <a:pt x="196" y="0"/>
                    </a:moveTo>
                    <a:lnTo>
                      <a:pt x="192" y="3"/>
                    </a:lnTo>
                    <a:lnTo>
                      <a:pt x="196" y="7"/>
                    </a:lnTo>
                    <a:moveTo>
                      <a:pt x="127" y="0"/>
                    </a:moveTo>
                    <a:lnTo>
                      <a:pt x="122" y="3"/>
                    </a:lnTo>
                    <a:lnTo>
                      <a:pt x="127" y="7"/>
                    </a:lnTo>
                    <a:moveTo>
                      <a:pt x="92" y="0"/>
                    </a:moveTo>
                    <a:lnTo>
                      <a:pt x="87" y="3"/>
                    </a:lnTo>
                    <a:lnTo>
                      <a:pt x="92" y="7"/>
                    </a:lnTo>
                    <a:moveTo>
                      <a:pt x="109" y="0"/>
                    </a:moveTo>
                    <a:lnTo>
                      <a:pt x="105" y="3"/>
                    </a:lnTo>
                    <a:lnTo>
                      <a:pt x="109" y="7"/>
                    </a:lnTo>
                    <a:moveTo>
                      <a:pt x="39" y="0"/>
                    </a:moveTo>
                    <a:lnTo>
                      <a:pt x="35" y="3"/>
                    </a:lnTo>
                    <a:lnTo>
                      <a:pt x="39" y="7"/>
                    </a:lnTo>
                    <a:moveTo>
                      <a:pt x="57" y="0"/>
                    </a:moveTo>
                    <a:lnTo>
                      <a:pt x="52" y="3"/>
                    </a:lnTo>
                    <a:lnTo>
                      <a:pt x="57" y="7"/>
                    </a:lnTo>
                    <a:moveTo>
                      <a:pt x="74" y="0"/>
                    </a:moveTo>
                    <a:lnTo>
                      <a:pt x="70" y="3"/>
                    </a:lnTo>
                    <a:lnTo>
                      <a:pt x="74" y="7"/>
                    </a:lnTo>
                    <a:moveTo>
                      <a:pt x="52" y="13"/>
                    </a:moveTo>
                    <a:lnTo>
                      <a:pt x="48" y="16"/>
                    </a:lnTo>
                    <a:lnTo>
                      <a:pt x="52" y="20"/>
                    </a:lnTo>
                    <a:moveTo>
                      <a:pt x="188" y="13"/>
                    </a:moveTo>
                    <a:lnTo>
                      <a:pt x="183" y="16"/>
                    </a:lnTo>
                    <a:lnTo>
                      <a:pt x="188" y="20"/>
                    </a:lnTo>
                    <a:moveTo>
                      <a:pt x="205" y="13"/>
                    </a:moveTo>
                    <a:lnTo>
                      <a:pt x="201" y="16"/>
                    </a:lnTo>
                    <a:lnTo>
                      <a:pt x="205" y="20"/>
                    </a:lnTo>
                    <a:moveTo>
                      <a:pt x="155" y="13"/>
                    </a:moveTo>
                    <a:lnTo>
                      <a:pt x="151" y="16"/>
                    </a:lnTo>
                    <a:lnTo>
                      <a:pt x="155" y="20"/>
                    </a:lnTo>
                    <a:moveTo>
                      <a:pt x="172" y="13"/>
                    </a:moveTo>
                    <a:lnTo>
                      <a:pt x="168" y="16"/>
                    </a:lnTo>
                    <a:lnTo>
                      <a:pt x="172" y="20"/>
                    </a:lnTo>
                    <a:moveTo>
                      <a:pt x="85" y="13"/>
                    </a:moveTo>
                    <a:lnTo>
                      <a:pt x="81" y="16"/>
                    </a:lnTo>
                    <a:lnTo>
                      <a:pt x="85" y="20"/>
                    </a:lnTo>
                    <a:moveTo>
                      <a:pt x="102" y="13"/>
                    </a:moveTo>
                    <a:lnTo>
                      <a:pt x="98" y="16"/>
                    </a:lnTo>
                    <a:lnTo>
                      <a:pt x="102" y="20"/>
                    </a:lnTo>
                    <a:moveTo>
                      <a:pt x="120" y="13"/>
                    </a:moveTo>
                    <a:lnTo>
                      <a:pt x="116" y="16"/>
                    </a:lnTo>
                    <a:lnTo>
                      <a:pt x="120" y="20"/>
                    </a:lnTo>
                    <a:moveTo>
                      <a:pt x="137" y="13"/>
                    </a:moveTo>
                    <a:lnTo>
                      <a:pt x="133" y="16"/>
                    </a:lnTo>
                    <a:lnTo>
                      <a:pt x="137" y="20"/>
                    </a:lnTo>
                    <a:moveTo>
                      <a:pt x="67" y="13"/>
                    </a:moveTo>
                    <a:lnTo>
                      <a:pt x="63" y="16"/>
                    </a:lnTo>
                    <a:lnTo>
                      <a:pt x="67" y="20"/>
                    </a:lnTo>
                    <a:moveTo>
                      <a:pt x="22" y="0"/>
                    </a:moveTo>
                    <a:lnTo>
                      <a:pt x="17" y="3"/>
                    </a:lnTo>
                    <a:lnTo>
                      <a:pt x="22" y="7"/>
                    </a:lnTo>
                    <a:moveTo>
                      <a:pt x="4" y="0"/>
                    </a:moveTo>
                    <a:lnTo>
                      <a:pt x="0" y="3"/>
                    </a:lnTo>
                    <a:lnTo>
                      <a:pt x="4" y="7"/>
                    </a:lnTo>
                  </a:path>
                </a:pathLst>
              </a:custGeom>
              <a:noFill/>
              <a:ln w="3175" cap="rnd">
                <a:solidFill>
                  <a:srgbClr val="B3B3B3"/>
                </a:solidFill>
                <a:prstDash val="solid"/>
                <a:round/>
                <a:headEnd/>
                <a:tailEnd/>
              </a:ln>
            </p:spPr>
            <p:txBody>
              <a:bodyPr/>
              <a:lstStyle/>
              <a:p>
                <a:endParaRPr lang="en-US"/>
              </a:p>
            </p:txBody>
          </p:sp>
          <p:pic>
            <p:nvPicPr>
              <p:cNvPr id="2475650" name="Picture 1666"/>
              <p:cNvPicPr>
                <a:picLocks noChangeAspect="1" noChangeArrowheads="1"/>
              </p:cNvPicPr>
              <p:nvPr/>
            </p:nvPicPr>
            <p:blipFill>
              <a:blip r:embed="rId16" cstate="print"/>
              <a:srcRect/>
              <a:stretch>
                <a:fillRect/>
              </a:stretch>
            </p:blipFill>
            <p:spPr bwMode="auto">
              <a:xfrm>
                <a:off x="431" y="611"/>
                <a:ext cx="199" cy="154"/>
              </a:xfrm>
              <a:prstGeom prst="rect">
                <a:avLst/>
              </a:prstGeom>
              <a:noFill/>
              <a:ln w="9525">
                <a:noFill/>
                <a:miter lim="800000"/>
                <a:headEnd/>
                <a:tailEnd/>
              </a:ln>
            </p:spPr>
          </p:pic>
          <p:pic>
            <p:nvPicPr>
              <p:cNvPr id="2475651" name="Picture 1667"/>
              <p:cNvPicPr>
                <a:picLocks noChangeAspect="1" noChangeArrowheads="1"/>
              </p:cNvPicPr>
              <p:nvPr/>
            </p:nvPicPr>
            <p:blipFill>
              <a:blip r:embed="rId17" cstate="print"/>
              <a:srcRect/>
              <a:stretch>
                <a:fillRect/>
              </a:stretch>
            </p:blipFill>
            <p:spPr bwMode="auto">
              <a:xfrm>
                <a:off x="431" y="611"/>
                <a:ext cx="199" cy="154"/>
              </a:xfrm>
              <a:prstGeom prst="rect">
                <a:avLst/>
              </a:prstGeom>
              <a:noFill/>
              <a:ln w="9525">
                <a:noFill/>
                <a:miter lim="800000"/>
                <a:headEnd/>
                <a:tailEnd/>
              </a:ln>
            </p:spPr>
          </p:pic>
          <p:sp>
            <p:nvSpPr>
              <p:cNvPr id="2475652" name="Freeform 1668"/>
              <p:cNvSpPr>
                <a:spLocks noEditPoints="1"/>
              </p:cNvSpPr>
              <p:nvPr/>
            </p:nvSpPr>
            <p:spPr bwMode="auto">
              <a:xfrm>
                <a:off x="416" y="776"/>
                <a:ext cx="230" cy="12"/>
              </a:xfrm>
              <a:custGeom>
                <a:avLst/>
                <a:gdLst/>
                <a:ahLst/>
                <a:cxnLst>
                  <a:cxn ang="0">
                    <a:pos x="63" y="0"/>
                  </a:cxn>
                  <a:cxn ang="0">
                    <a:pos x="63" y="12"/>
                  </a:cxn>
                  <a:cxn ang="0">
                    <a:pos x="35" y="0"/>
                  </a:cxn>
                  <a:cxn ang="0">
                    <a:pos x="35" y="12"/>
                  </a:cxn>
                  <a:cxn ang="0">
                    <a:pos x="0" y="0"/>
                  </a:cxn>
                  <a:cxn ang="0">
                    <a:pos x="230" y="0"/>
                  </a:cxn>
                </a:cxnLst>
                <a:rect l="0" t="0" r="r" b="b"/>
                <a:pathLst>
                  <a:path w="230" h="12">
                    <a:moveTo>
                      <a:pt x="63" y="0"/>
                    </a:moveTo>
                    <a:lnTo>
                      <a:pt x="63" y="12"/>
                    </a:lnTo>
                    <a:moveTo>
                      <a:pt x="35" y="0"/>
                    </a:moveTo>
                    <a:lnTo>
                      <a:pt x="35" y="12"/>
                    </a:lnTo>
                    <a:moveTo>
                      <a:pt x="0" y="0"/>
                    </a:moveTo>
                    <a:lnTo>
                      <a:pt x="230" y="0"/>
                    </a:lnTo>
                  </a:path>
                </a:pathLst>
              </a:custGeom>
              <a:noFill/>
              <a:ln w="3175" cap="rnd">
                <a:solidFill>
                  <a:srgbClr val="000000"/>
                </a:solidFill>
                <a:prstDash val="solid"/>
                <a:round/>
                <a:headEnd/>
                <a:tailEnd/>
              </a:ln>
            </p:spPr>
            <p:txBody>
              <a:bodyPr/>
              <a:lstStyle/>
              <a:p>
                <a:endParaRPr lang="en-US"/>
              </a:p>
            </p:txBody>
          </p:sp>
          <p:sp>
            <p:nvSpPr>
              <p:cNvPr id="2475653" name="Freeform 1669"/>
              <p:cNvSpPr>
                <a:spLocks/>
              </p:cNvSpPr>
              <p:nvPr/>
            </p:nvSpPr>
            <p:spPr bwMode="auto">
              <a:xfrm>
                <a:off x="409" y="563"/>
                <a:ext cx="275" cy="283"/>
              </a:xfrm>
              <a:custGeom>
                <a:avLst/>
                <a:gdLst/>
                <a:ahLst/>
                <a:cxnLst>
                  <a:cxn ang="0">
                    <a:pos x="0" y="283"/>
                  </a:cxn>
                  <a:cxn ang="0">
                    <a:pos x="0" y="237"/>
                  </a:cxn>
                  <a:cxn ang="0">
                    <a:pos x="11" y="226"/>
                  </a:cxn>
                  <a:cxn ang="0">
                    <a:pos x="7" y="226"/>
                  </a:cxn>
                  <a:cxn ang="0">
                    <a:pos x="7" y="38"/>
                  </a:cxn>
                  <a:cxn ang="0">
                    <a:pos x="45" y="0"/>
                  </a:cxn>
                  <a:cxn ang="0">
                    <a:pos x="275" y="0"/>
                  </a:cxn>
                  <a:cxn ang="0">
                    <a:pos x="275" y="117"/>
                  </a:cxn>
                  <a:cxn ang="0">
                    <a:pos x="265" y="144"/>
                  </a:cxn>
                  <a:cxn ang="0">
                    <a:pos x="265" y="195"/>
                  </a:cxn>
                  <a:cxn ang="0">
                    <a:pos x="256" y="207"/>
                  </a:cxn>
                  <a:cxn ang="0">
                    <a:pos x="275" y="207"/>
                  </a:cxn>
                  <a:cxn ang="0">
                    <a:pos x="275" y="253"/>
                  </a:cxn>
                  <a:cxn ang="0">
                    <a:pos x="244" y="283"/>
                  </a:cxn>
                  <a:cxn ang="0">
                    <a:pos x="0" y="283"/>
                  </a:cxn>
                </a:cxnLst>
                <a:rect l="0" t="0" r="r" b="b"/>
                <a:pathLst>
                  <a:path w="275" h="283">
                    <a:moveTo>
                      <a:pt x="0" y="283"/>
                    </a:moveTo>
                    <a:lnTo>
                      <a:pt x="0" y="237"/>
                    </a:lnTo>
                    <a:lnTo>
                      <a:pt x="11" y="226"/>
                    </a:lnTo>
                    <a:lnTo>
                      <a:pt x="7" y="226"/>
                    </a:lnTo>
                    <a:lnTo>
                      <a:pt x="7" y="38"/>
                    </a:lnTo>
                    <a:lnTo>
                      <a:pt x="45" y="0"/>
                    </a:lnTo>
                    <a:lnTo>
                      <a:pt x="275" y="0"/>
                    </a:lnTo>
                    <a:lnTo>
                      <a:pt x="275" y="117"/>
                    </a:lnTo>
                    <a:lnTo>
                      <a:pt x="265" y="144"/>
                    </a:lnTo>
                    <a:lnTo>
                      <a:pt x="265" y="195"/>
                    </a:lnTo>
                    <a:lnTo>
                      <a:pt x="256" y="207"/>
                    </a:lnTo>
                    <a:lnTo>
                      <a:pt x="275" y="207"/>
                    </a:lnTo>
                    <a:lnTo>
                      <a:pt x="275" y="253"/>
                    </a:lnTo>
                    <a:lnTo>
                      <a:pt x="244" y="283"/>
                    </a:lnTo>
                    <a:lnTo>
                      <a:pt x="0" y="283"/>
                    </a:lnTo>
                    <a:close/>
                  </a:path>
                </a:pathLst>
              </a:custGeom>
              <a:noFill/>
              <a:ln w="7938" cap="rnd">
                <a:solidFill>
                  <a:srgbClr val="000000"/>
                </a:solidFill>
                <a:prstDash val="solid"/>
                <a:round/>
                <a:headEnd/>
                <a:tailEnd/>
              </a:ln>
            </p:spPr>
            <p:txBody>
              <a:bodyPr/>
              <a:lstStyle/>
              <a:p>
                <a:endParaRPr lang="en-US"/>
              </a:p>
            </p:txBody>
          </p:sp>
          <p:sp>
            <p:nvSpPr>
              <p:cNvPr id="2475654" name="Rectangle 1670"/>
              <p:cNvSpPr>
                <a:spLocks noChangeArrowheads="1"/>
              </p:cNvSpPr>
              <p:nvPr/>
            </p:nvSpPr>
            <p:spPr bwMode="auto">
              <a:xfrm>
                <a:off x="400" y="857"/>
                <a:ext cx="296" cy="67"/>
              </a:xfrm>
              <a:prstGeom prst="rect">
                <a:avLst/>
              </a:prstGeom>
              <a:noFill/>
              <a:ln w="9525">
                <a:noFill/>
                <a:miter lim="800000"/>
                <a:headEnd/>
                <a:tailEnd/>
              </a:ln>
            </p:spPr>
            <p:txBody>
              <a:bodyPr wrap="none" lIns="0" tIns="0" rIns="0" bIns="0">
                <a:spAutoFit/>
              </a:bodyPr>
              <a:lstStyle/>
              <a:p>
                <a:r>
                  <a:rPr lang="en-US" sz="700">
                    <a:solidFill>
                      <a:srgbClr val="000000"/>
                    </a:solidFill>
                  </a:rPr>
                  <a:t>Workstation</a:t>
                </a:r>
                <a:endParaRPr lang="en-US" sz="1200"/>
              </a:p>
            </p:txBody>
          </p:sp>
        </p:grpSp>
        <p:sp>
          <p:nvSpPr>
            <p:cNvPr id="2475655" name="Line 1671"/>
            <p:cNvSpPr>
              <a:spLocks noChangeShapeType="1"/>
            </p:cNvSpPr>
            <p:nvPr/>
          </p:nvSpPr>
          <p:spPr bwMode="auto">
            <a:xfrm>
              <a:off x="375" y="2157"/>
              <a:ext cx="168" cy="0"/>
            </a:xfrm>
            <a:prstGeom prst="line">
              <a:avLst/>
            </a:prstGeom>
            <a:noFill/>
            <a:ln w="6350">
              <a:solidFill>
                <a:schemeClr val="tx1"/>
              </a:solidFill>
              <a:round/>
              <a:headEnd type="triangle" w="med" len="sm"/>
              <a:tailEnd type="triangle" w="med" len="sm"/>
            </a:ln>
            <a:effectLst/>
          </p:spPr>
          <p:txBody>
            <a:bodyPr/>
            <a:lstStyle/>
            <a:p>
              <a:endParaRPr lang="en-US"/>
            </a:p>
          </p:txBody>
        </p:sp>
      </p:grpSp>
      <p:sp>
        <p:nvSpPr>
          <p:cNvPr id="2475031" name="Rectangle 1047"/>
          <p:cNvSpPr>
            <a:spLocks noChangeArrowheads="1"/>
          </p:cNvSpPr>
          <p:nvPr/>
        </p:nvSpPr>
        <p:spPr bwMode="auto">
          <a:xfrm>
            <a:off x="2003425" y="1093788"/>
            <a:ext cx="5799138" cy="4521200"/>
          </a:xfrm>
          <a:prstGeom prst="rect">
            <a:avLst/>
          </a:prstGeom>
          <a:solidFill>
            <a:srgbClr val="E6E6E6"/>
          </a:solidFill>
          <a:ln w="9525">
            <a:noFill/>
            <a:miter lim="800000"/>
            <a:headEnd/>
            <a:tailEnd/>
          </a:ln>
        </p:spPr>
        <p:txBody>
          <a:bodyPr/>
          <a:lstStyle/>
          <a:p>
            <a:endParaRPr lang="en-US"/>
          </a:p>
        </p:txBody>
      </p:sp>
      <p:sp>
        <p:nvSpPr>
          <p:cNvPr id="2475032" name="Rectangle 1048"/>
          <p:cNvSpPr>
            <a:spLocks noChangeArrowheads="1"/>
          </p:cNvSpPr>
          <p:nvPr/>
        </p:nvSpPr>
        <p:spPr bwMode="auto">
          <a:xfrm>
            <a:off x="2003425" y="1093788"/>
            <a:ext cx="5905500" cy="4989512"/>
          </a:xfrm>
          <a:prstGeom prst="rect">
            <a:avLst/>
          </a:prstGeom>
          <a:solidFill>
            <a:srgbClr val="E8E8E8"/>
          </a:solidFill>
          <a:ln w="3175" cap="rnd">
            <a:solidFill>
              <a:srgbClr val="000000"/>
            </a:solidFill>
            <a:round/>
            <a:headEnd/>
            <a:tailEnd/>
          </a:ln>
          <a:effectLst>
            <a:outerShdw dist="107763" dir="2700000" algn="ctr" rotWithShape="0">
              <a:srgbClr val="ABABAB"/>
            </a:outerShdw>
          </a:effectLst>
        </p:spPr>
        <p:txBody>
          <a:bodyPr/>
          <a:lstStyle/>
          <a:p>
            <a:endParaRPr lang="en-US"/>
          </a:p>
        </p:txBody>
      </p:sp>
      <p:sp>
        <p:nvSpPr>
          <p:cNvPr id="2475844" name="Rectangle 1860"/>
          <p:cNvSpPr>
            <a:spLocks noChangeArrowheads="1"/>
          </p:cNvSpPr>
          <p:nvPr/>
        </p:nvSpPr>
        <p:spPr bwMode="auto">
          <a:xfrm>
            <a:off x="4075113" y="4229100"/>
            <a:ext cx="3657600" cy="1690688"/>
          </a:xfrm>
          <a:prstGeom prst="rect">
            <a:avLst/>
          </a:prstGeom>
          <a:solidFill>
            <a:srgbClr val="FFCC66"/>
          </a:solidFill>
          <a:ln w="28575">
            <a:solidFill>
              <a:srgbClr val="FF0000"/>
            </a:solidFill>
            <a:miter lim="800000"/>
            <a:headEnd/>
            <a:tailEnd/>
          </a:ln>
          <a:effectLst/>
        </p:spPr>
        <p:txBody>
          <a:bodyPr wrap="none" anchor="ctr"/>
          <a:lstStyle/>
          <a:p>
            <a:endParaRPr lang="en-US"/>
          </a:p>
        </p:txBody>
      </p:sp>
      <p:sp>
        <p:nvSpPr>
          <p:cNvPr id="2475040" name="Rectangle 1056"/>
          <p:cNvSpPr>
            <a:spLocks noChangeArrowheads="1"/>
          </p:cNvSpPr>
          <p:nvPr/>
        </p:nvSpPr>
        <p:spPr bwMode="auto">
          <a:xfrm>
            <a:off x="2111375" y="1238250"/>
            <a:ext cx="1423988" cy="1119188"/>
          </a:xfrm>
          <a:prstGeom prst="rect">
            <a:avLst/>
          </a:prstGeom>
          <a:solidFill>
            <a:srgbClr val="FFFFFF"/>
          </a:solidFill>
          <a:ln w="9525">
            <a:solidFill>
              <a:schemeClr val="tx1"/>
            </a:solidFill>
            <a:miter lim="800000"/>
            <a:headEnd/>
            <a:tailEnd/>
          </a:ln>
          <a:effectLst/>
        </p:spPr>
        <p:txBody>
          <a:bodyPr/>
          <a:lstStyle/>
          <a:p>
            <a:endParaRPr lang="en-US"/>
          </a:p>
        </p:txBody>
      </p:sp>
      <p:sp>
        <p:nvSpPr>
          <p:cNvPr id="2475042" name="Rectangle 1058"/>
          <p:cNvSpPr>
            <a:spLocks noChangeArrowheads="1"/>
          </p:cNvSpPr>
          <p:nvPr/>
        </p:nvSpPr>
        <p:spPr bwMode="auto">
          <a:xfrm>
            <a:off x="2293938" y="1244600"/>
            <a:ext cx="806450" cy="136525"/>
          </a:xfrm>
          <a:prstGeom prst="rect">
            <a:avLst/>
          </a:prstGeom>
          <a:noFill/>
          <a:ln w="9525">
            <a:noFill/>
            <a:miter lim="800000"/>
            <a:headEnd/>
            <a:tailEnd/>
          </a:ln>
        </p:spPr>
        <p:txBody>
          <a:bodyPr wrap="none" lIns="0" tIns="0" rIns="0" bIns="0">
            <a:spAutoFit/>
          </a:bodyPr>
          <a:lstStyle/>
          <a:p>
            <a:r>
              <a:rPr lang="en-US" b="1">
                <a:solidFill>
                  <a:srgbClr val="000000"/>
                </a:solidFill>
              </a:rPr>
              <a:t>Web Container</a:t>
            </a:r>
            <a:endParaRPr lang="en-US" b="1"/>
          </a:p>
        </p:txBody>
      </p:sp>
      <p:sp>
        <p:nvSpPr>
          <p:cNvPr id="2475045" name="Rectangle 1061"/>
          <p:cNvSpPr>
            <a:spLocks noChangeArrowheads="1"/>
          </p:cNvSpPr>
          <p:nvPr/>
        </p:nvSpPr>
        <p:spPr bwMode="auto">
          <a:xfrm>
            <a:off x="2120900" y="2479675"/>
            <a:ext cx="1414463" cy="1119188"/>
          </a:xfrm>
          <a:prstGeom prst="rect">
            <a:avLst/>
          </a:prstGeom>
          <a:solidFill>
            <a:srgbClr val="FFFFFF"/>
          </a:solidFill>
          <a:ln w="9525">
            <a:solidFill>
              <a:schemeClr val="tx1"/>
            </a:solidFill>
            <a:miter lim="800000"/>
            <a:headEnd/>
            <a:tailEnd/>
          </a:ln>
          <a:effectLst/>
        </p:spPr>
        <p:txBody>
          <a:bodyPr/>
          <a:lstStyle/>
          <a:p>
            <a:endParaRPr lang="en-US"/>
          </a:p>
        </p:txBody>
      </p:sp>
      <p:sp>
        <p:nvSpPr>
          <p:cNvPr id="2475047" name="Rectangle 1063"/>
          <p:cNvSpPr>
            <a:spLocks noChangeArrowheads="1"/>
          </p:cNvSpPr>
          <p:nvPr/>
        </p:nvSpPr>
        <p:spPr bwMode="auto">
          <a:xfrm>
            <a:off x="2344738" y="2497138"/>
            <a:ext cx="806450" cy="136525"/>
          </a:xfrm>
          <a:prstGeom prst="rect">
            <a:avLst/>
          </a:prstGeom>
          <a:noFill/>
          <a:ln w="9525">
            <a:noFill/>
            <a:miter lim="800000"/>
            <a:headEnd/>
            <a:tailEnd/>
          </a:ln>
        </p:spPr>
        <p:txBody>
          <a:bodyPr wrap="none" lIns="0" tIns="0" rIns="0" bIns="0">
            <a:spAutoFit/>
          </a:bodyPr>
          <a:lstStyle/>
          <a:p>
            <a:r>
              <a:rPr lang="en-US" b="1">
                <a:solidFill>
                  <a:srgbClr val="000000"/>
                </a:solidFill>
              </a:rPr>
              <a:t>Web Container</a:t>
            </a:r>
            <a:endParaRPr lang="en-US" b="1"/>
          </a:p>
        </p:txBody>
      </p:sp>
      <p:sp>
        <p:nvSpPr>
          <p:cNvPr id="2475051" name="Rectangle 1067"/>
          <p:cNvSpPr>
            <a:spLocks noChangeArrowheads="1"/>
          </p:cNvSpPr>
          <p:nvPr/>
        </p:nvSpPr>
        <p:spPr bwMode="auto">
          <a:xfrm>
            <a:off x="2111375" y="3744913"/>
            <a:ext cx="1425575" cy="1119187"/>
          </a:xfrm>
          <a:prstGeom prst="rect">
            <a:avLst/>
          </a:prstGeom>
          <a:noFill/>
          <a:ln w="3175" cap="rnd">
            <a:solidFill>
              <a:srgbClr val="000000"/>
            </a:solidFill>
            <a:round/>
            <a:headEnd/>
            <a:tailEnd/>
          </a:ln>
        </p:spPr>
        <p:txBody>
          <a:bodyPr/>
          <a:lstStyle/>
          <a:p>
            <a:endParaRPr lang="en-US"/>
          </a:p>
        </p:txBody>
      </p:sp>
      <p:sp>
        <p:nvSpPr>
          <p:cNvPr id="2475050" name="Rectangle 1066"/>
          <p:cNvSpPr>
            <a:spLocks noChangeArrowheads="1"/>
          </p:cNvSpPr>
          <p:nvPr/>
        </p:nvSpPr>
        <p:spPr bwMode="auto">
          <a:xfrm>
            <a:off x="2111375" y="3744913"/>
            <a:ext cx="1436688" cy="1119187"/>
          </a:xfrm>
          <a:prstGeom prst="rect">
            <a:avLst/>
          </a:prstGeom>
          <a:solidFill>
            <a:srgbClr val="FFFFFF"/>
          </a:solidFill>
          <a:ln w="9525">
            <a:solidFill>
              <a:schemeClr val="tx1"/>
            </a:solidFill>
            <a:miter lim="800000"/>
            <a:headEnd/>
            <a:tailEnd/>
          </a:ln>
          <a:effectLst/>
        </p:spPr>
        <p:txBody>
          <a:bodyPr/>
          <a:lstStyle/>
          <a:p>
            <a:endParaRPr lang="en-US"/>
          </a:p>
        </p:txBody>
      </p:sp>
      <p:sp>
        <p:nvSpPr>
          <p:cNvPr id="2475055" name="Rectangle 1071"/>
          <p:cNvSpPr>
            <a:spLocks noChangeArrowheads="1"/>
          </p:cNvSpPr>
          <p:nvPr/>
        </p:nvSpPr>
        <p:spPr bwMode="auto">
          <a:xfrm>
            <a:off x="3992563" y="2065338"/>
            <a:ext cx="2947987" cy="2043112"/>
          </a:xfrm>
          <a:prstGeom prst="rect">
            <a:avLst/>
          </a:prstGeom>
          <a:solidFill>
            <a:srgbClr val="FFFFFF"/>
          </a:solidFill>
          <a:ln w="9525">
            <a:solidFill>
              <a:schemeClr val="tx1"/>
            </a:solidFill>
            <a:miter lim="800000"/>
            <a:headEnd/>
            <a:tailEnd/>
          </a:ln>
          <a:effectLst/>
        </p:spPr>
        <p:txBody>
          <a:bodyPr/>
          <a:lstStyle/>
          <a:p>
            <a:endParaRPr lang="en-US"/>
          </a:p>
        </p:txBody>
      </p:sp>
      <p:sp>
        <p:nvSpPr>
          <p:cNvPr id="2475057" name="Rectangle 1073"/>
          <p:cNvSpPr>
            <a:spLocks noChangeArrowheads="1"/>
          </p:cNvSpPr>
          <p:nvPr/>
        </p:nvSpPr>
        <p:spPr bwMode="auto">
          <a:xfrm>
            <a:off x="5022850" y="2093913"/>
            <a:ext cx="1060450" cy="136525"/>
          </a:xfrm>
          <a:prstGeom prst="rect">
            <a:avLst/>
          </a:prstGeom>
          <a:noFill/>
          <a:ln w="9525">
            <a:noFill/>
            <a:miter lim="800000"/>
            <a:headEnd/>
            <a:tailEnd/>
          </a:ln>
        </p:spPr>
        <p:txBody>
          <a:bodyPr wrap="none" lIns="0" tIns="0" rIns="0" bIns="0">
            <a:spAutoFit/>
          </a:bodyPr>
          <a:lstStyle/>
          <a:p>
            <a:r>
              <a:rPr lang="en-US" b="1">
                <a:solidFill>
                  <a:srgbClr val="000000"/>
                </a:solidFill>
              </a:rPr>
              <a:t>CSC EJB Container</a:t>
            </a:r>
            <a:endParaRPr lang="en-US" b="1"/>
          </a:p>
        </p:txBody>
      </p:sp>
      <p:sp>
        <p:nvSpPr>
          <p:cNvPr id="2475058" name="Rectangle 1074"/>
          <p:cNvSpPr>
            <a:spLocks noChangeArrowheads="1"/>
          </p:cNvSpPr>
          <p:nvPr/>
        </p:nvSpPr>
        <p:spPr bwMode="auto">
          <a:xfrm>
            <a:off x="5218113" y="2400300"/>
            <a:ext cx="438150" cy="325438"/>
          </a:xfrm>
          <a:prstGeom prst="rect">
            <a:avLst/>
          </a:prstGeom>
          <a:solidFill>
            <a:srgbClr val="B0FFFF"/>
          </a:solidFill>
          <a:ln w="9525">
            <a:noFill/>
            <a:miter lim="800000"/>
            <a:headEnd/>
            <a:tailEnd/>
          </a:ln>
        </p:spPr>
        <p:txBody>
          <a:bodyPr/>
          <a:lstStyle/>
          <a:p>
            <a:endParaRPr lang="en-US"/>
          </a:p>
        </p:txBody>
      </p:sp>
      <p:sp>
        <p:nvSpPr>
          <p:cNvPr id="2475059" name="Rectangle 1075"/>
          <p:cNvSpPr>
            <a:spLocks noChangeArrowheads="1"/>
          </p:cNvSpPr>
          <p:nvPr/>
        </p:nvSpPr>
        <p:spPr bwMode="auto">
          <a:xfrm>
            <a:off x="5218113" y="2400300"/>
            <a:ext cx="438150" cy="325438"/>
          </a:xfrm>
          <a:prstGeom prst="rect">
            <a:avLst/>
          </a:prstGeom>
          <a:noFill/>
          <a:ln w="3175" cap="rnd">
            <a:solidFill>
              <a:srgbClr val="000000"/>
            </a:solidFill>
            <a:round/>
            <a:headEnd/>
            <a:tailEnd/>
          </a:ln>
        </p:spPr>
        <p:txBody>
          <a:bodyPr/>
          <a:lstStyle/>
          <a:p>
            <a:endParaRPr lang="en-US"/>
          </a:p>
        </p:txBody>
      </p:sp>
      <p:sp>
        <p:nvSpPr>
          <p:cNvPr id="2475060" name="Rectangle 1076"/>
          <p:cNvSpPr>
            <a:spLocks noChangeArrowheads="1"/>
          </p:cNvSpPr>
          <p:nvPr/>
        </p:nvSpPr>
        <p:spPr bwMode="auto">
          <a:xfrm>
            <a:off x="5130800" y="2335213"/>
            <a:ext cx="438150" cy="325437"/>
          </a:xfrm>
          <a:prstGeom prst="rect">
            <a:avLst/>
          </a:prstGeom>
          <a:solidFill>
            <a:srgbClr val="B0FFFF"/>
          </a:solidFill>
          <a:ln w="9525">
            <a:noFill/>
            <a:miter lim="800000"/>
            <a:headEnd/>
            <a:tailEnd/>
          </a:ln>
        </p:spPr>
        <p:txBody>
          <a:bodyPr/>
          <a:lstStyle/>
          <a:p>
            <a:endParaRPr lang="en-US"/>
          </a:p>
        </p:txBody>
      </p:sp>
      <p:sp>
        <p:nvSpPr>
          <p:cNvPr id="2475061" name="Rectangle 1077"/>
          <p:cNvSpPr>
            <a:spLocks noChangeArrowheads="1"/>
          </p:cNvSpPr>
          <p:nvPr/>
        </p:nvSpPr>
        <p:spPr bwMode="auto">
          <a:xfrm>
            <a:off x="5130800" y="2335213"/>
            <a:ext cx="438150" cy="325437"/>
          </a:xfrm>
          <a:prstGeom prst="rect">
            <a:avLst/>
          </a:prstGeom>
          <a:noFill/>
          <a:ln w="3175" cap="rnd">
            <a:solidFill>
              <a:srgbClr val="000000"/>
            </a:solidFill>
            <a:round/>
            <a:headEnd/>
            <a:tailEnd/>
          </a:ln>
        </p:spPr>
        <p:txBody>
          <a:bodyPr/>
          <a:lstStyle/>
          <a:p>
            <a:endParaRPr lang="en-US"/>
          </a:p>
        </p:txBody>
      </p:sp>
      <p:sp>
        <p:nvSpPr>
          <p:cNvPr id="2475062" name="Rectangle 1078"/>
          <p:cNvSpPr>
            <a:spLocks noChangeArrowheads="1"/>
          </p:cNvSpPr>
          <p:nvPr/>
        </p:nvSpPr>
        <p:spPr bwMode="auto">
          <a:xfrm>
            <a:off x="5207000" y="2443163"/>
            <a:ext cx="339725" cy="106362"/>
          </a:xfrm>
          <a:prstGeom prst="rect">
            <a:avLst/>
          </a:prstGeom>
          <a:noFill/>
          <a:ln w="9525">
            <a:noFill/>
            <a:miter lim="800000"/>
            <a:headEnd/>
            <a:tailEnd/>
          </a:ln>
        </p:spPr>
        <p:txBody>
          <a:bodyPr wrap="none" lIns="0" tIns="0" rIns="0" bIns="0">
            <a:spAutoFit/>
          </a:bodyPr>
          <a:lstStyle/>
          <a:p>
            <a:r>
              <a:rPr lang="en-US" sz="700">
                <a:solidFill>
                  <a:srgbClr val="000000"/>
                </a:solidFill>
              </a:rPr>
              <a:t>Services</a:t>
            </a:r>
            <a:endParaRPr lang="en-US" sz="1200"/>
          </a:p>
        </p:txBody>
      </p:sp>
      <p:sp>
        <p:nvSpPr>
          <p:cNvPr id="2475063" name="Rectangle 1079"/>
          <p:cNvSpPr>
            <a:spLocks noChangeArrowheads="1"/>
          </p:cNvSpPr>
          <p:nvPr/>
        </p:nvSpPr>
        <p:spPr bwMode="auto">
          <a:xfrm>
            <a:off x="4805363" y="3065463"/>
            <a:ext cx="1360487" cy="919162"/>
          </a:xfrm>
          <a:prstGeom prst="rect">
            <a:avLst/>
          </a:prstGeom>
          <a:solidFill>
            <a:srgbClr val="00CCCC"/>
          </a:solidFill>
          <a:ln w="9525">
            <a:noFill/>
            <a:miter lim="800000"/>
            <a:headEnd/>
            <a:tailEnd/>
          </a:ln>
        </p:spPr>
        <p:txBody>
          <a:bodyPr/>
          <a:lstStyle/>
          <a:p>
            <a:endParaRPr lang="en-US"/>
          </a:p>
        </p:txBody>
      </p:sp>
      <p:sp>
        <p:nvSpPr>
          <p:cNvPr id="2475064" name="Rectangle 1080"/>
          <p:cNvSpPr>
            <a:spLocks noChangeArrowheads="1"/>
          </p:cNvSpPr>
          <p:nvPr/>
        </p:nvSpPr>
        <p:spPr bwMode="auto">
          <a:xfrm>
            <a:off x="4805363" y="3065463"/>
            <a:ext cx="1349375" cy="919162"/>
          </a:xfrm>
          <a:prstGeom prst="rect">
            <a:avLst/>
          </a:prstGeom>
          <a:noFill/>
          <a:ln w="3175" cap="rnd">
            <a:solidFill>
              <a:srgbClr val="000000"/>
            </a:solidFill>
            <a:round/>
            <a:headEnd/>
            <a:tailEnd/>
          </a:ln>
        </p:spPr>
        <p:txBody>
          <a:bodyPr/>
          <a:lstStyle/>
          <a:p>
            <a:endParaRPr lang="en-US"/>
          </a:p>
        </p:txBody>
      </p:sp>
      <p:sp>
        <p:nvSpPr>
          <p:cNvPr id="2475065" name="Rectangle 1081"/>
          <p:cNvSpPr>
            <a:spLocks noChangeArrowheads="1"/>
          </p:cNvSpPr>
          <p:nvPr/>
        </p:nvSpPr>
        <p:spPr bwMode="auto">
          <a:xfrm>
            <a:off x="4954588" y="3227388"/>
            <a:ext cx="438150" cy="325437"/>
          </a:xfrm>
          <a:prstGeom prst="rect">
            <a:avLst/>
          </a:prstGeom>
          <a:solidFill>
            <a:srgbClr val="B0FFFF"/>
          </a:solidFill>
          <a:ln w="9525">
            <a:noFill/>
            <a:miter lim="800000"/>
            <a:headEnd/>
            <a:tailEnd/>
          </a:ln>
        </p:spPr>
        <p:txBody>
          <a:bodyPr/>
          <a:lstStyle/>
          <a:p>
            <a:endParaRPr lang="en-US"/>
          </a:p>
        </p:txBody>
      </p:sp>
      <p:sp>
        <p:nvSpPr>
          <p:cNvPr id="2475066" name="Rectangle 1082"/>
          <p:cNvSpPr>
            <a:spLocks noChangeArrowheads="1"/>
          </p:cNvSpPr>
          <p:nvPr/>
        </p:nvSpPr>
        <p:spPr bwMode="auto">
          <a:xfrm>
            <a:off x="4954588" y="3227388"/>
            <a:ext cx="438150" cy="325437"/>
          </a:xfrm>
          <a:prstGeom prst="rect">
            <a:avLst/>
          </a:prstGeom>
          <a:noFill/>
          <a:ln w="3175" cap="rnd">
            <a:solidFill>
              <a:srgbClr val="000000"/>
            </a:solidFill>
            <a:round/>
            <a:headEnd/>
            <a:tailEnd/>
          </a:ln>
        </p:spPr>
        <p:txBody>
          <a:bodyPr/>
          <a:lstStyle/>
          <a:p>
            <a:endParaRPr lang="en-US"/>
          </a:p>
        </p:txBody>
      </p:sp>
      <p:sp>
        <p:nvSpPr>
          <p:cNvPr id="2475067" name="Rectangle 1083"/>
          <p:cNvSpPr>
            <a:spLocks noChangeArrowheads="1"/>
          </p:cNvSpPr>
          <p:nvPr/>
        </p:nvSpPr>
        <p:spPr bwMode="auto">
          <a:xfrm>
            <a:off x="5045075" y="3286125"/>
            <a:ext cx="333375" cy="106363"/>
          </a:xfrm>
          <a:prstGeom prst="rect">
            <a:avLst/>
          </a:prstGeom>
          <a:noFill/>
          <a:ln w="9525">
            <a:noFill/>
            <a:miter lim="800000"/>
            <a:headEnd/>
            <a:tailEnd/>
          </a:ln>
        </p:spPr>
        <p:txBody>
          <a:bodyPr wrap="none" lIns="0" tIns="0" rIns="0" bIns="0">
            <a:spAutoFit/>
          </a:bodyPr>
          <a:lstStyle/>
          <a:p>
            <a:r>
              <a:rPr lang="en-US" sz="700">
                <a:solidFill>
                  <a:srgbClr val="000000"/>
                </a:solidFill>
              </a:rPr>
              <a:t>Allowed </a:t>
            </a:r>
            <a:endParaRPr lang="en-US" sz="1200"/>
          </a:p>
        </p:txBody>
      </p:sp>
      <p:sp>
        <p:nvSpPr>
          <p:cNvPr id="2475068" name="Rectangle 1084"/>
          <p:cNvSpPr>
            <a:spLocks noChangeArrowheads="1"/>
          </p:cNvSpPr>
          <p:nvPr/>
        </p:nvSpPr>
        <p:spPr bwMode="auto">
          <a:xfrm>
            <a:off x="5059363" y="3384550"/>
            <a:ext cx="295275" cy="106363"/>
          </a:xfrm>
          <a:prstGeom prst="rect">
            <a:avLst/>
          </a:prstGeom>
          <a:noFill/>
          <a:ln w="9525">
            <a:noFill/>
            <a:miter lim="800000"/>
            <a:headEnd/>
            <a:tailEnd/>
          </a:ln>
        </p:spPr>
        <p:txBody>
          <a:bodyPr wrap="none" lIns="0" tIns="0" rIns="0" bIns="0">
            <a:spAutoFit/>
          </a:bodyPr>
          <a:lstStyle/>
          <a:p>
            <a:r>
              <a:rPr lang="en-US" sz="700">
                <a:solidFill>
                  <a:srgbClr val="000000"/>
                </a:solidFill>
              </a:rPr>
              <a:t>Values </a:t>
            </a:r>
            <a:endParaRPr lang="en-US" sz="1200"/>
          </a:p>
        </p:txBody>
      </p:sp>
      <p:sp>
        <p:nvSpPr>
          <p:cNvPr id="2475069" name="Rectangle 1085"/>
          <p:cNvSpPr>
            <a:spLocks noChangeArrowheads="1"/>
          </p:cNvSpPr>
          <p:nvPr/>
        </p:nvSpPr>
        <p:spPr bwMode="auto">
          <a:xfrm>
            <a:off x="5426075" y="3233738"/>
            <a:ext cx="534988" cy="323850"/>
          </a:xfrm>
          <a:prstGeom prst="rect">
            <a:avLst/>
          </a:prstGeom>
          <a:solidFill>
            <a:srgbClr val="B0FFFF"/>
          </a:solidFill>
          <a:ln w="9525">
            <a:noFill/>
            <a:miter lim="800000"/>
            <a:headEnd/>
            <a:tailEnd/>
          </a:ln>
        </p:spPr>
        <p:txBody>
          <a:bodyPr/>
          <a:lstStyle/>
          <a:p>
            <a:endParaRPr lang="en-US"/>
          </a:p>
        </p:txBody>
      </p:sp>
      <p:sp>
        <p:nvSpPr>
          <p:cNvPr id="2475070" name="Rectangle 1086"/>
          <p:cNvSpPr>
            <a:spLocks noChangeArrowheads="1"/>
          </p:cNvSpPr>
          <p:nvPr/>
        </p:nvSpPr>
        <p:spPr bwMode="auto">
          <a:xfrm>
            <a:off x="5426075" y="3233738"/>
            <a:ext cx="534988" cy="323850"/>
          </a:xfrm>
          <a:prstGeom prst="rect">
            <a:avLst/>
          </a:prstGeom>
          <a:noFill/>
          <a:ln w="3175" cap="rnd">
            <a:solidFill>
              <a:srgbClr val="000000"/>
            </a:solidFill>
            <a:round/>
            <a:headEnd/>
            <a:tailEnd/>
          </a:ln>
        </p:spPr>
        <p:txBody>
          <a:bodyPr/>
          <a:lstStyle/>
          <a:p>
            <a:endParaRPr lang="en-US"/>
          </a:p>
        </p:txBody>
      </p:sp>
      <p:sp>
        <p:nvSpPr>
          <p:cNvPr id="2475071" name="Rectangle 1087"/>
          <p:cNvSpPr>
            <a:spLocks noChangeArrowheads="1"/>
          </p:cNvSpPr>
          <p:nvPr/>
        </p:nvSpPr>
        <p:spPr bwMode="auto">
          <a:xfrm>
            <a:off x="5541963" y="3286125"/>
            <a:ext cx="358775" cy="106363"/>
          </a:xfrm>
          <a:prstGeom prst="rect">
            <a:avLst/>
          </a:prstGeom>
          <a:noFill/>
          <a:ln w="9525">
            <a:noFill/>
            <a:miter lim="800000"/>
            <a:headEnd/>
            <a:tailEnd/>
          </a:ln>
        </p:spPr>
        <p:txBody>
          <a:bodyPr wrap="none" lIns="0" tIns="0" rIns="0" bIns="0">
            <a:spAutoFit/>
          </a:bodyPr>
          <a:lstStyle/>
          <a:p>
            <a:r>
              <a:rPr lang="en-US" sz="700">
                <a:solidFill>
                  <a:srgbClr val="000000"/>
                </a:solidFill>
              </a:rPr>
              <a:t>Business</a:t>
            </a:r>
            <a:endParaRPr lang="en-US" sz="1200"/>
          </a:p>
        </p:txBody>
      </p:sp>
      <p:sp>
        <p:nvSpPr>
          <p:cNvPr id="2475072" name="Rectangle 1088"/>
          <p:cNvSpPr>
            <a:spLocks noChangeArrowheads="1"/>
          </p:cNvSpPr>
          <p:nvPr/>
        </p:nvSpPr>
        <p:spPr bwMode="auto">
          <a:xfrm>
            <a:off x="5500688" y="3392488"/>
            <a:ext cx="431800" cy="106362"/>
          </a:xfrm>
          <a:prstGeom prst="rect">
            <a:avLst/>
          </a:prstGeom>
          <a:noFill/>
          <a:ln w="9525">
            <a:noFill/>
            <a:miter lim="800000"/>
            <a:headEnd/>
            <a:tailEnd/>
          </a:ln>
        </p:spPr>
        <p:txBody>
          <a:bodyPr wrap="none" lIns="0" tIns="0" rIns="0" bIns="0">
            <a:spAutoFit/>
          </a:bodyPr>
          <a:lstStyle/>
          <a:p>
            <a:r>
              <a:rPr lang="en-US" sz="700">
                <a:solidFill>
                  <a:srgbClr val="000000"/>
                </a:solidFill>
              </a:rPr>
              <a:t>Validations</a:t>
            </a:r>
            <a:endParaRPr lang="en-US" sz="1200"/>
          </a:p>
        </p:txBody>
      </p:sp>
      <p:sp>
        <p:nvSpPr>
          <p:cNvPr id="2475073" name="Rectangle 1089"/>
          <p:cNvSpPr>
            <a:spLocks noChangeArrowheads="1"/>
          </p:cNvSpPr>
          <p:nvPr/>
        </p:nvSpPr>
        <p:spPr bwMode="auto">
          <a:xfrm>
            <a:off x="5026025" y="3706813"/>
            <a:ext cx="833438" cy="209550"/>
          </a:xfrm>
          <a:prstGeom prst="rect">
            <a:avLst/>
          </a:prstGeom>
          <a:solidFill>
            <a:srgbClr val="B0FFFF"/>
          </a:solidFill>
          <a:ln w="9525">
            <a:solidFill>
              <a:schemeClr val="tx1"/>
            </a:solidFill>
            <a:miter lim="800000"/>
            <a:headEnd/>
            <a:tailEnd/>
          </a:ln>
        </p:spPr>
        <p:txBody>
          <a:bodyPr/>
          <a:lstStyle/>
          <a:p>
            <a:r>
              <a:rPr lang="en-US" sz="800"/>
              <a:t>Authorization</a:t>
            </a:r>
          </a:p>
        </p:txBody>
      </p:sp>
      <p:sp>
        <p:nvSpPr>
          <p:cNvPr id="2475076" name="Rectangle 1092"/>
          <p:cNvSpPr>
            <a:spLocks noChangeArrowheads="1"/>
          </p:cNvSpPr>
          <p:nvPr/>
        </p:nvSpPr>
        <p:spPr bwMode="auto">
          <a:xfrm>
            <a:off x="5111750" y="3086100"/>
            <a:ext cx="725488" cy="122238"/>
          </a:xfrm>
          <a:prstGeom prst="rect">
            <a:avLst/>
          </a:prstGeom>
          <a:noFill/>
          <a:ln w="9525">
            <a:noFill/>
            <a:miter lim="800000"/>
            <a:headEnd/>
            <a:tailEnd/>
          </a:ln>
        </p:spPr>
        <p:txBody>
          <a:bodyPr wrap="none" lIns="0" tIns="0" rIns="0" bIns="0">
            <a:spAutoFit/>
          </a:bodyPr>
          <a:lstStyle/>
          <a:p>
            <a:r>
              <a:rPr lang="en-US" sz="800" b="1">
                <a:solidFill>
                  <a:srgbClr val="000000"/>
                </a:solidFill>
              </a:rPr>
              <a:t>Rules Manager</a:t>
            </a:r>
            <a:endParaRPr lang="en-US" sz="800" b="1"/>
          </a:p>
        </p:txBody>
      </p:sp>
      <p:grpSp>
        <p:nvGrpSpPr>
          <p:cNvPr id="2475671" name="Group 1687"/>
          <p:cNvGrpSpPr>
            <a:grpSpLocks/>
          </p:cNvGrpSpPr>
          <p:nvPr/>
        </p:nvGrpSpPr>
        <p:grpSpPr bwMode="auto">
          <a:xfrm>
            <a:off x="6327775" y="2801938"/>
            <a:ext cx="400050" cy="271462"/>
            <a:chOff x="3839" y="1850"/>
            <a:chExt cx="252" cy="171"/>
          </a:xfrm>
        </p:grpSpPr>
        <p:sp>
          <p:nvSpPr>
            <p:cNvPr id="2475077" name="Rectangle 1093"/>
            <p:cNvSpPr>
              <a:spLocks noChangeArrowheads="1"/>
            </p:cNvSpPr>
            <p:nvPr/>
          </p:nvSpPr>
          <p:spPr bwMode="auto">
            <a:xfrm>
              <a:off x="3839" y="1850"/>
              <a:ext cx="252" cy="171"/>
            </a:xfrm>
            <a:prstGeom prst="rect">
              <a:avLst/>
            </a:prstGeom>
            <a:solidFill>
              <a:srgbClr val="B0FFFF"/>
            </a:solidFill>
            <a:ln w="9525">
              <a:noFill/>
              <a:miter lim="800000"/>
              <a:headEnd/>
              <a:tailEnd/>
            </a:ln>
          </p:spPr>
          <p:txBody>
            <a:bodyPr/>
            <a:lstStyle/>
            <a:p>
              <a:endParaRPr lang="en-US"/>
            </a:p>
          </p:txBody>
        </p:sp>
        <p:sp>
          <p:nvSpPr>
            <p:cNvPr id="2475078" name="Rectangle 1094"/>
            <p:cNvSpPr>
              <a:spLocks noChangeArrowheads="1"/>
            </p:cNvSpPr>
            <p:nvPr/>
          </p:nvSpPr>
          <p:spPr bwMode="auto">
            <a:xfrm>
              <a:off x="3839" y="1850"/>
              <a:ext cx="252" cy="171"/>
            </a:xfrm>
            <a:prstGeom prst="rect">
              <a:avLst/>
            </a:prstGeom>
            <a:noFill/>
            <a:ln w="3175" cap="rnd">
              <a:solidFill>
                <a:srgbClr val="000000"/>
              </a:solidFill>
              <a:round/>
              <a:headEnd/>
              <a:tailEnd/>
            </a:ln>
          </p:spPr>
          <p:txBody>
            <a:bodyPr/>
            <a:lstStyle/>
            <a:p>
              <a:endParaRPr lang="en-US"/>
            </a:p>
          </p:txBody>
        </p:sp>
        <p:sp>
          <p:nvSpPr>
            <p:cNvPr id="2475079" name="Rectangle 1095"/>
            <p:cNvSpPr>
              <a:spLocks noChangeArrowheads="1"/>
            </p:cNvSpPr>
            <p:nvPr/>
          </p:nvSpPr>
          <p:spPr bwMode="auto">
            <a:xfrm>
              <a:off x="3897" y="1868"/>
              <a:ext cx="178" cy="67"/>
            </a:xfrm>
            <a:prstGeom prst="rect">
              <a:avLst/>
            </a:prstGeom>
            <a:noFill/>
            <a:ln w="9525">
              <a:noFill/>
              <a:miter lim="800000"/>
              <a:headEnd/>
              <a:tailEnd/>
            </a:ln>
          </p:spPr>
          <p:txBody>
            <a:bodyPr wrap="none" lIns="0" tIns="0" rIns="0" bIns="0">
              <a:spAutoFit/>
            </a:bodyPr>
            <a:lstStyle/>
            <a:p>
              <a:r>
                <a:rPr lang="en-US" sz="700">
                  <a:solidFill>
                    <a:srgbClr val="000000"/>
                  </a:solidFill>
                </a:rPr>
                <a:t>Object </a:t>
              </a:r>
              <a:endParaRPr lang="en-US" sz="1200"/>
            </a:p>
          </p:txBody>
        </p:sp>
        <p:sp>
          <p:nvSpPr>
            <p:cNvPr id="2475080" name="Rectangle 1096"/>
            <p:cNvSpPr>
              <a:spLocks noChangeArrowheads="1"/>
            </p:cNvSpPr>
            <p:nvPr/>
          </p:nvSpPr>
          <p:spPr bwMode="auto">
            <a:xfrm>
              <a:off x="3891" y="1935"/>
              <a:ext cx="180" cy="67"/>
            </a:xfrm>
            <a:prstGeom prst="rect">
              <a:avLst/>
            </a:prstGeom>
            <a:noFill/>
            <a:ln w="9525">
              <a:noFill/>
              <a:miter lim="800000"/>
              <a:headEnd/>
              <a:tailEnd/>
            </a:ln>
          </p:spPr>
          <p:txBody>
            <a:bodyPr wrap="none" lIns="0" tIns="0" rIns="0" bIns="0">
              <a:spAutoFit/>
            </a:bodyPr>
            <a:lstStyle/>
            <a:p>
              <a:r>
                <a:rPr lang="en-US" sz="700">
                  <a:solidFill>
                    <a:srgbClr val="000000"/>
                  </a:solidFill>
                </a:rPr>
                <a:t>Access</a:t>
              </a:r>
              <a:endParaRPr lang="en-US" sz="1200"/>
            </a:p>
          </p:txBody>
        </p:sp>
      </p:grpSp>
      <p:sp>
        <p:nvSpPr>
          <p:cNvPr id="2475081" name="Rectangle 1097"/>
          <p:cNvSpPr>
            <a:spLocks noChangeArrowheads="1"/>
          </p:cNvSpPr>
          <p:nvPr/>
        </p:nvSpPr>
        <p:spPr bwMode="auto">
          <a:xfrm>
            <a:off x="6348413" y="3330575"/>
            <a:ext cx="401637" cy="390525"/>
          </a:xfrm>
          <a:prstGeom prst="rect">
            <a:avLst/>
          </a:prstGeom>
          <a:solidFill>
            <a:srgbClr val="B0FFFF"/>
          </a:solidFill>
          <a:ln w="9525">
            <a:noFill/>
            <a:miter lim="800000"/>
            <a:headEnd/>
            <a:tailEnd/>
          </a:ln>
        </p:spPr>
        <p:txBody>
          <a:bodyPr/>
          <a:lstStyle/>
          <a:p>
            <a:endParaRPr lang="en-US"/>
          </a:p>
        </p:txBody>
      </p:sp>
      <p:sp>
        <p:nvSpPr>
          <p:cNvPr id="2475082" name="Rectangle 1098"/>
          <p:cNvSpPr>
            <a:spLocks noChangeArrowheads="1"/>
          </p:cNvSpPr>
          <p:nvPr/>
        </p:nvSpPr>
        <p:spPr bwMode="auto">
          <a:xfrm>
            <a:off x="6348413" y="3330575"/>
            <a:ext cx="401637" cy="390525"/>
          </a:xfrm>
          <a:prstGeom prst="rect">
            <a:avLst/>
          </a:prstGeom>
          <a:noFill/>
          <a:ln w="3175" cap="rnd">
            <a:solidFill>
              <a:srgbClr val="000000"/>
            </a:solidFill>
            <a:round/>
            <a:headEnd/>
            <a:tailEnd/>
          </a:ln>
        </p:spPr>
        <p:txBody>
          <a:bodyPr/>
          <a:lstStyle/>
          <a:p>
            <a:endParaRPr lang="en-US"/>
          </a:p>
        </p:txBody>
      </p:sp>
      <p:sp>
        <p:nvSpPr>
          <p:cNvPr id="2475083" name="Rectangle 1099"/>
          <p:cNvSpPr>
            <a:spLocks noChangeArrowheads="1"/>
          </p:cNvSpPr>
          <p:nvPr/>
        </p:nvSpPr>
        <p:spPr bwMode="auto">
          <a:xfrm>
            <a:off x="6429375" y="3416300"/>
            <a:ext cx="322263" cy="106363"/>
          </a:xfrm>
          <a:prstGeom prst="rect">
            <a:avLst/>
          </a:prstGeom>
          <a:noFill/>
          <a:ln w="9525">
            <a:noFill/>
            <a:miter lim="800000"/>
            <a:headEnd/>
            <a:tailEnd/>
          </a:ln>
        </p:spPr>
        <p:txBody>
          <a:bodyPr wrap="none" lIns="0" tIns="0" rIns="0" bIns="0">
            <a:spAutoFit/>
          </a:bodyPr>
          <a:lstStyle/>
          <a:p>
            <a:r>
              <a:rPr lang="en-US" sz="700">
                <a:solidFill>
                  <a:srgbClr val="000000"/>
                </a:solidFill>
              </a:rPr>
              <a:t>System </a:t>
            </a:r>
            <a:endParaRPr lang="en-US" sz="1200"/>
          </a:p>
        </p:txBody>
      </p:sp>
      <p:sp>
        <p:nvSpPr>
          <p:cNvPr id="2475084" name="Rectangle 1100"/>
          <p:cNvSpPr>
            <a:spLocks noChangeArrowheads="1"/>
          </p:cNvSpPr>
          <p:nvPr/>
        </p:nvSpPr>
        <p:spPr bwMode="auto">
          <a:xfrm>
            <a:off x="6427788" y="3521075"/>
            <a:ext cx="285750" cy="106363"/>
          </a:xfrm>
          <a:prstGeom prst="rect">
            <a:avLst/>
          </a:prstGeom>
          <a:noFill/>
          <a:ln w="9525">
            <a:noFill/>
            <a:miter lim="800000"/>
            <a:headEnd/>
            <a:tailEnd/>
          </a:ln>
        </p:spPr>
        <p:txBody>
          <a:bodyPr wrap="none" lIns="0" tIns="0" rIns="0" bIns="0">
            <a:spAutoFit/>
          </a:bodyPr>
          <a:lstStyle/>
          <a:p>
            <a:r>
              <a:rPr lang="en-US" sz="700">
                <a:solidFill>
                  <a:srgbClr val="000000"/>
                </a:solidFill>
              </a:rPr>
              <a:t>Access</a:t>
            </a:r>
            <a:endParaRPr lang="en-US" sz="1200"/>
          </a:p>
        </p:txBody>
      </p:sp>
      <p:sp>
        <p:nvSpPr>
          <p:cNvPr id="2475085" name="Freeform 1101"/>
          <p:cNvSpPr>
            <a:spLocks/>
          </p:cNvSpPr>
          <p:nvPr/>
        </p:nvSpPr>
        <p:spPr bwMode="auto">
          <a:xfrm>
            <a:off x="4651375" y="3155950"/>
            <a:ext cx="238125" cy="234950"/>
          </a:xfrm>
          <a:custGeom>
            <a:avLst/>
            <a:gdLst/>
            <a:ahLst/>
            <a:cxnLst>
              <a:cxn ang="0">
                <a:pos x="0" y="0"/>
              </a:cxn>
              <a:cxn ang="0">
                <a:pos x="0" y="148"/>
              </a:cxn>
              <a:cxn ang="0">
                <a:pos x="150" y="148"/>
              </a:cxn>
            </a:cxnLst>
            <a:rect l="0" t="0" r="r" b="b"/>
            <a:pathLst>
              <a:path w="150" h="148">
                <a:moveTo>
                  <a:pt x="0" y="0"/>
                </a:moveTo>
                <a:lnTo>
                  <a:pt x="0" y="148"/>
                </a:lnTo>
                <a:lnTo>
                  <a:pt x="150" y="148"/>
                </a:lnTo>
              </a:path>
            </a:pathLst>
          </a:custGeom>
          <a:noFill/>
          <a:ln w="3175" cap="rnd">
            <a:solidFill>
              <a:srgbClr val="000000"/>
            </a:solidFill>
            <a:prstDash val="solid"/>
            <a:round/>
            <a:headEnd type="none" w="sm" len="sm"/>
            <a:tailEnd type="none" w="sm" len="sm"/>
          </a:ln>
        </p:spPr>
        <p:txBody>
          <a:bodyPr/>
          <a:lstStyle/>
          <a:p>
            <a:endParaRPr lang="en-US"/>
          </a:p>
        </p:txBody>
      </p:sp>
      <p:sp>
        <p:nvSpPr>
          <p:cNvPr id="2475086" name="Freeform 1102"/>
          <p:cNvSpPr>
            <a:spLocks/>
          </p:cNvSpPr>
          <p:nvPr/>
        </p:nvSpPr>
        <p:spPr bwMode="auto">
          <a:xfrm>
            <a:off x="4613275" y="3090863"/>
            <a:ext cx="74613" cy="74612"/>
          </a:xfrm>
          <a:custGeom>
            <a:avLst/>
            <a:gdLst/>
            <a:ahLst/>
            <a:cxnLst>
              <a:cxn ang="0">
                <a:pos x="47" y="47"/>
              </a:cxn>
              <a:cxn ang="0">
                <a:pos x="24" y="0"/>
              </a:cxn>
              <a:cxn ang="0">
                <a:pos x="0" y="47"/>
              </a:cxn>
              <a:cxn ang="0">
                <a:pos x="47" y="47"/>
              </a:cxn>
            </a:cxnLst>
            <a:rect l="0" t="0" r="r" b="b"/>
            <a:pathLst>
              <a:path w="47" h="47">
                <a:moveTo>
                  <a:pt x="47" y="47"/>
                </a:moveTo>
                <a:lnTo>
                  <a:pt x="24" y="0"/>
                </a:lnTo>
                <a:lnTo>
                  <a:pt x="0" y="47"/>
                </a:lnTo>
                <a:lnTo>
                  <a:pt x="47" y="47"/>
                </a:lnTo>
                <a:close/>
              </a:path>
            </a:pathLst>
          </a:custGeom>
          <a:solidFill>
            <a:srgbClr val="000000"/>
          </a:solidFill>
          <a:ln w="9525">
            <a:noFill/>
            <a:round/>
            <a:headEnd/>
            <a:tailEnd/>
          </a:ln>
        </p:spPr>
        <p:txBody>
          <a:bodyPr/>
          <a:lstStyle/>
          <a:p>
            <a:endParaRPr lang="en-US"/>
          </a:p>
        </p:txBody>
      </p:sp>
      <p:sp>
        <p:nvSpPr>
          <p:cNvPr id="2475087" name="Freeform 1103"/>
          <p:cNvSpPr>
            <a:spLocks/>
          </p:cNvSpPr>
          <p:nvPr/>
        </p:nvSpPr>
        <p:spPr bwMode="auto">
          <a:xfrm>
            <a:off x="4879975" y="3352800"/>
            <a:ext cx="74613" cy="74613"/>
          </a:xfrm>
          <a:custGeom>
            <a:avLst/>
            <a:gdLst/>
            <a:ahLst/>
            <a:cxnLst>
              <a:cxn ang="0">
                <a:pos x="0" y="47"/>
              </a:cxn>
              <a:cxn ang="0">
                <a:pos x="47" y="24"/>
              </a:cxn>
              <a:cxn ang="0">
                <a:pos x="0" y="0"/>
              </a:cxn>
              <a:cxn ang="0">
                <a:pos x="0" y="47"/>
              </a:cxn>
            </a:cxnLst>
            <a:rect l="0" t="0" r="r" b="b"/>
            <a:pathLst>
              <a:path w="47" h="47">
                <a:moveTo>
                  <a:pt x="0" y="47"/>
                </a:moveTo>
                <a:lnTo>
                  <a:pt x="47" y="24"/>
                </a:lnTo>
                <a:lnTo>
                  <a:pt x="0" y="0"/>
                </a:lnTo>
                <a:lnTo>
                  <a:pt x="0" y="47"/>
                </a:lnTo>
                <a:close/>
              </a:path>
            </a:pathLst>
          </a:custGeom>
          <a:solidFill>
            <a:srgbClr val="000000"/>
          </a:solidFill>
          <a:ln w="9525">
            <a:noFill/>
            <a:round/>
            <a:headEnd/>
            <a:tailEnd/>
          </a:ln>
        </p:spPr>
        <p:txBody>
          <a:bodyPr/>
          <a:lstStyle/>
          <a:p>
            <a:endParaRPr lang="en-US"/>
          </a:p>
        </p:txBody>
      </p:sp>
      <p:sp>
        <p:nvSpPr>
          <p:cNvPr id="2475088" name="Freeform 1104"/>
          <p:cNvSpPr>
            <a:spLocks/>
          </p:cNvSpPr>
          <p:nvPr/>
        </p:nvSpPr>
        <p:spPr bwMode="auto">
          <a:xfrm>
            <a:off x="4400550" y="2498725"/>
            <a:ext cx="665163" cy="63500"/>
          </a:xfrm>
          <a:custGeom>
            <a:avLst/>
            <a:gdLst/>
            <a:ahLst/>
            <a:cxnLst>
              <a:cxn ang="0">
                <a:pos x="0" y="40"/>
              </a:cxn>
              <a:cxn ang="0">
                <a:pos x="0" y="0"/>
              </a:cxn>
              <a:cxn ang="0">
                <a:pos x="419" y="0"/>
              </a:cxn>
            </a:cxnLst>
            <a:rect l="0" t="0" r="r" b="b"/>
            <a:pathLst>
              <a:path w="419" h="40">
                <a:moveTo>
                  <a:pt x="0" y="40"/>
                </a:moveTo>
                <a:lnTo>
                  <a:pt x="0" y="0"/>
                </a:lnTo>
                <a:lnTo>
                  <a:pt x="419" y="0"/>
                </a:lnTo>
              </a:path>
            </a:pathLst>
          </a:custGeom>
          <a:noFill/>
          <a:ln w="3175" cap="rnd">
            <a:solidFill>
              <a:srgbClr val="000000"/>
            </a:solidFill>
            <a:prstDash val="solid"/>
            <a:round/>
            <a:headEnd type="none" w="sm" len="sm"/>
            <a:tailEnd type="none" w="sm" len="sm"/>
          </a:ln>
        </p:spPr>
        <p:txBody>
          <a:bodyPr/>
          <a:lstStyle/>
          <a:p>
            <a:endParaRPr lang="en-US"/>
          </a:p>
        </p:txBody>
      </p:sp>
      <p:sp>
        <p:nvSpPr>
          <p:cNvPr id="2475089" name="Freeform 1105"/>
          <p:cNvSpPr>
            <a:spLocks/>
          </p:cNvSpPr>
          <p:nvPr/>
        </p:nvSpPr>
        <p:spPr bwMode="auto">
          <a:xfrm>
            <a:off x="4362450" y="2552700"/>
            <a:ext cx="76200" cy="74613"/>
          </a:xfrm>
          <a:custGeom>
            <a:avLst/>
            <a:gdLst/>
            <a:ahLst/>
            <a:cxnLst>
              <a:cxn ang="0">
                <a:pos x="48" y="0"/>
              </a:cxn>
              <a:cxn ang="0">
                <a:pos x="24" y="47"/>
              </a:cxn>
              <a:cxn ang="0">
                <a:pos x="0" y="0"/>
              </a:cxn>
              <a:cxn ang="0">
                <a:pos x="48" y="0"/>
              </a:cxn>
            </a:cxnLst>
            <a:rect l="0" t="0" r="r" b="b"/>
            <a:pathLst>
              <a:path w="48" h="47">
                <a:moveTo>
                  <a:pt x="48" y="0"/>
                </a:moveTo>
                <a:lnTo>
                  <a:pt x="24" y="47"/>
                </a:lnTo>
                <a:lnTo>
                  <a:pt x="0" y="0"/>
                </a:lnTo>
                <a:lnTo>
                  <a:pt x="48" y="0"/>
                </a:lnTo>
                <a:close/>
              </a:path>
            </a:pathLst>
          </a:custGeom>
          <a:solidFill>
            <a:srgbClr val="000000"/>
          </a:solidFill>
          <a:ln w="9525">
            <a:noFill/>
            <a:round/>
            <a:headEnd/>
            <a:tailEnd/>
          </a:ln>
        </p:spPr>
        <p:txBody>
          <a:bodyPr/>
          <a:lstStyle/>
          <a:p>
            <a:endParaRPr lang="en-US"/>
          </a:p>
        </p:txBody>
      </p:sp>
      <p:sp>
        <p:nvSpPr>
          <p:cNvPr id="2475090" name="Freeform 1106"/>
          <p:cNvSpPr>
            <a:spLocks/>
          </p:cNvSpPr>
          <p:nvPr/>
        </p:nvSpPr>
        <p:spPr bwMode="auto">
          <a:xfrm>
            <a:off x="5056188" y="2460625"/>
            <a:ext cx="74612" cy="74613"/>
          </a:xfrm>
          <a:custGeom>
            <a:avLst/>
            <a:gdLst/>
            <a:ahLst/>
            <a:cxnLst>
              <a:cxn ang="0">
                <a:pos x="0" y="0"/>
              </a:cxn>
              <a:cxn ang="0">
                <a:pos x="47" y="24"/>
              </a:cxn>
              <a:cxn ang="0">
                <a:pos x="0" y="47"/>
              </a:cxn>
              <a:cxn ang="0">
                <a:pos x="0" y="0"/>
              </a:cxn>
            </a:cxnLst>
            <a:rect l="0" t="0" r="r" b="b"/>
            <a:pathLst>
              <a:path w="47" h="47">
                <a:moveTo>
                  <a:pt x="0" y="0"/>
                </a:moveTo>
                <a:lnTo>
                  <a:pt x="47" y="24"/>
                </a:lnTo>
                <a:lnTo>
                  <a:pt x="0" y="47"/>
                </a:lnTo>
                <a:lnTo>
                  <a:pt x="0" y="0"/>
                </a:lnTo>
                <a:close/>
              </a:path>
            </a:pathLst>
          </a:custGeom>
          <a:solidFill>
            <a:srgbClr val="000000"/>
          </a:solidFill>
          <a:ln w="9525">
            <a:noFill/>
            <a:round/>
            <a:headEnd/>
            <a:tailEnd/>
          </a:ln>
        </p:spPr>
        <p:txBody>
          <a:bodyPr/>
          <a:lstStyle/>
          <a:p>
            <a:endParaRPr lang="en-US"/>
          </a:p>
        </p:txBody>
      </p:sp>
      <p:grpSp>
        <p:nvGrpSpPr>
          <p:cNvPr id="2475679" name="Group 1695"/>
          <p:cNvGrpSpPr>
            <a:grpSpLocks/>
          </p:cNvGrpSpPr>
          <p:nvPr/>
        </p:nvGrpSpPr>
        <p:grpSpPr bwMode="auto">
          <a:xfrm>
            <a:off x="5656263" y="2525713"/>
            <a:ext cx="682625" cy="393700"/>
            <a:chOff x="3563" y="1711"/>
            <a:chExt cx="276" cy="248"/>
          </a:xfrm>
        </p:grpSpPr>
        <p:sp>
          <p:nvSpPr>
            <p:cNvPr id="2475094" name="Freeform 1110"/>
            <p:cNvSpPr>
              <a:spLocks/>
            </p:cNvSpPr>
            <p:nvPr/>
          </p:nvSpPr>
          <p:spPr bwMode="auto">
            <a:xfrm>
              <a:off x="3604" y="1734"/>
              <a:ext cx="193" cy="201"/>
            </a:xfrm>
            <a:custGeom>
              <a:avLst/>
              <a:gdLst/>
              <a:ahLst/>
              <a:cxnLst>
                <a:cxn ang="0">
                  <a:pos x="0" y="0"/>
                </a:cxn>
                <a:cxn ang="0">
                  <a:pos x="96" y="0"/>
                </a:cxn>
                <a:cxn ang="0">
                  <a:pos x="96" y="201"/>
                </a:cxn>
                <a:cxn ang="0">
                  <a:pos x="193" y="201"/>
                </a:cxn>
              </a:cxnLst>
              <a:rect l="0" t="0" r="r" b="b"/>
              <a:pathLst>
                <a:path w="193" h="201">
                  <a:moveTo>
                    <a:pt x="0" y="0"/>
                  </a:moveTo>
                  <a:lnTo>
                    <a:pt x="96" y="0"/>
                  </a:lnTo>
                  <a:lnTo>
                    <a:pt x="96" y="201"/>
                  </a:lnTo>
                  <a:lnTo>
                    <a:pt x="193" y="201"/>
                  </a:lnTo>
                </a:path>
              </a:pathLst>
            </a:custGeom>
            <a:noFill/>
            <a:ln w="3175" cap="rnd">
              <a:solidFill>
                <a:srgbClr val="000000"/>
              </a:solidFill>
              <a:prstDash val="solid"/>
              <a:round/>
              <a:headEnd/>
              <a:tailEnd/>
            </a:ln>
          </p:spPr>
          <p:txBody>
            <a:bodyPr/>
            <a:lstStyle/>
            <a:p>
              <a:endParaRPr lang="en-US"/>
            </a:p>
          </p:txBody>
        </p:sp>
        <p:sp>
          <p:nvSpPr>
            <p:cNvPr id="2475095" name="Freeform 1111"/>
            <p:cNvSpPr>
              <a:spLocks/>
            </p:cNvSpPr>
            <p:nvPr/>
          </p:nvSpPr>
          <p:spPr bwMode="auto">
            <a:xfrm>
              <a:off x="3563" y="1711"/>
              <a:ext cx="47" cy="47"/>
            </a:xfrm>
            <a:custGeom>
              <a:avLst/>
              <a:gdLst/>
              <a:ahLst/>
              <a:cxnLst>
                <a:cxn ang="0">
                  <a:pos x="47" y="0"/>
                </a:cxn>
                <a:cxn ang="0">
                  <a:pos x="0" y="23"/>
                </a:cxn>
                <a:cxn ang="0">
                  <a:pos x="47" y="47"/>
                </a:cxn>
                <a:cxn ang="0">
                  <a:pos x="47" y="0"/>
                </a:cxn>
              </a:cxnLst>
              <a:rect l="0" t="0" r="r" b="b"/>
              <a:pathLst>
                <a:path w="47" h="47">
                  <a:moveTo>
                    <a:pt x="47" y="0"/>
                  </a:moveTo>
                  <a:lnTo>
                    <a:pt x="0" y="23"/>
                  </a:lnTo>
                  <a:lnTo>
                    <a:pt x="47" y="47"/>
                  </a:lnTo>
                  <a:lnTo>
                    <a:pt x="47" y="0"/>
                  </a:lnTo>
                  <a:close/>
                </a:path>
              </a:pathLst>
            </a:custGeom>
            <a:solidFill>
              <a:srgbClr val="000000"/>
            </a:solidFill>
            <a:ln w="9525">
              <a:noFill/>
              <a:round/>
              <a:headEnd/>
              <a:tailEnd/>
            </a:ln>
          </p:spPr>
          <p:txBody>
            <a:bodyPr/>
            <a:lstStyle/>
            <a:p>
              <a:endParaRPr lang="en-US"/>
            </a:p>
          </p:txBody>
        </p:sp>
        <p:sp>
          <p:nvSpPr>
            <p:cNvPr id="2475096" name="Freeform 1112"/>
            <p:cNvSpPr>
              <a:spLocks/>
            </p:cNvSpPr>
            <p:nvPr/>
          </p:nvSpPr>
          <p:spPr bwMode="auto">
            <a:xfrm>
              <a:off x="3791" y="1912"/>
              <a:ext cx="48" cy="47"/>
            </a:xfrm>
            <a:custGeom>
              <a:avLst/>
              <a:gdLst/>
              <a:ahLst/>
              <a:cxnLst>
                <a:cxn ang="0">
                  <a:pos x="0" y="47"/>
                </a:cxn>
                <a:cxn ang="0">
                  <a:pos x="48" y="23"/>
                </a:cxn>
                <a:cxn ang="0">
                  <a:pos x="0" y="0"/>
                </a:cxn>
                <a:cxn ang="0">
                  <a:pos x="0" y="47"/>
                </a:cxn>
              </a:cxnLst>
              <a:rect l="0" t="0" r="r" b="b"/>
              <a:pathLst>
                <a:path w="48" h="47">
                  <a:moveTo>
                    <a:pt x="0" y="47"/>
                  </a:moveTo>
                  <a:lnTo>
                    <a:pt x="48" y="23"/>
                  </a:lnTo>
                  <a:lnTo>
                    <a:pt x="0" y="0"/>
                  </a:lnTo>
                  <a:lnTo>
                    <a:pt x="0" y="47"/>
                  </a:lnTo>
                  <a:close/>
                </a:path>
              </a:pathLst>
            </a:custGeom>
            <a:solidFill>
              <a:srgbClr val="000000"/>
            </a:solidFill>
            <a:ln w="9525">
              <a:noFill/>
              <a:round/>
              <a:headEnd/>
              <a:tailEnd/>
            </a:ln>
          </p:spPr>
          <p:txBody>
            <a:bodyPr/>
            <a:lstStyle/>
            <a:p>
              <a:endParaRPr lang="en-US"/>
            </a:p>
          </p:txBody>
        </p:sp>
      </p:grpSp>
      <p:sp>
        <p:nvSpPr>
          <p:cNvPr id="2475104" name="Freeform 1120"/>
          <p:cNvSpPr>
            <a:spLocks/>
          </p:cNvSpPr>
          <p:nvPr/>
        </p:nvSpPr>
        <p:spPr bwMode="auto">
          <a:xfrm>
            <a:off x="6488113" y="2298700"/>
            <a:ext cx="74612" cy="74613"/>
          </a:xfrm>
          <a:custGeom>
            <a:avLst/>
            <a:gdLst/>
            <a:ahLst/>
            <a:cxnLst>
              <a:cxn ang="0">
                <a:pos x="47" y="47"/>
              </a:cxn>
              <a:cxn ang="0">
                <a:pos x="0" y="23"/>
              </a:cxn>
              <a:cxn ang="0">
                <a:pos x="47" y="0"/>
              </a:cxn>
              <a:cxn ang="0">
                <a:pos x="47" y="47"/>
              </a:cxn>
            </a:cxnLst>
            <a:rect l="0" t="0" r="r" b="b"/>
            <a:pathLst>
              <a:path w="47" h="47">
                <a:moveTo>
                  <a:pt x="47" y="47"/>
                </a:moveTo>
                <a:lnTo>
                  <a:pt x="0" y="23"/>
                </a:lnTo>
                <a:lnTo>
                  <a:pt x="47" y="0"/>
                </a:lnTo>
                <a:lnTo>
                  <a:pt x="47" y="47"/>
                </a:lnTo>
                <a:close/>
              </a:path>
            </a:pathLst>
          </a:custGeom>
          <a:solidFill>
            <a:srgbClr val="000000"/>
          </a:solidFill>
          <a:ln w="9525">
            <a:noFill/>
            <a:round/>
            <a:headEnd/>
            <a:tailEnd/>
          </a:ln>
        </p:spPr>
        <p:txBody>
          <a:bodyPr/>
          <a:lstStyle/>
          <a:p>
            <a:endParaRPr lang="en-US"/>
          </a:p>
        </p:txBody>
      </p:sp>
      <p:sp>
        <p:nvSpPr>
          <p:cNvPr id="2475121" name="Rectangle 1137"/>
          <p:cNvSpPr>
            <a:spLocks noChangeArrowheads="1"/>
          </p:cNvSpPr>
          <p:nvPr/>
        </p:nvSpPr>
        <p:spPr bwMode="auto">
          <a:xfrm>
            <a:off x="5157788" y="1384300"/>
            <a:ext cx="533400" cy="388938"/>
          </a:xfrm>
          <a:prstGeom prst="rect">
            <a:avLst/>
          </a:prstGeom>
          <a:noFill/>
          <a:ln w="3175" cap="rnd">
            <a:solidFill>
              <a:srgbClr val="000000"/>
            </a:solidFill>
            <a:round/>
            <a:headEnd/>
            <a:tailEnd/>
          </a:ln>
        </p:spPr>
        <p:txBody>
          <a:bodyPr/>
          <a:lstStyle/>
          <a:p>
            <a:endParaRPr lang="en-US"/>
          </a:p>
        </p:txBody>
      </p:sp>
      <p:grpSp>
        <p:nvGrpSpPr>
          <p:cNvPr id="2475683" name="Group 1699"/>
          <p:cNvGrpSpPr>
            <a:grpSpLocks/>
          </p:cNvGrpSpPr>
          <p:nvPr/>
        </p:nvGrpSpPr>
        <p:grpSpPr bwMode="auto">
          <a:xfrm>
            <a:off x="5167313" y="1395413"/>
            <a:ext cx="523875" cy="377825"/>
            <a:chOff x="3158" y="992"/>
            <a:chExt cx="336" cy="245"/>
          </a:xfrm>
        </p:grpSpPr>
        <p:sp>
          <p:nvSpPr>
            <p:cNvPr id="2475120" name="Rectangle 1136"/>
            <p:cNvSpPr>
              <a:spLocks noChangeArrowheads="1"/>
            </p:cNvSpPr>
            <p:nvPr/>
          </p:nvSpPr>
          <p:spPr bwMode="auto">
            <a:xfrm>
              <a:off x="3158" y="992"/>
              <a:ext cx="336" cy="245"/>
            </a:xfrm>
            <a:prstGeom prst="rect">
              <a:avLst/>
            </a:prstGeom>
            <a:solidFill>
              <a:srgbClr val="B0FFFF"/>
            </a:solidFill>
            <a:ln w="9525">
              <a:noFill/>
              <a:miter lim="800000"/>
              <a:headEnd/>
              <a:tailEnd/>
            </a:ln>
          </p:spPr>
          <p:txBody>
            <a:bodyPr/>
            <a:lstStyle/>
            <a:p>
              <a:endParaRPr lang="en-US"/>
            </a:p>
          </p:txBody>
        </p:sp>
        <p:sp>
          <p:nvSpPr>
            <p:cNvPr id="2475122" name="Rectangle 1138"/>
            <p:cNvSpPr>
              <a:spLocks noChangeArrowheads="1"/>
            </p:cNvSpPr>
            <p:nvPr/>
          </p:nvSpPr>
          <p:spPr bwMode="auto">
            <a:xfrm>
              <a:off x="3248" y="1046"/>
              <a:ext cx="222" cy="67"/>
            </a:xfrm>
            <a:prstGeom prst="rect">
              <a:avLst/>
            </a:prstGeom>
            <a:noFill/>
            <a:ln w="9525">
              <a:noFill/>
              <a:miter lim="800000"/>
              <a:headEnd/>
              <a:tailEnd/>
            </a:ln>
          </p:spPr>
          <p:txBody>
            <a:bodyPr wrap="none" lIns="0" tIns="0" rIns="0" bIns="0">
              <a:spAutoFit/>
            </a:bodyPr>
            <a:lstStyle/>
            <a:p>
              <a:r>
                <a:rPr lang="en-US" sz="700">
                  <a:solidFill>
                    <a:srgbClr val="000000"/>
                  </a:solidFill>
                </a:rPr>
                <a:t>Service  </a:t>
              </a:r>
              <a:endParaRPr lang="en-US" sz="1200"/>
            </a:p>
          </p:txBody>
        </p:sp>
        <p:sp>
          <p:nvSpPr>
            <p:cNvPr id="2475123" name="Rectangle 1139"/>
            <p:cNvSpPr>
              <a:spLocks noChangeArrowheads="1"/>
            </p:cNvSpPr>
            <p:nvPr/>
          </p:nvSpPr>
          <p:spPr bwMode="auto">
            <a:xfrm>
              <a:off x="3249" y="1112"/>
              <a:ext cx="190" cy="69"/>
            </a:xfrm>
            <a:prstGeom prst="rect">
              <a:avLst/>
            </a:prstGeom>
            <a:noFill/>
            <a:ln w="9525">
              <a:noFill/>
              <a:miter lim="800000"/>
              <a:headEnd/>
              <a:tailEnd/>
            </a:ln>
          </p:spPr>
          <p:txBody>
            <a:bodyPr wrap="none" lIns="0" tIns="0" rIns="0" bIns="0">
              <a:spAutoFit/>
            </a:bodyPr>
            <a:lstStyle/>
            <a:p>
              <a:r>
                <a:rPr lang="en-US" sz="700">
                  <a:solidFill>
                    <a:srgbClr val="000000"/>
                  </a:solidFill>
                </a:rPr>
                <a:t>Locator</a:t>
              </a:r>
              <a:endParaRPr lang="en-US" sz="1200"/>
            </a:p>
          </p:txBody>
        </p:sp>
      </p:grpSp>
      <p:sp>
        <p:nvSpPr>
          <p:cNvPr id="2475124" name="Rectangle 1140"/>
          <p:cNvSpPr>
            <a:spLocks noChangeArrowheads="1"/>
          </p:cNvSpPr>
          <p:nvPr/>
        </p:nvSpPr>
        <p:spPr bwMode="auto">
          <a:xfrm>
            <a:off x="5956300" y="1384300"/>
            <a:ext cx="682625" cy="388938"/>
          </a:xfrm>
          <a:prstGeom prst="rect">
            <a:avLst/>
          </a:prstGeom>
          <a:solidFill>
            <a:srgbClr val="B0FFFF"/>
          </a:solidFill>
          <a:ln w="9525">
            <a:noFill/>
            <a:miter lim="800000"/>
            <a:headEnd/>
            <a:tailEnd/>
          </a:ln>
        </p:spPr>
        <p:txBody>
          <a:bodyPr/>
          <a:lstStyle/>
          <a:p>
            <a:endParaRPr lang="en-US"/>
          </a:p>
        </p:txBody>
      </p:sp>
      <p:sp>
        <p:nvSpPr>
          <p:cNvPr id="2475125" name="Rectangle 1141"/>
          <p:cNvSpPr>
            <a:spLocks noChangeArrowheads="1"/>
          </p:cNvSpPr>
          <p:nvPr/>
        </p:nvSpPr>
        <p:spPr bwMode="auto">
          <a:xfrm>
            <a:off x="5956300" y="1384300"/>
            <a:ext cx="682625" cy="388938"/>
          </a:xfrm>
          <a:prstGeom prst="rect">
            <a:avLst/>
          </a:prstGeom>
          <a:noFill/>
          <a:ln w="3175" cap="rnd">
            <a:solidFill>
              <a:srgbClr val="000000"/>
            </a:solidFill>
            <a:round/>
            <a:headEnd/>
            <a:tailEnd/>
          </a:ln>
        </p:spPr>
        <p:txBody>
          <a:bodyPr/>
          <a:lstStyle/>
          <a:p>
            <a:endParaRPr lang="en-US"/>
          </a:p>
        </p:txBody>
      </p:sp>
      <p:sp>
        <p:nvSpPr>
          <p:cNvPr id="2475126" name="Rectangle 1142"/>
          <p:cNvSpPr>
            <a:spLocks noChangeArrowheads="1"/>
          </p:cNvSpPr>
          <p:nvPr/>
        </p:nvSpPr>
        <p:spPr bwMode="auto">
          <a:xfrm>
            <a:off x="6065838" y="1470025"/>
            <a:ext cx="552450" cy="106363"/>
          </a:xfrm>
          <a:prstGeom prst="rect">
            <a:avLst/>
          </a:prstGeom>
          <a:noFill/>
          <a:ln w="9525">
            <a:noFill/>
            <a:miter lim="800000"/>
            <a:headEnd/>
            <a:tailEnd/>
          </a:ln>
        </p:spPr>
        <p:txBody>
          <a:bodyPr wrap="none" lIns="0" tIns="0" rIns="0" bIns="0">
            <a:spAutoFit/>
          </a:bodyPr>
          <a:lstStyle/>
          <a:p>
            <a:r>
              <a:rPr lang="en-US" sz="700">
                <a:solidFill>
                  <a:srgbClr val="000000"/>
                </a:solidFill>
              </a:rPr>
              <a:t>Configuration </a:t>
            </a:r>
            <a:endParaRPr lang="en-US" sz="1200"/>
          </a:p>
        </p:txBody>
      </p:sp>
      <p:sp>
        <p:nvSpPr>
          <p:cNvPr id="2475127" name="Rectangle 1143"/>
          <p:cNvSpPr>
            <a:spLocks noChangeArrowheads="1"/>
          </p:cNvSpPr>
          <p:nvPr/>
        </p:nvSpPr>
        <p:spPr bwMode="auto">
          <a:xfrm>
            <a:off x="6142038" y="1574800"/>
            <a:ext cx="350837" cy="106363"/>
          </a:xfrm>
          <a:prstGeom prst="rect">
            <a:avLst/>
          </a:prstGeom>
          <a:noFill/>
          <a:ln w="9525">
            <a:noFill/>
            <a:miter lim="800000"/>
            <a:headEnd/>
            <a:tailEnd/>
          </a:ln>
        </p:spPr>
        <p:txBody>
          <a:bodyPr wrap="none" lIns="0" tIns="0" rIns="0" bIns="0">
            <a:spAutoFit/>
          </a:bodyPr>
          <a:lstStyle/>
          <a:p>
            <a:r>
              <a:rPr lang="en-US" sz="700">
                <a:solidFill>
                  <a:srgbClr val="000000"/>
                </a:solidFill>
              </a:rPr>
              <a:t>Manager</a:t>
            </a:r>
            <a:endParaRPr lang="en-US" sz="1200"/>
          </a:p>
        </p:txBody>
      </p:sp>
      <p:sp>
        <p:nvSpPr>
          <p:cNvPr id="2475181" name="Rectangle 1197"/>
          <p:cNvSpPr>
            <a:spLocks noChangeArrowheads="1"/>
          </p:cNvSpPr>
          <p:nvPr/>
        </p:nvSpPr>
        <p:spPr bwMode="auto">
          <a:xfrm>
            <a:off x="4456113" y="2114550"/>
            <a:ext cx="388937" cy="292100"/>
          </a:xfrm>
          <a:prstGeom prst="rect">
            <a:avLst/>
          </a:prstGeom>
          <a:solidFill>
            <a:srgbClr val="B0FFFF"/>
          </a:solidFill>
          <a:ln w="9525">
            <a:noFill/>
            <a:miter lim="800000"/>
            <a:headEnd/>
            <a:tailEnd/>
          </a:ln>
        </p:spPr>
        <p:txBody>
          <a:bodyPr/>
          <a:lstStyle/>
          <a:p>
            <a:endParaRPr lang="en-US"/>
          </a:p>
        </p:txBody>
      </p:sp>
      <p:sp>
        <p:nvSpPr>
          <p:cNvPr id="2475182" name="Rectangle 1198"/>
          <p:cNvSpPr>
            <a:spLocks noChangeArrowheads="1"/>
          </p:cNvSpPr>
          <p:nvPr/>
        </p:nvSpPr>
        <p:spPr bwMode="auto">
          <a:xfrm>
            <a:off x="4456113" y="2114550"/>
            <a:ext cx="388937" cy="292100"/>
          </a:xfrm>
          <a:prstGeom prst="rect">
            <a:avLst/>
          </a:prstGeom>
          <a:noFill/>
          <a:ln w="3175" cap="rnd">
            <a:solidFill>
              <a:srgbClr val="000000"/>
            </a:solidFill>
            <a:round/>
            <a:headEnd/>
            <a:tailEnd/>
          </a:ln>
        </p:spPr>
        <p:txBody>
          <a:bodyPr/>
          <a:lstStyle/>
          <a:p>
            <a:endParaRPr lang="en-US"/>
          </a:p>
        </p:txBody>
      </p:sp>
      <p:sp>
        <p:nvSpPr>
          <p:cNvPr id="2475183" name="Rectangle 1199"/>
          <p:cNvSpPr>
            <a:spLocks noChangeArrowheads="1"/>
          </p:cNvSpPr>
          <p:nvPr/>
        </p:nvSpPr>
        <p:spPr bwMode="auto">
          <a:xfrm>
            <a:off x="4576763" y="2151063"/>
            <a:ext cx="212725" cy="106362"/>
          </a:xfrm>
          <a:prstGeom prst="rect">
            <a:avLst/>
          </a:prstGeom>
          <a:noFill/>
          <a:ln w="9525">
            <a:noFill/>
            <a:miter lim="800000"/>
            <a:headEnd/>
            <a:tailEnd/>
          </a:ln>
        </p:spPr>
        <p:txBody>
          <a:bodyPr wrap="none" lIns="0" tIns="0" rIns="0" bIns="0">
            <a:spAutoFit/>
          </a:bodyPr>
          <a:lstStyle/>
          <a:p>
            <a:r>
              <a:rPr lang="en-US" sz="700">
                <a:solidFill>
                  <a:srgbClr val="000000"/>
                </a:solidFill>
              </a:rPr>
              <a:t>Data </a:t>
            </a:r>
            <a:endParaRPr lang="en-US" sz="1200"/>
          </a:p>
        </p:txBody>
      </p:sp>
      <p:sp>
        <p:nvSpPr>
          <p:cNvPr id="2475184" name="Rectangle 1200"/>
          <p:cNvSpPr>
            <a:spLocks noChangeArrowheads="1"/>
          </p:cNvSpPr>
          <p:nvPr/>
        </p:nvSpPr>
        <p:spPr bwMode="auto">
          <a:xfrm>
            <a:off x="4545013" y="2255838"/>
            <a:ext cx="257175" cy="106362"/>
          </a:xfrm>
          <a:prstGeom prst="rect">
            <a:avLst/>
          </a:prstGeom>
          <a:noFill/>
          <a:ln w="9525">
            <a:noFill/>
            <a:miter lim="800000"/>
            <a:headEnd/>
            <a:tailEnd/>
          </a:ln>
        </p:spPr>
        <p:txBody>
          <a:bodyPr wrap="none" lIns="0" tIns="0" rIns="0" bIns="0">
            <a:spAutoFit/>
          </a:bodyPr>
          <a:lstStyle/>
          <a:p>
            <a:r>
              <a:rPr lang="en-US" sz="700">
                <a:solidFill>
                  <a:srgbClr val="000000"/>
                </a:solidFill>
              </a:rPr>
              <a:t>Object</a:t>
            </a:r>
            <a:endParaRPr lang="en-US" sz="1200"/>
          </a:p>
        </p:txBody>
      </p:sp>
      <p:sp>
        <p:nvSpPr>
          <p:cNvPr id="2475185" name="Rectangle 1201"/>
          <p:cNvSpPr>
            <a:spLocks noChangeArrowheads="1"/>
          </p:cNvSpPr>
          <p:nvPr/>
        </p:nvSpPr>
        <p:spPr bwMode="auto">
          <a:xfrm>
            <a:off x="4025900" y="1111250"/>
            <a:ext cx="1797050" cy="182563"/>
          </a:xfrm>
          <a:prstGeom prst="rect">
            <a:avLst/>
          </a:prstGeom>
          <a:noFill/>
          <a:ln w="9525">
            <a:noFill/>
            <a:miter lim="800000"/>
            <a:headEnd/>
            <a:tailEnd/>
          </a:ln>
        </p:spPr>
        <p:txBody>
          <a:bodyPr wrap="none" lIns="0" tIns="0" rIns="0" bIns="0">
            <a:spAutoFit/>
          </a:bodyPr>
          <a:lstStyle/>
          <a:p>
            <a:r>
              <a:rPr lang="en-US" sz="1200" b="1">
                <a:solidFill>
                  <a:srgbClr val="000000"/>
                </a:solidFill>
              </a:rPr>
              <a:t>Web / Application Server</a:t>
            </a:r>
            <a:endParaRPr lang="en-US" sz="1200"/>
          </a:p>
        </p:txBody>
      </p:sp>
      <p:sp>
        <p:nvSpPr>
          <p:cNvPr id="2475191" name="Rectangle 1207"/>
          <p:cNvSpPr>
            <a:spLocks noChangeArrowheads="1"/>
          </p:cNvSpPr>
          <p:nvPr/>
        </p:nvSpPr>
        <p:spPr bwMode="auto">
          <a:xfrm>
            <a:off x="538163" y="3108325"/>
            <a:ext cx="7937" cy="90488"/>
          </a:xfrm>
          <a:prstGeom prst="rect">
            <a:avLst/>
          </a:prstGeom>
          <a:solidFill>
            <a:srgbClr val="E6E6E6"/>
          </a:solidFill>
          <a:ln w="9525">
            <a:noFill/>
            <a:miter lim="800000"/>
            <a:headEnd/>
            <a:tailEnd/>
          </a:ln>
        </p:spPr>
        <p:txBody>
          <a:bodyPr/>
          <a:lstStyle/>
          <a:p>
            <a:endParaRPr lang="en-US"/>
          </a:p>
        </p:txBody>
      </p:sp>
      <p:sp>
        <p:nvSpPr>
          <p:cNvPr id="2475201" name="Rectangle 1217"/>
          <p:cNvSpPr>
            <a:spLocks noChangeArrowheads="1"/>
          </p:cNvSpPr>
          <p:nvPr/>
        </p:nvSpPr>
        <p:spPr bwMode="auto">
          <a:xfrm>
            <a:off x="635000" y="3108325"/>
            <a:ext cx="7938" cy="90488"/>
          </a:xfrm>
          <a:prstGeom prst="rect">
            <a:avLst/>
          </a:prstGeom>
          <a:solidFill>
            <a:srgbClr val="C9C9C9"/>
          </a:solidFill>
          <a:ln w="9525">
            <a:noFill/>
            <a:miter lim="800000"/>
            <a:headEnd/>
            <a:tailEnd/>
          </a:ln>
        </p:spPr>
        <p:txBody>
          <a:bodyPr/>
          <a:lstStyle/>
          <a:p>
            <a:endParaRPr lang="en-US"/>
          </a:p>
        </p:txBody>
      </p:sp>
      <p:sp>
        <p:nvSpPr>
          <p:cNvPr id="2475208" name="Rectangle 1224"/>
          <p:cNvSpPr>
            <a:spLocks noChangeArrowheads="1"/>
          </p:cNvSpPr>
          <p:nvPr/>
        </p:nvSpPr>
        <p:spPr bwMode="auto">
          <a:xfrm>
            <a:off x="708025" y="3108325"/>
            <a:ext cx="7938" cy="90488"/>
          </a:xfrm>
          <a:prstGeom prst="rect">
            <a:avLst/>
          </a:prstGeom>
          <a:solidFill>
            <a:srgbClr val="D0D0D0"/>
          </a:solidFill>
          <a:ln w="9525">
            <a:noFill/>
            <a:miter lim="800000"/>
            <a:headEnd/>
            <a:tailEnd/>
          </a:ln>
        </p:spPr>
        <p:txBody>
          <a:bodyPr/>
          <a:lstStyle/>
          <a:p>
            <a:endParaRPr lang="en-US"/>
          </a:p>
        </p:txBody>
      </p:sp>
      <p:sp>
        <p:nvSpPr>
          <p:cNvPr id="2475216" name="Rectangle 1232"/>
          <p:cNvSpPr>
            <a:spLocks noChangeArrowheads="1"/>
          </p:cNvSpPr>
          <p:nvPr/>
        </p:nvSpPr>
        <p:spPr bwMode="auto">
          <a:xfrm>
            <a:off x="911225" y="2563813"/>
            <a:ext cx="7938" cy="90487"/>
          </a:xfrm>
          <a:prstGeom prst="rect">
            <a:avLst/>
          </a:prstGeom>
          <a:solidFill>
            <a:srgbClr val="D7D7D7"/>
          </a:solidFill>
          <a:ln w="9525">
            <a:noFill/>
            <a:miter lim="800000"/>
            <a:headEnd/>
            <a:tailEnd/>
          </a:ln>
        </p:spPr>
        <p:txBody>
          <a:bodyPr/>
          <a:lstStyle/>
          <a:p>
            <a:endParaRPr lang="en-US"/>
          </a:p>
        </p:txBody>
      </p:sp>
      <p:sp>
        <p:nvSpPr>
          <p:cNvPr id="2475271" name="Rectangle 1287"/>
          <p:cNvSpPr>
            <a:spLocks noChangeArrowheads="1"/>
          </p:cNvSpPr>
          <p:nvPr/>
        </p:nvSpPr>
        <p:spPr bwMode="auto">
          <a:xfrm>
            <a:off x="644525" y="1071563"/>
            <a:ext cx="7938" cy="88900"/>
          </a:xfrm>
          <a:prstGeom prst="rect">
            <a:avLst/>
          </a:prstGeom>
          <a:solidFill>
            <a:srgbClr val="C0C0C0"/>
          </a:solidFill>
          <a:ln w="9525">
            <a:noFill/>
            <a:miter lim="800000"/>
            <a:headEnd/>
            <a:tailEnd/>
          </a:ln>
        </p:spPr>
        <p:txBody>
          <a:bodyPr/>
          <a:lstStyle/>
          <a:p>
            <a:endParaRPr lang="en-US"/>
          </a:p>
        </p:txBody>
      </p:sp>
      <p:sp>
        <p:nvSpPr>
          <p:cNvPr id="2475313" name="Rectangle 1329"/>
          <p:cNvSpPr>
            <a:spLocks noChangeArrowheads="1"/>
          </p:cNvSpPr>
          <p:nvPr/>
        </p:nvSpPr>
        <p:spPr bwMode="auto">
          <a:xfrm>
            <a:off x="644525" y="1112838"/>
            <a:ext cx="403225" cy="7937"/>
          </a:xfrm>
          <a:prstGeom prst="rect">
            <a:avLst/>
          </a:prstGeom>
          <a:solidFill>
            <a:srgbClr val="ACACAC"/>
          </a:solidFill>
          <a:ln w="9525">
            <a:noFill/>
            <a:miter lim="800000"/>
            <a:headEnd/>
            <a:tailEnd/>
          </a:ln>
        </p:spPr>
        <p:txBody>
          <a:bodyPr/>
          <a:lstStyle/>
          <a:p>
            <a:endParaRPr lang="en-US"/>
          </a:p>
        </p:txBody>
      </p:sp>
      <p:sp>
        <p:nvSpPr>
          <p:cNvPr id="2475366" name="Rectangle 1382"/>
          <p:cNvSpPr>
            <a:spLocks noChangeArrowheads="1"/>
          </p:cNvSpPr>
          <p:nvPr/>
        </p:nvSpPr>
        <p:spPr bwMode="auto">
          <a:xfrm>
            <a:off x="2855913" y="2649538"/>
            <a:ext cx="387350" cy="260350"/>
          </a:xfrm>
          <a:prstGeom prst="rect">
            <a:avLst/>
          </a:prstGeom>
          <a:solidFill>
            <a:srgbClr val="FFFF80"/>
          </a:solidFill>
          <a:ln w="9525">
            <a:noFill/>
            <a:miter lim="800000"/>
            <a:headEnd/>
            <a:tailEnd/>
          </a:ln>
        </p:spPr>
        <p:txBody>
          <a:bodyPr/>
          <a:lstStyle/>
          <a:p>
            <a:endParaRPr lang="en-US"/>
          </a:p>
        </p:txBody>
      </p:sp>
      <p:sp>
        <p:nvSpPr>
          <p:cNvPr id="2475367" name="Rectangle 1383"/>
          <p:cNvSpPr>
            <a:spLocks noChangeArrowheads="1"/>
          </p:cNvSpPr>
          <p:nvPr/>
        </p:nvSpPr>
        <p:spPr bwMode="auto">
          <a:xfrm>
            <a:off x="2855913" y="2649538"/>
            <a:ext cx="387350" cy="260350"/>
          </a:xfrm>
          <a:prstGeom prst="rect">
            <a:avLst/>
          </a:prstGeom>
          <a:noFill/>
          <a:ln w="3175" cap="rnd">
            <a:solidFill>
              <a:srgbClr val="000000"/>
            </a:solidFill>
            <a:round/>
            <a:headEnd/>
            <a:tailEnd/>
          </a:ln>
        </p:spPr>
        <p:txBody>
          <a:bodyPr/>
          <a:lstStyle/>
          <a:p>
            <a:endParaRPr lang="en-US"/>
          </a:p>
        </p:txBody>
      </p:sp>
      <p:sp>
        <p:nvSpPr>
          <p:cNvPr id="2475368" name="Rectangle 1384"/>
          <p:cNvSpPr>
            <a:spLocks noChangeArrowheads="1"/>
          </p:cNvSpPr>
          <p:nvPr/>
        </p:nvSpPr>
        <p:spPr bwMode="auto">
          <a:xfrm>
            <a:off x="2960688" y="2670175"/>
            <a:ext cx="247650" cy="106363"/>
          </a:xfrm>
          <a:prstGeom prst="rect">
            <a:avLst/>
          </a:prstGeom>
          <a:noFill/>
          <a:ln w="9525">
            <a:noFill/>
            <a:miter lim="800000"/>
            <a:headEnd/>
            <a:tailEnd/>
          </a:ln>
        </p:spPr>
        <p:txBody>
          <a:bodyPr wrap="none" lIns="0" tIns="0" rIns="0" bIns="0">
            <a:spAutoFit/>
          </a:bodyPr>
          <a:lstStyle/>
          <a:p>
            <a:r>
              <a:rPr lang="en-US" sz="700">
                <a:solidFill>
                  <a:srgbClr val="000000"/>
                </a:solidFill>
              </a:rPr>
              <a:t>Static </a:t>
            </a:r>
            <a:endParaRPr lang="en-US" sz="1200"/>
          </a:p>
        </p:txBody>
      </p:sp>
      <p:sp>
        <p:nvSpPr>
          <p:cNvPr id="2475369" name="Rectangle 1385"/>
          <p:cNvSpPr>
            <a:spLocks noChangeArrowheads="1"/>
          </p:cNvSpPr>
          <p:nvPr/>
        </p:nvSpPr>
        <p:spPr bwMode="auto">
          <a:xfrm>
            <a:off x="2981325" y="2774950"/>
            <a:ext cx="182563" cy="106363"/>
          </a:xfrm>
          <a:prstGeom prst="rect">
            <a:avLst/>
          </a:prstGeom>
          <a:noFill/>
          <a:ln w="9525">
            <a:noFill/>
            <a:miter lim="800000"/>
            <a:headEnd/>
            <a:tailEnd/>
          </a:ln>
        </p:spPr>
        <p:txBody>
          <a:bodyPr wrap="none" lIns="0" tIns="0" rIns="0" bIns="0">
            <a:spAutoFit/>
          </a:bodyPr>
          <a:lstStyle/>
          <a:p>
            <a:r>
              <a:rPr lang="en-US" sz="700">
                <a:solidFill>
                  <a:srgbClr val="000000"/>
                </a:solidFill>
              </a:rPr>
              <a:t>Html</a:t>
            </a:r>
            <a:endParaRPr lang="en-US" sz="1200"/>
          </a:p>
        </p:txBody>
      </p:sp>
      <p:sp>
        <p:nvSpPr>
          <p:cNvPr id="2475370" name="Rectangle 1386"/>
          <p:cNvSpPr>
            <a:spLocks noChangeArrowheads="1"/>
          </p:cNvSpPr>
          <p:nvPr/>
        </p:nvSpPr>
        <p:spPr bwMode="auto">
          <a:xfrm>
            <a:off x="2855913" y="1416050"/>
            <a:ext cx="387350" cy="260350"/>
          </a:xfrm>
          <a:prstGeom prst="rect">
            <a:avLst/>
          </a:prstGeom>
          <a:solidFill>
            <a:srgbClr val="FFFF80"/>
          </a:solidFill>
          <a:ln w="9525">
            <a:noFill/>
            <a:miter lim="800000"/>
            <a:headEnd/>
            <a:tailEnd/>
          </a:ln>
        </p:spPr>
        <p:txBody>
          <a:bodyPr/>
          <a:lstStyle/>
          <a:p>
            <a:endParaRPr lang="en-US"/>
          </a:p>
        </p:txBody>
      </p:sp>
      <p:sp>
        <p:nvSpPr>
          <p:cNvPr id="2475371" name="Rectangle 1387"/>
          <p:cNvSpPr>
            <a:spLocks noChangeArrowheads="1"/>
          </p:cNvSpPr>
          <p:nvPr/>
        </p:nvSpPr>
        <p:spPr bwMode="auto">
          <a:xfrm>
            <a:off x="2855913" y="1416050"/>
            <a:ext cx="387350" cy="260350"/>
          </a:xfrm>
          <a:prstGeom prst="rect">
            <a:avLst/>
          </a:prstGeom>
          <a:noFill/>
          <a:ln w="3175" cap="rnd">
            <a:solidFill>
              <a:srgbClr val="000000"/>
            </a:solidFill>
            <a:round/>
            <a:headEnd/>
            <a:tailEnd/>
          </a:ln>
        </p:spPr>
        <p:txBody>
          <a:bodyPr/>
          <a:lstStyle/>
          <a:p>
            <a:endParaRPr lang="en-US"/>
          </a:p>
        </p:txBody>
      </p:sp>
      <p:sp>
        <p:nvSpPr>
          <p:cNvPr id="2475372" name="Rectangle 1388"/>
          <p:cNvSpPr>
            <a:spLocks noChangeArrowheads="1"/>
          </p:cNvSpPr>
          <p:nvPr/>
        </p:nvSpPr>
        <p:spPr bwMode="auto">
          <a:xfrm>
            <a:off x="2960688" y="1436688"/>
            <a:ext cx="247650" cy="106362"/>
          </a:xfrm>
          <a:prstGeom prst="rect">
            <a:avLst/>
          </a:prstGeom>
          <a:noFill/>
          <a:ln w="9525">
            <a:noFill/>
            <a:miter lim="800000"/>
            <a:headEnd/>
            <a:tailEnd/>
          </a:ln>
        </p:spPr>
        <p:txBody>
          <a:bodyPr wrap="none" lIns="0" tIns="0" rIns="0" bIns="0">
            <a:spAutoFit/>
          </a:bodyPr>
          <a:lstStyle/>
          <a:p>
            <a:r>
              <a:rPr lang="en-US" sz="700">
                <a:solidFill>
                  <a:srgbClr val="000000"/>
                </a:solidFill>
              </a:rPr>
              <a:t>Static </a:t>
            </a:r>
            <a:endParaRPr lang="en-US" sz="1200"/>
          </a:p>
        </p:txBody>
      </p:sp>
      <p:sp>
        <p:nvSpPr>
          <p:cNvPr id="2475373" name="Rectangle 1389"/>
          <p:cNvSpPr>
            <a:spLocks noChangeArrowheads="1"/>
          </p:cNvSpPr>
          <p:nvPr/>
        </p:nvSpPr>
        <p:spPr bwMode="auto">
          <a:xfrm>
            <a:off x="2981325" y="1543050"/>
            <a:ext cx="182563" cy="106363"/>
          </a:xfrm>
          <a:prstGeom prst="rect">
            <a:avLst/>
          </a:prstGeom>
          <a:noFill/>
          <a:ln w="9525">
            <a:noFill/>
            <a:miter lim="800000"/>
            <a:headEnd/>
            <a:tailEnd/>
          </a:ln>
        </p:spPr>
        <p:txBody>
          <a:bodyPr wrap="none" lIns="0" tIns="0" rIns="0" bIns="0">
            <a:spAutoFit/>
          </a:bodyPr>
          <a:lstStyle/>
          <a:p>
            <a:r>
              <a:rPr lang="en-US" sz="700">
                <a:solidFill>
                  <a:srgbClr val="000000"/>
                </a:solidFill>
              </a:rPr>
              <a:t>Html</a:t>
            </a:r>
            <a:endParaRPr lang="en-US" sz="1200"/>
          </a:p>
        </p:txBody>
      </p:sp>
      <p:grpSp>
        <p:nvGrpSpPr>
          <p:cNvPr id="2475704" name="Group 1720"/>
          <p:cNvGrpSpPr>
            <a:grpSpLocks/>
          </p:cNvGrpSpPr>
          <p:nvPr/>
        </p:nvGrpSpPr>
        <p:grpSpPr bwMode="auto">
          <a:xfrm>
            <a:off x="2974975" y="4132263"/>
            <a:ext cx="484188" cy="323850"/>
            <a:chOff x="1874" y="2653"/>
            <a:chExt cx="305" cy="204"/>
          </a:xfrm>
        </p:grpSpPr>
        <p:sp>
          <p:nvSpPr>
            <p:cNvPr id="2475374" name="Rectangle 1390"/>
            <p:cNvSpPr>
              <a:spLocks noChangeArrowheads="1"/>
            </p:cNvSpPr>
            <p:nvPr/>
          </p:nvSpPr>
          <p:spPr bwMode="auto">
            <a:xfrm>
              <a:off x="1874" y="2653"/>
              <a:ext cx="305" cy="204"/>
            </a:xfrm>
            <a:prstGeom prst="rect">
              <a:avLst/>
            </a:prstGeom>
            <a:solidFill>
              <a:srgbClr val="B0FFFF"/>
            </a:solidFill>
            <a:ln w="9525">
              <a:noFill/>
              <a:miter lim="800000"/>
              <a:headEnd/>
              <a:tailEnd/>
            </a:ln>
          </p:spPr>
          <p:txBody>
            <a:bodyPr/>
            <a:lstStyle/>
            <a:p>
              <a:endParaRPr lang="en-US"/>
            </a:p>
          </p:txBody>
        </p:sp>
        <p:sp>
          <p:nvSpPr>
            <p:cNvPr id="2475375" name="Rectangle 1391"/>
            <p:cNvSpPr>
              <a:spLocks noChangeArrowheads="1"/>
            </p:cNvSpPr>
            <p:nvPr/>
          </p:nvSpPr>
          <p:spPr bwMode="auto">
            <a:xfrm>
              <a:off x="1874" y="2653"/>
              <a:ext cx="305" cy="204"/>
            </a:xfrm>
            <a:prstGeom prst="rect">
              <a:avLst/>
            </a:prstGeom>
            <a:noFill/>
            <a:ln w="3175" cap="rnd">
              <a:solidFill>
                <a:srgbClr val="000000"/>
              </a:solidFill>
              <a:round/>
              <a:headEnd/>
              <a:tailEnd/>
            </a:ln>
          </p:spPr>
          <p:txBody>
            <a:bodyPr/>
            <a:lstStyle/>
            <a:p>
              <a:endParaRPr lang="en-US"/>
            </a:p>
          </p:txBody>
        </p:sp>
        <p:sp>
          <p:nvSpPr>
            <p:cNvPr id="2475376" name="Rectangle 1392"/>
            <p:cNvSpPr>
              <a:spLocks noChangeArrowheads="1"/>
            </p:cNvSpPr>
            <p:nvPr/>
          </p:nvSpPr>
          <p:spPr bwMode="auto">
            <a:xfrm>
              <a:off x="1947" y="2655"/>
              <a:ext cx="202" cy="67"/>
            </a:xfrm>
            <a:prstGeom prst="rect">
              <a:avLst/>
            </a:prstGeom>
            <a:noFill/>
            <a:ln w="9525">
              <a:noFill/>
              <a:miter lim="800000"/>
              <a:headEnd/>
              <a:tailEnd/>
            </a:ln>
          </p:spPr>
          <p:txBody>
            <a:bodyPr wrap="none" lIns="0" tIns="0" rIns="0" bIns="0">
              <a:spAutoFit/>
            </a:bodyPr>
            <a:lstStyle/>
            <a:p>
              <a:r>
                <a:rPr lang="en-US" sz="700">
                  <a:solidFill>
                    <a:srgbClr val="000000"/>
                  </a:solidFill>
                </a:rPr>
                <a:t>Service </a:t>
              </a:r>
              <a:endParaRPr lang="en-US" sz="1200"/>
            </a:p>
          </p:txBody>
        </p:sp>
        <p:sp>
          <p:nvSpPr>
            <p:cNvPr id="2475377" name="Rectangle 1393"/>
            <p:cNvSpPr>
              <a:spLocks noChangeArrowheads="1"/>
            </p:cNvSpPr>
            <p:nvPr/>
          </p:nvSpPr>
          <p:spPr bwMode="auto">
            <a:xfrm>
              <a:off x="1919" y="2722"/>
              <a:ext cx="258" cy="67"/>
            </a:xfrm>
            <a:prstGeom prst="rect">
              <a:avLst/>
            </a:prstGeom>
            <a:noFill/>
            <a:ln w="9525">
              <a:noFill/>
              <a:miter lim="800000"/>
              <a:headEnd/>
              <a:tailEnd/>
            </a:ln>
          </p:spPr>
          <p:txBody>
            <a:bodyPr wrap="none" lIns="0" tIns="0" rIns="0" bIns="0">
              <a:spAutoFit/>
            </a:bodyPr>
            <a:lstStyle/>
            <a:p>
              <a:r>
                <a:rPr lang="en-US" sz="700">
                  <a:solidFill>
                    <a:srgbClr val="000000"/>
                  </a:solidFill>
                </a:rPr>
                <a:t>Controller </a:t>
              </a:r>
              <a:endParaRPr lang="en-US" sz="1200"/>
            </a:p>
          </p:txBody>
        </p:sp>
        <p:sp>
          <p:nvSpPr>
            <p:cNvPr id="2475378" name="Rectangle 1394"/>
            <p:cNvSpPr>
              <a:spLocks noChangeArrowheads="1"/>
            </p:cNvSpPr>
            <p:nvPr/>
          </p:nvSpPr>
          <p:spPr bwMode="auto">
            <a:xfrm>
              <a:off x="1971" y="2788"/>
              <a:ext cx="143" cy="67"/>
            </a:xfrm>
            <a:prstGeom prst="rect">
              <a:avLst/>
            </a:prstGeom>
            <a:noFill/>
            <a:ln w="9525">
              <a:noFill/>
              <a:miter lim="800000"/>
              <a:headEnd/>
              <a:tailEnd/>
            </a:ln>
          </p:spPr>
          <p:txBody>
            <a:bodyPr wrap="none" lIns="0" tIns="0" rIns="0" bIns="0">
              <a:spAutoFit/>
            </a:bodyPr>
            <a:lstStyle/>
            <a:p>
              <a:r>
                <a:rPr lang="en-US" sz="700">
                  <a:solidFill>
                    <a:srgbClr val="000000"/>
                  </a:solidFill>
                </a:rPr>
                <a:t>Proxy</a:t>
              </a:r>
              <a:endParaRPr lang="en-US" sz="1200"/>
            </a:p>
          </p:txBody>
        </p:sp>
      </p:grpSp>
      <p:sp>
        <p:nvSpPr>
          <p:cNvPr id="2475379" name="Rectangle 1395"/>
          <p:cNvSpPr>
            <a:spLocks noChangeArrowheads="1"/>
          </p:cNvSpPr>
          <p:nvPr/>
        </p:nvSpPr>
        <p:spPr bwMode="auto">
          <a:xfrm>
            <a:off x="2952750" y="3073400"/>
            <a:ext cx="485775" cy="325438"/>
          </a:xfrm>
          <a:prstGeom prst="rect">
            <a:avLst/>
          </a:prstGeom>
          <a:solidFill>
            <a:srgbClr val="B0FFFF"/>
          </a:solidFill>
          <a:ln w="9525">
            <a:noFill/>
            <a:miter lim="800000"/>
            <a:headEnd/>
            <a:tailEnd/>
          </a:ln>
        </p:spPr>
        <p:txBody>
          <a:bodyPr/>
          <a:lstStyle/>
          <a:p>
            <a:endParaRPr lang="en-US"/>
          </a:p>
        </p:txBody>
      </p:sp>
      <p:sp>
        <p:nvSpPr>
          <p:cNvPr id="2475380" name="Rectangle 1396"/>
          <p:cNvSpPr>
            <a:spLocks noChangeArrowheads="1"/>
          </p:cNvSpPr>
          <p:nvPr/>
        </p:nvSpPr>
        <p:spPr bwMode="auto">
          <a:xfrm>
            <a:off x="2952750" y="3073400"/>
            <a:ext cx="485775" cy="325438"/>
          </a:xfrm>
          <a:prstGeom prst="rect">
            <a:avLst/>
          </a:prstGeom>
          <a:noFill/>
          <a:ln w="3175" cap="rnd">
            <a:solidFill>
              <a:srgbClr val="000000"/>
            </a:solidFill>
            <a:round/>
            <a:headEnd/>
            <a:tailEnd/>
          </a:ln>
        </p:spPr>
        <p:txBody>
          <a:bodyPr/>
          <a:lstStyle/>
          <a:p>
            <a:endParaRPr lang="en-US"/>
          </a:p>
        </p:txBody>
      </p:sp>
      <p:sp>
        <p:nvSpPr>
          <p:cNvPr id="2475381" name="Rectangle 1397"/>
          <p:cNvSpPr>
            <a:spLocks noChangeArrowheads="1"/>
          </p:cNvSpPr>
          <p:nvPr/>
        </p:nvSpPr>
        <p:spPr bwMode="auto">
          <a:xfrm>
            <a:off x="3073400" y="3074988"/>
            <a:ext cx="320675" cy="106362"/>
          </a:xfrm>
          <a:prstGeom prst="rect">
            <a:avLst/>
          </a:prstGeom>
          <a:noFill/>
          <a:ln w="9525">
            <a:noFill/>
            <a:miter lim="800000"/>
            <a:headEnd/>
            <a:tailEnd/>
          </a:ln>
        </p:spPr>
        <p:txBody>
          <a:bodyPr wrap="none" lIns="0" tIns="0" rIns="0" bIns="0">
            <a:spAutoFit/>
          </a:bodyPr>
          <a:lstStyle/>
          <a:p>
            <a:r>
              <a:rPr lang="en-US" sz="700">
                <a:solidFill>
                  <a:srgbClr val="000000"/>
                </a:solidFill>
              </a:rPr>
              <a:t>Service </a:t>
            </a:r>
            <a:endParaRPr lang="en-US" sz="1200"/>
          </a:p>
        </p:txBody>
      </p:sp>
      <p:sp>
        <p:nvSpPr>
          <p:cNvPr id="2475382" name="Rectangle 1398"/>
          <p:cNvSpPr>
            <a:spLocks noChangeArrowheads="1"/>
          </p:cNvSpPr>
          <p:nvPr/>
        </p:nvSpPr>
        <p:spPr bwMode="auto">
          <a:xfrm>
            <a:off x="3022600" y="3181350"/>
            <a:ext cx="409575" cy="106363"/>
          </a:xfrm>
          <a:prstGeom prst="rect">
            <a:avLst/>
          </a:prstGeom>
          <a:noFill/>
          <a:ln w="9525">
            <a:noFill/>
            <a:miter lim="800000"/>
            <a:headEnd/>
            <a:tailEnd/>
          </a:ln>
        </p:spPr>
        <p:txBody>
          <a:bodyPr wrap="none" lIns="0" tIns="0" rIns="0" bIns="0">
            <a:spAutoFit/>
          </a:bodyPr>
          <a:lstStyle/>
          <a:p>
            <a:r>
              <a:rPr lang="en-US" sz="700">
                <a:solidFill>
                  <a:srgbClr val="000000"/>
                </a:solidFill>
              </a:rPr>
              <a:t>Controller </a:t>
            </a:r>
            <a:endParaRPr lang="en-US" sz="1200"/>
          </a:p>
        </p:txBody>
      </p:sp>
      <p:sp>
        <p:nvSpPr>
          <p:cNvPr id="2475383" name="Rectangle 1399"/>
          <p:cNvSpPr>
            <a:spLocks noChangeArrowheads="1"/>
          </p:cNvSpPr>
          <p:nvPr/>
        </p:nvSpPr>
        <p:spPr bwMode="auto">
          <a:xfrm>
            <a:off x="3105150" y="3286125"/>
            <a:ext cx="227013" cy="106363"/>
          </a:xfrm>
          <a:prstGeom prst="rect">
            <a:avLst/>
          </a:prstGeom>
          <a:noFill/>
          <a:ln w="9525">
            <a:noFill/>
            <a:miter lim="800000"/>
            <a:headEnd/>
            <a:tailEnd/>
          </a:ln>
        </p:spPr>
        <p:txBody>
          <a:bodyPr wrap="none" lIns="0" tIns="0" rIns="0" bIns="0">
            <a:spAutoFit/>
          </a:bodyPr>
          <a:lstStyle/>
          <a:p>
            <a:r>
              <a:rPr lang="en-US" sz="700">
                <a:solidFill>
                  <a:srgbClr val="000000"/>
                </a:solidFill>
              </a:rPr>
              <a:t>Proxy</a:t>
            </a:r>
            <a:endParaRPr lang="en-US" sz="1200"/>
          </a:p>
        </p:txBody>
      </p:sp>
      <p:sp>
        <p:nvSpPr>
          <p:cNvPr id="2475384" name="Rectangle 1400"/>
          <p:cNvSpPr>
            <a:spLocks noChangeArrowheads="1"/>
          </p:cNvSpPr>
          <p:nvPr/>
        </p:nvSpPr>
        <p:spPr bwMode="auto">
          <a:xfrm>
            <a:off x="2911475" y="1833563"/>
            <a:ext cx="485775" cy="323850"/>
          </a:xfrm>
          <a:prstGeom prst="rect">
            <a:avLst/>
          </a:prstGeom>
          <a:solidFill>
            <a:srgbClr val="B0FFFF"/>
          </a:solidFill>
          <a:ln w="9525">
            <a:noFill/>
            <a:miter lim="800000"/>
            <a:headEnd/>
            <a:tailEnd/>
          </a:ln>
        </p:spPr>
        <p:txBody>
          <a:bodyPr/>
          <a:lstStyle/>
          <a:p>
            <a:endParaRPr lang="en-US"/>
          </a:p>
        </p:txBody>
      </p:sp>
      <p:sp>
        <p:nvSpPr>
          <p:cNvPr id="2475385" name="Rectangle 1401"/>
          <p:cNvSpPr>
            <a:spLocks noChangeArrowheads="1"/>
          </p:cNvSpPr>
          <p:nvPr/>
        </p:nvSpPr>
        <p:spPr bwMode="auto">
          <a:xfrm>
            <a:off x="2911475" y="1833563"/>
            <a:ext cx="485775" cy="323850"/>
          </a:xfrm>
          <a:prstGeom prst="rect">
            <a:avLst/>
          </a:prstGeom>
          <a:noFill/>
          <a:ln w="3175" cap="rnd">
            <a:solidFill>
              <a:srgbClr val="000000"/>
            </a:solidFill>
            <a:round/>
            <a:headEnd/>
            <a:tailEnd/>
          </a:ln>
        </p:spPr>
        <p:txBody>
          <a:bodyPr/>
          <a:lstStyle/>
          <a:p>
            <a:endParaRPr lang="en-US"/>
          </a:p>
        </p:txBody>
      </p:sp>
      <p:sp>
        <p:nvSpPr>
          <p:cNvPr id="2475386" name="Rectangle 1402"/>
          <p:cNvSpPr>
            <a:spLocks noChangeArrowheads="1"/>
          </p:cNvSpPr>
          <p:nvPr/>
        </p:nvSpPr>
        <p:spPr bwMode="auto">
          <a:xfrm>
            <a:off x="3033713" y="1835150"/>
            <a:ext cx="320675" cy="106363"/>
          </a:xfrm>
          <a:prstGeom prst="rect">
            <a:avLst/>
          </a:prstGeom>
          <a:noFill/>
          <a:ln w="9525">
            <a:noFill/>
            <a:miter lim="800000"/>
            <a:headEnd/>
            <a:tailEnd/>
          </a:ln>
        </p:spPr>
        <p:txBody>
          <a:bodyPr wrap="none" lIns="0" tIns="0" rIns="0" bIns="0">
            <a:spAutoFit/>
          </a:bodyPr>
          <a:lstStyle/>
          <a:p>
            <a:r>
              <a:rPr lang="en-US" sz="700">
                <a:solidFill>
                  <a:srgbClr val="000000"/>
                </a:solidFill>
              </a:rPr>
              <a:t>Service </a:t>
            </a:r>
            <a:endParaRPr lang="en-US" sz="1200"/>
          </a:p>
        </p:txBody>
      </p:sp>
      <p:sp>
        <p:nvSpPr>
          <p:cNvPr id="2475387" name="Rectangle 1403"/>
          <p:cNvSpPr>
            <a:spLocks noChangeArrowheads="1"/>
          </p:cNvSpPr>
          <p:nvPr/>
        </p:nvSpPr>
        <p:spPr bwMode="auto">
          <a:xfrm>
            <a:off x="2981325" y="1939925"/>
            <a:ext cx="409575" cy="106363"/>
          </a:xfrm>
          <a:prstGeom prst="rect">
            <a:avLst/>
          </a:prstGeom>
          <a:noFill/>
          <a:ln w="9525">
            <a:noFill/>
            <a:miter lim="800000"/>
            <a:headEnd/>
            <a:tailEnd/>
          </a:ln>
        </p:spPr>
        <p:txBody>
          <a:bodyPr wrap="none" lIns="0" tIns="0" rIns="0" bIns="0">
            <a:spAutoFit/>
          </a:bodyPr>
          <a:lstStyle/>
          <a:p>
            <a:r>
              <a:rPr lang="en-US" sz="700">
                <a:solidFill>
                  <a:srgbClr val="000000"/>
                </a:solidFill>
              </a:rPr>
              <a:t>Controller </a:t>
            </a:r>
            <a:endParaRPr lang="en-US" sz="1200"/>
          </a:p>
        </p:txBody>
      </p:sp>
      <p:sp>
        <p:nvSpPr>
          <p:cNvPr id="2475388" name="Rectangle 1404"/>
          <p:cNvSpPr>
            <a:spLocks noChangeArrowheads="1"/>
          </p:cNvSpPr>
          <p:nvPr/>
        </p:nvSpPr>
        <p:spPr bwMode="auto">
          <a:xfrm>
            <a:off x="3063875" y="2046288"/>
            <a:ext cx="227013" cy="106362"/>
          </a:xfrm>
          <a:prstGeom prst="rect">
            <a:avLst/>
          </a:prstGeom>
          <a:noFill/>
          <a:ln w="9525">
            <a:noFill/>
            <a:miter lim="800000"/>
            <a:headEnd/>
            <a:tailEnd/>
          </a:ln>
        </p:spPr>
        <p:txBody>
          <a:bodyPr wrap="none" lIns="0" tIns="0" rIns="0" bIns="0">
            <a:spAutoFit/>
          </a:bodyPr>
          <a:lstStyle/>
          <a:p>
            <a:r>
              <a:rPr lang="en-US" sz="700">
                <a:solidFill>
                  <a:srgbClr val="000000"/>
                </a:solidFill>
              </a:rPr>
              <a:t>Proxy</a:t>
            </a:r>
            <a:endParaRPr lang="en-US" sz="1200"/>
          </a:p>
        </p:txBody>
      </p:sp>
      <p:sp>
        <p:nvSpPr>
          <p:cNvPr id="2475389" name="Rectangle 1405"/>
          <p:cNvSpPr>
            <a:spLocks noChangeArrowheads="1"/>
          </p:cNvSpPr>
          <p:nvPr/>
        </p:nvSpPr>
        <p:spPr bwMode="auto">
          <a:xfrm>
            <a:off x="4116388" y="2635250"/>
            <a:ext cx="623887" cy="455613"/>
          </a:xfrm>
          <a:prstGeom prst="rect">
            <a:avLst/>
          </a:prstGeom>
          <a:solidFill>
            <a:srgbClr val="FFFF80"/>
          </a:solidFill>
          <a:ln w="9525">
            <a:noFill/>
            <a:miter lim="800000"/>
            <a:headEnd/>
            <a:tailEnd/>
          </a:ln>
        </p:spPr>
        <p:txBody>
          <a:bodyPr/>
          <a:lstStyle/>
          <a:p>
            <a:endParaRPr lang="en-US"/>
          </a:p>
        </p:txBody>
      </p:sp>
      <p:sp>
        <p:nvSpPr>
          <p:cNvPr id="2475390" name="Rectangle 1406"/>
          <p:cNvSpPr>
            <a:spLocks noChangeArrowheads="1"/>
          </p:cNvSpPr>
          <p:nvPr/>
        </p:nvSpPr>
        <p:spPr bwMode="auto">
          <a:xfrm>
            <a:off x="4116388" y="2635250"/>
            <a:ext cx="623887" cy="455613"/>
          </a:xfrm>
          <a:prstGeom prst="rect">
            <a:avLst/>
          </a:prstGeom>
          <a:noFill/>
          <a:ln w="3175" cap="rnd">
            <a:solidFill>
              <a:srgbClr val="000000"/>
            </a:solidFill>
            <a:round/>
            <a:headEnd/>
            <a:tailEnd/>
          </a:ln>
        </p:spPr>
        <p:txBody>
          <a:bodyPr/>
          <a:lstStyle/>
          <a:p>
            <a:endParaRPr lang="en-US"/>
          </a:p>
        </p:txBody>
      </p:sp>
      <p:sp>
        <p:nvSpPr>
          <p:cNvPr id="2475391" name="Rectangle 1407"/>
          <p:cNvSpPr>
            <a:spLocks noChangeArrowheads="1"/>
          </p:cNvSpPr>
          <p:nvPr/>
        </p:nvSpPr>
        <p:spPr bwMode="auto">
          <a:xfrm>
            <a:off x="4303713" y="2701925"/>
            <a:ext cx="320675" cy="106363"/>
          </a:xfrm>
          <a:prstGeom prst="rect">
            <a:avLst/>
          </a:prstGeom>
          <a:noFill/>
          <a:ln w="9525">
            <a:noFill/>
            <a:miter lim="800000"/>
            <a:headEnd/>
            <a:tailEnd/>
          </a:ln>
        </p:spPr>
        <p:txBody>
          <a:bodyPr wrap="none" lIns="0" tIns="0" rIns="0" bIns="0">
            <a:spAutoFit/>
          </a:bodyPr>
          <a:lstStyle/>
          <a:p>
            <a:r>
              <a:rPr lang="en-US" sz="700">
                <a:solidFill>
                  <a:srgbClr val="000000"/>
                </a:solidFill>
              </a:rPr>
              <a:t>Service </a:t>
            </a:r>
            <a:endParaRPr lang="en-US" sz="1200"/>
          </a:p>
        </p:txBody>
      </p:sp>
      <p:sp>
        <p:nvSpPr>
          <p:cNvPr id="2475392" name="Rectangle 1408"/>
          <p:cNvSpPr>
            <a:spLocks noChangeArrowheads="1"/>
          </p:cNvSpPr>
          <p:nvPr/>
        </p:nvSpPr>
        <p:spPr bwMode="auto">
          <a:xfrm>
            <a:off x="4259263" y="2808288"/>
            <a:ext cx="409575" cy="106362"/>
          </a:xfrm>
          <a:prstGeom prst="rect">
            <a:avLst/>
          </a:prstGeom>
          <a:noFill/>
          <a:ln w="9525">
            <a:noFill/>
            <a:miter lim="800000"/>
            <a:headEnd/>
            <a:tailEnd/>
          </a:ln>
        </p:spPr>
        <p:txBody>
          <a:bodyPr wrap="none" lIns="0" tIns="0" rIns="0" bIns="0">
            <a:spAutoFit/>
          </a:bodyPr>
          <a:lstStyle/>
          <a:p>
            <a:r>
              <a:rPr lang="en-US" sz="700">
                <a:solidFill>
                  <a:srgbClr val="000000"/>
                </a:solidFill>
              </a:rPr>
              <a:t>Controller </a:t>
            </a:r>
            <a:endParaRPr lang="en-US" sz="1200"/>
          </a:p>
        </p:txBody>
      </p:sp>
      <p:sp>
        <p:nvSpPr>
          <p:cNvPr id="2475393" name="Rectangle 1409"/>
          <p:cNvSpPr>
            <a:spLocks noChangeArrowheads="1"/>
          </p:cNvSpPr>
          <p:nvPr/>
        </p:nvSpPr>
        <p:spPr bwMode="auto">
          <a:xfrm>
            <a:off x="4183063" y="2913063"/>
            <a:ext cx="546100" cy="106362"/>
          </a:xfrm>
          <a:prstGeom prst="rect">
            <a:avLst/>
          </a:prstGeom>
          <a:noFill/>
          <a:ln w="9525">
            <a:noFill/>
            <a:miter lim="800000"/>
            <a:headEnd/>
            <a:tailEnd/>
          </a:ln>
        </p:spPr>
        <p:txBody>
          <a:bodyPr wrap="none" lIns="0" tIns="0" rIns="0" bIns="0">
            <a:spAutoFit/>
          </a:bodyPr>
          <a:lstStyle/>
          <a:p>
            <a:r>
              <a:rPr lang="en-US" sz="700">
                <a:solidFill>
                  <a:srgbClr val="000000"/>
                </a:solidFill>
              </a:rPr>
              <a:t>Session Bean</a:t>
            </a:r>
            <a:endParaRPr lang="en-US" sz="1200"/>
          </a:p>
        </p:txBody>
      </p:sp>
      <p:sp>
        <p:nvSpPr>
          <p:cNvPr id="2475394" name="Rectangle 1410"/>
          <p:cNvSpPr>
            <a:spLocks noChangeArrowheads="1"/>
          </p:cNvSpPr>
          <p:nvPr/>
        </p:nvSpPr>
        <p:spPr bwMode="auto">
          <a:xfrm>
            <a:off x="6249988" y="2141538"/>
            <a:ext cx="582612" cy="388937"/>
          </a:xfrm>
          <a:prstGeom prst="rect">
            <a:avLst/>
          </a:prstGeom>
          <a:solidFill>
            <a:srgbClr val="FFFF80"/>
          </a:solidFill>
          <a:ln w="9525">
            <a:noFill/>
            <a:miter lim="800000"/>
            <a:headEnd/>
            <a:tailEnd/>
          </a:ln>
        </p:spPr>
        <p:txBody>
          <a:bodyPr/>
          <a:lstStyle/>
          <a:p>
            <a:endParaRPr lang="en-US"/>
          </a:p>
        </p:txBody>
      </p:sp>
      <p:grpSp>
        <p:nvGrpSpPr>
          <p:cNvPr id="2475678" name="Group 1694"/>
          <p:cNvGrpSpPr>
            <a:grpSpLocks/>
          </p:cNvGrpSpPr>
          <p:nvPr/>
        </p:nvGrpSpPr>
        <p:grpSpPr bwMode="auto">
          <a:xfrm>
            <a:off x="6249988" y="2141538"/>
            <a:ext cx="582612" cy="388937"/>
            <a:chOff x="3888" y="1469"/>
            <a:chExt cx="367" cy="245"/>
          </a:xfrm>
        </p:grpSpPr>
        <p:sp>
          <p:nvSpPr>
            <p:cNvPr id="2475395" name="Rectangle 1411"/>
            <p:cNvSpPr>
              <a:spLocks noChangeArrowheads="1"/>
            </p:cNvSpPr>
            <p:nvPr/>
          </p:nvSpPr>
          <p:spPr bwMode="auto">
            <a:xfrm>
              <a:off x="3888" y="1469"/>
              <a:ext cx="367" cy="245"/>
            </a:xfrm>
            <a:prstGeom prst="rect">
              <a:avLst/>
            </a:prstGeom>
            <a:noFill/>
            <a:ln w="3175" cap="rnd">
              <a:solidFill>
                <a:srgbClr val="000000"/>
              </a:solidFill>
              <a:round/>
              <a:headEnd/>
              <a:tailEnd/>
            </a:ln>
          </p:spPr>
          <p:txBody>
            <a:bodyPr/>
            <a:lstStyle/>
            <a:p>
              <a:endParaRPr lang="en-US"/>
            </a:p>
          </p:txBody>
        </p:sp>
        <p:sp>
          <p:nvSpPr>
            <p:cNvPr id="2475397" name="Rectangle 1413"/>
            <p:cNvSpPr>
              <a:spLocks noChangeArrowheads="1"/>
            </p:cNvSpPr>
            <p:nvPr/>
          </p:nvSpPr>
          <p:spPr bwMode="auto">
            <a:xfrm>
              <a:off x="3934" y="1517"/>
              <a:ext cx="283" cy="134"/>
            </a:xfrm>
            <a:prstGeom prst="rect">
              <a:avLst/>
            </a:prstGeom>
            <a:noFill/>
            <a:ln w="9525">
              <a:noFill/>
              <a:miter lim="800000"/>
              <a:headEnd/>
              <a:tailEnd/>
            </a:ln>
          </p:spPr>
          <p:txBody>
            <a:bodyPr wrap="none" lIns="0" tIns="0" rIns="0" bIns="0">
              <a:spAutoFit/>
            </a:bodyPr>
            <a:lstStyle/>
            <a:p>
              <a:r>
                <a:rPr lang="en-US" sz="700">
                  <a:solidFill>
                    <a:srgbClr val="000000"/>
                  </a:solidFill>
                </a:rPr>
                <a:t>Object</a:t>
              </a:r>
            </a:p>
            <a:p>
              <a:r>
                <a:rPr lang="en-US" sz="700">
                  <a:solidFill>
                    <a:srgbClr val="000000"/>
                  </a:solidFill>
                </a:rPr>
                <a:t>Repository </a:t>
              </a:r>
              <a:endParaRPr lang="en-US" sz="1200"/>
            </a:p>
          </p:txBody>
        </p:sp>
      </p:grpSp>
      <p:sp>
        <p:nvSpPr>
          <p:cNvPr id="2475403" name="Rectangle 1419"/>
          <p:cNvSpPr>
            <a:spLocks noChangeArrowheads="1"/>
          </p:cNvSpPr>
          <p:nvPr/>
        </p:nvSpPr>
        <p:spPr bwMode="auto">
          <a:xfrm>
            <a:off x="8161338" y="3349625"/>
            <a:ext cx="804862" cy="247650"/>
          </a:xfrm>
          <a:prstGeom prst="rect">
            <a:avLst/>
          </a:prstGeom>
          <a:solidFill>
            <a:srgbClr val="8DFF8D"/>
          </a:solidFill>
          <a:ln w="3175" cap="rnd">
            <a:solidFill>
              <a:srgbClr val="000000"/>
            </a:solidFill>
            <a:round/>
            <a:headEnd/>
            <a:tailEnd/>
          </a:ln>
        </p:spPr>
        <p:txBody>
          <a:bodyPr lIns="0" tIns="0" rIns="0" bIns="0" anchor="ctr">
            <a:spAutoFit/>
          </a:bodyPr>
          <a:lstStyle/>
          <a:p>
            <a:r>
              <a:rPr lang="en-US" sz="800">
                <a:solidFill>
                  <a:srgbClr val="000000"/>
                </a:solidFill>
              </a:rPr>
              <a:t>Legacy</a:t>
            </a:r>
          </a:p>
          <a:p>
            <a:r>
              <a:rPr lang="en-US" sz="800">
                <a:solidFill>
                  <a:srgbClr val="000000"/>
                </a:solidFill>
              </a:rPr>
              <a:t>System B</a:t>
            </a:r>
          </a:p>
        </p:txBody>
      </p:sp>
      <p:sp>
        <p:nvSpPr>
          <p:cNvPr id="2475423" name="Rectangle 1439"/>
          <p:cNvSpPr>
            <a:spLocks noChangeArrowheads="1"/>
          </p:cNvSpPr>
          <p:nvPr/>
        </p:nvSpPr>
        <p:spPr bwMode="auto">
          <a:xfrm>
            <a:off x="3279775" y="1287463"/>
            <a:ext cx="219075" cy="485775"/>
          </a:xfrm>
          <a:prstGeom prst="rect">
            <a:avLst/>
          </a:prstGeom>
          <a:solidFill>
            <a:srgbClr val="B0FFFF"/>
          </a:solidFill>
          <a:ln w="9525">
            <a:noFill/>
            <a:miter lim="800000"/>
            <a:headEnd/>
            <a:tailEnd/>
          </a:ln>
        </p:spPr>
        <p:txBody>
          <a:bodyPr/>
          <a:lstStyle/>
          <a:p>
            <a:endParaRPr lang="en-US"/>
          </a:p>
        </p:txBody>
      </p:sp>
      <p:sp>
        <p:nvSpPr>
          <p:cNvPr id="2475424" name="Rectangle 1440"/>
          <p:cNvSpPr>
            <a:spLocks noChangeArrowheads="1"/>
          </p:cNvSpPr>
          <p:nvPr/>
        </p:nvSpPr>
        <p:spPr bwMode="auto">
          <a:xfrm>
            <a:off x="3279775" y="1287463"/>
            <a:ext cx="219075" cy="485775"/>
          </a:xfrm>
          <a:prstGeom prst="rect">
            <a:avLst/>
          </a:prstGeom>
          <a:noFill/>
          <a:ln w="3175" cap="rnd">
            <a:solidFill>
              <a:srgbClr val="000000"/>
            </a:solidFill>
            <a:round/>
            <a:headEnd/>
            <a:tailEnd/>
          </a:ln>
        </p:spPr>
        <p:txBody>
          <a:bodyPr/>
          <a:lstStyle/>
          <a:p>
            <a:endParaRPr lang="en-US"/>
          </a:p>
        </p:txBody>
      </p:sp>
      <p:sp>
        <p:nvSpPr>
          <p:cNvPr id="2475425" name="Rectangle 1441"/>
          <p:cNvSpPr>
            <a:spLocks noChangeArrowheads="1"/>
          </p:cNvSpPr>
          <p:nvPr/>
        </p:nvSpPr>
        <p:spPr bwMode="auto">
          <a:xfrm rot="16200000">
            <a:off x="3298032" y="1531143"/>
            <a:ext cx="63500" cy="106363"/>
          </a:xfrm>
          <a:prstGeom prst="rect">
            <a:avLst/>
          </a:prstGeom>
          <a:noFill/>
          <a:ln w="9525">
            <a:noFill/>
            <a:miter lim="800000"/>
            <a:headEnd/>
            <a:tailEnd/>
          </a:ln>
        </p:spPr>
        <p:txBody>
          <a:bodyPr wrap="none" lIns="0" tIns="0" rIns="0" bIns="0">
            <a:spAutoFit/>
          </a:bodyPr>
          <a:lstStyle/>
          <a:p>
            <a:r>
              <a:rPr lang="en-US" sz="700">
                <a:solidFill>
                  <a:srgbClr val="000000"/>
                </a:solidFill>
              </a:rPr>
              <a:t>R</a:t>
            </a:r>
            <a:endParaRPr lang="en-US" sz="1200"/>
          </a:p>
        </p:txBody>
      </p:sp>
      <p:sp>
        <p:nvSpPr>
          <p:cNvPr id="2475426" name="Rectangle 1442"/>
          <p:cNvSpPr>
            <a:spLocks noChangeArrowheads="1"/>
          </p:cNvSpPr>
          <p:nvPr/>
        </p:nvSpPr>
        <p:spPr bwMode="auto">
          <a:xfrm rot="16200000">
            <a:off x="3305176" y="1474787"/>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u</a:t>
            </a:r>
            <a:endParaRPr lang="en-US" sz="1200"/>
          </a:p>
        </p:txBody>
      </p:sp>
      <p:sp>
        <p:nvSpPr>
          <p:cNvPr id="2475427" name="Rectangle 1443"/>
          <p:cNvSpPr>
            <a:spLocks noChangeArrowheads="1"/>
          </p:cNvSpPr>
          <p:nvPr/>
        </p:nvSpPr>
        <p:spPr bwMode="auto">
          <a:xfrm rot="16200000">
            <a:off x="3320257" y="1440656"/>
            <a:ext cx="19050" cy="106363"/>
          </a:xfrm>
          <a:prstGeom prst="rect">
            <a:avLst/>
          </a:prstGeom>
          <a:noFill/>
          <a:ln w="9525">
            <a:noFill/>
            <a:miter lim="800000"/>
            <a:headEnd/>
            <a:tailEnd/>
          </a:ln>
        </p:spPr>
        <p:txBody>
          <a:bodyPr wrap="none" lIns="0" tIns="0" rIns="0" bIns="0">
            <a:spAutoFit/>
          </a:bodyPr>
          <a:lstStyle/>
          <a:p>
            <a:r>
              <a:rPr lang="en-US" sz="700">
                <a:solidFill>
                  <a:srgbClr val="000000"/>
                </a:solidFill>
              </a:rPr>
              <a:t>l</a:t>
            </a:r>
            <a:endParaRPr lang="en-US" sz="1200"/>
          </a:p>
        </p:txBody>
      </p:sp>
      <p:sp>
        <p:nvSpPr>
          <p:cNvPr id="2475428" name="Rectangle 1444"/>
          <p:cNvSpPr>
            <a:spLocks noChangeArrowheads="1"/>
          </p:cNvSpPr>
          <p:nvPr/>
        </p:nvSpPr>
        <p:spPr bwMode="auto">
          <a:xfrm rot="16200000">
            <a:off x="3305175" y="1409700"/>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e</a:t>
            </a:r>
            <a:endParaRPr lang="en-US" sz="1200"/>
          </a:p>
        </p:txBody>
      </p:sp>
      <p:sp>
        <p:nvSpPr>
          <p:cNvPr id="2475429" name="Rectangle 1445"/>
          <p:cNvSpPr>
            <a:spLocks noChangeArrowheads="1"/>
          </p:cNvSpPr>
          <p:nvPr/>
        </p:nvSpPr>
        <p:spPr bwMode="auto">
          <a:xfrm rot="16200000">
            <a:off x="3307557" y="1364456"/>
            <a:ext cx="44450" cy="106363"/>
          </a:xfrm>
          <a:prstGeom prst="rect">
            <a:avLst/>
          </a:prstGeom>
          <a:noFill/>
          <a:ln w="9525">
            <a:noFill/>
            <a:miter lim="800000"/>
            <a:headEnd/>
            <a:tailEnd/>
          </a:ln>
        </p:spPr>
        <p:txBody>
          <a:bodyPr wrap="none" lIns="0" tIns="0" rIns="0" bIns="0">
            <a:spAutoFit/>
          </a:bodyPr>
          <a:lstStyle/>
          <a:p>
            <a:r>
              <a:rPr lang="en-US" sz="700">
                <a:solidFill>
                  <a:srgbClr val="000000"/>
                </a:solidFill>
              </a:rPr>
              <a:t>s</a:t>
            </a:r>
            <a:endParaRPr lang="en-US" sz="1200"/>
          </a:p>
        </p:txBody>
      </p:sp>
      <p:sp>
        <p:nvSpPr>
          <p:cNvPr id="2475430" name="Rectangle 1446"/>
          <p:cNvSpPr>
            <a:spLocks noChangeArrowheads="1"/>
          </p:cNvSpPr>
          <p:nvPr/>
        </p:nvSpPr>
        <p:spPr bwMode="auto">
          <a:xfrm rot="16200000">
            <a:off x="3317082" y="1331118"/>
            <a:ext cx="25400" cy="106363"/>
          </a:xfrm>
          <a:prstGeom prst="rect">
            <a:avLst/>
          </a:prstGeom>
          <a:noFill/>
          <a:ln w="9525">
            <a:noFill/>
            <a:miter lim="800000"/>
            <a:headEnd/>
            <a:tailEnd/>
          </a:ln>
        </p:spPr>
        <p:txBody>
          <a:bodyPr wrap="none" lIns="0" tIns="0" rIns="0" bIns="0">
            <a:spAutoFit/>
          </a:bodyPr>
          <a:lstStyle/>
          <a:p>
            <a:r>
              <a:rPr lang="en-US" sz="700">
                <a:solidFill>
                  <a:srgbClr val="000000"/>
                </a:solidFill>
              </a:rPr>
              <a:t> </a:t>
            </a:r>
            <a:endParaRPr lang="en-US" sz="1200"/>
          </a:p>
        </p:txBody>
      </p:sp>
      <p:sp>
        <p:nvSpPr>
          <p:cNvPr id="2475431" name="Rectangle 1447"/>
          <p:cNvSpPr>
            <a:spLocks noChangeArrowheads="1"/>
          </p:cNvSpPr>
          <p:nvPr/>
        </p:nvSpPr>
        <p:spPr bwMode="auto">
          <a:xfrm rot="16200000">
            <a:off x="3397250" y="1590675"/>
            <a:ext cx="74613" cy="106363"/>
          </a:xfrm>
          <a:prstGeom prst="rect">
            <a:avLst/>
          </a:prstGeom>
          <a:noFill/>
          <a:ln w="9525">
            <a:noFill/>
            <a:miter lim="800000"/>
            <a:headEnd/>
            <a:tailEnd/>
          </a:ln>
        </p:spPr>
        <p:txBody>
          <a:bodyPr wrap="none" lIns="0" tIns="0" rIns="0" bIns="0">
            <a:spAutoFit/>
          </a:bodyPr>
          <a:lstStyle/>
          <a:p>
            <a:r>
              <a:rPr lang="en-US" sz="700">
                <a:solidFill>
                  <a:srgbClr val="000000"/>
                </a:solidFill>
              </a:rPr>
              <a:t>M</a:t>
            </a:r>
            <a:endParaRPr lang="en-US" sz="1200"/>
          </a:p>
        </p:txBody>
      </p:sp>
      <p:sp>
        <p:nvSpPr>
          <p:cNvPr id="2475432" name="Rectangle 1448"/>
          <p:cNvSpPr>
            <a:spLocks noChangeArrowheads="1"/>
          </p:cNvSpPr>
          <p:nvPr/>
        </p:nvSpPr>
        <p:spPr bwMode="auto">
          <a:xfrm rot="16200000">
            <a:off x="3409951" y="1531937"/>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a</a:t>
            </a:r>
            <a:endParaRPr lang="en-US" sz="1200"/>
          </a:p>
        </p:txBody>
      </p:sp>
      <p:sp>
        <p:nvSpPr>
          <p:cNvPr id="2475433" name="Rectangle 1449"/>
          <p:cNvSpPr>
            <a:spLocks noChangeArrowheads="1"/>
          </p:cNvSpPr>
          <p:nvPr/>
        </p:nvSpPr>
        <p:spPr bwMode="auto">
          <a:xfrm rot="16200000">
            <a:off x="3409950" y="1482725"/>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n</a:t>
            </a:r>
            <a:endParaRPr lang="en-US" sz="1200"/>
          </a:p>
        </p:txBody>
      </p:sp>
      <p:sp>
        <p:nvSpPr>
          <p:cNvPr id="2475434" name="Rectangle 1450"/>
          <p:cNvSpPr>
            <a:spLocks noChangeArrowheads="1"/>
          </p:cNvSpPr>
          <p:nvPr/>
        </p:nvSpPr>
        <p:spPr bwMode="auto">
          <a:xfrm rot="16200000">
            <a:off x="3409950" y="1435100"/>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a</a:t>
            </a:r>
            <a:endParaRPr lang="en-US" sz="1200"/>
          </a:p>
        </p:txBody>
      </p:sp>
      <p:sp>
        <p:nvSpPr>
          <p:cNvPr id="2475435" name="Rectangle 1451"/>
          <p:cNvSpPr>
            <a:spLocks noChangeArrowheads="1"/>
          </p:cNvSpPr>
          <p:nvPr/>
        </p:nvSpPr>
        <p:spPr bwMode="auto">
          <a:xfrm rot="16200000">
            <a:off x="3409951" y="1385887"/>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g</a:t>
            </a:r>
            <a:endParaRPr lang="en-US" sz="1200"/>
          </a:p>
        </p:txBody>
      </p:sp>
      <p:sp>
        <p:nvSpPr>
          <p:cNvPr id="2475436" name="Rectangle 1452"/>
          <p:cNvSpPr>
            <a:spLocks noChangeArrowheads="1"/>
          </p:cNvSpPr>
          <p:nvPr/>
        </p:nvSpPr>
        <p:spPr bwMode="auto">
          <a:xfrm rot="16200000">
            <a:off x="3409950" y="1336675"/>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e</a:t>
            </a:r>
            <a:endParaRPr lang="en-US" sz="1200"/>
          </a:p>
        </p:txBody>
      </p:sp>
      <p:sp>
        <p:nvSpPr>
          <p:cNvPr id="2475437" name="Rectangle 1453"/>
          <p:cNvSpPr>
            <a:spLocks noChangeArrowheads="1"/>
          </p:cNvSpPr>
          <p:nvPr/>
        </p:nvSpPr>
        <p:spPr bwMode="auto">
          <a:xfrm rot="16200000">
            <a:off x="3419476" y="1296987"/>
            <a:ext cx="30162" cy="106363"/>
          </a:xfrm>
          <a:prstGeom prst="rect">
            <a:avLst/>
          </a:prstGeom>
          <a:noFill/>
          <a:ln w="9525">
            <a:noFill/>
            <a:miter lim="800000"/>
            <a:headEnd/>
            <a:tailEnd/>
          </a:ln>
        </p:spPr>
        <p:txBody>
          <a:bodyPr wrap="none" lIns="0" tIns="0" rIns="0" bIns="0">
            <a:spAutoFit/>
          </a:bodyPr>
          <a:lstStyle/>
          <a:p>
            <a:r>
              <a:rPr lang="en-US" sz="700">
                <a:solidFill>
                  <a:srgbClr val="000000"/>
                </a:solidFill>
              </a:rPr>
              <a:t>r</a:t>
            </a:r>
            <a:endParaRPr lang="en-US" sz="1200"/>
          </a:p>
        </p:txBody>
      </p:sp>
      <p:sp>
        <p:nvSpPr>
          <p:cNvPr id="2475438" name="Rectangle 1454"/>
          <p:cNvSpPr>
            <a:spLocks noChangeArrowheads="1"/>
          </p:cNvSpPr>
          <p:nvPr/>
        </p:nvSpPr>
        <p:spPr bwMode="auto">
          <a:xfrm>
            <a:off x="3279775" y="2503488"/>
            <a:ext cx="219075" cy="487362"/>
          </a:xfrm>
          <a:prstGeom prst="rect">
            <a:avLst/>
          </a:prstGeom>
          <a:solidFill>
            <a:srgbClr val="B0FFFF"/>
          </a:solidFill>
          <a:ln w="9525">
            <a:noFill/>
            <a:miter lim="800000"/>
            <a:headEnd/>
            <a:tailEnd/>
          </a:ln>
        </p:spPr>
        <p:txBody>
          <a:bodyPr/>
          <a:lstStyle/>
          <a:p>
            <a:endParaRPr lang="en-US"/>
          </a:p>
        </p:txBody>
      </p:sp>
      <p:sp>
        <p:nvSpPr>
          <p:cNvPr id="2475439" name="Rectangle 1455"/>
          <p:cNvSpPr>
            <a:spLocks noChangeArrowheads="1"/>
          </p:cNvSpPr>
          <p:nvPr/>
        </p:nvSpPr>
        <p:spPr bwMode="auto">
          <a:xfrm>
            <a:off x="3279775" y="2503488"/>
            <a:ext cx="219075" cy="487362"/>
          </a:xfrm>
          <a:prstGeom prst="rect">
            <a:avLst/>
          </a:prstGeom>
          <a:noFill/>
          <a:ln w="3175" cap="rnd">
            <a:solidFill>
              <a:srgbClr val="000000"/>
            </a:solidFill>
            <a:round/>
            <a:headEnd/>
            <a:tailEnd/>
          </a:ln>
        </p:spPr>
        <p:txBody>
          <a:bodyPr/>
          <a:lstStyle/>
          <a:p>
            <a:endParaRPr lang="en-US"/>
          </a:p>
        </p:txBody>
      </p:sp>
      <p:sp>
        <p:nvSpPr>
          <p:cNvPr id="2475440" name="Rectangle 1456"/>
          <p:cNvSpPr>
            <a:spLocks noChangeArrowheads="1"/>
          </p:cNvSpPr>
          <p:nvPr/>
        </p:nvSpPr>
        <p:spPr bwMode="auto">
          <a:xfrm rot="16200000">
            <a:off x="3298032" y="2747168"/>
            <a:ext cx="63500" cy="106363"/>
          </a:xfrm>
          <a:prstGeom prst="rect">
            <a:avLst/>
          </a:prstGeom>
          <a:noFill/>
          <a:ln w="9525">
            <a:noFill/>
            <a:miter lim="800000"/>
            <a:headEnd/>
            <a:tailEnd/>
          </a:ln>
        </p:spPr>
        <p:txBody>
          <a:bodyPr wrap="none" lIns="0" tIns="0" rIns="0" bIns="0">
            <a:spAutoFit/>
          </a:bodyPr>
          <a:lstStyle/>
          <a:p>
            <a:r>
              <a:rPr lang="en-US" sz="700">
                <a:solidFill>
                  <a:srgbClr val="000000"/>
                </a:solidFill>
              </a:rPr>
              <a:t>R</a:t>
            </a:r>
            <a:endParaRPr lang="en-US" sz="1200"/>
          </a:p>
        </p:txBody>
      </p:sp>
      <p:sp>
        <p:nvSpPr>
          <p:cNvPr id="2475441" name="Rectangle 1457"/>
          <p:cNvSpPr>
            <a:spLocks noChangeArrowheads="1"/>
          </p:cNvSpPr>
          <p:nvPr/>
        </p:nvSpPr>
        <p:spPr bwMode="auto">
          <a:xfrm rot="16200000">
            <a:off x="3305175" y="2692400"/>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u</a:t>
            </a:r>
            <a:endParaRPr lang="en-US" sz="1200"/>
          </a:p>
        </p:txBody>
      </p:sp>
      <p:sp>
        <p:nvSpPr>
          <p:cNvPr id="2475442" name="Rectangle 1458"/>
          <p:cNvSpPr>
            <a:spLocks noChangeArrowheads="1"/>
          </p:cNvSpPr>
          <p:nvPr/>
        </p:nvSpPr>
        <p:spPr bwMode="auto">
          <a:xfrm rot="16200000">
            <a:off x="3320257" y="2658268"/>
            <a:ext cx="19050" cy="106363"/>
          </a:xfrm>
          <a:prstGeom prst="rect">
            <a:avLst/>
          </a:prstGeom>
          <a:noFill/>
          <a:ln w="9525">
            <a:noFill/>
            <a:miter lim="800000"/>
            <a:headEnd/>
            <a:tailEnd/>
          </a:ln>
        </p:spPr>
        <p:txBody>
          <a:bodyPr wrap="none" lIns="0" tIns="0" rIns="0" bIns="0">
            <a:spAutoFit/>
          </a:bodyPr>
          <a:lstStyle/>
          <a:p>
            <a:r>
              <a:rPr lang="en-US" sz="700">
                <a:solidFill>
                  <a:srgbClr val="000000"/>
                </a:solidFill>
              </a:rPr>
              <a:t>l</a:t>
            </a:r>
            <a:endParaRPr lang="en-US" sz="1200"/>
          </a:p>
        </p:txBody>
      </p:sp>
      <p:sp>
        <p:nvSpPr>
          <p:cNvPr id="2475443" name="Rectangle 1459"/>
          <p:cNvSpPr>
            <a:spLocks noChangeArrowheads="1"/>
          </p:cNvSpPr>
          <p:nvPr/>
        </p:nvSpPr>
        <p:spPr bwMode="auto">
          <a:xfrm rot="16200000">
            <a:off x="3305176" y="2627312"/>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e</a:t>
            </a:r>
            <a:endParaRPr lang="en-US" sz="1200"/>
          </a:p>
        </p:txBody>
      </p:sp>
      <p:sp>
        <p:nvSpPr>
          <p:cNvPr id="2475444" name="Rectangle 1460"/>
          <p:cNvSpPr>
            <a:spLocks noChangeArrowheads="1"/>
          </p:cNvSpPr>
          <p:nvPr/>
        </p:nvSpPr>
        <p:spPr bwMode="auto">
          <a:xfrm rot="16200000">
            <a:off x="3307557" y="2580481"/>
            <a:ext cx="44450" cy="106363"/>
          </a:xfrm>
          <a:prstGeom prst="rect">
            <a:avLst/>
          </a:prstGeom>
          <a:noFill/>
          <a:ln w="9525">
            <a:noFill/>
            <a:miter lim="800000"/>
            <a:headEnd/>
            <a:tailEnd/>
          </a:ln>
        </p:spPr>
        <p:txBody>
          <a:bodyPr wrap="none" lIns="0" tIns="0" rIns="0" bIns="0">
            <a:spAutoFit/>
          </a:bodyPr>
          <a:lstStyle/>
          <a:p>
            <a:r>
              <a:rPr lang="en-US" sz="700">
                <a:solidFill>
                  <a:srgbClr val="000000"/>
                </a:solidFill>
              </a:rPr>
              <a:t>s</a:t>
            </a:r>
            <a:endParaRPr lang="en-US" sz="1200"/>
          </a:p>
        </p:txBody>
      </p:sp>
      <p:sp>
        <p:nvSpPr>
          <p:cNvPr id="2475445" name="Rectangle 1461"/>
          <p:cNvSpPr>
            <a:spLocks noChangeArrowheads="1"/>
          </p:cNvSpPr>
          <p:nvPr/>
        </p:nvSpPr>
        <p:spPr bwMode="auto">
          <a:xfrm rot="16200000">
            <a:off x="3317082" y="2547143"/>
            <a:ext cx="25400" cy="106363"/>
          </a:xfrm>
          <a:prstGeom prst="rect">
            <a:avLst/>
          </a:prstGeom>
          <a:noFill/>
          <a:ln w="9525">
            <a:noFill/>
            <a:miter lim="800000"/>
            <a:headEnd/>
            <a:tailEnd/>
          </a:ln>
        </p:spPr>
        <p:txBody>
          <a:bodyPr wrap="none" lIns="0" tIns="0" rIns="0" bIns="0">
            <a:spAutoFit/>
          </a:bodyPr>
          <a:lstStyle/>
          <a:p>
            <a:r>
              <a:rPr lang="en-US" sz="700">
                <a:solidFill>
                  <a:srgbClr val="000000"/>
                </a:solidFill>
              </a:rPr>
              <a:t> </a:t>
            </a:r>
            <a:endParaRPr lang="en-US" sz="1200"/>
          </a:p>
        </p:txBody>
      </p:sp>
      <p:sp>
        <p:nvSpPr>
          <p:cNvPr id="2475446" name="Rectangle 1462"/>
          <p:cNvSpPr>
            <a:spLocks noChangeArrowheads="1"/>
          </p:cNvSpPr>
          <p:nvPr/>
        </p:nvSpPr>
        <p:spPr bwMode="auto">
          <a:xfrm rot="16200000">
            <a:off x="3397250" y="2806700"/>
            <a:ext cx="74613" cy="106363"/>
          </a:xfrm>
          <a:prstGeom prst="rect">
            <a:avLst/>
          </a:prstGeom>
          <a:noFill/>
          <a:ln w="9525">
            <a:noFill/>
            <a:miter lim="800000"/>
            <a:headEnd/>
            <a:tailEnd/>
          </a:ln>
        </p:spPr>
        <p:txBody>
          <a:bodyPr wrap="none" lIns="0" tIns="0" rIns="0" bIns="0">
            <a:spAutoFit/>
          </a:bodyPr>
          <a:lstStyle/>
          <a:p>
            <a:r>
              <a:rPr lang="en-US" sz="700">
                <a:solidFill>
                  <a:srgbClr val="000000"/>
                </a:solidFill>
              </a:rPr>
              <a:t>M</a:t>
            </a:r>
            <a:endParaRPr lang="en-US" sz="1200"/>
          </a:p>
        </p:txBody>
      </p:sp>
      <p:sp>
        <p:nvSpPr>
          <p:cNvPr id="2475447" name="Rectangle 1463"/>
          <p:cNvSpPr>
            <a:spLocks noChangeArrowheads="1"/>
          </p:cNvSpPr>
          <p:nvPr/>
        </p:nvSpPr>
        <p:spPr bwMode="auto">
          <a:xfrm rot="16200000">
            <a:off x="3409951" y="2747962"/>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a</a:t>
            </a:r>
            <a:endParaRPr lang="en-US" sz="1200"/>
          </a:p>
        </p:txBody>
      </p:sp>
      <p:sp>
        <p:nvSpPr>
          <p:cNvPr id="2475448" name="Rectangle 1464"/>
          <p:cNvSpPr>
            <a:spLocks noChangeArrowheads="1"/>
          </p:cNvSpPr>
          <p:nvPr/>
        </p:nvSpPr>
        <p:spPr bwMode="auto">
          <a:xfrm rot="16200000">
            <a:off x="3409951" y="2700337"/>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n</a:t>
            </a:r>
            <a:endParaRPr lang="en-US" sz="1200"/>
          </a:p>
        </p:txBody>
      </p:sp>
      <p:sp>
        <p:nvSpPr>
          <p:cNvPr id="2475449" name="Rectangle 1465"/>
          <p:cNvSpPr>
            <a:spLocks noChangeArrowheads="1"/>
          </p:cNvSpPr>
          <p:nvPr/>
        </p:nvSpPr>
        <p:spPr bwMode="auto">
          <a:xfrm rot="16200000">
            <a:off x="3409950" y="2651125"/>
            <a:ext cx="49213" cy="106363"/>
          </a:xfrm>
          <a:prstGeom prst="rect">
            <a:avLst/>
          </a:prstGeom>
          <a:noFill/>
          <a:ln w="9525">
            <a:noFill/>
            <a:miter lim="800000"/>
            <a:headEnd/>
            <a:tailEnd/>
          </a:ln>
        </p:spPr>
        <p:txBody>
          <a:bodyPr wrap="none" lIns="0" tIns="0" rIns="0" bIns="0">
            <a:spAutoFit/>
          </a:bodyPr>
          <a:lstStyle/>
          <a:p>
            <a:r>
              <a:rPr lang="en-US" sz="700">
                <a:solidFill>
                  <a:srgbClr val="000000"/>
                </a:solidFill>
              </a:rPr>
              <a:t>a</a:t>
            </a:r>
            <a:endParaRPr lang="en-US" sz="1200"/>
          </a:p>
        </p:txBody>
      </p:sp>
      <p:sp>
        <p:nvSpPr>
          <p:cNvPr id="2475450" name="Rectangle 1466"/>
          <p:cNvSpPr>
            <a:spLocks noChangeArrowheads="1"/>
          </p:cNvSpPr>
          <p:nvPr/>
        </p:nvSpPr>
        <p:spPr bwMode="auto">
          <a:xfrm rot="16200000">
            <a:off x="3409951" y="2601912"/>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g</a:t>
            </a:r>
            <a:endParaRPr lang="en-US" sz="1200"/>
          </a:p>
        </p:txBody>
      </p:sp>
      <p:sp>
        <p:nvSpPr>
          <p:cNvPr id="2475451" name="Rectangle 1467"/>
          <p:cNvSpPr>
            <a:spLocks noChangeArrowheads="1"/>
          </p:cNvSpPr>
          <p:nvPr/>
        </p:nvSpPr>
        <p:spPr bwMode="auto">
          <a:xfrm rot="16200000">
            <a:off x="3409951" y="2554287"/>
            <a:ext cx="49212" cy="106363"/>
          </a:xfrm>
          <a:prstGeom prst="rect">
            <a:avLst/>
          </a:prstGeom>
          <a:noFill/>
          <a:ln w="9525">
            <a:noFill/>
            <a:miter lim="800000"/>
            <a:headEnd/>
            <a:tailEnd/>
          </a:ln>
        </p:spPr>
        <p:txBody>
          <a:bodyPr wrap="none" lIns="0" tIns="0" rIns="0" bIns="0">
            <a:spAutoFit/>
          </a:bodyPr>
          <a:lstStyle/>
          <a:p>
            <a:r>
              <a:rPr lang="en-US" sz="700">
                <a:solidFill>
                  <a:srgbClr val="000000"/>
                </a:solidFill>
              </a:rPr>
              <a:t>e</a:t>
            </a:r>
            <a:endParaRPr lang="en-US" sz="1200"/>
          </a:p>
        </p:txBody>
      </p:sp>
      <p:sp>
        <p:nvSpPr>
          <p:cNvPr id="2475452" name="Rectangle 1468"/>
          <p:cNvSpPr>
            <a:spLocks noChangeArrowheads="1"/>
          </p:cNvSpPr>
          <p:nvPr/>
        </p:nvSpPr>
        <p:spPr bwMode="auto">
          <a:xfrm rot="16200000">
            <a:off x="3419476" y="2513012"/>
            <a:ext cx="30162" cy="106363"/>
          </a:xfrm>
          <a:prstGeom prst="rect">
            <a:avLst/>
          </a:prstGeom>
          <a:noFill/>
          <a:ln w="9525">
            <a:noFill/>
            <a:miter lim="800000"/>
            <a:headEnd/>
            <a:tailEnd/>
          </a:ln>
        </p:spPr>
        <p:txBody>
          <a:bodyPr wrap="none" lIns="0" tIns="0" rIns="0" bIns="0">
            <a:spAutoFit/>
          </a:bodyPr>
          <a:lstStyle/>
          <a:p>
            <a:r>
              <a:rPr lang="en-US" sz="700">
                <a:solidFill>
                  <a:srgbClr val="000000"/>
                </a:solidFill>
              </a:rPr>
              <a:t>r</a:t>
            </a:r>
            <a:endParaRPr lang="en-US" sz="1200"/>
          </a:p>
        </p:txBody>
      </p:sp>
      <p:sp>
        <p:nvSpPr>
          <p:cNvPr id="2475453" name="Rectangle 1469"/>
          <p:cNvSpPr>
            <a:spLocks noChangeArrowheads="1"/>
          </p:cNvSpPr>
          <p:nvPr/>
        </p:nvSpPr>
        <p:spPr bwMode="auto">
          <a:xfrm>
            <a:off x="4068763" y="3438525"/>
            <a:ext cx="533400" cy="341313"/>
          </a:xfrm>
          <a:prstGeom prst="rect">
            <a:avLst/>
          </a:prstGeom>
          <a:solidFill>
            <a:srgbClr val="B0FFFF"/>
          </a:solidFill>
          <a:ln w="9525">
            <a:noFill/>
            <a:miter lim="800000"/>
            <a:headEnd/>
            <a:tailEnd/>
          </a:ln>
        </p:spPr>
        <p:txBody>
          <a:bodyPr/>
          <a:lstStyle/>
          <a:p>
            <a:endParaRPr lang="en-US"/>
          </a:p>
        </p:txBody>
      </p:sp>
      <p:sp>
        <p:nvSpPr>
          <p:cNvPr id="2475454" name="Rectangle 1470"/>
          <p:cNvSpPr>
            <a:spLocks noChangeArrowheads="1"/>
          </p:cNvSpPr>
          <p:nvPr/>
        </p:nvSpPr>
        <p:spPr bwMode="auto">
          <a:xfrm>
            <a:off x="4068763" y="3438525"/>
            <a:ext cx="533400" cy="341313"/>
          </a:xfrm>
          <a:prstGeom prst="rect">
            <a:avLst/>
          </a:prstGeom>
          <a:noFill/>
          <a:ln w="3175" cap="rnd">
            <a:solidFill>
              <a:srgbClr val="000000"/>
            </a:solidFill>
            <a:round/>
            <a:headEnd/>
            <a:tailEnd/>
          </a:ln>
        </p:spPr>
        <p:txBody>
          <a:bodyPr/>
          <a:lstStyle/>
          <a:p>
            <a:endParaRPr lang="en-US"/>
          </a:p>
        </p:txBody>
      </p:sp>
      <p:sp>
        <p:nvSpPr>
          <p:cNvPr id="2475455" name="Rectangle 1471"/>
          <p:cNvSpPr>
            <a:spLocks noChangeArrowheads="1"/>
          </p:cNvSpPr>
          <p:nvPr/>
        </p:nvSpPr>
        <p:spPr bwMode="auto">
          <a:xfrm>
            <a:off x="4244975" y="3448050"/>
            <a:ext cx="250825" cy="106363"/>
          </a:xfrm>
          <a:prstGeom prst="rect">
            <a:avLst/>
          </a:prstGeom>
          <a:noFill/>
          <a:ln w="9525">
            <a:noFill/>
            <a:miter lim="800000"/>
            <a:headEnd/>
            <a:tailEnd/>
          </a:ln>
        </p:spPr>
        <p:txBody>
          <a:bodyPr wrap="none" lIns="0" tIns="0" rIns="0" bIns="0">
            <a:spAutoFit/>
          </a:bodyPr>
          <a:lstStyle/>
          <a:p>
            <a:r>
              <a:rPr lang="en-US" sz="700">
                <a:solidFill>
                  <a:srgbClr val="000000"/>
                </a:solidFill>
              </a:rPr>
              <a:t>Value </a:t>
            </a:r>
            <a:endParaRPr lang="en-US" sz="1200"/>
          </a:p>
        </p:txBody>
      </p:sp>
      <p:sp>
        <p:nvSpPr>
          <p:cNvPr id="2475456" name="Rectangle 1472"/>
          <p:cNvSpPr>
            <a:spLocks noChangeArrowheads="1"/>
          </p:cNvSpPr>
          <p:nvPr/>
        </p:nvSpPr>
        <p:spPr bwMode="auto">
          <a:xfrm>
            <a:off x="4230688" y="3554413"/>
            <a:ext cx="282575" cy="106362"/>
          </a:xfrm>
          <a:prstGeom prst="rect">
            <a:avLst/>
          </a:prstGeom>
          <a:noFill/>
          <a:ln w="9525">
            <a:noFill/>
            <a:miter lim="800000"/>
            <a:headEnd/>
            <a:tailEnd/>
          </a:ln>
        </p:spPr>
        <p:txBody>
          <a:bodyPr wrap="none" lIns="0" tIns="0" rIns="0" bIns="0">
            <a:spAutoFit/>
          </a:bodyPr>
          <a:lstStyle/>
          <a:p>
            <a:r>
              <a:rPr lang="en-US" sz="700">
                <a:solidFill>
                  <a:srgbClr val="000000"/>
                </a:solidFill>
              </a:rPr>
              <a:t>Object </a:t>
            </a:r>
            <a:endParaRPr lang="en-US" sz="1200"/>
          </a:p>
        </p:txBody>
      </p:sp>
      <p:sp>
        <p:nvSpPr>
          <p:cNvPr id="2475457" name="Rectangle 1473"/>
          <p:cNvSpPr>
            <a:spLocks noChangeArrowheads="1"/>
          </p:cNvSpPr>
          <p:nvPr/>
        </p:nvSpPr>
        <p:spPr bwMode="auto">
          <a:xfrm>
            <a:off x="4149725" y="3659188"/>
            <a:ext cx="419100" cy="106362"/>
          </a:xfrm>
          <a:prstGeom prst="rect">
            <a:avLst/>
          </a:prstGeom>
          <a:noFill/>
          <a:ln w="9525">
            <a:noFill/>
            <a:miter lim="800000"/>
            <a:headEnd/>
            <a:tailEnd/>
          </a:ln>
        </p:spPr>
        <p:txBody>
          <a:bodyPr wrap="none" lIns="0" tIns="0" rIns="0" bIns="0">
            <a:spAutoFit/>
          </a:bodyPr>
          <a:lstStyle/>
          <a:p>
            <a:r>
              <a:rPr lang="en-US" sz="700">
                <a:solidFill>
                  <a:srgbClr val="000000"/>
                </a:solidFill>
              </a:rPr>
              <a:t>Assembler</a:t>
            </a:r>
            <a:endParaRPr lang="en-US" sz="1200"/>
          </a:p>
        </p:txBody>
      </p:sp>
      <p:grpSp>
        <p:nvGrpSpPr>
          <p:cNvPr id="2475572" name="Group 1588"/>
          <p:cNvGrpSpPr>
            <a:grpSpLocks/>
          </p:cNvGrpSpPr>
          <p:nvPr/>
        </p:nvGrpSpPr>
        <p:grpSpPr bwMode="auto">
          <a:xfrm>
            <a:off x="155575" y="2771775"/>
            <a:ext cx="1246188" cy="573088"/>
            <a:chOff x="98" y="1985"/>
            <a:chExt cx="785" cy="361"/>
          </a:xfrm>
        </p:grpSpPr>
        <p:grpSp>
          <p:nvGrpSpPr>
            <p:cNvPr id="2475547" name="Group 1563"/>
            <p:cNvGrpSpPr>
              <a:grpSpLocks/>
            </p:cNvGrpSpPr>
            <p:nvPr/>
          </p:nvGrpSpPr>
          <p:grpSpPr bwMode="auto">
            <a:xfrm>
              <a:off x="491" y="2017"/>
              <a:ext cx="392" cy="271"/>
              <a:chOff x="477" y="1965"/>
              <a:chExt cx="499" cy="378"/>
            </a:xfrm>
          </p:grpSpPr>
          <p:sp>
            <p:nvSpPr>
              <p:cNvPr id="2475021" name="Freeform 1037"/>
              <p:cNvSpPr>
                <a:spLocks noEditPoints="1"/>
              </p:cNvSpPr>
              <p:nvPr/>
            </p:nvSpPr>
            <p:spPr bwMode="auto">
              <a:xfrm>
                <a:off x="546" y="2019"/>
                <a:ext cx="367" cy="267"/>
              </a:xfrm>
              <a:custGeom>
                <a:avLst/>
                <a:gdLst/>
                <a:ahLst/>
                <a:cxnLst>
                  <a:cxn ang="0">
                    <a:pos x="61" y="230"/>
                  </a:cxn>
                  <a:cxn ang="0">
                    <a:pos x="183" y="138"/>
                  </a:cxn>
                  <a:cxn ang="0">
                    <a:pos x="183" y="267"/>
                  </a:cxn>
                  <a:cxn ang="0">
                    <a:pos x="183" y="138"/>
                  </a:cxn>
                  <a:cxn ang="0">
                    <a:pos x="306" y="230"/>
                  </a:cxn>
                  <a:cxn ang="0">
                    <a:pos x="183" y="138"/>
                  </a:cxn>
                  <a:cxn ang="0">
                    <a:pos x="367" y="138"/>
                  </a:cxn>
                  <a:cxn ang="0">
                    <a:pos x="183" y="138"/>
                  </a:cxn>
                  <a:cxn ang="0">
                    <a:pos x="306" y="46"/>
                  </a:cxn>
                  <a:cxn ang="0">
                    <a:pos x="183" y="138"/>
                  </a:cxn>
                  <a:cxn ang="0">
                    <a:pos x="183" y="0"/>
                  </a:cxn>
                  <a:cxn ang="0">
                    <a:pos x="183" y="138"/>
                  </a:cxn>
                  <a:cxn ang="0">
                    <a:pos x="99" y="61"/>
                  </a:cxn>
                  <a:cxn ang="0">
                    <a:pos x="183" y="138"/>
                  </a:cxn>
                  <a:cxn ang="0">
                    <a:pos x="0" y="138"/>
                  </a:cxn>
                  <a:cxn ang="0">
                    <a:pos x="183" y="138"/>
                  </a:cxn>
                </a:cxnLst>
                <a:rect l="0" t="0" r="r" b="b"/>
                <a:pathLst>
                  <a:path w="367" h="267">
                    <a:moveTo>
                      <a:pt x="61" y="230"/>
                    </a:moveTo>
                    <a:lnTo>
                      <a:pt x="183" y="138"/>
                    </a:lnTo>
                    <a:moveTo>
                      <a:pt x="183" y="267"/>
                    </a:moveTo>
                    <a:lnTo>
                      <a:pt x="183" y="138"/>
                    </a:lnTo>
                    <a:moveTo>
                      <a:pt x="306" y="230"/>
                    </a:moveTo>
                    <a:lnTo>
                      <a:pt x="183" y="138"/>
                    </a:lnTo>
                    <a:moveTo>
                      <a:pt x="367" y="138"/>
                    </a:moveTo>
                    <a:lnTo>
                      <a:pt x="183" y="138"/>
                    </a:lnTo>
                    <a:moveTo>
                      <a:pt x="306" y="46"/>
                    </a:moveTo>
                    <a:lnTo>
                      <a:pt x="183" y="138"/>
                    </a:lnTo>
                    <a:moveTo>
                      <a:pt x="183" y="0"/>
                    </a:moveTo>
                    <a:lnTo>
                      <a:pt x="183" y="138"/>
                    </a:lnTo>
                    <a:moveTo>
                      <a:pt x="99" y="61"/>
                    </a:moveTo>
                    <a:lnTo>
                      <a:pt x="183" y="138"/>
                    </a:lnTo>
                    <a:moveTo>
                      <a:pt x="0" y="138"/>
                    </a:moveTo>
                    <a:lnTo>
                      <a:pt x="183" y="138"/>
                    </a:lnTo>
                  </a:path>
                </a:pathLst>
              </a:custGeom>
              <a:noFill/>
              <a:ln w="3175" cap="rnd">
                <a:solidFill>
                  <a:srgbClr val="000000"/>
                </a:solidFill>
                <a:prstDash val="solid"/>
                <a:round/>
                <a:headEnd/>
                <a:tailEnd/>
              </a:ln>
            </p:spPr>
            <p:txBody>
              <a:bodyPr/>
              <a:lstStyle/>
              <a:p>
                <a:endParaRPr lang="en-US"/>
              </a:p>
            </p:txBody>
          </p:sp>
          <p:pic>
            <p:nvPicPr>
              <p:cNvPr id="2475022" name="Picture 1038"/>
              <p:cNvPicPr>
                <a:picLocks noChangeAspect="1" noChangeArrowheads="1"/>
              </p:cNvPicPr>
              <p:nvPr/>
            </p:nvPicPr>
            <p:blipFill>
              <a:blip r:embed="rId3" cstate="print"/>
              <a:srcRect/>
              <a:stretch>
                <a:fillRect/>
              </a:stretch>
            </p:blipFill>
            <p:spPr bwMode="auto">
              <a:xfrm>
                <a:off x="477" y="1965"/>
                <a:ext cx="499" cy="378"/>
              </a:xfrm>
              <a:prstGeom prst="rect">
                <a:avLst/>
              </a:prstGeom>
              <a:noFill/>
              <a:ln w="9525">
                <a:noFill/>
                <a:miter lim="800000"/>
                <a:headEnd/>
                <a:tailEnd/>
              </a:ln>
            </p:spPr>
          </p:pic>
          <p:pic>
            <p:nvPicPr>
              <p:cNvPr id="2475023" name="Picture 1039"/>
              <p:cNvPicPr>
                <a:picLocks noChangeAspect="1" noChangeArrowheads="1"/>
              </p:cNvPicPr>
              <p:nvPr/>
            </p:nvPicPr>
            <p:blipFill>
              <a:blip r:embed="rId4" cstate="print"/>
              <a:srcRect/>
              <a:stretch>
                <a:fillRect/>
              </a:stretch>
            </p:blipFill>
            <p:spPr bwMode="auto">
              <a:xfrm>
                <a:off x="544" y="1965"/>
                <a:ext cx="432" cy="378"/>
              </a:xfrm>
              <a:prstGeom prst="rect">
                <a:avLst/>
              </a:prstGeom>
              <a:noFill/>
              <a:ln w="9525">
                <a:noFill/>
                <a:miter lim="800000"/>
                <a:headEnd/>
                <a:tailEnd/>
              </a:ln>
            </p:spPr>
          </p:pic>
          <p:pic>
            <p:nvPicPr>
              <p:cNvPr id="2475024" name="Picture 1040"/>
              <p:cNvPicPr>
                <a:picLocks noChangeAspect="1" noChangeArrowheads="1"/>
              </p:cNvPicPr>
              <p:nvPr/>
            </p:nvPicPr>
            <p:blipFill>
              <a:blip r:embed="rId5" cstate="print"/>
              <a:srcRect/>
              <a:stretch>
                <a:fillRect/>
              </a:stretch>
            </p:blipFill>
            <p:spPr bwMode="auto">
              <a:xfrm>
                <a:off x="542" y="2098"/>
                <a:ext cx="348" cy="174"/>
              </a:xfrm>
              <a:prstGeom prst="rect">
                <a:avLst/>
              </a:prstGeom>
              <a:noFill/>
              <a:ln w="9525">
                <a:noFill/>
                <a:miter lim="800000"/>
                <a:headEnd/>
                <a:tailEnd/>
              </a:ln>
            </p:spPr>
          </p:pic>
          <p:pic>
            <p:nvPicPr>
              <p:cNvPr id="2475025" name="Picture 1041"/>
              <p:cNvPicPr>
                <a:picLocks noChangeAspect="1" noChangeArrowheads="1"/>
              </p:cNvPicPr>
              <p:nvPr/>
            </p:nvPicPr>
            <p:blipFill>
              <a:blip r:embed="rId6" cstate="print"/>
              <a:srcRect/>
              <a:stretch>
                <a:fillRect/>
              </a:stretch>
            </p:blipFill>
            <p:spPr bwMode="auto">
              <a:xfrm>
                <a:off x="711" y="1986"/>
                <a:ext cx="199" cy="174"/>
              </a:xfrm>
              <a:prstGeom prst="rect">
                <a:avLst/>
              </a:prstGeom>
              <a:noFill/>
              <a:ln w="9525">
                <a:noFill/>
                <a:miter lim="800000"/>
                <a:headEnd/>
                <a:tailEnd/>
              </a:ln>
            </p:spPr>
          </p:pic>
          <p:pic>
            <p:nvPicPr>
              <p:cNvPr id="2475026" name="Picture 1042"/>
              <p:cNvPicPr>
                <a:picLocks noChangeAspect="1" noChangeArrowheads="1"/>
              </p:cNvPicPr>
              <p:nvPr/>
            </p:nvPicPr>
            <p:blipFill>
              <a:blip r:embed="rId7" cstate="print"/>
              <a:srcRect/>
              <a:stretch>
                <a:fillRect/>
              </a:stretch>
            </p:blipFill>
            <p:spPr bwMode="auto">
              <a:xfrm>
                <a:off x="711" y="1986"/>
                <a:ext cx="199" cy="174"/>
              </a:xfrm>
              <a:prstGeom prst="rect">
                <a:avLst/>
              </a:prstGeom>
              <a:noFill/>
              <a:ln w="9525">
                <a:noFill/>
                <a:miter lim="800000"/>
                <a:headEnd/>
                <a:tailEnd/>
              </a:ln>
            </p:spPr>
          </p:pic>
          <p:pic>
            <p:nvPicPr>
              <p:cNvPr id="2475027" name="Picture 1043"/>
              <p:cNvPicPr>
                <a:picLocks noChangeAspect="1" noChangeArrowheads="1"/>
              </p:cNvPicPr>
              <p:nvPr/>
            </p:nvPicPr>
            <p:blipFill>
              <a:blip r:embed="rId8" cstate="print"/>
              <a:srcRect/>
              <a:stretch>
                <a:fillRect/>
              </a:stretch>
            </p:blipFill>
            <p:spPr bwMode="auto">
              <a:xfrm>
                <a:off x="752" y="2139"/>
                <a:ext cx="194" cy="107"/>
              </a:xfrm>
              <a:prstGeom prst="rect">
                <a:avLst/>
              </a:prstGeom>
              <a:noFill/>
              <a:ln w="9525">
                <a:noFill/>
                <a:miter lim="800000"/>
                <a:headEnd/>
                <a:tailEnd/>
              </a:ln>
            </p:spPr>
          </p:pic>
          <p:sp>
            <p:nvSpPr>
              <p:cNvPr id="2475028" name="Rectangle 1044"/>
              <p:cNvSpPr>
                <a:spLocks noChangeArrowheads="1"/>
              </p:cNvSpPr>
              <p:nvPr/>
            </p:nvSpPr>
            <p:spPr bwMode="auto">
              <a:xfrm>
                <a:off x="621" y="2123"/>
                <a:ext cx="243" cy="93"/>
              </a:xfrm>
              <a:prstGeom prst="rect">
                <a:avLst/>
              </a:prstGeom>
              <a:noFill/>
              <a:ln w="9525">
                <a:noFill/>
                <a:miter lim="800000"/>
                <a:headEnd/>
                <a:tailEnd/>
              </a:ln>
            </p:spPr>
            <p:txBody>
              <a:bodyPr wrap="none" lIns="0" tIns="0" rIns="0" bIns="0">
                <a:spAutoFit/>
              </a:bodyPr>
              <a:lstStyle/>
              <a:p>
                <a:r>
                  <a:rPr lang="en-US" sz="700">
                    <a:solidFill>
                      <a:srgbClr val="000000"/>
                    </a:solidFill>
                  </a:rPr>
                  <a:t>Internet</a:t>
                </a:r>
                <a:endParaRPr lang="en-US" sz="1200"/>
              </a:p>
            </p:txBody>
          </p:sp>
        </p:grpSp>
        <p:grpSp>
          <p:nvGrpSpPr>
            <p:cNvPr id="2475471" name="Group 1487"/>
            <p:cNvGrpSpPr>
              <a:grpSpLocks/>
            </p:cNvGrpSpPr>
            <p:nvPr/>
          </p:nvGrpSpPr>
          <p:grpSpPr bwMode="auto">
            <a:xfrm>
              <a:off x="98" y="1985"/>
              <a:ext cx="306" cy="361"/>
              <a:chOff x="400" y="563"/>
              <a:chExt cx="306" cy="361"/>
            </a:xfrm>
          </p:grpSpPr>
          <p:sp>
            <p:nvSpPr>
              <p:cNvPr id="2475472" name="Freeform 1488"/>
              <p:cNvSpPr>
                <a:spLocks/>
              </p:cNvSpPr>
              <p:nvPr/>
            </p:nvSpPr>
            <p:spPr bwMode="auto">
              <a:xfrm>
                <a:off x="668" y="808"/>
                <a:ext cx="38" cy="41"/>
              </a:xfrm>
              <a:custGeom>
                <a:avLst/>
                <a:gdLst/>
                <a:ahLst/>
                <a:cxnLst>
                  <a:cxn ang="0">
                    <a:pos x="8" y="41"/>
                  </a:cxn>
                  <a:cxn ang="0">
                    <a:pos x="0" y="0"/>
                  </a:cxn>
                  <a:cxn ang="0">
                    <a:pos x="38" y="19"/>
                  </a:cxn>
                  <a:cxn ang="0">
                    <a:pos x="8" y="41"/>
                  </a:cxn>
                </a:cxnLst>
                <a:rect l="0" t="0" r="r" b="b"/>
                <a:pathLst>
                  <a:path w="38" h="41">
                    <a:moveTo>
                      <a:pt x="8" y="41"/>
                    </a:moveTo>
                    <a:lnTo>
                      <a:pt x="0" y="0"/>
                    </a:lnTo>
                    <a:lnTo>
                      <a:pt x="38" y="19"/>
                    </a:lnTo>
                    <a:lnTo>
                      <a:pt x="8" y="41"/>
                    </a:lnTo>
                    <a:close/>
                  </a:path>
                </a:pathLst>
              </a:custGeom>
              <a:solidFill>
                <a:srgbClr val="000000"/>
              </a:solidFill>
              <a:ln w="9525">
                <a:noFill/>
                <a:round/>
                <a:headEnd/>
                <a:tailEnd/>
              </a:ln>
            </p:spPr>
            <p:txBody>
              <a:bodyPr/>
              <a:lstStyle/>
              <a:p>
                <a:endParaRPr lang="en-US"/>
              </a:p>
            </p:txBody>
          </p:sp>
          <p:sp>
            <p:nvSpPr>
              <p:cNvPr id="2475473" name="Freeform 1489"/>
              <p:cNvSpPr>
                <a:spLocks/>
              </p:cNvSpPr>
              <p:nvPr/>
            </p:nvSpPr>
            <p:spPr bwMode="auto">
              <a:xfrm>
                <a:off x="653" y="770"/>
                <a:ext cx="31" cy="76"/>
              </a:xfrm>
              <a:custGeom>
                <a:avLst/>
                <a:gdLst/>
                <a:ahLst/>
                <a:cxnLst>
                  <a:cxn ang="0">
                    <a:pos x="0" y="76"/>
                  </a:cxn>
                  <a:cxn ang="0">
                    <a:pos x="31" y="46"/>
                  </a:cxn>
                  <a:cxn ang="0">
                    <a:pos x="31" y="0"/>
                  </a:cxn>
                  <a:cxn ang="0">
                    <a:pos x="0" y="30"/>
                  </a:cxn>
                  <a:cxn ang="0">
                    <a:pos x="0" y="76"/>
                  </a:cxn>
                </a:cxnLst>
                <a:rect l="0" t="0" r="r" b="b"/>
                <a:pathLst>
                  <a:path w="31" h="76">
                    <a:moveTo>
                      <a:pt x="0" y="76"/>
                    </a:moveTo>
                    <a:lnTo>
                      <a:pt x="31" y="46"/>
                    </a:lnTo>
                    <a:lnTo>
                      <a:pt x="31" y="0"/>
                    </a:lnTo>
                    <a:lnTo>
                      <a:pt x="0" y="30"/>
                    </a:lnTo>
                    <a:lnTo>
                      <a:pt x="0" y="76"/>
                    </a:lnTo>
                    <a:close/>
                  </a:path>
                </a:pathLst>
              </a:custGeom>
              <a:solidFill>
                <a:srgbClr val="9A9A9A"/>
              </a:solidFill>
              <a:ln w="9525">
                <a:noFill/>
                <a:round/>
                <a:headEnd/>
                <a:tailEnd/>
              </a:ln>
            </p:spPr>
            <p:txBody>
              <a:bodyPr/>
              <a:lstStyle/>
              <a:p>
                <a:endParaRPr lang="en-US"/>
              </a:p>
            </p:txBody>
          </p:sp>
          <p:sp>
            <p:nvSpPr>
              <p:cNvPr id="2475474" name="Freeform 1490"/>
              <p:cNvSpPr>
                <a:spLocks/>
              </p:cNvSpPr>
              <p:nvPr/>
            </p:nvSpPr>
            <p:spPr bwMode="auto">
              <a:xfrm>
                <a:off x="638" y="770"/>
                <a:ext cx="46" cy="23"/>
              </a:xfrm>
              <a:custGeom>
                <a:avLst/>
                <a:gdLst/>
                <a:ahLst/>
                <a:cxnLst>
                  <a:cxn ang="0">
                    <a:pos x="23" y="23"/>
                  </a:cxn>
                  <a:cxn ang="0">
                    <a:pos x="46" y="0"/>
                  </a:cxn>
                  <a:cxn ang="0">
                    <a:pos x="0" y="0"/>
                  </a:cxn>
                  <a:cxn ang="0">
                    <a:pos x="23" y="23"/>
                  </a:cxn>
                </a:cxnLst>
                <a:rect l="0" t="0" r="r" b="b"/>
                <a:pathLst>
                  <a:path w="46" h="23">
                    <a:moveTo>
                      <a:pt x="23" y="23"/>
                    </a:moveTo>
                    <a:lnTo>
                      <a:pt x="46" y="0"/>
                    </a:lnTo>
                    <a:lnTo>
                      <a:pt x="0" y="0"/>
                    </a:lnTo>
                    <a:lnTo>
                      <a:pt x="23" y="23"/>
                    </a:lnTo>
                    <a:close/>
                  </a:path>
                </a:pathLst>
              </a:custGeom>
              <a:solidFill>
                <a:srgbClr val="E6E6E6"/>
              </a:solidFill>
              <a:ln w="9525">
                <a:noFill/>
                <a:round/>
                <a:headEnd/>
                <a:tailEnd/>
              </a:ln>
            </p:spPr>
            <p:txBody>
              <a:bodyPr/>
              <a:lstStyle/>
              <a:p>
                <a:endParaRPr lang="en-US"/>
              </a:p>
            </p:txBody>
          </p:sp>
          <p:sp>
            <p:nvSpPr>
              <p:cNvPr id="2475475" name="Freeform 1491"/>
              <p:cNvSpPr>
                <a:spLocks/>
              </p:cNvSpPr>
              <p:nvPr/>
            </p:nvSpPr>
            <p:spPr bwMode="auto">
              <a:xfrm>
                <a:off x="409" y="785"/>
                <a:ext cx="61" cy="15"/>
              </a:xfrm>
              <a:custGeom>
                <a:avLst/>
                <a:gdLst/>
                <a:ahLst/>
                <a:cxnLst>
                  <a:cxn ang="0">
                    <a:pos x="61" y="15"/>
                  </a:cxn>
                  <a:cxn ang="0">
                    <a:pos x="15" y="0"/>
                  </a:cxn>
                  <a:cxn ang="0">
                    <a:pos x="0" y="15"/>
                  </a:cxn>
                  <a:cxn ang="0">
                    <a:pos x="61" y="15"/>
                  </a:cxn>
                </a:cxnLst>
                <a:rect l="0" t="0" r="r" b="b"/>
                <a:pathLst>
                  <a:path w="61" h="15">
                    <a:moveTo>
                      <a:pt x="61" y="15"/>
                    </a:moveTo>
                    <a:lnTo>
                      <a:pt x="15" y="0"/>
                    </a:lnTo>
                    <a:lnTo>
                      <a:pt x="0" y="15"/>
                    </a:lnTo>
                    <a:lnTo>
                      <a:pt x="61" y="15"/>
                    </a:lnTo>
                    <a:close/>
                  </a:path>
                </a:pathLst>
              </a:custGeom>
              <a:solidFill>
                <a:srgbClr val="E6E6E6"/>
              </a:solidFill>
              <a:ln w="9525">
                <a:noFill/>
                <a:round/>
                <a:headEnd/>
                <a:tailEnd/>
              </a:ln>
            </p:spPr>
            <p:txBody>
              <a:bodyPr/>
              <a:lstStyle/>
              <a:p>
                <a:endParaRPr lang="en-US"/>
              </a:p>
            </p:txBody>
          </p:sp>
          <p:sp>
            <p:nvSpPr>
              <p:cNvPr id="2475476" name="Freeform 1492"/>
              <p:cNvSpPr>
                <a:spLocks/>
              </p:cNvSpPr>
              <p:nvPr/>
            </p:nvSpPr>
            <p:spPr bwMode="auto">
              <a:xfrm>
                <a:off x="424" y="770"/>
                <a:ext cx="252" cy="30"/>
              </a:xfrm>
              <a:custGeom>
                <a:avLst/>
                <a:gdLst/>
                <a:ahLst/>
                <a:cxnLst>
                  <a:cxn ang="0">
                    <a:pos x="252" y="7"/>
                  </a:cxn>
                  <a:cxn ang="0">
                    <a:pos x="237" y="0"/>
                  </a:cxn>
                  <a:cxn ang="0">
                    <a:pos x="15" y="0"/>
                  </a:cxn>
                  <a:cxn ang="0">
                    <a:pos x="0" y="15"/>
                  </a:cxn>
                  <a:cxn ang="0">
                    <a:pos x="46" y="30"/>
                  </a:cxn>
                  <a:cxn ang="0">
                    <a:pos x="229" y="30"/>
                  </a:cxn>
                  <a:cxn ang="0">
                    <a:pos x="252" y="7"/>
                  </a:cxn>
                </a:cxnLst>
                <a:rect l="0" t="0" r="r" b="b"/>
                <a:pathLst>
                  <a:path w="252" h="30">
                    <a:moveTo>
                      <a:pt x="252" y="7"/>
                    </a:moveTo>
                    <a:lnTo>
                      <a:pt x="237" y="0"/>
                    </a:lnTo>
                    <a:lnTo>
                      <a:pt x="15" y="0"/>
                    </a:lnTo>
                    <a:lnTo>
                      <a:pt x="0" y="15"/>
                    </a:lnTo>
                    <a:lnTo>
                      <a:pt x="46" y="30"/>
                    </a:lnTo>
                    <a:lnTo>
                      <a:pt x="229" y="30"/>
                    </a:lnTo>
                    <a:lnTo>
                      <a:pt x="252" y="7"/>
                    </a:lnTo>
                    <a:close/>
                  </a:path>
                </a:pathLst>
              </a:custGeom>
              <a:solidFill>
                <a:srgbClr val="9A9A9A"/>
              </a:solidFill>
              <a:ln w="9525">
                <a:noFill/>
                <a:round/>
                <a:headEnd/>
                <a:tailEnd/>
              </a:ln>
            </p:spPr>
            <p:txBody>
              <a:bodyPr/>
              <a:lstStyle/>
              <a:p>
                <a:endParaRPr lang="en-US"/>
              </a:p>
            </p:txBody>
          </p:sp>
          <p:pic>
            <p:nvPicPr>
              <p:cNvPr id="2475477" name="Picture 1493"/>
              <p:cNvPicPr>
                <a:picLocks noChangeAspect="1" noChangeArrowheads="1"/>
              </p:cNvPicPr>
              <p:nvPr/>
            </p:nvPicPr>
            <p:blipFill>
              <a:blip r:embed="rId9" cstate="print"/>
              <a:srcRect/>
              <a:stretch>
                <a:fillRect/>
              </a:stretch>
            </p:blipFill>
            <p:spPr bwMode="auto">
              <a:xfrm>
                <a:off x="452" y="780"/>
                <a:ext cx="183" cy="26"/>
              </a:xfrm>
              <a:prstGeom prst="rect">
                <a:avLst/>
              </a:prstGeom>
              <a:noFill/>
              <a:ln w="9525">
                <a:noFill/>
                <a:miter lim="800000"/>
                <a:headEnd/>
                <a:tailEnd/>
              </a:ln>
            </p:spPr>
          </p:pic>
          <p:sp>
            <p:nvSpPr>
              <p:cNvPr id="2475478" name="Rectangle 1494"/>
              <p:cNvSpPr>
                <a:spLocks noChangeArrowheads="1"/>
              </p:cNvSpPr>
              <p:nvPr/>
            </p:nvSpPr>
            <p:spPr bwMode="auto">
              <a:xfrm>
                <a:off x="401" y="795"/>
                <a:ext cx="5" cy="56"/>
              </a:xfrm>
              <a:prstGeom prst="rect">
                <a:avLst/>
              </a:prstGeom>
              <a:solidFill>
                <a:srgbClr val="E6E6E6"/>
              </a:solidFill>
              <a:ln w="9525">
                <a:noFill/>
                <a:miter lim="800000"/>
                <a:headEnd/>
                <a:tailEnd/>
              </a:ln>
            </p:spPr>
            <p:txBody>
              <a:bodyPr/>
              <a:lstStyle/>
              <a:p>
                <a:endParaRPr lang="en-US"/>
              </a:p>
            </p:txBody>
          </p:sp>
          <p:sp>
            <p:nvSpPr>
              <p:cNvPr id="2475479" name="Rectangle 1495"/>
              <p:cNvSpPr>
                <a:spLocks noChangeArrowheads="1"/>
              </p:cNvSpPr>
              <p:nvPr/>
            </p:nvSpPr>
            <p:spPr bwMode="auto">
              <a:xfrm>
                <a:off x="411" y="795"/>
                <a:ext cx="5" cy="56"/>
              </a:xfrm>
              <a:prstGeom prst="rect">
                <a:avLst/>
              </a:prstGeom>
              <a:solidFill>
                <a:srgbClr val="C1C1C1"/>
              </a:solidFill>
              <a:ln w="9525">
                <a:noFill/>
                <a:miter lim="800000"/>
                <a:headEnd/>
                <a:tailEnd/>
              </a:ln>
            </p:spPr>
            <p:txBody>
              <a:bodyPr/>
              <a:lstStyle/>
              <a:p>
                <a:endParaRPr lang="en-US"/>
              </a:p>
            </p:txBody>
          </p:sp>
          <p:sp>
            <p:nvSpPr>
              <p:cNvPr id="2475480" name="Rectangle 1496"/>
              <p:cNvSpPr>
                <a:spLocks noChangeArrowheads="1"/>
              </p:cNvSpPr>
              <p:nvPr/>
            </p:nvSpPr>
            <p:spPr bwMode="auto">
              <a:xfrm>
                <a:off x="416" y="795"/>
                <a:ext cx="10" cy="56"/>
              </a:xfrm>
              <a:prstGeom prst="rect">
                <a:avLst/>
              </a:prstGeom>
              <a:solidFill>
                <a:srgbClr val="C2C2C2"/>
              </a:solidFill>
              <a:ln w="9525">
                <a:noFill/>
                <a:miter lim="800000"/>
                <a:headEnd/>
                <a:tailEnd/>
              </a:ln>
            </p:spPr>
            <p:txBody>
              <a:bodyPr/>
              <a:lstStyle/>
              <a:p>
                <a:endParaRPr lang="en-US"/>
              </a:p>
            </p:txBody>
          </p:sp>
          <p:sp>
            <p:nvSpPr>
              <p:cNvPr id="2475481" name="Rectangle 1497"/>
              <p:cNvSpPr>
                <a:spLocks noChangeArrowheads="1"/>
              </p:cNvSpPr>
              <p:nvPr/>
            </p:nvSpPr>
            <p:spPr bwMode="auto">
              <a:xfrm>
                <a:off x="431" y="795"/>
                <a:ext cx="5" cy="56"/>
              </a:xfrm>
              <a:prstGeom prst="rect">
                <a:avLst/>
              </a:prstGeom>
              <a:solidFill>
                <a:srgbClr val="C4C4C4"/>
              </a:solidFill>
              <a:ln w="9525">
                <a:noFill/>
                <a:miter lim="800000"/>
                <a:headEnd/>
                <a:tailEnd/>
              </a:ln>
            </p:spPr>
            <p:txBody>
              <a:bodyPr/>
              <a:lstStyle/>
              <a:p>
                <a:endParaRPr lang="en-US"/>
              </a:p>
            </p:txBody>
          </p:sp>
          <p:sp>
            <p:nvSpPr>
              <p:cNvPr id="2475482" name="Rectangle 1498"/>
              <p:cNvSpPr>
                <a:spLocks noChangeArrowheads="1"/>
              </p:cNvSpPr>
              <p:nvPr/>
            </p:nvSpPr>
            <p:spPr bwMode="auto">
              <a:xfrm>
                <a:off x="436" y="795"/>
                <a:ext cx="5" cy="56"/>
              </a:xfrm>
              <a:prstGeom prst="rect">
                <a:avLst/>
              </a:prstGeom>
              <a:solidFill>
                <a:srgbClr val="C5C5C5"/>
              </a:solidFill>
              <a:ln w="9525">
                <a:noFill/>
                <a:miter lim="800000"/>
                <a:headEnd/>
                <a:tailEnd/>
              </a:ln>
            </p:spPr>
            <p:txBody>
              <a:bodyPr/>
              <a:lstStyle/>
              <a:p>
                <a:endParaRPr lang="en-US"/>
              </a:p>
            </p:txBody>
          </p:sp>
          <p:sp>
            <p:nvSpPr>
              <p:cNvPr id="2475483" name="Rectangle 1499"/>
              <p:cNvSpPr>
                <a:spLocks noChangeArrowheads="1"/>
              </p:cNvSpPr>
              <p:nvPr/>
            </p:nvSpPr>
            <p:spPr bwMode="auto">
              <a:xfrm>
                <a:off x="441" y="795"/>
                <a:ext cx="11" cy="56"/>
              </a:xfrm>
              <a:prstGeom prst="rect">
                <a:avLst/>
              </a:prstGeom>
              <a:solidFill>
                <a:srgbClr val="C6C6C6"/>
              </a:solidFill>
              <a:ln w="9525">
                <a:noFill/>
                <a:miter lim="800000"/>
                <a:headEnd/>
                <a:tailEnd/>
              </a:ln>
            </p:spPr>
            <p:txBody>
              <a:bodyPr/>
              <a:lstStyle/>
              <a:p>
                <a:endParaRPr lang="en-US"/>
              </a:p>
            </p:txBody>
          </p:sp>
          <p:sp>
            <p:nvSpPr>
              <p:cNvPr id="2475484" name="Rectangle 1500"/>
              <p:cNvSpPr>
                <a:spLocks noChangeArrowheads="1"/>
              </p:cNvSpPr>
              <p:nvPr/>
            </p:nvSpPr>
            <p:spPr bwMode="auto">
              <a:xfrm>
                <a:off x="452" y="795"/>
                <a:ext cx="5" cy="56"/>
              </a:xfrm>
              <a:prstGeom prst="rect">
                <a:avLst/>
              </a:prstGeom>
              <a:solidFill>
                <a:srgbClr val="C7C7C7"/>
              </a:solidFill>
              <a:ln w="9525">
                <a:noFill/>
                <a:miter lim="800000"/>
                <a:headEnd/>
                <a:tailEnd/>
              </a:ln>
            </p:spPr>
            <p:txBody>
              <a:bodyPr/>
              <a:lstStyle/>
              <a:p>
                <a:endParaRPr lang="en-US"/>
              </a:p>
            </p:txBody>
          </p:sp>
          <p:sp>
            <p:nvSpPr>
              <p:cNvPr id="2475485" name="Rectangle 1501"/>
              <p:cNvSpPr>
                <a:spLocks noChangeArrowheads="1"/>
              </p:cNvSpPr>
              <p:nvPr/>
            </p:nvSpPr>
            <p:spPr bwMode="auto">
              <a:xfrm>
                <a:off x="457" y="795"/>
                <a:ext cx="5" cy="56"/>
              </a:xfrm>
              <a:prstGeom prst="rect">
                <a:avLst/>
              </a:prstGeom>
              <a:solidFill>
                <a:srgbClr val="C8C8C8"/>
              </a:solidFill>
              <a:ln w="9525">
                <a:noFill/>
                <a:miter lim="800000"/>
                <a:headEnd/>
                <a:tailEnd/>
              </a:ln>
            </p:spPr>
            <p:txBody>
              <a:bodyPr/>
              <a:lstStyle/>
              <a:p>
                <a:endParaRPr lang="en-US"/>
              </a:p>
            </p:txBody>
          </p:sp>
          <p:sp>
            <p:nvSpPr>
              <p:cNvPr id="2475486" name="Rectangle 1502"/>
              <p:cNvSpPr>
                <a:spLocks noChangeArrowheads="1"/>
              </p:cNvSpPr>
              <p:nvPr/>
            </p:nvSpPr>
            <p:spPr bwMode="auto">
              <a:xfrm>
                <a:off x="462" y="795"/>
                <a:ext cx="5" cy="56"/>
              </a:xfrm>
              <a:prstGeom prst="rect">
                <a:avLst/>
              </a:prstGeom>
              <a:solidFill>
                <a:srgbClr val="C9C9C9"/>
              </a:solidFill>
              <a:ln w="9525">
                <a:noFill/>
                <a:miter lim="800000"/>
                <a:headEnd/>
                <a:tailEnd/>
              </a:ln>
            </p:spPr>
            <p:txBody>
              <a:bodyPr/>
              <a:lstStyle/>
              <a:p>
                <a:endParaRPr lang="en-US"/>
              </a:p>
            </p:txBody>
          </p:sp>
          <p:sp>
            <p:nvSpPr>
              <p:cNvPr id="2475487" name="Rectangle 1503"/>
              <p:cNvSpPr>
                <a:spLocks noChangeArrowheads="1"/>
              </p:cNvSpPr>
              <p:nvPr/>
            </p:nvSpPr>
            <p:spPr bwMode="auto">
              <a:xfrm>
                <a:off x="472" y="795"/>
                <a:ext cx="10" cy="56"/>
              </a:xfrm>
              <a:prstGeom prst="rect">
                <a:avLst/>
              </a:prstGeom>
              <a:solidFill>
                <a:srgbClr val="CBCBCB"/>
              </a:solidFill>
              <a:ln w="9525">
                <a:noFill/>
                <a:miter lim="800000"/>
                <a:headEnd/>
                <a:tailEnd/>
              </a:ln>
            </p:spPr>
            <p:txBody>
              <a:bodyPr/>
              <a:lstStyle/>
              <a:p>
                <a:endParaRPr lang="en-US"/>
              </a:p>
            </p:txBody>
          </p:sp>
          <p:sp>
            <p:nvSpPr>
              <p:cNvPr id="2475488" name="Rectangle 1504"/>
              <p:cNvSpPr>
                <a:spLocks noChangeArrowheads="1"/>
              </p:cNvSpPr>
              <p:nvPr/>
            </p:nvSpPr>
            <p:spPr bwMode="auto">
              <a:xfrm>
                <a:off x="482" y="795"/>
                <a:ext cx="5" cy="56"/>
              </a:xfrm>
              <a:prstGeom prst="rect">
                <a:avLst/>
              </a:prstGeom>
              <a:solidFill>
                <a:srgbClr val="CCCCCC"/>
              </a:solidFill>
              <a:ln w="9525">
                <a:noFill/>
                <a:miter lim="800000"/>
                <a:headEnd/>
                <a:tailEnd/>
              </a:ln>
            </p:spPr>
            <p:txBody>
              <a:bodyPr/>
              <a:lstStyle/>
              <a:p>
                <a:endParaRPr lang="en-US"/>
              </a:p>
            </p:txBody>
          </p:sp>
          <p:sp>
            <p:nvSpPr>
              <p:cNvPr id="2475489" name="Rectangle 1505"/>
              <p:cNvSpPr>
                <a:spLocks noChangeArrowheads="1"/>
              </p:cNvSpPr>
              <p:nvPr/>
            </p:nvSpPr>
            <p:spPr bwMode="auto">
              <a:xfrm>
                <a:off x="487" y="795"/>
                <a:ext cx="10" cy="56"/>
              </a:xfrm>
              <a:prstGeom prst="rect">
                <a:avLst/>
              </a:prstGeom>
              <a:solidFill>
                <a:srgbClr val="CDCDCD"/>
              </a:solidFill>
              <a:ln w="9525">
                <a:noFill/>
                <a:miter lim="800000"/>
                <a:headEnd/>
                <a:tailEnd/>
              </a:ln>
            </p:spPr>
            <p:txBody>
              <a:bodyPr/>
              <a:lstStyle/>
              <a:p>
                <a:endParaRPr lang="en-US"/>
              </a:p>
            </p:txBody>
          </p:sp>
          <p:sp>
            <p:nvSpPr>
              <p:cNvPr id="2475490" name="Rectangle 1506"/>
              <p:cNvSpPr>
                <a:spLocks noChangeArrowheads="1"/>
              </p:cNvSpPr>
              <p:nvPr/>
            </p:nvSpPr>
            <p:spPr bwMode="auto">
              <a:xfrm>
                <a:off x="497" y="795"/>
                <a:ext cx="6" cy="56"/>
              </a:xfrm>
              <a:prstGeom prst="rect">
                <a:avLst/>
              </a:prstGeom>
              <a:solidFill>
                <a:srgbClr val="CECECE"/>
              </a:solidFill>
              <a:ln w="9525">
                <a:noFill/>
                <a:miter lim="800000"/>
                <a:headEnd/>
                <a:tailEnd/>
              </a:ln>
            </p:spPr>
            <p:txBody>
              <a:bodyPr/>
              <a:lstStyle/>
              <a:p>
                <a:endParaRPr lang="en-US"/>
              </a:p>
            </p:txBody>
          </p:sp>
          <p:sp>
            <p:nvSpPr>
              <p:cNvPr id="2475491" name="Rectangle 1507"/>
              <p:cNvSpPr>
                <a:spLocks noChangeArrowheads="1"/>
              </p:cNvSpPr>
              <p:nvPr/>
            </p:nvSpPr>
            <p:spPr bwMode="auto">
              <a:xfrm>
                <a:off x="503" y="795"/>
                <a:ext cx="5" cy="56"/>
              </a:xfrm>
              <a:prstGeom prst="rect">
                <a:avLst/>
              </a:prstGeom>
              <a:solidFill>
                <a:srgbClr val="CFCFCF"/>
              </a:solidFill>
              <a:ln w="9525">
                <a:noFill/>
                <a:miter lim="800000"/>
                <a:headEnd/>
                <a:tailEnd/>
              </a:ln>
            </p:spPr>
            <p:txBody>
              <a:bodyPr/>
              <a:lstStyle/>
              <a:p>
                <a:endParaRPr lang="en-US"/>
              </a:p>
            </p:txBody>
          </p:sp>
          <p:sp>
            <p:nvSpPr>
              <p:cNvPr id="2475492" name="Rectangle 1508"/>
              <p:cNvSpPr>
                <a:spLocks noChangeArrowheads="1"/>
              </p:cNvSpPr>
              <p:nvPr/>
            </p:nvSpPr>
            <p:spPr bwMode="auto">
              <a:xfrm>
                <a:off x="508" y="795"/>
                <a:ext cx="5" cy="56"/>
              </a:xfrm>
              <a:prstGeom prst="rect">
                <a:avLst/>
              </a:prstGeom>
              <a:solidFill>
                <a:srgbClr val="D0D0D0"/>
              </a:solidFill>
              <a:ln w="9525">
                <a:noFill/>
                <a:miter lim="800000"/>
                <a:headEnd/>
                <a:tailEnd/>
              </a:ln>
            </p:spPr>
            <p:txBody>
              <a:bodyPr/>
              <a:lstStyle/>
              <a:p>
                <a:endParaRPr lang="en-US"/>
              </a:p>
            </p:txBody>
          </p:sp>
          <p:sp>
            <p:nvSpPr>
              <p:cNvPr id="2475493" name="Rectangle 1509"/>
              <p:cNvSpPr>
                <a:spLocks noChangeArrowheads="1"/>
              </p:cNvSpPr>
              <p:nvPr/>
            </p:nvSpPr>
            <p:spPr bwMode="auto">
              <a:xfrm>
                <a:off x="513" y="795"/>
                <a:ext cx="10" cy="56"/>
              </a:xfrm>
              <a:prstGeom prst="rect">
                <a:avLst/>
              </a:prstGeom>
              <a:solidFill>
                <a:srgbClr val="D1D1D1"/>
              </a:solidFill>
              <a:ln w="9525">
                <a:noFill/>
                <a:miter lim="800000"/>
                <a:headEnd/>
                <a:tailEnd/>
              </a:ln>
            </p:spPr>
            <p:txBody>
              <a:bodyPr/>
              <a:lstStyle/>
              <a:p>
                <a:endParaRPr lang="en-US"/>
              </a:p>
            </p:txBody>
          </p:sp>
          <p:sp>
            <p:nvSpPr>
              <p:cNvPr id="2475494" name="Rectangle 1510"/>
              <p:cNvSpPr>
                <a:spLocks noChangeArrowheads="1"/>
              </p:cNvSpPr>
              <p:nvPr/>
            </p:nvSpPr>
            <p:spPr bwMode="auto">
              <a:xfrm>
                <a:off x="523" y="795"/>
                <a:ext cx="5" cy="56"/>
              </a:xfrm>
              <a:prstGeom prst="rect">
                <a:avLst/>
              </a:prstGeom>
              <a:solidFill>
                <a:srgbClr val="D2D2D2"/>
              </a:solidFill>
              <a:ln w="9525">
                <a:noFill/>
                <a:miter lim="800000"/>
                <a:headEnd/>
                <a:tailEnd/>
              </a:ln>
            </p:spPr>
            <p:txBody>
              <a:bodyPr/>
              <a:lstStyle/>
              <a:p>
                <a:endParaRPr lang="en-US"/>
              </a:p>
            </p:txBody>
          </p:sp>
          <p:sp>
            <p:nvSpPr>
              <p:cNvPr id="2475495" name="Rectangle 1511"/>
              <p:cNvSpPr>
                <a:spLocks noChangeArrowheads="1"/>
              </p:cNvSpPr>
              <p:nvPr/>
            </p:nvSpPr>
            <p:spPr bwMode="auto">
              <a:xfrm>
                <a:off x="528" y="795"/>
                <a:ext cx="10" cy="56"/>
              </a:xfrm>
              <a:prstGeom prst="rect">
                <a:avLst/>
              </a:prstGeom>
              <a:solidFill>
                <a:srgbClr val="D3D3D3"/>
              </a:solidFill>
              <a:ln w="9525">
                <a:noFill/>
                <a:miter lim="800000"/>
                <a:headEnd/>
                <a:tailEnd/>
              </a:ln>
            </p:spPr>
            <p:txBody>
              <a:bodyPr/>
              <a:lstStyle/>
              <a:p>
                <a:endParaRPr lang="en-US"/>
              </a:p>
            </p:txBody>
          </p:sp>
          <p:sp>
            <p:nvSpPr>
              <p:cNvPr id="2475496" name="Rectangle 1512"/>
              <p:cNvSpPr>
                <a:spLocks noChangeArrowheads="1"/>
              </p:cNvSpPr>
              <p:nvPr/>
            </p:nvSpPr>
            <p:spPr bwMode="auto">
              <a:xfrm>
                <a:off x="538" y="795"/>
                <a:ext cx="5" cy="56"/>
              </a:xfrm>
              <a:prstGeom prst="rect">
                <a:avLst/>
              </a:prstGeom>
              <a:solidFill>
                <a:srgbClr val="D4D4D4"/>
              </a:solidFill>
              <a:ln w="9525">
                <a:noFill/>
                <a:miter lim="800000"/>
                <a:headEnd/>
                <a:tailEnd/>
              </a:ln>
            </p:spPr>
            <p:txBody>
              <a:bodyPr/>
              <a:lstStyle/>
              <a:p>
                <a:endParaRPr lang="en-US"/>
              </a:p>
            </p:txBody>
          </p:sp>
          <p:sp>
            <p:nvSpPr>
              <p:cNvPr id="2475497" name="Rectangle 1513"/>
              <p:cNvSpPr>
                <a:spLocks noChangeArrowheads="1"/>
              </p:cNvSpPr>
              <p:nvPr/>
            </p:nvSpPr>
            <p:spPr bwMode="auto">
              <a:xfrm>
                <a:off x="543" y="795"/>
                <a:ext cx="10" cy="56"/>
              </a:xfrm>
              <a:prstGeom prst="rect">
                <a:avLst/>
              </a:prstGeom>
              <a:solidFill>
                <a:srgbClr val="D5D5D5"/>
              </a:solidFill>
              <a:ln w="9525">
                <a:noFill/>
                <a:miter lim="800000"/>
                <a:headEnd/>
                <a:tailEnd/>
              </a:ln>
            </p:spPr>
            <p:txBody>
              <a:bodyPr/>
              <a:lstStyle/>
              <a:p>
                <a:endParaRPr lang="en-US"/>
              </a:p>
            </p:txBody>
          </p:sp>
          <p:sp>
            <p:nvSpPr>
              <p:cNvPr id="2475498" name="Rectangle 1514"/>
              <p:cNvSpPr>
                <a:spLocks noChangeArrowheads="1"/>
              </p:cNvSpPr>
              <p:nvPr/>
            </p:nvSpPr>
            <p:spPr bwMode="auto">
              <a:xfrm>
                <a:off x="559" y="795"/>
                <a:ext cx="5" cy="56"/>
              </a:xfrm>
              <a:prstGeom prst="rect">
                <a:avLst/>
              </a:prstGeom>
              <a:solidFill>
                <a:srgbClr val="D7D7D7"/>
              </a:solidFill>
              <a:ln w="9525">
                <a:noFill/>
                <a:miter lim="800000"/>
                <a:headEnd/>
                <a:tailEnd/>
              </a:ln>
            </p:spPr>
            <p:txBody>
              <a:bodyPr/>
              <a:lstStyle/>
              <a:p>
                <a:endParaRPr lang="en-US"/>
              </a:p>
            </p:txBody>
          </p:sp>
          <p:sp>
            <p:nvSpPr>
              <p:cNvPr id="2475499" name="Rectangle 1515"/>
              <p:cNvSpPr>
                <a:spLocks noChangeArrowheads="1"/>
              </p:cNvSpPr>
              <p:nvPr/>
            </p:nvSpPr>
            <p:spPr bwMode="auto">
              <a:xfrm>
                <a:off x="564" y="795"/>
                <a:ext cx="5" cy="56"/>
              </a:xfrm>
              <a:prstGeom prst="rect">
                <a:avLst/>
              </a:prstGeom>
              <a:solidFill>
                <a:srgbClr val="D8D8D8"/>
              </a:solidFill>
              <a:ln w="9525">
                <a:noFill/>
                <a:miter lim="800000"/>
                <a:headEnd/>
                <a:tailEnd/>
              </a:ln>
            </p:spPr>
            <p:txBody>
              <a:bodyPr/>
              <a:lstStyle/>
              <a:p>
                <a:endParaRPr lang="en-US"/>
              </a:p>
            </p:txBody>
          </p:sp>
          <p:sp>
            <p:nvSpPr>
              <p:cNvPr id="2475500" name="Rectangle 1516"/>
              <p:cNvSpPr>
                <a:spLocks noChangeArrowheads="1"/>
              </p:cNvSpPr>
              <p:nvPr/>
            </p:nvSpPr>
            <p:spPr bwMode="auto">
              <a:xfrm>
                <a:off x="569" y="795"/>
                <a:ext cx="10" cy="56"/>
              </a:xfrm>
              <a:prstGeom prst="rect">
                <a:avLst/>
              </a:prstGeom>
              <a:solidFill>
                <a:srgbClr val="D9D9D9"/>
              </a:solidFill>
              <a:ln w="9525">
                <a:noFill/>
                <a:miter lim="800000"/>
                <a:headEnd/>
                <a:tailEnd/>
              </a:ln>
            </p:spPr>
            <p:txBody>
              <a:bodyPr/>
              <a:lstStyle/>
              <a:p>
                <a:endParaRPr lang="en-US"/>
              </a:p>
            </p:txBody>
          </p:sp>
          <p:sp>
            <p:nvSpPr>
              <p:cNvPr id="2475501" name="Rectangle 1517"/>
              <p:cNvSpPr>
                <a:spLocks noChangeArrowheads="1"/>
              </p:cNvSpPr>
              <p:nvPr/>
            </p:nvSpPr>
            <p:spPr bwMode="auto">
              <a:xfrm>
                <a:off x="579" y="795"/>
                <a:ext cx="5" cy="56"/>
              </a:xfrm>
              <a:prstGeom prst="rect">
                <a:avLst/>
              </a:prstGeom>
              <a:solidFill>
                <a:srgbClr val="DADADA"/>
              </a:solidFill>
              <a:ln w="9525">
                <a:noFill/>
                <a:miter lim="800000"/>
                <a:headEnd/>
                <a:tailEnd/>
              </a:ln>
            </p:spPr>
            <p:txBody>
              <a:bodyPr/>
              <a:lstStyle/>
              <a:p>
                <a:endParaRPr lang="en-US"/>
              </a:p>
            </p:txBody>
          </p:sp>
          <p:sp>
            <p:nvSpPr>
              <p:cNvPr id="2475502" name="Rectangle 1518"/>
              <p:cNvSpPr>
                <a:spLocks noChangeArrowheads="1"/>
              </p:cNvSpPr>
              <p:nvPr/>
            </p:nvSpPr>
            <p:spPr bwMode="auto">
              <a:xfrm>
                <a:off x="584" y="795"/>
                <a:ext cx="5" cy="56"/>
              </a:xfrm>
              <a:prstGeom prst="rect">
                <a:avLst/>
              </a:prstGeom>
              <a:solidFill>
                <a:srgbClr val="DBDBDB"/>
              </a:solidFill>
              <a:ln w="9525">
                <a:noFill/>
                <a:miter lim="800000"/>
                <a:headEnd/>
                <a:tailEnd/>
              </a:ln>
            </p:spPr>
            <p:txBody>
              <a:bodyPr/>
              <a:lstStyle/>
              <a:p>
                <a:endParaRPr lang="en-US"/>
              </a:p>
            </p:txBody>
          </p:sp>
          <p:sp>
            <p:nvSpPr>
              <p:cNvPr id="2475503" name="Rectangle 1519"/>
              <p:cNvSpPr>
                <a:spLocks noChangeArrowheads="1"/>
              </p:cNvSpPr>
              <p:nvPr/>
            </p:nvSpPr>
            <p:spPr bwMode="auto">
              <a:xfrm>
                <a:off x="589" y="795"/>
                <a:ext cx="5" cy="56"/>
              </a:xfrm>
              <a:prstGeom prst="rect">
                <a:avLst/>
              </a:prstGeom>
              <a:solidFill>
                <a:srgbClr val="DCDCDC"/>
              </a:solidFill>
              <a:ln w="9525">
                <a:noFill/>
                <a:miter lim="800000"/>
                <a:headEnd/>
                <a:tailEnd/>
              </a:ln>
            </p:spPr>
            <p:txBody>
              <a:bodyPr/>
              <a:lstStyle/>
              <a:p>
                <a:endParaRPr lang="en-US"/>
              </a:p>
            </p:txBody>
          </p:sp>
          <p:sp>
            <p:nvSpPr>
              <p:cNvPr id="2475504" name="Rectangle 1520"/>
              <p:cNvSpPr>
                <a:spLocks noChangeArrowheads="1"/>
              </p:cNvSpPr>
              <p:nvPr/>
            </p:nvSpPr>
            <p:spPr bwMode="auto">
              <a:xfrm>
                <a:off x="599" y="795"/>
                <a:ext cx="10" cy="56"/>
              </a:xfrm>
              <a:prstGeom prst="rect">
                <a:avLst/>
              </a:prstGeom>
              <a:solidFill>
                <a:srgbClr val="DEDEDE"/>
              </a:solidFill>
              <a:ln w="9525">
                <a:noFill/>
                <a:miter lim="800000"/>
                <a:headEnd/>
                <a:tailEnd/>
              </a:ln>
            </p:spPr>
            <p:txBody>
              <a:bodyPr/>
              <a:lstStyle/>
              <a:p>
                <a:endParaRPr lang="en-US"/>
              </a:p>
            </p:txBody>
          </p:sp>
          <p:sp>
            <p:nvSpPr>
              <p:cNvPr id="2475505" name="Rectangle 1521"/>
              <p:cNvSpPr>
                <a:spLocks noChangeArrowheads="1"/>
              </p:cNvSpPr>
              <p:nvPr/>
            </p:nvSpPr>
            <p:spPr bwMode="auto">
              <a:xfrm>
                <a:off x="609" y="795"/>
                <a:ext cx="6" cy="56"/>
              </a:xfrm>
              <a:prstGeom prst="rect">
                <a:avLst/>
              </a:prstGeom>
              <a:solidFill>
                <a:srgbClr val="DFDFDF"/>
              </a:solidFill>
              <a:ln w="9525">
                <a:noFill/>
                <a:miter lim="800000"/>
                <a:headEnd/>
                <a:tailEnd/>
              </a:ln>
            </p:spPr>
            <p:txBody>
              <a:bodyPr/>
              <a:lstStyle/>
              <a:p>
                <a:endParaRPr lang="en-US"/>
              </a:p>
            </p:txBody>
          </p:sp>
          <p:sp>
            <p:nvSpPr>
              <p:cNvPr id="2475506" name="Rectangle 1522"/>
              <p:cNvSpPr>
                <a:spLocks noChangeArrowheads="1"/>
              </p:cNvSpPr>
              <p:nvPr/>
            </p:nvSpPr>
            <p:spPr bwMode="auto">
              <a:xfrm>
                <a:off x="615" y="795"/>
                <a:ext cx="10" cy="56"/>
              </a:xfrm>
              <a:prstGeom prst="rect">
                <a:avLst/>
              </a:prstGeom>
              <a:solidFill>
                <a:srgbClr val="E0E0E0"/>
              </a:solidFill>
              <a:ln w="9525">
                <a:noFill/>
                <a:miter lim="800000"/>
                <a:headEnd/>
                <a:tailEnd/>
              </a:ln>
            </p:spPr>
            <p:txBody>
              <a:bodyPr/>
              <a:lstStyle/>
              <a:p>
                <a:endParaRPr lang="en-US"/>
              </a:p>
            </p:txBody>
          </p:sp>
          <p:sp>
            <p:nvSpPr>
              <p:cNvPr id="2475507" name="Rectangle 1523"/>
              <p:cNvSpPr>
                <a:spLocks noChangeArrowheads="1"/>
              </p:cNvSpPr>
              <p:nvPr/>
            </p:nvSpPr>
            <p:spPr bwMode="auto">
              <a:xfrm>
                <a:off x="625" y="795"/>
                <a:ext cx="5" cy="56"/>
              </a:xfrm>
              <a:prstGeom prst="rect">
                <a:avLst/>
              </a:prstGeom>
              <a:solidFill>
                <a:srgbClr val="E1E1E1"/>
              </a:solidFill>
              <a:ln w="9525">
                <a:noFill/>
                <a:miter lim="800000"/>
                <a:headEnd/>
                <a:tailEnd/>
              </a:ln>
            </p:spPr>
            <p:txBody>
              <a:bodyPr/>
              <a:lstStyle/>
              <a:p>
                <a:endParaRPr lang="en-US"/>
              </a:p>
            </p:txBody>
          </p:sp>
          <p:sp>
            <p:nvSpPr>
              <p:cNvPr id="2475508" name="Rectangle 1524"/>
              <p:cNvSpPr>
                <a:spLocks noChangeArrowheads="1"/>
              </p:cNvSpPr>
              <p:nvPr/>
            </p:nvSpPr>
            <p:spPr bwMode="auto">
              <a:xfrm>
                <a:off x="630" y="795"/>
                <a:ext cx="5" cy="56"/>
              </a:xfrm>
              <a:prstGeom prst="rect">
                <a:avLst/>
              </a:prstGeom>
              <a:solidFill>
                <a:srgbClr val="E2E2E2"/>
              </a:solidFill>
              <a:ln w="9525">
                <a:noFill/>
                <a:miter lim="800000"/>
                <a:headEnd/>
                <a:tailEnd/>
              </a:ln>
            </p:spPr>
            <p:txBody>
              <a:bodyPr/>
              <a:lstStyle/>
              <a:p>
                <a:endParaRPr lang="en-US"/>
              </a:p>
            </p:txBody>
          </p:sp>
          <p:sp>
            <p:nvSpPr>
              <p:cNvPr id="2475509" name="Rectangle 1525"/>
              <p:cNvSpPr>
                <a:spLocks noChangeArrowheads="1"/>
              </p:cNvSpPr>
              <p:nvPr/>
            </p:nvSpPr>
            <p:spPr bwMode="auto">
              <a:xfrm>
                <a:off x="635" y="795"/>
                <a:ext cx="5" cy="56"/>
              </a:xfrm>
              <a:prstGeom prst="rect">
                <a:avLst/>
              </a:prstGeom>
              <a:solidFill>
                <a:srgbClr val="E3E3E3"/>
              </a:solidFill>
              <a:ln w="9525">
                <a:noFill/>
                <a:miter lim="800000"/>
                <a:headEnd/>
                <a:tailEnd/>
              </a:ln>
            </p:spPr>
            <p:txBody>
              <a:bodyPr/>
              <a:lstStyle/>
              <a:p>
                <a:endParaRPr lang="en-US"/>
              </a:p>
            </p:txBody>
          </p:sp>
          <p:sp>
            <p:nvSpPr>
              <p:cNvPr id="2475510" name="Rectangle 1526"/>
              <p:cNvSpPr>
                <a:spLocks noChangeArrowheads="1"/>
              </p:cNvSpPr>
              <p:nvPr/>
            </p:nvSpPr>
            <p:spPr bwMode="auto">
              <a:xfrm>
                <a:off x="640" y="795"/>
                <a:ext cx="10" cy="56"/>
              </a:xfrm>
              <a:prstGeom prst="rect">
                <a:avLst/>
              </a:prstGeom>
              <a:solidFill>
                <a:srgbClr val="E4E4E4"/>
              </a:solidFill>
              <a:ln w="9525">
                <a:noFill/>
                <a:miter lim="800000"/>
                <a:headEnd/>
                <a:tailEnd/>
              </a:ln>
            </p:spPr>
            <p:txBody>
              <a:bodyPr/>
              <a:lstStyle/>
              <a:p>
                <a:endParaRPr lang="en-US"/>
              </a:p>
            </p:txBody>
          </p:sp>
          <p:sp>
            <p:nvSpPr>
              <p:cNvPr id="2475511" name="Rectangle 1527"/>
              <p:cNvSpPr>
                <a:spLocks noChangeArrowheads="1"/>
              </p:cNvSpPr>
              <p:nvPr/>
            </p:nvSpPr>
            <p:spPr bwMode="auto">
              <a:xfrm>
                <a:off x="650" y="795"/>
                <a:ext cx="5" cy="56"/>
              </a:xfrm>
              <a:prstGeom prst="rect">
                <a:avLst/>
              </a:prstGeom>
              <a:solidFill>
                <a:srgbClr val="E5E5E5"/>
              </a:solidFill>
              <a:ln w="9525">
                <a:noFill/>
                <a:miter lim="800000"/>
                <a:headEnd/>
                <a:tailEnd/>
              </a:ln>
            </p:spPr>
            <p:txBody>
              <a:bodyPr/>
              <a:lstStyle/>
              <a:p>
                <a:endParaRPr lang="en-US"/>
              </a:p>
            </p:txBody>
          </p:sp>
          <p:sp>
            <p:nvSpPr>
              <p:cNvPr id="2475512" name="Rectangle 1528"/>
              <p:cNvSpPr>
                <a:spLocks noChangeArrowheads="1"/>
              </p:cNvSpPr>
              <p:nvPr/>
            </p:nvSpPr>
            <p:spPr bwMode="auto">
              <a:xfrm>
                <a:off x="409" y="800"/>
                <a:ext cx="244" cy="46"/>
              </a:xfrm>
              <a:prstGeom prst="rect">
                <a:avLst/>
              </a:prstGeom>
              <a:noFill/>
              <a:ln w="3175" cap="rnd">
                <a:solidFill>
                  <a:srgbClr val="000000"/>
                </a:solidFill>
                <a:round/>
                <a:headEnd/>
                <a:tailEnd/>
              </a:ln>
            </p:spPr>
            <p:txBody>
              <a:bodyPr/>
              <a:lstStyle/>
              <a:p>
                <a:endParaRPr lang="en-US"/>
              </a:p>
            </p:txBody>
          </p:sp>
          <p:sp>
            <p:nvSpPr>
              <p:cNvPr id="2475513" name="Rectangle 1529"/>
              <p:cNvSpPr>
                <a:spLocks noChangeArrowheads="1"/>
              </p:cNvSpPr>
              <p:nvPr/>
            </p:nvSpPr>
            <p:spPr bwMode="auto">
              <a:xfrm>
                <a:off x="406" y="806"/>
                <a:ext cx="254" cy="5"/>
              </a:xfrm>
              <a:prstGeom prst="rect">
                <a:avLst/>
              </a:prstGeom>
              <a:solidFill>
                <a:srgbClr val="9F9F9F"/>
              </a:solidFill>
              <a:ln w="9525">
                <a:noFill/>
                <a:miter lim="800000"/>
                <a:headEnd/>
                <a:tailEnd/>
              </a:ln>
            </p:spPr>
            <p:txBody>
              <a:bodyPr/>
              <a:lstStyle/>
              <a:p>
                <a:endParaRPr lang="en-US"/>
              </a:p>
            </p:txBody>
          </p:sp>
          <p:sp>
            <p:nvSpPr>
              <p:cNvPr id="2475514" name="Rectangle 1530"/>
              <p:cNvSpPr>
                <a:spLocks noChangeArrowheads="1"/>
              </p:cNvSpPr>
              <p:nvPr/>
            </p:nvSpPr>
            <p:spPr bwMode="auto">
              <a:xfrm>
                <a:off x="406" y="811"/>
                <a:ext cx="254" cy="5"/>
              </a:xfrm>
              <a:prstGeom prst="rect">
                <a:avLst/>
              </a:prstGeom>
              <a:solidFill>
                <a:srgbClr val="C4C4C4"/>
              </a:solidFill>
              <a:ln w="9525">
                <a:noFill/>
                <a:miter lim="800000"/>
                <a:headEnd/>
                <a:tailEnd/>
              </a:ln>
            </p:spPr>
            <p:txBody>
              <a:bodyPr/>
              <a:lstStyle/>
              <a:p>
                <a:endParaRPr lang="en-US"/>
              </a:p>
            </p:txBody>
          </p:sp>
          <p:sp>
            <p:nvSpPr>
              <p:cNvPr id="2475515" name="Rectangle 1531"/>
              <p:cNvSpPr>
                <a:spLocks noChangeArrowheads="1"/>
              </p:cNvSpPr>
              <p:nvPr/>
            </p:nvSpPr>
            <p:spPr bwMode="auto">
              <a:xfrm>
                <a:off x="406" y="816"/>
                <a:ext cx="254" cy="5"/>
              </a:xfrm>
              <a:prstGeom prst="rect">
                <a:avLst/>
              </a:prstGeom>
              <a:solidFill>
                <a:srgbClr val="DBDBDB"/>
              </a:solidFill>
              <a:ln w="9525">
                <a:noFill/>
                <a:miter lim="800000"/>
                <a:headEnd/>
                <a:tailEnd/>
              </a:ln>
            </p:spPr>
            <p:txBody>
              <a:bodyPr/>
              <a:lstStyle/>
              <a:p>
                <a:endParaRPr lang="en-US"/>
              </a:p>
            </p:txBody>
          </p:sp>
          <p:sp>
            <p:nvSpPr>
              <p:cNvPr id="2475516" name="Rectangle 1532"/>
              <p:cNvSpPr>
                <a:spLocks noChangeArrowheads="1"/>
              </p:cNvSpPr>
              <p:nvPr/>
            </p:nvSpPr>
            <p:spPr bwMode="auto">
              <a:xfrm>
                <a:off x="411" y="811"/>
                <a:ext cx="240" cy="7"/>
              </a:xfrm>
              <a:prstGeom prst="rect">
                <a:avLst/>
              </a:prstGeom>
              <a:noFill/>
              <a:ln w="1588" cap="rnd">
                <a:solidFill>
                  <a:srgbClr val="000000"/>
                </a:solidFill>
                <a:round/>
                <a:headEnd/>
                <a:tailEnd/>
              </a:ln>
            </p:spPr>
            <p:txBody>
              <a:bodyPr/>
              <a:lstStyle/>
              <a:p>
                <a:endParaRPr lang="en-US"/>
              </a:p>
            </p:txBody>
          </p:sp>
          <p:sp>
            <p:nvSpPr>
              <p:cNvPr id="2475517" name="Rectangle 1533"/>
              <p:cNvSpPr>
                <a:spLocks noChangeArrowheads="1"/>
              </p:cNvSpPr>
              <p:nvPr/>
            </p:nvSpPr>
            <p:spPr bwMode="auto">
              <a:xfrm>
                <a:off x="431" y="811"/>
                <a:ext cx="42" cy="7"/>
              </a:xfrm>
              <a:prstGeom prst="rect">
                <a:avLst/>
              </a:prstGeom>
              <a:solidFill>
                <a:srgbClr val="000000"/>
              </a:solidFill>
              <a:ln w="9525">
                <a:noFill/>
                <a:miter lim="800000"/>
                <a:headEnd/>
                <a:tailEnd/>
              </a:ln>
            </p:spPr>
            <p:txBody>
              <a:bodyPr/>
              <a:lstStyle/>
              <a:p>
                <a:endParaRPr lang="en-US"/>
              </a:p>
            </p:txBody>
          </p:sp>
          <p:sp>
            <p:nvSpPr>
              <p:cNvPr id="2475518" name="Rectangle 1534"/>
              <p:cNvSpPr>
                <a:spLocks noChangeArrowheads="1"/>
              </p:cNvSpPr>
              <p:nvPr/>
            </p:nvSpPr>
            <p:spPr bwMode="auto">
              <a:xfrm>
                <a:off x="431" y="811"/>
                <a:ext cx="42" cy="7"/>
              </a:xfrm>
              <a:prstGeom prst="rect">
                <a:avLst/>
              </a:prstGeom>
              <a:noFill/>
              <a:ln w="1588" cap="rnd">
                <a:solidFill>
                  <a:srgbClr val="000000"/>
                </a:solidFill>
                <a:round/>
                <a:headEnd/>
                <a:tailEnd/>
              </a:ln>
            </p:spPr>
            <p:txBody>
              <a:bodyPr/>
              <a:lstStyle/>
              <a:p>
                <a:endParaRPr lang="en-US"/>
              </a:p>
            </p:txBody>
          </p:sp>
          <p:pic>
            <p:nvPicPr>
              <p:cNvPr id="2475519" name="Picture 1535"/>
              <p:cNvPicPr>
                <a:picLocks noChangeAspect="1" noChangeArrowheads="1"/>
              </p:cNvPicPr>
              <p:nvPr/>
            </p:nvPicPr>
            <p:blipFill>
              <a:blip r:embed="rId10" cstate="print"/>
              <a:srcRect/>
              <a:stretch>
                <a:fillRect/>
              </a:stretch>
            </p:blipFill>
            <p:spPr bwMode="auto">
              <a:xfrm>
                <a:off x="411" y="816"/>
                <a:ext cx="36" cy="35"/>
              </a:xfrm>
              <a:prstGeom prst="rect">
                <a:avLst/>
              </a:prstGeom>
              <a:noFill/>
              <a:ln w="9525">
                <a:noFill/>
                <a:miter lim="800000"/>
                <a:headEnd/>
                <a:tailEnd/>
              </a:ln>
            </p:spPr>
          </p:pic>
          <p:pic>
            <p:nvPicPr>
              <p:cNvPr id="2475520" name="Picture 1536"/>
              <p:cNvPicPr>
                <a:picLocks noChangeAspect="1" noChangeArrowheads="1"/>
              </p:cNvPicPr>
              <p:nvPr/>
            </p:nvPicPr>
            <p:blipFill>
              <a:blip r:embed="rId11" cstate="print"/>
              <a:srcRect/>
              <a:stretch>
                <a:fillRect/>
              </a:stretch>
            </p:blipFill>
            <p:spPr bwMode="auto">
              <a:xfrm>
                <a:off x="411" y="816"/>
                <a:ext cx="36" cy="35"/>
              </a:xfrm>
              <a:prstGeom prst="rect">
                <a:avLst/>
              </a:prstGeom>
              <a:noFill/>
              <a:ln w="9525">
                <a:noFill/>
                <a:miter lim="800000"/>
                <a:headEnd/>
                <a:tailEnd/>
              </a:ln>
            </p:spPr>
          </p:pic>
          <p:sp>
            <p:nvSpPr>
              <p:cNvPr id="2475521" name="Rectangle 1537"/>
              <p:cNvSpPr>
                <a:spLocks noChangeArrowheads="1"/>
              </p:cNvSpPr>
              <p:nvPr/>
            </p:nvSpPr>
            <p:spPr bwMode="auto">
              <a:xfrm>
                <a:off x="436" y="826"/>
                <a:ext cx="5" cy="20"/>
              </a:xfrm>
              <a:prstGeom prst="rect">
                <a:avLst/>
              </a:prstGeom>
              <a:solidFill>
                <a:srgbClr val="CBCABB"/>
              </a:solidFill>
              <a:ln w="9525">
                <a:noFill/>
                <a:miter lim="800000"/>
                <a:headEnd/>
                <a:tailEnd/>
              </a:ln>
            </p:spPr>
            <p:txBody>
              <a:bodyPr/>
              <a:lstStyle/>
              <a:p>
                <a:endParaRPr lang="en-US"/>
              </a:p>
            </p:txBody>
          </p:sp>
          <p:sp>
            <p:nvSpPr>
              <p:cNvPr id="2475522" name="Rectangle 1538"/>
              <p:cNvSpPr>
                <a:spLocks noChangeArrowheads="1"/>
              </p:cNvSpPr>
              <p:nvPr/>
            </p:nvSpPr>
            <p:spPr bwMode="auto">
              <a:xfrm>
                <a:off x="441" y="826"/>
                <a:ext cx="6" cy="20"/>
              </a:xfrm>
              <a:prstGeom prst="rect">
                <a:avLst/>
              </a:prstGeom>
              <a:solidFill>
                <a:srgbClr val="D8D7C4"/>
              </a:solidFill>
              <a:ln w="9525">
                <a:noFill/>
                <a:miter lim="800000"/>
                <a:headEnd/>
                <a:tailEnd/>
              </a:ln>
            </p:spPr>
            <p:txBody>
              <a:bodyPr/>
              <a:lstStyle/>
              <a:p>
                <a:endParaRPr lang="en-US"/>
              </a:p>
            </p:txBody>
          </p:sp>
          <p:sp>
            <p:nvSpPr>
              <p:cNvPr id="2475523" name="Rectangle 1539"/>
              <p:cNvSpPr>
                <a:spLocks noChangeArrowheads="1"/>
              </p:cNvSpPr>
              <p:nvPr/>
            </p:nvSpPr>
            <p:spPr bwMode="auto">
              <a:xfrm>
                <a:off x="452" y="826"/>
                <a:ext cx="5" cy="20"/>
              </a:xfrm>
              <a:prstGeom prst="rect">
                <a:avLst/>
              </a:prstGeom>
              <a:solidFill>
                <a:srgbClr val="B0B0AA"/>
              </a:solidFill>
              <a:ln w="9525">
                <a:noFill/>
                <a:miter lim="800000"/>
                <a:headEnd/>
                <a:tailEnd/>
              </a:ln>
            </p:spPr>
            <p:txBody>
              <a:bodyPr/>
              <a:lstStyle/>
              <a:p>
                <a:endParaRPr lang="en-US"/>
              </a:p>
            </p:txBody>
          </p:sp>
          <p:sp>
            <p:nvSpPr>
              <p:cNvPr id="2475524" name="Rectangle 1540"/>
              <p:cNvSpPr>
                <a:spLocks noChangeArrowheads="1"/>
              </p:cNvSpPr>
              <p:nvPr/>
            </p:nvSpPr>
            <p:spPr bwMode="auto">
              <a:xfrm>
                <a:off x="457" y="826"/>
                <a:ext cx="5" cy="20"/>
              </a:xfrm>
              <a:prstGeom prst="rect">
                <a:avLst/>
              </a:prstGeom>
              <a:solidFill>
                <a:srgbClr val="9D9D9C"/>
              </a:solidFill>
              <a:ln w="9525">
                <a:noFill/>
                <a:miter lim="800000"/>
                <a:headEnd/>
                <a:tailEnd/>
              </a:ln>
            </p:spPr>
            <p:txBody>
              <a:bodyPr/>
              <a:lstStyle/>
              <a:p>
                <a:endParaRPr lang="en-US"/>
              </a:p>
            </p:txBody>
          </p:sp>
          <p:sp>
            <p:nvSpPr>
              <p:cNvPr id="2475525" name="Rectangle 1541"/>
              <p:cNvSpPr>
                <a:spLocks noChangeArrowheads="1"/>
              </p:cNvSpPr>
              <p:nvPr/>
            </p:nvSpPr>
            <p:spPr bwMode="auto">
              <a:xfrm>
                <a:off x="462" y="826"/>
                <a:ext cx="5" cy="20"/>
              </a:xfrm>
              <a:prstGeom prst="rect">
                <a:avLst/>
              </a:prstGeom>
              <a:solidFill>
                <a:srgbClr val="AAAAA5"/>
              </a:solidFill>
              <a:ln w="9525">
                <a:noFill/>
                <a:miter lim="800000"/>
                <a:headEnd/>
                <a:tailEnd/>
              </a:ln>
            </p:spPr>
            <p:txBody>
              <a:bodyPr/>
              <a:lstStyle/>
              <a:p>
                <a:endParaRPr lang="en-US"/>
              </a:p>
            </p:txBody>
          </p:sp>
          <p:pic>
            <p:nvPicPr>
              <p:cNvPr id="2475526" name="Picture 1542"/>
              <p:cNvPicPr>
                <a:picLocks noChangeAspect="1" noChangeArrowheads="1"/>
              </p:cNvPicPr>
              <p:nvPr/>
            </p:nvPicPr>
            <p:blipFill>
              <a:blip r:embed="rId12" cstate="print"/>
              <a:srcRect/>
              <a:stretch>
                <a:fillRect/>
              </a:stretch>
            </p:blipFill>
            <p:spPr bwMode="auto">
              <a:xfrm>
                <a:off x="411" y="816"/>
                <a:ext cx="30" cy="30"/>
              </a:xfrm>
              <a:prstGeom prst="rect">
                <a:avLst/>
              </a:prstGeom>
              <a:noFill/>
              <a:ln w="9525">
                <a:noFill/>
                <a:miter lim="800000"/>
                <a:headEnd/>
                <a:tailEnd/>
              </a:ln>
            </p:spPr>
          </p:pic>
          <p:pic>
            <p:nvPicPr>
              <p:cNvPr id="2475527" name="Picture 1543"/>
              <p:cNvPicPr>
                <a:picLocks noChangeAspect="1" noChangeArrowheads="1"/>
              </p:cNvPicPr>
              <p:nvPr/>
            </p:nvPicPr>
            <p:blipFill>
              <a:blip r:embed="rId13" cstate="print"/>
              <a:srcRect/>
              <a:stretch>
                <a:fillRect/>
              </a:stretch>
            </p:blipFill>
            <p:spPr bwMode="auto">
              <a:xfrm>
                <a:off x="411" y="816"/>
                <a:ext cx="30" cy="30"/>
              </a:xfrm>
              <a:prstGeom prst="rect">
                <a:avLst/>
              </a:prstGeom>
              <a:noFill/>
              <a:ln w="9525">
                <a:noFill/>
                <a:miter lim="800000"/>
                <a:headEnd/>
                <a:tailEnd/>
              </a:ln>
            </p:spPr>
          </p:pic>
          <p:sp>
            <p:nvSpPr>
              <p:cNvPr id="2475528" name="Freeform 1544"/>
              <p:cNvSpPr>
                <a:spLocks/>
              </p:cNvSpPr>
              <p:nvPr/>
            </p:nvSpPr>
            <p:spPr bwMode="auto">
              <a:xfrm>
                <a:off x="426" y="831"/>
                <a:ext cx="2" cy="2"/>
              </a:xfrm>
              <a:custGeom>
                <a:avLst/>
                <a:gdLst/>
                <a:ahLst/>
                <a:cxnLst>
                  <a:cxn ang="0">
                    <a:pos x="1" y="2"/>
                  </a:cxn>
                  <a:cxn ang="0">
                    <a:pos x="2" y="1"/>
                  </a:cxn>
                  <a:cxn ang="0">
                    <a:pos x="1" y="0"/>
                  </a:cxn>
                  <a:cxn ang="0">
                    <a:pos x="0" y="1"/>
                  </a:cxn>
                  <a:cxn ang="0">
                    <a:pos x="1" y="2"/>
                  </a:cxn>
                </a:cxnLst>
                <a:rect l="0" t="0" r="r" b="b"/>
                <a:pathLst>
                  <a:path w="2" h="2">
                    <a:moveTo>
                      <a:pt x="1" y="2"/>
                    </a:moveTo>
                    <a:lnTo>
                      <a:pt x="2" y="1"/>
                    </a:lnTo>
                    <a:lnTo>
                      <a:pt x="1" y="0"/>
                    </a:lnTo>
                    <a:lnTo>
                      <a:pt x="0" y="1"/>
                    </a:lnTo>
                    <a:lnTo>
                      <a:pt x="1" y="2"/>
                    </a:lnTo>
                    <a:close/>
                  </a:path>
                </a:pathLst>
              </a:custGeom>
              <a:solidFill>
                <a:srgbClr val="00FF00"/>
              </a:solidFill>
              <a:ln w="9525">
                <a:noFill/>
                <a:round/>
                <a:headEnd/>
                <a:tailEnd/>
              </a:ln>
            </p:spPr>
            <p:txBody>
              <a:bodyPr/>
              <a:lstStyle/>
              <a:p>
                <a:endParaRPr lang="en-US"/>
              </a:p>
            </p:txBody>
          </p:sp>
          <p:sp>
            <p:nvSpPr>
              <p:cNvPr id="2475529" name="Freeform 1545"/>
              <p:cNvSpPr>
                <a:spLocks/>
              </p:cNvSpPr>
              <p:nvPr/>
            </p:nvSpPr>
            <p:spPr bwMode="auto">
              <a:xfrm>
                <a:off x="426" y="831"/>
                <a:ext cx="2" cy="2"/>
              </a:xfrm>
              <a:custGeom>
                <a:avLst/>
                <a:gdLst/>
                <a:ahLst/>
                <a:cxnLst>
                  <a:cxn ang="0">
                    <a:pos x="1" y="2"/>
                  </a:cxn>
                  <a:cxn ang="0">
                    <a:pos x="2" y="1"/>
                  </a:cxn>
                  <a:cxn ang="0">
                    <a:pos x="1" y="0"/>
                  </a:cxn>
                  <a:cxn ang="0">
                    <a:pos x="0" y="1"/>
                  </a:cxn>
                  <a:cxn ang="0">
                    <a:pos x="1" y="2"/>
                  </a:cxn>
                </a:cxnLst>
                <a:rect l="0" t="0" r="r" b="b"/>
                <a:pathLst>
                  <a:path w="2" h="2">
                    <a:moveTo>
                      <a:pt x="1" y="2"/>
                    </a:moveTo>
                    <a:lnTo>
                      <a:pt x="2" y="1"/>
                    </a:lnTo>
                    <a:lnTo>
                      <a:pt x="1" y="0"/>
                    </a:lnTo>
                    <a:lnTo>
                      <a:pt x="0" y="1"/>
                    </a:lnTo>
                    <a:lnTo>
                      <a:pt x="1" y="2"/>
                    </a:lnTo>
                    <a:close/>
                  </a:path>
                </a:pathLst>
              </a:custGeom>
              <a:noFill/>
              <a:ln w="3175" cap="flat">
                <a:solidFill>
                  <a:srgbClr val="00FF00"/>
                </a:solidFill>
                <a:prstDash val="solid"/>
                <a:miter lim="800000"/>
                <a:headEnd/>
                <a:tailEnd/>
              </a:ln>
            </p:spPr>
            <p:txBody>
              <a:bodyPr/>
              <a:lstStyle/>
              <a:p>
                <a:endParaRPr lang="en-US"/>
              </a:p>
            </p:txBody>
          </p:sp>
          <p:sp>
            <p:nvSpPr>
              <p:cNvPr id="2475530" name="Freeform 1546"/>
              <p:cNvSpPr>
                <a:spLocks/>
              </p:cNvSpPr>
              <p:nvPr/>
            </p:nvSpPr>
            <p:spPr bwMode="auto">
              <a:xfrm>
                <a:off x="646" y="563"/>
                <a:ext cx="38" cy="225"/>
              </a:xfrm>
              <a:custGeom>
                <a:avLst/>
                <a:gdLst/>
                <a:ahLst/>
                <a:cxnLst>
                  <a:cxn ang="0">
                    <a:pos x="0" y="225"/>
                  </a:cxn>
                  <a:cxn ang="0">
                    <a:pos x="28" y="197"/>
                  </a:cxn>
                  <a:cxn ang="0">
                    <a:pos x="28" y="144"/>
                  </a:cxn>
                  <a:cxn ang="0">
                    <a:pos x="38" y="115"/>
                  </a:cxn>
                  <a:cxn ang="0">
                    <a:pos x="38" y="0"/>
                  </a:cxn>
                  <a:cxn ang="0">
                    <a:pos x="0" y="38"/>
                  </a:cxn>
                  <a:cxn ang="0">
                    <a:pos x="0" y="225"/>
                  </a:cxn>
                </a:cxnLst>
                <a:rect l="0" t="0" r="r" b="b"/>
                <a:pathLst>
                  <a:path w="38" h="225">
                    <a:moveTo>
                      <a:pt x="0" y="225"/>
                    </a:moveTo>
                    <a:lnTo>
                      <a:pt x="28" y="197"/>
                    </a:lnTo>
                    <a:lnTo>
                      <a:pt x="28" y="144"/>
                    </a:lnTo>
                    <a:lnTo>
                      <a:pt x="38" y="115"/>
                    </a:lnTo>
                    <a:lnTo>
                      <a:pt x="38" y="0"/>
                    </a:lnTo>
                    <a:lnTo>
                      <a:pt x="0" y="38"/>
                    </a:lnTo>
                    <a:lnTo>
                      <a:pt x="0" y="225"/>
                    </a:lnTo>
                    <a:close/>
                  </a:path>
                </a:pathLst>
              </a:custGeom>
              <a:solidFill>
                <a:srgbClr val="9A9A9A"/>
              </a:solidFill>
              <a:ln w="9525">
                <a:noFill/>
                <a:round/>
                <a:headEnd/>
                <a:tailEnd/>
              </a:ln>
            </p:spPr>
            <p:txBody>
              <a:bodyPr/>
              <a:lstStyle/>
              <a:p>
                <a:endParaRPr lang="en-US"/>
              </a:p>
            </p:txBody>
          </p:sp>
          <p:sp>
            <p:nvSpPr>
              <p:cNvPr id="2475531" name="Freeform 1547"/>
              <p:cNvSpPr>
                <a:spLocks/>
              </p:cNvSpPr>
              <p:nvPr/>
            </p:nvSpPr>
            <p:spPr bwMode="auto">
              <a:xfrm>
                <a:off x="416" y="563"/>
                <a:ext cx="268" cy="38"/>
              </a:xfrm>
              <a:custGeom>
                <a:avLst/>
                <a:gdLst/>
                <a:ahLst/>
                <a:cxnLst>
                  <a:cxn ang="0">
                    <a:pos x="268" y="0"/>
                  </a:cxn>
                  <a:cxn ang="0">
                    <a:pos x="38" y="0"/>
                  </a:cxn>
                  <a:cxn ang="0">
                    <a:pos x="0" y="38"/>
                  </a:cxn>
                  <a:cxn ang="0">
                    <a:pos x="230" y="38"/>
                  </a:cxn>
                  <a:cxn ang="0">
                    <a:pos x="268" y="0"/>
                  </a:cxn>
                </a:cxnLst>
                <a:rect l="0" t="0" r="r" b="b"/>
                <a:pathLst>
                  <a:path w="268" h="38">
                    <a:moveTo>
                      <a:pt x="268" y="0"/>
                    </a:moveTo>
                    <a:lnTo>
                      <a:pt x="38" y="0"/>
                    </a:lnTo>
                    <a:lnTo>
                      <a:pt x="0" y="38"/>
                    </a:lnTo>
                    <a:lnTo>
                      <a:pt x="230" y="38"/>
                    </a:lnTo>
                    <a:lnTo>
                      <a:pt x="268" y="0"/>
                    </a:lnTo>
                    <a:close/>
                  </a:path>
                </a:pathLst>
              </a:custGeom>
              <a:solidFill>
                <a:srgbClr val="E6E6E6"/>
              </a:solidFill>
              <a:ln w="9525">
                <a:noFill/>
                <a:round/>
                <a:headEnd/>
                <a:tailEnd/>
              </a:ln>
            </p:spPr>
            <p:txBody>
              <a:bodyPr/>
              <a:lstStyle/>
              <a:p>
                <a:endParaRPr lang="en-US"/>
              </a:p>
            </p:txBody>
          </p:sp>
          <p:sp>
            <p:nvSpPr>
              <p:cNvPr id="2475532" name="Rectangle 1548"/>
              <p:cNvSpPr>
                <a:spLocks noChangeArrowheads="1"/>
              </p:cNvSpPr>
              <p:nvPr/>
            </p:nvSpPr>
            <p:spPr bwMode="auto">
              <a:xfrm>
                <a:off x="416" y="601"/>
                <a:ext cx="230" cy="187"/>
              </a:xfrm>
              <a:prstGeom prst="rect">
                <a:avLst/>
              </a:prstGeom>
              <a:solidFill>
                <a:srgbClr val="C0C0C0"/>
              </a:solidFill>
              <a:ln w="9525">
                <a:noFill/>
                <a:miter lim="800000"/>
                <a:headEnd/>
                <a:tailEnd/>
              </a:ln>
            </p:spPr>
            <p:txBody>
              <a:bodyPr/>
              <a:lstStyle/>
              <a:p>
                <a:endParaRPr lang="en-US"/>
              </a:p>
            </p:txBody>
          </p:sp>
          <p:sp>
            <p:nvSpPr>
              <p:cNvPr id="2475533" name="Rectangle 1549"/>
              <p:cNvSpPr>
                <a:spLocks noChangeArrowheads="1"/>
              </p:cNvSpPr>
              <p:nvPr/>
            </p:nvSpPr>
            <p:spPr bwMode="auto">
              <a:xfrm>
                <a:off x="416" y="601"/>
                <a:ext cx="230" cy="187"/>
              </a:xfrm>
              <a:prstGeom prst="rect">
                <a:avLst/>
              </a:prstGeom>
              <a:noFill/>
              <a:ln w="3175" cap="rnd">
                <a:solidFill>
                  <a:srgbClr val="000000"/>
                </a:solidFill>
                <a:round/>
                <a:headEnd/>
                <a:tailEnd/>
              </a:ln>
            </p:spPr>
            <p:txBody>
              <a:bodyPr/>
              <a:lstStyle/>
              <a:p>
                <a:endParaRPr lang="en-US"/>
              </a:p>
            </p:txBody>
          </p:sp>
          <p:sp>
            <p:nvSpPr>
              <p:cNvPr id="2475534" name="Rectangle 1550"/>
              <p:cNvSpPr>
                <a:spLocks noChangeArrowheads="1"/>
              </p:cNvSpPr>
              <p:nvPr/>
            </p:nvSpPr>
            <p:spPr bwMode="auto">
              <a:xfrm>
                <a:off x="623" y="765"/>
                <a:ext cx="11" cy="5"/>
              </a:xfrm>
              <a:prstGeom prst="rect">
                <a:avLst/>
              </a:prstGeom>
              <a:solidFill>
                <a:srgbClr val="00FF00"/>
              </a:solidFill>
              <a:ln w="9525">
                <a:noFill/>
                <a:miter lim="800000"/>
                <a:headEnd/>
                <a:tailEnd/>
              </a:ln>
            </p:spPr>
            <p:txBody>
              <a:bodyPr/>
              <a:lstStyle/>
              <a:p>
                <a:endParaRPr lang="en-US"/>
              </a:p>
            </p:txBody>
          </p:sp>
          <p:pic>
            <p:nvPicPr>
              <p:cNvPr id="2475535" name="Picture 1551"/>
              <p:cNvPicPr>
                <a:picLocks noChangeAspect="1" noChangeArrowheads="1"/>
              </p:cNvPicPr>
              <p:nvPr/>
            </p:nvPicPr>
            <p:blipFill>
              <a:blip r:embed="rId14" cstate="print"/>
              <a:srcRect/>
              <a:stretch>
                <a:fillRect/>
              </a:stretch>
            </p:blipFill>
            <p:spPr bwMode="auto">
              <a:xfrm>
                <a:off x="436" y="622"/>
                <a:ext cx="179" cy="132"/>
              </a:xfrm>
              <a:prstGeom prst="rect">
                <a:avLst/>
              </a:prstGeom>
              <a:noFill/>
              <a:ln w="9525">
                <a:noFill/>
                <a:miter lim="800000"/>
                <a:headEnd/>
                <a:tailEnd/>
              </a:ln>
            </p:spPr>
          </p:pic>
          <p:pic>
            <p:nvPicPr>
              <p:cNvPr id="2475536" name="Picture 1552"/>
              <p:cNvPicPr>
                <a:picLocks noChangeAspect="1" noChangeArrowheads="1"/>
              </p:cNvPicPr>
              <p:nvPr/>
            </p:nvPicPr>
            <p:blipFill>
              <a:blip r:embed="rId15" cstate="print"/>
              <a:srcRect/>
              <a:stretch>
                <a:fillRect/>
              </a:stretch>
            </p:blipFill>
            <p:spPr bwMode="auto">
              <a:xfrm>
                <a:off x="436" y="622"/>
                <a:ext cx="179" cy="132"/>
              </a:xfrm>
              <a:prstGeom prst="rect">
                <a:avLst/>
              </a:prstGeom>
              <a:noFill/>
              <a:ln w="9525">
                <a:noFill/>
                <a:miter lim="800000"/>
                <a:headEnd/>
                <a:tailEnd/>
              </a:ln>
            </p:spPr>
          </p:pic>
          <p:sp>
            <p:nvSpPr>
              <p:cNvPr id="2475537" name="Freeform 1553"/>
              <p:cNvSpPr>
                <a:spLocks noEditPoints="1"/>
              </p:cNvSpPr>
              <p:nvPr/>
            </p:nvSpPr>
            <p:spPr bwMode="auto">
              <a:xfrm>
                <a:off x="437" y="821"/>
                <a:ext cx="205" cy="20"/>
              </a:xfrm>
              <a:custGeom>
                <a:avLst/>
                <a:gdLst/>
                <a:ahLst/>
                <a:cxnLst>
                  <a:cxn ang="0">
                    <a:pos x="140" y="3"/>
                  </a:cxn>
                  <a:cxn ang="0">
                    <a:pos x="161" y="0"/>
                  </a:cxn>
                  <a:cxn ang="0">
                    <a:pos x="161" y="7"/>
                  </a:cxn>
                  <a:cxn ang="0">
                    <a:pos x="174" y="3"/>
                  </a:cxn>
                  <a:cxn ang="0">
                    <a:pos x="196" y="0"/>
                  </a:cxn>
                  <a:cxn ang="0">
                    <a:pos x="196" y="7"/>
                  </a:cxn>
                  <a:cxn ang="0">
                    <a:pos x="122" y="3"/>
                  </a:cxn>
                  <a:cxn ang="0">
                    <a:pos x="92" y="0"/>
                  </a:cxn>
                  <a:cxn ang="0">
                    <a:pos x="92" y="7"/>
                  </a:cxn>
                  <a:cxn ang="0">
                    <a:pos x="105" y="3"/>
                  </a:cxn>
                  <a:cxn ang="0">
                    <a:pos x="39" y="0"/>
                  </a:cxn>
                  <a:cxn ang="0">
                    <a:pos x="39" y="7"/>
                  </a:cxn>
                  <a:cxn ang="0">
                    <a:pos x="52" y="3"/>
                  </a:cxn>
                  <a:cxn ang="0">
                    <a:pos x="74" y="0"/>
                  </a:cxn>
                  <a:cxn ang="0">
                    <a:pos x="74" y="7"/>
                  </a:cxn>
                  <a:cxn ang="0">
                    <a:pos x="48" y="16"/>
                  </a:cxn>
                  <a:cxn ang="0">
                    <a:pos x="188" y="13"/>
                  </a:cxn>
                  <a:cxn ang="0">
                    <a:pos x="188" y="20"/>
                  </a:cxn>
                  <a:cxn ang="0">
                    <a:pos x="201" y="16"/>
                  </a:cxn>
                  <a:cxn ang="0">
                    <a:pos x="155" y="13"/>
                  </a:cxn>
                  <a:cxn ang="0">
                    <a:pos x="155" y="20"/>
                  </a:cxn>
                  <a:cxn ang="0">
                    <a:pos x="168" y="16"/>
                  </a:cxn>
                  <a:cxn ang="0">
                    <a:pos x="85" y="13"/>
                  </a:cxn>
                  <a:cxn ang="0">
                    <a:pos x="85" y="20"/>
                  </a:cxn>
                  <a:cxn ang="0">
                    <a:pos x="98" y="16"/>
                  </a:cxn>
                  <a:cxn ang="0">
                    <a:pos x="120" y="13"/>
                  </a:cxn>
                  <a:cxn ang="0">
                    <a:pos x="120" y="20"/>
                  </a:cxn>
                  <a:cxn ang="0">
                    <a:pos x="133" y="16"/>
                  </a:cxn>
                  <a:cxn ang="0">
                    <a:pos x="67" y="13"/>
                  </a:cxn>
                  <a:cxn ang="0">
                    <a:pos x="67" y="20"/>
                  </a:cxn>
                  <a:cxn ang="0">
                    <a:pos x="17" y="3"/>
                  </a:cxn>
                  <a:cxn ang="0">
                    <a:pos x="4" y="0"/>
                  </a:cxn>
                  <a:cxn ang="0">
                    <a:pos x="4" y="7"/>
                  </a:cxn>
                </a:cxnLst>
                <a:rect l="0" t="0" r="r" b="b"/>
                <a:pathLst>
                  <a:path w="205" h="20">
                    <a:moveTo>
                      <a:pt x="144" y="0"/>
                    </a:moveTo>
                    <a:lnTo>
                      <a:pt x="140" y="3"/>
                    </a:lnTo>
                    <a:lnTo>
                      <a:pt x="144" y="7"/>
                    </a:lnTo>
                    <a:moveTo>
                      <a:pt x="161" y="0"/>
                    </a:moveTo>
                    <a:lnTo>
                      <a:pt x="157" y="3"/>
                    </a:lnTo>
                    <a:lnTo>
                      <a:pt x="161" y="7"/>
                    </a:lnTo>
                    <a:moveTo>
                      <a:pt x="179" y="0"/>
                    </a:moveTo>
                    <a:lnTo>
                      <a:pt x="174" y="3"/>
                    </a:lnTo>
                    <a:lnTo>
                      <a:pt x="179" y="7"/>
                    </a:lnTo>
                    <a:moveTo>
                      <a:pt x="196" y="0"/>
                    </a:moveTo>
                    <a:lnTo>
                      <a:pt x="192" y="3"/>
                    </a:lnTo>
                    <a:lnTo>
                      <a:pt x="196" y="7"/>
                    </a:lnTo>
                    <a:moveTo>
                      <a:pt x="127" y="0"/>
                    </a:moveTo>
                    <a:lnTo>
                      <a:pt x="122" y="3"/>
                    </a:lnTo>
                    <a:lnTo>
                      <a:pt x="127" y="7"/>
                    </a:lnTo>
                    <a:moveTo>
                      <a:pt x="92" y="0"/>
                    </a:moveTo>
                    <a:lnTo>
                      <a:pt x="87" y="3"/>
                    </a:lnTo>
                    <a:lnTo>
                      <a:pt x="92" y="7"/>
                    </a:lnTo>
                    <a:moveTo>
                      <a:pt x="109" y="0"/>
                    </a:moveTo>
                    <a:lnTo>
                      <a:pt x="105" y="3"/>
                    </a:lnTo>
                    <a:lnTo>
                      <a:pt x="109" y="7"/>
                    </a:lnTo>
                    <a:moveTo>
                      <a:pt x="39" y="0"/>
                    </a:moveTo>
                    <a:lnTo>
                      <a:pt x="35" y="3"/>
                    </a:lnTo>
                    <a:lnTo>
                      <a:pt x="39" y="7"/>
                    </a:lnTo>
                    <a:moveTo>
                      <a:pt x="57" y="0"/>
                    </a:moveTo>
                    <a:lnTo>
                      <a:pt x="52" y="3"/>
                    </a:lnTo>
                    <a:lnTo>
                      <a:pt x="57" y="7"/>
                    </a:lnTo>
                    <a:moveTo>
                      <a:pt x="74" y="0"/>
                    </a:moveTo>
                    <a:lnTo>
                      <a:pt x="70" y="3"/>
                    </a:lnTo>
                    <a:lnTo>
                      <a:pt x="74" y="7"/>
                    </a:lnTo>
                    <a:moveTo>
                      <a:pt x="52" y="13"/>
                    </a:moveTo>
                    <a:lnTo>
                      <a:pt x="48" y="16"/>
                    </a:lnTo>
                    <a:lnTo>
                      <a:pt x="52" y="20"/>
                    </a:lnTo>
                    <a:moveTo>
                      <a:pt x="188" y="13"/>
                    </a:moveTo>
                    <a:lnTo>
                      <a:pt x="183" y="16"/>
                    </a:lnTo>
                    <a:lnTo>
                      <a:pt x="188" y="20"/>
                    </a:lnTo>
                    <a:moveTo>
                      <a:pt x="205" y="13"/>
                    </a:moveTo>
                    <a:lnTo>
                      <a:pt x="201" y="16"/>
                    </a:lnTo>
                    <a:lnTo>
                      <a:pt x="205" y="20"/>
                    </a:lnTo>
                    <a:moveTo>
                      <a:pt x="155" y="13"/>
                    </a:moveTo>
                    <a:lnTo>
                      <a:pt x="151" y="16"/>
                    </a:lnTo>
                    <a:lnTo>
                      <a:pt x="155" y="20"/>
                    </a:lnTo>
                    <a:moveTo>
                      <a:pt x="172" y="13"/>
                    </a:moveTo>
                    <a:lnTo>
                      <a:pt x="168" y="16"/>
                    </a:lnTo>
                    <a:lnTo>
                      <a:pt x="172" y="20"/>
                    </a:lnTo>
                    <a:moveTo>
                      <a:pt x="85" y="13"/>
                    </a:moveTo>
                    <a:lnTo>
                      <a:pt x="81" y="16"/>
                    </a:lnTo>
                    <a:lnTo>
                      <a:pt x="85" y="20"/>
                    </a:lnTo>
                    <a:moveTo>
                      <a:pt x="102" y="13"/>
                    </a:moveTo>
                    <a:lnTo>
                      <a:pt x="98" y="16"/>
                    </a:lnTo>
                    <a:lnTo>
                      <a:pt x="102" y="20"/>
                    </a:lnTo>
                    <a:moveTo>
                      <a:pt x="120" y="13"/>
                    </a:moveTo>
                    <a:lnTo>
                      <a:pt x="116" y="16"/>
                    </a:lnTo>
                    <a:lnTo>
                      <a:pt x="120" y="20"/>
                    </a:lnTo>
                    <a:moveTo>
                      <a:pt x="137" y="13"/>
                    </a:moveTo>
                    <a:lnTo>
                      <a:pt x="133" y="16"/>
                    </a:lnTo>
                    <a:lnTo>
                      <a:pt x="137" y="20"/>
                    </a:lnTo>
                    <a:moveTo>
                      <a:pt x="67" y="13"/>
                    </a:moveTo>
                    <a:lnTo>
                      <a:pt x="63" y="16"/>
                    </a:lnTo>
                    <a:lnTo>
                      <a:pt x="67" y="20"/>
                    </a:lnTo>
                    <a:moveTo>
                      <a:pt x="22" y="0"/>
                    </a:moveTo>
                    <a:lnTo>
                      <a:pt x="17" y="3"/>
                    </a:lnTo>
                    <a:lnTo>
                      <a:pt x="22" y="7"/>
                    </a:lnTo>
                    <a:moveTo>
                      <a:pt x="4" y="0"/>
                    </a:moveTo>
                    <a:lnTo>
                      <a:pt x="0" y="3"/>
                    </a:lnTo>
                    <a:lnTo>
                      <a:pt x="4" y="7"/>
                    </a:lnTo>
                  </a:path>
                </a:pathLst>
              </a:custGeom>
              <a:noFill/>
              <a:ln w="3175" cap="rnd">
                <a:solidFill>
                  <a:srgbClr val="B3B3B3"/>
                </a:solidFill>
                <a:prstDash val="solid"/>
                <a:round/>
                <a:headEnd/>
                <a:tailEnd/>
              </a:ln>
            </p:spPr>
            <p:txBody>
              <a:bodyPr/>
              <a:lstStyle/>
              <a:p>
                <a:endParaRPr lang="en-US"/>
              </a:p>
            </p:txBody>
          </p:sp>
          <p:pic>
            <p:nvPicPr>
              <p:cNvPr id="2475538" name="Picture 1554"/>
              <p:cNvPicPr>
                <a:picLocks noChangeAspect="1" noChangeArrowheads="1"/>
              </p:cNvPicPr>
              <p:nvPr/>
            </p:nvPicPr>
            <p:blipFill>
              <a:blip r:embed="rId16" cstate="print"/>
              <a:srcRect/>
              <a:stretch>
                <a:fillRect/>
              </a:stretch>
            </p:blipFill>
            <p:spPr bwMode="auto">
              <a:xfrm>
                <a:off x="431" y="611"/>
                <a:ext cx="199" cy="154"/>
              </a:xfrm>
              <a:prstGeom prst="rect">
                <a:avLst/>
              </a:prstGeom>
              <a:noFill/>
              <a:ln w="9525">
                <a:noFill/>
                <a:miter lim="800000"/>
                <a:headEnd/>
                <a:tailEnd/>
              </a:ln>
            </p:spPr>
          </p:pic>
          <p:pic>
            <p:nvPicPr>
              <p:cNvPr id="2475539" name="Picture 1555"/>
              <p:cNvPicPr>
                <a:picLocks noChangeAspect="1" noChangeArrowheads="1"/>
              </p:cNvPicPr>
              <p:nvPr/>
            </p:nvPicPr>
            <p:blipFill>
              <a:blip r:embed="rId17" cstate="print"/>
              <a:srcRect/>
              <a:stretch>
                <a:fillRect/>
              </a:stretch>
            </p:blipFill>
            <p:spPr bwMode="auto">
              <a:xfrm>
                <a:off x="431" y="611"/>
                <a:ext cx="199" cy="154"/>
              </a:xfrm>
              <a:prstGeom prst="rect">
                <a:avLst/>
              </a:prstGeom>
              <a:noFill/>
              <a:ln w="9525">
                <a:noFill/>
                <a:miter lim="800000"/>
                <a:headEnd/>
                <a:tailEnd/>
              </a:ln>
            </p:spPr>
          </p:pic>
          <p:sp>
            <p:nvSpPr>
              <p:cNvPr id="2475540" name="Freeform 1556"/>
              <p:cNvSpPr>
                <a:spLocks noEditPoints="1"/>
              </p:cNvSpPr>
              <p:nvPr/>
            </p:nvSpPr>
            <p:spPr bwMode="auto">
              <a:xfrm>
                <a:off x="416" y="776"/>
                <a:ext cx="230" cy="12"/>
              </a:xfrm>
              <a:custGeom>
                <a:avLst/>
                <a:gdLst/>
                <a:ahLst/>
                <a:cxnLst>
                  <a:cxn ang="0">
                    <a:pos x="63" y="0"/>
                  </a:cxn>
                  <a:cxn ang="0">
                    <a:pos x="63" y="12"/>
                  </a:cxn>
                  <a:cxn ang="0">
                    <a:pos x="35" y="0"/>
                  </a:cxn>
                  <a:cxn ang="0">
                    <a:pos x="35" y="12"/>
                  </a:cxn>
                  <a:cxn ang="0">
                    <a:pos x="0" y="0"/>
                  </a:cxn>
                  <a:cxn ang="0">
                    <a:pos x="230" y="0"/>
                  </a:cxn>
                </a:cxnLst>
                <a:rect l="0" t="0" r="r" b="b"/>
                <a:pathLst>
                  <a:path w="230" h="12">
                    <a:moveTo>
                      <a:pt x="63" y="0"/>
                    </a:moveTo>
                    <a:lnTo>
                      <a:pt x="63" y="12"/>
                    </a:lnTo>
                    <a:moveTo>
                      <a:pt x="35" y="0"/>
                    </a:moveTo>
                    <a:lnTo>
                      <a:pt x="35" y="12"/>
                    </a:lnTo>
                    <a:moveTo>
                      <a:pt x="0" y="0"/>
                    </a:moveTo>
                    <a:lnTo>
                      <a:pt x="230" y="0"/>
                    </a:lnTo>
                  </a:path>
                </a:pathLst>
              </a:custGeom>
              <a:noFill/>
              <a:ln w="3175" cap="rnd">
                <a:solidFill>
                  <a:srgbClr val="000000"/>
                </a:solidFill>
                <a:prstDash val="solid"/>
                <a:round/>
                <a:headEnd/>
                <a:tailEnd/>
              </a:ln>
            </p:spPr>
            <p:txBody>
              <a:bodyPr/>
              <a:lstStyle/>
              <a:p>
                <a:endParaRPr lang="en-US"/>
              </a:p>
            </p:txBody>
          </p:sp>
          <p:sp>
            <p:nvSpPr>
              <p:cNvPr id="2475541" name="Freeform 1557"/>
              <p:cNvSpPr>
                <a:spLocks/>
              </p:cNvSpPr>
              <p:nvPr/>
            </p:nvSpPr>
            <p:spPr bwMode="auto">
              <a:xfrm>
                <a:off x="409" y="563"/>
                <a:ext cx="275" cy="283"/>
              </a:xfrm>
              <a:custGeom>
                <a:avLst/>
                <a:gdLst/>
                <a:ahLst/>
                <a:cxnLst>
                  <a:cxn ang="0">
                    <a:pos x="0" y="283"/>
                  </a:cxn>
                  <a:cxn ang="0">
                    <a:pos x="0" y="237"/>
                  </a:cxn>
                  <a:cxn ang="0">
                    <a:pos x="11" y="226"/>
                  </a:cxn>
                  <a:cxn ang="0">
                    <a:pos x="7" y="226"/>
                  </a:cxn>
                  <a:cxn ang="0">
                    <a:pos x="7" y="38"/>
                  </a:cxn>
                  <a:cxn ang="0">
                    <a:pos x="45" y="0"/>
                  </a:cxn>
                  <a:cxn ang="0">
                    <a:pos x="275" y="0"/>
                  </a:cxn>
                  <a:cxn ang="0">
                    <a:pos x="275" y="117"/>
                  </a:cxn>
                  <a:cxn ang="0">
                    <a:pos x="265" y="144"/>
                  </a:cxn>
                  <a:cxn ang="0">
                    <a:pos x="265" y="195"/>
                  </a:cxn>
                  <a:cxn ang="0">
                    <a:pos x="256" y="207"/>
                  </a:cxn>
                  <a:cxn ang="0">
                    <a:pos x="275" y="207"/>
                  </a:cxn>
                  <a:cxn ang="0">
                    <a:pos x="275" y="253"/>
                  </a:cxn>
                  <a:cxn ang="0">
                    <a:pos x="244" y="283"/>
                  </a:cxn>
                  <a:cxn ang="0">
                    <a:pos x="0" y="283"/>
                  </a:cxn>
                </a:cxnLst>
                <a:rect l="0" t="0" r="r" b="b"/>
                <a:pathLst>
                  <a:path w="275" h="283">
                    <a:moveTo>
                      <a:pt x="0" y="283"/>
                    </a:moveTo>
                    <a:lnTo>
                      <a:pt x="0" y="237"/>
                    </a:lnTo>
                    <a:lnTo>
                      <a:pt x="11" y="226"/>
                    </a:lnTo>
                    <a:lnTo>
                      <a:pt x="7" y="226"/>
                    </a:lnTo>
                    <a:lnTo>
                      <a:pt x="7" y="38"/>
                    </a:lnTo>
                    <a:lnTo>
                      <a:pt x="45" y="0"/>
                    </a:lnTo>
                    <a:lnTo>
                      <a:pt x="275" y="0"/>
                    </a:lnTo>
                    <a:lnTo>
                      <a:pt x="275" y="117"/>
                    </a:lnTo>
                    <a:lnTo>
                      <a:pt x="265" y="144"/>
                    </a:lnTo>
                    <a:lnTo>
                      <a:pt x="265" y="195"/>
                    </a:lnTo>
                    <a:lnTo>
                      <a:pt x="256" y="207"/>
                    </a:lnTo>
                    <a:lnTo>
                      <a:pt x="275" y="207"/>
                    </a:lnTo>
                    <a:lnTo>
                      <a:pt x="275" y="253"/>
                    </a:lnTo>
                    <a:lnTo>
                      <a:pt x="244" y="283"/>
                    </a:lnTo>
                    <a:lnTo>
                      <a:pt x="0" y="283"/>
                    </a:lnTo>
                    <a:close/>
                  </a:path>
                </a:pathLst>
              </a:custGeom>
              <a:noFill/>
              <a:ln w="7938" cap="rnd">
                <a:solidFill>
                  <a:srgbClr val="000000"/>
                </a:solidFill>
                <a:prstDash val="solid"/>
                <a:round/>
                <a:headEnd/>
                <a:tailEnd/>
              </a:ln>
            </p:spPr>
            <p:txBody>
              <a:bodyPr/>
              <a:lstStyle/>
              <a:p>
                <a:endParaRPr lang="en-US"/>
              </a:p>
            </p:txBody>
          </p:sp>
          <p:sp>
            <p:nvSpPr>
              <p:cNvPr id="2475542" name="Rectangle 1558"/>
              <p:cNvSpPr>
                <a:spLocks noChangeArrowheads="1"/>
              </p:cNvSpPr>
              <p:nvPr/>
            </p:nvSpPr>
            <p:spPr bwMode="auto">
              <a:xfrm>
                <a:off x="400" y="857"/>
                <a:ext cx="296" cy="67"/>
              </a:xfrm>
              <a:prstGeom prst="rect">
                <a:avLst/>
              </a:prstGeom>
              <a:noFill/>
              <a:ln w="9525">
                <a:noFill/>
                <a:miter lim="800000"/>
                <a:headEnd/>
                <a:tailEnd/>
              </a:ln>
            </p:spPr>
            <p:txBody>
              <a:bodyPr wrap="none" lIns="0" tIns="0" rIns="0" bIns="0">
                <a:spAutoFit/>
              </a:bodyPr>
              <a:lstStyle/>
              <a:p>
                <a:r>
                  <a:rPr lang="en-US" sz="700">
                    <a:solidFill>
                      <a:srgbClr val="000000"/>
                    </a:solidFill>
                  </a:rPr>
                  <a:t>Workstation</a:t>
                </a:r>
                <a:endParaRPr lang="en-US" sz="1200"/>
              </a:p>
            </p:txBody>
          </p:sp>
        </p:grpSp>
        <p:sp>
          <p:nvSpPr>
            <p:cNvPr id="2475545" name="Line 1561"/>
            <p:cNvSpPr>
              <a:spLocks noChangeShapeType="1"/>
            </p:cNvSpPr>
            <p:nvPr/>
          </p:nvSpPr>
          <p:spPr bwMode="auto">
            <a:xfrm>
              <a:off x="375" y="2157"/>
              <a:ext cx="168" cy="0"/>
            </a:xfrm>
            <a:prstGeom prst="line">
              <a:avLst/>
            </a:prstGeom>
            <a:noFill/>
            <a:ln w="6350">
              <a:solidFill>
                <a:schemeClr val="tx1"/>
              </a:solidFill>
              <a:round/>
              <a:headEnd type="triangle" w="med" len="sm"/>
              <a:tailEnd type="triangle" w="med" len="sm"/>
            </a:ln>
            <a:effectLst/>
          </p:spPr>
          <p:txBody>
            <a:bodyPr/>
            <a:lstStyle/>
            <a:p>
              <a:endParaRPr lang="en-US"/>
            </a:p>
          </p:txBody>
        </p:sp>
      </p:grpSp>
      <p:grpSp>
        <p:nvGrpSpPr>
          <p:cNvPr id="2475558" name="Group 1574"/>
          <p:cNvGrpSpPr>
            <a:grpSpLocks/>
          </p:cNvGrpSpPr>
          <p:nvPr/>
        </p:nvGrpSpPr>
        <p:grpSpPr bwMode="auto">
          <a:xfrm>
            <a:off x="1392238" y="2703513"/>
            <a:ext cx="925512" cy="760412"/>
            <a:chOff x="877" y="1942"/>
            <a:chExt cx="583" cy="479"/>
          </a:xfrm>
        </p:grpSpPr>
        <p:sp>
          <p:nvSpPr>
            <p:cNvPr id="2475557" name="Line 1573"/>
            <p:cNvSpPr>
              <a:spLocks noChangeShapeType="1"/>
            </p:cNvSpPr>
            <p:nvPr/>
          </p:nvSpPr>
          <p:spPr bwMode="auto">
            <a:xfrm>
              <a:off x="877" y="2163"/>
              <a:ext cx="583"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2475406" name="Freeform 1422"/>
            <p:cNvSpPr>
              <a:spLocks/>
            </p:cNvSpPr>
            <p:nvPr/>
          </p:nvSpPr>
          <p:spPr bwMode="auto">
            <a:xfrm>
              <a:off x="1062" y="1958"/>
              <a:ext cx="153"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solidFill>
              <a:srgbClr val="D0624F"/>
            </a:solidFill>
            <a:ln w="9525">
              <a:noFill/>
              <a:round/>
              <a:headEnd/>
              <a:tailEnd/>
            </a:ln>
          </p:spPr>
          <p:txBody>
            <a:bodyPr/>
            <a:lstStyle/>
            <a:p>
              <a:endParaRPr lang="en-US"/>
            </a:p>
          </p:txBody>
        </p:sp>
        <p:sp>
          <p:nvSpPr>
            <p:cNvPr id="2475407" name="Freeform 1423"/>
            <p:cNvSpPr>
              <a:spLocks/>
            </p:cNvSpPr>
            <p:nvPr/>
          </p:nvSpPr>
          <p:spPr bwMode="auto">
            <a:xfrm>
              <a:off x="1062" y="1958"/>
              <a:ext cx="153"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noFill/>
            <a:ln w="7938" cap="rnd">
              <a:solidFill>
                <a:srgbClr val="CDCDCD"/>
              </a:solidFill>
              <a:prstDash val="solid"/>
              <a:round/>
              <a:headEnd/>
              <a:tailEnd/>
            </a:ln>
          </p:spPr>
          <p:txBody>
            <a:bodyPr/>
            <a:lstStyle/>
            <a:p>
              <a:endParaRPr lang="en-US"/>
            </a:p>
          </p:txBody>
        </p:sp>
        <p:sp>
          <p:nvSpPr>
            <p:cNvPr id="2475408" name="Freeform 1424"/>
            <p:cNvSpPr>
              <a:spLocks noEditPoints="1"/>
            </p:cNvSpPr>
            <p:nvPr/>
          </p:nvSpPr>
          <p:spPr bwMode="auto">
            <a:xfrm>
              <a:off x="1032" y="1977"/>
              <a:ext cx="183" cy="326"/>
            </a:xfrm>
            <a:custGeom>
              <a:avLst/>
              <a:gdLst/>
              <a:ahLst/>
              <a:cxnLst>
                <a:cxn ang="0">
                  <a:pos x="30" y="172"/>
                </a:cxn>
                <a:cxn ang="0">
                  <a:pos x="50" y="153"/>
                </a:cxn>
                <a:cxn ang="0">
                  <a:pos x="69" y="134"/>
                </a:cxn>
                <a:cxn ang="0">
                  <a:pos x="88" y="115"/>
                </a:cxn>
                <a:cxn ang="0">
                  <a:pos x="107" y="96"/>
                </a:cxn>
                <a:cxn ang="0">
                  <a:pos x="126" y="77"/>
                </a:cxn>
                <a:cxn ang="0">
                  <a:pos x="145" y="57"/>
                </a:cxn>
                <a:cxn ang="0">
                  <a:pos x="0" y="211"/>
                </a:cxn>
                <a:cxn ang="0">
                  <a:pos x="50" y="191"/>
                </a:cxn>
                <a:cxn ang="0">
                  <a:pos x="69" y="172"/>
                </a:cxn>
                <a:cxn ang="0">
                  <a:pos x="88" y="153"/>
                </a:cxn>
                <a:cxn ang="0">
                  <a:pos x="107" y="134"/>
                </a:cxn>
                <a:cxn ang="0">
                  <a:pos x="126" y="115"/>
                </a:cxn>
                <a:cxn ang="0">
                  <a:pos x="145" y="96"/>
                </a:cxn>
                <a:cxn ang="0">
                  <a:pos x="164" y="77"/>
                </a:cxn>
                <a:cxn ang="0">
                  <a:pos x="183" y="57"/>
                </a:cxn>
                <a:cxn ang="0">
                  <a:pos x="30" y="249"/>
                </a:cxn>
                <a:cxn ang="0">
                  <a:pos x="50" y="230"/>
                </a:cxn>
                <a:cxn ang="0">
                  <a:pos x="69" y="211"/>
                </a:cxn>
                <a:cxn ang="0">
                  <a:pos x="88" y="191"/>
                </a:cxn>
                <a:cxn ang="0">
                  <a:pos x="107" y="172"/>
                </a:cxn>
                <a:cxn ang="0">
                  <a:pos x="126" y="153"/>
                </a:cxn>
                <a:cxn ang="0">
                  <a:pos x="145" y="134"/>
                </a:cxn>
                <a:cxn ang="0">
                  <a:pos x="164" y="115"/>
                </a:cxn>
                <a:cxn ang="0">
                  <a:pos x="0" y="287"/>
                </a:cxn>
                <a:cxn ang="0">
                  <a:pos x="50" y="268"/>
                </a:cxn>
                <a:cxn ang="0">
                  <a:pos x="69" y="249"/>
                </a:cxn>
                <a:cxn ang="0">
                  <a:pos x="88" y="230"/>
                </a:cxn>
                <a:cxn ang="0">
                  <a:pos x="107" y="211"/>
                </a:cxn>
                <a:cxn ang="0">
                  <a:pos x="126" y="191"/>
                </a:cxn>
                <a:cxn ang="0">
                  <a:pos x="145" y="172"/>
                </a:cxn>
                <a:cxn ang="0">
                  <a:pos x="164" y="153"/>
                </a:cxn>
                <a:cxn ang="0">
                  <a:pos x="183" y="134"/>
                </a:cxn>
                <a:cxn ang="0">
                  <a:pos x="30" y="326"/>
                </a:cxn>
                <a:cxn ang="0">
                  <a:pos x="50" y="306"/>
                </a:cxn>
                <a:cxn ang="0">
                  <a:pos x="69" y="287"/>
                </a:cxn>
                <a:cxn ang="0">
                  <a:pos x="88" y="268"/>
                </a:cxn>
                <a:cxn ang="0">
                  <a:pos x="107" y="249"/>
                </a:cxn>
                <a:cxn ang="0">
                  <a:pos x="126" y="230"/>
                </a:cxn>
                <a:cxn ang="0">
                  <a:pos x="145" y="211"/>
                </a:cxn>
                <a:cxn ang="0">
                  <a:pos x="164" y="191"/>
                </a:cxn>
                <a:cxn ang="0">
                  <a:pos x="50" y="153"/>
                </a:cxn>
                <a:cxn ang="0">
                  <a:pos x="50" y="230"/>
                </a:cxn>
                <a:cxn ang="0">
                  <a:pos x="50" y="306"/>
                </a:cxn>
                <a:cxn ang="0">
                  <a:pos x="69" y="326"/>
                </a:cxn>
                <a:cxn ang="0">
                  <a:pos x="69" y="172"/>
                </a:cxn>
                <a:cxn ang="0">
                  <a:pos x="69" y="249"/>
                </a:cxn>
                <a:cxn ang="0">
                  <a:pos x="88" y="115"/>
                </a:cxn>
                <a:cxn ang="0">
                  <a:pos x="88" y="191"/>
                </a:cxn>
                <a:cxn ang="0">
                  <a:pos x="88" y="268"/>
                </a:cxn>
                <a:cxn ang="0">
                  <a:pos x="107" y="287"/>
                </a:cxn>
                <a:cxn ang="0">
                  <a:pos x="107" y="134"/>
                </a:cxn>
                <a:cxn ang="0">
                  <a:pos x="107" y="211"/>
                </a:cxn>
                <a:cxn ang="0">
                  <a:pos x="126" y="77"/>
                </a:cxn>
                <a:cxn ang="0">
                  <a:pos x="126" y="153"/>
                </a:cxn>
                <a:cxn ang="0">
                  <a:pos x="126" y="230"/>
                </a:cxn>
                <a:cxn ang="0">
                  <a:pos x="145" y="249"/>
                </a:cxn>
                <a:cxn ang="0">
                  <a:pos x="145" y="96"/>
                </a:cxn>
                <a:cxn ang="0">
                  <a:pos x="145" y="172"/>
                </a:cxn>
                <a:cxn ang="0">
                  <a:pos x="164" y="115"/>
                </a:cxn>
                <a:cxn ang="0">
                  <a:pos x="164" y="191"/>
                </a:cxn>
                <a:cxn ang="0">
                  <a:pos x="164" y="38"/>
                </a:cxn>
                <a:cxn ang="0">
                  <a:pos x="164" y="38"/>
                </a:cxn>
              </a:cxnLst>
              <a:rect l="0" t="0" r="r" b="b"/>
              <a:pathLst>
                <a:path w="183" h="326">
                  <a:moveTo>
                    <a:pt x="0" y="172"/>
                  </a:moveTo>
                  <a:lnTo>
                    <a:pt x="30" y="172"/>
                  </a:lnTo>
                  <a:lnTo>
                    <a:pt x="50" y="153"/>
                  </a:lnTo>
                  <a:moveTo>
                    <a:pt x="50" y="153"/>
                  </a:moveTo>
                  <a:lnTo>
                    <a:pt x="69" y="134"/>
                  </a:lnTo>
                  <a:moveTo>
                    <a:pt x="69" y="134"/>
                  </a:moveTo>
                  <a:lnTo>
                    <a:pt x="88" y="115"/>
                  </a:lnTo>
                  <a:moveTo>
                    <a:pt x="88" y="115"/>
                  </a:moveTo>
                  <a:lnTo>
                    <a:pt x="107" y="96"/>
                  </a:lnTo>
                  <a:moveTo>
                    <a:pt x="107" y="96"/>
                  </a:moveTo>
                  <a:lnTo>
                    <a:pt x="126" y="77"/>
                  </a:lnTo>
                  <a:moveTo>
                    <a:pt x="126" y="77"/>
                  </a:moveTo>
                  <a:lnTo>
                    <a:pt x="145" y="57"/>
                  </a:lnTo>
                  <a:moveTo>
                    <a:pt x="145" y="57"/>
                  </a:moveTo>
                  <a:lnTo>
                    <a:pt x="164" y="38"/>
                  </a:lnTo>
                  <a:moveTo>
                    <a:pt x="0" y="211"/>
                  </a:moveTo>
                  <a:lnTo>
                    <a:pt x="30" y="211"/>
                  </a:lnTo>
                  <a:lnTo>
                    <a:pt x="50" y="191"/>
                  </a:lnTo>
                  <a:moveTo>
                    <a:pt x="50" y="191"/>
                  </a:moveTo>
                  <a:lnTo>
                    <a:pt x="69" y="172"/>
                  </a:lnTo>
                  <a:moveTo>
                    <a:pt x="69" y="172"/>
                  </a:moveTo>
                  <a:lnTo>
                    <a:pt x="88" y="153"/>
                  </a:lnTo>
                  <a:moveTo>
                    <a:pt x="88" y="153"/>
                  </a:moveTo>
                  <a:lnTo>
                    <a:pt x="107" y="134"/>
                  </a:lnTo>
                  <a:moveTo>
                    <a:pt x="107" y="134"/>
                  </a:moveTo>
                  <a:lnTo>
                    <a:pt x="126" y="115"/>
                  </a:lnTo>
                  <a:moveTo>
                    <a:pt x="126" y="115"/>
                  </a:moveTo>
                  <a:lnTo>
                    <a:pt x="145" y="96"/>
                  </a:lnTo>
                  <a:moveTo>
                    <a:pt x="145" y="96"/>
                  </a:moveTo>
                  <a:lnTo>
                    <a:pt x="164" y="77"/>
                  </a:lnTo>
                  <a:moveTo>
                    <a:pt x="164" y="77"/>
                  </a:moveTo>
                  <a:lnTo>
                    <a:pt x="183" y="57"/>
                  </a:lnTo>
                  <a:moveTo>
                    <a:pt x="0" y="249"/>
                  </a:moveTo>
                  <a:lnTo>
                    <a:pt x="30" y="249"/>
                  </a:lnTo>
                  <a:lnTo>
                    <a:pt x="50" y="230"/>
                  </a:lnTo>
                  <a:moveTo>
                    <a:pt x="50" y="230"/>
                  </a:moveTo>
                  <a:lnTo>
                    <a:pt x="69" y="211"/>
                  </a:lnTo>
                  <a:moveTo>
                    <a:pt x="69" y="211"/>
                  </a:moveTo>
                  <a:lnTo>
                    <a:pt x="88" y="191"/>
                  </a:lnTo>
                  <a:moveTo>
                    <a:pt x="88" y="191"/>
                  </a:moveTo>
                  <a:lnTo>
                    <a:pt x="107" y="172"/>
                  </a:lnTo>
                  <a:moveTo>
                    <a:pt x="107" y="172"/>
                  </a:moveTo>
                  <a:lnTo>
                    <a:pt x="126" y="153"/>
                  </a:lnTo>
                  <a:moveTo>
                    <a:pt x="126" y="153"/>
                  </a:moveTo>
                  <a:lnTo>
                    <a:pt x="145" y="134"/>
                  </a:lnTo>
                  <a:moveTo>
                    <a:pt x="145" y="134"/>
                  </a:moveTo>
                  <a:lnTo>
                    <a:pt x="164" y="115"/>
                  </a:lnTo>
                  <a:moveTo>
                    <a:pt x="164" y="115"/>
                  </a:moveTo>
                  <a:lnTo>
                    <a:pt x="183" y="96"/>
                  </a:lnTo>
                  <a:moveTo>
                    <a:pt x="0" y="287"/>
                  </a:moveTo>
                  <a:lnTo>
                    <a:pt x="30" y="287"/>
                  </a:lnTo>
                  <a:lnTo>
                    <a:pt x="50" y="268"/>
                  </a:lnTo>
                  <a:moveTo>
                    <a:pt x="50" y="268"/>
                  </a:moveTo>
                  <a:lnTo>
                    <a:pt x="69" y="249"/>
                  </a:lnTo>
                  <a:moveTo>
                    <a:pt x="69" y="249"/>
                  </a:moveTo>
                  <a:lnTo>
                    <a:pt x="88" y="230"/>
                  </a:lnTo>
                  <a:moveTo>
                    <a:pt x="88" y="230"/>
                  </a:moveTo>
                  <a:lnTo>
                    <a:pt x="107" y="211"/>
                  </a:lnTo>
                  <a:moveTo>
                    <a:pt x="107" y="211"/>
                  </a:moveTo>
                  <a:lnTo>
                    <a:pt x="126" y="191"/>
                  </a:lnTo>
                  <a:moveTo>
                    <a:pt x="126" y="191"/>
                  </a:moveTo>
                  <a:lnTo>
                    <a:pt x="145" y="172"/>
                  </a:lnTo>
                  <a:moveTo>
                    <a:pt x="145" y="172"/>
                  </a:moveTo>
                  <a:lnTo>
                    <a:pt x="164" y="153"/>
                  </a:lnTo>
                  <a:moveTo>
                    <a:pt x="164" y="153"/>
                  </a:moveTo>
                  <a:lnTo>
                    <a:pt x="183" y="134"/>
                  </a:lnTo>
                  <a:moveTo>
                    <a:pt x="0" y="326"/>
                  </a:moveTo>
                  <a:lnTo>
                    <a:pt x="30" y="326"/>
                  </a:lnTo>
                  <a:lnTo>
                    <a:pt x="50" y="306"/>
                  </a:lnTo>
                  <a:moveTo>
                    <a:pt x="50" y="306"/>
                  </a:moveTo>
                  <a:lnTo>
                    <a:pt x="69" y="287"/>
                  </a:lnTo>
                  <a:moveTo>
                    <a:pt x="69" y="287"/>
                  </a:moveTo>
                  <a:lnTo>
                    <a:pt x="88" y="268"/>
                  </a:lnTo>
                  <a:moveTo>
                    <a:pt x="88" y="268"/>
                  </a:moveTo>
                  <a:lnTo>
                    <a:pt x="107" y="249"/>
                  </a:lnTo>
                  <a:moveTo>
                    <a:pt x="107" y="249"/>
                  </a:moveTo>
                  <a:lnTo>
                    <a:pt x="126" y="230"/>
                  </a:lnTo>
                  <a:moveTo>
                    <a:pt x="126" y="230"/>
                  </a:moveTo>
                  <a:lnTo>
                    <a:pt x="145" y="211"/>
                  </a:lnTo>
                  <a:moveTo>
                    <a:pt x="145" y="211"/>
                  </a:moveTo>
                  <a:lnTo>
                    <a:pt x="164" y="191"/>
                  </a:lnTo>
                  <a:moveTo>
                    <a:pt x="164" y="191"/>
                  </a:moveTo>
                  <a:lnTo>
                    <a:pt x="183" y="172"/>
                  </a:lnTo>
                  <a:moveTo>
                    <a:pt x="50" y="153"/>
                  </a:moveTo>
                  <a:lnTo>
                    <a:pt x="50" y="115"/>
                  </a:lnTo>
                  <a:moveTo>
                    <a:pt x="50" y="230"/>
                  </a:moveTo>
                  <a:lnTo>
                    <a:pt x="50" y="191"/>
                  </a:lnTo>
                  <a:moveTo>
                    <a:pt x="50" y="306"/>
                  </a:moveTo>
                  <a:lnTo>
                    <a:pt x="50" y="268"/>
                  </a:lnTo>
                  <a:moveTo>
                    <a:pt x="69" y="326"/>
                  </a:moveTo>
                  <a:lnTo>
                    <a:pt x="69" y="287"/>
                  </a:lnTo>
                  <a:moveTo>
                    <a:pt x="69" y="172"/>
                  </a:moveTo>
                  <a:lnTo>
                    <a:pt x="69" y="134"/>
                  </a:lnTo>
                  <a:moveTo>
                    <a:pt x="69" y="249"/>
                  </a:moveTo>
                  <a:lnTo>
                    <a:pt x="69" y="211"/>
                  </a:lnTo>
                  <a:moveTo>
                    <a:pt x="88" y="115"/>
                  </a:moveTo>
                  <a:lnTo>
                    <a:pt x="88" y="77"/>
                  </a:lnTo>
                  <a:moveTo>
                    <a:pt x="88" y="191"/>
                  </a:moveTo>
                  <a:lnTo>
                    <a:pt x="88" y="153"/>
                  </a:lnTo>
                  <a:moveTo>
                    <a:pt x="88" y="268"/>
                  </a:moveTo>
                  <a:lnTo>
                    <a:pt x="88" y="230"/>
                  </a:lnTo>
                  <a:moveTo>
                    <a:pt x="107" y="287"/>
                  </a:moveTo>
                  <a:lnTo>
                    <a:pt x="107" y="249"/>
                  </a:lnTo>
                  <a:moveTo>
                    <a:pt x="107" y="134"/>
                  </a:moveTo>
                  <a:lnTo>
                    <a:pt x="107" y="96"/>
                  </a:lnTo>
                  <a:moveTo>
                    <a:pt x="107" y="211"/>
                  </a:moveTo>
                  <a:lnTo>
                    <a:pt x="107" y="172"/>
                  </a:lnTo>
                  <a:moveTo>
                    <a:pt x="126" y="77"/>
                  </a:moveTo>
                  <a:lnTo>
                    <a:pt x="126" y="38"/>
                  </a:lnTo>
                  <a:moveTo>
                    <a:pt x="126" y="153"/>
                  </a:moveTo>
                  <a:lnTo>
                    <a:pt x="126" y="115"/>
                  </a:lnTo>
                  <a:moveTo>
                    <a:pt x="126" y="230"/>
                  </a:moveTo>
                  <a:lnTo>
                    <a:pt x="126" y="191"/>
                  </a:lnTo>
                  <a:moveTo>
                    <a:pt x="145" y="249"/>
                  </a:moveTo>
                  <a:lnTo>
                    <a:pt x="145" y="211"/>
                  </a:lnTo>
                  <a:moveTo>
                    <a:pt x="145" y="96"/>
                  </a:moveTo>
                  <a:lnTo>
                    <a:pt x="145" y="57"/>
                  </a:lnTo>
                  <a:moveTo>
                    <a:pt x="145" y="172"/>
                  </a:moveTo>
                  <a:lnTo>
                    <a:pt x="145" y="134"/>
                  </a:lnTo>
                  <a:moveTo>
                    <a:pt x="164" y="115"/>
                  </a:moveTo>
                  <a:lnTo>
                    <a:pt x="164" y="77"/>
                  </a:lnTo>
                  <a:moveTo>
                    <a:pt x="164" y="191"/>
                  </a:moveTo>
                  <a:lnTo>
                    <a:pt x="164" y="153"/>
                  </a:lnTo>
                  <a:moveTo>
                    <a:pt x="164" y="38"/>
                  </a:moveTo>
                  <a:lnTo>
                    <a:pt x="164" y="0"/>
                  </a:lnTo>
                  <a:moveTo>
                    <a:pt x="164" y="38"/>
                  </a:moveTo>
                  <a:lnTo>
                    <a:pt x="183" y="19"/>
                  </a:lnTo>
                </a:path>
              </a:pathLst>
            </a:custGeom>
            <a:noFill/>
            <a:ln w="7938" cap="flat">
              <a:solidFill>
                <a:srgbClr val="CDCDCD"/>
              </a:solidFill>
              <a:prstDash val="solid"/>
              <a:miter lim="800000"/>
              <a:headEnd/>
              <a:tailEnd/>
            </a:ln>
          </p:spPr>
          <p:txBody>
            <a:bodyPr/>
            <a:lstStyle/>
            <a:p>
              <a:endParaRPr lang="en-US"/>
            </a:p>
          </p:txBody>
        </p:sp>
        <p:sp>
          <p:nvSpPr>
            <p:cNvPr id="2475409" name="Rectangle 1425"/>
            <p:cNvSpPr>
              <a:spLocks noChangeArrowheads="1"/>
            </p:cNvSpPr>
            <p:nvPr/>
          </p:nvSpPr>
          <p:spPr bwMode="auto">
            <a:xfrm>
              <a:off x="1032" y="2111"/>
              <a:ext cx="30" cy="230"/>
            </a:xfrm>
            <a:prstGeom prst="rect">
              <a:avLst/>
            </a:prstGeom>
            <a:solidFill>
              <a:srgbClr val="DC7E5F"/>
            </a:solidFill>
            <a:ln w="9525">
              <a:noFill/>
              <a:miter lim="800000"/>
              <a:headEnd/>
              <a:tailEnd/>
            </a:ln>
          </p:spPr>
          <p:txBody>
            <a:bodyPr/>
            <a:lstStyle/>
            <a:p>
              <a:endParaRPr lang="en-US"/>
            </a:p>
          </p:txBody>
        </p:sp>
        <p:sp>
          <p:nvSpPr>
            <p:cNvPr id="2475410" name="Rectangle 1426"/>
            <p:cNvSpPr>
              <a:spLocks noChangeArrowheads="1"/>
            </p:cNvSpPr>
            <p:nvPr/>
          </p:nvSpPr>
          <p:spPr bwMode="auto">
            <a:xfrm>
              <a:off x="1032" y="2111"/>
              <a:ext cx="30" cy="230"/>
            </a:xfrm>
            <a:prstGeom prst="rect">
              <a:avLst/>
            </a:prstGeom>
            <a:noFill/>
            <a:ln w="7938" cap="rnd">
              <a:solidFill>
                <a:srgbClr val="E6E6E6"/>
              </a:solidFill>
              <a:round/>
              <a:headEnd/>
              <a:tailEnd/>
            </a:ln>
          </p:spPr>
          <p:txBody>
            <a:bodyPr/>
            <a:lstStyle/>
            <a:p>
              <a:endParaRPr lang="en-US"/>
            </a:p>
          </p:txBody>
        </p:sp>
        <p:sp>
          <p:nvSpPr>
            <p:cNvPr id="2475411" name="Freeform 1427"/>
            <p:cNvSpPr>
              <a:spLocks/>
            </p:cNvSpPr>
            <p:nvPr/>
          </p:nvSpPr>
          <p:spPr bwMode="auto">
            <a:xfrm>
              <a:off x="1078" y="1942"/>
              <a:ext cx="152" cy="169"/>
            </a:xfrm>
            <a:custGeom>
              <a:avLst/>
              <a:gdLst/>
              <a:ahLst/>
              <a:cxnLst>
                <a:cxn ang="0">
                  <a:pos x="0" y="169"/>
                </a:cxn>
                <a:cxn ang="0">
                  <a:pos x="152" y="16"/>
                </a:cxn>
                <a:cxn ang="0">
                  <a:pos x="152" y="0"/>
                </a:cxn>
                <a:cxn ang="0">
                  <a:pos x="0" y="154"/>
                </a:cxn>
                <a:cxn ang="0">
                  <a:pos x="0" y="169"/>
                </a:cxn>
              </a:cxnLst>
              <a:rect l="0" t="0" r="r" b="b"/>
              <a:pathLst>
                <a:path w="152" h="169">
                  <a:moveTo>
                    <a:pt x="0" y="169"/>
                  </a:moveTo>
                  <a:lnTo>
                    <a:pt x="152" y="16"/>
                  </a:lnTo>
                  <a:lnTo>
                    <a:pt x="152" y="0"/>
                  </a:lnTo>
                  <a:lnTo>
                    <a:pt x="0" y="154"/>
                  </a:lnTo>
                  <a:lnTo>
                    <a:pt x="0" y="169"/>
                  </a:lnTo>
                  <a:close/>
                </a:path>
              </a:pathLst>
            </a:custGeom>
            <a:solidFill>
              <a:srgbClr val="9A9A9A"/>
            </a:solidFill>
            <a:ln w="9525">
              <a:noFill/>
              <a:round/>
              <a:headEnd/>
              <a:tailEnd/>
            </a:ln>
          </p:spPr>
          <p:txBody>
            <a:bodyPr/>
            <a:lstStyle/>
            <a:p>
              <a:endParaRPr lang="en-US"/>
            </a:p>
          </p:txBody>
        </p:sp>
        <p:sp>
          <p:nvSpPr>
            <p:cNvPr id="2475412" name="Rectangle 1428"/>
            <p:cNvSpPr>
              <a:spLocks noChangeArrowheads="1"/>
            </p:cNvSpPr>
            <p:nvPr/>
          </p:nvSpPr>
          <p:spPr bwMode="auto">
            <a:xfrm>
              <a:off x="1017" y="2096"/>
              <a:ext cx="61" cy="15"/>
            </a:xfrm>
            <a:prstGeom prst="rect">
              <a:avLst/>
            </a:prstGeom>
            <a:solidFill>
              <a:srgbClr val="C0C0C0"/>
            </a:solidFill>
            <a:ln w="9525">
              <a:noFill/>
              <a:miter lim="800000"/>
              <a:headEnd/>
              <a:tailEnd/>
            </a:ln>
          </p:spPr>
          <p:txBody>
            <a:bodyPr/>
            <a:lstStyle/>
            <a:p>
              <a:endParaRPr lang="en-US"/>
            </a:p>
          </p:txBody>
        </p:sp>
        <p:sp>
          <p:nvSpPr>
            <p:cNvPr id="2475413" name="Freeform 1429"/>
            <p:cNvSpPr>
              <a:spLocks/>
            </p:cNvSpPr>
            <p:nvPr/>
          </p:nvSpPr>
          <p:spPr bwMode="auto">
            <a:xfrm>
              <a:off x="1017" y="1942"/>
              <a:ext cx="213" cy="154"/>
            </a:xfrm>
            <a:custGeom>
              <a:avLst/>
              <a:gdLst/>
              <a:ahLst/>
              <a:cxnLst>
                <a:cxn ang="0">
                  <a:pos x="0" y="154"/>
                </a:cxn>
                <a:cxn ang="0">
                  <a:pos x="152" y="0"/>
                </a:cxn>
                <a:cxn ang="0">
                  <a:pos x="213" y="0"/>
                </a:cxn>
                <a:cxn ang="0">
                  <a:pos x="61" y="154"/>
                </a:cxn>
                <a:cxn ang="0">
                  <a:pos x="0" y="154"/>
                </a:cxn>
              </a:cxnLst>
              <a:rect l="0" t="0" r="r" b="b"/>
              <a:pathLst>
                <a:path w="213" h="154">
                  <a:moveTo>
                    <a:pt x="0" y="154"/>
                  </a:moveTo>
                  <a:lnTo>
                    <a:pt x="152" y="0"/>
                  </a:lnTo>
                  <a:lnTo>
                    <a:pt x="213" y="0"/>
                  </a:lnTo>
                  <a:lnTo>
                    <a:pt x="61" y="154"/>
                  </a:lnTo>
                  <a:lnTo>
                    <a:pt x="0" y="154"/>
                  </a:lnTo>
                  <a:close/>
                </a:path>
              </a:pathLst>
            </a:custGeom>
            <a:solidFill>
              <a:srgbClr val="E6E6E6"/>
            </a:solidFill>
            <a:ln w="9525">
              <a:noFill/>
              <a:round/>
              <a:headEnd/>
              <a:tailEnd/>
            </a:ln>
          </p:spPr>
          <p:txBody>
            <a:bodyPr/>
            <a:lstStyle/>
            <a:p>
              <a:endParaRPr lang="en-US"/>
            </a:p>
          </p:txBody>
        </p:sp>
        <p:sp>
          <p:nvSpPr>
            <p:cNvPr id="2475414" name="Freeform 1430"/>
            <p:cNvSpPr>
              <a:spLocks noEditPoints="1"/>
            </p:cNvSpPr>
            <p:nvPr/>
          </p:nvSpPr>
          <p:spPr bwMode="auto">
            <a:xfrm>
              <a:off x="1032" y="2149"/>
              <a:ext cx="30" cy="154"/>
            </a:xfrm>
            <a:custGeom>
              <a:avLst/>
              <a:gdLst/>
              <a:ahLst/>
              <a:cxnLst>
                <a:cxn ang="0">
                  <a:pos x="30" y="0"/>
                </a:cxn>
                <a:cxn ang="0">
                  <a:pos x="0" y="0"/>
                </a:cxn>
                <a:cxn ang="0">
                  <a:pos x="30" y="39"/>
                </a:cxn>
                <a:cxn ang="0">
                  <a:pos x="0" y="39"/>
                </a:cxn>
                <a:cxn ang="0">
                  <a:pos x="30" y="77"/>
                </a:cxn>
                <a:cxn ang="0">
                  <a:pos x="0" y="77"/>
                </a:cxn>
                <a:cxn ang="0">
                  <a:pos x="30" y="115"/>
                </a:cxn>
                <a:cxn ang="0">
                  <a:pos x="0" y="115"/>
                </a:cxn>
                <a:cxn ang="0">
                  <a:pos x="30" y="154"/>
                </a:cxn>
                <a:cxn ang="0">
                  <a:pos x="0" y="154"/>
                </a:cxn>
              </a:cxnLst>
              <a:rect l="0" t="0" r="r" b="b"/>
              <a:pathLst>
                <a:path w="30" h="154">
                  <a:moveTo>
                    <a:pt x="30" y="0"/>
                  </a:moveTo>
                  <a:lnTo>
                    <a:pt x="0" y="0"/>
                  </a:lnTo>
                  <a:moveTo>
                    <a:pt x="30" y="39"/>
                  </a:moveTo>
                  <a:lnTo>
                    <a:pt x="0" y="39"/>
                  </a:lnTo>
                  <a:moveTo>
                    <a:pt x="30" y="77"/>
                  </a:moveTo>
                  <a:lnTo>
                    <a:pt x="0" y="77"/>
                  </a:lnTo>
                  <a:moveTo>
                    <a:pt x="30" y="115"/>
                  </a:moveTo>
                  <a:lnTo>
                    <a:pt x="0" y="115"/>
                  </a:lnTo>
                  <a:moveTo>
                    <a:pt x="30" y="154"/>
                  </a:moveTo>
                  <a:lnTo>
                    <a:pt x="0" y="154"/>
                  </a:lnTo>
                </a:path>
              </a:pathLst>
            </a:custGeom>
            <a:noFill/>
            <a:ln w="7938" cap="flat">
              <a:solidFill>
                <a:srgbClr val="E6E6E6"/>
              </a:solidFill>
              <a:prstDash val="solid"/>
              <a:miter lim="800000"/>
              <a:headEnd/>
              <a:tailEnd/>
            </a:ln>
          </p:spPr>
          <p:txBody>
            <a:bodyPr/>
            <a:lstStyle/>
            <a:p>
              <a:endParaRPr lang="en-US"/>
            </a:p>
          </p:txBody>
        </p:sp>
        <p:sp>
          <p:nvSpPr>
            <p:cNvPr id="2475415" name="Freeform 1431"/>
            <p:cNvSpPr>
              <a:spLocks/>
            </p:cNvSpPr>
            <p:nvPr/>
          </p:nvSpPr>
          <p:spPr bwMode="auto">
            <a:xfrm>
              <a:off x="1017" y="1942"/>
              <a:ext cx="213" cy="399"/>
            </a:xfrm>
            <a:custGeom>
              <a:avLst/>
              <a:gdLst/>
              <a:ahLst/>
              <a:cxnLst>
                <a:cxn ang="0">
                  <a:pos x="15" y="399"/>
                </a:cxn>
                <a:cxn ang="0">
                  <a:pos x="15" y="169"/>
                </a:cxn>
                <a:cxn ang="0">
                  <a:pos x="0" y="169"/>
                </a:cxn>
                <a:cxn ang="0">
                  <a:pos x="0" y="154"/>
                </a:cxn>
                <a:cxn ang="0">
                  <a:pos x="152" y="0"/>
                </a:cxn>
                <a:cxn ang="0">
                  <a:pos x="213" y="0"/>
                </a:cxn>
                <a:cxn ang="0">
                  <a:pos x="213" y="16"/>
                </a:cxn>
                <a:cxn ang="0">
                  <a:pos x="198" y="31"/>
                </a:cxn>
                <a:cxn ang="0">
                  <a:pos x="198" y="246"/>
                </a:cxn>
                <a:cxn ang="0">
                  <a:pos x="45" y="399"/>
                </a:cxn>
                <a:cxn ang="0">
                  <a:pos x="15" y="399"/>
                </a:cxn>
              </a:cxnLst>
              <a:rect l="0" t="0" r="r" b="b"/>
              <a:pathLst>
                <a:path w="213" h="399">
                  <a:moveTo>
                    <a:pt x="15" y="399"/>
                  </a:moveTo>
                  <a:lnTo>
                    <a:pt x="15" y="169"/>
                  </a:lnTo>
                  <a:lnTo>
                    <a:pt x="0" y="169"/>
                  </a:lnTo>
                  <a:lnTo>
                    <a:pt x="0" y="154"/>
                  </a:lnTo>
                  <a:lnTo>
                    <a:pt x="152" y="0"/>
                  </a:lnTo>
                  <a:lnTo>
                    <a:pt x="213" y="0"/>
                  </a:lnTo>
                  <a:lnTo>
                    <a:pt x="213" y="16"/>
                  </a:lnTo>
                  <a:lnTo>
                    <a:pt x="198" y="31"/>
                  </a:lnTo>
                  <a:lnTo>
                    <a:pt x="198" y="246"/>
                  </a:lnTo>
                  <a:lnTo>
                    <a:pt x="45" y="399"/>
                  </a:lnTo>
                  <a:lnTo>
                    <a:pt x="15" y="399"/>
                  </a:lnTo>
                  <a:close/>
                </a:path>
              </a:pathLst>
            </a:custGeom>
            <a:noFill/>
            <a:ln w="12700" cap="rnd">
              <a:solidFill>
                <a:srgbClr val="000000"/>
              </a:solidFill>
              <a:prstDash val="solid"/>
              <a:round/>
              <a:headEnd/>
              <a:tailEnd/>
            </a:ln>
          </p:spPr>
          <p:txBody>
            <a:bodyPr/>
            <a:lstStyle/>
            <a:p>
              <a:endParaRPr lang="en-US"/>
            </a:p>
          </p:txBody>
        </p:sp>
        <p:sp>
          <p:nvSpPr>
            <p:cNvPr id="2475416" name="Rectangle 1432"/>
            <p:cNvSpPr>
              <a:spLocks noChangeArrowheads="1"/>
            </p:cNvSpPr>
            <p:nvPr/>
          </p:nvSpPr>
          <p:spPr bwMode="auto">
            <a:xfrm>
              <a:off x="965" y="2354"/>
              <a:ext cx="191" cy="67"/>
            </a:xfrm>
            <a:prstGeom prst="rect">
              <a:avLst/>
            </a:prstGeom>
            <a:noFill/>
            <a:ln w="9525">
              <a:noFill/>
              <a:miter lim="800000"/>
              <a:headEnd/>
              <a:tailEnd/>
            </a:ln>
          </p:spPr>
          <p:txBody>
            <a:bodyPr wrap="none" lIns="0" tIns="0" rIns="0" bIns="0">
              <a:spAutoFit/>
            </a:bodyPr>
            <a:lstStyle/>
            <a:p>
              <a:r>
                <a:rPr lang="en-US" sz="700">
                  <a:solidFill>
                    <a:srgbClr val="000000"/>
                  </a:solidFill>
                </a:rPr>
                <a:t>Firewall</a:t>
              </a:r>
              <a:endParaRPr lang="en-US" sz="1200"/>
            </a:p>
          </p:txBody>
        </p:sp>
      </p:grpSp>
      <p:grpSp>
        <p:nvGrpSpPr>
          <p:cNvPr id="2475559" name="Group 1575"/>
          <p:cNvGrpSpPr>
            <a:grpSpLocks/>
          </p:cNvGrpSpPr>
          <p:nvPr/>
        </p:nvGrpSpPr>
        <p:grpSpPr bwMode="auto">
          <a:xfrm>
            <a:off x="1377950" y="1466850"/>
            <a:ext cx="925513" cy="760413"/>
            <a:chOff x="877" y="1942"/>
            <a:chExt cx="583" cy="479"/>
          </a:xfrm>
        </p:grpSpPr>
        <p:sp>
          <p:nvSpPr>
            <p:cNvPr id="2475560" name="Line 1576"/>
            <p:cNvSpPr>
              <a:spLocks noChangeShapeType="1"/>
            </p:cNvSpPr>
            <p:nvPr/>
          </p:nvSpPr>
          <p:spPr bwMode="auto">
            <a:xfrm>
              <a:off x="877" y="2163"/>
              <a:ext cx="583"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2475561" name="Freeform 1577"/>
            <p:cNvSpPr>
              <a:spLocks/>
            </p:cNvSpPr>
            <p:nvPr/>
          </p:nvSpPr>
          <p:spPr bwMode="auto">
            <a:xfrm>
              <a:off x="1062" y="1958"/>
              <a:ext cx="153"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solidFill>
              <a:srgbClr val="D0624F"/>
            </a:solidFill>
            <a:ln w="9525">
              <a:noFill/>
              <a:round/>
              <a:headEnd/>
              <a:tailEnd/>
            </a:ln>
          </p:spPr>
          <p:txBody>
            <a:bodyPr/>
            <a:lstStyle/>
            <a:p>
              <a:endParaRPr lang="en-US"/>
            </a:p>
          </p:txBody>
        </p:sp>
        <p:sp>
          <p:nvSpPr>
            <p:cNvPr id="2475562" name="Freeform 1578"/>
            <p:cNvSpPr>
              <a:spLocks/>
            </p:cNvSpPr>
            <p:nvPr/>
          </p:nvSpPr>
          <p:spPr bwMode="auto">
            <a:xfrm>
              <a:off x="1062" y="1958"/>
              <a:ext cx="153"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noFill/>
            <a:ln w="7938" cap="rnd">
              <a:solidFill>
                <a:srgbClr val="CDCDCD"/>
              </a:solidFill>
              <a:prstDash val="solid"/>
              <a:round/>
              <a:headEnd/>
              <a:tailEnd/>
            </a:ln>
          </p:spPr>
          <p:txBody>
            <a:bodyPr/>
            <a:lstStyle/>
            <a:p>
              <a:endParaRPr lang="en-US"/>
            </a:p>
          </p:txBody>
        </p:sp>
        <p:sp>
          <p:nvSpPr>
            <p:cNvPr id="2475563" name="Freeform 1579"/>
            <p:cNvSpPr>
              <a:spLocks noEditPoints="1"/>
            </p:cNvSpPr>
            <p:nvPr/>
          </p:nvSpPr>
          <p:spPr bwMode="auto">
            <a:xfrm>
              <a:off x="1032" y="1977"/>
              <a:ext cx="183" cy="326"/>
            </a:xfrm>
            <a:custGeom>
              <a:avLst/>
              <a:gdLst/>
              <a:ahLst/>
              <a:cxnLst>
                <a:cxn ang="0">
                  <a:pos x="30" y="172"/>
                </a:cxn>
                <a:cxn ang="0">
                  <a:pos x="50" y="153"/>
                </a:cxn>
                <a:cxn ang="0">
                  <a:pos x="69" y="134"/>
                </a:cxn>
                <a:cxn ang="0">
                  <a:pos x="88" y="115"/>
                </a:cxn>
                <a:cxn ang="0">
                  <a:pos x="107" y="96"/>
                </a:cxn>
                <a:cxn ang="0">
                  <a:pos x="126" y="77"/>
                </a:cxn>
                <a:cxn ang="0">
                  <a:pos x="145" y="57"/>
                </a:cxn>
                <a:cxn ang="0">
                  <a:pos x="0" y="211"/>
                </a:cxn>
                <a:cxn ang="0">
                  <a:pos x="50" y="191"/>
                </a:cxn>
                <a:cxn ang="0">
                  <a:pos x="69" y="172"/>
                </a:cxn>
                <a:cxn ang="0">
                  <a:pos x="88" y="153"/>
                </a:cxn>
                <a:cxn ang="0">
                  <a:pos x="107" y="134"/>
                </a:cxn>
                <a:cxn ang="0">
                  <a:pos x="126" y="115"/>
                </a:cxn>
                <a:cxn ang="0">
                  <a:pos x="145" y="96"/>
                </a:cxn>
                <a:cxn ang="0">
                  <a:pos x="164" y="77"/>
                </a:cxn>
                <a:cxn ang="0">
                  <a:pos x="183" y="57"/>
                </a:cxn>
                <a:cxn ang="0">
                  <a:pos x="30" y="249"/>
                </a:cxn>
                <a:cxn ang="0">
                  <a:pos x="50" y="230"/>
                </a:cxn>
                <a:cxn ang="0">
                  <a:pos x="69" y="211"/>
                </a:cxn>
                <a:cxn ang="0">
                  <a:pos x="88" y="191"/>
                </a:cxn>
                <a:cxn ang="0">
                  <a:pos x="107" y="172"/>
                </a:cxn>
                <a:cxn ang="0">
                  <a:pos x="126" y="153"/>
                </a:cxn>
                <a:cxn ang="0">
                  <a:pos x="145" y="134"/>
                </a:cxn>
                <a:cxn ang="0">
                  <a:pos x="164" y="115"/>
                </a:cxn>
                <a:cxn ang="0">
                  <a:pos x="0" y="287"/>
                </a:cxn>
                <a:cxn ang="0">
                  <a:pos x="50" y="268"/>
                </a:cxn>
                <a:cxn ang="0">
                  <a:pos x="69" y="249"/>
                </a:cxn>
                <a:cxn ang="0">
                  <a:pos x="88" y="230"/>
                </a:cxn>
                <a:cxn ang="0">
                  <a:pos x="107" y="211"/>
                </a:cxn>
                <a:cxn ang="0">
                  <a:pos x="126" y="191"/>
                </a:cxn>
                <a:cxn ang="0">
                  <a:pos x="145" y="172"/>
                </a:cxn>
                <a:cxn ang="0">
                  <a:pos x="164" y="153"/>
                </a:cxn>
                <a:cxn ang="0">
                  <a:pos x="183" y="134"/>
                </a:cxn>
                <a:cxn ang="0">
                  <a:pos x="30" y="326"/>
                </a:cxn>
                <a:cxn ang="0">
                  <a:pos x="50" y="306"/>
                </a:cxn>
                <a:cxn ang="0">
                  <a:pos x="69" y="287"/>
                </a:cxn>
                <a:cxn ang="0">
                  <a:pos x="88" y="268"/>
                </a:cxn>
                <a:cxn ang="0">
                  <a:pos x="107" y="249"/>
                </a:cxn>
                <a:cxn ang="0">
                  <a:pos x="126" y="230"/>
                </a:cxn>
                <a:cxn ang="0">
                  <a:pos x="145" y="211"/>
                </a:cxn>
                <a:cxn ang="0">
                  <a:pos x="164" y="191"/>
                </a:cxn>
                <a:cxn ang="0">
                  <a:pos x="50" y="153"/>
                </a:cxn>
                <a:cxn ang="0">
                  <a:pos x="50" y="230"/>
                </a:cxn>
                <a:cxn ang="0">
                  <a:pos x="50" y="306"/>
                </a:cxn>
                <a:cxn ang="0">
                  <a:pos x="69" y="326"/>
                </a:cxn>
                <a:cxn ang="0">
                  <a:pos x="69" y="172"/>
                </a:cxn>
                <a:cxn ang="0">
                  <a:pos x="69" y="249"/>
                </a:cxn>
                <a:cxn ang="0">
                  <a:pos x="88" y="115"/>
                </a:cxn>
                <a:cxn ang="0">
                  <a:pos x="88" y="191"/>
                </a:cxn>
                <a:cxn ang="0">
                  <a:pos x="88" y="268"/>
                </a:cxn>
                <a:cxn ang="0">
                  <a:pos x="107" y="287"/>
                </a:cxn>
                <a:cxn ang="0">
                  <a:pos x="107" y="134"/>
                </a:cxn>
                <a:cxn ang="0">
                  <a:pos x="107" y="211"/>
                </a:cxn>
                <a:cxn ang="0">
                  <a:pos x="126" y="77"/>
                </a:cxn>
                <a:cxn ang="0">
                  <a:pos x="126" y="153"/>
                </a:cxn>
                <a:cxn ang="0">
                  <a:pos x="126" y="230"/>
                </a:cxn>
                <a:cxn ang="0">
                  <a:pos x="145" y="249"/>
                </a:cxn>
                <a:cxn ang="0">
                  <a:pos x="145" y="96"/>
                </a:cxn>
                <a:cxn ang="0">
                  <a:pos x="145" y="172"/>
                </a:cxn>
                <a:cxn ang="0">
                  <a:pos x="164" y="115"/>
                </a:cxn>
                <a:cxn ang="0">
                  <a:pos x="164" y="191"/>
                </a:cxn>
                <a:cxn ang="0">
                  <a:pos x="164" y="38"/>
                </a:cxn>
                <a:cxn ang="0">
                  <a:pos x="164" y="38"/>
                </a:cxn>
              </a:cxnLst>
              <a:rect l="0" t="0" r="r" b="b"/>
              <a:pathLst>
                <a:path w="183" h="326">
                  <a:moveTo>
                    <a:pt x="0" y="172"/>
                  </a:moveTo>
                  <a:lnTo>
                    <a:pt x="30" y="172"/>
                  </a:lnTo>
                  <a:lnTo>
                    <a:pt x="50" y="153"/>
                  </a:lnTo>
                  <a:moveTo>
                    <a:pt x="50" y="153"/>
                  </a:moveTo>
                  <a:lnTo>
                    <a:pt x="69" y="134"/>
                  </a:lnTo>
                  <a:moveTo>
                    <a:pt x="69" y="134"/>
                  </a:moveTo>
                  <a:lnTo>
                    <a:pt x="88" y="115"/>
                  </a:lnTo>
                  <a:moveTo>
                    <a:pt x="88" y="115"/>
                  </a:moveTo>
                  <a:lnTo>
                    <a:pt x="107" y="96"/>
                  </a:lnTo>
                  <a:moveTo>
                    <a:pt x="107" y="96"/>
                  </a:moveTo>
                  <a:lnTo>
                    <a:pt x="126" y="77"/>
                  </a:lnTo>
                  <a:moveTo>
                    <a:pt x="126" y="77"/>
                  </a:moveTo>
                  <a:lnTo>
                    <a:pt x="145" y="57"/>
                  </a:lnTo>
                  <a:moveTo>
                    <a:pt x="145" y="57"/>
                  </a:moveTo>
                  <a:lnTo>
                    <a:pt x="164" y="38"/>
                  </a:lnTo>
                  <a:moveTo>
                    <a:pt x="0" y="211"/>
                  </a:moveTo>
                  <a:lnTo>
                    <a:pt x="30" y="211"/>
                  </a:lnTo>
                  <a:lnTo>
                    <a:pt x="50" y="191"/>
                  </a:lnTo>
                  <a:moveTo>
                    <a:pt x="50" y="191"/>
                  </a:moveTo>
                  <a:lnTo>
                    <a:pt x="69" y="172"/>
                  </a:lnTo>
                  <a:moveTo>
                    <a:pt x="69" y="172"/>
                  </a:moveTo>
                  <a:lnTo>
                    <a:pt x="88" y="153"/>
                  </a:lnTo>
                  <a:moveTo>
                    <a:pt x="88" y="153"/>
                  </a:moveTo>
                  <a:lnTo>
                    <a:pt x="107" y="134"/>
                  </a:lnTo>
                  <a:moveTo>
                    <a:pt x="107" y="134"/>
                  </a:moveTo>
                  <a:lnTo>
                    <a:pt x="126" y="115"/>
                  </a:lnTo>
                  <a:moveTo>
                    <a:pt x="126" y="115"/>
                  </a:moveTo>
                  <a:lnTo>
                    <a:pt x="145" y="96"/>
                  </a:lnTo>
                  <a:moveTo>
                    <a:pt x="145" y="96"/>
                  </a:moveTo>
                  <a:lnTo>
                    <a:pt x="164" y="77"/>
                  </a:lnTo>
                  <a:moveTo>
                    <a:pt x="164" y="77"/>
                  </a:moveTo>
                  <a:lnTo>
                    <a:pt x="183" y="57"/>
                  </a:lnTo>
                  <a:moveTo>
                    <a:pt x="0" y="249"/>
                  </a:moveTo>
                  <a:lnTo>
                    <a:pt x="30" y="249"/>
                  </a:lnTo>
                  <a:lnTo>
                    <a:pt x="50" y="230"/>
                  </a:lnTo>
                  <a:moveTo>
                    <a:pt x="50" y="230"/>
                  </a:moveTo>
                  <a:lnTo>
                    <a:pt x="69" y="211"/>
                  </a:lnTo>
                  <a:moveTo>
                    <a:pt x="69" y="211"/>
                  </a:moveTo>
                  <a:lnTo>
                    <a:pt x="88" y="191"/>
                  </a:lnTo>
                  <a:moveTo>
                    <a:pt x="88" y="191"/>
                  </a:moveTo>
                  <a:lnTo>
                    <a:pt x="107" y="172"/>
                  </a:lnTo>
                  <a:moveTo>
                    <a:pt x="107" y="172"/>
                  </a:moveTo>
                  <a:lnTo>
                    <a:pt x="126" y="153"/>
                  </a:lnTo>
                  <a:moveTo>
                    <a:pt x="126" y="153"/>
                  </a:moveTo>
                  <a:lnTo>
                    <a:pt x="145" y="134"/>
                  </a:lnTo>
                  <a:moveTo>
                    <a:pt x="145" y="134"/>
                  </a:moveTo>
                  <a:lnTo>
                    <a:pt x="164" y="115"/>
                  </a:lnTo>
                  <a:moveTo>
                    <a:pt x="164" y="115"/>
                  </a:moveTo>
                  <a:lnTo>
                    <a:pt x="183" y="96"/>
                  </a:lnTo>
                  <a:moveTo>
                    <a:pt x="0" y="287"/>
                  </a:moveTo>
                  <a:lnTo>
                    <a:pt x="30" y="287"/>
                  </a:lnTo>
                  <a:lnTo>
                    <a:pt x="50" y="268"/>
                  </a:lnTo>
                  <a:moveTo>
                    <a:pt x="50" y="268"/>
                  </a:moveTo>
                  <a:lnTo>
                    <a:pt x="69" y="249"/>
                  </a:lnTo>
                  <a:moveTo>
                    <a:pt x="69" y="249"/>
                  </a:moveTo>
                  <a:lnTo>
                    <a:pt x="88" y="230"/>
                  </a:lnTo>
                  <a:moveTo>
                    <a:pt x="88" y="230"/>
                  </a:moveTo>
                  <a:lnTo>
                    <a:pt x="107" y="211"/>
                  </a:lnTo>
                  <a:moveTo>
                    <a:pt x="107" y="211"/>
                  </a:moveTo>
                  <a:lnTo>
                    <a:pt x="126" y="191"/>
                  </a:lnTo>
                  <a:moveTo>
                    <a:pt x="126" y="191"/>
                  </a:moveTo>
                  <a:lnTo>
                    <a:pt x="145" y="172"/>
                  </a:lnTo>
                  <a:moveTo>
                    <a:pt x="145" y="172"/>
                  </a:moveTo>
                  <a:lnTo>
                    <a:pt x="164" y="153"/>
                  </a:lnTo>
                  <a:moveTo>
                    <a:pt x="164" y="153"/>
                  </a:moveTo>
                  <a:lnTo>
                    <a:pt x="183" y="134"/>
                  </a:lnTo>
                  <a:moveTo>
                    <a:pt x="0" y="326"/>
                  </a:moveTo>
                  <a:lnTo>
                    <a:pt x="30" y="326"/>
                  </a:lnTo>
                  <a:lnTo>
                    <a:pt x="50" y="306"/>
                  </a:lnTo>
                  <a:moveTo>
                    <a:pt x="50" y="306"/>
                  </a:moveTo>
                  <a:lnTo>
                    <a:pt x="69" y="287"/>
                  </a:lnTo>
                  <a:moveTo>
                    <a:pt x="69" y="287"/>
                  </a:moveTo>
                  <a:lnTo>
                    <a:pt x="88" y="268"/>
                  </a:lnTo>
                  <a:moveTo>
                    <a:pt x="88" y="268"/>
                  </a:moveTo>
                  <a:lnTo>
                    <a:pt x="107" y="249"/>
                  </a:lnTo>
                  <a:moveTo>
                    <a:pt x="107" y="249"/>
                  </a:moveTo>
                  <a:lnTo>
                    <a:pt x="126" y="230"/>
                  </a:lnTo>
                  <a:moveTo>
                    <a:pt x="126" y="230"/>
                  </a:moveTo>
                  <a:lnTo>
                    <a:pt x="145" y="211"/>
                  </a:lnTo>
                  <a:moveTo>
                    <a:pt x="145" y="211"/>
                  </a:moveTo>
                  <a:lnTo>
                    <a:pt x="164" y="191"/>
                  </a:lnTo>
                  <a:moveTo>
                    <a:pt x="164" y="191"/>
                  </a:moveTo>
                  <a:lnTo>
                    <a:pt x="183" y="172"/>
                  </a:lnTo>
                  <a:moveTo>
                    <a:pt x="50" y="153"/>
                  </a:moveTo>
                  <a:lnTo>
                    <a:pt x="50" y="115"/>
                  </a:lnTo>
                  <a:moveTo>
                    <a:pt x="50" y="230"/>
                  </a:moveTo>
                  <a:lnTo>
                    <a:pt x="50" y="191"/>
                  </a:lnTo>
                  <a:moveTo>
                    <a:pt x="50" y="306"/>
                  </a:moveTo>
                  <a:lnTo>
                    <a:pt x="50" y="268"/>
                  </a:lnTo>
                  <a:moveTo>
                    <a:pt x="69" y="326"/>
                  </a:moveTo>
                  <a:lnTo>
                    <a:pt x="69" y="287"/>
                  </a:lnTo>
                  <a:moveTo>
                    <a:pt x="69" y="172"/>
                  </a:moveTo>
                  <a:lnTo>
                    <a:pt x="69" y="134"/>
                  </a:lnTo>
                  <a:moveTo>
                    <a:pt x="69" y="249"/>
                  </a:moveTo>
                  <a:lnTo>
                    <a:pt x="69" y="211"/>
                  </a:lnTo>
                  <a:moveTo>
                    <a:pt x="88" y="115"/>
                  </a:moveTo>
                  <a:lnTo>
                    <a:pt x="88" y="77"/>
                  </a:lnTo>
                  <a:moveTo>
                    <a:pt x="88" y="191"/>
                  </a:moveTo>
                  <a:lnTo>
                    <a:pt x="88" y="153"/>
                  </a:lnTo>
                  <a:moveTo>
                    <a:pt x="88" y="268"/>
                  </a:moveTo>
                  <a:lnTo>
                    <a:pt x="88" y="230"/>
                  </a:lnTo>
                  <a:moveTo>
                    <a:pt x="107" y="287"/>
                  </a:moveTo>
                  <a:lnTo>
                    <a:pt x="107" y="249"/>
                  </a:lnTo>
                  <a:moveTo>
                    <a:pt x="107" y="134"/>
                  </a:moveTo>
                  <a:lnTo>
                    <a:pt x="107" y="96"/>
                  </a:lnTo>
                  <a:moveTo>
                    <a:pt x="107" y="211"/>
                  </a:moveTo>
                  <a:lnTo>
                    <a:pt x="107" y="172"/>
                  </a:lnTo>
                  <a:moveTo>
                    <a:pt x="126" y="77"/>
                  </a:moveTo>
                  <a:lnTo>
                    <a:pt x="126" y="38"/>
                  </a:lnTo>
                  <a:moveTo>
                    <a:pt x="126" y="153"/>
                  </a:moveTo>
                  <a:lnTo>
                    <a:pt x="126" y="115"/>
                  </a:lnTo>
                  <a:moveTo>
                    <a:pt x="126" y="230"/>
                  </a:moveTo>
                  <a:lnTo>
                    <a:pt x="126" y="191"/>
                  </a:lnTo>
                  <a:moveTo>
                    <a:pt x="145" y="249"/>
                  </a:moveTo>
                  <a:lnTo>
                    <a:pt x="145" y="211"/>
                  </a:lnTo>
                  <a:moveTo>
                    <a:pt x="145" y="96"/>
                  </a:moveTo>
                  <a:lnTo>
                    <a:pt x="145" y="57"/>
                  </a:lnTo>
                  <a:moveTo>
                    <a:pt x="145" y="172"/>
                  </a:moveTo>
                  <a:lnTo>
                    <a:pt x="145" y="134"/>
                  </a:lnTo>
                  <a:moveTo>
                    <a:pt x="164" y="115"/>
                  </a:moveTo>
                  <a:lnTo>
                    <a:pt x="164" y="77"/>
                  </a:lnTo>
                  <a:moveTo>
                    <a:pt x="164" y="191"/>
                  </a:moveTo>
                  <a:lnTo>
                    <a:pt x="164" y="153"/>
                  </a:lnTo>
                  <a:moveTo>
                    <a:pt x="164" y="38"/>
                  </a:moveTo>
                  <a:lnTo>
                    <a:pt x="164" y="0"/>
                  </a:lnTo>
                  <a:moveTo>
                    <a:pt x="164" y="38"/>
                  </a:moveTo>
                  <a:lnTo>
                    <a:pt x="183" y="19"/>
                  </a:lnTo>
                </a:path>
              </a:pathLst>
            </a:custGeom>
            <a:noFill/>
            <a:ln w="7938" cap="flat">
              <a:solidFill>
                <a:srgbClr val="CDCDCD"/>
              </a:solidFill>
              <a:prstDash val="solid"/>
              <a:miter lim="800000"/>
              <a:headEnd/>
              <a:tailEnd/>
            </a:ln>
          </p:spPr>
          <p:txBody>
            <a:bodyPr/>
            <a:lstStyle/>
            <a:p>
              <a:endParaRPr lang="en-US"/>
            </a:p>
          </p:txBody>
        </p:sp>
        <p:sp>
          <p:nvSpPr>
            <p:cNvPr id="2475564" name="Rectangle 1580"/>
            <p:cNvSpPr>
              <a:spLocks noChangeArrowheads="1"/>
            </p:cNvSpPr>
            <p:nvPr/>
          </p:nvSpPr>
          <p:spPr bwMode="auto">
            <a:xfrm>
              <a:off x="1032" y="2111"/>
              <a:ext cx="30" cy="230"/>
            </a:xfrm>
            <a:prstGeom prst="rect">
              <a:avLst/>
            </a:prstGeom>
            <a:solidFill>
              <a:srgbClr val="DC7E5F"/>
            </a:solidFill>
            <a:ln w="9525">
              <a:noFill/>
              <a:miter lim="800000"/>
              <a:headEnd/>
              <a:tailEnd/>
            </a:ln>
          </p:spPr>
          <p:txBody>
            <a:bodyPr/>
            <a:lstStyle/>
            <a:p>
              <a:endParaRPr lang="en-US"/>
            </a:p>
          </p:txBody>
        </p:sp>
        <p:sp>
          <p:nvSpPr>
            <p:cNvPr id="2475565" name="Rectangle 1581"/>
            <p:cNvSpPr>
              <a:spLocks noChangeArrowheads="1"/>
            </p:cNvSpPr>
            <p:nvPr/>
          </p:nvSpPr>
          <p:spPr bwMode="auto">
            <a:xfrm>
              <a:off x="1032" y="2111"/>
              <a:ext cx="30" cy="230"/>
            </a:xfrm>
            <a:prstGeom prst="rect">
              <a:avLst/>
            </a:prstGeom>
            <a:noFill/>
            <a:ln w="7938" cap="rnd">
              <a:solidFill>
                <a:srgbClr val="E6E6E6"/>
              </a:solidFill>
              <a:round/>
              <a:headEnd/>
              <a:tailEnd/>
            </a:ln>
          </p:spPr>
          <p:txBody>
            <a:bodyPr/>
            <a:lstStyle/>
            <a:p>
              <a:endParaRPr lang="en-US"/>
            </a:p>
          </p:txBody>
        </p:sp>
        <p:sp>
          <p:nvSpPr>
            <p:cNvPr id="2475566" name="Freeform 1582"/>
            <p:cNvSpPr>
              <a:spLocks/>
            </p:cNvSpPr>
            <p:nvPr/>
          </p:nvSpPr>
          <p:spPr bwMode="auto">
            <a:xfrm>
              <a:off x="1078" y="1942"/>
              <a:ext cx="152" cy="169"/>
            </a:xfrm>
            <a:custGeom>
              <a:avLst/>
              <a:gdLst/>
              <a:ahLst/>
              <a:cxnLst>
                <a:cxn ang="0">
                  <a:pos x="0" y="169"/>
                </a:cxn>
                <a:cxn ang="0">
                  <a:pos x="152" y="16"/>
                </a:cxn>
                <a:cxn ang="0">
                  <a:pos x="152" y="0"/>
                </a:cxn>
                <a:cxn ang="0">
                  <a:pos x="0" y="154"/>
                </a:cxn>
                <a:cxn ang="0">
                  <a:pos x="0" y="169"/>
                </a:cxn>
              </a:cxnLst>
              <a:rect l="0" t="0" r="r" b="b"/>
              <a:pathLst>
                <a:path w="152" h="169">
                  <a:moveTo>
                    <a:pt x="0" y="169"/>
                  </a:moveTo>
                  <a:lnTo>
                    <a:pt x="152" y="16"/>
                  </a:lnTo>
                  <a:lnTo>
                    <a:pt x="152" y="0"/>
                  </a:lnTo>
                  <a:lnTo>
                    <a:pt x="0" y="154"/>
                  </a:lnTo>
                  <a:lnTo>
                    <a:pt x="0" y="169"/>
                  </a:lnTo>
                  <a:close/>
                </a:path>
              </a:pathLst>
            </a:custGeom>
            <a:solidFill>
              <a:srgbClr val="9A9A9A"/>
            </a:solidFill>
            <a:ln w="9525">
              <a:noFill/>
              <a:round/>
              <a:headEnd/>
              <a:tailEnd/>
            </a:ln>
          </p:spPr>
          <p:txBody>
            <a:bodyPr/>
            <a:lstStyle/>
            <a:p>
              <a:endParaRPr lang="en-US"/>
            </a:p>
          </p:txBody>
        </p:sp>
        <p:sp>
          <p:nvSpPr>
            <p:cNvPr id="2475567" name="Rectangle 1583"/>
            <p:cNvSpPr>
              <a:spLocks noChangeArrowheads="1"/>
            </p:cNvSpPr>
            <p:nvPr/>
          </p:nvSpPr>
          <p:spPr bwMode="auto">
            <a:xfrm>
              <a:off x="1017" y="2096"/>
              <a:ext cx="61" cy="15"/>
            </a:xfrm>
            <a:prstGeom prst="rect">
              <a:avLst/>
            </a:prstGeom>
            <a:solidFill>
              <a:srgbClr val="C0C0C0"/>
            </a:solidFill>
            <a:ln w="9525">
              <a:noFill/>
              <a:miter lim="800000"/>
              <a:headEnd/>
              <a:tailEnd/>
            </a:ln>
          </p:spPr>
          <p:txBody>
            <a:bodyPr/>
            <a:lstStyle/>
            <a:p>
              <a:endParaRPr lang="en-US"/>
            </a:p>
          </p:txBody>
        </p:sp>
        <p:sp>
          <p:nvSpPr>
            <p:cNvPr id="2475568" name="Freeform 1584"/>
            <p:cNvSpPr>
              <a:spLocks/>
            </p:cNvSpPr>
            <p:nvPr/>
          </p:nvSpPr>
          <p:spPr bwMode="auto">
            <a:xfrm>
              <a:off x="1017" y="1942"/>
              <a:ext cx="213" cy="154"/>
            </a:xfrm>
            <a:custGeom>
              <a:avLst/>
              <a:gdLst/>
              <a:ahLst/>
              <a:cxnLst>
                <a:cxn ang="0">
                  <a:pos x="0" y="154"/>
                </a:cxn>
                <a:cxn ang="0">
                  <a:pos x="152" y="0"/>
                </a:cxn>
                <a:cxn ang="0">
                  <a:pos x="213" y="0"/>
                </a:cxn>
                <a:cxn ang="0">
                  <a:pos x="61" y="154"/>
                </a:cxn>
                <a:cxn ang="0">
                  <a:pos x="0" y="154"/>
                </a:cxn>
              </a:cxnLst>
              <a:rect l="0" t="0" r="r" b="b"/>
              <a:pathLst>
                <a:path w="213" h="154">
                  <a:moveTo>
                    <a:pt x="0" y="154"/>
                  </a:moveTo>
                  <a:lnTo>
                    <a:pt x="152" y="0"/>
                  </a:lnTo>
                  <a:lnTo>
                    <a:pt x="213" y="0"/>
                  </a:lnTo>
                  <a:lnTo>
                    <a:pt x="61" y="154"/>
                  </a:lnTo>
                  <a:lnTo>
                    <a:pt x="0" y="154"/>
                  </a:lnTo>
                  <a:close/>
                </a:path>
              </a:pathLst>
            </a:custGeom>
            <a:solidFill>
              <a:srgbClr val="E6E6E6"/>
            </a:solidFill>
            <a:ln w="9525">
              <a:noFill/>
              <a:round/>
              <a:headEnd/>
              <a:tailEnd/>
            </a:ln>
          </p:spPr>
          <p:txBody>
            <a:bodyPr/>
            <a:lstStyle/>
            <a:p>
              <a:endParaRPr lang="en-US"/>
            </a:p>
          </p:txBody>
        </p:sp>
        <p:sp>
          <p:nvSpPr>
            <p:cNvPr id="2475569" name="Freeform 1585"/>
            <p:cNvSpPr>
              <a:spLocks noEditPoints="1"/>
            </p:cNvSpPr>
            <p:nvPr/>
          </p:nvSpPr>
          <p:spPr bwMode="auto">
            <a:xfrm>
              <a:off x="1032" y="2149"/>
              <a:ext cx="30" cy="154"/>
            </a:xfrm>
            <a:custGeom>
              <a:avLst/>
              <a:gdLst/>
              <a:ahLst/>
              <a:cxnLst>
                <a:cxn ang="0">
                  <a:pos x="30" y="0"/>
                </a:cxn>
                <a:cxn ang="0">
                  <a:pos x="0" y="0"/>
                </a:cxn>
                <a:cxn ang="0">
                  <a:pos x="30" y="39"/>
                </a:cxn>
                <a:cxn ang="0">
                  <a:pos x="0" y="39"/>
                </a:cxn>
                <a:cxn ang="0">
                  <a:pos x="30" y="77"/>
                </a:cxn>
                <a:cxn ang="0">
                  <a:pos x="0" y="77"/>
                </a:cxn>
                <a:cxn ang="0">
                  <a:pos x="30" y="115"/>
                </a:cxn>
                <a:cxn ang="0">
                  <a:pos x="0" y="115"/>
                </a:cxn>
                <a:cxn ang="0">
                  <a:pos x="30" y="154"/>
                </a:cxn>
                <a:cxn ang="0">
                  <a:pos x="0" y="154"/>
                </a:cxn>
              </a:cxnLst>
              <a:rect l="0" t="0" r="r" b="b"/>
              <a:pathLst>
                <a:path w="30" h="154">
                  <a:moveTo>
                    <a:pt x="30" y="0"/>
                  </a:moveTo>
                  <a:lnTo>
                    <a:pt x="0" y="0"/>
                  </a:lnTo>
                  <a:moveTo>
                    <a:pt x="30" y="39"/>
                  </a:moveTo>
                  <a:lnTo>
                    <a:pt x="0" y="39"/>
                  </a:lnTo>
                  <a:moveTo>
                    <a:pt x="30" y="77"/>
                  </a:moveTo>
                  <a:lnTo>
                    <a:pt x="0" y="77"/>
                  </a:lnTo>
                  <a:moveTo>
                    <a:pt x="30" y="115"/>
                  </a:moveTo>
                  <a:lnTo>
                    <a:pt x="0" y="115"/>
                  </a:lnTo>
                  <a:moveTo>
                    <a:pt x="30" y="154"/>
                  </a:moveTo>
                  <a:lnTo>
                    <a:pt x="0" y="154"/>
                  </a:lnTo>
                </a:path>
              </a:pathLst>
            </a:custGeom>
            <a:noFill/>
            <a:ln w="7938" cap="flat">
              <a:solidFill>
                <a:srgbClr val="E6E6E6"/>
              </a:solidFill>
              <a:prstDash val="solid"/>
              <a:miter lim="800000"/>
              <a:headEnd/>
              <a:tailEnd/>
            </a:ln>
          </p:spPr>
          <p:txBody>
            <a:bodyPr/>
            <a:lstStyle/>
            <a:p>
              <a:endParaRPr lang="en-US"/>
            </a:p>
          </p:txBody>
        </p:sp>
        <p:sp>
          <p:nvSpPr>
            <p:cNvPr id="2475570" name="Freeform 1586"/>
            <p:cNvSpPr>
              <a:spLocks/>
            </p:cNvSpPr>
            <p:nvPr/>
          </p:nvSpPr>
          <p:spPr bwMode="auto">
            <a:xfrm>
              <a:off x="1017" y="1942"/>
              <a:ext cx="213" cy="399"/>
            </a:xfrm>
            <a:custGeom>
              <a:avLst/>
              <a:gdLst/>
              <a:ahLst/>
              <a:cxnLst>
                <a:cxn ang="0">
                  <a:pos x="15" y="399"/>
                </a:cxn>
                <a:cxn ang="0">
                  <a:pos x="15" y="169"/>
                </a:cxn>
                <a:cxn ang="0">
                  <a:pos x="0" y="169"/>
                </a:cxn>
                <a:cxn ang="0">
                  <a:pos x="0" y="154"/>
                </a:cxn>
                <a:cxn ang="0">
                  <a:pos x="152" y="0"/>
                </a:cxn>
                <a:cxn ang="0">
                  <a:pos x="213" y="0"/>
                </a:cxn>
                <a:cxn ang="0">
                  <a:pos x="213" y="16"/>
                </a:cxn>
                <a:cxn ang="0">
                  <a:pos x="198" y="31"/>
                </a:cxn>
                <a:cxn ang="0">
                  <a:pos x="198" y="246"/>
                </a:cxn>
                <a:cxn ang="0">
                  <a:pos x="45" y="399"/>
                </a:cxn>
                <a:cxn ang="0">
                  <a:pos x="15" y="399"/>
                </a:cxn>
              </a:cxnLst>
              <a:rect l="0" t="0" r="r" b="b"/>
              <a:pathLst>
                <a:path w="213" h="399">
                  <a:moveTo>
                    <a:pt x="15" y="399"/>
                  </a:moveTo>
                  <a:lnTo>
                    <a:pt x="15" y="169"/>
                  </a:lnTo>
                  <a:lnTo>
                    <a:pt x="0" y="169"/>
                  </a:lnTo>
                  <a:lnTo>
                    <a:pt x="0" y="154"/>
                  </a:lnTo>
                  <a:lnTo>
                    <a:pt x="152" y="0"/>
                  </a:lnTo>
                  <a:lnTo>
                    <a:pt x="213" y="0"/>
                  </a:lnTo>
                  <a:lnTo>
                    <a:pt x="213" y="16"/>
                  </a:lnTo>
                  <a:lnTo>
                    <a:pt x="198" y="31"/>
                  </a:lnTo>
                  <a:lnTo>
                    <a:pt x="198" y="246"/>
                  </a:lnTo>
                  <a:lnTo>
                    <a:pt x="45" y="399"/>
                  </a:lnTo>
                  <a:lnTo>
                    <a:pt x="15" y="399"/>
                  </a:lnTo>
                  <a:close/>
                </a:path>
              </a:pathLst>
            </a:custGeom>
            <a:noFill/>
            <a:ln w="12700" cap="rnd">
              <a:solidFill>
                <a:srgbClr val="000000"/>
              </a:solidFill>
              <a:prstDash val="solid"/>
              <a:round/>
              <a:headEnd/>
              <a:tailEnd/>
            </a:ln>
          </p:spPr>
          <p:txBody>
            <a:bodyPr/>
            <a:lstStyle/>
            <a:p>
              <a:endParaRPr lang="en-US"/>
            </a:p>
          </p:txBody>
        </p:sp>
        <p:sp>
          <p:nvSpPr>
            <p:cNvPr id="2475571" name="Rectangle 1587"/>
            <p:cNvSpPr>
              <a:spLocks noChangeArrowheads="1"/>
            </p:cNvSpPr>
            <p:nvPr/>
          </p:nvSpPr>
          <p:spPr bwMode="auto">
            <a:xfrm>
              <a:off x="965" y="2354"/>
              <a:ext cx="191" cy="67"/>
            </a:xfrm>
            <a:prstGeom prst="rect">
              <a:avLst/>
            </a:prstGeom>
            <a:noFill/>
            <a:ln w="9525">
              <a:noFill/>
              <a:miter lim="800000"/>
              <a:headEnd/>
              <a:tailEnd/>
            </a:ln>
          </p:spPr>
          <p:txBody>
            <a:bodyPr wrap="none" lIns="0" tIns="0" rIns="0" bIns="0">
              <a:spAutoFit/>
            </a:bodyPr>
            <a:lstStyle/>
            <a:p>
              <a:r>
                <a:rPr lang="en-US" sz="700">
                  <a:solidFill>
                    <a:srgbClr val="000000"/>
                  </a:solidFill>
                </a:rPr>
                <a:t>Firewall</a:t>
              </a:r>
              <a:endParaRPr lang="en-US" sz="1200"/>
            </a:p>
          </p:txBody>
        </p:sp>
      </p:grpSp>
      <p:sp>
        <p:nvSpPr>
          <p:cNvPr id="2475659" name="Rectangle 1675"/>
          <p:cNvSpPr>
            <a:spLocks noChangeArrowheads="1"/>
          </p:cNvSpPr>
          <p:nvPr/>
        </p:nvSpPr>
        <p:spPr bwMode="auto">
          <a:xfrm>
            <a:off x="8177213" y="2679700"/>
            <a:ext cx="784225" cy="247650"/>
          </a:xfrm>
          <a:prstGeom prst="rect">
            <a:avLst/>
          </a:prstGeom>
          <a:solidFill>
            <a:srgbClr val="8DFF8D"/>
          </a:solidFill>
          <a:ln w="3175" cap="rnd">
            <a:solidFill>
              <a:srgbClr val="000000"/>
            </a:solidFill>
            <a:round/>
            <a:headEnd/>
            <a:tailEnd/>
          </a:ln>
        </p:spPr>
        <p:txBody>
          <a:bodyPr lIns="0" tIns="0" rIns="0" bIns="0" anchor="ctr">
            <a:spAutoFit/>
          </a:bodyPr>
          <a:lstStyle/>
          <a:p>
            <a:r>
              <a:rPr lang="en-US" sz="800">
                <a:solidFill>
                  <a:srgbClr val="000000"/>
                </a:solidFill>
              </a:rPr>
              <a:t>Legacy</a:t>
            </a:r>
          </a:p>
          <a:p>
            <a:r>
              <a:rPr lang="en-US" sz="800">
                <a:solidFill>
                  <a:srgbClr val="000000"/>
                </a:solidFill>
              </a:rPr>
              <a:t>System A</a:t>
            </a:r>
          </a:p>
        </p:txBody>
      </p:sp>
      <p:sp>
        <p:nvSpPr>
          <p:cNvPr id="2475660" name="Rectangle 1676"/>
          <p:cNvSpPr>
            <a:spLocks noChangeArrowheads="1"/>
          </p:cNvSpPr>
          <p:nvPr/>
        </p:nvSpPr>
        <p:spPr bwMode="auto">
          <a:xfrm>
            <a:off x="7215188" y="3362325"/>
            <a:ext cx="506412" cy="247650"/>
          </a:xfrm>
          <a:prstGeom prst="rect">
            <a:avLst/>
          </a:prstGeom>
          <a:solidFill>
            <a:srgbClr val="F09CE8"/>
          </a:solidFill>
          <a:ln w="3175" cap="rnd">
            <a:solidFill>
              <a:srgbClr val="000000"/>
            </a:solidFill>
            <a:round/>
            <a:headEnd/>
            <a:tailEnd/>
          </a:ln>
        </p:spPr>
        <p:txBody>
          <a:bodyPr lIns="0" tIns="0" rIns="0" bIns="0" anchor="ctr">
            <a:spAutoFit/>
          </a:bodyPr>
          <a:lstStyle/>
          <a:p>
            <a:r>
              <a:rPr lang="en-US" sz="800">
                <a:solidFill>
                  <a:srgbClr val="000000"/>
                </a:solidFill>
              </a:rPr>
              <a:t>Resource</a:t>
            </a:r>
          </a:p>
          <a:p>
            <a:r>
              <a:rPr lang="en-US" sz="800">
                <a:solidFill>
                  <a:srgbClr val="000000"/>
                </a:solidFill>
              </a:rPr>
              <a:t>Adapter</a:t>
            </a:r>
          </a:p>
        </p:txBody>
      </p:sp>
      <p:sp>
        <p:nvSpPr>
          <p:cNvPr id="2475661" name="Rectangle 1677"/>
          <p:cNvSpPr>
            <a:spLocks noChangeArrowheads="1"/>
          </p:cNvSpPr>
          <p:nvPr/>
        </p:nvSpPr>
        <p:spPr bwMode="auto">
          <a:xfrm>
            <a:off x="7223125" y="2692400"/>
            <a:ext cx="506413" cy="247650"/>
          </a:xfrm>
          <a:prstGeom prst="rect">
            <a:avLst/>
          </a:prstGeom>
          <a:solidFill>
            <a:srgbClr val="F09CE8"/>
          </a:solidFill>
          <a:ln w="3175" cap="rnd">
            <a:solidFill>
              <a:srgbClr val="000000"/>
            </a:solidFill>
            <a:round/>
            <a:headEnd/>
            <a:tailEnd/>
          </a:ln>
        </p:spPr>
        <p:txBody>
          <a:bodyPr lIns="0" tIns="0" rIns="0" bIns="0" anchor="ctr">
            <a:spAutoFit/>
          </a:bodyPr>
          <a:lstStyle/>
          <a:p>
            <a:r>
              <a:rPr lang="en-US" sz="800">
                <a:solidFill>
                  <a:srgbClr val="000000"/>
                </a:solidFill>
              </a:rPr>
              <a:t>Resource</a:t>
            </a:r>
          </a:p>
          <a:p>
            <a:r>
              <a:rPr lang="en-US" sz="800">
                <a:solidFill>
                  <a:srgbClr val="000000"/>
                </a:solidFill>
              </a:rPr>
              <a:t>Adapter</a:t>
            </a:r>
          </a:p>
        </p:txBody>
      </p:sp>
      <p:sp>
        <p:nvSpPr>
          <p:cNvPr id="2475662" name="Line 1678"/>
          <p:cNvSpPr>
            <a:spLocks noChangeShapeType="1"/>
          </p:cNvSpPr>
          <p:nvPr/>
        </p:nvSpPr>
        <p:spPr bwMode="auto">
          <a:xfrm>
            <a:off x="6751638" y="3498850"/>
            <a:ext cx="457200"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63" name="Line 1679"/>
          <p:cNvSpPr>
            <a:spLocks noChangeShapeType="1"/>
          </p:cNvSpPr>
          <p:nvPr/>
        </p:nvSpPr>
        <p:spPr bwMode="auto">
          <a:xfrm>
            <a:off x="7723188" y="3498850"/>
            <a:ext cx="436562"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66" name="Line 1682"/>
          <p:cNvSpPr>
            <a:spLocks noChangeShapeType="1"/>
          </p:cNvSpPr>
          <p:nvPr/>
        </p:nvSpPr>
        <p:spPr bwMode="auto">
          <a:xfrm>
            <a:off x="6751638" y="3392488"/>
            <a:ext cx="287337" cy="0"/>
          </a:xfrm>
          <a:prstGeom prst="line">
            <a:avLst/>
          </a:prstGeom>
          <a:noFill/>
          <a:ln w="9525">
            <a:solidFill>
              <a:schemeClr val="tx1"/>
            </a:solidFill>
            <a:round/>
            <a:headEnd type="triangle" w="sm" len="sm"/>
            <a:tailEnd type="none" w="sm" len="sm"/>
          </a:ln>
          <a:effectLst/>
        </p:spPr>
        <p:txBody>
          <a:bodyPr/>
          <a:lstStyle/>
          <a:p>
            <a:endParaRPr lang="en-US"/>
          </a:p>
        </p:txBody>
      </p:sp>
      <p:sp>
        <p:nvSpPr>
          <p:cNvPr id="2475667" name="Line 1683"/>
          <p:cNvSpPr>
            <a:spLocks noChangeShapeType="1"/>
          </p:cNvSpPr>
          <p:nvPr/>
        </p:nvSpPr>
        <p:spPr bwMode="auto">
          <a:xfrm flipV="1">
            <a:off x="7038975" y="2817813"/>
            <a:ext cx="0" cy="574675"/>
          </a:xfrm>
          <a:prstGeom prst="line">
            <a:avLst/>
          </a:prstGeom>
          <a:noFill/>
          <a:ln w="9525">
            <a:solidFill>
              <a:schemeClr val="tx1"/>
            </a:solidFill>
            <a:round/>
            <a:headEnd/>
            <a:tailEnd/>
          </a:ln>
          <a:effectLst/>
        </p:spPr>
        <p:txBody>
          <a:bodyPr/>
          <a:lstStyle/>
          <a:p>
            <a:endParaRPr lang="en-US"/>
          </a:p>
        </p:txBody>
      </p:sp>
      <p:sp>
        <p:nvSpPr>
          <p:cNvPr id="2475668" name="Line 1684"/>
          <p:cNvSpPr>
            <a:spLocks noChangeShapeType="1"/>
          </p:cNvSpPr>
          <p:nvPr/>
        </p:nvSpPr>
        <p:spPr bwMode="auto">
          <a:xfrm flipV="1">
            <a:off x="7038975" y="2817813"/>
            <a:ext cx="180975" cy="0"/>
          </a:xfrm>
          <a:prstGeom prst="line">
            <a:avLst/>
          </a:prstGeom>
          <a:noFill/>
          <a:ln w="9525">
            <a:solidFill>
              <a:schemeClr val="tx1"/>
            </a:solidFill>
            <a:round/>
            <a:headEnd type="none" w="sm" len="sm"/>
            <a:tailEnd type="triangle" w="sm" len="sm"/>
          </a:ln>
          <a:effectLst/>
        </p:spPr>
        <p:txBody>
          <a:bodyPr/>
          <a:lstStyle/>
          <a:p>
            <a:endParaRPr lang="en-US"/>
          </a:p>
        </p:txBody>
      </p:sp>
      <p:sp>
        <p:nvSpPr>
          <p:cNvPr id="2475672" name="Line 1688"/>
          <p:cNvSpPr>
            <a:spLocks noChangeShapeType="1"/>
          </p:cNvSpPr>
          <p:nvPr/>
        </p:nvSpPr>
        <p:spPr bwMode="auto">
          <a:xfrm flipV="1">
            <a:off x="6538913" y="2532063"/>
            <a:ext cx="0" cy="277812"/>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73" name="Line 1689"/>
          <p:cNvSpPr>
            <a:spLocks noChangeShapeType="1"/>
          </p:cNvSpPr>
          <p:nvPr/>
        </p:nvSpPr>
        <p:spPr bwMode="auto">
          <a:xfrm>
            <a:off x="6007100" y="3530600"/>
            <a:ext cx="341313"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74" name="Line 1690"/>
          <p:cNvSpPr>
            <a:spLocks noChangeShapeType="1"/>
          </p:cNvSpPr>
          <p:nvPr/>
        </p:nvSpPr>
        <p:spPr bwMode="auto">
          <a:xfrm>
            <a:off x="6538913" y="3073400"/>
            <a:ext cx="0" cy="255588"/>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75" name="Line 1691"/>
          <p:cNvSpPr>
            <a:spLocks noChangeShapeType="1"/>
          </p:cNvSpPr>
          <p:nvPr/>
        </p:nvSpPr>
        <p:spPr bwMode="auto">
          <a:xfrm>
            <a:off x="7731125" y="2817813"/>
            <a:ext cx="436563"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80" name="Line 1696"/>
          <p:cNvSpPr>
            <a:spLocks noChangeShapeType="1"/>
          </p:cNvSpPr>
          <p:nvPr/>
        </p:nvSpPr>
        <p:spPr bwMode="auto">
          <a:xfrm>
            <a:off x="5422900" y="2722563"/>
            <a:ext cx="0" cy="339725"/>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81" name="Line 1697"/>
          <p:cNvSpPr>
            <a:spLocks noChangeShapeType="1"/>
          </p:cNvSpPr>
          <p:nvPr/>
        </p:nvSpPr>
        <p:spPr bwMode="auto">
          <a:xfrm flipV="1">
            <a:off x="4379913" y="3095625"/>
            <a:ext cx="0" cy="339725"/>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82" name="Line 1698"/>
          <p:cNvSpPr>
            <a:spLocks noChangeShapeType="1"/>
          </p:cNvSpPr>
          <p:nvPr/>
        </p:nvSpPr>
        <p:spPr bwMode="auto">
          <a:xfrm>
            <a:off x="5438775" y="1765300"/>
            <a:ext cx="0" cy="29845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684" name="Rectangle 1700"/>
          <p:cNvSpPr>
            <a:spLocks noChangeArrowheads="1"/>
          </p:cNvSpPr>
          <p:nvPr/>
        </p:nvSpPr>
        <p:spPr bwMode="auto">
          <a:xfrm>
            <a:off x="180975" y="4057650"/>
            <a:ext cx="541338" cy="436563"/>
          </a:xfrm>
          <a:prstGeom prst="rect">
            <a:avLst/>
          </a:prstGeom>
          <a:solidFill>
            <a:srgbClr val="FFFF99"/>
          </a:solidFill>
          <a:ln w="9525">
            <a:solidFill>
              <a:schemeClr val="tx1"/>
            </a:solidFill>
            <a:miter lim="800000"/>
            <a:headEnd/>
            <a:tailEnd/>
          </a:ln>
          <a:effectLst/>
        </p:spPr>
        <p:txBody>
          <a:bodyPr wrap="none" anchor="ctr"/>
          <a:lstStyle/>
          <a:p>
            <a:pPr>
              <a:lnSpc>
                <a:spcPct val="75000"/>
              </a:lnSpc>
            </a:pPr>
            <a:r>
              <a:rPr lang="en-US" sz="800"/>
              <a:t>Third </a:t>
            </a:r>
          </a:p>
          <a:p>
            <a:pPr>
              <a:lnSpc>
                <a:spcPct val="75000"/>
              </a:lnSpc>
            </a:pPr>
            <a:r>
              <a:rPr lang="en-US" sz="800"/>
              <a:t>Party </a:t>
            </a:r>
          </a:p>
          <a:p>
            <a:pPr>
              <a:lnSpc>
                <a:spcPct val="75000"/>
              </a:lnSpc>
            </a:pPr>
            <a:r>
              <a:rPr lang="en-US" sz="800"/>
              <a:t>Vendor</a:t>
            </a:r>
          </a:p>
        </p:txBody>
      </p:sp>
      <p:grpSp>
        <p:nvGrpSpPr>
          <p:cNvPr id="2475706" name="Group 1722"/>
          <p:cNvGrpSpPr>
            <a:grpSpLocks/>
          </p:cNvGrpSpPr>
          <p:nvPr/>
        </p:nvGrpSpPr>
        <p:grpSpPr bwMode="auto">
          <a:xfrm>
            <a:off x="728663" y="3956050"/>
            <a:ext cx="1593850" cy="760413"/>
            <a:chOff x="459" y="2612"/>
            <a:chExt cx="971" cy="479"/>
          </a:xfrm>
        </p:grpSpPr>
        <p:sp>
          <p:nvSpPr>
            <p:cNvPr id="2475167" name="Rectangle 1183"/>
            <p:cNvSpPr>
              <a:spLocks noChangeArrowheads="1"/>
            </p:cNvSpPr>
            <p:nvPr/>
          </p:nvSpPr>
          <p:spPr bwMode="auto">
            <a:xfrm>
              <a:off x="1029" y="2829"/>
              <a:ext cx="152" cy="66"/>
            </a:xfrm>
            <a:prstGeom prst="rect">
              <a:avLst/>
            </a:prstGeom>
            <a:solidFill>
              <a:srgbClr val="FFFFFF"/>
            </a:solidFill>
            <a:ln w="9525">
              <a:noFill/>
              <a:miter lim="800000"/>
              <a:headEnd/>
              <a:tailEnd/>
            </a:ln>
          </p:spPr>
          <p:txBody>
            <a:bodyPr/>
            <a:lstStyle/>
            <a:p>
              <a:endParaRPr lang="en-US"/>
            </a:p>
          </p:txBody>
        </p:sp>
        <p:sp>
          <p:nvSpPr>
            <p:cNvPr id="2475686" name="Line 1702"/>
            <p:cNvSpPr>
              <a:spLocks noChangeShapeType="1"/>
            </p:cNvSpPr>
            <p:nvPr/>
          </p:nvSpPr>
          <p:spPr bwMode="auto">
            <a:xfrm>
              <a:off x="459" y="2833"/>
              <a:ext cx="971"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2475687" name="Freeform 1703"/>
            <p:cNvSpPr>
              <a:spLocks/>
            </p:cNvSpPr>
            <p:nvPr/>
          </p:nvSpPr>
          <p:spPr bwMode="auto">
            <a:xfrm>
              <a:off x="1009" y="2628"/>
              <a:ext cx="162"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solidFill>
              <a:srgbClr val="D0624F"/>
            </a:solidFill>
            <a:ln w="9525">
              <a:noFill/>
              <a:round/>
              <a:headEnd/>
              <a:tailEnd/>
            </a:ln>
          </p:spPr>
          <p:txBody>
            <a:bodyPr/>
            <a:lstStyle/>
            <a:p>
              <a:endParaRPr lang="en-US"/>
            </a:p>
          </p:txBody>
        </p:sp>
        <p:sp>
          <p:nvSpPr>
            <p:cNvPr id="2475688" name="Freeform 1704"/>
            <p:cNvSpPr>
              <a:spLocks/>
            </p:cNvSpPr>
            <p:nvPr/>
          </p:nvSpPr>
          <p:spPr bwMode="auto">
            <a:xfrm>
              <a:off x="1009" y="2628"/>
              <a:ext cx="162" cy="383"/>
            </a:xfrm>
            <a:custGeom>
              <a:avLst/>
              <a:gdLst/>
              <a:ahLst/>
              <a:cxnLst>
                <a:cxn ang="0">
                  <a:pos x="0" y="383"/>
                </a:cxn>
                <a:cxn ang="0">
                  <a:pos x="153" y="230"/>
                </a:cxn>
                <a:cxn ang="0">
                  <a:pos x="153" y="0"/>
                </a:cxn>
                <a:cxn ang="0">
                  <a:pos x="0" y="153"/>
                </a:cxn>
                <a:cxn ang="0">
                  <a:pos x="0" y="383"/>
                </a:cxn>
              </a:cxnLst>
              <a:rect l="0" t="0" r="r" b="b"/>
              <a:pathLst>
                <a:path w="153" h="383">
                  <a:moveTo>
                    <a:pt x="0" y="383"/>
                  </a:moveTo>
                  <a:lnTo>
                    <a:pt x="153" y="230"/>
                  </a:lnTo>
                  <a:lnTo>
                    <a:pt x="153" y="0"/>
                  </a:lnTo>
                  <a:lnTo>
                    <a:pt x="0" y="153"/>
                  </a:lnTo>
                  <a:lnTo>
                    <a:pt x="0" y="383"/>
                  </a:lnTo>
                  <a:close/>
                </a:path>
              </a:pathLst>
            </a:custGeom>
            <a:noFill/>
            <a:ln w="7938" cap="rnd">
              <a:solidFill>
                <a:srgbClr val="CDCDCD"/>
              </a:solidFill>
              <a:prstDash val="solid"/>
              <a:round/>
              <a:headEnd/>
              <a:tailEnd/>
            </a:ln>
          </p:spPr>
          <p:txBody>
            <a:bodyPr/>
            <a:lstStyle/>
            <a:p>
              <a:endParaRPr lang="en-US"/>
            </a:p>
          </p:txBody>
        </p:sp>
        <p:sp>
          <p:nvSpPr>
            <p:cNvPr id="2475689" name="Freeform 1705"/>
            <p:cNvSpPr>
              <a:spLocks noEditPoints="1"/>
            </p:cNvSpPr>
            <p:nvPr/>
          </p:nvSpPr>
          <p:spPr bwMode="auto">
            <a:xfrm>
              <a:off x="978" y="2647"/>
              <a:ext cx="193" cy="326"/>
            </a:xfrm>
            <a:custGeom>
              <a:avLst/>
              <a:gdLst/>
              <a:ahLst/>
              <a:cxnLst>
                <a:cxn ang="0">
                  <a:pos x="30" y="172"/>
                </a:cxn>
                <a:cxn ang="0">
                  <a:pos x="50" y="153"/>
                </a:cxn>
                <a:cxn ang="0">
                  <a:pos x="69" y="134"/>
                </a:cxn>
                <a:cxn ang="0">
                  <a:pos x="88" y="115"/>
                </a:cxn>
                <a:cxn ang="0">
                  <a:pos x="107" y="96"/>
                </a:cxn>
                <a:cxn ang="0">
                  <a:pos x="126" y="77"/>
                </a:cxn>
                <a:cxn ang="0">
                  <a:pos x="145" y="57"/>
                </a:cxn>
                <a:cxn ang="0">
                  <a:pos x="0" y="211"/>
                </a:cxn>
                <a:cxn ang="0">
                  <a:pos x="50" y="191"/>
                </a:cxn>
                <a:cxn ang="0">
                  <a:pos x="69" y="172"/>
                </a:cxn>
                <a:cxn ang="0">
                  <a:pos x="88" y="153"/>
                </a:cxn>
                <a:cxn ang="0">
                  <a:pos x="107" y="134"/>
                </a:cxn>
                <a:cxn ang="0">
                  <a:pos x="126" y="115"/>
                </a:cxn>
                <a:cxn ang="0">
                  <a:pos x="145" y="96"/>
                </a:cxn>
                <a:cxn ang="0">
                  <a:pos x="164" y="77"/>
                </a:cxn>
                <a:cxn ang="0">
                  <a:pos x="183" y="57"/>
                </a:cxn>
                <a:cxn ang="0">
                  <a:pos x="30" y="249"/>
                </a:cxn>
                <a:cxn ang="0">
                  <a:pos x="50" y="230"/>
                </a:cxn>
                <a:cxn ang="0">
                  <a:pos x="69" y="211"/>
                </a:cxn>
                <a:cxn ang="0">
                  <a:pos x="88" y="191"/>
                </a:cxn>
                <a:cxn ang="0">
                  <a:pos x="107" y="172"/>
                </a:cxn>
                <a:cxn ang="0">
                  <a:pos x="126" y="153"/>
                </a:cxn>
                <a:cxn ang="0">
                  <a:pos x="145" y="134"/>
                </a:cxn>
                <a:cxn ang="0">
                  <a:pos x="164" y="115"/>
                </a:cxn>
                <a:cxn ang="0">
                  <a:pos x="0" y="287"/>
                </a:cxn>
                <a:cxn ang="0">
                  <a:pos x="50" y="268"/>
                </a:cxn>
                <a:cxn ang="0">
                  <a:pos x="69" y="249"/>
                </a:cxn>
                <a:cxn ang="0">
                  <a:pos x="88" y="230"/>
                </a:cxn>
                <a:cxn ang="0">
                  <a:pos x="107" y="211"/>
                </a:cxn>
                <a:cxn ang="0">
                  <a:pos x="126" y="191"/>
                </a:cxn>
                <a:cxn ang="0">
                  <a:pos x="145" y="172"/>
                </a:cxn>
                <a:cxn ang="0">
                  <a:pos x="164" y="153"/>
                </a:cxn>
                <a:cxn ang="0">
                  <a:pos x="183" y="134"/>
                </a:cxn>
                <a:cxn ang="0">
                  <a:pos x="30" y="326"/>
                </a:cxn>
                <a:cxn ang="0">
                  <a:pos x="50" y="306"/>
                </a:cxn>
                <a:cxn ang="0">
                  <a:pos x="69" y="287"/>
                </a:cxn>
                <a:cxn ang="0">
                  <a:pos x="88" y="268"/>
                </a:cxn>
                <a:cxn ang="0">
                  <a:pos x="107" y="249"/>
                </a:cxn>
                <a:cxn ang="0">
                  <a:pos x="126" y="230"/>
                </a:cxn>
                <a:cxn ang="0">
                  <a:pos x="145" y="211"/>
                </a:cxn>
                <a:cxn ang="0">
                  <a:pos x="164" y="191"/>
                </a:cxn>
                <a:cxn ang="0">
                  <a:pos x="50" y="153"/>
                </a:cxn>
                <a:cxn ang="0">
                  <a:pos x="50" y="230"/>
                </a:cxn>
                <a:cxn ang="0">
                  <a:pos x="50" y="306"/>
                </a:cxn>
                <a:cxn ang="0">
                  <a:pos x="69" y="326"/>
                </a:cxn>
                <a:cxn ang="0">
                  <a:pos x="69" y="172"/>
                </a:cxn>
                <a:cxn ang="0">
                  <a:pos x="69" y="249"/>
                </a:cxn>
                <a:cxn ang="0">
                  <a:pos x="88" y="115"/>
                </a:cxn>
                <a:cxn ang="0">
                  <a:pos x="88" y="191"/>
                </a:cxn>
                <a:cxn ang="0">
                  <a:pos x="88" y="268"/>
                </a:cxn>
                <a:cxn ang="0">
                  <a:pos x="107" y="287"/>
                </a:cxn>
                <a:cxn ang="0">
                  <a:pos x="107" y="134"/>
                </a:cxn>
                <a:cxn ang="0">
                  <a:pos x="107" y="211"/>
                </a:cxn>
                <a:cxn ang="0">
                  <a:pos x="126" y="77"/>
                </a:cxn>
                <a:cxn ang="0">
                  <a:pos x="126" y="153"/>
                </a:cxn>
                <a:cxn ang="0">
                  <a:pos x="126" y="230"/>
                </a:cxn>
                <a:cxn ang="0">
                  <a:pos x="145" y="249"/>
                </a:cxn>
                <a:cxn ang="0">
                  <a:pos x="145" y="96"/>
                </a:cxn>
                <a:cxn ang="0">
                  <a:pos x="145" y="172"/>
                </a:cxn>
                <a:cxn ang="0">
                  <a:pos x="164" y="115"/>
                </a:cxn>
                <a:cxn ang="0">
                  <a:pos x="164" y="191"/>
                </a:cxn>
                <a:cxn ang="0">
                  <a:pos x="164" y="38"/>
                </a:cxn>
                <a:cxn ang="0">
                  <a:pos x="164" y="38"/>
                </a:cxn>
              </a:cxnLst>
              <a:rect l="0" t="0" r="r" b="b"/>
              <a:pathLst>
                <a:path w="183" h="326">
                  <a:moveTo>
                    <a:pt x="0" y="172"/>
                  </a:moveTo>
                  <a:lnTo>
                    <a:pt x="30" y="172"/>
                  </a:lnTo>
                  <a:lnTo>
                    <a:pt x="50" y="153"/>
                  </a:lnTo>
                  <a:moveTo>
                    <a:pt x="50" y="153"/>
                  </a:moveTo>
                  <a:lnTo>
                    <a:pt x="69" y="134"/>
                  </a:lnTo>
                  <a:moveTo>
                    <a:pt x="69" y="134"/>
                  </a:moveTo>
                  <a:lnTo>
                    <a:pt x="88" y="115"/>
                  </a:lnTo>
                  <a:moveTo>
                    <a:pt x="88" y="115"/>
                  </a:moveTo>
                  <a:lnTo>
                    <a:pt x="107" y="96"/>
                  </a:lnTo>
                  <a:moveTo>
                    <a:pt x="107" y="96"/>
                  </a:moveTo>
                  <a:lnTo>
                    <a:pt x="126" y="77"/>
                  </a:lnTo>
                  <a:moveTo>
                    <a:pt x="126" y="77"/>
                  </a:moveTo>
                  <a:lnTo>
                    <a:pt x="145" y="57"/>
                  </a:lnTo>
                  <a:moveTo>
                    <a:pt x="145" y="57"/>
                  </a:moveTo>
                  <a:lnTo>
                    <a:pt x="164" y="38"/>
                  </a:lnTo>
                  <a:moveTo>
                    <a:pt x="0" y="211"/>
                  </a:moveTo>
                  <a:lnTo>
                    <a:pt x="30" y="211"/>
                  </a:lnTo>
                  <a:lnTo>
                    <a:pt x="50" y="191"/>
                  </a:lnTo>
                  <a:moveTo>
                    <a:pt x="50" y="191"/>
                  </a:moveTo>
                  <a:lnTo>
                    <a:pt x="69" y="172"/>
                  </a:lnTo>
                  <a:moveTo>
                    <a:pt x="69" y="172"/>
                  </a:moveTo>
                  <a:lnTo>
                    <a:pt x="88" y="153"/>
                  </a:lnTo>
                  <a:moveTo>
                    <a:pt x="88" y="153"/>
                  </a:moveTo>
                  <a:lnTo>
                    <a:pt x="107" y="134"/>
                  </a:lnTo>
                  <a:moveTo>
                    <a:pt x="107" y="134"/>
                  </a:moveTo>
                  <a:lnTo>
                    <a:pt x="126" y="115"/>
                  </a:lnTo>
                  <a:moveTo>
                    <a:pt x="126" y="115"/>
                  </a:moveTo>
                  <a:lnTo>
                    <a:pt x="145" y="96"/>
                  </a:lnTo>
                  <a:moveTo>
                    <a:pt x="145" y="96"/>
                  </a:moveTo>
                  <a:lnTo>
                    <a:pt x="164" y="77"/>
                  </a:lnTo>
                  <a:moveTo>
                    <a:pt x="164" y="77"/>
                  </a:moveTo>
                  <a:lnTo>
                    <a:pt x="183" y="57"/>
                  </a:lnTo>
                  <a:moveTo>
                    <a:pt x="0" y="249"/>
                  </a:moveTo>
                  <a:lnTo>
                    <a:pt x="30" y="249"/>
                  </a:lnTo>
                  <a:lnTo>
                    <a:pt x="50" y="230"/>
                  </a:lnTo>
                  <a:moveTo>
                    <a:pt x="50" y="230"/>
                  </a:moveTo>
                  <a:lnTo>
                    <a:pt x="69" y="211"/>
                  </a:lnTo>
                  <a:moveTo>
                    <a:pt x="69" y="211"/>
                  </a:moveTo>
                  <a:lnTo>
                    <a:pt x="88" y="191"/>
                  </a:lnTo>
                  <a:moveTo>
                    <a:pt x="88" y="191"/>
                  </a:moveTo>
                  <a:lnTo>
                    <a:pt x="107" y="172"/>
                  </a:lnTo>
                  <a:moveTo>
                    <a:pt x="107" y="172"/>
                  </a:moveTo>
                  <a:lnTo>
                    <a:pt x="126" y="153"/>
                  </a:lnTo>
                  <a:moveTo>
                    <a:pt x="126" y="153"/>
                  </a:moveTo>
                  <a:lnTo>
                    <a:pt x="145" y="134"/>
                  </a:lnTo>
                  <a:moveTo>
                    <a:pt x="145" y="134"/>
                  </a:moveTo>
                  <a:lnTo>
                    <a:pt x="164" y="115"/>
                  </a:lnTo>
                  <a:moveTo>
                    <a:pt x="164" y="115"/>
                  </a:moveTo>
                  <a:lnTo>
                    <a:pt x="183" y="96"/>
                  </a:lnTo>
                  <a:moveTo>
                    <a:pt x="0" y="287"/>
                  </a:moveTo>
                  <a:lnTo>
                    <a:pt x="30" y="287"/>
                  </a:lnTo>
                  <a:lnTo>
                    <a:pt x="50" y="268"/>
                  </a:lnTo>
                  <a:moveTo>
                    <a:pt x="50" y="268"/>
                  </a:moveTo>
                  <a:lnTo>
                    <a:pt x="69" y="249"/>
                  </a:lnTo>
                  <a:moveTo>
                    <a:pt x="69" y="249"/>
                  </a:moveTo>
                  <a:lnTo>
                    <a:pt x="88" y="230"/>
                  </a:lnTo>
                  <a:moveTo>
                    <a:pt x="88" y="230"/>
                  </a:moveTo>
                  <a:lnTo>
                    <a:pt x="107" y="211"/>
                  </a:lnTo>
                  <a:moveTo>
                    <a:pt x="107" y="211"/>
                  </a:moveTo>
                  <a:lnTo>
                    <a:pt x="126" y="191"/>
                  </a:lnTo>
                  <a:moveTo>
                    <a:pt x="126" y="191"/>
                  </a:moveTo>
                  <a:lnTo>
                    <a:pt x="145" y="172"/>
                  </a:lnTo>
                  <a:moveTo>
                    <a:pt x="145" y="172"/>
                  </a:moveTo>
                  <a:lnTo>
                    <a:pt x="164" y="153"/>
                  </a:lnTo>
                  <a:moveTo>
                    <a:pt x="164" y="153"/>
                  </a:moveTo>
                  <a:lnTo>
                    <a:pt x="183" y="134"/>
                  </a:lnTo>
                  <a:moveTo>
                    <a:pt x="0" y="326"/>
                  </a:moveTo>
                  <a:lnTo>
                    <a:pt x="30" y="326"/>
                  </a:lnTo>
                  <a:lnTo>
                    <a:pt x="50" y="306"/>
                  </a:lnTo>
                  <a:moveTo>
                    <a:pt x="50" y="306"/>
                  </a:moveTo>
                  <a:lnTo>
                    <a:pt x="69" y="287"/>
                  </a:lnTo>
                  <a:moveTo>
                    <a:pt x="69" y="287"/>
                  </a:moveTo>
                  <a:lnTo>
                    <a:pt x="88" y="268"/>
                  </a:lnTo>
                  <a:moveTo>
                    <a:pt x="88" y="268"/>
                  </a:moveTo>
                  <a:lnTo>
                    <a:pt x="107" y="249"/>
                  </a:lnTo>
                  <a:moveTo>
                    <a:pt x="107" y="249"/>
                  </a:moveTo>
                  <a:lnTo>
                    <a:pt x="126" y="230"/>
                  </a:lnTo>
                  <a:moveTo>
                    <a:pt x="126" y="230"/>
                  </a:moveTo>
                  <a:lnTo>
                    <a:pt x="145" y="211"/>
                  </a:lnTo>
                  <a:moveTo>
                    <a:pt x="145" y="211"/>
                  </a:moveTo>
                  <a:lnTo>
                    <a:pt x="164" y="191"/>
                  </a:lnTo>
                  <a:moveTo>
                    <a:pt x="164" y="191"/>
                  </a:moveTo>
                  <a:lnTo>
                    <a:pt x="183" y="172"/>
                  </a:lnTo>
                  <a:moveTo>
                    <a:pt x="50" y="153"/>
                  </a:moveTo>
                  <a:lnTo>
                    <a:pt x="50" y="115"/>
                  </a:lnTo>
                  <a:moveTo>
                    <a:pt x="50" y="230"/>
                  </a:moveTo>
                  <a:lnTo>
                    <a:pt x="50" y="191"/>
                  </a:lnTo>
                  <a:moveTo>
                    <a:pt x="50" y="306"/>
                  </a:moveTo>
                  <a:lnTo>
                    <a:pt x="50" y="268"/>
                  </a:lnTo>
                  <a:moveTo>
                    <a:pt x="69" y="326"/>
                  </a:moveTo>
                  <a:lnTo>
                    <a:pt x="69" y="287"/>
                  </a:lnTo>
                  <a:moveTo>
                    <a:pt x="69" y="172"/>
                  </a:moveTo>
                  <a:lnTo>
                    <a:pt x="69" y="134"/>
                  </a:lnTo>
                  <a:moveTo>
                    <a:pt x="69" y="249"/>
                  </a:moveTo>
                  <a:lnTo>
                    <a:pt x="69" y="211"/>
                  </a:lnTo>
                  <a:moveTo>
                    <a:pt x="88" y="115"/>
                  </a:moveTo>
                  <a:lnTo>
                    <a:pt x="88" y="77"/>
                  </a:lnTo>
                  <a:moveTo>
                    <a:pt x="88" y="191"/>
                  </a:moveTo>
                  <a:lnTo>
                    <a:pt x="88" y="153"/>
                  </a:lnTo>
                  <a:moveTo>
                    <a:pt x="88" y="268"/>
                  </a:moveTo>
                  <a:lnTo>
                    <a:pt x="88" y="230"/>
                  </a:lnTo>
                  <a:moveTo>
                    <a:pt x="107" y="287"/>
                  </a:moveTo>
                  <a:lnTo>
                    <a:pt x="107" y="249"/>
                  </a:lnTo>
                  <a:moveTo>
                    <a:pt x="107" y="134"/>
                  </a:moveTo>
                  <a:lnTo>
                    <a:pt x="107" y="96"/>
                  </a:lnTo>
                  <a:moveTo>
                    <a:pt x="107" y="211"/>
                  </a:moveTo>
                  <a:lnTo>
                    <a:pt x="107" y="172"/>
                  </a:lnTo>
                  <a:moveTo>
                    <a:pt x="126" y="77"/>
                  </a:moveTo>
                  <a:lnTo>
                    <a:pt x="126" y="38"/>
                  </a:lnTo>
                  <a:moveTo>
                    <a:pt x="126" y="153"/>
                  </a:moveTo>
                  <a:lnTo>
                    <a:pt x="126" y="115"/>
                  </a:lnTo>
                  <a:moveTo>
                    <a:pt x="126" y="230"/>
                  </a:moveTo>
                  <a:lnTo>
                    <a:pt x="126" y="191"/>
                  </a:lnTo>
                  <a:moveTo>
                    <a:pt x="145" y="249"/>
                  </a:moveTo>
                  <a:lnTo>
                    <a:pt x="145" y="211"/>
                  </a:lnTo>
                  <a:moveTo>
                    <a:pt x="145" y="96"/>
                  </a:moveTo>
                  <a:lnTo>
                    <a:pt x="145" y="57"/>
                  </a:lnTo>
                  <a:moveTo>
                    <a:pt x="145" y="172"/>
                  </a:moveTo>
                  <a:lnTo>
                    <a:pt x="145" y="134"/>
                  </a:lnTo>
                  <a:moveTo>
                    <a:pt x="164" y="115"/>
                  </a:moveTo>
                  <a:lnTo>
                    <a:pt x="164" y="77"/>
                  </a:lnTo>
                  <a:moveTo>
                    <a:pt x="164" y="191"/>
                  </a:moveTo>
                  <a:lnTo>
                    <a:pt x="164" y="153"/>
                  </a:lnTo>
                  <a:moveTo>
                    <a:pt x="164" y="38"/>
                  </a:moveTo>
                  <a:lnTo>
                    <a:pt x="164" y="0"/>
                  </a:lnTo>
                  <a:moveTo>
                    <a:pt x="164" y="38"/>
                  </a:moveTo>
                  <a:lnTo>
                    <a:pt x="183" y="19"/>
                  </a:lnTo>
                </a:path>
              </a:pathLst>
            </a:custGeom>
            <a:noFill/>
            <a:ln w="7938" cap="flat">
              <a:solidFill>
                <a:srgbClr val="CDCDCD"/>
              </a:solidFill>
              <a:prstDash val="solid"/>
              <a:miter lim="800000"/>
              <a:headEnd/>
              <a:tailEnd/>
            </a:ln>
          </p:spPr>
          <p:txBody>
            <a:bodyPr/>
            <a:lstStyle/>
            <a:p>
              <a:endParaRPr lang="en-US"/>
            </a:p>
          </p:txBody>
        </p:sp>
        <p:sp>
          <p:nvSpPr>
            <p:cNvPr id="2475690" name="Rectangle 1706"/>
            <p:cNvSpPr>
              <a:spLocks noChangeArrowheads="1"/>
            </p:cNvSpPr>
            <p:nvPr/>
          </p:nvSpPr>
          <p:spPr bwMode="auto">
            <a:xfrm>
              <a:off x="978" y="2781"/>
              <a:ext cx="31" cy="230"/>
            </a:xfrm>
            <a:prstGeom prst="rect">
              <a:avLst/>
            </a:prstGeom>
            <a:solidFill>
              <a:srgbClr val="DC7E5F"/>
            </a:solidFill>
            <a:ln w="9525">
              <a:noFill/>
              <a:miter lim="800000"/>
              <a:headEnd/>
              <a:tailEnd/>
            </a:ln>
          </p:spPr>
          <p:txBody>
            <a:bodyPr/>
            <a:lstStyle/>
            <a:p>
              <a:endParaRPr lang="en-US"/>
            </a:p>
          </p:txBody>
        </p:sp>
        <p:sp>
          <p:nvSpPr>
            <p:cNvPr id="2475691" name="Rectangle 1707"/>
            <p:cNvSpPr>
              <a:spLocks noChangeArrowheads="1"/>
            </p:cNvSpPr>
            <p:nvPr/>
          </p:nvSpPr>
          <p:spPr bwMode="auto">
            <a:xfrm>
              <a:off x="978" y="2781"/>
              <a:ext cx="31" cy="230"/>
            </a:xfrm>
            <a:prstGeom prst="rect">
              <a:avLst/>
            </a:prstGeom>
            <a:noFill/>
            <a:ln w="7938" cap="rnd">
              <a:solidFill>
                <a:srgbClr val="E6E6E6"/>
              </a:solidFill>
              <a:round/>
              <a:headEnd/>
              <a:tailEnd/>
            </a:ln>
          </p:spPr>
          <p:txBody>
            <a:bodyPr/>
            <a:lstStyle/>
            <a:p>
              <a:endParaRPr lang="en-US"/>
            </a:p>
          </p:txBody>
        </p:sp>
        <p:sp>
          <p:nvSpPr>
            <p:cNvPr id="2475692" name="Freeform 1708"/>
            <p:cNvSpPr>
              <a:spLocks/>
            </p:cNvSpPr>
            <p:nvPr/>
          </p:nvSpPr>
          <p:spPr bwMode="auto">
            <a:xfrm>
              <a:off x="1026" y="2612"/>
              <a:ext cx="161" cy="169"/>
            </a:xfrm>
            <a:custGeom>
              <a:avLst/>
              <a:gdLst/>
              <a:ahLst/>
              <a:cxnLst>
                <a:cxn ang="0">
                  <a:pos x="0" y="169"/>
                </a:cxn>
                <a:cxn ang="0">
                  <a:pos x="152" y="16"/>
                </a:cxn>
                <a:cxn ang="0">
                  <a:pos x="152" y="0"/>
                </a:cxn>
                <a:cxn ang="0">
                  <a:pos x="0" y="154"/>
                </a:cxn>
                <a:cxn ang="0">
                  <a:pos x="0" y="169"/>
                </a:cxn>
              </a:cxnLst>
              <a:rect l="0" t="0" r="r" b="b"/>
              <a:pathLst>
                <a:path w="152" h="169">
                  <a:moveTo>
                    <a:pt x="0" y="169"/>
                  </a:moveTo>
                  <a:lnTo>
                    <a:pt x="152" y="16"/>
                  </a:lnTo>
                  <a:lnTo>
                    <a:pt x="152" y="0"/>
                  </a:lnTo>
                  <a:lnTo>
                    <a:pt x="0" y="154"/>
                  </a:lnTo>
                  <a:lnTo>
                    <a:pt x="0" y="169"/>
                  </a:lnTo>
                  <a:close/>
                </a:path>
              </a:pathLst>
            </a:custGeom>
            <a:solidFill>
              <a:srgbClr val="9A9A9A"/>
            </a:solidFill>
            <a:ln w="9525">
              <a:noFill/>
              <a:round/>
              <a:headEnd/>
              <a:tailEnd/>
            </a:ln>
          </p:spPr>
          <p:txBody>
            <a:bodyPr/>
            <a:lstStyle/>
            <a:p>
              <a:endParaRPr lang="en-US"/>
            </a:p>
          </p:txBody>
        </p:sp>
        <p:sp>
          <p:nvSpPr>
            <p:cNvPr id="2475693" name="Rectangle 1709"/>
            <p:cNvSpPr>
              <a:spLocks noChangeArrowheads="1"/>
            </p:cNvSpPr>
            <p:nvPr/>
          </p:nvSpPr>
          <p:spPr bwMode="auto">
            <a:xfrm>
              <a:off x="962" y="2766"/>
              <a:ext cx="64" cy="15"/>
            </a:xfrm>
            <a:prstGeom prst="rect">
              <a:avLst/>
            </a:prstGeom>
            <a:solidFill>
              <a:srgbClr val="C0C0C0"/>
            </a:solidFill>
            <a:ln w="9525">
              <a:noFill/>
              <a:miter lim="800000"/>
              <a:headEnd/>
              <a:tailEnd/>
            </a:ln>
          </p:spPr>
          <p:txBody>
            <a:bodyPr/>
            <a:lstStyle/>
            <a:p>
              <a:endParaRPr lang="en-US"/>
            </a:p>
          </p:txBody>
        </p:sp>
        <p:sp>
          <p:nvSpPr>
            <p:cNvPr id="2475694" name="Freeform 1710"/>
            <p:cNvSpPr>
              <a:spLocks/>
            </p:cNvSpPr>
            <p:nvPr/>
          </p:nvSpPr>
          <p:spPr bwMode="auto">
            <a:xfrm>
              <a:off x="962" y="2612"/>
              <a:ext cx="225" cy="154"/>
            </a:xfrm>
            <a:custGeom>
              <a:avLst/>
              <a:gdLst/>
              <a:ahLst/>
              <a:cxnLst>
                <a:cxn ang="0">
                  <a:pos x="0" y="154"/>
                </a:cxn>
                <a:cxn ang="0">
                  <a:pos x="152" y="0"/>
                </a:cxn>
                <a:cxn ang="0">
                  <a:pos x="213" y="0"/>
                </a:cxn>
                <a:cxn ang="0">
                  <a:pos x="61" y="154"/>
                </a:cxn>
                <a:cxn ang="0">
                  <a:pos x="0" y="154"/>
                </a:cxn>
              </a:cxnLst>
              <a:rect l="0" t="0" r="r" b="b"/>
              <a:pathLst>
                <a:path w="213" h="154">
                  <a:moveTo>
                    <a:pt x="0" y="154"/>
                  </a:moveTo>
                  <a:lnTo>
                    <a:pt x="152" y="0"/>
                  </a:lnTo>
                  <a:lnTo>
                    <a:pt x="213" y="0"/>
                  </a:lnTo>
                  <a:lnTo>
                    <a:pt x="61" y="154"/>
                  </a:lnTo>
                  <a:lnTo>
                    <a:pt x="0" y="154"/>
                  </a:lnTo>
                  <a:close/>
                </a:path>
              </a:pathLst>
            </a:custGeom>
            <a:solidFill>
              <a:srgbClr val="E6E6E6"/>
            </a:solidFill>
            <a:ln w="9525">
              <a:noFill/>
              <a:round/>
              <a:headEnd/>
              <a:tailEnd/>
            </a:ln>
          </p:spPr>
          <p:txBody>
            <a:bodyPr/>
            <a:lstStyle/>
            <a:p>
              <a:endParaRPr lang="en-US"/>
            </a:p>
          </p:txBody>
        </p:sp>
        <p:sp>
          <p:nvSpPr>
            <p:cNvPr id="2475695" name="Freeform 1711"/>
            <p:cNvSpPr>
              <a:spLocks noEditPoints="1"/>
            </p:cNvSpPr>
            <p:nvPr/>
          </p:nvSpPr>
          <p:spPr bwMode="auto">
            <a:xfrm>
              <a:off x="978" y="2819"/>
              <a:ext cx="31" cy="154"/>
            </a:xfrm>
            <a:custGeom>
              <a:avLst/>
              <a:gdLst/>
              <a:ahLst/>
              <a:cxnLst>
                <a:cxn ang="0">
                  <a:pos x="30" y="0"/>
                </a:cxn>
                <a:cxn ang="0">
                  <a:pos x="0" y="0"/>
                </a:cxn>
                <a:cxn ang="0">
                  <a:pos x="30" y="39"/>
                </a:cxn>
                <a:cxn ang="0">
                  <a:pos x="0" y="39"/>
                </a:cxn>
                <a:cxn ang="0">
                  <a:pos x="30" y="77"/>
                </a:cxn>
                <a:cxn ang="0">
                  <a:pos x="0" y="77"/>
                </a:cxn>
                <a:cxn ang="0">
                  <a:pos x="30" y="115"/>
                </a:cxn>
                <a:cxn ang="0">
                  <a:pos x="0" y="115"/>
                </a:cxn>
                <a:cxn ang="0">
                  <a:pos x="30" y="154"/>
                </a:cxn>
                <a:cxn ang="0">
                  <a:pos x="0" y="154"/>
                </a:cxn>
              </a:cxnLst>
              <a:rect l="0" t="0" r="r" b="b"/>
              <a:pathLst>
                <a:path w="30" h="154">
                  <a:moveTo>
                    <a:pt x="30" y="0"/>
                  </a:moveTo>
                  <a:lnTo>
                    <a:pt x="0" y="0"/>
                  </a:lnTo>
                  <a:moveTo>
                    <a:pt x="30" y="39"/>
                  </a:moveTo>
                  <a:lnTo>
                    <a:pt x="0" y="39"/>
                  </a:lnTo>
                  <a:moveTo>
                    <a:pt x="30" y="77"/>
                  </a:moveTo>
                  <a:lnTo>
                    <a:pt x="0" y="77"/>
                  </a:lnTo>
                  <a:moveTo>
                    <a:pt x="30" y="115"/>
                  </a:moveTo>
                  <a:lnTo>
                    <a:pt x="0" y="115"/>
                  </a:lnTo>
                  <a:moveTo>
                    <a:pt x="30" y="154"/>
                  </a:moveTo>
                  <a:lnTo>
                    <a:pt x="0" y="154"/>
                  </a:lnTo>
                </a:path>
              </a:pathLst>
            </a:custGeom>
            <a:noFill/>
            <a:ln w="7938" cap="flat">
              <a:solidFill>
                <a:srgbClr val="E6E6E6"/>
              </a:solidFill>
              <a:prstDash val="solid"/>
              <a:miter lim="800000"/>
              <a:headEnd/>
              <a:tailEnd/>
            </a:ln>
          </p:spPr>
          <p:txBody>
            <a:bodyPr/>
            <a:lstStyle/>
            <a:p>
              <a:endParaRPr lang="en-US"/>
            </a:p>
          </p:txBody>
        </p:sp>
        <p:sp>
          <p:nvSpPr>
            <p:cNvPr id="2475696" name="Freeform 1712"/>
            <p:cNvSpPr>
              <a:spLocks/>
            </p:cNvSpPr>
            <p:nvPr/>
          </p:nvSpPr>
          <p:spPr bwMode="auto">
            <a:xfrm>
              <a:off x="962" y="2612"/>
              <a:ext cx="225" cy="399"/>
            </a:xfrm>
            <a:custGeom>
              <a:avLst/>
              <a:gdLst/>
              <a:ahLst/>
              <a:cxnLst>
                <a:cxn ang="0">
                  <a:pos x="15" y="399"/>
                </a:cxn>
                <a:cxn ang="0">
                  <a:pos x="15" y="169"/>
                </a:cxn>
                <a:cxn ang="0">
                  <a:pos x="0" y="169"/>
                </a:cxn>
                <a:cxn ang="0">
                  <a:pos x="0" y="154"/>
                </a:cxn>
                <a:cxn ang="0">
                  <a:pos x="152" y="0"/>
                </a:cxn>
                <a:cxn ang="0">
                  <a:pos x="213" y="0"/>
                </a:cxn>
                <a:cxn ang="0">
                  <a:pos x="213" y="16"/>
                </a:cxn>
                <a:cxn ang="0">
                  <a:pos x="198" y="31"/>
                </a:cxn>
                <a:cxn ang="0">
                  <a:pos x="198" y="246"/>
                </a:cxn>
                <a:cxn ang="0">
                  <a:pos x="45" y="399"/>
                </a:cxn>
                <a:cxn ang="0">
                  <a:pos x="15" y="399"/>
                </a:cxn>
              </a:cxnLst>
              <a:rect l="0" t="0" r="r" b="b"/>
              <a:pathLst>
                <a:path w="213" h="399">
                  <a:moveTo>
                    <a:pt x="15" y="399"/>
                  </a:moveTo>
                  <a:lnTo>
                    <a:pt x="15" y="169"/>
                  </a:lnTo>
                  <a:lnTo>
                    <a:pt x="0" y="169"/>
                  </a:lnTo>
                  <a:lnTo>
                    <a:pt x="0" y="154"/>
                  </a:lnTo>
                  <a:lnTo>
                    <a:pt x="152" y="0"/>
                  </a:lnTo>
                  <a:lnTo>
                    <a:pt x="213" y="0"/>
                  </a:lnTo>
                  <a:lnTo>
                    <a:pt x="213" y="16"/>
                  </a:lnTo>
                  <a:lnTo>
                    <a:pt x="198" y="31"/>
                  </a:lnTo>
                  <a:lnTo>
                    <a:pt x="198" y="246"/>
                  </a:lnTo>
                  <a:lnTo>
                    <a:pt x="45" y="399"/>
                  </a:lnTo>
                  <a:lnTo>
                    <a:pt x="15" y="399"/>
                  </a:lnTo>
                  <a:close/>
                </a:path>
              </a:pathLst>
            </a:custGeom>
            <a:noFill/>
            <a:ln w="12700" cap="rnd">
              <a:solidFill>
                <a:srgbClr val="000000"/>
              </a:solidFill>
              <a:prstDash val="solid"/>
              <a:round/>
              <a:headEnd/>
              <a:tailEnd/>
            </a:ln>
          </p:spPr>
          <p:txBody>
            <a:bodyPr/>
            <a:lstStyle/>
            <a:p>
              <a:endParaRPr lang="en-US"/>
            </a:p>
          </p:txBody>
        </p:sp>
        <p:sp>
          <p:nvSpPr>
            <p:cNvPr id="2475697" name="Rectangle 1713"/>
            <p:cNvSpPr>
              <a:spLocks noChangeArrowheads="1"/>
            </p:cNvSpPr>
            <p:nvPr/>
          </p:nvSpPr>
          <p:spPr bwMode="auto">
            <a:xfrm>
              <a:off x="915" y="3024"/>
              <a:ext cx="185" cy="67"/>
            </a:xfrm>
            <a:prstGeom prst="rect">
              <a:avLst/>
            </a:prstGeom>
            <a:noFill/>
            <a:ln w="9525">
              <a:noFill/>
              <a:miter lim="800000"/>
              <a:headEnd/>
              <a:tailEnd/>
            </a:ln>
          </p:spPr>
          <p:txBody>
            <a:bodyPr wrap="none" lIns="0" tIns="0" rIns="0" bIns="0">
              <a:spAutoFit/>
            </a:bodyPr>
            <a:lstStyle/>
            <a:p>
              <a:r>
                <a:rPr lang="en-US" sz="700">
                  <a:solidFill>
                    <a:srgbClr val="000000"/>
                  </a:solidFill>
                </a:rPr>
                <a:t>Firewall</a:t>
              </a:r>
              <a:endParaRPr lang="en-US" sz="1200"/>
            </a:p>
          </p:txBody>
        </p:sp>
      </p:grpSp>
      <p:sp>
        <p:nvSpPr>
          <p:cNvPr id="2475698" name="Rectangle 1714"/>
          <p:cNvSpPr>
            <a:spLocks noChangeArrowheads="1"/>
          </p:cNvSpPr>
          <p:nvPr/>
        </p:nvSpPr>
        <p:spPr bwMode="auto">
          <a:xfrm>
            <a:off x="2386013" y="3760788"/>
            <a:ext cx="806450" cy="136525"/>
          </a:xfrm>
          <a:prstGeom prst="rect">
            <a:avLst/>
          </a:prstGeom>
          <a:noFill/>
          <a:ln w="9525">
            <a:noFill/>
            <a:miter lim="800000"/>
            <a:headEnd/>
            <a:tailEnd/>
          </a:ln>
        </p:spPr>
        <p:txBody>
          <a:bodyPr wrap="none" lIns="0" tIns="0" rIns="0" bIns="0">
            <a:spAutoFit/>
          </a:bodyPr>
          <a:lstStyle/>
          <a:p>
            <a:r>
              <a:rPr lang="en-US" b="1">
                <a:solidFill>
                  <a:srgbClr val="000000"/>
                </a:solidFill>
              </a:rPr>
              <a:t>Web Container</a:t>
            </a:r>
            <a:endParaRPr lang="en-US" b="1"/>
          </a:p>
        </p:txBody>
      </p:sp>
      <p:sp>
        <p:nvSpPr>
          <p:cNvPr id="2475699" name="Line 1715"/>
          <p:cNvSpPr>
            <a:spLocks noChangeShapeType="1"/>
          </p:cNvSpPr>
          <p:nvPr/>
        </p:nvSpPr>
        <p:spPr bwMode="auto">
          <a:xfrm>
            <a:off x="2806700" y="4286250"/>
            <a:ext cx="169863" cy="0"/>
          </a:xfrm>
          <a:prstGeom prst="line">
            <a:avLst/>
          </a:prstGeom>
          <a:noFill/>
          <a:ln w="9525">
            <a:solidFill>
              <a:schemeClr val="tx1"/>
            </a:solidFill>
            <a:round/>
            <a:headEnd/>
            <a:tailEnd/>
          </a:ln>
          <a:effectLst/>
        </p:spPr>
        <p:txBody>
          <a:bodyPr/>
          <a:lstStyle/>
          <a:p>
            <a:endParaRPr lang="en-US"/>
          </a:p>
        </p:txBody>
      </p:sp>
      <p:sp>
        <p:nvSpPr>
          <p:cNvPr id="2475700" name="Line 1716"/>
          <p:cNvSpPr>
            <a:spLocks noChangeShapeType="1"/>
          </p:cNvSpPr>
          <p:nvPr/>
        </p:nvSpPr>
        <p:spPr bwMode="auto">
          <a:xfrm>
            <a:off x="2795588" y="3254375"/>
            <a:ext cx="160337" cy="0"/>
          </a:xfrm>
          <a:prstGeom prst="line">
            <a:avLst/>
          </a:prstGeom>
          <a:noFill/>
          <a:ln w="9525">
            <a:solidFill>
              <a:schemeClr val="tx1"/>
            </a:solidFill>
            <a:round/>
            <a:headEnd/>
            <a:tailEnd/>
          </a:ln>
          <a:effectLst/>
        </p:spPr>
        <p:txBody>
          <a:bodyPr/>
          <a:lstStyle/>
          <a:p>
            <a:endParaRPr lang="en-US"/>
          </a:p>
        </p:txBody>
      </p:sp>
      <p:sp>
        <p:nvSpPr>
          <p:cNvPr id="2475701" name="Line 1717"/>
          <p:cNvSpPr>
            <a:spLocks noChangeShapeType="1"/>
          </p:cNvSpPr>
          <p:nvPr/>
        </p:nvSpPr>
        <p:spPr bwMode="auto">
          <a:xfrm>
            <a:off x="2795588" y="2009775"/>
            <a:ext cx="117475" cy="0"/>
          </a:xfrm>
          <a:prstGeom prst="line">
            <a:avLst/>
          </a:prstGeom>
          <a:noFill/>
          <a:ln w="9525">
            <a:solidFill>
              <a:schemeClr val="tx1"/>
            </a:solidFill>
            <a:round/>
            <a:headEnd/>
            <a:tailEnd/>
          </a:ln>
          <a:effectLst/>
        </p:spPr>
        <p:txBody>
          <a:bodyPr/>
          <a:lstStyle/>
          <a:p>
            <a:endParaRPr lang="en-US"/>
          </a:p>
        </p:txBody>
      </p:sp>
      <p:sp>
        <p:nvSpPr>
          <p:cNvPr id="2475707" name="Text Box 1723"/>
          <p:cNvSpPr txBox="1">
            <a:spLocks noChangeArrowheads="1"/>
          </p:cNvSpPr>
          <p:nvPr/>
        </p:nvSpPr>
        <p:spPr bwMode="auto">
          <a:xfrm>
            <a:off x="782638" y="4105275"/>
            <a:ext cx="827087" cy="214313"/>
          </a:xfrm>
          <a:prstGeom prst="rect">
            <a:avLst/>
          </a:prstGeom>
          <a:noFill/>
          <a:ln w="9525">
            <a:noFill/>
            <a:miter lim="800000"/>
            <a:headEnd/>
            <a:tailEnd/>
          </a:ln>
          <a:effectLst/>
        </p:spPr>
        <p:txBody>
          <a:bodyPr>
            <a:spAutoFit/>
          </a:bodyPr>
          <a:lstStyle/>
          <a:p>
            <a:pPr>
              <a:spcBef>
                <a:spcPct val="50000"/>
              </a:spcBef>
            </a:pPr>
            <a:r>
              <a:rPr lang="en-US" sz="800"/>
              <a:t>TCP/IP</a:t>
            </a:r>
          </a:p>
        </p:txBody>
      </p:sp>
      <p:sp>
        <p:nvSpPr>
          <p:cNvPr id="2475708" name="Rectangle 1724"/>
          <p:cNvSpPr>
            <a:spLocks noChangeArrowheads="1"/>
          </p:cNvSpPr>
          <p:nvPr/>
        </p:nvSpPr>
        <p:spPr bwMode="auto">
          <a:xfrm>
            <a:off x="8170863" y="3713163"/>
            <a:ext cx="784225" cy="247650"/>
          </a:xfrm>
          <a:prstGeom prst="rect">
            <a:avLst/>
          </a:prstGeom>
          <a:solidFill>
            <a:srgbClr val="8DFF8D"/>
          </a:solidFill>
          <a:ln w="3175" cap="rnd">
            <a:solidFill>
              <a:srgbClr val="000000"/>
            </a:solidFill>
            <a:round/>
            <a:headEnd/>
            <a:tailEnd/>
          </a:ln>
        </p:spPr>
        <p:txBody>
          <a:bodyPr lIns="0" tIns="0" rIns="0" bIns="0" anchor="ctr">
            <a:spAutoFit/>
          </a:bodyPr>
          <a:lstStyle/>
          <a:p>
            <a:r>
              <a:rPr lang="en-US" sz="800">
                <a:solidFill>
                  <a:srgbClr val="000000"/>
                </a:solidFill>
              </a:rPr>
              <a:t>External Rules Engine</a:t>
            </a:r>
          </a:p>
        </p:txBody>
      </p:sp>
      <p:sp>
        <p:nvSpPr>
          <p:cNvPr id="2475709" name="Line 1725"/>
          <p:cNvSpPr>
            <a:spLocks noChangeShapeType="1"/>
          </p:cNvSpPr>
          <p:nvPr/>
        </p:nvSpPr>
        <p:spPr bwMode="auto">
          <a:xfrm flipH="1" flipV="1">
            <a:off x="5857875" y="3827463"/>
            <a:ext cx="2308225" cy="0"/>
          </a:xfrm>
          <a:prstGeom prst="line">
            <a:avLst/>
          </a:prstGeom>
          <a:noFill/>
          <a:ln w="9525">
            <a:solidFill>
              <a:schemeClr val="tx1"/>
            </a:solidFill>
            <a:round/>
            <a:headEnd type="triangle" w="sm" len="sm"/>
            <a:tailEnd type="triangle" w="sm" len="sm"/>
          </a:ln>
          <a:effectLst/>
        </p:spPr>
        <p:txBody>
          <a:bodyPr/>
          <a:lstStyle/>
          <a:p>
            <a:endParaRPr lang="en-US"/>
          </a:p>
        </p:txBody>
      </p:sp>
      <p:grpSp>
        <p:nvGrpSpPr>
          <p:cNvPr id="2475783" name="Group 1799"/>
          <p:cNvGrpSpPr>
            <a:grpSpLocks/>
          </p:cNvGrpSpPr>
          <p:nvPr/>
        </p:nvGrpSpPr>
        <p:grpSpPr bwMode="auto">
          <a:xfrm>
            <a:off x="3708400" y="1774825"/>
            <a:ext cx="184150" cy="4214813"/>
            <a:chOff x="5258" y="1446"/>
            <a:chExt cx="166" cy="2501"/>
          </a:xfrm>
        </p:grpSpPr>
        <p:grpSp>
          <p:nvGrpSpPr>
            <p:cNvPr id="2475774" name="Group 1790"/>
            <p:cNvGrpSpPr>
              <a:grpSpLocks/>
            </p:cNvGrpSpPr>
            <p:nvPr/>
          </p:nvGrpSpPr>
          <p:grpSpPr bwMode="auto">
            <a:xfrm>
              <a:off x="5261" y="1449"/>
              <a:ext cx="163" cy="2498"/>
              <a:chOff x="5116" y="1180"/>
              <a:chExt cx="196" cy="2748"/>
            </a:xfrm>
          </p:grpSpPr>
          <p:sp>
            <p:nvSpPr>
              <p:cNvPr id="2475775" name="AutoShape 1791"/>
              <p:cNvSpPr>
                <a:spLocks noChangeArrowheads="1"/>
              </p:cNvSpPr>
              <p:nvPr/>
            </p:nvSpPr>
            <p:spPr bwMode="auto">
              <a:xfrm rot="-21600000">
                <a:off x="5116" y="1180"/>
                <a:ext cx="196" cy="2744"/>
              </a:xfrm>
              <a:prstGeom prst="can">
                <a:avLst>
                  <a:gd name="adj" fmla="val 68380"/>
                </a:avLst>
              </a:prstGeom>
              <a:solidFill>
                <a:srgbClr val="73FBB4"/>
              </a:solidFill>
              <a:ln w="9525">
                <a:solidFill>
                  <a:schemeClr val="tx1"/>
                </a:solidFill>
                <a:round/>
                <a:headEnd/>
                <a:tailEnd/>
              </a:ln>
              <a:effectLst/>
            </p:spPr>
            <p:txBody>
              <a:bodyPr vert="eaVert" wrap="none" anchor="ctr"/>
              <a:lstStyle/>
              <a:p>
                <a:endParaRPr lang="en-US" sz="1200" b="1"/>
              </a:p>
            </p:txBody>
          </p:sp>
          <p:sp>
            <p:nvSpPr>
              <p:cNvPr id="2475776" name="Oval 1792"/>
              <p:cNvSpPr>
                <a:spLocks noChangeArrowheads="1"/>
              </p:cNvSpPr>
              <p:nvPr/>
            </p:nvSpPr>
            <p:spPr bwMode="auto">
              <a:xfrm>
                <a:off x="5120" y="3784"/>
                <a:ext cx="192" cy="144"/>
              </a:xfrm>
              <a:prstGeom prst="ellipse">
                <a:avLst/>
              </a:prstGeom>
              <a:solidFill>
                <a:srgbClr val="73FBB4"/>
              </a:solidFill>
              <a:ln w="9525">
                <a:solidFill>
                  <a:schemeClr val="tx1"/>
                </a:solidFill>
                <a:round/>
                <a:headEnd/>
                <a:tailEnd/>
              </a:ln>
              <a:effectLst/>
            </p:spPr>
            <p:txBody>
              <a:bodyPr wrap="none" anchor="ctr"/>
              <a:lstStyle/>
              <a:p>
                <a:endParaRPr lang="en-US"/>
              </a:p>
            </p:txBody>
          </p:sp>
        </p:grpSp>
        <p:sp>
          <p:nvSpPr>
            <p:cNvPr id="2475781" name="Oval 1797"/>
            <p:cNvSpPr>
              <a:spLocks noChangeArrowheads="1"/>
            </p:cNvSpPr>
            <p:nvPr/>
          </p:nvSpPr>
          <p:spPr bwMode="auto">
            <a:xfrm>
              <a:off x="5265" y="3817"/>
              <a:ext cx="159" cy="13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475782" name="Oval 1798"/>
            <p:cNvSpPr>
              <a:spLocks noChangeArrowheads="1"/>
            </p:cNvSpPr>
            <p:nvPr/>
          </p:nvSpPr>
          <p:spPr bwMode="auto">
            <a:xfrm>
              <a:off x="5258" y="1446"/>
              <a:ext cx="166" cy="124"/>
            </a:xfrm>
            <a:prstGeom prst="ellipse">
              <a:avLst/>
            </a:prstGeom>
            <a:solidFill>
              <a:schemeClr val="accent1"/>
            </a:solidFill>
            <a:ln w="9525">
              <a:solidFill>
                <a:schemeClr val="tx1"/>
              </a:solidFill>
              <a:round/>
              <a:headEnd/>
              <a:tailEnd/>
            </a:ln>
            <a:effectLst/>
          </p:spPr>
          <p:txBody>
            <a:bodyPr wrap="none" anchor="ctr"/>
            <a:lstStyle/>
            <a:p>
              <a:endParaRPr lang="en-US"/>
            </a:p>
          </p:txBody>
        </p:sp>
      </p:grpSp>
      <p:sp>
        <p:nvSpPr>
          <p:cNvPr id="2475808" name="Line 1824"/>
          <p:cNvSpPr>
            <a:spLocks noChangeShapeType="1"/>
          </p:cNvSpPr>
          <p:nvPr/>
        </p:nvSpPr>
        <p:spPr bwMode="auto">
          <a:xfrm flipV="1">
            <a:off x="3455988" y="4306888"/>
            <a:ext cx="255587"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09" name="Line 1825"/>
          <p:cNvSpPr>
            <a:spLocks noChangeShapeType="1"/>
          </p:cNvSpPr>
          <p:nvPr/>
        </p:nvSpPr>
        <p:spPr bwMode="auto">
          <a:xfrm flipV="1">
            <a:off x="3430588" y="3236913"/>
            <a:ext cx="285750"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10" name="Line 1826"/>
          <p:cNvSpPr>
            <a:spLocks noChangeShapeType="1"/>
          </p:cNvSpPr>
          <p:nvPr/>
        </p:nvSpPr>
        <p:spPr bwMode="auto">
          <a:xfrm>
            <a:off x="3394075" y="2011363"/>
            <a:ext cx="319088"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11" name="Line 1827"/>
          <p:cNvSpPr>
            <a:spLocks noChangeShapeType="1"/>
          </p:cNvSpPr>
          <p:nvPr/>
        </p:nvSpPr>
        <p:spPr bwMode="auto">
          <a:xfrm flipV="1">
            <a:off x="3879850" y="2852738"/>
            <a:ext cx="244475"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12" name="Rectangle 1828"/>
          <p:cNvSpPr>
            <a:spLocks noChangeArrowheads="1"/>
          </p:cNvSpPr>
          <p:nvPr/>
        </p:nvSpPr>
        <p:spPr bwMode="auto">
          <a:xfrm>
            <a:off x="2119313" y="4997450"/>
            <a:ext cx="1436687" cy="927100"/>
          </a:xfrm>
          <a:prstGeom prst="rect">
            <a:avLst/>
          </a:prstGeom>
          <a:solidFill>
            <a:srgbClr val="FFFFFF"/>
          </a:solidFill>
          <a:ln w="9525">
            <a:solidFill>
              <a:schemeClr val="tx1"/>
            </a:solidFill>
            <a:miter lim="800000"/>
            <a:headEnd/>
            <a:tailEnd/>
          </a:ln>
          <a:effectLst/>
        </p:spPr>
        <p:txBody>
          <a:bodyPr/>
          <a:lstStyle/>
          <a:p>
            <a:endParaRPr lang="en-US"/>
          </a:p>
        </p:txBody>
      </p:sp>
      <p:sp>
        <p:nvSpPr>
          <p:cNvPr id="2475813" name="Rectangle 1829"/>
          <p:cNvSpPr>
            <a:spLocks noChangeArrowheads="1"/>
          </p:cNvSpPr>
          <p:nvPr/>
        </p:nvSpPr>
        <p:spPr bwMode="auto">
          <a:xfrm>
            <a:off x="2549525" y="5046663"/>
            <a:ext cx="495300" cy="136525"/>
          </a:xfrm>
          <a:prstGeom prst="rect">
            <a:avLst/>
          </a:prstGeom>
          <a:noFill/>
          <a:ln w="9525">
            <a:noFill/>
            <a:miter lim="800000"/>
            <a:headEnd/>
            <a:tailEnd/>
          </a:ln>
        </p:spPr>
        <p:txBody>
          <a:bodyPr wrap="none" lIns="0" tIns="0" rIns="0" bIns="0">
            <a:spAutoFit/>
          </a:bodyPr>
          <a:lstStyle/>
          <a:p>
            <a:r>
              <a:rPr lang="en-US" b="1">
                <a:solidFill>
                  <a:srgbClr val="000000"/>
                </a:solidFill>
              </a:rPr>
              <a:t>ASP.NET</a:t>
            </a:r>
            <a:endParaRPr lang="en-US" b="1"/>
          </a:p>
        </p:txBody>
      </p:sp>
      <p:sp>
        <p:nvSpPr>
          <p:cNvPr id="2475815" name="Rectangle 1831"/>
          <p:cNvSpPr>
            <a:spLocks noChangeArrowheads="1"/>
          </p:cNvSpPr>
          <p:nvPr/>
        </p:nvSpPr>
        <p:spPr bwMode="auto">
          <a:xfrm>
            <a:off x="2316163" y="5232400"/>
            <a:ext cx="490537" cy="595313"/>
          </a:xfrm>
          <a:prstGeom prst="rect">
            <a:avLst/>
          </a:prstGeom>
          <a:solidFill>
            <a:srgbClr val="FFFF99"/>
          </a:solidFill>
          <a:ln w="9525">
            <a:solidFill>
              <a:schemeClr val="tx1"/>
            </a:solidFill>
            <a:miter lim="800000"/>
            <a:headEnd/>
            <a:tailEnd/>
          </a:ln>
          <a:effectLst/>
        </p:spPr>
        <p:txBody>
          <a:bodyPr wrap="none" anchor="ctr"/>
          <a:lstStyle/>
          <a:p>
            <a:r>
              <a:rPr lang="en-US" sz="800"/>
              <a:t>Customer</a:t>
            </a:r>
          </a:p>
          <a:p>
            <a:r>
              <a:rPr lang="en-US" sz="800"/>
              <a:t>ASP’s</a:t>
            </a:r>
          </a:p>
        </p:txBody>
      </p:sp>
      <p:sp>
        <p:nvSpPr>
          <p:cNvPr id="2475816" name="Rectangle 1832"/>
          <p:cNvSpPr>
            <a:spLocks noChangeArrowheads="1"/>
          </p:cNvSpPr>
          <p:nvPr/>
        </p:nvSpPr>
        <p:spPr bwMode="auto">
          <a:xfrm>
            <a:off x="2320925" y="4013200"/>
            <a:ext cx="490538" cy="595313"/>
          </a:xfrm>
          <a:prstGeom prst="rect">
            <a:avLst/>
          </a:prstGeom>
          <a:solidFill>
            <a:srgbClr val="FFFF99"/>
          </a:solidFill>
          <a:ln w="9525">
            <a:solidFill>
              <a:schemeClr val="tx1"/>
            </a:solidFill>
            <a:miter lim="800000"/>
            <a:headEnd/>
            <a:tailEnd/>
          </a:ln>
          <a:effectLst/>
        </p:spPr>
        <p:txBody>
          <a:bodyPr wrap="none" anchor="ctr"/>
          <a:lstStyle/>
          <a:p>
            <a:r>
              <a:rPr lang="en-US" sz="800"/>
              <a:t>RPC</a:t>
            </a:r>
          </a:p>
          <a:p>
            <a:r>
              <a:rPr lang="en-US" sz="800"/>
              <a:t>Router</a:t>
            </a:r>
          </a:p>
        </p:txBody>
      </p:sp>
      <p:sp>
        <p:nvSpPr>
          <p:cNvPr id="2475817" name="Rectangle 1833"/>
          <p:cNvSpPr>
            <a:spLocks noChangeArrowheads="1"/>
          </p:cNvSpPr>
          <p:nvPr/>
        </p:nvSpPr>
        <p:spPr bwMode="auto">
          <a:xfrm>
            <a:off x="2301875" y="2816225"/>
            <a:ext cx="490538" cy="595313"/>
          </a:xfrm>
          <a:prstGeom prst="rect">
            <a:avLst/>
          </a:prstGeom>
          <a:solidFill>
            <a:srgbClr val="FFFF99"/>
          </a:solidFill>
          <a:ln w="9525">
            <a:solidFill>
              <a:schemeClr val="tx1"/>
            </a:solidFill>
            <a:miter lim="800000"/>
            <a:headEnd/>
            <a:tailEnd/>
          </a:ln>
          <a:effectLst/>
        </p:spPr>
        <p:txBody>
          <a:bodyPr wrap="none" anchor="ctr"/>
          <a:lstStyle/>
          <a:p>
            <a:r>
              <a:rPr lang="en-US" sz="800"/>
              <a:t>Customer</a:t>
            </a:r>
          </a:p>
          <a:p>
            <a:r>
              <a:rPr lang="en-US" sz="800"/>
              <a:t>Servlets</a:t>
            </a:r>
          </a:p>
          <a:p>
            <a:r>
              <a:rPr lang="en-US" sz="800"/>
              <a:t>JSP’s</a:t>
            </a:r>
          </a:p>
        </p:txBody>
      </p:sp>
      <p:sp>
        <p:nvSpPr>
          <p:cNvPr id="2475818" name="Rectangle 1834"/>
          <p:cNvSpPr>
            <a:spLocks noChangeArrowheads="1"/>
          </p:cNvSpPr>
          <p:nvPr/>
        </p:nvSpPr>
        <p:spPr bwMode="auto">
          <a:xfrm>
            <a:off x="2309813" y="1535113"/>
            <a:ext cx="490537" cy="595312"/>
          </a:xfrm>
          <a:prstGeom prst="rect">
            <a:avLst/>
          </a:prstGeom>
          <a:solidFill>
            <a:srgbClr val="FFFF99"/>
          </a:solidFill>
          <a:ln w="9525">
            <a:solidFill>
              <a:schemeClr val="tx1"/>
            </a:solidFill>
            <a:miter lim="800000"/>
            <a:headEnd/>
            <a:tailEnd/>
          </a:ln>
          <a:effectLst/>
        </p:spPr>
        <p:txBody>
          <a:bodyPr wrap="none" anchor="ctr"/>
          <a:lstStyle/>
          <a:p>
            <a:r>
              <a:rPr lang="en-US" sz="800"/>
              <a:t>Back</a:t>
            </a:r>
          </a:p>
          <a:p>
            <a:r>
              <a:rPr lang="en-US" sz="800"/>
              <a:t>Office</a:t>
            </a:r>
          </a:p>
          <a:p>
            <a:r>
              <a:rPr lang="en-US" sz="800"/>
              <a:t>Servlets</a:t>
            </a:r>
          </a:p>
          <a:p>
            <a:r>
              <a:rPr lang="en-US" sz="800"/>
              <a:t>JSP’s</a:t>
            </a:r>
          </a:p>
        </p:txBody>
      </p:sp>
      <p:sp>
        <p:nvSpPr>
          <p:cNvPr id="2475819" name="Rectangle 1835"/>
          <p:cNvSpPr>
            <a:spLocks noChangeArrowheads="1"/>
          </p:cNvSpPr>
          <p:nvPr/>
        </p:nvSpPr>
        <p:spPr bwMode="auto">
          <a:xfrm>
            <a:off x="2984500" y="5391150"/>
            <a:ext cx="446088" cy="276225"/>
          </a:xfrm>
          <a:prstGeom prst="rect">
            <a:avLst/>
          </a:prstGeom>
          <a:solidFill>
            <a:srgbClr val="66FFFF"/>
          </a:solidFill>
          <a:ln w="9525">
            <a:solidFill>
              <a:schemeClr val="tx1"/>
            </a:solidFill>
            <a:miter lim="800000"/>
            <a:headEnd/>
            <a:tailEnd/>
          </a:ln>
          <a:effectLst/>
        </p:spPr>
        <p:txBody>
          <a:bodyPr wrap="none" anchor="ctr"/>
          <a:lstStyle/>
          <a:p>
            <a:r>
              <a:rPr lang="en-US" sz="800"/>
              <a:t>IIS</a:t>
            </a:r>
          </a:p>
        </p:txBody>
      </p:sp>
      <p:sp>
        <p:nvSpPr>
          <p:cNvPr id="2475820" name="Line 1836"/>
          <p:cNvSpPr>
            <a:spLocks noChangeShapeType="1"/>
          </p:cNvSpPr>
          <p:nvPr/>
        </p:nvSpPr>
        <p:spPr bwMode="auto">
          <a:xfrm flipV="1">
            <a:off x="3430588" y="5526088"/>
            <a:ext cx="285750"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21" name="Line 1837"/>
          <p:cNvSpPr>
            <a:spLocks noChangeShapeType="1"/>
          </p:cNvSpPr>
          <p:nvPr/>
        </p:nvSpPr>
        <p:spPr bwMode="auto">
          <a:xfrm>
            <a:off x="2814638" y="5527675"/>
            <a:ext cx="169862" cy="0"/>
          </a:xfrm>
          <a:prstGeom prst="line">
            <a:avLst/>
          </a:prstGeom>
          <a:noFill/>
          <a:ln w="9525">
            <a:solidFill>
              <a:schemeClr val="tx1"/>
            </a:solidFill>
            <a:round/>
            <a:headEnd/>
            <a:tailEnd/>
          </a:ln>
          <a:effectLst/>
        </p:spPr>
        <p:txBody>
          <a:bodyPr/>
          <a:lstStyle/>
          <a:p>
            <a:endParaRPr lang="en-US"/>
          </a:p>
        </p:txBody>
      </p:sp>
      <p:sp>
        <p:nvSpPr>
          <p:cNvPr id="2475823" name="AutoShape 1839"/>
          <p:cNvSpPr>
            <a:spLocks noChangeArrowheads="1"/>
          </p:cNvSpPr>
          <p:nvPr/>
        </p:nvSpPr>
        <p:spPr bwMode="auto">
          <a:xfrm>
            <a:off x="8347075" y="2036763"/>
            <a:ext cx="328613" cy="468312"/>
          </a:xfrm>
          <a:prstGeom prst="can">
            <a:avLst>
              <a:gd name="adj" fmla="val 35628"/>
            </a:avLst>
          </a:prstGeom>
          <a:solidFill>
            <a:srgbClr val="8DFF8D"/>
          </a:solidFill>
          <a:ln w="9525">
            <a:solidFill>
              <a:schemeClr val="tx1"/>
            </a:solidFill>
            <a:round/>
            <a:headEnd/>
            <a:tailEnd/>
          </a:ln>
          <a:effectLst/>
        </p:spPr>
        <p:txBody>
          <a:bodyPr wrap="none" anchor="ctr"/>
          <a:lstStyle/>
          <a:p>
            <a:r>
              <a:rPr lang="en-US" sz="800"/>
              <a:t>Local</a:t>
            </a:r>
          </a:p>
          <a:p>
            <a:r>
              <a:rPr lang="en-US" sz="800"/>
              <a:t>DB</a:t>
            </a:r>
          </a:p>
        </p:txBody>
      </p:sp>
      <p:sp>
        <p:nvSpPr>
          <p:cNvPr id="2475824" name="Line 1840"/>
          <p:cNvSpPr>
            <a:spLocks noChangeShapeType="1"/>
          </p:cNvSpPr>
          <p:nvPr/>
        </p:nvSpPr>
        <p:spPr bwMode="auto">
          <a:xfrm>
            <a:off x="6832600" y="2292350"/>
            <a:ext cx="1509713"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801" name="Text Box 1817"/>
          <p:cNvSpPr txBox="1">
            <a:spLocks noChangeArrowheads="1"/>
          </p:cNvSpPr>
          <p:nvPr/>
        </p:nvSpPr>
        <p:spPr bwMode="auto">
          <a:xfrm rot="-5400000">
            <a:off x="2138362" y="3859213"/>
            <a:ext cx="3336925" cy="152400"/>
          </a:xfrm>
          <a:prstGeom prst="rect">
            <a:avLst/>
          </a:prstGeom>
          <a:solidFill>
            <a:srgbClr val="73FBB4"/>
          </a:solidFill>
          <a:ln w="9525">
            <a:noFill/>
            <a:miter lim="800000"/>
            <a:headEnd/>
            <a:tailEnd/>
          </a:ln>
          <a:effectLst/>
        </p:spPr>
        <p:txBody>
          <a:bodyPr lIns="0" tIns="0" rIns="0" bIns="0">
            <a:spAutoFit/>
          </a:bodyPr>
          <a:lstStyle/>
          <a:p>
            <a:pPr>
              <a:spcBef>
                <a:spcPct val="50000"/>
              </a:spcBef>
            </a:pPr>
            <a:r>
              <a:rPr lang="en-US" sz="1000" b="1"/>
              <a:t>MarkITS Enterprise  Service  Bus</a:t>
            </a:r>
          </a:p>
        </p:txBody>
      </p:sp>
      <p:sp>
        <p:nvSpPr>
          <p:cNvPr id="2475827" name="Line 1843"/>
          <p:cNvSpPr>
            <a:spLocks noChangeShapeType="1"/>
          </p:cNvSpPr>
          <p:nvPr/>
        </p:nvSpPr>
        <p:spPr bwMode="auto">
          <a:xfrm flipV="1">
            <a:off x="3883025" y="5233988"/>
            <a:ext cx="190500" cy="0"/>
          </a:xfrm>
          <a:prstGeom prst="line">
            <a:avLst/>
          </a:prstGeom>
          <a:noFill/>
          <a:ln w="9525">
            <a:solidFill>
              <a:schemeClr val="tx1"/>
            </a:solidFill>
            <a:round/>
            <a:headEnd type="triangle" w="sm" len="sm"/>
            <a:tailEnd type="triangle" w="sm" len="sm"/>
          </a:ln>
          <a:effectLst/>
        </p:spPr>
        <p:txBody>
          <a:bodyPr/>
          <a:lstStyle/>
          <a:p>
            <a:endParaRPr lang="en-US"/>
          </a:p>
        </p:txBody>
      </p:sp>
      <p:sp>
        <p:nvSpPr>
          <p:cNvPr id="2475771" name="Rectangle 1787"/>
          <p:cNvSpPr>
            <a:spLocks noChangeArrowheads="1"/>
          </p:cNvSpPr>
          <p:nvPr/>
        </p:nvSpPr>
        <p:spPr bwMode="auto">
          <a:xfrm>
            <a:off x="4075113" y="4229100"/>
            <a:ext cx="3657600" cy="1690688"/>
          </a:xfrm>
          <a:prstGeom prst="rect">
            <a:avLst/>
          </a:prstGeom>
          <a:noFill/>
          <a:ln w="28575">
            <a:solidFill>
              <a:srgbClr val="FF0000"/>
            </a:solidFill>
            <a:miter lim="800000"/>
            <a:headEnd/>
            <a:tailEnd/>
          </a:ln>
          <a:effectLst/>
        </p:spPr>
        <p:txBody>
          <a:bodyPr wrap="none" anchor="ctr"/>
          <a:lstStyle/>
          <a:p>
            <a:endParaRPr lang="en-US"/>
          </a:p>
        </p:txBody>
      </p:sp>
      <p:sp>
        <p:nvSpPr>
          <p:cNvPr id="2475711" name="Rectangle 1727"/>
          <p:cNvSpPr>
            <a:spLocks noChangeAspect="1" noChangeArrowheads="1"/>
          </p:cNvSpPr>
          <p:nvPr/>
        </p:nvSpPr>
        <p:spPr bwMode="auto">
          <a:xfrm>
            <a:off x="4427538" y="5381625"/>
            <a:ext cx="3209925" cy="384175"/>
          </a:xfrm>
          <a:prstGeom prst="rect">
            <a:avLst/>
          </a:prstGeom>
          <a:solidFill>
            <a:srgbClr val="BBE8FF"/>
          </a:solidFill>
          <a:ln w="12700" cap="rnd">
            <a:noFill/>
            <a:prstDash val="sysDot"/>
            <a:miter lim="800000"/>
            <a:headEnd/>
            <a:tailEnd/>
          </a:ln>
          <a:effectLst/>
        </p:spPr>
        <p:txBody>
          <a:bodyPr wrap="none" anchor="ctr"/>
          <a:lstStyle/>
          <a:p>
            <a:endParaRPr lang="en-US" sz="600">
              <a:latin typeface="Times New Roman" pitchFamily="18" charset="0"/>
            </a:endParaRPr>
          </a:p>
        </p:txBody>
      </p:sp>
      <p:sp>
        <p:nvSpPr>
          <p:cNvPr id="2475712" name="Rectangle 1728"/>
          <p:cNvSpPr>
            <a:spLocks noChangeAspect="1" noChangeArrowheads="1"/>
          </p:cNvSpPr>
          <p:nvPr/>
        </p:nvSpPr>
        <p:spPr bwMode="auto">
          <a:xfrm>
            <a:off x="5697538" y="5448300"/>
            <a:ext cx="1023937" cy="258763"/>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800" b="1">
                <a:latin typeface="Tahoma" pitchFamily="34" charset="0"/>
              </a:rPr>
              <a:t>Store Mgt. </a:t>
            </a:r>
          </a:p>
          <a:p>
            <a:pPr>
              <a:lnSpc>
                <a:spcPct val="80000"/>
              </a:lnSpc>
              <a:spcBef>
                <a:spcPct val="20000"/>
              </a:spcBef>
              <a:buClr>
                <a:srgbClr val="D9A207"/>
              </a:buClr>
              <a:buSzPct val="80000"/>
              <a:buFont typeface="Wingdings 2" pitchFamily="18" charset="2"/>
              <a:buNone/>
            </a:pPr>
            <a:r>
              <a:rPr lang="en-US" sz="800" b="1">
                <a:latin typeface="Tahoma" pitchFamily="34" charset="0"/>
              </a:rPr>
              <a:t>Services</a:t>
            </a:r>
          </a:p>
        </p:txBody>
      </p:sp>
      <p:sp>
        <p:nvSpPr>
          <p:cNvPr id="2475713" name="Rectangle 1729"/>
          <p:cNvSpPr>
            <a:spLocks noChangeAspect="1" noChangeArrowheads="1"/>
          </p:cNvSpPr>
          <p:nvPr/>
        </p:nvSpPr>
        <p:spPr bwMode="auto">
          <a:xfrm>
            <a:off x="4427538" y="4973638"/>
            <a:ext cx="3209925" cy="412750"/>
          </a:xfrm>
          <a:prstGeom prst="rect">
            <a:avLst/>
          </a:prstGeom>
          <a:solidFill>
            <a:srgbClr val="BBD2FF"/>
          </a:solidFill>
          <a:ln w="12700" cap="rnd">
            <a:noFill/>
            <a:prstDash val="sysDot"/>
            <a:miter lim="800000"/>
            <a:headEnd/>
            <a:tailEnd/>
          </a:ln>
          <a:effectLst/>
        </p:spPr>
        <p:txBody>
          <a:bodyPr wrap="none" anchor="ctr"/>
          <a:lstStyle/>
          <a:p>
            <a:endParaRPr lang="en-US" sz="600">
              <a:latin typeface="Times New Roman" pitchFamily="18" charset="0"/>
            </a:endParaRPr>
          </a:p>
        </p:txBody>
      </p:sp>
      <p:sp>
        <p:nvSpPr>
          <p:cNvPr id="2475714" name="Rectangle 1730"/>
          <p:cNvSpPr>
            <a:spLocks noChangeArrowheads="1"/>
          </p:cNvSpPr>
          <p:nvPr/>
        </p:nvSpPr>
        <p:spPr bwMode="auto">
          <a:xfrm>
            <a:off x="6935788" y="5033963"/>
            <a:ext cx="644525" cy="288925"/>
          </a:xfrm>
          <a:prstGeom prst="rect">
            <a:avLst/>
          </a:prstGeom>
          <a:solidFill>
            <a:schemeClr val="bg1">
              <a:alpha val="50000"/>
            </a:schemeClr>
          </a:solidFill>
          <a:ln w="3175">
            <a:noFill/>
            <a:miter lim="800000"/>
            <a:headEnd/>
            <a:tailEnd/>
          </a:ln>
          <a:effectLst/>
        </p:spPr>
        <p:txBody>
          <a:bodyPr wrap="none" tIns="9144"/>
          <a:lstStyle/>
          <a:p>
            <a:r>
              <a:rPr lang="en-US" sz="800" b="1">
                <a:solidFill>
                  <a:srgbClr val="040000"/>
                </a:solidFill>
                <a:latin typeface="Tahoma" pitchFamily="34" charset="0"/>
              </a:rPr>
              <a:t>Process Mgt. </a:t>
            </a:r>
          </a:p>
          <a:p>
            <a:r>
              <a:rPr lang="en-US" sz="800" b="1">
                <a:solidFill>
                  <a:srgbClr val="040000"/>
                </a:solidFill>
                <a:latin typeface="Tahoma" pitchFamily="34" charset="0"/>
              </a:rPr>
              <a:t>Services</a:t>
            </a:r>
          </a:p>
        </p:txBody>
      </p:sp>
      <p:sp>
        <p:nvSpPr>
          <p:cNvPr id="2475715" name="Rectangle 1731"/>
          <p:cNvSpPr>
            <a:spLocks noChangeArrowheads="1"/>
          </p:cNvSpPr>
          <p:nvPr/>
        </p:nvSpPr>
        <p:spPr bwMode="auto">
          <a:xfrm>
            <a:off x="4486275" y="5033963"/>
            <a:ext cx="992188" cy="288925"/>
          </a:xfrm>
          <a:prstGeom prst="rect">
            <a:avLst/>
          </a:prstGeom>
          <a:solidFill>
            <a:schemeClr val="bg1">
              <a:alpha val="50000"/>
            </a:schemeClr>
          </a:solidFill>
          <a:ln w="3175">
            <a:noFill/>
            <a:miter lim="800000"/>
            <a:headEnd/>
            <a:tailEnd/>
          </a:ln>
          <a:effectLst/>
        </p:spPr>
        <p:txBody>
          <a:bodyPr wrap="none" tIns="9144"/>
          <a:lstStyle/>
          <a:p>
            <a:r>
              <a:rPr lang="en-US" sz="800" b="1">
                <a:solidFill>
                  <a:srgbClr val="040000"/>
                </a:solidFill>
                <a:latin typeface="Tahoma" pitchFamily="34" charset="0"/>
              </a:rPr>
              <a:t>Web Security </a:t>
            </a:r>
          </a:p>
          <a:p>
            <a:r>
              <a:rPr lang="en-US" sz="800" b="1">
                <a:solidFill>
                  <a:srgbClr val="040000"/>
                </a:solidFill>
                <a:latin typeface="Tahoma" pitchFamily="34" charset="0"/>
              </a:rPr>
              <a:t>Services</a:t>
            </a:r>
          </a:p>
        </p:txBody>
      </p:sp>
      <p:sp>
        <p:nvSpPr>
          <p:cNvPr id="2475716" name="Rectangle 1732"/>
          <p:cNvSpPr>
            <a:spLocks noChangeArrowheads="1"/>
          </p:cNvSpPr>
          <p:nvPr/>
        </p:nvSpPr>
        <p:spPr bwMode="auto">
          <a:xfrm>
            <a:off x="5530850" y="5033963"/>
            <a:ext cx="1325563" cy="288925"/>
          </a:xfrm>
          <a:prstGeom prst="rect">
            <a:avLst/>
          </a:prstGeom>
          <a:solidFill>
            <a:schemeClr val="bg1">
              <a:alpha val="50000"/>
            </a:schemeClr>
          </a:solidFill>
          <a:ln w="3175">
            <a:noFill/>
            <a:prstDash val="dash"/>
            <a:miter lim="800000"/>
            <a:headEnd/>
            <a:tailEnd/>
          </a:ln>
          <a:effectLst/>
        </p:spPr>
        <p:txBody>
          <a:bodyPr wrap="none" tIns="9144"/>
          <a:lstStyle/>
          <a:p>
            <a:r>
              <a:rPr lang="en-US" sz="800" b="1">
                <a:solidFill>
                  <a:srgbClr val="040000"/>
                </a:solidFill>
                <a:latin typeface="Tahoma" pitchFamily="34" charset="0"/>
              </a:rPr>
              <a:t>Quality of Service</a:t>
            </a:r>
          </a:p>
          <a:p>
            <a:r>
              <a:rPr lang="en-US" sz="800" b="1">
                <a:solidFill>
                  <a:srgbClr val="040000"/>
                </a:solidFill>
                <a:latin typeface="Tahoma" pitchFamily="34" charset="0"/>
              </a:rPr>
              <a:t>Services</a:t>
            </a:r>
          </a:p>
        </p:txBody>
      </p:sp>
      <p:sp>
        <p:nvSpPr>
          <p:cNvPr id="2475717" name="Rectangle 1733"/>
          <p:cNvSpPr>
            <a:spLocks noChangeAspect="1" noChangeArrowheads="1"/>
          </p:cNvSpPr>
          <p:nvPr/>
        </p:nvSpPr>
        <p:spPr bwMode="auto">
          <a:xfrm>
            <a:off x="4425950" y="4643438"/>
            <a:ext cx="3209925" cy="336550"/>
          </a:xfrm>
          <a:prstGeom prst="rect">
            <a:avLst/>
          </a:prstGeom>
          <a:solidFill>
            <a:srgbClr val="9DC7FF"/>
          </a:solidFill>
          <a:ln w="19050" cap="rnd">
            <a:noFill/>
            <a:prstDash val="sysDot"/>
            <a:miter lim="800000"/>
            <a:headEnd/>
            <a:tailEnd/>
          </a:ln>
          <a:effectLst/>
        </p:spPr>
        <p:txBody>
          <a:bodyPr wrap="none" anchor="ctr"/>
          <a:lstStyle/>
          <a:p>
            <a:endParaRPr lang="en-US" sz="600">
              <a:latin typeface="Times New Roman" pitchFamily="18" charset="0"/>
            </a:endParaRPr>
          </a:p>
        </p:txBody>
      </p:sp>
      <p:sp>
        <p:nvSpPr>
          <p:cNvPr id="2475741" name="Rectangle 1757"/>
          <p:cNvSpPr>
            <a:spLocks noChangeAspect="1" noChangeArrowheads="1"/>
          </p:cNvSpPr>
          <p:nvPr/>
        </p:nvSpPr>
        <p:spPr bwMode="auto">
          <a:xfrm>
            <a:off x="4541838" y="5451475"/>
            <a:ext cx="1000125" cy="260350"/>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800" b="1">
                <a:latin typeface="Tahoma" pitchFamily="34" charset="0"/>
              </a:rPr>
              <a:t>Data Connect </a:t>
            </a:r>
          </a:p>
          <a:p>
            <a:pPr>
              <a:lnSpc>
                <a:spcPct val="80000"/>
              </a:lnSpc>
              <a:spcBef>
                <a:spcPct val="20000"/>
              </a:spcBef>
              <a:buClr>
                <a:srgbClr val="D9A207"/>
              </a:buClr>
              <a:buSzPct val="80000"/>
              <a:buFont typeface="Wingdings 2" pitchFamily="18" charset="2"/>
              <a:buNone/>
            </a:pPr>
            <a:r>
              <a:rPr lang="en-US" sz="800" b="1">
                <a:latin typeface="Tahoma" pitchFamily="34" charset="0"/>
              </a:rPr>
              <a:t>Services</a:t>
            </a:r>
          </a:p>
        </p:txBody>
      </p:sp>
      <p:sp>
        <p:nvSpPr>
          <p:cNvPr id="2475763" name="Rectangle 1779"/>
          <p:cNvSpPr>
            <a:spLocks noChangeAspect="1" noChangeArrowheads="1"/>
          </p:cNvSpPr>
          <p:nvPr/>
        </p:nvSpPr>
        <p:spPr bwMode="auto">
          <a:xfrm>
            <a:off x="6851650" y="5451475"/>
            <a:ext cx="692150" cy="269875"/>
          </a:xfrm>
          <a:prstGeom prst="rect">
            <a:avLst/>
          </a:prstGeom>
          <a:solidFill>
            <a:schemeClr val="bg1">
              <a:alpha val="50000"/>
            </a:schemeClr>
          </a:solidFill>
          <a:ln w="12700">
            <a:noFill/>
            <a:miter lim="800000"/>
            <a:headEnd/>
            <a:tailEnd/>
          </a:ln>
          <a:effectLst/>
        </p:spPr>
        <p:txBody>
          <a:bodyPr wrap="none" lIns="0" tIns="27432" rIns="0" bIns="0"/>
          <a:lstStyle/>
          <a:p>
            <a:pPr>
              <a:lnSpc>
                <a:spcPct val="80000"/>
              </a:lnSpc>
              <a:spcBef>
                <a:spcPct val="20000"/>
              </a:spcBef>
              <a:buClr>
                <a:srgbClr val="D9A207"/>
              </a:buClr>
              <a:buSzPct val="80000"/>
              <a:buFont typeface="Wingdings 2" pitchFamily="18" charset="2"/>
              <a:buNone/>
            </a:pPr>
            <a:r>
              <a:rPr lang="en-US" sz="800" b="1">
                <a:latin typeface="Tahoma" pitchFamily="34" charset="0"/>
              </a:rPr>
              <a:t>Content Mgt.</a:t>
            </a:r>
          </a:p>
          <a:p>
            <a:pPr>
              <a:lnSpc>
                <a:spcPct val="80000"/>
              </a:lnSpc>
              <a:spcBef>
                <a:spcPct val="20000"/>
              </a:spcBef>
              <a:buClr>
                <a:srgbClr val="D9A207"/>
              </a:buClr>
              <a:buSzPct val="80000"/>
              <a:buFont typeface="Wingdings 2" pitchFamily="18" charset="2"/>
              <a:buNone/>
            </a:pPr>
            <a:r>
              <a:rPr lang="en-US" sz="800" b="1">
                <a:latin typeface="Tahoma" pitchFamily="34" charset="0"/>
              </a:rPr>
              <a:t>Services</a:t>
            </a:r>
          </a:p>
        </p:txBody>
      </p:sp>
      <p:sp>
        <p:nvSpPr>
          <p:cNvPr id="2475803" name="Rectangle 1819"/>
          <p:cNvSpPr>
            <a:spLocks noChangeArrowheads="1"/>
          </p:cNvSpPr>
          <p:nvPr/>
        </p:nvSpPr>
        <p:spPr bwMode="auto">
          <a:xfrm>
            <a:off x="5006975" y="4710113"/>
            <a:ext cx="1912938" cy="234950"/>
          </a:xfrm>
          <a:prstGeom prst="rect">
            <a:avLst/>
          </a:prstGeom>
          <a:solidFill>
            <a:schemeClr val="bg1">
              <a:alpha val="50000"/>
            </a:schemeClr>
          </a:solidFill>
          <a:ln w="3175">
            <a:noFill/>
            <a:miter lim="800000"/>
            <a:headEnd/>
            <a:tailEnd/>
          </a:ln>
          <a:effectLst/>
        </p:spPr>
        <p:txBody>
          <a:bodyPr wrap="none" lIns="0" tIns="0" rIns="0" bIns="0" anchor="ctr"/>
          <a:lstStyle/>
          <a:p>
            <a:r>
              <a:rPr lang="en-US" sz="800" b="1">
                <a:solidFill>
                  <a:srgbClr val="040000"/>
                </a:solidFill>
                <a:latin typeface="Tahoma" pitchFamily="34" charset="0"/>
              </a:rPr>
              <a:t>Business Services</a:t>
            </a:r>
          </a:p>
        </p:txBody>
      </p:sp>
      <p:sp>
        <p:nvSpPr>
          <p:cNvPr id="2475830" name="Text Box 1846"/>
          <p:cNvSpPr txBox="1">
            <a:spLocks noChangeAspect="1" noChangeArrowheads="1"/>
          </p:cNvSpPr>
          <p:nvPr/>
        </p:nvSpPr>
        <p:spPr bwMode="auto">
          <a:xfrm>
            <a:off x="4170363" y="5473700"/>
            <a:ext cx="271462" cy="233363"/>
          </a:xfrm>
          <a:prstGeom prst="rect">
            <a:avLst/>
          </a:prstGeom>
          <a:solidFill>
            <a:srgbClr val="BBE8FF"/>
          </a:solidFill>
          <a:ln w="12700" cap="rnd">
            <a:noFill/>
            <a:prstDash val="sysDot"/>
            <a:miter lim="800000"/>
            <a:headEnd/>
            <a:tailEnd/>
          </a:ln>
          <a:effectLst/>
        </p:spPr>
        <p:txBody>
          <a:bodyPr wrap="none" lIns="0" tIns="0" rIns="0" bIns="0" anchor="ctr"/>
          <a:lstStyle/>
          <a:p>
            <a:pPr>
              <a:buClr>
                <a:srgbClr val="D9A207"/>
              </a:buClr>
              <a:buSzPct val="80000"/>
              <a:buFont typeface="Wingdings 2" pitchFamily="18" charset="2"/>
              <a:buNone/>
            </a:pPr>
            <a:r>
              <a:rPr lang="en-US" sz="700" b="1"/>
              <a:t>Data</a:t>
            </a:r>
          </a:p>
          <a:p>
            <a:pPr>
              <a:buClr>
                <a:srgbClr val="D9A207"/>
              </a:buClr>
              <a:buSzPct val="80000"/>
              <a:buFont typeface="Wingdings 2" pitchFamily="18" charset="2"/>
              <a:buNone/>
            </a:pPr>
            <a:r>
              <a:rPr lang="en-US" sz="700" b="1"/>
              <a:t>Tier</a:t>
            </a:r>
          </a:p>
        </p:txBody>
      </p:sp>
      <p:sp>
        <p:nvSpPr>
          <p:cNvPr id="2475833" name="Text Box 1849"/>
          <p:cNvSpPr txBox="1">
            <a:spLocks noChangeAspect="1" noChangeArrowheads="1"/>
          </p:cNvSpPr>
          <p:nvPr/>
        </p:nvSpPr>
        <p:spPr bwMode="auto">
          <a:xfrm>
            <a:off x="4178300" y="5059363"/>
            <a:ext cx="271463" cy="233362"/>
          </a:xfrm>
          <a:prstGeom prst="rect">
            <a:avLst/>
          </a:prstGeom>
          <a:solidFill>
            <a:srgbClr val="BBD2FF"/>
          </a:solidFill>
          <a:ln w="12700" cap="rnd">
            <a:noFill/>
            <a:prstDash val="sysDot"/>
            <a:miter lim="800000"/>
            <a:headEnd/>
            <a:tailEnd/>
          </a:ln>
          <a:effectLst/>
        </p:spPr>
        <p:txBody>
          <a:bodyPr wrap="none" lIns="0" tIns="0" rIns="0" bIns="0" anchor="ctr"/>
          <a:lstStyle/>
          <a:p>
            <a:pPr>
              <a:buClr>
                <a:srgbClr val="D9A207"/>
              </a:buClr>
              <a:buSzPct val="80000"/>
              <a:buFont typeface="Wingdings 2" pitchFamily="18" charset="2"/>
              <a:buNone/>
            </a:pPr>
            <a:r>
              <a:rPr lang="en-US" sz="700" b="1"/>
              <a:t>Infra</a:t>
            </a:r>
          </a:p>
          <a:p>
            <a:pPr>
              <a:buClr>
                <a:srgbClr val="D9A207"/>
              </a:buClr>
              <a:buSzPct val="80000"/>
              <a:buFont typeface="Wingdings 2" pitchFamily="18" charset="2"/>
              <a:buNone/>
            </a:pPr>
            <a:r>
              <a:rPr lang="en-US" sz="700" b="1"/>
              <a:t>Tier</a:t>
            </a:r>
          </a:p>
        </p:txBody>
      </p:sp>
      <p:sp>
        <p:nvSpPr>
          <p:cNvPr id="2475834" name="Text Box 1850"/>
          <p:cNvSpPr txBox="1">
            <a:spLocks noChangeAspect="1" noChangeArrowheads="1"/>
          </p:cNvSpPr>
          <p:nvPr/>
        </p:nvSpPr>
        <p:spPr bwMode="auto">
          <a:xfrm>
            <a:off x="4164013" y="4700588"/>
            <a:ext cx="271462" cy="233362"/>
          </a:xfrm>
          <a:prstGeom prst="rect">
            <a:avLst/>
          </a:prstGeom>
          <a:solidFill>
            <a:srgbClr val="9DC7FF"/>
          </a:solidFill>
          <a:ln w="12700" cap="rnd">
            <a:noFill/>
            <a:prstDash val="sysDot"/>
            <a:miter lim="800000"/>
            <a:headEnd/>
            <a:tailEnd/>
          </a:ln>
          <a:effectLst/>
        </p:spPr>
        <p:txBody>
          <a:bodyPr wrap="none" lIns="0" tIns="0" rIns="0" bIns="0" anchor="ctr"/>
          <a:lstStyle/>
          <a:p>
            <a:pPr>
              <a:buClr>
                <a:srgbClr val="D9A207"/>
              </a:buClr>
              <a:buSzPct val="80000"/>
              <a:buFont typeface="Wingdings 2" pitchFamily="18" charset="2"/>
              <a:buNone/>
            </a:pPr>
            <a:r>
              <a:rPr lang="en-US" sz="700" b="1"/>
              <a:t>Biz</a:t>
            </a:r>
          </a:p>
          <a:p>
            <a:pPr>
              <a:buClr>
                <a:srgbClr val="D9A207"/>
              </a:buClr>
              <a:buSzPct val="80000"/>
              <a:buFont typeface="Wingdings 2" pitchFamily="18" charset="2"/>
              <a:buNone/>
            </a:pPr>
            <a:r>
              <a:rPr lang="en-US" sz="700" b="1"/>
              <a:t>Tier</a:t>
            </a:r>
          </a:p>
        </p:txBody>
      </p:sp>
      <p:sp>
        <p:nvSpPr>
          <p:cNvPr id="2475826" name="Rectangle 1842"/>
          <p:cNvSpPr>
            <a:spLocks noChangeArrowheads="1"/>
          </p:cNvSpPr>
          <p:nvPr/>
        </p:nvSpPr>
        <p:spPr bwMode="auto">
          <a:xfrm>
            <a:off x="4764088" y="4319588"/>
            <a:ext cx="2390775" cy="136525"/>
          </a:xfrm>
          <a:prstGeom prst="rect">
            <a:avLst/>
          </a:prstGeom>
          <a:noFill/>
          <a:ln w="9525">
            <a:noFill/>
            <a:miter lim="800000"/>
            <a:headEnd/>
            <a:tailEnd/>
          </a:ln>
        </p:spPr>
        <p:txBody>
          <a:bodyPr lIns="0" tIns="0" rIns="0" bIns="0">
            <a:spAutoFit/>
          </a:bodyPr>
          <a:lstStyle/>
          <a:p>
            <a:r>
              <a:rPr lang="en-US" b="1">
                <a:solidFill>
                  <a:srgbClr val="000000"/>
                </a:solidFill>
              </a:rPr>
              <a:t>MarkITS SOA Framework</a:t>
            </a:r>
            <a:endParaRPr lang="en-US" b="1"/>
          </a:p>
        </p:txBody>
      </p:sp>
      <p:sp>
        <p:nvSpPr>
          <p:cNvPr id="2475837" name="Rectangle 1853"/>
          <p:cNvSpPr>
            <a:spLocks noChangeArrowheads="1"/>
          </p:cNvSpPr>
          <p:nvPr/>
        </p:nvSpPr>
        <p:spPr bwMode="auto">
          <a:xfrm>
            <a:off x="4075113" y="4229100"/>
            <a:ext cx="3657600" cy="1690688"/>
          </a:xfrm>
          <a:prstGeom prst="rect">
            <a:avLst/>
          </a:prstGeom>
          <a:noFill/>
          <a:ln w="28575">
            <a:solidFill>
              <a:srgbClr val="FF0000"/>
            </a:solidFill>
            <a:miter lim="800000"/>
            <a:headEnd/>
            <a:tailEnd/>
          </a:ln>
          <a:effectLst/>
        </p:spPr>
        <p:txBody>
          <a:bodyPr wrap="none" anchor="ctr"/>
          <a:lstStyle/>
          <a:p>
            <a:endParaRPr lang="en-US"/>
          </a:p>
        </p:txBody>
      </p:sp>
      <p:sp>
        <p:nvSpPr>
          <p:cNvPr id="2475838" name="Rectangle 1854"/>
          <p:cNvSpPr>
            <a:spLocks noChangeArrowheads="1"/>
          </p:cNvSpPr>
          <p:nvPr/>
        </p:nvSpPr>
        <p:spPr bwMode="auto">
          <a:xfrm>
            <a:off x="4075113" y="4229100"/>
            <a:ext cx="3657600" cy="1690688"/>
          </a:xfrm>
          <a:prstGeom prst="rect">
            <a:avLst/>
          </a:prstGeom>
          <a:noFill/>
          <a:ln w="28575">
            <a:solidFill>
              <a:srgbClr val="FF0000"/>
            </a:solidFill>
            <a:miter lim="800000"/>
            <a:headEnd/>
            <a:tailEnd/>
          </a:ln>
          <a:effectLst/>
        </p:spPr>
        <p:txBody>
          <a:bodyPr wrap="none" anchor="ctr"/>
          <a:lstStyle/>
          <a:p>
            <a:endParaRPr lang="en-US"/>
          </a:p>
        </p:txBody>
      </p:sp>
      <p:sp>
        <p:nvSpPr>
          <p:cNvPr id="2475839" name="Rectangle 1855"/>
          <p:cNvSpPr>
            <a:spLocks noChangeArrowheads="1"/>
          </p:cNvSpPr>
          <p:nvPr/>
        </p:nvSpPr>
        <p:spPr bwMode="auto">
          <a:xfrm>
            <a:off x="4075113" y="4229100"/>
            <a:ext cx="3657600" cy="1690688"/>
          </a:xfrm>
          <a:prstGeom prst="rect">
            <a:avLst/>
          </a:prstGeom>
          <a:noFill/>
          <a:ln w="28575">
            <a:solidFill>
              <a:srgbClr val="FF0000"/>
            </a:solidFill>
            <a:miter lim="800000"/>
            <a:headEnd/>
            <a:tailEnd/>
          </a:ln>
          <a:effectLst/>
        </p:spPr>
        <p:txBody>
          <a:bodyPr wrap="none" anchor="ctr"/>
          <a:lstStyle/>
          <a:p>
            <a:endParaRPr lang="en-US"/>
          </a:p>
        </p:txBody>
      </p:sp>
      <p:sp>
        <p:nvSpPr>
          <p:cNvPr id="2475840" name="Rectangle 1856"/>
          <p:cNvSpPr>
            <a:spLocks noChangeArrowheads="1"/>
          </p:cNvSpPr>
          <p:nvPr/>
        </p:nvSpPr>
        <p:spPr bwMode="auto">
          <a:xfrm>
            <a:off x="4075113" y="4229100"/>
            <a:ext cx="3657600" cy="1690688"/>
          </a:xfrm>
          <a:prstGeom prst="rect">
            <a:avLst/>
          </a:prstGeom>
          <a:noFill/>
          <a:ln w="28575">
            <a:solidFill>
              <a:srgbClr val="FF0000"/>
            </a:solidFill>
            <a:miter lim="800000"/>
            <a:headEnd/>
            <a:tailEnd/>
          </a:ln>
          <a:effectLst/>
        </p:spPr>
        <p:txBody>
          <a:bodyPr wrap="none" anchor="ctr"/>
          <a:lstStyle/>
          <a:p>
            <a:endParaRPr lang="en-US"/>
          </a:p>
        </p:txBody>
      </p:sp>
      <p:sp>
        <p:nvSpPr>
          <p:cNvPr id="2475845" name="Rectangle 1861"/>
          <p:cNvSpPr>
            <a:spLocks noChangeArrowheads="1"/>
          </p:cNvSpPr>
          <p:nvPr/>
        </p:nvSpPr>
        <p:spPr bwMode="auto">
          <a:xfrm>
            <a:off x="254000" y="69850"/>
            <a:ext cx="8661400" cy="804863"/>
          </a:xfrm>
          <a:prstGeom prst="rect">
            <a:avLst/>
          </a:prstGeom>
          <a:noFill/>
          <a:ln w="9525">
            <a:noFill/>
            <a:miter lim="800000"/>
            <a:headEnd/>
            <a:tailEnd/>
          </a:ln>
          <a:effectLst/>
        </p:spPr>
        <p:txBody>
          <a:bodyPr lIns="137160" rIns="137160" anchor="ctr">
            <a:spAutoFit/>
          </a:bodyPr>
          <a:lstStyle/>
          <a:p>
            <a:pPr>
              <a:lnSpc>
                <a:spcPct val="90000"/>
              </a:lnSpc>
            </a:pPr>
            <a:r>
              <a:rPr lang="en-US" sz="3400" b="1">
                <a:latin typeface="Arial Narrow" pitchFamily="34" charset="0"/>
              </a:rPr>
              <a:t>“How” to Maintain Convergence Heading </a:t>
            </a:r>
            <a:r>
              <a:rPr lang="en-US" sz="3600" b="1">
                <a:latin typeface="Arial Narrow" pitchFamily="34" charset="0"/>
              </a:rPr>
              <a:t/>
            </a:r>
            <a:br>
              <a:rPr lang="en-US" sz="3600" b="1">
                <a:latin typeface="Arial Narrow" pitchFamily="34" charset="0"/>
              </a:rPr>
            </a:br>
            <a:r>
              <a:rPr lang="en-US" sz="1800" b="1" i="1"/>
              <a:t>Enterprise Deployment Blueprints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1" presetClass="entr" presetSubtype="0" fill="hold" grpId="0" nodeType="afterEffect">
                                  <p:stCondLst>
                                    <p:cond delay="2000"/>
                                  </p:stCondLst>
                                  <p:childTnLst>
                                    <p:set>
                                      <p:cBhvr>
                                        <p:cTn id="6" dur="1000">
                                          <p:stCondLst>
                                            <p:cond delay="0"/>
                                          </p:stCondLst>
                                        </p:cTn>
                                        <p:tgtEl>
                                          <p:spTgt spid="2475771"/>
                                        </p:tgtEl>
                                        <p:attrNameLst>
                                          <p:attrName>style.visibility</p:attrName>
                                        </p:attrNameLst>
                                      </p:cBhvr>
                                      <p:to>
                                        <p:strVal val="visible"/>
                                      </p:to>
                                    </p:set>
                                  </p:childTnLst>
                                </p:cTn>
                              </p:par>
                            </p:childTnLst>
                          </p:cTn>
                        </p:par>
                        <p:par>
                          <p:cTn id="7" fill="hold">
                            <p:stCondLst>
                              <p:cond delay="3000"/>
                            </p:stCondLst>
                            <p:childTnLst>
                              <p:par>
                                <p:cTn id="8" presetID="11" presetClass="entr" presetSubtype="0" fill="hold" grpId="0" nodeType="afterEffect">
                                  <p:stCondLst>
                                    <p:cond delay="2000"/>
                                  </p:stCondLst>
                                  <p:childTnLst>
                                    <p:set>
                                      <p:cBhvr>
                                        <p:cTn id="9" dur="1000">
                                          <p:stCondLst>
                                            <p:cond delay="0"/>
                                          </p:stCondLst>
                                        </p:cTn>
                                        <p:tgtEl>
                                          <p:spTgt spid="2475837"/>
                                        </p:tgtEl>
                                        <p:attrNameLst>
                                          <p:attrName>style.visibility</p:attrName>
                                        </p:attrNameLst>
                                      </p:cBhvr>
                                      <p:to>
                                        <p:strVal val="visible"/>
                                      </p:to>
                                    </p:set>
                                  </p:childTnLst>
                                </p:cTn>
                              </p:par>
                            </p:childTnLst>
                          </p:cTn>
                        </p:par>
                        <p:par>
                          <p:cTn id="10" fill="hold">
                            <p:stCondLst>
                              <p:cond delay="6000"/>
                            </p:stCondLst>
                            <p:childTnLst>
                              <p:par>
                                <p:cTn id="11" presetID="11" presetClass="entr" presetSubtype="0" fill="hold" grpId="0" nodeType="afterEffect">
                                  <p:stCondLst>
                                    <p:cond delay="2000"/>
                                  </p:stCondLst>
                                  <p:childTnLst>
                                    <p:set>
                                      <p:cBhvr>
                                        <p:cTn id="12" dur="1000">
                                          <p:stCondLst>
                                            <p:cond delay="0"/>
                                          </p:stCondLst>
                                        </p:cTn>
                                        <p:tgtEl>
                                          <p:spTgt spid="2475838"/>
                                        </p:tgtEl>
                                        <p:attrNameLst>
                                          <p:attrName>style.visibility</p:attrName>
                                        </p:attrNameLst>
                                      </p:cBhvr>
                                      <p:to>
                                        <p:strVal val="visible"/>
                                      </p:to>
                                    </p:set>
                                  </p:childTnLst>
                                </p:cTn>
                              </p:par>
                            </p:childTnLst>
                          </p:cTn>
                        </p:par>
                        <p:par>
                          <p:cTn id="13" fill="hold">
                            <p:stCondLst>
                              <p:cond delay="9000"/>
                            </p:stCondLst>
                            <p:childTnLst>
                              <p:par>
                                <p:cTn id="14" presetID="11" presetClass="entr" presetSubtype="0" fill="hold" grpId="0" nodeType="afterEffect">
                                  <p:stCondLst>
                                    <p:cond delay="2000"/>
                                  </p:stCondLst>
                                  <p:childTnLst>
                                    <p:set>
                                      <p:cBhvr>
                                        <p:cTn id="15" dur="1000">
                                          <p:stCondLst>
                                            <p:cond delay="0"/>
                                          </p:stCondLst>
                                        </p:cTn>
                                        <p:tgtEl>
                                          <p:spTgt spid="2475839"/>
                                        </p:tgtEl>
                                        <p:attrNameLst>
                                          <p:attrName>style.visibility</p:attrName>
                                        </p:attrNameLst>
                                      </p:cBhvr>
                                      <p:to>
                                        <p:strVal val="visible"/>
                                      </p:to>
                                    </p:set>
                                  </p:childTnLst>
                                </p:cTn>
                              </p:par>
                            </p:childTnLst>
                          </p:cTn>
                        </p:par>
                        <p:par>
                          <p:cTn id="16" fill="hold">
                            <p:stCondLst>
                              <p:cond delay="12000"/>
                            </p:stCondLst>
                            <p:childTnLst>
                              <p:par>
                                <p:cTn id="17" presetID="11" presetClass="entr" presetSubtype="0" fill="hold" grpId="0" nodeType="afterEffect">
                                  <p:stCondLst>
                                    <p:cond delay="2000"/>
                                  </p:stCondLst>
                                  <p:childTnLst>
                                    <p:set>
                                      <p:cBhvr>
                                        <p:cTn id="18" dur="1000">
                                          <p:stCondLst>
                                            <p:cond delay="0"/>
                                          </p:stCondLst>
                                        </p:cTn>
                                        <p:tgtEl>
                                          <p:spTgt spid="2475840"/>
                                        </p:tgtEl>
                                        <p:attrNameLst>
                                          <p:attrName>style.visibility</p:attrName>
                                        </p:attrNameLst>
                                      </p:cBhvr>
                                      <p:to>
                                        <p:strVal val="visible"/>
                                      </p:to>
                                    </p:set>
                                  </p:childTnLst>
                                </p:cTn>
                              </p:par>
                            </p:childTnLst>
                          </p:cTn>
                        </p:par>
                        <p:par>
                          <p:cTn id="19" fill="hold">
                            <p:stCondLst>
                              <p:cond delay="15000"/>
                            </p:stCondLst>
                            <p:childTnLst>
                              <p:par>
                                <p:cTn id="20" presetID="1" presetClass="entr" presetSubtype="0" fill="hold" grpId="0" nodeType="afterEffect">
                                  <p:stCondLst>
                                    <p:cond delay="2000"/>
                                  </p:stCondLst>
                                  <p:childTnLst>
                                    <p:set>
                                      <p:cBhvr>
                                        <p:cTn id="21" dur="1" fill="hold">
                                          <p:stCondLst>
                                            <p:cond delay="499"/>
                                          </p:stCondLst>
                                        </p:cTn>
                                        <p:tgtEl>
                                          <p:spTgt spid="2475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5844" grpId="0" animBg="1"/>
      <p:bldP spid="2475771" grpId="0" animBg="1"/>
      <p:bldP spid="2475837" grpId="0" animBg="1"/>
      <p:bldP spid="2475838" grpId="0" animBg="1"/>
      <p:bldP spid="2475839" grpId="0" animBg="1"/>
      <p:bldP spid="24758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5427" name="Text Box 3"/>
          <p:cNvSpPr txBox="1">
            <a:spLocks noChangeArrowheads="1"/>
          </p:cNvSpPr>
          <p:nvPr/>
        </p:nvSpPr>
        <p:spPr bwMode="auto">
          <a:xfrm>
            <a:off x="635000" y="1524000"/>
            <a:ext cx="8267700" cy="228600"/>
          </a:xfrm>
          <a:prstGeom prst="rect">
            <a:avLst/>
          </a:prstGeom>
          <a:noFill/>
          <a:ln w="9525">
            <a:noFill/>
            <a:miter lim="800000"/>
            <a:headEnd/>
            <a:tailEnd/>
          </a:ln>
          <a:effectLst/>
        </p:spPr>
        <p:txBody>
          <a:bodyPr>
            <a:spAutoFit/>
          </a:bodyPr>
          <a:lstStyle/>
          <a:p>
            <a:pPr>
              <a:spcBef>
                <a:spcPct val="50000"/>
              </a:spcBef>
            </a:pPr>
            <a:endParaRPr lang="en-US"/>
          </a:p>
        </p:txBody>
      </p:sp>
      <p:sp>
        <p:nvSpPr>
          <p:cNvPr id="2535428" name="Rectangle 4"/>
          <p:cNvSpPr>
            <a:spLocks noGrp="1" noChangeArrowheads="1"/>
          </p:cNvSpPr>
          <p:nvPr>
            <p:ph/>
          </p:nvPr>
        </p:nvSpPr>
        <p:spPr>
          <a:xfrm>
            <a:off x="152400" y="1033463"/>
            <a:ext cx="8839200" cy="4922837"/>
          </a:xfrm>
          <a:noFill/>
          <a:ln/>
        </p:spPr>
        <p:txBody>
          <a:bodyPr/>
          <a:lstStyle/>
          <a:p>
            <a:pPr marL="0" indent="0">
              <a:buFontTx/>
              <a:buNone/>
            </a:pPr>
            <a:r>
              <a:rPr lang="en-US" sz="1600"/>
              <a:t>The </a:t>
            </a:r>
            <a:r>
              <a:rPr lang="en-US" sz="1800" b="1"/>
              <a:t>Business/Creative Architecture View</a:t>
            </a:r>
            <a:r>
              <a:rPr lang="en-US" sz="1600"/>
              <a:t> - foundational to all EA planning:</a:t>
            </a:r>
            <a:r>
              <a:rPr lang="en-US" sz="1200"/>
              <a:t> </a:t>
            </a:r>
          </a:p>
          <a:p>
            <a:pPr marL="228600" lvl="1" indent="0">
              <a:buFont typeface="Wingdings" pitchFamily="2" charset="2"/>
              <a:buNone/>
            </a:pPr>
            <a:r>
              <a:rPr lang="en-US" sz="1000"/>
              <a:t>It describes how our enterprise is structured, both internally and externally; it describes the business strategies and decisions that keep our organization focused on growth, profit and goals; it flushes out the internal operating structure of business units and the interlocking relationships between business them; and it exposes the overall objectives and goals of our enterprise. At a minimum, the Business Architecture View should enumerate our organization's values, goals, vision, and mission from an operations perspective for the next 24 months. The Business Architecture View may also contain our organizational structure, management philosophy, marketing goals, and our business plan.</a:t>
            </a:r>
          </a:p>
          <a:p>
            <a:pPr marL="0" indent="0">
              <a:buFontTx/>
              <a:buNone/>
            </a:pPr>
            <a:r>
              <a:rPr lang="en-US" sz="1600"/>
              <a:t>The </a:t>
            </a:r>
            <a:r>
              <a:rPr lang="en-US" sz="1800" b="1"/>
              <a:t>Application Architecture View</a:t>
            </a:r>
            <a:r>
              <a:rPr lang="en-US" sz="1600"/>
              <a:t> involves detailed understanding of core applications:</a:t>
            </a:r>
            <a:endParaRPr lang="en-US" sz="1200"/>
          </a:p>
          <a:p>
            <a:pPr marL="228600" lvl="1" indent="0">
              <a:buFont typeface="Wingdings" pitchFamily="2" charset="2"/>
              <a:buNone/>
            </a:pPr>
            <a:r>
              <a:rPr lang="en-US" sz="1000"/>
              <a:t>It describes how our organization automates business processes, both internally and externally; it describes the interactions and dependencies among processes, systems, and components; and it provides a mechanism for developing new applications and extending existing applications. If the applications identified in the Application Architecture View do not significantly contribute to meeting, or exceeding, stated organizational business objectives, the validity of the application should be questioned. Tenets applied must include Performance, Availability, Reliability, Traceability, Testability, Security, Scalability, and Supportability.</a:t>
            </a:r>
          </a:p>
          <a:p>
            <a:pPr marL="0" indent="0">
              <a:spcBef>
                <a:spcPct val="75000"/>
              </a:spcBef>
              <a:buFontTx/>
              <a:buNone/>
            </a:pPr>
            <a:r>
              <a:rPr lang="en-US" sz="1600"/>
              <a:t>The </a:t>
            </a:r>
            <a:r>
              <a:rPr lang="en-US" sz="1800" b="1"/>
              <a:t>Data Architecture View</a:t>
            </a:r>
            <a:r>
              <a:rPr lang="en-US" sz="1600"/>
              <a:t> reveals critical information necessary to effectively operate:</a:t>
            </a:r>
            <a:r>
              <a:rPr lang="en-US" sz="1200"/>
              <a:t> </a:t>
            </a:r>
          </a:p>
          <a:p>
            <a:pPr marL="228600" lvl="1" indent="0">
              <a:buFont typeface="Wingdings" pitchFamily="2" charset="2"/>
              <a:buNone/>
            </a:pPr>
            <a:r>
              <a:rPr lang="en-US" sz="1000"/>
              <a:t>The primary focus of the Data  Architecture View is data. It delineates the data models of your enterprise; it defines the procedures, processes, and policies that govern your data management activities; it provides you with a greater understanding of your data recovery, backup, and usage patterns; and it provides greater understanding of the relationships and interdependencies among the data documents within your organization. The Data  Architecture View is about capturing, defining, and understanding data as it relates to organizational business processes, workflows, and data repositories. Tenets applied must include Performance, Availability, Reliability, Security, Scalability, and Supportability.</a:t>
            </a:r>
          </a:p>
          <a:p>
            <a:pPr marL="0" indent="0">
              <a:spcBef>
                <a:spcPct val="75000"/>
              </a:spcBef>
              <a:buFontTx/>
              <a:buNone/>
            </a:pPr>
            <a:r>
              <a:rPr lang="en-US" sz="1600"/>
              <a:t>The </a:t>
            </a:r>
            <a:r>
              <a:rPr lang="en-US" sz="1800" b="1"/>
              <a:t>Technical Architecture View</a:t>
            </a:r>
            <a:r>
              <a:rPr lang="en-US" sz="1600"/>
              <a:t> enumerates the state of the technical infrastructure: </a:t>
            </a:r>
          </a:p>
          <a:p>
            <a:pPr marL="228600" lvl="1" indent="0">
              <a:buFont typeface="Wingdings" pitchFamily="2" charset="2"/>
              <a:buNone/>
            </a:pPr>
            <a:r>
              <a:rPr lang="en-US" sz="1000"/>
              <a:t>It identifies desktop and server hardware; it identifies the operating systems and network infrastructure; it identifies any network components such as printers, modems, and faxes; and it provides a common set of standards and best practices for supporting the business mission of your organization. The Technical Architecture View may also include an inventory of internal and external vendors, an evaluation of current technology staffing preparedness, and the Information Technology Expenditures Budget. Tenets include Performance, Availability, Security, Scalability, and Supportability.</a:t>
            </a:r>
          </a:p>
          <a:p>
            <a:pPr marL="228600" lvl="1" indent="0">
              <a:buFont typeface="Wingdings" pitchFamily="2" charset="2"/>
              <a:buNone/>
            </a:pPr>
            <a:endParaRPr lang="en-US" sz="1000"/>
          </a:p>
        </p:txBody>
      </p:sp>
      <p:sp>
        <p:nvSpPr>
          <p:cNvPr id="2535430" name="Rectangle 6"/>
          <p:cNvSpPr>
            <a:spLocks noChangeArrowheads="1"/>
          </p:cNvSpPr>
          <p:nvPr/>
        </p:nvSpPr>
        <p:spPr bwMode="auto">
          <a:xfrm>
            <a:off x="254000" y="69850"/>
            <a:ext cx="8661400" cy="804863"/>
          </a:xfrm>
          <a:prstGeom prst="rect">
            <a:avLst/>
          </a:prstGeom>
          <a:noFill/>
          <a:ln w="9525">
            <a:noFill/>
            <a:miter lim="800000"/>
            <a:headEnd/>
            <a:tailEnd/>
          </a:ln>
          <a:effectLst/>
        </p:spPr>
        <p:txBody>
          <a:bodyPr lIns="137160" rIns="137160" anchor="ctr">
            <a:spAutoFit/>
          </a:bodyPr>
          <a:lstStyle/>
          <a:p>
            <a:pPr>
              <a:lnSpc>
                <a:spcPct val="90000"/>
              </a:lnSpc>
            </a:pPr>
            <a:r>
              <a:rPr lang="en-US" sz="3400" b="1">
                <a:latin typeface="Arial Narrow" pitchFamily="34" charset="0"/>
              </a:rPr>
              <a:t>“How” to Maintain Convergence Heading </a:t>
            </a:r>
            <a:r>
              <a:rPr lang="en-US" sz="3600" b="1">
                <a:latin typeface="Arial Narrow" pitchFamily="34" charset="0"/>
              </a:rPr>
              <a:t/>
            </a:r>
            <a:br>
              <a:rPr lang="en-US" sz="3600" b="1">
                <a:latin typeface="Arial Narrow" pitchFamily="34" charset="0"/>
              </a:rPr>
            </a:br>
            <a:r>
              <a:rPr lang="en-US" sz="1800" b="1" i="1"/>
              <a:t>Enterprise Architecture Plan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83" name="Rectangle 3"/>
          <p:cNvSpPr>
            <a:spLocks noChangeArrowheads="1"/>
          </p:cNvSpPr>
          <p:nvPr/>
        </p:nvSpPr>
        <p:spPr bwMode="auto">
          <a:xfrm>
            <a:off x="1443038" y="311150"/>
            <a:ext cx="5753100" cy="384175"/>
          </a:xfrm>
          <a:prstGeom prst="rect">
            <a:avLst/>
          </a:prstGeom>
          <a:noFill/>
          <a:ln w="9525">
            <a:noFill/>
            <a:miter lim="800000"/>
            <a:headEnd/>
            <a:tailEnd/>
          </a:ln>
          <a:effectLst/>
        </p:spPr>
        <p:txBody>
          <a:bodyPr lIns="0" tIns="0" rIns="0" bIns="0" anchor="b">
            <a:spAutoFit/>
          </a:bodyPr>
          <a:lstStyle/>
          <a:p>
            <a:pPr>
              <a:lnSpc>
                <a:spcPct val="70000"/>
              </a:lnSpc>
            </a:pPr>
            <a:r>
              <a:rPr lang="en-US" sz="3600" b="1">
                <a:latin typeface="Arial Narrow" pitchFamily="34" charset="0"/>
              </a:rPr>
              <a:t>Discussion – Q &amp; A</a:t>
            </a:r>
          </a:p>
        </p:txBody>
      </p:sp>
      <p:sp>
        <p:nvSpPr>
          <p:cNvPr id="2375684" name="Rectangle 4"/>
          <p:cNvSpPr>
            <a:spLocks noGrp="1" noChangeArrowheads="1"/>
          </p:cNvSpPr>
          <p:nvPr>
            <p:ph/>
          </p:nvPr>
        </p:nvSpPr>
        <p:spPr>
          <a:xfrm>
            <a:off x="698500" y="1538288"/>
            <a:ext cx="7213600" cy="4270375"/>
          </a:xfrm>
          <a:noFill/>
          <a:ln/>
        </p:spPr>
        <p:txBody>
          <a:bodyPr/>
          <a:lstStyle/>
          <a:p>
            <a:pPr algn="ctr">
              <a:lnSpc>
                <a:spcPct val="80000"/>
              </a:lnSpc>
              <a:buFontTx/>
              <a:buNone/>
            </a:pPr>
            <a:r>
              <a:rPr lang="en-US" sz="3600" b="1"/>
              <a:t>Thank You </a:t>
            </a:r>
          </a:p>
          <a:p>
            <a:pPr algn="ctr">
              <a:lnSpc>
                <a:spcPct val="80000"/>
              </a:lnSpc>
              <a:buFontTx/>
              <a:buNone/>
            </a:pPr>
            <a:r>
              <a:rPr lang="en-US" sz="3600" b="1"/>
              <a:t>For Your </a:t>
            </a:r>
          </a:p>
          <a:p>
            <a:pPr algn="ctr">
              <a:lnSpc>
                <a:spcPct val="80000"/>
              </a:lnSpc>
              <a:buFontTx/>
              <a:buNone/>
            </a:pPr>
            <a:r>
              <a:rPr lang="en-US" sz="3600" b="1"/>
              <a:t>Participation!</a:t>
            </a:r>
          </a:p>
          <a:p>
            <a:pPr algn="ctr">
              <a:lnSpc>
                <a:spcPct val="80000"/>
              </a:lnSpc>
              <a:buFontTx/>
              <a:buNone/>
            </a:pPr>
            <a:endParaRPr lang="en-US" sz="3600" b="1"/>
          </a:p>
          <a:p>
            <a:pPr algn="ctr">
              <a:lnSpc>
                <a:spcPct val="80000"/>
              </a:lnSpc>
              <a:buFontTx/>
              <a:buNone/>
            </a:pPr>
            <a:endParaRPr lang="en-US" sz="3600" b="1"/>
          </a:p>
          <a:p>
            <a:pPr algn="ctr">
              <a:lnSpc>
                <a:spcPct val="80000"/>
              </a:lnSpc>
              <a:buFontTx/>
              <a:buNone/>
            </a:pPr>
            <a:r>
              <a:rPr lang="en-US" sz="2800" b="1">
                <a:solidFill>
                  <a:schemeClr val="hlink"/>
                </a:solidFill>
              </a:rPr>
              <a:t>Contacts and Information</a:t>
            </a:r>
          </a:p>
          <a:p>
            <a:pPr lvl="1" algn="ctr">
              <a:lnSpc>
                <a:spcPct val="80000"/>
              </a:lnSpc>
              <a:buFont typeface="Wingdings" pitchFamily="2" charset="2"/>
              <a:buNone/>
            </a:pPr>
            <a:endParaRPr lang="en-US" sz="1600">
              <a:solidFill>
                <a:schemeClr val="hlink"/>
              </a:solidFill>
            </a:endParaRPr>
          </a:p>
          <a:p>
            <a:pPr lvl="1" algn="ctr">
              <a:lnSpc>
                <a:spcPct val="80000"/>
              </a:lnSpc>
              <a:buFont typeface="Wingdings" pitchFamily="2" charset="2"/>
              <a:buNone/>
            </a:pPr>
            <a:r>
              <a:rPr lang="en-US" sz="1600">
                <a:solidFill>
                  <a:schemeClr val="hlink"/>
                </a:solidFill>
                <a:hlinkClick r:id="rId3"/>
              </a:rPr>
              <a:t>Mark@MarkITS.com</a:t>
            </a:r>
            <a:r>
              <a:rPr lang="en-US" sz="1600">
                <a:solidFill>
                  <a:schemeClr val="hlink"/>
                </a:solidFill>
              </a:rPr>
              <a:t>    603-659-4930</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ofEducDeck">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66CC"/>
      </a:hlink>
      <a:folHlink>
        <a:srgbClr val="339966"/>
      </a:folHlink>
    </a:clrScheme>
    <a:fontScheme name="ProfEducDeck">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900" b="0" i="0" u="none" strike="noStrike" cap="none" normalizeH="0" baseline="0" smtClean="0">
            <a:ln>
              <a:noFill/>
            </a:ln>
            <a:solidFill>
              <a:schemeClr val="tx1"/>
            </a:solidFill>
            <a:effectLst/>
            <a:latin typeface="Arial" charset="0"/>
          </a:defRPr>
        </a:defPPr>
      </a:lstStyle>
    </a:lnDef>
  </a:objectDefaults>
  <a:extraClrSchemeLst>
    <a:extraClrScheme>
      <a:clrScheme name="ProfEducDeck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ofEducDeck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ofEducDeck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ofEducDeck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ofEducDec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ofEducDec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ofEducDec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Designs\ProfEducDeck.ppt</Template>
  <TotalTime>55337</TotalTime>
  <Pages>24</Pages>
  <Words>2547</Words>
  <Application>Microsoft Office PowerPoint</Application>
  <PresentationFormat>On-screen Show (4:3)</PresentationFormat>
  <Paragraphs>536</Paragraphs>
  <Slides>27</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7" baseType="lpstr">
      <vt:lpstr>Times New Roman</vt:lpstr>
      <vt:lpstr>Arial Narrow</vt:lpstr>
      <vt:lpstr>Arial</vt:lpstr>
      <vt:lpstr>Wingdings 2</vt:lpstr>
      <vt:lpstr>Wingdings</vt:lpstr>
      <vt:lpstr>BankGothic Md BT</vt:lpstr>
      <vt:lpstr>Tahoma</vt:lpstr>
      <vt:lpstr>ProfEducDeck</vt:lpstr>
      <vt:lpstr>Package</vt:lpstr>
      <vt:lpstr>Microsoft Visio Drawing</vt:lpstr>
      <vt:lpstr>Enterprise Architecture Services  7/25/2005 </vt:lpstr>
      <vt:lpstr>Agenda</vt:lpstr>
      <vt:lpstr>Enterprise Architecture in a Nutshell  Convergence of Technology and Business</vt:lpstr>
      <vt:lpstr>Enterprise Architecture in a Nutshell  Convergence of Technology and Business</vt:lpstr>
      <vt:lpstr>Agenda</vt:lpstr>
      <vt:lpstr>“What” is Architecture</vt:lpstr>
      <vt:lpstr>Slide 7</vt:lpstr>
      <vt:lpstr>“What” is Architecture (Scope) </vt:lpstr>
      <vt:lpstr>“What” is Architecture (Operations) </vt:lpstr>
      <vt:lpstr>“What” is Architecture (Deliverables) </vt:lpstr>
      <vt:lpstr>“What” is Architecture (Roles) </vt:lpstr>
      <vt:lpstr>“What” is Architecture (Roles continued) </vt:lpstr>
      <vt:lpstr>Slide 13</vt:lpstr>
      <vt:lpstr>Slide 14</vt:lpstr>
      <vt:lpstr>Agenda</vt:lpstr>
      <vt:lpstr>“Why” the Convergence Imperative</vt:lpstr>
      <vt:lpstr>“Value” of Architecture Convergence</vt:lpstr>
      <vt:lpstr>“Why" SOA Enables Convergence</vt:lpstr>
      <vt:lpstr>SOA Framework </vt:lpstr>
      <vt:lpstr>SOA Framework </vt:lpstr>
      <vt:lpstr>Agenda</vt:lpstr>
      <vt:lpstr>“WHEN” Are Projects Are Engaged by EAS</vt:lpstr>
      <vt:lpstr>Agenda</vt:lpstr>
      <vt:lpstr>“How” to Maintain Convergence Heading  Architecture Tenets</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Architecture Services at Manulife Financial</dc:title>
  <dc:creator>Mark Sternberger</dc:creator>
  <cp:lastModifiedBy>Jeffrey Wallk</cp:lastModifiedBy>
  <cp:revision>1589</cp:revision>
  <cp:lastPrinted>2000-08-03T21:17:39Z</cp:lastPrinted>
  <dcterms:created xsi:type="dcterms:W3CDTF">2000-05-17T23:22:24Z</dcterms:created>
  <dcterms:modified xsi:type="dcterms:W3CDTF">2009-09-09T15:01:15Z</dcterms:modified>
</cp:coreProperties>
</file>
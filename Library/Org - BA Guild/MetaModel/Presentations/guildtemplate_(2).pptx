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7"/>
  </p:notesMasterIdLst>
  <p:handoutMasterIdLst>
    <p:handoutMasterId r:id="rId8"/>
  </p:handoutMasterIdLst>
  <p:sldIdLst>
    <p:sldId id="259" r:id="rId2"/>
    <p:sldId id="262" r:id="rId3"/>
    <p:sldId id="261" r:id="rId4"/>
    <p:sldId id="263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5413"/>
    <a:srgbClr val="00C49E"/>
    <a:srgbClr val="252E33"/>
    <a:srgbClr val="3F4E56"/>
    <a:srgbClr val="000000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106" autoAdjust="0"/>
  </p:normalViewPr>
  <p:slideViewPr>
    <p:cSldViewPr snapToGrid="0">
      <p:cViewPr varScale="1">
        <p:scale>
          <a:sx n="106" d="100"/>
          <a:sy n="106" d="100"/>
        </p:scale>
        <p:origin x="-344" y="-96"/>
      </p:cViewPr>
      <p:guideLst>
        <p:guide orient="horz" pos="1774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Business Architecture Guild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2DA1F-A37C-41D2-82C0-7922EAA70BF9}" type="datetimeFigureOut">
              <a:rPr lang="en-US" smtClean="0"/>
              <a:t>3/9/15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2012 @ Business Architecture Guild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447DD-8410-4B48-BF9F-010B3E13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664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Business Architecture Guild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78605-75FF-4090-82E1-8992D952D785}" type="datetimeFigureOut">
              <a:rPr lang="en-US" smtClean="0"/>
              <a:t>3/9/15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2012 @ Business Architecture Guild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F5204-EB12-4271-A49D-308523C9B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912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190" y="3523787"/>
            <a:ext cx="9146380" cy="36576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0" y="3523129"/>
            <a:ext cx="1463040" cy="3657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>
            <a:spLocks noGrp="1"/>
          </p:cNvSpPr>
          <p:nvPr>
            <p:ph type="ctrTitle"/>
          </p:nvPr>
        </p:nvSpPr>
        <p:spPr>
          <a:xfrm>
            <a:off x="457200" y="2798081"/>
            <a:ext cx="8229600" cy="615553"/>
          </a:xfrm>
          <a:noFill/>
        </p:spPr>
        <p:txBody>
          <a:bodyPr wrap="none" lIns="91440" tIns="0" rIns="91440" bIns="0" anchor="b">
            <a:spAutoFit/>
          </a:bodyPr>
          <a:lstStyle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1463040" y="3515231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52" name="Date Placeholder 5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13EAD0-FE42-479E-BFD1-82A4FA54F9B8}" type="datetime1">
              <a:rPr lang="en-US" smtClean="0"/>
              <a:t>3/9/15</a:t>
            </a:fld>
            <a:endParaRPr lang="en-US" dirty="0"/>
          </a:p>
        </p:txBody>
      </p:sp>
      <p:sp>
        <p:nvSpPr>
          <p:cNvPr id="53" name="Footer Placeholder 5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56" name="Slide Number Placeholder 5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9" name="Rectangle 58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91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0628"/>
            <a:ext cx="8229600" cy="357984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3/9/15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4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3D1F-8B6B-46FD-90B9-289ACA433332}" type="datetime1">
              <a:rPr lang="en-US" smtClean="0"/>
              <a:t>3/9/15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040" y="3515226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36" name="Title 35"/>
          <p:cNvSpPr>
            <a:spLocks noGrp="1"/>
          </p:cNvSpPr>
          <p:nvPr>
            <p:ph type="title"/>
          </p:nvPr>
        </p:nvSpPr>
        <p:spPr>
          <a:xfrm>
            <a:off x="520314" y="2798076"/>
            <a:ext cx="8103373" cy="615553"/>
          </a:xfrm>
          <a:noFill/>
        </p:spPr>
        <p:txBody>
          <a:bodyPr vert="horz" wrap="none" lIns="91440" tIns="0" rIns="91440" bIns="0" rtlCol="0" anchor="b">
            <a:spAutoFit/>
          </a:bodyPr>
          <a:lstStyle>
            <a:lvl1pPr>
              <a:defRPr lang="en-US" sz="4000" b="1" dirty="0">
                <a:solidFill>
                  <a:srgbClr val="252E33"/>
                </a:solidFill>
              </a:defRPr>
            </a:lvl1pPr>
          </a:lstStyle>
          <a:p>
            <a:pPr marL="0" lvl="0" algn="ctr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 userDrawn="1"/>
        </p:nvSpPr>
        <p:spPr>
          <a:xfrm>
            <a:off x="0" y="548102"/>
            <a:ext cx="9144000" cy="1371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29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3/9/15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81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3/9/15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7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3/9/15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2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3/9/15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03200" y="927100"/>
            <a:ext cx="8077200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2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65759"/>
            <a:ext cx="6858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" y="6440697"/>
            <a:ext cx="68127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92FE3BD-E6E5-415F-8D6E-D2B3F7C63698}" type="datetime1">
              <a:rPr lang="en-US" smtClean="0"/>
              <a:t>3/9/15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94182" y="6440697"/>
            <a:ext cx="187552" cy="184666"/>
          </a:xfrm>
          <a:prstGeom prst="rect">
            <a:avLst/>
          </a:prstGeom>
          <a:ln w="19050">
            <a:noFill/>
          </a:ln>
        </p:spPr>
        <p:txBody>
          <a:bodyPr vert="horz" wrap="none" lIns="0" tIns="0" rIns="0" bIns="0" rtlCol="0" anchor="ctr">
            <a:spAutoFit/>
          </a:bodyPr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rou6\Documents\1_ILLUSTRATION\STA ppt\guild\BAGuild_Logo_LightBG.png"/>
          <p:cNvPicPr>
            <a:picLocks noChangeAspect="1" noChangeArrowheads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2867"/>
          <a:stretch/>
        </p:blipFill>
        <p:spPr bwMode="auto">
          <a:xfrm>
            <a:off x="2971800" y="5969851"/>
            <a:ext cx="3200400" cy="43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rou6\Documents\1_ILLUSTRATION\STA ppt\guild\BAGuild_Badge_NoLetters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320" y="304053"/>
            <a:ext cx="640080" cy="68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9800" y="6395870"/>
            <a:ext cx="4724400" cy="274320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228600" y="958850"/>
            <a:ext cx="8686800" cy="27432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7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</p:sldLayoutIdLst>
  <p:timing>
    <p:tnLst>
      <p:par>
        <p:cTn xmlns:p14="http://schemas.microsoft.com/office/powerpoint/2010/main" id="1" dur="indefinite" restart="never" nodeType="tmRoot"/>
      </p:par>
    </p:tnLst>
  </p:timing>
  <p:hf hd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www.businessarchitectureguild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381615" y="2798081"/>
            <a:ext cx="4380777" cy="615553"/>
          </a:xfrm>
        </p:spPr>
        <p:txBody>
          <a:bodyPr/>
          <a:lstStyle/>
          <a:p>
            <a:r>
              <a:rPr lang="en-US" dirty="0" smtClean="0"/>
              <a:t>Metamodel team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106417" y="3515231"/>
            <a:ext cx="2931173" cy="369332"/>
          </a:xfrm>
        </p:spPr>
        <p:txBody>
          <a:bodyPr/>
          <a:lstStyle/>
          <a:p>
            <a:r>
              <a:rPr lang="en-US" dirty="0" smtClean="0"/>
              <a:t>2014 Summit Update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0155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3/9/15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06400" y="4284134"/>
            <a:ext cx="8229600" cy="1564744"/>
          </a:xfrm>
        </p:spPr>
        <p:txBody>
          <a:bodyPr/>
          <a:lstStyle/>
          <a:p>
            <a:pPr marL="0" indent="0"/>
            <a:r>
              <a:rPr lang="en-US" dirty="0" smtClean="0"/>
              <a:t>We have multiple threads that the team is trying to pursue. First and foremost, is the OMG White Paper. </a:t>
            </a:r>
            <a:r>
              <a:rPr lang="en-US" dirty="0"/>
              <a:t>T</a:t>
            </a:r>
            <a:r>
              <a:rPr lang="en-US" dirty="0" smtClean="0"/>
              <a:t>he MM Team’s responsibility is to provide a working group </a:t>
            </a:r>
            <a:r>
              <a:rPr lang="en-US" dirty="0" err="1" smtClean="0"/>
              <a:t>BAsig</a:t>
            </a:r>
            <a:r>
              <a:rPr lang="en-US" dirty="0" smtClean="0"/>
              <a:t> in the OMG with guidance and thought leadership to justify the need for a BA MM standard.  </a:t>
            </a:r>
            <a:endParaRPr lang="en-US" dirty="0"/>
          </a:p>
        </p:txBody>
      </p:sp>
      <p:sp>
        <p:nvSpPr>
          <p:cNvPr id="9" name="Chevron 8"/>
          <p:cNvSpPr/>
          <p:nvPr/>
        </p:nvSpPr>
        <p:spPr>
          <a:xfrm>
            <a:off x="423333" y="1253067"/>
            <a:ext cx="2641600" cy="677333"/>
          </a:xfrm>
          <a:prstGeom prst="chevron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OMG WP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2743201" y="1253067"/>
            <a:ext cx="2641600" cy="677333"/>
          </a:xfrm>
          <a:prstGeom prst="chevron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OMG RFP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2286000" y="1964267"/>
            <a:ext cx="2286000" cy="677333"/>
          </a:xfrm>
          <a:prstGeom prst="chevron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BIZBOK WP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149598" y="2624666"/>
            <a:ext cx="4216401" cy="677333"/>
          </a:xfrm>
          <a:prstGeom prst="chevron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BIZBOK Updates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2590798" y="3318932"/>
            <a:ext cx="5232401" cy="677333"/>
          </a:xfrm>
          <a:prstGeom prst="chevron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Ongoing Vendor Engagement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Up Arrow Callout 13"/>
          <p:cNvSpPr/>
          <p:nvPr/>
        </p:nvSpPr>
        <p:spPr>
          <a:xfrm>
            <a:off x="1151467" y="1947333"/>
            <a:ext cx="948266" cy="1473200"/>
          </a:xfrm>
          <a:prstGeom prst="upArrowCallout">
            <a:avLst/>
          </a:prstGeom>
          <a:solidFill>
            <a:srgbClr val="FFFF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ETC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3/15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499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406400" y="1083695"/>
            <a:ext cx="4064000" cy="4741372"/>
          </a:xfrm>
        </p:spPr>
        <p:txBody>
          <a:bodyPr>
            <a:noAutofit/>
          </a:bodyPr>
          <a:lstStyle/>
          <a:p>
            <a:r>
              <a:rPr lang="en-US" sz="1600" dirty="0"/>
              <a:t>OMG White Paper to justify a BA MM (drafted by </a:t>
            </a:r>
            <a:r>
              <a:rPr lang="en-US" sz="1600" dirty="0" err="1"/>
              <a:t>BAsig</a:t>
            </a:r>
            <a:r>
              <a:rPr lang="en-US" sz="1600" dirty="0"/>
              <a:t>)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Deliverable </a:t>
            </a:r>
            <a:r>
              <a:rPr lang="en-US" sz="1600" dirty="0"/>
              <a:t>(List of Bullet Points)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List </a:t>
            </a:r>
            <a:r>
              <a:rPr lang="en-US" sz="1600" dirty="0"/>
              <a:t>of Scenarios (to support the Bullets)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Draft review </a:t>
            </a:r>
            <a:r>
              <a:rPr lang="en-US" sz="1600" dirty="0"/>
              <a:t>(part of the </a:t>
            </a:r>
            <a:r>
              <a:rPr lang="en-US" sz="1600" dirty="0" err="1"/>
              <a:t>BAsig</a:t>
            </a:r>
            <a:r>
              <a:rPr lang="en-US" sz="1600" dirty="0"/>
              <a:t> effort)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Team </a:t>
            </a:r>
            <a:r>
              <a:rPr lang="en-US" sz="1600" dirty="0"/>
              <a:t>review of Draft </a:t>
            </a:r>
            <a:endParaRPr lang="en-US" sz="1600" dirty="0"/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Finalize </a:t>
            </a:r>
            <a:r>
              <a:rPr lang="en-US" sz="1600" dirty="0"/>
              <a:t>deliverable by EOM January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Present </a:t>
            </a:r>
            <a:r>
              <a:rPr lang="en-US" sz="1600" dirty="0"/>
              <a:t>at March meeting for Guild</a:t>
            </a:r>
          </a:p>
          <a:p>
            <a:pPr marL="0" indent="0"/>
            <a:endParaRPr lang="en-US" sz="1600" dirty="0"/>
          </a:p>
          <a:p>
            <a:r>
              <a:rPr lang="en-US" sz="1600" dirty="0"/>
              <a:t>BA MM for the RFP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Deliverable </a:t>
            </a:r>
            <a:r>
              <a:rPr lang="en-US" sz="1600" dirty="0"/>
              <a:t>(RFP Document + “neutral” BA MM) 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Draft BA MM (expanding on OMG WP)</a:t>
            </a:r>
            <a:endParaRPr lang="en-US" sz="1600" dirty="0"/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Draft </a:t>
            </a:r>
            <a:r>
              <a:rPr lang="en-US" sz="1600" dirty="0"/>
              <a:t>RFP Document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Team </a:t>
            </a:r>
            <a:r>
              <a:rPr lang="en-US" sz="1600" dirty="0"/>
              <a:t>review of Draft BA </a:t>
            </a:r>
            <a:r>
              <a:rPr lang="en-US" sz="1600" dirty="0" smtClean="0"/>
              <a:t>MM</a:t>
            </a:r>
            <a:endParaRPr lang="en-US" sz="16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ECBC-A02B-4AAF-96EF-C1FB7CCADF94}" type="datetime1">
              <a:rPr lang="en-US" smtClean="0"/>
              <a:pPr/>
              <a:t>3/9/15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 (</a:t>
            </a:r>
            <a:r>
              <a:rPr lang="en-US" dirty="0" smtClean="0"/>
              <a:t>Detailed Breakdown)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588934" y="1134533"/>
            <a:ext cx="4419600" cy="4524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BIZBOK </a:t>
            </a:r>
            <a:r>
              <a:rPr lang="en-US" sz="1600" b="1" dirty="0"/>
              <a:t>White Paper to introduce and position MM for BIZBOK</a:t>
            </a:r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Deliverable </a:t>
            </a:r>
            <a:r>
              <a:rPr lang="en-US" sz="1600" dirty="0"/>
              <a:t>(White Paper + BIZBOK MM)</a:t>
            </a:r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Draft </a:t>
            </a:r>
            <a:r>
              <a:rPr lang="en-US" sz="1600" dirty="0"/>
              <a:t>White Paper </a:t>
            </a:r>
            <a:r>
              <a:rPr lang="en-US" sz="1600" dirty="0" smtClean="0"/>
              <a:t>(</a:t>
            </a:r>
            <a:r>
              <a:rPr lang="en-US" sz="1600" dirty="0"/>
              <a:t>What, Why, Where, </a:t>
            </a:r>
            <a:r>
              <a:rPr lang="en-US" sz="1600" dirty="0" smtClean="0"/>
              <a:t>How)</a:t>
            </a:r>
            <a:endParaRPr lang="en-US" sz="1600" dirty="0"/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Team </a:t>
            </a:r>
            <a:r>
              <a:rPr lang="en-US" sz="1600" dirty="0"/>
              <a:t>review of draft </a:t>
            </a:r>
            <a:r>
              <a:rPr lang="en-US" sz="1600" dirty="0" smtClean="0"/>
              <a:t>outline</a:t>
            </a:r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Bullet </a:t>
            </a:r>
            <a:r>
              <a:rPr lang="en-US" sz="1600" dirty="0"/>
              <a:t>Points (per OMG White Paper)</a:t>
            </a:r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Draft </a:t>
            </a:r>
            <a:r>
              <a:rPr lang="en-US" sz="1600" dirty="0"/>
              <a:t>updated BIZBOK MM</a:t>
            </a:r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Present </a:t>
            </a:r>
            <a:r>
              <a:rPr lang="en-US" sz="1600" dirty="0"/>
              <a:t>at March meeting for Guild</a:t>
            </a:r>
          </a:p>
          <a:p>
            <a:r>
              <a:rPr lang="en-US" sz="1600" dirty="0"/>
              <a:t>  </a:t>
            </a:r>
          </a:p>
          <a:p>
            <a:r>
              <a:rPr lang="en-US" sz="1600" b="1" dirty="0"/>
              <a:t>BIZBOK Section 5.1 Update</a:t>
            </a:r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Draft </a:t>
            </a:r>
            <a:r>
              <a:rPr lang="en-US" sz="1600" dirty="0"/>
              <a:t>section to align with BIZBOK </a:t>
            </a:r>
            <a:r>
              <a:rPr lang="en-US" sz="1600" dirty="0" smtClean="0"/>
              <a:t>WP</a:t>
            </a:r>
            <a:endParaRPr lang="en-US" sz="1600" dirty="0"/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Include </a:t>
            </a:r>
            <a:r>
              <a:rPr lang="en-US" sz="1600" dirty="0"/>
              <a:t>reference to </a:t>
            </a:r>
            <a:r>
              <a:rPr lang="en-US" sz="1600" dirty="0" smtClean="0"/>
              <a:t>align </a:t>
            </a:r>
            <a:r>
              <a:rPr lang="en-US" sz="1600" dirty="0"/>
              <a:t>with other MMs</a:t>
            </a:r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Include </a:t>
            </a:r>
            <a:r>
              <a:rPr lang="en-US" sz="1600" dirty="0"/>
              <a:t>reference to scenarios</a:t>
            </a:r>
          </a:p>
          <a:p>
            <a:r>
              <a:rPr lang="en-US" sz="1600" dirty="0"/>
              <a:t> </a:t>
            </a:r>
          </a:p>
          <a:p>
            <a:r>
              <a:rPr lang="en-US" sz="1600" b="1" dirty="0"/>
              <a:t>Vendor Collaboration</a:t>
            </a:r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Setup </a:t>
            </a:r>
            <a:r>
              <a:rPr lang="en-US" sz="1600" dirty="0"/>
              <a:t>initial meeting with vendor representatives </a:t>
            </a:r>
            <a:endParaRPr lang="en-US" sz="1600" dirty="0" smtClean="0"/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Establish ongoing</a:t>
            </a:r>
            <a:r>
              <a:rPr lang="en-US" sz="1600" dirty="0"/>
              <a:t> </a:t>
            </a:r>
            <a:r>
              <a:rPr lang="en-US" sz="1600" dirty="0" smtClean="0"/>
              <a:t>cadence with tool vendors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354187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3/9/15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10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7B1AF-C811-49A0-AC28-BC2743A8A5B8}" type="datetime1">
              <a:rPr lang="en-US" smtClean="0"/>
              <a:t>3/9/15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488711" y="3767024"/>
            <a:ext cx="8018654" cy="1887696"/>
          </a:xfrm>
        </p:spPr>
        <p:txBody>
          <a:bodyPr/>
          <a:lstStyle/>
          <a:p>
            <a:r>
              <a:rPr lang="en-US" dirty="0" smtClean="0"/>
              <a:t>We are looking for additional participants to accelerate </a:t>
            </a:r>
          </a:p>
          <a:p>
            <a:r>
              <a:rPr lang="en-US" dirty="0" smtClean="0"/>
              <a:t>our efforts on this landmark work plan. Please contact the </a:t>
            </a:r>
          </a:p>
          <a:p>
            <a:r>
              <a:rPr lang="en-US" dirty="0" smtClean="0"/>
              <a:t>Team Leader (Jeffrey Wallk) on the Guild Site (see link)</a:t>
            </a:r>
          </a:p>
          <a:p>
            <a:endParaRPr lang="en-US" dirty="0" smtClean="0"/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www.businessarchitectureguild.org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520314" y="2798076"/>
            <a:ext cx="2744211" cy="615553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8210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1_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>
    <a:spDef>
      <a:spPr>
        <a:solidFill>
          <a:srgbClr val="F2541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142</TotalTime>
  <Words>257</Words>
  <Application>Microsoft Macintosh PowerPoint</Application>
  <PresentationFormat>On-screen Show (4:3)</PresentationFormat>
  <Paragraphs>59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1_Angles</vt:lpstr>
      <vt:lpstr>Metamodel team</vt:lpstr>
      <vt:lpstr>Roadmap</vt:lpstr>
      <vt:lpstr>Roadmap (Detailed Breakdown)</vt:lpstr>
      <vt:lpstr>PowerPoint Presentation</vt:lpstr>
      <vt:lpstr>Thank you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kathy</dc:creator>
  <cp:lastModifiedBy>jeffrey wallk</cp:lastModifiedBy>
  <cp:revision>18</cp:revision>
  <dcterms:created xsi:type="dcterms:W3CDTF">2012-10-06T17:50:46Z</dcterms:created>
  <dcterms:modified xsi:type="dcterms:W3CDTF">2015-03-09T20:59:25Z</dcterms:modified>
</cp:coreProperties>
</file>
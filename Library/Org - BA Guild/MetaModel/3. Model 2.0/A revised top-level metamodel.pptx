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sldIdLst>
    <p:sldId id="256" r:id="rId2"/>
    <p:sldId id="261" r:id="rId3"/>
    <p:sldId id="257" r:id="rId4"/>
    <p:sldId id="259" r:id="rId5"/>
    <p:sldId id="260" r:id="rId6"/>
    <p:sldId id="265" r:id="rId7"/>
    <p:sldId id="264" r:id="rId8"/>
    <p:sldId id="262" r:id="rId9"/>
    <p:sldId id="263" r:id="rId10"/>
    <p:sldId id="258" r:id="rId1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autoAdjust="0"/>
    <p:restoredTop sz="95805" autoAdjust="0"/>
  </p:normalViewPr>
  <p:slideViewPr>
    <p:cSldViewPr snapToGrid="0">
      <p:cViewPr varScale="1">
        <p:scale>
          <a:sx n="89" d="100"/>
          <a:sy n="89" d="100"/>
        </p:scale>
        <p:origin x="114" y="10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4BC0A1-13F3-4AF3-BFEF-161261E69179}" type="datetimeFigureOut">
              <a:rPr lang="nl-NL" smtClean="0"/>
              <a:t>26-3-2018</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A164F-CAAD-4680-A53E-82A35B7402D3}" type="slidenum">
              <a:rPr lang="nl-NL" smtClean="0"/>
              <a:t>‹#›</a:t>
            </a:fld>
            <a:endParaRPr lang="nl-NL"/>
          </a:p>
        </p:txBody>
      </p:sp>
    </p:spTree>
    <p:extLst>
      <p:ext uri="{BB962C8B-B14F-4D97-AF65-F5344CB8AC3E}">
        <p14:creationId xmlns:p14="http://schemas.microsoft.com/office/powerpoint/2010/main" val="14054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marketinginfo@mphasis.com" TargetMode="External"/><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0272"/>
            <a:ext cx="1676545" cy="1932599"/>
          </a:xfrm>
          <a:prstGeom prst="rect">
            <a:avLst/>
          </a:prstGeom>
        </p:spPr>
      </p:pic>
      <p:sp>
        <p:nvSpPr>
          <p:cNvPr id="2" name="Title 1"/>
          <p:cNvSpPr>
            <a:spLocks noGrp="1"/>
          </p:cNvSpPr>
          <p:nvPr>
            <p:ph type="ctrTitle" hasCustomPrompt="1"/>
          </p:nvPr>
        </p:nvSpPr>
        <p:spPr>
          <a:xfrm>
            <a:off x="838200" y="339969"/>
            <a:ext cx="9227187" cy="996462"/>
          </a:xfrm>
          <a:prstGeom prst="rect">
            <a:avLst/>
          </a:prstGeom>
        </p:spPr>
        <p:txBody>
          <a:bodyPr anchor="b"/>
          <a:lstStyle>
            <a:lvl1pPr algn="l">
              <a:defRPr sz="2800">
                <a:solidFill>
                  <a:schemeClr val="bg2"/>
                </a:solidFill>
              </a:defRPr>
            </a:lvl1pPr>
          </a:lstStyle>
          <a:p>
            <a:r>
              <a:rPr lang="en-US" noProof="0" dirty="0"/>
              <a:t>Presentation title</a:t>
            </a:r>
          </a:p>
        </p:txBody>
      </p:sp>
      <p:sp>
        <p:nvSpPr>
          <p:cNvPr id="3" name="Subtitle 2"/>
          <p:cNvSpPr>
            <a:spLocks noGrp="1"/>
          </p:cNvSpPr>
          <p:nvPr>
            <p:ph type="subTitle" idx="1" hasCustomPrompt="1"/>
          </p:nvPr>
        </p:nvSpPr>
        <p:spPr>
          <a:xfrm>
            <a:off x="838201" y="1336432"/>
            <a:ext cx="4612638" cy="335272"/>
          </a:xfrm>
          <a:prstGeom prst="rect">
            <a:avLst/>
          </a:prstGeom>
        </p:spPr>
        <p:txBody>
          <a:bodyPr/>
          <a:lstStyle>
            <a:lvl1pPr marL="0" indent="0" algn="l">
              <a:buNone/>
              <a:defRPr sz="2200">
                <a:solidFill>
                  <a:schemeClr val="tx2">
                    <a:lumMod val="50000"/>
                  </a:schemeClr>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dirty="0"/>
              <a:t>Presentation subtitle here</a:t>
            </a:r>
          </a:p>
        </p:txBody>
      </p:sp>
      <p:pic>
        <p:nvPicPr>
          <p:cNvPr id="10" name="Picture 2" descr="D:\Suhas Jadhav\D Drive\2014_Mphasis Brand\Suhas logo\Format\Mphasis-Logo Color.png"/>
          <p:cNvPicPr>
            <a:picLocks noChangeAspect="1" noChangeArrowheads="1"/>
          </p:cNvPicPr>
          <p:nvPr userDrawn="1"/>
        </p:nvPicPr>
        <p:blipFill rotWithShape="1">
          <a:blip r:embed="rId3" cstate="print"/>
          <a:srcRect l="3902" t="19837" r="4215" b="15267"/>
          <a:stretch/>
        </p:blipFill>
        <p:spPr bwMode="auto">
          <a:xfrm>
            <a:off x="10143877" y="204725"/>
            <a:ext cx="1848096" cy="404875"/>
          </a:xfrm>
          <a:prstGeom prst="rect">
            <a:avLst/>
          </a:prstGeom>
          <a:noFill/>
          <a:ln w="9525">
            <a:noFill/>
            <a:miter lim="800000"/>
            <a:headEnd/>
            <a:tailEnd/>
          </a:ln>
        </p:spPr>
      </p:pic>
      <p:sp>
        <p:nvSpPr>
          <p:cNvPr id="12" name="Picture Placeholder 11"/>
          <p:cNvSpPr>
            <a:spLocks noGrp="1"/>
          </p:cNvSpPr>
          <p:nvPr>
            <p:ph type="pic" sz="quarter" idx="13"/>
          </p:nvPr>
        </p:nvSpPr>
        <p:spPr>
          <a:xfrm>
            <a:off x="10143877" y="809626"/>
            <a:ext cx="1848095" cy="526805"/>
          </a:xfrm>
          <a:prstGeom prst="rect">
            <a:avLst/>
          </a:prstGeom>
        </p:spPr>
        <p:txBody>
          <a:bodyPr/>
          <a:lstStyle>
            <a:lvl1pPr>
              <a:defRPr sz="1200"/>
            </a:lvl1pPr>
          </a:lstStyle>
          <a:p>
            <a:r>
              <a:rPr lang="en-US" noProof="0"/>
              <a:t>Click icon to add picture</a:t>
            </a:r>
            <a:endParaRPr lang="en-US" noProof="0" dirty="0"/>
          </a:p>
        </p:txBody>
      </p:sp>
      <p:sp>
        <p:nvSpPr>
          <p:cNvPr id="31" name="Rectangle 30"/>
          <p:cNvSpPr/>
          <p:nvPr userDrawn="1"/>
        </p:nvSpPr>
        <p:spPr>
          <a:xfrm>
            <a:off x="7760677" y="5169877"/>
            <a:ext cx="4431323" cy="1688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 Placeholder 22"/>
          <p:cNvSpPr>
            <a:spLocks noGrp="1"/>
          </p:cNvSpPr>
          <p:nvPr userDrawn="1">
            <p:ph type="body" sz="quarter" idx="14" hasCustomPrompt="1"/>
          </p:nvPr>
        </p:nvSpPr>
        <p:spPr>
          <a:xfrm>
            <a:off x="5451475" y="1391082"/>
            <a:ext cx="4613275" cy="280622"/>
          </a:xfrm>
          <a:prstGeom prst="rect">
            <a:avLst/>
          </a:prstGeom>
        </p:spPr>
        <p:txBody>
          <a:bodyPr/>
          <a:lstStyle>
            <a:lvl1pPr marL="0" indent="0">
              <a:buNone/>
              <a:defRPr sz="1600" b="1"/>
            </a:lvl1pPr>
          </a:lstStyle>
          <a:p>
            <a:pPr lvl="0"/>
            <a:r>
              <a:rPr lang="en-US" noProof="0" dirty="0"/>
              <a:t>Presented to…</a:t>
            </a:r>
          </a:p>
        </p:txBody>
      </p:sp>
      <p:sp>
        <p:nvSpPr>
          <p:cNvPr id="29" name="Picture Placeholder 28"/>
          <p:cNvSpPr>
            <a:spLocks noGrp="1"/>
          </p:cNvSpPr>
          <p:nvPr userDrawn="1">
            <p:ph type="pic" sz="quarter" idx="15"/>
          </p:nvPr>
        </p:nvSpPr>
        <p:spPr>
          <a:xfrm>
            <a:off x="0" y="1933574"/>
            <a:ext cx="12192000" cy="4924425"/>
          </a:xfrm>
          <a:prstGeom prst="rect">
            <a:avLst/>
          </a:prstGeom>
        </p:spPr>
        <p:txBody>
          <a:bodyPr/>
          <a:lstStyle>
            <a:lvl1pPr>
              <a:defRPr sz="1400"/>
            </a:lvl1pPr>
          </a:lstStyle>
          <a:p>
            <a:r>
              <a:rPr lang="en-US" noProof="0"/>
              <a:t>Click icon to add picture</a:t>
            </a:r>
            <a:endParaRPr lang="en-US" noProof="0" dirty="0"/>
          </a:p>
        </p:txBody>
      </p:sp>
      <p:sp>
        <p:nvSpPr>
          <p:cNvPr id="11" name="Text Placeholder 5"/>
          <p:cNvSpPr>
            <a:spLocks noGrp="1"/>
          </p:cNvSpPr>
          <p:nvPr>
            <p:ph type="body" sz="quarter" idx="16" hasCustomPrompt="1"/>
          </p:nvPr>
        </p:nvSpPr>
        <p:spPr>
          <a:xfrm>
            <a:off x="850319" y="1705337"/>
            <a:ext cx="4600520" cy="228236"/>
          </a:xfrm>
          <a:prstGeom prst="rect">
            <a:avLst/>
          </a:prstGeom>
          <a:noFill/>
          <a:ln w="9525">
            <a:noFill/>
            <a:miter lim="800000"/>
            <a:headEnd/>
            <a:tailEnd/>
          </a:ln>
        </p:spPr>
        <p:txBody>
          <a:bodyPr anchor="ctr"/>
          <a:lstStyle>
            <a:lvl1pPr>
              <a:defRPr lang="en-US" sz="1200" dirty="0">
                <a:solidFill>
                  <a:srgbClr val="A6A6A6"/>
                </a:solidFill>
                <a:latin typeface="+mj-lt"/>
                <a:ea typeface="Tahoma" pitchFamily="34" charset="0"/>
                <a:cs typeface="Tahoma" pitchFamily="34" charset="0"/>
              </a:defRPr>
            </a:lvl1pPr>
          </a:lstStyle>
          <a:p>
            <a:pPr marL="0" lvl="0" defTabSz="914400">
              <a:spcBef>
                <a:spcPct val="20000"/>
              </a:spcBef>
              <a:buNone/>
            </a:pPr>
            <a:r>
              <a:rPr lang="en-US" dirty="0"/>
              <a:t>date of presentation here</a:t>
            </a:r>
          </a:p>
        </p:txBody>
      </p:sp>
    </p:spTree>
    <p:extLst>
      <p:ext uri="{BB962C8B-B14F-4D97-AF65-F5344CB8AC3E}">
        <p14:creationId xmlns:p14="http://schemas.microsoft.com/office/powerpoint/2010/main" val="15714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997200"/>
          </a:xfrm>
          <a:prstGeom prst="rect">
            <a:avLst/>
          </a:prstGeom>
        </p:spPr>
        <p:txBody>
          <a:bodyPr anchor="ctr"/>
          <a:lstStyle>
            <a:lvl1pPr>
              <a:defRPr sz="2600">
                <a:solidFill>
                  <a:schemeClr val="bg2"/>
                </a:solidFill>
              </a:defRPr>
            </a:lvl1pPr>
          </a:lstStyle>
          <a:p>
            <a:r>
              <a:rPr lang="en-US" noProof="0"/>
              <a:t>Click to edit Master title style</a:t>
            </a:r>
            <a:endParaRPr lang="en-US" noProof="0" dirty="0"/>
          </a:p>
        </p:txBody>
      </p:sp>
      <p:sp>
        <p:nvSpPr>
          <p:cNvPr id="3" name="Content Placeholder 2"/>
          <p:cNvSpPr>
            <a:spLocks noGrp="1"/>
          </p:cNvSpPr>
          <p:nvPr>
            <p:ph idx="1"/>
          </p:nvPr>
        </p:nvSpPr>
        <p:spPr>
          <a:xfrm>
            <a:off x="838200" y="1825625"/>
            <a:ext cx="10515600" cy="4351338"/>
          </a:xfrm>
          <a:prstGeom prst="rect">
            <a:avLst/>
          </a:prstGeom>
        </p:spPr>
        <p:txBody>
          <a:bodyPr/>
          <a:lstStyle>
            <a:lvl2pPr marL="514350" indent="-171450">
              <a:buFont typeface="Wingdings" panose="05000000000000000000" pitchFamily="2" charset="2"/>
              <a:buChar char="§"/>
              <a:defRPr sz="2000"/>
            </a:lvl2pPr>
            <a:lvl3pPr marL="857250" indent="-171450">
              <a:buFont typeface="Calibri" panose="020F0502020204030204" pitchFamily="34" charset="0"/>
              <a:buChar char="̶"/>
              <a:defRPr sz="2000"/>
            </a:lvl3pPr>
            <a:lvl4pPr>
              <a:defRPr sz="1600"/>
            </a:lvl4pPr>
            <a:lvl5pPr marL="1543050" indent="-171450">
              <a:buFont typeface="Wingdings" panose="05000000000000000000" pitchFamily="2" charset="2"/>
              <a:buChar cha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5" name="Footer Placeholder 4"/>
          <p:cNvSpPr>
            <a:spLocks noGrp="1"/>
          </p:cNvSpPr>
          <p:nvPr>
            <p:ph type="ftr" sz="quarter" idx="11"/>
          </p:nvPr>
        </p:nvSpPr>
        <p:spPr/>
        <p:txBody>
          <a:bodyPr/>
          <a:lstStyle/>
          <a:p>
            <a:r>
              <a:rPr lang="en-US" dirty="0"/>
              <a:t>Proprietary and confidential information. © Mphasis 2017</a:t>
            </a:r>
            <a:endParaRPr lang="en-US" noProof="0" dirty="0"/>
          </a:p>
        </p:txBody>
      </p:sp>
      <p:sp>
        <p:nvSpPr>
          <p:cNvPr id="6" name="Slide Number Placeholder 5"/>
          <p:cNvSpPr>
            <a:spLocks noGrp="1"/>
          </p:cNvSpPr>
          <p:nvPr>
            <p:ph type="sldNum" sz="quarter" idx="12"/>
          </p:nvPr>
        </p:nvSpPr>
        <p:spPr/>
        <p:txBody>
          <a:bodyPr/>
          <a:lstStyle/>
          <a:p>
            <a:fld id="{11746383-54BD-4C05-B9FE-468110D17AC0}" type="slidenum">
              <a:rPr lang="en-US" noProof="0" smtClean="0"/>
              <a:t>‹#›</a:t>
            </a:fld>
            <a:endParaRPr lang="en-US" noProof="0" dirty="0"/>
          </a:p>
        </p:txBody>
      </p:sp>
      <p:cxnSp>
        <p:nvCxnSpPr>
          <p:cNvPr id="8" name="Straight Connector 7"/>
          <p:cNvCxnSpPr/>
          <p:nvPr/>
        </p:nvCxnSpPr>
        <p:spPr>
          <a:xfrm>
            <a:off x="0" y="1367692"/>
            <a:ext cx="12192000" cy="0"/>
          </a:xfrm>
          <a:prstGeom prst="line">
            <a:avLst/>
          </a:prstGeom>
          <a:ln w="254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5765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997200"/>
          </a:xfrm>
          <a:prstGeom prst="rect">
            <a:avLst/>
          </a:prstGeom>
        </p:spPr>
        <p:txBody>
          <a:bodyPr anchor="ctr"/>
          <a:lstStyle>
            <a:lvl1pPr>
              <a:defRPr sz="2600">
                <a:solidFill>
                  <a:schemeClr val="bg2"/>
                </a:solidFill>
              </a:defRPr>
            </a:lvl1pPr>
          </a:lstStyle>
          <a:p>
            <a:r>
              <a:rPr lang="en-US" noProof="0"/>
              <a:t>Click to edit Master title style</a:t>
            </a:r>
            <a:endParaRPr lang="en-US" noProof="0" dirty="0"/>
          </a:p>
        </p:txBody>
      </p:sp>
      <p:sp>
        <p:nvSpPr>
          <p:cNvPr id="4" name="Date Placeholder 3"/>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5" name="Footer Placeholder 4"/>
          <p:cNvSpPr>
            <a:spLocks noGrp="1"/>
          </p:cNvSpPr>
          <p:nvPr>
            <p:ph type="ftr" sz="quarter" idx="11"/>
          </p:nvPr>
        </p:nvSpPr>
        <p:spPr/>
        <p:txBody>
          <a:bodyPr/>
          <a:lstStyle/>
          <a:p>
            <a:r>
              <a:rPr lang="en-US" dirty="0"/>
              <a:t>Proprietary and confidential information. © Mphasis 2017</a:t>
            </a:r>
            <a:endParaRPr lang="en-US" noProof="0" dirty="0"/>
          </a:p>
        </p:txBody>
      </p:sp>
      <p:sp>
        <p:nvSpPr>
          <p:cNvPr id="6" name="Slide Number Placeholder 5"/>
          <p:cNvSpPr>
            <a:spLocks noGrp="1"/>
          </p:cNvSpPr>
          <p:nvPr>
            <p:ph type="sldNum" sz="quarter" idx="12"/>
          </p:nvPr>
        </p:nvSpPr>
        <p:spPr/>
        <p:txBody>
          <a:bodyPr/>
          <a:lstStyle/>
          <a:p>
            <a:fld id="{11746383-54BD-4C05-B9FE-468110D17AC0}" type="slidenum">
              <a:rPr lang="en-US" noProof="0" smtClean="0"/>
              <a:t>‹#›</a:t>
            </a:fld>
            <a:endParaRPr lang="en-US" noProof="0" dirty="0"/>
          </a:p>
        </p:txBody>
      </p:sp>
      <p:cxnSp>
        <p:nvCxnSpPr>
          <p:cNvPr id="8" name="Straight Connector 7"/>
          <p:cNvCxnSpPr/>
          <p:nvPr/>
        </p:nvCxnSpPr>
        <p:spPr>
          <a:xfrm>
            <a:off x="0" y="1367692"/>
            <a:ext cx="12192000" cy="0"/>
          </a:xfrm>
          <a:prstGeom prst="line">
            <a:avLst/>
          </a:prstGeom>
          <a:ln w="254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89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997200"/>
          </a:xfrm>
          <a:prstGeom prst="rect">
            <a:avLst/>
          </a:prstGeom>
        </p:spPr>
        <p:txBody>
          <a:bodyPr anchor="ctr"/>
          <a:lstStyle>
            <a:lvl1pPr>
              <a:defRPr sz="2600">
                <a:solidFill>
                  <a:schemeClr val="bg2"/>
                </a:solidFill>
              </a:defRPr>
            </a:lvl1pPr>
          </a:lstStyle>
          <a:p>
            <a:r>
              <a:rPr lang="en-US" noProof="0"/>
              <a:t>Click to edit Master title style</a:t>
            </a:r>
            <a:endParaRPr lang="en-US" noProof="0" dirty="0"/>
          </a:p>
        </p:txBody>
      </p:sp>
      <p:sp>
        <p:nvSpPr>
          <p:cNvPr id="3" name="Content Placeholder 2"/>
          <p:cNvSpPr>
            <a:spLocks noGrp="1"/>
          </p:cNvSpPr>
          <p:nvPr>
            <p:ph idx="1"/>
          </p:nvPr>
        </p:nvSpPr>
        <p:spPr>
          <a:xfrm>
            <a:off x="838200" y="1825625"/>
            <a:ext cx="10515600" cy="4351338"/>
          </a:xfrm>
          <a:prstGeom prst="rect">
            <a:avLst/>
          </a:prstGeom>
        </p:spPr>
        <p:txBody>
          <a:bodyPr/>
          <a:lstStyle>
            <a:lvl2pPr marL="514350" indent="-171450">
              <a:buFont typeface="Wingdings" panose="05000000000000000000" pitchFamily="2" charset="2"/>
              <a:buChar char="§"/>
              <a:defRPr sz="2000"/>
            </a:lvl2pPr>
            <a:lvl3pPr marL="857250" indent="-171450">
              <a:buFont typeface="Calibri" panose="020F0502020204030204" pitchFamily="34" charset="0"/>
              <a:buChar char="̶"/>
              <a:defRPr sz="2000"/>
            </a:lvl3pPr>
            <a:lvl4pPr>
              <a:defRPr sz="1600"/>
            </a:lvl4pPr>
            <a:lvl5pPr marL="1543050" indent="-171450">
              <a:buFont typeface="Wingdings" panose="05000000000000000000" pitchFamily="2" charset="2"/>
              <a:buChar cha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10"/>
          </p:nvPr>
        </p:nvSpPr>
        <p:spPr/>
        <p:txBody>
          <a:bodyPr/>
          <a:lstStyle/>
          <a:p>
            <a:fld id="{C2E5F221-A47A-401F-990C-E47E1876C075}" type="datetime4">
              <a:rPr lang="en-US" noProof="0" smtClean="0"/>
              <a:t>March 26, 2018</a:t>
            </a:fld>
            <a:endParaRPr lang="en-US" noProof="0" dirty="0"/>
          </a:p>
        </p:txBody>
      </p:sp>
      <p:sp>
        <p:nvSpPr>
          <p:cNvPr id="5" name="Footer Placeholder 4"/>
          <p:cNvSpPr>
            <a:spLocks noGrp="1"/>
          </p:cNvSpPr>
          <p:nvPr>
            <p:ph type="ftr" sz="quarter" idx="11"/>
          </p:nvPr>
        </p:nvSpPr>
        <p:spPr/>
        <p:txBody>
          <a:bodyPr/>
          <a:lstStyle/>
          <a:p>
            <a:r>
              <a:rPr lang="en-US" dirty="0"/>
              <a:t>Proprietary and confidential information. © Mphasis 2017</a:t>
            </a:r>
            <a:endParaRPr lang="en-US" noProof="0" dirty="0"/>
          </a:p>
        </p:txBody>
      </p:sp>
      <p:sp>
        <p:nvSpPr>
          <p:cNvPr id="6" name="Slide Number Placeholder 5"/>
          <p:cNvSpPr>
            <a:spLocks noGrp="1"/>
          </p:cNvSpPr>
          <p:nvPr>
            <p:ph type="sldNum" sz="quarter" idx="12"/>
          </p:nvPr>
        </p:nvSpPr>
        <p:spPr/>
        <p:txBody>
          <a:bodyPr/>
          <a:lstStyle/>
          <a:p>
            <a:fld id="{11746383-54BD-4C05-B9FE-468110D17AC0}" type="slidenum">
              <a:rPr lang="en-US" noProof="0" smtClean="0"/>
              <a:t>‹#›</a:t>
            </a:fld>
            <a:endParaRPr lang="en-US" noProof="0" dirty="0"/>
          </a:p>
        </p:txBody>
      </p:sp>
      <p:cxnSp>
        <p:nvCxnSpPr>
          <p:cNvPr id="8" name="Straight Connector 7"/>
          <p:cNvCxnSpPr/>
          <p:nvPr/>
        </p:nvCxnSpPr>
        <p:spPr>
          <a:xfrm>
            <a:off x="0" y="1367692"/>
            <a:ext cx="12192000" cy="0"/>
          </a:xfrm>
          <a:prstGeom prst="line">
            <a:avLst/>
          </a:prstGeom>
          <a:ln w="254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p:nvPr>
        </p:nvSpPr>
        <p:spPr>
          <a:xfrm>
            <a:off x="838200" y="1362329"/>
            <a:ext cx="10515600" cy="457932"/>
          </a:xfrm>
          <a:prstGeom prst="rect">
            <a:avLst/>
          </a:prstGeom>
        </p:spPr>
        <p:txBody>
          <a:bodyPr anchor="ctr"/>
          <a:lstStyle>
            <a:lvl1pPr marL="0" indent="0">
              <a:buNone/>
              <a:defRPr sz="1800" b="1">
                <a:latin typeface="+mj-lt"/>
              </a:defRPr>
            </a:lvl1pPr>
          </a:lstStyle>
          <a:p>
            <a:pPr lvl="0"/>
            <a:r>
              <a:rPr lang="en-US" noProof="0"/>
              <a:t>Edit Master text styles</a:t>
            </a:r>
          </a:p>
        </p:txBody>
      </p:sp>
    </p:spTree>
    <p:extLst>
      <p:ext uri="{BB962C8B-B14F-4D97-AF65-F5344CB8AC3E}">
        <p14:creationId xmlns:p14="http://schemas.microsoft.com/office/powerpoint/2010/main" val="236968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parator p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721831"/>
            <a:ext cx="11049000" cy="997200"/>
          </a:xfrm>
          <a:prstGeom prst="rect">
            <a:avLst/>
          </a:prstGeom>
        </p:spPr>
        <p:txBody>
          <a:bodyPr anchor="ctr"/>
          <a:lstStyle>
            <a:lvl1pPr>
              <a:defRPr sz="2600">
                <a:solidFill>
                  <a:schemeClr val="bg2"/>
                </a:solidFill>
              </a:defRPr>
            </a:lvl1pPr>
          </a:lstStyle>
          <a:p>
            <a:r>
              <a:rPr lang="en-US" noProof="0" dirty="0"/>
              <a:t>Appendix or subsection title</a:t>
            </a:r>
          </a:p>
        </p:txBody>
      </p:sp>
      <p:sp>
        <p:nvSpPr>
          <p:cNvPr id="4" name="Date Placeholder 3"/>
          <p:cNvSpPr>
            <a:spLocks noGrp="1"/>
          </p:cNvSpPr>
          <p:nvPr>
            <p:ph type="dt" sz="half" idx="10"/>
          </p:nvPr>
        </p:nvSpPr>
        <p:spPr/>
        <p:txBody>
          <a:bodyPr/>
          <a:lstStyle/>
          <a:p>
            <a:fld id="{8EA413C3-36B4-4BD2-8AA6-11713394B0BE}" type="datetime4">
              <a:rPr lang="en-US" noProof="0" smtClean="0"/>
              <a:t>March 26, 2018</a:t>
            </a:fld>
            <a:endParaRPr lang="en-US" noProof="0" dirty="0"/>
          </a:p>
        </p:txBody>
      </p:sp>
      <p:sp>
        <p:nvSpPr>
          <p:cNvPr id="5" name="Footer Placeholder 4"/>
          <p:cNvSpPr>
            <a:spLocks noGrp="1"/>
          </p:cNvSpPr>
          <p:nvPr>
            <p:ph type="ftr" sz="quarter" idx="11"/>
          </p:nvPr>
        </p:nvSpPr>
        <p:spPr/>
        <p:txBody>
          <a:bodyPr/>
          <a:lstStyle/>
          <a:p>
            <a:r>
              <a:rPr lang="en-US" dirty="0"/>
              <a:t>Proprietary and confidential information. © Mphasis 2017</a:t>
            </a:r>
            <a:endParaRPr lang="en-US" noProof="0" dirty="0"/>
          </a:p>
        </p:txBody>
      </p:sp>
      <p:cxnSp>
        <p:nvCxnSpPr>
          <p:cNvPr id="8" name="Straight Connector 7"/>
          <p:cNvCxnSpPr/>
          <p:nvPr/>
        </p:nvCxnSpPr>
        <p:spPr>
          <a:xfrm>
            <a:off x="0" y="1367692"/>
            <a:ext cx="12192000" cy="0"/>
          </a:xfrm>
          <a:prstGeom prst="line">
            <a:avLst/>
          </a:prstGeom>
          <a:ln w="254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hasCustomPrompt="1"/>
          </p:nvPr>
        </p:nvSpPr>
        <p:spPr>
          <a:xfrm>
            <a:off x="838200" y="5719031"/>
            <a:ext cx="11049000" cy="457932"/>
          </a:xfrm>
          <a:prstGeom prst="rect">
            <a:avLst/>
          </a:prstGeom>
        </p:spPr>
        <p:txBody>
          <a:bodyPr anchor="ctr"/>
          <a:lstStyle>
            <a:lvl1pPr marL="0" indent="0">
              <a:buNone/>
              <a:defRPr sz="1800" b="1">
                <a:latin typeface="+mj-lt"/>
              </a:defRPr>
            </a:lvl1pPr>
          </a:lstStyle>
          <a:p>
            <a:pPr lvl="0"/>
            <a:r>
              <a:rPr lang="en-US" noProof="0" dirty="0"/>
              <a:t>Subsection secondary message</a:t>
            </a:r>
          </a:p>
        </p:txBody>
      </p:sp>
      <p:sp>
        <p:nvSpPr>
          <p:cNvPr id="11" name="Rectangle 10"/>
          <p:cNvSpPr/>
          <p:nvPr userDrawn="1"/>
        </p:nvSpPr>
        <p:spPr>
          <a:xfrm>
            <a:off x="0" y="0"/>
            <a:ext cx="12192000" cy="4721831"/>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lIns="90000" anchor="ctr"/>
          <a:lstStyle/>
          <a:p>
            <a:pPr algn="ctr">
              <a:defRPr/>
            </a:pPr>
            <a:endParaRPr lang="en-US" noProof="0" dirty="0"/>
          </a:p>
        </p:txBody>
      </p:sp>
      <p:pic>
        <p:nvPicPr>
          <p:cNvPr id="12" name="Picture 2" descr="\\nas.basilglobal.com\Basil-UK\MPHASIS\MPHASIS\STUDIO\IQBAL TEST\AMEND Files To_IQBAL\Corporate_Amends_20th June2013\CW8A9491_BW.JPG"/>
          <p:cNvPicPr>
            <a:picLocks noChangeAspect="1" noChangeArrowheads="1"/>
          </p:cNvPicPr>
          <p:nvPr userDrawn="1"/>
        </p:nvPicPr>
        <p:blipFill>
          <a:blip r:embed="rId2" cstate="print"/>
          <a:stretch>
            <a:fillRect/>
          </a:stretch>
        </p:blipFill>
        <p:spPr bwMode="auto">
          <a:xfrm>
            <a:off x="8579498" y="1094511"/>
            <a:ext cx="1371351" cy="1371351"/>
          </a:xfrm>
          <a:prstGeom prst="rect">
            <a:avLst/>
          </a:prstGeom>
          <a:noFill/>
          <a:ln w="12700">
            <a:solidFill>
              <a:schemeClr val="bg1">
                <a:lumMod val="95000"/>
              </a:schemeClr>
            </a:solidFill>
          </a:ln>
        </p:spPr>
      </p:pic>
      <p:pic>
        <p:nvPicPr>
          <p:cNvPr id="13" name="Picture 3" descr="\\nas.basilglobal.com\Basil-UK\MPHASIS\MPHASIS\STUDIO\IQBAL TEST\AMEND Files To_IQBAL\Corporate_Amends_20th June2013\146797299.jpg"/>
          <p:cNvPicPr>
            <a:picLocks noChangeAspect="1" noChangeArrowheads="1"/>
          </p:cNvPicPr>
          <p:nvPr userDrawn="1"/>
        </p:nvPicPr>
        <p:blipFill>
          <a:blip r:embed="rId3" cstate="print"/>
          <a:stretch>
            <a:fillRect/>
          </a:stretch>
        </p:blipFill>
        <p:spPr bwMode="auto">
          <a:xfrm>
            <a:off x="7570988" y="2470079"/>
            <a:ext cx="999187" cy="1016794"/>
          </a:xfrm>
          <a:prstGeom prst="rect">
            <a:avLst/>
          </a:prstGeom>
          <a:noFill/>
          <a:ln w="12700">
            <a:solidFill>
              <a:schemeClr val="bg1">
                <a:lumMod val="95000"/>
              </a:schemeClr>
            </a:solidFill>
          </a:ln>
        </p:spPr>
      </p:pic>
      <p:pic>
        <p:nvPicPr>
          <p:cNvPr id="14" name="Picture 4" descr="\\nas.basilglobal.com\Basil-UK\MPHASIS\MPHASIS\STUDIO\IQBAL TEST\AMEND Files To_IQBAL\Corporate_Amends_20th June2013\Insurance.jpg"/>
          <p:cNvPicPr>
            <a:picLocks noChangeAspect="1" noChangeArrowheads="1"/>
          </p:cNvPicPr>
          <p:nvPr userDrawn="1"/>
        </p:nvPicPr>
        <p:blipFill>
          <a:blip r:embed="rId4" cstate="print"/>
          <a:stretch>
            <a:fillRect/>
          </a:stretch>
        </p:blipFill>
        <p:spPr bwMode="auto">
          <a:xfrm>
            <a:off x="9956800" y="2477655"/>
            <a:ext cx="2235200" cy="2244176"/>
          </a:xfrm>
          <a:prstGeom prst="rect">
            <a:avLst/>
          </a:prstGeom>
          <a:noFill/>
          <a:ln w="12700">
            <a:solidFill>
              <a:schemeClr val="bg1">
                <a:lumMod val="95000"/>
              </a:schemeClr>
            </a:solidFill>
          </a:ln>
        </p:spPr>
      </p:pic>
    </p:spTree>
    <p:extLst>
      <p:ext uri="{BB962C8B-B14F-4D97-AF65-F5344CB8AC3E}">
        <p14:creationId xmlns:p14="http://schemas.microsoft.com/office/powerpoint/2010/main" val="61136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CCF1305-9139-49D2-9AF0-216F90A6E70B}" type="datetime4">
              <a:rPr lang="en-US" noProof="0" smtClean="0"/>
              <a:t>March 26, 2018</a:t>
            </a:fld>
            <a:endParaRPr lang="en-US" noProof="0" dirty="0"/>
          </a:p>
        </p:txBody>
      </p:sp>
      <p:sp>
        <p:nvSpPr>
          <p:cNvPr id="4" name="Footer Placeholder 3"/>
          <p:cNvSpPr>
            <a:spLocks noGrp="1"/>
          </p:cNvSpPr>
          <p:nvPr>
            <p:ph type="ftr" sz="quarter" idx="11"/>
          </p:nvPr>
        </p:nvSpPr>
        <p:spPr/>
        <p:txBody>
          <a:bodyPr/>
          <a:lstStyle/>
          <a:p>
            <a:r>
              <a:rPr lang="en-US" dirty="0"/>
              <a:t>Proprietary and confidential information. © Mphasis 2017</a:t>
            </a:r>
            <a:endParaRPr lang="en-US" noProof="0" dirty="0"/>
          </a:p>
        </p:txBody>
      </p:sp>
      <p:sp>
        <p:nvSpPr>
          <p:cNvPr id="5" name="Slide Number Placeholder 4"/>
          <p:cNvSpPr>
            <a:spLocks noGrp="1"/>
          </p:cNvSpPr>
          <p:nvPr>
            <p:ph type="sldNum" sz="quarter" idx="12"/>
          </p:nvPr>
        </p:nvSpPr>
        <p:spPr/>
        <p:txBody>
          <a:bodyPr/>
          <a:lstStyle/>
          <a:p>
            <a:fld id="{11746383-54BD-4C05-B9FE-468110D17AC0}" type="slidenum">
              <a:rPr lang="en-US" noProof="0" smtClean="0"/>
              <a:pPr/>
              <a:t>‹#›</a:t>
            </a:fld>
            <a:endParaRPr lang="en-US" noProof="0" dirty="0"/>
          </a:p>
        </p:txBody>
      </p:sp>
      <p:sp>
        <p:nvSpPr>
          <p:cNvPr id="7" name="Subtitle 2"/>
          <p:cNvSpPr txBox="1">
            <a:spLocks/>
          </p:cNvSpPr>
          <p:nvPr userDrawn="1"/>
        </p:nvSpPr>
        <p:spPr bwMode="auto">
          <a:xfrm>
            <a:off x="838200" y="3054441"/>
            <a:ext cx="3676650" cy="83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algn="r" eaLnBrk="0" fontAlgn="base" hangingPunct="0">
              <a:spcBef>
                <a:spcPct val="0"/>
              </a:spcBef>
              <a:spcAft>
                <a:spcPct val="0"/>
              </a:spcAft>
              <a:defRPr sz="2400">
                <a:solidFill>
                  <a:schemeClr val="tx1"/>
                </a:solidFill>
                <a:latin typeface="Arial" charset="0"/>
                <a:ea typeface="ＭＳ Ｐゴシック" charset="0"/>
              </a:defRPr>
            </a:lvl6pPr>
            <a:lvl7pPr marL="2971800" indent="-228600" algn="r" eaLnBrk="0" fontAlgn="base" hangingPunct="0">
              <a:spcBef>
                <a:spcPct val="0"/>
              </a:spcBef>
              <a:spcAft>
                <a:spcPct val="0"/>
              </a:spcAft>
              <a:defRPr sz="2400">
                <a:solidFill>
                  <a:schemeClr val="tx1"/>
                </a:solidFill>
                <a:latin typeface="Arial" charset="0"/>
                <a:ea typeface="ＭＳ Ｐゴシック" charset="0"/>
              </a:defRPr>
            </a:lvl7pPr>
            <a:lvl8pPr marL="3429000" indent="-228600" algn="r" eaLnBrk="0" fontAlgn="base" hangingPunct="0">
              <a:spcBef>
                <a:spcPct val="0"/>
              </a:spcBef>
              <a:spcAft>
                <a:spcPct val="0"/>
              </a:spcAft>
              <a:defRPr sz="2400">
                <a:solidFill>
                  <a:schemeClr val="tx1"/>
                </a:solidFill>
                <a:latin typeface="Arial" charset="0"/>
                <a:ea typeface="ＭＳ Ｐゴシック" charset="0"/>
              </a:defRPr>
            </a:lvl8pPr>
            <a:lvl9pPr marL="3886200" indent="-228600" algn="r"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lnSpc>
                <a:spcPct val="90000"/>
              </a:lnSpc>
              <a:spcBef>
                <a:spcPct val="20000"/>
              </a:spcBef>
              <a:buFont typeface="Arial" charset="0"/>
              <a:buNone/>
              <a:defRPr/>
            </a:pPr>
            <a:r>
              <a:rPr lang="en-US" sz="1400" b="1" noProof="0" dirty="0">
                <a:solidFill>
                  <a:schemeClr val="tx2">
                    <a:lumMod val="50000"/>
                  </a:schemeClr>
                </a:solidFill>
                <a:latin typeface="+mn-lt"/>
                <a:cs typeface="Calibri"/>
              </a:rPr>
              <a:t>Presentation by</a:t>
            </a:r>
            <a:endParaRPr lang="en-US" sz="1400" noProof="0" dirty="0">
              <a:solidFill>
                <a:schemeClr val="tx2">
                  <a:lumMod val="50000"/>
                </a:schemeClr>
              </a:solidFill>
              <a:latin typeface="+mn-lt"/>
              <a:cs typeface="Calibri"/>
            </a:endParaRPr>
          </a:p>
          <a:p>
            <a:pPr eaLnBrk="1" hangingPunct="1">
              <a:lnSpc>
                <a:spcPct val="90000"/>
              </a:lnSpc>
              <a:spcBef>
                <a:spcPct val="20000"/>
              </a:spcBef>
              <a:buFont typeface="Arial" charset="0"/>
              <a:buNone/>
              <a:defRPr/>
            </a:pPr>
            <a:endParaRPr lang="en-US" sz="1100" b="1" noProof="0" dirty="0">
              <a:solidFill>
                <a:schemeClr val="tx2">
                  <a:lumMod val="50000"/>
                </a:schemeClr>
              </a:solidFill>
              <a:latin typeface="Calibri"/>
              <a:ea typeface="ヒラギノ角ゴ Pro W3" charset="0"/>
              <a:cs typeface="Calibri"/>
            </a:endParaRPr>
          </a:p>
          <a:p>
            <a:pPr eaLnBrk="1" hangingPunct="1">
              <a:lnSpc>
                <a:spcPct val="90000"/>
              </a:lnSpc>
              <a:spcBef>
                <a:spcPct val="20000"/>
              </a:spcBef>
              <a:buFont typeface="Arial" charset="0"/>
              <a:buNone/>
              <a:defRPr/>
            </a:pPr>
            <a:r>
              <a:rPr lang="en-US" sz="1100" noProof="0" dirty="0">
                <a:solidFill>
                  <a:schemeClr val="tx2">
                    <a:lumMod val="50000"/>
                  </a:schemeClr>
                </a:solidFill>
                <a:latin typeface="+mn-lt"/>
                <a:ea typeface="ヒラギノ角ゴ Pro W3" charset="0"/>
                <a:cs typeface="Calibri"/>
              </a:rPr>
              <a:t>E-mail:</a:t>
            </a:r>
            <a:endParaRPr lang="en-US" sz="1100" u="sng" noProof="0" dirty="0">
              <a:solidFill>
                <a:schemeClr val="tx2">
                  <a:lumMod val="50000"/>
                </a:schemeClr>
              </a:solidFill>
              <a:latin typeface="+mn-lt"/>
              <a:ea typeface="ヒラギノ角ゴ Pro W3" charset="0"/>
              <a:cs typeface="Calibri"/>
              <a:hlinkClick r:id="rId2"/>
            </a:endParaRPr>
          </a:p>
        </p:txBody>
      </p:sp>
      <p:sp>
        <p:nvSpPr>
          <p:cNvPr id="8" name="Subtitle 2"/>
          <p:cNvSpPr txBox="1">
            <a:spLocks/>
          </p:cNvSpPr>
          <p:nvPr userDrawn="1"/>
        </p:nvSpPr>
        <p:spPr>
          <a:xfrm>
            <a:off x="838200" y="4322396"/>
            <a:ext cx="10518913" cy="2078401"/>
          </a:xfrm>
          <a:prstGeom prst="rect">
            <a:avLst/>
          </a:prstGeom>
        </p:spPr>
        <p:txBody>
          <a:bodyPr>
            <a:norm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algn="r" eaLnBrk="0" fontAlgn="base" hangingPunct="0">
              <a:spcBef>
                <a:spcPct val="0"/>
              </a:spcBef>
              <a:spcAft>
                <a:spcPct val="0"/>
              </a:spcAft>
              <a:defRPr>
                <a:solidFill>
                  <a:schemeClr val="tx1"/>
                </a:solidFill>
                <a:latin typeface="Arial" charset="0"/>
                <a:ea typeface="ＭＳ Ｐゴシック" charset="0"/>
              </a:defRPr>
            </a:lvl6pPr>
            <a:lvl7pPr marL="2971800" indent="-228600" algn="r" eaLnBrk="0" fontAlgn="base" hangingPunct="0">
              <a:spcBef>
                <a:spcPct val="0"/>
              </a:spcBef>
              <a:spcAft>
                <a:spcPct val="0"/>
              </a:spcAft>
              <a:defRPr>
                <a:solidFill>
                  <a:schemeClr val="tx1"/>
                </a:solidFill>
                <a:latin typeface="Arial" charset="0"/>
                <a:ea typeface="ＭＳ Ｐゴシック" charset="0"/>
              </a:defRPr>
            </a:lvl7pPr>
            <a:lvl8pPr marL="3429000" indent="-228600" algn="r" eaLnBrk="0" fontAlgn="base" hangingPunct="0">
              <a:spcBef>
                <a:spcPct val="0"/>
              </a:spcBef>
              <a:spcAft>
                <a:spcPct val="0"/>
              </a:spcAft>
              <a:defRPr>
                <a:solidFill>
                  <a:schemeClr val="tx1"/>
                </a:solidFill>
                <a:latin typeface="Arial" charset="0"/>
                <a:ea typeface="ＭＳ Ｐゴシック" charset="0"/>
              </a:defRPr>
            </a:lvl8pPr>
            <a:lvl9pPr marL="3886200" indent="-228600" algn="r" eaLnBrk="0" fontAlgn="base" hangingPunct="0">
              <a:spcBef>
                <a:spcPct val="0"/>
              </a:spcBef>
              <a:spcAft>
                <a:spcPct val="0"/>
              </a:spcAft>
              <a:defRPr>
                <a:solidFill>
                  <a:schemeClr val="tx1"/>
                </a:solidFill>
                <a:latin typeface="Arial" charset="0"/>
                <a:ea typeface="ＭＳ Ｐゴシック" charset="0"/>
              </a:defRPr>
            </a:lvl9pPr>
          </a:lstStyle>
          <a:p>
            <a:pPr algn="just" eaLnBrk="1" hangingPunct="1">
              <a:spcBef>
                <a:spcPct val="20000"/>
              </a:spcBef>
              <a:buFont typeface="Arial" charset="0"/>
              <a:buNone/>
              <a:defRPr/>
            </a:pPr>
            <a:r>
              <a:rPr lang="en-US" sz="1200" b="1" noProof="0" dirty="0">
                <a:solidFill>
                  <a:srgbClr val="000000"/>
                </a:solidFill>
                <a:latin typeface="+mn-lt"/>
                <a:ea typeface="ヒラギノ角ゴ Pro W3" charset="0"/>
                <a:cs typeface="Calibri"/>
              </a:rPr>
              <a:t>About Mphasis</a:t>
            </a:r>
            <a:endParaRPr lang="en-US" sz="1200" noProof="0" dirty="0">
              <a:solidFill>
                <a:srgbClr val="000000"/>
              </a:solidFill>
              <a:latin typeface="+mn-lt"/>
              <a:ea typeface="ヒラギノ角ゴ Pro W3" charset="0"/>
              <a:cs typeface="Calibri"/>
            </a:endParaRPr>
          </a:p>
          <a:p>
            <a:pPr algn="l" eaLnBrk="1" hangingPunct="1">
              <a:spcBef>
                <a:spcPct val="20000"/>
              </a:spcBef>
              <a:buFont typeface="Arial" charset="0"/>
              <a:buNone/>
              <a:defRPr/>
            </a:pPr>
            <a:r>
              <a:rPr lang="en-US" sz="1200" noProof="0" dirty="0">
                <a:solidFill>
                  <a:srgbClr val="000000"/>
                </a:solidFill>
                <a:latin typeface="+mn-lt"/>
                <a:ea typeface="ヒラギノ角ゴ Pro W3" charset="0"/>
                <a:cs typeface="Calibri"/>
              </a:rPr>
              <a:t>Mphasis enables chosen customers to meet the demands of an evolving market place. </a:t>
            </a:r>
            <a:br>
              <a:rPr lang="en-US" sz="1200" noProof="0" dirty="0">
                <a:solidFill>
                  <a:srgbClr val="000000"/>
                </a:solidFill>
                <a:latin typeface="+mn-lt"/>
                <a:ea typeface="ヒラギノ角ゴ Pro W3" charset="0"/>
                <a:cs typeface="Calibri"/>
              </a:rPr>
            </a:br>
            <a:r>
              <a:rPr lang="en-US" sz="1200" noProof="0" dirty="0">
                <a:solidFill>
                  <a:srgbClr val="000000"/>
                </a:solidFill>
                <a:latin typeface="+mn-lt"/>
                <a:ea typeface="ヒラギノ角ゴ Pro W3" charset="0"/>
                <a:cs typeface="Calibri"/>
              </a:rPr>
              <a:t>Mphasis fuels this by combining superior human capital with cutting edge solutions in hyper-specialized areas. </a:t>
            </a:r>
            <a:br>
              <a:rPr lang="en-US" sz="1200" noProof="0" dirty="0">
                <a:solidFill>
                  <a:srgbClr val="000000"/>
                </a:solidFill>
                <a:latin typeface="+mn-lt"/>
                <a:ea typeface="ヒラギノ角ゴ Pro W3" charset="0"/>
                <a:cs typeface="Calibri"/>
              </a:rPr>
            </a:br>
            <a:r>
              <a:rPr lang="en-US" sz="1200" noProof="0" dirty="0">
                <a:solidFill>
                  <a:srgbClr val="000000"/>
                </a:solidFill>
                <a:latin typeface="+mn-lt"/>
                <a:ea typeface="ヒラギノ角ゴ Pro W3" charset="0"/>
                <a:cs typeface="Calibri"/>
              </a:rPr>
              <a:t>Contact with us on www.mphasis.com </a:t>
            </a:r>
          </a:p>
          <a:p>
            <a:pPr algn="l" eaLnBrk="1" hangingPunct="1">
              <a:spcBef>
                <a:spcPct val="20000"/>
              </a:spcBef>
              <a:buFont typeface="Arial" charset="0"/>
              <a:buNone/>
              <a:defRPr/>
            </a:pPr>
            <a:endParaRPr lang="en-US" sz="1100" noProof="0" dirty="0">
              <a:solidFill>
                <a:srgbClr val="000000"/>
              </a:solidFill>
              <a:latin typeface="+mn-lt"/>
              <a:ea typeface="ヒラギノ角ゴ Pro W3" charset="0"/>
              <a:cs typeface="Calibri"/>
            </a:endParaRPr>
          </a:p>
          <a:p>
            <a:pPr marL="0" marR="0" indent="0" algn="l" defTabSz="914400" rtl="0" eaLnBrk="1" fontAlgn="base" latinLnBrk="0" hangingPunct="1">
              <a:lnSpc>
                <a:spcPct val="100000"/>
              </a:lnSpc>
              <a:spcBef>
                <a:spcPct val="20000"/>
              </a:spcBef>
              <a:spcAft>
                <a:spcPct val="0"/>
              </a:spcAft>
              <a:buClrTx/>
              <a:buSzTx/>
              <a:buFont typeface="Arial" charset="0"/>
              <a:buNone/>
              <a:tabLst/>
              <a:defRPr/>
            </a:pPr>
            <a:r>
              <a:rPr lang="en-US" sz="1200" b="1" noProof="0" dirty="0">
                <a:solidFill>
                  <a:srgbClr val="000000"/>
                </a:solidFill>
                <a:latin typeface="+mn-lt"/>
                <a:ea typeface="ヒラギノ角ゴ Pro W3" charset="0"/>
                <a:cs typeface="Calibri"/>
              </a:rPr>
              <a:t>Important Confidentiality Notice</a:t>
            </a:r>
            <a:endParaRPr lang="en-US" sz="1200" noProof="0" dirty="0">
              <a:solidFill>
                <a:srgbClr val="000000"/>
              </a:solidFill>
              <a:latin typeface="+mn-lt"/>
              <a:ea typeface="ヒラギノ角ゴ Pro W3" charset="0"/>
              <a:cs typeface="Calibri"/>
            </a:endParaRPr>
          </a:p>
          <a:p>
            <a:pPr algn="l" eaLnBrk="1" hangingPunct="1">
              <a:spcBef>
                <a:spcPct val="20000"/>
              </a:spcBef>
              <a:buFont typeface="Arial" charset="0"/>
              <a:buNone/>
              <a:defRPr/>
            </a:pPr>
            <a:r>
              <a:rPr lang="en-US" sz="1100" noProof="0" dirty="0">
                <a:solidFill>
                  <a:srgbClr val="000000"/>
                </a:solidFill>
                <a:latin typeface="+mn-lt"/>
                <a:ea typeface="ヒラギノ角ゴ Pro W3" charset="0"/>
                <a:cs typeface="Calibri"/>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p:txBody>
      </p:sp>
      <p:sp>
        <p:nvSpPr>
          <p:cNvPr id="10" name="Text Placeholder 9"/>
          <p:cNvSpPr>
            <a:spLocks noGrp="1"/>
          </p:cNvSpPr>
          <p:nvPr>
            <p:ph type="body" sz="quarter" idx="13" hasCustomPrompt="1"/>
          </p:nvPr>
        </p:nvSpPr>
        <p:spPr>
          <a:xfrm>
            <a:off x="2173771" y="3052143"/>
            <a:ext cx="3551238" cy="376237"/>
          </a:xfrm>
          <a:prstGeom prst="rect">
            <a:avLst/>
          </a:prstGeom>
        </p:spPr>
        <p:txBody>
          <a:bodyPr/>
          <a:lstStyle>
            <a:lvl1pPr marL="0" indent="0">
              <a:buFontTx/>
              <a:buNone/>
              <a:defRPr sz="1400" b="1"/>
            </a:lvl1pPr>
          </a:lstStyle>
          <a:p>
            <a:pPr lvl="0"/>
            <a:r>
              <a:rPr lang="en-US" noProof="0" dirty="0"/>
              <a:t>Your name here</a:t>
            </a:r>
          </a:p>
        </p:txBody>
      </p:sp>
      <p:sp>
        <p:nvSpPr>
          <p:cNvPr id="13" name="Text Placeholder 9"/>
          <p:cNvSpPr>
            <a:spLocks noGrp="1"/>
          </p:cNvSpPr>
          <p:nvPr>
            <p:ph type="body" sz="quarter" idx="14" hasCustomPrompt="1"/>
          </p:nvPr>
        </p:nvSpPr>
        <p:spPr>
          <a:xfrm>
            <a:off x="2173771" y="3444579"/>
            <a:ext cx="3551238" cy="376237"/>
          </a:xfrm>
          <a:prstGeom prst="rect">
            <a:avLst/>
          </a:prstGeom>
        </p:spPr>
        <p:txBody>
          <a:bodyPr/>
          <a:lstStyle>
            <a:lvl1pPr marL="0" indent="0">
              <a:buFontTx/>
              <a:buNone/>
              <a:defRPr sz="1100" b="1"/>
            </a:lvl1pPr>
          </a:lstStyle>
          <a:p>
            <a:pPr lvl="0"/>
            <a:r>
              <a:rPr lang="en-US" noProof="0" dirty="0"/>
              <a:t>your email id here</a:t>
            </a:r>
          </a:p>
        </p:txBody>
      </p:sp>
      <p:pic>
        <p:nvPicPr>
          <p:cNvPr id="14" name="Picture 5" descr="D:\Suhas Jadhav\D Drive\2014_Mphasis Brand\PPT\Template PPT\Mphasis-Logo Color.png"/>
          <p:cNvPicPr>
            <a:picLocks noChangeAspect="1" noChangeArrowheads="1"/>
          </p:cNvPicPr>
          <p:nvPr userDrawn="1"/>
        </p:nvPicPr>
        <p:blipFill>
          <a:blip r:embed="rId3">
            <a:extLst>
              <a:ext uri="{28A0092B-C50C-407E-A947-70E740481C1C}">
                <a14:useLocalDpi xmlns:a14="http://schemas.microsoft.com/office/drawing/2010/main" val="0"/>
              </a:ext>
            </a:extLst>
          </a:blip>
          <a:srcRect l="32932" t="4324"/>
          <a:stretch>
            <a:fillRect/>
          </a:stretch>
        </p:blipFill>
        <p:spPr bwMode="auto">
          <a:xfrm>
            <a:off x="0" y="0"/>
            <a:ext cx="2447925"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userDrawn="1"/>
        </p:nvSpPr>
        <p:spPr>
          <a:xfrm>
            <a:off x="-1588" y="0"/>
            <a:ext cx="2449513" cy="2698750"/>
          </a:xfrm>
          <a:prstGeom prst="rect">
            <a:avLst/>
          </a:prstGeom>
          <a:solidFill>
            <a:srgbClr val="FFFFFF">
              <a:alpha val="5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solidFill>
                <a:srgbClr val="FFFFFF"/>
              </a:solidFill>
            </a:endParaRPr>
          </a:p>
        </p:txBody>
      </p:sp>
      <p:sp>
        <p:nvSpPr>
          <p:cNvPr id="6" name="Title 1"/>
          <p:cNvSpPr>
            <a:spLocks/>
          </p:cNvSpPr>
          <p:nvPr userDrawn="1"/>
        </p:nvSpPr>
        <p:spPr bwMode="auto">
          <a:xfrm>
            <a:off x="847725" y="2552453"/>
            <a:ext cx="537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eaLnBrk="0" hangingPunct="0">
              <a:defRPr>
                <a:solidFill>
                  <a:schemeClr val="tx1"/>
                </a:solidFill>
                <a:latin typeface="Arial" pitchFamily="34" charset="0"/>
                <a:ea typeface="ＭＳ Ｐゴシック" pitchFamily="34" charset="-128"/>
              </a:defRPr>
            </a:lvl1pPr>
            <a:lvl2pPr marL="742950" indent="-285750" algn="r" eaLnBrk="0" hangingPunct="0">
              <a:defRPr>
                <a:solidFill>
                  <a:schemeClr val="tx1"/>
                </a:solidFill>
                <a:latin typeface="Arial" pitchFamily="34" charset="0"/>
                <a:ea typeface="ＭＳ Ｐゴシック" pitchFamily="34" charset="-128"/>
              </a:defRPr>
            </a:lvl2pPr>
            <a:lvl3pPr marL="1143000" indent="-228600" algn="r" eaLnBrk="0" hangingPunct="0">
              <a:defRPr>
                <a:solidFill>
                  <a:schemeClr val="tx1"/>
                </a:solidFill>
                <a:latin typeface="Arial" pitchFamily="34" charset="0"/>
                <a:ea typeface="ＭＳ Ｐゴシック" pitchFamily="34" charset="-128"/>
              </a:defRPr>
            </a:lvl3pPr>
            <a:lvl4pPr marL="1600200" indent="-228600" algn="r" eaLnBrk="0" hangingPunct="0">
              <a:defRPr>
                <a:solidFill>
                  <a:schemeClr val="tx1"/>
                </a:solidFill>
                <a:latin typeface="Arial" pitchFamily="34" charset="0"/>
                <a:ea typeface="ＭＳ Ｐゴシック" pitchFamily="34" charset="-128"/>
              </a:defRPr>
            </a:lvl4pPr>
            <a:lvl5pPr marL="2057400" indent="-228600" algn="r" eaLnBrk="0" hangingPunct="0">
              <a:defRPr>
                <a:solidFill>
                  <a:schemeClr val="tx1"/>
                </a:solidFill>
                <a:latin typeface="Arial" pitchFamily="34" charset="0"/>
                <a:ea typeface="ＭＳ Ｐゴシック" pitchFamily="34" charset="-128"/>
              </a:defRPr>
            </a:lvl5pPr>
            <a:lvl6pPr marL="25146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l" eaLnBrk="1" hangingPunct="1">
              <a:lnSpc>
                <a:spcPct val="80000"/>
              </a:lnSpc>
              <a:defRPr/>
            </a:pPr>
            <a:r>
              <a:rPr lang="en-US" altLang="en-US" sz="3200" b="1" noProof="0" dirty="0">
                <a:solidFill>
                  <a:srgbClr val="1895D2"/>
                </a:solidFill>
                <a:latin typeface="+mj-lt"/>
              </a:rPr>
              <a:t>THANK YOU</a:t>
            </a:r>
          </a:p>
        </p:txBody>
      </p:sp>
      <p:pic>
        <p:nvPicPr>
          <p:cNvPr id="11" name="Picture 5" descr="D:\Suhas Jadhav\D Drive\2014_Mphasis Brand\PPT\Template PPT\Mphasis-Logo Color.gif"/>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38159"/>
          <a:stretch>
            <a:fillRect/>
          </a:stretch>
        </p:blipFill>
        <p:spPr bwMode="auto">
          <a:xfrm>
            <a:off x="0" y="1835497"/>
            <a:ext cx="960438"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6577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4"/>
            <a:ext cx="1014046" cy="365125"/>
          </a:xfrm>
          <a:prstGeom prst="rect">
            <a:avLst/>
          </a:prstGeom>
        </p:spPr>
        <p:txBody>
          <a:bodyPr vert="horz" lIns="91440" tIns="45720" rIns="91440" bIns="45720" rtlCol="0" anchor="ctr"/>
          <a:lstStyle>
            <a:lvl1pPr algn="l">
              <a:defRPr sz="800">
                <a:solidFill>
                  <a:schemeClr val="tx1"/>
                </a:solidFill>
              </a:defRPr>
            </a:lvl1pPr>
          </a:lstStyle>
          <a:p>
            <a:fld id="{8CCF1305-9139-49D2-9AF0-216F90A6E70B}" type="datetime4">
              <a:rPr lang="en-US" noProof="0" smtClean="0"/>
              <a:t>March 26, 2018</a:t>
            </a:fld>
            <a:endParaRPr lang="en-US" noProof="0" dirty="0"/>
          </a:p>
        </p:txBody>
      </p:sp>
      <p:sp>
        <p:nvSpPr>
          <p:cNvPr id="5" name="Footer Placeholder 4"/>
          <p:cNvSpPr>
            <a:spLocks noGrp="1"/>
          </p:cNvSpPr>
          <p:nvPr>
            <p:ph type="ftr" sz="quarter" idx="3"/>
          </p:nvPr>
        </p:nvSpPr>
        <p:spPr>
          <a:xfrm>
            <a:off x="1852246" y="6356354"/>
            <a:ext cx="6301154" cy="365125"/>
          </a:xfrm>
          <a:prstGeom prst="rect">
            <a:avLst/>
          </a:prstGeom>
        </p:spPr>
        <p:txBody>
          <a:bodyPr vert="horz" lIns="91440" tIns="45720" rIns="91440" bIns="45720" rtlCol="0" anchor="ctr"/>
          <a:lstStyle>
            <a:lvl1pPr algn="l">
              <a:defRPr sz="800">
                <a:solidFill>
                  <a:schemeClr val="tx1"/>
                </a:solidFill>
              </a:defRPr>
            </a:lvl1pPr>
          </a:lstStyle>
          <a:p>
            <a:r>
              <a:rPr lang="en-US" dirty="0"/>
              <a:t>Proprietary and confidential information. © Mphasis 2017</a:t>
            </a:r>
            <a:endParaRPr lang="en-US" noProof="0" dirty="0"/>
          </a:p>
        </p:txBody>
      </p:sp>
      <p:sp>
        <p:nvSpPr>
          <p:cNvPr id="6" name="Slide Number Placeholder 5"/>
          <p:cNvSpPr>
            <a:spLocks noGrp="1"/>
          </p:cNvSpPr>
          <p:nvPr>
            <p:ph type="sldNum" sz="quarter" idx="4"/>
          </p:nvPr>
        </p:nvSpPr>
        <p:spPr>
          <a:xfrm>
            <a:off x="398585" y="6356354"/>
            <a:ext cx="439615" cy="365125"/>
          </a:xfrm>
          <a:prstGeom prst="rect">
            <a:avLst/>
          </a:prstGeom>
        </p:spPr>
        <p:txBody>
          <a:bodyPr vert="horz" lIns="91440" tIns="45720" rIns="91440" bIns="45720" rtlCol="0" anchor="ctr"/>
          <a:lstStyle>
            <a:lvl1pPr algn="r">
              <a:defRPr sz="800">
                <a:solidFill>
                  <a:schemeClr val="tx1"/>
                </a:solidFill>
              </a:defRPr>
            </a:lvl1pPr>
          </a:lstStyle>
          <a:p>
            <a:fld id="{11746383-54BD-4C05-B9FE-468110D17AC0}" type="slidenum">
              <a:rPr lang="en-US" noProof="0" smtClean="0"/>
              <a:pPr/>
              <a:t>‹#›</a:t>
            </a:fld>
            <a:endParaRPr lang="en-US" noProof="0" dirty="0"/>
          </a:p>
        </p:txBody>
      </p:sp>
      <p:pic>
        <p:nvPicPr>
          <p:cNvPr id="7" name="Picture 2" descr="D:\Suhas Jadhav\D Drive\2014_Mphasis Brand\Suhas logo\Format\Mphasis-Logo Color.png"/>
          <p:cNvPicPr>
            <a:picLocks noChangeAspect="1" noChangeArrowheads="1"/>
          </p:cNvPicPr>
          <p:nvPr userDrawn="1"/>
        </p:nvPicPr>
        <p:blipFill rotWithShape="1">
          <a:blip r:embed="rId8" cstate="print"/>
          <a:srcRect r="4215" b="15267"/>
          <a:stretch/>
        </p:blipFill>
        <p:spPr bwMode="auto">
          <a:xfrm>
            <a:off x="10065386" y="6132638"/>
            <a:ext cx="1926590" cy="528638"/>
          </a:xfrm>
          <a:prstGeom prst="rect">
            <a:avLst/>
          </a:prstGeom>
          <a:noFill/>
          <a:ln w="9525">
            <a:noFill/>
            <a:miter lim="800000"/>
            <a:headEnd/>
            <a:tailEnd/>
          </a:ln>
        </p:spPr>
      </p:pic>
    </p:spTree>
    <p:extLst>
      <p:ext uri="{BB962C8B-B14F-4D97-AF65-F5344CB8AC3E}">
        <p14:creationId xmlns:p14="http://schemas.microsoft.com/office/powerpoint/2010/main" val="1565833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5" r:id="rId3"/>
    <p:sldLayoutId id="2147483682" r:id="rId4"/>
    <p:sldLayoutId id="2147483683" r:id="rId5"/>
    <p:sldLayoutId id="2147483684" r:id="rId6"/>
  </p:sldLayoutIdLst>
  <p:hf hdr="0"/>
  <p:txStyles>
    <p:titleStyle>
      <a:lvl1pPr algn="l" defTabSz="685800" rtl="0" eaLnBrk="1" latinLnBrk="0" hangingPunct="1">
        <a:lnSpc>
          <a:spcPct val="90000"/>
        </a:lnSpc>
        <a:spcBef>
          <a:spcPct val="0"/>
        </a:spcBef>
        <a:buNone/>
        <a:defRPr sz="28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A revised top-level metamodel</a:t>
            </a:r>
          </a:p>
        </p:txBody>
      </p:sp>
      <p:sp>
        <p:nvSpPr>
          <p:cNvPr id="8" name="Subtitle 7"/>
          <p:cNvSpPr>
            <a:spLocks noGrp="1"/>
          </p:cNvSpPr>
          <p:nvPr>
            <p:ph type="subTitle" idx="1"/>
          </p:nvPr>
        </p:nvSpPr>
        <p:spPr/>
        <p:txBody>
          <a:bodyPr/>
          <a:lstStyle/>
          <a:p>
            <a:r>
              <a:rPr lang="en-US" dirty="0"/>
              <a:t>Replacing figure 5.1.2</a:t>
            </a:r>
          </a:p>
        </p:txBody>
      </p:sp>
      <p:pic>
        <p:nvPicPr>
          <p:cNvPr id="6" name="Picture Placeholder 5">
            <a:extLst>
              <a:ext uri="{FF2B5EF4-FFF2-40B4-BE49-F238E27FC236}">
                <a16:creationId xmlns:a16="http://schemas.microsoft.com/office/drawing/2014/main" id="{7EF8FB4E-CDA5-49EA-B66F-DC2A53C8D029}"/>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776" b="776"/>
          <a:stretch>
            <a:fillRect/>
          </a:stretch>
        </p:blipFill>
        <p:spPr>
          <a:xfrm>
            <a:off x="10144125" y="809625"/>
            <a:ext cx="1847850" cy="238125"/>
          </a:xfrm>
        </p:spPr>
      </p:pic>
      <p:sp>
        <p:nvSpPr>
          <p:cNvPr id="10" name="Text Placeholder 9"/>
          <p:cNvSpPr>
            <a:spLocks noGrp="1"/>
          </p:cNvSpPr>
          <p:nvPr>
            <p:ph type="body" sz="quarter" idx="14"/>
          </p:nvPr>
        </p:nvSpPr>
        <p:spPr/>
        <p:txBody>
          <a:bodyPr/>
          <a:lstStyle/>
          <a:p>
            <a:r>
              <a:rPr lang="en-US" dirty="0"/>
              <a:t>Bert Hooyman, Metamodel Team, BA Guild</a:t>
            </a:r>
          </a:p>
        </p:txBody>
      </p:sp>
      <p:pic>
        <p:nvPicPr>
          <p:cNvPr id="3" name="Picture Placeholder 2">
            <a:extLst>
              <a:ext uri="{FF2B5EF4-FFF2-40B4-BE49-F238E27FC236}">
                <a16:creationId xmlns:a16="http://schemas.microsoft.com/office/drawing/2014/main" id="{175AE39F-B4CC-4AFA-9F81-C7D77F467588}"/>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l="10617" t="15360" r="9048" b="18435"/>
          <a:stretch/>
        </p:blipFill>
        <p:spPr>
          <a:xfrm>
            <a:off x="850319" y="2302479"/>
            <a:ext cx="4883973" cy="2259107"/>
          </a:xfrm>
          <a:ln>
            <a:solidFill>
              <a:schemeClr val="accent1"/>
            </a:solidFill>
          </a:ln>
        </p:spPr>
      </p:pic>
      <p:sp>
        <p:nvSpPr>
          <p:cNvPr id="12" name="Text Placeholder 11"/>
          <p:cNvSpPr>
            <a:spLocks noGrp="1"/>
          </p:cNvSpPr>
          <p:nvPr>
            <p:ph type="body" sz="quarter" idx="16"/>
          </p:nvPr>
        </p:nvSpPr>
        <p:spPr/>
        <p:txBody>
          <a:bodyPr/>
          <a:lstStyle/>
          <a:p>
            <a:pPr marL="0" indent="0">
              <a:buNone/>
            </a:pPr>
            <a:r>
              <a:rPr lang="en-US" dirty="0"/>
              <a:t>March 26, 2018</a:t>
            </a:r>
          </a:p>
        </p:txBody>
      </p:sp>
      <p:sp>
        <p:nvSpPr>
          <p:cNvPr id="13" name="Freeform: Shape 12">
            <a:extLst>
              <a:ext uri="{FF2B5EF4-FFF2-40B4-BE49-F238E27FC236}">
                <a16:creationId xmlns:a16="http://schemas.microsoft.com/office/drawing/2014/main" id="{33EE5C0B-00C4-489D-9710-90F189024B99}"/>
              </a:ext>
            </a:extLst>
          </p:cNvPr>
          <p:cNvSpPr/>
          <p:nvPr/>
        </p:nvSpPr>
        <p:spPr>
          <a:xfrm>
            <a:off x="848958" y="2291379"/>
            <a:ext cx="11038243" cy="4346089"/>
          </a:xfrm>
          <a:custGeom>
            <a:avLst/>
            <a:gdLst>
              <a:gd name="connsiteX0" fmla="*/ 4851699 w 11015831"/>
              <a:gd name="connsiteY0" fmla="*/ 0 h 4346089"/>
              <a:gd name="connsiteX1" fmla="*/ 11015831 w 11015831"/>
              <a:gd name="connsiteY1" fmla="*/ 1043492 h 4346089"/>
              <a:gd name="connsiteX2" fmla="*/ 11015831 w 11015831"/>
              <a:gd name="connsiteY2" fmla="*/ 4346089 h 4346089"/>
              <a:gd name="connsiteX3" fmla="*/ 5303520 w 11015831"/>
              <a:gd name="connsiteY3" fmla="*/ 4346089 h 4346089"/>
              <a:gd name="connsiteX4" fmla="*/ 0 w 11015831"/>
              <a:gd name="connsiteY4" fmla="*/ 2237590 h 4346089"/>
              <a:gd name="connsiteX5" fmla="*/ 10758 w 11015831"/>
              <a:gd name="connsiteY5" fmla="*/ 21515 h 4346089"/>
              <a:gd name="connsiteX6" fmla="*/ 4851699 w 11015831"/>
              <a:gd name="connsiteY6" fmla="*/ 0 h 4346089"/>
              <a:gd name="connsiteX0" fmla="*/ 4840974 w 11005106"/>
              <a:gd name="connsiteY0" fmla="*/ 0 h 4346089"/>
              <a:gd name="connsiteX1" fmla="*/ 11005106 w 11005106"/>
              <a:gd name="connsiteY1" fmla="*/ 1043492 h 4346089"/>
              <a:gd name="connsiteX2" fmla="*/ 11005106 w 11005106"/>
              <a:gd name="connsiteY2" fmla="*/ 4346089 h 4346089"/>
              <a:gd name="connsiteX3" fmla="*/ 5292795 w 11005106"/>
              <a:gd name="connsiteY3" fmla="*/ 4346089 h 4346089"/>
              <a:gd name="connsiteX4" fmla="*/ 0 w 11005106"/>
              <a:gd name="connsiteY4" fmla="*/ 2226833 h 4346089"/>
              <a:gd name="connsiteX5" fmla="*/ 33 w 11005106"/>
              <a:gd name="connsiteY5" fmla="*/ 21515 h 4346089"/>
              <a:gd name="connsiteX6" fmla="*/ 4840974 w 11005106"/>
              <a:gd name="connsiteY6" fmla="*/ 0 h 4346089"/>
              <a:gd name="connsiteX0" fmla="*/ 4840974 w 11005106"/>
              <a:gd name="connsiteY0" fmla="*/ 0 h 4346089"/>
              <a:gd name="connsiteX1" fmla="*/ 11005106 w 11005106"/>
              <a:gd name="connsiteY1" fmla="*/ 1043492 h 4346089"/>
              <a:gd name="connsiteX2" fmla="*/ 11005106 w 11005106"/>
              <a:gd name="connsiteY2" fmla="*/ 4346089 h 4346089"/>
              <a:gd name="connsiteX3" fmla="*/ 5292795 w 11005106"/>
              <a:gd name="connsiteY3" fmla="*/ 4346089 h 4346089"/>
              <a:gd name="connsiteX4" fmla="*/ 0 w 11005106"/>
              <a:gd name="connsiteY4" fmla="*/ 2291379 h 4346089"/>
              <a:gd name="connsiteX5" fmla="*/ 33 w 11005106"/>
              <a:gd name="connsiteY5" fmla="*/ 21515 h 4346089"/>
              <a:gd name="connsiteX6" fmla="*/ 4840974 w 11005106"/>
              <a:gd name="connsiteY6" fmla="*/ 0 h 434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05106" h="4346089">
                <a:moveTo>
                  <a:pt x="4840974" y="0"/>
                </a:moveTo>
                <a:lnTo>
                  <a:pt x="11005106" y="1043492"/>
                </a:lnTo>
                <a:lnTo>
                  <a:pt x="11005106" y="4346089"/>
                </a:lnTo>
                <a:lnTo>
                  <a:pt x="5292795" y="4346089"/>
                </a:lnTo>
                <a:lnTo>
                  <a:pt x="0" y="2291379"/>
                </a:lnTo>
                <a:cubicBezTo>
                  <a:pt x="11" y="1534758"/>
                  <a:pt x="22" y="778136"/>
                  <a:pt x="33" y="21515"/>
                </a:cubicBezTo>
                <a:lnTo>
                  <a:pt x="4840974" y="0"/>
                </a:lnTo>
                <a:close/>
              </a:path>
            </a:pathLst>
          </a:custGeom>
          <a:solidFill>
            <a:srgbClr val="D9D9D9">
              <a:alpha val="4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1B22FFC-E297-4267-9CC9-34ED3ED25544}"/>
              </a:ext>
            </a:extLst>
          </p:cNvPr>
          <p:cNvCxnSpPr>
            <a:cxnSpLocks/>
            <a:stCxn id="13" idx="5"/>
          </p:cNvCxnSpPr>
          <p:nvPr/>
        </p:nvCxnSpPr>
        <p:spPr>
          <a:xfrm>
            <a:off x="848991" y="2312894"/>
            <a:ext cx="5380175" cy="1021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47D8351-8097-49B4-AC67-B7EB42BDF7E1}"/>
              </a:ext>
            </a:extLst>
          </p:cNvPr>
          <p:cNvCxnSpPr/>
          <p:nvPr/>
        </p:nvCxnSpPr>
        <p:spPr>
          <a:xfrm>
            <a:off x="5734292" y="4561586"/>
            <a:ext cx="6152908" cy="2075881"/>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835D4923-6CDC-4087-AB70-0D56B14E4C67}"/>
              </a:ext>
            </a:extLst>
          </p:cNvPr>
          <p:cNvPicPr>
            <a:picLocks noChangeAspect="1"/>
          </p:cNvPicPr>
          <p:nvPr/>
        </p:nvPicPr>
        <p:blipFill>
          <a:blip r:embed="rId4"/>
          <a:stretch>
            <a:fillRect/>
          </a:stretch>
        </p:blipFill>
        <p:spPr>
          <a:xfrm>
            <a:off x="6229166" y="3334870"/>
            <a:ext cx="5658034" cy="3302597"/>
          </a:xfrm>
          <a:prstGeom prst="rect">
            <a:avLst/>
          </a:prstGeom>
          <a:ln>
            <a:solidFill>
              <a:schemeClr val="accent1"/>
            </a:solidFill>
          </a:ln>
        </p:spPr>
      </p:pic>
    </p:spTree>
    <p:extLst>
      <p:ext uri="{BB962C8B-B14F-4D97-AF65-F5344CB8AC3E}">
        <p14:creationId xmlns:p14="http://schemas.microsoft.com/office/powerpoint/2010/main" val="4101462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BBAA0-6FBF-4065-99C0-20E6857B2F15}"/>
              </a:ext>
            </a:extLst>
          </p:cNvPr>
          <p:cNvSpPr>
            <a:spLocks noGrp="1"/>
          </p:cNvSpPr>
          <p:nvPr>
            <p:ph type="title"/>
          </p:nvPr>
        </p:nvSpPr>
        <p:spPr/>
        <p:txBody>
          <a:bodyPr/>
          <a:lstStyle/>
          <a:p>
            <a:r>
              <a:rPr lang="en-US" dirty="0"/>
              <a:t>BIZBOK Meta Model </a:t>
            </a:r>
          </a:p>
        </p:txBody>
      </p:sp>
      <p:pic>
        <p:nvPicPr>
          <p:cNvPr id="8" name="Content Placeholder 7">
            <a:extLst>
              <a:ext uri="{FF2B5EF4-FFF2-40B4-BE49-F238E27FC236}">
                <a16:creationId xmlns:a16="http://schemas.microsoft.com/office/drawing/2014/main" id="{8084E724-07C6-418B-817B-12E4BB21A13A}"/>
              </a:ext>
            </a:extLst>
          </p:cNvPr>
          <p:cNvPicPr>
            <a:picLocks noGrp="1" noChangeAspect="1"/>
          </p:cNvPicPr>
          <p:nvPr>
            <p:ph idx="1"/>
          </p:nvPr>
        </p:nvPicPr>
        <p:blipFill>
          <a:blip r:embed="rId2"/>
          <a:stretch>
            <a:fillRect/>
          </a:stretch>
        </p:blipFill>
        <p:spPr>
          <a:xfrm>
            <a:off x="2375485" y="1825625"/>
            <a:ext cx="7441030" cy="4351338"/>
          </a:xfrm>
          <a:prstGeom prst="rect">
            <a:avLst/>
          </a:prstGeom>
        </p:spPr>
      </p:pic>
      <p:sp>
        <p:nvSpPr>
          <p:cNvPr id="4" name="Date Placeholder 3">
            <a:extLst>
              <a:ext uri="{FF2B5EF4-FFF2-40B4-BE49-F238E27FC236}">
                <a16:creationId xmlns:a16="http://schemas.microsoft.com/office/drawing/2014/main" id="{B97A90B8-FBA9-4D9E-9AC9-23F446E966A3}"/>
              </a:ext>
            </a:extLst>
          </p:cNvPr>
          <p:cNvSpPr>
            <a:spLocks noGrp="1"/>
          </p:cNvSpPr>
          <p:nvPr>
            <p:ph type="dt" sz="half" idx="10"/>
          </p:nvPr>
        </p:nvSpPr>
        <p:spPr/>
        <p:txBody>
          <a:bodyPr/>
          <a:lstStyle/>
          <a:p>
            <a:fld id="{C2E5F221-A47A-401F-990C-E47E1876C075}" type="datetime4">
              <a:rPr lang="en-US" noProof="0" smtClean="0"/>
              <a:t>March 26, 2018</a:t>
            </a:fld>
            <a:endParaRPr lang="en-US" noProof="0" dirty="0"/>
          </a:p>
        </p:txBody>
      </p:sp>
      <p:sp>
        <p:nvSpPr>
          <p:cNvPr id="5" name="Footer Placeholder 4">
            <a:extLst>
              <a:ext uri="{FF2B5EF4-FFF2-40B4-BE49-F238E27FC236}">
                <a16:creationId xmlns:a16="http://schemas.microsoft.com/office/drawing/2014/main" id="{DFAB4B0B-C804-4A79-83FE-74D7A692F411}"/>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a:extLst>
              <a:ext uri="{FF2B5EF4-FFF2-40B4-BE49-F238E27FC236}">
                <a16:creationId xmlns:a16="http://schemas.microsoft.com/office/drawing/2014/main" id="{108A7CBD-5D21-40EA-A2E2-D11FAA1D7F3B}"/>
              </a:ext>
            </a:extLst>
          </p:cNvPr>
          <p:cNvSpPr>
            <a:spLocks noGrp="1"/>
          </p:cNvSpPr>
          <p:nvPr>
            <p:ph type="sldNum" sz="quarter" idx="12"/>
          </p:nvPr>
        </p:nvSpPr>
        <p:spPr/>
        <p:txBody>
          <a:bodyPr/>
          <a:lstStyle/>
          <a:p>
            <a:fld id="{11746383-54BD-4C05-B9FE-468110D17AC0}" type="slidenum">
              <a:rPr lang="en-US" noProof="0" smtClean="0"/>
              <a:t>2</a:t>
            </a:fld>
            <a:endParaRPr lang="en-US" noProof="0" dirty="0"/>
          </a:p>
        </p:txBody>
      </p:sp>
      <p:sp>
        <p:nvSpPr>
          <p:cNvPr id="7" name="Text Placeholder 6">
            <a:extLst>
              <a:ext uri="{FF2B5EF4-FFF2-40B4-BE49-F238E27FC236}">
                <a16:creationId xmlns:a16="http://schemas.microsoft.com/office/drawing/2014/main" id="{8F382B69-2C4D-4032-BAA1-5BBE3744B8B4}"/>
              </a:ext>
            </a:extLst>
          </p:cNvPr>
          <p:cNvSpPr>
            <a:spLocks noGrp="1"/>
          </p:cNvSpPr>
          <p:nvPr>
            <p:ph type="body" sz="quarter" idx="13"/>
          </p:nvPr>
        </p:nvSpPr>
        <p:spPr/>
        <p:txBody>
          <a:bodyPr/>
          <a:lstStyle/>
          <a:p>
            <a:r>
              <a:rPr lang="en-US" dirty="0"/>
              <a:t>Conceptual view of Business Architecture Concepts and Relationships</a:t>
            </a:r>
          </a:p>
        </p:txBody>
      </p:sp>
    </p:spTree>
    <p:extLst>
      <p:ext uri="{BB962C8B-B14F-4D97-AF65-F5344CB8AC3E}">
        <p14:creationId xmlns:p14="http://schemas.microsoft.com/office/powerpoint/2010/main" val="3325311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a:t>
            </a:r>
          </a:p>
        </p:txBody>
      </p:sp>
      <p:graphicFrame>
        <p:nvGraphicFramePr>
          <p:cNvPr id="8" name="Content Placeholder 7">
            <a:extLst>
              <a:ext uri="{FF2B5EF4-FFF2-40B4-BE49-F238E27FC236}">
                <a16:creationId xmlns:a16="http://schemas.microsoft.com/office/drawing/2014/main" id="{DAFD1DF9-6FC7-4D28-89EE-CCA94AD45069}"/>
              </a:ext>
            </a:extLst>
          </p:cNvPr>
          <p:cNvGraphicFramePr>
            <a:graphicFrameLocks noGrp="1"/>
          </p:cNvGraphicFramePr>
          <p:nvPr>
            <p:ph idx="1"/>
            <p:extLst>
              <p:ext uri="{D42A27DB-BD31-4B8C-83A1-F6EECF244321}">
                <p14:modId xmlns:p14="http://schemas.microsoft.com/office/powerpoint/2010/main" val="3535079935"/>
              </p:ext>
            </p:extLst>
          </p:nvPr>
        </p:nvGraphicFramePr>
        <p:xfrm>
          <a:off x="838200" y="1825625"/>
          <a:ext cx="10515600" cy="4099160"/>
        </p:xfrm>
        <a:graphic>
          <a:graphicData uri="http://schemas.openxmlformats.org/drawingml/2006/table">
            <a:tbl>
              <a:tblPr firstRow="1" bandRow="1">
                <a:tableStyleId>{F5AB1C69-6EDB-4FF4-983F-18BD219EF322}</a:tableStyleId>
              </a:tblPr>
              <a:tblGrid>
                <a:gridCol w="2628900">
                  <a:extLst>
                    <a:ext uri="{9D8B030D-6E8A-4147-A177-3AD203B41FA5}">
                      <a16:colId xmlns:a16="http://schemas.microsoft.com/office/drawing/2014/main" val="3779189719"/>
                    </a:ext>
                  </a:extLst>
                </a:gridCol>
                <a:gridCol w="2628900">
                  <a:extLst>
                    <a:ext uri="{9D8B030D-6E8A-4147-A177-3AD203B41FA5}">
                      <a16:colId xmlns:a16="http://schemas.microsoft.com/office/drawing/2014/main" val="2596996601"/>
                    </a:ext>
                  </a:extLst>
                </a:gridCol>
                <a:gridCol w="2628900">
                  <a:extLst>
                    <a:ext uri="{9D8B030D-6E8A-4147-A177-3AD203B41FA5}">
                      <a16:colId xmlns:a16="http://schemas.microsoft.com/office/drawing/2014/main" val="155398683"/>
                    </a:ext>
                  </a:extLst>
                </a:gridCol>
                <a:gridCol w="2628900">
                  <a:extLst>
                    <a:ext uri="{9D8B030D-6E8A-4147-A177-3AD203B41FA5}">
                      <a16:colId xmlns:a16="http://schemas.microsoft.com/office/drawing/2014/main" val="274352381"/>
                    </a:ext>
                  </a:extLst>
                </a:gridCol>
              </a:tblGrid>
              <a:tr h="339400">
                <a:tc>
                  <a:txBody>
                    <a:bodyPr/>
                    <a:lstStyle/>
                    <a:p>
                      <a:r>
                        <a:rPr lang="en-US" sz="1800" dirty="0"/>
                        <a:t>object</a:t>
                      </a:r>
                    </a:p>
                  </a:txBody>
                  <a:tcPr/>
                </a:tc>
                <a:tc>
                  <a:txBody>
                    <a:bodyPr/>
                    <a:lstStyle/>
                    <a:p>
                      <a:r>
                        <a:rPr lang="en-US" sz="1800" dirty="0"/>
                        <a:t>predicate</a:t>
                      </a:r>
                    </a:p>
                  </a:txBody>
                  <a:tcPr/>
                </a:tc>
                <a:tc>
                  <a:txBody>
                    <a:bodyPr/>
                    <a:lstStyle/>
                    <a:p>
                      <a:r>
                        <a:rPr lang="en-US" sz="1800" dirty="0"/>
                        <a:t>subject</a:t>
                      </a:r>
                    </a:p>
                  </a:txBody>
                  <a:tcPr/>
                </a:tc>
                <a:tc>
                  <a:txBody>
                    <a:bodyPr/>
                    <a:lstStyle/>
                    <a:p>
                      <a:r>
                        <a:rPr lang="en-US" sz="1800" dirty="0"/>
                        <a:t>new?</a:t>
                      </a:r>
                    </a:p>
                  </a:txBody>
                  <a:tcPr/>
                </a:tc>
                <a:extLst>
                  <a:ext uri="{0D108BD9-81ED-4DB2-BD59-A6C34878D82A}">
                    <a16:rowId xmlns:a16="http://schemas.microsoft.com/office/drawing/2014/main" val="1401481904"/>
                  </a:ext>
                </a:extLst>
              </a:tr>
              <a:tr h="339400">
                <a:tc>
                  <a:txBody>
                    <a:bodyPr/>
                    <a:lstStyle/>
                    <a:p>
                      <a:pPr algn="l" fontAlgn="b"/>
                      <a:r>
                        <a:rPr lang="en-US" sz="1600" u="none" strike="noStrike" dirty="0">
                          <a:effectLst/>
                        </a:rPr>
                        <a:t>Strategy</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realizes</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Objective</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association</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2077870"/>
                  </a:ext>
                </a:extLst>
              </a:tr>
              <a:tr h="339400">
                <a:tc>
                  <a:txBody>
                    <a:bodyPr/>
                    <a:lstStyle/>
                    <a:p>
                      <a:pPr algn="l" fontAlgn="b"/>
                      <a:r>
                        <a:rPr lang="en-US" sz="1600" u="none" strike="noStrike" dirty="0">
                          <a:effectLst/>
                        </a:rPr>
                        <a:t>Strategy</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impacts</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Stakeholder</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association</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46055032"/>
                  </a:ext>
                </a:extLst>
              </a:tr>
              <a:tr h="339400">
                <a:tc>
                  <a:txBody>
                    <a:bodyPr/>
                    <a:lstStyle/>
                    <a:p>
                      <a:pPr algn="l" fontAlgn="b"/>
                      <a:r>
                        <a:rPr lang="en-US" sz="1600" u="none" strike="noStrike" dirty="0">
                          <a:effectLst/>
                        </a:rPr>
                        <a:t>Policy</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influences</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Strategy</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object</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27739405"/>
                  </a:ext>
                </a:extLst>
              </a:tr>
              <a:tr h="339400">
                <a:tc>
                  <a:txBody>
                    <a:bodyPr/>
                    <a:lstStyle/>
                    <a:p>
                      <a:pPr algn="l" fontAlgn="b"/>
                      <a:r>
                        <a:rPr lang="en-US" sz="1600" u="none" strike="noStrike" dirty="0">
                          <a:effectLst/>
                        </a:rPr>
                        <a:t>Policy</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guides</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Objective</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object</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23137057"/>
                  </a:ext>
                </a:extLst>
              </a:tr>
              <a:tr h="339400">
                <a:tc>
                  <a:txBody>
                    <a:bodyPr/>
                    <a:lstStyle/>
                    <a:p>
                      <a:pPr algn="l" fontAlgn="b"/>
                      <a:r>
                        <a:rPr lang="en-US" sz="1600" u="none" strike="noStrike" dirty="0">
                          <a:effectLst/>
                        </a:rPr>
                        <a:t>Policy</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sets direction in</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Organization</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object</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21573107"/>
                  </a:ext>
                </a:extLst>
              </a:tr>
              <a:tr h="339400">
                <a:tc>
                  <a:txBody>
                    <a:bodyPr/>
                    <a:lstStyle/>
                    <a:p>
                      <a:pPr algn="l" fontAlgn="b"/>
                      <a:r>
                        <a:rPr lang="en-US" sz="1600" u="none" strike="noStrike" dirty="0">
                          <a:effectLst/>
                        </a:rPr>
                        <a:t>Value Stream</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fulfills</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Objective</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association</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58669351"/>
                  </a:ext>
                </a:extLst>
              </a:tr>
              <a:tr h="339400">
                <a:tc>
                  <a:txBody>
                    <a:bodyPr/>
                    <a:lstStyle/>
                    <a:p>
                      <a:pPr algn="l" fontAlgn="b"/>
                      <a:r>
                        <a:rPr lang="en-US" sz="1600" u="none" strike="noStrike" dirty="0">
                          <a:effectLst/>
                        </a:rPr>
                        <a:t>Value Stream</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delivers</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Value Proposition</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new subject</a:t>
                      </a:r>
                      <a:endParaRPr lang="en-US"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598187"/>
                  </a:ext>
                </a:extLst>
              </a:tr>
              <a:tr h="339400">
                <a:tc>
                  <a:txBody>
                    <a:bodyPr/>
                    <a:lstStyle/>
                    <a:p>
                      <a:pPr algn="l" fontAlgn="b"/>
                      <a:r>
                        <a:rPr lang="en-US" sz="1600" u="none" strike="noStrike">
                          <a:effectLst/>
                        </a:rPr>
                        <a:t>Value Item</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accrues into</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Value Proposition</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new object &amp; subject</a:t>
                      </a:r>
                      <a:endParaRPr lang="en-US"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54814251"/>
                  </a:ext>
                </a:extLst>
              </a:tr>
              <a:tr h="339400">
                <a:tc>
                  <a:txBody>
                    <a:bodyPr/>
                    <a:lstStyle/>
                    <a:p>
                      <a:pPr algn="l" fontAlgn="b"/>
                      <a:r>
                        <a:rPr lang="en-US" sz="1600" u="none" strike="noStrike">
                          <a:effectLst/>
                        </a:rPr>
                        <a:t>Value Proposition</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conveys value to</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Stakeholder</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new object</a:t>
                      </a:r>
                      <a:endParaRPr lang="en-US"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73032148"/>
                  </a:ext>
                </a:extLst>
              </a:tr>
              <a:tr h="339400">
                <a:tc>
                  <a:txBody>
                    <a:bodyPr/>
                    <a:lstStyle/>
                    <a:p>
                      <a:pPr algn="l" fontAlgn="b"/>
                      <a:r>
                        <a:rPr lang="en-US" sz="1600" u="none" strike="noStrike">
                          <a:effectLst/>
                        </a:rPr>
                        <a:t>Outcome</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assigned to</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Value Item</a:t>
                      </a:r>
                      <a:endParaRPr lang="en-US"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new object (in diagram)</a:t>
                      </a:r>
                      <a:endParaRPr lang="en-US"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84401117"/>
                  </a:ext>
                </a:extLst>
              </a:tr>
              <a:tr h="339400">
                <a:tc>
                  <a:txBody>
                    <a:bodyPr/>
                    <a:lstStyle/>
                    <a:p>
                      <a:pPr algn="l" fontAlgn="b"/>
                      <a:r>
                        <a:rPr lang="en-US" sz="1600" u="none" strike="noStrike">
                          <a:effectLst/>
                        </a:rPr>
                        <a:t>Business Unit</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drives</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a:effectLst/>
                        </a:rPr>
                        <a:t>Initiative</a:t>
                      </a:r>
                      <a:endParaRPr lang="en-US" sz="1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600" u="none" strike="noStrike" dirty="0">
                          <a:effectLst/>
                        </a:rPr>
                        <a:t>new association</a:t>
                      </a:r>
                      <a:endParaRPr lang="en-US"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83792871"/>
                  </a:ext>
                </a:extLst>
              </a:tr>
            </a:tbl>
          </a:graphicData>
        </a:graphic>
      </p:graphicFrame>
      <p:sp>
        <p:nvSpPr>
          <p:cNvPr id="4" name="Date Placeholder 3"/>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5" name="Footer Placeholder 4"/>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p:cNvSpPr>
            <a:spLocks noGrp="1"/>
          </p:cNvSpPr>
          <p:nvPr>
            <p:ph type="sldNum" sz="quarter" idx="12"/>
          </p:nvPr>
        </p:nvSpPr>
        <p:spPr/>
        <p:txBody>
          <a:bodyPr/>
          <a:lstStyle/>
          <a:p>
            <a:fld id="{11746383-54BD-4C05-B9FE-468110D17AC0}" type="slidenum">
              <a:rPr lang="en-US" noProof="0" smtClean="0"/>
              <a:t>3</a:t>
            </a:fld>
            <a:endParaRPr lang="en-US" noProof="0" dirty="0"/>
          </a:p>
        </p:txBody>
      </p:sp>
      <p:sp>
        <p:nvSpPr>
          <p:cNvPr id="7" name="Text Placeholder 6">
            <a:extLst>
              <a:ext uri="{FF2B5EF4-FFF2-40B4-BE49-F238E27FC236}">
                <a16:creationId xmlns:a16="http://schemas.microsoft.com/office/drawing/2014/main" id="{028EF195-9EF7-446C-9732-1EB8B49D67C7}"/>
              </a:ext>
            </a:extLst>
          </p:cNvPr>
          <p:cNvSpPr>
            <a:spLocks noGrp="1"/>
          </p:cNvSpPr>
          <p:nvPr>
            <p:ph type="body" sz="quarter" idx="13"/>
          </p:nvPr>
        </p:nvSpPr>
        <p:spPr/>
        <p:txBody>
          <a:bodyPr/>
          <a:lstStyle/>
          <a:p>
            <a:r>
              <a:rPr lang="en-US" dirty="0"/>
              <a:t>New objects &amp; associations</a:t>
            </a:r>
          </a:p>
        </p:txBody>
      </p:sp>
    </p:spTree>
    <p:extLst>
      <p:ext uri="{BB962C8B-B14F-4D97-AF65-F5344CB8AC3E}">
        <p14:creationId xmlns:p14="http://schemas.microsoft.com/office/powerpoint/2010/main" val="206400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B67D8-47A5-442E-9D29-ED9882E15AF4}"/>
              </a:ext>
            </a:extLst>
          </p:cNvPr>
          <p:cNvSpPr>
            <a:spLocks noGrp="1"/>
          </p:cNvSpPr>
          <p:nvPr>
            <p:ph type="title"/>
          </p:nvPr>
        </p:nvSpPr>
        <p:spPr/>
        <p:txBody>
          <a:bodyPr/>
          <a:lstStyle/>
          <a:p>
            <a:r>
              <a:rPr lang="en-US" dirty="0"/>
              <a:t>What has changed?</a:t>
            </a:r>
          </a:p>
        </p:txBody>
      </p:sp>
      <p:graphicFrame>
        <p:nvGraphicFramePr>
          <p:cNvPr id="8" name="Content Placeholder 7">
            <a:extLst>
              <a:ext uri="{FF2B5EF4-FFF2-40B4-BE49-F238E27FC236}">
                <a16:creationId xmlns:a16="http://schemas.microsoft.com/office/drawing/2014/main" id="{309A91A0-012E-48CC-ADB4-0E83735F47A8}"/>
              </a:ext>
            </a:extLst>
          </p:cNvPr>
          <p:cNvGraphicFramePr>
            <a:graphicFrameLocks noGrp="1"/>
          </p:cNvGraphicFramePr>
          <p:nvPr>
            <p:ph idx="1"/>
            <p:extLst>
              <p:ext uri="{D42A27DB-BD31-4B8C-83A1-F6EECF244321}">
                <p14:modId xmlns:p14="http://schemas.microsoft.com/office/powerpoint/2010/main" val="2581546264"/>
              </p:ext>
            </p:extLst>
          </p:nvPr>
        </p:nvGraphicFramePr>
        <p:xfrm>
          <a:off x="827442" y="1825625"/>
          <a:ext cx="10515600" cy="1854200"/>
        </p:xfrm>
        <a:graphic>
          <a:graphicData uri="http://schemas.openxmlformats.org/drawingml/2006/table">
            <a:tbl>
              <a:tblPr firstRow="1" bandRow="1">
                <a:tableStyleId>{F5AB1C69-6EDB-4FF4-983F-18BD219EF322}</a:tableStyleId>
              </a:tblPr>
              <a:tblGrid>
                <a:gridCol w="2628900">
                  <a:extLst>
                    <a:ext uri="{9D8B030D-6E8A-4147-A177-3AD203B41FA5}">
                      <a16:colId xmlns:a16="http://schemas.microsoft.com/office/drawing/2014/main" val="1552478276"/>
                    </a:ext>
                  </a:extLst>
                </a:gridCol>
                <a:gridCol w="2628900">
                  <a:extLst>
                    <a:ext uri="{9D8B030D-6E8A-4147-A177-3AD203B41FA5}">
                      <a16:colId xmlns:a16="http://schemas.microsoft.com/office/drawing/2014/main" val="3558511876"/>
                    </a:ext>
                  </a:extLst>
                </a:gridCol>
                <a:gridCol w="2628900">
                  <a:extLst>
                    <a:ext uri="{9D8B030D-6E8A-4147-A177-3AD203B41FA5}">
                      <a16:colId xmlns:a16="http://schemas.microsoft.com/office/drawing/2014/main" val="3138580107"/>
                    </a:ext>
                  </a:extLst>
                </a:gridCol>
                <a:gridCol w="2628900">
                  <a:extLst>
                    <a:ext uri="{9D8B030D-6E8A-4147-A177-3AD203B41FA5}">
                      <a16:colId xmlns:a16="http://schemas.microsoft.com/office/drawing/2014/main" val="4268129374"/>
                    </a:ext>
                  </a:extLst>
                </a:gridCol>
              </a:tblGrid>
              <a:tr h="370840">
                <a:tc>
                  <a:txBody>
                    <a:bodyPr/>
                    <a:lstStyle/>
                    <a:p>
                      <a:pPr algn="l" fontAlgn="t"/>
                      <a:r>
                        <a:rPr lang="en-US" sz="1800" u="none" strike="noStrike" dirty="0">
                          <a:effectLst/>
                        </a:rPr>
                        <a:t>object</a:t>
                      </a:r>
                      <a:endParaRPr lang="en-US" sz="1800" b="1" i="0" u="none" strike="noStrike" dirty="0">
                        <a:solidFill>
                          <a:srgbClr val="FFFFFF"/>
                        </a:solidFill>
                        <a:effectLst/>
                        <a:latin typeface="Calibri" panose="020F0502020204030204" pitchFamily="34" charset="0"/>
                      </a:endParaRPr>
                    </a:p>
                  </a:txBody>
                  <a:tcPr marL="0" marR="0" marT="0" marB="0"/>
                </a:tc>
                <a:tc>
                  <a:txBody>
                    <a:bodyPr/>
                    <a:lstStyle/>
                    <a:p>
                      <a:pPr algn="l" fontAlgn="t"/>
                      <a:r>
                        <a:rPr lang="en-US" sz="1800" u="none" strike="noStrike" dirty="0">
                          <a:effectLst/>
                        </a:rPr>
                        <a:t>predicate</a:t>
                      </a:r>
                      <a:endParaRPr lang="en-US" sz="1800" b="1" i="0" u="none" strike="noStrike" dirty="0">
                        <a:solidFill>
                          <a:srgbClr val="FFFFFF"/>
                        </a:solidFill>
                        <a:effectLst/>
                        <a:latin typeface="Calibri" panose="020F0502020204030204" pitchFamily="34" charset="0"/>
                      </a:endParaRPr>
                    </a:p>
                  </a:txBody>
                  <a:tcPr marL="0" marR="0" marT="0" marB="0"/>
                </a:tc>
                <a:tc>
                  <a:txBody>
                    <a:bodyPr/>
                    <a:lstStyle/>
                    <a:p>
                      <a:pPr algn="l" fontAlgn="t"/>
                      <a:r>
                        <a:rPr lang="en-US" sz="1800" u="none" strike="noStrike" dirty="0">
                          <a:effectLst/>
                        </a:rPr>
                        <a:t>Subject</a:t>
                      </a:r>
                      <a:endParaRPr lang="en-US" sz="1800" b="1" i="0" u="none" strike="noStrike" dirty="0">
                        <a:solidFill>
                          <a:srgbClr val="FFFFFF"/>
                        </a:solidFill>
                        <a:effectLst/>
                        <a:latin typeface="Calibri" panose="020F0502020204030204" pitchFamily="34" charset="0"/>
                      </a:endParaRPr>
                    </a:p>
                  </a:txBody>
                  <a:tcPr marL="0" marR="0" marT="0" marB="0"/>
                </a:tc>
                <a:tc>
                  <a:txBody>
                    <a:bodyPr/>
                    <a:lstStyle/>
                    <a:p>
                      <a:pPr algn="l" fontAlgn="t"/>
                      <a:r>
                        <a:rPr lang="en-US" sz="1800" u="none" strike="noStrike" dirty="0">
                          <a:effectLst/>
                        </a:rPr>
                        <a:t>changed?</a:t>
                      </a:r>
                      <a:endParaRPr lang="en-US" sz="1800" b="1" i="0" u="none" strike="noStrike" dirty="0">
                        <a:solidFill>
                          <a:srgbClr val="FFFFFF"/>
                        </a:solidFill>
                        <a:effectLst/>
                        <a:latin typeface="Calibri" panose="020F0502020204030204" pitchFamily="34" charset="0"/>
                      </a:endParaRPr>
                    </a:p>
                  </a:txBody>
                  <a:tcPr marL="0" marR="0" marT="0" marB="0"/>
                </a:tc>
                <a:extLst>
                  <a:ext uri="{0D108BD9-81ED-4DB2-BD59-A6C34878D82A}">
                    <a16:rowId xmlns:a16="http://schemas.microsoft.com/office/drawing/2014/main" val="785601685"/>
                  </a:ext>
                </a:extLst>
              </a:tr>
              <a:tr h="370840">
                <a:tc>
                  <a:txBody>
                    <a:bodyPr/>
                    <a:lstStyle/>
                    <a:p>
                      <a:pPr algn="l" fontAlgn="t"/>
                      <a:r>
                        <a:rPr lang="en-US" sz="1600" u="none" strike="noStrike" dirty="0">
                          <a:effectLst/>
                        </a:rPr>
                        <a:t>Organization</a:t>
                      </a:r>
                      <a:endParaRPr lang="en-US" sz="16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delivers</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Product</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renamed from 'provides'</a:t>
                      </a:r>
                      <a:endParaRPr lang="en-US" sz="16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4202809258"/>
                  </a:ext>
                </a:extLst>
              </a:tr>
              <a:tr h="370840">
                <a:tc>
                  <a:txBody>
                    <a:bodyPr/>
                    <a:lstStyle/>
                    <a:p>
                      <a:pPr algn="l" fontAlgn="t"/>
                      <a:r>
                        <a:rPr lang="en-US" sz="1600" u="none" strike="noStrike">
                          <a:effectLst/>
                        </a:rPr>
                        <a:t>Stakeholder</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dirty="0">
                          <a:effectLst/>
                        </a:rPr>
                        <a:t>defines</a:t>
                      </a:r>
                      <a:endParaRPr lang="en-US" sz="16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dirty="0">
                          <a:effectLst/>
                        </a:rPr>
                        <a:t>Information Concept</a:t>
                      </a:r>
                      <a:endParaRPr lang="en-US" sz="16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reversed direction</a:t>
                      </a:r>
                      <a:endParaRPr lang="en-US" sz="16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936044576"/>
                  </a:ext>
                </a:extLst>
              </a:tr>
              <a:tr h="370840">
                <a:tc>
                  <a:txBody>
                    <a:bodyPr/>
                    <a:lstStyle/>
                    <a:p>
                      <a:pPr algn="l" fontAlgn="t"/>
                      <a:r>
                        <a:rPr lang="en-US" sz="1600" u="none" strike="noStrike">
                          <a:effectLst/>
                        </a:rPr>
                        <a:t>Capability</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achieves</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dirty="0">
                          <a:effectLst/>
                        </a:rPr>
                        <a:t>Outcome</a:t>
                      </a:r>
                      <a:endParaRPr lang="en-US" sz="16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renamed from 'produces'</a:t>
                      </a:r>
                      <a:endParaRPr lang="en-US" sz="16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4192979237"/>
                  </a:ext>
                </a:extLst>
              </a:tr>
              <a:tr h="370840">
                <a:tc>
                  <a:txBody>
                    <a:bodyPr/>
                    <a:lstStyle/>
                    <a:p>
                      <a:pPr algn="l" fontAlgn="t"/>
                      <a:r>
                        <a:rPr lang="en-US" sz="1600" u="none" strike="noStrike" dirty="0">
                          <a:effectLst/>
                        </a:rPr>
                        <a:t>Value Item</a:t>
                      </a:r>
                      <a:endParaRPr lang="en-US" sz="16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conveys value to</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a:effectLst/>
                        </a:rPr>
                        <a:t>Stakeholder</a:t>
                      </a:r>
                      <a:endParaRPr lang="en-US" sz="16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600" u="none" strike="noStrike" dirty="0">
                          <a:effectLst/>
                        </a:rPr>
                        <a:t>now via Value Proposition</a:t>
                      </a:r>
                      <a:endParaRPr lang="en-US" sz="16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1222651558"/>
                  </a:ext>
                </a:extLst>
              </a:tr>
            </a:tbl>
          </a:graphicData>
        </a:graphic>
      </p:graphicFrame>
      <p:sp>
        <p:nvSpPr>
          <p:cNvPr id="4" name="Date Placeholder 3">
            <a:extLst>
              <a:ext uri="{FF2B5EF4-FFF2-40B4-BE49-F238E27FC236}">
                <a16:creationId xmlns:a16="http://schemas.microsoft.com/office/drawing/2014/main" id="{F89BE7EA-5866-4013-896F-EBE4A6F6BEAC}"/>
              </a:ext>
            </a:extLst>
          </p:cNvPr>
          <p:cNvSpPr>
            <a:spLocks noGrp="1"/>
          </p:cNvSpPr>
          <p:nvPr>
            <p:ph type="dt" sz="half" idx="10"/>
          </p:nvPr>
        </p:nvSpPr>
        <p:spPr/>
        <p:txBody>
          <a:bodyPr/>
          <a:lstStyle/>
          <a:p>
            <a:fld id="{C2E5F221-A47A-401F-990C-E47E1876C075}" type="datetime4">
              <a:rPr lang="en-US" noProof="0" smtClean="0"/>
              <a:t>March 26, 2018</a:t>
            </a:fld>
            <a:endParaRPr lang="en-US" noProof="0" dirty="0"/>
          </a:p>
        </p:txBody>
      </p:sp>
      <p:sp>
        <p:nvSpPr>
          <p:cNvPr id="5" name="Footer Placeholder 4">
            <a:extLst>
              <a:ext uri="{FF2B5EF4-FFF2-40B4-BE49-F238E27FC236}">
                <a16:creationId xmlns:a16="http://schemas.microsoft.com/office/drawing/2014/main" id="{B21D4482-74C6-437B-8D32-DE3F684B1E4F}"/>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a:extLst>
              <a:ext uri="{FF2B5EF4-FFF2-40B4-BE49-F238E27FC236}">
                <a16:creationId xmlns:a16="http://schemas.microsoft.com/office/drawing/2014/main" id="{0165525C-9C1E-4623-9EF4-1987FE86F234}"/>
              </a:ext>
            </a:extLst>
          </p:cNvPr>
          <p:cNvSpPr>
            <a:spLocks noGrp="1"/>
          </p:cNvSpPr>
          <p:nvPr>
            <p:ph type="sldNum" sz="quarter" idx="12"/>
          </p:nvPr>
        </p:nvSpPr>
        <p:spPr/>
        <p:txBody>
          <a:bodyPr/>
          <a:lstStyle/>
          <a:p>
            <a:fld id="{11746383-54BD-4C05-B9FE-468110D17AC0}" type="slidenum">
              <a:rPr lang="en-US" noProof="0" smtClean="0"/>
              <a:t>4</a:t>
            </a:fld>
            <a:endParaRPr lang="en-US" noProof="0" dirty="0"/>
          </a:p>
        </p:txBody>
      </p:sp>
      <p:sp>
        <p:nvSpPr>
          <p:cNvPr id="7" name="Text Placeholder 6">
            <a:extLst>
              <a:ext uri="{FF2B5EF4-FFF2-40B4-BE49-F238E27FC236}">
                <a16:creationId xmlns:a16="http://schemas.microsoft.com/office/drawing/2014/main" id="{58E6C095-4A92-4894-81A3-38C26125D8BC}"/>
              </a:ext>
            </a:extLst>
          </p:cNvPr>
          <p:cNvSpPr>
            <a:spLocks noGrp="1"/>
          </p:cNvSpPr>
          <p:nvPr>
            <p:ph type="body" sz="quarter" idx="13"/>
          </p:nvPr>
        </p:nvSpPr>
        <p:spPr/>
        <p:txBody>
          <a:bodyPr/>
          <a:lstStyle/>
          <a:p>
            <a:r>
              <a:rPr lang="en-US" dirty="0"/>
              <a:t>Modifications to existing associations</a:t>
            </a:r>
          </a:p>
        </p:txBody>
      </p:sp>
    </p:spTree>
    <p:extLst>
      <p:ext uri="{BB962C8B-B14F-4D97-AF65-F5344CB8AC3E}">
        <p14:creationId xmlns:p14="http://schemas.microsoft.com/office/powerpoint/2010/main" val="501538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8831-E2CF-46E5-820A-5E0FC822A97C}"/>
              </a:ext>
            </a:extLst>
          </p:cNvPr>
          <p:cNvSpPr>
            <a:spLocks noGrp="1"/>
          </p:cNvSpPr>
          <p:nvPr>
            <p:ph type="title"/>
          </p:nvPr>
        </p:nvSpPr>
        <p:spPr/>
        <p:txBody>
          <a:bodyPr/>
          <a:lstStyle/>
          <a:p>
            <a:r>
              <a:rPr lang="en-US" dirty="0"/>
              <a:t>What has been left out?</a:t>
            </a:r>
          </a:p>
        </p:txBody>
      </p:sp>
      <p:graphicFrame>
        <p:nvGraphicFramePr>
          <p:cNvPr id="8" name="Content Placeholder 7">
            <a:extLst>
              <a:ext uri="{FF2B5EF4-FFF2-40B4-BE49-F238E27FC236}">
                <a16:creationId xmlns:a16="http://schemas.microsoft.com/office/drawing/2014/main" id="{FF803D65-B025-4EC2-9812-5124C774E4AF}"/>
              </a:ext>
            </a:extLst>
          </p:cNvPr>
          <p:cNvGraphicFramePr>
            <a:graphicFrameLocks noGrp="1"/>
          </p:cNvGraphicFramePr>
          <p:nvPr>
            <p:ph idx="1"/>
            <p:extLst>
              <p:ext uri="{D42A27DB-BD31-4B8C-83A1-F6EECF244321}">
                <p14:modId xmlns:p14="http://schemas.microsoft.com/office/powerpoint/2010/main" val="1291473667"/>
              </p:ext>
            </p:extLst>
          </p:nvPr>
        </p:nvGraphicFramePr>
        <p:xfrm>
          <a:off x="838200" y="1825625"/>
          <a:ext cx="10515600" cy="3337560"/>
        </p:xfrm>
        <a:graphic>
          <a:graphicData uri="http://schemas.openxmlformats.org/drawingml/2006/table">
            <a:tbl>
              <a:tblPr firstRow="1" bandRow="1">
                <a:tableStyleId>{F5AB1C69-6EDB-4FF4-983F-18BD219EF322}</a:tableStyleId>
              </a:tblPr>
              <a:tblGrid>
                <a:gridCol w="2628900">
                  <a:extLst>
                    <a:ext uri="{9D8B030D-6E8A-4147-A177-3AD203B41FA5}">
                      <a16:colId xmlns:a16="http://schemas.microsoft.com/office/drawing/2014/main" val="455874247"/>
                    </a:ext>
                  </a:extLst>
                </a:gridCol>
                <a:gridCol w="2628900">
                  <a:extLst>
                    <a:ext uri="{9D8B030D-6E8A-4147-A177-3AD203B41FA5}">
                      <a16:colId xmlns:a16="http://schemas.microsoft.com/office/drawing/2014/main" val="2064260041"/>
                    </a:ext>
                  </a:extLst>
                </a:gridCol>
                <a:gridCol w="2628900">
                  <a:extLst>
                    <a:ext uri="{9D8B030D-6E8A-4147-A177-3AD203B41FA5}">
                      <a16:colId xmlns:a16="http://schemas.microsoft.com/office/drawing/2014/main" val="2859405541"/>
                    </a:ext>
                  </a:extLst>
                </a:gridCol>
                <a:gridCol w="2628900">
                  <a:extLst>
                    <a:ext uri="{9D8B030D-6E8A-4147-A177-3AD203B41FA5}">
                      <a16:colId xmlns:a16="http://schemas.microsoft.com/office/drawing/2014/main" val="3554029913"/>
                    </a:ext>
                  </a:extLst>
                </a:gridCol>
              </a:tblGrid>
              <a:tr h="370840">
                <a:tc>
                  <a:txBody>
                    <a:bodyPr/>
                    <a:lstStyle/>
                    <a:p>
                      <a:pPr algn="l" fontAlgn="t"/>
                      <a:r>
                        <a:rPr lang="en-US" sz="1800" u="none" strike="noStrike" dirty="0">
                          <a:effectLst/>
                        </a:rPr>
                        <a:t>Object</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predicate</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Subject</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Bert's remarks</a:t>
                      </a:r>
                      <a:endParaRPr lang="en-US" sz="1800" b="1" i="0" u="none" strike="noStrike" dirty="0">
                        <a:solidFill>
                          <a:srgbClr val="FFFFFF"/>
                        </a:solidFill>
                        <a:effectLst/>
                        <a:latin typeface="Calibri" panose="020F0502020204030204" pitchFamily="34" charset="0"/>
                      </a:endParaRPr>
                    </a:p>
                  </a:txBody>
                  <a:tcPr marL="9525" marR="9525" marT="9525" marB="0"/>
                </a:tc>
                <a:extLst>
                  <a:ext uri="{0D108BD9-81ED-4DB2-BD59-A6C34878D82A}">
                    <a16:rowId xmlns:a16="http://schemas.microsoft.com/office/drawing/2014/main" val="4008218311"/>
                  </a:ext>
                </a:extLst>
              </a:tr>
              <a:tr h="370840">
                <a:tc>
                  <a:txBody>
                    <a:bodyPr/>
                    <a:lstStyle/>
                    <a:p>
                      <a:pPr algn="l" fontAlgn="t"/>
                      <a:r>
                        <a:rPr lang="en-US" sz="1600" u="none" strike="noStrike" dirty="0">
                          <a:effectLst/>
                        </a:rPr>
                        <a:t>Business Unit</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decomposes into</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Business Unit</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suppressed</a:t>
                      </a:r>
                      <a:endParaRPr lang="en-US" sz="16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387945268"/>
                  </a:ext>
                </a:extLst>
              </a:tr>
              <a:tr h="370840">
                <a:tc>
                  <a:txBody>
                    <a:bodyPr/>
                    <a:lstStyle/>
                    <a:p>
                      <a:pPr algn="l" fontAlgn="t"/>
                      <a:r>
                        <a:rPr lang="en-US" sz="1600" u="none" strike="noStrike">
                          <a:effectLst/>
                        </a:rPr>
                        <a:t>Capability</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decomposes into</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Capability</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suppressed</a:t>
                      </a:r>
                      <a:endParaRPr lang="en-US" sz="16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880081015"/>
                  </a:ext>
                </a:extLst>
              </a:tr>
              <a:tr h="370840">
                <a:tc>
                  <a:txBody>
                    <a:bodyPr/>
                    <a:lstStyle/>
                    <a:p>
                      <a:pPr algn="l" fontAlgn="t"/>
                      <a:r>
                        <a:rPr lang="en-US" sz="1600" u="none" strike="noStrike">
                          <a:effectLst/>
                        </a:rPr>
                        <a:t>Outcome</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is categorized with</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Outcome</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suppressed</a:t>
                      </a:r>
                      <a:endParaRPr lang="en-US" sz="16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963775053"/>
                  </a:ext>
                </a:extLst>
              </a:tr>
              <a:tr h="370840">
                <a:tc>
                  <a:txBody>
                    <a:bodyPr/>
                    <a:lstStyle/>
                    <a:p>
                      <a:pPr algn="l" fontAlgn="t"/>
                      <a:r>
                        <a:rPr lang="en-US" sz="1600" u="none" strike="noStrike">
                          <a:effectLst/>
                        </a:rPr>
                        <a:t>Information Concept</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informs</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Objective</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suppressed, reversed</a:t>
                      </a:r>
                      <a:endParaRPr lang="en-US" sz="16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166040421"/>
                  </a:ext>
                </a:extLst>
              </a:tr>
              <a:tr h="370840">
                <a:tc>
                  <a:txBody>
                    <a:bodyPr/>
                    <a:lstStyle/>
                    <a:p>
                      <a:pPr algn="l" fontAlgn="t"/>
                      <a:r>
                        <a:rPr lang="en-US" sz="1600" u="none" strike="noStrike">
                          <a:effectLst/>
                        </a:rPr>
                        <a:t>Organization</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organizes</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Organization</a:t>
                      </a:r>
                      <a:endParaRPr lang="en-US" sz="16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suppressed</a:t>
                      </a:r>
                      <a:endParaRPr lang="en-US" sz="16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760863546"/>
                  </a:ext>
                </a:extLst>
              </a:tr>
              <a:tr h="370840">
                <a:tc>
                  <a:txBody>
                    <a:bodyPr/>
                    <a:lstStyle/>
                    <a:p>
                      <a:pPr algn="l" fontAlgn="t"/>
                      <a:r>
                        <a:rPr lang="en-US" sz="1600" u="none" strike="noStrike">
                          <a:effectLst/>
                        </a:rPr>
                        <a:t>Organization</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integrates through</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Strategy</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challenged</a:t>
                      </a:r>
                      <a:endParaRPr lang="en-US" sz="16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375884404"/>
                  </a:ext>
                </a:extLst>
              </a:tr>
              <a:tr h="370840">
                <a:tc>
                  <a:txBody>
                    <a:bodyPr/>
                    <a:lstStyle/>
                    <a:p>
                      <a:pPr algn="l" fontAlgn="t"/>
                      <a:r>
                        <a:rPr lang="en-US" sz="1600" u="none" strike="noStrike">
                          <a:effectLst/>
                        </a:rPr>
                        <a:t>Stakeholder</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may be an</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Organization</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suppressed</a:t>
                      </a:r>
                      <a:endParaRPr lang="en-US" sz="16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307252060"/>
                  </a:ext>
                </a:extLst>
              </a:tr>
              <a:tr h="370840">
                <a:tc>
                  <a:txBody>
                    <a:bodyPr/>
                    <a:lstStyle/>
                    <a:p>
                      <a:pPr algn="l" fontAlgn="t"/>
                      <a:r>
                        <a:rPr lang="en-US" sz="1600" u="none" strike="noStrike">
                          <a:effectLst/>
                        </a:rPr>
                        <a:t>Stakeholder</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experiences</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a:effectLst/>
                        </a:rPr>
                        <a:t>Value Stream Stage</a:t>
                      </a:r>
                      <a:endParaRPr lang="en-US" sz="16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en-US" sz="1600" u="none" strike="noStrike" dirty="0">
                          <a:effectLst/>
                        </a:rPr>
                        <a:t>suppressed</a:t>
                      </a:r>
                      <a:endParaRPr lang="en-US" sz="16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785856759"/>
                  </a:ext>
                </a:extLst>
              </a:tr>
            </a:tbl>
          </a:graphicData>
        </a:graphic>
      </p:graphicFrame>
      <p:sp>
        <p:nvSpPr>
          <p:cNvPr id="4" name="Date Placeholder 3">
            <a:extLst>
              <a:ext uri="{FF2B5EF4-FFF2-40B4-BE49-F238E27FC236}">
                <a16:creationId xmlns:a16="http://schemas.microsoft.com/office/drawing/2014/main" id="{ABB9E520-7637-420C-A2D5-6116ACAC2DF3}"/>
              </a:ext>
            </a:extLst>
          </p:cNvPr>
          <p:cNvSpPr>
            <a:spLocks noGrp="1"/>
          </p:cNvSpPr>
          <p:nvPr>
            <p:ph type="dt" sz="half" idx="10"/>
          </p:nvPr>
        </p:nvSpPr>
        <p:spPr/>
        <p:txBody>
          <a:bodyPr/>
          <a:lstStyle/>
          <a:p>
            <a:fld id="{C2E5F221-A47A-401F-990C-E47E1876C075}" type="datetime4">
              <a:rPr lang="en-US" noProof="0" smtClean="0"/>
              <a:t>March 26, 2018</a:t>
            </a:fld>
            <a:endParaRPr lang="en-US" noProof="0" dirty="0"/>
          </a:p>
        </p:txBody>
      </p:sp>
      <p:sp>
        <p:nvSpPr>
          <p:cNvPr id="5" name="Footer Placeholder 4">
            <a:extLst>
              <a:ext uri="{FF2B5EF4-FFF2-40B4-BE49-F238E27FC236}">
                <a16:creationId xmlns:a16="http://schemas.microsoft.com/office/drawing/2014/main" id="{23496C92-2027-472A-A9CE-6ECDA16090AC}"/>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a:extLst>
              <a:ext uri="{FF2B5EF4-FFF2-40B4-BE49-F238E27FC236}">
                <a16:creationId xmlns:a16="http://schemas.microsoft.com/office/drawing/2014/main" id="{F5FFF7B5-8189-440F-99E1-2B61B14EAF40}"/>
              </a:ext>
            </a:extLst>
          </p:cNvPr>
          <p:cNvSpPr>
            <a:spLocks noGrp="1"/>
          </p:cNvSpPr>
          <p:nvPr>
            <p:ph type="sldNum" sz="quarter" idx="12"/>
          </p:nvPr>
        </p:nvSpPr>
        <p:spPr/>
        <p:txBody>
          <a:bodyPr/>
          <a:lstStyle/>
          <a:p>
            <a:fld id="{11746383-54BD-4C05-B9FE-468110D17AC0}" type="slidenum">
              <a:rPr lang="en-US" noProof="0" smtClean="0"/>
              <a:t>5</a:t>
            </a:fld>
            <a:endParaRPr lang="en-US" noProof="0" dirty="0"/>
          </a:p>
        </p:txBody>
      </p:sp>
      <p:sp>
        <p:nvSpPr>
          <p:cNvPr id="7" name="Text Placeholder 6">
            <a:extLst>
              <a:ext uri="{FF2B5EF4-FFF2-40B4-BE49-F238E27FC236}">
                <a16:creationId xmlns:a16="http://schemas.microsoft.com/office/drawing/2014/main" id="{404C0629-F3FC-4AAC-923A-8A52844FFC6F}"/>
              </a:ext>
            </a:extLst>
          </p:cNvPr>
          <p:cNvSpPr>
            <a:spLocks noGrp="1"/>
          </p:cNvSpPr>
          <p:nvPr>
            <p:ph type="body" sz="quarter" idx="13"/>
          </p:nvPr>
        </p:nvSpPr>
        <p:spPr/>
        <p:txBody>
          <a:bodyPr/>
          <a:lstStyle/>
          <a:p>
            <a:r>
              <a:rPr lang="en-US" dirty="0"/>
              <a:t>Suppressed for clarity; ranked as secondary</a:t>
            </a:r>
          </a:p>
        </p:txBody>
      </p:sp>
    </p:spTree>
    <p:extLst>
      <p:ext uri="{BB962C8B-B14F-4D97-AF65-F5344CB8AC3E}">
        <p14:creationId xmlns:p14="http://schemas.microsoft.com/office/powerpoint/2010/main" val="3478942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91012-9B26-40E2-9DEC-6477A5DD55DC}"/>
              </a:ext>
            </a:extLst>
          </p:cNvPr>
          <p:cNvSpPr>
            <a:spLocks noGrp="1"/>
          </p:cNvSpPr>
          <p:nvPr>
            <p:ph type="title"/>
          </p:nvPr>
        </p:nvSpPr>
        <p:spPr/>
        <p:txBody>
          <a:bodyPr/>
          <a:lstStyle/>
          <a:p>
            <a:r>
              <a:rPr lang="en-US" dirty="0"/>
              <a:t>What remains as is?</a:t>
            </a:r>
          </a:p>
        </p:txBody>
      </p:sp>
      <p:graphicFrame>
        <p:nvGraphicFramePr>
          <p:cNvPr id="8" name="Content Placeholder 7">
            <a:extLst>
              <a:ext uri="{FF2B5EF4-FFF2-40B4-BE49-F238E27FC236}">
                <a16:creationId xmlns:a16="http://schemas.microsoft.com/office/drawing/2014/main" id="{83E3168A-B42D-4DDC-A8D0-F9E00D72C64D}"/>
              </a:ext>
            </a:extLst>
          </p:cNvPr>
          <p:cNvGraphicFramePr>
            <a:graphicFrameLocks noGrp="1"/>
          </p:cNvGraphicFramePr>
          <p:nvPr>
            <p:ph idx="1"/>
            <p:extLst>
              <p:ext uri="{D42A27DB-BD31-4B8C-83A1-F6EECF244321}">
                <p14:modId xmlns:p14="http://schemas.microsoft.com/office/powerpoint/2010/main" val="2461558817"/>
              </p:ext>
            </p:extLst>
          </p:nvPr>
        </p:nvGraphicFramePr>
        <p:xfrm>
          <a:off x="838200" y="1825625"/>
          <a:ext cx="10515603" cy="4450080"/>
        </p:xfrm>
        <a:graphic>
          <a:graphicData uri="http://schemas.openxmlformats.org/drawingml/2006/table">
            <a:tbl>
              <a:tblPr firstRow="1" bandRow="1">
                <a:tableStyleId>{F5AB1C69-6EDB-4FF4-983F-18BD219EF322}</a:tableStyleId>
              </a:tblPr>
              <a:tblGrid>
                <a:gridCol w="1502229">
                  <a:extLst>
                    <a:ext uri="{9D8B030D-6E8A-4147-A177-3AD203B41FA5}">
                      <a16:colId xmlns:a16="http://schemas.microsoft.com/office/drawing/2014/main" val="3939504551"/>
                    </a:ext>
                  </a:extLst>
                </a:gridCol>
                <a:gridCol w="1502229">
                  <a:extLst>
                    <a:ext uri="{9D8B030D-6E8A-4147-A177-3AD203B41FA5}">
                      <a16:colId xmlns:a16="http://schemas.microsoft.com/office/drawing/2014/main" val="2688170255"/>
                    </a:ext>
                  </a:extLst>
                </a:gridCol>
                <a:gridCol w="1502229">
                  <a:extLst>
                    <a:ext uri="{9D8B030D-6E8A-4147-A177-3AD203B41FA5}">
                      <a16:colId xmlns:a16="http://schemas.microsoft.com/office/drawing/2014/main" val="1024892589"/>
                    </a:ext>
                  </a:extLst>
                </a:gridCol>
                <a:gridCol w="388939">
                  <a:extLst>
                    <a:ext uri="{9D8B030D-6E8A-4147-A177-3AD203B41FA5}">
                      <a16:colId xmlns:a16="http://schemas.microsoft.com/office/drawing/2014/main" val="2019679662"/>
                    </a:ext>
                  </a:extLst>
                </a:gridCol>
                <a:gridCol w="1947134">
                  <a:extLst>
                    <a:ext uri="{9D8B030D-6E8A-4147-A177-3AD203B41FA5}">
                      <a16:colId xmlns:a16="http://schemas.microsoft.com/office/drawing/2014/main" val="3192845832"/>
                    </a:ext>
                  </a:extLst>
                </a:gridCol>
                <a:gridCol w="2170614">
                  <a:extLst>
                    <a:ext uri="{9D8B030D-6E8A-4147-A177-3AD203B41FA5}">
                      <a16:colId xmlns:a16="http://schemas.microsoft.com/office/drawing/2014/main" val="415009469"/>
                    </a:ext>
                  </a:extLst>
                </a:gridCol>
                <a:gridCol w="1502229">
                  <a:extLst>
                    <a:ext uri="{9D8B030D-6E8A-4147-A177-3AD203B41FA5}">
                      <a16:colId xmlns:a16="http://schemas.microsoft.com/office/drawing/2014/main" val="3896665364"/>
                    </a:ext>
                  </a:extLst>
                </a:gridCol>
              </a:tblGrid>
              <a:tr h="370840">
                <a:tc>
                  <a:txBody>
                    <a:bodyPr/>
                    <a:lstStyle/>
                    <a:p>
                      <a:pPr algn="l" fontAlgn="t"/>
                      <a:r>
                        <a:rPr lang="en-US" sz="1800" u="none" strike="noStrike" dirty="0">
                          <a:effectLst/>
                        </a:rPr>
                        <a:t>Object</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predicate</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Subject</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endParaRPr lang="en-US" sz="1100" b="1" i="0" u="none" strike="noStrike" dirty="0">
                        <a:solidFill>
                          <a:srgbClr val="FFFFFF"/>
                        </a:solidFill>
                        <a:effectLst/>
                        <a:latin typeface="Calibri" panose="020F0502020204030204" pitchFamily="34" charset="0"/>
                      </a:endParaRPr>
                    </a:p>
                  </a:txBody>
                  <a:tcPr marL="0" marR="0" marT="0" marB="0">
                    <a:noFill/>
                  </a:tcPr>
                </a:tc>
                <a:tc>
                  <a:txBody>
                    <a:bodyPr/>
                    <a:lstStyle/>
                    <a:p>
                      <a:pPr algn="l" fontAlgn="t"/>
                      <a:r>
                        <a:rPr lang="en-US" sz="1800" u="none" strike="noStrike" dirty="0">
                          <a:effectLst/>
                        </a:rPr>
                        <a:t>Object</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predicate</a:t>
                      </a:r>
                      <a:endParaRPr lang="en-US" sz="1800" b="1" i="0" u="none" strike="noStrike" dirty="0">
                        <a:solidFill>
                          <a:srgbClr val="FFFFFF"/>
                        </a:solidFill>
                        <a:effectLst/>
                        <a:latin typeface="Calibri" panose="020F0502020204030204" pitchFamily="34" charset="0"/>
                      </a:endParaRPr>
                    </a:p>
                  </a:txBody>
                  <a:tcPr marL="9525" marR="9525" marT="9525" marB="0"/>
                </a:tc>
                <a:tc>
                  <a:txBody>
                    <a:bodyPr/>
                    <a:lstStyle/>
                    <a:p>
                      <a:pPr algn="l" fontAlgn="t"/>
                      <a:r>
                        <a:rPr lang="en-US" sz="1800" u="none" strike="noStrike" dirty="0">
                          <a:effectLst/>
                        </a:rPr>
                        <a:t>Subject</a:t>
                      </a:r>
                      <a:endParaRPr lang="en-US" sz="1800" b="1" i="0" u="none" strike="noStrike" dirty="0">
                        <a:solidFill>
                          <a:srgbClr val="FFFFFF"/>
                        </a:solidFill>
                        <a:effectLst/>
                        <a:latin typeface="Calibri" panose="020F0502020204030204" pitchFamily="34" charset="0"/>
                      </a:endParaRPr>
                    </a:p>
                  </a:txBody>
                  <a:tcPr marL="9525" marR="9525" marT="9525" marB="0"/>
                </a:tc>
                <a:extLst>
                  <a:ext uri="{0D108BD9-81ED-4DB2-BD59-A6C34878D82A}">
                    <a16:rowId xmlns:a16="http://schemas.microsoft.com/office/drawing/2014/main" val="3348119487"/>
                  </a:ext>
                </a:extLst>
              </a:tr>
              <a:tr h="370840">
                <a:tc>
                  <a:txBody>
                    <a:bodyPr/>
                    <a:lstStyle/>
                    <a:p>
                      <a:pPr algn="l" fontAlgn="t"/>
                      <a:r>
                        <a:rPr lang="en-US" sz="1400" u="none" strike="noStrike" dirty="0">
                          <a:effectLst/>
                        </a:rPr>
                        <a:t>Objective</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motivates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Initiative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dirty="0">
                          <a:effectLst/>
                        </a:rPr>
                        <a:t>Value Stream</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guides the direction for</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Product</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687427886"/>
                  </a:ext>
                </a:extLst>
              </a:tr>
              <a:tr h="370840">
                <a:tc>
                  <a:txBody>
                    <a:bodyPr/>
                    <a:lstStyle/>
                    <a:p>
                      <a:pPr algn="l" fontAlgn="t"/>
                      <a:r>
                        <a:rPr lang="en-US" sz="1400" u="none" strike="noStrike" dirty="0">
                          <a:effectLst/>
                        </a:rPr>
                        <a:t>Objective</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guides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Organization</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dirty="0">
                          <a:effectLst/>
                        </a:rPr>
                        <a:t>Value Item</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is experienced through</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Value Stream Stage</a:t>
                      </a:r>
                      <a:endParaRPr lang="en-US" sz="14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2870699387"/>
                  </a:ext>
                </a:extLst>
              </a:tr>
              <a:tr h="370840">
                <a:tc>
                  <a:txBody>
                    <a:bodyPr/>
                    <a:lstStyle/>
                    <a:p>
                      <a:pPr algn="l" fontAlgn="t"/>
                      <a:r>
                        <a:rPr lang="en-US" sz="1400" u="none" strike="noStrike">
                          <a:effectLst/>
                        </a:rPr>
                        <a:t>Strategy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is aligned with</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Value Stream</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dirty="0">
                          <a:effectLst/>
                        </a:rPr>
                        <a:t>Information Concept</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supports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Capability</a:t>
                      </a:r>
                      <a:endParaRPr lang="en-US" sz="14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2427742988"/>
                  </a:ext>
                </a:extLst>
              </a:tr>
              <a:tr h="370840">
                <a:tc>
                  <a:txBody>
                    <a:bodyPr/>
                    <a:lstStyle/>
                    <a:p>
                      <a:pPr algn="l" fontAlgn="t"/>
                      <a:r>
                        <a:rPr lang="en-US" sz="1400" u="none" strike="noStrike" dirty="0">
                          <a:effectLst/>
                        </a:rPr>
                        <a:t>Initiative</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realizes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Objective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a:effectLst/>
                        </a:rPr>
                        <a:t>Capability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informs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Information Concept</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1998776599"/>
                  </a:ext>
                </a:extLst>
              </a:tr>
              <a:tr h="370840">
                <a:tc>
                  <a:txBody>
                    <a:bodyPr/>
                    <a:lstStyle/>
                    <a:p>
                      <a:pPr algn="l" fontAlgn="t"/>
                      <a:r>
                        <a:rPr lang="en-US" sz="1400" u="none" strike="noStrike">
                          <a:effectLst/>
                        </a:rPr>
                        <a:t>Initiative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impacts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Product</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a:effectLst/>
                        </a:rPr>
                        <a:t>Capability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enables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Product</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1398385079"/>
                  </a:ext>
                </a:extLst>
              </a:tr>
              <a:tr h="370840">
                <a:tc>
                  <a:txBody>
                    <a:bodyPr/>
                    <a:lstStyle/>
                    <a:p>
                      <a:pPr algn="l" fontAlgn="t"/>
                      <a:r>
                        <a:rPr lang="en-US" sz="1400" u="none" strike="noStrike">
                          <a:effectLst/>
                        </a:rPr>
                        <a:t>Initiative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impacts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Capability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a:effectLst/>
                        </a:rPr>
                        <a:t>Capability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enables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Value Stream Stage</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2318789814"/>
                  </a:ext>
                </a:extLst>
              </a:tr>
              <a:tr h="370840">
                <a:tc>
                  <a:txBody>
                    <a:bodyPr/>
                    <a:lstStyle/>
                    <a:p>
                      <a:pPr algn="l" fontAlgn="t"/>
                      <a:r>
                        <a:rPr lang="en-US" sz="1400" u="none" strike="noStrike">
                          <a:effectLst/>
                        </a:rPr>
                        <a:t>Stakeholder</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owns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Strategy</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a:effectLst/>
                        </a:rPr>
                        <a:t>Business Unit</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owns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Product</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3536457451"/>
                  </a:ext>
                </a:extLst>
              </a:tr>
              <a:tr h="370840">
                <a:tc>
                  <a:txBody>
                    <a:bodyPr/>
                    <a:lstStyle/>
                    <a:p>
                      <a:pPr algn="l" fontAlgn="t"/>
                      <a:r>
                        <a:rPr lang="en-US" sz="1400" u="none" strike="noStrike">
                          <a:effectLst/>
                        </a:rPr>
                        <a:t>Stakeholder</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owns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Initiative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a:effectLst/>
                        </a:rPr>
                        <a:t>Business Unit</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delivers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Capability</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3798613670"/>
                  </a:ext>
                </a:extLst>
              </a:tr>
              <a:tr h="370840">
                <a:tc>
                  <a:txBody>
                    <a:bodyPr/>
                    <a:lstStyle/>
                    <a:p>
                      <a:pPr algn="l" fontAlgn="t"/>
                      <a:r>
                        <a:rPr lang="en-US" sz="1400" u="none" strike="noStrike">
                          <a:effectLst/>
                        </a:rPr>
                        <a:t>Stakeholder</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triggers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Value Stream</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dirty="0">
                          <a:effectLst/>
                        </a:rPr>
                        <a:t>Business Unit</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belongs to</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Organization</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4112961663"/>
                  </a:ext>
                </a:extLst>
              </a:tr>
              <a:tr h="370840">
                <a:tc>
                  <a:txBody>
                    <a:bodyPr/>
                    <a:lstStyle/>
                    <a:p>
                      <a:pPr algn="l" fontAlgn="t"/>
                      <a:r>
                        <a:rPr lang="en-US" sz="1400" u="none" strike="noStrike">
                          <a:effectLst/>
                        </a:rPr>
                        <a:t>Stakeholder</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participates in</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Value Stream Stage</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pPr algn="l" fontAlgn="t"/>
                      <a:r>
                        <a:rPr lang="en-US" sz="1400" u="none" strike="noStrike" dirty="0">
                          <a:effectLst/>
                        </a:rPr>
                        <a:t>Strategy</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impacts</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Product</a:t>
                      </a:r>
                      <a:endParaRPr lang="en-US" sz="1400" b="0"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667952786"/>
                  </a:ext>
                </a:extLst>
              </a:tr>
              <a:tr h="370840">
                <a:tc>
                  <a:txBody>
                    <a:bodyPr/>
                    <a:lstStyle/>
                    <a:p>
                      <a:pPr algn="l" fontAlgn="t"/>
                      <a:r>
                        <a:rPr lang="en-US" sz="1400" u="none" strike="noStrike">
                          <a:effectLst/>
                        </a:rPr>
                        <a:t>Value Stream</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a:effectLst/>
                        </a:rPr>
                        <a:t>contains</a:t>
                      </a:r>
                      <a:endParaRPr lang="en-US" sz="1400" b="0" i="0" u="none" strike="noStrike">
                        <a:solidFill>
                          <a:srgbClr val="000000"/>
                        </a:solidFill>
                        <a:effectLst/>
                        <a:latin typeface="Calibri" panose="020F0502020204030204" pitchFamily="34" charset="0"/>
                      </a:endParaRPr>
                    </a:p>
                  </a:txBody>
                  <a:tcPr marL="0" marR="0" marT="0" marB="0"/>
                </a:tc>
                <a:tc>
                  <a:txBody>
                    <a:bodyPr/>
                    <a:lstStyle/>
                    <a:p>
                      <a:pPr algn="l" fontAlgn="t"/>
                      <a:r>
                        <a:rPr lang="en-US" sz="1400" u="none" strike="noStrike" dirty="0">
                          <a:effectLst/>
                        </a:rPr>
                        <a:t>Value Stream Stage</a:t>
                      </a:r>
                      <a:endParaRPr lang="en-US" sz="1400" b="0" i="0" u="none" strike="noStrike" dirty="0">
                        <a:solidFill>
                          <a:srgbClr val="000000"/>
                        </a:solidFill>
                        <a:effectLst/>
                        <a:latin typeface="Calibri" panose="020F0502020204030204" pitchFamily="34" charset="0"/>
                      </a:endParaRPr>
                    </a:p>
                  </a:txBody>
                  <a:tcPr marL="0" marR="0" marT="0" marB="0"/>
                </a:tc>
                <a:tc>
                  <a:txBody>
                    <a:bodyPr/>
                    <a:lstStyle/>
                    <a:p>
                      <a:pPr algn="l" fontAlgn="t"/>
                      <a:endParaRPr lang="en-US" sz="1400" b="0" i="0" u="none" strike="noStrike" dirty="0">
                        <a:solidFill>
                          <a:srgbClr val="000000"/>
                        </a:solidFill>
                        <a:effectLst/>
                        <a:latin typeface="Calibri" panose="020F0502020204030204" pitchFamily="34" charset="0"/>
                      </a:endParaRPr>
                    </a:p>
                  </a:txBody>
                  <a:tcPr marL="0" marR="0" marT="0" marB="0">
                    <a:noFill/>
                  </a:tcPr>
                </a:tc>
                <a:tc>
                  <a:txBody>
                    <a:bodyPr/>
                    <a:lstStyle/>
                    <a:p>
                      <a:endParaRPr lang="en-US" sz="1400"/>
                    </a:p>
                  </a:txBody>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3288570751"/>
                  </a:ext>
                </a:extLst>
              </a:tr>
            </a:tbl>
          </a:graphicData>
        </a:graphic>
      </p:graphicFrame>
      <p:sp>
        <p:nvSpPr>
          <p:cNvPr id="4" name="Date Placeholder 3">
            <a:extLst>
              <a:ext uri="{FF2B5EF4-FFF2-40B4-BE49-F238E27FC236}">
                <a16:creationId xmlns:a16="http://schemas.microsoft.com/office/drawing/2014/main" id="{F6DF5687-F804-4F68-AD9D-837ED850ECAF}"/>
              </a:ext>
            </a:extLst>
          </p:cNvPr>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5" name="Footer Placeholder 4">
            <a:extLst>
              <a:ext uri="{FF2B5EF4-FFF2-40B4-BE49-F238E27FC236}">
                <a16:creationId xmlns:a16="http://schemas.microsoft.com/office/drawing/2014/main" id="{00B30B1D-7FEE-4371-9C73-4344A4882945}"/>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a:extLst>
              <a:ext uri="{FF2B5EF4-FFF2-40B4-BE49-F238E27FC236}">
                <a16:creationId xmlns:a16="http://schemas.microsoft.com/office/drawing/2014/main" id="{F396F37D-B5A0-4016-ACFB-B0AB84FD62B9}"/>
              </a:ext>
            </a:extLst>
          </p:cNvPr>
          <p:cNvSpPr>
            <a:spLocks noGrp="1"/>
          </p:cNvSpPr>
          <p:nvPr>
            <p:ph type="sldNum" sz="quarter" idx="12"/>
          </p:nvPr>
        </p:nvSpPr>
        <p:spPr/>
        <p:txBody>
          <a:bodyPr/>
          <a:lstStyle/>
          <a:p>
            <a:fld id="{11746383-54BD-4C05-B9FE-468110D17AC0}" type="slidenum">
              <a:rPr lang="en-US" noProof="0" smtClean="0"/>
              <a:t>6</a:t>
            </a:fld>
            <a:endParaRPr lang="en-US" noProof="0" dirty="0"/>
          </a:p>
        </p:txBody>
      </p:sp>
    </p:spTree>
    <p:extLst>
      <p:ext uri="{BB962C8B-B14F-4D97-AF65-F5344CB8AC3E}">
        <p14:creationId xmlns:p14="http://schemas.microsoft.com/office/powerpoint/2010/main" val="1075471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DC8B5-14B7-479D-9446-3118A7330428}"/>
              </a:ext>
            </a:extLst>
          </p:cNvPr>
          <p:cNvSpPr>
            <a:spLocks noGrp="1"/>
          </p:cNvSpPr>
          <p:nvPr>
            <p:ph type="title"/>
          </p:nvPr>
        </p:nvSpPr>
        <p:spPr/>
        <p:txBody>
          <a:bodyPr/>
          <a:lstStyle/>
          <a:p>
            <a:r>
              <a:rPr lang="en-US" dirty="0"/>
              <a:t>Concept definitions</a:t>
            </a:r>
          </a:p>
        </p:txBody>
      </p:sp>
      <p:graphicFrame>
        <p:nvGraphicFramePr>
          <p:cNvPr id="7" name="Content Placeholder 6">
            <a:extLst>
              <a:ext uri="{FF2B5EF4-FFF2-40B4-BE49-F238E27FC236}">
                <a16:creationId xmlns:a16="http://schemas.microsoft.com/office/drawing/2014/main" id="{A2FFFBB7-E4D1-4D6B-833C-957C2BE4D4E7}"/>
              </a:ext>
            </a:extLst>
          </p:cNvPr>
          <p:cNvGraphicFramePr>
            <a:graphicFrameLocks noGrp="1"/>
          </p:cNvGraphicFramePr>
          <p:nvPr>
            <p:ph idx="1"/>
            <p:extLst>
              <p:ext uri="{D42A27DB-BD31-4B8C-83A1-F6EECF244321}">
                <p14:modId xmlns:p14="http://schemas.microsoft.com/office/powerpoint/2010/main" val="290380801"/>
              </p:ext>
            </p:extLst>
          </p:nvPr>
        </p:nvGraphicFramePr>
        <p:xfrm>
          <a:off x="838200" y="1825625"/>
          <a:ext cx="10515600" cy="4424976"/>
        </p:xfrm>
        <a:graphic>
          <a:graphicData uri="http://schemas.openxmlformats.org/drawingml/2006/table">
            <a:tbl>
              <a:tblPr firstRow="1" bandRow="1">
                <a:tableStyleId>{F5AB1C69-6EDB-4FF4-983F-18BD219EF322}</a:tableStyleId>
              </a:tblPr>
              <a:tblGrid>
                <a:gridCol w="1356360">
                  <a:extLst>
                    <a:ext uri="{9D8B030D-6E8A-4147-A177-3AD203B41FA5}">
                      <a16:colId xmlns:a16="http://schemas.microsoft.com/office/drawing/2014/main" val="944440203"/>
                    </a:ext>
                  </a:extLst>
                </a:gridCol>
                <a:gridCol w="9159240">
                  <a:extLst>
                    <a:ext uri="{9D8B030D-6E8A-4147-A177-3AD203B41FA5}">
                      <a16:colId xmlns:a16="http://schemas.microsoft.com/office/drawing/2014/main" val="3417049488"/>
                    </a:ext>
                  </a:extLst>
                </a:gridCol>
              </a:tblGrid>
              <a:tr h="253813">
                <a:tc>
                  <a:txBody>
                    <a:bodyPr/>
                    <a:lstStyle/>
                    <a:p>
                      <a:pPr algn="l" fontAlgn="b"/>
                      <a:r>
                        <a:rPr lang="en-US" sz="1600" u="none" strike="noStrike" dirty="0">
                          <a:effectLst/>
                        </a:rPr>
                        <a:t>Concept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Definition</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74597423"/>
                  </a:ext>
                </a:extLst>
              </a:tr>
              <a:tr h="325876">
                <a:tc>
                  <a:txBody>
                    <a:bodyPr/>
                    <a:lstStyle/>
                    <a:p>
                      <a:pPr algn="l" fontAlgn="b"/>
                      <a:r>
                        <a:rPr lang="en-US" sz="1100" u="none" strike="noStrike" dirty="0">
                          <a:effectLst/>
                        </a:rPr>
                        <a:t>Objective</a:t>
                      </a:r>
                      <a:endParaRPr lang="en-US"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a:effectLst/>
                        </a:rPr>
                        <a:t>Measurable goals for guiding strategy and aligning initiatives with execution. Objectives can be applied at individual, operational, business unit, and organizational levels. Also: A quantitative, measurable result that defines strategy.</a:t>
                      </a:r>
                      <a:endParaRPr lang="en-US" sz="11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303073657"/>
                  </a:ext>
                </a:extLst>
              </a:tr>
              <a:tr h="253813">
                <a:tc>
                  <a:txBody>
                    <a:bodyPr/>
                    <a:lstStyle/>
                    <a:p>
                      <a:pPr algn="l" fontAlgn="b"/>
                      <a:r>
                        <a:rPr lang="en-US" sz="1100" u="none" strike="noStrike" dirty="0">
                          <a:effectLst/>
                        </a:rPr>
                        <a:t>Strategy</a:t>
                      </a:r>
                      <a:endParaRPr lang="en-US"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a:effectLst/>
                        </a:rPr>
                        <a:t>The pattern or plan that integrates an organization’s major goals, policies, and action sequences into a cohesive whole.</a:t>
                      </a:r>
                      <a:endParaRPr lang="en-US" sz="11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300030776"/>
                  </a:ext>
                </a:extLst>
              </a:tr>
              <a:tr h="253813">
                <a:tc>
                  <a:txBody>
                    <a:bodyPr/>
                    <a:lstStyle/>
                    <a:p>
                      <a:pPr algn="l" fontAlgn="b"/>
                      <a:r>
                        <a:rPr lang="en-US" sz="1100" u="none" strike="noStrike" dirty="0">
                          <a:effectLst/>
                        </a:rPr>
                        <a:t>Initiative</a:t>
                      </a:r>
                      <a:endParaRPr lang="en-US"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 course of action that is being executed or has been selected for execution.</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092476255"/>
                  </a:ext>
                </a:extLst>
              </a:tr>
              <a:tr h="253813">
                <a:tc>
                  <a:txBody>
                    <a:bodyPr/>
                    <a:lstStyle/>
                    <a:p>
                      <a:pPr algn="l" fontAlgn="b"/>
                      <a:r>
                        <a:rPr lang="en-US" sz="1100" u="none" strike="noStrike">
                          <a:effectLst/>
                        </a:rPr>
                        <a:t>Organization</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An organization is a social unit of people, systematically structured and managed to meet a need or to pursue collective goals on a continuing basis.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4277844850"/>
                  </a:ext>
                </a:extLst>
              </a:tr>
              <a:tr h="253813">
                <a:tc>
                  <a:txBody>
                    <a:bodyPr/>
                    <a:lstStyle/>
                    <a:p>
                      <a:pPr algn="l" fontAlgn="b"/>
                      <a:r>
                        <a:rPr lang="en-US" sz="1100" u="none" strike="noStrike">
                          <a:effectLst/>
                        </a:rPr>
                        <a:t>Policy</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 course or principle of action adopted or proposed by a government, party, business or individual</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921258295"/>
                  </a:ext>
                </a:extLst>
              </a:tr>
              <a:tr h="253813">
                <a:tc>
                  <a:txBody>
                    <a:bodyPr/>
                    <a:lstStyle/>
                    <a:p>
                      <a:pPr algn="l" fontAlgn="b"/>
                      <a:r>
                        <a:rPr lang="en-US" sz="1100" u="none" strike="noStrike">
                          <a:effectLst/>
                        </a:rPr>
                        <a:t>Stakeholder</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An internal or external individual or organization with a vested interest in achieving value through a particular outcome. </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517705771"/>
                  </a:ext>
                </a:extLst>
              </a:tr>
              <a:tr h="253813">
                <a:tc>
                  <a:txBody>
                    <a:bodyPr/>
                    <a:lstStyle/>
                    <a:p>
                      <a:pPr algn="l" fontAlgn="b"/>
                      <a:r>
                        <a:rPr lang="en-US" sz="1100" u="none" strike="noStrike">
                          <a:effectLst/>
                        </a:rPr>
                        <a:t>Value Stream</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An end-to-end collection of activities that create a result for a customer, who may be the ultimate customer or an internal end-user of the value stream.</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480007331"/>
                  </a:ext>
                </a:extLst>
              </a:tr>
              <a:tr h="253813">
                <a:tc>
                  <a:txBody>
                    <a:bodyPr/>
                    <a:lstStyle/>
                    <a:p>
                      <a:pPr algn="l" fontAlgn="b"/>
                      <a:r>
                        <a:rPr lang="en-US" sz="1100" u="none" strike="noStrike">
                          <a:effectLst/>
                        </a:rPr>
                        <a:t>Value Stream Stage</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 distinct, identifiable phase or step within a value stream that has a unique name, entrance criteria, exit criteria, and identifiable participating stakeholder(s).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428465593"/>
                  </a:ext>
                </a:extLst>
              </a:tr>
              <a:tr h="325876">
                <a:tc>
                  <a:txBody>
                    <a:bodyPr/>
                    <a:lstStyle/>
                    <a:p>
                      <a:pPr algn="l" fontAlgn="b"/>
                      <a:r>
                        <a:rPr lang="en-US" sz="1100" u="none" strike="noStrike">
                          <a:effectLst/>
                        </a:rPr>
                        <a:t>Value Item</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The judgment of worth, made by an individual or organization, attached to something tangible or intangible and attained in the course of a particular interaction with one or more other parties.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33640138"/>
                  </a:ext>
                </a:extLst>
              </a:tr>
              <a:tr h="253813">
                <a:tc>
                  <a:txBody>
                    <a:bodyPr/>
                    <a:lstStyle/>
                    <a:p>
                      <a:pPr algn="l" fontAlgn="b"/>
                      <a:r>
                        <a:rPr lang="en-US" sz="1100" u="none" strike="noStrike">
                          <a:effectLst/>
                        </a:rPr>
                        <a:t>Value Proposition</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An innovation, service, or feature intended to make a company, product, or service attractive to customers or related stakeholders.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722377762"/>
                  </a:ext>
                </a:extLst>
              </a:tr>
              <a:tr h="253813">
                <a:tc>
                  <a:txBody>
                    <a:bodyPr/>
                    <a:lstStyle/>
                    <a:p>
                      <a:pPr algn="l" fontAlgn="b"/>
                      <a:r>
                        <a:rPr lang="en-US" sz="1100" u="none" strike="noStrike">
                          <a:effectLst/>
                        </a:rPr>
                        <a:t>Product</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The overall experience provided by the combination of goods and services to satisfy the customer’s needs.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674240859"/>
                  </a:ext>
                </a:extLst>
              </a:tr>
              <a:tr h="325876">
                <a:tc>
                  <a:txBody>
                    <a:bodyPr/>
                    <a:lstStyle/>
                    <a:p>
                      <a:pPr algn="l" fontAlgn="b"/>
                      <a:r>
                        <a:rPr lang="en-US" sz="1100" u="none" strike="noStrike">
                          <a:effectLst/>
                        </a:rPr>
                        <a:t>Information Concept</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Information concepts represent the business vocabulary (as per BIZBOK section 2.5, under "Identifying Information Concepts"). Also: The way in which to represent business terms and semantics within the context of business architecture.</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655870619"/>
                  </a:ext>
                </a:extLst>
              </a:tr>
              <a:tr h="253813">
                <a:tc>
                  <a:txBody>
                    <a:bodyPr/>
                    <a:lstStyle/>
                    <a:p>
                      <a:pPr algn="l" fontAlgn="b"/>
                      <a:r>
                        <a:rPr lang="en-US" sz="1100" u="none" strike="noStrike">
                          <a:effectLst/>
                        </a:rPr>
                        <a:t>Outcome</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An end result or final product that is a consequence of an event, action, or a series of events/actions.</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464052881"/>
                  </a:ext>
                </a:extLst>
              </a:tr>
              <a:tr h="253813">
                <a:tc>
                  <a:txBody>
                    <a:bodyPr/>
                    <a:lstStyle/>
                    <a:p>
                      <a:pPr algn="l" fontAlgn="b"/>
                      <a:r>
                        <a:rPr lang="en-US" sz="1100" u="none" strike="noStrike">
                          <a:effectLst/>
                        </a:rPr>
                        <a:t>Capability</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 particular ability or capacity that a business may possess or exchange to achieve a specific purpose or outcome.</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381208307"/>
                  </a:ext>
                </a:extLst>
              </a:tr>
              <a:tr h="325876">
                <a:tc>
                  <a:txBody>
                    <a:bodyPr/>
                    <a:lstStyle/>
                    <a:p>
                      <a:pPr algn="l" fontAlgn="b"/>
                      <a:r>
                        <a:rPr lang="en-US" sz="1100" u="none" strike="noStrike">
                          <a:effectLst/>
                        </a:rPr>
                        <a:t>Business Unit</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A logical element or segment of a company (such as accounting, production, marketing) representing a specific business function, and a definite place on the organizational chart, under the domain of a manager. Also called department, division, or functional area.</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368604420"/>
                  </a:ext>
                </a:extLst>
              </a:tr>
            </a:tbl>
          </a:graphicData>
        </a:graphic>
      </p:graphicFrame>
      <p:sp>
        <p:nvSpPr>
          <p:cNvPr id="4" name="Date Placeholder 3">
            <a:extLst>
              <a:ext uri="{FF2B5EF4-FFF2-40B4-BE49-F238E27FC236}">
                <a16:creationId xmlns:a16="http://schemas.microsoft.com/office/drawing/2014/main" id="{E51A9545-A065-4819-A0D0-1D7C1A3B016D}"/>
              </a:ext>
            </a:extLst>
          </p:cNvPr>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5" name="Footer Placeholder 4">
            <a:extLst>
              <a:ext uri="{FF2B5EF4-FFF2-40B4-BE49-F238E27FC236}">
                <a16:creationId xmlns:a16="http://schemas.microsoft.com/office/drawing/2014/main" id="{FFD3C7B0-60BB-4779-A8B8-4C9E694160A1}"/>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6" name="Slide Number Placeholder 5">
            <a:extLst>
              <a:ext uri="{FF2B5EF4-FFF2-40B4-BE49-F238E27FC236}">
                <a16:creationId xmlns:a16="http://schemas.microsoft.com/office/drawing/2014/main" id="{70596179-CC01-4B77-B405-B6B9E9CC8ED9}"/>
              </a:ext>
            </a:extLst>
          </p:cNvPr>
          <p:cNvSpPr>
            <a:spLocks noGrp="1"/>
          </p:cNvSpPr>
          <p:nvPr>
            <p:ph type="sldNum" sz="quarter" idx="12"/>
          </p:nvPr>
        </p:nvSpPr>
        <p:spPr/>
        <p:txBody>
          <a:bodyPr/>
          <a:lstStyle/>
          <a:p>
            <a:fld id="{11746383-54BD-4C05-B9FE-468110D17AC0}" type="slidenum">
              <a:rPr lang="en-US" noProof="0" smtClean="0"/>
              <a:t>7</a:t>
            </a:fld>
            <a:endParaRPr lang="en-US" noProof="0" dirty="0"/>
          </a:p>
        </p:txBody>
      </p:sp>
      <p:pic>
        <p:nvPicPr>
          <p:cNvPr id="9" name="Graphic 8" descr="Right Pointing Backhand Index ">
            <a:extLst>
              <a:ext uri="{FF2B5EF4-FFF2-40B4-BE49-F238E27FC236}">
                <a16:creationId xmlns:a16="http://schemas.microsoft.com/office/drawing/2014/main" id="{F2E3BC2A-4F4B-4506-8DF0-FBB6F4D388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5119" y="3025588"/>
            <a:ext cx="642769" cy="642769"/>
          </a:xfrm>
          <a:prstGeom prst="rect">
            <a:avLst/>
          </a:prstGeom>
        </p:spPr>
      </p:pic>
      <p:pic>
        <p:nvPicPr>
          <p:cNvPr id="10" name="Graphic 9" descr="Right Pointing Backhand Index ">
            <a:extLst>
              <a:ext uri="{FF2B5EF4-FFF2-40B4-BE49-F238E27FC236}">
                <a16:creationId xmlns:a16="http://schemas.microsoft.com/office/drawing/2014/main" id="{27D8EADD-AD78-49ED-BDB2-76BA2AD0F8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5119" y="4029581"/>
            <a:ext cx="642769" cy="642769"/>
          </a:xfrm>
          <a:prstGeom prst="rect">
            <a:avLst/>
          </a:prstGeom>
        </p:spPr>
      </p:pic>
      <p:pic>
        <p:nvPicPr>
          <p:cNvPr id="11" name="Graphic 10" descr="Right Pointing Backhand Index ">
            <a:extLst>
              <a:ext uri="{FF2B5EF4-FFF2-40B4-BE49-F238E27FC236}">
                <a16:creationId xmlns:a16="http://schemas.microsoft.com/office/drawing/2014/main" id="{33314650-0F6C-42A2-8CC8-3208BE8D7A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5119" y="4367193"/>
            <a:ext cx="642769" cy="642769"/>
          </a:xfrm>
          <a:prstGeom prst="rect">
            <a:avLst/>
          </a:prstGeom>
        </p:spPr>
      </p:pic>
      <p:pic>
        <p:nvPicPr>
          <p:cNvPr id="12" name="Graphic 11" descr="Right Pointing Backhand Index ">
            <a:extLst>
              <a:ext uri="{FF2B5EF4-FFF2-40B4-BE49-F238E27FC236}">
                <a16:creationId xmlns:a16="http://schemas.microsoft.com/office/drawing/2014/main" id="{1CC84E99-C0EF-48BD-965B-D0A66CCFBA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5119" y="5216120"/>
            <a:ext cx="642769" cy="642769"/>
          </a:xfrm>
          <a:prstGeom prst="rect">
            <a:avLst/>
          </a:prstGeom>
        </p:spPr>
      </p:pic>
    </p:spTree>
    <p:extLst>
      <p:ext uri="{BB962C8B-B14F-4D97-AF65-F5344CB8AC3E}">
        <p14:creationId xmlns:p14="http://schemas.microsoft.com/office/powerpoint/2010/main" val="3969131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33C8-8FCB-4ADB-A86A-4DF9B04CD494}"/>
              </a:ext>
            </a:extLst>
          </p:cNvPr>
          <p:cNvSpPr>
            <a:spLocks noGrp="1"/>
          </p:cNvSpPr>
          <p:nvPr>
            <p:ph type="title"/>
          </p:nvPr>
        </p:nvSpPr>
        <p:spPr/>
        <p:txBody>
          <a:bodyPr/>
          <a:lstStyle/>
          <a:p>
            <a:r>
              <a:rPr lang="en-US" dirty="0"/>
              <a:t>Meta Model at full page</a:t>
            </a:r>
          </a:p>
        </p:txBody>
      </p:sp>
      <p:sp>
        <p:nvSpPr>
          <p:cNvPr id="3" name="Date Placeholder 2">
            <a:extLst>
              <a:ext uri="{FF2B5EF4-FFF2-40B4-BE49-F238E27FC236}">
                <a16:creationId xmlns:a16="http://schemas.microsoft.com/office/drawing/2014/main" id="{91763EA6-7CCB-4E92-9E85-BE988234C790}"/>
              </a:ext>
            </a:extLst>
          </p:cNvPr>
          <p:cNvSpPr>
            <a:spLocks noGrp="1"/>
          </p:cNvSpPr>
          <p:nvPr>
            <p:ph type="dt" sz="half" idx="10"/>
          </p:nvPr>
        </p:nvSpPr>
        <p:spPr/>
        <p:txBody>
          <a:bodyPr/>
          <a:lstStyle/>
          <a:p>
            <a:fld id="{8EA413C3-36B4-4BD2-8AA6-11713394B0BE}" type="datetime4">
              <a:rPr lang="en-US" noProof="0" smtClean="0"/>
              <a:t>March 26, 2018</a:t>
            </a:fld>
            <a:endParaRPr lang="en-US" noProof="0" dirty="0"/>
          </a:p>
        </p:txBody>
      </p:sp>
      <p:sp>
        <p:nvSpPr>
          <p:cNvPr id="4" name="Footer Placeholder 3">
            <a:extLst>
              <a:ext uri="{FF2B5EF4-FFF2-40B4-BE49-F238E27FC236}">
                <a16:creationId xmlns:a16="http://schemas.microsoft.com/office/drawing/2014/main" id="{A54EC373-099C-4D24-A1D8-2D7ABC263FFE}"/>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5" name="Text Placeholder 4">
            <a:extLst>
              <a:ext uri="{FF2B5EF4-FFF2-40B4-BE49-F238E27FC236}">
                <a16:creationId xmlns:a16="http://schemas.microsoft.com/office/drawing/2014/main" id="{8B443709-D38F-4ACD-843F-E6EB4F7128E2}"/>
              </a:ext>
            </a:extLst>
          </p:cNvPr>
          <p:cNvSpPr>
            <a:spLocks noGrp="1"/>
          </p:cNvSpPr>
          <p:nvPr>
            <p:ph type="body" sz="quarter" idx="13"/>
          </p:nvPr>
        </p:nvSpPr>
        <p:spPr/>
        <p:txBody>
          <a:bodyPr/>
          <a:lstStyle/>
          <a:p>
            <a:r>
              <a:rPr lang="en-US" dirty="0"/>
              <a:t> </a:t>
            </a:r>
          </a:p>
        </p:txBody>
      </p:sp>
    </p:spTree>
    <p:extLst>
      <p:ext uri="{BB962C8B-B14F-4D97-AF65-F5344CB8AC3E}">
        <p14:creationId xmlns:p14="http://schemas.microsoft.com/office/powerpoint/2010/main" val="104585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E833C-D8B1-4A98-B878-82832809BF58}"/>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1A05F139-0A72-4873-B370-50676D0BE368}"/>
              </a:ext>
            </a:extLst>
          </p:cNvPr>
          <p:cNvSpPr>
            <a:spLocks noGrp="1"/>
          </p:cNvSpPr>
          <p:nvPr>
            <p:ph type="dt" sz="half" idx="10"/>
          </p:nvPr>
        </p:nvSpPr>
        <p:spPr/>
        <p:txBody>
          <a:bodyPr/>
          <a:lstStyle/>
          <a:p>
            <a:fld id="{4825B76F-0FA1-4D8C-AC45-C28250D1FD51}" type="datetime4">
              <a:rPr lang="en-US" noProof="0" smtClean="0"/>
              <a:t>March 26, 2018</a:t>
            </a:fld>
            <a:endParaRPr lang="en-US" noProof="0" dirty="0"/>
          </a:p>
        </p:txBody>
      </p:sp>
      <p:sp>
        <p:nvSpPr>
          <p:cNvPr id="4" name="Footer Placeholder 3">
            <a:extLst>
              <a:ext uri="{FF2B5EF4-FFF2-40B4-BE49-F238E27FC236}">
                <a16:creationId xmlns:a16="http://schemas.microsoft.com/office/drawing/2014/main" id="{D71C1099-15EA-446B-841E-B64473BAA9AA}"/>
              </a:ext>
            </a:extLst>
          </p:cNvPr>
          <p:cNvSpPr>
            <a:spLocks noGrp="1"/>
          </p:cNvSpPr>
          <p:nvPr>
            <p:ph type="ftr" sz="quarter" idx="11"/>
          </p:nvPr>
        </p:nvSpPr>
        <p:spPr/>
        <p:txBody>
          <a:bodyPr/>
          <a:lstStyle/>
          <a:p>
            <a:r>
              <a:rPr lang="en-US"/>
              <a:t>Proprietary and confidential information. © Mphasis 2017</a:t>
            </a:r>
            <a:endParaRPr lang="en-US" noProof="0" dirty="0"/>
          </a:p>
        </p:txBody>
      </p:sp>
      <p:sp>
        <p:nvSpPr>
          <p:cNvPr id="5" name="Slide Number Placeholder 4">
            <a:extLst>
              <a:ext uri="{FF2B5EF4-FFF2-40B4-BE49-F238E27FC236}">
                <a16:creationId xmlns:a16="http://schemas.microsoft.com/office/drawing/2014/main" id="{28837A80-8985-47F9-95C2-29301A31D62C}"/>
              </a:ext>
            </a:extLst>
          </p:cNvPr>
          <p:cNvSpPr>
            <a:spLocks noGrp="1"/>
          </p:cNvSpPr>
          <p:nvPr>
            <p:ph type="sldNum" sz="quarter" idx="12"/>
          </p:nvPr>
        </p:nvSpPr>
        <p:spPr/>
        <p:txBody>
          <a:bodyPr/>
          <a:lstStyle/>
          <a:p>
            <a:fld id="{11746383-54BD-4C05-B9FE-468110D17AC0}" type="slidenum">
              <a:rPr lang="en-US" noProof="0" smtClean="0"/>
              <a:t>9</a:t>
            </a:fld>
            <a:endParaRPr lang="en-US" noProof="0" dirty="0"/>
          </a:p>
        </p:txBody>
      </p:sp>
      <p:pic>
        <p:nvPicPr>
          <p:cNvPr id="7" name="Picture 6">
            <a:extLst>
              <a:ext uri="{FF2B5EF4-FFF2-40B4-BE49-F238E27FC236}">
                <a16:creationId xmlns:a16="http://schemas.microsoft.com/office/drawing/2014/main" id="{FEB902C2-EA22-4976-9005-00D330889509}"/>
              </a:ext>
            </a:extLst>
          </p:cNvPr>
          <p:cNvPicPr>
            <a:picLocks noChangeAspect="1"/>
          </p:cNvPicPr>
          <p:nvPr/>
        </p:nvPicPr>
        <p:blipFill>
          <a:blip r:embed="rId2"/>
          <a:stretch>
            <a:fillRect/>
          </a:stretch>
        </p:blipFill>
        <p:spPr>
          <a:xfrm>
            <a:off x="204397" y="0"/>
            <a:ext cx="11779624" cy="6875772"/>
          </a:xfrm>
          <a:prstGeom prst="rect">
            <a:avLst/>
          </a:prstGeom>
        </p:spPr>
      </p:pic>
    </p:spTree>
    <p:extLst>
      <p:ext uri="{BB962C8B-B14F-4D97-AF65-F5344CB8AC3E}">
        <p14:creationId xmlns:p14="http://schemas.microsoft.com/office/powerpoint/2010/main" val="233869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F1305-9139-49D2-9AF0-216F90A6E70B}" type="datetime4">
              <a:rPr lang="en-US" noProof="0" smtClean="0"/>
              <a:t>March 26, 2018</a:t>
            </a:fld>
            <a:endParaRPr lang="en-US" noProof="0" dirty="0"/>
          </a:p>
        </p:txBody>
      </p:sp>
      <p:sp>
        <p:nvSpPr>
          <p:cNvPr id="3" name="Footer Placeholder 2"/>
          <p:cNvSpPr>
            <a:spLocks noGrp="1"/>
          </p:cNvSpPr>
          <p:nvPr>
            <p:ph type="ftr" sz="quarter" idx="11"/>
          </p:nvPr>
        </p:nvSpPr>
        <p:spPr/>
        <p:txBody>
          <a:bodyPr/>
          <a:lstStyle/>
          <a:p>
            <a:r>
              <a:rPr lang="en-US"/>
              <a:t>Proprietary and confidential information. © Mphasis 2017</a:t>
            </a:r>
            <a:endParaRPr lang="en-US" noProof="0" dirty="0"/>
          </a:p>
        </p:txBody>
      </p:sp>
      <p:sp>
        <p:nvSpPr>
          <p:cNvPr id="4" name="Slide Number Placeholder 3"/>
          <p:cNvSpPr>
            <a:spLocks noGrp="1"/>
          </p:cNvSpPr>
          <p:nvPr>
            <p:ph type="sldNum" sz="quarter" idx="12"/>
          </p:nvPr>
        </p:nvSpPr>
        <p:spPr/>
        <p:txBody>
          <a:bodyPr/>
          <a:lstStyle/>
          <a:p>
            <a:fld id="{11746383-54BD-4C05-B9FE-468110D17AC0}" type="slidenum">
              <a:rPr lang="en-US" noProof="0" smtClean="0"/>
              <a:pPr/>
              <a:t>10</a:t>
            </a:fld>
            <a:endParaRPr lang="en-US" noProof="0" dirty="0"/>
          </a:p>
        </p:txBody>
      </p:sp>
      <p:sp>
        <p:nvSpPr>
          <p:cNvPr id="5" name="Text Placeholder 4"/>
          <p:cNvSpPr>
            <a:spLocks noGrp="1"/>
          </p:cNvSpPr>
          <p:nvPr>
            <p:ph type="body" sz="quarter" idx="13"/>
          </p:nvPr>
        </p:nvSpPr>
        <p:spPr/>
        <p:txBody>
          <a:bodyPr/>
          <a:lstStyle/>
          <a:p>
            <a:r>
              <a:rPr lang="en-US" dirty="0"/>
              <a:t>Bert Hooyman</a:t>
            </a:r>
          </a:p>
        </p:txBody>
      </p:sp>
      <p:sp>
        <p:nvSpPr>
          <p:cNvPr id="6" name="Text Placeholder 5"/>
          <p:cNvSpPr>
            <a:spLocks noGrp="1"/>
          </p:cNvSpPr>
          <p:nvPr>
            <p:ph type="body" sz="quarter" idx="14"/>
          </p:nvPr>
        </p:nvSpPr>
        <p:spPr/>
        <p:txBody>
          <a:bodyPr/>
          <a:lstStyle/>
          <a:p>
            <a:r>
              <a:rPr lang="en-US" dirty="0"/>
              <a:t>bert.hooyman@mphasis.com</a:t>
            </a:r>
          </a:p>
        </p:txBody>
      </p:sp>
    </p:spTree>
    <p:extLst>
      <p:ext uri="{BB962C8B-B14F-4D97-AF65-F5344CB8AC3E}">
        <p14:creationId xmlns:p14="http://schemas.microsoft.com/office/powerpoint/2010/main" val="835756945"/>
      </p:ext>
    </p:extLst>
  </p:cSld>
  <p:clrMapOvr>
    <a:masterClrMapping/>
  </p:clrMapOvr>
</p:sld>
</file>

<file path=ppt/theme/theme1.xml><?xml version="1.0" encoding="utf-8"?>
<a:theme xmlns:a="http://schemas.openxmlformats.org/drawingml/2006/main" name="Mphasis">
  <a:themeElements>
    <a:clrScheme name="Mphasis">
      <a:dk1>
        <a:sysClr val="windowText" lastClr="000000"/>
      </a:dk1>
      <a:lt1>
        <a:sysClr val="window" lastClr="FFFFFF"/>
      </a:lt1>
      <a:dk2>
        <a:srgbClr val="FFFFFF"/>
      </a:dk2>
      <a:lt2>
        <a:srgbClr val="1895D2"/>
      </a:lt2>
      <a:accent1>
        <a:srgbClr val="003366"/>
      </a:accent1>
      <a:accent2>
        <a:srgbClr val="42C4DD"/>
      </a:accent2>
      <a:accent3>
        <a:srgbClr val="9D122D"/>
      </a:accent3>
      <a:accent4>
        <a:srgbClr val="A82A7E"/>
      </a:accent4>
      <a:accent5>
        <a:srgbClr val="ED3237"/>
      </a:accent5>
      <a:accent6>
        <a:srgbClr val="C5DA43"/>
      </a:accent6>
      <a:hlink>
        <a:srgbClr val="1895D2"/>
      </a:hlink>
      <a:folHlink>
        <a:srgbClr val="00336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phasis plain.potx" id="{6FFAECD1-3610-4260-80A2-ACE213333737}" vid="{27E12AD7-3927-47BC-8C3E-744D5A751D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Mphasis plain</Template>
  <TotalTime>66</TotalTime>
  <Words>858</Words>
  <Application>Microsoft Office PowerPoint</Application>
  <PresentationFormat>Widescreen</PresentationFormat>
  <Paragraphs>249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ＭＳ Ｐゴシック</vt:lpstr>
      <vt:lpstr>Arial</vt:lpstr>
      <vt:lpstr>Calibri</vt:lpstr>
      <vt:lpstr>Tahoma</vt:lpstr>
      <vt:lpstr>Wingdings</vt:lpstr>
      <vt:lpstr>ヒラギノ角ゴ Pro W3</vt:lpstr>
      <vt:lpstr>Mphasis</vt:lpstr>
      <vt:lpstr>A revised top-level metamodel</vt:lpstr>
      <vt:lpstr>BIZBOK Meta Model </vt:lpstr>
      <vt:lpstr>What is new?</vt:lpstr>
      <vt:lpstr>What has changed?</vt:lpstr>
      <vt:lpstr>What has been left out?</vt:lpstr>
      <vt:lpstr>What remains as is?</vt:lpstr>
      <vt:lpstr>Concept definitions</vt:lpstr>
      <vt:lpstr>Meta Model at full page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revised top-level metamodel</dc:title>
  <dc:creator>Bert Hooyman</dc:creator>
  <cp:lastModifiedBy>Albertus Hooyman</cp:lastModifiedBy>
  <cp:revision>5</cp:revision>
  <dcterms:created xsi:type="dcterms:W3CDTF">2018-03-26T08:11:22Z</dcterms:created>
  <dcterms:modified xsi:type="dcterms:W3CDTF">2018-03-26T09:21:11Z</dcterms:modified>
</cp:coreProperties>
</file>
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diagrams/layout3.xml" ContentType="application/vnd.openxmlformats-officedocument.drawingml.diagramLayout+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diagrams/layout2.xml" ContentType="application/vnd.openxmlformats-officedocument.drawingml.diagramLayout+xml"/>
  <Override PartName="/ppt/notesSlides/notesSlide6.xml" ContentType="application/vnd.openxmlformats-officedocument.presentationml.notesSlide+xml"/>
  <Override PartName="/ppt/diagrams/data3.xml" ContentType="application/vnd.openxmlformats-officedocument.drawingml.diagramData+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0" r:id="rId1"/>
  </p:sldMasterIdLst>
  <p:notesMasterIdLst>
    <p:notesMasterId r:id="rId32"/>
  </p:notesMasterIdLst>
  <p:handoutMasterIdLst>
    <p:handoutMasterId r:id="rId33"/>
  </p:handoutMasterIdLst>
  <p:sldIdLst>
    <p:sldId id="256" r:id="rId2"/>
    <p:sldId id="393" r:id="rId3"/>
    <p:sldId id="411" r:id="rId4"/>
    <p:sldId id="412" r:id="rId5"/>
    <p:sldId id="333" r:id="rId6"/>
    <p:sldId id="388" r:id="rId7"/>
    <p:sldId id="387" r:id="rId8"/>
    <p:sldId id="418" r:id="rId9"/>
    <p:sldId id="419" r:id="rId10"/>
    <p:sldId id="420" r:id="rId11"/>
    <p:sldId id="421" r:id="rId12"/>
    <p:sldId id="422" r:id="rId13"/>
    <p:sldId id="423" r:id="rId14"/>
    <p:sldId id="424" r:id="rId15"/>
    <p:sldId id="425" r:id="rId16"/>
    <p:sldId id="426" r:id="rId17"/>
    <p:sldId id="427" r:id="rId18"/>
    <p:sldId id="428" r:id="rId19"/>
    <p:sldId id="429" r:id="rId20"/>
    <p:sldId id="430" r:id="rId21"/>
    <p:sldId id="431" r:id="rId22"/>
    <p:sldId id="432" r:id="rId23"/>
    <p:sldId id="433" r:id="rId24"/>
    <p:sldId id="436" r:id="rId25"/>
    <p:sldId id="437" r:id="rId26"/>
    <p:sldId id="438" r:id="rId27"/>
    <p:sldId id="439" r:id="rId28"/>
    <p:sldId id="440" r:id="rId29"/>
    <p:sldId id="441" r:id="rId30"/>
    <p:sldId id="442" r:id="rId31"/>
  </p:sldIdLst>
  <p:sldSz cx="9144000" cy="6858000" type="screen4x3"/>
  <p:notesSz cx="7010400" cy="9296400"/>
  <p:defaultTextStyle>
    <a:defPPr>
      <a:defRPr lang="en-GB"/>
    </a:defPPr>
    <a:lvl1pPr algn="ctr"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ctr"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ctr"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ctr"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ctr"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99FF"/>
    <a:srgbClr val="4DB2DF"/>
    <a:srgbClr val="94D1EC"/>
    <a:srgbClr val="FFFF99"/>
    <a:srgbClr val="FFFFCC"/>
    <a:srgbClr val="9966FF"/>
    <a:srgbClr val="FFFF00"/>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958" autoAdjust="0"/>
    <p:restoredTop sz="83257" autoAdjust="0"/>
  </p:normalViewPr>
  <p:slideViewPr>
    <p:cSldViewPr snapToGrid="0">
      <p:cViewPr varScale="1">
        <p:scale>
          <a:sx n="71" d="100"/>
          <a:sy n="71" d="100"/>
        </p:scale>
        <p:origin x="-1038" y="-90"/>
      </p:cViewPr>
      <p:guideLst>
        <p:guide orient="horz" pos="4174"/>
        <p:guide orient="horz" pos="144"/>
        <p:guide orient="horz" pos="1226"/>
        <p:guide pos="578"/>
        <p:guide pos="3026"/>
        <p:guide pos="5616"/>
        <p:guide pos="432"/>
        <p:guide pos="14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00" d="100"/>
          <a:sy n="100" d="100"/>
        </p:scale>
        <p:origin x="-756" y="2538"/>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8B2D90-8D49-4FFA-99C2-E06663FAB3E9}" type="doc">
      <dgm:prSet loTypeId="urn:microsoft.com/office/officeart/2005/8/layout/hierarchy4" loCatId="list" qsTypeId="urn:microsoft.com/office/officeart/2005/8/quickstyle/simple1" qsCatId="simple" csTypeId="urn:microsoft.com/office/officeart/2005/8/colors/accent1_2" csCatId="accent1" phldr="1"/>
      <dgm:spPr/>
      <dgm:t>
        <a:bodyPr/>
        <a:lstStyle/>
        <a:p>
          <a:endParaRPr lang="en-US"/>
        </a:p>
      </dgm:t>
    </dgm:pt>
    <dgm:pt modelId="{55293262-E61B-4EBE-B234-6D9DAE17CE57}">
      <dgm:prSet phldrT="[Text]"/>
      <dgm:spPr/>
      <dgm:t>
        <a:bodyPr/>
        <a:lstStyle/>
        <a:p>
          <a:r>
            <a:rPr lang="en-US" dirty="0" smtClean="0"/>
            <a:t>Federated </a:t>
          </a:r>
        </a:p>
        <a:p>
          <a:r>
            <a:rPr lang="en-US" dirty="0" smtClean="0"/>
            <a:t>Presentation Layer</a:t>
          </a:r>
          <a:endParaRPr lang="en-US" dirty="0"/>
        </a:p>
      </dgm:t>
    </dgm:pt>
    <dgm:pt modelId="{B9A6257F-E224-4DAB-8D1C-6D5B4D8C443F}" type="parTrans" cxnId="{D82B1DA9-5E3F-4FB5-BCE1-1AB5FFB58F0D}">
      <dgm:prSet/>
      <dgm:spPr/>
      <dgm:t>
        <a:bodyPr/>
        <a:lstStyle/>
        <a:p>
          <a:endParaRPr lang="en-US"/>
        </a:p>
      </dgm:t>
    </dgm:pt>
    <dgm:pt modelId="{A2BF52B8-A2C5-4D9C-8C52-ED3A76035CBF}" type="sibTrans" cxnId="{D82B1DA9-5E3F-4FB5-BCE1-1AB5FFB58F0D}">
      <dgm:prSet/>
      <dgm:spPr/>
      <dgm:t>
        <a:bodyPr/>
        <a:lstStyle/>
        <a:p>
          <a:endParaRPr lang="en-US"/>
        </a:p>
      </dgm:t>
    </dgm:pt>
    <dgm:pt modelId="{7AD22D5F-0BEE-46CA-ACD2-4B48F11D106A}">
      <dgm:prSet phldrT="[Text]"/>
      <dgm:spPr/>
      <dgm:t>
        <a:bodyPr/>
        <a:lstStyle/>
        <a:p>
          <a:r>
            <a:rPr lang="en-US" dirty="0" smtClean="0"/>
            <a:t>Federated Metadata</a:t>
          </a:r>
          <a:endParaRPr lang="en-US" dirty="0"/>
        </a:p>
      </dgm:t>
    </dgm:pt>
    <dgm:pt modelId="{BE7AF00D-5B8D-4EF8-8942-2DC1EE39199B}" type="parTrans" cxnId="{529DE0AB-1DA4-474D-84F4-35B4C76D535F}">
      <dgm:prSet/>
      <dgm:spPr/>
      <dgm:t>
        <a:bodyPr/>
        <a:lstStyle/>
        <a:p>
          <a:endParaRPr lang="en-US"/>
        </a:p>
      </dgm:t>
    </dgm:pt>
    <dgm:pt modelId="{0F700660-E649-45D3-91CD-DDD61B1C00BE}" type="sibTrans" cxnId="{529DE0AB-1DA4-474D-84F4-35B4C76D535F}">
      <dgm:prSet/>
      <dgm:spPr/>
      <dgm:t>
        <a:bodyPr/>
        <a:lstStyle/>
        <a:p>
          <a:endParaRPr lang="en-US"/>
        </a:p>
      </dgm:t>
    </dgm:pt>
    <dgm:pt modelId="{2640EE74-5F9C-4AD6-8D48-81D2C5297358}">
      <dgm:prSet phldrT="[Text]"/>
      <dgm:spPr/>
      <dgm:t>
        <a:bodyPr/>
        <a:lstStyle/>
        <a:p>
          <a:r>
            <a:rPr lang="en-US" dirty="0" smtClean="0"/>
            <a:t>Systems</a:t>
          </a:r>
          <a:endParaRPr lang="en-US" dirty="0"/>
        </a:p>
      </dgm:t>
    </dgm:pt>
    <dgm:pt modelId="{CDF104CD-A644-4C64-AD2C-ABB0634C7EB0}" type="parTrans" cxnId="{ACBC1733-9897-4F9C-A73B-8F723A303B06}">
      <dgm:prSet/>
      <dgm:spPr/>
      <dgm:t>
        <a:bodyPr/>
        <a:lstStyle/>
        <a:p>
          <a:endParaRPr lang="en-US"/>
        </a:p>
      </dgm:t>
    </dgm:pt>
    <dgm:pt modelId="{BE2AB18C-43BE-441C-87F3-29FBC7D0466D}" type="sibTrans" cxnId="{ACBC1733-9897-4F9C-A73B-8F723A303B06}">
      <dgm:prSet/>
      <dgm:spPr/>
      <dgm:t>
        <a:bodyPr/>
        <a:lstStyle/>
        <a:p>
          <a:endParaRPr lang="en-US"/>
        </a:p>
      </dgm:t>
    </dgm:pt>
    <dgm:pt modelId="{473904FA-F17E-46A6-91D9-4D1E7D916412}">
      <dgm:prSet phldrT="[Text]"/>
      <dgm:spPr/>
      <dgm:t>
        <a:bodyPr/>
        <a:lstStyle/>
        <a:p>
          <a:r>
            <a:rPr lang="en-US" dirty="0" smtClean="0"/>
            <a:t>Data Stores</a:t>
          </a:r>
          <a:endParaRPr lang="en-US" dirty="0"/>
        </a:p>
      </dgm:t>
    </dgm:pt>
    <dgm:pt modelId="{E48FA80B-24C0-4C8E-A3F1-26EA9B6065A0}" type="parTrans" cxnId="{9EF54AD3-BC2F-4E29-BFCC-8E0C4B2F5912}">
      <dgm:prSet/>
      <dgm:spPr/>
      <dgm:t>
        <a:bodyPr/>
        <a:lstStyle/>
        <a:p>
          <a:endParaRPr lang="en-US"/>
        </a:p>
      </dgm:t>
    </dgm:pt>
    <dgm:pt modelId="{D36962B6-2C3D-493E-ABD8-8326F7511BE4}" type="sibTrans" cxnId="{9EF54AD3-BC2F-4E29-BFCC-8E0C4B2F5912}">
      <dgm:prSet/>
      <dgm:spPr/>
      <dgm:t>
        <a:bodyPr/>
        <a:lstStyle/>
        <a:p>
          <a:endParaRPr lang="en-US"/>
        </a:p>
      </dgm:t>
    </dgm:pt>
    <dgm:pt modelId="{3418B16C-DC44-4655-BACA-79242B950355}">
      <dgm:prSet phldrT="[Text]"/>
      <dgm:spPr/>
      <dgm:t>
        <a:bodyPr/>
        <a:lstStyle/>
        <a:p>
          <a:r>
            <a:rPr lang="en-US" dirty="0" smtClean="0"/>
            <a:t>Search Engine</a:t>
          </a:r>
        </a:p>
        <a:p>
          <a:r>
            <a:rPr lang="en-US" dirty="0" smtClean="0"/>
            <a:t>(w/ SOA)</a:t>
          </a:r>
          <a:endParaRPr lang="en-US" dirty="0"/>
        </a:p>
      </dgm:t>
    </dgm:pt>
    <dgm:pt modelId="{C8B7D0AF-89E4-4319-92C2-DA4ACA034590}" type="parTrans" cxnId="{66BDB00E-A174-4017-A421-8A9FFD56DBA2}">
      <dgm:prSet/>
      <dgm:spPr/>
      <dgm:t>
        <a:bodyPr/>
        <a:lstStyle/>
        <a:p>
          <a:endParaRPr lang="en-US"/>
        </a:p>
      </dgm:t>
    </dgm:pt>
    <dgm:pt modelId="{1023E4EE-831C-4F68-82DC-FE82EC6F2F0F}" type="sibTrans" cxnId="{66BDB00E-A174-4017-A421-8A9FFD56DBA2}">
      <dgm:prSet/>
      <dgm:spPr/>
      <dgm:t>
        <a:bodyPr/>
        <a:lstStyle/>
        <a:p>
          <a:endParaRPr lang="en-US"/>
        </a:p>
      </dgm:t>
    </dgm:pt>
    <dgm:pt modelId="{AFD44FE7-8CF3-41E1-98AE-CDC70D6E9A35}">
      <dgm:prSet phldrT="[Text]"/>
      <dgm:spPr/>
      <dgm:t>
        <a:bodyPr/>
        <a:lstStyle/>
        <a:p>
          <a:r>
            <a:rPr lang="en-US" dirty="0" smtClean="0"/>
            <a:t>Object Stores</a:t>
          </a:r>
          <a:endParaRPr lang="en-US" dirty="0"/>
        </a:p>
      </dgm:t>
    </dgm:pt>
    <dgm:pt modelId="{92E9C991-3EA1-428C-A9E5-C6FEE6BDDAB1}" type="parTrans" cxnId="{D1EB22D1-5FB8-433D-92D2-FF3BF595D4C7}">
      <dgm:prSet/>
      <dgm:spPr/>
      <dgm:t>
        <a:bodyPr/>
        <a:lstStyle/>
        <a:p>
          <a:endParaRPr lang="en-US"/>
        </a:p>
      </dgm:t>
    </dgm:pt>
    <dgm:pt modelId="{E9580006-BBF8-406D-8256-DED3B3D98F46}" type="sibTrans" cxnId="{D1EB22D1-5FB8-433D-92D2-FF3BF595D4C7}">
      <dgm:prSet/>
      <dgm:spPr/>
      <dgm:t>
        <a:bodyPr/>
        <a:lstStyle/>
        <a:p>
          <a:endParaRPr lang="en-US"/>
        </a:p>
      </dgm:t>
    </dgm:pt>
    <dgm:pt modelId="{67083069-9A35-4C08-BAD2-0A95B1B2F34B}">
      <dgm:prSet phldrT="[Text]"/>
      <dgm:spPr/>
      <dgm:t>
        <a:bodyPr/>
        <a:lstStyle/>
        <a:p>
          <a:r>
            <a:rPr lang="en-US" dirty="0" smtClean="0"/>
            <a:t>Orchestrated</a:t>
          </a:r>
        </a:p>
        <a:p>
          <a:r>
            <a:rPr lang="en-US" dirty="0" smtClean="0"/>
            <a:t>Service Layer</a:t>
          </a:r>
          <a:endParaRPr lang="en-US" dirty="0"/>
        </a:p>
      </dgm:t>
    </dgm:pt>
    <dgm:pt modelId="{9B84DB79-4659-4892-AF3A-B8919D3B417D}" type="parTrans" cxnId="{3A54B620-7124-4E74-ADF7-695901D9BE5C}">
      <dgm:prSet/>
      <dgm:spPr/>
      <dgm:t>
        <a:bodyPr/>
        <a:lstStyle/>
        <a:p>
          <a:endParaRPr lang="en-US"/>
        </a:p>
      </dgm:t>
    </dgm:pt>
    <dgm:pt modelId="{B04B73A4-2BF2-472B-B850-7FFDDBB7C89A}" type="sibTrans" cxnId="{3A54B620-7124-4E74-ADF7-695901D9BE5C}">
      <dgm:prSet/>
      <dgm:spPr/>
      <dgm:t>
        <a:bodyPr/>
        <a:lstStyle/>
        <a:p>
          <a:endParaRPr lang="en-US"/>
        </a:p>
      </dgm:t>
    </dgm:pt>
    <dgm:pt modelId="{67C0C8ED-32F3-499A-9329-94EFBB5BA4DC}" type="pres">
      <dgm:prSet presAssocID="{348B2D90-8D49-4FFA-99C2-E06663FAB3E9}" presName="Name0" presStyleCnt="0">
        <dgm:presLayoutVars>
          <dgm:chPref val="1"/>
          <dgm:dir/>
          <dgm:animOne val="branch"/>
          <dgm:animLvl val="lvl"/>
          <dgm:resizeHandles/>
        </dgm:presLayoutVars>
      </dgm:prSet>
      <dgm:spPr/>
      <dgm:t>
        <a:bodyPr/>
        <a:lstStyle/>
        <a:p>
          <a:endParaRPr lang="en-US"/>
        </a:p>
      </dgm:t>
    </dgm:pt>
    <dgm:pt modelId="{5472A4E4-FAA2-4A18-BD83-C467F120BB83}" type="pres">
      <dgm:prSet presAssocID="{55293262-E61B-4EBE-B234-6D9DAE17CE57}" presName="vertOne" presStyleCnt="0"/>
      <dgm:spPr/>
    </dgm:pt>
    <dgm:pt modelId="{7F3F0CE2-E394-4F9A-8F12-91E8DC46994C}" type="pres">
      <dgm:prSet presAssocID="{55293262-E61B-4EBE-B234-6D9DAE17CE57}" presName="txOne" presStyleLbl="node0" presStyleIdx="0" presStyleCnt="2">
        <dgm:presLayoutVars>
          <dgm:chPref val="3"/>
        </dgm:presLayoutVars>
      </dgm:prSet>
      <dgm:spPr/>
      <dgm:t>
        <a:bodyPr/>
        <a:lstStyle/>
        <a:p>
          <a:endParaRPr lang="en-US"/>
        </a:p>
      </dgm:t>
    </dgm:pt>
    <dgm:pt modelId="{3775B5FA-B627-4E4E-BAE9-6E104B8C071C}" type="pres">
      <dgm:prSet presAssocID="{55293262-E61B-4EBE-B234-6D9DAE17CE57}" presName="parTransOne" presStyleCnt="0"/>
      <dgm:spPr/>
    </dgm:pt>
    <dgm:pt modelId="{AE5FF256-4D5B-4F0B-926A-34B0B31C23FC}" type="pres">
      <dgm:prSet presAssocID="{55293262-E61B-4EBE-B234-6D9DAE17CE57}" presName="horzOne" presStyleCnt="0"/>
      <dgm:spPr/>
    </dgm:pt>
    <dgm:pt modelId="{AFF0D46D-0094-4BEE-9692-9606CA38CA1C}" type="pres">
      <dgm:prSet presAssocID="{7AD22D5F-0BEE-46CA-ACD2-4B48F11D106A}" presName="vertTwo" presStyleCnt="0"/>
      <dgm:spPr/>
    </dgm:pt>
    <dgm:pt modelId="{133F4BC1-62DB-44F9-9884-9BE422D11537}" type="pres">
      <dgm:prSet presAssocID="{7AD22D5F-0BEE-46CA-ACD2-4B48F11D106A}" presName="txTwo" presStyleLbl="node2" presStyleIdx="0" presStyleCnt="2">
        <dgm:presLayoutVars>
          <dgm:chPref val="3"/>
        </dgm:presLayoutVars>
      </dgm:prSet>
      <dgm:spPr/>
      <dgm:t>
        <a:bodyPr/>
        <a:lstStyle/>
        <a:p>
          <a:endParaRPr lang="en-US"/>
        </a:p>
      </dgm:t>
    </dgm:pt>
    <dgm:pt modelId="{BC6C299D-819B-4E81-9095-44F8F7244C70}" type="pres">
      <dgm:prSet presAssocID="{7AD22D5F-0BEE-46CA-ACD2-4B48F11D106A}" presName="parTransTwo" presStyleCnt="0"/>
      <dgm:spPr/>
    </dgm:pt>
    <dgm:pt modelId="{02BBD856-7CBC-4F5A-A109-1EC8ADF55825}" type="pres">
      <dgm:prSet presAssocID="{7AD22D5F-0BEE-46CA-ACD2-4B48F11D106A}" presName="horzTwo" presStyleCnt="0"/>
      <dgm:spPr/>
    </dgm:pt>
    <dgm:pt modelId="{D82142F0-1430-4C25-B2DF-855E286E02C4}" type="pres">
      <dgm:prSet presAssocID="{2640EE74-5F9C-4AD6-8D48-81D2C5297358}" presName="vertThree" presStyleCnt="0"/>
      <dgm:spPr/>
    </dgm:pt>
    <dgm:pt modelId="{761F5031-4A29-420C-A76E-82B4A29DAB8F}" type="pres">
      <dgm:prSet presAssocID="{2640EE74-5F9C-4AD6-8D48-81D2C5297358}" presName="txThree" presStyleLbl="node3" presStyleIdx="0" presStyleCnt="3">
        <dgm:presLayoutVars>
          <dgm:chPref val="3"/>
        </dgm:presLayoutVars>
      </dgm:prSet>
      <dgm:spPr/>
      <dgm:t>
        <a:bodyPr/>
        <a:lstStyle/>
        <a:p>
          <a:endParaRPr lang="en-US"/>
        </a:p>
      </dgm:t>
    </dgm:pt>
    <dgm:pt modelId="{FBADDC37-1306-4CE8-80E5-17F8735D54F5}" type="pres">
      <dgm:prSet presAssocID="{2640EE74-5F9C-4AD6-8D48-81D2C5297358}" presName="horzThree" presStyleCnt="0"/>
      <dgm:spPr/>
    </dgm:pt>
    <dgm:pt modelId="{B170B55F-882B-4375-B829-C3A526F25A2F}" type="pres">
      <dgm:prSet presAssocID="{BE2AB18C-43BE-441C-87F3-29FBC7D0466D}" presName="sibSpaceThree" presStyleCnt="0"/>
      <dgm:spPr/>
    </dgm:pt>
    <dgm:pt modelId="{2BC70093-ED8A-4F38-9D04-03CC2E5450C3}" type="pres">
      <dgm:prSet presAssocID="{473904FA-F17E-46A6-91D9-4D1E7D916412}" presName="vertThree" presStyleCnt="0"/>
      <dgm:spPr/>
    </dgm:pt>
    <dgm:pt modelId="{464107CE-118F-47C8-AC43-20EF68EF9A02}" type="pres">
      <dgm:prSet presAssocID="{473904FA-F17E-46A6-91D9-4D1E7D916412}" presName="txThree" presStyleLbl="node3" presStyleIdx="1" presStyleCnt="3">
        <dgm:presLayoutVars>
          <dgm:chPref val="3"/>
        </dgm:presLayoutVars>
      </dgm:prSet>
      <dgm:spPr/>
      <dgm:t>
        <a:bodyPr/>
        <a:lstStyle/>
        <a:p>
          <a:endParaRPr lang="en-US"/>
        </a:p>
      </dgm:t>
    </dgm:pt>
    <dgm:pt modelId="{26EFFE33-C620-4EEF-8393-1A1E6FA822BE}" type="pres">
      <dgm:prSet presAssocID="{473904FA-F17E-46A6-91D9-4D1E7D916412}" presName="horzThree" presStyleCnt="0"/>
      <dgm:spPr/>
    </dgm:pt>
    <dgm:pt modelId="{C78422D6-46CC-43BE-8B7C-BEDEA592B859}" type="pres">
      <dgm:prSet presAssocID="{0F700660-E649-45D3-91CD-DDD61B1C00BE}" presName="sibSpaceTwo" presStyleCnt="0"/>
      <dgm:spPr/>
    </dgm:pt>
    <dgm:pt modelId="{76C65513-8391-43ED-AA12-B77E82F978DF}" type="pres">
      <dgm:prSet presAssocID="{3418B16C-DC44-4655-BACA-79242B950355}" presName="vertTwo" presStyleCnt="0"/>
      <dgm:spPr/>
    </dgm:pt>
    <dgm:pt modelId="{C7EBF4D0-EADA-41A9-B9ED-BDF89C5B8F06}" type="pres">
      <dgm:prSet presAssocID="{3418B16C-DC44-4655-BACA-79242B950355}" presName="txTwo" presStyleLbl="node2" presStyleIdx="1" presStyleCnt="2">
        <dgm:presLayoutVars>
          <dgm:chPref val="3"/>
        </dgm:presLayoutVars>
      </dgm:prSet>
      <dgm:spPr/>
      <dgm:t>
        <a:bodyPr/>
        <a:lstStyle/>
        <a:p>
          <a:endParaRPr lang="en-US"/>
        </a:p>
      </dgm:t>
    </dgm:pt>
    <dgm:pt modelId="{012DCD8F-AC34-40B7-8392-2226568380E6}" type="pres">
      <dgm:prSet presAssocID="{3418B16C-DC44-4655-BACA-79242B950355}" presName="parTransTwo" presStyleCnt="0"/>
      <dgm:spPr/>
    </dgm:pt>
    <dgm:pt modelId="{663A2D7C-C372-4504-896E-D2E77F5EBE88}" type="pres">
      <dgm:prSet presAssocID="{3418B16C-DC44-4655-BACA-79242B950355}" presName="horzTwo" presStyleCnt="0"/>
      <dgm:spPr/>
    </dgm:pt>
    <dgm:pt modelId="{E826F473-4E33-4C16-865D-ECBBE1B63110}" type="pres">
      <dgm:prSet presAssocID="{AFD44FE7-8CF3-41E1-98AE-CDC70D6E9A35}" presName="vertThree" presStyleCnt="0"/>
      <dgm:spPr/>
    </dgm:pt>
    <dgm:pt modelId="{7F61E53A-2239-4A6A-B81B-5A6F4B6D154A}" type="pres">
      <dgm:prSet presAssocID="{AFD44FE7-8CF3-41E1-98AE-CDC70D6E9A35}" presName="txThree" presStyleLbl="node3" presStyleIdx="2" presStyleCnt="3">
        <dgm:presLayoutVars>
          <dgm:chPref val="3"/>
        </dgm:presLayoutVars>
      </dgm:prSet>
      <dgm:spPr/>
      <dgm:t>
        <a:bodyPr/>
        <a:lstStyle/>
        <a:p>
          <a:endParaRPr lang="en-US"/>
        </a:p>
      </dgm:t>
    </dgm:pt>
    <dgm:pt modelId="{ABB5F71A-516A-4FFB-AC50-429F32B666B6}" type="pres">
      <dgm:prSet presAssocID="{AFD44FE7-8CF3-41E1-98AE-CDC70D6E9A35}" presName="horzThree" presStyleCnt="0"/>
      <dgm:spPr/>
    </dgm:pt>
    <dgm:pt modelId="{C9B6F65D-AEF0-4F36-B2A2-A753E201B26E}" type="pres">
      <dgm:prSet presAssocID="{A2BF52B8-A2C5-4D9C-8C52-ED3A76035CBF}" presName="sibSpaceOne" presStyleCnt="0"/>
      <dgm:spPr/>
    </dgm:pt>
    <dgm:pt modelId="{820174B0-61E3-4D00-99F3-3764BB57DA9D}" type="pres">
      <dgm:prSet presAssocID="{67083069-9A35-4C08-BAD2-0A95B1B2F34B}" presName="vertOne" presStyleCnt="0"/>
      <dgm:spPr/>
    </dgm:pt>
    <dgm:pt modelId="{A868CE3B-E823-4C86-A030-61125E230F0B}" type="pres">
      <dgm:prSet presAssocID="{67083069-9A35-4C08-BAD2-0A95B1B2F34B}" presName="txOne" presStyleLbl="node0" presStyleIdx="1" presStyleCnt="2" custScaleY="317028">
        <dgm:presLayoutVars>
          <dgm:chPref val="3"/>
        </dgm:presLayoutVars>
      </dgm:prSet>
      <dgm:spPr/>
      <dgm:t>
        <a:bodyPr/>
        <a:lstStyle/>
        <a:p>
          <a:endParaRPr lang="en-US"/>
        </a:p>
      </dgm:t>
    </dgm:pt>
    <dgm:pt modelId="{C1850F0F-0D63-4D82-9178-41202E4DC7D3}" type="pres">
      <dgm:prSet presAssocID="{67083069-9A35-4C08-BAD2-0A95B1B2F34B}" presName="horzOne" presStyleCnt="0"/>
      <dgm:spPr/>
    </dgm:pt>
  </dgm:ptLst>
  <dgm:cxnLst>
    <dgm:cxn modelId="{3A54B620-7124-4E74-ADF7-695901D9BE5C}" srcId="{348B2D90-8D49-4FFA-99C2-E06663FAB3E9}" destId="{67083069-9A35-4C08-BAD2-0A95B1B2F34B}" srcOrd="1" destOrd="0" parTransId="{9B84DB79-4659-4892-AF3A-B8919D3B417D}" sibTransId="{B04B73A4-2BF2-472B-B850-7FFDDBB7C89A}"/>
    <dgm:cxn modelId="{D437C0CB-EABA-4F62-B353-10E171AF0081}" type="presOf" srcId="{473904FA-F17E-46A6-91D9-4D1E7D916412}" destId="{464107CE-118F-47C8-AC43-20EF68EF9A02}" srcOrd="0" destOrd="0" presId="urn:microsoft.com/office/officeart/2005/8/layout/hierarchy4"/>
    <dgm:cxn modelId="{D8960D2B-7000-4E04-AC62-58B2AEDC3E90}" type="presOf" srcId="{3418B16C-DC44-4655-BACA-79242B950355}" destId="{C7EBF4D0-EADA-41A9-B9ED-BDF89C5B8F06}" srcOrd="0" destOrd="0" presId="urn:microsoft.com/office/officeart/2005/8/layout/hierarchy4"/>
    <dgm:cxn modelId="{99A9D00B-7C2C-4F68-943D-EF00225A0F43}" type="presOf" srcId="{7AD22D5F-0BEE-46CA-ACD2-4B48F11D106A}" destId="{133F4BC1-62DB-44F9-9884-9BE422D11537}" srcOrd="0" destOrd="0" presId="urn:microsoft.com/office/officeart/2005/8/layout/hierarchy4"/>
    <dgm:cxn modelId="{70F47A47-2F25-430C-AFE8-401C38C003A1}" type="presOf" srcId="{67083069-9A35-4C08-BAD2-0A95B1B2F34B}" destId="{A868CE3B-E823-4C86-A030-61125E230F0B}" srcOrd="0" destOrd="0" presId="urn:microsoft.com/office/officeart/2005/8/layout/hierarchy4"/>
    <dgm:cxn modelId="{D1EB22D1-5FB8-433D-92D2-FF3BF595D4C7}" srcId="{3418B16C-DC44-4655-BACA-79242B950355}" destId="{AFD44FE7-8CF3-41E1-98AE-CDC70D6E9A35}" srcOrd="0" destOrd="0" parTransId="{92E9C991-3EA1-428C-A9E5-C6FEE6BDDAB1}" sibTransId="{E9580006-BBF8-406D-8256-DED3B3D98F46}"/>
    <dgm:cxn modelId="{ACBC1733-9897-4F9C-A73B-8F723A303B06}" srcId="{7AD22D5F-0BEE-46CA-ACD2-4B48F11D106A}" destId="{2640EE74-5F9C-4AD6-8D48-81D2C5297358}" srcOrd="0" destOrd="0" parTransId="{CDF104CD-A644-4C64-AD2C-ABB0634C7EB0}" sibTransId="{BE2AB18C-43BE-441C-87F3-29FBC7D0466D}"/>
    <dgm:cxn modelId="{63FF3357-9D54-4323-9C95-67518DDC3CE2}" type="presOf" srcId="{AFD44FE7-8CF3-41E1-98AE-CDC70D6E9A35}" destId="{7F61E53A-2239-4A6A-B81B-5A6F4B6D154A}" srcOrd="0" destOrd="0" presId="urn:microsoft.com/office/officeart/2005/8/layout/hierarchy4"/>
    <dgm:cxn modelId="{AF294E05-4D1A-4BB2-A794-0E88AE5C8E58}" type="presOf" srcId="{2640EE74-5F9C-4AD6-8D48-81D2C5297358}" destId="{761F5031-4A29-420C-A76E-82B4A29DAB8F}" srcOrd="0" destOrd="0" presId="urn:microsoft.com/office/officeart/2005/8/layout/hierarchy4"/>
    <dgm:cxn modelId="{D82B1DA9-5E3F-4FB5-BCE1-1AB5FFB58F0D}" srcId="{348B2D90-8D49-4FFA-99C2-E06663FAB3E9}" destId="{55293262-E61B-4EBE-B234-6D9DAE17CE57}" srcOrd="0" destOrd="0" parTransId="{B9A6257F-E224-4DAB-8D1C-6D5B4D8C443F}" sibTransId="{A2BF52B8-A2C5-4D9C-8C52-ED3A76035CBF}"/>
    <dgm:cxn modelId="{9EF54AD3-BC2F-4E29-BFCC-8E0C4B2F5912}" srcId="{7AD22D5F-0BEE-46CA-ACD2-4B48F11D106A}" destId="{473904FA-F17E-46A6-91D9-4D1E7D916412}" srcOrd="1" destOrd="0" parTransId="{E48FA80B-24C0-4C8E-A3F1-26EA9B6065A0}" sibTransId="{D36962B6-2C3D-493E-ABD8-8326F7511BE4}"/>
    <dgm:cxn modelId="{EBA3E905-9C4E-4490-9A0A-68A9FF637376}" type="presOf" srcId="{55293262-E61B-4EBE-B234-6D9DAE17CE57}" destId="{7F3F0CE2-E394-4F9A-8F12-91E8DC46994C}" srcOrd="0" destOrd="0" presId="urn:microsoft.com/office/officeart/2005/8/layout/hierarchy4"/>
    <dgm:cxn modelId="{66BDB00E-A174-4017-A421-8A9FFD56DBA2}" srcId="{55293262-E61B-4EBE-B234-6D9DAE17CE57}" destId="{3418B16C-DC44-4655-BACA-79242B950355}" srcOrd="1" destOrd="0" parTransId="{C8B7D0AF-89E4-4319-92C2-DA4ACA034590}" sibTransId="{1023E4EE-831C-4F68-82DC-FE82EC6F2F0F}"/>
    <dgm:cxn modelId="{BBB4FDA6-0F86-407C-8EB9-E96A6AEA2BA1}" type="presOf" srcId="{348B2D90-8D49-4FFA-99C2-E06663FAB3E9}" destId="{67C0C8ED-32F3-499A-9329-94EFBB5BA4DC}" srcOrd="0" destOrd="0" presId="urn:microsoft.com/office/officeart/2005/8/layout/hierarchy4"/>
    <dgm:cxn modelId="{529DE0AB-1DA4-474D-84F4-35B4C76D535F}" srcId="{55293262-E61B-4EBE-B234-6D9DAE17CE57}" destId="{7AD22D5F-0BEE-46CA-ACD2-4B48F11D106A}" srcOrd="0" destOrd="0" parTransId="{BE7AF00D-5B8D-4EF8-8942-2DC1EE39199B}" sibTransId="{0F700660-E649-45D3-91CD-DDD61B1C00BE}"/>
    <dgm:cxn modelId="{C889376C-1988-42F1-820F-A142B469371F}" type="presParOf" srcId="{67C0C8ED-32F3-499A-9329-94EFBB5BA4DC}" destId="{5472A4E4-FAA2-4A18-BD83-C467F120BB83}" srcOrd="0" destOrd="0" presId="urn:microsoft.com/office/officeart/2005/8/layout/hierarchy4"/>
    <dgm:cxn modelId="{7F9620D0-CF1F-4E2E-AD30-8D09E83CF878}" type="presParOf" srcId="{5472A4E4-FAA2-4A18-BD83-C467F120BB83}" destId="{7F3F0CE2-E394-4F9A-8F12-91E8DC46994C}" srcOrd="0" destOrd="0" presId="urn:microsoft.com/office/officeart/2005/8/layout/hierarchy4"/>
    <dgm:cxn modelId="{CAA55C46-8B28-4A19-8D4F-86B81F77AC8E}" type="presParOf" srcId="{5472A4E4-FAA2-4A18-BD83-C467F120BB83}" destId="{3775B5FA-B627-4E4E-BAE9-6E104B8C071C}" srcOrd="1" destOrd="0" presId="urn:microsoft.com/office/officeart/2005/8/layout/hierarchy4"/>
    <dgm:cxn modelId="{AB6F1EAB-F868-45BF-B90B-423EC4625ACA}" type="presParOf" srcId="{5472A4E4-FAA2-4A18-BD83-C467F120BB83}" destId="{AE5FF256-4D5B-4F0B-926A-34B0B31C23FC}" srcOrd="2" destOrd="0" presId="urn:microsoft.com/office/officeart/2005/8/layout/hierarchy4"/>
    <dgm:cxn modelId="{9BF4B51C-F69D-4A90-A8E2-C29B0EA2BFC9}" type="presParOf" srcId="{AE5FF256-4D5B-4F0B-926A-34B0B31C23FC}" destId="{AFF0D46D-0094-4BEE-9692-9606CA38CA1C}" srcOrd="0" destOrd="0" presId="urn:microsoft.com/office/officeart/2005/8/layout/hierarchy4"/>
    <dgm:cxn modelId="{618AE184-8878-4C39-B2BA-D83A664D2F61}" type="presParOf" srcId="{AFF0D46D-0094-4BEE-9692-9606CA38CA1C}" destId="{133F4BC1-62DB-44F9-9884-9BE422D11537}" srcOrd="0" destOrd="0" presId="urn:microsoft.com/office/officeart/2005/8/layout/hierarchy4"/>
    <dgm:cxn modelId="{0AC5FFD5-224F-4FEF-BDC3-016963F885AD}" type="presParOf" srcId="{AFF0D46D-0094-4BEE-9692-9606CA38CA1C}" destId="{BC6C299D-819B-4E81-9095-44F8F7244C70}" srcOrd="1" destOrd="0" presId="urn:microsoft.com/office/officeart/2005/8/layout/hierarchy4"/>
    <dgm:cxn modelId="{687343D5-FE09-48E7-8263-D791B28738A8}" type="presParOf" srcId="{AFF0D46D-0094-4BEE-9692-9606CA38CA1C}" destId="{02BBD856-7CBC-4F5A-A109-1EC8ADF55825}" srcOrd="2" destOrd="0" presId="urn:microsoft.com/office/officeart/2005/8/layout/hierarchy4"/>
    <dgm:cxn modelId="{D5F0FDFA-D302-4569-8BB6-F82CDBAD23C7}" type="presParOf" srcId="{02BBD856-7CBC-4F5A-A109-1EC8ADF55825}" destId="{D82142F0-1430-4C25-B2DF-855E286E02C4}" srcOrd="0" destOrd="0" presId="urn:microsoft.com/office/officeart/2005/8/layout/hierarchy4"/>
    <dgm:cxn modelId="{BC7EFB2F-83AB-4FF3-B725-130519694ECF}" type="presParOf" srcId="{D82142F0-1430-4C25-B2DF-855E286E02C4}" destId="{761F5031-4A29-420C-A76E-82B4A29DAB8F}" srcOrd="0" destOrd="0" presId="urn:microsoft.com/office/officeart/2005/8/layout/hierarchy4"/>
    <dgm:cxn modelId="{3BBA8269-2D5A-4E9E-9D98-D81792185B36}" type="presParOf" srcId="{D82142F0-1430-4C25-B2DF-855E286E02C4}" destId="{FBADDC37-1306-4CE8-80E5-17F8735D54F5}" srcOrd="1" destOrd="0" presId="urn:microsoft.com/office/officeart/2005/8/layout/hierarchy4"/>
    <dgm:cxn modelId="{EFBBBCF6-3F37-4366-82F8-A5D3FA4877D8}" type="presParOf" srcId="{02BBD856-7CBC-4F5A-A109-1EC8ADF55825}" destId="{B170B55F-882B-4375-B829-C3A526F25A2F}" srcOrd="1" destOrd="0" presId="urn:microsoft.com/office/officeart/2005/8/layout/hierarchy4"/>
    <dgm:cxn modelId="{99BF1B01-F3C6-4561-A4C6-F10080392F44}" type="presParOf" srcId="{02BBD856-7CBC-4F5A-A109-1EC8ADF55825}" destId="{2BC70093-ED8A-4F38-9D04-03CC2E5450C3}" srcOrd="2" destOrd="0" presId="urn:microsoft.com/office/officeart/2005/8/layout/hierarchy4"/>
    <dgm:cxn modelId="{0548833F-532C-4250-BC82-921CB6060726}" type="presParOf" srcId="{2BC70093-ED8A-4F38-9D04-03CC2E5450C3}" destId="{464107CE-118F-47C8-AC43-20EF68EF9A02}" srcOrd="0" destOrd="0" presId="urn:microsoft.com/office/officeart/2005/8/layout/hierarchy4"/>
    <dgm:cxn modelId="{E3BF8666-AD54-484D-8C10-7CDE0D573A14}" type="presParOf" srcId="{2BC70093-ED8A-4F38-9D04-03CC2E5450C3}" destId="{26EFFE33-C620-4EEF-8393-1A1E6FA822BE}" srcOrd="1" destOrd="0" presId="urn:microsoft.com/office/officeart/2005/8/layout/hierarchy4"/>
    <dgm:cxn modelId="{871E8A19-FBCA-4D48-86FC-2EBCFB2F0A62}" type="presParOf" srcId="{AE5FF256-4D5B-4F0B-926A-34B0B31C23FC}" destId="{C78422D6-46CC-43BE-8B7C-BEDEA592B859}" srcOrd="1" destOrd="0" presId="urn:microsoft.com/office/officeart/2005/8/layout/hierarchy4"/>
    <dgm:cxn modelId="{5D923BE7-8C99-48F7-AB9B-27299FEBA8E6}" type="presParOf" srcId="{AE5FF256-4D5B-4F0B-926A-34B0B31C23FC}" destId="{76C65513-8391-43ED-AA12-B77E82F978DF}" srcOrd="2" destOrd="0" presId="urn:microsoft.com/office/officeart/2005/8/layout/hierarchy4"/>
    <dgm:cxn modelId="{FE5AF41C-353B-4F58-90F4-5EF8196DE234}" type="presParOf" srcId="{76C65513-8391-43ED-AA12-B77E82F978DF}" destId="{C7EBF4D0-EADA-41A9-B9ED-BDF89C5B8F06}" srcOrd="0" destOrd="0" presId="urn:microsoft.com/office/officeart/2005/8/layout/hierarchy4"/>
    <dgm:cxn modelId="{28728BCE-C3F0-4F68-8821-F654F92BC175}" type="presParOf" srcId="{76C65513-8391-43ED-AA12-B77E82F978DF}" destId="{012DCD8F-AC34-40B7-8392-2226568380E6}" srcOrd="1" destOrd="0" presId="urn:microsoft.com/office/officeart/2005/8/layout/hierarchy4"/>
    <dgm:cxn modelId="{9ED36ED7-D443-4B30-94B8-15D88C8DD54E}" type="presParOf" srcId="{76C65513-8391-43ED-AA12-B77E82F978DF}" destId="{663A2D7C-C372-4504-896E-D2E77F5EBE88}" srcOrd="2" destOrd="0" presId="urn:microsoft.com/office/officeart/2005/8/layout/hierarchy4"/>
    <dgm:cxn modelId="{3942B9B6-7A95-4D53-A61A-99FA61699482}" type="presParOf" srcId="{663A2D7C-C372-4504-896E-D2E77F5EBE88}" destId="{E826F473-4E33-4C16-865D-ECBBE1B63110}" srcOrd="0" destOrd="0" presId="urn:microsoft.com/office/officeart/2005/8/layout/hierarchy4"/>
    <dgm:cxn modelId="{76F47228-DB1F-4FE8-8335-B66EFA863796}" type="presParOf" srcId="{E826F473-4E33-4C16-865D-ECBBE1B63110}" destId="{7F61E53A-2239-4A6A-B81B-5A6F4B6D154A}" srcOrd="0" destOrd="0" presId="urn:microsoft.com/office/officeart/2005/8/layout/hierarchy4"/>
    <dgm:cxn modelId="{0D2107E9-23B8-47C9-9535-A0EC43EBC2EA}" type="presParOf" srcId="{E826F473-4E33-4C16-865D-ECBBE1B63110}" destId="{ABB5F71A-516A-4FFB-AC50-429F32B666B6}" srcOrd="1" destOrd="0" presId="urn:microsoft.com/office/officeart/2005/8/layout/hierarchy4"/>
    <dgm:cxn modelId="{42322B61-FA36-4674-88FF-EA392F3F3ACC}" type="presParOf" srcId="{67C0C8ED-32F3-499A-9329-94EFBB5BA4DC}" destId="{C9B6F65D-AEF0-4F36-B2A2-A753E201B26E}" srcOrd="1" destOrd="0" presId="urn:microsoft.com/office/officeart/2005/8/layout/hierarchy4"/>
    <dgm:cxn modelId="{5DF067A2-0DD6-40E2-B39E-D8F16E75059C}" type="presParOf" srcId="{67C0C8ED-32F3-499A-9329-94EFBB5BA4DC}" destId="{820174B0-61E3-4D00-99F3-3764BB57DA9D}" srcOrd="2" destOrd="0" presId="urn:microsoft.com/office/officeart/2005/8/layout/hierarchy4"/>
    <dgm:cxn modelId="{43AA5048-331B-4B71-9B7F-571DF0201AB3}" type="presParOf" srcId="{820174B0-61E3-4D00-99F3-3764BB57DA9D}" destId="{A868CE3B-E823-4C86-A030-61125E230F0B}" srcOrd="0" destOrd="0" presId="urn:microsoft.com/office/officeart/2005/8/layout/hierarchy4"/>
    <dgm:cxn modelId="{438ACC54-DFD6-4925-9B96-ADDAA76484D6}" type="presParOf" srcId="{820174B0-61E3-4D00-99F3-3764BB57DA9D}" destId="{C1850F0F-0D63-4D82-9178-41202E4DC7D3}" srcOrd="1" destOrd="0" presId="urn:microsoft.com/office/officeart/2005/8/layout/hierarchy4"/>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E83EDF-2E9B-4188-AB4F-3660D429C28C}" type="doc">
      <dgm:prSet loTypeId="urn:microsoft.com/office/officeart/2005/8/layout/venn1" loCatId="relationship" qsTypeId="urn:microsoft.com/office/officeart/2005/8/quickstyle/simple1" qsCatId="simple" csTypeId="urn:microsoft.com/office/officeart/2005/8/colors/accent1_2" csCatId="accent1" phldr="1"/>
      <dgm:spPr/>
    </dgm:pt>
    <dgm:pt modelId="{8672520D-C55A-497B-B254-AFCE6C2146B3}">
      <dgm:prSet phldrT="[Text]"/>
      <dgm:spPr/>
      <dgm:t>
        <a:bodyPr/>
        <a:lstStyle/>
        <a:p>
          <a:r>
            <a:rPr lang="en-US" dirty="0" smtClean="0"/>
            <a:t>Content</a:t>
          </a:r>
          <a:endParaRPr lang="en-US" dirty="0"/>
        </a:p>
      </dgm:t>
    </dgm:pt>
    <dgm:pt modelId="{BA660FD6-67EC-4E39-B422-C12064778BFA}" type="parTrans" cxnId="{C492A1D4-EC1B-4A36-8305-0FFC62B47853}">
      <dgm:prSet/>
      <dgm:spPr/>
      <dgm:t>
        <a:bodyPr/>
        <a:lstStyle/>
        <a:p>
          <a:endParaRPr lang="en-US"/>
        </a:p>
      </dgm:t>
    </dgm:pt>
    <dgm:pt modelId="{9A587222-A0B8-436D-8E2D-0722C07F43F4}" type="sibTrans" cxnId="{C492A1D4-EC1B-4A36-8305-0FFC62B47853}">
      <dgm:prSet/>
      <dgm:spPr/>
      <dgm:t>
        <a:bodyPr/>
        <a:lstStyle/>
        <a:p>
          <a:endParaRPr lang="en-US"/>
        </a:p>
      </dgm:t>
    </dgm:pt>
    <dgm:pt modelId="{C5C2D7A5-B29C-4FC3-BB39-6269E89017C6}">
      <dgm:prSet phldrT="[Text]"/>
      <dgm:spPr/>
      <dgm:t>
        <a:bodyPr/>
        <a:lstStyle/>
        <a:p>
          <a:r>
            <a:rPr lang="en-US" dirty="0" smtClean="0"/>
            <a:t>Resources</a:t>
          </a:r>
          <a:endParaRPr lang="en-US" dirty="0"/>
        </a:p>
      </dgm:t>
    </dgm:pt>
    <dgm:pt modelId="{66A3E682-C866-441D-8362-DE9027127058}" type="parTrans" cxnId="{1773F4F4-C642-45F1-8762-B5F16105365D}">
      <dgm:prSet/>
      <dgm:spPr/>
      <dgm:t>
        <a:bodyPr/>
        <a:lstStyle/>
        <a:p>
          <a:endParaRPr lang="en-US"/>
        </a:p>
      </dgm:t>
    </dgm:pt>
    <dgm:pt modelId="{B3A4C1E5-1A88-4083-92EB-6D7621B3DF4D}" type="sibTrans" cxnId="{1773F4F4-C642-45F1-8762-B5F16105365D}">
      <dgm:prSet/>
      <dgm:spPr/>
      <dgm:t>
        <a:bodyPr/>
        <a:lstStyle/>
        <a:p>
          <a:endParaRPr lang="en-US"/>
        </a:p>
      </dgm:t>
    </dgm:pt>
    <dgm:pt modelId="{25002240-B369-460A-BA61-200371D77E31}">
      <dgm:prSet phldrT="[Text]"/>
      <dgm:spPr/>
      <dgm:t>
        <a:bodyPr/>
        <a:lstStyle/>
        <a:p>
          <a:r>
            <a:rPr lang="en-US" dirty="0" smtClean="0"/>
            <a:t>Functions</a:t>
          </a:r>
          <a:endParaRPr lang="en-US" dirty="0"/>
        </a:p>
      </dgm:t>
    </dgm:pt>
    <dgm:pt modelId="{327E98B1-B6D9-48EB-B3AE-8381359BB739}" type="parTrans" cxnId="{D169CAD2-DC45-4F4D-8ECD-DF2DB652CA69}">
      <dgm:prSet/>
      <dgm:spPr/>
      <dgm:t>
        <a:bodyPr/>
        <a:lstStyle/>
        <a:p>
          <a:endParaRPr lang="en-US"/>
        </a:p>
      </dgm:t>
    </dgm:pt>
    <dgm:pt modelId="{CD8EAD31-DDE9-465A-8828-014AB37EBE8B}" type="sibTrans" cxnId="{D169CAD2-DC45-4F4D-8ECD-DF2DB652CA69}">
      <dgm:prSet/>
      <dgm:spPr/>
      <dgm:t>
        <a:bodyPr/>
        <a:lstStyle/>
        <a:p>
          <a:endParaRPr lang="en-US"/>
        </a:p>
      </dgm:t>
    </dgm:pt>
    <dgm:pt modelId="{7FED2C92-1207-4CDD-A9E0-29B8BE2BADA0}" type="pres">
      <dgm:prSet presAssocID="{09E83EDF-2E9B-4188-AB4F-3660D429C28C}" presName="compositeShape" presStyleCnt="0">
        <dgm:presLayoutVars>
          <dgm:chMax val="7"/>
          <dgm:dir/>
          <dgm:resizeHandles val="exact"/>
        </dgm:presLayoutVars>
      </dgm:prSet>
      <dgm:spPr/>
    </dgm:pt>
    <dgm:pt modelId="{D0390AA0-2CF4-4F99-9CD2-AAAFDEB7906C}" type="pres">
      <dgm:prSet presAssocID="{8672520D-C55A-497B-B254-AFCE6C2146B3}" presName="circ1" presStyleLbl="vennNode1" presStyleIdx="0" presStyleCnt="3"/>
      <dgm:spPr/>
      <dgm:t>
        <a:bodyPr/>
        <a:lstStyle/>
        <a:p>
          <a:endParaRPr lang="en-US"/>
        </a:p>
      </dgm:t>
    </dgm:pt>
    <dgm:pt modelId="{1534E40F-5053-4802-A4FC-DED1822BC276}" type="pres">
      <dgm:prSet presAssocID="{8672520D-C55A-497B-B254-AFCE6C2146B3}" presName="circ1Tx" presStyleLbl="revTx" presStyleIdx="0" presStyleCnt="0">
        <dgm:presLayoutVars>
          <dgm:chMax val="0"/>
          <dgm:chPref val="0"/>
          <dgm:bulletEnabled val="1"/>
        </dgm:presLayoutVars>
      </dgm:prSet>
      <dgm:spPr/>
      <dgm:t>
        <a:bodyPr/>
        <a:lstStyle/>
        <a:p>
          <a:endParaRPr lang="en-US"/>
        </a:p>
      </dgm:t>
    </dgm:pt>
    <dgm:pt modelId="{DD0323C4-7766-472F-A164-9CB524410BAD}" type="pres">
      <dgm:prSet presAssocID="{C5C2D7A5-B29C-4FC3-BB39-6269E89017C6}" presName="circ2" presStyleLbl="vennNode1" presStyleIdx="1" presStyleCnt="3"/>
      <dgm:spPr/>
      <dgm:t>
        <a:bodyPr/>
        <a:lstStyle/>
        <a:p>
          <a:endParaRPr lang="en-US"/>
        </a:p>
      </dgm:t>
    </dgm:pt>
    <dgm:pt modelId="{602B6447-6E5A-4068-BE9E-A29ECB2F6473}" type="pres">
      <dgm:prSet presAssocID="{C5C2D7A5-B29C-4FC3-BB39-6269E89017C6}" presName="circ2Tx" presStyleLbl="revTx" presStyleIdx="0" presStyleCnt="0">
        <dgm:presLayoutVars>
          <dgm:chMax val="0"/>
          <dgm:chPref val="0"/>
          <dgm:bulletEnabled val="1"/>
        </dgm:presLayoutVars>
      </dgm:prSet>
      <dgm:spPr/>
      <dgm:t>
        <a:bodyPr/>
        <a:lstStyle/>
        <a:p>
          <a:endParaRPr lang="en-US"/>
        </a:p>
      </dgm:t>
    </dgm:pt>
    <dgm:pt modelId="{2B1E5AAF-4A7F-40B5-ADE1-126C311F483B}" type="pres">
      <dgm:prSet presAssocID="{25002240-B369-460A-BA61-200371D77E31}" presName="circ3" presStyleLbl="vennNode1" presStyleIdx="2" presStyleCnt="3"/>
      <dgm:spPr/>
      <dgm:t>
        <a:bodyPr/>
        <a:lstStyle/>
        <a:p>
          <a:endParaRPr lang="en-US"/>
        </a:p>
      </dgm:t>
    </dgm:pt>
    <dgm:pt modelId="{E49F0C93-227F-44EC-A6CE-2B7BFD0D5196}" type="pres">
      <dgm:prSet presAssocID="{25002240-B369-460A-BA61-200371D77E31}" presName="circ3Tx" presStyleLbl="revTx" presStyleIdx="0" presStyleCnt="0">
        <dgm:presLayoutVars>
          <dgm:chMax val="0"/>
          <dgm:chPref val="0"/>
          <dgm:bulletEnabled val="1"/>
        </dgm:presLayoutVars>
      </dgm:prSet>
      <dgm:spPr/>
      <dgm:t>
        <a:bodyPr/>
        <a:lstStyle/>
        <a:p>
          <a:endParaRPr lang="en-US"/>
        </a:p>
      </dgm:t>
    </dgm:pt>
  </dgm:ptLst>
  <dgm:cxnLst>
    <dgm:cxn modelId="{DCC9D213-7A7C-44B7-AC31-897845FDD333}" type="presOf" srcId="{25002240-B369-460A-BA61-200371D77E31}" destId="{2B1E5AAF-4A7F-40B5-ADE1-126C311F483B}" srcOrd="0" destOrd="0" presId="urn:microsoft.com/office/officeart/2005/8/layout/venn1"/>
    <dgm:cxn modelId="{DEE6AF84-A4F8-4577-8EDB-4D3923F28942}" type="presOf" srcId="{09E83EDF-2E9B-4188-AB4F-3660D429C28C}" destId="{7FED2C92-1207-4CDD-A9E0-29B8BE2BADA0}" srcOrd="0" destOrd="0" presId="urn:microsoft.com/office/officeart/2005/8/layout/venn1"/>
    <dgm:cxn modelId="{B5400124-CA47-404B-838A-9B0A97235B37}" type="presOf" srcId="{C5C2D7A5-B29C-4FC3-BB39-6269E89017C6}" destId="{DD0323C4-7766-472F-A164-9CB524410BAD}" srcOrd="0" destOrd="0" presId="urn:microsoft.com/office/officeart/2005/8/layout/venn1"/>
    <dgm:cxn modelId="{5DD7F72B-1799-4C8A-8B1F-F4275B5F5B1D}" type="presOf" srcId="{8672520D-C55A-497B-B254-AFCE6C2146B3}" destId="{D0390AA0-2CF4-4F99-9CD2-AAAFDEB7906C}" srcOrd="0" destOrd="0" presId="urn:microsoft.com/office/officeart/2005/8/layout/venn1"/>
    <dgm:cxn modelId="{BE853BDD-7E52-427F-8183-5EE7238968CF}" type="presOf" srcId="{25002240-B369-460A-BA61-200371D77E31}" destId="{E49F0C93-227F-44EC-A6CE-2B7BFD0D5196}" srcOrd="1" destOrd="0" presId="urn:microsoft.com/office/officeart/2005/8/layout/venn1"/>
    <dgm:cxn modelId="{C492A1D4-EC1B-4A36-8305-0FFC62B47853}" srcId="{09E83EDF-2E9B-4188-AB4F-3660D429C28C}" destId="{8672520D-C55A-497B-B254-AFCE6C2146B3}" srcOrd="0" destOrd="0" parTransId="{BA660FD6-67EC-4E39-B422-C12064778BFA}" sibTransId="{9A587222-A0B8-436D-8E2D-0722C07F43F4}"/>
    <dgm:cxn modelId="{69B6D885-EE31-4736-A434-898D0198DB20}" type="presOf" srcId="{8672520D-C55A-497B-B254-AFCE6C2146B3}" destId="{1534E40F-5053-4802-A4FC-DED1822BC276}" srcOrd="1" destOrd="0" presId="urn:microsoft.com/office/officeart/2005/8/layout/venn1"/>
    <dgm:cxn modelId="{1773F4F4-C642-45F1-8762-B5F16105365D}" srcId="{09E83EDF-2E9B-4188-AB4F-3660D429C28C}" destId="{C5C2D7A5-B29C-4FC3-BB39-6269E89017C6}" srcOrd="1" destOrd="0" parTransId="{66A3E682-C866-441D-8362-DE9027127058}" sibTransId="{B3A4C1E5-1A88-4083-92EB-6D7621B3DF4D}"/>
    <dgm:cxn modelId="{AAFF6125-C4DA-4379-A442-D0D11A7EEB6A}" type="presOf" srcId="{C5C2D7A5-B29C-4FC3-BB39-6269E89017C6}" destId="{602B6447-6E5A-4068-BE9E-A29ECB2F6473}" srcOrd="1" destOrd="0" presId="urn:microsoft.com/office/officeart/2005/8/layout/venn1"/>
    <dgm:cxn modelId="{D169CAD2-DC45-4F4D-8ECD-DF2DB652CA69}" srcId="{09E83EDF-2E9B-4188-AB4F-3660D429C28C}" destId="{25002240-B369-460A-BA61-200371D77E31}" srcOrd="2" destOrd="0" parTransId="{327E98B1-B6D9-48EB-B3AE-8381359BB739}" sibTransId="{CD8EAD31-DDE9-465A-8828-014AB37EBE8B}"/>
    <dgm:cxn modelId="{D01745F8-EBC3-40A4-BFF1-E5C94CA7408F}" type="presParOf" srcId="{7FED2C92-1207-4CDD-A9E0-29B8BE2BADA0}" destId="{D0390AA0-2CF4-4F99-9CD2-AAAFDEB7906C}" srcOrd="0" destOrd="0" presId="urn:microsoft.com/office/officeart/2005/8/layout/venn1"/>
    <dgm:cxn modelId="{4BCB440B-E2C0-4264-A5A9-B76CFB29C367}" type="presParOf" srcId="{7FED2C92-1207-4CDD-A9E0-29B8BE2BADA0}" destId="{1534E40F-5053-4802-A4FC-DED1822BC276}" srcOrd="1" destOrd="0" presId="urn:microsoft.com/office/officeart/2005/8/layout/venn1"/>
    <dgm:cxn modelId="{D841C927-EE44-49FC-9BF8-09E2B1B7C44A}" type="presParOf" srcId="{7FED2C92-1207-4CDD-A9E0-29B8BE2BADA0}" destId="{DD0323C4-7766-472F-A164-9CB524410BAD}" srcOrd="2" destOrd="0" presId="urn:microsoft.com/office/officeart/2005/8/layout/venn1"/>
    <dgm:cxn modelId="{4F39BE51-F3AD-4583-A05F-D67413D8057B}" type="presParOf" srcId="{7FED2C92-1207-4CDD-A9E0-29B8BE2BADA0}" destId="{602B6447-6E5A-4068-BE9E-A29ECB2F6473}" srcOrd="3" destOrd="0" presId="urn:microsoft.com/office/officeart/2005/8/layout/venn1"/>
    <dgm:cxn modelId="{2C9FEE75-DAD4-4596-A1F9-5488E11CDB5D}" type="presParOf" srcId="{7FED2C92-1207-4CDD-A9E0-29B8BE2BADA0}" destId="{2B1E5AAF-4A7F-40B5-ADE1-126C311F483B}" srcOrd="4" destOrd="0" presId="urn:microsoft.com/office/officeart/2005/8/layout/venn1"/>
    <dgm:cxn modelId="{80F15071-2E44-400F-90BD-67049D464A0A}" type="presParOf" srcId="{7FED2C92-1207-4CDD-A9E0-29B8BE2BADA0}" destId="{E49F0C93-227F-44EC-A6CE-2B7BFD0D5196}" srcOrd="5" destOrd="0" presId="urn:microsoft.com/office/officeart/2005/8/layout/venn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C23059-D834-408F-A775-26EE212D5306}"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US"/>
        </a:p>
      </dgm:t>
    </dgm:pt>
    <dgm:pt modelId="{69852191-5BE6-472B-BBC8-72BD054B8305}">
      <dgm:prSet phldrT="[Text]"/>
      <dgm:spPr/>
      <dgm:t>
        <a:bodyPr/>
        <a:lstStyle/>
        <a:p>
          <a:r>
            <a:rPr lang="en-US" dirty="0" smtClean="0"/>
            <a:t>H1</a:t>
          </a:r>
          <a:endParaRPr lang="en-US" dirty="0"/>
        </a:p>
      </dgm:t>
    </dgm:pt>
    <dgm:pt modelId="{8358EF9C-42FF-4E78-905B-53CC4DA26954}" type="parTrans" cxnId="{5BCE8042-91A5-4959-9A7B-2D0F9C6BB751}">
      <dgm:prSet/>
      <dgm:spPr/>
      <dgm:t>
        <a:bodyPr/>
        <a:lstStyle/>
        <a:p>
          <a:endParaRPr lang="en-US"/>
        </a:p>
      </dgm:t>
    </dgm:pt>
    <dgm:pt modelId="{5D04CB8D-7C1D-414C-8403-BA2F0BF0285E}" type="sibTrans" cxnId="{5BCE8042-91A5-4959-9A7B-2D0F9C6BB751}">
      <dgm:prSet/>
      <dgm:spPr/>
      <dgm:t>
        <a:bodyPr/>
        <a:lstStyle/>
        <a:p>
          <a:endParaRPr lang="en-US"/>
        </a:p>
      </dgm:t>
    </dgm:pt>
    <dgm:pt modelId="{937BD065-B0E8-4D0B-BE10-8306538B2DB6}">
      <dgm:prSet phldrT="[Text]"/>
      <dgm:spPr/>
      <dgm:t>
        <a:bodyPr/>
        <a:lstStyle/>
        <a:p>
          <a:r>
            <a:rPr lang="en-US" dirty="0" smtClean="0"/>
            <a:t>H3</a:t>
          </a:r>
          <a:endParaRPr lang="en-US" dirty="0"/>
        </a:p>
      </dgm:t>
    </dgm:pt>
    <dgm:pt modelId="{A133B509-4F61-4876-97C5-35A4447F79BC}" type="parTrans" cxnId="{9581B383-21B8-488B-9CDE-476291491EF4}">
      <dgm:prSet/>
      <dgm:spPr/>
      <dgm:t>
        <a:bodyPr/>
        <a:lstStyle/>
        <a:p>
          <a:endParaRPr lang="en-US"/>
        </a:p>
      </dgm:t>
    </dgm:pt>
    <dgm:pt modelId="{22CE2D36-8815-433C-80D2-27582D56C1F6}" type="sibTrans" cxnId="{9581B383-21B8-488B-9CDE-476291491EF4}">
      <dgm:prSet/>
      <dgm:spPr/>
      <dgm:t>
        <a:bodyPr/>
        <a:lstStyle/>
        <a:p>
          <a:endParaRPr lang="en-US"/>
        </a:p>
      </dgm:t>
    </dgm:pt>
    <dgm:pt modelId="{9BA62B24-F0F6-498A-94F2-2B502E937FD5}">
      <dgm:prSet phldrT="[Text]"/>
      <dgm:spPr/>
      <dgm:t>
        <a:bodyPr/>
        <a:lstStyle/>
        <a:p>
          <a:r>
            <a:rPr lang="en-US" dirty="0" smtClean="0"/>
            <a:t>H4</a:t>
          </a:r>
          <a:endParaRPr lang="en-US" dirty="0"/>
        </a:p>
      </dgm:t>
    </dgm:pt>
    <dgm:pt modelId="{DDDC614C-F287-439A-8814-8F01B42FD38F}" type="parTrans" cxnId="{65144C2B-2437-40C7-9041-D8F42EABF61A}">
      <dgm:prSet/>
      <dgm:spPr/>
      <dgm:t>
        <a:bodyPr/>
        <a:lstStyle/>
        <a:p>
          <a:endParaRPr lang="en-US"/>
        </a:p>
      </dgm:t>
    </dgm:pt>
    <dgm:pt modelId="{911E3F3D-A3FE-4D54-B059-F37E612DE8F0}" type="sibTrans" cxnId="{65144C2B-2437-40C7-9041-D8F42EABF61A}">
      <dgm:prSet/>
      <dgm:spPr/>
      <dgm:t>
        <a:bodyPr/>
        <a:lstStyle/>
        <a:p>
          <a:endParaRPr lang="en-US"/>
        </a:p>
      </dgm:t>
    </dgm:pt>
    <dgm:pt modelId="{3693957B-ACB5-4CC9-8870-1F23FA935FB7}">
      <dgm:prSet phldrT="[Text]"/>
      <dgm:spPr/>
      <dgm:t>
        <a:bodyPr/>
        <a:lstStyle/>
        <a:p>
          <a:r>
            <a:rPr lang="en-US" dirty="0" smtClean="0"/>
            <a:t>H2</a:t>
          </a:r>
          <a:endParaRPr lang="en-US" dirty="0"/>
        </a:p>
      </dgm:t>
    </dgm:pt>
    <dgm:pt modelId="{8799C6F4-737D-4455-BFA6-7D4A3F91C9D6}" type="parTrans" cxnId="{B88FFE2F-174C-4417-AD14-F5B87DE1F080}">
      <dgm:prSet/>
      <dgm:spPr/>
      <dgm:t>
        <a:bodyPr/>
        <a:lstStyle/>
        <a:p>
          <a:endParaRPr lang="en-US"/>
        </a:p>
      </dgm:t>
    </dgm:pt>
    <dgm:pt modelId="{76972E16-6ECE-4299-A7C4-6E11040650EB}" type="sibTrans" cxnId="{B88FFE2F-174C-4417-AD14-F5B87DE1F080}">
      <dgm:prSet/>
      <dgm:spPr/>
      <dgm:t>
        <a:bodyPr/>
        <a:lstStyle/>
        <a:p>
          <a:endParaRPr lang="en-US"/>
        </a:p>
      </dgm:t>
    </dgm:pt>
    <dgm:pt modelId="{66C69B35-3D93-4321-9C6E-287DC4FA2670}">
      <dgm:prSet phldrT="[Text]"/>
      <dgm:spPr/>
      <dgm:t>
        <a:bodyPr/>
        <a:lstStyle/>
        <a:p>
          <a:r>
            <a:rPr lang="en-US" dirty="0" smtClean="0"/>
            <a:t>H5</a:t>
          </a:r>
          <a:endParaRPr lang="en-US" dirty="0"/>
        </a:p>
      </dgm:t>
    </dgm:pt>
    <dgm:pt modelId="{A865678B-6D59-4DD7-8ADF-C0ACD149ED2C}" type="parTrans" cxnId="{863FA0E1-B776-45C7-B126-FD3C02CF3574}">
      <dgm:prSet/>
      <dgm:spPr/>
      <dgm:t>
        <a:bodyPr/>
        <a:lstStyle/>
        <a:p>
          <a:endParaRPr lang="en-US"/>
        </a:p>
      </dgm:t>
    </dgm:pt>
    <dgm:pt modelId="{10D304AA-FC67-46A2-91AC-AA51758B12FA}" type="sibTrans" cxnId="{863FA0E1-B776-45C7-B126-FD3C02CF3574}">
      <dgm:prSet/>
      <dgm:spPr/>
      <dgm:t>
        <a:bodyPr/>
        <a:lstStyle/>
        <a:p>
          <a:endParaRPr lang="en-US"/>
        </a:p>
      </dgm:t>
    </dgm:pt>
    <dgm:pt modelId="{49DD6E01-DB58-49AF-80BA-F5E0C1EB0B7A}">
      <dgm:prSet phldrT="[Text]"/>
      <dgm:spPr/>
      <dgm:t>
        <a:bodyPr/>
        <a:lstStyle/>
        <a:p>
          <a:r>
            <a:rPr lang="en-US" dirty="0" smtClean="0"/>
            <a:t>H6</a:t>
          </a:r>
          <a:endParaRPr lang="en-US" dirty="0"/>
        </a:p>
      </dgm:t>
    </dgm:pt>
    <dgm:pt modelId="{EEDE93E8-D34E-4AAA-9E77-0BDE8F05BF01}" type="parTrans" cxnId="{5459D912-A547-4FDC-9795-DCD473252614}">
      <dgm:prSet/>
      <dgm:spPr/>
      <dgm:t>
        <a:bodyPr/>
        <a:lstStyle/>
        <a:p>
          <a:endParaRPr lang="en-US"/>
        </a:p>
      </dgm:t>
    </dgm:pt>
    <dgm:pt modelId="{A88B2683-2C22-4262-8C57-9DBA3BAA5655}" type="sibTrans" cxnId="{5459D912-A547-4FDC-9795-DCD473252614}">
      <dgm:prSet/>
      <dgm:spPr/>
      <dgm:t>
        <a:bodyPr/>
        <a:lstStyle/>
        <a:p>
          <a:endParaRPr lang="en-US"/>
        </a:p>
      </dgm:t>
    </dgm:pt>
    <dgm:pt modelId="{B5F24C62-8125-4A73-8522-62DCF883144D}">
      <dgm:prSet phldrT="[Text]"/>
      <dgm:spPr/>
      <dgm:t>
        <a:bodyPr/>
        <a:lstStyle/>
        <a:p>
          <a:r>
            <a:rPr lang="en-US" dirty="0" smtClean="0"/>
            <a:t>H7</a:t>
          </a:r>
          <a:endParaRPr lang="en-US" dirty="0"/>
        </a:p>
      </dgm:t>
    </dgm:pt>
    <dgm:pt modelId="{5D4F31B5-3091-40A7-BD2B-E667866A37C8}" type="parTrans" cxnId="{A2338AFB-F300-4A8B-9657-4CD35FA05EA5}">
      <dgm:prSet/>
      <dgm:spPr/>
      <dgm:t>
        <a:bodyPr/>
        <a:lstStyle/>
        <a:p>
          <a:endParaRPr lang="en-US"/>
        </a:p>
      </dgm:t>
    </dgm:pt>
    <dgm:pt modelId="{5B5A4651-A3B9-483C-9BB9-2BEF766EC399}" type="sibTrans" cxnId="{A2338AFB-F300-4A8B-9657-4CD35FA05EA5}">
      <dgm:prSet/>
      <dgm:spPr/>
      <dgm:t>
        <a:bodyPr/>
        <a:lstStyle/>
        <a:p>
          <a:endParaRPr lang="en-US"/>
        </a:p>
      </dgm:t>
    </dgm:pt>
    <dgm:pt modelId="{A4109341-82A1-44B1-AD1A-ABB597ACD8B2}">
      <dgm:prSet phldrT="[Text]"/>
      <dgm:spPr/>
      <dgm:t>
        <a:bodyPr/>
        <a:lstStyle/>
        <a:p>
          <a:r>
            <a:rPr lang="en-US" dirty="0" smtClean="0"/>
            <a:t>H8</a:t>
          </a:r>
          <a:endParaRPr lang="en-US" dirty="0"/>
        </a:p>
      </dgm:t>
    </dgm:pt>
    <dgm:pt modelId="{1CD984FE-FB17-4FFC-B6EB-411BF3EBF5B3}" type="parTrans" cxnId="{A80503AE-4A68-4413-862F-B4503AD9BBB7}">
      <dgm:prSet/>
      <dgm:spPr/>
      <dgm:t>
        <a:bodyPr/>
        <a:lstStyle/>
        <a:p>
          <a:endParaRPr lang="en-US"/>
        </a:p>
      </dgm:t>
    </dgm:pt>
    <dgm:pt modelId="{A3D27655-378D-406A-BE79-E7884A4B80EB}" type="sibTrans" cxnId="{A80503AE-4A68-4413-862F-B4503AD9BBB7}">
      <dgm:prSet/>
      <dgm:spPr/>
      <dgm:t>
        <a:bodyPr/>
        <a:lstStyle/>
        <a:p>
          <a:endParaRPr lang="en-US"/>
        </a:p>
      </dgm:t>
    </dgm:pt>
    <dgm:pt modelId="{BCF24C41-336B-4A05-A8E6-D3975EF48487}" type="pres">
      <dgm:prSet presAssocID="{28C23059-D834-408F-A775-26EE212D5306}" presName="Name0" presStyleCnt="0">
        <dgm:presLayoutVars>
          <dgm:dir/>
          <dgm:resizeHandles val="exact"/>
        </dgm:presLayoutVars>
      </dgm:prSet>
      <dgm:spPr/>
      <dgm:t>
        <a:bodyPr/>
        <a:lstStyle/>
        <a:p>
          <a:endParaRPr lang="en-US"/>
        </a:p>
      </dgm:t>
    </dgm:pt>
    <dgm:pt modelId="{306F7022-2934-4BD2-BD52-88E2D2C82FA9}" type="pres">
      <dgm:prSet presAssocID="{69852191-5BE6-472B-BBC8-72BD054B8305}" presName="node" presStyleLbl="node1" presStyleIdx="0" presStyleCnt="8">
        <dgm:presLayoutVars>
          <dgm:bulletEnabled val="1"/>
        </dgm:presLayoutVars>
      </dgm:prSet>
      <dgm:spPr/>
      <dgm:t>
        <a:bodyPr/>
        <a:lstStyle/>
        <a:p>
          <a:endParaRPr lang="en-US"/>
        </a:p>
      </dgm:t>
    </dgm:pt>
    <dgm:pt modelId="{041670B1-758D-4977-B3F0-FFF73B43AD98}" type="pres">
      <dgm:prSet presAssocID="{5D04CB8D-7C1D-414C-8403-BA2F0BF0285E}" presName="sibTrans" presStyleLbl="sibTrans2D1" presStyleIdx="0" presStyleCnt="8"/>
      <dgm:spPr/>
      <dgm:t>
        <a:bodyPr/>
        <a:lstStyle/>
        <a:p>
          <a:endParaRPr lang="en-US"/>
        </a:p>
      </dgm:t>
    </dgm:pt>
    <dgm:pt modelId="{D1EDC15E-9608-4DAD-B455-F20819665E1A}" type="pres">
      <dgm:prSet presAssocID="{5D04CB8D-7C1D-414C-8403-BA2F0BF0285E}" presName="connectorText" presStyleLbl="sibTrans2D1" presStyleIdx="0" presStyleCnt="8"/>
      <dgm:spPr/>
      <dgm:t>
        <a:bodyPr/>
        <a:lstStyle/>
        <a:p>
          <a:endParaRPr lang="en-US"/>
        </a:p>
      </dgm:t>
    </dgm:pt>
    <dgm:pt modelId="{683C5C60-89C9-4A07-9B33-103B09542726}" type="pres">
      <dgm:prSet presAssocID="{3693957B-ACB5-4CC9-8870-1F23FA935FB7}" presName="node" presStyleLbl="node1" presStyleIdx="1" presStyleCnt="8">
        <dgm:presLayoutVars>
          <dgm:bulletEnabled val="1"/>
        </dgm:presLayoutVars>
      </dgm:prSet>
      <dgm:spPr/>
      <dgm:t>
        <a:bodyPr/>
        <a:lstStyle/>
        <a:p>
          <a:endParaRPr lang="en-US"/>
        </a:p>
      </dgm:t>
    </dgm:pt>
    <dgm:pt modelId="{2A21C616-2A08-4C35-A465-91459F7ADD61}" type="pres">
      <dgm:prSet presAssocID="{76972E16-6ECE-4299-A7C4-6E11040650EB}" presName="sibTrans" presStyleLbl="sibTrans2D1" presStyleIdx="1" presStyleCnt="8"/>
      <dgm:spPr/>
      <dgm:t>
        <a:bodyPr/>
        <a:lstStyle/>
        <a:p>
          <a:endParaRPr lang="en-US"/>
        </a:p>
      </dgm:t>
    </dgm:pt>
    <dgm:pt modelId="{6CB8B943-7855-4E95-8FA2-8E9F2AFB53E9}" type="pres">
      <dgm:prSet presAssocID="{76972E16-6ECE-4299-A7C4-6E11040650EB}" presName="connectorText" presStyleLbl="sibTrans2D1" presStyleIdx="1" presStyleCnt="8"/>
      <dgm:spPr/>
      <dgm:t>
        <a:bodyPr/>
        <a:lstStyle/>
        <a:p>
          <a:endParaRPr lang="en-US"/>
        </a:p>
      </dgm:t>
    </dgm:pt>
    <dgm:pt modelId="{18D4BC1D-A4C4-41DD-9842-EF5BB75182E3}" type="pres">
      <dgm:prSet presAssocID="{937BD065-B0E8-4D0B-BE10-8306538B2DB6}" presName="node" presStyleLbl="node1" presStyleIdx="2" presStyleCnt="8">
        <dgm:presLayoutVars>
          <dgm:bulletEnabled val="1"/>
        </dgm:presLayoutVars>
      </dgm:prSet>
      <dgm:spPr/>
      <dgm:t>
        <a:bodyPr/>
        <a:lstStyle/>
        <a:p>
          <a:endParaRPr lang="en-US"/>
        </a:p>
      </dgm:t>
    </dgm:pt>
    <dgm:pt modelId="{BB48C33E-9190-4B62-BC87-E728BC508AF6}" type="pres">
      <dgm:prSet presAssocID="{22CE2D36-8815-433C-80D2-27582D56C1F6}" presName="sibTrans" presStyleLbl="sibTrans2D1" presStyleIdx="2" presStyleCnt="8"/>
      <dgm:spPr/>
      <dgm:t>
        <a:bodyPr/>
        <a:lstStyle/>
        <a:p>
          <a:endParaRPr lang="en-US"/>
        </a:p>
      </dgm:t>
    </dgm:pt>
    <dgm:pt modelId="{E4397D31-8626-4D36-A727-1243D696237C}" type="pres">
      <dgm:prSet presAssocID="{22CE2D36-8815-433C-80D2-27582D56C1F6}" presName="connectorText" presStyleLbl="sibTrans2D1" presStyleIdx="2" presStyleCnt="8"/>
      <dgm:spPr/>
      <dgm:t>
        <a:bodyPr/>
        <a:lstStyle/>
        <a:p>
          <a:endParaRPr lang="en-US"/>
        </a:p>
      </dgm:t>
    </dgm:pt>
    <dgm:pt modelId="{5E47A135-86B5-4C38-8389-3684A9103174}" type="pres">
      <dgm:prSet presAssocID="{9BA62B24-F0F6-498A-94F2-2B502E937FD5}" presName="node" presStyleLbl="node1" presStyleIdx="3" presStyleCnt="8">
        <dgm:presLayoutVars>
          <dgm:bulletEnabled val="1"/>
        </dgm:presLayoutVars>
      </dgm:prSet>
      <dgm:spPr/>
      <dgm:t>
        <a:bodyPr/>
        <a:lstStyle/>
        <a:p>
          <a:endParaRPr lang="en-US"/>
        </a:p>
      </dgm:t>
    </dgm:pt>
    <dgm:pt modelId="{9A5CB64A-1072-4C4B-B5A5-AE6582885312}" type="pres">
      <dgm:prSet presAssocID="{911E3F3D-A3FE-4D54-B059-F37E612DE8F0}" presName="sibTrans" presStyleLbl="sibTrans2D1" presStyleIdx="3" presStyleCnt="8"/>
      <dgm:spPr/>
      <dgm:t>
        <a:bodyPr/>
        <a:lstStyle/>
        <a:p>
          <a:endParaRPr lang="en-US"/>
        </a:p>
      </dgm:t>
    </dgm:pt>
    <dgm:pt modelId="{8DB96B13-1612-48D1-A9D2-CBA851493070}" type="pres">
      <dgm:prSet presAssocID="{911E3F3D-A3FE-4D54-B059-F37E612DE8F0}" presName="connectorText" presStyleLbl="sibTrans2D1" presStyleIdx="3" presStyleCnt="8"/>
      <dgm:spPr/>
      <dgm:t>
        <a:bodyPr/>
        <a:lstStyle/>
        <a:p>
          <a:endParaRPr lang="en-US"/>
        </a:p>
      </dgm:t>
    </dgm:pt>
    <dgm:pt modelId="{89BE318B-BC46-49DC-8790-B87C4B7BEFBF}" type="pres">
      <dgm:prSet presAssocID="{66C69B35-3D93-4321-9C6E-287DC4FA2670}" presName="node" presStyleLbl="node1" presStyleIdx="4" presStyleCnt="8">
        <dgm:presLayoutVars>
          <dgm:bulletEnabled val="1"/>
        </dgm:presLayoutVars>
      </dgm:prSet>
      <dgm:spPr/>
      <dgm:t>
        <a:bodyPr/>
        <a:lstStyle/>
        <a:p>
          <a:endParaRPr lang="en-US"/>
        </a:p>
      </dgm:t>
    </dgm:pt>
    <dgm:pt modelId="{6D92924F-DB98-4D91-B0F0-54FE63EF0239}" type="pres">
      <dgm:prSet presAssocID="{10D304AA-FC67-46A2-91AC-AA51758B12FA}" presName="sibTrans" presStyleLbl="sibTrans2D1" presStyleIdx="4" presStyleCnt="8"/>
      <dgm:spPr/>
      <dgm:t>
        <a:bodyPr/>
        <a:lstStyle/>
        <a:p>
          <a:endParaRPr lang="en-US"/>
        </a:p>
      </dgm:t>
    </dgm:pt>
    <dgm:pt modelId="{DFF63997-3871-43B9-9CA9-C7FCB6F6891E}" type="pres">
      <dgm:prSet presAssocID="{10D304AA-FC67-46A2-91AC-AA51758B12FA}" presName="connectorText" presStyleLbl="sibTrans2D1" presStyleIdx="4" presStyleCnt="8"/>
      <dgm:spPr/>
      <dgm:t>
        <a:bodyPr/>
        <a:lstStyle/>
        <a:p>
          <a:endParaRPr lang="en-US"/>
        </a:p>
      </dgm:t>
    </dgm:pt>
    <dgm:pt modelId="{C6BC528B-A9E1-443F-A01C-4895CD4B670C}" type="pres">
      <dgm:prSet presAssocID="{49DD6E01-DB58-49AF-80BA-F5E0C1EB0B7A}" presName="node" presStyleLbl="node1" presStyleIdx="5" presStyleCnt="8">
        <dgm:presLayoutVars>
          <dgm:bulletEnabled val="1"/>
        </dgm:presLayoutVars>
      </dgm:prSet>
      <dgm:spPr/>
      <dgm:t>
        <a:bodyPr/>
        <a:lstStyle/>
        <a:p>
          <a:endParaRPr lang="en-US"/>
        </a:p>
      </dgm:t>
    </dgm:pt>
    <dgm:pt modelId="{DB47F719-2C65-4B9D-9FF6-B61BC359D3A6}" type="pres">
      <dgm:prSet presAssocID="{A88B2683-2C22-4262-8C57-9DBA3BAA5655}" presName="sibTrans" presStyleLbl="sibTrans2D1" presStyleIdx="5" presStyleCnt="8"/>
      <dgm:spPr/>
      <dgm:t>
        <a:bodyPr/>
        <a:lstStyle/>
        <a:p>
          <a:endParaRPr lang="en-US"/>
        </a:p>
      </dgm:t>
    </dgm:pt>
    <dgm:pt modelId="{D6AABA9F-CED1-4A24-A003-5F66D3DFC3A4}" type="pres">
      <dgm:prSet presAssocID="{A88B2683-2C22-4262-8C57-9DBA3BAA5655}" presName="connectorText" presStyleLbl="sibTrans2D1" presStyleIdx="5" presStyleCnt="8"/>
      <dgm:spPr/>
      <dgm:t>
        <a:bodyPr/>
        <a:lstStyle/>
        <a:p>
          <a:endParaRPr lang="en-US"/>
        </a:p>
      </dgm:t>
    </dgm:pt>
    <dgm:pt modelId="{D171BADB-3E4F-41AE-8571-66EA26E92099}" type="pres">
      <dgm:prSet presAssocID="{B5F24C62-8125-4A73-8522-62DCF883144D}" presName="node" presStyleLbl="node1" presStyleIdx="6" presStyleCnt="8">
        <dgm:presLayoutVars>
          <dgm:bulletEnabled val="1"/>
        </dgm:presLayoutVars>
      </dgm:prSet>
      <dgm:spPr/>
      <dgm:t>
        <a:bodyPr/>
        <a:lstStyle/>
        <a:p>
          <a:endParaRPr lang="en-US"/>
        </a:p>
      </dgm:t>
    </dgm:pt>
    <dgm:pt modelId="{2407F2FA-4D24-4C4E-9C3F-980595D4D3C6}" type="pres">
      <dgm:prSet presAssocID="{5B5A4651-A3B9-483C-9BB9-2BEF766EC399}" presName="sibTrans" presStyleLbl="sibTrans2D1" presStyleIdx="6" presStyleCnt="8"/>
      <dgm:spPr/>
      <dgm:t>
        <a:bodyPr/>
        <a:lstStyle/>
        <a:p>
          <a:endParaRPr lang="en-US"/>
        </a:p>
      </dgm:t>
    </dgm:pt>
    <dgm:pt modelId="{2A50CF6F-CECF-4BA1-A4ED-7BF7997F1AD4}" type="pres">
      <dgm:prSet presAssocID="{5B5A4651-A3B9-483C-9BB9-2BEF766EC399}" presName="connectorText" presStyleLbl="sibTrans2D1" presStyleIdx="6" presStyleCnt="8"/>
      <dgm:spPr/>
      <dgm:t>
        <a:bodyPr/>
        <a:lstStyle/>
        <a:p>
          <a:endParaRPr lang="en-US"/>
        </a:p>
      </dgm:t>
    </dgm:pt>
    <dgm:pt modelId="{B5F798BC-A097-4B2C-9DB6-67D20E18EA7B}" type="pres">
      <dgm:prSet presAssocID="{A4109341-82A1-44B1-AD1A-ABB597ACD8B2}" presName="node" presStyleLbl="node1" presStyleIdx="7" presStyleCnt="8">
        <dgm:presLayoutVars>
          <dgm:bulletEnabled val="1"/>
        </dgm:presLayoutVars>
      </dgm:prSet>
      <dgm:spPr/>
      <dgm:t>
        <a:bodyPr/>
        <a:lstStyle/>
        <a:p>
          <a:endParaRPr lang="en-US"/>
        </a:p>
      </dgm:t>
    </dgm:pt>
    <dgm:pt modelId="{75255267-5626-4CEB-958C-3E04F25905E0}" type="pres">
      <dgm:prSet presAssocID="{A3D27655-378D-406A-BE79-E7884A4B80EB}" presName="sibTrans" presStyleLbl="sibTrans2D1" presStyleIdx="7" presStyleCnt="8"/>
      <dgm:spPr/>
      <dgm:t>
        <a:bodyPr/>
        <a:lstStyle/>
        <a:p>
          <a:endParaRPr lang="en-US"/>
        </a:p>
      </dgm:t>
    </dgm:pt>
    <dgm:pt modelId="{D945C9D6-18CD-426B-8C0C-091CEB17630E}" type="pres">
      <dgm:prSet presAssocID="{A3D27655-378D-406A-BE79-E7884A4B80EB}" presName="connectorText" presStyleLbl="sibTrans2D1" presStyleIdx="7" presStyleCnt="8"/>
      <dgm:spPr/>
      <dgm:t>
        <a:bodyPr/>
        <a:lstStyle/>
        <a:p>
          <a:endParaRPr lang="en-US"/>
        </a:p>
      </dgm:t>
    </dgm:pt>
  </dgm:ptLst>
  <dgm:cxnLst>
    <dgm:cxn modelId="{65144C2B-2437-40C7-9041-D8F42EABF61A}" srcId="{28C23059-D834-408F-A775-26EE212D5306}" destId="{9BA62B24-F0F6-498A-94F2-2B502E937FD5}" srcOrd="3" destOrd="0" parTransId="{DDDC614C-F287-439A-8814-8F01B42FD38F}" sibTransId="{911E3F3D-A3FE-4D54-B059-F37E612DE8F0}"/>
    <dgm:cxn modelId="{5459D912-A547-4FDC-9795-DCD473252614}" srcId="{28C23059-D834-408F-A775-26EE212D5306}" destId="{49DD6E01-DB58-49AF-80BA-F5E0C1EB0B7A}" srcOrd="5" destOrd="0" parTransId="{EEDE93E8-D34E-4AAA-9E77-0BDE8F05BF01}" sibTransId="{A88B2683-2C22-4262-8C57-9DBA3BAA5655}"/>
    <dgm:cxn modelId="{065A175D-9AC4-434B-9D87-E5FA40BD623B}" type="presOf" srcId="{5D04CB8D-7C1D-414C-8403-BA2F0BF0285E}" destId="{D1EDC15E-9608-4DAD-B455-F20819665E1A}" srcOrd="1" destOrd="0" presId="urn:microsoft.com/office/officeart/2005/8/layout/cycle7"/>
    <dgm:cxn modelId="{5BCE8042-91A5-4959-9A7B-2D0F9C6BB751}" srcId="{28C23059-D834-408F-A775-26EE212D5306}" destId="{69852191-5BE6-472B-BBC8-72BD054B8305}" srcOrd="0" destOrd="0" parTransId="{8358EF9C-42FF-4E78-905B-53CC4DA26954}" sibTransId="{5D04CB8D-7C1D-414C-8403-BA2F0BF0285E}"/>
    <dgm:cxn modelId="{B1AC9C44-005B-4B04-8D5F-8BEDDD3964B9}" type="presOf" srcId="{A4109341-82A1-44B1-AD1A-ABB597ACD8B2}" destId="{B5F798BC-A097-4B2C-9DB6-67D20E18EA7B}" srcOrd="0" destOrd="0" presId="urn:microsoft.com/office/officeart/2005/8/layout/cycle7"/>
    <dgm:cxn modelId="{2A7A4916-BD2B-4999-9582-663CE1BC9B97}" type="presOf" srcId="{76972E16-6ECE-4299-A7C4-6E11040650EB}" destId="{2A21C616-2A08-4C35-A465-91459F7ADD61}" srcOrd="0" destOrd="0" presId="urn:microsoft.com/office/officeart/2005/8/layout/cycle7"/>
    <dgm:cxn modelId="{561E4BC4-A8D1-4694-A25F-A4257154F69C}" type="presOf" srcId="{B5F24C62-8125-4A73-8522-62DCF883144D}" destId="{D171BADB-3E4F-41AE-8571-66EA26E92099}" srcOrd="0" destOrd="0" presId="urn:microsoft.com/office/officeart/2005/8/layout/cycle7"/>
    <dgm:cxn modelId="{5FC4F6D6-31CD-4B63-9072-2FB08EC34DC4}" type="presOf" srcId="{49DD6E01-DB58-49AF-80BA-F5E0C1EB0B7A}" destId="{C6BC528B-A9E1-443F-A01C-4895CD4B670C}" srcOrd="0" destOrd="0" presId="urn:microsoft.com/office/officeart/2005/8/layout/cycle7"/>
    <dgm:cxn modelId="{8FBC7D1A-8EEB-497F-AD7D-C95FF6B524A8}" type="presOf" srcId="{5B5A4651-A3B9-483C-9BB9-2BEF766EC399}" destId="{2407F2FA-4D24-4C4E-9C3F-980595D4D3C6}" srcOrd="0" destOrd="0" presId="urn:microsoft.com/office/officeart/2005/8/layout/cycle7"/>
    <dgm:cxn modelId="{CD679445-D2B7-4BDA-B80C-303B6EE9BFA4}" type="presOf" srcId="{22CE2D36-8815-433C-80D2-27582D56C1F6}" destId="{BB48C33E-9190-4B62-BC87-E728BC508AF6}" srcOrd="0" destOrd="0" presId="urn:microsoft.com/office/officeart/2005/8/layout/cycle7"/>
    <dgm:cxn modelId="{4EF19522-9EF9-4CB0-A727-790D7CDC4DB2}" type="presOf" srcId="{66C69B35-3D93-4321-9C6E-287DC4FA2670}" destId="{89BE318B-BC46-49DC-8790-B87C4B7BEFBF}" srcOrd="0" destOrd="0" presId="urn:microsoft.com/office/officeart/2005/8/layout/cycle7"/>
    <dgm:cxn modelId="{A7C93083-8431-48BE-B3FB-EAA9F5CDDB80}" type="presOf" srcId="{911E3F3D-A3FE-4D54-B059-F37E612DE8F0}" destId="{8DB96B13-1612-48D1-A9D2-CBA851493070}" srcOrd="1" destOrd="0" presId="urn:microsoft.com/office/officeart/2005/8/layout/cycle7"/>
    <dgm:cxn modelId="{7FA08D1D-FB79-4F11-B479-C39E20E48A2A}" type="presOf" srcId="{A3D27655-378D-406A-BE79-E7884A4B80EB}" destId="{D945C9D6-18CD-426B-8C0C-091CEB17630E}" srcOrd="1" destOrd="0" presId="urn:microsoft.com/office/officeart/2005/8/layout/cycle7"/>
    <dgm:cxn modelId="{37EE4AF4-5C6B-4C87-A3AD-2788C83EB0CB}" type="presOf" srcId="{10D304AA-FC67-46A2-91AC-AA51758B12FA}" destId="{DFF63997-3871-43B9-9CA9-C7FCB6F6891E}" srcOrd="1" destOrd="0" presId="urn:microsoft.com/office/officeart/2005/8/layout/cycle7"/>
    <dgm:cxn modelId="{7949FE9D-1284-444E-BB35-F667FCC91E31}" type="presOf" srcId="{22CE2D36-8815-433C-80D2-27582D56C1F6}" destId="{E4397D31-8626-4D36-A727-1243D696237C}" srcOrd="1" destOrd="0" presId="urn:microsoft.com/office/officeart/2005/8/layout/cycle7"/>
    <dgm:cxn modelId="{9363195F-6169-4BE2-970F-9DD1627133E6}" type="presOf" srcId="{76972E16-6ECE-4299-A7C4-6E11040650EB}" destId="{6CB8B943-7855-4E95-8FA2-8E9F2AFB53E9}" srcOrd="1" destOrd="0" presId="urn:microsoft.com/office/officeart/2005/8/layout/cycle7"/>
    <dgm:cxn modelId="{E41A6105-A6D5-426E-A1D9-786608DE2D3D}" type="presOf" srcId="{9BA62B24-F0F6-498A-94F2-2B502E937FD5}" destId="{5E47A135-86B5-4C38-8389-3684A9103174}" srcOrd="0" destOrd="0" presId="urn:microsoft.com/office/officeart/2005/8/layout/cycle7"/>
    <dgm:cxn modelId="{918CFD21-ADC8-410B-8092-23241CD5D916}" type="presOf" srcId="{69852191-5BE6-472B-BBC8-72BD054B8305}" destId="{306F7022-2934-4BD2-BD52-88E2D2C82FA9}" srcOrd="0" destOrd="0" presId="urn:microsoft.com/office/officeart/2005/8/layout/cycle7"/>
    <dgm:cxn modelId="{9BA1BF4C-C76D-48D0-8989-ED2FA496DBAC}" type="presOf" srcId="{10D304AA-FC67-46A2-91AC-AA51758B12FA}" destId="{6D92924F-DB98-4D91-B0F0-54FE63EF0239}" srcOrd="0" destOrd="0" presId="urn:microsoft.com/office/officeart/2005/8/layout/cycle7"/>
    <dgm:cxn modelId="{A80503AE-4A68-4413-862F-B4503AD9BBB7}" srcId="{28C23059-D834-408F-A775-26EE212D5306}" destId="{A4109341-82A1-44B1-AD1A-ABB597ACD8B2}" srcOrd="7" destOrd="0" parTransId="{1CD984FE-FB17-4FFC-B6EB-411BF3EBF5B3}" sibTransId="{A3D27655-378D-406A-BE79-E7884A4B80EB}"/>
    <dgm:cxn modelId="{B88FFE2F-174C-4417-AD14-F5B87DE1F080}" srcId="{28C23059-D834-408F-A775-26EE212D5306}" destId="{3693957B-ACB5-4CC9-8870-1F23FA935FB7}" srcOrd="1" destOrd="0" parTransId="{8799C6F4-737D-4455-BFA6-7D4A3F91C9D6}" sibTransId="{76972E16-6ECE-4299-A7C4-6E11040650EB}"/>
    <dgm:cxn modelId="{07C4B160-EE83-4E63-A4E3-9A99BF1865F5}" type="presOf" srcId="{5D04CB8D-7C1D-414C-8403-BA2F0BF0285E}" destId="{041670B1-758D-4977-B3F0-FFF73B43AD98}" srcOrd="0" destOrd="0" presId="urn:microsoft.com/office/officeart/2005/8/layout/cycle7"/>
    <dgm:cxn modelId="{2CD5DF6D-4EA3-4A13-BE22-37380C5F5DFD}" type="presOf" srcId="{A88B2683-2C22-4262-8C57-9DBA3BAA5655}" destId="{D6AABA9F-CED1-4A24-A003-5F66D3DFC3A4}" srcOrd="1" destOrd="0" presId="urn:microsoft.com/office/officeart/2005/8/layout/cycle7"/>
    <dgm:cxn modelId="{863FA0E1-B776-45C7-B126-FD3C02CF3574}" srcId="{28C23059-D834-408F-A775-26EE212D5306}" destId="{66C69B35-3D93-4321-9C6E-287DC4FA2670}" srcOrd="4" destOrd="0" parTransId="{A865678B-6D59-4DD7-8ADF-C0ACD149ED2C}" sibTransId="{10D304AA-FC67-46A2-91AC-AA51758B12FA}"/>
    <dgm:cxn modelId="{CDBAF202-8D79-4721-9A34-EEEC9C5602FD}" type="presOf" srcId="{A88B2683-2C22-4262-8C57-9DBA3BAA5655}" destId="{DB47F719-2C65-4B9D-9FF6-B61BC359D3A6}" srcOrd="0" destOrd="0" presId="urn:microsoft.com/office/officeart/2005/8/layout/cycle7"/>
    <dgm:cxn modelId="{AF1B370F-573E-4292-83A6-815021E5A783}" type="presOf" srcId="{911E3F3D-A3FE-4D54-B059-F37E612DE8F0}" destId="{9A5CB64A-1072-4C4B-B5A5-AE6582885312}" srcOrd="0" destOrd="0" presId="urn:microsoft.com/office/officeart/2005/8/layout/cycle7"/>
    <dgm:cxn modelId="{29CAEE4B-DD4B-4BDE-AB7B-9DCE2B13DAE8}" type="presOf" srcId="{A3D27655-378D-406A-BE79-E7884A4B80EB}" destId="{75255267-5626-4CEB-958C-3E04F25905E0}" srcOrd="0" destOrd="0" presId="urn:microsoft.com/office/officeart/2005/8/layout/cycle7"/>
    <dgm:cxn modelId="{D20436E2-23DA-4DA2-8BBC-22414BCA1D3C}" type="presOf" srcId="{937BD065-B0E8-4D0B-BE10-8306538B2DB6}" destId="{18D4BC1D-A4C4-41DD-9842-EF5BB75182E3}" srcOrd="0" destOrd="0" presId="urn:microsoft.com/office/officeart/2005/8/layout/cycle7"/>
    <dgm:cxn modelId="{54875FD2-0802-4D7B-A654-11E53BE98453}" type="presOf" srcId="{28C23059-D834-408F-A775-26EE212D5306}" destId="{BCF24C41-336B-4A05-A8E6-D3975EF48487}" srcOrd="0" destOrd="0" presId="urn:microsoft.com/office/officeart/2005/8/layout/cycle7"/>
    <dgm:cxn modelId="{9581B383-21B8-488B-9CDE-476291491EF4}" srcId="{28C23059-D834-408F-A775-26EE212D5306}" destId="{937BD065-B0E8-4D0B-BE10-8306538B2DB6}" srcOrd="2" destOrd="0" parTransId="{A133B509-4F61-4876-97C5-35A4447F79BC}" sibTransId="{22CE2D36-8815-433C-80D2-27582D56C1F6}"/>
    <dgm:cxn modelId="{D7A77BCB-F57A-45A2-8CB6-28730E78BD9B}" type="presOf" srcId="{3693957B-ACB5-4CC9-8870-1F23FA935FB7}" destId="{683C5C60-89C9-4A07-9B33-103B09542726}" srcOrd="0" destOrd="0" presId="urn:microsoft.com/office/officeart/2005/8/layout/cycle7"/>
    <dgm:cxn modelId="{A2338AFB-F300-4A8B-9657-4CD35FA05EA5}" srcId="{28C23059-D834-408F-A775-26EE212D5306}" destId="{B5F24C62-8125-4A73-8522-62DCF883144D}" srcOrd="6" destOrd="0" parTransId="{5D4F31B5-3091-40A7-BD2B-E667866A37C8}" sibTransId="{5B5A4651-A3B9-483C-9BB9-2BEF766EC399}"/>
    <dgm:cxn modelId="{723D0455-E73B-4DFB-8925-1F2BAD65D7D4}" type="presOf" srcId="{5B5A4651-A3B9-483C-9BB9-2BEF766EC399}" destId="{2A50CF6F-CECF-4BA1-A4ED-7BF7997F1AD4}" srcOrd="1" destOrd="0" presId="urn:microsoft.com/office/officeart/2005/8/layout/cycle7"/>
    <dgm:cxn modelId="{A6EB419D-61B8-4857-A614-05A71EE40B1C}" type="presParOf" srcId="{BCF24C41-336B-4A05-A8E6-D3975EF48487}" destId="{306F7022-2934-4BD2-BD52-88E2D2C82FA9}" srcOrd="0" destOrd="0" presId="urn:microsoft.com/office/officeart/2005/8/layout/cycle7"/>
    <dgm:cxn modelId="{0969ACB6-16A1-4864-8EB2-7855ABB88E9E}" type="presParOf" srcId="{BCF24C41-336B-4A05-A8E6-D3975EF48487}" destId="{041670B1-758D-4977-B3F0-FFF73B43AD98}" srcOrd="1" destOrd="0" presId="urn:microsoft.com/office/officeart/2005/8/layout/cycle7"/>
    <dgm:cxn modelId="{D834AEB6-352D-45A6-8E6F-B38EA31D7D73}" type="presParOf" srcId="{041670B1-758D-4977-B3F0-FFF73B43AD98}" destId="{D1EDC15E-9608-4DAD-B455-F20819665E1A}" srcOrd="0" destOrd="0" presId="urn:microsoft.com/office/officeart/2005/8/layout/cycle7"/>
    <dgm:cxn modelId="{9DAD6ADB-E4A9-4C73-8542-37C795ED0996}" type="presParOf" srcId="{BCF24C41-336B-4A05-A8E6-D3975EF48487}" destId="{683C5C60-89C9-4A07-9B33-103B09542726}" srcOrd="2" destOrd="0" presId="urn:microsoft.com/office/officeart/2005/8/layout/cycle7"/>
    <dgm:cxn modelId="{24050953-0B4C-4D4B-A9B1-63E22F6089B4}" type="presParOf" srcId="{BCF24C41-336B-4A05-A8E6-D3975EF48487}" destId="{2A21C616-2A08-4C35-A465-91459F7ADD61}" srcOrd="3" destOrd="0" presId="urn:microsoft.com/office/officeart/2005/8/layout/cycle7"/>
    <dgm:cxn modelId="{C7AAF7DC-54D9-4BA2-ABA7-86CD8BF0B35A}" type="presParOf" srcId="{2A21C616-2A08-4C35-A465-91459F7ADD61}" destId="{6CB8B943-7855-4E95-8FA2-8E9F2AFB53E9}" srcOrd="0" destOrd="0" presId="urn:microsoft.com/office/officeart/2005/8/layout/cycle7"/>
    <dgm:cxn modelId="{1B70EA23-87E3-4771-B921-B917BFF1BBC9}" type="presParOf" srcId="{BCF24C41-336B-4A05-A8E6-D3975EF48487}" destId="{18D4BC1D-A4C4-41DD-9842-EF5BB75182E3}" srcOrd="4" destOrd="0" presId="urn:microsoft.com/office/officeart/2005/8/layout/cycle7"/>
    <dgm:cxn modelId="{4B5A0959-6A28-42A9-9F16-4973CAF4AD28}" type="presParOf" srcId="{BCF24C41-336B-4A05-A8E6-D3975EF48487}" destId="{BB48C33E-9190-4B62-BC87-E728BC508AF6}" srcOrd="5" destOrd="0" presId="urn:microsoft.com/office/officeart/2005/8/layout/cycle7"/>
    <dgm:cxn modelId="{BC5602E4-F6CA-41F0-A4C9-F50B4C31AD2C}" type="presParOf" srcId="{BB48C33E-9190-4B62-BC87-E728BC508AF6}" destId="{E4397D31-8626-4D36-A727-1243D696237C}" srcOrd="0" destOrd="0" presId="urn:microsoft.com/office/officeart/2005/8/layout/cycle7"/>
    <dgm:cxn modelId="{EA010252-F978-4DB4-8A6E-1CF661D83D84}" type="presParOf" srcId="{BCF24C41-336B-4A05-A8E6-D3975EF48487}" destId="{5E47A135-86B5-4C38-8389-3684A9103174}" srcOrd="6" destOrd="0" presId="urn:microsoft.com/office/officeart/2005/8/layout/cycle7"/>
    <dgm:cxn modelId="{B0D17F45-010D-472B-AF81-1963ADF43A47}" type="presParOf" srcId="{BCF24C41-336B-4A05-A8E6-D3975EF48487}" destId="{9A5CB64A-1072-4C4B-B5A5-AE6582885312}" srcOrd="7" destOrd="0" presId="urn:microsoft.com/office/officeart/2005/8/layout/cycle7"/>
    <dgm:cxn modelId="{3D76631F-AA31-4320-BD93-2656C025EA8A}" type="presParOf" srcId="{9A5CB64A-1072-4C4B-B5A5-AE6582885312}" destId="{8DB96B13-1612-48D1-A9D2-CBA851493070}" srcOrd="0" destOrd="0" presId="urn:microsoft.com/office/officeart/2005/8/layout/cycle7"/>
    <dgm:cxn modelId="{DDE7910E-CF88-4E40-91F0-922FC3179DC4}" type="presParOf" srcId="{BCF24C41-336B-4A05-A8E6-D3975EF48487}" destId="{89BE318B-BC46-49DC-8790-B87C4B7BEFBF}" srcOrd="8" destOrd="0" presId="urn:microsoft.com/office/officeart/2005/8/layout/cycle7"/>
    <dgm:cxn modelId="{3B82B5BA-064E-473A-833A-D252C4594D38}" type="presParOf" srcId="{BCF24C41-336B-4A05-A8E6-D3975EF48487}" destId="{6D92924F-DB98-4D91-B0F0-54FE63EF0239}" srcOrd="9" destOrd="0" presId="urn:microsoft.com/office/officeart/2005/8/layout/cycle7"/>
    <dgm:cxn modelId="{AFE62DB2-BADD-46BC-8041-4B90F1A66134}" type="presParOf" srcId="{6D92924F-DB98-4D91-B0F0-54FE63EF0239}" destId="{DFF63997-3871-43B9-9CA9-C7FCB6F6891E}" srcOrd="0" destOrd="0" presId="urn:microsoft.com/office/officeart/2005/8/layout/cycle7"/>
    <dgm:cxn modelId="{EA68820B-A9D7-4BB7-9C57-15148252FFF6}" type="presParOf" srcId="{BCF24C41-336B-4A05-A8E6-D3975EF48487}" destId="{C6BC528B-A9E1-443F-A01C-4895CD4B670C}" srcOrd="10" destOrd="0" presId="urn:microsoft.com/office/officeart/2005/8/layout/cycle7"/>
    <dgm:cxn modelId="{4BF2C345-0393-4AE5-BAE5-DE81B5A83B16}" type="presParOf" srcId="{BCF24C41-336B-4A05-A8E6-D3975EF48487}" destId="{DB47F719-2C65-4B9D-9FF6-B61BC359D3A6}" srcOrd="11" destOrd="0" presId="urn:microsoft.com/office/officeart/2005/8/layout/cycle7"/>
    <dgm:cxn modelId="{4C294EA4-B6EE-4719-BFED-5D85DA256691}" type="presParOf" srcId="{DB47F719-2C65-4B9D-9FF6-B61BC359D3A6}" destId="{D6AABA9F-CED1-4A24-A003-5F66D3DFC3A4}" srcOrd="0" destOrd="0" presId="urn:microsoft.com/office/officeart/2005/8/layout/cycle7"/>
    <dgm:cxn modelId="{4A25B19D-3666-434D-8976-1D8B5385DF2D}" type="presParOf" srcId="{BCF24C41-336B-4A05-A8E6-D3975EF48487}" destId="{D171BADB-3E4F-41AE-8571-66EA26E92099}" srcOrd="12" destOrd="0" presId="urn:microsoft.com/office/officeart/2005/8/layout/cycle7"/>
    <dgm:cxn modelId="{0043D01A-0AE8-44A4-B65F-6AA5329E0E07}" type="presParOf" srcId="{BCF24C41-336B-4A05-A8E6-D3975EF48487}" destId="{2407F2FA-4D24-4C4E-9C3F-980595D4D3C6}" srcOrd="13" destOrd="0" presId="urn:microsoft.com/office/officeart/2005/8/layout/cycle7"/>
    <dgm:cxn modelId="{96FF3AEE-6C06-4EEF-83FA-3B8A3A7B9C4C}" type="presParOf" srcId="{2407F2FA-4D24-4C4E-9C3F-980595D4D3C6}" destId="{2A50CF6F-CECF-4BA1-A4ED-7BF7997F1AD4}" srcOrd="0" destOrd="0" presId="urn:microsoft.com/office/officeart/2005/8/layout/cycle7"/>
    <dgm:cxn modelId="{B77B7FA6-DF62-47A5-B008-D5723987D3CF}" type="presParOf" srcId="{BCF24C41-336B-4A05-A8E6-D3975EF48487}" destId="{B5F798BC-A097-4B2C-9DB6-67D20E18EA7B}" srcOrd="14" destOrd="0" presId="urn:microsoft.com/office/officeart/2005/8/layout/cycle7"/>
    <dgm:cxn modelId="{1C3D2313-F697-45F1-9D46-7E2E23F59F97}" type="presParOf" srcId="{BCF24C41-336B-4A05-A8E6-D3975EF48487}" destId="{75255267-5626-4CEB-958C-3E04F25905E0}" srcOrd="15" destOrd="0" presId="urn:microsoft.com/office/officeart/2005/8/layout/cycle7"/>
    <dgm:cxn modelId="{8D33FE0D-6228-4634-BFF8-76582AD9C98D}" type="presParOf" srcId="{75255267-5626-4CEB-958C-3E04F25905E0}" destId="{D945C9D6-18CD-426B-8C0C-091CEB17630E}" srcOrd="0" destOrd="0" presId="urn:microsoft.com/office/officeart/2005/8/layout/cycle7"/>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F3F0CE2-E394-4F9A-8F12-91E8DC46994C}">
      <dsp:nvSpPr>
        <dsp:cNvPr id="0" name=""/>
        <dsp:cNvSpPr/>
      </dsp:nvSpPr>
      <dsp:spPr>
        <a:xfrm>
          <a:off x="2841" y="1983"/>
          <a:ext cx="4433705" cy="12806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Federated </a:t>
          </a:r>
        </a:p>
        <a:p>
          <a:pPr lvl="0" algn="ctr" defTabSz="755650">
            <a:lnSpc>
              <a:spcPct val="90000"/>
            </a:lnSpc>
            <a:spcBef>
              <a:spcPct val="0"/>
            </a:spcBef>
            <a:spcAft>
              <a:spcPct val="35000"/>
            </a:spcAft>
          </a:pPr>
          <a:r>
            <a:rPr lang="en-US" sz="1700" kern="1200" dirty="0" smtClean="0"/>
            <a:t>Presentation Layer</a:t>
          </a:r>
          <a:endParaRPr lang="en-US" sz="1700" kern="1200" dirty="0"/>
        </a:p>
      </dsp:txBody>
      <dsp:txXfrm>
        <a:off x="2841" y="1983"/>
        <a:ext cx="4433705" cy="1280654"/>
      </dsp:txXfrm>
    </dsp:sp>
    <dsp:sp modelId="{133F4BC1-62DB-44F9-9884-9BE422D11537}">
      <dsp:nvSpPr>
        <dsp:cNvPr id="0" name=""/>
        <dsp:cNvSpPr/>
      </dsp:nvSpPr>
      <dsp:spPr>
        <a:xfrm>
          <a:off x="2841" y="1390318"/>
          <a:ext cx="2896234" cy="12806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Federated Metadata</a:t>
          </a:r>
          <a:endParaRPr lang="en-US" sz="1700" kern="1200" dirty="0"/>
        </a:p>
      </dsp:txBody>
      <dsp:txXfrm>
        <a:off x="2841" y="1390318"/>
        <a:ext cx="2896234" cy="1280654"/>
      </dsp:txXfrm>
    </dsp:sp>
    <dsp:sp modelId="{761F5031-4A29-420C-A76E-82B4A29DAB8F}">
      <dsp:nvSpPr>
        <dsp:cNvPr id="0" name=""/>
        <dsp:cNvSpPr/>
      </dsp:nvSpPr>
      <dsp:spPr>
        <a:xfrm>
          <a:off x="2841" y="2778652"/>
          <a:ext cx="1418332" cy="12806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Systems</a:t>
          </a:r>
          <a:endParaRPr lang="en-US" sz="1700" kern="1200" dirty="0"/>
        </a:p>
      </dsp:txBody>
      <dsp:txXfrm>
        <a:off x="2841" y="2778652"/>
        <a:ext cx="1418332" cy="1280654"/>
      </dsp:txXfrm>
    </dsp:sp>
    <dsp:sp modelId="{464107CE-118F-47C8-AC43-20EF68EF9A02}">
      <dsp:nvSpPr>
        <dsp:cNvPr id="0" name=""/>
        <dsp:cNvSpPr/>
      </dsp:nvSpPr>
      <dsp:spPr>
        <a:xfrm>
          <a:off x="1480743" y="2778652"/>
          <a:ext cx="1418332" cy="12806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Data Stores</a:t>
          </a:r>
          <a:endParaRPr lang="en-US" sz="1700" kern="1200" dirty="0"/>
        </a:p>
      </dsp:txBody>
      <dsp:txXfrm>
        <a:off x="1480743" y="2778652"/>
        <a:ext cx="1418332" cy="1280654"/>
      </dsp:txXfrm>
    </dsp:sp>
    <dsp:sp modelId="{C7EBF4D0-EADA-41A9-B9ED-BDF89C5B8F06}">
      <dsp:nvSpPr>
        <dsp:cNvPr id="0" name=""/>
        <dsp:cNvSpPr/>
      </dsp:nvSpPr>
      <dsp:spPr>
        <a:xfrm>
          <a:off x="3018215" y="1390318"/>
          <a:ext cx="1418332" cy="12806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Search Engine</a:t>
          </a:r>
        </a:p>
        <a:p>
          <a:pPr lvl="0" algn="ctr" defTabSz="755650">
            <a:lnSpc>
              <a:spcPct val="90000"/>
            </a:lnSpc>
            <a:spcBef>
              <a:spcPct val="0"/>
            </a:spcBef>
            <a:spcAft>
              <a:spcPct val="35000"/>
            </a:spcAft>
          </a:pPr>
          <a:r>
            <a:rPr lang="en-US" sz="1700" kern="1200" dirty="0" smtClean="0"/>
            <a:t>(w/ SOA)</a:t>
          </a:r>
          <a:endParaRPr lang="en-US" sz="1700" kern="1200" dirty="0"/>
        </a:p>
      </dsp:txBody>
      <dsp:txXfrm>
        <a:off x="3018215" y="1390318"/>
        <a:ext cx="1418332" cy="1280654"/>
      </dsp:txXfrm>
    </dsp:sp>
    <dsp:sp modelId="{7F61E53A-2239-4A6A-B81B-5A6F4B6D154A}">
      <dsp:nvSpPr>
        <dsp:cNvPr id="0" name=""/>
        <dsp:cNvSpPr/>
      </dsp:nvSpPr>
      <dsp:spPr>
        <a:xfrm>
          <a:off x="3018215" y="2778652"/>
          <a:ext cx="1418332" cy="128065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Object Stores</a:t>
          </a:r>
          <a:endParaRPr lang="en-US" sz="1700" kern="1200" dirty="0"/>
        </a:p>
      </dsp:txBody>
      <dsp:txXfrm>
        <a:off x="3018215" y="2778652"/>
        <a:ext cx="1418332" cy="1280654"/>
      </dsp:txXfrm>
    </dsp:sp>
    <dsp:sp modelId="{A868CE3B-E823-4C86-A030-61125E230F0B}">
      <dsp:nvSpPr>
        <dsp:cNvPr id="0" name=""/>
        <dsp:cNvSpPr/>
      </dsp:nvSpPr>
      <dsp:spPr>
        <a:xfrm>
          <a:off x="4674826" y="1983"/>
          <a:ext cx="1418332" cy="406003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Orchestrated</a:t>
          </a:r>
        </a:p>
        <a:p>
          <a:pPr lvl="0" algn="ctr" defTabSz="755650">
            <a:lnSpc>
              <a:spcPct val="90000"/>
            </a:lnSpc>
            <a:spcBef>
              <a:spcPct val="0"/>
            </a:spcBef>
            <a:spcAft>
              <a:spcPct val="35000"/>
            </a:spcAft>
          </a:pPr>
          <a:r>
            <a:rPr lang="en-US" sz="1700" kern="1200" dirty="0" smtClean="0"/>
            <a:t>Service Layer</a:t>
          </a:r>
          <a:endParaRPr lang="en-US" sz="1700" kern="1200" dirty="0"/>
        </a:p>
      </dsp:txBody>
      <dsp:txXfrm>
        <a:off x="4674826" y="1983"/>
        <a:ext cx="1418332" cy="4060032"/>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0390AA0-2CF4-4F99-9CD2-AAAFDEB7906C}">
      <dsp:nvSpPr>
        <dsp:cNvPr id="0" name=""/>
        <dsp:cNvSpPr/>
      </dsp:nvSpPr>
      <dsp:spPr>
        <a:xfrm>
          <a:off x="1828799" y="50799"/>
          <a:ext cx="2438400" cy="2438400"/>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r>
            <a:rPr lang="en-US" sz="2800" kern="1200" dirty="0" smtClean="0"/>
            <a:t>Content</a:t>
          </a:r>
          <a:endParaRPr lang="en-US" sz="2800" kern="1200" dirty="0"/>
        </a:p>
      </dsp:txBody>
      <dsp:txXfrm>
        <a:off x="2153920" y="477519"/>
        <a:ext cx="1788160" cy="1097280"/>
      </dsp:txXfrm>
    </dsp:sp>
    <dsp:sp modelId="{DD0323C4-7766-472F-A164-9CB524410BAD}">
      <dsp:nvSpPr>
        <dsp:cNvPr id="0" name=""/>
        <dsp:cNvSpPr/>
      </dsp:nvSpPr>
      <dsp:spPr>
        <a:xfrm>
          <a:off x="2708656" y="1574800"/>
          <a:ext cx="2438400" cy="2438400"/>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r>
            <a:rPr lang="en-US" sz="2800" kern="1200" dirty="0" smtClean="0"/>
            <a:t>Resources</a:t>
          </a:r>
          <a:endParaRPr lang="en-US" sz="2800" kern="1200" dirty="0"/>
        </a:p>
      </dsp:txBody>
      <dsp:txXfrm>
        <a:off x="3454400" y="2204720"/>
        <a:ext cx="1463040" cy="1341120"/>
      </dsp:txXfrm>
    </dsp:sp>
    <dsp:sp modelId="{2B1E5AAF-4A7F-40B5-ADE1-126C311F483B}">
      <dsp:nvSpPr>
        <dsp:cNvPr id="0" name=""/>
        <dsp:cNvSpPr/>
      </dsp:nvSpPr>
      <dsp:spPr>
        <a:xfrm>
          <a:off x="948943" y="1574800"/>
          <a:ext cx="2438400" cy="2438400"/>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lvl="0" algn="ctr" defTabSz="1244600">
            <a:lnSpc>
              <a:spcPct val="90000"/>
            </a:lnSpc>
            <a:spcBef>
              <a:spcPct val="0"/>
            </a:spcBef>
            <a:spcAft>
              <a:spcPct val="35000"/>
            </a:spcAft>
          </a:pPr>
          <a:r>
            <a:rPr lang="en-US" sz="2800" kern="1200" dirty="0" smtClean="0"/>
            <a:t>Functions</a:t>
          </a:r>
          <a:endParaRPr lang="en-US" sz="2800" kern="1200" dirty="0"/>
        </a:p>
      </dsp:txBody>
      <dsp:txXfrm>
        <a:off x="1178560" y="2204720"/>
        <a:ext cx="1463040" cy="1341120"/>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06F7022-2934-4BD2-BD52-88E2D2C82FA9}">
      <dsp:nvSpPr>
        <dsp:cNvPr id="0" name=""/>
        <dsp:cNvSpPr/>
      </dsp:nvSpPr>
      <dsp:spPr>
        <a:xfrm>
          <a:off x="2644675" y="1399"/>
          <a:ext cx="806648" cy="403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H1</a:t>
          </a:r>
          <a:endParaRPr lang="en-US" sz="1700" kern="1200" dirty="0"/>
        </a:p>
      </dsp:txBody>
      <dsp:txXfrm>
        <a:off x="2644675" y="1399"/>
        <a:ext cx="806648" cy="403324"/>
      </dsp:txXfrm>
    </dsp:sp>
    <dsp:sp modelId="{041670B1-758D-4977-B3F0-FFF73B43AD98}">
      <dsp:nvSpPr>
        <dsp:cNvPr id="0" name=""/>
        <dsp:cNvSpPr/>
      </dsp:nvSpPr>
      <dsp:spPr>
        <a:xfrm rot="1350000">
          <a:off x="3483947" y="400322"/>
          <a:ext cx="421358" cy="1411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US" sz="600" kern="1200"/>
        </a:p>
      </dsp:txBody>
      <dsp:txXfrm rot="1350000">
        <a:off x="3483947" y="400322"/>
        <a:ext cx="421358" cy="141163"/>
      </dsp:txXfrm>
    </dsp:sp>
    <dsp:sp modelId="{683C5C60-89C9-4A07-9B33-103B09542726}">
      <dsp:nvSpPr>
        <dsp:cNvPr id="0" name=""/>
        <dsp:cNvSpPr/>
      </dsp:nvSpPr>
      <dsp:spPr>
        <a:xfrm>
          <a:off x="3937930" y="537083"/>
          <a:ext cx="806648" cy="403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H2</a:t>
          </a:r>
          <a:endParaRPr lang="en-US" sz="1700" kern="1200" dirty="0"/>
        </a:p>
      </dsp:txBody>
      <dsp:txXfrm>
        <a:off x="3937930" y="537083"/>
        <a:ext cx="806648" cy="403324"/>
      </dsp:txXfrm>
    </dsp:sp>
    <dsp:sp modelId="{2A21C616-2A08-4C35-A465-91459F7ADD61}">
      <dsp:nvSpPr>
        <dsp:cNvPr id="0" name=""/>
        <dsp:cNvSpPr/>
      </dsp:nvSpPr>
      <dsp:spPr>
        <a:xfrm rot="4050000">
          <a:off x="4398416" y="1314791"/>
          <a:ext cx="421358" cy="1411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US" sz="600" kern="1200"/>
        </a:p>
      </dsp:txBody>
      <dsp:txXfrm rot="4050000">
        <a:off x="4398416" y="1314791"/>
        <a:ext cx="421358" cy="141163"/>
      </dsp:txXfrm>
    </dsp:sp>
    <dsp:sp modelId="{18D4BC1D-A4C4-41DD-9842-EF5BB75182E3}">
      <dsp:nvSpPr>
        <dsp:cNvPr id="0" name=""/>
        <dsp:cNvSpPr/>
      </dsp:nvSpPr>
      <dsp:spPr>
        <a:xfrm>
          <a:off x="4473613" y="1830337"/>
          <a:ext cx="806648" cy="403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H3</a:t>
          </a:r>
          <a:endParaRPr lang="en-US" sz="1700" kern="1200" dirty="0"/>
        </a:p>
      </dsp:txBody>
      <dsp:txXfrm>
        <a:off x="4473613" y="1830337"/>
        <a:ext cx="806648" cy="403324"/>
      </dsp:txXfrm>
    </dsp:sp>
    <dsp:sp modelId="{BB48C33E-9190-4B62-BC87-E728BC508AF6}">
      <dsp:nvSpPr>
        <dsp:cNvPr id="0" name=""/>
        <dsp:cNvSpPr/>
      </dsp:nvSpPr>
      <dsp:spPr>
        <a:xfrm rot="6750000">
          <a:off x="4398416" y="2608045"/>
          <a:ext cx="421358" cy="1411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US" sz="600" kern="1200"/>
        </a:p>
      </dsp:txBody>
      <dsp:txXfrm rot="6750000">
        <a:off x="4398416" y="2608045"/>
        <a:ext cx="421358" cy="141163"/>
      </dsp:txXfrm>
    </dsp:sp>
    <dsp:sp modelId="{5E47A135-86B5-4C38-8389-3684A9103174}">
      <dsp:nvSpPr>
        <dsp:cNvPr id="0" name=""/>
        <dsp:cNvSpPr/>
      </dsp:nvSpPr>
      <dsp:spPr>
        <a:xfrm>
          <a:off x="3937930" y="3123592"/>
          <a:ext cx="806648" cy="403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H4</a:t>
          </a:r>
          <a:endParaRPr lang="en-US" sz="1700" kern="1200" dirty="0"/>
        </a:p>
      </dsp:txBody>
      <dsp:txXfrm>
        <a:off x="3937930" y="3123592"/>
        <a:ext cx="806648" cy="403324"/>
      </dsp:txXfrm>
    </dsp:sp>
    <dsp:sp modelId="{9A5CB64A-1072-4C4B-B5A5-AE6582885312}">
      <dsp:nvSpPr>
        <dsp:cNvPr id="0" name=""/>
        <dsp:cNvSpPr/>
      </dsp:nvSpPr>
      <dsp:spPr>
        <a:xfrm rot="9450000">
          <a:off x="3483947" y="3522514"/>
          <a:ext cx="421358" cy="1411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US" sz="600" kern="1200"/>
        </a:p>
      </dsp:txBody>
      <dsp:txXfrm rot="9450000">
        <a:off x="3483947" y="3522514"/>
        <a:ext cx="421358" cy="141163"/>
      </dsp:txXfrm>
    </dsp:sp>
    <dsp:sp modelId="{89BE318B-BC46-49DC-8790-B87C4B7BEFBF}">
      <dsp:nvSpPr>
        <dsp:cNvPr id="0" name=""/>
        <dsp:cNvSpPr/>
      </dsp:nvSpPr>
      <dsp:spPr>
        <a:xfrm>
          <a:off x="2644675" y="3659275"/>
          <a:ext cx="806648" cy="403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H5</a:t>
          </a:r>
          <a:endParaRPr lang="en-US" sz="1700" kern="1200" dirty="0"/>
        </a:p>
      </dsp:txBody>
      <dsp:txXfrm>
        <a:off x="2644675" y="3659275"/>
        <a:ext cx="806648" cy="403324"/>
      </dsp:txXfrm>
    </dsp:sp>
    <dsp:sp modelId="{6D92924F-DB98-4D91-B0F0-54FE63EF0239}">
      <dsp:nvSpPr>
        <dsp:cNvPr id="0" name=""/>
        <dsp:cNvSpPr/>
      </dsp:nvSpPr>
      <dsp:spPr>
        <a:xfrm rot="12150000">
          <a:off x="2190693" y="3522514"/>
          <a:ext cx="421358" cy="1411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US" sz="600" kern="1200"/>
        </a:p>
      </dsp:txBody>
      <dsp:txXfrm rot="12150000">
        <a:off x="2190693" y="3522514"/>
        <a:ext cx="421358" cy="141163"/>
      </dsp:txXfrm>
    </dsp:sp>
    <dsp:sp modelId="{C6BC528B-A9E1-443F-A01C-4895CD4B670C}">
      <dsp:nvSpPr>
        <dsp:cNvPr id="0" name=""/>
        <dsp:cNvSpPr/>
      </dsp:nvSpPr>
      <dsp:spPr>
        <a:xfrm>
          <a:off x="1351421" y="3123592"/>
          <a:ext cx="806648" cy="403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H6</a:t>
          </a:r>
          <a:endParaRPr lang="en-US" sz="1700" kern="1200" dirty="0"/>
        </a:p>
      </dsp:txBody>
      <dsp:txXfrm>
        <a:off x="1351421" y="3123592"/>
        <a:ext cx="806648" cy="403324"/>
      </dsp:txXfrm>
    </dsp:sp>
    <dsp:sp modelId="{DB47F719-2C65-4B9D-9FF6-B61BC359D3A6}">
      <dsp:nvSpPr>
        <dsp:cNvPr id="0" name=""/>
        <dsp:cNvSpPr/>
      </dsp:nvSpPr>
      <dsp:spPr>
        <a:xfrm rot="14850000">
          <a:off x="1276224" y="2608045"/>
          <a:ext cx="421358" cy="1411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US" sz="600" kern="1200"/>
        </a:p>
      </dsp:txBody>
      <dsp:txXfrm rot="14850000">
        <a:off x="1276224" y="2608045"/>
        <a:ext cx="421358" cy="141163"/>
      </dsp:txXfrm>
    </dsp:sp>
    <dsp:sp modelId="{D171BADB-3E4F-41AE-8571-66EA26E92099}">
      <dsp:nvSpPr>
        <dsp:cNvPr id="0" name=""/>
        <dsp:cNvSpPr/>
      </dsp:nvSpPr>
      <dsp:spPr>
        <a:xfrm>
          <a:off x="815737" y="1830337"/>
          <a:ext cx="806648" cy="403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H7</a:t>
          </a:r>
          <a:endParaRPr lang="en-US" sz="1700" kern="1200" dirty="0"/>
        </a:p>
      </dsp:txBody>
      <dsp:txXfrm>
        <a:off x="815737" y="1830337"/>
        <a:ext cx="806648" cy="403324"/>
      </dsp:txXfrm>
    </dsp:sp>
    <dsp:sp modelId="{2407F2FA-4D24-4C4E-9C3F-980595D4D3C6}">
      <dsp:nvSpPr>
        <dsp:cNvPr id="0" name=""/>
        <dsp:cNvSpPr/>
      </dsp:nvSpPr>
      <dsp:spPr>
        <a:xfrm rot="17550000">
          <a:off x="1276224" y="1314791"/>
          <a:ext cx="421358" cy="1411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US" sz="600" kern="1200"/>
        </a:p>
      </dsp:txBody>
      <dsp:txXfrm rot="17550000">
        <a:off x="1276224" y="1314791"/>
        <a:ext cx="421358" cy="141163"/>
      </dsp:txXfrm>
    </dsp:sp>
    <dsp:sp modelId="{B5F798BC-A097-4B2C-9DB6-67D20E18EA7B}">
      <dsp:nvSpPr>
        <dsp:cNvPr id="0" name=""/>
        <dsp:cNvSpPr/>
      </dsp:nvSpPr>
      <dsp:spPr>
        <a:xfrm>
          <a:off x="1351421" y="537083"/>
          <a:ext cx="806648" cy="403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H8</a:t>
          </a:r>
          <a:endParaRPr lang="en-US" sz="1700" kern="1200" dirty="0"/>
        </a:p>
      </dsp:txBody>
      <dsp:txXfrm>
        <a:off x="1351421" y="537083"/>
        <a:ext cx="806648" cy="403324"/>
      </dsp:txXfrm>
    </dsp:sp>
    <dsp:sp modelId="{75255267-5626-4CEB-958C-3E04F25905E0}">
      <dsp:nvSpPr>
        <dsp:cNvPr id="0" name=""/>
        <dsp:cNvSpPr/>
      </dsp:nvSpPr>
      <dsp:spPr>
        <a:xfrm rot="20250000">
          <a:off x="2190693" y="400322"/>
          <a:ext cx="421358" cy="1411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66700">
            <a:lnSpc>
              <a:spcPct val="90000"/>
            </a:lnSpc>
            <a:spcBef>
              <a:spcPct val="0"/>
            </a:spcBef>
            <a:spcAft>
              <a:spcPct val="35000"/>
            </a:spcAft>
          </a:pPr>
          <a:endParaRPr lang="en-US" sz="600" kern="1200"/>
        </a:p>
      </dsp:txBody>
      <dsp:txXfrm rot="20250000">
        <a:off x="2190693" y="400322"/>
        <a:ext cx="421358" cy="14116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42" name="Rectangle 10"/>
          <p:cNvSpPr>
            <a:spLocks noChangeArrowheads="1"/>
          </p:cNvSpPr>
          <p:nvPr/>
        </p:nvSpPr>
        <p:spPr bwMode="auto">
          <a:xfrm>
            <a:off x="44450" y="9013825"/>
            <a:ext cx="311150" cy="212725"/>
          </a:xfrm>
          <a:prstGeom prst="rect">
            <a:avLst/>
          </a:prstGeom>
          <a:noFill/>
          <a:ln w="9525">
            <a:noFill/>
            <a:miter lim="800000"/>
            <a:headEnd/>
            <a:tailEnd/>
          </a:ln>
          <a:effectLst/>
        </p:spPr>
        <p:txBody>
          <a:bodyPr lIns="0" tIns="0" rIns="0" bIns="0" anchor="ctr"/>
          <a:lstStyle/>
          <a:p>
            <a:pPr defTabSz="931863">
              <a:defRPr/>
            </a:pPr>
            <a:fld id="{A0FE2B9E-0AE4-483F-B68B-2F7E73507400}" type="slidenum">
              <a:rPr lang="en-GB" sz="1100">
                <a:latin typeface="Arial" charset="0"/>
              </a:rPr>
              <a:pPr defTabSz="931863">
                <a:defRPr/>
              </a:pPr>
              <a:t>‹#›</a:t>
            </a:fld>
            <a:endParaRPr lang="en-GB" sz="1100">
              <a:latin typeface="Arial" charset="0"/>
            </a:endParaRPr>
          </a:p>
        </p:txBody>
      </p:sp>
      <p:sp>
        <p:nvSpPr>
          <p:cNvPr id="44043" name="Rectangle 11"/>
          <p:cNvSpPr>
            <a:spLocks noChangeArrowheads="1"/>
          </p:cNvSpPr>
          <p:nvPr/>
        </p:nvSpPr>
        <p:spPr bwMode="auto">
          <a:xfrm>
            <a:off x="5489575" y="8988425"/>
            <a:ext cx="1460500" cy="260350"/>
          </a:xfrm>
          <a:prstGeom prst="rect">
            <a:avLst/>
          </a:prstGeom>
          <a:noFill/>
          <a:ln w="9525">
            <a:noFill/>
            <a:miter lim="800000"/>
            <a:headEnd/>
            <a:tailEnd/>
          </a:ln>
          <a:effectLst/>
        </p:spPr>
        <p:txBody>
          <a:bodyPr wrap="none" lIns="93162" tIns="46581" rIns="93162" bIns="46581" anchor="ctr">
            <a:spAutoFit/>
          </a:bodyPr>
          <a:lstStyle/>
          <a:p>
            <a:pPr algn="l" defTabSz="931863">
              <a:defRPr/>
            </a:pPr>
            <a:r>
              <a:rPr lang="en-GB" sz="1100">
                <a:latin typeface="Arial" charset="0"/>
              </a:rPr>
              <a:t>© 2006 Hospira, Inc.</a:t>
            </a:r>
            <a:endParaRPr lang="en-US" sz="1100">
              <a:latin typeface="Arial"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4"/>
          <p:cNvSpPr>
            <a:spLocks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p:spPr>
      </p:sp>
      <p:sp>
        <p:nvSpPr>
          <p:cNvPr id="25605" name="Rectangle 5"/>
          <p:cNvSpPr>
            <a:spLocks noGrp="1" noChangeArrowheads="1"/>
          </p:cNvSpPr>
          <p:nvPr>
            <p:ph type="body" sz="quarter" idx="3"/>
          </p:nvPr>
        </p:nvSpPr>
        <p:spPr bwMode="auto">
          <a:xfrm>
            <a:off x="933450" y="4416425"/>
            <a:ext cx="5143500" cy="4183063"/>
          </a:xfrm>
          <a:prstGeom prst="rect">
            <a:avLst/>
          </a:prstGeom>
          <a:noFill/>
          <a:ln w="9525">
            <a:noFill/>
            <a:miter lim="800000"/>
            <a:headEnd/>
            <a:tailEnd/>
          </a:ln>
          <a:effectLst/>
        </p:spPr>
        <p:txBody>
          <a:bodyPr vert="horz" wrap="square" lIns="93162" tIns="46581" rIns="93162" bIns="46581"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p:txBody>
      </p:sp>
      <p:sp>
        <p:nvSpPr>
          <p:cNvPr id="25609" name="Rectangle 9"/>
          <p:cNvSpPr>
            <a:spLocks noChangeArrowheads="1"/>
          </p:cNvSpPr>
          <p:nvPr/>
        </p:nvSpPr>
        <p:spPr bwMode="auto">
          <a:xfrm>
            <a:off x="44450" y="9013825"/>
            <a:ext cx="311150" cy="212725"/>
          </a:xfrm>
          <a:prstGeom prst="rect">
            <a:avLst/>
          </a:prstGeom>
          <a:noFill/>
          <a:ln w="9525">
            <a:noFill/>
            <a:miter lim="800000"/>
            <a:headEnd/>
            <a:tailEnd/>
          </a:ln>
          <a:effectLst/>
        </p:spPr>
        <p:txBody>
          <a:bodyPr lIns="0" tIns="0" rIns="0" bIns="0" anchor="ctr"/>
          <a:lstStyle/>
          <a:p>
            <a:pPr defTabSz="931863">
              <a:defRPr/>
            </a:pPr>
            <a:fld id="{BF703DF0-CE0B-4187-8447-4A39D002D9FE}" type="slidenum">
              <a:rPr lang="en-GB" sz="1100">
                <a:latin typeface="Arial" charset="0"/>
              </a:rPr>
              <a:pPr defTabSz="931863">
                <a:defRPr/>
              </a:pPr>
              <a:t>‹#›</a:t>
            </a:fld>
            <a:endParaRPr lang="en-GB" sz="1100">
              <a:latin typeface="Arial" charset="0"/>
            </a:endParaRPr>
          </a:p>
        </p:txBody>
      </p:sp>
      <p:sp>
        <p:nvSpPr>
          <p:cNvPr id="25610" name="Rectangle 10"/>
          <p:cNvSpPr>
            <a:spLocks noChangeArrowheads="1"/>
          </p:cNvSpPr>
          <p:nvPr/>
        </p:nvSpPr>
        <p:spPr bwMode="auto">
          <a:xfrm>
            <a:off x="5489575" y="8988425"/>
            <a:ext cx="1460500" cy="260350"/>
          </a:xfrm>
          <a:prstGeom prst="rect">
            <a:avLst/>
          </a:prstGeom>
          <a:noFill/>
          <a:ln w="9525">
            <a:noFill/>
            <a:miter lim="800000"/>
            <a:headEnd/>
            <a:tailEnd/>
          </a:ln>
          <a:effectLst/>
        </p:spPr>
        <p:txBody>
          <a:bodyPr wrap="none" lIns="93162" tIns="46581" rIns="93162" bIns="46581" anchor="ctr">
            <a:spAutoFit/>
          </a:bodyPr>
          <a:lstStyle/>
          <a:p>
            <a:pPr algn="l" defTabSz="931863">
              <a:defRPr/>
            </a:pPr>
            <a:r>
              <a:rPr lang="en-GB" sz="1100">
                <a:latin typeface="Arial" charset="0"/>
              </a:rPr>
              <a:t>© 2006 Hospira, Inc.</a:t>
            </a:r>
            <a:endParaRPr lang="en-US" sz="1100">
              <a:latin typeface="Arial" charset="0"/>
            </a:endParaRPr>
          </a:p>
        </p:txBody>
      </p:sp>
    </p:spTree>
  </p:cSld>
  <p:clrMap bg1="lt1" tx1="dk1" bg2="lt2" tx2="dk2" accent1="accent1" accent2="accent2" accent3="accent3" accent4="accent4" accent5="accent5" accent6="accent6" hlink="hlink" folHlink="folHlink"/>
  <p:notesStyle>
    <a:lvl1pPr marL="120650" indent="-120650" algn="l" rtl="0" eaLnBrk="0" fontAlgn="base" hangingPunct="0">
      <a:spcBef>
        <a:spcPct val="30000"/>
      </a:spcBef>
      <a:spcAft>
        <a:spcPct val="0"/>
      </a:spcAft>
      <a:buChar char="•"/>
      <a:defRPr sz="1200" kern="1200">
        <a:solidFill>
          <a:schemeClr val="tx1"/>
        </a:solidFill>
        <a:latin typeface="Arial" charset="0"/>
        <a:ea typeface="+mn-ea"/>
        <a:cs typeface="+mn-cs"/>
      </a:defRPr>
    </a:lvl1pPr>
    <a:lvl2pPr marL="571500" indent="-114300" algn="l" rtl="0" eaLnBrk="0" fontAlgn="base" hangingPunct="0">
      <a:spcBef>
        <a:spcPct val="30000"/>
      </a:spcBef>
      <a:spcAft>
        <a:spcPct val="0"/>
      </a:spcAft>
      <a:buChar char="•"/>
      <a:defRPr sz="1200" kern="1200">
        <a:solidFill>
          <a:schemeClr val="tx1"/>
        </a:solidFill>
        <a:latin typeface="Arial" charset="0"/>
        <a:ea typeface="+mn-ea"/>
        <a:cs typeface="+mn-cs"/>
      </a:defRPr>
    </a:lvl2pPr>
    <a:lvl3pPr marL="1022350" indent="-107950" algn="l" rtl="0" eaLnBrk="0" fontAlgn="base" hangingPunct="0">
      <a:spcBef>
        <a:spcPct val="30000"/>
      </a:spcBef>
      <a:spcAft>
        <a:spcPct val="0"/>
      </a:spcAft>
      <a:buChar char="•"/>
      <a:defRPr sz="1200" kern="1200">
        <a:solidFill>
          <a:schemeClr val="tx1"/>
        </a:solidFill>
        <a:latin typeface="Arial" charset="0"/>
        <a:ea typeface="+mn-ea"/>
        <a:cs typeface="+mn-cs"/>
      </a:defRPr>
    </a:lvl3pPr>
    <a:lvl4pPr marL="1600200" indent="-228600" algn="l" rtl="0" eaLnBrk="0" fontAlgn="base" hangingPunct="0">
      <a:spcBef>
        <a:spcPct val="30000"/>
      </a:spcBef>
      <a:spcAft>
        <a:spcPct val="0"/>
      </a:spcAft>
      <a:buChar char="•"/>
      <a:defRPr sz="1200" kern="1200">
        <a:solidFill>
          <a:schemeClr val="tx1"/>
        </a:solidFill>
        <a:latin typeface="Arial" charset="0"/>
        <a:ea typeface="+mn-ea"/>
        <a:cs typeface="+mn-cs"/>
      </a:defRPr>
    </a:lvl4pPr>
    <a:lvl5pPr marL="2057400" indent="-228600" algn="l" rtl="0" eaLnBrk="0" fontAlgn="base" hangingPunct="0">
      <a:spcBef>
        <a:spcPct val="30000"/>
      </a:spcBef>
      <a:spcAft>
        <a:spcPct val="0"/>
      </a:spcAft>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noTextEdit="1"/>
          </p:cNvSpPr>
          <p:nvPr>
            <p:ph type="sldImg"/>
          </p:nvPr>
        </p:nvSpPr>
        <p:spPr>
          <a:xfrm>
            <a:off x="1190625" y="703263"/>
            <a:ext cx="4630738" cy="3473450"/>
          </a:xfrm>
          <a:ln w="12700" cap="flat">
            <a:solidFill>
              <a:schemeClr val="tx1"/>
            </a:solidFill>
          </a:ln>
        </p:spPr>
      </p:sp>
      <p:sp>
        <p:nvSpPr>
          <p:cNvPr id="58371" name="Rectangle 3"/>
          <p:cNvSpPr>
            <a:spLocks noGrp="1" noChangeArrowheads="1"/>
          </p:cNvSpPr>
          <p:nvPr>
            <p:ph type="body" idx="1"/>
          </p:nvPr>
        </p:nvSpPr>
        <p:spPr>
          <a:xfrm>
            <a:off x="935038" y="4416425"/>
            <a:ext cx="5140325" cy="4183063"/>
          </a:xfrm>
          <a:noFill/>
          <a:ln/>
        </p:spPr>
        <p:txBody>
          <a:bodyPr lIns="92207" tIns="45295" rIns="92207" bIns="45295"/>
          <a:lstStyle/>
          <a:p>
            <a:pPr eaLnBrk="1" hangingPunct="1"/>
            <a:r>
              <a:rPr lang="en-US" smtClean="0"/>
              <a:t>Review of Basic Concepts &amp; Approaches</a:t>
            </a:r>
          </a:p>
          <a:p>
            <a:pPr eaLnBrk="1" hangingPunct="1"/>
            <a:r>
              <a:rPr lang="en-US" smtClean="0"/>
              <a:t>Essential concepts include: </a:t>
            </a:r>
          </a:p>
          <a:p>
            <a:pPr eaLnBrk="1" hangingPunct="1"/>
            <a:r>
              <a:rPr lang="en-US" smtClean="0"/>
              <a:t>content</a:t>
            </a:r>
          </a:p>
          <a:p>
            <a:pPr eaLnBrk="1" hangingPunct="1"/>
            <a:r>
              <a:rPr lang="en-US" smtClean="0"/>
              <a:t>metadata &amp; metadata repositories</a:t>
            </a:r>
          </a:p>
          <a:p>
            <a:pPr eaLnBrk="1" hangingPunct="1"/>
            <a:r>
              <a:rPr lang="en-US" smtClean="0"/>
              <a:t>navigation architectures</a:t>
            </a:r>
          </a:p>
          <a:p>
            <a:pPr eaLnBrk="1" hangingPunct="1"/>
            <a:r>
              <a:rPr lang="en-US" smtClean="0"/>
              <a:t>search architectures</a:t>
            </a:r>
          </a:p>
          <a:p>
            <a:pPr eaLnBrk="1" hangingPunct="1"/>
            <a:r>
              <a:rPr lang="en-US" smtClean="0"/>
              <a:t>portal architectures</a:t>
            </a:r>
          </a:p>
          <a:p>
            <a:pPr eaLnBrk="1" hangingPunct="1"/>
            <a:r>
              <a:rPr lang="en-US" smtClean="0"/>
              <a:t>Information architectures in portals and web environments are increasingly complex, integrating technologies to deliver value to users.  Seamless integration is the goal.  Taxonomies are critical data structures that help us to build a sustainable foundation, to integrate efficiently and to manage the complexity.  Whole information architecture is more adaptable and sustainable over time if it adheres to established standards and best practices.  Whole Information Architecture is more cost effective if new technologies currently being researched or under development can be integrated without re-engineering the base.  Like the content and processes they support, each component of a portal has a life cycle.   </a:t>
            </a:r>
          </a:p>
          <a:p>
            <a:pPr eaLnBrk="1" hangingPunct="1"/>
            <a:endParaRPr lang="en-US" smtClean="0"/>
          </a:p>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body" idx="1"/>
          </p:nvPr>
        </p:nvSpPr>
        <p:spPr>
          <a:xfrm>
            <a:off x="935038" y="4416425"/>
            <a:ext cx="5140325" cy="4183063"/>
          </a:xfrm>
          <a:noFill/>
          <a:ln/>
        </p:spPr>
        <p:txBody>
          <a:bodyPr lIns="92207" tIns="45295" rIns="92207" bIns="45295"/>
          <a:lstStyle/>
          <a:p>
            <a:pPr eaLnBrk="1" hangingPunct="1"/>
            <a:endParaRPr lang="en-US" smtClean="0"/>
          </a:p>
        </p:txBody>
      </p:sp>
      <p:sp>
        <p:nvSpPr>
          <p:cNvPr id="179203" name="Rectangle 3"/>
          <p:cNvSpPr>
            <a:spLocks noChangeArrowheads="1" noTextEdit="1"/>
          </p:cNvSpPr>
          <p:nvPr>
            <p:ph type="sldImg"/>
          </p:nvPr>
        </p:nvSpPr>
        <p:spPr>
          <a:xfrm>
            <a:off x="1190625" y="703263"/>
            <a:ext cx="4630738" cy="3473450"/>
          </a:xfrm>
          <a:ln w="12700" cap="flat">
            <a:solidFill>
              <a:schemeClr val="tx1"/>
            </a:solid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body" idx="1"/>
          </p:nvPr>
        </p:nvSpPr>
        <p:spPr>
          <a:xfrm>
            <a:off x="935038" y="4416425"/>
            <a:ext cx="5140325" cy="4183063"/>
          </a:xfrm>
          <a:noFill/>
          <a:ln/>
        </p:spPr>
        <p:txBody>
          <a:bodyPr lIns="92207" tIns="45295" rIns="92207" bIns="45295"/>
          <a:lstStyle/>
          <a:p>
            <a:pPr eaLnBrk="1" hangingPunct="1"/>
            <a:endParaRPr lang="en-US" smtClean="0"/>
          </a:p>
        </p:txBody>
      </p:sp>
      <p:sp>
        <p:nvSpPr>
          <p:cNvPr id="173059" name="Rectangle 3"/>
          <p:cNvSpPr>
            <a:spLocks noChangeArrowheads="1" noTextEdit="1"/>
          </p:cNvSpPr>
          <p:nvPr>
            <p:ph type="sldImg"/>
          </p:nvPr>
        </p:nvSpPr>
        <p:spPr>
          <a:xfrm>
            <a:off x="1190625" y="703263"/>
            <a:ext cx="4630738" cy="3473450"/>
          </a:xfrm>
          <a:ln w="12700" cap="flat">
            <a:solidFill>
              <a:schemeClr val="tx1"/>
            </a:solid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body" idx="1"/>
          </p:nvPr>
        </p:nvSpPr>
        <p:spPr>
          <a:xfrm>
            <a:off x="935038" y="4416425"/>
            <a:ext cx="5140325" cy="4183063"/>
          </a:xfrm>
          <a:noFill/>
          <a:ln/>
        </p:spPr>
        <p:txBody>
          <a:bodyPr lIns="92207" tIns="45295" rIns="92207" bIns="45295"/>
          <a:lstStyle/>
          <a:p>
            <a:pPr eaLnBrk="1" hangingPunct="1"/>
            <a:endParaRPr lang="en-US" smtClean="0"/>
          </a:p>
        </p:txBody>
      </p:sp>
      <p:sp>
        <p:nvSpPr>
          <p:cNvPr id="175107" name="Rectangle 3"/>
          <p:cNvSpPr>
            <a:spLocks noChangeArrowheads="1" noTextEdit="1"/>
          </p:cNvSpPr>
          <p:nvPr>
            <p:ph type="sldImg"/>
          </p:nvPr>
        </p:nvSpPr>
        <p:spPr>
          <a:xfrm>
            <a:off x="1190625" y="703263"/>
            <a:ext cx="4630738" cy="3473450"/>
          </a:xfrm>
          <a:ln w="12700" cap="flat">
            <a:solidFill>
              <a:schemeClr val="tx1"/>
            </a:solid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Grassy Ridgelines, Briones Regional Park, California.jpg"/>
          <p:cNvPicPr>
            <a:picLocks noChangeAspect="1"/>
          </p:cNvPicPr>
          <p:nvPr/>
        </p:nvPicPr>
        <p:blipFill>
          <a:blip r:embed="rId2" cstate="print">
            <a:lum bright="20000"/>
          </a:blip>
          <a:srcRect/>
          <a:stretch>
            <a:fillRect/>
          </a:stretch>
        </p:blipFill>
        <p:spPr bwMode="auto">
          <a:xfrm>
            <a:off x="0" y="0"/>
            <a:ext cx="9144000" cy="6858000"/>
          </a:xfrm>
          <a:prstGeom prst="rect">
            <a:avLst/>
          </a:prstGeom>
          <a:solidFill>
            <a:schemeClr val="bg1"/>
          </a:solidFill>
          <a:ln w="9525">
            <a:noFill/>
            <a:miter lim="800000"/>
            <a:headEnd/>
            <a:tailEnd/>
          </a:ln>
        </p:spPr>
      </p:pic>
      <p:sp>
        <p:nvSpPr>
          <p:cNvPr id="5" name="Rectangle 4"/>
          <p:cNvSpPr/>
          <p:nvPr/>
        </p:nvSpPr>
        <p:spPr>
          <a:xfrm>
            <a:off x="1219200" y="0"/>
            <a:ext cx="7924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a:solidFill>
                <a:srgbClr val="FFFFFF"/>
              </a:solidFill>
              <a:cs typeface="Arial" charset="0"/>
            </a:endParaRPr>
          </a:p>
        </p:txBody>
      </p:sp>
      <p:pic>
        <p:nvPicPr>
          <p:cNvPr id="6" name="Picture 8" descr="small VEG  logo.png"/>
          <p:cNvPicPr>
            <a:picLocks noChangeAspect="1"/>
          </p:cNvPicPr>
          <p:nvPr/>
        </p:nvPicPr>
        <p:blipFill>
          <a:blip r:embed="rId3" cstate="print"/>
          <a:srcRect/>
          <a:stretch>
            <a:fillRect/>
          </a:stretch>
        </p:blipFill>
        <p:spPr bwMode="auto">
          <a:xfrm>
            <a:off x="2590800" y="457200"/>
            <a:ext cx="4008438" cy="1066800"/>
          </a:xfrm>
          <a:prstGeom prst="rect">
            <a:avLst/>
          </a:prstGeom>
          <a:noFill/>
          <a:ln w="9525">
            <a:noFill/>
            <a:miter lim="800000"/>
            <a:headEnd/>
            <a:tailEnd/>
          </a:ln>
        </p:spPr>
      </p:pic>
      <p:sp>
        <p:nvSpPr>
          <p:cNvPr id="7" name="TextBox 6"/>
          <p:cNvSpPr txBox="1"/>
          <p:nvPr/>
        </p:nvSpPr>
        <p:spPr>
          <a:xfrm>
            <a:off x="2200275" y="6478588"/>
            <a:ext cx="4722813" cy="215900"/>
          </a:xfrm>
          <a:prstGeom prst="rect">
            <a:avLst/>
          </a:prstGeom>
          <a:noFill/>
        </p:spPr>
        <p:txBody>
          <a:bodyPr wrap="none">
            <a:spAutoFit/>
          </a:bodyPr>
          <a:lstStyle/>
          <a:p>
            <a:pPr algn="ctr"/>
            <a:r>
              <a:rPr lang="en-US" sz="800"/>
              <a:t>Privileged and Confidential..Copyright The Value Enablement Group, LLC 2009, All rights reserved.</a:t>
            </a:r>
          </a:p>
        </p:txBody>
      </p:sp>
      <p:sp>
        <p:nvSpPr>
          <p:cNvPr id="8" name="TextBox 7"/>
          <p:cNvSpPr txBox="1"/>
          <p:nvPr/>
        </p:nvSpPr>
        <p:spPr>
          <a:xfrm>
            <a:off x="2200275" y="6478588"/>
            <a:ext cx="4722813" cy="215900"/>
          </a:xfrm>
          <a:prstGeom prst="rect">
            <a:avLst/>
          </a:prstGeom>
          <a:noFill/>
        </p:spPr>
        <p:txBody>
          <a:bodyPr wrap="none">
            <a:spAutoFit/>
          </a:bodyPr>
          <a:lstStyle/>
          <a:p>
            <a:pPr algn="ctr"/>
            <a:r>
              <a:rPr lang="en-US" sz="800"/>
              <a:t>Privileged and Confidential..Copyright The Value Enablement Group, LLC 2009, All rights reserved.</a:t>
            </a:r>
          </a:p>
        </p:txBody>
      </p:sp>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9" name="Date Placeholder 3"/>
          <p:cNvSpPr>
            <a:spLocks noGrp="1"/>
          </p:cNvSpPr>
          <p:nvPr>
            <p:ph type="dt" sz="half" idx="10"/>
          </p:nvPr>
        </p:nvSpPr>
        <p:spPr/>
        <p:txBody>
          <a:bodyPr/>
          <a:lstStyle>
            <a:lvl1pPr algn="l">
              <a:defRPr/>
            </a:lvl1pPr>
          </a:lstStyle>
          <a:p>
            <a:fld id="{5B9BE0F0-DC86-4AF7-804F-B46B267ED472}" type="datetimeFigureOut">
              <a:rPr lang="en-US" smtClean="0"/>
              <a:pPr/>
              <a:t>1/26/2010</a:t>
            </a:fld>
            <a:endParaRPr lang="en-US"/>
          </a:p>
        </p:txBody>
      </p:sp>
      <p:sp>
        <p:nvSpPr>
          <p:cNvPr id="10" name="Footer Placeholder 4"/>
          <p:cNvSpPr>
            <a:spLocks noGrp="1"/>
          </p:cNvSpPr>
          <p:nvPr>
            <p:ph type="ftr" sz="quarter" idx="11"/>
          </p:nvPr>
        </p:nvSpPr>
        <p:spPr/>
        <p:txBody>
          <a:bodyPr/>
          <a:lstStyle>
            <a:lvl1pPr>
              <a:defRPr>
                <a:solidFill>
                  <a:srgbClr val="898989"/>
                </a:solidFill>
              </a:defRPr>
            </a:lvl1pPr>
          </a:lstStyle>
          <a:p>
            <a:endParaRPr lang="en-US"/>
          </a:p>
        </p:txBody>
      </p:sp>
      <p:sp>
        <p:nvSpPr>
          <p:cNvPr id="11" name="Slide Number Placeholder 5"/>
          <p:cNvSpPr>
            <a:spLocks noGrp="1"/>
          </p:cNvSpPr>
          <p:nvPr>
            <p:ph type="sldNum" sz="quarter" idx="12"/>
          </p:nvPr>
        </p:nvSpPr>
        <p:spPr/>
        <p:txBody>
          <a:bodyPr/>
          <a:lstStyle>
            <a:lvl1pPr algn="r">
              <a:defRPr/>
            </a:lvl1pPr>
          </a:lstStyle>
          <a:p>
            <a:fld id="{436FEDB7-765A-4F60-95CF-CE47C66C6EF8}" type="slidenum">
              <a:rPr lang="en-US" smtClean="0"/>
              <a:pPr/>
              <a:t>‹#›</a:t>
            </a:fld>
            <a:endParaRPr lang="en-US"/>
          </a:p>
        </p:txBody>
      </p:sp>
      <p:sp>
        <p:nvSpPr>
          <p:cNvPr id="12" name="Rectangle 19"/>
          <p:cNvSpPr>
            <a:spLocks noChangeArrowheads="1"/>
          </p:cNvSpPr>
          <p:nvPr userDrawn="1"/>
        </p:nvSpPr>
        <p:spPr bwMode="auto">
          <a:xfrm>
            <a:off x="0" y="0"/>
            <a:ext cx="9144000" cy="6858000"/>
          </a:xfrm>
          <a:prstGeom prst="rect">
            <a:avLst/>
          </a:prstGeom>
          <a:noFill/>
          <a:ln w="9525">
            <a:solidFill>
              <a:schemeClr val="tx2"/>
            </a:solidFill>
            <a:miter lim="800000"/>
            <a:headEnd/>
            <a:tailEnd/>
          </a:ln>
          <a:effectLst/>
        </p:spPr>
        <p:txBody>
          <a:bodyPr wrap="none" anchor="ctr"/>
          <a:lstStyle/>
          <a:p>
            <a:pPr>
              <a:defRPr/>
            </a:pPr>
            <a:endParaRPr lang="en-US">
              <a:solidFill>
                <a:schemeClr val="bg1"/>
              </a:solidFill>
            </a:endParaRPr>
          </a:p>
        </p:txBody>
      </p:sp>
    </p:spTree>
  </p:cSld>
  <p:clrMapOvr>
    <a:masterClrMapping/>
  </p:clrMapOvr>
  <p:transition>
    <p:randomBar dir="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descr="small VEG  logo.png"/>
          <p:cNvPicPr>
            <a:picLocks noChangeAspect="1"/>
          </p:cNvPicPr>
          <p:nvPr/>
        </p:nvPicPr>
        <p:blipFill>
          <a:blip r:embed="rId2" cstate="print"/>
          <a:srcRect/>
          <a:stretch>
            <a:fillRect/>
          </a:stretch>
        </p:blipFill>
        <p:spPr bwMode="auto">
          <a:xfrm>
            <a:off x="9525" y="0"/>
            <a:ext cx="3038475" cy="808038"/>
          </a:xfrm>
          <a:prstGeom prst="rect">
            <a:avLst/>
          </a:prstGeom>
          <a:noFill/>
          <a:ln w="9525">
            <a:noFill/>
            <a:miter lim="800000"/>
            <a:headEnd/>
            <a:tailEnd/>
          </a:ln>
        </p:spPr>
      </p:pic>
      <p:cxnSp>
        <p:nvCxnSpPr>
          <p:cNvPr id="5" name="Straight Connector 4"/>
          <p:cNvCxnSpPr/>
          <p:nvPr/>
        </p:nvCxnSpPr>
        <p:spPr>
          <a:xfrm>
            <a:off x="457200" y="1219200"/>
            <a:ext cx="8229600" cy="0"/>
          </a:xfrm>
          <a:prstGeom prst="line">
            <a:avLst/>
          </a:prstGeom>
          <a:ln w="82550" cap="rnd">
            <a:solidFill>
              <a:srgbClr val="216778"/>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200275" y="6478588"/>
            <a:ext cx="4722813" cy="215900"/>
          </a:xfrm>
          <a:prstGeom prst="rect">
            <a:avLst/>
          </a:prstGeom>
          <a:noFill/>
        </p:spPr>
        <p:txBody>
          <a:bodyPr wrap="none">
            <a:spAutoFit/>
          </a:bodyPr>
          <a:lstStyle/>
          <a:p>
            <a:pPr algn="ctr"/>
            <a:r>
              <a:rPr lang="en-US" sz="800" dirty="0"/>
              <a:t>Privileged and Confidential..Copyright The Value Enablement Group, LLC 2009, All rights reserved.</a:t>
            </a:r>
          </a:p>
        </p:txBody>
      </p:sp>
      <p:sp>
        <p:nvSpPr>
          <p:cNvPr id="2" name="Title 1"/>
          <p:cNvSpPr>
            <a:spLocks noGrp="1"/>
          </p:cNvSpPr>
          <p:nvPr>
            <p:ph type="title"/>
          </p:nvPr>
        </p:nvSpPr>
        <p:spPr>
          <a:xfrm>
            <a:off x="457200" y="762000"/>
            <a:ext cx="8229600" cy="350838"/>
          </a:xfrm>
        </p:spPr>
        <p:txBody>
          <a:bodyPr>
            <a:noAutofit/>
          </a:bodyPr>
          <a:lstStyle>
            <a:lvl1pPr>
              <a:defRPr sz="2800" b="1"/>
            </a:lvl1pPr>
          </a:lstStyle>
          <a:p>
            <a:r>
              <a:rPr lang="en-US" smtClean="0"/>
              <a:t>Click to edit Master title style</a:t>
            </a:r>
            <a:endParaRPr lang="en-US" dirty="0"/>
          </a:p>
        </p:txBody>
      </p:sp>
      <p:sp>
        <p:nvSpPr>
          <p:cNvPr id="3" name="Content Placeholder 2"/>
          <p:cNvSpPr>
            <a:spLocks noGrp="1"/>
          </p:cNvSpPr>
          <p:nvPr>
            <p:ph idx="1"/>
          </p:nvPr>
        </p:nvSpPr>
        <p:spPr>
          <a:xfrm>
            <a:off x="457200" y="1295400"/>
            <a:ext cx="8229600" cy="48307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Slide Number Placeholder 10"/>
          <p:cNvSpPr>
            <a:spLocks noGrp="1"/>
          </p:cNvSpPr>
          <p:nvPr>
            <p:ph type="sldNum" sz="quarter" idx="11"/>
          </p:nvPr>
        </p:nvSpPr>
        <p:spPr>
          <a:xfrm>
            <a:off x="8001000" y="6356350"/>
            <a:ext cx="685800" cy="365125"/>
          </a:xfrm>
        </p:spPr>
        <p:txBody>
          <a:bodyPr/>
          <a:lstStyle>
            <a:lvl1pPr>
              <a:defRPr sz="1600" b="1">
                <a:solidFill>
                  <a:schemeClr val="accent1">
                    <a:lumMod val="50000"/>
                  </a:schemeClr>
                </a:solidFill>
              </a:defRPr>
            </a:lvl1pPr>
          </a:lstStyle>
          <a:p>
            <a:fld id="{5B6A880B-E8E6-4C8A-9CF5-BD51C9C2ABBE}" type="slidenum">
              <a:rPr lang="en-US" smtClean="0"/>
              <a:pPr/>
              <a:t>‹#›</a:t>
            </a:fld>
            <a:endParaRPr lang="en-US"/>
          </a:p>
        </p:txBody>
      </p:sp>
    </p:spTree>
  </p:cSld>
  <p:clrMapOvr>
    <a:masterClrMapping/>
  </p:clrMapOvr>
  <p:transition>
    <p:randomBar dir="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lgn="l">
              <a:defRPr/>
            </a:lvl1pPr>
          </a:lstStyle>
          <a:p>
            <a:fld id="{F3E08413-0E60-475F-8BEF-6A16E485A976}" type="datetimeFigureOut">
              <a:rPr lang="en-US" smtClean="0"/>
              <a:pPr/>
              <a:t>1/26/2010</a:t>
            </a:fld>
            <a:endParaRPr lang="en-US"/>
          </a:p>
        </p:txBody>
      </p:sp>
      <p:sp>
        <p:nvSpPr>
          <p:cNvPr id="6" name="Footer Placeholder 5"/>
          <p:cNvSpPr>
            <a:spLocks noGrp="1"/>
          </p:cNvSpPr>
          <p:nvPr>
            <p:ph type="ftr" sz="quarter" idx="11"/>
          </p:nvPr>
        </p:nvSpPr>
        <p:spPr/>
        <p:txBody>
          <a:bodyPr/>
          <a:lstStyle>
            <a:lvl1pPr>
              <a:defRPr>
                <a:solidFill>
                  <a:srgbClr val="898989"/>
                </a:solidFill>
              </a:defRPr>
            </a:lvl1pPr>
          </a:lstStyle>
          <a:p>
            <a:endParaRPr lang="en-US"/>
          </a:p>
        </p:txBody>
      </p:sp>
      <p:sp>
        <p:nvSpPr>
          <p:cNvPr id="7" name="Slide Number Placeholder 6"/>
          <p:cNvSpPr>
            <a:spLocks noGrp="1"/>
          </p:cNvSpPr>
          <p:nvPr>
            <p:ph type="sldNum" sz="quarter" idx="12"/>
          </p:nvPr>
        </p:nvSpPr>
        <p:spPr/>
        <p:txBody>
          <a:bodyPr/>
          <a:lstStyle>
            <a:lvl1pPr algn="r">
              <a:defRPr/>
            </a:lvl1pPr>
          </a:lstStyle>
          <a:p>
            <a:fld id="{B7121CD1-4148-4395-946C-080028F31FBB}" type="slidenum">
              <a:rPr lang="en-US" smtClean="0"/>
              <a:pPr/>
              <a:t>‹#›</a:t>
            </a:fld>
            <a:endParaRPr lang="en-US"/>
          </a:p>
        </p:txBody>
      </p:sp>
    </p:spTree>
  </p:cSld>
  <p:clrMapOvr>
    <a:masterClrMapping/>
  </p:clrMapOvr>
  <p:transition>
    <p:randomBar dir="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lgn="l">
              <a:defRPr/>
            </a:lvl1pPr>
          </a:lstStyle>
          <a:p>
            <a:fld id="{860420CC-E3CB-4E54-9CF4-5F2B12C57D29}" type="datetimeFigureOut">
              <a:rPr lang="en-US" smtClean="0"/>
              <a:pPr/>
              <a:t>1/26/2010</a:t>
            </a:fld>
            <a:endParaRPr lang="en-US"/>
          </a:p>
        </p:txBody>
      </p:sp>
      <p:sp>
        <p:nvSpPr>
          <p:cNvPr id="8" name="Footer Placeholder 7"/>
          <p:cNvSpPr>
            <a:spLocks noGrp="1"/>
          </p:cNvSpPr>
          <p:nvPr>
            <p:ph type="ftr" sz="quarter" idx="11"/>
          </p:nvPr>
        </p:nvSpPr>
        <p:spPr/>
        <p:txBody>
          <a:bodyPr/>
          <a:lstStyle>
            <a:lvl1pPr>
              <a:defRPr>
                <a:solidFill>
                  <a:srgbClr val="898989"/>
                </a:solidFill>
              </a:defRPr>
            </a:lvl1pPr>
          </a:lstStyle>
          <a:p>
            <a:endParaRPr lang="en-US"/>
          </a:p>
        </p:txBody>
      </p:sp>
      <p:sp>
        <p:nvSpPr>
          <p:cNvPr id="9" name="Slide Number Placeholder 8"/>
          <p:cNvSpPr>
            <a:spLocks noGrp="1"/>
          </p:cNvSpPr>
          <p:nvPr>
            <p:ph type="sldNum" sz="quarter" idx="12"/>
          </p:nvPr>
        </p:nvSpPr>
        <p:spPr/>
        <p:txBody>
          <a:bodyPr/>
          <a:lstStyle>
            <a:lvl1pPr algn="r">
              <a:defRPr/>
            </a:lvl1pPr>
          </a:lstStyle>
          <a:p>
            <a:fld id="{9C6CA35A-4D3F-4277-A0CF-35EDE1F7CF3C}" type="slidenum">
              <a:rPr lang="en-US" smtClean="0"/>
              <a:pPr/>
              <a:t>‹#›</a:t>
            </a:fld>
            <a:endParaRPr lang="en-US"/>
          </a:p>
        </p:txBody>
      </p:sp>
    </p:spTree>
  </p:cSld>
  <p:clrMapOvr>
    <a:masterClrMapping/>
  </p:clrMapOvr>
  <p:transition>
    <p:randomBar dir="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lgn="l">
              <a:defRPr/>
            </a:lvl1pPr>
          </a:lstStyle>
          <a:p>
            <a:fld id="{49BD1511-EAFA-4C0A-8065-590D752C1054}" type="datetimeFigureOut">
              <a:rPr lang="en-US" smtClean="0"/>
              <a:pPr/>
              <a:t>1/26/2010</a:t>
            </a:fld>
            <a:endParaRPr lang="en-US"/>
          </a:p>
        </p:txBody>
      </p:sp>
      <p:sp>
        <p:nvSpPr>
          <p:cNvPr id="4" name="Footer Placeholder 3"/>
          <p:cNvSpPr>
            <a:spLocks noGrp="1"/>
          </p:cNvSpPr>
          <p:nvPr>
            <p:ph type="ftr" sz="quarter" idx="11"/>
          </p:nvPr>
        </p:nvSpPr>
        <p:spPr/>
        <p:txBody>
          <a:bodyPr/>
          <a:lstStyle>
            <a:lvl1pPr>
              <a:defRPr>
                <a:solidFill>
                  <a:srgbClr val="898989"/>
                </a:solidFill>
              </a:defRPr>
            </a:lvl1pPr>
          </a:lstStyle>
          <a:p>
            <a:endParaRPr lang="en-US"/>
          </a:p>
        </p:txBody>
      </p:sp>
      <p:sp>
        <p:nvSpPr>
          <p:cNvPr id="5" name="Slide Number Placeholder 4"/>
          <p:cNvSpPr>
            <a:spLocks noGrp="1"/>
          </p:cNvSpPr>
          <p:nvPr>
            <p:ph type="sldNum" sz="quarter" idx="12"/>
          </p:nvPr>
        </p:nvSpPr>
        <p:spPr/>
        <p:txBody>
          <a:bodyPr/>
          <a:lstStyle>
            <a:lvl1pPr algn="r">
              <a:defRPr/>
            </a:lvl1pPr>
          </a:lstStyle>
          <a:p>
            <a:fld id="{381C04BE-8661-4F7F-8012-331BDB68EE69}" type="slidenum">
              <a:rPr lang="en-US" smtClean="0"/>
              <a:pPr/>
              <a:t>‹#›</a:t>
            </a:fld>
            <a:endParaRPr lang="en-US"/>
          </a:p>
        </p:txBody>
      </p:sp>
    </p:spTree>
  </p:cSld>
  <p:clrMapOvr>
    <a:masterClrMapping/>
  </p:clrMapOvr>
  <p:transition>
    <p:randomBar dir="vert"/>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lgn="l">
              <a:defRPr/>
            </a:lvl1pPr>
          </a:lstStyle>
          <a:p>
            <a:fld id="{CA332F38-55B0-4EB4-A708-8BC366F2E7D3}" type="datetimeFigureOut">
              <a:rPr lang="en-US" smtClean="0"/>
              <a:pPr/>
              <a:t>1/26/2010</a:t>
            </a:fld>
            <a:endParaRPr lang="en-US"/>
          </a:p>
        </p:txBody>
      </p:sp>
      <p:sp>
        <p:nvSpPr>
          <p:cNvPr id="3" name="Footer Placeholder 2"/>
          <p:cNvSpPr>
            <a:spLocks noGrp="1"/>
          </p:cNvSpPr>
          <p:nvPr>
            <p:ph type="ftr" sz="quarter" idx="11"/>
          </p:nvPr>
        </p:nvSpPr>
        <p:spPr/>
        <p:txBody>
          <a:bodyPr/>
          <a:lstStyle>
            <a:lvl1pPr>
              <a:defRPr>
                <a:solidFill>
                  <a:srgbClr val="898989"/>
                </a:solidFill>
              </a:defRPr>
            </a:lvl1pPr>
          </a:lstStyle>
          <a:p>
            <a:endParaRPr lang="en-US"/>
          </a:p>
        </p:txBody>
      </p:sp>
      <p:sp>
        <p:nvSpPr>
          <p:cNvPr id="4" name="Slide Number Placeholder 3"/>
          <p:cNvSpPr>
            <a:spLocks noGrp="1"/>
          </p:cNvSpPr>
          <p:nvPr>
            <p:ph type="sldNum" sz="quarter" idx="12"/>
          </p:nvPr>
        </p:nvSpPr>
        <p:spPr/>
        <p:txBody>
          <a:bodyPr/>
          <a:lstStyle>
            <a:lvl1pPr algn="r">
              <a:defRPr/>
            </a:lvl1pPr>
          </a:lstStyle>
          <a:p>
            <a:fld id="{AB798CF5-793F-4CBF-A89C-9C33D5F01D82}" type="slidenum">
              <a:rPr lang="en-US" smtClean="0"/>
              <a:pPr/>
              <a:t>‹#›</a:t>
            </a:fld>
            <a:endParaRPr lang="en-US"/>
          </a:p>
        </p:txBody>
      </p:sp>
    </p:spTree>
  </p:cSld>
  <p:clrMapOvr>
    <a:masterClrMapping/>
  </p:clrMapOvr>
  <p:transition>
    <p:randomBar dir="vert"/>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lgn="l">
              <a:defRPr/>
            </a:lvl1pPr>
          </a:lstStyle>
          <a:p>
            <a:fld id="{18638166-4023-4478-89C6-277D79997821}" type="datetimeFigureOut">
              <a:rPr lang="en-US" smtClean="0"/>
              <a:pPr/>
              <a:t>1/26/2010</a:t>
            </a:fld>
            <a:endParaRPr lang="en-US"/>
          </a:p>
        </p:txBody>
      </p:sp>
      <p:sp>
        <p:nvSpPr>
          <p:cNvPr id="6" name="Footer Placeholder 5"/>
          <p:cNvSpPr>
            <a:spLocks noGrp="1"/>
          </p:cNvSpPr>
          <p:nvPr>
            <p:ph type="ftr" sz="quarter" idx="11"/>
          </p:nvPr>
        </p:nvSpPr>
        <p:spPr/>
        <p:txBody>
          <a:bodyPr/>
          <a:lstStyle>
            <a:lvl1pPr>
              <a:defRPr>
                <a:solidFill>
                  <a:srgbClr val="898989"/>
                </a:solidFill>
              </a:defRPr>
            </a:lvl1pPr>
          </a:lstStyle>
          <a:p>
            <a:endParaRPr lang="en-US"/>
          </a:p>
        </p:txBody>
      </p:sp>
      <p:sp>
        <p:nvSpPr>
          <p:cNvPr id="7" name="Slide Number Placeholder 6"/>
          <p:cNvSpPr>
            <a:spLocks noGrp="1"/>
          </p:cNvSpPr>
          <p:nvPr>
            <p:ph type="sldNum" sz="quarter" idx="12"/>
          </p:nvPr>
        </p:nvSpPr>
        <p:spPr/>
        <p:txBody>
          <a:bodyPr/>
          <a:lstStyle>
            <a:lvl1pPr algn="r">
              <a:defRPr/>
            </a:lvl1pPr>
          </a:lstStyle>
          <a:p>
            <a:fld id="{B4BC742F-2C32-426D-8634-D8A64F354E61}" type="slidenum">
              <a:rPr lang="en-US" smtClean="0"/>
              <a:pPr/>
              <a:t>‹#›</a:t>
            </a:fld>
            <a:endParaRPr lang="en-US"/>
          </a:p>
        </p:txBody>
      </p:sp>
    </p:spTree>
  </p:cSld>
  <p:clrMapOvr>
    <a:masterClrMapping/>
  </p:clrMapOvr>
  <p:transition>
    <p:randomBar dir="vert"/>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lgn="l">
              <a:defRPr/>
            </a:lvl1pPr>
          </a:lstStyle>
          <a:p>
            <a:fld id="{CD1A5755-8EBE-448A-929F-D96A0D255EF5}" type="datetimeFigureOut">
              <a:rPr lang="en-US" smtClean="0"/>
              <a:pPr/>
              <a:t>1/26/2010</a:t>
            </a:fld>
            <a:endParaRPr lang="en-US"/>
          </a:p>
        </p:txBody>
      </p:sp>
      <p:sp>
        <p:nvSpPr>
          <p:cNvPr id="6" name="Footer Placeholder 5"/>
          <p:cNvSpPr>
            <a:spLocks noGrp="1"/>
          </p:cNvSpPr>
          <p:nvPr>
            <p:ph type="ftr" sz="quarter" idx="11"/>
          </p:nvPr>
        </p:nvSpPr>
        <p:spPr/>
        <p:txBody>
          <a:bodyPr/>
          <a:lstStyle>
            <a:lvl1pPr>
              <a:defRPr>
                <a:solidFill>
                  <a:srgbClr val="898989"/>
                </a:solidFill>
              </a:defRPr>
            </a:lvl1pPr>
          </a:lstStyle>
          <a:p>
            <a:endParaRPr lang="en-US"/>
          </a:p>
        </p:txBody>
      </p:sp>
      <p:sp>
        <p:nvSpPr>
          <p:cNvPr id="7" name="Slide Number Placeholder 6"/>
          <p:cNvSpPr>
            <a:spLocks noGrp="1"/>
          </p:cNvSpPr>
          <p:nvPr>
            <p:ph type="sldNum" sz="quarter" idx="12"/>
          </p:nvPr>
        </p:nvSpPr>
        <p:spPr/>
        <p:txBody>
          <a:bodyPr/>
          <a:lstStyle>
            <a:lvl1pPr algn="r">
              <a:defRPr/>
            </a:lvl1pPr>
          </a:lstStyle>
          <a:p>
            <a:fld id="{551B83C1-9AF9-4454-9BA7-6429BC3DC2C1}" type="slidenum">
              <a:rPr lang="en-US" smtClean="0"/>
              <a:pPr/>
              <a:t>‹#›</a:t>
            </a:fld>
            <a:endParaRPr lang="en-US"/>
          </a:p>
        </p:txBody>
      </p:sp>
    </p:spTree>
  </p:cSld>
  <p:clrMapOvr>
    <a:masterClrMapping/>
  </p:clrMapOvr>
  <p:transition>
    <p:randomBar dir="vert"/>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lgn="l">
              <a:defRPr/>
            </a:lvl1pPr>
          </a:lstStyle>
          <a:p>
            <a:fld id="{A1B3327E-0DC9-4306-BA61-3A7B3CDF472E}" type="datetimeFigureOut">
              <a:rPr lang="en-US" smtClean="0"/>
              <a:pPr/>
              <a:t>1/26/2010</a:t>
            </a:fld>
            <a:endParaRPr lang="en-US"/>
          </a:p>
        </p:txBody>
      </p:sp>
      <p:sp>
        <p:nvSpPr>
          <p:cNvPr id="5" name="Footer Placeholder 4"/>
          <p:cNvSpPr>
            <a:spLocks noGrp="1"/>
          </p:cNvSpPr>
          <p:nvPr>
            <p:ph type="ftr" sz="quarter" idx="11"/>
          </p:nvPr>
        </p:nvSpPr>
        <p:spPr/>
        <p:txBody>
          <a:bodyPr/>
          <a:lstStyle>
            <a:lvl1pPr>
              <a:defRPr>
                <a:solidFill>
                  <a:srgbClr val="898989"/>
                </a:solidFill>
              </a:defRPr>
            </a:lvl1pPr>
          </a:lstStyle>
          <a:p>
            <a:endParaRPr lang="en-US"/>
          </a:p>
        </p:txBody>
      </p:sp>
      <p:sp>
        <p:nvSpPr>
          <p:cNvPr id="6" name="Slide Number Placeholder 5"/>
          <p:cNvSpPr>
            <a:spLocks noGrp="1"/>
          </p:cNvSpPr>
          <p:nvPr>
            <p:ph type="sldNum" sz="quarter" idx="12"/>
          </p:nvPr>
        </p:nvSpPr>
        <p:spPr/>
        <p:txBody>
          <a:bodyPr/>
          <a:lstStyle>
            <a:lvl1pPr algn="r">
              <a:defRPr/>
            </a:lvl1pPr>
          </a:lstStyle>
          <a:p>
            <a:fld id="{7A4435D7-0EC4-4318-A850-73E926F24BA1}" type="slidenum">
              <a:rPr lang="en-US" smtClean="0"/>
              <a:pPr/>
              <a:t>‹#›</a:t>
            </a:fld>
            <a:endParaRPr lang="en-US"/>
          </a:p>
        </p:txBody>
      </p:sp>
    </p:spTree>
  </p:cSld>
  <p:clrMapOvr>
    <a:masterClrMapping/>
  </p:clrMapOvr>
  <p:transition>
    <p:randomBar dir="vert"/>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lgn="l">
              <a:defRPr/>
            </a:lvl1pPr>
          </a:lstStyle>
          <a:p>
            <a:fld id="{5F9114D6-7D1B-4C65-8F19-A2C7D255B85D}" type="datetimeFigureOut">
              <a:rPr lang="en-US" smtClean="0"/>
              <a:pPr/>
              <a:t>1/26/2010</a:t>
            </a:fld>
            <a:endParaRPr lang="en-US"/>
          </a:p>
        </p:txBody>
      </p:sp>
      <p:sp>
        <p:nvSpPr>
          <p:cNvPr id="5" name="Footer Placeholder 4"/>
          <p:cNvSpPr>
            <a:spLocks noGrp="1"/>
          </p:cNvSpPr>
          <p:nvPr>
            <p:ph type="ftr" sz="quarter" idx="11"/>
          </p:nvPr>
        </p:nvSpPr>
        <p:spPr/>
        <p:txBody>
          <a:bodyPr/>
          <a:lstStyle>
            <a:lvl1pPr>
              <a:defRPr>
                <a:solidFill>
                  <a:srgbClr val="898989"/>
                </a:solidFill>
              </a:defRPr>
            </a:lvl1pPr>
          </a:lstStyle>
          <a:p>
            <a:endParaRPr lang="en-US"/>
          </a:p>
        </p:txBody>
      </p:sp>
      <p:sp>
        <p:nvSpPr>
          <p:cNvPr id="6" name="Slide Number Placeholder 5"/>
          <p:cNvSpPr>
            <a:spLocks noGrp="1"/>
          </p:cNvSpPr>
          <p:nvPr>
            <p:ph type="sldNum" sz="quarter" idx="12"/>
          </p:nvPr>
        </p:nvSpPr>
        <p:spPr/>
        <p:txBody>
          <a:bodyPr/>
          <a:lstStyle>
            <a:lvl1pPr algn="r">
              <a:defRPr/>
            </a:lvl1pPr>
          </a:lstStyle>
          <a:p>
            <a:fld id="{48FC3304-DC3B-4D7A-B89A-16D1B12484B3}" type="slidenum">
              <a:rPr lang="en-US" smtClean="0"/>
              <a:pPr/>
              <a:t>‹#›</a:t>
            </a:fld>
            <a:endParaRPr lang="en-US"/>
          </a:p>
        </p:txBody>
      </p:sp>
    </p:spTree>
  </p:cSld>
  <p:clrMapOvr>
    <a:masterClrMapping/>
  </p:clrMapOvr>
  <p:transition>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0" charset="0"/>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AFADA5"/>
                </a:solidFill>
                <a:latin typeface="Calibri" pitchFamily="-110" charset="0"/>
              </a:defRPr>
            </a:lvl1pPr>
          </a:lstStyle>
          <a:p>
            <a:r>
              <a:rPr lang="en-US" smtClean="0"/>
              <a:t>asdfasdf</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itchFamily="-110" charset="0"/>
              </a:defRPr>
            </a:lvl1pPr>
          </a:lstStyle>
          <a:p>
            <a:pPr>
              <a:defRPr/>
            </a:pPr>
            <a:fld id="{5B277AA5-8902-4E52-A622-21EE85F8FB83}" type="slidenum">
              <a:rPr lang="en-GB" smtClean="0"/>
              <a:pPr>
                <a:defRPr/>
              </a:pPr>
              <a:t>‹#›</a:t>
            </a:fld>
            <a:endParaRPr lang="en-GB"/>
          </a:p>
        </p:txBody>
      </p:sp>
      <p:sp>
        <p:nvSpPr>
          <p:cNvPr id="7" name="Rectangle 19"/>
          <p:cNvSpPr>
            <a:spLocks noChangeArrowheads="1"/>
          </p:cNvSpPr>
          <p:nvPr userDrawn="1"/>
        </p:nvSpPr>
        <p:spPr bwMode="auto">
          <a:xfrm>
            <a:off x="0" y="0"/>
            <a:ext cx="9144000" cy="6858000"/>
          </a:xfrm>
          <a:prstGeom prst="rect">
            <a:avLst/>
          </a:prstGeom>
          <a:noFill/>
          <a:ln w="9525">
            <a:solidFill>
              <a:schemeClr val="tx2"/>
            </a:solidFill>
            <a:miter lim="800000"/>
            <a:headEnd/>
            <a:tailEnd/>
          </a:ln>
          <a:effectLst/>
        </p:spPr>
        <p:txBody>
          <a:bodyPr wrap="none" anchor="ctr"/>
          <a:lstStyle/>
          <a:p>
            <a:pPr>
              <a:defRPr/>
            </a:pPr>
            <a:endParaRPr lang="en-US">
              <a:solidFill>
                <a:schemeClr val="bg1"/>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Lst>
  <p:transition>
    <p:randomBar dir="vert"/>
  </p:transition>
  <p:timing>
    <p:tnLst>
      <p:par>
        <p:cTn id="1" dur="indefinite" restart="never" nodeType="tmRoot"/>
      </p:par>
    </p:tnLst>
  </p:timing>
  <p:hf hdr="0" ftr="0" dt="0"/>
  <p:txStyles>
    <p:titleStyle>
      <a:lvl1pPr algn="ctr" rtl="0" eaLnBrk="1" fontAlgn="base" hangingPunct="1">
        <a:spcBef>
          <a:spcPct val="0"/>
        </a:spcBef>
        <a:spcAft>
          <a:spcPct val="0"/>
        </a:spcAft>
        <a:defRPr sz="4400" kern="1200">
          <a:solidFill>
            <a:schemeClr val="tx1"/>
          </a:solidFill>
          <a:latin typeface="+mj-lt"/>
          <a:ea typeface="ＭＳ Ｐゴシック" pitchFamily="-110" charset="-128"/>
          <a:cs typeface="+mj-cs"/>
        </a:defRPr>
      </a:lvl1pPr>
      <a:lvl2pPr algn="ctr" rtl="0" eaLnBrk="1" fontAlgn="base" hangingPunct="1">
        <a:spcBef>
          <a:spcPct val="0"/>
        </a:spcBef>
        <a:spcAft>
          <a:spcPct val="0"/>
        </a:spcAft>
        <a:defRPr sz="4400">
          <a:solidFill>
            <a:schemeClr val="tx1"/>
          </a:solidFill>
          <a:latin typeface="Calibri" pitchFamily="34" charset="0"/>
          <a:ea typeface="ＭＳ Ｐゴシック" pitchFamily="-110" charset="-128"/>
        </a:defRPr>
      </a:lvl2pPr>
      <a:lvl3pPr algn="ctr" rtl="0" eaLnBrk="1" fontAlgn="base" hangingPunct="1">
        <a:spcBef>
          <a:spcPct val="0"/>
        </a:spcBef>
        <a:spcAft>
          <a:spcPct val="0"/>
        </a:spcAft>
        <a:defRPr sz="4400">
          <a:solidFill>
            <a:schemeClr val="tx1"/>
          </a:solidFill>
          <a:latin typeface="Calibri" pitchFamily="34" charset="0"/>
          <a:ea typeface="ＭＳ Ｐゴシック" pitchFamily="-110" charset="-128"/>
        </a:defRPr>
      </a:lvl3pPr>
      <a:lvl4pPr algn="ctr" rtl="0" eaLnBrk="1" fontAlgn="base" hangingPunct="1">
        <a:spcBef>
          <a:spcPct val="0"/>
        </a:spcBef>
        <a:spcAft>
          <a:spcPct val="0"/>
        </a:spcAft>
        <a:defRPr sz="4400">
          <a:solidFill>
            <a:schemeClr val="tx1"/>
          </a:solidFill>
          <a:latin typeface="Calibri" pitchFamily="34" charset="0"/>
          <a:ea typeface="ＭＳ Ｐゴシック" pitchFamily="-110" charset="-128"/>
        </a:defRPr>
      </a:lvl4pPr>
      <a:lvl5pPr algn="ctr" rtl="0" eaLnBrk="1" fontAlgn="base" hangingPunct="1">
        <a:spcBef>
          <a:spcPct val="0"/>
        </a:spcBef>
        <a:spcAft>
          <a:spcPct val="0"/>
        </a:spcAft>
        <a:defRPr sz="4400">
          <a:solidFill>
            <a:schemeClr val="tx1"/>
          </a:solidFill>
          <a:latin typeface="Calibri" pitchFamily="34" charset="0"/>
          <a:ea typeface="ＭＳ Ｐゴシック" pitchFamily="-110" charset="-128"/>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ＭＳ Ｐゴシック" pitchFamily="-110" charset="-128"/>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ＭＳ Ｐゴシック" pitchFamily="-110" charset="-128"/>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ＭＳ Ｐゴシック" pitchFamily="-110" charset="-128"/>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pitchFamily="-110" charset="-128"/>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ＭＳ Ｐゴシック" pitchFamily="-110"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8"/>
          <p:cNvSpPr>
            <a:spLocks noGrp="1" noChangeArrowheads="1"/>
          </p:cNvSpPr>
          <p:nvPr>
            <p:ph type="ctrTitle"/>
          </p:nvPr>
        </p:nvSpPr>
        <p:spPr bwMode="auto">
          <a:prstGeom prst="rect">
            <a:avLst/>
          </a:prstGeom>
          <a:noFill/>
          <a:ln>
            <a:noFill/>
            <a:miter lim="800000"/>
            <a:headEnd/>
            <a:tailEnd/>
          </a:ln>
        </p:spPr>
        <p:txBody>
          <a:bodyPr lIns="0" tIns="0" rIns="0" bIns="0"/>
          <a:lstStyle/>
          <a:p>
            <a:r>
              <a:rPr lang="en-GB" sz="3600" b="1" dirty="0"/>
              <a:t>Knowledge Driven Framework</a:t>
            </a:r>
          </a:p>
        </p:txBody>
      </p:sp>
      <p:sp>
        <p:nvSpPr>
          <p:cNvPr id="5123" name="Rectangle 9"/>
          <p:cNvSpPr>
            <a:spLocks noGrp="1" noChangeArrowheads="1"/>
          </p:cNvSpPr>
          <p:nvPr>
            <p:ph type="subTitle" idx="1"/>
          </p:nvPr>
        </p:nvSpPr>
        <p:spPr>
          <a:xfrm>
            <a:off x="2205319" y="3630706"/>
            <a:ext cx="4652682" cy="793376"/>
          </a:xfrm>
        </p:spPr>
        <p:txBody>
          <a:bodyPr lIns="0" tIns="0" rIns="0" bIns="0"/>
          <a:lstStyle/>
          <a:p>
            <a:pPr marL="0" indent="0">
              <a:buFont typeface="Wingdings" pitchFamily="2" charset="2"/>
              <a:buNone/>
            </a:pPr>
            <a:r>
              <a:rPr lang="en-GB" sz="2400" b="1" dirty="0">
                <a:solidFill>
                  <a:schemeClr val="tx1">
                    <a:lumMod val="75000"/>
                    <a:lumOff val="25000"/>
                  </a:schemeClr>
                </a:solidFill>
              </a:rPr>
              <a:t>Foundation for Delivering Healthcare Services</a:t>
            </a:r>
          </a:p>
        </p:txBody>
      </p:sp>
    </p:spTree>
  </p:cSld>
  <p:clrMapOvr>
    <a:masterClrMapping/>
  </p:clrMapOvr>
  <p:transition>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smtClean="0"/>
              <a:t>Overview</a:t>
            </a:r>
          </a:p>
        </p:txBody>
      </p:sp>
      <p:sp>
        <p:nvSpPr>
          <p:cNvPr id="86019" name="Rectangle 3"/>
          <p:cNvSpPr>
            <a:spLocks noGrp="1" noChangeArrowheads="1"/>
          </p:cNvSpPr>
          <p:nvPr>
            <p:ph idx="1"/>
          </p:nvPr>
        </p:nvSpPr>
        <p:spPr/>
        <p:txBody>
          <a:bodyPr/>
          <a:lstStyle/>
          <a:p>
            <a:r>
              <a:rPr lang="en-US" sz="2800" dirty="0" smtClean="0"/>
              <a:t>Key trends in Life Sciences &amp; Healthcare</a:t>
            </a:r>
          </a:p>
          <a:p>
            <a:r>
              <a:rPr lang="en-US" sz="2800" dirty="0" smtClean="0"/>
              <a:t>Knowledge will play a key role in the future</a:t>
            </a:r>
          </a:p>
          <a:p>
            <a:r>
              <a:rPr lang="en-US" sz="2800" dirty="0" smtClean="0"/>
              <a:t>Service offerings built on a knowledge platform</a:t>
            </a:r>
          </a:p>
          <a:p>
            <a:r>
              <a:rPr lang="en-US" sz="2800" dirty="0" smtClean="0"/>
              <a:t>A few challenges:</a:t>
            </a:r>
          </a:p>
          <a:p>
            <a:pPr lvl="1"/>
            <a:r>
              <a:rPr lang="en-US" sz="2400" dirty="0" smtClean="0"/>
              <a:t>Aligning knowledge</a:t>
            </a:r>
          </a:p>
          <a:p>
            <a:pPr lvl="1"/>
            <a:r>
              <a:rPr lang="en-US" sz="2400" dirty="0" smtClean="0"/>
              <a:t>Capturing knowledge</a:t>
            </a:r>
          </a:p>
          <a:p>
            <a:pPr lvl="1"/>
            <a:r>
              <a:rPr lang="en-US" sz="2400" dirty="0" smtClean="0"/>
              <a:t>Integrating knowledge</a:t>
            </a:r>
          </a:p>
          <a:p>
            <a:pPr lvl="1"/>
            <a:r>
              <a:rPr lang="en-US" sz="2400" dirty="0" smtClean="0"/>
              <a:t>Mining knowledge</a:t>
            </a:r>
          </a:p>
          <a:p>
            <a:r>
              <a:rPr lang="en-US" sz="2800" dirty="0" smtClean="0"/>
              <a:t>New Opportunities for delivering value</a:t>
            </a:r>
          </a:p>
          <a:p>
            <a:r>
              <a:rPr lang="en-US" sz="2800" dirty="0" smtClean="0"/>
              <a:t>Concept: Knowledge Driven Platform</a:t>
            </a:r>
          </a:p>
        </p:txBody>
      </p:sp>
    </p:spTree>
  </p:cSld>
  <p:clrMapOvr>
    <a:masterClrMapping/>
  </p:clrMapOvr>
  <p:transition>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US" smtClean="0"/>
              <a:t>Influences in Quality Management</a:t>
            </a:r>
          </a:p>
        </p:txBody>
      </p:sp>
      <p:sp>
        <p:nvSpPr>
          <p:cNvPr id="180227" name="Rectangle 3"/>
          <p:cNvSpPr>
            <a:spLocks noGrp="1" noChangeArrowheads="1"/>
          </p:cNvSpPr>
          <p:nvPr>
            <p:ph idx="1"/>
          </p:nvPr>
        </p:nvSpPr>
        <p:spPr/>
        <p:txBody>
          <a:bodyPr/>
          <a:lstStyle/>
          <a:p>
            <a:r>
              <a:rPr lang="en-US" sz="2800" dirty="0" smtClean="0">
                <a:solidFill>
                  <a:schemeClr val="tx1">
                    <a:lumMod val="75000"/>
                    <a:lumOff val="25000"/>
                  </a:schemeClr>
                </a:solidFill>
              </a:rPr>
              <a:t>Partnerships &amp; Teamwork</a:t>
            </a:r>
          </a:p>
          <a:p>
            <a:r>
              <a:rPr lang="en-US" sz="2800" dirty="0" smtClean="0">
                <a:solidFill>
                  <a:schemeClr val="tx1">
                    <a:lumMod val="75000"/>
                    <a:lumOff val="25000"/>
                  </a:schemeClr>
                </a:solidFill>
              </a:rPr>
              <a:t>Learning systems</a:t>
            </a:r>
          </a:p>
          <a:p>
            <a:r>
              <a:rPr lang="en-US" sz="2800" dirty="0" smtClean="0">
                <a:solidFill>
                  <a:schemeClr val="tx1">
                    <a:lumMod val="75000"/>
                    <a:lumOff val="25000"/>
                  </a:schemeClr>
                </a:solidFill>
              </a:rPr>
              <a:t>Adaptability and speed of change</a:t>
            </a:r>
          </a:p>
          <a:p>
            <a:r>
              <a:rPr lang="en-US" sz="2800" dirty="0" smtClean="0">
                <a:solidFill>
                  <a:schemeClr val="tx1">
                    <a:lumMod val="75000"/>
                    <a:lumOff val="25000"/>
                  </a:schemeClr>
                </a:solidFill>
              </a:rPr>
              <a:t>Environmental sustainability</a:t>
            </a:r>
          </a:p>
          <a:p>
            <a:r>
              <a:rPr lang="en-US" sz="2800" dirty="0" smtClean="0">
                <a:solidFill>
                  <a:schemeClr val="tx1">
                    <a:lumMod val="75000"/>
                    <a:lumOff val="25000"/>
                  </a:schemeClr>
                </a:solidFill>
              </a:rPr>
              <a:t>Globalization</a:t>
            </a:r>
          </a:p>
          <a:p>
            <a:r>
              <a:rPr lang="en-US" sz="2800" dirty="0" smtClean="0">
                <a:solidFill>
                  <a:schemeClr val="tx1">
                    <a:lumMod val="75000"/>
                    <a:lumOff val="25000"/>
                  </a:schemeClr>
                </a:solidFill>
              </a:rPr>
              <a:t>Knowledge focus</a:t>
            </a:r>
          </a:p>
          <a:p>
            <a:r>
              <a:rPr lang="en-US" sz="2800" dirty="0" smtClean="0">
                <a:solidFill>
                  <a:schemeClr val="tx1">
                    <a:lumMod val="75000"/>
                    <a:lumOff val="25000"/>
                  </a:schemeClr>
                </a:solidFill>
              </a:rPr>
              <a:t>Customization and differentiation</a:t>
            </a:r>
          </a:p>
          <a:p>
            <a:r>
              <a:rPr lang="en-US" sz="2800" dirty="0" smtClean="0">
                <a:solidFill>
                  <a:schemeClr val="tx1">
                    <a:lumMod val="75000"/>
                    <a:lumOff val="25000"/>
                  </a:schemeClr>
                </a:solidFill>
              </a:rPr>
              <a:t>Shifting demographics</a:t>
            </a:r>
          </a:p>
          <a:p>
            <a:r>
              <a:rPr lang="en-US" sz="2800" dirty="0" smtClean="0">
                <a:solidFill>
                  <a:schemeClr val="tx1">
                    <a:lumMod val="75000"/>
                    <a:lumOff val="25000"/>
                  </a:schemeClr>
                </a:solidFill>
              </a:rPr>
              <a:t>Collaboration</a:t>
            </a:r>
          </a:p>
        </p:txBody>
      </p:sp>
    </p:spTree>
  </p:cSld>
  <p:clrMapOvr>
    <a:masterClrMapping/>
  </p:clrMapOvr>
  <p:transition>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en-US" smtClean="0"/>
              <a:t>Brief List of needs</a:t>
            </a:r>
          </a:p>
        </p:txBody>
      </p:sp>
      <p:sp>
        <p:nvSpPr>
          <p:cNvPr id="181251" name="Rectangle 3"/>
          <p:cNvSpPr>
            <a:spLocks noGrp="1" noChangeArrowheads="1"/>
          </p:cNvSpPr>
          <p:nvPr>
            <p:ph idx="1"/>
          </p:nvPr>
        </p:nvSpPr>
        <p:spPr/>
        <p:txBody>
          <a:bodyPr/>
          <a:lstStyle/>
          <a:p>
            <a:r>
              <a:rPr lang="en-US" smtClean="0"/>
              <a:t>Knowledge Management for clinicians:</a:t>
            </a:r>
          </a:p>
          <a:p>
            <a:pPr lvl="1"/>
            <a:r>
              <a:rPr lang="en-US" smtClean="0"/>
              <a:t>Accelerate the spread of new knowledge</a:t>
            </a:r>
          </a:p>
          <a:p>
            <a:pPr lvl="1"/>
            <a:r>
              <a:rPr lang="en-US" smtClean="0"/>
              <a:t>Publications with best practice guidelines</a:t>
            </a:r>
          </a:p>
          <a:p>
            <a:pPr lvl="1"/>
            <a:r>
              <a:rPr lang="en-US" smtClean="0"/>
              <a:t>Consolidated channel for conveying new information to doctors</a:t>
            </a:r>
          </a:p>
          <a:p>
            <a:pPr lvl="1"/>
            <a:r>
              <a:rPr lang="en-US" smtClean="0"/>
              <a:t>Close the gap between best &amp; actual practices</a:t>
            </a:r>
          </a:p>
          <a:p>
            <a:pPr lvl="1"/>
            <a:r>
              <a:rPr lang="en-US" smtClean="0"/>
              <a:t>Access to the most advanced scientific evidence for treatment</a:t>
            </a:r>
          </a:p>
        </p:txBody>
      </p:sp>
    </p:spTree>
  </p:cSld>
  <p:clrMapOvr>
    <a:masterClrMapping/>
  </p:clrMapOvr>
  <p:transition>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smtClean="0"/>
              <a:t>Brief list of needs</a:t>
            </a:r>
          </a:p>
        </p:txBody>
      </p:sp>
      <p:sp>
        <p:nvSpPr>
          <p:cNvPr id="16388" name="Rectangle 3"/>
          <p:cNvSpPr>
            <a:spLocks noGrp="1" noChangeArrowheads="1"/>
          </p:cNvSpPr>
          <p:nvPr>
            <p:ph idx="1"/>
          </p:nvPr>
        </p:nvSpPr>
        <p:spPr>
          <a:xfrm>
            <a:off x="578224" y="1254125"/>
            <a:ext cx="7964114" cy="4891088"/>
          </a:xfrm>
        </p:spPr>
        <p:txBody>
          <a:bodyPr/>
          <a:lstStyle/>
          <a:p>
            <a:pPr eaLnBrk="1" hangingPunct="1"/>
            <a:r>
              <a:rPr lang="en-US" sz="2800" dirty="0" smtClean="0"/>
              <a:t>Facilitate integration and repurposing of knowledge</a:t>
            </a:r>
          </a:p>
          <a:p>
            <a:pPr lvl="1" eaLnBrk="1" hangingPunct="1"/>
            <a:r>
              <a:rPr lang="en-US" sz="2400" dirty="0" smtClean="0"/>
              <a:t>Provide broad search and retrieval capabilities</a:t>
            </a:r>
          </a:p>
          <a:p>
            <a:pPr lvl="1" eaLnBrk="1" hangingPunct="1"/>
            <a:r>
              <a:rPr lang="en-US" sz="2400" dirty="0" smtClean="0"/>
              <a:t>Increase reuse and decrease redundancy across knowledge providers</a:t>
            </a:r>
          </a:p>
          <a:p>
            <a:pPr eaLnBrk="1" hangingPunct="1"/>
            <a:r>
              <a:rPr lang="en-US" sz="2800" dirty="0" smtClean="0"/>
              <a:t>Simplify and complete the knowledge life-cycle</a:t>
            </a:r>
          </a:p>
          <a:p>
            <a:pPr lvl="1" eaLnBrk="1" hangingPunct="1"/>
            <a:r>
              <a:rPr lang="en-US" sz="2400" dirty="0" smtClean="0"/>
              <a:t>Reduce the number of user-facing knowledge entry points by using already existent business processes</a:t>
            </a:r>
          </a:p>
          <a:p>
            <a:pPr lvl="1" eaLnBrk="1" hangingPunct="1"/>
            <a:r>
              <a:rPr lang="en-US" sz="2400" dirty="0" smtClean="0"/>
              <a:t>Manage knowledge end-to-end from initial inception to final disposition</a:t>
            </a:r>
          </a:p>
        </p:txBody>
      </p:sp>
      <p:sp>
        <p:nvSpPr>
          <p:cNvPr id="4" name="Slide Number Placeholder 3"/>
          <p:cNvSpPr>
            <a:spLocks noGrp="1"/>
          </p:cNvSpPr>
          <p:nvPr>
            <p:ph type="sldNum" sz="quarter" idx="11"/>
          </p:nvPr>
        </p:nvSpPr>
        <p:spPr/>
        <p:txBody>
          <a:bodyPr/>
          <a:lstStyle/>
          <a:p>
            <a:pPr>
              <a:defRPr/>
            </a:pPr>
            <a:fld id="{98D7E906-C5E8-4371-AFE7-FACF696C3493}" type="slidenum">
              <a:rPr lang="en-GB"/>
              <a:pPr>
                <a:defRPr/>
              </a:pPr>
              <a:t>5</a:t>
            </a:fld>
            <a:endParaRPr lang="en-GB"/>
          </a:p>
        </p:txBody>
      </p:sp>
    </p:spTree>
  </p:cSld>
  <p:clrMapOvr>
    <a:masterClrMapping/>
  </p:clrMapOvr>
  <p:transition>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smtClean="0"/>
              <a:t>Brief list of needs</a:t>
            </a:r>
          </a:p>
        </p:txBody>
      </p:sp>
      <p:sp>
        <p:nvSpPr>
          <p:cNvPr id="17412" name="Rectangle 3"/>
          <p:cNvSpPr>
            <a:spLocks noGrp="1" noChangeArrowheads="1"/>
          </p:cNvSpPr>
          <p:nvPr>
            <p:ph idx="1"/>
          </p:nvPr>
        </p:nvSpPr>
        <p:spPr>
          <a:xfrm>
            <a:off x="497541" y="1254125"/>
            <a:ext cx="8044797" cy="4891088"/>
          </a:xfrm>
        </p:spPr>
        <p:txBody>
          <a:bodyPr/>
          <a:lstStyle/>
          <a:p>
            <a:pPr eaLnBrk="1" hangingPunct="1"/>
            <a:r>
              <a:rPr lang="en-US" sz="2800" dirty="0" smtClean="0"/>
              <a:t>Increase the value and quality of knowledge</a:t>
            </a:r>
          </a:p>
          <a:p>
            <a:pPr lvl="1" eaLnBrk="1" hangingPunct="1"/>
            <a:r>
              <a:rPr lang="en-US" sz="2400" dirty="0" smtClean="0"/>
              <a:t>Build intelligent relationships among disparate sources of content using a federated metadata framework</a:t>
            </a:r>
          </a:p>
          <a:p>
            <a:pPr lvl="1" eaLnBrk="1" hangingPunct="1"/>
            <a:r>
              <a:rPr lang="en-US" sz="2400" dirty="0" smtClean="0"/>
              <a:t>Define, enforce, monitor processes/procedures on knowledge collections to ensure quality</a:t>
            </a:r>
          </a:p>
          <a:p>
            <a:pPr eaLnBrk="1" hangingPunct="1"/>
            <a:r>
              <a:rPr lang="en-US" sz="2800" dirty="0" smtClean="0"/>
              <a:t>Consistent information security and disclosure enforcement </a:t>
            </a:r>
          </a:p>
          <a:p>
            <a:pPr lvl="1" eaLnBrk="1" hangingPunct="1"/>
            <a:r>
              <a:rPr lang="en-US" sz="2400" dirty="0" smtClean="0"/>
              <a:t>Knowledge must be aligned via traceable and versioned metadata to ensure knowledge is consistent in order to facilitate disclosure policy compliance and information sharing for partners, providers &amp; patients.</a:t>
            </a:r>
          </a:p>
          <a:p>
            <a:pPr lvl="1" eaLnBrk="1" hangingPunct="1"/>
            <a:endParaRPr lang="en-US" sz="2400" dirty="0" smtClean="0"/>
          </a:p>
        </p:txBody>
      </p:sp>
      <p:sp>
        <p:nvSpPr>
          <p:cNvPr id="4" name="Slide Number Placeholder 3"/>
          <p:cNvSpPr>
            <a:spLocks noGrp="1"/>
          </p:cNvSpPr>
          <p:nvPr>
            <p:ph type="sldNum" sz="quarter" idx="11"/>
          </p:nvPr>
        </p:nvSpPr>
        <p:spPr/>
        <p:txBody>
          <a:bodyPr/>
          <a:lstStyle/>
          <a:p>
            <a:pPr>
              <a:defRPr/>
            </a:pPr>
            <a:fld id="{3B6F6AA1-B04C-4159-B56B-0F7DB614FD6E}" type="slidenum">
              <a:rPr lang="en-GB"/>
              <a:pPr>
                <a:defRPr/>
              </a:pPr>
              <a:t>6</a:t>
            </a:fld>
            <a:endParaRPr lang="en-GB"/>
          </a:p>
        </p:txBody>
      </p:sp>
    </p:spTree>
  </p:cSld>
  <p:clrMapOvr>
    <a:masterClrMapping/>
  </p:clrMapOvr>
  <p:transition>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en-US" smtClean="0"/>
              <a:t>Deliverables</a:t>
            </a:r>
          </a:p>
        </p:txBody>
      </p:sp>
      <p:sp>
        <p:nvSpPr>
          <p:cNvPr id="18436" name="Rectangle 3"/>
          <p:cNvSpPr>
            <a:spLocks noGrp="1" noChangeArrowheads="1"/>
          </p:cNvSpPr>
          <p:nvPr>
            <p:ph idx="1"/>
          </p:nvPr>
        </p:nvSpPr>
        <p:spPr>
          <a:xfrm>
            <a:off x="470646" y="1419972"/>
            <a:ext cx="8296835" cy="4310063"/>
          </a:xfrm>
        </p:spPr>
        <p:txBody>
          <a:bodyPr/>
          <a:lstStyle/>
          <a:p>
            <a:pPr eaLnBrk="1" hangingPunct="1"/>
            <a:r>
              <a:rPr lang="en-US" sz="2400" dirty="0" smtClean="0"/>
              <a:t>High level reference model</a:t>
            </a:r>
          </a:p>
          <a:p>
            <a:pPr eaLnBrk="1" hangingPunct="1"/>
            <a:r>
              <a:rPr lang="en-US" sz="2400" dirty="0" smtClean="0"/>
              <a:t>High level architecture which drives abstraction and separation of disciplines</a:t>
            </a:r>
          </a:p>
          <a:p>
            <a:pPr eaLnBrk="1" hangingPunct="1"/>
            <a:r>
              <a:rPr lang="en-US" sz="2400" dirty="0" smtClean="0"/>
              <a:t>Design for a federated metadata solution which can be integrated with existing knowledge repositories and systems </a:t>
            </a:r>
          </a:p>
          <a:p>
            <a:pPr eaLnBrk="1" hangingPunct="1"/>
            <a:r>
              <a:rPr lang="en-US" sz="2400" dirty="0" smtClean="0"/>
              <a:t>Definition of networked taxonomy model that can be used to populate an initial footprint for a metadata repository (MDR).</a:t>
            </a:r>
          </a:p>
          <a:p>
            <a:pPr eaLnBrk="1" hangingPunct="1"/>
            <a:r>
              <a:rPr lang="en-US" sz="2400" dirty="0" smtClean="0"/>
              <a:t>List of tools and competencies we need to buy and/or develop to support the vision</a:t>
            </a:r>
          </a:p>
        </p:txBody>
      </p:sp>
      <p:sp>
        <p:nvSpPr>
          <p:cNvPr id="4" name="Slide Number Placeholder 3"/>
          <p:cNvSpPr>
            <a:spLocks noGrp="1"/>
          </p:cNvSpPr>
          <p:nvPr>
            <p:ph type="sldNum" sz="quarter" idx="11"/>
          </p:nvPr>
        </p:nvSpPr>
        <p:spPr/>
        <p:txBody>
          <a:bodyPr/>
          <a:lstStyle/>
          <a:p>
            <a:pPr>
              <a:defRPr/>
            </a:pPr>
            <a:fld id="{4EB5FE7B-DE14-4157-B5D3-86B3AEDC2B80}" type="slidenum">
              <a:rPr lang="en-GB"/>
              <a:pPr>
                <a:defRPr/>
              </a:pPr>
              <a:t>7</a:t>
            </a:fld>
            <a:endParaRPr lang="en-GB"/>
          </a:p>
        </p:txBody>
      </p:sp>
    </p:spTree>
  </p:cSld>
  <p:clrMapOvr>
    <a:masterClrMapping/>
  </p:clrMapOvr>
  <p:transition>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txBox="1">
            <a:spLocks noGrp="1"/>
          </p:cNvSpPr>
          <p:nvPr/>
        </p:nvSpPr>
        <p:spPr bwMode="auto">
          <a:xfrm>
            <a:off x="107950" y="6475413"/>
            <a:ext cx="304800" cy="207962"/>
          </a:xfrm>
          <a:prstGeom prst="rect">
            <a:avLst/>
          </a:prstGeom>
          <a:noFill/>
          <a:ln>
            <a:miter lim="800000"/>
            <a:headEnd/>
            <a:tailEnd/>
          </a:ln>
        </p:spPr>
        <p:txBody>
          <a:bodyPr wrap="none" lIns="0" tIns="0" rIns="0" bIns="0" anchor="ctr"/>
          <a:lstStyle/>
          <a:p>
            <a:pPr>
              <a:lnSpc>
                <a:spcPct val="90000"/>
              </a:lnSpc>
              <a:defRPr/>
            </a:pPr>
            <a:fld id="{522FA68E-7C60-4E3B-85E1-A3E60827E2E6}" type="slidenum">
              <a:rPr lang="en-GB" sz="1100">
                <a:solidFill>
                  <a:schemeClr val="bg1"/>
                </a:solidFill>
                <a:latin typeface="+mn-lt"/>
              </a:rPr>
              <a:pPr>
                <a:lnSpc>
                  <a:spcPct val="90000"/>
                </a:lnSpc>
                <a:defRPr/>
              </a:pPr>
              <a:t>8</a:t>
            </a:fld>
            <a:endParaRPr lang="en-GB" sz="1100">
              <a:solidFill>
                <a:schemeClr val="bg1"/>
              </a:solidFill>
              <a:latin typeface="+mn-lt"/>
            </a:endParaRPr>
          </a:p>
        </p:txBody>
      </p:sp>
      <p:sp>
        <p:nvSpPr>
          <p:cNvPr id="87043" name="Rectangle 2"/>
          <p:cNvSpPr>
            <a:spLocks noGrp="1" noChangeArrowheads="1"/>
          </p:cNvSpPr>
          <p:nvPr>
            <p:ph type="title"/>
          </p:nvPr>
        </p:nvSpPr>
        <p:spPr/>
        <p:txBody>
          <a:bodyPr/>
          <a:lstStyle/>
          <a:p>
            <a:pPr eaLnBrk="1" hangingPunct="1"/>
            <a:r>
              <a:rPr lang="en-US" sz="2800" smtClean="0"/>
              <a:t>Knowledge Management: End State Vision</a:t>
            </a:r>
          </a:p>
        </p:txBody>
      </p:sp>
      <p:sp>
        <p:nvSpPr>
          <p:cNvPr id="87044" name="Rectangle 3"/>
          <p:cNvSpPr>
            <a:spLocks noGrp="1" noChangeArrowheads="1"/>
          </p:cNvSpPr>
          <p:nvPr>
            <p:ph idx="1"/>
          </p:nvPr>
        </p:nvSpPr>
        <p:spPr/>
        <p:txBody>
          <a:bodyPr/>
          <a:lstStyle/>
          <a:p>
            <a:pPr marL="0" indent="0" eaLnBrk="1" hangingPunct="1">
              <a:buFont typeface="Wingdings" pitchFamily="2" charset="2"/>
              <a:buNone/>
            </a:pPr>
            <a:r>
              <a:rPr lang="en-US" sz="2400" dirty="0" smtClean="0"/>
              <a:t>The End State is achieved when: </a:t>
            </a:r>
          </a:p>
          <a:p>
            <a:pPr lvl="1" eaLnBrk="1" hangingPunct="1"/>
            <a:r>
              <a:rPr lang="en-US" sz="2000" dirty="0" smtClean="0"/>
              <a:t>Any resource can capture and share knowledge</a:t>
            </a:r>
          </a:p>
          <a:p>
            <a:pPr lvl="1" eaLnBrk="1" hangingPunct="1"/>
            <a:r>
              <a:rPr lang="en-US" sz="2000" dirty="0" smtClean="0"/>
              <a:t>Access to knowledge is transparent </a:t>
            </a:r>
          </a:p>
          <a:p>
            <a:pPr lvl="1" eaLnBrk="1" hangingPunct="1"/>
            <a:r>
              <a:rPr lang="en-US" sz="2000" dirty="0" smtClean="0"/>
              <a:t>Capture of knowledge is seamless </a:t>
            </a:r>
          </a:p>
          <a:p>
            <a:pPr lvl="1" eaLnBrk="1" hangingPunct="1"/>
            <a:r>
              <a:rPr lang="en-US" sz="2000" dirty="0" smtClean="0"/>
              <a:t>Knowledge achieves status as corporate asset (part of IP)</a:t>
            </a:r>
          </a:p>
          <a:p>
            <a:pPr lvl="1" eaLnBrk="1" hangingPunct="1"/>
            <a:r>
              <a:rPr lang="en-US" sz="2000" dirty="0" smtClean="0"/>
              <a:t>The 5 rights for knowledge sharing have been achieved</a:t>
            </a:r>
          </a:p>
          <a:p>
            <a:pPr marL="1143000" lvl="2" indent="-228600" eaLnBrk="1" hangingPunct="1"/>
            <a:r>
              <a:rPr lang="en-US" sz="1800" dirty="0" smtClean="0"/>
              <a:t>Right knowledge</a:t>
            </a:r>
          </a:p>
          <a:p>
            <a:pPr marL="1143000" lvl="2" indent="-228600" eaLnBrk="1" hangingPunct="1"/>
            <a:r>
              <a:rPr lang="en-US" sz="1800" dirty="0" smtClean="0"/>
              <a:t>Right format</a:t>
            </a:r>
          </a:p>
          <a:p>
            <a:pPr marL="1143000" lvl="2" indent="-228600" eaLnBrk="1" hangingPunct="1"/>
            <a:r>
              <a:rPr lang="en-US" sz="1800" dirty="0" smtClean="0"/>
              <a:t>Right amount</a:t>
            </a:r>
          </a:p>
          <a:p>
            <a:pPr marL="1143000" lvl="2" indent="-228600" eaLnBrk="1" hangingPunct="1"/>
            <a:r>
              <a:rPr lang="en-US" sz="1800" dirty="0" smtClean="0"/>
              <a:t>Right timing</a:t>
            </a:r>
          </a:p>
          <a:p>
            <a:pPr marL="1143000" lvl="2" indent="-228600" eaLnBrk="1" hangingPunct="1"/>
            <a:r>
              <a:rPr lang="en-US" sz="1800" dirty="0" smtClean="0"/>
              <a:t>Right resources *</a:t>
            </a:r>
          </a:p>
          <a:p>
            <a:pPr marL="1143000" lvl="2" indent="-228600" eaLnBrk="1" hangingPunct="1"/>
            <a:endParaRPr lang="en-US" sz="1800" dirty="0" smtClean="0"/>
          </a:p>
          <a:p>
            <a:pPr marL="1143000" lvl="2" indent="-228600" eaLnBrk="1" hangingPunct="1">
              <a:buFontTx/>
              <a:buNone/>
            </a:pPr>
            <a:r>
              <a:rPr lang="en-US" sz="1800" dirty="0" smtClean="0"/>
              <a:t>* (people, products, and processes - .a.k.a. systems)</a:t>
            </a:r>
          </a:p>
        </p:txBody>
      </p:sp>
    </p:spTree>
  </p:cSld>
  <p:clrMapOvr>
    <a:masterClrMapping/>
  </p:clrMapOvr>
  <p:transition>
    <p:randomBar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1"/>
          <p:cNvSpPr>
            <a:spLocks noGrp="1"/>
          </p:cNvSpPr>
          <p:nvPr>
            <p:ph type="title"/>
          </p:nvPr>
        </p:nvSpPr>
        <p:spPr/>
        <p:txBody>
          <a:bodyPr lIns="91440" tIns="45720" rIns="91440" bIns="45720" anchor="ctr"/>
          <a:lstStyle/>
          <a:p>
            <a:pPr eaLnBrk="1" hangingPunct="1"/>
            <a:r>
              <a:rPr lang="en-US" smtClean="0"/>
              <a:t>What’s the future state look like ?</a:t>
            </a:r>
          </a:p>
        </p:txBody>
      </p:sp>
      <p:sp>
        <p:nvSpPr>
          <p:cNvPr id="11268" name="Content Placeholder 2"/>
          <p:cNvSpPr>
            <a:spLocks noGrp="1"/>
          </p:cNvSpPr>
          <p:nvPr>
            <p:ph idx="1"/>
          </p:nvPr>
        </p:nvSpPr>
        <p:spPr/>
        <p:txBody>
          <a:bodyPr lIns="91440" tIns="45720" rIns="91440" bIns="45720"/>
          <a:lstStyle/>
          <a:p>
            <a:pPr eaLnBrk="1" hangingPunct="1"/>
            <a:r>
              <a:rPr lang="en-US" sz="2000" dirty="0" smtClean="0"/>
              <a:t>Emails, documents, meetings and other work products that a knowledge worker touches in the context of a business, patient, or healthcare topic are tightly related to each other and always available alongside any of the other.</a:t>
            </a:r>
          </a:p>
          <a:p>
            <a:pPr eaLnBrk="1" hangingPunct="1"/>
            <a:r>
              <a:rPr lang="en-US" sz="2000" dirty="0" smtClean="0"/>
              <a:t>There </a:t>
            </a:r>
            <a:r>
              <a:rPr lang="en-US" sz="2000" dirty="0" smtClean="0"/>
              <a:t>is no need to figure out where to put a document, or an email, or a meeting note or even data – it will automatically be captured in relation to the context (s) in which they exist. </a:t>
            </a:r>
          </a:p>
          <a:p>
            <a:pPr eaLnBrk="1" hangingPunct="1"/>
            <a:r>
              <a:rPr lang="en-US" sz="2000" dirty="0" smtClean="0"/>
              <a:t>Records </a:t>
            </a:r>
            <a:r>
              <a:rPr lang="en-US" sz="2000" dirty="0" smtClean="0"/>
              <a:t>management, compliance, and security do not require additional effort.</a:t>
            </a:r>
          </a:p>
          <a:p>
            <a:pPr eaLnBrk="1" hangingPunct="1"/>
            <a:r>
              <a:rPr lang="en-US" sz="2000" dirty="0" smtClean="0"/>
              <a:t>Healthcare </a:t>
            </a:r>
            <a:r>
              <a:rPr lang="en-US" sz="2000" dirty="0" smtClean="0"/>
              <a:t>users may be associated with hundreds of contexts (or business/medical topics and projects) but they will automatically have research, patient records, documents, emails and other content related to those contexts that are relevant to them at any time, when they are disconnected. </a:t>
            </a:r>
          </a:p>
          <a:p>
            <a:pPr eaLnBrk="1" hangingPunct="1"/>
            <a:r>
              <a:rPr lang="en-US" sz="2000" dirty="0" smtClean="0"/>
              <a:t>Changes </a:t>
            </a:r>
            <a:r>
              <a:rPr lang="en-US" sz="2000" dirty="0" smtClean="0"/>
              <a:t>are synchronized and automatically sent to the right resources.</a:t>
            </a:r>
          </a:p>
        </p:txBody>
      </p:sp>
      <p:sp>
        <p:nvSpPr>
          <p:cNvPr id="4" name="Slide Number Placeholder 1"/>
          <p:cNvSpPr>
            <a:spLocks noGrp="1"/>
          </p:cNvSpPr>
          <p:nvPr>
            <p:ph type="sldNum" sz="quarter" idx="11"/>
          </p:nvPr>
        </p:nvSpPr>
        <p:spPr/>
        <p:txBody>
          <a:bodyPr/>
          <a:lstStyle/>
          <a:p>
            <a:pPr>
              <a:defRPr/>
            </a:pPr>
            <a:fld id="{B4148498-97E2-45A3-AE70-A1300F9E482D}" type="slidenum">
              <a:rPr lang="en-GB"/>
              <a:pPr>
                <a:defRPr/>
              </a:pPr>
              <a:t>9</a:t>
            </a:fld>
            <a:endParaRPr lang="en-GB"/>
          </a:p>
        </p:txBody>
      </p:sp>
    </p:spTree>
  </p:cSld>
  <p:clrMapOvr>
    <a:masterClrMapping/>
  </p:clrMapOvr>
  <p:transition>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txBox="1">
            <a:spLocks noGrp="1"/>
          </p:cNvSpPr>
          <p:nvPr/>
        </p:nvSpPr>
        <p:spPr bwMode="auto">
          <a:xfrm>
            <a:off x="107950" y="6475413"/>
            <a:ext cx="304800" cy="207962"/>
          </a:xfrm>
          <a:prstGeom prst="rect">
            <a:avLst/>
          </a:prstGeom>
          <a:noFill/>
          <a:ln>
            <a:miter lim="800000"/>
            <a:headEnd/>
            <a:tailEnd/>
          </a:ln>
        </p:spPr>
        <p:txBody>
          <a:bodyPr wrap="none" lIns="0" tIns="0" rIns="0" bIns="0" anchor="ctr"/>
          <a:lstStyle/>
          <a:p>
            <a:pPr>
              <a:lnSpc>
                <a:spcPct val="90000"/>
              </a:lnSpc>
              <a:defRPr/>
            </a:pPr>
            <a:fld id="{6910C43B-5FDC-4743-B233-FB261D65661F}" type="slidenum">
              <a:rPr lang="en-GB" sz="1100">
                <a:solidFill>
                  <a:schemeClr val="bg1"/>
                </a:solidFill>
                <a:latin typeface="+mn-lt"/>
              </a:rPr>
              <a:pPr>
                <a:lnSpc>
                  <a:spcPct val="90000"/>
                </a:lnSpc>
                <a:defRPr/>
              </a:pPr>
              <a:t>10</a:t>
            </a:fld>
            <a:endParaRPr lang="en-GB" sz="1100">
              <a:solidFill>
                <a:schemeClr val="bg1"/>
              </a:solidFill>
              <a:latin typeface="+mn-lt"/>
            </a:endParaRPr>
          </a:p>
        </p:txBody>
      </p:sp>
      <p:sp>
        <p:nvSpPr>
          <p:cNvPr id="183299" name="Title 1"/>
          <p:cNvSpPr>
            <a:spLocks noGrp="1"/>
          </p:cNvSpPr>
          <p:nvPr>
            <p:ph type="title"/>
          </p:nvPr>
        </p:nvSpPr>
        <p:spPr/>
        <p:txBody>
          <a:bodyPr lIns="91440" tIns="45720" rIns="91440" bIns="45720" anchor="ctr"/>
          <a:lstStyle/>
          <a:p>
            <a:pPr eaLnBrk="1" hangingPunct="1"/>
            <a:r>
              <a:rPr lang="en-US" smtClean="0"/>
              <a:t>What’s the future state look like ?</a:t>
            </a:r>
          </a:p>
        </p:txBody>
      </p:sp>
      <p:sp>
        <p:nvSpPr>
          <p:cNvPr id="183300" name="Content Placeholder 2"/>
          <p:cNvSpPr>
            <a:spLocks noGrp="1"/>
          </p:cNvSpPr>
          <p:nvPr>
            <p:ph idx="1"/>
          </p:nvPr>
        </p:nvSpPr>
        <p:spPr/>
        <p:txBody>
          <a:bodyPr lIns="91440" tIns="45720" rIns="91440" bIns="45720"/>
          <a:lstStyle/>
          <a:p>
            <a:pPr eaLnBrk="1" hangingPunct="1"/>
            <a:r>
              <a:rPr lang="en-US" sz="2000" dirty="0" smtClean="0"/>
              <a:t>All information available on their devices when off-line is encrypted and cannot be accessible to an unauthorized user.</a:t>
            </a:r>
          </a:p>
          <a:p>
            <a:pPr eaLnBrk="1" hangingPunct="1"/>
            <a:r>
              <a:rPr lang="en-US" sz="2000" dirty="0" smtClean="0"/>
              <a:t>Access </a:t>
            </a:r>
            <a:r>
              <a:rPr lang="en-US" sz="2000" dirty="0" smtClean="0"/>
              <a:t>to resources, content, and functionality are found through embedded relationships that are captured and managed w/in the data (transparent to the knowledge worker).  </a:t>
            </a:r>
          </a:p>
          <a:p>
            <a:pPr eaLnBrk="1" hangingPunct="1"/>
            <a:r>
              <a:rPr lang="en-US" sz="2000" dirty="0" smtClean="0"/>
              <a:t>Workers </a:t>
            </a:r>
            <a:r>
              <a:rPr lang="en-US" sz="2000" dirty="0" smtClean="0"/>
              <a:t>will be able to connect with people in a more fluid manner by leveraging captured knowledge and profiles about individuals. </a:t>
            </a:r>
          </a:p>
          <a:p>
            <a:pPr eaLnBrk="1" hangingPunct="1"/>
            <a:r>
              <a:rPr lang="en-US" sz="2000" dirty="0" smtClean="0"/>
              <a:t>Expertise </a:t>
            </a:r>
            <a:r>
              <a:rPr lang="en-US" sz="2000" dirty="0" smtClean="0"/>
              <a:t>is available for reference based on the type of activity a knowledge worker is performing (may be in the form of a resource, a process - best practice, or content – consumable knowledge). </a:t>
            </a:r>
          </a:p>
          <a:p>
            <a:pPr eaLnBrk="1" hangingPunct="1"/>
            <a:r>
              <a:rPr lang="en-US" sz="2000" dirty="0" smtClean="0"/>
              <a:t>Content </a:t>
            </a:r>
            <a:r>
              <a:rPr lang="en-US" sz="2000" dirty="0" smtClean="0"/>
              <a:t>(including published research about products or services) are made available via search.  Even emails written by others and documents that are work in process are made accessible (if the user is authorized).</a:t>
            </a:r>
          </a:p>
        </p:txBody>
      </p:sp>
    </p:spTree>
  </p:cSld>
  <p:clrMapOvr>
    <a:masterClrMapping/>
  </p:clrMapOvr>
  <p:transition>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lIns="91440" tIns="45720" rIns="91440" bIns="45720" anchor="ctr"/>
          <a:lstStyle/>
          <a:p>
            <a:pPr eaLnBrk="1" hangingPunct="1"/>
            <a:r>
              <a:rPr lang="en-US" smtClean="0"/>
              <a:t>What’s the future state look like ?</a:t>
            </a:r>
          </a:p>
        </p:txBody>
      </p:sp>
      <p:sp>
        <p:nvSpPr>
          <p:cNvPr id="12292" name="Content Placeholder 2"/>
          <p:cNvSpPr>
            <a:spLocks noGrp="1"/>
          </p:cNvSpPr>
          <p:nvPr>
            <p:ph idx="1"/>
          </p:nvPr>
        </p:nvSpPr>
        <p:spPr/>
        <p:txBody>
          <a:bodyPr lIns="91440" tIns="45720" rIns="91440" bIns="45720"/>
          <a:lstStyle/>
          <a:p>
            <a:pPr eaLnBrk="1" hangingPunct="1"/>
            <a:r>
              <a:rPr lang="en-US" sz="2000" dirty="0" smtClean="0"/>
              <a:t>People who share the context will share the information without having to email them around</a:t>
            </a:r>
          </a:p>
          <a:p>
            <a:pPr eaLnBrk="1" hangingPunct="1"/>
            <a:r>
              <a:rPr lang="en-US" sz="2000" dirty="0" smtClean="0"/>
              <a:t>Work </a:t>
            </a:r>
            <a:r>
              <a:rPr lang="en-US" sz="2000" dirty="0" smtClean="0"/>
              <a:t>products flow among contexts as people write emails, create documents or update patient records – thereby reflecting the actual flow of knowledge</a:t>
            </a:r>
          </a:p>
          <a:p>
            <a:pPr eaLnBrk="1" hangingPunct="1"/>
            <a:r>
              <a:rPr lang="en-US" sz="2000" dirty="0" smtClean="0"/>
              <a:t>Business </a:t>
            </a:r>
            <a:r>
              <a:rPr lang="en-US" sz="2000" dirty="0" smtClean="0"/>
              <a:t>processes create standard structured contexts to represent the entities that are being processed</a:t>
            </a:r>
          </a:p>
          <a:p>
            <a:pPr eaLnBrk="1" hangingPunct="1"/>
            <a:r>
              <a:rPr lang="en-US" sz="2000" dirty="0" smtClean="0"/>
              <a:t>Rules </a:t>
            </a:r>
            <a:r>
              <a:rPr lang="en-US" sz="2000" dirty="0" smtClean="0"/>
              <a:t>for workflow automation can be applied at the context – </a:t>
            </a:r>
          </a:p>
          <a:p>
            <a:pPr lvl="1" eaLnBrk="1" hangingPunct="1"/>
            <a:r>
              <a:rPr lang="en-US" sz="1800" dirty="0" smtClean="0"/>
              <a:t>To gather data, notify people, move content, restrict distribution or access</a:t>
            </a:r>
          </a:p>
          <a:p>
            <a:pPr eaLnBrk="1" hangingPunct="1"/>
            <a:r>
              <a:rPr lang="en-US" sz="2000" dirty="0" smtClean="0"/>
              <a:t>They </a:t>
            </a:r>
            <a:r>
              <a:rPr lang="en-US" sz="2000" dirty="0" smtClean="0"/>
              <a:t>focus on their business context – and everything they need for working on them is available</a:t>
            </a:r>
          </a:p>
          <a:p>
            <a:pPr eaLnBrk="1" hangingPunct="1"/>
            <a:r>
              <a:rPr lang="en-US" sz="2000" dirty="0" smtClean="0"/>
              <a:t>When </a:t>
            </a:r>
            <a:r>
              <a:rPr lang="en-US" sz="2000" dirty="0" smtClean="0"/>
              <a:t>they complete a document, or send an email – they are automatically captured in the business context.</a:t>
            </a:r>
          </a:p>
        </p:txBody>
      </p:sp>
      <p:sp>
        <p:nvSpPr>
          <p:cNvPr id="4" name="Slide Number Placeholder 1"/>
          <p:cNvSpPr>
            <a:spLocks noGrp="1"/>
          </p:cNvSpPr>
          <p:nvPr>
            <p:ph type="sldNum" sz="quarter" idx="11"/>
          </p:nvPr>
        </p:nvSpPr>
        <p:spPr/>
        <p:txBody>
          <a:bodyPr/>
          <a:lstStyle/>
          <a:p>
            <a:pPr>
              <a:defRPr/>
            </a:pPr>
            <a:fld id="{B7BEC8C9-FF63-4017-B354-8189B66B0DC9}" type="slidenum">
              <a:rPr lang="en-GB"/>
              <a:pPr>
                <a:defRPr/>
              </a:pPr>
              <a:t>11</a:t>
            </a:fld>
            <a:endParaRPr lang="en-GB"/>
          </a:p>
        </p:txBody>
      </p:sp>
    </p:spTree>
  </p:cSld>
  <p:clrMapOvr>
    <a:masterClrMapping/>
  </p:clrMapOvr>
  <p:transition>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smtClean="0"/>
              <a:t>Goals for a Reference Model</a:t>
            </a:r>
          </a:p>
        </p:txBody>
      </p:sp>
      <p:sp>
        <p:nvSpPr>
          <p:cNvPr id="13316" name="Rectangle 5"/>
          <p:cNvSpPr>
            <a:spLocks noGrp="1" noChangeArrowheads="1"/>
          </p:cNvSpPr>
          <p:nvPr>
            <p:ph idx="1"/>
          </p:nvPr>
        </p:nvSpPr>
        <p:spPr>
          <a:noFill/>
        </p:spPr>
        <p:txBody>
          <a:bodyPr/>
          <a:lstStyle/>
          <a:p>
            <a:pPr eaLnBrk="1" hangingPunct="1"/>
            <a:r>
              <a:rPr lang="en-US" sz="2400" dirty="0" smtClean="0"/>
              <a:t>High level reference model enables:</a:t>
            </a:r>
          </a:p>
          <a:p>
            <a:pPr eaLnBrk="1" hangingPunct="1"/>
            <a:endParaRPr lang="en-US" sz="2400" dirty="0" smtClean="0"/>
          </a:p>
          <a:p>
            <a:pPr lvl="1" eaLnBrk="1" hangingPunct="1"/>
            <a:r>
              <a:rPr lang="en-US" sz="2000" dirty="0" smtClean="0"/>
              <a:t>Open architectures – swapping in and swapping out components over time without loss of investment </a:t>
            </a:r>
          </a:p>
          <a:p>
            <a:pPr lvl="1" eaLnBrk="1" hangingPunct="1"/>
            <a:r>
              <a:rPr lang="en-US" sz="2000" dirty="0" smtClean="0"/>
              <a:t>Appropriate functional growth at the component level</a:t>
            </a:r>
          </a:p>
          <a:p>
            <a:pPr lvl="1" eaLnBrk="1" hangingPunct="1"/>
            <a:r>
              <a:rPr lang="en-US" sz="2000" dirty="0" smtClean="0"/>
              <a:t>Extensibility of content coverage</a:t>
            </a:r>
          </a:p>
          <a:p>
            <a:pPr lvl="1" eaLnBrk="1" hangingPunct="1"/>
            <a:r>
              <a:rPr lang="en-US" sz="2000" dirty="0" smtClean="0"/>
              <a:t>Scalability of the architecture in terms of volume of content and level of use </a:t>
            </a:r>
          </a:p>
          <a:p>
            <a:pPr lvl="1" eaLnBrk="1" hangingPunct="1"/>
            <a:r>
              <a:rPr lang="en-US" sz="2000" dirty="0" smtClean="0"/>
              <a:t>Emergence of an enterprise level thinking about how to manage content </a:t>
            </a:r>
          </a:p>
          <a:p>
            <a:pPr lvl="1" eaLnBrk="1" hangingPunct="1"/>
            <a:r>
              <a:rPr lang="en-US" sz="2000" dirty="0" smtClean="0"/>
              <a:t>Enterprise level thinking about stewardship and governance of information</a:t>
            </a:r>
          </a:p>
        </p:txBody>
      </p:sp>
      <p:sp>
        <p:nvSpPr>
          <p:cNvPr id="4" name="Slide Number Placeholder 3"/>
          <p:cNvSpPr>
            <a:spLocks noGrp="1"/>
          </p:cNvSpPr>
          <p:nvPr>
            <p:ph type="sldNum" sz="quarter" idx="11"/>
          </p:nvPr>
        </p:nvSpPr>
        <p:spPr>
          <a:prstGeom prst="rect">
            <a:avLst/>
          </a:prstGeom>
        </p:spPr>
        <p:txBody>
          <a:bodyPr/>
          <a:lstStyle/>
          <a:p>
            <a:pPr>
              <a:defRPr/>
            </a:pPr>
            <a:fld id="{1E43E042-9E7F-4B86-B6E2-5FE19C1C6324}" type="slidenum">
              <a:rPr lang="en-GB"/>
              <a:pPr>
                <a:defRPr/>
              </a:pPr>
              <a:t>12</a:t>
            </a:fld>
            <a:endParaRPr lang="en-GB"/>
          </a:p>
        </p:txBody>
      </p:sp>
    </p:spTree>
  </p:cSld>
  <p:clrMapOvr>
    <a:masterClrMapping/>
  </p:clrMapOvr>
  <p:transition>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Cube 1543"/>
          <p:cNvSpPr>
            <a:spLocks noChangeArrowheads="1"/>
          </p:cNvSpPr>
          <p:nvPr/>
        </p:nvSpPr>
        <p:spPr bwMode="auto">
          <a:xfrm rot="16200000" flipV="1">
            <a:off x="-1063625" y="3648076"/>
            <a:ext cx="3684587" cy="576262"/>
          </a:xfrm>
          <a:prstGeom prst="cube">
            <a:avLst>
              <a:gd name="adj" fmla="val 25000"/>
            </a:avLst>
          </a:prstGeom>
          <a:ln>
            <a:headEnd type="oval" w="lg" len="lg"/>
            <a:tailEnd/>
          </a:ln>
        </p:spPr>
        <p:style>
          <a:lnRef idx="0">
            <a:schemeClr val="accent1"/>
          </a:lnRef>
          <a:fillRef idx="3">
            <a:schemeClr val="accent1"/>
          </a:fillRef>
          <a:effectRef idx="3">
            <a:schemeClr val="accent1"/>
          </a:effectRef>
          <a:fontRef idx="minor">
            <a:schemeClr val="lt1"/>
          </a:fontRef>
        </p:style>
        <p:txBody>
          <a:bodyPr anchor="ctr"/>
          <a:lstStyle/>
          <a:p>
            <a:r>
              <a:rPr lang="en-US" sz="1800" b="1"/>
              <a:t>Orchestration / Scheduling</a:t>
            </a:r>
          </a:p>
        </p:txBody>
      </p:sp>
      <p:sp>
        <p:nvSpPr>
          <p:cNvPr id="1029" name="Rectangle 2"/>
          <p:cNvSpPr>
            <a:spLocks noGrp="1" noChangeArrowheads="1"/>
          </p:cNvSpPr>
          <p:nvPr>
            <p:ph type="title"/>
          </p:nvPr>
        </p:nvSpPr>
        <p:spPr/>
        <p:txBody>
          <a:bodyPr/>
          <a:lstStyle/>
          <a:p>
            <a:pPr eaLnBrk="1" hangingPunct="1"/>
            <a:r>
              <a:rPr lang="en-US" smtClean="0"/>
              <a:t>Basic Stuff: Architecture Layers</a:t>
            </a:r>
          </a:p>
        </p:txBody>
      </p:sp>
      <p:sp>
        <p:nvSpPr>
          <p:cNvPr id="9" name="Slide Number Placeholder 3"/>
          <p:cNvSpPr>
            <a:spLocks noGrp="1"/>
          </p:cNvSpPr>
          <p:nvPr>
            <p:ph type="sldNum" sz="quarter" idx="11"/>
          </p:nvPr>
        </p:nvSpPr>
        <p:spPr>
          <a:prstGeom prst="rect">
            <a:avLst/>
          </a:prstGeom>
        </p:spPr>
        <p:txBody>
          <a:bodyPr/>
          <a:lstStyle/>
          <a:p>
            <a:pPr>
              <a:defRPr/>
            </a:pPr>
            <a:fld id="{365EEB75-488E-4283-8EF9-990E1580797C}" type="slidenum">
              <a:rPr lang="en-GB"/>
              <a:pPr>
                <a:defRPr/>
              </a:pPr>
              <a:t>13</a:t>
            </a:fld>
            <a:endParaRPr lang="en-GB"/>
          </a:p>
        </p:txBody>
      </p:sp>
      <p:sp>
        <p:nvSpPr>
          <p:cNvPr id="1030" name="Slide Number Placeholder 1"/>
          <p:cNvSpPr txBox="1">
            <a:spLocks noGrp="1"/>
          </p:cNvSpPr>
          <p:nvPr/>
        </p:nvSpPr>
        <p:spPr bwMode="auto">
          <a:xfrm>
            <a:off x="8448675" y="6324600"/>
            <a:ext cx="542925" cy="292100"/>
          </a:xfrm>
          <a:prstGeom prst="rect">
            <a:avLst/>
          </a:prstGeom>
          <a:noFill/>
          <a:ln w="9525">
            <a:noFill/>
            <a:miter lim="800000"/>
            <a:headEnd/>
            <a:tailEnd/>
          </a:ln>
        </p:spPr>
        <p:txBody>
          <a:bodyPr/>
          <a:lstStyle/>
          <a:p>
            <a:pPr algn="r" eaLnBrk="1" hangingPunct="1"/>
            <a:fld id="{19EB50B1-E25D-46BD-A601-59B504802BA3}" type="slidenum">
              <a:rPr lang="en-US" sz="1000" b="1">
                <a:solidFill>
                  <a:schemeClr val="bg1"/>
                </a:solidFill>
                <a:latin typeface="Verdana" pitchFamily="34" charset="0"/>
              </a:rPr>
              <a:pPr algn="r" eaLnBrk="1" hangingPunct="1"/>
              <a:t>13</a:t>
            </a:fld>
            <a:r>
              <a:rPr lang="en-US" sz="1000">
                <a:solidFill>
                  <a:schemeClr val="bg1"/>
                </a:solidFill>
                <a:latin typeface="Verdana" pitchFamily="34" charset="0"/>
              </a:rPr>
              <a:t> </a:t>
            </a:r>
          </a:p>
        </p:txBody>
      </p:sp>
      <p:sp>
        <p:nvSpPr>
          <p:cNvPr id="3" name="AutoShape 2"/>
          <p:cNvSpPr txBox="1">
            <a:spLocks noChangeArrowheads="1"/>
          </p:cNvSpPr>
          <p:nvPr/>
        </p:nvSpPr>
        <p:spPr>
          <a:xfrm>
            <a:off x="838200" y="228600"/>
            <a:ext cx="7924800" cy="838200"/>
          </a:xfrm>
          <a:prstGeom prst="roundRect">
            <a:avLst>
              <a:gd name="adj" fmla="val 21667"/>
            </a:avLst>
          </a:prstGeom>
        </p:spPr>
        <p:txBody>
          <a:bodyPr/>
          <a:lstStyle/>
          <a:p>
            <a:pPr algn="l">
              <a:defRPr/>
            </a:pPr>
            <a:endParaRPr lang="en-US" sz="3200" b="1" kern="0" dirty="0">
              <a:solidFill>
                <a:schemeClr val="tx2"/>
              </a:solidFill>
              <a:latin typeface="+mj-lt"/>
              <a:ea typeface="+mj-ea"/>
              <a:cs typeface="+mj-cs"/>
            </a:endParaRPr>
          </a:p>
        </p:txBody>
      </p:sp>
      <p:sp>
        <p:nvSpPr>
          <p:cNvPr id="1032" name="Rectangle 6"/>
          <p:cNvSpPr>
            <a:spLocks noChangeArrowheads="1"/>
          </p:cNvSpPr>
          <p:nvPr/>
        </p:nvSpPr>
        <p:spPr bwMode="auto">
          <a:xfrm>
            <a:off x="4419600" y="1752600"/>
            <a:ext cx="4495800" cy="4473388"/>
          </a:xfrm>
          <a:prstGeom prst="rect">
            <a:avLst/>
          </a:prstGeom>
          <a:noFill/>
          <a:ln w="57150" cmpd="thinThick">
            <a:solidFill>
              <a:schemeClr val="hlink"/>
            </a:solidFill>
            <a:miter lim="800000"/>
            <a:headEnd/>
            <a:tailEnd/>
          </a:ln>
        </p:spPr>
        <p:txBody>
          <a:bodyPr/>
          <a:lstStyle/>
          <a:p>
            <a:pPr marL="342900" indent="-342900" algn="l" eaLnBrk="1" hangingPunct="1">
              <a:spcBef>
                <a:spcPct val="20000"/>
              </a:spcBef>
              <a:buClr>
                <a:srgbClr val="800000"/>
              </a:buClr>
              <a:buFont typeface="Wingdings" pitchFamily="2" charset="2"/>
              <a:buChar char="v"/>
            </a:pPr>
            <a:r>
              <a:rPr lang="en-AU" sz="1600" b="1" dirty="0" smtClean="0">
                <a:latin typeface="Verdana" pitchFamily="34" charset="0"/>
              </a:rPr>
              <a:t>Breakdown:</a:t>
            </a:r>
            <a:endParaRPr lang="en-AU" sz="1600" b="1" dirty="0">
              <a:latin typeface="Verdana" pitchFamily="34" charset="0"/>
            </a:endParaRPr>
          </a:p>
          <a:p>
            <a:pPr marL="342900" indent="-342900" algn="l" eaLnBrk="1" hangingPunct="1">
              <a:spcBef>
                <a:spcPct val="20000"/>
              </a:spcBef>
              <a:buClr>
                <a:srgbClr val="800000"/>
              </a:buClr>
            </a:pPr>
            <a:endParaRPr lang="en-AU" sz="1100" b="1" dirty="0">
              <a:latin typeface="Verdana" pitchFamily="34" charset="0"/>
            </a:endParaRPr>
          </a:p>
          <a:p>
            <a:pPr marL="282575" lvl="1" indent="-174625" algn="l" eaLnBrk="1" hangingPunct="1">
              <a:spcBef>
                <a:spcPct val="20000"/>
              </a:spcBef>
              <a:buClr>
                <a:schemeClr val="tx2"/>
              </a:buClr>
              <a:buFont typeface="Wingdings" pitchFamily="2" charset="2"/>
              <a:buChar char="Ø"/>
            </a:pPr>
            <a:r>
              <a:rPr lang="en-AU" sz="1200" b="1" dirty="0">
                <a:latin typeface="Verdana" pitchFamily="34" charset="0"/>
              </a:rPr>
              <a:t>The Presentation Layer </a:t>
            </a:r>
            <a:r>
              <a:rPr lang="en-AU" sz="1200" dirty="0">
                <a:latin typeface="Verdana" pitchFamily="34" charset="0"/>
              </a:rPr>
              <a:t>responsible for all requests and replies to and from the enterprise;</a:t>
            </a:r>
            <a:endParaRPr lang="en-US" sz="1200" dirty="0">
              <a:latin typeface="Verdana" pitchFamily="34" charset="0"/>
            </a:endParaRPr>
          </a:p>
          <a:p>
            <a:pPr marL="282575" lvl="1" indent="-174625" algn="l" eaLnBrk="1" hangingPunct="1">
              <a:spcBef>
                <a:spcPct val="20000"/>
              </a:spcBef>
              <a:buClr>
                <a:schemeClr val="tx2"/>
              </a:buClr>
              <a:buFont typeface="Wingdings" pitchFamily="2" charset="2"/>
              <a:buChar char="Ø"/>
            </a:pPr>
            <a:r>
              <a:rPr lang="en-AU" sz="1200" b="1" dirty="0">
                <a:latin typeface="Verdana" pitchFamily="34" charset="0"/>
              </a:rPr>
              <a:t>The Service Requestors (BP) Layer  </a:t>
            </a:r>
            <a:r>
              <a:rPr lang="en-AU" sz="1200" dirty="0">
                <a:latin typeface="Verdana" pitchFamily="34" charset="0"/>
              </a:rPr>
              <a:t>responsible for request/reply exchanges with ESB </a:t>
            </a:r>
          </a:p>
          <a:p>
            <a:pPr marL="282575" lvl="1" indent="-174625" algn="l" eaLnBrk="1" hangingPunct="1">
              <a:spcBef>
                <a:spcPct val="20000"/>
              </a:spcBef>
              <a:buClr>
                <a:schemeClr val="tx2"/>
              </a:buClr>
              <a:buFont typeface="Wingdings" pitchFamily="2" charset="2"/>
              <a:buChar char="Ø"/>
            </a:pPr>
            <a:r>
              <a:rPr lang="en-AU" sz="1200" b="1" dirty="0">
                <a:latin typeface="Verdana" pitchFamily="34" charset="0"/>
              </a:rPr>
              <a:t>The Enterprise Service Bus Layer </a:t>
            </a:r>
            <a:r>
              <a:rPr lang="en-AU" sz="1200" dirty="0">
                <a:latin typeface="Verdana" pitchFamily="34" charset="0"/>
              </a:rPr>
              <a:t>representing a common informational environment supporting uncoupled, guaranteed, standard-based information exchange between service requestors and producers;</a:t>
            </a:r>
            <a:endParaRPr lang="en-US" sz="1200" dirty="0">
              <a:latin typeface="Verdana" pitchFamily="34" charset="0"/>
            </a:endParaRPr>
          </a:p>
          <a:p>
            <a:pPr marL="282575" lvl="1" indent="-174625" algn="l" eaLnBrk="1" hangingPunct="1">
              <a:spcBef>
                <a:spcPct val="20000"/>
              </a:spcBef>
              <a:buClr>
                <a:schemeClr val="tx2"/>
              </a:buClr>
              <a:buFont typeface="Wingdings" pitchFamily="2" charset="2"/>
              <a:buChar char="Ø"/>
            </a:pPr>
            <a:r>
              <a:rPr lang="en-AU" sz="1200" b="1" dirty="0">
                <a:latin typeface="Verdana" pitchFamily="34" charset="0"/>
              </a:rPr>
              <a:t>The Service Producers Layer </a:t>
            </a:r>
            <a:r>
              <a:rPr lang="en-AU" sz="1200" dirty="0">
                <a:latin typeface="Verdana" pitchFamily="34" charset="0"/>
              </a:rPr>
              <a:t>– the former System Domain, comprised of business-related service clusters, exchanging messages with other ESOA participants through ESB.</a:t>
            </a:r>
            <a:endParaRPr lang="en-US" sz="1200" dirty="0">
              <a:latin typeface="Verdana" pitchFamily="34" charset="0"/>
            </a:endParaRPr>
          </a:p>
          <a:p>
            <a:pPr marL="282575" lvl="1" indent="-174625" algn="l" eaLnBrk="1" hangingPunct="1">
              <a:spcBef>
                <a:spcPct val="20000"/>
              </a:spcBef>
              <a:buClr>
                <a:schemeClr val="tx2"/>
              </a:buClr>
              <a:buFont typeface="Wingdings" pitchFamily="2" charset="2"/>
              <a:buChar char="Ø"/>
            </a:pPr>
            <a:r>
              <a:rPr lang="en-AU" sz="1200" b="1" dirty="0">
                <a:latin typeface="Verdana" pitchFamily="34" charset="0"/>
              </a:rPr>
              <a:t>The Data Service Layer </a:t>
            </a:r>
            <a:r>
              <a:rPr lang="en-AU" sz="1200" dirty="0">
                <a:latin typeface="Verdana" pitchFamily="34" charset="0"/>
              </a:rPr>
              <a:t>– the part of the Data Layer usually responsible for providing a Single View of Truth – the unified view of the Enterprise’s dispersed data;</a:t>
            </a:r>
            <a:endParaRPr lang="en-US" sz="1200" b="1" dirty="0">
              <a:latin typeface="Verdana" pitchFamily="34" charset="0"/>
            </a:endParaRPr>
          </a:p>
          <a:p>
            <a:pPr marL="282575" lvl="1" indent="-174625" algn="l" eaLnBrk="1" hangingPunct="1">
              <a:spcBef>
                <a:spcPct val="20000"/>
              </a:spcBef>
              <a:buClr>
                <a:schemeClr val="tx2"/>
              </a:buClr>
              <a:buFont typeface="Wingdings" pitchFamily="2" charset="2"/>
              <a:buChar char="Ø"/>
            </a:pPr>
            <a:r>
              <a:rPr lang="en-AU" sz="1200" b="1" dirty="0">
                <a:latin typeface="Verdana" pitchFamily="34" charset="0"/>
              </a:rPr>
              <a:t>The Data Storage Layer </a:t>
            </a:r>
            <a:r>
              <a:rPr lang="en-AU" sz="1200" dirty="0">
                <a:latin typeface="Verdana" pitchFamily="34" charset="0"/>
              </a:rPr>
              <a:t> represents the dispersed Enterprise Data Storages, including public and internal RDBMS, Data Warehouses, tapes, files, etc.</a:t>
            </a:r>
            <a:endParaRPr lang="en-US" sz="1200" dirty="0">
              <a:latin typeface="Verdana" pitchFamily="34" charset="0"/>
            </a:endParaRPr>
          </a:p>
          <a:p>
            <a:pPr marL="342900" indent="-342900" algn="l" eaLnBrk="1" hangingPunct="1">
              <a:spcBef>
                <a:spcPct val="20000"/>
              </a:spcBef>
              <a:buClr>
                <a:srgbClr val="800000"/>
              </a:buClr>
            </a:pPr>
            <a:endParaRPr lang="en-US" sz="900" b="1" dirty="0">
              <a:latin typeface="Arial" charset="0"/>
            </a:endParaRPr>
          </a:p>
        </p:txBody>
      </p:sp>
      <p:sp>
        <p:nvSpPr>
          <p:cNvPr id="1033" name="Rectangle 145"/>
          <p:cNvSpPr>
            <a:spLocks noChangeArrowheads="1"/>
          </p:cNvSpPr>
          <p:nvPr/>
        </p:nvSpPr>
        <p:spPr bwMode="auto">
          <a:xfrm>
            <a:off x="4572000" y="6627813"/>
            <a:ext cx="3657600" cy="230187"/>
          </a:xfrm>
          <a:prstGeom prst="rect">
            <a:avLst/>
          </a:prstGeom>
          <a:noFill/>
          <a:ln w="9525">
            <a:noFill/>
            <a:miter lim="800000"/>
            <a:headEnd/>
            <a:tailEnd/>
          </a:ln>
        </p:spPr>
        <p:txBody>
          <a:bodyPr>
            <a:spAutoFit/>
          </a:bodyPr>
          <a:lstStyle/>
          <a:p>
            <a:pPr algn="r" eaLnBrk="1" hangingPunct="1"/>
            <a:r>
              <a:rPr lang="en-US" sz="900">
                <a:solidFill>
                  <a:schemeClr val="bg1"/>
                </a:solidFill>
                <a:latin typeface="Verdana" pitchFamily="34" charset="0"/>
              </a:rPr>
              <a:t>B-Wave Software ®. All Rights Reserved ©</a:t>
            </a:r>
          </a:p>
        </p:txBody>
      </p:sp>
      <p:sp>
        <p:nvSpPr>
          <p:cNvPr id="1034" name="Cube 1537"/>
          <p:cNvSpPr>
            <a:spLocks noChangeArrowheads="1"/>
          </p:cNvSpPr>
          <p:nvPr/>
        </p:nvSpPr>
        <p:spPr bwMode="auto">
          <a:xfrm>
            <a:off x="928688" y="5027613"/>
            <a:ext cx="3040062" cy="750887"/>
          </a:xfrm>
          <a:prstGeom prst="cube">
            <a:avLst>
              <a:gd name="adj" fmla="val 25000"/>
            </a:avLst>
          </a:prstGeom>
          <a:ln>
            <a:headEnd type="oval" w="lg" len="lg"/>
            <a:tailEnd/>
          </a:ln>
        </p:spPr>
        <p:style>
          <a:lnRef idx="0">
            <a:schemeClr val="accent1"/>
          </a:lnRef>
          <a:fillRef idx="3">
            <a:schemeClr val="accent1"/>
          </a:fillRef>
          <a:effectRef idx="3">
            <a:schemeClr val="accent1"/>
          </a:effectRef>
          <a:fontRef idx="minor">
            <a:schemeClr val="lt1"/>
          </a:fontRef>
        </p:style>
        <p:txBody>
          <a:bodyPr anchor="ctr"/>
          <a:lstStyle/>
          <a:p>
            <a:r>
              <a:rPr lang="en-US" sz="1800"/>
              <a:t>OS Layer</a:t>
            </a:r>
          </a:p>
        </p:txBody>
      </p:sp>
      <p:sp>
        <p:nvSpPr>
          <p:cNvPr id="1035" name="Cube 1538"/>
          <p:cNvSpPr>
            <a:spLocks noChangeArrowheads="1"/>
          </p:cNvSpPr>
          <p:nvPr/>
        </p:nvSpPr>
        <p:spPr bwMode="auto">
          <a:xfrm>
            <a:off x="920750" y="4433888"/>
            <a:ext cx="3040063" cy="749300"/>
          </a:xfrm>
          <a:prstGeom prst="cube">
            <a:avLst>
              <a:gd name="adj" fmla="val 25000"/>
            </a:avLst>
          </a:prstGeom>
          <a:ln>
            <a:headEnd type="oval" w="lg" len="lg"/>
            <a:tailEnd/>
          </a:ln>
        </p:spPr>
        <p:style>
          <a:lnRef idx="0">
            <a:schemeClr val="accent1"/>
          </a:lnRef>
          <a:fillRef idx="3">
            <a:schemeClr val="accent1"/>
          </a:fillRef>
          <a:effectRef idx="3">
            <a:schemeClr val="accent1"/>
          </a:effectRef>
          <a:fontRef idx="minor">
            <a:schemeClr val="lt1"/>
          </a:fontRef>
        </p:style>
        <p:txBody>
          <a:bodyPr anchor="ctr"/>
          <a:lstStyle/>
          <a:p>
            <a:r>
              <a:rPr lang="en-US" sz="1800"/>
              <a:t>Data Layer</a:t>
            </a:r>
          </a:p>
        </p:txBody>
      </p:sp>
      <p:sp>
        <p:nvSpPr>
          <p:cNvPr id="1036" name="Cube 1539"/>
          <p:cNvSpPr>
            <a:spLocks noChangeArrowheads="1"/>
          </p:cNvSpPr>
          <p:nvPr/>
        </p:nvSpPr>
        <p:spPr bwMode="auto">
          <a:xfrm>
            <a:off x="920750" y="3848100"/>
            <a:ext cx="3040063" cy="749300"/>
          </a:xfrm>
          <a:prstGeom prst="cube">
            <a:avLst>
              <a:gd name="adj" fmla="val 25000"/>
            </a:avLst>
          </a:prstGeom>
          <a:ln>
            <a:headEnd type="oval" w="lg" len="lg"/>
            <a:tailEnd/>
          </a:ln>
        </p:spPr>
        <p:style>
          <a:lnRef idx="0">
            <a:schemeClr val="accent1"/>
          </a:lnRef>
          <a:fillRef idx="3">
            <a:schemeClr val="accent1"/>
          </a:fillRef>
          <a:effectRef idx="3">
            <a:schemeClr val="accent1"/>
          </a:effectRef>
          <a:fontRef idx="minor">
            <a:schemeClr val="lt1"/>
          </a:fontRef>
        </p:style>
        <p:txBody>
          <a:bodyPr anchor="ctr"/>
          <a:lstStyle/>
          <a:p>
            <a:r>
              <a:rPr lang="en-US" sz="1800"/>
              <a:t>Service Producers Layer</a:t>
            </a:r>
          </a:p>
        </p:txBody>
      </p:sp>
      <p:sp>
        <p:nvSpPr>
          <p:cNvPr id="1037" name="Cube 1540"/>
          <p:cNvSpPr>
            <a:spLocks noChangeArrowheads="1"/>
          </p:cNvSpPr>
          <p:nvPr/>
        </p:nvSpPr>
        <p:spPr bwMode="auto">
          <a:xfrm>
            <a:off x="928688" y="3254375"/>
            <a:ext cx="3040062" cy="749300"/>
          </a:xfrm>
          <a:prstGeom prst="cube">
            <a:avLst>
              <a:gd name="adj" fmla="val 25000"/>
            </a:avLst>
          </a:prstGeom>
          <a:ln>
            <a:headEnd type="oval" w="lg" len="lg"/>
            <a:tailEnd/>
          </a:ln>
        </p:spPr>
        <p:style>
          <a:lnRef idx="0">
            <a:schemeClr val="accent1"/>
          </a:lnRef>
          <a:fillRef idx="3">
            <a:schemeClr val="accent1"/>
          </a:fillRef>
          <a:effectRef idx="3">
            <a:schemeClr val="accent1"/>
          </a:effectRef>
          <a:fontRef idx="minor">
            <a:schemeClr val="lt1"/>
          </a:fontRef>
        </p:style>
        <p:txBody>
          <a:bodyPr anchor="ctr"/>
          <a:lstStyle/>
          <a:p>
            <a:r>
              <a:rPr lang="en-US" sz="1800"/>
              <a:t>Enterprise Service Bus</a:t>
            </a:r>
          </a:p>
        </p:txBody>
      </p:sp>
      <p:sp>
        <p:nvSpPr>
          <p:cNvPr id="1038" name="Cube 1541"/>
          <p:cNvSpPr>
            <a:spLocks noChangeArrowheads="1"/>
          </p:cNvSpPr>
          <p:nvPr/>
        </p:nvSpPr>
        <p:spPr bwMode="auto">
          <a:xfrm>
            <a:off x="928688" y="2668588"/>
            <a:ext cx="3040062" cy="749300"/>
          </a:xfrm>
          <a:prstGeom prst="cube">
            <a:avLst>
              <a:gd name="adj" fmla="val 25000"/>
            </a:avLst>
          </a:prstGeom>
          <a:ln>
            <a:headEnd type="oval" w="lg" len="lg"/>
            <a:tailEnd/>
          </a:ln>
        </p:spPr>
        <p:style>
          <a:lnRef idx="0">
            <a:schemeClr val="accent1"/>
          </a:lnRef>
          <a:fillRef idx="3">
            <a:schemeClr val="accent1"/>
          </a:fillRef>
          <a:effectRef idx="3">
            <a:schemeClr val="accent1"/>
          </a:effectRef>
          <a:fontRef idx="minor">
            <a:schemeClr val="lt1"/>
          </a:fontRef>
        </p:style>
        <p:txBody>
          <a:bodyPr anchor="ctr"/>
          <a:lstStyle/>
          <a:p>
            <a:r>
              <a:rPr lang="en-US" sz="1800"/>
              <a:t>Service Consumer Layer</a:t>
            </a:r>
          </a:p>
        </p:txBody>
      </p:sp>
      <p:sp>
        <p:nvSpPr>
          <p:cNvPr id="1039" name="Cube 1542"/>
          <p:cNvSpPr>
            <a:spLocks noChangeArrowheads="1"/>
          </p:cNvSpPr>
          <p:nvPr/>
        </p:nvSpPr>
        <p:spPr bwMode="auto">
          <a:xfrm>
            <a:off x="922338" y="2073275"/>
            <a:ext cx="3040062" cy="750888"/>
          </a:xfrm>
          <a:prstGeom prst="cube">
            <a:avLst>
              <a:gd name="adj" fmla="val 25000"/>
            </a:avLst>
          </a:prstGeom>
          <a:ln>
            <a:headEnd type="oval" w="lg" len="lg"/>
            <a:tailEnd/>
          </a:ln>
        </p:spPr>
        <p:style>
          <a:lnRef idx="0">
            <a:schemeClr val="accent1"/>
          </a:lnRef>
          <a:fillRef idx="3">
            <a:schemeClr val="accent1"/>
          </a:fillRef>
          <a:effectRef idx="3">
            <a:schemeClr val="accent1"/>
          </a:effectRef>
          <a:fontRef idx="minor">
            <a:schemeClr val="lt1"/>
          </a:fontRef>
        </p:style>
        <p:txBody>
          <a:bodyPr anchor="ctr"/>
          <a:lstStyle/>
          <a:p>
            <a:r>
              <a:rPr lang="en-US" sz="1800"/>
              <a:t>Presentation Layer</a:t>
            </a:r>
          </a:p>
        </p:txBody>
      </p:sp>
      <p:sp>
        <p:nvSpPr>
          <p:cNvPr id="1040" name="Cube 1545"/>
          <p:cNvSpPr>
            <a:spLocks noChangeArrowheads="1"/>
          </p:cNvSpPr>
          <p:nvPr/>
        </p:nvSpPr>
        <p:spPr bwMode="auto">
          <a:xfrm rot="16200000" flipV="1">
            <a:off x="2173288" y="3671888"/>
            <a:ext cx="3697287" cy="515937"/>
          </a:xfrm>
          <a:prstGeom prst="cube">
            <a:avLst>
              <a:gd name="adj" fmla="val 25000"/>
            </a:avLst>
          </a:prstGeom>
          <a:ln>
            <a:headEnd type="oval" w="lg" len="lg"/>
            <a:tailEnd/>
          </a:ln>
        </p:spPr>
        <p:style>
          <a:lnRef idx="0">
            <a:schemeClr val="accent1"/>
          </a:lnRef>
          <a:fillRef idx="3">
            <a:schemeClr val="accent1"/>
          </a:fillRef>
          <a:effectRef idx="3">
            <a:schemeClr val="accent1"/>
          </a:effectRef>
          <a:fontRef idx="minor">
            <a:schemeClr val="lt1"/>
          </a:fontRef>
        </p:style>
        <p:txBody>
          <a:bodyPr anchor="ctr"/>
          <a:lstStyle/>
          <a:p>
            <a:r>
              <a:rPr lang="en-US" sz="1800" b="1"/>
              <a:t>Enterprise Asset Repository</a:t>
            </a:r>
          </a:p>
        </p:txBody>
      </p:sp>
      <p:sp>
        <p:nvSpPr>
          <p:cNvPr id="1026" name="AutoShape 13"/>
          <p:cNvSpPr>
            <a:spLocks noChangeAspect="1" noChangeArrowheads="1"/>
          </p:cNvSpPr>
          <p:nvPr/>
        </p:nvSpPr>
        <p:spPr bwMode="auto">
          <a:xfrm>
            <a:off x="363538" y="1628775"/>
            <a:ext cx="3916362" cy="4059238"/>
          </a:xfrm>
          <a:prstGeom prst="rect">
            <a:avLst/>
          </a:prstGeom>
          <a:noFill/>
        </p:spPr>
        <p:txBody>
          <a:bodyPr/>
          <a:lstStyle/>
          <a:p>
            <a:endParaRPr lang="en-US"/>
          </a:p>
        </p:txBody>
      </p:sp>
    </p:spTree>
  </p:cSld>
  <p:clrMapOvr>
    <a:masterClrMapping/>
  </p:clrMapOvr>
  <p:transition>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GB" smtClean="0"/>
              <a:t>Conceptual Blueprint for KM</a:t>
            </a:r>
            <a:endParaRPr lang="en-US" smtClean="0"/>
          </a:p>
        </p:txBody>
      </p:sp>
      <p:sp>
        <p:nvSpPr>
          <p:cNvPr id="5" name="Content Placeholder 4"/>
          <p:cNvSpPr>
            <a:spLocks noGrp="1"/>
          </p:cNvSpPr>
          <p:nvPr>
            <p:ph idx="1"/>
          </p:nvPr>
        </p:nvSpPr>
        <p:spPr/>
        <p:txBody>
          <a:bodyPr/>
          <a:lstStyle/>
          <a:p>
            <a:endParaRPr lang="en-US"/>
          </a:p>
        </p:txBody>
      </p:sp>
      <p:sp>
        <p:nvSpPr>
          <p:cNvPr id="4" name="Slide Number Placeholder 2"/>
          <p:cNvSpPr>
            <a:spLocks noGrp="1"/>
          </p:cNvSpPr>
          <p:nvPr>
            <p:ph type="sldNum" sz="quarter" idx="11"/>
          </p:nvPr>
        </p:nvSpPr>
        <p:spPr/>
        <p:txBody>
          <a:bodyPr/>
          <a:lstStyle/>
          <a:p>
            <a:pPr>
              <a:defRPr/>
            </a:pPr>
            <a:fld id="{D8A001A9-DD9D-4258-B5EF-A07AEDB9C66B}" type="slidenum">
              <a:rPr lang="en-GB"/>
              <a:pPr>
                <a:defRPr/>
              </a:pPr>
              <a:t>14</a:t>
            </a:fld>
            <a:endParaRPr lang="en-GB"/>
          </a:p>
        </p:txBody>
      </p:sp>
      <p:graphicFrame>
        <p:nvGraphicFramePr>
          <p:cNvPr id="6" name="Diagram 5"/>
          <p:cNvGraphicFramePr/>
          <p:nvPr/>
        </p:nvGraphicFramePr>
        <p:xfrm>
          <a:off x="1368425" y="180104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randomBar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smtClean="0"/>
              <a:t>Metadata Governance Model</a:t>
            </a:r>
          </a:p>
        </p:txBody>
      </p:sp>
      <p:sp>
        <p:nvSpPr>
          <p:cNvPr id="57" name="Slide Number Placeholder 3"/>
          <p:cNvSpPr>
            <a:spLocks noGrp="1"/>
          </p:cNvSpPr>
          <p:nvPr>
            <p:ph type="sldNum" sz="quarter" idx="11"/>
          </p:nvPr>
        </p:nvSpPr>
        <p:spPr>
          <a:prstGeom prst="rect">
            <a:avLst/>
          </a:prstGeom>
        </p:spPr>
        <p:txBody>
          <a:bodyPr/>
          <a:lstStyle/>
          <a:p>
            <a:pPr>
              <a:defRPr/>
            </a:pPr>
            <a:fld id="{BCD87CFD-CCC0-46F0-B708-F269723871A2}" type="slidenum">
              <a:rPr lang="en-GB"/>
              <a:pPr>
                <a:defRPr/>
              </a:pPr>
              <a:t>15</a:t>
            </a:fld>
            <a:endParaRPr lang="en-GB"/>
          </a:p>
        </p:txBody>
      </p:sp>
      <p:grpSp>
        <p:nvGrpSpPr>
          <p:cNvPr id="2" name="Group 60"/>
          <p:cNvGrpSpPr>
            <a:grpSpLocks/>
          </p:cNvGrpSpPr>
          <p:nvPr/>
        </p:nvGrpSpPr>
        <p:grpSpPr bwMode="auto">
          <a:xfrm>
            <a:off x="470647" y="1398494"/>
            <a:ext cx="7673788" cy="4901453"/>
            <a:chOff x="192" y="336"/>
            <a:chExt cx="5472" cy="3770"/>
          </a:xfrm>
        </p:grpSpPr>
        <p:sp>
          <p:nvSpPr>
            <p:cNvPr id="23556" name="AutoShape 4"/>
            <p:cNvSpPr>
              <a:spLocks noChangeArrowheads="1"/>
            </p:cNvSpPr>
            <p:nvPr/>
          </p:nvSpPr>
          <p:spPr bwMode="auto">
            <a:xfrm>
              <a:off x="299" y="3360"/>
              <a:ext cx="661" cy="720"/>
            </a:xfrm>
            <a:prstGeom prst="can">
              <a:avLst>
                <a:gd name="adj" fmla="val 27231"/>
              </a:avLst>
            </a:prstGeom>
            <a:solidFill>
              <a:schemeClr val="hlink"/>
            </a:solidFill>
            <a:ln w="9525">
              <a:solidFill>
                <a:schemeClr val="tx1"/>
              </a:solidFill>
              <a:round/>
              <a:headEnd/>
              <a:tailEnd/>
            </a:ln>
          </p:spPr>
          <p:txBody>
            <a:bodyPr wrap="none" anchor="ctr"/>
            <a:lstStyle/>
            <a:p>
              <a:pPr eaLnBrk="1" hangingPunct="1"/>
              <a:endParaRPr lang="en-US" sz="1400">
                <a:solidFill>
                  <a:schemeClr val="bg1"/>
                </a:solidFill>
                <a:latin typeface="Tahoma" pitchFamily="34" charset="0"/>
                <a:cs typeface="Times New Roman" pitchFamily="18" charset="0"/>
              </a:endParaRPr>
            </a:p>
          </p:txBody>
        </p:sp>
        <p:sp>
          <p:nvSpPr>
            <p:cNvPr id="23557" name="AutoShape 5"/>
            <p:cNvSpPr>
              <a:spLocks noChangeArrowheads="1"/>
            </p:cNvSpPr>
            <p:nvPr/>
          </p:nvSpPr>
          <p:spPr bwMode="auto">
            <a:xfrm>
              <a:off x="2688" y="2160"/>
              <a:ext cx="864" cy="384"/>
            </a:xfrm>
            <a:prstGeom prst="cube">
              <a:avLst>
                <a:gd name="adj" fmla="val 25000"/>
              </a:avLst>
            </a:prstGeom>
            <a:solidFill>
              <a:srgbClr val="FFFF66"/>
            </a:solidFill>
            <a:ln w="9525">
              <a:solidFill>
                <a:schemeClr val="tx1"/>
              </a:solidFill>
              <a:miter lim="800000"/>
              <a:headEnd/>
              <a:tailEnd/>
            </a:ln>
          </p:spPr>
          <p:txBody>
            <a:bodyPr wrap="none" anchor="ctr"/>
            <a:lstStyle/>
            <a:p>
              <a:pPr eaLnBrk="1" hangingPunct="1"/>
              <a:r>
                <a:rPr lang="en-US" sz="1200">
                  <a:latin typeface="Tahoma" pitchFamily="34" charset="0"/>
                  <a:cs typeface="Times New Roman" pitchFamily="18" charset="0"/>
                </a:rPr>
                <a:t>Transformation</a:t>
              </a:r>
            </a:p>
            <a:p>
              <a:pPr eaLnBrk="1" hangingPunct="1"/>
              <a:r>
                <a:rPr lang="en-US" sz="1200">
                  <a:latin typeface="Tahoma" pitchFamily="34" charset="0"/>
                  <a:cs typeface="Times New Roman" pitchFamily="18" charset="0"/>
                </a:rPr>
                <a:t>Rules</a:t>
              </a:r>
            </a:p>
          </p:txBody>
        </p:sp>
        <p:sp>
          <p:nvSpPr>
            <p:cNvPr id="23558" name="AutoShape 6"/>
            <p:cNvSpPr>
              <a:spLocks noChangeArrowheads="1"/>
            </p:cNvSpPr>
            <p:nvPr/>
          </p:nvSpPr>
          <p:spPr bwMode="auto">
            <a:xfrm>
              <a:off x="1248" y="3360"/>
              <a:ext cx="674" cy="720"/>
            </a:xfrm>
            <a:prstGeom prst="can">
              <a:avLst>
                <a:gd name="adj" fmla="val 26706"/>
              </a:avLst>
            </a:prstGeom>
            <a:solidFill>
              <a:schemeClr val="hlink"/>
            </a:solidFill>
            <a:ln w="9525">
              <a:solidFill>
                <a:schemeClr val="tx1"/>
              </a:solidFill>
              <a:round/>
              <a:headEnd/>
              <a:tailEnd/>
            </a:ln>
          </p:spPr>
          <p:txBody>
            <a:bodyPr wrap="none" anchor="ctr"/>
            <a:lstStyle/>
            <a:p>
              <a:pPr eaLnBrk="1" hangingPunct="1"/>
              <a:endParaRPr lang="en-US">
                <a:latin typeface="Tahoma" pitchFamily="34" charset="0"/>
                <a:cs typeface="Times New Roman" pitchFamily="18" charset="0"/>
              </a:endParaRPr>
            </a:p>
          </p:txBody>
        </p:sp>
        <p:sp>
          <p:nvSpPr>
            <p:cNvPr id="23559" name="AutoShape 7"/>
            <p:cNvSpPr>
              <a:spLocks noChangeArrowheads="1"/>
            </p:cNvSpPr>
            <p:nvPr/>
          </p:nvSpPr>
          <p:spPr bwMode="auto">
            <a:xfrm>
              <a:off x="2256" y="3360"/>
              <a:ext cx="528" cy="720"/>
            </a:xfrm>
            <a:prstGeom prst="can">
              <a:avLst>
                <a:gd name="adj" fmla="val 34091"/>
              </a:avLst>
            </a:prstGeom>
            <a:solidFill>
              <a:schemeClr val="hlink"/>
            </a:solidFill>
            <a:ln w="9525">
              <a:solidFill>
                <a:schemeClr val="tx1"/>
              </a:solidFill>
              <a:round/>
              <a:headEnd/>
              <a:tailEnd/>
            </a:ln>
          </p:spPr>
          <p:txBody>
            <a:bodyPr wrap="none" anchor="ctr"/>
            <a:lstStyle/>
            <a:p>
              <a:pPr eaLnBrk="1" hangingPunct="1"/>
              <a:endParaRPr lang="en-US">
                <a:latin typeface="Tahoma" pitchFamily="34" charset="0"/>
                <a:cs typeface="Times New Roman" pitchFamily="18" charset="0"/>
              </a:endParaRPr>
            </a:p>
          </p:txBody>
        </p:sp>
        <p:sp>
          <p:nvSpPr>
            <p:cNvPr id="23560" name="AutoShape 8"/>
            <p:cNvSpPr>
              <a:spLocks noChangeArrowheads="1"/>
            </p:cNvSpPr>
            <p:nvPr/>
          </p:nvSpPr>
          <p:spPr bwMode="auto">
            <a:xfrm>
              <a:off x="3072" y="3360"/>
              <a:ext cx="528" cy="720"/>
            </a:xfrm>
            <a:prstGeom prst="can">
              <a:avLst>
                <a:gd name="adj" fmla="val 34091"/>
              </a:avLst>
            </a:prstGeom>
            <a:solidFill>
              <a:schemeClr val="hlink"/>
            </a:solidFill>
            <a:ln w="9525">
              <a:solidFill>
                <a:schemeClr val="tx1"/>
              </a:solidFill>
              <a:round/>
              <a:headEnd/>
              <a:tailEnd/>
            </a:ln>
          </p:spPr>
          <p:txBody>
            <a:bodyPr wrap="none" anchor="ctr"/>
            <a:lstStyle/>
            <a:p>
              <a:pPr eaLnBrk="1" hangingPunct="1"/>
              <a:endParaRPr lang="en-US">
                <a:latin typeface="Tahoma" pitchFamily="34" charset="0"/>
                <a:cs typeface="Times New Roman" pitchFamily="18" charset="0"/>
              </a:endParaRPr>
            </a:p>
          </p:txBody>
        </p:sp>
        <p:sp>
          <p:nvSpPr>
            <p:cNvPr id="23561" name="AutoShape 9"/>
            <p:cNvSpPr>
              <a:spLocks noChangeArrowheads="1"/>
            </p:cNvSpPr>
            <p:nvPr/>
          </p:nvSpPr>
          <p:spPr bwMode="auto">
            <a:xfrm>
              <a:off x="4752" y="3360"/>
              <a:ext cx="699" cy="720"/>
            </a:xfrm>
            <a:prstGeom prst="can">
              <a:avLst>
                <a:gd name="adj" fmla="val 25751"/>
              </a:avLst>
            </a:prstGeom>
            <a:solidFill>
              <a:schemeClr val="hlink"/>
            </a:solidFill>
            <a:ln w="9525">
              <a:solidFill>
                <a:schemeClr val="tx1"/>
              </a:solidFill>
              <a:round/>
              <a:headEnd/>
              <a:tailEnd/>
            </a:ln>
          </p:spPr>
          <p:txBody>
            <a:bodyPr wrap="none" anchor="ctr"/>
            <a:lstStyle/>
            <a:p>
              <a:pPr eaLnBrk="1" hangingPunct="1"/>
              <a:endParaRPr lang="en-US">
                <a:latin typeface="Tahoma" pitchFamily="34" charset="0"/>
                <a:cs typeface="Times New Roman" pitchFamily="18" charset="0"/>
              </a:endParaRPr>
            </a:p>
          </p:txBody>
        </p:sp>
        <p:sp>
          <p:nvSpPr>
            <p:cNvPr id="23562" name="AutoShape 10"/>
            <p:cNvSpPr>
              <a:spLocks noChangeArrowheads="1"/>
            </p:cNvSpPr>
            <p:nvPr/>
          </p:nvSpPr>
          <p:spPr bwMode="auto">
            <a:xfrm>
              <a:off x="3858" y="3328"/>
              <a:ext cx="705" cy="720"/>
            </a:xfrm>
            <a:prstGeom prst="can">
              <a:avLst>
                <a:gd name="adj" fmla="val 25532"/>
              </a:avLst>
            </a:prstGeom>
            <a:solidFill>
              <a:schemeClr val="hlink"/>
            </a:solidFill>
            <a:ln w="9525">
              <a:solidFill>
                <a:schemeClr val="tx1"/>
              </a:solidFill>
              <a:round/>
              <a:headEnd/>
              <a:tailEnd/>
            </a:ln>
          </p:spPr>
          <p:txBody>
            <a:bodyPr wrap="none" anchor="ctr"/>
            <a:lstStyle/>
            <a:p>
              <a:pPr eaLnBrk="1" hangingPunct="1"/>
              <a:endParaRPr lang="en-US">
                <a:latin typeface="Tahoma" pitchFamily="34" charset="0"/>
                <a:cs typeface="Times New Roman" pitchFamily="18" charset="0"/>
              </a:endParaRPr>
            </a:p>
          </p:txBody>
        </p:sp>
        <p:sp>
          <p:nvSpPr>
            <p:cNvPr id="23563" name="Text Box 11"/>
            <p:cNvSpPr txBox="1">
              <a:spLocks noChangeArrowheads="1"/>
            </p:cNvSpPr>
            <p:nvPr/>
          </p:nvSpPr>
          <p:spPr bwMode="auto">
            <a:xfrm>
              <a:off x="1324" y="3596"/>
              <a:ext cx="550" cy="315"/>
            </a:xfrm>
            <a:prstGeom prst="rect">
              <a:avLst/>
            </a:prstGeom>
            <a:noFill/>
            <a:ln w="9525">
              <a:noFill/>
              <a:miter lim="800000"/>
              <a:headEnd/>
              <a:tailEnd/>
            </a:ln>
          </p:spPr>
          <p:txBody>
            <a:bodyPr wrap="none">
              <a:spAutoFit/>
            </a:bodyPr>
            <a:lstStyle/>
            <a:p>
              <a:pPr eaLnBrk="1" hangingPunct="1"/>
              <a:r>
                <a:rPr lang="en-US" sz="1200" b="1">
                  <a:solidFill>
                    <a:schemeClr val="bg1"/>
                  </a:solidFill>
                  <a:latin typeface="Tahoma" pitchFamily="34" charset="0"/>
                  <a:cs typeface="Times New Roman" pitchFamily="18" charset="0"/>
                </a:rPr>
                <a:t>Legacy</a:t>
              </a:r>
            </a:p>
            <a:p>
              <a:pPr eaLnBrk="1" hangingPunct="1"/>
              <a:r>
                <a:rPr lang="en-US" sz="1200" b="1">
                  <a:solidFill>
                    <a:schemeClr val="bg1"/>
                  </a:solidFill>
                  <a:latin typeface="Tahoma" pitchFamily="34" charset="0"/>
                  <a:cs typeface="Times New Roman" pitchFamily="18" charset="0"/>
                </a:rPr>
                <a:t>Systems</a:t>
              </a:r>
            </a:p>
          </p:txBody>
        </p:sp>
        <p:sp>
          <p:nvSpPr>
            <p:cNvPr id="23564" name="Text Box 12"/>
            <p:cNvSpPr txBox="1">
              <a:spLocks noChangeArrowheads="1"/>
            </p:cNvSpPr>
            <p:nvPr/>
          </p:nvSpPr>
          <p:spPr bwMode="auto">
            <a:xfrm>
              <a:off x="2239" y="3596"/>
              <a:ext cx="617" cy="441"/>
            </a:xfrm>
            <a:prstGeom prst="rect">
              <a:avLst/>
            </a:prstGeom>
            <a:noFill/>
            <a:ln w="9525">
              <a:noFill/>
              <a:miter lim="800000"/>
              <a:headEnd/>
              <a:tailEnd/>
            </a:ln>
          </p:spPr>
          <p:txBody>
            <a:bodyPr wrap="none">
              <a:spAutoFit/>
            </a:bodyPr>
            <a:lstStyle/>
            <a:p>
              <a:pPr eaLnBrk="1" hangingPunct="1"/>
              <a:r>
                <a:rPr lang="en-US" sz="1200" b="1">
                  <a:solidFill>
                    <a:schemeClr val="bg1"/>
                  </a:solidFill>
                  <a:latin typeface="Tahoma" pitchFamily="34" charset="0"/>
                  <a:cs typeface="Times New Roman" pitchFamily="18" charset="0"/>
                </a:rPr>
                <a:t>Industry </a:t>
              </a:r>
            </a:p>
            <a:p>
              <a:pPr eaLnBrk="1" hangingPunct="1"/>
              <a:r>
                <a:rPr lang="en-US" sz="1200" b="1">
                  <a:solidFill>
                    <a:schemeClr val="bg1"/>
                  </a:solidFill>
                  <a:latin typeface="Tahoma" pitchFamily="34" charset="0"/>
                  <a:cs typeface="Times New Roman" pitchFamily="18" charset="0"/>
                </a:rPr>
                <a:t>Standard </a:t>
              </a:r>
            </a:p>
            <a:p>
              <a:pPr eaLnBrk="1" hangingPunct="1"/>
              <a:r>
                <a:rPr lang="en-US" sz="1200" b="1">
                  <a:solidFill>
                    <a:schemeClr val="bg1"/>
                  </a:solidFill>
                  <a:latin typeface="Tahoma" pitchFamily="34" charset="0"/>
                  <a:cs typeface="Times New Roman" pitchFamily="18" charset="0"/>
                </a:rPr>
                <a:t>Models</a:t>
              </a:r>
            </a:p>
          </p:txBody>
        </p:sp>
        <p:sp>
          <p:nvSpPr>
            <p:cNvPr id="23565" name="Text Box 13"/>
            <p:cNvSpPr txBox="1">
              <a:spLocks noChangeArrowheads="1"/>
            </p:cNvSpPr>
            <p:nvPr/>
          </p:nvSpPr>
          <p:spPr bwMode="auto">
            <a:xfrm>
              <a:off x="3090" y="3615"/>
              <a:ext cx="498" cy="315"/>
            </a:xfrm>
            <a:prstGeom prst="rect">
              <a:avLst/>
            </a:prstGeom>
            <a:noFill/>
            <a:ln w="9525">
              <a:noFill/>
              <a:miter lim="800000"/>
              <a:headEnd/>
              <a:tailEnd/>
            </a:ln>
          </p:spPr>
          <p:txBody>
            <a:bodyPr wrap="none">
              <a:spAutoFit/>
            </a:bodyPr>
            <a:lstStyle/>
            <a:p>
              <a:pPr eaLnBrk="1" hangingPunct="1"/>
              <a:r>
                <a:rPr lang="en-US" sz="1200" b="1">
                  <a:solidFill>
                    <a:schemeClr val="bg1"/>
                  </a:solidFill>
                  <a:latin typeface="Tahoma" pitchFamily="34" charset="0"/>
                  <a:cs typeface="Times New Roman" pitchFamily="18" charset="0"/>
                </a:rPr>
                <a:t>ERP</a:t>
              </a:r>
            </a:p>
            <a:p>
              <a:pPr eaLnBrk="1" hangingPunct="1"/>
              <a:r>
                <a:rPr lang="en-US" sz="1200" b="1">
                  <a:solidFill>
                    <a:schemeClr val="bg1"/>
                  </a:solidFill>
                  <a:latin typeface="Tahoma" pitchFamily="34" charset="0"/>
                  <a:cs typeface="Times New Roman" pitchFamily="18" charset="0"/>
                </a:rPr>
                <a:t>System</a:t>
              </a:r>
            </a:p>
          </p:txBody>
        </p:sp>
        <p:sp>
          <p:nvSpPr>
            <p:cNvPr id="23566" name="Line 14"/>
            <p:cNvSpPr>
              <a:spLocks noChangeShapeType="1"/>
            </p:cNvSpPr>
            <p:nvPr/>
          </p:nvSpPr>
          <p:spPr bwMode="auto">
            <a:xfrm flipV="1">
              <a:off x="672" y="3216"/>
              <a:ext cx="0" cy="192"/>
            </a:xfrm>
            <a:prstGeom prst="line">
              <a:avLst/>
            </a:prstGeom>
            <a:noFill/>
            <a:ln w="9525">
              <a:solidFill>
                <a:schemeClr val="tx1"/>
              </a:solidFill>
              <a:round/>
              <a:headEnd/>
              <a:tailEnd type="triangle" w="med" len="med"/>
            </a:ln>
          </p:spPr>
          <p:txBody>
            <a:bodyPr/>
            <a:lstStyle/>
            <a:p>
              <a:endParaRPr lang="en-US"/>
            </a:p>
          </p:txBody>
        </p:sp>
        <p:sp>
          <p:nvSpPr>
            <p:cNvPr id="23567" name="Line 15"/>
            <p:cNvSpPr>
              <a:spLocks noChangeShapeType="1"/>
            </p:cNvSpPr>
            <p:nvPr/>
          </p:nvSpPr>
          <p:spPr bwMode="auto">
            <a:xfrm flipV="1">
              <a:off x="1488" y="3216"/>
              <a:ext cx="0" cy="192"/>
            </a:xfrm>
            <a:prstGeom prst="line">
              <a:avLst/>
            </a:prstGeom>
            <a:noFill/>
            <a:ln w="9525">
              <a:solidFill>
                <a:schemeClr val="tx1"/>
              </a:solidFill>
              <a:round/>
              <a:headEnd/>
              <a:tailEnd type="triangle" w="med" len="med"/>
            </a:ln>
          </p:spPr>
          <p:txBody>
            <a:bodyPr/>
            <a:lstStyle/>
            <a:p>
              <a:endParaRPr lang="en-US"/>
            </a:p>
          </p:txBody>
        </p:sp>
        <p:sp>
          <p:nvSpPr>
            <p:cNvPr id="23568" name="Line 16"/>
            <p:cNvSpPr>
              <a:spLocks noChangeShapeType="1"/>
            </p:cNvSpPr>
            <p:nvPr/>
          </p:nvSpPr>
          <p:spPr bwMode="auto">
            <a:xfrm flipV="1">
              <a:off x="3312" y="3216"/>
              <a:ext cx="0" cy="192"/>
            </a:xfrm>
            <a:prstGeom prst="line">
              <a:avLst/>
            </a:prstGeom>
            <a:noFill/>
            <a:ln w="9525">
              <a:solidFill>
                <a:schemeClr val="tx1"/>
              </a:solidFill>
              <a:round/>
              <a:headEnd/>
              <a:tailEnd type="triangle" w="med" len="med"/>
            </a:ln>
          </p:spPr>
          <p:txBody>
            <a:bodyPr/>
            <a:lstStyle/>
            <a:p>
              <a:endParaRPr lang="en-US"/>
            </a:p>
          </p:txBody>
        </p:sp>
        <p:sp>
          <p:nvSpPr>
            <p:cNvPr id="23569" name="Line 17"/>
            <p:cNvSpPr>
              <a:spLocks noChangeShapeType="1"/>
            </p:cNvSpPr>
            <p:nvPr/>
          </p:nvSpPr>
          <p:spPr bwMode="auto">
            <a:xfrm flipV="1">
              <a:off x="2544" y="3216"/>
              <a:ext cx="0" cy="192"/>
            </a:xfrm>
            <a:prstGeom prst="line">
              <a:avLst/>
            </a:prstGeom>
            <a:noFill/>
            <a:ln w="9525">
              <a:solidFill>
                <a:schemeClr val="tx1"/>
              </a:solidFill>
              <a:round/>
              <a:headEnd/>
              <a:tailEnd type="triangle" w="med" len="med"/>
            </a:ln>
          </p:spPr>
          <p:txBody>
            <a:bodyPr/>
            <a:lstStyle/>
            <a:p>
              <a:endParaRPr lang="en-US"/>
            </a:p>
          </p:txBody>
        </p:sp>
        <p:sp>
          <p:nvSpPr>
            <p:cNvPr id="23570" name="Text Box 18"/>
            <p:cNvSpPr txBox="1">
              <a:spLocks noChangeArrowheads="1"/>
            </p:cNvSpPr>
            <p:nvPr/>
          </p:nvSpPr>
          <p:spPr bwMode="auto">
            <a:xfrm>
              <a:off x="3874" y="3548"/>
              <a:ext cx="686" cy="315"/>
            </a:xfrm>
            <a:prstGeom prst="rect">
              <a:avLst/>
            </a:prstGeom>
            <a:noFill/>
            <a:ln w="9525">
              <a:noFill/>
              <a:miter lim="800000"/>
              <a:headEnd/>
              <a:tailEnd/>
            </a:ln>
          </p:spPr>
          <p:txBody>
            <a:bodyPr>
              <a:spAutoFit/>
            </a:bodyPr>
            <a:lstStyle/>
            <a:p>
              <a:pPr eaLnBrk="1" hangingPunct="1"/>
              <a:r>
                <a:rPr lang="en-US" sz="1200" b="1">
                  <a:solidFill>
                    <a:schemeClr val="bg1"/>
                  </a:solidFill>
                  <a:latin typeface="Tahoma" pitchFamily="34" charset="0"/>
                  <a:cs typeface="Times New Roman" pitchFamily="18" charset="0"/>
                </a:rPr>
                <a:t>External</a:t>
              </a:r>
            </a:p>
            <a:p>
              <a:pPr eaLnBrk="1" hangingPunct="1"/>
              <a:r>
                <a:rPr lang="en-US" sz="1200" b="1">
                  <a:solidFill>
                    <a:schemeClr val="bg1"/>
                  </a:solidFill>
                  <a:latin typeface="Tahoma" pitchFamily="34" charset="0"/>
                  <a:cs typeface="Times New Roman" pitchFamily="18" charset="0"/>
                </a:rPr>
                <a:t>Content</a:t>
              </a:r>
            </a:p>
          </p:txBody>
        </p:sp>
        <p:sp>
          <p:nvSpPr>
            <p:cNvPr id="23571" name="Text Box 19"/>
            <p:cNvSpPr txBox="1">
              <a:spLocks noChangeArrowheads="1"/>
            </p:cNvSpPr>
            <p:nvPr/>
          </p:nvSpPr>
          <p:spPr bwMode="auto">
            <a:xfrm>
              <a:off x="4783" y="3607"/>
              <a:ext cx="648" cy="315"/>
            </a:xfrm>
            <a:prstGeom prst="rect">
              <a:avLst/>
            </a:prstGeom>
            <a:noFill/>
            <a:ln w="9525">
              <a:noFill/>
              <a:miter lim="800000"/>
              <a:headEnd/>
              <a:tailEnd/>
            </a:ln>
          </p:spPr>
          <p:txBody>
            <a:bodyPr>
              <a:spAutoFit/>
            </a:bodyPr>
            <a:lstStyle/>
            <a:p>
              <a:pPr eaLnBrk="1" hangingPunct="1"/>
              <a:r>
                <a:rPr lang="en-US" sz="1200" b="1">
                  <a:solidFill>
                    <a:schemeClr val="bg1"/>
                  </a:solidFill>
                  <a:latin typeface="Tahoma" pitchFamily="34" charset="0"/>
                  <a:cs typeface="Times New Roman" pitchFamily="18" charset="0"/>
                </a:rPr>
                <a:t>Internal</a:t>
              </a:r>
            </a:p>
            <a:p>
              <a:pPr eaLnBrk="1" hangingPunct="1"/>
              <a:r>
                <a:rPr lang="en-US" sz="1200" b="1">
                  <a:solidFill>
                    <a:schemeClr val="bg1"/>
                  </a:solidFill>
                  <a:latin typeface="Tahoma" pitchFamily="34" charset="0"/>
                  <a:cs typeface="Times New Roman" pitchFamily="18" charset="0"/>
                </a:rPr>
                <a:t>Content</a:t>
              </a:r>
            </a:p>
          </p:txBody>
        </p:sp>
        <p:sp>
          <p:nvSpPr>
            <p:cNvPr id="23572" name="Line 20"/>
            <p:cNvSpPr>
              <a:spLocks noChangeShapeType="1"/>
            </p:cNvSpPr>
            <p:nvPr/>
          </p:nvSpPr>
          <p:spPr bwMode="auto">
            <a:xfrm flipV="1">
              <a:off x="4224" y="3216"/>
              <a:ext cx="0" cy="192"/>
            </a:xfrm>
            <a:prstGeom prst="line">
              <a:avLst/>
            </a:prstGeom>
            <a:noFill/>
            <a:ln w="9525">
              <a:solidFill>
                <a:schemeClr val="tx1"/>
              </a:solidFill>
              <a:round/>
              <a:headEnd/>
              <a:tailEnd type="triangle" w="med" len="med"/>
            </a:ln>
          </p:spPr>
          <p:txBody>
            <a:bodyPr/>
            <a:lstStyle/>
            <a:p>
              <a:endParaRPr lang="en-US"/>
            </a:p>
          </p:txBody>
        </p:sp>
        <p:sp>
          <p:nvSpPr>
            <p:cNvPr id="23573" name="Line 21"/>
            <p:cNvSpPr>
              <a:spLocks noChangeShapeType="1"/>
            </p:cNvSpPr>
            <p:nvPr/>
          </p:nvSpPr>
          <p:spPr bwMode="auto">
            <a:xfrm flipV="1">
              <a:off x="4992" y="3216"/>
              <a:ext cx="0" cy="192"/>
            </a:xfrm>
            <a:prstGeom prst="line">
              <a:avLst/>
            </a:prstGeom>
            <a:noFill/>
            <a:ln w="9525">
              <a:solidFill>
                <a:schemeClr val="tx1"/>
              </a:solidFill>
              <a:round/>
              <a:headEnd/>
              <a:tailEnd type="triangle" w="med" len="med"/>
            </a:ln>
          </p:spPr>
          <p:txBody>
            <a:bodyPr/>
            <a:lstStyle/>
            <a:p>
              <a:endParaRPr lang="en-US"/>
            </a:p>
          </p:txBody>
        </p:sp>
        <p:sp>
          <p:nvSpPr>
            <p:cNvPr id="23574" name="Line 22"/>
            <p:cNvSpPr>
              <a:spLocks noChangeShapeType="1"/>
            </p:cNvSpPr>
            <p:nvPr/>
          </p:nvSpPr>
          <p:spPr bwMode="auto">
            <a:xfrm flipV="1">
              <a:off x="912" y="2496"/>
              <a:ext cx="1776" cy="288"/>
            </a:xfrm>
            <a:prstGeom prst="line">
              <a:avLst/>
            </a:prstGeom>
            <a:noFill/>
            <a:ln w="9525">
              <a:solidFill>
                <a:schemeClr val="tx1"/>
              </a:solidFill>
              <a:round/>
              <a:headEnd/>
              <a:tailEnd type="triangle" w="med" len="med"/>
            </a:ln>
          </p:spPr>
          <p:txBody>
            <a:bodyPr/>
            <a:lstStyle/>
            <a:p>
              <a:endParaRPr lang="en-US"/>
            </a:p>
          </p:txBody>
        </p:sp>
        <p:sp>
          <p:nvSpPr>
            <p:cNvPr id="23575" name="Line 23"/>
            <p:cNvSpPr>
              <a:spLocks noChangeShapeType="1"/>
            </p:cNvSpPr>
            <p:nvPr/>
          </p:nvSpPr>
          <p:spPr bwMode="auto">
            <a:xfrm flipV="1">
              <a:off x="1824" y="2592"/>
              <a:ext cx="864" cy="240"/>
            </a:xfrm>
            <a:prstGeom prst="line">
              <a:avLst/>
            </a:prstGeom>
            <a:noFill/>
            <a:ln w="9525">
              <a:solidFill>
                <a:schemeClr val="tx1"/>
              </a:solidFill>
              <a:round/>
              <a:headEnd/>
              <a:tailEnd type="triangle" w="med" len="med"/>
            </a:ln>
          </p:spPr>
          <p:txBody>
            <a:bodyPr/>
            <a:lstStyle/>
            <a:p>
              <a:endParaRPr lang="en-US"/>
            </a:p>
          </p:txBody>
        </p:sp>
        <p:sp>
          <p:nvSpPr>
            <p:cNvPr id="23576" name="AutoShape 24"/>
            <p:cNvSpPr>
              <a:spLocks noChangeArrowheads="1"/>
            </p:cNvSpPr>
            <p:nvPr/>
          </p:nvSpPr>
          <p:spPr bwMode="auto">
            <a:xfrm>
              <a:off x="672" y="1584"/>
              <a:ext cx="1392" cy="576"/>
            </a:xfrm>
            <a:prstGeom prst="cube">
              <a:avLst>
                <a:gd name="adj" fmla="val 25000"/>
              </a:avLst>
            </a:prstGeom>
            <a:solidFill>
              <a:srgbClr val="FFFF66"/>
            </a:solidFill>
            <a:ln w="9525">
              <a:solidFill>
                <a:schemeClr val="tx1"/>
              </a:solidFill>
              <a:miter lim="800000"/>
              <a:headEnd/>
              <a:tailEnd/>
            </a:ln>
          </p:spPr>
          <p:txBody>
            <a:bodyPr wrap="none" anchor="ctr"/>
            <a:lstStyle/>
            <a:p>
              <a:pPr eaLnBrk="1" hangingPunct="1"/>
              <a:r>
                <a:rPr lang="en-US" sz="1200" u="sng">
                  <a:latin typeface="Tahoma" pitchFamily="34" charset="0"/>
                  <a:cs typeface="Times New Roman" pitchFamily="18" charset="0"/>
                </a:rPr>
                <a:t>Reference Tables</a:t>
              </a:r>
            </a:p>
            <a:p>
              <a:pPr eaLnBrk="1" hangingPunct="1"/>
              <a:r>
                <a:rPr lang="en-US" sz="1200">
                  <a:latin typeface="Tahoma" pitchFamily="34" charset="0"/>
                  <a:cs typeface="Times New Roman" pitchFamily="18" charset="0"/>
                </a:rPr>
                <a:t>Topics, Countries</a:t>
              </a:r>
            </a:p>
            <a:p>
              <a:pPr eaLnBrk="1" hangingPunct="1"/>
              <a:r>
                <a:rPr lang="en-US" sz="1200">
                  <a:latin typeface="Tahoma" pitchFamily="34" charset="0"/>
                  <a:cs typeface="Times New Roman" pitchFamily="18" charset="0"/>
                </a:rPr>
                <a:t>Document Types </a:t>
              </a:r>
            </a:p>
          </p:txBody>
        </p:sp>
        <p:sp>
          <p:nvSpPr>
            <p:cNvPr id="23577" name="Line 25"/>
            <p:cNvSpPr>
              <a:spLocks noChangeShapeType="1"/>
            </p:cNvSpPr>
            <p:nvPr/>
          </p:nvSpPr>
          <p:spPr bwMode="auto">
            <a:xfrm>
              <a:off x="2016" y="2064"/>
              <a:ext cx="672" cy="192"/>
            </a:xfrm>
            <a:prstGeom prst="line">
              <a:avLst/>
            </a:prstGeom>
            <a:noFill/>
            <a:ln w="9525">
              <a:solidFill>
                <a:schemeClr val="tx1"/>
              </a:solidFill>
              <a:round/>
              <a:headEnd/>
              <a:tailEnd type="triangle" w="med" len="med"/>
            </a:ln>
          </p:spPr>
          <p:txBody>
            <a:bodyPr/>
            <a:lstStyle/>
            <a:p>
              <a:endParaRPr lang="en-US"/>
            </a:p>
          </p:txBody>
        </p:sp>
        <p:sp>
          <p:nvSpPr>
            <p:cNvPr id="23578" name="AutoShape 26"/>
            <p:cNvSpPr>
              <a:spLocks noChangeArrowheads="1"/>
            </p:cNvSpPr>
            <p:nvPr/>
          </p:nvSpPr>
          <p:spPr bwMode="auto">
            <a:xfrm>
              <a:off x="2304" y="960"/>
              <a:ext cx="1536" cy="912"/>
            </a:xfrm>
            <a:prstGeom prst="flowChartMagneticDisk">
              <a:avLst/>
            </a:prstGeom>
            <a:solidFill>
              <a:srgbClr val="FFFF66"/>
            </a:solidFill>
            <a:ln w="9525">
              <a:solidFill>
                <a:schemeClr val="tx1"/>
              </a:solidFill>
              <a:round/>
              <a:headEnd/>
              <a:tailEnd/>
            </a:ln>
          </p:spPr>
          <p:txBody>
            <a:bodyPr wrap="none" anchor="ctr"/>
            <a:lstStyle/>
            <a:p>
              <a:pPr eaLnBrk="1" hangingPunct="1"/>
              <a:r>
                <a:rPr lang="en-US" sz="1200">
                  <a:latin typeface="Tahoma" pitchFamily="34" charset="0"/>
                  <a:cs typeface="Times New Roman" pitchFamily="18" charset="0"/>
                </a:rPr>
                <a:t>Metadata Repository</a:t>
              </a:r>
            </a:p>
            <a:p>
              <a:pPr eaLnBrk="1" hangingPunct="1"/>
              <a:r>
                <a:rPr lang="en-US" sz="1200">
                  <a:latin typeface="Tahoma" pitchFamily="34" charset="0"/>
                  <a:cs typeface="Times New Roman" pitchFamily="18" charset="0"/>
                </a:rPr>
                <a:t>Of HSP Standard Metadata</a:t>
              </a:r>
            </a:p>
          </p:txBody>
        </p:sp>
        <p:sp>
          <p:nvSpPr>
            <p:cNvPr id="23579" name="Line 27"/>
            <p:cNvSpPr>
              <a:spLocks noChangeShapeType="1"/>
            </p:cNvSpPr>
            <p:nvPr/>
          </p:nvSpPr>
          <p:spPr bwMode="auto">
            <a:xfrm flipH="1" flipV="1">
              <a:off x="3168" y="1872"/>
              <a:ext cx="0" cy="288"/>
            </a:xfrm>
            <a:prstGeom prst="line">
              <a:avLst/>
            </a:prstGeom>
            <a:noFill/>
            <a:ln w="9525">
              <a:solidFill>
                <a:schemeClr val="tx1"/>
              </a:solidFill>
              <a:round/>
              <a:headEnd/>
              <a:tailEnd type="triangle" w="med" len="med"/>
            </a:ln>
          </p:spPr>
          <p:txBody>
            <a:bodyPr/>
            <a:lstStyle/>
            <a:p>
              <a:endParaRPr lang="en-US"/>
            </a:p>
          </p:txBody>
        </p:sp>
        <p:sp>
          <p:nvSpPr>
            <p:cNvPr id="145436" name="Rectangle 28"/>
            <p:cNvSpPr>
              <a:spLocks noChangeArrowheads="1"/>
            </p:cNvSpPr>
            <p:nvPr/>
          </p:nvSpPr>
          <p:spPr bwMode="auto">
            <a:xfrm>
              <a:off x="192" y="2304"/>
              <a:ext cx="576" cy="432"/>
            </a:xfrm>
            <a:prstGeom prst="rect">
              <a:avLst/>
            </a:prstGeom>
            <a:solidFill>
              <a:srgbClr val="FFFF66"/>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defRPr/>
              </a:pPr>
              <a:r>
                <a:rPr lang="en-US" sz="1200">
                  <a:latin typeface="Tahoma" pitchFamily="34" charset="0"/>
                  <a:cs typeface="Times New Roman" pitchFamily="18" charset="0"/>
                </a:rPr>
                <a:t>Data </a:t>
              </a:r>
            </a:p>
            <a:p>
              <a:pPr eaLnBrk="1" hangingPunct="1">
                <a:defRPr/>
              </a:pPr>
              <a:r>
                <a:rPr lang="en-US" sz="1200">
                  <a:latin typeface="Tahoma" pitchFamily="34" charset="0"/>
                  <a:cs typeface="Times New Roman" pitchFamily="18" charset="0"/>
                </a:rPr>
                <a:t>Governance </a:t>
              </a:r>
            </a:p>
            <a:p>
              <a:pPr eaLnBrk="1" hangingPunct="1">
                <a:defRPr/>
              </a:pPr>
              <a:r>
                <a:rPr lang="en-US" sz="1200">
                  <a:latin typeface="Tahoma" pitchFamily="34" charset="0"/>
                  <a:cs typeface="Times New Roman" pitchFamily="18" charset="0"/>
                </a:rPr>
                <a:t>Bodies</a:t>
              </a:r>
            </a:p>
          </p:txBody>
        </p:sp>
        <p:sp>
          <p:nvSpPr>
            <p:cNvPr id="23581" name="Line 29"/>
            <p:cNvSpPr>
              <a:spLocks noChangeShapeType="1"/>
            </p:cNvSpPr>
            <p:nvPr/>
          </p:nvSpPr>
          <p:spPr bwMode="auto">
            <a:xfrm flipV="1">
              <a:off x="480" y="2064"/>
              <a:ext cx="192" cy="240"/>
            </a:xfrm>
            <a:prstGeom prst="line">
              <a:avLst/>
            </a:prstGeom>
            <a:noFill/>
            <a:ln w="9525">
              <a:solidFill>
                <a:schemeClr val="tx1"/>
              </a:solidFill>
              <a:round/>
              <a:headEnd/>
              <a:tailEnd type="triangle" w="med" len="med"/>
            </a:ln>
          </p:spPr>
          <p:txBody>
            <a:bodyPr/>
            <a:lstStyle/>
            <a:p>
              <a:endParaRPr lang="en-US"/>
            </a:p>
          </p:txBody>
        </p:sp>
        <p:sp>
          <p:nvSpPr>
            <p:cNvPr id="23582" name="Line 30"/>
            <p:cNvSpPr>
              <a:spLocks noChangeShapeType="1"/>
            </p:cNvSpPr>
            <p:nvPr/>
          </p:nvSpPr>
          <p:spPr bwMode="auto">
            <a:xfrm>
              <a:off x="816" y="2352"/>
              <a:ext cx="1824" cy="0"/>
            </a:xfrm>
            <a:prstGeom prst="line">
              <a:avLst/>
            </a:prstGeom>
            <a:noFill/>
            <a:ln w="9525">
              <a:solidFill>
                <a:schemeClr val="tx1"/>
              </a:solidFill>
              <a:round/>
              <a:headEnd/>
              <a:tailEnd type="triangle" w="med" len="med"/>
            </a:ln>
          </p:spPr>
          <p:txBody>
            <a:bodyPr/>
            <a:lstStyle/>
            <a:p>
              <a:endParaRPr lang="en-US"/>
            </a:p>
          </p:txBody>
        </p:sp>
        <p:sp>
          <p:nvSpPr>
            <p:cNvPr id="23583" name="Line 31"/>
            <p:cNvSpPr>
              <a:spLocks noChangeShapeType="1"/>
            </p:cNvSpPr>
            <p:nvPr/>
          </p:nvSpPr>
          <p:spPr bwMode="auto">
            <a:xfrm flipV="1">
              <a:off x="2592" y="2592"/>
              <a:ext cx="288" cy="240"/>
            </a:xfrm>
            <a:prstGeom prst="line">
              <a:avLst/>
            </a:prstGeom>
            <a:noFill/>
            <a:ln w="9525">
              <a:solidFill>
                <a:schemeClr val="tx1"/>
              </a:solidFill>
              <a:round/>
              <a:headEnd/>
              <a:tailEnd type="triangle" w="med" len="med"/>
            </a:ln>
          </p:spPr>
          <p:txBody>
            <a:bodyPr/>
            <a:lstStyle/>
            <a:p>
              <a:endParaRPr lang="en-US"/>
            </a:p>
          </p:txBody>
        </p:sp>
        <p:sp>
          <p:nvSpPr>
            <p:cNvPr id="23584" name="Line 32"/>
            <p:cNvSpPr>
              <a:spLocks noChangeShapeType="1"/>
            </p:cNvSpPr>
            <p:nvPr/>
          </p:nvSpPr>
          <p:spPr bwMode="auto">
            <a:xfrm flipH="1" flipV="1">
              <a:off x="3120" y="2592"/>
              <a:ext cx="192" cy="240"/>
            </a:xfrm>
            <a:prstGeom prst="line">
              <a:avLst/>
            </a:prstGeom>
            <a:noFill/>
            <a:ln w="9525">
              <a:solidFill>
                <a:schemeClr val="tx1"/>
              </a:solidFill>
              <a:round/>
              <a:headEnd/>
              <a:tailEnd type="triangle" w="med" len="med"/>
            </a:ln>
          </p:spPr>
          <p:txBody>
            <a:bodyPr/>
            <a:lstStyle/>
            <a:p>
              <a:endParaRPr lang="en-US"/>
            </a:p>
          </p:txBody>
        </p:sp>
        <p:sp>
          <p:nvSpPr>
            <p:cNvPr id="23585" name="Line 33"/>
            <p:cNvSpPr>
              <a:spLocks noChangeShapeType="1"/>
            </p:cNvSpPr>
            <p:nvPr/>
          </p:nvSpPr>
          <p:spPr bwMode="auto">
            <a:xfrm flipH="1" flipV="1">
              <a:off x="3408" y="2592"/>
              <a:ext cx="768" cy="240"/>
            </a:xfrm>
            <a:prstGeom prst="line">
              <a:avLst/>
            </a:prstGeom>
            <a:noFill/>
            <a:ln w="9525">
              <a:solidFill>
                <a:schemeClr val="tx1"/>
              </a:solidFill>
              <a:round/>
              <a:headEnd/>
              <a:tailEnd type="triangle" w="med" len="med"/>
            </a:ln>
          </p:spPr>
          <p:txBody>
            <a:bodyPr/>
            <a:lstStyle/>
            <a:p>
              <a:endParaRPr lang="en-US"/>
            </a:p>
          </p:txBody>
        </p:sp>
        <p:sp>
          <p:nvSpPr>
            <p:cNvPr id="23586" name="Line 34"/>
            <p:cNvSpPr>
              <a:spLocks noChangeShapeType="1"/>
            </p:cNvSpPr>
            <p:nvPr/>
          </p:nvSpPr>
          <p:spPr bwMode="auto">
            <a:xfrm flipH="1" flipV="1">
              <a:off x="3600" y="2496"/>
              <a:ext cx="1392" cy="336"/>
            </a:xfrm>
            <a:prstGeom prst="line">
              <a:avLst/>
            </a:prstGeom>
            <a:noFill/>
            <a:ln w="9525">
              <a:solidFill>
                <a:schemeClr val="tx1"/>
              </a:solidFill>
              <a:round/>
              <a:headEnd/>
              <a:tailEnd type="triangle" w="med" len="med"/>
            </a:ln>
          </p:spPr>
          <p:txBody>
            <a:bodyPr/>
            <a:lstStyle/>
            <a:p>
              <a:endParaRPr lang="en-US"/>
            </a:p>
          </p:txBody>
        </p:sp>
        <p:sp>
          <p:nvSpPr>
            <p:cNvPr id="145443" name="Rectangle 35"/>
            <p:cNvSpPr>
              <a:spLocks noChangeArrowheads="1"/>
            </p:cNvSpPr>
            <p:nvPr/>
          </p:nvSpPr>
          <p:spPr bwMode="auto">
            <a:xfrm>
              <a:off x="2016" y="336"/>
              <a:ext cx="912" cy="336"/>
            </a:xfrm>
            <a:prstGeom prst="rect">
              <a:avLst/>
            </a:prstGeom>
            <a:solidFill>
              <a:srgbClr val="FFFF66"/>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r>
                <a:rPr lang="en-US" sz="1200">
                  <a:latin typeface="Tahoma" pitchFamily="34" charset="0"/>
                  <a:cs typeface="Times New Roman" pitchFamily="18" charset="0"/>
                </a:rPr>
                <a:t>HSP Catalog/</a:t>
              </a:r>
            </a:p>
            <a:p>
              <a:pPr eaLnBrk="1" hangingPunct="1"/>
              <a:r>
                <a:rPr lang="en-US" sz="1200">
                  <a:latin typeface="Tahoma" pitchFamily="34" charset="0"/>
                  <a:cs typeface="Times New Roman" pitchFamily="18" charset="0"/>
                </a:rPr>
                <a:t>Enterprise Search</a:t>
              </a:r>
            </a:p>
          </p:txBody>
        </p:sp>
        <p:sp>
          <p:nvSpPr>
            <p:cNvPr id="145444" name="Rectangle 36"/>
            <p:cNvSpPr>
              <a:spLocks noChangeArrowheads="1"/>
            </p:cNvSpPr>
            <p:nvPr/>
          </p:nvSpPr>
          <p:spPr bwMode="auto">
            <a:xfrm>
              <a:off x="288" y="336"/>
              <a:ext cx="671" cy="336"/>
            </a:xfrm>
            <a:prstGeom prst="rect">
              <a:avLst/>
            </a:prstGeom>
            <a:solidFill>
              <a:srgbClr val="FFFF66"/>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defRPr/>
              </a:pPr>
              <a:r>
                <a:rPr lang="en-US" sz="1200">
                  <a:latin typeface="Tahoma" pitchFamily="34" charset="0"/>
                  <a:cs typeface="Times New Roman" pitchFamily="18" charset="0"/>
                </a:rPr>
                <a:t>Site Specific </a:t>
              </a:r>
            </a:p>
            <a:p>
              <a:pPr eaLnBrk="1" hangingPunct="1">
                <a:defRPr/>
              </a:pPr>
              <a:r>
                <a:rPr lang="en-US" sz="1200">
                  <a:latin typeface="Tahoma" pitchFamily="34" charset="0"/>
                  <a:cs typeface="Times New Roman" pitchFamily="18" charset="0"/>
                </a:rPr>
                <a:t>Searching</a:t>
              </a:r>
            </a:p>
          </p:txBody>
        </p:sp>
        <p:sp>
          <p:nvSpPr>
            <p:cNvPr id="145445" name="Rectangle 37"/>
            <p:cNvSpPr>
              <a:spLocks noChangeArrowheads="1"/>
            </p:cNvSpPr>
            <p:nvPr/>
          </p:nvSpPr>
          <p:spPr bwMode="auto">
            <a:xfrm>
              <a:off x="1104" y="336"/>
              <a:ext cx="672" cy="336"/>
            </a:xfrm>
            <a:prstGeom prst="rect">
              <a:avLst/>
            </a:prstGeom>
            <a:solidFill>
              <a:srgbClr val="FFFF66"/>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defRPr/>
              </a:pPr>
              <a:r>
                <a:rPr lang="en-US" sz="1200">
                  <a:latin typeface="Tahoma" pitchFamily="34" charset="0"/>
                  <a:cs typeface="Times New Roman" pitchFamily="18" charset="0"/>
                </a:rPr>
                <a:t>Publications</a:t>
              </a:r>
            </a:p>
            <a:p>
              <a:pPr eaLnBrk="1" hangingPunct="1">
                <a:defRPr/>
              </a:pPr>
              <a:r>
                <a:rPr lang="en-US" sz="1200">
                  <a:latin typeface="Tahoma" pitchFamily="34" charset="0"/>
                  <a:cs typeface="Times New Roman" pitchFamily="18" charset="0"/>
                </a:rPr>
                <a:t>Catalog</a:t>
              </a:r>
            </a:p>
          </p:txBody>
        </p:sp>
        <p:sp>
          <p:nvSpPr>
            <p:cNvPr id="145446" name="Rectangle 38"/>
            <p:cNvSpPr>
              <a:spLocks noChangeArrowheads="1"/>
            </p:cNvSpPr>
            <p:nvPr/>
          </p:nvSpPr>
          <p:spPr bwMode="auto">
            <a:xfrm>
              <a:off x="3216" y="336"/>
              <a:ext cx="672" cy="336"/>
            </a:xfrm>
            <a:prstGeom prst="rect">
              <a:avLst/>
            </a:prstGeom>
            <a:solidFill>
              <a:srgbClr val="FFFF66"/>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defRPr/>
              </a:pPr>
              <a:r>
                <a:rPr lang="en-US" sz="1200">
                  <a:latin typeface="Tahoma" pitchFamily="34" charset="0"/>
                  <a:cs typeface="Times New Roman" pitchFamily="18" charset="0"/>
                </a:rPr>
                <a:t>Recommender</a:t>
              </a:r>
            </a:p>
            <a:p>
              <a:pPr eaLnBrk="1" hangingPunct="1">
                <a:defRPr/>
              </a:pPr>
              <a:r>
                <a:rPr lang="en-US" sz="1200">
                  <a:latin typeface="Tahoma" pitchFamily="34" charset="0"/>
                  <a:cs typeface="Times New Roman" pitchFamily="18" charset="0"/>
                </a:rPr>
                <a:t>Engines</a:t>
              </a:r>
            </a:p>
          </p:txBody>
        </p:sp>
        <p:sp>
          <p:nvSpPr>
            <p:cNvPr id="145447" name="Rectangle 39"/>
            <p:cNvSpPr>
              <a:spLocks noChangeArrowheads="1"/>
            </p:cNvSpPr>
            <p:nvPr/>
          </p:nvSpPr>
          <p:spPr bwMode="auto">
            <a:xfrm>
              <a:off x="4128" y="336"/>
              <a:ext cx="672" cy="336"/>
            </a:xfrm>
            <a:prstGeom prst="rect">
              <a:avLst/>
            </a:prstGeom>
            <a:solidFill>
              <a:srgbClr val="FFFF66"/>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defRPr/>
              </a:pPr>
              <a:r>
                <a:rPr lang="en-US" sz="1200">
                  <a:latin typeface="Tahoma" pitchFamily="34" charset="0"/>
                  <a:cs typeface="Times New Roman" pitchFamily="18" charset="0"/>
                </a:rPr>
                <a:t>Personal </a:t>
              </a:r>
            </a:p>
            <a:p>
              <a:pPr eaLnBrk="1" hangingPunct="1">
                <a:defRPr/>
              </a:pPr>
              <a:r>
                <a:rPr lang="en-US" sz="1200">
                  <a:latin typeface="Tahoma" pitchFamily="34" charset="0"/>
                  <a:cs typeface="Times New Roman" pitchFamily="18" charset="0"/>
                </a:rPr>
                <a:t>Profiles </a:t>
              </a:r>
            </a:p>
          </p:txBody>
        </p:sp>
        <p:sp>
          <p:nvSpPr>
            <p:cNvPr id="145448" name="Rectangle 40"/>
            <p:cNvSpPr>
              <a:spLocks noChangeArrowheads="1"/>
            </p:cNvSpPr>
            <p:nvPr/>
          </p:nvSpPr>
          <p:spPr bwMode="auto">
            <a:xfrm>
              <a:off x="4944" y="336"/>
              <a:ext cx="720" cy="336"/>
            </a:xfrm>
            <a:prstGeom prst="rect">
              <a:avLst/>
            </a:prstGeom>
            <a:solidFill>
              <a:srgbClr val="FFFF66"/>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defRPr/>
              </a:pPr>
              <a:r>
                <a:rPr lang="en-US" sz="1200">
                  <a:latin typeface="Tahoma" pitchFamily="34" charset="0"/>
                  <a:cs typeface="Times New Roman" pitchFamily="18" charset="0"/>
                </a:rPr>
                <a:t>Portal Content </a:t>
              </a:r>
            </a:p>
            <a:p>
              <a:pPr eaLnBrk="1" hangingPunct="1">
                <a:defRPr/>
              </a:pPr>
              <a:r>
                <a:rPr lang="en-US" sz="1200">
                  <a:latin typeface="Tahoma" pitchFamily="34" charset="0"/>
                  <a:cs typeface="Times New Roman" pitchFamily="18" charset="0"/>
                </a:rPr>
                <a:t>Syndication </a:t>
              </a:r>
            </a:p>
          </p:txBody>
        </p:sp>
        <p:sp>
          <p:nvSpPr>
            <p:cNvPr id="23593" name="Line 41"/>
            <p:cNvSpPr>
              <a:spLocks noChangeShapeType="1"/>
            </p:cNvSpPr>
            <p:nvPr/>
          </p:nvSpPr>
          <p:spPr bwMode="auto">
            <a:xfrm>
              <a:off x="960" y="768"/>
              <a:ext cx="1296" cy="384"/>
            </a:xfrm>
            <a:prstGeom prst="line">
              <a:avLst/>
            </a:prstGeom>
            <a:noFill/>
            <a:ln w="9525">
              <a:solidFill>
                <a:schemeClr val="tx1"/>
              </a:solidFill>
              <a:round/>
              <a:headEnd/>
              <a:tailEnd type="triangle" w="med" len="med"/>
            </a:ln>
          </p:spPr>
          <p:txBody>
            <a:bodyPr/>
            <a:lstStyle/>
            <a:p>
              <a:endParaRPr lang="en-US"/>
            </a:p>
          </p:txBody>
        </p:sp>
        <p:sp>
          <p:nvSpPr>
            <p:cNvPr id="23594" name="Line 42"/>
            <p:cNvSpPr>
              <a:spLocks noChangeShapeType="1"/>
            </p:cNvSpPr>
            <p:nvPr/>
          </p:nvSpPr>
          <p:spPr bwMode="auto">
            <a:xfrm>
              <a:off x="1776" y="720"/>
              <a:ext cx="528" cy="288"/>
            </a:xfrm>
            <a:prstGeom prst="line">
              <a:avLst/>
            </a:prstGeom>
            <a:noFill/>
            <a:ln w="9525">
              <a:solidFill>
                <a:schemeClr val="tx1"/>
              </a:solidFill>
              <a:round/>
              <a:headEnd/>
              <a:tailEnd type="triangle" w="med" len="med"/>
            </a:ln>
          </p:spPr>
          <p:txBody>
            <a:bodyPr/>
            <a:lstStyle/>
            <a:p>
              <a:endParaRPr lang="en-US"/>
            </a:p>
          </p:txBody>
        </p:sp>
        <p:sp>
          <p:nvSpPr>
            <p:cNvPr id="23595" name="Line 43"/>
            <p:cNvSpPr>
              <a:spLocks noChangeShapeType="1"/>
            </p:cNvSpPr>
            <p:nvPr/>
          </p:nvSpPr>
          <p:spPr bwMode="auto">
            <a:xfrm>
              <a:off x="2688" y="720"/>
              <a:ext cx="96" cy="240"/>
            </a:xfrm>
            <a:prstGeom prst="line">
              <a:avLst/>
            </a:prstGeom>
            <a:noFill/>
            <a:ln w="9525">
              <a:solidFill>
                <a:schemeClr val="tx1"/>
              </a:solidFill>
              <a:round/>
              <a:headEnd/>
              <a:tailEnd type="triangle" w="med" len="med"/>
            </a:ln>
          </p:spPr>
          <p:txBody>
            <a:bodyPr/>
            <a:lstStyle/>
            <a:p>
              <a:endParaRPr lang="en-US"/>
            </a:p>
          </p:txBody>
        </p:sp>
        <p:sp>
          <p:nvSpPr>
            <p:cNvPr id="23596" name="Line 44"/>
            <p:cNvSpPr>
              <a:spLocks noChangeShapeType="1"/>
            </p:cNvSpPr>
            <p:nvPr/>
          </p:nvSpPr>
          <p:spPr bwMode="auto">
            <a:xfrm flipH="1">
              <a:off x="3408" y="720"/>
              <a:ext cx="192" cy="240"/>
            </a:xfrm>
            <a:prstGeom prst="line">
              <a:avLst/>
            </a:prstGeom>
            <a:noFill/>
            <a:ln w="9525">
              <a:solidFill>
                <a:schemeClr val="tx1"/>
              </a:solidFill>
              <a:round/>
              <a:headEnd/>
              <a:tailEnd type="triangle" w="med" len="med"/>
            </a:ln>
          </p:spPr>
          <p:txBody>
            <a:bodyPr/>
            <a:lstStyle/>
            <a:p>
              <a:endParaRPr lang="en-US"/>
            </a:p>
          </p:txBody>
        </p:sp>
        <p:sp>
          <p:nvSpPr>
            <p:cNvPr id="23597" name="Line 45"/>
            <p:cNvSpPr>
              <a:spLocks noChangeShapeType="1"/>
            </p:cNvSpPr>
            <p:nvPr/>
          </p:nvSpPr>
          <p:spPr bwMode="auto">
            <a:xfrm flipH="1">
              <a:off x="3840" y="720"/>
              <a:ext cx="624" cy="288"/>
            </a:xfrm>
            <a:prstGeom prst="line">
              <a:avLst/>
            </a:prstGeom>
            <a:noFill/>
            <a:ln w="9525">
              <a:solidFill>
                <a:schemeClr val="tx1"/>
              </a:solidFill>
              <a:round/>
              <a:headEnd/>
              <a:tailEnd type="triangle" w="med" len="med"/>
            </a:ln>
          </p:spPr>
          <p:txBody>
            <a:bodyPr/>
            <a:lstStyle/>
            <a:p>
              <a:endParaRPr lang="en-US"/>
            </a:p>
          </p:txBody>
        </p:sp>
        <p:sp>
          <p:nvSpPr>
            <p:cNvPr id="23598" name="Line 46"/>
            <p:cNvSpPr>
              <a:spLocks noChangeShapeType="1"/>
            </p:cNvSpPr>
            <p:nvPr/>
          </p:nvSpPr>
          <p:spPr bwMode="auto">
            <a:xfrm flipH="1">
              <a:off x="3888" y="768"/>
              <a:ext cx="1392" cy="384"/>
            </a:xfrm>
            <a:prstGeom prst="line">
              <a:avLst/>
            </a:prstGeom>
            <a:noFill/>
            <a:ln w="9525">
              <a:solidFill>
                <a:schemeClr val="tx1"/>
              </a:solidFill>
              <a:round/>
              <a:headEnd/>
              <a:tailEnd type="triangle" w="med" len="med"/>
            </a:ln>
          </p:spPr>
          <p:txBody>
            <a:bodyPr/>
            <a:lstStyle/>
            <a:p>
              <a:endParaRPr lang="en-US"/>
            </a:p>
          </p:txBody>
        </p:sp>
        <p:sp>
          <p:nvSpPr>
            <p:cNvPr id="23600" name="AutoShape 48"/>
            <p:cNvSpPr>
              <a:spLocks noChangeArrowheads="1"/>
            </p:cNvSpPr>
            <p:nvPr/>
          </p:nvSpPr>
          <p:spPr bwMode="auto">
            <a:xfrm>
              <a:off x="432" y="2928"/>
              <a:ext cx="576" cy="288"/>
            </a:xfrm>
            <a:prstGeom prst="flowChartProcess">
              <a:avLst/>
            </a:prstGeom>
            <a:solidFill>
              <a:schemeClr val="hlink"/>
            </a:solidFill>
            <a:ln w="9525">
              <a:solidFill>
                <a:schemeClr val="tx1"/>
              </a:solidFill>
              <a:miter lim="800000"/>
              <a:headEnd/>
              <a:tailEnd/>
            </a:ln>
          </p:spPr>
          <p:txBody>
            <a:bodyPr wrap="none" anchor="ctr"/>
            <a:lstStyle/>
            <a:p>
              <a:pPr eaLnBrk="1" hangingPunct="1"/>
              <a:r>
                <a:rPr lang="en-US" sz="1400">
                  <a:solidFill>
                    <a:schemeClr val="bg1"/>
                  </a:solidFill>
                  <a:latin typeface="Tahoma" pitchFamily="34" charset="0"/>
                  <a:cs typeface="Times New Roman" pitchFamily="18" charset="0"/>
                </a:rPr>
                <a:t>Metadata</a:t>
              </a:r>
            </a:p>
            <a:p>
              <a:pPr eaLnBrk="1" hangingPunct="1"/>
              <a:r>
                <a:rPr lang="en-US" sz="1400">
                  <a:solidFill>
                    <a:schemeClr val="bg1"/>
                  </a:solidFill>
                  <a:latin typeface="Tahoma" pitchFamily="34" charset="0"/>
                  <a:cs typeface="Times New Roman" pitchFamily="18" charset="0"/>
                </a:rPr>
                <a:t>Extract</a:t>
              </a:r>
            </a:p>
          </p:txBody>
        </p:sp>
        <p:sp>
          <p:nvSpPr>
            <p:cNvPr id="23601" name="AutoShape 49"/>
            <p:cNvSpPr>
              <a:spLocks noChangeArrowheads="1"/>
            </p:cNvSpPr>
            <p:nvPr/>
          </p:nvSpPr>
          <p:spPr bwMode="auto">
            <a:xfrm>
              <a:off x="4704" y="2928"/>
              <a:ext cx="576" cy="288"/>
            </a:xfrm>
            <a:prstGeom prst="flowChartProcess">
              <a:avLst/>
            </a:prstGeom>
            <a:solidFill>
              <a:schemeClr val="hlink"/>
            </a:solidFill>
            <a:ln w="9525">
              <a:solidFill>
                <a:schemeClr val="tx1"/>
              </a:solidFill>
              <a:miter lim="800000"/>
              <a:headEnd/>
              <a:tailEnd/>
            </a:ln>
          </p:spPr>
          <p:txBody>
            <a:bodyPr wrap="none" anchor="ctr"/>
            <a:lstStyle/>
            <a:p>
              <a:pPr eaLnBrk="1" hangingPunct="1"/>
              <a:r>
                <a:rPr lang="en-US" sz="1400">
                  <a:solidFill>
                    <a:schemeClr val="bg1"/>
                  </a:solidFill>
                  <a:latin typeface="Tahoma" pitchFamily="34" charset="0"/>
                  <a:cs typeface="Times New Roman" pitchFamily="18" charset="0"/>
                </a:rPr>
                <a:t>Metadata</a:t>
              </a:r>
            </a:p>
            <a:p>
              <a:pPr eaLnBrk="1" hangingPunct="1"/>
              <a:r>
                <a:rPr lang="en-US" sz="1400">
                  <a:solidFill>
                    <a:schemeClr val="bg1"/>
                  </a:solidFill>
                  <a:latin typeface="Tahoma" pitchFamily="34" charset="0"/>
                  <a:cs typeface="Times New Roman" pitchFamily="18" charset="0"/>
                </a:rPr>
                <a:t>Extract</a:t>
              </a:r>
            </a:p>
          </p:txBody>
        </p:sp>
        <p:sp>
          <p:nvSpPr>
            <p:cNvPr id="23602" name="AutoShape 50"/>
            <p:cNvSpPr>
              <a:spLocks noChangeArrowheads="1"/>
            </p:cNvSpPr>
            <p:nvPr/>
          </p:nvSpPr>
          <p:spPr bwMode="auto">
            <a:xfrm>
              <a:off x="1248" y="2928"/>
              <a:ext cx="576" cy="288"/>
            </a:xfrm>
            <a:prstGeom prst="flowChartProcess">
              <a:avLst/>
            </a:prstGeom>
            <a:solidFill>
              <a:schemeClr val="hlink"/>
            </a:solidFill>
            <a:ln w="9525">
              <a:solidFill>
                <a:schemeClr val="tx1"/>
              </a:solidFill>
              <a:miter lim="800000"/>
              <a:headEnd/>
              <a:tailEnd/>
            </a:ln>
          </p:spPr>
          <p:txBody>
            <a:bodyPr wrap="none" anchor="ctr"/>
            <a:lstStyle/>
            <a:p>
              <a:pPr eaLnBrk="1" hangingPunct="1"/>
              <a:r>
                <a:rPr lang="en-US" sz="1400">
                  <a:solidFill>
                    <a:schemeClr val="bg1"/>
                  </a:solidFill>
                  <a:latin typeface="Tahoma" pitchFamily="34" charset="0"/>
                  <a:cs typeface="Times New Roman" pitchFamily="18" charset="0"/>
                </a:rPr>
                <a:t>Metadata</a:t>
              </a:r>
            </a:p>
            <a:p>
              <a:pPr eaLnBrk="1" hangingPunct="1"/>
              <a:r>
                <a:rPr lang="en-US" sz="1400">
                  <a:solidFill>
                    <a:schemeClr val="bg1"/>
                  </a:solidFill>
                  <a:latin typeface="Tahoma" pitchFamily="34" charset="0"/>
                  <a:cs typeface="Times New Roman" pitchFamily="18" charset="0"/>
                </a:rPr>
                <a:t>Extract</a:t>
              </a:r>
            </a:p>
          </p:txBody>
        </p:sp>
        <p:sp>
          <p:nvSpPr>
            <p:cNvPr id="23603" name="AutoShape 51"/>
            <p:cNvSpPr>
              <a:spLocks noChangeArrowheads="1"/>
            </p:cNvSpPr>
            <p:nvPr/>
          </p:nvSpPr>
          <p:spPr bwMode="auto">
            <a:xfrm>
              <a:off x="2256" y="2928"/>
              <a:ext cx="576" cy="288"/>
            </a:xfrm>
            <a:prstGeom prst="flowChartProcess">
              <a:avLst/>
            </a:prstGeom>
            <a:solidFill>
              <a:schemeClr val="hlink"/>
            </a:solidFill>
            <a:ln w="9525">
              <a:solidFill>
                <a:schemeClr val="tx1"/>
              </a:solidFill>
              <a:miter lim="800000"/>
              <a:headEnd/>
              <a:tailEnd/>
            </a:ln>
          </p:spPr>
          <p:txBody>
            <a:bodyPr wrap="none" anchor="ctr"/>
            <a:lstStyle/>
            <a:p>
              <a:pPr eaLnBrk="1" hangingPunct="1"/>
              <a:r>
                <a:rPr lang="en-US" sz="1400">
                  <a:solidFill>
                    <a:schemeClr val="bg1"/>
                  </a:solidFill>
                  <a:latin typeface="Tahoma" pitchFamily="34" charset="0"/>
                  <a:cs typeface="Times New Roman" pitchFamily="18" charset="0"/>
                </a:rPr>
                <a:t>Metadata</a:t>
              </a:r>
            </a:p>
            <a:p>
              <a:pPr eaLnBrk="1" hangingPunct="1"/>
              <a:r>
                <a:rPr lang="en-US" sz="1400">
                  <a:solidFill>
                    <a:schemeClr val="bg1"/>
                  </a:solidFill>
                  <a:latin typeface="Tahoma" pitchFamily="34" charset="0"/>
                  <a:cs typeface="Times New Roman" pitchFamily="18" charset="0"/>
                </a:rPr>
                <a:t>Extract</a:t>
              </a:r>
            </a:p>
          </p:txBody>
        </p:sp>
        <p:sp>
          <p:nvSpPr>
            <p:cNvPr id="23604" name="AutoShape 52"/>
            <p:cNvSpPr>
              <a:spLocks noChangeArrowheads="1"/>
            </p:cNvSpPr>
            <p:nvPr/>
          </p:nvSpPr>
          <p:spPr bwMode="auto">
            <a:xfrm>
              <a:off x="3024" y="2928"/>
              <a:ext cx="576" cy="288"/>
            </a:xfrm>
            <a:prstGeom prst="flowChartProcess">
              <a:avLst/>
            </a:prstGeom>
            <a:solidFill>
              <a:schemeClr val="hlink"/>
            </a:solidFill>
            <a:ln w="9525">
              <a:solidFill>
                <a:schemeClr val="tx1"/>
              </a:solidFill>
              <a:miter lim="800000"/>
              <a:headEnd/>
              <a:tailEnd/>
            </a:ln>
          </p:spPr>
          <p:txBody>
            <a:bodyPr wrap="none" anchor="ctr"/>
            <a:lstStyle/>
            <a:p>
              <a:pPr eaLnBrk="1" hangingPunct="1"/>
              <a:r>
                <a:rPr lang="en-US" sz="1400">
                  <a:solidFill>
                    <a:schemeClr val="bg1"/>
                  </a:solidFill>
                  <a:latin typeface="Tahoma" pitchFamily="34" charset="0"/>
                  <a:cs typeface="Times New Roman" pitchFamily="18" charset="0"/>
                </a:rPr>
                <a:t>Metadata</a:t>
              </a:r>
            </a:p>
            <a:p>
              <a:pPr eaLnBrk="1" hangingPunct="1"/>
              <a:r>
                <a:rPr lang="en-US" sz="1400">
                  <a:solidFill>
                    <a:schemeClr val="bg1"/>
                  </a:solidFill>
                  <a:latin typeface="Tahoma" pitchFamily="34" charset="0"/>
                  <a:cs typeface="Times New Roman" pitchFamily="18" charset="0"/>
                </a:rPr>
                <a:t>Extract</a:t>
              </a:r>
            </a:p>
          </p:txBody>
        </p:sp>
        <p:sp>
          <p:nvSpPr>
            <p:cNvPr id="23605" name="AutoShape 53"/>
            <p:cNvSpPr>
              <a:spLocks noChangeArrowheads="1"/>
            </p:cNvSpPr>
            <p:nvPr/>
          </p:nvSpPr>
          <p:spPr bwMode="auto">
            <a:xfrm>
              <a:off x="3936" y="2928"/>
              <a:ext cx="576" cy="288"/>
            </a:xfrm>
            <a:prstGeom prst="flowChartProcess">
              <a:avLst/>
            </a:prstGeom>
            <a:solidFill>
              <a:schemeClr val="hlink"/>
            </a:solidFill>
            <a:ln w="9525">
              <a:solidFill>
                <a:schemeClr val="tx1"/>
              </a:solidFill>
              <a:miter lim="800000"/>
              <a:headEnd/>
              <a:tailEnd/>
            </a:ln>
          </p:spPr>
          <p:txBody>
            <a:bodyPr wrap="none" anchor="ctr"/>
            <a:lstStyle/>
            <a:p>
              <a:pPr eaLnBrk="1" hangingPunct="1"/>
              <a:r>
                <a:rPr lang="en-US" sz="1400">
                  <a:solidFill>
                    <a:schemeClr val="bg1"/>
                  </a:solidFill>
                  <a:latin typeface="Tahoma" pitchFamily="34" charset="0"/>
                  <a:cs typeface="Times New Roman" pitchFamily="18" charset="0"/>
                </a:rPr>
                <a:t>Metadata</a:t>
              </a:r>
            </a:p>
            <a:p>
              <a:pPr eaLnBrk="1" hangingPunct="1"/>
              <a:r>
                <a:rPr lang="en-US" sz="1400">
                  <a:solidFill>
                    <a:schemeClr val="bg1"/>
                  </a:solidFill>
                  <a:latin typeface="Tahoma" pitchFamily="34" charset="0"/>
                  <a:cs typeface="Times New Roman" pitchFamily="18" charset="0"/>
                </a:rPr>
                <a:t>Extract</a:t>
              </a:r>
            </a:p>
          </p:txBody>
        </p:sp>
        <p:pic>
          <p:nvPicPr>
            <p:cNvPr id="23606" name="Picture 54" descr="PE01561_"/>
            <p:cNvPicPr>
              <a:picLocks noChangeAspect="1" noChangeArrowheads="1"/>
            </p:cNvPicPr>
            <p:nvPr/>
          </p:nvPicPr>
          <p:blipFill>
            <a:blip r:embed="rId3" cstate="print"/>
            <a:srcRect/>
            <a:stretch>
              <a:fillRect/>
            </a:stretch>
          </p:blipFill>
          <p:spPr bwMode="auto">
            <a:xfrm>
              <a:off x="3885" y="1282"/>
              <a:ext cx="1539" cy="1022"/>
            </a:xfrm>
            <a:prstGeom prst="rect">
              <a:avLst/>
            </a:prstGeom>
            <a:noFill/>
            <a:ln w="9525">
              <a:noFill/>
              <a:miter lim="800000"/>
              <a:headEnd/>
              <a:tailEnd/>
            </a:ln>
          </p:spPr>
        </p:pic>
        <p:sp>
          <p:nvSpPr>
            <p:cNvPr id="145463" name="Rectangle 55"/>
            <p:cNvSpPr>
              <a:spLocks noChangeArrowheads="1"/>
            </p:cNvSpPr>
            <p:nvPr/>
          </p:nvSpPr>
          <p:spPr bwMode="auto">
            <a:xfrm>
              <a:off x="240" y="912"/>
              <a:ext cx="672" cy="336"/>
            </a:xfrm>
            <a:prstGeom prst="rect">
              <a:avLst/>
            </a:prstGeom>
            <a:solidFill>
              <a:srgbClr val="FFFF66"/>
            </a:solidFill>
            <a:ln w="9525">
              <a:solidFill>
                <a:schemeClr val="tx1"/>
              </a:solidFill>
              <a:miter lim="800000"/>
              <a:headEnd/>
              <a:tailEnd/>
            </a:ln>
            <a:effectLst>
              <a:outerShdw dist="107763" dir="2700000" algn="ctr" rotWithShape="0">
                <a:schemeClr val="bg2"/>
              </a:outerShdw>
            </a:effectLst>
          </p:spPr>
          <p:txBody>
            <a:bodyPr wrap="none" anchor="ctr"/>
            <a:lstStyle/>
            <a:p>
              <a:pPr eaLnBrk="1" hangingPunct="1">
                <a:defRPr/>
              </a:pPr>
              <a:r>
                <a:rPr lang="en-US" sz="1200">
                  <a:latin typeface="Tahoma" pitchFamily="34" charset="0"/>
                  <a:cs typeface="Times New Roman" pitchFamily="18" charset="0"/>
                </a:rPr>
                <a:t>Browse &amp;</a:t>
              </a:r>
            </a:p>
            <a:p>
              <a:pPr eaLnBrk="1" hangingPunct="1">
                <a:defRPr/>
              </a:pPr>
              <a:r>
                <a:rPr lang="en-US" sz="1200">
                  <a:latin typeface="Tahoma" pitchFamily="34" charset="0"/>
                  <a:cs typeface="Times New Roman" pitchFamily="18" charset="0"/>
                </a:rPr>
                <a:t>Navigation</a:t>
              </a:r>
            </a:p>
            <a:p>
              <a:pPr eaLnBrk="1" hangingPunct="1">
                <a:defRPr/>
              </a:pPr>
              <a:r>
                <a:rPr lang="en-US" sz="1200">
                  <a:latin typeface="Tahoma" pitchFamily="34" charset="0"/>
                  <a:cs typeface="Times New Roman" pitchFamily="18" charset="0"/>
                </a:rPr>
                <a:t>Structures</a:t>
              </a:r>
            </a:p>
          </p:txBody>
        </p:sp>
        <p:sp>
          <p:nvSpPr>
            <p:cNvPr id="23608" name="Line 56"/>
            <p:cNvSpPr>
              <a:spLocks noChangeShapeType="1"/>
            </p:cNvSpPr>
            <p:nvPr/>
          </p:nvSpPr>
          <p:spPr bwMode="auto">
            <a:xfrm>
              <a:off x="912" y="1104"/>
              <a:ext cx="1296" cy="144"/>
            </a:xfrm>
            <a:prstGeom prst="line">
              <a:avLst/>
            </a:prstGeom>
            <a:noFill/>
            <a:ln w="9525">
              <a:solidFill>
                <a:schemeClr val="tx1"/>
              </a:solidFill>
              <a:round/>
              <a:headEnd/>
              <a:tailEnd type="triangle" w="med" len="med"/>
            </a:ln>
          </p:spPr>
          <p:txBody>
            <a:bodyPr/>
            <a:lstStyle/>
            <a:p>
              <a:endParaRPr lang="en-US"/>
            </a:p>
          </p:txBody>
        </p:sp>
        <p:sp>
          <p:nvSpPr>
            <p:cNvPr id="23611" name="Text Box 19"/>
            <p:cNvSpPr txBox="1">
              <a:spLocks noChangeArrowheads="1"/>
            </p:cNvSpPr>
            <p:nvPr/>
          </p:nvSpPr>
          <p:spPr bwMode="auto">
            <a:xfrm>
              <a:off x="322" y="3539"/>
              <a:ext cx="648" cy="567"/>
            </a:xfrm>
            <a:prstGeom prst="rect">
              <a:avLst/>
            </a:prstGeom>
            <a:noFill/>
            <a:ln w="9525">
              <a:noFill/>
              <a:miter lim="800000"/>
              <a:headEnd/>
              <a:tailEnd/>
            </a:ln>
          </p:spPr>
          <p:txBody>
            <a:bodyPr>
              <a:spAutoFit/>
            </a:bodyPr>
            <a:lstStyle/>
            <a:p>
              <a:pPr eaLnBrk="1" hangingPunct="1"/>
              <a:r>
                <a:rPr lang="en-US" sz="1200" b="1">
                  <a:solidFill>
                    <a:schemeClr val="bg1"/>
                  </a:solidFill>
                  <a:latin typeface="Tahoma" pitchFamily="34" charset="0"/>
                  <a:cs typeface="Times New Roman" pitchFamily="18" charset="0"/>
                </a:rPr>
                <a:t>Web </a:t>
              </a:r>
            </a:p>
            <a:p>
              <a:pPr eaLnBrk="1" hangingPunct="1"/>
              <a:r>
                <a:rPr lang="en-US" sz="1200" b="1">
                  <a:solidFill>
                    <a:schemeClr val="bg1"/>
                  </a:solidFill>
                  <a:latin typeface="Tahoma" pitchFamily="34" charset="0"/>
                  <a:cs typeface="Times New Roman" pitchFamily="18" charset="0"/>
                </a:rPr>
                <a:t>Content</a:t>
              </a:r>
            </a:p>
            <a:p>
              <a:pPr eaLnBrk="1" hangingPunct="1"/>
              <a:r>
                <a:rPr lang="en-US" sz="1200" b="1">
                  <a:solidFill>
                    <a:schemeClr val="bg1"/>
                  </a:solidFill>
                  <a:latin typeface="Tahoma" pitchFamily="34" charset="0"/>
                  <a:cs typeface="Times New Roman" pitchFamily="18" charset="0"/>
                </a:rPr>
                <a:t>Mgmt. </a:t>
              </a:r>
            </a:p>
            <a:p>
              <a:pPr eaLnBrk="1" hangingPunct="1"/>
              <a:r>
                <a:rPr lang="en-US" sz="1200" b="1">
                  <a:solidFill>
                    <a:schemeClr val="bg1"/>
                  </a:solidFill>
                  <a:latin typeface="Tahoma" pitchFamily="34" charset="0"/>
                  <a:cs typeface="Times New Roman" pitchFamily="18" charset="0"/>
                </a:rPr>
                <a:t>Metadata</a:t>
              </a:r>
            </a:p>
          </p:txBody>
        </p:sp>
      </p:grpSp>
    </p:spTree>
  </p:cSld>
  <p:clrMapOvr>
    <a:masterClrMapping/>
  </p:clrMapOvr>
  <p:transition>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smtClean="0"/>
              <a:t>Functional Decomposition for KM</a:t>
            </a:r>
          </a:p>
        </p:txBody>
      </p:sp>
      <p:sp>
        <p:nvSpPr>
          <p:cNvPr id="19459" name="Content Placeholder 2"/>
          <p:cNvSpPr>
            <a:spLocks noGrp="1"/>
          </p:cNvSpPr>
          <p:nvPr>
            <p:ph idx="1"/>
          </p:nvPr>
        </p:nvSpPr>
        <p:spPr>
          <a:xfrm>
            <a:off x="457200" y="1295400"/>
            <a:ext cx="4074459" cy="4830763"/>
          </a:xfrm>
        </p:spPr>
        <p:txBody>
          <a:bodyPr/>
          <a:lstStyle/>
          <a:p>
            <a:pPr eaLnBrk="1" hangingPunct="1">
              <a:buFont typeface="Wingdings" pitchFamily="2" charset="2"/>
              <a:buNone/>
            </a:pPr>
            <a:r>
              <a:rPr lang="en-US" sz="2000" b="1" dirty="0" smtClean="0"/>
              <a:t>Initial List of Functions</a:t>
            </a:r>
          </a:p>
          <a:p>
            <a:pPr lvl="1" eaLnBrk="1" hangingPunct="1"/>
            <a:r>
              <a:rPr lang="en-US" sz="1900" dirty="0" smtClean="0"/>
              <a:t>Metadata</a:t>
            </a:r>
          </a:p>
          <a:p>
            <a:pPr lvl="2" eaLnBrk="1" hangingPunct="1"/>
            <a:r>
              <a:rPr lang="en-US" sz="1700" dirty="0" smtClean="0"/>
              <a:t>Content Taxonomies</a:t>
            </a:r>
          </a:p>
          <a:p>
            <a:pPr lvl="2" eaLnBrk="1" hangingPunct="1"/>
            <a:r>
              <a:rPr lang="en-US" sz="1700" dirty="0" smtClean="0"/>
              <a:t>People Taxonomies</a:t>
            </a:r>
          </a:p>
          <a:p>
            <a:pPr lvl="2" eaLnBrk="1" hangingPunct="1"/>
            <a:r>
              <a:rPr lang="en-US" sz="1700" dirty="0" smtClean="0"/>
              <a:t>Functionality Taxonomies</a:t>
            </a:r>
          </a:p>
          <a:p>
            <a:pPr lvl="1" eaLnBrk="1" hangingPunct="1"/>
            <a:r>
              <a:rPr lang="en-US" sz="1900" dirty="0" smtClean="0"/>
              <a:t>Asset Repositories</a:t>
            </a:r>
          </a:p>
          <a:p>
            <a:pPr lvl="2" eaLnBrk="1" hangingPunct="1"/>
            <a:r>
              <a:rPr lang="en-US" sz="1700" dirty="0" smtClean="0"/>
              <a:t>Object Stores</a:t>
            </a:r>
          </a:p>
          <a:p>
            <a:pPr lvl="2" eaLnBrk="1" hangingPunct="1"/>
            <a:r>
              <a:rPr lang="en-US" sz="1700" dirty="0" smtClean="0"/>
              <a:t>Production Data Stores</a:t>
            </a:r>
          </a:p>
          <a:p>
            <a:pPr lvl="2" eaLnBrk="1" hangingPunct="1"/>
            <a:r>
              <a:rPr lang="en-US" sz="1700" dirty="0" smtClean="0"/>
              <a:t>Operational Data Stores </a:t>
            </a:r>
          </a:p>
          <a:p>
            <a:pPr lvl="1" eaLnBrk="1" hangingPunct="1"/>
            <a:r>
              <a:rPr lang="en-US" sz="1900" dirty="0" smtClean="0"/>
              <a:t>Business Processes</a:t>
            </a:r>
          </a:p>
          <a:p>
            <a:pPr lvl="2" eaLnBrk="1" hangingPunct="1"/>
            <a:r>
              <a:rPr lang="en-US" sz="1700" dirty="0" smtClean="0"/>
              <a:t>CRUD Processes</a:t>
            </a:r>
          </a:p>
          <a:p>
            <a:pPr lvl="2" eaLnBrk="1" hangingPunct="1"/>
            <a:r>
              <a:rPr lang="en-US" sz="1700" dirty="0" smtClean="0"/>
              <a:t>Metadata ETL</a:t>
            </a:r>
          </a:p>
          <a:p>
            <a:pPr lvl="2" eaLnBrk="1" hangingPunct="1"/>
            <a:r>
              <a:rPr lang="en-US" sz="1700" dirty="0" smtClean="0"/>
              <a:t>Content ETL (CMIS)</a:t>
            </a:r>
          </a:p>
          <a:p>
            <a:pPr lvl="2" eaLnBrk="1" hangingPunct="1"/>
            <a:r>
              <a:rPr lang="en-US" sz="1700" dirty="0" smtClean="0"/>
              <a:t>Presentation Services</a:t>
            </a:r>
          </a:p>
          <a:p>
            <a:pPr lvl="2" eaLnBrk="1" hangingPunct="1"/>
            <a:r>
              <a:rPr lang="en-US" sz="1700" dirty="0" smtClean="0"/>
              <a:t>Publish / Subscribe</a:t>
            </a:r>
          </a:p>
        </p:txBody>
      </p:sp>
      <p:sp>
        <p:nvSpPr>
          <p:cNvPr id="4" name="Slide Number Placeholder 3"/>
          <p:cNvSpPr>
            <a:spLocks noGrp="1"/>
          </p:cNvSpPr>
          <p:nvPr>
            <p:ph type="sldNum" sz="quarter" idx="11"/>
          </p:nvPr>
        </p:nvSpPr>
        <p:spPr>
          <a:prstGeom prst="rect">
            <a:avLst/>
          </a:prstGeom>
        </p:spPr>
        <p:txBody>
          <a:bodyPr/>
          <a:lstStyle/>
          <a:p>
            <a:pPr>
              <a:defRPr/>
            </a:pPr>
            <a:fld id="{1059A56F-28D2-483B-B727-AA050EEC0A2C}" type="slidenum">
              <a:rPr lang="en-GB"/>
              <a:pPr>
                <a:defRPr/>
              </a:pPr>
              <a:t>16</a:t>
            </a:fld>
            <a:endParaRPr lang="en-GB"/>
          </a:p>
        </p:txBody>
      </p:sp>
      <p:sp>
        <p:nvSpPr>
          <p:cNvPr id="19462" name="Content Placeholder 2"/>
          <p:cNvSpPr>
            <a:spLocks/>
          </p:cNvSpPr>
          <p:nvPr/>
        </p:nvSpPr>
        <p:spPr bwMode="auto">
          <a:xfrm>
            <a:off x="4667250" y="1345173"/>
            <a:ext cx="3798888" cy="4876800"/>
          </a:xfrm>
          <a:prstGeom prst="rect">
            <a:avLst/>
          </a:prstGeom>
          <a:noFill/>
          <a:ln w="9525">
            <a:noFill/>
            <a:miter lim="800000"/>
            <a:headEnd/>
            <a:tailEnd/>
          </a:ln>
        </p:spPr>
        <p:txBody>
          <a:bodyPr lIns="0" tIns="0" rIns="0" bIns="0"/>
          <a:lstStyle/>
          <a:p>
            <a:pPr marL="234950" indent="-234950" algn="l" eaLnBrk="1" hangingPunct="1">
              <a:spcBef>
                <a:spcPct val="20000"/>
              </a:spcBef>
              <a:buClr>
                <a:schemeClr val="tx2"/>
              </a:buClr>
              <a:buFont typeface="Wingdings" pitchFamily="2" charset="2"/>
              <a:buNone/>
            </a:pPr>
            <a:r>
              <a:rPr lang="en-US" sz="1800" b="1" dirty="0">
                <a:latin typeface="Arial" charset="0"/>
              </a:rPr>
              <a:t>Initial List of Functions</a:t>
            </a:r>
          </a:p>
          <a:p>
            <a:pPr marL="692150" lvl="1" indent="-234950" algn="l" eaLnBrk="1" hangingPunct="1">
              <a:spcBef>
                <a:spcPct val="20000"/>
              </a:spcBef>
              <a:buClr>
                <a:schemeClr val="tx2"/>
              </a:buClr>
              <a:buFontTx/>
              <a:buChar char="–"/>
            </a:pPr>
            <a:r>
              <a:rPr lang="en-US" sz="1800" dirty="0">
                <a:latin typeface="Arial" charset="0"/>
              </a:rPr>
              <a:t>Knowledge Capture</a:t>
            </a:r>
          </a:p>
          <a:p>
            <a:pPr marL="1147763" lvl="2" indent="-233363" algn="l" eaLnBrk="1" hangingPunct="1">
              <a:spcBef>
                <a:spcPct val="20000"/>
              </a:spcBef>
              <a:buClr>
                <a:schemeClr val="tx2"/>
              </a:buClr>
              <a:buFontTx/>
              <a:buChar char="•"/>
            </a:pPr>
            <a:r>
              <a:rPr lang="en-US" sz="1600" dirty="0">
                <a:latin typeface="Arial" charset="0"/>
              </a:rPr>
              <a:t>Dynamic alignment of context with taxonomies</a:t>
            </a:r>
          </a:p>
          <a:p>
            <a:pPr marL="1147763" lvl="2" indent="-233363" algn="l" eaLnBrk="1" hangingPunct="1">
              <a:spcBef>
                <a:spcPct val="20000"/>
              </a:spcBef>
              <a:buClr>
                <a:schemeClr val="tx2"/>
              </a:buClr>
              <a:buFontTx/>
              <a:buChar char="•"/>
            </a:pPr>
            <a:r>
              <a:rPr lang="en-US" sz="1600" dirty="0" err="1">
                <a:latin typeface="Arial" charset="0"/>
              </a:rPr>
              <a:t>Muti</a:t>
            </a:r>
            <a:r>
              <a:rPr lang="en-US" sz="1600" dirty="0">
                <a:latin typeface="Arial" charset="0"/>
              </a:rPr>
              <a:t>-level profiling to dynamically direct content</a:t>
            </a:r>
          </a:p>
          <a:p>
            <a:pPr marL="692150" lvl="1" indent="-234950" algn="l" eaLnBrk="1" hangingPunct="1">
              <a:spcBef>
                <a:spcPct val="20000"/>
              </a:spcBef>
              <a:buClr>
                <a:schemeClr val="tx2"/>
              </a:buClr>
              <a:buFontTx/>
              <a:buChar char="–"/>
            </a:pPr>
            <a:r>
              <a:rPr lang="en-US" sz="1800" dirty="0">
                <a:latin typeface="Arial" charset="0"/>
              </a:rPr>
              <a:t>Business Rules</a:t>
            </a:r>
          </a:p>
          <a:p>
            <a:pPr marL="1147763" lvl="2" indent="-233363" algn="l" eaLnBrk="1" hangingPunct="1">
              <a:spcBef>
                <a:spcPct val="20000"/>
              </a:spcBef>
              <a:buClr>
                <a:schemeClr val="tx2"/>
              </a:buClr>
              <a:buFontTx/>
              <a:buChar char="•"/>
            </a:pPr>
            <a:r>
              <a:rPr lang="en-US" sz="1600" dirty="0">
                <a:latin typeface="Arial" charset="0"/>
              </a:rPr>
              <a:t>Constraints</a:t>
            </a:r>
          </a:p>
          <a:p>
            <a:pPr marL="1147763" lvl="2" indent="-233363" algn="l" eaLnBrk="1" hangingPunct="1">
              <a:spcBef>
                <a:spcPct val="20000"/>
              </a:spcBef>
              <a:buClr>
                <a:schemeClr val="tx2"/>
              </a:buClr>
              <a:buFontTx/>
              <a:buChar char="•"/>
            </a:pPr>
            <a:r>
              <a:rPr lang="en-US" sz="1600" dirty="0">
                <a:latin typeface="Arial" charset="0"/>
              </a:rPr>
              <a:t>Process Rules</a:t>
            </a:r>
          </a:p>
          <a:p>
            <a:pPr marL="1147763" lvl="2" indent="-233363" algn="l" eaLnBrk="1" hangingPunct="1">
              <a:spcBef>
                <a:spcPct val="20000"/>
              </a:spcBef>
              <a:buClr>
                <a:schemeClr val="tx2"/>
              </a:buClr>
              <a:buFontTx/>
              <a:buChar char="•"/>
            </a:pPr>
            <a:r>
              <a:rPr lang="en-US" sz="1600" dirty="0">
                <a:latin typeface="Arial" charset="0"/>
              </a:rPr>
              <a:t>Governance Rules</a:t>
            </a:r>
          </a:p>
          <a:p>
            <a:pPr marL="1147763" lvl="2" indent="-233363" algn="l" eaLnBrk="1" hangingPunct="1">
              <a:spcBef>
                <a:spcPct val="20000"/>
              </a:spcBef>
              <a:buClr>
                <a:schemeClr val="tx2"/>
              </a:buClr>
              <a:buFontTx/>
              <a:buChar char="•"/>
            </a:pPr>
            <a:r>
              <a:rPr lang="en-US" sz="1600" dirty="0">
                <a:latin typeface="Arial" charset="0"/>
              </a:rPr>
              <a:t>Decision Support Rules</a:t>
            </a:r>
          </a:p>
          <a:p>
            <a:pPr marL="692150" lvl="1" indent="-234950" algn="l" eaLnBrk="1" hangingPunct="1">
              <a:spcBef>
                <a:spcPct val="20000"/>
              </a:spcBef>
              <a:buClr>
                <a:schemeClr val="tx2"/>
              </a:buClr>
              <a:buFontTx/>
              <a:buChar char="–"/>
            </a:pPr>
            <a:r>
              <a:rPr lang="en-US" sz="1800" dirty="0">
                <a:latin typeface="Arial" charset="0"/>
              </a:rPr>
              <a:t>Presentation</a:t>
            </a:r>
          </a:p>
          <a:p>
            <a:pPr marL="1147763" lvl="2" indent="-233363" algn="l" eaLnBrk="1" hangingPunct="1">
              <a:spcBef>
                <a:spcPct val="20000"/>
              </a:spcBef>
              <a:buClr>
                <a:schemeClr val="tx2"/>
              </a:buClr>
              <a:buFontTx/>
              <a:buChar char="•"/>
            </a:pPr>
            <a:r>
              <a:rPr lang="en-US" sz="1600" dirty="0">
                <a:latin typeface="Arial" charset="0"/>
              </a:rPr>
              <a:t>Platform abstraction</a:t>
            </a:r>
          </a:p>
          <a:p>
            <a:pPr marL="1147763" lvl="2" indent="-233363" algn="l" eaLnBrk="1" hangingPunct="1">
              <a:spcBef>
                <a:spcPct val="20000"/>
              </a:spcBef>
              <a:buClr>
                <a:schemeClr val="tx2"/>
              </a:buClr>
              <a:buFontTx/>
              <a:buChar char="•"/>
            </a:pPr>
            <a:r>
              <a:rPr lang="en-US" sz="1600" dirty="0">
                <a:latin typeface="Arial" charset="0"/>
              </a:rPr>
              <a:t>Presence awareness</a:t>
            </a:r>
          </a:p>
          <a:p>
            <a:pPr marL="1147763" lvl="2" indent="-233363" algn="l" eaLnBrk="1" hangingPunct="1">
              <a:spcBef>
                <a:spcPct val="20000"/>
              </a:spcBef>
              <a:buClr>
                <a:schemeClr val="tx2"/>
              </a:buClr>
              <a:buFontTx/>
              <a:buChar char="•"/>
            </a:pPr>
            <a:r>
              <a:rPr lang="en-US" sz="1600" dirty="0">
                <a:latin typeface="Arial" charset="0"/>
              </a:rPr>
              <a:t>Dynamic profiling </a:t>
            </a:r>
          </a:p>
        </p:txBody>
      </p:sp>
    </p:spTree>
  </p:cSld>
  <p:clrMapOvr>
    <a:masterClrMapping/>
  </p:clrMapOvr>
  <p:transition>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n-US" smtClean="0"/>
              <a:t>Types of Knowledge</a:t>
            </a:r>
          </a:p>
        </p:txBody>
      </p:sp>
      <p:sp>
        <p:nvSpPr>
          <p:cNvPr id="21508" name="Rectangle 3"/>
          <p:cNvSpPr>
            <a:spLocks noGrp="1" noChangeArrowheads="1"/>
          </p:cNvSpPr>
          <p:nvPr>
            <p:ph idx="1"/>
          </p:nvPr>
        </p:nvSpPr>
        <p:spPr>
          <a:xfrm>
            <a:off x="457200" y="1295400"/>
            <a:ext cx="4182035" cy="4830763"/>
          </a:xfrm>
        </p:spPr>
        <p:txBody>
          <a:bodyPr/>
          <a:lstStyle/>
          <a:p>
            <a:pPr eaLnBrk="1" hangingPunct="1"/>
            <a:r>
              <a:rPr lang="en-US" dirty="0" smtClean="0">
                <a:latin typeface="+mj-lt"/>
              </a:rPr>
              <a:t>Explicit:</a:t>
            </a:r>
          </a:p>
          <a:p>
            <a:pPr marL="742950" lvl="1" indent="-285750" eaLnBrk="1" hangingPunct="1"/>
            <a:r>
              <a:rPr lang="en-US" dirty="0" smtClean="0">
                <a:latin typeface="+mj-lt"/>
              </a:rPr>
              <a:t>Documents</a:t>
            </a:r>
          </a:p>
          <a:p>
            <a:pPr marL="742950" lvl="1" indent="-285750" eaLnBrk="1" hangingPunct="1"/>
            <a:r>
              <a:rPr lang="en-US" dirty="0" smtClean="0">
                <a:latin typeface="+mj-lt"/>
              </a:rPr>
              <a:t>Data</a:t>
            </a:r>
          </a:p>
          <a:p>
            <a:pPr marL="742950" lvl="1" indent="-285750" eaLnBrk="1" hangingPunct="1"/>
            <a:r>
              <a:rPr lang="en-US" dirty="0" smtClean="0">
                <a:latin typeface="+mj-lt"/>
              </a:rPr>
              <a:t>Publications</a:t>
            </a:r>
          </a:p>
          <a:p>
            <a:pPr marL="742950" lvl="1" indent="-285750" eaLnBrk="1" hangingPunct="1"/>
            <a:r>
              <a:rPr lang="en-US" dirty="0" smtClean="0">
                <a:latin typeface="+mj-lt"/>
              </a:rPr>
              <a:t>Reports</a:t>
            </a:r>
          </a:p>
          <a:p>
            <a:pPr marL="742950" lvl="1" indent="-285750" eaLnBrk="1" hangingPunct="1"/>
            <a:r>
              <a:rPr lang="en-US" dirty="0" smtClean="0">
                <a:latin typeface="+mj-lt"/>
              </a:rPr>
              <a:t>Collections</a:t>
            </a:r>
          </a:p>
          <a:p>
            <a:pPr eaLnBrk="1" hangingPunct="1">
              <a:buNone/>
            </a:pPr>
            <a:endParaRPr lang="en-US" sz="2800" b="1" i="1" dirty="0" smtClean="0">
              <a:solidFill>
                <a:srgbClr val="0000FF"/>
              </a:solidFill>
              <a:latin typeface="+mj-lt"/>
            </a:endParaRPr>
          </a:p>
          <a:p>
            <a:pPr eaLnBrk="1" hangingPunct="1">
              <a:buNone/>
            </a:pPr>
            <a:r>
              <a:rPr lang="en-US" sz="2800" b="1" i="1" dirty="0" smtClean="0">
                <a:solidFill>
                  <a:srgbClr val="0000FF"/>
                </a:solidFill>
                <a:latin typeface="+mj-lt"/>
              </a:rPr>
              <a:t>  More factual…</a:t>
            </a:r>
            <a:endParaRPr lang="en-US" sz="2800" b="1" i="1" dirty="0" smtClean="0">
              <a:solidFill>
                <a:srgbClr val="0000FF"/>
              </a:solidFill>
              <a:latin typeface="+mj-lt"/>
            </a:endParaRPr>
          </a:p>
        </p:txBody>
      </p:sp>
      <p:sp>
        <p:nvSpPr>
          <p:cNvPr id="4" name="Slide Number Placeholder 3"/>
          <p:cNvSpPr>
            <a:spLocks noGrp="1"/>
          </p:cNvSpPr>
          <p:nvPr>
            <p:ph type="sldNum" sz="quarter" idx="11"/>
          </p:nvPr>
        </p:nvSpPr>
        <p:spPr>
          <a:prstGeom prst="rect">
            <a:avLst/>
          </a:prstGeom>
        </p:spPr>
        <p:txBody>
          <a:bodyPr/>
          <a:lstStyle/>
          <a:p>
            <a:pPr>
              <a:defRPr/>
            </a:pPr>
            <a:fld id="{38404A11-3FA2-41EE-B8E2-4D040358DF00}" type="slidenum">
              <a:rPr lang="en-GB"/>
              <a:pPr>
                <a:defRPr/>
              </a:pPr>
              <a:t>17</a:t>
            </a:fld>
            <a:endParaRPr lang="en-GB"/>
          </a:p>
        </p:txBody>
      </p:sp>
      <p:sp>
        <p:nvSpPr>
          <p:cNvPr id="21510" name="Rectangle 3"/>
          <p:cNvSpPr>
            <a:spLocks noChangeArrowheads="1"/>
          </p:cNvSpPr>
          <p:nvPr/>
        </p:nvSpPr>
        <p:spPr bwMode="auto">
          <a:xfrm>
            <a:off x="4652682" y="1317812"/>
            <a:ext cx="4354793" cy="4827401"/>
          </a:xfrm>
          <a:prstGeom prst="rect">
            <a:avLst/>
          </a:prstGeom>
          <a:noFill/>
          <a:ln w="9525">
            <a:noFill/>
            <a:miter lim="800000"/>
            <a:headEnd/>
            <a:tailEnd/>
          </a:ln>
        </p:spPr>
        <p:txBody>
          <a:bodyPr lIns="0" tIns="0" rIns="0" bIns="0"/>
          <a:lstStyle/>
          <a:p>
            <a:pPr marL="234950" indent="-234950" algn="l" eaLnBrk="1" hangingPunct="1">
              <a:spcBef>
                <a:spcPct val="20000"/>
              </a:spcBef>
              <a:buClr>
                <a:schemeClr val="tx2"/>
              </a:buClr>
              <a:buFont typeface="Arial" pitchFamily="34" charset="0"/>
              <a:buChar char="•"/>
            </a:pPr>
            <a:r>
              <a:rPr lang="en-US" sz="3200" dirty="0">
                <a:latin typeface="+mj-lt"/>
              </a:rPr>
              <a:t>Implicit:</a:t>
            </a:r>
          </a:p>
          <a:p>
            <a:pPr marL="742950" lvl="1" indent="-285750" algn="l" eaLnBrk="1" hangingPunct="1">
              <a:spcBef>
                <a:spcPct val="20000"/>
              </a:spcBef>
              <a:buClr>
                <a:schemeClr val="tx2"/>
              </a:buClr>
              <a:buFontTx/>
              <a:buChar char="–"/>
            </a:pPr>
            <a:r>
              <a:rPr lang="en-US" sz="2800" dirty="0">
                <a:latin typeface="+mj-lt"/>
              </a:rPr>
              <a:t>Collaboration</a:t>
            </a:r>
          </a:p>
          <a:p>
            <a:pPr marL="742950" lvl="1" indent="-285750" algn="l" eaLnBrk="1" hangingPunct="1">
              <a:spcBef>
                <a:spcPct val="20000"/>
              </a:spcBef>
              <a:buClr>
                <a:schemeClr val="tx2"/>
              </a:buClr>
              <a:buFontTx/>
              <a:buChar char="–"/>
            </a:pPr>
            <a:r>
              <a:rPr lang="en-US" sz="2800" dirty="0">
                <a:latin typeface="+mj-lt"/>
              </a:rPr>
              <a:t>Inferential content</a:t>
            </a:r>
          </a:p>
          <a:p>
            <a:pPr marL="742950" lvl="1" indent="-285750" algn="l" eaLnBrk="1" hangingPunct="1">
              <a:spcBef>
                <a:spcPct val="20000"/>
              </a:spcBef>
              <a:buClr>
                <a:schemeClr val="tx2"/>
              </a:buClr>
              <a:buFontTx/>
              <a:buChar char="–"/>
            </a:pPr>
            <a:r>
              <a:rPr lang="en-US" sz="2800" dirty="0">
                <a:latin typeface="+mj-lt"/>
              </a:rPr>
              <a:t>Reports</a:t>
            </a:r>
          </a:p>
          <a:p>
            <a:pPr marL="742950" lvl="1" indent="-285750" algn="l" eaLnBrk="1" hangingPunct="1">
              <a:spcBef>
                <a:spcPct val="20000"/>
              </a:spcBef>
              <a:buClr>
                <a:schemeClr val="tx2"/>
              </a:buClr>
              <a:buFontTx/>
              <a:buChar char="–"/>
            </a:pPr>
            <a:r>
              <a:rPr lang="en-US" sz="2800" dirty="0">
                <a:latin typeface="+mj-lt"/>
              </a:rPr>
              <a:t>Judgment</a:t>
            </a:r>
          </a:p>
          <a:p>
            <a:pPr marL="742950" lvl="1" indent="-285750" algn="l" eaLnBrk="1" hangingPunct="1">
              <a:spcBef>
                <a:spcPct val="20000"/>
              </a:spcBef>
              <a:buClr>
                <a:schemeClr val="tx2"/>
              </a:buClr>
              <a:buFontTx/>
              <a:buChar char="–"/>
            </a:pPr>
            <a:r>
              <a:rPr lang="en-US" sz="2800" dirty="0">
                <a:latin typeface="+mj-lt"/>
              </a:rPr>
              <a:t>Heuristics</a:t>
            </a:r>
            <a:endParaRPr lang="en-US" dirty="0">
              <a:latin typeface="+mj-lt"/>
            </a:endParaRPr>
          </a:p>
          <a:p>
            <a:pPr marL="742950" lvl="1" indent="-285750" algn="l" eaLnBrk="1" hangingPunct="1">
              <a:spcBef>
                <a:spcPct val="20000"/>
              </a:spcBef>
              <a:buClr>
                <a:schemeClr val="tx2"/>
              </a:buClr>
              <a:buFontTx/>
              <a:buChar char="–"/>
            </a:pPr>
            <a:endParaRPr lang="en-US" sz="3200" dirty="0">
              <a:latin typeface="+mj-lt"/>
            </a:endParaRPr>
          </a:p>
          <a:p>
            <a:pPr marL="234950" indent="-234950" algn="l" eaLnBrk="1" hangingPunct="1">
              <a:spcBef>
                <a:spcPct val="20000"/>
              </a:spcBef>
              <a:buClr>
                <a:schemeClr val="tx2"/>
              </a:buClr>
            </a:pPr>
            <a:r>
              <a:rPr lang="en-US" b="1" i="1" dirty="0">
                <a:solidFill>
                  <a:srgbClr val="0000FF"/>
                </a:solidFill>
                <a:latin typeface="+mj-lt"/>
              </a:rPr>
              <a:t> </a:t>
            </a:r>
            <a:r>
              <a:rPr lang="en-US" b="1" i="1" dirty="0" smtClean="0">
                <a:solidFill>
                  <a:srgbClr val="0000FF"/>
                </a:solidFill>
                <a:latin typeface="+mj-lt"/>
              </a:rPr>
              <a:t>   </a:t>
            </a:r>
            <a:r>
              <a:rPr lang="en-US" sz="2800" b="1" i="1" dirty="0" smtClean="0">
                <a:solidFill>
                  <a:srgbClr val="0000FF"/>
                </a:solidFill>
                <a:latin typeface="+mj-lt"/>
              </a:rPr>
              <a:t>More perceptual…</a:t>
            </a:r>
            <a:endParaRPr lang="en-US" sz="2800" b="1" i="1" dirty="0">
              <a:solidFill>
                <a:srgbClr val="0000FF"/>
              </a:solidFill>
              <a:latin typeface="+mj-lt"/>
            </a:endParaRPr>
          </a:p>
        </p:txBody>
      </p:sp>
    </p:spTree>
  </p:cSld>
  <p:clrMapOvr>
    <a:masterClrMapping/>
  </p:clrMapOvr>
  <p:transition>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eaLnBrk="1" hangingPunct="1"/>
            <a:r>
              <a:rPr lang="en-US" smtClean="0"/>
              <a:t>Decomposition of Services Layer </a:t>
            </a:r>
          </a:p>
        </p:txBody>
      </p:sp>
      <p:sp>
        <p:nvSpPr>
          <p:cNvPr id="25604" name="Rectangle 7"/>
          <p:cNvSpPr>
            <a:spLocks noGrp="1" noChangeArrowheads="1"/>
          </p:cNvSpPr>
          <p:nvPr>
            <p:ph idx="1"/>
          </p:nvPr>
        </p:nvSpPr>
        <p:spPr>
          <a:noFill/>
        </p:spPr>
        <p:txBody>
          <a:bodyPr/>
          <a:lstStyle/>
          <a:p>
            <a:pPr eaLnBrk="1" hangingPunct="1"/>
            <a:r>
              <a:rPr lang="en-US" sz="2400" dirty="0" smtClean="0"/>
              <a:t>Content Integration Services</a:t>
            </a:r>
          </a:p>
          <a:p>
            <a:pPr lvl="1" eaLnBrk="1" hangingPunct="1"/>
            <a:r>
              <a:rPr lang="en-US" sz="2000" dirty="0" smtClean="0"/>
              <a:t>Metadata harvest, rationalization and harmonization</a:t>
            </a:r>
          </a:p>
          <a:p>
            <a:pPr lvl="1" eaLnBrk="1" hangingPunct="1"/>
            <a:r>
              <a:rPr lang="en-US" sz="2000" dirty="0" smtClean="0"/>
              <a:t>Access to metadata entries, content maps and content</a:t>
            </a:r>
          </a:p>
          <a:p>
            <a:pPr eaLnBrk="1" hangingPunct="1"/>
            <a:endParaRPr lang="en-US" sz="2400" dirty="0" smtClean="0"/>
          </a:p>
          <a:p>
            <a:pPr eaLnBrk="1" hangingPunct="1"/>
            <a:r>
              <a:rPr lang="en-US" sz="2400" dirty="0" smtClean="0"/>
              <a:t>Repository Services</a:t>
            </a:r>
          </a:p>
          <a:p>
            <a:pPr lvl="1" eaLnBrk="1" hangingPunct="1"/>
            <a:r>
              <a:rPr lang="en-US" sz="2000" dirty="0" smtClean="0"/>
              <a:t>Defined storage strategy for content over time</a:t>
            </a:r>
          </a:p>
          <a:p>
            <a:pPr lvl="1" eaLnBrk="1" hangingPunct="1"/>
            <a:r>
              <a:rPr lang="en-US" sz="2000" dirty="0" smtClean="0"/>
              <a:t>High performance, accessible and scalable metadata and content stores</a:t>
            </a:r>
          </a:p>
          <a:p>
            <a:pPr eaLnBrk="1" hangingPunct="1"/>
            <a:endParaRPr lang="en-US" sz="2400" dirty="0" smtClean="0"/>
          </a:p>
          <a:p>
            <a:pPr eaLnBrk="1" hangingPunct="1"/>
            <a:r>
              <a:rPr lang="en-US" sz="2400" dirty="0" smtClean="0"/>
              <a:t>Content Access Services</a:t>
            </a:r>
          </a:p>
          <a:p>
            <a:pPr lvl="1" eaLnBrk="1" hangingPunct="1"/>
            <a:r>
              <a:rPr lang="en-US" sz="2000" dirty="0" smtClean="0"/>
              <a:t>Enterprise-wide search and retrieval</a:t>
            </a:r>
          </a:p>
          <a:p>
            <a:pPr lvl="1" eaLnBrk="1" hangingPunct="1"/>
            <a:r>
              <a:rPr lang="en-US" sz="2000" dirty="0" smtClean="0"/>
              <a:t>Access control for all healthcare records </a:t>
            </a:r>
          </a:p>
          <a:p>
            <a:pPr lvl="1" eaLnBrk="1" hangingPunct="1"/>
            <a:r>
              <a:rPr lang="en-US" sz="2000" dirty="0" smtClean="0"/>
              <a:t>Syndication of content to appropriate institutions</a:t>
            </a:r>
          </a:p>
        </p:txBody>
      </p:sp>
      <p:sp>
        <p:nvSpPr>
          <p:cNvPr id="4" name="Slide Number Placeholder 3"/>
          <p:cNvSpPr>
            <a:spLocks noGrp="1"/>
          </p:cNvSpPr>
          <p:nvPr>
            <p:ph type="sldNum" sz="quarter" idx="11"/>
          </p:nvPr>
        </p:nvSpPr>
        <p:spPr>
          <a:prstGeom prst="rect">
            <a:avLst/>
          </a:prstGeom>
        </p:spPr>
        <p:txBody>
          <a:bodyPr/>
          <a:lstStyle/>
          <a:p>
            <a:pPr>
              <a:defRPr/>
            </a:pPr>
            <a:fld id="{555DDF99-C733-40E9-96D0-777EEF55F49D}" type="slidenum">
              <a:rPr lang="en-GB"/>
              <a:pPr>
                <a:defRPr/>
              </a:pPr>
              <a:t>18</a:t>
            </a:fld>
            <a:endParaRPr lang="en-GB"/>
          </a:p>
        </p:txBody>
      </p:sp>
    </p:spTree>
  </p:cSld>
  <p:clrMapOvr>
    <a:masterClrMapping/>
  </p:clrMapOvr>
  <p:transition>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en-US" smtClean="0"/>
              <a:t>Basic Functional Components for Goals </a:t>
            </a:r>
          </a:p>
        </p:txBody>
      </p:sp>
      <p:sp>
        <p:nvSpPr>
          <p:cNvPr id="26628" name="Rectangle 3"/>
          <p:cNvSpPr>
            <a:spLocks noGrp="1" noChangeArrowheads="1"/>
          </p:cNvSpPr>
          <p:nvPr>
            <p:ph idx="1"/>
          </p:nvPr>
        </p:nvSpPr>
        <p:spPr>
          <a:noFill/>
        </p:spPr>
        <p:txBody>
          <a:bodyPr/>
          <a:lstStyle/>
          <a:p>
            <a:pPr eaLnBrk="1" hangingPunct="1"/>
            <a:r>
              <a:rPr lang="en-US" sz="2400" dirty="0" smtClean="0"/>
              <a:t>Presentation Management Services</a:t>
            </a:r>
          </a:p>
          <a:p>
            <a:pPr lvl="1" eaLnBrk="1" hangingPunct="1"/>
            <a:r>
              <a:rPr lang="en-US" sz="2000" dirty="0" smtClean="0"/>
              <a:t>Access to knowledge capture / sharing is integrated into existing applications via event-driven agents (triggered by buttons and/or actions w/in existing systems / interfaces)</a:t>
            </a:r>
          </a:p>
          <a:p>
            <a:pPr eaLnBrk="1" hangingPunct="1"/>
            <a:endParaRPr lang="en-US" sz="1600" dirty="0" smtClean="0"/>
          </a:p>
          <a:p>
            <a:pPr eaLnBrk="1" hangingPunct="1"/>
            <a:r>
              <a:rPr lang="en-US" sz="2400" dirty="0" smtClean="0"/>
              <a:t>Content Management Services</a:t>
            </a:r>
          </a:p>
          <a:p>
            <a:pPr lvl="1" eaLnBrk="1" hangingPunct="1"/>
            <a:r>
              <a:rPr lang="en-US" sz="2000" dirty="0" smtClean="0"/>
              <a:t>Content management function oriented services </a:t>
            </a:r>
            <a:r>
              <a:rPr lang="en-US" sz="2000" dirty="0" smtClean="0">
                <a:latin typeface="Tahoma" pitchFamily="34" charset="0"/>
              </a:rPr>
              <a:t>–</a:t>
            </a:r>
            <a:r>
              <a:rPr lang="en-US" sz="2000" dirty="0" smtClean="0"/>
              <a:t> versioning, check-in/check-out, collaboration, work flow</a:t>
            </a:r>
          </a:p>
          <a:p>
            <a:pPr eaLnBrk="1" hangingPunct="1"/>
            <a:endParaRPr lang="en-US" sz="1600" dirty="0" smtClean="0"/>
          </a:p>
          <a:p>
            <a:pPr eaLnBrk="1" hangingPunct="1"/>
            <a:r>
              <a:rPr lang="en-US" sz="2400" dirty="0" smtClean="0"/>
              <a:t>Metadata Management and Security services</a:t>
            </a:r>
          </a:p>
          <a:p>
            <a:pPr lvl="1" eaLnBrk="1" hangingPunct="1"/>
            <a:r>
              <a:rPr lang="en-US" sz="2000" dirty="0" smtClean="0"/>
              <a:t>Services managing reference data, data dictionaries, taxonomies, thesaurus, business rules (access, security, disposition) which cut across all services</a:t>
            </a:r>
          </a:p>
        </p:txBody>
      </p:sp>
      <p:sp>
        <p:nvSpPr>
          <p:cNvPr id="4" name="Slide Number Placeholder 3"/>
          <p:cNvSpPr>
            <a:spLocks noGrp="1"/>
          </p:cNvSpPr>
          <p:nvPr>
            <p:ph type="sldNum" sz="quarter" idx="11"/>
          </p:nvPr>
        </p:nvSpPr>
        <p:spPr>
          <a:prstGeom prst="rect">
            <a:avLst/>
          </a:prstGeom>
        </p:spPr>
        <p:txBody>
          <a:bodyPr/>
          <a:lstStyle/>
          <a:p>
            <a:pPr>
              <a:defRPr/>
            </a:pPr>
            <a:fld id="{4565B5DA-DEC1-441F-91E6-D2227A09763C}" type="slidenum">
              <a:rPr lang="en-GB"/>
              <a:pPr>
                <a:defRPr/>
              </a:pPr>
              <a:t>19</a:t>
            </a:fld>
            <a:endParaRPr lang="en-GB"/>
          </a:p>
        </p:txBody>
      </p:sp>
    </p:spTree>
  </p:cSld>
  <p:clrMapOvr>
    <a:masterClrMapping/>
  </p:clrMapOvr>
  <p:transition>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smtClean="0"/>
              <a:t>Suggested Metadata Principles</a:t>
            </a:r>
          </a:p>
        </p:txBody>
      </p:sp>
      <p:sp>
        <p:nvSpPr>
          <p:cNvPr id="88067" name="Rectangle 3"/>
          <p:cNvSpPr>
            <a:spLocks noGrp="1" noChangeArrowheads="1"/>
          </p:cNvSpPr>
          <p:nvPr>
            <p:ph idx="1"/>
          </p:nvPr>
        </p:nvSpPr>
        <p:spPr/>
        <p:txBody>
          <a:bodyPr/>
          <a:lstStyle/>
          <a:p>
            <a:pPr>
              <a:lnSpc>
                <a:spcPct val="80000"/>
              </a:lnSpc>
            </a:pPr>
            <a:r>
              <a:rPr lang="en-US" sz="2000" smtClean="0"/>
              <a:t>Assume we will not change the current business systems </a:t>
            </a:r>
          </a:p>
          <a:p>
            <a:pPr>
              <a:lnSpc>
                <a:spcPct val="80000"/>
              </a:lnSpc>
            </a:pPr>
            <a:endParaRPr lang="en-US" sz="2000" smtClean="0"/>
          </a:p>
          <a:p>
            <a:pPr>
              <a:lnSpc>
                <a:spcPct val="80000"/>
              </a:lnSpc>
            </a:pPr>
            <a:r>
              <a:rPr lang="en-US" sz="2000" smtClean="0"/>
              <a:t>Challenge here is to manage complexity, maintain source systems, respect content security &amp; still meet users expectations</a:t>
            </a:r>
          </a:p>
          <a:p>
            <a:pPr>
              <a:lnSpc>
                <a:spcPct val="80000"/>
              </a:lnSpc>
            </a:pPr>
            <a:endParaRPr lang="en-US" sz="2000" smtClean="0"/>
          </a:p>
          <a:p>
            <a:pPr>
              <a:lnSpc>
                <a:spcPct val="80000"/>
              </a:lnSpc>
            </a:pPr>
            <a:r>
              <a:rPr lang="en-US" sz="2000" smtClean="0"/>
              <a:t>Support integrated use by creating a warehouse of metadata pertinent to access, search, syndication, use management, knowledge mgmt compliance and learning</a:t>
            </a:r>
          </a:p>
          <a:p>
            <a:pPr>
              <a:lnSpc>
                <a:spcPct val="80000"/>
              </a:lnSpc>
            </a:pPr>
            <a:endParaRPr lang="en-US" sz="2000" smtClean="0"/>
          </a:p>
          <a:p>
            <a:pPr>
              <a:lnSpc>
                <a:spcPct val="80000"/>
              </a:lnSpc>
            </a:pPr>
            <a:r>
              <a:rPr lang="en-US" sz="2000" smtClean="0"/>
              <a:t>Define metadata attribute super classes to which existing business system metadata are mapped</a:t>
            </a:r>
          </a:p>
          <a:p>
            <a:pPr>
              <a:lnSpc>
                <a:spcPct val="80000"/>
              </a:lnSpc>
            </a:pPr>
            <a:endParaRPr lang="en-US" sz="2000" smtClean="0"/>
          </a:p>
          <a:p>
            <a:pPr>
              <a:lnSpc>
                <a:spcPct val="80000"/>
              </a:lnSpc>
            </a:pPr>
            <a:r>
              <a:rPr lang="en-US" sz="2000" smtClean="0"/>
              <a:t>Attributes may be rationalized, harmonized or value-controlled within super classes</a:t>
            </a:r>
          </a:p>
          <a:p>
            <a:pPr>
              <a:lnSpc>
                <a:spcPct val="80000"/>
              </a:lnSpc>
              <a:buFont typeface="Wingdings" pitchFamily="2" charset="2"/>
              <a:buNone/>
            </a:pPr>
            <a:endParaRPr lang="en-US" sz="2000" smtClean="0"/>
          </a:p>
        </p:txBody>
      </p:sp>
    </p:spTree>
  </p:cSld>
  <p:clrMapOvr>
    <a:masterClrMapping/>
  </p:clrMapOvr>
  <p:transition>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smtClean="0"/>
              <a:t>Complexity suggests need for automation</a:t>
            </a:r>
          </a:p>
        </p:txBody>
      </p:sp>
      <p:sp>
        <p:nvSpPr>
          <p:cNvPr id="89091" name="Rectangle 3"/>
          <p:cNvSpPr>
            <a:spLocks noGrp="1" noChangeArrowheads="1"/>
          </p:cNvSpPr>
          <p:nvPr>
            <p:ph idx="1"/>
          </p:nvPr>
        </p:nvSpPr>
        <p:spPr/>
        <p:txBody>
          <a:bodyPr/>
          <a:lstStyle/>
          <a:p>
            <a:pPr>
              <a:lnSpc>
                <a:spcPct val="90000"/>
              </a:lnSpc>
            </a:pPr>
            <a:r>
              <a:rPr lang="en-US" sz="2000" smtClean="0"/>
              <a:t>Challenge to meet the scalability required using only human capture approach for tens &amp; hundreds of thousands of content objects</a:t>
            </a:r>
          </a:p>
          <a:p>
            <a:pPr>
              <a:lnSpc>
                <a:spcPct val="90000"/>
              </a:lnSpc>
            </a:pPr>
            <a:endParaRPr lang="en-US" sz="2000" smtClean="0"/>
          </a:p>
          <a:p>
            <a:pPr>
              <a:lnSpc>
                <a:spcPct val="90000"/>
              </a:lnSpc>
            </a:pPr>
            <a:r>
              <a:rPr lang="en-US" sz="2000" smtClean="0"/>
              <a:t>Quality of metadata impacts quality of access – when we ask untrained catalogers to capture metadata quality suffers</a:t>
            </a:r>
          </a:p>
          <a:p>
            <a:pPr>
              <a:lnSpc>
                <a:spcPct val="90000"/>
              </a:lnSpc>
            </a:pPr>
            <a:endParaRPr lang="en-US" sz="2000" smtClean="0"/>
          </a:p>
          <a:p>
            <a:pPr>
              <a:lnSpc>
                <a:spcPct val="90000"/>
              </a:lnSpc>
            </a:pPr>
            <a:r>
              <a:rPr lang="en-US" sz="2000" smtClean="0"/>
              <a:t>Quantity of metadata needs to increase in order to support better access – three keywords not sufficient to support granular access, now we need to have 12 to 30 to describe an object</a:t>
            </a:r>
          </a:p>
          <a:p>
            <a:pPr>
              <a:lnSpc>
                <a:spcPct val="90000"/>
              </a:lnSpc>
            </a:pPr>
            <a:endParaRPr lang="en-US" sz="2000" smtClean="0"/>
          </a:p>
          <a:p>
            <a:pPr>
              <a:lnSpc>
                <a:spcPct val="90000"/>
              </a:lnSpc>
            </a:pPr>
            <a:r>
              <a:rPr lang="en-US" sz="2000" smtClean="0"/>
              <a:t>Consistency of metadata is better achieved programmatically with catalogers putting their expertise into high quality, full elaborated reference sources</a:t>
            </a:r>
          </a:p>
        </p:txBody>
      </p:sp>
    </p:spTree>
  </p:cSld>
  <p:clrMapOvr>
    <a:masterClrMapping/>
  </p:clrMapOvr>
  <p:transition>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4822" name="Rectangle 3"/>
          <p:cNvSpPr>
            <a:spLocks noChangeArrowheads="1"/>
          </p:cNvSpPr>
          <p:nvPr/>
        </p:nvSpPr>
        <p:spPr bwMode="auto">
          <a:xfrm>
            <a:off x="490538" y="1282700"/>
            <a:ext cx="2587625" cy="4310063"/>
          </a:xfrm>
          <a:prstGeom prst="rect">
            <a:avLst/>
          </a:prstGeom>
          <a:noFill/>
          <a:ln w="9525">
            <a:noFill/>
            <a:miter lim="800000"/>
            <a:headEnd/>
            <a:tailEnd/>
          </a:ln>
        </p:spPr>
        <p:txBody>
          <a:bodyPr lIns="0" tIns="0" rIns="0" bIns="0"/>
          <a:lstStyle/>
          <a:p>
            <a:pPr marL="234950" indent="-234950" algn="l" eaLnBrk="1" hangingPunct="1">
              <a:lnSpc>
                <a:spcPct val="90000"/>
              </a:lnSpc>
              <a:spcBef>
                <a:spcPct val="20000"/>
              </a:spcBef>
              <a:buClr>
                <a:schemeClr val="tx2"/>
              </a:buClr>
              <a:buFont typeface="Wingdings" pitchFamily="2" charset="2"/>
              <a:buChar char="§"/>
            </a:pPr>
            <a:r>
              <a:rPr lang="en-US" sz="2000">
                <a:latin typeface="Verdana" pitchFamily="34" charset="0"/>
              </a:rPr>
              <a:t>All other taxonomies could be derived from this nucleus of metadata classes</a:t>
            </a:r>
          </a:p>
        </p:txBody>
      </p:sp>
      <p:sp>
        <p:nvSpPr>
          <p:cNvPr id="5" name="Title 4"/>
          <p:cNvSpPr>
            <a:spLocks noGrp="1"/>
          </p:cNvSpPr>
          <p:nvPr>
            <p:ph type="title"/>
          </p:nvPr>
        </p:nvSpPr>
        <p:spPr/>
        <p:txBody>
          <a:bodyPr/>
          <a:lstStyle/>
          <a:p>
            <a:r>
              <a:rPr lang="en-US" dirty="0" smtClean="0"/>
              <a:t>Core Taxonomy hierarchies for </a:t>
            </a:r>
            <a:r>
              <a:rPr lang="en-US" dirty="0" smtClean="0"/>
              <a:t>Metadata</a:t>
            </a:r>
            <a:endParaRPr lang="en-US" dirty="0"/>
          </a:p>
        </p:txBody>
      </p:sp>
    </p:spTree>
  </p:cSld>
  <p:clrMapOvr>
    <a:masterClrMapping/>
  </p:clrMapOvr>
  <p:transition spd="slow" advTm="19000">
    <p:cu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en-US" sz="2400" dirty="0" smtClean="0">
                <a:latin typeface="Verdana" pitchFamily="34" charset="0"/>
              </a:rPr>
              <a:t>Building </a:t>
            </a:r>
            <a:r>
              <a:rPr lang="en-US" sz="2400" dirty="0" smtClean="0">
                <a:latin typeface="Verdana" pitchFamily="34" charset="0"/>
              </a:rPr>
              <a:t>the </a:t>
            </a:r>
            <a:r>
              <a:rPr lang="en-US" sz="2400" dirty="0" smtClean="0">
                <a:latin typeface="Verdana" pitchFamily="34" charset="0"/>
              </a:rPr>
              <a:t>Metadata Model</a:t>
            </a:r>
          </a:p>
        </p:txBody>
      </p:sp>
      <p:sp>
        <p:nvSpPr>
          <p:cNvPr id="31748" name="Rectangle 3"/>
          <p:cNvSpPr>
            <a:spLocks noGrp="1" noChangeArrowheads="1"/>
          </p:cNvSpPr>
          <p:nvPr>
            <p:ph idx="1"/>
          </p:nvPr>
        </p:nvSpPr>
        <p:spPr/>
        <p:txBody>
          <a:bodyPr/>
          <a:lstStyle/>
          <a:p>
            <a:pPr eaLnBrk="1" hangingPunct="1">
              <a:lnSpc>
                <a:spcPct val="90000"/>
              </a:lnSpc>
            </a:pPr>
            <a:r>
              <a:rPr lang="en-US" sz="2000" dirty="0" smtClean="0">
                <a:latin typeface="Verdana" pitchFamily="34" charset="0"/>
              </a:rPr>
              <a:t>There are different types of taxonomies that we’ll use to build our metadata repository, where each one serves a different purpose:</a:t>
            </a:r>
          </a:p>
          <a:p>
            <a:pPr lvl="1" eaLnBrk="1" hangingPunct="1">
              <a:lnSpc>
                <a:spcPct val="90000"/>
              </a:lnSpc>
            </a:pPr>
            <a:endParaRPr lang="en-US" sz="1900" dirty="0" smtClean="0">
              <a:latin typeface="Verdana" pitchFamily="34" charset="0"/>
            </a:endParaRPr>
          </a:p>
          <a:p>
            <a:pPr lvl="1" eaLnBrk="1" hangingPunct="1">
              <a:lnSpc>
                <a:spcPct val="90000"/>
              </a:lnSpc>
            </a:pPr>
            <a:r>
              <a:rPr lang="en-US" sz="1900" dirty="0" smtClean="0">
                <a:latin typeface="Verdana" pitchFamily="34" charset="0"/>
              </a:rPr>
              <a:t>Enterprise Topic Classification Scheme – hierarchical taxonomy</a:t>
            </a:r>
          </a:p>
          <a:p>
            <a:pPr lvl="1" eaLnBrk="1" hangingPunct="1">
              <a:lnSpc>
                <a:spcPct val="90000"/>
              </a:lnSpc>
            </a:pPr>
            <a:r>
              <a:rPr lang="en-US" sz="1900" dirty="0" smtClean="0">
                <a:latin typeface="Verdana" pitchFamily="34" charset="0"/>
              </a:rPr>
              <a:t>Multi-lingual Thesaurus – English, French, Spanish – network taxonomy</a:t>
            </a:r>
          </a:p>
          <a:p>
            <a:pPr lvl="1" eaLnBrk="1" hangingPunct="1">
              <a:lnSpc>
                <a:spcPct val="90000"/>
              </a:lnSpc>
            </a:pPr>
            <a:r>
              <a:rPr lang="en-US" sz="1900" dirty="0" smtClean="0">
                <a:latin typeface="Verdana" pitchFamily="34" charset="0"/>
              </a:rPr>
              <a:t>Metadata Attribute Detailed Specifications – faceted taxonomy</a:t>
            </a:r>
          </a:p>
          <a:p>
            <a:pPr lvl="1" eaLnBrk="1" hangingPunct="1">
              <a:lnSpc>
                <a:spcPct val="90000"/>
              </a:lnSpc>
            </a:pPr>
            <a:r>
              <a:rPr lang="en-US" sz="1900" dirty="0" smtClean="0">
                <a:latin typeface="Verdana" pitchFamily="34" charset="0"/>
              </a:rPr>
              <a:t>Content Type Classification Scheme – hierarchical taxonomy</a:t>
            </a:r>
          </a:p>
          <a:p>
            <a:pPr lvl="1" eaLnBrk="1" hangingPunct="1">
              <a:lnSpc>
                <a:spcPct val="90000"/>
              </a:lnSpc>
            </a:pPr>
            <a:r>
              <a:rPr lang="en-US" sz="1900" dirty="0" smtClean="0">
                <a:latin typeface="Verdana" pitchFamily="34" charset="0"/>
              </a:rPr>
              <a:t>Transformation Rules – faceted taxonomy</a:t>
            </a:r>
          </a:p>
        </p:txBody>
      </p:sp>
      <p:sp>
        <p:nvSpPr>
          <p:cNvPr id="4" name="Slide Number Placeholder 3"/>
          <p:cNvSpPr>
            <a:spLocks noGrp="1"/>
          </p:cNvSpPr>
          <p:nvPr>
            <p:ph type="sldNum" sz="quarter" idx="11"/>
          </p:nvPr>
        </p:nvSpPr>
        <p:spPr>
          <a:prstGeom prst="rect">
            <a:avLst/>
          </a:prstGeom>
        </p:spPr>
        <p:txBody>
          <a:bodyPr/>
          <a:lstStyle/>
          <a:p>
            <a:pPr>
              <a:defRPr/>
            </a:pPr>
            <a:fld id="{015B7200-59DC-4B5D-B558-6B6A4A739BC1}" type="slidenum">
              <a:rPr lang="en-GB"/>
              <a:pPr>
                <a:defRPr/>
              </a:pPr>
              <a:t>23</a:t>
            </a:fld>
            <a:endParaRPr lang="en-GB"/>
          </a:p>
        </p:txBody>
      </p:sp>
    </p:spTree>
  </p:cSld>
  <p:clrMapOvr>
    <a:masterClrMapping/>
  </p:clrMapOvr>
  <p:transition advTm="38000">
    <p:randomBar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txBox="1">
            <a:spLocks noGrp="1"/>
          </p:cNvSpPr>
          <p:nvPr/>
        </p:nvSpPr>
        <p:spPr bwMode="auto">
          <a:xfrm>
            <a:off x="107950" y="6475413"/>
            <a:ext cx="304800" cy="207962"/>
          </a:xfrm>
          <a:prstGeom prst="rect">
            <a:avLst/>
          </a:prstGeom>
          <a:noFill/>
          <a:ln>
            <a:miter lim="800000"/>
            <a:headEnd/>
            <a:tailEnd/>
          </a:ln>
        </p:spPr>
        <p:txBody>
          <a:bodyPr wrap="none" lIns="0" tIns="0" rIns="0" bIns="0" anchor="ctr"/>
          <a:lstStyle/>
          <a:p>
            <a:pPr>
              <a:lnSpc>
                <a:spcPct val="90000"/>
              </a:lnSpc>
              <a:defRPr/>
            </a:pPr>
            <a:fld id="{248D4D6D-4CAA-4293-B0AB-79BFF3FD80A6}" type="slidenum">
              <a:rPr lang="en-GB" sz="1100">
                <a:solidFill>
                  <a:schemeClr val="bg1"/>
                </a:solidFill>
                <a:latin typeface="+mn-lt"/>
              </a:rPr>
              <a:pPr>
                <a:lnSpc>
                  <a:spcPct val="90000"/>
                </a:lnSpc>
                <a:defRPr/>
              </a:pPr>
              <a:t>24</a:t>
            </a:fld>
            <a:endParaRPr lang="en-GB" sz="1100">
              <a:solidFill>
                <a:schemeClr val="bg1"/>
              </a:solidFill>
              <a:latin typeface="+mn-lt"/>
            </a:endParaRPr>
          </a:p>
        </p:txBody>
      </p:sp>
      <p:sp>
        <p:nvSpPr>
          <p:cNvPr id="5" name="Title 4"/>
          <p:cNvSpPr>
            <a:spLocks noGrp="1"/>
          </p:cNvSpPr>
          <p:nvPr>
            <p:ph type="title"/>
          </p:nvPr>
        </p:nvSpPr>
        <p:spPr/>
        <p:txBody>
          <a:bodyPr/>
          <a:lstStyle/>
          <a:p>
            <a:r>
              <a:rPr lang="en-US" dirty="0" smtClean="0"/>
              <a:t>Building a Metadata Model</a:t>
            </a:r>
            <a:endParaRPr lang="en-US" dirty="0"/>
          </a:p>
        </p:txBody>
      </p:sp>
      <p:sp>
        <p:nvSpPr>
          <p:cNvPr id="178179" name="Rectangle 3"/>
          <p:cNvSpPr>
            <a:spLocks noGrp="1" noChangeArrowheads="1"/>
          </p:cNvSpPr>
          <p:nvPr>
            <p:ph idx="1"/>
          </p:nvPr>
        </p:nvSpPr>
        <p:spPr>
          <a:noFill/>
        </p:spPr>
        <p:txBody>
          <a:bodyPr lIns="90488" tIns="44450" rIns="90488" bIns="44450"/>
          <a:lstStyle/>
          <a:p>
            <a:pPr eaLnBrk="1" hangingPunct="1"/>
            <a:r>
              <a:rPr lang="en-US" sz="2000" smtClean="0">
                <a:latin typeface="Verdana" pitchFamily="34" charset="0"/>
              </a:rPr>
              <a:t>Next, we’ll define the faceted (star schema) taxonomies. A faceted taxonomy has the following characteristics:</a:t>
            </a:r>
          </a:p>
          <a:p>
            <a:pPr lvl="1" eaLnBrk="1" hangingPunct="1"/>
            <a:endParaRPr lang="en-US" sz="2000" smtClean="0">
              <a:latin typeface="Verdana" pitchFamily="34" charset="0"/>
            </a:endParaRPr>
          </a:p>
          <a:p>
            <a:pPr lvl="1"/>
            <a:r>
              <a:rPr lang="en-US" sz="1900" smtClean="0">
                <a:latin typeface="Verdana" pitchFamily="34" charset="0"/>
              </a:rPr>
              <a:t>Facets can describe a property or value </a:t>
            </a:r>
          </a:p>
          <a:p>
            <a:pPr lvl="1"/>
            <a:r>
              <a:rPr lang="en-US" sz="1900" smtClean="0">
                <a:latin typeface="Verdana" pitchFamily="34" charset="0"/>
              </a:rPr>
              <a:t>Facets can represent different views or aspects of a single topic </a:t>
            </a:r>
          </a:p>
          <a:p>
            <a:pPr lvl="1"/>
            <a:r>
              <a:rPr lang="en-US" sz="1900" smtClean="0">
                <a:latin typeface="Verdana" pitchFamily="34" charset="0"/>
              </a:rPr>
              <a:t>The contents of each attribute may have other kinds of taxonomies associated with them</a:t>
            </a:r>
          </a:p>
          <a:p>
            <a:pPr lvl="1"/>
            <a:r>
              <a:rPr lang="en-US" sz="1900" smtClean="0">
                <a:latin typeface="Verdana" pitchFamily="34" charset="0"/>
              </a:rPr>
              <a:t>Facets are attributes - their values are called facet values  </a:t>
            </a:r>
          </a:p>
          <a:p>
            <a:pPr lvl="1"/>
            <a:r>
              <a:rPr lang="en-US" sz="1900" smtClean="0">
                <a:latin typeface="Verdana" pitchFamily="34" charset="0"/>
              </a:rPr>
              <a:t>Meaning in the structure derives from the association of the categories to the object or primary topic</a:t>
            </a:r>
          </a:p>
        </p:txBody>
      </p:sp>
    </p:spTree>
  </p:cSld>
  <p:clrMapOvr>
    <a:masterClrMapping/>
  </p:clrMapOvr>
  <p:transition advTm="108000">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txBox="1">
            <a:spLocks noGrp="1"/>
          </p:cNvSpPr>
          <p:nvPr/>
        </p:nvSpPr>
        <p:spPr bwMode="auto">
          <a:xfrm>
            <a:off x="107950" y="6475413"/>
            <a:ext cx="304800" cy="207962"/>
          </a:xfrm>
          <a:prstGeom prst="rect">
            <a:avLst/>
          </a:prstGeom>
          <a:noFill/>
          <a:ln>
            <a:miter lim="800000"/>
            <a:headEnd/>
            <a:tailEnd/>
          </a:ln>
        </p:spPr>
        <p:txBody>
          <a:bodyPr wrap="none" lIns="0" tIns="0" rIns="0" bIns="0" anchor="ctr"/>
          <a:lstStyle/>
          <a:p>
            <a:pPr>
              <a:lnSpc>
                <a:spcPct val="90000"/>
              </a:lnSpc>
              <a:defRPr/>
            </a:pPr>
            <a:fld id="{18645B3B-54EE-40FB-8482-721FE718A795}" type="slidenum">
              <a:rPr lang="en-GB" sz="1100">
                <a:solidFill>
                  <a:schemeClr val="bg1"/>
                </a:solidFill>
                <a:latin typeface="+mn-lt"/>
              </a:rPr>
              <a:pPr>
                <a:lnSpc>
                  <a:spcPct val="90000"/>
                </a:lnSpc>
                <a:defRPr/>
              </a:pPr>
              <a:t>25</a:t>
            </a:fld>
            <a:endParaRPr lang="en-GB" sz="1100">
              <a:solidFill>
                <a:schemeClr val="bg1"/>
              </a:solidFill>
              <a:latin typeface="+mn-lt"/>
            </a:endParaRPr>
          </a:p>
        </p:txBody>
      </p:sp>
      <p:sp>
        <p:nvSpPr>
          <p:cNvPr id="5" name="Title 4"/>
          <p:cNvSpPr>
            <a:spLocks noGrp="1"/>
          </p:cNvSpPr>
          <p:nvPr>
            <p:ph type="title"/>
          </p:nvPr>
        </p:nvSpPr>
        <p:spPr/>
        <p:txBody>
          <a:bodyPr/>
          <a:lstStyle/>
          <a:p>
            <a:r>
              <a:rPr lang="en-US" dirty="0" smtClean="0"/>
              <a:t>Building the Metadata Model</a:t>
            </a:r>
            <a:endParaRPr lang="en-US" dirty="0"/>
          </a:p>
        </p:txBody>
      </p:sp>
      <p:sp>
        <p:nvSpPr>
          <p:cNvPr id="172035" name="Rectangle 3"/>
          <p:cNvSpPr>
            <a:spLocks noGrp="1" noChangeArrowheads="1"/>
          </p:cNvSpPr>
          <p:nvPr>
            <p:ph idx="1"/>
          </p:nvPr>
        </p:nvSpPr>
        <p:spPr>
          <a:noFill/>
        </p:spPr>
        <p:txBody>
          <a:bodyPr lIns="90488" tIns="44450" rIns="90488" bIns="44450"/>
          <a:lstStyle/>
          <a:p>
            <a:pPr eaLnBrk="1" hangingPunct="1">
              <a:lnSpc>
                <a:spcPct val="90000"/>
              </a:lnSpc>
            </a:pPr>
            <a:r>
              <a:rPr lang="en-US" sz="2000" smtClean="0">
                <a:latin typeface="Verdana" pitchFamily="34" charset="0"/>
              </a:rPr>
              <a:t>We’ll start by building out the Hierarchical taxonomies. A hierarchical taxonomy has the following characteristics:</a:t>
            </a:r>
          </a:p>
          <a:p>
            <a:pPr lvl="1" eaLnBrk="1" hangingPunct="1">
              <a:lnSpc>
                <a:spcPct val="90000"/>
              </a:lnSpc>
            </a:pPr>
            <a:endParaRPr lang="en-US" sz="1900" smtClean="0">
              <a:latin typeface="Verdana" pitchFamily="34" charset="0"/>
            </a:endParaRPr>
          </a:p>
          <a:p>
            <a:pPr lvl="1" eaLnBrk="1" hangingPunct="1">
              <a:lnSpc>
                <a:spcPct val="90000"/>
              </a:lnSpc>
            </a:pPr>
            <a:r>
              <a:rPr lang="en-US" sz="1900" smtClean="0">
                <a:latin typeface="Verdana" pitchFamily="34" charset="0"/>
              </a:rPr>
              <a:t>Content is structured into at least two levels </a:t>
            </a:r>
          </a:p>
          <a:p>
            <a:pPr lvl="1" eaLnBrk="1" hangingPunct="1">
              <a:lnSpc>
                <a:spcPct val="90000"/>
              </a:lnSpc>
            </a:pPr>
            <a:r>
              <a:rPr lang="en-US" sz="1900" smtClean="0">
                <a:latin typeface="Verdana" pitchFamily="34" charset="0"/>
              </a:rPr>
              <a:t>Hierarchies are bi-directional </a:t>
            </a:r>
          </a:p>
          <a:p>
            <a:pPr lvl="1" eaLnBrk="1" hangingPunct="1">
              <a:lnSpc>
                <a:spcPct val="90000"/>
              </a:lnSpc>
            </a:pPr>
            <a:r>
              <a:rPr lang="en-US" sz="1900" smtClean="0">
                <a:latin typeface="Verdana" pitchFamily="34" charset="0"/>
              </a:rPr>
              <a:t>Each direction has meaning</a:t>
            </a:r>
          </a:p>
          <a:p>
            <a:pPr lvl="1" eaLnBrk="1" hangingPunct="1">
              <a:lnSpc>
                <a:spcPct val="90000"/>
              </a:lnSpc>
            </a:pPr>
            <a:r>
              <a:rPr lang="en-US" sz="1900" smtClean="0">
                <a:latin typeface="Verdana" pitchFamily="34" charset="0"/>
              </a:rPr>
              <a:t>Moving up the hierarchy, means expanding the category or concept</a:t>
            </a:r>
          </a:p>
          <a:p>
            <a:pPr lvl="1" eaLnBrk="1" hangingPunct="1">
              <a:lnSpc>
                <a:spcPct val="90000"/>
              </a:lnSpc>
            </a:pPr>
            <a:r>
              <a:rPr lang="en-US" sz="1900" smtClean="0">
                <a:latin typeface="Verdana" pitchFamily="34" charset="0"/>
              </a:rPr>
              <a:t>Moving down the hierarchy means refining the category or the concept</a:t>
            </a:r>
          </a:p>
        </p:txBody>
      </p:sp>
    </p:spTree>
  </p:cSld>
  <p:clrMapOvr>
    <a:masterClrMapping/>
  </p:clrMapOvr>
  <p:transition advTm="108000">
    <p:cu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txBox="1">
            <a:spLocks noGrp="1"/>
          </p:cNvSpPr>
          <p:nvPr/>
        </p:nvSpPr>
        <p:spPr bwMode="auto">
          <a:xfrm>
            <a:off x="107950" y="6475413"/>
            <a:ext cx="304800" cy="207962"/>
          </a:xfrm>
          <a:prstGeom prst="rect">
            <a:avLst/>
          </a:prstGeom>
          <a:noFill/>
          <a:ln>
            <a:miter lim="800000"/>
            <a:headEnd/>
            <a:tailEnd/>
          </a:ln>
        </p:spPr>
        <p:txBody>
          <a:bodyPr wrap="none" lIns="0" tIns="0" rIns="0" bIns="0" anchor="ctr"/>
          <a:lstStyle/>
          <a:p>
            <a:pPr>
              <a:lnSpc>
                <a:spcPct val="90000"/>
              </a:lnSpc>
              <a:defRPr/>
            </a:pPr>
            <a:fld id="{68C04238-FC22-4742-90F8-1AA21A6FDF3C}" type="slidenum">
              <a:rPr lang="en-GB" sz="1100">
                <a:solidFill>
                  <a:schemeClr val="bg1"/>
                </a:solidFill>
                <a:latin typeface="+mn-lt"/>
              </a:rPr>
              <a:pPr>
                <a:lnSpc>
                  <a:spcPct val="90000"/>
                </a:lnSpc>
                <a:defRPr/>
              </a:pPr>
              <a:t>26</a:t>
            </a:fld>
            <a:endParaRPr lang="en-GB" sz="1100">
              <a:solidFill>
                <a:schemeClr val="bg1"/>
              </a:solidFill>
              <a:latin typeface="+mn-lt"/>
            </a:endParaRPr>
          </a:p>
        </p:txBody>
      </p:sp>
      <p:sp>
        <p:nvSpPr>
          <p:cNvPr id="5" name="Title 4"/>
          <p:cNvSpPr>
            <a:spLocks noGrp="1"/>
          </p:cNvSpPr>
          <p:nvPr>
            <p:ph type="title"/>
          </p:nvPr>
        </p:nvSpPr>
        <p:spPr/>
        <p:txBody>
          <a:bodyPr/>
          <a:lstStyle/>
          <a:p>
            <a:r>
              <a:rPr lang="en-US" dirty="0" smtClean="0"/>
              <a:t>Building the Metadata Model</a:t>
            </a:r>
            <a:endParaRPr lang="en-US" dirty="0"/>
          </a:p>
        </p:txBody>
      </p:sp>
      <p:sp>
        <p:nvSpPr>
          <p:cNvPr id="174083" name="Rectangle 3"/>
          <p:cNvSpPr>
            <a:spLocks noGrp="1" noChangeArrowheads="1"/>
          </p:cNvSpPr>
          <p:nvPr>
            <p:ph idx="1"/>
          </p:nvPr>
        </p:nvSpPr>
        <p:spPr>
          <a:noFill/>
        </p:spPr>
        <p:txBody>
          <a:bodyPr lIns="90488" tIns="44450" rIns="90488" bIns="44450"/>
          <a:lstStyle/>
          <a:p>
            <a:pPr eaLnBrk="1" hangingPunct="1"/>
            <a:r>
              <a:rPr lang="en-US" sz="2000" smtClean="0">
                <a:latin typeface="Verdana" pitchFamily="34" charset="0"/>
              </a:rPr>
              <a:t>Building further, we’re now ready to evolve the models we’ve defined into networked taxonomies. A networked taxonomy has the following characteristics:</a:t>
            </a:r>
          </a:p>
          <a:p>
            <a:pPr lvl="1" eaLnBrk="1" hangingPunct="1"/>
            <a:endParaRPr lang="en-US" sz="2000" smtClean="0">
              <a:latin typeface="Verdana" pitchFamily="34" charset="0"/>
            </a:endParaRPr>
          </a:p>
          <a:p>
            <a:pPr lvl="1"/>
            <a:r>
              <a:rPr lang="en-US" sz="1900" smtClean="0"/>
              <a:t>Organizes the content into both hierarchical &amp; associative categories</a:t>
            </a:r>
          </a:p>
          <a:p>
            <a:pPr lvl="1"/>
            <a:r>
              <a:rPr lang="en-US" sz="1900" smtClean="0"/>
              <a:t>Combination of a hierarchy &amp; star architectures</a:t>
            </a:r>
          </a:p>
          <a:p>
            <a:pPr lvl="1"/>
            <a:r>
              <a:rPr lang="en-US" sz="1900" smtClean="0"/>
              <a:t>Any two nodes in a network taxonomy may be linked</a:t>
            </a:r>
          </a:p>
          <a:p>
            <a:pPr lvl="1"/>
            <a:r>
              <a:rPr lang="en-US" sz="1900" smtClean="0"/>
              <a:t>Categories or concepts are linked to one another based on the nature of their associations</a:t>
            </a:r>
          </a:p>
          <a:p>
            <a:pPr lvl="1"/>
            <a:r>
              <a:rPr lang="en-US" sz="1900" smtClean="0"/>
              <a:t>Links may have more complex meaningful than we find in hierarchical taxonomies</a:t>
            </a:r>
          </a:p>
        </p:txBody>
      </p:sp>
    </p:spTree>
  </p:cSld>
  <p:clrMapOvr>
    <a:masterClrMapping/>
  </p:clrMapOvr>
  <p:transition advTm="108000">
    <p:cu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sz="2800" dirty="0" smtClean="0"/>
              <a:t>A </a:t>
            </a:r>
            <a:r>
              <a:rPr lang="en-US" sz="2800" dirty="0" smtClean="0"/>
              <a:t>fully meshed Metadata model</a:t>
            </a:r>
          </a:p>
        </p:txBody>
      </p:sp>
      <p:sp>
        <p:nvSpPr>
          <p:cNvPr id="4" name="Slide Number Placeholder 3"/>
          <p:cNvSpPr>
            <a:spLocks noGrp="1"/>
          </p:cNvSpPr>
          <p:nvPr>
            <p:ph type="sldNum" sz="quarter" idx="11"/>
          </p:nvPr>
        </p:nvSpPr>
        <p:spPr>
          <a:prstGeom prst="rect">
            <a:avLst/>
          </a:prstGeom>
        </p:spPr>
        <p:txBody>
          <a:bodyPr/>
          <a:lstStyle/>
          <a:p>
            <a:pPr>
              <a:defRPr/>
            </a:pPr>
            <a:fld id="{20661A2F-C1E0-4540-B257-7D3DE069A8FC}" type="slidenum">
              <a:rPr lang="en-GB"/>
              <a:pPr>
                <a:defRPr/>
              </a:pPr>
              <a:t>27</a:t>
            </a:fld>
            <a:endParaRPr lang="en-GB"/>
          </a:p>
        </p:txBody>
      </p:sp>
      <p:graphicFrame>
        <p:nvGraphicFramePr>
          <p:cNvPr id="5" name="Diagram 4"/>
          <p:cNvGraphicFramePr/>
          <p:nvPr/>
        </p:nvGraphicFramePr>
        <p:xfrm>
          <a:off x="2832100" y="1814513"/>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5845" name="Straight Arrow Connector 6"/>
          <p:cNvCxnSpPr>
            <a:cxnSpLocks noChangeShapeType="1"/>
          </p:cNvCxnSpPr>
          <p:nvPr/>
        </p:nvCxnSpPr>
        <p:spPr bwMode="auto">
          <a:xfrm rot="16200000" flipH="1">
            <a:off x="4950619" y="3072606"/>
            <a:ext cx="1844675" cy="1547813"/>
          </a:xfrm>
          <a:prstGeom prst="straightConnector1">
            <a:avLst/>
          </a:prstGeom>
          <a:noFill/>
          <a:ln w="9525" algn="ctr">
            <a:solidFill>
              <a:schemeClr val="tx1"/>
            </a:solidFill>
            <a:round/>
            <a:headEnd type="arrow" w="med" len="med"/>
            <a:tailEnd type="arrow" w="med" len="med"/>
          </a:ln>
        </p:spPr>
      </p:cxnSp>
      <p:cxnSp>
        <p:nvCxnSpPr>
          <p:cNvPr id="35846" name="Straight Arrow Connector 8"/>
          <p:cNvCxnSpPr>
            <a:cxnSpLocks noChangeShapeType="1"/>
          </p:cNvCxnSpPr>
          <p:nvPr/>
        </p:nvCxnSpPr>
        <p:spPr bwMode="auto">
          <a:xfrm rot="16200000" flipH="1">
            <a:off x="4354513" y="3787775"/>
            <a:ext cx="3036888" cy="14287"/>
          </a:xfrm>
          <a:prstGeom prst="straightConnector1">
            <a:avLst/>
          </a:prstGeom>
          <a:noFill/>
          <a:ln w="9525" algn="ctr">
            <a:solidFill>
              <a:schemeClr val="tx1"/>
            </a:solidFill>
            <a:round/>
            <a:headEnd type="arrow" w="med" len="med"/>
            <a:tailEnd type="arrow" w="med" len="med"/>
          </a:ln>
        </p:spPr>
      </p:cxnSp>
      <p:cxnSp>
        <p:nvCxnSpPr>
          <p:cNvPr id="35847" name="Straight Arrow Connector 10"/>
          <p:cNvCxnSpPr>
            <a:cxnSpLocks noChangeShapeType="1"/>
          </p:cNvCxnSpPr>
          <p:nvPr/>
        </p:nvCxnSpPr>
        <p:spPr bwMode="auto">
          <a:xfrm flipV="1">
            <a:off x="4611688" y="3838575"/>
            <a:ext cx="2522537" cy="0"/>
          </a:xfrm>
          <a:prstGeom prst="straightConnector1">
            <a:avLst/>
          </a:prstGeom>
          <a:noFill/>
          <a:ln w="9525" algn="ctr">
            <a:solidFill>
              <a:schemeClr val="tx1"/>
            </a:solidFill>
            <a:round/>
            <a:headEnd type="arrow" w="med" len="med"/>
            <a:tailEnd type="arrow" w="med" len="med"/>
          </a:ln>
        </p:spPr>
      </p:cxnSp>
      <p:cxnSp>
        <p:nvCxnSpPr>
          <p:cNvPr id="35848" name="Straight Arrow Connector 13"/>
          <p:cNvCxnSpPr>
            <a:cxnSpLocks noChangeShapeType="1"/>
          </p:cNvCxnSpPr>
          <p:nvPr/>
        </p:nvCxnSpPr>
        <p:spPr bwMode="auto">
          <a:xfrm rot="5400000">
            <a:off x="4869657" y="3050381"/>
            <a:ext cx="2020888" cy="1622425"/>
          </a:xfrm>
          <a:prstGeom prst="straightConnector1">
            <a:avLst/>
          </a:prstGeom>
          <a:noFill/>
          <a:ln w="9525" algn="ctr">
            <a:solidFill>
              <a:schemeClr val="tx1"/>
            </a:solidFill>
            <a:round/>
            <a:headEnd type="arrow" w="med" len="med"/>
            <a:tailEnd type="arrow" w="med" len="med"/>
          </a:ln>
        </p:spPr>
      </p:cxnSp>
      <p:cxnSp>
        <p:nvCxnSpPr>
          <p:cNvPr id="35849" name="Straight Arrow Connector 16"/>
          <p:cNvCxnSpPr>
            <a:cxnSpLocks noChangeShapeType="1"/>
          </p:cNvCxnSpPr>
          <p:nvPr/>
        </p:nvCxnSpPr>
        <p:spPr bwMode="auto">
          <a:xfrm rot="5400000">
            <a:off x="5850732" y="3750469"/>
            <a:ext cx="1814512" cy="44450"/>
          </a:xfrm>
          <a:prstGeom prst="straightConnector1">
            <a:avLst/>
          </a:prstGeom>
          <a:noFill/>
          <a:ln w="9525" algn="ctr">
            <a:solidFill>
              <a:schemeClr val="tx1"/>
            </a:solidFill>
            <a:round/>
            <a:headEnd type="arrow" w="med" len="med"/>
            <a:tailEnd type="arrow" w="med" len="med"/>
          </a:ln>
        </p:spPr>
      </p:cxnSp>
      <p:cxnSp>
        <p:nvCxnSpPr>
          <p:cNvPr id="35850" name="Straight Arrow Connector 19"/>
          <p:cNvCxnSpPr>
            <a:cxnSpLocks noChangeShapeType="1"/>
          </p:cNvCxnSpPr>
          <p:nvPr/>
        </p:nvCxnSpPr>
        <p:spPr bwMode="auto">
          <a:xfrm flipV="1">
            <a:off x="5068888" y="2776538"/>
            <a:ext cx="1622425" cy="15875"/>
          </a:xfrm>
          <a:prstGeom prst="straightConnector1">
            <a:avLst/>
          </a:prstGeom>
          <a:noFill/>
          <a:ln w="9525" algn="ctr">
            <a:solidFill>
              <a:schemeClr val="tx1"/>
            </a:solidFill>
            <a:round/>
            <a:headEnd type="arrow" w="med" len="med"/>
            <a:tailEnd type="arrow" w="med" len="med"/>
          </a:ln>
        </p:spPr>
      </p:cxnSp>
      <p:cxnSp>
        <p:nvCxnSpPr>
          <p:cNvPr id="35851" name="Straight Arrow Connector 22"/>
          <p:cNvCxnSpPr>
            <a:cxnSpLocks noChangeShapeType="1"/>
          </p:cNvCxnSpPr>
          <p:nvPr/>
        </p:nvCxnSpPr>
        <p:spPr bwMode="auto">
          <a:xfrm rot="5400000">
            <a:off x="3992562" y="3868738"/>
            <a:ext cx="1946275" cy="0"/>
          </a:xfrm>
          <a:prstGeom prst="straightConnector1">
            <a:avLst/>
          </a:prstGeom>
          <a:noFill/>
          <a:ln w="9525" algn="ctr">
            <a:solidFill>
              <a:schemeClr val="tx1"/>
            </a:solidFill>
            <a:round/>
            <a:headEnd type="arrow" w="med" len="med"/>
            <a:tailEnd type="arrow" w="med" len="med"/>
          </a:ln>
        </p:spPr>
      </p:cxnSp>
      <p:cxnSp>
        <p:nvCxnSpPr>
          <p:cNvPr id="35852" name="Straight Arrow Connector 25"/>
          <p:cNvCxnSpPr>
            <a:cxnSpLocks noChangeShapeType="1"/>
          </p:cNvCxnSpPr>
          <p:nvPr/>
        </p:nvCxnSpPr>
        <p:spPr bwMode="auto">
          <a:xfrm flipV="1">
            <a:off x="5157788" y="5003800"/>
            <a:ext cx="1460500" cy="15875"/>
          </a:xfrm>
          <a:prstGeom prst="straightConnector1">
            <a:avLst/>
          </a:prstGeom>
          <a:noFill/>
          <a:ln w="9525" algn="ctr">
            <a:solidFill>
              <a:schemeClr val="tx1"/>
            </a:solidFill>
            <a:round/>
            <a:headEnd type="arrow" w="med" len="med"/>
            <a:tailEnd type="arrow" w="med" len="med"/>
          </a:ln>
        </p:spPr>
      </p:cxnSp>
      <p:sp>
        <p:nvSpPr>
          <p:cNvPr id="35854" name="Rectangle 3"/>
          <p:cNvSpPr>
            <a:spLocks noChangeArrowheads="1"/>
          </p:cNvSpPr>
          <p:nvPr/>
        </p:nvSpPr>
        <p:spPr bwMode="auto">
          <a:xfrm>
            <a:off x="955675" y="4803775"/>
            <a:ext cx="2749550" cy="1018801"/>
          </a:xfrm>
          <a:prstGeom prst="rect">
            <a:avLst/>
          </a:prstGeom>
          <a:solidFill>
            <a:srgbClr val="FFFF00"/>
          </a:solidFill>
          <a:ln w="9525">
            <a:noFill/>
            <a:miter lim="800000"/>
            <a:headEnd/>
            <a:tailEnd/>
          </a:ln>
        </p:spPr>
        <p:txBody>
          <a:bodyPr lIns="0" tIns="0" rIns="0" bIns="0"/>
          <a:lstStyle/>
          <a:p>
            <a:pPr marL="234950" indent="-234950" algn="l" eaLnBrk="1" hangingPunct="1">
              <a:lnSpc>
                <a:spcPct val="90000"/>
              </a:lnSpc>
              <a:spcBef>
                <a:spcPct val="20000"/>
              </a:spcBef>
              <a:buClr>
                <a:schemeClr val="tx2"/>
              </a:buClr>
              <a:buFont typeface="Wingdings" pitchFamily="2" charset="2"/>
              <a:buChar char="§"/>
            </a:pPr>
            <a:r>
              <a:rPr lang="en-US" sz="1600" b="1" dirty="0">
                <a:latin typeface="Times New Roman" pitchFamily="18" charset="0"/>
              </a:rPr>
              <a:t>The key is how to instantiate (&amp; maintain) the relationships between the nodes…</a:t>
            </a:r>
          </a:p>
        </p:txBody>
      </p:sp>
      <p:sp>
        <p:nvSpPr>
          <p:cNvPr id="35855" name="Rectangle 3"/>
          <p:cNvSpPr>
            <a:spLocks noChangeArrowheads="1"/>
          </p:cNvSpPr>
          <p:nvPr/>
        </p:nvSpPr>
        <p:spPr bwMode="auto">
          <a:xfrm>
            <a:off x="679450" y="1749425"/>
            <a:ext cx="2749550" cy="1404938"/>
          </a:xfrm>
          <a:prstGeom prst="rect">
            <a:avLst/>
          </a:prstGeom>
          <a:solidFill>
            <a:srgbClr val="FFFF00"/>
          </a:solidFill>
          <a:ln w="9525">
            <a:noFill/>
            <a:miter lim="800000"/>
            <a:headEnd/>
            <a:tailEnd/>
          </a:ln>
        </p:spPr>
        <p:txBody>
          <a:bodyPr lIns="0" tIns="0" rIns="0" bIns="0"/>
          <a:lstStyle/>
          <a:p>
            <a:pPr marL="234950" indent="-234950" algn="l" eaLnBrk="1" hangingPunct="1">
              <a:lnSpc>
                <a:spcPct val="90000"/>
              </a:lnSpc>
              <a:spcBef>
                <a:spcPct val="20000"/>
              </a:spcBef>
              <a:buClr>
                <a:schemeClr val="tx2"/>
              </a:buClr>
              <a:buFont typeface="Wingdings" pitchFamily="2" charset="2"/>
              <a:buChar char="§"/>
            </a:pPr>
            <a:r>
              <a:rPr lang="en-US" sz="1600" b="1" dirty="0">
                <a:latin typeface="Times New Roman" pitchFamily="18" charset="0"/>
              </a:rPr>
              <a:t>These relationships hold the key to experiential (tacit) knowledge, which is typically locked in people’s heads.</a:t>
            </a:r>
          </a:p>
        </p:txBody>
      </p:sp>
    </p:spTree>
  </p:cSld>
  <p:clrMapOvr>
    <a:masterClrMapping/>
  </p:clrMapOvr>
  <p:transition>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smtClean="0"/>
              <a:t>Key Initiatives for the future</a:t>
            </a:r>
          </a:p>
        </p:txBody>
      </p:sp>
      <p:sp>
        <p:nvSpPr>
          <p:cNvPr id="91139" name="Rectangle 3"/>
          <p:cNvSpPr>
            <a:spLocks noGrp="1" noChangeArrowheads="1"/>
          </p:cNvSpPr>
          <p:nvPr>
            <p:ph idx="1"/>
          </p:nvPr>
        </p:nvSpPr>
        <p:spPr/>
        <p:txBody>
          <a:bodyPr/>
          <a:lstStyle/>
          <a:p>
            <a:r>
              <a:rPr lang="en-US" sz="2800" dirty="0" smtClean="0"/>
              <a:t>Generate, curate and analyze rich data resources</a:t>
            </a:r>
          </a:p>
          <a:p>
            <a:pPr lvl="1"/>
            <a:r>
              <a:rPr lang="en-US" sz="2400" dirty="0" smtClean="0"/>
              <a:t>From experiments, observations and simulations</a:t>
            </a:r>
          </a:p>
          <a:p>
            <a:pPr lvl="1"/>
            <a:r>
              <a:rPr lang="en-US" sz="2400" dirty="0" smtClean="0"/>
              <a:t>Quality management, preservation and reliable evidence</a:t>
            </a:r>
          </a:p>
          <a:p>
            <a:r>
              <a:rPr lang="en-US" sz="2800" dirty="0" smtClean="0"/>
              <a:t>Develop and explore models and simulations</a:t>
            </a:r>
          </a:p>
          <a:p>
            <a:pPr lvl="1"/>
            <a:r>
              <a:rPr lang="en-US" sz="2400" dirty="0" smtClean="0"/>
              <a:t>Computation and data at all scales</a:t>
            </a:r>
          </a:p>
          <a:p>
            <a:pPr lvl="1"/>
            <a:r>
              <a:rPr lang="en-US" sz="2400" dirty="0" smtClean="0"/>
              <a:t>Trustworthy, economic, timely and relevant results</a:t>
            </a:r>
          </a:p>
          <a:p>
            <a:r>
              <a:rPr lang="en-US" sz="2800" dirty="0" smtClean="0"/>
              <a:t>Enable dynamic distributed collaboration</a:t>
            </a:r>
          </a:p>
          <a:p>
            <a:pPr lvl="1"/>
            <a:r>
              <a:rPr lang="en-US" sz="2400" dirty="0" smtClean="0"/>
              <a:t>Facilitating collaboration with information and resource sharing</a:t>
            </a:r>
          </a:p>
          <a:p>
            <a:pPr lvl="1"/>
            <a:r>
              <a:rPr lang="en-US" sz="2400" dirty="0" smtClean="0"/>
              <a:t>Security, trust, reliability, accountability, manageability and agility</a:t>
            </a:r>
          </a:p>
        </p:txBody>
      </p:sp>
    </p:spTree>
  </p:cSld>
  <p:clrMapOvr>
    <a:masterClrMapping/>
  </p:clrMapOvr>
  <p:transition>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712695" y="1479176"/>
            <a:ext cx="7332756" cy="4799387"/>
            <a:chOff x="376238" y="838200"/>
            <a:chExt cx="7669212" cy="5440363"/>
          </a:xfrm>
        </p:grpSpPr>
        <p:pic>
          <p:nvPicPr>
            <p:cNvPr id="97282" name="Picture 2"/>
            <p:cNvPicPr>
              <a:picLocks noChangeAspect="1" noChangeArrowheads="1"/>
            </p:cNvPicPr>
            <p:nvPr/>
          </p:nvPicPr>
          <p:blipFill>
            <a:blip r:embed="rId3" cstate="print"/>
            <a:srcRect/>
            <a:stretch>
              <a:fillRect/>
            </a:stretch>
          </p:blipFill>
          <p:spPr bwMode="auto">
            <a:xfrm>
              <a:off x="4114800" y="838200"/>
              <a:ext cx="1066800" cy="981075"/>
            </a:xfrm>
            <a:prstGeom prst="rect">
              <a:avLst/>
            </a:prstGeom>
            <a:noFill/>
            <a:ln w="9525">
              <a:noFill/>
              <a:miter lim="800000"/>
              <a:headEnd/>
              <a:tailEnd/>
            </a:ln>
            <a:effectLst/>
          </p:spPr>
        </p:pic>
        <p:pic>
          <p:nvPicPr>
            <p:cNvPr id="97283" name="Picture 3"/>
            <p:cNvPicPr>
              <a:picLocks noChangeAspect="1" noChangeArrowheads="1"/>
            </p:cNvPicPr>
            <p:nvPr/>
          </p:nvPicPr>
          <p:blipFill>
            <a:blip r:embed="rId4" cstate="print"/>
            <a:srcRect/>
            <a:stretch>
              <a:fillRect/>
            </a:stretch>
          </p:blipFill>
          <p:spPr bwMode="auto">
            <a:xfrm>
              <a:off x="685800" y="3810000"/>
              <a:ext cx="1019175" cy="1085850"/>
            </a:xfrm>
            <a:prstGeom prst="rect">
              <a:avLst/>
            </a:prstGeom>
            <a:noFill/>
            <a:ln w="9525">
              <a:noFill/>
              <a:miter lim="800000"/>
              <a:headEnd/>
              <a:tailEnd/>
            </a:ln>
            <a:effectLst/>
          </p:spPr>
        </p:pic>
        <p:pic>
          <p:nvPicPr>
            <p:cNvPr id="97284" name="Picture 4"/>
            <p:cNvPicPr>
              <a:picLocks noChangeAspect="1" noChangeArrowheads="1"/>
            </p:cNvPicPr>
            <p:nvPr/>
          </p:nvPicPr>
          <p:blipFill>
            <a:blip r:embed="rId5" cstate="print"/>
            <a:srcRect/>
            <a:stretch>
              <a:fillRect/>
            </a:stretch>
          </p:blipFill>
          <p:spPr bwMode="auto">
            <a:xfrm>
              <a:off x="6324600" y="1219200"/>
              <a:ext cx="828675" cy="1190625"/>
            </a:xfrm>
            <a:prstGeom prst="rect">
              <a:avLst/>
            </a:prstGeom>
            <a:noFill/>
            <a:ln w="9525">
              <a:noFill/>
              <a:miter lim="800000"/>
              <a:headEnd/>
              <a:tailEnd/>
            </a:ln>
            <a:effectLst/>
          </p:spPr>
        </p:pic>
        <p:pic>
          <p:nvPicPr>
            <p:cNvPr id="97285" name="Picture 5"/>
            <p:cNvPicPr>
              <a:picLocks noChangeAspect="1" noChangeArrowheads="1"/>
            </p:cNvPicPr>
            <p:nvPr/>
          </p:nvPicPr>
          <p:blipFill>
            <a:blip r:embed="rId6" cstate="print"/>
            <a:srcRect/>
            <a:stretch>
              <a:fillRect/>
            </a:stretch>
          </p:blipFill>
          <p:spPr bwMode="auto">
            <a:xfrm>
              <a:off x="4191000" y="3962400"/>
              <a:ext cx="990600" cy="1295400"/>
            </a:xfrm>
            <a:prstGeom prst="rect">
              <a:avLst/>
            </a:prstGeom>
            <a:noFill/>
            <a:ln w="9525">
              <a:noFill/>
              <a:miter lim="800000"/>
              <a:headEnd/>
              <a:tailEnd/>
            </a:ln>
            <a:effectLst/>
          </p:spPr>
        </p:pic>
        <p:pic>
          <p:nvPicPr>
            <p:cNvPr id="97286" name="Picture 6"/>
            <p:cNvPicPr>
              <a:picLocks noChangeAspect="1" noChangeArrowheads="1"/>
            </p:cNvPicPr>
            <p:nvPr/>
          </p:nvPicPr>
          <p:blipFill>
            <a:blip r:embed="rId7" cstate="print"/>
            <a:srcRect/>
            <a:stretch>
              <a:fillRect/>
            </a:stretch>
          </p:blipFill>
          <p:spPr bwMode="auto">
            <a:xfrm>
              <a:off x="2286000" y="3810000"/>
              <a:ext cx="457200" cy="533400"/>
            </a:xfrm>
            <a:prstGeom prst="rect">
              <a:avLst/>
            </a:prstGeom>
            <a:noFill/>
            <a:ln w="9525">
              <a:noFill/>
              <a:miter lim="800000"/>
              <a:headEnd/>
              <a:tailEnd/>
            </a:ln>
            <a:effectLst/>
          </p:spPr>
        </p:pic>
        <p:sp>
          <p:nvSpPr>
            <p:cNvPr id="97287" name="Text Box 7"/>
            <p:cNvSpPr txBox="1">
              <a:spLocks noChangeArrowheads="1"/>
            </p:cNvSpPr>
            <p:nvPr/>
          </p:nvSpPr>
          <p:spPr bwMode="auto">
            <a:xfrm>
              <a:off x="3352800" y="5638800"/>
              <a:ext cx="2513013" cy="639763"/>
            </a:xfrm>
            <a:prstGeom prst="rect">
              <a:avLst/>
            </a:prstGeom>
            <a:noFill/>
            <a:ln w="9525">
              <a:noFill/>
              <a:miter lim="800000"/>
              <a:headEnd/>
              <a:tailEnd/>
            </a:ln>
            <a:effectLst/>
          </p:spPr>
          <p:txBody>
            <a:bodyPr>
              <a:spAutoFit/>
            </a:bodyPr>
            <a:lstStyle/>
            <a:p>
              <a:pPr eaLnBrk="1" hangingPunct="1"/>
              <a:r>
                <a:rPr lang="en-US" sz="1200" b="1">
                  <a:latin typeface="Tahoma" pitchFamily="34" charset="0"/>
                  <a:cs typeface="Times New Roman" pitchFamily="18" charset="0"/>
                </a:rPr>
                <a:t>Concept Extration, Summarization </a:t>
              </a:r>
            </a:p>
            <a:p>
              <a:pPr eaLnBrk="1" hangingPunct="1"/>
              <a:r>
                <a:rPr lang="en-US" sz="1200" b="1">
                  <a:latin typeface="Tahoma" pitchFamily="34" charset="0"/>
                  <a:cs typeface="Times New Roman" pitchFamily="18" charset="0"/>
                </a:rPr>
                <a:t>&amp; Categorization Engine </a:t>
              </a:r>
            </a:p>
          </p:txBody>
        </p:sp>
        <p:sp>
          <p:nvSpPr>
            <p:cNvPr id="97288" name="Text Box 8"/>
            <p:cNvSpPr txBox="1">
              <a:spLocks noChangeArrowheads="1"/>
            </p:cNvSpPr>
            <p:nvPr/>
          </p:nvSpPr>
          <p:spPr bwMode="auto">
            <a:xfrm>
              <a:off x="376238" y="4948238"/>
              <a:ext cx="1484312" cy="274637"/>
            </a:xfrm>
            <a:prstGeom prst="rect">
              <a:avLst/>
            </a:prstGeom>
            <a:noFill/>
            <a:ln w="9525">
              <a:noFill/>
              <a:miter lim="800000"/>
              <a:headEnd/>
              <a:tailEnd/>
            </a:ln>
            <a:effectLst/>
          </p:spPr>
          <p:txBody>
            <a:bodyPr wrap="none">
              <a:spAutoFit/>
            </a:bodyPr>
            <a:lstStyle/>
            <a:p>
              <a:pPr eaLnBrk="1" hangingPunct="1"/>
              <a:r>
                <a:rPr lang="en-US" sz="1200" b="1">
                  <a:latin typeface="Tahoma" pitchFamily="34" charset="0"/>
                  <a:cs typeface="Times New Roman" pitchFamily="18" charset="0"/>
                </a:rPr>
                <a:t>Content Creation</a:t>
              </a:r>
            </a:p>
          </p:txBody>
        </p:sp>
        <p:sp>
          <p:nvSpPr>
            <p:cNvPr id="97289" name="Line 9"/>
            <p:cNvSpPr>
              <a:spLocks noChangeShapeType="1"/>
            </p:cNvSpPr>
            <p:nvPr/>
          </p:nvSpPr>
          <p:spPr bwMode="auto">
            <a:xfrm flipV="1">
              <a:off x="3124200" y="4419600"/>
              <a:ext cx="990600" cy="0"/>
            </a:xfrm>
            <a:prstGeom prst="line">
              <a:avLst/>
            </a:prstGeom>
            <a:noFill/>
            <a:ln w="9525">
              <a:solidFill>
                <a:schemeClr val="tx1"/>
              </a:solidFill>
              <a:round/>
              <a:headEnd/>
              <a:tailEnd type="triangle" w="med" len="med"/>
            </a:ln>
            <a:effectLst/>
          </p:spPr>
          <p:txBody>
            <a:bodyPr/>
            <a:lstStyle/>
            <a:p>
              <a:endParaRPr lang="en-US"/>
            </a:p>
          </p:txBody>
        </p:sp>
        <p:sp>
          <p:nvSpPr>
            <p:cNvPr id="97290" name="Text Box 10"/>
            <p:cNvSpPr txBox="1">
              <a:spLocks noChangeArrowheads="1"/>
            </p:cNvSpPr>
            <p:nvPr/>
          </p:nvSpPr>
          <p:spPr bwMode="auto">
            <a:xfrm>
              <a:off x="1981200" y="2895600"/>
              <a:ext cx="1371600" cy="822325"/>
            </a:xfrm>
            <a:prstGeom prst="rect">
              <a:avLst/>
            </a:prstGeom>
            <a:noFill/>
            <a:ln w="9525">
              <a:noFill/>
              <a:miter lim="800000"/>
              <a:headEnd/>
              <a:tailEnd/>
            </a:ln>
            <a:effectLst/>
          </p:spPr>
          <p:txBody>
            <a:bodyPr>
              <a:spAutoFit/>
            </a:bodyPr>
            <a:lstStyle/>
            <a:p>
              <a:pPr eaLnBrk="1" hangingPunct="1"/>
              <a:r>
                <a:rPr lang="en-US" sz="1200" b="1">
                  <a:latin typeface="Tahoma" pitchFamily="34" charset="0"/>
                  <a:cs typeface="Times New Roman" pitchFamily="18" charset="0"/>
                </a:rPr>
                <a:t>Content Processed</a:t>
              </a:r>
            </a:p>
            <a:p>
              <a:pPr eaLnBrk="1" hangingPunct="1"/>
              <a:r>
                <a:rPr lang="en-US" sz="1200" b="1">
                  <a:latin typeface="Tahoma" pitchFamily="34" charset="0"/>
                  <a:cs typeface="Times New Roman" pitchFamily="18" charset="0"/>
                </a:rPr>
                <a:t>Without Review</a:t>
              </a:r>
            </a:p>
          </p:txBody>
        </p:sp>
        <p:sp>
          <p:nvSpPr>
            <p:cNvPr id="97291" name="Line 11"/>
            <p:cNvSpPr>
              <a:spLocks noChangeShapeType="1"/>
            </p:cNvSpPr>
            <p:nvPr/>
          </p:nvSpPr>
          <p:spPr bwMode="auto">
            <a:xfrm flipH="1">
              <a:off x="1676400" y="4267200"/>
              <a:ext cx="304800" cy="228600"/>
            </a:xfrm>
            <a:prstGeom prst="line">
              <a:avLst/>
            </a:prstGeom>
            <a:noFill/>
            <a:ln w="9525">
              <a:solidFill>
                <a:schemeClr val="tx1"/>
              </a:solidFill>
              <a:round/>
              <a:headEnd/>
              <a:tailEnd type="triangle" w="med" len="med"/>
            </a:ln>
            <a:effectLst/>
          </p:spPr>
          <p:txBody>
            <a:bodyPr/>
            <a:lstStyle/>
            <a:p>
              <a:endParaRPr lang="en-US"/>
            </a:p>
          </p:txBody>
        </p:sp>
        <p:pic>
          <p:nvPicPr>
            <p:cNvPr id="97292" name="Picture 12"/>
            <p:cNvPicPr>
              <a:picLocks noChangeAspect="1" noChangeArrowheads="1"/>
            </p:cNvPicPr>
            <p:nvPr/>
          </p:nvPicPr>
          <p:blipFill>
            <a:blip r:embed="rId4" cstate="print"/>
            <a:srcRect/>
            <a:stretch>
              <a:fillRect/>
            </a:stretch>
          </p:blipFill>
          <p:spPr bwMode="auto">
            <a:xfrm>
              <a:off x="762000" y="1143000"/>
              <a:ext cx="1019175" cy="1085850"/>
            </a:xfrm>
            <a:prstGeom prst="rect">
              <a:avLst/>
            </a:prstGeom>
            <a:noFill/>
            <a:ln w="9525">
              <a:noFill/>
              <a:miter lim="800000"/>
              <a:headEnd/>
              <a:tailEnd/>
            </a:ln>
            <a:effectLst/>
          </p:spPr>
        </p:pic>
        <p:pic>
          <p:nvPicPr>
            <p:cNvPr id="97293" name="Picture 13"/>
            <p:cNvPicPr>
              <a:picLocks noChangeAspect="1" noChangeArrowheads="1"/>
            </p:cNvPicPr>
            <p:nvPr/>
          </p:nvPicPr>
          <p:blipFill>
            <a:blip r:embed="rId7" cstate="print"/>
            <a:srcRect/>
            <a:stretch>
              <a:fillRect/>
            </a:stretch>
          </p:blipFill>
          <p:spPr bwMode="auto">
            <a:xfrm>
              <a:off x="2362200" y="2133600"/>
              <a:ext cx="457200" cy="533400"/>
            </a:xfrm>
            <a:prstGeom prst="rect">
              <a:avLst/>
            </a:prstGeom>
            <a:noFill/>
            <a:ln w="9525">
              <a:noFill/>
              <a:miter lim="800000"/>
              <a:headEnd/>
              <a:tailEnd/>
            </a:ln>
            <a:effectLst/>
          </p:spPr>
        </p:pic>
        <p:sp>
          <p:nvSpPr>
            <p:cNvPr id="97294" name="Text Box 14"/>
            <p:cNvSpPr txBox="1">
              <a:spLocks noChangeArrowheads="1"/>
            </p:cNvSpPr>
            <p:nvPr/>
          </p:nvSpPr>
          <p:spPr bwMode="auto">
            <a:xfrm>
              <a:off x="449263" y="2433638"/>
              <a:ext cx="1484312" cy="274637"/>
            </a:xfrm>
            <a:prstGeom prst="rect">
              <a:avLst/>
            </a:prstGeom>
            <a:noFill/>
            <a:ln w="9525">
              <a:noFill/>
              <a:miter lim="800000"/>
              <a:headEnd/>
              <a:tailEnd/>
            </a:ln>
            <a:effectLst/>
          </p:spPr>
          <p:txBody>
            <a:bodyPr wrap="none">
              <a:spAutoFit/>
            </a:bodyPr>
            <a:lstStyle/>
            <a:p>
              <a:pPr eaLnBrk="1" hangingPunct="1"/>
              <a:r>
                <a:rPr lang="en-US" sz="1200" b="1">
                  <a:latin typeface="Tahoma" pitchFamily="34" charset="0"/>
                  <a:cs typeface="Times New Roman" pitchFamily="18" charset="0"/>
                </a:rPr>
                <a:t>Content Creation</a:t>
              </a:r>
            </a:p>
          </p:txBody>
        </p:sp>
        <p:sp>
          <p:nvSpPr>
            <p:cNvPr id="97295" name="Text Box 15"/>
            <p:cNvSpPr txBox="1">
              <a:spLocks noChangeArrowheads="1"/>
            </p:cNvSpPr>
            <p:nvPr/>
          </p:nvSpPr>
          <p:spPr bwMode="auto">
            <a:xfrm>
              <a:off x="3675063" y="1824038"/>
              <a:ext cx="2090737" cy="304800"/>
            </a:xfrm>
            <a:prstGeom prst="rect">
              <a:avLst/>
            </a:prstGeom>
            <a:noFill/>
            <a:ln w="9525">
              <a:noFill/>
              <a:miter lim="800000"/>
              <a:headEnd/>
              <a:tailEnd/>
            </a:ln>
            <a:effectLst/>
          </p:spPr>
          <p:txBody>
            <a:bodyPr wrap="none">
              <a:spAutoFit/>
            </a:bodyPr>
            <a:lstStyle/>
            <a:p>
              <a:pPr eaLnBrk="1" hangingPunct="1"/>
              <a:r>
                <a:rPr lang="en-US" sz="1400" b="1">
                  <a:latin typeface="Tahoma" pitchFamily="34" charset="0"/>
                  <a:cs typeface="Times New Roman" pitchFamily="18" charset="0"/>
                </a:rPr>
                <a:t>Metadata Warehouse</a:t>
              </a:r>
            </a:p>
          </p:txBody>
        </p:sp>
        <p:sp>
          <p:nvSpPr>
            <p:cNvPr id="97296" name="Line 16"/>
            <p:cNvSpPr>
              <a:spLocks noChangeShapeType="1"/>
            </p:cNvSpPr>
            <p:nvPr/>
          </p:nvSpPr>
          <p:spPr bwMode="auto">
            <a:xfrm>
              <a:off x="1676400" y="1981200"/>
              <a:ext cx="609600" cy="304800"/>
            </a:xfrm>
            <a:prstGeom prst="line">
              <a:avLst/>
            </a:prstGeom>
            <a:noFill/>
            <a:ln w="9525">
              <a:solidFill>
                <a:schemeClr val="tx1"/>
              </a:solidFill>
              <a:round/>
              <a:headEnd/>
              <a:tailEnd type="triangle" w="med" len="med"/>
            </a:ln>
            <a:effectLst/>
          </p:spPr>
          <p:txBody>
            <a:bodyPr/>
            <a:lstStyle/>
            <a:p>
              <a:endParaRPr lang="en-US"/>
            </a:p>
          </p:txBody>
        </p:sp>
        <p:sp>
          <p:nvSpPr>
            <p:cNvPr id="97297" name="Line 17"/>
            <p:cNvSpPr>
              <a:spLocks noChangeShapeType="1"/>
            </p:cNvSpPr>
            <p:nvPr/>
          </p:nvSpPr>
          <p:spPr bwMode="auto">
            <a:xfrm>
              <a:off x="2895600" y="2590800"/>
              <a:ext cx="1295400" cy="1295400"/>
            </a:xfrm>
            <a:prstGeom prst="line">
              <a:avLst/>
            </a:prstGeom>
            <a:noFill/>
            <a:ln w="9525">
              <a:solidFill>
                <a:schemeClr val="tx1"/>
              </a:solidFill>
              <a:round/>
              <a:headEnd/>
              <a:tailEnd type="triangle" w="med" len="med"/>
            </a:ln>
            <a:effectLst/>
          </p:spPr>
          <p:txBody>
            <a:bodyPr/>
            <a:lstStyle/>
            <a:p>
              <a:endParaRPr lang="en-US"/>
            </a:p>
          </p:txBody>
        </p:sp>
        <p:sp>
          <p:nvSpPr>
            <p:cNvPr id="97298" name="Line 18"/>
            <p:cNvSpPr>
              <a:spLocks noChangeShapeType="1"/>
            </p:cNvSpPr>
            <p:nvPr/>
          </p:nvSpPr>
          <p:spPr bwMode="auto">
            <a:xfrm flipV="1">
              <a:off x="4648200" y="2362200"/>
              <a:ext cx="0" cy="457200"/>
            </a:xfrm>
            <a:prstGeom prst="line">
              <a:avLst/>
            </a:prstGeom>
            <a:noFill/>
            <a:ln w="9525">
              <a:solidFill>
                <a:schemeClr val="tx1"/>
              </a:solidFill>
              <a:round/>
              <a:headEnd/>
              <a:tailEnd type="triangle" w="med" len="med"/>
            </a:ln>
            <a:effectLst/>
          </p:spPr>
          <p:txBody>
            <a:bodyPr/>
            <a:lstStyle/>
            <a:p>
              <a:endParaRPr lang="en-US"/>
            </a:p>
          </p:txBody>
        </p:sp>
        <p:sp>
          <p:nvSpPr>
            <p:cNvPr id="97299" name="Line 19"/>
            <p:cNvSpPr>
              <a:spLocks noChangeShapeType="1"/>
            </p:cNvSpPr>
            <p:nvPr/>
          </p:nvSpPr>
          <p:spPr bwMode="auto">
            <a:xfrm>
              <a:off x="5715000" y="4419600"/>
              <a:ext cx="533400" cy="0"/>
            </a:xfrm>
            <a:prstGeom prst="line">
              <a:avLst/>
            </a:prstGeom>
            <a:noFill/>
            <a:ln w="9525">
              <a:solidFill>
                <a:schemeClr val="tx1"/>
              </a:solidFill>
              <a:round/>
              <a:headEnd/>
              <a:tailEnd type="triangle" w="med" len="med"/>
            </a:ln>
            <a:effectLst/>
          </p:spPr>
          <p:txBody>
            <a:bodyPr/>
            <a:lstStyle/>
            <a:p>
              <a:endParaRPr lang="en-US"/>
            </a:p>
          </p:txBody>
        </p:sp>
        <p:pic>
          <p:nvPicPr>
            <p:cNvPr id="97300" name="Picture 20"/>
            <p:cNvPicPr>
              <a:picLocks noChangeAspect="1" noChangeArrowheads="1"/>
            </p:cNvPicPr>
            <p:nvPr/>
          </p:nvPicPr>
          <p:blipFill>
            <a:blip r:embed="rId6" cstate="print"/>
            <a:srcRect/>
            <a:stretch>
              <a:fillRect/>
            </a:stretch>
          </p:blipFill>
          <p:spPr bwMode="auto">
            <a:xfrm>
              <a:off x="6324600" y="3886200"/>
              <a:ext cx="990600" cy="1295400"/>
            </a:xfrm>
            <a:prstGeom prst="rect">
              <a:avLst/>
            </a:prstGeom>
            <a:noFill/>
            <a:ln w="9525">
              <a:noFill/>
              <a:miter lim="800000"/>
              <a:headEnd/>
              <a:tailEnd/>
            </a:ln>
            <a:effectLst/>
          </p:spPr>
        </p:pic>
        <p:sp>
          <p:nvSpPr>
            <p:cNvPr id="97301" name="Text Box 21"/>
            <p:cNvSpPr txBox="1">
              <a:spLocks noChangeArrowheads="1"/>
            </p:cNvSpPr>
            <p:nvPr/>
          </p:nvSpPr>
          <p:spPr bwMode="auto">
            <a:xfrm>
              <a:off x="5932488" y="5289550"/>
              <a:ext cx="2112962" cy="457200"/>
            </a:xfrm>
            <a:prstGeom prst="rect">
              <a:avLst/>
            </a:prstGeom>
            <a:noFill/>
            <a:ln w="9525">
              <a:noFill/>
              <a:miter lim="800000"/>
              <a:headEnd/>
              <a:tailEnd/>
            </a:ln>
            <a:effectLst/>
          </p:spPr>
          <p:txBody>
            <a:bodyPr wrap="none">
              <a:spAutoFit/>
            </a:bodyPr>
            <a:lstStyle/>
            <a:p>
              <a:pPr eaLnBrk="1" hangingPunct="1"/>
              <a:r>
                <a:rPr lang="en-US" sz="1200" b="1">
                  <a:latin typeface="Tahoma" pitchFamily="34" charset="0"/>
                  <a:cs typeface="Times New Roman" pitchFamily="18" charset="0"/>
                </a:rPr>
                <a:t>Concept Validation </a:t>
              </a:r>
            </a:p>
            <a:p>
              <a:pPr eaLnBrk="1" hangingPunct="1"/>
              <a:r>
                <a:rPr lang="en-US" sz="1200" b="1">
                  <a:latin typeface="Tahoma" pitchFamily="34" charset="0"/>
                  <a:cs typeface="Times New Roman" pitchFamily="18" charset="0"/>
                </a:rPr>
                <a:t>Against CDS &amp; Thesaurus</a:t>
              </a:r>
            </a:p>
          </p:txBody>
        </p:sp>
        <p:sp>
          <p:nvSpPr>
            <p:cNvPr id="97302" name="Line 22"/>
            <p:cNvSpPr>
              <a:spLocks noChangeShapeType="1"/>
            </p:cNvSpPr>
            <p:nvPr/>
          </p:nvSpPr>
          <p:spPr bwMode="auto">
            <a:xfrm flipH="1">
              <a:off x="5181600" y="4419600"/>
              <a:ext cx="533400" cy="0"/>
            </a:xfrm>
            <a:prstGeom prst="line">
              <a:avLst/>
            </a:prstGeom>
            <a:noFill/>
            <a:ln w="9525">
              <a:solidFill>
                <a:schemeClr val="tx1"/>
              </a:solidFill>
              <a:round/>
              <a:headEnd/>
              <a:tailEnd type="triangle" w="med" len="med"/>
            </a:ln>
            <a:effectLst/>
          </p:spPr>
          <p:txBody>
            <a:bodyPr/>
            <a:lstStyle/>
            <a:p>
              <a:endParaRPr lang="en-US"/>
            </a:p>
          </p:txBody>
        </p:sp>
        <p:sp>
          <p:nvSpPr>
            <p:cNvPr id="97303" name="Line 23"/>
            <p:cNvSpPr>
              <a:spLocks noChangeShapeType="1"/>
            </p:cNvSpPr>
            <p:nvPr/>
          </p:nvSpPr>
          <p:spPr bwMode="auto">
            <a:xfrm flipV="1">
              <a:off x="1981200" y="4114800"/>
              <a:ext cx="228600" cy="152400"/>
            </a:xfrm>
            <a:prstGeom prst="line">
              <a:avLst/>
            </a:prstGeom>
            <a:noFill/>
            <a:ln w="9525">
              <a:solidFill>
                <a:schemeClr val="tx1"/>
              </a:solidFill>
              <a:round/>
              <a:headEnd/>
              <a:tailEnd type="triangle" w="med" len="med"/>
            </a:ln>
            <a:effectLst/>
          </p:spPr>
          <p:txBody>
            <a:bodyPr/>
            <a:lstStyle/>
            <a:p>
              <a:endParaRPr lang="en-US"/>
            </a:p>
          </p:txBody>
        </p:sp>
        <p:sp>
          <p:nvSpPr>
            <p:cNvPr id="97304" name="Text Box 24"/>
            <p:cNvSpPr txBox="1">
              <a:spLocks noChangeArrowheads="1"/>
            </p:cNvSpPr>
            <p:nvPr/>
          </p:nvSpPr>
          <p:spPr bwMode="auto">
            <a:xfrm>
              <a:off x="6132513" y="2586038"/>
              <a:ext cx="1477962" cy="639762"/>
            </a:xfrm>
            <a:prstGeom prst="rect">
              <a:avLst/>
            </a:prstGeom>
            <a:noFill/>
            <a:ln w="9525">
              <a:noFill/>
              <a:miter lim="800000"/>
              <a:headEnd/>
              <a:tailEnd/>
            </a:ln>
            <a:effectLst/>
          </p:spPr>
          <p:txBody>
            <a:bodyPr wrap="none">
              <a:spAutoFit/>
            </a:bodyPr>
            <a:lstStyle/>
            <a:p>
              <a:pPr eaLnBrk="1" hangingPunct="1"/>
              <a:r>
                <a:rPr lang="en-US" sz="1200" b="1">
                  <a:latin typeface="Tahoma" pitchFamily="34" charset="0"/>
                  <a:cs typeface="Times New Roman" pitchFamily="18" charset="0"/>
                </a:rPr>
                <a:t>Content Capture</a:t>
              </a:r>
            </a:p>
            <a:p>
              <a:pPr eaLnBrk="1" hangingPunct="1"/>
              <a:r>
                <a:rPr lang="en-US" sz="1200" b="1">
                  <a:latin typeface="Tahoma" pitchFamily="34" charset="0"/>
                  <a:cs typeface="Times New Roman" pitchFamily="18" charset="0"/>
                </a:rPr>
                <a:t>&amp; Programmatic </a:t>
              </a:r>
            </a:p>
            <a:p>
              <a:pPr eaLnBrk="1" hangingPunct="1"/>
              <a:r>
                <a:rPr lang="en-US" sz="1200" b="1">
                  <a:latin typeface="Tahoma" pitchFamily="34" charset="0"/>
                  <a:cs typeface="Times New Roman" pitchFamily="18" charset="0"/>
                </a:rPr>
                <a:t>Extraction</a:t>
              </a:r>
              <a:r>
                <a:rPr lang="en-US" sz="1200">
                  <a:latin typeface="Tahoma" pitchFamily="34" charset="0"/>
                  <a:cs typeface="Times New Roman" pitchFamily="18" charset="0"/>
                </a:rPr>
                <a:t> </a:t>
              </a:r>
            </a:p>
          </p:txBody>
        </p:sp>
        <p:sp>
          <p:nvSpPr>
            <p:cNvPr id="97305" name="Text Box 25"/>
            <p:cNvSpPr txBox="1">
              <a:spLocks noChangeArrowheads="1"/>
            </p:cNvSpPr>
            <p:nvPr/>
          </p:nvSpPr>
          <p:spPr bwMode="auto">
            <a:xfrm>
              <a:off x="1828800" y="4648200"/>
              <a:ext cx="1371600" cy="822325"/>
            </a:xfrm>
            <a:prstGeom prst="rect">
              <a:avLst/>
            </a:prstGeom>
            <a:noFill/>
            <a:ln w="9525">
              <a:noFill/>
              <a:miter lim="800000"/>
              <a:headEnd/>
              <a:tailEnd/>
            </a:ln>
            <a:effectLst/>
          </p:spPr>
          <p:txBody>
            <a:bodyPr>
              <a:spAutoFit/>
            </a:bodyPr>
            <a:lstStyle/>
            <a:p>
              <a:pPr eaLnBrk="1" hangingPunct="1"/>
              <a:r>
                <a:rPr lang="en-US" sz="1200" b="1">
                  <a:latin typeface="Tahoma" pitchFamily="34" charset="0"/>
                  <a:cs typeface="Times New Roman" pitchFamily="18" charset="0"/>
                </a:rPr>
                <a:t>Content Processed</a:t>
              </a:r>
            </a:p>
            <a:p>
              <a:pPr eaLnBrk="1" hangingPunct="1"/>
              <a:r>
                <a:rPr lang="en-US" sz="1200" b="1">
                  <a:latin typeface="Tahoma" pitchFamily="34" charset="0"/>
                  <a:cs typeface="Times New Roman" pitchFamily="18" charset="0"/>
                </a:rPr>
                <a:t>&amp; Reviewed By </a:t>
              </a:r>
            </a:p>
            <a:p>
              <a:pPr eaLnBrk="1" hangingPunct="1"/>
              <a:r>
                <a:rPr lang="en-US" sz="1200" b="1">
                  <a:latin typeface="Tahoma" pitchFamily="34" charset="0"/>
                  <a:cs typeface="Times New Roman" pitchFamily="18" charset="0"/>
                </a:rPr>
                <a:t>Human</a:t>
              </a:r>
            </a:p>
          </p:txBody>
        </p:sp>
        <p:sp>
          <p:nvSpPr>
            <p:cNvPr id="97306" name="Line 26"/>
            <p:cNvSpPr>
              <a:spLocks noChangeShapeType="1"/>
            </p:cNvSpPr>
            <p:nvPr/>
          </p:nvSpPr>
          <p:spPr bwMode="auto">
            <a:xfrm flipH="1">
              <a:off x="5105400" y="2438400"/>
              <a:ext cx="1143000" cy="1447800"/>
            </a:xfrm>
            <a:prstGeom prst="line">
              <a:avLst/>
            </a:prstGeom>
            <a:noFill/>
            <a:ln w="9525">
              <a:solidFill>
                <a:schemeClr val="tx1"/>
              </a:solidFill>
              <a:round/>
              <a:headEnd/>
              <a:tailEnd type="triangle" w="med" len="med"/>
            </a:ln>
            <a:effectLst/>
          </p:spPr>
          <p:txBody>
            <a:bodyPr/>
            <a:lstStyle/>
            <a:p>
              <a:endParaRPr lang="en-US"/>
            </a:p>
          </p:txBody>
        </p:sp>
        <p:sp>
          <p:nvSpPr>
            <p:cNvPr id="97308" name="Text Box 28"/>
            <p:cNvSpPr txBox="1">
              <a:spLocks noChangeArrowheads="1"/>
            </p:cNvSpPr>
            <p:nvPr/>
          </p:nvSpPr>
          <p:spPr bwMode="auto">
            <a:xfrm>
              <a:off x="3670300" y="2814638"/>
              <a:ext cx="1944688" cy="517525"/>
            </a:xfrm>
            <a:prstGeom prst="rect">
              <a:avLst/>
            </a:prstGeom>
            <a:noFill/>
            <a:ln w="12700">
              <a:noFill/>
              <a:miter lim="800000"/>
              <a:headEnd/>
              <a:tailEnd/>
            </a:ln>
            <a:effectLst/>
          </p:spPr>
          <p:txBody>
            <a:bodyPr wrap="none">
              <a:spAutoFit/>
            </a:bodyPr>
            <a:lstStyle/>
            <a:p>
              <a:r>
                <a:rPr lang="en-US" sz="1400" b="1">
                  <a:latin typeface="Tahoma" pitchFamily="34" charset="0"/>
                  <a:cs typeface="Times New Roman" pitchFamily="18" charset="0"/>
                </a:rPr>
                <a:t>Selective Metadata </a:t>
              </a:r>
            </a:p>
            <a:p>
              <a:r>
                <a:rPr lang="en-US" sz="1400" b="1">
                  <a:latin typeface="Tahoma" pitchFamily="34" charset="0"/>
                  <a:cs typeface="Times New Roman" pitchFamily="18" charset="0"/>
                </a:rPr>
                <a:t>Attributes</a:t>
              </a:r>
            </a:p>
          </p:txBody>
        </p:sp>
        <p:sp>
          <p:nvSpPr>
            <p:cNvPr id="97309" name="Line 29"/>
            <p:cNvSpPr>
              <a:spLocks noChangeShapeType="1"/>
            </p:cNvSpPr>
            <p:nvPr/>
          </p:nvSpPr>
          <p:spPr bwMode="auto">
            <a:xfrm flipV="1">
              <a:off x="4648200" y="3505200"/>
              <a:ext cx="0" cy="457200"/>
            </a:xfrm>
            <a:prstGeom prst="line">
              <a:avLst/>
            </a:prstGeom>
            <a:noFill/>
            <a:ln w="12700">
              <a:solidFill>
                <a:schemeClr val="tx1"/>
              </a:solidFill>
              <a:round/>
              <a:headEnd/>
              <a:tailEnd type="triangle" w="med" len="med"/>
            </a:ln>
            <a:effectLst/>
          </p:spPr>
          <p:txBody>
            <a:bodyPr/>
            <a:lstStyle/>
            <a:p>
              <a:endParaRPr lang="en-US"/>
            </a:p>
          </p:txBody>
        </p:sp>
      </p:grpSp>
      <p:sp>
        <p:nvSpPr>
          <p:cNvPr id="30" name="Title 29"/>
          <p:cNvSpPr>
            <a:spLocks noGrp="1"/>
          </p:cNvSpPr>
          <p:nvPr>
            <p:ph type="title"/>
          </p:nvPr>
        </p:nvSpPr>
        <p:spPr/>
        <p:txBody>
          <a:bodyPr/>
          <a:lstStyle/>
          <a:p>
            <a:r>
              <a:rPr lang="en-US" dirty="0" smtClean="0"/>
              <a:t>Conceptual View of the Framework</a:t>
            </a:r>
            <a:endParaRPr lang="en-US" dirty="0"/>
          </a:p>
        </p:txBody>
      </p:sp>
    </p:spTree>
  </p:cSld>
  <p:clrMapOvr>
    <a:masterClrMapping/>
  </p:clrMapOvr>
  <p:transition advTm="31000">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47918" y="1358153"/>
            <a:ext cx="8901953" cy="5233241"/>
            <a:chOff x="48" y="288"/>
            <a:chExt cx="5664" cy="4032"/>
          </a:xfrm>
        </p:grpSpPr>
        <p:sp>
          <p:nvSpPr>
            <p:cNvPr id="95235" name="Rectangle 3"/>
            <p:cNvSpPr>
              <a:spLocks noChangeArrowheads="1"/>
            </p:cNvSpPr>
            <p:nvPr/>
          </p:nvSpPr>
          <p:spPr bwMode="auto">
            <a:xfrm>
              <a:off x="48" y="912"/>
              <a:ext cx="5664" cy="3408"/>
            </a:xfrm>
            <a:prstGeom prst="rect">
              <a:avLst/>
            </a:prstGeom>
            <a:solidFill>
              <a:srgbClr val="FFFFCC"/>
            </a:solidFill>
            <a:ln w="19050">
              <a:noFill/>
              <a:prstDash val="sysDot"/>
              <a:miter lim="800000"/>
              <a:headEnd/>
              <a:tailEnd/>
            </a:ln>
            <a:effectLst/>
          </p:spPr>
          <p:txBody>
            <a:bodyPr wrap="none" anchor="ctr"/>
            <a:lstStyle/>
            <a:p>
              <a:endParaRPr lang="en-US"/>
            </a:p>
          </p:txBody>
        </p:sp>
        <p:sp>
          <p:nvSpPr>
            <p:cNvPr id="95236" name="AutoShape 4"/>
            <p:cNvSpPr>
              <a:spLocks noChangeArrowheads="1"/>
            </p:cNvSpPr>
            <p:nvPr/>
          </p:nvSpPr>
          <p:spPr bwMode="auto">
            <a:xfrm>
              <a:off x="4656" y="480"/>
              <a:ext cx="96" cy="432"/>
            </a:xfrm>
            <a:prstGeom prst="roundRect">
              <a:avLst>
                <a:gd name="adj" fmla="val 16667"/>
              </a:avLst>
            </a:prstGeom>
            <a:gradFill rotWithShape="0">
              <a:gsLst>
                <a:gs pos="0">
                  <a:srgbClr val="FFFFFF"/>
                </a:gs>
                <a:gs pos="100000">
                  <a:srgbClr val="0066CC"/>
                </a:gs>
              </a:gsLst>
              <a:lin ang="5400000" scaled="1"/>
            </a:gradFill>
            <a:ln w="9525">
              <a:noFill/>
              <a:round/>
              <a:headEnd/>
              <a:tailEnd/>
            </a:ln>
            <a:effectLst/>
          </p:spPr>
          <p:txBody>
            <a:bodyPr wrap="none" anchor="ctr"/>
            <a:lstStyle/>
            <a:p>
              <a:endParaRPr lang="en-US"/>
            </a:p>
          </p:txBody>
        </p:sp>
        <p:sp>
          <p:nvSpPr>
            <p:cNvPr id="95237" name="AutoShape 5"/>
            <p:cNvSpPr>
              <a:spLocks noChangeArrowheads="1"/>
            </p:cNvSpPr>
            <p:nvPr/>
          </p:nvSpPr>
          <p:spPr bwMode="auto">
            <a:xfrm>
              <a:off x="3264" y="912"/>
              <a:ext cx="2256" cy="336"/>
            </a:xfrm>
            <a:prstGeom prst="roundRect">
              <a:avLst>
                <a:gd name="adj" fmla="val 16667"/>
              </a:avLst>
            </a:prstGeom>
            <a:gradFill rotWithShape="0">
              <a:gsLst>
                <a:gs pos="0">
                  <a:srgbClr val="EFFFFF">
                    <a:gamma/>
                    <a:shade val="66275"/>
                    <a:invGamma/>
                  </a:srgbClr>
                </a:gs>
                <a:gs pos="50000">
                  <a:srgbClr val="EFFFFF"/>
                </a:gs>
                <a:gs pos="100000">
                  <a:srgbClr val="EFFFFF">
                    <a:gamma/>
                    <a:shade val="66275"/>
                    <a:invGamma/>
                  </a:srgbClr>
                </a:gs>
              </a:gsLst>
              <a:lin ang="0" scaled="1"/>
            </a:gradFill>
            <a:ln w="9525">
              <a:solidFill>
                <a:schemeClr val="tx1"/>
              </a:solidFill>
              <a:round/>
              <a:headEnd/>
              <a:tailEnd/>
            </a:ln>
            <a:effectLst/>
          </p:spPr>
          <p:txBody>
            <a:bodyPr wrap="none" anchor="ctr"/>
            <a:lstStyle/>
            <a:p>
              <a:endParaRPr lang="en-US"/>
            </a:p>
          </p:txBody>
        </p:sp>
        <p:sp>
          <p:nvSpPr>
            <p:cNvPr id="95238" name="Rectangle 6"/>
            <p:cNvSpPr>
              <a:spLocks noChangeArrowheads="1"/>
            </p:cNvSpPr>
            <p:nvPr/>
          </p:nvSpPr>
          <p:spPr bwMode="auto">
            <a:xfrm>
              <a:off x="864" y="3360"/>
              <a:ext cx="2784" cy="864"/>
            </a:xfrm>
            <a:prstGeom prst="rect">
              <a:avLst/>
            </a:prstGeom>
            <a:solidFill>
              <a:srgbClr val="E1FFFF"/>
            </a:solidFill>
            <a:ln w="28575">
              <a:solidFill>
                <a:schemeClr val="tx1"/>
              </a:solidFill>
              <a:prstDash val="sysDot"/>
              <a:miter lim="800000"/>
              <a:headEnd/>
              <a:tailEnd/>
            </a:ln>
            <a:effectLst/>
          </p:spPr>
          <p:txBody>
            <a:bodyPr wrap="none" anchor="ctr"/>
            <a:lstStyle/>
            <a:p>
              <a:endParaRPr lang="en-US" sz="1800">
                <a:latin typeface="Arial" charset="0"/>
                <a:cs typeface="Times New Roman" pitchFamily="18" charset="0"/>
              </a:endParaRPr>
            </a:p>
          </p:txBody>
        </p:sp>
        <p:sp>
          <p:nvSpPr>
            <p:cNvPr id="95239" name="AutoShape 7"/>
            <p:cNvSpPr>
              <a:spLocks noChangeArrowheads="1"/>
            </p:cNvSpPr>
            <p:nvPr/>
          </p:nvSpPr>
          <p:spPr bwMode="auto">
            <a:xfrm>
              <a:off x="2784" y="3528"/>
              <a:ext cx="576" cy="432"/>
            </a:xfrm>
            <a:prstGeom prst="can">
              <a:avLst>
                <a:gd name="adj" fmla="val 25000"/>
              </a:avLst>
            </a:prstGeom>
            <a:gradFill rotWithShape="0">
              <a:gsLst>
                <a:gs pos="0">
                  <a:srgbClr val="CCCCFF">
                    <a:gamma/>
                    <a:shade val="76078"/>
                    <a:invGamma/>
                  </a:srgbClr>
                </a:gs>
                <a:gs pos="50000">
                  <a:srgbClr val="CCCCFF"/>
                </a:gs>
                <a:gs pos="100000">
                  <a:srgbClr val="CCCCFF">
                    <a:gamma/>
                    <a:shade val="76078"/>
                    <a:invGamma/>
                  </a:srgbClr>
                </a:gs>
              </a:gsLst>
              <a:lin ang="0" scaled="1"/>
            </a:gradFill>
            <a:ln w="9525">
              <a:solidFill>
                <a:schemeClr val="tx1"/>
              </a:solidFill>
              <a:round/>
              <a:headEnd/>
              <a:tailEnd/>
            </a:ln>
            <a:effectLst/>
          </p:spPr>
          <p:txBody>
            <a:bodyPr wrap="none" anchor="ctr"/>
            <a:lstStyle/>
            <a:p>
              <a:r>
                <a:rPr lang="en-US" sz="900" b="1">
                  <a:latin typeface="Arial" charset="0"/>
                  <a:cs typeface="Times New Roman" pitchFamily="18" charset="0"/>
                </a:rPr>
                <a:t>Metadata</a:t>
              </a:r>
            </a:p>
            <a:p>
              <a:r>
                <a:rPr lang="en-US" sz="900" b="1">
                  <a:latin typeface="Arial" charset="0"/>
                  <a:cs typeface="Times New Roman" pitchFamily="18" charset="0"/>
                </a:rPr>
                <a:t>warehouse</a:t>
              </a:r>
            </a:p>
          </p:txBody>
        </p:sp>
        <p:sp>
          <p:nvSpPr>
            <p:cNvPr id="95240" name="AutoShape 8"/>
            <p:cNvSpPr>
              <a:spLocks noChangeArrowheads="1"/>
            </p:cNvSpPr>
            <p:nvPr/>
          </p:nvSpPr>
          <p:spPr bwMode="auto">
            <a:xfrm>
              <a:off x="1872" y="3528"/>
              <a:ext cx="768" cy="432"/>
            </a:xfrm>
            <a:prstGeom prst="can">
              <a:avLst>
                <a:gd name="adj" fmla="val 25000"/>
              </a:avLst>
            </a:prstGeom>
            <a:gradFill rotWithShape="0">
              <a:gsLst>
                <a:gs pos="0">
                  <a:srgbClr val="CCCCFF">
                    <a:gamma/>
                    <a:shade val="76078"/>
                    <a:invGamma/>
                  </a:srgbClr>
                </a:gs>
                <a:gs pos="50000">
                  <a:srgbClr val="CCCCFF"/>
                </a:gs>
                <a:gs pos="100000">
                  <a:srgbClr val="CCCCFF">
                    <a:gamma/>
                    <a:shade val="76078"/>
                    <a:invGamma/>
                  </a:srgbClr>
                </a:gs>
              </a:gsLst>
              <a:lin ang="0" scaled="1"/>
            </a:gradFill>
            <a:ln w="9525">
              <a:solidFill>
                <a:schemeClr val="tx1"/>
              </a:solidFill>
              <a:round/>
              <a:headEnd/>
              <a:tailEnd/>
            </a:ln>
            <a:effectLst/>
          </p:spPr>
          <p:txBody>
            <a:bodyPr wrap="none"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Documents, </a:t>
              </a:r>
            </a:p>
            <a:p>
              <a:pPr eaLnBrk="1" hangingPunct="1">
                <a:spcBef>
                  <a:spcPct val="20000"/>
                </a:spcBef>
                <a:buClr>
                  <a:srgbClr val="F48B00"/>
                </a:buClr>
                <a:buFont typeface="Wingdings" pitchFamily="2" charset="2"/>
                <a:buNone/>
              </a:pPr>
              <a:r>
                <a:rPr lang="en-US" sz="900" b="1">
                  <a:latin typeface="Arial" charset="0"/>
                  <a:cs typeface="Times New Roman" pitchFamily="18" charset="0"/>
                </a:rPr>
                <a:t>Images, Audio,</a:t>
              </a:r>
            </a:p>
            <a:p>
              <a:pPr eaLnBrk="1" hangingPunct="1">
                <a:spcBef>
                  <a:spcPct val="20000"/>
                </a:spcBef>
                <a:buClr>
                  <a:srgbClr val="F48B00"/>
                </a:buClr>
                <a:buFont typeface="Wingdings" pitchFamily="2" charset="2"/>
                <a:buNone/>
              </a:pPr>
              <a:r>
                <a:rPr lang="en-US" sz="900" b="1">
                  <a:latin typeface="Arial" charset="0"/>
                  <a:cs typeface="Times New Roman" pitchFamily="18" charset="0"/>
                </a:rPr>
                <a:t> Data records</a:t>
              </a:r>
              <a:endParaRPr lang="en-US" sz="1800">
                <a:latin typeface="Arial" charset="0"/>
                <a:cs typeface="Times New Roman" pitchFamily="18" charset="0"/>
              </a:endParaRPr>
            </a:p>
          </p:txBody>
        </p:sp>
        <p:sp>
          <p:nvSpPr>
            <p:cNvPr id="95241" name="AutoShape 9"/>
            <p:cNvSpPr>
              <a:spLocks noChangeArrowheads="1"/>
            </p:cNvSpPr>
            <p:nvPr/>
          </p:nvSpPr>
          <p:spPr bwMode="auto">
            <a:xfrm>
              <a:off x="864" y="1392"/>
              <a:ext cx="2256" cy="816"/>
            </a:xfrm>
            <a:prstGeom prst="roundRect">
              <a:avLst>
                <a:gd name="adj" fmla="val 16667"/>
              </a:avLst>
            </a:prstGeom>
            <a:solidFill>
              <a:srgbClr val="FFCCFF"/>
            </a:solidFill>
            <a:ln w="9525">
              <a:solidFill>
                <a:schemeClr val="tx1"/>
              </a:solidFill>
              <a:round/>
              <a:headEnd/>
              <a:tailEnd/>
            </a:ln>
            <a:effectLst/>
          </p:spPr>
          <p:txBody>
            <a:bodyPr wrap="none" anchor="ctr"/>
            <a:lstStyle/>
            <a:p>
              <a:endParaRPr lang="en-US"/>
            </a:p>
          </p:txBody>
        </p:sp>
        <p:sp>
          <p:nvSpPr>
            <p:cNvPr id="95242" name="AutoShape 10"/>
            <p:cNvSpPr>
              <a:spLocks noChangeArrowheads="1"/>
            </p:cNvSpPr>
            <p:nvPr/>
          </p:nvSpPr>
          <p:spPr bwMode="auto">
            <a:xfrm>
              <a:off x="3168" y="1392"/>
              <a:ext cx="2400" cy="816"/>
            </a:xfrm>
            <a:prstGeom prst="roundRect">
              <a:avLst>
                <a:gd name="adj" fmla="val 16667"/>
              </a:avLst>
            </a:prstGeom>
            <a:solidFill>
              <a:srgbClr val="E1FFFF"/>
            </a:solidFill>
            <a:ln w="9525">
              <a:solidFill>
                <a:schemeClr val="tx1"/>
              </a:solidFill>
              <a:round/>
              <a:headEnd/>
              <a:tailEnd/>
            </a:ln>
            <a:effectLst/>
          </p:spPr>
          <p:txBody>
            <a:bodyPr wrap="none" anchor="ctr"/>
            <a:lstStyle/>
            <a:p>
              <a:endParaRPr lang="en-US"/>
            </a:p>
          </p:txBody>
        </p:sp>
        <p:sp>
          <p:nvSpPr>
            <p:cNvPr id="95243" name="AutoShape 11"/>
            <p:cNvSpPr>
              <a:spLocks noChangeArrowheads="1"/>
            </p:cNvSpPr>
            <p:nvPr/>
          </p:nvSpPr>
          <p:spPr bwMode="auto">
            <a:xfrm>
              <a:off x="864" y="2496"/>
              <a:ext cx="4704" cy="480"/>
            </a:xfrm>
            <a:prstGeom prst="roundRect">
              <a:avLst>
                <a:gd name="adj" fmla="val 16667"/>
              </a:avLst>
            </a:prstGeom>
            <a:solidFill>
              <a:srgbClr val="FFCCCC"/>
            </a:solidFill>
            <a:ln w="9525">
              <a:solidFill>
                <a:schemeClr val="tx1"/>
              </a:solidFill>
              <a:round/>
              <a:headEnd/>
              <a:tailEnd/>
            </a:ln>
            <a:effectLst/>
          </p:spPr>
          <p:txBody>
            <a:bodyPr wrap="none" anchor="ctr"/>
            <a:lstStyle/>
            <a:p>
              <a:endParaRPr lang="en-US"/>
            </a:p>
          </p:txBody>
        </p:sp>
        <p:sp>
          <p:nvSpPr>
            <p:cNvPr id="95244" name="Rectangle 12"/>
            <p:cNvSpPr>
              <a:spLocks noChangeArrowheads="1"/>
            </p:cNvSpPr>
            <p:nvPr/>
          </p:nvSpPr>
          <p:spPr bwMode="auto">
            <a:xfrm>
              <a:off x="96" y="960"/>
              <a:ext cx="576" cy="3264"/>
            </a:xfrm>
            <a:prstGeom prst="rect">
              <a:avLst/>
            </a:prstGeom>
            <a:solidFill>
              <a:srgbClr val="CCCCFF"/>
            </a:solidFill>
            <a:ln w="19050">
              <a:solidFill>
                <a:schemeClr val="bg2"/>
              </a:solidFill>
              <a:prstDash val="sysDot"/>
              <a:miter lim="800000"/>
              <a:headEnd/>
              <a:tailEnd/>
            </a:ln>
            <a:effectLst/>
          </p:spPr>
          <p:txBody>
            <a:bodyPr wrap="none" anchor="ctr"/>
            <a:lstStyle/>
            <a:p>
              <a:endParaRPr lang="en-US"/>
            </a:p>
          </p:txBody>
        </p:sp>
        <p:sp>
          <p:nvSpPr>
            <p:cNvPr id="95245" name="Rectangle 13"/>
            <p:cNvSpPr>
              <a:spLocks noChangeArrowheads="1"/>
            </p:cNvSpPr>
            <p:nvPr/>
          </p:nvSpPr>
          <p:spPr bwMode="gray">
            <a:xfrm>
              <a:off x="3312" y="1440"/>
              <a:ext cx="2160" cy="144"/>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1000" b="1">
                  <a:latin typeface="Arial" charset="0"/>
                  <a:cs typeface="Times New Roman" pitchFamily="18" charset="0"/>
                </a:rPr>
                <a:t>Content Management Services</a:t>
              </a:r>
            </a:p>
          </p:txBody>
        </p:sp>
        <p:sp>
          <p:nvSpPr>
            <p:cNvPr id="95246" name="Rectangle 14"/>
            <p:cNvSpPr>
              <a:spLocks noChangeArrowheads="1"/>
            </p:cNvSpPr>
            <p:nvPr/>
          </p:nvSpPr>
          <p:spPr bwMode="auto">
            <a:xfrm>
              <a:off x="4464" y="3360"/>
              <a:ext cx="1104" cy="864"/>
            </a:xfrm>
            <a:prstGeom prst="rect">
              <a:avLst/>
            </a:prstGeom>
            <a:solidFill>
              <a:srgbClr val="CCFFCC"/>
            </a:solidFill>
            <a:ln w="28575">
              <a:solidFill>
                <a:srgbClr val="FF9900"/>
              </a:solidFill>
              <a:prstDash val="sysDot"/>
              <a:miter lim="800000"/>
              <a:headEnd/>
              <a:tailEnd/>
            </a:ln>
            <a:effectLst/>
          </p:spPr>
          <p:txBody>
            <a:bodyPr wrap="none" anchor="ctr"/>
            <a:lstStyle/>
            <a:p>
              <a:endParaRPr lang="en-US"/>
            </a:p>
          </p:txBody>
        </p:sp>
        <p:sp>
          <p:nvSpPr>
            <p:cNvPr id="95247" name="AutoShape 15"/>
            <p:cNvSpPr>
              <a:spLocks noChangeArrowheads="1"/>
            </p:cNvSpPr>
            <p:nvPr/>
          </p:nvSpPr>
          <p:spPr bwMode="gray">
            <a:xfrm>
              <a:off x="3504" y="1104"/>
              <a:ext cx="480" cy="96"/>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ePublish</a:t>
              </a:r>
            </a:p>
          </p:txBody>
        </p:sp>
        <p:sp>
          <p:nvSpPr>
            <p:cNvPr id="95248" name="AutoShape 16"/>
            <p:cNvSpPr>
              <a:spLocks noChangeArrowheads="1"/>
            </p:cNvSpPr>
            <p:nvPr/>
          </p:nvSpPr>
          <p:spPr bwMode="gray">
            <a:xfrm>
              <a:off x="4080" y="1104"/>
              <a:ext cx="480" cy="96"/>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PDS</a:t>
              </a:r>
            </a:p>
          </p:txBody>
        </p:sp>
        <p:sp>
          <p:nvSpPr>
            <p:cNvPr id="95249" name="Rectangle 17"/>
            <p:cNvSpPr>
              <a:spLocks noChangeArrowheads="1"/>
            </p:cNvSpPr>
            <p:nvPr/>
          </p:nvSpPr>
          <p:spPr bwMode="gray">
            <a:xfrm>
              <a:off x="864" y="1440"/>
              <a:ext cx="2256" cy="144"/>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1000" b="1">
                  <a:latin typeface="Arial" charset="0"/>
                  <a:cs typeface="Times New Roman" pitchFamily="18" charset="0"/>
                </a:rPr>
                <a:t>Content Access Services</a:t>
              </a:r>
            </a:p>
          </p:txBody>
        </p:sp>
        <p:sp>
          <p:nvSpPr>
            <p:cNvPr id="95250" name="AutoShape 18"/>
            <p:cNvSpPr>
              <a:spLocks noChangeArrowheads="1"/>
            </p:cNvSpPr>
            <p:nvPr/>
          </p:nvSpPr>
          <p:spPr bwMode="auto">
            <a:xfrm>
              <a:off x="4560" y="3408"/>
              <a:ext cx="384" cy="288"/>
            </a:xfrm>
            <a:prstGeom prst="roundRect">
              <a:avLst>
                <a:gd name="adj" fmla="val 16667"/>
              </a:avLst>
            </a:prstGeom>
            <a:gradFill rotWithShape="0">
              <a:gsLst>
                <a:gs pos="0">
                  <a:srgbClr val="99FF99"/>
                </a:gs>
                <a:gs pos="100000">
                  <a:srgbClr val="99FF99">
                    <a:gamma/>
                    <a:shade val="66275"/>
                    <a:invGamma/>
                  </a:srgbClr>
                </a:gs>
              </a:gsLst>
              <a:lin ang="18900000" scaled="1"/>
            </a:gradFill>
            <a:ln w="9525">
              <a:solidFill>
                <a:schemeClr val="tx1"/>
              </a:solidFill>
              <a:round/>
              <a:headEnd/>
              <a:tailEnd/>
            </a:ln>
            <a:effectLst/>
          </p:spPr>
          <p:txBody>
            <a:bodyPr wrap="none" anchor="ctr"/>
            <a:lstStyle/>
            <a:p>
              <a:endParaRPr lang="en-US"/>
            </a:p>
          </p:txBody>
        </p:sp>
        <p:sp>
          <p:nvSpPr>
            <p:cNvPr id="95251" name="Rectangle 19"/>
            <p:cNvSpPr>
              <a:spLocks noChangeArrowheads="1"/>
            </p:cNvSpPr>
            <p:nvPr/>
          </p:nvSpPr>
          <p:spPr bwMode="gray">
            <a:xfrm>
              <a:off x="4512" y="3456"/>
              <a:ext cx="480" cy="144"/>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SAP</a:t>
              </a:r>
            </a:p>
            <a:p>
              <a:pPr eaLnBrk="1" hangingPunct="1">
                <a:spcBef>
                  <a:spcPct val="20000"/>
                </a:spcBef>
                <a:buClr>
                  <a:srgbClr val="F48B00"/>
                </a:buClr>
                <a:buFont typeface="Wingdings" pitchFamily="2" charset="2"/>
                <a:buNone/>
              </a:pPr>
              <a:r>
                <a:rPr lang="en-US" sz="900" b="1">
                  <a:latin typeface="Arial" charset="0"/>
                  <a:cs typeface="Times New Roman" pitchFamily="18" charset="0"/>
                </a:rPr>
                <a:t>(R/3, BW)</a:t>
              </a:r>
            </a:p>
          </p:txBody>
        </p:sp>
        <p:sp>
          <p:nvSpPr>
            <p:cNvPr id="95252" name="AutoShape 20"/>
            <p:cNvSpPr>
              <a:spLocks noChangeArrowheads="1"/>
            </p:cNvSpPr>
            <p:nvPr/>
          </p:nvSpPr>
          <p:spPr bwMode="auto">
            <a:xfrm>
              <a:off x="5040" y="3408"/>
              <a:ext cx="384" cy="240"/>
            </a:xfrm>
            <a:prstGeom prst="roundRect">
              <a:avLst>
                <a:gd name="adj" fmla="val 16667"/>
              </a:avLst>
            </a:prstGeom>
            <a:gradFill rotWithShape="0">
              <a:gsLst>
                <a:gs pos="0">
                  <a:srgbClr val="99FF99"/>
                </a:gs>
                <a:gs pos="100000">
                  <a:srgbClr val="99FF99">
                    <a:gamma/>
                    <a:shade val="66275"/>
                    <a:invGamma/>
                  </a:srgbClr>
                </a:gs>
              </a:gsLst>
              <a:lin ang="18900000" scaled="1"/>
            </a:gradFill>
            <a:ln w="9525">
              <a:solidFill>
                <a:schemeClr val="tx1"/>
              </a:solidFill>
              <a:round/>
              <a:headEnd/>
              <a:tailEnd/>
            </a:ln>
            <a:effectLst/>
          </p:spPr>
          <p:txBody>
            <a:bodyPr wrap="none" anchor="ctr"/>
            <a:lstStyle/>
            <a:p>
              <a:endParaRPr lang="en-US"/>
            </a:p>
          </p:txBody>
        </p:sp>
        <p:sp>
          <p:nvSpPr>
            <p:cNvPr id="95253" name="Rectangle 21"/>
            <p:cNvSpPr>
              <a:spLocks noChangeArrowheads="1"/>
            </p:cNvSpPr>
            <p:nvPr/>
          </p:nvSpPr>
          <p:spPr bwMode="gray">
            <a:xfrm>
              <a:off x="5040" y="3456"/>
              <a:ext cx="432" cy="144"/>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Notes /</a:t>
              </a:r>
            </a:p>
            <a:p>
              <a:pPr eaLnBrk="1" hangingPunct="1">
                <a:spcBef>
                  <a:spcPct val="20000"/>
                </a:spcBef>
                <a:buClr>
                  <a:srgbClr val="F48B00"/>
                </a:buClr>
                <a:buFont typeface="Wingdings" pitchFamily="2" charset="2"/>
                <a:buNone/>
              </a:pPr>
              <a:r>
                <a:rPr lang="en-US" sz="900" b="1">
                  <a:latin typeface="Arial" charset="0"/>
                  <a:cs typeface="Times New Roman" pitchFamily="18" charset="0"/>
                </a:rPr>
                <a:t>Domino</a:t>
              </a:r>
            </a:p>
          </p:txBody>
        </p:sp>
        <p:sp>
          <p:nvSpPr>
            <p:cNvPr id="95254" name="AutoShape 22"/>
            <p:cNvSpPr>
              <a:spLocks noChangeArrowheads="1"/>
            </p:cNvSpPr>
            <p:nvPr/>
          </p:nvSpPr>
          <p:spPr bwMode="gray">
            <a:xfrm>
              <a:off x="1008" y="2736"/>
              <a:ext cx="528" cy="192"/>
            </a:xfrm>
            <a:prstGeom prst="roundRect">
              <a:avLst>
                <a:gd name="adj" fmla="val 16667"/>
              </a:avLst>
            </a:prstGeom>
            <a:gradFill rotWithShape="0">
              <a:gsLst>
                <a:gs pos="0">
                  <a:schemeClr val="bg1"/>
                </a:gs>
                <a:gs pos="100000">
                  <a:schemeClr val="accent2"/>
                </a:gs>
              </a:gsLst>
              <a:lin ang="18900000" scaled="1"/>
            </a:gradFill>
            <a:ln w="12700">
              <a:noFill/>
              <a:round/>
              <a:headEnd/>
              <a:tailEnd/>
            </a:ln>
            <a:effectLst>
              <a:prstShdw prst="shdw17" dist="17961" dir="2700000">
                <a:schemeClr val="accent2">
                  <a:gamma/>
                  <a:shade val="60000"/>
                  <a:invGamma/>
                </a:scheme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relate</a:t>
              </a:r>
            </a:p>
          </p:txBody>
        </p:sp>
        <p:sp>
          <p:nvSpPr>
            <p:cNvPr id="95255" name="AutoShape 23"/>
            <p:cNvSpPr>
              <a:spLocks noChangeArrowheads="1"/>
            </p:cNvSpPr>
            <p:nvPr/>
          </p:nvSpPr>
          <p:spPr bwMode="gray">
            <a:xfrm>
              <a:off x="864" y="960"/>
              <a:ext cx="2208" cy="288"/>
            </a:xfrm>
            <a:prstGeom prst="roundRect">
              <a:avLst>
                <a:gd name="adj" fmla="val 16667"/>
              </a:avLst>
            </a:prstGeom>
            <a:gradFill rotWithShape="0">
              <a:gsLst>
                <a:gs pos="0">
                  <a:srgbClr val="90ADC2"/>
                </a:gs>
                <a:gs pos="50000">
                  <a:srgbClr val="FFFFFF"/>
                </a:gs>
                <a:gs pos="100000">
                  <a:srgbClr val="90ADC2"/>
                </a:gs>
              </a:gsLst>
              <a:lin ang="54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1000" b="1">
                  <a:latin typeface="Arial" charset="0"/>
                  <a:cs typeface="Times New Roman" pitchFamily="18" charset="0"/>
                </a:rPr>
                <a:t>DELIVERY</a:t>
              </a:r>
            </a:p>
          </p:txBody>
        </p:sp>
        <p:sp>
          <p:nvSpPr>
            <p:cNvPr id="95256" name="AutoShape 24"/>
            <p:cNvSpPr>
              <a:spLocks noChangeArrowheads="1"/>
            </p:cNvSpPr>
            <p:nvPr/>
          </p:nvSpPr>
          <p:spPr bwMode="gray">
            <a:xfrm>
              <a:off x="4656" y="1104"/>
              <a:ext cx="480" cy="96"/>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a:t>
              </a:r>
            </a:p>
          </p:txBody>
        </p:sp>
        <p:sp>
          <p:nvSpPr>
            <p:cNvPr id="95257" name="AutoShape 25"/>
            <p:cNvSpPr>
              <a:spLocks noChangeArrowheads="1"/>
            </p:cNvSpPr>
            <p:nvPr/>
          </p:nvSpPr>
          <p:spPr bwMode="gray">
            <a:xfrm>
              <a:off x="1152" y="1824"/>
              <a:ext cx="720"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search</a:t>
              </a:r>
            </a:p>
          </p:txBody>
        </p:sp>
        <p:sp>
          <p:nvSpPr>
            <p:cNvPr id="95258" name="AutoShape 26"/>
            <p:cNvSpPr>
              <a:spLocks noChangeArrowheads="1"/>
            </p:cNvSpPr>
            <p:nvPr/>
          </p:nvSpPr>
          <p:spPr bwMode="gray">
            <a:xfrm>
              <a:off x="1152" y="2016"/>
              <a:ext cx="720"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browsing</a:t>
              </a:r>
            </a:p>
          </p:txBody>
        </p:sp>
        <p:sp>
          <p:nvSpPr>
            <p:cNvPr id="95259" name="AutoShape 27"/>
            <p:cNvSpPr>
              <a:spLocks noChangeArrowheads="1"/>
            </p:cNvSpPr>
            <p:nvPr/>
          </p:nvSpPr>
          <p:spPr bwMode="gray">
            <a:xfrm>
              <a:off x="1152" y="1632"/>
              <a:ext cx="720"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view</a:t>
              </a:r>
            </a:p>
          </p:txBody>
        </p:sp>
        <p:sp>
          <p:nvSpPr>
            <p:cNvPr id="95260" name="AutoShape 28"/>
            <p:cNvSpPr>
              <a:spLocks noChangeArrowheads="1"/>
            </p:cNvSpPr>
            <p:nvPr/>
          </p:nvSpPr>
          <p:spPr bwMode="gray">
            <a:xfrm>
              <a:off x="3216" y="1680"/>
              <a:ext cx="672"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workflow</a:t>
              </a:r>
            </a:p>
          </p:txBody>
        </p:sp>
        <p:sp>
          <p:nvSpPr>
            <p:cNvPr id="95261" name="AutoShape 29"/>
            <p:cNvSpPr>
              <a:spLocks noChangeArrowheads="1"/>
            </p:cNvSpPr>
            <p:nvPr/>
          </p:nvSpPr>
          <p:spPr bwMode="gray">
            <a:xfrm>
              <a:off x="4752" y="1680"/>
              <a:ext cx="672"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check in/out</a:t>
              </a:r>
            </a:p>
          </p:txBody>
        </p:sp>
        <p:sp>
          <p:nvSpPr>
            <p:cNvPr id="95262" name="AutoShape 30"/>
            <p:cNvSpPr>
              <a:spLocks noChangeArrowheads="1"/>
            </p:cNvSpPr>
            <p:nvPr/>
          </p:nvSpPr>
          <p:spPr bwMode="gray">
            <a:xfrm>
              <a:off x="3216" y="1920"/>
              <a:ext cx="672"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versioning</a:t>
              </a:r>
            </a:p>
          </p:txBody>
        </p:sp>
        <p:sp>
          <p:nvSpPr>
            <p:cNvPr id="95263" name="AutoShape 31"/>
            <p:cNvSpPr>
              <a:spLocks noChangeArrowheads="1"/>
            </p:cNvSpPr>
            <p:nvPr/>
          </p:nvSpPr>
          <p:spPr bwMode="gray">
            <a:xfrm>
              <a:off x="3984" y="1920"/>
              <a:ext cx="672"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declare</a:t>
              </a:r>
            </a:p>
          </p:txBody>
        </p:sp>
        <p:sp>
          <p:nvSpPr>
            <p:cNvPr id="95264" name="AutoShape 32"/>
            <p:cNvSpPr>
              <a:spLocks noChangeArrowheads="1"/>
            </p:cNvSpPr>
            <p:nvPr/>
          </p:nvSpPr>
          <p:spPr bwMode="gray">
            <a:xfrm>
              <a:off x="4752" y="1920"/>
              <a:ext cx="672"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classification</a:t>
              </a:r>
            </a:p>
          </p:txBody>
        </p:sp>
        <p:sp>
          <p:nvSpPr>
            <p:cNvPr id="95265" name="AutoShape 33"/>
            <p:cNvSpPr>
              <a:spLocks noChangeArrowheads="1"/>
            </p:cNvSpPr>
            <p:nvPr/>
          </p:nvSpPr>
          <p:spPr bwMode="gray">
            <a:xfrm>
              <a:off x="3984" y="1680"/>
              <a:ext cx="672"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create/del.</a:t>
              </a:r>
            </a:p>
          </p:txBody>
        </p:sp>
        <p:sp>
          <p:nvSpPr>
            <p:cNvPr id="95266" name="AutoShape 34"/>
            <p:cNvSpPr>
              <a:spLocks noChangeArrowheads="1"/>
            </p:cNvSpPr>
            <p:nvPr/>
          </p:nvSpPr>
          <p:spPr bwMode="gray">
            <a:xfrm>
              <a:off x="2160" y="1824"/>
              <a:ext cx="720"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syndication</a:t>
              </a:r>
            </a:p>
          </p:txBody>
        </p:sp>
        <p:sp>
          <p:nvSpPr>
            <p:cNvPr id="95267" name="AutoShape 35"/>
            <p:cNvSpPr>
              <a:spLocks noChangeArrowheads="1"/>
            </p:cNvSpPr>
            <p:nvPr/>
          </p:nvSpPr>
          <p:spPr bwMode="gray">
            <a:xfrm>
              <a:off x="2160" y="1632"/>
              <a:ext cx="720"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multilingual srch</a:t>
              </a:r>
            </a:p>
          </p:txBody>
        </p:sp>
        <p:sp>
          <p:nvSpPr>
            <p:cNvPr id="95268" name="AutoShape 36"/>
            <p:cNvSpPr>
              <a:spLocks noChangeArrowheads="1"/>
            </p:cNvSpPr>
            <p:nvPr/>
          </p:nvSpPr>
          <p:spPr bwMode="gray">
            <a:xfrm>
              <a:off x="2160" y="2016"/>
              <a:ext cx="720" cy="144"/>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notification</a:t>
              </a:r>
            </a:p>
          </p:txBody>
        </p:sp>
        <p:sp>
          <p:nvSpPr>
            <p:cNvPr id="95269" name="AutoShape 37"/>
            <p:cNvSpPr>
              <a:spLocks noChangeArrowheads="1"/>
            </p:cNvSpPr>
            <p:nvPr/>
          </p:nvSpPr>
          <p:spPr bwMode="auto">
            <a:xfrm>
              <a:off x="4560" y="3792"/>
              <a:ext cx="384" cy="240"/>
            </a:xfrm>
            <a:prstGeom prst="roundRect">
              <a:avLst>
                <a:gd name="adj" fmla="val 16667"/>
              </a:avLst>
            </a:prstGeom>
            <a:gradFill rotWithShape="0">
              <a:gsLst>
                <a:gs pos="0">
                  <a:srgbClr val="99FF99"/>
                </a:gs>
                <a:gs pos="100000">
                  <a:srgbClr val="99FF99">
                    <a:gamma/>
                    <a:shade val="66275"/>
                    <a:invGamma/>
                  </a:srgbClr>
                </a:gs>
              </a:gsLst>
              <a:lin ang="18900000" scaled="1"/>
            </a:gradFill>
            <a:ln w="9525">
              <a:solidFill>
                <a:schemeClr val="tx1"/>
              </a:solidFill>
              <a:round/>
              <a:headEnd/>
              <a:tailEnd/>
            </a:ln>
            <a:effectLst/>
          </p:spPr>
          <p:txBody>
            <a:bodyPr wrap="none" anchor="ctr"/>
            <a:lstStyle/>
            <a:p>
              <a:endParaRPr lang="en-US"/>
            </a:p>
          </p:txBody>
        </p:sp>
        <p:sp>
          <p:nvSpPr>
            <p:cNvPr id="95270" name="Rectangle 38"/>
            <p:cNvSpPr>
              <a:spLocks noChangeArrowheads="1"/>
            </p:cNvSpPr>
            <p:nvPr/>
          </p:nvSpPr>
          <p:spPr bwMode="gray">
            <a:xfrm>
              <a:off x="4512" y="3840"/>
              <a:ext cx="480" cy="144"/>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People</a:t>
              </a:r>
            </a:p>
            <a:p>
              <a:pPr eaLnBrk="1" hangingPunct="1">
                <a:spcBef>
                  <a:spcPct val="20000"/>
                </a:spcBef>
                <a:buClr>
                  <a:srgbClr val="F48B00"/>
                </a:buClr>
                <a:buFont typeface="Wingdings" pitchFamily="2" charset="2"/>
                <a:buNone/>
              </a:pPr>
              <a:r>
                <a:rPr lang="en-US" sz="900" b="1">
                  <a:latin typeface="Arial" charset="0"/>
                  <a:cs typeface="Times New Roman" pitchFamily="18" charset="0"/>
                </a:rPr>
                <a:t>Soft</a:t>
              </a:r>
            </a:p>
          </p:txBody>
        </p:sp>
        <p:sp>
          <p:nvSpPr>
            <p:cNvPr id="95271" name="AutoShape 39"/>
            <p:cNvSpPr>
              <a:spLocks noChangeArrowheads="1"/>
            </p:cNvSpPr>
            <p:nvPr/>
          </p:nvSpPr>
          <p:spPr bwMode="auto">
            <a:xfrm>
              <a:off x="5040" y="3792"/>
              <a:ext cx="384" cy="200"/>
            </a:xfrm>
            <a:prstGeom prst="roundRect">
              <a:avLst>
                <a:gd name="adj" fmla="val 16667"/>
              </a:avLst>
            </a:prstGeom>
            <a:gradFill rotWithShape="0">
              <a:gsLst>
                <a:gs pos="0">
                  <a:srgbClr val="99FF99"/>
                </a:gs>
                <a:gs pos="100000">
                  <a:srgbClr val="99FF99">
                    <a:gamma/>
                    <a:shade val="66275"/>
                    <a:invGamma/>
                  </a:srgbClr>
                </a:gs>
              </a:gsLst>
              <a:lin ang="18900000" scaled="1"/>
            </a:gradFill>
            <a:ln w="9525">
              <a:solidFill>
                <a:schemeClr val="tx1"/>
              </a:solidFill>
              <a:round/>
              <a:headEnd/>
              <a:tailEnd/>
            </a:ln>
            <a:effectLst/>
          </p:spPr>
          <p:txBody>
            <a:bodyPr wrap="none" anchor="ctr"/>
            <a:lstStyle/>
            <a:p>
              <a:endParaRPr lang="en-US"/>
            </a:p>
          </p:txBody>
        </p:sp>
        <p:sp>
          <p:nvSpPr>
            <p:cNvPr id="95272" name="Rectangle 40"/>
            <p:cNvSpPr>
              <a:spLocks noChangeArrowheads="1"/>
            </p:cNvSpPr>
            <p:nvPr/>
          </p:nvSpPr>
          <p:spPr bwMode="gray">
            <a:xfrm>
              <a:off x="4992" y="3840"/>
              <a:ext cx="480" cy="144"/>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iLAP</a:t>
              </a:r>
            </a:p>
          </p:txBody>
        </p:sp>
        <p:sp>
          <p:nvSpPr>
            <p:cNvPr id="95273" name="Rectangle 41"/>
            <p:cNvSpPr>
              <a:spLocks noChangeArrowheads="1"/>
            </p:cNvSpPr>
            <p:nvPr/>
          </p:nvSpPr>
          <p:spPr bwMode="gray">
            <a:xfrm>
              <a:off x="1440" y="4032"/>
              <a:ext cx="1152" cy="144"/>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1000" b="1">
                  <a:latin typeface="Arial" charset="0"/>
                  <a:cs typeface="Times New Roman" pitchFamily="18" charset="0"/>
                </a:rPr>
                <a:t>Repositories Services</a:t>
              </a:r>
            </a:p>
          </p:txBody>
        </p:sp>
        <p:sp>
          <p:nvSpPr>
            <p:cNvPr id="95274" name="Rectangle 42"/>
            <p:cNvSpPr>
              <a:spLocks noChangeArrowheads="1"/>
            </p:cNvSpPr>
            <p:nvPr/>
          </p:nvSpPr>
          <p:spPr bwMode="gray">
            <a:xfrm>
              <a:off x="4464" y="4080"/>
              <a:ext cx="1056" cy="144"/>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1000" b="1">
                  <a:latin typeface="Arial" charset="0"/>
                  <a:cs typeface="Times New Roman" pitchFamily="18" charset="0"/>
                </a:rPr>
                <a:t>Business Systems</a:t>
              </a:r>
            </a:p>
          </p:txBody>
        </p:sp>
        <p:sp>
          <p:nvSpPr>
            <p:cNvPr id="95275" name="AutoShape 43"/>
            <p:cNvSpPr>
              <a:spLocks noChangeArrowheads="1"/>
            </p:cNvSpPr>
            <p:nvPr/>
          </p:nvSpPr>
          <p:spPr bwMode="gray">
            <a:xfrm>
              <a:off x="1776" y="2736"/>
              <a:ext cx="528" cy="192"/>
            </a:xfrm>
            <a:prstGeom prst="roundRect">
              <a:avLst>
                <a:gd name="adj" fmla="val 16667"/>
              </a:avLst>
            </a:prstGeom>
            <a:gradFill rotWithShape="0">
              <a:gsLst>
                <a:gs pos="0">
                  <a:schemeClr val="bg1"/>
                </a:gs>
                <a:gs pos="100000">
                  <a:schemeClr val="accent2"/>
                </a:gs>
              </a:gsLst>
              <a:lin ang="18900000" scaled="1"/>
            </a:gradFill>
            <a:ln w="12700">
              <a:noFill/>
              <a:round/>
              <a:headEnd/>
              <a:tailEnd/>
            </a:ln>
            <a:effectLst>
              <a:prstShdw prst="shdw17" dist="17961" dir="2700000">
                <a:schemeClr val="accent2">
                  <a:gamma/>
                  <a:shade val="60000"/>
                  <a:invGamma/>
                </a:scheme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Connector</a:t>
              </a:r>
            </a:p>
          </p:txBody>
        </p:sp>
        <p:sp>
          <p:nvSpPr>
            <p:cNvPr id="95276" name="AutoShape 44"/>
            <p:cNvSpPr>
              <a:spLocks noChangeArrowheads="1"/>
            </p:cNvSpPr>
            <p:nvPr/>
          </p:nvSpPr>
          <p:spPr bwMode="gray">
            <a:xfrm>
              <a:off x="2544" y="2736"/>
              <a:ext cx="528" cy="192"/>
            </a:xfrm>
            <a:prstGeom prst="roundRect">
              <a:avLst>
                <a:gd name="adj" fmla="val 16667"/>
              </a:avLst>
            </a:prstGeom>
            <a:gradFill rotWithShape="0">
              <a:gsLst>
                <a:gs pos="0">
                  <a:schemeClr val="bg1"/>
                </a:gs>
                <a:gs pos="100000">
                  <a:schemeClr val="accent2"/>
                </a:gs>
              </a:gsLst>
              <a:lin ang="18900000" scaled="1"/>
            </a:gradFill>
            <a:ln w="12700">
              <a:noFill/>
              <a:round/>
              <a:headEnd/>
              <a:tailEnd/>
            </a:ln>
            <a:effectLst>
              <a:prstShdw prst="shdw17" dist="17961" dir="2700000">
                <a:schemeClr val="accent2">
                  <a:gamma/>
                  <a:shade val="60000"/>
                  <a:invGamma/>
                </a:scheme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Concept extraction</a:t>
              </a:r>
            </a:p>
          </p:txBody>
        </p:sp>
        <p:sp>
          <p:nvSpPr>
            <p:cNvPr id="95277" name="AutoShape 45"/>
            <p:cNvSpPr>
              <a:spLocks noChangeArrowheads="1"/>
            </p:cNvSpPr>
            <p:nvPr/>
          </p:nvSpPr>
          <p:spPr bwMode="gray">
            <a:xfrm>
              <a:off x="3312" y="2736"/>
              <a:ext cx="528" cy="192"/>
            </a:xfrm>
            <a:prstGeom prst="roundRect">
              <a:avLst>
                <a:gd name="adj" fmla="val 16667"/>
              </a:avLst>
            </a:prstGeom>
            <a:gradFill rotWithShape="0">
              <a:gsLst>
                <a:gs pos="0">
                  <a:schemeClr val="bg1"/>
                </a:gs>
                <a:gs pos="100000">
                  <a:schemeClr val="accent2"/>
                </a:gs>
              </a:gsLst>
              <a:lin ang="18900000" scaled="1"/>
            </a:gradFill>
            <a:ln w="12700">
              <a:noFill/>
              <a:round/>
              <a:headEnd/>
              <a:tailEnd/>
            </a:ln>
            <a:effectLst>
              <a:prstShdw prst="shdw17" dist="17961" dir="2700000">
                <a:schemeClr val="accent2">
                  <a:gamma/>
                  <a:shade val="60000"/>
                  <a:invGamma/>
                </a:scheme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rules evaluator</a:t>
              </a:r>
            </a:p>
          </p:txBody>
        </p:sp>
        <p:sp>
          <p:nvSpPr>
            <p:cNvPr id="95278" name="AutoShape 46"/>
            <p:cNvSpPr>
              <a:spLocks noChangeArrowheads="1"/>
            </p:cNvSpPr>
            <p:nvPr/>
          </p:nvSpPr>
          <p:spPr bwMode="gray">
            <a:xfrm>
              <a:off x="4080" y="2736"/>
              <a:ext cx="576" cy="192"/>
            </a:xfrm>
            <a:prstGeom prst="roundRect">
              <a:avLst>
                <a:gd name="adj" fmla="val 16667"/>
              </a:avLst>
            </a:prstGeom>
            <a:gradFill rotWithShape="0">
              <a:gsLst>
                <a:gs pos="0">
                  <a:schemeClr val="bg1"/>
                </a:gs>
                <a:gs pos="100000">
                  <a:schemeClr val="accent2"/>
                </a:gs>
              </a:gsLst>
              <a:lin ang="18900000" scaled="1"/>
            </a:gradFill>
            <a:ln w="12700">
              <a:noFill/>
              <a:round/>
              <a:headEnd/>
              <a:tailEnd/>
            </a:ln>
            <a:effectLst>
              <a:prstShdw prst="shdw17" dist="17961" dir="2700000">
                <a:schemeClr val="accent2">
                  <a:gamma/>
                  <a:shade val="60000"/>
                  <a:invGamma/>
                </a:scheme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harmonize</a:t>
              </a:r>
            </a:p>
          </p:txBody>
        </p:sp>
        <p:sp>
          <p:nvSpPr>
            <p:cNvPr id="95279" name="AutoShape 47"/>
            <p:cNvSpPr>
              <a:spLocks noChangeArrowheads="1"/>
            </p:cNvSpPr>
            <p:nvPr/>
          </p:nvSpPr>
          <p:spPr bwMode="gray">
            <a:xfrm>
              <a:off x="4896" y="2736"/>
              <a:ext cx="528" cy="192"/>
            </a:xfrm>
            <a:prstGeom prst="roundRect">
              <a:avLst>
                <a:gd name="adj" fmla="val 16667"/>
              </a:avLst>
            </a:prstGeom>
            <a:gradFill rotWithShape="0">
              <a:gsLst>
                <a:gs pos="0">
                  <a:schemeClr val="bg1"/>
                </a:gs>
                <a:gs pos="100000">
                  <a:schemeClr val="accent2"/>
                </a:gs>
              </a:gsLst>
              <a:lin ang="18900000" scaled="1"/>
            </a:gradFill>
            <a:ln w="12700">
              <a:noFill/>
              <a:round/>
              <a:headEnd/>
              <a:tailEnd/>
            </a:ln>
            <a:effectLst>
              <a:prstShdw prst="shdw17" dist="17961" dir="2700000">
                <a:schemeClr val="accent2">
                  <a:gamma/>
                  <a:shade val="60000"/>
                  <a:invGamma/>
                </a:schemeClr>
              </a:prstShdw>
            </a:effectLst>
          </p:spPr>
          <p:txBody>
            <a:bodyPr anchor="ctr"/>
            <a:lstStyle/>
            <a:p>
              <a:pPr eaLnBrk="1" hangingPunct="1">
                <a:spcBef>
                  <a:spcPct val="20000"/>
                </a:spcBef>
                <a:buClr>
                  <a:srgbClr val="F48B00"/>
                </a:buClr>
                <a:buFont typeface="Wingdings" pitchFamily="2" charset="2"/>
                <a:buNone/>
              </a:pPr>
              <a:r>
                <a:rPr lang="en-US" sz="900" b="1">
                  <a:latin typeface="Arial" charset="0"/>
                  <a:cs typeface="Times New Roman" pitchFamily="18" charset="0"/>
                </a:rPr>
                <a:t>Adapter</a:t>
              </a:r>
            </a:p>
          </p:txBody>
        </p:sp>
        <p:sp>
          <p:nvSpPr>
            <p:cNvPr id="95280" name="Line 48"/>
            <p:cNvSpPr>
              <a:spLocks noChangeShapeType="1"/>
            </p:cNvSpPr>
            <p:nvPr/>
          </p:nvSpPr>
          <p:spPr bwMode="auto">
            <a:xfrm>
              <a:off x="2064" y="2976"/>
              <a:ext cx="1" cy="384"/>
            </a:xfrm>
            <a:prstGeom prst="line">
              <a:avLst/>
            </a:prstGeom>
            <a:noFill/>
            <a:ln w="38100">
              <a:solidFill>
                <a:srgbClr val="0099CC"/>
              </a:solidFill>
              <a:round/>
              <a:headEnd/>
              <a:tailEnd type="triangle" w="med" len="med"/>
            </a:ln>
            <a:effectLst/>
          </p:spPr>
          <p:txBody>
            <a:bodyPr/>
            <a:lstStyle/>
            <a:p>
              <a:endParaRPr lang="en-US"/>
            </a:p>
          </p:txBody>
        </p:sp>
        <p:sp>
          <p:nvSpPr>
            <p:cNvPr id="95281" name="Line 49"/>
            <p:cNvSpPr>
              <a:spLocks noChangeShapeType="1"/>
            </p:cNvSpPr>
            <p:nvPr/>
          </p:nvSpPr>
          <p:spPr bwMode="auto">
            <a:xfrm flipV="1">
              <a:off x="4992" y="2976"/>
              <a:ext cx="1" cy="384"/>
            </a:xfrm>
            <a:prstGeom prst="line">
              <a:avLst/>
            </a:prstGeom>
            <a:noFill/>
            <a:ln w="38100">
              <a:solidFill>
                <a:srgbClr val="0099CC"/>
              </a:solidFill>
              <a:round/>
              <a:headEnd/>
              <a:tailEnd type="triangle" w="med" len="med"/>
            </a:ln>
            <a:effectLst/>
          </p:spPr>
          <p:txBody>
            <a:bodyPr/>
            <a:lstStyle/>
            <a:p>
              <a:endParaRPr lang="en-US"/>
            </a:p>
          </p:txBody>
        </p:sp>
        <p:sp>
          <p:nvSpPr>
            <p:cNvPr id="95282" name="AutoShape 50"/>
            <p:cNvSpPr>
              <a:spLocks noChangeArrowheads="1"/>
            </p:cNvSpPr>
            <p:nvPr/>
          </p:nvSpPr>
          <p:spPr bwMode="auto">
            <a:xfrm>
              <a:off x="1872" y="2208"/>
              <a:ext cx="144" cy="288"/>
            </a:xfrm>
            <a:prstGeom prst="downArrow">
              <a:avLst>
                <a:gd name="adj1" fmla="val 50000"/>
                <a:gd name="adj2" fmla="val 50000"/>
              </a:avLst>
            </a:prstGeom>
            <a:gradFill rotWithShape="0">
              <a:gsLst>
                <a:gs pos="0">
                  <a:srgbClr val="FFFF66"/>
                </a:gs>
                <a:gs pos="50000">
                  <a:srgbClr val="FFFF66">
                    <a:gamma/>
                    <a:shade val="46275"/>
                    <a:invGamma/>
                  </a:srgbClr>
                </a:gs>
                <a:gs pos="100000">
                  <a:srgbClr val="FFFF66"/>
                </a:gs>
              </a:gsLst>
              <a:lin ang="0" scaled="1"/>
            </a:gradFill>
            <a:ln w="9525">
              <a:solidFill>
                <a:schemeClr val="tx1"/>
              </a:solidFill>
              <a:miter lim="800000"/>
              <a:headEnd/>
              <a:tailEnd/>
            </a:ln>
            <a:effectLst/>
          </p:spPr>
          <p:txBody>
            <a:bodyPr wrap="none" anchor="ctr"/>
            <a:lstStyle/>
            <a:p>
              <a:endParaRPr lang="en-US"/>
            </a:p>
          </p:txBody>
        </p:sp>
        <p:sp>
          <p:nvSpPr>
            <p:cNvPr id="95283" name="AutoShape 51"/>
            <p:cNvSpPr>
              <a:spLocks noChangeArrowheads="1"/>
            </p:cNvSpPr>
            <p:nvPr/>
          </p:nvSpPr>
          <p:spPr bwMode="auto">
            <a:xfrm>
              <a:off x="2592" y="2208"/>
              <a:ext cx="144" cy="288"/>
            </a:xfrm>
            <a:prstGeom prst="downArrow">
              <a:avLst>
                <a:gd name="adj1" fmla="val 50000"/>
                <a:gd name="adj2" fmla="val 50000"/>
              </a:avLst>
            </a:prstGeom>
            <a:gradFill rotWithShape="0">
              <a:gsLst>
                <a:gs pos="0">
                  <a:srgbClr val="FFFF66"/>
                </a:gs>
                <a:gs pos="50000">
                  <a:srgbClr val="FFFF66">
                    <a:gamma/>
                    <a:shade val="46275"/>
                    <a:invGamma/>
                  </a:srgbClr>
                </a:gs>
                <a:gs pos="100000">
                  <a:srgbClr val="FFFF66"/>
                </a:gs>
              </a:gsLst>
              <a:lin ang="0" scaled="1"/>
            </a:gradFill>
            <a:ln w="9525">
              <a:solidFill>
                <a:schemeClr val="tx1"/>
              </a:solidFill>
              <a:miter lim="800000"/>
              <a:headEnd/>
              <a:tailEnd/>
            </a:ln>
            <a:effectLst/>
          </p:spPr>
          <p:txBody>
            <a:bodyPr wrap="none" anchor="ctr"/>
            <a:lstStyle/>
            <a:p>
              <a:endParaRPr lang="en-US"/>
            </a:p>
          </p:txBody>
        </p:sp>
        <p:sp>
          <p:nvSpPr>
            <p:cNvPr id="95284" name="AutoShape 52"/>
            <p:cNvSpPr>
              <a:spLocks noChangeArrowheads="1"/>
            </p:cNvSpPr>
            <p:nvPr/>
          </p:nvSpPr>
          <p:spPr bwMode="auto">
            <a:xfrm>
              <a:off x="1104" y="2208"/>
              <a:ext cx="144" cy="288"/>
            </a:xfrm>
            <a:prstGeom prst="downArrow">
              <a:avLst>
                <a:gd name="adj1" fmla="val 50000"/>
                <a:gd name="adj2" fmla="val 50000"/>
              </a:avLst>
            </a:prstGeom>
            <a:gradFill rotWithShape="0">
              <a:gsLst>
                <a:gs pos="0">
                  <a:srgbClr val="FFFF66"/>
                </a:gs>
                <a:gs pos="50000">
                  <a:srgbClr val="FFFF66">
                    <a:gamma/>
                    <a:shade val="46275"/>
                    <a:invGamma/>
                  </a:srgbClr>
                </a:gs>
                <a:gs pos="100000">
                  <a:srgbClr val="FFFF66"/>
                </a:gs>
              </a:gsLst>
              <a:lin ang="0" scaled="1"/>
            </a:gradFill>
            <a:ln w="9525">
              <a:solidFill>
                <a:schemeClr val="tx1"/>
              </a:solidFill>
              <a:miter lim="800000"/>
              <a:headEnd/>
              <a:tailEnd/>
            </a:ln>
            <a:effectLst/>
          </p:spPr>
          <p:txBody>
            <a:bodyPr wrap="none" anchor="ctr"/>
            <a:lstStyle/>
            <a:p>
              <a:endParaRPr lang="en-US"/>
            </a:p>
          </p:txBody>
        </p:sp>
        <p:sp>
          <p:nvSpPr>
            <p:cNvPr id="95285" name="AutoShape 53"/>
            <p:cNvSpPr>
              <a:spLocks noChangeArrowheads="1"/>
            </p:cNvSpPr>
            <p:nvPr/>
          </p:nvSpPr>
          <p:spPr bwMode="auto">
            <a:xfrm>
              <a:off x="3408" y="2208"/>
              <a:ext cx="144" cy="288"/>
            </a:xfrm>
            <a:prstGeom prst="downArrow">
              <a:avLst>
                <a:gd name="adj1" fmla="val 50000"/>
                <a:gd name="adj2" fmla="val 50000"/>
              </a:avLst>
            </a:prstGeom>
            <a:gradFill rotWithShape="0">
              <a:gsLst>
                <a:gs pos="0">
                  <a:srgbClr val="FF6600">
                    <a:gamma/>
                    <a:shade val="9020"/>
                    <a:invGamma/>
                  </a:srgbClr>
                </a:gs>
                <a:gs pos="50000">
                  <a:srgbClr val="FF6600"/>
                </a:gs>
                <a:gs pos="100000">
                  <a:srgbClr val="FF6600">
                    <a:gamma/>
                    <a:shade val="9020"/>
                    <a:invGamma/>
                  </a:srgbClr>
                </a:gs>
              </a:gsLst>
              <a:lin ang="0" scaled="1"/>
            </a:gradFill>
            <a:ln w="9525">
              <a:solidFill>
                <a:schemeClr val="tx1"/>
              </a:solidFill>
              <a:miter lim="800000"/>
              <a:headEnd/>
              <a:tailEnd/>
            </a:ln>
            <a:effectLst/>
          </p:spPr>
          <p:txBody>
            <a:bodyPr wrap="none" anchor="ctr"/>
            <a:lstStyle/>
            <a:p>
              <a:endParaRPr lang="en-US"/>
            </a:p>
          </p:txBody>
        </p:sp>
        <p:sp>
          <p:nvSpPr>
            <p:cNvPr id="95286" name="AutoShape 54"/>
            <p:cNvSpPr>
              <a:spLocks noChangeArrowheads="1"/>
            </p:cNvSpPr>
            <p:nvPr/>
          </p:nvSpPr>
          <p:spPr bwMode="auto">
            <a:xfrm>
              <a:off x="4176" y="2208"/>
              <a:ext cx="144" cy="288"/>
            </a:xfrm>
            <a:prstGeom prst="downArrow">
              <a:avLst>
                <a:gd name="adj1" fmla="val 50000"/>
                <a:gd name="adj2" fmla="val 50000"/>
              </a:avLst>
            </a:prstGeom>
            <a:gradFill rotWithShape="0">
              <a:gsLst>
                <a:gs pos="0">
                  <a:srgbClr val="FF6600">
                    <a:gamma/>
                    <a:shade val="9020"/>
                    <a:invGamma/>
                  </a:srgbClr>
                </a:gs>
                <a:gs pos="50000">
                  <a:srgbClr val="FF6600"/>
                </a:gs>
                <a:gs pos="100000">
                  <a:srgbClr val="FF6600">
                    <a:gamma/>
                    <a:shade val="9020"/>
                    <a:invGamma/>
                  </a:srgbClr>
                </a:gs>
              </a:gsLst>
              <a:lin ang="0" scaled="1"/>
            </a:gradFill>
            <a:ln w="9525">
              <a:solidFill>
                <a:schemeClr val="tx1"/>
              </a:solidFill>
              <a:miter lim="800000"/>
              <a:headEnd/>
              <a:tailEnd/>
            </a:ln>
            <a:effectLst/>
          </p:spPr>
          <p:txBody>
            <a:bodyPr wrap="none" anchor="ctr"/>
            <a:lstStyle/>
            <a:p>
              <a:endParaRPr lang="en-US"/>
            </a:p>
          </p:txBody>
        </p:sp>
        <p:sp>
          <p:nvSpPr>
            <p:cNvPr id="95287" name="AutoShape 55"/>
            <p:cNvSpPr>
              <a:spLocks noChangeArrowheads="1"/>
            </p:cNvSpPr>
            <p:nvPr/>
          </p:nvSpPr>
          <p:spPr bwMode="auto">
            <a:xfrm>
              <a:off x="5040" y="2208"/>
              <a:ext cx="144" cy="288"/>
            </a:xfrm>
            <a:prstGeom prst="downArrow">
              <a:avLst>
                <a:gd name="adj1" fmla="val 50000"/>
                <a:gd name="adj2" fmla="val 50000"/>
              </a:avLst>
            </a:prstGeom>
            <a:gradFill rotWithShape="0">
              <a:gsLst>
                <a:gs pos="0">
                  <a:srgbClr val="FF6600">
                    <a:gamma/>
                    <a:shade val="9020"/>
                    <a:invGamma/>
                  </a:srgbClr>
                </a:gs>
                <a:gs pos="50000">
                  <a:srgbClr val="FF6600"/>
                </a:gs>
                <a:gs pos="100000">
                  <a:srgbClr val="FF6600">
                    <a:gamma/>
                    <a:shade val="9020"/>
                    <a:invGamma/>
                  </a:srgbClr>
                </a:gs>
              </a:gsLst>
              <a:lin ang="0" scaled="1"/>
            </a:gradFill>
            <a:ln w="9525">
              <a:solidFill>
                <a:schemeClr val="tx1"/>
              </a:solidFill>
              <a:miter lim="800000"/>
              <a:headEnd/>
              <a:tailEnd/>
            </a:ln>
            <a:effectLst/>
          </p:spPr>
          <p:txBody>
            <a:bodyPr wrap="none" anchor="ctr"/>
            <a:lstStyle/>
            <a:p>
              <a:endParaRPr lang="en-US"/>
            </a:p>
          </p:txBody>
        </p:sp>
        <p:sp>
          <p:nvSpPr>
            <p:cNvPr id="95288" name="AutoShape 56"/>
            <p:cNvSpPr>
              <a:spLocks noChangeArrowheads="1"/>
            </p:cNvSpPr>
            <p:nvPr/>
          </p:nvSpPr>
          <p:spPr bwMode="auto">
            <a:xfrm>
              <a:off x="1200" y="576"/>
              <a:ext cx="96" cy="432"/>
            </a:xfrm>
            <a:prstGeom prst="roundRect">
              <a:avLst>
                <a:gd name="adj" fmla="val 16667"/>
              </a:avLst>
            </a:prstGeom>
            <a:gradFill rotWithShape="0">
              <a:gsLst>
                <a:gs pos="0">
                  <a:srgbClr val="FFFFFF"/>
                </a:gs>
                <a:gs pos="100000">
                  <a:srgbClr val="0066CC"/>
                </a:gs>
              </a:gsLst>
              <a:lin ang="5400000" scaled="1"/>
            </a:gradFill>
            <a:ln w="9525">
              <a:noFill/>
              <a:round/>
              <a:headEnd/>
              <a:tailEnd/>
            </a:ln>
            <a:effectLst/>
          </p:spPr>
          <p:txBody>
            <a:bodyPr wrap="none" anchor="ctr"/>
            <a:lstStyle/>
            <a:p>
              <a:endParaRPr lang="en-US"/>
            </a:p>
          </p:txBody>
        </p:sp>
        <p:sp>
          <p:nvSpPr>
            <p:cNvPr id="95289" name="AutoShape 57"/>
            <p:cNvSpPr>
              <a:spLocks noChangeArrowheads="1"/>
            </p:cNvSpPr>
            <p:nvPr/>
          </p:nvSpPr>
          <p:spPr bwMode="auto">
            <a:xfrm>
              <a:off x="1584" y="576"/>
              <a:ext cx="96" cy="432"/>
            </a:xfrm>
            <a:prstGeom prst="roundRect">
              <a:avLst>
                <a:gd name="adj" fmla="val 16667"/>
              </a:avLst>
            </a:prstGeom>
            <a:gradFill rotWithShape="0">
              <a:gsLst>
                <a:gs pos="0">
                  <a:srgbClr val="FFFFFF"/>
                </a:gs>
                <a:gs pos="100000">
                  <a:srgbClr val="0066CC"/>
                </a:gs>
              </a:gsLst>
              <a:lin ang="5400000" scaled="1"/>
            </a:gradFill>
            <a:ln w="9525">
              <a:noFill/>
              <a:round/>
              <a:headEnd/>
              <a:tailEnd/>
            </a:ln>
            <a:effectLst/>
          </p:spPr>
          <p:txBody>
            <a:bodyPr wrap="none" anchor="ctr"/>
            <a:lstStyle/>
            <a:p>
              <a:endParaRPr lang="en-US"/>
            </a:p>
          </p:txBody>
        </p:sp>
        <p:sp>
          <p:nvSpPr>
            <p:cNvPr id="95290" name="AutoShape 58"/>
            <p:cNvSpPr>
              <a:spLocks noChangeArrowheads="1"/>
            </p:cNvSpPr>
            <p:nvPr/>
          </p:nvSpPr>
          <p:spPr bwMode="auto">
            <a:xfrm>
              <a:off x="2112" y="576"/>
              <a:ext cx="96" cy="432"/>
            </a:xfrm>
            <a:prstGeom prst="roundRect">
              <a:avLst>
                <a:gd name="adj" fmla="val 16667"/>
              </a:avLst>
            </a:prstGeom>
            <a:gradFill rotWithShape="0">
              <a:gsLst>
                <a:gs pos="0">
                  <a:srgbClr val="FFFFFF"/>
                </a:gs>
                <a:gs pos="100000">
                  <a:srgbClr val="0066CC"/>
                </a:gs>
              </a:gsLst>
              <a:lin ang="5400000" scaled="1"/>
            </a:gradFill>
            <a:ln w="9525">
              <a:noFill/>
              <a:round/>
              <a:headEnd/>
              <a:tailEnd/>
            </a:ln>
            <a:effectLst/>
          </p:spPr>
          <p:txBody>
            <a:bodyPr wrap="none" anchor="ctr"/>
            <a:lstStyle/>
            <a:p>
              <a:endParaRPr lang="en-US"/>
            </a:p>
          </p:txBody>
        </p:sp>
        <p:sp>
          <p:nvSpPr>
            <p:cNvPr id="95291" name="AutoShape 59"/>
            <p:cNvSpPr>
              <a:spLocks noChangeArrowheads="1"/>
            </p:cNvSpPr>
            <p:nvPr/>
          </p:nvSpPr>
          <p:spPr bwMode="auto">
            <a:xfrm>
              <a:off x="2496" y="576"/>
              <a:ext cx="96" cy="432"/>
            </a:xfrm>
            <a:prstGeom prst="roundRect">
              <a:avLst>
                <a:gd name="adj" fmla="val 16667"/>
              </a:avLst>
            </a:prstGeom>
            <a:gradFill rotWithShape="0">
              <a:gsLst>
                <a:gs pos="0">
                  <a:srgbClr val="FFFFFF"/>
                </a:gs>
                <a:gs pos="100000">
                  <a:srgbClr val="0066CC"/>
                </a:gs>
              </a:gsLst>
              <a:lin ang="5400000" scaled="1"/>
            </a:gradFill>
            <a:ln w="9525">
              <a:noFill/>
              <a:round/>
              <a:headEnd/>
              <a:tailEnd/>
            </a:ln>
            <a:effectLst/>
          </p:spPr>
          <p:txBody>
            <a:bodyPr wrap="none" anchor="ctr"/>
            <a:lstStyle/>
            <a:p>
              <a:endParaRPr lang="en-US"/>
            </a:p>
          </p:txBody>
        </p:sp>
        <p:sp>
          <p:nvSpPr>
            <p:cNvPr id="95292" name="Rectangle 60"/>
            <p:cNvSpPr>
              <a:spLocks noChangeArrowheads="1"/>
            </p:cNvSpPr>
            <p:nvPr/>
          </p:nvSpPr>
          <p:spPr bwMode="auto">
            <a:xfrm>
              <a:off x="1200" y="288"/>
              <a:ext cx="528" cy="432"/>
            </a:xfrm>
            <a:prstGeom prst="rect">
              <a:avLst/>
            </a:prstGeom>
            <a:noFill/>
            <a:ln w="38100">
              <a:solidFill>
                <a:schemeClr val="bg1"/>
              </a:solidFill>
              <a:miter lim="800000"/>
              <a:headEnd/>
              <a:tailEnd/>
            </a:ln>
            <a:effectLst/>
          </p:spPr>
          <p:txBody>
            <a:bodyPr wrap="none" anchor="ctr"/>
            <a:lstStyle/>
            <a:p>
              <a:endParaRPr lang="en-US"/>
            </a:p>
          </p:txBody>
        </p:sp>
        <p:sp>
          <p:nvSpPr>
            <p:cNvPr id="95293" name="AutoShape 61"/>
            <p:cNvSpPr>
              <a:spLocks noChangeArrowheads="1"/>
            </p:cNvSpPr>
            <p:nvPr/>
          </p:nvSpPr>
          <p:spPr bwMode="auto">
            <a:xfrm>
              <a:off x="2064" y="288"/>
              <a:ext cx="576" cy="432"/>
            </a:xfrm>
            <a:prstGeom prst="roundRect">
              <a:avLst>
                <a:gd name="adj" fmla="val 16667"/>
              </a:avLst>
            </a:prstGeom>
            <a:noFill/>
            <a:ln w="38100">
              <a:solidFill>
                <a:schemeClr val="bg1"/>
              </a:solidFill>
              <a:round/>
              <a:headEnd/>
              <a:tailEnd/>
            </a:ln>
            <a:effectLst/>
          </p:spPr>
          <p:txBody>
            <a:bodyPr wrap="none" anchor="ctr"/>
            <a:lstStyle/>
            <a:p>
              <a:endParaRPr lang="en-US"/>
            </a:p>
          </p:txBody>
        </p:sp>
        <p:sp>
          <p:nvSpPr>
            <p:cNvPr id="95294" name="AutoShape 62"/>
            <p:cNvSpPr>
              <a:spLocks noChangeArrowheads="1"/>
            </p:cNvSpPr>
            <p:nvPr/>
          </p:nvSpPr>
          <p:spPr bwMode="gray">
            <a:xfrm>
              <a:off x="2112" y="384"/>
              <a:ext cx="672" cy="144"/>
            </a:xfrm>
            <a:prstGeom prst="roundRect">
              <a:avLst>
                <a:gd name="adj" fmla="val 16667"/>
              </a:avLst>
            </a:prstGeom>
            <a:noFill/>
            <a:ln w="12700">
              <a:noFill/>
              <a:round/>
              <a:headEnd/>
              <a:tailEnd/>
            </a:ln>
            <a:effectLst>
              <a:prstShdw prst="shdw17" dist="17961" dir="2700000">
                <a:schemeClr val="accent1">
                  <a:gamma/>
                  <a:shade val="60000"/>
                  <a:invGamma/>
                </a:schemeClr>
              </a:prstShdw>
            </a:effectLst>
          </p:spPr>
          <p:txBody>
            <a:bodyPr anchor="ctr"/>
            <a:lstStyle/>
            <a:p>
              <a:pPr eaLnBrk="1" hangingPunct="1">
                <a:spcBef>
                  <a:spcPct val="20000"/>
                </a:spcBef>
                <a:buClr>
                  <a:srgbClr val="F48B00"/>
                </a:buClr>
                <a:buFont typeface="Wingdings" pitchFamily="2" charset="2"/>
                <a:buNone/>
              </a:pPr>
              <a:r>
                <a:rPr lang="en-US" sz="1200">
                  <a:latin typeface="Arial" charset="0"/>
                  <a:cs typeface="Times New Roman" pitchFamily="18" charset="0"/>
                </a:rPr>
                <a:t>End User</a:t>
              </a:r>
            </a:p>
          </p:txBody>
        </p:sp>
        <p:sp>
          <p:nvSpPr>
            <p:cNvPr id="95295" name="AutoShape 63"/>
            <p:cNvSpPr>
              <a:spLocks noChangeArrowheads="1"/>
            </p:cNvSpPr>
            <p:nvPr/>
          </p:nvSpPr>
          <p:spPr bwMode="auto">
            <a:xfrm>
              <a:off x="3744" y="480"/>
              <a:ext cx="96" cy="432"/>
            </a:xfrm>
            <a:prstGeom prst="roundRect">
              <a:avLst>
                <a:gd name="adj" fmla="val 16667"/>
              </a:avLst>
            </a:prstGeom>
            <a:gradFill rotWithShape="0">
              <a:gsLst>
                <a:gs pos="0">
                  <a:srgbClr val="FFFFFF"/>
                </a:gs>
                <a:gs pos="100000">
                  <a:srgbClr val="0066CC"/>
                </a:gs>
              </a:gsLst>
              <a:lin ang="5400000" scaled="1"/>
            </a:gradFill>
            <a:ln w="9525">
              <a:noFill/>
              <a:round/>
              <a:headEnd/>
              <a:tailEnd/>
            </a:ln>
            <a:effectLst/>
          </p:spPr>
          <p:txBody>
            <a:bodyPr wrap="none" anchor="ctr"/>
            <a:lstStyle/>
            <a:p>
              <a:endParaRPr lang="en-US"/>
            </a:p>
          </p:txBody>
        </p:sp>
        <p:sp>
          <p:nvSpPr>
            <p:cNvPr id="95296" name="Rectangle 64"/>
            <p:cNvSpPr>
              <a:spLocks noChangeArrowheads="1"/>
            </p:cNvSpPr>
            <p:nvPr/>
          </p:nvSpPr>
          <p:spPr bwMode="gray">
            <a:xfrm>
              <a:off x="3408" y="912"/>
              <a:ext cx="2160" cy="192"/>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1000" b="1">
                  <a:latin typeface="Arial" charset="0"/>
                  <a:cs typeface="Times New Roman" pitchFamily="18" charset="0"/>
                </a:rPr>
                <a:t>Content Systems</a:t>
              </a:r>
            </a:p>
          </p:txBody>
        </p:sp>
        <p:sp>
          <p:nvSpPr>
            <p:cNvPr id="95297" name="AutoShape 65"/>
            <p:cNvSpPr>
              <a:spLocks noChangeArrowheads="1"/>
            </p:cNvSpPr>
            <p:nvPr/>
          </p:nvSpPr>
          <p:spPr bwMode="gray">
            <a:xfrm>
              <a:off x="4416" y="288"/>
              <a:ext cx="720" cy="336"/>
            </a:xfrm>
            <a:prstGeom prst="roundRect">
              <a:avLst>
                <a:gd name="adj" fmla="val 16667"/>
              </a:avLst>
            </a:prstGeom>
            <a:noFill/>
            <a:ln w="12700">
              <a:noFill/>
              <a:round/>
              <a:headEnd/>
              <a:tailEnd/>
            </a:ln>
            <a:effectLst>
              <a:prstShdw prst="shdw17" dist="17961" dir="2700000">
                <a:schemeClr val="accent1">
                  <a:gamma/>
                  <a:shade val="60000"/>
                  <a:invGamma/>
                </a:schemeClr>
              </a:prstShdw>
            </a:effectLst>
          </p:spPr>
          <p:txBody>
            <a:bodyPr anchor="ctr"/>
            <a:lstStyle/>
            <a:p>
              <a:pPr algn="l" eaLnBrk="1" hangingPunct="1">
                <a:spcBef>
                  <a:spcPct val="20000"/>
                </a:spcBef>
                <a:buClr>
                  <a:srgbClr val="F48B00"/>
                </a:buClr>
                <a:buFont typeface="Wingdings" pitchFamily="2" charset="2"/>
                <a:buNone/>
              </a:pPr>
              <a:r>
                <a:rPr lang="en-US" sz="1200">
                  <a:latin typeface="Arial" charset="0"/>
                  <a:cs typeface="Times New Roman" pitchFamily="18" charset="0"/>
                </a:rPr>
                <a:t>Content</a:t>
              </a:r>
            </a:p>
            <a:p>
              <a:pPr algn="l" eaLnBrk="1" hangingPunct="1">
                <a:spcBef>
                  <a:spcPct val="20000"/>
                </a:spcBef>
                <a:buClr>
                  <a:srgbClr val="F48B00"/>
                </a:buClr>
                <a:buFont typeface="Wingdings" pitchFamily="2" charset="2"/>
                <a:buNone/>
              </a:pPr>
              <a:r>
                <a:rPr lang="en-US" sz="1200">
                  <a:latin typeface="Arial" charset="0"/>
                  <a:cs typeface="Times New Roman" pitchFamily="18" charset="0"/>
                </a:rPr>
                <a:t>Contributor</a:t>
              </a:r>
            </a:p>
          </p:txBody>
        </p:sp>
        <p:sp>
          <p:nvSpPr>
            <p:cNvPr id="95298" name="Rectangle 66"/>
            <p:cNvSpPr>
              <a:spLocks noChangeArrowheads="1"/>
            </p:cNvSpPr>
            <p:nvPr/>
          </p:nvSpPr>
          <p:spPr bwMode="gray">
            <a:xfrm>
              <a:off x="864" y="2496"/>
              <a:ext cx="4704" cy="144"/>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1000" b="1">
                  <a:latin typeface="Arial" charset="0"/>
                  <a:cs typeface="Times New Roman" pitchFamily="18" charset="0"/>
                </a:rPr>
                <a:t>Content Integration and Archives Services</a:t>
              </a:r>
            </a:p>
          </p:txBody>
        </p:sp>
        <p:sp>
          <p:nvSpPr>
            <p:cNvPr id="95299" name="Line 67"/>
            <p:cNvSpPr>
              <a:spLocks noChangeShapeType="1"/>
            </p:cNvSpPr>
            <p:nvPr/>
          </p:nvSpPr>
          <p:spPr bwMode="auto">
            <a:xfrm>
              <a:off x="1920" y="1248"/>
              <a:ext cx="1" cy="144"/>
            </a:xfrm>
            <a:prstGeom prst="line">
              <a:avLst/>
            </a:prstGeom>
            <a:noFill/>
            <a:ln w="28575">
              <a:solidFill>
                <a:schemeClr val="tx1"/>
              </a:solidFill>
              <a:round/>
              <a:headEnd/>
              <a:tailEnd type="triangle" w="sm" len="sm"/>
            </a:ln>
            <a:effectLst/>
          </p:spPr>
          <p:txBody>
            <a:bodyPr/>
            <a:lstStyle/>
            <a:p>
              <a:endParaRPr lang="en-US"/>
            </a:p>
          </p:txBody>
        </p:sp>
        <p:sp>
          <p:nvSpPr>
            <p:cNvPr id="95300" name="Line 68"/>
            <p:cNvSpPr>
              <a:spLocks noChangeShapeType="1"/>
            </p:cNvSpPr>
            <p:nvPr/>
          </p:nvSpPr>
          <p:spPr bwMode="auto">
            <a:xfrm>
              <a:off x="3744" y="1248"/>
              <a:ext cx="1" cy="144"/>
            </a:xfrm>
            <a:prstGeom prst="line">
              <a:avLst/>
            </a:prstGeom>
            <a:noFill/>
            <a:ln w="28575">
              <a:solidFill>
                <a:schemeClr val="tx1"/>
              </a:solidFill>
              <a:round/>
              <a:headEnd/>
              <a:tailEnd type="triangle" w="sm" len="sm"/>
            </a:ln>
            <a:effectLst/>
          </p:spPr>
          <p:txBody>
            <a:bodyPr/>
            <a:lstStyle/>
            <a:p>
              <a:endParaRPr lang="en-US"/>
            </a:p>
          </p:txBody>
        </p:sp>
        <p:sp>
          <p:nvSpPr>
            <p:cNvPr id="95301" name="Line 69"/>
            <p:cNvSpPr>
              <a:spLocks noChangeShapeType="1"/>
            </p:cNvSpPr>
            <p:nvPr/>
          </p:nvSpPr>
          <p:spPr bwMode="auto">
            <a:xfrm>
              <a:off x="4320" y="1248"/>
              <a:ext cx="1" cy="144"/>
            </a:xfrm>
            <a:prstGeom prst="line">
              <a:avLst/>
            </a:prstGeom>
            <a:noFill/>
            <a:ln w="28575">
              <a:solidFill>
                <a:schemeClr val="tx1"/>
              </a:solidFill>
              <a:round/>
              <a:headEnd/>
              <a:tailEnd type="triangle" w="sm" len="sm"/>
            </a:ln>
            <a:effectLst/>
          </p:spPr>
          <p:txBody>
            <a:bodyPr/>
            <a:lstStyle/>
            <a:p>
              <a:endParaRPr lang="en-US"/>
            </a:p>
          </p:txBody>
        </p:sp>
        <p:sp>
          <p:nvSpPr>
            <p:cNvPr id="95302" name="Line 70"/>
            <p:cNvSpPr>
              <a:spLocks noChangeShapeType="1"/>
            </p:cNvSpPr>
            <p:nvPr/>
          </p:nvSpPr>
          <p:spPr bwMode="auto">
            <a:xfrm>
              <a:off x="4896" y="1248"/>
              <a:ext cx="1" cy="144"/>
            </a:xfrm>
            <a:prstGeom prst="line">
              <a:avLst/>
            </a:prstGeom>
            <a:noFill/>
            <a:ln w="28575">
              <a:solidFill>
                <a:schemeClr val="tx1"/>
              </a:solidFill>
              <a:round/>
              <a:headEnd/>
              <a:tailEnd type="triangle" w="sm" len="sm"/>
            </a:ln>
            <a:effectLst/>
          </p:spPr>
          <p:txBody>
            <a:bodyPr/>
            <a:lstStyle/>
            <a:p>
              <a:endParaRPr lang="en-US"/>
            </a:p>
          </p:txBody>
        </p:sp>
        <p:sp>
          <p:nvSpPr>
            <p:cNvPr id="95303" name="Line 71"/>
            <p:cNvSpPr>
              <a:spLocks noChangeShapeType="1"/>
            </p:cNvSpPr>
            <p:nvPr/>
          </p:nvSpPr>
          <p:spPr bwMode="auto">
            <a:xfrm>
              <a:off x="3168" y="1440"/>
              <a:ext cx="1" cy="144"/>
            </a:xfrm>
            <a:prstGeom prst="line">
              <a:avLst/>
            </a:prstGeom>
            <a:noFill/>
            <a:ln w="28575">
              <a:solidFill>
                <a:schemeClr val="tx1"/>
              </a:solidFill>
              <a:round/>
              <a:headEnd/>
              <a:tailEnd type="triangle" w="sm" len="sm"/>
            </a:ln>
            <a:effectLst/>
          </p:spPr>
          <p:txBody>
            <a:bodyPr/>
            <a:lstStyle/>
            <a:p>
              <a:endParaRPr lang="en-US"/>
            </a:p>
          </p:txBody>
        </p:sp>
        <p:sp>
          <p:nvSpPr>
            <p:cNvPr id="95304" name="Line 72"/>
            <p:cNvSpPr>
              <a:spLocks noChangeShapeType="1"/>
            </p:cNvSpPr>
            <p:nvPr/>
          </p:nvSpPr>
          <p:spPr bwMode="auto">
            <a:xfrm>
              <a:off x="1344" y="1248"/>
              <a:ext cx="1" cy="144"/>
            </a:xfrm>
            <a:prstGeom prst="line">
              <a:avLst/>
            </a:prstGeom>
            <a:noFill/>
            <a:ln w="28575">
              <a:solidFill>
                <a:schemeClr val="tx1"/>
              </a:solidFill>
              <a:round/>
              <a:headEnd/>
              <a:tailEnd type="triangle" w="sm" len="sm"/>
            </a:ln>
            <a:effectLst/>
          </p:spPr>
          <p:txBody>
            <a:bodyPr/>
            <a:lstStyle/>
            <a:p>
              <a:endParaRPr lang="en-US"/>
            </a:p>
          </p:txBody>
        </p:sp>
        <p:sp>
          <p:nvSpPr>
            <p:cNvPr id="95305" name="AutoShape 73"/>
            <p:cNvSpPr>
              <a:spLocks noChangeArrowheads="1"/>
            </p:cNvSpPr>
            <p:nvPr/>
          </p:nvSpPr>
          <p:spPr bwMode="gray">
            <a:xfrm>
              <a:off x="144" y="1440"/>
              <a:ext cx="480" cy="192"/>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r>
                <a:rPr lang="en-US" sz="900" b="1">
                  <a:latin typeface="Arial" charset="0"/>
                  <a:cs typeface="Times New Roman" pitchFamily="18" charset="0"/>
                </a:rPr>
                <a:t>access</a:t>
              </a:r>
            </a:p>
            <a:p>
              <a:r>
                <a:rPr lang="en-US" sz="900" b="1">
                  <a:latin typeface="Arial" charset="0"/>
                  <a:cs typeface="Times New Roman" pitchFamily="18" charset="0"/>
                </a:rPr>
                <a:t>rules</a:t>
              </a:r>
            </a:p>
          </p:txBody>
        </p:sp>
        <p:sp>
          <p:nvSpPr>
            <p:cNvPr id="95306" name="Rectangle 74"/>
            <p:cNvSpPr>
              <a:spLocks noChangeArrowheads="1"/>
            </p:cNvSpPr>
            <p:nvPr/>
          </p:nvSpPr>
          <p:spPr bwMode="gray">
            <a:xfrm>
              <a:off x="96" y="1008"/>
              <a:ext cx="528" cy="288"/>
            </a:xfrm>
            <a:prstGeom prst="rect">
              <a:avLst/>
            </a:prstGeom>
            <a:noFill/>
            <a:ln w="12700">
              <a:noFill/>
              <a:miter lim="800000"/>
              <a:headEnd/>
              <a:tailEnd/>
            </a:ln>
            <a:effectLst>
              <a:prstShdw prst="shdw17" dist="17961" dir="2700000">
                <a:srgbClr val="90ADC2">
                  <a:gamma/>
                  <a:shade val="60000"/>
                  <a:invGamma/>
                </a:srgbClr>
              </a:prstShdw>
            </a:effectLst>
          </p:spPr>
          <p:txBody>
            <a:bodyPr anchor="ctr"/>
            <a:lstStyle/>
            <a:p>
              <a:pPr eaLnBrk="1" hangingPunct="1">
                <a:spcBef>
                  <a:spcPct val="20000"/>
                </a:spcBef>
                <a:buClr>
                  <a:srgbClr val="F48B00"/>
                </a:buClr>
                <a:buFont typeface="Wingdings" pitchFamily="2" charset="2"/>
                <a:buNone/>
              </a:pPr>
              <a:r>
                <a:rPr lang="en-US" sz="800" b="1" dirty="0">
                  <a:latin typeface="Arial" charset="0"/>
                  <a:cs typeface="Times New Roman" pitchFamily="18" charset="0"/>
                </a:rPr>
                <a:t>Metadata Management and Security Services</a:t>
              </a:r>
            </a:p>
          </p:txBody>
        </p:sp>
        <p:sp>
          <p:nvSpPr>
            <p:cNvPr id="95307" name="AutoShape 75"/>
            <p:cNvSpPr>
              <a:spLocks noChangeArrowheads="1"/>
            </p:cNvSpPr>
            <p:nvPr/>
          </p:nvSpPr>
          <p:spPr bwMode="gray">
            <a:xfrm>
              <a:off x="144" y="1776"/>
              <a:ext cx="480" cy="192"/>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r>
                <a:rPr lang="en-US" sz="900" b="1">
                  <a:latin typeface="Arial" charset="0"/>
                  <a:cs typeface="Times New Roman" pitchFamily="18" charset="0"/>
                </a:rPr>
                <a:t>retention</a:t>
              </a:r>
            </a:p>
            <a:p>
              <a:r>
                <a:rPr lang="en-US" sz="900" b="1">
                  <a:latin typeface="Arial" charset="0"/>
                  <a:cs typeface="Times New Roman" pitchFamily="18" charset="0"/>
                </a:rPr>
                <a:t>schedule</a:t>
              </a:r>
            </a:p>
          </p:txBody>
        </p:sp>
        <p:sp>
          <p:nvSpPr>
            <p:cNvPr id="95308" name="AutoShape 76"/>
            <p:cNvSpPr>
              <a:spLocks noChangeArrowheads="1"/>
            </p:cNvSpPr>
            <p:nvPr/>
          </p:nvSpPr>
          <p:spPr bwMode="gray">
            <a:xfrm>
              <a:off x="144" y="2112"/>
              <a:ext cx="480" cy="192"/>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r>
                <a:rPr lang="en-US" sz="900" b="1">
                  <a:latin typeface="Arial" charset="0"/>
                  <a:cs typeface="Times New Roman" pitchFamily="18" charset="0"/>
                </a:rPr>
                <a:t>Business</a:t>
              </a:r>
            </a:p>
            <a:p>
              <a:r>
                <a:rPr lang="en-US" sz="900" b="1">
                  <a:latin typeface="Arial" charset="0"/>
                  <a:cs typeface="Times New Roman" pitchFamily="18" charset="0"/>
                </a:rPr>
                <a:t>Activity </a:t>
              </a:r>
            </a:p>
          </p:txBody>
        </p:sp>
        <p:sp>
          <p:nvSpPr>
            <p:cNvPr id="95309" name="AutoShape 77"/>
            <p:cNvSpPr>
              <a:spLocks noChangeArrowheads="1"/>
            </p:cNvSpPr>
            <p:nvPr/>
          </p:nvSpPr>
          <p:spPr bwMode="gray">
            <a:xfrm>
              <a:off x="144" y="2448"/>
              <a:ext cx="480" cy="192"/>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r>
                <a:rPr lang="en-US" sz="800" b="1">
                  <a:latin typeface="Arial" charset="0"/>
                  <a:cs typeface="Times New Roman" pitchFamily="18" charset="0"/>
                </a:rPr>
                <a:t>Topic Class Scheme</a:t>
              </a:r>
            </a:p>
          </p:txBody>
        </p:sp>
        <p:sp>
          <p:nvSpPr>
            <p:cNvPr id="95310" name="AutoShape 78"/>
            <p:cNvSpPr>
              <a:spLocks noChangeArrowheads="1"/>
            </p:cNvSpPr>
            <p:nvPr/>
          </p:nvSpPr>
          <p:spPr bwMode="gray">
            <a:xfrm>
              <a:off x="144" y="2784"/>
              <a:ext cx="480" cy="192"/>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r>
                <a:rPr lang="en-US" sz="900" b="1">
                  <a:latin typeface="Arial" charset="0"/>
                  <a:cs typeface="Times New Roman" pitchFamily="18" charset="0"/>
                </a:rPr>
                <a:t>thesaurus</a:t>
              </a:r>
            </a:p>
          </p:txBody>
        </p:sp>
        <p:sp>
          <p:nvSpPr>
            <p:cNvPr id="95311" name="AutoShape 79"/>
            <p:cNvSpPr>
              <a:spLocks noChangeArrowheads="1"/>
            </p:cNvSpPr>
            <p:nvPr/>
          </p:nvSpPr>
          <p:spPr bwMode="gray">
            <a:xfrm>
              <a:off x="144" y="3120"/>
              <a:ext cx="480" cy="192"/>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r>
                <a:rPr lang="en-US" sz="900" b="1">
                  <a:latin typeface="Arial" charset="0"/>
                  <a:cs typeface="Times New Roman" pitchFamily="18" charset="0"/>
                </a:rPr>
                <a:t>Series Names</a:t>
              </a:r>
            </a:p>
          </p:txBody>
        </p:sp>
        <p:sp>
          <p:nvSpPr>
            <p:cNvPr id="95312" name="AutoShape 80"/>
            <p:cNvSpPr>
              <a:spLocks noChangeArrowheads="1"/>
            </p:cNvSpPr>
            <p:nvPr/>
          </p:nvSpPr>
          <p:spPr bwMode="gray">
            <a:xfrm>
              <a:off x="144" y="3456"/>
              <a:ext cx="480" cy="192"/>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r>
                <a:rPr lang="en-US" sz="900" b="1">
                  <a:latin typeface="Arial" charset="0"/>
                  <a:cs typeface="Times New Roman" pitchFamily="18" charset="0"/>
                </a:rPr>
                <a:t>monitors</a:t>
              </a:r>
            </a:p>
          </p:txBody>
        </p:sp>
        <p:sp>
          <p:nvSpPr>
            <p:cNvPr id="95313" name="AutoShape 81"/>
            <p:cNvSpPr>
              <a:spLocks noChangeArrowheads="1"/>
            </p:cNvSpPr>
            <p:nvPr/>
          </p:nvSpPr>
          <p:spPr bwMode="gray">
            <a:xfrm>
              <a:off x="144" y="3792"/>
              <a:ext cx="480" cy="192"/>
            </a:xfrm>
            <a:prstGeom prst="roundRect">
              <a:avLst>
                <a:gd name="adj" fmla="val 16667"/>
              </a:avLst>
            </a:prstGeom>
            <a:gradFill rotWithShape="0">
              <a:gsLst>
                <a:gs pos="0">
                  <a:srgbClr val="FFFFFF"/>
                </a:gs>
                <a:gs pos="100000">
                  <a:srgbClr val="90ADC2"/>
                </a:gs>
              </a:gsLst>
              <a:lin ang="18900000" scaled="1"/>
            </a:gradFill>
            <a:ln w="12700">
              <a:noFill/>
              <a:round/>
              <a:headEnd/>
              <a:tailEnd/>
            </a:ln>
            <a:effectLst>
              <a:prstShdw prst="shdw17" dist="17961" dir="2700000">
                <a:srgbClr val="90ADC2">
                  <a:gamma/>
                  <a:shade val="60000"/>
                  <a:invGamma/>
                </a:srgbClr>
              </a:prstShdw>
            </a:effectLst>
          </p:spPr>
          <p:txBody>
            <a:bodyPr anchor="ctr"/>
            <a:lstStyle/>
            <a:p>
              <a:r>
                <a:rPr lang="en-US" sz="900" b="1">
                  <a:latin typeface="Arial" charset="0"/>
                  <a:cs typeface="Times New Roman" pitchFamily="18" charset="0"/>
                </a:rPr>
                <a:t>logs</a:t>
              </a:r>
            </a:p>
          </p:txBody>
        </p:sp>
        <p:sp>
          <p:nvSpPr>
            <p:cNvPr id="95314" name="AutoShape 82"/>
            <p:cNvSpPr>
              <a:spLocks noChangeArrowheads="1"/>
            </p:cNvSpPr>
            <p:nvPr/>
          </p:nvSpPr>
          <p:spPr bwMode="auto">
            <a:xfrm>
              <a:off x="672" y="1680"/>
              <a:ext cx="192" cy="144"/>
            </a:xfrm>
            <a:prstGeom prst="rightArrow">
              <a:avLst>
                <a:gd name="adj1" fmla="val 41667"/>
                <a:gd name="adj2" fmla="val 58333"/>
              </a:avLst>
            </a:prstGeom>
            <a:gradFill rotWithShape="0">
              <a:gsLst>
                <a:gs pos="0">
                  <a:srgbClr val="339966"/>
                </a:gs>
                <a:gs pos="50000">
                  <a:srgbClr val="339966">
                    <a:gamma/>
                    <a:shade val="72549"/>
                    <a:invGamma/>
                  </a:srgbClr>
                </a:gs>
                <a:gs pos="100000">
                  <a:srgbClr val="339966"/>
                </a:gs>
              </a:gsLst>
              <a:lin ang="5400000" scaled="1"/>
            </a:gradFill>
            <a:ln w="9525">
              <a:noFill/>
              <a:miter lim="800000"/>
              <a:headEnd/>
              <a:tailEnd/>
            </a:ln>
            <a:effectLst/>
          </p:spPr>
          <p:txBody>
            <a:bodyPr wrap="none" anchor="ctr"/>
            <a:lstStyle/>
            <a:p>
              <a:endParaRPr lang="en-US"/>
            </a:p>
          </p:txBody>
        </p:sp>
        <p:sp>
          <p:nvSpPr>
            <p:cNvPr id="95315" name="AutoShape 83"/>
            <p:cNvSpPr>
              <a:spLocks noChangeArrowheads="1"/>
            </p:cNvSpPr>
            <p:nvPr/>
          </p:nvSpPr>
          <p:spPr bwMode="auto">
            <a:xfrm>
              <a:off x="672" y="2640"/>
              <a:ext cx="192" cy="144"/>
            </a:xfrm>
            <a:prstGeom prst="rightArrow">
              <a:avLst>
                <a:gd name="adj1" fmla="val 41667"/>
                <a:gd name="adj2" fmla="val 58333"/>
              </a:avLst>
            </a:prstGeom>
            <a:gradFill rotWithShape="0">
              <a:gsLst>
                <a:gs pos="0">
                  <a:srgbClr val="339966"/>
                </a:gs>
                <a:gs pos="50000">
                  <a:srgbClr val="339966">
                    <a:gamma/>
                    <a:shade val="81961"/>
                    <a:invGamma/>
                  </a:srgbClr>
                </a:gs>
                <a:gs pos="100000">
                  <a:srgbClr val="339966"/>
                </a:gs>
              </a:gsLst>
              <a:lin ang="5400000" scaled="1"/>
            </a:gradFill>
            <a:ln w="9525">
              <a:noFill/>
              <a:miter lim="800000"/>
              <a:headEnd/>
              <a:tailEnd/>
            </a:ln>
            <a:effectLst/>
          </p:spPr>
          <p:txBody>
            <a:bodyPr wrap="none" anchor="ctr"/>
            <a:lstStyle/>
            <a:p>
              <a:endParaRPr lang="en-US"/>
            </a:p>
          </p:txBody>
        </p:sp>
        <p:sp>
          <p:nvSpPr>
            <p:cNvPr id="95316" name="AutoShape 84"/>
            <p:cNvSpPr>
              <a:spLocks noChangeArrowheads="1"/>
            </p:cNvSpPr>
            <p:nvPr/>
          </p:nvSpPr>
          <p:spPr bwMode="auto">
            <a:xfrm>
              <a:off x="672" y="3696"/>
              <a:ext cx="192" cy="144"/>
            </a:xfrm>
            <a:prstGeom prst="rightArrow">
              <a:avLst>
                <a:gd name="adj1" fmla="val 41667"/>
                <a:gd name="adj2" fmla="val 58333"/>
              </a:avLst>
            </a:prstGeom>
            <a:gradFill rotWithShape="0">
              <a:gsLst>
                <a:gs pos="0">
                  <a:srgbClr val="339966"/>
                </a:gs>
                <a:gs pos="50000">
                  <a:srgbClr val="339966">
                    <a:gamma/>
                    <a:shade val="86275"/>
                    <a:invGamma/>
                  </a:srgbClr>
                </a:gs>
                <a:gs pos="100000">
                  <a:srgbClr val="339966"/>
                </a:gs>
              </a:gsLst>
              <a:lin ang="5400000" scaled="1"/>
            </a:gradFill>
            <a:ln w="9525">
              <a:noFill/>
              <a:miter lim="800000"/>
              <a:headEnd/>
              <a:tailEnd/>
            </a:ln>
            <a:effectLst/>
          </p:spPr>
          <p:txBody>
            <a:bodyPr wrap="none" anchor="ctr"/>
            <a:lstStyle/>
            <a:p>
              <a:endParaRPr lang="en-US"/>
            </a:p>
          </p:txBody>
        </p:sp>
        <p:pic>
          <p:nvPicPr>
            <p:cNvPr id="95317" name="Picture 85"/>
            <p:cNvPicPr>
              <a:picLocks noChangeAspect="1" noChangeArrowheads="1"/>
            </p:cNvPicPr>
            <p:nvPr/>
          </p:nvPicPr>
          <p:blipFill>
            <a:blip r:embed="rId3" cstate="print"/>
            <a:srcRect/>
            <a:stretch>
              <a:fillRect/>
            </a:stretch>
          </p:blipFill>
          <p:spPr bwMode="auto">
            <a:xfrm>
              <a:off x="1632" y="288"/>
              <a:ext cx="523" cy="528"/>
            </a:xfrm>
            <a:prstGeom prst="rect">
              <a:avLst/>
            </a:prstGeom>
            <a:noFill/>
            <a:ln w="9525">
              <a:noFill/>
              <a:miter lim="800000"/>
              <a:headEnd/>
              <a:tailEnd/>
            </a:ln>
            <a:effectLst/>
          </p:spPr>
        </p:pic>
        <p:pic>
          <p:nvPicPr>
            <p:cNvPr id="95318" name="Picture 86"/>
            <p:cNvPicPr>
              <a:picLocks noChangeAspect="1" noChangeArrowheads="1"/>
            </p:cNvPicPr>
            <p:nvPr/>
          </p:nvPicPr>
          <p:blipFill>
            <a:blip r:embed="rId4" cstate="print"/>
            <a:srcRect/>
            <a:stretch>
              <a:fillRect/>
            </a:stretch>
          </p:blipFill>
          <p:spPr bwMode="auto">
            <a:xfrm>
              <a:off x="3888" y="288"/>
              <a:ext cx="576" cy="557"/>
            </a:xfrm>
            <a:prstGeom prst="rect">
              <a:avLst/>
            </a:prstGeom>
            <a:noFill/>
            <a:ln w="9525">
              <a:noFill/>
              <a:miter lim="800000"/>
              <a:headEnd/>
              <a:tailEnd/>
            </a:ln>
            <a:effectLst/>
          </p:spPr>
        </p:pic>
        <p:sp>
          <p:nvSpPr>
            <p:cNvPr id="95319" name="Line 87"/>
            <p:cNvSpPr>
              <a:spLocks noChangeShapeType="1"/>
            </p:cNvSpPr>
            <p:nvPr/>
          </p:nvSpPr>
          <p:spPr bwMode="auto">
            <a:xfrm flipV="1">
              <a:off x="2352" y="2976"/>
              <a:ext cx="1" cy="384"/>
            </a:xfrm>
            <a:prstGeom prst="line">
              <a:avLst/>
            </a:prstGeom>
            <a:noFill/>
            <a:ln w="38100">
              <a:solidFill>
                <a:srgbClr val="0099CC"/>
              </a:solidFill>
              <a:round/>
              <a:headEnd/>
              <a:tailEnd type="triangle" w="med" len="med"/>
            </a:ln>
            <a:effectLst/>
          </p:spPr>
          <p:txBody>
            <a:bodyPr/>
            <a:lstStyle/>
            <a:p>
              <a:endParaRPr lang="en-US"/>
            </a:p>
          </p:txBody>
        </p:sp>
        <p:sp>
          <p:nvSpPr>
            <p:cNvPr id="95320" name="AutoShape 88"/>
            <p:cNvSpPr>
              <a:spLocks noChangeAspect="1" noChangeArrowheads="1"/>
            </p:cNvSpPr>
            <p:nvPr/>
          </p:nvSpPr>
          <p:spPr bwMode="auto">
            <a:xfrm>
              <a:off x="1008" y="3499"/>
              <a:ext cx="489" cy="489"/>
            </a:xfrm>
            <a:prstGeom prst="flowChartMagneticTape">
              <a:avLst/>
            </a:prstGeom>
            <a:gradFill rotWithShape="0">
              <a:gsLst>
                <a:gs pos="0">
                  <a:srgbClr val="CCCCFF"/>
                </a:gs>
                <a:gs pos="100000">
                  <a:srgbClr val="CCCCFF">
                    <a:gamma/>
                    <a:shade val="76078"/>
                    <a:invGamma/>
                  </a:srgbClr>
                </a:gs>
              </a:gsLst>
              <a:path path="rect">
                <a:fillToRect l="50000" t="50000" r="50000" b="50000"/>
              </a:path>
            </a:gradFill>
            <a:ln w="9525">
              <a:solidFill>
                <a:schemeClr val="tx1"/>
              </a:solidFill>
              <a:miter lim="800000"/>
              <a:headEnd/>
              <a:tailEnd/>
            </a:ln>
            <a:effectLst/>
          </p:spPr>
          <p:txBody>
            <a:bodyPr wrap="none" anchor="ctr"/>
            <a:lstStyle/>
            <a:p>
              <a:r>
                <a:rPr lang="en-US" sz="900" b="1">
                  <a:latin typeface="Arial" charset="0"/>
                  <a:cs typeface="Times New Roman" pitchFamily="18" charset="0"/>
                </a:rPr>
                <a:t>Archives</a:t>
              </a:r>
            </a:p>
            <a:p>
              <a:r>
                <a:rPr lang="en-US" sz="900" b="1">
                  <a:latin typeface="Arial" charset="0"/>
                  <a:cs typeface="Times New Roman" pitchFamily="18" charset="0"/>
                </a:rPr>
                <a:t>Store</a:t>
              </a:r>
            </a:p>
          </p:txBody>
        </p:sp>
        <p:sp>
          <p:nvSpPr>
            <p:cNvPr id="95321" name="AutoShape 89"/>
            <p:cNvSpPr>
              <a:spLocks noChangeArrowheads="1"/>
            </p:cNvSpPr>
            <p:nvPr/>
          </p:nvSpPr>
          <p:spPr bwMode="auto">
            <a:xfrm flipH="1">
              <a:off x="1508" y="3696"/>
              <a:ext cx="336" cy="9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CC"/>
            </a:solidFill>
            <a:ln w="9525">
              <a:solidFill>
                <a:schemeClr val="tx1"/>
              </a:solidFill>
              <a:miter lim="800000"/>
              <a:headEnd/>
              <a:tailEnd/>
            </a:ln>
            <a:effectLst/>
          </p:spPr>
          <p:txBody>
            <a:bodyPr wrap="none" anchor="ctr"/>
            <a:lstStyle/>
            <a:p>
              <a:endParaRPr lang="en-US" sz="1800">
                <a:latin typeface="Arial" charset="0"/>
                <a:cs typeface="Times New Roman" pitchFamily="18" charset="0"/>
              </a:endParaRPr>
            </a:p>
          </p:txBody>
        </p:sp>
        <p:sp>
          <p:nvSpPr>
            <p:cNvPr id="95322" name="Text Box 90"/>
            <p:cNvSpPr txBox="1">
              <a:spLocks noChangeArrowheads="1"/>
            </p:cNvSpPr>
            <p:nvPr/>
          </p:nvSpPr>
          <p:spPr bwMode="auto">
            <a:xfrm>
              <a:off x="1536" y="3502"/>
              <a:ext cx="305" cy="260"/>
            </a:xfrm>
            <a:prstGeom prst="rect">
              <a:avLst/>
            </a:prstGeom>
            <a:noFill/>
            <a:ln w="9525">
              <a:noFill/>
              <a:miter lim="800000"/>
              <a:headEnd/>
              <a:tailEnd/>
            </a:ln>
            <a:effectLst/>
          </p:spPr>
          <p:txBody>
            <a:bodyPr wrap="none">
              <a:spAutoFit/>
            </a:bodyPr>
            <a:lstStyle/>
            <a:p>
              <a:pPr algn="l"/>
              <a:r>
                <a:rPr lang="en-US" sz="900" b="1">
                  <a:latin typeface="Arial" charset="0"/>
                  <a:cs typeface="Times New Roman" pitchFamily="18" charset="0"/>
                </a:rPr>
                <a:t>Over</a:t>
              </a:r>
            </a:p>
            <a:p>
              <a:pPr algn="l"/>
              <a:r>
                <a:rPr lang="en-US" sz="900" b="1">
                  <a:latin typeface="Arial" charset="0"/>
                  <a:cs typeface="Times New Roman" pitchFamily="18" charset="0"/>
                </a:rPr>
                <a:t>Time</a:t>
              </a:r>
            </a:p>
          </p:txBody>
        </p:sp>
      </p:grpSp>
      <p:sp>
        <p:nvSpPr>
          <p:cNvPr id="92" name="Title 29"/>
          <p:cNvSpPr>
            <a:spLocks noGrp="1"/>
          </p:cNvSpPr>
          <p:nvPr>
            <p:ph type="title"/>
          </p:nvPr>
        </p:nvSpPr>
        <p:spPr>
          <a:xfrm>
            <a:off x="457200" y="762000"/>
            <a:ext cx="8229600" cy="350838"/>
          </a:xfrm>
        </p:spPr>
        <p:txBody>
          <a:bodyPr/>
          <a:lstStyle/>
          <a:p>
            <a:r>
              <a:rPr lang="en-US" dirty="0" smtClean="0"/>
              <a:t>Detailed View of the Framework</a:t>
            </a:r>
            <a:endParaRPr lang="en-US" dirty="0"/>
          </a:p>
        </p:txBody>
      </p:sp>
    </p:spTree>
  </p:cSld>
  <p:clrMapOvr>
    <a:masterClrMapping/>
  </p:clrMapOvr>
  <p:transition>
    <p:randomBar dir="vert"/>
  </p:transition>
</p:sld>
</file>

<file path=ppt/theme/theme1.xml><?xml version="1.0" encoding="utf-8"?>
<a:theme xmlns:a="http://schemas.openxmlformats.org/drawingml/2006/main" name="VE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10234</TotalTime>
  <Words>2283</Words>
  <Application>Microsoft Office PowerPoint</Application>
  <PresentationFormat>On-screen Show (4:3)</PresentationFormat>
  <Paragraphs>425</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Times</vt:lpstr>
      <vt:lpstr>Arial</vt:lpstr>
      <vt:lpstr>Wingdings</vt:lpstr>
      <vt:lpstr>Verdana</vt:lpstr>
      <vt:lpstr>Tahoma</vt:lpstr>
      <vt:lpstr>Times New Roman</vt:lpstr>
      <vt:lpstr>VEG</vt:lpstr>
      <vt:lpstr>Knowledge Driven Framework</vt:lpstr>
      <vt:lpstr>Overview</vt:lpstr>
      <vt:lpstr>Influences in Quality Management</vt:lpstr>
      <vt:lpstr>Brief List of needs</vt:lpstr>
      <vt:lpstr>Brief list of needs</vt:lpstr>
      <vt:lpstr>Brief list of needs</vt:lpstr>
      <vt:lpstr>Deliverables</vt:lpstr>
      <vt:lpstr>Knowledge Management: End State Vision</vt:lpstr>
      <vt:lpstr>What’s the future state look like ?</vt:lpstr>
      <vt:lpstr>What’s the future state look like ?</vt:lpstr>
      <vt:lpstr>What’s the future state look like ?</vt:lpstr>
      <vt:lpstr>Goals for a Reference Model</vt:lpstr>
      <vt:lpstr>Basic Stuff: Architecture Layers</vt:lpstr>
      <vt:lpstr>Conceptual Blueprint for KM</vt:lpstr>
      <vt:lpstr>Metadata Governance Model</vt:lpstr>
      <vt:lpstr>Functional Decomposition for KM</vt:lpstr>
      <vt:lpstr>Types of Knowledge</vt:lpstr>
      <vt:lpstr>Decomposition of Services Layer </vt:lpstr>
      <vt:lpstr>Basic Functional Components for Goals </vt:lpstr>
      <vt:lpstr>Suggested Metadata Principles</vt:lpstr>
      <vt:lpstr>Complexity suggests need for automation</vt:lpstr>
      <vt:lpstr>Core Taxonomy hierarchies for Metadata</vt:lpstr>
      <vt:lpstr>Building the Metadata Model</vt:lpstr>
      <vt:lpstr>Building a Metadata Model</vt:lpstr>
      <vt:lpstr>Building the Metadata Model</vt:lpstr>
      <vt:lpstr>Building the Metadata Model</vt:lpstr>
      <vt:lpstr>A fully meshed Metadata model</vt:lpstr>
      <vt:lpstr>Key Initiatives for the future</vt:lpstr>
      <vt:lpstr>Conceptual View of the Framework</vt:lpstr>
      <vt:lpstr>Detailed View of the Framework</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 Wallk</dc:creator>
  <cp:lastModifiedBy>JEFF</cp:lastModifiedBy>
  <cp:revision>255</cp:revision>
  <cp:lastPrinted>2004-03-27T19:50:08Z</cp:lastPrinted>
  <dcterms:created xsi:type="dcterms:W3CDTF">2004-03-26T11:09:07Z</dcterms:created>
  <dcterms:modified xsi:type="dcterms:W3CDTF">2010-01-26T21:29:30Z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PSDescription">
    <vt:lpwstr/>
  </property>
  <property fmtid="{D5CDD505-2E9C-101B-9397-08002B2CF9AE}" pid="3" name="Owner">
    <vt:lpwstr/>
  </property>
  <property fmtid="{D5CDD505-2E9C-101B-9397-08002B2CF9AE}" pid="4" name="Status">
    <vt:lpwstr>Final</vt:lpwstr>
  </property>
</Properties>
</file>
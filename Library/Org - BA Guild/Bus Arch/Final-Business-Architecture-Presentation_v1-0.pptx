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8"/>
  </p:notesMasterIdLst>
  <p:handoutMasterIdLst>
    <p:handoutMasterId r:id="rId39"/>
  </p:handoutMasterIdLst>
  <p:sldIdLst>
    <p:sldId id="256" r:id="rId2"/>
    <p:sldId id="405" r:id="rId3"/>
    <p:sldId id="533" r:id="rId4"/>
    <p:sldId id="280" r:id="rId5"/>
    <p:sldId id="257" r:id="rId6"/>
    <p:sldId id="258" r:id="rId7"/>
    <p:sldId id="273" r:id="rId8"/>
    <p:sldId id="259" r:id="rId9"/>
    <p:sldId id="433" r:id="rId10"/>
    <p:sldId id="274" r:id="rId11"/>
    <p:sldId id="275" r:id="rId12"/>
    <p:sldId id="483" r:id="rId13"/>
    <p:sldId id="489" r:id="rId14"/>
    <p:sldId id="497" r:id="rId15"/>
    <p:sldId id="496" r:id="rId16"/>
    <p:sldId id="295" r:id="rId17"/>
    <p:sldId id="468" r:id="rId18"/>
    <p:sldId id="297" r:id="rId19"/>
    <p:sldId id="298" r:id="rId20"/>
    <p:sldId id="518" r:id="rId21"/>
    <p:sldId id="529" r:id="rId22"/>
    <p:sldId id="517" r:id="rId23"/>
    <p:sldId id="531" r:id="rId24"/>
    <p:sldId id="536" r:id="rId25"/>
    <p:sldId id="537" r:id="rId26"/>
    <p:sldId id="507" r:id="rId27"/>
    <p:sldId id="516" r:id="rId28"/>
    <p:sldId id="512" r:id="rId29"/>
    <p:sldId id="513" r:id="rId30"/>
    <p:sldId id="514" r:id="rId31"/>
    <p:sldId id="515" r:id="rId32"/>
    <p:sldId id="538" r:id="rId33"/>
    <p:sldId id="474" r:id="rId34"/>
    <p:sldId id="532" r:id="rId35"/>
    <p:sldId id="415" r:id="rId36"/>
    <p:sldId id="360" r:id="rId37"/>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kern="1200">
        <a:solidFill>
          <a:schemeClr val="tx1"/>
        </a:solidFill>
        <a:latin typeface="Arial Narrow" pitchFamily="34" charset="0"/>
        <a:ea typeface="+mn-ea"/>
        <a:cs typeface="+mn-cs"/>
      </a:defRPr>
    </a:lvl5pPr>
    <a:lvl6pPr marL="2286000" algn="l" defTabSz="914400" rtl="0" eaLnBrk="1" latinLnBrk="0" hangingPunct="1">
      <a:defRPr kern="1200">
        <a:solidFill>
          <a:schemeClr val="tx1"/>
        </a:solidFill>
        <a:latin typeface="Arial Narrow" pitchFamily="34" charset="0"/>
        <a:ea typeface="+mn-ea"/>
        <a:cs typeface="+mn-cs"/>
      </a:defRPr>
    </a:lvl6pPr>
    <a:lvl7pPr marL="2743200" algn="l" defTabSz="914400" rtl="0" eaLnBrk="1" latinLnBrk="0" hangingPunct="1">
      <a:defRPr kern="1200">
        <a:solidFill>
          <a:schemeClr val="tx1"/>
        </a:solidFill>
        <a:latin typeface="Arial Narrow" pitchFamily="34" charset="0"/>
        <a:ea typeface="+mn-ea"/>
        <a:cs typeface="+mn-cs"/>
      </a:defRPr>
    </a:lvl7pPr>
    <a:lvl8pPr marL="3200400" algn="l" defTabSz="914400" rtl="0" eaLnBrk="1" latinLnBrk="0" hangingPunct="1">
      <a:defRPr kern="1200">
        <a:solidFill>
          <a:schemeClr val="tx1"/>
        </a:solidFill>
        <a:latin typeface="Arial Narrow" pitchFamily="34" charset="0"/>
        <a:ea typeface="+mn-ea"/>
        <a:cs typeface="+mn-cs"/>
      </a:defRPr>
    </a:lvl8pPr>
    <a:lvl9pPr marL="3657600" algn="l" defTabSz="914400" rtl="0" eaLnBrk="1" latinLnBrk="0" hangingPunct="1">
      <a:defRPr kern="1200">
        <a:solidFill>
          <a:schemeClr val="tx1"/>
        </a:solidFill>
        <a:latin typeface="Arial Narrow"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ECFF"/>
    <a:srgbClr val="CCFFCC"/>
    <a:srgbClr val="0066FF"/>
    <a:srgbClr val="FFCCFF"/>
    <a:srgbClr val="99CCFF"/>
    <a:srgbClr val="FFFFCC"/>
    <a:srgbClr val="FF0000"/>
    <a:srgbClr val="0000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080"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7272"/>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defTabSz="931863" eaLnBrk="1" hangingPunct="1">
              <a:defRPr sz="1200">
                <a:latin typeface="Arial" charset="0"/>
              </a:defRPr>
            </a:lvl1pPr>
          </a:lstStyle>
          <a:p>
            <a:endParaRPr lang="en-US"/>
          </a:p>
        </p:txBody>
      </p:sp>
      <p:sp>
        <p:nvSpPr>
          <p:cNvPr id="63491" name="Rectangle 3"/>
          <p:cNvSpPr>
            <a:spLocks noGrp="1" noChangeArrowheads="1"/>
          </p:cNvSpPr>
          <p:nvPr>
            <p:ph type="dt" sz="quarter" idx="1"/>
          </p:nvPr>
        </p:nvSpPr>
        <p:spPr bwMode="auto">
          <a:xfrm>
            <a:off x="3970338"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eaLnBrk="1" hangingPunct="1">
              <a:defRPr sz="1200">
                <a:latin typeface="Arial" charset="0"/>
              </a:defRPr>
            </a:lvl1pPr>
          </a:lstStyle>
          <a:p>
            <a:endParaRPr lang="en-US"/>
          </a:p>
        </p:txBody>
      </p:sp>
      <p:sp>
        <p:nvSpPr>
          <p:cNvPr id="63492" name="Rectangle 4"/>
          <p:cNvSpPr>
            <a:spLocks noGrp="1" noChangeArrowheads="1"/>
          </p:cNvSpPr>
          <p:nvPr>
            <p:ph type="ftr" sz="quarter" idx="2"/>
          </p:nvPr>
        </p:nvSpPr>
        <p:spPr bwMode="auto">
          <a:xfrm>
            <a:off x="0"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defTabSz="931863" eaLnBrk="1" hangingPunct="1">
              <a:defRPr sz="1200">
                <a:latin typeface="Arial" charset="0"/>
              </a:defRPr>
            </a:lvl1pPr>
          </a:lstStyle>
          <a:p>
            <a:endParaRPr lang="en-US"/>
          </a:p>
        </p:txBody>
      </p:sp>
      <p:sp>
        <p:nvSpPr>
          <p:cNvPr id="63493" name="Rectangle 5"/>
          <p:cNvSpPr>
            <a:spLocks noGrp="1" noChangeArrowheads="1"/>
          </p:cNvSpPr>
          <p:nvPr>
            <p:ph type="sldNum" sz="quarter" idx="3"/>
          </p:nvPr>
        </p:nvSpPr>
        <p:spPr bwMode="auto">
          <a:xfrm>
            <a:off x="3970338"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eaLnBrk="1" hangingPunct="1">
              <a:defRPr sz="1200">
                <a:latin typeface="Arial" charset="0"/>
              </a:defRPr>
            </a:lvl1pPr>
          </a:lstStyle>
          <a:p>
            <a:fld id="{C9C6237F-1C30-467E-85E3-68371BC8AB4C}" type="slidenum">
              <a:rPr lang="en-US"/>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defTabSz="931863" eaLnBrk="1" hangingPunct="1">
              <a:defRPr sz="1200">
                <a:latin typeface="Arial" charset="0"/>
              </a:defRPr>
            </a:lvl1pPr>
          </a:lstStyle>
          <a:p>
            <a:endParaRPr lang="en-US"/>
          </a:p>
        </p:txBody>
      </p:sp>
      <p:sp>
        <p:nvSpPr>
          <p:cNvPr id="51203" name="Rectangle 3"/>
          <p:cNvSpPr>
            <a:spLocks noGrp="1" noChangeArrowheads="1"/>
          </p:cNvSpPr>
          <p:nvPr>
            <p:ph type="dt" idx="1"/>
          </p:nvPr>
        </p:nvSpPr>
        <p:spPr bwMode="auto">
          <a:xfrm>
            <a:off x="3970338"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eaLnBrk="1" hangingPunct="1">
              <a:defRPr sz="1200">
                <a:latin typeface="Arial" charset="0"/>
              </a:defRPr>
            </a:lvl1pPr>
          </a:lstStyle>
          <a:p>
            <a:endParaRPr lang="en-US"/>
          </a:p>
        </p:txBody>
      </p:sp>
      <p:sp>
        <p:nvSpPr>
          <p:cNvPr id="51204" name="Rectangle 4"/>
          <p:cNvSpPr>
            <a:spLocks noRo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ffectLst/>
        </p:spPr>
      </p:sp>
      <p:sp>
        <p:nvSpPr>
          <p:cNvPr id="51205" name="Rectangle 5"/>
          <p:cNvSpPr>
            <a:spLocks noGrp="1" noChangeArrowheads="1"/>
          </p:cNvSpPr>
          <p:nvPr>
            <p:ph type="body" sz="quarter" idx="3"/>
          </p:nvPr>
        </p:nvSpPr>
        <p:spPr bwMode="auto">
          <a:xfrm>
            <a:off x="701675" y="4416425"/>
            <a:ext cx="5607050" cy="4183063"/>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1206" name="Rectangle 6"/>
          <p:cNvSpPr>
            <a:spLocks noGrp="1" noChangeArrowheads="1"/>
          </p:cNvSpPr>
          <p:nvPr>
            <p:ph type="ftr" sz="quarter" idx="4"/>
          </p:nvPr>
        </p:nvSpPr>
        <p:spPr bwMode="auto">
          <a:xfrm>
            <a:off x="0"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defTabSz="931863" eaLnBrk="1" hangingPunct="1">
              <a:defRPr sz="1200">
                <a:latin typeface="Arial" charset="0"/>
              </a:defRPr>
            </a:lvl1pPr>
          </a:lstStyle>
          <a:p>
            <a:endParaRPr lang="en-US"/>
          </a:p>
        </p:txBody>
      </p:sp>
      <p:sp>
        <p:nvSpPr>
          <p:cNvPr id="51207" name="Rectangle 7"/>
          <p:cNvSpPr>
            <a:spLocks noGrp="1" noChangeArrowheads="1"/>
          </p:cNvSpPr>
          <p:nvPr>
            <p:ph type="sldNum" sz="quarter" idx="5"/>
          </p:nvPr>
        </p:nvSpPr>
        <p:spPr bwMode="auto">
          <a:xfrm>
            <a:off x="3970338"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eaLnBrk="1" hangingPunct="1">
              <a:defRPr sz="1200">
                <a:latin typeface="Arial" charset="0"/>
              </a:defRPr>
            </a:lvl1pPr>
          </a:lstStyle>
          <a:p>
            <a:fld id="{6A7944CD-A8AE-4553-ABAA-9D54CF42543B}"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1E5C611-293E-40B1-8927-DC1A93F0FB3D}" type="slidenum">
              <a:rPr lang="en-US"/>
              <a:pPr/>
              <a:t>16</a:t>
            </a:fld>
            <a:endParaRPr lang="en-US"/>
          </a:p>
        </p:txBody>
      </p:sp>
      <p:sp>
        <p:nvSpPr>
          <p:cNvPr id="52226" name="Rectangle 2"/>
          <p:cNvSpPr>
            <a:spLocks noRot="1" noChangeArrowheads="1" noTextEdit="1"/>
          </p:cNvSpPr>
          <p:nvPr>
            <p:ph type="sldImg"/>
          </p:nvPr>
        </p:nvSpPr>
        <p:spPr>
          <a:ln/>
        </p:spPr>
      </p:sp>
      <p:sp>
        <p:nvSpPr>
          <p:cNvPr id="52227" name="Rectangle 3"/>
          <p:cNvSpPr>
            <a:spLocks noGrp="1" noChangeArrowheads="1"/>
          </p:cNvSpPr>
          <p:nvPr>
            <p:ph type="body" idx="1"/>
          </p:nvPr>
        </p:nvSpPr>
        <p:spPr/>
        <p:txBody>
          <a:bodyPr/>
          <a:lstStyle/>
          <a:p>
            <a:pPr>
              <a:lnSpc>
                <a:spcPct val="90000"/>
              </a:lnSpc>
            </a:pPr>
            <a:r>
              <a:rPr lang="en-US"/>
              <a:t>Business architecture describes what an organization does and how it does it </a:t>
            </a:r>
          </a:p>
          <a:p>
            <a:pPr>
              <a:lnSpc>
                <a:spcPct val="90000"/>
              </a:lnSpc>
            </a:pPr>
            <a:r>
              <a:rPr lang="en-US"/>
              <a:t>This is the most challenging aspect of defining a business architecture – but it is the most important .  Success or failure of a business architecture depends on how well an organization can describe what it does – vertically and horizontally.  </a:t>
            </a:r>
          </a:p>
          <a:p>
            <a:pPr>
              <a:lnSpc>
                <a:spcPct val="90000"/>
              </a:lnSpc>
            </a:pPr>
            <a:r>
              <a:rPr lang="en-US"/>
              <a:t>Enables the organization to represent what it does at the coarsest and the finest level of granuality.   Coarsest level – strategic performance and management level, institutional goals. Finest level – the step by step process that a person follows to execute the organization’s work.  Representation crosses organizational units and describes processes from initiation to completion</a:t>
            </a:r>
          </a:p>
          <a:p>
            <a:pPr>
              <a:lnSpc>
                <a:spcPct val="90000"/>
              </a:lnSpc>
            </a:pPr>
            <a:endParaRPr lang="en-US"/>
          </a:p>
          <a:p>
            <a:pPr>
              <a:lnSpc>
                <a:spcPct val="90000"/>
              </a:lnSpc>
            </a:pPr>
            <a:r>
              <a:rPr lang="en-US"/>
              <a:t>Defining a top to bottom framework which allows us to integrate, aggregate and disaggregate business information – </a:t>
            </a:r>
            <a:r>
              <a:rPr lang="en-US">
                <a:solidFill>
                  <a:schemeClr val="folHlink"/>
                </a:solidFill>
              </a:rPr>
              <a:t>vertical architecture.  Vertical alignment</a:t>
            </a:r>
            <a:r>
              <a:rPr lang="en-US"/>
              <a:t> of human, financial, data/information, technical infrastructure and applications.  We propose a a reference model from which to work:  </a:t>
            </a:r>
          </a:p>
          <a:p>
            <a:pPr lvl="1">
              <a:lnSpc>
                <a:spcPct val="90000"/>
              </a:lnSpc>
            </a:pPr>
            <a:r>
              <a:rPr lang="en-US" sz="1400"/>
              <a:t>Business Area – Strategic Goals &amp; Performance Metrics </a:t>
            </a:r>
          </a:p>
          <a:p>
            <a:pPr lvl="1">
              <a:lnSpc>
                <a:spcPct val="90000"/>
              </a:lnSpc>
            </a:pPr>
            <a:r>
              <a:rPr lang="en-US" sz="1400"/>
              <a:t>Lines of Business – Value Chains</a:t>
            </a:r>
          </a:p>
          <a:p>
            <a:pPr lvl="1">
              <a:lnSpc>
                <a:spcPct val="90000"/>
              </a:lnSpc>
            </a:pPr>
            <a:r>
              <a:rPr lang="en-US" sz="1400"/>
              <a:t>Business Process and Subprocesses – End to end process definitions</a:t>
            </a:r>
          </a:p>
          <a:p>
            <a:pPr>
              <a:lnSpc>
                <a:spcPct val="90000"/>
              </a:lnSpc>
            </a:pPr>
            <a:r>
              <a:rPr lang="en-US"/>
              <a:t>Identifying business processes from beginning to end across the organization – regardless of the application or organizational unit – </a:t>
            </a:r>
            <a:r>
              <a:rPr lang="en-US">
                <a:solidFill>
                  <a:schemeClr val="folHlink"/>
                </a:solidFill>
              </a:rPr>
              <a:t>horizontal architecture </a:t>
            </a:r>
            <a:endParaRPr lang="en-US"/>
          </a:p>
          <a:p>
            <a:pPr>
              <a:lnSpc>
                <a:spcPct val="90000"/>
              </a:lnSpc>
            </a:pPr>
            <a:endParaRPr lang="en-US"/>
          </a:p>
          <a:p>
            <a:pPr>
              <a:lnSpc>
                <a:spcPct val="90000"/>
              </a:lnSpc>
            </a:pP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010148-6D4F-47F4-A105-A63C47433B61}" type="slidenum">
              <a:rPr lang="en-US"/>
              <a:pPr/>
              <a:t>17</a:t>
            </a:fld>
            <a:endParaRPr lang="en-US"/>
          </a:p>
        </p:txBody>
      </p:sp>
      <p:sp>
        <p:nvSpPr>
          <p:cNvPr id="329730" name="Rectangle 2"/>
          <p:cNvSpPr>
            <a:spLocks noRot="1" noChangeArrowheads="1" noTextEdit="1"/>
          </p:cNvSpPr>
          <p:nvPr>
            <p:ph type="sldImg"/>
          </p:nvPr>
        </p:nvSpPr>
        <p:spPr>
          <a:ln/>
        </p:spPr>
      </p:sp>
      <p:sp>
        <p:nvSpPr>
          <p:cNvPr id="329731" name="Rectangle 3"/>
          <p:cNvSpPr>
            <a:spLocks noGrp="1" noChangeArrowheads="1"/>
          </p:cNvSpPr>
          <p:nvPr>
            <p:ph type="body" idx="1"/>
          </p:nvPr>
        </p:nvSpPr>
        <p:spPr/>
        <p:txBody>
          <a:bodyPr/>
          <a:lstStyle/>
          <a:p>
            <a:pPr>
              <a:lnSpc>
                <a:spcPct val="90000"/>
              </a:lnSpc>
            </a:pPr>
            <a:r>
              <a:rPr lang="en-US" sz="900">
                <a:solidFill>
                  <a:schemeClr val="folHlink"/>
                </a:solidFill>
              </a:rPr>
              <a:t>Business Areas…</a:t>
            </a:r>
          </a:p>
          <a:p>
            <a:pPr>
              <a:lnSpc>
                <a:spcPct val="90000"/>
              </a:lnSpc>
            </a:pPr>
            <a:r>
              <a:rPr lang="en-US" sz="1000"/>
              <a:t>represent the organization’s highest level strategy and performance goals</a:t>
            </a:r>
          </a:p>
          <a:p>
            <a:pPr>
              <a:lnSpc>
                <a:spcPct val="90000"/>
              </a:lnSpc>
            </a:pPr>
            <a:r>
              <a:rPr lang="en-US" sz="1000"/>
              <a:t>are defined by the organization’s senior management</a:t>
            </a:r>
          </a:p>
          <a:p>
            <a:pPr>
              <a:lnSpc>
                <a:spcPct val="90000"/>
              </a:lnSpc>
            </a:pPr>
            <a:r>
              <a:rPr lang="en-US" sz="1000"/>
              <a:t>are published in the World Bank’s Strategy and Performance Contracts</a:t>
            </a:r>
          </a:p>
          <a:p>
            <a:pPr>
              <a:lnSpc>
                <a:spcPct val="90000"/>
              </a:lnSpc>
            </a:pPr>
            <a:r>
              <a:rPr lang="en-US" sz="900"/>
              <a:t>The enterprise’s corporate management provides us with the areas </a:t>
            </a:r>
            <a:endParaRPr lang="en-US" sz="1000"/>
          </a:p>
          <a:p>
            <a:pPr lvl="2">
              <a:lnSpc>
                <a:spcPct val="90000"/>
              </a:lnSpc>
            </a:pPr>
            <a:r>
              <a:rPr lang="en-US"/>
              <a:t>Operational Business Area</a:t>
            </a:r>
          </a:p>
          <a:p>
            <a:pPr lvl="2">
              <a:lnSpc>
                <a:spcPct val="90000"/>
              </a:lnSpc>
            </a:pPr>
            <a:r>
              <a:rPr lang="en-US"/>
              <a:t>Financial, Administrative and Corporate Business Area</a:t>
            </a:r>
          </a:p>
          <a:p>
            <a:pPr>
              <a:lnSpc>
                <a:spcPct val="90000"/>
              </a:lnSpc>
            </a:pPr>
            <a:endParaRPr lang="en-US" sz="900"/>
          </a:p>
          <a:p>
            <a:pPr>
              <a:lnSpc>
                <a:spcPct val="90000"/>
              </a:lnSpc>
            </a:pPr>
            <a:r>
              <a:rPr lang="en-US" sz="1000"/>
              <a:t>Lines of Business …</a:t>
            </a:r>
          </a:p>
          <a:p>
            <a:pPr>
              <a:lnSpc>
                <a:spcPct val="90000"/>
              </a:lnSpc>
            </a:pPr>
            <a:r>
              <a:rPr lang="en-US" sz="1000"/>
              <a:t>Resemble value chains</a:t>
            </a:r>
          </a:p>
          <a:p>
            <a:pPr>
              <a:lnSpc>
                <a:spcPct val="90000"/>
              </a:lnSpc>
            </a:pPr>
            <a:r>
              <a:rPr lang="en-US" sz="1000"/>
              <a:t>Are defined according to a set of objective criteria</a:t>
            </a:r>
          </a:p>
          <a:p>
            <a:pPr>
              <a:lnSpc>
                <a:spcPct val="90000"/>
              </a:lnSpc>
            </a:pPr>
            <a:r>
              <a:rPr lang="en-US" sz="1000"/>
              <a:t>Criteria help us to look across organizational structures to see lines of products and services</a:t>
            </a:r>
          </a:p>
          <a:p>
            <a:pPr>
              <a:lnSpc>
                <a:spcPct val="90000"/>
              </a:lnSpc>
            </a:pPr>
            <a:r>
              <a:rPr lang="en-US" sz="1000"/>
              <a:t>Lines of products and services will logically have similar…</a:t>
            </a:r>
          </a:p>
          <a:p>
            <a:pPr lvl="2">
              <a:lnSpc>
                <a:spcPct val="90000"/>
              </a:lnSpc>
            </a:pPr>
            <a:r>
              <a:rPr lang="en-US" sz="1000"/>
              <a:t>job profiles</a:t>
            </a:r>
          </a:p>
          <a:p>
            <a:pPr lvl="2">
              <a:lnSpc>
                <a:spcPct val="90000"/>
              </a:lnSpc>
            </a:pPr>
            <a:r>
              <a:rPr lang="en-US" sz="1000"/>
              <a:t>types of facilities, applications and technology support</a:t>
            </a:r>
          </a:p>
          <a:p>
            <a:pPr lvl="2">
              <a:lnSpc>
                <a:spcPct val="90000"/>
              </a:lnSpc>
            </a:pPr>
            <a:r>
              <a:rPr lang="en-US" sz="1000"/>
              <a:t>clients/stakeholders</a:t>
            </a:r>
          </a:p>
          <a:p>
            <a:pPr lvl="2">
              <a:lnSpc>
                <a:spcPct val="90000"/>
              </a:lnSpc>
            </a:pPr>
            <a:r>
              <a:rPr lang="en-US" sz="1000"/>
              <a:t>Policies and procedures</a:t>
            </a:r>
          </a:p>
          <a:p>
            <a:pPr lvl="2">
              <a:lnSpc>
                <a:spcPct val="90000"/>
              </a:lnSpc>
            </a:pPr>
            <a:r>
              <a:rPr lang="en-US" sz="1000"/>
              <a:t>Service standards and metrics</a:t>
            </a:r>
          </a:p>
          <a:p>
            <a:pPr lvl="2">
              <a:lnSpc>
                <a:spcPct val="90000"/>
              </a:lnSpc>
            </a:pPr>
            <a:r>
              <a:rPr lang="en-US" sz="1000"/>
              <a:t>Benchmarking targets – within the same economic sectors or industries</a:t>
            </a:r>
          </a:p>
          <a:p>
            <a:pPr lvl="2">
              <a:lnSpc>
                <a:spcPct val="90000"/>
              </a:lnSpc>
            </a:pPr>
            <a:r>
              <a:rPr lang="en-US" sz="1000"/>
              <a:t>Processes and subprocesse</a:t>
            </a:r>
          </a:p>
          <a:p>
            <a:pPr>
              <a:lnSpc>
                <a:spcPct val="90000"/>
              </a:lnSpc>
            </a:pPr>
            <a:r>
              <a:rPr lang="en-US" sz="1000"/>
              <a:t>Let’s review the criteria we’ve established to identify a Line of Business.  Then let’s review the proposed Lines of Business for the two Business Areas</a:t>
            </a:r>
          </a:p>
          <a:p>
            <a:pPr>
              <a:lnSpc>
                <a:spcPct val="90000"/>
              </a:lnSpc>
            </a:pPr>
            <a:endParaRPr lang="en-US" sz="10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59426" name="Rectangle 2"/>
          <p:cNvSpPr>
            <a:spLocks noChangeArrowheads="1"/>
          </p:cNvSpPr>
          <p:nvPr/>
        </p:nvSpPr>
        <p:spPr bwMode="auto">
          <a:xfrm>
            <a:off x="381000" y="990600"/>
            <a:ext cx="76200" cy="5105400"/>
          </a:xfrm>
          <a:prstGeom prst="rect">
            <a:avLst/>
          </a:prstGeom>
          <a:solidFill>
            <a:schemeClr val="bg2"/>
          </a:solidFill>
          <a:ln w="12700">
            <a:noFill/>
            <a:miter lim="800000"/>
            <a:headEnd/>
            <a:tailEnd/>
          </a:ln>
          <a:effectLst/>
        </p:spPr>
        <p:txBody>
          <a:bodyPr wrap="none" anchor="ctr"/>
          <a:lstStyle/>
          <a:p>
            <a:pPr algn="ctr" eaLnBrk="1" hangingPunct="1"/>
            <a:endParaRPr lang="en-US" sz="2400">
              <a:latin typeface="Times New Roman" pitchFamily="18" charset="0"/>
            </a:endParaRPr>
          </a:p>
        </p:txBody>
      </p:sp>
      <p:sp>
        <p:nvSpPr>
          <p:cNvPr id="359427" name="Rectangle 3"/>
          <p:cNvSpPr>
            <a:spLocks noGrp="1" noChangeArrowheads="1"/>
          </p:cNvSpPr>
          <p:nvPr>
            <p:ph type="ctrTitle"/>
          </p:nvPr>
        </p:nvSpPr>
        <p:spPr>
          <a:xfrm>
            <a:off x="762000" y="1371600"/>
            <a:ext cx="7696200" cy="2057400"/>
          </a:xfrm>
        </p:spPr>
        <p:txBody>
          <a:bodyPr/>
          <a:lstStyle>
            <a:lvl1pPr>
              <a:defRPr sz="5400"/>
            </a:lvl1pPr>
          </a:lstStyle>
          <a:p>
            <a:r>
              <a:rPr lang="en-US"/>
              <a:t>Click to edit Master title style</a:t>
            </a:r>
          </a:p>
        </p:txBody>
      </p:sp>
      <p:sp>
        <p:nvSpPr>
          <p:cNvPr id="359428" name="Rectangle 4"/>
          <p:cNvSpPr>
            <a:spLocks noGrp="1" noChangeArrowheads="1"/>
          </p:cNvSpPr>
          <p:nvPr>
            <p:ph type="subTitle" idx="1"/>
          </p:nvPr>
        </p:nvSpPr>
        <p:spPr>
          <a:xfrm>
            <a:off x="762000" y="3765550"/>
            <a:ext cx="7696200" cy="2057400"/>
          </a:xfrm>
        </p:spPr>
        <p:txBody>
          <a:bodyPr/>
          <a:lstStyle>
            <a:lvl1pPr marL="0" indent="0">
              <a:buFont typeface="Wingdings" pitchFamily="2" charset="2"/>
              <a:buNone/>
              <a:defRPr sz="2800">
                <a:latin typeface="Arial" charset="0"/>
              </a:defRPr>
            </a:lvl1pPr>
          </a:lstStyle>
          <a:p>
            <a:r>
              <a:rPr lang="en-US"/>
              <a:t>Click to edit Master subtitle style</a:t>
            </a:r>
          </a:p>
        </p:txBody>
      </p:sp>
      <p:sp>
        <p:nvSpPr>
          <p:cNvPr id="359429" name="Rectangle 5"/>
          <p:cNvSpPr>
            <a:spLocks noGrp="1" noChangeArrowheads="1"/>
          </p:cNvSpPr>
          <p:nvPr>
            <p:ph type="dt" sz="half" idx="2"/>
          </p:nvPr>
        </p:nvSpPr>
        <p:spPr>
          <a:xfrm>
            <a:off x="457200" y="6248400"/>
            <a:ext cx="2133600" cy="457200"/>
          </a:xfrm>
        </p:spPr>
        <p:txBody>
          <a:bodyPr/>
          <a:lstStyle>
            <a:lvl1pPr>
              <a:defRPr/>
            </a:lvl1pPr>
          </a:lstStyle>
          <a:p>
            <a:endParaRPr lang="en-US"/>
          </a:p>
        </p:txBody>
      </p:sp>
      <p:sp>
        <p:nvSpPr>
          <p:cNvPr id="359430" name="Rectangle 6"/>
          <p:cNvSpPr>
            <a:spLocks noGrp="1" noChangeArrowheads="1"/>
          </p:cNvSpPr>
          <p:nvPr>
            <p:ph type="ftr" sz="quarter" idx="3"/>
          </p:nvPr>
        </p:nvSpPr>
        <p:spPr/>
        <p:txBody>
          <a:bodyPr/>
          <a:lstStyle>
            <a:lvl1pPr>
              <a:defRPr/>
            </a:lvl1pPr>
          </a:lstStyle>
          <a:p>
            <a:endParaRPr lang="en-US"/>
          </a:p>
        </p:txBody>
      </p:sp>
      <p:sp>
        <p:nvSpPr>
          <p:cNvPr id="359431" name="Rectangle 7"/>
          <p:cNvSpPr>
            <a:spLocks noGrp="1" noChangeArrowheads="1"/>
          </p:cNvSpPr>
          <p:nvPr>
            <p:ph type="sldNum" sz="quarter" idx="4"/>
          </p:nvPr>
        </p:nvSpPr>
        <p:spPr>
          <a:xfrm>
            <a:off x="6553200" y="6248400"/>
            <a:ext cx="2133600" cy="457200"/>
          </a:xfrm>
        </p:spPr>
        <p:txBody>
          <a:bodyPr/>
          <a:lstStyle>
            <a:lvl1pPr>
              <a:defRPr b="1"/>
            </a:lvl1pPr>
          </a:lstStyle>
          <a:p>
            <a:fld id="{19780B32-386F-48F7-885C-23F9C47D6F3D}" type="slidenum">
              <a:rPr lang="en-US"/>
              <a:pPr/>
              <a:t>‹#›</a:t>
            </a:fld>
            <a:endParaRPr lang="en-US"/>
          </a:p>
        </p:txBody>
      </p:sp>
      <p:grpSp>
        <p:nvGrpSpPr>
          <p:cNvPr id="359432" name="Group 8"/>
          <p:cNvGrpSpPr>
            <a:grpSpLocks/>
          </p:cNvGrpSpPr>
          <p:nvPr/>
        </p:nvGrpSpPr>
        <p:grpSpPr bwMode="auto">
          <a:xfrm>
            <a:off x="381000" y="304800"/>
            <a:ext cx="8391525" cy="5791200"/>
            <a:chOff x="240" y="192"/>
            <a:chExt cx="5286" cy="3648"/>
          </a:xfrm>
        </p:grpSpPr>
        <p:sp>
          <p:nvSpPr>
            <p:cNvPr id="359433" name="Rectangle 9"/>
            <p:cNvSpPr>
              <a:spLocks noChangeArrowheads="1"/>
            </p:cNvSpPr>
            <p:nvPr/>
          </p:nvSpPr>
          <p:spPr bwMode="auto">
            <a:xfrm flipV="1">
              <a:off x="5236" y="192"/>
              <a:ext cx="288" cy="288"/>
            </a:xfrm>
            <a:prstGeom prst="rect">
              <a:avLst/>
            </a:prstGeom>
            <a:solidFill>
              <a:schemeClr val="bg2"/>
            </a:solidFill>
            <a:ln w="12700">
              <a:solidFill>
                <a:schemeClr val="tx1"/>
              </a:solidFill>
              <a:miter lim="800000"/>
              <a:headEnd/>
              <a:tailEnd/>
            </a:ln>
            <a:effectLst/>
          </p:spPr>
          <p:txBody>
            <a:bodyPr rot="10800000" wrap="none" anchor="ctr"/>
            <a:lstStyle/>
            <a:p>
              <a:pPr algn="ctr" eaLnBrk="1" hangingPunct="1"/>
              <a:endParaRPr lang="en-US" sz="2400">
                <a:latin typeface="Times New Roman" pitchFamily="18" charset="0"/>
              </a:endParaRPr>
            </a:p>
          </p:txBody>
        </p:sp>
        <p:sp>
          <p:nvSpPr>
            <p:cNvPr id="359434" name="Rectangle 10"/>
            <p:cNvSpPr>
              <a:spLocks noChangeArrowheads="1"/>
            </p:cNvSpPr>
            <p:nvPr/>
          </p:nvSpPr>
          <p:spPr bwMode="auto">
            <a:xfrm flipV="1">
              <a:off x="240" y="192"/>
              <a:ext cx="5004" cy="288"/>
            </a:xfrm>
            <a:prstGeom prst="rect">
              <a:avLst/>
            </a:prstGeom>
            <a:solidFill>
              <a:schemeClr val="accent2"/>
            </a:solidFill>
            <a:ln w="12700">
              <a:solidFill>
                <a:schemeClr val="tx1"/>
              </a:solidFill>
              <a:miter lim="800000"/>
              <a:headEnd/>
              <a:tailEnd/>
            </a:ln>
            <a:effectLst/>
          </p:spPr>
          <p:txBody>
            <a:bodyPr wrap="none" anchor="ctr"/>
            <a:lstStyle/>
            <a:p>
              <a:pPr algn="ctr" eaLnBrk="1" hangingPunct="1"/>
              <a:endParaRPr lang="en-US" sz="2400">
                <a:latin typeface="Times New Roman" pitchFamily="18" charset="0"/>
              </a:endParaRPr>
            </a:p>
          </p:txBody>
        </p:sp>
        <p:sp>
          <p:nvSpPr>
            <p:cNvPr id="359435" name="Rectangle 11"/>
            <p:cNvSpPr>
              <a:spLocks noChangeArrowheads="1"/>
            </p:cNvSpPr>
            <p:nvPr/>
          </p:nvSpPr>
          <p:spPr bwMode="auto">
            <a:xfrm flipV="1">
              <a:off x="240" y="480"/>
              <a:ext cx="5004" cy="144"/>
            </a:xfrm>
            <a:prstGeom prst="rect">
              <a:avLst/>
            </a:prstGeom>
            <a:solidFill>
              <a:schemeClr val="bg2"/>
            </a:solidFill>
            <a:ln w="12700">
              <a:solidFill>
                <a:schemeClr val="tx1"/>
              </a:solidFill>
              <a:miter lim="800000"/>
              <a:headEnd/>
              <a:tailEnd/>
            </a:ln>
            <a:effectLst/>
          </p:spPr>
          <p:txBody>
            <a:bodyPr rot="10800000" wrap="none" anchor="ctr"/>
            <a:lstStyle/>
            <a:p>
              <a:pPr algn="ctr" eaLnBrk="1" hangingPunct="1"/>
              <a:endParaRPr lang="en-US" sz="2400">
                <a:latin typeface="Times New Roman" pitchFamily="18" charset="0"/>
              </a:endParaRPr>
            </a:p>
          </p:txBody>
        </p:sp>
        <p:sp>
          <p:nvSpPr>
            <p:cNvPr id="359436" name="Rectangle 12"/>
            <p:cNvSpPr>
              <a:spLocks noChangeArrowheads="1"/>
            </p:cNvSpPr>
            <p:nvPr/>
          </p:nvSpPr>
          <p:spPr bwMode="auto">
            <a:xfrm flipV="1">
              <a:off x="5242" y="480"/>
              <a:ext cx="282" cy="144"/>
            </a:xfrm>
            <a:prstGeom prst="rect">
              <a:avLst/>
            </a:prstGeom>
            <a:solidFill>
              <a:schemeClr val="accent2"/>
            </a:solidFill>
            <a:ln w="12700">
              <a:solidFill>
                <a:schemeClr val="tx1"/>
              </a:solidFill>
              <a:miter lim="800000"/>
              <a:headEnd/>
              <a:tailEnd/>
            </a:ln>
            <a:effectLst/>
          </p:spPr>
          <p:txBody>
            <a:bodyPr wrap="none" anchor="ctr"/>
            <a:lstStyle/>
            <a:p>
              <a:pPr algn="ctr" eaLnBrk="1" hangingPunct="1"/>
              <a:endParaRPr lang="en-US" sz="2400">
                <a:latin typeface="Times New Roman" pitchFamily="18" charset="0"/>
              </a:endParaRPr>
            </a:p>
          </p:txBody>
        </p:sp>
        <p:sp>
          <p:nvSpPr>
            <p:cNvPr id="359437" name="Line 13"/>
            <p:cNvSpPr>
              <a:spLocks noChangeShapeType="1"/>
            </p:cNvSpPr>
            <p:nvPr/>
          </p:nvSpPr>
          <p:spPr bwMode="auto">
            <a:xfrm flipH="1">
              <a:off x="480" y="2256"/>
              <a:ext cx="4848" cy="0"/>
            </a:xfrm>
            <a:prstGeom prst="line">
              <a:avLst/>
            </a:prstGeom>
            <a:noFill/>
            <a:ln w="12700">
              <a:solidFill>
                <a:schemeClr val="tx1"/>
              </a:solidFill>
              <a:round/>
              <a:headEnd/>
              <a:tailEnd/>
            </a:ln>
            <a:effectLst/>
          </p:spPr>
          <p:txBody>
            <a:bodyPr/>
            <a:lstStyle/>
            <a:p>
              <a:endParaRPr lang="en-US"/>
            </a:p>
          </p:txBody>
        </p:sp>
        <p:sp>
          <p:nvSpPr>
            <p:cNvPr id="359438" name="Rectangle 14"/>
            <p:cNvSpPr>
              <a:spLocks noChangeArrowheads="1"/>
            </p:cNvSpPr>
            <p:nvPr/>
          </p:nvSpPr>
          <p:spPr bwMode="auto">
            <a:xfrm>
              <a:off x="240" y="192"/>
              <a:ext cx="5286" cy="3648"/>
            </a:xfrm>
            <a:prstGeom prst="rect">
              <a:avLst/>
            </a:prstGeom>
            <a:noFill/>
            <a:ln w="12700">
              <a:solidFill>
                <a:schemeClr val="tx1"/>
              </a:solidFill>
              <a:miter lim="800000"/>
              <a:headEnd/>
              <a:tailEnd/>
            </a:ln>
            <a:effectLst/>
          </p:spPr>
          <p:txBody>
            <a:bodyPr wrap="none" anchor="ctr"/>
            <a:lstStyle/>
            <a:p>
              <a:pPr algn="ctr" eaLnBrk="1" hangingPunct="1"/>
              <a:endParaRPr lang="en-US" sz="2400">
                <a:latin typeface="Times New Roman" pitchFamily="18" charset="0"/>
              </a:endParaRPr>
            </a:p>
          </p:txBody>
        </p:sp>
      </p:gr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F3C0E5B-CEB3-4C3A-B33F-7F4BCFD3333C}"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83B608B-E9A7-4250-B1F0-BF647FACC7EC}"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828800"/>
            <a:ext cx="4038600" cy="4302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828800"/>
            <a:ext cx="4038600" cy="4302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BCCC1DF2-4E9D-48AF-960E-E043E3A23364}"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46068D8B-E2AE-497D-B493-76C266FFFD5E}"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6978F40B-A0B8-4BF3-8253-474BD3BD7280}"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B9BA9B9A-9D18-4176-B24B-C946953F50D6}"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CE4412CB-422D-46B6-B1D4-827F09F894FE}"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0E841424-E978-4724-AB07-93A86893C849}"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958978A5-98B7-44AC-82C1-4785448C4973}"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533400"/>
            <a:ext cx="2057400" cy="5597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533400"/>
            <a:ext cx="6019800" cy="5597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7F32A7DD-081E-474C-A275-D8EB5D822678}"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828800"/>
            <a:ext cx="8229600" cy="4302125"/>
          </a:xfrm>
        </p:spPr>
        <p:txBody>
          <a:bodyPr/>
          <a:lstStyle/>
          <a:p>
            <a:endParaRPr lang="en-US"/>
          </a:p>
        </p:txBody>
      </p:sp>
      <p:sp>
        <p:nvSpPr>
          <p:cNvPr id="4" name="Date Placeholder 3"/>
          <p:cNvSpPr>
            <a:spLocks noGrp="1"/>
          </p:cNvSpPr>
          <p:nvPr>
            <p:ph type="dt" sz="half" idx="10"/>
          </p:nvPr>
        </p:nvSpPr>
        <p:spPr>
          <a:xfrm>
            <a:off x="457200" y="6248400"/>
            <a:ext cx="1676400" cy="457200"/>
          </a:xfrm>
        </p:spPr>
        <p:txBody>
          <a:bodyPr/>
          <a:lstStyle>
            <a:lvl1pPr>
              <a:defRPr/>
            </a:lvl1pPr>
          </a:lstStyle>
          <a:p>
            <a:endParaRPr lang="en-US"/>
          </a:p>
        </p:txBody>
      </p:sp>
      <p:sp>
        <p:nvSpPr>
          <p:cNvPr id="5" name="Footer Placeholder 4"/>
          <p:cNvSpPr>
            <a:spLocks noGrp="1"/>
          </p:cNvSpPr>
          <p:nvPr>
            <p:ph type="ftr" sz="quarter" idx="11"/>
          </p:nvPr>
        </p:nvSpPr>
        <p:spPr>
          <a:xfrm>
            <a:off x="3124200" y="6248400"/>
            <a:ext cx="2895600" cy="457200"/>
          </a:xfrm>
        </p:spPr>
        <p:txBody>
          <a:bodyPr/>
          <a:lstStyle>
            <a:lvl1pPr>
              <a:defRPr/>
            </a:lvl1pPr>
          </a:lstStyle>
          <a:p>
            <a:endParaRPr lang="en-US"/>
          </a:p>
        </p:txBody>
      </p:sp>
      <p:sp>
        <p:nvSpPr>
          <p:cNvPr id="6" name="Slide Number Placeholder 5"/>
          <p:cNvSpPr>
            <a:spLocks noGrp="1"/>
          </p:cNvSpPr>
          <p:nvPr>
            <p:ph type="sldNum" sz="quarter" idx="12"/>
          </p:nvPr>
        </p:nvSpPr>
        <p:spPr>
          <a:xfrm>
            <a:off x="6781800" y="6248400"/>
            <a:ext cx="1905000" cy="457200"/>
          </a:xfrm>
        </p:spPr>
        <p:txBody>
          <a:bodyPr/>
          <a:lstStyle>
            <a:lvl1pPr>
              <a:defRPr/>
            </a:lvl1pPr>
          </a:lstStyle>
          <a:p>
            <a:fld id="{3F637458-80AC-4246-9572-9B2F896A5A70}"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02" name="Rectangle 2"/>
          <p:cNvSpPr>
            <a:spLocks noGrp="1" noChangeArrowheads="1"/>
          </p:cNvSpPr>
          <p:nvPr>
            <p:ph type="title"/>
          </p:nvPr>
        </p:nvSpPr>
        <p:spPr bwMode="auto">
          <a:xfrm>
            <a:off x="457200" y="533400"/>
            <a:ext cx="8229600" cy="1143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358403" name="Rectangle 3"/>
          <p:cNvSpPr>
            <a:spLocks noGrp="1" noChangeArrowheads="1"/>
          </p:cNvSpPr>
          <p:nvPr>
            <p:ph type="body" idx="1"/>
          </p:nvPr>
        </p:nvSpPr>
        <p:spPr bwMode="auto">
          <a:xfrm>
            <a:off x="457200" y="1828800"/>
            <a:ext cx="8229600" cy="43021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58404" name="Rectangle 4"/>
          <p:cNvSpPr>
            <a:spLocks noGrp="1" noChangeArrowheads="1"/>
          </p:cNvSpPr>
          <p:nvPr>
            <p:ph type="dt" sz="half" idx="2"/>
          </p:nvPr>
        </p:nvSpPr>
        <p:spPr bwMode="auto">
          <a:xfrm>
            <a:off x="457200" y="6248400"/>
            <a:ext cx="1676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atin typeface="Arial" charset="0"/>
              </a:defRPr>
            </a:lvl1pPr>
          </a:lstStyle>
          <a:p>
            <a:endParaRPr lang="en-US"/>
          </a:p>
        </p:txBody>
      </p:sp>
      <p:sp>
        <p:nvSpPr>
          <p:cNvPr id="358405"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latin typeface="Arial" charset="0"/>
              </a:defRPr>
            </a:lvl1pPr>
          </a:lstStyle>
          <a:p>
            <a:endParaRPr lang="en-US"/>
          </a:p>
        </p:txBody>
      </p:sp>
      <p:sp>
        <p:nvSpPr>
          <p:cNvPr id="358406" name="Rectangle 6"/>
          <p:cNvSpPr>
            <a:spLocks noGrp="1" noChangeArrowheads="1"/>
          </p:cNvSpPr>
          <p:nvPr>
            <p:ph type="sldNum" sz="quarter" idx="4"/>
          </p:nvPr>
        </p:nvSpPr>
        <p:spPr bwMode="auto">
          <a:xfrm>
            <a:off x="6781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atin typeface="Arial" charset="0"/>
              </a:defRPr>
            </a:lvl1pPr>
          </a:lstStyle>
          <a:p>
            <a:fld id="{FB073989-22B5-4B25-8478-2EF803A9F4F9}" type="slidenum">
              <a:rPr lang="en-US"/>
              <a:pPr/>
              <a:t>‹#›</a:t>
            </a:fld>
            <a:endParaRPr lang="en-US"/>
          </a:p>
        </p:txBody>
      </p:sp>
      <p:grpSp>
        <p:nvGrpSpPr>
          <p:cNvPr id="358407" name="Group 7"/>
          <p:cNvGrpSpPr>
            <a:grpSpLocks/>
          </p:cNvGrpSpPr>
          <p:nvPr/>
        </p:nvGrpSpPr>
        <p:grpSpPr bwMode="auto">
          <a:xfrm>
            <a:off x="279400" y="152400"/>
            <a:ext cx="8686800" cy="1600200"/>
            <a:chOff x="176" y="96"/>
            <a:chExt cx="5472" cy="1008"/>
          </a:xfrm>
        </p:grpSpPr>
        <p:sp>
          <p:nvSpPr>
            <p:cNvPr id="358408" name="Line 8"/>
            <p:cNvSpPr>
              <a:spLocks noChangeShapeType="1"/>
            </p:cNvSpPr>
            <p:nvPr/>
          </p:nvSpPr>
          <p:spPr bwMode="auto">
            <a:xfrm flipH="1">
              <a:off x="288" y="1104"/>
              <a:ext cx="5232" cy="0"/>
            </a:xfrm>
            <a:prstGeom prst="line">
              <a:avLst/>
            </a:prstGeom>
            <a:noFill/>
            <a:ln w="12700">
              <a:solidFill>
                <a:schemeClr val="tx1"/>
              </a:solidFill>
              <a:round/>
              <a:headEnd/>
              <a:tailEnd/>
            </a:ln>
            <a:effectLst/>
          </p:spPr>
          <p:txBody>
            <a:bodyPr/>
            <a:lstStyle/>
            <a:p>
              <a:endParaRPr lang="en-US"/>
            </a:p>
          </p:txBody>
        </p:sp>
        <p:sp>
          <p:nvSpPr>
            <p:cNvPr id="358409" name="Rectangle 9"/>
            <p:cNvSpPr>
              <a:spLocks noChangeArrowheads="1"/>
            </p:cNvSpPr>
            <p:nvPr/>
          </p:nvSpPr>
          <p:spPr bwMode="auto">
            <a:xfrm>
              <a:off x="5504" y="96"/>
              <a:ext cx="144" cy="144"/>
            </a:xfrm>
            <a:prstGeom prst="rect">
              <a:avLst/>
            </a:prstGeom>
            <a:solidFill>
              <a:schemeClr val="bg2"/>
            </a:solidFill>
            <a:ln w="12700">
              <a:solidFill>
                <a:schemeClr val="tx1"/>
              </a:solidFill>
              <a:miter lim="800000"/>
              <a:headEnd/>
              <a:tailEnd/>
            </a:ln>
            <a:effectLst/>
          </p:spPr>
          <p:txBody>
            <a:bodyPr wrap="none" anchor="ctr"/>
            <a:lstStyle/>
            <a:p>
              <a:pPr algn="ctr" eaLnBrk="1" hangingPunct="1"/>
              <a:endParaRPr lang="en-US" sz="2400">
                <a:latin typeface="Times New Roman" pitchFamily="18" charset="0"/>
              </a:endParaRPr>
            </a:p>
          </p:txBody>
        </p:sp>
        <p:sp>
          <p:nvSpPr>
            <p:cNvPr id="358410" name="Rectangle 10"/>
            <p:cNvSpPr>
              <a:spLocks noChangeArrowheads="1"/>
            </p:cNvSpPr>
            <p:nvPr/>
          </p:nvSpPr>
          <p:spPr bwMode="auto">
            <a:xfrm>
              <a:off x="176" y="96"/>
              <a:ext cx="5326" cy="144"/>
            </a:xfrm>
            <a:prstGeom prst="rect">
              <a:avLst/>
            </a:prstGeom>
            <a:solidFill>
              <a:schemeClr val="accent2"/>
            </a:solidFill>
            <a:ln w="12700">
              <a:solidFill>
                <a:schemeClr val="tx1"/>
              </a:solidFill>
              <a:miter lim="800000"/>
              <a:headEnd/>
              <a:tailEnd/>
            </a:ln>
            <a:effectLst/>
          </p:spPr>
          <p:txBody>
            <a:bodyPr wrap="none" anchor="ctr"/>
            <a:lstStyle/>
            <a:p>
              <a:pPr algn="ctr" eaLnBrk="1" hangingPunct="1"/>
              <a:endParaRPr lang="en-US" sz="2400">
                <a:latin typeface="Times New Roman" pitchFamily="18" charset="0"/>
              </a:endParaRPr>
            </a:p>
          </p:txBody>
        </p:sp>
        <p:sp>
          <p:nvSpPr>
            <p:cNvPr id="358411" name="Rectangle 11"/>
            <p:cNvSpPr>
              <a:spLocks noChangeArrowheads="1"/>
            </p:cNvSpPr>
            <p:nvPr/>
          </p:nvSpPr>
          <p:spPr bwMode="auto">
            <a:xfrm>
              <a:off x="176" y="240"/>
              <a:ext cx="5326" cy="88"/>
            </a:xfrm>
            <a:prstGeom prst="rect">
              <a:avLst/>
            </a:prstGeom>
            <a:solidFill>
              <a:schemeClr val="bg2"/>
            </a:solidFill>
            <a:ln w="12700">
              <a:solidFill>
                <a:schemeClr val="tx1"/>
              </a:solidFill>
              <a:miter lim="800000"/>
              <a:headEnd/>
              <a:tailEnd/>
            </a:ln>
            <a:effectLst/>
          </p:spPr>
          <p:txBody>
            <a:bodyPr wrap="none" anchor="ctr"/>
            <a:lstStyle/>
            <a:p>
              <a:pPr algn="ctr" eaLnBrk="1" hangingPunct="1"/>
              <a:endParaRPr lang="en-US" sz="2400">
                <a:latin typeface="Times New Roman" pitchFamily="18" charset="0"/>
              </a:endParaRPr>
            </a:p>
          </p:txBody>
        </p:sp>
        <p:sp>
          <p:nvSpPr>
            <p:cNvPr id="358412" name="Rectangle 12"/>
            <p:cNvSpPr>
              <a:spLocks noChangeArrowheads="1"/>
            </p:cNvSpPr>
            <p:nvPr/>
          </p:nvSpPr>
          <p:spPr bwMode="auto">
            <a:xfrm>
              <a:off x="5504" y="241"/>
              <a:ext cx="144" cy="86"/>
            </a:xfrm>
            <a:prstGeom prst="rect">
              <a:avLst/>
            </a:prstGeom>
            <a:solidFill>
              <a:schemeClr val="accent2"/>
            </a:solidFill>
            <a:ln w="12700">
              <a:solidFill>
                <a:schemeClr val="tx1"/>
              </a:solidFill>
              <a:miter lim="800000"/>
              <a:headEnd/>
              <a:tailEnd/>
            </a:ln>
            <a:effectLst/>
          </p:spPr>
          <p:txBody>
            <a:bodyPr wrap="none" anchor="ctr"/>
            <a:lstStyle/>
            <a:p>
              <a:pPr algn="ctr" eaLnBrk="1" hangingPunct="1"/>
              <a:endParaRPr lang="en-US" sz="2400">
                <a:latin typeface="Times New Roman" pitchFamily="18" charset="0"/>
              </a:endParaRPr>
            </a:p>
          </p:txBody>
        </p:sp>
      </p:gr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iming>
    <p:tnLst>
      <p:par>
        <p:cTn id="1" dur="indefinite" restart="never" nodeType="tmRoot"/>
      </p:par>
    </p:tnLst>
  </p:timing>
  <p:txStyles>
    <p:titleStyle>
      <a:lvl1pPr algn="l" rtl="0" fontAlgn="base">
        <a:spcBef>
          <a:spcPct val="0"/>
        </a:spcBef>
        <a:spcAft>
          <a:spcPct val="0"/>
        </a:spcAft>
        <a:defRPr sz="4400">
          <a:solidFill>
            <a:schemeClr val="tx2"/>
          </a:solidFill>
          <a:latin typeface="+mj-lt"/>
          <a:ea typeface="+mj-ea"/>
          <a:cs typeface="+mj-cs"/>
        </a:defRPr>
      </a:lvl1pPr>
      <a:lvl2pPr algn="l" rtl="0" fontAlgn="base">
        <a:spcBef>
          <a:spcPct val="0"/>
        </a:spcBef>
        <a:spcAft>
          <a:spcPct val="0"/>
        </a:spcAft>
        <a:defRPr sz="4400">
          <a:solidFill>
            <a:schemeClr val="tx2"/>
          </a:solidFill>
          <a:latin typeface="Times New Roman" pitchFamily="18" charset="0"/>
        </a:defRPr>
      </a:lvl2pPr>
      <a:lvl3pPr algn="l" rtl="0" fontAlgn="base">
        <a:spcBef>
          <a:spcPct val="0"/>
        </a:spcBef>
        <a:spcAft>
          <a:spcPct val="0"/>
        </a:spcAft>
        <a:defRPr sz="4400">
          <a:solidFill>
            <a:schemeClr val="tx2"/>
          </a:solidFill>
          <a:latin typeface="Times New Roman" pitchFamily="18" charset="0"/>
        </a:defRPr>
      </a:lvl3pPr>
      <a:lvl4pPr algn="l" rtl="0" fontAlgn="base">
        <a:spcBef>
          <a:spcPct val="0"/>
        </a:spcBef>
        <a:spcAft>
          <a:spcPct val="0"/>
        </a:spcAft>
        <a:defRPr sz="4400">
          <a:solidFill>
            <a:schemeClr val="tx2"/>
          </a:solidFill>
          <a:latin typeface="Times New Roman" pitchFamily="18" charset="0"/>
        </a:defRPr>
      </a:lvl4pPr>
      <a:lvl5pPr algn="l" rtl="0" fontAlgn="base">
        <a:spcBef>
          <a:spcPct val="0"/>
        </a:spcBef>
        <a:spcAft>
          <a:spcPct val="0"/>
        </a:spcAft>
        <a:defRPr sz="4400">
          <a:solidFill>
            <a:schemeClr val="tx2"/>
          </a:solidFill>
          <a:latin typeface="Times New Roman" pitchFamily="18" charset="0"/>
        </a:defRPr>
      </a:lvl5pPr>
      <a:lvl6pPr marL="457200" algn="l" rtl="0" fontAlgn="base">
        <a:spcBef>
          <a:spcPct val="0"/>
        </a:spcBef>
        <a:spcAft>
          <a:spcPct val="0"/>
        </a:spcAft>
        <a:defRPr sz="4400">
          <a:solidFill>
            <a:schemeClr val="tx2"/>
          </a:solidFill>
          <a:latin typeface="Times New Roman" pitchFamily="18" charset="0"/>
        </a:defRPr>
      </a:lvl6pPr>
      <a:lvl7pPr marL="914400" algn="l" rtl="0" fontAlgn="base">
        <a:spcBef>
          <a:spcPct val="0"/>
        </a:spcBef>
        <a:spcAft>
          <a:spcPct val="0"/>
        </a:spcAft>
        <a:defRPr sz="4400">
          <a:solidFill>
            <a:schemeClr val="tx2"/>
          </a:solidFill>
          <a:latin typeface="Times New Roman" pitchFamily="18" charset="0"/>
        </a:defRPr>
      </a:lvl7pPr>
      <a:lvl8pPr marL="1371600" algn="l" rtl="0" fontAlgn="base">
        <a:spcBef>
          <a:spcPct val="0"/>
        </a:spcBef>
        <a:spcAft>
          <a:spcPct val="0"/>
        </a:spcAft>
        <a:defRPr sz="4400">
          <a:solidFill>
            <a:schemeClr val="tx2"/>
          </a:solidFill>
          <a:latin typeface="Times New Roman" pitchFamily="18" charset="0"/>
        </a:defRPr>
      </a:lvl8pPr>
      <a:lvl9pPr marL="1828800" algn="l" rtl="0" fontAlgn="base">
        <a:spcBef>
          <a:spcPct val="0"/>
        </a:spcBef>
        <a:spcAft>
          <a:spcPct val="0"/>
        </a:spcAft>
        <a:defRPr sz="4400">
          <a:solidFill>
            <a:schemeClr val="tx2"/>
          </a:solidFill>
          <a:latin typeface="Times New Roman" pitchFamily="18" charset="0"/>
        </a:defRPr>
      </a:lvl9pPr>
    </p:titleStyle>
    <p:bodyStyle>
      <a:lvl1pPr marL="469900" indent="-469900" algn="l" rtl="0" fontAlgn="base">
        <a:spcBef>
          <a:spcPct val="20000"/>
        </a:spcBef>
        <a:spcAft>
          <a:spcPct val="0"/>
        </a:spcAft>
        <a:buClr>
          <a:schemeClr val="bg2"/>
        </a:buClr>
        <a:buSzPct val="70000"/>
        <a:buFont typeface="Wingdings" pitchFamily="2" charset="2"/>
        <a:buChar char="o"/>
        <a:defRPr sz="3200">
          <a:solidFill>
            <a:schemeClr val="tx1"/>
          </a:solidFill>
          <a:latin typeface="+mn-lt"/>
          <a:ea typeface="+mn-ea"/>
          <a:cs typeface="+mn-cs"/>
        </a:defRPr>
      </a:lvl1pPr>
      <a:lvl2pPr marL="908050" indent="-436563" algn="l" rtl="0" fontAlgn="base">
        <a:spcBef>
          <a:spcPct val="20000"/>
        </a:spcBef>
        <a:spcAft>
          <a:spcPct val="0"/>
        </a:spcAft>
        <a:buClr>
          <a:schemeClr val="accent2"/>
        </a:buClr>
        <a:buSzPct val="75000"/>
        <a:buFont typeface="Wingdings" pitchFamily="2" charset="2"/>
        <a:buChar char="n"/>
        <a:defRPr sz="2800">
          <a:solidFill>
            <a:schemeClr val="tx1"/>
          </a:solidFill>
          <a:latin typeface="+mn-lt"/>
        </a:defRPr>
      </a:lvl2pPr>
      <a:lvl3pPr marL="1377950" indent="-468313" algn="l" rtl="0" fontAlgn="base">
        <a:spcBef>
          <a:spcPct val="20000"/>
        </a:spcBef>
        <a:spcAft>
          <a:spcPct val="0"/>
        </a:spcAft>
        <a:buClr>
          <a:schemeClr val="bg2"/>
        </a:buClr>
        <a:buSzPct val="65000"/>
        <a:buFont typeface="Wingdings" pitchFamily="2" charset="2"/>
        <a:buChar char="o"/>
        <a:defRPr sz="2400">
          <a:solidFill>
            <a:schemeClr val="tx1"/>
          </a:solidFill>
          <a:latin typeface="+mn-lt"/>
        </a:defRPr>
      </a:lvl3pPr>
      <a:lvl4pPr marL="1827213" indent="-438150" algn="l" rtl="0" fontAlgn="base">
        <a:spcBef>
          <a:spcPct val="20000"/>
        </a:spcBef>
        <a:spcAft>
          <a:spcPct val="0"/>
        </a:spcAft>
        <a:buClr>
          <a:schemeClr val="accent2"/>
        </a:buClr>
        <a:buSzPct val="75000"/>
        <a:buFont typeface="Wingdings" pitchFamily="2" charset="2"/>
        <a:buChar char="n"/>
        <a:defRPr sz="2000">
          <a:solidFill>
            <a:schemeClr val="tx1"/>
          </a:solidFill>
          <a:latin typeface="+mn-lt"/>
        </a:defRPr>
      </a:lvl4pPr>
      <a:lvl5pPr marL="2297113" indent="-468313" algn="l" rtl="0" fontAlgn="base">
        <a:spcBef>
          <a:spcPct val="20000"/>
        </a:spcBef>
        <a:spcAft>
          <a:spcPct val="0"/>
        </a:spcAft>
        <a:buClr>
          <a:schemeClr val="accent1"/>
        </a:buClr>
        <a:buSzPct val="50000"/>
        <a:buFont typeface="Wingdings" pitchFamily="2" charset="2"/>
        <a:buChar char="o"/>
        <a:defRPr sz="2000">
          <a:solidFill>
            <a:schemeClr val="tx1"/>
          </a:solidFill>
          <a:latin typeface="+mn-lt"/>
        </a:defRPr>
      </a:lvl5pPr>
      <a:lvl6pPr marL="2754313" indent="-468313" algn="l" rtl="0" fontAlgn="base">
        <a:spcBef>
          <a:spcPct val="20000"/>
        </a:spcBef>
        <a:spcAft>
          <a:spcPct val="0"/>
        </a:spcAft>
        <a:buClr>
          <a:schemeClr val="accent1"/>
        </a:buClr>
        <a:buSzPct val="50000"/>
        <a:buFont typeface="Wingdings" pitchFamily="2" charset="2"/>
        <a:buChar char="o"/>
        <a:defRPr sz="2000">
          <a:solidFill>
            <a:schemeClr val="tx1"/>
          </a:solidFill>
          <a:latin typeface="+mn-lt"/>
        </a:defRPr>
      </a:lvl6pPr>
      <a:lvl7pPr marL="3211513" indent="-468313" algn="l" rtl="0" fontAlgn="base">
        <a:spcBef>
          <a:spcPct val="20000"/>
        </a:spcBef>
        <a:spcAft>
          <a:spcPct val="0"/>
        </a:spcAft>
        <a:buClr>
          <a:schemeClr val="accent1"/>
        </a:buClr>
        <a:buSzPct val="50000"/>
        <a:buFont typeface="Wingdings" pitchFamily="2" charset="2"/>
        <a:buChar char="o"/>
        <a:defRPr sz="2000">
          <a:solidFill>
            <a:schemeClr val="tx1"/>
          </a:solidFill>
          <a:latin typeface="+mn-lt"/>
        </a:defRPr>
      </a:lvl7pPr>
      <a:lvl8pPr marL="3668713" indent="-468313" algn="l" rtl="0" fontAlgn="base">
        <a:spcBef>
          <a:spcPct val="20000"/>
        </a:spcBef>
        <a:spcAft>
          <a:spcPct val="0"/>
        </a:spcAft>
        <a:buClr>
          <a:schemeClr val="accent1"/>
        </a:buClr>
        <a:buSzPct val="50000"/>
        <a:buFont typeface="Wingdings" pitchFamily="2" charset="2"/>
        <a:buChar char="o"/>
        <a:defRPr sz="2000">
          <a:solidFill>
            <a:schemeClr val="tx1"/>
          </a:solidFill>
          <a:latin typeface="+mn-lt"/>
        </a:defRPr>
      </a:lvl8pPr>
      <a:lvl9pPr marL="4125913" indent="-468313" algn="l" rtl="0" fontAlgn="base">
        <a:spcBef>
          <a:spcPct val="20000"/>
        </a:spcBef>
        <a:spcAft>
          <a:spcPct val="0"/>
        </a:spcAft>
        <a:buClr>
          <a:schemeClr val="accent1"/>
        </a:buClr>
        <a:buSzPct val="50000"/>
        <a:buFont typeface="Wingdings" pitchFamily="2" charset="2"/>
        <a:buChar char="o"/>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en-US" sz="4000">
                <a:latin typeface="Arial Narrow" pitchFamily="34" charset="0"/>
              </a:rPr>
              <a:t>Proposal for an Enterprise </a:t>
            </a:r>
            <a:br>
              <a:rPr lang="en-US" sz="4000">
                <a:latin typeface="Arial Narrow" pitchFamily="34" charset="0"/>
              </a:rPr>
            </a:br>
            <a:r>
              <a:rPr lang="en-US" sz="4000">
                <a:latin typeface="Arial Narrow" pitchFamily="34" charset="0"/>
              </a:rPr>
              <a:t>Business Architecture</a:t>
            </a:r>
          </a:p>
        </p:txBody>
      </p:sp>
      <p:sp>
        <p:nvSpPr>
          <p:cNvPr id="2051" name="Rectangle 3"/>
          <p:cNvSpPr>
            <a:spLocks noGrp="1" noChangeArrowheads="1"/>
          </p:cNvSpPr>
          <p:nvPr>
            <p:ph type="subTitle" idx="1"/>
          </p:nvPr>
        </p:nvSpPr>
        <p:spPr/>
        <p:txBody>
          <a:bodyPr/>
          <a:lstStyle/>
          <a:p>
            <a:r>
              <a:rPr lang="en-US">
                <a:latin typeface="Arial Narrow" pitchFamily="34" charset="0"/>
              </a:rPr>
              <a:t>Denise Bedford</a:t>
            </a:r>
          </a:p>
          <a:p>
            <a:r>
              <a:rPr lang="en-US">
                <a:latin typeface="Arial Narrow" pitchFamily="34" charset="0"/>
              </a:rPr>
              <a:t>Information Quality</a:t>
            </a:r>
          </a:p>
          <a:p>
            <a:endParaRPr lang="en-US">
              <a:latin typeface="Arial Narrow" pitchFamily="34" charset="0"/>
            </a:endParaRPr>
          </a:p>
          <a:p>
            <a:r>
              <a:rPr lang="en-US">
                <a:latin typeface="Arial Narrow" pitchFamily="34" charset="0"/>
              </a:rPr>
              <a:t>Revised February 19, 2007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30" name="Rectangle 6"/>
          <p:cNvSpPr>
            <a:spLocks noGrp="1" noChangeArrowheads="1"/>
          </p:cNvSpPr>
          <p:nvPr>
            <p:ph type="title"/>
          </p:nvPr>
        </p:nvSpPr>
        <p:spPr/>
        <p:txBody>
          <a:bodyPr/>
          <a:lstStyle/>
          <a:p>
            <a:r>
              <a:rPr lang="en-US" sz="3200">
                <a:latin typeface="Arial Narrow" pitchFamily="34" charset="0"/>
              </a:rPr>
              <a:t>Purpose &amp; Overview</a:t>
            </a:r>
          </a:p>
        </p:txBody>
      </p:sp>
      <p:sp>
        <p:nvSpPr>
          <p:cNvPr id="231431" name="Rectangle 7"/>
          <p:cNvSpPr>
            <a:spLocks noGrp="1" noChangeArrowheads="1"/>
          </p:cNvSpPr>
          <p:nvPr>
            <p:ph type="body" idx="1"/>
          </p:nvPr>
        </p:nvSpPr>
        <p:spPr/>
        <p:txBody>
          <a:bodyPr/>
          <a:lstStyle/>
          <a:p>
            <a:pPr>
              <a:lnSpc>
                <a:spcPct val="90000"/>
              </a:lnSpc>
            </a:pPr>
            <a:r>
              <a:rPr lang="en-US" sz="2400">
                <a:latin typeface="Arial Narrow" pitchFamily="34" charset="0"/>
              </a:rPr>
              <a:t>Purpose of the presentation is to:</a:t>
            </a:r>
          </a:p>
          <a:p>
            <a:pPr lvl="1">
              <a:lnSpc>
                <a:spcPct val="90000"/>
              </a:lnSpc>
            </a:pPr>
            <a:r>
              <a:rPr lang="en-US" sz="2400">
                <a:latin typeface="Arial Narrow" pitchFamily="34" charset="0"/>
              </a:rPr>
              <a:t>propose a framework and strategy for aligning IT to business through the development of a business architecture</a:t>
            </a:r>
          </a:p>
          <a:p>
            <a:pPr lvl="1">
              <a:lnSpc>
                <a:spcPct val="90000"/>
              </a:lnSpc>
            </a:pPr>
            <a:r>
              <a:rPr lang="en-US" sz="2400">
                <a:latin typeface="Arial Narrow" pitchFamily="34" charset="0"/>
              </a:rPr>
              <a:t>Hear the Architecture Committee’s advice on the value and feasibility of moving in the direction of a business architecture </a:t>
            </a:r>
          </a:p>
          <a:p>
            <a:pPr>
              <a:lnSpc>
                <a:spcPct val="90000"/>
              </a:lnSpc>
            </a:pPr>
            <a:endParaRPr lang="en-US" sz="2400">
              <a:latin typeface="Arial Narrow" pitchFamily="34" charset="0"/>
            </a:endParaRPr>
          </a:p>
          <a:p>
            <a:pPr>
              <a:lnSpc>
                <a:spcPct val="90000"/>
              </a:lnSpc>
            </a:pPr>
            <a:r>
              <a:rPr lang="en-US" sz="2400">
                <a:latin typeface="Arial Narrow" pitchFamily="34" charset="0"/>
              </a:rPr>
              <a:t>Presentation Overview</a:t>
            </a:r>
          </a:p>
          <a:p>
            <a:pPr lvl="1">
              <a:lnSpc>
                <a:spcPct val="90000"/>
              </a:lnSpc>
            </a:pPr>
            <a:endParaRPr lang="en-US" sz="2400">
              <a:latin typeface="Arial Narrow" pitchFamily="34" charset="0"/>
            </a:endParaRPr>
          </a:p>
          <a:p>
            <a:pPr lvl="1">
              <a:lnSpc>
                <a:spcPct val="90000"/>
              </a:lnSpc>
            </a:pPr>
            <a:r>
              <a:rPr lang="en-US" sz="2400">
                <a:latin typeface="Arial Narrow" pitchFamily="34" charset="0"/>
              </a:rPr>
              <a:t>Value of Business Architecture</a:t>
            </a:r>
          </a:p>
          <a:p>
            <a:pPr lvl="1">
              <a:lnSpc>
                <a:spcPct val="90000"/>
              </a:lnSpc>
            </a:pPr>
            <a:r>
              <a:rPr lang="en-US" sz="2400">
                <a:latin typeface="Arial Narrow" pitchFamily="34" charset="0"/>
              </a:rPr>
              <a:t>Designing a Business Architecture</a:t>
            </a:r>
          </a:p>
          <a:p>
            <a:pPr lvl="1">
              <a:lnSpc>
                <a:spcPct val="90000"/>
              </a:lnSpc>
            </a:pPr>
            <a:r>
              <a:rPr lang="en-US" sz="2400">
                <a:latin typeface="Arial Narrow" pitchFamily="34" charset="0"/>
              </a:rPr>
              <a:t>Business Process Management </a:t>
            </a:r>
          </a:p>
          <a:p>
            <a:pPr lvl="1">
              <a:lnSpc>
                <a:spcPct val="90000"/>
              </a:lnSpc>
            </a:pPr>
            <a:endParaRPr lang="en-US" sz="2400">
              <a:latin typeface="Arial Narrow"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8" name="Rectangle 4"/>
          <p:cNvSpPr>
            <a:spLocks noGrp="1" noChangeArrowheads="1"/>
          </p:cNvSpPr>
          <p:nvPr>
            <p:ph type="ctrTitle"/>
          </p:nvPr>
        </p:nvSpPr>
        <p:spPr/>
        <p:txBody>
          <a:bodyPr/>
          <a:lstStyle/>
          <a:p>
            <a:r>
              <a:rPr lang="en-US" sz="4000">
                <a:latin typeface="Arial Narrow" pitchFamily="34" charset="0"/>
              </a:rPr>
              <a:t>Value of Business Architecture</a:t>
            </a:r>
          </a:p>
        </p:txBody>
      </p:sp>
      <p:sp>
        <p:nvSpPr>
          <p:cNvPr id="420869" name="Rectangle 5"/>
          <p:cNvSpPr>
            <a:spLocks noGrp="1" noChangeArrowheads="1"/>
          </p:cNvSpPr>
          <p:nvPr>
            <p:ph type="subTitle" idx="1"/>
          </p:nvPr>
        </p:nvSpPr>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sz="3200">
                <a:latin typeface="Arial Narrow" pitchFamily="34" charset="0"/>
              </a:rPr>
              <a:t>Business Challenges</a:t>
            </a:r>
          </a:p>
        </p:txBody>
      </p:sp>
      <p:sp>
        <p:nvSpPr>
          <p:cNvPr id="31747" name="Rectangle 3"/>
          <p:cNvSpPr>
            <a:spLocks noGrp="1" noChangeArrowheads="1"/>
          </p:cNvSpPr>
          <p:nvPr>
            <p:ph type="body" idx="1"/>
          </p:nvPr>
        </p:nvSpPr>
        <p:spPr/>
        <p:txBody>
          <a:bodyPr/>
          <a:lstStyle/>
          <a:p>
            <a:pPr>
              <a:lnSpc>
                <a:spcPct val="80000"/>
              </a:lnSpc>
            </a:pPr>
            <a:r>
              <a:rPr lang="en-US" sz="2000">
                <a:latin typeface="Arial Narrow" pitchFamily="34" charset="0"/>
              </a:rPr>
              <a:t>Business is facing:</a:t>
            </a:r>
          </a:p>
          <a:p>
            <a:pPr lvl="1">
              <a:lnSpc>
                <a:spcPct val="80000"/>
              </a:lnSpc>
            </a:pPr>
            <a:r>
              <a:rPr lang="en-US" sz="2000">
                <a:latin typeface="Arial Narrow" pitchFamily="34" charset="0"/>
              </a:rPr>
              <a:t>Global business competition</a:t>
            </a:r>
          </a:p>
          <a:p>
            <a:pPr lvl="1">
              <a:lnSpc>
                <a:spcPct val="80000"/>
              </a:lnSpc>
            </a:pPr>
            <a:r>
              <a:rPr lang="en-US" sz="2000">
                <a:latin typeface="Arial Narrow" pitchFamily="34" charset="0"/>
              </a:rPr>
              <a:t>Rapid innovation and fast-changing business requirements</a:t>
            </a:r>
          </a:p>
          <a:p>
            <a:pPr lvl="1">
              <a:lnSpc>
                <a:spcPct val="80000"/>
              </a:lnSpc>
            </a:pPr>
            <a:r>
              <a:rPr lang="en-US" sz="2000">
                <a:latin typeface="Arial Narrow" pitchFamily="34" charset="0"/>
              </a:rPr>
              <a:t>Regulatory compliance challenges</a:t>
            </a:r>
          </a:p>
          <a:p>
            <a:pPr lvl="1">
              <a:lnSpc>
                <a:spcPct val="80000"/>
              </a:lnSpc>
            </a:pPr>
            <a:r>
              <a:rPr lang="en-US" sz="2000">
                <a:latin typeface="Arial Narrow" pitchFamily="34" charset="0"/>
              </a:rPr>
              <a:t>Increasing cost pressures</a:t>
            </a:r>
          </a:p>
          <a:p>
            <a:pPr>
              <a:lnSpc>
                <a:spcPct val="80000"/>
              </a:lnSpc>
            </a:pPr>
            <a:endParaRPr lang="en-US" sz="2000">
              <a:latin typeface="Arial Narrow" pitchFamily="34" charset="0"/>
            </a:endParaRPr>
          </a:p>
          <a:p>
            <a:pPr>
              <a:lnSpc>
                <a:spcPct val="80000"/>
              </a:lnSpc>
            </a:pPr>
            <a:r>
              <a:rPr lang="en-US" sz="2000">
                <a:latin typeface="Arial Narrow" pitchFamily="34" charset="0"/>
              </a:rPr>
              <a:t>Technology’s typical response</a:t>
            </a:r>
          </a:p>
          <a:p>
            <a:pPr lvl="1">
              <a:lnSpc>
                <a:spcPct val="80000"/>
              </a:lnSpc>
            </a:pPr>
            <a:r>
              <a:rPr lang="en-US" sz="2000">
                <a:latin typeface="Arial Narrow" pitchFamily="34" charset="0"/>
              </a:rPr>
              <a:t>Slow delivery times</a:t>
            </a:r>
          </a:p>
          <a:p>
            <a:pPr lvl="1">
              <a:lnSpc>
                <a:spcPct val="80000"/>
              </a:lnSpc>
            </a:pPr>
            <a:r>
              <a:rPr lang="en-US" sz="2000">
                <a:latin typeface="Arial Narrow" pitchFamily="34" charset="0"/>
              </a:rPr>
              <a:t>High maintenance costs</a:t>
            </a:r>
          </a:p>
          <a:p>
            <a:pPr lvl="1">
              <a:lnSpc>
                <a:spcPct val="80000"/>
              </a:lnSpc>
            </a:pPr>
            <a:r>
              <a:rPr lang="en-US" sz="2000">
                <a:latin typeface="Arial Narrow" pitchFamily="34" charset="0"/>
              </a:rPr>
              <a:t>Brittle solutions</a:t>
            </a:r>
          </a:p>
          <a:p>
            <a:pPr lvl="1">
              <a:lnSpc>
                <a:spcPct val="80000"/>
              </a:lnSpc>
            </a:pPr>
            <a:r>
              <a:rPr lang="en-US" sz="2000">
                <a:latin typeface="Arial Narrow" pitchFamily="34" charset="0"/>
              </a:rPr>
              <a:t>Stove piped functional applications</a:t>
            </a:r>
          </a:p>
          <a:p>
            <a:pPr lvl="1">
              <a:lnSpc>
                <a:spcPct val="80000"/>
              </a:lnSpc>
            </a:pPr>
            <a:r>
              <a:rPr lang="en-US" sz="2000">
                <a:latin typeface="Arial Narrow" pitchFamily="34" charset="0"/>
              </a:rPr>
              <a:t>Redundant development efforts and operations</a:t>
            </a:r>
          </a:p>
          <a:p>
            <a:pPr lvl="1">
              <a:lnSpc>
                <a:spcPct val="80000"/>
              </a:lnSpc>
            </a:pPr>
            <a:r>
              <a:rPr lang="en-US" sz="2000">
                <a:latin typeface="Arial Narrow" pitchFamily="34" charset="0"/>
              </a:rPr>
              <a:t>Redundant and costly investment in multiple technical solutions</a:t>
            </a:r>
          </a:p>
          <a:p>
            <a:pPr>
              <a:lnSpc>
                <a:spcPct val="80000"/>
              </a:lnSpc>
            </a:pPr>
            <a:endParaRPr lang="en-US" sz="2000">
              <a:latin typeface="Arial Narrow" pitchFamily="34" charset="0"/>
            </a:endParaRPr>
          </a:p>
          <a:p>
            <a:pPr>
              <a:lnSpc>
                <a:spcPct val="80000"/>
              </a:lnSpc>
            </a:pPr>
            <a:r>
              <a:rPr lang="en-US" sz="2000">
                <a:latin typeface="Arial Narrow" pitchFamily="34" charset="0"/>
              </a:rPr>
              <a:t>Can technology be realigned to support the needs of business?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57200" y="533400"/>
            <a:ext cx="8229600" cy="944563"/>
          </a:xfrm>
        </p:spPr>
        <p:txBody>
          <a:bodyPr/>
          <a:lstStyle/>
          <a:p>
            <a:r>
              <a:rPr lang="en-US" sz="3600">
                <a:latin typeface="Arial Narrow" pitchFamily="34" charset="0"/>
              </a:rPr>
              <a:t>Aligning IT with Business</a:t>
            </a:r>
          </a:p>
        </p:txBody>
      </p:sp>
      <p:sp>
        <p:nvSpPr>
          <p:cNvPr id="3075" name="Rectangle 3"/>
          <p:cNvSpPr>
            <a:spLocks noGrp="1" noChangeArrowheads="1"/>
          </p:cNvSpPr>
          <p:nvPr>
            <p:ph type="body" idx="1"/>
          </p:nvPr>
        </p:nvSpPr>
        <p:spPr>
          <a:xfrm>
            <a:off x="457200" y="1828800"/>
            <a:ext cx="8229600" cy="4724400"/>
          </a:xfrm>
        </p:spPr>
        <p:txBody>
          <a:bodyPr/>
          <a:lstStyle/>
          <a:p>
            <a:pPr>
              <a:lnSpc>
                <a:spcPct val="80000"/>
              </a:lnSpc>
            </a:pPr>
            <a:r>
              <a:rPr lang="en-US" sz="2000">
                <a:latin typeface="Arial Narrow" pitchFamily="34" charset="0"/>
              </a:rPr>
              <a:t>There is little disagreement within or outside the organization that we need to align information technology to support the business </a:t>
            </a:r>
          </a:p>
          <a:p>
            <a:pPr>
              <a:lnSpc>
                <a:spcPct val="80000"/>
              </a:lnSpc>
            </a:pPr>
            <a:endParaRPr lang="en-US" sz="2000">
              <a:latin typeface="Arial Narrow" pitchFamily="34" charset="0"/>
            </a:endParaRPr>
          </a:p>
          <a:p>
            <a:pPr>
              <a:lnSpc>
                <a:spcPct val="80000"/>
              </a:lnSpc>
            </a:pPr>
            <a:r>
              <a:rPr lang="en-US" sz="2000">
                <a:latin typeface="Arial Narrow" pitchFamily="34" charset="0"/>
              </a:rPr>
              <a:t>We need to decide:</a:t>
            </a:r>
          </a:p>
          <a:p>
            <a:pPr>
              <a:lnSpc>
                <a:spcPct val="80000"/>
              </a:lnSpc>
            </a:pPr>
            <a:endParaRPr lang="en-US" sz="2000">
              <a:latin typeface="Arial Narrow" pitchFamily="34" charset="0"/>
            </a:endParaRPr>
          </a:p>
          <a:p>
            <a:pPr lvl="1">
              <a:lnSpc>
                <a:spcPct val="80000"/>
              </a:lnSpc>
            </a:pPr>
            <a:r>
              <a:rPr lang="en-US" sz="2000">
                <a:latin typeface="Arial Narrow" pitchFamily="34" charset="0"/>
              </a:rPr>
              <a:t>What we expect to achieve from the alignment and how will we measure it</a:t>
            </a:r>
          </a:p>
          <a:p>
            <a:pPr lvl="1">
              <a:lnSpc>
                <a:spcPct val="80000"/>
              </a:lnSpc>
            </a:pPr>
            <a:r>
              <a:rPr lang="en-US" sz="2000">
                <a:latin typeface="Arial Narrow" pitchFamily="34" charset="0"/>
              </a:rPr>
              <a:t>What alignment means from a business and from an IT perspective</a:t>
            </a:r>
          </a:p>
          <a:p>
            <a:pPr lvl="1">
              <a:lnSpc>
                <a:spcPct val="80000"/>
              </a:lnSpc>
            </a:pPr>
            <a:r>
              <a:rPr lang="en-US" sz="2000">
                <a:latin typeface="Arial Narrow" pitchFamily="34" charset="0"/>
              </a:rPr>
              <a:t>What strategy we will use to achieve the realignment</a:t>
            </a:r>
          </a:p>
          <a:p>
            <a:pPr>
              <a:lnSpc>
                <a:spcPct val="80000"/>
              </a:lnSpc>
            </a:pPr>
            <a:endParaRPr lang="en-US" sz="2000">
              <a:latin typeface="Arial Narrow" pitchFamily="34" charset="0"/>
            </a:endParaRPr>
          </a:p>
          <a:p>
            <a:pPr>
              <a:lnSpc>
                <a:spcPct val="80000"/>
              </a:lnSpc>
            </a:pPr>
            <a:r>
              <a:rPr lang="en-US" sz="2000">
                <a:latin typeface="Arial Narrow" pitchFamily="34" charset="0"/>
              </a:rPr>
              <a:t>The decisions will be made at the enterprise level so there needs to be an enterprise context for the realignment </a:t>
            </a:r>
          </a:p>
          <a:p>
            <a:pPr>
              <a:lnSpc>
                <a:spcPct val="80000"/>
              </a:lnSpc>
            </a:pPr>
            <a:endParaRPr lang="en-US" sz="2000">
              <a:latin typeface="Arial Narrow" pitchFamily="34" charset="0"/>
            </a:endParaRPr>
          </a:p>
          <a:p>
            <a:pPr>
              <a:lnSpc>
                <a:spcPct val="80000"/>
              </a:lnSpc>
            </a:pPr>
            <a:r>
              <a:rPr lang="en-US" sz="2000">
                <a:latin typeface="Arial Narrow" pitchFamily="34" charset="0"/>
              </a:rPr>
              <a:t>The realignment needs to support decentralized development and business evolution in the future – to achieve this we need a business architecture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533400"/>
            <a:ext cx="8229600" cy="792163"/>
          </a:xfrm>
        </p:spPr>
        <p:txBody>
          <a:bodyPr/>
          <a:lstStyle/>
          <a:p>
            <a:r>
              <a:rPr lang="en-US" sz="3200">
                <a:latin typeface="Arial Narrow" pitchFamily="34" charset="0"/>
              </a:rPr>
              <a:t>Expected Results of Aligning IT with Business</a:t>
            </a:r>
          </a:p>
        </p:txBody>
      </p:sp>
      <p:sp>
        <p:nvSpPr>
          <p:cNvPr id="4099" name="Rectangle 3"/>
          <p:cNvSpPr>
            <a:spLocks noGrp="1" noChangeArrowheads="1"/>
          </p:cNvSpPr>
          <p:nvPr>
            <p:ph type="body" idx="1"/>
          </p:nvPr>
        </p:nvSpPr>
        <p:spPr>
          <a:xfrm>
            <a:off x="457200" y="1905000"/>
            <a:ext cx="8229600" cy="4724400"/>
          </a:xfrm>
        </p:spPr>
        <p:txBody>
          <a:bodyPr/>
          <a:lstStyle/>
          <a:p>
            <a:pPr>
              <a:lnSpc>
                <a:spcPct val="80000"/>
              </a:lnSpc>
            </a:pPr>
            <a:r>
              <a:rPr lang="en-US" sz="2000">
                <a:latin typeface="Arial Narrow" pitchFamily="34" charset="0"/>
              </a:rPr>
              <a:t>How do we know this is not just the latest management fad?  </a:t>
            </a:r>
          </a:p>
          <a:p>
            <a:pPr lvl="1">
              <a:lnSpc>
                <a:spcPct val="80000"/>
              </a:lnSpc>
            </a:pPr>
            <a:r>
              <a:rPr lang="en-US" sz="2000" i="1">
                <a:latin typeface="Arial Narrow" pitchFamily="34" charset="0"/>
              </a:rPr>
              <a:t>Because it has practical applications which we can use to achieve our business goals and objectives</a:t>
            </a:r>
          </a:p>
          <a:p>
            <a:pPr>
              <a:lnSpc>
                <a:spcPct val="80000"/>
              </a:lnSpc>
            </a:pPr>
            <a:endParaRPr lang="en-US" sz="2000" i="1">
              <a:latin typeface="Arial Narrow" pitchFamily="34" charset="0"/>
            </a:endParaRPr>
          </a:p>
          <a:p>
            <a:pPr>
              <a:lnSpc>
                <a:spcPct val="80000"/>
              </a:lnSpc>
            </a:pPr>
            <a:r>
              <a:rPr lang="en-US" sz="2000">
                <a:latin typeface="Arial Narrow" pitchFamily="34" charset="0"/>
              </a:rPr>
              <a:t>What are we trying to accomplish by shifting the role of information technology to an ‘enabler’ rather than a ‘driver’?</a:t>
            </a:r>
          </a:p>
          <a:p>
            <a:pPr lvl="1">
              <a:lnSpc>
                <a:spcPct val="80000"/>
              </a:lnSpc>
            </a:pPr>
            <a:r>
              <a:rPr lang="en-US" sz="2000" i="1">
                <a:latin typeface="Arial Narrow" pitchFamily="34" charset="0"/>
              </a:rPr>
              <a:t>Define direct and derivative results of shifting our focus to a business view</a:t>
            </a:r>
          </a:p>
          <a:p>
            <a:pPr>
              <a:lnSpc>
                <a:spcPct val="80000"/>
              </a:lnSpc>
            </a:pPr>
            <a:endParaRPr lang="en-US" sz="2000">
              <a:latin typeface="Arial Narrow" pitchFamily="34" charset="0"/>
            </a:endParaRPr>
          </a:p>
          <a:p>
            <a:pPr>
              <a:lnSpc>
                <a:spcPct val="80000"/>
              </a:lnSpc>
            </a:pPr>
            <a:r>
              <a:rPr lang="en-US" sz="2000">
                <a:latin typeface="Arial Narrow" pitchFamily="34" charset="0"/>
              </a:rPr>
              <a:t>What is required to implement a business architecture?</a:t>
            </a:r>
          </a:p>
          <a:p>
            <a:pPr lvl="1">
              <a:lnSpc>
                <a:spcPct val="80000"/>
              </a:lnSpc>
            </a:pPr>
            <a:r>
              <a:rPr lang="en-US" sz="2000" i="1">
                <a:latin typeface="Arial Narrow" pitchFamily="34" charset="0"/>
              </a:rPr>
              <a:t>Alignment takes the form of a fully elaborated Business Architecture</a:t>
            </a:r>
          </a:p>
          <a:p>
            <a:pPr>
              <a:lnSpc>
                <a:spcPct val="80000"/>
              </a:lnSpc>
            </a:pPr>
            <a:endParaRPr lang="en-US" sz="2000">
              <a:latin typeface="Arial Narrow" pitchFamily="34" charset="0"/>
            </a:endParaRPr>
          </a:p>
          <a:p>
            <a:pPr>
              <a:lnSpc>
                <a:spcPct val="80000"/>
              </a:lnSpc>
            </a:pPr>
            <a:r>
              <a:rPr lang="en-US" sz="2000">
                <a:latin typeface="Arial Narrow" pitchFamily="34" charset="0"/>
              </a:rPr>
              <a:t>What does it mean for how we work?</a:t>
            </a:r>
          </a:p>
          <a:p>
            <a:pPr lvl="1">
              <a:lnSpc>
                <a:spcPct val="80000"/>
              </a:lnSpc>
            </a:pPr>
            <a:r>
              <a:rPr lang="en-US" sz="2000" i="1">
                <a:latin typeface="Arial Narrow" pitchFamily="34" charset="0"/>
              </a:rPr>
              <a:t>A four step plan is proposed for moving towards a business architecture involving business stewards, business analysts, technical stewards and data management team</a:t>
            </a:r>
          </a:p>
          <a:p>
            <a:pPr lvl="1">
              <a:lnSpc>
                <a:spcPct val="80000"/>
              </a:lnSpc>
            </a:pPr>
            <a:endParaRPr lang="en-US" sz="2000" i="1">
              <a:latin typeface="Arial Narrow" pitchFamily="34" charset="0"/>
            </a:endParaRPr>
          </a:p>
          <a:p>
            <a:pPr lvl="1">
              <a:lnSpc>
                <a:spcPct val="80000"/>
              </a:lnSpc>
            </a:pPr>
            <a:endParaRPr lang="en-US" sz="2000" i="1">
              <a:latin typeface="Arial Narrow"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304800"/>
            <a:ext cx="8229600" cy="609600"/>
          </a:xfrm>
        </p:spPr>
        <p:txBody>
          <a:bodyPr/>
          <a:lstStyle/>
          <a:p>
            <a:r>
              <a:rPr lang="en-US" sz="3200">
                <a:latin typeface="Arial Narrow" pitchFamily="34" charset="0"/>
              </a:rPr>
              <a:t>Value of Business Architecture</a:t>
            </a:r>
          </a:p>
        </p:txBody>
      </p:sp>
      <p:sp>
        <p:nvSpPr>
          <p:cNvPr id="19459" name="AutoShape 3"/>
          <p:cNvSpPr>
            <a:spLocks noChangeArrowheads="1"/>
          </p:cNvSpPr>
          <p:nvPr/>
        </p:nvSpPr>
        <p:spPr bwMode="auto">
          <a:xfrm>
            <a:off x="2895600" y="2209800"/>
            <a:ext cx="3276600" cy="2438400"/>
          </a:xfrm>
          <a:prstGeom prst="triangle">
            <a:avLst>
              <a:gd name="adj" fmla="val 50000"/>
            </a:avLst>
          </a:prstGeom>
          <a:solidFill>
            <a:srgbClr val="FFFF99"/>
          </a:solidFill>
          <a:ln w="9525">
            <a:solidFill>
              <a:schemeClr val="tx1"/>
            </a:solidFill>
            <a:miter lim="800000"/>
            <a:headEnd/>
            <a:tailEnd/>
          </a:ln>
          <a:effectLst/>
        </p:spPr>
        <p:txBody>
          <a:bodyPr wrap="none" anchor="ctr"/>
          <a:lstStyle/>
          <a:p>
            <a:endParaRPr lang="en-US"/>
          </a:p>
        </p:txBody>
      </p:sp>
      <p:sp>
        <p:nvSpPr>
          <p:cNvPr id="19460" name="Line 4"/>
          <p:cNvSpPr>
            <a:spLocks noChangeShapeType="1"/>
          </p:cNvSpPr>
          <p:nvPr/>
        </p:nvSpPr>
        <p:spPr bwMode="auto">
          <a:xfrm>
            <a:off x="4495800" y="2209800"/>
            <a:ext cx="0" cy="1524000"/>
          </a:xfrm>
          <a:prstGeom prst="line">
            <a:avLst/>
          </a:prstGeom>
          <a:noFill/>
          <a:ln w="9525">
            <a:solidFill>
              <a:schemeClr val="tx1"/>
            </a:solidFill>
            <a:round/>
            <a:headEnd/>
            <a:tailEnd/>
          </a:ln>
          <a:effectLst/>
        </p:spPr>
        <p:txBody>
          <a:bodyPr/>
          <a:lstStyle/>
          <a:p>
            <a:endParaRPr lang="en-US"/>
          </a:p>
        </p:txBody>
      </p:sp>
      <p:sp>
        <p:nvSpPr>
          <p:cNvPr id="19461" name="Line 5"/>
          <p:cNvSpPr>
            <a:spLocks noChangeShapeType="1"/>
          </p:cNvSpPr>
          <p:nvPr/>
        </p:nvSpPr>
        <p:spPr bwMode="auto">
          <a:xfrm flipV="1">
            <a:off x="2895600" y="3733800"/>
            <a:ext cx="1600200" cy="838200"/>
          </a:xfrm>
          <a:prstGeom prst="line">
            <a:avLst/>
          </a:prstGeom>
          <a:noFill/>
          <a:ln w="9525">
            <a:solidFill>
              <a:schemeClr val="tx1"/>
            </a:solidFill>
            <a:round/>
            <a:headEnd/>
            <a:tailEnd/>
          </a:ln>
          <a:effectLst/>
        </p:spPr>
        <p:txBody>
          <a:bodyPr/>
          <a:lstStyle/>
          <a:p>
            <a:endParaRPr lang="en-US"/>
          </a:p>
        </p:txBody>
      </p:sp>
      <p:sp>
        <p:nvSpPr>
          <p:cNvPr id="19462" name="Line 6"/>
          <p:cNvSpPr>
            <a:spLocks noChangeShapeType="1"/>
          </p:cNvSpPr>
          <p:nvPr/>
        </p:nvSpPr>
        <p:spPr bwMode="auto">
          <a:xfrm flipH="1" flipV="1">
            <a:off x="4495800" y="3733800"/>
            <a:ext cx="1600200" cy="914400"/>
          </a:xfrm>
          <a:prstGeom prst="line">
            <a:avLst/>
          </a:prstGeom>
          <a:noFill/>
          <a:ln w="9525">
            <a:solidFill>
              <a:schemeClr val="tx1"/>
            </a:solidFill>
            <a:round/>
            <a:headEnd/>
            <a:tailEnd/>
          </a:ln>
          <a:effectLst/>
        </p:spPr>
        <p:txBody>
          <a:bodyPr/>
          <a:lstStyle/>
          <a:p>
            <a:endParaRPr lang="en-US"/>
          </a:p>
        </p:txBody>
      </p:sp>
      <p:sp>
        <p:nvSpPr>
          <p:cNvPr id="19463" name="Text Box 7"/>
          <p:cNvSpPr txBox="1">
            <a:spLocks noChangeArrowheads="1"/>
          </p:cNvSpPr>
          <p:nvPr/>
        </p:nvSpPr>
        <p:spPr bwMode="auto">
          <a:xfrm rot="3314645">
            <a:off x="4511675" y="3138488"/>
            <a:ext cx="949325" cy="336550"/>
          </a:xfrm>
          <a:prstGeom prst="rect">
            <a:avLst/>
          </a:prstGeom>
          <a:noFill/>
          <a:ln w="9525">
            <a:noFill/>
            <a:miter lim="800000"/>
            <a:headEnd/>
            <a:tailEnd/>
          </a:ln>
          <a:effectLst/>
        </p:spPr>
        <p:txBody>
          <a:bodyPr wrap="none">
            <a:spAutoFit/>
          </a:bodyPr>
          <a:lstStyle/>
          <a:p>
            <a:pPr eaLnBrk="1" hangingPunct="1"/>
            <a:r>
              <a:rPr lang="en-US" sz="1600" b="1">
                <a:cs typeface="Arial" charset="0"/>
              </a:rPr>
              <a:t>Technical</a:t>
            </a:r>
          </a:p>
        </p:txBody>
      </p:sp>
      <p:sp>
        <p:nvSpPr>
          <p:cNvPr id="19464" name="Text Box 8"/>
          <p:cNvSpPr txBox="1">
            <a:spLocks noChangeArrowheads="1"/>
          </p:cNvSpPr>
          <p:nvPr/>
        </p:nvSpPr>
        <p:spPr bwMode="auto">
          <a:xfrm>
            <a:off x="4019550" y="4041775"/>
            <a:ext cx="1069975" cy="517525"/>
          </a:xfrm>
          <a:prstGeom prst="rect">
            <a:avLst/>
          </a:prstGeom>
          <a:noFill/>
          <a:ln w="9525">
            <a:noFill/>
            <a:miter lim="800000"/>
            <a:headEnd/>
            <a:tailEnd/>
          </a:ln>
          <a:effectLst/>
        </p:spPr>
        <p:txBody>
          <a:bodyPr wrap="none">
            <a:spAutoFit/>
          </a:bodyPr>
          <a:lstStyle/>
          <a:p>
            <a:pPr algn="ctr" eaLnBrk="1" hangingPunct="1"/>
            <a:r>
              <a:rPr lang="en-US" sz="1400" b="1">
                <a:cs typeface="Arial" charset="0"/>
              </a:rPr>
              <a:t>Business </a:t>
            </a:r>
          </a:p>
          <a:p>
            <a:pPr algn="ctr" eaLnBrk="1" hangingPunct="1"/>
            <a:r>
              <a:rPr lang="en-US" sz="1400" b="1">
                <a:cs typeface="Arial" charset="0"/>
              </a:rPr>
              <a:t>Optimization</a:t>
            </a:r>
          </a:p>
        </p:txBody>
      </p:sp>
      <p:sp>
        <p:nvSpPr>
          <p:cNvPr id="19465" name="Text Box 9"/>
          <p:cNvSpPr txBox="1">
            <a:spLocks noChangeArrowheads="1"/>
          </p:cNvSpPr>
          <p:nvPr/>
        </p:nvSpPr>
        <p:spPr bwMode="auto">
          <a:xfrm rot="-3458772">
            <a:off x="3264694" y="3452019"/>
            <a:ext cx="1236662" cy="336550"/>
          </a:xfrm>
          <a:prstGeom prst="rect">
            <a:avLst/>
          </a:prstGeom>
          <a:noFill/>
          <a:ln w="9525">
            <a:noFill/>
            <a:miter lim="800000"/>
            <a:headEnd/>
            <a:tailEnd/>
          </a:ln>
          <a:effectLst/>
        </p:spPr>
        <p:txBody>
          <a:bodyPr wrap="none">
            <a:spAutoFit/>
          </a:bodyPr>
          <a:lstStyle/>
          <a:p>
            <a:pPr eaLnBrk="1" hangingPunct="1"/>
            <a:r>
              <a:rPr lang="en-US" sz="1600" b="1">
                <a:cs typeface="Arial" charset="0"/>
              </a:rPr>
              <a:t>Informational</a:t>
            </a:r>
          </a:p>
        </p:txBody>
      </p:sp>
      <p:sp>
        <p:nvSpPr>
          <p:cNvPr id="19466" name="Text Box 10"/>
          <p:cNvSpPr txBox="1">
            <a:spLocks noChangeArrowheads="1"/>
          </p:cNvSpPr>
          <p:nvPr/>
        </p:nvSpPr>
        <p:spPr bwMode="auto">
          <a:xfrm>
            <a:off x="5562600" y="2214563"/>
            <a:ext cx="1778000" cy="336550"/>
          </a:xfrm>
          <a:prstGeom prst="rect">
            <a:avLst/>
          </a:prstGeom>
          <a:noFill/>
          <a:ln w="9525">
            <a:noFill/>
            <a:miter lim="800000"/>
            <a:headEnd/>
            <a:tailEnd/>
          </a:ln>
          <a:effectLst/>
        </p:spPr>
        <p:txBody>
          <a:bodyPr wrap="none">
            <a:spAutoFit/>
          </a:bodyPr>
          <a:lstStyle/>
          <a:p>
            <a:pPr eaLnBrk="1" hangingPunct="1"/>
            <a:r>
              <a:rPr lang="en-US" sz="1600" i="1">
                <a:cs typeface="Arial" charset="0"/>
              </a:rPr>
              <a:t>Change Management</a:t>
            </a:r>
          </a:p>
        </p:txBody>
      </p:sp>
      <p:sp>
        <p:nvSpPr>
          <p:cNvPr id="19467" name="Text Box 11"/>
          <p:cNvSpPr txBox="1">
            <a:spLocks noChangeArrowheads="1"/>
          </p:cNvSpPr>
          <p:nvPr/>
        </p:nvSpPr>
        <p:spPr bwMode="auto">
          <a:xfrm>
            <a:off x="912813" y="2214563"/>
            <a:ext cx="2165350" cy="581025"/>
          </a:xfrm>
          <a:prstGeom prst="rect">
            <a:avLst/>
          </a:prstGeom>
          <a:noFill/>
          <a:ln w="9525">
            <a:noFill/>
            <a:miter lim="800000"/>
            <a:headEnd/>
            <a:tailEnd/>
          </a:ln>
          <a:effectLst/>
        </p:spPr>
        <p:txBody>
          <a:bodyPr wrap="none">
            <a:spAutoFit/>
          </a:bodyPr>
          <a:lstStyle/>
          <a:p>
            <a:pPr algn="ctr" eaLnBrk="1" hangingPunct="1"/>
            <a:r>
              <a:rPr lang="en-US" sz="1600" i="1">
                <a:cs typeface="Arial" charset="0"/>
              </a:rPr>
              <a:t>Records Capture &amp;</a:t>
            </a:r>
          </a:p>
          <a:p>
            <a:pPr algn="ctr" eaLnBrk="1" hangingPunct="1"/>
            <a:r>
              <a:rPr lang="en-US" sz="1600" i="1">
                <a:cs typeface="Arial" charset="0"/>
              </a:rPr>
              <a:t>Management Improvement</a:t>
            </a:r>
          </a:p>
        </p:txBody>
      </p:sp>
      <p:sp>
        <p:nvSpPr>
          <p:cNvPr id="19469" name="Text Box 13"/>
          <p:cNvSpPr txBox="1">
            <a:spLocks noChangeArrowheads="1"/>
          </p:cNvSpPr>
          <p:nvPr/>
        </p:nvSpPr>
        <p:spPr bwMode="auto">
          <a:xfrm>
            <a:off x="1676400" y="4932363"/>
            <a:ext cx="2103438" cy="366712"/>
          </a:xfrm>
          <a:prstGeom prst="rect">
            <a:avLst/>
          </a:prstGeom>
          <a:noFill/>
          <a:ln w="9525">
            <a:noFill/>
            <a:miter lim="800000"/>
            <a:headEnd/>
            <a:tailEnd/>
          </a:ln>
          <a:effectLst/>
        </p:spPr>
        <p:txBody>
          <a:bodyPr wrap="none">
            <a:spAutoFit/>
          </a:bodyPr>
          <a:lstStyle/>
          <a:p>
            <a:pPr eaLnBrk="1" hangingPunct="1"/>
            <a:r>
              <a:rPr lang="en-US" b="1">
                <a:solidFill>
                  <a:srgbClr val="0000FF"/>
                </a:solidFill>
                <a:cs typeface="Arial" charset="0"/>
              </a:rPr>
              <a:t>Process Optimization</a:t>
            </a:r>
          </a:p>
        </p:txBody>
      </p:sp>
      <p:sp>
        <p:nvSpPr>
          <p:cNvPr id="19470" name="Text Box 14"/>
          <p:cNvSpPr txBox="1">
            <a:spLocks noChangeArrowheads="1"/>
          </p:cNvSpPr>
          <p:nvPr/>
        </p:nvSpPr>
        <p:spPr bwMode="auto">
          <a:xfrm>
            <a:off x="4572000" y="4932363"/>
            <a:ext cx="3101975" cy="366712"/>
          </a:xfrm>
          <a:prstGeom prst="rect">
            <a:avLst/>
          </a:prstGeom>
          <a:noFill/>
          <a:ln w="9525">
            <a:noFill/>
            <a:miter lim="800000"/>
            <a:headEnd/>
            <a:tailEnd/>
          </a:ln>
          <a:effectLst/>
        </p:spPr>
        <p:txBody>
          <a:bodyPr wrap="none">
            <a:spAutoFit/>
          </a:bodyPr>
          <a:lstStyle/>
          <a:p>
            <a:pPr eaLnBrk="1" hangingPunct="1"/>
            <a:r>
              <a:rPr lang="en-US" b="1">
                <a:solidFill>
                  <a:srgbClr val="0000FF"/>
                </a:solidFill>
                <a:cs typeface="Arial" charset="0"/>
              </a:rPr>
              <a:t>Financial Management &amp; Control</a:t>
            </a:r>
          </a:p>
        </p:txBody>
      </p:sp>
      <p:sp>
        <p:nvSpPr>
          <p:cNvPr id="19471" name="Text Box 15"/>
          <p:cNvSpPr txBox="1">
            <a:spLocks noChangeArrowheads="1"/>
          </p:cNvSpPr>
          <p:nvPr/>
        </p:nvSpPr>
        <p:spPr bwMode="auto">
          <a:xfrm>
            <a:off x="5840413" y="3021013"/>
            <a:ext cx="1957387" cy="336550"/>
          </a:xfrm>
          <a:prstGeom prst="rect">
            <a:avLst/>
          </a:prstGeom>
          <a:noFill/>
          <a:ln w="9525">
            <a:noFill/>
            <a:miter lim="800000"/>
            <a:headEnd/>
            <a:tailEnd/>
          </a:ln>
          <a:effectLst/>
        </p:spPr>
        <p:txBody>
          <a:bodyPr wrap="none">
            <a:spAutoFit/>
          </a:bodyPr>
          <a:lstStyle/>
          <a:p>
            <a:pPr eaLnBrk="1" hangingPunct="1"/>
            <a:r>
              <a:rPr lang="en-US" sz="1600" i="1">
                <a:cs typeface="Arial" charset="0"/>
              </a:rPr>
              <a:t>Systems Interoperability</a:t>
            </a:r>
          </a:p>
        </p:txBody>
      </p:sp>
      <p:sp>
        <p:nvSpPr>
          <p:cNvPr id="19472" name="Text Box 16"/>
          <p:cNvSpPr txBox="1">
            <a:spLocks noChangeArrowheads="1"/>
          </p:cNvSpPr>
          <p:nvPr/>
        </p:nvSpPr>
        <p:spPr bwMode="auto">
          <a:xfrm>
            <a:off x="5751513" y="5872163"/>
            <a:ext cx="2663825" cy="304800"/>
          </a:xfrm>
          <a:prstGeom prst="rect">
            <a:avLst/>
          </a:prstGeom>
          <a:noFill/>
          <a:ln w="9525">
            <a:noFill/>
            <a:miter lim="800000"/>
            <a:headEnd/>
            <a:tailEnd/>
          </a:ln>
          <a:effectLst/>
        </p:spPr>
        <p:txBody>
          <a:bodyPr wrap="none">
            <a:spAutoFit/>
          </a:bodyPr>
          <a:lstStyle/>
          <a:p>
            <a:pPr eaLnBrk="1" hangingPunct="1"/>
            <a:r>
              <a:rPr lang="en-US" sz="1400" i="1">
                <a:cs typeface="Arial" charset="0"/>
              </a:rPr>
              <a:t>Business Intelligence &amp; Benchmarking</a:t>
            </a:r>
          </a:p>
        </p:txBody>
      </p:sp>
      <p:sp>
        <p:nvSpPr>
          <p:cNvPr id="19473" name="Text Box 17"/>
          <p:cNvSpPr txBox="1">
            <a:spLocks noChangeArrowheads="1"/>
          </p:cNvSpPr>
          <p:nvPr/>
        </p:nvSpPr>
        <p:spPr bwMode="auto">
          <a:xfrm>
            <a:off x="719138" y="3076575"/>
            <a:ext cx="2070100" cy="581025"/>
          </a:xfrm>
          <a:prstGeom prst="rect">
            <a:avLst/>
          </a:prstGeom>
          <a:noFill/>
          <a:ln w="9525">
            <a:noFill/>
            <a:miter lim="800000"/>
            <a:headEnd/>
            <a:tailEnd/>
          </a:ln>
          <a:effectLst/>
        </p:spPr>
        <p:txBody>
          <a:bodyPr wrap="none">
            <a:spAutoFit/>
          </a:bodyPr>
          <a:lstStyle/>
          <a:p>
            <a:pPr algn="ctr" eaLnBrk="1" hangingPunct="1"/>
            <a:r>
              <a:rPr lang="en-US" sz="1600" i="1">
                <a:cs typeface="Arial" charset="0"/>
              </a:rPr>
              <a:t>Data Quality Control &amp;</a:t>
            </a:r>
          </a:p>
          <a:p>
            <a:pPr algn="ctr" eaLnBrk="1" hangingPunct="1"/>
            <a:r>
              <a:rPr lang="en-US" sz="1600" i="1">
                <a:cs typeface="Arial" charset="0"/>
              </a:rPr>
              <a:t>Assurance Improvements</a:t>
            </a:r>
          </a:p>
        </p:txBody>
      </p:sp>
      <p:sp>
        <p:nvSpPr>
          <p:cNvPr id="19474" name="Text Box 18"/>
          <p:cNvSpPr txBox="1">
            <a:spLocks noChangeArrowheads="1"/>
          </p:cNvSpPr>
          <p:nvPr/>
        </p:nvSpPr>
        <p:spPr bwMode="auto">
          <a:xfrm>
            <a:off x="2971800" y="5427663"/>
            <a:ext cx="2501900" cy="366712"/>
          </a:xfrm>
          <a:prstGeom prst="rect">
            <a:avLst/>
          </a:prstGeom>
          <a:noFill/>
          <a:ln w="9525">
            <a:noFill/>
            <a:miter lim="800000"/>
            <a:headEnd/>
            <a:tailEnd/>
          </a:ln>
          <a:effectLst/>
        </p:spPr>
        <p:txBody>
          <a:bodyPr wrap="none">
            <a:spAutoFit/>
          </a:bodyPr>
          <a:lstStyle/>
          <a:p>
            <a:pPr eaLnBrk="1" hangingPunct="1"/>
            <a:r>
              <a:rPr lang="en-US" b="1">
                <a:solidFill>
                  <a:srgbClr val="0000FF"/>
                </a:solidFill>
                <a:cs typeface="Arial" charset="0"/>
              </a:rPr>
              <a:t>Business Impact Analysis</a:t>
            </a:r>
          </a:p>
        </p:txBody>
      </p:sp>
      <p:sp>
        <p:nvSpPr>
          <p:cNvPr id="19475" name="Text Box 19"/>
          <p:cNvSpPr txBox="1">
            <a:spLocks noChangeArrowheads="1"/>
          </p:cNvSpPr>
          <p:nvPr/>
        </p:nvSpPr>
        <p:spPr bwMode="auto">
          <a:xfrm>
            <a:off x="6096000" y="3706813"/>
            <a:ext cx="1522413" cy="336550"/>
          </a:xfrm>
          <a:prstGeom prst="rect">
            <a:avLst/>
          </a:prstGeom>
          <a:noFill/>
          <a:ln w="9525">
            <a:noFill/>
            <a:miter lim="800000"/>
            <a:headEnd/>
            <a:tailEnd/>
          </a:ln>
          <a:effectLst/>
        </p:spPr>
        <p:txBody>
          <a:bodyPr wrap="none">
            <a:spAutoFit/>
          </a:bodyPr>
          <a:lstStyle/>
          <a:p>
            <a:pPr eaLnBrk="1" hangingPunct="1"/>
            <a:r>
              <a:rPr lang="en-US" sz="1600" i="1">
                <a:cs typeface="Arial" charset="0"/>
              </a:rPr>
              <a:t>Application Reuse</a:t>
            </a:r>
          </a:p>
        </p:txBody>
      </p:sp>
      <p:sp>
        <p:nvSpPr>
          <p:cNvPr id="19476" name="Text Box 20"/>
          <p:cNvSpPr txBox="1">
            <a:spLocks noChangeArrowheads="1"/>
          </p:cNvSpPr>
          <p:nvPr/>
        </p:nvSpPr>
        <p:spPr bwMode="auto">
          <a:xfrm>
            <a:off x="838200" y="1270000"/>
            <a:ext cx="7600950" cy="482600"/>
          </a:xfrm>
          <a:prstGeom prst="rect">
            <a:avLst/>
          </a:prstGeom>
          <a:noFill/>
          <a:ln w="9525">
            <a:noFill/>
            <a:miter lim="800000"/>
            <a:headEnd/>
            <a:tailEnd/>
          </a:ln>
          <a:effectLst/>
        </p:spPr>
        <p:txBody>
          <a:bodyPr>
            <a:spAutoFit/>
          </a:bodyPr>
          <a:lstStyle/>
          <a:p>
            <a:pPr algn="ctr" eaLnBrk="1" hangingPunct="1">
              <a:lnSpc>
                <a:spcPct val="80000"/>
              </a:lnSpc>
              <a:spcBef>
                <a:spcPct val="20000"/>
              </a:spcBef>
            </a:pPr>
            <a:r>
              <a:rPr lang="en-US" sz="1600"/>
              <a:t>Focusing on supporting the business, and casting technology in an enabler mode, will generate direct and derivative results.   </a:t>
            </a:r>
          </a:p>
        </p:txBody>
      </p:sp>
      <p:sp>
        <p:nvSpPr>
          <p:cNvPr id="19477" name="Text Box 21"/>
          <p:cNvSpPr txBox="1">
            <a:spLocks noChangeArrowheads="1"/>
          </p:cNvSpPr>
          <p:nvPr/>
        </p:nvSpPr>
        <p:spPr bwMode="auto">
          <a:xfrm>
            <a:off x="450850" y="3883025"/>
            <a:ext cx="2457450" cy="336550"/>
          </a:xfrm>
          <a:prstGeom prst="rect">
            <a:avLst/>
          </a:prstGeom>
          <a:noFill/>
          <a:ln w="9525">
            <a:noFill/>
            <a:miter lim="800000"/>
            <a:headEnd/>
            <a:tailEnd/>
          </a:ln>
          <a:effectLst/>
        </p:spPr>
        <p:txBody>
          <a:bodyPr wrap="none">
            <a:spAutoFit/>
          </a:bodyPr>
          <a:lstStyle/>
          <a:p>
            <a:pPr algn="ctr" eaLnBrk="1" hangingPunct="1"/>
            <a:r>
              <a:rPr lang="en-US" sz="1600" i="1">
                <a:cs typeface="Arial" charset="0"/>
              </a:rPr>
              <a:t>Business Semantics &amp; Sharing</a:t>
            </a:r>
          </a:p>
        </p:txBody>
      </p:sp>
      <p:sp>
        <p:nvSpPr>
          <p:cNvPr id="19478" name="Text Box 22"/>
          <p:cNvSpPr txBox="1">
            <a:spLocks noChangeArrowheads="1"/>
          </p:cNvSpPr>
          <p:nvPr/>
        </p:nvSpPr>
        <p:spPr bwMode="auto">
          <a:xfrm>
            <a:off x="3460750" y="5840413"/>
            <a:ext cx="1538288" cy="336550"/>
          </a:xfrm>
          <a:prstGeom prst="rect">
            <a:avLst/>
          </a:prstGeom>
          <a:noFill/>
          <a:ln w="9525">
            <a:noFill/>
            <a:miter lim="800000"/>
            <a:headEnd/>
            <a:tailEnd/>
          </a:ln>
          <a:effectLst/>
        </p:spPr>
        <p:txBody>
          <a:bodyPr wrap="none">
            <a:spAutoFit/>
          </a:bodyPr>
          <a:lstStyle/>
          <a:p>
            <a:pPr eaLnBrk="1" hangingPunct="1"/>
            <a:r>
              <a:rPr lang="en-US" sz="1600" i="1">
                <a:cs typeface="Arial" charset="0"/>
              </a:rPr>
              <a:t>Role Management</a:t>
            </a:r>
          </a:p>
        </p:txBody>
      </p:sp>
      <p:sp>
        <p:nvSpPr>
          <p:cNvPr id="19479" name="Text Box 23"/>
          <p:cNvSpPr txBox="1">
            <a:spLocks noChangeArrowheads="1"/>
          </p:cNvSpPr>
          <p:nvPr/>
        </p:nvSpPr>
        <p:spPr bwMode="auto">
          <a:xfrm>
            <a:off x="5060950" y="6450013"/>
            <a:ext cx="1535113" cy="346075"/>
          </a:xfrm>
          <a:prstGeom prst="rect">
            <a:avLst/>
          </a:prstGeom>
          <a:noFill/>
          <a:ln w="9525">
            <a:solidFill>
              <a:srgbClr val="0000FF"/>
            </a:solidFill>
            <a:miter lim="800000"/>
            <a:headEnd/>
            <a:tailEnd/>
          </a:ln>
          <a:effectLst/>
        </p:spPr>
        <p:txBody>
          <a:bodyPr wrap="none">
            <a:spAutoFit/>
          </a:bodyPr>
          <a:lstStyle/>
          <a:p>
            <a:pPr eaLnBrk="1" hangingPunct="1"/>
            <a:r>
              <a:rPr lang="en-US" sz="1600" i="1">
                <a:cs typeface="Arial" charset="0"/>
              </a:rPr>
              <a:t>Derivative Results</a:t>
            </a:r>
          </a:p>
        </p:txBody>
      </p:sp>
      <p:sp>
        <p:nvSpPr>
          <p:cNvPr id="19480" name="Text Box 24"/>
          <p:cNvSpPr txBox="1">
            <a:spLocks noChangeArrowheads="1"/>
          </p:cNvSpPr>
          <p:nvPr/>
        </p:nvSpPr>
        <p:spPr bwMode="auto">
          <a:xfrm>
            <a:off x="2286000" y="6448425"/>
            <a:ext cx="1311275" cy="346075"/>
          </a:xfrm>
          <a:prstGeom prst="rect">
            <a:avLst/>
          </a:prstGeom>
          <a:noFill/>
          <a:ln w="9525">
            <a:solidFill>
              <a:srgbClr val="0000FF"/>
            </a:solidFill>
            <a:miter lim="800000"/>
            <a:headEnd/>
            <a:tailEnd/>
          </a:ln>
          <a:effectLst/>
        </p:spPr>
        <p:txBody>
          <a:bodyPr wrap="none">
            <a:spAutoFit/>
          </a:bodyPr>
          <a:lstStyle/>
          <a:p>
            <a:pPr eaLnBrk="1" hangingPunct="1"/>
            <a:r>
              <a:rPr lang="en-US" sz="1600" b="1">
                <a:solidFill>
                  <a:srgbClr val="0000FF"/>
                </a:solidFill>
                <a:cs typeface="Arial" charset="0"/>
              </a:rPr>
              <a:t>Direct Results</a:t>
            </a:r>
          </a:p>
        </p:txBody>
      </p:sp>
      <p:sp>
        <p:nvSpPr>
          <p:cNvPr id="19481" name="Text Box 25"/>
          <p:cNvSpPr txBox="1">
            <a:spLocks noChangeArrowheads="1"/>
          </p:cNvSpPr>
          <p:nvPr/>
        </p:nvSpPr>
        <p:spPr bwMode="auto">
          <a:xfrm>
            <a:off x="228600" y="5819775"/>
            <a:ext cx="2971800" cy="336550"/>
          </a:xfrm>
          <a:prstGeom prst="rect">
            <a:avLst/>
          </a:prstGeom>
          <a:noFill/>
          <a:ln w="9525">
            <a:noFill/>
            <a:miter lim="800000"/>
            <a:headEnd/>
            <a:tailEnd/>
          </a:ln>
          <a:effectLst/>
        </p:spPr>
        <p:txBody>
          <a:bodyPr>
            <a:spAutoFit/>
          </a:bodyPr>
          <a:lstStyle/>
          <a:p>
            <a:pPr algn="ctr" eaLnBrk="1" hangingPunct="1"/>
            <a:r>
              <a:rPr lang="en-US" sz="1600" i="1">
                <a:cs typeface="Arial" charset="0"/>
              </a:rPr>
              <a:t>Workflow Design &amp; Support</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533400"/>
            <a:ext cx="8229600" cy="792163"/>
          </a:xfrm>
        </p:spPr>
        <p:txBody>
          <a:bodyPr/>
          <a:lstStyle/>
          <a:p>
            <a:r>
              <a:rPr lang="en-US" sz="2800">
                <a:latin typeface="Arial Narrow" pitchFamily="34" charset="0"/>
              </a:rPr>
              <a:t>Business &amp; IT Alignment - Direct Results </a:t>
            </a:r>
          </a:p>
        </p:txBody>
      </p:sp>
      <p:sp>
        <p:nvSpPr>
          <p:cNvPr id="5123" name="Rectangle 3"/>
          <p:cNvSpPr>
            <a:spLocks noGrp="1" noChangeArrowheads="1"/>
          </p:cNvSpPr>
          <p:nvPr>
            <p:ph type="body" idx="1"/>
          </p:nvPr>
        </p:nvSpPr>
        <p:spPr>
          <a:xfrm>
            <a:off x="457200" y="1981200"/>
            <a:ext cx="8229600" cy="4648200"/>
          </a:xfrm>
        </p:spPr>
        <p:txBody>
          <a:bodyPr/>
          <a:lstStyle/>
          <a:p>
            <a:pPr>
              <a:lnSpc>
                <a:spcPct val="90000"/>
              </a:lnSpc>
            </a:pPr>
            <a:r>
              <a:rPr lang="en-US" sz="2000" b="1">
                <a:latin typeface="Arial Narrow" pitchFamily="34" charset="0"/>
              </a:rPr>
              <a:t>Direct Business Results</a:t>
            </a:r>
            <a:r>
              <a:rPr lang="en-US" sz="2000">
                <a:latin typeface="Arial Narrow" pitchFamily="34" charset="0"/>
              </a:rPr>
              <a:t> include…</a:t>
            </a:r>
          </a:p>
          <a:p>
            <a:pPr lvl="1">
              <a:lnSpc>
                <a:spcPct val="90000"/>
              </a:lnSpc>
            </a:pPr>
            <a:endParaRPr lang="en-US" sz="2000" b="1">
              <a:latin typeface="Arial Narrow" pitchFamily="34" charset="0"/>
            </a:endParaRPr>
          </a:p>
          <a:p>
            <a:pPr>
              <a:lnSpc>
                <a:spcPct val="90000"/>
              </a:lnSpc>
            </a:pPr>
            <a:r>
              <a:rPr lang="en-US" sz="2000">
                <a:latin typeface="Arial Narrow" pitchFamily="34" charset="0"/>
              </a:rPr>
              <a:t>End-to-end business process analysis and adjustment </a:t>
            </a:r>
            <a:r>
              <a:rPr lang="en-US" sz="2000" b="1" i="1">
                <a:latin typeface="Arial Narrow" pitchFamily="34" charset="0"/>
              </a:rPr>
              <a:t>(process optimization, improvement and simplification)</a:t>
            </a:r>
          </a:p>
          <a:p>
            <a:pPr lvl="1">
              <a:lnSpc>
                <a:spcPct val="90000"/>
              </a:lnSpc>
            </a:pPr>
            <a:endParaRPr lang="en-US" sz="2000" b="1">
              <a:latin typeface="Arial Narrow" pitchFamily="34" charset="0"/>
            </a:endParaRPr>
          </a:p>
          <a:p>
            <a:pPr>
              <a:lnSpc>
                <a:spcPct val="90000"/>
              </a:lnSpc>
            </a:pPr>
            <a:r>
              <a:rPr lang="en-US" sz="2000">
                <a:latin typeface="Arial Narrow" pitchFamily="34" charset="0"/>
              </a:rPr>
              <a:t>Alignment of resource management  and analysis by business areas and with business goals </a:t>
            </a:r>
            <a:r>
              <a:rPr lang="en-US" sz="2000" b="1" i="1">
                <a:latin typeface="Arial Narrow" pitchFamily="34" charset="0"/>
              </a:rPr>
              <a:t>(financial management and controls)</a:t>
            </a:r>
          </a:p>
          <a:p>
            <a:pPr lvl="1">
              <a:lnSpc>
                <a:spcPct val="90000"/>
              </a:lnSpc>
            </a:pPr>
            <a:endParaRPr lang="en-US" sz="2000" i="1">
              <a:latin typeface="Arial Narrow" pitchFamily="34" charset="0"/>
            </a:endParaRPr>
          </a:p>
          <a:p>
            <a:pPr>
              <a:lnSpc>
                <a:spcPct val="90000"/>
              </a:lnSpc>
            </a:pPr>
            <a:r>
              <a:rPr lang="en-US" sz="2000">
                <a:latin typeface="Arial Narrow" pitchFamily="34" charset="0"/>
              </a:rPr>
              <a:t>Pre-impact and pre-incident detection of business events and business targets, and the ability to assess the impacts and lead times in order to mitigate the business impact </a:t>
            </a:r>
            <a:r>
              <a:rPr lang="en-US" sz="2000" b="1" i="1">
                <a:latin typeface="Arial Narrow" pitchFamily="34" charset="0"/>
              </a:rPr>
              <a:t>(business impact analysis and business continuity)</a:t>
            </a:r>
          </a:p>
          <a:p>
            <a:pPr lvl="1">
              <a:lnSpc>
                <a:spcPct val="90000"/>
              </a:lnSpc>
              <a:buFont typeface="Wingdings" pitchFamily="2" charset="2"/>
              <a:buNone/>
            </a:pPr>
            <a:endParaRPr lang="en-US" sz="2000" i="1">
              <a:latin typeface="Arial Narrow"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p:txBody>
          <a:bodyPr/>
          <a:lstStyle/>
          <a:p>
            <a:r>
              <a:rPr lang="en-US" sz="2800">
                <a:latin typeface="Arial Narrow" pitchFamily="34" charset="0"/>
              </a:rPr>
              <a:t>Business &amp; IT Alignment - Derivative Results</a:t>
            </a:r>
          </a:p>
        </p:txBody>
      </p:sp>
      <p:sp>
        <p:nvSpPr>
          <p:cNvPr id="269315" name="Rectangle 3"/>
          <p:cNvSpPr>
            <a:spLocks noGrp="1" noChangeArrowheads="1"/>
          </p:cNvSpPr>
          <p:nvPr>
            <p:ph type="body" idx="1"/>
          </p:nvPr>
        </p:nvSpPr>
        <p:spPr/>
        <p:txBody>
          <a:bodyPr/>
          <a:lstStyle/>
          <a:p>
            <a:pPr>
              <a:lnSpc>
                <a:spcPct val="90000"/>
              </a:lnSpc>
            </a:pPr>
            <a:r>
              <a:rPr lang="en-US" sz="2000" b="1">
                <a:latin typeface="Arial Narrow" pitchFamily="34" charset="0"/>
              </a:rPr>
              <a:t>Derivative Business Results</a:t>
            </a:r>
            <a:r>
              <a:rPr lang="en-US" sz="2000">
                <a:latin typeface="Arial Narrow" pitchFamily="34" charset="0"/>
              </a:rPr>
              <a:t> include..</a:t>
            </a:r>
          </a:p>
          <a:p>
            <a:pPr>
              <a:lnSpc>
                <a:spcPct val="90000"/>
              </a:lnSpc>
            </a:pPr>
            <a:endParaRPr lang="en-US" sz="2000" b="1">
              <a:latin typeface="Arial Narrow" pitchFamily="34" charset="0"/>
            </a:endParaRPr>
          </a:p>
          <a:p>
            <a:pPr>
              <a:lnSpc>
                <a:spcPct val="90000"/>
              </a:lnSpc>
            </a:pPr>
            <a:r>
              <a:rPr lang="en-US" sz="2000">
                <a:latin typeface="Arial Narrow" pitchFamily="34" charset="0"/>
              </a:rPr>
              <a:t>Cross-organizational role discovery, provisioning and management based on common groups of privileges and permissions </a:t>
            </a:r>
            <a:r>
              <a:rPr lang="en-US" sz="2000" b="1" i="1">
                <a:latin typeface="Arial Narrow" pitchFamily="34" charset="0"/>
              </a:rPr>
              <a:t>(increased effectiveness in role management and identity provisioning)</a:t>
            </a:r>
          </a:p>
          <a:p>
            <a:pPr>
              <a:lnSpc>
                <a:spcPct val="90000"/>
              </a:lnSpc>
            </a:pPr>
            <a:endParaRPr lang="en-US" sz="2000" b="1">
              <a:latin typeface="Arial Narrow" pitchFamily="34" charset="0"/>
            </a:endParaRPr>
          </a:p>
          <a:p>
            <a:pPr>
              <a:lnSpc>
                <a:spcPct val="90000"/>
              </a:lnSpc>
            </a:pPr>
            <a:r>
              <a:rPr lang="en-US" sz="2000">
                <a:latin typeface="Arial Narrow" pitchFamily="34" charset="0"/>
              </a:rPr>
              <a:t>More effective and targeted benchmarking with peers and enable more efficient measurement, reporting and evaluation </a:t>
            </a:r>
            <a:r>
              <a:rPr lang="en-US" sz="2000" b="1">
                <a:latin typeface="Arial Narrow" pitchFamily="34" charset="0"/>
              </a:rPr>
              <a:t>(</a:t>
            </a:r>
            <a:r>
              <a:rPr lang="en-US" sz="2000" b="1" i="1">
                <a:latin typeface="Arial Narrow" pitchFamily="34" charset="0"/>
              </a:rPr>
              <a:t>business metrics and intelligence)</a:t>
            </a:r>
          </a:p>
          <a:p>
            <a:pPr>
              <a:lnSpc>
                <a:spcPct val="90000"/>
              </a:lnSpc>
            </a:pPr>
            <a:endParaRPr lang="en-US" sz="2000" b="1" i="1">
              <a:latin typeface="Arial Narrow" pitchFamily="34" charset="0"/>
            </a:endParaRPr>
          </a:p>
          <a:p>
            <a:pPr>
              <a:lnSpc>
                <a:spcPct val="90000"/>
              </a:lnSpc>
            </a:pPr>
            <a:r>
              <a:rPr lang="en-US" sz="2000">
                <a:latin typeface="Arial Narrow" pitchFamily="34" charset="0"/>
              </a:rPr>
              <a:t>More efficient business processes based on automated workflows and business process management </a:t>
            </a:r>
            <a:r>
              <a:rPr lang="en-US" sz="2000" b="1" i="1">
                <a:latin typeface="Arial Narrow" pitchFamily="34" charset="0"/>
              </a:rPr>
              <a:t>(workflow design and management)</a:t>
            </a:r>
          </a:p>
          <a:p>
            <a:pPr>
              <a:lnSpc>
                <a:spcPct val="90000"/>
              </a:lnSpc>
            </a:pPr>
            <a:endParaRPr lang="en-US" sz="2000">
              <a:latin typeface="Arial Narrow"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sz="2800">
                <a:latin typeface="Arial Narrow" pitchFamily="34" charset="0"/>
              </a:rPr>
              <a:t>Business &amp; IT Alignment - Derivative Results</a:t>
            </a:r>
          </a:p>
        </p:txBody>
      </p:sp>
      <p:sp>
        <p:nvSpPr>
          <p:cNvPr id="20483" name="Rectangle 3"/>
          <p:cNvSpPr>
            <a:spLocks noGrp="1" noChangeArrowheads="1"/>
          </p:cNvSpPr>
          <p:nvPr>
            <p:ph type="body" idx="1"/>
          </p:nvPr>
        </p:nvSpPr>
        <p:spPr/>
        <p:txBody>
          <a:bodyPr/>
          <a:lstStyle/>
          <a:p>
            <a:pPr>
              <a:lnSpc>
                <a:spcPct val="80000"/>
              </a:lnSpc>
            </a:pPr>
            <a:r>
              <a:rPr lang="en-US" sz="2000" b="1">
                <a:latin typeface="Arial Narrow" pitchFamily="34" charset="0"/>
              </a:rPr>
              <a:t>Technical Derivative Results</a:t>
            </a:r>
            <a:r>
              <a:rPr lang="en-US" sz="2000">
                <a:latin typeface="Arial Narrow" pitchFamily="34" charset="0"/>
              </a:rPr>
              <a:t> include…</a:t>
            </a:r>
          </a:p>
          <a:p>
            <a:pPr lvl="1">
              <a:lnSpc>
                <a:spcPct val="80000"/>
              </a:lnSpc>
            </a:pPr>
            <a:endParaRPr lang="en-US" sz="2000">
              <a:latin typeface="Arial Narrow" pitchFamily="34" charset="0"/>
            </a:endParaRPr>
          </a:p>
          <a:p>
            <a:pPr>
              <a:lnSpc>
                <a:spcPct val="80000"/>
              </a:lnSpc>
            </a:pPr>
            <a:r>
              <a:rPr lang="en-US" sz="2000">
                <a:latin typeface="Arial Narrow" pitchFamily="34" charset="0"/>
              </a:rPr>
              <a:t>Smarter and rapid deployment/redeployment of new platforms and services, providing sufficient information to plan and manage the change cost effectively </a:t>
            </a:r>
            <a:r>
              <a:rPr lang="en-US" sz="2000" b="1" i="1">
                <a:latin typeface="Arial Narrow" pitchFamily="34" charset="0"/>
              </a:rPr>
              <a:t>(change management)</a:t>
            </a:r>
          </a:p>
          <a:p>
            <a:pPr>
              <a:lnSpc>
                <a:spcPct val="80000"/>
              </a:lnSpc>
            </a:pPr>
            <a:endParaRPr lang="en-US" sz="2000" b="1">
              <a:latin typeface="Arial Narrow" pitchFamily="34" charset="0"/>
            </a:endParaRPr>
          </a:p>
          <a:p>
            <a:pPr>
              <a:lnSpc>
                <a:spcPct val="80000"/>
              </a:lnSpc>
            </a:pPr>
            <a:r>
              <a:rPr lang="en-US" sz="2000">
                <a:latin typeface="Arial Narrow" pitchFamily="34" charset="0"/>
              </a:rPr>
              <a:t>Interchangeable functional component design through increased access to and reuse of technical resources </a:t>
            </a:r>
            <a:r>
              <a:rPr lang="en-US" sz="2000" b="1" i="1">
                <a:solidFill>
                  <a:srgbClr val="0000FF"/>
                </a:solidFill>
                <a:latin typeface="Arial Narrow" pitchFamily="34" charset="0"/>
              </a:rPr>
              <a:t>(applications reuse)</a:t>
            </a:r>
          </a:p>
          <a:p>
            <a:pPr>
              <a:lnSpc>
                <a:spcPct val="80000"/>
              </a:lnSpc>
            </a:pPr>
            <a:endParaRPr lang="en-US" sz="2000" b="1">
              <a:latin typeface="Arial Narrow" pitchFamily="34" charset="0"/>
            </a:endParaRPr>
          </a:p>
          <a:p>
            <a:pPr>
              <a:lnSpc>
                <a:spcPct val="80000"/>
              </a:lnSpc>
            </a:pPr>
            <a:r>
              <a:rPr lang="en-US" sz="2000">
                <a:latin typeface="Arial Narrow" pitchFamily="34" charset="0"/>
              </a:rPr>
              <a:t>Optimization of use of the organization’s technical resources by all contributors or consumers, regardless of location </a:t>
            </a:r>
            <a:r>
              <a:rPr lang="en-US" sz="2000" b="1" i="1">
                <a:solidFill>
                  <a:srgbClr val="0000FF"/>
                </a:solidFill>
                <a:latin typeface="Arial Narrow" pitchFamily="34" charset="0"/>
              </a:rPr>
              <a:t>(systems interoperability)</a:t>
            </a:r>
          </a:p>
          <a:p>
            <a:pPr>
              <a:lnSpc>
                <a:spcPct val="80000"/>
              </a:lnSpc>
            </a:pPr>
            <a:endParaRPr lang="en-US" sz="2000" b="1" i="1">
              <a:solidFill>
                <a:srgbClr val="0000FF"/>
              </a:solidFill>
              <a:latin typeface="Arial Narrow" pitchFamily="34" charset="0"/>
            </a:endParaRPr>
          </a:p>
          <a:p>
            <a:pPr>
              <a:lnSpc>
                <a:spcPct val="80000"/>
              </a:lnSpc>
            </a:pPr>
            <a:endParaRPr lang="en-US" sz="2000">
              <a:latin typeface="Arial Narrow"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sz="2800">
                <a:latin typeface="Arial Narrow" pitchFamily="34" charset="0"/>
              </a:rPr>
              <a:t>Business &amp; IT Alignment - Derivative Results</a:t>
            </a:r>
          </a:p>
        </p:txBody>
      </p:sp>
      <p:sp>
        <p:nvSpPr>
          <p:cNvPr id="21507" name="Rectangle 3"/>
          <p:cNvSpPr>
            <a:spLocks noGrp="1" noChangeArrowheads="1"/>
          </p:cNvSpPr>
          <p:nvPr>
            <p:ph type="body" idx="1"/>
          </p:nvPr>
        </p:nvSpPr>
        <p:spPr/>
        <p:txBody>
          <a:bodyPr/>
          <a:lstStyle/>
          <a:p>
            <a:pPr>
              <a:lnSpc>
                <a:spcPct val="90000"/>
              </a:lnSpc>
            </a:pPr>
            <a:r>
              <a:rPr lang="en-US" sz="2000" b="1">
                <a:latin typeface="Arial Narrow" pitchFamily="34" charset="0"/>
              </a:rPr>
              <a:t>Data and Information Derivative Effects</a:t>
            </a:r>
            <a:r>
              <a:rPr lang="en-US" sz="2000">
                <a:latin typeface="Arial Narrow" pitchFamily="34" charset="0"/>
              </a:rPr>
              <a:t> include…</a:t>
            </a:r>
          </a:p>
          <a:p>
            <a:pPr>
              <a:lnSpc>
                <a:spcPct val="90000"/>
              </a:lnSpc>
            </a:pPr>
            <a:endParaRPr lang="en-US" sz="2000">
              <a:latin typeface="Arial Narrow" pitchFamily="34" charset="0"/>
            </a:endParaRPr>
          </a:p>
          <a:p>
            <a:pPr lvl="1">
              <a:lnSpc>
                <a:spcPct val="90000"/>
              </a:lnSpc>
            </a:pPr>
            <a:r>
              <a:rPr lang="en-US" sz="2000">
                <a:latin typeface="Arial Narrow" pitchFamily="34" charset="0"/>
              </a:rPr>
              <a:t>More rigorous, visible and auditable records capture throughout business processes </a:t>
            </a:r>
            <a:r>
              <a:rPr lang="en-US" sz="2000" b="1" i="1">
                <a:latin typeface="Arial Narrow" pitchFamily="34" charset="0"/>
              </a:rPr>
              <a:t>(records management)</a:t>
            </a:r>
          </a:p>
          <a:p>
            <a:pPr lvl="1">
              <a:lnSpc>
                <a:spcPct val="90000"/>
              </a:lnSpc>
            </a:pPr>
            <a:endParaRPr lang="en-US" sz="2000" b="1" i="1">
              <a:latin typeface="Arial Narrow" pitchFamily="34" charset="0"/>
            </a:endParaRPr>
          </a:p>
          <a:p>
            <a:pPr lvl="1">
              <a:lnSpc>
                <a:spcPct val="90000"/>
              </a:lnSpc>
            </a:pPr>
            <a:r>
              <a:rPr lang="en-US" sz="2000">
                <a:latin typeface="Arial Narrow" pitchFamily="34" charset="0"/>
              </a:rPr>
              <a:t>Identification and management of quality control checkpoints and improvements in data quality and trustworthiness </a:t>
            </a:r>
            <a:r>
              <a:rPr lang="en-US" sz="2000" b="1" i="1">
                <a:latin typeface="Arial Narrow" pitchFamily="34" charset="0"/>
              </a:rPr>
              <a:t>(information quality assurance)</a:t>
            </a:r>
          </a:p>
          <a:p>
            <a:pPr lvl="1">
              <a:lnSpc>
                <a:spcPct val="90000"/>
              </a:lnSpc>
            </a:pPr>
            <a:endParaRPr lang="en-US" sz="2000" b="1" i="1">
              <a:latin typeface="Arial Narrow" pitchFamily="34" charset="0"/>
            </a:endParaRPr>
          </a:p>
          <a:p>
            <a:pPr lvl="1">
              <a:lnSpc>
                <a:spcPct val="90000"/>
              </a:lnSpc>
            </a:pPr>
            <a:r>
              <a:rPr lang="en-US" sz="2000">
                <a:latin typeface="Arial Narrow" pitchFamily="34" charset="0"/>
              </a:rPr>
              <a:t>Access to management information from a </a:t>
            </a:r>
            <a:r>
              <a:rPr lang="en-US" sz="2000" i="1">
                <a:latin typeface="Arial Narrow" pitchFamily="34" charset="0"/>
              </a:rPr>
              <a:t>business perspective </a:t>
            </a:r>
            <a:r>
              <a:rPr lang="en-US" sz="2000">
                <a:latin typeface="Arial Narrow" pitchFamily="34" charset="0"/>
              </a:rPr>
              <a:t>rather than an application perspective</a:t>
            </a:r>
            <a:r>
              <a:rPr lang="en-US" sz="2000" i="1">
                <a:latin typeface="Arial Narrow" pitchFamily="34" charset="0"/>
              </a:rPr>
              <a:t> </a:t>
            </a:r>
            <a:r>
              <a:rPr lang="en-US" sz="2000" b="1" i="1">
                <a:latin typeface="Arial Narrow" pitchFamily="34" charset="0"/>
              </a:rPr>
              <a:t>(business semantics)</a:t>
            </a:r>
          </a:p>
          <a:p>
            <a:pPr>
              <a:lnSpc>
                <a:spcPct val="90000"/>
              </a:lnSpc>
            </a:pPr>
            <a:endParaRPr lang="en-US" sz="2000" b="1">
              <a:latin typeface="Arial Narrow" pitchFamily="34" charset="0"/>
            </a:endParaRPr>
          </a:p>
          <a:p>
            <a:pPr>
              <a:lnSpc>
                <a:spcPct val="90000"/>
              </a:lnSpc>
            </a:pPr>
            <a:endParaRPr lang="en-US" sz="2000">
              <a:latin typeface="Arial Narrow"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6" name="Rectangle 4"/>
          <p:cNvSpPr>
            <a:spLocks noGrp="1" noChangeArrowheads="1"/>
          </p:cNvSpPr>
          <p:nvPr>
            <p:ph type="ctrTitle"/>
          </p:nvPr>
        </p:nvSpPr>
        <p:spPr/>
        <p:txBody>
          <a:bodyPr/>
          <a:lstStyle/>
          <a:p>
            <a:r>
              <a:rPr lang="en-US" sz="4000">
                <a:latin typeface="Arial Narrow" pitchFamily="34" charset="0"/>
              </a:rPr>
              <a:t>Designing a Business Architecture</a:t>
            </a:r>
          </a:p>
        </p:txBody>
      </p:sp>
      <p:sp>
        <p:nvSpPr>
          <p:cNvPr id="351237" name="Rectangle 5"/>
          <p:cNvSpPr>
            <a:spLocks noGrp="1" noChangeArrowheads="1"/>
          </p:cNvSpPr>
          <p:nvPr>
            <p:ph type="subTitle" idx="1"/>
          </p:nvPr>
        </p:nvSpPr>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6" name="Rectangle 4"/>
          <p:cNvSpPr>
            <a:spLocks noGrp="1" noChangeArrowheads="1"/>
          </p:cNvSpPr>
          <p:nvPr>
            <p:ph type="title"/>
          </p:nvPr>
        </p:nvSpPr>
        <p:spPr>
          <a:xfrm>
            <a:off x="533400" y="533400"/>
            <a:ext cx="8229600" cy="1143000"/>
          </a:xfrm>
        </p:spPr>
        <p:txBody>
          <a:bodyPr/>
          <a:lstStyle/>
          <a:p>
            <a:r>
              <a:rPr lang="en-US" sz="3600">
                <a:latin typeface="Arial Narrow" pitchFamily="34" charset="0"/>
              </a:rPr>
              <a:t>Designing a Business Architecture</a:t>
            </a:r>
          </a:p>
        </p:txBody>
      </p:sp>
      <p:sp>
        <p:nvSpPr>
          <p:cNvPr id="361477" name="Rectangle 5"/>
          <p:cNvSpPr>
            <a:spLocks noGrp="1" noChangeArrowheads="1"/>
          </p:cNvSpPr>
          <p:nvPr>
            <p:ph type="body" idx="1"/>
          </p:nvPr>
        </p:nvSpPr>
        <p:spPr>
          <a:xfrm>
            <a:off x="457200" y="1828800"/>
            <a:ext cx="8229600" cy="4800600"/>
          </a:xfrm>
        </p:spPr>
        <p:txBody>
          <a:bodyPr/>
          <a:lstStyle/>
          <a:p>
            <a:pPr>
              <a:lnSpc>
                <a:spcPct val="90000"/>
              </a:lnSpc>
            </a:pPr>
            <a:r>
              <a:rPr lang="en-US" sz="2200">
                <a:latin typeface="Arial Narrow" pitchFamily="34" charset="0"/>
              </a:rPr>
              <a:t>In order to align technology with business, we need to design a business architecture</a:t>
            </a:r>
          </a:p>
          <a:p>
            <a:pPr>
              <a:lnSpc>
                <a:spcPct val="90000"/>
              </a:lnSpc>
            </a:pPr>
            <a:endParaRPr lang="en-US" sz="2200">
              <a:latin typeface="Arial Narrow" pitchFamily="34" charset="0"/>
            </a:endParaRPr>
          </a:p>
          <a:p>
            <a:pPr>
              <a:lnSpc>
                <a:spcPct val="90000"/>
              </a:lnSpc>
            </a:pPr>
            <a:r>
              <a:rPr lang="en-US" sz="2200">
                <a:latin typeface="Arial Narrow" pitchFamily="34" charset="0"/>
              </a:rPr>
              <a:t>Business architecture includes:  </a:t>
            </a:r>
          </a:p>
          <a:p>
            <a:pPr lvl="1">
              <a:lnSpc>
                <a:spcPct val="90000"/>
              </a:lnSpc>
            </a:pPr>
            <a:r>
              <a:rPr lang="en-US" sz="2200" b="1">
                <a:solidFill>
                  <a:schemeClr val="tx2"/>
                </a:solidFill>
                <a:latin typeface="Arial Narrow" pitchFamily="34" charset="0"/>
              </a:rPr>
              <a:t>Business framework</a:t>
            </a:r>
            <a:r>
              <a:rPr lang="en-US" sz="2200">
                <a:latin typeface="Arial Narrow" pitchFamily="34" charset="0"/>
              </a:rPr>
              <a:t> to which all business definitions and models can be mapped </a:t>
            </a:r>
          </a:p>
          <a:p>
            <a:pPr lvl="1">
              <a:lnSpc>
                <a:spcPct val="90000"/>
              </a:lnSpc>
            </a:pPr>
            <a:endParaRPr lang="en-US" sz="2200" b="1">
              <a:solidFill>
                <a:schemeClr val="tx2"/>
              </a:solidFill>
              <a:latin typeface="Arial Narrow" pitchFamily="34" charset="0"/>
            </a:endParaRPr>
          </a:p>
          <a:p>
            <a:pPr lvl="1">
              <a:lnSpc>
                <a:spcPct val="90000"/>
              </a:lnSpc>
            </a:pPr>
            <a:r>
              <a:rPr lang="en-US" sz="2200" b="1">
                <a:solidFill>
                  <a:schemeClr val="tx2"/>
                </a:solidFill>
                <a:latin typeface="Arial Narrow" pitchFamily="34" charset="0"/>
              </a:rPr>
              <a:t>Business process management best practices</a:t>
            </a:r>
            <a:r>
              <a:rPr lang="en-US" sz="2200">
                <a:latin typeface="Arial Narrow" pitchFamily="34" charset="0"/>
              </a:rPr>
              <a:t> for representing business processes which are manageable by business analysts, understandable to business managers and executable by developers</a:t>
            </a:r>
          </a:p>
          <a:p>
            <a:pPr lvl="1">
              <a:lnSpc>
                <a:spcPct val="90000"/>
              </a:lnSpc>
            </a:pPr>
            <a:endParaRPr lang="en-US" sz="2200">
              <a:latin typeface="Arial Narrow"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p:txBody>
          <a:bodyPr/>
          <a:lstStyle/>
          <a:p>
            <a:r>
              <a:rPr lang="en-US" sz="3600">
                <a:latin typeface="Arial Narrow" pitchFamily="34" charset="0"/>
              </a:rPr>
              <a:t>Current State – Business Framework</a:t>
            </a:r>
          </a:p>
        </p:txBody>
      </p:sp>
      <p:sp>
        <p:nvSpPr>
          <p:cNvPr id="373763" name="Rectangle 3"/>
          <p:cNvSpPr>
            <a:spLocks noGrp="1" noChangeArrowheads="1"/>
          </p:cNvSpPr>
          <p:nvPr>
            <p:ph type="body" idx="1"/>
          </p:nvPr>
        </p:nvSpPr>
        <p:spPr/>
        <p:txBody>
          <a:bodyPr/>
          <a:lstStyle/>
          <a:p>
            <a:pPr>
              <a:lnSpc>
                <a:spcPct val="80000"/>
              </a:lnSpc>
            </a:pPr>
            <a:r>
              <a:rPr lang="en-US" sz="2000">
                <a:latin typeface="Arial Narrow" pitchFamily="34" charset="0"/>
              </a:rPr>
              <a:t>We don’t have a comprehensive view of the Bank’s business at this time, although we have a wealth of business knowledge and documentation</a:t>
            </a:r>
          </a:p>
          <a:p>
            <a:pPr>
              <a:lnSpc>
                <a:spcPct val="80000"/>
              </a:lnSpc>
            </a:pPr>
            <a:endParaRPr lang="en-US" sz="2000">
              <a:latin typeface="Arial Narrow" pitchFamily="34" charset="0"/>
            </a:endParaRPr>
          </a:p>
          <a:p>
            <a:pPr lvl="1">
              <a:lnSpc>
                <a:spcPct val="80000"/>
              </a:lnSpc>
            </a:pPr>
            <a:r>
              <a:rPr lang="en-US" sz="2000">
                <a:latin typeface="Arial Narrow" pitchFamily="34" charset="0"/>
              </a:rPr>
              <a:t>Current business definitions may be constrained to what single organizational units do and how they do it</a:t>
            </a:r>
          </a:p>
          <a:p>
            <a:pPr lvl="1">
              <a:lnSpc>
                <a:spcPct val="80000"/>
              </a:lnSpc>
            </a:pPr>
            <a:r>
              <a:rPr lang="en-US" sz="2000">
                <a:latin typeface="Arial Narrow" pitchFamily="34" charset="0"/>
              </a:rPr>
              <a:t>May be variations on a process across the organization</a:t>
            </a:r>
          </a:p>
          <a:p>
            <a:pPr lvl="1">
              <a:lnSpc>
                <a:spcPct val="80000"/>
              </a:lnSpc>
            </a:pPr>
            <a:r>
              <a:rPr lang="en-US" sz="2000">
                <a:latin typeface="Arial Narrow" pitchFamily="34" charset="0"/>
              </a:rPr>
              <a:t>Formal policies and procedures may not fully describe how work is done</a:t>
            </a:r>
          </a:p>
          <a:p>
            <a:pPr lvl="1">
              <a:lnSpc>
                <a:spcPct val="80000"/>
              </a:lnSpc>
            </a:pPr>
            <a:r>
              <a:rPr lang="en-US" sz="2000">
                <a:latin typeface="Arial Narrow" pitchFamily="34" charset="0"/>
              </a:rPr>
              <a:t>May be gaps in coverage of some business processes </a:t>
            </a:r>
          </a:p>
          <a:p>
            <a:pPr lvl="1">
              <a:lnSpc>
                <a:spcPct val="80000"/>
              </a:lnSpc>
            </a:pPr>
            <a:r>
              <a:rPr lang="en-US" sz="2000">
                <a:latin typeface="Arial Narrow" pitchFamily="34" charset="0"/>
              </a:rPr>
              <a:t>May be redundant descriptions of the same process which are not consistently maintained</a:t>
            </a:r>
          </a:p>
          <a:p>
            <a:pPr lvl="1">
              <a:lnSpc>
                <a:spcPct val="80000"/>
              </a:lnSpc>
            </a:pPr>
            <a:r>
              <a:rPr lang="en-US" sz="2000">
                <a:latin typeface="Arial Narrow" pitchFamily="34" charset="0"/>
              </a:rPr>
              <a:t>May represent a technology view rather than a human workflow view</a:t>
            </a:r>
          </a:p>
          <a:p>
            <a:pPr lvl="1">
              <a:lnSpc>
                <a:spcPct val="80000"/>
              </a:lnSpc>
            </a:pPr>
            <a:r>
              <a:rPr lang="en-US" sz="2000">
                <a:latin typeface="Arial Narrow" pitchFamily="34" charset="0"/>
              </a:rPr>
              <a:t>May not describe all of the resources that are required to support a business process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p:txBody>
          <a:bodyPr/>
          <a:lstStyle/>
          <a:p>
            <a:r>
              <a:rPr lang="en-US" sz="3200">
                <a:latin typeface="Arial Narrow" pitchFamily="34" charset="0"/>
              </a:rPr>
              <a:t>Current State – Business Framework</a:t>
            </a:r>
          </a:p>
        </p:txBody>
      </p:sp>
      <p:sp>
        <p:nvSpPr>
          <p:cNvPr id="371715" name="Rectangle 3"/>
          <p:cNvSpPr>
            <a:spLocks noGrp="1" noChangeArrowheads="1"/>
          </p:cNvSpPr>
          <p:nvPr>
            <p:ph type="body" idx="1"/>
          </p:nvPr>
        </p:nvSpPr>
        <p:spPr>
          <a:xfrm>
            <a:off x="457200" y="1828800"/>
            <a:ext cx="8229600" cy="4724400"/>
          </a:xfrm>
        </p:spPr>
        <p:txBody>
          <a:bodyPr/>
          <a:lstStyle/>
          <a:p>
            <a:pPr>
              <a:lnSpc>
                <a:spcPct val="80000"/>
              </a:lnSpc>
            </a:pPr>
            <a:r>
              <a:rPr lang="en-US" sz="1800">
                <a:latin typeface="Tahoma" pitchFamily="34" charset="0"/>
              </a:rPr>
              <a:t>For example, there are currently several high level schemes in use throughout the Bank – </a:t>
            </a:r>
          </a:p>
          <a:p>
            <a:pPr>
              <a:lnSpc>
                <a:spcPct val="80000"/>
              </a:lnSpc>
            </a:pPr>
            <a:endParaRPr lang="en-US" sz="1800">
              <a:latin typeface="Tahoma" pitchFamily="34" charset="0"/>
            </a:endParaRPr>
          </a:p>
          <a:p>
            <a:pPr lvl="1">
              <a:lnSpc>
                <a:spcPct val="80000"/>
              </a:lnSpc>
            </a:pPr>
            <a:r>
              <a:rPr lang="en-US" sz="1600">
                <a:latin typeface="Tahoma" pitchFamily="34" charset="0"/>
              </a:rPr>
              <a:t>Accounting framework (Controllers’ – budget and expenditures)</a:t>
            </a:r>
          </a:p>
          <a:p>
            <a:pPr lvl="1">
              <a:lnSpc>
                <a:spcPct val="80000"/>
              </a:lnSpc>
            </a:pPr>
            <a:r>
              <a:rPr lang="en-US" sz="1600">
                <a:latin typeface="Tahoma" pitchFamily="34" charset="0"/>
              </a:rPr>
              <a:t>Records management framework (BRCS, Archives Fonds – organizational history)</a:t>
            </a:r>
          </a:p>
          <a:p>
            <a:pPr lvl="1">
              <a:lnSpc>
                <a:spcPct val="80000"/>
              </a:lnSpc>
            </a:pPr>
            <a:r>
              <a:rPr lang="en-US" sz="1600">
                <a:latin typeface="Tahoma" pitchFamily="34" charset="0"/>
              </a:rPr>
              <a:t>IT-Business framework  (application-focused)</a:t>
            </a:r>
          </a:p>
          <a:p>
            <a:pPr lvl="1">
              <a:lnSpc>
                <a:spcPct val="80000"/>
              </a:lnSpc>
            </a:pPr>
            <a:r>
              <a:rPr lang="en-US" sz="1600">
                <a:latin typeface="Tahoma" pitchFamily="34" charset="0"/>
              </a:rPr>
              <a:t>Business continuity framework (core processes and critical incident)</a:t>
            </a:r>
          </a:p>
          <a:p>
            <a:pPr lvl="1">
              <a:lnSpc>
                <a:spcPct val="80000"/>
              </a:lnSpc>
            </a:pPr>
            <a:r>
              <a:rPr lang="en-US" sz="1600">
                <a:latin typeface="Tahoma" pitchFamily="34" charset="0"/>
              </a:rPr>
              <a:t>Business definitions in administrative, policy and procedures manuals (business operations)</a:t>
            </a:r>
          </a:p>
          <a:p>
            <a:pPr>
              <a:lnSpc>
                <a:spcPct val="80000"/>
              </a:lnSpc>
            </a:pPr>
            <a:endParaRPr lang="en-US" sz="1800">
              <a:latin typeface="Tahoma" pitchFamily="34" charset="0"/>
            </a:endParaRPr>
          </a:p>
          <a:p>
            <a:pPr>
              <a:lnSpc>
                <a:spcPct val="80000"/>
              </a:lnSpc>
            </a:pPr>
            <a:r>
              <a:rPr lang="en-US" sz="1800">
                <a:latin typeface="Tahoma" pitchFamily="34" charset="0"/>
              </a:rPr>
              <a:t>Each scheme represents a resource viewpoint, though none serves as a baseline for comprehensively aligning resources to end-to-end busienss processes</a:t>
            </a:r>
          </a:p>
          <a:p>
            <a:pPr>
              <a:lnSpc>
                <a:spcPct val="80000"/>
              </a:lnSpc>
            </a:pPr>
            <a:endParaRPr lang="en-US" sz="1800">
              <a:latin typeface="Tahoma" pitchFamily="34" charset="0"/>
            </a:endParaRPr>
          </a:p>
          <a:p>
            <a:pPr>
              <a:lnSpc>
                <a:spcPct val="80000"/>
              </a:lnSpc>
            </a:pPr>
            <a:r>
              <a:rPr lang="en-US" sz="1800">
                <a:latin typeface="Tahoma" pitchFamily="34" charset="0"/>
              </a:rPr>
              <a:t>We propose a new framework which will allow us to harmonize these views – this framework takes the form of an organizational business taxonomy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304800" y="0"/>
            <a:ext cx="8540750" cy="914400"/>
          </a:xfrm>
        </p:spPr>
        <p:txBody>
          <a:bodyPr/>
          <a:lstStyle/>
          <a:p>
            <a:r>
              <a:rPr lang="en-US" sz="3200">
                <a:latin typeface="Arial Narrow" pitchFamily="34" charset="0"/>
              </a:rPr>
              <a:t>Business Framework</a:t>
            </a:r>
          </a:p>
        </p:txBody>
      </p:sp>
      <p:sp>
        <p:nvSpPr>
          <p:cNvPr id="50179" name="AutoShape 3"/>
          <p:cNvSpPr>
            <a:spLocks noChangeArrowheads="1"/>
          </p:cNvSpPr>
          <p:nvPr/>
        </p:nvSpPr>
        <p:spPr bwMode="auto">
          <a:xfrm>
            <a:off x="8229600" y="685800"/>
            <a:ext cx="609600" cy="5105400"/>
          </a:xfrm>
          <a:prstGeom prst="upDownArrow">
            <a:avLst>
              <a:gd name="adj1" fmla="val 50000"/>
              <a:gd name="adj2" fmla="val 167500"/>
            </a:avLst>
          </a:prstGeom>
          <a:solidFill>
            <a:schemeClr val="accent1"/>
          </a:solidFill>
          <a:ln w="9525">
            <a:solidFill>
              <a:schemeClr val="tx1"/>
            </a:solidFill>
            <a:miter lim="800000"/>
            <a:headEnd/>
            <a:tailEnd/>
          </a:ln>
          <a:effectLst/>
        </p:spPr>
        <p:txBody>
          <a:bodyPr vert="eaVert" wrap="none" anchor="ctr"/>
          <a:lstStyle/>
          <a:p>
            <a:pPr algn="ctr" eaLnBrk="1" hangingPunct="1"/>
            <a:r>
              <a:rPr lang="en-US" sz="1200">
                <a:cs typeface="Arial" charset="0"/>
              </a:rPr>
              <a:t>Strategic Alignment and Aggregation</a:t>
            </a:r>
          </a:p>
        </p:txBody>
      </p:sp>
      <p:sp>
        <p:nvSpPr>
          <p:cNvPr id="50180" name="AutoShape 4"/>
          <p:cNvSpPr>
            <a:spLocks noChangeArrowheads="1"/>
          </p:cNvSpPr>
          <p:nvPr/>
        </p:nvSpPr>
        <p:spPr bwMode="auto">
          <a:xfrm>
            <a:off x="381000" y="5791200"/>
            <a:ext cx="6400800" cy="533400"/>
          </a:xfrm>
          <a:prstGeom prst="leftRightArrow">
            <a:avLst>
              <a:gd name="adj1" fmla="val 50000"/>
              <a:gd name="adj2" fmla="val 240000"/>
            </a:avLst>
          </a:prstGeom>
          <a:solidFill>
            <a:schemeClr val="accent1"/>
          </a:solidFill>
          <a:ln w="9525">
            <a:solidFill>
              <a:schemeClr val="tx1"/>
            </a:solidFill>
            <a:miter lim="800000"/>
            <a:headEnd/>
            <a:tailEnd/>
          </a:ln>
          <a:effectLst/>
        </p:spPr>
        <p:txBody>
          <a:bodyPr wrap="none" anchor="ctr"/>
          <a:lstStyle/>
          <a:p>
            <a:pPr algn="ctr" eaLnBrk="1" hangingPunct="1"/>
            <a:r>
              <a:rPr lang="en-US" sz="1400">
                <a:cs typeface="Arial" charset="0"/>
              </a:rPr>
              <a:t>End to End Primary Business Activities</a:t>
            </a:r>
          </a:p>
        </p:txBody>
      </p:sp>
      <p:sp>
        <p:nvSpPr>
          <p:cNvPr id="50205" name="AutoShape 29"/>
          <p:cNvSpPr>
            <a:spLocks noChangeArrowheads="1"/>
          </p:cNvSpPr>
          <p:nvPr/>
        </p:nvSpPr>
        <p:spPr bwMode="auto">
          <a:xfrm>
            <a:off x="304800" y="1219200"/>
            <a:ext cx="6400800" cy="3962400"/>
          </a:xfrm>
          <a:prstGeom prst="triangle">
            <a:avLst>
              <a:gd name="adj" fmla="val 50000"/>
            </a:avLst>
          </a:prstGeom>
          <a:solidFill>
            <a:srgbClr val="FFFFCC"/>
          </a:solidFill>
          <a:ln w="9525">
            <a:solidFill>
              <a:schemeClr val="tx1"/>
            </a:solidFill>
            <a:miter lim="800000"/>
            <a:headEnd/>
            <a:tailEnd/>
          </a:ln>
          <a:effectLst/>
        </p:spPr>
        <p:txBody>
          <a:bodyPr wrap="none" anchor="ctr"/>
          <a:lstStyle/>
          <a:p>
            <a:pPr algn="ctr" eaLnBrk="1" hangingPunct="1"/>
            <a:endParaRPr lang="en-US"/>
          </a:p>
        </p:txBody>
      </p:sp>
      <p:sp>
        <p:nvSpPr>
          <p:cNvPr id="50206" name="Line 30"/>
          <p:cNvSpPr>
            <a:spLocks noChangeShapeType="1"/>
          </p:cNvSpPr>
          <p:nvPr/>
        </p:nvSpPr>
        <p:spPr bwMode="auto">
          <a:xfrm>
            <a:off x="838200" y="4572000"/>
            <a:ext cx="5486400" cy="0"/>
          </a:xfrm>
          <a:prstGeom prst="line">
            <a:avLst/>
          </a:prstGeom>
          <a:noFill/>
          <a:ln w="9525">
            <a:solidFill>
              <a:schemeClr val="tx1"/>
            </a:solidFill>
            <a:round/>
            <a:headEnd/>
            <a:tailEnd/>
          </a:ln>
          <a:effectLst/>
        </p:spPr>
        <p:txBody>
          <a:bodyPr/>
          <a:lstStyle/>
          <a:p>
            <a:endParaRPr lang="en-US"/>
          </a:p>
        </p:txBody>
      </p:sp>
      <p:sp>
        <p:nvSpPr>
          <p:cNvPr id="50208" name="Text Box 32"/>
          <p:cNvSpPr txBox="1">
            <a:spLocks noChangeArrowheads="1"/>
          </p:cNvSpPr>
          <p:nvPr/>
        </p:nvSpPr>
        <p:spPr bwMode="auto">
          <a:xfrm>
            <a:off x="1976438" y="4768850"/>
            <a:ext cx="2600325" cy="336550"/>
          </a:xfrm>
          <a:prstGeom prst="rect">
            <a:avLst/>
          </a:prstGeom>
          <a:noFill/>
          <a:ln w="9525">
            <a:noFill/>
            <a:miter lim="800000"/>
            <a:headEnd/>
            <a:tailEnd/>
          </a:ln>
          <a:effectLst/>
        </p:spPr>
        <p:txBody>
          <a:bodyPr wrap="none">
            <a:spAutoFit/>
          </a:bodyPr>
          <a:lstStyle/>
          <a:p>
            <a:pPr eaLnBrk="1" hangingPunct="1"/>
            <a:r>
              <a:rPr lang="en-US" sz="1600"/>
              <a:t>Business Subprocess and Tasks</a:t>
            </a:r>
          </a:p>
        </p:txBody>
      </p:sp>
      <p:sp>
        <p:nvSpPr>
          <p:cNvPr id="50209" name="Text Box 33"/>
          <p:cNvSpPr txBox="1">
            <a:spLocks noChangeArrowheads="1"/>
          </p:cNvSpPr>
          <p:nvPr/>
        </p:nvSpPr>
        <p:spPr bwMode="auto">
          <a:xfrm>
            <a:off x="2408238" y="3886200"/>
            <a:ext cx="1685925" cy="336550"/>
          </a:xfrm>
          <a:prstGeom prst="rect">
            <a:avLst/>
          </a:prstGeom>
          <a:noFill/>
          <a:ln w="9525">
            <a:noFill/>
            <a:miter lim="800000"/>
            <a:headEnd/>
            <a:tailEnd/>
          </a:ln>
          <a:effectLst/>
        </p:spPr>
        <p:txBody>
          <a:bodyPr wrap="none">
            <a:spAutoFit/>
          </a:bodyPr>
          <a:lstStyle/>
          <a:p>
            <a:pPr eaLnBrk="1" hangingPunct="1"/>
            <a:r>
              <a:rPr lang="en-US" sz="1600"/>
              <a:t>Business Processes</a:t>
            </a:r>
          </a:p>
        </p:txBody>
      </p:sp>
      <p:sp>
        <p:nvSpPr>
          <p:cNvPr id="50210" name="Line 34"/>
          <p:cNvSpPr>
            <a:spLocks noChangeShapeType="1"/>
          </p:cNvSpPr>
          <p:nvPr/>
        </p:nvSpPr>
        <p:spPr bwMode="auto">
          <a:xfrm>
            <a:off x="1600200" y="3581400"/>
            <a:ext cx="3733800" cy="0"/>
          </a:xfrm>
          <a:prstGeom prst="line">
            <a:avLst/>
          </a:prstGeom>
          <a:noFill/>
          <a:ln w="9525">
            <a:solidFill>
              <a:schemeClr val="tx1"/>
            </a:solidFill>
            <a:round/>
            <a:headEnd/>
            <a:tailEnd/>
          </a:ln>
          <a:effectLst/>
        </p:spPr>
        <p:txBody>
          <a:bodyPr/>
          <a:lstStyle/>
          <a:p>
            <a:endParaRPr lang="en-US"/>
          </a:p>
        </p:txBody>
      </p:sp>
      <p:sp>
        <p:nvSpPr>
          <p:cNvPr id="50211" name="Text Box 35"/>
          <p:cNvSpPr txBox="1">
            <a:spLocks noChangeArrowheads="1"/>
          </p:cNvSpPr>
          <p:nvPr/>
        </p:nvSpPr>
        <p:spPr bwMode="auto">
          <a:xfrm>
            <a:off x="2514600" y="2940050"/>
            <a:ext cx="1487488" cy="336550"/>
          </a:xfrm>
          <a:prstGeom prst="rect">
            <a:avLst/>
          </a:prstGeom>
          <a:noFill/>
          <a:ln w="9525">
            <a:noFill/>
            <a:miter lim="800000"/>
            <a:headEnd/>
            <a:tailEnd/>
          </a:ln>
          <a:effectLst/>
        </p:spPr>
        <p:txBody>
          <a:bodyPr wrap="none">
            <a:spAutoFit/>
          </a:bodyPr>
          <a:lstStyle/>
          <a:p>
            <a:pPr eaLnBrk="1" hangingPunct="1"/>
            <a:r>
              <a:rPr lang="en-US" sz="1600"/>
              <a:t>Lines of Business</a:t>
            </a:r>
          </a:p>
        </p:txBody>
      </p:sp>
      <p:sp>
        <p:nvSpPr>
          <p:cNvPr id="50212" name="Text Box 36"/>
          <p:cNvSpPr txBox="1">
            <a:spLocks noChangeArrowheads="1"/>
          </p:cNvSpPr>
          <p:nvPr/>
        </p:nvSpPr>
        <p:spPr bwMode="auto">
          <a:xfrm>
            <a:off x="2667000" y="2178050"/>
            <a:ext cx="1341438" cy="336550"/>
          </a:xfrm>
          <a:prstGeom prst="rect">
            <a:avLst/>
          </a:prstGeom>
          <a:noFill/>
          <a:ln w="9525">
            <a:noFill/>
            <a:miter lim="800000"/>
            <a:headEnd/>
            <a:tailEnd/>
          </a:ln>
          <a:effectLst/>
        </p:spPr>
        <p:txBody>
          <a:bodyPr wrap="none">
            <a:spAutoFit/>
          </a:bodyPr>
          <a:lstStyle/>
          <a:p>
            <a:pPr eaLnBrk="1" hangingPunct="1"/>
            <a:r>
              <a:rPr lang="en-US" sz="1600"/>
              <a:t>Business Areas</a:t>
            </a:r>
          </a:p>
        </p:txBody>
      </p:sp>
      <p:sp>
        <p:nvSpPr>
          <p:cNvPr id="50213" name="Line 37"/>
          <p:cNvSpPr>
            <a:spLocks noChangeShapeType="1"/>
          </p:cNvSpPr>
          <p:nvPr/>
        </p:nvSpPr>
        <p:spPr bwMode="auto">
          <a:xfrm>
            <a:off x="2362200" y="2590800"/>
            <a:ext cx="2209800" cy="0"/>
          </a:xfrm>
          <a:prstGeom prst="line">
            <a:avLst/>
          </a:prstGeom>
          <a:noFill/>
          <a:ln w="9525">
            <a:solidFill>
              <a:schemeClr val="tx1"/>
            </a:solidFill>
            <a:round/>
            <a:headEnd/>
            <a:tailEnd/>
          </a:ln>
          <a:effectLst/>
        </p:spPr>
        <p:txBody>
          <a:bodyPr/>
          <a:lstStyle/>
          <a:p>
            <a:endParaRPr lang="en-US"/>
          </a:p>
        </p:txBody>
      </p:sp>
      <p:sp>
        <p:nvSpPr>
          <p:cNvPr id="50214" name="Text Box 38"/>
          <p:cNvSpPr txBox="1">
            <a:spLocks noChangeArrowheads="1"/>
          </p:cNvSpPr>
          <p:nvPr/>
        </p:nvSpPr>
        <p:spPr bwMode="auto">
          <a:xfrm rot="-2238643">
            <a:off x="4081463" y="1349375"/>
            <a:ext cx="2212975" cy="457200"/>
          </a:xfrm>
          <a:prstGeom prst="rect">
            <a:avLst/>
          </a:prstGeom>
          <a:noFill/>
          <a:ln w="9525">
            <a:noFill/>
            <a:miter lim="800000"/>
            <a:headEnd/>
            <a:tailEnd/>
          </a:ln>
          <a:effectLst/>
        </p:spPr>
        <p:txBody>
          <a:bodyPr wrap="none">
            <a:spAutoFit/>
          </a:bodyPr>
          <a:lstStyle/>
          <a:p>
            <a:pPr eaLnBrk="1" hangingPunct="1"/>
            <a:r>
              <a:rPr lang="en-US" sz="1200"/>
              <a:t>Operations</a:t>
            </a:r>
          </a:p>
          <a:p>
            <a:pPr eaLnBrk="1" hangingPunct="1"/>
            <a:r>
              <a:rPr lang="en-US" sz="1200"/>
              <a:t>Financial Administrative &amp; Corporate</a:t>
            </a:r>
          </a:p>
        </p:txBody>
      </p:sp>
      <p:sp>
        <p:nvSpPr>
          <p:cNvPr id="50215" name="Text Box 39"/>
          <p:cNvSpPr txBox="1">
            <a:spLocks noChangeArrowheads="1"/>
          </p:cNvSpPr>
          <p:nvPr/>
        </p:nvSpPr>
        <p:spPr bwMode="auto">
          <a:xfrm rot="-2238643">
            <a:off x="4762500" y="2171700"/>
            <a:ext cx="1903413" cy="457200"/>
          </a:xfrm>
          <a:prstGeom prst="rect">
            <a:avLst/>
          </a:prstGeom>
          <a:noFill/>
          <a:ln w="9525">
            <a:noFill/>
            <a:miter lim="800000"/>
            <a:headEnd/>
            <a:tailEnd/>
          </a:ln>
          <a:effectLst/>
        </p:spPr>
        <p:txBody>
          <a:bodyPr wrap="none">
            <a:spAutoFit/>
          </a:bodyPr>
          <a:lstStyle/>
          <a:p>
            <a:pPr eaLnBrk="1" hangingPunct="1"/>
            <a:r>
              <a:rPr lang="en-US" sz="1200"/>
              <a:t>Lending</a:t>
            </a:r>
          </a:p>
          <a:p>
            <a:pPr eaLnBrk="1" hangingPunct="1"/>
            <a:r>
              <a:rPr lang="en-US" sz="1200"/>
              <a:t>Analytic and Advisory Activities</a:t>
            </a:r>
          </a:p>
        </p:txBody>
      </p:sp>
      <p:sp>
        <p:nvSpPr>
          <p:cNvPr id="50216" name="Text Box 40"/>
          <p:cNvSpPr txBox="1">
            <a:spLocks noChangeArrowheads="1"/>
          </p:cNvSpPr>
          <p:nvPr/>
        </p:nvSpPr>
        <p:spPr bwMode="auto">
          <a:xfrm rot="-2238643">
            <a:off x="5710238" y="3106738"/>
            <a:ext cx="1309687" cy="1004887"/>
          </a:xfrm>
          <a:prstGeom prst="rect">
            <a:avLst/>
          </a:prstGeom>
          <a:noFill/>
          <a:ln w="9525">
            <a:noFill/>
            <a:miter lim="800000"/>
            <a:headEnd/>
            <a:tailEnd/>
          </a:ln>
          <a:effectLst/>
        </p:spPr>
        <p:txBody>
          <a:bodyPr wrap="none">
            <a:spAutoFit/>
          </a:bodyPr>
          <a:lstStyle/>
          <a:p>
            <a:pPr eaLnBrk="1" hangingPunct="1"/>
            <a:r>
              <a:rPr lang="en-US" sz="1200"/>
              <a:t>Project Identification</a:t>
            </a:r>
          </a:p>
          <a:p>
            <a:pPr eaLnBrk="1" hangingPunct="1"/>
            <a:r>
              <a:rPr lang="en-US" sz="1200"/>
              <a:t>Project Preparation</a:t>
            </a:r>
          </a:p>
          <a:p>
            <a:pPr eaLnBrk="1" hangingPunct="1"/>
            <a:r>
              <a:rPr lang="en-US" sz="1200"/>
              <a:t>Project Appraisal</a:t>
            </a:r>
          </a:p>
          <a:p>
            <a:pPr eaLnBrk="1" hangingPunct="1"/>
            <a:r>
              <a:rPr lang="en-US" sz="1200"/>
              <a:t>Project Negotiation</a:t>
            </a:r>
          </a:p>
          <a:p>
            <a:pPr eaLnBrk="1" hangingPunct="1"/>
            <a:r>
              <a:rPr lang="en-US" sz="1200"/>
              <a:t>Project Approval</a:t>
            </a:r>
          </a:p>
        </p:txBody>
      </p:sp>
      <p:sp>
        <p:nvSpPr>
          <p:cNvPr id="50217" name="Text Box 41"/>
          <p:cNvSpPr txBox="1">
            <a:spLocks noChangeArrowheads="1"/>
          </p:cNvSpPr>
          <p:nvPr/>
        </p:nvSpPr>
        <p:spPr bwMode="auto">
          <a:xfrm rot="-2170507">
            <a:off x="6503988" y="4110038"/>
            <a:ext cx="1573212" cy="1004887"/>
          </a:xfrm>
          <a:prstGeom prst="rect">
            <a:avLst/>
          </a:prstGeom>
          <a:noFill/>
          <a:ln w="9525">
            <a:noFill/>
            <a:miter lim="800000"/>
            <a:headEnd/>
            <a:tailEnd/>
          </a:ln>
          <a:effectLst/>
        </p:spPr>
        <p:txBody>
          <a:bodyPr wrap="none">
            <a:spAutoFit/>
          </a:bodyPr>
          <a:lstStyle/>
          <a:p>
            <a:pPr eaLnBrk="1" hangingPunct="1"/>
            <a:r>
              <a:rPr lang="en-US" sz="1200"/>
              <a:t>Prepare AIS in SAP</a:t>
            </a:r>
          </a:p>
          <a:p>
            <a:pPr eaLnBrk="1" hangingPunct="1"/>
            <a:r>
              <a:rPr lang="en-US" sz="1200"/>
              <a:t>Prepare SMO</a:t>
            </a:r>
          </a:p>
          <a:p>
            <a:pPr eaLnBrk="1" hangingPunct="1"/>
            <a:r>
              <a:rPr lang="en-US" sz="1200"/>
              <a:t>Prepare PCN, PID, ISDS</a:t>
            </a:r>
          </a:p>
          <a:p>
            <a:pPr eaLnBrk="1" hangingPunct="1"/>
            <a:r>
              <a:rPr lang="en-US" sz="1200"/>
              <a:t>PCN Review Meeting</a:t>
            </a:r>
          </a:p>
          <a:p>
            <a:pPr eaLnBrk="1" hangingPunct="1"/>
            <a:r>
              <a:rPr lang="en-US" sz="1200"/>
              <a:t>ROC and/or OC review</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p:txBody>
          <a:bodyPr/>
          <a:lstStyle/>
          <a:p>
            <a:r>
              <a:rPr lang="en-US" sz="3200">
                <a:latin typeface="Arial Narrow" pitchFamily="34" charset="0"/>
              </a:rPr>
              <a:t>Bank’s Business Framework </a:t>
            </a:r>
          </a:p>
        </p:txBody>
      </p:sp>
      <p:sp>
        <p:nvSpPr>
          <p:cNvPr id="328707" name="Rectangle 3"/>
          <p:cNvSpPr>
            <a:spLocks noGrp="1" noChangeArrowheads="1"/>
          </p:cNvSpPr>
          <p:nvPr>
            <p:ph type="body" idx="1"/>
          </p:nvPr>
        </p:nvSpPr>
        <p:spPr>
          <a:xfrm>
            <a:off x="301625" y="1828800"/>
            <a:ext cx="8540750" cy="5029200"/>
          </a:xfrm>
        </p:spPr>
        <p:txBody>
          <a:bodyPr/>
          <a:lstStyle/>
          <a:p>
            <a:pPr>
              <a:lnSpc>
                <a:spcPct val="80000"/>
              </a:lnSpc>
            </a:pPr>
            <a:r>
              <a:rPr lang="en-US" sz="1800" b="1">
                <a:latin typeface="Arial Narrow" pitchFamily="34" charset="0"/>
              </a:rPr>
              <a:t>Level 1:  Business Areas</a:t>
            </a:r>
          </a:p>
          <a:p>
            <a:pPr lvl="1">
              <a:lnSpc>
                <a:spcPct val="80000"/>
              </a:lnSpc>
            </a:pPr>
            <a:r>
              <a:rPr lang="en-US" sz="1800">
                <a:latin typeface="Arial Narrow" pitchFamily="34" charset="0"/>
              </a:rPr>
              <a:t>High level aggregation which distinguishes primary and support activities, and which is aligned with organization’s strategy and performance goals </a:t>
            </a:r>
            <a:r>
              <a:rPr lang="en-US" sz="1800">
                <a:solidFill>
                  <a:srgbClr val="0000FF"/>
                </a:solidFill>
                <a:latin typeface="Arial Narrow" pitchFamily="34" charset="0"/>
              </a:rPr>
              <a:t>[Example:  Operations]</a:t>
            </a:r>
          </a:p>
          <a:p>
            <a:pPr lvl="1">
              <a:lnSpc>
                <a:spcPct val="80000"/>
              </a:lnSpc>
              <a:buFont typeface="Wingdings" pitchFamily="2" charset="2"/>
              <a:buNone/>
            </a:pPr>
            <a:endParaRPr lang="en-US" sz="1600">
              <a:solidFill>
                <a:schemeClr val="folHlink"/>
              </a:solidFill>
              <a:latin typeface="Arial Narrow" pitchFamily="34" charset="0"/>
            </a:endParaRPr>
          </a:p>
          <a:p>
            <a:pPr>
              <a:lnSpc>
                <a:spcPct val="80000"/>
              </a:lnSpc>
            </a:pPr>
            <a:r>
              <a:rPr lang="en-US" sz="1800" b="1">
                <a:latin typeface="Arial Narrow" pitchFamily="34" charset="0"/>
              </a:rPr>
              <a:t>Level 2:  Lines of Business</a:t>
            </a:r>
          </a:p>
          <a:p>
            <a:pPr lvl="1">
              <a:lnSpc>
                <a:spcPct val="80000"/>
              </a:lnSpc>
            </a:pPr>
            <a:r>
              <a:rPr lang="en-US" sz="1800">
                <a:latin typeface="Arial Narrow" pitchFamily="34" charset="0"/>
              </a:rPr>
              <a:t>Set of one or more linked business processes which collectively define a line of products and services </a:t>
            </a:r>
            <a:r>
              <a:rPr lang="en-US" sz="1800">
                <a:solidFill>
                  <a:srgbClr val="0000FF"/>
                </a:solidFill>
                <a:latin typeface="Arial Narrow" pitchFamily="34" charset="0"/>
              </a:rPr>
              <a:t>[Example:  Lending]</a:t>
            </a:r>
          </a:p>
          <a:p>
            <a:pPr lvl="1">
              <a:lnSpc>
                <a:spcPct val="80000"/>
              </a:lnSpc>
            </a:pPr>
            <a:r>
              <a:rPr lang="en-US" sz="1800">
                <a:latin typeface="Arial Narrow" pitchFamily="34" charset="0"/>
              </a:rPr>
              <a:t>Provides a level of aggregation which is valuable for evaluation and monitoring but not sufficiently granular to enable business process management</a:t>
            </a:r>
          </a:p>
          <a:p>
            <a:pPr>
              <a:lnSpc>
                <a:spcPct val="80000"/>
              </a:lnSpc>
            </a:pPr>
            <a:endParaRPr lang="en-US" sz="1800">
              <a:latin typeface="Arial Narrow" pitchFamily="34" charset="0"/>
            </a:endParaRPr>
          </a:p>
          <a:p>
            <a:pPr>
              <a:lnSpc>
                <a:spcPct val="80000"/>
              </a:lnSpc>
            </a:pPr>
            <a:r>
              <a:rPr lang="en-US" sz="1800" b="1">
                <a:latin typeface="Arial Narrow" pitchFamily="34" charset="0"/>
              </a:rPr>
              <a:t>Level 3:  Business Process</a:t>
            </a:r>
            <a:endParaRPr lang="en-US" sz="1800">
              <a:latin typeface="Arial Narrow" pitchFamily="34" charset="0"/>
            </a:endParaRPr>
          </a:p>
          <a:p>
            <a:pPr lvl="1">
              <a:lnSpc>
                <a:spcPct val="80000"/>
              </a:lnSpc>
            </a:pPr>
            <a:r>
              <a:rPr lang="en-US" sz="1800">
                <a:latin typeface="Arial Narrow" pitchFamily="34" charset="0"/>
              </a:rPr>
              <a:t>End-to-end description of a process which is comprised of a series of steps or tasks that have defined conditions triggering its initiation and defined outcomes/outputs at its completion </a:t>
            </a:r>
            <a:r>
              <a:rPr lang="en-US" sz="1800">
                <a:solidFill>
                  <a:srgbClr val="0000FF"/>
                </a:solidFill>
                <a:latin typeface="Arial Narrow" pitchFamily="34" charset="0"/>
              </a:rPr>
              <a:t>[Example:  Project Appraisal]</a:t>
            </a:r>
          </a:p>
          <a:p>
            <a:pPr>
              <a:lnSpc>
                <a:spcPct val="80000"/>
              </a:lnSpc>
            </a:pPr>
            <a:endParaRPr lang="en-US" sz="1800">
              <a:latin typeface="Arial Narrow" pitchFamily="34" charset="0"/>
            </a:endParaRPr>
          </a:p>
          <a:p>
            <a:pPr>
              <a:lnSpc>
                <a:spcPct val="80000"/>
              </a:lnSpc>
            </a:pPr>
            <a:r>
              <a:rPr lang="en-US" sz="1800" b="1">
                <a:latin typeface="Arial Narrow" pitchFamily="34" charset="0"/>
              </a:rPr>
              <a:t>Level 4:  Business Subprocesses and Tasks</a:t>
            </a:r>
          </a:p>
          <a:p>
            <a:pPr lvl="1">
              <a:lnSpc>
                <a:spcPct val="80000"/>
              </a:lnSpc>
            </a:pPr>
            <a:r>
              <a:rPr lang="en-US" sz="1800">
                <a:latin typeface="Arial Narrow" pitchFamily="34" charset="0"/>
              </a:rPr>
              <a:t>Individual tasks which make up a process, or a group of tasks which is enacted or called from another (initiating) process (or subprocess), and which forms part of the overall process </a:t>
            </a:r>
            <a:r>
              <a:rPr lang="en-US" sz="1800">
                <a:solidFill>
                  <a:srgbClr val="0000FF"/>
                </a:solidFill>
                <a:latin typeface="Arial Narrow" pitchFamily="34" charset="0"/>
              </a:rPr>
              <a:t>[Example:  Draft Aide Memoire]</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457200" y="0"/>
            <a:ext cx="8016875" cy="868363"/>
          </a:xfrm>
        </p:spPr>
        <p:txBody>
          <a:bodyPr/>
          <a:lstStyle/>
          <a:p>
            <a:r>
              <a:rPr lang="en-US" sz="2800">
                <a:latin typeface="Arial Narrow" pitchFamily="34" charset="0"/>
              </a:rPr>
              <a:t>How to Determine if it is a …..</a:t>
            </a:r>
          </a:p>
        </p:txBody>
      </p:sp>
      <p:graphicFrame>
        <p:nvGraphicFramePr>
          <p:cNvPr id="55366" name="Group 70"/>
          <p:cNvGraphicFramePr>
            <a:graphicFrameLocks noGrp="1"/>
          </p:cNvGraphicFramePr>
          <p:nvPr>
            <p:ph type="tbl" idx="1"/>
          </p:nvPr>
        </p:nvGraphicFramePr>
        <p:xfrm>
          <a:off x="304800" y="1143000"/>
          <a:ext cx="8610600" cy="5687378"/>
        </p:xfrm>
        <a:graphic>
          <a:graphicData uri="http://schemas.openxmlformats.org/drawingml/2006/table">
            <a:tbl>
              <a:tblPr/>
              <a:tblGrid>
                <a:gridCol w="2374900"/>
                <a:gridCol w="2746375"/>
                <a:gridCol w="3489325"/>
              </a:tblGrid>
              <a:tr h="4032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1" i="1" u="none" strike="noStrike" cap="none" normalizeH="0" baseline="0" smtClean="0">
                          <a:ln>
                            <a:noFill/>
                          </a:ln>
                          <a:solidFill>
                            <a:srgbClr val="0000FF"/>
                          </a:solidFill>
                          <a:effectLst/>
                          <a:latin typeface="Arial Narrow" pitchFamily="34" charset="0"/>
                        </a:rPr>
                        <a:t>Criteria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1" i="0" u="none" strike="noStrike" cap="none" normalizeH="0" baseline="0" smtClean="0">
                          <a:ln>
                            <a:noFill/>
                          </a:ln>
                          <a:solidFill>
                            <a:srgbClr val="0000FF"/>
                          </a:solidFill>
                          <a:effectLst/>
                          <a:latin typeface="Arial Narrow" pitchFamily="34" charset="0"/>
                        </a:rPr>
                        <a:t>Line of Business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1" i="0" u="none" strike="noStrike" cap="none" normalizeH="0" baseline="0" smtClean="0">
                          <a:ln>
                            <a:noFill/>
                          </a:ln>
                          <a:solidFill>
                            <a:srgbClr val="0000FF"/>
                          </a:solidFill>
                          <a:effectLst/>
                          <a:latin typeface="Arial Narrow" pitchFamily="34" charset="0"/>
                        </a:rPr>
                        <a:t>Business Process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6275">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1" i="1" u="none" strike="noStrike" cap="none" normalizeH="0" baseline="0" smtClean="0">
                          <a:ln>
                            <a:noFill/>
                          </a:ln>
                          <a:solidFill>
                            <a:srgbClr val="0000FF"/>
                          </a:solidFill>
                          <a:effectLst/>
                          <a:latin typeface="Arial Narrow" pitchFamily="34" charset="0"/>
                        </a:rPr>
                        <a:t>Definition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There must be an accepted and published definition of the line of business, including all products and services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There must be defined conditions marking the initiation and completion, and a sequence of steps in between.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2000">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1" i="1" u="none" strike="noStrike" cap="none" normalizeH="0" baseline="0" smtClean="0">
                          <a:ln>
                            <a:noFill/>
                          </a:ln>
                          <a:solidFill>
                            <a:srgbClr val="0000FF"/>
                          </a:solidFill>
                          <a:effectLst/>
                          <a:latin typeface="Arial Narrow" pitchFamily="34" charset="0"/>
                        </a:rPr>
                        <a:t>Policies &amp; Governance Processes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There must be defined, institutionally authorized and published policies at the LoB level.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There are institutionally authorized and defined business procedures, events, rules, tiggers and conditions that derive from and implement the LoB policies.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73113">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1" i="1" u="none" strike="noStrike" cap="none" normalizeH="0" baseline="0" smtClean="0">
                          <a:ln>
                            <a:noFill/>
                          </a:ln>
                          <a:solidFill>
                            <a:srgbClr val="0000FF"/>
                          </a:solidFill>
                          <a:effectLst/>
                          <a:latin typeface="Arial Narrow" pitchFamily="34" charset="0"/>
                        </a:rPr>
                        <a:t>Products &amp; Services </a:t>
                      </a:r>
                    </a:p>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1" i="1" u="none" strike="noStrike" cap="none" normalizeH="0" baseline="0" smtClean="0">
                          <a:ln>
                            <a:noFill/>
                          </a:ln>
                          <a:solidFill>
                            <a:srgbClr val="0000FF"/>
                          </a:solidFill>
                          <a:effectLst/>
                          <a:latin typeface="Arial Narrow" pitchFamily="34" charset="0"/>
                        </a:rPr>
                        <a:t>  vs. Inputs &amp; Outputs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The LoB must have defined products, services, outputs and outcomes which are required to sustain the organization.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The Business Process has defined inputs which are converted directly to outputs at the end of the process.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1038">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1" i="1" u="none" strike="noStrike" cap="none" normalizeH="0" baseline="0" smtClean="0">
                          <a:ln>
                            <a:noFill/>
                          </a:ln>
                          <a:solidFill>
                            <a:srgbClr val="0000FF"/>
                          </a:solidFill>
                          <a:effectLst/>
                          <a:latin typeface="Arial Narrow" pitchFamily="34" charset="0"/>
                        </a:rPr>
                        <a:t>Budget vs. Expenditures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The LoB has a defined budget line.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Business process incurs individual expenses which can be tied to tasks or subprocesses, for all types of resources.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1038">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1" i="1" u="none" strike="noStrike" cap="none" normalizeH="0" baseline="0" smtClean="0">
                          <a:ln>
                            <a:noFill/>
                          </a:ln>
                          <a:solidFill>
                            <a:srgbClr val="0000FF"/>
                          </a:solidFill>
                          <a:effectLst/>
                          <a:latin typeface="Arial Narrow" pitchFamily="34" charset="0"/>
                        </a:rPr>
                        <a:t>Risks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There is a known business risk to the organization when it is not available.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Inherits at least the risk rating of the LOB, but may have an elevated risk if the business process must continue regardless of other BPs in the LOB.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6275">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1" i="1" u="none" strike="noStrike" cap="none" normalizeH="0" baseline="0" smtClean="0">
                          <a:ln>
                            <a:noFill/>
                          </a:ln>
                          <a:solidFill>
                            <a:srgbClr val="0000FF"/>
                          </a:solidFill>
                          <a:effectLst/>
                          <a:latin typeface="Arial Narrow" pitchFamily="34" charset="0"/>
                        </a:rPr>
                        <a:t>Service Standards &amp; Metrics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LoB must have defined and published service standards and quality metrics across products and services.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BPs have service standards and quality metrics for individual products and services.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1038">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1" i="1" u="none" strike="noStrike" cap="none" normalizeH="0" baseline="0" smtClean="0">
                          <a:ln>
                            <a:noFill/>
                          </a:ln>
                          <a:solidFill>
                            <a:srgbClr val="0000FF"/>
                          </a:solidFill>
                          <a:effectLst/>
                          <a:latin typeface="Arial Narrow" pitchFamily="34" charset="0"/>
                        </a:rPr>
                        <a:t>Clients &amp; Stakeholders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LoB has defined consumer groups/segments and stakeholders, whether internal or external to the organization.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BPs tracks to specific customers, who receive the products and services at the completion of the process.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457200" y="533400"/>
            <a:ext cx="8229600" cy="762000"/>
          </a:xfrm>
        </p:spPr>
        <p:txBody>
          <a:bodyPr/>
          <a:lstStyle/>
          <a:p>
            <a:r>
              <a:rPr lang="en-US" sz="2800">
                <a:latin typeface="Arial Narrow" pitchFamily="34" charset="0"/>
              </a:rPr>
              <a:t>How to Determine if it is …</a:t>
            </a:r>
          </a:p>
        </p:txBody>
      </p:sp>
      <p:graphicFrame>
        <p:nvGraphicFramePr>
          <p:cNvPr id="56385" name="Group 65"/>
          <p:cNvGraphicFramePr>
            <a:graphicFrameLocks noGrp="1"/>
          </p:cNvGraphicFramePr>
          <p:nvPr>
            <p:ph type="tbl" idx="1"/>
          </p:nvPr>
        </p:nvGraphicFramePr>
        <p:xfrm>
          <a:off x="228600" y="1431925"/>
          <a:ext cx="8686800" cy="4662805"/>
        </p:xfrm>
        <a:graphic>
          <a:graphicData uri="http://schemas.openxmlformats.org/drawingml/2006/table">
            <a:tbl>
              <a:tblPr/>
              <a:tblGrid>
                <a:gridCol w="1905000"/>
                <a:gridCol w="3124200"/>
                <a:gridCol w="3657600"/>
              </a:tblGrid>
              <a:tr h="4413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1" i="1" u="none" strike="noStrike" cap="none" normalizeH="0" baseline="0" smtClean="0">
                          <a:ln>
                            <a:noFill/>
                          </a:ln>
                          <a:solidFill>
                            <a:srgbClr val="0000FF"/>
                          </a:solidFill>
                          <a:effectLst/>
                          <a:latin typeface="Arial Narrow" pitchFamily="34" charset="0"/>
                        </a:rPr>
                        <a:t>Criteria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1" i="0" u="none" strike="noStrike" cap="none" normalizeH="0" baseline="0" smtClean="0">
                          <a:ln>
                            <a:noFill/>
                          </a:ln>
                          <a:solidFill>
                            <a:srgbClr val="0000FF"/>
                          </a:solidFill>
                          <a:effectLst/>
                          <a:latin typeface="Arial Narrow" pitchFamily="34" charset="0"/>
                        </a:rPr>
                        <a:t>Line of Business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1" i="0" u="none" strike="noStrike" cap="none" normalizeH="0" baseline="0" smtClean="0">
                          <a:ln>
                            <a:noFill/>
                          </a:ln>
                          <a:solidFill>
                            <a:srgbClr val="0000FF"/>
                          </a:solidFill>
                          <a:effectLst/>
                          <a:latin typeface="Arial Narrow" pitchFamily="34" charset="0"/>
                        </a:rPr>
                        <a:t>Business Process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2938">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1" i="1" u="none" strike="noStrike" cap="none" normalizeH="0" baseline="0" smtClean="0">
                          <a:ln>
                            <a:noFill/>
                          </a:ln>
                          <a:solidFill>
                            <a:srgbClr val="0000FF"/>
                          </a:solidFill>
                          <a:effectLst/>
                          <a:latin typeface="Arial Narrow" pitchFamily="34" charset="0"/>
                        </a:rPr>
                        <a:t>Human Assets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LoB has associated core competencies, job family and job profiles.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Business processes have people/roles and/or agents assigned to specific steps or subprocesses. Can trace human resources used to perform the business process.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2938">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1" i="1" u="none" strike="noStrike" cap="none" normalizeH="0" baseline="0" smtClean="0">
                          <a:ln>
                            <a:noFill/>
                          </a:ln>
                          <a:solidFill>
                            <a:srgbClr val="0000FF"/>
                          </a:solidFill>
                          <a:effectLst/>
                          <a:latin typeface="Arial Narrow" pitchFamily="34" charset="0"/>
                        </a:rPr>
                        <a:t>Facilities, Technology &amp; Information Assets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Supported by facilities, consume energy, use communications, data, and information to generate outputs and outcomes.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Tracks to specific applications at specific points in the business flow.  Uses and produces known information assets.  Tracks to specific offices and technology expenses to support the people and systems used in the process.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2938">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1" i="1" u="none" strike="noStrike" cap="none" normalizeH="0" baseline="0" smtClean="0">
                          <a:ln>
                            <a:noFill/>
                          </a:ln>
                          <a:solidFill>
                            <a:srgbClr val="0000FF"/>
                          </a:solidFill>
                          <a:effectLst/>
                          <a:latin typeface="Arial Narrow" pitchFamily="34" charset="0"/>
                        </a:rPr>
                        <a:t>Comparable Industrial Sector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Has  comparable economic sector and external competitors, regardless of whether it is a primary or supporting LoB.  LoB may or may not be a primary activity for the institution.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Does not have a comparable industrial sector because it is not at a sector level of categorization.  Inherits this value from the Line of Business.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2938">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1" i="1" u="none" strike="noStrike" cap="none" normalizeH="0" baseline="0" smtClean="0">
                          <a:ln>
                            <a:noFill/>
                          </a:ln>
                          <a:solidFill>
                            <a:srgbClr val="0000FF"/>
                          </a:solidFill>
                          <a:effectLst/>
                          <a:latin typeface="Arial Narrow" pitchFamily="34" charset="0"/>
                        </a:rPr>
                        <a:t>Known Business Processes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Must have one or more associated business processes.  Line of Business can not exist without supporting business processes.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Is comprised of steps that make up a business process.  Has a defined initiation point and a defined completion point. May have business subprocesses but does not include another business process.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2938">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1" i="1" u="none" strike="noStrike" cap="none" normalizeH="0" baseline="0" smtClean="0">
                          <a:ln>
                            <a:noFill/>
                          </a:ln>
                          <a:solidFill>
                            <a:srgbClr val="0000FF"/>
                          </a:solidFill>
                          <a:effectLst/>
                          <a:latin typeface="Arial Narrow" pitchFamily="34" charset="0"/>
                        </a:rPr>
                        <a:t>Business Area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Is aligned with a Business Area as defined by the organization’s strategic and performance contracts.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300" b="0" i="0" u="none" strike="noStrike" cap="none" normalizeH="0" baseline="0" smtClean="0">
                          <a:ln>
                            <a:noFill/>
                          </a:ln>
                          <a:solidFill>
                            <a:schemeClr val="tx1"/>
                          </a:solidFill>
                          <a:effectLst/>
                          <a:latin typeface="Arial Narrow" pitchFamily="34" charset="0"/>
                        </a:rPr>
                        <a:t>Not applicable.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p:cNvSpPr>
            <a:spLocks noGrp="1" noChangeArrowheads="1"/>
          </p:cNvSpPr>
          <p:nvPr>
            <p:ph type="title"/>
          </p:nvPr>
        </p:nvSpPr>
        <p:spPr/>
        <p:txBody>
          <a:bodyPr/>
          <a:lstStyle/>
          <a:p>
            <a:r>
              <a:rPr lang="en-US" sz="3200">
                <a:latin typeface="Arial Narrow" pitchFamily="34" charset="0"/>
              </a:rPr>
              <a:t>Line of Business vs. Business Process</a:t>
            </a:r>
          </a:p>
        </p:txBody>
      </p:sp>
      <p:sp>
        <p:nvSpPr>
          <p:cNvPr id="399363" name="Rectangle 3"/>
          <p:cNvSpPr>
            <a:spLocks noGrp="1" noChangeArrowheads="1"/>
          </p:cNvSpPr>
          <p:nvPr>
            <p:ph type="body" idx="1"/>
          </p:nvPr>
        </p:nvSpPr>
        <p:spPr/>
        <p:txBody>
          <a:bodyPr/>
          <a:lstStyle/>
          <a:p>
            <a:pPr>
              <a:lnSpc>
                <a:spcPct val="90000"/>
              </a:lnSpc>
            </a:pPr>
            <a:r>
              <a:rPr lang="en-US" sz="2400">
                <a:latin typeface="Arial Narrow" pitchFamily="34" charset="0"/>
              </a:rPr>
              <a:t>These terms are often used interchangeably in the business literature but it is important to distinguish them because</a:t>
            </a:r>
          </a:p>
          <a:p>
            <a:pPr lvl="1">
              <a:lnSpc>
                <a:spcPct val="90000"/>
              </a:lnSpc>
            </a:pPr>
            <a:endParaRPr lang="en-US" sz="2400">
              <a:latin typeface="Arial Narrow" pitchFamily="34" charset="0"/>
            </a:endParaRPr>
          </a:p>
          <a:p>
            <a:pPr lvl="1">
              <a:lnSpc>
                <a:spcPct val="90000"/>
              </a:lnSpc>
            </a:pPr>
            <a:r>
              <a:rPr lang="en-US" sz="2400">
                <a:latin typeface="Arial Narrow" pitchFamily="34" charset="0"/>
              </a:rPr>
              <a:t>Line of business is generally one level above where we can do business process management effectively</a:t>
            </a:r>
          </a:p>
          <a:p>
            <a:pPr lvl="1">
              <a:lnSpc>
                <a:spcPct val="90000"/>
              </a:lnSpc>
            </a:pPr>
            <a:endParaRPr lang="en-US" sz="2400">
              <a:latin typeface="Arial Narrow" pitchFamily="34" charset="0"/>
            </a:endParaRPr>
          </a:p>
          <a:p>
            <a:pPr lvl="1">
              <a:lnSpc>
                <a:spcPct val="90000"/>
              </a:lnSpc>
            </a:pPr>
            <a:r>
              <a:rPr lang="en-US" sz="2400">
                <a:latin typeface="Arial Narrow" pitchFamily="34" charset="0"/>
              </a:rPr>
              <a:t>Line of business is comprised of multiple business processes – each of which represents an end-to-end process</a:t>
            </a:r>
          </a:p>
          <a:p>
            <a:pPr>
              <a:lnSpc>
                <a:spcPct val="90000"/>
              </a:lnSpc>
            </a:pPr>
            <a:endParaRPr lang="en-US" sz="2400">
              <a:latin typeface="Arial Narrow" pitchFamily="34" charset="0"/>
            </a:endParaRPr>
          </a:p>
          <a:p>
            <a:pPr>
              <a:lnSpc>
                <a:spcPct val="90000"/>
              </a:lnSpc>
            </a:pPr>
            <a:r>
              <a:rPr lang="en-US" sz="2400">
                <a:latin typeface="Arial Narrow" pitchFamily="34" charset="0"/>
              </a:rPr>
              <a:t>Let’s consider what would happen if we tried to do business process management at the Line of Business level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2"/>
          <p:cNvSpPr>
            <a:spLocks noGrp="1" noChangeArrowheads="1"/>
          </p:cNvSpPr>
          <p:nvPr>
            <p:ph type="title"/>
          </p:nvPr>
        </p:nvSpPr>
        <p:spPr>
          <a:xfrm>
            <a:off x="381000" y="274638"/>
            <a:ext cx="8229600" cy="1143000"/>
          </a:xfrm>
        </p:spPr>
        <p:txBody>
          <a:bodyPr/>
          <a:lstStyle/>
          <a:p>
            <a:r>
              <a:rPr lang="en-US" sz="3200">
                <a:latin typeface="Arial Narrow" pitchFamily="34" charset="0"/>
              </a:rPr>
              <a:t>Business Processes </a:t>
            </a:r>
          </a:p>
        </p:txBody>
      </p:sp>
      <p:sp>
        <p:nvSpPr>
          <p:cNvPr id="415747" name="Rectangle 3"/>
          <p:cNvSpPr>
            <a:spLocks noGrp="1" noChangeArrowheads="1"/>
          </p:cNvSpPr>
          <p:nvPr>
            <p:ph type="body" idx="1"/>
          </p:nvPr>
        </p:nvSpPr>
        <p:spPr>
          <a:xfrm>
            <a:off x="533400" y="1828800"/>
            <a:ext cx="8229600" cy="4572000"/>
          </a:xfrm>
        </p:spPr>
        <p:txBody>
          <a:bodyPr/>
          <a:lstStyle/>
          <a:p>
            <a:pPr marL="457200" indent="-457200">
              <a:lnSpc>
                <a:spcPct val="90000"/>
              </a:lnSpc>
            </a:pPr>
            <a:r>
              <a:rPr lang="en-US" sz="2000">
                <a:latin typeface="Arial Narrow" pitchFamily="34" charset="0"/>
              </a:rPr>
              <a:t>The framework provides us with a structure for harmonizing the Bank’s business knowledge, but we need to look at individual business processes for the detailed business knowledge that will help us achieve our goals</a:t>
            </a:r>
          </a:p>
          <a:p>
            <a:pPr marL="457200" indent="-457200">
              <a:lnSpc>
                <a:spcPct val="90000"/>
              </a:lnSpc>
            </a:pPr>
            <a:endParaRPr lang="en-US" sz="2000">
              <a:latin typeface="Arial Narrow" pitchFamily="34" charset="0"/>
            </a:endParaRPr>
          </a:p>
          <a:p>
            <a:pPr marL="838200" lvl="1" indent="-381000">
              <a:lnSpc>
                <a:spcPct val="90000"/>
              </a:lnSpc>
            </a:pPr>
            <a:r>
              <a:rPr lang="en-US" sz="2000">
                <a:latin typeface="Arial Narrow" pitchFamily="34" charset="0"/>
              </a:rPr>
              <a:t>The top two levels of the framework (business areas and lines of business) provide us with a strategic view of the Bank’s business</a:t>
            </a:r>
          </a:p>
          <a:p>
            <a:pPr marL="457200" indent="-457200">
              <a:lnSpc>
                <a:spcPct val="90000"/>
              </a:lnSpc>
            </a:pPr>
            <a:endParaRPr lang="en-US" sz="2000">
              <a:latin typeface="Arial Narrow" pitchFamily="34" charset="0"/>
            </a:endParaRPr>
          </a:p>
          <a:p>
            <a:pPr marL="838200" lvl="1" indent="-381000">
              <a:lnSpc>
                <a:spcPct val="90000"/>
              </a:lnSpc>
            </a:pPr>
            <a:r>
              <a:rPr lang="en-US" sz="2000">
                <a:latin typeface="Arial Narrow" pitchFamily="34" charset="0"/>
              </a:rPr>
              <a:t>The bottom levels of the framework (processes and subprocesses) provide the business knowledge needed to begin to design a business architecture and to support business process management</a:t>
            </a:r>
          </a:p>
          <a:p>
            <a:pPr marL="457200" indent="-457200">
              <a:lnSpc>
                <a:spcPct val="90000"/>
              </a:lnSpc>
            </a:pPr>
            <a:endParaRPr lang="en-US" sz="2000">
              <a:latin typeface="Arial Narrow" pitchFamily="34" charset="0"/>
            </a:endParaRPr>
          </a:p>
          <a:p>
            <a:pPr marL="457200" indent="-457200">
              <a:lnSpc>
                <a:spcPct val="90000"/>
              </a:lnSpc>
            </a:pPr>
            <a:r>
              <a:rPr lang="en-US" sz="2000">
                <a:latin typeface="Arial Narrow" pitchFamily="34" charset="0"/>
              </a:rPr>
              <a:t>Let’s focus on Business Processes and Subprocesses in order to identify the kinds of business knowledge we need to support the business </a:t>
            </a:r>
          </a:p>
          <a:p>
            <a:pPr marL="457200" indent="-457200">
              <a:lnSpc>
                <a:spcPct val="90000"/>
              </a:lnSpc>
              <a:buFont typeface="Wingdings" pitchFamily="2" charset="2"/>
              <a:buNone/>
            </a:pPr>
            <a:endParaRPr lang="en-US" sz="2000">
              <a:latin typeface="Arial Narrow"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8338" name="AutoShape 2"/>
          <p:cNvSpPr>
            <a:spLocks noChangeArrowheads="1"/>
          </p:cNvSpPr>
          <p:nvPr/>
        </p:nvSpPr>
        <p:spPr bwMode="auto">
          <a:xfrm>
            <a:off x="7239000" y="1524000"/>
            <a:ext cx="1600200" cy="533400"/>
          </a:xfrm>
          <a:prstGeom prst="chevron">
            <a:avLst>
              <a:gd name="adj" fmla="val 75000"/>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Project </a:t>
            </a:r>
          </a:p>
          <a:p>
            <a:pPr algn="r" eaLnBrk="1" hangingPunct="1"/>
            <a:r>
              <a:rPr lang="en-US" sz="1200">
                <a:latin typeface="Arial" charset="0"/>
                <a:cs typeface="Arial" charset="0"/>
              </a:rPr>
              <a:t>Approval</a:t>
            </a:r>
          </a:p>
        </p:txBody>
      </p:sp>
      <p:sp>
        <p:nvSpPr>
          <p:cNvPr id="398339" name="AutoShape 3"/>
          <p:cNvSpPr>
            <a:spLocks noChangeArrowheads="1"/>
          </p:cNvSpPr>
          <p:nvPr/>
        </p:nvSpPr>
        <p:spPr bwMode="auto">
          <a:xfrm>
            <a:off x="533400" y="1524000"/>
            <a:ext cx="1524000" cy="533400"/>
          </a:xfrm>
          <a:prstGeom prst="chevron">
            <a:avLst>
              <a:gd name="adj" fmla="val 71429"/>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Project </a:t>
            </a:r>
          </a:p>
          <a:p>
            <a:pPr algn="r" eaLnBrk="1" hangingPunct="1"/>
            <a:r>
              <a:rPr lang="en-US" sz="1200">
                <a:latin typeface="Arial" charset="0"/>
                <a:cs typeface="Arial" charset="0"/>
              </a:rPr>
              <a:t>Identification</a:t>
            </a:r>
          </a:p>
        </p:txBody>
      </p:sp>
      <p:sp>
        <p:nvSpPr>
          <p:cNvPr id="398340" name="AutoShape 4"/>
          <p:cNvSpPr>
            <a:spLocks noChangeArrowheads="1"/>
          </p:cNvSpPr>
          <p:nvPr/>
        </p:nvSpPr>
        <p:spPr bwMode="auto">
          <a:xfrm>
            <a:off x="2133600" y="1524000"/>
            <a:ext cx="1524000" cy="533400"/>
          </a:xfrm>
          <a:prstGeom prst="chevron">
            <a:avLst>
              <a:gd name="adj" fmla="val 71429"/>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Project</a:t>
            </a:r>
          </a:p>
          <a:p>
            <a:pPr algn="r" eaLnBrk="1" hangingPunct="1"/>
            <a:r>
              <a:rPr lang="en-US" sz="1200">
                <a:latin typeface="Arial" charset="0"/>
                <a:cs typeface="Arial" charset="0"/>
              </a:rPr>
              <a:t>Preparation</a:t>
            </a:r>
          </a:p>
        </p:txBody>
      </p:sp>
      <p:sp>
        <p:nvSpPr>
          <p:cNvPr id="398341" name="AutoShape 5"/>
          <p:cNvSpPr>
            <a:spLocks noChangeArrowheads="1"/>
          </p:cNvSpPr>
          <p:nvPr/>
        </p:nvSpPr>
        <p:spPr bwMode="auto">
          <a:xfrm>
            <a:off x="3733800" y="1524000"/>
            <a:ext cx="1752600" cy="533400"/>
          </a:xfrm>
          <a:prstGeom prst="chevron">
            <a:avLst>
              <a:gd name="adj" fmla="val 82143"/>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Project </a:t>
            </a:r>
          </a:p>
          <a:p>
            <a:pPr algn="r" eaLnBrk="1" hangingPunct="1"/>
            <a:r>
              <a:rPr lang="en-US" sz="1200">
                <a:latin typeface="Arial" charset="0"/>
                <a:cs typeface="Arial" charset="0"/>
              </a:rPr>
              <a:t>Appraisal</a:t>
            </a:r>
          </a:p>
        </p:txBody>
      </p:sp>
      <p:sp>
        <p:nvSpPr>
          <p:cNvPr id="398342" name="AutoShape 6"/>
          <p:cNvSpPr>
            <a:spLocks noChangeArrowheads="1"/>
          </p:cNvSpPr>
          <p:nvPr/>
        </p:nvSpPr>
        <p:spPr bwMode="auto">
          <a:xfrm>
            <a:off x="5410200" y="1524000"/>
            <a:ext cx="1752600" cy="533400"/>
          </a:xfrm>
          <a:prstGeom prst="chevron">
            <a:avLst>
              <a:gd name="adj" fmla="val 82143"/>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Project </a:t>
            </a:r>
          </a:p>
          <a:p>
            <a:pPr algn="r" eaLnBrk="1" hangingPunct="1"/>
            <a:r>
              <a:rPr lang="en-US" sz="1200">
                <a:latin typeface="Arial" charset="0"/>
                <a:cs typeface="Arial" charset="0"/>
              </a:rPr>
              <a:t>Negotiation</a:t>
            </a:r>
          </a:p>
        </p:txBody>
      </p:sp>
      <p:sp>
        <p:nvSpPr>
          <p:cNvPr id="398343" name="AutoShape 7"/>
          <p:cNvSpPr>
            <a:spLocks noChangeArrowheads="1"/>
          </p:cNvSpPr>
          <p:nvPr/>
        </p:nvSpPr>
        <p:spPr bwMode="auto">
          <a:xfrm>
            <a:off x="2057400" y="17526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8344" name="AutoShape 8"/>
          <p:cNvSpPr>
            <a:spLocks noChangeArrowheads="1"/>
          </p:cNvSpPr>
          <p:nvPr/>
        </p:nvSpPr>
        <p:spPr bwMode="auto">
          <a:xfrm>
            <a:off x="3657600" y="17526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8345" name="AutoShape 9"/>
          <p:cNvSpPr>
            <a:spLocks noChangeArrowheads="1"/>
          </p:cNvSpPr>
          <p:nvPr/>
        </p:nvSpPr>
        <p:spPr bwMode="auto">
          <a:xfrm>
            <a:off x="5410200" y="17526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8346" name="AutoShape 10"/>
          <p:cNvSpPr>
            <a:spLocks noChangeArrowheads="1"/>
          </p:cNvSpPr>
          <p:nvPr/>
        </p:nvSpPr>
        <p:spPr bwMode="auto">
          <a:xfrm>
            <a:off x="7162800" y="17526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8347" name="AutoShape 11"/>
          <p:cNvSpPr>
            <a:spLocks noChangeArrowheads="1"/>
          </p:cNvSpPr>
          <p:nvPr/>
        </p:nvSpPr>
        <p:spPr bwMode="auto">
          <a:xfrm>
            <a:off x="7315200" y="5181600"/>
            <a:ext cx="1600200" cy="533400"/>
          </a:xfrm>
          <a:prstGeom prst="chevron">
            <a:avLst>
              <a:gd name="adj" fmla="val 75000"/>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Project </a:t>
            </a:r>
          </a:p>
          <a:p>
            <a:pPr algn="r" eaLnBrk="1" hangingPunct="1"/>
            <a:r>
              <a:rPr lang="en-US" sz="1200">
                <a:latin typeface="Arial" charset="0"/>
                <a:cs typeface="Arial" charset="0"/>
              </a:rPr>
              <a:t>Evaluation</a:t>
            </a:r>
          </a:p>
        </p:txBody>
      </p:sp>
      <p:sp>
        <p:nvSpPr>
          <p:cNvPr id="398348" name="AutoShape 12"/>
          <p:cNvSpPr>
            <a:spLocks noChangeArrowheads="1"/>
          </p:cNvSpPr>
          <p:nvPr/>
        </p:nvSpPr>
        <p:spPr bwMode="auto">
          <a:xfrm>
            <a:off x="609600" y="5181600"/>
            <a:ext cx="1524000" cy="533400"/>
          </a:xfrm>
          <a:prstGeom prst="chevron">
            <a:avLst>
              <a:gd name="adj" fmla="val 71429"/>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Project </a:t>
            </a:r>
          </a:p>
          <a:p>
            <a:pPr algn="r" eaLnBrk="1" hangingPunct="1"/>
            <a:r>
              <a:rPr lang="en-US" sz="1200">
                <a:latin typeface="Arial" charset="0"/>
                <a:cs typeface="Arial" charset="0"/>
              </a:rPr>
              <a:t>Signing</a:t>
            </a:r>
          </a:p>
        </p:txBody>
      </p:sp>
      <p:sp>
        <p:nvSpPr>
          <p:cNvPr id="398349" name="AutoShape 13"/>
          <p:cNvSpPr>
            <a:spLocks noChangeArrowheads="1"/>
          </p:cNvSpPr>
          <p:nvPr/>
        </p:nvSpPr>
        <p:spPr bwMode="auto">
          <a:xfrm>
            <a:off x="2209800" y="5181600"/>
            <a:ext cx="1524000" cy="533400"/>
          </a:xfrm>
          <a:prstGeom prst="chevron">
            <a:avLst>
              <a:gd name="adj" fmla="val 71429"/>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Project</a:t>
            </a:r>
          </a:p>
          <a:p>
            <a:pPr algn="r" eaLnBrk="1" hangingPunct="1"/>
            <a:r>
              <a:rPr lang="en-US" sz="1200">
                <a:latin typeface="Arial" charset="0"/>
                <a:cs typeface="Arial" charset="0"/>
              </a:rPr>
              <a:t>Effectiveness</a:t>
            </a:r>
          </a:p>
        </p:txBody>
      </p:sp>
      <p:sp>
        <p:nvSpPr>
          <p:cNvPr id="398350" name="AutoShape 14"/>
          <p:cNvSpPr>
            <a:spLocks noChangeArrowheads="1"/>
          </p:cNvSpPr>
          <p:nvPr/>
        </p:nvSpPr>
        <p:spPr bwMode="auto">
          <a:xfrm>
            <a:off x="3733800" y="5181600"/>
            <a:ext cx="1752600" cy="533400"/>
          </a:xfrm>
          <a:prstGeom prst="chevron">
            <a:avLst>
              <a:gd name="adj" fmla="val 82143"/>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Project </a:t>
            </a:r>
          </a:p>
          <a:p>
            <a:pPr algn="r" eaLnBrk="1" hangingPunct="1"/>
            <a:r>
              <a:rPr lang="en-US" sz="1200">
                <a:latin typeface="Arial" charset="0"/>
                <a:cs typeface="Arial" charset="0"/>
              </a:rPr>
              <a:t>Supervision</a:t>
            </a:r>
          </a:p>
        </p:txBody>
      </p:sp>
      <p:sp>
        <p:nvSpPr>
          <p:cNvPr id="398351" name="AutoShape 15"/>
          <p:cNvSpPr>
            <a:spLocks noChangeArrowheads="1"/>
          </p:cNvSpPr>
          <p:nvPr/>
        </p:nvSpPr>
        <p:spPr bwMode="auto">
          <a:xfrm>
            <a:off x="5486400" y="5181600"/>
            <a:ext cx="1752600" cy="533400"/>
          </a:xfrm>
          <a:prstGeom prst="chevron">
            <a:avLst>
              <a:gd name="adj" fmla="val 82143"/>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Project </a:t>
            </a:r>
          </a:p>
          <a:p>
            <a:pPr algn="r" eaLnBrk="1" hangingPunct="1"/>
            <a:r>
              <a:rPr lang="en-US" sz="1200">
                <a:latin typeface="Arial" charset="0"/>
                <a:cs typeface="Arial" charset="0"/>
              </a:rPr>
              <a:t>Completion</a:t>
            </a:r>
          </a:p>
        </p:txBody>
      </p:sp>
      <p:sp>
        <p:nvSpPr>
          <p:cNvPr id="398352" name="AutoShape 16"/>
          <p:cNvSpPr>
            <a:spLocks noChangeArrowheads="1"/>
          </p:cNvSpPr>
          <p:nvPr/>
        </p:nvSpPr>
        <p:spPr bwMode="auto">
          <a:xfrm>
            <a:off x="2133600" y="54102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8353" name="AutoShape 17"/>
          <p:cNvSpPr>
            <a:spLocks noChangeArrowheads="1"/>
          </p:cNvSpPr>
          <p:nvPr/>
        </p:nvSpPr>
        <p:spPr bwMode="auto">
          <a:xfrm>
            <a:off x="3733800" y="54102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8354" name="AutoShape 18"/>
          <p:cNvSpPr>
            <a:spLocks noChangeArrowheads="1"/>
          </p:cNvSpPr>
          <p:nvPr/>
        </p:nvSpPr>
        <p:spPr bwMode="auto">
          <a:xfrm>
            <a:off x="5486400" y="54102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8355" name="AutoShape 19"/>
          <p:cNvSpPr>
            <a:spLocks noChangeArrowheads="1"/>
          </p:cNvSpPr>
          <p:nvPr/>
        </p:nvSpPr>
        <p:spPr bwMode="auto">
          <a:xfrm>
            <a:off x="7239000" y="54102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8356" name="Line 20"/>
          <p:cNvSpPr>
            <a:spLocks noChangeShapeType="1"/>
          </p:cNvSpPr>
          <p:nvPr/>
        </p:nvSpPr>
        <p:spPr bwMode="auto">
          <a:xfrm flipH="1">
            <a:off x="1295400" y="4876800"/>
            <a:ext cx="7543800" cy="0"/>
          </a:xfrm>
          <a:prstGeom prst="line">
            <a:avLst/>
          </a:prstGeom>
          <a:noFill/>
          <a:ln w="9525">
            <a:solidFill>
              <a:schemeClr val="tx1"/>
            </a:solidFill>
            <a:round/>
            <a:headEnd/>
            <a:tailEnd type="triangle" w="med" len="med"/>
          </a:ln>
          <a:effectLst/>
        </p:spPr>
        <p:txBody>
          <a:bodyPr/>
          <a:lstStyle/>
          <a:p>
            <a:endParaRPr lang="en-US"/>
          </a:p>
        </p:txBody>
      </p:sp>
      <p:sp>
        <p:nvSpPr>
          <p:cNvPr id="398357" name="Line 21"/>
          <p:cNvSpPr>
            <a:spLocks noChangeShapeType="1"/>
          </p:cNvSpPr>
          <p:nvPr/>
        </p:nvSpPr>
        <p:spPr bwMode="auto">
          <a:xfrm>
            <a:off x="1295400" y="4876800"/>
            <a:ext cx="0" cy="228600"/>
          </a:xfrm>
          <a:prstGeom prst="line">
            <a:avLst/>
          </a:prstGeom>
          <a:noFill/>
          <a:ln w="9525">
            <a:solidFill>
              <a:schemeClr val="tx1"/>
            </a:solidFill>
            <a:round/>
            <a:headEnd/>
            <a:tailEnd type="triangle" w="med" len="med"/>
          </a:ln>
          <a:effectLst/>
        </p:spPr>
        <p:txBody>
          <a:bodyPr/>
          <a:lstStyle/>
          <a:p>
            <a:endParaRPr lang="en-US"/>
          </a:p>
        </p:txBody>
      </p:sp>
      <p:sp>
        <p:nvSpPr>
          <p:cNvPr id="398358" name="Line 22"/>
          <p:cNvSpPr>
            <a:spLocks noChangeShapeType="1"/>
          </p:cNvSpPr>
          <p:nvPr/>
        </p:nvSpPr>
        <p:spPr bwMode="auto">
          <a:xfrm>
            <a:off x="8763000" y="1828800"/>
            <a:ext cx="0" cy="2971800"/>
          </a:xfrm>
          <a:prstGeom prst="line">
            <a:avLst/>
          </a:prstGeom>
          <a:noFill/>
          <a:ln w="9525">
            <a:solidFill>
              <a:schemeClr val="tx1"/>
            </a:solidFill>
            <a:round/>
            <a:headEnd/>
            <a:tailEnd type="triangle" w="med" len="med"/>
          </a:ln>
          <a:effectLst/>
        </p:spPr>
        <p:txBody>
          <a:bodyPr/>
          <a:lstStyle/>
          <a:p>
            <a:endParaRPr lang="en-US"/>
          </a:p>
        </p:txBody>
      </p:sp>
      <p:sp>
        <p:nvSpPr>
          <p:cNvPr id="398359" name="Text Box 23"/>
          <p:cNvSpPr txBox="1">
            <a:spLocks noChangeArrowheads="1"/>
          </p:cNvSpPr>
          <p:nvPr/>
        </p:nvSpPr>
        <p:spPr bwMode="auto">
          <a:xfrm>
            <a:off x="990600" y="0"/>
            <a:ext cx="7467600" cy="641350"/>
          </a:xfrm>
          <a:prstGeom prst="rect">
            <a:avLst/>
          </a:prstGeom>
          <a:noFill/>
          <a:ln w="9525">
            <a:noFill/>
            <a:miter lim="800000"/>
            <a:headEnd/>
            <a:tailEnd/>
          </a:ln>
          <a:effectLst/>
        </p:spPr>
        <p:txBody>
          <a:bodyPr>
            <a:spAutoFit/>
          </a:bodyPr>
          <a:lstStyle/>
          <a:p>
            <a:pPr algn="ctr" eaLnBrk="1" hangingPunct="1"/>
            <a:r>
              <a:rPr lang="en-US" b="1">
                <a:solidFill>
                  <a:schemeClr val="bg2"/>
                </a:solidFill>
                <a:latin typeface="Tahoma" pitchFamily="34" charset="0"/>
                <a:cs typeface="Arial" charset="0"/>
              </a:rPr>
              <a:t>Lending Line of Business Comprised of Linked Business Processes</a:t>
            </a:r>
          </a:p>
        </p:txBody>
      </p:sp>
      <p:sp>
        <p:nvSpPr>
          <p:cNvPr id="398360" name="Text Box 24"/>
          <p:cNvSpPr txBox="1">
            <a:spLocks noChangeArrowheads="1"/>
          </p:cNvSpPr>
          <p:nvPr/>
        </p:nvSpPr>
        <p:spPr bwMode="auto">
          <a:xfrm>
            <a:off x="3800475" y="882650"/>
            <a:ext cx="1798638" cy="336550"/>
          </a:xfrm>
          <a:prstGeom prst="rect">
            <a:avLst/>
          </a:prstGeom>
          <a:noFill/>
          <a:ln w="9525">
            <a:noFill/>
            <a:miter lim="800000"/>
            <a:headEnd/>
            <a:tailEnd/>
          </a:ln>
          <a:effectLst/>
        </p:spPr>
        <p:txBody>
          <a:bodyPr wrap="none">
            <a:spAutoFit/>
          </a:bodyPr>
          <a:lstStyle/>
          <a:p>
            <a:r>
              <a:rPr lang="en-US" sz="1600" b="1">
                <a:solidFill>
                  <a:schemeClr val="bg2"/>
                </a:solidFill>
              </a:rPr>
              <a:t>Business Processes</a:t>
            </a:r>
          </a:p>
        </p:txBody>
      </p:sp>
      <p:sp>
        <p:nvSpPr>
          <p:cNvPr id="398361" name="Line 25"/>
          <p:cNvSpPr>
            <a:spLocks noChangeShapeType="1"/>
          </p:cNvSpPr>
          <p:nvPr/>
        </p:nvSpPr>
        <p:spPr bwMode="auto">
          <a:xfrm flipH="1">
            <a:off x="1905000" y="1066800"/>
            <a:ext cx="1828800" cy="304800"/>
          </a:xfrm>
          <a:prstGeom prst="line">
            <a:avLst/>
          </a:prstGeom>
          <a:noFill/>
          <a:ln w="9525">
            <a:solidFill>
              <a:schemeClr val="tx1"/>
            </a:solidFill>
            <a:round/>
            <a:headEnd/>
            <a:tailEnd type="triangle" w="med" len="med"/>
          </a:ln>
          <a:effectLst/>
        </p:spPr>
        <p:txBody>
          <a:bodyPr/>
          <a:lstStyle/>
          <a:p>
            <a:endParaRPr lang="en-US"/>
          </a:p>
        </p:txBody>
      </p:sp>
      <p:sp>
        <p:nvSpPr>
          <p:cNvPr id="398362" name="Line 26"/>
          <p:cNvSpPr>
            <a:spLocks noChangeShapeType="1"/>
          </p:cNvSpPr>
          <p:nvPr/>
        </p:nvSpPr>
        <p:spPr bwMode="auto">
          <a:xfrm>
            <a:off x="5486400" y="1066800"/>
            <a:ext cx="1905000" cy="304800"/>
          </a:xfrm>
          <a:prstGeom prst="line">
            <a:avLst/>
          </a:prstGeom>
          <a:noFill/>
          <a:ln w="9525">
            <a:solidFill>
              <a:schemeClr val="tx1"/>
            </a:solidFill>
            <a:round/>
            <a:headEnd/>
            <a:tailEnd type="triangle" w="med" len="med"/>
          </a:ln>
          <a:effectLst/>
        </p:spPr>
        <p:txBody>
          <a:bodyPr/>
          <a:lstStyle/>
          <a:p>
            <a:endParaRPr lang="en-US"/>
          </a:p>
        </p:txBody>
      </p:sp>
      <p:sp>
        <p:nvSpPr>
          <p:cNvPr id="398363" name="Text Box 27"/>
          <p:cNvSpPr txBox="1">
            <a:spLocks noChangeArrowheads="1"/>
          </p:cNvSpPr>
          <p:nvPr/>
        </p:nvSpPr>
        <p:spPr bwMode="auto">
          <a:xfrm>
            <a:off x="5943600" y="2514600"/>
            <a:ext cx="1984375" cy="336550"/>
          </a:xfrm>
          <a:prstGeom prst="rect">
            <a:avLst/>
          </a:prstGeom>
          <a:noFill/>
          <a:ln w="9525">
            <a:noFill/>
            <a:miter lim="800000"/>
            <a:headEnd/>
            <a:tailEnd/>
          </a:ln>
          <a:effectLst/>
        </p:spPr>
        <p:txBody>
          <a:bodyPr wrap="none">
            <a:spAutoFit/>
          </a:bodyPr>
          <a:lstStyle/>
          <a:p>
            <a:r>
              <a:rPr lang="en-US" sz="1600" b="1">
                <a:solidFill>
                  <a:schemeClr val="bg2"/>
                </a:solidFill>
              </a:rPr>
              <a:t>Steps &amp; Subprocesses</a:t>
            </a:r>
          </a:p>
        </p:txBody>
      </p:sp>
      <p:sp>
        <p:nvSpPr>
          <p:cNvPr id="398364" name="Text Box 28"/>
          <p:cNvSpPr txBox="1">
            <a:spLocks noChangeArrowheads="1"/>
          </p:cNvSpPr>
          <p:nvPr/>
        </p:nvSpPr>
        <p:spPr bwMode="auto">
          <a:xfrm>
            <a:off x="609600" y="3533775"/>
            <a:ext cx="2514600" cy="581025"/>
          </a:xfrm>
          <a:prstGeom prst="rect">
            <a:avLst/>
          </a:prstGeom>
          <a:noFill/>
          <a:ln w="9525">
            <a:noFill/>
            <a:miter lim="800000"/>
            <a:headEnd/>
            <a:tailEnd/>
          </a:ln>
          <a:effectLst/>
        </p:spPr>
        <p:txBody>
          <a:bodyPr>
            <a:spAutoFit/>
          </a:bodyPr>
          <a:lstStyle/>
          <a:p>
            <a:pPr algn="ctr"/>
            <a:r>
              <a:rPr lang="en-US" sz="1600" i="1"/>
              <a:t>Resources Allocated and</a:t>
            </a:r>
          </a:p>
          <a:p>
            <a:pPr algn="ctr"/>
            <a:r>
              <a:rPr lang="en-US" sz="1600" i="1"/>
              <a:t>Managed at these levels</a:t>
            </a:r>
          </a:p>
        </p:txBody>
      </p:sp>
      <p:sp>
        <p:nvSpPr>
          <p:cNvPr id="398365" name="Rectangle 29"/>
          <p:cNvSpPr>
            <a:spLocks noChangeArrowheads="1"/>
          </p:cNvSpPr>
          <p:nvPr/>
        </p:nvSpPr>
        <p:spPr bwMode="auto">
          <a:xfrm>
            <a:off x="3810000" y="2209800"/>
            <a:ext cx="1447800" cy="914400"/>
          </a:xfrm>
          <a:prstGeom prst="rect">
            <a:avLst/>
          </a:prstGeom>
          <a:solidFill>
            <a:srgbClr val="FFFFCC"/>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r>
              <a:rPr lang="en-US" sz="900">
                <a:latin typeface="Arial" charset="0"/>
                <a:cs typeface="Arial" charset="0"/>
              </a:rPr>
              <a:t>Decision mtg package</a:t>
            </a:r>
          </a:p>
          <a:p>
            <a:pPr marL="174625" indent="-174625" eaLnBrk="1" hangingPunct="1">
              <a:buFont typeface="Wingdings" pitchFamily="2" charset="2"/>
              <a:buChar char="q"/>
            </a:pPr>
            <a:r>
              <a:rPr lang="en-US" sz="900">
                <a:latin typeface="Arial" charset="0"/>
                <a:cs typeface="Arial" charset="0"/>
              </a:rPr>
              <a:t>Minutes, PID, ISDS</a:t>
            </a:r>
          </a:p>
          <a:p>
            <a:pPr marL="174625" indent="-174625" eaLnBrk="1" hangingPunct="1">
              <a:buFont typeface="Wingdings" pitchFamily="2" charset="2"/>
              <a:buChar char="q"/>
            </a:pPr>
            <a:r>
              <a:rPr lang="en-US" sz="900">
                <a:latin typeface="Arial" charset="0"/>
                <a:cs typeface="Arial" charset="0"/>
              </a:rPr>
              <a:t>SMO</a:t>
            </a:r>
          </a:p>
          <a:p>
            <a:pPr marL="174625" indent="-174625" eaLnBrk="1" hangingPunct="1">
              <a:buFont typeface="Wingdings" pitchFamily="2" charset="2"/>
              <a:buChar char="q"/>
            </a:pPr>
            <a:r>
              <a:rPr lang="en-US" sz="900">
                <a:latin typeface="Arial" charset="0"/>
                <a:cs typeface="Arial" charset="0"/>
              </a:rPr>
              <a:t>Notice to Borrower</a:t>
            </a:r>
          </a:p>
          <a:p>
            <a:pPr marL="174625" indent="-174625" eaLnBrk="1" hangingPunct="1">
              <a:buFont typeface="Wingdings" pitchFamily="2" charset="2"/>
              <a:buChar char="q"/>
            </a:pPr>
            <a:r>
              <a:rPr lang="en-US" sz="900">
                <a:latin typeface="Arial" charset="0"/>
                <a:cs typeface="Arial" charset="0"/>
              </a:rPr>
              <a:t>Draft Aide-memoire</a:t>
            </a:r>
          </a:p>
          <a:p>
            <a:pPr marL="174625" indent="-174625" eaLnBrk="1" hangingPunct="1">
              <a:buFont typeface="Wingdings" pitchFamily="2" charset="2"/>
              <a:buChar char="q"/>
            </a:pPr>
            <a:r>
              <a:rPr lang="en-US" sz="900">
                <a:latin typeface="Arial" charset="0"/>
                <a:cs typeface="Arial" charset="0"/>
              </a:rPr>
              <a:t>Post-appraisal letter to </a:t>
            </a:r>
          </a:p>
          <a:p>
            <a:pPr marL="174625" indent="-174625" eaLnBrk="1" hangingPunct="1">
              <a:buFont typeface="Wingdings" pitchFamily="2" charset="2"/>
              <a:buNone/>
            </a:pPr>
            <a:r>
              <a:rPr lang="en-US" sz="900">
                <a:latin typeface="Arial" charset="0"/>
                <a:cs typeface="Arial" charset="0"/>
              </a:rPr>
              <a:t>      Borrower.</a:t>
            </a:r>
          </a:p>
        </p:txBody>
      </p:sp>
      <p:sp>
        <p:nvSpPr>
          <p:cNvPr id="398366" name="Rectangle 30"/>
          <p:cNvSpPr>
            <a:spLocks noChangeArrowheads="1"/>
          </p:cNvSpPr>
          <p:nvPr/>
        </p:nvSpPr>
        <p:spPr bwMode="auto">
          <a:xfrm>
            <a:off x="457200" y="2209800"/>
            <a:ext cx="1447800" cy="914400"/>
          </a:xfrm>
          <a:prstGeom prst="rect">
            <a:avLst/>
          </a:prstGeom>
          <a:solidFill>
            <a:srgbClr val="FFFFCC"/>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r>
              <a:rPr lang="en-US" sz="900">
                <a:latin typeface="Arial" charset="0"/>
                <a:cs typeface="Arial" charset="0"/>
              </a:rPr>
              <a:t>Prepare AIS in SAP</a:t>
            </a:r>
          </a:p>
          <a:p>
            <a:pPr marL="174625" indent="-174625" eaLnBrk="1" hangingPunct="1">
              <a:buFont typeface="Wingdings" pitchFamily="2" charset="2"/>
              <a:buChar char="q"/>
            </a:pPr>
            <a:r>
              <a:rPr lang="en-US" sz="900">
                <a:latin typeface="Arial" charset="0"/>
                <a:cs typeface="Arial" charset="0"/>
              </a:rPr>
              <a:t>Prepare SMO</a:t>
            </a:r>
          </a:p>
          <a:p>
            <a:pPr marL="174625" indent="-174625" eaLnBrk="1" hangingPunct="1">
              <a:buFont typeface="Wingdings" pitchFamily="2" charset="2"/>
              <a:buChar char="q"/>
            </a:pPr>
            <a:r>
              <a:rPr lang="en-US" sz="900">
                <a:latin typeface="Arial" charset="0"/>
                <a:cs typeface="Arial" charset="0"/>
              </a:rPr>
              <a:t>Prepare PCN, PID, ISDS</a:t>
            </a:r>
          </a:p>
          <a:p>
            <a:pPr marL="174625" indent="-174625" eaLnBrk="1" hangingPunct="1">
              <a:buFont typeface="Wingdings" pitchFamily="2" charset="2"/>
              <a:buChar char="q"/>
            </a:pPr>
            <a:r>
              <a:rPr lang="en-US" sz="900">
                <a:latin typeface="Arial" charset="0"/>
                <a:cs typeface="Arial" charset="0"/>
              </a:rPr>
              <a:t>PCN Review Meeting</a:t>
            </a:r>
          </a:p>
          <a:p>
            <a:pPr marL="174625" indent="-174625" eaLnBrk="1" hangingPunct="1">
              <a:buFont typeface="Wingdings" pitchFamily="2" charset="2"/>
              <a:buChar char="q"/>
            </a:pPr>
            <a:r>
              <a:rPr lang="en-US" sz="900">
                <a:latin typeface="Arial" charset="0"/>
                <a:cs typeface="Arial" charset="0"/>
              </a:rPr>
              <a:t>ROC and/or OC review  </a:t>
            </a:r>
          </a:p>
          <a:p>
            <a:pPr marL="174625" indent="-174625" eaLnBrk="1" hangingPunct="1">
              <a:buFont typeface="Wingdings" pitchFamily="2" charset="2"/>
              <a:buNone/>
            </a:pPr>
            <a:r>
              <a:rPr lang="en-US" sz="900">
                <a:latin typeface="Arial" charset="0"/>
                <a:cs typeface="Arial" charset="0"/>
              </a:rPr>
              <a:t>      (for projects high risks)</a:t>
            </a:r>
          </a:p>
        </p:txBody>
      </p:sp>
      <p:sp>
        <p:nvSpPr>
          <p:cNvPr id="398367" name="Rectangle 31"/>
          <p:cNvSpPr>
            <a:spLocks noChangeArrowheads="1"/>
          </p:cNvSpPr>
          <p:nvPr/>
        </p:nvSpPr>
        <p:spPr bwMode="auto">
          <a:xfrm>
            <a:off x="2133600" y="2209800"/>
            <a:ext cx="1524000" cy="914400"/>
          </a:xfrm>
          <a:prstGeom prst="rect">
            <a:avLst/>
          </a:prstGeom>
          <a:solidFill>
            <a:srgbClr val="FFFFCC"/>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r>
              <a:rPr lang="en-US" sz="900">
                <a:latin typeface="Arial" charset="0"/>
                <a:cs typeface="Arial" charset="0"/>
              </a:rPr>
              <a:t>Draft PAD</a:t>
            </a:r>
          </a:p>
          <a:p>
            <a:pPr marL="174625" indent="-174625" eaLnBrk="1" hangingPunct="1">
              <a:buFont typeface="Wingdings" pitchFamily="2" charset="2"/>
              <a:buChar char="q"/>
            </a:pPr>
            <a:r>
              <a:rPr lang="en-US" sz="900">
                <a:latin typeface="Arial" charset="0"/>
                <a:cs typeface="Arial" charset="0"/>
              </a:rPr>
              <a:t>PID</a:t>
            </a:r>
          </a:p>
          <a:p>
            <a:pPr marL="174625" indent="-174625" eaLnBrk="1" hangingPunct="1">
              <a:buFont typeface="Wingdings" pitchFamily="2" charset="2"/>
              <a:buChar char="q"/>
            </a:pPr>
            <a:r>
              <a:rPr lang="en-US" sz="900">
                <a:latin typeface="Arial" charset="0"/>
                <a:cs typeface="Arial" charset="0"/>
              </a:rPr>
              <a:t>PAD-stage ISDS</a:t>
            </a:r>
          </a:p>
          <a:p>
            <a:pPr marL="174625" indent="-174625" eaLnBrk="1" hangingPunct="1">
              <a:buFont typeface="Wingdings" pitchFamily="2" charset="2"/>
              <a:buChar char="q"/>
            </a:pPr>
            <a:r>
              <a:rPr lang="en-US" sz="900">
                <a:latin typeface="Arial" charset="0"/>
                <a:cs typeface="Arial" charset="0"/>
              </a:rPr>
              <a:t>Draft EA, RAP, IPDP</a:t>
            </a:r>
          </a:p>
          <a:p>
            <a:pPr marL="174625" indent="-174625" eaLnBrk="1" hangingPunct="1">
              <a:buFont typeface="Wingdings" pitchFamily="2" charset="2"/>
              <a:buChar char="q"/>
            </a:pPr>
            <a:r>
              <a:rPr lang="en-US" sz="900">
                <a:latin typeface="Arial" charset="0"/>
                <a:cs typeface="Arial" charset="0"/>
              </a:rPr>
              <a:t>Minutes of PCN meeting</a:t>
            </a:r>
          </a:p>
          <a:p>
            <a:pPr marL="174625" indent="-174625" eaLnBrk="1" hangingPunct="1">
              <a:buFont typeface="Wingdings" pitchFamily="2" charset="2"/>
              <a:buChar char="q"/>
            </a:pPr>
            <a:r>
              <a:rPr lang="en-US" sz="900">
                <a:latin typeface="Arial" charset="0"/>
                <a:cs typeface="Arial" charset="0"/>
              </a:rPr>
              <a:t>Minutes of QER</a:t>
            </a:r>
          </a:p>
        </p:txBody>
      </p:sp>
      <p:sp>
        <p:nvSpPr>
          <p:cNvPr id="398368" name="Line 32"/>
          <p:cNvSpPr>
            <a:spLocks noChangeShapeType="1"/>
          </p:cNvSpPr>
          <p:nvPr/>
        </p:nvSpPr>
        <p:spPr bwMode="auto">
          <a:xfrm flipH="1">
            <a:off x="5410200" y="2667000"/>
            <a:ext cx="381000" cy="0"/>
          </a:xfrm>
          <a:prstGeom prst="line">
            <a:avLst/>
          </a:prstGeom>
          <a:noFill/>
          <a:ln w="9525">
            <a:solidFill>
              <a:schemeClr val="tx1"/>
            </a:solidFill>
            <a:round/>
            <a:headEnd/>
            <a:tailEnd type="triangle" w="med" len="med"/>
          </a:ln>
          <a:effectLst/>
        </p:spPr>
        <p:txBody>
          <a:bodyPr/>
          <a:lstStyle/>
          <a:p>
            <a:endParaRPr lang="en-US"/>
          </a:p>
        </p:txBody>
      </p:sp>
      <p:sp>
        <p:nvSpPr>
          <p:cNvPr id="398369" name="Line 33"/>
          <p:cNvSpPr>
            <a:spLocks noChangeShapeType="1"/>
          </p:cNvSpPr>
          <p:nvPr/>
        </p:nvSpPr>
        <p:spPr bwMode="auto">
          <a:xfrm flipH="1" flipV="1">
            <a:off x="1905000" y="1905000"/>
            <a:ext cx="228600" cy="1524000"/>
          </a:xfrm>
          <a:prstGeom prst="line">
            <a:avLst/>
          </a:prstGeom>
          <a:noFill/>
          <a:ln w="9525">
            <a:solidFill>
              <a:schemeClr val="tx1"/>
            </a:solidFill>
            <a:round/>
            <a:headEnd/>
            <a:tailEnd type="triangle" w="med" len="med"/>
          </a:ln>
          <a:effectLst/>
        </p:spPr>
        <p:txBody>
          <a:bodyPr/>
          <a:lstStyle/>
          <a:p>
            <a:endParaRPr lang="en-US"/>
          </a:p>
        </p:txBody>
      </p:sp>
      <p:sp>
        <p:nvSpPr>
          <p:cNvPr id="398370" name="Text Box 34"/>
          <p:cNvSpPr txBox="1">
            <a:spLocks noChangeArrowheads="1"/>
          </p:cNvSpPr>
          <p:nvPr/>
        </p:nvSpPr>
        <p:spPr bwMode="auto">
          <a:xfrm>
            <a:off x="2376488" y="4192588"/>
            <a:ext cx="3146425" cy="581025"/>
          </a:xfrm>
          <a:prstGeom prst="rect">
            <a:avLst/>
          </a:prstGeom>
          <a:noFill/>
          <a:ln w="9525">
            <a:noFill/>
            <a:miter lim="800000"/>
            <a:headEnd/>
            <a:tailEnd/>
          </a:ln>
          <a:effectLst/>
        </p:spPr>
        <p:txBody>
          <a:bodyPr wrap="none">
            <a:spAutoFit/>
          </a:bodyPr>
          <a:lstStyle/>
          <a:p>
            <a:pPr algn="ctr"/>
            <a:r>
              <a:rPr lang="en-US" sz="1600" i="1"/>
              <a:t>Process Variations are found and </a:t>
            </a:r>
          </a:p>
          <a:p>
            <a:pPr algn="ctr"/>
            <a:r>
              <a:rPr lang="en-US" sz="1600" i="1"/>
              <a:t>Improvements are made at these Levels</a:t>
            </a:r>
          </a:p>
        </p:txBody>
      </p:sp>
      <p:sp>
        <p:nvSpPr>
          <p:cNvPr id="398371" name="Line 35"/>
          <p:cNvSpPr>
            <a:spLocks noChangeShapeType="1"/>
          </p:cNvSpPr>
          <p:nvPr/>
        </p:nvSpPr>
        <p:spPr bwMode="auto">
          <a:xfrm flipH="1" flipV="1">
            <a:off x="3276600" y="3200400"/>
            <a:ext cx="457200" cy="990600"/>
          </a:xfrm>
          <a:prstGeom prst="line">
            <a:avLst/>
          </a:prstGeom>
          <a:noFill/>
          <a:ln w="9525">
            <a:solidFill>
              <a:schemeClr val="tx1"/>
            </a:solidFill>
            <a:round/>
            <a:headEnd/>
            <a:tailEnd type="triangle" w="med" len="med"/>
          </a:ln>
          <a:effectLst/>
        </p:spPr>
        <p:txBody>
          <a:bodyPr/>
          <a:lstStyle/>
          <a:p>
            <a:endParaRPr lang="en-US"/>
          </a:p>
        </p:txBody>
      </p:sp>
      <p:sp>
        <p:nvSpPr>
          <p:cNvPr id="398373" name="Text Box 37"/>
          <p:cNvSpPr txBox="1">
            <a:spLocks noChangeArrowheads="1"/>
          </p:cNvSpPr>
          <p:nvPr/>
        </p:nvSpPr>
        <p:spPr bwMode="auto">
          <a:xfrm>
            <a:off x="381000" y="6221413"/>
            <a:ext cx="8559800" cy="396875"/>
          </a:xfrm>
          <a:prstGeom prst="rect">
            <a:avLst/>
          </a:prstGeom>
          <a:noFill/>
          <a:ln w="9525">
            <a:noFill/>
            <a:miter lim="800000"/>
            <a:headEnd/>
            <a:tailEnd/>
          </a:ln>
          <a:effectLst/>
        </p:spPr>
        <p:txBody>
          <a:bodyPr wrap="none">
            <a:spAutoFit/>
          </a:bodyPr>
          <a:lstStyle/>
          <a:p>
            <a:r>
              <a:rPr lang="en-US" sz="2000" b="1">
                <a:solidFill>
                  <a:schemeClr val="bg2"/>
                </a:solidFill>
              </a:rPr>
              <a:t>Line of Business</a:t>
            </a:r>
            <a:r>
              <a:rPr lang="en-US" sz="2000"/>
              <a:t> level is too coarse to support process management goals and objectives</a:t>
            </a:r>
          </a:p>
        </p:txBody>
      </p:sp>
      <p:sp>
        <p:nvSpPr>
          <p:cNvPr id="398374" name="Line 38"/>
          <p:cNvSpPr>
            <a:spLocks noChangeShapeType="1"/>
          </p:cNvSpPr>
          <p:nvPr/>
        </p:nvSpPr>
        <p:spPr bwMode="auto">
          <a:xfrm flipH="1" flipV="1">
            <a:off x="3505200" y="1981200"/>
            <a:ext cx="381000" cy="2209800"/>
          </a:xfrm>
          <a:prstGeom prst="line">
            <a:avLst/>
          </a:prstGeom>
          <a:noFill/>
          <a:ln w="9525">
            <a:solidFill>
              <a:schemeClr val="tx1"/>
            </a:solidFill>
            <a:round/>
            <a:headEnd/>
            <a:tailEnd type="triangle" w="med" len="med"/>
          </a:ln>
          <a:effectLst/>
        </p:spPr>
        <p:txBody>
          <a:bodyPr/>
          <a:lstStyle/>
          <a:p>
            <a:endParaRPr lang="en-US"/>
          </a:p>
        </p:txBody>
      </p:sp>
      <p:sp>
        <p:nvSpPr>
          <p:cNvPr id="398375" name="Line 39"/>
          <p:cNvSpPr>
            <a:spLocks noChangeShapeType="1"/>
          </p:cNvSpPr>
          <p:nvPr/>
        </p:nvSpPr>
        <p:spPr bwMode="auto">
          <a:xfrm flipH="1" flipV="1">
            <a:off x="1752600" y="3200400"/>
            <a:ext cx="228600" cy="304800"/>
          </a:xfrm>
          <a:prstGeom prst="line">
            <a:avLst/>
          </a:prstGeom>
          <a:noFill/>
          <a:ln w="9525">
            <a:solidFill>
              <a:schemeClr val="tx1"/>
            </a:solidFill>
            <a:round/>
            <a:headEnd/>
            <a:tailEnd type="triangle" w="med" len="med"/>
          </a:ln>
          <a:effectLst/>
        </p:spPr>
        <p:txBody>
          <a:bodyPr/>
          <a:lstStyle/>
          <a:p>
            <a:endParaRPr lang="en-US"/>
          </a:p>
        </p:txBody>
      </p:sp>
      <p:sp>
        <p:nvSpPr>
          <p:cNvPr id="398376" name="Text Box 40"/>
          <p:cNvSpPr txBox="1">
            <a:spLocks noChangeArrowheads="1"/>
          </p:cNvSpPr>
          <p:nvPr/>
        </p:nvSpPr>
        <p:spPr bwMode="auto">
          <a:xfrm>
            <a:off x="5621338" y="3506788"/>
            <a:ext cx="1754187" cy="581025"/>
          </a:xfrm>
          <a:prstGeom prst="rect">
            <a:avLst/>
          </a:prstGeom>
          <a:noFill/>
          <a:ln w="9525">
            <a:noFill/>
            <a:miter lim="800000"/>
            <a:headEnd/>
            <a:tailEnd/>
          </a:ln>
          <a:effectLst/>
        </p:spPr>
        <p:txBody>
          <a:bodyPr wrap="none">
            <a:spAutoFit/>
          </a:bodyPr>
          <a:lstStyle/>
          <a:p>
            <a:pPr algn="ctr"/>
            <a:r>
              <a:rPr lang="en-US" sz="1600" i="1"/>
              <a:t>Application calls are</a:t>
            </a:r>
          </a:p>
          <a:p>
            <a:pPr algn="ctr"/>
            <a:r>
              <a:rPr lang="en-US" sz="1600" i="1"/>
              <a:t>Executed at this level</a:t>
            </a:r>
          </a:p>
        </p:txBody>
      </p:sp>
      <p:sp>
        <p:nvSpPr>
          <p:cNvPr id="398377" name="Line 41"/>
          <p:cNvSpPr>
            <a:spLocks noChangeShapeType="1"/>
          </p:cNvSpPr>
          <p:nvPr/>
        </p:nvSpPr>
        <p:spPr bwMode="auto">
          <a:xfrm flipH="1" flipV="1">
            <a:off x="5334000" y="2971800"/>
            <a:ext cx="457200" cy="533400"/>
          </a:xfrm>
          <a:prstGeom prst="line">
            <a:avLst/>
          </a:prstGeom>
          <a:noFill/>
          <a:ln w="9525">
            <a:solidFill>
              <a:schemeClr val="tx1"/>
            </a:solidFill>
            <a:round/>
            <a:headEnd/>
            <a:tailEnd type="triangle" w="med" len="med"/>
          </a:ln>
          <a:effectLst/>
        </p:spPr>
        <p:txBody>
          <a:bodyPr/>
          <a:lstStyle/>
          <a:p>
            <a:endParaRPr lang="en-US"/>
          </a:p>
        </p:txBody>
      </p:sp>
      <p:sp>
        <p:nvSpPr>
          <p:cNvPr id="398378" name="AutoShape 42"/>
          <p:cNvSpPr>
            <a:spLocks/>
          </p:cNvSpPr>
          <p:nvPr/>
        </p:nvSpPr>
        <p:spPr bwMode="auto">
          <a:xfrm>
            <a:off x="152400" y="914400"/>
            <a:ext cx="381000" cy="5105400"/>
          </a:xfrm>
          <a:prstGeom prst="leftBracket">
            <a:avLst>
              <a:gd name="adj" fmla="val 111667"/>
            </a:avLst>
          </a:prstGeom>
          <a:noFill/>
          <a:ln w="9525">
            <a:solidFill>
              <a:schemeClr val="tx1"/>
            </a:solidFill>
            <a:round/>
            <a:headEnd/>
            <a:tailEnd/>
          </a:ln>
          <a:effectLst/>
        </p:spPr>
        <p:txBody>
          <a:bodyPr wrap="none" anchor="ctr"/>
          <a:lstStyle/>
          <a:p>
            <a:endParaRPr lang="en-US"/>
          </a:p>
        </p:txBody>
      </p:sp>
      <p:sp>
        <p:nvSpPr>
          <p:cNvPr id="398379" name="AutoShape 43"/>
          <p:cNvSpPr>
            <a:spLocks/>
          </p:cNvSpPr>
          <p:nvPr/>
        </p:nvSpPr>
        <p:spPr bwMode="auto">
          <a:xfrm>
            <a:off x="8686800" y="990600"/>
            <a:ext cx="381000" cy="4953000"/>
          </a:xfrm>
          <a:prstGeom prst="rightBracket">
            <a:avLst>
              <a:gd name="adj" fmla="val 108333"/>
            </a:avLst>
          </a:prstGeom>
          <a:noFill/>
          <a:ln w="9525">
            <a:solidFill>
              <a:schemeClr val="tx1"/>
            </a:solidFill>
            <a:round/>
            <a:headEnd/>
            <a:tailEnd/>
          </a:ln>
          <a:effectLst/>
        </p:spPr>
        <p:txBody>
          <a:bodyPr wrap="none" anchor="ctr"/>
          <a:lstStyle/>
          <a:p>
            <a:endParaRPr lang="en-US"/>
          </a:p>
        </p:txBody>
      </p:sp>
      <p:sp>
        <p:nvSpPr>
          <p:cNvPr id="398380" name="Text Box 44"/>
          <p:cNvSpPr txBox="1">
            <a:spLocks noChangeArrowheads="1"/>
          </p:cNvSpPr>
          <p:nvPr/>
        </p:nvSpPr>
        <p:spPr bwMode="auto">
          <a:xfrm rot="16200000">
            <a:off x="-675482" y="3266282"/>
            <a:ext cx="1960563" cy="304800"/>
          </a:xfrm>
          <a:prstGeom prst="rect">
            <a:avLst/>
          </a:prstGeom>
          <a:noFill/>
          <a:ln w="9525">
            <a:noFill/>
            <a:miter lim="800000"/>
            <a:headEnd/>
            <a:tailEnd/>
          </a:ln>
          <a:effectLst/>
        </p:spPr>
        <p:txBody>
          <a:bodyPr wrap="none">
            <a:spAutoFit/>
          </a:bodyPr>
          <a:lstStyle/>
          <a:p>
            <a:r>
              <a:rPr lang="en-US" sz="1400" b="1">
                <a:solidFill>
                  <a:schemeClr val="bg2"/>
                </a:solidFill>
              </a:rPr>
              <a:t>Lending Line of Business</a:t>
            </a:r>
          </a:p>
        </p:txBody>
      </p:sp>
      <p:sp>
        <p:nvSpPr>
          <p:cNvPr id="398381" name="Text Box 45"/>
          <p:cNvSpPr txBox="1">
            <a:spLocks noChangeArrowheads="1"/>
          </p:cNvSpPr>
          <p:nvPr/>
        </p:nvSpPr>
        <p:spPr bwMode="auto">
          <a:xfrm rot="5400000">
            <a:off x="7935118" y="3266282"/>
            <a:ext cx="1960563" cy="304800"/>
          </a:xfrm>
          <a:prstGeom prst="rect">
            <a:avLst/>
          </a:prstGeom>
          <a:noFill/>
          <a:ln w="9525">
            <a:noFill/>
            <a:miter lim="800000"/>
            <a:headEnd/>
            <a:tailEnd/>
          </a:ln>
          <a:effectLst/>
        </p:spPr>
        <p:txBody>
          <a:bodyPr wrap="none">
            <a:spAutoFit/>
          </a:bodyPr>
          <a:lstStyle/>
          <a:p>
            <a:r>
              <a:rPr lang="en-US" sz="1400" b="1">
                <a:solidFill>
                  <a:schemeClr val="bg2"/>
                </a:solidFill>
              </a:rPr>
              <a:t>Lending Line of Business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p:cNvSpPr>
            <a:spLocks noGrp="1" noChangeArrowheads="1"/>
          </p:cNvSpPr>
          <p:nvPr>
            <p:ph type="ctrTitle"/>
          </p:nvPr>
        </p:nvSpPr>
        <p:spPr/>
        <p:txBody>
          <a:bodyPr/>
          <a:lstStyle/>
          <a:p>
            <a:r>
              <a:rPr lang="en-US" sz="4000">
                <a:latin typeface="Arial Narrow" pitchFamily="34" charset="0"/>
              </a:rPr>
              <a:t>Business Process Management Best Practices</a:t>
            </a:r>
          </a:p>
        </p:txBody>
      </p:sp>
      <p:sp>
        <p:nvSpPr>
          <p:cNvPr id="418819" name="Rectangle 3"/>
          <p:cNvSpPr>
            <a:spLocks noGrp="1" noChangeArrowheads="1"/>
          </p:cNvSpPr>
          <p:nvPr>
            <p:ph type="subTitle" idx="1"/>
          </p:nvPr>
        </p:nvSpPr>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a:xfrm>
            <a:off x="457200" y="762000"/>
            <a:ext cx="8229600" cy="762000"/>
          </a:xfrm>
        </p:spPr>
        <p:txBody>
          <a:bodyPr/>
          <a:lstStyle/>
          <a:p>
            <a:r>
              <a:rPr lang="en-US" sz="3600">
                <a:latin typeface="Arial Narrow" pitchFamily="34" charset="0"/>
              </a:rPr>
              <a:t>Business Process Management Best Practices</a:t>
            </a:r>
          </a:p>
        </p:txBody>
      </p:sp>
      <p:sp>
        <p:nvSpPr>
          <p:cNvPr id="424963" name="Rectangle 3"/>
          <p:cNvSpPr>
            <a:spLocks noGrp="1" noChangeArrowheads="1"/>
          </p:cNvSpPr>
          <p:nvPr>
            <p:ph type="body" idx="1"/>
          </p:nvPr>
        </p:nvSpPr>
        <p:spPr/>
        <p:txBody>
          <a:bodyPr/>
          <a:lstStyle/>
          <a:p>
            <a:pPr>
              <a:lnSpc>
                <a:spcPct val="90000"/>
              </a:lnSpc>
            </a:pPr>
            <a:r>
              <a:rPr lang="en-US" sz="2000">
                <a:latin typeface="Arial Narrow" pitchFamily="34" charset="0"/>
              </a:rPr>
              <a:t>Business process management recommends that we:</a:t>
            </a:r>
          </a:p>
          <a:p>
            <a:pPr>
              <a:lnSpc>
                <a:spcPct val="90000"/>
              </a:lnSpc>
              <a:buFont typeface="Wingdings" pitchFamily="2" charset="2"/>
              <a:buNone/>
            </a:pPr>
            <a:r>
              <a:rPr lang="en-US" sz="2000">
                <a:latin typeface="Arial Narrow" pitchFamily="34" charset="0"/>
              </a:rPr>
              <a:t> </a:t>
            </a:r>
          </a:p>
          <a:p>
            <a:pPr lvl="1">
              <a:lnSpc>
                <a:spcPct val="90000"/>
              </a:lnSpc>
            </a:pPr>
            <a:r>
              <a:rPr lang="en-US" sz="2000">
                <a:latin typeface="Arial Narrow" pitchFamily="34" charset="0"/>
              </a:rPr>
              <a:t>Define internal best practices and guidelines to ensure that business process models are consistently developed (ARIS Framework)</a:t>
            </a:r>
          </a:p>
          <a:p>
            <a:pPr lvl="1">
              <a:lnSpc>
                <a:spcPct val="90000"/>
              </a:lnSpc>
            </a:pPr>
            <a:r>
              <a:rPr lang="en-US" sz="2000">
                <a:latin typeface="Arial Narrow" pitchFamily="34" charset="0"/>
              </a:rPr>
              <a:t>Develop business models for processes, and inventory, register and publish existing business models  (Business Analysts &amp; Stewards working with IQ and IS teams)</a:t>
            </a:r>
          </a:p>
          <a:p>
            <a:pPr lvl="1">
              <a:lnSpc>
                <a:spcPct val="90000"/>
              </a:lnSpc>
            </a:pPr>
            <a:r>
              <a:rPr lang="en-US" sz="2000">
                <a:latin typeface="Arial Narrow" pitchFamily="34" charset="0"/>
              </a:rPr>
              <a:t>Recommend standards-based modeling and execution languages to be used by developers for implementing business process models (OASIS – BPEL, WSDL, XSD)</a:t>
            </a:r>
          </a:p>
          <a:p>
            <a:pPr lvl="1">
              <a:lnSpc>
                <a:spcPct val="90000"/>
              </a:lnSpc>
            </a:pPr>
            <a:r>
              <a:rPr lang="en-US" sz="2000">
                <a:latin typeface="Arial Narrow" pitchFamily="34" charset="0"/>
              </a:rPr>
              <a:t>Build a business architecture layer as part of enterprise architecture (SOA + BA)</a:t>
            </a:r>
          </a:p>
          <a:p>
            <a:pPr lvl="1">
              <a:lnSpc>
                <a:spcPct val="90000"/>
              </a:lnSpc>
            </a:pPr>
            <a:r>
              <a:rPr lang="en-US" sz="2000">
                <a:latin typeface="Arial Narrow" pitchFamily="34" charset="0"/>
              </a:rPr>
              <a:t>Establish an enterprise governance process for business process management</a:t>
            </a:r>
          </a:p>
          <a:p>
            <a:pPr>
              <a:lnSpc>
                <a:spcPct val="90000"/>
              </a:lnSpc>
              <a:buFont typeface="Wingdings" pitchFamily="2" charset="2"/>
              <a:buNone/>
            </a:pPr>
            <a:endParaRPr lang="en-US" sz="2000">
              <a:latin typeface="Arial Narrow"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p:txBody>
          <a:bodyPr/>
          <a:lstStyle/>
          <a:p>
            <a:r>
              <a:rPr lang="en-US" sz="3600">
                <a:latin typeface="Arial Narrow" pitchFamily="34" charset="0"/>
              </a:rPr>
              <a:t>Business Process Models</a:t>
            </a:r>
          </a:p>
        </p:txBody>
      </p:sp>
      <p:sp>
        <p:nvSpPr>
          <p:cNvPr id="425987" name="Rectangle 3"/>
          <p:cNvSpPr>
            <a:spLocks noGrp="1" noChangeArrowheads="1"/>
          </p:cNvSpPr>
          <p:nvPr>
            <p:ph type="body" idx="1"/>
          </p:nvPr>
        </p:nvSpPr>
        <p:spPr>
          <a:xfrm>
            <a:off x="228600" y="1828800"/>
            <a:ext cx="8686800" cy="4724400"/>
          </a:xfrm>
        </p:spPr>
        <p:txBody>
          <a:bodyPr/>
          <a:lstStyle/>
          <a:p>
            <a:r>
              <a:rPr lang="en-US" sz="2400">
                <a:latin typeface="Arial Narrow" pitchFamily="34" charset="0"/>
              </a:rPr>
              <a:t>A business process should be represented as models of end-to-end sequence of tasks or subprocesses, which describe all of the inputs, outputs and steps/activities required to execute the process</a:t>
            </a:r>
          </a:p>
          <a:p>
            <a:endParaRPr lang="en-US" sz="2400">
              <a:latin typeface="Arial Narrow" pitchFamily="34" charset="0"/>
            </a:endParaRPr>
          </a:p>
          <a:p>
            <a:r>
              <a:rPr lang="en-US" sz="2400">
                <a:latin typeface="Arial Narrow" pitchFamily="34" charset="0"/>
              </a:rPr>
              <a:t>ARIS framework provides us with a comprehensive view of a business process description</a:t>
            </a:r>
          </a:p>
          <a:p>
            <a:endParaRPr lang="en-US" sz="2400">
              <a:latin typeface="Arial Narrow" pitchFamily="34" charset="0"/>
            </a:endParaRPr>
          </a:p>
          <a:p>
            <a:r>
              <a:rPr lang="en-US" sz="2400">
                <a:latin typeface="Arial Narrow" pitchFamily="34" charset="0"/>
              </a:rPr>
              <a:t>Working within the business framework, and leveraging the ARIS business processing modeling strategy, we can both harmonize across the organization and standardize our current business knowledge </a:t>
            </a:r>
          </a:p>
          <a:p>
            <a:endParaRPr lang="en-US" sz="2400">
              <a:latin typeface="Arial Narrow" pitchFamily="34" charset="0"/>
            </a:endParaRPr>
          </a:p>
          <a:p>
            <a:pPr lvl="1"/>
            <a:endParaRPr lang="en-US" sz="2400">
              <a:latin typeface="Arial Narrow"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6050" name="Rectangle 2"/>
          <p:cNvSpPr>
            <a:spLocks noChangeArrowheads="1"/>
          </p:cNvSpPr>
          <p:nvPr/>
        </p:nvSpPr>
        <p:spPr bwMode="auto">
          <a:xfrm>
            <a:off x="3733800" y="2057400"/>
            <a:ext cx="1295400" cy="533400"/>
          </a:xfrm>
          <a:prstGeom prst="rect">
            <a:avLst/>
          </a:prstGeom>
          <a:solidFill>
            <a:schemeClr val="bg1"/>
          </a:solidFill>
          <a:ln w="9525">
            <a:solidFill>
              <a:schemeClr val="tx1"/>
            </a:solidFill>
            <a:miter lim="800000"/>
            <a:headEnd/>
            <a:tailEnd/>
          </a:ln>
          <a:effectLst/>
        </p:spPr>
        <p:txBody>
          <a:bodyPr wrap="none" anchor="ctr"/>
          <a:lstStyle/>
          <a:p>
            <a:pPr algn="ctr" eaLnBrk="1" hangingPunct="1"/>
            <a:r>
              <a:rPr lang="en-US" sz="1400">
                <a:latin typeface="Arial" charset="0"/>
                <a:cs typeface="Arial" charset="0"/>
              </a:rPr>
              <a:t>Environmental </a:t>
            </a:r>
          </a:p>
          <a:p>
            <a:pPr algn="ctr" eaLnBrk="1" hangingPunct="1"/>
            <a:r>
              <a:rPr lang="en-US" sz="1400">
                <a:latin typeface="Arial" charset="0"/>
                <a:cs typeface="Arial" charset="0"/>
              </a:rPr>
              <a:t>Data</a:t>
            </a:r>
          </a:p>
        </p:txBody>
      </p:sp>
      <p:sp>
        <p:nvSpPr>
          <p:cNvPr id="386051" name="Rectangle 3"/>
          <p:cNvSpPr>
            <a:spLocks noChangeArrowheads="1"/>
          </p:cNvSpPr>
          <p:nvPr/>
        </p:nvSpPr>
        <p:spPr bwMode="auto">
          <a:xfrm>
            <a:off x="533400" y="914400"/>
            <a:ext cx="1295400" cy="533400"/>
          </a:xfrm>
          <a:prstGeom prst="rect">
            <a:avLst/>
          </a:prstGeom>
          <a:solidFill>
            <a:schemeClr val="bg1"/>
          </a:solidFill>
          <a:ln w="9525">
            <a:solidFill>
              <a:schemeClr val="tx1"/>
            </a:solidFill>
            <a:miter lim="800000"/>
            <a:headEnd/>
            <a:tailEnd/>
          </a:ln>
          <a:effectLst/>
        </p:spPr>
        <p:txBody>
          <a:bodyPr wrap="none" anchor="ctr"/>
          <a:lstStyle/>
          <a:p>
            <a:pPr algn="ctr" eaLnBrk="1" hangingPunct="1"/>
            <a:r>
              <a:rPr lang="en-US" sz="1400">
                <a:latin typeface="Arial" charset="0"/>
                <a:cs typeface="Arial" charset="0"/>
              </a:rPr>
              <a:t>Information </a:t>
            </a:r>
          </a:p>
          <a:p>
            <a:pPr algn="ctr" eaLnBrk="1" hangingPunct="1"/>
            <a:r>
              <a:rPr lang="en-US" sz="1400">
                <a:latin typeface="Arial" charset="0"/>
                <a:cs typeface="Arial" charset="0"/>
              </a:rPr>
              <a:t>Services</a:t>
            </a:r>
          </a:p>
        </p:txBody>
      </p:sp>
      <p:sp>
        <p:nvSpPr>
          <p:cNvPr id="386052" name="Rectangle 4"/>
          <p:cNvSpPr>
            <a:spLocks noChangeArrowheads="1"/>
          </p:cNvSpPr>
          <p:nvPr/>
        </p:nvSpPr>
        <p:spPr bwMode="auto">
          <a:xfrm>
            <a:off x="533400" y="1752600"/>
            <a:ext cx="1295400" cy="533400"/>
          </a:xfrm>
          <a:prstGeom prst="rect">
            <a:avLst/>
          </a:prstGeom>
          <a:solidFill>
            <a:schemeClr val="bg1"/>
          </a:solidFill>
          <a:ln w="9525">
            <a:solidFill>
              <a:schemeClr val="tx1"/>
            </a:solidFill>
            <a:miter lim="800000"/>
            <a:headEnd/>
            <a:tailEnd/>
          </a:ln>
          <a:effectLst/>
        </p:spPr>
        <p:txBody>
          <a:bodyPr wrap="none" anchor="ctr"/>
          <a:lstStyle/>
          <a:p>
            <a:pPr algn="ctr" eaLnBrk="1" hangingPunct="1"/>
            <a:r>
              <a:rPr lang="en-US" sz="1400">
                <a:latin typeface="Arial" charset="0"/>
                <a:cs typeface="Arial" charset="0"/>
              </a:rPr>
              <a:t>Other </a:t>
            </a:r>
          </a:p>
          <a:p>
            <a:pPr algn="ctr" eaLnBrk="1" hangingPunct="1"/>
            <a:r>
              <a:rPr lang="en-US" sz="1400">
                <a:latin typeface="Arial" charset="0"/>
                <a:cs typeface="Arial" charset="0"/>
              </a:rPr>
              <a:t>Services</a:t>
            </a:r>
          </a:p>
        </p:txBody>
      </p:sp>
      <p:sp>
        <p:nvSpPr>
          <p:cNvPr id="386053" name="Rectangle 5"/>
          <p:cNvSpPr>
            <a:spLocks noChangeArrowheads="1"/>
          </p:cNvSpPr>
          <p:nvPr/>
        </p:nvSpPr>
        <p:spPr bwMode="auto">
          <a:xfrm>
            <a:off x="533400" y="2514600"/>
            <a:ext cx="1295400" cy="533400"/>
          </a:xfrm>
          <a:prstGeom prst="rect">
            <a:avLst/>
          </a:prstGeom>
          <a:solidFill>
            <a:schemeClr val="bg1"/>
          </a:solidFill>
          <a:ln w="9525">
            <a:solidFill>
              <a:schemeClr val="tx1"/>
            </a:solidFill>
            <a:miter lim="800000"/>
            <a:headEnd/>
            <a:tailEnd/>
          </a:ln>
          <a:effectLst/>
        </p:spPr>
        <p:txBody>
          <a:bodyPr wrap="none" anchor="ctr"/>
          <a:lstStyle/>
          <a:p>
            <a:pPr algn="ctr" eaLnBrk="1" hangingPunct="1"/>
            <a:r>
              <a:rPr lang="en-US" sz="1400">
                <a:latin typeface="Arial" charset="0"/>
                <a:cs typeface="Arial" charset="0"/>
              </a:rPr>
              <a:t>Material Input</a:t>
            </a:r>
          </a:p>
        </p:txBody>
      </p:sp>
      <p:sp>
        <p:nvSpPr>
          <p:cNvPr id="386054" name="Rectangle 6"/>
          <p:cNvSpPr>
            <a:spLocks noChangeArrowheads="1"/>
          </p:cNvSpPr>
          <p:nvPr/>
        </p:nvSpPr>
        <p:spPr bwMode="auto">
          <a:xfrm>
            <a:off x="533400" y="3276600"/>
            <a:ext cx="1295400" cy="533400"/>
          </a:xfrm>
          <a:prstGeom prst="rect">
            <a:avLst/>
          </a:prstGeom>
          <a:solidFill>
            <a:schemeClr val="bg1"/>
          </a:solidFill>
          <a:ln w="9525">
            <a:solidFill>
              <a:schemeClr val="tx1"/>
            </a:solidFill>
            <a:miter lim="800000"/>
            <a:headEnd/>
            <a:tailEnd/>
          </a:ln>
          <a:effectLst/>
        </p:spPr>
        <p:txBody>
          <a:bodyPr wrap="none" anchor="ctr"/>
          <a:lstStyle/>
          <a:p>
            <a:pPr algn="ctr" eaLnBrk="1" hangingPunct="1"/>
            <a:r>
              <a:rPr lang="en-US" sz="1400">
                <a:latin typeface="Arial" charset="0"/>
                <a:cs typeface="Arial" charset="0"/>
              </a:rPr>
              <a:t>Financial</a:t>
            </a:r>
          </a:p>
          <a:p>
            <a:pPr algn="ctr" eaLnBrk="1" hangingPunct="1"/>
            <a:r>
              <a:rPr lang="en-US" sz="1400">
                <a:latin typeface="Arial" charset="0"/>
                <a:cs typeface="Arial" charset="0"/>
              </a:rPr>
              <a:t>Resources</a:t>
            </a:r>
          </a:p>
        </p:txBody>
      </p:sp>
      <p:sp>
        <p:nvSpPr>
          <p:cNvPr id="386055" name="AutoShape 7"/>
          <p:cNvSpPr>
            <a:spLocks noChangeArrowheads="1"/>
          </p:cNvSpPr>
          <p:nvPr/>
        </p:nvSpPr>
        <p:spPr bwMode="auto">
          <a:xfrm>
            <a:off x="381000" y="4114800"/>
            <a:ext cx="1600200" cy="685800"/>
          </a:xfrm>
          <a:prstGeom prst="flowChartDecision">
            <a:avLst/>
          </a:prstGeom>
          <a:solidFill>
            <a:schemeClr val="bg1"/>
          </a:solidFill>
          <a:ln w="9525">
            <a:solidFill>
              <a:schemeClr val="tx1"/>
            </a:solidFill>
            <a:miter lim="800000"/>
            <a:headEnd/>
            <a:tailEnd/>
          </a:ln>
          <a:effectLst/>
        </p:spPr>
        <p:txBody>
          <a:bodyPr wrap="none" anchor="ctr"/>
          <a:lstStyle/>
          <a:p>
            <a:pPr algn="ctr" eaLnBrk="1" hangingPunct="1"/>
            <a:r>
              <a:rPr lang="en-US" sz="1200">
                <a:latin typeface="Arial" charset="0"/>
                <a:cs typeface="Arial" charset="0"/>
              </a:rPr>
              <a:t>Initial Event</a:t>
            </a:r>
          </a:p>
        </p:txBody>
      </p:sp>
      <p:sp>
        <p:nvSpPr>
          <p:cNvPr id="386056" name="AutoShape 8"/>
          <p:cNvSpPr>
            <a:spLocks noChangeArrowheads="1"/>
          </p:cNvSpPr>
          <p:nvPr/>
        </p:nvSpPr>
        <p:spPr bwMode="auto">
          <a:xfrm>
            <a:off x="2362200" y="4343400"/>
            <a:ext cx="685800" cy="304800"/>
          </a:xfrm>
          <a:prstGeom prst="flowChartProcess">
            <a:avLst/>
          </a:prstGeom>
          <a:solidFill>
            <a:schemeClr val="bg1"/>
          </a:solidFill>
          <a:ln w="9525">
            <a:solidFill>
              <a:schemeClr val="tx1"/>
            </a:solidFill>
            <a:miter lim="800000"/>
            <a:headEnd/>
            <a:tailEnd/>
          </a:ln>
          <a:effectLst/>
        </p:spPr>
        <p:txBody>
          <a:bodyPr wrap="none" anchor="ctr"/>
          <a:lstStyle/>
          <a:p>
            <a:pPr algn="ctr" eaLnBrk="1" hangingPunct="1"/>
            <a:r>
              <a:rPr lang="en-US" sz="1000">
                <a:latin typeface="Arial" charset="0"/>
                <a:cs typeface="Arial" charset="0"/>
              </a:rPr>
              <a:t>Message</a:t>
            </a:r>
          </a:p>
        </p:txBody>
      </p:sp>
      <p:sp>
        <p:nvSpPr>
          <p:cNvPr id="386057" name="Rectangle 9"/>
          <p:cNvSpPr>
            <a:spLocks noChangeArrowheads="1"/>
          </p:cNvSpPr>
          <p:nvPr/>
        </p:nvSpPr>
        <p:spPr bwMode="auto">
          <a:xfrm>
            <a:off x="3505200" y="3733800"/>
            <a:ext cx="1981200" cy="990600"/>
          </a:xfrm>
          <a:prstGeom prst="rect">
            <a:avLst/>
          </a:prstGeom>
          <a:solidFill>
            <a:schemeClr val="bg1"/>
          </a:solidFill>
          <a:ln w="9525">
            <a:solidFill>
              <a:schemeClr val="tx1"/>
            </a:solidFill>
            <a:miter lim="800000"/>
            <a:headEnd/>
            <a:tailEnd/>
          </a:ln>
          <a:effectLst/>
        </p:spPr>
        <p:txBody>
          <a:bodyPr wrap="none" anchor="ctr"/>
          <a:lstStyle/>
          <a:p>
            <a:pPr algn="ctr" eaLnBrk="1" hangingPunct="1"/>
            <a:r>
              <a:rPr lang="en-US" sz="1400">
                <a:latin typeface="Arial" charset="0"/>
                <a:cs typeface="Arial" charset="0"/>
              </a:rPr>
              <a:t>Business </a:t>
            </a:r>
          </a:p>
          <a:p>
            <a:pPr algn="ctr" eaLnBrk="1" hangingPunct="1"/>
            <a:r>
              <a:rPr lang="en-US" sz="1400">
                <a:latin typeface="Arial" charset="0"/>
                <a:cs typeface="Arial" charset="0"/>
              </a:rPr>
              <a:t>Process</a:t>
            </a:r>
          </a:p>
          <a:p>
            <a:pPr algn="ctr" eaLnBrk="1" hangingPunct="1"/>
            <a:r>
              <a:rPr lang="en-US" sz="1400">
                <a:latin typeface="Arial" charset="0"/>
                <a:cs typeface="Arial" charset="0"/>
              </a:rPr>
              <a:t>Steps &amp; Subprocesses</a:t>
            </a:r>
          </a:p>
        </p:txBody>
      </p:sp>
      <p:sp>
        <p:nvSpPr>
          <p:cNvPr id="386058" name="AutoShape 10"/>
          <p:cNvSpPr>
            <a:spLocks noChangeArrowheads="1"/>
          </p:cNvSpPr>
          <p:nvPr/>
        </p:nvSpPr>
        <p:spPr bwMode="auto">
          <a:xfrm>
            <a:off x="6629400" y="4038600"/>
            <a:ext cx="1600200" cy="685800"/>
          </a:xfrm>
          <a:prstGeom prst="flowChartDecision">
            <a:avLst/>
          </a:prstGeom>
          <a:solidFill>
            <a:schemeClr val="bg1"/>
          </a:solidFill>
          <a:ln w="9525">
            <a:solidFill>
              <a:schemeClr val="tx1"/>
            </a:solidFill>
            <a:miter lim="800000"/>
            <a:headEnd/>
            <a:tailEnd/>
          </a:ln>
          <a:effectLst/>
        </p:spPr>
        <p:txBody>
          <a:bodyPr wrap="none" anchor="ctr"/>
          <a:lstStyle/>
          <a:p>
            <a:pPr algn="ctr" eaLnBrk="1" hangingPunct="1"/>
            <a:r>
              <a:rPr lang="en-US" sz="1200">
                <a:latin typeface="Arial" charset="0"/>
                <a:cs typeface="Arial" charset="0"/>
              </a:rPr>
              <a:t>Result/Event</a:t>
            </a:r>
          </a:p>
        </p:txBody>
      </p:sp>
      <p:sp>
        <p:nvSpPr>
          <p:cNvPr id="386059" name="Rectangle 11"/>
          <p:cNvSpPr>
            <a:spLocks noChangeArrowheads="1"/>
          </p:cNvSpPr>
          <p:nvPr/>
        </p:nvSpPr>
        <p:spPr bwMode="auto">
          <a:xfrm>
            <a:off x="6858000" y="914400"/>
            <a:ext cx="1295400" cy="533400"/>
          </a:xfrm>
          <a:prstGeom prst="rect">
            <a:avLst/>
          </a:prstGeom>
          <a:solidFill>
            <a:schemeClr val="bg1"/>
          </a:solidFill>
          <a:ln w="9525">
            <a:solidFill>
              <a:schemeClr val="tx1"/>
            </a:solidFill>
            <a:miter lim="800000"/>
            <a:headEnd/>
            <a:tailEnd/>
          </a:ln>
          <a:effectLst/>
        </p:spPr>
        <p:txBody>
          <a:bodyPr wrap="none" anchor="ctr"/>
          <a:lstStyle/>
          <a:p>
            <a:pPr algn="ctr" eaLnBrk="1" hangingPunct="1"/>
            <a:r>
              <a:rPr lang="en-US" sz="1400">
                <a:latin typeface="Arial" charset="0"/>
                <a:cs typeface="Arial" charset="0"/>
              </a:rPr>
              <a:t>Information </a:t>
            </a:r>
          </a:p>
          <a:p>
            <a:pPr algn="ctr" eaLnBrk="1" hangingPunct="1"/>
            <a:r>
              <a:rPr lang="en-US" sz="1400">
                <a:latin typeface="Arial" charset="0"/>
                <a:cs typeface="Arial" charset="0"/>
              </a:rPr>
              <a:t>Services</a:t>
            </a:r>
          </a:p>
        </p:txBody>
      </p:sp>
      <p:sp>
        <p:nvSpPr>
          <p:cNvPr id="386060" name="Rectangle 12"/>
          <p:cNvSpPr>
            <a:spLocks noChangeArrowheads="1"/>
          </p:cNvSpPr>
          <p:nvPr/>
        </p:nvSpPr>
        <p:spPr bwMode="auto">
          <a:xfrm>
            <a:off x="6858000" y="1752600"/>
            <a:ext cx="1295400" cy="533400"/>
          </a:xfrm>
          <a:prstGeom prst="rect">
            <a:avLst/>
          </a:prstGeom>
          <a:solidFill>
            <a:schemeClr val="bg1"/>
          </a:solidFill>
          <a:ln w="9525">
            <a:solidFill>
              <a:schemeClr val="tx1"/>
            </a:solidFill>
            <a:miter lim="800000"/>
            <a:headEnd/>
            <a:tailEnd/>
          </a:ln>
          <a:effectLst/>
        </p:spPr>
        <p:txBody>
          <a:bodyPr wrap="none" anchor="ctr"/>
          <a:lstStyle/>
          <a:p>
            <a:pPr algn="ctr" eaLnBrk="1" hangingPunct="1"/>
            <a:r>
              <a:rPr lang="en-US" sz="1400">
                <a:latin typeface="Arial" charset="0"/>
                <a:cs typeface="Arial" charset="0"/>
              </a:rPr>
              <a:t>Other </a:t>
            </a:r>
          </a:p>
          <a:p>
            <a:pPr algn="ctr" eaLnBrk="1" hangingPunct="1"/>
            <a:r>
              <a:rPr lang="en-US" sz="1400">
                <a:latin typeface="Arial" charset="0"/>
                <a:cs typeface="Arial" charset="0"/>
              </a:rPr>
              <a:t>Services</a:t>
            </a:r>
          </a:p>
        </p:txBody>
      </p:sp>
      <p:sp>
        <p:nvSpPr>
          <p:cNvPr id="386061" name="Rectangle 13"/>
          <p:cNvSpPr>
            <a:spLocks noChangeArrowheads="1"/>
          </p:cNvSpPr>
          <p:nvPr/>
        </p:nvSpPr>
        <p:spPr bwMode="auto">
          <a:xfrm>
            <a:off x="6858000" y="2514600"/>
            <a:ext cx="1295400" cy="533400"/>
          </a:xfrm>
          <a:prstGeom prst="rect">
            <a:avLst/>
          </a:prstGeom>
          <a:solidFill>
            <a:schemeClr val="bg1"/>
          </a:solidFill>
          <a:ln w="9525">
            <a:solidFill>
              <a:schemeClr val="tx1"/>
            </a:solidFill>
            <a:miter lim="800000"/>
            <a:headEnd/>
            <a:tailEnd/>
          </a:ln>
          <a:effectLst/>
        </p:spPr>
        <p:txBody>
          <a:bodyPr wrap="none" anchor="ctr"/>
          <a:lstStyle/>
          <a:p>
            <a:pPr algn="ctr" eaLnBrk="1" hangingPunct="1"/>
            <a:r>
              <a:rPr lang="en-US" sz="1400">
                <a:latin typeface="Arial" charset="0"/>
                <a:cs typeface="Arial" charset="0"/>
              </a:rPr>
              <a:t>Material Input</a:t>
            </a:r>
          </a:p>
        </p:txBody>
      </p:sp>
      <p:sp>
        <p:nvSpPr>
          <p:cNvPr id="386062" name="Rectangle 14"/>
          <p:cNvSpPr>
            <a:spLocks noChangeArrowheads="1"/>
          </p:cNvSpPr>
          <p:nvPr/>
        </p:nvSpPr>
        <p:spPr bwMode="auto">
          <a:xfrm>
            <a:off x="6858000" y="3276600"/>
            <a:ext cx="1295400" cy="533400"/>
          </a:xfrm>
          <a:prstGeom prst="rect">
            <a:avLst/>
          </a:prstGeom>
          <a:solidFill>
            <a:schemeClr val="bg1"/>
          </a:solidFill>
          <a:ln w="9525">
            <a:solidFill>
              <a:schemeClr val="tx1"/>
            </a:solidFill>
            <a:miter lim="800000"/>
            <a:headEnd/>
            <a:tailEnd/>
          </a:ln>
          <a:effectLst/>
        </p:spPr>
        <p:txBody>
          <a:bodyPr wrap="none" anchor="ctr"/>
          <a:lstStyle/>
          <a:p>
            <a:pPr algn="ctr" eaLnBrk="1" hangingPunct="1"/>
            <a:r>
              <a:rPr lang="en-US" sz="1400">
                <a:latin typeface="Arial" charset="0"/>
                <a:cs typeface="Arial" charset="0"/>
              </a:rPr>
              <a:t>Financial</a:t>
            </a:r>
          </a:p>
          <a:p>
            <a:pPr algn="ctr" eaLnBrk="1" hangingPunct="1"/>
            <a:r>
              <a:rPr lang="en-US" sz="1400">
                <a:latin typeface="Arial" charset="0"/>
                <a:cs typeface="Arial" charset="0"/>
              </a:rPr>
              <a:t>Resources</a:t>
            </a:r>
          </a:p>
        </p:txBody>
      </p:sp>
      <p:sp>
        <p:nvSpPr>
          <p:cNvPr id="386063" name="AutoShape 15"/>
          <p:cNvSpPr>
            <a:spLocks noChangeArrowheads="1"/>
          </p:cNvSpPr>
          <p:nvPr/>
        </p:nvSpPr>
        <p:spPr bwMode="auto">
          <a:xfrm>
            <a:off x="5181600" y="914400"/>
            <a:ext cx="1066800" cy="685800"/>
          </a:xfrm>
          <a:prstGeom prst="flowChartProcess">
            <a:avLst/>
          </a:prstGeom>
          <a:solidFill>
            <a:schemeClr val="bg1"/>
          </a:solidFill>
          <a:ln w="9525">
            <a:solidFill>
              <a:schemeClr val="tx1"/>
            </a:solidFill>
            <a:miter lim="800000"/>
            <a:headEnd/>
            <a:tailEnd/>
          </a:ln>
          <a:effectLst/>
        </p:spPr>
        <p:txBody>
          <a:bodyPr wrap="none" anchor="ctr"/>
          <a:lstStyle/>
          <a:p>
            <a:pPr algn="ctr" eaLnBrk="1" hangingPunct="1"/>
            <a:r>
              <a:rPr lang="en-US" sz="1400">
                <a:latin typeface="Arial" charset="0"/>
                <a:cs typeface="Arial" charset="0"/>
              </a:rPr>
              <a:t>Goal</a:t>
            </a:r>
          </a:p>
        </p:txBody>
      </p:sp>
      <p:sp>
        <p:nvSpPr>
          <p:cNvPr id="386064" name="Rectangle 16"/>
          <p:cNvSpPr>
            <a:spLocks noChangeArrowheads="1"/>
          </p:cNvSpPr>
          <p:nvPr/>
        </p:nvSpPr>
        <p:spPr bwMode="auto">
          <a:xfrm>
            <a:off x="6858000" y="5334000"/>
            <a:ext cx="1295400" cy="533400"/>
          </a:xfrm>
          <a:prstGeom prst="rect">
            <a:avLst/>
          </a:prstGeom>
          <a:solidFill>
            <a:schemeClr val="bg1"/>
          </a:solidFill>
          <a:ln w="9525">
            <a:solidFill>
              <a:schemeClr val="tx1"/>
            </a:solidFill>
            <a:miter lim="800000"/>
            <a:headEnd/>
            <a:tailEnd/>
          </a:ln>
          <a:effectLst/>
        </p:spPr>
        <p:txBody>
          <a:bodyPr wrap="none" anchor="ctr"/>
          <a:lstStyle/>
          <a:p>
            <a:pPr algn="ctr" eaLnBrk="1" hangingPunct="1"/>
            <a:r>
              <a:rPr lang="en-US" sz="1400">
                <a:latin typeface="Arial" charset="0"/>
                <a:cs typeface="Arial" charset="0"/>
              </a:rPr>
              <a:t>Software</a:t>
            </a:r>
          </a:p>
        </p:txBody>
      </p:sp>
      <p:sp>
        <p:nvSpPr>
          <p:cNvPr id="386065" name="Rectangle 17"/>
          <p:cNvSpPr>
            <a:spLocks noChangeArrowheads="1"/>
          </p:cNvSpPr>
          <p:nvPr/>
        </p:nvSpPr>
        <p:spPr bwMode="auto">
          <a:xfrm>
            <a:off x="5257800" y="5334000"/>
            <a:ext cx="1295400" cy="533400"/>
          </a:xfrm>
          <a:prstGeom prst="rect">
            <a:avLst/>
          </a:prstGeom>
          <a:solidFill>
            <a:schemeClr val="bg1"/>
          </a:solidFill>
          <a:ln w="9525">
            <a:solidFill>
              <a:schemeClr val="tx1"/>
            </a:solidFill>
            <a:miter lim="800000"/>
            <a:headEnd/>
            <a:tailEnd/>
          </a:ln>
          <a:effectLst/>
        </p:spPr>
        <p:txBody>
          <a:bodyPr wrap="none" anchor="ctr"/>
          <a:lstStyle/>
          <a:p>
            <a:pPr algn="ctr" eaLnBrk="1" hangingPunct="1"/>
            <a:r>
              <a:rPr lang="en-US" sz="1400">
                <a:latin typeface="Arial" charset="0"/>
                <a:cs typeface="Arial" charset="0"/>
              </a:rPr>
              <a:t>Computer</a:t>
            </a:r>
          </a:p>
          <a:p>
            <a:pPr algn="ctr" eaLnBrk="1" hangingPunct="1"/>
            <a:r>
              <a:rPr lang="en-US" sz="1400">
                <a:latin typeface="Arial" charset="0"/>
                <a:cs typeface="Arial" charset="0"/>
              </a:rPr>
              <a:t>Hardware</a:t>
            </a:r>
          </a:p>
        </p:txBody>
      </p:sp>
      <p:sp>
        <p:nvSpPr>
          <p:cNvPr id="386066" name="Rectangle 18"/>
          <p:cNvSpPr>
            <a:spLocks noChangeArrowheads="1"/>
          </p:cNvSpPr>
          <p:nvPr/>
        </p:nvSpPr>
        <p:spPr bwMode="auto">
          <a:xfrm>
            <a:off x="3657600" y="5334000"/>
            <a:ext cx="1295400" cy="533400"/>
          </a:xfrm>
          <a:prstGeom prst="rect">
            <a:avLst/>
          </a:prstGeom>
          <a:solidFill>
            <a:schemeClr val="bg1"/>
          </a:solidFill>
          <a:ln w="9525">
            <a:solidFill>
              <a:schemeClr val="tx1"/>
            </a:solidFill>
            <a:miter lim="800000"/>
            <a:headEnd/>
            <a:tailEnd/>
          </a:ln>
          <a:effectLst/>
        </p:spPr>
        <p:txBody>
          <a:bodyPr wrap="none" anchor="ctr"/>
          <a:lstStyle/>
          <a:p>
            <a:pPr algn="ctr" eaLnBrk="1" hangingPunct="1"/>
            <a:r>
              <a:rPr lang="en-US" sz="1400">
                <a:latin typeface="Arial" charset="0"/>
                <a:cs typeface="Arial" charset="0"/>
              </a:rPr>
              <a:t>Machine</a:t>
            </a:r>
          </a:p>
          <a:p>
            <a:pPr algn="ctr" eaLnBrk="1" hangingPunct="1"/>
            <a:r>
              <a:rPr lang="en-US" sz="1400">
                <a:latin typeface="Arial" charset="0"/>
                <a:cs typeface="Arial" charset="0"/>
              </a:rPr>
              <a:t>Resources</a:t>
            </a:r>
          </a:p>
        </p:txBody>
      </p:sp>
      <p:sp>
        <p:nvSpPr>
          <p:cNvPr id="386067" name="Rectangle 19"/>
          <p:cNvSpPr>
            <a:spLocks noChangeArrowheads="1"/>
          </p:cNvSpPr>
          <p:nvPr/>
        </p:nvSpPr>
        <p:spPr bwMode="auto">
          <a:xfrm>
            <a:off x="2057400" y="5334000"/>
            <a:ext cx="1295400" cy="533400"/>
          </a:xfrm>
          <a:prstGeom prst="rect">
            <a:avLst/>
          </a:prstGeom>
          <a:solidFill>
            <a:schemeClr val="bg1"/>
          </a:solidFill>
          <a:ln w="9525">
            <a:solidFill>
              <a:schemeClr val="tx1"/>
            </a:solidFill>
            <a:miter lim="800000"/>
            <a:headEnd/>
            <a:tailEnd/>
          </a:ln>
          <a:effectLst/>
        </p:spPr>
        <p:txBody>
          <a:bodyPr wrap="none" anchor="ctr"/>
          <a:lstStyle/>
          <a:p>
            <a:pPr algn="ctr" eaLnBrk="1" hangingPunct="1"/>
            <a:r>
              <a:rPr lang="en-US" sz="1400">
                <a:latin typeface="Arial" charset="0"/>
                <a:cs typeface="Arial" charset="0"/>
              </a:rPr>
              <a:t>Human </a:t>
            </a:r>
          </a:p>
          <a:p>
            <a:pPr algn="ctr" eaLnBrk="1" hangingPunct="1"/>
            <a:r>
              <a:rPr lang="en-US" sz="1400">
                <a:latin typeface="Arial" charset="0"/>
                <a:cs typeface="Arial" charset="0"/>
              </a:rPr>
              <a:t>Input/Output</a:t>
            </a:r>
          </a:p>
        </p:txBody>
      </p:sp>
      <p:sp>
        <p:nvSpPr>
          <p:cNvPr id="386068" name="Oval 20"/>
          <p:cNvSpPr>
            <a:spLocks noChangeArrowheads="1"/>
          </p:cNvSpPr>
          <p:nvPr/>
        </p:nvSpPr>
        <p:spPr bwMode="auto">
          <a:xfrm>
            <a:off x="533400" y="5257800"/>
            <a:ext cx="1219200" cy="685800"/>
          </a:xfrm>
          <a:prstGeom prst="ellipse">
            <a:avLst/>
          </a:prstGeom>
          <a:solidFill>
            <a:schemeClr val="bg1"/>
          </a:solidFill>
          <a:ln w="9525">
            <a:solidFill>
              <a:schemeClr val="tx1"/>
            </a:solidFill>
            <a:round/>
            <a:headEnd/>
            <a:tailEnd/>
          </a:ln>
          <a:effectLst/>
        </p:spPr>
        <p:txBody>
          <a:bodyPr wrap="none" anchor="ctr"/>
          <a:lstStyle/>
          <a:p>
            <a:pPr algn="ctr" eaLnBrk="1" hangingPunct="1"/>
            <a:r>
              <a:rPr lang="en-US">
                <a:latin typeface="Arial" charset="0"/>
                <a:cs typeface="Arial" charset="0"/>
              </a:rPr>
              <a:t>Org</a:t>
            </a:r>
          </a:p>
          <a:p>
            <a:pPr algn="ctr" eaLnBrk="1" hangingPunct="1"/>
            <a:r>
              <a:rPr lang="en-US">
                <a:latin typeface="Arial" charset="0"/>
                <a:cs typeface="Arial" charset="0"/>
              </a:rPr>
              <a:t>Unit</a:t>
            </a:r>
          </a:p>
        </p:txBody>
      </p:sp>
      <p:sp>
        <p:nvSpPr>
          <p:cNvPr id="386069" name="Text Box 21"/>
          <p:cNvSpPr txBox="1">
            <a:spLocks noChangeArrowheads="1"/>
          </p:cNvSpPr>
          <p:nvPr/>
        </p:nvSpPr>
        <p:spPr bwMode="auto">
          <a:xfrm>
            <a:off x="2590800" y="230188"/>
            <a:ext cx="3789363" cy="457200"/>
          </a:xfrm>
          <a:prstGeom prst="rect">
            <a:avLst/>
          </a:prstGeom>
          <a:noFill/>
          <a:ln w="9525">
            <a:noFill/>
            <a:miter lim="800000"/>
            <a:headEnd/>
            <a:tailEnd/>
          </a:ln>
          <a:effectLst/>
        </p:spPr>
        <p:txBody>
          <a:bodyPr wrap="none">
            <a:spAutoFit/>
          </a:bodyPr>
          <a:lstStyle/>
          <a:p>
            <a:pPr eaLnBrk="1" hangingPunct="1"/>
            <a:r>
              <a:rPr lang="en-US" sz="2400" b="1">
                <a:solidFill>
                  <a:schemeClr val="tx2"/>
                </a:solidFill>
                <a:cs typeface="Arial" charset="0"/>
              </a:rPr>
              <a:t>Business Process Description</a:t>
            </a:r>
          </a:p>
        </p:txBody>
      </p:sp>
      <p:sp>
        <p:nvSpPr>
          <p:cNvPr id="386070" name="Line 22"/>
          <p:cNvSpPr>
            <a:spLocks noChangeShapeType="1"/>
          </p:cNvSpPr>
          <p:nvPr/>
        </p:nvSpPr>
        <p:spPr bwMode="auto">
          <a:xfrm>
            <a:off x="1905000" y="1219200"/>
            <a:ext cx="2057400" cy="2362200"/>
          </a:xfrm>
          <a:prstGeom prst="line">
            <a:avLst/>
          </a:prstGeom>
          <a:noFill/>
          <a:ln w="9525">
            <a:solidFill>
              <a:schemeClr val="tx1"/>
            </a:solidFill>
            <a:round/>
            <a:headEnd/>
            <a:tailEnd type="triangle" w="med" len="med"/>
          </a:ln>
          <a:effectLst/>
        </p:spPr>
        <p:txBody>
          <a:bodyPr/>
          <a:lstStyle/>
          <a:p>
            <a:endParaRPr lang="en-US"/>
          </a:p>
        </p:txBody>
      </p:sp>
      <p:sp>
        <p:nvSpPr>
          <p:cNvPr id="386071" name="Line 23"/>
          <p:cNvSpPr>
            <a:spLocks noChangeShapeType="1"/>
          </p:cNvSpPr>
          <p:nvPr/>
        </p:nvSpPr>
        <p:spPr bwMode="auto">
          <a:xfrm>
            <a:off x="1905000" y="2057400"/>
            <a:ext cx="1752600" cy="1600200"/>
          </a:xfrm>
          <a:prstGeom prst="line">
            <a:avLst/>
          </a:prstGeom>
          <a:noFill/>
          <a:ln w="9525">
            <a:solidFill>
              <a:schemeClr val="tx1"/>
            </a:solidFill>
            <a:round/>
            <a:headEnd/>
            <a:tailEnd type="triangle" w="med" len="med"/>
          </a:ln>
          <a:effectLst/>
        </p:spPr>
        <p:txBody>
          <a:bodyPr/>
          <a:lstStyle/>
          <a:p>
            <a:endParaRPr lang="en-US"/>
          </a:p>
        </p:txBody>
      </p:sp>
      <p:sp>
        <p:nvSpPr>
          <p:cNvPr id="386072" name="Line 24"/>
          <p:cNvSpPr>
            <a:spLocks noChangeShapeType="1"/>
          </p:cNvSpPr>
          <p:nvPr/>
        </p:nvSpPr>
        <p:spPr bwMode="auto">
          <a:xfrm>
            <a:off x="1981200" y="2895600"/>
            <a:ext cx="1371600" cy="762000"/>
          </a:xfrm>
          <a:prstGeom prst="line">
            <a:avLst/>
          </a:prstGeom>
          <a:noFill/>
          <a:ln w="9525">
            <a:solidFill>
              <a:schemeClr val="tx1"/>
            </a:solidFill>
            <a:round/>
            <a:headEnd/>
            <a:tailEnd type="triangle" w="med" len="med"/>
          </a:ln>
          <a:effectLst/>
        </p:spPr>
        <p:txBody>
          <a:bodyPr/>
          <a:lstStyle/>
          <a:p>
            <a:endParaRPr lang="en-US"/>
          </a:p>
        </p:txBody>
      </p:sp>
      <p:sp>
        <p:nvSpPr>
          <p:cNvPr id="386073" name="Line 25"/>
          <p:cNvSpPr>
            <a:spLocks noChangeShapeType="1"/>
          </p:cNvSpPr>
          <p:nvPr/>
        </p:nvSpPr>
        <p:spPr bwMode="auto">
          <a:xfrm>
            <a:off x="1905000" y="3581400"/>
            <a:ext cx="1447800" cy="304800"/>
          </a:xfrm>
          <a:prstGeom prst="line">
            <a:avLst/>
          </a:prstGeom>
          <a:noFill/>
          <a:ln w="9525">
            <a:solidFill>
              <a:schemeClr val="tx1"/>
            </a:solidFill>
            <a:round/>
            <a:headEnd/>
            <a:tailEnd type="triangle" w="med" len="med"/>
          </a:ln>
          <a:effectLst/>
        </p:spPr>
        <p:txBody>
          <a:bodyPr/>
          <a:lstStyle/>
          <a:p>
            <a:endParaRPr lang="en-US"/>
          </a:p>
        </p:txBody>
      </p:sp>
      <p:sp>
        <p:nvSpPr>
          <p:cNvPr id="386074" name="Line 26"/>
          <p:cNvSpPr>
            <a:spLocks noChangeShapeType="1"/>
          </p:cNvSpPr>
          <p:nvPr/>
        </p:nvSpPr>
        <p:spPr bwMode="auto">
          <a:xfrm>
            <a:off x="1981200" y="4419600"/>
            <a:ext cx="381000" cy="0"/>
          </a:xfrm>
          <a:prstGeom prst="line">
            <a:avLst/>
          </a:prstGeom>
          <a:noFill/>
          <a:ln w="9525">
            <a:solidFill>
              <a:schemeClr val="tx1"/>
            </a:solidFill>
            <a:round/>
            <a:headEnd/>
            <a:tailEnd type="triangle" w="med" len="med"/>
          </a:ln>
          <a:effectLst/>
        </p:spPr>
        <p:txBody>
          <a:bodyPr/>
          <a:lstStyle/>
          <a:p>
            <a:endParaRPr lang="en-US"/>
          </a:p>
        </p:txBody>
      </p:sp>
      <p:sp>
        <p:nvSpPr>
          <p:cNvPr id="386075" name="Line 27"/>
          <p:cNvSpPr>
            <a:spLocks noChangeShapeType="1"/>
          </p:cNvSpPr>
          <p:nvPr/>
        </p:nvSpPr>
        <p:spPr bwMode="auto">
          <a:xfrm>
            <a:off x="3124200" y="4419600"/>
            <a:ext cx="304800" cy="0"/>
          </a:xfrm>
          <a:prstGeom prst="line">
            <a:avLst/>
          </a:prstGeom>
          <a:noFill/>
          <a:ln w="9525">
            <a:solidFill>
              <a:schemeClr val="tx1"/>
            </a:solidFill>
            <a:round/>
            <a:headEnd/>
            <a:tailEnd type="triangle" w="med" len="med"/>
          </a:ln>
          <a:effectLst/>
        </p:spPr>
        <p:txBody>
          <a:bodyPr/>
          <a:lstStyle/>
          <a:p>
            <a:endParaRPr lang="en-US"/>
          </a:p>
        </p:txBody>
      </p:sp>
      <p:sp>
        <p:nvSpPr>
          <p:cNvPr id="386076" name="Line 28"/>
          <p:cNvSpPr>
            <a:spLocks noChangeShapeType="1"/>
          </p:cNvSpPr>
          <p:nvPr/>
        </p:nvSpPr>
        <p:spPr bwMode="auto">
          <a:xfrm>
            <a:off x="5562600" y="4343400"/>
            <a:ext cx="914400" cy="0"/>
          </a:xfrm>
          <a:prstGeom prst="line">
            <a:avLst/>
          </a:prstGeom>
          <a:noFill/>
          <a:ln w="9525">
            <a:solidFill>
              <a:schemeClr val="tx1"/>
            </a:solidFill>
            <a:round/>
            <a:headEnd/>
            <a:tailEnd type="triangle" w="med" len="med"/>
          </a:ln>
          <a:effectLst/>
        </p:spPr>
        <p:txBody>
          <a:bodyPr/>
          <a:lstStyle/>
          <a:p>
            <a:endParaRPr lang="en-US"/>
          </a:p>
        </p:txBody>
      </p:sp>
      <p:sp>
        <p:nvSpPr>
          <p:cNvPr id="386077" name="Line 29"/>
          <p:cNvSpPr>
            <a:spLocks noChangeShapeType="1"/>
          </p:cNvSpPr>
          <p:nvPr/>
        </p:nvSpPr>
        <p:spPr bwMode="auto">
          <a:xfrm flipV="1">
            <a:off x="5334000" y="3352800"/>
            <a:ext cx="1371600" cy="304800"/>
          </a:xfrm>
          <a:prstGeom prst="line">
            <a:avLst/>
          </a:prstGeom>
          <a:noFill/>
          <a:ln w="9525">
            <a:solidFill>
              <a:schemeClr val="tx1"/>
            </a:solidFill>
            <a:round/>
            <a:headEnd/>
            <a:tailEnd type="triangle" w="med" len="med"/>
          </a:ln>
          <a:effectLst/>
        </p:spPr>
        <p:txBody>
          <a:bodyPr/>
          <a:lstStyle/>
          <a:p>
            <a:endParaRPr lang="en-US"/>
          </a:p>
        </p:txBody>
      </p:sp>
      <p:sp>
        <p:nvSpPr>
          <p:cNvPr id="386078" name="Line 30"/>
          <p:cNvSpPr>
            <a:spLocks noChangeShapeType="1"/>
          </p:cNvSpPr>
          <p:nvPr/>
        </p:nvSpPr>
        <p:spPr bwMode="auto">
          <a:xfrm flipV="1">
            <a:off x="5181600" y="2743200"/>
            <a:ext cx="1600200" cy="990600"/>
          </a:xfrm>
          <a:prstGeom prst="line">
            <a:avLst/>
          </a:prstGeom>
          <a:noFill/>
          <a:ln w="9525">
            <a:solidFill>
              <a:schemeClr val="tx1"/>
            </a:solidFill>
            <a:round/>
            <a:headEnd/>
            <a:tailEnd type="triangle" w="med" len="med"/>
          </a:ln>
          <a:effectLst/>
        </p:spPr>
        <p:txBody>
          <a:bodyPr/>
          <a:lstStyle/>
          <a:p>
            <a:endParaRPr lang="en-US"/>
          </a:p>
        </p:txBody>
      </p:sp>
      <p:sp>
        <p:nvSpPr>
          <p:cNvPr id="386079" name="Line 31"/>
          <p:cNvSpPr>
            <a:spLocks noChangeShapeType="1"/>
          </p:cNvSpPr>
          <p:nvPr/>
        </p:nvSpPr>
        <p:spPr bwMode="auto">
          <a:xfrm flipV="1">
            <a:off x="5105400" y="2057400"/>
            <a:ext cx="1676400" cy="1600200"/>
          </a:xfrm>
          <a:prstGeom prst="line">
            <a:avLst/>
          </a:prstGeom>
          <a:noFill/>
          <a:ln w="9525">
            <a:solidFill>
              <a:schemeClr val="tx1"/>
            </a:solidFill>
            <a:round/>
            <a:headEnd/>
            <a:tailEnd type="triangle" w="med" len="med"/>
          </a:ln>
          <a:effectLst/>
        </p:spPr>
        <p:txBody>
          <a:bodyPr/>
          <a:lstStyle/>
          <a:p>
            <a:endParaRPr lang="en-US"/>
          </a:p>
        </p:txBody>
      </p:sp>
      <p:sp>
        <p:nvSpPr>
          <p:cNvPr id="386080" name="Line 32"/>
          <p:cNvSpPr>
            <a:spLocks noChangeShapeType="1"/>
          </p:cNvSpPr>
          <p:nvPr/>
        </p:nvSpPr>
        <p:spPr bwMode="auto">
          <a:xfrm flipV="1">
            <a:off x="5105400" y="1524000"/>
            <a:ext cx="1676400" cy="2133600"/>
          </a:xfrm>
          <a:prstGeom prst="line">
            <a:avLst/>
          </a:prstGeom>
          <a:noFill/>
          <a:ln w="9525">
            <a:solidFill>
              <a:schemeClr val="tx1"/>
            </a:solidFill>
            <a:round/>
            <a:headEnd/>
            <a:tailEnd type="triangle" w="med" len="med"/>
          </a:ln>
          <a:effectLst/>
        </p:spPr>
        <p:txBody>
          <a:bodyPr/>
          <a:lstStyle/>
          <a:p>
            <a:endParaRPr lang="en-US"/>
          </a:p>
        </p:txBody>
      </p:sp>
      <p:sp>
        <p:nvSpPr>
          <p:cNvPr id="386081" name="Line 33"/>
          <p:cNvSpPr>
            <a:spLocks noChangeShapeType="1"/>
          </p:cNvSpPr>
          <p:nvPr/>
        </p:nvSpPr>
        <p:spPr bwMode="auto">
          <a:xfrm flipV="1">
            <a:off x="1676400" y="4724400"/>
            <a:ext cx="1676400" cy="533400"/>
          </a:xfrm>
          <a:prstGeom prst="line">
            <a:avLst/>
          </a:prstGeom>
          <a:noFill/>
          <a:ln w="9525">
            <a:solidFill>
              <a:schemeClr val="tx1"/>
            </a:solidFill>
            <a:round/>
            <a:headEnd/>
            <a:tailEnd type="triangle" w="med" len="med"/>
          </a:ln>
          <a:effectLst/>
        </p:spPr>
        <p:txBody>
          <a:bodyPr/>
          <a:lstStyle/>
          <a:p>
            <a:endParaRPr lang="en-US"/>
          </a:p>
        </p:txBody>
      </p:sp>
      <p:sp>
        <p:nvSpPr>
          <p:cNvPr id="386082" name="Line 34"/>
          <p:cNvSpPr>
            <a:spLocks noChangeShapeType="1"/>
          </p:cNvSpPr>
          <p:nvPr/>
        </p:nvSpPr>
        <p:spPr bwMode="auto">
          <a:xfrm flipV="1">
            <a:off x="3124200" y="4876800"/>
            <a:ext cx="381000" cy="381000"/>
          </a:xfrm>
          <a:prstGeom prst="line">
            <a:avLst/>
          </a:prstGeom>
          <a:noFill/>
          <a:ln w="9525">
            <a:solidFill>
              <a:schemeClr val="tx1"/>
            </a:solidFill>
            <a:round/>
            <a:headEnd/>
            <a:tailEnd type="triangle" w="med" len="med"/>
          </a:ln>
          <a:effectLst/>
        </p:spPr>
        <p:txBody>
          <a:bodyPr/>
          <a:lstStyle/>
          <a:p>
            <a:endParaRPr lang="en-US"/>
          </a:p>
        </p:txBody>
      </p:sp>
      <p:sp>
        <p:nvSpPr>
          <p:cNvPr id="386083" name="Line 35"/>
          <p:cNvSpPr>
            <a:spLocks noChangeShapeType="1"/>
          </p:cNvSpPr>
          <p:nvPr/>
        </p:nvSpPr>
        <p:spPr bwMode="auto">
          <a:xfrm flipV="1">
            <a:off x="4267200" y="4876800"/>
            <a:ext cx="0" cy="457200"/>
          </a:xfrm>
          <a:prstGeom prst="line">
            <a:avLst/>
          </a:prstGeom>
          <a:noFill/>
          <a:ln w="9525">
            <a:solidFill>
              <a:schemeClr val="tx1"/>
            </a:solidFill>
            <a:round/>
            <a:headEnd/>
            <a:tailEnd type="triangle" w="med" len="med"/>
          </a:ln>
          <a:effectLst/>
        </p:spPr>
        <p:txBody>
          <a:bodyPr/>
          <a:lstStyle/>
          <a:p>
            <a:endParaRPr lang="en-US"/>
          </a:p>
        </p:txBody>
      </p:sp>
      <p:sp>
        <p:nvSpPr>
          <p:cNvPr id="386084" name="Line 36"/>
          <p:cNvSpPr>
            <a:spLocks noChangeShapeType="1"/>
          </p:cNvSpPr>
          <p:nvPr/>
        </p:nvSpPr>
        <p:spPr bwMode="auto">
          <a:xfrm flipH="1" flipV="1">
            <a:off x="5029200" y="4876800"/>
            <a:ext cx="762000" cy="381000"/>
          </a:xfrm>
          <a:prstGeom prst="line">
            <a:avLst/>
          </a:prstGeom>
          <a:noFill/>
          <a:ln w="9525">
            <a:solidFill>
              <a:schemeClr val="tx1"/>
            </a:solidFill>
            <a:round/>
            <a:headEnd/>
            <a:tailEnd type="triangle" w="med" len="med"/>
          </a:ln>
          <a:effectLst/>
        </p:spPr>
        <p:txBody>
          <a:bodyPr/>
          <a:lstStyle/>
          <a:p>
            <a:endParaRPr lang="en-US"/>
          </a:p>
        </p:txBody>
      </p:sp>
      <p:sp>
        <p:nvSpPr>
          <p:cNvPr id="386085" name="Line 37"/>
          <p:cNvSpPr>
            <a:spLocks noChangeShapeType="1"/>
          </p:cNvSpPr>
          <p:nvPr/>
        </p:nvSpPr>
        <p:spPr bwMode="auto">
          <a:xfrm flipH="1" flipV="1">
            <a:off x="5562600" y="4648200"/>
            <a:ext cx="1905000" cy="609600"/>
          </a:xfrm>
          <a:prstGeom prst="line">
            <a:avLst/>
          </a:prstGeom>
          <a:noFill/>
          <a:ln w="9525">
            <a:solidFill>
              <a:schemeClr val="tx1"/>
            </a:solidFill>
            <a:round/>
            <a:headEnd/>
            <a:tailEnd type="triangle" w="med" len="med"/>
          </a:ln>
          <a:effectLst/>
        </p:spPr>
        <p:txBody>
          <a:bodyPr/>
          <a:lstStyle/>
          <a:p>
            <a:endParaRPr lang="en-US"/>
          </a:p>
        </p:txBody>
      </p:sp>
      <p:sp>
        <p:nvSpPr>
          <p:cNvPr id="386086" name="Line 38"/>
          <p:cNvSpPr>
            <a:spLocks noChangeShapeType="1"/>
          </p:cNvSpPr>
          <p:nvPr/>
        </p:nvSpPr>
        <p:spPr bwMode="auto">
          <a:xfrm flipV="1">
            <a:off x="4419600" y="2743200"/>
            <a:ext cx="0" cy="990600"/>
          </a:xfrm>
          <a:prstGeom prst="line">
            <a:avLst/>
          </a:prstGeom>
          <a:noFill/>
          <a:ln w="9525">
            <a:solidFill>
              <a:schemeClr val="tx1"/>
            </a:solidFill>
            <a:round/>
            <a:headEnd/>
            <a:tailEnd type="triangle" w="med" len="med"/>
          </a:ln>
          <a:effectLst/>
        </p:spPr>
        <p:txBody>
          <a:bodyPr/>
          <a:lstStyle/>
          <a:p>
            <a:endParaRPr lang="en-US"/>
          </a:p>
        </p:txBody>
      </p:sp>
      <p:sp>
        <p:nvSpPr>
          <p:cNvPr id="386087" name="Text Box 39"/>
          <p:cNvSpPr txBox="1">
            <a:spLocks noChangeArrowheads="1"/>
          </p:cNvSpPr>
          <p:nvPr/>
        </p:nvSpPr>
        <p:spPr bwMode="auto">
          <a:xfrm>
            <a:off x="609600" y="6245225"/>
            <a:ext cx="7399338" cy="366713"/>
          </a:xfrm>
          <a:prstGeom prst="rect">
            <a:avLst/>
          </a:prstGeom>
          <a:noFill/>
          <a:ln w="9525">
            <a:noFill/>
            <a:miter lim="800000"/>
            <a:headEnd/>
            <a:tailEnd/>
          </a:ln>
          <a:effectLst/>
        </p:spPr>
        <p:txBody>
          <a:bodyPr wrap="none">
            <a:spAutoFit/>
          </a:bodyPr>
          <a:lstStyle/>
          <a:p>
            <a:r>
              <a:rPr lang="en-US"/>
              <a:t>Robust description of a business process includes all elements of the ARIS framework.</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a:xfrm>
            <a:off x="457200" y="838200"/>
            <a:ext cx="8229600" cy="762000"/>
          </a:xfrm>
        </p:spPr>
        <p:txBody>
          <a:bodyPr/>
          <a:lstStyle/>
          <a:p>
            <a:r>
              <a:rPr lang="en-US" sz="3200">
                <a:latin typeface="Arial Narrow" pitchFamily="34" charset="0"/>
              </a:rPr>
              <a:t>Business Framework and Business Process Management</a:t>
            </a:r>
          </a:p>
        </p:txBody>
      </p:sp>
      <p:sp>
        <p:nvSpPr>
          <p:cNvPr id="395267" name="Rectangle 3"/>
          <p:cNvSpPr>
            <a:spLocks noGrp="1" noChangeArrowheads="1"/>
          </p:cNvSpPr>
          <p:nvPr>
            <p:ph type="body" idx="1"/>
          </p:nvPr>
        </p:nvSpPr>
        <p:spPr>
          <a:xfrm>
            <a:off x="457200" y="1828800"/>
            <a:ext cx="8382000" cy="4800600"/>
          </a:xfrm>
        </p:spPr>
        <p:txBody>
          <a:bodyPr/>
          <a:lstStyle/>
          <a:p>
            <a:pPr>
              <a:lnSpc>
                <a:spcPct val="80000"/>
              </a:lnSpc>
            </a:pPr>
            <a:r>
              <a:rPr lang="en-US" sz="2200">
                <a:latin typeface="Arial Narrow" pitchFamily="34" charset="0"/>
              </a:rPr>
              <a:t>Looking back to the value proposition, we need a level of business process description which will allow us to:</a:t>
            </a:r>
          </a:p>
          <a:p>
            <a:pPr>
              <a:lnSpc>
                <a:spcPct val="80000"/>
              </a:lnSpc>
            </a:pPr>
            <a:endParaRPr lang="en-US" sz="2200">
              <a:latin typeface="Arial Narrow" pitchFamily="34" charset="0"/>
            </a:endParaRPr>
          </a:p>
          <a:p>
            <a:pPr lvl="1">
              <a:lnSpc>
                <a:spcPct val="80000"/>
              </a:lnSpc>
            </a:pPr>
            <a:r>
              <a:rPr lang="en-US" sz="2200">
                <a:latin typeface="Arial Narrow" pitchFamily="34" charset="0"/>
              </a:rPr>
              <a:t>connect any system associated with the process</a:t>
            </a:r>
          </a:p>
          <a:p>
            <a:pPr lvl="1">
              <a:lnSpc>
                <a:spcPct val="80000"/>
              </a:lnSpc>
            </a:pPr>
            <a:r>
              <a:rPr lang="en-US" sz="2200">
                <a:latin typeface="Arial Narrow" pitchFamily="34" charset="0"/>
              </a:rPr>
              <a:t>identify the people who support it</a:t>
            </a:r>
          </a:p>
          <a:p>
            <a:pPr lvl="1">
              <a:lnSpc>
                <a:spcPct val="80000"/>
              </a:lnSpc>
            </a:pPr>
            <a:r>
              <a:rPr lang="en-US" sz="2200">
                <a:latin typeface="Arial Narrow" pitchFamily="34" charset="0"/>
              </a:rPr>
              <a:t>link financial resources</a:t>
            </a:r>
          </a:p>
          <a:p>
            <a:pPr lvl="1">
              <a:lnSpc>
                <a:spcPct val="80000"/>
              </a:lnSpc>
            </a:pPr>
            <a:r>
              <a:rPr lang="en-US" sz="2200">
                <a:latin typeface="Arial Narrow" pitchFamily="34" charset="0"/>
              </a:rPr>
              <a:t>acknowledge but also cross organizational boundaries</a:t>
            </a:r>
          </a:p>
          <a:p>
            <a:pPr lvl="1">
              <a:lnSpc>
                <a:spcPct val="80000"/>
              </a:lnSpc>
            </a:pPr>
            <a:r>
              <a:rPr lang="en-US" sz="2200">
                <a:latin typeface="Arial Narrow" pitchFamily="34" charset="0"/>
              </a:rPr>
              <a:t>identify compliance (financial, records) points</a:t>
            </a:r>
          </a:p>
          <a:p>
            <a:pPr lvl="1">
              <a:lnSpc>
                <a:spcPct val="80000"/>
              </a:lnSpc>
            </a:pPr>
            <a:r>
              <a:rPr lang="en-US" sz="2200">
                <a:latin typeface="Arial Narrow" pitchFamily="34" charset="0"/>
              </a:rPr>
              <a:t>identify data and information quality control points</a:t>
            </a:r>
          </a:p>
          <a:p>
            <a:pPr lvl="1">
              <a:lnSpc>
                <a:spcPct val="80000"/>
              </a:lnSpc>
            </a:pPr>
            <a:r>
              <a:rPr lang="en-US" sz="2200">
                <a:latin typeface="Arial Narrow" pitchFamily="34" charset="0"/>
              </a:rPr>
              <a:t>Identify common steps and subprocesses to simplify and reuse applications </a:t>
            </a:r>
          </a:p>
          <a:p>
            <a:pPr lvl="1">
              <a:lnSpc>
                <a:spcPct val="80000"/>
              </a:lnSpc>
            </a:pPr>
            <a:r>
              <a:rPr lang="en-US" sz="2200">
                <a:latin typeface="Arial Narrow" pitchFamily="34" charset="0"/>
              </a:rPr>
              <a:t>provide managers with the capability to monitor the process for improvement and planning purposes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1170" name="AutoShape 2"/>
          <p:cNvSpPr>
            <a:spLocks noChangeArrowheads="1"/>
          </p:cNvSpPr>
          <p:nvPr/>
        </p:nvSpPr>
        <p:spPr bwMode="auto">
          <a:xfrm>
            <a:off x="7391400" y="457200"/>
            <a:ext cx="1600200" cy="533400"/>
          </a:xfrm>
          <a:prstGeom prst="chevron">
            <a:avLst>
              <a:gd name="adj" fmla="val 75000"/>
            </a:avLst>
          </a:prstGeom>
          <a:solidFill>
            <a:srgbClr val="FFFF99"/>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Project </a:t>
            </a:r>
          </a:p>
          <a:p>
            <a:pPr algn="r" eaLnBrk="1" hangingPunct="1"/>
            <a:r>
              <a:rPr lang="en-US" sz="1200">
                <a:latin typeface="Arial" charset="0"/>
                <a:cs typeface="Arial" charset="0"/>
              </a:rPr>
              <a:t>Approval</a:t>
            </a:r>
          </a:p>
        </p:txBody>
      </p:sp>
      <p:sp>
        <p:nvSpPr>
          <p:cNvPr id="391171" name="AutoShape 3"/>
          <p:cNvSpPr>
            <a:spLocks noChangeArrowheads="1"/>
          </p:cNvSpPr>
          <p:nvPr/>
        </p:nvSpPr>
        <p:spPr bwMode="auto">
          <a:xfrm>
            <a:off x="685800" y="457200"/>
            <a:ext cx="1524000" cy="533400"/>
          </a:xfrm>
          <a:prstGeom prst="chevron">
            <a:avLst>
              <a:gd name="adj" fmla="val 71429"/>
            </a:avLst>
          </a:prstGeom>
          <a:solidFill>
            <a:srgbClr val="FFFF99"/>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Project </a:t>
            </a:r>
          </a:p>
          <a:p>
            <a:pPr algn="r" eaLnBrk="1" hangingPunct="1"/>
            <a:r>
              <a:rPr lang="en-US" sz="1200">
                <a:latin typeface="Arial" charset="0"/>
                <a:cs typeface="Arial" charset="0"/>
              </a:rPr>
              <a:t>Identification</a:t>
            </a:r>
          </a:p>
        </p:txBody>
      </p:sp>
      <p:sp>
        <p:nvSpPr>
          <p:cNvPr id="391172" name="AutoShape 4"/>
          <p:cNvSpPr>
            <a:spLocks noChangeArrowheads="1"/>
          </p:cNvSpPr>
          <p:nvPr/>
        </p:nvSpPr>
        <p:spPr bwMode="auto">
          <a:xfrm>
            <a:off x="2286000" y="457200"/>
            <a:ext cx="1524000" cy="533400"/>
          </a:xfrm>
          <a:prstGeom prst="chevron">
            <a:avLst>
              <a:gd name="adj" fmla="val 71429"/>
            </a:avLst>
          </a:prstGeom>
          <a:solidFill>
            <a:srgbClr val="FFFF99"/>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Project</a:t>
            </a:r>
          </a:p>
          <a:p>
            <a:pPr algn="r" eaLnBrk="1" hangingPunct="1"/>
            <a:r>
              <a:rPr lang="en-US" sz="1200">
                <a:latin typeface="Arial" charset="0"/>
                <a:cs typeface="Arial" charset="0"/>
              </a:rPr>
              <a:t>Preparation</a:t>
            </a:r>
          </a:p>
        </p:txBody>
      </p:sp>
      <p:sp>
        <p:nvSpPr>
          <p:cNvPr id="391173" name="AutoShape 5"/>
          <p:cNvSpPr>
            <a:spLocks noChangeArrowheads="1"/>
          </p:cNvSpPr>
          <p:nvPr/>
        </p:nvSpPr>
        <p:spPr bwMode="auto">
          <a:xfrm>
            <a:off x="3886200" y="457200"/>
            <a:ext cx="1752600" cy="533400"/>
          </a:xfrm>
          <a:prstGeom prst="chevron">
            <a:avLst>
              <a:gd name="adj" fmla="val 82143"/>
            </a:avLst>
          </a:prstGeom>
          <a:solidFill>
            <a:srgbClr val="FFFF99"/>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Project </a:t>
            </a:r>
          </a:p>
          <a:p>
            <a:pPr algn="r" eaLnBrk="1" hangingPunct="1"/>
            <a:r>
              <a:rPr lang="en-US" sz="1200">
                <a:latin typeface="Arial" charset="0"/>
                <a:cs typeface="Arial" charset="0"/>
              </a:rPr>
              <a:t>Appraisal</a:t>
            </a:r>
          </a:p>
        </p:txBody>
      </p:sp>
      <p:sp>
        <p:nvSpPr>
          <p:cNvPr id="391174" name="AutoShape 6"/>
          <p:cNvSpPr>
            <a:spLocks noChangeArrowheads="1"/>
          </p:cNvSpPr>
          <p:nvPr/>
        </p:nvSpPr>
        <p:spPr bwMode="auto">
          <a:xfrm>
            <a:off x="5562600" y="457200"/>
            <a:ext cx="1752600" cy="533400"/>
          </a:xfrm>
          <a:prstGeom prst="chevron">
            <a:avLst>
              <a:gd name="adj" fmla="val 82143"/>
            </a:avLst>
          </a:prstGeom>
          <a:solidFill>
            <a:srgbClr val="FFFF99"/>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Project </a:t>
            </a:r>
          </a:p>
          <a:p>
            <a:pPr algn="r" eaLnBrk="1" hangingPunct="1"/>
            <a:r>
              <a:rPr lang="en-US" sz="1200">
                <a:latin typeface="Arial" charset="0"/>
                <a:cs typeface="Arial" charset="0"/>
              </a:rPr>
              <a:t>Negotiation</a:t>
            </a:r>
          </a:p>
        </p:txBody>
      </p:sp>
      <p:sp>
        <p:nvSpPr>
          <p:cNvPr id="391175" name="Rectangle 7"/>
          <p:cNvSpPr>
            <a:spLocks noChangeArrowheads="1"/>
          </p:cNvSpPr>
          <p:nvPr/>
        </p:nvSpPr>
        <p:spPr bwMode="auto">
          <a:xfrm>
            <a:off x="381000" y="2362200"/>
            <a:ext cx="1600200" cy="1066800"/>
          </a:xfrm>
          <a:prstGeom prst="rect">
            <a:avLst/>
          </a:prstGeom>
          <a:solidFill>
            <a:srgbClr val="CCCCFF"/>
          </a:solidFill>
          <a:ln w="9525">
            <a:solidFill>
              <a:schemeClr val="tx1"/>
            </a:solidFill>
            <a:miter lim="800000"/>
            <a:headEnd/>
            <a:tailEnd/>
          </a:ln>
          <a:effectLst/>
        </p:spPr>
        <p:txBody>
          <a:bodyPr wrap="none" anchor="ctr"/>
          <a:lstStyle/>
          <a:p>
            <a:pPr marL="174625" indent="-174625" eaLnBrk="1" hangingPunct="1">
              <a:buFont typeface="Wingdings" pitchFamily="2" charset="2"/>
              <a:buNone/>
            </a:pPr>
            <a:endParaRPr lang="en-US" sz="900">
              <a:latin typeface="Arial" charset="0"/>
              <a:cs typeface="Arial" charset="0"/>
            </a:endParaRPr>
          </a:p>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TL  prep. PCN package</a:t>
            </a:r>
          </a:p>
          <a:p>
            <a:pPr marL="174625" indent="-174625" eaLnBrk="1" hangingPunct="1">
              <a:buFont typeface="Wingdings" pitchFamily="2" charset="2"/>
              <a:buNone/>
            </a:pPr>
            <a:r>
              <a:rPr lang="en-US" sz="900">
                <a:latin typeface="Arial" charset="0"/>
                <a:cs typeface="Arial" charset="0"/>
              </a:rPr>
              <a:t>      and  Sends to SM</a:t>
            </a:r>
          </a:p>
          <a:p>
            <a:pPr marL="174625" indent="-174625" eaLnBrk="1" hangingPunct="1">
              <a:buFont typeface="Wingdings" pitchFamily="2" charset="2"/>
              <a:buChar char="q"/>
            </a:pPr>
            <a:r>
              <a:rPr lang="en-US" sz="900">
                <a:latin typeface="Arial" charset="0"/>
                <a:cs typeface="Arial" charset="0"/>
              </a:rPr>
              <a:t>TL prepares if applicable</a:t>
            </a:r>
          </a:p>
          <a:p>
            <a:pPr marL="174625" indent="-174625" eaLnBrk="1" hangingPunct="1">
              <a:buFont typeface="Wingdings" pitchFamily="2" charset="2"/>
              <a:buNone/>
            </a:pPr>
            <a:r>
              <a:rPr lang="en-US" sz="900">
                <a:latin typeface="Arial" charset="0"/>
                <a:cs typeface="Arial" charset="0"/>
              </a:rPr>
              <a:t>      ROC and SM clears </a:t>
            </a:r>
          </a:p>
          <a:p>
            <a:pPr marL="174625" indent="-174625" eaLnBrk="1" hangingPunct="1">
              <a:buFont typeface="Wingdings" pitchFamily="2" charset="2"/>
              <a:buChar char="q"/>
            </a:pPr>
            <a:r>
              <a:rPr lang="en-US" sz="900">
                <a:latin typeface="Arial" charset="0"/>
                <a:cs typeface="Arial" charset="0"/>
              </a:rPr>
              <a:t>TL prepares OC  and </a:t>
            </a:r>
          </a:p>
          <a:p>
            <a:pPr marL="174625" indent="-174625" eaLnBrk="1" hangingPunct="1">
              <a:buFont typeface="Wingdings" pitchFamily="2" charset="2"/>
              <a:buNone/>
            </a:pPr>
            <a:r>
              <a:rPr lang="en-US" sz="900">
                <a:latin typeface="Arial" charset="0"/>
                <a:cs typeface="Arial" charset="0"/>
              </a:rPr>
              <a:t>      SM, CD, RVP clear</a:t>
            </a:r>
          </a:p>
          <a:p>
            <a:pPr marL="174625" indent="-174625" eaLnBrk="1" hangingPunct="1">
              <a:buFont typeface="Wingdings" pitchFamily="2" charset="2"/>
              <a:buNone/>
            </a:pPr>
            <a:endParaRPr lang="en-US" sz="900">
              <a:latin typeface="Arial" charset="0"/>
              <a:cs typeface="Arial" charset="0"/>
            </a:endParaRPr>
          </a:p>
          <a:p>
            <a:pPr marL="174625" indent="-174625" eaLnBrk="1" hangingPunct="1">
              <a:buFont typeface="Wingdings" pitchFamily="2" charset="2"/>
              <a:buNone/>
            </a:pPr>
            <a:endParaRPr lang="en-US" sz="900">
              <a:latin typeface="Arial" charset="0"/>
              <a:cs typeface="Arial" charset="0"/>
            </a:endParaRPr>
          </a:p>
        </p:txBody>
      </p:sp>
      <p:sp>
        <p:nvSpPr>
          <p:cNvPr id="391176" name="Text Box 8"/>
          <p:cNvSpPr txBox="1">
            <a:spLocks noChangeArrowheads="1"/>
          </p:cNvSpPr>
          <p:nvPr/>
        </p:nvSpPr>
        <p:spPr bwMode="auto">
          <a:xfrm rot="16200000">
            <a:off x="-396081" y="3901281"/>
            <a:ext cx="1066800"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Information</a:t>
            </a:r>
          </a:p>
        </p:txBody>
      </p:sp>
      <p:sp>
        <p:nvSpPr>
          <p:cNvPr id="391177" name="Text Box 9"/>
          <p:cNvSpPr txBox="1">
            <a:spLocks noChangeArrowheads="1"/>
          </p:cNvSpPr>
          <p:nvPr/>
        </p:nvSpPr>
        <p:spPr bwMode="auto">
          <a:xfrm rot="16200000">
            <a:off x="-171450" y="400050"/>
            <a:ext cx="800100" cy="457200"/>
          </a:xfrm>
          <a:prstGeom prst="rect">
            <a:avLst/>
          </a:prstGeom>
          <a:noFill/>
          <a:ln w="9525">
            <a:noFill/>
            <a:miter lim="800000"/>
            <a:headEnd/>
            <a:tailEnd/>
          </a:ln>
          <a:effectLst/>
        </p:spPr>
        <p:txBody>
          <a:bodyPr wrap="none">
            <a:spAutoFit/>
          </a:bodyPr>
          <a:lstStyle/>
          <a:p>
            <a:pPr eaLnBrk="1" hangingPunct="1"/>
            <a:r>
              <a:rPr lang="en-US" sz="1200">
                <a:latin typeface="Arial" charset="0"/>
                <a:cs typeface="Arial" charset="0"/>
              </a:rPr>
              <a:t>Business</a:t>
            </a:r>
          </a:p>
          <a:p>
            <a:pPr eaLnBrk="1" hangingPunct="1"/>
            <a:r>
              <a:rPr lang="en-US" sz="1200">
                <a:latin typeface="Arial" charset="0"/>
                <a:cs typeface="Arial" charset="0"/>
              </a:rPr>
              <a:t>Process</a:t>
            </a:r>
          </a:p>
        </p:txBody>
      </p:sp>
      <p:sp>
        <p:nvSpPr>
          <p:cNvPr id="391178" name="AutoShape 10"/>
          <p:cNvSpPr>
            <a:spLocks noChangeArrowheads="1"/>
          </p:cNvSpPr>
          <p:nvPr/>
        </p:nvSpPr>
        <p:spPr bwMode="auto">
          <a:xfrm>
            <a:off x="1219200" y="9906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vert="eaVert" wrap="none" anchor="ctr"/>
          <a:lstStyle/>
          <a:p>
            <a:endParaRPr lang="en-US"/>
          </a:p>
        </p:txBody>
      </p:sp>
      <p:sp>
        <p:nvSpPr>
          <p:cNvPr id="391179" name="AutoShape 11"/>
          <p:cNvSpPr>
            <a:spLocks noChangeArrowheads="1"/>
          </p:cNvSpPr>
          <p:nvPr/>
        </p:nvSpPr>
        <p:spPr bwMode="auto">
          <a:xfrm>
            <a:off x="2971800" y="9906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vert="eaVert" wrap="none" anchor="ctr"/>
          <a:lstStyle/>
          <a:p>
            <a:endParaRPr lang="en-US"/>
          </a:p>
        </p:txBody>
      </p:sp>
      <p:sp>
        <p:nvSpPr>
          <p:cNvPr id="391180" name="AutoShape 12"/>
          <p:cNvSpPr>
            <a:spLocks noChangeArrowheads="1"/>
          </p:cNvSpPr>
          <p:nvPr/>
        </p:nvSpPr>
        <p:spPr bwMode="auto">
          <a:xfrm>
            <a:off x="4648200" y="9906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vert="eaVert" wrap="none" anchor="ctr"/>
          <a:lstStyle/>
          <a:p>
            <a:endParaRPr lang="en-US"/>
          </a:p>
        </p:txBody>
      </p:sp>
      <p:sp>
        <p:nvSpPr>
          <p:cNvPr id="391181" name="AutoShape 13"/>
          <p:cNvSpPr>
            <a:spLocks noChangeArrowheads="1"/>
          </p:cNvSpPr>
          <p:nvPr/>
        </p:nvSpPr>
        <p:spPr bwMode="auto">
          <a:xfrm>
            <a:off x="6324600" y="9906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vert="eaVert" wrap="none" anchor="ctr"/>
          <a:lstStyle/>
          <a:p>
            <a:endParaRPr lang="en-US"/>
          </a:p>
        </p:txBody>
      </p:sp>
      <p:sp>
        <p:nvSpPr>
          <p:cNvPr id="391182" name="AutoShape 14"/>
          <p:cNvSpPr>
            <a:spLocks noChangeArrowheads="1"/>
          </p:cNvSpPr>
          <p:nvPr/>
        </p:nvSpPr>
        <p:spPr bwMode="auto">
          <a:xfrm>
            <a:off x="8001000" y="9906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vert="eaVert" wrap="none" anchor="ctr"/>
          <a:lstStyle/>
          <a:p>
            <a:endParaRPr lang="en-US"/>
          </a:p>
        </p:txBody>
      </p:sp>
      <p:sp>
        <p:nvSpPr>
          <p:cNvPr id="391183" name="AutoShape 15"/>
          <p:cNvSpPr>
            <a:spLocks noChangeArrowheads="1"/>
          </p:cNvSpPr>
          <p:nvPr/>
        </p:nvSpPr>
        <p:spPr bwMode="auto">
          <a:xfrm>
            <a:off x="2209800" y="6858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1184" name="AutoShape 16"/>
          <p:cNvSpPr>
            <a:spLocks noChangeArrowheads="1"/>
          </p:cNvSpPr>
          <p:nvPr/>
        </p:nvSpPr>
        <p:spPr bwMode="auto">
          <a:xfrm>
            <a:off x="3810000" y="6858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1185" name="AutoShape 17"/>
          <p:cNvSpPr>
            <a:spLocks noChangeArrowheads="1"/>
          </p:cNvSpPr>
          <p:nvPr/>
        </p:nvSpPr>
        <p:spPr bwMode="auto">
          <a:xfrm>
            <a:off x="5562600" y="6858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1186" name="AutoShape 18"/>
          <p:cNvSpPr>
            <a:spLocks noChangeArrowheads="1"/>
          </p:cNvSpPr>
          <p:nvPr/>
        </p:nvSpPr>
        <p:spPr bwMode="auto">
          <a:xfrm>
            <a:off x="7315200" y="6858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1187" name="Rectangle 19"/>
          <p:cNvSpPr>
            <a:spLocks noChangeArrowheads="1"/>
          </p:cNvSpPr>
          <p:nvPr/>
        </p:nvSpPr>
        <p:spPr bwMode="auto">
          <a:xfrm>
            <a:off x="381000" y="3505200"/>
            <a:ext cx="1600200" cy="1143000"/>
          </a:xfrm>
          <a:prstGeom prst="rect">
            <a:avLst/>
          </a:prstGeom>
          <a:solidFill>
            <a:srgbClr val="CCCCFF"/>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AIS, SMO, BTOR</a:t>
            </a:r>
          </a:p>
          <a:p>
            <a:pPr marL="174625" indent="-174625" eaLnBrk="1" hangingPunct="1">
              <a:buFont typeface="Wingdings" pitchFamily="2" charset="2"/>
              <a:buChar char="q"/>
            </a:pPr>
            <a:r>
              <a:rPr lang="en-US" sz="900">
                <a:latin typeface="Arial" charset="0"/>
                <a:cs typeface="Arial" charset="0"/>
              </a:rPr>
              <a:t>PCN, PID, ISDS</a:t>
            </a:r>
          </a:p>
          <a:p>
            <a:pPr marL="174625" indent="-174625" eaLnBrk="1" hangingPunct="1">
              <a:buFont typeface="Wingdings" pitchFamily="2" charset="2"/>
              <a:buChar char="q"/>
            </a:pPr>
            <a:r>
              <a:rPr lang="en-US" sz="900">
                <a:latin typeface="Arial" charset="0"/>
                <a:cs typeface="Arial" charset="0"/>
              </a:rPr>
              <a:t>Cover Memo, Note</a:t>
            </a:r>
          </a:p>
          <a:p>
            <a:pPr marL="174625" indent="-174625" eaLnBrk="1" hangingPunct="1">
              <a:buFont typeface="Wingdings" pitchFamily="2" charset="2"/>
              <a:buChar char="q"/>
            </a:pPr>
            <a:r>
              <a:rPr lang="en-US" sz="900">
                <a:latin typeface="Arial" charset="0"/>
                <a:cs typeface="Arial" charset="0"/>
              </a:rPr>
              <a:t>Agenda</a:t>
            </a:r>
          </a:p>
          <a:p>
            <a:pPr marL="174625" indent="-174625" eaLnBrk="1" hangingPunct="1">
              <a:buFont typeface="Wingdings" pitchFamily="2" charset="2"/>
              <a:buChar char="q"/>
            </a:pPr>
            <a:r>
              <a:rPr lang="en-US" sz="900">
                <a:latin typeface="Arial" charset="0"/>
                <a:cs typeface="Arial" charset="0"/>
              </a:rPr>
              <a:t>Minutes of PCN review</a:t>
            </a:r>
          </a:p>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None/>
            </a:pPr>
            <a:endParaRPr lang="en-US" sz="900">
              <a:latin typeface="Arial" charset="0"/>
              <a:cs typeface="Arial" charset="0"/>
            </a:endParaRPr>
          </a:p>
        </p:txBody>
      </p:sp>
      <p:sp>
        <p:nvSpPr>
          <p:cNvPr id="391188" name="Rectangle 20"/>
          <p:cNvSpPr>
            <a:spLocks noChangeArrowheads="1"/>
          </p:cNvSpPr>
          <p:nvPr/>
        </p:nvSpPr>
        <p:spPr bwMode="auto">
          <a:xfrm flipV="1">
            <a:off x="381000" y="4724400"/>
            <a:ext cx="1600200" cy="533400"/>
          </a:xfrm>
          <a:prstGeom prst="rect">
            <a:avLst/>
          </a:prstGeom>
          <a:solidFill>
            <a:srgbClr val="CC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SAP, IRIS, Passkey, Project</a:t>
            </a:r>
          </a:p>
          <a:p>
            <a:pPr marL="174625" indent="-174625" eaLnBrk="1" hangingPunct="1">
              <a:buFont typeface="Wingdings" pitchFamily="2" charset="2"/>
              <a:buNone/>
            </a:pPr>
            <a:r>
              <a:rPr lang="en-US" sz="900">
                <a:latin typeface="Arial" charset="0"/>
                <a:cs typeface="Arial" charset="0"/>
              </a:rPr>
              <a:t>Portal, Lotus Notes, Travel </a:t>
            </a:r>
          </a:p>
          <a:p>
            <a:pPr marL="174625" indent="-174625" eaLnBrk="1" hangingPunct="1">
              <a:buFont typeface="Wingdings" pitchFamily="2" charset="2"/>
              <a:buNone/>
            </a:pPr>
            <a:r>
              <a:rPr lang="en-US" sz="900">
                <a:latin typeface="Arial" charset="0"/>
                <a:cs typeface="Arial" charset="0"/>
              </a:rPr>
              <a:t>Web</a:t>
            </a:r>
          </a:p>
        </p:txBody>
      </p:sp>
      <p:sp>
        <p:nvSpPr>
          <p:cNvPr id="391189" name="Rectangle 21"/>
          <p:cNvSpPr>
            <a:spLocks noChangeArrowheads="1"/>
          </p:cNvSpPr>
          <p:nvPr/>
        </p:nvSpPr>
        <p:spPr bwMode="auto">
          <a:xfrm flipV="1">
            <a:off x="381000" y="5334000"/>
            <a:ext cx="1600200" cy="1066800"/>
          </a:xfrm>
          <a:prstGeom prst="rect">
            <a:avLst/>
          </a:prstGeom>
          <a:solidFill>
            <a:srgbClr val="CC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W2K, Domino, Edge Server,</a:t>
            </a:r>
          </a:p>
          <a:p>
            <a:pPr marL="174625" indent="-174625" eaLnBrk="1" hangingPunct="1">
              <a:buFont typeface="Wingdings" pitchFamily="2" charset="2"/>
              <a:buNone/>
            </a:pPr>
            <a:r>
              <a:rPr lang="en-US" sz="900">
                <a:latin typeface="Arial" charset="0"/>
                <a:cs typeface="Arial" charset="0"/>
              </a:rPr>
              <a:t>HIS, Oracle, WebSphere, </a:t>
            </a:r>
          </a:p>
          <a:p>
            <a:pPr marL="174625" indent="-174625" eaLnBrk="1" hangingPunct="1">
              <a:buFont typeface="Wingdings" pitchFamily="2" charset="2"/>
              <a:buNone/>
            </a:pPr>
            <a:r>
              <a:rPr lang="en-US" sz="900">
                <a:latin typeface="Arial" charset="0"/>
                <a:cs typeface="Arial" charset="0"/>
              </a:rPr>
              <a:t>Lotus Notes, Siteminder,</a:t>
            </a:r>
          </a:p>
          <a:p>
            <a:pPr marL="174625" indent="-174625" eaLnBrk="1" hangingPunct="1">
              <a:buFont typeface="Wingdings" pitchFamily="2" charset="2"/>
              <a:buNone/>
            </a:pPr>
            <a:r>
              <a:rPr lang="en-US" sz="900">
                <a:latin typeface="Arial" charset="0"/>
                <a:cs typeface="Arial" charset="0"/>
              </a:rPr>
              <a:t>iPlanet, SAP, AIX, HACMP,</a:t>
            </a:r>
          </a:p>
          <a:p>
            <a:pPr marL="174625" indent="-174625" eaLnBrk="1" hangingPunct="1">
              <a:buFont typeface="Wingdings" pitchFamily="2" charset="2"/>
              <a:buNone/>
            </a:pPr>
            <a:r>
              <a:rPr lang="en-US" sz="900">
                <a:latin typeface="Arial" charset="0"/>
                <a:cs typeface="Arial" charset="0"/>
              </a:rPr>
              <a:t>EMC SRDF, EMC Timefinder</a:t>
            </a:r>
          </a:p>
          <a:p>
            <a:pPr marL="174625" indent="-174625" eaLnBrk="1" hangingPunct="1">
              <a:buFont typeface="Wingdings" pitchFamily="2" charset="2"/>
              <a:buNone/>
            </a:pPr>
            <a:r>
              <a:rPr lang="en-US" sz="900">
                <a:latin typeface="Arial" charset="0"/>
                <a:cs typeface="Arial" charset="0"/>
              </a:rPr>
              <a:t>TSM TDF, Tivoli Monitor,</a:t>
            </a:r>
          </a:p>
          <a:p>
            <a:pPr marL="174625" indent="-174625" eaLnBrk="1" hangingPunct="1">
              <a:buFont typeface="Wingdings" pitchFamily="2" charset="2"/>
              <a:buNone/>
            </a:pPr>
            <a:r>
              <a:rPr lang="en-US" sz="900">
                <a:latin typeface="Arial" charset="0"/>
                <a:cs typeface="Arial" charset="0"/>
              </a:rPr>
              <a:t>Telalert, Precise Luminate</a:t>
            </a:r>
          </a:p>
        </p:txBody>
      </p:sp>
      <p:sp>
        <p:nvSpPr>
          <p:cNvPr id="391190" name="Text Box 22"/>
          <p:cNvSpPr txBox="1">
            <a:spLocks noChangeArrowheads="1"/>
          </p:cNvSpPr>
          <p:nvPr/>
        </p:nvSpPr>
        <p:spPr bwMode="auto">
          <a:xfrm rot="16200000">
            <a:off x="-511969" y="2643982"/>
            <a:ext cx="1298575"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Role &amp; Resp</a:t>
            </a:r>
          </a:p>
        </p:txBody>
      </p:sp>
      <p:sp>
        <p:nvSpPr>
          <p:cNvPr id="391191" name="Text Box 23"/>
          <p:cNvSpPr txBox="1">
            <a:spLocks noChangeArrowheads="1"/>
          </p:cNvSpPr>
          <p:nvPr/>
        </p:nvSpPr>
        <p:spPr bwMode="auto">
          <a:xfrm rot="16200000">
            <a:off x="-167481" y="6415881"/>
            <a:ext cx="609600"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Metric</a:t>
            </a:r>
          </a:p>
        </p:txBody>
      </p:sp>
      <p:sp>
        <p:nvSpPr>
          <p:cNvPr id="391192" name="Text Box 24"/>
          <p:cNvSpPr txBox="1">
            <a:spLocks noChangeArrowheads="1"/>
          </p:cNvSpPr>
          <p:nvPr/>
        </p:nvSpPr>
        <p:spPr bwMode="auto">
          <a:xfrm rot="16200000">
            <a:off x="-393700" y="5653088"/>
            <a:ext cx="1068387"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Technology</a:t>
            </a:r>
          </a:p>
        </p:txBody>
      </p:sp>
      <p:sp>
        <p:nvSpPr>
          <p:cNvPr id="391193" name="Rectangle 25"/>
          <p:cNvSpPr>
            <a:spLocks noChangeArrowheads="1"/>
          </p:cNvSpPr>
          <p:nvPr/>
        </p:nvSpPr>
        <p:spPr bwMode="auto">
          <a:xfrm>
            <a:off x="2133600" y="2362200"/>
            <a:ext cx="1600200" cy="1066800"/>
          </a:xfrm>
          <a:prstGeom prst="rect">
            <a:avLst/>
          </a:prstGeom>
          <a:solidFill>
            <a:srgbClr val="FFCCFF"/>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r>
              <a:rPr lang="en-US" sz="900">
                <a:latin typeface="Arial" charset="0"/>
                <a:cs typeface="Arial" charset="0"/>
              </a:rPr>
              <a:t>TT prepares QER </a:t>
            </a:r>
          </a:p>
          <a:p>
            <a:pPr marL="174625" indent="-174625" eaLnBrk="1" hangingPunct="1">
              <a:buFont typeface="Wingdings" pitchFamily="2" charset="2"/>
              <a:buNone/>
            </a:pPr>
            <a:r>
              <a:rPr lang="en-US" sz="900">
                <a:latin typeface="Arial" charset="0"/>
                <a:cs typeface="Arial" charset="0"/>
              </a:rPr>
              <a:t>      package</a:t>
            </a:r>
          </a:p>
          <a:p>
            <a:pPr marL="174625" indent="-174625" eaLnBrk="1" hangingPunct="1">
              <a:buFont typeface="Wingdings" pitchFamily="2" charset="2"/>
              <a:buChar char="q"/>
            </a:pPr>
            <a:r>
              <a:rPr lang="en-US" sz="900">
                <a:latin typeface="Arial" charset="0"/>
                <a:cs typeface="Arial" charset="0"/>
              </a:rPr>
              <a:t>SM Clears</a:t>
            </a:r>
          </a:p>
          <a:p>
            <a:pPr marL="174625" indent="-174625" eaLnBrk="1" hangingPunct="1">
              <a:buFont typeface="Wingdings" pitchFamily="2" charset="2"/>
              <a:buChar char="q"/>
            </a:pPr>
            <a:r>
              <a:rPr lang="en-US" sz="900">
                <a:latin typeface="Arial" charset="0"/>
                <a:cs typeface="Arial" charset="0"/>
              </a:rPr>
              <a:t>TL circulates</a:t>
            </a:r>
          </a:p>
          <a:p>
            <a:pPr marL="174625" indent="-174625" eaLnBrk="1" hangingPunct="1">
              <a:buFont typeface="Wingdings" pitchFamily="2" charset="2"/>
              <a:buChar char="q"/>
            </a:pPr>
            <a:r>
              <a:rPr lang="en-US" sz="900">
                <a:latin typeface="Arial" charset="0"/>
                <a:cs typeface="Arial" charset="0"/>
              </a:rPr>
              <a:t>TL prepares minutes of</a:t>
            </a:r>
          </a:p>
          <a:p>
            <a:pPr marL="174625" indent="-174625" eaLnBrk="1" hangingPunct="1">
              <a:buFont typeface="Wingdings" pitchFamily="2" charset="2"/>
              <a:buNone/>
            </a:pPr>
            <a:r>
              <a:rPr lang="en-US" sz="900">
                <a:latin typeface="Arial" charset="0"/>
                <a:cs typeface="Arial" charset="0"/>
              </a:rPr>
              <a:t>      QER and SM clears and</a:t>
            </a:r>
          </a:p>
          <a:p>
            <a:pPr marL="174625" indent="-174625" eaLnBrk="1" hangingPunct="1">
              <a:buFont typeface="Wingdings" pitchFamily="2" charset="2"/>
              <a:buNone/>
            </a:pPr>
            <a:r>
              <a:rPr lang="en-US" sz="900">
                <a:latin typeface="Arial" charset="0"/>
                <a:cs typeface="Arial" charset="0"/>
              </a:rPr>
              <a:t>      Issues minutes</a:t>
            </a:r>
          </a:p>
        </p:txBody>
      </p:sp>
      <p:sp>
        <p:nvSpPr>
          <p:cNvPr id="391194" name="Rectangle 26"/>
          <p:cNvSpPr>
            <a:spLocks noChangeArrowheads="1"/>
          </p:cNvSpPr>
          <p:nvPr/>
        </p:nvSpPr>
        <p:spPr bwMode="auto">
          <a:xfrm>
            <a:off x="3886200" y="1295400"/>
            <a:ext cx="1600200" cy="990600"/>
          </a:xfrm>
          <a:prstGeom prst="rect">
            <a:avLst/>
          </a:prstGeom>
          <a:solidFill>
            <a:srgbClr val="FFFFCC"/>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r>
              <a:rPr lang="en-US" sz="900">
                <a:latin typeface="Arial" charset="0"/>
                <a:cs typeface="Arial" charset="0"/>
              </a:rPr>
              <a:t>Decision mtg package</a:t>
            </a:r>
          </a:p>
          <a:p>
            <a:pPr marL="174625" indent="-174625" eaLnBrk="1" hangingPunct="1">
              <a:buFont typeface="Wingdings" pitchFamily="2" charset="2"/>
              <a:buChar char="q"/>
            </a:pPr>
            <a:r>
              <a:rPr lang="en-US" sz="900">
                <a:latin typeface="Arial" charset="0"/>
                <a:cs typeface="Arial" charset="0"/>
              </a:rPr>
              <a:t>Minutes, PID, ISDS</a:t>
            </a:r>
          </a:p>
          <a:p>
            <a:pPr marL="174625" indent="-174625" eaLnBrk="1" hangingPunct="1">
              <a:buFont typeface="Wingdings" pitchFamily="2" charset="2"/>
              <a:buChar char="q"/>
            </a:pPr>
            <a:r>
              <a:rPr lang="en-US" sz="900">
                <a:latin typeface="Arial" charset="0"/>
                <a:cs typeface="Arial" charset="0"/>
              </a:rPr>
              <a:t>SMO</a:t>
            </a:r>
          </a:p>
          <a:p>
            <a:pPr marL="174625" indent="-174625" eaLnBrk="1" hangingPunct="1">
              <a:buFont typeface="Wingdings" pitchFamily="2" charset="2"/>
              <a:buChar char="q"/>
            </a:pPr>
            <a:r>
              <a:rPr lang="en-US" sz="900">
                <a:latin typeface="Arial" charset="0"/>
                <a:cs typeface="Arial" charset="0"/>
              </a:rPr>
              <a:t>Notice to Borrower</a:t>
            </a:r>
          </a:p>
          <a:p>
            <a:pPr marL="174625" indent="-174625" eaLnBrk="1" hangingPunct="1">
              <a:buFont typeface="Wingdings" pitchFamily="2" charset="2"/>
              <a:buChar char="q"/>
            </a:pPr>
            <a:r>
              <a:rPr lang="en-US" sz="900">
                <a:latin typeface="Arial" charset="0"/>
                <a:cs typeface="Arial" charset="0"/>
              </a:rPr>
              <a:t>Draft Aide-memoire</a:t>
            </a:r>
          </a:p>
          <a:p>
            <a:pPr marL="174625" indent="-174625" eaLnBrk="1" hangingPunct="1">
              <a:buFont typeface="Wingdings" pitchFamily="2" charset="2"/>
              <a:buChar char="q"/>
            </a:pPr>
            <a:r>
              <a:rPr lang="en-US" sz="900">
                <a:latin typeface="Arial" charset="0"/>
                <a:cs typeface="Arial" charset="0"/>
              </a:rPr>
              <a:t>Post-appraisal letter to </a:t>
            </a:r>
          </a:p>
          <a:p>
            <a:pPr marL="174625" indent="-174625" eaLnBrk="1" hangingPunct="1">
              <a:buFont typeface="Wingdings" pitchFamily="2" charset="2"/>
              <a:buNone/>
            </a:pPr>
            <a:r>
              <a:rPr lang="en-US" sz="900">
                <a:latin typeface="Arial" charset="0"/>
                <a:cs typeface="Arial" charset="0"/>
              </a:rPr>
              <a:t>      Borrower.</a:t>
            </a:r>
          </a:p>
        </p:txBody>
      </p:sp>
      <p:sp>
        <p:nvSpPr>
          <p:cNvPr id="391195" name="Rectangle 27"/>
          <p:cNvSpPr>
            <a:spLocks noChangeArrowheads="1"/>
          </p:cNvSpPr>
          <p:nvPr/>
        </p:nvSpPr>
        <p:spPr bwMode="auto">
          <a:xfrm>
            <a:off x="5638800" y="1295400"/>
            <a:ext cx="1600200" cy="990600"/>
          </a:xfrm>
          <a:prstGeom prst="rect">
            <a:avLst/>
          </a:prstGeom>
          <a:solidFill>
            <a:srgbClr val="CCFFCC"/>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Negotiations Package</a:t>
            </a:r>
          </a:p>
          <a:p>
            <a:pPr marL="174625" indent="-174625" eaLnBrk="1" hangingPunct="1">
              <a:buFont typeface="Wingdings" pitchFamily="2" charset="2"/>
              <a:buChar char="q"/>
            </a:pPr>
            <a:r>
              <a:rPr lang="en-US" sz="900">
                <a:latin typeface="Arial" charset="0"/>
                <a:cs typeface="Arial" charset="0"/>
              </a:rPr>
              <a:t>Formal Invitation to </a:t>
            </a:r>
          </a:p>
          <a:p>
            <a:pPr marL="174625" indent="-174625" eaLnBrk="1" hangingPunct="1">
              <a:buFont typeface="Wingdings" pitchFamily="2" charset="2"/>
              <a:buNone/>
            </a:pPr>
            <a:r>
              <a:rPr lang="en-US" sz="900">
                <a:latin typeface="Arial" charset="0"/>
                <a:cs typeface="Arial" charset="0"/>
              </a:rPr>
              <a:t>      Borrower to Negotiate</a:t>
            </a:r>
          </a:p>
          <a:p>
            <a:pPr marL="174625" indent="-174625" eaLnBrk="1" hangingPunct="1">
              <a:buFont typeface="Wingdings" pitchFamily="2" charset="2"/>
              <a:buChar char="q"/>
            </a:pPr>
            <a:r>
              <a:rPr lang="en-US" sz="900">
                <a:latin typeface="Arial" charset="0"/>
                <a:cs typeface="Arial" charset="0"/>
              </a:rPr>
              <a:t>Minutes of Negotiation</a:t>
            </a:r>
          </a:p>
          <a:p>
            <a:pPr marL="174625" indent="-174625" eaLnBrk="1" hangingPunct="1">
              <a:buFont typeface="Wingdings" pitchFamily="2" charset="2"/>
              <a:buChar char="q"/>
            </a:pPr>
            <a:r>
              <a:rPr lang="en-US" sz="900">
                <a:latin typeface="Arial" charset="0"/>
                <a:cs typeface="Arial" charset="0"/>
              </a:rPr>
              <a:t>Summary of Negotiation</a:t>
            </a:r>
          </a:p>
          <a:p>
            <a:pPr marL="174625" indent="-174625" eaLnBrk="1" hangingPunct="1">
              <a:buFont typeface="Wingdings" pitchFamily="2" charset="2"/>
              <a:buChar char="q"/>
            </a:pPr>
            <a:r>
              <a:rPr lang="en-US" sz="900">
                <a:latin typeface="Arial" charset="0"/>
                <a:cs typeface="Arial" charset="0"/>
              </a:rPr>
              <a:t>Status of Negotiation </a:t>
            </a:r>
          </a:p>
          <a:p>
            <a:pPr marL="174625" indent="-174625" eaLnBrk="1" hangingPunct="1">
              <a:buFont typeface="Wingdings" pitchFamily="2" charset="2"/>
              <a:buNone/>
            </a:pPr>
            <a:r>
              <a:rPr lang="en-US" sz="900">
                <a:latin typeface="Arial" charset="0"/>
                <a:cs typeface="Arial" charset="0"/>
              </a:rPr>
              <a:t>      notice</a:t>
            </a:r>
          </a:p>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endParaRPr lang="en-US" sz="900">
              <a:latin typeface="Arial" charset="0"/>
              <a:cs typeface="Arial" charset="0"/>
            </a:endParaRPr>
          </a:p>
        </p:txBody>
      </p:sp>
      <p:sp>
        <p:nvSpPr>
          <p:cNvPr id="391196" name="Rectangle 28"/>
          <p:cNvSpPr>
            <a:spLocks noChangeArrowheads="1"/>
          </p:cNvSpPr>
          <p:nvPr/>
        </p:nvSpPr>
        <p:spPr bwMode="auto">
          <a:xfrm>
            <a:off x="7391400" y="1295400"/>
            <a:ext cx="1600200" cy="990600"/>
          </a:xfrm>
          <a:prstGeom prst="rect">
            <a:avLst/>
          </a:prstGeom>
          <a:solidFill>
            <a:srgbClr val="CCECFF"/>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r>
              <a:rPr lang="en-US" sz="900">
                <a:latin typeface="Arial" charset="0"/>
                <a:cs typeface="Arial" charset="0"/>
              </a:rPr>
              <a:t>Final Board Package</a:t>
            </a:r>
          </a:p>
          <a:p>
            <a:pPr marL="174625" indent="-174625" eaLnBrk="1" hangingPunct="1">
              <a:buFont typeface="Wingdings" pitchFamily="2" charset="2"/>
              <a:buChar char="q"/>
            </a:pPr>
            <a:r>
              <a:rPr lang="en-US" sz="900">
                <a:latin typeface="Arial" charset="0"/>
                <a:cs typeface="Arial" charset="0"/>
              </a:rPr>
              <a:t>SCR &amp; email to SECBO</a:t>
            </a:r>
          </a:p>
          <a:p>
            <a:pPr marL="174625" indent="-174625" eaLnBrk="1" hangingPunct="1">
              <a:buFont typeface="Wingdings" pitchFamily="2" charset="2"/>
              <a:buChar char="q"/>
            </a:pPr>
            <a:r>
              <a:rPr lang="en-US" sz="900">
                <a:latin typeface="Arial" charset="0"/>
                <a:cs typeface="Arial" charset="0"/>
              </a:rPr>
              <a:t>Regional Pre-board mtg</a:t>
            </a:r>
          </a:p>
          <a:p>
            <a:pPr marL="174625" indent="-174625" eaLnBrk="1" hangingPunct="1">
              <a:buFont typeface="Wingdings" pitchFamily="2" charset="2"/>
              <a:buChar char="q"/>
            </a:pPr>
            <a:r>
              <a:rPr lang="en-US" sz="900">
                <a:latin typeface="Arial" charset="0"/>
                <a:cs typeface="Arial" charset="0"/>
              </a:rPr>
              <a:t>Memo to MD</a:t>
            </a:r>
          </a:p>
          <a:p>
            <a:pPr marL="174625" indent="-174625" eaLnBrk="1" hangingPunct="1">
              <a:buFont typeface="Wingdings" pitchFamily="2" charset="2"/>
              <a:buChar char="q"/>
            </a:pPr>
            <a:r>
              <a:rPr lang="en-US" sz="900">
                <a:latin typeface="Arial" charset="0"/>
                <a:cs typeface="Arial" charset="0"/>
              </a:rPr>
              <a:t>Pre-board meeting</a:t>
            </a:r>
          </a:p>
          <a:p>
            <a:pPr marL="174625" indent="-174625" eaLnBrk="1" hangingPunct="1">
              <a:buFont typeface="Wingdings" pitchFamily="2" charset="2"/>
              <a:buChar char="q"/>
            </a:pPr>
            <a:r>
              <a:rPr lang="en-US" sz="900">
                <a:latin typeface="Arial" charset="0"/>
                <a:cs typeface="Arial" charset="0"/>
              </a:rPr>
              <a:t>Board Approval</a:t>
            </a:r>
          </a:p>
        </p:txBody>
      </p:sp>
      <p:sp>
        <p:nvSpPr>
          <p:cNvPr id="391197" name="Rectangle 29"/>
          <p:cNvSpPr>
            <a:spLocks noChangeArrowheads="1"/>
          </p:cNvSpPr>
          <p:nvPr/>
        </p:nvSpPr>
        <p:spPr bwMode="auto">
          <a:xfrm flipV="1">
            <a:off x="5638800" y="2362200"/>
            <a:ext cx="1600200" cy="1066800"/>
          </a:xfrm>
          <a:prstGeom prst="rect">
            <a:avLst/>
          </a:prstGeom>
          <a:solidFill>
            <a:srgbClr val="CC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r>
              <a:rPr lang="en-US" sz="900">
                <a:latin typeface="Arial" charset="0"/>
                <a:cs typeface="Arial" charset="0"/>
              </a:rPr>
              <a:t>TT prepares and CD, SM,</a:t>
            </a:r>
          </a:p>
          <a:p>
            <a:pPr marL="174625" indent="-174625" eaLnBrk="1" hangingPunct="1">
              <a:buFont typeface="Wingdings" pitchFamily="2" charset="2"/>
              <a:buNone/>
            </a:pPr>
            <a:r>
              <a:rPr lang="en-US" sz="900">
                <a:latin typeface="Arial" charset="0"/>
                <a:cs typeface="Arial" charset="0"/>
              </a:rPr>
              <a:t>      LOAG2, CC clear</a:t>
            </a:r>
          </a:p>
          <a:p>
            <a:pPr marL="174625" indent="-174625" eaLnBrk="1" hangingPunct="1">
              <a:buFont typeface="Wingdings" pitchFamily="2" charset="2"/>
              <a:buChar char="q"/>
            </a:pPr>
            <a:r>
              <a:rPr lang="en-US" sz="900">
                <a:latin typeface="Arial" charset="0"/>
                <a:cs typeface="Arial" charset="0"/>
              </a:rPr>
              <a:t>TL prepares minutes and</a:t>
            </a:r>
          </a:p>
          <a:p>
            <a:pPr marL="174625" indent="-174625" eaLnBrk="1" hangingPunct="1">
              <a:buFont typeface="Wingdings" pitchFamily="2" charset="2"/>
              <a:buNone/>
            </a:pPr>
            <a:r>
              <a:rPr lang="en-US" sz="900">
                <a:latin typeface="Arial" charset="0"/>
                <a:cs typeface="Arial" charset="0"/>
              </a:rPr>
              <a:t>      Lawyer, LOAG2, Leader </a:t>
            </a:r>
          </a:p>
          <a:p>
            <a:pPr marL="174625" indent="-174625" eaLnBrk="1" hangingPunct="1">
              <a:buFont typeface="Wingdings" pitchFamily="2" charset="2"/>
              <a:buNone/>
            </a:pPr>
            <a:r>
              <a:rPr lang="en-US" sz="900">
                <a:latin typeface="Arial" charset="0"/>
                <a:cs typeface="Arial" charset="0"/>
              </a:rPr>
              <a:t>      of Borrower deleg.  clear</a:t>
            </a:r>
          </a:p>
          <a:p>
            <a:pPr marL="174625" indent="-174625" eaLnBrk="1" hangingPunct="1">
              <a:buFont typeface="Wingdings" pitchFamily="2" charset="2"/>
              <a:buChar char="q"/>
            </a:pPr>
            <a:r>
              <a:rPr lang="en-US" sz="900">
                <a:latin typeface="Arial" charset="0"/>
                <a:cs typeface="Arial" charset="0"/>
              </a:rPr>
              <a:t>TL &amp; Leader of Borrower</a:t>
            </a:r>
          </a:p>
          <a:p>
            <a:pPr marL="174625" indent="-174625" eaLnBrk="1" hangingPunct="1">
              <a:buFont typeface="Wingdings" pitchFamily="2" charset="2"/>
              <a:buNone/>
            </a:pPr>
            <a:r>
              <a:rPr lang="en-US" sz="900">
                <a:latin typeface="Arial" charset="0"/>
                <a:cs typeface="Arial" charset="0"/>
              </a:rPr>
              <a:t>       delegation  sign</a:t>
            </a:r>
          </a:p>
        </p:txBody>
      </p:sp>
      <p:sp>
        <p:nvSpPr>
          <p:cNvPr id="391198" name="Rectangle 30"/>
          <p:cNvSpPr>
            <a:spLocks noChangeArrowheads="1"/>
          </p:cNvSpPr>
          <p:nvPr/>
        </p:nvSpPr>
        <p:spPr bwMode="auto">
          <a:xfrm flipV="1">
            <a:off x="3886200" y="2362200"/>
            <a:ext cx="1600200" cy="1066800"/>
          </a:xfrm>
          <a:prstGeom prst="rect">
            <a:avLst/>
          </a:prstGeom>
          <a:solidFill>
            <a:srgbClr val="FF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TT prepares package,</a:t>
            </a:r>
          </a:p>
          <a:p>
            <a:pPr marL="174625" indent="-174625" eaLnBrk="1" hangingPunct="1">
              <a:buFont typeface="Wingdings" pitchFamily="2" charset="2"/>
              <a:buNone/>
            </a:pPr>
            <a:r>
              <a:rPr lang="en-US" sz="900">
                <a:latin typeface="Arial" charset="0"/>
                <a:cs typeface="Arial" charset="0"/>
              </a:rPr>
              <a:t>      SM and CD clear</a:t>
            </a:r>
          </a:p>
          <a:p>
            <a:pPr marL="174625" indent="-174625" eaLnBrk="1" hangingPunct="1">
              <a:buFont typeface="Wingdings" pitchFamily="2" charset="2"/>
              <a:buChar char="q"/>
            </a:pPr>
            <a:r>
              <a:rPr lang="en-US" sz="900">
                <a:latin typeface="Arial" charset="0"/>
                <a:cs typeface="Arial" charset="0"/>
              </a:rPr>
              <a:t>TL prepares notice to</a:t>
            </a:r>
          </a:p>
          <a:p>
            <a:pPr marL="174625" indent="-174625" eaLnBrk="1" hangingPunct="1">
              <a:buFont typeface="Wingdings" pitchFamily="2" charset="2"/>
              <a:buNone/>
            </a:pPr>
            <a:r>
              <a:rPr lang="en-US" sz="900">
                <a:latin typeface="Arial" charset="0"/>
                <a:cs typeface="Arial" charset="0"/>
              </a:rPr>
              <a:t>      Borrower and CD issues</a:t>
            </a:r>
          </a:p>
          <a:p>
            <a:pPr marL="174625" indent="-174625" eaLnBrk="1" hangingPunct="1">
              <a:buFont typeface="Wingdings" pitchFamily="2" charset="2"/>
              <a:buChar char="q"/>
            </a:pPr>
            <a:r>
              <a:rPr lang="en-US" sz="900">
                <a:latin typeface="Arial" charset="0"/>
                <a:cs typeface="Arial" charset="0"/>
              </a:rPr>
              <a:t>TT prep. aide-memoire,</a:t>
            </a:r>
          </a:p>
          <a:p>
            <a:pPr marL="174625" indent="-174625" eaLnBrk="1" hangingPunct="1">
              <a:buFont typeface="Wingdings" pitchFamily="2" charset="2"/>
              <a:buNone/>
            </a:pPr>
            <a:r>
              <a:rPr lang="en-US" sz="900">
                <a:latin typeface="Arial" charset="0"/>
                <a:cs typeface="Arial" charset="0"/>
              </a:rPr>
              <a:t>     TL signs &amp; delivers</a:t>
            </a:r>
          </a:p>
          <a:p>
            <a:pPr marL="174625" indent="-174625" eaLnBrk="1" hangingPunct="1">
              <a:buFont typeface="Wingdings" pitchFamily="2" charset="2"/>
              <a:buChar char="q"/>
            </a:pPr>
            <a:r>
              <a:rPr lang="en-US" sz="900">
                <a:latin typeface="Arial" charset="0"/>
                <a:cs typeface="Arial" charset="0"/>
              </a:rPr>
              <a:t>TL prep. post-appraisal</a:t>
            </a:r>
          </a:p>
          <a:p>
            <a:pPr marL="174625" indent="-174625" eaLnBrk="1" hangingPunct="1">
              <a:buFont typeface="Wingdings" pitchFamily="2" charset="2"/>
              <a:buNone/>
            </a:pPr>
            <a:r>
              <a:rPr lang="en-US" sz="900">
                <a:latin typeface="Arial" charset="0"/>
                <a:cs typeface="Arial" charset="0"/>
              </a:rPr>
              <a:t>      letter SM-CL-CD clear</a:t>
            </a:r>
          </a:p>
          <a:p>
            <a:pPr marL="174625" indent="-174625" eaLnBrk="1" hangingPunct="1">
              <a:buFont typeface="Wingdings" pitchFamily="2" charset="2"/>
              <a:buNone/>
            </a:pPr>
            <a:endParaRPr lang="en-US" sz="900">
              <a:latin typeface="Arial" charset="0"/>
              <a:cs typeface="Arial" charset="0"/>
            </a:endParaRPr>
          </a:p>
        </p:txBody>
      </p:sp>
      <p:sp>
        <p:nvSpPr>
          <p:cNvPr id="391199" name="Rectangle 31"/>
          <p:cNvSpPr>
            <a:spLocks noChangeArrowheads="1"/>
          </p:cNvSpPr>
          <p:nvPr/>
        </p:nvSpPr>
        <p:spPr bwMode="auto">
          <a:xfrm flipV="1">
            <a:off x="2133600" y="3505200"/>
            <a:ext cx="1600200" cy="1143000"/>
          </a:xfrm>
          <a:prstGeom prst="rect">
            <a:avLst/>
          </a:prstGeom>
          <a:solidFill>
            <a:srgbClr val="FF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r>
              <a:rPr lang="en-US" sz="900">
                <a:latin typeface="Arial" charset="0"/>
                <a:cs typeface="Arial" charset="0"/>
              </a:rPr>
              <a:t>PAD, PID, ISDS</a:t>
            </a:r>
          </a:p>
          <a:p>
            <a:pPr marL="174625" indent="-174625" eaLnBrk="1" hangingPunct="1">
              <a:buFont typeface="Wingdings" pitchFamily="2" charset="2"/>
              <a:buChar char="q"/>
            </a:pPr>
            <a:r>
              <a:rPr lang="en-US" sz="900">
                <a:latin typeface="Arial" charset="0"/>
                <a:cs typeface="Arial" charset="0"/>
              </a:rPr>
              <a:t>Safeguards Documents</a:t>
            </a:r>
          </a:p>
          <a:p>
            <a:pPr marL="174625" indent="-174625" eaLnBrk="1" hangingPunct="1">
              <a:buFont typeface="Wingdings" pitchFamily="2" charset="2"/>
              <a:buChar char="q"/>
            </a:pPr>
            <a:r>
              <a:rPr lang="en-US" sz="900">
                <a:latin typeface="Arial" charset="0"/>
                <a:cs typeface="Arial" charset="0"/>
              </a:rPr>
              <a:t>Minutes of QER</a:t>
            </a:r>
          </a:p>
          <a:p>
            <a:pPr marL="174625" indent="-174625" eaLnBrk="1" hangingPunct="1">
              <a:buFont typeface="Wingdings" pitchFamily="2" charset="2"/>
              <a:buChar char="q"/>
            </a:pPr>
            <a:r>
              <a:rPr lang="en-US" sz="900">
                <a:latin typeface="Arial" charset="0"/>
                <a:cs typeface="Arial" charset="0"/>
              </a:rPr>
              <a:t>Agenda</a:t>
            </a:r>
          </a:p>
          <a:p>
            <a:pPr marL="174625" indent="-174625" eaLnBrk="1" hangingPunct="1">
              <a:buFont typeface="Wingdings" pitchFamily="2" charset="2"/>
              <a:buChar char="q"/>
            </a:pPr>
            <a:r>
              <a:rPr lang="en-US" sz="900">
                <a:latin typeface="Arial" charset="0"/>
                <a:cs typeface="Arial" charset="0"/>
              </a:rPr>
              <a:t>Email</a:t>
            </a:r>
          </a:p>
        </p:txBody>
      </p:sp>
      <p:sp>
        <p:nvSpPr>
          <p:cNvPr id="391200" name="Rectangle 32"/>
          <p:cNvSpPr>
            <a:spLocks noChangeArrowheads="1"/>
          </p:cNvSpPr>
          <p:nvPr/>
        </p:nvSpPr>
        <p:spPr bwMode="auto">
          <a:xfrm flipV="1">
            <a:off x="7391400" y="2362200"/>
            <a:ext cx="1600200" cy="1066800"/>
          </a:xfrm>
          <a:prstGeom prst="rect">
            <a:avLst/>
          </a:prstGeom>
          <a:solidFill>
            <a:srgbClr val="CCE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r>
              <a:rPr lang="en-US" sz="900">
                <a:latin typeface="Arial" charset="0"/>
                <a:cs typeface="Arial" charset="0"/>
              </a:rPr>
              <a:t>TL prepares Board pkg,</a:t>
            </a:r>
          </a:p>
          <a:p>
            <a:pPr marL="174625" indent="-174625" eaLnBrk="1" hangingPunct="1">
              <a:buFont typeface="Wingdings" pitchFamily="2" charset="2"/>
              <a:buNone/>
            </a:pPr>
            <a:r>
              <a:rPr lang="en-US" sz="900">
                <a:latin typeface="Arial" charset="0"/>
                <a:cs typeface="Arial" charset="0"/>
              </a:rPr>
              <a:t>       SM-FO-LY-CD clear</a:t>
            </a:r>
          </a:p>
          <a:p>
            <a:pPr marL="174625" indent="-174625" eaLnBrk="1" hangingPunct="1">
              <a:buFont typeface="Wingdings" pitchFamily="2" charset="2"/>
              <a:buChar char="q"/>
            </a:pPr>
            <a:r>
              <a:rPr lang="en-US" sz="900">
                <a:latin typeface="Arial" charset="0"/>
                <a:cs typeface="Arial" charset="0"/>
              </a:rPr>
              <a:t>Lawyer prepares SCR &amp;</a:t>
            </a:r>
          </a:p>
          <a:p>
            <a:pPr marL="174625" indent="-174625" eaLnBrk="1" hangingPunct="1">
              <a:buFont typeface="Wingdings" pitchFamily="2" charset="2"/>
              <a:buNone/>
            </a:pPr>
            <a:r>
              <a:rPr lang="en-US" sz="900">
                <a:latin typeface="Arial" charset="0"/>
                <a:cs typeface="Arial" charset="0"/>
              </a:rPr>
              <a:t>      signed by RVP, LEGVP,</a:t>
            </a:r>
          </a:p>
          <a:p>
            <a:pPr marL="174625" indent="-174625" eaLnBrk="1" hangingPunct="1">
              <a:buFont typeface="Wingdings" pitchFamily="2" charset="2"/>
              <a:buNone/>
            </a:pPr>
            <a:r>
              <a:rPr lang="en-US" sz="900">
                <a:latin typeface="Arial" charset="0"/>
                <a:cs typeface="Arial" charset="0"/>
              </a:rPr>
              <a:t>      expert appointed by CG</a:t>
            </a:r>
          </a:p>
          <a:p>
            <a:pPr marL="174625" indent="-174625" eaLnBrk="1" hangingPunct="1">
              <a:buFont typeface="Wingdings" pitchFamily="2" charset="2"/>
              <a:buChar char="q"/>
            </a:pPr>
            <a:r>
              <a:rPr lang="en-US" sz="900">
                <a:latin typeface="Arial" charset="0"/>
                <a:cs typeface="Arial" charset="0"/>
              </a:rPr>
              <a:t>TL prepares NB-Board </a:t>
            </a:r>
          </a:p>
          <a:p>
            <a:pPr marL="174625" indent="-174625" eaLnBrk="1" hangingPunct="1">
              <a:buFont typeface="Wingdings" pitchFamily="2" charset="2"/>
              <a:buNone/>
            </a:pPr>
            <a:r>
              <a:rPr lang="en-US" sz="900">
                <a:latin typeface="Arial" charset="0"/>
                <a:cs typeface="Arial" charset="0"/>
              </a:rPr>
              <a:t>      Approval &amp; lawyer clears</a:t>
            </a:r>
          </a:p>
        </p:txBody>
      </p:sp>
      <p:sp>
        <p:nvSpPr>
          <p:cNvPr id="391201" name="Rectangle 33"/>
          <p:cNvSpPr>
            <a:spLocks noChangeArrowheads="1"/>
          </p:cNvSpPr>
          <p:nvPr/>
        </p:nvSpPr>
        <p:spPr bwMode="auto">
          <a:xfrm flipV="1">
            <a:off x="2133600" y="4724400"/>
            <a:ext cx="1600200" cy="533400"/>
          </a:xfrm>
          <a:prstGeom prst="rect">
            <a:avLst/>
          </a:prstGeom>
          <a:solidFill>
            <a:srgbClr val="FF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IRIS, Passkey, Project </a:t>
            </a:r>
          </a:p>
          <a:p>
            <a:pPr marL="174625" indent="-174625" eaLnBrk="1" hangingPunct="1">
              <a:buFont typeface="Wingdings" pitchFamily="2" charset="2"/>
              <a:buNone/>
            </a:pPr>
            <a:r>
              <a:rPr lang="en-US" sz="900">
                <a:latin typeface="Arial" charset="0"/>
                <a:cs typeface="Arial" charset="0"/>
              </a:rPr>
              <a:t>Portal, Lotus Notes, LAS</a:t>
            </a:r>
          </a:p>
        </p:txBody>
      </p:sp>
      <p:sp>
        <p:nvSpPr>
          <p:cNvPr id="391202" name="Rectangle 34"/>
          <p:cNvSpPr>
            <a:spLocks noChangeArrowheads="1"/>
          </p:cNvSpPr>
          <p:nvPr/>
        </p:nvSpPr>
        <p:spPr bwMode="auto">
          <a:xfrm flipV="1">
            <a:off x="3886200" y="3505200"/>
            <a:ext cx="1600200" cy="1143000"/>
          </a:xfrm>
          <a:prstGeom prst="rect">
            <a:avLst/>
          </a:prstGeom>
          <a:solidFill>
            <a:srgbClr val="FF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r>
              <a:rPr lang="en-US" sz="900">
                <a:latin typeface="Arial" charset="0"/>
                <a:cs typeface="Arial" charset="0"/>
              </a:rPr>
              <a:t>Transmittal Memo</a:t>
            </a:r>
          </a:p>
          <a:p>
            <a:pPr marL="174625" indent="-174625" eaLnBrk="1" hangingPunct="1">
              <a:buFont typeface="Wingdings" pitchFamily="2" charset="2"/>
              <a:buChar char="q"/>
            </a:pPr>
            <a:r>
              <a:rPr lang="en-US" sz="900">
                <a:latin typeface="Arial" charset="0"/>
                <a:cs typeface="Arial" charset="0"/>
              </a:rPr>
              <a:t>PAD,,PID, ISDS</a:t>
            </a:r>
          </a:p>
          <a:p>
            <a:pPr marL="174625" indent="-174625" eaLnBrk="1" hangingPunct="1">
              <a:buFont typeface="Wingdings" pitchFamily="2" charset="2"/>
              <a:buChar char="q"/>
            </a:pPr>
            <a:r>
              <a:rPr lang="en-US" sz="900">
                <a:latin typeface="Arial" charset="0"/>
                <a:cs typeface="Arial" charset="0"/>
              </a:rPr>
              <a:t>Safeguards Documents</a:t>
            </a:r>
          </a:p>
          <a:p>
            <a:pPr marL="174625" indent="-174625" eaLnBrk="1" hangingPunct="1">
              <a:buFont typeface="Wingdings" pitchFamily="2" charset="2"/>
              <a:buChar char="q"/>
            </a:pPr>
            <a:r>
              <a:rPr lang="en-US" sz="900">
                <a:latin typeface="Arial" charset="0"/>
                <a:cs typeface="Arial" charset="0"/>
              </a:rPr>
              <a:t>Legal Documents</a:t>
            </a:r>
          </a:p>
          <a:p>
            <a:pPr marL="174625" indent="-174625" eaLnBrk="1" hangingPunct="1">
              <a:buFont typeface="Wingdings" pitchFamily="2" charset="2"/>
              <a:buChar char="q"/>
            </a:pPr>
            <a:r>
              <a:rPr lang="en-US" sz="900">
                <a:latin typeface="Arial" charset="0"/>
                <a:cs typeface="Arial" charset="0"/>
              </a:rPr>
              <a:t>Minutes, Agenda</a:t>
            </a:r>
          </a:p>
          <a:p>
            <a:pPr marL="174625" indent="-174625" eaLnBrk="1" hangingPunct="1">
              <a:buFont typeface="Wingdings" pitchFamily="2" charset="2"/>
              <a:buChar char="q"/>
            </a:pPr>
            <a:r>
              <a:rPr lang="en-US" sz="900">
                <a:latin typeface="Arial" charset="0"/>
                <a:cs typeface="Arial" charset="0"/>
              </a:rPr>
              <a:t>SMO, Aide-memoire</a:t>
            </a:r>
          </a:p>
          <a:p>
            <a:pPr marL="174625" indent="-174625" eaLnBrk="1" hangingPunct="1">
              <a:buFont typeface="Wingdings" pitchFamily="2" charset="2"/>
              <a:buChar char="q"/>
            </a:pPr>
            <a:r>
              <a:rPr lang="en-US" sz="900">
                <a:latin typeface="Arial" charset="0"/>
                <a:cs typeface="Arial" charset="0"/>
              </a:rPr>
              <a:t>Notice to Borrower</a:t>
            </a:r>
          </a:p>
          <a:p>
            <a:pPr marL="174625" indent="-174625" eaLnBrk="1" hangingPunct="1">
              <a:buFont typeface="Wingdings" pitchFamily="2" charset="2"/>
              <a:buChar char="q"/>
            </a:pPr>
            <a:r>
              <a:rPr lang="en-US" sz="900">
                <a:latin typeface="Arial" charset="0"/>
                <a:cs typeface="Arial" charset="0"/>
              </a:rPr>
              <a:t>BTOR, Letter</a:t>
            </a:r>
          </a:p>
        </p:txBody>
      </p:sp>
      <p:sp>
        <p:nvSpPr>
          <p:cNvPr id="391203" name="Rectangle 35"/>
          <p:cNvSpPr>
            <a:spLocks noChangeArrowheads="1"/>
          </p:cNvSpPr>
          <p:nvPr/>
        </p:nvSpPr>
        <p:spPr bwMode="auto">
          <a:xfrm flipV="1">
            <a:off x="5638800" y="3505200"/>
            <a:ext cx="1600200" cy="1143000"/>
          </a:xfrm>
          <a:prstGeom prst="rect">
            <a:avLst/>
          </a:prstGeom>
          <a:solidFill>
            <a:srgbClr val="CC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Memo, PAD, MOP</a:t>
            </a:r>
          </a:p>
          <a:p>
            <a:pPr marL="174625" indent="-174625" eaLnBrk="1" hangingPunct="1">
              <a:buFont typeface="Wingdings" pitchFamily="2" charset="2"/>
              <a:buChar char="q"/>
            </a:pPr>
            <a:r>
              <a:rPr lang="en-US" sz="900">
                <a:latin typeface="Arial" charset="0"/>
                <a:cs typeface="Arial" charset="0"/>
              </a:rPr>
              <a:t>Notice of Invitation</a:t>
            </a:r>
          </a:p>
          <a:p>
            <a:pPr marL="174625" indent="-174625" eaLnBrk="1" hangingPunct="1">
              <a:buFont typeface="Wingdings" pitchFamily="2" charset="2"/>
              <a:buChar char="q"/>
            </a:pPr>
            <a:r>
              <a:rPr lang="en-US" sz="900">
                <a:latin typeface="Arial" charset="0"/>
                <a:cs typeface="Arial" charset="0"/>
              </a:rPr>
              <a:t>Letter of Invitation</a:t>
            </a:r>
          </a:p>
          <a:p>
            <a:pPr marL="174625" indent="-174625" eaLnBrk="1" hangingPunct="1">
              <a:buFont typeface="Wingdings" pitchFamily="2" charset="2"/>
              <a:buChar char="q"/>
            </a:pPr>
            <a:r>
              <a:rPr lang="en-US" sz="900">
                <a:latin typeface="Arial" charset="0"/>
                <a:cs typeface="Arial" charset="0"/>
              </a:rPr>
              <a:t>Letter of Sector Policy</a:t>
            </a:r>
          </a:p>
          <a:p>
            <a:pPr marL="174625" indent="-174625" eaLnBrk="1" hangingPunct="1">
              <a:buFont typeface="Wingdings" pitchFamily="2" charset="2"/>
              <a:buChar char="q"/>
            </a:pPr>
            <a:r>
              <a:rPr lang="en-US" sz="900">
                <a:latin typeface="Arial" charset="0"/>
                <a:cs typeface="Arial" charset="0"/>
              </a:rPr>
              <a:t>Letter of Development</a:t>
            </a:r>
          </a:p>
          <a:p>
            <a:pPr marL="174625" indent="-174625" eaLnBrk="1" hangingPunct="1">
              <a:buFont typeface="Wingdings" pitchFamily="2" charset="2"/>
              <a:buNone/>
            </a:pPr>
            <a:r>
              <a:rPr lang="en-US" sz="900">
                <a:latin typeface="Arial" charset="0"/>
                <a:cs typeface="Arial" charset="0"/>
              </a:rPr>
              <a:t>     Program</a:t>
            </a:r>
          </a:p>
          <a:p>
            <a:pPr marL="174625" indent="-174625" eaLnBrk="1" hangingPunct="1">
              <a:buFont typeface="Wingdings" pitchFamily="2" charset="2"/>
              <a:buChar char="q"/>
            </a:pPr>
            <a:r>
              <a:rPr lang="en-US" sz="900">
                <a:latin typeface="Arial" charset="0"/>
                <a:cs typeface="Arial" charset="0"/>
              </a:rPr>
              <a:t>Minutes</a:t>
            </a:r>
          </a:p>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None/>
            </a:pPr>
            <a:r>
              <a:rPr lang="en-US" sz="900">
                <a:latin typeface="Arial" charset="0"/>
                <a:cs typeface="Arial" charset="0"/>
              </a:rPr>
              <a:t>       </a:t>
            </a:r>
          </a:p>
        </p:txBody>
      </p:sp>
      <p:sp>
        <p:nvSpPr>
          <p:cNvPr id="391204" name="Rectangle 36"/>
          <p:cNvSpPr>
            <a:spLocks noChangeArrowheads="1"/>
          </p:cNvSpPr>
          <p:nvPr/>
        </p:nvSpPr>
        <p:spPr bwMode="auto">
          <a:xfrm flipV="1">
            <a:off x="7391400" y="3505200"/>
            <a:ext cx="1600200" cy="1143000"/>
          </a:xfrm>
          <a:prstGeom prst="rect">
            <a:avLst/>
          </a:prstGeom>
          <a:solidFill>
            <a:srgbClr val="CCE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r>
              <a:rPr lang="en-US" sz="900">
                <a:latin typeface="Arial" charset="0"/>
                <a:cs typeface="Arial" charset="0"/>
              </a:rPr>
              <a:t>Transmittal memo</a:t>
            </a:r>
          </a:p>
          <a:p>
            <a:pPr marL="174625" indent="-174625" eaLnBrk="1" hangingPunct="1">
              <a:buFont typeface="Wingdings" pitchFamily="2" charset="2"/>
              <a:buChar char="q"/>
            </a:pPr>
            <a:r>
              <a:rPr lang="en-US" sz="900">
                <a:latin typeface="Arial" charset="0"/>
                <a:cs typeface="Arial" charset="0"/>
              </a:rPr>
              <a:t>form 2337 , form 1767</a:t>
            </a:r>
          </a:p>
          <a:p>
            <a:pPr marL="174625" indent="-174625" eaLnBrk="1" hangingPunct="1">
              <a:buFont typeface="Wingdings" pitchFamily="2" charset="2"/>
              <a:buChar char="q"/>
            </a:pPr>
            <a:r>
              <a:rPr lang="en-US" sz="900">
                <a:latin typeface="Arial" charset="0"/>
                <a:cs typeface="Arial" charset="0"/>
              </a:rPr>
              <a:t>Board Doc Sub. Form</a:t>
            </a:r>
          </a:p>
          <a:p>
            <a:pPr marL="174625" indent="-174625" eaLnBrk="1" hangingPunct="1">
              <a:buFont typeface="Wingdings" pitchFamily="2" charset="2"/>
              <a:buChar char="q"/>
            </a:pPr>
            <a:r>
              <a:rPr lang="en-US" sz="900">
                <a:latin typeface="Arial" charset="0"/>
                <a:cs typeface="Arial" charset="0"/>
              </a:rPr>
              <a:t>PAD, MOP, speech</a:t>
            </a:r>
          </a:p>
          <a:p>
            <a:pPr marL="174625" indent="-174625" eaLnBrk="1" hangingPunct="1">
              <a:buFont typeface="Wingdings" pitchFamily="2" charset="2"/>
              <a:buChar char="q"/>
            </a:pPr>
            <a:r>
              <a:rPr lang="en-US" sz="900">
                <a:latin typeface="Arial" charset="0"/>
                <a:cs typeface="Arial" charset="0"/>
              </a:rPr>
              <a:t>Notice to Borrower </a:t>
            </a:r>
          </a:p>
          <a:p>
            <a:pPr marL="174625" indent="-174625" eaLnBrk="1" hangingPunct="1">
              <a:buFont typeface="Wingdings" pitchFamily="2" charset="2"/>
              <a:buChar char="q"/>
            </a:pPr>
            <a:r>
              <a:rPr lang="en-US" sz="900">
                <a:latin typeface="Arial" charset="0"/>
                <a:cs typeface="Arial" charset="0"/>
              </a:rPr>
              <a:t>SCR Report</a:t>
            </a:r>
          </a:p>
          <a:p>
            <a:pPr marL="174625" indent="-174625" eaLnBrk="1" hangingPunct="1">
              <a:buFont typeface="Wingdings" pitchFamily="2" charset="2"/>
              <a:buChar char="q"/>
            </a:pPr>
            <a:r>
              <a:rPr lang="en-US" sz="900">
                <a:latin typeface="Arial" charset="0"/>
                <a:cs typeface="Arial" charset="0"/>
              </a:rPr>
              <a:t>Form 14, Form152</a:t>
            </a:r>
          </a:p>
          <a:p>
            <a:pPr marL="174625" indent="-174625" eaLnBrk="1" hangingPunct="1">
              <a:buFont typeface="Wingdings" pitchFamily="2" charset="2"/>
              <a:buChar char="q"/>
            </a:pPr>
            <a:r>
              <a:rPr lang="en-US" sz="900">
                <a:latin typeface="Arial" charset="0"/>
                <a:cs typeface="Arial" charset="0"/>
              </a:rPr>
              <a:t>Speech</a:t>
            </a:r>
          </a:p>
        </p:txBody>
      </p:sp>
      <p:sp>
        <p:nvSpPr>
          <p:cNvPr id="391205" name="Rectangle 37"/>
          <p:cNvSpPr>
            <a:spLocks noChangeArrowheads="1"/>
          </p:cNvSpPr>
          <p:nvPr/>
        </p:nvSpPr>
        <p:spPr bwMode="auto">
          <a:xfrm flipV="1">
            <a:off x="3886200" y="4724400"/>
            <a:ext cx="1600200" cy="533400"/>
          </a:xfrm>
          <a:prstGeom prst="rect">
            <a:avLst/>
          </a:prstGeom>
          <a:solidFill>
            <a:srgbClr val="FF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SAP, IRIS, Passkey, Project </a:t>
            </a:r>
          </a:p>
          <a:p>
            <a:pPr marL="174625" indent="-174625" eaLnBrk="1" hangingPunct="1">
              <a:buFont typeface="Wingdings" pitchFamily="2" charset="2"/>
              <a:buNone/>
            </a:pPr>
            <a:r>
              <a:rPr lang="en-US" sz="900">
                <a:latin typeface="Arial" charset="0"/>
                <a:cs typeface="Arial" charset="0"/>
              </a:rPr>
              <a:t>Portal, Lotus Notes, LAS, </a:t>
            </a:r>
          </a:p>
          <a:p>
            <a:pPr marL="174625" indent="-174625" eaLnBrk="1" hangingPunct="1">
              <a:buFont typeface="Wingdings" pitchFamily="2" charset="2"/>
              <a:buNone/>
            </a:pPr>
            <a:r>
              <a:rPr lang="en-US" sz="900">
                <a:latin typeface="Arial" charset="0"/>
                <a:cs typeface="Arial" charset="0"/>
              </a:rPr>
              <a:t>Travel Web</a:t>
            </a:r>
          </a:p>
        </p:txBody>
      </p:sp>
      <p:sp>
        <p:nvSpPr>
          <p:cNvPr id="391206" name="Rectangle 38"/>
          <p:cNvSpPr>
            <a:spLocks noChangeArrowheads="1"/>
          </p:cNvSpPr>
          <p:nvPr/>
        </p:nvSpPr>
        <p:spPr bwMode="auto">
          <a:xfrm flipV="1">
            <a:off x="2133600" y="5334000"/>
            <a:ext cx="1600200" cy="1066800"/>
          </a:xfrm>
          <a:prstGeom prst="rect">
            <a:avLst/>
          </a:prstGeom>
          <a:solidFill>
            <a:srgbClr val="FFCCFF"/>
          </a:solidFill>
          <a:ln w="9525">
            <a:solidFill>
              <a:schemeClr val="tx1"/>
            </a:solidFill>
            <a:miter lim="800000"/>
            <a:headEnd/>
            <a:tailEnd/>
          </a:ln>
          <a:effectLst/>
        </p:spPr>
        <p:txBody>
          <a:bodyPr rot="10800000" wrap="none" anchor="ctr"/>
          <a:lstStyle/>
          <a:p>
            <a:pPr marL="174625" indent="-174625" eaLnBrk="1" hangingPunct="1"/>
            <a:r>
              <a:rPr lang="en-US" sz="900">
                <a:latin typeface="Arial" charset="0"/>
                <a:cs typeface="Arial" charset="0"/>
              </a:rPr>
              <a:t>W2K, Domino, Edge Server,</a:t>
            </a:r>
          </a:p>
          <a:p>
            <a:pPr marL="174625" indent="-174625" eaLnBrk="1" hangingPunct="1"/>
            <a:r>
              <a:rPr lang="en-US" sz="900">
                <a:latin typeface="Arial" charset="0"/>
                <a:cs typeface="Arial" charset="0"/>
              </a:rPr>
              <a:t>HIS, Oracle, WebSphere, </a:t>
            </a:r>
          </a:p>
          <a:p>
            <a:pPr marL="174625" indent="-174625" eaLnBrk="1" hangingPunct="1"/>
            <a:r>
              <a:rPr lang="en-US" sz="900">
                <a:latin typeface="Arial" charset="0"/>
                <a:cs typeface="Arial" charset="0"/>
              </a:rPr>
              <a:t>Lotus Notes, Siteminder,</a:t>
            </a:r>
          </a:p>
          <a:p>
            <a:pPr marL="174625" indent="-174625" eaLnBrk="1" hangingPunct="1"/>
            <a:r>
              <a:rPr lang="en-US" sz="900">
                <a:latin typeface="Arial" charset="0"/>
                <a:cs typeface="Arial" charset="0"/>
              </a:rPr>
              <a:t>iPlanet, SAP, AIX, HACMP,</a:t>
            </a:r>
          </a:p>
          <a:p>
            <a:pPr marL="174625" indent="-174625" eaLnBrk="1" hangingPunct="1"/>
            <a:r>
              <a:rPr lang="en-US" sz="900">
                <a:latin typeface="Arial" charset="0"/>
                <a:cs typeface="Arial" charset="0"/>
              </a:rPr>
              <a:t>EMC SRDF, EMC Timefinder</a:t>
            </a:r>
          </a:p>
          <a:p>
            <a:pPr marL="174625" indent="-174625" eaLnBrk="1" hangingPunct="1"/>
            <a:r>
              <a:rPr lang="en-US" sz="900">
                <a:latin typeface="Arial" charset="0"/>
                <a:cs typeface="Arial" charset="0"/>
              </a:rPr>
              <a:t>TSM TDF, Tivoli Monitor,</a:t>
            </a:r>
          </a:p>
          <a:p>
            <a:pPr marL="174625" indent="-174625" eaLnBrk="1" hangingPunct="1"/>
            <a:r>
              <a:rPr lang="en-US" sz="900">
                <a:latin typeface="Arial" charset="0"/>
                <a:cs typeface="Arial" charset="0"/>
              </a:rPr>
              <a:t>Telalert, Precise Luminate</a:t>
            </a:r>
          </a:p>
        </p:txBody>
      </p:sp>
      <p:sp>
        <p:nvSpPr>
          <p:cNvPr id="391207" name="Rectangle 39"/>
          <p:cNvSpPr>
            <a:spLocks noChangeArrowheads="1"/>
          </p:cNvSpPr>
          <p:nvPr/>
        </p:nvSpPr>
        <p:spPr bwMode="auto">
          <a:xfrm flipV="1">
            <a:off x="5638800" y="5334000"/>
            <a:ext cx="1600200" cy="1066800"/>
          </a:xfrm>
          <a:prstGeom prst="rect">
            <a:avLst/>
          </a:prstGeom>
          <a:solidFill>
            <a:srgbClr val="CCFFCC"/>
          </a:solidFill>
          <a:ln w="9525">
            <a:solidFill>
              <a:schemeClr val="tx1"/>
            </a:solidFill>
            <a:miter lim="800000"/>
            <a:headEnd/>
            <a:tailEnd/>
          </a:ln>
          <a:effectLst/>
        </p:spPr>
        <p:txBody>
          <a:bodyPr rot="10800000" wrap="none" anchor="ctr"/>
          <a:lstStyle/>
          <a:p>
            <a:pPr marL="174625" indent="-174625" eaLnBrk="1" hangingPunct="1"/>
            <a:r>
              <a:rPr lang="en-US" sz="900">
                <a:latin typeface="Arial" charset="0"/>
                <a:cs typeface="Arial" charset="0"/>
              </a:rPr>
              <a:t>W2K, Domino, Edge Server,</a:t>
            </a:r>
          </a:p>
          <a:p>
            <a:pPr marL="174625" indent="-174625" eaLnBrk="1" hangingPunct="1"/>
            <a:r>
              <a:rPr lang="en-US" sz="900">
                <a:latin typeface="Arial" charset="0"/>
                <a:cs typeface="Arial" charset="0"/>
              </a:rPr>
              <a:t>HIS, WebSphere, Oracle,</a:t>
            </a:r>
          </a:p>
          <a:p>
            <a:pPr marL="174625" indent="-174625" eaLnBrk="1" hangingPunct="1"/>
            <a:r>
              <a:rPr lang="en-US" sz="900">
                <a:latin typeface="Arial" charset="0"/>
                <a:cs typeface="Arial" charset="0"/>
              </a:rPr>
              <a:t>SAP, Lotus Notes, </a:t>
            </a:r>
          </a:p>
          <a:p>
            <a:pPr marL="174625" indent="-174625" eaLnBrk="1" hangingPunct="1"/>
            <a:r>
              <a:rPr lang="en-US" sz="900">
                <a:latin typeface="Arial" charset="0"/>
                <a:cs typeface="Arial" charset="0"/>
              </a:rPr>
              <a:t>Siteminder, iPlanet, Solaris,</a:t>
            </a:r>
          </a:p>
          <a:p>
            <a:pPr marL="174625" indent="-174625" eaLnBrk="1" hangingPunct="1"/>
            <a:r>
              <a:rPr lang="en-US" sz="900">
                <a:latin typeface="Arial" charset="0"/>
                <a:cs typeface="Arial" charset="0"/>
              </a:rPr>
              <a:t>Sybase, Replication Server,</a:t>
            </a:r>
          </a:p>
          <a:p>
            <a:pPr marL="174625" indent="-174625" eaLnBrk="1" hangingPunct="1"/>
            <a:r>
              <a:rPr lang="en-US" sz="900">
                <a:latin typeface="Arial" charset="0"/>
                <a:cs typeface="Arial" charset="0"/>
              </a:rPr>
              <a:t>WebServer, </a:t>
            </a:r>
          </a:p>
          <a:p>
            <a:pPr marL="174625" indent="-174625" eaLnBrk="1" hangingPunct="1"/>
            <a:r>
              <a:rPr lang="en-US" sz="900">
                <a:latin typeface="Arial" charset="0"/>
                <a:cs typeface="Arial" charset="0"/>
              </a:rPr>
              <a:t>Print Archietcture.</a:t>
            </a:r>
          </a:p>
        </p:txBody>
      </p:sp>
      <p:sp>
        <p:nvSpPr>
          <p:cNvPr id="391208" name="Rectangle 40"/>
          <p:cNvSpPr>
            <a:spLocks noChangeArrowheads="1"/>
          </p:cNvSpPr>
          <p:nvPr/>
        </p:nvSpPr>
        <p:spPr bwMode="auto">
          <a:xfrm flipV="1">
            <a:off x="7391400" y="5334000"/>
            <a:ext cx="1600200" cy="1066800"/>
          </a:xfrm>
          <a:prstGeom prst="rect">
            <a:avLst/>
          </a:prstGeom>
          <a:solidFill>
            <a:srgbClr val="CCECFF"/>
          </a:solidFill>
          <a:ln w="9525">
            <a:solidFill>
              <a:schemeClr val="tx1"/>
            </a:solidFill>
            <a:miter lim="800000"/>
            <a:headEnd/>
            <a:tailEnd/>
          </a:ln>
          <a:effectLst/>
        </p:spPr>
        <p:txBody>
          <a:bodyPr rot="10800000" wrap="none" anchor="ctr"/>
          <a:lstStyle/>
          <a:p>
            <a:pPr marL="174625" indent="-174625" eaLnBrk="1" hangingPunct="1"/>
            <a:r>
              <a:rPr lang="en-US" sz="900">
                <a:latin typeface="Arial" charset="0"/>
                <a:cs typeface="Arial" charset="0"/>
              </a:rPr>
              <a:t>W2K, Domino, Edge Server,</a:t>
            </a:r>
          </a:p>
          <a:p>
            <a:pPr marL="174625" indent="-174625" eaLnBrk="1" hangingPunct="1"/>
            <a:r>
              <a:rPr lang="en-US" sz="900">
                <a:latin typeface="Arial" charset="0"/>
                <a:cs typeface="Arial" charset="0"/>
              </a:rPr>
              <a:t>HIS, WebSphere, Oracle,</a:t>
            </a:r>
          </a:p>
          <a:p>
            <a:pPr marL="174625" indent="-174625" eaLnBrk="1" hangingPunct="1"/>
            <a:r>
              <a:rPr lang="en-US" sz="900">
                <a:latin typeface="Arial" charset="0"/>
                <a:cs typeface="Arial" charset="0"/>
              </a:rPr>
              <a:t>SAP, Lotus Notes, </a:t>
            </a:r>
          </a:p>
          <a:p>
            <a:pPr marL="174625" indent="-174625" eaLnBrk="1" hangingPunct="1"/>
            <a:r>
              <a:rPr lang="en-US" sz="900">
                <a:latin typeface="Arial" charset="0"/>
                <a:cs typeface="Arial" charset="0"/>
              </a:rPr>
              <a:t>Siteminder, iPlanet, Solaris,</a:t>
            </a:r>
          </a:p>
          <a:p>
            <a:pPr marL="174625" indent="-174625" eaLnBrk="1" hangingPunct="1"/>
            <a:r>
              <a:rPr lang="en-US" sz="900">
                <a:latin typeface="Arial" charset="0"/>
                <a:cs typeface="Arial" charset="0"/>
              </a:rPr>
              <a:t>Sybase, Replication Server,</a:t>
            </a:r>
          </a:p>
          <a:p>
            <a:pPr marL="174625" indent="-174625" eaLnBrk="1" hangingPunct="1"/>
            <a:r>
              <a:rPr lang="en-US" sz="900">
                <a:latin typeface="Arial" charset="0"/>
                <a:cs typeface="Arial" charset="0"/>
              </a:rPr>
              <a:t>WebServer, </a:t>
            </a:r>
          </a:p>
          <a:p>
            <a:pPr marL="174625" indent="-174625" eaLnBrk="1" hangingPunct="1"/>
            <a:r>
              <a:rPr lang="en-US" sz="900">
                <a:latin typeface="Arial" charset="0"/>
                <a:cs typeface="Arial" charset="0"/>
              </a:rPr>
              <a:t>Print Archietcture.</a:t>
            </a:r>
          </a:p>
        </p:txBody>
      </p:sp>
      <p:sp>
        <p:nvSpPr>
          <p:cNvPr id="391209" name="Rectangle 41"/>
          <p:cNvSpPr>
            <a:spLocks noChangeArrowheads="1"/>
          </p:cNvSpPr>
          <p:nvPr/>
        </p:nvSpPr>
        <p:spPr bwMode="auto">
          <a:xfrm>
            <a:off x="381000" y="1295400"/>
            <a:ext cx="1600200" cy="990600"/>
          </a:xfrm>
          <a:prstGeom prst="rect">
            <a:avLst/>
          </a:prstGeom>
          <a:solidFill>
            <a:srgbClr val="CCCCFF"/>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r>
              <a:rPr lang="en-US" sz="900">
                <a:latin typeface="Arial" charset="0"/>
                <a:cs typeface="Arial" charset="0"/>
              </a:rPr>
              <a:t>Prepare AIS in SAP</a:t>
            </a:r>
          </a:p>
          <a:p>
            <a:pPr marL="174625" indent="-174625" eaLnBrk="1" hangingPunct="1">
              <a:buFont typeface="Wingdings" pitchFamily="2" charset="2"/>
              <a:buChar char="q"/>
            </a:pPr>
            <a:r>
              <a:rPr lang="en-US" sz="900">
                <a:latin typeface="Arial" charset="0"/>
                <a:cs typeface="Arial" charset="0"/>
              </a:rPr>
              <a:t>Prepare SMO</a:t>
            </a:r>
          </a:p>
          <a:p>
            <a:pPr marL="174625" indent="-174625" eaLnBrk="1" hangingPunct="1">
              <a:buFont typeface="Wingdings" pitchFamily="2" charset="2"/>
              <a:buChar char="q"/>
            </a:pPr>
            <a:r>
              <a:rPr lang="en-US" sz="900">
                <a:latin typeface="Arial" charset="0"/>
                <a:cs typeface="Arial" charset="0"/>
              </a:rPr>
              <a:t>Prepare PCN, PID, ISDS</a:t>
            </a:r>
          </a:p>
          <a:p>
            <a:pPr marL="174625" indent="-174625" eaLnBrk="1" hangingPunct="1">
              <a:buFont typeface="Wingdings" pitchFamily="2" charset="2"/>
              <a:buChar char="q"/>
            </a:pPr>
            <a:r>
              <a:rPr lang="en-US" sz="900">
                <a:latin typeface="Arial" charset="0"/>
                <a:cs typeface="Arial" charset="0"/>
              </a:rPr>
              <a:t>PCN Review Meeting</a:t>
            </a:r>
          </a:p>
          <a:p>
            <a:pPr marL="174625" indent="-174625" eaLnBrk="1" hangingPunct="1">
              <a:buFont typeface="Wingdings" pitchFamily="2" charset="2"/>
              <a:buChar char="q"/>
            </a:pPr>
            <a:r>
              <a:rPr lang="en-US" sz="900">
                <a:latin typeface="Arial" charset="0"/>
                <a:cs typeface="Arial" charset="0"/>
              </a:rPr>
              <a:t>ROC and/or OC review  </a:t>
            </a:r>
          </a:p>
          <a:p>
            <a:pPr marL="174625" indent="-174625" eaLnBrk="1" hangingPunct="1">
              <a:buFont typeface="Wingdings" pitchFamily="2" charset="2"/>
              <a:buNone/>
            </a:pPr>
            <a:r>
              <a:rPr lang="en-US" sz="900">
                <a:latin typeface="Arial" charset="0"/>
                <a:cs typeface="Arial" charset="0"/>
              </a:rPr>
              <a:t>      (for projects high risks)</a:t>
            </a:r>
          </a:p>
        </p:txBody>
      </p:sp>
      <p:sp>
        <p:nvSpPr>
          <p:cNvPr id="391210" name="Text Box 42"/>
          <p:cNvSpPr txBox="1">
            <a:spLocks noChangeArrowheads="1"/>
          </p:cNvSpPr>
          <p:nvPr/>
        </p:nvSpPr>
        <p:spPr bwMode="auto">
          <a:xfrm rot="16200000">
            <a:off x="-434181" y="1500981"/>
            <a:ext cx="1143000"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Activities</a:t>
            </a:r>
          </a:p>
        </p:txBody>
      </p:sp>
      <p:sp>
        <p:nvSpPr>
          <p:cNvPr id="391211" name="Rectangle 43"/>
          <p:cNvSpPr>
            <a:spLocks noChangeArrowheads="1"/>
          </p:cNvSpPr>
          <p:nvPr/>
        </p:nvSpPr>
        <p:spPr bwMode="auto">
          <a:xfrm>
            <a:off x="2133600" y="1295400"/>
            <a:ext cx="1600200" cy="990600"/>
          </a:xfrm>
          <a:prstGeom prst="rect">
            <a:avLst/>
          </a:prstGeom>
          <a:solidFill>
            <a:srgbClr val="FFCCFF"/>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r>
              <a:rPr lang="en-US" sz="900">
                <a:latin typeface="Arial" charset="0"/>
                <a:cs typeface="Arial" charset="0"/>
              </a:rPr>
              <a:t>Draft PAD</a:t>
            </a:r>
          </a:p>
          <a:p>
            <a:pPr marL="174625" indent="-174625" eaLnBrk="1" hangingPunct="1">
              <a:buFont typeface="Wingdings" pitchFamily="2" charset="2"/>
              <a:buChar char="q"/>
            </a:pPr>
            <a:r>
              <a:rPr lang="en-US" sz="900">
                <a:latin typeface="Arial" charset="0"/>
                <a:cs typeface="Arial" charset="0"/>
              </a:rPr>
              <a:t>PID</a:t>
            </a:r>
          </a:p>
          <a:p>
            <a:pPr marL="174625" indent="-174625" eaLnBrk="1" hangingPunct="1">
              <a:buFont typeface="Wingdings" pitchFamily="2" charset="2"/>
              <a:buChar char="q"/>
            </a:pPr>
            <a:r>
              <a:rPr lang="en-US" sz="900">
                <a:latin typeface="Arial" charset="0"/>
                <a:cs typeface="Arial" charset="0"/>
              </a:rPr>
              <a:t>PAD-stage ISDS</a:t>
            </a:r>
          </a:p>
          <a:p>
            <a:pPr marL="174625" indent="-174625" eaLnBrk="1" hangingPunct="1">
              <a:buFont typeface="Wingdings" pitchFamily="2" charset="2"/>
              <a:buChar char="q"/>
            </a:pPr>
            <a:r>
              <a:rPr lang="en-US" sz="900">
                <a:latin typeface="Arial" charset="0"/>
                <a:cs typeface="Arial" charset="0"/>
              </a:rPr>
              <a:t>Draft EA, RAP, IPDP</a:t>
            </a:r>
          </a:p>
          <a:p>
            <a:pPr marL="174625" indent="-174625" eaLnBrk="1" hangingPunct="1">
              <a:buFont typeface="Wingdings" pitchFamily="2" charset="2"/>
              <a:buChar char="q"/>
            </a:pPr>
            <a:r>
              <a:rPr lang="en-US" sz="900">
                <a:latin typeface="Arial" charset="0"/>
                <a:cs typeface="Arial" charset="0"/>
              </a:rPr>
              <a:t>Minutes of PCN meeting</a:t>
            </a:r>
          </a:p>
          <a:p>
            <a:pPr marL="174625" indent="-174625" eaLnBrk="1" hangingPunct="1">
              <a:buFont typeface="Wingdings" pitchFamily="2" charset="2"/>
              <a:buChar char="q"/>
            </a:pPr>
            <a:r>
              <a:rPr lang="en-US" sz="900">
                <a:latin typeface="Arial" charset="0"/>
                <a:cs typeface="Arial" charset="0"/>
              </a:rPr>
              <a:t>Minutes of QER</a:t>
            </a:r>
          </a:p>
        </p:txBody>
      </p:sp>
      <p:sp>
        <p:nvSpPr>
          <p:cNvPr id="391212" name="Rectangle 44"/>
          <p:cNvSpPr>
            <a:spLocks noChangeArrowheads="1"/>
          </p:cNvSpPr>
          <p:nvPr/>
        </p:nvSpPr>
        <p:spPr bwMode="auto">
          <a:xfrm flipV="1">
            <a:off x="3886200" y="5334000"/>
            <a:ext cx="1600200" cy="1066800"/>
          </a:xfrm>
          <a:prstGeom prst="rect">
            <a:avLst/>
          </a:prstGeom>
          <a:solidFill>
            <a:srgbClr val="FFFFCC"/>
          </a:solidFill>
          <a:ln w="9525">
            <a:solidFill>
              <a:schemeClr val="tx1"/>
            </a:solidFill>
            <a:miter lim="800000"/>
            <a:headEnd/>
            <a:tailEnd/>
          </a:ln>
          <a:effectLst/>
        </p:spPr>
        <p:txBody>
          <a:bodyPr rot="10800000" wrap="none" anchor="ctr"/>
          <a:lstStyle/>
          <a:p>
            <a:pPr marL="174625" indent="-174625" eaLnBrk="1" hangingPunct="1"/>
            <a:r>
              <a:rPr lang="en-US" sz="900">
                <a:latin typeface="Arial" charset="0"/>
                <a:cs typeface="Arial" charset="0"/>
              </a:rPr>
              <a:t>W2K, Domino, Edge Server,</a:t>
            </a:r>
          </a:p>
          <a:p>
            <a:pPr marL="174625" indent="-174625" eaLnBrk="1" hangingPunct="1"/>
            <a:r>
              <a:rPr lang="en-US" sz="900">
                <a:latin typeface="Arial" charset="0"/>
                <a:cs typeface="Arial" charset="0"/>
              </a:rPr>
              <a:t>HIS, Oracle, WebSphere, </a:t>
            </a:r>
          </a:p>
          <a:p>
            <a:pPr marL="174625" indent="-174625" eaLnBrk="1" hangingPunct="1"/>
            <a:r>
              <a:rPr lang="en-US" sz="900">
                <a:latin typeface="Arial" charset="0"/>
                <a:cs typeface="Arial" charset="0"/>
              </a:rPr>
              <a:t>Lotus Notes, Siteminder,</a:t>
            </a:r>
          </a:p>
          <a:p>
            <a:pPr marL="174625" indent="-174625" eaLnBrk="1" hangingPunct="1"/>
            <a:r>
              <a:rPr lang="en-US" sz="900">
                <a:latin typeface="Arial" charset="0"/>
                <a:cs typeface="Arial" charset="0"/>
              </a:rPr>
              <a:t>iPlanet, SAP, AIX, HACMP,</a:t>
            </a:r>
          </a:p>
          <a:p>
            <a:pPr marL="174625" indent="-174625" eaLnBrk="1" hangingPunct="1"/>
            <a:r>
              <a:rPr lang="en-US" sz="900">
                <a:latin typeface="Arial" charset="0"/>
                <a:cs typeface="Arial" charset="0"/>
              </a:rPr>
              <a:t>EMC SRDF, EMC Timefinder</a:t>
            </a:r>
          </a:p>
          <a:p>
            <a:pPr marL="174625" indent="-174625" eaLnBrk="1" hangingPunct="1"/>
            <a:r>
              <a:rPr lang="en-US" sz="900">
                <a:latin typeface="Arial" charset="0"/>
                <a:cs typeface="Arial" charset="0"/>
              </a:rPr>
              <a:t>TSM TDF, Tivoli Monitor,</a:t>
            </a:r>
          </a:p>
          <a:p>
            <a:pPr marL="174625" indent="-174625" eaLnBrk="1" hangingPunct="1"/>
            <a:r>
              <a:rPr lang="en-US" sz="900">
                <a:latin typeface="Arial" charset="0"/>
                <a:cs typeface="Arial" charset="0"/>
              </a:rPr>
              <a:t>Telalert, Precise Luminate</a:t>
            </a:r>
          </a:p>
        </p:txBody>
      </p:sp>
      <p:sp>
        <p:nvSpPr>
          <p:cNvPr id="391213" name="Rectangle 45"/>
          <p:cNvSpPr>
            <a:spLocks noChangeArrowheads="1"/>
          </p:cNvSpPr>
          <p:nvPr/>
        </p:nvSpPr>
        <p:spPr bwMode="auto">
          <a:xfrm flipV="1">
            <a:off x="5638800" y="4724400"/>
            <a:ext cx="1600200" cy="533400"/>
          </a:xfrm>
          <a:prstGeom prst="rect">
            <a:avLst/>
          </a:prstGeom>
          <a:solidFill>
            <a:srgbClr val="CC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IRIS, Passkey, Project </a:t>
            </a:r>
          </a:p>
          <a:p>
            <a:pPr marL="174625" indent="-174625" eaLnBrk="1" hangingPunct="1">
              <a:buFont typeface="Wingdings" pitchFamily="2" charset="2"/>
              <a:buNone/>
            </a:pPr>
            <a:r>
              <a:rPr lang="en-US" sz="900">
                <a:latin typeface="Arial" charset="0"/>
                <a:cs typeface="Arial" charset="0"/>
              </a:rPr>
              <a:t>Portal, LAS, Lotus Notes</a:t>
            </a:r>
          </a:p>
        </p:txBody>
      </p:sp>
      <p:sp>
        <p:nvSpPr>
          <p:cNvPr id="391214" name="Rectangle 46"/>
          <p:cNvSpPr>
            <a:spLocks noChangeArrowheads="1"/>
          </p:cNvSpPr>
          <p:nvPr/>
        </p:nvSpPr>
        <p:spPr bwMode="auto">
          <a:xfrm flipV="1">
            <a:off x="7391400" y="4724400"/>
            <a:ext cx="1600200" cy="533400"/>
          </a:xfrm>
          <a:prstGeom prst="rect">
            <a:avLst/>
          </a:prstGeom>
          <a:solidFill>
            <a:srgbClr val="CCE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IRIS, Passkey, Project </a:t>
            </a:r>
          </a:p>
          <a:p>
            <a:pPr marL="174625" indent="-174625" eaLnBrk="1" hangingPunct="1">
              <a:buFont typeface="Wingdings" pitchFamily="2" charset="2"/>
              <a:buNone/>
            </a:pPr>
            <a:r>
              <a:rPr lang="en-US" sz="900">
                <a:latin typeface="Arial" charset="0"/>
                <a:cs typeface="Arial" charset="0"/>
              </a:rPr>
              <a:t>Portal, LAS, Lotus Notes</a:t>
            </a:r>
          </a:p>
        </p:txBody>
      </p:sp>
      <p:sp>
        <p:nvSpPr>
          <p:cNvPr id="391215" name="Rectangle 47"/>
          <p:cNvSpPr>
            <a:spLocks noChangeArrowheads="1"/>
          </p:cNvSpPr>
          <p:nvPr/>
        </p:nvSpPr>
        <p:spPr bwMode="auto">
          <a:xfrm>
            <a:off x="533400" y="152400"/>
            <a:ext cx="8458200" cy="228600"/>
          </a:xfrm>
          <a:prstGeom prst="rect">
            <a:avLst/>
          </a:prstGeom>
          <a:solidFill>
            <a:srgbClr val="FFFFCC"/>
          </a:solidFill>
          <a:ln w="9525">
            <a:solidFill>
              <a:schemeClr val="tx1"/>
            </a:solidFill>
            <a:miter lim="800000"/>
            <a:headEnd/>
            <a:tailEnd/>
          </a:ln>
          <a:effectLst/>
        </p:spPr>
        <p:txBody>
          <a:bodyPr wrap="none" anchor="ctr"/>
          <a:lstStyle/>
          <a:p>
            <a:pPr marL="174625" indent="-174625" eaLnBrk="1" hangingPunct="1">
              <a:buFont typeface="Wingdings" pitchFamily="2" charset="2"/>
              <a:buNone/>
            </a:pPr>
            <a:r>
              <a:rPr lang="en-US" sz="1000" b="1" u="sng">
                <a:latin typeface="Arial" charset="0"/>
                <a:cs typeface="Arial" charset="0"/>
              </a:rPr>
              <a:t>Metrics for Lending (Reg: 58% of Bank Budget)</a:t>
            </a:r>
            <a:r>
              <a:rPr lang="en-US" sz="1000">
                <a:latin typeface="Arial" charset="0"/>
                <a:cs typeface="Arial" charset="0"/>
              </a:rPr>
              <a:t>: Cost (40%), Quality (19%), Volume (16%), Capacity (13%), Satisfaction (6%), Timeliness (6%).</a:t>
            </a:r>
          </a:p>
        </p:txBody>
      </p:sp>
      <p:sp>
        <p:nvSpPr>
          <p:cNvPr id="391216" name="Rectangle 48"/>
          <p:cNvSpPr>
            <a:spLocks noChangeArrowheads="1"/>
          </p:cNvSpPr>
          <p:nvPr/>
        </p:nvSpPr>
        <p:spPr bwMode="auto">
          <a:xfrm flipV="1">
            <a:off x="381000" y="6477000"/>
            <a:ext cx="1600200" cy="228600"/>
          </a:xfrm>
          <a:prstGeom prst="rect">
            <a:avLst/>
          </a:prstGeom>
          <a:solidFill>
            <a:srgbClr val="CC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Time, Cost, Capacity, Vol</a:t>
            </a:r>
          </a:p>
        </p:txBody>
      </p:sp>
      <p:sp>
        <p:nvSpPr>
          <p:cNvPr id="391217" name="Rectangle 49"/>
          <p:cNvSpPr>
            <a:spLocks noChangeArrowheads="1"/>
          </p:cNvSpPr>
          <p:nvPr/>
        </p:nvSpPr>
        <p:spPr bwMode="auto">
          <a:xfrm flipV="1">
            <a:off x="2133600" y="6477000"/>
            <a:ext cx="1600200" cy="228600"/>
          </a:xfrm>
          <a:prstGeom prst="rect">
            <a:avLst/>
          </a:prstGeom>
          <a:solidFill>
            <a:srgbClr val="FF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Time, Cost, Cap, Vol, Quality</a:t>
            </a:r>
          </a:p>
        </p:txBody>
      </p:sp>
      <p:sp>
        <p:nvSpPr>
          <p:cNvPr id="391218" name="Rectangle 50"/>
          <p:cNvSpPr>
            <a:spLocks noChangeArrowheads="1"/>
          </p:cNvSpPr>
          <p:nvPr/>
        </p:nvSpPr>
        <p:spPr bwMode="auto">
          <a:xfrm flipV="1">
            <a:off x="3886200" y="6477000"/>
            <a:ext cx="1600200" cy="228600"/>
          </a:xfrm>
          <a:prstGeom prst="rect">
            <a:avLst/>
          </a:prstGeom>
          <a:solidFill>
            <a:srgbClr val="FF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Time, Cost, Cap, Vol, Quality</a:t>
            </a:r>
          </a:p>
        </p:txBody>
      </p:sp>
      <p:sp>
        <p:nvSpPr>
          <p:cNvPr id="391219" name="Rectangle 51"/>
          <p:cNvSpPr>
            <a:spLocks noChangeArrowheads="1"/>
          </p:cNvSpPr>
          <p:nvPr/>
        </p:nvSpPr>
        <p:spPr bwMode="auto">
          <a:xfrm flipV="1">
            <a:off x="5638800" y="6477000"/>
            <a:ext cx="1600200" cy="228600"/>
          </a:xfrm>
          <a:prstGeom prst="rect">
            <a:avLst/>
          </a:prstGeom>
          <a:solidFill>
            <a:srgbClr val="CC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Time, Cost, Cap, Vol, Quality</a:t>
            </a:r>
          </a:p>
        </p:txBody>
      </p:sp>
      <p:sp>
        <p:nvSpPr>
          <p:cNvPr id="391220" name="Rectangle 52"/>
          <p:cNvSpPr>
            <a:spLocks noChangeArrowheads="1"/>
          </p:cNvSpPr>
          <p:nvPr/>
        </p:nvSpPr>
        <p:spPr bwMode="auto">
          <a:xfrm flipV="1">
            <a:off x="7391400" y="6477000"/>
            <a:ext cx="1600200" cy="228600"/>
          </a:xfrm>
          <a:prstGeom prst="rect">
            <a:avLst/>
          </a:prstGeom>
          <a:solidFill>
            <a:srgbClr val="CCE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Time, Cost, Quality</a:t>
            </a:r>
          </a:p>
        </p:txBody>
      </p:sp>
      <p:sp>
        <p:nvSpPr>
          <p:cNvPr id="391221" name="Text Box 53"/>
          <p:cNvSpPr txBox="1">
            <a:spLocks noChangeArrowheads="1"/>
          </p:cNvSpPr>
          <p:nvPr/>
        </p:nvSpPr>
        <p:spPr bwMode="auto">
          <a:xfrm rot="16200000">
            <a:off x="-129381" y="4777581"/>
            <a:ext cx="533400"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App</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2194" name="AutoShape 2"/>
          <p:cNvSpPr>
            <a:spLocks noChangeArrowheads="1"/>
          </p:cNvSpPr>
          <p:nvPr/>
        </p:nvSpPr>
        <p:spPr bwMode="auto">
          <a:xfrm>
            <a:off x="7391400" y="457200"/>
            <a:ext cx="1600200" cy="533400"/>
          </a:xfrm>
          <a:prstGeom prst="chevron">
            <a:avLst>
              <a:gd name="adj" fmla="val 75000"/>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Project </a:t>
            </a:r>
          </a:p>
          <a:p>
            <a:pPr algn="r" eaLnBrk="1" hangingPunct="1"/>
            <a:r>
              <a:rPr lang="en-US" sz="1200">
                <a:latin typeface="Arial" charset="0"/>
                <a:cs typeface="Arial" charset="0"/>
              </a:rPr>
              <a:t>Evaluation</a:t>
            </a:r>
          </a:p>
        </p:txBody>
      </p:sp>
      <p:sp>
        <p:nvSpPr>
          <p:cNvPr id="392195" name="AutoShape 3"/>
          <p:cNvSpPr>
            <a:spLocks noChangeArrowheads="1"/>
          </p:cNvSpPr>
          <p:nvPr/>
        </p:nvSpPr>
        <p:spPr bwMode="auto">
          <a:xfrm>
            <a:off x="685800" y="457200"/>
            <a:ext cx="1524000" cy="533400"/>
          </a:xfrm>
          <a:prstGeom prst="chevron">
            <a:avLst>
              <a:gd name="adj" fmla="val 71429"/>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Project </a:t>
            </a:r>
          </a:p>
          <a:p>
            <a:pPr algn="r" eaLnBrk="1" hangingPunct="1"/>
            <a:r>
              <a:rPr lang="en-US" sz="1200">
                <a:latin typeface="Arial" charset="0"/>
                <a:cs typeface="Arial" charset="0"/>
              </a:rPr>
              <a:t>Signing</a:t>
            </a:r>
          </a:p>
        </p:txBody>
      </p:sp>
      <p:sp>
        <p:nvSpPr>
          <p:cNvPr id="392196" name="AutoShape 4"/>
          <p:cNvSpPr>
            <a:spLocks noChangeArrowheads="1"/>
          </p:cNvSpPr>
          <p:nvPr/>
        </p:nvSpPr>
        <p:spPr bwMode="auto">
          <a:xfrm>
            <a:off x="2286000" y="457200"/>
            <a:ext cx="1524000" cy="533400"/>
          </a:xfrm>
          <a:prstGeom prst="chevron">
            <a:avLst>
              <a:gd name="adj" fmla="val 71429"/>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Project</a:t>
            </a:r>
          </a:p>
          <a:p>
            <a:pPr algn="r" eaLnBrk="1" hangingPunct="1"/>
            <a:r>
              <a:rPr lang="en-US" sz="1200">
                <a:latin typeface="Arial" charset="0"/>
                <a:cs typeface="Arial" charset="0"/>
              </a:rPr>
              <a:t>Effectiveness</a:t>
            </a:r>
          </a:p>
        </p:txBody>
      </p:sp>
      <p:sp>
        <p:nvSpPr>
          <p:cNvPr id="392197" name="AutoShape 5"/>
          <p:cNvSpPr>
            <a:spLocks noChangeArrowheads="1"/>
          </p:cNvSpPr>
          <p:nvPr/>
        </p:nvSpPr>
        <p:spPr bwMode="auto">
          <a:xfrm>
            <a:off x="3810000" y="457200"/>
            <a:ext cx="1752600" cy="533400"/>
          </a:xfrm>
          <a:prstGeom prst="chevron">
            <a:avLst>
              <a:gd name="adj" fmla="val 82143"/>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Project </a:t>
            </a:r>
          </a:p>
          <a:p>
            <a:pPr algn="r" eaLnBrk="1" hangingPunct="1"/>
            <a:r>
              <a:rPr lang="en-US" sz="1200">
                <a:latin typeface="Arial" charset="0"/>
                <a:cs typeface="Arial" charset="0"/>
              </a:rPr>
              <a:t>Supervision</a:t>
            </a:r>
          </a:p>
        </p:txBody>
      </p:sp>
      <p:sp>
        <p:nvSpPr>
          <p:cNvPr id="392198" name="AutoShape 6"/>
          <p:cNvSpPr>
            <a:spLocks noChangeArrowheads="1"/>
          </p:cNvSpPr>
          <p:nvPr/>
        </p:nvSpPr>
        <p:spPr bwMode="auto">
          <a:xfrm>
            <a:off x="5562600" y="457200"/>
            <a:ext cx="1752600" cy="533400"/>
          </a:xfrm>
          <a:prstGeom prst="chevron">
            <a:avLst>
              <a:gd name="adj" fmla="val 82143"/>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Project </a:t>
            </a:r>
          </a:p>
          <a:p>
            <a:pPr algn="r" eaLnBrk="1" hangingPunct="1"/>
            <a:r>
              <a:rPr lang="en-US" sz="1200">
                <a:latin typeface="Arial" charset="0"/>
                <a:cs typeface="Arial" charset="0"/>
              </a:rPr>
              <a:t>Completion</a:t>
            </a:r>
          </a:p>
        </p:txBody>
      </p:sp>
      <p:sp>
        <p:nvSpPr>
          <p:cNvPr id="392199" name="Rectangle 7"/>
          <p:cNvSpPr>
            <a:spLocks noChangeArrowheads="1"/>
          </p:cNvSpPr>
          <p:nvPr/>
        </p:nvSpPr>
        <p:spPr bwMode="auto">
          <a:xfrm>
            <a:off x="381000" y="2362200"/>
            <a:ext cx="1600200" cy="1066800"/>
          </a:xfrm>
          <a:prstGeom prst="rect">
            <a:avLst/>
          </a:prstGeom>
          <a:solidFill>
            <a:srgbClr val="CCCCFF"/>
          </a:solidFill>
          <a:ln w="9525">
            <a:solidFill>
              <a:schemeClr val="tx1"/>
            </a:solidFill>
            <a:miter lim="800000"/>
            <a:headEnd/>
            <a:tailEnd/>
          </a:ln>
          <a:effectLst/>
        </p:spPr>
        <p:txBody>
          <a:bodyPr wrap="none" anchor="ctr"/>
          <a:lstStyle/>
          <a:p>
            <a:pPr marL="174625" indent="-174625" eaLnBrk="1" hangingPunct="1">
              <a:buFont typeface="Wingdings" pitchFamily="2" charset="2"/>
              <a:buNone/>
            </a:pPr>
            <a:endParaRPr lang="en-US" sz="900">
              <a:latin typeface="Arial" charset="0"/>
              <a:cs typeface="Arial" charset="0"/>
            </a:endParaRPr>
          </a:p>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TL sends an invitation</a:t>
            </a:r>
          </a:p>
          <a:p>
            <a:pPr marL="174625" indent="-174625" eaLnBrk="1" hangingPunct="1">
              <a:buFont typeface="Wingdings" pitchFamily="2" charset="2"/>
              <a:buNone/>
            </a:pPr>
            <a:r>
              <a:rPr lang="en-US" sz="900">
                <a:latin typeface="Arial" charset="0"/>
                <a:cs typeface="Arial" charset="0"/>
              </a:rPr>
              <a:t>      On signing</a:t>
            </a:r>
          </a:p>
          <a:p>
            <a:pPr marL="174625" indent="-174625" eaLnBrk="1" hangingPunct="1">
              <a:buFont typeface="Wingdings" pitchFamily="2" charset="2"/>
              <a:buChar char="q"/>
            </a:pPr>
            <a:r>
              <a:rPr lang="en-US" sz="900">
                <a:latin typeface="Arial" charset="0"/>
                <a:cs typeface="Arial" charset="0"/>
              </a:rPr>
              <a:t>TL prepares a notice to</a:t>
            </a:r>
          </a:p>
          <a:p>
            <a:pPr marL="174625" indent="-174625" eaLnBrk="1" hangingPunct="1">
              <a:buFont typeface="Wingdings" pitchFamily="2" charset="2"/>
              <a:buNone/>
            </a:pPr>
            <a:r>
              <a:rPr lang="en-US" sz="900">
                <a:latin typeface="Arial" charset="0"/>
                <a:cs typeface="Arial" charset="0"/>
              </a:rPr>
              <a:t>      Borrower – signing </a:t>
            </a:r>
          </a:p>
          <a:p>
            <a:pPr marL="174625" indent="-174625" eaLnBrk="1" hangingPunct="1">
              <a:buFont typeface="Wingdings" pitchFamily="2" charset="2"/>
              <a:buNone/>
            </a:pPr>
            <a:r>
              <a:rPr lang="en-US" sz="900">
                <a:latin typeface="Arial" charset="0"/>
                <a:cs typeface="Arial" charset="0"/>
              </a:rPr>
              <a:t>      and Lawyer clears</a:t>
            </a:r>
          </a:p>
          <a:p>
            <a:pPr marL="174625" indent="-174625" eaLnBrk="1" hangingPunct="1">
              <a:buFont typeface="Wingdings" pitchFamily="2" charset="2"/>
              <a:buChar char="q"/>
            </a:pPr>
            <a:r>
              <a:rPr lang="en-US" sz="900">
                <a:latin typeface="Arial" charset="0"/>
                <a:cs typeface="Arial" charset="0"/>
              </a:rPr>
              <a:t>TL sends signed Legal </a:t>
            </a:r>
          </a:p>
          <a:p>
            <a:pPr marL="174625" indent="-174625" eaLnBrk="1" hangingPunct="1">
              <a:buFont typeface="Wingdings" pitchFamily="2" charset="2"/>
              <a:buChar char="q"/>
            </a:pPr>
            <a:r>
              <a:rPr lang="en-US" sz="900">
                <a:latin typeface="Arial" charset="0"/>
                <a:cs typeface="Arial" charset="0"/>
              </a:rPr>
              <a:t>Documents to ACTCF</a:t>
            </a:r>
          </a:p>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endParaRPr lang="en-US" sz="900">
              <a:latin typeface="Arial" charset="0"/>
              <a:cs typeface="Arial" charset="0"/>
            </a:endParaRPr>
          </a:p>
        </p:txBody>
      </p:sp>
      <p:sp>
        <p:nvSpPr>
          <p:cNvPr id="392200" name="Text Box 8"/>
          <p:cNvSpPr txBox="1">
            <a:spLocks noChangeArrowheads="1"/>
          </p:cNvSpPr>
          <p:nvPr/>
        </p:nvSpPr>
        <p:spPr bwMode="auto">
          <a:xfrm rot="16200000">
            <a:off x="-396081" y="3901281"/>
            <a:ext cx="1066800"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Information</a:t>
            </a:r>
          </a:p>
        </p:txBody>
      </p:sp>
      <p:sp>
        <p:nvSpPr>
          <p:cNvPr id="392201" name="Text Box 9"/>
          <p:cNvSpPr txBox="1">
            <a:spLocks noChangeArrowheads="1"/>
          </p:cNvSpPr>
          <p:nvPr/>
        </p:nvSpPr>
        <p:spPr bwMode="auto">
          <a:xfrm rot="16200000">
            <a:off x="-171450" y="400050"/>
            <a:ext cx="800100" cy="457200"/>
          </a:xfrm>
          <a:prstGeom prst="rect">
            <a:avLst/>
          </a:prstGeom>
          <a:noFill/>
          <a:ln w="9525">
            <a:noFill/>
            <a:miter lim="800000"/>
            <a:headEnd/>
            <a:tailEnd/>
          </a:ln>
          <a:effectLst/>
        </p:spPr>
        <p:txBody>
          <a:bodyPr wrap="none">
            <a:spAutoFit/>
          </a:bodyPr>
          <a:lstStyle/>
          <a:p>
            <a:pPr eaLnBrk="1" hangingPunct="1"/>
            <a:r>
              <a:rPr lang="en-US" sz="1200">
                <a:latin typeface="Arial" charset="0"/>
                <a:cs typeface="Arial" charset="0"/>
              </a:rPr>
              <a:t>Business</a:t>
            </a:r>
          </a:p>
          <a:p>
            <a:pPr eaLnBrk="1" hangingPunct="1"/>
            <a:r>
              <a:rPr lang="en-US" sz="1200">
                <a:latin typeface="Arial" charset="0"/>
                <a:cs typeface="Arial" charset="0"/>
              </a:rPr>
              <a:t>Process</a:t>
            </a:r>
          </a:p>
        </p:txBody>
      </p:sp>
      <p:sp>
        <p:nvSpPr>
          <p:cNvPr id="392202" name="AutoShape 10"/>
          <p:cNvSpPr>
            <a:spLocks noChangeArrowheads="1"/>
          </p:cNvSpPr>
          <p:nvPr/>
        </p:nvSpPr>
        <p:spPr bwMode="auto">
          <a:xfrm>
            <a:off x="1219200" y="9906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vert="eaVert" wrap="none" anchor="ctr"/>
          <a:lstStyle/>
          <a:p>
            <a:endParaRPr lang="en-US"/>
          </a:p>
        </p:txBody>
      </p:sp>
      <p:sp>
        <p:nvSpPr>
          <p:cNvPr id="392203" name="AutoShape 11"/>
          <p:cNvSpPr>
            <a:spLocks noChangeArrowheads="1"/>
          </p:cNvSpPr>
          <p:nvPr/>
        </p:nvSpPr>
        <p:spPr bwMode="auto">
          <a:xfrm>
            <a:off x="2971800" y="9906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vert="eaVert" wrap="none" anchor="ctr"/>
          <a:lstStyle/>
          <a:p>
            <a:endParaRPr lang="en-US"/>
          </a:p>
        </p:txBody>
      </p:sp>
      <p:sp>
        <p:nvSpPr>
          <p:cNvPr id="392204" name="AutoShape 12"/>
          <p:cNvSpPr>
            <a:spLocks noChangeArrowheads="1"/>
          </p:cNvSpPr>
          <p:nvPr/>
        </p:nvSpPr>
        <p:spPr bwMode="auto">
          <a:xfrm>
            <a:off x="4648200" y="9906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vert="eaVert" wrap="none" anchor="ctr"/>
          <a:lstStyle/>
          <a:p>
            <a:endParaRPr lang="en-US"/>
          </a:p>
        </p:txBody>
      </p:sp>
      <p:sp>
        <p:nvSpPr>
          <p:cNvPr id="392205" name="AutoShape 13"/>
          <p:cNvSpPr>
            <a:spLocks noChangeArrowheads="1"/>
          </p:cNvSpPr>
          <p:nvPr/>
        </p:nvSpPr>
        <p:spPr bwMode="auto">
          <a:xfrm>
            <a:off x="6324600" y="9906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vert="eaVert" wrap="none" anchor="ctr"/>
          <a:lstStyle/>
          <a:p>
            <a:endParaRPr lang="en-US"/>
          </a:p>
        </p:txBody>
      </p:sp>
      <p:sp>
        <p:nvSpPr>
          <p:cNvPr id="392206" name="AutoShape 14"/>
          <p:cNvSpPr>
            <a:spLocks noChangeArrowheads="1"/>
          </p:cNvSpPr>
          <p:nvPr/>
        </p:nvSpPr>
        <p:spPr bwMode="auto">
          <a:xfrm>
            <a:off x="8001000" y="9906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vert="eaVert" wrap="none" anchor="ctr"/>
          <a:lstStyle/>
          <a:p>
            <a:endParaRPr lang="en-US"/>
          </a:p>
        </p:txBody>
      </p:sp>
      <p:sp>
        <p:nvSpPr>
          <p:cNvPr id="392207" name="AutoShape 15"/>
          <p:cNvSpPr>
            <a:spLocks noChangeArrowheads="1"/>
          </p:cNvSpPr>
          <p:nvPr/>
        </p:nvSpPr>
        <p:spPr bwMode="auto">
          <a:xfrm>
            <a:off x="2209800" y="6858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2208" name="AutoShape 16"/>
          <p:cNvSpPr>
            <a:spLocks noChangeArrowheads="1"/>
          </p:cNvSpPr>
          <p:nvPr/>
        </p:nvSpPr>
        <p:spPr bwMode="auto">
          <a:xfrm>
            <a:off x="3810000" y="6858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2209" name="AutoShape 17"/>
          <p:cNvSpPr>
            <a:spLocks noChangeArrowheads="1"/>
          </p:cNvSpPr>
          <p:nvPr/>
        </p:nvSpPr>
        <p:spPr bwMode="auto">
          <a:xfrm>
            <a:off x="5562600" y="6858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2210" name="AutoShape 18"/>
          <p:cNvSpPr>
            <a:spLocks noChangeArrowheads="1"/>
          </p:cNvSpPr>
          <p:nvPr/>
        </p:nvSpPr>
        <p:spPr bwMode="auto">
          <a:xfrm>
            <a:off x="7315200" y="6858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2211" name="Rectangle 19"/>
          <p:cNvSpPr>
            <a:spLocks noChangeArrowheads="1"/>
          </p:cNvSpPr>
          <p:nvPr/>
        </p:nvSpPr>
        <p:spPr bwMode="auto">
          <a:xfrm>
            <a:off x="381000" y="3505200"/>
            <a:ext cx="1600200" cy="1143000"/>
          </a:xfrm>
          <a:prstGeom prst="rect">
            <a:avLst/>
          </a:prstGeom>
          <a:solidFill>
            <a:srgbClr val="CCCCFF"/>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Notice of Signing</a:t>
            </a:r>
          </a:p>
          <a:p>
            <a:pPr marL="174625" indent="-174625" eaLnBrk="1" hangingPunct="1">
              <a:buFont typeface="Wingdings" pitchFamily="2" charset="2"/>
              <a:buChar char="q"/>
            </a:pPr>
            <a:r>
              <a:rPr lang="en-US" sz="900">
                <a:latin typeface="Arial" charset="0"/>
                <a:cs typeface="Arial" charset="0"/>
              </a:rPr>
              <a:t>Legal Documents</a:t>
            </a:r>
          </a:p>
          <a:p>
            <a:pPr marL="174625" indent="-174625" eaLnBrk="1" hangingPunct="1">
              <a:buFont typeface="Wingdings" pitchFamily="2" charset="2"/>
              <a:buChar char="q"/>
            </a:pPr>
            <a:r>
              <a:rPr lang="en-US" sz="900">
                <a:latin typeface="Arial" charset="0"/>
                <a:cs typeface="Arial" charset="0"/>
              </a:rPr>
              <a:t>Notice to Borrower</a:t>
            </a:r>
          </a:p>
          <a:p>
            <a:pPr marL="174625" indent="-174625" eaLnBrk="1" hangingPunct="1">
              <a:buFont typeface="Wingdings" pitchFamily="2" charset="2"/>
              <a:buChar char="q"/>
            </a:pPr>
            <a:r>
              <a:rPr lang="en-US" sz="900">
                <a:latin typeface="Arial" charset="0"/>
                <a:cs typeface="Arial" charset="0"/>
              </a:rPr>
              <a:t>Email</a:t>
            </a:r>
          </a:p>
          <a:p>
            <a:pPr marL="174625" indent="-174625" eaLnBrk="1" hangingPunct="1">
              <a:buFont typeface="Wingdings" pitchFamily="2" charset="2"/>
              <a:buChar char="q"/>
            </a:pPr>
            <a:r>
              <a:rPr lang="en-US" sz="900">
                <a:latin typeface="Arial" charset="0"/>
                <a:cs typeface="Arial" charset="0"/>
              </a:rPr>
              <a:t>FAX</a:t>
            </a:r>
          </a:p>
        </p:txBody>
      </p:sp>
      <p:sp>
        <p:nvSpPr>
          <p:cNvPr id="392212" name="Rectangle 20"/>
          <p:cNvSpPr>
            <a:spLocks noChangeArrowheads="1"/>
          </p:cNvSpPr>
          <p:nvPr/>
        </p:nvSpPr>
        <p:spPr bwMode="auto">
          <a:xfrm flipV="1">
            <a:off x="381000" y="5334000"/>
            <a:ext cx="1600200" cy="1066800"/>
          </a:xfrm>
          <a:prstGeom prst="rect">
            <a:avLst/>
          </a:prstGeom>
          <a:solidFill>
            <a:srgbClr val="CC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W2K, Domino.</a:t>
            </a:r>
          </a:p>
        </p:txBody>
      </p:sp>
      <p:sp>
        <p:nvSpPr>
          <p:cNvPr id="392213" name="Text Box 21"/>
          <p:cNvSpPr txBox="1">
            <a:spLocks noChangeArrowheads="1"/>
          </p:cNvSpPr>
          <p:nvPr/>
        </p:nvSpPr>
        <p:spPr bwMode="auto">
          <a:xfrm rot="16200000">
            <a:off x="-434181" y="2720181"/>
            <a:ext cx="1143000"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Role &amp; Resp</a:t>
            </a:r>
          </a:p>
        </p:txBody>
      </p:sp>
      <p:sp>
        <p:nvSpPr>
          <p:cNvPr id="392214" name="Text Box 22"/>
          <p:cNvSpPr txBox="1">
            <a:spLocks noChangeArrowheads="1"/>
          </p:cNvSpPr>
          <p:nvPr/>
        </p:nvSpPr>
        <p:spPr bwMode="auto">
          <a:xfrm rot="16200000">
            <a:off x="-167481" y="4815681"/>
            <a:ext cx="609600"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App</a:t>
            </a:r>
          </a:p>
        </p:txBody>
      </p:sp>
      <p:sp>
        <p:nvSpPr>
          <p:cNvPr id="392215" name="Text Box 23"/>
          <p:cNvSpPr txBox="1">
            <a:spLocks noChangeArrowheads="1"/>
          </p:cNvSpPr>
          <p:nvPr/>
        </p:nvSpPr>
        <p:spPr bwMode="auto">
          <a:xfrm rot="16200000">
            <a:off x="-357981" y="5691981"/>
            <a:ext cx="990600"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Technology</a:t>
            </a:r>
          </a:p>
        </p:txBody>
      </p:sp>
      <p:sp>
        <p:nvSpPr>
          <p:cNvPr id="392216" name="Rectangle 24"/>
          <p:cNvSpPr>
            <a:spLocks noChangeArrowheads="1"/>
          </p:cNvSpPr>
          <p:nvPr/>
        </p:nvSpPr>
        <p:spPr bwMode="auto">
          <a:xfrm>
            <a:off x="2133600" y="2362200"/>
            <a:ext cx="1600200" cy="1066800"/>
          </a:xfrm>
          <a:prstGeom prst="rect">
            <a:avLst/>
          </a:prstGeom>
          <a:solidFill>
            <a:srgbClr val="FFCCFF"/>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r>
              <a:rPr lang="en-US" sz="900">
                <a:latin typeface="Arial" charset="0"/>
                <a:cs typeface="Arial" charset="0"/>
              </a:rPr>
              <a:t>TL prepares a memo &amp;</a:t>
            </a:r>
          </a:p>
          <a:p>
            <a:pPr marL="174625" indent="-174625" eaLnBrk="1" hangingPunct="1">
              <a:buFont typeface="Wingdings" pitchFamily="2" charset="2"/>
              <a:buNone/>
            </a:pPr>
            <a:r>
              <a:rPr lang="en-US" sz="900">
                <a:latin typeface="Arial" charset="0"/>
                <a:cs typeface="Arial" charset="0"/>
              </a:rPr>
              <a:t>       letter and lawyer clears</a:t>
            </a:r>
          </a:p>
          <a:p>
            <a:pPr marL="174625" indent="-174625" eaLnBrk="1" hangingPunct="1">
              <a:buFont typeface="Wingdings" pitchFamily="2" charset="2"/>
              <a:buChar char="q"/>
            </a:pPr>
            <a:r>
              <a:rPr lang="en-US" sz="900">
                <a:latin typeface="Arial" charset="0"/>
                <a:cs typeface="Arial" charset="0"/>
              </a:rPr>
              <a:t>CD signs and sends </a:t>
            </a:r>
          </a:p>
          <a:p>
            <a:pPr marL="174625" indent="-174625" eaLnBrk="1" hangingPunct="1">
              <a:buFont typeface="Wingdings" pitchFamily="2" charset="2"/>
              <a:buNone/>
            </a:pPr>
            <a:r>
              <a:rPr lang="en-US" sz="900">
                <a:latin typeface="Arial" charset="0"/>
                <a:cs typeface="Arial" charset="0"/>
              </a:rPr>
              <a:t>      Letter to Borrower</a:t>
            </a:r>
          </a:p>
        </p:txBody>
      </p:sp>
      <p:sp>
        <p:nvSpPr>
          <p:cNvPr id="392217" name="Rectangle 25"/>
          <p:cNvSpPr>
            <a:spLocks noChangeArrowheads="1"/>
          </p:cNvSpPr>
          <p:nvPr/>
        </p:nvSpPr>
        <p:spPr bwMode="auto">
          <a:xfrm>
            <a:off x="3886200" y="1295400"/>
            <a:ext cx="1600200" cy="990600"/>
          </a:xfrm>
          <a:prstGeom prst="rect">
            <a:avLst/>
          </a:prstGeom>
          <a:solidFill>
            <a:srgbClr val="CCECFF"/>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r>
              <a:rPr lang="en-US" sz="900">
                <a:latin typeface="Arial" charset="0"/>
                <a:cs typeface="Arial" charset="0"/>
              </a:rPr>
              <a:t>Procurement  process</a:t>
            </a:r>
          </a:p>
          <a:p>
            <a:pPr marL="174625" indent="-174625" eaLnBrk="1" hangingPunct="1">
              <a:buFont typeface="Wingdings" pitchFamily="2" charset="2"/>
              <a:buChar char="q"/>
            </a:pPr>
            <a:r>
              <a:rPr lang="en-US" sz="900">
                <a:latin typeface="Arial" charset="0"/>
                <a:cs typeface="Arial" charset="0"/>
              </a:rPr>
              <a:t>Disbursement</a:t>
            </a:r>
          </a:p>
          <a:p>
            <a:pPr marL="174625" indent="-174625" eaLnBrk="1" hangingPunct="1">
              <a:buFont typeface="Wingdings" pitchFamily="2" charset="2"/>
              <a:buChar char="q"/>
            </a:pPr>
            <a:r>
              <a:rPr lang="en-US" sz="900">
                <a:latin typeface="Arial" charset="0"/>
                <a:cs typeface="Arial" charset="0"/>
              </a:rPr>
              <a:t>Financial Management</a:t>
            </a:r>
          </a:p>
        </p:txBody>
      </p:sp>
      <p:sp>
        <p:nvSpPr>
          <p:cNvPr id="392218" name="Rectangle 26"/>
          <p:cNvSpPr>
            <a:spLocks noChangeArrowheads="1"/>
          </p:cNvSpPr>
          <p:nvPr/>
        </p:nvSpPr>
        <p:spPr bwMode="auto">
          <a:xfrm>
            <a:off x="5638800" y="1295400"/>
            <a:ext cx="1600200" cy="990600"/>
          </a:xfrm>
          <a:prstGeom prst="rect">
            <a:avLst/>
          </a:prstGeom>
          <a:solidFill>
            <a:srgbClr val="CCFFCC"/>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Completion report </a:t>
            </a:r>
          </a:p>
          <a:p>
            <a:pPr marL="174625" indent="-174625" eaLnBrk="1" hangingPunct="1">
              <a:buFont typeface="Wingdings" pitchFamily="2" charset="2"/>
              <a:buNone/>
            </a:pPr>
            <a:r>
              <a:rPr lang="en-US" sz="900">
                <a:latin typeface="Arial" charset="0"/>
                <a:cs typeface="Arial" charset="0"/>
              </a:rPr>
              <a:t>      identifying accomplishm-</a:t>
            </a:r>
          </a:p>
          <a:p>
            <a:pPr marL="174625" indent="-174625" eaLnBrk="1" hangingPunct="1">
              <a:buFont typeface="Wingdings" pitchFamily="2" charset="2"/>
              <a:buNone/>
            </a:pPr>
            <a:r>
              <a:rPr lang="en-US" sz="900">
                <a:latin typeface="Arial" charset="0"/>
                <a:cs typeface="Arial" charset="0"/>
              </a:rPr>
              <a:t>      ents, problems, lesson</a:t>
            </a:r>
          </a:p>
          <a:p>
            <a:pPr marL="174625" indent="-174625" eaLnBrk="1" hangingPunct="1">
              <a:buFont typeface="Wingdings" pitchFamily="2" charset="2"/>
              <a:buNone/>
            </a:pPr>
            <a:r>
              <a:rPr lang="en-US" sz="900">
                <a:latin typeface="Arial" charset="0"/>
                <a:cs typeface="Arial" charset="0"/>
              </a:rPr>
              <a:t>      learned.</a:t>
            </a:r>
          </a:p>
          <a:p>
            <a:pPr marL="174625" indent="-174625" eaLnBrk="1" hangingPunct="1">
              <a:buFont typeface="Wingdings" pitchFamily="2" charset="2"/>
              <a:buChar char="q"/>
            </a:pPr>
            <a:endParaRPr lang="en-US" sz="900">
              <a:latin typeface="Arial" charset="0"/>
              <a:cs typeface="Arial" charset="0"/>
            </a:endParaRPr>
          </a:p>
        </p:txBody>
      </p:sp>
      <p:sp>
        <p:nvSpPr>
          <p:cNvPr id="392219" name="Rectangle 27"/>
          <p:cNvSpPr>
            <a:spLocks noChangeArrowheads="1"/>
          </p:cNvSpPr>
          <p:nvPr/>
        </p:nvSpPr>
        <p:spPr bwMode="auto">
          <a:xfrm>
            <a:off x="7391400" y="1295400"/>
            <a:ext cx="1600200" cy="990600"/>
          </a:xfrm>
          <a:prstGeom prst="rect">
            <a:avLst/>
          </a:prstGeom>
          <a:solidFill>
            <a:srgbClr val="FFFFCC"/>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r>
              <a:rPr lang="en-US" sz="900">
                <a:latin typeface="Arial" charset="0"/>
                <a:cs typeface="Arial" charset="0"/>
              </a:rPr>
              <a:t>OED assess what works</a:t>
            </a:r>
          </a:p>
          <a:p>
            <a:pPr marL="174625" indent="-174625" eaLnBrk="1" hangingPunct="1">
              <a:buFont typeface="Wingdings" pitchFamily="2" charset="2"/>
              <a:buNone/>
            </a:pPr>
            <a:r>
              <a:rPr lang="en-US" sz="900">
                <a:latin typeface="Arial" charset="0"/>
                <a:cs typeface="Arial" charset="0"/>
              </a:rPr>
              <a:t>      and what does not and</a:t>
            </a:r>
          </a:p>
          <a:p>
            <a:pPr marL="174625" indent="-174625" eaLnBrk="1" hangingPunct="1">
              <a:buFont typeface="Wingdings" pitchFamily="2" charset="2"/>
              <a:buNone/>
            </a:pPr>
            <a:r>
              <a:rPr lang="en-US" sz="900">
                <a:latin typeface="Arial" charset="0"/>
                <a:cs typeface="Arial" charset="0"/>
              </a:rPr>
              <a:t>      learn from the </a:t>
            </a:r>
          </a:p>
          <a:p>
            <a:pPr marL="174625" indent="-174625" eaLnBrk="1" hangingPunct="1">
              <a:buFont typeface="Wingdings" pitchFamily="2" charset="2"/>
              <a:buNone/>
            </a:pPr>
            <a:r>
              <a:rPr lang="en-US" sz="900">
                <a:latin typeface="Arial" charset="0"/>
                <a:cs typeface="Arial" charset="0"/>
              </a:rPr>
              <a:t>       experience.</a:t>
            </a:r>
          </a:p>
        </p:txBody>
      </p:sp>
      <p:sp>
        <p:nvSpPr>
          <p:cNvPr id="392220" name="Rectangle 28"/>
          <p:cNvSpPr>
            <a:spLocks noChangeArrowheads="1"/>
          </p:cNvSpPr>
          <p:nvPr/>
        </p:nvSpPr>
        <p:spPr bwMode="auto">
          <a:xfrm flipV="1">
            <a:off x="5638800" y="2362200"/>
            <a:ext cx="1600200" cy="1066800"/>
          </a:xfrm>
          <a:prstGeom prst="rect">
            <a:avLst/>
          </a:prstGeom>
          <a:solidFill>
            <a:srgbClr val="CC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r>
              <a:rPr lang="en-US" sz="900">
                <a:latin typeface="Arial" charset="0"/>
                <a:cs typeface="Arial" charset="0"/>
              </a:rPr>
              <a:t>Borrower submits a</a:t>
            </a:r>
          </a:p>
          <a:p>
            <a:pPr marL="174625" indent="-174625" eaLnBrk="1" hangingPunct="1">
              <a:buFont typeface="Wingdings" pitchFamily="2" charset="2"/>
              <a:buNone/>
            </a:pPr>
            <a:r>
              <a:rPr lang="en-US" sz="900">
                <a:latin typeface="Arial" charset="0"/>
                <a:cs typeface="Arial" charset="0"/>
              </a:rPr>
              <a:t>      completion report to the</a:t>
            </a:r>
          </a:p>
          <a:p>
            <a:pPr marL="174625" indent="-174625" eaLnBrk="1" hangingPunct="1">
              <a:buFont typeface="Wingdings" pitchFamily="2" charset="2"/>
              <a:buNone/>
            </a:pPr>
            <a:r>
              <a:rPr lang="en-US" sz="900">
                <a:latin typeface="Arial" charset="0"/>
                <a:cs typeface="Arial" charset="0"/>
              </a:rPr>
              <a:t>      Bank Board of EDs</a:t>
            </a:r>
          </a:p>
        </p:txBody>
      </p:sp>
      <p:sp>
        <p:nvSpPr>
          <p:cNvPr id="392221" name="Rectangle 29"/>
          <p:cNvSpPr>
            <a:spLocks noChangeArrowheads="1"/>
          </p:cNvSpPr>
          <p:nvPr/>
        </p:nvSpPr>
        <p:spPr bwMode="auto">
          <a:xfrm flipV="1">
            <a:off x="3886200" y="2362200"/>
            <a:ext cx="1600200" cy="1066800"/>
          </a:xfrm>
          <a:prstGeom prst="rect">
            <a:avLst/>
          </a:prstGeom>
          <a:solidFill>
            <a:srgbClr val="CCE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Borrower prepares specs</a:t>
            </a:r>
          </a:p>
          <a:p>
            <a:pPr marL="174625" indent="-174625" eaLnBrk="1" hangingPunct="1">
              <a:buFont typeface="Wingdings" pitchFamily="2" charset="2"/>
              <a:buNone/>
            </a:pPr>
            <a:r>
              <a:rPr lang="en-US" sz="900">
                <a:latin typeface="Arial" charset="0"/>
                <a:cs typeface="Arial" charset="0"/>
              </a:rPr>
              <a:t>      and evaluates bids.</a:t>
            </a:r>
          </a:p>
          <a:p>
            <a:pPr marL="174625" indent="-174625" eaLnBrk="1" hangingPunct="1">
              <a:buFont typeface="Wingdings" pitchFamily="2" charset="2"/>
              <a:buChar char="q"/>
            </a:pPr>
            <a:r>
              <a:rPr lang="en-US" sz="900">
                <a:latin typeface="Arial" charset="0"/>
                <a:cs typeface="Arial" charset="0"/>
              </a:rPr>
              <a:t>Ps ensures procurement</a:t>
            </a:r>
          </a:p>
          <a:p>
            <a:pPr marL="174625" indent="-174625" eaLnBrk="1" hangingPunct="1">
              <a:buFont typeface="Wingdings" pitchFamily="2" charset="2"/>
              <a:buChar char="q"/>
            </a:pPr>
            <a:r>
              <a:rPr lang="en-US" sz="900">
                <a:latin typeface="Arial" charset="0"/>
                <a:cs typeface="Arial" charset="0"/>
              </a:rPr>
              <a:t>Disbursement Officer</a:t>
            </a:r>
          </a:p>
          <a:p>
            <a:pPr marL="174625" indent="-174625" eaLnBrk="1" hangingPunct="1">
              <a:buFont typeface="Wingdings" pitchFamily="2" charset="2"/>
              <a:buNone/>
            </a:pPr>
            <a:r>
              <a:rPr lang="en-US" sz="900">
                <a:latin typeface="Arial" charset="0"/>
                <a:cs typeface="Arial" charset="0"/>
              </a:rPr>
              <a:t>      authorize to withdraw fund</a:t>
            </a:r>
          </a:p>
          <a:p>
            <a:pPr marL="174625" indent="-174625" eaLnBrk="1" hangingPunct="1">
              <a:buFont typeface="Wingdings" pitchFamily="2" charset="2"/>
              <a:buChar char="q"/>
            </a:pPr>
            <a:r>
              <a:rPr lang="en-US" sz="900">
                <a:latin typeface="Arial" charset="0"/>
                <a:cs typeface="Arial" charset="0"/>
              </a:rPr>
              <a:t>FM maintains oversight</a:t>
            </a:r>
          </a:p>
          <a:p>
            <a:pPr marL="174625" indent="-174625" eaLnBrk="1" hangingPunct="1">
              <a:buFont typeface="Wingdings" pitchFamily="2" charset="2"/>
              <a:buNone/>
            </a:pPr>
            <a:r>
              <a:rPr lang="en-US" sz="900">
                <a:latin typeface="Arial" charset="0"/>
                <a:cs typeface="Arial" charset="0"/>
              </a:rPr>
              <a:t>      of the FM project</a:t>
            </a:r>
          </a:p>
          <a:p>
            <a:pPr marL="174625" indent="-174625" eaLnBrk="1" hangingPunct="1">
              <a:buFont typeface="Wingdings" pitchFamily="2" charset="2"/>
              <a:buChar char="q"/>
            </a:pPr>
            <a:endParaRPr lang="en-US" sz="900">
              <a:latin typeface="Arial" charset="0"/>
              <a:cs typeface="Arial" charset="0"/>
            </a:endParaRPr>
          </a:p>
        </p:txBody>
      </p:sp>
      <p:sp>
        <p:nvSpPr>
          <p:cNvPr id="392222" name="Rectangle 30"/>
          <p:cNvSpPr>
            <a:spLocks noChangeArrowheads="1"/>
          </p:cNvSpPr>
          <p:nvPr/>
        </p:nvSpPr>
        <p:spPr bwMode="auto">
          <a:xfrm flipV="1">
            <a:off x="2133600" y="3505200"/>
            <a:ext cx="1600200" cy="1143000"/>
          </a:xfrm>
          <a:prstGeom prst="rect">
            <a:avLst/>
          </a:prstGeom>
          <a:solidFill>
            <a:srgbClr val="FF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r>
              <a:rPr lang="en-US" sz="900">
                <a:latin typeface="Arial" charset="0"/>
                <a:cs typeface="Arial" charset="0"/>
              </a:rPr>
              <a:t>Memo</a:t>
            </a:r>
          </a:p>
          <a:p>
            <a:pPr marL="174625" indent="-174625" eaLnBrk="1" hangingPunct="1">
              <a:buFont typeface="Wingdings" pitchFamily="2" charset="2"/>
              <a:buChar char="q"/>
            </a:pPr>
            <a:r>
              <a:rPr lang="en-US" sz="900">
                <a:latin typeface="Arial" charset="0"/>
                <a:cs typeface="Arial" charset="0"/>
              </a:rPr>
              <a:t>Notice to Borrower-letter</a:t>
            </a:r>
          </a:p>
          <a:p>
            <a:pPr marL="174625" indent="-174625" eaLnBrk="1" hangingPunct="1">
              <a:buFont typeface="Wingdings" pitchFamily="2" charset="2"/>
              <a:buChar char="q"/>
            </a:pPr>
            <a:r>
              <a:rPr lang="en-US" sz="900">
                <a:latin typeface="Arial" charset="0"/>
                <a:cs typeface="Arial" charset="0"/>
              </a:rPr>
              <a:t>Email</a:t>
            </a:r>
          </a:p>
          <a:p>
            <a:pPr marL="174625" indent="-174625" eaLnBrk="1" hangingPunct="1">
              <a:buFont typeface="Wingdings" pitchFamily="2" charset="2"/>
              <a:buChar char="q"/>
            </a:pPr>
            <a:endParaRPr lang="en-US" sz="900">
              <a:latin typeface="Arial" charset="0"/>
              <a:cs typeface="Arial" charset="0"/>
            </a:endParaRPr>
          </a:p>
        </p:txBody>
      </p:sp>
      <p:sp>
        <p:nvSpPr>
          <p:cNvPr id="392223" name="Rectangle 31"/>
          <p:cNvSpPr>
            <a:spLocks noChangeArrowheads="1"/>
          </p:cNvSpPr>
          <p:nvPr/>
        </p:nvSpPr>
        <p:spPr bwMode="auto">
          <a:xfrm flipV="1">
            <a:off x="7391400" y="2362200"/>
            <a:ext cx="1600200" cy="1066800"/>
          </a:xfrm>
          <a:prstGeom prst="rect">
            <a:avLst/>
          </a:prstGeom>
          <a:solidFill>
            <a:srgbClr val="FF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r>
              <a:rPr lang="en-US" sz="900">
                <a:latin typeface="Arial" charset="0"/>
                <a:cs typeface="Arial" charset="0"/>
              </a:rPr>
              <a:t>OED staff assesses the</a:t>
            </a:r>
          </a:p>
          <a:p>
            <a:pPr marL="174625" indent="-174625" eaLnBrk="1" hangingPunct="1">
              <a:buFont typeface="Wingdings" pitchFamily="2" charset="2"/>
              <a:buNone/>
            </a:pPr>
            <a:r>
              <a:rPr lang="en-US" sz="900">
                <a:latin typeface="Arial" charset="0"/>
                <a:cs typeface="Arial" charset="0"/>
              </a:rPr>
              <a:t>      project and sends to</a:t>
            </a:r>
          </a:p>
          <a:p>
            <a:pPr marL="174625" indent="-174625" eaLnBrk="1" hangingPunct="1">
              <a:buFont typeface="Wingdings" pitchFamily="2" charset="2"/>
              <a:buNone/>
            </a:pPr>
            <a:r>
              <a:rPr lang="en-US" sz="900">
                <a:latin typeface="Arial" charset="0"/>
                <a:cs typeface="Arial" charset="0"/>
              </a:rPr>
              <a:t>      CD, SM, SD, TL, etc.</a:t>
            </a:r>
          </a:p>
        </p:txBody>
      </p:sp>
      <p:sp>
        <p:nvSpPr>
          <p:cNvPr id="392224" name="Rectangle 32"/>
          <p:cNvSpPr>
            <a:spLocks noChangeArrowheads="1"/>
          </p:cNvSpPr>
          <p:nvPr/>
        </p:nvSpPr>
        <p:spPr bwMode="auto">
          <a:xfrm flipV="1">
            <a:off x="2133600" y="4724400"/>
            <a:ext cx="1600200" cy="533400"/>
          </a:xfrm>
          <a:prstGeom prst="rect">
            <a:avLst/>
          </a:prstGeom>
          <a:solidFill>
            <a:srgbClr val="FF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IRIS, Lotus Notes, Passkey</a:t>
            </a:r>
          </a:p>
        </p:txBody>
      </p:sp>
      <p:sp>
        <p:nvSpPr>
          <p:cNvPr id="392225" name="Rectangle 33"/>
          <p:cNvSpPr>
            <a:spLocks noChangeArrowheads="1"/>
          </p:cNvSpPr>
          <p:nvPr/>
        </p:nvSpPr>
        <p:spPr bwMode="auto">
          <a:xfrm flipV="1">
            <a:off x="3886200" y="3505200"/>
            <a:ext cx="1600200" cy="1143000"/>
          </a:xfrm>
          <a:prstGeom prst="rect">
            <a:avLst/>
          </a:prstGeom>
          <a:solidFill>
            <a:srgbClr val="CCE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Bid documents,</a:t>
            </a:r>
          </a:p>
          <a:p>
            <a:pPr marL="174625" indent="-174625" eaLnBrk="1" hangingPunct="1">
              <a:buFont typeface="Wingdings" pitchFamily="2" charset="2"/>
              <a:buChar char="q"/>
            </a:pPr>
            <a:r>
              <a:rPr lang="en-US" sz="900">
                <a:latin typeface="Arial" charset="0"/>
                <a:cs typeface="Arial" charset="0"/>
              </a:rPr>
              <a:t>Contract</a:t>
            </a:r>
          </a:p>
          <a:p>
            <a:pPr marL="174625" indent="-174625" eaLnBrk="1" hangingPunct="1">
              <a:buFont typeface="Wingdings" pitchFamily="2" charset="2"/>
              <a:buChar char="q"/>
            </a:pPr>
            <a:r>
              <a:rPr lang="en-US" sz="900">
                <a:latin typeface="Arial" charset="0"/>
                <a:cs typeface="Arial" charset="0"/>
              </a:rPr>
              <a:t>Bid evaluation report</a:t>
            </a:r>
          </a:p>
          <a:p>
            <a:pPr marL="174625" indent="-174625" eaLnBrk="1" hangingPunct="1">
              <a:buFont typeface="Wingdings" pitchFamily="2" charset="2"/>
              <a:buChar char="q"/>
            </a:pPr>
            <a:r>
              <a:rPr lang="en-US" sz="900">
                <a:latin typeface="Arial" charset="0"/>
                <a:cs typeface="Arial" charset="0"/>
              </a:rPr>
              <a:t>Minutes of bid opening</a:t>
            </a:r>
          </a:p>
          <a:p>
            <a:pPr marL="174625" indent="-174625" eaLnBrk="1" hangingPunct="1">
              <a:buFont typeface="Wingdings" pitchFamily="2" charset="2"/>
              <a:buChar char="q"/>
            </a:pPr>
            <a:r>
              <a:rPr lang="en-US" sz="900">
                <a:latin typeface="Arial" charset="0"/>
                <a:cs typeface="Arial" charset="0"/>
              </a:rPr>
              <a:t>Cost estimate sheet</a:t>
            </a:r>
          </a:p>
          <a:p>
            <a:pPr marL="174625" indent="-174625" eaLnBrk="1" hangingPunct="1">
              <a:buFont typeface="Wingdings" pitchFamily="2" charset="2"/>
              <a:buChar char="q"/>
            </a:pPr>
            <a:r>
              <a:rPr lang="en-US" sz="900">
                <a:latin typeface="Arial" charset="0"/>
                <a:cs typeface="Arial" charset="0"/>
              </a:rPr>
              <a:t>Technical &amp;/or financial</a:t>
            </a:r>
          </a:p>
          <a:p>
            <a:pPr marL="174625" indent="-174625" eaLnBrk="1" hangingPunct="1">
              <a:buFont typeface="Wingdings" pitchFamily="2" charset="2"/>
              <a:buNone/>
            </a:pPr>
            <a:r>
              <a:rPr lang="en-US" sz="900">
                <a:latin typeface="Arial" charset="0"/>
                <a:cs typeface="Arial" charset="0"/>
              </a:rPr>
              <a:t>      evaluation report</a:t>
            </a:r>
          </a:p>
          <a:p>
            <a:pPr marL="174625" indent="-174625" eaLnBrk="1" hangingPunct="1">
              <a:buFont typeface="Wingdings" pitchFamily="2" charset="2"/>
              <a:buChar char="q"/>
            </a:pPr>
            <a:r>
              <a:rPr lang="en-US" sz="900">
                <a:latin typeface="Arial" charset="0"/>
                <a:cs typeface="Arial" charset="0"/>
              </a:rPr>
              <a:t>FM Reports/Docs</a:t>
            </a:r>
          </a:p>
          <a:p>
            <a:pPr marL="174625" indent="-174625" eaLnBrk="1" hangingPunct="1">
              <a:buFont typeface="Wingdings" pitchFamily="2" charset="2"/>
              <a:buChar char="q"/>
            </a:pPr>
            <a:endParaRPr lang="en-US" sz="900">
              <a:latin typeface="Arial" charset="0"/>
              <a:cs typeface="Arial" charset="0"/>
            </a:endParaRPr>
          </a:p>
        </p:txBody>
      </p:sp>
      <p:sp>
        <p:nvSpPr>
          <p:cNvPr id="392226" name="Rectangle 34"/>
          <p:cNvSpPr>
            <a:spLocks noChangeArrowheads="1"/>
          </p:cNvSpPr>
          <p:nvPr/>
        </p:nvSpPr>
        <p:spPr bwMode="auto">
          <a:xfrm flipV="1">
            <a:off x="5638800" y="3505200"/>
            <a:ext cx="1600200" cy="1143000"/>
          </a:xfrm>
          <a:prstGeom prst="rect">
            <a:avLst/>
          </a:prstGeom>
          <a:solidFill>
            <a:srgbClr val="CC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r>
              <a:rPr lang="en-US" sz="900">
                <a:latin typeface="Arial" charset="0"/>
                <a:cs typeface="Arial" charset="0"/>
              </a:rPr>
              <a:t>Report that contains</a:t>
            </a:r>
          </a:p>
          <a:p>
            <a:pPr marL="174625" indent="-174625" eaLnBrk="1" hangingPunct="1">
              <a:buFont typeface="Wingdings" pitchFamily="2" charset="2"/>
              <a:buNone/>
            </a:pPr>
            <a:r>
              <a:rPr lang="en-US" sz="900">
                <a:latin typeface="Arial" charset="0"/>
                <a:cs typeface="Arial" charset="0"/>
              </a:rPr>
              <a:t>      accomplishments, </a:t>
            </a:r>
          </a:p>
          <a:p>
            <a:pPr marL="174625" indent="-174625" eaLnBrk="1" hangingPunct="1">
              <a:buFont typeface="Wingdings" pitchFamily="2" charset="2"/>
              <a:buNone/>
            </a:pPr>
            <a:r>
              <a:rPr lang="en-US" sz="900">
                <a:latin typeface="Arial" charset="0"/>
                <a:cs typeface="Arial" charset="0"/>
              </a:rPr>
              <a:t>      problems,</a:t>
            </a:r>
          </a:p>
          <a:p>
            <a:pPr marL="174625" indent="-174625" eaLnBrk="1" hangingPunct="1">
              <a:buFont typeface="Wingdings" pitchFamily="2" charset="2"/>
              <a:buNone/>
            </a:pPr>
            <a:r>
              <a:rPr lang="en-US" sz="900">
                <a:latin typeface="Arial" charset="0"/>
                <a:cs typeface="Arial" charset="0"/>
              </a:rPr>
              <a:t>      lessons learned</a:t>
            </a:r>
          </a:p>
          <a:p>
            <a:pPr marL="174625" indent="-174625" eaLnBrk="1" hangingPunct="1">
              <a:buFont typeface="Wingdings" pitchFamily="2" charset="2"/>
              <a:buNone/>
            </a:pPr>
            <a:r>
              <a:rPr lang="en-US" sz="900">
                <a:latin typeface="Arial" charset="0"/>
                <a:cs typeface="Arial" charset="0"/>
              </a:rPr>
              <a:t>       </a:t>
            </a:r>
          </a:p>
        </p:txBody>
      </p:sp>
      <p:sp>
        <p:nvSpPr>
          <p:cNvPr id="392227" name="Rectangle 35"/>
          <p:cNvSpPr>
            <a:spLocks noChangeArrowheads="1"/>
          </p:cNvSpPr>
          <p:nvPr/>
        </p:nvSpPr>
        <p:spPr bwMode="auto">
          <a:xfrm flipV="1">
            <a:off x="7391400" y="3505200"/>
            <a:ext cx="1600200" cy="1143000"/>
          </a:xfrm>
          <a:prstGeom prst="rect">
            <a:avLst/>
          </a:prstGeom>
          <a:solidFill>
            <a:srgbClr val="FF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r>
              <a:rPr lang="en-US" sz="900">
                <a:latin typeface="Arial" charset="0"/>
                <a:cs typeface="Arial" charset="0"/>
              </a:rPr>
              <a:t>OED evaluation report.</a:t>
            </a:r>
          </a:p>
          <a:p>
            <a:pPr marL="174625" indent="-174625" eaLnBrk="1" hangingPunct="1">
              <a:buFont typeface="Wingdings" pitchFamily="2" charset="2"/>
              <a:buChar char="q"/>
            </a:pPr>
            <a:endParaRPr lang="en-US" sz="900">
              <a:latin typeface="Arial" charset="0"/>
              <a:cs typeface="Arial" charset="0"/>
            </a:endParaRPr>
          </a:p>
        </p:txBody>
      </p:sp>
      <p:sp>
        <p:nvSpPr>
          <p:cNvPr id="392228" name="Rectangle 36"/>
          <p:cNvSpPr>
            <a:spLocks noChangeArrowheads="1"/>
          </p:cNvSpPr>
          <p:nvPr/>
        </p:nvSpPr>
        <p:spPr bwMode="auto">
          <a:xfrm flipV="1">
            <a:off x="3886200" y="4724400"/>
            <a:ext cx="1600200" cy="533400"/>
          </a:xfrm>
          <a:prstGeom prst="rect">
            <a:avLst/>
          </a:prstGeom>
          <a:solidFill>
            <a:srgbClr val="CCE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None/>
            </a:pPr>
            <a:r>
              <a:rPr lang="en-US" sz="900">
                <a:latin typeface="Arial" charset="0"/>
                <a:cs typeface="Arial" charset="0"/>
              </a:rPr>
              <a:t>IRIS, Passkey, Project Portal</a:t>
            </a:r>
          </a:p>
          <a:p>
            <a:pPr marL="174625" indent="-174625" eaLnBrk="1" hangingPunct="1">
              <a:buFont typeface="Wingdings" pitchFamily="2" charset="2"/>
              <a:buNone/>
            </a:pPr>
            <a:r>
              <a:rPr lang="en-US" sz="900">
                <a:latin typeface="Arial" charset="0"/>
                <a:cs typeface="Arial" charset="0"/>
              </a:rPr>
              <a:t>Client Connection, LAS,</a:t>
            </a:r>
          </a:p>
          <a:p>
            <a:pPr marL="174625" indent="-174625" eaLnBrk="1" hangingPunct="1">
              <a:buFont typeface="Wingdings" pitchFamily="2" charset="2"/>
              <a:buNone/>
            </a:pPr>
            <a:r>
              <a:rPr lang="en-US" sz="900">
                <a:latin typeface="Arial" charset="0"/>
                <a:cs typeface="Arial" charset="0"/>
              </a:rPr>
              <a:t>Extranet, Lotus Notes</a:t>
            </a:r>
          </a:p>
          <a:p>
            <a:pPr marL="174625" indent="-174625" eaLnBrk="1" hangingPunct="1">
              <a:buFont typeface="Wingdings" pitchFamily="2" charset="2"/>
              <a:buChar char="q"/>
            </a:pPr>
            <a:endParaRPr lang="en-US" sz="900">
              <a:latin typeface="Arial" charset="0"/>
              <a:cs typeface="Arial" charset="0"/>
            </a:endParaRPr>
          </a:p>
        </p:txBody>
      </p:sp>
      <p:sp>
        <p:nvSpPr>
          <p:cNvPr id="392229" name="Rectangle 37"/>
          <p:cNvSpPr>
            <a:spLocks noChangeArrowheads="1"/>
          </p:cNvSpPr>
          <p:nvPr/>
        </p:nvSpPr>
        <p:spPr bwMode="auto">
          <a:xfrm flipV="1">
            <a:off x="2133600" y="5334000"/>
            <a:ext cx="1600200" cy="1066800"/>
          </a:xfrm>
          <a:prstGeom prst="rect">
            <a:avLst/>
          </a:prstGeom>
          <a:solidFill>
            <a:srgbClr val="FF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W2K, Domino.</a:t>
            </a:r>
          </a:p>
        </p:txBody>
      </p:sp>
      <p:sp>
        <p:nvSpPr>
          <p:cNvPr id="392230" name="Rectangle 38"/>
          <p:cNvSpPr>
            <a:spLocks noChangeArrowheads="1"/>
          </p:cNvSpPr>
          <p:nvPr/>
        </p:nvSpPr>
        <p:spPr bwMode="auto">
          <a:xfrm flipV="1">
            <a:off x="5638800" y="5334000"/>
            <a:ext cx="1600200" cy="1066800"/>
          </a:xfrm>
          <a:prstGeom prst="rect">
            <a:avLst/>
          </a:prstGeom>
          <a:solidFill>
            <a:srgbClr val="CCFFCC"/>
          </a:solidFill>
          <a:ln w="9525">
            <a:solidFill>
              <a:schemeClr val="tx1"/>
            </a:solidFill>
            <a:miter lim="800000"/>
            <a:headEnd/>
            <a:tailEnd/>
          </a:ln>
          <a:effectLst/>
        </p:spPr>
        <p:txBody>
          <a:bodyPr rot="10800000" wrap="none" anchor="ctr"/>
          <a:lstStyle/>
          <a:p>
            <a:pPr marL="174625" indent="-174625" eaLnBrk="1" hangingPunct="1"/>
            <a:r>
              <a:rPr lang="en-US" sz="900">
                <a:latin typeface="Arial" charset="0"/>
                <a:cs typeface="Arial" charset="0"/>
              </a:rPr>
              <a:t>W2K, Domino, Edge Server,</a:t>
            </a:r>
          </a:p>
          <a:p>
            <a:pPr marL="174625" indent="-174625" eaLnBrk="1" hangingPunct="1"/>
            <a:r>
              <a:rPr lang="en-US" sz="900">
                <a:latin typeface="Arial" charset="0"/>
                <a:cs typeface="Arial" charset="0"/>
              </a:rPr>
              <a:t>HIS, WebSphere, Oracle,</a:t>
            </a:r>
          </a:p>
          <a:p>
            <a:pPr marL="174625" indent="-174625" eaLnBrk="1" hangingPunct="1"/>
            <a:r>
              <a:rPr lang="en-US" sz="900">
                <a:latin typeface="Arial" charset="0"/>
                <a:cs typeface="Arial" charset="0"/>
              </a:rPr>
              <a:t>SAP, Lotus Notes, </a:t>
            </a:r>
          </a:p>
          <a:p>
            <a:pPr marL="174625" indent="-174625" eaLnBrk="1" hangingPunct="1"/>
            <a:r>
              <a:rPr lang="en-US" sz="900">
                <a:latin typeface="Arial" charset="0"/>
                <a:cs typeface="Arial" charset="0"/>
              </a:rPr>
              <a:t>Siteminder, iPlanet</a:t>
            </a:r>
          </a:p>
          <a:p>
            <a:pPr marL="174625" indent="-174625" eaLnBrk="1" hangingPunct="1">
              <a:buFont typeface="Wingdings" pitchFamily="2" charset="2"/>
              <a:buChar char="q"/>
            </a:pPr>
            <a:endParaRPr lang="en-US" sz="900">
              <a:latin typeface="Arial" charset="0"/>
              <a:cs typeface="Arial" charset="0"/>
            </a:endParaRPr>
          </a:p>
        </p:txBody>
      </p:sp>
      <p:sp>
        <p:nvSpPr>
          <p:cNvPr id="392231" name="Rectangle 39"/>
          <p:cNvSpPr>
            <a:spLocks noChangeArrowheads="1"/>
          </p:cNvSpPr>
          <p:nvPr/>
        </p:nvSpPr>
        <p:spPr bwMode="auto">
          <a:xfrm flipV="1">
            <a:off x="7391400" y="5334000"/>
            <a:ext cx="1600200" cy="1066800"/>
          </a:xfrm>
          <a:prstGeom prst="rect">
            <a:avLst/>
          </a:prstGeom>
          <a:solidFill>
            <a:srgbClr val="FFFFCC"/>
          </a:solidFill>
          <a:ln w="9525">
            <a:solidFill>
              <a:schemeClr val="tx1"/>
            </a:solidFill>
            <a:miter lim="800000"/>
            <a:headEnd/>
            <a:tailEnd/>
          </a:ln>
          <a:effectLst/>
        </p:spPr>
        <p:txBody>
          <a:bodyPr rot="10800000" wrap="none" anchor="ctr"/>
          <a:lstStyle/>
          <a:p>
            <a:pPr marL="174625" indent="-174625" eaLnBrk="1" hangingPunct="1"/>
            <a:r>
              <a:rPr lang="en-US" sz="900">
                <a:latin typeface="Arial" charset="0"/>
                <a:cs typeface="Arial" charset="0"/>
              </a:rPr>
              <a:t>Edge Server, IHS, </a:t>
            </a:r>
          </a:p>
          <a:p>
            <a:pPr marL="174625" indent="-174625" eaLnBrk="1" hangingPunct="1"/>
            <a:r>
              <a:rPr lang="en-US" sz="900">
                <a:latin typeface="Arial" charset="0"/>
                <a:cs typeface="Arial" charset="0"/>
              </a:rPr>
              <a:t>WebSphere, Oracle, SAP,</a:t>
            </a:r>
          </a:p>
          <a:p>
            <a:pPr marL="174625" indent="-174625" eaLnBrk="1" hangingPunct="1"/>
            <a:r>
              <a:rPr lang="en-US" sz="900">
                <a:latin typeface="Arial" charset="0"/>
                <a:cs typeface="Arial" charset="0"/>
              </a:rPr>
              <a:t>Siteminder, iPlanet, Lotus</a:t>
            </a:r>
          </a:p>
          <a:p>
            <a:pPr marL="174625" indent="-174625" eaLnBrk="1" hangingPunct="1"/>
            <a:r>
              <a:rPr lang="en-US" sz="900">
                <a:latin typeface="Arial" charset="0"/>
                <a:cs typeface="Arial" charset="0"/>
              </a:rPr>
              <a:t>Notes</a:t>
            </a:r>
          </a:p>
        </p:txBody>
      </p:sp>
      <p:sp>
        <p:nvSpPr>
          <p:cNvPr id="392232" name="Rectangle 40"/>
          <p:cNvSpPr>
            <a:spLocks noChangeArrowheads="1"/>
          </p:cNvSpPr>
          <p:nvPr/>
        </p:nvSpPr>
        <p:spPr bwMode="auto">
          <a:xfrm>
            <a:off x="381000" y="1295400"/>
            <a:ext cx="1600200" cy="990600"/>
          </a:xfrm>
          <a:prstGeom prst="rect">
            <a:avLst/>
          </a:prstGeom>
          <a:solidFill>
            <a:srgbClr val="CCCCFF"/>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r>
              <a:rPr lang="en-US" sz="900">
                <a:latin typeface="Arial" charset="0"/>
                <a:cs typeface="Arial" charset="0"/>
              </a:rPr>
              <a:t>Notice of signing and</a:t>
            </a:r>
          </a:p>
          <a:p>
            <a:pPr marL="174625" indent="-174625" eaLnBrk="1" hangingPunct="1">
              <a:buFont typeface="Wingdings" pitchFamily="2" charset="2"/>
              <a:buNone/>
            </a:pPr>
            <a:r>
              <a:rPr lang="en-US" sz="900">
                <a:latin typeface="Arial" charset="0"/>
                <a:cs typeface="Arial" charset="0"/>
              </a:rPr>
              <a:t>      signing ceremony</a:t>
            </a:r>
          </a:p>
          <a:p>
            <a:pPr marL="174625" indent="-174625" eaLnBrk="1" hangingPunct="1">
              <a:buFont typeface="Wingdings" pitchFamily="2" charset="2"/>
              <a:buChar char="q"/>
            </a:pPr>
            <a:r>
              <a:rPr lang="en-US" sz="900">
                <a:latin typeface="Arial" charset="0"/>
                <a:cs typeface="Arial" charset="0"/>
              </a:rPr>
              <a:t>Notice to Borrower – </a:t>
            </a:r>
          </a:p>
          <a:p>
            <a:pPr marL="174625" indent="-174625" eaLnBrk="1" hangingPunct="1">
              <a:buFont typeface="Wingdings" pitchFamily="2" charset="2"/>
              <a:buNone/>
            </a:pPr>
            <a:r>
              <a:rPr lang="en-US" sz="900">
                <a:latin typeface="Arial" charset="0"/>
                <a:cs typeface="Arial" charset="0"/>
              </a:rPr>
              <a:t>      signing</a:t>
            </a:r>
          </a:p>
          <a:p>
            <a:pPr marL="174625" indent="-174625" eaLnBrk="1" hangingPunct="1">
              <a:buFont typeface="Wingdings" pitchFamily="2" charset="2"/>
              <a:buChar char="q"/>
            </a:pPr>
            <a:r>
              <a:rPr lang="en-US" sz="900">
                <a:latin typeface="Arial" charset="0"/>
                <a:cs typeface="Arial" charset="0"/>
              </a:rPr>
              <a:t>Signed Legal Documents</a:t>
            </a:r>
          </a:p>
        </p:txBody>
      </p:sp>
      <p:sp>
        <p:nvSpPr>
          <p:cNvPr id="392233" name="Text Box 41"/>
          <p:cNvSpPr txBox="1">
            <a:spLocks noChangeArrowheads="1"/>
          </p:cNvSpPr>
          <p:nvPr/>
        </p:nvSpPr>
        <p:spPr bwMode="auto">
          <a:xfrm rot="16200000">
            <a:off x="-434181" y="1500981"/>
            <a:ext cx="1143000"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Activities</a:t>
            </a:r>
          </a:p>
        </p:txBody>
      </p:sp>
      <p:sp>
        <p:nvSpPr>
          <p:cNvPr id="392234" name="Rectangle 42"/>
          <p:cNvSpPr>
            <a:spLocks noChangeArrowheads="1"/>
          </p:cNvSpPr>
          <p:nvPr/>
        </p:nvSpPr>
        <p:spPr bwMode="auto">
          <a:xfrm>
            <a:off x="2133600" y="1295400"/>
            <a:ext cx="1600200" cy="990600"/>
          </a:xfrm>
          <a:prstGeom prst="rect">
            <a:avLst/>
          </a:prstGeom>
          <a:solidFill>
            <a:srgbClr val="FFCCFF"/>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r>
              <a:rPr lang="en-US" sz="900">
                <a:latin typeface="Arial" charset="0"/>
                <a:cs typeface="Arial" charset="0"/>
              </a:rPr>
              <a:t>Notice to Borrower – </a:t>
            </a:r>
          </a:p>
          <a:p>
            <a:pPr marL="174625" indent="-174625" eaLnBrk="1" hangingPunct="1">
              <a:buFont typeface="Wingdings" pitchFamily="2" charset="2"/>
              <a:buNone/>
            </a:pPr>
            <a:r>
              <a:rPr lang="en-US" sz="900">
                <a:latin typeface="Arial" charset="0"/>
                <a:cs typeface="Arial" charset="0"/>
              </a:rPr>
              <a:t>      Declaration of</a:t>
            </a:r>
          </a:p>
          <a:p>
            <a:pPr marL="174625" indent="-174625" eaLnBrk="1" hangingPunct="1">
              <a:buFont typeface="Wingdings" pitchFamily="2" charset="2"/>
              <a:buNone/>
            </a:pPr>
            <a:r>
              <a:rPr lang="en-US" sz="900">
                <a:latin typeface="Arial" charset="0"/>
                <a:cs typeface="Arial" charset="0"/>
              </a:rPr>
              <a:t>      Effectiveness</a:t>
            </a:r>
          </a:p>
        </p:txBody>
      </p:sp>
      <p:sp>
        <p:nvSpPr>
          <p:cNvPr id="392235" name="Rectangle 43"/>
          <p:cNvSpPr>
            <a:spLocks noChangeArrowheads="1"/>
          </p:cNvSpPr>
          <p:nvPr/>
        </p:nvSpPr>
        <p:spPr bwMode="auto">
          <a:xfrm flipV="1">
            <a:off x="3886200" y="5334000"/>
            <a:ext cx="1600200" cy="1066800"/>
          </a:xfrm>
          <a:prstGeom prst="rect">
            <a:avLst/>
          </a:prstGeom>
          <a:solidFill>
            <a:srgbClr val="CCECFF"/>
          </a:solidFill>
          <a:ln w="9525">
            <a:solidFill>
              <a:schemeClr val="tx1"/>
            </a:solidFill>
            <a:miter lim="800000"/>
            <a:headEnd/>
            <a:tailEnd/>
          </a:ln>
          <a:effectLst/>
        </p:spPr>
        <p:txBody>
          <a:bodyPr rot="10800000" wrap="none" anchor="ctr"/>
          <a:lstStyle/>
          <a:p>
            <a:pPr marL="174625" indent="-174625" eaLnBrk="1" hangingPunct="1"/>
            <a:endParaRPr lang="en-US" sz="900">
              <a:latin typeface="Arial" charset="0"/>
              <a:cs typeface="Arial" charset="0"/>
            </a:endParaRPr>
          </a:p>
          <a:p>
            <a:pPr marL="174625" indent="-174625" eaLnBrk="1" hangingPunct="1"/>
            <a:r>
              <a:rPr lang="en-US" sz="900">
                <a:latin typeface="Arial" charset="0"/>
                <a:cs typeface="Arial" charset="0"/>
              </a:rPr>
              <a:t>W2K, Domino, Edge Server,</a:t>
            </a:r>
          </a:p>
          <a:p>
            <a:pPr marL="174625" indent="-174625" eaLnBrk="1" hangingPunct="1"/>
            <a:r>
              <a:rPr lang="en-US" sz="900">
                <a:latin typeface="Arial" charset="0"/>
                <a:cs typeface="Arial" charset="0"/>
              </a:rPr>
              <a:t>HIS, WebSphere, Oracle,</a:t>
            </a:r>
          </a:p>
          <a:p>
            <a:pPr marL="174625" indent="-174625" eaLnBrk="1" hangingPunct="1"/>
            <a:r>
              <a:rPr lang="en-US" sz="900">
                <a:latin typeface="Arial" charset="0"/>
                <a:cs typeface="Arial" charset="0"/>
              </a:rPr>
              <a:t>SAP, Lotus Notes, </a:t>
            </a:r>
          </a:p>
          <a:p>
            <a:pPr marL="174625" indent="-174625" eaLnBrk="1" hangingPunct="1"/>
            <a:r>
              <a:rPr lang="en-US" sz="900">
                <a:latin typeface="Arial" charset="0"/>
                <a:cs typeface="Arial" charset="0"/>
              </a:rPr>
              <a:t>Siteminder, iPlanet, Solaris,</a:t>
            </a:r>
          </a:p>
          <a:p>
            <a:pPr marL="174625" indent="-174625" eaLnBrk="1" hangingPunct="1"/>
            <a:r>
              <a:rPr lang="en-US" sz="900">
                <a:latin typeface="Arial" charset="0"/>
                <a:cs typeface="Arial" charset="0"/>
              </a:rPr>
              <a:t>Sybase, Replication Server,</a:t>
            </a:r>
          </a:p>
          <a:p>
            <a:pPr marL="174625" indent="-174625" eaLnBrk="1" hangingPunct="1"/>
            <a:r>
              <a:rPr lang="en-US" sz="900">
                <a:latin typeface="Arial" charset="0"/>
                <a:cs typeface="Arial" charset="0"/>
              </a:rPr>
              <a:t>WebServer, </a:t>
            </a:r>
          </a:p>
          <a:p>
            <a:pPr marL="174625" indent="-174625" eaLnBrk="1" hangingPunct="1"/>
            <a:r>
              <a:rPr lang="en-US" sz="900">
                <a:latin typeface="Arial" charset="0"/>
                <a:cs typeface="Arial" charset="0"/>
              </a:rPr>
              <a:t>Print Archietcture.</a:t>
            </a:r>
          </a:p>
          <a:p>
            <a:pPr marL="174625" indent="-174625" eaLnBrk="1" hangingPunct="1"/>
            <a:endParaRPr lang="en-US" sz="900">
              <a:latin typeface="Arial" charset="0"/>
              <a:cs typeface="Arial" charset="0"/>
            </a:endParaRPr>
          </a:p>
        </p:txBody>
      </p:sp>
      <p:sp>
        <p:nvSpPr>
          <p:cNvPr id="392236" name="Rectangle 44"/>
          <p:cNvSpPr>
            <a:spLocks noChangeArrowheads="1"/>
          </p:cNvSpPr>
          <p:nvPr/>
        </p:nvSpPr>
        <p:spPr bwMode="auto">
          <a:xfrm flipV="1">
            <a:off x="5638800" y="4724400"/>
            <a:ext cx="1600200" cy="533400"/>
          </a:xfrm>
          <a:prstGeom prst="rect">
            <a:avLst/>
          </a:prstGeom>
          <a:solidFill>
            <a:srgbClr val="CC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IRIS, Project Portal,</a:t>
            </a:r>
          </a:p>
          <a:p>
            <a:pPr marL="174625" indent="-174625" eaLnBrk="1" hangingPunct="1">
              <a:buFont typeface="Wingdings" pitchFamily="2" charset="2"/>
              <a:buNone/>
            </a:pPr>
            <a:r>
              <a:rPr lang="en-US" sz="900">
                <a:latin typeface="Arial" charset="0"/>
                <a:cs typeface="Arial" charset="0"/>
              </a:rPr>
              <a:t>Lotus Notes, Passkey</a:t>
            </a:r>
          </a:p>
          <a:p>
            <a:pPr marL="174625" indent="-174625" eaLnBrk="1" hangingPunct="1">
              <a:buFont typeface="Wingdings" pitchFamily="2" charset="2"/>
              <a:buChar char="q"/>
            </a:pPr>
            <a:endParaRPr lang="en-US" sz="900">
              <a:latin typeface="Arial" charset="0"/>
              <a:cs typeface="Arial" charset="0"/>
            </a:endParaRPr>
          </a:p>
        </p:txBody>
      </p:sp>
      <p:sp>
        <p:nvSpPr>
          <p:cNvPr id="392237" name="Rectangle 45"/>
          <p:cNvSpPr>
            <a:spLocks noChangeArrowheads="1"/>
          </p:cNvSpPr>
          <p:nvPr/>
        </p:nvSpPr>
        <p:spPr bwMode="auto">
          <a:xfrm flipV="1">
            <a:off x="7391400" y="4724400"/>
            <a:ext cx="1600200" cy="533400"/>
          </a:xfrm>
          <a:prstGeom prst="rect">
            <a:avLst/>
          </a:prstGeom>
          <a:solidFill>
            <a:srgbClr val="FF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Intranet, Lotus Notes,</a:t>
            </a:r>
          </a:p>
          <a:p>
            <a:pPr marL="174625" indent="-174625" eaLnBrk="1" hangingPunct="1">
              <a:buFont typeface="Wingdings" pitchFamily="2" charset="2"/>
              <a:buNone/>
            </a:pPr>
            <a:r>
              <a:rPr lang="en-US" sz="900">
                <a:latin typeface="Arial" charset="0"/>
                <a:cs typeface="Arial" charset="0"/>
              </a:rPr>
              <a:t>Passkey</a:t>
            </a:r>
          </a:p>
        </p:txBody>
      </p:sp>
      <p:sp>
        <p:nvSpPr>
          <p:cNvPr id="392238" name="Rectangle 46"/>
          <p:cNvSpPr>
            <a:spLocks noChangeArrowheads="1"/>
          </p:cNvSpPr>
          <p:nvPr/>
        </p:nvSpPr>
        <p:spPr bwMode="auto">
          <a:xfrm>
            <a:off x="533400" y="152400"/>
            <a:ext cx="8458200" cy="228600"/>
          </a:xfrm>
          <a:prstGeom prst="rect">
            <a:avLst/>
          </a:prstGeom>
          <a:solidFill>
            <a:srgbClr val="FFFFCC"/>
          </a:solidFill>
          <a:ln w="9525">
            <a:solidFill>
              <a:schemeClr val="tx1"/>
            </a:solidFill>
            <a:miter lim="800000"/>
            <a:headEnd/>
            <a:tailEnd/>
          </a:ln>
          <a:effectLst/>
        </p:spPr>
        <p:txBody>
          <a:bodyPr wrap="none" anchor="ctr"/>
          <a:lstStyle/>
          <a:p>
            <a:pPr marL="174625" indent="-174625" eaLnBrk="1" hangingPunct="1">
              <a:buFont typeface="Wingdings" pitchFamily="2" charset="2"/>
              <a:buNone/>
            </a:pPr>
            <a:r>
              <a:rPr lang="en-US" sz="1000" b="1" u="sng">
                <a:latin typeface="Arial" charset="0"/>
                <a:cs typeface="Arial" charset="0"/>
              </a:rPr>
              <a:t>Metrics for Lending (Reg: 58% of Bank Budget)</a:t>
            </a:r>
            <a:r>
              <a:rPr lang="en-US" sz="1000">
                <a:latin typeface="Arial" charset="0"/>
                <a:cs typeface="Arial" charset="0"/>
              </a:rPr>
              <a:t>: Cost (40%), Quality (19%), Volume (16%), Capacity (13%), Satisfaction (6%), Timeliness (6%).</a:t>
            </a:r>
          </a:p>
        </p:txBody>
      </p:sp>
      <p:sp>
        <p:nvSpPr>
          <p:cNvPr id="392239" name="Rectangle 47"/>
          <p:cNvSpPr>
            <a:spLocks noChangeArrowheads="1"/>
          </p:cNvSpPr>
          <p:nvPr/>
        </p:nvSpPr>
        <p:spPr bwMode="auto">
          <a:xfrm flipV="1">
            <a:off x="381000" y="4724400"/>
            <a:ext cx="1600200" cy="533400"/>
          </a:xfrm>
          <a:prstGeom prst="rect">
            <a:avLst/>
          </a:prstGeom>
          <a:solidFill>
            <a:srgbClr val="CC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IRIS, Lotus Notes, Passkey</a:t>
            </a:r>
          </a:p>
        </p:txBody>
      </p:sp>
      <p:sp>
        <p:nvSpPr>
          <p:cNvPr id="392240" name="Rectangle 48"/>
          <p:cNvSpPr>
            <a:spLocks noChangeArrowheads="1"/>
          </p:cNvSpPr>
          <p:nvPr/>
        </p:nvSpPr>
        <p:spPr bwMode="auto">
          <a:xfrm flipV="1">
            <a:off x="381000" y="6477000"/>
            <a:ext cx="1600200" cy="228600"/>
          </a:xfrm>
          <a:prstGeom prst="rect">
            <a:avLst/>
          </a:prstGeom>
          <a:solidFill>
            <a:srgbClr val="CC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Time</a:t>
            </a:r>
          </a:p>
        </p:txBody>
      </p:sp>
      <p:sp>
        <p:nvSpPr>
          <p:cNvPr id="392241" name="Rectangle 49"/>
          <p:cNvSpPr>
            <a:spLocks noChangeArrowheads="1"/>
          </p:cNvSpPr>
          <p:nvPr/>
        </p:nvSpPr>
        <p:spPr bwMode="auto">
          <a:xfrm flipV="1">
            <a:off x="2133600" y="6477000"/>
            <a:ext cx="1600200" cy="228600"/>
          </a:xfrm>
          <a:prstGeom prst="rect">
            <a:avLst/>
          </a:prstGeom>
          <a:solidFill>
            <a:srgbClr val="FF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Time</a:t>
            </a:r>
          </a:p>
        </p:txBody>
      </p:sp>
      <p:sp>
        <p:nvSpPr>
          <p:cNvPr id="392242" name="Rectangle 50"/>
          <p:cNvSpPr>
            <a:spLocks noChangeArrowheads="1"/>
          </p:cNvSpPr>
          <p:nvPr/>
        </p:nvSpPr>
        <p:spPr bwMode="auto">
          <a:xfrm flipV="1">
            <a:off x="3886200" y="6477000"/>
            <a:ext cx="1600200" cy="228600"/>
          </a:xfrm>
          <a:prstGeom prst="rect">
            <a:avLst/>
          </a:prstGeom>
          <a:solidFill>
            <a:srgbClr val="CCE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Time, Cost, Cap, Vol, Quality</a:t>
            </a:r>
          </a:p>
        </p:txBody>
      </p:sp>
      <p:sp>
        <p:nvSpPr>
          <p:cNvPr id="392243" name="Rectangle 51"/>
          <p:cNvSpPr>
            <a:spLocks noChangeArrowheads="1"/>
          </p:cNvSpPr>
          <p:nvPr/>
        </p:nvSpPr>
        <p:spPr bwMode="auto">
          <a:xfrm flipV="1">
            <a:off x="5638800" y="6477000"/>
            <a:ext cx="1600200" cy="228600"/>
          </a:xfrm>
          <a:prstGeom prst="rect">
            <a:avLst/>
          </a:prstGeom>
          <a:solidFill>
            <a:srgbClr val="CC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Satisfaction</a:t>
            </a:r>
          </a:p>
        </p:txBody>
      </p:sp>
      <p:sp>
        <p:nvSpPr>
          <p:cNvPr id="392244" name="Rectangle 52"/>
          <p:cNvSpPr>
            <a:spLocks noChangeArrowheads="1"/>
          </p:cNvSpPr>
          <p:nvPr/>
        </p:nvSpPr>
        <p:spPr bwMode="auto">
          <a:xfrm flipV="1">
            <a:off x="7391400" y="6477000"/>
            <a:ext cx="1600200" cy="228600"/>
          </a:xfrm>
          <a:prstGeom prst="rect">
            <a:avLst/>
          </a:prstGeom>
          <a:solidFill>
            <a:srgbClr val="FF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Quality</a:t>
            </a:r>
          </a:p>
        </p:txBody>
      </p:sp>
      <p:sp>
        <p:nvSpPr>
          <p:cNvPr id="392245" name="Text Box 53"/>
          <p:cNvSpPr txBox="1">
            <a:spLocks noChangeArrowheads="1"/>
          </p:cNvSpPr>
          <p:nvPr/>
        </p:nvSpPr>
        <p:spPr bwMode="auto">
          <a:xfrm rot="16200000">
            <a:off x="-167481" y="6415881"/>
            <a:ext cx="609600"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Metric</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3218" name="AutoShape 2"/>
          <p:cNvSpPr>
            <a:spLocks noChangeArrowheads="1"/>
          </p:cNvSpPr>
          <p:nvPr/>
        </p:nvSpPr>
        <p:spPr bwMode="auto">
          <a:xfrm>
            <a:off x="7391400" y="457200"/>
            <a:ext cx="1600200" cy="533400"/>
          </a:xfrm>
          <a:prstGeom prst="chevron">
            <a:avLst>
              <a:gd name="adj" fmla="val 75000"/>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Travel      </a:t>
            </a:r>
          </a:p>
          <a:p>
            <a:pPr algn="r" eaLnBrk="1" hangingPunct="1"/>
            <a:r>
              <a:rPr lang="en-US" sz="1200">
                <a:latin typeface="Arial" charset="0"/>
                <a:cs typeface="Arial" charset="0"/>
              </a:rPr>
              <a:t> Monitoring -  </a:t>
            </a:r>
          </a:p>
          <a:p>
            <a:pPr algn="r" eaLnBrk="1" hangingPunct="1"/>
            <a:r>
              <a:rPr lang="en-US" sz="1200">
                <a:latin typeface="Arial" charset="0"/>
                <a:cs typeface="Arial" charset="0"/>
              </a:rPr>
              <a:t>Unit/VPU   </a:t>
            </a:r>
          </a:p>
        </p:txBody>
      </p:sp>
      <p:sp>
        <p:nvSpPr>
          <p:cNvPr id="393219" name="AutoShape 3"/>
          <p:cNvSpPr>
            <a:spLocks noChangeArrowheads="1"/>
          </p:cNvSpPr>
          <p:nvPr/>
        </p:nvSpPr>
        <p:spPr bwMode="auto">
          <a:xfrm>
            <a:off x="685800" y="457200"/>
            <a:ext cx="1524000" cy="533400"/>
          </a:xfrm>
          <a:prstGeom prst="chevron">
            <a:avLst>
              <a:gd name="adj" fmla="val 71429"/>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Travel       </a:t>
            </a:r>
          </a:p>
          <a:p>
            <a:pPr algn="r" eaLnBrk="1" hangingPunct="1"/>
            <a:r>
              <a:rPr lang="en-US" sz="1200">
                <a:latin typeface="Arial" charset="0"/>
                <a:cs typeface="Arial" charset="0"/>
              </a:rPr>
              <a:t>Planning    </a:t>
            </a:r>
          </a:p>
        </p:txBody>
      </p:sp>
      <p:sp>
        <p:nvSpPr>
          <p:cNvPr id="393220" name="AutoShape 4"/>
          <p:cNvSpPr>
            <a:spLocks noChangeArrowheads="1"/>
          </p:cNvSpPr>
          <p:nvPr/>
        </p:nvSpPr>
        <p:spPr bwMode="auto">
          <a:xfrm>
            <a:off x="2286000" y="457200"/>
            <a:ext cx="1524000" cy="533400"/>
          </a:xfrm>
          <a:prstGeom prst="chevron">
            <a:avLst>
              <a:gd name="adj" fmla="val 71429"/>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Travel     </a:t>
            </a:r>
          </a:p>
          <a:p>
            <a:pPr algn="r" eaLnBrk="1" hangingPunct="1"/>
            <a:r>
              <a:rPr lang="en-US" sz="1200">
                <a:latin typeface="Arial" charset="0"/>
                <a:cs typeface="Arial" charset="0"/>
              </a:rPr>
              <a:t> Transacting</a:t>
            </a:r>
          </a:p>
        </p:txBody>
      </p:sp>
      <p:sp>
        <p:nvSpPr>
          <p:cNvPr id="393221" name="AutoShape 5"/>
          <p:cNvSpPr>
            <a:spLocks noChangeArrowheads="1"/>
          </p:cNvSpPr>
          <p:nvPr/>
        </p:nvSpPr>
        <p:spPr bwMode="auto">
          <a:xfrm>
            <a:off x="3810000" y="457200"/>
            <a:ext cx="1752600" cy="533400"/>
          </a:xfrm>
          <a:prstGeom prst="chevron">
            <a:avLst>
              <a:gd name="adj" fmla="val 82143"/>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Travel      </a:t>
            </a:r>
          </a:p>
          <a:p>
            <a:pPr algn="r" eaLnBrk="1" hangingPunct="1"/>
            <a:r>
              <a:rPr lang="en-US" sz="1200">
                <a:latin typeface="Arial" charset="0"/>
                <a:cs typeface="Arial" charset="0"/>
              </a:rPr>
              <a:t>Controlling</a:t>
            </a:r>
          </a:p>
        </p:txBody>
      </p:sp>
      <p:sp>
        <p:nvSpPr>
          <p:cNvPr id="393222" name="AutoShape 6"/>
          <p:cNvSpPr>
            <a:spLocks noChangeArrowheads="1"/>
          </p:cNvSpPr>
          <p:nvPr/>
        </p:nvSpPr>
        <p:spPr bwMode="auto">
          <a:xfrm>
            <a:off x="5562600" y="457200"/>
            <a:ext cx="1752600" cy="533400"/>
          </a:xfrm>
          <a:prstGeom prst="chevron">
            <a:avLst>
              <a:gd name="adj" fmla="val 82143"/>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Travel        </a:t>
            </a:r>
          </a:p>
          <a:p>
            <a:pPr algn="r" eaLnBrk="1" hangingPunct="1"/>
            <a:r>
              <a:rPr lang="en-US" sz="1200">
                <a:latin typeface="Arial" charset="0"/>
                <a:cs typeface="Arial" charset="0"/>
              </a:rPr>
              <a:t>Monitoring – </a:t>
            </a:r>
          </a:p>
          <a:p>
            <a:pPr algn="r" eaLnBrk="1" hangingPunct="1"/>
            <a:r>
              <a:rPr lang="en-US" sz="1200">
                <a:latin typeface="Arial" charset="0"/>
                <a:cs typeface="Arial" charset="0"/>
              </a:rPr>
              <a:t>Specific Trip    </a:t>
            </a:r>
          </a:p>
        </p:txBody>
      </p:sp>
      <p:sp>
        <p:nvSpPr>
          <p:cNvPr id="393223" name="Rectangle 7"/>
          <p:cNvSpPr>
            <a:spLocks noChangeArrowheads="1"/>
          </p:cNvSpPr>
          <p:nvPr/>
        </p:nvSpPr>
        <p:spPr bwMode="auto">
          <a:xfrm>
            <a:off x="381000" y="2362200"/>
            <a:ext cx="1600200" cy="1066800"/>
          </a:xfrm>
          <a:prstGeom prst="rect">
            <a:avLst/>
          </a:prstGeom>
          <a:solidFill>
            <a:srgbClr val="CCFFCC"/>
          </a:solidFill>
          <a:ln w="9525">
            <a:solidFill>
              <a:schemeClr val="tx1"/>
            </a:solidFill>
            <a:miter lim="800000"/>
            <a:headEnd/>
            <a:tailEnd/>
          </a:ln>
          <a:effectLst/>
        </p:spPr>
        <p:txBody>
          <a:bodyPr wrap="none" anchor="ctr"/>
          <a:lstStyle/>
          <a:p>
            <a:pPr marL="174625" indent="-174625" eaLnBrk="1" hangingPunct="1">
              <a:buFont typeface="Wingdings" pitchFamily="2" charset="2"/>
              <a:buNone/>
            </a:pPr>
            <a:endParaRPr lang="en-US" sz="900">
              <a:latin typeface="Arial" charset="0"/>
              <a:cs typeface="Arial" charset="0"/>
            </a:endParaRPr>
          </a:p>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Budget Analysts/Officers</a:t>
            </a:r>
          </a:p>
          <a:p>
            <a:pPr marL="174625" indent="-174625" eaLnBrk="1" hangingPunct="1">
              <a:buFont typeface="Wingdings" pitchFamily="2" charset="2"/>
              <a:buNone/>
            </a:pPr>
            <a:r>
              <a:rPr lang="en-US" sz="900">
                <a:latin typeface="Arial" charset="0"/>
                <a:cs typeface="Arial" charset="0"/>
              </a:rPr>
              <a:t>      forecast travel expenses</a:t>
            </a:r>
          </a:p>
          <a:p>
            <a:pPr marL="174625" indent="-174625" eaLnBrk="1" hangingPunct="1">
              <a:buFont typeface="Wingdings" pitchFamily="2" charset="2"/>
              <a:buChar char="q"/>
            </a:pPr>
            <a:r>
              <a:rPr lang="en-US" sz="900">
                <a:latin typeface="Arial" charset="0"/>
                <a:cs typeface="Arial" charset="0"/>
              </a:rPr>
              <a:t>Traveler makes</a:t>
            </a:r>
          </a:p>
          <a:p>
            <a:pPr marL="174625" indent="-174625" eaLnBrk="1" hangingPunct="1">
              <a:buFont typeface="Wingdings" pitchFamily="2" charset="2"/>
              <a:buNone/>
            </a:pPr>
            <a:r>
              <a:rPr lang="en-US" sz="900">
                <a:latin typeface="Arial" charset="0"/>
                <a:cs typeface="Arial" charset="0"/>
              </a:rPr>
              <a:t>     Reservation and enters </a:t>
            </a:r>
          </a:p>
          <a:p>
            <a:pPr marL="174625" indent="-174625" eaLnBrk="1" hangingPunct="1">
              <a:buFont typeface="Wingdings" pitchFamily="2" charset="2"/>
              <a:buNone/>
            </a:pPr>
            <a:r>
              <a:rPr lang="en-US" sz="900">
                <a:latin typeface="Arial" charset="0"/>
                <a:cs typeface="Arial" charset="0"/>
              </a:rPr>
              <a:t>     Trip information into the</a:t>
            </a:r>
          </a:p>
          <a:p>
            <a:pPr marL="174625" indent="-174625" eaLnBrk="1" hangingPunct="1">
              <a:buFont typeface="Wingdings" pitchFamily="2" charset="2"/>
              <a:buNone/>
            </a:pPr>
            <a:r>
              <a:rPr lang="en-US" sz="900">
                <a:latin typeface="Arial" charset="0"/>
                <a:cs typeface="Arial" charset="0"/>
              </a:rPr>
              <a:t>      Web Travel</a:t>
            </a:r>
          </a:p>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endParaRPr lang="en-US" sz="900">
              <a:latin typeface="Arial" charset="0"/>
              <a:cs typeface="Arial" charset="0"/>
            </a:endParaRPr>
          </a:p>
        </p:txBody>
      </p:sp>
      <p:sp>
        <p:nvSpPr>
          <p:cNvPr id="393224" name="Text Box 8"/>
          <p:cNvSpPr txBox="1">
            <a:spLocks noChangeArrowheads="1"/>
          </p:cNvSpPr>
          <p:nvPr/>
        </p:nvSpPr>
        <p:spPr bwMode="auto">
          <a:xfrm rot="16200000">
            <a:off x="-396081" y="3901281"/>
            <a:ext cx="1066800"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Information</a:t>
            </a:r>
          </a:p>
        </p:txBody>
      </p:sp>
      <p:sp>
        <p:nvSpPr>
          <p:cNvPr id="393225" name="Text Box 9"/>
          <p:cNvSpPr txBox="1">
            <a:spLocks noChangeArrowheads="1"/>
          </p:cNvSpPr>
          <p:nvPr/>
        </p:nvSpPr>
        <p:spPr bwMode="auto">
          <a:xfrm rot="16200000">
            <a:off x="-190500" y="571500"/>
            <a:ext cx="838200" cy="457200"/>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Business</a:t>
            </a:r>
          </a:p>
          <a:p>
            <a:pPr eaLnBrk="1" hangingPunct="1"/>
            <a:r>
              <a:rPr lang="en-US" sz="1200">
                <a:latin typeface="Arial" charset="0"/>
                <a:cs typeface="Arial" charset="0"/>
              </a:rPr>
              <a:t>Process</a:t>
            </a:r>
          </a:p>
        </p:txBody>
      </p:sp>
      <p:sp>
        <p:nvSpPr>
          <p:cNvPr id="393226" name="AutoShape 10"/>
          <p:cNvSpPr>
            <a:spLocks noChangeArrowheads="1"/>
          </p:cNvSpPr>
          <p:nvPr/>
        </p:nvSpPr>
        <p:spPr bwMode="auto">
          <a:xfrm>
            <a:off x="1219200" y="9906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vert="eaVert" wrap="none" anchor="ctr"/>
          <a:lstStyle/>
          <a:p>
            <a:endParaRPr lang="en-US"/>
          </a:p>
        </p:txBody>
      </p:sp>
      <p:sp>
        <p:nvSpPr>
          <p:cNvPr id="393227" name="AutoShape 11"/>
          <p:cNvSpPr>
            <a:spLocks noChangeArrowheads="1"/>
          </p:cNvSpPr>
          <p:nvPr/>
        </p:nvSpPr>
        <p:spPr bwMode="auto">
          <a:xfrm>
            <a:off x="2971800" y="9906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vert="eaVert" wrap="none" anchor="ctr"/>
          <a:lstStyle/>
          <a:p>
            <a:endParaRPr lang="en-US"/>
          </a:p>
        </p:txBody>
      </p:sp>
      <p:sp>
        <p:nvSpPr>
          <p:cNvPr id="393228" name="AutoShape 12"/>
          <p:cNvSpPr>
            <a:spLocks noChangeArrowheads="1"/>
          </p:cNvSpPr>
          <p:nvPr/>
        </p:nvSpPr>
        <p:spPr bwMode="auto">
          <a:xfrm>
            <a:off x="4648200" y="9906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vert="eaVert" wrap="none" anchor="ctr"/>
          <a:lstStyle/>
          <a:p>
            <a:endParaRPr lang="en-US"/>
          </a:p>
        </p:txBody>
      </p:sp>
      <p:sp>
        <p:nvSpPr>
          <p:cNvPr id="393229" name="AutoShape 13"/>
          <p:cNvSpPr>
            <a:spLocks noChangeArrowheads="1"/>
          </p:cNvSpPr>
          <p:nvPr/>
        </p:nvSpPr>
        <p:spPr bwMode="auto">
          <a:xfrm>
            <a:off x="6324600" y="9906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vert="eaVert" wrap="none" anchor="ctr"/>
          <a:lstStyle/>
          <a:p>
            <a:endParaRPr lang="en-US"/>
          </a:p>
        </p:txBody>
      </p:sp>
      <p:sp>
        <p:nvSpPr>
          <p:cNvPr id="393230" name="AutoShape 14"/>
          <p:cNvSpPr>
            <a:spLocks noChangeArrowheads="1"/>
          </p:cNvSpPr>
          <p:nvPr/>
        </p:nvSpPr>
        <p:spPr bwMode="auto">
          <a:xfrm>
            <a:off x="8001000" y="9906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vert="eaVert" wrap="none" anchor="ctr"/>
          <a:lstStyle/>
          <a:p>
            <a:endParaRPr lang="en-US"/>
          </a:p>
        </p:txBody>
      </p:sp>
      <p:sp>
        <p:nvSpPr>
          <p:cNvPr id="393231" name="Rectangle 15"/>
          <p:cNvSpPr>
            <a:spLocks noChangeArrowheads="1"/>
          </p:cNvSpPr>
          <p:nvPr/>
        </p:nvSpPr>
        <p:spPr bwMode="auto">
          <a:xfrm>
            <a:off x="381000" y="3505200"/>
            <a:ext cx="1600200" cy="1143000"/>
          </a:xfrm>
          <a:prstGeom prst="rect">
            <a:avLst/>
          </a:prstGeom>
          <a:solidFill>
            <a:srgbClr val="CCFFCC"/>
          </a:solidFill>
          <a:ln w="9525">
            <a:solidFill>
              <a:schemeClr val="tx1"/>
            </a:solidFill>
            <a:miter lim="800000"/>
            <a:headEnd/>
            <a:tailEnd/>
          </a:ln>
          <a:effectLst/>
        </p:spPr>
        <p:txBody>
          <a:bodyPr wrap="none" anchor="ctr"/>
          <a:lstStyle/>
          <a:p>
            <a:pPr marL="174625" indent="-174625" eaLnBrk="1" hangingPunct="1">
              <a:buFont typeface="Wingdings" pitchFamily="2" charset="2"/>
              <a:buNone/>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Travel Authorizations</a:t>
            </a:r>
          </a:p>
          <a:p>
            <a:pPr marL="174625" indent="-174625" eaLnBrk="1" hangingPunct="1">
              <a:buFont typeface="Wingdings" pitchFamily="2" charset="2"/>
              <a:buChar char="q"/>
            </a:pPr>
            <a:r>
              <a:rPr lang="en-US" sz="900">
                <a:latin typeface="Arial" charset="0"/>
                <a:cs typeface="Arial" charset="0"/>
              </a:rPr>
              <a:t>Travel Advisory services</a:t>
            </a:r>
          </a:p>
          <a:p>
            <a:pPr marL="174625" indent="-174625" eaLnBrk="1" hangingPunct="1">
              <a:buFont typeface="Wingdings" pitchFamily="2" charset="2"/>
              <a:buNone/>
            </a:pPr>
            <a:r>
              <a:rPr lang="en-US" sz="900">
                <a:latin typeface="Arial" charset="0"/>
                <a:cs typeface="Arial" charset="0"/>
              </a:rPr>
              <a:t>      and guidelines</a:t>
            </a:r>
          </a:p>
          <a:p>
            <a:pPr marL="174625" indent="-174625" eaLnBrk="1" hangingPunct="1">
              <a:buFont typeface="Wingdings" pitchFamily="2" charset="2"/>
              <a:buChar char="q"/>
            </a:pPr>
            <a:r>
              <a:rPr lang="en-US" sz="900">
                <a:latin typeface="Arial" charset="0"/>
                <a:cs typeface="Arial" charset="0"/>
              </a:rPr>
              <a:t>Trip Document created</a:t>
            </a:r>
          </a:p>
          <a:p>
            <a:pPr marL="174625" indent="-174625" eaLnBrk="1" hangingPunct="1">
              <a:buFont typeface="Wingdings" pitchFamily="2" charset="2"/>
              <a:buNone/>
            </a:pPr>
            <a:r>
              <a:rPr lang="en-US" sz="900">
                <a:latin typeface="Arial" charset="0"/>
                <a:cs typeface="Arial" charset="0"/>
              </a:rPr>
              <a:t>      In travel web system</a:t>
            </a:r>
          </a:p>
          <a:p>
            <a:pPr marL="174625" indent="-174625" eaLnBrk="1" hangingPunct="1">
              <a:buFont typeface="Wingdings" pitchFamily="2" charset="2"/>
              <a:buChar char="q"/>
            </a:pPr>
            <a:r>
              <a:rPr lang="en-US" sz="900">
                <a:latin typeface="Arial" charset="0"/>
                <a:cs typeface="Arial" charset="0"/>
              </a:rPr>
              <a:t>Reservation – itinerary</a:t>
            </a:r>
          </a:p>
          <a:p>
            <a:pPr marL="174625" indent="-174625" eaLnBrk="1" hangingPunct="1">
              <a:buFont typeface="Wingdings" pitchFamily="2" charset="2"/>
              <a:buNone/>
            </a:pPr>
            <a:r>
              <a:rPr lang="en-US" sz="900">
                <a:latin typeface="Arial" charset="0"/>
                <a:cs typeface="Arial" charset="0"/>
              </a:rPr>
              <a:t>      with American express</a:t>
            </a:r>
          </a:p>
        </p:txBody>
      </p:sp>
      <p:sp>
        <p:nvSpPr>
          <p:cNvPr id="393232" name="Rectangle 16"/>
          <p:cNvSpPr>
            <a:spLocks noChangeArrowheads="1"/>
          </p:cNvSpPr>
          <p:nvPr/>
        </p:nvSpPr>
        <p:spPr bwMode="auto">
          <a:xfrm flipV="1">
            <a:off x="381000" y="4724400"/>
            <a:ext cx="1600200" cy="533400"/>
          </a:xfrm>
          <a:prstGeom prst="rect">
            <a:avLst/>
          </a:prstGeom>
          <a:solidFill>
            <a:srgbClr val="CC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Online Reservation system,</a:t>
            </a:r>
          </a:p>
          <a:p>
            <a:pPr marL="174625" indent="-174625" eaLnBrk="1" hangingPunct="1">
              <a:buFont typeface="Wingdings" pitchFamily="2" charset="2"/>
              <a:buNone/>
            </a:pPr>
            <a:r>
              <a:rPr lang="en-US" sz="900">
                <a:latin typeface="Arial" charset="0"/>
                <a:cs typeface="Arial" charset="0"/>
              </a:rPr>
              <a:t>Travel Web, Passkey, Notes</a:t>
            </a:r>
          </a:p>
        </p:txBody>
      </p:sp>
      <p:sp>
        <p:nvSpPr>
          <p:cNvPr id="393233" name="Rectangle 17"/>
          <p:cNvSpPr>
            <a:spLocks noChangeArrowheads="1"/>
          </p:cNvSpPr>
          <p:nvPr/>
        </p:nvSpPr>
        <p:spPr bwMode="auto">
          <a:xfrm flipV="1">
            <a:off x="381000" y="5334000"/>
            <a:ext cx="1600200" cy="1066800"/>
          </a:xfrm>
          <a:prstGeom prst="rect">
            <a:avLst/>
          </a:prstGeom>
          <a:solidFill>
            <a:srgbClr val="CCFFCC"/>
          </a:solidFill>
          <a:ln w="9525">
            <a:solidFill>
              <a:schemeClr val="tx1"/>
            </a:solidFill>
            <a:miter lim="800000"/>
            <a:headEnd/>
            <a:tailEnd/>
          </a:ln>
          <a:effectLst/>
        </p:spPr>
        <p:txBody>
          <a:bodyPr rot="10800000" wrap="none" anchor="ctr"/>
          <a:lstStyle/>
          <a:p>
            <a:pPr marL="174625" indent="-174625" eaLnBrk="1" hangingPunct="1"/>
            <a:r>
              <a:rPr lang="en-US" sz="900">
                <a:latin typeface="Arial" charset="0"/>
                <a:cs typeface="Arial" charset="0"/>
              </a:rPr>
              <a:t>W2K, IIS, Oracle, </a:t>
            </a:r>
          </a:p>
          <a:p>
            <a:pPr marL="174625" indent="-174625" eaLnBrk="1" hangingPunct="1"/>
            <a:r>
              <a:rPr lang="en-US" sz="900">
                <a:latin typeface="Arial" charset="0"/>
                <a:cs typeface="Arial" charset="0"/>
              </a:rPr>
              <a:t>MS Load Balancer, SAP R3, </a:t>
            </a:r>
          </a:p>
          <a:p>
            <a:pPr marL="174625" indent="-174625" eaLnBrk="1" hangingPunct="1"/>
            <a:r>
              <a:rPr lang="en-US" sz="900">
                <a:latin typeface="Arial" charset="0"/>
                <a:cs typeface="Arial" charset="0"/>
              </a:rPr>
              <a:t>TSM, NetIQ, Telalert,</a:t>
            </a:r>
          </a:p>
          <a:p>
            <a:pPr marL="174625" indent="-174625" eaLnBrk="1" hangingPunct="1"/>
            <a:r>
              <a:rPr lang="en-US" sz="900">
                <a:latin typeface="Arial" charset="0"/>
                <a:cs typeface="Arial" charset="0"/>
              </a:rPr>
              <a:t>Edge Server, IHS, </a:t>
            </a:r>
          </a:p>
          <a:p>
            <a:pPr marL="174625" indent="-174625" eaLnBrk="1" hangingPunct="1"/>
            <a:r>
              <a:rPr lang="en-US" sz="900">
                <a:latin typeface="Arial" charset="0"/>
                <a:cs typeface="Arial" charset="0"/>
              </a:rPr>
              <a:t>WebSphere, Lotus Notes</a:t>
            </a:r>
          </a:p>
        </p:txBody>
      </p:sp>
      <p:sp>
        <p:nvSpPr>
          <p:cNvPr id="393234" name="Text Box 18"/>
          <p:cNvSpPr txBox="1">
            <a:spLocks noChangeArrowheads="1"/>
          </p:cNvSpPr>
          <p:nvPr/>
        </p:nvSpPr>
        <p:spPr bwMode="auto">
          <a:xfrm rot="16200000">
            <a:off x="-434181" y="2720181"/>
            <a:ext cx="1143000"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Role &amp; Resp.</a:t>
            </a:r>
          </a:p>
        </p:txBody>
      </p:sp>
      <p:sp>
        <p:nvSpPr>
          <p:cNvPr id="393235" name="Text Box 19"/>
          <p:cNvSpPr txBox="1">
            <a:spLocks noChangeArrowheads="1"/>
          </p:cNvSpPr>
          <p:nvPr/>
        </p:nvSpPr>
        <p:spPr bwMode="auto">
          <a:xfrm rot="16200000">
            <a:off x="-243681" y="4739481"/>
            <a:ext cx="762000"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App</a:t>
            </a:r>
          </a:p>
        </p:txBody>
      </p:sp>
      <p:sp>
        <p:nvSpPr>
          <p:cNvPr id="393236" name="Text Box 20"/>
          <p:cNvSpPr txBox="1">
            <a:spLocks noChangeArrowheads="1"/>
          </p:cNvSpPr>
          <p:nvPr/>
        </p:nvSpPr>
        <p:spPr bwMode="auto">
          <a:xfrm rot="16200000">
            <a:off x="-348456" y="5682456"/>
            <a:ext cx="971550"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Technology</a:t>
            </a:r>
          </a:p>
        </p:txBody>
      </p:sp>
      <p:sp>
        <p:nvSpPr>
          <p:cNvPr id="393237" name="Rectangle 21"/>
          <p:cNvSpPr>
            <a:spLocks noChangeArrowheads="1"/>
          </p:cNvSpPr>
          <p:nvPr/>
        </p:nvSpPr>
        <p:spPr bwMode="auto">
          <a:xfrm>
            <a:off x="2133600" y="2362200"/>
            <a:ext cx="1600200" cy="1066800"/>
          </a:xfrm>
          <a:prstGeom prst="rect">
            <a:avLst/>
          </a:prstGeom>
          <a:solidFill>
            <a:srgbClr val="FFCCFF"/>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r>
              <a:rPr lang="en-US" sz="900">
                <a:latin typeface="Arial" charset="0"/>
                <a:cs typeface="Arial" charset="0"/>
              </a:rPr>
              <a:t>Traveler contacts A. Exp</a:t>
            </a:r>
          </a:p>
          <a:p>
            <a:pPr marL="174625" indent="-174625" eaLnBrk="1" hangingPunct="1">
              <a:buFont typeface="Wingdings" pitchFamily="2" charset="2"/>
              <a:buChar char="q"/>
            </a:pPr>
            <a:r>
              <a:rPr lang="en-US" sz="900">
                <a:latin typeface="Arial" charset="0"/>
                <a:cs typeface="Arial" charset="0"/>
              </a:rPr>
              <a:t>AM approves the trip </a:t>
            </a:r>
          </a:p>
          <a:p>
            <a:pPr marL="174625" indent="-174625" eaLnBrk="1" hangingPunct="1">
              <a:buFont typeface="Wingdings" pitchFamily="2" charset="2"/>
              <a:buChar char="q"/>
            </a:pPr>
            <a:r>
              <a:rPr lang="en-US" sz="900">
                <a:latin typeface="Arial" charset="0"/>
                <a:cs typeface="Arial" charset="0"/>
              </a:rPr>
              <a:t>A. Exp receives Notice</a:t>
            </a:r>
          </a:p>
          <a:p>
            <a:pPr marL="174625" indent="-174625" eaLnBrk="1" hangingPunct="1">
              <a:buFont typeface="Wingdings" pitchFamily="2" charset="2"/>
              <a:buNone/>
            </a:pPr>
            <a:r>
              <a:rPr lang="en-US" sz="900">
                <a:latin typeface="Arial" charset="0"/>
                <a:cs typeface="Arial" charset="0"/>
              </a:rPr>
              <a:t>     and issues the ticket</a:t>
            </a:r>
          </a:p>
          <a:p>
            <a:pPr marL="174625" indent="-174625" eaLnBrk="1" hangingPunct="1">
              <a:buFont typeface="Wingdings" pitchFamily="2" charset="2"/>
              <a:buChar char="q"/>
            </a:pPr>
            <a:r>
              <a:rPr lang="en-US" sz="900">
                <a:latin typeface="Arial" charset="0"/>
                <a:cs typeface="Arial" charset="0"/>
              </a:rPr>
              <a:t>Traveler enters expenses</a:t>
            </a:r>
          </a:p>
          <a:p>
            <a:pPr marL="174625" indent="-174625" eaLnBrk="1" hangingPunct="1">
              <a:buFont typeface="Wingdings" pitchFamily="2" charset="2"/>
              <a:buChar char="q"/>
            </a:pPr>
            <a:r>
              <a:rPr lang="en-US" sz="900">
                <a:latin typeface="Arial" charset="0"/>
                <a:cs typeface="Arial" charset="0"/>
              </a:rPr>
              <a:t>TCS is sent to Manager</a:t>
            </a:r>
          </a:p>
          <a:p>
            <a:pPr marL="174625" indent="-174625" eaLnBrk="1" hangingPunct="1">
              <a:buFont typeface="Wingdings" pitchFamily="2" charset="2"/>
              <a:buChar char="q"/>
            </a:pPr>
            <a:r>
              <a:rPr lang="en-US" sz="900">
                <a:latin typeface="Arial" charset="0"/>
                <a:cs typeface="Arial" charset="0"/>
              </a:rPr>
              <a:t>AM approves the trip</a:t>
            </a:r>
          </a:p>
        </p:txBody>
      </p:sp>
      <p:sp>
        <p:nvSpPr>
          <p:cNvPr id="393238" name="Rectangle 22"/>
          <p:cNvSpPr>
            <a:spLocks noChangeArrowheads="1"/>
          </p:cNvSpPr>
          <p:nvPr/>
        </p:nvSpPr>
        <p:spPr bwMode="auto">
          <a:xfrm>
            <a:off x="3886200" y="1295400"/>
            <a:ext cx="1600200" cy="990600"/>
          </a:xfrm>
          <a:prstGeom prst="rect">
            <a:avLst/>
          </a:prstGeom>
          <a:solidFill>
            <a:srgbClr val="CCECFF"/>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r>
              <a:rPr lang="en-US" sz="900">
                <a:latin typeface="Arial" charset="0"/>
                <a:cs typeface="Arial" charset="0"/>
              </a:rPr>
              <a:t>Pre-Trip Controls</a:t>
            </a:r>
          </a:p>
          <a:p>
            <a:pPr marL="174625" indent="-174625" eaLnBrk="1" hangingPunct="1">
              <a:buFont typeface="Wingdings" pitchFamily="2" charset="2"/>
              <a:buChar char="q"/>
            </a:pPr>
            <a:r>
              <a:rPr lang="en-US" sz="900">
                <a:latin typeface="Arial" charset="0"/>
                <a:cs typeface="Arial" charset="0"/>
              </a:rPr>
              <a:t>Post-Trip Controls</a:t>
            </a:r>
          </a:p>
        </p:txBody>
      </p:sp>
      <p:sp>
        <p:nvSpPr>
          <p:cNvPr id="393239" name="Rectangle 23"/>
          <p:cNvSpPr>
            <a:spLocks noChangeArrowheads="1"/>
          </p:cNvSpPr>
          <p:nvPr/>
        </p:nvSpPr>
        <p:spPr bwMode="auto">
          <a:xfrm>
            <a:off x="5638800" y="1295400"/>
            <a:ext cx="1600200" cy="990600"/>
          </a:xfrm>
          <a:prstGeom prst="rect">
            <a:avLst/>
          </a:prstGeom>
          <a:solidFill>
            <a:srgbClr val="CCCCFF"/>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Monitoring Specific Trip</a:t>
            </a:r>
          </a:p>
        </p:txBody>
      </p:sp>
      <p:sp>
        <p:nvSpPr>
          <p:cNvPr id="393240" name="Rectangle 24"/>
          <p:cNvSpPr>
            <a:spLocks noChangeArrowheads="1"/>
          </p:cNvSpPr>
          <p:nvPr/>
        </p:nvSpPr>
        <p:spPr bwMode="auto">
          <a:xfrm>
            <a:off x="7391400" y="1295400"/>
            <a:ext cx="1600200" cy="990600"/>
          </a:xfrm>
          <a:prstGeom prst="rect">
            <a:avLst/>
          </a:prstGeom>
          <a:solidFill>
            <a:srgbClr val="FFFFCC"/>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r>
              <a:rPr lang="en-US" sz="900">
                <a:latin typeface="Arial" charset="0"/>
                <a:cs typeface="Arial" charset="0"/>
              </a:rPr>
              <a:t>Monitoring Specific </a:t>
            </a:r>
          </a:p>
          <a:p>
            <a:pPr marL="174625" indent="-174625" eaLnBrk="1" hangingPunct="1">
              <a:buFont typeface="Wingdings" pitchFamily="2" charset="2"/>
              <a:buNone/>
            </a:pPr>
            <a:r>
              <a:rPr lang="en-US" sz="900">
                <a:latin typeface="Arial" charset="0"/>
                <a:cs typeface="Arial" charset="0"/>
              </a:rPr>
              <a:t>     Unit/VPU</a:t>
            </a:r>
          </a:p>
        </p:txBody>
      </p:sp>
      <p:sp>
        <p:nvSpPr>
          <p:cNvPr id="393241" name="Rectangle 25"/>
          <p:cNvSpPr>
            <a:spLocks noChangeArrowheads="1"/>
          </p:cNvSpPr>
          <p:nvPr/>
        </p:nvSpPr>
        <p:spPr bwMode="auto">
          <a:xfrm flipV="1">
            <a:off x="5638800" y="2362200"/>
            <a:ext cx="1600200" cy="1066800"/>
          </a:xfrm>
          <a:prstGeom prst="rect">
            <a:avLst/>
          </a:prstGeom>
          <a:solidFill>
            <a:srgbClr val="CC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r>
              <a:rPr lang="en-US" sz="900">
                <a:latin typeface="Arial" charset="0"/>
                <a:cs typeface="Arial" charset="0"/>
              </a:rPr>
              <a:t>Traveler can use the </a:t>
            </a:r>
          </a:p>
          <a:p>
            <a:pPr marL="174625" indent="-174625" eaLnBrk="1" hangingPunct="1">
              <a:buFont typeface="Wingdings" pitchFamily="2" charset="2"/>
              <a:buNone/>
            </a:pPr>
            <a:r>
              <a:rPr lang="en-US" sz="900">
                <a:latin typeface="Arial" charset="0"/>
                <a:cs typeface="Arial" charset="0"/>
              </a:rPr>
              <a:t>     Web Travel System to</a:t>
            </a:r>
          </a:p>
          <a:p>
            <a:pPr marL="174625" indent="-174625" eaLnBrk="1" hangingPunct="1">
              <a:buFont typeface="Wingdings" pitchFamily="2" charset="2"/>
              <a:buNone/>
            </a:pPr>
            <a:r>
              <a:rPr lang="en-US" sz="900">
                <a:latin typeface="Arial" charset="0"/>
                <a:cs typeface="Arial" charset="0"/>
              </a:rPr>
              <a:t>     monitor the status of trip</a:t>
            </a:r>
          </a:p>
          <a:p>
            <a:pPr marL="174625" indent="-174625" eaLnBrk="1" hangingPunct="1">
              <a:buFont typeface="Wingdings" pitchFamily="2" charset="2"/>
              <a:buNone/>
            </a:pPr>
            <a:r>
              <a:rPr lang="en-US" sz="900">
                <a:latin typeface="Arial" charset="0"/>
                <a:cs typeface="Arial" charset="0"/>
              </a:rPr>
              <a:t>    request as well as sub-</a:t>
            </a:r>
          </a:p>
          <a:p>
            <a:pPr marL="174625" indent="-174625" eaLnBrk="1" hangingPunct="1">
              <a:buFont typeface="Wingdings" pitchFamily="2" charset="2"/>
              <a:buNone/>
            </a:pPr>
            <a:r>
              <a:rPr lang="en-US" sz="900">
                <a:latin typeface="Arial" charset="0"/>
                <a:cs typeface="Arial" charset="0"/>
              </a:rPr>
              <a:t>    sequent expense reimb-</a:t>
            </a:r>
          </a:p>
          <a:p>
            <a:pPr marL="174625" indent="-174625" eaLnBrk="1" hangingPunct="1">
              <a:buFont typeface="Wingdings" pitchFamily="2" charset="2"/>
              <a:buNone/>
            </a:pPr>
            <a:r>
              <a:rPr lang="en-US" sz="900">
                <a:latin typeface="Arial" charset="0"/>
                <a:cs typeface="Arial" charset="0"/>
              </a:rPr>
              <a:t>    ursement request</a:t>
            </a:r>
          </a:p>
        </p:txBody>
      </p:sp>
      <p:sp>
        <p:nvSpPr>
          <p:cNvPr id="393242" name="Rectangle 26"/>
          <p:cNvSpPr>
            <a:spLocks noChangeArrowheads="1"/>
          </p:cNvSpPr>
          <p:nvPr/>
        </p:nvSpPr>
        <p:spPr bwMode="auto">
          <a:xfrm flipV="1">
            <a:off x="3886200" y="2362200"/>
            <a:ext cx="1600200" cy="1066800"/>
          </a:xfrm>
          <a:prstGeom prst="rect">
            <a:avLst/>
          </a:prstGeom>
          <a:solidFill>
            <a:srgbClr val="CCE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Ex Ante Controls: verify </a:t>
            </a:r>
          </a:p>
          <a:p>
            <a:pPr marL="174625" indent="-174625" eaLnBrk="1" hangingPunct="1">
              <a:buFont typeface="Wingdings" pitchFamily="2" charset="2"/>
              <a:buNone/>
            </a:pPr>
            <a:r>
              <a:rPr lang="en-US" sz="900">
                <a:latin typeface="Arial" charset="0"/>
                <a:cs typeface="Arial" charset="0"/>
              </a:rPr>
              <a:t>     cost assignment, </a:t>
            </a:r>
          </a:p>
          <a:p>
            <a:pPr marL="174625" indent="-174625" eaLnBrk="1" hangingPunct="1">
              <a:buFont typeface="Wingdings" pitchFamily="2" charset="2"/>
              <a:buNone/>
            </a:pPr>
            <a:r>
              <a:rPr lang="en-US" sz="900">
                <a:latin typeface="Arial" charset="0"/>
                <a:cs typeface="Arial" charset="0"/>
              </a:rPr>
              <a:t>    explanation of exceptions,</a:t>
            </a:r>
          </a:p>
          <a:p>
            <a:pPr marL="174625" indent="-174625" eaLnBrk="1" hangingPunct="1">
              <a:buFont typeface="Wingdings" pitchFamily="2" charset="2"/>
              <a:buNone/>
            </a:pPr>
            <a:r>
              <a:rPr lang="en-US" sz="900">
                <a:latin typeface="Arial" charset="0"/>
                <a:cs typeface="Arial" charset="0"/>
              </a:rPr>
              <a:t>    PCard Usage, etc.</a:t>
            </a:r>
          </a:p>
          <a:p>
            <a:pPr marL="174625" indent="-174625" eaLnBrk="1" hangingPunct="1">
              <a:buFont typeface="Wingdings" pitchFamily="2" charset="2"/>
              <a:buChar char="q"/>
            </a:pPr>
            <a:r>
              <a:rPr lang="en-US" sz="900">
                <a:latin typeface="Arial" charset="0"/>
                <a:cs typeface="Arial" charset="0"/>
              </a:rPr>
              <a:t>Ex Post Controls: trip is</a:t>
            </a:r>
          </a:p>
          <a:p>
            <a:pPr marL="174625" indent="-174625" eaLnBrk="1" hangingPunct="1">
              <a:buFont typeface="Wingdings" pitchFamily="2" charset="2"/>
              <a:buNone/>
            </a:pPr>
            <a:r>
              <a:rPr lang="en-US" sz="900">
                <a:latin typeface="Arial" charset="0"/>
                <a:cs typeface="Arial" charset="0"/>
              </a:rPr>
              <a:t>     approved,  traveler sends</a:t>
            </a:r>
          </a:p>
          <a:p>
            <a:pPr marL="174625" indent="-174625" eaLnBrk="1" hangingPunct="1">
              <a:buFont typeface="Wingdings" pitchFamily="2" charset="2"/>
              <a:buNone/>
            </a:pPr>
            <a:r>
              <a:rPr lang="en-US" sz="900">
                <a:latin typeface="Arial" charset="0"/>
                <a:cs typeface="Arial" charset="0"/>
              </a:rPr>
              <a:t>    receipt to ACT.</a:t>
            </a:r>
          </a:p>
          <a:p>
            <a:pPr marL="174625" indent="-174625" eaLnBrk="1" hangingPunct="1">
              <a:buFont typeface="Wingdings" pitchFamily="2" charset="2"/>
              <a:buChar char="q"/>
            </a:pPr>
            <a:endParaRPr lang="en-US" sz="900">
              <a:latin typeface="Arial" charset="0"/>
              <a:cs typeface="Arial" charset="0"/>
            </a:endParaRPr>
          </a:p>
        </p:txBody>
      </p:sp>
      <p:sp>
        <p:nvSpPr>
          <p:cNvPr id="393243" name="Rectangle 27"/>
          <p:cNvSpPr>
            <a:spLocks noChangeArrowheads="1"/>
          </p:cNvSpPr>
          <p:nvPr/>
        </p:nvSpPr>
        <p:spPr bwMode="auto">
          <a:xfrm flipV="1">
            <a:off x="2133600" y="3505200"/>
            <a:ext cx="1600200" cy="1143000"/>
          </a:xfrm>
          <a:prstGeom prst="rect">
            <a:avLst/>
          </a:prstGeom>
          <a:solidFill>
            <a:srgbClr val="FF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Itinerary</a:t>
            </a:r>
          </a:p>
          <a:p>
            <a:pPr marL="174625" indent="-174625" eaLnBrk="1" hangingPunct="1">
              <a:buFont typeface="Wingdings" pitchFamily="2" charset="2"/>
              <a:buChar char="q"/>
            </a:pPr>
            <a:r>
              <a:rPr lang="en-US" sz="900">
                <a:latin typeface="Arial" charset="0"/>
                <a:cs typeface="Arial" charset="0"/>
              </a:rPr>
              <a:t>VISA</a:t>
            </a:r>
          </a:p>
          <a:p>
            <a:pPr marL="174625" indent="-174625" eaLnBrk="1" hangingPunct="1">
              <a:buFont typeface="Wingdings" pitchFamily="2" charset="2"/>
              <a:buChar char="q"/>
            </a:pPr>
            <a:r>
              <a:rPr lang="en-US" sz="900">
                <a:latin typeface="Arial" charset="0"/>
                <a:cs typeface="Arial" charset="0"/>
              </a:rPr>
              <a:t>Ticket</a:t>
            </a:r>
          </a:p>
          <a:p>
            <a:pPr marL="174625" indent="-174625" eaLnBrk="1" hangingPunct="1">
              <a:buFont typeface="Wingdings" pitchFamily="2" charset="2"/>
              <a:buChar char="q"/>
            </a:pPr>
            <a:r>
              <a:rPr lang="en-US" sz="900">
                <a:latin typeface="Arial" charset="0"/>
                <a:cs typeface="Arial" charset="0"/>
              </a:rPr>
              <a:t>BTOR</a:t>
            </a:r>
          </a:p>
          <a:p>
            <a:pPr marL="174625" indent="-174625" eaLnBrk="1" hangingPunct="1">
              <a:buFont typeface="Wingdings" pitchFamily="2" charset="2"/>
              <a:buNone/>
            </a:pPr>
            <a:r>
              <a:rPr lang="en-US" sz="900">
                <a:latin typeface="Arial" charset="0"/>
                <a:cs typeface="Arial" charset="0"/>
              </a:rPr>
              <a:t>      </a:t>
            </a:r>
          </a:p>
        </p:txBody>
      </p:sp>
      <p:sp>
        <p:nvSpPr>
          <p:cNvPr id="393244" name="Rectangle 28"/>
          <p:cNvSpPr>
            <a:spLocks noChangeArrowheads="1"/>
          </p:cNvSpPr>
          <p:nvPr/>
        </p:nvSpPr>
        <p:spPr bwMode="auto">
          <a:xfrm flipV="1">
            <a:off x="7391400" y="2362200"/>
            <a:ext cx="1600200" cy="1066800"/>
          </a:xfrm>
          <a:prstGeom prst="rect">
            <a:avLst/>
          </a:prstGeom>
          <a:solidFill>
            <a:srgbClr val="FF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r>
              <a:rPr lang="en-US" sz="900">
                <a:latin typeface="Arial" charset="0"/>
                <a:cs typeface="Arial" charset="0"/>
              </a:rPr>
              <a:t>Budget Analysts/Officers</a:t>
            </a:r>
          </a:p>
          <a:p>
            <a:pPr marL="174625" indent="-174625" eaLnBrk="1" hangingPunct="1">
              <a:buFont typeface="Wingdings" pitchFamily="2" charset="2"/>
              <a:buNone/>
            </a:pPr>
            <a:r>
              <a:rPr lang="en-US" sz="900">
                <a:latin typeface="Arial" charset="0"/>
                <a:cs typeface="Arial" charset="0"/>
              </a:rPr>
              <a:t>     use the SAP Cost Report</a:t>
            </a:r>
          </a:p>
          <a:p>
            <a:pPr marL="174625" indent="-174625" eaLnBrk="1" hangingPunct="1">
              <a:buFont typeface="Wingdings" pitchFamily="2" charset="2"/>
              <a:buNone/>
            </a:pPr>
            <a:r>
              <a:rPr lang="en-US" sz="900">
                <a:latin typeface="Arial" charset="0"/>
                <a:cs typeface="Arial" charset="0"/>
              </a:rPr>
              <a:t>     or Administrative </a:t>
            </a:r>
          </a:p>
          <a:p>
            <a:pPr marL="174625" indent="-174625" eaLnBrk="1" hangingPunct="1">
              <a:buFont typeface="Wingdings" pitchFamily="2" charset="2"/>
              <a:buNone/>
            </a:pPr>
            <a:r>
              <a:rPr lang="en-US" sz="900">
                <a:latin typeface="Arial" charset="0"/>
                <a:cs typeface="Arial" charset="0"/>
              </a:rPr>
              <a:t>     Expense Report to</a:t>
            </a:r>
          </a:p>
          <a:p>
            <a:pPr marL="174625" indent="-174625" eaLnBrk="1" hangingPunct="1">
              <a:buFont typeface="Wingdings" pitchFamily="2" charset="2"/>
              <a:buNone/>
            </a:pPr>
            <a:r>
              <a:rPr lang="en-US" sz="900">
                <a:latin typeface="Arial" charset="0"/>
                <a:cs typeface="Arial" charset="0"/>
              </a:rPr>
              <a:t>     monitor travel expenses</a:t>
            </a:r>
          </a:p>
        </p:txBody>
      </p:sp>
      <p:sp>
        <p:nvSpPr>
          <p:cNvPr id="393245" name="Rectangle 29"/>
          <p:cNvSpPr>
            <a:spLocks noChangeArrowheads="1"/>
          </p:cNvSpPr>
          <p:nvPr/>
        </p:nvSpPr>
        <p:spPr bwMode="auto">
          <a:xfrm flipV="1">
            <a:off x="3886200" y="3505200"/>
            <a:ext cx="1600200" cy="1143000"/>
          </a:xfrm>
          <a:prstGeom prst="rect">
            <a:avLst/>
          </a:prstGeom>
          <a:solidFill>
            <a:srgbClr val="CCE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Travel Expense Postings</a:t>
            </a:r>
          </a:p>
          <a:p>
            <a:pPr marL="174625" indent="-174625" eaLnBrk="1" hangingPunct="1">
              <a:buFont typeface="Wingdings" pitchFamily="2" charset="2"/>
              <a:buChar char="q"/>
            </a:pPr>
            <a:r>
              <a:rPr lang="en-US" sz="900">
                <a:latin typeface="Arial" charset="0"/>
                <a:cs typeface="Arial" charset="0"/>
              </a:rPr>
              <a:t>Trip Document</a:t>
            </a:r>
          </a:p>
          <a:p>
            <a:pPr marL="174625" indent="-174625" eaLnBrk="1" hangingPunct="1">
              <a:buFont typeface="Wingdings" pitchFamily="2" charset="2"/>
              <a:buChar char="q"/>
            </a:pPr>
            <a:r>
              <a:rPr lang="en-US" sz="900">
                <a:latin typeface="Arial" charset="0"/>
                <a:cs typeface="Arial" charset="0"/>
              </a:rPr>
              <a:t>PCard</a:t>
            </a:r>
          </a:p>
          <a:p>
            <a:pPr marL="174625" indent="-174625" eaLnBrk="1" hangingPunct="1">
              <a:buFont typeface="Wingdings" pitchFamily="2" charset="2"/>
              <a:buChar char="q"/>
            </a:pPr>
            <a:r>
              <a:rPr lang="en-US" sz="900">
                <a:latin typeface="Arial" charset="0"/>
                <a:cs typeface="Arial" charset="0"/>
              </a:rPr>
              <a:t>Receipt</a:t>
            </a:r>
          </a:p>
        </p:txBody>
      </p:sp>
      <p:sp>
        <p:nvSpPr>
          <p:cNvPr id="393246" name="Rectangle 30"/>
          <p:cNvSpPr>
            <a:spLocks noChangeArrowheads="1"/>
          </p:cNvSpPr>
          <p:nvPr/>
        </p:nvSpPr>
        <p:spPr bwMode="auto">
          <a:xfrm flipV="1">
            <a:off x="5638800" y="3505200"/>
            <a:ext cx="1600200" cy="1143000"/>
          </a:xfrm>
          <a:prstGeom prst="rect">
            <a:avLst/>
          </a:prstGeom>
          <a:solidFill>
            <a:srgbClr val="CC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r>
              <a:rPr lang="en-US" sz="900">
                <a:latin typeface="Arial" charset="0"/>
                <a:cs typeface="Arial" charset="0"/>
              </a:rPr>
              <a:t>Display Trip</a:t>
            </a:r>
          </a:p>
          <a:p>
            <a:pPr marL="174625" indent="-174625" eaLnBrk="1" hangingPunct="1">
              <a:buFont typeface="Wingdings" pitchFamily="2" charset="2"/>
              <a:buChar char="q"/>
            </a:pPr>
            <a:r>
              <a:rPr lang="en-US" sz="900">
                <a:latin typeface="Arial" charset="0"/>
                <a:cs typeface="Arial" charset="0"/>
              </a:rPr>
              <a:t>Print/Simulate Trip</a:t>
            </a:r>
          </a:p>
          <a:p>
            <a:pPr marL="174625" indent="-174625" eaLnBrk="1" hangingPunct="1">
              <a:buFont typeface="Wingdings" pitchFamily="2" charset="2"/>
              <a:buChar char="q"/>
            </a:pPr>
            <a:r>
              <a:rPr lang="en-US" sz="900">
                <a:latin typeface="Arial" charset="0"/>
                <a:cs typeface="Arial" charset="0"/>
              </a:rPr>
              <a:t>My Trip Summary Report    </a:t>
            </a:r>
          </a:p>
        </p:txBody>
      </p:sp>
      <p:sp>
        <p:nvSpPr>
          <p:cNvPr id="393247" name="Rectangle 31"/>
          <p:cNvSpPr>
            <a:spLocks noChangeArrowheads="1"/>
          </p:cNvSpPr>
          <p:nvPr/>
        </p:nvSpPr>
        <p:spPr bwMode="auto">
          <a:xfrm flipV="1">
            <a:off x="7391400" y="3505200"/>
            <a:ext cx="1600200" cy="1143000"/>
          </a:xfrm>
          <a:prstGeom prst="rect">
            <a:avLst/>
          </a:prstGeom>
          <a:solidFill>
            <a:srgbClr val="FF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Outstanding Trip Claims</a:t>
            </a:r>
          </a:p>
          <a:p>
            <a:pPr marL="174625" indent="-174625" eaLnBrk="1" hangingPunct="1">
              <a:buFont typeface="Wingdings" pitchFamily="2" charset="2"/>
              <a:buNone/>
            </a:pPr>
            <a:r>
              <a:rPr lang="en-US" sz="900">
                <a:latin typeface="Arial" charset="0"/>
                <a:cs typeface="Arial" charset="0"/>
              </a:rPr>
              <a:t>      Report</a:t>
            </a:r>
          </a:p>
          <a:p>
            <a:pPr marL="174625" indent="-174625" eaLnBrk="1" hangingPunct="1">
              <a:buFont typeface="Wingdings" pitchFamily="2" charset="2"/>
              <a:buChar char="q"/>
            </a:pPr>
            <a:r>
              <a:rPr lang="en-US" sz="900">
                <a:latin typeface="Arial" charset="0"/>
                <a:cs typeface="Arial" charset="0"/>
              </a:rPr>
              <a:t>Travel Expense</a:t>
            </a:r>
          </a:p>
          <a:p>
            <a:pPr marL="174625" indent="-174625" eaLnBrk="1" hangingPunct="1">
              <a:buFont typeface="Wingdings" pitchFamily="2" charset="2"/>
              <a:buNone/>
            </a:pPr>
            <a:r>
              <a:rPr lang="en-US" sz="900">
                <a:latin typeface="Arial" charset="0"/>
                <a:cs typeface="Arial" charset="0"/>
              </a:rPr>
              <a:t>     Exception Report</a:t>
            </a:r>
          </a:p>
          <a:p>
            <a:pPr marL="174625" indent="-174625" eaLnBrk="1" hangingPunct="1">
              <a:buFont typeface="Wingdings" pitchFamily="2" charset="2"/>
              <a:buChar char="q"/>
            </a:pPr>
            <a:r>
              <a:rPr lang="en-US" sz="900">
                <a:latin typeface="Arial" charset="0"/>
                <a:cs typeface="Arial" charset="0"/>
              </a:rPr>
              <a:t>Budget Summary Repor</a:t>
            </a:r>
          </a:p>
          <a:p>
            <a:pPr marL="174625" indent="-174625" eaLnBrk="1" hangingPunct="1">
              <a:buFont typeface="Wingdings" pitchFamily="2" charset="2"/>
              <a:buChar char="q"/>
            </a:pPr>
            <a:r>
              <a:rPr lang="en-US" sz="900">
                <a:latin typeface="Arial" charset="0"/>
                <a:cs typeface="Arial" charset="0"/>
              </a:rPr>
              <a:t>Operational Mission</a:t>
            </a:r>
          </a:p>
          <a:p>
            <a:pPr marL="174625" indent="-174625" eaLnBrk="1" hangingPunct="1">
              <a:buFont typeface="Wingdings" pitchFamily="2" charset="2"/>
              <a:buNone/>
            </a:pPr>
            <a:r>
              <a:rPr lang="en-US" sz="900">
                <a:latin typeface="Arial" charset="0"/>
                <a:cs typeface="Arial" charset="0"/>
              </a:rPr>
              <a:t>     Summary Report</a:t>
            </a:r>
          </a:p>
          <a:p>
            <a:pPr marL="174625" indent="-174625" eaLnBrk="1" hangingPunct="1">
              <a:buFont typeface="Wingdings" pitchFamily="2" charset="2"/>
              <a:buChar char="q"/>
            </a:pPr>
            <a:endParaRPr lang="en-US" sz="900">
              <a:latin typeface="Arial" charset="0"/>
              <a:cs typeface="Arial" charset="0"/>
            </a:endParaRPr>
          </a:p>
        </p:txBody>
      </p:sp>
      <p:sp>
        <p:nvSpPr>
          <p:cNvPr id="393248" name="Rectangle 32"/>
          <p:cNvSpPr>
            <a:spLocks noChangeArrowheads="1"/>
          </p:cNvSpPr>
          <p:nvPr/>
        </p:nvSpPr>
        <p:spPr bwMode="auto">
          <a:xfrm flipV="1">
            <a:off x="3886200" y="4724400"/>
            <a:ext cx="1600200" cy="533400"/>
          </a:xfrm>
          <a:prstGeom prst="rect">
            <a:avLst/>
          </a:prstGeom>
          <a:solidFill>
            <a:srgbClr val="CCE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None/>
            </a:pPr>
            <a:r>
              <a:rPr lang="en-US" sz="900">
                <a:latin typeface="Arial" charset="0"/>
                <a:cs typeface="Arial" charset="0"/>
              </a:rPr>
              <a:t>SAP, Travel Web, Passkey</a:t>
            </a:r>
          </a:p>
        </p:txBody>
      </p:sp>
      <p:sp>
        <p:nvSpPr>
          <p:cNvPr id="393249" name="Rectangle 33"/>
          <p:cNvSpPr>
            <a:spLocks noChangeArrowheads="1"/>
          </p:cNvSpPr>
          <p:nvPr/>
        </p:nvSpPr>
        <p:spPr bwMode="auto">
          <a:xfrm flipV="1">
            <a:off x="2133600" y="5334000"/>
            <a:ext cx="1600200" cy="1066800"/>
          </a:xfrm>
          <a:prstGeom prst="rect">
            <a:avLst/>
          </a:prstGeom>
          <a:solidFill>
            <a:srgbClr val="FFCCFF"/>
          </a:solidFill>
          <a:ln w="9525">
            <a:solidFill>
              <a:schemeClr val="tx1"/>
            </a:solidFill>
            <a:miter lim="800000"/>
            <a:headEnd/>
            <a:tailEnd/>
          </a:ln>
          <a:effectLst/>
        </p:spPr>
        <p:txBody>
          <a:bodyPr rot="10800000" wrap="none" anchor="ctr"/>
          <a:lstStyle/>
          <a:p>
            <a:pPr marL="174625" indent="-174625" eaLnBrk="1" hangingPunct="1"/>
            <a:r>
              <a:rPr lang="en-US" sz="900">
                <a:latin typeface="Arial" charset="0"/>
                <a:cs typeface="Arial" charset="0"/>
              </a:rPr>
              <a:t>W2K, IIS, Oracle, MS </a:t>
            </a:r>
          </a:p>
          <a:p>
            <a:pPr marL="174625" indent="-174625" eaLnBrk="1" hangingPunct="1"/>
            <a:r>
              <a:rPr lang="en-US" sz="900">
                <a:latin typeface="Arial" charset="0"/>
                <a:cs typeface="Arial" charset="0"/>
              </a:rPr>
              <a:t>Load Balancer, SAP R3, </a:t>
            </a:r>
          </a:p>
          <a:p>
            <a:pPr marL="174625" indent="-174625" eaLnBrk="1" hangingPunct="1"/>
            <a:r>
              <a:rPr lang="en-US" sz="900">
                <a:latin typeface="Arial" charset="0"/>
                <a:cs typeface="Arial" charset="0"/>
              </a:rPr>
              <a:t>TSM, NetIQ, Telalert,</a:t>
            </a:r>
          </a:p>
          <a:p>
            <a:pPr marL="174625" indent="-174625" eaLnBrk="1" hangingPunct="1"/>
            <a:r>
              <a:rPr lang="en-US" sz="900">
                <a:latin typeface="Arial" charset="0"/>
                <a:cs typeface="Arial" charset="0"/>
              </a:rPr>
              <a:t>Edge Server, IHS, </a:t>
            </a:r>
          </a:p>
          <a:p>
            <a:pPr marL="174625" indent="-174625" eaLnBrk="1" hangingPunct="1"/>
            <a:r>
              <a:rPr lang="en-US" sz="900">
                <a:latin typeface="Arial" charset="0"/>
                <a:cs typeface="Arial" charset="0"/>
              </a:rPr>
              <a:t>WebSphere, Lotus Notes </a:t>
            </a:r>
          </a:p>
        </p:txBody>
      </p:sp>
      <p:sp>
        <p:nvSpPr>
          <p:cNvPr id="393250" name="Rectangle 34"/>
          <p:cNvSpPr>
            <a:spLocks noChangeArrowheads="1"/>
          </p:cNvSpPr>
          <p:nvPr/>
        </p:nvSpPr>
        <p:spPr bwMode="auto">
          <a:xfrm flipV="1">
            <a:off x="5638800" y="5334000"/>
            <a:ext cx="1600200" cy="1066800"/>
          </a:xfrm>
          <a:prstGeom prst="rect">
            <a:avLst/>
          </a:prstGeom>
          <a:solidFill>
            <a:srgbClr val="CCCCFF"/>
          </a:solidFill>
          <a:ln w="9525">
            <a:solidFill>
              <a:schemeClr val="tx1"/>
            </a:solidFill>
            <a:miter lim="800000"/>
            <a:headEnd/>
            <a:tailEnd/>
          </a:ln>
          <a:effectLst/>
        </p:spPr>
        <p:txBody>
          <a:bodyPr rot="10800000" wrap="none" anchor="ctr"/>
          <a:lstStyle/>
          <a:p>
            <a:pPr marL="174625" indent="-174625" eaLnBrk="1" hangingPunct="1"/>
            <a:r>
              <a:rPr lang="en-US" sz="900">
                <a:latin typeface="Arial" charset="0"/>
                <a:cs typeface="Arial" charset="0"/>
              </a:rPr>
              <a:t>W2K, IIS, Oracle, MS </a:t>
            </a:r>
          </a:p>
          <a:p>
            <a:pPr marL="174625" indent="-174625" eaLnBrk="1" hangingPunct="1"/>
            <a:r>
              <a:rPr lang="en-US" sz="900">
                <a:latin typeface="Arial" charset="0"/>
                <a:cs typeface="Arial" charset="0"/>
              </a:rPr>
              <a:t>Load Balancer, SAP R3, </a:t>
            </a:r>
          </a:p>
          <a:p>
            <a:pPr marL="174625" indent="-174625" eaLnBrk="1" hangingPunct="1"/>
            <a:r>
              <a:rPr lang="en-US" sz="900">
                <a:latin typeface="Arial" charset="0"/>
                <a:cs typeface="Arial" charset="0"/>
              </a:rPr>
              <a:t>TSM, NetIQ, Telalert,</a:t>
            </a:r>
          </a:p>
          <a:p>
            <a:pPr marL="174625" indent="-174625" eaLnBrk="1" hangingPunct="1"/>
            <a:r>
              <a:rPr lang="en-US" sz="900">
                <a:latin typeface="Arial" charset="0"/>
                <a:cs typeface="Arial" charset="0"/>
              </a:rPr>
              <a:t>Edge Server, IHS, </a:t>
            </a:r>
          </a:p>
          <a:p>
            <a:pPr marL="174625" indent="-174625" eaLnBrk="1" hangingPunct="1"/>
            <a:r>
              <a:rPr lang="en-US" sz="900">
                <a:latin typeface="Arial" charset="0"/>
                <a:cs typeface="Arial" charset="0"/>
              </a:rPr>
              <a:t>WebSphere</a:t>
            </a:r>
          </a:p>
          <a:p>
            <a:pPr marL="174625" indent="-174625" eaLnBrk="1" hangingPunct="1"/>
            <a:endParaRPr lang="en-US" sz="900">
              <a:latin typeface="Arial" charset="0"/>
              <a:cs typeface="Arial" charset="0"/>
            </a:endParaRPr>
          </a:p>
        </p:txBody>
      </p:sp>
      <p:sp>
        <p:nvSpPr>
          <p:cNvPr id="393251" name="Rectangle 35"/>
          <p:cNvSpPr>
            <a:spLocks noChangeArrowheads="1"/>
          </p:cNvSpPr>
          <p:nvPr/>
        </p:nvSpPr>
        <p:spPr bwMode="auto">
          <a:xfrm flipV="1">
            <a:off x="7391400" y="5334000"/>
            <a:ext cx="1600200" cy="1066800"/>
          </a:xfrm>
          <a:prstGeom prst="rect">
            <a:avLst/>
          </a:prstGeom>
          <a:solidFill>
            <a:srgbClr val="FFFFCC"/>
          </a:solidFill>
          <a:ln w="9525">
            <a:solidFill>
              <a:schemeClr val="tx1"/>
            </a:solidFill>
            <a:miter lim="800000"/>
            <a:headEnd/>
            <a:tailEnd/>
          </a:ln>
          <a:effectLst/>
        </p:spPr>
        <p:txBody>
          <a:bodyPr rot="10800000" wrap="none" anchor="ctr"/>
          <a:lstStyle/>
          <a:p>
            <a:pPr marL="174625" indent="-174625" eaLnBrk="1" hangingPunct="1"/>
            <a:r>
              <a:rPr lang="en-US" sz="900">
                <a:latin typeface="Arial" charset="0"/>
                <a:cs typeface="Arial" charset="0"/>
              </a:rPr>
              <a:t>W2K, IIS, Oracle, MS </a:t>
            </a:r>
          </a:p>
          <a:p>
            <a:pPr marL="174625" indent="-174625" eaLnBrk="1" hangingPunct="1"/>
            <a:r>
              <a:rPr lang="en-US" sz="900">
                <a:latin typeface="Arial" charset="0"/>
                <a:cs typeface="Arial" charset="0"/>
              </a:rPr>
              <a:t>Load Balancer, SAP R3, </a:t>
            </a:r>
          </a:p>
          <a:p>
            <a:pPr marL="174625" indent="-174625" eaLnBrk="1" hangingPunct="1"/>
            <a:r>
              <a:rPr lang="en-US" sz="900">
                <a:latin typeface="Arial" charset="0"/>
                <a:cs typeface="Arial" charset="0"/>
              </a:rPr>
              <a:t>TSM, NetIQ, Telalert,</a:t>
            </a:r>
          </a:p>
          <a:p>
            <a:pPr marL="174625" indent="-174625" eaLnBrk="1" hangingPunct="1"/>
            <a:r>
              <a:rPr lang="en-US" sz="900">
                <a:latin typeface="Arial" charset="0"/>
                <a:cs typeface="Arial" charset="0"/>
              </a:rPr>
              <a:t>Edge Server, IHS, </a:t>
            </a:r>
          </a:p>
          <a:p>
            <a:pPr marL="174625" indent="-174625" eaLnBrk="1" hangingPunct="1"/>
            <a:r>
              <a:rPr lang="en-US" sz="900">
                <a:latin typeface="Arial" charset="0"/>
                <a:cs typeface="Arial" charset="0"/>
              </a:rPr>
              <a:t>WebSphere</a:t>
            </a:r>
          </a:p>
          <a:p>
            <a:pPr marL="174625" indent="-174625" eaLnBrk="1" hangingPunct="1"/>
            <a:endParaRPr lang="en-US" sz="900">
              <a:latin typeface="Arial" charset="0"/>
              <a:cs typeface="Arial" charset="0"/>
            </a:endParaRPr>
          </a:p>
        </p:txBody>
      </p:sp>
      <p:sp>
        <p:nvSpPr>
          <p:cNvPr id="393252" name="Rectangle 36"/>
          <p:cNvSpPr>
            <a:spLocks noChangeArrowheads="1"/>
          </p:cNvSpPr>
          <p:nvPr/>
        </p:nvSpPr>
        <p:spPr bwMode="auto">
          <a:xfrm>
            <a:off x="381000" y="1295400"/>
            <a:ext cx="1600200" cy="990600"/>
          </a:xfrm>
          <a:prstGeom prst="rect">
            <a:avLst/>
          </a:prstGeom>
          <a:solidFill>
            <a:srgbClr val="CCFFCC"/>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Planning at Budget Level</a:t>
            </a:r>
          </a:p>
          <a:p>
            <a:pPr marL="174625" indent="-174625" eaLnBrk="1" hangingPunct="1">
              <a:buFont typeface="Wingdings" pitchFamily="2" charset="2"/>
              <a:buChar char="q"/>
            </a:pPr>
            <a:r>
              <a:rPr lang="en-US" sz="900">
                <a:latin typeface="Arial" charset="0"/>
                <a:cs typeface="Arial" charset="0"/>
              </a:rPr>
              <a:t>Planning Specific Trip</a:t>
            </a:r>
          </a:p>
          <a:p>
            <a:pPr marL="174625" indent="-174625" eaLnBrk="1" hangingPunct="1">
              <a:buFont typeface="Wingdings" pitchFamily="2" charset="2"/>
              <a:buChar char="q"/>
            </a:pPr>
            <a:endParaRPr lang="en-US" sz="900">
              <a:latin typeface="Arial" charset="0"/>
              <a:cs typeface="Arial" charset="0"/>
            </a:endParaRPr>
          </a:p>
        </p:txBody>
      </p:sp>
      <p:sp>
        <p:nvSpPr>
          <p:cNvPr id="393253" name="Text Box 37"/>
          <p:cNvSpPr txBox="1">
            <a:spLocks noChangeArrowheads="1"/>
          </p:cNvSpPr>
          <p:nvPr/>
        </p:nvSpPr>
        <p:spPr bwMode="auto">
          <a:xfrm rot="16200000">
            <a:off x="-434181" y="1500981"/>
            <a:ext cx="1143000"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Activities</a:t>
            </a:r>
          </a:p>
        </p:txBody>
      </p:sp>
      <p:sp>
        <p:nvSpPr>
          <p:cNvPr id="393254" name="Rectangle 38"/>
          <p:cNvSpPr>
            <a:spLocks noChangeArrowheads="1"/>
          </p:cNvSpPr>
          <p:nvPr/>
        </p:nvSpPr>
        <p:spPr bwMode="auto">
          <a:xfrm>
            <a:off x="2133600" y="1295400"/>
            <a:ext cx="1600200" cy="990600"/>
          </a:xfrm>
          <a:prstGeom prst="rect">
            <a:avLst/>
          </a:prstGeom>
          <a:solidFill>
            <a:srgbClr val="FFCCFF"/>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r>
              <a:rPr lang="en-US" sz="900">
                <a:latin typeface="Arial" charset="0"/>
                <a:cs typeface="Arial" charset="0"/>
              </a:rPr>
              <a:t>Before the Trip</a:t>
            </a:r>
          </a:p>
          <a:p>
            <a:pPr marL="174625" indent="-174625" eaLnBrk="1" hangingPunct="1">
              <a:buFont typeface="Wingdings" pitchFamily="2" charset="2"/>
              <a:buChar char="q"/>
            </a:pPr>
            <a:r>
              <a:rPr lang="en-US" sz="900">
                <a:latin typeface="Arial" charset="0"/>
                <a:cs typeface="Arial" charset="0"/>
              </a:rPr>
              <a:t>After the Trip</a:t>
            </a:r>
          </a:p>
        </p:txBody>
      </p:sp>
      <p:sp>
        <p:nvSpPr>
          <p:cNvPr id="393255" name="Rectangle 39"/>
          <p:cNvSpPr>
            <a:spLocks noChangeArrowheads="1"/>
          </p:cNvSpPr>
          <p:nvPr/>
        </p:nvSpPr>
        <p:spPr bwMode="auto">
          <a:xfrm flipV="1">
            <a:off x="3886200" y="5334000"/>
            <a:ext cx="1600200" cy="1066800"/>
          </a:xfrm>
          <a:prstGeom prst="rect">
            <a:avLst/>
          </a:prstGeom>
          <a:solidFill>
            <a:srgbClr val="CCECFF"/>
          </a:solidFill>
          <a:ln w="9525">
            <a:solidFill>
              <a:schemeClr val="tx1"/>
            </a:solidFill>
            <a:miter lim="800000"/>
            <a:headEnd/>
            <a:tailEnd/>
          </a:ln>
          <a:effectLst/>
        </p:spPr>
        <p:txBody>
          <a:bodyPr rot="10800000" wrap="none" anchor="ctr"/>
          <a:lstStyle/>
          <a:p>
            <a:pPr marL="174625" indent="-174625" eaLnBrk="1" hangingPunct="1"/>
            <a:endParaRPr lang="en-US" sz="900">
              <a:latin typeface="Arial" charset="0"/>
              <a:cs typeface="Arial" charset="0"/>
            </a:endParaRPr>
          </a:p>
          <a:p>
            <a:pPr marL="174625" indent="-174625" eaLnBrk="1" hangingPunct="1"/>
            <a:r>
              <a:rPr lang="en-US" sz="900">
                <a:latin typeface="Arial" charset="0"/>
                <a:cs typeface="Arial" charset="0"/>
              </a:rPr>
              <a:t>W2K, IIS, Oracle, MS </a:t>
            </a:r>
          </a:p>
          <a:p>
            <a:pPr marL="174625" indent="-174625" eaLnBrk="1" hangingPunct="1"/>
            <a:r>
              <a:rPr lang="en-US" sz="900">
                <a:latin typeface="Arial" charset="0"/>
                <a:cs typeface="Arial" charset="0"/>
              </a:rPr>
              <a:t>Load Balancer, SAP R3, </a:t>
            </a:r>
          </a:p>
          <a:p>
            <a:pPr marL="174625" indent="-174625" eaLnBrk="1" hangingPunct="1"/>
            <a:r>
              <a:rPr lang="en-US" sz="900">
                <a:latin typeface="Arial" charset="0"/>
                <a:cs typeface="Arial" charset="0"/>
              </a:rPr>
              <a:t>TSM, NetIQ, Telalert,</a:t>
            </a:r>
          </a:p>
          <a:p>
            <a:pPr marL="174625" indent="-174625" eaLnBrk="1" hangingPunct="1"/>
            <a:r>
              <a:rPr lang="en-US" sz="900">
                <a:latin typeface="Arial" charset="0"/>
                <a:cs typeface="Arial" charset="0"/>
              </a:rPr>
              <a:t>Edge Server, IHS, </a:t>
            </a:r>
          </a:p>
          <a:p>
            <a:pPr marL="174625" indent="-174625" eaLnBrk="1" hangingPunct="1"/>
            <a:r>
              <a:rPr lang="en-US" sz="900">
                <a:latin typeface="Arial" charset="0"/>
                <a:cs typeface="Arial" charset="0"/>
              </a:rPr>
              <a:t>WebSphere</a:t>
            </a:r>
          </a:p>
          <a:p>
            <a:pPr marL="174625" indent="-174625" eaLnBrk="1" hangingPunct="1"/>
            <a:endParaRPr lang="en-US" sz="900">
              <a:latin typeface="Arial" charset="0"/>
              <a:cs typeface="Arial" charset="0"/>
            </a:endParaRPr>
          </a:p>
        </p:txBody>
      </p:sp>
      <p:sp>
        <p:nvSpPr>
          <p:cNvPr id="393256" name="Rectangle 40"/>
          <p:cNvSpPr>
            <a:spLocks noChangeArrowheads="1"/>
          </p:cNvSpPr>
          <p:nvPr/>
        </p:nvSpPr>
        <p:spPr bwMode="auto">
          <a:xfrm flipV="1">
            <a:off x="5638800" y="4724400"/>
            <a:ext cx="1600200" cy="533400"/>
          </a:xfrm>
          <a:prstGeom prst="rect">
            <a:avLst/>
          </a:prstGeom>
          <a:solidFill>
            <a:srgbClr val="CC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None/>
            </a:pPr>
            <a:r>
              <a:rPr lang="en-US" sz="900">
                <a:latin typeface="Arial" charset="0"/>
                <a:cs typeface="Arial" charset="0"/>
              </a:rPr>
              <a:t>SAP, Travel Web, Passkey</a:t>
            </a:r>
          </a:p>
          <a:p>
            <a:pPr marL="174625" indent="-174625" eaLnBrk="1" hangingPunct="1">
              <a:buFont typeface="Wingdings" pitchFamily="2" charset="2"/>
              <a:buChar char="q"/>
            </a:pPr>
            <a:endParaRPr lang="en-US" sz="900">
              <a:latin typeface="Arial" charset="0"/>
              <a:cs typeface="Arial" charset="0"/>
            </a:endParaRPr>
          </a:p>
        </p:txBody>
      </p:sp>
      <p:sp>
        <p:nvSpPr>
          <p:cNvPr id="393257" name="Rectangle 41"/>
          <p:cNvSpPr>
            <a:spLocks noChangeArrowheads="1"/>
          </p:cNvSpPr>
          <p:nvPr/>
        </p:nvSpPr>
        <p:spPr bwMode="auto">
          <a:xfrm flipV="1">
            <a:off x="7391400" y="4724400"/>
            <a:ext cx="1600200" cy="533400"/>
          </a:xfrm>
          <a:prstGeom prst="rect">
            <a:avLst/>
          </a:prstGeom>
          <a:solidFill>
            <a:srgbClr val="FF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SAP, Travel Web, Passkey</a:t>
            </a:r>
          </a:p>
        </p:txBody>
      </p:sp>
      <p:sp>
        <p:nvSpPr>
          <p:cNvPr id="393258" name="AutoShape 42"/>
          <p:cNvSpPr>
            <a:spLocks noChangeArrowheads="1"/>
          </p:cNvSpPr>
          <p:nvPr/>
        </p:nvSpPr>
        <p:spPr bwMode="auto">
          <a:xfrm>
            <a:off x="2209800" y="6858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3259" name="AutoShape 43"/>
          <p:cNvSpPr>
            <a:spLocks noChangeArrowheads="1"/>
          </p:cNvSpPr>
          <p:nvPr/>
        </p:nvSpPr>
        <p:spPr bwMode="auto">
          <a:xfrm>
            <a:off x="3810000" y="6858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3260" name="AutoShape 44"/>
          <p:cNvSpPr>
            <a:spLocks noChangeArrowheads="1"/>
          </p:cNvSpPr>
          <p:nvPr/>
        </p:nvSpPr>
        <p:spPr bwMode="auto">
          <a:xfrm>
            <a:off x="5562600" y="6858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3261" name="AutoShape 45"/>
          <p:cNvSpPr>
            <a:spLocks noChangeArrowheads="1"/>
          </p:cNvSpPr>
          <p:nvPr/>
        </p:nvSpPr>
        <p:spPr bwMode="auto">
          <a:xfrm>
            <a:off x="7315200" y="6858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3262" name="Rectangle 46"/>
          <p:cNvSpPr>
            <a:spLocks noChangeArrowheads="1"/>
          </p:cNvSpPr>
          <p:nvPr/>
        </p:nvSpPr>
        <p:spPr bwMode="auto">
          <a:xfrm>
            <a:off x="304800" y="152400"/>
            <a:ext cx="8458200" cy="228600"/>
          </a:xfrm>
          <a:prstGeom prst="rect">
            <a:avLst/>
          </a:prstGeom>
          <a:solidFill>
            <a:srgbClr val="FFFFCC"/>
          </a:solidFill>
          <a:ln w="9525">
            <a:solidFill>
              <a:schemeClr val="tx1"/>
            </a:solidFill>
            <a:miter lim="800000"/>
            <a:headEnd/>
            <a:tailEnd/>
          </a:ln>
          <a:effectLst/>
        </p:spPr>
        <p:txBody>
          <a:bodyPr wrap="none" anchor="ctr"/>
          <a:lstStyle/>
          <a:p>
            <a:pPr marL="174625" indent="-174625" eaLnBrk="1" hangingPunct="1">
              <a:buFont typeface="Wingdings" pitchFamily="2" charset="2"/>
              <a:buNone/>
            </a:pPr>
            <a:r>
              <a:rPr lang="en-US" sz="1000" b="1" u="sng">
                <a:latin typeface="Arial" charset="0"/>
                <a:cs typeface="Arial" charset="0"/>
              </a:rPr>
              <a:t>Metrics for Travel (Bank Wide: Over $ 200M in FY-05)</a:t>
            </a:r>
            <a:r>
              <a:rPr lang="en-US" sz="1000">
                <a:latin typeface="Arial" charset="0"/>
                <a:cs typeface="Arial" charset="0"/>
              </a:rPr>
              <a:t>: Cost Effectiveness – Get Best Results with available Funds</a:t>
            </a:r>
          </a:p>
        </p:txBody>
      </p:sp>
      <p:sp>
        <p:nvSpPr>
          <p:cNvPr id="393263" name="Rectangle 47"/>
          <p:cNvSpPr>
            <a:spLocks noChangeArrowheads="1"/>
          </p:cNvSpPr>
          <p:nvPr/>
        </p:nvSpPr>
        <p:spPr bwMode="auto">
          <a:xfrm flipV="1">
            <a:off x="2133600" y="4724400"/>
            <a:ext cx="1600200" cy="533400"/>
          </a:xfrm>
          <a:prstGeom prst="rect">
            <a:avLst/>
          </a:prstGeom>
          <a:solidFill>
            <a:srgbClr val="FF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Travel Web, SAP, Passkey,</a:t>
            </a:r>
          </a:p>
          <a:p>
            <a:pPr marL="174625" indent="-174625" eaLnBrk="1" hangingPunct="1">
              <a:buFont typeface="Wingdings" pitchFamily="2" charset="2"/>
              <a:buNone/>
            </a:pPr>
            <a:r>
              <a:rPr lang="en-US" sz="900">
                <a:latin typeface="Arial" charset="0"/>
                <a:cs typeface="Arial" charset="0"/>
              </a:rPr>
              <a:t>Notes</a:t>
            </a:r>
          </a:p>
        </p:txBody>
      </p:sp>
      <p:sp>
        <p:nvSpPr>
          <p:cNvPr id="393264" name="Rectangle 48"/>
          <p:cNvSpPr>
            <a:spLocks noChangeArrowheads="1"/>
          </p:cNvSpPr>
          <p:nvPr/>
        </p:nvSpPr>
        <p:spPr bwMode="auto">
          <a:xfrm flipV="1">
            <a:off x="381000" y="6477000"/>
            <a:ext cx="1600200" cy="228600"/>
          </a:xfrm>
          <a:prstGeom prst="rect">
            <a:avLst/>
          </a:prstGeom>
          <a:solidFill>
            <a:srgbClr val="CC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Cost Effectiveness</a:t>
            </a:r>
          </a:p>
        </p:txBody>
      </p:sp>
      <p:sp>
        <p:nvSpPr>
          <p:cNvPr id="393265" name="Rectangle 49"/>
          <p:cNvSpPr>
            <a:spLocks noChangeArrowheads="1"/>
          </p:cNvSpPr>
          <p:nvPr/>
        </p:nvSpPr>
        <p:spPr bwMode="auto">
          <a:xfrm flipV="1">
            <a:off x="3886200" y="6477000"/>
            <a:ext cx="1600200" cy="228600"/>
          </a:xfrm>
          <a:prstGeom prst="rect">
            <a:avLst/>
          </a:prstGeom>
          <a:solidFill>
            <a:srgbClr val="CCE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Cost Effectiveness</a:t>
            </a:r>
          </a:p>
        </p:txBody>
      </p:sp>
      <p:sp>
        <p:nvSpPr>
          <p:cNvPr id="393266" name="Rectangle 50"/>
          <p:cNvSpPr>
            <a:spLocks noChangeArrowheads="1"/>
          </p:cNvSpPr>
          <p:nvPr/>
        </p:nvSpPr>
        <p:spPr bwMode="auto">
          <a:xfrm flipV="1">
            <a:off x="2133600" y="6477000"/>
            <a:ext cx="1600200" cy="228600"/>
          </a:xfrm>
          <a:prstGeom prst="rect">
            <a:avLst/>
          </a:prstGeom>
          <a:solidFill>
            <a:srgbClr val="FF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Cost Effectiveness</a:t>
            </a:r>
          </a:p>
        </p:txBody>
      </p:sp>
      <p:sp>
        <p:nvSpPr>
          <p:cNvPr id="393267" name="Rectangle 51"/>
          <p:cNvSpPr>
            <a:spLocks noChangeArrowheads="1"/>
          </p:cNvSpPr>
          <p:nvPr/>
        </p:nvSpPr>
        <p:spPr bwMode="auto">
          <a:xfrm flipV="1">
            <a:off x="5638800" y="6477000"/>
            <a:ext cx="1600200" cy="228600"/>
          </a:xfrm>
          <a:prstGeom prst="rect">
            <a:avLst/>
          </a:prstGeom>
          <a:solidFill>
            <a:srgbClr val="CC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Cost Effectiveness</a:t>
            </a:r>
          </a:p>
        </p:txBody>
      </p:sp>
      <p:sp>
        <p:nvSpPr>
          <p:cNvPr id="393268" name="Rectangle 52"/>
          <p:cNvSpPr>
            <a:spLocks noChangeArrowheads="1"/>
          </p:cNvSpPr>
          <p:nvPr/>
        </p:nvSpPr>
        <p:spPr bwMode="auto">
          <a:xfrm flipV="1">
            <a:off x="7391400" y="6477000"/>
            <a:ext cx="1600200" cy="228600"/>
          </a:xfrm>
          <a:prstGeom prst="rect">
            <a:avLst/>
          </a:prstGeom>
          <a:solidFill>
            <a:srgbClr val="FF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Cost Effectiveness</a:t>
            </a:r>
          </a:p>
        </p:txBody>
      </p:sp>
      <p:sp>
        <p:nvSpPr>
          <p:cNvPr id="393269" name="Text Box 53"/>
          <p:cNvSpPr txBox="1">
            <a:spLocks noChangeArrowheads="1"/>
          </p:cNvSpPr>
          <p:nvPr/>
        </p:nvSpPr>
        <p:spPr bwMode="auto">
          <a:xfrm rot="16200000">
            <a:off x="-167481" y="6415881"/>
            <a:ext cx="609600"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Metric</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4242" name="AutoShape 2"/>
          <p:cNvSpPr>
            <a:spLocks noChangeArrowheads="1"/>
          </p:cNvSpPr>
          <p:nvPr/>
        </p:nvSpPr>
        <p:spPr bwMode="auto">
          <a:xfrm>
            <a:off x="7315200" y="457200"/>
            <a:ext cx="1600200" cy="533400"/>
          </a:xfrm>
          <a:prstGeom prst="chevron">
            <a:avLst>
              <a:gd name="adj" fmla="val 75000"/>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    Query-Imaging</a:t>
            </a:r>
          </a:p>
          <a:p>
            <a:pPr algn="r" eaLnBrk="1" hangingPunct="1"/>
            <a:r>
              <a:rPr lang="en-US" sz="1200">
                <a:latin typeface="Arial" charset="0"/>
                <a:cs typeface="Arial" charset="0"/>
              </a:rPr>
              <a:t>&amp; Career mgt </a:t>
            </a:r>
          </a:p>
        </p:txBody>
      </p:sp>
      <p:sp>
        <p:nvSpPr>
          <p:cNvPr id="394243" name="AutoShape 3"/>
          <p:cNvSpPr>
            <a:spLocks noChangeArrowheads="1"/>
          </p:cNvSpPr>
          <p:nvPr/>
        </p:nvSpPr>
        <p:spPr bwMode="auto">
          <a:xfrm>
            <a:off x="5715000" y="457200"/>
            <a:ext cx="1524000" cy="533400"/>
          </a:xfrm>
          <a:prstGeom prst="chevron">
            <a:avLst>
              <a:gd name="adj" fmla="val 71429"/>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      Staff   </a:t>
            </a:r>
          </a:p>
          <a:p>
            <a:pPr algn="r" eaLnBrk="1" hangingPunct="1"/>
            <a:r>
              <a:rPr lang="en-US" sz="1200">
                <a:latin typeface="Arial" charset="0"/>
                <a:cs typeface="Arial" charset="0"/>
              </a:rPr>
              <a:t>Benefits  </a:t>
            </a:r>
          </a:p>
        </p:txBody>
      </p:sp>
      <p:sp>
        <p:nvSpPr>
          <p:cNvPr id="394244" name="AutoShape 4"/>
          <p:cNvSpPr>
            <a:spLocks noChangeArrowheads="1"/>
          </p:cNvSpPr>
          <p:nvPr/>
        </p:nvSpPr>
        <p:spPr bwMode="auto">
          <a:xfrm>
            <a:off x="2286000" y="457200"/>
            <a:ext cx="1524000" cy="533400"/>
          </a:xfrm>
          <a:prstGeom prst="chevron">
            <a:avLst>
              <a:gd name="adj" fmla="val 71429"/>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      </a:t>
            </a:r>
          </a:p>
          <a:p>
            <a:pPr algn="r" eaLnBrk="1" hangingPunct="1"/>
            <a:r>
              <a:rPr lang="en-US" sz="1200">
                <a:latin typeface="Arial" charset="0"/>
                <a:cs typeface="Arial" charset="0"/>
              </a:rPr>
              <a:t>Staff    </a:t>
            </a:r>
          </a:p>
          <a:p>
            <a:pPr algn="r" eaLnBrk="1" hangingPunct="1"/>
            <a:r>
              <a:rPr lang="en-US" sz="1200">
                <a:latin typeface="Arial" charset="0"/>
                <a:cs typeface="Arial" charset="0"/>
              </a:rPr>
              <a:t>Performance</a:t>
            </a:r>
          </a:p>
          <a:p>
            <a:pPr algn="r" eaLnBrk="1" hangingPunct="1"/>
            <a:r>
              <a:rPr lang="en-US" sz="1200">
                <a:latin typeface="Arial" charset="0"/>
                <a:cs typeface="Arial" charset="0"/>
              </a:rPr>
              <a:t>  </a:t>
            </a:r>
          </a:p>
        </p:txBody>
      </p:sp>
      <p:sp>
        <p:nvSpPr>
          <p:cNvPr id="394245" name="AutoShape 5"/>
          <p:cNvSpPr>
            <a:spLocks noChangeArrowheads="1"/>
          </p:cNvSpPr>
          <p:nvPr/>
        </p:nvSpPr>
        <p:spPr bwMode="auto">
          <a:xfrm>
            <a:off x="3810000" y="457200"/>
            <a:ext cx="1752600" cy="533400"/>
          </a:xfrm>
          <a:prstGeom prst="chevron">
            <a:avLst>
              <a:gd name="adj" fmla="val 82143"/>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 Staff   </a:t>
            </a:r>
          </a:p>
          <a:p>
            <a:pPr algn="r" eaLnBrk="1" hangingPunct="1"/>
            <a:r>
              <a:rPr lang="en-US" sz="1200">
                <a:latin typeface="Arial" charset="0"/>
                <a:cs typeface="Arial" charset="0"/>
              </a:rPr>
              <a:t> Payment   </a:t>
            </a:r>
          </a:p>
        </p:txBody>
      </p:sp>
      <p:sp>
        <p:nvSpPr>
          <p:cNvPr id="394246" name="AutoShape 6"/>
          <p:cNvSpPr>
            <a:spLocks noChangeArrowheads="1"/>
          </p:cNvSpPr>
          <p:nvPr/>
        </p:nvSpPr>
        <p:spPr bwMode="auto">
          <a:xfrm>
            <a:off x="457200" y="457200"/>
            <a:ext cx="1752600" cy="533400"/>
          </a:xfrm>
          <a:prstGeom prst="chevron">
            <a:avLst>
              <a:gd name="adj" fmla="val 82143"/>
            </a:avLst>
          </a:prstGeom>
          <a:solidFill>
            <a:srgbClr val="FFFFCC"/>
          </a:solidFill>
          <a:ln w="9525">
            <a:solidFill>
              <a:schemeClr val="tx1"/>
            </a:solidFill>
            <a:miter lim="800000"/>
            <a:headEnd/>
            <a:tailEnd/>
          </a:ln>
          <a:effectLst/>
        </p:spPr>
        <p:txBody>
          <a:bodyPr wrap="none" anchor="ctr"/>
          <a:lstStyle/>
          <a:p>
            <a:pPr algn="r" eaLnBrk="1" hangingPunct="1"/>
            <a:r>
              <a:rPr lang="en-US" sz="1200">
                <a:latin typeface="Arial" charset="0"/>
                <a:cs typeface="Arial" charset="0"/>
              </a:rPr>
              <a:t>        </a:t>
            </a:r>
          </a:p>
          <a:p>
            <a:pPr algn="r" eaLnBrk="1" hangingPunct="1"/>
            <a:r>
              <a:rPr lang="en-US" sz="1200">
                <a:latin typeface="Arial" charset="0"/>
                <a:cs typeface="Arial" charset="0"/>
              </a:rPr>
              <a:t>Recruiting   </a:t>
            </a:r>
          </a:p>
          <a:p>
            <a:pPr algn="r" eaLnBrk="1" hangingPunct="1"/>
            <a:r>
              <a:rPr lang="en-US" sz="1200">
                <a:latin typeface="Arial" charset="0"/>
                <a:cs typeface="Arial" charset="0"/>
              </a:rPr>
              <a:t> &amp; Staffing    </a:t>
            </a:r>
          </a:p>
          <a:p>
            <a:pPr algn="r" eaLnBrk="1" hangingPunct="1"/>
            <a:r>
              <a:rPr lang="en-US" sz="1200">
                <a:latin typeface="Arial" charset="0"/>
                <a:cs typeface="Arial" charset="0"/>
              </a:rPr>
              <a:t>   </a:t>
            </a:r>
          </a:p>
        </p:txBody>
      </p:sp>
      <p:sp>
        <p:nvSpPr>
          <p:cNvPr id="394247" name="Text Box 7"/>
          <p:cNvSpPr txBox="1">
            <a:spLocks noChangeArrowheads="1"/>
          </p:cNvSpPr>
          <p:nvPr/>
        </p:nvSpPr>
        <p:spPr bwMode="auto">
          <a:xfrm rot="16200000">
            <a:off x="-396081" y="3901281"/>
            <a:ext cx="1066800"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Information</a:t>
            </a:r>
          </a:p>
        </p:txBody>
      </p:sp>
      <p:sp>
        <p:nvSpPr>
          <p:cNvPr id="394248" name="Text Box 8"/>
          <p:cNvSpPr txBox="1">
            <a:spLocks noChangeArrowheads="1"/>
          </p:cNvSpPr>
          <p:nvPr/>
        </p:nvSpPr>
        <p:spPr bwMode="auto">
          <a:xfrm rot="16200000">
            <a:off x="-192881" y="494506"/>
            <a:ext cx="839787" cy="457201"/>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Business</a:t>
            </a:r>
          </a:p>
          <a:p>
            <a:pPr eaLnBrk="1" hangingPunct="1"/>
            <a:r>
              <a:rPr lang="en-US" sz="1200">
                <a:latin typeface="Arial" charset="0"/>
                <a:cs typeface="Arial" charset="0"/>
              </a:rPr>
              <a:t>Process</a:t>
            </a:r>
          </a:p>
        </p:txBody>
      </p:sp>
      <p:sp>
        <p:nvSpPr>
          <p:cNvPr id="394249" name="AutoShape 9"/>
          <p:cNvSpPr>
            <a:spLocks noChangeArrowheads="1"/>
          </p:cNvSpPr>
          <p:nvPr/>
        </p:nvSpPr>
        <p:spPr bwMode="auto">
          <a:xfrm>
            <a:off x="1143000" y="9144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vert="eaVert" wrap="none" anchor="ctr"/>
          <a:lstStyle/>
          <a:p>
            <a:endParaRPr lang="en-US"/>
          </a:p>
        </p:txBody>
      </p:sp>
      <p:sp>
        <p:nvSpPr>
          <p:cNvPr id="394250" name="AutoShape 10"/>
          <p:cNvSpPr>
            <a:spLocks noChangeArrowheads="1"/>
          </p:cNvSpPr>
          <p:nvPr/>
        </p:nvSpPr>
        <p:spPr bwMode="auto">
          <a:xfrm>
            <a:off x="2819400" y="9144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vert="eaVert" wrap="none" anchor="ctr"/>
          <a:lstStyle/>
          <a:p>
            <a:endParaRPr lang="en-US"/>
          </a:p>
        </p:txBody>
      </p:sp>
      <p:sp>
        <p:nvSpPr>
          <p:cNvPr id="394251" name="AutoShape 11"/>
          <p:cNvSpPr>
            <a:spLocks noChangeArrowheads="1"/>
          </p:cNvSpPr>
          <p:nvPr/>
        </p:nvSpPr>
        <p:spPr bwMode="auto">
          <a:xfrm>
            <a:off x="4572000" y="9144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vert="eaVert" wrap="none" anchor="ctr"/>
          <a:lstStyle/>
          <a:p>
            <a:endParaRPr lang="en-US"/>
          </a:p>
        </p:txBody>
      </p:sp>
      <p:sp>
        <p:nvSpPr>
          <p:cNvPr id="394252" name="AutoShape 12"/>
          <p:cNvSpPr>
            <a:spLocks noChangeArrowheads="1"/>
          </p:cNvSpPr>
          <p:nvPr/>
        </p:nvSpPr>
        <p:spPr bwMode="auto">
          <a:xfrm>
            <a:off x="6248400" y="9144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vert="eaVert" wrap="none" anchor="ctr"/>
          <a:lstStyle/>
          <a:p>
            <a:endParaRPr lang="en-US"/>
          </a:p>
        </p:txBody>
      </p:sp>
      <p:sp>
        <p:nvSpPr>
          <p:cNvPr id="394253" name="AutoShape 13"/>
          <p:cNvSpPr>
            <a:spLocks noChangeArrowheads="1"/>
          </p:cNvSpPr>
          <p:nvPr/>
        </p:nvSpPr>
        <p:spPr bwMode="auto">
          <a:xfrm>
            <a:off x="7924800" y="9144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vert="eaVert" wrap="none" anchor="ctr"/>
          <a:lstStyle/>
          <a:p>
            <a:endParaRPr lang="en-US"/>
          </a:p>
        </p:txBody>
      </p:sp>
      <p:sp>
        <p:nvSpPr>
          <p:cNvPr id="394254" name="Text Box 14"/>
          <p:cNvSpPr txBox="1">
            <a:spLocks noChangeArrowheads="1"/>
          </p:cNvSpPr>
          <p:nvPr/>
        </p:nvSpPr>
        <p:spPr bwMode="auto">
          <a:xfrm rot="16200000">
            <a:off x="-434181" y="2720181"/>
            <a:ext cx="1143000"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Role &amp; Resp</a:t>
            </a:r>
          </a:p>
        </p:txBody>
      </p:sp>
      <p:sp>
        <p:nvSpPr>
          <p:cNvPr id="394255" name="Text Box 15"/>
          <p:cNvSpPr txBox="1">
            <a:spLocks noChangeArrowheads="1"/>
          </p:cNvSpPr>
          <p:nvPr/>
        </p:nvSpPr>
        <p:spPr bwMode="auto">
          <a:xfrm rot="16200000">
            <a:off x="-396081" y="4587081"/>
            <a:ext cx="1066800"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App</a:t>
            </a:r>
          </a:p>
        </p:txBody>
      </p:sp>
      <p:sp>
        <p:nvSpPr>
          <p:cNvPr id="394256" name="Text Box 16"/>
          <p:cNvSpPr txBox="1">
            <a:spLocks noChangeArrowheads="1"/>
          </p:cNvSpPr>
          <p:nvPr/>
        </p:nvSpPr>
        <p:spPr bwMode="auto">
          <a:xfrm rot="16200000">
            <a:off x="-348456" y="5758656"/>
            <a:ext cx="971550"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Technology</a:t>
            </a:r>
          </a:p>
        </p:txBody>
      </p:sp>
      <p:sp>
        <p:nvSpPr>
          <p:cNvPr id="394257" name="Text Box 17"/>
          <p:cNvSpPr txBox="1">
            <a:spLocks noChangeArrowheads="1"/>
          </p:cNvSpPr>
          <p:nvPr/>
        </p:nvSpPr>
        <p:spPr bwMode="auto">
          <a:xfrm rot="16200000">
            <a:off x="-434181" y="1577181"/>
            <a:ext cx="1143000"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Activities</a:t>
            </a:r>
          </a:p>
        </p:txBody>
      </p:sp>
      <p:sp>
        <p:nvSpPr>
          <p:cNvPr id="394258" name="Rectangle 18"/>
          <p:cNvSpPr>
            <a:spLocks noChangeArrowheads="1"/>
          </p:cNvSpPr>
          <p:nvPr/>
        </p:nvSpPr>
        <p:spPr bwMode="auto">
          <a:xfrm>
            <a:off x="2057400" y="2286000"/>
            <a:ext cx="1600200" cy="1066800"/>
          </a:xfrm>
          <a:prstGeom prst="rect">
            <a:avLst/>
          </a:prstGeom>
          <a:solidFill>
            <a:srgbClr val="CCCCFF"/>
          </a:solidFill>
          <a:ln w="9525">
            <a:solidFill>
              <a:schemeClr val="tx1"/>
            </a:solidFill>
            <a:miter lim="800000"/>
            <a:headEnd/>
            <a:tailEnd/>
          </a:ln>
          <a:effectLst/>
        </p:spPr>
        <p:txBody>
          <a:bodyPr wrap="none" anchor="ctr"/>
          <a:lstStyle/>
          <a:p>
            <a:pPr marL="174625" indent="-174625" eaLnBrk="1" hangingPunct="1">
              <a:buFont typeface="Wingdings" pitchFamily="2" charset="2"/>
              <a:buNone/>
            </a:pPr>
            <a:endParaRPr lang="en-US" sz="900">
              <a:latin typeface="Arial" charset="0"/>
              <a:cs typeface="Arial" charset="0"/>
            </a:endParaRPr>
          </a:p>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Staff prepares</a:t>
            </a:r>
          </a:p>
          <a:p>
            <a:pPr marL="174625" indent="-174625" eaLnBrk="1" hangingPunct="1">
              <a:buFont typeface="Wingdings" pitchFamily="2" charset="2"/>
              <a:buChar char="q"/>
            </a:pPr>
            <a:endParaRPr lang="en-US" sz="900">
              <a:latin typeface="Arial" charset="0"/>
              <a:cs typeface="Arial" charset="0"/>
            </a:endParaRPr>
          </a:p>
        </p:txBody>
      </p:sp>
      <p:sp>
        <p:nvSpPr>
          <p:cNvPr id="394259" name="Rectangle 19"/>
          <p:cNvSpPr>
            <a:spLocks noChangeArrowheads="1"/>
          </p:cNvSpPr>
          <p:nvPr/>
        </p:nvSpPr>
        <p:spPr bwMode="auto">
          <a:xfrm>
            <a:off x="2057400" y="3429000"/>
            <a:ext cx="1600200" cy="1143000"/>
          </a:xfrm>
          <a:prstGeom prst="rect">
            <a:avLst/>
          </a:prstGeom>
          <a:solidFill>
            <a:srgbClr val="CCCCFF"/>
          </a:solidFill>
          <a:ln w="9525">
            <a:solidFill>
              <a:schemeClr val="tx1"/>
            </a:solidFill>
            <a:miter lim="800000"/>
            <a:headEnd/>
            <a:tailEnd/>
          </a:ln>
          <a:effectLst/>
        </p:spPr>
        <p:txBody>
          <a:bodyPr wrap="none" anchor="ctr"/>
          <a:lstStyle/>
          <a:p>
            <a:pPr marL="174625" indent="-174625" eaLnBrk="1" hangingPunct="1">
              <a:buFont typeface="Wingdings" pitchFamily="2" charset="2"/>
              <a:buNone/>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HR Forms</a:t>
            </a:r>
          </a:p>
        </p:txBody>
      </p:sp>
      <p:sp>
        <p:nvSpPr>
          <p:cNvPr id="394260" name="Rectangle 20"/>
          <p:cNvSpPr>
            <a:spLocks noChangeArrowheads="1"/>
          </p:cNvSpPr>
          <p:nvPr/>
        </p:nvSpPr>
        <p:spPr bwMode="auto">
          <a:xfrm flipV="1">
            <a:off x="2057400" y="4648200"/>
            <a:ext cx="1600200" cy="762000"/>
          </a:xfrm>
          <a:prstGeom prst="rect">
            <a:avLst/>
          </a:prstGeom>
          <a:solidFill>
            <a:srgbClr val="CC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r>
              <a:rPr lang="en-US" sz="900">
                <a:latin typeface="Arial" charset="0"/>
                <a:cs typeface="Arial" charset="0"/>
              </a:rPr>
              <a:t>LARS, TAX Kiosk</a:t>
            </a:r>
          </a:p>
          <a:p>
            <a:pPr marL="174625" indent="-174625" eaLnBrk="1" hangingPunct="1">
              <a:buFont typeface="Wingdings" pitchFamily="2" charset="2"/>
              <a:buChar char="q"/>
            </a:pPr>
            <a:r>
              <a:rPr lang="en-US" sz="900">
                <a:latin typeface="Arial" charset="0"/>
                <a:cs typeface="Arial" charset="0"/>
              </a:rPr>
              <a:t>LMS, Parking System</a:t>
            </a:r>
          </a:p>
          <a:p>
            <a:pPr marL="174625" indent="-174625" eaLnBrk="1" hangingPunct="1">
              <a:buFont typeface="Wingdings" pitchFamily="2" charset="2"/>
              <a:buChar char="q"/>
            </a:pPr>
            <a:r>
              <a:rPr lang="en-US" sz="900">
                <a:latin typeface="Arial" charset="0"/>
                <a:cs typeface="Arial" charset="0"/>
              </a:rPr>
              <a:t>HR Ben</a:t>
            </a:r>
          </a:p>
          <a:p>
            <a:pPr marL="174625" indent="-174625" eaLnBrk="1" hangingPunct="1">
              <a:buFont typeface="Wingdings" pitchFamily="2" charset="2"/>
              <a:buChar char="q"/>
            </a:pPr>
            <a:r>
              <a:rPr lang="en-US" sz="900">
                <a:latin typeface="Arial" charset="0"/>
                <a:cs typeface="Arial" charset="0"/>
              </a:rPr>
              <a:t>Pension, Passkey</a:t>
            </a:r>
          </a:p>
          <a:p>
            <a:pPr marL="174625" indent="-174625" eaLnBrk="1" hangingPunct="1">
              <a:buFont typeface="Wingdings" pitchFamily="2" charset="2"/>
              <a:buChar char="q"/>
            </a:pPr>
            <a:r>
              <a:rPr lang="en-US" sz="900">
                <a:latin typeface="Arial" charset="0"/>
                <a:cs typeface="Arial" charset="0"/>
              </a:rPr>
              <a:t>NextGen Healthcare IS</a:t>
            </a:r>
          </a:p>
        </p:txBody>
      </p:sp>
      <p:sp>
        <p:nvSpPr>
          <p:cNvPr id="394261" name="Rectangle 21"/>
          <p:cNvSpPr>
            <a:spLocks noChangeArrowheads="1"/>
          </p:cNvSpPr>
          <p:nvPr/>
        </p:nvSpPr>
        <p:spPr bwMode="auto">
          <a:xfrm flipV="1">
            <a:off x="2057400" y="5486400"/>
            <a:ext cx="1600200" cy="838200"/>
          </a:xfrm>
          <a:prstGeom prst="rect">
            <a:avLst/>
          </a:prstGeom>
          <a:solidFill>
            <a:srgbClr val="CCCCFF"/>
          </a:solidFill>
          <a:ln w="9525">
            <a:solidFill>
              <a:schemeClr val="tx1"/>
            </a:solidFill>
            <a:miter lim="800000"/>
            <a:headEnd/>
            <a:tailEnd/>
          </a:ln>
          <a:effectLst/>
        </p:spPr>
        <p:txBody>
          <a:bodyPr rot="10800000" wrap="none" anchor="ctr"/>
          <a:lstStyle/>
          <a:p>
            <a:pPr marL="174625" indent="-174625" eaLnBrk="1" hangingPunct="1"/>
            <a:r>
              <a:rPr lang="en-US" sz="900">
                <a:latin typeface="Arial" charset="0"/>
                <a:cs typeface="Arial" charset="0"/>
              </a:rPr>
              <a:t>PeopleSoft, Solaris, </a:t>
            </a:r>
          </a:p>
          <a:p>
            <a:pPr marL="174625" indent="-174625" eaLnBrk="1" hangingPunct="1"/>
            <a:r>
              <a:rPr lang="en-US" sz="900">
                <a:latin typeface="Arial" charset="0"/>
                <a:cs typeface="Arial" charset="0"/>
              </a:rPr>
              <a:t>WebSphere, IHS, Oracle,</a:t>
            </a:r>
          </a:p>
          <a:p>
            <a:pPr marL="174625" indent="-174625" eaLnBrk="1" hangingPunct="1"/>
            <a:r>
              <a:rPr lang="en-US" sz="900">
                <a:latin typeface="Arial" charset="0"/>
                <a:cs typeface="Arial" charset="0"/>
              </a:rPr>
              <a:t>SAP, Edge Server, AIX,</a:t>
            </a:r>
          </a:p>
          <a:p>
            <a:pPr marL="174625" indent="-174625" eaLnBrk="1" hangingPunct="1"/>
            <a:r>
              <a:rPr lang="en-US" sz="900">
                <a:latin typeface="Arial" charset="0"/>
                <a:cs typeface="Arial" charset="0"/>
              </a:rPr>
              <a:t>Oracle, W2K, oracle report </a:t>
            </a:r>
          </a:p>
          <a:p>
            <a:pPr marL="174625" indent="-174625" eaLnBrk="1" hangingPunct="1"/>
            <a:r>
              <a:rPr lang="en-US" sz="900">
                <a:latin typeface="Arial" charset="0"/>
                <a:cs typeface="Arial" charset="0"/>
              </a:rPr>
              <a:t>Server, ASP, Web</a:t>
            </a:r>
          </a:p>
        </p:txBody>
      </p:sp>
      <p:sp>
        <p:nvSpPr>
          <p:cNvPr id="394262" name="Rectangle 22"/>
          <p:cNvSpPr>
            <a:spLocks noChangeArrowheads="1"/>
          </p:cNvSpPr>
          <p:nvPr/>
        </p:nvSpPr>
        <p:spPr bwMode="auto">
          <a:xfrm>
            <a:off x="3810000" y="2286000"/>
            <a:ext cx="1600200" cy="1066800"/>
          </a:xfrm>
          <a:prstGeom prst="rect">
            <a:avLst/>
          </a:prstGeom>
          <a:solidFill>
            <a:srgbClr val="CCECFF"/>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Staff prepares OPE, </a:t>
            </a:r>
          </a:p>
          <a:p>
            <a:pPr marL="174625" indent="-174625" eaLnBrk="1" hangingPunct="1">
              <a:buFont typeface="Wingdings" pitchFamily="2" charset="2"/>
              <a:buNone/>
            </a:pPr>
            <a:r>
              <a:rPr lang="en-US" sz="900">
                <a:latin typeface="Arial" charset="0"/>
                <a:cs typeface="Arial" charset="0"/>
              </a:rPr>
              <a:t>     Manager approves</a:t>
            </a:r>
          </a:p>
          <a:p>
            <a:pPr marL="174625" indent="-174625" eaLnBrk="1" hangingPunct="1">
              <a:buFont typeface="Wingdings" pitchFamily="2" charset="2"/>
              <a:buChar char="q"/>
            </a:pPr>
            <a:r>
              <a:rPr lang="en-US" sz="900">
                <a:latin typeface="Arial" charset="0"/>
                <a:cs typeface="Arial" charset="0"/>
              </a:rPr>
              <a:t>Manager prepares and</a:t>
            </a:r>
          </a:p>
          <a:p>
            <a:pPr marL="174625" indent="-174625" eaLnBrk="1" hangingPunct="1">
              <a:buFont typeface="Wingdings" pitchFamily="2" charset="2"/>
              <a:buNone/>
            </a:pPr>
            <a:r>
              <a:rPr lang="en-US" sz="900">
                <a:latin typeface="Arial" charset="0"/>
                <a:cs typeface="Arial" charset="0"/>
              </a:rPr>
              <a:t>     approves performance</a:t>
            </a:r>
          </a:p>
          <a:p>
            <a:pPr marL="174625" indent="-174625" eaLnBrk="1" hangingPunct="1">
              <a:buFont typeface="Wingdings" pitchFamily="2" charset="2"/>
              <a:buNone/>
            </a:pPr>
            <a:r>
              <a:rPr lang="en-US" sz="900">
                <a:latin typeface="Arial" charset="0"/>
                <a:cs typeface="Arial" charset="0"/>
              </a:rPr>
              <a:t>     awards, awards for</a:t>
            </a:r>
          </a:p>
          <a:p>
            <a:pPr marL="174625" indent="-174625" eaLnBrk="1" hangingPunct="1">
              <a:buFont typeface="Wingdings" pitchFamily="2" charset="2"/>
              <a:buNone/>
            </a:pPr>
            <a:r>
              <a:rPr lang="en-US" sz="900">
                <a:latin typeface="Arial" charset="0"/>
                <a:cs typeface="Arial" charset="0"/>
              </a:rPr>
              <a:t>     excellence</a:t>
            </a:r>
          </a:p>
        </p:txBody>
      </p:sp>
      <p:sp>
        <p:nvSpPr>
          <p:cNvPr id="394263" name="Rectangle 23"/>
          <p:cNvSpPr>
            <a:spLocks noChangeArrowheads="1"/>
          </p:cNvSpPr>
          <p:nvPr/>
        </p:nvSpPr>
        <p:spPr bwMode="auto">
          <a:xfrm>
            <a:off x="5562600" y="1219200"/>
            <a:ext cx="1600200" cy="990600"/>
          </a:xfrm>
          <a:prstGeom prst="rect">
            <a:avLst/>
          </a:prstGeom>
          <a:solidFill>
            <a:srgbClr val="FFCCFF"/>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r>
              <a:rPr lang="en-US" sz="900">
                <a:latin typeface="Arial" charset="0"/>
                <a:cs typeface="Arial" charset="0"/>
              </a:rPr>
              <a:t>Payroll</a:t>
            </a:r>
          </a:p>
          <a:p>
            <a:pPr marL="174625" indent="-174625" eaLnBrk="1" hangingPunct="1">
              <a:buFont typeface="Wingdings" pitchFamily="2" charset="2"/>
              <a:buChar char="q"/>
            </a:pPr>
            <a:r>
              <a:rPr lang="en-US" sz="900">
                <a:latin typeface="Arial" charset="0"/>
                <a:cs typeface="Arial" charset="0"/>
              </a:rPr>
              <a:t>Staff Receivable</a:t>
            </a:r>
          </a:p>
          <a:p>
            <a:pPr marL="174625" indent="-174625" eaLnBrk="1" hangingPunct="1">
              <a:buFont typeface="Wingdings" pitchFamily="2" charset="2"/>
              <a:buChar char="q"/>
            </a:pPr>
            <a:r>
              <a:rPr lang="en-US" sz="900">
                <a:latin typeface="Arial" charset="0"/>
                <a:cs typeface="Arial" charset="0"/>
              </a:rPr>
              <a:t>Time Recording</a:t>
            </a:r>
          </a:p>
          <a:p>
            <a:pPr marL="174625" indent="-174625" eaLnBrk="1" hangingPunct="1">
              <a:buFont typeface="Wingdings" pitchFamily="2" charset="2"/>
              <a:buChar char="q"/>
            </a:pPr>
            <a:r>
              <a:rPr lang="en-US" sz="900">
                <a:latin typeface="Arial" charset="0"/>
                <a:cs typeface="Arial" charset="0"/>
              </a:rPr>
              <a:t>Post Allowance</a:t>
            </a:r>
          </a:p>
        </p:txBody>
      </p:sp>
      <p:sp>
        <p:nvSpPr>
          <p:cNvPr id="394264" name="Rectangle 24"/>
          <p:cNvSpPr>
            <a:spLocks noChangeArrowheads="1"/>
          </p:cNvSpPr>
          <p:nvPr/>
        </p:nvSpPr>
        <p:spPr bwMode="auto">
          <a:xfrm flipV="1">
            <a:off x="5562600" y="2286000"/>
            <a:ext cx="1600200" cy="1066800"/>
          </a:xfrm>
          <a:prstGeom prst="rect">
            <a:avLst/>
          </a:prstGeom>
          <a:solidFill>
            <a:srgbClr val="FF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Staff prepares</a:t>
            </a:r>
          </a:p>
        </p:txBody>
      </p:sp>
      <p:sp>
        <p:nvSpPr>
          <p:cNvPr id="394265" name="Rectangle 25"/>
          <p:cNvSpPr>
            <a:spLocks noChangeArrowheads="1"/>
          </p:cNvSpPr>
          <p:nvPr/>
        </p:nvSpPr>
        <p:spPr bwMode="auto">
          <a:xfrm flipV="1">
            <a:off x="3810000" y="3429000"/>
            <a:ext cx="1600200" cy="1143000"/>
          </a:xfrm>
          <a:prstGeom prst="rect">
            <a:avLst/>
          </a:prstGeom>
          <a:solidFill>
            <a:srgbClr val="CCE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HR Forms</a:t>
            </a:r>
          </a:p>
          <a:p>
            <a:pPr marL="174625" indent="-174625" eaLnBrk="1" hangingPunct="1">
              <a:buFont typeface="Wingdings" pitchFamily="2" charset="2"/>
              <a:buNone/>
            </a:pPr>
            <a:r>
              <a:rPr lang="en-US" sz="900">
                <a:latin typeface="Arial" charset="0"/>
                <a:cs typeface="Arial" charset="0"/>
              </a:rPr>
              <a:t>      </a:t>
            </a:r>
          </a:p>
        </p:txBody>
      </p:sp>
      <p:sp>
        <p:nvSpPr>
          <p:cNvPr id="394266" name="Rectangle 26"/>
          <p:cNvSpPr>
            <a:spLocks noChangeArrowheads="1"/>
          </p:cNvSpPr>
          <p:nvPr/>
        </p:nvSpPr>
        <p:spPr bwMode="auto">
          <a:xfrm flipV="1">
            <a:off x="3810000" y="4648200"/>
            <a:ext cx="1600200" cy="762000"/>
          </a:xfrm>
          <a:prstGeom prst="rect">
            <a:avLst/>
          </a:prstGeom>
          <a:solidFill>
            <a:srgbClr val="CCE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r>
              <a:rPr lang="en-US" sz="900">
                <a:latin typeface="Arial" charset="0"/>
                <a:cs typeface="Arial" charset="0"/>
              </a:rPr>
              <a:t>OPE</a:t>
            </a:r>
          </a:p>
          <a:p>
            <a:pPr marL="174625" indent="-174625" eaLnBrk="1" hangingPunct="1">
              <a:buFont typeface="Wingdings" pitchFamily="2" charset="2"/>
              <a:buChar char="q"/>
            </a:pPr>
            <a:r>
              <a:rPr lang="en-US" sz="900">
                <a:latin typeface="Arial" charset="0"/>
                <a:cs typeface="Arial" charset="0"/>
              </a:rPr>
              <a:t>Performance Awards </a:t>
            </a:r>
          </a:p>
          <a:p>
            <a:pPr marL="174625" indent="-174625" eaLnBrk="1" hangingPunct="1">
              <a:buFont typeface="Wingdings" pitchFamily="2" charset="2"/>
              <a:buNone/>
            </a:pPr>
            <a:r>
              <a:rPr lang="en-US" sz="900">
                <a:latin typeface="Arial" charset="0"/>
                <a:cs typeface="Arial" charset="0"/>
              </a:rPr>
              <a:t>      system</a:t>
            </a:r>
          </a:p>
          <a:p>
            <a:pPr marL="174625" indent="-174625" eaLnBrk="1" hangingPunct="1">
              <a:buFont typeface="Wingdings" pitchFamily="2" charset="2"/>
              <a:buChar char="q"/>
            </a:pPr>
            <a:r>
              <a:rPr lang="en-US" sz="900">
                <a:latin typeface="Arial" charset="0"/>
                <a:cs typeface="Arial" charset="0"/>
              </a:rPr>
              <a:t>Awards for Excellence </a:t>
            </a:r>
          </a:p>
          <a:p>
            <a:pPr marL="174625" indent="-174625" eaLnBrk="1" hangingPunct="1">
              <a:buFont typeface="Wingdings" pitchFamily="2" charset="2"/>
              <a:buNone/>
            </a:pPr>
            <a:r>
              <a:rPr lang="en-US" sz="900">
                <a:latin typeface="Arial" charset="0"/>
                <a:cs typeface="Arial" charset="0"/>
              </a:rPr>
              <a:t>      system</a:t>
            </a:r>
          </a:p>
        </p:txBody>
      </p:sp>
      <p:sp>
        <p:nvSpPr>
          <p:cNvPr id="394267" name="Rectangle 27"/>
          <p:cNvSpPr>
            <a:spLocks noChangeArrowheads="1"/>
          </p:cNvSpPr>
          <p:nvPr/>
        </p:nvSpPr>
        <p:spPr bwMode="auto">
          <a:xfrm flipV="1">
            <a:off x="5562600" y="3429000"/>
            <a:ext cx="1600200" cy="1143000"/>
          </a:xfrm>
          <a:prstGeom prst="rect">
            <a:avLst/>
          </a:prstGeom>
          <a:solidFill>
            <a:srgbClr val="FF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HR Forms </a:t>
            </a:r>
          </a:p>
        </p:txBody>
      </p:sp>
      <p:sp>
        <p:nvSpPr>
          <p:cNvPr id="394268" name="Rectangle 28"/>
          <p:cNvSpPr>
            <a:spLocks noChangeArrowheads="1"/>
          </p:cNvSpPr>
          <p:nvPr/>
        </p:nvSpPr>
        <p:spPr bwMode="auto">
          <a:xfrm flipV="1">
            <a:off x="5562600" y="4648200"/>
            <a:ext cx="1600200" cy="762000"/>
          </a:xfrm>
          <a:prstGeom prst="rect">
            <a:avLst/>
          </a:prstGeom>
          <a:solidFill>
            <a:srgbClr val="FF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Payroll System</a:t>
            </a:r>
          </a:p>
          <a:p>
            <a:pPr marL="174625" indent="-174625" eaLnBrk="1" hangingPunct="1">
              <a:buFont typeface="Wingdings" pitchFamily="2" charset="2"/>
              <a:buChar char="q"/>
            </a:pPr>
            <a:r>
              <a:rPr lang="en-US" sz="900">
                <a:latin typeface="Arial" charset="0"/>
                <a:cs typeface="Arial" charset="0"/>
              </a:rPr>
              <a:t>Staff Receivable Syst</a:t>
            </a:r>
          </a:p>
          <a:p>
            <a:pPr marL="174625" indent="-174625" eaLnBrk="1" hangingPunct="1">
              <a:buFont typeface="Wingdings" pitchFamily="2" charset="2"/>
              <a:buChar char="q"/>
            </a:pPr>
            <a:r>
              <a:rPr lang="en-US" sz="900">
                <a:latin typeface="Arial" charset="0"/>
                <a:cs typeface="Arial" charset="0"/>
              </a:rPr>
              <a:t>TRS</a:t>
            </a:r>
          </a:p>
          <a:p>
            <a:pPr marL="174625" indent="-174625" eaLnBrk="1" hangingPunct="1">
              <a:buFont typeface="Wingdings" pitchFamily="2" charset="2"/>
              <a:buChar char="q"/>
            </a:pPr>
            <a:r>
              <a:rPr lang="en-US" sz="900">
                <a:latin typeface="Arial" charset="0"/>
                <a:cs typeface="Arial" charset="0"/>
              </a:rPr>
              <a:t>Post Allowance Syst</a:t>
            </a:r>
          </a:p>
          <a:p>
            <a:pPr marL="174625" indent="-174625" eaLnBrk="1" hangingPunct="1">
              <a:buFont typeface="Wingdings" pitchFamily="2" charset="2"/>
              <a:buChar char="q"/>
            </a:pPr>
            <a:endParaRPr lang="en-US" sz="900">
              <a:latin typeface="Arial" charset="0"/>
              <a:cs typeface="Arial" charset="0"/>
            </a:endParaRPr>
          </a:p>
        </p:txBody>
      </p:sp>
      <p:sp>
        <p:nvSpPr>
          <p:cNvPr id="394269" name="Rectangle 29"/>
          <p:cNvSpPr>
            <a:spLocks noChangeArrowheads="1"/>
          </p:cNvSpPr>
          <p:nvPr/>
        </p:nvSpPr>
        <p:spPr bwMode="auto">
          <a:xfrm flipV="1">
            <a:off x="3810000" y="5486400"/>
            <a:ext cx="1600200" cy="838200"/>
          </a:xfrm>
          <a:prstGeom prst="rect">
            <a:avLst/>
          </a:prstGeom>
          <a:solidFill>
            <a:srgbClr val="CCECFF"/>
          </a:solidFill>
          <a:ln w="9525">
            <a:solidFill>
              <a:schemeClr val="tx1"/>
            </a:solidFill>
            <a:miter lim="800000"/>
            <a:headEnd/>
            <a:tailEnd/>
          </a:ln>
          <a:effectLst/>
        </p:spPr>
        <p:txBody>
          <a:bodyPr rot="10800000" wrap="none" anchor="ctr"/>
          <a:lstStyle/>
          <a:p>
            <a:pPr marL="174625" indent="-174625" eaLnBrk="1" hangingPunct="1"/>
            <a:r>
              <a:rPr lang="en-US" sz="900">
                <a:latin typeface="Arial" charset="0"/>
                <a:cs typeface="Arial" charset="0"/>
              </a:rPr>
              <a:t>W2K, Domino, PeopleSoft,</a:t>
            </a:r>
          </a:p>
          <a:p>
            <a:pPr marL="174625" indent="-174625" eaLnBrk="1" hangingPunct="1"/>
            <a:r>
              <a:rPr lang="en-US" sz="900">
                <a:latin typeface="Arial" charset="0"/>
                <a:cs typeface="Arial" charset="0"/>
              </a:rPr>
              <a:t>ASP, Oracle, Power Builder</a:t>
            </a:r>
          </a:p>
        </p:txBody>
      </p:sp>
      <p:sp>
        <p:nvSpPr>
          <p:cNvPr id="394270" name="Rectangle 30"/>
          <p:cNvSpPr>
            <a:spLocks noChangeArrowheads="1"/>
          </p:cNvSpPr>
          <p:nvPr/>
        </p:nvSpPr>
        <p:spPr bwMode="auto">
          <a:xfrm>
            <a:off x="2057400" y="1219200"/>
            <a:ext cx="1600200" cy="990600"/>
          </a:xfrm>
          <a:prstGeom prst="rect">
            <a:avLst/>
          </a:prstGeom>
          <a:solidFill>
            <a:srgbClr val="CCCCFF"/>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Leave and Attendance</a:t>
            </a:r>
          </a:p>
          <a:p>
            <a:pPr marL="174625" indent="-174625" eaLnBrk="1" hangingPunct="1">
              <a:buFont typeface="Wingdings" pitchFamily="2" charset="2"/>
              <a:buChar char="q"/>
            </a:pPr>
            <a:r>
              <a:rPr lang="en-US" sz="900">
                <a:latin typeface="Arial" charset="0"/>
                <a:cs typeface="Arial" charset="0"/>
              </a:rPr>
              <a:t>TAX Computation</a:t>
            </a:r>
          </a:p>
          <a:p>
            <a:pPr marL="174625" indent="-174625" eaLnBrk="1" hangingPunct="1">
              <a:buFont typeface="Wingdings" pitchFamily="2" charset="2"/>
              <a:buChar char="q"/>
            </a:pPr>
            <a:r>
              <a:rPr lang="en-US" sz="900">
                <a:latin typeface="Arial" charset="0"/>
                <a:cs typeface="Arial" charset="0"/>
              </a:rPr>
              <a:t>Staff Learning/Training</a:t>
            </a:r>
          </a:p>
          <a:p>
            <a:pPr marL="174625" indent="-174625" eaLnBrk="1" hangingPunct="1">
              <a:buFont typeface="Wingdings" pitchFamily="2" charset="2"/>
              <a:buChar char="q"/>
            </a:pPr>
            <a:r>
              <a:rPr lang="en-US" sz="900">
                <a:latin typeface="Arial" charset="0"/>
                <a:cs typeface="Arial" charset="0"/>
              </a:rPr>
              <a:t>Parking, health services</a:t>
            </a:r>
          </a:p>
          <a:p>
            <a:pPr marL="174625" indent="-174625" eaLnBrk="1" hangingPunct="1">
              <a:buFont typeface="Wingdings" pitchFamily="2" charset="2"/>
              <a:buChar char="q"/>
            </a:pPr>
            <a:r>
              <a:rPr lang="en-US" sz="900">
                <a:latin typeface="Arial" charset="0"/>
                <a:cs typeface="Arial" charset="0"/>
              </a:rPr>
              <a:t>Pension</a:t>
            </a:r>
          </a:p>
          <a:p>
            <a:pPr marL="174625" indent="-174625" eaLnBrk="1" hangingPunct="1">
              <a:buFont typeface="Wingdings" pitchFamily="2" charset="2"/>
              <a:buChar char="q"/>
            </a:pPr>
            <a:r>
              <a:rPr lang="en-US" sz="900">
                <a:latin typeface="Arial" charset="0"/>
                <a:cs typeface="Arial" charset="0"/>
              </a:rPr>
              <a:t>Benefits Administration</a:t>
            </a:r>
          </a:p>
          <a:p>
            <a:pPr marL="174625" indent="-174625" eaLnBrk="1" hangingPunct="1">
              <a:buFont typeface="Wingdings" pitchFamily="2" charset="2"/>
              <a:buChar char="q"/>
            </a:pPr>
            <a:endParaRPr lang="en-US" sz="900">
              <a:latin typeface="Arial" charset="0"/>
              <a:cs typeface="Arial" charset="0"/>
            </a:endParaRPr>
          </a:p>
        </p:txBody>
      </p:sp>
      <p:sp>
        <p:nvSpPr>
          <p:cNvPr id="394271" name="Rectangle 31"/>
          <p:cNvSpPr>
            <a:spLocks noChangeArrowheads="1"/>
          </p:cNvSpPr>
          <p:nvPr/>
        </p:nvSpPr>
        <p:spPr bwMode="auto">
          <a:xfrm>
            <a:off x="3810000" y="1219200"/>
            <a:ext cx="1600200" cy="990600"/>
          </a:xfrm>
          <a:prstGeom prst="rect">
            <a:avLst/>
          </a:prstGeom>
          <a:solidFill>
            <a:srgbClr val="CCECFF"/>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r>
              <a:rPr lang="en-US" sz="900">
                <a:latin typeface="Arial" charset="0"/>
                <a:cs typeface="Arial" charset="0"/>
              </a:rPr>
              <a:t>OPE Performance Mgt</a:t>
            </a:r>
          </a:p>
          <a:p>
            <a:pPr marL="174625" indent="-174625" eaLnBrk="1" hangingPunct="1">
              <a:buFont typeface="Wingdings" pitchFamily="2" charset="2"/>
              <a:buChar char="q"/>
            </a:pPr>
            <a:r>
              <a:rPr lang="en-US" sz="900">
                <a:latin typeface="Arial" charset="0"/>
                <a:cs typeface="Arial" charset="0"/>
              </a:rPr>
              <a:t>Performance Awards</a:t>
            </a:r>
          </a:p>
          <a:p>
            <a:pPr marL="174625" indent="-174625" eaLnBrk="1" hangingPunct="1">
              <a:buFont typeface="Wingdings" pitchFamily="2" charset="2"/>
              <a:buChar char="q"/>
            </a:pPr>
            <a:r>
              <a:rPr lang="en-US" sz="900">
                <a:latin typeface="Arial" charset="0"/>
                <a:cs typeface="Arial" charset="0"/>
              </a:rPr>
              <a:t>Awards for Excellence</a:t>
            </a:r>
          </a:p>
        </p:txBody>
      </p:sp>
      <p:sp>
        <p:nvSpPr>
          <p:cNvPr id="394272" name="Rectangle 32"/>
          <p:cNvSpPr>
            <a:spLocks noChangeArrowheads="1"/>
          </p:cNvSpPr>
          <p:nvPr/>
        </p:nvSpPr>
        <p:spPr bwMode="auto">
          <a:xfrm flipV="1">
            <a:off x="5562600" y="5486400"/>
            <a:ext cx="1600200" cy="838200"/>
          </a:xfrm>
          <a:prstGeom prst="rect">
            <a:avLst/>
          </a:prstGeom>
          <a:solidFill>
            <a:srgbClr val="FFCCFF"/>
          </a:solidFill>
          <a:ln w="9525">
            <a:solidFill>
              <a:schemeClr val="tx1"/>
            </a:solidFill>
            <a:miter lim="800000"/>
            <a:headEnd/>
            <a:tailEnd/>
          </a:ln>
          <a:effectLst/>
        </p:spPr>
        <p:txBody>
          <a:bodyPr rot="10800000" wrap="none" anchor="ctr"/>
          <a:lstStyle/>
          <a:p>
            <a:pPr marL="174625" indent="-174625" eaLnBrk="1" hangingPunct="1"/>
            <a:endParaRPr lang="en-US" sz="900">
              <a:latin typeface="Arial" charset="0"/>
              <a:cs typeface="Arial" charset="0"/>
            </a:endParaRPr>
          </a:p>
          <a:p>
            <a:pPr marL="174625" indent="-174625" eaLnBrk="1" hangingPunct="1"/>
            <a:r>
              <a:rPr lang="en-US" sz="900">
                <a:latin typeface="Arial" charset="0"/>
                <a:cs typeface="Arial" charset="0"/>
              </a:rPr>
              <a:t>PeopleSoft, Solaris, </a:t>
            </a:r>
          </a:p>
          <a:p>
            <a:pPr marL="174625" indent="-174625" eaLnBrk="1" hangingPunct="1"/>
            <a:r>
              <a:rPr lang="en-US" sz="900">
                <a:latin typeface="Arial" charset="0"/>
                <a:cs typeface="Arial" charset="0"/>
              </a:rPr>
              <a:t>WebSphere, IHS, Oracle,</a:t>
            </a:r>
          </a:p>
          <a:p>
            <a:pPr marL="174625" indent="-174625" eaLnBrk="1" hangingPunct="1"/>
            <a:r>
              <a:rPr lang="en-US" sz="900">
                <a:latin typeface="Arial" charset="0"/>
                <a:cs typeface="Arial" charset="0"/>
              </a:rPr>
              <a:t>SAP, Edge Server, AIX,</a:t>
            </a:r>
          </a:p>
          <a:p>
            <a:pPr marL="174625" indent="-174625" eaLnBrk="1" hangingPunct="1"/>
            <a:r>
              <a:rPr lang="en-US" sz="900">
                <a:latin typeface="Arial" charset="0"/>
                <a:cs typeface="Arial" charset="0"/>
              </a:rPr>
              <a:t>Oracle</a:t>
            </a:r>
          </a:p>
          <a:p>
            <a:pPr marL="174625" indent="-174625" eaLnBrk="1" hangingPunct="1"/>
            <a:endParaRPr lang="en-US" sz="900">
              <a:latin typeface="Arial" charset="0"/>
              <a:cs typeface="Arial" charset="0"/>
            </a:endParaRPr>
          </a:p>
          <a:p>
            <a:pPr marL="174625" indent="-174625" eaLnBrk="1" hangingPunct="1"/>
            <a:endParaRPr lang="en-US" sz="900">
              <a:latin typeface="Arial" charset="0"/>
              <a:cs typeface="Arial" charset="0"/>
            </a:endParaRPr>
          </a:p>
        </p:txBody>
      </p:sp>
      <p:sp>
        <p:nvSpPr>
          <p:cNvPr id="394273" name="Rectangle 33"/>
          <p:cNvSpPr>
            <a:spLocks noChangeArrowheads="1"/>
          </p:cNvSpPr>
          <p:nvPr/>
        </p:nvSpPr>
        <p:spPr bwMode="auto">
          <a:xfrm>
            <a:off x="304800" y="1219200"/>
            <a:ext cx="1600200" cy="990600"/>
          </a:xfrm>
          <a:prstGeom prst="rect">
            <a:avLst/>
          </a:prstGeom>
          <a:solidFill>
            <a:srgbClr val="CCFFCC"/>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Job Information</a:t>
            </a:r>
          </a:p>
          <a:p>
            <a:pPr marL="174625" indent="-174625" eaLnBrk="1" hangingPunct="1">
              <a:buFont typeface="Wingdings" pitchFamily="2" charset="2"/>
              <a:buChar char="q"/>
            </a:pPr>
            <a:r>
              <a:rPr lang="en-US" sz="900">
                <a:latin typeface="Arial" charset="0"/>
                <a:cs typeface="Arial" charset="0"/>
              </a:rPr>
              <a:t>Agency Recruitment</a:t>
            </a:r>
          </a:p>
          <a:p>
            <a:pPr marL="174625" indent="-174625" eaLnBrk="1" hangingPunct="1">
              <a:buFont typeface="Wingdings" pitchFamily="2" charset="2"/>
              <a:buChar char="q"/>
            </a:pPr>
            <a:r>
              <a:rPr lang="en-US" sz="900">
                <a:latin typeface="Arial" charset="0"/>
                <a:cs typeface="Arial" charset="0"/>
              </a:rPr>
              <a:t>Consultant  &amp; Staff app.</a:t>
            </a:r>
          </a:p>
          <a:p>
            <a:pPr marL="174625" indent="-174625" eaLnBrk="1" hangingPunct="1">
              <a:buFont typeface="Wingdings" pitchFamily="2" charset="2"/>
              <a:buChar char="q"/>
            </a:pPr>
            <a:r>
              <a:rPr lang="en-US" sz="900">
                <a:latin typeface="Arial" charset="0"/>
                <a:cs typeface="Arial" charset="0"/>
              </a:rPr>
              <a:t>YP/JPA Recruitment</a:t>
            </a:r>
          </a:p>
          <a:p>
            <a:pPr marL="174625" indent="-174625" eaLnBrk="1" hangingPunct="1">
              <a:buFont typeface="Wingdings" pitchFamily="2" charset="2"/>
              <a:buChar char="q"/>
            </a:pPr>
            <a:r>
              <a:rPr lang="en-US" sz="900">
                <a:latin typeface="Arial" charset="0"/>
                <a:cs typeface="Arial" charset="0"/>
              </a:rPr>
              <a:t>HARP Retiree</a:t>
            </a:r>
          </a:p>
          <a:p>
            <a:pPr marL="174625" indent="-174625" eaLnBrk="1" hangingPunct="1">
              <a:buFont typeface="Wingdings" pitchFamily="2" charset="2"/>
              <a:buChar char="q"/>
            </a:pPr>
            <a:r>
              <a:rPr lang="en-US" sz="900">
                <a:latin typeface="Arial" charset="0"/>
                <a:cs typeface="Arial" charset="0"/>
              </a:rPr>
              <a:t>E-recruitment</a:t>
            </a:r>
          </a:p>
        </p:txBody>
      </p:sp>
      <p:sp>
        <p:nvSpPr>
          <p:cNvPr id="394274" name="Rectangle 34"/>
          <p:cNvSpPr>
            <a:spLocks noChangeArrowheads="1"/>
          </p:cNvSpPr>
          <p:nvPr/>
        </p:nvSpPr>
        <p:spPr bwMode="auto">
          <a:xfrm flipV="1">
            <a:off x="304800" y="2286000"/>
            <a:ext cx="1600200" cy="1066800"/>
          </a:xfrm>
          <a:prstGeom prst="rect">
            <a:avLst/>
          </a:prstGeom>
          <a:solidFill>
            <a:srgbClr val="CC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r>
              <a:rPr lang="en-US" sz="900">
                <a:latin typeface="Arial" charset="0"/>
                <a:cs typeface="Arial" charset="0"/>
              </a:rPr>
              <a:t>HR officer prepares</a:t>
            </a:r>
          </a:p>
        </p:txBody>
      </p:sp>
      <p:sp>
        <p:nvSpPr>
          <p:cNvPr id="394275" name="Rectangle 35"/>
          <p:cNvSpPr>
            <a:spLocks noChangeArrowheads="1"/>
          </p:cNvSpPr>
          <p:nvPr/>
        </p:nvSpPr>
        <p:spPr bwMode="auto">
          <a:xfrm flipV="1">
            <a:off x="304800" y="3429000"/>
            <a:ext cx="1600200" cy="1143000"/>
          </a:xfrm>
          <a:prstGeom prst="rect">
            <a:avLst/>
          </a:prstGeom>
          <a:solidFill>
            <a:srgbClr val="CC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r>
              <a:rPr lang="en-US" sz="900">
                <a:latin typeface="Arial" charset="0"/>
                <a:cs typeface="Arial" charset="0"/>
              </a:rPr>
              <a:t>HR Forms       </a:t>
            </a:r>
          </a:p>
        </p:txBody>
      </p:sp>
      <p:sp>
        <p:nvSpPr>
          <p:cNvPr id="394276" name="Rectangle 36"/>
          <p:cNvSpPr>
            <a:spLocks noChangeArrowheads="1"/>
          </p:cNvSpPr>
          <p:nvPr/>
        </p:nvSpPr>
        <p:spPr bwMode="auto">
          <a:xfrm flipV="1">
            <a:off x="304800" y="5486400"/>
            <a:ext cx="1600200" cy="838200"/>
          </a:xfrm>
          <a:prstGeom prst="rect">
            <a:avLst/>
          </a:prstGeom>
          <a:solidFill>
            <a:srgbClr val="CCFFCC"/>
          </a:solidFill>
          <a:ln w="9525">
            <a:solidFill>
              <a:schemeClr val="tx1"/>
            </a:solidFill>
            <a:miter lim="800000"/>
            <a:headEnd/>
            <a:tailEnd/>
          </a:ln>
          <a:effectLst/>
        </p:spPr>
        <p:txBody>
          <a:bodyPr rot="10800000" wrap="none" anchor="ctr"/>
          <a:lstStyle/>
          <a:p>
            <a:pPr marL="174625" indent="-174625" algn="ctr" eaLnBrk="1" hangingPunct="1"/>
            <a:r>
              <a:rPr lang="en-US" sz="900">
                <a:latin typeface="Arial" charset="0"/>
                <a:cs typeface="Arial" charset="0"/>
              </a:rPr>
              <a:t>W2K, Domino, W2K, IIS5, </a:t>
            </a:r>
          </a:p>
          <a:p>
            <a:pPr marL="174625" indent="-174625" algn="ctr" eaLnBrk="1" hangingPunct="1"/>
            <a:r>
              <a:rPr lang="en-US" sz="900">
                <a:latin typeface="Arial" charset="0"/>
                <a:cs typeface="Arial" charset="0"/>
              </a:rPr>
              <a:t>ASP, Oracle, Edge Server</a:t>
            </a:r>
          </a:p>
        </p:txBody>
      </p:sp>
      <p:sp>
        <p:nvSpPr>
          <p:cNvPr id="394277" name="Rectangle 37"/>
          <p:cNvSpPr>
            <a:spLocks noChangeArrowheads="1"/>
          </p:cNvSpPr>
          <p:nvPr/>
        </p:nvSpPr>
        <p:spPr bwMode="auto">
          <a:xfrm flipV="1">
            <a:off x="304800" y="4648200"/>
            <a:ext cx="1600200" cy="762000"/>
          </a:xfrm>
          <a:prstGeom prst="rect">
            <a:avLst/>
          </a:prstGeom>
          <a:solidFill>
            <a:srgbClr val="CC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Job World</a:t>
            </a:r>
          </a:p>
          <a:p>
            <a:pPr marL="174625" indent="-174625" eaLnBrk="1" hangingPunct="1">
              <a:buFont typeface="Wingdings" pitchFamily="2" charset="2"/>
              <a:buChar char="q"/>
            </a:pPr>
            <a:r>
              <a:rPr lang="en-US" sz="900">
                <a:latin typeface="Arial" charset="0"/>
                <a:cs typeface="Arial" charset="0"/>
              </a:rPr>
              <a:t>CATS</a:t>
            </a:r>
          </a:p>
          <a:p>
            <a:pPr marL="174625" indent="-174625" eaLnBrk="1" hangingPunct="1">
              <a:buFont typeface="Wingdings" pitchFamily="2" charset="2"/>
              <a:buChar char="q"/>
            </a:pPr>
            <a:r>
              <a:rPr lang="en-US" sz="900">
                <a:latin typeface="Arial" charset="0"/>
                <a:cs typeface="Arial" charset="0"/>
              </a:rPr>
              <a:t>YP System, JPA</a:t>
            </a:r>
          </a:p>
          <a:p>
            <a:pPr marL="174625" indent="-174625" eaLnBrk="1" hangingPunct="1">
              <a:buFont typeface="Wingdings" pitchFamily="2" charset="2"/>
              <a:buChar char="q"/>
            </a:pPr>
            <a:r>
              <a:rPr lang="en-US" sz="900">
                <a:latin typeface="Arial" charset="0"/>
                <a:cs typeface="Arial" charset="0"/>
              </a:rPr>
              <a:t>FARP Retiree System</a:t>
            </a:r>
          </a:p>
          <a:p>
            <a:pPr marL="174625" indent="-174625" eaLnBrk="1" hangingPunct="1">
              <a:buFont typeface="Wingdings" pitchFamily="2" charset="2"/>
              <a:buChar char="q"/>
            </a:pPr>
            <a:r>
              <a:rPr lang="en-US" sz="900">
                <a:latin typeface="Arial" charset="0"/>
                <a:cs typeface="Arial" charset="0"/>
              </a:rPr>
              <a:t>eRecruit</a:t>
            </a:r>
          </a:p>
          <a:p>
            <a:pPr marL="174625" indent="-174625" eaLnBrk="1" hangingPunct="1">
              <a:buFont typeface="Wingdings" pitchFamily="2" charset="2"/>
              <a:buChar char="q"/>
            </a:pPr>
            <a:endParaRPr lang="en-US" sz="900">
              <a:latin typeface="Arial" charset="0"/>
              <a:cs typeface="Arial" charset="0"/>
            </a:endParaRPr>
          </a:p>
        </p:txBody>
      </p:sp>
      <p:sp>
        <p:nvSpPr>
          <p:cNvPr id="394278" name="Rectangle 38"/>
          <p:cNvSpPr>
            <a:spLocks noChangeArrowheads="1"/>
          </p:cNvSpPr>
          <p:nvPr/>
        </p:nvSpPr>
        <p:spPr bwMode="auto">
          <a:xfrm>
            <a:off x="7315200" y="1219200"/>
            <a:ext cx="1600200" cy="990600"/>
          </a:xfrm>
          <a:prstGeom prst="rect">
            <a:avLst/>
          </a:prstGeom>
          <a:solidFill>
            <a:srgbClr val="FFFFCC"/>
          </a:solidFill>
          <a:ln w="9525">
            <a:solidFill>
              <a:schemeClr val="tx1"/>
            </a:solidFill>
            <a:miter lim="800000"/>
            <a:headEnd/>
            <a:tailEnd/>
          </a:ln>
          <a:effectLst/>
        </p:spPr>
        <p:txBody>
          <a:bodyPr wrap="none" anchor="ctr"/>
          <a:lstStyle/>
          <a:p>
            <a:pPr marL="174625" indent="-174625" eaLnBrk="1" hangingPunct="1">
              <a:buFont typeface="Wingdings" pitchFamily="2" charset="2"/>
              <a:buChar char="q"/>
            </a:pPr>
            <a:r>
              <a:rPr lang="en-US" sz="900">
                <a:latin typeface="Arial" charset="0"/>
                <a:cs typeface="Arial" charset="0"/>
              </a:rPr>
              <a:t>HR Query</a:t>
            </a:r>
          </a:p>
          <a:p>
            <a:pPr marL="174625" indent="-174625" eaLnBrk="1" hangingPunct="1">
              <a:buFont typeface="Wingdings" pitchFamily="2" charset="2"/>
              <a:buChar char="q"/>
            </a:pPr>
            <a:r>
              <a:rPr lang="en-US" sz="900">
                <a:latin typeface="Arial" charset="0"/>
                <a:cs typeface="Arial" charset="0"/>
              </a:rPr>
              <a:t>HR Imaging</a:t>
            </a:r>
          </a:p>
          <a:p>
            <a:pPr marL="174625" indent="-174625" eaLnBrk="1" hangingPunct="1">
              <a:buFont typeface="Wingdings" pitchFamily="2" charset="2"/>
              <a:buChar char="q"/>
            </a:pPr>
            <a:r>
              <a:rPr lang="en-US" sz="900">
                <a:latin typeface="Arial" charset="0"/>
                <a:cs typeface="Arial" charset="0"/>
              </a:rPr>
              <a:t>HR Kiosk</a:t>
            </a:r>
          </a:p>
          <a:p>
            <a:pPr marL="174625" indent="-174625" eaLnBrk="1" hangingPunct="1">
              <a:buFont typeface="Wingdings" pitchFamily="2" charset="2"/>
              <a:buChar char="q"/>
            </a:pPr>
            <a:r>
              <a:rPr lang="en-US" sz="900">
                <a:latin typeface="Arial" charset="0"/>
                <a:cs typeface="Arial" charset="0"/>
              </a:rPr>
              <a:t>Internal Communications</a:t>
            </a:r>
          </a:p>
        </p:txBody>
      </p:sp>
      <p:sp>
        <p:nvSpPr>
          <p:cNvPr id="394279" name="Rectangle 39"/>
          <p:cNvSpPr>
            <a:spLocks noChangeArrowheads="1"/>
          </p:cNvSpPr>
          <p:nvPr/>
        </p:nvSpPr>
        <p:spPr bwMode="auto">
          <a:xfrm flipV="1">
            <a:off x="7315200" y="2286000"/>
            <a:ext cx="1600200" cy="1066800"/>
          </a:xfrm>
          <a:prstGeom prst="rect">
            <a:avLst/>
          </a:prstGeom>
          <a:solidFill>
            <a:srgbClr val="FF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r>
              <a:rPr lang="en-US" sz="900">
                <a:latin typeface="Arial" charset="0"/>
                <a:cs typeface="Arial" charset="0"/>
              </a:rPr>
              <a:t>Staff</a:t>
            </a:r>
          </a:p>
        </p:txBody>
      </p:sp>
      <p:sp>
        <p:nvSpPr>
          <p:cNvPr id="394280" name="Rectangle 40"/>
          <p:cNvSpPr>
            <a:spLocks noChangeArrowheads="1"/>
          </p:cNvSpPr>
          <p:nvPr/>
        </p:nvSpPr>
        <p:spPr bwMode="auto">
          <a:xfrm flipV="1">
            <a:off x="7315200" y="3429000"/>
            <a:ext cx="1600200" cy="1143000"/>
          </a:xfrm>
          <a:prstGeom prst="rect">
            <a:avLst/>
          </a:prstGeom>
          <a:solidFill>
            <a:srgbClr val="FF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endParaRPr lang="en-US" sz="900">
              <a:latin typeface="Arial" charset="0"/>
              <a:cs typeface="Arial" charset="0"/>
            </a:endParaRPr>
          </a:p>
          <a:p>
            <a:pPr marL="174625" indent="-174625" eaLnBrk="1" hangingPunct="1">
              <a:buFont typeface="Wingdings" pitchFamily="2" charset="2"/>
              <a:buChar char="q"/>
            </a:pPr>
            <a:r>
              <a:rPr lang="en-US" sz="900">
                <a:latin typeface="Arial" charset="0"/>
                <a:cs typeface="Arial" charset="0"/>
              </a:rPr>
              <a:t>HR Forms</a:t>
            </a:r>
          </a:p>
          <a:p>
            <a:pPr marL="174625" indent="-174625" eaLnBrk="1" hangingPunct="1">
              <a:buFont typeface="Wingdings" pitchFamily="2" charset="2"/>
              <a:buChar char="q"/>
            </a:pPr>
            <a:endParaRPr lang="en-US" sz="900">
              <a:latin typeface="Arial" charset="0"/>
              <a:cs typeface="Arial" charset="0"/>
            </a:endParaRPr>
          </a:p>
        </p:txBody>
      </p:sp>
      <p:sp>
        <p:nvSpPr>
          <p:cNvPr id="394281" name="Rectangle 41"/>
          <p:cNvSpPr>
            <a:spLocks noChangeArrowheads="1"/>
          </p:cNvSpPr>
          <p:nvPr/>
        </p:nvSpPr>
        <p:spPr bwMode="auto">
          <a:xfrm flipV="1">
            <a:off x="7315200" y="5486400"/>
            <a:ext cx="1600200" cy="838200"/>
          </a:xfrm>
          <a:prstGeom prst="rect">
            <a:avLst/>
          </a:prstGeom>
          <a:solidFill>
            <a:srgbClr val="FFFFCC"/>
          </a:solidFill>
          <a:ln w="9525">
            <a:solidFill>
              <a:schemeClr val="tx1"/>
            </a:solidFill>
            <a:miter lim="800000"/>
            <a:headEnd/>
            <a:tailEnd/>
          </a:ln>
          <a:effectLst/>
        </p:spPr>
        <p:txBody>
          <a:bodyPr rot="10800000" wrap="none" anchor="ctr"/>
          <a:lstStyle/>
          <a:p>
            <a:pPr marL="174625" indent="-174625" eaLnBrk="1" hangingPunct="1"/>
            <a:r>
              <a:rPr lang="en-US" sz="900">
                <a:latin typeface="Arial" charset="0"/>
                <a:cs typeface="Arial" charset="0"/>
              </a:rPr>
              <a:t>W2K, Domino, W2K, IIS5, </a:t>
            </a:r>
          </a:p>
          <a:p>
            <a:pPr marL="174625" indent="-174625" eaLnBrk="1" hangingPunct="1"/>
            <a:r>
              <a:rPr lang="en-US" sz="900">
                <a:latin typeface="Arial" charset="0"/>
                <a:cs typeface="Arial" charset="0"/>
              </a:rPr>
              <a:t>ASP, Oracle, Edge Server </a:t>
            </a:r>
          </a:p>
        </p:txBody>
      </p:sp>
      <p:sp>
        <p:nvSpPr>
          <p:cNvPr id="394282" name="Rectangle 42"/>
          <p:cNvSpPr>
            <a:spLocks noChangeArrowheads="1"/>
          </p:cNvSpPr>
          <p:nvPr/>
        </p:nvSpPr>
        <p:spPr bwMode="auto">
          <a:xfrm flipV="1">
            <a:off x="7315200" y="4648200"/>
            <a:ext cx="1600200" cy="762000"/>
          </a:xfrm>
          <a:prstGeom prst="rect">
            <a:avLst/>
          </a:prstGeom>
          <a:solidFill>
            <a:srgbClr val="FF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Char char="q"/>
            </a:pPr>
            <a:r>
              <a:rPr lang="en-US" sz="900">
                <a:latin typeface="Arial" charset="0"/>
                <a:cs typeface="Arial" charset="0"/>
              </a:rPr>
              <a:t>Yournet</a:t>
            </a:r>
          </a:p>
          <a:p>
            <a:pPr marL="174625" indent="-174625" eaLnBrk="1" hangingPunct="1">
              <a:buFont typeface="Wingdings" pitchFamily="2" charset="2"/>
              <a:buChar char="q"/>
            </a:pPr>
            <a:r>
              <a:rPr lang="en-US" sz="900">
                <a:latin typeface="Arial" charset="0"/>
                <a:cs typeface="Arial" charset="0"/>
              </a:rPr>
              <a:t>HR Query</a:t>
            </a:r>
          </a:p>
          <a:p>
            <a:pPr marL="174625" indent="-174625" eaLnBrk="1" hangingPunct="1">
              <a:buFont typeface="Wingdings" pitchFamily="2" charset="2"/>
              <a:buChar char="q"/>
            </a:pPr>
            <a:r>
              <a:rPr lang="en-US" sz="900">
                <a:latin typeface="Arial" charset="0"/>
                <a:cs typeface="Arial" charset="0"/>
              </a:rPr>
              <a:t>HR Imaging</a:t>
            </a:r>
          </a:p>
          <a:p>
            <a:pPr marL="174625" indent="-174625" eaLnBrk="1" hangingPunct="1">
              <a:buFont typeface="Wingdings" pitchFamily="2" charset="2"/>
              <a:buChar char="q"/>
            </a:pPr>
            <a:r>
              <a:rPr lang="en-US" sz="900">
                <a:latin typeface="Arial" charset="0"/>
                <a:cs typeface="Arial" charset="0"/>
              </a:rPr>
              <a:t>HR Kiosk</a:t>
            </a:r>
          </a:p>
        </p:txBody>
      </p:sp>
      <p:sp>
        <p:nvSpPr>
          <p:cNvPr id="394283" name="AutoShape 43"/>
          <p:cNvSpPr>
            <a:spLocks noChangeArrowheads="1"/>
          </p:cNvSpPr>
          <p:nvPr/>
        </p:nvSpPr>
        <p:spPr bwMode="auto">
          <a:xfrm>
            <a:off x="2209800" y="6858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4284" name="AutoShape 44"/>
          <p:cNvSpPr>
            <a:spLocks noChangeArrowheads="1"/>
          </p:cNvSpPr>
          <p:nvPr/>
        </p:nvSpPr>
        <p:spPr bwMode="auto">
          <a:xfrm>
            <a:off x="3810000" y="6858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4285" name="AutoShape 45"/>
          <p:cNvSpPr>
            <a:spLocks noChangeArrowheads="1"/>
          </p:cNvSpPr>
          <p:nvPr/>
        </p:nvSpPr>
        <p:spPr bwMode="auto">
          <a:xfrm>
            <a:off x="5562600" y="6858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4286" name="AutoShape 46"/>
          <p:cNvSpPr>
            <a:spLocks noChangeArrowheads="1"/>
          </p:cNvSpPr>
          <p:nvPr/>
        </p:nvSpPr>
        <p:spPr bwMode="auto">
          <a:xfrm>
            <a:off x="7239000" y="685800"/>
            <a:ext cx="381000" cy="76200"/>
          </a:xfrm>
          <a:prstGeom prst="rightArrow">
            <a:avLst>
              <a:gd name="adj1" fmla="val 50000"/>
              <a:gd name="adj2" fmla="val 125000"/>
            </a:avLst>
          </a:prstGeom>
          <a:solidFill>
            <a:schemeClr val="accent1"/>
          </a:solidFill>
          <a:ln w="9525">
            <a:solidFill>
              <a:schemeClr val="tx1"/>
            </a:solidFill>
            <a:miter lim="800000"/>
            <a:headEnd/>
            <a:tailEnd/>
          </a:ln>
          <a:effectLst/>
        </p:spPr>
        <p:txBody>
          <a:bodyPr wrap="none" anchor="ctr"/>
          <a:lstStyle/>
          <a:p>
            <a:endParaRPr lang="en-US"/>
          </a:p>
        </p:txBody>
      </p:sp>
      <p:sp>
        <p:nvSpPr>
          <p:cNvPr id="394287" name="Rectangle 47"/>
          <p:cNvSpPr>
            <a:spLocks noChangeArrowheads="1"/>
          </p:cNvSpPr>
          <p:nvPr/>
        </p:nvSpPr>
        <p:spPr bwMode="auto">
          <a:xfrm>
            <a:off x="304800" y="152400"/>
            <a:ext cx="8458200" cy="228600"/>
          </a:xfrm>
          <a:prstGeom prst="rect">
            <a:avLst/>
          </a:prstGeom>
          <a:solidFill>
            <a:srgbClr val="FFFFCC"/>
          </a:solidFill>
          <a:ln w="9525">
            <a:solidFill>
              <a:schemeClr val="tx1"/>
            </a:solidFill>
            <a:miter lim="800000"/>
            <a:headEnd/>
            <a:tailEnd/>
          </a:ln>
          <a:effectLst/>
        </p:spPr>
        <p:txBody>
          <a:bodyPr wrap="none" anchor="ctr"/>
          <a:lstStyle/>
          <a:p>
            <a:pPr marL="174625" indent="-174625" eaLnBrk="1" hangingPunct="1">
              <a:buFont typeface="Wingdings" pitchFamily="2" charset="2"/>
              <a:buNone/>
            </a:pPr>
            <a:r>
              <a:rPr lang="en-US" sz="1000" b="1" u="sng">
                <a:latin typeface="Arial" charset="0"/>
                <a:cs typeface="Arial" charset="0"/>
              </a:rPr>
              <a:t>Metrics for HR Management</a:t>
            </a:r>
            <a:r>
              <a:rPr lang="en-US" sz="1000" b="1">
                <a:latin typeface="Arial" charset="0"/>
                <a:cs typeface="Arial" charset="0"/>
              </a:rPr>
              <a:t>: OPE, Performance Award, Award for Excellence, Time, learning</a:t>
            </a:r>
            <a:endParaRPr lang="en-US" sz="1000">
              <a:latin typeface="Arial" charset="0"/>
              <a:cs typeface="Arial" charset="0"/>
            </a:endParaRPr>
          </a:p>
        </p:txBody>
      </p:sp>
      <p:sp>
        <p:nvSpPr>
          <p:cNvPr id="394288" name="Rectangle 48"/>
          <p:cNvSpPr>
            <a:spLocks noChangeArrowheads="1"/>
          </p:cNvSpPr>
          <p:nvPr/>
        </p:nvSpPr>
        <p:spPr bwMode="auto">
          <a:xfrm flipV="1">
            <a:off x="2057400" y="6400800"/>
            <a:ext cx="1600200" cy="228600"/>
          </a:xfrm>
          <a:prstGeom prst="rect">
            <a:avLst/>
          </a:prstGeom>
          <a:solidFill>
            <a:srgbClr val="CC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OPE, Perf. Award, A for Exc</a:t>
            </a:r>
          </a:p>
        </p:txBody>
      </p:sp>
      <p:sp>
        <p:nvSpPr>
          <p:cNvPr id="394289" name="Rectangle 49"/>
          <p:cNvSpPr>
            <a:spLocks noChangeArrowheads="1"/>
          </p:cNvSpPr>
          <p:nvPr/>
        </p:nvSpPr>
        <p:spPr bwMode="auto">
          <a:xfrm flipV="1">
            <a:off x="3810000" y="6400800"/>
            <a:ext cx="1600200" cy="228600"/>
          </a:xfrm>
          <a:prstGeom prst="rect">
            <a:avLst/>
          </a:prstGeom>
          <a:solidFill>
            <a:srgbClr val="CCE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Time</a:t>
            </a:r>
          </a:p>
        </p:txBody>
      </p:sp>
      <p:sp>
        <p:nvSpPr>
          <p:cNvPr id="394290" name="Rectangle 50"/>
          <p:cNvSpPr>
            <a:spLocks noChangeArrowheads="1"/>
          </p:cNvSpPr>
          <p:nvPr/>
        </p:nvSpPr>
        <p:spPr bwMode="auto">
          <a:xfrm flipV="1">
            <a:off x="5562600" y="6400800"/>
            <a:ext cx="1600200" cy="228600"/>
          </a:xfrm>
          <a:prstGeom prst="rect">
            <a:avLst/>
          </a:prstGeom>
          <a:solidFill>
            <a:srgbClr val="FFCCFF"/>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Time</a:t>
            </a:r>
          </a:p>
        </p:txBody>
      </p:sp>
      <p:sp>
        <p:nvSpPr>
          <p:cNvPr id="394291" name="Rectangle 51"/>
          <p:cNvSpPr>
            <a:spLocks noChangeArrowheads="1"/>
          </p:cNvSpPr>
          <p:nvPr/>
        </p:nvSpPr>
        <p:spPr bwMode="auto">
          <a:xfrm flipV="1">
            <a:off x="7315200" y="6400800"/>
            <a:ext cx="1600200" cy="228600"/>
          </a:xfrm>
          <a:prstGeom prst="rect">
            <a:avLst/>
          </a:prstGeom>
          <a:solidFill>
            <a:srgbClr val="FF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learning</a:t>
            </a:r>
          </a:p>
        </p:txBody>
      </p:sp>
      <p:sp>
        <p:nvSpPr>
          <p:cNvPr id="394292" name="Rectangle 52"/>
          <p:cNvSpPr>
            <a:spLocks noChangeArrowheads="1"/>
          </p:cNvSpPr>
          <p:nvPr/>
        </p:nvSpPr>
        <p:spPr bwMode="auto">
          <a:xfrm flipV="1">
            <a:off x="304800" y="6400800"/>
            <a:ext cx="1600200" cy="228600"/>
          </a:xfrm>
          <a:prstGeom prst="rect">
            <a:avLst/>
          </a:prstGeom>
          <a:solidFill>
            <a:srgbClr val="CCFFCC"/>
          </a:solidFill>
          <a:ln w="9525">
            <a:solidFill>
              <a:schemeClr val="tx1"/>
            </a:solidFill>
            <a:miter lim="800000"/>
            <a:headEnd/>
            <a:tailEnd/>
          </a:ln>
          <a:effectLst/>
        </p:spPr>
        <p:txBody>
          <a:bodyPr rot="10800000" wrap="none" anchor="ctr"/>
          <a:lstStyle/>
          <a:p>
            <a:pPr marL="174625" indent="-174625" eaLnBrk="1" hangingPunct="1">
              <a:buFont typeface="Wingdings" pitchFamily="2" charset="2"/>
              <a:buNone/>
            </a:pPr>
            <a:r>
              <a:rPr lang="en-US" sz="900">
                <a:latin typeface="Arial" charset="0"/>
                <a:cs typeface="Arial" charset="0"/>
              </a:rPr>
              <a:t>Time</a:t>
            </a:r>
          </a:p>
        </p:txBody>
      </p:sp>
      <p:sp>
        <p:nvSpPr>
          <p:cNvPr id="394293" name="Text Box 53"/>
          <p:cNvSpPr txBox="1">
            <a:spLocks noChangeArrowheads="1"/>
          </p:cNvSpPr>
          <p:nvPr/>
        </p:nvSpPr>
        <p:spPr bwMode="auto">
          <a:xfrm rot="16200000">
            <a:off x="-167481" y="6415881"/>
            <a:ext cx="609600" cy="274638"/>
          </a:xfrm>
          <a:prstGeom prst="rect">
            <a:avLst/>
          </a:prstGeom>
          <a:noFill/>
          <a:ln w="9525">
            <a:noFill/>
            <a:miter lim="800000"/>
            <a:headEnd/>
            <a:tailEnd/>
          </a:ln>
          <a:effectLst/>
        </p:spPr>
        <p:txBody>
          <a:bodyPr>
            <a:spAutoFit/>
          </a:bodyPr>
          <a:lstStyle/>
          <a:p>
            <a:pPr eaLnBrk="1" hangingPunct="1"/>
            <a:r>
              <a:rPr lang="en-US" sz="1200">
                <a:latin typeface="Arial" charset="0"/>
                <a:cs typeface="Arial" charset="0"/>
              </a:rPr>
              <a:t>Metric  </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p:txBody>
          <a:bodyPr/>
          <a:lstStyle/>
          <a:p>
            <a:r>
              <a:rPr lang="en-US" sz="3200">
                <a:latin typeface="Arial Narrow" pitchFamily="34" charset="0"/>
              </a:rPr>
              <a:t>Current State – Business Process Models</a:t>
            </a:r>
          </a:p>
        </p:txBody>
      </p:sp>
      <p:sp>
        <p:nvSpPr>
          <p:cNvPr id="427011" name="Rectangle 3"/>
          <p:cNvSpPr>
            <a:spLocks noGrp="1" noChangeArrowheads="1"/>
          </p:cNvSpPr>
          <p:nvPr>
            <p:ph type="body" idx="1"/>
          </p:nvPr>
        </p:nvSpPr>
        <p:spPr/>
        <p:txBody>
          <a:bodyPr/>
          <a:lstStyle/>
          <a:p>
            <a:pPr>
              <a:lnSpc>
                <a:spcPct val="80000"/>
              </a:lnSpc>
            </a:pPr>
            <a:r>
              <a:rPr lang="en-US" sz="2000">
                <a:latin typeface="Arial Narrow" pitchFamily="34" charset="0"/>
              </a:rPr>
              <a:t>Current status of business process modeling..</a:t>
            </a:r>
          </a:p>
          <a:p>
            <a:pPr>
              <a:lnSpc>
                <a:spcPct val="80000"/>
              </a:lnSpc>
            </a:pPr>
            <a:endParaRPr lang="en-US" sz="2000">
              <a:latin typeface="Arial Narrow" pitchFamily="34" charset="0"/>
            </a:endParaRPr>
          </a:p>
          <a:p>
            <a:pPr lvl="1">
              <a:lnSpc>
                <a:spcPct val="80000"/>
              </a:lnSpc>
            </a:pPr>
            <a:r>
              <a:rPr lang="en-US" sz="2000">
                <a:latin typeface="Arial Narrow" pitchFamily="34" charset="0"/>
              </a:rPr>
              <a:t>Business process models exist for some business processes but they are represented at varying levels of detail, quality and focus</a:t>
            </a:r>
          </a:p>
          <a:p>
            <a:pPr lvl="1">
              <a:lnSpc>
                <a:spcPct val="80000"/>
              </a:lnSpc>
            </a:pPr>
            <a:r>
              <a:rPr lang="en-US" sz="2000">
                <a:latin typeface="Arial Narrow" pitchFamily="34" charset="0"/>
              </a:rPr>
              <a:t>In other cases, business processes are described as documentation (business procedures, administrative manuals, operational procedures, etc.)</a:t>
            </a:r>
          </a:p>
          <a:p>
            <a:pPr lvl="1">
              <a:lnSpc>
                <a:spcPct val="80000"/>
              </a:lnSpc>
            </a:pPr>
            <a:r>
              <a:rPr lang="en-US" sz="2000">
                <a:latin typeface="Arial Narrow" pitchFamily="34" charset="0"/>
              </a:rPr>
              <a:t>For some processes, there are neither models nor procedural documentation</a:t>
            </a:r>
          </a:p>
          <a:p>
            <a:pPr>
              <a:lnSpc>
                <a:spcPct val="80000"/>
              </a:lnSpc>
            </a:pPr>
            <a:endParaRPr lang="en-US" sz="2000">
              <a:latin typeface="Arial Narrow" pitchFamily="34" charset="0"/>
            </a:endParaRPr>
          </a:p>
          <a:p>
            <a:pPr>
              <a:lnSpc>
                <a:spcPct val="80000"/>
              </a:lnSpc>
            </a:pPr>
            <a:r>
              <a:rPr lang="en-US" sz="2000">
                <a:latin typeface="Arial Narrow" pitchFamily="34" charset="0"/>
              </a:rPr>
              <a:t>Recommend that as business analysts work with clients, they conduct a systematic inventory of business process models to…</a:t>
            </a:r>
          </a:p>
          <a:p>
            <a:pPr>
              <a:lnSpc>
                <a:spcPct val="80000"/>
              </a:lnSpc>
            </a:pPr>
            <a:endParaRPr lang="en-US" sz="2000">
              <a:latin typeface="Arial Narrow" pitchFamily="34" charset="0"/>
            </a:endParaRPr>
          </a:p>
          <a:p>
            <a:pPr lvl="1">
              <a:lnSpc>
                <a:spcPct val="80000"/>
              </a:lnSpc>
            </a:pPr>
            <a:r>
              <a:rPr lang="en-US" sz="2000">
                <a:latin typeface="Arial Narrow" pitchFamily="34" charset="0"/>
              </a:rPr>
              <a:t>Identify what exists and what is needed to harmonize it</a:t>
            </a:r>
          </a:p>
          <a:p>
            <a:pPr lvl="1">
              <a:lnSpc>
                <a:spcPct val="80000"/>
              </a:lnSpc>
            </a:pPr>
            <a:r>
              <a:rPr lang="en-US" sz="2000">
                <a:latin typeface="Arial Narrow" pitchFamily="34" charset="0"/>
              </a:rPr>
              <a:t>Identify gaps in existing processes </a:t>
            </a:r>
          </a:p>
          <a:p>
            <a:pPr lvl="1">
              <a:lnSpc>
                <a:spcPct val="80000"/>
              </a:lnSpc>
            </a:pPr>
            <a:r>
              <a:rPr lang="en-US" sz="2000">
                <a:latin typeface="Arial Narrow" pitchFamily="34" charset="0"/>
              </a:rPr>
              <a:t>Determine what is needed to fill the gaps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p:cNvSpPr>
            <a:spLocks noGrp="1" noChangeArrowheads="1"/>
          </p:cNvSpPr>
          <p:nvPr>
            <p:ph type="title"/>
          </p:nvPr>
        </p:nvSpPr>
        <p:spPr/>
        <p:txBody>
          <a:bodyPr/>
          <a:lstStyle/>
          <a:p>
            <a:r>
              <a:rPr lang="en-US" sz="3200">
                <a:latin typeface="Arial Narrow" pitchFamily="34" charset="0"/>
              </a:rPr>
              <a:t>Business Process Model Registry</a:t>
            </a:r>
          </a:p>
        </p:txBody>
      </p:sp>
      <p:sp>
        <p:nvSpPr>
          <p:cNvPr id="336899" name="Rectangle 3"/>
          <p:cNvSpPr>
            <a:spLocks noGrp="1" noChangeArrowheads="1"/>
          </p:cNvSpPr>
          <p:nvPr>
            <p:ph type="body" idx="1"/>
          </p:nvPr>
        </p:nvSpPr>
        <p:spPr>
          <a:xfrm>
            <a:off x="457200" y="1905000"/>
            <a:ext cx="8229600" cy="4495800"/>
          </a:xfrm>
        </p:spPr>
        <p:txBody>
          <a:bodyPr/>
          <a:lstStyle/>
          <a:p>
            <a:pPr>
              <a:lnSpc>
                <a:spcPct val="80000"/>
              </a:lnSpc>
            </a:pPr>
            <a:r>
              <a:rPr lang="en-US" sz="2000">
                <a:latin typeface="Arial Narrow" pitchFamily="34" charset="0"/>
              </a:rPr>
              <a:t>Design an enterprise level repository for business process models consistent with enterprise architecture best practices</a:t>
            </a:r>
          </a:p>
          <a:p>
            <a:pPr>
              <a:lnSpc>
                <a:spcPct val="80000"/>
              </a:lnSpc>
            </a:pPr>
            <a:endParaRPr lang="en-US" sz="2000">
              <a:latin typeface="Arial Narrow" pitchFamily="34" charset="0"/>
            </a:endParaRPr>
          </a:p>
          <a:p>
            <a:pPr>
              <a:lnSpc>
                <a:spcPct val="80000"/>
              </a:lnSpc>
            </a:pPr>
            <a:r>
              <a:rPr lang="en-US" sz="2000">
                <a:latin typeface="Arial Narrow" pitchFamily="34" charset="0"/>
              </a:rPr>
              <a:t>Establish a registration and review process for all business process models which is consistent with the Business Architecture governance model</a:t>
            </a:r>
          </a:p>
          <a:p>
            <a:pPr>
              <a:lnSpc>
                <a:spcPct val="80000"/>
              </a:lnSpc>
            </a:pPr>
            <a:endParaRPr lang="en-US" sz="2000">
              <a:latin typeface="Arial Narrow" pitchFamily="34" charset="0"/>
            </a:endParaRPr>
          </a:p>
          <a:p>
            <a:pPr>
              <a:lnSpc>
                <a:spcPct val="80000"/>
              </a:lnSpc>
            </a:pPr>
            <a:r>
              <a:rPr lang="en-US" sz="2000">
                <a:latin typeface="Arial Narrow" pitchFamily="34" charset="0"/>
              </a:rPr>
              <a:t>Empower business analysts to:</a:t>
            </a:r>
          </a:p>
          <a:p>
            <a:pPr lvl="1">
              <a:lnSpc>
                <a:spcPct val="80000"/>
              </a:lnSpc>
            </a:pPr>
            <a:r>
              <a:rPr lang="en-US" sz="2000">
                <a:latin typeface="Arial Narrow" pitchFamily="34" charset="0"/>
              </a:rPr>
              <a:t>Discover and inventory existing business process models</a:t>
            </a:r>
          </a:p>
          <a:p>
            <a:pPr lvl="1">
              <a:lnSpc>
                <a:spcPct val="80000"/>
              </a:lnSpc>
            </a:pPr>
            <a:r>
              <a:rPr lang="en-US" sz="2000">
                <a:latin typeface="Arial Narrow" pitchFamily="34" charset="0"/>
              </a:rPr>
              <a:t>Identify redundant models</a:t>
            </a:r>
          </a:p>
          <a:p>
            <a:pPr lvl="1">
              <a:lnSpc>
                <a:spcPct val="80000"/>
              </a:lnSpc>
            </a:pPr>
            <a:r>
              <a:rPr lang="en-US" sz="2000">
                <a:latin typeface="Arial Narrow" pitchFamily="34" charset="0"/>
              </a:rPr>
              <a:t>Identify variations in practice </a:t>
            </a:r>
          </a:p>
          <a:p>
            <a:pPr lvl="1">
              <a:lnSpc>
                <a:spcPct val="80000"/>
              </a:lnSpc>
            </a:pPr>
            <a:r>
              <a:rPr lang="en-US" sz="2000">
                <a:latin typeface="Arial Narrow" pitchFamily="34" charset="0"/>
              </a:rPr>
              <a:t>Identify and link models that describe steps or subprocesses in the same business process</a:t>
            </a:r>
          </a:p>
          <a:p>
            <a:pPr lvl="1">
              <a:lnSpc>
                <a:spcPct val="80000"/>
              </a:lnSpc>
            </a:pPr>
            <a:r>
              <a:rPr lang="en-US" sz="2000">
                <a:latin typeface="Arial Narrow" pitchFamily="34" charset="0"/>
              </a:rPr>
              <a:t>Identify business processes which are not described by BP models</a:t>
            </a:r>
          </a:p>
          <a:p>
            <a:pPr>
              <a:lnSpc>
                <a:spcPct val="80000"/>
              </a:lnSpc>
            </a:pPr>
            <a:endParaRPr lang="en-US" sz="2000">
              <a:latin typeface="Arial Narrow"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a:lstStyle/>
          <a:p>
            <a:r>
              <a:rPr lang="en-US" sz="3200">
                <a:latin typeface="Arial Narrow" pitchFamily="34" charset="0"/>
              </a:rPr>
              <a:t>Standards-Based Modeling and Execution Languages</a:t>
            </a:r>
          </a:p>
        </p:txBody>
      </p:sp>
      <p:sp>
        <p:nvSpPr>
          <p:cNvPr id="419843" name="Rectangle 3"/>
          <p:cNvSpPr>
            <a:spLocks noGrp="1" noChangeArrowheads="1"/>
          </p:cNvSpPr>
          <p:nvPr>
            <p:ph type="body" idx="1"/>
          </p:nvPr>
        </p:nvSpPr>
        <p:spPr>
          <a:xfrm>
            <a:off x="457200" y="1828800"/>
            <a:ext cx="8229600" cy="4648200"/>
          </a:xfrm>
        </p:spPr>
        <p:txBody>
          <a:bodyPr/>
          <a:lstStyle/>
          <a:p>
            <a:pPr>
              <a:lnSpc>
                <a:spcPct val="90000"/>
              </a:lnSpc>
            </a:pPr>
            <a:r>
              <a:rPr lang="en-US" sz="2200">
                <a:latin typeface="Arial Narrow" pitchFamily="34" charset="0"/>
              </a:rPr>
              <a:t>Business architecture is implemented in degrees – it is possible to achieve a level of interoperability without having a fully deployed SOA if consistent  business semantics are used across applications</a:t>
            </a:r>
          </a:p>
          <a:p>
            <a:pPr>
              <a:lnSpc>
                <a:spcPct val="90000"/>
              </a:lnSpc>
            </a:pPr>
            <a:endParaRPr lang="en-US" sz="2200">
              <a:latin typeface="Arial Narrow" pitchFamily="34" charset="0"/>
            </a:endParaRPr>
          </a:p>
          <a:p>
            <a:pPr>
              <a:lnSpc>
                <a:spcPct val="90000"/>
              </a:lnSpc>
            </a:pPr>
            <a:r>
              <a:rPr lang="en-US" sz="2200">
                <a:latin typeface="Arial Narrow" pitchFamily="34" charset="0"/>
              </a:rPr>
              <a:t>However a fully developed business architecture presumes a cross application, business-oriented service oriented architecture which is grounded in standards</a:t>
            </a:r>
          </a:p>
          <a:p>
            <a:pPr>
              <a:lnSpc>
                <a:spcPct val="90000"/>
              </a:lnSpc>
            </a:pPr>
            <a:endParaRPr lang="en-US" sz="2200">
              <a:latin typeface="Arial Narrow" pitchFamily="34" charset="0"/>
            </a:endParaRPr>
          </a:p>
          <a:p>
            <a:pPr>
              <a:lnSpc>
                <a:spcPct val="90000"/>
              </a:lnSpc>
            </a:pPr>
            <a:r>
              <a:rPr lang="en-US" sz="2200">
                <a:latin typeface="Arial Narrow" pitchFamily="34" charset="0"/>
              </a:rPr>
              <a:t>Although the standards are not yet widely adopted, some major application vendors are supporting OASIS:</a:t>
            </a:r>
          </a:p>
          <a:p>
            <a:pPr lvl="1">
              <a:lnSpc>
                <a:spcPct val="90000"/>
              </a:lnSpc>
            </a:pPr>
            <a:r>
              <a:rPr lang="en-US" sz="2200">
                <a:latin typeface="Arial Narrow" pitchFamily="34" charset="0"/>
              </a:rPr>
              <a:t>BPEL for defining process flows</a:t>
            </a:r>
          </a:p>
          <a:p>
            <a:pPr lvl="1">
              <a:lnSpc>
                <a:spcPct val="90000"/>
              </a:lnSpc>
            </a:pPr>
            <a:r>
              <a:rPr lang="en-US" sz="2200">
                <a:latin typeface="Arial Narrow" pitchFamily="34" charset="0"/>
              </a:rPr>
              <a:t>WSDL for defining the interfaces to services used by the process</a:t>
            </a:r>
          </a:p>
          <a:p>
            <a:pPr lvl="1">
              <a:lnSpc>
                <a:spcPct val="90000"/>
              </a:lnSpc>
            </a:pPr>
            <a:r>
              <a:rPr lang="en-US" sz="2200">
                <a:latin typeface="Arial Narrow" pitchFamily="34" charset="0"/>
              </a:rPr>
              <a:t>XSD for defining the XML data structures used by the process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p:txBody>
          <a:bodyPr/>
          <a:lstStyle/>
          <a:p>
            <a:r>
              <a:rPr lang="en-US" sz="3200">
                <a:latin typeface="Arial Narrow" pitchFamily="34" charset="0"/>
              </a:rPr>
              <a:t>Establish Business Architecture Governance Model</a:t>
            </a:r>
          </a:p>
        </p:txBody>
      </p:sp>
      <p:sp>
        <p:nvSpPr>
          <p:cNvPr id="246787" name="Rectangle 3"/>
          <p:cNvSpPr>
            <a:spLocks noGrp="1" noChangeArrowheads="1"/>
          </p:cNvSpPr>
          <p:nvPr>
            <p:ph type="body" idx="1"/>
          </p:nvPr>
        </p:nvSpPr>
        <p:spPr/>
        <p:txBody>
          <a:bodyPr/>
          <a:lstStyle/>
          <a:p>
            <a:pPr>
              <a:lnSpc>
                <a:spcPct val="90000"/>
              </a:lnSpc>
            </a:pPr>
            <a:r>
              <a:rPr lang="en-US" sz="2000">
                <a:latin typeface="Arial Narrow" pitchFamily="34" charset="0"/>
              </a:rPr>
              <a:t>Because the business architecture has such high value to the organization, it needs to be managed at the enterprise level</a:t>
            </a:r>
          </a:p>
          <a:p>
            <a:pPr>
              <a:lnSpc>
                <a:spcPct val="90000"/>
              </a:lnSpc>
            </a:pPr>
            <a:endParaRPr lang="en-US" sz="2000">
              <a:latin typeface="Arial Narrow" pitchFamily="34" charset="0"/>
            </a:endParaRPr>
          </a:p>
          <a:p>
            <a:pPr>
              <a:lnSpc>
                <a:spcPct val="90000"/>
              </a:lnSpc>
            </a:pPr>
            <a:r>
              <a:rPr lang="en-US" sz="2000">
                <a:latin typeface="Arial Narrow" pitchFamily="34" charset="0"/>
              </a:rPr>
              <a:t>Because the business architecture is cross-organizational and cross-applications, roles and responsibilities associated with building and sustaining it need to be clearly defined and supported</a:t>
            </a:r>
          </a:p>
          <a:p>
            <a:pPr>
              <a:lnSpc>
                <a:spcPct val="90000"/>
              </a:lnSpc>
            </a:pPr>
            <a:endParaRPr lang="en-US" sz="2000">
              <a:latin typeface="Arial Narrow" pitchFamily="34" charset="0"/>
            </a:endParaRPr>
          </a:p>
          <a:p>
            <a:pPr>
              <a:lnSpc>
                <a:spcPct val="90000"/>
              </a:lnSpc>
            </a:pPr>
            <a:r>
              <a:rPr lang="en-US" sz="2000">
                <a:latin typeface="Arial Narrow" pitchFamily="34" charset="0"/>
              </a:rPr>
              <a:t>We have proposed a governance and stewardship model which identifies and describes four roles and responsibilities, including:    </a:t>
            </a:r>
          </a:p>
          <a:p>
            <a:pPr lvl="1">
              <a:lnSpc>
                <a:spcPct val="90000"/>
              </a:lnSpc>
            </a:pPr>
            <a:r>
              <a:rPr lang="en-US" sz="1800">
                <a:latin typeface="Arial Narrow" pitchFamily="34" charset="0"/>
              </a:rPr>
              <a:t>Business stewards at all three levels of the framework (Business Area, Business Lines, Business Processes)</a:t>
            </a:r>
          </a:p>
          <a:p>
            <a:pPr lvl="1">
              <a:lnSpc>
                <a:spcPct val="90000"/>
              </a:lnSpc>
            </a:pPr>
            <a:r>
              <a:rPr lang="en-US" sz="1800">
                <a:latin typeface="Arial Narrow" pitchFamily="34" charset="0"/>
              </a:rPr>
              <a:t>Information Quality/Data Management Program</a:t>
            </a:r>
          </a:p>
          <a:p>
            <a:pPr lvl="1">
              <a:lnSpc>
                <a:spcPct val="90000"/>
              </a:lnSpc>
            </a:pPr>
            <a:r>
              <a:rPr lang="en-US" sz="1800">
                <a:latin typeface="Arial Narrow" pitchFamily="34" charset="0"/>
              </a:rPr>
              <a:t>Business Analysts</a:t>
            </a:r>
          </a:p>
          <a:p>
            <a:pPr lvl="1">
              <a:lnSpc>
                <a:spcPct val="90000"/>
              </a:lnSpc>
            </a:pPr>
            <a:r>
              <a:rPr lang="en-US" sz="1800">
                <a:latin typeface="Arial Narrow" pitchFamily="34" charset="0"/>
              </a:rPr>
              <a:t>Technical Custodians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a:xfrm>
            <a:off x="457200" y="533400"/>
            <a:ext cx="8229600" cy="609600"/>
          </a:xfrm>
        </p:spPr>
        <p:txBody>
          <a:bodyPr/>
          <a:lstStyle/>
          <a:p>
            <a:r>
              <a:rPr lang="en-US" sz="3600">
                <a:latin typeface="Arial Narrow" pitchFamily="34" charset="0"/>
              </a:rPr>
              <a:t>Governance &amp; Stewardship</a:t>
            </a:r>
          </a:p>
        </p:txBody>
      </p:sp>
      <p:pic>
        <p:nvPicPr>
          <p:cNvPr id="150534" name="Picture 6"/>
          <p:cNvPicPr>
            <a:picLocks noChangeAspect="1" noChangeArrowheads="1"/>
          </p:cNvPicPr>
          <p:nvPr/>
        </p:nvPicPr>
        <p:blipFill>
          <a:blip r:embed="rId2" cstate="print"/>
          <a:srcRect/>
          <a:stretch>
            <a:fillRect/>
          </a:stretch>
        </p:blipFill>
        <p:spPr bwMode="auto">
          <a:xfrm>
            <a:off x="533400" y="1385888"/>
            <a:ext cx="7696200" cy="4938712"/>
          </a:xfrm>
          <a:prstGeom prst="rect">
            <a:avLst/>
          </a:prstGeom>
          <a:noFill/>
        </p:spPr>
      </p:pic>
    </p:spTree>
  </p:cSld>
  <p:clrMapOvr>
    <a:masterClrMapping/>
  </p:clrMapOvr>
</p:sld>
</file>

<file path=ppt/theme/theme1.xml><?xml version="1.0" encoding="utf-8"?>
<a:theme xmlns:a="http://schemas.openxmlformats.org/drawingml/2006/main" name="Quadrant">
  <a:themeElements>
    <a:clrScheme name="Quadrant 2">
      <a:dk1>
        <a:srgbClr val="000000"/>
      </a:dk1>
      <a:lt1>
        <a:srgbClr val="FFFFFF"/>
      </a:lt1>
      <a:dk2>
        <a:srgbClr val="420000"/>
      </a:dk2>
      <a:lt2>
        <a:srgbClr val="660000"/>
      </a:lt2>
      <a:accent1>
        <a:srgbClr val="CCCC00"/>
      </a:accent1>
      <a:accent2>
        <a:srgbClr val="999966"/>
      </a:accent2>
      <a:accent3>
        <a:srgbClr val="FFFFFF"/>
      </a:accent3>
      <a:accent4>
        <a:srgbClr val="000000"/>
      </a:accent4>
      <a:accent5>
        <a:srgbClr val="E2E2AA"/>
      </a:accent5>
      <a:accent6>
        <a:srgbClr val="8A8A5C"/>
      </a:accent6>
      <a:hlink>
        <a:srgbClr val="996633"/>
      </a:hlink>
      <a:folHlink>
        <a:srgbClr val="993300"/>
      </a:folHlink>
    </a:clrScheme>
    <a:fontScheme name="Quadrant">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Quadrant 1">
        <a:dk1>
          <a:srgbClr val="5C5674"/>
        </a:dk1>
        <a:lt1>
          <a:srgbClr val="FFFFFF"/>
        </a:lt1>
        <a:dk2>
          <a:srgbClr val="85986A"/>
        </a:dk2>
        <a:lt2>
          <a:srgbClr val="FFFFFF"/>
        </a:lt2>
        <a:accent1>
          <a:srgbClr val="666633"/>
        </a:accent1>
        <a:accent2>
          <a:srgbClr val="ADC5B8"/>
        </a:accent2>
        <a:accent3>
          <a:srgbClr val="C2CAB9"/>
        </a:accent3>
        <a:accent4>
          <a:srgbClr val="DADADA"/>
        </a:accent4>
        <a:accent5>
          <a:srgbClr val="B8B8AD"/>
        </a:accent5>
        <a:accent6>
          <a:srgbClr val="9CB2A6"/>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Quadrant 2">
        <a:dk1>
          <a:srgbClr val="000000"/>
        </a:dk1>
        <a:lt1>
          <a:srgbClr val="FFFFFF"/>
        </a:lt1>
        <a:dk2>
          <a:srgbClr val="420000"/>
        </a:dk2>
        <a:lt2>
          <a:srgbClr val="660000"/>
        </a:lt2>
        <a:accent1>
          <a:srgbClr val="CCCC00"/>
        </a:accent1>
        <a:accent2>
          <a:srgbClr val="999966"/>
        </a:accent2>
        <a:accent3>
          <a:srgbClr val="FFFFFF"/>
        </a:accent3>
        <a:accent4>
          <a:srgbClr val="000000"/>
        </a:accent4>
        <a:accent5>
          <a:srgbClr val="E2E2AA"/>
        </a:accent5>
        <a:accent6>
          <a:srgbClr val="8A8A5C"/>
        </a:accent6>
        <a:hlink>
          <a:srgbClr val="996633"/>
        </a:hlink>
        <a:folHlink>
          <a:srgbClr val="993300"/>
        </a:folHlink>
      </a:clrScheme>
      <a:clrMap bg1="lt1" tx1="dk1" bg2="lt2" tx2="dk2" accent1="accent1" accent2="accent2" accent3="accent3" accent4="accent4" accent5="accent5" accent6="accent6" hlink="hlink" folHlink="folHlink"/>
    </a:extraClrScheme>
    <a:extraClrScheme>
      <a:clrScheme name="Quadrant 3">
        <a:dk1>
          <a:srgbClr val="618052"/>
        </a:dk1>
        <a:lt1>
          <a:srgbClr val="FFFFE3"/>
        </a:lt1>
        <a:dk2>
          <a:srgbClr val="162E36"/>
        </a:dk2>
        <a:lt2>
          <a:srgbClr val="FFFFFF"/>
        </a:lt2>
        <a:accent1>
          <a:srgbClr val="336699"/>
        </a:accent1>
        <a:accent2>
          <a:srgbClr val="69888B"/>
        </a:accent2>
        <a:accent3>
          <a:srgbClr val="ABADAE"/>
        </a:accent3>
        <a:accent4>
          <a:srgbClr val="DADAC2"/>
        </a:accent4>
        <a:accent5>
          <a:srgbClr val="ADB8CA"/>
        </a:accent5>
        <a:accent6>
          <a:srgbClr val="5E7B7D"/>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Quadrant 4">
        <a:dk1>
          <a:srgbClr val="000000"/>
        </a:dk1>
        <a:lt1>
          <a:srgbClr val="FFFFFF"/>
        </a:lt1>
        <a:dk2>
          <a:srgbClr val="000000"/>
        </a:dk2>
        <a:lt2>
          <a:srgbClr val="CC0000"/>
        </a:lt2>
        <a:accent1>
          <a:srgbClr val="FFCC00"/>
        </a:accent1>
        <a:accent2>
          <a:srgbClr val="3366CC"/>
        </a:accent2>
        <a:accent3>
          <a:srgbClr val="FFFFFF"/>
        </a:accent3>
        <a:accent4>
          <a:srgbClr val="000000"/>
        </a:accent4>
        <a:accent5>
          <a:srgbClr val="FFE2AA"/>
        </a:accent5>
        <a:accent6>
          <a:srgbClr val="2D5CB9"/>
        </a:accent6>
        <a:hlink>
          <a:srgbClr val="666699"/>
        </a:hlink>
        <a:folHlink>
          <a:srgbClr val="C0C0C0"/>
        </a:folHlink>
      </a:clrScheme>
      <a:clrMap bg1="lt1" tx1="dk1" bg2="lt2" tx2="dk2" accent1="accent1" accent2="accent2" accent3="accent3" accent4="accent4" accent5="accent5" accent6="accent6" hlink="hlink" folHlink="folHlink"/>
    </a:extraClrScheme>
    <a:extraClrScheme>
      <a:clrScheme name="Quadrant 5">
        <a:dk1>
          <a:srgbClr val="666699"/>
        </a:dk1>
        <a:lt1>
          <a:srgbClr val="FFFFFF"/>
        </a:lt1>
        <a:dk2>
          <a:srgbClr val="000033"/>
        </a:dk2>
        <a:lt2>
          <a:srgbClr val="FFFFFF"/>
        </a:lt2>
        <a:accent1>
          <a:srgbClr val="9966FF"/>
        </a:accent1>
        <a:accent2>
          <a:srgbClr val="CCCCFF"/>
        </a:accent2>
        <a:accent3>
          <a:srgbClr val="AAAAAD"/>
        </a:accent3>
        <a:accent4>
          <a:srgbClr val="DADADA"/>
        </a:accent4>
        <a:accent5>
          <a:srgbClr val="CAB8FF"/>
        </a:accent5>
        <a:accent6>
          <a:srgbClr val="B9B9E7"/>
        </a:accent6>
        <a:hlink>
          <a:srgbClr val="CCCC00"/>
        </a:hlink>
        <a:folHlink>
          <a:srgbClr val="CC9900"/>
        </a:folHlink>
      </a:clrScheme>
      <a:clrMap bg1="dk2" tx1="lt1" bg2="dk1" tx2="lt2" accent1="accent1" accent2="accent2" accent3="accent3" accent4="accent4" accent5="accent5" accent6="accent6" hlink="hlink" folHlink="folHlink"/>
    </a:extraClrScheme>
    <a:extraClrScheme>
      <a:clrScheme name="Quadrant 6">
        <a:dk1>
          <a:srgbClr val="000000"/>
        </a:dk1>
        <a:lt1>
          <a:srgbClr val="FFFFFF"/>
        </a:lt1>
        <a:dk2>
          <a:srgbClr val="000000"/>
        </a:dk2>
        <a:lt2>
          <a:srgbClr val="669966"/>
        </a:lt2>
        <a:accent1>
          <a:srgbClr val="CCCCFF"/>
        </a:accent1>
        <a:accent2>
          <a:srgbClr val="9999CC"/>
        </a:accent2>
        <a:accent3>
          <a:srgbClr val="FFFFFF"/>
        </a:accent3>
        <a:accent4>
          <a:srgbClr val="000000"/>
        </a:accent4>
        <a:accent5>
          <a:srgbClr val="E2E2FF"/>
        </a:accent5>
        <a:accent6>
          <a:srgbClr val="8A8AB9"/>
        </a:accent6>
        <a:hlink>
          <a:srgbClr val="000066"/>
        </a:hlink>
        <a:folHlink>
          <a:srgbClr val="333399"/>
        </a:folHlink>
      </a:clrScheme>
      <a:clrMap bg1="lt1" tx1="dk1" bg2="lt2" tx2="dk2" accent1="accent1" accent2="accent2" accent3="accent3" accent4="accent4" accent5="accent5" accent6="accent6" hlink="hlink" folHlink="folHlink"/>
    </a:extraClrScheme>
    <a:extraClrScheme>
      <a:clrScheme name="Quadrant 7">
        <a:dk1>
          <a:srgbClr val="0099CC"/>
        </a:dk1>
        <a:lt1>
          <a:srgbClr val="FFFFFF"/>
        </a:lt1>
        <a:dk2>
          <a:srgbClr val="000099"/>
        </a:dk2>
        <a:lt2>
          <a:srgbClr val="FFFFFF"/>
        </a:lt2>
        <a:accent1>
          <a:srgbClr val="0099CC"/>
        </a:accent1>
        <a:accent2>
          <a:srgbClr val="6600FF"/>
        </a:accent2>
        <a:accent3>
          <a:srgbClr val="AAAACA"/>
        </a:accent3>
        <a:accent4>
          <a:srgbClr val="DADADA"/>
        </a:accent4>
        <a:accent5>
          <a:srgbClr val="AACAE2"/>
        </a:accent5>
        <a:accent6>
          <a:srgbClr val="5C00E7"/>
        </a:accent6>
        <a:hlink>
          <a:srgbClr val="FFCC00"/>
        </a:hlink>
        <a:folHlink>
          <a:srgbClr val="00CCFF"/>
        </a:folHlink>
      </a:clrScheme>
      <a:clrMap bg1="dk2" tx1="lt1" bg2="dk1" tx2="lt2" accent1="accent1" accent2="accent2" accent3="accent3" accent4="accent4" accent5="accent5" accent6="accent6" hlink="hlink" folHlink="folHlink"/>
    </a:extraClrScheme>
    <a:extraClrScheme>
      <a:clrScheme name="Quadrant 8">
        <a:dk1>
          <a:srgbClr val="000033"/>
        </a:dk1>
        <a:lt1>
          <a:srgbClr val="FFFFFF"/>
        </a:lt1>
        <a:dk2>
          <a:srgbClr val="003366"/>
        </a:dk2>
        <a:lt2>
          <a:srgbClr val="275C6D"/>
        </a:lt2>
        <a:accent1>
          <a:srgbClr val="A7D2DF"/>
        </a:accent1>
        <a:accent2>
          <a:srgbClr val="108DA6"/>
        </a:accent2>
        <a:accent3>
          <a:srgbClr val="FFFFFF"/>
        </a:accent3>
        <a:accent4>
          <a:srgbClr val="00002A"/>
        </a:accent4>
        <a:accent5>
          <a:srgbClr val="D0E5EC"/>
        </a:accent5>
        <a:accent6>
          <a:srgbClr val="0D7F96"/>
        </a:accent6>
        <a:hlink>
          <a:srgbClr val="666699"/>
        </a:hlink>
        <a:folHlink>
          <a:srgbClr val="9999FF"/>
        </a:folHlink>
      </a:clrScheme>
      <a:clrMap bg1="lt1" tx1="dk1" bg2="lt2" tx2="dk2" accent1="accent1" accent2="accent2" accent3="accent3" accent4="accent4" accent5="accent5" accent6="accent6" hlink="hlink" folHlink="folHlink"/>
    </a:extraClrScheme>
    <a:extraClrScheme>
      <a:clrScheme name="Quadrant 9">
        <a:dk1>
          <a:srgbClr val="CC3300"/>
        </a:dk1>
        <a:lt1>
          <a:srgbClr val="FFFFFF"/>
        </a:lt1>
        <a:dk2>
          <a:srgbClr val="000000"/>
        </a:dk2>
        <a:lt2>
          <a:srgbClr val="FFFFCC"/>
        </a:lt2>
        <a:accent1>
          <a:srgbClr val="FF9900"/>
        </a:accent1>
        <a:accent2>
          <a:srgbClr val="993300"/>
        </a:accent2>
        <a:accent3>
          <a:srgbClr val="AAAAAA"/>
        </a:accent3>
        <a:accent4>
          <a:srgbClr val="DADADA"/>
        </a:accent4>
        <a:accent5>
          <a:srgbClr val="FFCAAA"/>
        </a:accent5>
        <a:accent6>
          <a:srgbClr val="8A2D00"/>
        </a:accent6>
        <a:hlink>
          <a:srgbClr val="CEC5A2"/>
        </a:hlink>
        <a:folHlink>
          <a:srgbClr val="DDDDD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Quadrant</Template>
  <TotalTime>2617</TotalTime>
  <Words>5079</Words>
  <Application>Microsoft Office PowerPoint</Application>
  <PresentationFormat>On-screen Show (4:3)</PresentationFormat>
  <Paragraphs>983</Paragraphs>
  <Slides>36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Times New Roman</vt:lpstr>
      <vt:lpstr>Wingdings</vt:lpstr>
      <vt:lpstr>Arial Narrow</vt:lpstr>
      <vt:lpstr>Tahoma</vt:lpstr>
      <vt:lpstr>Quadrant</vt:lpstr>
      <vt:lpstr>Proposal for an Enterprise  Business Architecture</vt:lpstr>
      <vt:lpstr>Purpose &amp; Overview</vt:lpstr>
      <vt:lpstr>Value of Business Architecture</vt:lpstr>
      <vt:lpstr>Business Challenges</vt:lpstr>
      <vt:lpstr>Aligning IT with Business</vt:lpstr>
      <vt:lpstr>Expected Results of Aligning IT with Business</vt:lpstr>
      <vt:lpstr>Value of Business Architecture</vt:lpstr>
      <vt:lpstr>Business &amp; IT Alignment - Direct Results </vt:lpstr>
      <vt:lpstr>Business &amp; IT Alignment - Derivative Results</vt:lpstr>
      <vt:lpstr>Business &amp; IT Alignment - Derivative Results</vt:lpstr>
      <vt:lpstr>Business &amp; IT Alignment - Derivative Results</vt:lpstr>
      <vt:lpstr>Designing a Business Architecture</vt:lpstr>
      <vt:lpstr>Designing a Business Architecture</vt:lpstr>
      <vt:lpstr>Current State – Business Framework</vt:lpstr>
      <vt:lpstr>Current State – Business Framework</vt:lpstr>
      <vt:lpstr>Business Framework</vt:lpstr>
      <vt:lpstr>Bank’s Business Framework </vt:lpstr>
      <vt:lpstr>How to Determine if it is a …..</vt:lpstr>
      <vt:lpstr>How to Determine if it is …</vt:lpstr>
      <vt:lpstr>Line of Business vs. Business Process</vt:lpstr>
      <vt:lpstr>Business Processes </vt:lpstr>
      <vt:lpstr>Slide 22</vt:lpstr>
      <vt:lpstr>Business Process Management Best Practices</vt:lpstr>
      <vt:lpstr>Business Process Management Best Practices</vt:lpstr>
      <vt:lpstr>Business Process Models</vt:lpstr>
      <vt:lpstr>Slide 26</vt:lpstr>
      <vt:lpstr>Business Framework and Business Process Management</vt:lpstr>
      <vt:lpstr>Slide 28</vt:lpstr>
      <vt:lpstr>Slide 29</vt:lpstr>
      <vt:lpstr>Slide 30</vt:lpstr>
      <vt:lpstr>Slide 31</vt:lpstr>
      <vt:lpstr>Current State – Business Process Models</vt:lpstr>
      <vt:lpstr>Business Process Model Registry</vt:lpstr>
      <vt:lpstr>Standards-Based Modeling and Execution Languages</vt:lpstr>
      <vt:lpstr>Establish Business Architecture Governance Model</vt:lpstr>
      <vt:lpstr>Governance &amp; Stewardship</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Architecture:   Why and How</dc:title>
  <dc:creator>Jeff Wallk</dc:creator>
  <cp:lastModifiedBy>Jeff Wallk</cp:lastModifiedBy>
  <cp:revision>69</cp:revision>
  <dcterms:created xsi:type="dcterms:W3CDTF">2007-01-02T15:17:41Z</dcterms:created>
  <dcterms:modified xsi:type="dcterms:W3CDTF">2010-06-11T02:54:42Z</dcterms:modified>
</cp:coreProperties>
</file>
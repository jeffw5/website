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9"/>
  </p:notesMasterIdLst>
  <p:handoutMasterIdLst>
    <p:handoutMasterId r:id="rId10"/>
  </p:handoutMasterIdLst>
  <p:sldIdLst>
    <p:sldId id="259" r:id="rId2"/>
    <p:sldId id="298" r:id="rId3"/>
    <p:sldId id="297" r:id="rId4"/>
    <p:sldId id="299" r:id="rId5"/>
    <p:sldId id="300" r:id="rId6"/>
    <p:sldId id="301" r:id="rId7"/>
    <p:sldId id="30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774">
          <p15:clr>
            <a:srgbClr val="A4A3A4"/>
          </p15:clr>
        </p15:guide>
        <p15:guide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9900"/>
    <a:srgbClr val="00C49E"/>
    <a:srgbClr val="F25413"/>
    <a:srgbClr val="252E33"/>
    <a:srgbClr val="3F4E56"/>
    <a:srgbClr val="000000"/>
    <a:srgbClr val="FFFF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92" d="100"/>
          <a:sy n="92" d="100"/>
        </p:scale>
        <p:origin x="-1230" y="-102"/>
      </p:cViewPr>
      <p:guideLst>
        <p:guide orient="horz" pos="1774"/>
        <p:guide/>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t>Business Architecture Guild</a:t>
            </a: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502DA1F-A37C-41D2-82C0-7922EAA70BF9}" type="datetimeFigureOut">
              <a:rPr lang="en-US" smtClean="0"/>
              <a:pPr/>
              <a:t>11/7/2014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smtClean="0"/>
              <a:t>Copyright 2012 @ Business Architecture Guild</a:t>
            </a: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13447DD-8410-4B48-BF9F-010B3E13D3FA}" type="slidenum">
              <a:rPr lang="en-US" smtClean="0"/>
              <a:pPr/>
              <a:t>‹#›</a:t>
            </a:fld>
            <a:endParaRPr lang="en-US" dirty="0"/>
          </a:p>
        </p:txBody>
      </p:sp>
    </p:spTree>
    <p:extLst>
      <p:ext uri="{BB962C8B-B14F-4D97-AF65-F5344CB8AC3E}">
        <p14:creationId xmlns:p14="http://schemas.microsoft.com/office/powerpoint/2010/main" val="203006644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dirty="0" smtClean="0"/>
              <a:t>Business Architecture Guild</a:t>
            </a: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978605-75FF-4090-82E1-8992D952D785}" type="datetimeFigureOut">
              <a:rPr lang="en-US" smtClean="0"/>
              <a:pPr/>
              <a:t>11/7/2014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smtClean="0"/>
              <a:t>Copyright 2012 @ Business Architecture Guild</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7F5204-EB12-4271-A49D-308523C9B92E}" type="slidenum">
              <a:rPr lang="en-US" smtClean="0"/>
              <a:pPr/>
              <a:t>‹#›</a:t>
            </a:fld>
            <a:endParaRPr lang="en-US" dirty="0"/>
          </a:p>
        </p:txBody>
      </p:sp>
    </p:spTree>
    <p:extLst>
      <p:ext uri="{BB962C8B-B14F-4D97-AF65-F5344CB8AC3E}">
        <p14:creationId xmlns:p14="http://schemas.microsoft.com/office/powerpoint/2010/main" val="1693091271"/>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8AE179F-9378-4901-8669-AFE8ECBE508B}" type="slidenum">
              <a:rPr lang="en-US"/>
              <a:pPr/>
              <a:t>2</a:t>
            </a:fld>
            <a:endParaRPr lang="en-US"/>
          </a:p>
        </p:txBody>
      </p:sp>
      <p:sp>
        <p:nvSpPr>
          <p:cNvPr id="473090" name="Rectangle 2"/>
          <p:cNvSpPr>
            <a:spLocks noGrp="1" noRot="1" noChangeAspect="1" noChangeArrowheads="1" noTextEdit="1"/>
          </p:cNvSpPr>
          <p:nvPr>
            <p:ph type="sldImg"/>
          </p:nvPr>
        </p:nvSpPr>
        <p:spPr>
          <a:ln/>
        </p:spPr>
      </p:sp>
      <p:sp>
        <p:nvSpPr>
          <p:cNvPr id="473091" name="Rectangle 3"/>
          <p:cNvSpPr>
            <a:spLocks noGrp="1" noChangeArrowheads="1"/>
          </p:cNvSpPr>
          <p:nvPr>
            <p:ph type="body" idx="1"/>
          </p:nvPr>
        </p:nvSpPr>
        <p:spPr/>
        <p:txBody>
          <a:bodyPr/>
          <a:lstStyle/>
          <a:p>
            <a:r>
              <a:rPr lang="en-US"/>
              <a:t>Sample business architecture report from the modeling database.</a:t>
            </a:r>
          </a:p>
          <a:p>
            <a:r>
              <a:rPr lang="en-US"/>
              <a:t>Not only, creates “big arrow” around the strategy for business and for IT, including year to year – create new business architecture and compare</a:t>
            </a:r>
          </a:p>
          <a:p>
            <a:r>
              <a:rPr lang="en-US"/>
              <a:t>Allows “big arrow” across all business areas – strategies, goals, objectives, capabilities drive innovation</a:t>
            </a:r>
          </a:p>
          <a:p>
            <a:r>
              <a:rPr lang="en-US"/>
              <a:t>Allows analysis of capabilities that are fundamental to all or most business units/areas – place investments there in project portfolio.  Allows implementation of “Reduce” to eliminate redundant solutions for same capability or “develop once, deploy many” for new capabilities. All of this information is always changing – impact is immediately understood since it’s a connected model</a:t>
            </a:r>
          </a:p>
          <a:p>
            <a:r>
              <a:rPr lang="en-US"/>
              <a:t>This builds a connected enterprise with shared goals, capabilities, systems, and data – no silos.</a:t>
            </a:r>
          </a:p>
          <a:p>
            <a:r>
              <a:rPr lang="en-US"/>
              <a:t>Foundation for connection to IT</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7" name="Rectangle 16"/>
          <p:cNvSpPr/>
          <p:nvPr userDrawn="1"/>
        </p:nvSpPr>
        <p:spPr>
          <a:xfrm>
            <a:off x="0" y="0"/>
            <a:ext cx="9144000" cy="68580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1190" y="3523787"/>
            <a:ext cx="9146380" cy="36576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userDrawn="1"/>
        </p:nvSpPr>
        <p:spPr>
          <a:xfrm>
            <a:off x="0" y="3523129"/>
            <a:ext cx="1463040" cy="3657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itle 1"/>
          <p:cNvSpPr>
            <a:spLocks noGrp="1"/>
          </p:cNvSpPr>
          <p:nvPr>
            <p:ph type="ctrTitle"/>
          </p:nvPr>
        </p:nvSpPr>
        <p:spPr>
          <a:xfrm>
            <a:off x="457200" y="2798081"/>
            <a:ext cx="8229600" cy="615553"/>
          </a:xfrm>
          <a:noFill/>
        </p:spPr>
        <p:txBody>
          <a:bodyPr wrap="none" lIns="91440" tIns="0" rIns="91440" bIns="0" anchor="b">
            <a:spAutoFit/>
          </a:bodyPr>
          <a:lstStyle>
            <a:lvl1pPr algn="ctr">
              <a:defRPr sz="4000" b="1">
                <a:solidFill>
                  <a:schemeClr val="bg1"/>
                </a:solidFill>
              </a:defRPr>
            </a:lvl1pPr>
          </a:lstStyle>
          <a:p>
            <a:r>
              <a:rPr lang="en-US" dirty="0" smtClean="0"/>
              <a:t>Click to edit Master title style</a:t>
            </a:r>
            <a:endParaRPr lang="en-US" dirty="0"/>
          </a:p>
        </p:txBody>
      </p:sp>
      <p:sp>
        <p:nvSpPr>
          <p:cNvPr id="39" name="Text Placeholder 38"/>
          <p:cNvSpPr>
            <a:spLocks noGrp="1"/>
          </p:cNvSpPr>
          <p:nvPr>
            <p:ph type="body" sz="quarter" idx="11" hasCustomPrompt="1"/>
          </p:nvPr>
        </p:nvSpPr>
        <p:spPr>
          <a:xfrm>
            <a:off x="1463040" y="3515231"/>
            <a:ext cx="621792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smtClean="0"/>
              <a:t>CLICK TO EDIT MASTER SUBTITLE STYLE</a:t>
            </a:r>
          </a:p>
        </p:txBody>
      </p:sp>
      <p:sp>
        <p:nvSpPr>
          <p:cNvPr id="52" name="Date Placeholder 51"/>
          <p:cNvSpPr>
            <a:spLocks noGrp="1"/>
          </p:cNvSpPr>
          <p:nvPr>
            <p:ph type="dt" sz="half" idx="12"/>
          </p:nvPr>
        </p:nvSpPr>
        <p:spPr/>
        <p:txBody>
          <a:bodyPr/>
          <a:lstStyle/>
          <a:p>
            <a:fld id="{5913EAD0-FE42-479E-BFD1-82A4FA54F9B8}" type="datetime1">
              <a:rPr lang="en-US" smtClean="0"/>
              <a:pPr/>
              <a:t>11/7/2014</a:t>
            </a:fld>
            <a:endParaRPr lang="en-US" dirty="0"/>
          </a:p>
        </p:txBody>
      </p:sp>
      <p:sp>
        <p:nvSpPr>
          <p:cNvPr id="53" name="Footer Placeholder 52"/>
          <p:cNvSpPr>
            <a:spLocks noGrp="1"/>
          </p:cNvSpPr>
          <p:nvPr>
            <p:ph type="ftr" sz="quarter" idx="13"/>
          </p:nvPr>
        </p:nvSpPr>
        <p:spPr/>
        <p:txBody>
          <a:bodyPr/>
          <a:lstStyle/>
          <a:p>
            <a:r>
              <a:rPr lang="en-US" dirty="0" smtClean="0"/>
              <a:t>Copyright 2014</a:t>
            </a:r>
            <a:endParaRPr lang="en-US" dirty="0"/>
          </a:p>
        </p:txBody>
      </p:sp>
      <p:sp>
        <p:nvSpPr>
          <p:cNvPr id="56" name="Slide Number Placeholder 55"/>
          <p:cNvSpPr>
            <a:spLocks noGrp="1"/>
          </p:cNvSpPr>
          <p:nvPr>
            <p:ph type="sldNum" sz="quarter" idx="14"/>
          </p:nvPr>
        </p:nvSpPr>
        <p:spPr/>
        <p:txBody>
          <a:bodyPr/>
          <a:lstStyle/>
          <a:p>
            <a:fld id="{8D059518-4F10-4CC2-99CC-9CA73E170347}" type="slidenum">
              <a:rPr lang="en-US" smtClean="0"/>
              <a:pPr/>
              <a:t>‹#›</a:t>
            </a:fld>
            <a:endParaRPr lang="en-US" dirty="0"/>
          </a:p>
        </p:txBody>
      </p:sp>
      <p:sp>
        <p:nvSpPr>
          <p:cNvPr id="59" name="Rectangle 58"/>
          <p:cNvSpPr/>
          <p:nvPr userDrawn="1"/>
        </p:nvSpPr>
        <p:spPr>
          <a:xfrm>
            <a:off x="0" y="0"/>
            <a:ext cx="9144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60"/>
          <p:cNvSpPr/>
          <p:nvPr userDrawn="1"/>
        </p:nvSpPr>
        <p:spPr>
          <a:xfrm>
            <a:off x="4723130" y="534126"/>
            <a:ext cx="420624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2"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4723130" y="170063"/>
            <a:ext cx="4206240" cy="51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912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00628"/>
            <a:ext cx="8229600" cy="3579849"/>
          </a:xfrm>
        </p:spPr>
        <p:txBody>
          <a:bodyPr>
            <a:normAutofit/>
          </a:bodyPr>
          <a:lstStyle>
            <a:lvl1pPr>
              <a:defRPr sz="2000"/>
            </a:lvl1pPr>
            <a:lvl2pPr>
              <a:defRPr sz="2000"/>
            </a:lvl2pPr>
            <a:lvl3pPr>
              <a:defRPr sz="2000"/>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1A099F0-A5F1-4ED5-9377-F6752109C662}" type="datetime1">
              <a:rPr lang="en-US" smtClean="0"/>
              <a:pPr/>
              <a:t>11/7/2014</a:t>
            </a:fld>
            <a:endParaRPr lang="en-US" dirty="0"/>
          </a:p>
        </p:txBody>
      </p:sp>
      <p:sp>
        <p:nvSpPr>
          <p:cNvPr id="6" name="Slide Number Placeholder 5"/>
          <p:cNvSpPr>
            <a:spLocks noGrp="1"/>
          </p:cNvSpPr>
          <p:nvPr>
            <p:ph type="sldNum" sz="quarter" idx="12"/>
          </p:nvPr>
        </p:nvSpPr>
        <p:spPr/>
        <p:txBody>
          <a:bodyPr/>
          <a:lstStyle/>
          <a:p>
            <a:fld id="{8D059518-4F10-4CC2-99CC-9CA73E170347}" type="slidenum">
              <a:rPr lang="en-US" smtClean="0"/>
              <a:pPr/>
              <a:t>‹#›</a:t>
            </a:fld>
            <a:endParaRPr lang="en-US" dirty="0"/>
          </a:p>
        </p:txBody>
      </p:sp>
      <p:sp>
        <p:nvSpPr>
          <p:cNvPr id="8" name="Footer Placeholder 7"/>
          <p:cNvSpPr>
            <a:spLocks noGrp="1"/>
          </p:cNvSpPr>
          <p:nvPr>
            <p:ph type="ftr" sz="quarter" idx="13"/>
          </p:nvPr>
        </p:nvSpPr>
        <p:spPr/>
        <p:txBody>
          <a:bodyPr/>
          <a:lstStyle/>
          <a:p>
            <a:r>
              <a:rPr lang="en-US" dirty="0" smtClean="0"/>
              <a:t>Copyright 2014</a:t>
            </a:r>
            <a:endParaRPr lang="en-US" dirty="0"/>
          </a:p>
        </p:txBody>
      </p:sp>
      <p:sp>
        <p:nvSpPr>
          <p:cNvPr id="9" name="Title 8"/>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64240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7" name="Rectangle 36"/>
          <p:cNvSpPr/>
          <p:nvPr userDrawn="1"/>
        </p:nvSpPr>
        <p:spPr>
          <a:xfrm>
            <a:off x="0" y="0"/>
            <a:ext cx="9144000" cy="6858000"/>
          </a:xfrm>
          <a:prstGeom prst="rect">
            <a:avLst/>
          </a:prstGeom>
          <a:solidFill>
            <a:srgbClr val="00C4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p:cNvSpPr/>
          <p:nvPr userDrawn="1"/>
        </p:nvSpPr>
        <p:spPr>
          <a:xfrm>
            <a:off x="0" y="6400800"/>
            <a:ext cx="9144000" cy="45720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ate Placeholder 9"/>
          <p:cNvSpPr>
            <a:spLocks noGrp="1"/>
          </p:cNvSpPr>
          <p:nvPr>
            <p:ph type="dt" sz="half" idx="10"/>
          </p:nvPr>
        </p:nvSpPr>
        <p:spPr/>
        <p:txBody>
          <a:bodyPr/>
          <a:lstStyle/>
          <a:p>
            <a:fld id="{07D23D1F-8B6B-46FD-90B9-289ACA433332}" type="datetime1">
              <a:rPr lang="en-US" smtClean="0"/>
              <a:pPr/>
              <a:t>11/7/2014</a:t>
            </a:fld>
            <a:endParaRPr lang="en-US" dirty="0"/>
          </a:p>
        </p:txBody>
      </p:sp>
      <p:sp>
        <p:nvSpPr>
          <p:cNvPr id="11" name="Footer Placeholder 10"/>
          <p:cNvSpPr>
            <a:spLocks noGrp="1"/>
          </p:cNvSpPr>
          <p:nvPr>
            <p:ph type="ftr" sz="quarter" idx="11"/>
          </p:nvPr>
        </p:nvSpPr>
        <p:spPr/>
        <p:txBody>
          <a:bodyPr/>
          <a:lstStyle/>
          <a:p>
            <a:r>
              <a:rPr lang="en-US" dirty="0" smtClean="0"/>
              <a:t>Copyright 2014</a:t>
            </a:r>
            <a:endParaRPr lang="en-US" dirty="0"/>
          </a:p>
        </p:txBody>
      </p:sp>
      <p:sp>
        <p:nvSpPr>
          <p:cNvPr id="12" name="Slide Number Placeholder 11"/>
          <p:cNvSpPr>
            <a:spLocks noGrp="1"/>
          </p:cNvSpPr>
          <p:nvPr>
            <p:ph type="sldNum" sz="quarter" idx="12"/>
          </p:nvPr>
        </p:nvSpPr>
        <p:spPr/>
        <p:txBody>
          <a:bodyPr/>
          <a:lstStyle/>
          <a:p>
            <a:fld id="{8D059518-4F10-4CC2-99CC-9CA73E170347}" type="slidenum">
              <a:rPr lang="en-US" smtClean="0"/>
              <a:pPr/>
              <a:t>‹#›</a:t>
            </a:fld>
            <a:endParaRPr lang="en-US" dirty="0"/>
          </a:p>
        </p:txBody>
      </p:sp>
      <p:sp>
        <p:nvSpPr>
          <p:cNvPr id="35" name="Text Placeholder 38"/>
          <p:cNvSpPr>
            <a:spLocks noGrp="1"/>
          </p:cNvSpPr>
          <p:nvPr>
            <p:ph type="body" sz="quarter" idx="13" hasCustomPrompt="1"/>
          </p:nvPr>
        </p:nvSpPr>
        <p:spPr>
          <a:xfrm>
            <a:off x="1463040" y="3515226"/>
            <a:ext cx="6217920" cy="369332"/>
          </a:xfrm>
          <a:noFill/>
        </p:spPr>
        <p:txBody>
          <a:bodyPr wrap="none" anchor="ctr" anchorCtr="0">
            <a:spAutoFit/>
          </a:bodyPr>
          <a:lstStyle>
            <a:lvl1pPr algn="ctr">
              <a:defRPr sz="1800" b="0" spc="300" baseline="0">
                <a:solidFill>
                  <a:srgbClr val="252E33"/>
                </a:solidFill>
              </a:defRPr>
            </a:lvl1pPr>
            <a:lvl2pPr marL="0" indent="0">
              <a:buNone/>
              <a:defRPr/>
            </a:lvl2pPr>
            <a:lvl3pPr marL="237744" indent="0">
              <a:buNone/>
              <a:defRPr/>
            </a:lvl3pPr>
            <a:lvl4pPr marL="466344" indent="0">
              <a:buNone/>
              <a:defRPr/>
            </a:lvl4pPr>
            <a:lvl5pPr marL="685800" indent="0">
              <a:buNone/>
              <a:defRPr/>
            </a:lvl5pPr>
          </a:lstStyle>
          <a:p>
            <a:pPr lvl="0"/>
            <a:r>
              <a:rPr lang="en-US" dirty="0" smtClean="0"/>
              <a:t>CLICK TO EDIT MASTER SUBTITLE STYLE</a:t>
            </a:r>
          </a:p>
        </p:txBody>
      </p:sp>
      <p:sp>
        <p:nvSpPr>
          <p:cNvPr id="36" name="Title 35"/>
          <p:cNvSpPr>
            <a:spLocks noGrp="1"/>
          </p:cNvSpPr>
          <p:nvPr>
            <p:ph type="title"/>
          </p:nvPr>
        </p:nvSpPr>
        <p:spPr>
          <a:xfrm>
            <a:off x="520314" y="2798076"/>
            <a:ext cx="8103373" cy="615553"/>
          </a:xfrm>
          <a:noFill/>
        </p:spPr>
        <p:txBody>
          <a:bodyPr vert="horz" wrap="none" lIns="91440" tIns="0" rIns="91440" bIns="0" rtlCol="0" anchor="b">
            <a:spAutoFit/>
          </a:bodyPr>
          <a:lstStyle>
            <a:lvl1pPr>
              <a:defRPr lang="en-US" sz="4000" b="1" dirty="0">
                <a:solidFill>
                  <a:srgbClr val="252E33"/>
                </a:solidFill>
              </a:defRPr>
            </a:lvl1pPr>
          </a:lstStyle>
          <a:p>
            <a:pPr marL="0" lvl="0" algn="ctr"/>
            <a:r>
              <a:rPr lang="en-US" dirty="0" smtClean="0"/>
              <a:t>Click to edit Master title style</a:t>
            </a:r>
            <a:endParaRPr lang="en-US" dirty="0"/>
          </a:p>
        </p:txBody>
      </p:sp>
      <p:sp>
        <p:nvSpPr>
          <p:cNvPr id="38" name="Rectangle 37"/>
          <p:cNvSpPr/>
          <p:nvPr userDrawn="1"/>
        </p:nvSpPr>
        <p:spPr>
          <a:xfrm>
            <a:off x="0" y="0"/>
            <a:ext cx="9144000" cy="73152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p:cNvSpPr/>
          <p:nvPr userDrawn="1"/>
        </p:nvSpPr>
        <p:spPr>
          <a:xfrm>
            <a:off x="0" y="548102"/>
            <a:ext cx="9144000" cy="137160"/>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p:cNvSpPr/>
          <p:nvPr userDrawn="1"/>
        </p:nvSpPr>
        <p:spPr>
          <a:xfrm>
            <a:off x="4723130" y="534126"/>
            <a:ext cx="4206240" cy="182880"/>
          </a:xfrm>
          <a:prstGeom prst="rect">
            <a:avLst/>
          </a:prstGeom>
          <a:solidFill>
            <a:srgbClr val="252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4" name="Picture 3" descr="C:\Users\rou6\Documents\1_ILLUSTRATION\STA ppt\guild\BAGuild_Logo_DarkBG.pn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6332"/>
          <a:stretch/>
        </p:blipFill>
        <p:spPr bwMode="auto">
          <a:xfrm>
            <a:off x="4723130" y="170063"/>
            <a:ext cx="4206240" cy="515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290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itle 7"/>
          <p:cNvSpPr>
            <a:spLocks noGrp="1"/>
          </p:cNvSpPr>
          <p:nvPr>
            <p:ph type="title"/>
          </p:nvPr>
        </p:nvSpPr>
        <p:spPr/>
        <p:txBody>
          <a:bodyPr/>
          <a:lstStyle/>
          <a:p>
            <a:r>
              <a:rPr lang="en-US" smtClean="0"/>
              <a:t>Click to edit Master title style</a:t>
            </a:r>
            <a:endParaRPr lang="en-US"/>
          </a:p>
        </p:txBody>
      </p:sp>
      <p:sp>
        <p:nvSpPr>
          <p:cNvPr id="2" name="Date Placeholder 1"/>
          <p:cNvSpPr>
            <a:spLocks noGrp="1"/>
          </p:cNvSpPr>
          <p:nvPr>
            <p:ph type="dt" sz="half" idx="10"/>
          </p:nvPr>
        </p:nvSpPr>
        <p:spPr/>
        <p:txBody>
          <a:bodyPr/>
          <a:lstStyle/>
          <a:p>
            <a:fld id="{992FE3BD-E6E5-415F-8D6E-D2B3F7C63698}" type="datetime1">
              <a:rPr lang="en-US" smtClean="0"/>
              <a:pPr/>
              <a:t>11/7/2014</a:t>
            </a:fld>
            <a:endParaRPr lang="en-US" dirty="0"/>
          </a:p>
        </p:txBody>
      </p:sp>
      <p:sp>
        <p:nvSpPr>
          <p:cNvPr id="9" name="Footer Placeholder 8"/>
          <p:cNvSpPr>
            <a:spLocks noGrp="1"/>
          </p:cNvSpPr>
          <p:nvPr>
            <p:ph type="ftr" sz="quarter" idx="11"/>
          </p:nvPr>
        </p:nvSpPr>
        <p:spPr/>
        <p:txBody>
          <a:bodyPr/>
          <a:lstStyle/>
          <a:p>
            <a:r>
              <a:rPr lang="en-US" dirty="0" smtClean="0"/>
              <a:t>Copyright 2014</a:t>
            </a:r>
            <a:endParaRPr lang="en-US" dirty="0"/>
          </a:p>
        </p:txBody>
      </p:sp>
      <p:sp>
        <p:nvSpPr>
          <p:cNvPr id="10" name="Slide Number Placeholder 9"/>
          <p:cNvSpPr>
            <a:spLocks noGrp="1"/>
          </p:cNvSpPr>
          <p:nvPr>
            <p:ph type="sldNum" sz="quarter" idx="12"/>
          </p:nvPr>
        </p:nvSpPr>
        <p:spPr/>
        <p:txBody>
          <a:bodyPr/>
          <a:lstStyle/>
          <a:p>
            <a:fld id="{8D059518-4F10-4CC2-99CC-9CA73E170347}" type="slidenum">
              <a:rPr lang="en-US" smtClean="0"/>
              <a:pPr/>
              <a:t>‹#›</a:t>
            </a:fld>
            <a:endParaRPr lang="en-US" dirty="0"/>
          </a:p>
        </p:txBody>
      </p:sp>
    </p:spTree>
    <p:extLst>
      <p:ext uri="{BB962C8B-B14F-4D97-AF65-F5344CB8AC3E}">
        <p14:creationId xmlns:p14="http://schemas.microsoft.com/office/powerpoint/2010/main" val="257081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0"/>
          </p:nvPr>
        </p:nvSpPr>
        <p:spPr/>
        <p:txBody>
          <a:bodyPr/>
          <a:lstStyle/>
          <a:p>
            <a:fld id="{992FE3BD-E6E5-415F-8D6E-D2B3F7C63698}" type="datetime1">
              <a:rPr lang="en-US" smtClean="0"/>
              <a:pPr/>
              <a:t>11/7/2014</a:t>
            </a:fld>
            <a:endParaRPr lang="en-US" dirty="0"/>
          </a:p>
        </p:txBody>
      </p:sp>
      <p:sp>
        <p:nvSpPr>
          <p:cNvPr id="11" name="Footer Placeholder 10"/>
          <p:cNvSpPr>
            <a:spLocks noGrp="1"/>
          </p:cNvSpPr>
          <p:nvPr>
            <p:ph type="ftr" sz="quarter" idx="11"/>
          </p:nvPr>
        </p:nvSpPr>
        <p:spPr/>
        <p:txBody>
          <a:bodyPr/>
          <a:lstStyle/>
          <a:p>
            <a:r>
              <a:rPr lang="en-US" dirty="0" smtClean="0"/>
              <a:t>Copyright 2014</a:t>
            </a:r>
            <a:endParaRPr lang="en-US" dirty="0"/>
          </a:p>
        </p:txBody>
      </p:sp>
      <p:sp>
        <p:nvSpPr>
          <p:cNvPr id="12" name="Slide Number Placeholder 11"/>
          <p:cNvSpPr>
            <a:spLocks noGrp="1"/>
          </p:cNvSpPr>
          <p:nvPr>
            <p:ph type="sldNum" sz="quarter" idx="12"/>
          </p:nvPr>
        </p:nvSpPr>
        <p:spPr/>
        <p:txBody>
          <a:bodyPr/>
          <a:lstStyle/>
          <a:p>
            <a:fld id="{8D059518-4F10-4CC2-99CC-9CA73E170347}" type="slidenum">
              <a:rPr lang="en-US" smtClean="0"/>
              <a:pPr/>
              <a:t>‹#›</a:t>
            </a:fld>
            <a:endParaRPr lang="en-US" dirty="0"/>
          </a:p>
        </p:txBody>
      </p:sp>
    </p:spTree>
    <p:extLst>
      <p:ext uri="{BB962C8B-B14F-4D97-AF65-F5344CB8AC3E}">
        <p14:creationId xmlns:p14="http://schemas.microsoft.com/office/powerpoint/2010/main" val="1848723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992FE3BD-E6E5-415F-8D6E-D2B3F7C63698}" type="datetime1">
              <a:rPr lang="en-US" smtClean="0"/>
              <a:pPr/>
              <a:t>11/7/2014</a:t>
            </a:fld>
            <a:endParaRPr lang="en-US" dirty="0"/>
          </a:p>
        </p:txBody>
      </p:sp>
      <p:sp>
        <p:nvSpPr>
          <p:cNvPr id="4" name="Footer Placeholder 3"/>
          <p:cNvSpPr>
            <a:spLocks noGrp="1"/>
          </p:cNvSpPr>
          <p:nvPr>
            <p:ph type="ftr" sz="quarter" idx="11"/>
          </p:nvPr>
        </p:nvSpPr>
        <p:spPr/>
        <p:txBody>
          <a:bodyPr/>
          <a:lstStyle/>
          <a:p>
            <a:r>
              <a:rPr lang="en-US" dirty="0" smtClean="0"/>
              <a:t>Copyright 2014</a:t>
            </a:r>
            <a:endParaRPr lang="en-US" dirty="0"/>
          </a:p>
        </p:txBody>
      </p:sp>
      <p:sp>
        <p:nvSpPr>
          <p:cNvPr id="5" name="Slide Number Placeholder 4"/>
          <p:cNvSpPr>
            <a:spLocks noGrp="1"/>
          </p:cNvSpPr>
          <p:nvPr>
            <p:ph type="sldNum" sz="quarter" idx="12"/>
          </p:nvPr>
        </p:nvSpPr>
        <p:spPr/>
        <p:txBody>
          <a:bodyPr/>
          <a:lstStyle/>
          <a:p>
            <a:fld id="{8D059518-4F10-4CC2-99CC-9CA73E170347}" type="slidenum">
              <a:rPr lang="en-US" smtClean="0"/>
              <a:pPr/>
              <a:t>‹#›</a:t>
            </a:fld>
            <a:endParaRPr lang="en-US" dirty="0"/>
          </a:p>
        </p:txBody>
      </p:sp>
      <p:sp>
        <p:nvSpPr>
          <p:cNvPr id="10" name="Title 9"/>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937523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992FE3BD-E6E5-415F-8D6E-D2B3F7C63698}" type="datetime1">
              <a:rPr lang="en-US" smtClean="0"/>
              <a:pPr/>
              <a:t>11/7/2014</a:t>
            </a:fld>
            <a:endParaRPr lang="en-US" dirty="0"/>
          </a:p>
        </p:txBody>
      </p:sp>
      <p:sp>
        <p:nvSpPr>
          <p:cNvPr id="7" name="Footer Placeholder 6"/>
          <p:cNvSpPr>
            <a:spLocks noGrp="1"/>
          </p:cNvSpPr>
          <p:nvPr>
            <p:ph type="ftr" sz="quarter" idx="11"/>
          </p:nvPr>
        </p:nvSpPr>
        <p:spPr/>
        <p:txBody>
          <a:bodyPr/>
          <a:lstStyle/>
          <a:p>
            <a:r>
              <a:rPr lang="en-US" dirty="0" smtClean="0"/>
              <a:t>Copyright 2014</a:t>
            </a:r>
            <a:endParaRPr lang="en-US" dirty="0"/>
          </a:p>
        </p:txBody>
      </p:sp>
      <p:sp>
        <p:nvSpPr>
          <p:cNvPr id="8" name="Slide Number Placeholder 7"/>
          <p:cNvSpPr>
            <a:spLocks noGrp="1"/>
          </p:cNvSpPr>
          <p:nvPr>
            <p:ph type="sldNum" sz="quarter" idx="12"/>
          </p:nvPr>
        </p:nvSpPr>
        <p:spPr/>
        <p:txBody>
          <a:bodyPr/>
          <a:lstStyle/>
          <a:p>
            <a:fld id="{8D059518-4F10-4CC2-99CC-9CA73E170347}" type="slidenum">
              <a:rPr lang="en-US" smtClean="0"/>
              <a:pPr/>
              <a:t>‹#›</a:t>
            </a:fld>
            <a:endParaRPr lang="en-US" dirty="0"/>
          </a:p>
        </p:txBody>
      </p:sp>
      <p:sp>
        <p:nvSpPr>
          <p:cNvPr id="9" name="Rectangle 8"/>
          <p:cNvSpPr/>
          <p:nvPr userDrawn="1"/>
        </p:nvSpPr>
        <p:spPr>
          <a:xfrm>
            <a:off x="203200" y="927100"/>
            <a:ext cx="8077200" cy="12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31629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6400800"/>
            <a:ext cx="9144000" cy="457200"/>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381000" y="365759"/>
            <a:ext cx="6858000" cy="54864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14300" y="6440697"/>
            <a:ext cx="681277" cy="184666"/>
          </a:xfrm>
          <a:prstGeom prst="rect">
            <a:avLst/>
          </a:prstGeom>
        </p:spPr>
        <p:txBody>
          <a:bodyPr vert="horz" wrap="none" lIns="0" tIns="0" rIns="0" bIns="0" rtlCol="0" anchor="ctr">
            <a:spAutoFit/>
          </a:bodyPr>
          <a:lstStyle>
            <a:lvl1pPr algn="l">
              <a:defRPr sz="1200">
                <a:solidFill>
                  <a:schemeClr val="bg1">
                    <a:lumMod val="85000"/>
                  </a:schemeClr>
                </a:solidFill>
              </a:defRPr>
            </a:lvl1pPr>
          </a:lstStyle>
          <a:p>
            <a:fld id="{992FE3BD-E6E5-415F-8D6E-D2B3F7C63698}" type="datetime1">
              <a:rPr lang="en-US" smtClean="0"/>
              <a:pPr/>
              <a:t>11/7/2014</a:t>
            </a:fld>
            <a:endParaRPr lang="en-US" dirty="0"/>
          </a:p>
        </p:txBody>
      </p:sp>
      <p:sp>
        <p:nvSpPr>
          <p:cNvPr id="6" name="Slide Number Placeholder 5"/>
          <p:cNvSpPr>
            <a:spLocks noGrp="1"/>
          </p:cNvSpPr>
          <p:nvPr>
            <p:ph type="sldNum" sz="quarter" idx="4"/>
          </p:nvPr>
        </p:nvSpPr>
        <p:spPr>
          <a:xfrm>
            <a:off x="8794182" y="6440697"/>
            <a:ext cx="187552" cy="184666"/>
          </a:xfrm>
          <a:prstGeom prst="rect">
            <a:avLst/>
          </a:prstGeom>
          <a:ln w="19050">
            <a:noFill/>
          </a:ln>
        </p:spPr>
        <p:txBody>
          <a:bodyPr vert="horz" wrap="none" lIns="0" tIns="0" rIns="0" bIns="0" rtlCol="0" anchor="ctr">
            <a:spAutoFit/>
          </a:bodyPr>
          <a:lstStyle>
            <a:lvl1pPr algn="ctr">
              <a:defRPr sz="1200">
                <a:solidFill>
                  <a:schemeClr val="bg1">
                    <a:lumMod val="85000"/>
                  </a:schemeClr>
                </a:solidFill>
              </a:defRPr>
            </a:lvl1pPr>
          </a:lstStyle>
          <a:p>
            <a:fld id="{8D059518-4F10-4CC2-99CC-9CA73E170347}" type="slidenum">
              <a:rPr lang="en-US" smtClean="0"/>
              <a:pPr/>
              <a:t>‹#›</a:t>
            </a:fld>
            <a:endParaRPr lang="en-US" dirty="0"/>
          </a:p>
        </p:txBody>
      </p:sp>
      <p:pic>
        <p:nvPicPr>
          <p:cNvPr id="1027" name="Picture 3" descr="C:\Users\rou6\Documents\1_ILLUSTRATION\STA ppt\guild\BAGuild_Logo_LightBG.png"/>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t="-1" b="-2867"/>
          <a:stretch/>
        </p:blipFill>
        <p:spPr bwMode="auto">
          <a:xfrm>
            <a:off x="2971800" y="5969851"/>
            <a:ext cx="3200400" cy="43094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rou6\Documents\1_ILLUSTRATION\STA ppt\guild\BAGuild_Badge_NoLetters.pn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8275320" y="304053"/>
            <a:ext cx="640080" cy="686872"/>
          </a:xfrm>
          <a:prstGeom prst="rect">
            <a:avLst/>
          </a:prstGeom>
          <a:noFill/>
          <a:extLst>
            <a:ext uri="{909E8E84-426E-40DD-AFC4-6F175D3DCCD1}">
              <a14:hiddenFill xmlns:a14="http://schemas.microsoft.com/office/drawing/2010/main">
                <a:solidFill>
                  <a:srgbClr val="FFFFFF"/>
                </a:solidFill>
              </a14:hiddenFill>
            </a:ext>
          </a:extLst>
        </p:spPr>
      </p:pic>
      <p:sp>
        <p:nvSpPr>
          <p:cNvPr id="16" name="Footer Placeholder 4"/>
          <p:cNvSpPr>
            <a:spLocks noGrp="1"/>
          </p:cNvSpPr>
          <p:nvPr>
            <p:ph type="ftr" sz="quarter" idx="3"/>
          </p:nvPr>
        </p:nvSpPr>
        <p:spPr>
          <a:xfrm>
            <a:off x="2209800" y="6395870"/>
            <a:ext cx="4724400" cy="274320"/>
          </a:xfrm>
          <a:prstGeom prst="rect">
            <a:avLst/>
          </a:prstGeom>
        </p:spPr>
        <p:txBody>
          <a:bodyPr/>
          <a:lstStyle>
            <a:lvl1pPr algn="ctr">
              <a:defRPr sz="1100">
                <a:solidFill>
                  <a:schemeClr val="bg1">
                    <a:lumMod val="85000"/>
                  </a:schemeClr>
                </a:solidFill>
              </a:defRPr>
            </a:lvl1pPr>
          </a:lstStyle>
          <a:p>
            <a:r>
              <a:rPr lang="en-US" dirty="0" smtClean="0"/>
              <a:t>Copyright 2014</a:t>
            </a:r>
            <a:endParaRPr lang="en-US" dirty="0"/>
          </a:p>
        </p:txBody>
      </p:sp>
      <p:sp>
        <p:nvSpPr>
          <p:cNvPr id="12" name="Rectangle 11"/>
          <p:cNvSpPr/>
          <p:nvPr userDrawn="1"/>
        </p:nvSpPr>
        <p:spPr>
          <a:xfrm>
            <a:off x="228600" y="958850"/>
            <a:ext cx="8686800" cy="27432"/>
          </a:xfrm>
          <a:prstGeom prst="rect">
            <a:avLst/>
          </a:prstGeom>
          <a:solidFill>
            <a:srgbClr val="3F4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2167721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Lst>
  <p:timing>
    <p:tnLst>
      <p:par>
        <p:cTn id="1" dur="indefinite" restart="never" nodeType="tmRoot"/>
      </p:par>
    </p:tnLst>
  </p:timing>
  <p:hf hd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94230" y="1548215"/>
            <a:ext cx="7147533" cy="1231106"/>
          </a:xfrm>
        </p:spPr>
        <p:txBody>
          <a:bodyPr/>
          <a:lstStyle/>
          <a:p>
            <a:r>
              <a:rPr lang="en-US" dirty="0" smtClean="0"/>
              <a:t>Proposed </a:t>
            </a:r>
            <a:r>
              <a:rPr lang="en-US" dirty="0" err="1" smtClean="0"/>
              <a:t>Metamodel</a:t>
            </a:r>
            <a:r>
              <a:rPr lang="en-US" dirty="0" smtClean="0"/>
              <a:t> Team </a:t>
            </a:r>
            <a:br>
              <a:rPr lang="en-US" dirty="0" smtClean="0"/>
            </a:br>
            <a:r>
              <a:rPr lang="en-US" dirty="0" smtClean="0"/>
              <a:t>Strategy Update</a:t>
            </a:r>
            <a:endParaRPr lang="en-US" dirty="0"/>
          </a:p>
        </p:txBody>
      </p:sp>
      <p:sp>
        <p:nvSpPr>
          <p:cNvPr id="5" name="Text Placeholder 4"/>
          <p:cNvSpPr>
            <a:spLocks noGrp="1"/>
          </p:cNvSpPr>
          <p:nvPr>
            <p:ph type="body" sz="quarter" idx="11"/>
          </p:nvPr>
        </p:nvSpPr>
        <p:spPr>
          <a:xfrm>
            <a:off x="3118315" y="3515231"/>
            <a:ext cx="2907398" cy="369332"/>
          </a:xfrm>
        </p:spPr>
        <p:txBody>
          <a:bodyPr/>
          <a:lstStyle/>
          <a:p>
            <a:r>
              <a:rPr lang="en-US" dirty="0" smtClean="0"/>
              <a:t>September 19, </a:t>
            </a:r>
            <a:r>
              <a:rPr lang="en-US" dirty="0" smtClean="0"/>
              <a:t>2014</a:t>
            </a:r>
            <a:endParaRPr lang="en-US" dirty="0"/>
          </a:p>
        </p:txBody>
      </p:sp>
    </p:spTree>
    <p:extLst>
      <p:ext uri="{BB962C8B-B14F-4D97-AF65-F5344CB8AC3E}">
        <p14:creationId xmlns:p14="http://schemas.microsoft.com/office/powerpoint/2010/main" val="17560155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7" name="Text Box 5"/>
          <p:cNvSpPr txBox="1">
            <a:spLocks noChangeArrowheads="1"/>
          </p:cNvSpPr>
          <p:nvPr/>
        </p:nvSpPr>
        <p:spPr bwMode="gray">
          <a:xfrm>
            <a:off x="76200" y="1010078"/>
            <a:ext cx="8458200" cy="1200329"/>
          </a:xfrm>
          <a:prstGeom prst="rect">
            <a:avLst/>
          </a:prstGeom>
          <a:noFill/>
          <a:ln w="9525" algn="ctr">
            <a:noFill/>
            <a:miter lim="800000"/>
            <a:headEnd/>
            <a:tailEnd/>
          </a:ln>
          <a:effectLst/>
        </p:spPr>
        <p:txBody>
          <a:bodyPr wrap="square">
            <a:spAutoFit/>
          </a:bodyPr>
          <a:lstStyle/>
          <a:p>
            <a:pPr marL="342900" indent="-342900"/>
            <a:r>
              <a:rPr lang="en-US" sz="2000" b="1" dirty="0" smtClean="0"/>
              <a:t>Mission - </a:t>
            </a:r>
            <a:r>
              <a:rPr lang="en-US" sz="1600" dirty="0"/>
              <a:t>Assemble </a:t>
            </a:r>
            <a:r>
              <a:rPr lang="en-US" sz="1600" dirty="0" smtClean="0"/>
              <a:t>business architecture artifacts </a:t>
            </a:r>
            <a:r>
              <a:rPr lang="en-US" sz="1600" dirty="0"/>
              <a:t>and relationships into a formal </a:t>
            </a:r>
            <a:r>
              <a:rPr lang="en-US" sz="1600" dirty="0" err="1" smtClean="0"/>
              <a:t>metamodel</a:t>
            </a:r>
            <a:r>
              <a:rPr lang="en-US" sz="1600" dirty="0" smtClean="0"/>
              <a:t> consistent with the existing and ongoing updates to the BIZBOK standards for business architecture practices</a:t>
            </a:r>
            <a:endParaRPr lang="en-US" sz="1600" dirty="0"/>
          </a:p>
          <a:p>
            <a:pPr marL="342900" indent="-342900">
              <a:buFont typeface="Wingdings" pitchFamily="2" charset="2"/>
              <a:buNone/>
            </a:pPr>
            <a:r>
              <a:rPr lang="en-US" sz="2000" b="1" dirty="0" smtClean="0"/>
              <a:t> </a:t>
            </a:r>
            <a:endParaRPr lang="en-US" sz="2000" b="1" dirty="0"/>
          </a:p>
        </p:txBody>
      </p:sp>
      <p:sp>
        <p:nvSpPr>
          <p:cNvPr id="402438" name="Text Box 6"/>
          <p:cNvSpPr txBox="1">
            <a:spLocks noChangeArrowheads="1"/>
          </p:cNvSpPr>
          <p:nvPr/>
        </p:nvSpPr>
        <p:spPr bwMode="gray">
          <a:xfrm>
            <a:off x="76200" y="1953492"/>
            <a:ext cx="8915400" cy="1384995"/>
          </a:xfrm>
          <a:prstGeom prst="rect">
            <a:avLst/>
          </a:prstGeom>
          <a:noFill/>
          <a:ln w="9525" algn="ctr">
            <a:noFill/>
            <a:miter lim="800000"/>
            <a:headEnd/>
            <a:tailEnd/>
          </a:ln>
          <a:effectLst/>
        </p:spPr>
        <p:txBody>
          <a:bodyPr wrap="square">
            <a:spAutoFit/>
          </a:bodyPr>
          <a:lstStyle/>
          <a:p>
            <a:pPr marL="342900" indent="-342900">
              <a:buFont typeface="Wingdings" pitchFamily="2" charset="2"/>
              <a:buNone/>
            </a:pPr>
            <a:r>
              <a:rPr lang="en-US" sz="2000" b="1" dirty="0" smtClean="0"/>
              <a:t>Vision </a:t>
            </a:r>
            <a:r>
              <a:rPr lang="en-US" sz="1600" dirty="0" smtClean="0"/>
              <a:t>– The Business Architecture Guild </a:t>
            </a:r>
            <a:r>
              <a:rPr lang="en-US" sz="1600" dirty="0" err="1"/>
              <a:t>m</a:t>
            </a:r>
            <a:r>
              <a:rPr lang="en-US" sz="1600" dirty="0" err="1" smtClean="0"/>
              <a:t>etamodel</a:t>
            </a:r>
            <a:r>
              <a:rPr lang="en-US" sz="1600" dirty="0" smtClean="0"/>
              <a:t> is the industry recognized standard that allows all stakeholders to perform optimally (ready to move directly to addressing business objectives and problems using business architecture) up and down the business architecture supply chain (business </a:t>
            </a:r>
            <a:r>
              <a:rPr lang="en-US" sz="1600" dirty="0"/>
              <a:t>architects, vendors, </a:t>
            </a:r>
            <a:r>
              <a:rPr lang="en-US" sz="1600" dirty="0" smtClean="0"/>
              <a:t>industry consortiums, customers</a:t>
            </a:r>
            <a:r>
              <a:rPr lang="en-US" sz="1600" dirty="0"/>
              <a:t>, </a:t>
            </a:r>
            <a:r>
              <a:rPr lang="en-US" sz="1600" dirty="0" err="1" smtClean="0"/>
              <a:t>etc</a:t>
            </a:r>
            <a:r>
              <a:rPr lang="en-US" sz="1600" dirty="0" smtClean="0"/>
              <a:t>) with the ability to seamlessly connect to it’s many related disciplines. </a:t>
            </a:r>
            <a:endParaRPr lang="en-US" sz="1600" dirty="0"/>
          </a:p>
        </p:txBody>
      </p:sp>
      <p:sp>
        <p:nvSpPr>
          <p:cNvPr id="402439" name="Text Box 7"/>
          <p:cNvSpPr txBox="1">
            <a:spLocks noChangeArrowheads="1"/>
          </p:cNvSpPr>
          <p:nvPr/>
        </p:nvSpPr>
        <p:spPr bwMode="gray">
          <a:xfrm>
            <a:off x="76200" y="3321258"/>
            <a:ext cx="8716926" cy="1938992"/>
          </a:xfrm>
          <a:prstGeom prst="rect">
            <a:avLst/>
          </a:prstGeom>
          <a:noFill/>
          <a:ln w="9525" algn="ctr">
            <a:noFill/>
            <a:miter lim="800000"/>
            <a:headEnd/>
            <a:tailEnd/>
          </a:ln>
          <a:effectLst/>
        </p:spPr>
        <p:txBody>
          <a:bodyPr wrap="square">
            <a:spAutoFit/>
          </a:bodyPr>
          <a:lstStyle/>
          <a:p>
            <a:pPr marL="342900" indent="-342900">
              <a:buFont typeface="Wingdings" pitchFamily="2" charset="2"/>
              <a:buNone/>
            </a:pPr>
            <a:r>
              <a:rPr lang="en-US" sz="2000" b="1" dirty="0" smtClean="0"/>
              <a:t>Goals </a:t>
            </a:r>
          </a:p>
          <a:p>
            <a:pPr marL="342900" indent="-342900">
              <a:buFont typeface="Wingdings" pitchFamily="2" charset="2"/>
              <a:buNone/>
            </a:pPr>
            <a:r>
              <a:rPr lang="en-US" sz="1600" dirty="0" smtClean="0"/>
              <a:t>- 	Update the </a:t>
            </a:r>
            <a:r>
              <a:rPr lang="en-US" sz="1600" dirty="0" err="1" smtClean="0"/>
              <a:t>metamodel</a:t>
            </a:r>
            <a:r>
              <a:rPr lang="en-US" sz="1600" dirty="0" smtClean="0"/>
              <a:t> coincident with Guild BIZBOK and White Paper Updates with maximum responsiveness and speed.</a:t>
            </a:r>
          </a:p>
          <a:p>
            <a:pPr marL="342900" indent="-342900">
              <a:buFontTx/>
              <a:buChar char="-"/>
            </a:pPr>
            <a:r>
              <a:rPr lang="en-US" sz="1600" dirty="0" smtClean="0"/>
              <a:t>Gain approvals and release of the </a:t>
            </a:r>
            <a:r>
              <a:rPr lang="en-US" sz="1600" dirty="0" err="1" smtClean="0"/>
              <a:t>metamodel</a:t>
            </a:r>
            <a:r>
              <a:rPr lang="en-US" sz="1600" dirty="0" smtClean="0"/>
              <a:t> external to the Guild with maximum responsiveness and speed.</a:t>
            </a:r>
          </a:p>
          <a:p>
            <a:pPr marL="342900" indent="-342900">
              <a:buFontTx/>
              <a:buChar char="-"/>
            </a:pPr>
            <a:r>
              <a:rPr lang="en-US" sz="1600" dirty="0" smtClean="0"/>
              <a:t>Increase the adoption, effectiveness, and impact of </a:t>
            </a:r>
            <a:r>
              <a:rPr lang="en-US" sz="1600" dirty="0" err="1" smtClean="0"/>
              <a:t>metamodel</a:t>
            </a:r>
            <a:r>
              <a:rPr lang="en-US" sz="1600" dirty="0" smtClean="0"/>
              <a:t> releases by adopting a customer-centric viewpoint on delivery of the </a:t>
            </a:r>
            <a:r>
              <a:rPr lang="en-US" sz="1600" dirty="0" err="1" smtClean="0"/>
              <a:t>metamodel</a:t>
            </a:r>
            <a:endParaRPr lang="en-US" sz="1600" dirty="0"/>
          </a:p>
        </p:txBody>
      </p:sp>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24308940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pPr/>
              <a:t>11/7/2014</a:t>
            </a:fld>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pPr/>
              <a:t>3</a:t>
            </a:fld>
            <a:endParaRPr lang="en-US" dirty="0"/>
          </a:p>
        </p:txBody>
      </p:sp>
      <p:sp>
        <p:nvSpPr>
          <p:cNvPr id="5" name="Footer Placeholder 4"/>
          <p:cNvSpPr>
            <a:spLocks noGrp="1"/>
          </p:cNvSpPr>
          <p:nvPr>
            <p:ph type="ftr" sz="quarter" idx="13"/>
          </p:nvPr>
        </p:nvSpPr>
        <p:spPr/>
        <p:txBody>
          <a:bodyPr/>
          <a:lstStyle/>
          <a:p>
            <a:r>
              <a:rPr lang="en-US" smtClean="0"/>
              <a:t>Copyright 2014</a:t>
            </a:r>
            <a:endParaRPr lang="en-US" dirty="0"/>
          </a:p>
        </p:txBody>
      </p:sp>
      <p:sp>
        <p:nvSpPr>
          <p:cNvPr id="6" name="Title 5"/>
          <p:cNvSpPr>
            <a:spLocks noGrp="1"/>
          </p:cNvSpPr>
          <p:nvPr>
            <p:ph type="title"/>
          </p:nvPr>
        </p:nvSpPr>
        <p:spPr/>
        <p:txBody>
          <a:bodyPr/>
          <a:lstStyle/>
          <a:p>
            <a:endParaRPr lang="en-US"/>
          </a:p>
        </p:txBody>
      </p:sp>
      <p:sp>
        <p:nvSpPr>
          <p:cNvPr id="7" name="Text Box 8"/>
          <p:cNvSpPr txBox="1">
            <a:spLocks noChangeArrowheads="1"/>
          </p:cNvSpPr>
          <p:nvPr/>
        </p:nvSpPr>
        <p:spPr bwMode="gray">
          <a:xfrm>
            <a:off x="419103" y="1113640"/>
            <a:ext cx="8028706" cy="2431435"/>
          </a:xfrm>
          <a:prstGeom prst="rect">
            <a:avLst/>
          </a:prstGeom>
          <a:noFill/>
          <a:ln w="9525" algn="ctr">
            <a:noFill/>
            <a:miter lim="800000"/>
            <a:headEnd/>
            <a:tailEnd/>
          </a:ln>
          <a:effectLst/>
        </p:spPr>
        <p:txBody>
          <a:bodyPr wrap="square">
            <a:spAutoFit/>
          </a:bodyPr>
          <a:lstStyle/>
          <a:p>
            <a:pPr marL="342900" indent="-342900">
              <a:buFont typeface="Wingdings" pitchFamily="2" charset="2"/>
              <a:buNone/>
            </a:pPr>
            <a:r>
              <a:rPr lang="en-US" sz="2000" b="1" dirty="0" smtClean="0"/>
              <a:t>Objectives</a:t>
            </a:r>
          </a:p>
          <a:p>
            <a:pPr marL="342900" indent="-342900">
              <a:buFontTx/>
              <a:buChar char="-"/>
            </a:pPr>
            <a:r>
              <a:rPr lang="en-US" sz="1600" dirty="0" smtClean="0"/>
              <a:t>Instantiate mechanisms to understand potential updates to the BIZBOK from the earliest inception of the work to release in order to align </a:t>
            </a:r>
            <a:r>
              <a:rPr lang="en-US" sz="1600" dirty="0" err="1" smtClean="0"/>
              <a:t>metamodel</a:t>
            </a:r>
            <a:r>
              <a:rPr lang="en-US" sz="1600" dirty="0" smtClean="0"/>
              <a:t> activities and lifecycles</a:t>
            </a:r>
          </a:p>
          <a:p>
            <a:pPr marL="342900" indent="-342900">
              <a:buFontTx/>
              <a:buChar char="-"/>
            </a:pPr>
            <a:r>
              <a:rPr lang="en-US" sz="1600" dirty="0" smtClean="0"/>
              <a:t>Document and gain approvals of the governance process for </a:t>
            </a:r>
            <a:r>
              <a:rPr lang="en-US" sz="1600" dirty="0" err="1" smtClean="0"/>
              <a:t>metamodel</a:t>
            </a:r>
            <a:r>
              <a:rPr lang="en-US" sz="1600" dirty="0" smtClean="0"/>
              <a:t> updates – who has input, who makes the decisions</a:t>
            </a:r>
          </a:p>
          <a:p>
            <a:pPr marL="342900" indent="-342900">
              <a:buFontTx/>
              <a:buChar char="-"/>
            </a:pPr>
            <a:r>
              <a:rPr lang="en-US" sz="1600" dirty="0" smtClean="0"/>
              <a:t>Understand in detail who will “consume” the </a:t>
            </a:r>
            <a:r>
              <a:rPr lang="en-US" sz="1600" dirty="0" err="1" smtClean="0"/>
              <a:t>metamodel</a:t>
            </a:r>
            <a:r>
              <a:rPr lang="en-US" sz="1600" dirty="0" smtClean="0"/>
              <a:t>, for what purpose, and in what forms it can be delivered to expedite adoption and impact</a:t>
            </a:r>
          </a:p>
          <a:p>
            <a:pPr marL="342900" indent="-342900">
              <a:buFontTx/>
              <a:buChar char="-"/>
            </a:pPr>
            <a:endParaRPr lang="en-US" sz="2000" dirty="0"/>
          </a:p>
        </p:txBody>
      </p:sp>
      <p:sp>
        <p:nvSpPr>
          <p:cNvPr id="9" name="Text Box 10"/>
          <p:cNvSpPr txBox="1">
            <a:spLocks noChangeArrowheads="1"/>
          </p:cNvSpPr>
          <p:nvPr/>
        </p:nvSpPr>
        <p:spPr bwMode="gray">
          <a:xfrm>
            <a:off x="419102" y="3243035"/>
            <a:ext cx="7945579" cy="2185214"/>
          </a:xfrm>
          <a:prstGeom prst="rect">
            <a:avLst/>
          </a:prstGeom>
          <a:noFill/>
          <a:ln w="9525" algn="ctr">
            <a:noFill/>
            <a:miter lim="800000"/>
            <a:headEnd/>
            <a:tailEnd/>
          </a:ln>
          <a:effectLst/>
        </p:spPr>
        <p:txBody>
          <a:bodyPr wrap="square">
            <a:spAutoFit/>
          </a:bodyPr>
          <a:lstStyle/>
          <a:p>
            <a:pPr marL="342900" indent="-342900">
              <a:buFont typeface="Wingdings" pitchFamily="2" charset="2"/>
              <a:buNone/>
            </a:pPr>
            <a:r>
              <a:rPr lang="en-US" sz="2000" b="1" dirty="0" smtClean="0"/>
              <a:t>KPI’s</a:t>
            </a:r>
          </a:p>
          <a:p>
            <a:pPr marL="342900" indent="-342900">
              <a:buFontTx/>
              <a:buChar char="-"/>
            </a:pPr>
            <a:r>
              <a:rPr lang="en-US" sz="1600" dirty="0" smtClean="0"/>
              <a:t>Cycle time from release of a </a:t>
            </a:r>
            <a:r>
              <a:rPr lang="en-US" sz="1600" dirty="0" err="1" smtClean="0"/>
              <a:t>metamodel</a:t>
            </a:r>
            <a:r>
              <a:rPr lang="en-US" sz="1600" dirty="0" smtClean="0"/>
              <a:t>-impacting BIZBOK update or white paper release to </a:t>
            </a:r>
            <a:r>
              <a:rPr lang="en-US" sz="1600" dirty="0" err="1" smtClean="0"/>
              <a:t>metamodel</a:t>
            </a:r>
            <a:r>
              <a:rPr lang="en-US" sz="1600" dirty="0" smtClean="0"/>
              <a:t> team release of update to begin the governance process external to the team</a:t>
            </a:r>
          </a:p>
          <a:p>
            <a:pPr marL="342900" indent="-342900">
              <a:buFontTx/>
              <a:buChar char="-"/>
            </a:pPr>
            <a:r>
              <a:rPr lang="en-US" sz="1600" dirty="0" smtClean="0"/>
              <a:t>Cycle time from start to end of the governance process (to final approval)</a:t>
            </a:r>
          </a:p>
          <a:p>
            <a:pPr marL="342900" indent="-342900">
              <a:buFontTx/>
              <a:buChar char="-"/>
            </a:pPr>
            <a:r>
              <a:rPr lang="en-US" sz="1600" dirty="0" smtClean="0"/>
              <a:t>Cycle time to external adoption of </a:t>
            </a:r>
            <a:r>
              <a:rPr lang="en-US" sz="1600" dirty="0" err="1" smtClean="0"/>
              <a:t>metamodel</a:t>
            </a:r>
            <a:r>
              <a:rPr lang="en-US" sz="1600" dirty="0" smtClean="0"/>
              <a:t> and/or updates to it (stratified by customer / customer type)</a:t>
            </a:r>
          </a:p>
          <a:p>
            <a:pPr marL="342900" indent="-342900">
              <a:buFontTx/>
              <a:buChar char="-"/>
            </a:pPr>
            <a:endParaRPr lang="en-US" sz="2000" dirty="0"/>
          </a:p>
        </p:txBody>
      </p:sp>
    </p:spTree>
    <p:extLst>
      <p:ext uri="{BB962C8B-B14F-4D97-AF65-F5344CB8AC3E}">
        <p14:creationId xmlns:p14="http://schemas.microsoft.com/office/powerpoint/2010/main" val="3303625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pPr/>
              <a:t>11/7/2014</a:t>
            </a:fld>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pPr/>
              <a:t>4</a:t>
            </a:fld>
            <a:endParaRPr lang="en-US" dirty="0"/>
          </a:p>
        </p:txBody>
      </p:sp>
      <p:sp>
        <p:nvSpPr>
          <p:cNvPr id="5" name="Footer Placeholder 4"/>
          <p:cNvSpPr>
            <a:spLocks noGrp="1"/>
          </p:cNvSpPr>
          <p:nvPr>
            <p:ph type="ftr" sz="quarter" idx="13"/>
          </p:nvPr>
        </p:nvSpPr>
        <p:spPr/>
        <p:txBody>
          <a:bodyPr/>
          <a:lstStyle/>
          <a:p>
            <a:r>
              <a:rPr lang="en-US" smtClean="0"/>
              <a:t>Copyright 2014</a:t>
            </a:r>
            <a:endParaRPr lang="en-US" dirty="0"/>
          </a:p>
        </p:txBody>
      </p:sp>
      <p:sp>
        <p:nvSpPr>
          <p:cNvPr id="6" name="Title 5"/>
          <p:cNvSpPr>
            <a:spLocks noGrp="1"/>
          </p:cNvSpPr>
          <p:nvPr>
            <p:ph type="title"/>
          </p:nvPr>
        </p:nvSpPr>
        <p:spPr/>
        <p:txBody>
          <a:bodyPr/>
          <a:lstStyle/>
          <a:p>
            <a:endParaRPr lang="en-US"/>
          </a:p>
        </p:txBody>
      </p:sp>
      <p:sp>
        <p:nvSpPr>
          <p:cNvPr id="9" name="Text Box 13"/>
          <p:cNvSpPr txBox="1">
            <a:spLocks noChangeArrowheads="1"/>
          </p:cNvSpPr>
          <p:nvPr/>
        </p:nvSpPr>
        <p:spPr bwMode="gray">
          <a:xfrm>
            <a:off x="419103" y="990267"/>
            <a:ext cx="8070270" cy="3600986"/>
          </a:xfrm>
          <a:prstGeom prst="rect">
            <a:avLst/>
          </a:prstGeom>
          <a:noFill/>
          <a:ln w="9525" algn="ctr">
            <a:noFill/>
            <a:miter lim="800000"/>
            <a:headEnd/>
            <a:tailEnd/>
          </a:ln>
          <a:effectLst/>
        </p:spPr>
        <p:txBody>
          <a:bodyPr wrap="square">
            <a:spAutoFit/>
          </a:bodyPr>
          <a:lstStyle/>
          <a:p>
            <a:pPr marL="342900" indent="-342900">
              <a:buFont typeface="Wingdings" pitchFamily="2" charset="2"/>
              <a:buNone/>
            </a:pPr>
            <a:r>
              <a:rPr lang="en-US" sz="2000" b="1" dirty="0" smtClean="0"/>
              <a:t>Principles</a:t>
            </a:r>
          </a:p>
          <a:p>
            <a:pPr marL="342900" indent="-342900">
              <a:buFontTx/>
              <a:buChar char="-"/>
            </a:pPr>
            <a:r>
              <a:rPr lang="en-US" sz="1600" dirty="0" smtClean="0"/>
              <a:t>All updates to business architecture practices, value, scenarios, stories, etc. that drive </a:t>
            </a:r>
            <a:r>
              <a:rPr lang="en-US" sz="1600" dirty="0" err="1" smtClean="0"/>
              <a:t>metamodel</a:t>
            </a:r>
            <a:r>
              <a:rPr lang="en-US" sz="1600" dirty="0" smtClean="0"/>
              <a:t> updates will originate from other teams </a:t>
            </a:r>
            <a:r>
              <a:rPr lang="en-US" sz="1600" dirty="0" smtClean="0"/>
              <a:t>(collaborative teams) in </a:t>
            </a:r>
            <a:r>
              <a:rPr lang="en-US" sz="1600" dirty="0" smtClean="0"/>
              <a:t>the Business Architecture Guild</a:t>
            </a:r>
          </a:p>
          <a:p>
            <a:pPr marL="342900" indent="-342900">
              <a:buFontTx/>
              <a:buChar char="-"/>
            </a:pPr>
            <a:r>
              <a:rPr lang="en-US" sz="1600" dirty="0" smtClean="0"/>
              <a:t>The </a:t>
            </a:r>
            <a:r>
              <a:rPr lang="en-US" sz="1600" dirty="0" err="1" smtClean="0"/>
              <a:t>metamodel</a:t>
            </a:r>
            <a:r>
              <a:rPr lang="en-US" sz="1600" dirty="0" smtClean="0"/>
              <a:t> (as a structured outcome) in concert with the BIZBOK (in more narrative form) are the mechanisms that will align the many efforts and collaborative teams that are acting on the business architecture discipline</a:t>
            </a:r>
          </a:p>
          <a:p>
            <a:pPr marL="342900" indent="-342900">
              <a:buFontTx/>
              <a:buChar char="-"/>
            </a:pPr>
            <a:r>
              <a:rPr lang="en-US" sz="1600" dirty="0" smtClean="0"/>
              <a:t>The value of the </a:t>
            </a:r>
            <a:r>
              <a:rPr lang="en-US" sz="1600" dirty="0" err="1" smtClean="0"/>
              <a:t>metamodel</a:t>
            </a:r>
            <a:r>
              <a:rPr lang="en-US" sz="1600" dirty="0" smtClean="0"/>
              <a:t> is related to the degree to which it remains in alignment with the BIZBOK now and updates </a:t>
            </a:r>
            <a:r>
              <a:rPr lang="en-US" sz="1600" dirty="0" smtClean="0"/>
              <a:t>that are </a:t>
            </a:r>
            <a:r>
              <a:rPr lang="en-US" sz="1600" dirty="0" smtClean="0"/>
              <a:t>made ongoing</a:t>
            </a:r>
          </a:p>
          <a:p>
            <a:pPr marL="342900" indent="-342900">
              <a:buFontTx/>
              <a:buChar char="-"/>
            </a:pPr>
            <a:r>
              <a:rPr lang="en-US" sz="1600" dirty="0" smtClean="0"/>
              <a:t>A view of emerging </a:t>
            </a:r>
            <a:r>
              <a:rPr lang="en-US" sz="1600" dirty="0" err="1" smtClean="0"/>
              <a:t>metamodel</a:t>
            </a:r>
            <a:r>
              <a:rPr lang="en-US" sz="1600" dirty="0" smtClean="0"/>
              <a:t> components can be of value to share with teams involved in development of new content, but should be clearly marked “pre-release”</a:t>
            </a:r>
          </a:p>
          <a:p>
            <a:pPr marL="342900" indent="-342900">
              <a:buFontTx/>
              <a:buChar char="-"/>
            </a:pPr>
            <a:r>
              <a:rPr lang="en-US" sz="1600" dirty="0" smtClean="0"/>
              <a:t>If the team has limited resources and time, the concepts listed in the center of the concentric circles outlining business architecture domains in the BIZBOK are the priority.  The concepts in the outer circles are considered a next level priority.</a:t>
            </a:r>
            <a:endParaRPr lang="en-US" sz="2000" dirty="0"/>
          </a:p>
        </p:txBody>
      </p:sp>
      <p:sp>
        <p:nvSpPr>
          <p:cNvPr id="10" name="Text Box 14"/>
          <p:cNvSpPr txBox="1">
            <a:spLocks noChangeArrowheads="1"/>
          </p:cNvSpPr>
          <p:nvPr/>
        </p:nvSpPr>
        <p:spPr bwMode="gray">
          <a:xfrm>
            <a:off x="356758" y="4500897"/>
            <a:ext cx="8184570" cy="1631216"/>
          </a:xfrm>
          <a:prstGeom prst="rect">
            <a:avLst/>
          </a:prstGeom>
          <a:noFill/>
          <a:ln w="9525" algn="ctr">
            <a:noFill/>
            <a:miter lim="800000"/>
            <a:headEnd/>
            <a:tailEnd/>
          </a:ln>
          <a:effectLst/>
        </p:spPr>
        <p:txBody>
          <a:bodyPr wrap="square">
            <a:spAutoFit/>
          </a:bodyPr>
          <a:lstStyle/>
          <a:p>
            <a:pPr marL="342900" indent="-342900">
              <a:buFont typeface="Wingdings" pitchFamily="2" charset="2"/>
              <a:buNone/>
            </a:pPr>
            <a:r>
              <a:rPr lang="en-US" sz="2000" b="1" dirty="0" smtClean="0"/>
              <a:t>Assumptions</a:t>
            </a:r>
          </a:p>
          <a:p>
            <a:pPr marL="342900" indent="-342900">
              <a:buFontTx/>
              <a:buChar char="-"/>
            </a:pPr>
            <a:r>
              <a:rPr lang="en-US" sz="1600" dirty="0" smtClean="0"/>
              <a:t>The </a:t>
            </a:r>
            <a:r>
              <a:rPr lang="en-US" sz="1600" dirty="0" smtClean="0"/>
              <a:t>primary purpose of the </a:t>
            </a:r>
            <a:r>
              <a:rPr lang="en-US" sz="1600" dirty="0" err="1" smtClean="0"/>
              <a:t>metamodel</a:t>
            </a:r>
            <a:r>
              <a:rPr lang="en-US" sz="1600" dirty="0" smtClean="0"/>
              <a:t> team is to translate content from other teams in the Guild to structured outcomes in the glossary and </a:t>
            </a:r>
            <a:r>
              <a:rPr lang="en-US" sz="1600" dirty="0" err="1" smtClean="0"/>
              <a:t>metamodel</a:t>
            </a:r>
            <a:r>
              <a:rPr lang="en-US" sz="1600" dirty="0" smtClean="0"/>
              <a:t>, expedite approval of such, and support getting it out to those who will consume it. </a:t>
            </a:r>
            <a:endParaRPr lang="en-US" sz="1600" dirty="0" smtClean="0"/>
          </a:p>
          <a:p>
            <a:pPr marL="342900" indent="-342900">
              <a:buFontTx/>
              <a:buChar char="-"/>
            </a:pPr>
            <a:r>
              <a:rPr lang="en-US" sz="1600" dirty="0" smtClean="0"/>
              <a:t>Updates to the </a:t>
            </a:r>
            <a:r>
              <a:rPr lang="en-US" sz="1600" dirty="0" err="1" smtClean="0"/>
              <a:t>metamodel</a:t>
            </a:r>
            <a:r>
              <a:rPr lang="en-US" sz="1600" dirty="0" smtClean="0"/>
              <a:t> should always be “in step” with updates to the BIZBOK, white papers, webinars, etc.</a:t>
            </a:r>
            <a:endParaRPr lang="en-US" sz="1600" dirty="0"/>
          </a:p>
        </p:txBody>
      </p:sp>
    </p:spTree>
    <p:extLst>
      <p:ext uri="{BB962C8B-B14F-4D97-AF65-F5344CB8AC3E}">
        <p14:creationId xmlns:p14="http://schemas.microsoft.com/office/powerpoint/2010/main" val="1752722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pPr/>
              <a:t>11/7/2014</a:t>
            </a:fld>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pPr/>
              <a:t>5</a:t>
            </a:fld>
            <a:endParaRPr lang="en-US" dirty="0"/>
          </a:p>
        </p:txBody>
      </p:sp>
      <p:sp>
        <p:nvSpPr>
          <p:cNvPr id="5" name="Footer Placeholder 4"/>
          <p:cNvSpPr>
            <a:spLocks noGrp="1"/>
          </p:cNvSpPr>
          <p:nvPr>
            <p:ph type="ftr" sz="quarter" idx="13"/>
          </p:nvPr>
        </p:nvSpPr>
        <p:spPr/>
        <p:txBody>
          <a:bodyPr/>
          <a:lstStyle/>
          <a:p>
            <a:r>
              <a:rPr lang="en-US" smtClean="0"/>
              <a:t>Copyright 2014</a:t>
            </a:r>
            <a:endParaRPr lang="en-US" dirty="0"/>
          </a:p>
        </p:txBody>
      </p:sp>
      <p:sp>
        <p:nvSpPr>
          <p:cNvPr id="6" name="Title 5"/>
          <p:cNvSpPr>
            <a:spLocks noGrp="1"/>
          </p:cNvSpPr>
          <p:nvPr>
            <p:ph type="title"/>
          </p:nvPr>
        </p:nvSpPr>
        <p:spPr/>
        <p:txBody>
          <a:bodyPr/>
          <a:lstStyle/>
          <a:p>
            <a:endParaRPr lang="en-US"/>
          </a:p>
        </p:txBody>
      </p:sp>
      <p:sp>
        <p:nvSpPr>
          <p:cNvPr id="7" name="Text Box 9"/>
          <p:cNvSpPr txBox="1">
            <a:spLocks noChangeArrowheads="1"/>
          </p:cNvSpPr>
          <p:nvPr/>
        </p:nvSpPr>
        <p:spPr bwMode="gray">
          <a:xfrm>
            <a:off x="387930" y="3186628"/>
            <a:ext cx="7987143" cy="3416320"/>
          </a:xfrm>
          <a:prstGeom prst="rect">
            <a:avLst/>
          </a:prstGeom>
          <a:noFill/>
          <a:ln w="9525" algn="ctr">
            <a:noFill/>
            <a:miter lim="800000"/>
            <a:headEnd/>
            <a:tailEnd/>
          </a:ln>
          <a:effectLst/>
        </p:spPr>
        <p:txBody>
          <a:bodyPr wrap="square">
            <a:spAutoFit/>
          </a:bodyPr>
          <a:lstStyle/>
          <a:p>
            <a:pPr marL="342900" indent="-342900">
              <a:buFont typeface="Wingdings" pitchFamily="2" charset="2"/>
              <a:buNone/>
            </a:pPr>
            <a:r>
              <a:rPr lang="en-US" sz="2000" b="1" dirty="0" smtClean="0"/>
              <a:t>Capabilities</a:t>
            </a:r>
          </a:p>
          <a:p>
            <a:pPr marL="342900" indent="-342900">
              <a:buFontTx/>
              <a:buChar char="-"/>
            </a:pPr>
            <a:r>
              <a:rPr lang="en-US" sz="1600" dirty="0" smtClean="0"/>
              <a:t>Ability to understand all Guild efforts with potential to impact the </a:t>
            </a:r>
            <a:r>
              <a:rPr lang="en-US" sz="1600" dirty="0" err="1" smtClean="0"/>
              <a:t>metamodel</a:t>
            </a:r>
            <a:r>
              <a:rPr lang="en-US" sz="1600" dirty="0" smtClean="0"/>
              <a:t> (Sue </a:t>
            </a:r>
            <a:r>
              <a:rPr lang="en-US" sz="1600" dirty="0" err="1" smtClean="0"/>
              <a:t>Alemann’s</a:t>
            </a:r>
            <a:r>
              <a:rPr lang="en-US" sz="1600" dirty="0" smtClean="0"/>
              <a:t> </a:t>
            </a:r>
            <a:r>
              <a:rPr lang="en-US" sz="1600" dirty="0" smtClean="0"/>
              <a:t>PMO program </a:t>
            </a:r>
            <a:r>
              <a:rPr lang="en-US" sz="1600" dirty="0" smtClean="0"/>
              <a:t>plan) and where they are in the development / release lifecycle</a:t>
            </a:r>
          </a:p>
          <a:p>
            <a:pPr marL="342900" indent="-342900">
              <a:buFontTx/>
              <a:buChar char="-"/>
            </a:pPr>
            <a:r>
              <a:rPr lang="en-US" sz="1600" dirty="0" smtClean="0"/>
              <a:t>Ability to move </a:t>
            </a:r>
            <a:r>
              <a:rPr lang="en-US" sz="1600" dirty="0" err="1" smtClean="0"/>
              <a:t>metamodel</a:t>
            </a:r>
            <a:r>
              <a:rPr lang="en-US" sz="1600" dirty="0" smtClean="0"/>
              <a:t> team updates through governance (Jeff)</a:t>
            </a:r>
          </a:p>
          <a:p>
            <a:pPr marL="342900" indent="-342900">
              <a:buFontTx/>
              <a:buChar char="-"/>
            </a:pPr>
            <a:r>
              <a:rPr lang="en-US" sz="1600" dirty="0" smtClean="0"/>
              <a:t>Ability to understand all consumers of the </a:t>
            </a:r>
            <a:r>
              <a:rPr lang="en-US" sz="1600" dirty="0" err="1" smtClean="0"/>
              <a:t>metamodel</a:t>
            </a:r>
            <a:r>
              <a:rPr lang="en-US" sz="1600" dirty="0" smtClean="0"/>
              <a:t>, how they will use it, and how they would want to view it (some known, some new – </a:t>
            </a:r>
            <a:r>
              <a:rPr lang="en-US" sz="1600" dirty="0" err="1" smtClean="0"/>
              <a:t>ie</a:t>
            </a:r>
            <a:r>
              <a:rPr lang="en-US" sz="1600" dirty="0" smtClean="0"/>
              <a:t>. cookbook by vertical)</a:t>
            </a:r>
          </a:p>
          <a:p>
            <a:pPr marL="342900" indent="-342900">
              <a:buFontTx/>
              <a:buChar char="-"/>
            </a:pPr>
            <a:r>
              <a:rPr lang="en-US" sz="1600" dirty="0" smtClean="0"/>
              <a:t>Ability to capture KPI metrics and report</a:t>
            </a:r>
          </a:p>
          <a:p>
            <a:pPr marL="342900" indent="-342900">
              <a:buFontTx/>
              <a:buChar char="-"/>
            </a:pPr>
            <a:r>
              <a:rPr lang="en-US" sz="1600" dirty="0" smtClean="0"/>
              <a:t>Escalation procedure</a:t>
            </a:r>
          </a:p>
          <a:p>
            <a:pPr marL="342900" indent="-342900">
              <a:buFontTx/>
              <a:buChar char="-"/>
            </a:pPr>
            <a:endParaRPr lang="en-US" sz="1600" dirty="0" smtClean="0"/>
          </a:p>
          <a:p>
            <a:pPr marL="342900" indent="-342900">
              <a:buFontTx/>
              <a:buChar char="-"/>
            </a:pPr>
            <a:endParaRPr lang="en-US" sz="1600" dirty="0" smtClean="0"/>
          </a:p>
          <a:p>
            <a:pPr marL="342900" indent="-342900">
              <a:buFontTx/>
              <a:buChar char="-"/>
            </a:pPr>
            <a:endParaRPr lang="en-US" sz="1600" dirty="0" smtClean="0"/>
          </a:p>
          <a:p>
            <a:pPr marL="342900" indent="-342900">
              <a:buFont typeface="Wingdings" pitchFamily="2" charset="2"/>
              <a:buNone/>
            </a:pPr>
            <a:endParaRPr lang="en-US" sz="2000" b="1" dirty="0"/>
          </a:p>
        </p:txBody>
      </p:sp>
      <p:sp>
        <p:nvSpPr>
          <p:cNvPr id="8" name="Text Box 12"/>
          <p:cNvSpPr txBox="1">
            <a:spLocks noChangeArrowheads="1"/>
          </p:cNvSpPr>
          <p:nvPr/>
        </p:nvSpPr>
        <p:spPr bwMode="gray">
          <a:xfrm>
            <a:off x="387930" y="1144094"/>
            <a:ext cx="8257305" cy="1877437"/>
          </a:xfrm>
          <a:prstGeom prst="rect">
            <a:avLst/>
          </a:prstGeom>
          <a:noFill/>
          <a:ln w="9525" algn="ctr">
            <a:noFill/>
            <a:miter lim="800000"/>
            <a:headEnd/>
            <a:tailEnd/>
          </a:ln>
          <a:effectLst/>
        </p:spPr>
        <p:txBody>
          <a:bodyPr wrap="square">
            <a:spAutoFit/>
          </a:bodyPr>
          <a:lstStyle/>
          <a:p>
            <a:pPr marL="342900" indent="-342900">
              <a:buFont typeface="Wingdings" pitchFamily="2" charset="2"/>
              <a:buNone/>
            </a:pPr>
            <a:r>
              <a:rPr lang="en-US" sz="2000" b="1" dirty="0" smtClean="0"/>
              <a:t>Risks</a:t>
            </a:r>
          </a:p>
          <a:p>
            <a:pPr marL="342900" indent="-342900">
              <a:buFontTx/>
              <a:buChar char="-"/>
            </a:pPr>
            <a:r>
              <a:rPr lang="en-US" sz="1600" dirty="0" smtClean="0"/>
              <a:t>Availability of resources</a:t>
            </a:r>
          </a:p>
          <a:p>
            <a:pPr marL="342900" indent="-342900">
              <a:buFontTx/>
              <a:buChar char="-"/>
            </a:pPr>
            <a:r>
              <a:rPr lang="en-US" sz="1600" dirty="0" smtClean="0"/>
              <a:t>Responsiveness of governance bodies in providing input and making decisions</a:t>
            </a:r>
          </a:p>
          <a:p>
            <a:pPr marL="342900" indent="-342900">
              <a:buFontTx/>
              <a:buChar char="-"/>
            </a:pPr>
            <a:r>
              <a:rPr lang="en-US" sz="1600" dirty="0" smtClean="0"/>
              <a:t>Cooperation from Guild teams in getting early involvement in </a:t>
            </a:r>
            <a:r>
              <a:rPr lang="en-US" sz="1600" dirty="0" err="1" smtClean="0"/>
              <a:t>metamodel</a:t>
            </a:r>
            <a:r>
              <a:rPr lang="en-US" sz="1600" dirty="0" smtClean="0"/>
              <a:t>-impacting updates</a:t>
            </a:r>
          </a:p>
          <a:p>
            <a:pPr marL="342900" indent="-342900">
              <a:buFontTx/>
              <a:buChar char="-"/>
            </a:pPr>
            <a:r>
              <a:rPr lang="en-US" sz="1600" dirty="0" smtClean="0"/>
              <a:t>Cooperation from “consumers” of the </a:t>
            </a:r>
            <a:r>
              <a:rPr lang="en-US" sz="1600" dirty="0" err="1" smtClean="0"/>
              <a:t>metamodel</a:t>
            </a:r>
            <a:r>
              <a:rPr lang="en-US" sz="1600" dirty="0" smtClean="0"/>
              <a:t> in communicating their needs and wishes in terms of presentation of </a:t>
            </a:r>
            <a:r>
              <a:rPr lang="en-US" sz="1600" dirty="0" err="1" smtClean="0"/>
              <a:t>metamodel</a:t>
            </a:r>
            <a:r>
              <a:rPr lang="en-US" sz="1600" dirty="0" smtClean="0"/>
              <a:t> team outcomes</a:t>
            </a:r>
          </a:p>
        </p:txBody>
      </p:sp>
    </p:spTree>
    <p:extLst>
      <p:ext uri="{BB962C8B-B14F-4D97-AF65-F5344CB8AC3E}">
        <p14:creationId xmlns:p14="http://schemas.microsoft.com/office/powerpoint/2010/main" val="3703621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1A099F0-A5F1-4ED5-9377-F6752109C662}" type="datetime1">
              <a:rPr lang="en-US" smtClean="0"/>
              <a:pPr/>
              <a:t>11/7/2014</a:t>
            </a:fld>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pPr/>
              <a:t>6</a:t>
            </a:fld>
            <a:endParaRPr lang="en-US" dirty="0"/>
          </a:p>
        </p:txBody>
      </p:sp>
      <p:sp>
        <p:nvSpPr>
          <p:cNvPr id="5" name="Footer Placeholder 4"/>
          <p:cNvSpPr>
            <a:spLocks noGrp="1"/>
          </p:cNvSpPr>
          <p:nvPr>
            <p:ph type="ftr" sz="quarter" idx="13"/>
          </p:nvPr>
        </p:nvSpPr>
        <p:spPr/>
        <p:txBody>
          <a:bodyPr/>
          <a:lstStyle/>
          <a:p>
            <a:r>
              <a:rPr lang="en-US" smtClean="0"/>
              <a:t>Copyright 2014</a:t>
            </a:r>
            <a:endParaRPr lang="en-US" dirty="0"/>
          </a:p>
        </p:txBody>
      </p:sp>
      <p:sp>
        <p:nvSpPr>
          <p:cNvPr id="6" name="Title 5"/>
          <p:cNvSpPr>
            <a:spLocks noGrp="1"/>
          </p:cNvSpPr>
          <p:nvPr>
            <p:ph type="title"/>
          </p:nvPr>
        </p:nvSpPr>
        <p:spPr/>
        <p:txBody>
          <a:bodyPr/>
          <a:lstStyle/>
          <a:p>
            <a:endParaRPr lang="en-US"/>
          </a:p>
        </p:txBody>
      </p:sp>
      <p:sp>
        <p:nvSpPr>
          <p:cNvPr id="7" name="Rectangle 6"/>
          <p:cNvSpPr/>
          <p:nvPr/>
        </p:nvSpPr>
        <p:spPr>
          <a:xfrm>
            <a:off x="1776861" y="1943105"/>
            <a:ext cx="1059872" cy="613063"/>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662554" y="3013368"/>
            <a:ext cx="1059872" cy="602673"/>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662554" y="4031677"/>
            <a:ext cx="1059872" cy="623455"/>
          </a:xfrm>
          <a:prstGeom prst="rect">
            <a:avLst/>
          </a:prstGeom>
          <a:solidFill>
            <a:srgbClr val="F254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849590" y="4613564"/>
            <a:ext cx="696191" cy="369332"/>
          </a:xfrm>
          <a:prstGeom prst="rect">
            <a:avLst/>
          </a:prstGeom>
          <a:noFill/>
        </p:spPr>
        <p:txBody>
          <a:bodyPr wrap="square" rtlCol="0">
            <a:spAutoFit/>
          </a:bodyPr>
          <a:lstStyle/>
          <a:p>
            <a:r>
              <a:rPr lang="en-US" dirty="0" smtClean="0"/>
              <a:t>.</a:t>
            </a:r>
            <a:endParaRPr lang="en-US" dirty="0"/>
          </a:p>
        </p:txBody>
      </p:sp>
      <p:sp>
        <p:nvSpPr>
          <p:cNvPr id="11" name="TextBox 10"/>
          <p:cNvSpPr txBox="1"/>
          <p:nvPr/>
        </p:nvSpPr>
        <p:spPr>
          <a:xfrm>
            <a:off x="1844394" y="4982896"/>
            <a:ext cx="696191" cy="369332"/>
          </a:xfrm>
          <a:prstGeom prst="rect">
            <a:avLst/>
          </a:prstGeom>
          <a:noFill/>
        </p:spPr>
        <p:txBody>
          <a:bodyPr wrap="square" rtlCol="0">
            <a:spAutoFit/>
          </a:bodyPr>
          <a:lstStyle/>
          <a:p>
            <a:r>
              <a:rPr lang="en-US" dirty="0" smtClean="0"/>
              <a:t>.</a:t>
            </a:r>
            <a:endParaRPr lang="en-US" dirty="0"/>
          </a:p>
        </p:txBody>
      </p:sp>
      <p:sp>
        <p:nvSpPr>
          <p:cNvPr id="12" name="TextBox 11"/>
          <p:cNvSpPr txBox="1"/>
          <p:nvPr/>
        </p:nvSpPr>
        <p:spPr>
          <a:xfrm>
            <a:off x="1849590" y="5354415"/>
            <a:ext cx="696191" cy="369332"/>
          </a:xfrm>
          <a:prstGeom prst="rect">
            <a:avLst/>
          </a:prstGeom>
          <a:noFill/>
        </p:spPr>
        <p:txBody>
          <a:bodyPr wrap="square" rtlCol="0">
            <a:spAutoFit/>
          </a:bodyPr>
          <a:lstStyle/>
          <a:p>
            <a:r>
              <a:rPr lang="en-US" dirty="0" smtClean="0"/>
              <a:t>.</a:t>
            </a:r>
            <a:endParaRPr lang="en-US" dirty="0"/>
          </a:p>
        </p:txBody>
      </p:sp>
      <p:sp>
        <p:nvSpPr>
          <p:cNvPr id="13" name="TextBox 12"/>
          <p:cNvSpPr txBox="1"/>
          <p:nvPr/>
        </p:nvSpPr>
        <p:spPr>
          <a:xfrm>
            <a:off x="758541" y="1205345"/>
            <a:ext cx="3002981" cy="646331"/>
          </a:xfrm>
          <a:prstGeom prst="rect">
            <a:avLst/>
          </a:prstGeom>
          <a:noFill/>
        </p:spPr>
        <p:txBody>
          <a:bodyPr wrap="square" rtlCol="0">
            <a:spAutoFit/>
          </a:bodyPr>
          <a:lstStyle/>
          <a:p>
            <a:r>
              <a:rPr lang="en-US" dirty="0" smtClean="0"/>
              <a:t>Guild </a:t>
            </a:r>
            <a:r>
              <a:rPr lang="en-US" dirty="0" smtClean="0"/>
              <a:t>Collaborative Teams producing content</a:t>
            </a:r>
            <a:endParaRPr lang="en-US" dirty="0"/>
          </a:p>
        </p:txBody>
      </p:sp>
      <p:sp>
        <p:nvSpPr>
          <p:cNvPr id="14" name="Rectangle 13"/>
          <p:cNvSpPr/>
          <p:nvPr/>
        </p:nvSpPr>
        <p:spPr>
          <a:xfrm>
            <a:off x="4281069" y="1943105"/>
            <a:ext cx="1984664" cy="368876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BIZBOK, White Papers, Case Studies, Press Releases, Webinars, </a:t>
            </a:r>
            <a:r>
              <a:rPr lang="en-US" b="1" dirty="0" smtClean="0">
                <a:solidFill>
                  <a:schemeClr val="tx1"/>
                </a:solidFill>
              </a:rPr>
              <a:t>&amp; </a:t>
            </a:r>
            <a:r>
              <a:rPr lang="en-US" b="1" dirty="0" err="1" smtClean="0">
                <a:solidFill>
                  <a:schemeClr val="tx1"/>
                </a:solidFill>
              </a:rPr>
              <a:t>Metamodel</a:t>
            </a:r>
            <a:endParaRPr lang="en-US" b="1" dirty="0">
              <a:solidFill>
                <a:schemeClr val="tx1"/>
              </a:solidFill>
            </a:endParaRPr>
          </a:p>
        </p:txBody>
      </p:sp>
      <p:sp>
        <p:nvSpPr>
          <p:cNvPr id="15" name="TextBox 14"/>
          <p:cNvSpPr txBox="1"/>
          <p:nvPr/>
        </p:nvSpPr>
        <p:spPr>
          <a:xfrm>
            <a:off x="4281069" y="1205345"/>
            <a:ext cx="2192482" cy="646331"/>
          </a:xfrm>
          <a:prstGeom prst="rect">
            <a:avLst/>
          </a:prstGeom>
          <a:noFill/>
        </p:spPr>
        <p:txBody>
          <a:bodyPr wrap="square" rtlCol="0">
            <a:spAutoFit/>
          </a:bodyPr>
          <a:lstStyle/>
          <a:p>
            <a:r>
              <a:rPr lang="en-US" dirty="0" smtClean="0"/>
              <a:t>Externally Released Deliverables</a:t>
            </a:r>
            <a:endParaRPr lang="en-US" dirty="0"/>
          </a:p>
        </p:txBody>
      </p:sp>
      <p:cxnSp>
        <p:nvCxnSpPr>
          <p:cNvPr id="17" name="Straight Connector 16"/>
          <p:cNvCxnSpPr>
            <a:stCxn id="7" idx="3"/>
            <a:endCxn id="14" idx="1"/>
          </p:cNvCxnSpPr>
          <p:nvPr/>
        </p:nvCxnSpPr>
        <p:spPr>
          <a:xfrm>
            <a:off x="2836733" y="2249637"/>
            <a:ext cx="1444336" cy="15378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3"/>
            <a:endCxn id="14" idx="1"/>
          </p:cNvCxnSpPr>
          <p:nvPr/>
        </p:nvCxnSpPr>
        <p:spPr>
          <a:xfrm>
            <a:off x="2722426" y="3314705"/>
            <a:ext cx="1558643" cy="472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9" idx="3"/>
            <a:endCxn id="14" idx="1"/>
          </p:cNvCxnSpPr>
          <p:nvPr/>
        </p:nvCxnSpPr>
        <p:spPr>
          <a:xfrm flipV="1">
            <a:off x="2722426" y="3787489"/>
            <a:ext cx="1558643" cy="55591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503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457200" indent="-457200">
              <a:buFont typeface="+mj-lt"/>
              <a:buAutoNum type="arabicPeriod"/>
            </a:pPr>
            <a:r>
              <a:rPr lang="en-US" sz="1400" dirty="0" smtClean="0"/>
              <a:t>Embed members of input </a:t>
            </a:r>
            <a:r>
              <a:rPr lang="en-US" sz="1400" dirty="0" err="1" smtClean="0"/>
              <a:t>subteam</a:t>
            </a:r>
            <a:r>
              <a:rPr lang="en-US" sz="1400" dirty="0" smtClean="0"/>
              <a:t> of </a:t>
            </a:r>
            <a:r>
              <a:rPr lang="en-US" sz="1400" dirty="0" err="1" smtClean="0"/>
              <a:t>Metamodel</a:t>
            </a:r>
            <a:r>
              <a:rPr lang="en-US" sz="1400" dirty="0" smtClean="0"/>
              <a:t> team back into the collaborative teams they align to (ex. Paula to Requirements team) and have them develop scenarios coincident with the team’s other content (BIZBOK updates, webinars, white papers, etc.) – to ensure we don’t end up with competing content and stay aligned</a:t>
            </a:r>
          </a:p>
          <a:p>
            <a:pPr marL="457200" indent="-457200">
              <a:buFont typeface="+mj-lt"/>
              <a:buAutoNum type="arabicPeriod"/>
            </a:pPr>
            <a:r>
              <a:rPr lang="en-US" sz="1400" dirty="0" smtClean="0"/>
              <a:t>Address gaps – scenarios that aren’t currently addressed by a collaborative team</a:t>
            </a:r>
          </a:p>
          <a:p>
            <a:pPr marL="457200" indent="-457200">
              <a:buFont typeface="+mj-lt"/>
              <a:buAutoNum type="arabicPeriod"/>
            </a:pPr>
            <a:r>
              <a:rPr lang="en-US" sz="1400" dirty="0" smtClean="0"/>
              <a:t>Change the </a:t>
            </a:r>
            <a:r>
              <a:rPr lang="en-US" sz="1400" dirty="0" err="1" smtClean="0"/>
              <a:t>metamodel</a:t>
            </a:r>
            <a:r>
              <a:rPr lang="en-US" sz="1400" dirty="0" smtClean="0"/>
              <a:t> team organization from the four </a:t>
            </a:r>
            <a:r>
              <a:rPr lang="en-US" sz="1400" dirty="0" err="1" smtClean="0"/>
              <a:t>subteams</a:t>
            </a:r>
            <a:r>
              <a:rPr lang="en-US" sz="1400" dirty="0" smtClean="0"/>
              <a:t> (input, modeling, publishing, and review) to one that focuses on:</a:t>
            </a:r>
          </a:p>
          <a:p>
            <a:pPr lvl="3">
              <a:buFont typeface="Arial" panose="020B0604020202020204" pitchFamily="34" charset="0"/>
              <a:buChar char="•"/>
            </a:pPr>
            <a:r>
              <a:rPr lang="en-US" sz="1400" dirty="0" smtClean="0"/>
              <a:t>doing gap analyses for content produced by collaborative teams (BIZBOK content, white papers, webinars, scenarios)</a:t>
            </a:r>
          </a:p>
          <a:p>
            <a:pPr lvl="3">
              <a:buFont typeface="Arial" panose="020B0604020202020204" pitchFamily="34" charset="0"/>
              <a:buChar char="•"/>
            </a:pPr>
            <a:r>
              <a:rPr lang="en-US" sz="1400" dirty="0" smtClean="0"/>
              <a:t>Modeling, publishing, and review / approval (governance) of such</a:t>
            </a:r>
          </a:p>
          <a:p>
            <a:pPr lvl="3">
              <a:buFont typeface="Arial" panose="020B0604020202020204" pitchFamily="34" charset="0"/>
              <a:buChar char="•"/>
            </a:pPr>
            <a:r>
              <a:rPr lang="en-US" sz="1400" dirty="0" smtClean="0"/>
              <a:t>Ability to make the </a:t>
            </a:r>
            <a:r>
              <a:rPr lang="en-US" sz="1400" dirty="0" err="1" smtClean="0"/>
              <a:t>metamodel</a:t>
            </a:r>
            <a:r>
              <a:rPr lang="en-US" sz="1400" dirty="0" smtClean="0"/>
              <a:t> consumable by all targeted consumers:</a:t>
            </a:r>
          </a:p>
          <a:p>
            <a:pPr lvl="4">
              <a:buFont typeface="Arial" panose="020B0604020202020204" pitchFamily="34" charset="0"/>
              <a:buChar char="•"/>
            </a:pPr>
            <a:r>
              <a:rPr lang="en-US" sz="1400" dirty="0" smtClean="0"/>
              <a:t>Produce subset views of the conceptual / logical models for early discussions with new or next rev collaborative team discussions</a:t>
            </a:r>
          </a:p>
          <a:p>
            <a:pPr lvl="4">
              <a:buFont typeface="Arial" panose="020B0604020202020204" pitchFamily="34" charset="0"/>
              <a:buChar char="•"/>
            </a:pPr>
            <a:r>
              <a:rPr lang="en-US" sz="1400" dirty="0" smtClean="0"/>
              <a:t>Produce conceptual / logical model updates to feed all consumers / purposes – BIZBOK inclusion, specific subset view for a collaborative team putting out a webinar, </a:t>
            </a:r>
            <a:r>
              <a:rPr lang="en-US" sz="1400" smtClean="0"/>
              <a:t>vendor standardization, </a:t>
            </a:r>
            <a:r>
              <a:rPr lang="en-US" sz="1400" dirty="0" smtClean="0"/>
              <a:t>etc.</a:t>
            </a:r>
          </a:p>
          <a:p>
            <a:pPr marL="0" lvl="1" indent="0">
              <a:buNone/>
            </a:pPr>
            <a:r>
              <a:rPr lang="en-US" sz="1400" dirty="0" smtClean="0"/>
              <a:t>4. Implement the processes alluded to in the “Assumptions” section around lifecycle management of Guild content (including the </a:t>
            </a:r>
            <a:r>
              <a:rPr lang="en-US" sz="1400" dirty="0" err="1" smtClean="0"/>
              <a:t>metamodel</a:t>
            </a:r>
            <a:r>
              <a:rPr lang="en-US" sz="1400" dirty="0" smtClean="0"/>
              <a:t>) such that the collaborative teams develop “next gen” content that is then coordinated through the Editorial Board and the </a:t>
            </a:r>
            <a:r>
              <a:rPr lang="en-US" sz="1400" dirty="0" err="1" smtClean="0"/>
              <a:t>Metamodel</a:t>
            </a:r>
            <a:r>
              <a:rPr lang="en-US" sz="1400" dirty="0" smtClean="0"/>
              <a:t> team for release.   (May consider moving the </a:t>
            </a:r>
            <a:r>
              <a:rPr lang="en-US" sz="1400" dirty="0" err="1" smtClean="0"/>
              <a:t>metamodel</a:t>
            </a:r>
            <a:r>
              <a:rPr lang="en-US" sz="1400" dirty="0" smtClean="0"/>
              <a:t> work back into the editorial board.) </a:t>
            </a:r>
          </a:p>
          <a:p>
            <a:pPr lvl="3">
              <a:buFont typeface="Arial" panose="020B0604020202020204" pitchFamily="34" charset="0"/>
              <a:buChar char="•"/>
            </a:pPr>
            <a:endParaRPr lang="en-US" sz="1400" dirty="0" smtClean="0"/>
          </a:p>
        </p:txBody>
      </p:sp>
      <p:sp>
        <p:nvSpPr>
          <p:cNvPr id="3" name="Date Placeholder 2"/>
          <p:cNvSpPr>
            <a:spLocks noGrp="1"/>
          </p:cNvSpPr>
          <p:nvPr>
            <p:ph type="dt" sz="half" idx="10"/>
          </p:nvPr>
        </p:nvSpPr>
        <p:spPr/>
        <p:txBody>
          <a:bodyPr/>
          <a:lstStyle/>
          <a:p>
            <a:fld id="{51A099F0-A5F1-4ED5-9377-F6752109C662}" type="datetime1">
              <a:rPr lang="en-US" smtClean="0"/>
              <a:pPr/>
              <a:t>11/7/2014</a:t>
            </a:fld>
            <a:endParaRPr lang="en-US" dirty="0"/>
          </a:p>
        </p:txBody>
      </p:sp>
      <p:sp>
        <p:nvSpPr>
          <p:cNvPr id="4" name="Slide Number Placeholder 3"/>
          <p:cNvSpPr>
            <a:spLocks noGrp="1"/>
          </p:cNvSpPr>
          <p:nvPr>
            <p:ph type="sldNum" sz="quarter" idx="12"/>
          </p:nvPr>
        </p:nvSpPr>
        <p:spPr/>
        <p:txBody>
          <a:bodyPr/>
          <a:lstStyle/>
          <a:p>
            <a:fld id="{8D059518-4F10-4CC2-99CC-9CA73E170347}" type="slidenum">
              <a:rPr lang="en-US" smtClean="0"/>
              <a:pPr/>
              <a:t>7</a:t>
            </a:fld>
            <a:endParaRPr lang="en-US" dirty="0"/>
          </a:p>
        </p:txBody>
      </p:sp>
      <p:sp>
        <p:nvSpPr>
          <p:cNvPr id="5" name="Footer Placeholder 4"/>
          <p:cNvSpPr>
            <a:spLocks noGrp="1"/>
          </p:cNvSpPr>
          <p:nvPr>
            <p:ph type="ftr" sz="quarter" idx="13"/>
          </p:nvPr>
        </p:nvSpPr>
        <p:spPr/>
        <p:txBody>
          <a:bodyPr/>
          <a:lstStyle/>
          <a:p>
            <a:r>
              <a:rPr lang="en-US" smtClean="0"/>
              <a:t>Copyright 2014</a:t>
            </a:r>
            <a:endParaRPr lang="en-US" dirty="0"/>
          </a:p>
        </p:txBody>
      </p:sp>
      <p:sp>
        <p:nvSpPr>
          <p:cNvPr id="6" name="Title 5"/>
          <p:cNvSpPr>
            <a:spLocks noGrp="1"/>
          </p:cNvSpPr>
          <p:nvPr>
            <p:ph type="title"/>
          </p:nvPr>
        </p:nvSpPr>
        <p:spPr/>
        <p:txBody>
          <a:bodyPr/>
          <a:lstStyle/>
          <a:p>
            <a:r>
              <a:rPr lang="en-US" dirty="0" smtClean="0"/>
              <a:t>Proposal</a:t>
            </a:r>
            <a:endParaRPr lang="en-US" dirty="0"/>
          </a:p>
        </p:txBody>
      </p:sp>
    </p:spTree>
    <p:extLst>
      <p:ext uri="{BB962C8B-B14F-4D97-AF65-F5344CB8AC3E}">
        <p14:creationId xmlns:p14="http://schemas.microsoft.com/office/powerpoint/2010/main" val="5724827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spDef>
      <a:spPr>
        <a:solidFill>
          <a:srgbClr val="F2541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3188</TotalTime>
  <Words>1061</Words>
  <Application>Microsoft Office PowerPoint</Application>
  <PresentationFormat>On-screen Show (4:3)</PresentationFormat>
  <Paragraphs>77</Paragraphs>
  <Slides>7</Slides>
  <Notes>1</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1_Angles</vt:lpstr>
      <vt:lpstr>Proposed Metamodel Team  Strategy Update</vt:lpstr>
      <vt:lpstr>PowerPoint Presentation</vt:lpstr>
      <vt:lpstr>PowerPoint Presentation</vt:lpstr>
      <vt:lpstr>PowerPoint Presentation</vt:lpstr>
      <vt:lpstr>PowerPoint Presentation</vt:lpstr>
      <vt:lpstr>PowerPoint Presentation</vt:lpstr>
      <vt:lpstr>Proposal</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kathy</dc:creator>
  <cp:lastModifiedBy>Lewis, Janice</cp:lastModifiedBy>
  <cp:revision>312</cp:revision>
  <dcterms:created xsi:type="dcterms:W3CDTF">2012-10-06T17:50:46Z</dcterms:created>
  <dcterms:modified xsi:type="dcterms:W3CDTF">2014-11-07T17:53:53Z</dcterms:modified>
</cp:coreProperties>
</file>
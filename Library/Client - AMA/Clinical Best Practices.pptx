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3"/>
  </p:notesMasterIdLst>
  <p:handoutMasterIdLst>
    <p:handoutMasterId r:id="rId34"/>
  </p:handoutMasterIdLst>
  <p:sldIdLst>
    <p:sldId id="257" r:id="rId2"/>
    <p:sldId id="256" r:id="rId3"/>
    <p:sldId id="258" r:id="rId4"/>
    <p:sldId id="259" r:id="rId5"/>
    <p:sldId id="274" r:id="rId6"/>
    <p:sldId id="275" r:id="rId7"/>
    <p:sldId id="276" r:id="rId8"/>
    <p:sldId id="291" r:id="rId9"/>
    <p:sldId id="277" r:id="rId10"/>
    <p:sldId id="278" r:id="rId11"/>
    <p:sldId id="279" r:id="rId12"/>
    <p:sldId id="280" r:id="rId13"/>
    <p:sldId id="283" r:id="rId14"/>
    <p:sldId id="281" r:id="rId15"/>
    <p:sldId id="284" r:id="rId16"/>
    <p:sldId id="285" r:id="rId17"/>
    <p:sldId id="287" r:id="rId18"/>
    <p:sldId id="288" r:id="rId19"/>
    <p:sldId id="289" r:id="rId20"/>
    <p:sldId id="290" r:id="rId21"/>
    <p:sldId id="292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9" r:id="rId30"/>
    <p:sldId id="270" r:id="rId31"/>
    <p:sldId id="282" r:id="rId32"/>
  </p:sldIdLst>
  <p:sldSz cx="9144000" cy="6858000" type="screen4x3"/>
  <p:notesSz cx="6858000" cy="910748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merigo Md BT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merigo Md BT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merigo Md BT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merigo Md BT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merigo Md BT" pitchFamily="34" charset="0"/>
        <a:ea typeface="+mn-ea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merigo Md BT" pitchFamily="34" charset="0"/>
        <a:ea typeface="+mn-ea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merigo Md BT" pitchFamily="34" charset="0"/>
        <a:ea typeface="+mn-ea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merigo Md BT" pitchFamily="34" charset="0"/>
        <a:ea typeface="+mn-ea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merigo Md BT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5776"/>
    <a:srgbClr val="C29D00"/>
    <a:srgbClr val="E4B900"/>
    <a:srgbClr val="000066"/>
    <a:srgbClr val="0099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269" autoAdjust="0"/>
    <p:restoredTop sz="90556" autoAdjust="0"/>
  </p:normalViewPr>
  <p:slideViewPr>
    <p:cSldViewPr>
      <p:cViewPr>
        <p:scale>
          <a:sx n="75" d="100"/>
          <a:sy n="75" d="100"/>
        </p:scale>
        <p:origin x="-1488" y="78"/>
      </p:cViewPr>
      <p:guideLst>
        <p:guide orient="horz" pos="2160"/>
        <p:guide pos="5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Swis721 Cn BT" pitchFamily="34" charset="0"/>
              </a:defRPr>
            </a:lvl1pPr>
          </a:lstStyle>
          <a:p>
            <a:endParaRPr lang="en-US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Swis721 Cn BT" pitchFamily="34" charset="0"/>
              </a:defRPr>
            </a:lvl1pPr>
          </a:lstStyle>
          <a:p>
            <a:endParaRPr lang="en-US"/>
          </a:p>
        </p:txBody>
      </p:sp>
      <p:sp>
        <p:nvSpPr>
          <p:cNvPr id="40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51875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Swis721 Cn BT" pitchFamily="34" charset="0"/>
              </a:defRPr>
            </a:lvl1pPr>
          </a:lstStyle>
          <a:p>
            <a:endParaRPr lang="en-US"/>
          </a:p>
        </p:txBody>
      </p:sp>
      <p:sp>
        <p:nvSpPr>
          <p:cNvPr id="40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51875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Swis721 Cn BT" pitchFamily="34" charset="0"/>
              </a:defRPr>
            </a:lvl1pPr>
          </a:lstStyle>
          <a:p>
            <a:fld id="{A32C0D00-E458-4EAB-AD09-B4ABF6E3D932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Swis721 Cn BT" pitchFamily="34" charset="0"/>
              </a:defRPr>
            </a:lvl1pPr>
          </a:lstStyle>
          <a:p>
            <a:endParaRPr 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Swis721 Cn BT" pitchFamily="34" charset="0"/>
              </a:defRPr>
            </a:lvl1pPr>
          </a:lstStyle>
          <a:p>
            <a:endParaRPr lang="en-US"/>
          </a:p>
        </p:txBody>
      </p:sp>
      <p:sp>
        <p:nvSpPr>
          <p:cNvPr id="36868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54113" y="682625"/>
            <a:ext cx="4554537" cy="3416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25938"/>
            <a:ext cx="5029200" cy="409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51875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Swis721 Cn BT" pitchFamily="34" charset="0"/>
              </a:defRPr>
            </a:lvl1pPr>
          </a:lstStyle>
          <a:p>
            <a:endParaRPr lang="en-US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51875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Swis721 Cn BT" pitchFamily="34" charset="0"/>
              </a:defRPr>
            </a:lvl1pPr>
          </a:lstStyle>
          <a:p>
            <a:fld id="{B06BB011-172A-43A8-887D-0F56D2B7C1C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BB011-172A-43A8-887D-0F56D2B7C1C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BB011-172A-43A8-887D-0F56D2B7C1C7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BB011-172A-43A8-887D-0F56D2B7C1C7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BB011-172A-43A8-887D-0F56D2B7C1C7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BB011-172A-43A8-887D-0F56D2B7C1C7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BB011-172A-43A8-887D-0F56D2B7C1C7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BB011-172A-43A8-887D-0F56D2B7C1C7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BB011-172A-43A8-887D-0F56D2B7C1C7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BB011-172A-43A8-887D-0F56D2B7C1C7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BB011-172A-43A8-887D-0F56D2B7C1C7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BB011-172A-43A8-887D-0F56D2B7C1C7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BB011-172A-43A8-887D-0F56D2B7C1C7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BB011-172A-43A8-887D-0F56D2B7C1C7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BB011-172A-43A8-887D-0F56D2B7C1C7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BB011-172A-43A8-887D-0F56D2B7C1C7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BB011-172A-43A8-887D-0F56D2B7C1C7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BB011-172A-43A8-887D-0F56D2B7C1C7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BB011-172A-43A8-887D-0F56D2B7C1C7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BB011-172A-43A8-887D-0F56D2B7C1C7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BB011-172A-43A8-887D-0F56D2B7C1C7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BB011-172A-43A8-887D-0F56D2B7C1C7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BB011-172A-43A8-887D-0F56D2B7C1C7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BB011-172A-43A8-887D-0F56D2B7C1C7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BB011-172A-43A8-887D-0F56D2B7C1C7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BB011-172A-43A8-887D-0F56D2B7C1C7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BB011-172A-43A8-887D-0F56D2B7C1C7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BB011-172A-43A8-887D-0F56D2B7C1C7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BB011-172A-43A8-887D-0F56D2B7C1C7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77B80C-29B0-4E7C-8349-BC2ED8FB8414}" type="slidenum">
              <a:rPr lang="en-US"/>
              <a:pPr/>
              <a:t>29</a:t>
            </a:fld>
            <a:endParaRPr lang="en-US"/>
          </a:p>
        </p:txBody>
      </p:sp>
      <p:sp>
        <p:nvSpPr>
          <p:cNvPr id="3789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rea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BB011-172A-43A8-887D-0F56D2B7C1C7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6BB011-172A-43A8-887D-0F56D2B7C1C7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9CB88-5E1A-4FAC-892A-60949ACB1F6F}" type="datetimeFigureOut">
              <a:rPr lang="en-US" smtClean="0"/>
              <a:pPr/>
              <a:t>1/21/2010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91974DF9-AD47-4691-BA21-BBFCE3637A9A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9CB88-5E1A-4FAC-892A-60949ACB1F6F}" type="datetimeFigureOut">
              <a:rPr lang="en-US" smtClean="0"/>
              <a:pPr/>
              <a:t>1/21/2010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74DF9-AD47-4691-BA21-BBFCE3637A9A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effectLst/>
              </a:defRPr>
            </a:lvl1pPr>
            <a:lvl2pPr>
              <a:defRPr>
                <a:solidFill>
                  <a:schemeClr val="tx1"/>
                </a:solidFill>
                <a:effectLst/>
              </a:defRPr>
            </a:lvl2pPr>
            <a:lvl3pPr>
              <a:defRPr>
                <a:solidFill>
                  <a:schemeClr val="tx1"/>
                </a:solidFill>
                <a:effectLst/>
              </a:defRPr>
            </a:lvl3pPr>
            <a:lvl4pPr>
              <a:defRPr>
                <a:solidFill>
                  <a:schemeClr val="tx1"/>
                </a:solidFill>
                <a:effectLst/>
              </a:defRPr>
            </a:lvl4pPr>
            <a:lvl5pPr>
              <a:defRPr>
                <a:solidFill>
                  <a:schemeClr val="tx1"/>
                </a:solidFill>
                <a:effectLst/>
              </a:defRPr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9CB88-5E1A-4FAC-892A-60949ACB1F6F}" type="datetimeFigureOut">
              <a:rPr lang="en-US" smtClean="0"/>
              <a:pPr/>
              <a:t>1/21/2010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91974DF9-AD47-4691-BA21-BBFCE3637A9A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9CB88-5E1A-4FAC-892A-60949ACB1F6F}" type="datetimeFigureOut">
              <a:rPr lang="en-US" smtClean="0"/>
              <a:pPr/>
              <a:t>1/21/2010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74DF9-AD47-4691-BA21-BBFCE3637A9A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9CB88-5E1A-4FAC-892A-60949ACB1F6F}" type="datetimeFigureOut">
              <a:rPr lang="en-US" smtClean="0"/>
              <a:pPr/>
              <a:t>1/21/2010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74DF9-AD47-4691-BA21-BBFCE3637A9A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9CB88-5E1A-4FAC-892A-60949ACB1F6F}" type="datetimeFigureOut">
              <a:rPr lang="en-US" smtClean="0"/>
              <a:pPr/>
              <a:t>1/21/2010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74DF9-AD47-4691-BA21-BBFCE3637A9A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9CB88-5E1A-4FAC-892A-60949ACB1F6F}" type="datetimeFigureOut">
              <a:rPr lang="en-US" smtClean="0"/>
              <a:pPr/>
              <a:t>1/21/2010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74DF9-AD47-4691-BA21-BBFCE3637A9A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9CB88-5E1A-4FAC-892A-60949ACB1F6F}" type="datetimeFigureOut">
              <a:rPr lang="en-US" smtClean="0"/>
              <a:pPr/>
              <a:t>1/21/2010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74DF9-AD47-4691-BA21-BBFCE3637A9A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9CB88-5E1A-4FAC-892A-60949ACB1F6F}" type="datetimeFigureOut">
              <a:rPr lang="en-US" smtClean="0"/>
              <a:pPr/>
              <a:t>1/21/2010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91974DF9-AD47-4691-BA21-BBFCE3637A9A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9CB88-5E1A-4FAC-892A-60949ACB1F6F}" type="datetimeFigureOut">
              <a:rPr lang="en-US" smtClean="0"/>
              <a:pPr/>
              <a:t>1/21/2010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74DF9-AD47-4691-BA21-BBFCE3637A9A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9CB88-5E1A-4FAC-892A-60949ACB1F6F}" type="datetimeFigureOut">
              <a:rPr lang="en-US" smtClean="0"/>
              <a:pPr/>
              <a:t>1/21/2010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74DF9-AD47-4691-BA21-BBFCE3637A9A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699CB88-5E1A-4FAC-892A-60949ACB1F6F}" type="datetimeFigureOut">
              <a:rPr lang="en-US" smtClean="0"/>
              <a:pPr/>
              <a:t>1/21/2010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91974DF9-AD47-4691-BA21-BBFCE3637A9A}" type="slidenum">
              <a:rPr kumimoji="0" lang="en-US" smtClean="0"/>
              <a:pPr/>
              <a:t>‹#›</a:t>
            </a:fld>
            <a:endParaRPr kumimoji="0" lang="en-US"/>
          </a:p>
        </p:txBody>
      </p:sp>
      <p:pic>
        <p:nvPicPr>
          <p:cNvPr id="10" name="Picture 7" descr="D:\Documents and Settings\isicceg\Desktop\Best Practices\POSTERS\BestLogo.tif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3581400" cy="2236788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BestLogo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114800" y="3048000"/>
            <a:ext cx="5029200" cy="3140075"/>
          </a:xfrm>
          <a:prstGeom prst="rect">
            <a:avLst/>
          </a:prstGeom>
          <a:noFill/>
        </p:spPr>
      </p:pic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381000" y="352425"/>
            <a:ext cx="8763000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400">
                <a:solidFill>
                  <a:srgbClr val="005776"/>
                </a:solidFill>
                <a:effectLst/>
                <a:latin typeface="Swis721 Cn BT" pitchFamily="34" charset="0"/>
              </a:rPr>
              <a:t>The</a:t>
            </a:r>
            <a:r>
              <a:rPr lang="en-US" sz="5400">
                <a:solidFill>
                  <a:srgbClr val="005776"/>
                </a:solidFill>
                <a:effectLst/>
                <a:latin typeface="Swis721 Cn BT" pitchFamily="34" charset="0"/>
              </a:rPr>
              <a:t> Implementation Challenge</a:t>
            </a:r>
            <a:r>
              <a:rPr lang="en-US" sz="4400">
                <a:solidFill>
                  <a:srgbClr val="005776"/>
                </a:solidFill>
                <a:effectLst/>
                <a:latin typeface="Swis721 Cn BT" pitchFamily="34" charset="0"/>
              </a:rPr>
              <a:t> to State Mental Health </a:t>
            </a:r>
            <a:br>
              <a:rPr lang="en-US" sz="4400">
                <a:solidFill>
                  <a:srgbClr val="005776"/>
                </a:solidFill>
                <a:effectLst/>
                <a:latin typeface="Swis721 Cn BT" pitchFamily="34" charset="0"/>
              </a:rPr>
            </a:br>
            <a:r>
              <a:rPr lang="en-US" sz="4400">
                <a:solidFill>
                  <a:srgbClr val="005776"/>
                </a:solidFill>
                <a:effectLst/>
                <a:latin typeface="Swis721 Cn BT" pitchFamily="34" charset="0"/>
              </a:rPr>
              <a:t>Authorities</a:t>
            </a: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393700" y="4660900"/>
            <a:ext cx="4913525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66"/>
                </a:solidFill>
                <a:effectLst/>
                <a:latin typeface="Swis721 Cn BT" pitchFamily="34" charset="0"/>
              </a:rPr>
              <a:t>Panel Chair:</a:t>
            </a:r>
            <a:br>
              <a:rPr lang="en-US" sz="2000">
                <a:solidFill>
                  <a:srgbClr val="000066"/>
                </a:solidFill>
                <a:effectLst/>
                <a:latin typeface="Swis721 Cn BT" pitchFamily="34" charset="0"/>
              </a:rPr>
            </a:br>
            <a:r>
              <a:rPr lang="en-US">
                <a:solidFill>
                  <a:srgbClr val="000066"/>
                </a:solidFill>
                <a:effectLst/>
                <a:latin typeface="Swis721 Cn BT" pitchFamily="34" charset="0"/>
              </a:rPr>
              <a:t>Sharon Carpinello, PhD, RN</a:t>
            </a:r>
            <a:r>
              <a:rPr lang="en-US" sz="2400">
                <a:solidFill>
                  <a:srgbClr val="000066"/>
                </a:solidFill>
                <a:effectLst/>
                <a:latin typeface="Swis721 Cn BT" pitchFamily="34" charset="0"/>
              </a:rPr>
              <a:t/>
            </a:r>
            <a:br>
              <a:rPr lang="en-US" sz="2400">
                <a:solidFill>
                  <a:srgbClr val="000066"/>
                </a:solidFill>
                <a:effectLst/>
                <a:latin typeface="Swis721 Cn BT" pitchFamily="34" charset="0"/>
              </a:rPr>
            </a:br>
            <a:r>
              <a:rPr lang="en-US" sz="2000">
                <a:solidFill>
                  <a:srgbClr val="000066"/>
                </a:solidFill>
                <a:effectLst/>
                <a:latin typeface="Swis721 Cn BT" pitchFamily="34" charset="0"/>
              </a:rPr>
              <a:t>Executive Deputy Commissioner, </a:t>
            </a:r>
            <a:br>
              <a:rPr lang="en-US" sz="2000">
                <a:solidFill>
                  <a:srgbClr val="000066"/>
                </a:solidFill>
                <a:effectLst/>
                <a:latin typeface="Swis721 Cn BT" pitchFamily="34" charset="0"/>
              </a:rPr>
            </a:br>
            <a:r>
              <a:rPr lang="en-US" sz="2000">
                <a:solidFill>
                  <a:srgbClr val="000066"/>
                </a:solidFill>
                <a:effectLst/>
                <a:latin typeface="Swis721 Cn BT" pitchFamily="34" charset="0"/>
              </a:rPr>
              <a:t>NYS Office of Mental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/>
          <p:cNvSpPr txBox="1">
            <a:spLocks noChangeArrowheads="1"/>
          </p:cNvSpPr>
          <p:nvPr/>
        </p:nvSpPr>
        <p:spPr bwMode="auto">
          <a:xfrm>
            <a:off x="2644775" y="2544763"/>
            <a:ext cx="6499225" cy="362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>
                <a:solidFill>
                  <a:srgbClr val="000066"/>
                </a:solidFill>
                <a:effectLst/>
                <a:latin typeface="Swis721 Cn BT" pitchFamily="34" charset="0"/>
              </a:rPr>
              <a:t>		Chip Felton, MSW </a:t>
            </a:r>
            <a:br>
              <a:rPr lang="en-US" sz="2000">
                <a:solidFill>
                  <a:srgbClr val="000066"/>
                </a:solidFill>
                <a:effectLst/>
                <a:latin typeface="Swis721 Cn BT" pitchFamily="34" charset="0"/>
              </a:rPr>
            </a:br>
            <a:r>
              <a:rPr lang="en-US" sz="1800">
                <a:solidFill>
                  <a:srgbClr val="000066"/>
                </a:solidFill>
                <a:effectLst/>
                <a:latin typeface="Swis721 Cn BT" pitchFamily="34" charset="0"/>
              </a:rPr>
              <a:t>NYS Office of Mental Health</a:t>
            </a:r>
          </a:p>
          <a:p>
            <a:pPr algn="r">
              <a:spcBef>
                <a:spcPct val="50000"/>
              </a:spcBef>
            </a:pPr>
            <a:r>
              <a:rPr lang="en-US" sz="2000">
                <a:solidFill>
                  <a:srgbClr val="000066"/>
                </a:solidFill>
                <a:effectLst/>
                <a:latin typeface="Swis721 Cn BT" pitchFamily="34" charset="0"/>
              </a:rPr>
              <a:t>		Cathy Cave</a:t>
            </a:r>
            <a:br>
              <a:rPr lang="en-US" sz="2000">
                <a:solidFill>
                  <a:srgbClr val="000066"/>
                </a:solidFill>
                <a:effectLst/>
                <a:latin typeface="Swis721 Cn BT" pitchFamily="34" charset="0"/>
              </a:rPr>
            </a:br>
            <a:r>
              <a:rPr lang="en-US" sz="2000">
                <a:solidFill>
                  <a:srgbClr val="000066"/>
                </a:solidFill>
                <a:effectLst/>
                <a:latin typeface="Swis721 Cn BT" pitchFamily="34" charset="0"/>
              </a:rPr>
              <a:t> </a:t>
            </a:r>
            <a:r>
              <a:rPr lang="en-US" sz="1800">
                <a:solidFill>
                  <a:srgbClr val="000066"/>
                </a:solidFill>
                <a:effectLst/>
                <a:latin typeface="Swis721 Cn BT" pitchFamily="34" charset="0"/>
              </a:rPr>
              <a:t>NYS Office of Mental Health</a:t>
            </a:r>
          </a:p>
          <a:p>
            <a:pPr algn="r">
              <a:spcBef>
                <a:spcPct val="50000"/>
              </a:spcBef>
            </a:pPr>
            <a:r>
              <a:rPr lang="en-US" sz="2000">
                <a:solidFill>
                  <a:srgbClr val="000066"/>
                </a:solidFill>
                <a:effectLst/>
                <a:latin typeface="Swis721 Cn BT" pitchFamily="34" charset="0"/>
              </a:rPr>
              <a:t>Edward Knight, PhD</a:t>
            </a:r>
            <a:br>
              <a:rPr lang="en-US" sz="2000">
                <a:solidFill>
                  <a:srgbClr val="000066"/>
                </a:solidFill>
                <a:effectLst/>
                <a:latin typeface="Swis721 Cn BT" pitchFamily="34" charset="0"/>
              </a:rPr>
            </a:br>
            <a:r>
              <a:rPr lang="en-US" sz="1800">
                <a:solidFill>
                  <a:srgbClr val="000066"/>
                </a:solidFill>
                <a:effectLst/>
                <a:latin typeface="Swis721 Cn BT" pitchFamily="34" charset="0"/>
              </a:rPr>
              <a:t>The Empowerment Project</a:t>
            </a:r>
          </a:p>
          <a:p>
            <a:pPr algn="r">
              <a:spcBef>
                <a:spcPct val="50000"/>
              </a:spcBef>
            </a:pPr>
            <a:r>
              <a:rPr lang="en-US" sz="2000">
                <a:solidFill>
                  <a:srgbClr val="000066"/>
                </a:solidFill>
                <a:effectLst/>
                <a:latin typeface="Swis721 Cn BT" pitchFamily="34" charset="0"/>
              </a:rPr>
              <a:t>Laurie Flynn</a:t>
            </a:r>
            <a:r>
              <a:rPr lang="en-US" sz="1800">
                <a:solidFill>
                  <a:srgbClr val="000066"/>
                </a:solidFill>
                <a:effectLst/>
                <a:latin typeface="Swis721 Cn BT" pitchFamily="34" charset="0"/>
              </a:rPr>
              <a:t> </a:t>
            </a:r>
            <a:br>
              <a:rPr lang="en-US" sz="1800">
                <a:solidFill>
                  <a:srgbClr val="000066"/>
                </a:solidFill>
                <a:effectLst/>
                <a:latin typeface="Swis721 Cn BT" pitchFamily="34" charset="0"/>
              </a:rPr>
            </a:br>
            <a:r>
              <a:rPr lang="en-US" sz="1800">
                <a:solidFill>
                  <a:srgbClr val="000066"/>
                </a:solidFill>
                <a:effectLst/>
                <a:latin typeface="Swis721 Cn BT" pitchFamily="34" charset="0"/>
              </a:rPr>
              <a:t>Columbia University</a:t>
            </a:r>
          </a:p>
          <a:p>
            <a:pPr algn="r">
              <a:spcBef>
                <a:spcPct val="50000"/>
              </a:spcBef>
            </a:pPr>
            <a:r>
              <a:rPr lang="en-US" sz="2000">
                <a:solidFill>
                  <a:srgbClr val="000066"/>
                </a:solidFill>
                <a:effectLst/>
                <a:latin typeface="Swis721 Cn BT" pitchFamily="34" charset="0"/>
              </a:rPr>
              <a:t>Ron Mandersheid, PhD</a:t>
            </a:r>
            <a:r>
              <a:rPr lang="en-US" sz="1800">
                <a:solidFill>
                  <a:srgbClr val="000066"/>
                </a:solidFill>
                <a:effectLst/>
                <a:latin typeface="Swis721 Cn BT" pitchFamily="34" charset="0"/>
              </a:rPr>
              <a:t/>
            </a:r>
            <a:br>
              <a:rPr lang="en-US" sz="1800">
                <a:solidFill>
                  <a:srgbClr val="000066"/>
                </a:solidFill>
                <a:effectLst/>
                <a:latin typeface="Swis721 Cn BT" pitchFamily="34" charset="0"/>
              </a:rPr>
            </a:br>
            <a:r>
              <a:rPr lang="en-US" sz="1800">
                <a:solidFill>
                  <a:srgbClr val="000066"/>
                </a:solidFill>
                <a:effectLst/>
                <a:latin typeface="Swis721 Cn BT" pitchFamily="34" charset="0"/>
              </a:rPr>
              <a:t>Center for Mental Health Services</a:t>
            </a:r>
            <a:endParaRPr lang="en-US" sz="2000">
              <a:solidFill>
                <a:srgbClr val="000066"/>
              </a:solidFill>
              <a:effectLst/>
              <a:latin typeface="Swis721 Cn BT" pitchFamily="34" charset="0"/>
            </a:endParaRPr>
          </a:p>
        </p:txBody>
      </p:sp>
      <p:sp>
        <p:nvSpPr>
          <p:cNvPr id="2051" name="Text Box 3"/>
          <p:cNvSpPr txBox="1">
            <a:spLocks noChangeArrowheads="1"/>
          </p:cNvSpPr>
          <p:nvPr/>
        </p:nvSpPr>
        <p:spPr bwMode="auto">
          <a:xfrm>
            <a:off x="0" y="3276600"/>
            <a:ext cx="5791200" cy="289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66"/>
                </a:solidFill>
                <a:effectLst/>
                <a:latin typeface="Swis721 Cn BT" pitchFamily="34" charset="0"/>
              </a:rPr>
              <a:t>James L. Stone, MSW, CSW</a:t>
            </a:r>
            <a:br>
              <a:rPr lang="en-US" sz="2000">
                <a:solidFill>
                  <a:srgbClr val="000066"/>
                </a:solidFill>
                <a:effectLst/>
                <a:latin typeface="Swis721 Cn BT" pitchFamily="34" charset="0"/>
              </a:rPr>
            </a:br>
            <a:r>
              <a:rPr lang="en-US" sz="1800">
                <a:solidFill>
                  <a:srgbClr val="000066"/>
                </a:solidFill>
                <a:effectLst/>
                <a:latin typeface="Swis721 Cn BT" pitchFamily="34" charset="0"/>
              </a:rPr>
              <a:t>NYS Office of Mental Health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66"/>
                </a:solidFill>
                <a:effectLst/>
                <a:latin typeface="Swis721 Cn BT" pitchFamily="34" charset="0"/>
              </a:rPr>
              <a:t>Linda Rosenberg, CSW </a:t>
            </a:r>
            <a:br>
              <a:rPr lang="en-US" sz="2000">
                <a:solidFill>
                  <a:srgbClr val="000066"/>
                </a:solidFill>
                <a:effectLst/>
                <a:latin typeface="Swis721 Cn BT" pitchFamily="34" charset="0"/>
              </a:rPr>
            </a:br>
            <a:r>
              <a:rPr lang="en-US" sz="1800">
                <a:solidFill>
                  <a:srgbClr val="000066"/>
                </a:solidFill>
                <a:effectLst/>
                <a:latin typeface="Swis721 Cn BT" pitchFamily="34" charset="0"/>
              </a:rPr>
              <a:t>NYS Office of Mental Health</a:t>
            </a:r>
            <a:r>
              <a:rPr lang="en-US" sz="2000">
                <a:solidFill>
                  <a:srgbClr val="000066"/>
                </a:solidFill>
                <a:effectLst/>
                <a:latin typeface="Swis721 Cn BT" pitchFamily="34" charset="0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66"/>
                </a:solidFill>
                <a:effectLst/>
                <a:latin typeface="Swis721 Cn BT" pitchFamily="34" charset="0"/>
              </a:rPr>
              <a:t>John M. Oldham, MD,</a:t>
            </a:r>
            <a:br>
              <a:rPr lang="en-US" sz="2000">
                <a:solidFill>
                  <a:srgbClr val="000066"/>
                </a:solidFill>
                <a:effectLst/>
                <a:latin typeface="Swis721 Cn BT" pitchFamily="34" charset="0"/>
              </a:rPr>
            </a:br>
            <a:r>
              <a:rPr lang="en-US" sz="1800">
                <a:solidFill>
                  <a:srgbClr val="000066"/>
                </a:solidFill>
                <a:effectLst/>
                <a:latin typeface="Swis721 Cn BT" pitchFamily="34" charset="0"/>
              </a:rPr>
              <a:t>NYS Office of Mental Health</a:t>
            </a:r>
          </a:p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66"/>
                </a:solidFill>
                <a:effectLst/>
                <a:latin typeface="Swis721 Cn BT" pitchFamily="34" charset="0"/>
              </a:rPr>
              <a:t>Peter Jensen, MD, </a:t>
            </a:r>
            <a:br>
              <a:rPr lang="en-US" sz="2000">
                <a:solidFill>
                  <a:srgbClr val="000066"/>
                </a:solidFill>
                <a:effectLst/>
                <a:latin typeface="Swis721 Cn BT" pitchFamily="34" charset="0"/>
              </a:rPr>
            </a:br>
            <a:r>
              <a:rPr lang="en-US" sz="1800">
                <a:solidFill>
                  <a:srgbClr val="000066"/>
                </a:solidFill>
                <a:effectLst/>
                <a:latin typeface="Swis721 Cn BT" pitchFamily="34" charset="0"/>
              </a:rPr>
              <a:t>Columbia University</a:t>
            </a:r>
            <a:endParaRPr lang="en-US" sz="3200">
              <a:solidFill>
                <a:srgbClr val="000066"/>
              </a:solidFill>
              <a:effectLst/>
              <a:latin typeface="Swis721 Cn BT" pitchFamily="34" charset="0"/>
            </a:endParaRPr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0" y="2405063"/>
            <a:ext cx="28194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effectLst>
                  <a:outerShdw blurRad="38100" dist="38100" dir="2700000" algn="tl">
                    <a:srgbClr val="FFFFFF"/>
                  </a:outerShdw>
                </a:effectLst>
                <a:latin typeface="Swis721 Cn BT" pitchFamily="34" charset="0"/>
              </a:rPr>
              <a:t>Panelists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1295400" y="3048000"/>
            <a:ext cx="7467600" cy="173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0">
                <a:solidFill>
                  <a:srgbClr val="000066"/>
                </a:solidFill>
                <a:effectLst/>
                <a:latin typeface="Swis721 Md BT" pitchFamily="34" charset="0"/>
              </a:rPr>
              <a:t>Identify challenges when organizing, implementing and integrating Best Practice treatment approaches.</a:t>
            </a:r>
          </a:p>
          <a:p>
            <a:pPr>
              <a:spcBef>
                <a:spcPct val="50000"/>
              </a:spcBef>
            </a:pPr>
            <a:r>
              <a:rPr lang="en-US" sz="2400" b="0">
                <a:solidFill>
                  <a:srgbClr val="000066"/>
                </a:solidFill>
                <a:effectLst/>
                <a:latin typeface="Swis721 Md BT" pitchFamily="34" charset="0"/>
              </a:rPr>
              <a:t>Discuss key implementation strategies and </a:t>
            </a:r>
            <a:br>
              <a:rPr lang="en-US" sz="2400" b="0">
                <a:solidFill>
                  <a:srgbClr val="000066"/>
                </a:solidFill>
                <a:effectLst/>
                <a:latin typeface="Swis721 Md BT" pitchFamily="34" charset="0"/>
              </a:rPr>
            </a:br>
            <a:r>
              <a:rPr lang="en-US" sz="2400" b="0">
                <a:solidFill>
                  <a:srgbClr val="000066"/>
                </a:solidFill>
                <a:effectLst/>
                <a:latin typeface="Swis721 Md BT" pitchFamily="34" charset="0"/>
              </a:rPr>
              <a:t>the formation of state and national change agendas </a:t>
            </a:r>
          </a:p>
        </p:txBody>
      </p:sp>
      <p:sp>
        <p:nvSpPr>
          <p:cNvPr id="4100" name="AutoShape 4"/>
          <p:cNvSpPr>
            <a:spLocks noChangeArrowheads="1"/>
          </p:cNvSpPr>
          <p:nvPr/>
        </p:nvSpPr>
        <p:spPr bwMode="auto">
          <a:xfrm>
            <a:off x="762000" y="3048000"/>
            <a:ext cx="457200" cy="457200"/>
          </a:xfrm>
          <a:prstGeom prst="star5">
            <a:avLst/>
          </a:prstGeom>
          <a:noFill/>
          <a:ln w="28575">
            <a:solidFill>
              <a:srgbClr val="E4B9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200">
              <a:solidFill>
                <a:srgbClr val="E4B900"/>
              </a:solidFill>
              <a:effectLst/>
              <a:latin typeface="Swis721 Cn BT" pitchFamily="34" charset="0"/>
            </a:endParaRPr>
          </a:p>
        </p:txBody>
      </p:sp>
      <p:sp>
        <p:nvSpPr>
          <p:cNvPr id="4101" name="AutoShape 5"/>
          <p:cNvSpPr>
            <a:spLocks noChangeArrowheads="1"/>
          </p:cNvSpPr>
          <p:nvPr/>
        </p:nvSpPr>
        <p:spPr bwMode="auto">
          <a:xfrm>
            <a:off x="762000" y="3962400"/>
            <a:ext cx="457200" cy="457200"/>
          </a:xfrm>
          <a:prstGeom prst="star5">
            <a:avLst/>
          </a:prstGeom>
          <a:noFill/>
          <a:ln w="28575">
            <a:solidFill>
              <a:srgbClr val="E4B9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200">
              <a:solidFill>
                <a:srgbClr val="000066"/>
              </a:solidFill>
              <a:effectLst/>
              <a:latin typeface="Swis721 Cn BT" pitchFamily="34" charset="0"/>
            </a:endParaRPr>
          </a:p>
        </p:txBody>
      </p:sp>
      <p:sp>
        <p:nvSpPr>
          <p:cNvPr id="4102" name="Text Box 6"/>
          <p:cNvSpPr txBox="1">
            <a:spLocks noChangeArrowheads="1"/>
          </p:cNvSpPr>
          <p:nvPr/>
        </p:nvSpPr>
        <p:spPr bwMode="auto">
          <a:xfrm>
            <a:off x="5334000" y="304800"/>
            <a:ext cx="3581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4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Md BT" pitchFamily="34" charset="0"/>
              </a:rPr>
              <a:t>Our Purpose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381000" y="2667000"/>
            <a:ext cx="2209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sz="3200">
              <a:effectLst/>
              <a:latin typeface="Swis721 Cn BT" pitchFamily="34" charset="0"/>
            </a:endParaRPr>
          </a:p>
        </p:txBody>
      </p:sp>
      <p:sp>
        <p:nvSpPr>
          <p:cNvPr id="5136" name="Text Box 16"/>
          <p:cNvSpPr txBox="1">
            <a:spLocks noChangeArrowheads="1"/>
          </p:cNvSpPr>
          <p:nvPr/>
        </p:nvSpPr>
        <p:spPr bwMode="auto">
          <a:xfrm>
            <a:off x="990600" y="2362200"/>
            <a:ext cx="5791200" cy="109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6600">
                <a:solidFill>
                  <a:srgbClr val="000066"/>
                </a:solidFill>
                <a:effectLst/>
                <a:latin typeface="Swis721 Md BT" pitchFamily="34" charset="0"/>
              </a:rPr>
              <a:t>Background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457200" y="3808413"/>
            <a:ext cx="54165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66"/>
                </a:solidFill>
                <a:effectLst/>
                <a:latin typeface="Swis721 Cn BT" pitchFamily="34" charset="0"/>
              </a:rPr>
              <a:t>Increasing likelihood Best Practices will be followed</a:t>
            </a:r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457200" y="3200400"/>
            <a:ext cx="838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2000">
                <a:solidFill>
                  <a:srgbClr val="000066"/>
                </a:solidFill>
                <a:effectLst/>
                <a:latin typeface="Swis721 Cn BT" pitchFamily="34" charset="0"/>
              </a:rPr>
              <a:t>Reaching consensus about guidelines, models, algorithms and research</a:t>
            </a:r>
            <a:endParaRPr lang="en-US" sz="2000" b="0">
              <a:solidFill>
                <a:srgbClr val="000066"/>
              </a:solidFill>
              <a:effectLst/>
              <a:latin typeface="Times New Roman" pitchFamily="18" charset="0"/>
            </a:endParaRPr>
          </a:p>
        </p:txBody>
      </p:sp>
      <p:sp>
        <p:nvSpPr>
          <p:cNvPr id="20485" name="Text Box 5"/>
          <p:cNvSpPr txBox="1">
            <a:spLocks noChangeArrowheads="1"/>
          </p:cNvSpPr>
          <p:nvPr/>
        </p:nvSpPr>
        <p:spPr bwMode="auto">
          <a:xfrm>
            <a:off x="457200" y="6248400"/>
            <a:ext cx="7239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66"/>
                </a:solidFill>
                <a:effectLst/>
                <a:latin typeface="Swis721 Cn BT" pitchFamily="34" charset="0"/>
              </a:rPr>
              <a:t>Moving a national agenda for evidence-based practice</a:t>
            </a:r>
          </a:p>
        </p:txBody>
      </p:sp>
      <p:sp>
        <p:nvSpPr>
          <p:cNvPr id="20487" name="Rectangle 7"/>
          <p:cNvSpPr>
            <a:spLocks noChangeArrowheads="1"/>
          </p:cNvSpPr>
          <p:nvPr/>
        </p:nvSpPr>
        <p:spPr bwMode="auto">
          <a:xfrm>
            <a:off x="457200" y="2773363"/>
            <a:ext cx="41941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66"/>
                </a:solidFill>
                <a:effectLst/>
                <a:latin typeface="Swis721 Cn BT" pitchFamily="34" charset="0"/>
              </a:rPr>
              <a:t>Applying research to real world settings</a:t>
            </a:r>
          </a:p>
        </p:txBody>
      </p:sp>
      <p:sp>
        <p:nvSpPr>
          <p:cNvPr id="20490" name="Rectangle 10"/>
          <p:cNvSpPr>
            <a:spLocks noChangeArrowheads="1"/>
          </p:cNvSpPr>
          <p:nvPr/>
        </p:nvSpPr>
        <p:spPr bwMode="auto">
          <a:xfrm>
            <a:off x="457200" y="4297363"/>
            <a:ext cx="63039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66"/>
                </a:solidFill>
                <a:effectLst/>
                <a:latin typeface="Swis721 Cn BT" pitchFamily="34" charset="0"/>
              </a:rPr>
              <a:t>Use outcome data to demonstrate system-wide effectiveness</a:t>
            </a:r>
          </a:p>
        </p:txBody>
      </p:sp>
      <p:sp>
        <p:nvSpPr>
          <p:cNvPr id="20491" name="Rectangle 11"/>
          <p:cNvSpPr>
            <a:spLocks noChangeArrowheads="1"/>
          </p:cNvSpPr>
          <p:nvPr/>
        </p:nvSpPr>
        <p:spPr bwMode="auto">
          <a:xfrm>
            <a:off x="457200" y="4784725"/>
            <a:ext cx="3251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66"/>
                </a:solidFill>
                <a:effectLst/>
                <a:latin typeface="Swis721 Cn BT" pitchFamily="34" charset="0"/>
              </a:rPr>
              <a:t>Integrate Cultural Competence</a:t>
            </a:r>
          </a:p>
        </p:txBody>
      </p:sp>
      <p:sp>
        <p:nvSpPr>
          <p:cNvPr id="20492" name="Rectangle 12"/>
          <p:cNvSpPr>
            <a:spLocks noChangeArrowheads="1"/>
          </p:cNvSpPr>
          <p:nvPr/>
        </p:nvSpPr>
        <p:spPr bwMode="auto">
          <a:xfrm>
            <a:off x="457200" y="5759450"/>
            <a:ext cx="815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>
                <a:solidFill>
                  <a:srgbClr val="000066"/>
                </a:solidFill>
                <a:effectLst/>
                <a:latin typeface="Swis721 Cn BT" pitchFamily="34" charset="0"/>
              </a:rPr>
              <a:t>Applying consumer demand for results: the family perspective</a:t>
            </a:r>
          </a:p>
        </p:txBody>
      </p:sp>
      <p:sp>
        <p:nvSpPr>
          <p:cNvPr id="20493" name="Rectangle 13"/>
          <p:cNvSpPr>
            <a:spLocks noChangeArrowheads="1"/>
          </p:cNvSpPr>
          <p:nvPr/>
        </p:nvSpPr>
        <p:spPr bwMode="auto">
          <a:xfrm>
            <a:off x="457200" y="5272088"/>
            <a:ext cx="853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66"/>
                </a:solidFill>
                <a:effectLst/>
                <a:latin typeface="Swis721 Cn BT" pitchFamily="34" charset="0"/>
              </a:rPr>
              <a:t>Applying consumer demand for results: the recipient perspective</a:t>
            </a:r>
          </a:p>
        </p:txBody>
      </p:sp>
      <p:sp>
        <p:nvSpPr>
          <p:cNvPr id="20494" name="Text Box 14"/>
          <p:cNvSpPr txBox="1">
            <a:spLocks noChangeArrowheads="1"/>
          </p:cNvSpPr>
          <p:nvPr/>
        </p:nvSpPr>
        <p:spPr bwMode="auto">
          <a:xfrm>
            <a:off x="457200" y="2286000"/>
            <a:ext cx="6172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00066"/>
                </a:solidFill>
                <a:effectLst/>
                <a:latin typeface="Swis721 Cn BT" pitchFamily="34" charset="0"/>
              </a:rPr>
              <a:t>Communicating a vision to obtain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331788" y="2743200"/>
            <a:ext cx="8534400" cy="4078288"/>
          </a:xfrm>
          <a:prstGeom prst="rect">
            <a:avLst/>
          </a:prstGeom>
          <a:noFill/>
          <a:ln w="28575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08" name="Line 4"/>
          <p:cNvSpPr>
            <a:spLocks noChangeShapeType="1"/>
          </p:cNvSpPr>
          <p:nvPr/>
        </p:nvSpPr>
        <p:spPr bwMode="auto">
          <a:xfrm>
            <a:off x="304800" y="3200400"/>
            <a:ext cx="85344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09" name="Line 5"/>
          <p:cNvSpPr>
            <a:spLocks noChangeShapeType="1"/>
          </p:cNvSpPr>
          <p:nvPr/>
        </p:nvSpPr>
        <p:spPr bwMode="auto">
          <a:xfrm>
            <a:off x="304800" y="3657600"/>
            <a:ext cx="85344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10" name="Line 6"/>
          <p:cNvSpPr>
            <a:spLocks noChangeShapeType="1"/>
          </p:cNvSpPr>
          <p:nvPr/>
        </p:nvSpPr>
        <p:spPr bwMode="auto">
          <a:xfrm>
            <a:off x="304800" y="4114800"/>
            <a:ext cx="85344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11" name="Line 7"/>
          <p:cNvSpPr>
            <a:spLocks noChangeShapeType="1"/>
          </p:cNvSpPr>
          <p:nvPr/>
        </p:nvSpPr>
        <p:spPr bwMode="auto">
          <a:xfrm>
            <a:off x="304800" y="5030788"/>
            <a:ext cx="85344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12" name="Line 8"/>
          <p:cNvSpPr>
            <a:spLocks noChangeShapeType="1"/>
          </p:cNvSpPr>
          <p:nvPr/>
        </p:nvSpPr>
        <p:spPr bwMode="auto">
          <a:xfrm>
            <a:off x="304800" y="5487988"/>
            <a:ext cx="85344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13" name="Line 9"/>
          <p:cNvSpPr>
            <a:spLocks noChangeShapeType="1"/>
          </p:cNvSpPr>
          <p:nvPr/>
        </p:nvSpPr>
        <p:spPr bwMode="auto">
          <a:xfrm>
            <a:off x="304800" y="5945188"/>
            <a:ext cx="85344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14" name="Line 10"/>
          <p:cNvSpPr>
            <a:spLocks noChangeShapeType="1"/>
          </p:cNvSpPr>
          <p:nvPr/>
        </p:nvSpPr>
        <p:spPr bwMode="auto">
          <a:xfrm>
            <a:off x="304800" y="4573588"/>
            <a:ext cx="85344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15" name="Line 11"/>
          <p:cNvSpPr>
            <a:spLocks noChangeShapeType="1"/>
          </p:cNvSpPr>
          <p:nvPr/>
        </p:nvSpPr>
        <p:spPr bwMode="auto">
          <a:xfrm>
            <a:off x="2465388" y="2743200"/>
            <a:ext cx="0" cy="3659188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16" name="Line 12"/>
          <p:cNvSpPr>
            <a:spLocks noChangeShapeType="1"/>
          </p:cNvSpPr>
          <p:nvPr/>
        </p:nvSpPr>
        <p:spPr bwMode="auto">
          <a:xfrm>
            <a:off x="4598988" y="2743200"/>
            <a:ext cx="0" cy="3659188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17" name="Line 13"/>
          <p:cNvSpPr>
            <a:spLocks noChangeShapeType="1"/>
          </p:cNvSpPr>
          <p:nvPr/>
        </p:nvSpPr>
        <p:spPr bwMode="auto">
          <a:xfrm>
            <a:off x="6732588" y="2743200"/>
            <a:ext cx="0" cy="3659188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18" name="Line 14"/>
          <p:cNvSpPr>
            <a:spLocks noChangeShapeType="1"/>
          </p:cNvSpPr>
          <p:nvPr/>
        </p:nvSpPr>
        <p:spPr bwMode="auto">
          <a:xfrm>
            <a:off x="304800" y="2743200"/>
            <a:ext cx="0" cy="41148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19" name="Line 15"/>
          <p:cNvSpPr>
            <a:spLocks noChangeShapeType="1"/>
          </p:cNvSpPr>
          <p:nvPr/>
        </p:nvSpPr>
        <p:spPr bwMode="auto">
          <a:xfrm>
            <a:off x="8842375" y="2754313"/>
            <a:ext cx="0" cy="4103687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20" name="Text Box 16"/>
          <p:cNvSpPr txBox="1">
            <a:spLocks noChangeArrowheads="1"/>
          </p:cNvSpPr>
          <p:nvPr/>
        </p:nvSpPr>
        <p:spPr bwMode="auto">
          <a:xfrm>
            <a:off x="3276600" y="762000"/>
            <a:ext cx="54864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3200" dirty="0">
                <a:solidFill>
                  <a:srgbClr val="000066"/>
                </a:solidFill>
                <a:effectLst/>
                <a:latin typeface="Swis721 Cn BT" pitchFamily="34" charset="0"/>
              </a:rPr>
              <a:t>Implementation Plan </a:t>
            </a:r>
            <a:br>
              <a:rPr lang="en-US" sz="3200" dirty="0">
                <a:solidFill>
                  <a:srgbClr val="000066"/>
                </a:solidFill>
                <a:effectLst/>
                <a:latin typeface="Swis721 Cn BT" pitchFamily="34" charset="0"/>
              </a:rPr>
            </a:br>
            <a:r>
              <a:rPr lang="en-US" sz="2400" dirty="0">
                <a:solidFill>
                  <a:srgbClr val="000066"/>
                </a:solidFill>
                <a:effectLst/>
                <a:latin typeface="Swis721 Cn BT" pitchFamily="34" charset="0"/>
              </a:rPr>
              <a:t>for State Mental Health Authorities</a:t>
            </a:r>
          </a:p>
        </p:txBody>
      </p:sp>
      <p:sp>
        <p:nvSpPr>
          <p:cNvPr id="21521" name="Text Box 17"/>
          <p:cNvSpPr txBox="1">
            <a:spLocks noChangeArrowheads="1"/>
          </p:cNvSpPr>
          <p:nvPr/>
        </p:nvSpPr>
        <p:spPr bwMode="auto">
          <a:xfrm>
            <a:off x="609600" y="2286000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solidFill>
                  <a:srgbClr val="000066"/>
                </a:solidFill>
                <a:effectLst/>
                <a:latin typeface="Swis721 Cn BT" pitchFamily="34" charset="0"/>
              </a:rPr>
              <a:t>Challenge</a:t>
            </a:r>
          </a:p>
        </p:txBody>
      </p:sp>
      <p:sp>
        <p:nvSpPr>
          <p:cNvPr id="21522" name="Text Box 18"/>
          <p:cNvSpPr txBox="1">
            <a:spLocks noChangeArrowheads="1"/>
          </p:cNvSpPr>
          <p:nvPr/>
        </p:nvSpPr>
        <p:spPr bwMode="auto">
          <a:xfrm>
            <a:off x="2438400" y="1920875"/>
            <a:ext cx="2209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>
                <a:solidFill>
                  <a:srgbClr val="000066"/>
                </a:solidFill>
                <a:effectLst/>
                <a:latin typeface="Swis721 Cn BT" pitchFamily="34" charset="0"/>
              </a:rPr>
              <a:t>Current </a:t>
            </a:r>
            <a:br>
              <a:rPr lang="en-US" sz="2400">
                <a:solidFill>
                  <a:srgbClr val="000066"/>
                </a:solidFill>
                <a:effectLst/>
                <a:latin typeface="Swis721 Cn BT" pitchFamily="34" charset="0"/>
              </a:rPr>
            </a:br>
            <a:r>
              <a:rPr lang="en-US" sz="2400">
                <a:solidFill>
                  <a:srgbClr val="000066"/>
                </a:solidFill>
                <a:effectLst/>
                <a:latin typeface="Swis721 Cn BT" pitchFamily="34" charset="0"/>
              </a:rPr>
              <a:t>Practice</a:t>
            </a:r>
          </a:p>
        </p:txBody>
      </p:sp>
      <p:sp>
        <p:nvSpPr>
          <p:cNvPr id="21523" name="Text Box 19"/>
          <p:cNvSpPr txBox="1">
            <a:spLocks noChangeArrowheads="1"/>
          </p:cNvSpPr>
          <p:nvPr/>
        </p:nvSpPr>
        <p:spPr bwMode="auto">
          <a:xfrm>
            <a:off x="4572000" y="1920875"/>
            <a:ext cx="2209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>
                <a:solidFill>
                  <a:srgbClr val="000066"/>
                </a:solidFill>
                <a:effectLst/>
                <a:latin typeface="Swis721 Cn BT" pitchFamily="34" charset="0"/>
              </a:rPr>
              <a:t>Priority</a:t>
            </a:r>
            <a:br>
              <a:rPr lang="en-US" sz="2400">
                <a:solidFill>
                  <a:srgbClr val="000066"/>
                </a:solidFill>
                <a:effectLst/>
                <a:latin typeface="Swis721 Cn BT" pitchFamily="34" charset="0"/>
              </a:rPr>
            </a:br>
            <a:r>
              <a:rPr lang="en-US" sz="2400">
                <a:solidFill>
                  <a:srgbClr val="000066"/>
                </a:solidFill>
                <a:effectLst/>
                <a:latin typeface="Swis721 Cn BT" pitchFamily="34" charset="0"/>
              </a:rPr>
              <a:t>Strategies</a:t>
            </a:r>
          </a:p>
        </p:txBody>
      </p:sp>
      <p:sp>
        <p:nvSpPr>
          <p:cNvPr id="21524" name="Text Box 20"/>
          <p:cNvSpPr txBox="1">
            <a:spLocks noChangeArrowheads="1"/>
          </p:cNvSpPr>
          <p:nvPr/>
        </p:nvSpPr>
        <p:spPr bwMode="auto">
          <a:xfrm>
            <a:off x="6934200" y="1920875"/>
            <a:ext cx="2209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>
                <a:solidFill>
                  <a:srgbClr val="000066"/>
                </a:solidFill>
                <a:effectLst/>
                <a:latin typeface="Swis721 Cn BT" pitchFamily="34" charset="0"/>
              </a:rPr>
              <a:t>Desired</a:t>
            </a:r>
            <a:br>
              <a:rPr lang="en-US" sz="2400">
                <a:solidFill>
                  <a:srgbClr val="000066"/>
                </a:solidFill>
                <a:effectLst/>
                <a:latin typeface="Swis721 Cn BT" pitchFamily="34" charset="0"/>
              </a:rPr>
            </a:br>
            <a:r>
              <a:rPr lang="en-US" sz="2400">
                <a:solidFill>
                  <a:srgbClr val="000066"/>
                </a:solidFill>
                <a:effectLst/>
                <a:latin typeface="Swis721 Cn BT" pitchFamily="34" charset="0"/>
              </a:rPr>
              <a:t>Outcomes</a:t>
            </a:r>
          </a:p>
        </p:txBody>
      </p:sp>
      <p:sp>
        <p:nvSpPr>
          <p:cNvPr id="21526" name="Line 22"/>
          <p:cNvSpPr>
            <a:spLocks noChangeShapeType="1"/>
          </p:cNvSpPr>
          <p:nvPr/>
        </p:nvSpPr>
        <p:spPr bwMode="auto">
          <a:xfrm>
            <a:off x="304800" y="6400800"/>
            <a:ext cx="85344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762000" y="2895600"/>
            <a:ext cx="754380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dirty="0">
                <a:effectLst/>
                <a:latin typeface="Swis721 Cn BT" pitchFamily="34" charset="0"/>
              </a:rPr>
              <a:t>Communicating a vision </a:t>
            </a:r>
            <a:br>
              <a:rPr lang="en-US" sz="3600" dirty="0">
                <a:effectLst/>
                <a:latin typeface="Swis721 Cn BT" pitchFamily="34" charset="0"/>
              </a:rPr>
            </a:br>
            <a:r>
              <a:rPr lang="en-US" sz="3600" dirty="0">
                <a:effectLst/>
                <a:latin typeface="Swis721 Cn BT" pitchFamily="34" charset="0"/>
              </a:rPr>
              <a:t>to obtain</a:t>
            </a:r>
            <a:r>
              <a:rPr lang="en-US" sz="2000" dirty="0">
                <a:effectLst/>
                <a:latin typeface="Swis721 Cn BT" pitchFamily="34" charset="0"/>
              </a:rPr>
              <a:t> </a:t>
            </a:r>
            <a:r>
              <a:rPr lang="en-US" sz="3600" dirty="0">
                <a:effectLst/>
                <a:latin typeface="Swis721 Cn BT" pitchFamily="34" charset="0"/>
              </a:rPr>
              <a:t>support</a:t>
            </a:r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838200" y="4648200"/>
            <a:ext cx="5181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  <a:t>James L. Stone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/>
          <p:cNvSpPr txBox="1">
            <a:spLocks noChangeArrowheads="1"/>
          </p:cNvSpPr>
          <p:nvPr/>
        </p:nvSpPr>
        <p:spPr bwMode="auto">
          <a:xfrm>
            <a:off x="838200" y="1066800"/>
            <a:ext cx="8001000" cy="5678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dirty="0">
                <a:effectLst/>
              </a:rPr>
              <a:t>CHANGE</a:t>
            </a:r>
          </a:p>
          <a:p>
            <a:pPr algn="ctr">
              <a:spcBef>
                <a:spcPct val="50000"/>
              </a:spcBef>
            </a:pPr>
            <a:r>
              <a:rPr lang="en-US" sz="2400" dirty="0">
                <a:effectLst/>
              </a:rPr>
              <a:t>There is nothing more difficult to carry out,</a:t>
            </a:r>
            <a:br>
              <a:rPr lang="en-US" sz="2400" dirty="0">
                <a:effectLst/>
              </a:rPr>
            </a:br>
            <a:r>
              <a:rPr lang="en-US" sz="2400" dirty="0">
                <a:effectLst/>
              </a:rPr>
              <a:t>nor more doubtful of success, nor more dangerous</a:t>
            </a:r>
            <a:br>
              <a:rPr lang="en-US" sz="2400" dirty="0">
                <a:effectLst/>
              </a:rPr>
            </a:br>
            <a:r>
              <a:rPr lang="en-US" sz="2400" dirty="0">
                <a:effectLst/>
              </a:rPr>
              <a:t>to handle, than to initiate a new order of things.</a:t>
            </a:r>
          </a:p>
          <a:p>
            <a:pPr algn="ctr">
              <a:spcBef>
                <a:spcPct val="50000"/>
              </a:spcBef>
            </a:pPr>
            <a:r>
              <a:rPr lang="en-US" sz="2400" dirty="0">
                <a:effectLst/>
              </a:rPr>
              <a:t>For the reformer has enemies in all who profit </a:t>
            </a:r>
            <a:br>
              <a:rPr lang="en-US" sz="2400" dirty="0">
                <a:effectLst/>
              </a:rPr>
            </a:br>
            <a:r>
              <a:rPr lang="en-US" sz="2400" dirty="0">
                <a:effectLst/>
              </a:rPr>
              <a:t>by the old order, and only lukewarm defenders</a:t>
            </a:r>
            <a:br>
              <a:rPr lang="en-US" sz="2400" dirty="0">
                <a:effectLst/>
              </a:rPr>
            </a:br>
            <a:r>
              <a:rPr lang="en-US" sz="2400" dirty="0">
                <a:effectLst/>
              </a:rPr>
              <a:t>in all those who would benefit by the new order.</a:t>
            </a:r>
          </a:p>
          <a:p>
            <a:pPr algn="ctr">
              <a:spcBef>
                <a:spcPct val="50000"/>
              </a:spcBef>
            </a:pPr>
            <a:r>
              <a:rPr lang="en-US" sz="2400" dirty="0">
                <a:effectLst/>
              </a:rPr>
              <a:t>This </a:t>
            </a:r>
            <a:r>
              <a:rPr lang="en-US" sz="2400" dirty="0" err="1" smtClean="0">
                <a:effectLst/>
              </a:rPr>
              <a:t>luke</a:t>
            </a:r>
            <a:r>
              <a:rPr lang="en-US" sz="2400" dirty="0" smtClean="0">
                <a:effectLst/>
              </a:rPr>
              <a:t> warmness </a:t>
            </a:r>
            <a:r>
              <a:rPr lang="en-US" sz="2400" dirty="0">
                <a:effectLst/>
              </a:rPr>
              <a:t>arises partly from fear of their </a:t>
            </a:r>
            <a:br>
              <a:rPr lang="en-US" sz="2400" dirty="0">
                <a:effectLst/>
              </a:rPr>
            </a:br>
            <a:r>
              <a:rPr lang="en-US" sz="2400" dirty="0">
                <a:effectLst/>
              </a:rPr>
              <a:t>adversaries who have the law in their favor; and partly from the incredulity of mankind, who do not truly believe in anything new until they have had actual experience of it.</a:t>
            </a:r>
          </a:p>
          <a:p>
            <a:pPr algn="ctr">
              <a:spcBef>
                <a:spcPct val="50000"/>
              </a:spcBef>
            </a:pPr>
            <a:r>
              <a:rPr lang="en-US" sz="1800" b="0" i="1" dirty="0" err="1">
                <a:effectLst/>
              </a:rPr>
              <a:t>Niccolo</a:t>
            </a:r>
            <a:r>
              <a:rPr lang="en-US" sz="1800" b="0" i="1" dirty="0">
                <a:effectLst/>
              </a:rPr>
              <a:t> Machiavelli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762000" y="2895600"/>
            <a:ext cx="457200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dirty="0">
                <a:effectLst/>
                <a:latin typeface="Swis721 Cn BT" pitchFamily="34" charset="0"/>
              </a:rPr>
              <a:t>Applying research to real world settings</a:t>
            </a: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838200" y="4572000"/>
            <a:ext cx="5181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  <a:t>Linda Rosenberg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787400" y="2909888"/>
            <a:ext cx="698139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600" dirty="0">
                <a:effectLst/>
                <a:latin typeface="Swis721 Cn BT" pitchFamily="34" charset="0"/>
              </a:rPr>
              <a:t>Reaching consensus about</a:t>
            </a:r>
            <a:br>
              <a:rPr lang="en-US" sz="3600" dirty="0">
                <a:effectLst/>
                <a:latin typeface="Swis721 Cn BT" pitchFamily="34" charset="0"/>
              </a:rPr>
            </a:br>
            <a:r>
              <a:rPr lang="en-US" sz="3600" dirty="0">
                <a:effectLst/>
                <a:latin typeface="Swis721 Cn BT" pitchFamily="34" charset="0"/>
              </a:rPr>
              <a:t>guidelines, models, &amp; research</a:t>
            </a:r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838200" y="4572000"/>
            <a:ext cx="5181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  <a:t>John Oldham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800100" y="2819400"/>
            <a:ext cx="4903907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effectLst/>
                <a:latin typeface="Swis721 Cn BT" pitchFamily="34" charset="0"/>
              </a:rPr>
              <a:t>Increasing likelihood </a:t>
            </a:r>
            <a:br>
              <a:rPr lang="en-US" sz="3600">
                <a:effectLst/>
                <a:latin typeface="Swis721 Cn BT" pitchFamily="34" charset="0"/>
              </a:rPr>
            </a:br>
            <a:r>
              <a:rPr lang="en-US" sz="3600">
                <a:effectLst/>
                <a:latin typeface="Swis721 Cn BT" pitchFamily="34" charset="0"/>
              </a:rPr>
              <a:t>Best Practices will</a:t>
            </a:r>
            <a:br>
              <a:rPr lang="en-US" sz="3600">
                <a:effectLst/>
                <a:latin typeface="Swis721 Cn BT" pitchFamily="34" charset="0"/>
              </a:rPr>
            </a:br>
            <a:r>
              <a:rPr lang="en-US" sz="3600">
                <a:effectLst/>
                <a:latin typeface="Swis721 Cn BT" pitchFamily="34" charset="0"/>
              </a:rPr>
              <a:t>be followed</a:t>
            </a: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838200" y="4648200"/>
            <a:ext cx="2590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  <a:t>Peter Jensen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838200" y="4610100"/>
            <a:ext cx="5181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  <a:t>Chip J. Felton</a:t>
            </a:r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787400" y="2965450"/>
            <a:ext cx="5981125" cy="1588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3600" dirty="0">
                <a:effectLst/>
                <a:latin typeface="Swis721 Cn BT" pitchFamily="34" charset="0"/>
              </a:rPr>
              <a:t>Using outcome data to</a:t>
            </a:r>
            <a:br>
              <a:rPr lang="en-US" sz="3600" dirty="0">
                <a:effectLst/>
                <a:latin typeface="Swis721 Cn BT" pitchFamily="34" charset="0"/>
              </a:rPr>
            </a:br>
            <a:r>
              <a:rPr lang="en-US" sz="3600" dirty="0">
                <a:effectLst/>
                <a:latin typeface="Swis721 Cn BT" pitchFamily="34" charset="0"/>
              </a:rPr>
              <a:t>demonstrate system-wide </a:t>
            </a:r>
            <a:br>
              <a:rPr lang="en-US" sz="3600" dirty="0">
                <a:effectLst/>
                <a:latin typeface="Swis721 Cn BT" pitchFamily="34" charset="0"/>
              </a:rPr>
            </a:br>
            <a:r>
              <a:rPr lang="en-US" sz="3600" dirty="0">
                <a:effectLst/>
                <a:latin typeface="Swis721 Cn BT" pitchFamily="34" charset="0"/>
              </a:rPr>
              <a:t>effectiveness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838200" y="4495800"/>
            <a:ext cx="5181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  <a:t>Cathy Cave</a:t>
            </a:r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774700" y="2895600"/>
            <a:ext cx="482696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dirty="0">
                <a:effectLst/>
                <a:latin typeface="Swis721 Cn BT" pitchFamily="34" charset="0"/>
              </a:rPr>
              <a:t>Integrating</a:t>
            </a:r>
            <a:br>
              <a:rPr lang="en-US" sz="3600" dirty="0">
                <a:effectLst/>
                <a:latin typeface="Swis721 Cn BT" pitchFamily="34" charset="0"/>
              </a:rPr>
            </a:br>
            <a:r>
              <a:rPr lang="en-US" sz="3600" dirty="0">
                <a:effectLst/>
                <a:latin typeface="Swis721 Cn BT" pitchFamily="34" charset="0"/>
              </a:rPr>
              <a:t>Cultural Competence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838200" y="5105400"/>
            <a:ext cx="5181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  <a:t>Ed Knight</a:t>
            </a: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762000" y="2667000"/>
            <a:ext cx="5327650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Lst/>
                <a:latin typeface="Swis721 Cn BT" pitchFamily="34" charset="0"/>
              </a:rPr>
              <a:t>Applying consumer </a:t>
            </a:r>
            <a:br>
              <a:rPr lang="en-US" sz="3600">
                <a:solidFill>
                  <a:schemeClr val="bg1"/>
                </a:solidFill>
                <a:effectLst/>
                <a:latin typeface="Swis721 Cn BT" pitchFamily="34" charset="0"/>
              </a:rPr>
            </a:br>
            <a:r>
              <a:rPr lang="en-US" sz="3600">
                <a:solidFill>
                  <a:schemeClr val="bg1"/>
                </a:solidFill>
                <a:effectLst/>
                <a:latin typeface="Swis721 Cn BT" pitchFamily="34" charset="0"/>
              </a:rPr>
              <a:t>demand for results:</a:t>
            </a:r>
            <a:br>
              <a:rPr lang="en-US" sz="3600">
                <a:solidFill>
                  <a:schemeClr val="bg1"/>
                </a:solidFill>
                <a:effectLst/>
                <a:latin typeface="Swis721 Cn BT" pitchFamily="34" charset="0"/>
              </a:rPr>
            </a:br>
            <a:r>
              <a:rPr lang="en-US" sz="3600">
                <a:solidFill>
                  <a:schemeClr val="bg1"/>
                </a:solidFill>
                <a:effectLst/>
                <a:latin typeface="Swis721 Cn BT" pitchFamily="34" charset="0"/>
              </a:rPr>
              <a:t>the recipient perspective</a:t>
            </a:r>
            <a:endParaRPr lang="en-US" sz="36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Swis721 Cn BT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838200" y="4495800"/>
            <a:ext cx="5181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  <a:t>Laurie Flynn</a:t>
            </a:r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762000" y="2667000"/>
            <a:ext cx="5327650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  <a:t>Applying consumer </a:t>
            </a:r>
            <a:br>
              <a:rPr 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</a:br>
            <a:r>
              <a:rPr 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  <a:t>demand for results:</a:t>
            </a:r>
            <a:br>
              <a:rPr 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</a:br>
            <a:r>
              <a:rPr 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  <a:t>the family perspective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838200" y="4495800"/>
            <a:ext cx="5181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  <a:t>Ron Mandersheid</a:t>
            </a:r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762000" y="2667000"/>
            <a:ext cx="532765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dirty="0">
                <a:effectLst/>
                <a:latin typeface="Swis721 Cn BT" pitchFamily="34" charset="0"/>
              </a:rPr>
              <a:t>Moving a national agenda for evidence-based practice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990600" y="2057400"/>
            <a:ext cx="6934200" cy="1144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dirty="0">
                <a:effectLst/>
                <a:latin typeface="Swis721 Cn BT" pitchFamily="34" charset="0"/>
              </a:rPr>
              <a:t>Principle</a:t>
            </a:r>
          </a:p>
          <a:p>
            <a:pPr>
              <a:spcBef>
                <a:spcPct val="50000"/>
              </a:spcBef>
            </a:pPr>
            <a:r>
              <a:rPr lang="en-US" sz="2000" dirty="0">
                <a:effectLst/>
                <a:latin typeface="Swis721 Cn BT" pitchFamily="34" charset="0"/>
              </a:rPr>
              <a:t>	</a:t>
            </a:r>
            <a:r>
              <a:rPr lang="en-US" sz="2200" dirty="0">
                <a:effectLst/>
                <a:latin typeface="Swis721 Cn BT" pitchFamily="34" charset="0"/>
              </a:rPr>
              <a:t>“Necessity is the mother of invention.”</a:t>
            </a:r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1066800" y="3352800"/>
            <a:ext cx="7772400" cy="347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effectLst/>
                <a:latin typeface="Swis721 Cn BT" pitchFamily="34" charset="0"/>
              </a:rPr>
              <a:t>Actions</a:t>
            </a:r>
          </a:p>
          <a:p>
            <a:pPr>
              <a:spcBef>
                <a:spcPct val="50000"/>
              </a:spcBef>
            </a:pPr>
            <a:r>
              <a:rPr lang="en-US" sz="2200">
                <a:effectLst/>
                <a:latin typeface="Swis721 Cn BT" pitchFamily="34" charset="0"/>
              </a:rPr>
              <a:t>	Consumers/families need to understand how guideline use can promote rehabilitation leading to recovery.</a:t>
            </a:r>
          </a:p>
          <a:p>
            <a:pPr>
              <a:spcBef>
                <a:spcPct val="50000"/>
              </a:spcBef>
            </a:pPr>
            <a:r>
              <a:rPr lang="en-US" sz="2200">
                <a:effectLst/>
                <a:latin typeface="Swis721 Cn BT" pitchFamily="34" charset="0"/>
              </a:rPr>
              <a:t>	Providers need to understand how guidelines can lead to better care quality and improved outcomes.</a:t>
            </a:r>
          </a:p>
          <a:p>
            <a:pPr>
              <a:spcBef>
                <a:spcPct val="50000"/>
              </a:spcBef>
            </a:pPr>
            <a:endParaRPr lang="en-US" sz="3600">
              <a:effectLst/>
              <a:latin typeface="Swis721 Cn BT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/>
          <p:cNvSpPr txBox="1">
            <a:spLocks noChangeArrowheads="1"/>
          </p:cNvSpPr>
          <p:nvPr/>
        </p:nvSpPr>
        <p:spPr bwMode="auto">
          <a:xfrm>
            <a:off x="990600" y="2590800"/>
            <a:ext cx="6934200" cy="1492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effectLst/>
                <a:latin typeface="Swis721 Cn BT" pitchFamily="34" charset="0"/>
              </a:rPr>
              <a:t>Principle</a:t>
            </a:r>
          </a:p>
          <a:p>
            <a:pPr>
              <a:spcBef>
                <a:spcPct val="50000"/>
              </a:spcBef>
            </a:pPr>
            <a:r>
              <a:rPr lang="en-US" sz="2000">
                <a:effectLst/>
                <a:latin typeface="Swis721 Cn BT" pitchFamily="34" charset="0"/>
              </a:rPr>
              <a:t>	</a:t>
            </a:r>
            <a:r>
              <a:rPr lang="en-US" sz="2200">
                <a:effectLst/>
                <a:latin typeface="Swis721 Cn BT" pitchFamily="34" charset="0"/>
              </a:rPr>
              <a:t>“An informed consumer is our best customer.”</a:t>
            </a:r>
          </a:p>
        </p:txBody>
      </p:sp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990600" y="4038600"/>
            <a:ext cx="7315200" cy="314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effectLst/>
                <a:latin typeface="Swis721 Cn BT" pitchFamily="34" charset="0"/>
              </a:rPr>
              <a:t>Actions</a:t>
            </a:r>
          </a:p>
          <a:p>
            <a:pPr>
              <a:spcBef>
                <a:spcPct val="50000"/>
              </a:spcBef>
            </a:pPr>
            <a:r>
              <a:rPr lang="en-US" sz="2200">
                <a:effectLst/>
                <a:latin typeface="Swis721 Cn BT" pitchFamily="34" charset="0"/>
              </a:rPr>
              <a:t>	Guidelines for consumer/family “disease state self- management”</a:t>
            </a:r>
          </a:p>
          <a:p>
            <a:pPr>
              <a:spcBef>
                <a:spcPct val="50000"/>
              </a:spcBef>
            </a:pPr>
            <a:r>
              <a:rPr lang="en-US" sz="2200">
                <a:effectLst/>
                <a:latin typeface="Swis721 Cn BT" pitchFamily="34" charset="0"/>
              </a:rPr>
              <a:t>	Guidelines for consumer/family evaluation of care given by provider</a:t>
            </a:r>
          </a:p>
          <a:p>
            <a:pPr>
              <a:spcBef>
                <a:spcPct val="50000"/>
              </a:spcBef>
            </a:pPr>
            <a:endParaRPr lang="en-US" sz="3600">
              <a:effectLst/>
              <a:latin typeface="Swis721 Cn BT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990600" y="2590800"/>
            <a:ext cx="6934200" cy="1144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effectLst/>
                <a:latin typeface="Swis721 Cn BT" pitchFamily="34" charset="0"/>
              </a:rPr>
              <a:t>Principle</a:t>
            </a:r>
          </a:p>
          <a:p>
            <a:pPr>
              <a:spcBef>
                <a:spcPct val="50000"/>
              </a:spcBef>
            </a:pPr>
            <a:r>
              <a:rPr lang="en-US" sz="2000">
                <a:effectLst/>
                <a:latin typeface="Swis721 Cn BT" pitchFamily="34" charset="0"/>
              </a:rPr>
              <a:t>	</a:t>
            </a:r>
            <a:r>
              <a:rPr lang="en-US" sz="2200">
                <a:effectLst/>
                <a:latin typeface="Swis721 Cn BT" pitchFamily="34" charset="0"/>
              </a:rPr>
              <a:t>“If you don’t see it, you won’t buy it.”</a:t>
            </a:r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990600" y="4038600"/>
            <a:ext cx="7315200" cy="1982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effectLst/>
                <a:latin typeface="Swis721 Cn BT" pitchFamily="34" charset="0"/>
              </a:rPr>
              <a:t>Actions</a:t>
            </a:r>
          </a:p>
          <a:p>
            <a:pPr>
              <a:spcBef>
                <a:spcPct val="50000"/>
              </a:spcBef>
            </a:pPr>
            <a:r>
              <a:rPr lang="en-US" sz="2200">
                <a:effectLst/>
                <a:latin typeface="Swis721 Cn BT" pitchFamily="34" charset="0"/>
              </a:rPr>
              <a:t>	Guidelines should be presented in a manner most compatible with the intended audience.</a:t>
            </a:r>
          </a:p>
          <a:p>
            <a:pPr>
              <a:spcBef>
                <a:spcPct val="50000"/>
              </a:spcBef>
            </a:pPr>
            <a:r>
              <a:rPr lang="en-US" sz="2200">
                <a:effectLst/>
                <a:latin typeface="Swis721 Cn BT" pitchFamily="34" charset="0"/>
              </a:rPr>
              <a:t>	Guidelines should always be simple.</a:t>
            </a:r>
            <a:endParaRPr lang="en-US" sz="3600">
              <a:effectLst/>
              <a:latin typeface="Swis721 Cn BT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990600" y="2590800"/>
            <a:ext cx="6934200" cy="1814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effectLst/>
                <a:latin typeface="Swis721 Cn BT" pitchFamily="34" charset="0"/>
              </a:rPr>
              <a:t>Principle</a:t>
            </a:r>
          </a:p>
          <a:p>
            <a:pPr>
              <a:spcBef>
                <a:spcPct val="50000"/>
              </a:spcBef>
            </a:pPr>
            <a:r>
              <a:rPr lang="en-US" sz="2000">
                <a:effectLst/>
                <a:latin typeface="Swis721 Cn BT" pitchFamily="34" charset="0"/>
              </a:rPr>
              <a:t>	</a:t>
            </a:r>
            <a:r>
              <a:rPr lang="en-US" sz="2200">
                <a:effectLst/>
                <a:latin typeface="Swis721 Cn BT" pitchFamily="34" charset="0"/>
              </a:rPr>
              <a:t>“Quality of care is related more closely to system organization than to the behavior of any individual provider.”</a:t>
            </a:r>
          </a:p>
        </p:txBody>
      </p:sp>
      <p:sp>
        <p:nvSpPr>
          <p:cNvPr id="45059" name="Text Box 3"/>
          <p:cNvSpPr txBox="1">
            <a:spLocks noChangeArrowheads="1"/>
          </p:cNvSpPr>
          <p:nvPr/>
        </p:nvSpPr>
        <p:spPr bwMode="auto">
          <a:xfrm>
            <a:off x="990600" y="4419600"/>
            <a:ext cx="7315200" cy="1492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effectLst/>
                <a:latin typeface="Swis721 Cn BT" pitchFamily="34" charset="0"/>
              </a:rPr>
              <a:t>Actions</a:t>
            </a:r>
          </a:p>
          <a:p>
            <a:pPr>
              <a:spcBef>
                <a:spcPct val="50000"/>
              </a:spcBef>
            </a:pPr>
            <a:r>
              <a:rPr lang="en-US" sz="2200">
                <a:effectLst/>
                <a:latin typeface="Swis721 Cn BT" pitchFamily="34" charset="0"/>
              </a:rPr>
              <a:t>	Both SYSTEM and CLINICAL guidelines are needed.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/>
          <p:cNvSpPr txBox="1">
            <a:spLocks noChangeArrowheads="1"/>
          </p:cNvSpPr>
          <p:nvPr/>
        </p:nvSpPr>
        <p:spPr bwMode="auto">
          <a:xfrm>
            <a:off x="609600" y="2667000"/>
            <a:ext cx="8001000" cy="268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400">
                <a:effectLst>
                  <a:outerShdw blurRad="38100" dist="38100" dir="2700000" algn="tl">
                    <a:srgbClr val="FFFFFF"/>
                  </a:outerShdw>
                </a:effectLst>
                <a:latin typeface="Swis721 Cn BT" pitchFamily="34" charset="0"/>
              </a:rPr>
              <a:t>Summary</a:t>
            </a:r>
          </a:p>
          <a:p>
            <a:pPr>
              <a:spcBef>
                <a:spcPct val="50000"/>
              </a:spcBef>
            </a:pPr>
            <a:r>
              <a:rPr lang="en-US">
                <a:effectLst>
                  <a:outerShdw blurRad="38100" dist="38100" dir="2700000" algn="tl">
                    <a:srgbClr val="FFFFFF"/>
                  </a:outerShdw>
                </a:effectLst>
                <a:latin typeface="Swis721 Cn BT" pitchFamily="34" charset="0"/>
              </a:rPr>
              <a:t>Current Practice</a:t>
            </a:r>
          </a:p>
          <a:p>
            <a:pPr>
              <a:spcBef>
                <a:spcPct val="50000"/>
              </a:spcBef>
            </a:pPr>
            <a:r>
              <a:rPr lang="en-US">
                <a:effectLst>
                  <a:outerShdw blurRad="38100" dist="38100" dir="2700000" algn="tl">
                    <a:srgbClr val="FFFFFF"/>
                  </a:outerShdw>
                </a:effectLst>
                <a:latin typeface="Swis721 Cn BT" pitchFamily="34" charset="0"/>
              </a:rPr>
              <a:t>Priority Strategies</a:t>
            </a:r>
          </a:p>
          <a:p>
            <a:pPr>
              <a:spcBef>
                <a:spcPct val="50000"/>
              </a:spcBef>
            </a:pPr>
            <a:r>
              <a:rPr lang="en-US">
                <a:effectLst>
                  <a:outerShdw blurRad="38100" dist="38100" dir="2700000" algn="tl">
                    <a:srgbClr val="FFFFFF"/>
                  </a:outerShdw>
                </a:effectLst>
                <a:latin typeface="Swis721 Cn BT" pitchFamily="34" charset="0"/>
              </a:rPr>
              <a:t>Desired Outcomes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304800" y="3352800"/>
            <a:ext cx="8686800" cy="2819400"/>
          </a:xfrm>
          <a:prstGeom prst="rect">
            <a:avLst/>
          </a:prstGeom>
          <a:noFill/>
          <a:ln w="28575">
            <a:solidFill>
              <a:schemeClr val="bg2"/>
            </a:solidFill>
            <a:miter lim="800000"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endParaRPr lang="en-US">
              <a:effectLst/>
            </a:endParaRPr>
          </a:p>
        </p:txBody>
      </p:sp>
      <p:sp>
        <p:nvSpPr>
          <p:cNvPr id="7179" name="Line 11"/>
          <p:cNvSpPr>
            <a:spLocks noChangeShapeType="1"/>
          </p:cNvSpPr>
          <p:nvPr/>
        </p:nvSpPr>
        <p:spPr bwMode="auto">
          <a:xfrm>
            <a:off x="4419600" y="3352800"/>
            <a:ext cx="0" cy="2514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US">
              <a:effectLst/>
            </a:endParaRPr>
          </a:p>
        </p:txBody>
      </p:sp>
      <p:sp>
        <p:nvSpPr>
          <p:cNvPr id="7183" name="Text Box 15"/>
          <p:cNvSpPr txBox="1">
            <a:spLocks noChangeArrowheads="1"/>
          </p:cNvSpPr>
          <p:nvPr/>
        </p:nvSpPr>
        <p:spPr bwMode="auto">
          <a:xfrm>
            <a:off x="3429000" y="1219200"/>
            <a:ext cx="5486400" cy="94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32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  <a:t>Implementation Plan </a:t>
            </a:r>
            <a:br>
              <a:rPr lang="en-US" sz="32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</a:br>
            <a:r>
              <a:rPr lang="en-US" sz="24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  <a:t>for State Mental Health Authorities</a:t>
            </a:r>
          </a:p>
        </p:txBody>
      </p:sp>
      <p:sp>
        <p:nvSpPr>
          <p:cNvPr id="7184" name="Line 16"/>
          <p:cNvSpPr>
            <a:spLocks noChangeShapeType="1"/>
          </p:cNvSpPr>
          <p:nvPr/>
        </p:nvSpPr>
        <p:spPr bwMode="auto">
          <a:xfrm>
            <a:off x="6705600" y="3352800"/>
            <a:ext cx="0" cy="2514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US">
              <a:effectLst/>
            </a:endParaRPr>
          </a:p>
        </p:txBody>
      </p:sp>
      <p:sp>
        <p:nvSpPr>
          <p:cNvPr id="7185" name="Line 17"/>
          <p:cNvSpPr>
            <a:spLocks noChangeShapeType="1"/>
          </p:cNvSpPr>
          <p:nvPr/>
        </p:nvSpPr>
        <p:spPr bwMode="auto">
          <a:xfrm>
            <a:off x="2286000" y="3352800"/>
            <a:ext cx="0" cy="2514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US">
              <a:effectLst/>
            </a:endParaRPr>
          </a:p>
        </p:txBody>
      </p:sp>
      <p:sp>
        <p:nvSpPr>
          <p:cNvPr id="7190" name="Text Box 22"/>
          <p:cNvSpPr txBox="1">
            <a:spLocks noChangeArrowheads="1"/>
          </p:cNvSpPr>
          <p:nvPr/>
        </p:nvSpPr>
        <p:spPr bwMode="auto">
          <a:xfrm>
            <a:off x="2260600" y="3352800"/>
            <a:ext cx="2262188" cy="2800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effectLst/>
                <a:latin typeface="Swis721 Cn BT" pitchFamily="34" charset="0"/>
              </a:rPr>
              <a:t>Advocacy-</a:t>
            </a:r>
            <a:r>
              <a:rPr lang="en-US" sz="1600">
                <a:effectLst/>
                <a:latin typeface="Swis721 Cn BT" pitchFamily="34" charset="0"/>
              </a:rPr>
              <a:t>public stakeholder groups</a:t>
            </a:r>
          </a:p>
          <a:p>
            <a:pPr>
              <a:spcBef>
                <a:spcPct val="50000"/>
              </a:spcBef>
            </a:pPr>
            <a:r>
              <a:rPr lang="en-US" sz="2000">
                <a:effectLst/>
                <a:latin typeface="Swis721 Cn BT" pitchFamily="34" charset="0"/>
              </a:rPr>
              <a:t>Capacity</a:t>
            </a:r>
            <a:r>
              <a:rPr lang="en-US" sz="1600">
                <a:effectLst/>
                <a:latin typeface="Swis721 Cn BT" pitchFamily="34" charset="0"/>
              </a:rPr>
              <a:t>-resources &amp; governor’s commitment</a:t>
            </a:r>
          </a:p>
          <a:p>
            <a:pPr>
              <a:spcBef>
                <a:spcPct val="50000"/>
              </a:spcBef>
            </a:pPr>
            <a:r>
              <a:rPr lang="en-US" sz="2000">
                <a:effectLst/>
                <a:latin typeface="Swis721 Cn BT" pitchFamily="34" charset="0"/>
              </a:rPr>
              <a:t>Coordination</a:t>
            </a:r>
            <a:r>
              <a:rPr lang="en-US" sz="1600">
                <a:effectLst/>
                <a:latin typeface="Swis721 Cn BT" pitchFamily="34" charset="0"/>
              </a:rPr>
              <a:t>-state/ local/interagency</a:t>
            </a:r>
            <a:endParaRPr lang="en-US" sz="2000">
              <a:effectLst/>
              <a:latin typeface="Swis721 Cn BT" pitchFamily="34" charset="0"/>
            </a:endParaRPr>
          </a:p>
        </p:txBody>
      </p:sp>
      <p:sp>
        <p:nvSpPr>
          <p:cNvPr id="7191" name="Text Box 23"/>
          <p:cNvSpPr txBox="1">
            <a:spLocks noChangeArrowheads="1"/>
          </p:cNvSpPr>
          <p:nvPr/>
        </p:nvSpPr>
        <p:spPr bwMode="auto">
          <a:xfrm>
            <a:off x="508000" y="2903538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effectLst/>
                <a:latin typeface="Swis721 Cn BT" pitchFamily="34" charset="0"/>
              </a:rPr>
              <a:t>Challenge</a:t>
            </a:r>
          </a:p>
        </p:txBody>
      </p:sp>
      <p:sp>
        <p:nvSpPr>
          <p:cNvPr id="7192" name="Text Box 24"/>
          <p:cNvSpPr txBox="1">
            <a:spLocks noChangeArrowheads="1"/>
          </p:cNvSpPr>
          <p:nvPr/>
        </p:nvSpPr>
        <p:spPr bwMode="auto">
          <a:xfrm>
            <a:off x="2362200" y="2438400"/>
            <a:ext cx="2209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effectLst/>
                <a:latin typeface="Swis721 Cn BT" pitchFamily="34" charset="0"/>
              </a:rPr>
              <a:t>Current Practice</a:t>
            </a:r>
          </a:p>
        </p:txBody>
      </p:sp>
      <p:sp>
        <p:nvSpPr>
          <p:cNvPr id="7193" name="Text Box 25"/>
          <p:cNvSpPr txBox="1">
            <a:spLocks noChangeArrowheads="1"/>
          </p:cNvSpPr>
          <p:nvPr/>
        </p:nvSpPr>
        <p:spPr bwMode="auto">
          <a:xfrm>
            <a:off x="4413250" y="2538413"/>
            <a:ext cx="2209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>
                <a:effectLst/>
                <a:latin typeface="Swis721 Cn BT" pitchFamily="34" charset="0"/>
              </a:rPr>
              <a:t>Priority</a:t>
            </a:r>
            <a:br>
              <a:rPr lang="en-US" sz="2400">
                <a:effectLst/>
                <a:latin typeface="Swis721 Cn BT" pitchFamily="34" charset="0"/>
              </a:rPr>
            </a:br>
            <a:r>
              <a:rPr lang="en-US" sz="2400">
                <a:effectLst/>
                <a:latin typeface="Swis721 Cn BT" pitchFamily="34" charset="0"/>
              </a:rPr>
              <a:t>Strategies</a:t>
            </a:r>
          </a:p>
        </p:txBody>
      </p:sp>
      <p:sp>
        <p:nvSpPr>
          <p:cNvPr id="7194" name="Text Box 26"/>
          <p:cNvSpPr txBox="1">
            <a:spLocks noChangeArrowheads="1"/>
          </p:cNvSpPr>
          <p:nvPr/>
        </p:nvSpPr>
        <p:spPr bwMode="auto">
          <a:xfrm>
            <a:off x="6618288" y="2538413"/>
            <a:ext cx="2209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>
                <a:effectLst/>
                <a:latin typeface="Swis721 Cn BT" pitchFamily="34" charset="0"/>
              </a:rPr>
              <a:t>Desired</a:t>
            </a:r>
            <a:br>
              <a:rPr lang="en-US" sz="2400">
                <a:effectLst/>
                <a:latin typeface="Swis721 Cn BT" pitchFamily="34" charset="0"/>
              </a:rPr>
            </a:br>
            <a:r>
              <a:rPr lang="en-US" sz="2400">
                <a:effectLst/>
                <a:latin typeface="Swis721 Cn BT" pitchFamily="34" charset="0"/>
              </a:rPr>
              <a:t>Outcomes</a:t>
            </a:r>
          </a:p>
        </p:txBody>
      </p:sp>
      <p:sp>
        <p:nvSpPr>
          <p:cNvPr id="7195" name="Text Box 27"/>
          <p:cNvSpPr txBox="1">
            <a:spLocks noChangeArrowheads="1"/>
          </p:cNvSpPr>
          <p:nvPr/>
        </p:nvSpPr>
        <p:spPr bwMode="auto">
          <a:xfrm>
            <a:off x="4419600" y="3352800"/>
            <a:ext cx="2414588" cy="2414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Communicate vision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Build creditability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building demand for Best Practices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Organizational shifts &amp; commitments &amp; state</a:t>
            </a:r>
            <a:br>
              <a:rPr lang="en-US" sz="1600">
                <a:effectLst/>
                <a:latin typeface="Swis721 Cn BT" pitchFamily="34" charset="0"/>
              </a:rPr>
            </a:br>
            <a:r>
              <a:rPr lang="en-US" sz="1600">
                <a:effectLst/>
                <a:latin typeface="Swis721 Cn BT" pitchFamily="34" charset="0"/>
              </a:rPr>
              <a:t>to local resource development</a:t>
            </a:r>
          </a:p>
        </p:txBody>
      </p:sp>
      <p:sp>
        <p:nvSpPr>
          <p:cNvPr id="7196" name="Text Box 28"/>
          <p:cNvSpPr txBox="1">
            <a:spLocks noChangeArrowheads="1"/>
          </p:cNvSpPr>
          <p:nvPr/>
        </p:nvSpPr>
        <p:spPr bwMode="auto">
          <a:xfrm>
            <a:off x="6667500" y="3352800"/>
            <a:ext cx="2447925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Ongoing public/stakeholder support for a shared vision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Build creditability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Structural changes tying resources to outcomes</a:t>
            </a:r>
          </a:p>
        </p:txBody>
      </p:sp>
      <p:sp>
        <p:nvSpPr>
          <p:cNvPr id="7197" name="Text Box 29"/>
          <p:cNvSpPr txBox="1">
            <a:spLocks noChangeArrowheads="1"/>
          </p:cNvSpPr>
          <p:nvPr/>
        </p:nvSpPr>
        <p:spPr bwMode="auto">
          <a:xfrm>
            <a:off x="304800" y="3352800"/>
            <a:ext cx="18288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effectLst/>
                <a:latin typeface="Swis721 Cn BT" pitchFamily="34" charset="0"/>
              </a:rPr>
              <a:t>Communicat-ing a vision to obtain support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304800" y="3352800"/>
            <a:ext cx="8686800" cy="2590800"/>
          </a:xfrm>
          <a:prstGeom prst="rect">
            <a:avLst/>
          </a:prstGeom>
          <a:noFill/>
          <a:ln w="28575">
            <a:solidFill>
              <a:schemeClr val="bg2"/>
            </a:solidFill>
            <a:miter lim="800000"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endParaRPr lang="en-US">
              <a:effectLst/>
            </a:endParaRPr>
          </a:p>
        </p:txBody>
      </p:sp>
      <p:sp>
        <p:nvSpPr>
          <p:cNvPr id="8195" name="Line 3"/>
          <p:cNvSpPr>
            <a:spLocks noChangeShapeType="1"/>
          </p:cNvSpPr>
          <p:nvPr/>
        </p:nvSpPr>
        <p:spPr bwMode="auto">
          <a:xfrm>
            <a:off x="4419600" y="3352800"/>
            <a:ext cx="0" cy="23622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US">
              <a:effectLst/>
            </a:endParaRP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3429000" y="1219200"/>
            <a:ext cx="5486400" cy="94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32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  <a:t>Implementation Plan </a:t>
            </a:r>
            <a:br>
              <a:rPr lang="en-US" sz="32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</a:br>
            <a:r>
              <a:rPr lang="en-US" sz="24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  <a:t>for State Mental Health Authorities</a:t>
            </a:r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6705600" y="3352800"/>
            <a:ext cx="0" cy="23622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US">
              <a:effectLst/>
            </a:endParaRPr>
          </a:p>
        </p:txBody>
      </p:sp>
      <p:sp>
        <p:nvSpPr>
          <p:cNvPr id="8198" name="Line 6"/>
          <p:cNvSpPr>
            <a:spLocks noChangeShapeType="1"/>
          </p:cNvSpPr>
          <p:nvPr/>
        </p:nvSpPr>
        <p:spPr bwMode="auto">
          <a:xfrm>
            <a:off x="2286000" y="3352800"/>
            <a:ext cx="0" cy="23622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US">
              <a:effectLst/>
            </a:endParaRPr>
          </a:p>
        </p:txBody>
      </p:sp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304800" y="3368675"/>
            <a:ext cx="2133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Applying research to real world settings</a:t>
            </a:r>
          </a:p>
        </p:txBody>
      </p:sp>
      <p:sp>
        <p:nvSpPr>
          <p:cNvPr id="8200" name="Text Box 8"/>
          <p:cNvSpPr txBox="1">
            <a:spLocks noChangeArrowheads="1"/>
          </p:cNvSpPr>
          <p:nvPr/>
        </p:nvSpPr>
        <p:spPr bwMode="auto">
          <a:xfrm>
            <a:off x="2260600" y="3368675"/>
            <a:ext cx="2262188" cy="155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Evidence-based pilot in New York City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Medication compliance project 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ACT team rollout</a:t>
            </a:r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508000" y="2903538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effectLst/>
                <a:latin typeface="Swis721 Cn BT" pitchFamily="34" charset="0"/>
              </a:rPr>
              <a:t>Challenge</a:t>
            </a:r>
          </a:p>
        </p:txBody>
      </p:sp>
      <p:sp>
        <p:nvSpPr>
          <p:cNvPr id="8202" name="Text Box 10"/>
          <p:cNvSpPr txBox="1">
            <a:spLocks noChangeArrowheads="1"/>
          </p:cNvSpPr>
          <p:nvPr/>
        </p:nvSpPr>
        <p:spPr bwMode="auto">
          <a:xfrm>
            <a:off x="2286000" y="2514600"/>
            <a:ext cx="2209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effectLst/>
                <a:latin typeface="Swis721 Cn BT" pitchFamily="34" charset="0"/>
              </a:rPr>
              <a:t>Current Practice</a:t>
            </a:r>
          </a:p>
        </p:txBody>
      </p:sp>
      <p:sp>
        <p:nvSpPr>
          <p:cNvPr id="8203" name="Text Box 11"/>
          <p:cNvSpPr txBox="1">
            <a:spLocks noChangeArrowheads="1"/>
          </p:cNvSpPr>
          <p:nvPr/>
        </p:nvSpPr>
        <p:spPr bwMode="auto">
          <a:xfrm>
            <a:off x="4413250" y="2538413"/>
            <a:ext cx="2209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>
                <a:effectLst/>
                <a:latin typeface="Swis721 Cn BT" pitchFamily="34" charset="0"/>
              </a:rPr>
              <a:t>Priority</a:t>
            </a:r>
            <a:br>
              <a:rPr lang="en-US" sz="2400">
                <a:effectLst/>
                <a:latin typeface="Swis721 Cn BT" pitchFamily="34" charset="0"/>
              </a:rPr>
            </a:br>
            <a:r>
              <a:rPr lang="en-US" sz="2400">
                <a:effectLst/>
                <a:latin typeface="Swis721 Cn BT" pitchFamily="34" charset="0"/>
              </a:rPr>
              <a:t>Strategies</a:t>
            </a:r>
          </a:p>
        </p:txBody>
      </p:sp>
      <p:sp>
        <p:nvSpPr>
          <p:cNvPr id="8204" name="Text Box 12"/>
          <p:cNvSpPr txBox="1">
            <a:spLocks noChangeArrowheads="1"/>
          </p:cNvSpPr>
          <p:nvPr/>
        </p:nvSpPr>
        <p:spPr bwMode="auto">
          <a:xfrm>
            <a:off x="6618288" y="2538413"/>
            <a:ext cx="2209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>
                <a:effectLst/>
                <a:latin typeface="Swis721 Cn BT" pitchFamily="34" charset="0"/>
              </a:rPr>
              <a:t>Desired</a:t>
            </a:r>
            <a:br>
              <a:rPr lang="en-US" sz="2400">
                <a:effectLst/>
                <a:latin typeface="Swis721 Cn BT" pitchFamily="34" charset="0"/>
              </a:rPr>
            </a:br>
            <a:r>
              <a:rPr lang="en-US" sz="2400">
                <a:effectLst/>
                <a:latin typeface="Swis721 Cn BT" pitchFamily="34" charset="0"/>
              </a:rPr>
              <a:t>Outcomes</a:t>
            </a:r>
          </a:p>
        </p:txBody>
      </p:sp>
      <p:sp>
        <p:nvSpPr>
          <p:cNvPr id="8205" name="Text Box 13"/>
          <p:cNvSpPr txBox="1">
            <a:spLocks noChangeArrowheads="1"/>
          </p:cNvSpPr>
          <p:nvPr/>
        </p:nvSpPr>
        <p:spPr bwMode="auto">
          <a:xfrm>
            <a:off x="4419600" y="3352800"/>
            <a:ext cx="2414588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Put areas of evidence-based practice into a constellation of services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Identify financial licensing &amp; regulatory strategies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Fix accountability at local level</a:t>
            </a:r>
          </a:p>
        </p:txBody>
      </p:sp>
      <p:sp>
        <p:nvSpPr>
          <p:cNvPr id="8206" name="Text Box 14"/>
          <p:cNvSpPr txBox="1">
            <a:spLocks noChangeArrowheads="1"/>
          </p:cNvSpPr>
          <p:nvPr/>
        </p:nvSpPr>
        <p:spPr bwMode="auto">
          <a:xfrm>
            <a:off x="6684963" y="3368675"/>
            <a:ext cx="2447925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County-based systems of care where optimal treatment is provided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Increased number of consumers moving toward recovery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Family burden lessened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304800" y="3352800"/>
            <a:ext cx="8686800" cy="3200400"/>
          </a:xfrm>
          <a:prstGeom prst="rect">
            <a:avLst/>
          </a:prstGeom>
          <a:noFill/>
          <a:ln w="28575">
            <a:solidFill>
              <a:schemeClr val="bg2"/>
            </a:solidFill>
            <a:miter lim="800000"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endParaRPr lang="en-US">
              <a:effectLst/>
            </a:endParaRPr>
          </a:p>
        </p:txBody>
      </p:sp>
      <p:sp>
        <p:nvSpPr>
          <p:cNvPr id="9219" name="Line 3"/>
          <p:cNvSpPr>
            <a:spLocks noChangeShapeType="1"/>
          </p:cNvSpPr>
          <p:nvPr/>
        </p:nvSpPr>
        <p:spPr bwMode="auto">
          <a:xfrm>
            <a:off x="4419600" y="3352800"/>
            <a:ext cx="0" cy="3200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US">
              <a:effectLst/>
            </a:endParaRP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3429000" y="1219200"/>
            <a:ext cx="5486400" cy="94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32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  <a:t>Implementation Plan </a:t>
            </a:r>
            <a:br>
              <a:rPr lang="en-US" sz="32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</a:br>
            <a:r>
              <a:rPr lang="en-US" sz="24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  <a:t>for State Mental Health Authorities</a:t>
            </a: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6705600" y="3352800"/>
            <a:ext cx="0" cy="3200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US">
              <a:effectLst/>
            </a:endParaRPr>
          </a:p>
        </p:txBody>
      </p:sp>
      <p:sp>
        <p:nvSpPr>
          <p:cNvPr id="9222" name="Line 6"/>
          <p:cNvSpPr>
            <a:spLocks noChangeShapeType="1"/>
          </p:cNvSpPr>
          <p:nvPr/>
        </p:nvSpPr>
        <p:spPr bwMode="auto">
          <a:xfrm>
            <a:off x="2209800" y="3352800"/>
            <a:ext cx="0" cy="32004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US">
              <a:effectLst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304800" y="3368675"/>
            <a:ext cx="21336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Reaching consensus about guidelines, models, algorithms &amp; research</a:t>
            </a:r>
          </a:p>
        </p:txBody>
      </p:sp>
      <p:sp>
        <p:nvSpPr>
          <p:cNvPr id="9224" name="Text Box 8"/>
          <p:cNvSpPr txBox="1">
            <a:spLocks noChangeArrowheads="1"/>
          </p:cNvSpPr>
          <p:nvPr/>
        </p:nvSpPr>
        <p:spPr bwMode="auto">
          <a:xfrm>
            <a:off x="2286000" y="3390900"/>
            <a:ext cx="2262188" cy="3148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Medication algorithm project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APA &amp; other practice guidelines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Medical and other clinical discipline’s academic and in-service education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Consensus building in children’s psycho-pharmacology</a:t>
            </a: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508000" y="2903538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effectLst/>
                <a:latin typeface="Swis721 Cn BT" pitchFamily="34" charset="0"/>
              </a:rPr>
              <a:t>Challenge</a:t>
            </a: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2209800" y="2514600"/>
            <a:ext cx="2209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effectLst/>
                <a:latin typeface="Swis721 Cn BT" pitchFamily="34" charset="0"/>
              </a:rPr>
              <a:t>Current Practice</a:t>
            </a:r>
          </a:p>
        </p:txBody>
      </p:sp>
      <p:sp>
        <p:nvSpPr>
          <p:cNvPr id="9227" name="Text Box 11"/>
          <p:cNvSpPr txBox="1">
            <a:spLocks noChangeArrowheads="1"/>
          </p:cNvSpPr>
          <p:nvPr/>
        </p:nvSpPr>
        <p:spPr bwMode="auto">
          <a:xfrm>
            <a:off x="4413250" y="2538413"/>
            <a:ext cx="2209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>
                <a:effectLst/>
                <a:latin typeface="Swis721 Cn BT" pitchFamily="34" charset="0"/>
              </a:rPr>
              <a:t>Priority</a:t>
            </a:r>
            <a:br>
              <a:rPr lang="en-US" sz="2400">
                <a:effectLst/>
                <a:latin typeface="Swis721 Cn BT" pitchFamily="34" charset="0"/>
              </a:rPr>
            </a:br>
            <a:r>
              <a:rPr lang="en-US" sz="2400">
                <a:effectLst/>
                <a:latin typeface="Swis721 Cn BT" pitchFamily="34" charset="0"/>
              </a:rPr>
              <a:t>Strategies</a:t>
            </a:r>
          </a:p>
        </p:txBody>
      </p:sp>
      <p:sp>
        <p:nvSpPr>
          <p:cNvPr id="9228" name="Text Box 12"/>
          <p:cNvSpPr txBox="1">
            <a:spLocks noChangeArrowheads="1"/>
          </p:cNvSpPr>
          <p:nvPr/>
        </p:nvSpPr>
        <p:spPr bwMode="auto">
          <a:xfrm>
            <a:off x="6618288" y="2538413"/>
            <a:ext cx="2209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>
                <a:effectLst/>
                <a:latin typeface="Swis721 Cn BT" pitchFamily="34" charset="0"/>
              </a:rPr>
              <a:t>Desired</a:t>
            </a:r>
            <a:br>
              <a:rPr lang="en-US" sz="2400">
                <a:effectLst/>
                <a:latin typeface="Swis721 Cn BT" pitchFamily="34" charset="0"/>
              </a:rPr>
            </a:br>
            <a:r>
              <a:rPr lang="en-US" sz="2400">
                <a:effectLst/>
                <a:latin typeface="Swis721 Cn BT" pitchFamily="34" charset="0"/>
              </a:rPr>
              <a:t>Outcomes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4383088" y="3386138"/>
            <a:ext cx="2414587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Incorporate Best Practice into workforce performance standards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Incorporate Best Practices into academic programs of study</a:t>
            </a:r>
          </a:p>
        </p:txBody>
      </p:sp>
      <p:sp>
        <p:nvSpPr>
          <p:cNvPr id="9230" name="Text Box 14"/>
          <p:cNvSpPr txBox="1">
            <a:spLocks noChangeArrowheads="1"/>
          </p:cNvSpPr>
          <p:nvPr/>
        </p:nvSpPr>
        <p:spPr bwMode="auto">
          <a:xfrm>
            <a:off x="6684963" y="3368675"/>
            <a:ext cx="2447925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Maintain fidelity to model 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Medication practice is altered so that consumers receive most effective formularies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All team members understand and use other evidence-based services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304800" y="3352800"/>
            <a:ext cx="8686800" cy="3124200"/>
          </a:xfrm>
          <a:prstGeom prst="rect">
            <a:avLst/>
          </a:prstGeom>
          <a:noFill/>
          <a:ln w="28575">
            <a:solidFill>
              <a:schemeClr val="bg2"/>
            </a:solidFill>
            <a:miter lim="800000"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endParaRPr lang="en-US">
              <a:effectLst/>
            </a:endParaRPr>
          </a:p>
        </p:txBody>
      </p:sp>
      <p:sp>
        <p:nvSpPr>
          <p:cNvPr id="10243" name="Line 3"/>
          <p:cNvSpPr>
            <a:spLocks noChangeShapeType="1"/>
          </p:cNvSpPr>
          <p:nvPr/>
        </p:nvSpPr>
        <p:spPr bwMode="auto">
          <a:xfrm>
            <a:off x="4419600" y="3352800"/>
            <a:ext cx="0" cy="23622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US">
              <a:effectLst/>
            </a:endParaRP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3429000" y="1219200"/>
            <a:ext cx="5486400" cy="94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32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  <a:t>Implementation Plan </a:t>
            </a:r>
            <a:br>
              <a:rPr lang="en-US" sz="32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</a:br>
            <a:r>
              <a:rPr lang="en-US" sz="24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  <a:t>for State Mental Health Authorities</a:t>
            </a:r>
          </a:p>
        </p:txBody>
      </p:sp>
      <p:sp>
        <p:nvSpPr>
          <p:cNvPr id="10245" name="Line 5"/>
          <p:cNvSpPr>
            <a:spLocks noChangeShapeType="1"/>
          </p:cNvSpPr>
          <p:nvPr/>
        </p:nvSpPr>
        <p:spPr bwMode="auto">
          <a:xfrm>
            <a:off x="6705600" y="3352800"/>
            <a:ext cx="0" cy="23622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US">
              <a:effectLst/>
            </a:endParaRPr>
          </a:p>
        </p:txBody>
      </p:sp>
      <p:sp>
        <p:nvSpPr>
          <p:cNvPr id="10246" name="Line 6"/>
          <p:cNvSpPr>
            <a:spLocks noChangeShapeType="1"/>
          </p:cNvSpPr>
          <p:nvPr/>
        </p:nvSpPr>
        <p:spPr bwMode="auto">
          <a:xfrm>
            <a:off x="2286000" y="3352800"/>
            <a:ext cx="0" cy="23622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US">
              <a:effectLst/>
            </a:endParaRPr>
          </a:p>
        </p:txBody>
      </p:sp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304800" y="3368675"/>
            <a:ext cx="21336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Increasing likelihood that Best Practices will be followed</a:t>
            </a: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2260600" y="3368675"/>
            <a:ext cx="22621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Creation of the</a:t>
            </a:r>
            <a:br>
              <a:rPr lang="en-US" sz="1600">
                <a:effectLst/>
                <a:latin typeface="Swis721 Cn BT" pitchFamily="34" charset="0"/>
              </a:rPr>
            </a:br>
            <a:r>
              <a:rPr lang="en-US" sz="1600">
                <a:effectLst/>
                <a:latin typeface="Swis721 Cn BT" pitchFamily="34" charset="0"/>
              </a:rPr>
              <a:t>Ruane Center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Consulting, research and technical assistance</a:t>
            </a:r>
          </a:p>
        </p:txBody>
      </p:sp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508000" y="2903538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effectLst/>
                <a:latin typeface="Swis721 Cn BT" pitchFamily="34" charset="0"/>
              </a:rPr>
              <a:t>Challenge</a:t>
            </a:r>
          </a:p>
        </p:txBody>
      </p:sp>
      <p:sp>
        <p:nvSpPr>
          <p:cNvPr id="10250" name="Text Box 10"/>
          <p:cNvSpPr txBox="1">
            <a:spLocks noChangeArrowheads="1"/>
          </p:cNvSpPr>
          <p:nvPr/>
        </p:nvSpPr>
        <p:spPr bwMode="auto">
          <a:xfrm>
            <a:off x="2286000" y="2514600"/>
            <a:ext cx="2209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effectLst/>
                <a:latin typeface="Swis721 Cn BT" pitchFamily="34" charset="0"/>
              </a:rPr>
              <a:t>Current Practice</a:t>
            </a:r>
          </a:p>
        </p:txBody>
      </p:sp>
      <p:sp>
        <p:nvSpPr>
          <p:cNvPr id="10251" name="Text Box 11"/>
          <p:cNvSpPr txBox="1">
            <a:spLocks noChangeArrowheads="1"/>
          </p:cNvSpPr>
          <p:nvPr/>
        </p:nvSpPr>
        <p:spPr bwMode="auto">
          <a:xfrm>
            <a:off x="4413250" y="2538413"/>
            <a:ext cx="2209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>
                <a:effectLst/>
                <a:latin typeface="Swis721 Cn BT" pitchFamily="34" charset="0"/>
              </a:rPr>
              <a:t>Priority</a:t>
            </a:r>
            <a:br>
              <a:rPr lang="en-US" sz="2400">
                <a:effectLst/>
                <a:latin typeface="Swis721 Cn BT" pitchFamily="34" charset="0"/>
              </a:rPr>
            </a:br>
            <a:r>
              <a:rPr lang="en-US" sz="2400">
                <a:effectLst/>
                <a:latin typeface="Swis721 Cn BT" pitchFamily="34" charset="0"/>
              </a:rPr>
              <a:t>Strategies</a:t>
            </a:r>
          </a:p>
        </p:txBody>
      </p:sp>
      <p:sp>
        <p:nvSpPr>
          <p:cNvPr id="10252" name="Text Box 12"/>
          <p:cNvSpPr txBox="1">
            <a:spLocks noChangeArrowheads="1"/>
          </p:cNvSpPr>
          <p:nvPr/>
        </p:nvSpPr>
        <p:spPr bwMode="auto">
          <a:xfrm>
            <a:off x="6618288" y="2538413"/>
            <a:ext cx="2209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>
                <a:effectLst/>
                <a:latin typeface="Swis721 Cn BT" pitchFamily="34" charset="0"/>
              </a:rPr>
              <a:t>Desired</a:t>
            </a:r>
            <a:br>
              <a:rPr lang="en-US" sz="2400">
                <a:effectLst/>
                <a:latin typeface="Swis721 Cn BT" pitchFamily="34" charset="0"/>
              </a:rPr>
            </a:br>
            <a:r>
              <a:rPr lang="en-US" sz="2400">
                <a:effectLst/>
                <a:latin typeface="Swis721 Cn BT" pitchFamily="34" charset="0"/>
              </a:rPr>
              <a:t>Outcomes</a:t>
            </a:r>
          </a:p>
        </p:txBody>
      </p:sp>
      <p:sp>
        <p:nvSpPr>
          <p:cNvPr id="10253" name="Text Box 13"/>
          <p:cNvSpPr txBox="1">
            <a:spLocks noChangeArrowheads="1"/>
          </p:cNvSpPr>
          <p:nvPr/>
        </p:nvSpPr>
        <p:spPr bwMode="auto">
          <a:xfrm>
            <a:off x="4383088" y="3386138"/>
            <a:ext cx="2414587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Identify opinion leaders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Use standardized assess- ments and evaluation protocols to guide treatment decision making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Widespread dissemination of findings &amp; technical assistance</a:t>
            </a:r>
          </a:p>
        </p:txBody>
      </p:sp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6684963" y="3368675"/>
            <a:ext cx="2447925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Curriculum content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Routine use of evidence-based practices in service settings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Integration of automated decision-support systems for clinical practice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304800" y="3352800"/>
            <a:ext cx="8686800" cy="2667000"/>
          </a:xfrm>
          <a:prstGeom prst="rect">
            <a:avLst/>
          </a:prstGeom>
          <a:noFill/>
          <a:ln w="28575">
            <a:solidFill>
              <a:schemeClr val="bg2"/>
            </a:solidFill>
            <a:miter lim="800000"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endParaRPr lang="en-US">
              <a:effectLst/>
            </a:endParaRPr>
          </a:p>
        </p:txBody>
      </p:sp>
      <p:sp>
        <p:nvSpPr>
          <p:cNvPr id="11267" name="Line 3"/>
          <p:cNvSpPr>
            <a:spLocks noChangeShapeType="1"/>
          </p:cNvSpPr>
          <p:nvPr/>
        </p:nvSpPr>
        <p:spPr bwMode="auto">
          <a:xfrm>
            <a:off x="4419600" y="3352800"/>
            <a:ext cx="0" cy="23622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US">
              <a:effectLst/>
            </a:endParaRP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3429000" y="1219200"/>
            <a:ext cx="5486400" cy="94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32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  <a:t>Implementation Plan </a:t>
            </a:r>
            <a:br>
              <a:rPr lang="en-US" sz="32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</a:br>
            <a:r>
              <a:rPr lang="en-US" sz="24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  <a:t>for State Mental Health Authorities</a:t>
            </a:r>
          </a:p>
        </p:txBody>
      </p:sp>
      <p:sp>
        <p:nvSpPr>
          <p:cNvPr id="11269" name="Line 5"/>
          <p:cNvSpPr>
            <a:spLocks noChangeShapeType="1"/>
          </p:cNvSpPr>
          <p:nvPr/>
        </p:nvSpPr>
        <p:spPr bwMode="auto">
          <a:xfrm>
            <a:off x="6705600" y="3352800"/>
            <a:ext cx="0" cy="23622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US">
              <a:effectLst/>
            </a:endParaRPr>
          </a:p>
        </p:txBody>
      </p:sp>
      <p:sp>
        <p:nvSpPr>
          <p:cNvPr id="11270" name="Line 6"/>
          <p:cNvSpPr>
            <a:spLocks noChangeShapeType="1"/>
          </p:cNvSpPr>
          <p:nvPr/>
        </p:nvSpPr>
        <p:spPr bwMode="auto">
          <a:xfrm>
            <a:off x="2286000" y="3352800"/>
            <a:ext cx="0" cy="23622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US">
              <a:effectLst/>
            </a:endParaRPr>
          </a:p>
        </p:txBody>
      </p:sp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304800" y="3352800"/>
            <a:ext cx="21336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Use outcome data to demonstrate system-wide effectiveness</a:t>
            </a:r>
          </a:p>
        </p:txBody>
      </p:sp>
      <p:sp>
        <p:nvSpPr>
          <p:cNvPr id="11272" name="Text Box 8"/>
          <p:cNvSpPr txBox="1">
            <a:spLocks noChangeArrowheads="1"/>
          </p:cNvSpPr>
          <p:nvPr/>
        </p:nvSpPr>
        <p:spPr bwMode="auto">
          <a:xfrm>
            <a:off x="2260600" y="3352800"/>
            <a:ext cx="226218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Data warehousing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Outcomes management in key areas such as </a:t>
            </a:r>
            <a:br>
              <a:rPr lang="en-US" sz="1600">
                <a:effectLst/>
                <a:latin typeface="Swis721 Cn BT" pitchFamily="34" charset="0"/>
              </a:rPr>
            </a:br>
            <a:r>
              <a:rPr lang="en-US" sz="1600">
                <a:effectLst/>
                <a:latin typeface="Swis721 Cn BT" pitchFamily="34" charset="0"/>
              </a:rPr>
              <a:t>AOT &amp; HCBC</a:t>
            </a:r>
          </a:p>
        </p:txBody>
      </p:sp>
      <p:sp>
        <p:nvSpPr>
          <p:cNvPr id="11273" name="Text Box 9"/>
          <p:cNvSpPr txBox="1">
            <a:spLocks noChangeArrowheads="1"/>
          </p:cNvSpPr>
          <p:nvPr/>
        </p:nvSpPr>
        <p:spPr bwMode="auto">
          <a:xfrm>
            <a:off x="508000" y="2903538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effectLst/>
                <a:latin typeface="Swis721 Cn BT" pitchFamily="34" charset="0"/>
              </a:rPr>
              <a:t>Challenge</a:t>
            </a:r>
          </a:p>
        </p:txBody>
      </p:sp>
      <p:sp>
        <p:nvSpPr>
          <p:cNvPr id="11274" name="Text Box 10"/>
          <p:cNvSpPr txBox="1">
            <a:spLocks noChangeArrowheads="1"/>
          </p:cNvSpPr>
          <p:nvPr/>
        </p:nvSpPr>
        <p:spPr bwMode="auto">
          <a:xfrm>
            <a:off x="2286000" y="2514600"/>
            <a:ext cx="2209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effectLst/>
                <a:latin typeface="Swis721 Cn BT" pitchFamily="34" charset="0"/>
              </a:rPr>
              <a:t>Current Practice</a:t>
            </a:r>
          </a:p>
        </p:txBody>
      </p:sp>
      <p:sp>
        <p:nvSpPr>
          <p:cNvPr id="11275" name="Text Box 11"/>
          <p:cNvSpPr txBox="1">
            <a:spLocks noChangeArrowheads="1"/>
          </p:cNvSpPr>
          <p:nvPr/>
        </p:nvSpPr>
        <p:spPr bwMode="auto">
          <a:xfrm>
            <a:off x="4413250" y="2538413"/>
            <a:ext cx="2209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>
                <a:effectLst/>
                <a:latin typeface="Swis721 Cn BT" pitchFamily="34" charset="0"/>
              </a:rPr>
              <a:t>Priority</a:t>
            </a:r>
            <a:br>
              <a:rPr lang="en-US" sz="2400">
                <a:effectLst/>
                <a:latin typeface="Swis721 Cn BT" pitchFamily="34" charset="0"/>
              </a:rPr>
            </a:br>
            <a:r>
              <a:rPr lang="en-US" sz="2400">
                <a:effectLst/>
                <a:latin typeface="Swis721 Cn BT" pitchFamily="34" charset="0"/>
              </a:rPr>
              <a:t>Strategies</a:t>
            </a:r>
          </a:p>
        </p:txBody>
      </p:sp>
      <p:sp>
        <p:nvSpPr>
          <p:cNvPr id="11276" name="Text Box 12"/>
          <p:cNvSpPr txBox="1">
            <a:spLocks noChangeArrowheads="1"/>
          </p:cNvSpPr>
          <p:nvPr/>
        </p:nvSpPr>
        <p:spPr bwMode="auto">
          <a:xfrm>
            <a:off x="6618288" y="2538413"/>
            <a:ext cx="2209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>
                <a:effectLst/>
                <a:latin typeface="Swis721 Cn BT" pitchFamily="34" charset="0"/>
              </a:rPr>
              <a:t>Desired</a:t>
            </a:r>
            <a:br>
              <a:rPr lang="en-US" sz="2400">
                <a:effectLst/>
                <a:latin typeface="Swis721 Cn BT" pitchFamily="34" charset="0"/>
              </a:rPr>
            </a:br>
            <a:r>
              <a:rPr lang="en-US" sz="2400">
                <a:effectLst/>
                <a:latin typeface="Swis721 Cn BT" pitchFamily="34" charset="0"/>
              </a:rPr>
              <a:t>Outcomes</a:t>
            </a:r>
          </a:p>
        </p:txBody>
      </p:sp>
      <p:sp>
        <p:nvSpPr>
          <p:cNvPr id="11277" name="Text Box 13"/>
          <p:cNvSpPr txBox="1">
            <a:spLocks noChangeArrowheads="1"/>
          </p:cNvSpPr>
          <p:nvPr/>
        </p:nvSpPr>
        <p:spPr bwMode="auto">
          <a:xfrm>
            <a:off x="4421188" y="3352800"/>
            <a:ext cx="2414587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Building a state/local system for decision </a:t>
            </a:r>
            <a:br>
              <a:rPr lang="en-US" sz="1600">
                <a:effectLst/>
                <a:latin typeface="Swis721 Cn BT" pitchFamily="34" charset="0"/>
              </a:rPr>
            </a:br>
            <a:r>
              <a:rPr lang="en-US" sz="1600">
                <a:effectLst/>
                <a:latin typeface="Swis721 Cn BT" pitchFamily="34" charset="0"/>
              </a:rPr>
              <a:t>support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Developing rollout plans </a:t>
            </a:r>
            <a:br>
              <a:rPr lang="en-US" sz="1600">
                <a:effectLst/>
                <a:latin typeface="Swis721 Cn BT" pitchFamily="34" charset="0"/>
              </a:rPr>
            </a:br>
            <a:r>
              <a:rPr lang="en-US" sz="1600">
                <a:effectLst/>
                <a:latin typeface="Swis721 Cn BT" pitchFamily="34" charset="0"/>
              </a:rPr>
              <a:t>for evidence-based practices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Develop audit clinical trail for adherence</a:t>
            </a:r>
          </a:p>
        </p:txBody>
      </p:sp>
      <p:sp>
        <p:nvSpPr>
          <p:cNvPr id="11278" name="Text Box 14"/>
          <p:cNvSpPr txBox="1">
            <a:spLocks noChangeArrowheads="1"/>
          </p:cNvSpPr>
          <p:nvPr/>
        </p:nvSpPr>
        <p:spPr bwMode="auto">
          <a:xfrm>
            <a:off x="6684963" y="3352800"/>
            <a:ext cx="2447925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Public policy decisions based on accurate information 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Use of outcomes data to modify, improve and</a:t>
            </a:r>
            <a:br>
              <a:rPr lang="en-US" sz="1600">
                <a:effectLst/>
                <a:latin typeface="Swis721 Cn BT" pitchFamily="34" charset="0"/>
              </a:rPr>
            </a:br>
            <a:r>
              <a:rPr lang="en-US" sz="1600">
                <a:effectLst/>
                <a:latin typeface="Swis721 Cn BT" pitchFamily="34" charset="0"/>
              </a:rPr>
              <a:t>correct provider practice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3" name="Rectangle 15"/>
          <p:cNvSpPr>
            <a:spLocks noChangeArrowheads="1"/>
          </p:cNvSpPr>
          <p:nvPr/>
        </p:nvSpPr>
        <p:spPr bwMode="auto">
          <a:xfrm>
            <a:off x="304800" y="3352800"/>
            <a:ext cx="8686800" cy="2362200"/>
          </a:xfrm>
          <a:prstGeom prst="rect">
            <a:avLst/>
          </a:prstGeom>
          <a:noFill/>
          <a:ln w="28575">
            <a:solidFill>
              <a:schemeClr val="bg2"/>
            </a:solidFill>
            <a:miter lim="800000"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endParaRPr lang="en-US">
              <a:effectLst/>
            </a:endParaRPr>
          </a:p>
        </p:txBody>
      </p:sp>
      <p:sp>
        <p:nvSpPr>
          <p:cNvPr id="12304" name="Line 16"/>
          <p:cNvSpPr>
            <a:spLocks noChangeShapeType="1"/>
          </p:cNvSpPr>
          <p:nvPr/>
        </p:nvSpPr>
        <p:spPr bwMode="auto">
          <a:xfrm>
            <a:off x="4419600" y="3352800"/>
            <a:ext cx="0" cy="23622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US">
              <a:effectLst/>
            </a:endParaRPr>
          </a:p>
        </p:txBody>
      </p:sp>
      <p:sp>
        <p:nvSpPr>
          <p:cNvPr id="12305" name="Text Box 17"/>
          <p:cNvSpPr txBox="1">
            <a:spLocks noChangeArrowheads="1"/>
          </p:cNvSpPr>
          <p:nvPr/>
        </p:nvSpPr>
        <p:spPr bwMode="auto">
          <a:xfrm>
            <a:off x="3429000" y="1219200"/>
            <a:ext cx="5486400" cy="94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32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  <a:t>Implementation Plan </a:t>
            </a:r>
            <a:br>
              <a:rPr lang="en-US" sz="32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</a:br>
            <a:r>
              <a:rPr lang="en-US" sz="24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  <a:t>for State Mental Health Authorities</a:t>
            </a:r>
          </a:p>
        </p:txBody>
      </p:sp>
      <p:sp>
        <p:nvSpPr>
          <p:cNvPr id="12306" name="Line 18"/>
          <p:cNvSpPr>
            <a:spLocks noChangeShapeType="1"/>
          </p:cNvSpPr>
          <p:nvPr/>
        </p:nvSpPr>
        <p:spPr bwMode="auto">
          <a:xfrm>
            <a:off x="6705600" y="3352800"/>
            <a:ext cx="0" cy="23622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US">
              <a:effectLst/>
            </a:endParaRPr>
          </a:p>
        </p:txBody>
      </p:sp>
      <p:sp>
        <p:nvSpPr>
          <p:cNvPr id="12307" name="Line 19"/>
          <p:cNvSpPr>
            <a:spLocks noChangeShapeType="1"/>
          </p:cNvSpPr>
          <p:nvPr/>
        </p:nvSpPr>
        <p:spPr bwMode="auto">
          <a:xfrm>
            <a:off x="2286000" y="3352800"/>
            <a:ext cx="0" cy="23622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US">
              <a:effectLst/>
            </a:endParaRPr>
          </a:p>
        </p:txBody>
      </p:sp>
      <p:sp>
        <p:nvSpPr>
          <p:cNvPr id="12308" name="Text Box 20"/>
          <p:cNvSpPr txBox="1">
            <a:spLocks noChangeArrowheads="1"/>
          </p:cNvSpPr>
          <p:nvPr/>
        </p:nvSpPr>
        <p:spPr bwMode="auto">
          <a:xfrm>
            <a:off x="304800" y="3352800"/>
            <a:ext cx="21336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Integrate Cultural Competence</a:t>
            </a:r>
          </a:p>
        </p:txBody>
      </p:sp>
      <p:sp>
        <p:nvSpPr>
          <p:cNvPr id="12309" name="Text Box 21"/>
          <p:cNvSpPr txBox="1">
            <a:spLocks noChangeArrowheads="1"/>
          </p:cNvSpPr>
          <p:nvPr/>
        </p:nvSpPr>
        <p:spPr bwMode="auto">
          <a:xfrm>
            <a:off x="2286000" y="3352800"/>
            <a:ext cx="2262188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Disseminate information and provider tools about Cultural Competence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Preparing organizational climate for change</a:t>
            </a:r>
          </a:p>
        </p:txBody>
      </p:sp>
      <p:sp>
        <p:nvSpPr>
          <p:cNvPr id="12310" name="Text Box 22"/>
          <p:cNvSpPr txBox="1">
            <a:spLocks noChangeArrowheads="1"/>
          </p:cNvSpPr>
          <p:nvPr/>
        </p:nvSpPr>
        <p:spPr bwMode="auto">
          <a:xfrm>
            <a:off x="508000" y="2903538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effectLst/>
                <a:latin typeface="Swis721 Cn BT" pitchFamily="34" charset="0"/>
              </a:rPr>
              <a:t>Challenge</a:t>
            </a:r>
          </a:p>
        </p:txBody>
      </p:sp>
      <p:sp>
        <p:nvSpPr>
          <p:cNvPr id="12311" name="Text Box 23"/>
          <p:cNvSpPr txBox="1">
            <a:spLocks noChangeArrowheads="1"/>
          </p:cNvSpPr>
          <p:nvPr/>
        </p:nvSpPr>
        <p:spPr bwMode="auto">
          <a:xfrm>
            <a:off x="2286000" y="2514600"/>
            <a:ext cx="2209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effectLst/>
                <a:latin typeface="Swis721 Cn BT" pitchFamily="34" charset="0"/>
              </a:rPr>
              <a:t>Current Practice</a:t>
            </a:r>
          </a:p>
        </p:txBody>
      </p:sp>
      <p:sp>
        <p:nvSpPr>
          <p:cNvPr id="12312" name="Text Box 24"/>
          <p:cNvSpPr txBox="1">
            <a:spLocks noChangeArrowheads="1"/>
          </p:cNvSpPr>
          <p:nvPr/>
        </p:nvSpPr>
        <p:spPr bwMode="auto">
          <a:xfrm>
            <a:off x="4413250" y="2538413"/>
            <a:ext cx="2209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>
                <a:effectLst/>
                <a:latin typeface="Swis721 Cn BT" pitchFamily="34" charset="0"/>
              </a:rPr>
              <a:t>Priority</a:t>
            </a:r>
            <a:br>
              <a:rPr lang="en-US" sz="2400">
                <a:effectLst/>
                <a:latin typeface="Swis721 Cn BT" pitchFamily="34" charset="0"/>
              </a:rPr>
            </a:br>
            <a:r>
              <a:rPr lang="en-US" sz="2400">
                <a:effectLst/>
                <a:latin typeface="Swis721 Cn BT" pitchFamily="34" charset="0"/>
              </a:rPr>
              <a:t>Strategies</a:t>
            </a:r>
          </a:p>
        </p:txBody>
      </p:sp>
      <p:sp>
        <p:nvSpPr>
          <p:cNvPr id="12313" name="Text Box 25"/>
          <p:cNvSpPr txBox="1">
            <a:spLocks noChangeArrowheads="1"/>
          </p:cNvSpPr>
          <p:nvPr/>
        </p:nvSpPr>
        <p:spPr bwMode="auto">
          <a:xfrm>
            <a:off x="6618288" y="2538413"/>
            <a:ext cx="2209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>
                <a:effectLst/>
                <a:latin typeface="Swis721 Cn BT" pitchFamily="34" charset="0"/>
              </a:rPr>
              <a:t>Desired</a:t>
            </a:r>
            <a:br>
              <a:rPr lang="en-US" sz="2400">
                <a:effectLst/>
                <a:latin typeface="Swis721 Cn BT" pitchFamily="34" charset="0"/>
              </a:rPr>
            </a:br>
            <a:r>
              <a:rPr lang="en-US" sz="2400">
                <a:effectLst/>
                <a:latin typeface="Swis721 Cn BT" pitchFamily="34" charset="0"/>
              </a:rPr>
              <a:t>Outcomes</a:t>
            </a:r>
          </a:p>
        </p:txBody>
      </p:sp>
      <p:sp>
        <p:nvSpPr>
          <p:cNvPr id="12314" name="Text Box 26"/>
          <p:cNvSpPr txBox="1">
            <a:spLocks noChangeArrowheads="1"/>
          </p:cNvSpPr>
          <p:nvPr/>
        </p:nvSpPr>
        <p:spPr bwMode="auto">
          <a:xfrm>
            <a:off x="4510088" y="3398838"/>
            <a:ext cx="2414587" cy="1436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Build demand for integration of cultural competence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Identify cultural competence needs</a:t>
            </a:r>
          </a:p>
        </p:txBody>
      </p:sp>
      <p:sp>
        <p:nvSpPr>
          <p:cNvPr id="12315" name="Text Box 27"/>
          <p:cNvSpPr txBox="1">
            <a:spLocks noChangeArrowheads="1"/>
          </p:cNvSpPr>
          <p:nvPr/>
        </p:nvSpPr>
        <p:spPr bwMode="auto">
          <a:xfrm>
            <a:off x="6684963" y="3368675"/>
            <a:ext cx="2447925" cy="1192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Ongoing support for shared vision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Recipient and family satisfaction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304800" y="3352800"/>
            <a:ext cx="8686800" cy="2819400"/>
          </a:xfrm>
          <a:prstGeom prst="rect">
            <a:avLst/>
          </a:prstGeom>
          <a:noFill/>
          <a:ln w="28575">
            <a:solidFill>
              <a:schemeClr val="bg2"/>
            </a:solidFill>
            <a:miter lim="800000"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endParaRPr lang="en-US">
              <a:effectLst/>
            </a:endParaRPr>
          </a:p>
        </p:txBody>
      </p:sp>
      <p:sp>
        <p:nvSpPr>
          <p:cNvPr id="13315" name="Line 3"/>
          <p:cNvSpPr>
            <a:spLocks noChangeShapeType="1"/>
          </p:cNvSpPr>
          <p:nvPr/>
        </p:nvSpPr>
        <p:spPr bwMode="auto">
          <a:xfrm>
            <a:off x="4419600" y="3352800"/>
            <a:ext cx="0" cy="23622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US">
              <a:effectLst/>
            </a:endParaRPr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3429000" y="1219200"/>
            <a:ext cx="5486400" cy="94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32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  <a:t>Implementation Plan </a:t>
            </a:r>
            <a:br>
              <a:rPr lang="en-US" sz="32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</a:br>
            <a:r>
              <a:rPr lang="en-US" sz="24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  <a:t>for State Mental Health Authorities</a:t>
            </a:r>
          </a:p>
        </p:txBody>
      </p:sp>
      <p:sp>
        <p:nvSpPr>
          <p:cNvPr id="13317" name="Line 5"/>
          <p:cNvSpPr>
            <a:spLocks noChangeShapeType="1"/>
          </p:cNvSpPr>
          <p:nvPr/>
        </p:nvSpPr>
        <p:spPr bwMode="auto">
          <a:xfrm>
            <a:off x="6705600" y="3352800"/>
            <a:ext cx="0" cy="23622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US">
              <a:effectLst/>
            </a:endParaRPr>
          </a:p>
        </p:txBody>
      </p:sp>
      <p:sp>
        <p:nvSpPr>
          <p:cNvPr id="13318" name="Line 6"/>
          <p:cNvSpPr>
            <a:spLocks noChangeShapeType="1"/>
          </p:cNvSpPr>
          <p:nvPr/>
        </p:nvSpPr>
        <p:spPr bwMode="auto">
          <a:xfrm>
            <a:off x="2286000" y="3352800"/>
            <a:ext cx="0" cy="23622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US">
              <a:effectLst/>
            </a:endParaRPr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304800" y="3352800"/>
            <a:ext cx="21336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Applying consumer demand for results:</a:t>
            </a:r>
            <a:br>
              <a:rPr lang="en-US" sz="1600">
                <a:effectLst/>
                <a:latin typeface="Swis721 Cn BT" pitchFamily="34" charset="0"/>
              </a:rPr>
            </a:br>
            <a:r>
              <a:rPr lang="en-US" sz="1600">
                <a:effectLst/>
                <a:latin typeface="Swis721 Cn BT" pitchFamily="34" charset="0"/>
              </a:rPr>
              <a:t>the recipient perspective</a:t>
            </a:r>
          </a:p>
        </p:txBody>
      </p:sp>
      <p:sp>
        <p:nvSpPr>
          <p:cNvPr id="13320" name="Text Box 8"/>
          <p:cNvSpPr txBox="1">
            <a:spLocks noChangeArrowheads="1"/>
          </p:cNvSpPr>
          <p:nvPr/>
        </p:nvSpPr>
        <p:spPr bwMode="auto">
          <a:xfrm>
            <a:off x="2260600" y="3368675"/>
            <a:ext cx="2262188" cy="1436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Emerging practices for self-management of symptoms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Increased attention to consumer choice</a:t>
            </a:r>
          </a:p>
        </p:txBody>
      </p:sp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508000" y="2903538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effectLst/>
                <a:latin typeface="Swis721 Cn BT" pitchFamily="34" charset="0"/>
              </a:rPr>
              <a:t>Challenge</a:t>
            </a:r>
          </a:p>
        </p:txBody>
      </p:sp>
      <p:sp>
        <p:nvSpPr>
          <p:cNvPr id="13322" name="Text Box 10"/>
          <p:cNvSpPr txBox="1">
            <a:spLocks noChangeArrowheads="1"/>
          </p:cNvSpPr>
          <p:nvPr/>
        </p:nvSpPr>
        <p:spPr bwMode="auto">
          <a:xfrm>
            <a:off x="2362200" y="2514600"/>
            <a:ext cx="2209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effectLst/>
                <a:latin typeface="Swis721 Cn BT" pitchFamily="34" charset="0"/>
              </a:rPr>
              <a:t>Current Practice</a:t>
            </a:r>
          </a:p>
        </p:txBody>
      </p:sp>
      <p:sp>
        <p:nvSpPr>
          <p:cNvPr id="13323" name="Text Box 11"/>
          <p:cNvSpPr txBox="1">
            <a:spLocks noChangeArrowheads="1"/>
          </p:cNvSpPr>
          <p:nvPr/>
        </p:nvSpPr>
        <p:spPr bwMode="auto">
          <a:xfrm>
            <a:off x="4413250" y="2538413"/>
            <a:ext cx="2209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>
                <a:effectLst/>
                <a:latin typeface="Swis721 Cn BT" pitchFamily="34" charset="0"/>
              </a:rPr>
              <a:t>Priority</a:t>
            </a:r>
            <a:br>
              <a:rPr lang="en-US" sz="2400">
                <a:effectLst/>
                <a:latin typeface="Swis721 Cn BT" pitchFamily="34" charset="0"/>
              </a:rPr>
            </a:br>
            <a:r>
              <a:rPr lang="en-US" sz="2400">
                <a:effectLst/>
                <a:latin typeface="Swis721 Cn BT" pitchFamily="34" charset="0"/>
              </a:rPr>
              <a:t>Strategies</a:t>
            </a:r>
          </a:p>
        </p:txBody>
      </p:sp>
      <p:sp>
        <p:nvSpPr>
          <p:cNvPr id="13324" name="Text Box 12"/>
          <p:cNvSpPr txBox="1">
            <a:spLocks noChangeArrowheads="1"/>
          </p:cNvSpPr>
          <p:nvPr/>
        </p:nvSpPr>
        <p:spPr bwMode="auto">
          <a:xfrm>
            <a:off x="6618288" y="2538413"/>
            <a:ext cx="2209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>
                <a:effectLst/>
                <a:latin typeface="Swis721 Cn BT" pitchFamily="34" charset="0"/>
              </a:rPr>
              <a:t>Desired</a:t>
            </a:r>
            <a:br>
              <a:rPr lang="en-US" sz="2400">
                <a:effectLst/>
                <a:latin typeface="Swis721 Cn BT" pitchFamily="34" charset="0"/>
              </a:rPr>
            </a:br>
            <a:r>
              <a:rPr lang="en-US" sz="2400">
                <a:effectLst/>
                <a:latin typeface="Swis721 Cn BT" pitchFamily="34" charset="0"/>
              </a:rPr>
              <a:t>Outcomes</a:t>
            </a:r>
          </a:p>
        </p:txBody>
      </p:sp>
      <p:sp>
        <p:nvSpPr>
          <p:cNvPr id="13325" name="Text Box 13"/>
          <p:cNvSpPr txBox="1">
            <a:spLocks noChangeArrowheads="1"/>
          </p:cNvSpPr>
          <p:nvPr/>
        </p:nvSpPr>
        <p:spPr bwMode="auto">
          <a:xfrm>
            <a:off x="4421188" y="3386138"/>
            <a:ext cx="2414587" cy="2800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Increase integration of </a:t>
            </a:r>
            <a:br>
              <a:rPr lang="en-US" sz="1600">
                <a:effectLst/>
                <a:latin typeface="Swis721 Cn BT" pitchFamily="34" charset="0"/>
              </a:rPr>
            </a:br>
            <a:r>
              <a:rPr lang="en-US" sz="1600">
                <a:effectLst/>
                <a:latin typeface="Swis721 Cn BT" pitchFamily="34" charset="0"/>
              </a:rPr>
              <a:t>self-help services in mainstream systems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Increase service system education on values and implications concerning recovery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Use of peer intervention</a:t>
            </a:r>
          </a:p>
        </p:txBody>
      </p:sp>
      <p:sp>
        <p:nvSpPr>
          <p:cNvPr id="13326" name="Text Box 14"/>
          <p:cNvSpPr txBox="1">
            <a:spLocks noChangeArrowheads="1"/>
          </p:cNvSpPr>
          <p:nvPr/>
        </p:nvSpPr>
        <p:spPr bwMode="auto">
          <a:xfrm>
            <a:off x="6684963" y="3368675"/>
            <a:ext cx="2447925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Mental health systems responsive to consumer rights and choice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Improve medical, mental health and socio-economic outcomes for consumers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304800" y="3352800"/>
            <a:ext cx="8686800" cy="2819400"/>
          </a:xfrm>
          <a:prstGeom prst="rect">
            <a:avLst/>
          </a:prstGeom>
          <a:noFill/>
          <a:ln w="28575">
            <a:solidFill>
              <a:schemeClr val="bg2"/>
            </a:solidFill>
            <a:miter lim="800000"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endParaRPr lang="en-US">
              <a:effectLst/>
            </a:endParaRPr>
          </a:p>
        </p:txBody>
      </p:sp>
      <p:sp>
        <p:nvSpPr>
          <p:cNvPr id="15363" name="Line 3"/>
          <p:cNvSpPr>
            <a:spLocks noChangeShapeType="1"/>
          </p:cNvSpPr>
          <p:nvPr/>
        </p:nvSpPr>
        <p:spPr bwMode="auto">
          <a:xfrm>
            <a:off x="4419600" y="3352800"/>
            <a:ext cx="0" cy="23622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US">
              <a:effectLst/>
            </a:endParaRP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3429000" y="1219200"/>
            <a:ext cx="5486400" cy="94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32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  <a:t>Implementation Plan </a:t>
            </a:r>
            <a:br>
              <a:rPr lang="en-US" sz="32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</a:br>
            <a:r>
              <a:rPr lang="en-US" sz="24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  <a:t>for State Mental Health Authorities</a:t>
            </a:r>
          </a:p>
        </p:txBody>
      </p:sp>
      <p:sp>
        <p:nvSpPr>
          <p:cNvPr id="15365" name="Line 5"/>
          <p:cNvSpPr>
            <a:spLocks noChangeShapeType="1"/>
          </p:cNvSpPr>
          <p:nvPr/>
        </p:nvSpPr>
        <p:spPr bwMode="auto">
          <a:xfrm>
            <a:off x="6705600" y="3352800"/>
            <a:ext cx="0" cy="23622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US">
              <a:effectLst/>
            </a:endParaRPr>
          </a:p>
        </p:txBody>
      </p:sp>
      <p:sp>
        <p:nvSpPr>
          <p:cNvPr id="15366" name="Line 6"/>
          <p:cNvSpPr>
            <a:spLocks noChangeShapeType="1"/>
          </p:cNvSpPr>
          <p:nvPr/>
        </p:nvSpPr>
        <p:spPr bwMode="auto">
          <a:xfrm>
            <a:off x="2286000" y="3352800"/>
            <a:ext cx="0" cy="23622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US">
              <a:effectLst/>
            </a:endParaRPr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304800" y="3352800"/>
            <a:ext cx="21336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Applying consumer demand for results:</a:t>
            </a:r>
            <a:br>
              <a:rPr lang="en-US" sz="1600">
                <a:effectLst/>
                <a:latin typeface="Swis721 Cn BT" pitchFamily="34" charset="0"/>
              </a:rPr>
            </a:br>
            <a:r>
              <a:rPr lang="en-US" sz="1600">
                <a:effectLst/>
                <a:latin typeface="Swis721 Cn BT" pitchFamily="34" charset="0"/>
              </a:rPr>
              <a:t>the family perspective</a:t>
            </a:r>
          </a:p>
        </p:txBody>
      </p:sp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2235200" y="3352800"/>
            <a:ext cx="2262188" cy="1692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Family level interest in evidence-based practice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Family-level advocacy for improved outcomes</a:t>
            </a:r>
          </a:p>
        </p:txBody>
      </p:sp>
      <p:sp>
        <p:nvSpPr>
          <p:cNvPr id="15369" name="Text Box 9"/>
          <p:cNvSpPr txBox="1">
            <a:spLocks noChangeArrowheads="1"/>
          </p:cNvSpPr>
          <p:nvPr/>
        </p:nvSpPr>
        <p:spPr bwMode="auto">
          <a:xfrm>
            <a:off x="508000" y="2903538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effectLst/>
                <a:latin typeface="Swis721 Cn BT" pitchFamily="34" charset="0"/>
              </a:rPr>
              <a:t>Challenge</a:t>
            </a:r>
          </a:p>
        </p:txBody>
      </p:sp>
      <p:sp>
        <p:nvSpPr>
          <p:cNvPr id="15370" name="Text Box 10"/>
          <p:cNvSpPr txBox="1">
            <a:spLocks noChangeArrowheads="1"/>
          </p:cNvSpPr>
          <p:nvPr/>
        </p:nvSpPr>
        <p:spPr bwMode="auto">
          <a:xfrm>
            <a:off x="2209800" y="2514600"/>
            <a:ext cx="2209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effectLst/>
                <a:latin typeface="Swis721 Cn BT" pitchFamily="34" charset="0"/>
              </a:rPr>
              <a:t>Current Practice</a:t>
            </a:r>
          </a:p>
        </p:txBody>
      </p:sp>
      <p:sp>
        <p:nvSpPr>
          <p:cNvPr id="15371" name="Text Box 11"/>
          <p:cNvSpPr txBox="1">
            <a:spLocks noChangeArrowheads="1"/>
          </p:cNvSpPr>
          <p:nvPr/>
        </p:nvSpPr>
        <p:spPr bwMode="auto">
          <a:xfrm>
            <a:off x="4413250" y="2538413"/>
            <a:ext cx="2209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>
                <a:effectLst/>
                <a:latin typeface="Swis721 Cn BT" pitchFamily="34" charset="0"/>
              </a:rPr>
              <a:t>Priority</a:t>
            </a:r>
            <a:br>
              <a:rPr lang="en-US" sz="2400">
                <a:effectLst/>
                <a:latin typeface="Swis721 Cn BT" pitchFamily="34" charset="0"/>
              </a:rPr>
            </a:br>
            <a:r>
              <a:rPr lang="en-US" sz="2400">
                <a:effectLst/>
                <a:latin typeface="Swis721 Cn BT" pitchFamily="34" charset="0"/>
              </a:rPr>
              <a:t>Strategies</a:t>
            </a:r>
          </a:p>
        </p:txBody>
      </p:sp>
      <p:sp>
        <p:nvSpPr>
          <p:cNvPr id="15372" name="Text Box 12"/>
          <p:cNvSpPr txBox="1">
            <a:spLocks noChangeArrowheads="1"/>
          </p:cNvSpPr>
          <p:nvPr/>
        </p:nvSpPr>
        <p:spPr bwMode="auto">
          <a:xfrm>
            <a:off x="6618288" y="2538413"/>
            <a:ext cx="2209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>
                <a:effectLst/>
                <a:latin typeface="Swis721 Cn BT" pitchFamily="34" charset="0"/>
              </a:rPr>
              <a:t>Desired</a:t>
            </a:r>
            <a:br>
              <a:rPr lang="en-US" sz="2400">
                <a:effectLst/>
                <a:latin typeface="Swis721 Cn BT" pitchFamily="34" charset="0"/>
              </a:rPr>
            </a:br>
            <a:r>
              <a:rPr lang="en-US" sz="2400">
                <a:effectLst/>
                <a:latin typeface="Swis721 Cn BT" pitchFamily="34" charset="0"/>
              </a:rPr>
              <a:t>Outcomes</a:t>
            </a:r>
          </a:p>
        </p:txBody>
      </p:sp>
      <p:sp>
        <p:nvSpPr>
          <p:cNvPr id="15373" name="Text Box 13"/>
          <p:cNvSpPr txBox="1">
            <a:spLocks noChangeArrowheads="1"/>
          </p:cNvSpPr>
          <p:nvPr/>
        </p:nvSpPr>
        <p:spPr bwMode="auto">
          <a:xfrm>
            <a:off x="4421188" y="3352800"/>
            <a:ext cx="2414587" cy="192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Increase state and local level advocacy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Increase involvement in service delivery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Generate demand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Create incentives</a:t>
            </a:r>
          </a:p>
        </p:txBody>
      </p:sp>
      <p:sp>
        <p:nvSpPr>
          <p:cNvPr id="15374" name="Text Box 14"/>
          <p:cNvSpPr txBox="1">
            <a:spLocks noChangeArrowheads="1"/>
          </p:cNvSpPr>
          <p:nvPr/>
        </p:nvSpPr>
        <p:spPr bwMode="auto">
          <a:xfrm>
            <a:off x="6672263" y="3352800"/>
            <a:ext cx="2447925" cy="2800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Families served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Families have sufficient inclusion in policy formulation and guidelines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Families are effective in securing positive out-</a:t>
            </a:r>
            <a:br>
              <a:rPr lang="en-US" sz="1600">
                <a:effectLst/>
                <a:latin typeface="Swis721 Cn BT" pitchFamily="34" charset="0"/>
              </a:rPr>
            </a:br>
            <a:r>
              <a:rPr lang="en-US" sz="1600">
                <a:effectLst/>
                <a:latin typeface="Swis721 Cn BT" pitchFamily="34" charset="0"/>
              </a:rPr>
              <a:t>comes for family members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304800" y="3352800"/>
            <a:ext cx="8686800" cy="2362200"/>
          </a:xfrm>
          <a:prstGeom prst="rect">
            <a:avLst/>
          </a:prstGeom>
          <a:noFill/>
          <a:ln w="28575">
            <a:solidFill>
              <a:schemeClr val="bg2"/>
            </a:solidFill>
            <a:miter lim="800000"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endParaRPr lang="en-US">
              <a:effectLst/>
            </a:endParaRPr>
          </a:p>
        </p:txBody>
      </p:sp>
      <p:sp>
        <p:nvSpPr>
          <p:cNvPr id="16387" name="Line 3"/>
          <p:cNvSpPr>
            <a:spLocks noChangeShapeType="1"/>
          </p:cNvSpPr>
          <p:nvPr/>
        </p:nvSpPr>
        <p:spPr bwMode="auto">
          <a:xfrm>
            <a:off x="4419600" y="3352800"/>
            <a:ext cx="0" cy="23622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US">
              <a:effectLst/>
            </a:endParaRP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3429000" y="1219200"/>
            <a:ext cx="5486400" cy="94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32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  <a:t>Implementation Plan </a:t>
            </a:r>
            <a:br>
              <a:rPr lang="en-US" sz="32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</a:br>
            <a:r>
              <a:rPr lang="en-US" sz="240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wis721 Cn BT" pitchFamily="34" charset="0"/>
              </a:rPr>
              <a:t>for State Mental Health Authorities</a:t>
            </a:r>
          </a:p>
        </p:txBody>
      </p:sp>
      <p:sp>
        <p:nvSpPr>
          <p:cNvPr id="16389" name="Line 5"/>
          <p:cNvSpPr>
            <a:spLocks noChangeShapeType="1"/>
          </p:cNvSpPr>
          <p:nvPr/>
        </p:nvSpPr>
        <p:spPr bwMode="auto">
          <a:xfrm>
            <a:off x="6705600" y="3352800"/>
            <a:ext cx="0" cy="23622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US">
              <a:effectLst/>
            </a:endParaRPr>
          </a:p>
        </p:txBody>
      </p:sp>
      <p:sp>
        <p:nvSpPr>
          <p:cNvPr id="16390" name="Line 6"/>
          <p:cNvSpPr>
            <a:spLocks noChangeShapeType="1"/>
          </p:cNvSpPr>
          <p:nvPr/>
        </p:nvSpPr>
        <p:spPr bwMode="auto">
          <a:xfrm>
            <a:off x="2286000" y="3352800"/>
            <a:ext cx="0" cy="23622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endParaRPr lang="en-US">
              <a:effectLst/>
            </a:endParaRPr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304800" y="3352800"/>
            <a:ext cx="21336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Moving a national agenda for evidence-based practice</a:t>
            </a:r>
          </a:p>
        </p:txBody>
      </p:sp>
      <p:sp>
        <p:nvSpPr>
          <p:cNvPr id="16392" name="Text Box 8"/>
          <p:cNvSpPr txBox="1">
            <a:spLocks noChangeArrowheads="1"/>
          </p:cNvSpPr>
          <p:nvPr/>
        </p:nvSpPr>
        <p:spPr bwMode="auto">
          <a:xfrm>
            <a:off x="2260600" y="3368675"/>
            <a:ext cx="2262188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Dartmouth toolkit efforts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CMHS efforts</a:t>
            </a:r>
          </a:p>
        </p:txBody>
      </p:sp>
      <p:sp>
        <p:nvSpPr>
          <p:cNvPr id="16393" name="Text Box 9"/>
          <p:cNvSpPr txBox="1">
            <a:spLocks noChangeArrowheads="1"/>
          </p:cNvSpPr>
          <p:nvPr/>
        </p:nvSpPr>
        <p:spPr bwMode="auto">
          <a:xfrm>
            <a:off x="508000" y="2903538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effectLst/>
                <a:latin typeface="Swis721 Cn BT" pitchFamily="34" charset="0"/>
              </a:rPr>
              <a:t>Challenge</a:t>
            </a:r>
          </a:p>
        </p:txBody>
      </p:sp>
      <p:sp>
        <p:nvSpPr>
          <p:cNvPr id="16394" name="Text Box 10"/>
          <p:cNvSpPr txBox="1">
            <a:spLocks noChangeArrowheads="1"/>
          </p:cNvSpPr>
          <p:nvPr/>
        </p:nvSpPr>
        <p:spPr bwMode="auto">
          <a:xfrm>
            <a:off x="2286000" y="2514600"/>
            <a:ext cx="2209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effectLst/>
                <a:latin typeface="Swis721 Cn BT" pitchFamily="34" charset="0"/>
              </a:rPr>
              <a:t>Current Practice</a:t>
            </a:r>
          </a:p>
        </p:txBody>
      </p:sp>
      <p:sp>
        <p:nvSpPr>
          <p:cNvPr id="16395" name="Text Box 11"/>
          <p:cNvSpPr txBox="1">
            <a:spLocks noChangeArrowheads="1"/>
          </p:cNvSpPr>
          <p:nvPr/>
        </p:nvSpPr>
        <p:spPr bwMode="auto">
          <a:xfrm>
            <a:off x="4413250" y="2538413"/>
            <a:ext cx="2209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>
                <a:effectLst/>
                <a:latin typeface="Swis721 Cn BT" pitchFamily="34" charset="0"/>
              </a:rPr>
              <a:t>Priority</a:t>
            </a:r>
            <a:br>
              <a:rPr lang="en-US" sz="2400">
                <a:effectLst/>
                <a:latin typeface="Swis721 Cn BT" pitchFamily="34" charset="0"/>
              </a:rPr>
            </a:br>
            <a:r>
              <a:rPr lang="en-US" sz="2400">
                <a:effectLst/>
                <a:latin typeface="Swis721 Cn BT" pitchFamily="34" charset="0"/>
              </a:rPr>
              <a:t>Strategies</a:t>
            </a:r>
          </a:p>
        </p:txBody>
      </p:sp>
      <p:sp>
        <p:nvSpPr>
          <p:cNvPr id="16396" name="Text Box 12"/>
          <p:cNvSpPr txBox="1">
            <a:spLocks noChangeArrowheads="1"/>
          </p:cNvSpPr>
          <p:nvPr/>
        </p:nvSpPr>
        <p:spPr bwMode="auto">
          <a:xfrm>
            <a:off x="6618288" y="2538413"/>
            <a:ext cx="2209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>
                <a:effectLst/>
                <a:latin typeface="Swis721 Cn BT" pitchFamily="34" charset="0"/>
              </a:rPr>
              <a:t>Desired</a:t>
            </a:r>
            <a:br>
              <a:rPr lang="en-US" sz="2400">
                <a:effectLst/>
                <a:latin typeface="Swis721 Cn BT" pitchFamily="34" charset="0"/>
              </a:rPr>
            </a:br>
            <a:r>
              <a:rPr lang="en-US" sz="2400">
                <a:effectLst/>
                <a:latin typeface="Swis721 Cn BT" pitchFamily="34" charset="0"/>
              </a:rPr>
              <a:t>Outcomes</a:t>
            </a:r>
          </a:p>
        </p:txBody>
      </p:sp>
      <p:sp>
        <p:nvSpPr>
          <p:cNvPr id="16397" name="Text Box 13"/>
          <p:cNvSpPr txBox="1">
            <a:spLocks noChangeArrowheads="1"/>
          </p:cNvSpPr>
          <p:nvPr/>
        </p:nvSpPr>
        <p:spPr bwMode="auto">
          <a:xfrm>
            <a:off x="4383088" y="3386138"/>
            <a:ext cx="2414587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Gain support for national demonstration project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Gain support for national, state and local technology transfer</a:t>
            </a:r>
          </a:p>
        </p:txBody>
      </p:sp>
      <p:sp>
        <p:nvSpPr>
          <p:cNvPr id="16398" name="Text Box 14"/>
          <p:cNvSpPr txBox="1">
            <a:spLocks noChangeArrowheads="1"/>
          </p:cNvSpPr>
          <p:nvPr/>
        </p:nvSpPr>
        <p:spPr bwMode="auto">
          <a:xfrm>
            <a:off x="6684963" y="3368675"/>
            <a:ext cx="2447925" cy="229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Funding for national initiative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Allocation of resources for technology transfer</a:t>
            </a:r>
          </a:p>
          <a:p>
            <a:pPr>
              <a:spcBef>
                <a:spcPct val="50000"/>
              </a:spcBef>
            </a:pPr>
            <a:r>
              <a:rPr lang="en-US" sz="1600">
                <a:effectLst/>
                <a:latin typeface="Swis721 Cn BT" pitchFamily="34" charset="0"/>
              </a:rPr>
              <a:t>Adoption of national outcomes indicators to measure effects of change agenda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838200" y="3733800"/>
            <a:ext cx="7543800" cy="270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effectLst/>
                <a:latin typeface="CastleT" pitchFamily="34" charset="0"/>
              </a:rPr>
              <a:t>“People who want milk should not seat themselves on a stool in the middle of a field in hope that a cow will back up to them.”</a:t>
            </a:r>
          </a:p>
          <a:p>
            <a:pPr>
              <a:spcBef>
                <a:spcPct val="50000"/>
              </a:spcBef>
            </a:pPr>
            <a:r>
              <a:rPr lang="en-US" sz="1800" i="1">
                <a:effectLst/>
                <a:latin typeface="CastleT" pitchFamily="34" charset="0"/>
              </a:rPr>
              <a:t>Elbert Hubbard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439</TotalTime>
  <Words>751</Words>
  <Application>Microsoft Office PowerPoint</Application>
  <PresentationFormat>On-screen Show (4:3)</PresentationFormat>
  <Paragraphs>236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Times New Roman</vt:lpstr>
      <vt:lpstr>Swis721 Cn BT</vt:lpstr>
      <vt:lpstr>Swis721 Md BT</vt:lpstr>
      <vt:lpstr>Amerigo Md BT</vt:lpstr>
      <vt:lpstr>CastleT</vt:lpstr>
      <vt:lpstr>Equity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NYS-OMH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isicceg</dc:creator>
  <cp:lastModifiedBy>JEFF</cp:lastModifiedBy>
  <cp:revision>49</cp:revision>
  <dcterms:created xsi:type="dcterms:W3CDTF">2001-06-12T15:21:12Z</dcterms:created>
  <dcterms:modified xsi:type="dcterms:W3CDTF">2010-01-21T22:10:44Z</dcterms:modified>
</cp:coreProperties>
</file>
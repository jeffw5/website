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diagrams/drawing2.xml" ContentType="application/vnd.ms-office.drawingml.diagramDrawing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diagrams/colors4.xml" ContentType="application/vnd.openxmlformats-officedocument.drawingml.diagramColor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colors2.xml" ContentType="application/vnd.openxmlformats-officedocument.drawingml.diagramColors+xml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rawing1.xml" ContentType="application/vnd.ms-office.drawingml.diagramDrawing+xml"/>
  <Override PartName="/ppt/notesSlides/notesSlide19.xml" ContentType="application/vnd.openxmlformats-officedocument.presentationml.notesSlide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diagrams/layout4.xml" ContentType="application/vnd.openxmlformats-officedocument.drawingml.diagram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layout2.xml" ContentType="application/vnd.openxmlformats-officedocument.drawingml.diagramLayout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1" r:id="rId1"/>
  </p:sldMasterIdLst>
  <p:notesMasterIdLst>
    <p:notesMasterId r:id="rId27"/>
  </p:notesMasterIdLst>
  <p:handoutMasterIdLst>
    <p:handoutMasterId r:id="rId28"/>
  </p:handout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1" r:id="rId14"/>
    <p:sldId id="269" r:id="rId15"/>
    <p:sldId id="275" r:id="rId16"/>
    <p:sldId id="272" r:id="rId17"/>
    <p:sldId id="278" r:id="rId18"/>
    <p:sldId id="279" r:id="rId19"/>
    <p:sldId id="280" r:id="rId20"/>
    <p:sldId id="281" r:id="rId21"/>
    <p:sldId id="276" r:id="rId22"/>
    <p:sldId id="273" r:id="rId23"/>
    <p:sldId id="270" r:id="rId24"/>
    <p:sldId id="274" r:id="rId25"/>
    <p:sldId id="277" r:id="rId2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277" autoAdjust="0"/>
    <p:restoredTop sz="94660"/>
  </p:normalViewPr>
  <p:slideViewPr>
    <p:cSldViewPr>
      <p:cViewPr varScale="1">
        <p:scale>
          <a:sx n="71" d="100"/>
          <a:sy n="71" d="100"/>
        </p:scale>
        <p:origin x="-153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74" y="-10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20769C5-73DC-4E8A-913F-24C08F2848CC}" type="doc">
      <dgm:prSet loTypeId="urn:microsoft.com/office/officeart/2005/8/layout/funnel1" loCatId="relationship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AE624CA-334A-4EB5-BD8E-55849449CB58}">
      <dgm:prSet phldrT="[Text]"/>
      <dgm:spPr/>
      <dgm:t>
        <a:bodyPr/>
        <a:lstStyle/>
        <a:p>
          <a:r>
            <a:rPr lang="en-US" b="1" dirty="0" smtClean="0"/>
            <a:t>Technology</a:t>
          </a:r>
          <a:endParaRPr lang="en-US" b="1" dirty="0"/>
        </a:p>
      </dgm:t>
    </dgm:pt>
    <dgm:pt modelId="{266A8274-3F4A-4440-B921-C6DE3F6B873C}" type="parTrans" cxnId="{0AB85BF0-1CEA-40C6-9CCA-88179EFB89BB}">
      <dgm:prSet/>
      <dgm:spPr/>
      <dgm:t>
        <a:bodyPr/>
        <a:lstStyle/>
        <a:p>
          <a:endParaRPr lang="en-US" b="1"/>
        </a:p>
      </dgm:t>
    </dgm:pt>
    <dgm:pt modelId="{4C230F2A-173C-40BF-A4C2-7E5B13B46B9A}" type="sibTrans" cxnId="{0AB85BF0-1CEA-40C6-9CCA-88179EFB89BB}">
      <dgm:prSet/>
      <dgm:spPr/>
      <dgm:t>
        <a:bodyPr/>
        <a:lstStyle/>
        <a:p>
          <a:endParaRPr lang="en-US" b="1"/>
        </a:p>
      </dgm:t>
    </dgm:pt>
    <dgm:pt modelId="{42874977-2580-429E-9A3F-5B0A5A2948AF}">
      <dgm:prSet phldrT="[Text]"/>
      <dgm:spPr/>
      <dgm:t>
        <a:bodyPr/>
        <a:lstStyle/>
        <a:p>
          <a:r>
            <a:rPr lang="en-US" b="1" dirty="0" smtClean="0"/>
            <a:t>Ideas</a:t>
          </a:r>
          <a:endParaRPr lang="en-US" b="1" dirty="0"/>
        </a:p>
      </dgm:t>
    </dgm:pt>
    <dgm:pt modelId="{877779FA-F1F3-4080-8170-6F66203C1ADC}" type="parTrans" cxnId="{FAAECAC7-2CFC-4F19-8C5D-6E4D71D6E87D}">
      <dgm:prSet/>
      <dgm:spPr/>
      <dgm:t>
        <a:bodyPr/>
        <a:lstStyle/>
        <a:p>
          <a:endParaRPr lang="en-US" b="1"/>
        </a:p>
      </dgm:t>
    </dgm:pt>
    <dgm:pt modelId="{A81BCB58-7697-467D-9C3B-965DA2A1B17C}" type="sibTrans" cxnId="{FAAECAC7-2CFC-4F19-8C5D-6E4D71D6E87D}">
      <dgm:prSet/>
      <dgm:spPr/>
      <dgm:t>
        <a:bodyPr/>
        <a:lstStyle/>
        <a:p>
          <a:endParaRPr lang="en-US" b="1"/>
        </a:p>
      </dgm:t>
    </dgm:pt>
    <dgm:pt modelId="{973D7B39-D5D2-4B89-A3E7-1C0B9FD794DD}">
      <dgm:prSet phldrT="[Text]"/>
      <dgm:spPr/>
      <dgm:t>
        <a:bodyPr/>
        <a:lstStyle/>
        <a:p>
          <a:r>
            <a:rPr lang="en-US" b="1" dirty="0" smtClean="0"/>
            <a:t>Resources</a:t>
          </a:r>
          <a:endParaRPr lang="en-US" b="1" dirty="0"/>
        </a:p>
      </dgm:t>
    </dgm:pt>
    <dgm:pt modelId="{78954B27-6FCF-43C1-85B8-D3D3416E87FB}" type="parTrans" cxnId="{7321EFB7-9943-4AB2-A514-37083402F7F9}">
      <dgm:prSet/>
      <dgm:spPr/>
      <dgm:t>
        <a:bodyPr/>
        <a:lstStyle/>
        <a:p>
          <a:endParaRPr lang="en-US" b="1"/>
        </a:p>
      </dgm:t>
    </dgm:pt>
    <dgm:pt modelId="{5CD25503-0F80-4BCC-9AA0-B017F228E510}" type="sibTrans" cxnId="{7321EFB7-9943-4AB2-A514-37083402F7F9}">
      <dgm:prSet/>
      <dgm:spPr/>
      <dgm:t>
        <a:bodyPr/>
        <a:lstStyle/>
        <a:p>
          <a:endParaRPr lang="en-US" b="1"/>
        </a:p>
      </dgm:t>
    </dgm:pt>
    <dgm:pt modelId="{39749F21-8792-4349-A6A7-BF01EB94F789}">
      <dgm:prSet phldrT="[Text]"/>
      <dgm:spPr/>
      <dgm:t>
        <a:bodyPr/>
        <a:lstStyle/>
        <a:p>
          <a:r>
            <a:rPr lang="en-US" b="1" dirty="0" smtClean="0"/>
            <a:t>Priorities</a:t>
          </a:r>
          <a:endParaRPr lang="en-US" b="1" dirty="0"/>
        </a:p>
      </dgm:t>
    </dgm:pt>
    <dgm:pt modelId="{0D7C5BC1-381F-4F7F-B459-EC668E257A76}" type="parTrans" cxnId="{61A90DDC-A775-406A-BC0A-28A4EA596504}">
      <dgm:prSet/>
      <dgm:spPr/>
      <dgm:t>
        <a:bodyPr/>
        <a:lstStyle/>
        <a:p>
          <a:endParaRPr lang="en-US" b="1"/>
        </a:p>
      </dgm:t>
    </dgm:pt>
    <dgm:pt modelId="{9548677D-661F-4408-85F7-A8238D4F15D7}" type="sibTrans" cxnId="{61A90DDC-A775-406A-BC0A-28A4EA596504}">
      <dgm:prSet/>
      <dgm:spPr/>
      <dgm:t>
        <a:bodyPr/>
        <a:lstStyle/>
        <a:p>
          <a:endParaRPr lang="en-US" b="1"/>
        </a:p>
      </dgm:t>
    </dgm:pt>
    <dgm:pt modelId="{D7B10E75-58CC-4807-BD47-EBDD0F301C5F}" type="pres">
      <dgm:prSet presAssocID="{E20769C5-73DC-4E8A-913F-24C08F2848CC}" presName="Name0" presStyleCnt="0">
        <dgm:presLayoutVars>
          <dgm:chMax val="4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E1C58007-ADFE-400C-A7E7-0C16929F4834}" type="pres">
      <dgm:prSet presAssocID="{E20769C5-73DC-4E8A-913F-24C08F2848CC}" presName="ellipse" presStyleLbl="trBgShp" presStyleIdx="0" presStyleCnt="1"/>
      <dgm:spPr/>
    </dgm:pt>
    <dgm:pt modelId="{BE474BB7-A5E2-4490-A567-03B382957073}" type="pres">
      <dgm:prSet presAssocID="{E20769C5-73DC-4E8A-913F-24C08F2848CC}" presName="arrow1" presStyleLbl="fgShp" presStyleIdx="0" presStyleCnt="1"/>
      <dgm:spPr/>
    </dgm:pt>
    <dgm:pt modelId="{0B61870B-E2AE-47B9-90BE-64D52B77842D}" type="pres">
      <dgm:prSet presAssocID="{E20769C5-73DC-4E8A-913F-24C08F2848CC}" presName="rectangle" presStyleLbl="revTx" presStyleIdx="0" presStyleCnt="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260B18C-0F12-415C-B2B5-B0D612D38936}" type="pres">
      <dgm:prSet presAssocID="{42874977-2580-429E-9A3F-5B0A5A2948AF}" presName="item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6B2562-BEBF-42CE-9FF0-1BBD38426426}" type="pres">
      <dgm:prSet presAssocID="{973D7B39-D5D2-4B89-A3E7-1C0B9FD794DD}" presName="item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00B4C8-12E4-4D00-876C-94377F786E85}" type="pres">
      <dgm:prSet presAssocID="{39749F21-8792-4349-A6A7-BF01EB94F789}" presName="item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DFE8F55-FE62-4CE9-AB0C-1431255D3302}" type="pres">
      <dgm:prSet presAssocID="{E20769C5-73DC-4E8A-913F-24C08F2848CC}" presName="funnel" presStyleLbl="trAlignAcc1" presStyleIdx="0" presStyleCnt="1"/>
      <dgm:spPr/>
    </dgm:pt>
  </dgm:ptLst>
  <dgm:cxnLst>
    <dgm:cxn modelId="{4B53DBB6-96D7-41B4-A2E5-982BEEBCE3A0}" type="presOf" srcId="{42874977-2580-429E-9A3F-5B0A5A2948AF}" destId="{F96B2562-BEBF-42CE-9FF0-1BBD38426426}" srcOrd="0" destOrd="0" presId="urn:microsoft.com/office/officeart/2005/8/layout/funnel1"/>
    <dgm:cxn modelId="{0AB85BF0-1CEA-40C6-9CCA-88179EFB89BB}" srcId="{E20769C5-73DC-4E8A-913F-24C08F2848CC}" destId="{CAE624CA-334A-4EB5-BD8E-55849449CB58}" srcOrd="0" destOrd="0" parTransId="{266A8274-3F4A-4440-B921-C6DE3F6B873C}" sibTransId="{4C230F2A-173C-40BF-A4C2-7E5B13B46B9A}"/>
    <dgm:cxn modelId="{7321EFB7-9943-4AB2-A514-37083402F7F9}" srcId="{E20769C5-73DC-4E8A-913F-24C08F2848CC}" destId="{973D7B39-D5D2-4B89-A3E7-1C0B9FD794DD}" srcOrd="2" destOrd="0" parTransId="{78954B27-6FCF-43C1-85B8-D3D3416E87FB}" sibTransId="{5CD25503-0F80-4BCC-9AA0-B017F228E510}"/>
    <dgm:cxn modelId="{D77E5467-4B2D-4E44-8363-CF295ED35EEB}" type="presOf" srcId="{CAE624CA-334A-4EB5-BD8E-55849449CB58}" destId="{1700B4C8-12E4-4D00-876C-94377F786E85}" srcOrd="0" destOrd="0" presId="urn:microsoft.com/office/officeart/2005/8/layout/funnel1"/>
    <dgm:cxn modelId="{61A90DDC-A775-406A-BC0A-28A4EA596504}" srcId="{E20769C5-73DC-4E8A-913F-24C08F2848CC}" destId="{39749F21-8792-4349-A6A7-BF01EB94F789}" srcOrd="3" destOrd="0" parTransId="{0D7C5BC1-381F-4F7F-B459-EC668E257A76}" sibTransId="{9548677D-661F-4408-85F7-A8238D4F15D7}"/>
    <dgm:cxn modelId="{D1D8F734-6FC9-46FB-8AAB-1793374DB0BF}" type="presOf" srcId="{E20769C5-73DC-4E8A-913F-24C08F2848CC}" destId="{D7B10E75-58CC-4807-BD47-EBDD0F301C5F}" srcOrd="0" destOrd="0" presId="urn:microsoft.com/office/officeart/2005/8/layout/funnel1"/>
    <dgm:cxn modelId="{FAAECAC7-2CFC-4F19-8C5D-6E4D71D6E87D}" srcId="{E20769C5-73DC-4E8A-913F-24C08F2848CC}" destId="{42874977-2580-429E-9A3F-5B0A5A2948AF}" srcOrd="1" destOrd="0" parTransId="{877779FA-F1F3-4080-8170-6F66203C1ADC}" sibTransId="{A81BCB58-7697-467D-9C3B-965DA2A1B17C}"/>
    <dgm:cxn modelId="{E28D9035-97C4-41EB-8003-12D940579F40}" type="presOf" srcId="{973D7B39-D5D2-4B89-A3E7-1C0B9FD794DD}" destId="{3260B18C-0F12-415C-B2B5-B0D612D38936}" srcOrd="0" destOrd="0" presId="urn:microsoft.com/office/officeart/2005/8/layout/funnel1"/>
    <dgm:cxn modelId="{8393CDFA-7965-4B5A-AE99-BE90C5410D45}" type="presOf" srcId="{39749F21-8792-4349-A6A7-BF01EB94F789}" destId="{0B61870B-E2AE-47B9-90BE-64D52B77842D}" srcOrd="0" destOrd="0" presId="urn:microsoft.com/office/officeart/2005/8/layout/funnel1"/>
    <dgm:cxn modelId="{39E7F857-758C-428F-A175-1A5EC0C01116}" type="presParOf" srcId="{D7B10E75-58CC-4807-BD47-EBDD0F301C5F}" destId="{E1C58007-ADFE-400C-A7E7-0C16929F4834}" srcOrd="0" destOrd="0" presId="urn:microsoft.com/office/officeart/2005/8/layout/funnel1"/>
    <dgm:cxn modelId="{EAC90AC9-29FF-40D5-95C8-716C03FEFD61}" type="presParOf" srcId="{D7B10E75-58CC-4807-BD47-EBDD0F301C5F}" destId="{BE474BB7-A5E2-4490-A567-03B382957073}" srcOrd="1" destOrd="0" presId="urn:microsoft.com/office/officeart/2005/8/layout/funnel1"/>
    <dgm:cxn modelId="{EFA693D5-1402-4ADF-8C9C-844B8D56F919}" type="presParOf" srcId="{D7B10E75-58CC-4807-BD47-EBDD0F301C5F}" destId="{0B61870B-E2AE-47B9-90BE-64D52B77842D}" srcOrd="2" destOrd="0" presId="urn:microsoft.com/office/officeart/2005/8/layout/funnel1"/>
    <dgm:cxn modelId="{4EB44B82-6C04-4875-8068-46CAF77CD5C6}" type="presParOf" srcId="{D7B10E75-58CC-4807-BD47-EBDD0F301C5F}" destId="{3260B18C-0F12-415C-B2B5-B0D612D38936}" srcOrd="3" destOrd="0" presId="urn:microsoft.com/office/officeart/2005/8/layout/funnel1"/>
    <dgm:cxn modelId="{03ABA694-FF55-4D5A-9D65-0DA8B61C6F37}" type="presParOf" srcId="{D7B10E75-58CC-4807-BD47-EBDD0F301C5F}" destId="{F96B2562-BEBF-42CE-9FF0-1BBD38426426}" srcOrd="4" destOrd="0" presId="urn:microsoft.com/office/officeart/2005/8/layout/funnel1"/>
    <dgm:cxn modelId="{C9E7B409-92C8-48B4-8BA3-AC57E3DF8873}" type="presParOf" srcId="{D7B10E75-58CC-4807-BD47-EBDD0F301C5F}" destId="{1700B4C8-12E4-4D00-876C-94377F786E85}" srcOrd="5" destOrd="0" presId="urn:microsoft.com/office/officeart/2005/8/layout/funnel1"/>
    <dgm:cxn modelId="{632CC4FB-1988-4F8D-99C3-B8B6227AE55F}" type="presParOf" srcId="{D7B10E75-58CC-4807-BD47-EBDD0F301C5F}" destId="{CDFE8F55-FE62-4CE9-AB0C-1431255D3302}" srcOrd="6" destOrd="0" presId="urn:microsoft.com/office/officeart/2005/8/layout/funnel1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73AE5C1-39E1-47D6-9713-8CA9BE6EA1DA}" type="doc">
      <dgm:prSet loTypeId="urn:microsoft.com/office/officeart/2005/8/layout/hProcess9" loCatId="process" qsTypeId="urn:microsoft.com/office/officeart/2005/8/quickstyle/simple4" qsCatId="simple" csTypeId="urn:microsoft.com/office/officeart/2005/8/colors/accent1_2" csCatId="accent1" phldr="1"/>
      <dgm:spPr/>
    </dgm:pt>
    <dgm:pt modelId="{56F0B946-F863-43B5-9AE7-3ED2571CC1F7}">
      <dgm:prSet phldrT="[Text]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dirty="0" smtClean="0"/>
            <a:t>Concept Development</a:t>
          </a:r>
          <a:endParaRPr lang="en-US" dirty="0"/>
        </a:p>
      </dgm:t>
    </dgm:pt>
    <dgm:pt modelId="{F90C4F27-7C52-43B8-B857-1E6F68F3A0F9}" type="parTrans" cxnId="{BBBA1413-C0B6-46CE-A30D-94152ED34DE8}">
      <dgm:prSet/>
      <dgm:spPr/>
      <dgm:t>
        <a:bodyPr/>
        <a:lstStyle/>
        <a:p>
          <a:endParaRPr lang="en-US"/>
        </a:p>
      </dgm:t>
    </dgm:pt>
    <dgm:pt modelId="{2F244DAD-A6A4-49A0-AA28-7EC63C55D23B}" type="sibTrans" cxnId="{BBBA1413-C0B6-46CE-A30D-94152ED34DE8}">
      <dgm:prSet/>
      <dgm:spPr/>
      <dgm:t>
        <a:bodyPr/>
        <a:lstStyle/>
        <a:p>
          <a:endParaRPr lang="en-US"/>
        </a:p>
      </dgm:t>
    </dgm:pt>
    <dgm:pt modelId="{F75D5E40-C0EA-4FAA-9275-3C70938E00EE}">
      <dgm:prSet phldrT="[Text]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dirty="0" smtClean="0"/>
            <a:t>Transitioning</a:t>
          </a:r>
        </a:p>
        <a:p>
          <a:r>
            <a:rPr lang="en-US" dirty="0" smtClean="0"/>
            <a:t>To </a:t>
          </a:r>
        </a:p>
        <a:p>
          <a:r>
            <a:rPr lang="en-US" dirty="0" smtClean="0"/>
            <a:t>Portfolio</a:t>
          </a:r>
          <a:endParaRPr lang="en-US" dirty="0"/>
        </a:p>
      </dgm:t>
    </dgm:pt>
    <dgm:pt modelId="{2407314F-7D22-4724-AF7B-2A237A1D7B5F}" type="parTrans" cxnId="{C39A6C43-E77D-4DD1-8F1C-021BDB497F58}">
      <dgm:prSet/>
      <dgm:spPr/>
      <dgm:t>
        <a:bodyPr/>
        <a:lstStyle/>
        <a:p>
          <a:endParaRPr lang="en-US"/>
        </a:p>
      </dgm:t>
    </dgm:pt>
    <dgm:pt modelId="{108A7A8B-C60D-477D-8727-EF1EB8DC2D8B}" type="sibTrans" cxnId="{C39A6C43-E77D-4DD1-8F1C-021BDB497F58}">
      <dgm:prSet/>
      <dgm:spPr/>
      <dgm:t>
        <a:bodyPr/>
        <a:lstStyle/>
        <a:p>
          <a:endParaRPr lang="en-US"/>
        </a:p>
      </dgm:t>
    </dgm:pt>
    <dgm:pt modelId="{5DCEAD6A-2995-470E-B294-EFE25C7FA270}">
      <dgm:prSet phldrT="[Text]"/>
      <dgm:spPr>
        <a:scene3d>
          <a:camera prst="orthographicFront"/>
          <a:lightRig rig="threePt" dir="t"/>
        </a:scene3d>
        <a:sp3d>
          <a:bevelT/>
        </a:sp3d>
      </dgm:spPr>
      <dgm:t>
        <a:bodyPr/>
        <a:lstStyle/>
        <a:p>
          <a:r>
            <a:rPr lang="en-US" dirty="0" smtClean="0"/>
            <a:t>Execution</a:t>
          </a:r>
        </a:p>
        <a:p>
          <a:r>
            <a:rPr lang="en-US" dirty="0" smtClean="0"/>
            <a:t>Thru</a:t>
          </a:r>
        </a:p>
        <a:p>
          <a:r>
            <a:rPr lang="en-US" dirty="0" smtClean="0"/>
            <a:t>Value Release</a:t>
          </a:r>
          <a:endParaRPr lang="en-US" dirty="0"/>
        </a:p>
      </dgm:t>
    </dgm:pt>
    <dgm:pt modelId="{C43D03E2-F01E-4C34-8DDA-D49BF43D1DF7}" type="parTrans" cxnId="{5C094F0F-9651-4E55-8F4F-F941285F8C98}">
      <dgm:prSet/>
      <dgm:spPr/>
      <dgm:t>
        <a:bodyPr/>
        <a:lstStyle/>
        <a:p>
          <a:endParaRPr lang="en-US"/>
        </a:p>
      </dgm:t>
    </dgm:pt>
    <dgm:pt modelId="{0024873B-96DA-47BE-9734-9BE93456D3FF}" type="sibTrans" cxnId="{5C094F0F-9651-4E55-8F4F-F941285F8C98}">
      <dgm:prSet/>
      <dgm:spPr/>
      <dgm:t>
        <a:bodyPr/>
        <a:lstStyle/>
        <a:p>
          <a:endParaRPr lang="en-US"/>
        </a:p>
      </dgm:t>
    </dgm:pt>
    <dgm:pt modelId="{F6218397-5286-4BF9-91BC-3A8217C085AF}" type="pres">
      <dgm:prSet presAssocID="{673AE5C1-39E1-47D6-9713-8CA9BE6EA1DA}" presName="CompostProcess" presStyleCnt="0">
        <dgm:presLayoutVars>
          <dgm:dir/>
          <dgm:resizeHandles val="exact"/>
        </dgm:presLayoutVars>
      </dgm:prSet>
      <dgm:spPr/>
    </dgm:pt>
    <dgm:pt modelId="{57B6F08F-F180-42E5-86EE-1F47EC70A8B7}" type="pres">
      <dgm:prSet presAssocID="{673AE5C1-39E1-47D6-9713-8CA9BE6EA1DA}" presName="arrow" presStyleLbl="bgShp" presStyleIdx="0" presStyleCnt="1" custLinFactNeighborX="4011" custLinFactNeighborY="-1087"/>
      <dgm:spPr/>
    </dgm:pt>
    <dgm:pt modelId="{ED339E6A-99DE-44B5-8942-676116993976}" type="pres">
      <dgm:prSet presAssocID="{673AE5C1-39E1-47D6-9713-8CA9BE6EA1DA}" presName="linearProcess" presStyleCnt="0"/>
      <dgm:spPr/>
    </dgm:pt>
    <dgm:pt modelId="{D195289F-4E10-4B57-8C58-6BB3CB9CCF4B}" type="pres">
      <dgm:prSet presAssocID="{56F0B946-F863-43B5-9AE7-3ED2571CC1F7}" presName="text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A6657B-DFA9-42AD-BD72-82BAEBF8B87E}" type="pres">
      <dgm:prSet presAssocID="{2F244DAD-A6A4-49A0-AA28-7EC63C55D23B}" presName="sibTrans" presStyleCnt="0"/>
      <dgm:spPr/>
    </dgm:pt>
    <dgm:pt modelId="{EDBBB759-F01A-4C3B-A1A8-D2C8F1E5A578}" type="pres">
      <dgm:prSet presAssocID="{F75D5E40-C0EA-4FAA-9275-3C70938E00EE}" presName="text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E687DF4-201B-4FB8-B89C-9863D30313FA}" type="pres">
      <dgm:prSet presAssocID="{108A7A8B-C60D-477D-8727-EF1EB8DC2D8B}" presName="sibTrans" presStyleCnt="0"/>
      <dgm:spPr/>
    </dgm:pt>
    <dgm:pt modelId="{0564D69C-C697-46C9-AFEA-F63178C739BD}" type="pres">
      <dgm:prSet presAssocID="{5DCEAD6A-2995-470E-B294-EFE25C7FA270}" presName="text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39A6C43-E77D-4DD1-8F1C-021BDB497F58}" srcId="{673AE5C1-39E1-47D6-9713-8CA9BE6EA1DA}" destId="{F75D5E40-C0EA-4FAA-9275-3C70938E00EE}" srcOrd="1" destOrd="0" parTransId="{2407314F-7D22-4724-AF7B-2A237A1D7B5F}" sibTransId="{108A7A8B-C60D-477D-8727-EF1EB8DC2D8B}"/>
    <dgm:cxn modelId="{E32315AD-287F-4C5A-8178-9C12FB284AE9}" type="presOf" srcId="{5DCEAD6A-2995-470E-B294-EFE25C7FA270}" destId="{0564D69C-C697-46C9-AFEA-F63178C739BD}" srcOrd="0" destOrd="0" presId="urn:microsoft.com/office/officeart/2005/8/layout/hProcess9"/>
    <dgm:cxn modelId="{5C094F0F-9651-4E55-8F4F-F941285F8C98}" srcId="{673AE5C1-39E1-47D6-9713-8CA9BE6EA1DA}" destId="{5DCEAD6A-2995-470E-B294-EFE25C7FA270}" srcOrd="2" destOrd="0" parTransId="{C43D03E2-F01E-4C34-8DDA-D49BF43D1DF7}" sibTransId="{0024873B-96DA-47BE-9734-9BE93456D3FF}"/>
    <dgm:cxn modelId="{BBBA1413-C0B6-46CE-A30D-94152ED34DE8}" srcId="{673AE5C1-39E1-47D6-9713-8CA9BE6EA1DA}" destId="{56F0B946-F863-43B5-9AE7-3ED2571CC1F7}" srcOrd="0" destOrd="0" parTransId="{F90C4F27-7C52-43B8-B857-1E6F68F3A0F9}" sibTransId="{2F244DAD-A6A4-49A0-AA28-7EC63C55D23B}"/>
    <dgm:cxn modelId="{CA40C782-E768-4900-8453-D6EEBE7A0856}" type="presOf" srcId="{673AE5C1-39E1-47D6-9713-8CA9BE6EA1DA}" destId="{F6218397-5286-4BF9-91BC-3A8217C085AF}" srcOrd="0" destOrd="0" presId="urn:microsoft.com/office/officeart/2005/8/layout/hProcess9"/>
    <dgm:cxn modelId="{204E9FB7-1034-451D-879A-529763B18033}" type="presOf" srcId="{56F0B946-F863-43B5-9AE7-3ED2571CC1F7}" destId="{D195289F-4E10-4B57-8C58-6BB3CB9CCF4B}" srcOrd="0" destOrd="0" presId="urn:microsoft.com/office/officeart/2005/8/layout/hProcess9"/>
    <dgm:cxn modelId="{331C9E4D-3B97-454D-B6E3-904B6713F6FD}" type="presOf" srcId="{F75D5E40-C0EA-4FAA-9275-3C70938E00EE}" destId="{EDBBB759-F01A-4C3B-A1A8-D2C8F1E5A578}" srcOrd="0" destOrd="0" presId="urn:microsoft.com/office/officeart/2005/8/layout/hProcess9"/>
    <dgm:cxn modelId="{EC5932F4-A118-4A15-9D10-E01638BB7D78}" type="presParOf" srcId="{F6218397-5286-4BF9-91BC-3A8217C085AF}" destId="{57B6F08F-F180-42E5-86EE-1F47EC70A8B7}" srcOrd="0" destOrd="0" presId="urn:microsoft.com/office/officeart/2005/8/layout/hProcess9"/>
    <dgm:cxn modelId="{A5FAB8E3-7753-469D-A4B6-B4EDCEDE9CF5}" type="presParOf" srcId="{F6218397-5286-4BF9-91BC-3A8217C085AF}" destId="{ED339E6A-99DE-44B5-8942-676116993976}" srcOrd="1" destOrd="0" presId="urn:microsoft.com/office/officeart/2005/8/layout/hProcess9"/>
    <dgm:cxn modelId="{75F663C9-0005-4388-B97F-4E789864985E}" type="presParOf" srcId="{ED339E6A-99DE-44B5-8942-676116993976}" destId="{D195289F-4E10-4B57-8C58-6BB3CB9CCF4B}" srcOrd="0" destOrd="0" presId="urn:microsoft.com/office/officeart/2005/8/layout/hProcess9"/>
    <dgm:cxn modelId="{4E10D462-BE8B-4A56-BC43-1A58D4C9567B}" type="presParOf" srcId="{ED339E6A-99DE-44B5-8942-676116993976}" destId="{B5A6657B-DFA9-42AD-BD72-82BAEBF8B87E}" srcOrd="1" destOrd="0" presId="urn:microsoft.com/office/officeart/2005/8/layout/hProcess9"/>
    <dgm:cxn modelId="{7F3B2439-53D4-4760-A727-A26725EC6599}" type="presParOf" srcId="{ED339E6A-99DE-44B5-8942-676116993976}" destId="{EDBBB759-F01A-4C3B-A1A8-D2C8F1E5A578}" srcOrd="2" destOrd="0" presId="urn:microsoft.com/office/officeart/2005/8/layout/hProcess9"/>
    <dgm:cxn modelId="{929A9DDA-E11C-4BFE-AF26-B168B9AE7B5A}" type="presParOf" srcId="{ED339E6A-99DE-44B5-8942-676116993976}" destId="{7E687DF4-201B-4FB8-B89C-9863D30313FA}" srcOrd="3" destOrd="0" presId="urn:microsoft.com/office/officeart/2005/8/layout/hProcess9"/>
    <dgm:cxn modelId="{5DE68921-0322-4125-8026-012E7DCF02D4}" type="presParOf" srcId="{ED339E6A-99DE-44B5-8942-676116993976}" destId="{0564D69C-C697-46C9-AFEA-F63178C739BD}" srcOrd="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xmlns="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F417CDC-9B3A-41AC-A68E-E0C6538CA504}" type="doc">
      <dgm:prSet loTypeId="urn:microsoft.com/office/officeart/2005/8/layout/pyramid2" loCatId="list" qsTypeId="urn:microsoft.com/office/officeart/2005/8/quickstyle/3d2" qsCatId="3D" csTypeId="urn:microsoft.com/office/officeart/2005/8/colors/accent1_2" csCatId="accent1" phldr="1"/>
      <dgm:spPr/>
    </dgm:pt>
    <dgm:pt modelId="{191EE3EC-BB60-4377-95CE-6E6D00913C3A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400" b="1" dirty="0" smtClean="0"/>
            <a:t>Providers</a:t>
          </a:r>
        </a:p>
        <a:p>
          <a:r>
            <a:rPr lang="en-US" sz="1600" dirty="0" smtClean="0"/>
            <a:t>(Drugs, Devices, Information)</a:t>
          </a:r>
          <a:endParaRPr lang="en-US" sz="1600" dirty="0"/>
        </a:p>
      </dgm:t>
    </dgm:pt>
    <dgm:pt modelId="{3D42F666-0AC1-48EA-B662-A2637E04720E}" type="parTrans" cxnId="{4A43FAB6-8196-4282-85FB-B7DA60189965}">
      <dgm:prSet/>
      <dgm:spPr/>
      <dgm:t>
        <a:bodyPr/>
        <a:lstStyle/>
        <a:p>
          <a:endParaRPr lang="en-US"/>
        </a:p>
      </dgm:t>
    </dgm:pt>
    <dgm:pt modelId="{270EBC4A-3809-4540-A8C6-5524DC656566}" type="sibTrans" cxnId="{4A43FAB6-8196-4282-85FB-B7DA60189965}">
      <dgm:prSet/>
      <dgm:spPr/>
      <dgm:t>
        <a:bodyPr/>
        <a:lstStyle/>
        <a:p>
          <a:endParaRPr lang="en-US"/>
        </a:p>
      </dgm:t>
    </dgm:pt>
    <dgm:pt modelId="{8073C779-336E-46C9-860C-3C4F4AECF67F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400" b="1" dirty="0" smtClean="0"/>
            <a:t>Practitioners</a:t>
          </a:r>
        </a:p>
        <a:p>
          <a:r>
            <a:rPr lang="en-US" sz="1600" dirty="0" smtClean="0"/>
            <a:t>(Physicians, Nurses, Caretakers)</a:t>
          </a:r>
        </a:p>
      </dgm:t>
    </dgm:pt>
    <dgm:pt modelId="{D18E08F7-BE13-423C-87FA-86610643765B}" type="parTrans" cxnId="{81E2B122-2507-4BB7-BF7D-71765D73ACB2}">
      <dgm:prSet/>
      <dgm:spPr/>
      <dgm:t>
        <a:bodyPr/>
        <a:lstStyle/>
        <a:p>
          <a:endParaRPr lang="en-US"/>
        </a:p>
      </dgm:t>
    </dgm:pt>
    <dgm:pt modelId="{48F132AB-0353-48BF-9CBD-9B16492A0344}" type="sibTrans" cxnId="{81E2B122-2507-4BB7-BF7D-71765D73ACB2}">
      <dgm:prSet/>
      <dgm:spPr/>
      <dgm:t>
        <a:bodyPr/>
        <a:lstStyle/>
        <a:p>
          <a:endParaRPr lang="en-US"/>
        </a:p>
      </dgm:t>
    </dgm:pt>
    <dgm:pt modelId="{1492EAF2-D809-4557-BCF4-56061EA4F8E2}">
      <dgm:prSet phldrT="[Text]" custT="1">
        <dgm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sz="2400" b="1" dirty="0" smtClean="0"/>
            <a:t>Patients</a:t>
          </a:r>
        </a:p>
        <a:p>
          <a:r>
            <a:rPr lang="en-US" sz="1600" dirty="0" smtClean="0"/>
            <a:t>(Hospitals, Alt. Sites, Home)</a:t>
          </a:r>
          <a:endParaRPr lang="en-US" sz="1600" dirty="0"/>
        </a:p>
      </dgm:t>
    </dgm:pt>
    <dgm:pt modelId="{183B7E30-9B71-4473-8BFB-DAAC4ADB2067}" type="parTrans" cxnId="{2D51AA2C-141E-439A-8FFF-1FEAB01AA1C1}">
      <dgm:prSet/>
      <dgm:spPr/>
      <dgm:t>
        <a:bodyPr/>
        <a:lstStyle/>
        <a:p>
          <a:endParaRPr lang="en-US"/>
        </a:p>
      </dgm:t>
    </dgm:pt>
    <dgm:pt modelId="{099E7165-6B32-4034-A1B3-509FF272EE67}" type="sibTrans" cxnId="{2D51AA2C-141E-439A-8FFF-1FEAB01AA1C1}">
      <dgm:prSet/>
      <dgm:spPr/>
      <dgm:t>
        <a:bodyPr/>
        <a:lstStyle/>
        <a:p>
          <a:endParaRPr lang="en-US"/>
        </a:p>
      </dgm:t>
    </dgm:pt>
    <dgm:pt modelId="{2EEF81A0-E70C-4C7C-B4B0-9EE9E25D31EE}" type="pres">
      <dgm:prSet presAssocID="{AF417CDC-9B3A-41AC-A68E-E0C6538CA504}" presName="compositeShape" presStyleCnt="0">
        <dgm:presLayoutVars>
          <dgm:dir/>
          <dgm:resizeHandles/>
        </dgm:presLayoutVars>
      </dgm:prSet>
      <dgm:spPr/>
    </dgm:pt>
    <dgm:pt modelId="{C17817A9-C4DE-49BF-8C1D-4124E047DFB9}" type="pres">
      <dgm:prSet presAssocID="{AF417CDC-9B3A-41AC-A68E-E0C6538CA504}" presName="pyramid" presStyleLbl="node1" presStyleIdx="0" presStyleCnt="1"/>
      <dgm:spPr/>
    </dgm:pt>
    <dgm:pt modelId="{97D661A3-DA34-4970-9A0D-34E97679DFC9}" type="pres">
      <dgm:prSet presAssocID="{AF417CDC-9B3A-41AC-A68E-E0C6538CA504}" presName="theList" presStyleCnt="0"/>
      <dgm:spPr/>
    </dgm:pt>
    <dgm:pt modelId="{2D970AC9-46C8-4548-96E5-DA10D684460C}" type="pres">
      <dgm:prSet presAssocID="{191EE3EC-BB60-4377-95CE-6E6D00913C3A}" presName="aNode" presStyleLbl="fg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A9EF443-F792-497B-BD71-3BD6E3ACADF1}" type="pres">
      <dgm:prSet presAssocID="{191EE3EC-BB60-4377-95CE-6E6D00913C3A}" presName="aSpace" presStyleCnt="0"/>
      <dgm:spPr/>
    </dgm:pt>
    <dgm:pt modelId="{4BA2D08E-3F37-4C9B-AF1A-AF070EDB1AF8}" type="pres">
      <dgm:prSet presAssocID="{8073C779-336E-46C9-860C-3C4F4AECF67F}" presName="aNode" presStyleLbl="fg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68BBD7D-9B64-4267-B8C1-9603A80ED08A}" type="pres">
      <dgm:prSet presAssocID="{8073C779-336E-46C9-860C-3C4F4AECF67F}" presName="aSpace" presStyleCnt="0"/>
      <dgm:spPr/>
    </dgm:pt>
    <dgm:pt modelId="{14F6B660-5636-4F93-AFFF-4992B4D5718E}" type="pres">
      <dgm:prSet presAssocID="{1492EAF2-D809-4557-BCF4-56061EA4F8E2}" presName="aNode" presStyleLbl="fg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8EECE6D-C2CC-44A0-8C2D-5AFED59F01F4}" type="pres">
      <dgm:prSet presAssocID="{1492EAF2-D809-4557-BCF4-56061EA4F8E2}" presName="aSpace" presStyleCnt="0"/>
      <dgm:spPr/>
    </dgm:pt>
  </dgm:ptLst>
  <dgm:cxnLst>
    <dgm:cxn modelId="{6EE1283D-151F-4334-BE97-8BA325C33E19}" type="presOf" srcId="{8073C779-336E-46C9-860C-3C4F4AECF67F}" destId="{4BA2D08E-3F37-4C9B-AF1A-AF070EDB1AF8}" srcOrd="0" destOrd="0" presId="urn:microsoft.com/office/officeart/2005/8/layout/pyramid2"/>
    <dgm:cxn modelId="{B21148E8-00C8-445D-8697-F59E1E03C256}" type="presOf" srcId="{1492EAF2-D809-4557-BCF4-56061EA4F8E2}" destId="{14F6B660-5636-4F93-AFFF-4992B4D5718E}" srcOrd="0" destOrd="0" presId="urn:microsoft.com/office/officeart/2005/8/layout/pyramid2"/>
    <dgm:cxn modelId="{2A3543EF-EECA-4063-B47E-944D0AFFD8E6}" type="presOf" srcId="{191EE3EC-BB60-4377-95CE-6E6D00913C3A}" destId="{2D970AC9-46C8-4548-96E5-DA10D684460C}" srcOrd="0" destOrd="0" presId="urn:microsoft.com/office/officeart/2005/8/layout/pyramid2"/>
    <dgm:cxn modelId="{81E2B122-2507-4BB7-BF7D-71765D73ACB2}" srcId="{AF417CDC-9B3A-41AC-A68E-E0C6538CA504}" destId="{8073C779-336E-46C9-860C-3C4F4AECF67F}" srcOrd="1" destOrd="0" parTransId="{D18E08F7-BE13-423C-87FA-86610643765B}" sibTransId="{48F132AB-0353-48BF-9CBD-9B16492A0344}"/>
    <dgm:cxn modelId="{2D51AA2C-141E-439A-8FFF-1FEAB01AA1C1}" srcId="{AF417CDC-9B3A-41AC-A68E-E0C6538CA504}" destId="{1492EAF2-D809-4557-BCF4-56061EA4F8E2}" srcOrd="2" destOrd="0" parTransId="{183B7E30-9B71-4473-8BFB-DAAC4ADB2067}" sibTransId="{099E7165-6B32-4034-A1B3-509FF272EE67}"/>
    <dgm:cxn modelId="{4A43FAB6-8196-4282-85FB-B7DA60189965}" srcId="{AF417CDC-9B3A-41AC-A68E-E0C6538CA504}" destId="{191EE3EC-BB60-4377-95CE-6E6D00913C3A}" srcOrd="0" destOrd="0" parTransId="{3D42F666-0AC1-48EA-B662-A2637E04720E}" sibTransId="{270EBC4A-3809-4540-A8C6-5524DC656566}"/>
    <dgm:cxn modelId="{A3810F14-2E91-4EA1-BCB2-AC96034E6470}" type="presOf" srcId="{AF417CDC-9B3A-41AC-A68E-E0C6538CA504}" destId="{2EEF81A0-E70C-4C7C-B4B0-9EE9E25D31EE}" srcOrd="0" destOrd="0" presId="urn:microsoft.com/office/officeart/2005/8/layout/pyramid2"/>
    <dgm:cxn modelId="{0B165261-116B-4D1A-87BC-37B61811503F}" type="presParOf" srcId="{2EEF81A0-E70C-4C7C-B4B0-9EE9E25D31EE}" destId="{C17817A9-C4DE-49BF-8C1D-4124E047DFB9}" srcOrd="0" destOrd="0" presId="urn:microsoft.com/office/officeart/2005/8/layout/pyramid2"/>
    <dgm:cxn modelId="{FB8A4268-3D48-4448-9650-B9C8A141CF74}" type="presParOf" srcId="{2EEF81A0-E70C-4C7C-B4B0-9EE9E25D31EE}" destId="{97D661A3-DA34-4970-9A0D-34E97679DFC9}" srcOrd="1" destOrd="0" presId="urn:microsoft.com/office/officeart/2005/8/layout/pyramid2"/>
    <dgm:cxn modelId="{05801D98-F778-4CE6-8F00-E17A83516C84}" type="presParOf" srcId="{97D661A3-DA34-4970-9A0D-34E97679DFC9}" destId="{2D970AC9-46C8-4548-96E5-DA10D684460C}" srcOrd="0" destOrd="0" presId="urn:microsoft.com/office/officeart/2005/8/layout/pyramid2"/>
    <dgm:cxn modelId="{343A1CF6-5F6E-497D-9525-2564AAEADF10}" type="presParOf" srcId="{97D661A3-DA34-4970-9A0D-34E97679DFC9}" destId="{CA9EF443-F792-497B-BD71-3BD6E3ACADF1}" srcOrd="1" destOrd="0" presId="urn:microsoft.com/office/officeart/2005/8/layout/pyramid2"/>
    <dgm:cxn modelId="{CF6937C1-C0CE-4E04-868A-C37B73B83DC4}" type="presParOf" srcId="{97D661A3-DA34-4970-9A0D-34E97679DFC9}" destId="{4BA2D08E-3F37-4C9B-AF1A-AF070EDB1AF8}" srcOrd="2" destOrd="0" presId="urn:microsoft.com/office/officeart/2005/8/layout/pyramid2"/>
    <dgm:cxn modelId="{7E515947-360E-44CF-A9A2-9F501487D519}" type="presParOf" srcId="{97D661A3-DA34-4970-9A0D-34E97679DFC9}" destId="{C68BBD7D-9B64-4267-B8C1-9603A80ED08A}" srcOrd="3" destOrd="0" presId="urn:microsoft.com/office/officeart/2005/8/layout/pyramid2"/>
    <dgm:cxn modelId="{E75545B6-7F3D-452A-91AC-19079E9B6816}" type="presParOf" srcId="{97D661A3-DA34-4970-9A0D-34E97679DFC9}" destId="{14F6B660-5636-4F93-AFFF-4992B4D5718E}" srcOrd="4" destOrd="0" presId="urn:microsoft.com/office/officeart/2005/8/layout/pyramid2"/>
    <dgm:cxn modelId="{AE182FC0-3601-4561-809A-046D6969CE1D}" type="presParOf" srcId="{97D661A3-DA34-4970-9A0D-34E97679DFC9}" destId="{28EECE6D-C2CC-44A0-8C2D-5AFED59F01F4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C9C8D6C-34E9-4C0C-BCBD-DFB9CDC55631}" type="doc">
      <dgm:prSet loTypeId="urn:microsoft.com/office/officeart/2005/8/layout/cycle2" loCatId="cycle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9EF2CA6-CB89-4C75-A47A-2A8DFD1700AB}">
      <dgm:prSet phldrT="[Text]"/>
      <dgm:spPr/>
      <dgm:t>
        <a:bodyPr/>
        <a:lstStyle/>
        <a:p>
          <a:r>
            <a:rPr lang="en-US" b="1" dirty="0" smtClean="0"/>
            <a:t>Open</a:t>
          </a:r>
        </a:p>
        <a:p>
          <a:r>
            <a:rPr lang="en-US" b="1" dirty="0" smtClean="0"/>
            <a:t>Innovation</a:t>
          </a:r>
        </a:p>
      </dgm:t>
    </dgm:pt>
    <dgm:pt modelId="{A3F52EF7-CA2D-472D-8953-5740FD3FBE89}" type="parTrans" cxnId="{942F4963-0A6B-48E7-946E-2C992B3B8FC9}">
      <dgm:prSet/>
      <dgm:spPr/>
      <dgm:t>
        <a:bodyPr/>
        <a:lstStyle/>
        <a:p>
          <a:endParaRPr lang="en-US" b="1"/>
        </a:p>
      </dgm:t>
    </dgm:pt>
    <dgm:pt modelId="{D6F595D2-470C-401C-A533-3E80B84244AA}" type="sibTrans" cxnId="{942F4963-0A6B-48E7-946E-2C992B3B8FC9}">
      <dgm:prSet/>
      <dgm:spPr/>
      <dgm:t>
        <a:bodyPr/>
        <a:lstStyle/>
        <a:p>
          <a:endParaRPr lang="en-US" b="1"/>
        </a:p>
      </dgm:t>
    </dgm:pt>
    <dgm:pt modelId="{F1CE9FE8-D255-4002-AFE1-7D2B290D77A4}">
      <dgm:prSet phldrT="[Text]"/>
      <dgm:spPr/>
      <dgm:t>
        <a:bodyPr/>
        <a:lstStyle/>
        <a:p>
          <a:r>
            <a:rPr lang="en-US" b="1" dirty="0" smtClean="0"/>
            <a:t>Centrally Managed</a:t>
          </a:r>
        </a:p>
        <a:p>
          <a:r>
            <a:rPr lang="en-US" b="1" dirty="0" smtClean="0"/>
            <a:t>IP</a:t>
          </a:r>
          <a:endParaRPr lang="en-US" b="1" dirty="0"/>
        </a:p>
      </dgm:t>
    </dgm:pt>
    <dgm:pt modelId="{837CB7C6-C7B3-4BFD-ACFC-982D4024BC99}" type="parTrans" cxnId="{FA575F71-8581-4A58-AEF3-CAE277D8A3C2}">
      <dgm:prSet/>
      <dgm:spPr/>
      <dgm:t>
        <a:bodyPr/>
        <a:lstStyle/>
        <a:p>
          <a:endParaRPr lang="en-US" b="1"/>
        </a:p>
      </dgm:t>
    </dgm:pt>
    <dgm:pt modelId="{ACC9FE0A-FD41-47FD-A639-30E1D7390D3C}" type="sibTrans" cxnId="{FA575F71-8581-4A58-AEF3-CAE277D8A3C2}">
      <dgm:prSet/>
      <dgm:spPr/>
      <dgm:t>
        <a:bodyPr/>
        <a:lstStyle/>
        <a:p>
          <a:endParaRPr lang="en-US" b="1"/>
        </a:p>
      </dgm:t>
    </dgm:pt>
    <dgm:pt modelId="{6C0CCD30-116E-48B1-9F0C-6D8A7EE2F2A8}">
      <dgm:prSet phldrT="[Text]"/>
      <dgm:spPr/>
      <dgm:t>
        <a:bodyPr/>
        <a:lstStyle/>
        <a:p>
          <a:r>
            <a:rPr lang="en-US" b="1" dirty="0" smtClean="0"/>
            <a:t>Shared Revenue</a:t>
          </a:r>
        </a:p>
        <a:p>
          <a:r>
            <a:rPr lang="en-US" b="1" dirty="0" smtClean="0"/>
            <a:t>Model</a:t>
          </a:r>
          <a:endParaRPr lang="en-US" b="1" dirty="0"/>
        </a:p>
      </dgm:t>
    </dgm:pt>
    <dgm:pt modelId="{7BFB56C1-5DF6-4B62-AB93-3B39A607FA40}" type="parTrans" cxnId="{C3A24AA5-16D5-45F1-8779-944E0168864C}">
      <dgm:prSet/>
      <dgm:spPr/>
      <dgm:t>
        <a:bodyPr/>
        <a:lstStyle/>
        <a:p>
          <a:endParaRPr lang="en-US" b="1"/>
        </a:p>
      </dgm:t>
    </dgm:pt>
    <dgm:pt modelId="{55E28E46-380A-467B-AE34-589B0252C611}" type="sibTrans" cxnId="{C3A24AA5-16D5-45F1-8779-944E0168864C}">
      <dgm:prSet/>
      <dgm:spPr/>
      <dgm:t>
        <a:bodyPr/>
        <a:lstStyle/>
        <a:p>
          <a:endParaRPr lang="en-US" b="1"/>
        </a:p>
      </dgm:t>
    </dgm:pt>
    <dgm:pt modelId="{2D59D820-0CB4-4E1F-92BB-95FFDD082F73}">
      <dgm:prSet phldrT="[Text]"/>
      <dgm:spPr/>
      <dgm:t>
        <a:bodyPr/>
        <a:lstStyle/>
        <a:p>
          <a:r>
            <a:rPr lang="en-US" b="1" dirty="0" smtClean="0"/>
            <a:t>Results Driven</a:t>
          </a:r>
        </a:p>
        <a:p>
          <a:r>
            <a:rPr lang="en-US" b="1" dirty="0" smtClean="0"/>
            <a:t>Prioritization</a:t>
          </a:r>
          <a:endParaRPr lang="en-US" b="1" dirty="0"/>
        </a:p>
      </dgm:t>
    </dgm:pt>
    <dgm:pt modelId="{C2B488C5-AEE0-4401-9F78-4FE5885DBF01}" type="parTrans" cxnId="{7FA7DB79-3252-4DB3-BCAC-5F0D4ACC17E4}">
      <dgm:prSet/>
      <dgm:spPr/>
      <dgm:t>
        <a:bodyPr/>
        <a:lstStyle/>
        <a:p>
          <a:endParaRPr lang="en-US" b="1"/>
        </a:p>
      </dgm:t>
    </dgm:pt>
    <dgm:pt modelId="{45C84ECF-EE1B-4B49-8EF8-7CAEF2A5F7D7}" type="sibTrans" cxnId="{7FA7DB79-3252-4DB3-BCAC-5F0D4ACC17E4}">
      <dgm:prSet/>
      <dgm:spPr/>
      <dgm:t>
        <a:bodyPr/>
        <a:lstStyle/>
        <a:p>
          <a:endParaRPr lang="en-US" b="1"/>
        </a:p>
      </dgm:t>
    </dgm:pt>
    <dgm:pt modelId="{723CC3D7-5D8F-4BE3-AE6D-CE228595E268}">
      <dgm:prSet phldrT="[Text]"/>
      <dgm:spPr/>
      <dgm:t>
        <a:bodyPr/>
        <a:lstStyle/>
        <a:p>
          <a:r>
            <a:rPr lang="en-US" b="1" dirty="0" smtClean="0"/>
            <a:t>Collaborative</a:t>
          </a:r>
          <a:endParaRPr lang="en-US" b="1" dirty="0"/>
        </a:p>
      </dgm:t>
    </dgm:pt>
    <dgm:pt modelId="{74A6BA20-7C3E-42CE-BD8E-68EC414F7D96}" type="parTrans" cxnId="{2CC842B8-E7B4-45A5-9307-2995A321F13B}">
      <dgm:prSet/>
      <dgm:spPr/>
      <dgm:t>
        <a:bodyPr/>
        <a:lstStyle/>
        <a:p>
          <a:endParaRPr lang="en-US" b="1"/>
        </a:p>
      </dgm:t>
    </dgm:pt>
    <dgm:pt modelId="{73A865D5-5B91-4B22-BA06-C26D9BCB2EE5}" type="sibTrans" cxnId="{2CC842B8-E7B4-45A5-9307-2995A321F13B}">
      <dgm:prSet/>
      <dgm:spPr/>
      <dgm:t>
        <a:bodyPr/>
        <a:lstStyle/>
        <a:p>
          <a:endParaRPr lang="en-US" b="1"/>
        </a:p>
      </dgm:t>
    </dgm:pt>
    <dgm:pt modelId="{DEEF388A-0A0E-4C93-AF3E-70FF1B41590B}" type="pres">
      <dgm:prSet presAssocID="{6C9C8D6C-34E9-4C0C-BCBD-DFB9CDC55631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6CB6EE8-F817-48B1-A2A4-7074F5E20ADC}" type="pres">
      <dgm:prSet presAssocID="{D9EF2CA6-CB89-4C75-A47A-2A8DFD1700AB}" presName="node" presStyleLbl="node1" presStyleIdx="0" presStyleCnt="5" custRadScaleRad="100074" custRadScaleInc="-15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7314FF0-C3D4-4067-9A96-DAE7F230A6B3}" type="pres">
      <dgm:prSet presAssocID="{D6F595D2-470C-401C-A533-3E80B84244AA}" presName="sibTrans" presStyleLbl="sibTrans2D1" presStyleIdx="0" presStyleCnt="5"/>
      <dgm:spPr/>
      <dgm:t>
        <a:bodyPr/>
        <a:lstStyle/>
        <a:p>
          <a:endParaRPr lang="en-US"/>
        </a:p>
      </dgm:t>
    </dgm:pt>
    <dgm:pt modelId="{07AFC6E7-B973-46CA-8BED-AD11916A26C6}" type="pres">
      <dgm:prSet presAssocID="{D6F595D2-470C-401C-A533-3E80B84244AA}" presName="connectorText" presStyleLbl="sibTrans2D1" presStyleIdx="0" presStyleCnt="5"/>
      <dgm:spPr/>
      <dgm:t>
        <a:bodyPr/>
        <a:lstStyle/>
        <a:p>
          <a:endParaRPr lang="en-US"/>
        </a:p>
      </dgm:t>
    </dgm:pt>
    <dgm:pt modelId="{0BB1AB6A-657E-4BE7-B826-04310CB87FD6}" type="pres">
      <dgm:prSet presAssocID="{F1CE9FE8-D255-4002-AFE1-7D2B290D77A4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D2113D7-D3E7-4CB9-BC98-536F54DAF21C}" type="pres">
      <dgm:prSet presAssocID="{ACC9FE0A-FD41-47FD-A639-30E1D7390D3C}" presName="sibTrans" presStyleLbl="sibTrans2D1" presStyleIdx="1" presStyleCnt="5"/>
      <dgm:spPr/>
      <dgm:t>
        <a:bodyPr/>
        <a:lstStyle/>
        <a:p>
          <a:endParaRPr lang="en-US"/>
        </a:p>
      </dgm:t>
    </dgm:pt>
    <dgm:pt modelId="{F38FA08F-FE08-42BB-8EE8-5C1C65DF85EB}" type="pres">
      <dgm:prSet presAssocID="{ACC9FE0A-FD41-47FD-A639-30E1D7390D3C}" presName="connectorText" presStyleLbl="sibTrans2D1" presStyleIdx="1" presStyleCnt="5"/>
      <dgm:spPr/>
      <dgm:t>
        <a:bodyPr/>
        <a:lstStyle/>
        <a:p>
          <a:endParaRPr lang="en-US"/>
        </a:p>
      </dgm:t>
    </dgm:pt>
    <dgm:pt modelId="{A7C42B21-429E-4C68-A376-78D2C78D89EA}" type="pres">
      <dgm:prSet presAssocID="{6C0CCD30-116E-48B1-9F0C-6D8A7EE2F2A8}" presName="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B18EA10-55B7-4FA2-B1AF-880978BD726E}" type="pres">
      <dgm:prSet presAssocID="{55E28E46-380A-467B-AE34-589B0252C611}" presName="sibTrans" presStyleLbl="sibTrans2D1" presStyleIdx="2" presStyleCnt="5"/>
      <dgm:spPr/>
      <dgm:t>
        <a:bodyPr/>
        <a:lstStyle/>
        <a:p>
          <a:endParaRPr lang="en-US"/>
        </a:p>
      </dgm:t>
    </dgm:pt>
    <dgm:pt modelId="{A2460FAC-F0F1-4820-B573-16079F413D80}" type="pres">
      <dgm:prSet presAssocID="{55E28E46-380A-467B-AE34-589B0252C611}" presName="connectorText" presStyleLbl="sibTrans2D1" presStyleIdx="2" presStyleCnt="5"/>
      <dgm:spPr/>
      <dgm:t>
        <a:bodyPr/>
        <a:lstStyle/>
        <a:p>
          <a:endParaRPr lang="en-US"/>
        </a:p>
      </dgm:t>
    </dgm:pt>
    <dgm:pt modelId="{225F2983-0321-4A3D-86C7-7E3CCDC569BC}" type="pres">
      <dgm:prSet presAssocID="{2D59D820-0CB4-4E1F-92BB-95FFDD082F73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7D0551F-936B-4658-B33F-A836AF1BBB65}" type="pres">
      <dgm:prSet presAssocID="{45C84ECF-EE1B-4B49-8EF8-7CAEF2A5F7D7}" presName="sibTrans" presStyleLbl="sibTrans2D1" presStyleIdx="3" presStyleCnt="5"/>
      <dgm:spPr/>
      <dgm:t>
        <a:bodyPr/>
        <a:lstStyle/>
        <a:p>
          <a:endParaRPr lang="en-US"/>
        </a:p>
      </dgm:t>
    </dgm:pt>
    <dgm:pt modelId="{DBEDE08A-D6E8-4108-896E-C113DB47C979}" type="pres">
      <dgm:prSet presAssocID="{45C84ECF-EE1B-4B49-8EF8-7CAEF2A5F7D7}" presName="connectorText" presStyleLbl="sibTrans2D1" presStyleIdx="3" presStyleCnt="5"/>
      <dgm:spPr/>
      <dgm:t>
        <a:bodyPr/>
        <a:lstStyle/>
        <a:p>
          <a:endParaRPr lang="en-US"/>
        </a:p>
      </dgm:t>
    </dgm:pt>
    <dgm:pt modelId="{C3DD57C0-4A46-47E8-A3EB-683924E5F05E}" type="pres">
      <dgm:prSet presAssocID="{723CC3D7-5D8F-4BE3-AE6D-CE228595E268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25E6119-54FA-4530-870F-778E283C0BD5}" type="pres">
      <dgm:prSet presAssocID="{73A865D5-5B91-4B22-BA06-C26D9BCB2EE5}" presName="sibTrans" presStyleLbl="sibTrans2D1" presStyleIdx="4" presStyleCnt="5"/>
      <dgm:spPr/>
      <dgm:t>
        <a:bodyPr/>
        <a:lstStyle/>
        <a:p>
          <a:endParaRPr lang="en-US"/>
        </a:p>
      </dgm:t>
    </dgm:pt>
    <dgm:pt modelId="{DBE7C2DC-A3D5-4950-9D16-A38DF0EA4010}" type="pres">
      <dgm:prSet presAssocID="{73A865D5-5B91-4B22-BA06-C26D9BCB2EE5}" presName="connectorText" presStyleLbl="sibTrans2D1" presStyleIdx="4" presStyleCnt="5"/>
      <dgm:spPr/>
      <dgm:t>
        <a:bodyPr/>
        <a:lstStyle/>
        <a:p>
          <a:endParaRPr lang="en-US"/>
        </a:p>
      </dgm:t>
    </dgm:pt>
  </dgm:ptLst>
  <dgm:cxnLst>
    <dgm:cxn modelId="{354CA971-1877-4963-A2BB-135428611037}" type="presOf" srcId="{D6F595D2-470C-401C-A533-3E80B84244AA}" destId="{07AFC6E7-B973-46CA-8BED-AD11916A26C6}" srcOrd="1" destOrd="0" presId="urn:microsoft.com/office/officeart/2005/8/layout/cycle2"/>
    <dgm:cxn modelId="{2F0F4320-A845-4B39-A254-718A2EC4D76D}" type="presOf" srcId="{723CC3D7-5D8F-4BE3-AE6D-CE228595E268}" destId="{C3DD57C0-4A46-47E8-A3EB-683924E5F05E}" srcOrd="0" destOrd="0" presId="urn:microsoft.com/office/officeart/2005/8/layout/cycle2"/>
    <dgm:cxn modelId="{40AE9B77-7F91-4AFC-B4EF-7DB8A399F384}" type="presOf" srcId="{45C84ECF-EE1B-4B49-8EF8-7CAEF2A5F7D7}" destId="{DBEDE08A-D6E8-4108-896E-C113DB47C979}" srcOrd="1" destOrd="0" presId="urn:microsoft.com/office/officeart/2005/8/layout/cycle2"/>
    <dgm:cxn modelId="{BEAAD8BD-30BA-4EF6-BFC1-3830F4C2C98E}" type="presOf" srcId="{2D59D820-0CB4-4E1F-92BB-95FFDD082F73}" destId="{225F2983-0321-4A3D-86C7-7E3CCDC569BC}" srcOrd="0" destOrd="0" presId="urn:microsoft.com/office/officeart/2005/8/layout/cycle2"/>
    <dgm:cxn modelId="{A4433A16-48F6-48F7-856A-9E9BBDBC49AC}" type="presOf" srcId="{ACC9FE0A-FD41-47FD-A639-30E1D7390D3C}" destId="{F38FA08F-FE08-42BB-8EE8-5C1C65DF85EB}" srcOrd="1" destOrd="0" presId="urn:microsoft.com/office/officeart/2005/8/layout/cycle2"/>
    <dgm:cxn modelId="{3993E6AF-50BE-4607-805C-75760156EC02}" type="presOf" srcId="{F1CE9FE8-D255-4002-AFE1-7D2B290D77A4}" destId="{0BB1AB6A-657E-4BE7-B826-04310CB87FD6}" srcOrd="0" destOrd="0" presId="urn:microsoft.com/office/officeart/2005/8/layout/cycle2"/>
    <dgm:cxn modelId="{16240303-29ED-48F1-815A-801CD3FCE4B6}" type="presOf" srcId="{D6F595D2-470C-401C-A533-3E80B84244AA}" destId="{E7314FF0-C3D4-4067-9A96-DAE7F230A6B3}" srcOrd="0" destOrd="0" presId="urn:microsoft.com/office/officeart/2005/8/layout/cycle2"/>
    <dgm:cxn modelId="{7FA7DB79-3252-4DB3-BCAC-5F0D4ACC17E4}" srcId="{6C9C8D6C-34E9-4C0C-BCBD-DFB9CDC55631}" destId="{2D59D820-0CB4-4E1F-92BB-95FFDD082F73}" srcOrd="3" destOrd="0" parTransId="{C2B488C5-AEE0-4401-9F78-4FE5885DBF01}" sibTransId="{45C84ECF-EE1B-4B49-8EF8-7CAEF2A5F7D7}"/>
    <dgm:cxn modelId="{A5D684EA-FA1B-4B67-96D9-057DFD770C82}" type="presOf" srcId="{73A865D5-5B91-4B22-BA06-C26D9BCB2EE5}" destId="{C25E6119-54FA-4530-870F-778E283C0BD5}" srcOrd="0" destOrd="0" presId="urn:microsoft.com/office/officeart/2005/8/layout/cycle2"/>
    <dgm:cxn modelId="{22E91B80-EB3C-4B23-9285-E5669527C98B}" type="presOf" srcId="{73A865D5-5B91-4B22-BA06-C26D9BCB2EE5}" destId="{DBE7C2DC-A3D5-4950-9D16-A38DF0EA4010}" srcOrd="1" destOrd="0" presId="urn:microsoft.com/office/officeart/2005/8/layout/cycle2"/>
    <dgm:cxn modelId="{C3A24AA5-16D5-45F1-8779-944E0168864C}" srcId="{6C9C8D6C-34E9-4C0C-BCBD-DFB9CDC55631}" destId="{6C0CCD30-116E-48B1-9F0C-6D8A7EE2F2A8}" srcOrd="2" destOrd="0" parTransId="{7BFB56C1-5DF6-4B62-AB93-3B39A607FA40}" sibTransId="{55E28E46-380A-467B-AE34-589B0252C611}"/>
    <dgm:cxn modelId="{BBD36A24-62F4-4BBB-8A9A-ABDF574E79E5}" type="presOf" srcId="{45C84ECF-EE1B-4B49-8EF8-7CAEF2A5F7D7}" destId="{A7D0551F-936B-4658-B33F-A836AF1BBB65}" srcOrd="0" destOrd="0" presId="urn:microsoft.com/office/officeart/2005/8/layout/cycle2"/>
    <dgm:cxn modelId="{2CC842B8-E7B4-45A5-9307-2995A321F13B}" srcId="{6C9C8D6C-34E9-4C0C-BCBD-DFB9CDC55631}" destId="{723CC3D7-5D8F-4BE3-AE6D-CE228595E268}" srcOrd="4" destOrd="0" parTransId="{74A6BA20-7C3E-42CE-BD8E-68EC414F7D96}" sibTransId="{73A865D5-5B91-4B22-BA06-C26D9BCB2EE5}"/>
    <dgm:cxn modelId="{EB97AD3A-498F-4DEE-8DB0-4306A85AB3C9}" type="presOf" srcId="{55E28E46-380A-467B-AE34-589B0252C611}" destId="{A2460FAC-F0F1-4820-B573-16079F413D80}" srcOrd="1" destOrd="0" presId="urn:microsoft.com/office/officeart/2005/8/layout/cycle2"/>
    <dgm:cxn modelId="{942F4963-0A6B-48E7-946E-2C992B3B8FC9}" srcId="{6C9C8D6C-34E9-4C0C-BCBD-DFB9CDC55631}" destId="{D9EF2CA6-CB89-4C75-A47A-2A8DFD1700AB}" srcOrd="0" destOrd="0" parTransId="{A3F52EF7-CA2D-472D-8953-5740FD3FBE89}" sibTransId="{D6F595D2-470C-401C-A533-3E80B84244AA}"/>
    <dgm:cxn modelId="{FD46FCC0-5F65-4239-BD84-E4CF0C41C15D}" type="presOf" srcId="{ACC9FE0A-FD41-47FD-A639-30E1D7390D3C}" destId="{3D2113D7-D3E7-4CB9-BC98-536F54DAF21C}" srcOrd="0" destOrd="0" presId="urn:microsoft.com/office/officeart/2005/8/layout/cycle2"/>
    <dgm:cxn modelId="{2E9F8112-EA74-4A02-98C1-4F11FA857FC1}" type="presOf" srcId="{6C0CCD30-116E-48B1-9F0C-6D8A7EE2F2A8}" destId="{A7C42B21-429E-4C68-A376-78D2C78D89EA}" srcOrd="0" destOrd="0" presId="urn:microsoft.com/office/officeart/2005/8/layout/cycle2"/>
    <dgm:cxn modelId="{FA575F71-8581-4A58-AEF3-CAE277D8A3C2}" srcId="{6C9C8D6C-34E9-4C0C-BCBD-DFB9CDC55631}" destId="{F1CE9FE8-D255-4002-AFE1-7D2B290D77A4}" srcOrd="1" destOrd="0" parTransId="{837CB7C6-C7B3-4BFD-ACFC-982D4024BC99}" sibTransId="{ACC9FE0A-FD41-47FD-A639-30E1D7390D3C}"/>
    <dgm:cxn modelId="{BF0A08F2-C4C5-4986-9A44-D6184141B56C}" type="presOf" srcId="{D9EF2CA6-CB89-4C75-A47A-2A8DFD1700AB}" destId="{C6CB6EE8-F817-48B1-A2A4-7074F5E20ADC}" srcOrd="0" destOrd="0" presId="urn:microsoft.com/office/officeart/2005/8/layout/cycle2"/>
    <dgm:cxn modelId="{527A875E-E385-47CD-8952-55931BB9A674}" type="presOf" srcId="{6C9C8D6C-34E9-4C0C-BCBD-DFB9CDC55631}" destId="{DEEF388A-0A0E-4C93-AF3E-70FF1B41590B}" srcOrd="0" destOrd="0" presId="urn:microsoft.com/office/officeart/2005/8/layout/cycle2"/>
    <dgm:cxn modelId="{DEBC7E03-93FB-455E-A071-64973BD961FC}" type="presOf" srcId="{55E28E46-380A-467B-AE34-589B0252C611}" destId="{3B18EA10-55B7-4FA2-B1AF-880978BD726E}" srcOrd="0" destOrd="0" presId="urn:microsoft.com/office/officeart/2005/8/layout/cycle2"/>
    <dgm:cxn modelId="{CDA1EE88-11E2-4EC0-AE42-A66B374CC6C5}" type="presParOf" srcId="{DEEF388A-0A0E-4C93-AF3E-70FF1B41590B}" destId="{C6CB6EE8-F817-48B1-A2A4-7074F5E20ADC}" srcOrd="0" destOrd="0" presId="urn:microsoft.com/office/officeart/2005/8/layout/cycle2"/>
    <dgm:cxn modelId="{384275B7-3A04-47A5-9376-DE05C176A2AF}" type="presParOf" srcId="{DEEF388A-0A0E-4C93-AF3E-70FF1B41590B}" destId="{E7314FF0-C3D4-4067-9A96-DAE7F230A6B3}" srcOrd="1" destOrd="0" presId="urn:microsoft.com/office/officeart/2005/8/layout/cycle2"/>
    <dgm:cxn modelId="{906E51E1-C2BD-41F3-9085-DA0DD5B15883}" type="presParOf" srcId="{E7314FF0-C3D4-4067-9A96-DAE7F230A6B3}" destId="{07AFC6E7-B973-46CA-8BED-AD11916A26C6}" srcOrd="0" destOrd="0" presId="urn:microsoft.com/office/officeart/2005/8/layout/cycle2"/>
    <dgm:cxn modelId="{BAC8B3E8-4AB5-4B3A-A4E3-FC8998F28E31}" type="presParOf" srcId="{DEEF388A-0A0E-4C93-AF3E-70FF1B41590B}" destId="{0BB1AB6A-657E-4BE7-B826-04310CB87FD6}" srcOrd="2" destOrd="0" presId="urn:microsoft.com/office/officeart/2005/8/layout/cycle2"/>
    <dgm:cxn modelId="{B8A525C4-97F4-4F56-B22F-BBD412A68A9F}" type="presParOf" srcId="{DEEF388A-0A0E-4C93-AF3E-70FF1B41590B}" destId="{3D2113D7-D3E7-4CB9-BC98-536F54DAF21C}" srcOrd="3" destOrd="0" presId="urn:microsoft.com/office/officeart/2005/8/layout/cycle2"/>
    <dgm:cxn modelId="{27640018-03E2-4291-9E02-B26E2CAD521E}" type="presParOf" srcId="{3D2113D7-D3E7-4CB9-BC98-536F54DAF21C}" destId="{F38FA08F-FE08-42BB-8EE8-5C1C65DF85EB}" srcOrd="0" destOrd="0" presId="urn:microsoft.com/office/officeart/2005/8/layout/cycle2"/>
    <dgm:cxn modelId="{F3C70AF2-4B0B-4EC7-8496-5214102AEA4D}" type="presParOf" srcId="{DEEF388A-0A0E-4C93-AF3E-70FF1B41590B}" destId="{A7C42B21-429E-4C68-A376-78D2C78D89EA}" srcOrd="4" destOrd="0" presId="urn:microsoft.com/office/officeart/2005/8/layout/cycle2"/>
    <dgm:cxn modelId="{72433398-358C-4442-8C4B-4458D10A0976}" type="presParOf" srcId="{DEEF388A-0A0E-4C93-AF3E-70FF1B41590B}" destId="{3B18EA10-55B7-4FA2-B1AF-880978BD726E}" srcOrd="5" destOrd="0" presId="urn:microsoft.com/office/officeart/2005/8/layout/cycle2"/>
    <dgm:cxn modelId="{E51D4CC2-133A-4FE9-ACF4-3818F46EA74C}" type="presParOf" srcId="{3B18EA10-55B7-4FA2-B1AF-880978BD726E}" destId="{A2460FAC-F0F1-4820-B573-16079F413D80}" srcOrd="0" destOrd="0" presId="urn:microsoft.com/office/officeart/2005/8/layout/cycle2"/>
    <dgm:cxn modelId="{1455D5C1-1EF9-472B-8793-F63B0CBE85D5}" type="presParOf" srcId="{DEEF388A-0A0E-4C93-AF3E-70FF1B41590B}" destId="{225F2983-0321-4A3D-86C7-7E3CCDC569BC}" srcOrd="6" destOrd="0" presId="urn:microsoft.com/office/officeart/2005/8/layout/cycle2"/>
    <dgm:cxn modelId="{19A8F474-9B9B-4827-ADA6-31B060D6EB0B}" type="presParOf" srcId="{DEEF388A-0A0E-4C93-AF3E-70FF1B41590B}" destId="{A7D0551F-936B-4658-B33F-A836AF1BBB65}" srcOrd="7" destOrd="0" presId="urn:microsoft.com/office/officeart/2005/8/layout/cycle2"/>
    <dgm:cxn modelId="{07C6B696-880E-46EC-8FDA-05F191B9B0B7}" type="presParOf" srcId="{A7D0551F-936B-4658-B33F-A836AF1BBB65}" destId="{DBEDE08A-D6E8-4108-896E-C113DB47C979}" srcOrd="0" destOrd="0" presId="urn:microsoft.com/office/officeart/2005/8/layout/cycle2"/>
    <dgm:cxn modelId="{6AA42819-08B5-4E7B-8073-86DDDE16BD8B}" type="presParOf" srcId="{DEEF388A-0A0E-4C93-AF3E-70FF1B41590B}" destId="{C3DD57C0-4A46-47E8-A3EB-683924E5F05E}" srcOrd="8" destOrd="0" presId="urn:microsoft.com/office/officeart/2005/8/layout/cycle2"/>
    <dgm:cxn modelId="{D3716DF0-E003-43E5-9030-54E7DAB89203}" type="presParOf" srcId="{DEEF388A-0A0E-4C93-AF3E-70FF1B41590B}" destId="{C25E6119-54FA-4530-870F-778E283C0BD5}" srcOrd="9" destOrd="0" presId="urn:microsoft.com/office/officeart/2005/8/layout/cycle2"/>
    <dgm:cxn modelId="{BE3A3D76-1DB0-4B4E-8776-675E69D4A176}" type="presParOf" srcId="{C25E6119-54FA-4530-870F-778E283C0BD5}" destId="{DBE7C2DC-A3D5-4950-9D16-A38DF0EA4010}" srcOrd="0" destOrd="0" presId="urn:microsoft.com/office/officeart/2005/8/layout/cycle2"/>
  </dgm:cxnLst>
  <dgm:bg>
    <a:gradFill>
      <a:gsLst>
        <a:gs pos="0">
          <a:schemeClr val="accent1">
            <a:tint val="66000"/>
            <a:satMod val="160000"/>
          </a:schemeClr>
        </a:gs>
        <a:gs pos="50000">
          <a:schemeClr val="accent1">
            <a:tint val="44500"/>
            <a:satMod val="160000"/>
          </a:schemeClr>
        </a:gs>
        <a:gs pos="100000">
          <a:schemeClr val="accent1">
            <a:tint val="23500"/>
            <a:satMod val="160000"/>
          </a:schemeClr>
        </a:gs>
      </a:gsLst>
      <a:lin ang="5400000" scaled="0"/>
    </a:gradFill>
  </dgm:bg>
  <dgm:whole/>
  <dgm:extLst>
    <a:ext uri="http://schemas.microsoft.com/office/drawing/2008/diagram">
      <dsp:dataModelExt xmlns:dsp="http://schemas.microsoft.com/office/drawing/2008/diagram" xmlns="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E1C58007-ADFE-400C-A7E7-0C16929F4834}">
      <dsp:nvSpPr>
        <dsp:cNvPr id="0" name=""/>
        <dsp:cNvSpPr/>
      </dsp:nvSpPr>
      <dsp:spPr>
        <a:xfrm>
          <a:off x="605218" y="632142"/>
          <a:ext cx="2211705" cy="768096"/>
        </a:xfrm>
        <a:prstGeom prst="ellipse">
          <a:avLst/>
        </a:prstGeom>
        <a:solidFill>
          <a:schemeClr val="accent1">
            <a:tint val="50000"/>
            <a:alpha val="40000"/>
            <a:hueOff val="0"/>
            <a:satOff val="0"/>
            <a:lumOff val="0"/>
            <a:alphaOff val="0"/>
          </a:schemeClr>
        </a:solidFill>
        <a:ln>
          <a:noFill/>
        </a:ln>
        <a:effectLst/>
        <a:sp3d z="-152400" prstMaterial="matte"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474BB7-A5E2-4490-A567-03B382957073}">
      <dsp:nvSpPr>
        <dsp:cNvPr id="0" name=""/>
        <dsp:cNvSpPr/>
      </dsp:nvSpPr>
      <dsp:spPr>
        <a:xfrm>
          <a:off x="1500187" y="2512949"/>
          <a:ext cx="428625" cy="274320"/>
        </a:xfrm>
        <a:prstGeom prst="downArrow">
          <a:avLst/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B61870B-E2AE-47B9-90BE-64D52B77842D}">
      <dsp:nvSpPr>
        <dsp:cNvPr id="0" name=""/>
        <dsp:cNvSpPr/>
      </dsp:nvSpPr>
      <dsp:spPr>
        <a:xfrm>
          <a:off x="685799" y="2732405"/>
          <a:ext cx="2057400" cy="5143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kern="1200" dirty="0" smtClean="0"/>
            <a:t>Priorities</a:t>
          </a:r>
          <a:endParaRPr lang="en-US" sz="1800" b="1" kern="1200" dirty="0"/>
        </a:p>
      </dsp:txBody>
      <dsp:txXfrm>
        <a:off x="685799" y="2732405"/>
        <a:ext cx="2057400" cy="514350"/>
      </dsp:txXfrm>
    </dsp:sp>
    <dsp:sp modelId="{3260B18C-0F12-415C-B2B5-B0D612D38936}">
      <dsp:nvSpPr>
        <dsp:cNvPr id="0" name=""/>
        <dsp:cNvSpPr/>
      </dsp:nvSpPr>
      <dsp:spPr>
        <a:xfrm>
          <a:off x="1409318" y="1459560"/>
          <a:ext cx="771525" cy="77152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b="1" kern="1200" dirty="0" smtClean="0"/>
            <a:t>Resources</a:t>
          </a:r>
          <a:endParaRPr lang="en-US" sz="800" b="1" kern="1200" dirty="0"/>
        </a:p>
      </dsp:txBody>
      <dsp:txXfrm>
        <a:off x="1409318" y="1459560"/>
        <a:ext cx="771525" cy="771525"/>
      </dsp:txXfrm>
    </dsp:sp>
    <dsp:sp modelId="{F96B2562-BEBF-42CE-9FF0-1BBD38426426}">
      <dsp:nvSpPr>
        <dsp:cNvPr id="0" name=""/>
        <dsp:cNvSpPr/>
      </dsp:nvSpPr>
      <dsp:spPr>
        <a:xfrm>
          <a:off x="857249" y="880745"/>
          <a:ext cx="771525" cy="77152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b="1" kern="1200" dirty="0" smtClean="0"/>
            <a:t>Ideas</a:t>
          </a:r>
          <a:endParaRPr lang="en-US" sz="800" b="1" kern="1200" dirty="0"/>
        </a:p>
      </dsp:txBody>
      <dsp:txXfrm>
        <a:off x="857249" y="880745"/>
        <a:ext cx="771525" cy="771525"/>
      </dsp:txXfrm>
    </dsp:sp>
    <dsp:sp modelId="{1700B4C8-12E4-4D00-876C-94377F786E85}">
      <dsp:nvSpPr>
        <dsp:cNvPr id="0" name=""/>
        <dsp:cNvSpPr/>
      </dsp:nvSpPr>
      <dsp:spPr>
        <a:xfrm>
          <a:off x="1645920" y="694207"/>
          <a:ext cx="771525" cy="77152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800" b="1" kern="1200" dirty="0" smtClean="0"/>
            <a:t>Technology</a:t>
          </a:r>
          <a:endParaRPr lang="en-US" sz="800" b="1" kern="1200" dirty="0"/>
        </a:p>
      </dsp:txBody>
      <dsp:txXfrm>
        <a:off x="1645920" y="694207"/>
        <a:ext cx="771525" cy="771525"/>
      </dsp:txXfrm>
    </dsp:sp>
    <dsp:sp modelId="{CDFE8F55-FE62-4CE9-AB0C-1431255D3302}">
      <dsp:nvSpPr>
        <dsp:cNvPr id="0" name=""/>
        <dsp:cNvSpPr/>
      </dsp:nvSpPr>
      <dsp:spPr>
        <a:xfrm>
          <a:off x="514349" y="537845"/>
          <a:ext cx="2400300" cy="1920240"/>
        </a:xfrm>
        <a:prstGeom prst="funnel">
          <a:avLst/>
        </a:prstGeom>
        <a:solidFill>
          <a:schemeClr val="lt1">
            <a:alpha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35400"/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57B6F08F-F180-42E5-86EE-1F47EC70A8B7}">
      <dsp:nvSpPr>
        <dsp:cNvPr id="0" name=""/>
        <dsp:cNvSpPr/>
      </dsp:nvSpPr>
      <dsp:spPr>
        <a:xfrm>
          <a:off x="457210" y="0"/>
          <a:ext cx="3562350" cy="2336800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195289F-4E10-4B57-8C58-6BB3CB9CCF4B}">
      <dsp:nvSpPr>
        <dsp:cNvPr id="0" name=""/>
        <dsp:cNvSpPr/>
      </dsp:nvSpPr>
      <dsp:spPr>
        <a:xfrm>
          <a:off x="142019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Concept Development</a:t>
          </a:r>
          <a:endParaRPr lang="en-US" sz="1300" kern="1200" dirty="0"/>
        </a:p>
      </dsp:txBody>
      <dsp:txXfrm>
        <a:off x="142019" y="701040"/>
        <a:ext cx="1257300" cy="934720"/>
      </dsp:txXfrm>
    </dsp:sp>
    <dsp:sp modelId="{EDBBB759-F01A-4C3B-A1A8-D2C8F1E5A578}">
      <dsp:nvSpPr>
        <dsp:cNvPr id="0" name=""/>
        <dsp:cNvSpPr/>
      </dsp:nvSpPr>
      <dsp:spPr>
        <a:xfrm>
          <a:off x="146685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Transitioning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To 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Portfolio</a:t>
          </a:r>
          <a:endParaRPr lang="en-US" sz="1300" kern="1200" dirty="0"/>
        </a:p>
      </dsp:txBody>
      <dsp:txXfrm>
        <a:off x="1466850" y="701040"/>
        <a:ext cx="1257300" cy="934720"/>
      </dsp:txXfrm>
    </dsp:sp>
    <dsp:sp modelId="{0564D69C-C697-46C9-AFEA-F63178C739BD}">
      <dsp:nvSpPr>
        <dsp:cNvPr id="0" name=""/>
        <dsp:cNvSpPr/>
      </dsp:nvSpPr>
      <dsp:spPr>
        <a:xfrm>
          <a:off x="2791680" y="701040"/>
          <a:ext cx="1257300" cy="9347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/>
        </a:scene3d>
        <a:sp3d>
          <a:bevelT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Execution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Thru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kern="1200" dirty="0" smtClean="0"/>
            <a:t>Value Release</a:t>
          </a:r>
          <a:endParaRPr lang="en-US" sz="1300" kern="1200" dirty="0"/>
        </a:p>
      </dsp:txBody>
      <dsp:txXfrm>
        <a:off x="2791680" y="701040"/>
        <a:ext cx="1257300" cy="934720"/>
      </dsp:txXfrm>
    </dsp:sp>
  </dsp:spTree>
</dsp:drawing>
</file>

<file path=ppt/diagrams/drawing3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17817A9-C4DE-49BF-8C1D-4124E047DFB9}">
      <dsp:nvSpPr>
        <dsp:cNvPr id="0" name=""/>
        <dsp:cNvSpPr/>
      </dsp:nvSpPr>
      <dsp:spPr>
        <a:xfrm>
          <a:off x="530859" y="0"/>
          <a:ext cx="4775200" cy="4775200"/>
        </a:xfrm>
        <a:prstGeom prst="triangl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D970AC9-46C8-4548-96E5-DA10D684460C}">
      <dsp:nvSpPr>
        <dsp:cNvPr id="0" name=""/>
        <dsp:cNvSpPr/>
      </dsp:nvSpPr>
      <dsp:spPr>
        <a:xfrm>
          <a:off x="2918459" y="480084"/>
          <a:ext cx="3103880" cy="1130379"/>
        </a:xfrm>
        <a:prstGeom prst="roundRect">
          <a:avLst/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Providers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(Drugs, Devices, Information)</a:t>
          </a:r>
          <a:endParaRPr lang="en-US" sz="1600" kern="1200" dirty="0"/>
        </a:p>
      </dsp:txBody>
      <dsp:txXfrm>
        <a:off x="2918459" y="480084"/>
        <a:ext cx="3103880" cy="1130379"/>
      </dsp:txXfrm>
    </dsp:sp>
    <dsp:sp modelId="{4BA2D08E-3F37-4C9B-AF1A-AF070EDB1AF8}">
      <dsp:nvSpPr>
        <dsp:cNvPr id="0" name=""/>
        <dsp:cNvSpPr/>
      </dsp:nvSpPr>
      <dsp:spPr>
        <a:xfrm>
          <a:off x="2918459" y="1751761"/>
          <a:ext cx="3103880" cy="1130379"/>
        </a:xfrm>
        <a:prstGeom prst="roundRect">
          <a:avLst/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Practitioners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(Physicians, Nurses, Caretakers)</a:t>
          </a:r>
        </a:p>
      </dsp:txBody>
      <dsp:txXfrm>
        <a:off x="2918459" y="1751761"/>
        <a:ext cx="3103880" cy="1130379"/>
      </dsp:txXfrm>
    </dsp:sp>
    <dsp:sp modelId="{14F6B660-5636-4F93-AFFF-4992B4D5718E}">
      <dsp:nvSpPr>
        <dsp:cNvPr id="0" name=""/>
        <dsp:cNvSpPr/>
      </dsp:nvSpPr>
      <dsp:spPr>
        <a:xfrm>
          <a:off x="2918459" y="3023438"/>
          <a:ext cx="3103880" cy="1130379"/>
        </a:xfrm>
        <a:prstGeom prst="roundRect">
          <a:avLst/>
        </a:prstGeom>
        <a:gradFill rotWithShape="1">
          <a:gsLst>
            <a:gs pos="0">
              <a:schemeClr val="accent5">
                <a:tint val="50000"/>
                <a:satMod val="300000"/>
              </a:schemeClr>
            </a:gs>
            <a:gs pos="35000">
              <a:schemeClr val="accent5">
                <a:tint val="37000"/>
                <a:satMod val="300000"/>
              </a:schemeClr>
            </a:gs>
            <a:gs pos="100000">
              <a:schemeClr val="accent5">
                <a:tint val="15000"/>
                <a:satMod val="350000"/>
              </a:schemeClr>
            </a:gs>
          </a:gsLst>
          <a:lin ang="16200000" scaled="1"/>
        </a:gradFill>
        <a:ln w="9525" cap="flat" cmpd="sng" algn="ctr">
          <a:solidFill>
            <a:schemeClr val="accent5">
              <a:shade val="95000"/>
              <a:satMod val="10500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/>
      </dsp:spPr>
      <dsp:style>
        <a:lnRef idx="1">
          <a:schemeClr val="accent5"/>
        </a:lnRef>
        <a:fillRef idx="2">
          <a:schemeClr val="accent5"/>
        </a:fillRef>
        <a:effectRef idx="1">
          <a:schemeClr val="accent5"/>
        </a:effectRef>
        <a:fontRef idx="minor">
          <a:schemeClr val="dk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1" kern="1200" dirty="0" smtClean="0"/>
            <a:t>Patients</a:t>
          </a:r>
        </a:p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(Hospitals, Alt. Sites, Home)</a:t>
          </a:r>
          <a:endParaRPr lang="en-US" sz="1600" kern="1200" dirty="0"/>
        </a:p>
      </dsp:txBody>
      <dsp:txXfrm>
        <a:off x="2918459" y="3023438"/>
        <a:ext cx="3103880" cy="1130379"/>
      </dsp:txXfrm>
    </dsp:sp>
  </dsp:spTree>
</dsp:drawing>
</file>

<file path=ppt/diagrams/drawing4.xml><?xml version="1.0" encoding="utf-8"?>
<dsp:drawing xmlns:dgm="http://schemas.openxmlformats.org/drawingml/2006/diagram" xmlns:a="http://schemas.openxmlformats.org/drawingml/2006/main" xmlns:dsp="http://schemas.microsoft.com/office/drawing/2008/diagram">
  <dsp:spTree>
    <dsp:nvGrpSpPr>
      <dsp:cNvPr id="0" name=""/>
      <dsp:cNvGrpSpPr/>
    </dsp:nvGrpSpPr>
    <dsp:grpSpPr/>
    <dsp:sp modelId="{C6CB6EE8-F817-48B1-A2A4-7074F5E20ADC}">
      <dsp:nvSpPr>
        <dsp:cNvPr id="0" name=""/>
        <dsp:cNvSpPr/>
      </dsp:nvSpPr>
      <dsp:spPr>
        <a:xfrm>
          <a:off x="2057396" y="0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Open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Innovation</a:t>
          </a:r>
        </a:p>
      </dsp:txBody>
      <dsp:txXfrm>
        <a:off x="2057396" y="0"/>
        <a:ext cx="1188950" cy="1188950"/>
      </dsp:txXfrm>
    </dsp:sp>
    <dsp:sp modelId="{E7314FF0-C3D4-4067-9A96-DAE7F230A6B3}">
      <dsp:nvSpPr>
        <dsp:cNvPr id="0" name=""/>
        <dsp:cNvSpPr/>
      </dsp:nvSpPr>
      <dsp:spPr>
        <a:xfrm rot="2144603">
          <a:off x="3212635" y="913462"/>
          <a:ext cx="32242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/>
        </a:p>
      </dsp:txBody>
      <dsp:txXfrm rot="2144603">
        <a:off x="3212635" y="913462"/>
        <a:ext cx="322428" cy="401270"/>
      </dsp:txXfrm>
    </dsp:sp>
    <dsp:sp modelId="{0BB1AB6A-657E-4BE7-B826-04310CB87FD6}">
      <dsp:nvSpPr>
        <dsp:cNvPr id="0" name=""/>
        <dsp:cNvSpPr/>
      </dsp:nvSpPr>
      <dsp:spPr>
        <a:xfrm>
          <a:off x="3516165" y="1049907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Centrally Managed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IP</a:t>
          </a:r>
          <a:endParaRPr lang="en-US" sz="1100" b="1" kern="1200" dirty="0"/>
        </a:p>
      </dsp:txBody>
      <dsp:txXfrm>
        <a:off x="3516165" y="1049907"/>
        <a:ext cx="1188950" cy="1188950"/>
      </dsp:txXfrm>
    </dsp:sp>
    <dsp:sp modelId="{3D2113D7-D3E7-4CB9-BC98-536F54DAF21C}">
      <dsp:nvSpPr>
        <dsp:cNvPr id="0" name=""/>
        <dsp:cNvSpPr/>
      </dsp:nvSpPr>
      <dsp:spPr>
        <a:xfrm rot="6480000">
          <a:off x="3679885" y="2283802"/>
          <a:ext cx="31560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/>
        </a:p>
      </dsp:txBody>
      <dsp:txXfrm rot="6480000">
        <a:off x="3679885" y="2283802"/>
        <a:ext cx="315608" cy="401270"/>
      </dsp:txXfrm>
    </dsp:sp>
    <dsp:sp modelId="{A7C42B21-429E-4C68-A376-78D2C78D89EA}">
      <dsp:nvSpPr>
        <dsp:cNvPr id="0" name=""/>
        <dsp:cNvSpPr/>
      </dsp:nvSpPr>
      <dsp:spPr>
        <a:xfrm>
          <a:off x="2964743" y="2747008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Shared Revenue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Model</a:t>
          </a:r>
          <a:endParaRPr lang="en-US" sz="1100" b="1" kern="1200" dirty="0"/>
        </a:p>
      </dsp:txBody>
      <dsp:txXfrm>
        <a:off x="2964743" y="2747008"/>
        <a:ext cx="1188950" cy="1188950"/>
      </dsp:txXfrm>
    </dsp:sp>
    <dsp:sp modelId="{3B18EA10-55B7-4FA2-B1AF-880978BD726E}">
      <dsp:nvSpPr>
        <dsp:cNvPr id="0" name=""/>
        <dsp:cNvSpPr/>
      </dsp:nvSpPr>
      <dsp:spPr>
        <a:xfrm rot="10800000">
          <a:off x="2518128" y="3140848"/>
          <a:ext cx="31560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/>
        </a:p>
      </dsp:txBody>
      <dsp:txXfrm rot="10800000">
        <a:off x="2518128" y="3140848"/>
        <a:ext cx="315608" cy="401270"/>
      </dsp:txXfrm>
    </dsp:sp>
    <dsp:sp modelId="{225F2983-0321-4A3D-86C7-7E3CCDC569BC}">
      <dsp:nvSpPr>
        <dsp:cNvPr id="0" name=""/>
        <dsp:cNvSpPr/>
      </dsp:nvSpPr>
      <dsp:spPr>
        <a:xfrm>
          <a:off x="1180305" y="2747008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Results Driven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Prioritization</a:t>
          </a:r>
          <a:endParaRPr lang="en-US" sz="1100" b="1" kern="1200" dirty="0"/>
        </a:p>
      </dsp:txBody>
      <dsp:txXfrm>
        <a:off x="1180305" y="2747008"/>
        <a:ext cx="1188950" cy="1188950"/>
      </dsp:txXfrm>
    </dsp:sp>
    <dsp:sp modelId="{A7D0551F-936B-4658-B33F-A836AF1BBB65}">
      <dsp:nvSpPr>
        <dsp:cNvPr id="0" name=""/>
        <dsp:cNvSpPr/>
      </dsp:nvSpPr>
      <dsp:spPr>
        <a:xfrm rot="15120000">
          <a:off x="1344026" y="2300792"/>
          <a:ext cx="315608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/>
        </a:p>
      </dsp:txBody>
      <dsp:txXfrm rot="15120000">
        <a:off x="1344026" y="2300792"/>
        <a:ext cx="315608" cy="401270"/>
      </dsp:txXfrm>
    </dsp:sp>
    <dsp:sp modelId="{C3DD57C0-4A46-47E8-A3EB-683924E5F05E}">
      <dsp:nvSpPr>
        <dsp:cNvPr id="0" name=""/>
        <dsp:cNvSpPr/>
      </dsp:nvSpPr>
      <dsp:spPr>
        <a:xfrm>
          <a:off x="628884" y="1049907"/>
          <a:ext cx="1188950" cy="118895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b="1" kern="1200" dirty="0" smtClean="0"/>
            <a:t>Collaborative</a:t>
          </a:r>
          <a:endParaRPr lang="en-US" sz="1100" b="1" kern="1200" dirty="0"/>
        </a:p>
      </dsp:txBody>
      <dsp:txXfrm>
        <a:off x="628884" y="1049907"/>
        <a:ext cx="1188950" cy="1188950"/>
      </dsp:txXfrm>
    </dsp:sp>
    <dsp:sp modelId="{C25E6119-54FA-4530-870F-778E283C0BD5}">
      <dsp:nvSpPr>
        <dsp:cNvPr id="0" name=""/>
        <dsp:cNvSpPr/>
      </dsp:nvSpPr>
      <dsp:spPr>
        <a:xfrm rot="19421124">
          <a:off x="1775828" y="923980"/>
          <a:ext cx="309460" cy="40127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900" b="1" kern="1200"/>
        </a:p>
      </dsp:txBody>
      <dsp:txXfrm rot="19421124">
        <a:off x="1775828" y="923980"/>
        <a:ext cx="309460" cy="4012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funnel1">
  <dgm:title val=""/>
  <dgm:desc val=""/>
  <dgm:catLst>
    <dgm:cat type="relationship" pri="2000"/>
    <dgm:cat type="process" pri="2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4"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1">
      <dgm:if name="Name2" axis="ch" ptType="node" func="cnt" op="equ" val="2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w" for="ch" forName="item1" refType="w" fact="0.35"/>
          <dgm:constr type="h" for="ch" forName="item1" refType="w" fact="0.35"/>
          <dgm:constr type="t" for="ch" forName="item1" refType="h" fact="0.05"/>
          <dgm:constr type="l" for="ch" forName="item1" refType="w" fact="0.125"/>
          <dgm:constr type="primFontSz" for="ch" forName="item1" op="equ" val="65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if>
      <dgm:else name="Name3">
        <dgm:constrLst>
          <dgm:constr type="w" for="ch" forName="ellipse" refType="w" fact="0.645"/>
          <dgm:constr type="h" for="ch" forName="ellipse" refType="h" fact="0.28"/>
          <dgm:constr type="t" for="ch" forName="ellipse" refType="w" fact="0.0275"/>
          <dgm:constr type="l" for="ch" forName="ellipse" refType="w" fact="0.0265"/>
          <dgm:constr type="w" for="ch" forName="arrow1" refType="w" fact="0.125"/>
          <dgm:constr type="h" for="ch" forName="arrow1" refType="h" fact="0.1"/>
          <dgm:constr type="t" for="ch" forName="arrow1" refType="h" fact="0.72"/>
          <dgm:constr type="l" for="ch" forName="arrow1" refType="w" fact="0.2875"/>
          <dgm:constr type="w" for="ch" forName="rectangle" refType="w" fact="0.6"/>
          <dgm:constr type="h" for="ch" forName="rectangle" refType="w" refFor="ch" refForName="rectangle" fact="0.25"/>
          <dgm:constr type="t" for="ch" forName="rectangle" refType="h" fact="0.8"/>
          <dgm:constr type="l" for="ch" forName="rectangle" refType="w" fact="0.05"/>
          <dgm:constr type="primFontSz" for="ch" forName="rectangle" val="65"/>
          <dgm:constr type="w" for="ch" forName="item1" refType="w" fact="0.225"/>
          <dgm:constr type="h" for="ch" forName="item1" refType="w" fact="0.225"/>
          <dgm:constr type="t" for="ch" forName="item1" refType="h" fact="0.336"/>
          <dgm:constr type="l" for="ch" forName="item1" refType="w" fact="0.261"/>
          <dgm:constr type="primFontSz" for="ch" forName="item1" val="65"/>
          <dgm:constr type="w" for="ch" forName="item2" refType="w" fact="0.225"/>
          <dgm:constr type="h" for="ch" forName="item2" refType="w" fact="0.225"/>
          <dgm:constr type="t" for="ch" forName="item2" refType="h" fact="0.125"/>
          <dgm:constr type="l" for="ch" forName="item2" refType="w" fact="0.1"/>
          <dgm:constr type="primFontSz" for="ch" forName="item2" refType="primFontSz" refFor="ch" refForName="item1" op="equ"/>
          <dgm:constr type="w" for="ch" forName="item3" refType="w" fact="0.225"/>
          <dgm:constr type="h" for="ch" forName="item3" refType="w" fact="0.225"/>
          <dgm:constr type="t" for="ch" forName="item3" refType="h" fact="0.057"/>
          <dgm:constr type="l" for="ch" forName="item3" refType="w" fact="0.33"/>
          <dgm:constr type="primFontSz" for="ch" forName="item3" refType="primFontSz" refFor="ch" refForName="item1" op="equ"/>
          <dgm:constr type="w" for="ch" forName="funnel" refType="w" fact="0.7"/>
          <dgm:constr type="h" for="ch" forName="funnel" refType="h" fact="0.7"/>
          <dgm:constr type="t" for="ch" forName="funnel"/>
          <dgm:constr type="l" for="ch" forName="funnel"/>
        </dgm:constrLst>
      </dgm:else>
    </dgm:choose>
    <dgm:ruleLst/>
    <dgm:choose name="Name4">
      <dgm:if name="Name5" axis="ch" ptType="node" func="cnt" op="gte" val="1">
        <dgm:layoutNode name="ellipse" styleLbl="tr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arrow1" styleLbl="fgShp">
          <dgm:alg type="sp"/>
          <dgm:shape xmlns:r="http://schemas.openxmlformats.org/officeDocument/2006/relationships" type="downArrow" r:blip="">
            <dgm:adjLst/>
          </dgm:shape>
          <dgm:presOf/>
          <dgm:constrLst/>
          <dgm:ruleLst/>
        </dgm:layoutNode>
        <dgm:layoutNode name="rectangle" styleLbl="revTx">
          <dgm:varLst>
            <dgm:bulletEnabled val="1"/>
          </dgm:varLst>
          <dgm:alg type="tx">
            <dgm:param type="txAnchorHorzCh" val="ctr"/>
          </dgm:alg>
          <dgm:shape xmlns:r="http://schemas.openxmlformats.org/officeDocument/2006/relationships" type="rect" r:blip="">
            <dgm:adjLst/>
          </dgm:shape>
          <dgm:choose name="Name6">
            <dgm:if name="Name7" axis="ch" ptType="node" func="cnt" op="equ" val="1">
              <dgm:presOf axis="ch desOrSelf" ptType="node node" st="1 1" cnt="1 0"/>
            </dgm:if>
            <dgm:if name="Name8" axis="ch" ptType="node" func="cnt" op="equ" val="2">
              <dgm:presOf axis="ch desOrSelf" ptType="node node" st="2 1" cnt="1 0"/>
            </dgm:if>
            <dgm:if name="Name9" axis="ch" ptType="node" func="cnt" op="equ" val="3">
              <dgm:presOf axis="ch desOrSelf" ptType="node node" st="3 1" cnt="1 0"/>
            </dgm:if>
            <dgm:else name="Name10">
              <dgm:presOf axis="ch desOrSelf" ptType="node node" st="4 1" cnt="1 0"/>
            </dgm:else>
          </dgm:choose>
          <dgm:constrLst/>
          <dgm:ruleLst>
            <dgm:rule type="primFontSz" val="5" fact="NaN" max="NaN"/>
          </dgm:ruleLst>
        </dgm:layoutNode>
        <dgm:forEach name="Name11" axis="ch" ptType="node" st="2" cnt="1">
          <dgm:layoutNode name="item1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2">
              <dgm:if name="Name13" axis="root ch" ptType="all node" func="cnt" op="equ" val="1">
                <dgm:presOf/>
              </dgm:if>
              <dgm:if name="Name14" axis="root ch" ptType="all node" func="cnt" op="equ" val="2">
                <dgm:presOf axis="root ch desOrSelf" ptType="all node node" st="1 1 1" cnt="0 1 0"/>
              </dgm:if>
              <dgm:if name="Name15" axis="root ch" ptType="all node" func="cnt" op="equ" val="3">
                <dgm:presOf axis="root ch desOrSelf" ptType="all node node" st="1 2 1" cnt="0 1 0"/>
              </dgm:if>
              <dgm:else name="Name16">
                <dgm:presOf axis="root ch desOrSelf" ptType="all node node" st="1 3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17" axis="ch" ptType="node" st="3" cnt="1">
          <dgm:layoutNode name="item2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18">
              <dgm:if name="Name19" axis="root ch" ptType="all node" func="cnt" op="equ" val="1">
                <dgm:presOf/>
              </dgm:if>
              <dgm:if name="Name20" axis="root ch" ptType="all node" func="cnt" op="equ" val="2">
                <dgm:presOf/>
              </dgm:if>
              <dgm:if name="Name21" axis="root ch" ptType="all node" func="cnt" op="equ" val="3">
                <dgm:presOf axis="root ch desOrSelf" ptType="all node node" st="1 1 1" cnt="0 1 0"/>
              </dgm:if>
              <dgm:else name="Name22">
                <dgm:presOf axis="root ch desOrSelf" ptType="all node node" st="1 2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forEach name="Name23" axis="ch" ptType="node" st="4" cnt="1">
          <dgm:layoutNode name="item3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4">
              <dgm:if name="Name25" axis="root ch" ptType="all node" func="cnt" op="equ" val="1">
                <dgm:presOf/>
              </dgm:if>
              <dgm:if name="Name26" axis="root ch" ptType="all node" func="cnt" op="equ" val="2">
                <dgm:presOf/>
              </dgm:if>
              <dgm:if name="Name27" axis="root ch" ptType="all node" func="cnt" op="equ" val="3">
                <dgm:presOf/>
              </dgm:if>
              <dgm:else name="Name28">
                <dgm:presOf axis="root ch desOrSelf" ptType="all node node" st="1 1 1" cnt="0 1 0"/>
              </dgm:else>
            </dgm:choose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  <dgm:layoutNode name="funnel" styleLbl="trAlignAcc1">
          <dgm:alg type="sp"/>
          <dgm:shape xmlns:r="http://schemas.openxmlformats.org/officeDocument/2006/relationships" type="funnel" r:blip="">
            <dgm:adjLst/>
          </dgm:shape>
          <dgm:presOf/>
          <dgm:constrLst/>
          <dgm:ruleLst/>
        </dgm:layoutNode>
      </dgm:if>
      <dgm:else name="Name29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E478425-4FD2-43EE-91BD-BCFC307291F8}" type="datetime1">
              <a:rPr lang="en-US"/>
              <a:pPr/>
              <a:t>8/13/2009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54E737C-C255-453C-8F0B-6BB8CAB56B11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fld id="{38B5F877-A15A-47D9-96AB-6BF40B71EAB5}" type="datetime1">
              <a:rPr lang="en-US"/>
              <a:pPr/>
              <a:t>8/13/2009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-110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-110" charset="0"/>
              </a:defRPr>
            </a:lvl1pPr>
          </a:lstStyle>
          <a:p>
            <a:fld id="{E35D1681-EA57-4A8E-9AFA-5549DF72F7BC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-110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35D1681-EA57-4A8E-9AFA-5549DF72F7BC}" type="slidenum">
              <a:rPr lang="en-US" smtClean="0"/>
              <a:pPr/>
              <a:t>25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Grassy Ridgelines, Briones Regional Park, California.jpg"/>
          <p:cNvPicPr>
            <a:picLocks noChangeAspect="1"/>
          </p:cNvPicPr>
          <p:nvPr/>
        </p:nvPicPr>
        <p:blipFill>
          <a:blip r:embed="rId2" cstate="print">
            <a:lum bright="20000"/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1219200" y="0"/>
            <a:ext cx="79248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>
              <a:solidFill>
                <a:srgbClr val="FFFFFF"/>
              </a:solidFill>
              <a:cs typeface="Arial" charset="0"/>
            </a:endParaRPr>
          </a:p>
        </p:txBody>
      </p:sp>
      <p:pic>
        <p:nvPicPr>
          <p:cNvPr id="6" name="Picture 8" descr="small VEG  logo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90800" y="457200"/>
            <a:ext cx="4008438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800"/>
              <a:t>Privileged and Confidential..Copyright The Value Enablement Group, LLC 2009, All rights reserved.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80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5C0F159D-9258-4456-ACAD-B6DC6063ED0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mall VEG  logo.pn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" y="0"/>
            <a:ext cx="3038475" cy="808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/>
          <p:nvPr/>
        </p:nvCxnSpPr>
        <p:spPr>
          <a:xfrm>
            <a:off x="457200" y="1219200"/>
            <a:ext cx="8229600" cy="0"/>
          </a:xfrm>
          <a:prstGeom prst="line">
            <a:avLst/>
          </a:prstGeom>
          <a:ln w="82550" cap="rnd">
            <a:solidFill>
              <a:srgbClr val="21677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200275" y="6478588"/>
            <a:ext cx="4722813" cy="2159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lang="en-US" sz="800" dirty="0"/>
              <a:t>Privileged and Confidential..Copyright The Value Enablement Group, LLC 2009, All rights reserved.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8229600" cy="350838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001000" y="6356350"/>
            <a:ext cx="685800" cy="365125"/>
          </a:xfrm>
        </p:spPr>
        <p:txBody>
          <a:bodyPr/>
          <a:lstStyle>
            <a:lvl1pPr>
              <a:defRPr sz="16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8D26F5A-CFD1-4443-B8D2-F55750699CD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9600DA93-BED3-4A2E-ADB3-D5CB6E2791B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C14D7C4C-8711-4B79-B9CE-B36453064FD6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ACD7AF8B-134D-4BBB-9775-B72507E5DAF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FA082BF2-F9F0-4E7A-85DC-6DCB5498573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315F2CE5-EFFD-41CE-84A4-989AB2A3B7C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14BD375D-7C67-4B13-A1C2-407AAEC3B3E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D17112B3-EAB6-4BF2-A057-568461F4738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A4F57B9A-091F-4719-AA80-C17736E8F1D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AFADA5"/>
                </a:solidFill>
                <a:latin typeface="Calibri" pitchFamily="-110" charset="0"/>
              </a:defRPr>
            </a:lvl1pPr>
          </a:lstStyle>
          <a:p>
            <a:r>
              <a:rPr lang="en-US" smtClean="0"/>
              <a:t>asdfasdf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-110" charset="0"/>
              </a:defRPr>
            </a:lvl1pPr>
          </a:lstStyle>
          <a:p>
            <a:fld id="{98D26F5A-CFD1-4443-B8D2-F55750699CD5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0" charset="-128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pitchFamily="-110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b="1" smtClean="0"/>
              <a:t>A New Value Proposition</a:t>
            </a:r>
            <a:br>
              <a:rPr lang="en-US" b="1" smtClean="0"/>
            </a:br>
            <a:r>
              <a:rPr lang="en-US" b="1" smtClean="0"/>
              <a:t>for the AMA</a:t>
            </a:r>
          </a:p>
        </p:txBody>
      </p:sp>
      <p:pic>
        <p:nvPicPr>
          <p:cNvPr id="1433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27413" y="3733800"/>
            <a:ext cx="2744787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Outline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dirty="0" smtClean="0"/>
              <a:t>Current Challenges</a:t>
            </a:r>
          </a:p>
          <a:p>
            <a:pPr eaLnBrk="1" hangingPunct="1"/>
            <a:r>
              <a:rPr lang="en-US" sz="2400" dirty="0" smtClean="0"/>
              <a:t>AMA’s Role in Healthcare Reform</a:t>
            </a:r>
          </a:p>
          <a:p>
            <a:pPr eaLnBrk="1" hangingPunct="1"/>
            <a:r>
              <a:rPr lang="en-US" sz="2400" dirty="0" smtClean="0"/>
              <a:t>Needs of the </a:t>
            </a:r>
            <a:r>
              <a:rPr lang="en-US" sz="2400" dirty="0" smtClean="0"/>
              <a:t>providers, practitioners, and patients</a:t>
            </a:r>
            <a:endParaRPr lang="en-US" sz="2400" dirty="0" smtClean="0"/>
          </a:p>
          <a:p>
            <a:pPr eaLnBrk="1" hangingPunct="1"/>
            <a:r>
              <a:rPr lang="en-US" sz="2400" dirty="0" smtClean="0"/>
              <a:t>Measuring value and enabling value throughout healthcare</a:t>
            </a:r>
          </a:p>
          <a:p>
            <a:pPr eaLnBrk="1" hangingPunct="1"/>
            <a:r>
              <a:rPr lang="en-US" sz="2400" dirty="0" smtClean="0"/>
              <a:t>Engaging providers, practitioners, and patients</a:t>
            </a:r>
          </a:p>
          <a:p>
            <a:pPr eaLnBrk="1" hangingPunct="1"/>
            <a:r>
              <a:rPr lang="en-US" sz="2400" dirty="0" smtClean="0"/>
              <a:t>Expanding the reach and membership of the AMA</a:t>
            </a:r>
          </a:p>
          <a:p>
            <a:pPr eaLnBrk="1" hangingPunct="1"/>
            <a:r>
              <a:rPr lang="en-US" sz="2400" dirty="0" smtClean="0"/>
              <a:t>Moving towards a new business model</a:t>
            </a:r>
          </a:p>
          <a:p>
            <a:pPr eaLnBrk="1" hangingPunct="1"/>
            <a:endParaRPr lang="en-US" sz="2400" dirty="0" smtClean="0"/>
          </a:p>
        </p:txBody>
      </p:sp>
      <p:sp>
        <p:nvSpPr>
          <p:cNvPr id="15364" name="Line 4"/>
          <p:cNvSpPr>
            <a:spLocks noChangeShapeType="1"/>
          </p:cNvSpPr>
          <p:nvPr/>
        </p:nvSpPr>
        <p:spPr bwMode="auto">
          <a:xfrm>
            <a:off x="914400" y="4572000"/>
            <a:ext cx="5715000" cy="0"/>
          </a:xfrm>
          <a:prstGeom prst="line">
            <a:avLst/>
          </a:prstGeom>
          <a:noFill/>
          <a:ln w="57150">
            <a:solidFill>
              <a:srgbClr val="1B36BB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Current Challenges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dirty="0" smtClean="0"/>
              <a:t>Eroding member base.  </a:t>
            </a:r>
          </a:p>
          <a:p>
            <a:pPr eaLnBrk="1" hangingPunct="1"/>
            <a:r>
              <a:rPr lang="en-US" sz="2400" dirty="0" smtClean="0"/>
              <a:t>Aging membership.</a:t>
            </a:r>
          </a:p>
          <a:p>
            <a:pPr eaLnBrk="1" hangingPunct="1"/>
            <a:r>
              <a:rPr lang="en-US" sz="2400" dirty="0" smtClean="0"/>
              <a:t>Decline profits.</a:t>
            </a:r>
          </a:p>
          <a:p>
            <a:pPr eaLnBrk="1" hangingPunct="1"/>
            <a:r>
              <a:rPr lang="en-US" sz="2400" dirty="0" smtClean="0"/>
              <a:t>Not perceived as an innovation leader. </a:t>
            </a:r>
          </a:p>
          <a:p>
            <a:pPr eaLnBrk="1" hangingPunct="1"/>
            <a:r>
              <a:rPr lang="en-US" sz="2400" dirty="0" smtClean="0"/>
              <a:t>Healthcare is fractionalized across the continuum of care.</a:t>
            </a:r>
          </a:p>
          <a:p>
            <a:pPr eaLnBrk="1" hangingPunct="1"/>
            <a:r>
              <a:rPr lang="en-US" sz="2400" dirty="0" smtClean="0"/>
              <a:t>Healthcare reform is best driven by providers &amp; practitioners and not the government.</a:t>
            </a:r>
          </a:p>
          <a:p>
            <a:pPr eaLnBrk="1" hangingPunct="1"/>
            <a:r>
              <a:rPr lang="en-US" sz="2400" dirty="0" smtClean="0"/>
              <a:t>Need for clear leadership to drive reform, innovation, and unification across the heatlhcare continuum.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AMA’s Role in Healthcare Reform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Still a relevant voice that should be heard by the government. </a:t>
            </a:r>
          </a:p>
          <a:p>
            <a:r>
              <a:rPr lang="en-US" sz="2400" dirty="0" smtClean="0"/>
              <a:t>The stakeholders are looking for answers:</a:t>
            </a:r>
          </a:p>
          <a:p>
            <a:pPr lvl="1"/>
            <a:r>
              <a:rPr lang="en-US" sz="2000" dirty="0" smtClean="0"/>
              <a:t>Practitioners are worried about quality, timeliness, and effort of care</a:t>
            </a:r>
          </a:p>
          <a:p>
            <a:pPr lvl="1"/>
            <a:r>
              <a:rPr lang="en-US" sz="2000" dirty="0" smtClean="0"/>
              <a:t>Providers are worried about loss of control and revenue</a:t>
            </a:r>
          </a:p>
          <a:p>
            <a:pPr lvl="1"/>
            <a:r>
              <a:rPr lang="en-US" sz="2000" dirty="0" smtClean="0"/>
              <a:t>Patients are worried about quality of care, loss of control, and cost</a:t>
            </a:r>
          </a:p>
          <a:p>
            <a:r>
              <a:rPr lang="en-US" sz="2400" dirty="0" smtClean="0"/>
              <a:t>Opportunity for unifying leadership to provide guidance and direction for change (much of which will be disruptive). </a:t>
            </a:r>
          </a:p>
          <a:p>
            <a:r>
              <a:rPr lang="en-US" sz="2400" dirty="0" smtClean="0"/>
              <a:t>Opportunity to encourage collaboration and cooperation to solve the healthcare needs in the US and across the world.</a:t>
            </a:r>
          </a:p>
          <a:p>
            <a:r>
              <a:rPr lang="en-US" sz="2400" dirty="0" smtClean="0"/>
              <a:t>Opportunity to create a “system” of healthcare guided by consistent value-driven metrics (outcomes).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Needs of the Providers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idx="1"/>
          </p:nvPr>
        </p:nvSpPr>
        <p:spPr>
          <a:xfrm>
            <a:off x="381000" y="1295400"/>
            <a:ext cx="8534400" cy="4830763"/>
          </a:xfrm>
        </p:spPr>
        <p:txBody>
          <a:bodyPr/>
          <a:lstStyle/>
          <a:p>
            <a:r>
              <a:rPr lang="en-US" sz="2400" dirty="0" smtClean="0"/>
              <a:t>To get pharmaceutical and device manufacturers, insurers, and healthcare suppliers to become aligned, unified and collaboratively by focusing on a consistent set of outcomes.</a:t>
            </a:r>
          </a:p>
          <a:p>
            <a:r>
              <a:rPr lang="en-US" sz="2400" dirty="0" smtClean="0"/>
              <a:t>To increase collaboration NOT competition.</a:t>
            </a:r>
          </a:p>
          <a:p>
            <a:r>
              <a:rPr lang="en-US" sz="2400" dirty="0" smtClean="0"/>
              <a:t>To understand how to identify, measure and deliver value throughout the healthcare value network.</a:t>
            </a:r>
          </a:p>
          <a:p>
            <a:r>
              <a:rPr lang="en-US" sz="2400" dirty="0" smtClean="0"/>
              <a:t>To move towards a shared revenue model where everyone can still win, but not at the expense of others (esp. the patients &amp; the public).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Needs of the Practitioners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To improve diagnostic capabilities in a cost effective manner.</a:t>
            </a:r>
          </a:p>
          <a:p>
            <a:r>
              <a:rPr lang="en-US" sz="2400" dirty="0" smtClean="0"/>
              <a:t>To improve clinical processes. </a:t>
            </a:r>
          </a:p>
          <a:p>
            <a:r>
              <a:rPr lang="en-US" sz="2400" dirty="0" smtClean="0"/>
              <a:t>To provide consistent levels of quality.</a:t>
            </a:r>
          </a:p>
          <a:p>
            <a:r>
              <a:rPr lang="en-US" sz="2400" dirty="0" smtClean="0"/>
              <a:t>To move beyond service, where they can deliver a positive  experience. </a:t>
            </a:r>
          </a:p>
          <a:p>
            <a:r>
              <a:rPr lang="en-US" sz="2400" dirty="0" smtClean="0"/>
              <a:t>To be able to reliably measure value for their patients, for themselves as individual practitioners , and for their practices.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Needs of the Patients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r>
              <a:rPr lang="en-US" sz="2400" dirty="0" smtClean="0"/>
              <a:t>To have affordable healthcare.</a:t>
            </a:r>
          </a:p>
          <a:p>
            <a:r>
              <a:rPr lang="en-US" sz="2400" dirty="0" smtClean="0"/>
              <a:t>To have attainable healthcare.</a:t>
            </a:r>
          </a:p>
          <a:p>
            <a:r>
              <a:rPr lang="en-US" sz="2400" dirty="0" smtClean="0"/>
              <a:t>To have more accessible healthcare. </a:t>
            </a:r>
          </a:p>
          <a:p>
            <a:r>
              <a:rPr lang="en-US" sz="2400" dirty="0" smtClean="0"/>
              <a:t>To have consistent levels of quality (results).</a:t>
            </a:r>
          </a:p>
          <a:p>
            <a:r>
              <a:rPr lang="en-US" sz="2400" dirty="0" smtClean="0"/>
              <a:t>To receive a total healthcare experience:</a:t>
            </a:r>
          </a:p>
          <a:p>
            <a:pPr lvl="1"/>
            <a:r>
              <a:rPr lang="en-US" sz="2400" dirty="0" smtClean="0"/>
              <a:t>Ensure their functional outcomes met.</a:t>
            </a:r>
          </a:p>
          <a:p>
            <a:pPr lvl="1"/>
            <a:r>
              <a:rPr lang="en-US" sz="2400" dirty="0" smtClean="0"/>
              <a:t>Ensure their emotional outcomes met.</a:t>
            </a:r>
          </a:p>
          <a:p>
            <a:pPr lvl="1"/>
            <a:r>
              <a:rPr lang="en-US" sz="2400" dirty="0" smtClean="0"/>
              <a:t>Ensure their outcomes are met across the continuum of care (beyond the hospital, into clinics, and into the home).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AMA’s Opportunity to enable Value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Innovate current business model to address the needs of the providers, practitioners, and the patients (3Ps).</a:t>
            </a:r>
          </a:p>
          <a:p>
            <a:r>
              <a:rPr lang="en-US" sz="2400" dirty="0" smtClean="0"/>
              <a:t>Use a disciplined process to capture and assess the needs of the 3Ps in a quantifiable manner.</a:t>
            </a:r>
          </a:p>
          <a:p>
            <a:r>
              <a:rPr lang="en-US" sz="2400" dirty="0" smtClean="0"/>
              <a:t>Provide a centralized repository of unbiased needs of the 3Ps to identify opportunities for measuring &amp; creating value in US healthcare.</a:t>
            </a:r>
          </a:p>
          <a:p>
            <a:r>
              <a:rPr lang="en-US" sz="2400" dirty="0" smtClean="0"/>
              <a:t>License the information in a repository to the 3Ps to build a self-sustaining model for improving value delivery in healthcare</a:t>
            </a:r>
          </a:p>
          <a:p>
            <a:r>
              <a:rPr lang="en-US" sz="2400" dirty="0" smtClean="0"/>
              <a:t>Guide (and possibly drive) innovation in healthcare to create new value while reducing the overall costs for the 3Ps.</a:t>
            </a:r>
          </a:p>
          <a:p>
            <a:endParaRPr lang="en-US" sz="24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AMA at the forefront of Healthcare</a:t>
            </a:r>
          </a:p>
        </p:txBody>
      </p:sp>
      <p:sp>
        <p:nvSpPr>
          <p:cNvPr id="22531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82000" cy="4830763"/>
          </a:xfrm>
        </p:spPr>
        <p:txBody>
          <a:bodyPr/>
          <a:lstStyle/>
          <a:p>
            <a:r>
              <a:rPr lang="en-US" sz="2400" dirty="0" smtClean="0"/>
              <a:t>Defining &amp; delivering the prescription for healthcare reform should come from within healthcare (not the government).</a:t>
            </a:r>
          </a:p>
          <a:p>
            <a:r>
              <a:rPr lang="en-US" sz="2400" dirty="0" smtClean="0"/>
              <a:t>Creating a vision for a new healthcare system by forming a collaborative model with healthcare advocacy organizations, institutions, providers and practitioners.</a:t>
            </a:r>
          </a:p>
          <a:p>
            <a:r>
              <a:rPr lang="en-US" sz="2400" dirty="0" smtClean="0"/>
              <a:t>Providing the practitioners with a consistent set of benchmarks for measuring the value they deliver to patients.</a:t>
            </a:r>
          </a:p>
          <a:p>
            <a:r>
              <a:rPr lang="en-US" sz="2400" dirty="0" smtClean="0"/>
              <a:t>Driving open innovation amongst the providers to create a more efficient process for guiding and creating value.</a:t>
            </a:r>
          </a:p>
          <a:p>
            <a:r>
              <a:rPr lang="en-US" sz="2400" dirty="0" smtClean="0"/>
              <a:t>Working collaboratively with the government to guide more efficient and effective funding that drives healthcare reform.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Moving from Assumptions to Implementation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Establish a program focused on mapping the Jobs &amp; Outcomes across the healthcare domain.</a:t>
            </a:r>
          </a:p>
          <a:p>
            <a:r>
              <a:rPr lang="en-US" sz="2400" dirty="0" smtClean="0"/>
              <a:t>Build a portfolio of unmet needs (opportunities) for improving value delivery to patients and practitioners.</a:t>
            </a:r>
          </a:p>
          <a:p>
            <a:r>
              <a:rPr lang="en-US" sz="2400" dirty="0" smtClean="0"/>
              <a:t>Establish a prioritization model to direct resources in an efficient manner.</a:t>
            </a:r>
          </a:p>
          <a:p>
            <a:r>
              <a:rPr lang="en-US" sz="2400" dirty="0" smtClean="0"/>
              <a:t>Create an open innovation framework using the opportunities to generate ideas that can address the most important (prioritized) unmet needs. </a:t>
            </a:r>
          </a:p>
          <a:p>
            <a:r>
              <a:rPr lang="en-US" sz="2400" dirty="0" smtClean="0"/>
              <a:t>Establish a shared revenue model as part of a collaborative to address unmet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Process 8"/>
          <p:cNvSpPr/>
          <p:nvPr/>
        </p:nvSpPr>
        <p:spPr>
          <a:xfrm>
            <a:off x="1981200" y="2971800"/>
            <a:ext cx="4876800" cy="25146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Federated Portfolio of  Jobs &amp; Outcomes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Value Measurement Platform for Healthcare</a:t>
            </a:r>
            <a:endParaRPr lang="en-US" dirty="0"/>
          </a:p>
        </p:txBody>
      </p:sp>
      <p:sp>
        <p:nvSpPr>
          <p:cNvPr id="5" name="Flowchart: Magnetic Disk 4"/>
          <p:cNvSpPr/>
          <p:nvPr/>
        </p:nvSpPr>
        <p:spPr>
          <a:xfrm>
            <a:off x="4724400" y="3810000"/>
            <a:ext cx="1295400" cy="6096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6" name="Flowchart: Magnetic Disk 5"/>
          <p:cNvSpPr/>
          <p:nvPr/>
        </p:nvSpPr>
        <p:spPr>
          <a:xfrm>
            <a:off x="4876800" y="3962400"/>
            <a:ext cx="1295400" cy="6096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7" name="Flowchart: Magnetic Disk 6"/>
          <p:cNvSpPr/>
          <p:nvPr/>
        </p:nvSpPr>
        <p:spPr>
          <a:xfrm>
            <a:off x="5029200" y="4114800"/>
            <a:ext cx="1295400" cy="6096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Outcomes</a:t>
            </a:r>
            <a:endParaRPr lang="en-US" b="1" dirty="0"/>
          </a:p>
        </p:txBody>
      </p:sp>
      <p:sp>
        <p:nvSpPr>
          <p:cNvPr id="8" name="Flowchart: Magnetic Disk 7"/>
          <p:cNvSpPr/>
          <p:nvPr/>
        </p:nvSpPr>
        <p:spPr>
          <a:xfrm>
            <a:off x="2819400" y="3962400"/>
            <a:ext cx="990600" cy="609600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Jobs</a:t>
            </a:r>
            <a:endParaRPr lang="en-US" b="1" dirty="0"/>
          </a:p>
        </p:txBody>
      </p:sp>
      <p:sp>
        <p:nvSpPr>
          <p:cNvPr id="10" name="Flowchart: Process 9"/>
          <p:cNvSpPr/>
          <p:nvPr/>
        </p:nvSpPr>
        <p:spPr>
          <a:xfrm>
            <a:off x="609600" y="1371600"/>
            <a:ext cx="7848600" cy="10668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Healthcare Domains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524000" y="1752600"/>
            <a:ext cx="12954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Prevention</a:t>
            </a:r>
            <a:endParaRPr lang="en-US" b="1" dirty="0"/>
          </a:p>
        </p:txBody>
      </p:sp>
      <p:sp>
        <p:nvSpPr>
          <p:cNvPr id="16" name="Rounded Rectangle 15"/>
          <p:cNvSpPr/>
          <p:nvPr/>
        </p:nvSpPr>
        <p:spPr>
          <a:xfrm>
            <a:off x="2971800" y="1752600"/>
            <a:ext cx="13716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Diagnostics</a:t>
            </a:r>
            <a:endParaRPr lang="en-US" b="1" dirty="0"/>
          </a:p>
        </p:txBody>
      </p:sp>
      <p:sp>
        <p:nvSpPr>
          <p:cNvPr id="17" name="Rounded Rectangle 16"/>
          <p:cNvSpPr/>
          <p:nvPr/>
        </p:nvSpPr>
        <p:spPr>
          <a:xfrm>
            <a:off x="4495800" y="1752600"/>
            <a:ext cx="12954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Treatment</a:t>
            </a:r>
            <a:endParaRPr lang="en-US" b="1" dirty="0"/>
          </a:p>
        </p:txBody>
      </p:sp>
      <p:sp>
        <p:nvSpPr>
          <p:cNvPr id="18" name="Rounded Rectangle 17"/>
          <p:cNvSpPr/>
          <p:nvPr/>
        </p:nvSpPr>
        <p:spPr>
          <a:xfrm>
            <a:off x="5943600" y="1752600"/>
            <a:ext cx="1524000" cy="533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Maintenance</a:t>
            </a:r>
            <a:endParaRPr lang="en-US" b="1" dirty="0"/>
          </a:p>
        </p:txBody>
      </p:sp>
      <p:sp>
        <p:nvSpPr>
          <p:cNvPr id="20" name="Down Arrow 19"/>
          <p:cNvSpPr/>
          <p:nvPr/>
        </p:nvSpPr>
        <p:spPr>
          <a:xfrm>
            <a:off x="4191000" y="2514600"/>
            <a:ext cx="457200" cy="3810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Down Arrow 20"/>
          <p:cNvSpPr/>
          <p:nvPr/>
        </p:nvSpPr>
        <p:spPr>
          <a:xfrm rot="16200000">
            <a:off x="4076700" y="4000500"/>
            <a:ext cx="457200" cy="3810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3124200" y="3276600"/>
            <a:ext cx="2590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/>
              <a:t>(Patients &amp; Practitioners)</a:t>
            </a:r>
            <a:endParaRPr lang="en-US" sz="14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838200" y="5715000"/>
            <a:ext cx="6934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 smtClean="0">
                <a:solidFill>
                  <a:schemeClr val="accent2">
                    <a:lumMod val="75000"/>
                  </a:schemeClr>
                </a:solidFill>
              </a:rPr>
              <a:t>Value is measured through Outcomes =&gt; Outcomes are used to enable value</a:t>
            </a:r>
            <a:endParaRPr lang="en-US" sz="14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Measuring Value for Healthcare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Build a portfolio of jobs &amp; outcomes:</a:t>
            </a:r>
          </a:p>
          <a:p>
            <a:pPr lvl="1"/>
            <a:r>
              <a:rPr lang="en-US" dirty="0" smtClean="0"/>
              <a:t>For measuring value</a:t>
            </a:r>
          </a:p>
          <a:p>
            <a:pPr lvl="1"/>
            <a:r>
              <a:rPr lang="en-US" dirty="0" smtClean="0"/>
              <a:t>For capturing customer* needs</a:t>
            </a:r>
          </a:p>
          <a:p>
            <a:pPr lvl="1"/>
            <a:r>
              <a:rPr lang="en-US" dirty="0" smtClean="0"/>
              <a:t>For guiding innovation</a:t>
            </a:r>
          </a:p>
          <a:p>
            <a:pPr lvl="1"/>
            <a:endParaRPr lang="en-US" dirty="0" smtClean="0"/>
          </a:p>
          <a:p>
            <a:pPr lvl="1">
              <a:buNone/>
            </a:pPr>
            <a:r>
              <a:rPr lang="en-US" dirty="0" smtClean="0"/>
              <a:t>* The focus is on Patients and Providers in the Healthcare Value Network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Enabling Value for Healthcare</a:t>
            </a:r>
            <a:endParaRPr lang="en-US" dirty="0"/>
          </a:p>
        </p:txBody>
      </p:sp>
      <p:sp>
        <p:nvSpPr>
          <p:cNvPr id="19" name="Flowchart: Process 18"/>
          <p:cNvSpPr/>
          <p:nvPr/>
        </p:nvSpPr>
        <p:spPr>
          <a:xfrm>
            <a:off x="381000" y="1524000"/>
            <a:ext cx="8382000" cy="40386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Healthcare Value Platform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22" name="Flowchart: Magnetic Disk 21"/>
          <p:cNvSpPr/>
          <p:nvPr/>
        </p:nvSpPr>
        <p:spPr>
          <a:xfrm>
            <a:off x="609600" y="25146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4" name="Flowchart: Magnetic Disk 23"/>
          <p:cNvSpPr/>
          <p:nvPr/>
        </p:nvSpPr>
        <p:spPr>
          <a:xfrm>
            <a:off x="762000" y="26670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26" name="Flowchart: Magnetic Disk 25"/>
          <p:cNvSpPr/>
          <p:nvPr/>
        </p:nvSpPr>
        <p:spPr>
          <a:xfrm>
            <a:off x="914400" y="2819400"/>
            <a:ext cx="1295400" cy="6096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Outcomes</a:t>
            </a:r>
            <a:endParaRPr lang="en-US" b="1" dirty="0"/>
          </a:p>
        </p:txBody>
      </p:sp>
      <p:sp>
        <p:nvSpPr>
          <p:cNvPr id="28" name="Down Arrow 27"/>
          <p:cNvSpPr/>
          <p:nvPr/>
        </p:nvSpPr>
        <p:spPr>
          <a:xfrm rot="16200000">
            <a:off x="2324100" y="3390900"/>
            <a:ext cx="457200" cy="381000"/>
          </a:xfrm>
          <a:prstGeom prst="downArrow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2" name="Diagram 31"/>
          <p:cNvGraphicFramePr/>
          <p:nvPr/>
        </p:nvGraphicFramePr>
        <p:xfrm>
          <a:off x="1981200" y="1600200"/>
          <a:ext cx="3429000" cy="3784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3" name="Flowchart: Magnetic Disk 32"/>
          <p:cNvSpPr/>
          <p:nvPr/>
        </p:nvSpPr>
        <p:spPr>
          <a:xfrm>
            <a:off x="914400" y="3810000"/>
            <a:ext cx="1295400" cy="838200"/>
          </a:xfrm>
          <a:prstGeom prst="flowChartMagneticDisk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Compliance</a:t>
            </a:r>
          </a:p>
          <a:p>
            <a:pPr algn="ctr"/>
            <a:r>
              <a:rPr lang="en-US" b="1" dirty="0" smtClean="0"/>
              <a:t>Rules</a:t>
            </a:r>
            <a:endParaRPr lang="en-US" b="1" dirty="0"/>
          </a:p>
        </p:txBody>
      </p:sp>
      <p:graphicFrame>
        <p:nvGraphicFramePr>
          <p:cNvPr id="38" name="Diagram 37"/>
          <p:cNvGraphicFramePr/>
          <p:nvPr/>
        </p:nvGraphicFramePr>
        <p:xfrm>
          <a:off x="4648200" y="2311400"/>
          <a:ext cx="4191000" cy="2336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838200" y="5715000"/>
            <a:ext cx="6934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 smtClean="0">
                <a:solidFill>
                  <a:schemeClr val="accent2">
                    <a:lumMod val="75000"/>
                  </a:schemeClr>
                </a:solidFill>
              </a:rPr>
              <a:t>Efficient value delivery for transforming healthcare and driving value</a:t>
            </a:r>
            <a:endParaRPr lang="en-US" sz="1400" b="1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Enabling Value for Healthcare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Build an innovation portfolio to drive value by:</a:t>
            </a:r>
          </a:p>
          <a:p>
            <a:pPr lvl="1"/>
            <a:r>
              <a:rPr lang="en-US" sz="2400" dirty="0" smtClean="0"/>
              <a:t>Creating a portfolio of outcomes that can be used by the 3 Ps to measure value.</a:t>
            </a:r>
          </a:p>
          <a:p>
            <a:pPr lvl="1"/>
            <a:r>
              <a:rPr lang="en-US" sz="2400" dirty="0" smtClean="0"/>
              <a:t>Creating a portfolio of opportunities (IP)*.</a:t>
            </a:r>
          </a:p>
          <a:p>
            <a:pPr lvl="1"/>
            <a:r>
              <a:rPr lang="en-US" sz="2400" dirty="0" smtClean="0"/>
              <a:t>Leveraging open innovation to create a portfolio of ideas to address unmet needs.</a:t>
            </a:r>
          </a:p>
          <a:p>
            <a:pPr lvl="1"/>
            <a:r>
              <a:rPr lang="en-US" sz="2400" dirty="0" smtClean="0"/>
              <a:t>Engaging innovators in a collaborative effort to create new products and services to solve the most important needs in healthcare.</a:t>
            </a:r>
          </a:p>
          <a:p>
            <a:pPr lvl="1"/>
            <a:r>
              <a:rPr lang="en-US" sz="2400" dirty="0" smtClean="0"/>
              <a:t>Aligning sustainable value delivery within a system of healthcare.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Engaging Providers &amp; Innovators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458200" cy="4830763"/>
          </a:xfrm>
        </p:spPr>
        <p:txBody>
          <a:bodyPr/>
          <a:lstStyle/>
          <a:p>
            <a:r>
              <a:rPr lang="en-US" dirty="0" smtClean="0"/>
              <a:t>Identifying priorities for healthcare upfront can:</a:t>
            </a:r>
          </a:p>
          <a:p>
            <a:pPr lvl="1"/>
            <a:r>
              <a:rPr lang="en-US" dirty="0" smtClean="0"/>
              <a:t>Reduce the risks for investments in new products and services.</a:t>
            </a:r>
          </a:p>
          <a:p>
            <a:pPr lvl="1"/>
            <a:r>
              <a:rPr lang="en-US" dirty="0" smtClean="0"/>
              <a:t>Focus 3</a:t>
            </a:r>
            <a:r>
              <a:rPr lang="en-US" baseline="30000" dirty="0" smtClean="0"/>
              <a:t>rd</a:t>
            </a:r>
            <a:r>
              <a:rPr lang="en-US" dirty="0" smtClean="0"/>
              <a:t> party resources more efficiently.</a:t>
            </a:r>
          </a:p>
          <a:p>
            <a:pPr lvl="1"/>
            <a:r>
              <a:rPr lang="en-US" dirty="0" smtClean="0"/>
              <a:t>Reduce the costs associated with investment planning.</a:t>
            </a:r>
          </a:p>
          <a:p>
            <a:pPr lvl="1"/>
            <a:r>
              <a:rPr lang="en-US" dirty="0" smtClean="0"/>
              <a:t>Reduce the cycle time for new products &amp; services addressing the most important needs in healthcare.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Engaging Providers &amp; Innovators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5237"/>
            <a:ext cx="8458200" cy="4830763"/>
          </a:xfrm>
        </p:spPr>
        <p:txBody>
          <a:bodyPr/>
          <a:lstStyle/>
          <a:p>
            <a:r>
              <a:rPr lang="en-US" dirty="0" smtClean="0"/>
              <a:t>Using a managed IP </a:t>
            </a:r>
            <a:r>
              <a:rPr lang="en-US" dirty="0" smtClean="0"/>
              <a:t>model will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Encourage open innovation to leverage mindshare across all disciplines to solve the healthcare needs.</a:t>
            </a:r>
          </a:p>
          <a:p>
            <a:pPr lvl="1"/>
            <a:r>
              <a:rPr lang="en-US" dirty="0" smtClean="0"/>
              <a:t>Promote collaboration instead of competition for new products &amp; services to:</a:t>
            </a:r>
          </a:p>
          <a:p>
            <a:pPr lvl="2"/>
            <a:r>
              <a:rPr lang="en-US" dirty="0" smtClean="0"/>
              <a:t>Bring new efficiencies to research and development.</a:t>
            </a:r>
          </a:p>
          <a:p>
            <a:pPr lvl="2"/>
            <a:r>
              <a:rPr lang="en-US" dirty="0" smtClean="0"/>
              <a:t>Reduce the costs and cycle time.</a:t>
            </a:r>
          </a:p>
          <a:p>
            <a:pPr lvl="2"/>
            <a:r>
              <a:rPr lang="en-US" dirty="0" smtClean="0"/>
              <a:t>Level the playing field of intellectual capital (IC) amongst providers and innovators.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Engaging Practitioners &amp; Patients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5237"/>
            <a:ext cx="8458200" cy="4830763"/>
          </a:xfrm>
        </p:spPr>
        <p:txBody>
          <a:bodyPr/>
          <a:lstStyle/>
          <a:p>
            <a:r>
              <a:rPr lang="en-US" dirty="0" smtClean="0"/>
              <a:t>Using a repository of </a:t>
            </a:r>
            <a:r>
              <a:rPr lang="en-US" dirty="0" smtClean="0"/>
              <a:t>outcomes will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Provide practitioners with a consistent set of metrics for measuring value with precision:</a:t>
            </a:r>
          </a:p>
          <a:p>
            <a:pPr lvl="2"/>
            <a:r>
              <a:rPr lang="en-US" dirty="0" smtClean="0"/>
              <a:t>Covering </a:t>
            </a:r>
            <a:r>
              <a:rPr lang="en-US" dirty="0" smtClean="0"/>
              <a:t>the realm of healthcare locations (hospitals, clinics, alternate site, and home)</a:t>
            </a:r>
          </a:p>
          <a:p>
            <a:pPr lvl="2"/>
            <a:r>
              <a:rPr lang="en-US" dirty="0" smtClean="0"/>
              <a:t>Covering the breadth </a:t>
            </a:r>
            <a:r>
              <a:rPr lang="en-US" dirty="0" smtClean="0"/>
              <a:t>of healthcare practitioners (physicians, nurses, pharmacists, specialists, etc</a:t>
            </a:r>
            <a:r>
              <a:rPr lang="en-US" dirty="0" smtClean="0"/>
              <a:t>.)</a:t>
            </a:r>
          </a:p>
          <a:p>
            <a:pPr lvl="2"/>
            <a:r>
              <a:rPr lang="en-US" dirty="0" smtClean="0"/>
              <a:t>Covering the flow of patients and the care they receive across the continuum of healthcare</a:t>
            </a:r>
          </a:p>
          <a:p>
            <a:pPr lvl="1"/>
            <a:r>
              <a:rPr lang="en-US" dirty="0" smtClean="0"/>
              <a:t>Provide </a:t>
            </a:r>
            <a:r>
              <a:rPr lang="en-US" dirty="0" smtClean="0"/>
              <a:t>the AMA with a </a:t>
            </a:r>
            <a:r>
              <a:rPr lang="en-US" dirty="0" smtClean="0"/>
              <a:t>consistent </a:t>
            </a:r>
            <a:r>
              <a:rPr lang="en-US" dirty="0" smtClean="0"/>
              <a:t>benchmark for evaluating healthcare products and services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Engaging Practitioners &amp; Patients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5237"/>
            <a:ext cx="8458200" cy="4830763"/>
          </a:xfrm>
        </p:spPr>
        <p:txBody>
          <a:bodyPr/>
          <a:lstStyle/>
          <a:p>
            <a:r>
              <a:rPr lang="en-US" dirty="0" smtClean="0"/>
              <a:t>Using a repository of </a:t>
            </a:r>
            <a:r>
              <a:rPr lang="en-US" dirty="0" smtClean="0"/>
              <a:t>outcomes </a:t>
            </a:r>
            <a:r>
              <a:rPr lang="en-US" dirty="0" smtClean="0"/>
              <a:t>will:</a:t>
            </a:r>
          </a:p>
          <a:p>
            <a:pPr lvl="1"/>
            <a:r>
              <a:rPr lang="en-US" dirty="0" smtClean="0"/>
              <a:t>Provide </a:t>
            </a:r>
            <a:r>
              <a:rPr lang="en-US" dirty="0" smtClean="0"/>
              <a:t>patients </a:t>
            </a:r>
            <a:r>
              <a:rPr lang="en-US" dirty="0" smtClean="0"/>
              <a:t>with a consistent benchmark </a:t>
            </a:r>
            <a:r>
              <a:rPr lang="en-US" dirty="0" smtClean="0"/>
              <a:t>for selecting products and services (including the practitioners) to meet their healthcare needs.</a:t>
            </a:r>
          </a:p>
          <a:p>
            <a:pPr lvl="1"/>
            <a:r>
              <a:rPr lang="en-US" dirty="0" smtClean="0"/>
              <a:t>Provide patients with consistent outcomes across the healthcare domain and throughout the continuum of care (from prevention to support).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Expanding the AMA membership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5237"/>
            <a:ext cx="8458200" cy="4830763"/>
          </a:xfrm>
        </p:spPr>
        <p:txBody>
          <a:bodyPr/>
          <a:lstStyle/>
          <a:p>
            <a:r>
              <a:rPr lang="en-US" dirty="0" smtClean="0"/>
              <a:t>Access to the outcomes and intellectual property will:</a:t>
            </a:r>
          </a:p>
          <a:p>
            <a:pPr lvl="1"/>
            <a:r>
              <a:rPr lang="en-US" dirty="0" smtClean="0"/>
              <a:t>Draw providers to become members where they can leverage their intellectual capital to deliver more efficient and effective value to practitioners and patients.</a:t>
            </a:r>
          </a:p>
          <a:p>
            <a:pPr lvl="1"/>
            <a:r>
              <a:rPr lang="en-US" dirty="0" smtClean="0"/>
              <a:t>Draw patients to become members where they can review value-driven measures about providers, practitioners, products and services to make informed choices about their healthcare needs.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19</a:t>
            </a:fld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Expanding the AMA membership model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5237"/>
            <a:ext cx="8458200" cy="4830763"/>
          </a:xfrm>
        </p:spPr>
        <p:txBody>
          <a:bodyPr/>
          <a:lstStyle/>
          <a:p>
            <a:r>
              <a:rPr lang="en-US" dirty="0" smtClean="0"/>
              <a:t>Access to the outcomes and intellectual property will:</a:t>
            </a:r>
          </a:p>
          <a:p>
            <a:pPr lvl="1"/>
            <a:r>
              <a:rPr lang="en-US" dirty="0" smtClean="0"/>
              <a:t>Draw practitioners across the healthcare domain where they can review select the products and services that help them deliver the best care for their patients.</a:t>
            </a:r>
          </a:p>
          <a:p>
            <a:pPr lvl="1"/>
            <a:r>
              <a:rPr lang="en-US" dirty="0" smtClean="0"/>
              <a:t>Draw membership from private and public sectors who are interested leveraging the information to optimize care for their employees.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 Expanded Membership Model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21</a:t>
            </a:fld>
            <a:endParaRPr lang="en-US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1828800" y="1371600"/>
          <a:ext cx="6553200" cy="477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124200" y="5334000"/>
            <a:ext cx="1981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 smtClean="0"/>
              <a:t>AMA</a:t>
            </a:r>
            <a:endParaRPr lang="en-US" sz="40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381000" y="1524000"/>
            <a:ext cx="2895600" cy="2462213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 smtClean="0"/>
              <a:t>Guiding the Providers to deliver value to Patients &amp; Practitioners</a:t>
            </a:r>
          </a:p>
          <a:p>
            <a:endParaRPr lang="en-US" sz="1400" dirty="0" smtClean="0"/>
          </a:p>
          <a:p>
            <a:r>
              <a:rPr lang="en-US" sz="1400" dirty="0" smtClean="0"/>
              <a:t>Guiding Practitioners to measure and optimize the value they deliver to Patients</a:t>
            </a:r>
          </a:p>
          <a:p>
            <a:endParaRPr lang="en-US" sz="1400" dirty="0" smtClean="0"/>
          </a:p>
          <a:p>
            <a:r>
              <a:rPr lang="en-US" sz="1400" dirty="0" smtClean="0"/>
              <a:t>Providing Patients with a way to measure the value they should be receiving for healthcare throughout the continuum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Reducing Costs &amp; Driving Value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82000" cy="4830763"/>
          </a:xfrm>
        </p:spPr>
        <p:txBody>
          <a:bodyPr/>
          <a:lstStyle/>
          <a:p>
            <a:r>
              <a:rPr lang="en-US" dirty="0" smtClean="0"/>
              <a:t>Today…</a:t>
            </a:r>
          </a:p>
          <a:p>
            <a:pPr lvl="1"/>
            <a:r>
              <a:rPr lang="en-US" dirty="0" smtClean="0"/>
              <a:t>Every company creates value based on their own perceived understanding of customer</a:t>
            </a:r>
            <a:r>
              <a:rPr lang="en-US" dirty="0" smtClean="0">
                <a:solidFill>
                  <a:srgbClr val="0070C0"/>
                </a:solidFill>
              </a:rPr>
              <a:t>*</a:t>
            </a:r>
            <a:r>
              <a:rPr lang="en-US" dirty="0" smtClean="0"/>
              <a:t> needs.</a:t>
            </a:r>
          </a:p>
          <a:p>
            <a:r>
              <a:rPr lang="en-US" dirty="0" smtClean="0"/>
              <a:t>Tomorrow…</a:t>
            </a:r>
          </a:p>
          <a:p>
            <a:pPr lvl="1"/>
            <a:r>
              <a:rPr lang="en-US" dirty="0" smtClean="0"/>
              <a:t>The AMA can provide a beacon of </a:t>
            </a:r>
            <a:r>
              <a:rPr lang="en-US" dirty="0" smtClean="0"/>
              <a:t>leadership </a:t>
            </a:r>
            <a:r>
              <a:rPr lang="en-US" dirty="0" smtClean="0"/>
              <a:t>to:</a:t>
            </a:r>
          </a:p>
          <a:p>
            <a:pPr lvl="2"/>
            <a:r>
              <a:rPr lang="en-US" dirty="0" smtClean="0"/>
              <a:t>Understand customer needs throughout healthcare</a:t>
            </a:r>
          </a:p>
          <a:p>
            <a:pPr lvl="2"/>
            <a:r>
              <a:rPr lang="en-US" dirty="0" smtClean="0"/>
              <a:t>Guide providers to build the right products &amp; services</a:t>
            </a:r>
          </a:p>
          <a:p>
            <a:pPr lvl="2"/>
            <a:r>
              <a:rPr lang="en-US" dirty="0" smtClean="0"/>
              <a:t>Deliver value to customers</a:t>
            </a:r>
            <a:r>
              <a:rPr lang="en-US" dirty="0" smtClean="0">
                <a:solidFill>
                  <a:srgbClr val="0070C0"/>
                </a:solidFill>
              </a:rPr>
              <a:t>*</a:t>
            </a:r>
            <a:r>
              <a:rPr lang="en-US" dirty="0" smtClean="0"/>
              <a:t> throughout the healthcare continuum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743200" y="5715000"/>
            <a:ext cx="32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070C0"/>
                </a:solidFill>
              </a:rPr>
              <a:t>* Practitioners &amp; Patients</a:t>
            </a:r>
            <a:endParaRPr lang="en-US" b="1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New Business Model for Creating Value</a:t>
            </a:r>
            <a:endParaRPr lang="en-US" dirty="0"/>
          </a:p>
        </p:txBody>
      </p:sp>
      <p:graphicFrame>
        <p:nvGraphicFramePr>
          <p:cNvPr id="4" name="Diagram 3"/>
          <p:cNvGraphicFramePr/>
          <p:nvPr/>
        </p:nvGraphicFramePr>
        <p:xfrm>
          <a:off x="1905000" y="1752600"/>
          <a:ext cx="5334000" cy="3937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886200" y="3429000"/>
            <a:ext cx="1371600" cy="7615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52400" y="1752601"/>
            <a:ext cx="1752600" cy="3886200"/>
          </a:xfrm>
        </p:spPr>
        <p:txBody>
          <a:bodyPr/>
          <a:lstStyle/>
          <a:p>
            <a:pPr marL="168275" indent="-168275"/>
            <a:r>
              <a:rPr lang="en-US" sz="1400" dirty="0" smtClean="0"/>
              <a:t>Provides new value creation</a:t>
            </a:r>
          </a:p>
          <a:p>
            <a:pPr marL="168275" indent="-168275"/>
            <a:r>
              <a:rPr lang="en-US" sz="1400" dirty="0" smtClean="0"/>
              <a:t>Repositioned for leading healthcare change</a:t>
            </a:r>
          </a:p>
          <a:p>
            <a:pPr marL="168275" indent="-168275"/>
            <a:r>
              <a:rPr lang="en-US" sz="1400" dirty="0" smtClean="0"/>
              <a:t>Relevant to all Providers, Practitioners, and Patients</a:t>
            </a:r>
          </a:p>
          <a:p>
            <a:pPr marL="168275" indent="-168275"/>
            <a:r>
              <a:rPr lang="en-US" sz="1400" dirty="0" smtClean="0"/>
              <a:t>Provides thought leadership for guiding change and innovation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 bwMode="auto">
          <a:xfrm>
            <a:off x="7239000" y="1752601"/>
            <a:ext cx="17526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168275" marR="0" lvl="0" indent="-1682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ＭＳ Ｐゴシック" pitchFamily="-110" charset="-128"/>
                <a:cs typeface="+mn-cs"/>
              </a:rPr>
              <a:t>Orchestrates a unified value network for delivering efficient, affordable, and accessible healthcare to meet the unmet needs of customers </a:t>
            </a:r>
          </a:p>
          <a:p>
            <a:pPr marL="168275" marR="0" lvl="0" indent="-16827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US" sz="1400" noProof="0" dirty="0" smtClean="0">
                <a:latin typeface="+mn-lt"/>
                <a:ea typeface="ＭＳ Ｐゴシック" pitchFamily="-110" charset="-128"/>
                <a:cs typeface="+mn-cs"/>
              </a:rPr>
              <a:t>Ensures value can be measured, improved,  and sustained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ＭＳ Ｐゴシック" pitchFamily="-110" charset="-128"/>
              <a:cs typeface="+mn-cs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23</a:t>
            </a:fld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Positioning the AMA to Lead Healthcare Reform</a:t>
            </a:r>
            <a:endParaRPr lang="en-US" dirty="0"/>
          </a:p>
        </p:txBody>
      </p:sp>
      <p:sp>
        <p:nvSpPr>
          <p:cNvPr id="4" name="Flowchart: Process 3"/>
          <p:cNvSpPr/>
          <p:nvPr/>
        </p:nvSpPr>
        <p:spPr>
          <a:xfrm>
            <a:off x="381000" y="1524000"/>
            <a:ext cx="8382000" cy="4648200"/>
          </a:xfrm>
          <a:prstGeom prst="flowChartProcess">
            <a:avLst/>
          </a:prstGeom>
          <a:gradFill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54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US" b="1" dirty="0">
              <a:solidFill>
                <a:schemeClr val="tx1"/>
              </a:solidFill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2133600" y="1600200"/>
            <a:ext cx="4648200" cy="53340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6" name="Rounded Rectangle 5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9530" tIns="49530" rIns="49530" bIns="4953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kern="1200" dirty="0" smtClean="0"/>
                <a:t>AMA (Globally Focused)</a:t>
              </a:r>
              <a:endParaRPr lang="en-US" sz="1300" b="1" kern="1200" dirty="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10668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9" name="Rounded Rectangle 8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0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9530" tIns="49530" rIns="49530" bIns="4953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kern="1200" dirty="0" smtClean="0"/>
                <a:t>Healthcare</a:t>
              </a:r>
            </a:p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dirty="0" smtClean="0"/>
                <a:t>Advocacy</a:t>
              </a:r>
            </a:p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dirty="0" smtClean="0"/>
                <a:t>Groups</a:t>
              </a:r>
              <a:endParaRPr lang="en-US" sz="1300" b="1" kern="1200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4384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12" name="Rounded Rectangle 11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9530" tIns="49530" rIns="49530" bIns="4953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kern="1200" dirty="0" smtClean="0"/>
                <a:t>Healthcare</a:t>
              </a:r>
            </a:p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dirty="0" smtClean="0"/>
                <a:t>Disciplines</a:t>
              </a:r>
              <a:endParaRPr lang="en-US" sz="1300" b="1" kern="1200" dirty="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38481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15" name="Rounded Rectangle 14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9530" tIns="49530" rIns="49530" bIns="4953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kern="1200" dirty="0" smtClean="0"/>
                <a:t>Providers</a:t>
              </a:r>
            </a:p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dirty="0" smtClean="0"/>
                <a:t>(Products &amp; Services)</a:t>
              </a:r>
              <a:endParaRPr lang="en-US" sz="1300" b="1" kern="1200" dirty="0"/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52197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18" name="Rounded Rectangle 17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9530" tIns="49530" rIns="49530" bIns="4953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kern="1200" dirty="0" smtClean="0"/>
                <a:t>Institutions</a:t>
              </a:r>
              <a:endParaRPr lang="en-US" sz="1300" b="1" kern="1200" dirty="0"/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629400" y="2438400"/>
            <a:ext cx="1257300" cy="934720"/>
            <a:chOff x="142019" y="701040"/>
            <a:chExt cx="1257300" cy="934720"/>
          </a:xfrm>
          <a:scene3d>
            <a:camera prst="orthographicFront"/>
            <a:lightRig rig="threePt" dir="t"/>
          </a:scene3d>
        </p:grpSpPr>
        <p:sp>
          <p:nvSpPr>
            <p:cNvPr id="22" name="Rounded Rectangle 21"/>
            <p:cNvSpPr/>
            <p:nvPr/>
          </p:nvSpPr>
          <p:spPr>
            <a:xfrm>
              <a:off x="142019" y="701040"/>
              <a:ext cx="1257300" cy="934720"/>
            </a:xfrm>
            <a:prstGeom prst="roundRect">
              <a:avLst/>
            </a:prstGeom>
            <a:sp3d>
              <a:bevelT/>
            </a:sp3d>
          </p:spPr>
          <p:style>
            <a:lnRef idx="0">
              <a:schemeClr val="lt1">
                <a:hueOff val="0"/>
                <a:satOff val="0"/>
                <a:lumOff val="0"/>
                <a:alphaOff val="0"/>
              </a:schemeClr>
            </a:lnRef>
            <a:fillRef idx="3">
              <a:schemeClr val="accent1">
                <a:hueOff val="0"/>
                <a:satOff val="0"/>
                <a:lumOff val="0"/>
                <a:alphaOff val="0"/>
              </a:schemeClr>
            </a:fillRef>
            <a:effectRef idx="2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Rounded Rectangle 4"/>
            <p:cNvSpPr/>
            <p:nvPr/>
          </p:nvSpPr>
          <p:spPr>
            <a:xfrm>
              <a:off x="187648" y="746669"/>
              <a:ext cx="1166042" cy="843462"/>
            </a:xfrm>
            <a:prstGeom prst="rect">
              <a:avLst/>
            </a:prstGeom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49530" tIns="49530" rIns="49530" bIns="49530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300" b="1" kern="1200" dirty="0" smtClean="0"/>
                <a:t>Government Bodies</a:t>
              </a:r>
              <a:endParaRPr lang="en-US" sz="1300" b="1" kern="1200" dirty="0"/>
            </a:p>
          </p:txBody>
        </p:sp>
      </p:grpSp>
      <p:sp>
        <p:nvSpPr>
          <p:cNvPr id="25" name="Pentagon 24"/>
          <p:cNvSpPr/>
          <p:nvPr/>
        </p:nvSpPr>
        <p:spPr>
          <a:xfrm>
            <a:off x="381000" y="5562600"/>
            <a:ext cx="7543800" cy="609600"/>
          </a:xfrm>
          <a:prstGeom prst="homePlate">
            <a:avLst/>
          </a:prstGeom>
          <a:gradFill flip="none" rotWithShape="1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Driving Innovation</a:t>
            </a:r>
            <a:endParaRPr lang="en-US" b="1" dirty="0"/>
          </a:p>
        </p:txBody>
      </p:sp>
      <p:sp>
        <p:nvSpPr>
          <p:cNvPr id="28" name="Pentagon 27"/>
          <p:cNvSpPr/>
          <p:nvPr/>
        </p:nvSpPr>
        <p:spPr>
          <a:xfrm rot="16200000">
            <a:off x="6057900" y="3467100"/>
            <a:ext cx="4648200" cy="762000"/>
          </a:xfrm>
          <a:prstGeom prst="homePlate">
            <a:avLst/>
          </a:prstGeom>
          <a:gradFill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10800000" scaled="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/>
              <a:t>Enabling Value</a:t>
            </a:r>
            <a:endParaRPr lang="en-US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2133600" y="3581400"/>
            <a:ext cx="48006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8275" indent="-168275">
              <a:buFont typeface="Arial" pitchFamily="34" charset="0"/>
              <a:buChar char="•"/>
            </a:pPr>
            <a:r>
              <a:rPr lang="en-US" b="1" i="1" dirty="0" smtClean="0"/>
              <a:t>Advocacy Body for:</a:t>
            </a:r>
          </a:p>
          <a:p>
            <a:pPr marL="625475" lvl="1" indent="-168275">
              <a:buFont typeface="Arial" pitchFamily="34" charset="0"/>
              <a:buChar char="•"/>
            </a:pPr>
            <a:r>
              <a:rPr lang="en-US" b="1" i="1" dirty="0" smtClean="0"/>
              <a:t>Value enablement</a:t>
            </a:r>
          </a:p>
          <a:p>
            <a:pPr marL="625475" lvl="1" indent="-168275">
              <a:buFont typeface="Arial" pitchFamily="34" charset="0"/>
              <a:buChar char="•"/>
            </a:pPr>
            <a:r>
              <a:rPr lang="en-US" b="1" i="1" dirty="0" smtClean="0"/>
              <a:t>Value capture &amp; measurement</a:t>
            </a:r>
          </a:p>
          <a:p>
            <a:pPr marL="625475" lvl="1" indent="-168275">
              <a:buFont typeface="Arial" pitchFamily="34" charset="0"/>
              <a:buChar char="•"/>
            </a:pPr>
            <a:r>
              <a:rPr lang="en-US" b="1" i="1" dirty="0" smtClean="0"/>
              <a:t>Collaboration  </a:t>
            </a:r>
          </a:p>
          <a:p>
            <a:pPr marL="625475" lvl="1" indent="-168275">
              <a:buFont typeface="Arial" pitchFamily="34" charset="0"/>
              <a:buChar char="•"/>
            </a:pPr>
            <a:r>
              <a:rPr lang="en-US" b="1" i="1" dirty="0" smtClean="0"/>
              <a:t>Unification &amp; cooperation</a:t>
            </a:r>
          </a:p>
          <a:p>
            <a:pPr marL="625475" lvl="1" indent="-168275">
              <a:buFont typeface="Arial" pitchFamily="34" charset="0"/>
              <a:buChar char="•"/>
            </a:pPr>
            <a:r>
              <a:rPr lang="en-US" b="1" i="1" dirty="0" smtClean="0"/>
              <a:t>Reform &amp; Sustainable Innovation</a:t>
            </a:r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24</a:t>
            </a:fld>
            <a:endParaRPr 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Prepared by </a:t>
            </a:r>
          </a:p>
          <a:p>
            <a:pPr lvl="1"/>
            <a:r>
              <a:rPr lang="en-US" dirty="0" smtClean="0"/>
              <a:t>Jeffrey Wallk (Managing Partner)</a:t>
            </a:r>
          </a:p>
          <a:p>
            <a:pPr lvl="1"/>
            <a:r>
              <a:rPr lang="en-US" dirty="0" smtClean="0"/>
              <a:t>Helene Sigman (Principle Consultant)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8D26F5A-CFD1-4443-B8D2-F55750699CD5}" type="slidenum">
              <a:rPr lang="en-US" smtClean="0"/>
              <a:pPr/>
              <a:t>25</a:t>
            </a:fld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E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VEG</Template>
  <TotalTime>6537</TotalTime>
  <Words>1630</Words>
  <Application>Microsoft Office PowerPoint</Application>
  <PresentationFormat>On-screen Show (4:3)</PresentationFormat>
  <Paragraphs>248</Paragraphs>
  <Slides>25</Slides>
  <Notes>25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VEG</vt:lpstr>
      <vt:lpstr>A New Value Proposition for the AMA</vt:lpstr>
      <vt:lpstr>Outline</vt:lpstr>
      <vt:lpstr>Current Challenges</vt:lpstr>
      <vt:lpstr>AMA’s Role in Healthcare Reform</vt:lpstr>
      <vt:lpstr>Needs of the Providers</vt:lpstr>
      <vt:lpstr>Needs of the Practitioners</vt:lpstr>
      <vt:lpstr>Needs of the Patients</vt:lpstr>
      <vt:lpstr>AMA’s Opportunity to enable Value</vt:lpstr>
      <vt:lpstr>AMA at the forefront of Healthcare</vt:lpstr>
      <vt:lpstr>Moving from Assumptions to Implementation</vt:lpstr>
      <vt:lpstr>Value Measurement Platform for Healthcare</vt:lpstr>
      <vt:lpstr>Measuring Value for Healthcare</vt:lpstr>
      <vt:lpstr>Enabling Value for Healthcare</vt:lpstr>
      <vt:lpstr>Enabling Value for Healthcare</vt:lpstr>
      <vt:lpstr>Engaging Providers &amp; Innovators</vt:lpstr>
      <vt:lpstr>Engaging Providers &amp; Innovators</vt:lpstr>
      <vt:lpstr>Engaging Practitioners &amp; Patients</vt:lpstr>
      <vt:lpstr>Engaging Practitioners &amp; Patients</vt:lpstr>
      <vt:lpstr>Expanding the AMA membership model</vt:lpstr>
      <vt:lpstr>Expanding the AMA membership model</vt:lpstr>
      <vt:lpstr>An Expanded Membership Model</vt:lpstr>
      <vt:lpstr>Reducing Costs &amp; Driving Value</vt:lpstr>
      <vt:lpstr>A New Business Model for Creating Value</vt:lpstr>
      <vt:lpstr>Positioning the AMA to Lead Healthcare Reform</vt:lpstr>
      <vt:lpstr>Thank You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Value Delivery Model</dc:title>
  <dc:creator>jw</dc:creator>
  <cp:lastModifiedBy>jw</cp:lastModifiedBy>
  <cp:revision>93</cp:revision>
  <dcterms:created xsi:type="dcterms:W3CDTF">2009-06-09T11:36:35Z</dcterms:created>
  <dcterms:modified xsi:type="dcterms:W3CDTF">2009-08-13T18:00:38Z</dcterms:modified>
</cp:coreProperties>
</file>
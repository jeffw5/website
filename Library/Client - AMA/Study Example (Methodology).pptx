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14"/>
  </p:notesMasterIdLst>
  <p:handoutMasterIdLst>
    <p:handoutMasterId r:id="rId15"/>
  </p:handoutMasterIdLst>
  <p:sldIdLst>
    <p:sldId id="278" r:id="rId2"/>
    <p:sldId id="279" r:id="rId3"/>
    <p:sldId id="280" r:id="rId4"/>
    <p:sldId id="281" r:id="rId5"/>
    <p:sldId id="282" r:id="rId6"/>
    <p:sldId id="283" r:id="rId7"/>
    <p:sldId id="348" r:id="rId8"/>
    <p:sldId id="349" r:id="rId9"/>
    <p:sldId id="350" r:id="rId10"/>
    <p:sldId id="351" r:id="rId11"/>
    <p:sldId id="352" r:id="rId12"/>
    <p:sldId id="277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77" autoAdjust="0"/>
    <p:restoredTop sz="94660"/>
  </p:normalViewPr>
  <p:slideViewPr>
    <p:cSldViewPr>
      <p:cViewPr varScale="1">
        <p:scale>
          <a:sx n="71" d="100"/>
          <a:sy n="71" d="100"/>
        </p:scale>
        <p:origin x="-15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DD8D3DF-C8E7-400F-A470-C35BFABFEA8B}" type="datetime1">
              <a:rPr lang="en-US"/>
              <a:pPr>
                <a:defRPr/>
              </a:pPr>
              <a:t>1/30/2010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DFC0378-E924-45D2-833F-2407825596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BA5DA134-F246-4A0D-B32C-1C816EB1D884}" type="datetime1">
              <a:rPr lang="en-US"/>
              <a:pPr>
                <a:defRPr/>
              </a:pPr>
              <a:t>1/30/2010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D8C2B3F5-6F9B-4CB9-8D11-1CB8B4199FB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724FB15-D4DD-42F5-8CEF-6AFF62F6DDF1}" type="slidenum">
              <a:rPr lang="en-US" smtClean="0">
                <a:latin typeface="Calibri" pitchFamily="34" charset="0"/>
              </a:rPr>
              <a:pPr/>
              <a:t>12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8A67391-9C2F-4576-BC27-1C9C10A952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10"/>
          <p:cNvSpPr>
            <a:spLocks noGrp="1"/>
          </p:cNvSpPr>
          <p:nvPr>
            <p:ph type="sldNum" sz="quarter" idx="10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B17766A0-4E7E-4346-9845-753A3E560A4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887C531-DA27-446A-8A3B-0540AE8DE5B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FC9C5604-86D9-4EB0-BC59-58A9D6CCB31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DCA6F392-9C2D-4F42-B20A-C1BECCDA9F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B372FCA7-C354-429C-9ED2-828CB4DE6D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DBBCB50-9D3D-47BD-8364-0BC282FB85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6D52CC7-5F5A-4913-8F2B-3DD5AAB29E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98569EF-EF0C-43C2-A2A7-1FCA48F5D3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C33277A-904F-48AA-BB90-3186DF325E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fld id="{5D87D35D-A695-453C-87D5-A9ECB16D7C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8"/>
          <p:cNvSpPr>
            <a:spLocks noGrp="1" noChangeArrowheads="1"/>
          </p:cNvSpPr>
          <p:nvPr>
            <p:ph type="ctrTitle"/>
          </p:nvPr>
        </p:nvSpPr>
        <p:spPr>
          <a:xfrm>
            <a:off x="1447800" y="3124200"/>
            <a:ext cx="7315200" cy="1470025"/>
          </a:xfrm>
        </p:spPr>
        <p:txBody>
          <a:bodyPr/>
          <a:lstStyle/>
          <a:p>
            <a:pPr eaLnBrk="1" hangingPunct="1"/>
            <a:r>
              <a:rPr lang="en-GB" sz="2800" b="1" dirty="0" smtClean="0"/>
              <a:t>Analysis of the Total Market General Infusion Pump data for the Job of Infusing Therapeutic Agents in a Hospital Setting</a:t>
            </a:r>
            <a:r>
              <a:rPr lang="en-GB" sz="2000" dirty="0" smtClean="0"/>
              <a:t/>
            </a:r>
            <a:br>
              <a:rPr lang="en-GB" sz="2000" dirty="0" smtClean="0"/>
            </a:br>
            <a:endParaRPr lang="en-GB" sz="2000" dirty="0" smtClean="0"/>
          </a:p>
        </p:txBody>
      </p:sp>
      <p:sp>
        <p:nvSpPr>
          <p:cNvPr id="18434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2590800" y="4724400"/>
            <a:ext cx="4851400" cy="838200"/>
          </a:xfrm>
        </p:spPr>
        <p:txBody>
          <a:bodyPr/>
          <a:lstStyle/>
          <a:p>
            <a:pPr eaLnBrk="1" hangingPunct="1">
              <a:buFont typeface="Times"/>
              <a:buNone/>
            </a:pPr>
            <a:r>
              <a:rPr lang="en-GB" sz="1600" b="1" dirty="0" smtClean="0"/>
              <a:t>Analysis of nurse responses working with Adults  &amp; Paediatrics in the ICU, and Other Units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3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Respondent Demographics</a:t>
            </a:r>
          </a:p>
        </p:txBody>
      </p:sp>
      <p:graphicFrame>
        <p:nvGraphicFramePr>
          <p:cNvPr id="19494" name="Group 38"/>
          <p:cNvGraphicFramePr>
            <a:graphicFrameLocks noGrp="1"/>
          </p:cNvGraphicFramePr>
          <p:nvPr>
            <p:ph idx="1"/>
          </p:nvPr>
        </p:nvGraphicFramePr>
        <p:xfrm>
          <a:off x="457200" y="1295400"/>
          <a:ext cx="8229600" cy="2386648"/>
        </p:xfrm>
        <a:graphic>
          <a:graphicData uri="http://schemas.openxmlformats.org/drawingml/2006/table">
            <a:tbl>
              <a:tblPr/>
              <a:tblGrid>
                <a:gridCol w="4229672"/>
                <a:gridCol w="1639062"/>
                <a:gridCol w="1179576"/>
                <a:gridCol w="1181290"/>
              </a:tblGrid>
              <a:tr h="393700">
                <a:tc>
                  <a:txBody>
                    <a:bodyPr/>
                    <a:lstStyle/>
                    <a:p>
                      <a:pPr marL="234950" marR="0" lvl="0" indent="-23495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marL="98755" marR="9875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</a:rPr>
                        <a:t>Type of Nurse</a:t>
                      </a:r>
                    </a:p>
                  </a:txBody>
                  <a:tcPr marL="98755" marR="9875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</a:rPr>
                        <a:t>#</a:t>
                      </a:r>
                    </a:p>
                  </a:txBody>
                  <a:tcPr marL="98755" marR="9875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</a:rPr>
                        <a:t>%</a:t>
                      </a:r>
                    </a:p>
                  </a:txBody>
                  <a:tcPr marL="98755" marR="9875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2788">
                <a:tc>
                  <a:txBody>
                    <a:bodyPr/>
                    <a:lstStyle/>
                    <a:p>
                      <a:pPr marL="234950" marR="0" lvl="0" indent="-23495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S12b. Do you work on either a Medical-Surgical or in an Intensive Care Unit? If yes, which one? If no, indicate the unit in which you work.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marL="98755" marR="9875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Medical-Surgical – Adult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marL="98755" marR="9875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124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marL="98755" marR="9875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37.20%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marL="98755" marR="9875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 rowSpan="4">
                  <a:txBody>
                    <a:bodyPr/>
                    <a:lstStyle/>
                    <a:p>
                      <a:pPr marL="234950" marR="0" lvl="0" indent="-23495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"/>
                        </a:rPr>
                        <a:t> 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  <a:p>
                      <a:pPr marL="234950" marR="0" lvl="0" indent="-23495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"/>
                        </a:rPr>
                        <a:t> 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  <a:p>
                      <a:pPr marL="234950" marR="0" lvl="0" indent="-23495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"/>
                        </a:rPr>
                        <a:t> 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  <a:p>
                      <a:pPr marL="234950" marR="0" lvl="0" indent="-23495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"/>
                        </a:rPr>
                        <a:t> 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marL="98755" marR="9875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Medical-Surgical – Pediatric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marL="98755" marR="9875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20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marL="98755" marR="9875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6.00%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marL="98755" marR="9875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0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34950" marR="0" lvl="0" indent="-23495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ICU – Adult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marL="98755" marR="9875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145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marL="98755" marR="9875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43.50%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marL="98755" marR="9875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0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34950" marR="0" lvl="0" indent="-23495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ICU – Pediatric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marL="98755" marR="9875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13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marL="98755" marR="9875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3.90%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marL="98755" marR="9875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34950" marR="0" lvl="0" indent="-23495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No, other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marL="98755" marR="9875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31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marL="98755" marR="9875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9.30%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marL="98755" marR="9875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492" name="Text Box 137"/>
          <p:cNvSpPr txBox="1">
            <a:spLocks noChangeArrowheads="1"/>
          </p:cNvSpPr>
          <p:nvPr/>
        </p:nvSpPr>
        <p:spPr bwMode="auto">
          <a:xfrm>
            <a:off x="1131888" y="4154488"/>
            <a:ext cx="5573712" cy="210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1200" b="1">
                <a:solidFill>
                  <a:srgbClr val="040404"/>
                </a:solidFill>
              </a:rPr>
              <a:t>Nurses that responded as “Other”:  10 different units represented</a:t>
            </a:r>
          </a:p>
          <a:p>
            <a:pPr eaLnBrk="0" hangingPunct="0">
              <a:buFontTx/>
              <a:buChar char="•"/>
            </a:pPr>
            <a:r>
              <a:rPr lang="en-US" sz="1200">
                <a:solidFill>
                  <a:srgbClr val="040404"/>
                </a:solidFill>
              </a:rPr>
              <a:t>ER – 7</a:t>
            </a:r>
          </a:p>
          <a:p>
            <a:pPr eaLnBrk="0" hangingPunct="0">
              <a:buFontTx/>
              <a:buChar char="•"/>
            </a:pPr>
            <a:r>
              <a:rPr lang="en-US" sz="1200">
                <a:solidFill>
                  <a:srgbClr val="040404"/>
                </a:solidFill>
              </a:rPr>
              <a:t>Cardiac:  telemetry, testing, ICU, interventional</a:t>
            </a:r>
          </a:p>
          <a:p>
            <a:pPr eaLnBrk="0" hangingPunct="0">
              <a:buFontTx/>
              <a:buChar char="•"/>
            </a:pPr>
            <a:r>
              <a:rPr lang="en-US" sz="1200">
                <a:solidFill>
                  <a:srgbClr val="040404"/>
                </a:solidFill>
              </a:rPr>
              <a:t>Birthing center – 2</a:t>
            </a:r>
          </a:p>
          <a:p>
            <a:pPr eaLnBrk="0" hangingPunct="0">
              <a:buFontTx/>
              <a:buChar char="•"/>
            </a:pPr>
            <a:r>
              <a:rPr lang="en-US" sz="1200">
                <a:solidFill>
                  <a:srgbClr val="040404"/>
                </a:solidFill>
              </a:rPr>
              <a:t>Inpatient dialysis</a:t>
            </a:r>
          </a:p>
          <a:p>
            <a:pPr eaLnBrk="0" hangingPunct="0">
              <a:buFontTx/>
              <a:buChar char="•"/>
            </a:pPr>
            <a:r>
              <a:rPr lang="en-US" sz="1200">
                <a:solidFill>
                  <a:srgbClr val="040404"/>
                </a:solidFill>
              </a:rPr>
              <a:t>Inpatient oncology</a:t>
            </a:r>
          </a:p>
          <a:p>
            <a:pPr eaLnBrk="0" hangingPunct="0">
              <a:buFontTx/>
              <a:buChar char="•"/>
            </a:pPr>
            <a:r>
              <a:rPr lang="en-US" sz="1200">
                <a:solidFill>
                  <a:srgbClr val="040404"/>
                </a:solidFill>
              </a:rPr>
              <a:t>Imaging – 2</a:t>
            </a:r>
          </a:p>
          <a:p>
            <a:pPr eaLnBrk="0" hangingPunct="0">
              <a:buFontTx/>
              <a:buChar char="•"/>
            </a:pPr>
            <a:r>
              <a:rPr lang="en-US" sz="1200">
                <a:solidFill>
                  <a:srgbClr val="040404"/>
                </a:solidFill>
              </a:rPr>
              <a:t>NICU</a:t>
            </a:r>
          </a:p>
          <a:p>
            <a:pPr eaLnBrk="0" hangingPunct="0">
              <a:buFontTx/>
              <a:buChar char="•"/>
            </a:pPr>
            <a:r>
              <a:rPr lang="en-US" sz="1200">
                <a:solidFill>
                  <a:srgbClr val="040404"/>
                </a:solidFill>
              </a:rPr>
              <a:t>Outpatient clinic</a:t>
            </a:r>
          </a:p>
          <a:p>
            <a:pPr eaLnBrk="0" hangingPunct="0">
              <a:buFontTx/>
              <a:buChar char="•"/>
            </a:pPr>
            <a:r>
              <a:rPr lang="en-US" sz="1200">
                <a:solidFill>
                  <a:srgbClr val="040404"/>
                </a:solidFill>
              </a:rPr>
              <a:t>Progressive care</a:t>
            </a:r>
          </a:p>
          <a:p>
            <a:pPr eaLnBrk="0" hangingPunct="0">
              <a:buFontTx/>
              <a:buChar char="•"/>
            </a:pPr>
            <a:endParaRPr lang="en-US" sz="1200">
              <a:solidFill>
                <a:srgbClr val="04040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Total Market Opportunities Job Map</a:t>
            </a:r>
          </a:p>
        </p:txBody>
      </p:sp>
      <p:pic>
        <p:nvPicPr>
          <p:cNvPr id="20482" name="Picture 3" descr="rnwf_091908b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608907" y="1310481"/>
            <a:ext cx="7926185" cy="48006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Step 1:  Assess the Patient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Key Messages:</a:t>
            </a:r>
          </a:p>
          <a:p>
            <a:pPr lvl="1"/>
            <a:r>
              <a:rPr lang="en-US" sz="2400" dirty="0" smtClean="0">
                <a:solidFill>
                  <a:srgbClr val="0033CC"/>
                </a:solidFill>
              </a:rPr>
              <a:t>Pediatric nurses are especially concerned with minimizing trauma and/or adverse events for their patients.  They are also very sensitive to the cycle time required to obtain information to assess whether the patient is responding to the therapy.  </a:t>
            </a:r>
          </a:p>
          <a:p>
            <a:pPr lvl="1"/>
            <a:r>
              <a:rPr lang="en-US" sz="2400" dirty="0" smtClean="0">
                <a:solidFill>
                  <a:srgbClr val="0033CC"/>
                </a:solidFill>
              </a:rPr>
              <a:t>Extreme opportunity to ensure pediatric nurses have the alerts &amp; available knowledge to determine if a given patient condition contraindicates the therapy.</a:t>
            </a:r>
          </a:p>
          <a:p>
            <a:pPr lvl="1"/>
            <a:r>
              <a:rPr lang="en-US" sz="2400" dirty="0" smtClean="0">
                <a:solidFill>
                  <a:srgbClr val="0033CC"/>
                </a:solidFill>
              </a:rPr>
              <a:t>Adult &amp; pediatric nurses are both concerned with getting accurate data to assess patient needs.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95263"/>
            <a:ext cx="7620000" cy="482600"/>
          </a:xfrm>
        </p:spPr>
        <p:txBody>
          <a:bodyPr/>
          <a:lstStyle/>
          <a:p>
            <a:r>
              <a:rPr lang="en-US" smtClean="0"/>
              <a:t>Step 1:  Assess the Patient</a:t>
            </a:r>
          </a:p>
        </p:txBody>
      </p:sp>
      <p:pic>
        <p:nvPicPr>
          <p:cNvPr id="225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1295400"/>
            <a:ext cx="7462837" cy="518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Step 1:  Assess the Patient</a:t>
            </a:r>
          </a:p>
        </p:txBody>
      </p:sp>
      <p:graphicFrame>
        <p:nvGraphicFramePr>
          <p:cNvPr id="85548" name="Group 556"/>
          <p:cNvGraphicFramePr>
            <a:graphicFrameLocks noGrp="1"/>
          </p:cNvGraphicFramePr>
          <p:nvPr/>
        </p:nvGraphicFramePr>
        <p:xfrm>
          <a:off x="304799" y="1336326"/>
          <a:ext cx="8688389" cy="5324827"/>
        </p:xfrm>
        <a:graphic>
          <a:graphicData uri="http://schemas.openxmlformats.org/drawingml/2006/table">
            <a:tbl>
              <a:tblPr/>
              <a:tblGrid>
                <a:gridCol w="4678746"/>
                <a:gridCol w="667442"/>
                <a:gridCol w="669106"/>
                <a:gridCol w="667441"/>
                <a:gridCol w="667442"/>
                <a:gridCol w="670770"/>
                <a:gridCol w="667442"/>
              </a:tblGrid>
              <a:tr h="226921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cs typeface="Arial" charset="0"/>
                        </a:rPr>
                        <a:t> 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Adult (N=269)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Pediatric (N=35)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5485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Outcomes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S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O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S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O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</a:tr>
              <a:tr h="580228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Minimize the likelihood that the determination of need is made incorrectly, e.g., due to incorrect lab results, incorrect interpretation, incorrect physical assessment, etc.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14.2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9.5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15.5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</a:tr>
              <a:tr h="435171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Minimize the likelihood of being unaware of a patient condition that would contraindicate the administration of a specific fluid/agent.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13.9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15.2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</a:tr>
              <a:tr h="436607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Minimize the amount of physical trauma to the patient when determining the need for infusion, e.g., pain, bruising, venous scarring, etc.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13.3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3.7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14.1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</a:tr>
              <a:tr h="580228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Minimize the time required to obtain the results of measures used to determine the patient's need for infusion therapy, e.g., lab results, x-ray results, patient weight, etc.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8.1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13.3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1.1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14.1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</a:tr>
              <a:tr h="436607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Minimize the likelihood that a measure required for the determination of the need for infusion therapy cannot be obtained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2.0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12.8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13.5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</a:tr>
              <a:tr h="435171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Increase the likelihood of knowing whether key measures have been conducted, e.g., lab results, test results, etc.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12.6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13.2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</a:tr>
              <a:tr h="307348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Minimize the time to obtain samples for lab measurements.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12.2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12.7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</a:tr>
              <a:tr h="581664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Minimize the time required to determine if the patient's symptoms can be treated with infusion therapy, e.g., by reviewing their chart, previous infusions, the orders, medication guidelines, etc.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11.5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7.0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11.6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</a:tr>
              <a:tr h="462459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Minimize the amount of variability in time that it takes to obtain the results of measures used to determine the patient's need for infusion therapy.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6.9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10.7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7.0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10.7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</a:tr>
              <a:tr h="581664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Minimize the time required to assess the patient's condition when the responsibility for their care has been transferred, e.g., from shift to shift, ward to ward, hospital to hospital, etc.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6.5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9.5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6.1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7.8</a:t>
                      </a:r>
                      <a:endParaRPr kumimoji="0" lang="en-GB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Related Jobs</a:t>
            </a:r>
          </a:p>
        </p:txBody>
      </p:sp>
      <p:sp>
        <p:nvSpPr>
          <p:cNvPr id="901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smtClean="0"/>
              <a:t>Key Messages:</a:t>
            </a:r>
          </a:p>
          <a:p>
            <a:pPr lvl="1"/>
            <a:r>
              <a:rPr lang="en-US" smtClean="0">
                <a:solidFill>
                  <a:srgbClr val="0033CC"/>
                </a:solidFill>
              </a:rPr>
              <a:t>These are the other jobs the nurse is trying to get done while performing the job of infusing therapeutic agents</a:t>
            </a:r>
          </a:p>
          <a:p>
            <a:pPr lvl="1"/>
            <a:r>
              <a:rPr lang="en-US" smtClean="0">
                <a:solidFill>
                  <a:srgbClr val="0033CC"/>
                </a:solidFill>
              </a:rPr>
              <a:t>The nurses in the Adult units rated these opportunities higher then the nurses in Pediatric units</a:t>
            </a:r>
          </a:p>
          <a:p>
            <a:pPr lvl="1"/>
            <a:r>
              <a:rPr lang="en-US" smtClean="0">
                <a:solidFill>
                  <a:srgbClr val="0033CC"/>
                </a:solidFill>
              </a:rPr>
              <a:t>Of the 28 Social &amp; Emotional Jobs, 14 are opportunities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 txBox="1">
            <a:spLocks noGrp="1"/>
          </p:cNvSpPr>
          <p:nvPr/>
        </p:nvSpPr>
        <p:spPr bwMode="auto">
          <a:xfrm>
            <a:off x="152400" y="6500813"/>
            <a:ext cx="304800" cy="20796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hangingPunct="0">
              <a:lnSpc>
                <a:spcPct val="90000"/>
              </a:lnSpc>
              <a:defRPr/>
            </a:pPr>
            <a:fld id="{C51D9E5A-4336-4843-80F5-CF58ADBEEA2E}" type="slidenum">
              <a:rPr lang="en-GB" sz="1100">
                <a:solidFill>
                  <a:schemeClr val="bg1"/>
                </a:solidFill>
                <a:latin typeface="+mn-lt"/>
              </a:rPr>
              <a:pPr algn="ctr" eaLnBrk="0" hangingPunct="0">
                <a:lnSpc>
                  <a:spcPct val="90000"/>
                </a:lnSpc>
                <a:defRPr/>
              </a:pPr>
              <a:t>8</a:t>
            </a:fld>
            <a:endParaRPr lang="en-GB" sz="11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mtClean="0"/>
              <a:t>Adjacent Jobs Total Market</a:t>
            </a:r>
            <a:endParaRPr lang="en-US" sz="1600" b="1" smtClean="0">
              <a:solidFill>
                <a:srgbClr val="0F0F0F"/>
              </a:solidFill>
            </a:endParaRPr>
          </a:p>
        </p:txBody>
      </p:sp>
      <p:sp>
        <p:nvSpPr>
          <p:cNvPr id="91139" name="Rectangle 2"/>
          <p:cNvSpPr>
            <a:spLocks noChangeArrowheads="1"/>
          </p:cNvSpPr>
          <p:nvPr/>
        </p:nvSpPr>
        <p:spPr bwMode="auto">
          <a:xfrm>
            <a:off x="1066800" y="1058863"/>
            <a:ext cx="7620000" cy="160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>
              <a:lnSpc>
                <a:spcPct val="90000"/>
              </a:lnSpc>
            </a:pPr>
            <a:endParaRPr lang="en-US" sz="3000">
              <a:solidFill>
                <a:schemeClr val="tx2"/>
              </a:solidFill>
              <a:latin typeface="Arial" charset="0"/>
            </a:endParaRPr>
          </a:p>
        </p:txBody>
      </p:sp>
      <p:graphicFrame>
        <p:nvGraphicFramePr>
          <p:cNvPr id="99128" name="Group 2872"/>
          <p:cNvGraphicFramePr>
            <a:graphicFrameLocks noGrp="1"/>
          </p:cNvGraphicFramePr>
          <p:nvPr/>
        </p:nvGraphicFramePr>
        <p:xfrm>
          <a:off x="152400" y="1295395"/>
          <a:ext cx="8839198" cy="5425440"/>
        </p:xfrm>
        <a:graphic>
          <a:graphicData uri="http://schemas.openxmlformats.org/drawingml/2006/table">
            <a:tbl>
              <a:tblPr/>
              <a:tblGrid>
                <a:gridCol w="3203690"/>
                <a:gridCol w="940118"/>
                <a:gridCol w="938385"/>
                <a:gridCol w="938384"/>
                <a:gridCol w="940118"/>
                <a:gridCol w="938385"/>
                <a:gridCol w="940118"/>
              </a:tblGrid>
              <a:tr h="23973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cs typeface="Arial" charset="0"/>
                        </a:rPr>
                        <a:t> 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Adult (N=269)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Pediatric (N=35)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3973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Q2 - Adjacent Jobs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S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O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S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O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</a:tr>
              <a:tr h="23973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Address urgent patient care needs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9.7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5.0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14.4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9.2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4.7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13.7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</a:tr>
              <a:tr h="23973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Ensure the comfort of the patient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9.3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13.0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9.2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12.8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</a:tr>
              <a:tr h="23973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Learn about new medications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12.7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12.3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</a:tr>
              <a:tr h="3895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Monitor other procedures being performed on the patient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9.1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12.7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9.9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12.0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</a:tr>
              <a:tr h="3895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Learn about a medicine-related topic, e.g., a protocol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8.2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11.8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9.3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6.7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11.9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</a:tr>
              <a:tr h="3895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Inform other medical personnel about the patient's status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8.1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11.4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11.1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</a:tr>
              <a:tr h="3895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Educate the patient/family about the procedure being performed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11.4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11.1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</a:tr>
              <a:tr h="3895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Educate patient/family members on care post discharge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11.4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4.1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</a:tr>
              <a:tr h="3895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Document patient care not related to infusion therapy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11.1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6.9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</a:tr>
              <a:tr h="3895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Field questions from patients/patient-caregivers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11.1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</a:tr>
              <a:tr h="23973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Monitor other patients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11.0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</a:tr>
              <a:tr h="23973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Coach/educate the patient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10.2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</a:tr>
              <a:tr h="53939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Prepare the patient for other exams/procedures that will happen while on the current infusion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10.7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7.7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9.8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95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Provide emotional support to the patient/family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9.7</a:t>
                      </a:r>
                      <a:endParaRPr kumimoji="0" lang="en-GB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 txBox="1">
            <a:spLocks noGrp="1"/>
          </p:cNvSpPr>
          <p:nvPr/>
        </p:nvSpPr>
        <p:spPr bwMode="auto">
          <a:xfrm>
            <a:off x="152400" y="6500813"/>
            <a:ext cx="304800" cy="20796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hangingPunct="0">
              <a:lnSpc>
                <a:spcPct val="90000"/>
              </a:lnSpc>
              <a:defRPr/>
            </a:pPr>
            <a:fld id="{F69B23DE-5F88-41A3-BF99-349EE4AD3D6E}" type="slidenum">
              <a:rPr lang="en-GB" sz="1100">
                <a:solidFill>
                  <a:schemeClr val="bg1"/>
                </a:solidFill>
                <a:latin typeface="+mn-lt"/>
              </a:rPr>
              <a:pPr algn="ctr" eaLnBrk="0" hangingPunct="0">
                <a:lnSpc>
                  <a:spcPct val="90000"/>
                </a:lnSpc>
                <a:defRPr/>
              </a:pPr>
              <a:t>9</a:t>
            </a:fld>
            <a:endParaRPr lang="en-GB" sz="11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z="2800" smtClean="0"/>
              <a:t>Adjacent Jobs Total Market</a:t>
            </a:r>
            <a:br>
              <a:rPr lang="en-US" sz="2800" smtClean="0"/>
            </a:br>
            <a:endParaRPr lang="en-US" sz="1400" b="1" smtClean="0">
              <a:solidFill>
                <a:srgbClr val="0F0F0F"/>
              </a:solidFill>
            </a:endParaRPr>
          </a:p>
        </p:txBody>
      </p:sp>
      <p:sp>
        <p:nvSpPr>
          <p:cNvPr id="92163" name="Rectangle 2"/>
          <p:cNvSpPr>
            <a:spLocks noChangeArrowheads="1"/>
          </p:cNvSpPr>
          <p:nvPr/>
        </p:nvSpPr>
        <p:spPr bwMode="auto">
          <a:xfrm>
            <a:off x="1066800" y="1058863"/>
            <a:ext cx="7620000" cy="160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>
              <a:lnSpc>
                <a:spcPct val="90000"/>
              </a:lnSpc>
            </a:pPr>
            <a:endParaRPr lang="en-US" sz="3000">
              <a:solidFill>
                <a:schemeClr val="tx2"/>
              </a:solidFill>
              <a:latin typeface="Arial" charset="0"/>
            </a:endParaRPr>
          </a:p>
        </p:txBody>
      </p:sp>
      <p:graphicFrame>
        <p:nvGraphicFramePr>
          <p:cNvPr id="99787" name="Group 1483"/>
          <p:cNvGraphicFramePr>
            <a:graphicFrameLocks noGrp="1"/>
          </p:cNvGraphicFramePr>
          <p:nvPr/>
        </p:nvGraphicFramePr>
        <p:xfrm>
          <a:off x="304802" y="1295399"/>
          <a:ext cx="8377237" cy="5013448"/>
        </p:xfrm>
        <a:graphic>
          <a:graphicData uri="http://schemas.openxmlformats.org/drawingml/2006/table">
            <a:tbl>
              <a:tblPr/>
              <a:tblGrid>
                <a:gridCol w="3035544"/>
                <a:gridCol w="890559"/>
                <a:gridCol w="890559"/>
                <a:gridCol w="888898"/>
                <a:gridCol w="890559"/>
                <a:gridCol w="890559"/>
                <a:gridCol w="890559"/>
              </a:tblGrid>
              <a:tr h="22144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cs typeface="Arial" charset="0"/>
                        </a:rPr>
                        <a:t> </a:t>
                      </a:r>
                      <a:endParaRPr kumimoji="0" lang="en-GB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Adult (N=269)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Pediatric (N=35)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144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Q2 - Adjacent Jobs</a:t>
                      </a:r>
                      <a:endParaRPr kumimoji="0" lang="en-GB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S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O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S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O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</a:tr>
              <a:tr h="36003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Give other medications; e.g., oral, anal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7.7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6.4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9.2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4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Assist the patient with mobility/ambulation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6.7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9.8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6.2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144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Educate colleagues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7.0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4.7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9.3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3.2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03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Ensure adequate stock of infusion supplies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6.4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3.2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4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Transport the patient to other hospital departments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7.7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03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Provide feedback regarding infusion equipment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7.2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6.2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144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Plan patient discharge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7.2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03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Field questions from colleagues about other patients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4.1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0046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Prepare the equipment for the next use, e.g., maintain it, test it, replenish supplies/power, etc.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3.2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7.0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4.1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2.7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144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Clean the infusion equipment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6.7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2.7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144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Field phone calls and handle pages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6.3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3.7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144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Help get supplies for other nurses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6.2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144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Monitor pages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3.2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144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Track infusion system inventory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5.2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3.3</a:t>
                      </a:r>
                      <a:endParaRPr kumimoji="0" lang="en-GB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Social &amp; Emotional Jobs</a:t>
            </a:r>
          </a:p>
        </p:txBody>
      </p:sp>
      <p:sp>
        <p:nvSpPr>
          <p:cNvPr id="9318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smtClean="0"/>
              <a:t>Key Messages:</a:t>
            </a:r>
          </a:p>
          <a:p>
            <a:pPr lvl="1"/>
            <a:r>
              <a:rPr lang="en-US" smtClean="0">
                <a:solidFill>
                  <a:srgbClr val="0033CC"/>
                </a:solidFill>
              </a:rPr>
              <a:t>Of the 21 Social &amp; Emotional Jobs, 20 are important opportunities (over half of them are extreme)</a:t>
            </a:r>
            <a:br>
              <a:rPr lang="en-US" smtClean="0">
                <a:solidFill>
                  <a:srgbClr val="0033CC"/>
                </a:solidFill>
              </a:rPr>
            </a:br>
            <a:endParaRPr lang="en-US" smtClean="0">
              <a:solidFill>
                <a:srgbClr val="0033CC"/>
              </a:solidFill>
            </a:endParaRPr>
          </a:p>
          <a:p>
            <a:pPr lvl="1"/>
            <a:r>
              <a:rPr lang="en-US" smtClean="0">
                <a:solidFill>
                  <a:srgbClr val="0033CC"/>
                </a:solidFill>
              </a:rPr>
              <a:t>Notes:</a:t>
            </a:r>
          </a:p>
          <a:p>
            <a:pPr marL="1143000" lvl="2" indent="-228600"/>
            <a:r>
              <a:rPr lang="en-US" smtClean="0">
                <a:solidFill>
                  <a:srgbClr val="0033CC"/>
                </a:solidFill>
              </a:rPr>
              <a:t>Importance is rated for Social &amp; Emotional Jobs </a:t>
            </a:r>
          </a:p>
          <a:p>
            <a:pPr marL="1143000" lvl="2" indent="-228600"/>
            <a:r>
              <a:rPr lang="en-US" smtClean="0">
                <a:solidFill>
                  <a:srgbClr val="0033CC"/>
                </a:solidFill>
              </a:rPr>
              <a:t>Satisfaction is not rated</a:t>
            </a:r>
          </a:p>
          <a:p>
            <a:pPr marL="1143000" lvl="2" indent="-228600"/>
            <a:r>
              <a:rPr lang="en-US" smtClean="0">
                <a:solidFill>
                  <a:srgbClr val="0033CC"/>
                </a:solidFill>
              </a:rPr>
              <a:t>The importance was the same for both nurses in Adult &amp; Pediatric units in the hospital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 txBox="1">
            <a:spLocks noGrp="1"/>
          </p:cNvSpPr>
          <p:nvPr/>
        </p:nvSpPr>
        <p:spPr bwMode="auto">
          <a:xfrm>
            <a:off x="152400" y="6500813"/>
            <a:ext cx="304800" cy="20796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hangingPunct="0">
              <a:lnSpc>
                <a:spcPct val="90000"/>
              </a:lnSpc>
              <a:defRPr/>
            </a:pPr>
            <a:fld id="{EB932774-E4BD-49A9-9037-26C8DBEF1BF9}" type="slidenum">
              <a:rPr lang="en-GB" sz="1100">
                <a:solidFill>
                  <a:schemeClr val="bg1"/>
                </a:solidFill>
                <a:latin typeface="+mn-lt"/>
              </a:rPr>
              <a:pPr algn="ctr" eaLnBrk="0" hangingPunct="0">
                <a:lnSpc>
                  <a:spcPct val="90000"/>
                </a:lnSpc>
                <a:defRPr/>
              </a:pPr>
              <a:t>11</a:t>
            </a:fld>
            <a:endParaRPr lang="en-GB" sz="11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z="2400" dirty="0" smtClean="0"/>
              <a:t>Social &amp; Emotional Jobs Total Market</a:t>
            </a:r>
            <a:endParaRPr lang="en-US" sz="1600" dirty="0" smtClean="0"/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Times"/>
              <a:buNone/>
            </a:pPr>
            <a:endParaRPr lang="en-US" sz="400" smtClean="0"/>
          </a:p>
          <a:p>
            <a:pPr marL="457200" indent="-457200" eaLnBrk="1" hangingPunct="1">
              <a:buFont typeface="Times"/>
              <a:buAutoNum type="arabicPeriod"/>
            </a:pPr>
            <a:endParaRPr lang="en-US" sz="400" smtClean="0"/>
          </a:p>
        </p:txBody>
      </p:sp>
      <p:graphicFrame>
        <p:nvGraphicFramePr>
          <p:cNvPr id="101901" name="Group 1549"/>
          <p:cNvGraphicFramePr>
            <a:graphicFrameLocks noGrp="1"/>
          </p:cNvGraphicFramePr>
          <p:nvPr/>
        </p:nvGraphicFramePr>
        <p:xfrm>
          <a:off x="4330700" y="3232150"/>
          <a:ext cx="482600" cy="396240"/>
        </p:xfrm>
        <a:graphic>
          <a:graphicData uri="http://schemas.openxmlformats.org/drawingml/2006/table">
            <a:tbl>
              <a:tblPr/>
              <a:tblGrid>
                <a:gridCol w="482600"/>
              </a:tblGrid>
              <a:tr h="161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1911" name="Group 1559"/>
          <p:cNvGraphicFramePr>
            <a:graphicFrameLocks noGrp="1"/>
          </p:cNvGraphicFramePr>
          <p:nvPr/>
        </p:nvGraphicFramePr>
        <p:xfrm>
          <a:off x="4330700" y="3232150"/>
          <a:ext cx="482600" cy="396240"/>
        </p:xfrm>
        <a:graphic>
          <a:graphicData uri="http://schemas.openxmlformats.org/drawingml/2006/table">
            <a:tbl>
              <a:tblPr/>
              <a:tblGrid>
                <a:gridCol w="482600"/>
              </a:tblGrid>
              <a:tr h="161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0529" name="Group 5057"/>
          <p:cNvGraphicFramePr>
            <a:graphicFrameLocks noGrp="1"/>
          </p:cNvGraphicFramePr>
          <p:nvPr/>
        </p:nvGraphicFramePr>
        <p:xfrm>
          <a:off x="304800" y="1143000"/>
          <a:ext cx="8620125" cy="5438218"/>
        </p:xfrm>
        <a:graphic>
          <a:graphicData uri="http://schemas.openxmlformats.org/drawingml/2006/table">
            <a:tbl>
              <a:tblPr/>
              <a:tblGrid>
                <a:gridCol w="4341989"/>
                <a:gridCol w="1609762"/>
                <a:gridCol w="1929026"/>
                <a:gridCol w="739348"/>
              </a:tblGrid>
              <a:tr h="262460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Times" pitchFamily="18" charset="0"/>
                        </a:rPr>
                        <a:t>Social &amp; Emotional Jobs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Times" pitchFamily="18" charset="0"/>
                        </a:rPr>
                        <a:t>Importance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Times" pitchFamily="18" charset="0"/>
                        </a:rPr>
                        <a:t>Opportunity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Times" pitchFamily="18" charset="0"/>
                        </a:rPr>
                        <a:t>Rank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B154"/>
                    </a:solidFill>
                  </a:tcPr>
                </a:tc>
              </a:tr>
              <a:tr h="261659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Be perceived as trustworthy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9.8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19.6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9279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Be perceived as protecting the patient's safety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9.4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18.8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298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Be perceived as competent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9.3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18.6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298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Be perceived as knowledgeable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9.0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18.0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298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Be perceived as caring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17.8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298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Avoid feeling disorganized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17.6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298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Be perceived as sincere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8.7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17.4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298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Be perceived as collaborative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17.0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298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Be perceived as up to date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17.0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298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Avoid feeling frustrated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8.0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16.0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298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Avoid feeling a sense of mistrust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15.8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298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Avoid feeling inadequate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7.7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15.4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12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298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Avoid feeling stressed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14.6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13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298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Avoid feeling irritated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7.2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14.4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14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298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Be perceived as happy in my job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7.1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14.2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298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Feel a sense of accomplishment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7.0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14.0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298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Avoid feeling stupid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7.0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14.0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17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298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Avoid feeling uncomfortable/insecure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6.9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13.8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18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298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Feel appreciated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11.2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19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298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Avoid feeling embarrassed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5.5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11.0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2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20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298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Avoid being perceived as a servant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3.6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7.2</a:t>
                      </a: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F0F0F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21</a:t>
                      </a:r>
                      <a:endParaRPr kumimoji="0" lang="en-GB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F0F0F"/>
                        </a:solidFill>
                        <a:effectLst/>
                        <a:latin typeface="Times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ea typeface="ＭＳ Ｐゴシック" pitchFamily="34" charset="-128"/>
              </a:rPr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990685-1496-41A7-8D7C-6CE4810F3A23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8757</TotalTime>
  <Words>1223</Words>
  <Application>Microsoft Office PowerPoint</Application>
  <PresentationFormat>On-screen Show (4:3)</PresentationFormat>
  <Paragraphs>449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VEG</vt:lpstr>
      <vt:lpstr>Analysis of the Total Market General Infusion Pump data for the Job of Infusing Therapeutic Agents in a Hospital Setting </vt:lpstr>
      <vt:lpstr>Respondent Demographics</vt:lpstr>
      <vt:lpstr>Total Market Opportunities Job Map</vt:lpstr>
      <vt:lpstr>Step 1:  Assess the Patient</vt:lpstr>
      <vt:lpstr>Step 1:  Assess the Patient</vt:lpstr>
      <vt:lpstr>Step 1:  Assess the Patient</vt:lpstr>
      <vt:lpstr>Related Jobs</vt:lpstr>
      <vt:lpstr>Adjacent Jobs Total Market</vt:lpstr>
      <vt:lpstr>Adjacent Jobs Total Market </vt:lpstr>
      <vt:lpstr>Social &amp; Emotional Jobs</vt:lpstr>
      <vt:lpstr>Social &amp; Emotional Jobs Total Market</vt:lpstr>
      <vt:lpstr>Thank You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</cp:lastModifiedBy>
  <cp:revision>226</cp:revision>
  <dcterms:created xsi:type="dcterms:W3CDTF">2009-06-09T11:36:35Z</dcterms:created>
  <dcterms:modified xsi:type="dcterms:W3CDTF">2010-01-30T22:28:32Z</dcterms:modified>
</cp:coreProperties>
</file>
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20"/>
  </p:notesMasterIdLst>
  <p:handoutMasterIdLst>
    <p:handoutMasterId r:id="rId21"/>
  </p:handoutMasterIdLst>
  <p:sldIdLst>
    <p:sldId id="259" r:id="rId2"/>
    <p:sldId id="258" r:id="rId3"/>
    <p:sldId id="286" r:id="rId4"/>
    <p:sldId id="279" r:id="rId5"/>
    <p:sldId id="289" r:id="rId6"/>
    <p:sldId id="285" r:id="rId7"/>
    <p:sldId id="287" r:id="rId8"/>
    <p:sldId id="288" r:id="rId9"/>
    <p:sldId id="280" r:id="rId10"/>
    <p:sldId id="281" r:id="rId11"/>
    <p:sldId id="282" r:id="rId12"/>
    <p:sldId id="276" r:id="rId13"/>
    <p:sldId id="284" r:id="rId14"/>
    <p:sldId id="290" r:id="rId15"/>
    <p:sldId id="274" r:id="rId16"/>
    <p:sldId id="291" r:id="rId17"/>
    <p:sldId id="292" r:id="rId18"/>
    <p:sldId id="29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5413"/>
    <a:srgbClr val="00C49E"/>
    <a:srgbClr val="252E33"/>
    <a:srgbClr val="3F4E56"/>
    <a:srgbClr val="000000"/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9826" autoAdjust="0"/>
  </p:normalViewPr>
  <p:slideViewPr>
    <p:cSldViewPr snapToGrid="0">
      <p:cViewPr varScale="1">
        <p:scale>
          <a:sx n="82" d="100"/>
          <a:sy n="82" d="100"/>
        </p:scale>
        <p:origin x="-1560" y="-104"/>
      </p:cViewPr>
      <p:guideLst>
        <p:guide orient="horz" pos="1774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printerSettings" Target="printerSettings/printerSettings1.bin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Business Architecture Guild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02DA1F-A37C-41D2-82C0-7922EAA70BF9}" type="datetimeFigureOut">
              <a:rPr lang="en-US" smtClean="0"/>
              <a:pPr/>
              <a:t>9/16/14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2012 @ Business Architecture Guild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447DD-8410-4B48-BF9F-010B3E13D3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6644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Business Architecture Guild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78605-75FF-4090-82E1-8992D952D785}" type="datetimeFigureOut">
              <a:rPr lang="en-US" smtClean="0"/>
              <a:pPr/>
              <a:t>9/16/14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2012 @ Business Architecture Guild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7F5204-EB12-4271-A49D-308523C9B9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9127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8048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8048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74" name="Shape 17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7882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8048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8" name="Shape 12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9848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82" name="Shape 18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13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82" name="Shape 18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1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F4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1190" y="3523787"/>
            <a:ext cx="9146380" cy="365760"/>
          </a:xfrm>
          <a:prstGeom prst="rect">
            <a:avLst/>
          </a:prstGeom>
          <a:solidFill>
            <a:srgbClr val="00C4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0" y="3523129"/>
            <a:ext cx="1463040" cy="365760"/>
          </a:xfrm>
          <a:prstGeom prst="rect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>
            <a:spLocks noGrp="1"/>
          </p:cNvSpPr>
          <p:nvPr>
            <p:ph type="ctrTitle"/>
          </p:nvPr>
        </p:nvSpPr>
        <p:spPr>
          <a:xfrm>
            <a:off x="457200" y="2798081"/>
            <a:ext cx="8229600" cy="615553"/>
          </a:xfrm>
          <a:noFill/>
        </p:spPr>
        <p:txBody>
          <a:bodyPr wrap="none" lIns="91440" tIns="0" rIns="91440" bIns="0" anchor="b">
            <a:spAutoFit/>
          </a:bodyPr>
          <a:lstStyle>
            <a:lvl1pPr algn="ctr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1" hasCustomPrompt="1"/>
          </p:nvPr>
        </p:nvSpPr>
        <p:spPr>
          <a:xfrm>
            <a:off x="1463040" y="3515231"/>
            <a:ext cx="6217920" cy="369332"/>
          </a:xfrm>
          <a:noFill/>
        </p:spPr>
        <p:txBody>
          <a:bodyPr wrap="none" anchor="ctr" anchorCtr="0">
            <a:spAutoFit/>
          </a:bodyPr>
          <a:lstStyle>
            <a:lvl1pPr algn="ctr">
              <a:defRPr sz="1800" b="0" spc="300" baseline="0">
                <a:solidFill>
                  <a:srgbClr val="252E33"/>
                </a:solidFill>
              </a:defRPr>
            </a:lvl1pPr>
            <a:lvl2pPr marL="0" indent="0">
              <a:buNone/>
              <a:defRPr/>
            </a:lvl2pPr>
            <a:lvl3pPr marL="237744" indent="0">
              <a:buNone/>
              <a:defRPr/>
            </a:lvl3pPr>
            <a:lvl4pPr marL="466344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SUBTITLE STYLE</a:t>
            </a:r>
          </a:p>
        </p:txBody>
      </p:sp>
      <p:sp>
        <p:nvSpPr>
          <p:cNvPr id="52" name="Date Placeholder 5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13EAD0-FE42-479E-BFD1-82A4FA54F9B8}" type="datetime1">
              <a:rPr lang="en-US" smtClean="0"/>
              <a:pPr/>
              <a:t>9/16/14</a:t>
            </a:fld>
            <a:endParaRPr lang="en-US" dirty="0"/>
          </a:p>
        </p:txBody>
      </p:sp>
      <p:sp>
        <p:nvSpPr>
          <p:cNvPr id="53" name="Footer Placeholder 52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56" name="Slide Number Placeholder 5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9" name="Rectangle 58"/>
          <p:cNvSpPr/>
          <p:nvPr userDrawn="1"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 userDrawn="1"/>
        </p:nvSpPr>
        <p:spPr>
          <a:xfrm>
            <a:off x="4723130" y="534126"/>
            <a:ext cx="4206240" cy="18288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3" descr="C:\Users\rou6\Documents\1_ILLUSTRATION\STA ppt\guild\BAGuild_Logo_DarkBG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32"/>
          <a:stretch/>
        </p:blipFill>
        <p:spPr bwMode="auto">
          <a:xfrm>
            <a:off x="4723130" y="170063"/>
            <a:ext cx="4206240" cy="515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191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0628"/>
            <a:ext cx="8229600" cy="357984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pPr/>
              <a:t>9/16/14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24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C4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 userDrawn="1"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23D1F-8B6B-46FD-90B9-289ACA433332}" type="datetime1">
              <a:rPr lang="en-US" smtClean="0"/>
              <a:pPr/>
              <a:t>9/16/14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5" name="Text Placeholder 38"/>
          <p:cNvSpPr>
            <a:spLocks noGrp="1"/>
          </p:cNvSpPr>
          <p:nvPr>
            <p:ph type="body" sz="quarter" idx="13" hasCustomPrompt="1"/>
          </p:nvPr>
        </p:nvSpPr>
        <p:spPr>
          <a:xfrm>
            <a:off x="1463040" y="3515226"/>
            <a:ext cx="6217920" cy="369332"/>
          </a:xfrm>
          <a:noFill/>
        </p:spPr>
        <p:txBody>
          <a:bodyPr wrap="none" anchor="ctr" anchorCtr="0">
            <a:spAutoFit/>
          </a:bodyPr>
          <a:lstStyle>
            <a:lvl1pPr algn="ctr">
              <a:defRPr sz="1800" b="0" spc="300" baseline="0">
                <a:solidFill>
                  <a:srgbClr val="252E33"/>
                </a:solidFill>
              </a:defRPr>
            </a:lvl1pPr>
            <a:lvl2pPr marL="0" indent="0">
              <a:buNone/>
              <a:defRPr/>
            </a:lvl2pPr>
            <a:lvl3pPr marL="237744" indent="0">
              <a:buNone/>
              <a:defRPr/>
            </a:lvl3pPr>
            <a:lvl4pPr marL="466344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SUBTITLE STYLE</a:t>
            </a:r>
          </a:p>
        </p:txBody>
      </p:sp>
      <p:sp>
        <p:nvSpPr>
          <p:cNvPr id="36" name="Title 35"/>
          <p:cNvSpPr>
            <a:spLocks noGrp="1"/>
          </p:cNvSpPr>
          <p:nvPr>
            <p:ph type="title"/>
          </p:nvPr>
        </p:nvSpPr>
        <p:spPr>
          <a:xfrm>
            <a:off x="520314" y="2798076"/>
            <a:ext cx="8103373" cy="615553"/>
          </a:xfrm>
          <a:noFill/>
        </p:spPr>
        <p:txBody>
          <a:bodyPr vert="horz" wrap="none" lIns="91440" tIns="0" rIns="91440" bIns="0" rtlCol="0" anchor="b">
            <a:spAutoFit/>
          </a:bodyPr>
          <a:lstStyle>
            <a:lvl1pPr>
              <a:defRPr lang="en-US" sz="4000" b="1" dirty="0">
                <a:solidFill>
                  <a:srgbClr val="252E33"/>
                </a:solidFill>
              </a:defRPr>
            </a:lvl1pPr>
          </a:lstStyle>
          <a:p>
            <a:pPr marL="0" lvl="0" algn="ctr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 userDrawn="1"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 userDrawn="1"/>
        </p:nvSpPr>
        <p:spPr>
          <a:xfrm>
            <a:off x="0" y="548102"/>
            <a:ext cx="9144000" cy="137160"/>
          </a:xfrm>
          <a:prstGeom prst="rect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 userDrawn="1"/>
        </p:nvSpPr>
        <p:spPr>
          <a:xfrm>
            <a:off x="4723130" y="534126"/>
            <a:ext cx="4206240" cy="18288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3" descr="C:\Users\rou6\Documents\1_ILLUSTRATION\STA ppt\guild\BAGuild_Logo_DarkBG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32"/>
          <a:stretch/>
        </p:blipFill>
        <p:spPr bwMode="auto">
          <a:xfrm>
            <a:off x="4723130" y="170063"/>
            <a:ext cx="4206240" cy="515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329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pPr/>
              <a:t>9/16/14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811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pPr/>
              <a:t>9/16/14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72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pPr/>
              <a:t>9/16/14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23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pPr/>
              <a:t>9/16/14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203200" y="927100"/>
            <a:ext cx="8077200" cy="12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29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3F4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65759"/>
            <a:ext cx="68580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300" y="6440697"/>
            <a:ext cx="681277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92FE3BD-E6E5-415F-8D6E-D2B3F7C63698}" type="datetime1">
              <a:rPr lang="en-US" smtClean="0"/>
              <a:pPr/>
              <a:t>9/16/14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94182" y="6440697"/>
            <a:ext cx="187552" cy="184666"/>
          </a:xfrm>
          <a:prstGeom prst="rect">
            <a:avLst/>
          </a:prstGeom>
          <a:ln w="19050">
            <a:noFill/>
          </a:ln>
        </p:spPr>
        <p:txBody>
          <a:bodyPr vert="horz" wrap="none" lIns="0" tIns="0" rIns="0" bIns="0" rtlCol="0" anchor="ctr">
            <a:spAutoFit/>
          </a:bodyPr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7" name="Picture 3" descr="C:\Users\rou6\Documents\1_ILLUSTRATION\STA ppt\guild\BAGuild_Logo_LightBG.png"/>
          <p:cNvPicPr>
            <a:picLocks noChangeAspect="1" noChangeArrowheads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2867"/>
          <a:stretch/>
        </p:blipFill>
        <p:spPr bwMode="auto">
          <a:xfrm>
            <a:off x="2971800" y="5969851"/>
            <a:ext cx="3200400" cy="430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rou6\Documents\1_ILLUSTRATION\STA ppt\guild\BAGuild_Badge_NoLetters.png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320" y="304053"/>
            <a:ext cx="640080" cy="686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09800" y="6395870"/>
            <a:ext cx="4724400" cy="274320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228600" y="958850"/>
            <a:ext cx="8686800" cy="27432"/>
          </a:xfrm>
          <a:prstGeom prst="rect">
            <a:avLst/>
          </a:prstGeom>
          <a:solidFill>
            <a:srgbClr val="3F4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77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</p:sldLayoutIdLst>
  <p:timing>
    <p:tnLst>
      <p:par>
        <p:cTn xmlns:p14="http://schemas.microsoft.com/office/powerpoint/2010/main" id="1" dur="indefinite" restart="never" nodeType="tmRoot"/>
      </p:par>
    </p:tnLst>
  </p:timing>
  <p:hf hdr="0"/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414649" y="2305638"/>
            <a:ext cx="4331635" cy="1107996"/>
          </a:xfrm>
        </p:spPr>
        <p:txBody>
          <a:bodyPr/>
          <a:lstStyle/>
          <a:p>
            <a:r>
              <a:rPr lang="en-US" cap="small" dirty="0" smtClean="0">
                <a:latin typeface="Souce Sans Pro"/>
                <a:ea typeface="Souce Sans Pro"/>
                <a:cs typeface="Souce Sans Pro"/>
                <a:sym typeface="Souce Sans Pro"/>
              </a:rPr>
              <a:t>Meta model </a:t>
            </a:r>
            <a:r>
              <a:rPr lang="en-US" cap="small" dirty="0">
                <a:latin typeface="Souce Sans Pro"/>
                <a:ea typeface="Souce Sans Pro"/>
                <a:cs typeface="Souce Sans Pro"/>
                <a:sym typeface="Souce Sans Pro"/>
              </a:rPr>
              <a:t>team </a:t>
            </a:r>
            <a:br>
              <a:rPr lang="en-US" cap="small" dirty="0">
                <a:latin typeface="Souce Sans Pro"/>
                <a:ea typeface="Souce Sans Pro"/>
                <a:cs typeface="Souce Sans Pro"/>
                <a:sym typeface="Souce Sans Pro"/>
              </a:rPr>
            </a:br>
            <a:r>
              <a:rPr lang="en-US" sz="3200" cap="small" dirty="0">
                <a:latin typeface="Souce Sans Pro"/>
                <a:ea typeface="Souce Sans Pro"/>
                <a:cs typeface="Souce Sans Pro"/>
                <a:sym typeface="Souce Sans Pro"/>
              </a:rPr>
              <a:t>(2014 </a:t>
            </a:r>
            <a:r>
              <a:rPr lang="en-US" sz="3200" cap="small" dirty="0" smtClean="0">
                <a:latin typeface="Souce Sans Pro"/>
                <a:ea typeface="Souce Sans Pro"/>
                <a:cs typeface="Souce Sans Pro"/>
                <a:sym typeface="Souce Sans Pro"/>
              </a:rPr>
              <a:t>Fall Update</a:t>
            </a:r>
            <a:r>
              <a:rPr lang="en-US" sz="3200" cap="small" dirty="0">
                <a:latin typeface="Souce Sans Pro"/>
                <a:ea typeface="Souce Sans Pro"/>
                <a:cs typeface="Souce Sans Pro"/>
                <a:sym typeface="Souce Sans Pro"/>
              </a:rPr>
              <a:t>)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028447" y="3515231"/>
            <a:ext cx="3087127" cy="369332"/>
          </a:xfrm>
        </p:spPr>
        <p:txBody>
          <a:bodyPr/>
          <a:lstStyle/>
          <a:p>
            <a:r>
              <a:rPr lang="en-US" dirty="0" smtClean="0"/>
              <a:t>9/16/2014 Austin, TX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0155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457200" y="1320762"/>
            <a:ext cx="8229600" cy="3579849"/>
          </a:xfrm>
        </p:spPr>
        <p:txBody>
          <a:bodyPr>
            <a:normAutofit/>
          </a:bodyPr>
          <a:lstStyle/>
          <a:p>
            <a:pPr>
              <a:buFont typeface="Wingdings" charset="2"/>
              <a:buChar char="q"/>
            </a:pPr>
            <a:r>
              <a:rPr lang="en-US" sz="2400" b="0" dirty="0" smtClean="0">
                <a:latin typeface="PT Sans"/>
                <a:cs typeface="PT Sans"/>
              </a:rPr>
              <a:t>Workgroup Overview</a:t>
            </a:r>
          </a:p>
          <a:p>
            <a:pPr>
              <a:buFont typeface="Wingdings" charset="2"/>
              <a:buChar char="q"/>
            </a:pPr>
            <a:r>
              <a:rPr lang="en-US" sz="2400" b="0" dirty="0" smtClean="0">
                <a:latin typeface="PT Sans"/>
                <a:cs typeface="PT Sans"/>
              </a:rPr>
              <a:t>Plans for next release (PART 5)</a:t>
            </a:r>
          </a:p>
          <a:p>
            <a:pPr>
              <a:buFont typeface="Wingdings" charset="2"/>
              <a:buChar char="q"/>
            </a:pPr>
            <a:r>
              <a:rPr lang="en-US" sz="2400" b="0" dirty="0" smtClean="0">
                <a:latin typeface="PT Sans"/>
                <a:cs typeface="PT Sans"/>
              </a:rPr>
              <a:t>Overview of BIZBOK™ content</a:t>
            </a:r>
          </a:p>
          <a:p>
            <a:pPr>
              <a:buFont typeface="Wingdings" charset="2"/>
              <a:buChar char="q"/>
            </a:pPr>
            <a:r>
              <a:rPr lang="en-US" sz="2400" b="0" dirty="0" smtClean="0">
                <a:latin typeface="PT Sans"/>
                <a:cs typeface="PT Sans"/>
              </a:rPr>
              <a:t>Workshop to capture feedback (key scenarios)</a:t>
            </a:r>
          </a:p>
          <a:p>
            <a:pPr>
              <a:buFont typeface="Wingdings" charset="2"/>
              <a:buChar char="q"/>
            </a:pPr>
            <a:r>
              <a:rPr lang="en-US" sz="2400" b="0" dirty="0" smtClean="0">
                <a:latin typeface="PT Sans"/>
                <a:cs typeface="PT Sans"/>
              </a:rPr>
              <a:t>Next steps</a:t>
            </a:r>
          </a:p>
          <a:p>
            <a:pPr>
              <a:buFont typeface="Wingdings" charset="2"/>
              <a:buChar char="q"/>
            </a:pPr>
            <a:endParaRPr lang="en-US" sz="2400" b="0" dirty="0">
              <a:latin typeface="PT Sans"/>
              <a:cs typeface="PT Sans"/>
            </a:endParaRPr>
          </a:p>
          <a:p>
            <a:pPr marL="0" indent="0"/>
            <a:r>
              <a:rPr lang="en-US" sz="2400" dirty="0" smtClean="0">
                <a:solidFill>
                  <a:srgbClr val="00C49E"/>
                </a:solidFill>
                <a:latin typeface="PT Sans"/>
                <a:cs typeface="PT Sans"/>
              </a:rPr>
              <a:t>Duration:  30 min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ECBC-A02B-4AAF-96EF-C1FB7CCADF94}" type="datetime1">
              <a:rPr lang="en-US" smtClean="0"/>
              <a:pPr/>
              <a:t>9/16/14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4682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23D1F-8B6B-46FD-90B9-289ACA433332}" type="datetime1">
              <a:rPr lang="en-US" smtClean="0"/>
              <a:pPr/>
              <a:t>9/16/14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197647" y="3339951"/>
            <a:ext cx="5686172" cy="615553"/>
          </a:xfrm>
        </p:spPr>
        <p:txBody>
          <a:bodyPr/>
          <a:lstStyle/>
          <a:p>
            <a:r>
              <a:rPr lang="en-US" dirty="0" smtClean="0"/>
              <a:t>Workgroup Overview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08758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>
            <a:spLocks noGrp="1"/>
          </p:cNvSpPr>
          <p:nvPr>
            <p:ph type="title"/>
          </p:nvPr>
        </p:nvSpPr>
        <p:spPr>
          <a:xfrm>
            <a:off x="381000" y="365759"/>
            <a:ext cx="6858000" cy="54863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8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Purpose of workgroup</a:t>
            </a:r>
            <a:endParaRPr lang="en-US" sz="2800" dirty="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5" name="Shape 115"/>
          <p:cNvSpPr txBox="1">
            <a:spLocks noGrp="1"/>
          </p:cNvSpPr>
          <p:nvPr>
            <p:ph type="body" idx="1"/>
          </p:nvPr>
        </p:nvSpPr>
        <p:spPr>
          <a:xfrm>
            <a:off x="822959" y="1473161"/>
            <a:ext cx="8022024" cy="36218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lvl="1" indent="0"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ct val="100000"/>
              <a:buNone/>
            </a:pPr>
            <a:r>
              <a:rPr lang="en-US" sz="3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T Sans"/>
                <a:ea typeface="PT Sans"/>
                <a:cs typeface="PT Sans"/>
                <a:sym typeface="PT Sans"/>
              </a:rPr>
              <a:t>The workgroup’s mission is to ensure the meta model </a:t>
            </a:r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/>
                <a:ea typeface="PT Sans"/>
                <a:cs typeface="PT Sans"/>
                <a:sym typeface="PT Sans"/>
              </a:rPr>
              <a:t>is reflective of the relationships among business architecture artifacts established in the </a:t>
            </a:r>
            <a:r>
              <a:rPr lang="en-US" sz="3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T Sans"/>
                <a:ea typeface="PT Sans"/>
                <a:cs typeface="PT Sans"/>
                <a:sym typeface="PT Sans"/>
              </a:rPr>
              <a:t>BIZBOK.</a:t>
            </a:r>
          </a:p>
        </p:txBody>
      </p:sp>
      <p:sp>
        <p:nvSpPr>
          <p:cNvPr id="116" name="Shape 116"/>
          <p:cNvSpPr txBox="1">
            <a:spLocks noGrp="1"/>
          </p:cNvSpPr>
          <p:nvPr>
            <p:ph type="ftr" idx="4294967295"/>
          </p:nvPr>
        </p:nvSpPr>
        <p:spPr>
          <a:xfrm>
            <a:off x="3517514" y="6285121"/>
            <a:ext cx="4724400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 sz="1000" b="0" i="0" u="none" strike="noStrike" cap="small" baseline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Copyright 2014 @ Business Architecture Guild</a:t>
            </a:r>
          </a:p>
        </p:txBody>
      </p:sp>
    </p:spTree>
    <p:extLst>
      <p:ext uri="{BB962C8B-B14F-4D97-AF65-F5344CB8AC3E}">
        <p14:creationId xmlns:p14="http://schemas.microsoft.com/office/powerpoint/2010/main" val="3348222268"/>
      </p:ext>
    </p:extLst>
  </p:cSld>
  <p:clrMapOvr>
    <a:masterClrMapping/>
  </p:clrMapOvr>
  <p:transition xmlns:p14="http://schemas.microsoft.com/office/powerpoint/2010/main"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>
            <a:spLocks noGrp="1"/>
          </p:cNvSpPr>
          <p:nvPr>
            <p:ph type="title"/>
          </p:nvPr>
        </p:nvSpPr>
        <p:spPr>
          <a:xfrm>
            <a:off x="381000" y="365759"/>
            <a:ext cx="6858000" cy="54863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8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Goals for the workgroup</a:t>
            </a:r>
            <a:endParaRPr lang="en-US" sz="2800" dirty="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5" name="Shape 115"/>
          <p:cNvSpPr txBox="1">
            <a:spLocks noGrp="1"/>
          </p:cNvSpPr>
          <p:nvPr>
            <p:ph type="body" idx="1"/>
          </p:nvPr>
        </p:nvSpPr>
        <p:spPr>
          <a:xfrm>
            <a:off x="450425" y="1320761"/>
            <a:ext cx="8253307" cy="36218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406400" lvl="1" indent="-406400"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z="3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T Sans"/>
                <a:ea typeface="PT Sans"/>
                <a:cs typeface="PT Sans"/>
                <a:sym typeface="PT Sans"/>
              </a:rPr>
              <a:t>Formalize </a:t>
            </a:r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/>
                <a:ea typeface="PT Sans"/>
                <a:cs typeface="PT Sans"/>
                <a:sym typeface="PT Sans"/>
              </a:rPr>
              <a:t>a </a:t>
            </a:r>
            <a:r>
              <a:rPr lang="en-US" sz="3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T Sans"/>
                <a:ea typeface="PT Sans"/>
                <a:cs typeface="PT Sans"/>
                <a:sym typeface="PT Sans"/>
              </a:rPr>
              <a:t>meta model </a:t>
            </a:r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/>
                <a:ea typeface="PT Sans"/>
                <a:cs typeface="PT Sans"/>
                <a:sym typeface="PT Sans"/>
              </a:rPr>
              <a:t>that </a:t>
            </a:r>
            <a:r>
              <a:rPr lang="en-US" sz="3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T Sans"/>
                <a:ea typeface="PT Sans"/>
                <a:cs typeface="PT Sans"/>
                <a:sym typeface="PT Sans"/>
              </a:rPr>
              <a:t>enables practitioners to </a:t>
            </a:r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/>
                <a:ea typeface="PT Sans"/>
                <a:cs typeface="PT Sans"/>
                <a:sym typeface="PT Sans"/>
              </a:rPr>
              <a:t>manage sophisticated business architecture ecosystems</a:t>
            </a:r>
          </a:p>
          <a:p>
            <a:pPr marL="406400" lvl="1" indent="-406400"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/>
                <a:ea typeface="PT Sans"/>
                <a:cs typeface="PT Sans"/>
                <a:sym typeface="PT Sans"/>
              </a:rPr>
              <a:t>Enable tool vendors to offer off-the-</a:t>
            </a:r>
            <a:r>
              <a:rPr lang="en-US" sz="3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T Sans"/>
                <a:ea typeface="PT Sans"/>
                <a:cs typeface="PT Sans"/>
                <a:sym typeface="PT Sans"/>
              </a:rPr>
              <a:t>shelf business </a:t>
            </a:r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/>
                <a:ea typeface="PT Sans"/>
                <a:cs typeface="PT Sans"/>
                <a:sym typeface="PT Sans"/>
              </a:rPr>
              <a:t>architecture solutions </a:t>
            </a:r>
            <a:r>
              <a:rPr lang="en-US" sz="3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T Sans"/>
                <a:ea typeface="PT Sans"/>
                <a:cs typeface="PT Sans"/>
                <a:sym typeface="PT Sans"/>
              </a:rPr>
              <a:t>and support</a:t>
            </a:r>
            <a:endParaRPr lang="en-US" sz="3200" dirty="0">
              <a:solidFill>
                <a:schemeClr val="tx1">
                  <a:lumMod val="65000"/>
                  <a:lumOff val="35000"/>
                </a:schemeClr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6" name="Shape 116"/>
          <p:cNvSpPr txBox="1">
            <a:spLocks noGrp="1"/>
          </p:cNvSpPr>
          <p:nvPr>
            <p:ph type="ftr" idx="4294967295"/>
          </p:nvPr>
        </p:nvSpPr>
        <p:spPr>
          <a:xfrm>
            <a:off x="3517514" y="6285121"/>
            <a:ext cx="4724400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 sz="1000" b="0" i="0" u="none" strike="noStrike" cap="small" baseline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Copyright 2014 @ Business Architecture Guild</a:t>
            </a:r>
          </a:p>
        </p:txBody>
      </p:sp>
    </p:spTree>
    <p:extLst>
      <p:ext uri="{BB962C8B-B14F-4D97-AF65-F5344CB8AC3E}">
        <p14:creationId xmlns:p14="http://schemas.microsoft.com/office/powerpoint/2010/main" val="3184653428"/>
      </p:ext>
    </p:extLst>
  </p:cSld>
  <p:clrMapOvr>
    <a:masterClrMapping/>
  </p:clrMapOvr>
  <p:transition xmlns:p14="http://schemas.microsoft.com/office/powerpoint/2010/main"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 txBox="1">
            <a:spLocks noGrp="1"/>
          </p:cNvSpPr>
          <p:nvPr>
            <p:ph type="title"/>
          </p:nvPr>
        </p:nvSpPr>
        <p:spPr>
          <a:xfrm>
            <a:off x="381000" y="365759"/>
            <a:ext cx="6858000" cy="54863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Souce Sans Pro"/>
              <a:buNone/>
            </a:pPr>
            <a:r>
              <a:rPr lang="en-US" sz="2800" cap="small" dirty="0" smtClean="0">
                <a:solidFill>
                  <a:schemeClr val="dk1"/>
                </a:solidFill>
                <a:latin typeface="Souce Sans Pro"/>
                <a:ea typeface="Souce Sans Pro"/>
                <a:cs typeface="Souce Sans Pro"/>
                <a:sym typeface="Souce Sans Pro"/>
              </a:rPr>
              <a:t>Teams in the Workgroup</a:t>
            </a:r>
            <a:endParaRPr lang="en-US" sz="2800" b="0" i="0" u="none" strike="noStrike" cap="small" baseline="0" dirty="0">
              <a:solidFill>
                <a:schemeClr val="dk1"/>
              </a:solidFill>
              <a:latin typeface="Souce Sans Pro"/>
              <a:ea typeface="Souce Sans Pro"/>
              <a:cs typeface="Souce Sans Pro"/>
              <a:sym typeface="Souce Sans Pro"/>
            </a:endParaRPr>
          </a:p>
        </p:txBody>
      </p:sp>
      <p:sp>
        <p:nvSpPr>
          <p:cNvPr id="170" name="Shape 170"/>
          <p:cNvSpPr txBox="1">
            <a:spLocks noGrp="1"/>
          </p:cNvSpPr>
          <p:nvPr>
            <p:ph type="ftr" idx="4294967295"/>
          </p:nvPr>
        </p:nvSpPr>
        <p:spPr>
          <a:xfrm>
            <a:off x="3517514" y="6285121"/>
            <a:ext cx="4724400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 sz="1000" b="0" i="0" u="none" strike="noStrike" cap="small" baseline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Copyright 2014 @ Business Architecture Guild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766620"/>
              </p:ext>
            </p:extLst>
          </p:nvPr>
        </p:nvGraphicFramePr>
        <p:xfrm>
          <a:off x="820694" y="1049121"/>
          <a:ext cx="7233305" cy="4621817"/>
        </p:xfrm>
        <a:graphic>
          <a:graphicData uri="http://schemas.openxmlformats.org/drawingml/2006/table">
            <a:tbl>
              <a:tblPr/>
              <a:tblGrid>
                <a:gridCol w="1254721"/>
                <a:gridCol w="5978584"/>
              </a:tblGrid>
              <a:tr h="9372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Inputs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5413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1" indent="-285750" algn="l" fontAlgn="b">
                        <a:buFont typeface="Arial"/>
                        <a:buChar char="•"/>
                      </a:pPr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Team Lead: Janice Lewis</a:t>
                      </a:r>
                    </a:p>
                    <a:p>
                      <a:pPr marL="285750" lvl="1" indent="-285750" algn="l" fontAlgn="b">
                        <a:buFont typeface="Arial"/>
                        <a:buChar char="•"/>
                      </a:pPr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Steve Hunter</a:t>
                      </a:r>
                    </a:p>
                    <a:p>
                      <a:pPr marL="285750" lvl="1" indent="-285750" algn="l" fontAlgn="b">
                        <a:buFont typeface="Arial"/>
                        <a:buChar char="•"/>
                      </a:pPr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Paula </a:t>
                      </a:r>
                      <a:r>
                        <a:rPr lang="en-US" sz="20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Mihalek</a:t>
                      </a:r>
                      <a:endParaRPr lang="en-US" sz="2000" b="0" i="0" u="none" strike="noStrike" dirty="0" smtClean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  <a:p>
                      <a:pPr marL="285750" lvl="1" indent="-285750" algn="l" fontAlgn="b">
                        <a:buFont typeface="Arial"/>
                        <a:buChar char="•"/>
                      </a:pPr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Karrie Austin</a:t>
                      </a:r>
                    </a:p>
                    <a:p>
                      <a:pPr marL="285750" lvl="1" indent="-285750" algn="l" fontAlgn="b">
                        <a:buFont typeface="Arial"/>
                        <a:buChar char="•"/>
                      </a:pPr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Olga Romeos</a:t>
                      </a:r>
                    </a:p>
                  </a:txBody>
                  <a:tcPr marL="571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88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Modeling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9E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1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Team Lead: Peter</a:t>
                      </a:r>
                      <a:r>
                        <a:rPr lang="en-US" sz="20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Gee</a:t>
                      </a:r>
                    </a:p>
                    <a:p>
                      <a:pPr marL="285750" marR="0" lvl="1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20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Peter </a:t>
                      </a:r>
                      <a:r>
                        <a:rPr lang="en-US" sz="2000" b="0" i="0" u="none" strike="noStrike" baseline="0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Chorlton</a:t>
                      </a:r>
                      <a:endParaRPr lang="en-US" sz="2000" b="0" i="0" u="none" strike="noStrike" baseline="0" dirty="0" smtClean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  <a:p>
                      <a:pPr marL="285750" marR="0" lvl="1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20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Alain Picard</a:t>
                      </a:r>
                    </a:p>
                    <a:p>
                      <a:pPr marL="285750" marR="0" lvl="1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20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Franz Thiel</a:t>
                      </a:r>
                    </a:p>
                  </a:txBody>
                  <a:tcPr marL="571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516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Publishing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5413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1" indent="-285750" algn="l" fontAlgn="b">
                        <a:buFont typeface="Arial"/>
                        <a:buChar char="•"/>
                      </a:pPr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Team Lead: Jeff Wallk</a:t>
                      </a:r>
                    </a:p>
                    <a:p>
                      <a:pPr marL="285750" lvl="1" indent="-285750" algn="l" fontAlgn="b">
                        <a:buFont typeface="Arial"/>
                        <a:buChar char="•"/>
                      </a:pPr>
                      <a:r>
                        <a:rPr lang="en-US" sz="20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looking for volunteers…</a:t>
                      </a:r>
                    </a:p>
                  </a:txBody>
                  <a:tcPr marL="571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13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Review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9E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1" indent="-285750" algn="l" fontAlgn="b">
                        <a:buFont typeface="Arial"/>
                        <a:buChar char="•"/>
                      </a:pPr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Team Lead: Alain Picard</a:t>
                      </a:r>
                    </a:p>
                    <a:p>
                      <a:pPr marL="285750" lvl="1" indent="-285750" algn="l" fontAlgn="b">
                        <a:buFont typeface="Arial"/>
                        <a:buChar char="•"/>
                      </a:pPr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Antoine</a:t>
                      </a:r>
                      <a:r>
                        <a:rPr lang="en-US" sz="20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000" b="0" i="0" u="none" strike="noStrike" baseline="0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Lonjon</a:t>
                      </a:r>
                      <a:endParaRPr lang="en-US" sz="2000" b="0" i="0" u="none" strike="noStrike" baseline="0" dirty="0" smtClean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  <a:p>
                      <a:pPr marL="285750" lvl="1" indent="-285750" algn="l" fontAlgn="b">
                        <a:buFont typeface="Arial"/>
                        <a:buChar char="•"/>
                      </a:pPr>
                      <a:r>
                        <a:rPr lang="en-US" sz="20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Neal McWhorter</a:t>
                      </a:r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0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</a:p>
                  </a:txBody>
                  <a:tcPr marL="571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2798955"/>
      </p:ext>
    </p:extLst>
  </p:cSld>
  <p:clrMapOvr>
    <a:masterClrMapping/>
  </p:clrMapOvr>
  <p:transition xmlns:p14="http://schemas.microsoft.com/office/powerpoint/2010/main"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23D1F-8B6B-46FD-90B9-289ACA433332}" type="datetime1">
              <a:rPr lang="en-US" smtClean="0"/>
              <a:pPr/>
              <a:t>9/16/14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197647" y="2724398"/>
            <a:ext cx="6858168" cy="1231106"/>
          </a:xfrm>
        </p:spPr>
        <p:txBody>
          <a:bodyPr/>
          <a:lstStyle/>
          <a:p>
            <a:r>
              <a:rPr lang="en-US" dirty="0" smtClean="0"/>
              <a:t>Plans for next release of</a:t>
            </a:r>
            <a:br>
              <a:rPr lang="en-US" dirty="0" smtClean="0"/>
            </a:br>
            <a:r>
              <a:rPr lang="en-US" dirty="0" err="1" smtClean="0"/>
              <a:t>Bizbok</a:t>
            </a:r>
            <a:r>
              <a:rPr lang="en-US" dirty="0" smtClean="0"/>
              <a:t> 4.1 (Part 5)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05632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>
            <a:spLocks noGrp="1"/>
          </p:cNvSpPr>
          <p:nvPr>
            <p:ph type="title"/>
          </p:nvPr>
        </p:nvSpPr>
        <p:spPr>
          <a:xfrm>
            <a:off x="381000" y="365759"/>
            <a:ext cx="6858000" cy="54863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80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Deliverables for BIZBOK 4.1: </a:t>
            </a:r>
          </a:p>
        </p:txBody>
      </p:sp>
      <p:sp>
        <p:nvSpPr>
          <p:cNvPr id="115" name="Shape 115"/>
          <p:cNvSpPr txBox="1">
            <a:spLocks noGrp="1"/>
          </p:cNvSpPr>
          <p:nvPr>
            <p:ph type="body" idx="1"/>
          </p:nvPr>
        </p:nvSpPr>
        <p:spPr>
          <a:xfrm>
            <a:off x="822959" y="1100627"/>
            <a:ext cx="8022024" cy="36218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30200" lvl="1" indent="-342900"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z="2400" b="0" i="0" u="none" strike="noStrike" cap="none" baseline="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Extend the MM Conceptual Model </a:t>
            </a:r>
          </a:p>
          <a:p>
            <a:pPr marL="330200" lvl="1" indent="-342900"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z="24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Establish a MM Logical Model (next level of detail)</a:t>
            </a:r>
          </a:p>
          <a:p>
            <a:pPr marL="330200" lvl="1" indent="-342900"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z="240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Incorporate Scenarios which exist in the </a:t>
            </a:r>
            <a:r>
              <a:rPr lang="en-US" sz="24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BIZBOK</a:t>
            </a:r>
          </a:p>
          <a:p>
            <a:pPr marL="330200" lvl="1" indent="-342900"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z="24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Incorporate touch points with BPM, Strategy, &amp; Requirements</a:t>
            </a:r>
          </a:p>
          <a:p>
            <a:pPr marL="330200" lvl="1" indent="-342900"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z="24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Begin alignment with standards organizations (OMG)</a:t>
            </a:r>
          </a:p>
        </p:txBody>
      </p:sp>
      <p:sp>
        <p:nvSpPr>
          <p:cNvPr id="116" name="Shape 116"/>
          <p:cNvSpPr txBox="1">
            <a:spLocks noGrp="1"/>
          </p:cNvSpPr>
          <p:nvPr>
            <p:ph type="ftr" idx="4294967295"/>
          </p:nvPr>
        </p:nvSpPr>
        <p:spPr>
          <a:xfrm>
            <a:off x="3517514" y="6285121"/>
            <a:ext cx="4724400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 sz="1000" b="0" i="0" u="none" strike="noStrike" cap="small" baseline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Copyright 2014 @ Business Architecture Guild</a:t>
            </a:r>
          </a:p>
        </p:txBody>
      </p:sp>
    </p:spTree>
    <p:extLst>
      <p:ext uri="{BB962C8B-B14F-4D97-AF65-F5344CB8AC3E}">
        <p14:creationId xmlns:p14="http://schemas.microsoft.com/office/powerpoint/2010/main" val="3864431584"/>
      </p:ext>
    </p:extLst>
  </p:cSld>
  <p:clrMapOvr>
    <a:masterClrMapping/>
  </p:clrMapOvr>
  <p:transition xmlns:p14="http://schemas.microsoft.com/office/powerpoint/2010/main"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 txBox="1">
            <a:spLocks noGrp="1"/>
          </p:cNvSpPr>
          <p:nvPr>
            <p:ph type="title"/>
          </p:nvPr>
        </p:nvSpPr>
        <p:spPr>
          <a:xfrm>
            <a:off x="381000" y="365759"/>
            <a:ext cx="6858000" cy="54863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Souce Sans Pro"/>
              <a:buNone/>
            </a:pPr>
            <a:r>
              <a:rPr lang="en-US" sz="2800" cap="small" dirty="0" smtClean="0">
                <a:solidFill>
                  <a:schemeClr val="dk1"/>
                </a:solidFill>
                <a:latin typeface="Souce Sans Pro"/>
                <a:ea typeface="Souce Sans Pro"/>
                <a:cs typeface="Souce Sans Pro"/>
                <a:sym typeface="Souce Sans Pro"/>
              </a:rPr>
              <a:t>Value Proposition</a:t>
            </a:r>
            <a:endParaRPr lang="en-US" sz="2800" b="0" i="0" u="none" strike="noStrike" cap="small" baseline="0" dirty="0">
              <a:solidFill>
                <a:schemeClr val="dk1"/>
              </a:solidFill>
              <a:latin typeface="Souce Sans Pro"/>
              <a:ea typeface="Souce Sans Pro"/>
              <a:cs typeface="Souce Sans Pro"/>
              <a:sym typeface="Souce Sans Pro"/>
            </a:endParaRPr>
          </a:p>
        </p:txBody>
      </p:sp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822959" y="1100628"/>
            <a:ext cx="7520939" cy="357984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z="2200" b="0" i="0" u="none" strike="noStrike" cap="none" baseline="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Provide a foundation for enabling practitioners to manage the business architecture ecosystem </a:t>
            </a:r>
          </a:p>
          <a:p>
            <a:pPr marL="342900" marR="0" lvl="0" indent="-342900" algn="l" rtl="0">
              <a:spcBef>
                <a:spcPts val="800"/>
              </a:spcBef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z="2200" b="0" i="0" u="none" strike="noStrike" cap="none" baseline="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Enable alignment across related disciplines</a:t>
            </a:r>
          </a:p>
          <a:p>
            <a:pPr marL="342900" marR="0" lvl="0" indent="-342900" algn="l" rtl="0">
              <a:spcBef>
                <a:spcPts val="800"/>
              </a:spcBef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z="2200" b="0" i="0" u="none" strike="noStrike" cap="none" baseline="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Improve ability to share and exchange knowledge across tools and practitioners</a:t>
            </a:r>
          </a:p>
          <a:p>
            <a:pPr marL="342900" marR="0" lvl="0" indent="-342900" algn="l" rtl="0">
              <a:spcBef>
                <a:spcPts val="800"/>
              </a:spcBef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z="2200" b="0" i="0" u="none" strike="noStrike" cap="none" baseline="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Help practitioners and organizations understand how to draft a metamodel for their own needs</a:t>
            </a:r>
          </a:p>
          <a:p>
            <a:pPr marL="342900" marR="0" lvl="0" indent="-342900" algn="l" rtl="0">
              <a:spcBef>
                <a:spcPts val="800"/>
              </a:spcBef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z="2200" b="0" i="0" u="none" strike="noStrike" cap="none" baseline="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Provides a consistent standard for tools and tool vendors to manage business architecture perspectives</a:t>
            </a:r>
          </a:p>
        </p:txBody>
      </p:sp>
      <p:sp>
        <p:nvSpPr>
          <p:cNvPr id="124" name="Shape 124"/>
          <p:cNvSpPr txBox="1">
            <a:spLocks noGrp="1"/>
          </p:cNvSpPr>
          <p:nvPr>
            <p:ph type="ftr" idx="4294967295"/>
          </p:nvPr>
        </p:nvSpPr>
        <p:spPr>
          <a:xfrm>
            <a:off x="3517514" y="6285121"/>
            <a:ext cx="4724400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 sz="1000" b="0" i="0" u="none" strike="noStrike" cap="small" baseline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Copyright 2014 @ Business Architecture Guild</a:t>
            </a:r>
          </a:p>
        </p:txBody>
      </p:sp>
    </p:spTree>
    <p:extLst>
      <p:ext uri="{BB962C8B-B14F-4D97-AF65-F5344CB8AC3E}">
        <p14:creationId xmlns:p14="http://schemas.microsoft.com/office/powerpoint/2010/main" val="2045934789"/>
      </p:ext>
    </p:extLst>
  </p:cSld>
  <p:clrMapOvr>
    <a:masterClrMapping/>
  </p:clrMapOvr>
  <p:transition xmlns:p14="http://schemas.microsoft.com/office/powerpoint/2010/main"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 txBox="1">
            <a:spLocks noGrp="1"/>
          </p:cNvSpPr>
          <p:nvPr>
            <p:ph type="title"/>
          </p:nvPr>
        </p:nvSpPr>
        <p:spPr>
          <a:xfrm>
            <a:off x="381000" y="365759"/>
            <a:ext cx="6858000" cy="54863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Souce Sans Pro"/>
              <a:buNone/>
            </a:pPr>
            <a:r>
              <a:rPr lang="en-US" sz="2800" b="0" i="0" u="none" strike="noStrike" cap="small" baseline="0" dirty="0" smtClean="0">
                <a:solidFill>
                  <a:schemeClr val="dk1"/>
                </a:solidFill>
                <a:latin typeface="Souce Sans Pro"/>
                <a:ea typeface="Souce Sans Pro"/>
                <a:cs typeface="Souce Sans Pro"/>
                <a:sym typeface="Souce Sans Pro"/>
              </a:rPr>
              <a:t>Extending the Conceptual</a:t>
            </a:r>
            <a:r>
              <a:rPr lang="en-US" sz="2800" b="0" i="0" u="none" strike="noStrike" cap="small" dirty="0" smtClean="0">
                <a:solidFill>
                  <a:schemeClr val="dk1"/>
                </a:solidFill>
                <a:latin typeface="Souce Sans Pro"/>
                <a:ea typeface="Souce Sans Pro"/>
                <a:cs typeface="Souce Sans Pro"/>
                <a:sym typeface="Souce Sans Pro"/>
              </a:rPr>
              <a:t> MM</a:t>
            </a:r>
            <a:endParaRPr lang="en-US" sz="2800" b="0" i="0" u="none" strike="noStrike" cap="small" baseline="0" dirty="0">
              <a:solidFill>
                <a:schemeClr val="dk1"/>
              </a:solidFill>
              <a:latin typeface="Souce Sans Pro"/>
              <a:ea typeface="Souce Sans Pro"/>
              <a:cs typeface="Souce Sans Pro"/>
              <a:sym typeface="Souce Sans Pro"/>
            </a:endParaRPr>
          </a:p>
        </p:txBody>
      </p:sp>
      <p:sp>
        <p:nvSpPr>
          <p:cNvPr id="177" name="Shape 177"/>
          <p:cNvSpPr txBox="1">
            <a:spLocks noGrp="1"/>
          </p:cNvSpPr>
          <p:nvPr>
            <p:ph type="body" idx="1"/>
          </p:nvPr>
        </p:nvSpPr>
        <p:spPr>
          <a:xfrm>
            <a:off x="822959" y="1100628"/>
            <a:ext cx="7520939" cy="385237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56616" lvl="1" indent="-34290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PT Sans"/>
              <a:buChar char="❑"/>
            </a:pPr>
            <a:r>
              <a:rPr lang="en-US" sz="240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Subset of the existing 12 scenarios </a:t>
            </a:r>
            <a:r>
              <a:rPr lang="en-US" sz="24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(in </a:t>
            </a:r>
            <a:r>
              <a:rPr lang="en-US" sz="240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BIZBOK)</a:t>
            </a:r>
          </a:p>
          <a:p>
            <a:pPr marL="356616" lvl="1" indent="-34290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PT Sans"/>
              <a:buChar char="❑"/>
            </a:pPr>
            <a:r>
              <a:rPr lang="en-US" sz="240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Alignment with </a:t>
            </a:r>
            <a:r>
              <a:rPr lang="en-US" sz="24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BPM, </a:t>
            </a:r>
            <a:r>
              <a:rPr lang="en-US" sz="240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Requirements </a:t>
            </a:r>
            <a:r>
              <a:rPr lang="en-US" sz="24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Model, &amp; </a:t>
            </a:r>
            <a:r>
              <a:rPr lang="en-US" sz="240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Strategy </a:t>
            </a:r>
            <a:r>
              <a:rPr lang="en-US" sz="24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(TBD)</a:t>
            </a:r>
          </a:p>
          <a:p>
            <a:pPr marL="356616" lvl="1" indent="-34290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PT Sans"/>
              <a:buChar char="❑"/>
            </a:pPr>
            <a:r>
              <a:rPr lang="en-US" sz="24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Assist </a:t>
            </a:r>
            <a:r>
              <a:rPr lang="en-US" sz="240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practitioners and organizations with </a:t>
            </a:r>
            <a:r>
              <a:rPr lang="en-US" sz="24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obtaining a common </a:t>
            </a:r>
            <a:r>
              <a:rPr lang="en-US" sz="240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understanding of business architecture terms and </a:t>
            </a:r>
            <a:r>
              <a:rPr lang="en-US" sz="24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core concepts (big picture)</a:t>
            </a:r>
          </a:p>
          <a:p>
            <a:pPr marL="356616" lvl="1" indent="-34290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PT Sans"/>
              <a:buChar char="❑"/>
            </a:pPr>
            <a:r>
              <a:rPr lang="en-US" sz="24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Introduce </a:t>
            </a:r>
            <a:r>
              <a:rPr lang="en-US" sz="240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modeling concepts to business analysts and entry level business </a:t>
            </a:r>
            <a:r>
              <a:rPr lang="en-US" sz="24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architects </a:t>
            </a:r>
            <a:endParaRPr lang="en-US" sz="2400" dirty="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78" name="Shape 178"/>
          <p:cNvSpPr txBox="1">
            <a:spLocks noGrp="1"/>
          </p:cNvSpPr>
          <p:nvPr>
            <p:ph type="ftr" idx="4294967295"/>
          </p:nvPr>
        </p:nvSpPr>
        <p:spPr>
          <a:xfrm>
            <a:off x="3517514" y="6285121"/>
            <a:ext cx="4724400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 sz="1000" b="0" i="0" u="none" strike="noStrike" cap="small" baseline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Copyright 2014 @ Business Architecture Guild</a:t>
            </a:r>
          </a:p>
        </p:txBody>
      </p:sp>
    </p:spTree>
    <p:extLst>
      <p:ext uri="{BB962C8B-B14F-4D97-AF65-F5344CB8AC3E}">
        <p14:creationId xmlns:p14="http://schemas.microsoft.com/office/powerpoint/2010/main" val="1961031504"/>
      </p:ext>
    </p:extLst>
  </p:cSld>
  <p:clrMapOvr>
    <a:masterClrMapping/>
  </p:clrMapOvr>
  <p:transition xmlns:p14="http://schemas.microsoft.com/office/powerpoint/2010/main"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 txBox="1">
            <a:spLocks noGrp="1"/>
          </p:cNvSpPr>
          <p:nvPr>
            <p:ph type="title"/>
          </p:nvPr>
        </p:nvSpPr>
        <p:spPr>
          <a:xfrm>
            <a:off x="381000" y="365759"/>
            <a:ext cx="6858000" cy="54863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Souce Sans Pro"/>
              <a:buNone/>
            </a:pPr>
            <a:r>
              <a:rPr lang="en-US" sz="2800" b="0" i="0" u="none" strike="noStrike" cap="small" baseline="0" dirty="0" smtClean="0">
                <a:solidFill>
                  <a:schemeClr val="dk1"/>
                </a:solidFill>
                <a:latin typeface="Souce Sans Pro"/>
                <a:ea typeface="Souce Sans Pro"/>
                <a:cs typeface="Souce Sans Pro"/>
                <a:sym typeface="Souce Sans Pro"/>
              </a:rPr>
              <a:t>Adding a Logical MM</a:t>
            </a:r>
            <a:endParaRPr lang="en-US" sz="2800" b="0" i="0" u="none" strike="noStrike" cap="small" baseline="0" dirty="0">
              <a:solidFill>
                <a:schemeClr val="dk1"/>
              </a:solidFill>
              <a:latin typeface="Souce Sans Pro"/>
              <a:ea typeface="Souce Sans Pro"/>
              <a:cs typeface="Souce Sans Pro"/>
              <a:sym typeface="Souce Sans Pro"/>
            </a:endParaRPr>
          </a:p>
        </p:txBody>
      </p:sp>
      <p:sp>
        <p:nvSpPr>
          <p:cNvPr id="177" name="Shape 177"/>
          <p:cNvSpPr txBox="1">
            <a:spLocks noGrp="1"/>
          </p:cNvSpPr>
          <p:nvPr>
            <p:ph type="body" idx="1"/>
          </p:nvPr>
        </p:nvSpPr>
        <p:spPr>
          <a:xfrm>
            <a:off x="822959" y="1100628"/>
            <a:ext cx="7835091" cy="385237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lvl="1" indent="-34290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z="24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Incorporate additional levels of detail from the BIZBOK (Requirements, BPM, and Strategy) as well as existing scenarios</a:t>
            </a:r>
          </a:p>
          <a:p>
            <a:pPr marL="342900" lvl="1" indent="-34290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z="24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Add new constructs to align with Information Architecture), address perspectives, and provide extensions </a:t>
            </a:r>
            <a:r>
              <a:rPr lang="en-US" sz="240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for vendors (and architecture practitioners) to enable more adaptability and </a:t>
            </a:r>
            <a:r>
              <a:rPr lang="en-US" sz="24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extendibility</a:t>
            </a:r>
          </a:p>
          <a:p>
            <a:pPr marL="342900" lvl="1" indent="-34290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z="24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Expand on cardinality by capturing relationship details between entities</a:t>
            </a:r>
            <a:endParaRPr lang="en-US" sz="2400" dirty="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78" name="Shape 178"/>
          <p:cNvSpPr txBox="1">
            <a:spLocks noGrp="1"/>
          </p:cNvSpPr>
          <p:nvPr>
            <p:ph type="ftr" idx="4294967295"/>
          </p:nvPr>
        </p:nvSpPr>
        <p:spPr>
          <a:xfrm>
            <a:off x="3517514" y="6285121"/>
            <a:ext cx="4724400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 sz="1000" b="0" i="0" u="none" strike="noStrike" cap="small" baseline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Copyright 2014 @ Business Architecture Guild</a:t>
            </a:r>
          </a:p>
        </p:txBody>
      </p:sp>
    </p:spTree>
    <p:extLst>
      <p:ext uri="{BB962C8B-B14F-4D97-AF65-F5344CB8AC3E}">
        <p14:creationId xmlns:p14="http://schemas.microsoft.com/office/powerpoint/2010/main" val="731707495"/>
      </p:ext>
    </p:extLst>
  </p:cSld>
  <p:clrMapOvr>
    <a:masterClrMapping/>
  </p:clrMapOvr>
  <p:transition xmlns:p14="http://schemas.microsoft.com/office/powerpoint/2010/main"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23D1F-8B6B-46FD-90B9-289ACA433332}" type="datetime1">
              <a:rPr lang="en-US" smtClean="0"/>
              <a:pPr/>
              <a:t>9/16/14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180714" y="2426001"/>
            <a:ext cx="6736740" cy="1969770"/>
          </a:xfrm>
        </p:spPr>
        <p:txBody>
          <a:bodyPr/>
          <a:lstStyle/>
          <a:p>
            <a:r>
              <a:rPr lang="en-US" dirty="0" smtClean="0"/>
              <a:t>Workout Session (15 min.)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/>
              <a:t>Evaluating subset of key scenarios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>Meta model Input Team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91683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Key Scenarios:  Change Management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idx="4294967295"/>
          </p:nvPr>
        </p:nvSpPr>
        <p:spPr>
          <a:xfrm>
            <a:off x="3517514" y="6285121"/>
            <a:ext cx="4724400" cy="274319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Copyright 2014 @ Business Architecture Guild</a:t>
            </a:r>
            <a:endParaRPr lang="en-US"/>
          </a:p>
        </p:txBody>
      </p:sp>
      <p:sp>
        <p:nvSpPr>
          <p:cNvPr id="6" name="Shape 177"/>
          <p:cNvSpPr txBox="1">
            <a:spLocks/>
          </p:cNvSpPr>
          <p:nvPr/>
        </p:nvSpPr>
        <p:spPr>
          <a:xfrm>
            <a:off x="474133" y="1320760"/>
            <a:ext cx="8398934" cy="4301105"/>
          </a:xfrm>
          <a:prstGeom prst="rect">
            <a:avLst/>
          </a:prstGeom>
          <a:noFill/>
          <a:ln>
            <a:noFill/>
          </a:ln>
        </p:spPr>
        <p:txBody>
          <a:bodyPr vert="horz" lIns="91425" tIns="45700" rIns="91425" bIns="4570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ts val="8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736" indent="-173736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2336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9536" indent="-173736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73736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3312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81912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92224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z="24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Review subset of scenarios</a:t>
            </a:r>
          </a:p>
          <a:p>
            <a:pPr marL="342900" lvl="1" indent="-34290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z="24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Obtain feedback on list of scenarios</a:t>
            </a:r>
          </a:p>
          <a:p>
            <a:pPr marL="342900" lvl="1" indent="-34290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z="24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Identify any additional scenarios to consider</a:t>
            </a:r>
          </a:p>
          <a:p>
            <a:pPr marL="342900" lvl="1" indent="-34290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Wingdings" charset="2"/>
              <a:buChar char="q"/>
            </a:pPr>
            <a:endParaRPr lang="en-US" sz="2400" dirty="0" smtClean="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342900" lvl="1" indent="-34290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Wingdings" charset="2"/>
              <a:buChar char="q"/>
            </a:pPr>
            <a:endParaRPr lang="en-US" sz="2400" dirty="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342900" lvl="1" indent="-34290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z="24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Identify additional sources for scenarios</a:t>
            </a:r>
          </a:p>
          <a:p>
            <a:pPr marL="571500" lvl="2" indent="-34290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z="24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Beyond Change Management</a:t>
            </a:r>
            <a:endParaRPr lang="en-US" sz="2400" dirty="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609600" y="3335868"/>
            <a:ext cx="7247467" cy="16932"/>
          </a:xfrm>
          <a:prstGeom prst="line">
            <a:avLst/>
          </a:prstGeom>
          <a:ln w="38100" cmpd="sng">
            <a:solidFill>
              <a:srgbClr val="00C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3326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Key Scenarios:  Change Management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idx="4294967295"/>
          </p:nvPr>
        </p:nvSpPr>
        <p:spPr>
          <a:xfrm>
            <a:off x="3517514" y="6285121"/>
            <a:ext cx="4724400" cy="274319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Copyright 2014 @ Business Architecture Guild</a:t>
            </a:r>
            <a:endParaRPr lang="en-US"/>
          </a:p>
        </p:txBody>
      </p:sp>
      <p:sp>
        <p:nvSpPr>
          <p:cNvPr id="6" name="Shape 177"/>
          <p:cNvSpPr txBox="1">
            <a:spLocks/>
          </p:cNvSpPr>
          <p:nvPr/>
        </p:nvSpPr>
        <p:spPr>
          <a:xfrm>
            <a:off x="474133" y="1320760"/>
            <a:ext cx="8398934" cy="4301105"/>
          </a:xfrm>
          <a:prstGeom prst="rect">
            <a:avLst/>
          </a:prstGeom>
          <a:noFill/>
          <a:ln>
            <a:noFill/>
          </a:ln>
        </p:spPr>
        <p:txBody>
          <a:bodyPr vert="horz" lIns="91425" tIns="45700" rIns="91425" bIns="4570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ts val="8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736" indent="-173736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2336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9536" indent="-173736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73736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3312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81912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92224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New/Updated/Retired Regulatory Compliance Requirement</a:t>
            </a:r>
          </a:p>
          <a:p>
            <a:pPr marL="342900" lvl="1" indent="-34290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New/Updated/Retired Mission, Vision, Goal, Objective, Strategy</a:t>
            </a:r>
          </a:p>
          <a:p>
            <a:pPr marL="342900" lvl="1" indent="-34290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New/Updated/Retired Value Stream</a:t>
            </a:r>
          </a:p>
          <a:p>
            <a:pPr marL="342900" lvl="1" indent="-34290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New/Updated/Retired Business Capability</a:t>
            </a:r>
          </a:p>
          <a:p>
            <a:pPr marL="342900" lvl="1" indent="-34290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New/Updated/Retired Markets/Locations/Regions/Sites</a:t>
            </a:r>
          </a:p>
          <a:p>
            <a:pPr marL="342900" lvl="1" indent="-34290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New/Updated/Retired Organization/Role/Job Title/Person</a:t>
            </a:r>
          </a:p>
          <a:p>
            <a:pPr marL="342900" lvl="1" indent="-34290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New/Updated/Retired Acquisition, Collaboration, Divestiture</a:t>
            </a:r>
          </a:p>
          <a:p>
            <a:pPr marL="342900" lvl="1" indent="-34290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New/Updated/Retired Revenue Streams</a:t>
            </a:r>
          </a:p>
          <a:p>
            <a:pPr marL="342900" lvl="1" indent="-34290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Wingdings" charset="2"/>
              <a:buChar char="q"/>
            </a:pPr>
            <a:r>
              <a:rPr lang="en-US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New/Updated/Retired Initiatives/Programs/Projects</a:t>
            </a:r>
            <a:endParaRPr lang="en-US" dirty="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  <p:extLst>
      <p:ext uri="{BB962C8B-B14F-4D97-AF65-F5344CB8AC3E}">
        <p14:creationId xmlns:p14="http://schemas.microsoft.com/office/powerpoint/2010/main" val="3833545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pPr/>
              <a:t>9/16/14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20314" y="2798076"/>
            <a:ext cx="2879314" cy="615553"/>
          </a:xfrm>
        </p:spPr>
        <p:txBody>
          <a:bodyPr/>
          <a:lstStyle/>
          <a:p>
            <a:r>
              <a:rPr lang="en-US" dirty="0" smtClean="0"/>
              <a:t>Next steps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211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23D1F-8B6B-46FD-90B9-289ACA433332}" type="datetime1">
              <a:rPr lang="en-US" smtClean="0"/>
              <a:pPr/>
              <a:t>9/16/14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24" name="Hexagon 23"/>
          <p:cNvSpPr/>
          <p:nvPr/>
        </p:nvSpPr>
        <p:spPr>
          <a:xfrm rot="5400000">
            <a:off x="4269239" y="1050493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sp>
      <p:sp>
        <p:nvSpPr>
          <p:cNvPr id="22" name="Hexagon 21"/>
          <p:cNvSpPr/>
          <p:nvPr/>
        </p:nvSpPr>
        <p:spPr>
          <a:xfrm rot="5400000">
            <a:off x="2853759" y="1050493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sp>
      <p:sp>
        <p:nvSpPr>
          <p:cNvPr id="20" name="Hexagon 19"/>
          <p:cNvSpPr/>
          <p:nvPr/>
        </p:nvSpPr>
        <p:spPr>
          <a:xfrm rot="5400000">
            <a:off x="3558787" y="2329185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8" name="Hexagon 17"/>
          <p:cNvSpPr/>
          <p:nvPr/>
        </p:nvSpPr>
        <p:spPr>
          <a:xfrm rot="5400000">
            <a:off x="4974268" y="2329185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sp>
      <p:sp>
        <p:nvSpPr>
          <p:cNvPr id="16" name="Hexagon 15"/>
          <p:cNvSpPr/>
          <p:nvPr/>
        </p:nvSpPr>
        <p:spPr>
          <a:xfrm rot="5400000">
            <a:off x="4269239" y="3607878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sp>
      <p:sp>
        <p:nvSpPr>
          <p:cNvPr id="14" name="Hexagon 13"/>
          <p:cNvSpPr/>
          <p:nvPr/>
        </p:nvSpPr>
        <p:spPr>
          <a:xfrm rot="5400000">
            <a:off x="2853759" y="3607878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sp>
      <p:sp>
        <p:nvSpPr>
          <p:cNvPr id="27" name="Hexagon 26"/>
          <p:cNvSpPr/>
          <p:nvPr/>
        </p:nvSpPr>
        <p:spPr>
          <a:xfrm rot="5400000">
            <a:off x="2148909" y="2314143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sp>
      <p:sp>
        <p:nvSpPr>
          <p:cNvPr id="29" name="TextBox 28"/>
          <p:cNvSpPr txBox="1"/>
          <p:nvPr/>
        </p:nvSpPr>
        <p:spPr>
          <a:xfrm>
            <a:off x="3655277" y="2602245"/>
            <a:ext cx="1316519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Calibri"/>
                <a:cs typeface="Calibri"/>
              </a:rPr>
              <a:t>Desired Outcomes</a:t>
            </a:r>
            <a:endParaRPr lang="en-US" sz="20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93219" y="2770134"/>
            <a:ext cx="131651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Standards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398721" y="1559453"/>
            <a:ext cx="128057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Employees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393754" y="3960334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Environ-</a:t>
            </a:r>
            <a:r>
              <a:rPr lang="en-US" b="1" dirty="0" err="1" smtClean="0">
                <a:solidFill>
                  <a:schemeClr val="bg1"/>
                </a:solidFill>
                <a:latin typeface="Calibri"/>
                <a:cs typeface="Calibri"/>
              </a:rPr>
              <a:t>ment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937839" y="4099741"/>
            <a:ext cx="131651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Value Chain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937838" y="1559453"/>
            <a:ext cx="131651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Customers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240858" y="2674701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Regulatory Agencies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6" name="Hexagon 35"/>
          <p:cNvSpPr/>
          <p:nvPr/>
        </p:nvSpPr>
        <p:spPr>
          <a:xfrm rot="5400000">
            <a:off x="1441825" y="1063488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37" name="TextBox 36"/>
          <p:cNvSpPr txBox="1"/>
          <p:nvPr/>
        </p:nvSpPr>
        <p:spPr>
          <a:xfrm>
            <a:off x="1541393" y="1433042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Value Streams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8" name="Hexagon 37"/>
          <p:cNvSpPr/>
          <p:nvPr/>
        </p:nvSpPr>
        <p:spPr>
          <a:xfrm rot="5400000">
            <a:off x="742360" y="2315646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39" name="TextBox 38"/>
          <p:cNvSpPr txBox="1"/>
          <p:nvPr/>
        </p:nvSpPr>
        <p:spPr>
          <a:xfrm>
            <a:off x="841928" y="2685200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Value Streams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40" name="Hexagon 39"/>
          <p:cNvSpPr/>
          <p:nvPr/>
        </p:nvSpPr>
        <p:spPr>
          <a:xfrm rot="5400000">
            <a:off x="1436856" y="3583296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41" name="TextBox 40"/>
          <p:cNvSpPr txBox="1"/>
          <p:nvPr/>
        </p:nvSpPr>
        <p:spPr>
          <a:xfrm>
            <a:off x="1536424" y="3952850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Value Streams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42" name="Hexagon 41"/>
          <p:cNvSpPr/>
          <p:nvPr/>
        </p:nvSpPr>
        <p:spPr>
          <a:xfrm rot="5400000">
            <a:off x="2118348" y="4837948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43" name="TextBox 42"/>
          <p:cNvSpPr txBox="1"/>
          <p:nvPr/>
        </p:nvSpPr>
        <p:spPr>
          <a:xfrm>
            <a:off x="2217916" y="5207502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Value Streams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44" name="Hexagon 43"/>
          <p:cNvSpPr/>
          <p:nvPr/>
        </p:nvSpPr>
        <p:spPr>
          <a:xfrm rot="5400000">
            <a:off x="3543288" y="4853438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45" name="TextBox 44"/>
          <p:cNvSpPr txBox="1"/>
          <p:nvPr/>
        </p:nvSpPr>
        <p:spPr>
          <a:xfrm>
            <a:off x="3642856" y="5222992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Value Streams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46" name="Hexagon 45"/>
          <p:cNvSpPr/>
          <p:nvPr/>
        </p:nvSpPr>
        <p:spPr>
          <a:xfrm rot="5400000">
            <a:off x="4952738" y="4853438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47" name="TextBox 46"/>
          <p:cNvSpPr txBox="1"/>
          <p:nvPr/>
        </p:nvSpPr>
        <p:spPr>
          <a:xfrm>
            <a:off x="5052306" y="5222992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Value Streams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48" name="Hexagon 47"/>
          <p:cNvSpPr/>
          <p:nvPr/>
        </p:nvSpPr>
        <p:spPr>
          <a:xfrm rot="5400000">
            <a:off x="5665208" y="3598785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49" name="TextBox 48"/>
          <p:cNvSpPr txBox="1"/>
          <p:nvPr/>
        </p:nvSpPr>
        <p:spPr>
          <a:xfrm>
            <a:off x="5764776" y="3968339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Value Streams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50" name="Hexagon 49"/>
          <p:cNvSpPr/>
          <p:nvPr/>
        </p:nvSpPr>
        <p:spPr>
          <a:xfrm rot="5400000">
            <a:off x="6377677" y="2328640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51" name="TextBox 50"/>
          <p:cNvSpPr txBox="1"/>
          <p:nvPr/>
        </p:nvSpPr>
        <p:spPr>
          <a:xfrm>
            <a:off x="6477245" y="2698194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Value Streams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52" name="Hexagon 51"/>
          <p:cNvSpPr/>
          <p:nvPr/>
        </p:nvSpPr>
        <p:spPr>
          <a:xfrm rot="5400000">
            <a:off x="5680697" y="1058497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53" name="TextBox 52"/>
          <p:cNvSpPr txBox="1"/>
          <p:nvPr/>
        </p:nvSpPr>
        <p:spPr>
          <a:xfrm>
            <a:off x="5780265" y="1428051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Value Streams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54" name="Hexagon 53"/>
          <p:cNvSpPr/>
          <p:nvPr/>
        </p:nvSpPr>
        <p:spPr>
          <a:xfrm rot="5400000">
            <a:off x="2133837" y="-211649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55" name="TextBox 54"/>
          <p:cNvSpPr txBox="1"/>
          <p:nvPr/>
        </p:nvSpPr>
        <p:spPr>
          <a:xfrm>
            <a:off x="2233405" y="157905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Value Streams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56" name="Hexagon 55"/>
          <p:cNvSpPr/>
          <p:nvPr/>
        </p:nvSpPr>
        <p:spPr>
          <a:xfrm rot="5400000">
            <a:off x="3543288" y="-211648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57" name="TextBox 56"/>
          <p:cNvSpPr txBox="1"/>
          <p:nvPr/>
        </p:nvSpPr>
        <p:spPr>
          <a:xfrm>
            <a:off x="3642856" y="157906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Value Streams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58" name="Hexagon 57"/>
          <p:cNvSpPr/>
          <p:nvPr/>
        </p:nvSpPr>
        <p:spPr>
          <a:xfrm rot="5400000">
            <a:off x="4952739" y="-196157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59" name="TextBox 58"/>
          <p:cNvSpPr txBox="1"/>
          <p:nvPr/>
        </p:nvSpPr>
        <p:spPr>
          <a:xfrm>
            <a:off x="5052307" y="173397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Value Streams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2174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23D1F-8B6B-46FD-90B9-289ACA433332}" type="datetime1">
              <a:rPr lang="en-US" smtClean="0"/>
              <a:pPr/>
              <a:t>9/16/14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4" name="Hexagon 23"/>
          <p:cNvSpPr/>
          <p:nvPr/>
        </p:nvSpPr>
        <p:spPr>
          <a:xfrm rot="5400000">
            <a:off x="4269239" y="1050493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sp>
      <p:sp>
        <p:nvSpPr>
          <p:cNvPr id="22" name="Hexagon 21"/>
          <p:cNvSpPr/>
          <p:nvPr/>
        </p:nvSpPr>
        <p:spPr>
          <a:xfrm rot="5400000">
            <a:off x="2853759" y="1050493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sp>
      <p:sp>
        <p:nvSpPr>
          <p:cNvPr id="20" name="Hexagon 19"/>
          <p:cNvSpPr/>
          <p:nvPr/>
        </p:nvSpPr>
        <p:spPr>
          <a:xfrm rot="5400000">
            <a:off x="3558787" y="2329185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8" name="Hexagon 17"/>
          <p:cNvSpPr/>
          <p:nvPr/>
        </p:nvSpPr>
        <p:spPr>
          <a:xfrm rot="5400000">
            <a:off x="4974268" y="2329185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sp>
      <p:sp>
        <p:nvSpPr>
          <p:cNvPr id="16" name="Hexagon 15"/>
          <p:cNvSpPr/>
          <p:nvPr/>
        </p:nvSpPr>
        <p:spPr>
          <a:xfrm rot="5400000">
            <a:off x="4269239" y="3607878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sp>
      <p:sp>
        <p:nvSpPr>
          <p:cNvPr id="14" name="Hexagon 13"/>
          <p:cNvSpPr/>
          <p:nvPr/>
        </p:nvSpPr>
        <p:spPr>
          <a:xfrm rot="5400000">
            <a:off x="2853759" y="3607878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sp>
      <p:sp>
        <p:nvSpPr>
          <p:cNvPr id="27" name="Hexagon 26"/>
          <p:cNvSpPr/>
          <p:nvPr/>
        </p:nvSpPr>
        <p:spPr>
          <a:xfrm rot="5400000">
            <a:off x="2148909" y="2314143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sp>
      <p:sp>
        <p:nvSpPr>
          <p:cNvPr id="29" name="TextBox 28"/>
          <p:cNvSpPr txBox="1"/>
          <p:nvPr/>
        </p:nvSpPr>
        <p:spPr>
          <a:xfrm>
            <a:off x="3655277" y="2602245"/>
            <a:ext cx="1316519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Calibri"/>
                <a:cs typeface="Calibri"/>
              </a:rPr>
              <a:t>Desired Outcomes</a:t>
            </a:r>
            <a:endParaRPr lang="en-US" sz="20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93219" y="2770134"/>
            <a:ext cx="131651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Standards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398721" y="1559453"/>
            <a:ext cx="128057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Employees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393754" y="3960334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Environ-</a:t>
            </a:r>
            <a:r>
              <a:rPr lang="en-US" b="1" dirty="0" err="1" smtClean="0">
                <a:solidFill>
                  <a:schemeClr val="bg1"/>
                </a:solidFill>
                <a:latin typeface="Calibri"/>
                <a:cs typeface="Calibri"/>
              </a:rPr>
              <a:t>ment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937839" y="4099741"/>
            <a:ext cx="131651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Value Chain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937838" y="1559453"/>
            <a:ext cx="131651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Customers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240858" y="2674701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Regulatory Agencies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6" name="Hexagon 35"/>
          <p:cNvSpPr/>
          <p:nvPr/>
        </p:nvSpPr>
        <p:spPr>
          <a:xfrm rot="5400000">
            <a:off x="1441825" y="1063488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37" name="TextBox 36"/>
          <p:cNvSpPr txBox="1"/>
          <p:nvPr/>
        </p:nvSpPr>
        <p:spPr>
          <a:xfrm>
            <a:off x="1541393" y="1433042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Value Streams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8" name="Hexagon 37"/>
          <p:cNvSpPr/>
          <p:nvPr/>
        </p:nvSpPr>
        <p:spPr>
          <a:xfrm rot="5400000">
            <a:off x="742360" y="2315646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39" name="TextBox 38"/>
          <p:cNvSpPr txBox="1"/>
          <p:nvPr/>
        </p:nvSpPr>
        <p:spPr>
          <a:xfrm>
            <a:off x="841928" y="2685200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Value Streams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40" name="Hexagon 39"/>
          <p:cNvSpPr/>
          <p:nvPr/>
        </p:nvSpPr>
        <p:spPr>
          <a:xfrm rot="5400000">
            <a:off x="1436856" y="3583296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41" name="TextBox 40"/>
          <p:cNvSpPr txBox="1"/>
          <p:nvPr/>
        </p:nvSpPr>
        <p:spPr>
          <a:xfrm>
            <a:off x="1536424" y="3952850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Value Streams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42" name="Hexagon 41"/>
          <p:cNvSpPr/>
          <p:nvPr/>
        </p:nvSpPr>
        <p:spPr>
          <a:xfrm rot="5400000">
            <a:off x="2118348" y="4837948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43" name="TextBox 42"/>
          <p:cNvSpPr txBox="1"/>
          <p:nvPr/>
        </p:nvSpPr>
        <p:spPr>
          <a:xfrm>
            <a:off x="2217916" y="5207502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Value Streams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44" name="Hexagon 43"/>
          <p:cNvSpPr/>
          <p:nvPr/>
        </p:nvSpPr>
        <p:spPr>
          <a:xfrm rot="5400000">
            <a:off x="3543288" y="4853438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45" name="TextBox 44"/>
          <p:cNvSpPr txBox="1"/>
          <p:nvPr/>
        </p:nvSpPr>
        <p:spPr>
          <a:xfrm>
            <a:off x="3642856" y="5222992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Value Streams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46" name="Hexagon 45"/>
          <p:cNvSpPr/>
          <p:nvPr/>
        </p:nvSpPr>
        <p:spPr>
          <a:xfrm rot="5400000">
            <a:off x="4952738" y="4853438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47" name="TextBox 46"/>
          <p:cNvSpPr txBox="1"/>
          <p:nvPr/>
        </p:nvSpPr>
        <p:spPr>
          <a:xfrm>
            <a:off x="5052306" y="5222992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Value Streams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48" name="Hexagon 47"/>
          <p:cNvSpPr/>
          <p:nvPr/>
        </p:nvSpPr>
        <p:spPr>
          <a:xfrm rot="5400000">
            <a:off x="5665208" y="3598785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49" name="TextBox 48"/>
          <p:cNvSpPr txBox="1"/>
          <p:nvPr/>
        </p:nvSpPr>
        <p:spPr>
          <a:xfrm>
            <a:off x="5764776" y="3968339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Value Streams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50" name="Hexagon 49"/>
          <p:cNvSpPr/>
          <p:nvPr/>
        </p:nvSpPr>
        <p:spPr>
          <a:xfrm rot="5400000">
            <a:off x="6377677" y="2328640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51" name="TextBox 50"/>
          <p:cNvSpPr txBox="1"/>
          <p:nvPr/>
        </p:nvSpPr>
        <p:spPr>
          <a:xfrm>
            <a:off x="6477245" y="2698194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Value Streams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52" name="Hexagon 51"/>
          <p:cNvSpPr/>
          <p:nvPr/>
        </p:nvSpPr>
        <p:spPr>
          <a:xfrm rot="5400000">
            <a:off x="5680697" y="1058497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53" name="TextBox 52"/>
          <p:cNvSpPr txBox="1"/>
          <p:nvPr/>
        </p:nvSpPr>
        <p:spPr>
          <a:xfrm>
            <a:off x="5780265" y="1428051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Value Streams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54" name="Hexagon 53"/>
          <p:cNvSpPr/>
          <p:nvPr/>
        </p:nvSpPr>
        <p:spPr>
          <a:xfrm rot="5400000">
            <a:off x="2133837" y="-211649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55" name="TextBox 54"/>
          <p:cNvSpPr txBox="1"/>
          <p:nvPr/>
        </p:nvSpPr>
        <p:spPr>
          <a:xfrm>
            <a:off x="2233405" y="157905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Value Streams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56" name="Hexagon 55"/>
          <p:cNvSpPr/>
          <p:nvPr/>
        </p:nvSpPr>
        <p:spPr>
          <a:xfrm rot="5400000">
            <a:off x="3543288" y="-211648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57" name="TextBox 56"/>
          <p:cNvSpPr txBox="1"/>
          <p:nvPr/>
        </p:nvSpPr>
        <p:spPr>
          <a:xfrm>
            <a:off x="3642856" y="157906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Value Streams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58" name="Hexagon 57"/>
          <p:cNvSpPr/>
          <p:nvPr/>
        </p:nvSpPr>
        <p:spPr>
          <a:xfrm rot="5400000">
            <a:off x="4952739" y="-196157"/>
            <a:ext cx="1506471" cy="1310630"/>
          </a:xfrm>
          <a:prstGeom prst="hexagon">
            <a:avLst>
              <a:gd name="adj" fmla="val 25000"/>
              <a:gd name="vf" fmla="val 1154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59" name="TextBox 58"/>
          <p:cNvSpPr txBox="1"/>
          <p:nvPr/>
        </p:nvSpPr>
        <p:spPr>
          <a:xfrm>
            <a:off x="5052307" y="173397"/>
            <a:ext cx="1316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libri"/>
                <a:cs typeface="Calibri"/>
              </a:rPr>
              <a:t>Value Streams</a:t>
            </a:r>
            <a:endParaRPr lang="en-US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35343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47725" y="1084270"/>
            <a:ext cx="6758928" cy="5467812"/>
            <a:chOff x="7431" y="1282408"/>
            <a:chExt cx="5988173" cy="4917894"/>
          </a:xfrm>
        </p:grpSpPr>
        <p:pic>
          <p:nvPicPr>
            <p:cNvPr id="85" name="Picture 8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1" y="4825978"/>
              <a:ext cx="5988173" cy="1374324"/>
            </a:xfrm>
            <a:prstGeom prst="rect">
              <a:avLst/>
            </a:prstGeom>
          </p:spPr>
        </p:pic>
        <p:grpSp>
          <p:nvGrpSpPr>
            <p:cNvPr id="110" name="Group 109"/>
            <p:cNvGrpSpPr/>
            <p:nvPr/>
          </p:nvGrpSpPr>
          <p:grpSpPr>
            <a:xfrm>
              <a:off x="448547" y="1282408"/>
              <a:ext cx="4816404" cy="4362736"/>
              <a:chOff x="1249306" y="692697"/>
              <a:chExt cx="6238812" cy="5651165"/>
            </a:xfrm>
          </p:grpSpPr>
          <p:grpSp>
            <p:nvGrpSpPr>
              <p:cNvPr id="137" name="Group 136"/>
              <p:cNvGrpSpPr/>
              <p:nvPr/>
            </p:nvGrpSpPr>
            <p:grpSpPr>
              <a:xfrm>
                <a:off x="4453333" y="692697"/>
                <a:ext cx="3034785" cy="3970334"/>
                <a:chOff x="4453333" y="692697"/>
                <a:chExt cx="3034785" cy="3970334"/>
              </a:xfrm>
            </p:grpSpPr>
            <p:sp>
              <p:nvSpPr>
                <p:cNvPr id="154" name="Oval 6"/>
                <p:cNvSpPr/>
                <p:nvPr/>
              </p:nvSpPr>
              <p:spPr>
                <a:xfrm>
                  <a:off x="4634578" y="840239"/>
                  <a:ext cx="1606602" cy="25268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6602" h="2526830">
                      <a:moveTo>
                        <a:pt x="0" y="0"/>
                      </a:moveTo>
                      <a:cubicBezTo>
                        <a:pt x="612111" y="14809"/>
                        <a:pt x="1171399" y="242590"/>
                        <a:pt x="1606602" y="612157"/>
                      </a:cubicBezTo>
                      <a:lnTo>
                        <a:pt x="0" y="252683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18900000" scaled="1"/>
                </a:gradFill>
                <a:ln w="2540">
                  <a:noFill/>
                </a:ln>
                <a:scene3d>
                  <a:camera prst="orthographicFront"/>
                  <a:lightRig rig="threePt" dir="t"/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5" name="TextBox 154"/>
                <p:cNvSpPr txBox="1"/>
                <p:nvPr/>
              </p:nvSpPr>
              <p:spPr>
                <a:xfrm>
                  <a:off x="4453333" y="1252352"/>
                  <a:ext cx="1647883" cy="6095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1" dirty="0" smtClean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Competitors</a:t>
                  </a:r>
                </a:p>
                <a:p>
                  <a:pPr algn="ctr"/>
                  <a:r>
                    <a:rPr lang="en-US" sz="1400" b="1" dirty="0" smtClean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 &amp; Partners</a:t>
                  </a:r>
                  <a:endParaRPr lang="en-US" sz="14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156" name="Oval 6"/>
                <p:cNvSpPr/>
                <p:nvPr/>
              </p:nvSpPr>
              <p:spPr>
                <a:xfrm>
                  <a:off x="4668615" y="1480308"/>
                  <a:ext cx="2442953" cy="1909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2953" h="1909823">
                      <a:moveTo>
                        <a:pt x="1602532" y="0"/>
                      </a:moveTo>
                      <a:cubicBezTo>
                        <a:pt x="2033393" y="375815"/>
                        <a:pt x="2337438" y="892871"/>
                        <a:pt x="2442953" y="1479065"/>
                      </a:cubicBezTo>
                      <a:lnTo>
                        <a:pt x="0" y="1909823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18900000" scaled="1"/>
                </a:gradFill>
                <a:ln w="2540">
                  <a:noFill/>
                </a:ln>
                <a:scene3d>
                  <a:camera prst="orthographicFront"/>
                  <a:lightRig rig="threePt" dir="t"/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7" name="Oval 6"/>
                <p:cNvSpPr/>
                <p:nvPr/>
              </p:nvSpPr>
              <p:spPr>
                <a:xfrm>
                  <a:off x="4695910" y="2999554"/>
                  <a:ext cx="2457923" cy="1663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7923" h="1663477">
                      <a:moveTo>
                        <a:pt x="2423292" y="0"/>
                      </a:moveTo>
                      <a:cubicBezTo>
                        <a:pt x="2446104" y="137801"/>
                        <a:pt x="2457923" y="279299"/>
                        <a:pt x="2457923" y="423559"/>
                      </a:cubicBezTo>
                      <a:cubicBezTo>
                        <a:pt x="2457923" y="872948"/>
                        <a:pt x="2343229" y="1295549"/>
                        <a:pt x="2141137" y="1663477"/>
                      </a:cubicBezTo>
                      <a:lnTo>
                        <a:pt x="0" y="427292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18900000" scaled="1"/>
                </a:gradFill>
                <a:ln w="2540">
                  <a:noFill/>
                </a:ln>
                <a:scene3d>
                  <a:camera prst="orthographicFront"/>
                  <a:lightRig rig="threePt" dir="t"/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8" name="Rectangle 7"/>
                <p:cNvSpPr/>
                <p:nvPr/>
              </p:nvSpPr>
              <p:spPr>
                <a:xfrm>
                  <a:off x="4635407" y="692697"/>
                  <a:ext cx="2669460" cy="3967614"/>
                </a:xfrm>
                <a:custGeom>
                  <a:avLst/>
                  <a:gdLst>
                    <a:gd name="connsiteX0" fmla="*/ 0 w 685800"/>
                    <a:gd name="connsiteY0" fmla="*/ 0 h 179112"/>
                    <a:gd name="connsiteX1" fmla="*/ 685800 w 685800"/>
                    <a:gd name="connsiteY1" fmla="*/ 0 h 179112"/>
                    <a:gd name="connsiteX2" fmla="*/ 685800 w 685800"/>
                    <a:gd name="connsiteY2" fmla="*/ 179112 h 179112"/>
                    <a:gd name="connsiteX3" fmla="*/ 0 w 685800"/>
                    <a:gd name="connsiteY3" fmla="*/ 179112 h 179112"/>
                    <a:gd name="connsiteX4" fmla="*/ 0 w 685800"/>
                    <a:gd name="connsiteY4" fmla="*/ 0 h 179112"/>
                    <a:gd name="connsiteX0" fmla="*/ 0 w 1276919"/>
                    <a:gd name="connsiteY0" fmla="*/ 0 h 2274982"/>
                    <a:gd name="connsiteX1" fmla="*/ 685800 w 1276919"/>
                    <a:gd name="connsiteY1" fmla="*/ 0 h 2274982"/>
                    <a:gd name="connsiteX2" fmla="*/ 1276919 w 1276919"/>
                    <a:gd name="connsiteY2" fmla="*/ 2274982 h 2274982"/>
                    <a:gd name="connsiteX3" fmla="*/ 0 w 1276919"/>
                    <a:gd name="connsiteY3" fmla="*/ 179112 h 2274982"/>
                    <a:gd name="connsiteX4" fmla="*/ 0 w 1276919"/>
                    <a:gd name="connsiteY4" fmla="*/ 0 h 2274982"/>
                    <a:gd name="connsiteX0" fmla="*/ 0 w 1604728"/>
                    <a:gd name="connsiteY0" fmla="*/ 0 h 2455933"/>
                    <a:gd name="connsiteX1" fmla="*/ 1604728 w 1604728"/>
                    <a:gd name="connsiteY1" fmla="*/ 2455933 h 2455933"/>
                    <a:gd name="connsiteX2" fmla="*/ 1276919 w 1604728"/>
                    <a:gd name="connsiteY2" fmla="*/ 2274982 h 2455933"/>
                    <a:gd name="connsiteX3" fmla="*/ 0 w 1604728"/>
                    <a:gd name="connsiteY3" fmla="*/ 179112 h 2455933"/>
                    <a:gd name="connsiteX4" fmla="*/ 0 w 1604728"/>
                    <a:gd name="connsiteY4" fmla="*/ 0 h 2455933"/>
                    <a:gd name="connsiteX0" fmla="*/ 0 w 1604728"/>
                    <a:gd name="connsiteY0" fmla="*/ 27 h 2455960"/>
                    <a:gd name="connsiteX1" fmla="*/ 1604728 w 1604728"/>
                    <a:gd name="connsiteY1" fmla="*/ 2455960 h 2455960"/>
                    <a:gd name="connsiteX2" fmla="*/ 1276919 w 1604728"/>
                    <a:gd name="connsiteY2" fmla="*/ 2275009 h 2455960"/>
                    <a:gd name="connsiteX3" fmla="*/ 0 w 1604728"/>
                    <a:gd name="connsiteY3" fmla="*/ 179139 h 2455960"/>
                    <a:gd name="connsiteX4" fmla="*/ 0 w 1604728"/>
                    <a:gd name="connsiteY4" fmla="*/ 27 h 2455960"/>
                    <a:gd name="connsiteX0" fmla="*/ 0 w 1711231"/>
                    <a:gd name="connsiteY0" fmla="*/ 28 h 2455961"/>
                    <a:gd name="connsiteX1" fmla="*/ 1604728 w 1711231"/>
                    <a:gd name="connsiteY1" fmla="*/ 2455961 h 2455961"/>
                    <a:gd name="connsiteX2" fmla="*/ 1276919 w 1711231"/>
                    <a:gd name="connsiteY2" fmla="*/ 2275010 h 2455961"/>
                    <a:gd name="connsiteX3" fmla="*/ 0 w 1711231"/>
                    <a:gd name="connsiteY3" fmla="*/ 179140 h 2455961"/>
                    <a:gd name="connsiteX4" fmla="*/ 0 w 1711231"/>
                    <a:gd name="connsiteY4" fmla="*/ 28 h 2455961"/>
                    <a:gd name="connsiteX0" fmla="*/ 0 w 1646921"/>
                    <a:gd name="connsiteY0" fmla="*/ 29 h 2405722"/>
                    <a:gd name="connsiteX1" fmla="*/ 1531998 w 1646921"/>
                    <a:gd name="connsiteY1" fmla="*/ 2405722 h 2405722"/>
                    <a:gd name="connsiteX2" fmla="*/ 1276919 w 1646921"/>
                    <a:gd name="connsiteY2" fmla="*/ 2275011 h 2405722"/>
                    <a:gd name="connsiteX3" fmla="*/ 0 w 1646921"/>
                    <a:gd name="connsiteY3" fmla="*/ 179141 h 2405722"/>
                    <a:gd name="connsiteX4" fmla="*/ 0 w 1646921"/>
                    <a:gd name="connsiteY4" fmla="*/ 29 h 2405722"/>
                    <a:gd name="connsiteX0" fmla="*/ 0 w 1684573"/>
                    <a:gd name="connsiteY0" fmla="*/ 29 h 2405722"/>
                    <a:gd name="connsiteX1" fmla="*/ 1531998 w 1684573"/>
                    <a:gd name="connsiteY1" fmla="*/ 2405722 h 2405722"/>
                    <a:gd name="connsiteX2" fmla="*/ 1276919 w 1684573"/>
                    <a:gd name="connsiteY2" fmla="*/ 2275011 h 2405722"/>
                    <a:gd name="connsiteX3" fmla="*/ 0 w 1684573"/>
                    <a:gd name="connsiteY3" fmla="*/ 179141 h 2405722"/>
                    <a:gd name="connsiteX4" fmla="*/ 0 w 1684573"/>
                    <a:gd name="connsiteY4" fmla="*/ 29 h 2405722"/>
                    <a:gd name="connsiteX0" fmla="*/ 0 w 1686755"/>
                    <a:gd name="connsiteY0" fmla="*/ 0 h 2405693"/>
                    <a:gd name="connsiteX1" fmla="*/ 1531998 w 1686755"/>
                    <a:gd name="connsiteY1" fmla="*/ 2405693 h 2405693"/>
                    <a:gd name="connsiteX2" fmla="*/ 1276919 w 1686755"/>
                    <a:gd name="connsiteY2" fmla="*/ 2274982 h 2405693"/>
                    <a:gd name="connsiteX3" fmla="*/ 0 w 1686755"/>
                    <a:gd name="connsiteY3" fmla="*/ 179112 h 2405693"/>
                    <a:gd name="connsiteX4" fmla="*/ 0 w 1686755"/>
                    <a:gd name="connsiteY4" fmla="*/ 0 h 2405693"/>
                    <a:gd name="connsiteX0" fmla="*/ 0 w 1686755"/>
                    <a:gd name="connsiteY0" fmla="*/ 0 h 2405693"/>
                    <a:gd name="connsiteX1" fmla="*/ 1531998 w 1686755"/>
                    <a:gd name="connsiteY1" fmla="*/ 2405693 h 2405693"/>
                    <a:gd name="connsiteX2" fmla="*/ 1442657 w 1686755"/>
                    <a:gd name="connsiteY2" fmla="*/ 2356213 h 2405693"/>
                    <a:gd name="connsiteX3" fmla="*/ 1276919 w 1686755"/>
                    <a:gd name="connsiteY3" fmla="*/ 2274982 h 2405693"/>
                    <a:gd name="connsiteX4" fmla="*/ 0 w 1686755"/>
                    <a:gd name="connsiteY4" fmla="*/ 179112 h 2405693"/>
                    <a:gd name="connsiteX5" fmla="*/ 0 w 1686755"/>
                    <a:gd name="connsiteY5" fmla="*/ 0 h 2405693"/>
                    <a:gd name="connsiteX0" fmla="*/ 0 w 1686755"/>
                    <a:gd name="connsiteY0" fmla="*/ 0 h 2500972"/>
                    <a:gd name="connsiteX1" fmla="*/ 1531998 w 1686755"/>
                    <a:gd name="connsiteY1" fmla="*/ 2405693 h 2500972"/>
                    <a:gd name="connsiteX2" fmla="*/ 1383826 w 1686755"/>
                    <a:gd name="connsiteY2" fmla="*/ 2500972 h 2500972"/>
                    <a:gd name="connsiteX3" fmla="*/ 1276919 w 1686755"/>
                    <a:gd name="connsiteY3" fmla="*/ 2274982 h 2500972"/>
                    <a:gd name="connsiteX4" fmla="*/ 0 w 1686755"/>
                    <a:gd name="connsiteY4" fmla="*/ 179112 h 2500972"/>
                    <a:gd name="connsiteX5" fmla="*/ 0 w 1686755"/>
                    <a:gd name="connsiteY5" fmla="*/ 0 h 2500972"/>
                    <a:gd name="connsiteX0" fmla="*/ 0 w 1686755"/>
                    <a:gd name="connsiteY0" fmla="*/ 0 h 2500972"/>
                    <a:gd name="connsiteX1" fmla="*/ 1531998 w 1686755"/>
                    <a:gd name="connsiteY1" fmla="*/ 2405693 h 2500972"/>
                    <a:gd name="connsiteX2" fmla="*/ 1479520 w 1686755"/>
                    <a:gd name="connsiteY2" fmla="*/ 2435239 h 2500972"/>
                    <a:gd name="connsiteX3" fmla="*/ 1383826 w 1686755"/>
                    <a:gd name="connsiteY3" fmla="*/ 2500972 h 2500972"/>
                    <a:gd name="connsiteX4" fmla="*/ 1276919 w 1686755"/>
                    <a:gd name="connsiteY4" fmla="*/ 2274982 h 2500972"/>
                    <a:gd name="connsiteX5" fmla="*/ 0 w 1686755"/>
                    <a:gd name="connsiteY5" fmla="*/ 179112 h 2500972"/>
                    <a:gd name="connsiteX6" fmla="*/ 0 w 1686755"/>
                    <a:gd name="connsiteY6" fmla="*/ 0 h 2500972"/>
                    <a:gd name="connsiteX0" fmla="*/ 0 w 1686755"/>
                    <a:gd name="connsiteY0" fmla="*/ 0 h 2500972"/>
                    <a:gd name="connsiteX1" fmla="*/ 1531998 w 1686755"/>
                    <a:gd name="connsiteY1" fmla="*/ 2405693 h 2500972"/>
                    <a:gd name="connsiteX2" fmla="*/ 1630638 w 1686755"/>
                    <a:gd name="connsiteY2" fmla="*/ 2459246 h 2500972"/>
                    <a:gd name="connsiteX3" fmla="*/ 1383826 w 1686755"/>
                    <a:gd name="connsiteY3" fmla="*/ 2500972 h 2500972"/>
                    <a:gd name="connsiteX4" fmla="*/ 1276919 w 1686755"/>
                    <a:gd name="connsiteY4" fmla="*/ 2274982 h 2500972"/>
                    <a:gd name="connsiteX5" fmla="*/ 0 w 1686755"/>
                    <a:gd name="connsiteY5" fmla="*/ 179112 h 2500972"/>
                    <a:gd name="connsiteX6" fmla="*/ 0 w 1686755"/>
                    <a:gd name="connsiteY6" fmla="*/ 0 h 2500972"/>
                    <a:gd name="connsiteX0" fmla="*/ 0 w 1686755"/>
                    <a:gd name="connsiteY0" fmla="*/ 0 h 2487961"/>
                    <a:gd name="connsiteX1" fmla="*/ 1531998 w 1686755"/>
                    <a:gd name="connsiteY1" fmla="*/ 2405693 h 2487961"/>
                    <a:gd name="connsiteX2" fmla="*/ 1630638 w 1686755"/>
                    <a:gd name="connsiteY2" fmla="*/ 2459246 h 2487961"/>
                    <a:gd name="connsiteX3" fmla="*/ 1380340 w 1686755"/>
                    <a:gd name="connsiteY3" fmla="*/ 2487961 h 2487961"/>
                    <a:gd name="connsiteX4" fmla="*/ 1276919 w 1686755"/>
                    <a:gd name="connsiteY4" fmla="*/ 2274982 h 2487961"/>
                    <a:gd name="connsiteX5" fmla="*/ 0 w 1686755"/>
                    <a:gd name="connsiteY5" fmla="*/ 179112 h 2487961"/>
                    <a:gd name="connsiteX6" fmla="*/ 0 w 1686755"/>
                    <a:gd name="connsiteY6" fmla="*/ 0 h 2487961"/>
                    <a:gd name="connsiteX0" fmla="*/ 0 w 1686755"/>
                    <a:gd name="connsiteY0" fmla="*/ 0 h 2494467"/>
                    <a:gd name="connsiteX1" fmla="*/ 1531998 w 1686755"/>
                    <a:gd name="connsiteY1" fmla="*/ 2405693 h 2494467"/>
                    <a:gd name="connsiteX2" fmla="*/ 1630638 w 1686755"/>
                    <a:gd name="connsiteY2" fmla="*/ 2459246 h 2494467"/>
                    <a:gd name="connsiteX3" fmla="*/ 1382084 w 1686755"/>
                    <a:gd name="connsiteY3" fmla="*/ 2494467 h 2494467"/>
                    <a:gd name="connsiteX4" fmla="*/ 1276919 w 1686755"/>
                    <a:gd name="connsiteY4" fmla="*/ 2274982 h 2494467"/>
                    <a:gd name="connsiteX5" fmla="*/ 0 w 1686755"/>
                    <a:gd name="connsiteY5" fmla="*/ 179112 h 2494467"/>
                    <a:gd name="connsiteX6" fmla="*/ 0 w 1686755"/>
                    <a:gd name="connsiteY6" fmla="*/ 0 h 2494467"/>
                    <a:gd name="connsiteX0" fmla="*/ 0 w 1686755"/>
                    <a:gd name="connsiteY0" fmla="*/ 0 h 2494467"/>
                    <a:gd name="connsiteX1" fmla="*/ 1531998 w 1686755"/>
                    <a:gd name="connsiteY1" fmla="*/ 2405693 h 2494467"/>
                    <a:gd name="connsiteX2" fmla="*/ 1630638 w 1686755"/>
                    <a:gd name="connsiteY2" fmla="*/ 2459246 h 2494467"/>
                    <a:gd name="connsiteX3" fmla="*/ 1382084 w 1686755"/>
                    <a:gd name="connsiteY3" fmla="*/ 2494467 h 2494467"/>
                    <a:gd name="connsiteX4" fmla="*/ 1276919 w 1686755"/>
                    <a:gd name="connsiteY4" fmla="*/ 2274982 h 2494467"/>
                    <a:gd name="connsiteX5" fmla="*/ 1219873 w 1686755"/>
                    <a:gd name="connsiteY5" fmla="*/ 2175347 h 2494467"/>
                    <a:gd name="connsiteX6" fmla="*/ 0 w 1686755"/>
                    <a:gd name="connsiteY6" fmla="*/ 179112 h 2494467"/>
                    <a:gd name="connsiteX7" fmla="*/ 0 w 1686755"/>
                    <a:gd name="connsiteY7" fmla="*/ 0 h 2494467"/>
                    <a:gd name="connsiteX0" fmla="*/ 0 w 1686755"/>
                    <a:gd name="connsiteY0" fmla="*/ 0 h 2494467"/>
                    <a:gd name="connsiteX1" fmla="*/ 1531998 w 1686755"/>
                    <a:gd name="connsiteY1" fmla="*/ 2405693 h 2494467"/>
                    <a:gd name="connsiteX2" fmla="*/ 1630638 w 1686755"/>
                    <a:gd name="connsiteY2" fmla="*/ 2459246 h 2494467"/>
                    <a:gd name="connsiteX3" fmla="*/ 1382084 w 1686755"/>
                    <a:gd name="connsiteY3" fmla="*/ 2494467 h 2494467"/>
                    <a:gd name="connsiteX4" fmla="*/ 1276919 w 1686755"/>
                    <a:gd name="connsiteY4" fmla="*/ 2274982 h 2494467"/>
                    <a:gd name="connsiteX5" fmla="*/ 1370797 w 1686755"/>
                    <a:gd name="connsiteY5" fmla="*/ 2309226 h 2494467"/>
                    <a:gd name="connsiteX6" fmla="*/ 0 w 1686755"/>
                    <a:gd name="connsiteY6" fmla="*/ 179112 h 2494467"/>
                    <a:gd name="connsiteX7" fmla="*/ 0 w 1686755"/>
                    <a:gd name="connsiteY7" fmla="*/ 0 h 2494467"/>
                    <a:gd name="connsiteX0" fmla="*/ 0 w 1686755"/>
                    <a:gd name="connsiteY0" fmla="*/ 0 h 2494467"/>
                    <a:gd name="connsiteX1" fmla="*/ 1531998 w 1686755"/>
                    <a:gd name="connsiteY1" fmla="*/ 2405693 h 2494467"/>
                    <a:gd name="connsiteX2" fmla="*/ 1630638 w 1686755"/>
                    <a:gd name="connsiteY2" fmla="*/ 2459246 h 2494467"/>
                    <a:gd name="connsiteX3" fmla="*/ 1382084 w 1686755"/>
                    <a:gd name="connsiteY3" fmla="*/ 2494467 h 2494467"/>
                    <a:gd name="connsiteX4" fmla="*/ 1267246 w 1686755"/>
                    <a:gd name="connsiteY4" fmla="*/ 2258399 h 2494467"/>
                    <a:gd name="connsiteX5" fmla="*/ 1370797 w 1686755"/>
                    <a:gd name="connsiteY5" fmla="*/ 2309226 h 2494467"/>
                    <a:gd name="connsiteX6" fmla="*/ 0 w 1686755"/>
                    <a:gd name="connsiteY6" fmla="*/ 179112 h 2494467"/>
                    <a:gd name="connsiteX7" fmla="*/ 0 w 1686755"/>
                    <a:gd name="connsiteY7" fmla="*/ 0 h 2494467"/>
                    <a:gd name="connsiteX0" fmla="*/ 0 w 1679685"/>
                    <a:gd name="connsiteY0" fmla="*/ 0 h 2494467"/>
                    <a:gd name="connsiteX1" fmla="*/ 1531998 w 1679685"/>
                    <a:gd name="connsiteY1" fmla="*/ 2405693 h 2494467"/>
                    <a:gd name="connsiteX2" fmla="*/ 1630638 w 1679685"/>
                    <a:gd name="connsiteY2" fmla="*/ 2459246 h 2494467"/>
                    <a:gd name="connsiteX3" fmla="*/ 1382084 w 1679685"/>
                    <a:gd name="connsiteY3" fmla="*/ 2494467 h 2494467"/>
                    <a:gd name="connsiteX4" fmla="*/ 1267246 w 1679685"/>
                    <a:gd name="connsiteY4" fmla="*/ 2258399 h 2494467"/>
                    <a:gd name="connsiteX5" fmla="*/ 1370797 w 1679685"/>
                    <a:gd name="connsiteY5" fmla="*/ 2309226 h 2494467"/>
                    <a:gd name="connsiteX6" fmla="*/ 0 w 1679685"/>
                    <a:gd name="connsiteY6" fmla="*/ 179112 h 2494467"/>
                    <a:gd name="connsiteX7" fmla="*/ 0 w 1679685"/>
                    <a:gd name="connsiteY7" fmla="*/ 0 h 2494467"/>
                    <a:gd name="connsiteX0" fmla="*/ 0 w 1678802"/>
                    <a:gd name="connsiteY0" fmla="*/ 0 h 2494467"/>
                    <a:gd name="connsiteX1" fmla="*/ 1531998 w 1678802"/>
                    <a:gd name="connsiteY1" fmla="*/ 2405693 h 2494467"/>
                    <a:gd name="connsiteX2" fmla="*/ 1630638 w 1678802"/>
                    <a:gd name="connsiteY2" fmla="*/ 2459246 h 2494467"/>
                    <a:gd name="connsiteX3" fmla="*/ 1382084 w 1678802"/>
                    <a:gd name="connsiteY3" fmla="*/ 2494467 h 2494467"/>
                    <a:gd name="connsiteX4" fmla="*/ 1267246 w 1678802"/>
                    <a:gd name="connsiteY4" fmla="*/ 2258399 h 2494467"/>
                    <a:gd name="connsiteX5" fmla="*/ 1370797 w 1678802"/>
                    <a:gd name="connsiteY5" fmla="*/ 2309226 h 2494467"/>
                    <a:gd name="connsiteX6" fmla="*/ 0 w 1678802"/>
                    <a:gd name="connsiteY6" fmla="*/ 179112 h 2494467"/>
                    <a:gd name="connsiteX7" fmla="*/ 0 w 1678802"/>
                    <a:gd name="connsiteY7" fmla="*/ 0 h 2494467"/>
                    <a:gd name="connsiteX0" fmla="*/ 0 w 1678802"/>
                    <a:gd name="connsiteY0" fmla="*/ 0 h 2494467"/>
                    <a:gd name="connsiteX1" fmla="*/ 1531998 w 1678802"/>
                    <a:gd name="connsiteY1" fmla="*/ 2405693 h 2494467"/>
                    <a:gd name="connsiteX2" fmla="*/ 1630638 w 1678802"/>
                    <a:gd name="connsiteY2" fmla="*/ 2459246 h 2494467"/>
                    <a:gd name="connsiteX3" fmla="*/ 1382084 w 1678802"/>
                    <a:gd name="connsiteY3" fmla="*/ 2494467 h 2494467"/>
                    <a:gd name="connsiteX4" fmla="*/ 1267246 w 1678802"/>
                    <a:gd name="connsiteY4" fmla="*/ 2258399 h 2494467"/>
                    <a:gd name="connsiteX5" fmla="*/ 1370797 w 1678802"/>
                    <a:gd name="connsiteY5" fmla="*/ 2309226 h 2494467"/>
                    <a:gd name="connsiteX6" fmla="*/ 0 w 1678802"/>
                    <a:gd name="connsiteY6" fmla="*/ 179112 h 2494467"/>
                    <a:gd name="connsiteX7" fmla="*/ 0 w 1678802"/>
                    <a:gd name="connsiteY7" fmla="*/ 0 h 2494467"/>
                    <a:gd name="connsiteX0" fmla="*/ 0 w 1678802"/>
                    <a:gd name="connsiteY0" fmla="*/ 0 h 2494467"/>
                    <a:gd name="connsiteX1" fmla="*/ 1531998 w 1678802"/>
                    <a:gd name="connsiteY1" fmla="*/ 2405693 h 2494467"/>
                    <a:gd name="connsiteX2" fmla="*/ 1630638 w 1678802"/>
                    <a:gd name="connsiteY2" fmla="*/ 2459246 h 2494467"/>
                    <a:gd name="connsiteX3" fmla="*/ 1382084 w 1678802"/>
                    <a:gd name="connsiteY3" fmla="*/ 2494467 h 2494467"/>
                    <a:gd name="connsiteX4" fmla="*/ 1267246 w 1678802"/>
                    <a:gd name="connsiteY4" fmla="*/ 2258399 h 2494467"/>
                    <a:gd name="connsiteX5" fmla="*/ 1370797 w 1678802"/>
                    <a:gd name="connsiteY5" fmla="*/ 2309226 h 2494467"/>
                    <a:gd name="connsiteX6" fmla="*/ 0 w 1678802"/>
                    <a:gd name="connsiteY6" fmla="*/ 179112 h 2494467"/>
                    <a:gd name="connsiteX7" fmla="*/ 0 w 1678802"/>
                    <a:gd name="connsiteY7" fmla="*/ 0 h 2494467"/>
                    <a:gd name="connsiteX0" fmla="*/ 0 w 1678802"/>
                    <a:gd name="connsiteY0" fmla="*/ 0 h 2494467"/>
                    <a:gd name="connsiteX1" fmla="*/ 1531998 w 1678802"/>
                    <a:gd name="connsiteY1" fmla="*/ 2405693 h 2494467"/>
                    <a:gd name="connsiteX2" fmla="*/ 1630638 w 1678802"/>
                    <a:gd name="connsiteY2" fmla="*/ 2459246 h 2494467"/>
                    <a:gd name="connsiteX3" fmla="*/ 1382084 w 1678802"/>
                    <a:gd name="connsiteY3" fmla="*/ 2494467 h 2494467"/>
                    <a:gd name="connsiteX4" fmla="*/ 1267246 w 1678802"/>
                    <a:gd name="connsiteY4" fmla="*/ 2258399 h 2494467"/>
                    <a:gd name="connsiteX5" fmla="*/ 1370797 w 1678802"/>
                    <a:gd name="connsiteY5" fmla="*/ 2309226 h 2494467"/>
                    <a:gd name="connsiteX6" fmla="*/ 0 w 1678802"/>
                    <a:gd name="connsiteY6" fmla="*/ 179112 h 2494467"/>
                    <a:gd name="connsiteX7" fmla="*/ 0 w 1678802"/>
                    <a:gd name="connsiteY7" fmla="*/ 0 h 2494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678802" h="2494467">
                      <a:moveTo>
                        <a:pt x="0" y="0"/>
                      </a:moveTo>
                      <a:cubicBezTo>
                        <a:pt x="1480388" y="58325"/>
                        <a:pt x="1951797" y="1500667"/>
                        <a:pt x="1531998" y="2405693"/>
                      </a:cubicBezTo>
                      <a:lnTo>
                        <a:pt x="1630638" y="2459246"/>
                      </a:lnTo>
                      <a:lnTo>
                        <a:pt x="1382084" y="2494467"/>
                      </a:lnTo>
                      <a:lnTo>
                        <a:pt x="1267246" y="2258399"/>
                      </a:lnTo>
                      <a:lnTo>
                        <a:pt x="1370797" y="2309226"/>
                      </a:lnTo>
                      <a:cubicBezTo>
                        <a:pt x="1695911" y="1674433"/>
                        <a:pt x="1431842" y="257934"/>
                        <a:pt x="0" y="179112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38100" cmpd="sng">
                  <a:solidFill>
                    <a:schemeClr val="accent2"/>
                  </a:solidFill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27000" h="381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9" name="TextBox 158"/>
                <p:cNvSpPr txBox="1"/>
                <p:nvPr/>
              </p:nvSpPr>
              <p:spPr>
                <a:xfrm>
                  <a:off x="5810422" y="2184331"/>
                  <a:ext cx="1183281" cy="6095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1" dirty="0" smtClean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Decisions &amp; Events</a:t>
                  </a:r>
                  <a:endParaRPr lang="en-US" sz="14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160" name="TextBox 159"/>
                <p:cNvSpPr txBox="1"/>
                <p:nvPr/>
              </p:nvSpPr>
              <p:spPr>
                <a:xfrm>
                  <a:off x="5936796" y="3420784"/>
                  <a:ext cx="1551322" cy="3986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1" dirty="0" smtClean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Information</a:t>
                  </a:r>
                  <a:endParaRPr lang="en-US" sz="14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38" name="Group 137"/>
              <p:cNvGrpSpPr/>
              <p:nvPr/>
            </p:nvGrpSpPr>
            <p:grpSpPr>
              <a:xfrm>
                <a:off x="1249306" y="839204"/>
                <a:ext cx="4001112" cy="3842730"/>
                <a:chOff x="1249306" y="839204"/>
                <a:chExt cx="4001112" cy="3842730"/>
              </a:xfrm>
            </p:grpSpPr>
            <p:sp>
              <p:nvSpPr>
                <p:cNvPr id="147" name="Oval 6"/>
                <p:cNvSpPr/>
                <p:nvPr/>
              </p:nvSpPr>
              <p:spPr>
                <a:xfrm>
                  <a:off x="2999849" y="839204"/>
                  <a:ext cx="1545121" cy="2511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121" h="2511709">
                      <a:moveTo>
                        <a:pt x="1545121" y="0"/>
                      </a:moveTo>
                      <a:lnTo>
                        <a:pt x="1545121" y="2511709"/>
                      </a:lnTo>
                      <a:lnTo>
                        <a:pt x="0" y="534044"/>
                      </a:lnTo>
                      <a:cubicBezTo>
                        <a:pt x="427679" y="202561"/>
                        <a:pt x="963440" y="5160"/>
                        <a:pt x="1545121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13500000" scaled="1"/>
                  <a:tileRect/>
                </a:gradFill>
                <a:ln w="2540">
                  <a:noFill/>
                </a:ln>
                <a:scene3d>
                  <a:camera prst="orthographicFront"/>
                  <a:lightRig rig="threePt" dir="t"/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8" name="TextBox 147"/>
                <p:cNvSpPr txBox="1"/>
                <p:nvPr/>
              </p:nvSpPr>
              <p:spPr>
                <a:xfrm>
                  <a:off x="3135987" y="1301792"/>
                  <a:ext cx="1494053" cy="3986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1" dirty="0" smtClean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Customers</a:t>
                  </a:r>
                  <a:endParaRPr lang="en-US" sz="14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149" name="Oval 6"/>
                <p:cNvSpPr/>
                <p:nvPr/>
              </p:nvSpPr>
              <p:spPr>
                <a:xfrm>
                  <a:off x="2027483" y="1397907"/>
                  <a:ext cx="2500935" cy="1998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0935" h="1998246">
                      <a:moveTo>
                        <a:pt x="939735" y="0"/>
                      </a:moveTo>
                      <a:lnTo>
                        <a:pt x="2500935" y="1998246"/>
                      </a:lnTo>
                      <a:lnTo>
                        <a:pt x="0" y="1557264"/>
                      </a:lnTo>
                      <a:cubicBezTo>
                        <a:pt x="114603" y="928651"/>
                        <a:pt x="457207" y="379797"/>
                        <a:pt x="939735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13500000" scaled="1"/>
                  <a:tileRect/>
                </a:gradFill>
                <a:ln w="2540">
                  <a:noFill/>
                </a:ln>
                <a:scene3d>
                  <a:camera prst="orthographicFront"/>
                  <a:lightRig rig="threePt" dir="t"/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0" name="Oval 6"/>
                <p:cNvSpPr/>
                <p:nvPr/>
              </p:nvSpPr>
              <p:spPr>
                <a:xfrm>
                  <a:off x="1984781" y="2995484"/>
                  <a:ext cx="2497478" cy="1686450"/>
                </a:xfrm>
                <a:custGeom>
                  <a:avLst/>
                  <a:gdLst>
                    <a:gd name="connsiteX0" fmla="*/ 40044 w 2862139"/>
                    <a:gd name="connsiteY0" fmla="*/ 1813565 h 3698915"/>
                    <a:gd name="connsiteX1" fmla="*/ 2792032 w 2862139"/>
                    <a:gd name="connsiteY1" fmla="*/ 2298815 h 3698915"/>
                    <a:gd name="connsiteX2" fmla="*/ 366986 w 2862139"/>
                    <a:gd name="connsiteY2" fmla="*/ 3698915 h 3698915"/>
                    <a:gd name="connsiteX3" fmla="*/ 0 w 2862139"/>
                    <a:gd name="connsiteY3" fmla="*/ 2291628 h 3698915"/>
                    <a:gd name="connsiteX4" fmla="*/ 40044 w 2862139"/>
                    <a:gd name="connsiteY4" fmla="*/ 1813565 h 3698915"/>
                    <a:gd name="connsiteX5" fmla="*/ 1098306 w 2862139"/>
                    <a:gd name="connsiteY5" fmla="*/ 27569 h 3698915"/>
                    <a:gd name="connsiteX6" fmla="*/ 2843635 w 2862139"/>
                    <a:gd name="connsiteY6" fmla="*/ 2261489 h 3698915"/>
                    <a:gd name="connsiteX7" fmla="*/ 47738 w 2862139"/>
                    <a:gd name="connsiteY7" fmla="*/ 1768497 h 3698915"/>
                    <a:gd name="connsiteX8" fmla="*/ 1098306 w 2862139"/>
                    <a:gd name="connsiteY8" fmla="*/ 27569 h 3698915"/>
                    <a:gd name="connsiteX9" fmla="*/ 1134785 w 2862139"/>
                    <a:gd name="connsiteY9" fmla="*/ 0 h 3698915"/>
                    <a:gd name="connsiteX10" fmla="*/ 2862139 w 2862139"/>
                    <a:gd name="connsiteY10" fmla="*/ 2210913 h 3698915"/>
                    <a:gd name="connsiteX11" fmla="*/ 1134785 w 2862139"/>
                    <a:gd name="connsiteY11" fmla="*/ 0 h 3698915"/>
                    <a:gd name="connsiteX0" fmla="*/ 40044 w 2862139"/>
                    <a:gd name="connsiteY0" fmla="*/ 1785995 h 3671345"/>
                    <a:gd name="connsiteX1" fmla="*/ 2792032 w 2862139"/>
                    <a:gd name="connsiteY1" fmla="*/ 2271245 h 3671345"/>
                    <a:gd name="connsiteX2" fmla="*/ 366986 w 2862139"/>
                    <a:gd name="connsiteY2" fmla="*/ 3671345 h 3671345"/>
                    <a:gd name="connsiteX3" fmla="*/ 0 w 2862139"/>
                    <a:gd name="connsiteY3" fmla="*/ 2264058 h 3671345"/>
                    <a:gd name="connsiteX4" fmla="*/ 40044 w 2862139"/>
                    <a:gd name="connsiteY4" fmla="*/ 1785995 h 3671345"/>
                    <a:gd name="connsiteX5" fmla="*/ 1098306 w 2862139"/>
                    <a:gd name="connsiteY5" fmla="*/ -1 h 3671345"/>
                    <a:gd name="connsiteX6" fmla="*/ 2843635 w 2862139"/>
                    <a:gd name="connsiteY6" fmla="*/ 2233919 h 3671345"/>
                    <a:gd name="connsiteX7" fmla="*/ 47738 w 2862139"/>
                    <a:gd name="connsiteY7" fmla="*/ 1740927 h 3671345"/>
                    <a:gd name="connsiteX8" fmla="*/ 1098306 w 2862139"/>
                    <a:gd name="connsiteY8" fmla="*/ -1 h 3671345"/>
                    <a:gd name="connsiteX9" fmla="*/ 1632093 w 2862139"/>
                    <a:gd name="connsiteY9" fmla="*/ 193456 h 3671345"/>
                    <a:gd name="connsiteX10" fmla="*/ 2862139 w 2862139"/>
                    <a:gd name="connsiteY10" fmla="*/ 2183343 h 3671345"/>
                    <a:gd name="connsiteX11" fmla="*/ 1632093 w 2862139"/>
                    <a:gd name="connsiteY11" fmla="*/ 193456 h 3671345"/>
                    <a:gd name="connsiteX0" fmla="*/ 40044 w 2843635"/>
                    <a:gd name="connsiteY0" fmla="*/ 1785996 h 3671346"/>
                    <a:gd name="connsiteX1" fmla="*/ 2792032 w 2843635"/>
                    <a:gd name="connsiteY1" fmla="*/ 2271246 h 3671346"/>
                    <a:gd name="connsiteX2" fmla="*/ 366986 w 2843635"/>
                    <a:gd name="connsiteY2" fmla="*/ 3671346 h 3671346"/>
                    <a:gd name="connsiteX3" fmla="*/ 0 w 2843635"/>
                    <a:gd name="connsiteY3" fmla="*/ 2264059 h 3671346"/>
                    <a:gd name="connsiteX4" fmla="*/ 40044 w 2843635"/>
                    <a:gd name="connsiteY4" fmla="*/ 1785996 h 3671346"/>
                    <a:gd name="connsiteX5" fmla="*/ 1098306 w 2843635"/>
                    <a:gd name="connsiteY5" fmla="*/ 0 h 3671346"/>
                    <a:gd name="connsiteX6" fmla="*/ 2843635 w 2843635"/>
                    <a:gd name="connsiteY6" fmla="*/ 2233920 h 3671346"/>
                    <a:gd name="connsiteX7" fmla="*/ 47738 w 2843635"/>
                    <a:gd name="connsiteY7" fmla="*/ 1740928 h 3671346"/>
                    <a:gd name="connsiteX8" fmla="*/ 1098306 w 2843635"/>
                    <a:gd name="connsiteY8" fmla="*/ 0 h 3671346"/>
                    <a:gd name="connsiteX0" fmla="*/ 40044 w 2843635"/>
                    <a:gd name="connsiteY0" fmla="*/ 45068 h 1930418"/>
                    <a:gd name="connsiteX1" fmla="*/ 2792032 w 2843635"/>
                    <a:gd name="connsiteY1" fmla="*/ 530318 h 1930418"/>
                    <a:gd name="connsiteX2" fmla="*/ 366986 w 2843635"/>
                    <a:gd name="connsiteY2" fmla="*/ 1930418 h 1930418"/>
                    <a:gd name="connsiteX3" fmla="*/ 0 w 2843635"/>
                    <a:gd name="connsiteY3" fmla="*/ 523131 h 1930418"/>
                    <a:gd name="connsiteX4" fmla="*/ 40044 w 2843635"/>
                    <a:gd name="connsiteY4" fmla="*/ 45068 h 1930418"/>
                    <a:gd name="connsiteX5" fmla="*/ 47738 w 2843635"/>
                    <a:gd name="connsiteY5" fmla="*/ 0 h 1930418"/>
                    <a:gd name="connsiteX6" fmla="*/ 2843635 w 2843635"/>
                    <a:gd name="connsiteY6" fmla="*/ 492992 h 1930418"/>
                    <a:gd name="connsiteX7" fmla="*/ 47738 w 2843635"/>
                    <a:gd name="connsiteY7" fmla="*/ 0 h 1930418"/>
                    <a:gd name="connsiteX0" fmla="*/ 40044 w 2792032"/>
                    <a:gd name="connsiteY0" fmla="*/ 0 h 1885350"/>
                    <a:gd name="connsiteX1" fmla="*/ 2792032 w 2792032"/>
                    <a:gd name="connsiteY1" fmla="*/ 485250 h 1885350"/>
                    <a:gd name="connsiteX2" fmla="*/ 366986 w 2792032"/>
                    <a:gd name="connsiteY2" fmla="*/ 1885350 h 1885350"/>
                    <a:gd name="connsiteX3" fmla="*/ 0 w 2792032"/>
                    <a:gd name="connsiteY3" fmla="*/ 478063 h 1885350"/>
                    <a:gd name="connsiteX4" fmla="*/ 40044 w 2792032"/>
                    <a:gd name="connsiteY4" fmla="*/ 0 h 1885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92032" h="1885350">
                      <a:moveTo>
                        <a:pt x="40044" y="0"/>
                      </a:moveTo>
                      <a:lnTo>
                        <a:pt x="2792032" y="485250"/>
                      </a:lnTo>
                      <a:lnTo>
                        <a:pt x="366986" y="1885350"/>
                      </a:lnTo>
                      <a:cubicBezTo>
                        <a:pt x="132763" y="1469478"/>
                        <a:pt x="0" y="989275"/>
                        <a:pt x="0" y="478063"/>
                      </a:cubicBezTo>
                      <a:cubicBezTo>
                        <a:pt x="0" y="315169"/>
                        <a:pt x="13480" y="155423"/>
                        <a:pt x="40044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13500000" scaled="1"/>
                  <a:tileRect/>
                </a:gradFill>
                <a:ln w="2540">
                  <a:noFill/>
                </a:ln>
                <a:scene3d>
                  <a:camera prst="orthographicFront"/>
                  <a:lightRig rig="threePt" dir="t"/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1" name="Rectangle 7"/>
                <p:cNvSpPr/>
                <p:nvPr/>
              </p:nvSpPr>
              <p:spPr>
                <a:xfrm rot="14400000">
                  <a:off x="1906450" y="592338"/>
                  <a:ext cx="2686824" cy="4001112"/>
                </a:xfrm>
                <a:custGeom>
                  <a:avLst/>
                  <a:gdLst>
                    <a:gd name="connsiteX0" fmla="*/ 0 w 685800"/>
                    <a:gd name="connsiteY0" fmla="*/ 0 h 179112"/>
                    <a:gd name="connsiteX1" fmla="*/ 685800 w 685800"/>
                    <a:gd name="connsiteY1" fmla="*/ 0 h 179112"/>
                    <a:gd name="connsiteX2" fmla="*/ 685800 w 685800"/>
                    <a:gd name="connsiteY2" fmla="*/ 179112 h 179112"/>
                    <a:gd name="connsiteX3" fmla="*/ 0 w 685800"/>
                    <a:gd name="connsiteY3" fmla="*/ 179112 h 179112"/>
                    <a:gd name="connsiteX4" fmla="*/ 0 w 685800"/>
                    <a:gd name="connsiteY4" fmla="*/ 0 h 179112"/>
                    <a:gd name="connsiteX0" fmla="*/ 0 w 1276919"/>
                    <a:gd name="connsiteY0" fmla="*/ 0 h 2274982"/>
                    <a:gd name="connsiteX1" fmla="*/ 685800 w 1276919"/>
                    <a:gd name="connsiteY1" fmla="*/ 0 h 2274982"/>
                    <a:gd name="connsiteX2" fmla="*/ 1276919 w 1276919"/>
                    <a:gd name="connsiteY2" fmla="*/ 2274982 h 2274982"/>
                    <a:gd name="connsiteX3" fmla="*/ 0 w 1276919"/>
                    <a:gd name="connsiteY3" fmla="*/ 179112 h 2274982"/>
                    <a:gd name="connsiteX4" fmla="*/ 0 w 1276919"/>
                    <a:gd name="connsiteY4" fmla="*/ 0 h 2274982"/>
                    <a:gd name="connsiteX0" fmla="*/ 0 w 1604728"/>
                    <a:gd name="connsiteY0" fmla="*/ 0 h 2455933"/>
                    <a:gd name="connsiteX1" fmla="*/ 1604728 w 1604728"/>
                    <a:gd name="connsiteY1" fmla="*/ 2455933 h 2455933"/>
                    <a:gd name="connsiteX2" fmla="*/ 1276919 w 1604728"/>
                    <a:gd name="connsiteY2" fmla="*/ 2274982 h 2455933"/>
                    <a:gd name="connsiteX3" fmla="*/ 0 w 1604728"/>
                    <a:gd name="connsiteY3" fmla="*/ 179112 h 2455933"/>
                    <a:gd name="connsiteX4" fmla="*/ 0 w 1604728"/>
                    <a:gd name="connsiteY4" fmla="*/ 0 h 2455933"/>
                    <a:gd name="connsiteX0" fmla="*/ 0 w 1604728"/>
                    <a:gd name="connsiteY0" fmla="*/ 27 h 2455960"/>
                    <a:gd name="connsiteX1" fmla="*/ 1604728 w 1604728"/>
                    <a:gd name="connsiteY1" fmla="*/ 2455960 h 2455960"/>
                    <a:gd name="connsiteX2" fmla="*/ 1276919 w 1604728"/>
                    <a:gd name="connsiteY2" fmla="*/ 2275009 h 2455960"/>
                    <a:gd name="connsiteX3" fmla="*/ 0 w 1604728"/>
                    <a:gd name="connsiteY3" fmla="*/ 179139 h 2455960"/>
                    <a:gd name="connsiteX4" fmla="*/ 0 w 1604728"/>
                    <a:gd name="connsiteY4" fmla="*/ 27 h 2455960"/>
                    <a:gd name="connsiteX0" fmla="*/ 0 w 1711231"/>
                    <a:gd name="connsiteY0" fmla="*/ 28 h 2455961"/>
                    <a:gd name="connsiteX1" fmla="*/ 1604728 w 1711231"/>
                    <a:gd name="connsiteY1" fmla="*/ 2455961 h 2455961"/>
                    <a:gd name="connsiteX2" fmla="*/ 1276919 w 1711231"/>
                    <a:gd name="connsiteY2" fmla="*/ 2275010 h 2455961"/>
                    <a:gd name="connsiteX3" fmla="*/ 0 w 1711231"/>
                    <a:gd name="connsiteY3" fmla="*/ 179140 h 2455961"/>
                    <a:gd name="connsiteX4" fmla="*/ 0 w 1711231"/>
                    <a:gd name="connsiteY4" fmla="*/ 28 h 2455961"/>
                    <a:gd name="connsiteX0" fmla="*/ 0 w 1646921"/>
                    <a:gd name="connsiteY0" fmla="*/ 29 h 2405722"/>
                    <a:gd name="connsiteX1" fmla="*/ 1531998 w 1646921"/>
                    <a:gd name="connsiteY1" fmla="*/ 2405722 h 2405722"/>
                    <a:gd name="connsiteX2" fmla="*/ 1276919 w 1646921"/>
                    <a:gd name="connsiteY2" fmla="*/ 2275011 h 2405722"/>
                    <a:gd name="connsiteX3" fmla="*/ 0 w 1646921"/>
                    <a:gd name="connsiteY3" fmla="*/ 179141 h 2405722"/>
                    <a:gd name="connsiteX4" fmla="*/ 0 w 1646921"/>
                    <a:gd name="connsiteY4" fmla="*/ 29 h 2405722"/>
                    <a:gd name="connsiteX0" fmla="*/ 0 w 1684573"/>
                    <a:gd name="connsiteY0" fmla="*/ 29 h 2405722"/>
                    <a:gd name="connsiteX1" fmla="*/ 1531998 w 1684573"/>
                    <a:gd name="connsiteY1" fmla="*/ 2405722 h 2405722"/>
                    <a:gd name="connsiteX2" fmla="*/ 1276919 w 1684573"/>
                    <a:gd name="connsiteY2" fmla="*/ 2275011 h 2405722"/>
                    <a:gd name="connsiteX3" fmla="*/ 0 w 1684573"/>
                    <a:gd name="connsiteY3" fmla="*/ 179141 h 2405722"/>
                    <a:gd name="connsiteX4" fmla="*/ 0 w 1684573"/>
                    <a:gd name="connsiteY4" fmla="*/ 29 h 2405722"/>
                    <a:gd name="connsiteX0" fmla="*/ 0 w 1686755"/>
                    <a:gd name="connsiteY0" fmla="*/ 0 h 2405693"/>
                    <a:gd name="connsiteX1" fmla="*/ 1531998 w 1686755"/>
                    <a:gd name="connsiteY1" fmla="*/ 2405693 h 2405693"/>
                    <a:gd name="connsiteX2" fmla="*/ 1276919 w 1686755"/>
                    <a:gd name="connsiteY2" fmla="*/ 2274982 h 2405693"/>
                    <a:gd name="connsiteX3" fmla="*/ 0 w 1686755"/>
                    <a:gd name="connsiteY3" fmla="*/ 179112 h 2405693"/>
                    <a:gd name="connsiteX4" fmla="*/ 0 w 1686755"/>
                    <a:gd name="connsiteY4" fmla="*/ 0 h 2405693"/>
                    <a:gd name="connsiteX0" fmla="*/ 0 w 1686755"/>
                    <a:gd name="connsiteY0" fmla="*/ 0 h 2405693"/>
                    <a:gd name="connsiteX1" fmla="*/ 1531998 w 1686755"/>
                    <a:gd name="connsiteY1" fmla="*/ 2405693 h 2405693"/>
                    <a:gd name="connsiteX2" fmla="*/ 1442657 w 1686755"/>
                    <a:gd name="connsiteY2" fmla="*/ 2356213 h 2405693"/>
                    <a:gd name="connsiteX3" fmla="*/ 1276919 w 1686755"/>
                    <a:gd name="connsiteY3" fmla="*/ 2274982 h 2405693"/>
                    <a:gd name="connsiteX4" fmla="*/ 0 w 1686755"/>
                    <a:gd name="connsiteY4" fmla="*/ 179112 h 2405693"/>
                    <a:gd name="connsiteX5" fmla="*/ 0 w 1686755"/>
                    <a:gd name="connsiteY5" fmla="*/ 0 h 2405693"/>
                    <a:gd name="connsiteX0" fmla="*/ 0 w 1686755"/>
                    <a:gd name="connsiteY0" fmla="*/ 0 h 2500972"/>
                    <a:gd name="connsiteX1" fmla="*/ 1531998 w 1686755"/>
                    <a:gd name="connsiteY1" fmla="*/ 2405693 h 2500972"/>
                    <a:gd name="connsiteX2" fmla="*/ 1383826 w 1686755"/>
                    <a:gd name="connsiteY2" fmla="*/ 2500972 h 2500972"/>
                    <a:gd name="connsiteX3" fmla="*/ 1276919 w 1686755"/>
                    <a:gd name="connsiteY3" fmla="*/ 2274982 h 2500972"/>
                    <a:gd name="connsiteX4" fmla="*/ 0 w 1686755"/>
                    <a:gd name="connsiteY4" fmla="*/ 179112 h 2500972"/>
                    <a:gd name="connsiteX5" fmla="*/ 0 w 1686755"/>
                    <a:gd name="connsiteY5" fmla="*/ 0 h 2500972"/>
                    <a:gd name="connsiteX0" fmla="*/ 0 w 1686755"/>
                    <a:gd name="connsiteY0" fmla="*/ 0 h 2500972"/>
                    <a:gd name="connsiteX1" fmla="*/ 1531998 w 1686755"/>
                    <a:gd name="connsiteY1" fmla="*/ 2405693 h 2500972"/>
                    <a:gd name="connsiteX2" fmla="*/ 1479520 w 1686755"/>
                    <a:gd name="connsiteY2" fmla="*/ 2435239 h 2500972"/>
                    <a:gd name="connsiteX3" fmla="*/ 1383826 w 1686755"/>
                    <a:gd name="connsiteY3" fmla="*/ 2500972 h 2500972"/>
                    <a:gd name="connsiteX4" fmla="*/ 1276919 w 1686755"/>
                    <a:gd name="connsiteY4" fmla="*/ 2274982 h 2500972"/>
                    <a:gd name="connsiteX5" fmla="*/ 0 w 1686755"/>
                    <a:gd name="connsiteY5" fmla="*/ 179112 h 2500972"/>
                    <a:gd name="connsiteX6" fmla="*/ 0 w 1686755"/>
                    <a:gd name="connsiteY6" fmla="*/ 0 h 2500972"/>
                    <a:gd name="connsiteX0" fmla="*/ 0 w 1686755"/>
                    <a:gd name="connsiteY0" fmla="*/ 0 h 2500972"/>
                    <a:gd name="connsiteX1" fmla="*/ 1531998 w 1686755"/>
                    <a:gd name="connsiteY1" fmla="*/ 2405693 h 2500972"/>
                    <a:gd name="connsiteX2" fmla="*/ 1630638 w 1686755"/>
                    <a:gd name="connsiteY2" fmla="*/ 2459246 h 2500972"/>
                    <a:gd name="connsiteX3" fmla="*/ 1383826 w 1686755"/>
                    <a:gd name="connsiteY3" fmla="*/ 2500972 h 2500972"/>
                    <a:gd name="connsiteX4" fmla="*/ 1276919 w 1686755"/>
                    <a:gd name="connsiteY4" fmla="*/ 2274982 h 2500972"/>
                    <a:gd name="connsiteX5" fmla="*/ 0 w 1686755"/>
                    <a:gd name="connsiteY5" fmla="*/ 179112 h 2500972"/>
                    <a:gd name="connsiteX6" fmla="*/ 0 w 1686755"/>
                    <a:gd name="connsiteY6" fmla="*/ 0 h 2500972"/>
                    <a:gd name="connsiteX0" fmla="*/ 0 w 1686755"/>
                    <a:gd name="connsiteY0" fmla="*/ 0 h 2487961"/>
                    <a:gd name="connsiteX1" fmla="*/ 1531998 w 1686755"/>
                    <a:gd name="connsiteY1" fmla="*/ 2405693 h 2487961"/>
                    <a:gd name="connsiteX2" fmla="*/ 1630638 w 1686755"/>
                    <a:gd name="connsiteY2" fmla="*/ 2459246 h 2487961"/>
                    <a:gd name="connsiteX3" fmla="*/ 1380340 w 1686755"/>
                    <a:gd name="connsiteY3" fmla="*/ 2487961 h 2487961"/>
                    <a:gd name="connsiteX4" fmla="*/ 1276919 w 1686755"/>
                    <a:gd name="connsiteY4" fmla="*/ 2274982 h 2487961"/>
                    <a:gd name="connsiteX5" fmla="*/ 0 w 1686755"/>
                    <a:gd name="connsiteY5" fmla="*/ 179112 h 2487961"/>
                    <a:gd name="connsiteX6" fmla="*/ 0 w 1686755"/>
                    <a:gd name="connsiteY6" fmla="*/ 0 h 2487961"/>
                    <a:gd name="connsiteX0" fmla="*/ 0 w 1686755"/>
                    <a:gd name="connsiteY0" fmla="*/ 0 h 2494467"/>
                    <a:gd name="connsiteX1" fmla="*/ 1531998 w 1686755"/>
                    <a:gd name="connsiteY1" fmla="*/ 2405693 h 2494467"/>
                    <a:gd name="connsiteX2" fmla="*/ 1630638 w 1686755"/>
                    <a:gd name="connsiteY2" fmla="*/ 2459246 h 2494467"/>
                    <a:gd name="connsiteX3" fmla="*/ 1382084 w 1686755"/>
                    <a:gd name="connsiteY3" fmla="*/ 2494467 h 2494467"/>
                    <a:gd name="connsiteX4" fmla="*/ 1276919 w 1686755"/>
                    <a:gd name="connsiteY4" fmla="*/ 2274982 h 2494467"/>
                    <a:gd name="connsiteX5" fmla="*/ 0 w 1686755"/>
                    <a:gd name="connsiteY5" fmla="*/ 179112 h 2494467"/>
                    <a:gd name="connsiteX6" fmla="*/ 0 w 1686755"/>
                    <a:gd name="connsiteY6" fmla="*/ 0 h 2494467"/>
                    <a:gd name="connsiteX0" fmla="*/ 0 w 1686755"/>
                    <a:gd name="connsiteY0" fmla="*/ 0 h 2494467"/>
                    <a:gd name="connsiteX1" fmla="*/ 1531998 w 1686755"/>
                    <a:gd name="connsiteY1" fmla="*/ 2405693 h 2494467"/>
                    <a:gd name="connsiteX2" fmla="*/ 1630638 w 1686755"/>
                    <a:gd name="connsiteY2" fmla="*/ 2459246 h 2494467"/>
                    <a:gd name="connsiteX3" fmla="*/ 1382084 w 1686755"/>
                    <a:gd name="connsiteY3" fmla="*/ 2494467 h 2494467"/>
                    <a:gd name="connsiteX4" fmla="*/ 1276919 w 1686755"/>
                    <a:gd name="connsiteY4" fmla="*/ 2274982 h 2494467"/>
                    <a:gd name="connsiteX5" fmla="*/ 1219873 w 1686755"/>
                    <a:gd name="connsiteY5" fmla="*/ 2175347 h 2494467"/>
                    <a:gd name="connsiteX6" fmla="*/ 0 w 1686755"/>
                    <a:gd name="connsiteY6" fmla="*/ 179112 h 2494467"/>
                    <a:gd name="connsiteX7" fmla="*/ 0 w 1686755"/>
                    <a:gd name="connsiteY7" fmla="*/ 0 h 2494467"/>
                    <a:gd name="connsiteX0" fmla="*/ 0 w 1686755"/>
                    <a:gd name="connsiteY0" fmla="*/ 0 h 2494467"/>
                    <a:gd name="connsiteX1" fmla="*/ 1531998 w 1686755"/>
                    <a:gd name="connsiteY1" fmla="*/ 2405693 h 2494467"/>
                    <a:gd name="connsiteX2" fmla="*/ 1630638 w 1686755"/>
                    <a:gd name="connsiteY2" fmla="*/ 2459246 h 2494467"/>
                    <a:gd name="connsiteX3" fmla="*/ 1382084 w 1686755"/>
                    <a:gd name="connsiteY3" fmla="*/ 2494467 h 2494467"/>
                    <a:gd name="connsiteX4" fmla="*/ 1276919 w 1686755"/>
                    <a:gd name="connsiteY4" fmla="*/ 2274982 h 2494467"/>
                    <a:gd name="connsiteX5" fmla="*/ 1370797 w 1686755"/>
                    <a:gd name="connsiteY5" fmla="*/ 2309226 h 2494467"/>
                    <a:gd name="connsiteX6" fmla="*/ 0 w 1686755"/>
                    <a:gd name="connsiteY6" fmla="*/ 179112 h 2494467"/>
                    <a:gd name="connsiteX7" fmla="*/ 0 w 1686755"/>
                    <a:gd name="connsiteY7" fmla="*/ 0 h 2494467"/>
                    <a:gd name="connsiteX0" fmla="*/ 0 w 1686755"/>
                    <a:gd name="connsiteY0" fmla="*/ 0 h 2494467"/>
                    <a:gd name="connsiteX1" fmla="*/ 1531998 w 1686755"/>
                    <a:gd name="connsiteY1" fmla="*/ 2405693 h 2494467"/>
                    <a:gd name="connsiteX2" fmla="*/ 1630638 w 1686755"/>
                    <a:gd name="connsiteY2" fmla="*/ 2459246 h 2494467"/>
                    <a:gd name="connsiteX3" fmla="*/ 1382084 w 1686755"/>
                    <a:gd name="connsiteY3" fmla="*/ 2494467 h 2494467"/>
                    <a:gd name="connsiteX4" fmla="*/ 1267246 w 1686755"/>
                    <a:gd name="connsiteY4" fmla="*/ 2258399 h 2494467"/>
                    <a:gd name="connsiteX5" fmla="*/ 1370797 w 1686755"/>
                    <a:gd name="connsiteY5" fmla="*/ 2309226 h 2494467"/>
                    <a:gd name="connsiteX6" fmla="*/ 0 w 1686755"/>
                    <a:gd name="connsiteY6" fmla="*/ 179112 h 2494467"/>
                    <a:gd name="connsiteX7" fmla="*/ 0 w 1686755"/>
                    <a:gd name="connsiteY7" fmla="*/ 0 h 2494467"/>
                    <a:gd name="connsiteX0" fmla="*/ 0 w 1679685"/>
                    <a:gd name="connsiteY0" fmla="*/ 0 h 2494467"/>
                    <a:gd name="connsiteX1" fmla="*/ 1531998 w 1679685"/>
                    <a:gd name="connsiteY1" fmla="*/ 2405693 h 2494467"/>
                    <a:gd name="connsiteX2" fmla="*/ 1630638 w 1679685"/>
                    <a:gd name="connsiteY2" fmla="*/ 2459246 h 2494467"/>
                    <a:gd name="connsiteX3" fmla="*/ 1382084 w 1679685"/>
                    <a:gd name="connsiteY3" fmla="*/ 2494467 h 2494467"/>
                    <a:gd name="connsiteX4" fmla="*/ 1267246 w 1679685"/>
                    <a:gd name="connsiteY4" fmla="*/ 2258399 h 2494467"/>
                    <a:gd name="connsiteX5" fmla="*/ 1370797 w 1679685"/>
                    <a:gd name="connsiteY5" fmla="*/ 2309226 h 2494467"/>
                    <a:gd name="connsiteX6" fmla="*/ 0 w 1679685"/>
                    <a:gd name="connsiteY6" fmla="*/ 179112 h 2494467"/>
                    <a:gd name="connsiteX7" fmla="*/ 0 w 1679685"/>
                    <a:gd name="connsiteY7" fmla="*/ 0 h 2494467"/>
                    <a:gd name="connsiteX0" fmla="*/ 0 w 1678802"/>
                    <a:gd name="connsiteY0" fmla="*/ 0 h 2494467"/>
                    <a:gd name="connsiteX1" fmla="*/ 1531998 w 1678802"/>
                    <a:gd name="connsiteY1" fmla="*/ 2405693 h 2494467"/>
                    <a:gd name="connsiteX2" fmla="*/ 1630638 w 1678802"/>
                    <a:gd name="connsiteY2" fmla="*/ 2459246 h 2494467"/>
                    <a:gd name="connsiteX3" fmla="*/ 1382084 w 1678802"/>
                    <a:gd name="connsiteY3" fmla="*/ 2494467 h 2494467"/>
                    <a:gd name="connsiteX4" fmla="*/ 1267246 w 1678802"/>
                    <a:gd name="connsiteY4" fmla="*/ 2258399 h 2494467"/>
                    <a:gd name="connsiteX5" fmla="*/ 1370797 w 1678802"/>
                    <a:gd name="connsiteY5" fmla="*/ 2309226 h 2494467"/>
                    <a:gd name="connsiteX6" fmla="*/ 0 w 1678802"/>
                    <a:gd name="connsiteY6" fmla="*/ 179112 h 2494467"/>
                    <a:gd name="connsiteX7" fmla="*/ 0 w 1678802"/>
                    <a:gd name="connsiteY7" fmla="*/ 0 h 2494467"/>
                    <a:gd name="connsiteX0" fmla="*/ 0 w 1678802"/>
                    <a:gd name="connsiteY0" fmla="*/ 0 h 2494467"/>
                    <a:gd name="connsiteX1" fmla="*/ 1531998 w 1678802"/>
                    <a:gd name="connsiteY1" fmla="*/ 2405693 h 2494467"/>
                    <a:gd name="connsiteX2" fmla="*/ 1630638 w 1678802"/>
                    <a:gd name="connsiteY2" fmla="*/ 2459246 h 2494467"/>
                    <a:gd name="connsiteX3" fmla="*/ 1382084 w 1678802"/>
                    <a:gd name="connsiteY3" fmla="*/ 2494467 h 2494467"/>
                    <a:gd name="connsiteX4" fmla="*/ 1267246 w 1678802"/>
                    <a:gd name="connsiteY4" fmla="*/ 2258399 h 2494467"/>
                    <a:gd name="connsiteX5" fmla="*/ 1370797 w 1678802"/>
                    <a:gd name="connsiteY5" fmla="*/ 2309226 h 2494467"/>
                    <a:gd name="connsiteX6" fmla="*/ 0 w 1678802"/>
                    <a:gd name="connsiteY6" fmla="*/ 179112 h 2494467"/>
                    <a:gd name="connsiteX7" fmla="*/ 0 w 1678802"/>
                    <a:gd name="connsiteY7" fmla="*/ 0 h 2494467"/>
                    <a:gd name="connsiteX0" fmla="*/ 0 w 1678802"/>
                    <a:gd name="connsiteY0" fmla="*/ 0 h 2494467"/>
                    <a:gd name="connsiteX1" fmla="*/ 1531998 w 1678802"/>
                    <a:gd name="connsiteY1" fmla="*/ 2405693 h 2494467"/>
                    <a:gd name="connsiteX2" fmla="*/ 1630638 w 1678802"/>
                    <a:gd name="connsiteY2" fmla="*/ 2459246 h 2494467"/>
                    <a:gd name="connsiteX3" fmla="*/ 1382084 w 1678802"/>
                    <a:gd name="connsiteY3" fmla="*/ 2494467 h 2494467"/>
                    <a:gd name="connsiteX4" fmla="*/ 1267246 w 1678802"/>
                    <a:gd name="connsiteY4" fmla="*/ 2258399 h 2494467"/>
                    <a:gd name="connsiteX5" fmla="*/ 1370797 w 1678802"/>
                    <a:gd name="connsiteY5" fmla="*/ 2309226 h 2494467"/>
                    <a:gd name="connsiteX6" fmla="*/ 0 w 1678802"/>
                    <a:gd name="connsiteY6" fmla="*/ 179112 h 2494467"/>
                    <a:gd name="connsiteX7" fmla="*/ 0 w 1678802"/>
                    <a:gd name="connsiteY7" fmla="*/ 0 h 2494467"/>
                    <a:gd name="connsiteX0" fmla="*/ 0 w 1678802"/>
                    <a:gd name="connsiteY0" fmla="*/ 0 h 2494467"/>
                    <a:gd name="connsiteX1" fmla="*/ 1531998 w 1678802"/>
                    <a:gd name="connsiteY1" fmla="*/ 2405693 h 2494467"/>
                    <a:gd name="connsiteX2" fmla="*/ 1630638 w 1678802"/>
                    <a:gd name="connsiteY2" fmla="*/ 2459246 h 2494467"/>
                    <a:gd name="connsiteX3" fmla="*/ 1382084 w 1678802"/>
                    <a:gd name="connsiteY3" fmla="*/ 2494467 h 2494467"/>
                    <a:gd name="connsiteX4" fmla="*/ 1267246 w 1678802"/>
                    <a:gd name="connsiteY4" fmla="*/ 2258399 h 2494467"/>
                    <a:gd name="connsiteX5" fmla="*/ 1370797 w 1678802"/>
                    <a:gd name="connsiteY5" fmla="*/ 2309226 h 2494467"/>
                    <a:gd name="connsiteX6" fmla="*/ 0 w 1678802"/>
                    <a:gd name="connsiteY6" fmla="*/ 179112 h 2494467"/>
                    <a:gd name="connsiteX7" fmla="*/ 0 w 1678802"/>
                    <a:gd name="connsiteY7" fmla="*/ 0 h 2494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678802" h="2494467">
                      <a:moveTo>
                        <a:pt x="0" y="0"/>
                      </a:moveTo>
                      <a:cubicBezTo>
                        <a:pt x="1480388" y="58325"/>
                        <a:pt x="1951797" y="1500667"/>
                        <a:pt x="1531998" y="2405693"/>
                      </a:cubicBezTo>
                      <a:lnTo>
                        <a:pt x="1630638" y="2459246"/>
                      </a:lnTo>
                      <a:lnTo>
                        <a:pt x="1382084" y="2494467"/>
                      </a:lnTo>
                      <a:lnTo>
                        <a:pt x="1267246" y="2258399"/>
                      </a:lnTo>
                      <a:lnTo>
                        <a:pt x="1370797" y="2309226"/>
                      </a:lnTo>
                      <a:cubicBezTo>
                        <a:pt x="1695911" y="1674433"/>
                        <a:pt x="1431842" y="257934"/>
                        <a:pt x="0" y="179112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38100" cmpd="sng">
                  <a:solidFill>
                    <a:srgbClr val="F96A1B"/>
                  </a:solidFill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27000" h="381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3" name="TextBox 152"/>
                <p:cNvSpPr txBox="1"/>
                <p:nvPr/>
              </p:nvSpPr>
              <p:spPr>
                <a:xfrm>
                  <a:off x="2079620" y="3460357"/>
                  <a:ext cx="1094883" cy="6095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1" dirty="0" smtClean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Metrics &amp; Measures</a:t>
                  </a:r>
                  <a:endParaRPr lang="en-US" sz="14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152" name="TextBox 151"/>
                <p:cNvSpPr txBox="1"/>
                <p:nvPr/>
              </p:nvSpPr>
              <p:spPr>
                <a:xfrm>
                  <a:off x="1882962" y="1982829"/>
                  <a:ext cx="1564878" cy="9568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1" dirty="0" smtClean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Policies,</a:t>
                  </a:r>
                  <a:r>
                    <a:rPr lang="en-US" sz="1400" b="1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 </a:t>
                  </a:r>
                  <a:endParaRPr lang="en-US" sz="1400" b="1" dirty="0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  <a:p>
                  <a:pPr algn="ctr"/>
                  <a:r>
                    <a:rPr lang="en-US" sz="1400" b="1" dirty="0" smtClean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Rules, Regulations</a:t>
                  </a:r>
                  <a:endParaRPr lang="en-US" sz="14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39" name="Group 138"/>
              <p:cNvGrpSpPr/>
              <p:nvPr/>
            </p:nvGrpSpPr>
            <p:grpSpPr>
              <a:xfrm>
                <a:off x="2359588" y="3493860"/>
                <a:ext cx="4430919" cy="2850002"/>
                <a:chOff x="2359588" y="3493860"/>
                <a:chExt cx="4430919" cy="2850002"/>
              </a:xfrm>
            </p:grpSpPr>
            <p:sp>
              <p:nvSpPr>
                <p:cNvPr id="140" name="Oval 6"/>
                <p:cNvSpPr/>
                <p:nvPr/>
              </p:nvSpPr>
              <p:spPr>
                <a:xfrm>
                  <a:off x="4632764" y="3493860"/>
                  <a:ext cx="2157743" cy="2344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7743" h="2344858">
                      <a:moveTo>
                        <a:pt x="0" y="0"/>
                      </a:moveTo>
                      <a:lnTo>
                        <a:pt x="2157743" y="1245774"/>
                      </a:lnTo>
                      <a:cubicBezTo>
                        <a:pt x="1862799" y="1746040"/>
                        <a:pt x="1403399" y="2137248"/>
                        <a:pt x="853459" y="234485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6000000" scaled="0"/>
                </a:gradFill>
                <a:ln w="2540">
                  <a:noFill/>
                </a:ln>
                <a:scene3d>
                  <a:camera prst="orthographicFront"/>
                  <a:lightRig rig="threePt" dir="t"/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1" name="TextBox 140"/>
                <p:cNvSpPr txBox="1"/>
                <p:nvPr/>
              </p:nvSpPr>
              <p:spPr>
                <a:xfrm>
                  <a:off x="5112151" y="4736087"/>
                  <a:ext cx="1414423" cy="4385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 smtClean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Services</a:t>
                  </a:r>
                  <a:endParaRPr lang="en-US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142" name="Oval 6"/>
                <p:cNvSpPr/>
                <p:nvPr/>
              </p:nvSpPr>
              <p:spPr>
                <a:xfrm>
                  <a:off x="2359588" y="3494104"/>
                  <a:ext cx="2190060" cy="2328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060" h="2328168">
                      <a:moveTo>
                        <a:pt x="2190060" y="0"/>
                      </a:moveTo>
                      <a:lnTo>
                        <a:pt x="1249420" y="2328168"/>
                      </a:lnTo>
                      <a:cubicBezTo>
                        <a:pt x="725714" y="2119078"/>
                        <a:pt x="287332" y="1742562"/>
                        <a:pt x="0" y="12644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6000000" scaled="0"/>
                  <a:tileRect/>
                </a:gradFill>
                <a:ln w="2540">
                  <a:noFill/>
                </a:ln>
                <a:scene3d>
                  <a:camera prst="orthographicFront"/>
                  <a:lightRig rig="threePt" dir="t"/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3" name="Oval 6"/>
                <p:cNvSpPr/>
                <p:nvPr/>
              </p:nvSpPr>
              <p:spPr>
                <a:xfrm>
                  <a:off x="3647254" y="3499866"/>
                  <a:ext cx="1800768" cy="2507772"/>
                </a:xfrm>
                <a:custGeom>
                  <a:avLst/>
                  <a:gdLst>
                    <a:gd name="connsiteX0" fmla="*/ 2495065 w 4953504"/>
                    <a:gd name="connsiteY0" fmla="*/ 6440 h 2809981"/>
                    <a:gd name="connsiteX1" fmla="*/ 3452686 w 4953504"/>
                    <a:gd name="connsiteY1" fmla="*/ 2637483 h 2809981"/>
                    <a:gd name="connsiteX2" fmla="*/ 2470333 w 4953504"/>
                    <a:gd name="connsiteY2" fmla="*/ 2809981 h 2809981"/>
                    <a:gd name="connsiteX3" fmla="*/ 1439534 w 4953504"/>
                    <a:gd name="connsiteY3" fmla="*/ 2618972 h 2809981"/>
                    <a:gd name="connsiteX4" fmla="*/ 2495065 w 4953504"/>
                    <a:gd name="connsiteY4" fmla="*/ 6440 h 2809981"/>
                    <a:gd name="connsiteX5" fmla="*/ 2448357 w 4953504"/>
                    <a:gd name="connsiteY5" fmla="*/ 0 h 2809981"/>
                    <a:gd name="connsiteX6" fmla="*/ 1396777 w 4953504"/>
                    <a:gd name="connsiteY6" fmla="*/ 2602754 h 2809981"/>
                    <a:gd name="connsiteX7" fmla="*/ 0 w 4953504"/>
                    <a:gd name="connsiteY7" fmla="*/ 1413560 h 2809981"/>
                    <a:gd name="connsiteX8" fmla="*/ 2448357 w 4953504"/>
                    <a:gd name="connsiteY8" fmla="*/ 0 h 2809981"/>
                    <a:gd name="connsiteX9" fmla="*/ 3495392 w 4953504"/>
                    <a:gd name="connsiteY9" fmla="*/ 2621139 h 2809981"/>
                    <a:gd name="connsiteX10" fmla="*/ 4953504 w 4953504"/>
                    <a:gd name="connsiteY10" fmla="*/ 1392428 h 2809981"/>
                    <a:gd name="connsiteX11" fmla="*/ 3495392 w 4953504"/>
                    <a:gd name="connsiteY11" fmla="*/ 2621139 h 2809981"/>
                    <a:gd name="connsiteX0" fmla="*/ 2495065 w 3452686"/>
                    <a:gd name="connsiteY0" fmla="*/ 6440 h 2809981"/>
                    <a:gd name="connsiteX1" fmla="*/ 3452686 w 3452686"/>
                    <a:gd name="connsiteY1" fmla="*/ 2637483 h 2809981"/>
                    <a:gd name="connsiteX2" fmla="*/ 2470333 w 3452686"/>
                    <a:gd name="connsiteY2" fmla="*/ 2809981 h 2809981"/>
                    <a:gd name="connsiteX3" fmla="*/ 1439534 w 3452686"/>
                    <a:gd name="connsiteY3" fmla="*/ 2618972 h 2809981"/>
                    <a:gd name="connsiteX4" fmla="*/ 2495065 w 3452686"/>
                    <a:gd name="connsiteY4" fmla="*/ 6440 h 2809981"/>
                    <a:gd name="connsiteX5" fmla="*/ 2448357 w 3452686"/>
                    <a:gd name="connsiteY5" fmla="*/ 0 h 2809981"/>
                    <a:gd name="connsiteX6" fmla="*/ 1396777 w 3452686"/>
                    <a:gd name="connsiteY6" fmla="*/ 2602754 h 2809981"/>
                    <a:gd name="connsiteX7" fmla="*/ 0 w 3452686"/>
                    <a:gd name="connsiteY7" fmla="*/ 1413560 h 2809981"/>
                    <a:gd name="connsiteX8" fmla="*/ 2448357 w 3452686"/>
                    <a:gd name="connsiteY8" fmla="*/ 0 h 2809981"/>
                    <a:gd name="connsiteX0" fmla="*/ 2495065 w 3452686"/>
                    <a:gd name="connsiteY0" fmla="*/ 0 h 2803541"/>
                    <a:gd name="connsiteX1" fmla="*/ 3452686 w 3452686"/>
                    <a:gd name="connsiteY1" fmla="*/ 2631043 h 2803541"/>
                    <a:gd name="connsiteX2" fmla="*/ 2470333 w 3452686"/>
                    <a:gd name="connsiteY2" fmla="*/ 2803541 h 2803541"/>
                    <a:gd name="connsiteX3" fmla="*/ 1439534 w 3452686"/>
                    <a:gd name="connsiteY3" fmla="*/ 2612532 h 2803541"/>
                    <a:gd name="connsiteX4" fmla="*/ 2495065 w 3452686"/>
                    <a:gd name="connsiteY4" fmla="*/ 0 h 2803541"/>
                    <a:gd name="connsiteX5" fmla="*/ 0 w 3452686"/>
                    <a:gd name="connsiteY5" fmla="*/ 1407120 h 2803541"/>
                    <a:gd name="connsiteX6" fmla="*/ 1396777 w 3452686"/>
                    <a:gd name="connsiteY6" fmla="*/ 2596314 h 2803541"/>
                    <a:gd name="connsiteX7" fmla="*/ 0 w 3452686"/>
                    <a:gd name="connsiteY7" fmla="*/ 1407120 h 2803541"/>
                    <a:gd name="connsiteX0" fmla="*/ 1055531 w 2013152"/>
                    <a:gd name="connsiteY0" fmla="*/ 0 h 2803541"/>
                    <a:gd name="connsiteX1" fmla="*/ 2013152 w 2013152"/>
                    <a:gd name="connsiteY1" fmla="*/ 2631043 h 2803541"/>
                    <a:gd name="connsiteX2" fmla="*/ 1030799 w 2013152"/>
                    <a:gd name="connsiteY2" fmla="*/ 2803541 h 2803541"/>
                    <a:gd name="connsiteX3" fmla="*/ 0 w 2013152"/>
                    <a:gd name="connsiteY3" fmla="*/ 2612532 h 2803541"/>
                    <a:gd name="connsiteX4" fmla="*/ 1055531 w 2013152"/>
                    <a:gd name="connsiteY4" fmla="*/ 0 h 28035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13152" h="2803541">
                      <a:moveTo>
                        <a:pt x="1055531" y="0"/>
                      </a:moveTo>
                      <a:lnTo>
                        <a:pt x="2013152" y="2631043"/>
                      </a:lnTo>
                      <a:cubicBezTo>
                        <a:pt x="1706817" y="2743049"/>
                        <a:pt x="1375873" y="2803541"/>
                        <a:pt x="1030799" y="2803541"/>
                      </a:cubicBezTo>
                      <a:cubicBezTo>
                        <a:pt x="667411" y="2803541"/>
                        <a:pt x="319690" y="2736457"/>
                        <a:pt x="0" y="2612532"/>
                      </a:cubicBezTo>
                      <a:lnTo>
                        <a:pt x="105553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3300"/>
                    </a:gs>
                    <a:gs pos="100000">
                      <a:srgbClr val="006600"/>
                    </a:gs>
                  </a:gsLst>
                  <a:lin ang="6000000" scaled="0"/>
                </a:gradFill>
                <a:ln w="2540">
                  <a:noFill/>
                </a:ln>
                <a:scene3d>
                  <a:camera prst="orthographicFront"/>
                  <a:lightRig rig="threePt" dir="t"/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4" name="TextBox 143"/>
                <p:cNvSpPr txBox="1"/>
                <p:nvPr/>
              </p:nvSpPr>
              <p:spPr>
                <a:xfrm>
                  <a:off x="3737870" y="5204037"/>
                  <a:ext cx="1665197" cy="4385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 smtClean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Capabilities</a:t>
                  </a:r>
                  <a:endParaRPr lang="en-US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145" name="Rectangle 7"/>
                <p:cNvSpPr/>
                <p:nvPr/>
              </p:nvSpPr>
              <p:spPr>
                <a:xfrm rot="7200000">
                  <a:off x="3171322" y="3001386"/>
                  <a:ext cx="2704528" cy="3980424"/>
                </a:xfrm>
                <a:custGeom>
                  <a:avLst/>
                  <a:gdLst>
                    <a:gd name="connsiteX0" fmla="*/ 0 w 685800"/>
                    <a:gd name="connsiteY0" fmla="*/ 0 h 179112"/>
                    <a:gd name="connsiteX1" fmla="*/ 685800 w 685800"/>
                    <a:gd name="connsiteY1" fmla="*/ 0 h 179112"/>
                    <a:gd name="connsiteX2" fmla="*/ 685800 w 685800"/>
                    <a:gd name="connsiteY2" fmla="*/ 179112 h 179112"/>
                    <a:gd name="connsiteX3" fmla="*/ 0 w 685800"/>
                    <a:gd name="connsiteY3" fmla="*/ 179112 h 179112"/>
                    <a:gd name="connsiteX4" fmla="*/ 0 w 685800"/>
                    <a:gd name="connsiteY4" fmla="*/ 0 h 179112"/>
                    <a:gd name="connsiteX0" fmla="*/ 0 w 1276919"/>
                    <a:gd name="connsiteY0" fmla="*/ 0 h 2274982"/>
                    <a:gd name="connsiteX1" fmla="*/ 685800 w 1276919"/>
                    <a:gd name="connsiteY1" fmla="*/ 0 h 2274982"/>
                    <a:gd name="connsiteX2" fmla="*/ 1276919 w 1276919"/>
                    <a:gd name="connsiteY2" fmla="*/ 2274982 h 2274982"/>
                    <a:gd name="connsiteX3" fmla="*/ 0 w 1276919"/>
                    <a:gd name="connsiteY3" fmla="*/ 179112 h 2274982"/>
                    <a:gd name="connsiteX4" fmla="*/ 0 w 1276919"/>
                    <a:gd name="connsiteY4" fmla="*/ 0 h 2274982"/>
                    <a:gd name="connsiteX0" fmla="*/ 0 w 1604728"/>
                    <a:gd name="connsiteY0" fmla="*/ 0 h 2455933"/>
                    <a:gd name="connsiteX1" fmla="*/ 1604728 w 1604728"/>
                    <a:gd name="connsiteY1" fmla="*/ 2455933 h 2455933"/>
                    <a:gd name="connsiteX2" fmla="*/ 1276919 w 1604728"/>
                    <a:gd name="connsiteY2" fmla="*/ 2274982 h 2455933"/>
                    <a:gd name="connsiteX3" fmla="*/ 0 w 1604728"/>
                    <a:gd name="connsiteY3" fmla="*/ 179112 h 2455933"/>
                    <a:gd name="connsiteX4" fmla="*/ 0 w 1604728"/>
                    <a:gd name="connsiteY4" fmla="*/ 0 h 2455933"/>
                    <a:gd name="connsiteX0" fmla="*/ 0 w 1604728"/>
                    <a:gd name="connsiteY0" fmla="*/ 27 h 2455960"/>
                    <a:gd name="connsiteX1" fmla="*/ 1604728 w 1604728"/>
                    <a:gd name="connsiteY1" fmla="*/ 2455960 h 2455960"/>
                    <a:gd name="connsiteX2" fmla="*/ 1276919 w 1604728"/>
                    <a:gd name="connsiteY2" fmla="*/ 2275009 h 2455960"/>
                    <a:gd name="connsiteX3" fmla="*/ 0 w 1604728"/>
                    <a:gd name="connsiteY3" fmla="*/ 179139 h 2455960"/>
                    <a:gd name="connsiteX4" fmla="*/ 0 w 1604728"/>
                    <a:gd name="connsiteY4" fmla="*/ 27 h 2455960"/>
                    <a:gd name="connsiteX0" fmla="*/ 0 w 1711231"/>
                    <a:gd name="connsiteY0" fmla="*/ 28 h 2455961"/>
                    <a:gd name="connsiteX1" fmla="*/ 1604728 w 1711231"/>
                    <a:gd name="connsiteY1" fmla="*/ 2455961 h 2455961"/>
                    <a:gd name="connsiteX2" fmla="*/ 1276919 w 1711231"/>
                    <a:gd name="connsiteY2" fmla="*/ 2275010 h 2455961"/>
                    <a:gd name="connsiteX3" fmla="*/ 0 w 1711231"/>
                    <a:gd name="connsiteY3" fmla="*/ 179140 h 2455961"/>
                    <a:gd name="connsiteX4" fmla="*/ 0 w 1711231"/>
                    <a:gd name="connsiteY4" fmla="*/ 28 h 2455961"/>
                    <a:gd name="connsiteX0" fmla="*/ 0 w 1646921"/>
                    <a:gd name="connsiteY0" fmla="*/ 29 h 2405722"/>
                    <a:gd name="connsiteX1" fmla="*/ 1531998 w 1646921"/>
                    <a:gd name="connsiteY1" fmla="*/ 2405722 h 2405722"/>
                    <a:gd name="connsiteX2" fmla="*/ 1276919 w 1646921"/>
                    <a:gd name="connsiteY2" fmla="*/ 2275011 h 2405722"/>
                    <a:gd name="connsiteX3" fmla="*/ 0 w 1646921"/>
                    <a:gd name="connsiteY3" fmla="*/ 179141 h 2405722"/>
                    <a:gd name="connsiteX4" fmla="*/ 0 w 1646921"/>
                    <a:gd name="connsiteY4" fmla="*/ 29 h 2405722"/>
                    <a:gd name="connsiteX0" fmla="*/ 0 w 1684573"/>
                    <a:gd name="connsiteY0" fmla="*/ 29 h 2405722"/>
                    <a:gd name="connsiteX1" fmla="*/ 1531998 w 1684573"/>
                    <a:gd name="connsiteY1" fmla="*/ 2405722 h 2405722"/>
                    <a:gd name="connsiteX2" fmla="*/ 1276919 w 1684573"/>
                    <a:gd name="connsiteY2" fmla="*/ 2275011 h 2405722"/>
                    <a:gd name="connsiteX3" fmla="*/ 0 w 1684573"/>
                    <a:gd name="connsiteY3" fmla="*/ 179141 h 2405722"/>
                    <a:gd name="connsiteX4" fmla="*/ 0 w 1684573"/>
                    <a:gd name="connsiteY4" fmla="*/ 29 h 2405722"/>
                    <a:gd name="connsiteX0" fmla="*/ 0 w 1686755"/>
                    <a:gd name="connsiteY0" fmla="*/ 0 h 2405693"/>
                    <a:gd name="connsiteX1" fmla="*/ 1531998 w 1686755"/>
                    <a:gd name="connsiteY1" fmla="*/ 2405693 h 2405693"/>
                    <a:gd name="connsiteX2" fmla="*/ 1276919 w 1686755"/>
                    <a:gd name="connsiteY2" fmla="*/ 2274982 h 2405693"/>
                    <a:gd name="connsiteX3" fmla="*/ 0 w 1686755"/>
                    <a:gd name="connsiteY3" fmla="*/ 179112 h 2405693"/>
                    <a:gd name="connsiteX4" fmla="*/ 0 w 1686755"/>
                    <a:gd name="connsiteY4" fmla="*/ 0 h 2405693"/>
                    <a:gd name="connsiteX0" fmla="*/ 0 w 1686755"/>
                    <a:gd name="connsiteY0" fmla="*/ 0 h 2405693"/>
                    <a:gd name="connsiteX1" fmla="*/ 1531998 w 1686755"/>
                    <a:gd name="connsiteY1" fmla="*/ 2405693 h 2405693"/>
                    <a:gd name="connsiteX2" fmla="*/ 1442657 w 1686755"/>
                    <a:gd name="connsiteY2" fmla="*/ 2356213 h 2405693"/>
                    <a:gd name="connsiteX3" fmla="*/ 1276919 w 1686755"/>
                    <a:gd name="connsiteY3" fmla="*/ 2274982 h 2405693"/>
                    <a:gd name="connsiteX4" fmla="*/ 0 w 1686755"/>
                    <a:gd name="connsiteY4" fmla="*/ 179112 h 2405693"/>
                    <a:gd name="connsiteX5" fmla="*/ 0 w 1686755"/>
                    <a:gd name="connsiteY5" fmla="*/ 0 h 2405693"/>
                    <a:gd name="connsiteX0" fmla="*/ 0 w 1686755"/>
                    <a:gd name="connsiteY0" fmla="*/ 0 h 2500972"/>
                    <a:gd name="connsiteX1" fmla="*/ 1531998 w 1686755"/>
                    <a:gd name="connsiteY1" fmla="*/ 2405693 h 2500972"/>
                    <a:gd name="connsiteX2" fmla="*/ 1383826 w 1686755"/>
                    <a:gd name="connsiteY2" fmla="*/ 2500972 h 2500972"/>
                    <a:gd name="connsiteX3" fmla="*/ 1276919 w 1686755"/>
                    <a:gd name="connsiteY3" fmla="*/ 2274982 h 2500972"/>
                    <a:gd name="connsiteX4" fmla="*/ 0 w 1686755"/>
                    <a:gd name="connsiteY4" fmla="*/ 179112 h 2500972"/>
                    <a:gd name="connsiteX5" fmla="*/ 0 w 1686755"/>
                    <a:gd name="connsiteY5" fmla="*/ 0 h 2500972"/>
                    <a:gd name="connsiteX0" fmla="*/ 0 w 1686755"/>
                    <a:gd name="connsiteY0" fmla="*/ 0 h 2500972"/>
                    <a:gd name="connsiteX1" fmla="*/ 1531998 w 1686755"/>
                    <a:gd name="connsiteY1" fmla="*/ 2405693 h 2500972"/>
                    <a:gd name="connsiteX2" fmla="*/ 1479520 w 1686755"/>
                    <a:gd name="connsiteY2" fmla="*/ 2435239 h 2500972"/>
                    <a:gd name="connsiteX3" fmla="*/ 1383826 w 1686755"/>
                    <a:gd name="connsiteY3" fmla="*/ 2500972 h 2500972"/>
                    <a:gd name="connsiteX4" fmla="*/ 1276919 w 1686755"/>
                    <a:gd name="connsiteY4" fmla="*/ 2274982 h 2500972"/>
                    <a:gd name="connsiteX5" fmla="*/ 0 w 1686755"/>
                    <a:gd name="connsiteY5" fmla="*/ 179112 h 2500972"/>
                    <a:gd name="connsiteX6" fmla="*/ 0 w 1686755"/>
                    <a:gd name="connsiteY6" fmla="*/ 0 h 2500972"/>
                    <a:gd name="connsiteX0" fmla="*/ 0 w 1686755"/>
                    <a:gd name="connsiteY0" fmla="*/ 0 h 2500972"/>
                    <a:gd name="connsiteX1" fmla="*/ 1531998 w 1686755"/>
                    <a:gd name="connsiteY1" fmla="*/ 2405693 h 2500972"/>
                    <a:gd name="connsiteX2" fmla="*/ 1630638 w 1686755"/>
                    <a:gd name="connsiteY2" fmla="*/ 2459246 h 2500972"/>
                    <a:gd name="connsiteX3" fmla="*/ 1383826 w 1686755"/>
                    <a:gd name="connsiteY3" fmla="*/ 2500972 h 2500972"/>
                    <a:gd name="connsiteX4" fmla="*/ 1276919 w 1686755"/>
                    <a:gd name="connsiteY4" fmla="*/ 2274982 h 2500972"/>
                    <a:gd name="connsiteX5" fmla="*/ 0 w 1686755"/>
                    <a:gd name="connsiteY5" fmla="*/ 179112 h 2500972"/>
                    <a:gd name="connsiteX6" fmla="*/ 0 w 1686755"/>
                    <a:gd name="connsiteY6" fmla="*/ 0 h 2500972"/>
                    <a:gd name="connsiteX0" fmla="*/ 0 w 1686755"/>
                    <a:gd name="connsiteY0" fmla="*/ 0 h 2487961"/>
                    <a:gd name="connsiteX1" fmla="*/ 1531998 w 1686755"/>
                    <a:gd name="connsiteY1" fmla="*/ 2405693 h 2487961"/>
                    <a:gd name="connsiteX2" fmla="*/ 1630638 w 1686755"/>
                    <a:gd name="connsiteY2" fmla="*/ 2459246 h 2487961"/>
                    <a:gd name="connsiteX3" fmla="*/ 1380340 w 1686755"/>
                    <a:gd name="connsiteY3" fmla="*/ 2487961 h 2487961"/>
                    <a:gd name="connsiteX4" fmla="*/ 1276919 w 1686755"/>
                    <a:gd name="connsiteY4" fmla="*/ 2274982 h 2487961"/>
                    <a:gd name="connsiteX5" fmla="*/ 0 w 1686755"/>
                    <a:gd name="connsiteY5" fmla="*/ 179112 h 2487961"/>
                    <a:gd name="connsiteX6" fmla="*/ 0 w 1686755"/>
                    <a:gd name="connsiteY6" fmla="*/ 0 h 2487961"/>
                    <a:gd name="connsiteX0" fmla="*/ 0 w 1686755"/>
                    <a:gd name="connsiteY0" fmla="*/ 0 h 2494467"/>
                    <a:gd name="connsiteX1" fmla="*/ 1531998 w 1686755"/>
                    <a:gd name="connsiteY1" fmla="*/ 2405693 h 2494467"/>
                    <a:gd name="connsiteX2" fmla="*/ 1630638 w 1686755"/>
                    <a:gd name="connsiteY2" fmla="*/ 2459246 h 2494467"/>
                    <a:gd name="connsiteX3" fmla="*/ 1382084 w 1686755"/>
                    <a:gd name="connsiteY3" fmla="*/ 2494467 h 2494467"/>
                    <a:gd name="connsiteX4" fmla="*/ 1276919 w 1686755"/>
                    <a:gd name="connsiteY4" fmla="*/ 2274982 h 2494467"/>
                    <a:gd name="connsiteX5" fmla="*/ 0 w 1686755"/>
                    <a:gd name="connsiteY5" fmla="*/ 179112 h 2494467"/>
                    <a:gd name="connsiteX6" fmla="*/ 0 w 1686755"/>
                    <a:gd name="connsiteY6" fmla="*/ 0 h 2494467"/>
                    <a:gd name="connsiteX0" fmla="*/ 0 w 1686755"/>
                    <a:gd name="connsiteY0" fmla="*/ 0 h 2494467"/>
                    <a:gd name="connsiteX1" fmla="*/ 1531998 w 1686755"/>
                    <a:gd name="connsiteY1" fmla="*/ 2405693 h 2494467"/>
                    <a:gd name="connsiteX2" fmla="*/ 1630638 w 1686755"/>
                    <a:gd name="connsiteY2" fmla="*/ 2459246 h 2494467"/>
                    <a:gd name="connsiteX3" fmla="*/ 1382084 w 1686755"/>
                    <a:gd name="connsiteY3" fmla="*/ 2494467 h 2494467"/>
                    <a:gd name="connsiteX4" fmla="*/ 1276919 w 1686755"/>
                    <a:gd name="connsiteY4" fmla="*/ 2274982 h 2494467"/>
                    <a:gd name="connsiteX5" fmla="*/ 1219873 w 1686755"/>
                    <a:gd name="connsiteY5" fmla="*/ 2175347 h 2494467"/>
                    <a:gd name="connsiteX6" fmla="*/ 0 w 1686755"/>
                    <a:gd name="connsiteY6" fmla="*/ 179112 h 2494467"/>
                    <a:gd name="connsiteX7" fmla="*/ 0 w 1686755"/>
                    <a:gd name="connsiteY7" fmla="*/ 0 h 2494467"/>
                    <a:gd name="connsiteX0" fmla="*/ 0 w 1686755"/>
                    <a:gd name="connsiteY0" fmla="*/ 0 h 2494467"/>
                    <a:gd name="connsiteX1" fmla="*/ 1531998 w 1686755"/>
                    <a:gd name="connsiteY1" fmla="*/ 2405693 h 2494467"/>
                    <a:gd name="connsiteX2" fmla="*/ 1630638 w 1686755"/>
                    <a:gd name="connsiteY2" fmla="*/ 2459246 h 2494467"/>
                    <a:gd name="connsiteX3" fmla="*/ 1382084 w 1686755"/>
                    <a:gd name="connsiteY3" fmla="*/ 2494467 h 2494467"/>
                    <a:gd name="connsiteX4" fmla="*/ 1276919 w 1686755"/>
                    <a:gd name="connsiteY4" fmla="*/ 2274982 h 2494467"/>
                    <a:gd name="connsiteX5" fmla="*/ 1370797 w 1686755"/>
                    <a:gd name="connsiteY5" fmla="*/ 2309226 h 2494467"/>
                    <a:gd name="connsiteX6" fmla="*/ 0 w 1686755"/>
                    <a:gd name="connsiteY6" fmla="*/ 179112 h 2494467"/>
                    <a:gd name="connsiteX7" fmla="*/ 0 w 1686755"/>
                    <a:gd name="connsiteY7" fmla="*/ 0 h 2494467"/>
                    <a:gd name="connsiteX0" fmla="*/ 0 w 1686755"/>
                    <a:gd name="connsiteY0" fmla="*/ 0 h 2494467"/>
                    <a:gd name="connsiteX1" fmla="*/ 1531998 w 1686755"/>
                    <a:gd name="connsiteY1" fmla="*/ 2405693 h 2494467"/>
                    <a:gd name="connsiteX2" fmla="*/ 1630638 w 1686755"/>
                    <a:gd name="connsiteY2" fmla="*/ 2459246 h 2494467"/>
                    <a:gd name="connsiteX3" fmla="*/ 1382084 w 1686755"/>
                    <a:gd name="connsiteY3" fmla="*/ 2494467 h 2494467"/>
                    <a:gd name="connsiteX4" fmla="*/ 1267246 w 1686755"/>
                    <a:gd name="connsiteY4" fmla="*/ 2258399 h 2494467"/>
                    <a:gd name="connsiteX5" fmla="*/ 1370797 w 1686755"/>
                    <a:gd name="connsiteY5" fmla="*/ 2309226 h 2494467"/>
                    <a:gd name="connsiteX6" fmla="*/ 0 w 1686755"/>
                    <a:gd name="connsiteY6" fmla="*/ 179112 h 2494467"/>
                    <a:gd name="connsiteX7" fmla="*/ 0 w 1686755"/>
                    <a:gd name="connsiteY7" fmla="*/ 0 h 2494467"/>
                    <a:gd name="connsiteX0" fmla="*/ 0 w 1679685"/>
                    <a:gd name="connsiteY0" fmla="*/ 0 h 2494467"/>
                    <a:gd name="connsiteX1" fmla="*/ 1531998 w 1679685"/>
                    <a:gd name="connsiteY1" fmla="*/ 2405693 h 2494467"/>
                    <a:gd name="connsiteX2" fmla="*/ 1630638 w 1679685"/>
                    <a:gd name="connsiteY2" fmla="*/ 2459246 h 2494467"/>
                    <a:gd name="connsiteX3" fmla="*/ 1382084 w 1679685"/>
                    <a:gd name="connsiteY3" fmla="*/ 2494467 h 2494467"/>
                    <a:gd name="connsiteX4" fmla="*/ 1267246 w 1679685"/>
                    <a:gd name="connsiteY4" fmla="*/ 2258399 h 2494467"/>
                    <a:gd name="connsiteX5" fmla="*/ 1370797 w 1679685"/>
                    <a:gd name="connsiteY5" fmla="*/ 2309226 h 2494467"/>
                    <a:gd name="connsiteX6" fmla="*/ 0 w 1679685"/>
                    <a:gd name="connsiteY6" fmla="*/ 179112 h 2494467"/>
                    <a:gd name="connsiteX7" fmla="*/ 0 w 1679685"/>
                    <a:gd name="connsiteY7" fmla="*/ 0 h 2494467"/>
                    <a:gd name="connsiteX0" fmla="*/ 0 w 1678802"/>
                    <a:gd name="connsiteY0" fmla="*/ 0 h 2494467"/>
                    <a:gd name="connsiteX1" fmla="*/ 1531998 w 1678802"/>
                    <a:gd name="connsiteY1" fmla="*/ 2405693 h 2494467"/>
                    <a:gd name="connsiteX2" fmla="*/ 1630638 w 1678802"/>
                    <a:gd name="connsiteY2" fmla="*/ 2459246 h 2494467"/>
                    <a:gd name="connsiteX3" fmla="*/ 1382084 w 1678802"/>
                    <a:gd name="connsiteY3" fmla="*/ 2494467 h 2494467"/>
                    <a:gd name="connsiteX4" fmla="*/ 1267246 w 1678802"/>
                    <a:gd name="connsiteY4" fmla="*/ 2258399 h 2494467"/>
                    <a:gd name="connsiteX5" fmla="*/ 1370797 w 1678802"/>
                    <a:gd name="connsiteY5" fmla="*/ 2309226 h 2494467"/>
                    <a:gd name="connsiteX6" fmla="*/ 0 w 1678802"/>
                    <a:gd name="connsiteY6" fmla="*/ 179112 h 2494467"/>
                    <a:gd name="connsiteX7" fmla="*/ 0 w 1678802"/>
                    <a:gd name="connsiteY7" fmla="*/ 0 h 2494467"/>
                    <a:gd name="connsiteX0" fmla="*/ 0 w 1678802"/>
                    <a:gd name="connsiteY0" fmla="*/ 0 h 2494467"/>
                    <a:gd name="connsiteX1" fmla="*/ 1531998 w 1678802"/>
                    <a:gd name="connsiteY1" fmla="*/ 2405693 h 2494467"/>
                    <a:gd name="connsiteX2" fmla="*/ 1630638 w 1678802"/>
                    <a:gd name="connsiteY2" fmla="*/ 2459246 h 2494467"/>
                    <a:gd name="connsiteX3" fmla="*/ 1382084 w 1678802"/>
                    <a:gd name="connsiteY3" fmla="*/ 2494467 h 2494467"/>
                    <a:gd name="connsiteX4" fmla="*/ 1267246 w 1678802"/>
                    <a:gd name="connsiteY4" fmla="*/ 2258399 h 2494467"/>
                    <a:gd name="connsiteX5" fmla="*/ 1370797 w 1678802"/>
                    <a:gd name="connsiteY5" fmla="*/ 2309226 h 2494467"/>
                    <a:gd name="connsiteX6" fmla="*/ 0 w 1678802"/>
                    <a:gd name="connsiteY6" fmla="*/ 179112 h 2494467"/>
                    <a:gd name="connsiteX7" fmla="*/ 0 w 1678802"/>
                    <a:gd name="connsiteY7" fmla="*/ 0 h 2494467"/>
                    <a:gd name="connsiteX0" fmla="*/ 0 w 1678802"/>
                    <a:gd name="connsiteY0" fmla="*/ 0 h 2494467"/>
                    <a:gd name="connsiteX1" fmla="*/ 1531998 w 1678802"/>
                    <a:gd name="connsiteY1" fmla="*/ 2405693 h 2494467"/>
                    <a:gd name="connsiteX2" fmla="*/ 1630638 w 1678802"/>
                    <a:gd name="connsiteY2" fmla="*/ 2459246 h 2494467"/>
                    <a:gd name="connsiteX3" fmla="*/ 1382084 w 1678802"/>
                    <a:gd name="connsiteY3" fmla="*/ 2494467 h 2494467"/>
                    <a:gd name="connsiteX4" fmla="*/ 1267246 w 1678802"/>
                    <a:gd name="connsiteY4" fmla="*/ 2258399 h 2494467"/>
                    <a:gd name="connsiteX5" fmla="*/ 1370797 w 1678802"/>
                    <a:gd name="connsiteY5" fmla="*/ 2309226 h 2494467"/>
                    <a:gd name="connsiteX6" fmla="*/ 0 w 1678802"/>
                    <a:gd name="connsiteY6" fmla="*/ 179112 h 2494467"/>
                    <a:gd name="connsiteX7" fmla="*/ 0 w 1678802"/>
                    <a:gd name="connsiteY7" fmla="*/ 0 h 2494467"/>
                    <a:gd name="connsiteX0" fmla="*/ 0 w 1678802"/>
                    <a:gd name="connsiteY0" fmla="*/ 0 h 2494467"/>
                    <a:gd name="connsiteX1" fmla="*/ 1531998 w 1678802"/>
                    <a:gd name="connsiteY1" fmla="*/ 2405693 h 2494467"/>
                    <a:gd name="connsiteX2" fmla="*/ 1630638 w 1678802"/>
                    <a:gd name="connsiteY2" fmla="*/ 2459246 h 2494467"/>
                    <a:gd name="connsiteX3" fmla="*/ 1382084 w 1678802"/>
                    <a:gd name="connsiteY3" fmla="*/ 2494467 h 2494467"/>
                    <a:gd name="connsiteX4" fmla="*/ 1267246 w 1678802"/>
                    <a:gd name="connsiteY4" fmla="*/ 2258399 h 2494467"/>
                    <a:gd name="connsiteX5" fmla="*/ 1370797 w 1678802"/>
                    <a:gd name="connsiteY5" fmla="*/ 2309226 h 2494467"/>
                    <a:gd name="connsiteX6" fmla="*/ 0 w 1678802"/>
                    <a:gd name="connsiteY6" fmla="*/ 179112 h 2494467"/>
                    <a:gd name="connsiteX7" fmla="*/ 0 w 1678802"/>
                    <a:gd name="connsiteY7" fmla="*/ 0 h 2494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678802" h="2494467">
                      <a:moveTo>
                        <a:pt x="0" y="0"/>
                      </a:moveTo>
                      <a:cubicBezTo>
                        <a:pt x="1480388" y="58325"/>
                        <a:pt x="1951797" y="1500667"/>
                        <a:pt x="1531998" y="2405693"/>
                      </a:cubicBezTo>
                      <a:lnTo>
                        <a:pt x="1630638" y="2459246"/>
                      </a:lnTo>
                      <a:lnTo>
                        <a:pt x="1382084" y="2494467"/>
                      </a:lnTo>
                      <a:lnTo>
                        <a:pt x="1267246" y="2258399"/>
                      </a:lnTo>
                      <a:lnTo>
                        <a:pt x="1370797" y="2309226"/>
                      </a:lnTo>
                      <a:cubicBezTo>
                        <a:pt x="1695911" y="1674433"/>
                        <a:pt x="1431842" y="257934"/>
                        <a:pt x="0" y="179112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76652">
                      <a:schemeClr val="tx1">
                        <a:lumMod val="50000"/>
                        <a:lumOff val="50000"/>
                      </a:schemeClr>
                    </a:gs>
                    <a:gs pos="21000">
                      <a:schemeClr val="tx1">
                        <a:lumMod val="50000"/>
                        <a:lumOff val="50000"/>
                      </a:schemeClr>
                    </a:gs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60000">
                      <a:srgbClr val="339933"/>
                    </a:gs>
                    <a:gs pos="29000">
                      <a:srgbClr val="339933"/>
                    </a:gs>
                    <a:gs pos="44000">
                      <a:srgbClr val="339933"/>
                    </a:gs>
                  </a:gsLst>
                  <a:lin ang="4200000" scaled="0"/>
                  <a:tileRect/>
                </a:gradFill>
                <a:ln w="38100" cmpd="sng">
                  <a:solidFill>
                    <a:srgbClr val="F96A1B"/>
                  </a:solidFill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27000" h="381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6" name="TextBox 145"/>
                <p:cNvSpPr txBox="1"/>
                <p:nvPr/>
              </p:nvSpPr>
              <p:spPr>
                <a:xfrm>
                  <a:off x="2584900" y="4697178"/>
                  <a:ext cx="1308537" cy="4385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 smtClean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Products</a:t>
                  </a:r>
                  <a:endParaRPr lang="en-US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  <p:grpSp>
          <p:nvGrpSpPr>
            <p:cNvPr id="2" name="Group 1"/>
            <p:cNvGrpSpPr/>
            <p:nvPr/>
          </p:nvGrpSpPr>
          <p:grpSpPr>
            <a:xfrm>
              <a:off x="1575311" y="2199483"/>
              <a:ext cx="2650746" cy="2480635"/>
              <a:chOff x="1575311" y="2199483"/>
              <a:chExt cx="2650746" cy="2480635"/>
            </a:xfrm>
          </p:grpSpPr>
          <p:grpSp>
            <p:nvGrpSpPr>
              <p:cNvPr id="112" name="Group 111"/>
              <p:cNvGrpSpPr/>
              <p:nvPr/>
            </p:nvGrpSpPr>
            <p:grpSpPr>
              <a:xfrm>
                <a:off x="1575311" y="2199483"/>
                <a:ext cx="2650746" cy="2480635"/>
                <a:chOff x="2708833" y="1880608"/>
                <a:chExt cx="3433580" cy="3213231"/>
              </a:xfrm>
            </p:grpSpPr>
            <p:grpSp>
              <p:nvGrpSpPr>
                <p:cNvPr id="116" name="Group 115"/>
                <p:cNvGrpSpPr/>
                <p:nvPr/>
              </p:nvGrpSpPr>
              <p:grpSpPr>
                <a:xfrm>
                  <a:off x="3100830" y="1944118"/>
                  <a:ext cx="2953717" cy="2957337"/>
                  <a:chOff x="3100830" y="1944118"/>
                  <a:chExt cx="2953717" cy="2957337"/>
                </a:xfrm>
              </p:grpSpPr>
              <p:sp>
                <p:nvSpPr>
                  <p:cNvPr id="134" name="Oval 2"/>
                  <p:cNvSpPr/>
                  <p:nvPr/>
                </p:nvSpPr>
                <p:spPr>
                  <a:xfrm>
                    <a:off x="3100830" y="1944118"/>
                    <a:ext cx="1446521" cy="21816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7124" h="2438921">
                        <a:moveTo>
                          <a:pt x="1617124" y="0"/>
                        </a:moveTo>
                        <a:lnTo>
                          <a:pt x="1617124" y="1619637"/>
                        </a:lnTo>
                        <a:lnTo>
                          <a:pt x="198083" y="2438921"/>
                        </a:lnTo>
                        <a:cubicBezTo>
                          <a:pt x="71666" y="2205275"/>
                          <a:pt x="0" y="1937721"/>
                          <a:pt x="0" y="1653429"/>
                        </a:cubicBezTo>
                        <a:cubicBezTo>
                          <a:pt x="0" y="751990"/>
                          <a:pt x="720537" y="18841"/>
                          <a:pt x="1617124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13500000" scaled="1"/>
                    <a:tileRect/>
                  </a:gradFill>
                  <a:ln w="2540"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35" name="Oval 2"/>
                  <p:cNvSpPr/>
                  <p:nvPr/>
                </p:nvSpPr>
                <p:spPr>
                  <a:xfrm>
                    <a:off x="4629230" y="1945189"/>
                    <a:ext cx="1425317" cy="2171994"/>
                  </a:xfrm>
                  <a:custGeom>
                    <a:avLst/>
                    <a:gdLst>
                      <a:gd name="connsiteX0" fmla="*/ 1717300 w 3310720"/>
                      <a:gd name="connsiteY0" fmla="*/ 0 h 2437724"/>
                      <a:gd name="connsiteX1" fmla="*/ 3310720 w 3310720"/>
                      <a:gd name="connsiteY1" fmla="*/ 1652232 h 2437724"/>
                      <a:gd name="connsiteX2" fmla="*/ 3117245 w 3310720"/>
                      <a:gd name="connsiteY2" fmla="*/ 2428160 h 2437724"/>
                      <a:gd name="connsiteX3" fmla="*/ 1717300 w 3310720"/>
                      <a:gd name="connsiteY3" fmla="*/ 1619901 h 2437724"/>
                      <a:gd name="connsiteX4" fmla="*/ 1717300 w 3310720"/>
                      <a:gd name="connsiteY4" fmla="*/ 0 h 2437724"/>
                      <a:gd name="connsiteX5" fmla="*/ 0 w 3310720"/>
                      <a:gd name="connsiteY5" fmla="*/ 1652232 h 2437724"/>
                      <a:gd name="connsiteX6" fmla="*/ 1617124 w 3310720"/>
                      <a:gd name="connsiteY6" fmla="*/ 1618440 h 2437724"/>
                      <a:gd name="connsiteX7" fmla="*/ 198083 w 3310720"/>
                      <a:gd name="connsiteY7" fmla="*/ 2437724 h 2437724"/>
                      <a:gd name="connsiteX8" fmla="*/ 0 w 3310720"/>
                      <a:gd name="connsiteY8" fmla="*/ 1652232 h 2437724"/>
                      <a:gd name="connsiteX0" fmla="*/ 1717300 w 3310720"/>
                      <a:gd name="connsiteY0" fmla="*/ 0 h 2437724"/>
                      <a:gd name="connsiteX1" fmla="*/ 3310720 w 3310720"/>
                      <a:gd name="connsiteY1" fmla="*/ 1652232 h 2437724"/>
                      <a:gd name="connsiteX2" fmla="*/ 3117245 w 3310720"/>
                      <a:gd name="connsiteY2" fmla="*/ 2428160 h 2437724"/>
                      <a:gd name="connsiteX3" fmla="*/ 1717300 w 3310720"/>
                      <a:gd name="connsiteY3" fmla="*/ 1619901 h 2437724"/>
                      <a:gd name="connsiteX4" fmla="*/ 1717300 w 3310720"/>
                      <a:gd name="connsiteY4" fmla="*/ 0 h 2437724"/>
                      <a:gd name="connsiteX5" fmla="*/ 0 w 3310720"/>
                      <a:gd name="connsiteY5" fmla="*/ 1652232 h 2437724"/>
                      <a:gd name="connsiteX6" fmla="*/ 198083 w 3310720"/>
                      <a:gd name="connsiteY6" fmla="*/ 2437724 h 2437724"/>
                      <a:gd name="connsiteX7" fmla="*/ 0 w 3310720"/>
                      <a:gd name="connsiteY7" fmla="*/ 1652232 h 2437724"/>
                      <a:gd name="connsiteX0" fmla="*/ 0 w 1593420"/>
                      <a:gd name="connsiteY0" fmla="*/ 0 h 2428160"/>
                      <a:gd name="connsiteX1" fmla="*/ 1593420 w 1593420"/>
                      <a:gd name="connsiteY1" fmla="*/ 1652232 h 2428160"/>
                      <a:gd name="connsiteX2" fmla="*/ 1399945 w 1593420"/>
                      <a:gd name="connsiteY2" fmla="*/ 2428160 h 2428160"/>
                      <a:gd name="connsiteX3" fmla="*/ 0 w 1593420"/>
                      <a:gd name="connsiteY3" fmla="*/ 1619901 h 2428160"/>
                      <a:gd name="connsiteX4" fmla="*/ 0 w 1593420"/>
                      <a:gd name="connsiteY4" fmla="*/ 0 h 24281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93420" h="2428160">
                        <a:moveTo>
                          <a:pt x="0" y="0"/>
                        </a:moveTo>
                        <a:cubicBezTo>
                          <a:pt x="885571" y="30624"/>
                          <a:pt x="1593420" y="758765"/>
                          <a:pt x="1593420" y="1652232"/>
                        </a:cubicBezTo>
                        <a:cubicBezTo>
                          <a:pt x="1593420" y="1932741"/>
                          <a:pt x="1523649" y="2196953"/>
                          <a:pt x="1399945" y="2428160"/>
                        </a:cubicBezTo>
                        <a:lnTo>
                          <a:pt x="0" y="161990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18900000" scaled="1"/>
                    <a:tileRect/>
                  </a:gradFill>
                  <a:ln w="2540"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36" name="Oval 2"/>
                  <p:cNvSpPr/>
                  <p:nvPr/>
                </p:nvSpPr>
                <p:spPr>
                  <a:xfrm>
                    <a:off x="3324256" y="3481589"/>
                    <a:ext cx="2519512" cy="1419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16664" h="1587326">
                        <a:moveTo>
                          <a:pt x="1391331" y="0"/>
                        </a:moveTo>
                        <a:lnTo>
                          <a:pt x="1441008" y="0"/>
                        </a:lnTo>
                        <a:lnTo>
                          <a:pt x="2816664" y="794236"/>
                        </a:lnTo>
                        <a:cubicBezTo>
                          <a:pt x="2527361" y="1270332"/>
                          <a:pt x="2003491" y="1587326"/>
                          <a:pt x="1405583" y="1587326"/>
                        </a:cubicBezTo>
                        <a:cubicBezTo>
                          <a:pt x="811468" y="1587326"/>
                          <a:pt x="290455" y="1274341"/>
                          <a:pt x="0" y="803285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003300"/>
                      </a:gs>
                      <a:gs pos="100000">
                        <a:srgbClr val="339933"/>
                      </a:gs>
                    </a:gsLst>
                    <a:lin ang="6000000" scaled="0"/>
                  </a:gradFill>
                  <a:ln w="2540"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117" name="Group 116"/>
                <p:cNvGrpSpPr/>
                <p:nvPr/>
              </p:nvGrpSpPr>
              <p:grpSpPr>
                <a:xfrm>
                  <a:off x="2708833" y="1880608"/>
                  <a:ext cx="3433580" cy="3213231"/>
                  <a:chOff x="2708833" y="1880608"/>
                  <a:chExt cx="3433580" cy="3213231"/>
                </a:xfrm>
              </p:grpSpPr>
              <p:sp>
                <p:nvSpPr>
                  <p:cNvPr id="118" name="Rectangle 7"/>
                  <p:cNvSpPr/>
                  <p:nvPr/>
                </p:nvSpPr>
                <p:spPr>
                  <a:xfrm rot="14400000">
                    <a:off x="3066200" y="1818077"/>
                    <a:ext cx="1516571" cy="2231306"/>
                  </a:xfrm>
                  <a:custGeom>
                    <a:avLst/>
                    <a:gdLst>
                      <a:gd name="connsiteX0" fmla="*/ 0 w 685800"/>
                      <a:gd name="connsiteY0" fmla="*/ 0 h 179112"/>
                      <a:gd name="connsiteX1" fmla="*/ 685800 w 685800"/>
                      <a:gd name="connsiteY1" fmla="*/ 0 h 179112"/>
                      <a:gd name="connsiteX2" fmla="*/ 685800 w 685800"/>
                      <a:gd name="connsiteY2" fmla="*/ 179112 h 179112"/>
                      <a:gd name="connsiteX3" fmla="*/ 0 w 685800"/>
                      <a:gd name="connsiteY3" fmla="*/ 179112 h 179112"/>
                      <a:gd name="connsiteX4" fmla="*/ 0 w 685800"/>
                      <a:gd name="connsiteY4" fmla="*/ 0 h 179112"/>
                      <a:gd name="connsiteX0" fmla="*/ 0 w 1276919"/>
                      <a:gd name="connsiteY0" fmla="*/ 0 h 2274982"/>
                      <a:gd name="connsiteX1" fmla="*/ 685800 w 1276919"/>
                      <a:gd name="connsiteY1" fmla="*/ 0 h 2274982"/>
                      <a:gd name="connsiteX2" fmla="*/ 1276919 w 1276919"/>
                      <a:gd name="connsiteY2" fmla="*/ 2274982 h 2274982"/>
                      <a:gd name="connsiteX3" fmla="*/ 0 w 1276919"/>
                      <a:gd name="connsiteY3" fmla="*/ 179112 h 2274982"/>
                      <a:gd name="connsiteX4" fmla="*/ 0 w 1276919"/>
                      <a:gd name="connsiteY4" fmla="*/ 0 h 2274982"/>
                      <a:gd name="connsiteX0" fmla="*/ 0 w 1604728"/>
                      <a:gd name="connsiteY0" fmla="*/ 0 h 2455933"/>
                      <a:gd name="connsiteX1" fmla="*/ 1604728 w 1604728"/>
                      <a:gd name="connsiteY1" fmla="*/ 2455933 h 2455933"/>
                      <a:gd name="connsiteX2" fmla="*/ 1276919 w 1604728"/>
                      <a:gd name="connsiteY2" fmla="*/ 2274982 h 2455933"/>
                      <a:gd name="connsiteX3" fmla="*/ 0 w 1604728"/>
                      <a:gd name="connsiteY3" fmla="*/ 179112 h 2455933"/>
                      <a:gd name="connsiteX4" fmla="*/ 0 w 1604728"/>
                      <a:gd name="connsiteY4" fmla="*/ 0 h 2455933"/>
                      <a:gd name="connsiteX0" fmla="*/ 0 w 1604728"/>
                      <a:gd name="connsiteY0" fmla="*/ 27 h 2455960"/>
                      <a:gd name="connsiteX1" fmla="*/ 1604728 w 1604728"/>
                      <a:gd name="connsiteY1" fmla="*/ 2455960 h 2455960"/>
                      <a:gd name="connsiteX2" fmla="*/ 1276919 w 1604728"/>
                      <a:gd name="connsiteY2" fmla="*/ 2275009 h 2455960"/>
                      <a:gd name="connsiteX3" fmla="*/ 0 w 1604728"/>
                      <a:gd name="connsiteY3" fmla="*/ 179139 h 2455960"/>
                      <a:gd name="connsiteX4" fmla="*/ 0 w 1604728"/>
                      <a:gd name="connsiteY4" fmla="*/ 27 h 2455960"/>
                      <a:gd name="connsiteX0" fmla="*/ 0 w 1711231"/>
                      <a:gd name="connsiteY0" fmla="*/ 28 h 2455961"/>
                      <a:gd name="connsiteX1" fmla="*/ 1604728 w 1711231"/>
                      <a:gd name="connsiteY1" fmla="*/ 2455961 h 2455961"/>
                      <a:gd name="connsiteX2" fmla="*/ 1276919 w 1711231"/>
                      <a:gd name="connsiteY2" fmla="*/ 2275010 h 2455961"/>
                      <a:gd name="connsiteX3" fmla="*/ 0 w 1711231"/>
                      <a:gd name="connsiteY3" fmla="*/ 179140 h 2455961"/>
                      <a:gd name="connsiteX4" fmla="*/ 0 w 1711231"/>
                      <a:gd name="connsiteY4" fmla="*/ 28 h 2455961"/>
                      <a:gd name="connsiteX0" fmla="*/ 0 w 1646921"/>
                      <a:gd name="connsiteY0" fmla="*/ 29 h 2405722"/>
                      <a:gd name="connsiteX1" fmla="*/ 1531998 w 1646921"/>
                      <a:gd name="connsiteY1" fmla="*/ 2405722 h 2405722"/>
                      <a:gd name="connsiteX2" fmla="*/ 1276919 w 1646921"/>
                      <a:gd name="connsiteY2" fmla="*/ 2275011 h 2405722"/>
                      <a:gd name="connsiteX3" fmla="*/ 0 w 1646921"/>
                      <a:gd name="connsiteY3" fmla="*/ 179141 h 2405722"/>
                      <a:gd name="connsiteX4" fmla="*/ 0 w 1646921"/>
                      <a:gd name="connsiteY4" fmla="*/ 29 h 2405722"/>
                      <a:gd name="connsiteX0" fmla="*/ 0 w 1684573"/>
                      <a:gd name="connsiteY0" fmla="*/ 29 h 2405722"/>
                      <a:gd name="connsiteX1" fmla="*/ 1531998 w 1684573"/>
                      <a:gd name="connsiteY1" fmla="*/ 2405722 h 2405722"/>
                      <a:gd name="connsiteX2" fmla="*/ 1276919 w 1684573"/>
                      <a:gd name="connsiteY2" fmla="*/ 2275011 h 2405722"/>
                      <a:gd name="connsiteX3" fmla="*/ 0 w 1684573"/>
                      <a:gd name="connsiteY3" fmla="*/ 179141 h 2405722"/>
                      <a:gd name="connsiteX4" fmla="*/ 0 w 1684573"/>
                      <a:gd name="connsiteY4" fmla="*/ 29 h 2405722"/>
                      <a:gd name="connsiteX0" fmla="*/ 0 w 1686755"/>
                      <a:gd name="connsiteY0" fmla="*/ 0 h 2405693"/>
                      <a:gd name="connsiteX1" fmla="*/ 1531998 w 1686755"/>
                      <a:gd name="connsiteY1" fmla="*/ 2405693 h 2405693"/>
                      <a:gd name="connsiteX2" fmla="*/ 1276919 w 1686755"/>
                      <a:gd name="connsiteY2" fmla="*/ 2274982 h 2405693"/>
                      <a:gd name="connsiteX3" fmla="*/ 0 w 1686755"/>
                      <a:gd name="connsiteY3" fmla="*/ 179112 h 2405693"/>
                      <a:gd name="connsiteX4" fmla="*/ 0 w 1686755"/>
                      <a:gd name="connsiteY4" fmla="*/ 0 h 2405693"/>
                      <a:gd name="connsiteX0" fmla="*/ 0 w 1686755"/>
                      <a:gd name="connsiteY0" fmla="*/ 0 h 2405693"/>
                      <a:gd name="connsiteX1" fmla="*/ 1531998 w 1686755"/>
                      <a:gd name="connsiteY1" fmla="*/ 2405693 h 2405693"/>
                      <a:gd name="connsiteX2" fmla="*/ 1442657 w 1686755"/>
                      <a:gd name="connsiteY2" fmla="*/ 2356213 h 2405693"/>
                      <a:gd name="connsiteX3" fmla="*/ 1276919 w 1686755"/>
                      <a:gd name="connsiteY3" fmla="*/ 2274982 h 2405693"/>
                      <a:gd name="connsiteX4" fmla="*/ 0 w 1686755"/>
                      <a:gd name="connsiteY4" fmla="*/ 179112 h 2405693"/>
                      <a:gd name="connsiteX5" fmla="*/ 0 w 1686755"/>
                      <a:gd name="connsiteY5" fmla="*/ 0 h 2405693"/>
                      <a:gd name="connsiteX0" fmla="*/ 0 w 1686755"/>
                      <a:gd name="connsiteY0" fmla="*/ 0 h 2500972"/>
                      <a:gd name="connsiteX1" fmla="*/ 1531998 w 1686755"/>
                      <a:gd name="connsiteY1" fmla="*/ 2405693 h 2500972"/>
                      <a:gd name="connsiteX2" fmla="*/ 1383826 w 1686755"/>
                      <a:gd name="connsiteY2" fmla="*/ 2500972 h 2500972"/>
                      <a:gd name="connsiteX3" fmla="*/ 1276919 w 1686755"/>
                      <a:gd name="connsiteY3" fmla="*/ 2274982 h 2500972"/>
                      <a:gd name="connsiteX4" fmla="*/ 0 w 1686755"/>
                      <a:gd name="connsiteY4" fmla="*/ 179112 h 2500972"/>
                      <a:gd name="connsiteX5" fmla="*/ 0 w 1686755"/>
                      <a:gd name="connsiteY5" fmla="*/ 0 h 2500972"/>
                      <a:gd name="connsiteX0" fmla="*/ 0 w 1686755"/>
                      <a:gd name="connsiteY0" fmla="*/ 0 h 2500972"/>
                      <a:gd name="connsiteX1" fmla="*/ 1531998 w 1686755"/>
                      <a:gd name="connsiteY1" fmla="*/ 2405693 h 2500972"/>
                      <a:gd name="connsiteX2" fmla="*/ 1479520 w 1686755"/>
                      <a:gd name="connsiteY2" fmla="*/ 2435239 h 2500972"/>
                      <a:gd name="connsiteX3" fmla="*/ 1383826 w 1686755"/>
                      <a:gd name="connsiteY3" fmla="*/ 2500972 h 2500972"/>
                      <a:gd name="connsiteX4" fmla="*/ 1276919 w 1686755"/>
                      <a:gd name="connsiteY4" fmla="*/ 2274982 h 2500972"/>
                      <a:gd name="connsiteX5" fmla="*/ 0 w 1686755"/>
                      <a:gd name="connsiteY5" fmla="*/ 179112 h 2500972"/>
                      <a:gd name="connsiteX6" fmla="*/ 0 w 1686755"/>
                      <a:gd name="connsiteY6" fmla="*/ 0 h 2500972"/>
                      <a:gd name="connsiteX0" fmla="*/ 0 w 1686755"/>
                      <a:gd name="connsiteY0" fmla="*/ 0 h 2500972"/>
                      <a:gd name="connsiteX1" fmla="*/ 1531998 w 1686755"/>
                      <a:gd name="connsiteY1" fmla="*/ 2405693 h 2500972"/>
                      <a:gd name="connsiteX2" fmla="*/ 1630638 w 1686755"/>
                      <a:gd name="connsiteY2" fmla="*/ 2459246 h 2500972"/>
                      <a:gd name="connsiteX3" fmla="*/ 1383826 w 1686755"/>
                      <a:gd name="connsiteY3" fmla="*/ 2500972 h 2500972"/>
                      <a:gd name="connsiteX4" fmla="*/ 1276919 w 1686755"/>
                      <a:gd name="connsiteY4" fmla="*/ 2274982 h 2500972"/>
                      <a:gd name="connsiteX5" fmla="*/ 0 w 1686755"/>
                      <a:gd name="connsiteY5" fmla="*/ 179112 h 2500972"/>
                      <a:gd name="connsiteX6" fmla="*/ 0 w 1686755"/>
                      <a:gd name="connsiteY6" fmla="*/ 0 h 2500972"/>
                      <a:gd name="connsiteX0" fmla="*/ 0 w 1686755"/>
                      <a:gd name="connsiteY0" fmla="*/ 0 h 2487961"/>
                      <a:gd name="connsiteX1" fmla="*/ 1531998 w 1686755"/>
                      <a:gd name="connsiteY1" fmla="*/ 2405693 h 2487961"/>
                      <a:gd name="connsiteX2" fmla="*/ 1630638 w 1686755"/>
                      <a:gd name="connsiteY2" fmla="*/ 2459246 h 2487961"/>
                      <a:gd name="connsiteX3" fmla="*/ 1380340 w 1686755"/>
                      <a:gd name="connsiteY3" fmla="*/ 2487961 h 2487961"/>
                      <a:gd name="connsiteX4" fmla="*/ 1276919 w 1686755"/>
                      <a:gd name="connsiteY4" fmla="*/ 2274982 h 2487961"/>
                      <a:gd name="connsiteX5" fmla="*/ 0 w 1686755"/>
                      <a:gd name="connsiteY5" fmla="*/ 179112 h 2487961"/>
                      <a:gd name="connsiteX6" fmla="*/ 0 w 1686755"/>
                      <a:gd name="connsiteY6" fmla="*/ 0 h 2487961"/>
                      <a:gd name="connsiteX0" fmla="*/ 0 w 1686755"/>
                      <a:gd name="connsiteY0" fmla="*/ 0 h 2494467"/>
                      <a:gd name="connsiteX1" fmla="*/ 1531998 w 1686755"/>
                      <a:gd name="connsiteY1" fmla="*/ 2405693 h 2494467"/>
                      <a:gd name="connsiteX2" fmla="*/ 1630638 w 1686755"/>
                      <a:gd name="connsiteY2" fmla="*/ 2459246 h 2494467"/>
                      <a:gd name="connsiteX3" fmla="*/ 1382084 w 1686755"/>
                      <a:gd name="connsiteY3" fmla="*/ 2494467 h 2494467"/>
                      <a:gd name="connsiteX4" fmla="*/ 1276919 w 1686755"/>
                      <a:gd name="connsiteY4" fmla="*/ 2274982 h 2494467"/>
                      <a:gd name="connsiteX5" fmla="*/ 0 w 1686755"/>
                      <a:gd name="connsiteY5" fmla="*/ 179112 h 2494467"/>
                      <a:gd name="connsiteX6" fmla="*/ 0 w 1686755"/>
                      <a:gd name="connsiteY6" fmla="*/ 0 h 2494467"/>
                      <a:gd name="connsiteX0" fmla="*/ 0 w 1686755"/>
                      <a:gd name="connsiteY0" fmla="*/ 0 h 2494467"/>
                      <a:gd name="connsiteX1" fmla="*/ 1531998 w 1686755"/>
                      <a:gd name="connsiteY1" fmla="*/ 2405693 h 2494467"/>
                      <a:gd name="connsiteX2" fmla="*/ 1630638 w 1686755"/>
                      <a:gd name="connsiteY2" fmla="*/ 2459246 h 2494467"/>
                      <a:gd name="connsiteX3" fmla="*/ 1382084 w 1686755"/>
                      <a:gd name="connsiteY3" fmla="*/ 2494467 h 2494467"/>
                      <a:gd name="connsiteX4" fmla="*/ 1276919 w 1686755"/>
                      <a:gd name="connsiteY4" fmla="*/ 2274982 h 2494467"/>
                      <a:gd name="connsiteX5" fmla="*/ 1219873 w 1686755"/>
                      <a:gd name="connsiteY5" fmla="*/ 2175347 h 2494467"/>
                      <a:gd name="connsiteX6" fmla="*/ 0 w 1686755"/>
                      <a:gd name="connsiteY6" fmla="*/ 179112 h 2494467"/>
                      <a:gd name="connsiteX7" fmla="*/ 0 w 1686755"/>
                      <a:gd name="connsiteY7" fmla="*/ 0 h 2494467"/>
                      <a:gd name="connsiteX0" fmla="*/ 0 w 1686755"/>
                      <a:gd name="connsiteY0" fmla="*/ 0 h 2494467"/>
                      <a:gd name="connsiteX1" fmla="*/ 1531998 w 1686755"/>
                      <a:gd name="connsiteY1" fmla="*/ 2405693 h 2494467"/>
                      <a:gd name="connsiteX2" fmla="*/ 1630638 w 1686755"/>
                      <a:gd name="connsiteY2" fmla="*/ 2459246 h 2494467"/>
                      <a:gd name="connsiteX3" fmla="*/ 1382084 w 1686755"/>
                      <a:gd name="connsiteY3" fmla="*/ 2494467 h 2494467"/>
                      <a:gd name="connsiteX4" fmla="*/ 1276919 w 1686755"/>
                      <a:gd name="connsiteY4" fmla="*/ 2274982 h 2494467"/>
                      <a:gd name="connsiteX5" fmla="*/ 1370797 w 1686755"/>
                      <a:gd name="connsiteY5" fmla="*/ 2309226 h 2494467"/>
                      <a:gd name="connsiteX6" fmla="*/ 0 w 1686755"/>
                      <a:gd name="connsiteY6" fmla="*/ 179112 h 2494467"/>
                      <a:gd name="connsiteX7" fmla="*/ 0 w 1686755"/>
                      <a:gd name="connsiteY7" fmla="*/ 0 h 2494467"/>
                      <a:gd name="connsiteX0" fmla="*/ 0 w 1686755"/>
                      <a:gd name="connsiteY0" fmla="*/ 0 h 2494467"/>
                      <a:gd name="connsiteX1" fmla="*/ 1531998 w 1686755"/>
                      <a:gd name="connsiteY1" fmla="*/ 2405693 h 2494467"/>
                      <a:gd name="connsiteX2" fmla="*/ 1630638 w 1686755"/>
                      <a:gd name="connsiteY2" fmla="*/ 2459246 h 2494467"/>
                      <a:gd name="connsiteX3" fmla="*/ 1382084 w 1686755"/>
                      <a:gd name="connsiteY3" fmla="*/ 2494467 h 2494467"/>
                      <a:gd name="connsiteX4" fmla="*/ 1267246 w 1686755"/>
                      <a:gd name="connsiteY4" fmla="*/ 2258399 h 2494467"/>
                      <a:gd name="connsiteX5" fmla="*/ 1370797 w 1686755"/>
                      <a:gd name="connsiteY5" fmla="*/ 2309226 h 2494467"/>
                      <a:gd name="connsiteX6" fmla="*/ 0 w 1686755"/>
                      <a:gd name="connsiteY6" fmla="*/ 179112 h 2494467"/>
                      <a:gd name="connsiteX7" fmla="*/ 0 w 1686755"/>
                      <a:gd name="connsiteY7" fmla="*/ 0 h 2494467"/>
                      <a:gd name="connsiteX0" fmla="*/ 0 w 1679685"/>
                      <a:gd name="connsiteY0" fmla="*/ 0 h 2494467"/>
                      <a:gd name="connsiteX1" fmla="*/ 1531998 w 1679685"/>
                      <a:gd name="connsiteY1" fmla="*/ 2405693 h 2494467"/>
                      <a:gd name="connsiteX2" fmla="*/ 1630638 w 1679685"/>
                      <a:gd name="connsiteY2" fmla="*/ 2459246 h 2494467"/>
                      <a:gd name="connsiteX3" fmla="*/ 1382084 w 1679685"/>
                      <a:gd name="connsiteY3" fmla="*/ 2494467 h 2494467"/>
                      <a:gd name="connsiteX4" fmla="*/ 1267246 w 1679685"/>
                      <a:gd name="connsiteY4" fmla="*/ 2258399 h 2494467"/>
                      <a:gd name="connsiteX5" fmla="*/ 1370797 w 1679685"/>
                      <a:gd name="connsiteY5" fmla="*/ 2309226 h 2494467"/>
                      <a:gd name="connsiteX6" fmla="*/ 0 w 1679685"/>
                      <a:gd name="connsiteY6" fmla="*/ 179112 h 2494467"/>
                      <a:gd name="connsiteX7" fmla="*/ 0 w 1679685"/>
                      <a:gd name="connsiteY7" fmla="*/ 0 h 2494467"/>
                      <a:gd name="connsiteX0" fmla="*/ 0 w 1678802"/>
                      <a:gd name="connsiteY0" fmla="*/ 0 h 2494467"/>
                      <a:gd name="connsiteX1" fmla="*/ 1531998 w 1678802"/>
                      <a:gd name="connsiteY1" fmla="*/ 2405693 h 2494467"/>
                      <a:gd name="connsiteX2" fmla="*/ 1630638 w 1678802"/>
                      <a:gd name="connsiteY2" fmla="*/ 2459246 h 2494467"/>
                      <a:gd name="connsiteX3" fmla="*/ 1382084 w 1678802"/>
                      <a:gd name="connsiteY3" fmla="*/ 2494467 h 2494467"/>
                      <a:gd name="connsiteX4" fmla="*/ 1267246 w 1678802"/>
                      <a:gd name="connsiteY4" fmla="*/ 2258399 h 2494467"/>
                      <a:gd name="connsiteX5" fmla="*/ 1370797 w 1678802"/>
                      <a:gd name="connsiteY5" fmla="*/ 2309226 h 2494467"/>
                      <a:gd name="connsiteX6" fmla="*/ 0 w 1678802"/>
                      <a:gd name="connsiteY6" fmla="*/ 179112 h 2494467"/>
                      <a:gd name="connsiteX7" fmla="*/ 0 w 1678802"/>
                      <a:gd name="connsiteY7" fmla="*/ 0 h 2494467"/>
                      <a:gd name="connsiteX0" fmla="*/ 0 w 1678802"/>
                      <a:gd name="connsiteY0" fmla="*/ 0 h 2494467"/>
                      <a:gd name="connsiteX1" fmla="*/ 1531998 w 1678802"/>
                      <a:gd name="connsiteY1" fmla="*/ 2405693 h 2494467"/>
                      <a:gd name="connsiteX2" fmla="*/ 1630638 w 1678802"/>
                      <a:gd name="connsiteY2" fmla="*/ 2459246 h 2494467"/>
                      <a:gd name="connsiteX3" fmla="*/ 1382084 w 1678802"/>
                      <a:gd name="connsiteY3" fmla="*/ 2494467 h 2494467"/>
                      <a:gd name="connsiteX4" fmla="*/ 1267246 w 1678802"/>
                      <a:gd name="connsiteY4" fmla="*/ 2258399 h 2494467"/>
                      <a:gd name="connsiteX5" fmla="*/ 1370797 w 1678802"/>
                      <a:gd name="connsiteY5" fmla="*/ 2309226 h 2494467"/>
                      <a:gd name="connsiteX6" fmla="*/ 0 w 1678802"/>
                      <a:gd name="connsiteY6" fmla="*/ 179112 h 2494467"/>
                      <a:gd name="connsiteX7" fmla="*/ 0 w 1678802"/>
                      <a:gd name="connsiteY7" fmla="*/ 0 h 2494467"/>
                      <a:gd name="connsiteX0" fmla="*/ 0 w 1678802"/>
                      <a:gd name="connsiteY0" fmla="*/ 0 h 2494467"/>
                      <a:gd name="connsiteX1" fmla="*/ 1531998 w 1678802"/>
                      <a:gd name="connsiteY1" fmla="*/ 2405693 h 2494467"/>
                      <a:gd name="connsiteX2" fmla="*/ 1630638 w 1678802"/>
                      <a:gd name="connsiteY2" fmla="*/ 2459246 h 2494467"/>
                      <a:gd name="connsiteX3" fmla="*/ 1382084 w 1678802"/>
                      <a:gd name="connsiteY3" fmla="*/ 2494467 h 2494467"/>
                      <a:gd name="connsiteX4" fmla="*/ 1267246 w 1678802"/>
                      <a:gd name="connsiteY4" fmla="*/ 2258399 h 2494467"/>
                      <a:gd name="connsiteX5" fmla="*/ 1370797 w 1678802"/>
                      <a:gd name="connsiteY5" fmla="*/ 2309226 h 2494467"/>
                      <a:gd name="connsiteX6" fmla="*/ 0 w 1678802"/>
                      <a:gd name="connsiteY6" fmla="*/ 179112 h 2494467"/>
                      <a:gd name="connsiteX7" fmla="*/ 0 w 1678802"/>
                      <a:gd name="connsiteY7" fmla="*/ 0 h 2494467"/>
                      <a:gd name="connsiteX0" fmla="*/ 0 w 1678802"/>
                      <a:gd name="connsiteY0" fmla="*/ 0 h 2494467"/>
                      <a:gd name="connsiteX1" fmla="*/ 1531998 w 1678802"/>
                      <a:gd name="connsiteY1" fmla="*/ 2405693 h 2494467"/>
                      <a:gd name="connsiteX2" fmla="*/ 1630638 w 1678802"/>
                      <a:gd name="connsiteY2" fmla="*/ 2459246 h 2494467"/>
                      <a:gd name="connsiteX3" fmla="*/ 1382084 w 1678802"/>
                      <a:gd name="connsiteY3" fmla="*/ 2494467 h 2494467"/>
                      <a:gd name="connsiteX4" fmla="*/ 1267246 w 1678802"/>
                      <a:gd name="connsiteY4" fmla="*/ 2258399 h 2494467"/>
                      <a:gd name="connsiteX5" fmla="*/ 1370797 w 1678802"/>
                      <a:gd name="connsiteY5" fmla="*/ 2309226 h 2494467"/>
                      <a:gd name="connsiteX6" fmla="*/ 0 w 1678802"/>
                      <a:gd name="connsiteY6" fmla="*/ 179112 h 2494467"/>
                      <a:gd name="connsiteX7" fmla="*/ 0 w 1678802"/>
                      <a:gd name="connsiteY7" fmla="*/ 0 h 24944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678802" h="2494467">
                        <a:moveTo>
                          <a:pt x="0" y="0"/>
                        </a:moveTo>
                        <a:cubicBezTo>
                          <a:pt x="1480388" y="58325"/>
                          <a:pt x="1951797" y="1500667"/>
                          <a:pt x="1531998" y="2405693"/>
                        </a:cubicBezTo>
                        <a:lnTo>
                          <a:pt x="1630638" y="2459246"/>
                        </a:lnTo>
                        <a:lnTo>
                          <a:pt x="1382084" y="2494467"/>
                        </a:lnTo>
                        <a:lnTo>
                          <a:pt x="1267246" y="2258399"/>
                        </a:lnTo>
                        <a:lnTo>
                          <a:pt x="1370797" y="2309226"/>
                        </a:lnTo>
                        <a:cubicBezTo>
                          <a:pt x="1695911" y="1674433"/>
                          <a:pt x="1431842" y="257934"/>
                          <a:pt x="0" y="179112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C49E"/>
                  </a:solidFill>
                  <a:ln w="2540">
                    <a:noFill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27000" h="3810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19" name="Rectangle 7"/>
                  <p:cNvSpPr/>
                  <p:nvPr/>
                </p:nvSpPr>
                <p:spPr>
                  <a:xfrm rot="7200000">
                    <a:off x="3769914" y="3209913"/>
                    <a:ext cx="1536546" cy="2231306"/>
                  </a:xfrm>
                  <a:custGeom>
                    <a:avLst/>
                    <a:gdLst>
                      <a:gd name="connsiteX0" fmla="*/ 0 w 685800"/>
                      <a:gd name="connsiteY0" fmla="*/ 0 h 179112"/>
                      <a:gd name="connsiteX1" fmla="*/ 685800 w 685800"/>
                      <a:gd name="connsiteY1" fmla="*/ 0 h 179112"/>
                      <a:gd name="connsiteX2" fmla="*/ 685800 w 685800"/>
                      <a:gd name="connsiteY2" fmla="*/ 179112 h 179112"/>
                      <a:gd name="connsiteX3" fmla="*/ 0 w 685800"/>
                      <a:gd name="connsiteY3" fmla="*/ 179112 h 179112"/>
                      <a:gd name="connsiteX4" fmla="*/ 0 w 685800"/>
                      <a:gd name="connsiteY4" fmla="*/ 0 h 179112"/>
                      <a:gd name="connsiteX0" fmla="*/ 0 w 1276919"/>
                      <a:gd name="connsiteY0" fmla="*/ 0 h 2274982"/>
                      <a:gd name="connsiteX1" fmla="*/ 685800 w 1276919"/>
                      <a:gd name="connsiteY1" fmla="*/ 0 h 2274982"/>
                      <a:gd name="connsiteX2" fmla="*/ 1276919 w 1276919"/>
                      <a:gd name="connsiteY2" fmla="*/ 2274982 h 2274982"/>
                      <a:gd name="connsiteX3" fmla="*/ 0 w 1276919"/>
                      <a:gd name="connsiteY3" fmla="*/ 179112 h 2274982"/>
                      <a:gd name="connsiteX4" fmla="*/ 0 w 1276919"/>
                      <a:gd name="connsiteY4" fmla="*/ 0 h 2274982"/>
                      <a:gd name="connsiteX0" fmla="*/ 0 w 1604728"/>
                      <a:gd name="connsiteY0" fmla="*/ 0 h 2455933"/>
                      <a:gd name="connsiteX1" fmla="*/ 1604728 w 1604728"/>
                      <a:gd name="connsiteY1" fmla="*/ 2455933 h 2455933"/>
                      <a:gd name="connsiteX2" fmla="*/ 1276919 w 1604728"/>
                      <a:gd name="connsiteY2" fmla="*/ 2274982 h 2455933"/>
                      <a:gd name="connsiteX3" fmla="*/ 0 w 1604728"/>
                      <a:gd name="connsiteY3" fmla="*/ 179112 h 2455933"/>
                      <a:gd name="connsiteX4" fmla="*/ 0 w 1604728"/>
                      <a:gd name="connsiteY4" fmla="*/ 0 h 2455933"/>
                      <a:gd name="connsiteX0" fmla="*/ 0 w 1604728"/>
                      <a:gd name="connsiteY0" fmla="*/ 27 h 2455960"/>
                      <a:gd name="connsiteX1" fmla="*/ 1604728 w 1604728"/>
                      <a:gd name="connsiteY1" fmla="*/ 2455960 h 2455960"/>
                      <a:gd name="connsiteX2" fmla="*/ 1276919 w 1604728"/>
                      <a:gd name="connsiteY2" fmla="*/ 2275009 h 2455960"/>
                      <a:gd name="connsiteX3" fmla="*/ 0 w 1604728"/>
                      <a:gd name="connsiteY3" fmla="*/ 179139 h 2455960"/>
                      <a:gd name="connsiteX4" fmla="*/ 0 w 1604728"/>
                      <a:gd name="connsiteY4" fmla="*/ 27 h 2455960"/>
                      <a:gd name="connsiteX0" fmla="*/ 0 w 1711231"/>
                      <a:gd name="connsiteY0" fmla="*/ 28 h 2455961"/>
                      <a:gd name="connsiteX1" fmla="*/ 1604728 w 1711231"/>
                      <a:gd name="connsiteY1" fmla="*/ 2455961 h 2455961"/>
                      <a:gd name="connsiteX2" fmla="*/ 1276919 w 1711231"/>
                      <a:gd name="connsiteY2" fmla="*/ 2275010 h 2455961"/>
                      <a:gd name="connsiteX3" fmla="*/ 0 w 1711231"/>
                      <a:gd name="connsiteY3" fmla="*/ 179140 h 2455961"/>
                      <a:gd name="connsiteX4" fmla="*/ 0 w 1711231"/>
                      <a:gd name="connsiteY4" fmla="*/ 28 h 2455961"/>
                      <a:gd name="connsiteX0" fmla="*/ 0 w 1646921"/>
                      <a:gd name="connsiteY0" fmla="*/ 29 h 2405722"/>
                      <a:gd name="connsiteX1" fmla="*/ 1531998 w 1646921"/>
                      <a:gd name="connsiteY1" fmla="*/ 2405722 h 2405722"/>
                      <a:gd name="connsiteX2" fmla="*/ 1276919 w 1646921"/>
                      <a:gd name="connsiteY2" fmla="*/ 2275011 h 2405722"/>
                      <a:gd name="connsiteX3" fmla="*/ 0 w 1646921"/>
                      <a:gd name="connsiteY3" fmla="*/ 179141 h 2405722"/>
                      <a:gd name="connsiteX4" fmla="*/ 0 w 1646921"/>
                      <a:gd name="connsiteY4" fmla="*/ 29 h 2405722"/>
                      <a:gd name="connsiteX0" fmla="*/ 0 w 1684573"/>
                      <a:gd name="connsiteY0" fmla="*/ 29 h 2405722"/>
                      <a:gd name="connsiteX1" fmla="*/ 1531998 w 1684573"/>
                      <a:gd name="connsiteY1" fmla="*/ 2405722 h 2405722"/>
                      <a:gd name="connsiteX2" fmla="*/ 1276919 w 1684573"/>
                      <a:gd name="connsiteY2" fmla="*/ 2275011 h 2405722"/>
                      <a:gd name="connsiteX3" fmla="*/ 0 w 1684573"/>
                      <a:gd name="connsiteY3" fmla="*/ 179141 h 2405722"/>
                      <a:gd name="connsiteX4" fmla="*/ 0 w 1684573"/>
                      <a:gd name="connsiteY4" fmla="*/ 29 h 2405722"/>
                      <a:gd name="connsiteX0" fmla="*/ 0 w 1686755"/>
                      <a:gd name="connsiteY0" fmla="*/ 0 h 2405693"/>
                      <a:gd name="connsiteX1" fmla="*/ 1531998 w 1686755"/>
                      <a:gd name="connsiteY1" fmla="*/ 2405693 h 2405693"/>
                      <a:gd name="connsiteX2" fmla="*/ 1276919 w 1686755"/>
                      <a:gd name="connsiteY2" fmla="*/ 2274982 h 2405693"/>
                      <a:gd name="connsiteX3" fmla="*/ 0 w 1686755"/>
                      <a:gd name="connsiteY3" fmla="*/ 179112 h 2405693"/>
                      <a:gd name="connsiteX4" fmla="*/ 0 w 1686755"/>
                      <a:gd name="connsiteY4" fmla="*/ 0 h 2405693"/>
                      <a:gd name="connsiteX0" fmla="*/ 0 w 1686755"/>
                      <a:gd name="connsiteY0" fmla="*/ 0 h 2405693"/>
                      <a:gd name="connsiteX1" fmla="*/ 1531998 w 1686755"/>
                      <a:gd name="connsiteY1" fmla="*/ 2405693 h 2405693"/>
                      <a:gd name="connsiteX2" fmla="*/ 1442657 w 1686755"/>
                      <a:gd name="connsiteY2" fmla="*/ 2356213 h 2405693"/>
                      <a:gd name="connsiteX3" fmla="*/ 1276919 w 1686755"/>
                      <a:gd name="connsiteY3" fmla="*/ 2274982 h 2405693"/>
                      <a:gd name="connsiteX4" fmla="*/ 0 w 1686755"/>
                      <a:gd name="connsiteY4" fmla="*/ 179112 h 2405693"/>
                      <a:gd name="connsiteX5" fmla="*/ 0 w 1686755"/>
                      <a:gd name="connsiteY5" fmla="*/ 0 h 2405693"/>
                      <a:gd name="connsiteX0" fmla="*/ 0 w 1686755"/>
                      <a:gd name="connsiteY0" fmla="*/ 0 h 2500972"/>
                      <a:gd name="connsiteX1" fmla="*/ 1531998 w 1686755"/>
                      <a:gd name="connsiteY1" fmla="*/ 2405693 h 2500972"/>
                      <a:gd name="connsiteX2" fmla="*/ 1383826 w 1686755"/>
                      <a:gd name="connsiteY2" fmla="*/ 2500972 h 2500972"/>
                      <a:gd name="connsiteX3" fmla="*/ 1276919 w 1686755"/>
                      <a:gd name="connsiteY3" fmla="*/ 2274982 h 2500972"/>
                      <a:gd name="connsiteX4" fmla="*/ 0 w 1686755"/>
                      <a:gd name="connsiteY4" fmla="*/ 179112 h 2500972"/>
                      <a:gd name="connsiteX5" fmla="*/ 0 w 1686755"/>
                      <a:gd name="connsiteY5" fmla="*/ 0 h 2500972"/>
                      <a:gd name="connsiteX0" fmla="*/ 0 w 1686755"/>
                      <a:gd name="connsiteY0" fmla="*/ 0 h 2500972"/>
                      <a:gd name="connsiteX1" fmla="*/ 1531998 w 1686755"/>
                      <a:gd name="connsiteY1" fmla="*/ 2405693 h 2500972"/>
                      <a:gd name="connsiteX2" fmla="*/ 1479520 w 1686755"/>
                      <a:gd name="connsiteY2" fmla="*/ 2435239 h 2500972"/>
                      <a:gd name="connsiteX3" fmla="*/ 1383826 w 1686755"/>
                      <a:gd name="connsiteY3" fmla="*/ 2500972 h 2500972"/>
                      <a:gd name="connsiteX4" fmla="*/ 1276919 w 1686755"/>
                      <a:gd name="connsiteY4" fmla="*/ 2274982 h 2500972"/>
                      <a:gd name="connsiteX5" fmla="*/ 0 w 1686755"/>
                      <a:gd name="connsiteY5" fmla="*/ 179112 h 2500972"/>
                      <a:gd name="connsiteX6" fmla="*/ 0 w 1686755"/>
                      <a:gd name="connsiteY6" fmla="*/ 0 h 2500972"/>
                      <a:gd name="connsiteX0" fmla="*/ 0 w 1686755"/>
                      <a:gd name="connsiteY0" fmla="*/ 0 h 2500972"/>
                      <a:gd name="connsiteX1" fmla="*/ 1531998 w 1686755"/>
                      <a:gd name="connsiteY1" fmla="*/ 2405693 h 2500972"/>
                      <a:gd name="connsiteX2" fmla="*/ 1630638 w 1686755"/>
                      <a:gd name="connsiteY2" fmla="*/ 2459246 h 2500972"/>
                      <a:gd name="connsiteX3" fmla="*/ 1383826 w 1686755"/>
                      <a:gd name="connsiteY3" fmla="*/ 2500972 h 2500972"/>
                      <a:gd name="connsiteX4" fmla="*/ 1276919 w 1686755"/>
                      <a:gd name="connsiteY4" fmla="*/ 2274982 h 2500972"/>
                      <a:gd name="connsiteX5" fmla="*/ 0 w 1686755"/>
                      <a:gd name="connsiteY5" fmla="*/ 179112 h 2500972"/>
                      <a:gd name="connsiteX6" fmla="*/ 0 w 1686755"/>
                      <a:gd name="connsiteY6" fmla="*/ 0 h 2500972"/>
                      <a:gd name="connsiteX0" fmla="*/ 0 w 1686755"/>
                      <a:gd name="connsiteY0" fmla="*/ 0 h 2487961"/>
                      <a:gd name="connsiteX1" fmla="*/ 1531998 w 1686755"/>
                      <a:gd name="connsiteY1" fmla="*/ 2405693 h 2487961"/>
                      <a:gd name="connsiteX2" fmla="*/ 1630638 w 1686755"/>
                      <a:gd name="connsiteY2" fmla="*/ 2459246 h 2487961"/>
                      <a:gd name="connsiteX3" fmla="*/ 1380340 w 1686755"/>
                      <a:gd name="connsiteY3" fmla="*/ 2487961 h 2487961"/>
                      <a:gd name="connsiteX4" fmla="*/ 1276919 w 1686755"/>
                      <a:gd name="connsiteY4" fmla="*/ 2274982 h 2487961"/>
                      <a:gd name="connsiteX5" fmla="*/ 0 w 1686755"/>
                      <a:gd name="connsiteY5" fmla="*/ 179112 h 2487961"/>
                      <a:gd name="connsiteX6" fmla="*/ 0 w 1686755"/>
                      <a:gd name="connsiteY6" fmla="*/ 0 h 2487961"/>
                      <a:gd name="connsiteX0" fmla="*/ 0 w 1686755"/>
                      <a:gd name="connsiteY0" fmla="*/ 0 h 2494467"/>
                      <a:gd name="connsiteX1" fmla="*/ 1531998 w 1686755"/>
                      <a:gd name="connsiteY1" fmla="*/ 2405693 h 2494467"/>
                      <a:gd name="connsiteX2" fmla="*/ 1630638 w 1686755"/>
                      <a:gd name="connsiteY2" fmla="*/ 2459246 h 2494467"/>
                      <a:gd name="connsiteX3" fmla="*/ 1382084 w 1686755"/>
                      <a:gd name="connsiteY3" fmla="*/ 2494467 h 2494467"/>
                      <a:gd name="connsiteX4" fmla="*/ 1276919 w 1686755"/>
                      <a:gd name="connsiteY4" fmla="*/ 2274982 h 2494467"/>
                      <a:gd name="connsiteX5" fmla="*/ 0 w 1686755"/>
                      <a:gd name="connsiteY5" fmla="*/ 179112 h 2494467"/>
                      <a:gd name="connsiteX6" fmla="*/ 0 w 1686755"/>
                      <a:gd name="connsiteY6" fmla="*/ 0 h 2494467"/>
                      <a:gd name="connsiteX0" fmla="*/ 0 w 1686755"/>
                      <a:gd name="connsiteY0" fmla="*/ 0 h 2494467"/>
                      <a:gd name="connsiteX1" fmla="*/ 1531998 w 1686755"/>
                      <a:gd name="connsiteY1" fmla="*/ 2405693 h 2494467"/>
                      <a:gd name="connsiteX2" fmla="*/ 1630638 w 1686755"/>
                      <a:gd name="connsiteY2" fmla="*/ 2459246 h 2494467"/>
                      <a:gd name="connsiteX3" fmla="*/ 1382084 w 1686755"/>
                      <a:gd name="connsiteY3" fmla="*/ 2494467 h 2494467"/>
                      <a:gd name="connsiteX4" fmla="*/ 1276919 w 1686755"/>
                      <a:gd name="connsiteY4" fmla="*/ 2274982 h 2494467"/>
                      <a:gd name="connsiteX5" fmla="*/ 1219873 w 1686755"/>
                      <a:gd name="connsiteY5" fmla="*/ 2175347 h 2494467"/>
                      <a:gd name="connsiteX6" fmla="*/ 0 w 1686755"/>
                      <a:gd name="connsiteY6" fmla="*/ 179112 h 2494467"/>
                      <a:gd name="connsiteX7" fmla="*/ 0 w 1686755"/>
                      <a:gd name="connsiteY7" fmla="*/ 0 h 2494467"/>
                      <a:gd name="connsiteX0" fmla="*/ 0 w 1686755"/>
                      <a:gd name="connsiteY0" fmla="*/ 0 h 2494467"/>
                      <a:gd name="connsiteX1" fmla="*/ 1531998 w 1686755"/>
                      <a:gd name="connsiteY1" fmla="*/ 2405693 h 2494467"/>
                      <a:gd name="connsiteX2" fmla="*/ 1630638 w 1686755"/>
                      <a:gd name="connsiteY2" fmla="*/ 2459246 h 2494467"/>
                      <a:gd name="connsiteX3" fmla="*/ 1382084 w 1686755"/>
                      <a:gd name="connsiteY3" fmla="*/ 2494467 h 2494467"/>
                      <a:gd name="connsiteX4" fmla="*/ 1276919 w 1686755"/>
                      <a:gd name="connsiteY4" fmla="*/ 2274982 h 2494467"/>
                      <a:gd name="connsiteX5" fmla="*/ 1370797 w 1686755"/>
                      <a:gd name="connsiteY5" fmla="*/ 2309226 h 2494467"/>
                      <a:gd name="connsiteX6" fmla="*/ 0 w 1686755"/>
                      <a:gd name="connsiteY6" fmla="*/ 179112 h 2494467"/>
                      <a:gd name="connsiteX7" fmla="*/ 0 w 1686755"/>
                      <a:gd name="connsiteY7" fmla="*/ 0 h 2494467"/>
                      <a:gd name="connsiteX0" fmla="*/ 0 w 1686755"/>
                      <a:gd name="connsiteY0" fmla="*/ 0 h 2494467"/>
                      <a:gd name="connsiteX1" fmla="*/ 1531998 w 1686755"/>
                      <a:gd name="connsiteY1" fmla="*/ 2405693 h 2494467"/>
                      <a:gd name="connsiteX2" fmla="*/ 1630638 w 1686755"/>
                      <a:gd name="connsiteY2" fmla="*/ 2459246 h 2494467"/>
                      <a:gd name="connsiteX3" fmla="*/ 1382084 w 1686755"/>
                      <a:gd name="connsiteY3" fmla="*/ 2494467 h 2494467"/>
                      <a:gd name="connsiteX4" fmla="*/ 1267246 w 1686755"/>
                      <a:gd name="connsiteY4" fmla="*/ 2258399 h 2494467"/>
                      <a:gd name="connsiteX5" fmla="*/ 1370797 w 1686755"/>
                      <a:gd name="connsiteY5" fmla="*/ 2309226 h 2494467"/>
                      <a:gd name="connsiteX6" fmla="*/ 0 w 1686755"/>
                      <a:gd name="connsiteY6" fmla="*/ 179112 h 2494467"/>
                      <a:gd name="connsiteX7" fmla="*/ 0 w 1686755"/>
                      <a:gd name="connsiteY7" fmla="*/ 0 h 2494467"/>
                      <a:gd name="connsiteX0" fmla="*/ 0 w 1679685"/>
                      <a:gd name="connsiteY0" fmla="*/ 0 h 2494467"/>
                      <a:gd name="connsiteX1" fmla="*/ 1531998 w 1679685"/>
                      <a:gd name="connsiteY1" fmla="*/ 2405693 h 2494467"/>
                      <a:gd name="connsiteX2" fmla="*/ 1630638 w 1679685"/>
                      <a:gd name="connsiteY2" fmla="*/ 2459246 h 2494467"/>
                      <a:gd name="connsiteX3" fmla="*/ 1382084 w 1679685"/>
                      <a:gd name="connsiteY3" fmla="*/ 2494467 h 2494467"/>
                      <a:gd name="connsiteX4" fmla="*/ 1267246 w 1679685"/>
                      <a:gd name="connsiteY4" fmla="*/ 2258399 h 2494467"/>
                      <a:gd name="connsiteX5" fmla="*/ 1370797 w 1679685"/>
                      <a:gd name="connsiteY5" fmla="*/ 2309226 h 2494467"/>
                      <a:gd name="connsiteX6" fmla="*/ 0 w 1679685"/>
                      <a:gd name="connsiteY6" fmla="*/ 179112 h 2494467"/>
                      <a:gd name="connsiteX7" fmla="*/ 0 w 1679685"/>
                      <a:gd name="connsiteY7" fmla="*/ 0 h 2494467"/>
                      <a:gd name="connsiteX0" fmla="*/ 0 w 1678802"/>
                      <a:gd name="connsiteY0" fmla="*/ 0 h 2494467"/>
                      <a:gd name="connsiteX1" fmla="*/ 1531998 w 1678802"/>
                      <a:gd name="connsiteY1" fmla="*/ 2405693 h 2494467"/>
                      <a:gd name="connsiteX2" fmla="*/ 1630638 w 1678802"/>
                      <a:gd name="connsiteY2" fmla="*/ 2459246 h 2494467"/>
                      <a:gd name="connsiteX3" fmla="*/ 1382084 w 1678802"/>
                      <a:gd name="connsiteY3" fmla="*/ 2494467 h 2494467"/>
                      <a:gd name="connsiteX4" fmla="*/ 1267246 w 1678802"/>
                      <a:gd name="connsiteY4" fmla="*/ 2258399 h 2494467"/>
                      <a:gd name="connsiteX5" fmla="*/ 1370797 w 1678802"/>
                      <a:gd name="connsiteY5" fmla="*/ 2309226 h 2494467"/>
                      <a:gd name="connsiteX6" fmla="*/ 0 w 1678802"/>
                      <a:gd name="connsiteY6" fmla="*/ 179112 h 2494467"/>
                      <a:gd name="connsiteX7" fmla="*/ 0 w 1678802"/>
                      <a:gd name="connsiteY7" fmla="*/ 0 h 2494467"/>
                      <a:gd name="connsiteX0" fmla="*/ 0 w 1678802"/>
                      <a:gd name="connsiteY0" fmla="*/ 0 h 2494467"/>
                      <a:gd name="connsiteX1" fmla="*/ 1531998 w 1678802"/>
                      <a:gd name="connsiteY1" fmla="*/ 2405693 h 2494467"/>
                      <a:gd name="connsiteX2" fmla="*/ 1630638 w 1678802"/>
                      <a:gd name="connsiteY2" fmla="*/ 2459246 h 2494467"/>
                      <a:gd name="connsiteX3" fmla="*/ 1382084 w 1678802"/>
                      <a:gd name="connsiteY3" fmla="*/ 2494467 h 2494467"/>
                      <a:gd name="connsiteX4" fmla="*/ 1267246 w 1678802"/>
                      <a:gd name="connsiteY4" fmla="*/ 2258399 h 2494467"/>
                      <a:gd name="connsiteX5" fmla="*/ 1370797 w 1678802"/>
                      <a:gd name="connsiteY5" fmla="*/ 2309226 h 2494467"/>
                      <a:gd name="connsiteX6" fmla="*/ 0 w 1678802"/>
                      <a:gd name="connsiteY6" fmla="*/ 179112 h 2494467"/>
                      <a:gd name="connsiteX7" fmla="*/ 0 w 1678802"/>
                      <a:gd name="connsiteY7" fmla="*/ 0 h 2494467"/>
                      <a:gd name="connsiteX0" fmla="*/ 0 w 1678802"/>
                      <a:gd name="connsiteY0" fmla="*/ 0 h 2494467"/>
                      <a:gd name="connsiteX1" fmla="*/ 1531998 w 1678802"/>
                      <a:gd name="connsiteY1" fmla="*/ 2405693 h 2494467"/>
                      <a:gd name="connsiteX2" fmla="*/ 1630638 w 1678802"/>
                      <a:gd name="connsiteY2" fmla="*/ 2459246 h 2494467"/>
                      <a:gd name="connsiteX3" fmla="*/ 1382084 w 1678802"/>
                      <a:gd name="connsiteY3" fmla="*/ 2494467 h 2494467"/>
                      <a:gd name="connsiteX4" fmla="*/ 1267246 w 1678802"/>
                      <a:gd name="connsiteY4" fmla="*/ 2258399 h 2494467"/>
                      <a:gd name="connsiteX5" fmla="*/ 1370797 w 1678802"/>
                      <a:gd name="connsiteY5" fmla="*/ 2309226 h 2494467"/>
                      <a:gd name="connsiteX6" fmla="*/ 0 w 1678802"/>
                      <a:gd name="connsiteY6" fmla="*/ 179112 h 2494467"/>
                      <a:gd name="connsiteX7" fmla="*/ 0 w 1678802"/>
                      <a:gd name="connsiteY7" fmla="*/ 0 h 2494467"/>
                      <a:gd name="connsiteX0" fmla="*/ 0 w 1678802"/>
                      <a:gd name="connsiteY0" fmla="*/ 0 h 2494467"/>
                      <a:gd name="connsiteX1" fmla="*/ 1531998 w 1678802"/>
                      <a:gd name="connsiteY1" fmla="*/ 2405693 h 2494467"/>
                      <a:gd name="connsiteX2" fmla="*/ 1630638 w 1678802"/>
                      <a:gd name="connsiteY2" fmla="*/ 2459246 h 2494467"/>
                      <a:gd name="connsiteX3" fmla="*/ 1382084 w 1678802"/>
                      <a:gd name="connsiteY3" fmla="*/ 2494467 h 2494467"/>
                      <a:gd name="connsiteX4" fmla="*/ 1267246 w 1678802"/>
                      <a:gd name="connsiteY4" fmla="*/ 2258399 h 2494467"/>
                      <a:gd name="connsiteX5" fmla="*/ 1370797 w 1678802"/>
                      <a:gd name="connsiteY5" fmla="*/ 2309226 h 2494467"/>
                      <a:gd name="connsiteX6" fmla="*/ 0 w 1678802"/>
                      <a:gd name="connsiteY6" fmla="*/ 179112 h 2494467"/>
                      <a:gd name="connsiteX7" fmla="*/ 0 w 1678802"/>
                      <a:gd name="connsiteY7" fmla="*/ 0 h 24944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678802" h="2494467">
                        <a:moveTo>
                          <a:pt x="0" y="0"/>
                        </a:moveTo>
                        <a:cubicBezTo>
                          <a:pt x="1480388" y="58325"/>
                          <a:pt x="1951797" y="1500667"/>
                          <a:pt x="1531998" y="2405693"/>
                        </a:cubicBezTo>
                        <a:lnTo>
                          <a:pt x="1630638" y="2459246"/>
                        </a:lnTo>
                        <a:lnTo>
                          <a:pt x="1382084" y="2494467"/>
                        </a:lnTo>
                        <a:lnTo>
                          <a:pt x="1267246" y="2258399"/>
                        </a:lnTo>
                        <a:lnTo>
                          <a:pt x="1370797" y="2309226"/>
                        </a:lnTo>
                        <a:cubicBezTo>
                          <a:pt x="1695911" y="1674433"/>
                          <a:pt x="1431842" y="257934"/>
                          <a:pt x="0" y="179112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C49E"/>
                  </a:solidFill>
                  <a:ln w="2540">
                    <a:noFill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27000" h="3810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20" name="Rectangle 7"/>
                  <p:cNvSpPr/>
                  <p:nvPr/>
                </p:nvSpPr>
                <p:spPr>
                  <a:xfrm>
                    <a:off x="4635407" y="1880608"/>
                    <a:ext cx="1507006" cy="2231305"/>
                  </a:xfrm>
                  <a:custGeom>
                    <a:avLst/>
                    <a:gdLst>
                      <a:gd name="connsiteX0" fmla="*/ 0 w 685800"/>
                      <a:gd name="connsiteY0" fmla="*/ 0 h 179112"/>
                      <a:gd name="connsiteX1" fmla="*/ 685800 w 685800"/>
                      <a:gd name="connsiteY1" fmla="*/ 0 h 179112"/>
                      <a:gd name="connsiteX2" fmla="*/ 685800 w 685800"/>
                      <a:gd name="connsiteY2" fmla="*/ 179112 h 179112"/>
                      <a:gd name="connsiteX3" fmla="*/ 0 w 685800"/>
                      <a:gd name="connsiteY3" fmla="*/ 179112 h 179112"/>
                      <a:gd name="connsiteX4" fmla="*/ 0 w 685800"/>
                      <a:gd name="connsiteY4" fmla="*/ 0 h 179112"/>
                      <a:gd name="connsiteX0" fmla="*/ 0 w 1276919"/>
                      <a:gd name="connsiteY0" fmla="*/ 0 h 2274982"/>
                      <a:gd name="connsiteX1" fmla="*/ 685800 w 1276919"/>
                      <a:gd name="connsiteY1" fmla="*/ 0 h 2274982"/>
                      <a:gd name="connsiteX2" fmla="*/ 1276919 w 1276919"/>
                      <a:gd name="connsiteY2" fmla="*/ 2274982 h 2274982"/>
                      <a:gd name="connsiteX3" fmla="*/ 0 w 1276919"/>
                      <a:gd name="connsiteY3" fmla="*/ 179112 h 2274982"/>
                      <a:gd name="connsiteX4" fmla="*/ 0 w 1276919"/>
                      <a:gd name="connsiteY4" fmla="*/ 0 h 2274982"/>
                      <a:gd name="connsiteX0" fmla="*/ 0 w 1604728"/>
                      <a:gd name="connsiteY0" fmla="*/ 0 h 2455933"/>
                      <a:gd name="connsiteX1" fmla="*/ 1604728 w 1604728"/>
                      <a:gd name="connsiteY1" fmla="*/ 2455933 h 2455933"/>
                      <a:gd name="connsiteX2" fmla="*/ 1276919 w 1604728"/>
                      <a:gd name="connsiteY2" fmla="*/ 2274982 h 2455933"/>
                      <a:gd name="connsiteX3" fmla="*/ 0 w 1604728"/>
                      <a:gd name="connsiteY3" fmla="*/ 179112 h 2455933"/>
                      <a:gd name="connsiteX4" fmla="*/ 0 w 1604728"/>
                      <a:gd name="connsiteY4" fmla="*/ 0 h 2455933"/>
                      <a:gd name="connsiteX0" fmla="*/ 0 w 1604728"/>
                      <a:gd name="connsiteY0" fmla="*/ 27 h 2455960"/>
                      <a:gd name="connsiteX1" fmla="*/ 1604728 w 1604728"/>
                      <a:gd name="connsiteY1" fmla="*/ 2455960 h 2455960"/>
                      <a:gd name="connsiteX2" fmla="*/ 1276919 w 1604728"/>
                      <a:gd name="connsiteY2" fmla="*/ 2275009 h 2455960"/>
                      <a:gd name="connsiteX3" fmla="*/ 0 w 1604728"/>
                      <a:gd name="connsiteY3" fmla="*/ 179139 h 2455960"/>
                      <a:gd name="connsiteX4" fmla="*/ 0 w 1604728"/>
                      <a:gd name="connsiteY4" fmla="*/ 27 h 2455960"/>
                      <a:gd name="connsiteX0" fmla="*/ 0 w 1711231"/>
                      <a:gd name="connsiteY0" fmla="*/ 28 h 2455961"/>
                      <a:gd name="connsiteX1" fmla="*/ 1604728 w 1711231"/>
                      <a:gd name="connsiteY1" fmla="*/ 2455961 h 2455961"/>
                      <a:gd name="connsiteX2" fmla="*/ 1276919 w 1711231"/>
                      <a:gd name="connsiteY2" fmla="*/ 2275010 h 2455961"/>
                      <a:gd name="connsiteX3" fmla="*/ 0 w 1711231"/>
                      <a:gd name="connsiteY3" fmla="*/ 179140 h 2455961"/>
                      <a:gd name="connsiteX4" fmla="*/ 0 w 1711231"/>
                      <a:gd name="connsiteY4" fmla="*/ 28 h 2455961"/>
                      <a:gd name="connsiteX0" fmla="*/ 0 w 1646921"/>
                      <a:gd name="connsiteY0" fmla="*/ 29 h 2405722"/>
                      <a:gd name="connsiteX1" fmla="*/ 1531998 w 1646921"/>
                      <a:gd name="connsiteY1" fmla="*/ 2405722 h 2405722"/>
                      <a:gd name="connsiteX2" fmla="*/ 1276919 w 1646921"/>
                      <a:gd name="connsiteY2" fmla="*/ 2275011 h 2405722"/>
                      <a:gd name="connsiteX3" fmla="*/ 0 w 1646921"/>
                      <a:gd name="connsiteY3" fmla="*/ 179141 h 2405722"/>
                      <a:gd name="connsiteX4" fmla="*/ 0 w 1646921"/>
                      <a:gd name="connsiteY4" fmla="*/ 29 h 2405722"/>
                      <a:gd name="connsiteX0" fmla="*/ 0 w 1684573"/>
                      <a:gd name="connsiteY0" fmla="*/ 29 h 2405722"/>
                      <a:gd name="connsiteX1" fmla="*/ 1531998 w 1684573"/>
                      <a:gd name="connsiteY1" fmla="*/ 2405722 h 2405722"/>
                      <a:gd name="connsiteX2" fmla="*/ 1276919 w 1684573"/>
                      <a:gd name="connsiteY2" fmla="*/ 2275011 h 2405722"/>
                      <a:gd name="connsiteX3" fmla="*/ 0 w 1684573"/>
                      <a:gd name="connsiteY3" fmla="*/ 179141 h 2405722"/>
                      <a:gd name="connsiteX4" fmla="*/ 0 w 1684573"/>
                      <a:gd name="connsiteY4" fmla="*/ 29 h 2405722"/>
                      <a:gd name="connsiteX0" fmla="*/ 0 w 1686755"/>
                      <a:gd name="connsiteY0" fmla="*/ 0 h 2405693"/>
                      <a:gd name="connsiteX1" fmla="*/ 1531998 w 1686755"/>
                      <a:gd name="connsiteY1" fmla="*/ 2405693 h 2405693"/>
                      <a:gd name="connsiteX2" fmla="*/ 1276919 w 1686755"/>
                      <a:gd name="connsiteY2" fmla="*/ 2274982 h 2405693"/>
                      <a:gd name="connsiteX3" fmla="*/ 0 w 1686755"/>
                      <a:gd name="connsiteY3" fmla="*/ 179112 h 2405693"/>
                      <a:gd name="connsiteX4" fmla="*/ 0 w 1686755"/>
                      <a:gd name="connsiteY4" fmla="*/ 0 h 2405693"/>
                      <a:gd name="connsiteX0" fmla="*/ 0 w 1686755"/>
                      <a:gd name="connsiteY0" fmla="*/ 0 h 2405693"/>
                      <a:gd name="connsiteX1" fmla="*/ 1531998 w 1686755"/>
                      <a:gd name="connsiteY1" fmla="*/ 2405693 h 2405693"/>
                      <a:gd name="connsiteX2" fmla="*/ 1442657 w 1686755"/>
                      <a:gd name="connsiteY2" fmla="*/ 2356213 h 2405693"/>
                      <a:gd name="connsiteX3" fmla="*/ 1276919 w 1686755"/>
                      <a:gd name="connsiteY3" fmla="*/ 2274982 h 2405693"/>
                      <a:gd name="connsiteX4" fmla="*/ 0 w 1686755"/>
                      <a:gd name="connsiteY4" fmla="*/ 179112 h 2405693"/>
                      <a:gd name="connsiteX5" fmla="*/ 0 w 1686755"/>
                      <a:gd name="connsiteY5" fmla="*/ 0 h 2405693"/>
                      <a:gd name="connsiteX0" fmla="*/ 0 w 1686755"/>
                      <a:gd name="connsiteY0" fmla="*/ 0 h 2500972"/>
                      <a:gd name="connsiteX1" fmla="*/ 1531998 w 1686755"/>
                      <a:gd name="connsiteY1" fmla="*/ 2405693 h 2500972"/>
                      <a:gd name="connsiteX2" fmla="*/ 1383826 w 1686755"/>
                      <a:gd name="connsiteY2" fmla="*/ 2500972 h 2500972"/>
                      <a:gd name="connsiteX3" fmla="*/ 1276919 w 1686755"/>
                      <a:gd name="connsiteY3" fmla="*/ 2274982 h 2500972"/>
                      <a:gd name="connsiteX4" fmla="*/ 0 w 1686755"/>
                      <a:gd name="connsiteY4" fmla="*/ 179112 h 2500972"/>
                      <a:gd name="connsiteX5" fmla="*/ 0 w 1686755"/>
                      <a:gd name="connsiteY5" fmla="*/ 0 h 2500972"/>
                      <a:gd name="connsiteX0" fmla="*/ 0 w 1686755"/>
                      <a:gd name="connsiteY0" fmla="*/ 0 h 2500972"/>
                      <a:gd name="connsiteX1" fmla="*/ 1531998 w 1686755"/>
                      <a:gd name="connsiteY1" fmla="*/ 2405693 h 2500972"/>
                      <a:gd name="connsiteX2" fmla="*/ 1479520 w 1686755"/>
                      <a:gd name="connsiteY2" fmla="*/ 2435239 h 2500972"/>
                      <a:gd name="connsiteX3" fmla="*/ 1383826 w 1686755"/>
                      <a:gd name="connsiteY3" fmla="*/ 2500972 h 2500972"/>
                      <a:gd name="connsiteX4" fmla="*/ 1276919 w 1686755"/>
                      <a:gd name="connsiteY4" fmla="*/ 2274982 h 2500972"/>
                      <a:gd name="connsiteX5" fmla="*/ 0 w 1686755"/>
                      <a:gd name="connsiteY5" fmla="*/ 179112 h 2500972"/>
                      <a:gd name="connsiteX6" fmla="*/ 0 w 1686755"/>
                      <a:gd name="connsiteY6" fmla="*/ 0 h 2500972"/>
                      <a:gd name="connsiteX0" fmla="*/ 0 w 1686755"/>
                      <a:gd name="connsiteY0" fmla="*/ 0 h 2500972"/>
                      <a:gd name="connsiteX1" fmla="*/ 1531998 w 1686755"/>
                      <a:gd name="connsiteY1" fmla="*/ 2405693 h 2500972"/>
                      <a:gd name="connsiteX2" fmla="*/ 1630638 w 1686755"/>
                      <a:gd name="connsiteY2" fmla="*/ 2459246 h 2500972"/>
                      <a:gd name="connsiteX3" fmla="*/ 1383826 w 1686755"/>
                      <a:gd name="connsiteY3" fmla="*/ 2500972 h 2500972"/>
                      <a:gd name="connsiteX4" fmla="*/ 1276919 w 1686755"/>
                      <a:gd name="connsiteY4" fmla="*/ 2274982 h 2500972"/>
                      <a:gd name="connsiteX5" fmla="*/ 0 w 1686755"/>
                      <a:gd name="connsiteY5" fmla="*/ 179112 h 2500972"/>
                      <a:gd name="connsiteX6" fmla="*/ 0 w 1686755"/>
                      <a:gd name="connsiteY6" fmla="*/ 0 h 2500972"/>
                      <a:gd name="connsiteX0" fmla="*/ 0 w 1686755"/>
                      <a:gd name="connsiteY0" fmla="*/ 0 h 2487961"/>
                      <a:gd name="connsiteX1" fmla="*/ 1531998 w 1686755"/>
                      <a:gd name="connsiteY1" fmla="*/ 2405693 h 2487961"/>
                      <a:gd name="connsiteX2" fmla="*/ 1630638 w 1686755"/>
                      <a:gd name="connsiteY2" fmla="*/ 2459246 h 2487961"/>
                      <a:gd name="connsiteX3" fmla="*/ 1380340 w 1686755"/>
                      <a:gd name="connsiteY3" fmla="*/ 2487961 h 2487961"/>
                      <a:gd name="connsiteX4" fmla="*/ 1276919 w 1686755"/>
                      <a:gd name="connsiteY4" fmla="*/ 2274982 h 2487961"/>
                      <a:gd name="connsiteX5" fmla="*/ 0 w 1686755"/>
                      <a:gd name="connsiteY5" fmla="*/ 179112 h 2487961"/>
                      <a:gd name="connsiteX6" fmla="*/ 0 w 1686755"/>
                      <a:gd name="connsiteY6" fmla="*/ 0 h 2487961"/>
                      <a:gd name="connsiteX0" fmla="*/ 0 w 1686755"/>
                      <a:gd name="connsiteY0" fmla="*/ 0 h 2494467"/>
                      <a:gd name="connsiteX1" fmla="*/ 1531998 w 1686755"/>
                      <a:gd name="connsiteY1" fmla="*/ 2405693 h 2494467"/>
                      <a:gd name="connsiteX2" fmla="*/ 1630638 w 1686755"/>
                      <a:gd name="connsiteY2" fmla="*/ 2459246 h 2494467"/>
                      <a:gd name="connsiteX3" fmla="*/ 1382084 w 1686755"/>
                      <a:gd name="connsiteY3" fmla="*/ 2494467 h 2494467"/>
                      <a:gd name="connsiteX4" fmla="*/ 1276919 w 1686755"/>
                      <a:gd name="connsiteY4" fmla="*/ 2274982 h 2494467"/>
                      <a:gd name="connsiteX5" fmla="*/ 0 w 1686755"/>
                      <a:gd name="connsiteY5" fmla="*/ 179112 h 2494467"/>
                      <a:gd name="connsiteX6" fmla="*/ 0 w 1686755"/>
                      <a:gd name="connsiteY6" fmla="*/ 0 h 2494467"/>
                      <a:gd name="connsiteX0" fmla="*/ 0 w 1686755"/>
                      <a:gd name="connsiteY0" fmla="*/ 0 h 2494467"/>
                      <a:gd name="connsiteX1" fmla="*/ 1531998 w 1686755"/>
                      <a:gd name="connsiteY1" fmla="*/ 2405693 h 2494467"/>
                      <a:gd name="connsiteX2" fmla="*/ 1630638 w 1686755"/>
                      <a:gd name="connsiteY2" fmla="*/ 2459246 h 2494467"/>
                      <a:gd name="connsiteX3" fmla="*/ 1382084 w 1686755"/>
                      <a:gd name="connsiteY3" fmla="*/ 2494467 h 2494467"/>
                      <a:gd name="connsiteX4" fmla="*/ 1276919 w 1686755"/>
                      <a:gd name="connsiteY4" fmla="*/ 2274982 h 2494467"/>
                      <a:gd name="connsiteX5" fmla="*/ 1219873 w 1686755"/>
                      <a:gd name="connsiteY5" fmla="*/ 2175347 h 2494467"/>
                      <a:gd name="connsiteX6" fmla="*/ 0 w 1686755"/>
                      <a:gd name="connsiteY6" fmla="*/ 179112 h 2494467"/>
                      <a:gd name="connsiteX7" fmla="*/ 0 w 1686755"/>
                      <a:gd name="connsiteY7" fmla="*/ 0 h 2494467"/>
                      <a:gd name="connsiteX0" fmla="*/ 0 w 1686755"/>
                      <a:gd name="connsiteY0" fmla="*/ 0 h 2494467"/>
                      <a:gd name="connsiteX1" fmla="*/ 1531998 w 1686755"/>
                      <a:gd name="connsiteY1" fmla="*/ 2405693 h 2494467"/>
                      <a:gd name="connsiteX2" fmla="*/ 1630638 w 1686755"/>
                      <a:gd name="connsiteY2" fmla="*/ 2459246 h 2494467"/>
                      <a:gd name="connsiteX3" fmla="*/ 1382084 w 1686755"/>
                      <a:gd name="connsiteY3" fmla="*/ 2494467 h 2494467"/>
                      <a:gd name="connsiteX4" fmla="*/ 1276919 w 1686755"/>
                      <a:gd name="connsiteY4" fmla="*/ 2274982 h 2494467"/>
                      <a:gd name="connsiteX5" fmla="*/ 1370797 w 1686755"/>
                      <a:gd name="connsiteY5" fmla="*/ 2309226 h 2494467"/>
                      <a:gd name="connsiteX6" fmla="*/ 0 w 1686755"/>
                      <a:gd name="connsiteY6" fmla="*/ 179112 h 2494467"/>
                      <a:gd name="connsiteX7" fmla="*/ 0 w 1686755"/>
                      <a:gd name="connsiteY7" fmla="*/ 0 h 2494467"/>
                      <a:gd name="connsiteX0" fmla="*/ 0 w 1686755"/>
                      <a:gd name="connsiteY0" fmla="*/ 0 h 2494467"/>
                      <a:gd name="connsiteX1" fmla="*/ 1531998 w 1686755"/>
                      <a:gd name="connsiteY1" fmla="*/ 2405693 h 2494467"/>
                      <a:gd name="connsiteX2" fmla="*/ 1630638 w 1686755"/>
                      <a:gd name="connsiteY2" fmla="*/ 2459246 h 2494467"/>
                      <a:gd name="connsiteX3" fmla="*/ 1382084 w 1686755"/>
                      <a:gd name="connsiteY3" fmla="*/ 2494467 h 2494467"/>
                      <a:gd name="connsiteX4" fmla="*/ 1267246 w 1686755"/>
                      <a:gd name="connsiteY4" fmla="*/ 2258399 h 2494467"/>
                      <a:gd name="connsiteX5" fmla="*/ 1370797 w 1686755"/>
                      <a:gd name="connsiteY5" fmla="*/ 2309226 h 2494467"/>
                      <a:gd name="connsiteX6" fmla="*/ 0 w 1686755"/>
                      <a:gd name="connsiteY6" fmla="*/ 179112 h 2494467"/>
                      <a:gd name="connsiteX7" fmla="*/ 0 w 1686755"/>
                      <a:gd name="connsiteY7" fmla="*/ 0 h 2494467"/>
                      <a:gd name="connsiteX0" fmla="*/ 0 w 1679685"/>
                      <a:gd name="connsiteY0" fmla="*/ 0 h 2494467"/>
                      <a:gd name="connsiteX1" fmla="*/ 1531998 w 1679685"/>
                      <a:gd name="connsiteY1" fmla="*/ 2405693 h 2494467"/>
                      <a:gd name="connsiteX2" fmla="*/ 1630638 w 1679685"/>
                      <a:gd name="connsiteY2" fmla="*/ 2459246 h 2494467"/>
                      <a:gd name="connsiteX3" fmla="*/ 1382084 w 1679685"/>
                      <a:gd name="connsiteY3" fmla="*/ 2494467 h 2494467"/>
                      <a:gd name="connsiteX4" fmla="*/ 1267246 w 1679685"/>
                      <a:gd name="connsiteY4" fmla="*/ 2258399 h 2494467"/>
                      <a:gd name="connsiteX5" fmla="*/ 1370797 w 1679685"/>
                      <a:gd name="connsiteY5" fmla="*/ 2309226 h 2494467"/>
                      <a:gd name="connsiteX6" fmla="*/ 0 w 1679685"/>
                      <a:gd name="connsiteY6" fmla="*/ 179112 h 2494467"/>
                      <a:gd name="connsiteX7" fmla="*/ 0 w 1679685"/>
                      <a:gd name="connsiteY7" fmla="*/ 0 h 2494467"/>
                      <a:gd name="connsiteX0" fmla="*/ 0 w 1678802"/>
                      <a:gd name="connsiteY0" fmla="*/ 0 h 2494467"/>
                      <a:gd name="connsiteX1" fmla="*/ 1531998 w 1678802"/>
                      <a:gd name="connsiteY1" fmla="*/ 2405693 h 2494467"/>
                      <a:gd name="connsiteX2" fmla="*/ 1630638 w 1678802"/>
                      <a:gd name="connsiteY2" fmla="*/ 2459246 h 2494467"/>
                      <a:gd name="connsiteX3" fmla="*/ 1382084 w 1678802"/>
                      <a:gd name="connsiteY3" fmla="*/ 2494467 h 2494467"/>
                      <a:gd name="connsiteX4" fmla="*/ 1267246 w 1678802"/>
                      <a:gd name="connsiteY4" fmla="*/ 2258399 h 2494467"/>
                      <a:gd name="connsiteX5" fmla="*/ 1370797 w 1678802"/>
                      <a:gd name="connsiteY5" fmla="*/ 2309226 h 2494467"/>
                      <a:gd name="connsiteX6" fmla="*/ 0 w 1678802"/>
                      <a:gd name="connsiteY6" fmla="*/ 179112 h 2494467"/>
                      <a:gd name="connsiteX7" fmla="*/ 0 w 1678802"/>
                      <a:gd name="connsiteY7" fmla="*/ 0 h 2494467"/>
                      <a:gd name="connsiteX0" fmla="*/ 0 w 1678802"/>
                      <a:gd name="connsiteY0" fmla="*/ 0 h 2494467"/>
                      <a:gd name="connsiteX1" fmla="*/ 1531998 w 1678802"/>
                      <a:gd name="connsiteY1" fmla="*/ 2405693 h 2494467"/>
                      <a:gd name="connsiteX2" fmla="*/ 1630638 w 1678802"/>
                      <a:gd name="connsiteY2" fmla="*/ 2459246 h 2494467"/>
                      <a:gd name="connsiteX3" fmla="*/ 1382084 w 1678802"/>
                      <a:gd name="connsiteY3" fmla="*/ 2494467 h 2494467"/>
                      <a:gd name="connsiteX4" fmla="*/ 1267246 w 1678802"/>
                      <a:gd name="connsiteY4" fmla="*/ 2258399 h 2494467"/>
                      <a:gd name="connsiteX5" fmla="*/ 1370797 w 1678802"/>
                      <a:gd name="connsiteY5" fmla="*/ 2309226 h 2494467"/>
                      <a:gd name="connsiteX6" fmla="*/ 0 w 1678802"/>
                      <a:gd name="connsiteY6" fmla="*/ 179112 h 2494467"/>
                      <a:gd name="connsiteX7" fmla="*/ 0 w 1678802"/>
                      <a:gd name="connsiteY7" fmla="*/ 0 h 2494467"/>
                      <a:gd name="connsiteX0" fmla="*/ 0 w 1678802"/>
                      <a:gd name="connsiteY0" fmla="*/ 0 h 2494467"/>
                      <a:gd name="connsiteX1" fmla="*/ 1531998 w 1678802"/>
                      <a:gd name="connsiteY1" fmla="*/ 2405693 h 2494467"/>
                      <a:gd name="connsiteX2" fmla="*/ 1630638 w 1678802"/>
                      <a:gd name="connsiteY2" fmla="*/ 2459246 h 2494467"/>
                      <a:gd name="connsiteX3" fmla="*/ 1382084 w 1678802"/>
                      <a:gd name="connsiteY3" fmla="*/ 2494467 h 2494467"/>
                      <a:gd name="connsiteX4" fmla="*/ 1267246 w 1678802"/>
                      <a:gd name="connsiteY4" fmla="*/ 2258399 h 2494467"/>
                      <a:gd name="connsiteX5" fmla="*/ 1370797 w 1678802"/>
                      <a:gd name="connsiteY5" fmla="*/ 2309226 h 2494467"/>
                      <a:gd name="connsiteX6" fmla="*/ 0 w 1678802"/>
                      <a:gd name="connsiteY6" fmla="*/ 179112 h 2494467"/>
                      <a:gd name="connsiteX7" fmla="*/ 0 w 1678802"/>
                      <a:gd name="connsiteY7" fmla="*/ 0 h 2494467"/>
                      <a:gd name="connsiteX0" fmla="*/ 0 w 1678802"/>
                      <a:gd name="connsiteY0" fmla="*/ 0 h 2494467"/>
                      <a:gd name="connsiteX1" fmla="*/ 1531998 w 1678802"/>
                      <a:gd name="connsiteY1" fmla="*/ 2405693 h 2494467"/>
                      <a:gd name="connsiteX2" fmla="*/ 1630638 w 1678802"/>
                      <a:gd name="connsiteY2" fmla="*/ 2459246 h 2494467"/>
                      <a:gd name="connsiteX3" fmla="*/ 1382084 w 1678802"/>
                      <a:gd name="connsiteY3" fmla="*/ 2494467 h 2494467"/>
                      <a:gd name="connsiteX4" fmla="*/ 1267246 w 1678802"/>
                      <a:gd name="connsiteY4" fmla="*/ 2258399 h 2494467"/>
                      <a:gd name="connsiteX5" fmla="*/ 1370797 w 1678802"/>
                      <a:gd name="connsiteY5" fmla="*/ 2309226 h 2494467"/>
                      <a:gd name="connsiteX6" fmla="*/ 0 w 1678802"/>
                      <a:gd name="connsiteY6" fmla="*/ 179112 h 2494467"/>
                      <a:gd name="connsiteX7" fmla="*/ 0 w 1678802"/>
                      <a:gd name="connsiteY7" fmla="*/ 0 h 24944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678802" h="2494467">
                        <a:moveTo>
                          <a:pt x="0" y="0"/>
                        </a:moveTo>
                        <a:cubicBezTo>
                          <a:pt x="1480388" y="58325"/>
                          <a:pt x="1951797" y="1500667"/>
                          <a:pt x="1531998" y="2405693"/>
                        </a:cubicBezTo>
                        <a:lnTo>
                          <a:pt x="1630638" y="2459246"/>
                        </a:lnTo>
                        <a:lnTo>
                          <a:pt x="1382084" y="2494467"/>
                        </a:lnTo>
                        <a:lnTo>
                          <a:pt x="1267246" y="2258399"/>
                        </a:lnTo>
                        <a:lnTo>
                          <a:pt x="1370797" y="2309226"/>
                        </a:lnTo>
                        <a:cubicBezTo>
                          <a:pt x="1695911" y="1674433"/>
                          <a:pt x="1431842" y="257934"/>
                          <a:pt x="0" y="179112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C49E"/>
                  </a:solidFill>
                  <a:ln w="2540">
                    <a:noFill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27000" h="3810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</p:grpSp>
          </p:grpSp>
          <p:sp>
            <p:nvSpPr>
              <p:cNvPr id="71" name="TextBox 70"/>
              <p:cNvSpPr txBox="1"/>
              <p:nvPr/>
            </p:nvSpPr>
            <p:spPr>
              <a:xfrm rot="3672733">
                <a:off x="3004311" y="2778765"/>
                <a:ext cx="106210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haroni" pitchFamily="2" charset="-79"/>
                    <a:cs typeface="Aharoni" pitchFamily="2" charset="-79"/>
                  </a:rPr>
                  <a:t>Initiatives &amp; Projects</a:t>
                </a:r>
                <a:endParaRPr lang="en-U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itchFamily="2" charset="-79"/>
                  <a:cs typeface="Aharoni" pitchFamily="2" charset="-79"/>
                </a:endParaRP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 rot="18057847">
                <a:off x="1781173" y="2820626"/>
                <a:ext cx="1347495" cy="4635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haroni" pitchFamily="2" charset="-79"/>
                    <a:cs typeface="Aharoni" pitchFamily="2" charset="-79"/>
                  </a:rPr>
                  <a:t>Vision, Tactics, &amp; Strategies</a:t>
                </a:r>
                <a:endParaRPr lang="en-U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itchFamily="2" charset="-79"/>
                  <a:cs typeface="Aharoni" pitchFamily="2" charset="-79"/>
                </a:endParaRP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2388359" y="3729434"/>
                <a:ext cx="1352429" cy="5847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haroni" pitchFamily="2" charset="-79"/>
                    <a:cs typeface="Aharoni" pitchFamily="2" charset="-79"/>
                  </a:rPr>
                  <a:t>Value Streams</a:t>
                </a:r>
                <a:endParaRPr lang="en-US" sz="1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itchFamily="2" charset="-79"/>
                  <a:cs typeface="Aharoni" pitchFamily="2" charset="-79"/>
                </a:endParaRPr>
              </a:p>
            </p:txBody>
          </p:sp>
        </p:grpSp>
      </p:grpSp>
      <p:sp>
        <p:nvSpPr>
          <p:cNvPr id="70" name="TextBox 69"/>
          <p:cNvSpPr txBox="1"/>
          <p:nvPr/>
        </p:nvSpPr>
        <p:spPr>
          <a:xfrm>
            <a:off x="7848600" y="6477000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/>
              <a:t>Your Logo</a:t>
            </a:r>
            <a:endParaRPr lang="en-US" sz="14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ecosystem</a:t>
            </a:r>
            <a:endParaRPr lang="en-US" dirty="0"/>
          </a:p>
        </p:txBody>
      </p:sp>
      <p:sp>
        <p:nvSpPr>
          <p:cNvPr id="7" name="Rounded Rectangular Callout 6"/>
          <p:cNvSpPr/>
          <p:nvPr/>
        </p:nvSpPr>
        <p:spPr>
          <a:xfrm>
            <a:off x="6567107" y="2276964"/>
            <a:ext cx="2152896" cy="1130738"/>
          </a:xfrm>
          <a:prstGeom prst="wedgeRoundRectCallout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WHO, WHEN, WHERE</a:t>
            </a:r>
            <a:endParaRPr lang="en-US" dirty="0"/>
          </a:p>
        </p:txBody>
      </p:sp>
      <p:sp>
        <p:nvSpPr>
          <p:cNvPr id="82" name="Rounded Rectangular Callout 81"/>
          <p:cNvSpPr/>
          <p:nvPr/>
        </p:nvSpPr>
        <p:spPr>
          <a:xfrm>
            <a:off x="6378761" y="4319089"/>
            <a:ext cx="2152896" cy="1130738"/>
          </a:xfrm>
          <a:prstGeom prst="wedgeRoundRectCallout">
            <a:avLst/>
          </a:prstGeom>
          <a:solidFill>
            <a:srgbClr val="00C4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WHY, HOW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5289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1_Angles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>
    <a:spDef>
      <a:spPr>
        <a:solidFill>
          <a:srgbClr val="F2541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852</TotalTime>
  <Words>708</Words>
  <Application>Microsoft Macintosh PowerPoint</Application>
  <PresentationFormat>On-screen Show (4:3)</PresentationFormat>
  <Paragraphs>163</Paragraphs>
  <Slides>18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1_Angles</vt:lpstr>
      <vt:lpstr>Meta model team  (2014 Fall Update)</vt:lpstr>
      <vt:lpstr>Agenda</vt:lpstr>
      <vt:lpstr>Workgroup Overview</vt:lpstr>
      <vt:lpstr>Purpose of workgroup</vt:lpstr>
      <vt:lpstr>Goals for the workgroup</vt:lpstr>
      <vt:lpstr>Teams in the Workgroup</vt:lpstr>
      <vt:lpstr>Plans for next release of Bizbok 4.1 (Part 5)</vt:lpstr>
      <vt:lpstr>Deliverables for BIZBOK 4.1: </vt:lpstr>
      <vt:lpstr>Value Proposition</vt:lpstr>
      <vt:lpstr>Extending the Conceptual MM</vt:lpstr>
      <vt:lpstr>Adding a Logical MM</vt:lpstr>
      <vt:lpstr>Workout Session (15 min.)  Evaluating subset of key scenarios Meta model Input Team</vt:lpstr>
      <vt:lpstr>Key Scenarios:  Change Management</vt:lpstr>
      <vt:lpstr>Key Scenarios:  Change Management</vt:lpstr>
      <vt:lpstr>Next steps</vt:lpstr>
      <vt:lpstr>PowerPoint Presentation</vt:lpstr>
      <vt:lpstr>PowerPoint Presentation</vt:lpstr>
      <vt:lpstr>Business ecosystem</vt:lpstr>
    </vt:vector>
  </TitlesOfParts>
  <Company>Business Architecture Guild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Architecture meets Strategic Planning</dc:title>
  <dc:creator>kathy</dc:creator>
  <cp:lastModifiedBy>jeffrey wallk</cp:lastModifiedBy>
  <cp:revision>41</cp:revision>
  <dcterms:created xsi:type="dcterms:W3CDTF">2012-10-06T17:50:46Z</dcterms:created>
  <dcterms:modified xsi:type="dcterms:W3CDTF">2014-09-16T19:56:21Z</dcterms:modified>
  <cp:contentStatus>DRAFT</cp:contentStatus>
</cp:coreProperties>
</file>
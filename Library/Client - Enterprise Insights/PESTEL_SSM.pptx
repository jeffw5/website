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7"/>
  </p:notesMasterIdLst>
  <p:sldIdLst>
    <p:sldId id="268" r:id="rId2"/>
    <p:sldId id="267" r:id="rId3"/>
    <p:sldId id="269" r:id="rId4"/>
    <p:sldId id="270" r:id="rId5"/>
    <p:sldId id="256" r:id="rId6"/>
    <p:sldId id="257" r:id="rId7"/>
    <p:sldId id="258" r:id="rId8"/>
    <p:sldId id="261" r:id="rId9"/>
    <p:sldId id="260" r:id="rId10"/>
    <p:sldId id="259" r:id="rId11"/>
    <p:sldId id="262" r:id="rId12"/>
    <p:sldId id="263" r:id="rId13"/>
    <p:sldId id="264" r:id="rId14"/>
    <p:sldId id="265" r:id="rId15"/>
    <p:sldId id="266" r:id="rId1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1" d="100"/>
          <a:sy n="71" d="100"/>
        </p:scale>
        <p:origin x="-1272"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952262E-3AE3-41DE-9490-53008D4F6515}" type="datetimeFigureOut">
              <a:rPr lang="en-US" smtClean="0"/>
              <a:t>2/15/2010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5DD758-131B-4154-98F7-13CBC5FA11F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5DD758-131B-4154-98F7-13CBC5FA11F4}" type="slidenum">
              <a:rPr lang="en-US" smtClean="0"/>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FA364CAE-4359-4241-BB01-DEC5FE915D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4A01172C-8BF7-422F-966C-934E096388D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46B3A06-FB3E-4E50-B663-D11F1E656CC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0283DD6-BBB4-452D-ACCD-E14E9E196E3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DA760510-3ED8-48F7-8190-4D05C0DADED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30681EB4-5221-4520-8403-A1789DCEB98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E55F8213-1951-453C-BB00-EF903FCD8AB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71A9685-E4E7-4B5F-A6E7-74DB0A6EF5F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419FBCE-A7A3-49BA-8D4B-2CBC3D688B48}"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8674C7D-46F2-4E4C-97FF-AA3734D52A0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65C6844-C0F9-4DA5-8401-52E9A267987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42913" y="103188"/>
            <a:ext cx="8243887" cy="5953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3638"/>
            <a:ext cx="2133600" cy="457200"/>
          </a:xfrm>
        </p:spPr>
        <p:txBody>
          <a:bodyPr/>
          <a:lstStyle>
            <a:lvl1pPr>
              <a:defRPr/>
            </a:lvl1pPr>
          </a:lstStyle>
          <a:p>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3638"/>
            <a:ext cx="2133600" cy="457200"/>
          </a:xfrm>
        </p:spPr>
        <p:txBody>
          <a:bodyPr/>
          <a:lstStyle>
            <a:lvl1pPr>
              <a:defRPr/>
            </a:lvl1pPr>
          </a:lstStyle>
          <a:p>
            <a:fld id="{FD8EC816-DD86-4695-A69A-92BE3A8CD63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4561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4561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3638"/>
            <a:ext cx="21336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3638"/>
            <a:ext cx="2133600" cy="457200"/>
          </a:xfrm>
        </p:spPr>
        <p:txBody>
          <a:bodyPr/>
          <a:lstStyle>
            <a:lvl1pPr>
              <a:defRPr/>
            </a:lvl1pPr>
          </a:lstStyle>
          <a:p>
            <a:fld id="{1A75588E-A620-4063-9D62-4D3E9213C206}"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C28DBB85-A34B-48EF-ACB3-D8DA389C19D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457200" y="476250"/>
            <a:ext cx="8229600" cy="5580063"/>
          </a:xfrm>
        </p:spPr>
        <p:txBody>
          <a:bodyPr/>
          <a:lstStyle/>
          <a:p>
            <a:pPr>
              <a:buFontTx/>
              <a:buNone/>
            </a:pPr>
            <a:r>
              <a:rPr lang="tr-TR" sz="2000" b="1"/>
              <a:t>Can you discuss more about SMEs' financial limit and the possibility of application of ISS in SMEs? (Lin)</a:t>
            </a:r>
            <a:endParaRPr lang="en-US" sz="2000" b="1"/>
          </a:p>
          <a:p>
            <a:pPr>
              <a:buFontTx/>
              <a:buNone/>
            </a:pPr>
            <a:endParaRPr lang="tr-TR" sz="2000"/>
          </a:p>
          <a:p>
            <a:r>
              <a:rPr lang="tr-TR" sz="1600"/>
              <a:t>The main objective of SMEs owners and managers is to spend available financial resources on supporting management systems that would allow improve day-to-day operations. They don`t want to invest their limited resourcess for  indefinitive future problems. Therefore, they plan their IS incrementally and  separate limited money to IS.</a:t>
            </a:r>
            <a:endParaRPr lang="en-US" sz="1600"/>
          </a:p>
          <a:p>
            <a:pPr>
              <a:buFontTx/>
              <a:buNone/>
            </a:pPr>
            <a:endParaRPr lang="tr-TR" sz="1600"/>
          </a:p>
          <a:p>
            <a:r>
              <a:rPr lang="tr-TR" sz="1600"/>
              <a:t>I think applicability of developed model is very high. Results show that most of the company participated the study used recommendations from the ISS analysis in various ways. One of the disadvantage that affect the application of ISS is the robustness , models and tools ( frameworks) used to analyse the situation are dependent upon the knowledge of the analysist (analysist will construct frameworks).  However, the involment of the owner (if they are interested in using IS to manage growth and innovative) in the ISS process enichness the understanding of both owner and analysist.   Finally, further search is necessary to develop ISS model.</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457200" y="692150"/>
            <a:ext cx="8229600" cy="5364163"/>
          </a:xfrm>
        </p:spPr>
        <p:txBody>
          <a:bodyPr/>
          <a:lstStyle/>
          <a:p>
            <a:pPr>
              <a:lnSpc>
                <a:spcPct val="80000"/>
              </a:lnSpc>
              <a:buFontTx/>
              <a:buNone/>
            </a:pPr>
            <a:r>
              <a:rPr lang="tr-TR" sz="1400" b="1" dirty="0"/>
              <a:t>This article was published in the 2000. Recently, is there a refined and extened the model for ISS in SME ?  (khpark)</a:t>
            </a:r>
            <a:endParaRPr lang="en-US" sz="1400" b="1" dirty="0"/>
          </a:p>
          <a:p>
            <a:pPr>
              <a:lnSpc>
                <a:spcPct val="80000"/>
              </a:lnSpc>
            </a:pPr>
            <a:endParaRPr lang="tr-TR" sz="1400" dirty="0"/>
          </a:p>
          <a:p>
            <a:pPr>
              <a:lnSpc>
                <a:spcPct val="80000"/>
              </a:lnSpc>
              <a:buFontTx/>
              <a:buNone/>
            </a:pPr>
            <a:r>
              <a:rPr lang="tr-TR" sz="1400" dirty="0"/>
              <a:t>I could only obtain 3  articles about ISS for SMEs . But, research about  ISS for  SMEs is  a </a:t>
            </a:r>
            <a:r>
              <a:rPr lang="en-US" sz="1400" dirty="0"/>
              <a:t> </a:t>
            </a:r>
            <a:r>
              <a:rPr lang="tr-TR" sz="1400" dirty="0"/>
              <a:t>new issue.</a:t>
            </a:r>
            <a:endParaRPr lang="en-US" sz="1400" dirty="0"/>
          </a:p>
          <a:p>
            <a:pPr>
              <a:lnSpc>
                <a:spcPct val="80000"/>
              </a:lnSpc>
              <a:buFontTx/>
              <a:buNone/>
            </a:pPr>
            <a:endParaRPr lang="en-US" sz="1400" dirty="0"/>
          </a:p>
          <a:p>
            <a:pPr>
              <a:lnSpc>
                <a:spcPct val="80000"/>
              </a:lnSpc>
              <a:buFontTx/>
              <a:buNone/>
            </a:pPr>
            <a:r>
              <a:rPr lang="tr-TR" sz="1400" dirty="0"/>
              <a:t> </a:t>
            </a:r>
          </a:p>
          <a:p>
            <a:pPr>
              <a:lnSpc>
                <a:spcPct val="80000"/>
              </a:lnSpc>
            </a:pPr>
            <a:r>
              <a:rPr lang="tr-TR" sz="1400" dirty="0"/>
              <a:t>The Dynamics of SME Information Systems, M Levy, P Powell and P Yetton, Small Business Economics Details 19(4), 341-354. (2002)  ( I  could not understand the articles fully. Because I need to read the below article in order to understand this article)</a:t>
            </a:r>
          </a:p>
          <a:p>
            <a:pPr>
              <a:lnSpc>
                <a:spcPct val="80000"/>
              </a:lnSpc>
            </a:pPr>
            <a:r>
              <a:rPr lang="tr-TR" sz="1400" dirty="0"/>
              <a:t>SMEs: Aligning IS and the Strategic Context , M. Levy, P Powell and P Yetton ,Journal of Information Technology , 16, 133-144, 2001.   (Focus-Dominance model` ) ( I could not access this journal)</a:t>
            </a:r>
            <a:endParaRPr lang="en-US" sz="1400" dirty="0"/>
          </a:p>
          <a:p>
            <a:pPr>
              <a:lnSpc>
                <a:spcPct val="80000"/>
              </a:lnSpc>
            </a:pPr>
            <a:r>
              <a:rPr lang="en-US" sz="1400" dirty="0"/>
              <a:t>Information Systems Strategies in Knowledge-based SMEs: The Role of Core Competencies </a:t>
            </a:r>
          </a:p>
          <a:p>
            <a:pPr>
              <a:lnSpc>
                <a:spcPct val="80000"/>
              </a:lnSpc>
            </a:pPr>
            <a:r>
              <a:rPr lang="en-US" sz="1400" dirty="0" err="1"/>
              <a:t>Duhan</a:t>
            </a:r>
            <a:r>
              <a:rPr lang="en-US" sz="1400" dirty="0"/>
              <a:t>, M Levy and P. Powell , European Journal of Information Systems </a:t>
            </a:r>
            <a:r>
              <a:rPr lang="tr-TR" sz="1400" dirty="0"/>
              <a:t>. ( I could not access this journal)</a:t>
            </a:r>
            <a:endParaRPr lang="en-US" sz="1400" dirty="0"/>
          </a:p>
          <a:p>
            <a:pPr>
              <a:lnSpc>
                <a:spcPct val="80000"/>
              </a:lnSpc>
            </a:pPr>
            <a:r>
              <a:rPr lang="en-US" sz="1400" dirty="0"/>
              <a:t>Evaluating Information Systems in small and medium-sized enterprises: issues and evidence  Authors  J </a:t>
            </a:r>
            <a:r>
              <a:rPr lang="en-US" sz="1400" dirty="0" err="1"/>
              <a:t>Ballantine</a:t>
            </a:r>
            <a:r>
              <a:rPr lang="en-US" sz="1400" dirty="0"/>
              <a:t>, M Levy, P Powell , European Journal of Information Systems , </a:t>
            </a:r>
            <a:r>
              <a:rPr lang="en-US" sz="1400" dirty="0" err="1"/>
              <a:t>Vol</a:t>
            </a:r>
            <a:r>
              <a:rPr lang="en-US" sz="1400" dirty="0"/>
              <a:t> 7, no 4 (1999)</a:t>
            </a:r>
          </a:p>
          <a:p>
            <a:pPr>
              <a:lnSpc>
                <a:spcPct val="80000"/>
              </a:lnSpc>
            </a:pPr>
            <a:r>
              <a:rPr lang="en-US" sz="1400" dirty="0"/>
              <a:t>Assessing Information Systems Strategy Development Frameworks in SMEs  ,M Levy, P. Powell and R </a:t>
            </a:r>
            <a:r>
              <a:rPr lang="en-US" sz="1400" dirty="0" err="1"/>
              <a:t>Galliers</a:t>
            </a:r>
            <a:r>
              <a:rPr lang="en-US" sz="1400" dirty="0"/>
              <a:t>  ,Information and Management ,36, 247 -261 (1999)</a:t>
            </a:r>
          </a:p>
          <a:p>
            <a:pPr>
              <a:lnSpc>
                <a:spcPct val="80000"/>
              </a:lnSpc>
            </a:pPr>
            <a:r>
              <a:rPr lang="en-US" sz="1400" dirty="0"/>
              <a:t>SME Flexibility and Role of IS, Levy L, Powell P, Small Business Economics, 11:183-196:1998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68313" y="188913"/>
            <a:ext cx="8229600" cy="5184775"/>
          </a:xfrm>
        </p:spPr>
        <p:txBody>
          <a:bodyPr/>
          <a:lstStyle/>
          <a:p>
            <a:pPr marL="0" indent="0">
              <a:buFontTx/>
              <a:buNone/>
            </a:pPr>
            <a:r>
              <a:rPr lang="tr-TR" sz="2000" b="1"/>
              <a:t>What are the unique characteristics of SME?  And, Do you think that the ISS approach for SME can cover those characteristics of SME? (Taesoo)</a:t>
            </a:r>
            <a:endParaRPr lang="en-US" sz="2000" b="1"/>
          </a:p>
          <a:p>
            <a:pPr marL="0" indent="0"/>
            <a:endParaRPr lang="en-US" sz="2000"/>
          </a:p>
          <a:p>
            <a:pPr marL="0" indent="0"/>
            <a:r>
              <a:rPr lang="tr-TR" sz="1800"/>
              <a:t>Small organisations (1)</a:t>
            </a:r>
          </a:p>
          <a:p>
            <a:pPr marL="0" indent="0"/>
            <a:r>
              <a:rPr lang="tr-TR" sz="1800"/>
              <a:t>Limited financial resources (1)</a:t>
            </a:r>
          </a:p>
          <a:p>
            <a:pPr marL="0" indent="0"/>
            <a:r>
              <a:rPr lang="tr-TR" sz="1800"/>
              <a:t>Informal organisational structure ( owner or a small management team) (2)</a:t>
            </a:r>
          </a:p>
          <a:p>
            <a:pPr marL="0" indent="0"/>
            <a:r>
              <a:rPr lang="tr-TR" sz="1800"/>
              <a:t>Limited knowledge to identify potential advantages  using  IS/IT due to their operational focus or So ,they dont plan their IS. (1 and 2)</a:t>
            </a:r>
            <a:endParaRPr lang="en-US" sz="1800"/>
          </a:p>
          <a:p>
            <a:pPr marL="0" indent="0">
              <a:buFontTx/>
              <a:buNone/>
            </a:pPr>
            <a:endParaRPr lang="en-US" sz="1800" b="1"/>
          </a:p>
          <a:p>
            <a:pPr marL="0" indent="0" algn="just">
              <a:buFontTx/>
              <a:buNone/>
            </a:pPr>
            <a:r>
              <a:rPr lang="en-US" sz="1800" b="1"/>
              <a:t>    </a:t>
            </a:r>
            <a:r>
              <a:rPr lang="tr-TR" sz="1800" b="1"/>
              <a:t>Refined</a:t>
            </a:r>
            <a:r>
              <a:rPr lang="tr-TR" sz="1800"/>
              <a:t> model </a:t>
            </a:r>
            <a:r>
              <a:rPr lang="en-US" sz="1800"/>
              <a:t> in this article use some of the  useful frameworks developed for large companies (1) and Walsham`s social context model(2) to assist in the development of an ISS for SMEs. </a:t>
            </a:r>
          </a:p>
          <a:p>
            <a:pPr marL="0" indent="0"/>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457200" y="549275"/>
            <a:ext cx="8229600" cy="5507038"/>
          </a:xfrm>
        </p:spPr>
        <p:txBody>
          <a:bodyPr/>
          <a:lstStyle/>
          <a:p>
            <a:pPr marL="0" indent="0">
              <a:lnSpc>
                <a:spcPct val="80000"/>
              </a:lnSpc>
              <a:buFontTx/>
              <a:buNone/>
            </a:pPr>
            <a:r>
              <a:rPr lang="tr-TR" sz="1400" b="1"/>
              <a:t>I think that ISS framework in SMEs can be covered a large enterprise. what is a</a:t>
            </a:r>
            <a:r>
              <a:rPr lang="en-US" sz="1400" b="1"/>
              <a:t> </a:t>
            </a:r>
            <a:r>
              <a:rPr lang="tr-TR" sz="1400" b="1"/>
              <a:t>different meaning both a SMEs and a large enterprise in ISS framework? (Dghong)</a:t>
            </a:r>
            <a:endParaRPr lang="en-US" sz="1400" b="1"/>
          </a:p>
          <a:p>
            <a:pPr marL="0" indent="0">
              <a:lnSpc>
                <a:spcPct val="80000"/>
              </a:lnSpc>
              <a:buFontTx/>
              <a:buNone/>
            </a:pPr>
            <a:endParaRPr lang="en-US" sz="1400" b="1"/>
          </a:p>
          <a:p>
            <a:pPr marL="0" indent="0">
              <a:lnSpc>
                <a:spcPct val="80000"/>
              </a:lnSpc>
            </a:pPr>
            <a:r>
              <a:rPr lang="en-US" sz="1400" b="1"/>
              <a:t>Firstly </a:t>
            </a:r>
            <a:r>
              <a:rPr lang="en-US" sz="1400"/>
              <a:t>, Level et all (1999) only used some of the frameworks for  SMEs and emphasized that awareness and opportunities frameworks  are important parts for SMEs. They eliminated some frameworks ( in opportunities and positioning framework ). Because these eliminated frameworks are designated for large firms. There are some constraints for using these frameworks in SMEs. ( ex: SMEs usually don’t have IT departments so Technology fitting,  application search tools, spatial frameworks can not be used in SMEs ). </a:t>
            </a:r>
          </a:p>
          <a:p>
            <a:pPr marL="0" indent="0">
              <a:lnSpc>
                <a:spcPct val="80000"/>
              </a:lnSpc>
              <a:buFontTx/>
              <a:buNone/>
            </a:pPr>
            <a:endParaRPr lang="en-US" sz="1400"/>
          </a:p>
          <a:p>
            <a:pPr marL="0" indent="0">
              <a:lnSpc>
                <a:spcPct val="80000"/>
              </a:lnSpc>
            </a:pPr>
            <a:r>
              <a:rPr lang="en-US" sz="1400"/>
              <a:t>And the </a:t>
            </a:r>
            <a:r>
              <a:rPr lang="en-US" sz="1400" b="1"/>
              <a:t>second important issue</a:t>
            </a:r>
            <a:r>
              <a:rPr lang="en-US" sz="1400"/>
              <a:t>, SMEs organizational culture is usually in an informal structure. (owner or small management team)  so ,ISS need to fit with predominant organizational culture. Understanding the relationship between IS and organization is critical to the adaptation of successful IS.</a:t>
            </a:r>
          </a:p>
          <a:p>
            <a:pPr marL="0" indent="0">
              <a:lnSpc>
                <a:spcPct val="80000"/>
              </a:lnSpc>
            </a:pPr>
            <a:endParaRPr lang="en-US" sz="1400"/>
          </a:p>
          <a:p>
            <a:pPr marL="0" indent="0">
              <a:lnSpc>
                <a:spcPct val="80000"/>
              </a:lnSpc>
              <a:buFontTx/>
              <a:buNone/>
            </a:pPr>
            <a:endParaRPr lang="en-US" sz="1400"/>
          </a:p>
          <a:p>
            <a:pPr marL="0" indent="0">
              <a:lnSpc>
                <a:spcPct val="80000"/>
              </a:lnSpc>
            </a:pPr>
            <a:r>
              <a:rPr lang="en-US" sz="1400"/>
              <a:t>Large firms  are always contentrating their ISS on IT technology as stated Blili and Raymond (1993). If we apply the ISS frameworks for developed for large firms, SMEs will only use IT for their operational focus ( day-to-day activities). But SMEs are small firms and they should have flexible structure for changing environment. and plan  their future. Therefore ISS for SMEs  can help them to use IS effectively for competitiveness. (not only for operational use)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827088" y="836613"/>
            <a:ext cx="6192837" cy="1944687"/>
          </a:xfrm>
        </p:spPr>
        <p:txBody>
          <a:bodyPr>
            <a:normAutofit fontScale="90000"/>
          </a:bodyPr>
          <a:lstStyle/>
          <a:p>
            <a:r>
              <a:rPr lang="tr-TR" sz="2400" u="sng"/>
              <a:t>The PESTEL framework</a:t>
            </a:r>
            <a:r>
              <a:rPr lang="en-US" sz="2400" u="sng"/>
              <a:t> </a:t>
            </a:r>
            <a:br>
              <a:rPr lang="en-US" sz="2400" u="sng"/>
            </a:br>
            <a:r>
              <a:rPr lang="en-US" sz="2000"/>
              <a:t/>
            </a:r>
            <a:br>
              <a:rPr lang="en-US" sz="2000"/>
            </a:br>
            <a:r>
              <a:rPr lang="en-US" sz="2400" b="0"/>
              <a:t>C</a:t>
            </a:r>
            <a:r>
              <a:rPr lang="tr-TR" sz="2400" b="0"/>
              <a:t>ategorises </a:t>
            </a:r>
            <a:r>
              <a:rPr lang="tr-TR" sz="2400" b="0" u="sng"/>
              <a:t>environmental influences</a:t>
            </a:r>
            <a:r>
              <a:rPr lang="tr-TR" sz="2400" b="0"/>
              <a:t> into six main types: political, economic, social, technological, environmental and legal</a:t>
            </a:r>
            <a:endParaRPr lang="en-US" sz="2400" b="0"/>
          </a:p>
        </p:txBody>
      </p:sp>
      <p:sp>
        <p:nvSpPr>
          <p:cNvPr id="2051" name="Rectangle 3"/>
          <p:cNvSpPr>
            <a:spLocks noGrp="1" noChangeArrowheads="1"/>
          </p:cNvSpPr>
          <p:nvPr>
            <p:ph type="subTitle" idx="1"/>
          </p:nvPr>
        </p:nvSpPr>
        <p:spPr>
          <a:xfrm>
            <a:off x="1116013" y="2997200"/>
            <a:ext cx="6048375" cy="576263"/>
          </a:xfrm>
        </p:spPr>
        <p:txBody>
          <a:bodyPr/>
          <a:lstStyle/>
          <a:p>
            <a:pPr>
              <a:lnSpc>
                <a:spcPct val="90000"/>
              </a:lnSpc>
            </a:pPr>
            <a:r>
              <a:rPr lang="en-US" sz="2000"/>
              <a:t>Assesment of environmental influences</a:t>
            </a:r>
          </a:p>
        </p:txBody>
      </p:sp>
      <p:sp>
        <p:nvSpPr>
          <p:cNvPr id="2052" name="Text Box 4"/>
          <p:cNvSpPr txBox="1">
            <a:spLocks noChangeArrowheads="1"/>
          </p:cNvSpPr>
          <p:nvPr/>
        </p:nvSpPr>
        <p:spPr bwMode="auto">
          <a:xfrm>
            <a:off x="1258888" y="3716338"/>
            <a:ext cx="5472112" cy="336550"/>
          </a:xfrm>
          <a:prstGeom prst="rect">
            <a:avLst/>
          </a:prstGeom>
          <a:noFill/>
          <a:ln w="9525">
            <a:noFill/>
            <a:miter lim="800000"/>
            <a:headEnd/>
            <a:tailEnd/>
          </a:ln>
          <a:effectLst/>
        </p:spPr>
        <p:txBody>
          <a:bodyPr>
            <a:spAutoFit/>
          </a:bodyPr>
          <a:lstStyle/>
          <a:p>
            <a:pPr algn="ctr" eaLnBrk="1" hangingPunct="1">
              <a:lnSpc>
                <a:spcPct val="80000"/>
              </a:lnSpc>
              <a:spcBef>
                <a:spcPct val="20000"/>
              </a:spcBef>
            </a:pPr>
            <a:r>
              <a:rPr lang="en-US" sz="2000" b="1">
                <a:effectLst>
                  <a:outerShdw blurRad="38100" dist="38100" dir="2700000" algn="tl">
                    <a:srgbClr val="C0C0C0"/>
                  </a:outerShdw>
                </a:effectLst>
              </a:rPr>
              <a:t>Environmental Scanning </a:t>
            </a:r>
            <a:endParaRPr lang="en-US" sz="2000"/>
          </a:p>
        </p:txBody>
      </p:sp>
      <p:sp>
        <p:nvSpPr>
          <p:cNvPr id="2053" name="Line 5"/>
          <p:cNvSpPr>
            <a:spLocks noChangeShapeType="1"/>
          </p:cNvSpPr>
          <p:nvPr/>
        </p:nvSpPr>
        <p:spPr bwMode="auto">
          <a:xfrm>
            <a:off x="3635375" y="3348038"/>
            <a:ext cx="0" cy="431800"/>
          </a:xfrm>
          <a:prstGeom prst="line">
            <a:avLst/>
          </a:prstGeom>
          <a:noFill/>
          <a:ln w="31750">
            <a:solidFill>
              <a:schemeClr val="tx1"/>
            </a:solidFill>
            <a:round/>
            <a:headEnd/>
            <a:tailEnd type="triangle" w="med" len="med"/>
          </a:ln>
          <a:effectLst/>
        </p:spPr>
        <p:txBody>
          <a:bodyPr/>
          <a:lstStyle/>
          <a:p>
            <a:endParaRPr lang="en-US"/>
          </a:p>
        </p:txBody>
      </p:sp>
      <p:sp>
        <p:nvSpPr>
          <p:cNvPr id="2054" name="Rectangle 6"/>
          <p:cNvSpPr>
            <a:spLocks noChangeArrowheads="1"/>
          </p:cNvSpPr>
          <p:nvPr/>
        </p:nvSpPr>
        <p:spPr bwMode="auto">
          <a:xfrm>
            <a:off x="827088" y="4292600"/>
            <a:ext cx="6192837" cy="936625"/>
          </a:xfrm>
          <a:prstGeom prst="rect">
            <a:avLst/>
          </a:prstGeom>
          <a:noFill/>
          <a:ln w="9525">
            <a:noFill/>
            <a:miter lim="800000"/>
            <a:headEnd/>
            <a:tailEnd/>
          </a:ln>
          <a:effectLst/>
        </p:spPr>
        <p:txBody>
          <a:bodyPr anchor="b"/>
          <a:lstStyle/>
          <a:p>
            <a:pPr algn="ctr" eaLnBrk="1" hangingPunct="1">
              <a:lnSpc>
                <a:spcPct val="90000"/>
              </a:lnSpc>
            </a:pPr>
            <a:r>
              <a:rPr lang="en-US" sz="2000" b="1">
                <a:solidFill>
                  <a:schemeClr val="tx2"/>
                </a:solidFill>
                <a:effectLst>
                  <a:outerShdw blurRad="38100" dist="38100" dir="2700000" algn="tl">
                    <a:srgbClr val="C0C0C0"/>
                  </a:outerShdw>
                </a:effectLst>
              </a:rPr>
              <a:t>Environmental Scanning: referst to gathering information for use in formulating the firm`s strategies.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765175"/>
            <a:ext cx="8243888" cy="661988"/>
          </a:xfrm>
        </p:spPr>
        <p:txBody>
          <a:bodyPr/>
          <a:lstStyle/>
          <a:p>
            <a:r>
              <a:rPr lang="tr-TR" sz="2000" u="sng"/>
              <a:t>The PESTEL framework</a:t>
            </a:r>
            <a:endParaRPr lang="en-US" sz="2000" u="sng"/>
          </a:p>
        </p:txBody>
      </p:sp>
      <p:sp>
        <p:nvSpPr>
          <p:cNvPr id="24579" name="Rectangle 3"/>
          <p:cNvSpPr>
            <a:spLocks noGrp="1" noChangeArrowheads="1"/>
          </p:cNvSpPr>
          <p:nvPr>
            <p:ph idx="1"/>
          </p:nvPr>
        </p:nvSpPr>
        <p:spPr/>
        <p:txBody>
          <a:bodyPr/>
          <a:lstStyle/>
          <a:p>
            <a:r>
              <a:rPr lang="en-US" sz="1800" b="1"/>
              <a:t>P</a:t>
            </a:r>
            <a:r>
              <a:rPr lang="tr-TR" sz="1800"/>
              <a:t>olitical</a:t>
            </a:r>
            <a:r>
              <a:rPr lang="en-US" sz="1800"/>
              <a:t> ( e.g. government stability, taxation policy, foreing trade requlation, social welfare policy)</a:t>
            </a:r>
          </a:p>
          <a:p>
            <a:r>
              <a:rPr lang="en-US" sz="1800" b="1"/>
              <a:t>E</a:t>
            </a:r>
            <a:r>
              <a:rPr lang="tr-TR" sz="1800"/>
              <a:t>conomic</a:t>
            </a:r>
            <a:r>
              <a:rPr lang="en-US" sz="1800"/>
              <a:t> (e.g. business cycle, interest rate, unemployment)</a:t>
            </a:r>
          </a:p>
          <a:p>
            <a:r>
              <a:rPr lang="en-US" sz="1800" b="1"/>
              <a:t>S</a:t>
            </a:r>
            <a:r>
              <a:rPr lang="tr-TR" sz="1800"/>
              <a:t>ocial</a:t>
            </a:r>
            <a:r>
              <a:rPr lang="en-US" sz="1800"/>
              <a:t> (e.g. population demographics, income distribution, lifestyle changes)</a:t>
            </a:r>
          </a:p>
          <a:p>
            <a:r>
              <a:rPr lang="en-US" sz="1800" b="1"/>
              <a:t>T</a:t>
            </a:r>
            <a:r>
              <a:rPr lang="tr-TR" sz="1800"/>
              <a:t>echnological</a:t>
            </a:r>
            <a:r>
              <a:rPr lang="en-US" sz="1800"/>
              <a:t> (e.g. government spending on research, new discoveries, speed of technology transfer)</a:t>
            </a:r>
          </a:p>
          <a:p>
            <a:r>
              <a:rPr lang="en-US" sz="1800" b="1"/>
              <a:t>E</a:t>
            </a:r>
            <a:r>
              <a:rPr lang="tr-TR" sz="1800"/>
              <a:t>nvironmental </a:t>
            </a:r>
            <a:r>
              <a:rPr lang="en-US" sz="1800"/>
              <a:t>( enviromental protection lawa, energy consumption)</a:t>
            </a:r>
          </a:p>
          <a:p>
            <a:r>
              <a:rPr lang="en-US" sz="1800" b="1"/>
              <a:t>L</a:t>
            </a:r>
            <a:r>
              <a:rPr lang="tr-TR" sz="1800"/>
              <a:t>egal</a:t>
            </a:r>
            <a:r>
              <a:rPr lang="en-US" sz="1800"/>
              <a:t> ( employment law, health and safety, product safety)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6"/>
          <p:cNvSpPr>
            <a:spLocks noGrp="1" noChangeArrowheads="1"/>
          </p:cNvSpPr>
          <p:nvPr>
            <p:ph/>
          </p:nvPr>
        </p:nvSpPr>
        <p:spPr>
          <a:xfrm>
            <a:off x="442913" y="103188"/>
            <a:ext cx="8243887" cy="6134100"/>
          </a:xfrm>
        </p:spPr>
        <p:txBody>
          <a:bodyPr/>
          <a:lstStyle/>
          <a:p>
            <a:pPr marL="0" indent="0" algn="ctr">
              <a:buFontTx/>
              <a:buNone/>
            </a:pPr>
            <a:r>
              <a:rPr lang="en-US" u="sng"/>
              <a:t>Soft Systems Methodology</a:t>
            </a:r>
          </a:p>
          <a:p>
            <a:pPr marL="0" indent="0" algn="ctr">
              <a:buFontTx/>
              <a:buNone/>
            </a:pPr>
            <a:endParaRPr lang="en-US"/>
          </a:p>
          <a:p>
            <a:pPr marL="0" indent="0" algn="just">
              <a:buFontTx/>
              <a:buNone/>
            </a:pPr>
            <a:r>
              <a:rPr lang="en-US" sz="2000"/>
              <a:t>Tackling ill-structured problems(problems where the managers of the organisation which are unclear about their objectives because of change of  the real world</a:t>
            </a:r>
          </a:p>
          <a:p>
            <a:pPr marL="0" indent="0" algn="just">
              <a:buFontTx/>
              <a:buNone/>
            </a:pPr>
            <a:endParaRPr lang="en-US"/>
          </a:p>
          <a:p>
            <a:pPr marL="0" indent="0">
              <a:buFontTx/>
              <a:buNone/>
            </a:pPr>
            <a:r>
              <a:rPr lang="en-US" sz="1800"/>
              <a:t>SSM consists of seven principal stages, not necessarily employed sequentially and employed for systems and identified subsystems.</a:t>
            </a:r>
            <a:br>
              <a:rPr lang="en-US" sz="1800"/>
            </a:br>
            <a:endParaRPr lang="en-US" sz="1800"/>
          </a:p>
          <a:p>
            <a:pPr marL="0" indent="0">
              <a:buFontTx/>
              <a:buNone/>
            </a:pPr>
            <a:r>
              <a:rPr lang="en-US" sz="1800"/>
              <a:t>1. Problem situation  (unstructured)</a:t>
            </a:r>
          </a:p>
          <a:p>
            <a:pPr marL="0" indent="0">
              <a:buFontTx/>
              <a:buNone/>
            </a:pPr>
            <a:r>
              <a:rPr lang="en-US" sz="1800"/>
              <a:t>2. Problem situation (expressed Rich picture) </a:t>
            </a:r>
          </a:p>
          <a:p>
            <a:pPr marL="0" indent="0">
              <a:buFontTx/>
              <a:buNone/>
            </a:pPr>
            <a:r>
              <a:rPr lang="en-US" sz="1800"/>
              <a:t>3. Formulating Root definitions ( CATWOE root definitions) </a:t>
            </a:r>
          </a:p>
          <a:p>
            <a:pPr marL="0" indent="0">
              <a:buFontTx/>
              <a:buNone/>
            </a:pPr>
            <a:r>
              <a:rPr lang="en-US" sz="1800"/>
              <a:t>4. Conceptual modelling (Conceptual systems model) </a:t>
            </a:r>
          </a:p>
          <a:p>
            <a:pPr marL="0" indent="0">
              <a:buFontTx/>
              <a:buNone/>
            </a:pPr>
            <a:r>
              <a:rPr lang="en-US" sz="1800"/>
              <a:t>5. Comparison system/real world ( List of discrepancies) </a:t>
            </a:r>
          </a:p>
          <a:p>
            <a:pPr marL="0" indent="0">
              <a:buFontTx/>
              <a:buNone/>
            </a:pPr>
            <a:r>
              <a:rPr lang="en-US" sz="1800"/>
              <a:t>6. Feasible/desirable changes ( List of changes) </a:t>
            </a:r>
          </a:p>
          <a:p>
            <a:pPr marL="0" indent="0">
              <a:buFontTx/>
              <a:buNone/>
            </a:pPr>
            <a:r>
              <a:rPr lang="en-US" sz="1800"/>
              <a:t>7. Action to improve (List of actions) </a:t>
            </a:r>
            <a:endParaRPr lang="en-US"/>
          </a:p>
          <a:p>
            <a:pPr marL="0" indent="0">
              <a:buFontTx/>
              <a:buNone/>
            </a:pP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457200" y="620713"/>
            <a:ext cx="8229600" cy="5832475"/>
          </a:xfrm>
        </p:spPr>
        <p:txBody>
          <a:bodyPr/>
          <a:lstStyle/>
          <a:p>
            <a:pPr>
              <a:lnSpc>
                <a:spcPct val="90000"/>
              </a:lnSpc>
              <a:buFontTx/>
              <a:buNone/>
            </a:pPr>
            <a:r>
              <a:rPr lang="en-US" sz="2400" b="1"/>
              <a:t>1. Expressing the problem situation</a:t>
            </a:r>
            <a:r>
              <a:rPr lang="en-US" sz="2800" b="1"/>
              <a:t> </a:t>
            </a:r>
          </a:p>
          <a:p>
            <a:pPr>
              <a:lnSpc>
                <a:spcPct val="90000"/>
              </a:lnSpc>
              <a:buFontTx/>
              <a:buNone/>
            </a:pPr>
            <a:endParaRPr lang="en-US" sz="2800" b="1"/>
          </a:p>
          <a:p>
            <a:pPr>
              <a:lnSpc>
                <a:spcPct val="90000"/>
              </a:lnSpc>
              <a:buFontTx/>
              <a:buNone/>
            </a:pPr>
            <a:r>
              <a:rPr lang="en-US" sz="2000"/>
              <a:t>	The scope of the study is not restricted too early by defining at the beginning what the problems are. The aim is to capture primarily who individuals feel are the principal actors and clients of the organisation, what transformations are carried out and what expectations and constraints on the system were. This can involve:</a:t>
            </a:r>
            <a:br>
              <a:rPr lang="en-US" sz="2000"/>
            </a:br>
            <a:endParaRPr lang="en-US" sz="2000"/>
          </a:p>
          <a:p>
            <a:pPr>
              <a:lnSpc>
                <a:spcPct val="90000"/>
              </a:lnSpc>
            </a:pPr>
            <a:r>
              <a:rPr lang="en-US" sz="1800"/>
              <a:t>identifying the tasks performed </a:t>
            </a:r>
          </a:p>
          <a:p>
            <a:pPr>
              <a:lnSpc>
                <a:spcPct val="90000"/>
              </a:lnSpc>
            </a:pPr>
            <a:r>
              <a:rPr lang="en-US" sz="1800"/>
              <a:t>identifying tools and methods employed </a:t>
            </a:r>
          </a:p>
          <a:p>
            <a:pPr>
              <a:lnSpc>
                <a:spcPct val="90000"/>
              </a:lnSpc>
            </a:pPr>
            <a:r>
              <a:rPr lang="en-US" sz="1800"/>
              <a:t>establishing interactions between people/systems </a:t>
            </a:r>
          </a:p>
          <a:p>
            <a:pPr>
              <a:lnSpc>
                <a:spcPct val="90000"/>
              </a:lnSpc>
            </a:pPr>
            <a:r>
              <a:rPr lang="en-US" sz="1800"/>
              <a:t>making drawings of structures/layouts </a:t>
            </a:r>
          </a:p>
          <a:p>
            <a:pPr>
              <a:lnSpc>
                <a:spcPct val="90000"/>
              </a:lnSpc>
            </a:pPr>
            <a:r>
              <a:rPr lang="en-US" sz="1800"/>
              <a:t>conducting unstructured and informal interviews: ("tell me what you do") </a:t>
            </a:r>
          </a:p>
          <a:p>
            <a:pPr>
              <a:lnSpc>
                <a:spcPct val="90000"/>
              </a:lnSpc>
            </a:pPr>
            <a:r>
              <a:rPr lang="en-US" sz="1800"/>
              <a:t>brainstorming issues </a:t>
            </a:r>
          </a:p>
          <a:p>
            <a:pPr>
              <a:lnSpc>
                <a:spcPct val="90000"/>
              </a:lnSpc>
            </a:pPr>
            <a:r>
              <a:rPr lang="en-US" sz="1800"/>
              <a:t>encouraging a creative approach to formulating root definitions (what does the organisation do?) </a:t>
            </a:r>
          </a:p>
          <a:p>
            <a:pPr>
              <a:lnSpc>
                <a:spcPct val="90000"/>
              </a:lnSpc>
            </a:pPr>
            <a:endParaRPr lang="en-US" sz="18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sz="half" idx="1"/>
          </p:nvPr>
        </p:nvSpPr>
        <p:spPr>
          <a:xfrm>
            <a:off x="250825" y="188913"/>
            <a:ext cx="4619625" cy="5111750"/>
          </a:xfrm>
        </p:spPr>
        <p:txBody>
          <a:bodyPr/>
          <a:lstStyle/>
          <a:p>
            <a:pPr marL="0" indent="0">
              <a:lnSpc>
                <a:spcPct val="90000"/>
              </a:lnSpc>
              <a:buFontTx/>
              <a:buNone/>
            </a:pPr>
            <a:r>
              <a:rPr lang="en-US" sz="2400" b="1"/>
              <a:t>2. Rich pictures</a:t>
            </a:r>
          </a:p>
          <a:p>
            <a:pPr marL="0" indent="0">
              <a:lnSpc>
                <a:spcPct val="90000"/>
              </a:lnSpc>
              <a:buFontTx/>
              <a:buNone/>
            </a:pPr>
            <a:endParaRPr lang="en-US" sz="2400"/>
          </a:p>
          <a:p>
            <a:pPr marL="0" indent="0" algn="just">
              <a:lnSpc>
                <a:spcPct val="90000"/>
              </a:lnSpc>
              <a:buFontTx/>
              <a:buNone/>
            </a:pPr>
            <a:r>
              <a:rPr lang="en-US" sz="1800"/>
              <a:t>Rich pictures are generated to represent structures, processes and issues of the organisation which could be relevant to the problem definition, and to try to give an impression of the organisational climate. Rich pictures are usually, but not exclusively, a mixture of text and graphics and are intended to give an easily intelligible image of the organisation and the major issues involved. The production of a rich picture is not the purpose of SSM but can be viewed as a by-product of the process of investigation </a:t>
            </a:r>
          </a:p>
        </p:txBody>
      </p:sp>
      <p:pic>
        <p:nvPicPr>
          <p:cNvPr id="27652" name="Picture 4"/>
          <p:cNvPicPr>
            <a:picLocks noGrp="1" noChangeAspect="1" noChangeArrowheads="1"/>
          </p:cNvPicPr>
          <p:nvPr>
            <p:ph sz="half" idx="2"/>
          </p:nvPr>
        </p:nvPicPr>
        <p:blipFill>
          <a:blip r:embed="rId3" cstate="print"/>
          <a:stretch>
            <a:fillRect/>
          </a:stretch>
        </p:blipFill>
        <p:spPr>
          <a:xfrm>
            <a:off x="4719881" y="2342542"/>
            <a:ext cx="3895238" cy="2971429"/>
          </a:xfrm>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457200" y="908050"/>
            <a:ext cx="8229600" cy="5148263"/>
          </a:xfrm>
        </p:spPr>
        <p:txBody>
          <a:bodyPr/>
          <a:lstStyle/>
          <a:p>
            <a:pPr marL="0" indent="0">
              <a:buFontTx/>
              <a:buNone/>
            </a:pPr>
            <a:r>
              <a:rPr lang="en-US" sz="2400" b="1"/>
              <a:t>3. Root definitions</a:t>
            </a:r>
          </a:p>
          <a:p>
            <a:pPr marL="0" indent="0"/>
            <a:endParaRPr lang="en-US" sz="2400" b="1"/>
          </a:p>
          <a:p>
            <a:pPr marL="0" indent="0">
              <a:buFontTx/>
              <a:buNone/>
            </a:pPr>
            <a:r>
              <a:rPr lang="en-US" sz="1800"/>
              <a:t>Root definitions are concise textual definitions that express the nature of the systems relevant to exploring the problem situation. They take the form: do X by Y to achieve Z. Having collected information to work with, a series of 'root definitions' are written to express the primary and secondary objectives of the system. These textual definitions inform the iterative development of a subsequent 'conceptual model' of the overall system. It is important that this formulation occurs as a team activity, so that missing information and conflicts in perceptions are highlighted</a:t>
            </a:r>
            <a:br>
              <a:rPr lang="en-US" sz="1800"/>
            </a:br>
            <a:endParaRPr lang="en-US" sz="1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404813"/>
            <a:ext cx="8229600" cy="6192837"/>
          </a:xfrm>
        </p:spPr>
        <p:txBody>
          <a:bodyPr/>
          <a:lstStyle/>
          <a:p>
            <a:pPr marL="0" indent="0">
              <a:lnSpc>
                <a:spcPct val="80000"/>
              </a:lnSpc>
              <a:buFontTx/>
              <a:buNone/>
            </a:pPr>
            <a:r>
              <a:rPr lang="en-US" sz="2400" b="1"/>
              <a:t>4. CATWOE Analysis</a:t>
            </a:r>
          </a:p>
          <a:p>
            <a:pPr marL="0" indent="0">
              <a:lnSpc>
                <a:spcPct val="80000"/>
              </a:lnSpc>
              <a:buFontTx/>
              <a:buNone/>
            </a:pPr>
            <a:endParaRPr lang="en-US" sz="2400" b="1"/>
          </a:p>
          <a:p>
            <a:pPr marL="0" indent="0">
              <a:lnSpc>
                <a:spcPct val="80000"/>
              </a:lnSpc>
              <a:buFontTx/>
              <a:buNone/>
            </a:pPr>
            <a:r>
              <a:rPr lang="en-US" sz="2000"/>
              <a:t>The root definitions are written specifically to include Checkland's CATWOE components. These are: Clients, Actors, Transformations, Worldview, Owner, </a:t>
            </a:r>
          </a:p>
          <a:p>
            <a:pPr marL="0" indent="0">
              <a:lnSpc>
                <a:spcPct val="80000"/>
              </a:lnSpc>
              <a:buFontTx/>
              <a:buNone/>
            </a:pPr>
            <a:endParaRPr lang="en-US" sz="2000"/>
          </a:p>
          <a:p>
            <a:pPr marL="0" indent="0">
              <a:lnSpc>
                <a:spcPct val="80000"/>
              </a:lnSpc>
            </a:pPr>
            <a:r>
              <a:rPr lang="en-US" sz="1800"/>
              <a:t>Transformations: all the changes which the system brings about, stated as an input and output. </a:t>
            </a:r>
          </a:p>
          <a:p>
            <a:pPr marL="0" indent="0">
              <a:lnSpc>
                <a:spcPct val="80000"/>
              </a:lnSpc>
            </a:pPr>
            <a:r>
              <a:rPr lang="en-US" sz="1800"/>
              <a:t>Worldview: how an organisation is perceived by the clients, actors and the outside world. Different groups will have different world views. It is important to highlight any conflict between worldviews as these are likely to manifest themselves as current or future problems for the organisation in question. </a:t>
            </a:r>
          </a:p>
          <a:p>
            <a:pPr marL="0" indent="0">
              <a:lnSpc>
                <a:spcPct val="80000"/>
              </a:lnSpc>
            </a:pPr>
            <a:r>
              <a:rPr lang="en-US" sz="1800"/>
              <a:t>Environment: things that influence but do not control the system under study. </a:t>
            </a:r>
          </a:p>
          <a:p>
            <a:pPr marL="0" indent="0">
              <a:lnSpc>
                <a:spcPct val="80000"/>
              </a:lnSpc>
            </a:pPr>
            <a:r>
              <a:rPr lang="en-US" sz="1800"/>
              <a:t>Clients: those who benefit from or are affected by outputs (products, services) of the system. </a:t>
            </a:r>
          </a:p>
          <a:p>
            <a:pPr marL="0" indent="0">
              <a:lnSpc>
                <a:spcPct val="80000"/>
              </a:lnSpc>
            </a:pPr>
            <a:r>
              <a:rPr lang="en-US" sz="1800"/>
              <a:t>Owners: individuals and organisations who could cause it to cease to exist </a:t>
            </a:r>
          </a:p>
          <a:p>
            <a:pPr marL="0" indent="0">
              <a:lnSpc>
                <a:spcPct val="80000"/>
              </a:lnSpc>
            </a:pPr>
            <a:r>
              <a:rPr lang="en-US" sz="1800"/>
              <a:t>Actors: those who carry out activities within the system </a:t>
            </a:r>
          </a:p>
          <a:p>
            <a:pPr marL="0" indent="0">
              <a:lnSpc>
                <a:spcPct val="80000"/>
              </a:lnSpc>
            </a:pPr>
            <a:endParaRPr 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457200" y="0"/>
            <a:ext cx="8229600" cy="6524625"/>
          </a:xfrm>
        </p:spPr>
        <p:txBody>
          <a:bodyPr/>
          <a:lstStyle/>
          <a:p>
            <a:pPr marL="0" indent="0">
              <a:lnSpc>
                <a:spcPct val="80000"/>
              </a:lnSpc>
              <a:buFontTx/>
              <a:buNone/>
            </a:pPr>
            <a:r>
              <a:rPr lang="en-US" sz="2400" b="1"/>
              <a:t>5. The Conceptual Model</a:t>
            </a:r>
          </a:p>
          <a:p>
            <a:pPr marL="0" indent="0">
              <a:lnSpc>
                <a:spcPct val="80000"/>
              </a:lnSpc>
            </a:pPr>
            <a:endParaRPr lang="en-US" sz="2400" b="1"/>
          </a:p>
          <a:p>
            <a:pPr marL="0" indent="0">
              <a:lnSpc>
                <a:spcPct val="80000"/>
              </a:lnSpc>
              <a:buFontTx/>
              <a:buNone/>
            </a:pPr>
            <a:r>
              <a:rPr lang="en-US" sz="1800"/>
              <a:t>A (graphical) 'conceptual model' is then developed which represents graphically the activities logically necessary to achieve the transformation described in the primary root definition. The model is checked to ensure that it conforms to the following requirements:</a:t>
            </a:r>
            <a:r>
              <a:rPr lang="en-US" sz="1600"/>
              <a:t/>
            </a:r>
            <a:br>
              <a:rPr lang="en-US" sz="1600"/>
            </a:br>
            <a:endParaRPr lang="en-US" sz="1600"/>
          </a:p>
          <a:p>
            <a:pPr marL="0" indent="0">
              <a:lnSpc>
                <a:spcPct val="80000"/>
              </a:lnSpc>
              <a:buFontTx/>
              <a:buNone/>
            </a:pPr>
            <a:r>
              <a:rPr lang="en-US" sz="1600"/>
              <a:t>it </a:t>
            </a:r>
            <a:r>
              <a:rPr lang="en-US" sz="1800"/>
              <a:t>represents exactly the activities (as verbs) required to achieve the goals of the organisation </a:t>
            </a:r>
          </a:p>
          <a:p>
            <a:pPr marL="0" indent="0">
              <a:lnSpc>
                <a:spcPct val="80000"/>
              </a:lnSpc>
              <a:buFontTx/>
              <a:buNone/>
            </a:pPr>
            <a:endParaRPr lang="en-US" sz="1800"/>
          </a:p>
          <a:p>
            <a:pPr marL="0" indent="0">
              <a:lnSpc>
                <a:spcPct val="80000"/>
              </a:lnSpc>
            </a:pPr>
            <a:r>
              <a:rPr lang="en-US" sz="1800"/>
              <a:t>it meets the criteria for being a system </a:t>
            </a:r>
          </a:p>
          <a:p>
            <a:pPr marL="0" indent="0">
              <a:lnSpc>
                <a:spcPct val="80000"/>
              </a:lnSpc>
            </a:pPr>
            <a:r>
              <a:rPr lang="en-US" sz="1800"/>
              <a:t>it decomposes activities in a hierarchy containing 5-7 activities at first-resolution level </a:t>
            </a:r>
          </a:p>
          <a:p>
            <a:pPr marL="0" indent="0">
              <a:lnSpc>
                <a:spcPct val="80000"/>
              </a:lnSpc>
            </a:pPr>
            <a:r>
              <a:rPr lang="en-US" sz="1800"/>
              <a:t>it has all components connected (except for monitoring and control units) </a:t>
            </a:r>
          </a:p>
          <a:p>
            <a:pPr marL="0" indent="0">
              <a:lnSpc>
                <a:spcPct val="80000"/>
              </a:lnSpc>
            </a:pPr>
            <a:r>
              <a:rPr lang="en-US" sz="1800"/>
              <a:t>it has an ongoing purpose, i.e. effects transformation </a:t>
            </a:r>
          </a:p>
          <a:p>
            <a:pPr marL="0" indent="0">
              <a:lnSpc>
                <a:spcPct val="80000"/>
              </a:lnSpc>
            </a:pPr>
            <a:r>
              <a:rPr lang="en-US" sz="1800"/>
              <a:t>it has provision for measure(s) of performance </a:t>
            </a:r>
          </a:p>
          <a:p>
            <a:pPr marL="0" indent="0">
              <a:lnSpc>
                <a:spcPct val="80000"/>
              </a:lnSpc>
            </a:pPr>
            <a:r>
              <a:rPr lang="en-US" sz="1800"/>
              <a:t>it has a decision-making or control process </a:t>
            </a:r>
          </a:p>
          <a:p>
            <a:pPr marL="0" indent="0">
              <a:lnSpc>
                <a:spcPct val="80000"/>
              </a:lnSpc>
            </a:pPr>
            <a:r>
              <a:rPr lang="en-US" sz="1800"/>
              <a:t>it consists of components (which are themselves systems) </a:t>
            </a:r>
          </a:p>
          <a:p>
            <a:pPr marL="0" indent="0">
              <a:lnSpc>
                <a:spcPct val="80000"/>
              </a:lnSpc>
            </a:pPr>
            <a:r>
              <a:rPr lang="en-US" sz="1800"/>
              <a:t>it exists as part of wider system, or environment with which it interacts </a:t>
            </a:r>
          </a:p>
          <a:p>
            <a:pPr marL="0" indent="0">
              <a:lnSpc>
                <a:spcPct val="80000"/>
              </a:lnSpc>
            </a:pPr>
            <a:r>
              <a:rPr lang="en-US" sz="1800"/>
              <a:t>it has bounded decision-making processes </a:t>
            </a:r>
          </a:p>
          <a:p>
            <a:pPr marL="0" indent="0">
              <a:lnSpc>
                <a:spcPct val="80000"/>
              </a:lnSpc>
            </a:pPr>
            <a:r>
              <a:rPr lang="en-US" sz="1800"/>
              <a:t>it has resources for its own use </a:t>
            </a:r>
          </a:p>
          <a:p>
            <a:pPr marL="0" indent="0">
              <a:lnSpc>
                <a:spcPct val="80000"/>
              </a:lnSpc>
            </a:pPr>
            <a:r>
              <a:rPr lang="en-US" sz="1800"/>
              <a:t>it has an expectation of continuity </a:t>
            </a:r>
          </a:p>
          <a:p>
            <a:pPr marL="0" indent="0">
              <a:lnSpc>
                <a:spcPct val="80000"/>
              </a:lnSpc>
            </a:pP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457200" y="1052513"/>
            <a:ext cx="8229600" cy="5003800"/>
          </a:xfrm>
        </p:spPr>
        <p:txBody>
          <a:bodyPr/>
          <a:lstStyle/>
          <a:p>
            <a:pPr marL="0" indent="0">
              <a:lnSpc>
                <a:spcPct val="80000"/>
              </a:lnSpc>
              <a:buFontTx/>
              <a:buNone/>
            </a:pPr>
            <a:r>
              <a:rPr lang="en-US" sz="2400" b="1"/>
              <a:t>6. The five E's</a:t>
            </a:r>
          </a:p>
          <a:p>
            <a:pPr marL="0" indent="0">
              <a:lnSpc>
                <a:spcPct val="80000"/>
              </a:lnSpc>
              <a:buFontTx/>
              <a:buNone/>
            </a:pPr>
            <a:endParaRPr lang="en-US" sz="2400" b="1"/>
          </a:p>
          <a:p>
            <a:pPr marL="0" indent="0">
              <a:lnSpc>
                <a:spcPct val="80000"/>
              </a:lnSpc>
              <a:buFontTx/>
              <a:buNone/>
            </a:pPr>
            <a:r>
              <a:rPr lang="en-US" sz="1800"/>
              <a:t>These are the criteria by which the transformations within the system are judged:</a:t>
            </a:r>
            <a:br>
              <a:rPr lang="en-US" sz="1800"/>
            </a:br>
            <a:endParaRPr lang="en-US" sz="1800"/>
          </a:p>
          <a:p>
            <a:pPr marL="0" indent="0">
              <a:lnSpc>
                <a:spcPct val="80000"/>
              </a:lnSpc>
            </a:pPr>
            <a:r>
              <a:rPr lang="en-US" sz="1800"/>
              <a:t>Efficacy - does the means employed work? </a:t>
            </a:r>
          </a:p>
          <a:p>
            <a:pPr marL="0" indent="0">
              <a:lnSpc>
                <a:spcPct val="80000"/>
              </a:lnSpc>
            </a:pPr>
            <a:r>
              <a:rPr lang="en-US" sz="1800"/>
              <a:t>Efficiency - is resource use minimised? </a:t>
            </a:r>
          </a:p>
          <a:p>
            <a:pPr marL="0" indent="0">
              <a:lnSpc>
                <a:spcPct val="80000"/>
              </a:lnSpc>
            </a:pPr>
            <a:r>
              <a:rPr lang="en-US" sz="1800"/>
              <a:t>Effectiveness - does the transformation help to attain the long term goals? </a:t>
            </a:r>
          </a:p>
          <a:p>
            <a:pPr marL="0" indent="0">
              <a:lnSpc>
                <a:spcPct val="80000"/>
              </a:lnSpc>
            </a:pPr>
            <a:r>
              <a:rPr lang="en-US" sz="1800"/>
              <a:t>Ethicality - is the transformation a moral thing to do? </a:t>
            </a:r>
          </a:p>
          <a:p>
            <a:pPr marL="0" indent="0">
              <a:lnSpc>
                <a:spcPct val="80000"/>
              </a:lnSpc>
            </a:pPr>
            <a:r>
              <a:rPr lang="en-US" sz="1800"/>
              <a:t>Elegance - is the transformation performed aesthetically? </a:t>
            </a:r>
          </a:p>
          <a:p>
            <a:pPr marL="0" indent="0">
              <a:lnSpc>
                <a:spcPct val="80000"/>
              </a:lnSpc>
            </a:pPr>
            <a:endParaRPr 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457200" y="476250"/>
            <a:ext cx="8229600" cy="5580063"/>
          </a:xfrm>
        </p:spPr>
        <p:txBody>
          <a:bodyPr/>
          <a:lstStyle/>
          <a:p>
            <a:pPr marL="0" indent="0">
              <a:lnSpc>
                <a:spcPct val="80000"/>
              </a:lnSpc>
              <a:buFontTx/>
              <a:buNone/>
            </a:pPr>
            <a:r>
              <a:rPr lang="en-US" sz="2400" b="1"/>
              <a:t>7.  Comparison</a:t>
            </a:r>
            <a:br>
              <a:rPr lang="en-US" sz="2400" b="1"/>
            </a:br>
            <a:endParaRPr lang="en-US" sz="2400" b="1"/>
          </a:p>
          <a:p>
            <a:pPr marL="0" indent="0">
              <a:lnSpc>
                <a:spcPct val="80000"/>
              </a:lnSpc>
              <a:buFontTx/>
              <a:buNone/>
            </a:pPr>
            <a:r>
              <a:rPr lang="en-US" sz="2000"/>
              <a:t>It is important to note that the conceptual model produced is a theoretical construct - it does not represent the existing or potential structure of the organisation. A process of comparison or testing is required to link the conceptual model back to the real world. It is this process of testing which will raise issues and imply subsequent action.</a:t>
            </a:r>
            <a:br>
              <a:rPr lang="en-US" sz="2000"/>
            </a:br>
            <a:endParaRPr lang="en-US" sz="2000"/>
          </a:p>
          <a:p>
            <a:pPr marL="0" indent="0">
              <a:lnSpc>
                <a:spcPct val="80000"/>
              </a:lnSpc>
              <a:buFontTx/>
              <a:buNone/>
            </a:pPr>
            <a:r>
              <a:rPr lang="en-US" sz="1800"/>
              <a:t>Methods for comparison:</a:t>
            </a:r>
            <a:br>
              <a:rPr lang="en-US" sz="1800"/>
            </a:br>
            <a:endParaRPr lang="en-US" sz="1800"/>
          </a:p>
          <a:p>
            <a:pPr marL="0" indent="0">
              <a:lnSpc>
                <a:spcPct val="80000"/>
              </a:lnSpc>
            </a:pPr>
            <a:r>
              <a:rPr lang="en-US" sz="1800"/>
              <a:t>General discussion and observation: first impressions of disparities </a:t>
            </a:r>
          </a:p>
          <a:p>
            <a:pPr marL="0" indent="0">
              <a:lnSpc>
                <a:spcPct val="80000"/>
              </a:lnSpc>
            </a:pPr>
            <a:r>
              <a:rPr lang="en-US" sz="1800"/>
              <a:t>Question generation: the model could be used to generate a series of focused questions: does the activity exist? Would it be useful? etc. Issues of: how can its performance be measured? Effectiveness? Efficiency? </a:t>
            </a:r>
          </a:p>
          <a:p>
            <a:pPr marL="0" indent="0">
              <a:lnSpc>
                <a:spcPct val="80000"/>
              </a:lnSpc>
            </a:pPr>
            <a:r>
              <a:rPr lang="en-US" sz="1800"/>
              <a:t>Testing in practice: comparing what happens on a day to day basis in carrying out activities. </a:t>
            </a:r>
          </a:p>
          <a:p>
            <a:pPr marL="0" indent="0">
              <a:lnSpc>
                <a:spcPct val="80000"/>
              </a:lnSpc>
            </a:pPr>
            <a:r>
              <a:rPr lang="en-US" sz="1800"/>
              <a:t>Model overlay: comparison between the conceptual model and the model implied by the organisation. </a:t>
            </a:r>
          </a:p>
          <a:p>
            <a:pPr marL="0" indent="0">
              <a:lnSpc>
                <a:spcPct val="80000"/>
              </a:lnSpc>
            </a:pPr>
            <a:endParaRPr lang="en-US"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457200" y="692150"/>
            <a:ext cx="8229600" cy="5364163"/>
          </a:xfrm>
        </p:spPr>
        <p:txBody>
          <a:bodyPr/>
          <a:lstStyle/>
          <a:p>
            <a:pPr marL="0" indent="0">
              <a:buFontTx/>
              <a:buNone/>
            </a:pPr>
            <a:r>
              <a:rPr lang="en-US" sz="2800" b="1"/>
              <a:t>8. Action</a:t>
            </a:r>
            <a:br>
              <a:rPr lang="en-US" sz="2800" b="1"/>
            </a:br>
            <a:endParaRPr lang="en-US" sz="2400" b="1"/>
          </a:p>
          <a:p>
            <a:pPr marL="0" indent="0">
              <a:buFontTx/>
              <a:buNone/>
            </a:pPr>
            <a:r>
              <a:rPr lang="en-US" sz="2000"/>
              <a:t>Issues raised in testing should be addressed and actions which bring improvements should be identified and implemented. This could necessitate changes to structure, procedures and attitudes. Proposals should then be drawn up stating what should be done and how :</a:t>
            </a:r>
            <a:br>
              <a:rPr lang="en-US" sz="2000"/>
            </a:br>
            <a:endParaRPr lang="en-US" sz="2000"/>
          </a:p>
          <a:p>
            <a:pPr marL="0" indent="0"/>
            <a:r>
              <a:rPr lang="en-US" sz="1800"/>
              <a:t>decide what needs to be done, stating clearly the aim or objective </a:t>
            </a:r>
          </a:p>
          <a:p>
            <a:pPr marL="0" indent="0"/>
            <a:r>
              <a:rPr lang="en-US" sz="1800"/>
              <a:t>determine alternative ways of achieving the objective </a:t>
            </a:r>
          </a:p>
          <a:p>
            <a:pPr marL="0" indent="0"/>
            <a:r>
              <a:rPr lang="en-US" sz="1800"/>
              <a:t>appraise the costs of each alternative </a:t>
            </a:r>
          </a:p>
          <a:p>
            <a:pPr marL="0" indent="0"/>
            <a:r>
              <a:rPr lang="en-US" sz="1800"/>
              <a:t>build a model (if required) of the different alternatives, and test each model under different conditions </a:t>
            </a:r>
          </a:p>
          <a:p>
            <a:pPr marL="0" indent="0"/>
            <a:r>
              <a:rPr lang="en-US" sz="1800"/>
              <a:t>decide, on the basis of pre-defined criteria, the preferred or optimal alternative. </a:t>
            </a:r>
          </a:p>
          <a:p>
            <a:pPr marL="0" indent="0"/>
            <a:endParaRPr lang="en-US" sz="18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210</TotalTime>
  <Words>1188</Words>
  <Application>Microsoft Office PowerPoint</Application>
  <PresentationFormat>On-screen Show (4:3)</PresentationFormat>
  <Paragraphs>135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Verdana</vt:lpstr>
      <vt:lpstr>Aspect</vt:lpstr>
      <vt:lpstr>Slide 1</vt:lpstr>
      <vt:lpstr>Slide 2</vt:lpstr>
      <vt:lpstr>Slide 3</vt:lpstr>
      <vt:lpstr>Slide 4</vt:lpstr>
      <vt:lpstr>The PESTEL framework   Categorises environmental influences into six main types: political, economic, social, technological, environmental and legal</vt:lpstr>
      <vt:lpstr>The PESTEL framework</vt:lpstr>
      <vt:lpstr>Slide 7</vt:lpstr>
      <vt:lpstr>Slide 8</vt:lpstr>
      <vt:lpstr>Slide 9</vt:lpstr>
      <vt:lpstr>Slide 10</vt:lpstr>
      <vt:lpstr>Slide 11</vt:lpstr>
      <vt:lpstr>Slide 12</vt:lpstr>
      <vt:lpstr>Slide 13</vt:lpstr>
      <vt:lpstr>Slide 14</vt:lpstr>
      <vt:lpstr>Slide 15</vt:lpstr>
    </vt:vector>
  </TitlesOfParts>
  <Company>HUMA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PESTEL framework  Categorises environmental influences into six main types: political, economic, social, technological, environmental and legal</dc:title>
  <dc:creator>diyar</dc:creator>
  <cp:lastModifiedBy>JEFF</cp:lastModifiedBy>
  <cp:revision>6</cp:revision>
  <dcterms:created xsi:type="dcterms:W3CDTF">2003-03-26T04:07:09Z</dcterms:created>
  <dcterms:modified xsi:type="dcterms:W3CDTF">2010-02-15T14:47:19Z</dcterms:modified>
</cp:coreProperties>
</file>
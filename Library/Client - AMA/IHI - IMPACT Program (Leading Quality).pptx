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8"/>
  </p:notesMasterIdLst>
  <p:handoutMasterIdLst>
    <p:handoutMasterId r:id="rId29"/>
  </p:handoutMasterIdLst>
  <p:sldIdLst>
    <p:sldId id="258" r:id="rId2"/>
    <p:sldId id="274" r:id="rId3"/>
    <p:sldId id="267" r:id="rId4"/>
    <p:sldId id="275" r:id="rId5"/>
    <p:sldId id="276" r:id="rId6"/>
    <p:sldId id="300" r:id="rId7"/>
    <p:sldId id="299" r:id="rId8"/>
    <p:sldId id="309" r:id="rId9"/>
    <p:sldId id="268" r:id="rId10"/>
    <p:sldId id="281" r:id="rId11"/>
    <p:sldId id="259" r:id="rId12"/>
    <p:sldId id="269" r:id="rId13"/>
    <p:sldId id="271" r:id="rId14"/>
    <p:sldId id="270" r:id="rId15"/>
    <p:sldId id="272" r:id="rId16"/>
    <p:sldId id="273" r:id="rId17"/>
    <p:sldId id="283" r:id="rId18"/>
    <p:sldId id="282" r:id="rId19"/>
    <p:sldId id="262" r:id="rId20"/>
    <p:sldId id="301" r:id="rId21"/>
    <p:sldId id="294" r:id="rId22"/>
    <p:sldId id="307" r:id="rId23"/>
    <p:sldId id="306" r:id="rId24"/>
    <p:sldId id="304" r:id="rId25"/>
    <p:sldId id="303" r:id="rId26"/>
    <p:sldId id="308"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3300"/>
    <a:srgbClr val="0B0B0B"/>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66" autoAdjust="0"/>
    <p:restoredTop sz="94698" autoAdjust="0"/>
  </p:normalViewPr>
  <p:slideViewPr>
    <p:cSldViewPr>
      <p:cViewPr varScale="1">
        <p:scale>
          <a:sx n="70" d="100"/>
          <a:sy n="70" d="100"/>
        </p:scale>
        <p:origin x="-1248" y="-108"/>
      </p:cViewPr>
      <p:guideLst>
        <p:guide orient="horz" pos="2160"/>
        <p:guide pos="2880"/>
      </p:guideLst>
    </p:cSldViewPr>
  </p:slideViewPr>
  <p:notesTextViewPr>
    <p:cViewPr>
      <p:scale>
        <a:sx n="100" d="100"/>
        <a:sy n="100" d="100"/>
      </p:scale>
      <p:origin x="0" y="0"/>
    </p:cViewPr>
  </p:notesTextViewPr>
  <p:sorterViewPr>
    <p:cViewPr>
      <p:scale>
        <a:sx n="75" d="100"/>
        <a:sy n="75" d="100"/>
      </p:scale>
      <p:origin x="0" y="3576"/>
    </p:cViewPr>
  </p:sorterViewPr>
  <p:notesViewPr>
    <p:cSldViewPr>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2" name="Rectangle 8"/>
          <p:cNvSpPr>
            <a:spLocks noChangeArrowheads="1"/>
          </p:cNvSpPr>
          <p:nvPr/>
        </p:nvSpPr>
        <p:spPr bwMode="auto">
          <a:xfrm>
            <a:off x="14288" y="4338638"/>
            <a:ext cx="6858000" cy="0"/>
          </a:xfrm>
          <a:prstGeom prst="rect">
            <a:avLst/>
          </a:prstGeom>
          <a:noFill/>
          <a:ln w="12700">
            <a:noFill/>
            <a:miter lim="800000"/>
            <a:headEnd type="none" w="sm" len="sm"/>
            <a:tailEnd type="none" w="sm" len="sm"/>
          </a:ln>
          <a:effectLst/>
        </p:spPr>
        <p:txBody>
          <a:bodyPr>
            <a:spAutoFit/>
          </a:bodyPr>
          <a:lstStyle/>
          <a:p>
            <a:endParaRPr lang="en-US"/>
          </a:p>
        </p:txBody>
      </p:sp>
      <p:sp>
        <p:nvSpPr>
          <p:cNvPr id="6153" name="Rectangle 9"/>
          <p:cNvSpPr>
            <a:spLocks noGrp="1" noChangeArrowheads="1"/>
          </p:cNvSpPr>
          <p:nvPr>
            <p:ph type="hdr" sz="quarter"/>
          </p:nvPr>
        </p:nvSpPr>
        <p:spPr bwMode="auto">
          <a:xfrm>
            <a:off x="0" y="76200"/>
            <a:ext cx="6858000" cy="685800"/>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atin typeface="Arial" charset="0"/>
              </a:defRPr>
            </a:lvl1pPr>
          </a:lstStyle>
          <a:p>
            <a:r>
              <a:rPr lang="en-US"/>
              <a:t>Institute for Healthcare Improvement</a:t>
            </a:r>
          </a:p>
          <a:p>
            <a:r>
              <a:rPr lang="en-US"/>
              <a:t>Standard Handout Template with Instructions</a:t>
            </a:r>
          </a:p>
          <a:p>
            <a:r>
              <a:rPr lang="en-US"/>
              <a:t>Last Updated 4/9/2003</a:t>
            </a:r>
          </a:p>
          <a:p>
            <a:endParaRPr lang="en-US"/>
          </a:p>
        </p:txBody>
      </p:sp>
      <p:sp>
        <p:nvSpPr>
          <p:cNvPr id="6155" name="Rectangle 11"/>
          <p:cNvSpPr>
            <a:spLocks noGrp="1" noChangeArrowheads="1"/>
          </p:cNvSpPr>
          <p:nvPr>
            <p:ph type="sldNum" sz="quarter" idx="3"/>
          </p:nvPr>
        </p:nvSpPr>
        <p:spPr bwMode="auto">
          <a:xfrm>
            <a:off x="6172200" y="8458200"/>
            <a:ext cx="457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fld id="{ED83B13B-2113-4BAF-A31E-6E59F45EAE6F}"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2291" name="Rectangle 1027"/>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2292" name="Rectangle 1028"/>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2293" name="Rectangle 1029"/>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294" name="Rectangle 1030"/>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2295" name="Rectangle 1031"/>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0B95108-DE10-4729-ADA2-4696D55C1397}"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0B95108-DE10-4729-ADA2-4696D55C139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4110B20-A223-4956-A912-1ABC990AB536}" type="slidenum">
              <a:rPr lang="en-US"/>
              <a:pPr/>
              <a:t>11</a:t>
            </a:fld>
            <a:endParaRPr lang="en-US"/>
          </a:p>
        </p:txBody>
      </p:sp>
      <p:sp>
        <p:nvSpPr>
          <p:cNvPr id="155650" name="Rectangle 2"/>
          <p:cNvSpPr>
            <a:spLocks noChangeArrowheads="1" noTextEdit="1"/>
          </p:cNvSpPr>
          <p:nvPr>
            <p:ph type="sldImg"/>
          </p:nvPr>
        </p:nvSpPr>
        <p:spPr>
          <a:ln/>
        </p:spPr>
      </p:sp>
      <p:sp>
        <p:nvSpPr>
          <p:cNvPr id="155651" name="Rectangle 3"/>
          <p:cNvSpPr>
            <a:spLocks noGrp="1" noChangeArrowheads="1"/>
          </p:cNvSpPr>
          <p:nvPr>
            <p:ph type="body" idx="1"/>
          </p:nvPr>
        </p:nvSpPr>
        <p:spPr/>
        <p:txBody>
          <a:bodyPr/>
          <a:lstStyle/>
          <a:p>
            <a:r>
              <a:rPr lang="en-US"/>
              <a:t>Ask a couple of hospitals to state their current mission/vision with respect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32E973F-9984-409D-A905-1621C167DAAF}" type="slidenum">
              <a:rPr lang="en-US"/>
              <a:pPr/>
              <a:t>14</a:t>
            </a:fld>
            <a:endParaRPr lang="en-US"/>
          </a:p>
        </p:txBody>
      </p:sp>
      <p:sp>
        <p:nvSpPr>
          <p:cNvPr id="137218" name="Rectangle 2"/>
          <p:cNvSpPr>
            <a:spLocks noChangeArrowheads="1" noTextEdit="1"/>
          </p:cNvSpPr>
          <p:nvPr>
            <p:ph type="sldImg"/>
          </p:nvPr>
        </p:nvSpPr>
        <p:spPr>
          <a:xfrm>
            <a:off x="1144588" y="685800"/>
            <a:ext cx="4572000" cy="3429000"/>
          </a:xfrm>
          <a:ln/>
        </p:spPr>
      </p:sp>
      <p:sp>
        <p:nvSpPr>
          <p:cNvPr id="137219" name="Rectangle 3"/>
          <p:cNvSpPr>
            <a:spLocks noGrp="1" noChangeArrowheads="1"/>
          </p:cNvSpPr>
          <p:nvPr>
            <p:ph type="body" idx="1"/>
          </p:nvPr>
        </p:nvSpPr>
        <p:spPr>
          <a:xfrm>
            <a:off x="685800" y="4343400"/>
            <a:ext cx="5486400" cy="4114800"/>
          </a:xfrm>
        </p:spPr>
        <p:txBody>
          <a:bodyPr/>
          <a:lstStyle/>
          <a:p>
            <a:r>
              <a:rPr lang="en-US"/>
              <a:t>Mom – 75 y.o. She and my dad have been married almost 53 years. Mother of 4.  Retired elementary school teacher.   She’s the kind of teacher that students remember their entire lives.  She is smart, confident, energetic.  Loves gardening, reading, quilting, crosswords.  Goes to low-impact aerobics.  She’s generally very healthy – high blood pressure, osteoarthritis. </a:t>
            </a:r>
          </a:p>
          <a:p>
            <a:endParaRPr lang="en-US"/>
          </a:p>
          <a:p>
            <a:r>
              <a:rPr lang="en-US"/>
              <a:t>Told us on Mother’s Day. “Do you think I should tell the kids what’s going on?”</a:t>
            </a:r>
          </a:p>
          <a:p>
            <a:r>
              <a:rPr lang="en-US"/>
              <a:t>Polycythemia Vera.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2F9DE8E6-EB68-41E9-9FB2-DF84BEF19C03}" type="slidenum">
              <a:rPr lang="en-US"/>
              <a:pPr/>
              <a:t>15</a:t>
            </a:fld>
            <a:endParaRPr lang="en-US"/>
          </a:p>
        </p:txBody>
      </p:sp>
      <p:sp>
        <p:nvSpPr>
          <p:cNvPr id="140290" name="Rectangle 2"/>
          <p:cNvSpPr>
            <a:spLocks noChangeArrowheads="1" noTextEdit="1"/>
          </p:cNvSpPr>
          <p:nvPr>
            <p:ph type="sldImg"/>
          </p:nvPr>
        </p:nvSpPr>
        <p:spPr>
          <a:xfrm>
            <a:off x="1144588" y="685800"/>
            <a:ext cx="4572000" cy="3429000"/>
          </a:xfrm>
          <a:ln/>
        </p:spPr>
      </p:sp>
      <p:sp>
        <p:nvSpPr>
          <p:cNvPr id="140291" name="Rectangle 3"/>
          <p:cNvSpPr>
            <a:spLocks noGrp="1" noChangeArrowheads="1"/>
          </p:cNvSpPr>
          <p:nvPr>
            <p:ph type="body" idx="1"/>
          </p:nvPr>
        </p:nvSpPr>
        <p:spPr>
          <a:xfrm>
            <a:off x="685800" y="4343400"/>
            <a:ext cx="5486400" cy="4114800"/>
          </a:xfrm>
        </p:spPr>
        <p:txBody>
          <a:bodyPr/>
          <a:lstStyle/>
          <a:p>
            <a:r>
              <a:rPr lang="en-US"/>
              <a:t>Introduce Don Video:  Every year at the National Forum, Don Berwick’s plenary address is a highlight.  His speeches are often very personal, and this is no exception.  As you watch the video,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23B4525-B792-4D3F-9AE0-A4E40E39EF04}" type="slidenum">
              <a:rPr lang="en-US"/>
              <a:pPr/>
              <a:t>16</a:t>
            </a:fld>
            <a:endParaRPr lang="en-US"/>
          </a:p>
        </p:txBody>
      </p:sp>
      <p:sp>
        <p:nvSpPr>
          <p:cNvPr id="142338" name="Rectangle 2"/>
          <p:cNvSpPr>
            <a:spLocks noChangeArrowheads="1" noTextEdit="1"/>
          </p:cNvSpPr>
          <p:nvPr>
            <p:ph type="sldImg"/>
          </p:nvPr>
        </p:nvSpPr>
        <p:spPr>
          <a:xfrm>
            <a:off x="1144588" y="685800"/>
            <a:ext cx="4572000" cy="3429000"/>
          </a:xfrm>
          <a:ln/>
        </p:spPr>
      </p:sp>
      <p:sp>
        <p:nvSpPr>
          <p:cNvPr id="142339" name="Rectangle 3"/>
          <p:cNvSpPr>
            <a:spLocks noGrp="1" noChangeArrowheads="1"/>
          </p:cNvSpPr>
          <p:nvPr>
            <p:ph type="body" idx="1"/>
          </p:nvPr>
        </p:nvSpPr>
        <p:spPr>
          <a:xfrm>
            <a:off x="685800" y="4343400"/>
            <a:ext cx="5486400" cy="4114800"/>
          </a:xfrm>
        </p:spPr>
        <p:txBody>
          <a:bodyPr/>
          <a:lstStyle/>
          <a:p>
            <a:r>
              <a:rPr lang="en-US"/>
              <a:t>I’ll give you about five minutes to think about a specific person and a specific situation – don’t generalize.</a:t>
            </a:r>
          </a:p>
          <a:p>
            <a:r>
              <a:rPr lang="en-US"/>
              <a:t>At your table have a couple of volunteers tell a bit about the person they chose.  You don’t HAVE to share any information about the person in your life, and you should definitely not share any information that you don’t feel comfortable about sharing.</a:t>
            </a:r>
          </a:p>
          <a:p>
            <a:endParaRPr lang="en-US"/>
          </a:p>
          <a:p>
            <a:r>
              <a:rPr lang="en-US"/>
              <a:t>Don’s videotape – Listen through the lens of the person you chose to reflect upon.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6D63E5E-2741-4D43-86C3-E5B54B96DED3}" type="slidenum">
              <a:rPr lang="en-US"/>
              <a:pPr/>
              <a:t>19</a:t>
            </a:fld>
            <a:endParaRPr lang="en-US"/>
          </a:p>
        </p:txBody>
      </p:sp>
      <p:sp>
        <p:nvSpPr>
          <p:cNvPr id="160770" name="Rectangle 2"/>
          <p:cNvSpPr>
            <a:spLocks noChangeArrowheads="1" noTextEdit="1"/>
          </p:cNvSpPr>
          <p:nvPr>
            <p:ph type="sldImg"/>
          </p:nvPr>
        </p:nvSpPr>
        <p:spPr>
          <a:ln/>
        </p:spPr>
      </p:sp>
      <p:sp>
        <p:nvSpPr>
          <p:cNvPr id="160771" name="Rectangle 3"/>
          <p:cNvSpPr>
            <a:spLocks noGrp="1" noChangeArrowheads="1"/>
          </p:cNvSpPr>
          <p:nvPr>
            <p:ph type="body" idx="1"/>
          </p:nvPr>
        </p:nvSpPr>
        <p:spPr/>
        <p:txBody>
          <a:bodyPr/>
          <a:lstStyle/>
          <a:p>
            <a:r>
              <a:rPr lang="en-US"/>
              <a:t>How many of these measures are measures of the “Big Dots” – </a:t>
            </a:r>
            <a:r>
              <a:rPr lang="en-US" b="1"/>
              <a:t>system level</a:t>
            </a:r>
            <a:r>
              <a:rPr lang="en-US"/>
              <a:t> measures of safety, effectiveness, patient-centeredness, timeliness, efficiency, equity?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2685235-8BCB-4760-A459-0692E2224C98}" type="slidenum">
              <a:rPr lang="en-US"/>
              <a:pPr/>
              <a:t>20</a:t>
            </a:fld>
            <a:endParaRPr lang="en-US"/>
          </a:p>
        </p:txBody>
      </p:sp>
      <p:sp>
        <p:nvSpPr>
          <p:cNvPr id="186370" name="Rectangle 2"/>
          <p:cNvSpPr>
            <a:spLocks noChangeArrowheads="1" noTextEdit="1"/>
          </p:cNvSpPr>
          <p:nvPr>
            <p:ph type="sldImg"/>
          </p:nvPr>
        </p:nvSpPr>
        <p:spPr>
          <a:xfrm>
            <a:off x="1147763" y="687388"/>
            <a:ext cx="4568825" cy="3425825"/>
          </a:xfrm>
          <a:ln/>
        </p:spPr>
      </p:sp>
      <p:sp>
        <p:nvSpPr>
          <p:cNvPr id="186371" name="Rectangle 3"/>
          <p:cNvSpPr>
            <a:spLocks noGrp="1" noChangeArrowheads="1"/>
          </p:cNvSpPr>
          <p:nvPr>
            <p:ph type="body" idx="1"/>
          </p:nvPr>
        </p:nvSpPr>
        <p:spPr>
          <a:xfrm>
            <a:off x="898525" y="4341813"/>
            <a:ext cx="5059363" cy="4391025"/>
          </a:xfr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48C5EA9-23E7-4FD9-B5F1-4B80BC2A9872}" type="slidenum">
              <a:rPr lang="en-US"/>
              <a:pPr/>
              <a:t>25</a:t>
            </a:fld>
            <a:endParaRPr lang="en-US"/>
          </a:p>
        </p:txBody>
      </p:sp>
      <p:sp>
        <p:nvSpPr>
          <p:cNvPr id="190466" name="Rectangle 2"/>
          <p:cNvSpPr>
            <a:spLocks noChangeArrowheads="1" noTextEdit="1"/>
          </p:cNvSpPr>
          <p:nvPr>
            <p:ph type="sldImg"/>
          </p:nvPr>
        </p:nvSpPr>
        <p:spPr>
          <a:xfrm>
            <a:off x="1147763" y="687388"/>
            <a:ext cx="4568825" cy="3425825"/>
          </a:xfrm>
          <a:ln/>
        </p:spPr>
      </p:sp>
      <p:sp>
        <p:nvSpPr>
          <p:cNvPr id="190467" name="Rectangle 3"/>
          <p:cNvSpPr>
            <a:spLocks noGrp="1" noChangeArrowheads="1"/>
          </p:cNvSpPr>
          <p:nvPr>
            <p:ph type="body" idx="1"/>
          </p:nvPr>
        </p:nvSpPr>
        <p:spPr>
          <a:xfrm>
            <a:off x="898525" y="4341813"/>
            <a:ext cx="5059363" cy="4391025"/>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9588" y="1981200"/>
            <a:ext cx="392747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89463" y="1981200"/>
            <a:ext cx="39290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8275" y="609600"/>
            <a:ext cx="2001838"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9588" y="609600"/>
            <a:ext cx="5856287"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728788" y="609600"/>
            <a:ext cx="6791325"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509588" y="1981200"/>
            <a:ext cx="8008937" cy="4114800"/>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728788" y="609600"/>
            <a:ext cx="6791325"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509588" y="1981200"/>
            <a:ext cx="8008937" cy="4114800"/>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20000"/>
                <a:invGamma/>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1728788" y="609600"/>
            <a:ext cx="6791325" cy="1143000"/>
          </a:xfrm>
          <a:prstGeom prst="rect">
            <a:avLst/>
          </a:prstGeom>
          <a:noFill/>
          <a:ln w="12700">
            <a:noFill/>
            <a:miter lim="800000"/>
            <a:headEnd/>
            <a:tailEnd/>
          </a:ln>
          <a:effectLst/>
        </p:spPr>
        <p:txBody>
          <a:bodyPr vert="horz" wrap="square" lIns="90488" tIns="44450" rIns="90488" bIns="4445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509588" y="1981200"/>
            <a:ext cx="8008937"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1"/>
            <a:r>
              <a:rPr lang="en-US" smtClean="0"/>
              <a:t>Click to edit Master text styles</a:t>
            </a:r>
          </a:p>
          <a:p>
            <a:pPr lvl="2"/>
            <a:r>
              <a:rPr lang="en-US" smtClean="0"/>
              <a:t>Second level</a:t>
            </a:r>
          </a:p>
          <a:p>
            <a:pPr lvl="3"/>
            <a:r>
              <a:rPr lang="en-US" smtClean="0"/>
              <a:t>Third level</a:t>
            </a:r>
          </a:p>
        </p:txBody>
      </p:sp>
      <p:pic>
        <p:nvPicPr>
          <p:cNvPr id="4100" name="Picture 4"/>
          <p:cNvPicPr>
            <a:picLocks noChangeArrowheads="1"/>
          </p:cNvPicPr>
          <p:nvPr/>
        </p:nvPicPr>
        <p:blipFill>
          <a:blip r:embed="rId15" cstate="print"/>
          <a:srcRect b="45074"/>
          <a:stretch>
            <a:fillRect/>
          </a:stretch>
        </p:blipFill>
        <p:spPr bwMode="auto">
          <a:xfrm>
            <a:off x="514350" y="587375"/>
            <a:ext cx="1130300" cy="1168400"/>
          </a:xfrm>
          <a:prstGeom prst="rect">
            <a:avLst/>
          </a:prstGeom>
          <a:noFill/>
          <a:ln w="12700">
            <a:solidFill>
              <a:schemeClr val="tx2"/>
            </a:solidFill>
            <a:miter lim="800000"/>
            <a:headEnd/>
            <a:tailEnd/>
          </a:ln>
          <a:effectLst/>
        </p:spPr>
      </p:pic>
      <p:sp>
        <p:nvSpPr>
          <p:cNvPr id="4101" name="Text Box 5"/>
          <p:cNvSpPr txBox="1">
            <a:spLocks noChangeArrowheads="1"/>
          </p:cNvSpPr>
          <p:nvPr/>
        </p:nvSpPr>
        <p:spPr bwMode="auto">
          <a:xfrm>
            <a:off x="5791200" y="6400800"/>
            <a:ext cx="3200400" cy="274638"/>
          </a:xfrm>
          <a:prstGeom prst="rect">
            <a:avLst/>
          </a:prstGeom>
          <a:noFill/>
          <a:ln w="12700">
            <a:noFill/>
            <a:miter lim="800000"/>
            <a:headEnd/>
            <a:tailEnd/>
          </a:ln>
          <a:effectLst/>
        </p:spPr>
        <p:txBody>
          <a:bodyPr>
            <a:spAutoFit/>
          </a:bodyPr>
          <a:lstStyle/>
          <a:p>
            <a:pPr>
              <a:spcBef>
                <a:spcPct val="50000"/>
              </a:spcBef>
            </a:pPr>
            <a:r>
              <a:rPr lang="en-US" sz="1200">
                <a:latin typeface="Arial" charset="0"/>
              </a:rPr>
              <a:t>© 2004 Institute for Healthcare Improvement</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xStyles>
    <p:titleStyle>
      <a:lvl1pPr algn="l" rtl="0" eaLnBrk="0" fontAlgn="base" hangingPunct="0">
        <a:spcBef>
          <a:spcPct val="0"/>
        </a:spcBef>
        <a:spcAft>
          <a:spcPct val="0"/>
        </a:spcAft>
        <a:defRPr sz="4000" b="1">
          <a:solidFill>
            <a:schemeClr val="tx2"/>
          </a:solidFill>
          <a:latin typeface="+mj-lt"/>
          <a:ea typeface="+mj-ea"/>
          <a:cs typeface="+mj-cs"/>
        </a:defRPr>
      </a:lvl1pPr>
      <a:lvl2pPr algn="l" rtl="0" eaLnBrk="0" fontAlgn="base" hangingPunct="0">
        <a:spcBef>
          <a:spcPct val="0"/>
        </a:spcBef>
        <a:spcAft>
          <a:spcPct val="0"/>
        </a:spcAft>
        <a:defRPr sz="4000" b="1">
          <a:solidFill>
            <a:schemeClr val="tx2"/>
          </a:solidFill>
          <a:latin typeface="Arial" charset="0"/>
        </a:defRPr>
      </a:lvl2pPr>
      <a:lvl3pPr algn="l" rtl="0" eaLnBrk="0" fontAlgn="base" hangingPunct="0">
        <a:spcBef>
          <a:spcPct val="0"/>
        </a:spcBef>
        <a:spcAft>
          <a:spcPct val="0"/>
        </a:spcAft>
        <a:defRPr sz="4000" b="1">
          <a:solidFill>
            <a:schemeClr val="tx2"/>
          </a:solidFill>
          <a:latin typeface="Arial" charset="0"/>
        </a:defRPr>
      </a:lvl3pPr>
      <a:lvl4pPr algn="l" rtl="0" eaLnBrk="0" fontAlgn="base" hangingPunct="0">
        <a:spcBef>
          <a:spcPct val="0"/>
        </a:spcBef>
        <a:spcAft>
          <a:spcPct val="0"/>
        </a:spcAft>
        <a:defRPr sz="4000" b="1">
          <a:solidFill>
            <a:schemeClr val="tx2"/>
          </a:solidFill>
          <a:latin typeface="Arial" charset="0"/>
        </a:defRPr>
      </a:lvl4pPr>
      <a:lvl5pPr algn="l" rtl="0" eaLnBrk="0" fontAlgn="base" hangingPunct="0">
        <a:spcBef>
          <a:spcPct val="0"/>
        </a:spcBef>
        <a:spcAft>
          <a:spcPct val="0"/>
        </a:spcAft>
        <a:defRPr sz="4000" b="1">
          <a:solidFill>
            <a:schemeClr val="tx2"/>
          </a:solidFill>
          <a:latin typeface="Arial" charset="0"/>
        </a:defRPr>
      </a:lvl5pPr>
      <a:lvl6pPr marL="457200" algn="l" rtl="0" eaLnBrk="0" fontAlgn="base" hangingPunct="0">
        <a:spcBef>
          <a:spcPct val="0"/>
        </a:spcBef>
        <a:spcAft>
          <a:spcPct val="0"/>
        </a:spcAft>
        <a:defRPr sz="4000" b="1">
          <a:solidFill>
            <a:schemeClr val="tx2"/>
          </a:solidFill>
          <a:latin typeface="Arial" charset="0"/>
        </a:defRPr>
      </a:lvl6pPr>
      <a:lvl7pPr marL="914400" algn="l" rtl="0" eaLnBrk="0" fontAlgn="base" hangingPunct="0">
        <a:spcBef>
          <a:spcPct val="0"/>
        </a:spcBef>
        <a:spcAft>
          <a:spcPct val="0"/>
        </a:spcAft>
        <a:defRPr sz="4000" b="1">
          <a:solidFill>
            <a:schemeClr val="tx2"/>
          </a:solidFill>
          <a:latin typeface="Arial" charset="0"/>
        </a:defRPr>
      </a:lvl7pPr>
      <a:lvl8pPr marL="1371600" algn="l" rtl="0" eaLnBrk="0" fontAlgn="base" hangingPunct="0">
        <a:spcBef>
          <a:spcPct val="0"/>
        </a:spcBef>
        <a:spcAft>
          <a:spcPct val="0"/>
        </a:spcAft>
        <a:defRPr sz="4000" b="1">
          <a:solidFill>
            <a:schemeClr val="tx2"/>
          </a:solidFill>
          <a:latin typeface="Arial" charset="0"/>
        </a:defRPr>
      </a:lvl8pPr>
      <a:lvl9pPr marL="1828800" algn="l" rtl="0" eaLnBrk="0" fontAlgn="base" hangingPunct="0">
        <a:spcBef>
          <a:spcPct val="0"/>
        </a:spcBef>
        <a:spcAft>
          <a:spcPct val="0"/>
        </a:spcAft>
        <a:defRPr sz="4000" b="1">
          <a:solidFill>
            <a:schemeClr val="tx2"/>
          </a:solidFill>
          <a:latin typeface="Arial" charset="0"/>
        </a:defRPr>
      </a:lvl9pPr>
    </p:titleStyle>
    <p:bodyStyle>
      <a:lvl1pPr marL="342900" indent="-342900" algn="l" rtl="0" eaLnBrk="0" fontAlgn="base" hangingPunct="0">
        <a:spcBef>
          <a:spcPct val="20000"/>
        </a:spcBef>
        <a:spcAft>
          <a:spcPct val="0"/>
        </a:spcAft>
        <a:buSzPct val="100000"/>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3400">
          <a:solidFill>
            <a:schemeClr val="tx1"/>
          </a:solidFill>
          <a:latin typeface="+mn-lt"/>
        </a:defRPr>
      </a:lvl2pPr>
      <a:lvl3pPr marL="1143000" indent="-228600" algn="l" rtl="0" eaLnBrk="0" fontAlgn="base" hangingPunct="0">
        <a:spcBef>
          <a:spcPct val="20000"/>
        </a:spcBef>
        <a:spcAft>
          <a:spcPct val="0"/>
        </a:spcAft>
        <a:buSzPct val="100000"/>
        <a:buFont typeface="Wingdings" pitchFamily="2" charset="2"/>
        <a:buChar char="§"/>
        <a:defRPr sz="3000">
          <a:solidFill>
            <a:schemeClr val="tx1"/>
          </a:solidFill>
          <a:latin typeface="+mn-lt"/>
        </a:defRPr>
      </a:lvl3pPr>
      <a:lvl4pPr marL="1600200" indent="-228600" algn="l" rtl="0" eaLnBrk="0" fontAlgn="base" hangingPunct="0">
        <a:spcBef>
          <a:spcPct val="20000"/>
        </a:spcBef>
        <a:spcAft>
          <a:spcPct val="0"/>
        </a:spcAft>
        <a:buChar char="–"/>
        <a:defRPr sz="26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5"/>
          <p:cNvSpPr>
            <a:spLocks noGrp="1" noChangeArrowheads="1"/>
          </p:cNvSpPr>
          <p:nvPr>
            <p:ph type="ctrTitle"/>
          </p:nvPr>
        </p:nvSpPr>
        <p:spPr>
          <a:xfrm>
            <a:off x="685800" y="2286000"/>
            <a:ext cx="7772400" cy="1143000"/>
          </a:xfrm>
        </p:spPr>
        <p:txBody>
          <a:bodyPr/>
          <a:lstStyle/>
          <a:p>
            <a:pPr algn="ctr"/>
            <a:r>
              <a:rPr lang="en-US" sz="4400"/>
              <a:t>Leading Quality: </a:t>
            </a:r>
            <a:br>
              <a:rPr lang="en-US" sz="4400"/>
            </a:br>
            <a:r>
              <a:rPr lang="en-US" sz="4400"/>
              <a:t>Thoughts for Trustees and Other Leaders</a:t>
            </a:r>
            <a:br>
              <a:rPr lang="en-US" sz="4400"/>
            </a:br>
            <a:endParaRPr lang="en-US"/>
          </a:p>
        </p:txBody>
      </p:sp>
      <p:sp>
        <p:nvSpPr>
          <p:cNvPr id="5126" name="Rectangle 6"/>
          <p:cNvSpPr>
            <a:spLocks noGrp="1" noChangeArrowheads="1"/>
          </p:cNvSpPr>
          <p:nvPr>
            <p:ph type="subTitle" idx="1"/>
          </p:nvPr>
        </p:nvSpPr>
        <p:spPr>
          <a:xfrm>
            <a:off x="914400" y="3886200"/>
            <a:ext cx="7315200" cy="1752600"/>
          </a:xfrm>
        </p:spPr>
        <p:txBody>
          <a:bodyPr/>
          <a:lstStyle/>
          <a:p>
            <a:r>
              <a:rPr lang="en-US"/>
              <a:t>Carol Beasley, Vice President Director IMPACT Network</a:t>
            </a:r>
            <a:br>
              <a:rPr lang="en-US"/>
            </a:br>
            <a:r>
              <a:rPr lang="en-US"/>
              <a:t>Institute for Healthcare Improvement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Overview</a:t>
            </a:r>
          </a:p>
        </p:txBody>
      </p:sp>
      <p:sp>
        <p:nvSpPr>
          <p:cNvPr id="144387" name="Rectangle 3"/>
          <p:cNvSpPr>
            <a:spLocks noGrp="1" noChangeArrowheads="1"/>
          </p:cNvSpPr>
          <p:nvPr>
            <p:ph type="body" idx="1"/>
          </p:nvPr>
        </p:nvSpPr>
        <p:spPr/>
        <p:txBody>
          <a:bodyPr/>
          <a:lstStyle/>
          <a:p>
            <a:r>
              <a:rPr lang="en-US"/>
              <a:t>Introduction to IHI and IMPACT</a:t>
            </a:r>
          </a:p>
          <a:p>
            <a:r>
              <a:rPr lang="en-US"/>
              <a:t>Framework for Trustee role in quality</a:t>
            </a:r>
          </a:p>
          <a:p>
            <a:pPr lvl="1"/>
            <a:r>
              <a:rPr lang="en-US"/>
              <a:t>Inquiry: What do our communities expect?</a:t>
            </a:r>
          </a:p>
          <a:p>
            <a:pPr lvl="1"/>
            <a:r>
              <a:rPr lang="en-US"/>
              <a:t>Discussion:  Moving the “big dots”</a:t>
            </a:r>
          </a:p>
          <a:p>
            <a:endParaRPr lang="en-US"/>
          </a:p>
          <a:p>
            <a:pPr lvl="1"/>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p:cNvSpPr>
            <a:spLocks noGrp="1" noChangeArrowheads="1"/>
          </p:cNvSpPr>
          <p:nvPr>
            <p:ph type="title"/>
          </p:nvPr>
        </p:nvSpPr>
        <p:spPr/>
        <p:txBody>
          <a:bodyPr/>
          <a:lstStyle/>
          <a:p>
            <a:r>
              <a:rPr lang="en-US"/>
              <a:t>Evolution of IHI</a:t>
            </a:r>
          </a:p>
        </p:txBody>
      </p:sp>
      <p:sp>
        <p:nvSpPr>
          <p:cNvPr id="132101" name="Rectangle 5"/>
          <p:cNvSpPr>
            <a:spLocks noChangeArrowheads="1"/>
          </p:cNvSpPr>
          <p:nvPr/>
        </p:nvSpPr>
        <p:spPr bwMode="auto">
          <a:xfrm>
            <a:off x="914400" y="5410200"/>
            <a:ext cx="7315200" cy="685800"/>
          </a:xfrm>
          <a:prstGeom prst="rect">
            <a:avLst/>
          </a:prstGeom>
          <a:solidFill>
            <a:srgbClr val="FF9900"/>
          </a:solidFill>
          <a:ln w="12700">
            <a:solidFill>
              <a:srgbClr val="FF9900"/>
            </a:solidFill>
            <a:miter lim="800000"/>
            <a:headEnd type="none" w="sm" len="sm"/>
            <a:tailEnd type="none" w="sm" len="sm"/>
          </a:ln>
          <a:effectLst/>
        </p:spPr>
        <p:txBody>
          <a:bodyPr wrap="none" anchor="ctr"/>
          <a:lstStyle/>
          <a:p>
            <a:r>
              <a:rPr lang="en-US" sz="3200">
                <a:solidFill>
                  <a:schemeClr val="tx2"/>
                </a:solidFill>
                <a:latin typeface="Arial" charset="0"/>
              </a:rPr>
              <a:t>Awareness</a:t>
            </a:r>
          </a:p>
        </p:txBody>
      </p:sp>
      <p:sp>
        <p:nvSpPr>
          <p:cNvPr id="132102" name="Rectangle 6"/>
          <p:cNvSpPr>
            <a:spLocks noChangeArrowheads="1"/>
          </p:cNvSpPr>
          <p:nvPr/>
        </p:nvSpPr>
        <p:spPr bwMode="auto">
          <a:xfrm>
            <a:off x="4572000" y="1905000"/>
            <a:ext cx="3657600" cy="685800"/>
          </a:xfrm>
          <a:prstGeom prst="rect">
            <a:avLst/>
          </a:prstGeom>
          <a:solidFill>
            <a:srgbClr val="FF6600"/>
          </a:solidFill>
          <a:ln w="12700">
            <a:solidFill>
              <a:srgbClr val="FF6600"/>
            </a:solidFill>
            <a:miter lim="800000"/>
            <a:headEnd type="none" w="sm" len="sm"/>
            <a:tailEnd type="none" w="sm" len="sm"/>
          </a:ln>
          <a:effectLst/>
        </p:spPr>
        <p:txBody>
          <a:bodyPr wrap="none" anchor="ctr"/>
          <a:lstStyle/>
          <a:p>
            <a:r>
              <a:rPr lang="en-US" sz="3200">
                <a:solidFill>
                  <a:schemeClr val="tx2"/>
                </a:solidFill>
                <a:latin typeface="Arial" charset="0"/>
              </a:rPr>
              <a:t>Movement</a:t>
            </a:r>
          </a:p>
        </p:txBody>
      </p:sp>
      <p:sp>
        <p:nvSpPr>
          <p:cNvPr id="132103" name="Rectangle 7"/>
          <p:cNvSpPr>
            <a:spLocks noChangeArrowheads="1"/>
          </p:cNvSpPr>
          <p:nvPr/>
        </p:nvSpPr>
        <p:spPr bwMode="auto">
          <a:xfrm>
            <a:off x="3657600" y="2781300"/>
            <a:ext cx="4572000" cy="685800"/>
          </a:xfrm>
          <a:prstGeom prst="rect">
            <a:avLst/>
          </a:prstGeom>
          <a:solidFill>
            <a:srgbClr val="339966"/>
          </a:solidFill>
          <a:ln w="12700">
            <a:solidFill>
              <a:srgbClr val="339966"/>
            </a:solidFill>
            <a:miter lim="800000"/>
            <a:headEnd type="none" w="sm" len="sm"/>
            <a:tailEnd type="none" w="sm" len="sm"/>
          </a:ln>
          <a:effectLst/>
        </p:spPr>
        <p:txBody>
          <a:bodyPr wrap="none" anchor="ctr"/>
          <a:lstStyle/>
          <a:p>
            <a:r>
              <a:rPr lang="en-US" sz="3200">
                <a:solidFill>
                  <a:schemeClr val="tx2"/>
                </a:solidFill>
                <a:latin typeface="Arial" charset="0"/>
              </a:rPr>
              <a:t>Redesign</a:t>
            </a:r>
          </a:p>
        </p:txBody>
      </p:sp>
      <p:sp>
        <p:nvSpPr>
          <p:cNvPr id="132104" name="Rectangle 8"/>
          <p:cNvSpPr>
            <a:spLocks noChangeArrowheads="1"/>
          </p:cNvSpPr>
          <p:nvPr/>
        </p:nvSpPr>
        <p:spPr bwMode="auto">
          <a:xfrm>
            <a:off x="2743200" y="3657600"/>
            <a:ext cx="5486400" cy="685800"/>
          </a:xfrm>
          <a:prstGeom prst="rect">
            <a:avLst/>
          </a:prstGeom>
          <a:solidFill>
            <a:srgbClr val="CC99FF"/>
          </a:solidFill>
          <a:ln w="12700">
            <a:solidFill>
              <a:srgbClr val="CC99FF"/>
            </a:solidFill>
            <a:miter lim="800000"/>
            <a:headEnd type="none" w="sm" len="sm"/>
            <a:tailEnd type="none" w="sm" len="sm"/>
          </a:ln>
          <a:effectLst/>
        </p:spPr>
        <p:txBody>
          <a:bodyPr wrap="none" anchor="ctr"/>
          <a:lstStyle/>
          <a:p>
            <a:r>
              <a:rPr lang="en-US" sz="3200">
                <a:solidFill>
                  <a:schemeClr val="tx2"/>
                </a:solidFill>
                <a:latin typeface="Arial" charset="0"/>
              </a:rPr>
              <a:t>Collaborative Improvement</a:t>
            </a:r>
          </a:p>
        </p:txBody>
      </p:sp>
      <p:sp>
        <p:nvSpPr>
          <p:cNvPr id="132105" name="Rectangle 9"/>
          <p:cNvSpPr>
            <a:spLocks noChangeArrowheads="1"/>
          </p:cNvSpPr>
          <p:nvPr/>
        </p:nvSpPr>
        <p:spPr bwMode="auto">
          <a:xfrm>
            <a:off x="1828800" y="4533900"/>
            <a:ext cx="6400800" cy="685800"/>
          </a:xfrm>
          <a:prstGeom prst="rect">
            <a:avLst/>
          </a:prstGeom>
          <a:solidFill>
            <a:srgbClr val="3366FF"/>
          </a:solidFill>
          <a:ln w="12700">
            <a:solidFill>
              <a:srgbClr val="3366FF"/>
            </a:solidFill>
            <a:miter lim="800000"/>
            <a:headEnd type="none" w="sm" len="sm"/>
            <a:tailEnd type="none" w="sm" len="sm"/>
          </a:ln>
          <a:effectLst/>
        </p:spPr>
        <p:txBody>
          <a:bodyPr wrap="none" anchor="ctr"/>
          <a:lstStyle/>
          <a:p>
            <a:r>
              <a:rPr lang="en-US" sz="3200">
                <a:solidFill>
                  <a:schemeClr val="tx2"/>
                </a:solidFill>
                <a:latin typeface="Arial" charset="0"/>
              </a:rPr>
              <a:t>Education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t>Changing Health Care</a:t>
            </a:r>
          </a:p>
        </p:txBody>
      </p:sp>
      <p:sp>
        <p:nvSpPr>
          <p:cNvPr id="145411" name="Oval 3"/>
          <p:cNvSpPr>
            <a:spLocks noChangeArrowheads="1"/>
          </p:cNvSpPr>
          <p:nvPr/>
        </p:nvSpPr>
        <p:spPr bwMode="auto">
          <a:xfrm>
            <a:off x="2413000" y="1549400"/>
            <a:ext cx="4648200" cy="3276600"/>
          </a:xfrm>
          <a:prstGeom prst="ellipse">
            <a:avLst/>
          </a:prstGeom>
          <a:solidFill>
            <a:schemeClr val="accent1">
              <a:alpha val="60001"/>
            </a:schemeClr>
          </a:solidFill>
          <a:ln w="12700">
            <a:solidFill>
              <a:srgbClr val="000080"/>
            </a:solidFill>
            <a:round/>
            <a:headEnd/>
            <a:tailEnd/>
          </a:ln>
          <a:effectLst/>
        </p:spPr>
        <p:txBody>
          <a:bodyPr wrap="none" anchor="ctr"/>
          <a:lstStyle/>
          <a:p>
            <a:pPr algn="ctr"/>
            <a:endParaRPr lang="en-US">
              <a:latin typeface="Arial" charset="0"/>
            </a:endParaRPr>
          </a:p>
        </p:txBody>
      </p:sp>
      <p:sp>
        <p:nvSpPr>
          <p:cNvPr id="145412" name="Oval 4"/>
          <p:cNvSpPr>
            <a:spLocks noChangeArrowheads="1"/>
          </p:cNvSpPr>
          <p:nvPr/>
        </p:nvSpPr>
        <p:spPr bwMode="auto">
          <a:xfrm>
            <a:off x="1041400" y="2921000"/>
            <a:ext cx="4648200" cy="3429000"/>
          </a:xfrm>
          <a:prstGeom prst="ellipse">
            <a:avLst/>
          </a:prstGeom>
          <a:solidFill>
            <a:schemeClr val="tx1">
              <a:alpha val="60001"/>
            </a:schemeClr>
          </a:solidFill>
          <a:ln w="12700">
            <a:solidFill>
              <a:srgbClr val="333333"/>
            </a:solidFill>
            <a:round/>
            <a:headEnd/>
            <a:tailEnd/>
          </a:ln>
          <a:effectLst/>
        </p:spPr>
        <p:txBody>
          <a:bodyPr wrap="none" anchor="ctr"/>
          <a:lstStyle/>
          <a:p>
            <a:pPr algn="ctr"/>
            <a:endParaRPr lang="en-US">
              <a:latin typeface="Arial" charset="0"/>
            </a:endParaRPr>
          </a:p>
        </p:txBody>
      </p:sp>
      <p:sp>
        <p:nvSpPr>
          <p:cNvPr id="145413" name="Oval 5"/>
          <p:cNvSpPr>
            <a:spLocks noChangeArrowheads="1"/>
          </p:cNvSpPr>
          <p:nvPr/>
        </p:nvSpPr>
        <p:spPr bwMode="auto">
          <a:xfrm>
            <a:off x="3098800" y="3302000"/>
            <a:ext cx="4648200" cy="3276600"/>
          </a:xfrm>
          <a:prstGeom prst="ellipse">
            <a:avLst/>
          </a:prstGeom>
          <a:solidFill>
            <a:srgbClr val="FF0000">
              <a:alpha val="60001"/>
            </a:srgbClr>
          </a:solidFill>
          <a:ln w="12700">
            <a:solidFill>
              <a:srgbClr val="333333"/>
            </a:solidFill>
            <a:round/>
            <a:headEnd/>
            <a:tailEnd/>
          </a:ln>
          <a:effectLst/>
        </p:spPr>
        <p:txBody>
          <a:bodyPr wrap="none" anchor="ctr"/>
          <a:lstStyle/>
          <a:p>
            <a:pPr algn="ctr"/>
            <a:endParaRPr lang="en-US">
              <a:latin typeface="Arial" charset="0"/>
            </a:endParaRPr>
          </a:p>
        </p:txBody>
      </p:sp>
      <p:sp>
        <p:nvSpPr>
          <p:cNvPr id="145414" name="Text Box 6"/>
          <p:cNvSpPr txBox="1">
            <a:spLocks noChangeArrowheads="1"/>
          </p:cNvSpPr>
          <p:nvPr/>
        </p:nvSpPr>
        <p:spPr bwMode="auto">
          <a:xfrm>
            <a:off x="3784600" y="1930400"/>
            <a:ext cx="1741488" cy="457200"/>
          </a:xfrm>
          <a:prstGeom prst="rect">
            <a:avLst/>
          </a:prstGeom>
          <a:noFill/>
          <a:ln w="12700" algn="ctr">
            <a:noFill/>
            <a:miter lim="800000"/>
            <a:headEnd/>
            <a:tailEnd/>
          </a:ln>
          <a:effectLst/>
        </p:spPr>
        <p:txBody>
          <a:bodyPr wrap="none">
            <a:spAutoFit/>
          </a:bodyPr>
          <a:lstStyle/>
          <a:p>
            <a:pPr algn="ctr"/>
            <a:r>
              <a:rPr lang="en-US">
                <a:solidFill>
                  <a:schemeClr val="tx2"/>
                </a:solidFill>
                <a:latin typeface="Arial" charset="0"/>
              </a:rPr>
              <a:t>POLITICAL</a:t>
            </a:r>
          </a:p>
        </p:txBody>
      </p:sp>
      <p:sp>
        <p:nvSpPr>
          <p:cNvPr id="145415" name="Text Box 7"/>
          <p:cNvSpPr txBox="1">
            <a:spLocks noChangeArrowheads="1"/>
          </p:cNvSpPr>
          <p:nvPr/>
        </p:nvSpPr>
        <p:spPr bwMode="auto">
          <a:xfrm>
            <a:off x="5864225" y="4673600"/>
            <a:ext cx="1912938" cy="457200"/>
          </a:xfrm>
          <a:prstGeom prst="rect">
            <a:avLst/>
          </a:prstGeom>
          <a:noFill/>
          <a:ln w="12700" algn="ctr">
            <a:noFill/>
            <a:miter lim="800000"/>
            <a:headEnd/>
            <a:tailEnd/>
          </a:ln>
          <a:effectLst/>
        </p:spPr>
        <p:txBody>
          <a:bodyPr wrap="none">
            <a:spAutoFit/>
          </a:bodyPr>
          <a:lstStyle/>
          <a:p>
            <a:pPr algn="ctr"/>
            <a:r>
              <a:rPr lang="en-US">
                <a:solidFill>
                  <a:schemeClr val="tx2"/>
                </a:solidFill>
                <a:latin typeface="Arial" charset="0"/>
              </a:rPr>
              <a:t>TECHNICAL</a:t>
            </a:r>
          </a:p>
        </p:txBody>
      </p:sp>
      <p:sp>
        <p:nvSpPr>
          <p:cNvPr id="145416" name="Text Box 8"/>
          <p:cNvSpPr txBox="1">
            <a:spLocks noChangeArrowheads="1"/>
          </p:cNvSpPr>
          <p:nvPr/>
        </p:nvSpPr>
        <p:spPr bwMode="auto">
          <a:xfrm>
            <a:off x="1727200" y="4445000"/>
            <a:ext cx="1301750" cy="457200"/>
          </a:xfrm>
          <a:prstGeom prst="rect">
            <a:avLst/>
          </a:prstGeom>
          <a:noFill/>
          <a:ln w="12700" algn="ctr">
            <a:noFill/>
            <a:miter lim="800000"/>
            <a:headEnd/>
            <a:tailEnd/>
          </a:ln>
          <a:effectLst/>
        </p:spPr>
        <p:txBody>
          <a:bodyPr wrap="none">
            <a:spAutoFit/>
          </a:bodyPr>
          <a:lstStyle/>
          <a:p>
            <a:pPr algn="ctr"/>
            <a:r>
              <a:rPr lang="en-US">
                <a:solidFill>
                  <a:schemeClr val="tx2"/>
                </a:solidFill>
                <a:latin typeface="Arial" charset="0"/>
              </a:rPr>
              <a:t>SOCIAL</a:t>
            </a:r>
          </a:p>
        </p:txBody>
      </p:sp>
      <p:sp>
        <p:nvSpPr>
          <p:cNvPr id="145417" name="Text Box 9"/>
          <p:cNvSpPr txBox="1">
            <a:spLocks noChangeArrowheads="1"/>
          </p:cNvSpPr>
          <p:nvPr/>
        </p:nvSpPr>
        <p:spPr bwMode="auto">
          <a:xfrm>
            <a:off x="2489200" y="3302000"/>
            <a:ext cx="1565275" cy="701675"/>
          </a:xfrm>
          <a:prstGeom prst="rect">
            <a:avLst/>
          </a:prstGeom>
          <a:noFill/>
          <a:ln w="12700" algn="ctr">
            <a:noFill/>
            <a:miter lim="800000"/>
            <a:headEnd/>
            <a:tailEnd/>
          </a:ln>
          <a:effectLst/>
        </p:spPr>
        <p:txBody>
          <a:bodyPr wrap="none">
            <a:spAutoFit/>
          </a:bodyPr>
          <a:lstStyle/>
          <a:p>
            <a:pPr algn="ctr"/>
            <a:r>
              <a:rPr lang="en-US" sz="2000" b="1">
                <a:solidFill>
                  <a:srgbClr val="000000"/>
                </a:solidFill>
                <a:latin typeface="Arial" charset="0"/>
              </a:rPr>
              <a:t>“Old Boys’ </a:t>
            </a:r>
          </a:p>
          <a:p>
            <a:pPr algn="ctr"/>
            <a:r>
              <a:rPr lang="en-US" sz="2000" b="1">
                <a:solidFill>
                  <a:srgbClr val="000000"/>
                </a:solidFill>
                <a:latin typeface="Arial" charset="0"/>
              </a:rPr>
              <a:t>Club”</a:t>
            </a:r>
          </a:p>
        </p:txBody>
      </p:sp>
      <p:sp>
        <p:nvSpPr>
          <p:cNvPr id="145418" name="Text Box 10"/>
          <p:cNvSpPr txBox="1">
            <a:spLocks noChangeArrowheads="1"/>
          </p:cNvSpPr>
          <p:nvPr/>
        </p:nvSpPr>
        <p:spPr bwMode="auto">
          <a:xfrm>
            <a:off x="5156200" y="3378200"/>
            <a:ext cx="1752600" cy="396875"/>
          </a:xfrm>
          <a:prstGeom prst="rect">
            <a:avLst/>
          </a:prstGeom>
          <a:noFill/>
          <a:ln w="12700" algn="ctr">
            <a:noFill/>
            <a:miter lim="800000"/>
            <a:headEnd/>
            <a:tailEnd/>
          </a:ln>
          <a:effectLst/>
        </p:spPr>
        <p:txBody>
          <a:bodyPr wrap="none">
            <a:spAutoFit/>
          </a:bodyPr>
          <a:lstStyle/>
          <a:p>
            <a:pPr algn="ctr"/>
            <a:r>
              <a:rPr lang="en-US" sz="2000" b="1">
                <a:solidFill>
                  <a:srgbClr val="000000"/>
                </a:solidFill>
                <a:latin typeface="Arial" charset="0"/>
              </a:rPr>
              <a:t>Technocracy</a:t>
            </a:r>
          </a:p>
        </p:txBody>
      </p:sp>
      <p:sp>
        <p:nvSpPr>
          <p:cNvPr id="145419" name="Text Box 11"/>
          <p:cNvSpPr txBox="1">
            <a:spLocks noChangeArrowheads="1"/>
          </p:cNvSpPr>
          <p:nvPr/>
        </p:nvSpPr>
        <p:spPr bwMode="auto">
          <a:xfrm>
            <a:off x="3590925" y="5337175"/>
            <a:ext cx="1547813" cy="519113"/>
          </a:xfrm>
          <a:prstGeom prst="rect">
            <a:avLst/>
          </a:prstGeom>
          <a:noFill/>
          <a:ln w="12700" algn="ctr">
            <a:noFill/>
            <a:miter lim="800000"/>
            <a:headEnd/>
            <a:tailEnd/>
          </a:ln>
          <a:effectLst/>
        </p:spPr>
        <p:txBody>
          <a:bodyPr wrap="none">
            <a:spAutoFit/>
          </a:bodyPr>
          <a:lstStyle/>
          <a:p>
            <a:pPr algn="ctr"/>
            <a:r>
              <a:rPr lang="en-US" sz="2800" b="1">
                <a:solidFill>
                  <a:schemeClr val="tx2"/>
                </a:solidFill>
                <a:effectLst>
                  <a:outerShdw blurRad="38100" dist="38100" dir="2700000" algn="tl">
                    <a:srgbClr val="000000"/>
                  </a:outerShdw>
                </a:effectLst>
                <a:latin typeface="Arial" charset="0"/>
              </a:rPr>
              <a:t>IMPACT</a:t>
            </a:r>
          </a:p>
        </p:txBody>
      </p:sp>
      <p:sp>
        <p:nvSpPr>
          <p:cNvPr id="145420" name="WordArt 12"/>
          <p:cNvSpPr>
            <a:spLocks noChangeArrowheads="1" noChangeShapeType="1" noTextEdit="1"/>
          </p:cNvSpPr>
          <p:nvPr/>
        </p:nvSpPr>
        <p:spPr bwMode="auto">
          <a:xfrm rot="1928028">
            <a:off x="3708400" y="3378200"/>
            <a:ext cx="1295400" cy="1835150"/>
          </a:xfrm>
          <a:prstGeom prst="rect">
            <a:avLst/>
          </a:prstGeom>
        </p:spPr>
        <p:txBody>
          <a:bodyPr wrap="none" fromWordArt="1">
            <a:prstTxWarp prst="textSlantUp">
              <a:avLst>
                <a:gd name="adj" fmla="val 55556"/>
              </a:avLst>
            </a:prstTxWarp>
          </a:bodyPr>
          <a:lstStyle/>
          <a:p>
            <a:pPr algn="ctr"/>
            <a:r>
              <a:rPr lang="en-US" sz="3600" kern="10">
                <a:ln w="9525">
                  <a:solidFill>
                    <a:srgbClr val="003300"/>
                  </a:solidFill>
                  <a:round/>
                  <a:headEnd/>
                  <a:tailEnd/>
                </a:ln>
                <a:latin typeface="Arial Black"/>
              </a:rPr>
              <a:t>Productive</a:t>
            </a:r>
          </a:p>
          <a:p>
            <a:pPr algn="ctr"/>
            <a:r>
              <a:rPr lang="en-US" sz="3600" kern="10">
                <a:ln w="9525">
                  <a:solidFill>
                    <a:srgbClr val="003300"/>
                  </a:solidFill>
                  <a:round/>
                  <a:headEnd/>
                  <a:tailEnd/>
                </a:ln>
                <a:latin typeface="Arial Black"/>
              </a:rPr>
              <a:t> Change</a:t>
            </a:r>
          </a:p>
        </p:txBody>
      </p:sp>
      <p:sp>
        <p:nvSpPr>
          <p:cNvPr id="145421" name="AutoShape 13"/>
          <p:cNvSpPr>
            <a:spLocks noChangeArrowheads="1"/>
          </p:cNvSpPr>
          <p:nvPr/>
        </p:nvSpPr>
        <p:spPr bwMode="auto">
          <a:xfrm>
            <a:off x="4089400" y="4673600"/>
            <a:ext cx="609600" cy="762000"/>
          </a:xfrm>
          <a:prstGeom prst="upArrow">
            <a:avLst>
              <a:gd name="adj1" fmla="val 50000"/>
              <a:gd name="adj2" fmla="val 31250"/>
            </a:avLst>
          </a:prstGeom>
          <a:solidFill>
            <a:srgbClr val="FF00FF"/>
          </a:solidFill>
          <a:ln w="9525" algn="ctr">
            <a:noFill/>
            <a:miter lim="800000"/>
            <a:headEnd/>
            <a:tailEnd/>
          </a:ln>
          <a:effectLst/>
        </p:spPr>
        <p:txBody>
          <a:bodyPr anchor="ctr">
            <a:spAutoFit/>
          </a:bodyPr>
          <a:lstStyle/>
          <a:p>
            <a:endParaRPr lang="en-US"/>
          </a:p>
        </p:txBody>
      </p:sp>
      <p:sp>
        <p:nvSpPr>
          <p:cNvPr id="145422" name="AutoShape 14"/>
          <p:cNvSpPr>
            <a:spLocks noChangeArrowheads="1"/>
          </p:cNvSpPr>
          <p:nvPr/>
        </p:nvSpPr>
        <p:spPr bwMode="auto">
          <a:xfrm rot="6865449">
            <a:off x="2679700" y="4635500"/>
            <a:ext cx="609600" cy="1295400"/>
          </a:xfrm>
          <a:prstGeom prst="upArrow">
            <a:avLst>
              <a:gd name="adj1" fmla="val 50000"/>
              <a:gd name="adj2" fmla="val 53125"/>
            </a:avLst>
          </a:prstGeom>
          <a:solidFill>
            <a:srgbClr val="FF00FF"/>
          </a:solidFill>
          <a:ln w="9525" algn="ctr">
            <a:noFill/>
            <a:miter lim="800000"/>
            <a:headEnd/>
            <a:tailEnd/>
          </a:ln>
          <a:effectLst/>
        </p:spPr>
        <p:txBody>
          <a:bodyPr anchor="ctr">
            <a:spAutoFit/>
          </a:bodyPr>
          <a:lstStyle/>
          <a:p>
            <a:endParaRPr lang="en-US"/>
          </a:p>
        </p:txBody>
      </p:sp>
      <p:sp>
        <p:nvSpPr>
          <p:cNvPr id="145423" name="AutoShape 15"/>
          <p:cNvSpPr>
            <a:spLocks noChangeArrowheads="1"/>
          </p:cNvSpPr>
          <p:nvPr/>
        </p:nvSpPr>
        <p:spPr bwMode="auto">
          <a:xfrm rot="-28375602">
            <a:off x="5308600" y="4902200"/>
            <a:ext cx="533400" cy="990600"/>
          </a:xfrm>
          <a:prstGeom prst="upArrow">
            <a:avLst>
              <a:gd name="adj1" fmla="val 50000"/>
              <a:gd name="adj2" fmla="val 46429"/>
            </a:avLst>
          </a:prstGeom>
          <a:solidFill>
            <a:srgbClr val="FF00FF"/>
          </a:solidFill>
          <a:ln w="9525" algn="ctr">
            <a:noFill/>
            <a:miter lim="800000"/>
            <a:headEnd/>
            <a:tailEnd/>
          </a:ln>
          <a:effectLst/>
        </p:spPr>
        <p:txBody>
          <a:bodyPr anchor="ctr">
            <a:spAutoFit/>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ChangeArrowheads="1"/>
          </p:cNvSpPr>
          <p:nvPr/>
        </p:nvSpPr>
        <p:spPr bwMode="auto">
          <a:xfrm>
            <a:off x="3886200" y="3581400"/>
            <a:ext cx="1219200" cy="228600"/>
          </a:xfrm>
          <a:prstGeom prst="rect">
            <a:avLst/>
          </a:prstGeom>
          <a:solidFill>
            <a:srgbClr val="0000FF"/>
          </a:solidFill>
          <a:ln w="25400">
            <a:solidFill>
              <a:schemeClr val="tx1"/>
            </a:solidFill>
            <a:miter lim="800000"/>
            <a:headEnd type="none" w="sm" len="sm"/>
            <a:tailEnd type="none" w="sm" len="sm"/>
          </a:ln>
          <a:effectLst/>
        </p:spPr>
        <p:txBody>
          <a:bodyPr wrap="none" anchor="ctr"/>
          <a:lstStyle/>
          <a:p>
            <a:endParaRPr lang="en-US"/>
          </a:p>
        </p:txBody>
      </p:sp>
      <p:sp>
        <p:nvSpPr>
          <p:cNvPr id="146435" name="Rectangle 3"/>
          <p:cNvSpPr>
            <a:spLocks noGrp="1" noChangeArrowheads="1"/>
          </p:cNvSpPr>
          <p:nvPr>
            <p:ph type="title"/>
          </p:nvPr>
        </p:nvSpPr>
        <p:spPr/>
        <p:txBody>
          <a:bodyPr/>
          <a:lstStyle/>
          <a:p>
            <a:r>
              <a:rPr lang="en-US"/>
              <a:t>IMPACT Theory</a:t>
            </a:r>
          </a:p>
        </p:txBody>
      </p:sp>
      <p:sp>
        <p:nvSpPr>
          <p:cNvPr id="146436" name="Rectangle 4"/>
          <p:cNvSpPr>
            <a:spLocks noChangeArrowheads="1"/>
          </p:cNvSpPr>
          <p:nvPr/>
        </p:nvSpPr>
        <p:spPr bwMode="auto">
          <a:xfrm>
            <a:off x="609600" y="1981200"/>
            <a:ext cx="3352800" cy="3657600"/>
          </a:xfrm>
          <a:prstGeom prst="rect">
            <a:avLst/>
          </a:prstGeom>
          <a:solidFill>
            <a:srgbClr val="0000FF"/>
          </a:solidFill>
          <a:ln w="25400">
            <a:solidFill>
              <a:schemeClr val="tx1"/>
            </a:solidFill>
            <a:miter lim="800000"/>
            <a:headEnd type="none" w="sm" len="sm"/>
            <a:tailEnd type="none" w="sm" len="sm"/>
          </a:ln>
          <a:effectLst/>
        </p:spPr>
        <p:txBody>
          <a:bodyPr anchor="ctr"/>
          <a:lstStyle/>
          <a:p>
            <a:pPr algn="ctr"/>
            <a:r>
              <a:rPr lang="en-US" sz="3600">
                <a:latin typeface="Arial" charset="0"/>
              </a:rPr>
              <a:t>Leadership and System Transformation</a:t>
            </a:r>
          </a:p>
        </p:txBody>
      </p:sp>
      <p:sp>
        <p:nvSpPr>
          <p:cNvPr id="146437" name="Rectangle 5"/>
          <p:cNvSpPr>
            <a:spLocks noChangeArrowheads="1"/>
          </p:cNvSpPr>
          <p:nvPr/>
        </p:nvSpPr>
        <p:spPr bwMode="auto">
          <a:xfrm>
            <a:off x="5105400" y="1981200"/>
            <a:ext cx="3352800" cy="3657600"/>
          </a:xfrm>
          <a:prstGeom prst="rect">
            <a:avLst/>
          </a:prstGeom>
          <a:solidFill>
            <a:srgbClr val="0000FF"/>
          </a:solidFill>
          <a:ln w="25400">
            <a:solidFill>
              <a:schemeClr val="tx1"/>
            </a:solidFill>
            <a:miter lim="800000"/>
            <a:headEnd type="none" w="sm" len="sm"/>
            <a:tailEnd type="none" w="sm" len="sm"/>
          </a:ln>
          <a:effectLst/>
        </p:spPr>
        <p:txBody>
          <a:bodyPr anchor="ctr"/>
          <a:lstStyle/>
          <a:p>
            <a:pPr algn="ctr"/>
            <a:r>
              <a:rPr lang="en-US" sz="3600">
                <a:latin typeface="Arial" charset="0"/>
              </a:rPr>
              <a:t>Improvement on the front lines</a:t>
            </a:r>
          </a:p>
        </p:txBody>
      </p:sp>
      <p:sp>
        <p:nvSpPr>
          <p:cNvPr id="146438" name="Lock"/>
          <p:cNvSpPr>
            <a:spLocks noEditPoints="1" noChangeArrowheads="1"/>
          </p:cNvSpPr>
          <p:nvPr/>
        </p:nvSpPr>
        <p:spPr bwMode="auto">
          <a:xfrm>
            <a:off x="3924300" y="3390900"/>
            <a:ext cx="1243013" cy="1638300"/>
          </a:xfrm>
          <a:custGeom>
            <a:avLst/>
            <a:gdLst>
              <a:gd name="T0" fmla="*/ 10800 w 21600"/>
              <a:gd name="T1" fmla="*/ 0 h 21600"/>
              <a:gd name="T2" fmla="*/ 21600 w 21600"/>
              <a:gd name="T3" fmla="*/ 9606 h 21600"/>
              <a:gd name="T4" fmla="*/ 10800 w 21600"/>
              <a:gd name="T5" fmla="*/ 21600 h 21600"/>
              <a:gd name="T6" fmla="*/ 0 w 21600"/>
              <a:gd name="T7" fmla="*/ 9606 h 21600"/>
              <a:gd name="T8" fmla="*/ 744 w 21600"/>
              <a:gd name="T9" fmla="*/ 9904 h 21600"/>
              <a:gd name="T10" fmla="*/ 21134 w 21600"/>
              <a:gd name="T11" fmla="*/ 15335 h 21600"/>
            </a:gdLst>
            <a:ahLst/>
            <a:cxnLst>
              <a:cxn ang="0">
                <a:pos x="T0" y="T1"/>
              </a:cxn>
              <a:cxn ang="0">
                <a:pos x="T2" y="T3"/>
              </a:cxn>
              <a:cxn ang="0">
                <a:pos x="T4" y="T5"/>
              </a:cxn>
              <a:cxn ang="0">
                <a:pos x="T6" y="T7"/>
              </a:cxn>
            </a:cxnLst>
            <a:rect l="T8" t="T9" r="T10" b="T11"/>
            <a:pathLst>
              <a:path w="21600" h="21600" extrusionOk="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extrusionOk="0">
                <a:moveTo>
                  <a:pt x="93" y="9606"/>
                </a:moveTo>
                <a:lnTo>
                  <a:pt x="21600" y="9606"/>
                </a:lnTo>
                <a:close/>
              </a:path>
              <a:path w="21600" h="21600" extrusionOk="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a:solidFill>
              <a:srgbClr val="000000"/>
            </a:solidFill>
            <a:miter lim="800000"/>
            <a:headEnd/>
            <a:tailEnd/>
          </a:ln>
        </p:spPr>
        <p:txBody>
          <a:bodyP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sz="3600"/>
              <a:t>IMPACT Present and Future</a:t>
            </a:r>
          </a:p>
        </p:txBody>
      </p:sp>
      <p:sp>
        <p:nvSpPr>
          <p:cNvPr id="183300" name="Rectangle 4"/>
          <p:cNvSpPr>
            <a:spLocks noGrp="1" noChangeArrowheads="1"/>
          </p:cNvSpPr>
          <p:nvPr>
            <p:ph type="body" sz="half" idx="1"/>
          </p:nvPr>
        </p:nvSpPr>
        <p:spPr/>
        <p:txBody>
          <a:bodyPr/>
          <a:lstStyle/>
          <a:p>
            <a:pPr>
              <a:buFontTx/>
              <a:buNone/>
            </a:pPr>
            <a:r>
              <a:rPr lang="en-US" sz="2600"/>
              <a:t>Now:</a:t>
            </a:r>
          </a:p>
          <a:p>
            <a:r>
              <a:rPr lang="en-US" sz="2600"/>
              <a:t>175 organizations; 226 teams</a:t>
            </a:r>
          </a:p>
          <a:p>
            <a:r>
              <a:rPr lang="en-US" sz="2600"/>
              <a:t>9 topic areas + Leadership</a:t>
            </a:r>
          </a:p>
          <a:p>
            <a:r>
              <a:rPr lang="en-US" sz="2600"/>
              <a:t>Mainly hospitals and systems</a:t>
            </a:r>
          </a:p>
          <a:p>
            <a:r>
              <a:rPr lang="en-US" sz="2600"/>
              <a:t>Most in US, few in Canada, UK</a:t>
            </a:r>
          </a:p>
          <a:p>
            <a:endParaRPr lang="en-US" sz="2600"/>
          </a:p>
        </p:txBody>
      </p:sp>
      <p:sp>
        <p:nvSpPr>
          <p:cNvPr id="183301" name="Rectangle 5"/>
          <p:cNvSpPr>
            <a:spLocks noGrp="1" noChangeArrowheads="1"/>
          </p:cNvSpPr>
          <p:nvPr>
            <p:ph type="body" sz="half" idx="2"/>
          </p:nvPr>
        </p:nvSpPr>
        <p:spPr/>
        <p:txBody>
          <a:bodyPr/>
          <a:lstStyle/>
          <a:p>
            <a:pPr>
              <a:buFontTx/>
              <a:buNone/>
            </a:pPr>
            <a:r>
              <a:rPr lang="en-US" sz="2600"/>
              <a:t>Tomorrow</a:t>
            </a:r>
          </a:p>
          <a:p>
            <a:r>
              <a:rPr lang="en-US" sz="2600"/>
              <a:t>225 organizations; 300 teams</a:t>
            </a:r>
          </a:p>
          <a:p>
            <a:r>
              <a:rPr lang="en-US" sz="2600"/>
              <a:t>Add innovation communities</a:t>
            </a:r>
          </a:p>
          <a:p>
            <a:r>
              <a:rPr lang="en-US" sz="2600"/>
              <a:t>Larger groups of hospitals and regions</a:t>
            </a:r>
          </a:p>
          <a:p>
            <a:r>
              <a:rPr lang="en-US" sz="2600"/>
              <a:t>Greater geographic diversity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lang="en-US" sz="3600"/>
              <a:t>Current Vermont Participation</a:t>
            </a:r>
          </a:p>
        </p:txBody>
      </p:sp>
      <p:graphicFrame>
        <p:nvGraphicFramePr>
          <p:cNvPr id="182309" name="Group 37"/>
          <p:cNvGraphicFramePr>
            <a:graphicFrameLocks noGrp="1"/>
          </p:cNvGraphicFramePr>
          <p:nvPr>
            <p:ph type="tbl" idx="1"/>
          </p:nvPr>
        </p:nvGraphicFramePr>
        <p:xfrm>
          <a:off x="509588" y="1981200"/>
          <a:ext cx="8008937" cy="4413250"/>
        </p:xfrm>
        <a:graphic>
          <a:graphicData uri="http://schemas.openxmlformats.org/drawingml/2006/table">
            <a:tbl>
              <a:tblPr/>
              <a:tblGrid>
                <a:gridCol w="2081212"/>
                <a:gridCol w="5927725"/>
              </a:tblGrid>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BTS: Surgical Site Infections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Brattleboro*, Fletcher Allen, Northeastern, Northwestern, Porter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BTS: Adverse Drug Events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North Country, Southwestern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BTS: Access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Grace Cottage*, Mt Ascutney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IC:  Flow</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Central Vermont, Copley*, Rutland, (Fletcher Allen, formerly)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IC:  Planned Care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Gifford*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0" i="0" u="none" strike="noStrike" cap="none" normalizeH="0" baseline="0" smtClean="0">
                          <a:ln>
                            <a:noFill/>
                          </a:ln>
                          <a:solidFill>
                            <a:schemeClr val="tx1"/>
                          </a:solidFill>
                          <a:effectLst/>
                          <a:latin typeface="Arial" charset="0"/>
                        </a:rPr>
                        <a:t>Spread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400" b="0" i="0" u="none" strike="noStrike" cap="none" normalizeH="0" baseline="0" smtClean="0">
                          <a:ln>
                            <a:noFill/>
                          </a:ln>
                          <a:solidFill>
                            <a:schemeClr val="tx1"/>
                          </a:solidFill>
                          <a:effectLst/>
                          <a:latin typeface="Arial" charset="0"/>
                        </a:rPr>
                        <a:t>Springfield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ctrTitle"/>
          </p:nvPr>
        </p:nvSpPr>
        <p:spPr/>
        <p:txBody>
          <a:bodyPr/>
          <a:lstStyle/>
          <a:p>
            <a:pPr algn="ctr"/>
            <a:r>
              <a:rPr lang="en-US"/>
              <a:t>Leadership of Quality</a:t>
            </a:r>
          </a:p>
        </p:txBody>
      </p:sp>
      <p:sp>
        <p:nvSpPr>
          <p:cNvPr id="198659" name="Rectangle 3"/>
          <p:cNvSpPr>
            <a:spLocks noGrp="1" noChangeArrowheads="1"/>
          </p:cNvSpPr>
          <p:nvPr>
            <p:ph type="subTitle" idx="1"/>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t>Trustee Leadership</a:t>
            </a:r>
          </a:p>
        </p:txBody>
      </p:sp>
      <p:sp>
        <p:nvSpPr>
          <p:cNvPr id="134147" name="Rectangle 3"/>
          <p:cNvSpPr>
            <a:spLocks noGrp="1" noChangeArrowheads="1"/>
          </p:cNvSpPr>
          <p:nvPr>
            <p:ph type="body" idx="1"/>
          </p:nvPr>
        </p:nvSpPr>
        <p:spPr/>
        <p:txBody>
          <a:bodyPr/>
          <a:lstStyle/>
          <a:p>
            <a:pPr marL="571500" indent="-571500">
              <a:lnSpc>
                <a:spcPct val="80000"/>
              </a:lnSpc>
              <a:buFontTx/>
              <a:buAutoNum type="arabicPeriod"/>
            </a:pPr>
            <a:r>
              <a:rPr lang="en-US" sz="2600"/>
              <a:t>Understand  the important things your community expects from your hospital</a:t>
            </a:r>
          </a:p>
          <a:p>
            <a:pPr marL="571500" indent="-571500">
              <a:lnSpc>
                <a:spcPct val="80000"/>
              </a:lnSpc>
              <a:buFontTx/>
              <a:buAutoNum type="arabicPeriod"/>
            </a:pPr>
            <a:r>
              <a:rPr lang="en-US" sz="2600"/>
              <a:t>Establish a few system-level measures of those important things (Big Dots)</a:t>
            </a:r>
          </a:p>
          <a:p>
            <a:pPr marL="571500" indent="-571500">
              <a:lnSpc>
                <a:spcPct val="80000"/>
              </a:lnSpc>
              <a:buFontTx/>
              <a:buAutoNum type="arabicPeriod"/>
            </a:pPr>
            <a:r>
              <a:rPr lang="en-US" sz="2600"/>
              <a:t>Link improvement of the Big Dots to strategic plan</a:t>
            </a:r>
          </a:p>
          <a:p>
            <a:pPr marL="571500" indent="-571500">
              <a:lnSpc>
                <a:spcPct val="80000"/>
              </a:lnSpc>
              <a:buFontTx/>
              <a:buAutoNum type="arabicPeriod"/>
            </a:pPr>
            <a:r>
              <a:rPr lang="en-US" sz="2600"/>
              <a:t>Build hospital’s will, ideas, and execution to move the Big Dots</a:t>
            </a:r>
          </a:p>
          <a:p>
            <a:pPr marL="571500" indent="-571500">
              <a:lnSpc>
                <a:spcPct val="80000"/>
              </a:lnSpc>
              <a:buFontTx/>
              <a:buAutoNum type="arabicPeriod"/>
            </a:pPr>
            <a:r>
              <a:rPr lang="en-US" sz="2600"/>
              <a:t>Maintain constancy of purpose</a:t>
            </a:r>
          </a:p>
          <a:p>
            <a:pPr marL="571500" indent="-571500">
              <a:lnSpc>
                <a:spcPct val="80000"/>
              </a:lnSpc>
              <a:buFontTx/>
              <a:buAutoNum type="arabicPeriod"/>
            </a:pPr>
            <a:r>
              <a:rPr lang="en-US" sz="2600"/>
              <a:t>Promote collaboration across the community for redesign of care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wipe(left)">
                                      <p:cBhvr>
                                        <p:cTn id="7" dur="10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wipe(left)">
                                      <p:cBhvr>
                                        <p:cTn id="12" dur="1000"/>
                                        <p:tgtEl>
                                          <p:spTgt spid="134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4147">
                                            <p:txEl>
                                              <p:pRg st="2" end="2"/>
                                            </p:txEl>
                                          </p:spTgt>
                                        </p:tgtEl>
                                        <p:attrNameLst>
                                          <p:attrName>style.visibility</p:attrName>
                                        </p:attrNameLst>
                                      </p:cBhvr>
                                      <p:to>
                                        <p:strVal val="visible"/>
                                      </p:to>
                                    </p:set>
                                    <p:animEffect transition="in" filter="wipe(left)">
                                      <p:cBhvr>
                                        <p:cTn id="17" dur="1000"/>
                                        <p:tgtEl>
                                          <p:spTgt spid="134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147">
                                            <p:txEl>
                                              <p:pRg st="3" end="3"/>
                                            </p:txEl>
                                          </p:spTgt>
                                        </p:tgtEl>
                                        <p:attrNameLst>
                                          <p:attrName>style.visibility</p:attrName>
                                        </p:attrNameLst>
                                      </p:cBhvr>
                                      <p:to>
                                        <p:strVal val="visible"/>
                                      </p:to>
                                    </p:set>
                                    <p:animEffect transition="in" filter="wipe(left)">
                                      <p:cBhvr>
                                        <p:cTn id="22" dur="1000"/>
                                        <p:tgtEl>
                                          <p:spTgt spid="134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4147">
                                            <p:txEl>
                                              <p:pRg st="4" end="4"/>
                                            </p:txEl>
                                          </p:spTgt>
                                        </p:tgtEl>
                                        <p:attrNameLst>
                                          <p:attrName>style.visibility</p:attrName>
                                        </p:attrNameLst>
                                      </p:cBhvr>
                                      <p:to>
                                        <p:strVal val="visible"/>
                                      </p:to>
                                    </p:set>
                                    <p:animEffect transition="in" filter="wipe(left)">
                                      <p:cBhvr>
                                        <p:cTn id="27" dur="1000"/>
                                        <p:tgtEl>
                                          <p:spTgt spid="134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4147">
                                            <p:txEl>
                                              <p:pRg st="5" end="5"/>
                                            </p:txEl>
                                          </p:spTgt>
                                        </p:tgtEl>
                                        <p:attrNameLst>
                                          <p:attrName>style.visibility</p:attrName>
                                        </p:attrNameLst>
                                      </p:cBhvr>
                                      <p:to>
                                        <p:strVal val="visible"/>
                                      </p:to>
                                    </p:set>
                                    <p:animEffect transition="in" filter="wipe(left)">
                                      <p:cBhvr>
                                        <p:cTn id="32" dur="1000"/>
                                        <p:tgtEl>
                                          <p:spTgt spid="134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t>Trustee Leadership</a:t>
            </a:r>
          </a:p>
        </p:txBody>
      </p:sp>
      <p:sp>
        <p:nvSpPr>
          <p:cNvPr id="154627" name="Rectangle 3"/>
          <p:cNvSpPr>
            <a:spLocks noGrp="1" noChangeArrowheads="1"/>
          </p:cNvSpPr>
          <p:nvPr>
            <p:ph type="body" idx="1"/>
          </p:nvPr>
        </p:nvSpPr>
        <p:spPr/>
        <p:txBody>
          <a:bodyPr/>
          <a:lstStyle/>
          <a:p>
            <a:pPr marL="571500" indent="-571500">
              <a:buFontTx/>
              <a:buAutoNum type="arabicPeriod"/>
            </a:pPr>
            <a:r>
              <a:rPr lang="en-US" sz="3100">
                <a:solidFill>
                  <a:srgbClr val="00FF00"/>
                </a:solidFill>
              </a:rPr>
              <a:t>Understand  the important things your community expects from your hospital</a:t>
            </a:r>
          </a:p>
          <a:p>
            <a:pPr marL="571500" indent="-571500">
              <a:buFontTx/>
              <a:buAutoNum type="arabicPeriod"/>
            </a:pPr>
            <a:r>
              <a:rPr lang="en-US" sz="3100">
                <a:solidFill>
                  <a:srgbClr val="00FF00"/>
                </a:solidFill>
              </a:rPr>
              <a:t>Establish a few system-level measures of those important things (Big Dots)</a:t>
            </a:r>
          </a:p>
          <a:p>
            <a:pPr marL="571500" indent="-571500">
              <a:buFontTx/>
              <a:buAutoNum type="arabicPeriod"/>
            </a:pPr>
            <a:r>
              <a:rPr lang="en-US" sz="2000"/>
              <a:t>Link improvement of the Big Dots to strategic plan</a:t>
            </a:r>
          </a:p>
          <a:p>
            <a:pPr marL="571500" indent="-571500">
              <a:buFontTx/>
              <a:buAutoNum type="arabicPeriod"/>
            </a:pPr>
            <a:r>
              <a:rPr lang="en-US" sz="2000"/>
              <a:t>Build hospital’s will, ideas, and execution to move the Big Dots</a:t>
            </a:r>
          </a:p>
          <a:p>
            <a:pPr marL="571500" indent="-571500">
              <a:buFontTx/>
              <a:buAutoNum type="arabicPeriod"/>
            </a:pPr>
            <a:r>
              <a:rPr lang="en-US" sz="2000"/>
              <a:t>Maintain constancy of purpose</a:t>
            </a:r>
          </a:p>
          <a:p>
            <a:pPr marL="571500" indent="-571500">
              <a:buFontTx/>
              <a:buAutoNum type="arabicPeriod"/>
            </a:pPr>
            <a:r>
              <a:rPr lang="en-US" sz="2000"/>
              <a:t>Promote collaboration across the community for redesign of care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6" name="Rectangle 6"/>
          <p:cNvSpPr>
            <a:spLocks noGrp="1" noChangeArrowheads="1"/>
          </p:cNvSpPr>
          <p:nvPr>
            <p:ph type="title"/>
          </p:nvPr>
        </p:nvSpPr>
        <p:spPr/>
        <p:txBody>
          <a:bodyPr/>
          <a:lstStyle/>
          <a:p>
            <a:r>
              <a:rPr lang="en-US" sz="3600"/>
              <a:t>What does your community expect?</a:t>
            </a:r>
          </a:p>
        </p:txBody>
      </p:sp>
      <p:sp>
        <p:nvSpPr>
          <p:cNvPr id="122887" name="Rectangle 7"/>
          <p:cNvSpPr>
            <a:spLocks noGrp="1" noChangeArrowheads="1"/>
          </p:cNvSpPr>
          <p:nvPr>
            <p:ph type="body" idx="1"/>
          </p:nvPr>
        </p:nvSpPr>
        <p:spPr/>
        <p:txBody>
          <a:bodyPr/>
          <a:lstStyle/>
          <a:p>
            <a:pPr lvl="1"/>
            <a:r>
              <a:rPr lang="en-US"/>
              <a:t>Safety</a:t>
            </a:r>
          </a:p>
          <a:p>
            <a:pPr lvl="1"/>
            <a:r>
              <a:rPr lang="en-US"/>
              <a:t>Effectiveness</a:t>
            </a:r>
          </a:p>
          <a:p>
            <a:pPr lvl="1"/>
            <a:r>
              <a:rPr lang="en-US"/>
              <a:t>Patient-centeredness</a:t>
            </a:r>
          </a:p>
          <a:p>
            <a:pPr lvl="1"/>
            <a:r>
              <a:rPr lang="en-US"/>
              <a:t>Timeliness</a:t>
            </a:r>
          </a:p>
          <a:p>
            <a:pPr lvl="1"/>
            <a:r>
              <a:rPr lang="en-US"/>
              <a:t>Efficiency</a:t>
            </a:r>
          </a:p>
          <a:p>
            <a:pPr lvl="1"/>
            <a:r>
              <a:rPr lang="en-US"/>
              <a:t>Equity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2887"/>
                                        </p:tgtEl>
                                        <p:attrNameLst>
                                          <p:attrName>style.visibility</p:attrName>
                                        </p:attrNameLst>
                                      </p:cBhvr>
                                      <p:to>
                                        <p:strVal val="visible"/>
                                      </p:to>
                                    </p:set>
                                    <p:animEffect transition="in" filter="wipe(up)">
                                      <p:cBhvr>
                                        <p:cTn id="7" dur="1000"/>
                                        <p:tgtEl>
                                          <p:spTgt spid="122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p:cNvSpPr>
            <a:spLocks noGrp="1" noChangeArrowheads="1"/>
          </p:cNvSpPr>
          <p:nvPr>
            <p:ph type="title"/>
          </p:nvPr>
        </p:nvSpPr>
        <p:spPr/>
        <p:txBody>
          <a:bodyPr/>
          <a:lstStyle/>
          <a:p>
            <a:r>
              <a:rPr lang="en-US"/>
              <a:t>Team Beasley</a:t>
            </a:r>
          </a:p>
        </p:txBody>
      </p:sp>
      <p:pic>
        <p:nvPicPr>
          <p:cNvPr id="135172" name="Picture 4" descr="E-Finish Line"/>
          <p:cNvPicPr>
            <a:picLocks noChangeAspect="1" noChangeArrowheads="1"/>
          </p:cNvPicPr>
          <p:nvPr/>
        </p:nvPicPr>
        <p:blipFill>
          <a:blip r:embed="rId2" cstate="print"/>
          <a:srcRect/>
          <a:stretch>
            <a:fillRect/>
          </a:stretch>
        </p:blipFill>
        <p:spPr bwMode="auto">
          <a:xfrm>
            <a:off x="1873250" y="1905000"/>
            <a:ext cx="5410200" cy="4144963"/>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US"/>
              <a:t>Polycythemia Vera</a:t>
            </a:r>
          </a:p>
        </p:txBody>
      </p:sp>
      <p:sp>
        <p:nvSpPr>
          <p:cNvPr id="138243" name="Rectangle 3"/>
          <p:cNvSpPr>
            <a:spLocks noGrp="1" noChangeArrowheads="1"/>
          </p:cNvSpPr>
          <p:nvPr>
            <p:ph type="body" idx="1"/>
          </p:nvPr>
        </p:nvSpPr>
        <p:spPr/>
        <p:txBody>
          <a:bodyPr/>
          <a:lstStyle/>
          <a:p>
            <a:r>
              <a:rPr lang="en-US" sz="2800"/>
              <a:t>Chronic myeloproliferative disease</a:t>
            </a:r>
          </a:p>
          <a:p>
            <a:pPr lvl="1"/>
            <a:r>
              <a:rPr lang="en-US" sz="2800"/>
              <a:t>Increases in red cells, leucocytes and platelets, hypercellular bone marrow and splenomegaly</a:t>
            </a:r>
          </a:p>
          <a:p>
            <a:r>
              <a:rPr lang="en-US" sz="2800"/>
              <a:t>Hemorrhagic or thrombotic events; splenomegaly, leukemia.</a:t>
            </a:r>
          </a:p>
          <a:p>
            <a:r>
              <a:rPr lang="en-US" sz="2800"/>
              <a:t>Treatment:</a:t>
            </a:r>
          </a:p>
          <a:p>
            <a:pPr lvl="1"/>
            <a:r>
              <a:rPr lang="en-US" sz="2800"/>
              <a:t>Phlebotomy, radioactive phosphorus, hydroxyurea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momanddad2"/>
          <p:cNvPicPr>
            <a:picLocks noChangeAspect="1" noChangeArrowheads="1"/>
          </p:cNvPicPr>
          <p:nvPr/>
        </p:nvPicPr>
        <p:blipFill>
          <a:blip r:embed="rId3" cstate="print"/>
          <a:srcRect/>
          <a:stretch>
            <a:fillRect/>
          </a:stretch>
        </p:blipFill>
        <p:spPr bwMode="auto">
          <a:xfrm>
            <a:off x="2105025" y="1866900"/>
            <a:ext cx="4933950" cy="4305300"/>
          </a:xfrm>
          <a:prstGeom prst="rect">
            <a:avLst/>
          </a:prstGeom>
          <a:noFill/>
        </p:spPr>
      </p:pic>
      <p:sp>
        <p:nvSpPr>
          <p:cNvPr id="136195" name="Rectangle 3"/>
          <p:cNvSpPr>
            <a:spLocks noGrp="1" noChangeArrowheads="1"/>
          </p:cNvSpPr>
          <p:nvPr>
            <p:ph type="title"/>
          </p:nvPr>
        </p:nvSpPr>
        <p:spPr/>
        <p:txBody>
          <a:bodyPr/>
          <a:lstStyle/>
          <a:p>
            <a:r>
              <a:rPr lang="en-US"/>
              <a:t>Pat and Alan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Rectangle 4"/>
          <p:cNvSpPr>
            <a:spLocks noGrp="1" noChangeArrowheads="1"/>
          </p:cNvSpPr>
          <p:nvPr>
            <p:ph type="title"/>
          </p:nvPr>
        </p:nvSpPr>
        <p:spPr/>
        <p:txBody>
          <a:bodyPr/>
          <a:lstStyle/>
          <a:p>
            <a:r>
              <a:rPr lang="en-US"/>
              <a:t>Our Concerns</a:t>
            </a:r>
          </a:p>
        </p:txBody>
      </p:sp>
      <p:sp>
        <p:nvSpPr>
          <p:cNvPr id="139269" name="Rectangle 5"/>
          <p:cNvSpPr>
            <a:spLocks noGrp="1" noChangeArrowheads="1"/>
          </p:cNvSpPr>
          <p:nvPr>
            <p:ph type="body" idx="1"/>
          </p:nvPr>
        </p:nvSpPr>
        <p:spPr/>
        <p:txBody>
          <a:bodyPr/>
          <a:lstStyle/>
          <a:p>
            <a:pPr>
              <a:lnSpc>
                <a:spcPct val="90000"/>
              </a:lnSpc>
            </a:pPr>
            <a:r>
              <a:rPr lang="en-US" sz="3000"/>
              <a:t>Understanding the disease and treatment (Safety and Effectiveness)</a:t>
            </a:r>
          </a:p>
          <a:p>
            <a:pPr>
              <a:lnSpc>
                <a:spcPct val="90000"/>
              </a:lnSpc>
            </a:pPr>
            <a:r>
              <a:rPr lang="en-US" sz="3000"/>
              <a:t>Supporting Mom through treatment (Patient centeredness)</a:t>
            </a:r>
          </a:p>
          <a:p>
            <a:pPr>
              <a:lnSpc>
                <a:spcPct val="90000"/>
              </a:lnSpc>
            </a:pPr>
            <a:r>
              <a:rPr lang="en-US" sz="3000"/>
              <a:t>Anticipating other support she may need now or in the future (Effectiveness, Timeliness)</a:t>
            </a:r>
          </a:p>
          <a:p>
            <a:pPr>
              <a:lnSpc>
                <a:spcPct val="90000"/>
              </a:lnSpc>
            </a:pPr>
            <a:r>
              <a:rPr lang="en-US" sz="3000"/>
              <a:t>Making sure she retains the amount of control she wants (Patient centeredness)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t>Individual Reflection</a:t>
            </a:r>
          </a:p>
        </p:txBody>
      </p:sp>
      <p:sp>
        <p:nvSpPr>
          <p:cNvPr id="141315" name="Rectangle 3"/>
          <p:cNvSpPr>
            <a:spLocks noGrp="1" noChangeArrowheads="1"/>
          </p:cNvSpPr>
          <p:nvPr>
            <p:ph type="body" idx="1"/>
          </p:nvPr>
        </p:nvSpPr>
        <p:spPr/>
        <p:txBody>
          <a:bodyPr/>
          <a:lstStyle/>
          <a:p>
            <a:pPr>
              <a:lnSpc>
                <a:spcPct val="90000"/>
              </a:lnSpc>
            </a:pPr>
            <a:r>
              <a:rPr lang="en-US"/>
              <a:t>Who is the person and what is their relationship to you?</a:t>
            </a:r>
          </a:p>
          <a:p>
            <a:pPr>
              <a:lnSpc>
                <a:spcPct val="90000"/>
              </a:lnSpc>
            </a:pPr>
            <a:r>
              <a:rPr lang="en-US"/>
              <a:t>Describe this person</a:t>
            </a:r>
          </a:p>
          <a:p>
            <a:pPr>
              <a:lnSpc>
                <a:spcPct val="90000"/>
              </a:lnSpc>
            </a:pPr>
            <a:r>
              <a:rPr lang="en-US"/>
              <a:t>Describe their health challenge</a:t>
            </a:r>
          </a:p>
          <a:p>
            <a:pPr>
              <a:lnSpc>
                <a:spcPct val="90000"/>
              </a:lnSpc>
            </a:pPr>
            <a:r>
              <a:rPr lang="en-US"/>
              <a:t>What are some major concerns?</a:t>
            </a:r>
          </a:p>
          <a:p>
            <a:pPr>
              <a:lnSpc>
                <a:spcPct val="90000"/>
              </a:lnSpc>
            </a:pPr>
            <a:r>
              <a:rPr lang="en-US"/>
              <a:t>In what areas of quality do their concerns occur?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US"/>
              <a:t>What our patients want…</a:t>
            </a:r>
          </a:p>
        </p:txBody>
      </p:sp>
      <p:sp>
        <p:nvSpPr>
          <p:cNvPr id="158723" name="Rectangle 3"/>
          <p:cNvSpPr>
            <a:spLocks noGrp="1" noChangeArrowheads="1"/>
          </p:cNvSpPr>
          <p:nvPr>
            <p:ph type="body" idx="1"/>
          </p:nvPr>
        </p:nvSpPr>
        <p:spPr/>
        <p:txBody>
          <a:bodyPr/>
          <a:lstStyle/>
          <a:p>
            <a:pPr>
              <a:lnSpc>
                <a:spcPct val="150000"/>
              </a:lnSpc>
            </a:pPr>
            <a:r>
              <a:rPr lang="en-US"/>
              <a:t>Cure me</a:t>
            </a:r>
          </a:p>
          <a:p>
            <a:pPr>
              <a:lnSpc>
                <a:spcPct val="150000"/>
              </a:lnSpc>
            </a:pPr>
            <a:r>
              <a:rPr lang="en-US"/>
              <a:t>Heal me</a:t>
            </a:r>
          </a:p>
          <a:p>
            <a:pPr>
              <a:lnSpc>
                <a:spcPct val="150000"/>
              </a:lnSpc>
            </a:pPr>
            <a:r>
              <a:rPr lang="en-US"/>
              <a:t>Don’t hurt me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ctrTitle"/>
          </p:nvPr>
        </p:nvSpPr>
        <p:spPr/>
        <p:txBody>
          <a:bodyPr/>
          <a:lstStyle/>
          <a:p>
            <a:pPr algn="ctr"/>
            <a:r>
              <a:rPr lang="en-US"/>
              <a:t>System Level Results: Focusing on the “Big Dots”</a:t>
            </a:r>
          </a:p>
        </p:txBody>
      </p:sp>
      <p:sp>
        <p:nvSpPr>
          <p:cNvPr id="156676" name="Rectangle 4"/>
          <p:cNvSpPr>
            <a:spLocks noGrp="1" noChangeArrowheads="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sz="3600"/>
              <a:t>Measures of Clinical Quality</a:t>
            </a:r>
          </a:p>
        </p:txBody>
      </p:sp>
      <p:sp>
        <p:nvSpPr>
          <p:cNvPr id="125955" name="Rectangle 3"/>
          <p:cNvSpPr>
            <a:spLocks noGrp="1" noChangeArrowheads="1"/>
          </p:cNvSpPr>
          <p:nvPr>
            <p:ph type="body" idx="1"/>
          </p:nvPr>
        </p:nvSpPr>
        <p:spPr/>
        <p:txBody>
          <a:bodyPr/>
          <a:lstStyle/>
          <a:p>
            <a:pPr lvl="1">
              <a:lnSpc>
                <a:spcPct val="90000"/>
              </a:lnSpc>
            </a:pPr>
            <a:r>
              <a:rPr lang="en-US" sz="3000"/>
              <a:t>How many clinical quality measures or indicators do you deal with in a typical month?</a:t>
            </a:r>
          </a:p>
          <a:p>
            <a:pPr lvl="2">
              <a:lnSpc>
                <a:spcPct val="90000"/>
              </a:lnSpc>
            </a:pPr>
            <a:r>
              <a:rPr lang="en-US" sz="2600"/>
              <a:t>Greater than 50</a:t>
            </a:r>
          </a:p>
          <a:p>
            <a:pPr lvl="2">
              <a:lnSpc>
                <a:spcPct val="90000"/>
              </a:lnSpc>
            </a:pPr>
            <a:r>
              <a:rPr lang="en-US" sz="2600"/>
              <a:t>25-50</a:t>
            </a:r>
          </a:p>
          <a:p>
            <a:pPr lvl="2">
              <a:lnSpc>
                <a:spcPct val="90000"/>
              </a:lnSpc>
            </a:pPr>
            <a:r>
              <a:rPr lang="en-US" sz="2600"/>
              <a:t>11-25</a:t>
            </a:r>
          </a:p>
          <a:p>
            <a:pPr lvl="2">
              <a:lnSpc>
                <a:spcPct val="90000"/>
              </a:lnSpc>
            </a:pPr>
            <a:r>
              <a:rPr lang="en-US" sz="2600"/>
              <a:t>6-10</a:t>
            </a:r>
          </a:p>
          <a:p>
            <a:pPr lvl="2">
              <a:lnSpc>
                <a:spcPct val="90000"/>
              </a:lnSpc>
            </a:pPr>
            <a:r>
              <a:rPr lang="en-US" sz="2600"/>
              <a:t>1-5</a:t>
            </a:r>
          </a:p>
          <a:p>
            <a:pPr lvl="2">
              <a:lnSpc>
                <a:spcPct val="90000"/>
              </a:lnSpc>
            </a:pPr>
            <a:r>
              <a:rPr lang="en-US" sz="2600"/>
              <a:t>Zero</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descr="j0195812"/>
          <p:cNvPicPr>
            <a:picLocks noChangeAspect="1" noChangeArrowheads="1"/>
          </p:cNvPicPr>
          <p:nvPr/>
        </p:nvPicPr>
        <p:blipFill>
          <a:blip r:embed="rId3" cstate="print"/>
          <a:srcRect/>
          <a:stretch>
            <a:fillRect/>
          </a:stretch>
        </p:blipFill>
        <p:spPr bwMode="auto">
          <a:xfrm>
            <a:off x="3033713" y="1677988"/>
            <a:ext cx="3028950" cy="3503612"/>
          </a:xfrm>
          <a:prstGeom prst="rect">
            <a:avLst/>
          </a:prstGeom>
          <a:noFill/>
        </p:spPr>
      </p:pic>
      <p:sp>
        <p:nvSpPr>
          <p:cNvPr id="185347" name="Text Box 3"/>
          <p:cNvSpPr txBox="1">
            <a:spLocks noChangeArrowheads="1"/>
          </p:cNvSpPr>
          <p:nvPr/>
        </p:nvSpPr>
        <p:spPr bwMode="auto">
          <a:xfrm>
            <a:off x="1828800" y="685800"/>
            <a:ext cx="6807200" cy="762000"/>
          </a:xfrm>
          <a:prstGeom prst="rect">
            <a:avLst/>
          </a:prstGeom>
          <a:noFill/>
          <a:ln w="12700">
            <a:noFill/>
            <a:miter lim="800000"/>
            <a:headEnd/>
            <a:tailEnd/>
          </a:ln>
          <a:effectLst/>
        </p:spPr>
        <p:txBody>
          <a:bodyPr>
            <a:spAutoFit/>
          </a:bodyPr>
          <a:lstStyle/>
          <a:p>
            <a:pPr>
              <a:spcBef>
                <a:spcPct val="50000"/>
              </a:spcBef>
            </a:pPr>
            <a:r>
              <a:rPr lang="en-US" sz="4400" b="1">
                <a:solidFill>
                  <a:schemeClr val="tx2"/>
                </a:solidFill>
                <a:effectLst>
                  <a:outerShdw blurRad="38100" dist="38100" dir="2700000" algn="tl">
                    <a:srgbClr val="000000"/>
                  </a:outerShdw>
                </a:effectLst>
                <a:latin typeface="Arial Unicode MS" pitchFamily="34" charset="-128"/>
                <a:cs typeface="Times New Roman" pitchFamily="18" charset="0"/>
              </a:rPr>
              <a:t>The primary question is:</a:t>
            </a:r>
          </a:p>
        </p:txBody>
      </p:sp>
      <p:sp>
        <p:nvSpPr>
          <p:cNvPr id="185348" name="Text Box 4"/>
          <p:cNvSpPr txBox="1">
            <a:spLocks noChangeArrowheads="1"/>
          </p:cNvSpPr>
          <p:nvPr/>
        </p:nvSpPr>
        <p:spPr bwMode="auto">
          <a:xfrm>
            <a:off x="590550" y="4378325"/>
            <a:ext cx="8356600" cy="2101850"/>
          </a:xfrm>
          <a:prstGeom prst="rect">
            <a:avLst/>
          </a:prstGeom>
          <a:noFill/>
          <a:ln w="12700">
            <a:noFill/>
            <a:miter lim="800000"/>
            <a:headEnd/>
            <a:tailEnd/>
          </a:ln>
          <a:effectLst/>
        </p:spPr>
        <p:txBody>
          <a:bodyPr>
            <a:spAutoFit/>
          </a:bodyPr>
          <a:lstStyle/>
          <a:p>
            <a:pPr algn="ctr">
              <a:spcBef>
                <a:spcPct val="50000"/>
              </a:spcBef>
            </a:pPr>
            <a:r>
              <a:rPr lang="en-US" sz="4400" b="1" i="1">
                <a:solidFill>
                  <a:schemeClr val="tx2"/>
                </a:solidFill>
                <a:effectLst>
                  <a:outerShdw blurRad="38100" dist="38100" dir="2700000" algn="tl">
                    <a:srgbClr val="000000"/>
                  </a:outerShdw>
                </a:effectLst>
                <a:latin typeface="Arial Unicode MS" pitchFamily="34" charset="-128"/>
                <a:cs typeface="Times New Roman" pitchFamily="18" charset="0"/>
              </a:rPr>
              <a:t>How good are you at </a:t>
            </a:r>
            <a:r>
              <a:rPr lang="en-US" sz="4400" b="1" i="1" u="sng">
                <a:solidFill>
                  <a:schemeClr val="tx2"/>
                </a:solidFill>
                <a:effectLst>
                  <a:outerShdw blurRad="38100" dist="38100" dir="2700000" algn="tl">
                    <a:srgbClr val="000000"/>
                  </a:outerShdw>
                </a:effectLst>
                <a:latin typeface="Arial Unicode MS" pitchFamily="34" charset="-128"/>
                <a:cs typeface="Times New Roman" pitchFamily="18" charset="0"/>
              </a:rPr>
              <a:t>measuring, aiming at, and improving whole system measures</a:t>
            </a:r>
            <a:r>
              <a:rPr lang="en-US" sz="4400" b="1" i="1">
                <a:solidFill>
                  <a:schemeClr val="tx2"/>
                </a:solidFill>
                <a:effectLst>
                  <a:outerShdw blurRad="38100" dist="38100" dir="2700000" algn="tl">
                    <a:srgbClr val="000000"/>
                  </a:outerShdw>
                </a:effectLst>
                <a:latin typeface="Arial Unicode MS" pitchFamily="34" charset="-128"/>
                <a:cs typeface="Times New Roman" pitchFamily="18" charset="0"/>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a:t>Approach</a:t>
            </a:r>
          </a:p>
        </p:txBody>
      </p:sp>
      <p:sp>
        <p:nvSpPr>
          <p:cNvPr id="173059" name="Rectangle 3"/>
          <p:cNvSpPr>
            <a:spLocks noGrp="1" noChangeArrowheads="1"/>
          </p:cNvSpPr>
          <p:nvPr>
            <p:ph type="body" idx="1"/>
          </p:nvPr>
        </p:nvSpPr>
        <p:spPr>
          <a:xfrm>
            <a:off x="381000" y="1981200"/>
            <a:ext cx="8458200" cy="4114800"/>
          </a:xfrm>
        </p:spPr>
        <p:txBody>
          <a:bodyPr/>
          <a:lstStyle/>
          <a:p>
            <a:pPr>
              <a:spcBef>
                <a:spcPct val="30000"/>
              </a:spcBef>
            </a:pPr>
            <a:r>
              <a:rPr lang="en-US" sz="3200" u="sng"/>
              <a:t>Balanced</a:t>
            </a:r>
            <a:r>
              <a:rPr lang="en-US" sz="3200"/>
              <a:t> set of metrics that “people care about”</a:t>
            </a:r>
          </a:p>
          <a:p>
            <a:pPr>
              <a:spcBef>
                <a:spcPct val="30000"/>
              </a:spcBef>
            </a:pPr>
            <a:r>
              <a:rPr lang="en-US" sz="3200"/>
              <a:t>Monthly </a:t>
            </a:r>
            <a:r>
              <a:rPr lang="en-US" sz="3200" u="sng"/>
              <a:t>trends</a:t>
            </a:r>
            <a:r>
              <a:rPr lang="en-US" sz="3200"/>
              <a:t> over time</a:t>
            </a:r>
          </a:p>
          <a:p>
            <a:pPr>
              <a:spcBef>
                <a:spcPct val="30000"/>
              </a:spcBef>
            </a:pPr>
            <a:r>
              <a:rPr lang="en-US" sz="3200"/>
              <a:t>Build on </a:t>
            </a:r>
            <a:r>
              <a:rPr lang="en-US" sz="3200" u="sng"/>
              <a:t>existing data</a:t>
            </a:r>
            <a:r>
              <a:rPr lang="en-US" sz="3200"/>
              <a:t> sources </a:t>
            </a:r>
          </a:p>
          <a:p>
            <a:pPr>
              <a:spcBef>
                <a:spcPct val="30000"/>
              </a:spcBef>
            </a:pPr>
            <a:r>
              <a:rPr lang="en-US" sz="3200"/>
              <a:t>Cover the </a:t>
            </a:r>
            <a:r>
              <a:rPr lang="en-US" sz="3200" u="sng"/>
              <a:t>entire system</a:t>
            </a:r>
            <a:r>
              <a:rPr lang="en-US" sz="3200"/>
              <a:t> rather than detailed measures of one component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sz="3600"/>
              <a:t>IOM Dimensions and Measures</a:t>
            </a:r>
          </a:p>
        </p:txBody>
      </p:sp>
      <p:graphicFrame>
        <p:nvGraphicFramePr>
          <p:cNvPr id="196663" name="Group 55"/>
          <p:cNvGraphicFramePr>
            <a:graphicFrameLocks noGrp="1"/>
          </p:cNvGraphicFramePr>
          <p:nvPr>
            <p:ph type="tbl" idx="1"/>
          </p:nvPr>
        </p:nvGraphicFramePr>
        <p:xfrm>
          <a:off x="509588" y="1905000"/>
          <a:ext cx="8253412" cy="4541838"/>
        </p:xfrm>
        <a:graphic>
          <a:graphicData uri="http://schemas.openxmlformats.org/drawingml/2006/table">
            <a:tbl>
              <a:tblPr/>
              <a:tblGrid>
                <a:gridCol w="2233612"/>
                <a:gridCol w="6019800"/>
              </a:tblGrid>
              <a:tr h="457200">
                <a:tc>
                  <a:txBody>
                    <a:bodyPr/>
                    <a:lstStyle/>
                    <a:p>
                      <a:pPr marL="571500" marR="0" lvl="0" indent="-571500" algn="ctr" defTabSz="914400" rtl="0" eaLnBrk="0" fontAlgn="base" latinLnBrk="0" hangingPunct="0">
                        <a:lnSpc>
                          <a:spcPct val="100000"/>
                        </a:lnSpc>
                        <a:spcBef>
                          <a:spcPct val="0"/>
                        </a:spcBef>
                        <a:spcAft>
                          <a:spcPct val="0"/>
                        </a:spcAft>
                        <a:buClrTx/>
                        <a:buSzPct val="100000"/>
                        <a:buFontTx/>
                        <a:buNone/>
                        <a:tabLst/>
                      </a:pPr>
                      <a:r>
                        <a:rPr kumimoji="0" lang="en-US" sz="2800" b="0" i="0" u="none" strike="noStrike" cap="none" normalizeH="0" baseline="0" smtClean="0">
                          <a:ln>
                            <a:noFill/>
                          </a:ln>
                          <a:solidFill>
                            <a:schemeClr val="tx1"/>
                          </a:solidFill>
                          <a:effectLst/>
                          <a:latin typeface="Arial" charset="0"/>
                        </a:rPr>
                        <a:t>IOM Aims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Pct val="100000"/>
                        <a:buFontTx/>
                        <a:buNone/>
                        <a:tabLst/>
                      </a:pPr>
                      <a:r>
                        <a:rPr kumimoji="0" lang="en-US" sz="2800" b="0" i="0" u="none" strike="noStrike" cap="none" normalizeH="0" baseline="0" smtClean="0">
                          <a:ln>
                            <a:noFill/>
                          </a:ln>
                          <a:solidFill>
                            <a:schemeClr val="tx1"/>
                          </a:solidFill>
                          <a:effectLst/>
                          <a:latin typeface="Arial" charset="0"/>
                        </a:rPr>
                        <a:t>Measures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571500" marR="0" lvl="0" indent="-571500" algn="l" defTabSz="914400" rtl="0" eaLnBrk="0" fontAlgn="base" latinLnBrk="0" hangingPunct="0">
                        <a:lnSpc>
                          <a:spcPct val="100000"/>
                        </a:lnSpc>
                        <a:spcBef>
                          <a:spcPct val="20000"/>
                        </a:spcBef>
                        <a:spcAft>
                          <a:spcPct val="0"/>
                        </a:spcAft>
                        <a:buClrTx/>
                        <a:buSzPct val="100000"/>
                        <a:buFontTx/>
                        <a:buNone/>
                        <a:tabLst/>
                      </a:pPr>
                      <a:r>
                        <a:rPr kumimoji="0" lang="en-US" sz="2600" b="1" i="0" u="none" strike="noStrike" cap="none" normalizeH="0" baseline="0" smtClean="0">
                          <a:ln>
                            <a:noFill/>
                          </a:ln>
                          <a:solidFill>
                            <a:schemeClr val="tx1"/>
                          </a:solidFill>
                          <a:effectLst/>
                          <a:latin typeface="Arial" charset="0"/>
                        </a:rPr>
                        <a:t>Safe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Adverse drug events</a:t>
                      </a:r>
                    </a:p>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Work days lost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600" b="1" i="0" u="none" strike="noStrike" cap="none" normalizeH="0" baseline="0" smtClean="0">
                          <a:ln>
                            <a:noFill/>
                          </a:ln>
                          <a:solidFill>
                            <a:schemeClr val="tx1"/>
                          </a:solidFill>
                          <a:effectLst/>
                          <a:latin typeface="Arial" charset="0"/>
                        </a:rPr>
                        <a:t>Effective &amp; Equitable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Hospital specific mortality</a:t>
                      </a:r>
                    </a:p>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Functional outcomes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600" b="1" i="0" u="none" strike="noStrike" cap="none" normalizeH="0" baseline="0" smtClean="0">
                          <a:ln>
                            <a:noFill/>
                          </a:ln>
                          <a:solidFill>
                            <a:schemeClr val="tx1"/>
                          </a:solidFill>
                          <a:effectLst/>
                          <a:latin typeface="Arial" charset="0"/>
                        </a:rPr>
                        <a:t>Patient-</a:t>
                      </a:r>
                      <a:br>
                        <a:rPr kumimoji="0" lang="en-US" sz="2600" b="1" i="0" u="none" strike="noStrike" cap="none" normalizeH="0" baseline="0" smtClean="0">
                          <a:ln>
                            <a:noFill/>
                          </a:ln>
                          <a:solidFill>
                            <a:schemeClr val="tx1"/>
                          </a:solidFill>
                          <a:effectLst/>
                          <a:latin typeface="Arial" charset="0"/>
                        </a:rPr>
                      </a:br>
                      <a:r>
                        <a:rPr kumimoji="0" lang="en-US" sz="2600" b="1" i="0" u="none" strike="noStrike" cap="none" normalizeH="0" baseline="0" smtClean="0">
                          <a:ln>
                            <a:noFill/>
                          </a:ln>
                          <a:solidFill>
                            <a:schemeClr val="tx1"/>
                          </a:solidFill>
                          <a:effectLst/>
                          <a:latin typeface="Arial" charset="0"/>
                        </a:rPr>
                        <a:t>centered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Inpatient satisfaction</a:t>
                      </a:r>
                    </a:p>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 Patients dying in hospital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1116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600" b="1" i="0" u="none" strike="noStrike" cap="none" normalizeH="0" baseline="0" smtClean="0">
                          <a:ln>
                            <a:noFill/>
                          </a:ln>
                          <a:solidFill>
                            <a:schemeClr val="tx1"/>
                          </a:solidFill>
                          <a:effectLst/>
                          <a:latin typeface="Arial" charset="0"/>
                        </a:rPr>
                        <a:t>Timely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  3rd available appointment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600" b="1" i="0" u="none" strike="noStrike" cap="none" normalizeH="0" baseline="0" smtClean="0">
                          <a:ln>
                            <a:noFill/>
                          </a:ln>
                          <a:solidFill>
                            <a:schemeClr val="tx1"/>
                          </a:solidFill>
                          <a:effectLst/>
                          <a:latin typeface="Arial" charset="0"/>
                        </a:rPr>
                        <a:t>Efficient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Hospital costs per discharge</a:t>
                      </a:r>
                    </a:p>
                    <a:p>
                      <a:pPr marL="0" marR="0" lvl="0" indent="0" algn="l" defTabSz="914400" rtl="0" eaLnBrk="0" fontAlgn="base" latinLnBrk="0" hangingPunct="0">
                        <a:lnSpc>
                          <a:spcPct val="100000"/>
                        </a:lnSpc>
                        <a:spcBef>
                          <a:spcPct val="0"/>
                        </a:spcBef>
                        <a:spcAft>
                          <a:spcPct val="0"/>
                        </a:spcAft>
                        <a:buClrTx/>
                        <a:buSzPct val="100000"/>
                        <a:buFontTx/>
                        <a:buChar char="•"/>
                        <a:tabLst/>
                      </a:pPr>
                      <a:r>
                        <a:rPr kumimoji="0" lang="en-US" sz="2600" b="1" i="0" u="none" strike="noStrike" cap="none" normalizeH="0" baseline="0" smtClean="0">
                          <a:ln>
                            <a:noFill/>
                          </a:ln>
                          <a:solidFill>
                            <a:schemeClr val="tx1"/>
                          </a:solidFill>
                          <a:effectLst/>
                          <a:latin typeface="Arial" charset="0"/>
                        </a:rPr>
                        <a:t>Health care costs per capita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en-US"/>
              <a:t>Hospital Standardized Mortality Rate  (HSMR)</a:t>
            </a:r>
          </a:p>
        </p:txBody>
      </p:sp>
      <p:sp>
        <p:nvSpPr>
          <p:cNvPr id="194563" name="Rectangle 3"/>
          <p:cNvSpPr>
            <a:spLocks noGrp="1" noChangeArrowheads="1"/>
          </p:cNvSpPr>
          <p:nvPr>
            <p:ph type="body" idx="1"/>
          </p:nvPr>
        </p:nvSpPr>
        <p:spPr>
          <a:noFill/>
          <a:ln/>
        </p:spPr>
        <p:txBody>
          <a:bodyPr/>
          <a:lstStyle/>
          <a:p>
            <a:r>
              <a:rPr lang="en-US" sz="2800"/>
              <a:t>A methodology to determine death as a defect versus death as the end of life’s journey</a:t>
            </a:r>
          </a:p>
          <a:p>
            <a:pPr algn="ctr">
              <a:buFontTx/>
              <a:buNone/>
            </a:pPr>
            <a:r>
              <a:rPr lang="en-US" sz="2800"/>
              <a:t>that</a:t>
            </a:r>
          </a:p>
          <a:p>
            <a:r>
              <a:rPr lang="en-US" sz="2800"/>
              <a:t>Adjusts a hospital’s mortality based on case mix characteristics at a patient level</a:t>
            </a:r>
          </a:p>
          <a:p>
            <a:pPr algn="ctr">
              <a:buFontTx/>
              <a:buNone/>
            </a:pPr>
            <a:r>
              <a:rPr lang="en-US" sz="2800"/>
              <a:t>and</a:t>
            </a:r>
          </a:p>
          <a:p>
            <a:r>
              <a:rPr lang="en-US" sz="2800"/>
              <a:t>Adjusts a hospital’s mortality based on  community characteristics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1758950" y="838200"/>
            <a:ext cx="7385050" cy="1143000"/>
          </a:xfrm>
        </p:spPr>
        <p:txBody>
          <a:bodyPr/>
          <a:lstStyle/>
          <a:p>
            <a:r>
              <a:rPr lang="en-US" sz="2800"/>
              <a:t>Reimbursement vs. HSMR </a:t>
            </a:r>
            <a:br>
              <a:rPr lang="en-US" sz="2800"/>
            </a:br>
            <a:r>
              <a:rPr lang="en-US" sz="2000"/>
              <a:t>(Random 250 Hospital Sample from 2,166 Larger Avg Hospitals)</a:t>
            </a:r>
            <a:br>
              <a:rPr lang="en-US" sz="2000"/>
            </a:br>
            <a:r>
              <a:rPr lang="en-US" sz="2800"/>
              <a:t>“Move the Dot”</a:t>
            </a:r>
            <a:br>
              <a:rPr lang="en-US" sz="2800"/>
            </a:br>
            <a:r>
              <a:rPr lang="en-US" sz="2800"/>
              <a:t/>
            </a:r>
            <a:br>
              <a:rPr lang="en-US" sz="2800"/>
            </a:br>
            <a:endParaRPr lang="en-US" sz="2800"/>
          </a:p>
        </p:txBody>
      </p:sp>
      <p:graphicFrame>
        <p:nvGraphicFramePr>
          <p:cNvPr id="192515" name="Object 3"/>
          <p:cNvGraphicFramePr>
            <a:graphicFrameLocks noGrp="1" noChangeAspect="1"/>
          </p:cNvGraphicFramePr>
          <p:nvPr>
            <p:ph type="chart" idx="1"/>
          </p:nvPr>
        </p:nvGraphicFramePr>
        <p:xfrm>
          <a:off x="138113" y="1828800"/>
          <a:ext cx="9005887" cy="4572000"/>
        </p:xfrm>
        <a:graphic>
          <a:graphicData uri="http://schemas.openxmlformats.org/presentationml/2006/ole">
            <p:oleObj spid="_x0000_s192515" name="Chart" r:id="rId3" imgW="8763105" imgH="4114800" progId="MSGraph.Chart.8">
              <p:embed followColorScheme="full"/>
            </p:oleObj>
          </a:graphicData>
        </a:graphic>
      </p:graphicFrame>
      <p:sp>
        <p:nvSpPr>
          <p:cNvPr id="192516" name="Line 4"/>
          <p:cNvSpPr>
            <a:spLocks noChangeShapeType="1"/>
          </p:cNvSpPr>
          <p:nvPr/>
        </p:nvSpPr>
        <p:spPr bwMode="auto">
          <a:xfrm>
            <a:off x="1219200" y="3749675"/>
            <a:ext cx="7391400" cy="0"/>
          </a:xfrm>
          <a:prstGeom prst="line">
            <a:avLst/>
          </a:prstGeom>
          <a:noFill/>
          <a:ln w="28575">
            <a:solidFill>
              <a:srgbClr val="FF0000"/>
            </a:solidFill>
            <a:round/>
            <a:headEnd type="none" w="sm" len="sm"/>
            <a:tailEnd type="none" w="sm" len="sm"/>
          </a:ln>
          <a:effectLst/>
        </p:spPr>
        <p:txBody>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9" name="Rectangle 9"/>
          <p:cNvSpPr>
            <a:spLocks noGrp="1" noChangeArrowheads="1"/>
          </p:cNvSpPr>
          <p:nvPr>
            <p:ph type="title"/>
          </p:nvPr>
        </p:nvSpPr>
        <p:spPr/>
        <p:txBody>
          <a:bodyPr/>
          <a:lstStyle/>
          <a:p>
            <a:r>
              <a:rPr lang="en-US"/>
              <a:t>Discussion Questions</a:t>
            </a:r>
          </a:p>
        </p:txBody>
      </p:sp>
      <p:sp>
        <p:nvSpPr>
          <p:cNvPr id="189450" name="Rectangle 10"/>
          <p:cNvSpPr>
            <a:spLocks noGrp="1" noChangeArrowheads="1"/>
          </p:cNvSpPr>
          <p:nvPr>
            <p:ph type="body" idx="1"/>
          </p:nvPr>
        </p:nvSpPr>
        <p:spPr/>
        <p:txBody>
          <a:bodyPr/>
          <a:lstStyle/>
          <a:p>
            <a:endParaRPr lang="en-US"/>
          </a:p>
          <a:p>
            <a:endParaRPr lang="en-US"/>
          </a:p>
          <a:p>
            <a:endParaRPr lang="en-US"/>
          </a:p>
        </p:txBody>
      </p:sp>
      <p:sp>
        <p:nvSpPr>
          <p:cNvPr id="189444" name="Text Box 4"/>
          <p:cNvSpPr txBox="1">
            <a:spLocks noChangeArrowheads="1"/>
          </p:cNvSpPr>
          <p:nvPr/>
        </p:nvSpPr>
        <p:spPr bwMode="auto">
          <a:xfrm>
            <a:off x="381000" y="1874838"/>
            <a:ext cx="8534400" cy="4476750"/>
          </a:xfrm>
          <a:prstGeom prst="rect">
            <a:avLst/>
          </a:prstGeom>
          <a:noFill/>
          <a:ln w="12700">
            <a:noFill/>
            <a:miter lim="800000"/>
            <a:headEnd/>
            <a:tailEnd/>
          </a:ln>
          <a:effectLst/>
        </p:spPr>
        <p:txBody>
          <a:bodyPr>
            <a:spAutoFit/>
          </a:bodyPr>
          <a:lstStyle/>
          <a:p>
            <a:pPr marL="457200" indent="-457200">
              <a:spcBef>
                <a:spcPct val="25000"/>
              </a:spcBef>
              <a:buFontTx/>
              <a:buAutoNum type="arabicPeriod"/>
            </a:pPr>
            <a:r>
              <a:rPr lang="en-US" b="1">
                <a:solidFill>
                  <a:schemeClr val="bg2"/>
                </a:solidFill>
                <a:latin typeface="Arial" charset="0"/>
              </a:rPr>
              <a:t>What Whole System Measures are you currently tracking?</a:t>
            </a:r>
          </a:p>
          <a:p>
            <a:pPr marL="457200" indent="-457200">
              <a:spcBef>
                <a:spcPct val="25000"/>
              </a:spcBef>
              <a:buFontTx/>
              <a:buAutoNum type="arabicPeriod"/>
            </a:pPr>
            <a:r>
              <a:rPr lang="en-US" b="1">
                <a:solidFill>
                  <a:schemeClr val="accent1"/>
                </a:solidFill>
                <a:latin typeface="Arial" charset="0"/>
              </a:rPr>
              <a:t>Are these measures tied directly to your strategic plan?</a:t>
            </a:r>
          </a:p>
          <a:p>
            <a:pPr marL="457200" indent="-457200">
              <a:spcBef>
                <a:spcPct val="25000"/>
              </a:spcBef>
              <a:buFontTx/>
              <a:buAutoNum type="arabicPeriod"/>
            </a:pPr>
            <a:r>
              <a:rPr lang="en-US" b="1">
                <a:solidFill>
                  <a:schemeClr val="bg2"/>
                </a:solidFill>
                <a:latin typeface="Arial" charset="0"/>
              </a:rPr>
              <a:t>For which of these measures has your board adopted, </a:t>
            </a:r>
            <a:r>
              <a:rPr lang="en-US" b="1" i="1" u="sng">
                <a:solidFill>
                  <a:schemeClr val="bg2"/>
                </a:solidFill>
                <a:latin typeface="Arial" charset="0"/>
              </a:rPr>
              <a:t>How High by When</a:t>
            </a:r>
            <a:r>
              <a:rPr lang="en-US" b="1">
                <a:solidFill>
                  <a:schemeClr val="bg2"/>
                </a:solidFill>
                <a:latin typeface="Arial" charset="0"/>
              </a:rPr>
              <a:t> aims?</a:t>
            </a:r>
          </a:p>
          <a:p>
            <a:pPr marL="457200" indent="-457200">
              <a:spcBef>
                <a:spcPct val="25000"/>
              </a:spcBef>
              <a:buFontTx/>
              <a:buAutoNum type="arabicPeriod"/>
            </a:pPr>
            <a:r>
              <a:rPr lang="en-US" b="1">
                <a:solidFill>
                  <a:schemeClr val="accent1"/>
                </a:solidFill>
                <a:latin typeface="Arial" charset="0"/>
              </a:rPr>
              <a:t>With or without an </a:t>
            </a:r>
            <a:r>
              <a:rPr lang="en-US" b="1">
                <a:solidFill>
                  <a:schemeClr val="accent1"/>
                </a:solidFill>
                <a:effectLst>
                  <a:outerShdw blurRad="38100" dist="38100" dir="2700000" algn="tl">
                    <a:srgbClr val="000000"/>
                  </a:outerShdw>
                </a:effectLst>
                <a:latin typeface="Arial" charset="0"/>
              </a:rPr>
              <a:t>Aim</a:t>
            </a:r>
            <a:r>
              <a:rPr lang="en-US" b="1">
                <a:solidFill>
                  <a:schemeClr val="accent1"/>
                </a:solidFill>
                <a:latin typeface="Arial" charset="0"/>
              </a:rPr>
              <a:t>, make a prediction about the future performance of each measure you have identified (e.g., improve, stay the same, get worse).</a:t>
            </a:r>
          </a:p>
          <a:p>
            <a:pPr marL="457200" indent="-457200">
              <a:spcBef>
                <a:spcPct val="25000"/>
              </a:spcBef>
              <a:buFontTx/>
              <a:buAutoNum type="arabicPeriod"/>
            </a:pPr>
            <a:r>
              <a:rPr lang="en-US" b="1">
                <a:solidFill>
                  <a:schemeClr val="bg2"/>
                </a:solidFill>
                <a:latin typeface="Arial" charset="0"/>
              </a:rPr>
              <a:t>With your current plan, are you going to achieve your desired level of performance (i.e., move the Big Dot)?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IHI Template">
  <a:themeElements>
    <a:clrScheme name="">
      <a:dk1>
        <a:srgbClr val="DADADA"/>
      </a:dk1>
      <a:lt1>
        <a:srgbClr val="FAFD00"/>
      </a:lt1>
      <a:dk2>
        <a:srgbClr val="00279F"/>
      </a:dk2>
      <a:lt2>
        <a:srgbClr val="FFFFFF"/>
      </a:lt2>
      <a:accent1>
        <a:srgbClr val="8CF4EA"/>
      </a:accent1>
      <a:accent2>
        <a:srgbClr val="51DC00"/>
      </a:accent2>
      <a:accent3>
        <a:srgbClr val="AAACCD"/>
      </a:accent3>
      <a:accent4>
        <a:srgbClr val="D6D800"/>
      </a:accent4>
      <a:accent5>
        <a:srgbClr val="C5F8F3"/>
      </a:accent5>
      <a:accent6>
        <a:srgbClr val="49C700"/>
      </a:accent6>
      <a:hlink>
        <a:srgbClr val="F39FD1"/>
      </a:hlink>
      <a:folHlink>
        <a:srgbClr val="EE7E44"/>
      </a:folHlink>
    </a:clrScheme>
    <a:fontScheme name="IHI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IHI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HI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HI 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HI 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HI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HI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HI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IHI Template</Template>
  <TotalTime>812</TotalTime>
  <Words>997</Words>
  <Application>Microsoft Office PowerPoint</Application>
  <PresentationFormat>On-screen Show (4:3)</PresentationFormat>
  <Paragraphs>161</Paragraphs>
  <Slides>26</Slides>
  <Notes>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2" baseType="lpstr">
      <vt:lpstr>Times New Roman</vt:lpstr>
      <vt:lpstr>Arial</vt:lpstr>
      <vt:lpstr>Wingdings</vt:lpstr>
      <vt:lpstr>Arial Unicode MS</vt:lpstr>
      <vt:lpstr>IHI Template</vt:lpstr>
      <vt:lpstr>Microsoft Graph Chart</vt:lpstr>
      <vt:lpstr>Leading Quality:  Thoughts for Trustees and Other Leaders </vt:lpstr>
      <vt:lpstr>Overview</vt:lpstr>
      <vt:lpstr>Evolution of IHI</vt:lpstr>
      <vt:lpstr>Changing Health Care</vt:lpstr>
      <vt:lpstr>IMPACT Theory</vt:lpstr>
      <vt:lpstr>IMPACT Present and Future</vt:lpstr>
      <vt:lpstr>Current Vermont Participation</vt:lpstr>
      <vt:lpstr>Leadership of Quality</vt:lpstr>
      <vt:lpstr>Trustee Leadership</vt:lpstr>
      <vt:lpstr>Trustee Leadership</vt:lpstr>
      <vt:lpstr>What does your community expect?</vt:lpstr>
      <vt:lpstr>Team Beasley</vt:lpstr>
      <vt:lpstr>Polycythemia Vera</vt:lpstr>
      <vt:lpstr>Pat and Alan</vt:lpstr>
      <vt:lpstr>Our Concerns</vt:lpstr>
      <vt:lpstr>Individual Reflection</vt:lpstr>
      <vt:lpstr>What our patients want…</vt:lpstr>
      <vt:lpstr>System Level Results: Focusing on the “Big Dots”</vt:lpstr>
      <vt:lpstr>Measures of Clinical Quality</vt:lpstr>
      <vt:lpstr>Slide 20</vt:lpstr>
      <vt:lpstr>Approach</vt:lpstr>
      <vt:lpstr>IOM Dimensions and Measures</vt:lpstr>
      <vt:lpstr>Hospital Standardized Mortality Rate  (HSMR)</vt:lpstr>
      <vt:lpstr>Reimbursement vs. HSMR  (Random 250 Hospital Sample from 2,166 Larger Avg Hospitals) “Move the Dot”  </vt:lpstr>
      <vt:lpstr>Discussion Questions</vt:lpstr>
      <vt:lpstr>Slide 26</vt:lpstr>
    </vt:vector>
  </TitlesOfParts>
  <Company>IHI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Handout Guidelines  44 pt., bold, centered</dc:title>
  <dc:creator>cbeasley</dc:creator>
  <cp:lastModifiedBy>Jeffrey Wallk</cp:lastModifiedBy>
  <cp:revision>6</cp:revision>
  <cp:lastPrinted>2000-09-26T17:41:34Z</cp:lastPrinted>
  <dcterms:created xsi:type="dcterms:W3CDTF">2004-11-07T21:58:22Z</dcterms:created>
  <dcterms:modified xsi:type="dcterms:W3CDTF">2009-10-01T09:50:29Z</dcterms:modified>
</cp:coreProperties>
</file>
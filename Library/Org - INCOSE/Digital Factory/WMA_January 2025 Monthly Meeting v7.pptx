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8" r:id="rId4"/>
  </p:sldMasterIdLst>
  <p:notesMasterIdLst>
    <p:notesMasterId r:id="rId33"/>
  </p:notesMasterIdLst>
  <p:handoutMasterIdLst>
    <p:handoutMasterId r:id="rId34"/>
  </p:handoutMasterIdLst>
  <p:sldIdLst>
    <p:sldId id="320" r:id="rId5"/>
    <p:sldId id="485" r:id="rId6"/>
    <p:sldId id="391" r:id="rId7"/>
    <p:sldId id="626" r:id="rId8"/>
    <p:sldId id="590" r:id="rId9"/>
    <p:sldId id="614" r:id="rId10"/>
    <p:sldId id="618" r:id="rId11"/>
    <p:sldId id="619" r:id="rId12"/>
    <p:sldId id="581" r:id="rId13"/>
    <p:sldId id="698" r:id="rId14"/>
    <p:sldId id="699" r:id="rId15"/>
    <p:sldId id="700" r:id="rId16"/>
    <p:sldId id="701" r:id="rId17"/>
    <p:sldId id="697" r:id="rId18"/>
    <p:sldId id="704" r:id="rId19"/>
    <p:sldId id="695" r:id="rId20"/>
    <p:sldId id="696" r:id="rId21"/>
    <p:sldId id="587" r:id="rId22"/>
    <p:sldId id="652" r:id="rId23"/>
    <p:sldId id="685" r:id="rId24"/>
    <p:sldId id="706" r:id="rId25"/>
    <p:sldId id="702" r:id="rId26"/>
    <p:sldId id="611" r:id="rId27"/>
    <p:sldId id="703" r:id="rId28"/>
    <p:sldId id="682" r:id="rId29"/>
    <p:sldId id="705" r:id="rId30"/>
    <p:sldId id="607" r:id="rId31"/>
    <p:sldId id="623" r:id="rId32"/>
  </p:sldIdLst>
  <p:sldSz cx="12192000" cy="6858000"/>
  <p:notesSz cx="6858000" cy="931386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FC3C75-CBF0-41FD-A3A9-8D3F4B001B53}">
          <p14:sldIdLst>
            <p14:sldId id="320"/>
            <p14:sldId id="485"/>
            <p14:sldId id="391"/>
          </p14:sldIdLst>
        </p14:section>
        <p14:section name="2025 Admin Updates" id="{85F678A9-93AB-45F1-B4A0-FCDABD883D90}">
          <p14:sldIdLst>
            <p14:sldId id="626"/>
            <p14:sldId id="590"/>
            <p14:sldId id="614"/>
            <p14:sldId id="618"/>
            <p14:sldId id="619"/>
            <p14:sldId id="581"/>
          </p14:sldIdLst>
        </p14:section>
        <p14:section name="2025 BoD Induction &amp; Oath Taking Ceremony" id="{7BDC2E7A-BE80-4458-8F37-D278C2B32DDE}">
          <p14:sldIdLst>
            <p14:sldId id="698"/>
            <p14:sldId id="699"/>
            <p14:sldId id="700"/>
            <p14:sldId id="701"/>
          </p14:sldIdLst>
        </p14:section>
        <p14:section name="SEP Recognition" id="{0FB1CBDE-6B43-451E-AFF1-F90412EEA8C8}">
          <p14:sldIdLst>
            <p14:sldId id="697"/>
            <p14:sldId id="704"/>
            <p14:sldId id="695"/>
            <p14:sldId id="696"/>
            <p14:sldId id="587"/>
            <p14:sldId id="652"/>
          </p14:sldIdLst>
        </p14:section>
        <p14:section name="WMA External Demographics" id="{33ABEA3B-EF65-42FD-B28F-1DA725CFD41A}">
          <p14:sldIdLst>
            <p14:sldId id="685"/>
          </p14:sldIdLst>
        </p14:section>
        <p14:section name="Newsletter Committee" id="{4CA791C0-59CA-41B6-A428-B689DD66688C}">
          <p14:sldIdLst>
            <p14:sldId id="706"/>
          </p14:sldIdLst>
        </p14:section>
        <p14:section name="Program Committee" id="{00EF3D39-8CCD-4E06-AE86-E13BE447AD4D}">
          <p14:sldIdLst>
            <p14:sldId id="702"/>
          </p14:sldIdLst>
        </p14:section>
        <p14:section name="Tutorial Committee" id="{102AAD4E-B45A-4811-8F8C-CB414CD627F2}">
          <p14:sldIdLst>
            <p14:sldId id="611"/>
          </p14:sldIdLst>
        </p14:section>
        <p14:section name="Event Committee" id="{68D3A5C8-7906-4DC6-81B0-C6FB52B8C64B}">
          <p14:sldIdLst>
            <p14:sldId id="703"/>
            <p14:sldId id="682"/>
          </p14:sldIdLst>
        </p14:section>
        <p14:section name="Presenter(s)" id="{DF254740-5616-441C-9BC6-2479D66AE203}">
          <p14:sldIdLst>
            <p14:sldId id="705"/>
          </p14:sldIdLst>
        </p14:section>
        <p14:section name="IW IS Announcement" id="{E7E7D157-BC9C-4FC2-9FE1-6EF1A4F21604}">
          <p14:sldIdLst>
            <p14:sldId id="607"/>
          </p14:sldIdLst>
        </p14:section>
        <p14:section name="Closeout-Next Meeting" id="{88E898AD-61EF-4872-B6D1-D81B643C84D5}">
          <p14:sldIdLst>
            <p14:sldId id="623"/>
          </p14:sldIdLst>
        </p14:section>
        <p14:section name="Membership Committee" id="{28049E01-3715-4399-B788-A0E68FF16A1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9A45413-D112-F872-7FF0-743F58B9E850}" name="Nalini Muppala" initials="NM" userId="S::nalini.muppala@incose.net::10f4d4cc-7025-417c-8d7d-d734e37860d0" providerId="AD"/>
  <p188:author id="{A328E7ED-0D20-CA19-803D-9BC047192CB0}" name="Dr. Lowanda Studevent" initials="LS" userId="S::LSTUDEVENT@MITRE.ORG::82ebc278-6dc8-433d-b77c-bde90478f34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Katie Thacker" initials="KT" lastIdx="9" clrIdx="0"/>
  <p:cmAuthor id="2" name="Randy Simpson" initials="RS"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FFFF00"/>
    <a:srgbClr val="FFFFFF"/>
    <a:srgbClr val="33CC33"/>
    <a:srgbClr val="BFBFD0"/>
    <a:srgbClr val="B7AFDB"/>
    <a:srgbClr val="97BAFF"/>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72" autoAdjust="0"/>
    <p:restoredTop sz="96322" autoAdjust="0"/>
  </p:normalViewPr>
  <p:slideViewPr>
    <p:cSldViewPr>
      <p:cViewPr varScale="1">
        <p:scale>
          <a:sx n="87" d="100"/>
          <a:sy n="87" d="100"/>
        </p:scale>
        <p:origin x="96" y="558"/>
      </p:cViewPr>
      <p:guideLst>
        <p:guide orient="horz" pos="2160"/>
        <p:guide pos="38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0"/>
    </p:cViewPr>
  </p:sorterViewPr>
  <p:notesViewPr>
    <p:cSldViewPr>
      <p:cViewPr varScale="1">
        <p:scale>
          <a:sx n="75" d="100"/>
          <a:sy n="75" d="100"/>
        </p:scale>
        <p:origin x="3145" y="7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commentAuthors" Target="commentAuthor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904" cy="465217"/>
          </a:xfrm>
          <a:prstGeom prst="rect">
            <a:avLst/>
          </a:prstGeom>
        </p:spPr>
        <p:txBody>
          <a:bodyPr vert="horz" lIns="90535" tIns="45267" rIns="90535" bIns="45267" rtlCol="0"/>
          <a:lstStyle>
            <a:lvl1pPr algn="l">
              <a:defRPr sz="1200"/>
            </a:lvl1pPr>
          </a:lstStyle>
          <a:p>
            <a:endParaRPr lang="en-US"/>
          </a:p>
        </p:txBody>
      </p:sp>
      <p:sp>
        <p:nvSpPr>
          <p:cNvPr id="3" name="Date Placeholder 2"/>
          <p:cNvSpPr>
            <a:spLocks noGrp="1"/>
          </p:cNvSpPr>
          <p:nvPr>
            <p:ph type="dt" sz="quarter" idx="1"/>
          </p:nvPr>
        </p:nvSpPr>
        <p:spPr>
          <a:xfrm>
            <a:off x="3884548" y="1"/>
            <a:ext cx="2971904" cy="465217"/>
          </a:xfrm>
          <a:prstGeom prst="rect">
            <a:avLst/>
          </a:prstGeom>
        </p:spPr>
        <p:txBody>
          <a:bodyPr vert="horz" lIns="90535" tIns="45267" rIns="90535" bIns="45267" rtlCol="0"/>
          <a:lstStyle>
            <a:lvl1pPr algn="r">
              <a:defRPr sz="1200"/>
            </a:lvl1pPr>
          </a:lstStyle>
          <a:p>
            <a:fld id="{02DD206A-0DB9-4019-B707-74B61DFEBF41}" type="datetimeFigureOut">
              <a:rPr lang="en-US" smtClean="0"/>
              <a:pPr/>
              <a:t>1/7/2025</a:t>
            </a:fld>
            <a:endParaRPr lang="en-US"/>
          </a:p>
        </p:txBody>
      </p:sp>
      <p:sp>
        <p:nvSpPr>
          <p:cNvPr id="4" name="Footer Placeholder 3"/>
          <p:cNvSpPr>
            <a:spLocks noGrp="1"/>
          </p:cNvSpPr>
          <p:nvPr>
            <p:ph type="ftr" sz="quarter" idx="2"/>
          </p:nvPr>
        </p:nvSpPr>
        <p:spPr>
          <a:xfrm>
            <a:off x="0" y="8847059"/>
            <a:ext cx="2971904" cy="465217"/>
          </a:xfrm>
          <a:prstGeom prst="rect">
            <a:avLst/>
          </a:prstGeom>
        </p:spPr>
        <p:txBody>
          <a:bodyPr vert="horz" lIns="90535" tIns="45267" rIns="90535" bIns="45267" rtlCol="0" anchor="b"/>
          <a:lstStyle>
            <a:lvl1pPr algn="l">
              <a:defRPr sz="1200"/>
            </a:lvl1pPr>
          </a:lstStyle>
          <a:p>
            <a:endParaRPr lang="en-US"/>
          </a:p>
        </p:txBody>
      </p:sp>
      <p:sp>
        <p:nvSpPr>
          <p:cNvPr id="5" name="Slide Number Placeholder 4"/>
          <p:cNvSpPr>
            <a:spLocks noGrp="1"/>
          </p:cNvSpPr>
          <p:nvPr>
            <p:ph type="sldNum" sz="quarter" idx="3"/>
          </p:nvPr>
        </p:nvSpPr>
        <p:spPr>
          <a:xfrm>
            <a:off x="3884548" y="8847059"/>
            <a:ext cx="2971904" cy="465217"/>
          </a:xfrm>
          <a:prstGeom prst="rect">
            <a:avLst/>
          </a:prstGeom>
        </p:spPr>
        <p:txBody>
          <a:bodyPr vert="horz" lIns="90535" tIns="45267" rIns="90535" bIns="45267" rtlCol="0" anchor="b"/>
          <a:lstStyle>
            <a:lvl1pPr algn="r">
              <a:defRPr sz="1200"/>
            </a:lvl1pPr>
          </a:lstStyle>
          <a:p>
            <a:fld id="{26736031-3C9A-411E-A164-1986DECE8B9A}" type="slidenum">
              <a:rPr lang="en-US" smtClean="0"/>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71800" cy="465693"/>
          </a:xfrm>
          <a:prstGeom prst="rect">
            <a:avLst/>
          </a:prstGeom>
        </p:spPr>
        <p:txBody>
          <a:bodyPr vert="horz" lIns="92436" tIns="46218" rIns="92436" bIns="46218" rtlCol="0"/>
          <a:lstStyle>
            <a:lvl1pPr algn="l">
              <a:defRPr sz="1200"/>
            </a:lvl1pPr>
          </a:lstStyle>
          <a:p>
            <a:endParaRPr lang="en-US"/>
          </a:p>
        </p:txBody>
      </p:sp>
      <p:sp>
        <p:nvSpPr>
          <p:cNvPr id="3" name="Date Placeholder 2"/>
          <p:cNvSpPr>
            <a:spLocks noGrp="1"/>
          </p:cNvSpPr>
          <p:nvPr>
            <p:ph type="dt" idx="1"/>
          </p:nvPr>
        </p:nvSpPr>
        <p:spPr>
          <a:xfrm>
            <a:off x="3884614" y="0"/>
            <a:ext cx="2971800" cy="465693"/>
          </a:xfrm>
          <a:prstGeom prst="rect">
            <a:avLst/>
          </a:prstGeom>
        </p:spPr>
        <p:txBody>
          <a:bodyPr vert="horz" lIns="92436" tIns="46218" rIns="92436" bIns="46218" rtlCol="0"/>
          <a:lstStyle>
            <a:lvl1pPr algn="r">
              <a:defRPr sz="1200"/>
            </a:lvl1pPr>
          </a:lstStyle>
          <a:p>
            <a:fld id="{709E6544-EEAB-4E62-A183-1499AC5A71F6}" type="datetimeFigureOut">
              <a:rPr lang="en-US" smtClean="0"/>
              <a:pPr/>
              <a:t>1/7/2025</a:t>
            </a:fld>
            <a:endParaRPr lang="en-US"/>
          </a:p>
        </p:txBody>
      </p:sp>
      <p:sp>
        <p:nvSpPr>
          <p:cNvPr id="4" name="Slide Image Placeholder 3"/>
          <p:cNvSpPr>
            <a:spLocks noGrp="1" noRot="1" noChangeAspect="1"/>
          </p:cNvSpPr>
          <p:nvPr>
            <p:ph type="sldImg" idx="2"/>
          </p:nvPr>
        </p:nvSpPr>
        <p:spPr>
          <a:xfrm>
            <a:off x="325438" y="698500"/>
            <a:ext cx="6207125" cy="3492500"/>
          </a:xfrm>
          <a:prstGeom prst="rect">
            <a:avLst/>
          </a:prstGeom>
          <a:noFill/>
          <a:ln w="12700">
            <a:solidFill>
              <a:prstClr val="black"/>
            </a:solidFill>
          </a:ln>
        </p:spPr>
        <p:txBody>
          <a:bodyPr vert="horz" lIns="92436" tIns="46218" rIns="92436" bIns="46218" rtlCol="0" anchor="ctr"/>
          <a:lstStyle/>
          <a:p>
            <a:endParaRPr lang="en-US"/>
          </a:p>
        </p:txBody>
      </p:sp>
      <p:sp>
        <p:nvSpPr>
          <p:cNvPr id="5" name="Notes Placeholder 4"/>
          <p:cNvSpPr>
            <a:spLocks noGrp="1"/>
          </p:cNvSpPr>
          <p:nvPr>
            <p:ph type="body" sz="quarter" idx="3"/>
          </p:nvPr>
        </p:nvSpPr>
        <p:spPr>
          <a:xfrm>
            <a:off x="685800" y="4424085"/>
            <a:ext cx="5486400" cy="4191238"/>
          </a:xfrm>
          <a:prstGeom prst="rect">
            <a:avLst/>
          </a:prstGeom>
        </p:spPr>
        <p:txBody>
          <a:bodyPr vert="horz" lIns="92436" tIns="46218" rIns="92436" bIns="4621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46554"/>
            <a:ext cx="2971800" cy="465693"/>
          </a:xfrm>
          <a:prstGeom prst="rect">
            <a:avLst/>
          </a:prstGeom>
        </p:spPr>
        <p:txBody>
          <a:bodyPr vert="horz" lIns="92436" tIns="46218" rIns="92436" bIns="46218" rtlCol="0" anchor="b"/>
          <a:lstStyle>
            <a:lvl1pPr algn="l">
              <a:defRPr sz="1200"/>
            </a:lvl1pPr>
          </a:lstStyle>
          <a:p>
            <a:endParaRPr lang="en-US"/>
          </a:p>
        </p:txBody>
      </p:sp>
      <p:sp>
        <p:nvSpPr>
          <p:cNvPr id="7" name="Slide Number Placeholder 6"/>
          <p:cNvSpPr>
            <a:spLocks noGrp="1"/>
          </p:cNvSpPr>
          <p:nvPr>
            <p:ph type="sldNum" sz="quarter" idx="5"/>
          </p:nvPr>
        </p:nvSpPr>
        <p:spPr>
          <a:xfrm>
            <a:off x="3884614" y="8846554"/>
            <a:ext cx="2971800" cy="465693"/>
          </a:xfrm>
          <a:prstGeom prst="rect">
            <a:avLst/>
          </a:prstGeom>
        </p:spPr>
        <p:txBody>
          <a:bodyPr vert="horz" lIns="92436" tIns="46218" rIns="92436" bIns="46218" rtlCol="0" anchor="b"/>
          <a:lstStyle>
            <a:lvl1pPr algn="r">
              <a:defRPr sz="1200"/>
            </a:lvl1pPr>
          </a:lstStyle>
          <a:p>
            <a:fld id="{857A9543-88AB-488E-B7FB-7DC412EBB796}" type="slidenum">
              <a:rPr lang="en-US" smtClean="0"/>
              <a:pPr/>
              <a:t>‹#›</a:t>
            </a:fld>
            <a:endParaRPr lang="en-US"/>
          </a:p>
        </p:txBody>
      </p:sp>
    </p:spTree>
    <p:extLst>
      <p:ext uri="{BB962C8B-B14F-4D97-AF65-F5344CB8AC3E}">
        <p14:creationId xmlns:p14="http://schemas.microsoft.com/office/powerpoint/2010/main" val="88277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PlaceHolder 1"/>
          <p:cNvSpPr>
            <a:spLocks noGrp="1" noRot="1" noChangeAspect="1"/>
          </p:cNvSpPr>
          <p:nvPr>
            <p:ph type="sldImg"/>
          </p:nvPr>
        </p:nvSpPr>
        <p:spPr>
          <a:xfrm>
            <a:off x="325438" y="698500"/>
            <a:ext cx="6207125" cy="3492500"/>
          </a:xfrm>
          <a:prstGeom prst="rect">
            <a:avLst/>
          </a:prstGeom>
          <a:ln w="0">
            <a:noFill/>
          </a:ln>
        </p:spPr>
      </p:sp>
      <p:sp>
        <p:nvSpPr>
          <p:cNvPr id="215" name="PlaceHolder 2"/>
          <p:cNvSpPr>
            <a:spLocks noGrp="1"/>
          </p:cNvSpPr>
          <p:nvPr>
            <p:ph type="body"/>
          </p:nvPr>
        </p:nvSpPr>
        <p:spPr>
          <a:xfrm>
            <a:off x="685938" y="4424055"/>
            <a:ext cx="5486071" cy="4191058"/>
          </a:xfrm>
          <a:prstGeom prst="rect">
            <a:avLst/>
          </a:prstGeom>
          <a:noFill/>
          <a:ln w="0">
            <a:noFill/>
          </a:ln>
        </p:spPr>
        <p:txBody>
          <a:bodyPr lIns="92520" tIns="46080" rIns="92520" bIns="46080" anchor="t">
            <a:normAutofit/>
          </a:bodyPr>
          <a:lstStyle/>
          <a:p>
            <a:pPr marL="216000" indent="-216000">
              <a:buNone/>
            </a:pPr>
            <a:endParaRPr lang="en-US" sz="1800" b="0" strike="noStrike" spc="-1">
              <a:solidFill>
                <a:srgbClr val="000000"/>
              </a:solidFill>
              <a:latin typeface="Arial"/>
            </a:endParaRPr>
          </a:p>
        </p:txBody>
      </p:sp>
      <p:sp>
        <p:nvSpPr>
          <p:cNvPr id="216" name="PlaceHolder 3"/>
          <p:cNvSpPr>
            <a:spLocks noGrp="1"/>
          </p:cNvSpPr>
          <p:nvPr>
            <p:ph type="sldNum" idx="43"/>
          </p:nvPr>
        </p:nvSpPr>
        <p:spPr>
          <a:xfrm>
            <a:off x="3884591" y="8846667"/>
            <a:ext cx="2971562" cy="465272"/>
          </a:xfrm>
          <a:prstGeom prst="rect">
            <a:avLst/>
          </a:prstGeom>
          <a:noFill/>
          <a:ln w="0">
            <a:noFill/>
          </a:ln>
        </p:spPr>
        <p:txBody>
          <a:bodyPr lIns="92520" tIns="46080" rIns="92520" bIns="4608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05397C94-B740-42FE-8373-AF3D011B2EC8}" type="slidenum">
              <a:rPr lang="en-US" sz="1200" b="0" strike="noStrike" spc="-1">
                <a:solidFill>
                  <a:schemeClr val="dk1"/>
                </a:solidFill>
                <a:latin typeface="+mn-lt"/>
                <a:ea typeface="+mn-ea"/>
              </a:rPr>
              <a:pPr indent="0" algn="r" defTabSz="914400">
                <a:lnSpc>
                  <a:spcPct val="100000"/>
                </a:lnSpc>
                <a:buNone/>
              </a:pPr>
              <a:t>21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57A9543-88AB-488E-B7FB-7DC412EBB796}" type="slidenum">
              <a:rPr lang="en-US" smtClean="0"/>
              <a:pPr/>
              <a:t>23</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57A9543-88AB-488E-B7FB-7DC412EBB79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8A09860-CFF2-414A-A2E1-5BA8CB715F7D}" type="datetime1">
              <a:rPr lang="en-US" smtClean="0"/>
              <a:t>1/7/2025</a:t>
            </a:fld>
            <a:endParaRPr lang="en-US"/>
          </a:p>
        </p:txBody>
      </p:sp>
      <p:sp>
        <p:nvSpPr>
          <p:cNvPr id="5" name="Footer Placeholder 4"/>
          <p:cNvSpPr>
            <a:spLocks noGrp="1"/>
          </p:cNvSpPr>
          <p:nvPr>
            <p:ph type="ftr" sz="quarter" idx="11"/>
          </p:nvPr>
        </p:nvSpPr>
        <p:spPr/>
        <p:txBody>
          <a:bodyPr/>
          <a:lstStyle/>
          <a:p>
            <a:r>
              <a:rPr lang="en-US"/>
              <a:t>INCOSE WMA October  2024  Program/Dinner Meeting</a:t>
            </a:r>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6022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92D7D4-9F58-4FD7-A084-C006F36912A9}" type="datetime1">
              <a:rPr lang="en-US" smtClean="0"/>
              <a:t>1/7/2025</a:t>
            </a:fld>
            <a:endParaRPr lang="en-US"/>
          </a:p>
        </p:txBody>
      </p:sp>
      <p:sp>
        <p:nvSpPr>
          <p:cNvPr id="5" name="Footer Placeholder 4"/>
          <p:cNvSpPr>
            <a:spLocks noGrp="1"/>
          </p:cNvSpPr>
          <p:nvPr>
            <p:ph type="ftr" sz="quarter" idx="11"/>
          </p:nvPr>
        </p:nvSpPr>
        <p:spPr/>
        <p:txBody>
          <a:bodyPr/>
          <a:lstStyle/>
          <a:p>
            <a:r>
              <a:rPr lang="en-US"/>
              <a:t>INCOSE WMA October  2024  Program/Dinner Meeting</a:t>
            </a:r>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pic>
        <p:nvPicPr>
          <p:cNvPr id="7" name="Picture 2" descr="https://cdn.evbuc.com/eventlogos/3661846/incoselogoweb.jpg">
            <a:extLst>
              <a:ext uri="{FF2B5EF4-FFF2-40B4-BE49-F238E27FC236}">
                <a16:creationId xmlns:a16="http://schemas.microsoft.com/office/drawing/2014/main" id="{CDE89124-C669-4B75-83DC-6358905C72AB}"/>
              </a:ext>
            </a:extLst>
          </p:cNvPr>
          <p:cNvPicPr>
            <a:picLocks noChangeAspect="1" noChangeArrowheads="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00" y="135622"/>
            <a:ext cx="1002206" cy="62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08897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7DAE5DE-0B49-43D4-8C9C-5E8A2325BE76}" type="datetime1">
              <a:rPr lang="en-US" smtClean="0"/>
              <a:t>1/7/2025</a:t>
            </a:fld>
            <a:endParaRPr lang="en-US"/>
          </a:p>
        </p:txBody>
      </p:sp>
      <p:sp>
        <p:nvSpPr>
          <p:cNvPr id="5" name="Footer Placeholder 4"/>
          <p:cNvSpPr>
            <a:spLocks noGrp="1"/>
          </p:cNvSpPr>
          <p:nvPr>
            <p:ph type="ftr" sz="quarter" idx="11"/>
          </p:nvPr>
        </p:nvSpPr>
        <p:spPr/>
        <p:txBody>
          <a:bodyPr/>
          <a:lstStyle/>
          <a:p>
            <a:r>
              <a:rPr lang="en-US"/>
              <a:t>INCOSE WMA October  2024  Program/Dinner Meeting</a:t>
            </a:r>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70756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1F9623-8939-4066-8E42-629B37E8F0D3}" type="datetime1">
              <a:rPr lang="en-US" smtClean="0"/>
              <a:t>1/7/2025</a:t>
            </a:fld>
            <a:endParaRPr lang="en-US"/>
          </a:p>
        </p:txBody>
      </p:sp>
      <p:sp>
        <p:nvSpPr>
          <p:cNvPr id="6" name="Footer Placeholder 5"/>
          <p:cNvSpPr>
            <a:spLocks noGrp="1"/>
          </p:cNvSpPr>
          <p:nvPr>
            <p:ph type="ftr" sz="quarter" idx="11"/>
          </p:nvPr>
        </p:nvSpPr>
        <p:spPr/>
        <p:txBody>
          <a:bodyPr/>
          <a:lstStyle/>
          <a:p>
            <a:r>
              <a:rPr lang="en-US"/>
              <a:t>INCOSE WMA October  2024  Program/Dinner Meeting</a:t>
            </a:r>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270885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3F1401-A4BF-46C7-B8A4-59EE0DC531F0}" type="datetime1">
              <a:rPr lang="en-US" smtClean="0"/>
              <a:t>1/7/2025</a:t>
            </a:fld>
            <a:endParaRPr lang="en-US"/>
          </a:p>
        </p:txBody>
      </p:sp>
      <p:sp>
        <p:nvSpPr>
          <p:cNvPr id="8" name="Footer Placeholder 7"/>
          <p:cNvSpPr>
            <a:spLocks noGrp="1"/>
          </p:cNvSpPr>
          <p:nvPr>
            <p:ph type="ftr" sz="quarter" idx="11"/>
          </p:nvPr>
        </p:nvSpPr>
        <p:spPr/>
        <p:txBody>
          <a:bodyPr/>
          <a:lstStyle/>
          <a:p>
            <a:r>
              <a:rPr lang="en-US"/>
              <a:t>INCOSE WMA October  2024  Program/Dinner Meeting</a:t>
            </a:r>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8465161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4065D13-30BF-4977-9E76-8CA6C5020AD7}" type="datetime1">
              <a:rPr lang="en-US" smtClean="0"/>
              <a:t>1/7/2025</a:t>
            </a:fld>
            <a:endParaRPr lang="en-US"/>
          </a:p>
        </p:txBody>
      </p:sp>
      <p:sp>
        <p:nvSpPr>
          <p:cNvPr id="4" name="Footer Placeholder 3"/>
          <p:cNvSpPr>
            <a:spLocks noGrp="1"/>
          </p:cNvSpPr>
          <p:nvPr>
            <p:ph type="ftr" sz="quarter" idx="11"/>
          </p:nvPr>
        </p:nvSpPr>
        <p:spPr/>
        <p:txBody>
          <a:bodyPr/>
          <a:lstStyle/>
          <a:p>
            <a:r>
              <a:rPr lang="en-US"/>
              <a:t>INCOSE WMA October  2024  Program/Dinner Meeting</a:t>
            </a:r>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172640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F3E78B-895F-4AE6-A3B2-D2A4A5715224}" type="datetime1">
              <a:rPr lang="en-US" smtClean="0"/>
              <a:t>1/7/2025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INCOSE WMA October  2024  Program/Dinner Meeting</a:t>
            </a:r>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3811660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0E89E8B3-B0E3-453C-88A5-D81FBF218AD5}" type="datetime1">
              <a:rPr lang="en-US" smtClean="0"/>
              <a:t>1/7/2025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solidFill>
                  <a:srgbClr val="344068"/>
                </a:solidFill>
              </a:rPr>
              <a:t>INCOSE WMA October  2024  Program/Dinner Meeting</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solidFill>
                  <a:srgbClr val="344068"/>
                </a:solidFill>
              </a:rPr>
              <a:pPr/>
              <a:t>‹#›</a:t>
            </a:fld>
            <a:endParaRPr lang="en-US">
              <a:solidFill>
                <a:srgbClr val="344068"/>
              </a:solidFill>
            </a:endParaRPr>
          </a:p>
        </p:txBody>
      </p:sp>
    </p:spTree>
    <p:extLst>
      <p:ext uri="{BB962C8B-B14F-4D97-AF65-F5344CB8AC3E}">
        <p14:creationId xmlns:p14="http://schemas.microsoft.com/office/powerpoint/2010/main" val="58435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cstate="print"/>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E961747-D3F4-4F36-8ACB-3A0B9703EE73}" type="datetime1">
              <a:rPr lang="en-US" smtClean="0"/>
              <a:t>1/7/2025</a:t>
            </a:fld>
            <a:endParaRPr lang="en-US"/>
          </a:p>
        </p:txBody>
      </p:sp>
      <p:sp>
        <p:nvSpPr>
          <p:cNvPr id="6" name="Footer Placeholder 5"/>
          <p:cNvSpPr>
            <a:spLocks noGrp="1"/>
          </p:cNvSpPr>
          <p:nvPr>
            <p:ph type="ftr" sz="quarter" idx="11"/>
          </p:nvPr>
        </p:nvSpPr>
        <p:spPr/>
        <p:txBody>
          <a:bodyPr/>
          <a:lstStyle/>
          <a:p>
            <a:r>
              <a:rPr lang="en-US"/>
              <a:t>INCOSE WMA October  2024  Program/Dinner Meeting</a:t>
            </a:r>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a:p>
        </p:txBody>
      </p:sp>
    </p:spTree>
    <p:extLst>
      <p:ext uri="{BB962C8B-B14F-4D97-AF65-F5344CB8AC3E}">
        <p14:creationId xmlns:p14="http://schemas.microsoft.com/office/powerpoint/2010/main" val="4261163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7393E7-340D-43E3-86F5-06968C189300}" type="datetime1">
              <a:rPr lang="en-US" smtClean="0">
                <a:cs typeface="Arial" charset="0"/>
              </a:rPr>
              <a:t>1/7/2025</a:t>
            </a:fld>
            <a:endParaRPr lang="en-US">
              <a:cs typeface="Arial" charset="0"/>
            </a:endParaRPr>
          </a:p>
        </p:txBody>
      </p:sp>
      <p:sp>
        <p:nvSpPr>
          <p:cNvPr id="5" name="Footer Placeholder 4"/>
          <p:cNvSpPr>
            <a:spLocks noGrp="1"/>
          </p:cNvSpPr>
          <p:nvPr>
            <p:ph type="ftr" sz="quarter" idx="11"/>
          </p:nvPr>
        </p:nvSpPr>
        <p:spPr/>
        <p:txBody>
          <a:bodyPr/>
          <a:lstStyle/>
          <a:p>
            <a:r>
              <a:rPr lang="en-US">
                <a:cs typeface="Arial" charset="0"/>
              </a:rPr>
              <a:t>INCOSE WMA October  2024  Program/Dinner Meeting</a:t>
            </a:r>
          </a:p>
        </p:txBody>
      </p:sp>
      <p:sp>
        <p:nvSpPr>
          <p:cNvPr id="6" name="Slide Number Placeholder 5"/>
          <p:cNvSpPr>
            <a:spLocks noGrp="1"/>
          </p:cNvSpPr>
          <p:nvPr>
            <p:ph type="sldNum" sz="quarter" idx="12"/>
          </p:nvPr>
        </p:nvSpPr>
        <p:spPr/>
        <p:txBody>
          <a:bodyPr/>
          <a:lstStyle/>
          <a:p>
            <a:fld id="{4FAB73BC-B049-4115-A692-8D63A059BFB8}" type="slidenum">
              <a:rPr lang="en-US" smtClean="0">
                <a:cs typeface="Arial" charset="0"/>
              </a:rPr>
              <a:pPr/>
              <a:t>‹#›</a:t>
            </a:fld>
            <a:endParaRPr lang="en-US">
              <a:cs typeface="Arial" charset="0"/>
            </a:endParaRPr>
          </a:p>
        </p:txBody>
      </p:sp>
    </p:spTree>
    <p:extLst>
      <p:ext uri="{BB962C8B-B14F-4D97-AF65-F5344CB8AC3E}">
        <p14:creationId xmlns:p14="http://schemas.microsoft.com/office/powerpoint/2010/main" val="2384419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304083-AB22-472B-8C21-332A85592409}" type="datetime1">
              <a:rPr lang="en-US" smtClean="0">
                <a:cs typeface="Arial" charset="0"/>
              </a:rPr>
              <a:t>1/7/2025</a:t>
            </a:fld>
            <a:endParaRPr lang="en-US">
              <a:cs typeface="Arial" charset="0"/>
            </a:endParaRPr>
          </a:p>
        </p:txBody>
      </p:sp>
      <p:sp>
        <p:nvSpPr>
          <p:cNvPr id="5" name="Footer Placeholder 4"/>
          <p:cNvSpPr>
            <a:spLocks noGrp="1"/>
          </p:cNvSpPr>
          <p:nvPr>
            <p:ph type="ftr" sz="quarter" idx="11"/>
          </p:nvPr>
        </p:nvSpPr>
        <p:spPr/>
        <p:txBody>
          <a:bodyPr/>
          <a:lstStyle/>
          <a:p>
            <a:r>
              <a:rPr lang="en-US">
                <a:cs typeface="Arial" charset="0"/>
              </a:rPr>
              <a:t>INCOSE WMA October  2024  Program/Dinner Meeting</a:t>
            </a:r>
          </a:p>
        </p:txBody>
      </p:sp>
      <p:sp>
        <p:nvSpPr>
          <p:cNvPr id="6" name="Slide Number Placeholder 5"/>
          <p:cNvSpPr>
            <a:spLocks noGrp="1"/>
          </p:cNvSpPr>
          <p:nvPr>
            <p:ph type="sldNum" sz="quarter" idx="12"/>
          </p:nvPr>
        </p:nvSpPr>
        <p:spPr/>
        <p:txBody>
          <a:bodyPr/>
          <a:lstStyle/>
          <a:p>
            <a:fld id="{4FAB73BC-B049-4115-A692-8D63A059BFB8}" type="slidenum">
              <a:rPr lang="en-US" smtClean="0">
                <a:cs typeface="Arial" charset="0"/>
              </a:rPr>
              <a:pPr/>
              <a:t>‹#›</a:t>
            </a:fld>
            <a:endParaRPr lang="en-US">
              <a:cs typeface="Arial" charset="0"/>
            </a:endParaRPr>
          </a:p>
        </p:txBody>
      </p:sp>
    </p:spTree>
    <p:extLst>
      <p:ext uri="{BB962C8B-B14F-4D97-AF65-F5344CB8AC3E}">
        <p14:creationId xmlns:p14="http://schemas.microsoft.com/office/powerpoint/2010/main" val="1288297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E7D8C30-A332-43CF-A389-BF787E27D450}" type="datetime1">
              <a:rPr lang="en-US" smtClean="0">
                <a:cs typeface="Arial" charset="0"/>
              </a:rPr>
              <a:t>1/7/2025</a:t>
            </a:fld>
            <a:endParaRPr lang="en-US">
              <a:cs typeface="Arial" charset="0"/>
            </a:endParaRPr>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cs typeface="Arial" charset="0"/>
              </a:rPr>
              <a:t>INCOSE WMA October  2024  Program/Dinner Meeting</a:t>
            </a:r>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smtClean="0">
                <a:cs typeface="Arial" charset="0"/>
              </a:rPr>
              <a:pPr/>
              <a:t>‹#›</a:t>
            </a:fld>
            <a:endParaRPr lang="en-US">
              <a:cs typeface="Arial" charset="0"/>
            </a:endParaRPr>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3DFCC25-FAD6-4A24-9898-F21018CBC26A}"/>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782164" y="228600"/>
            <a:ext cx="2308241" cy="772886"/>
          </a:xfrm>
          <a:prstGeom prst="rect">
            <a:avLst/>
          </a:prstGeom>
        </p:spPr>
      </p:pic>
      <p:pic>
        <p:nvPicPr>
          <p:cNvPr id="12" name="Picture 2" descr="https://cdn.evbuc.com/eventlogos/3661846/incoselogoweb.jpg">
            <a:extLst>
              <a:ext uri="{FF2B5EF4-FFF2-40B4-BE49-F238E27FC236}">
                <a16:creationId xmlns:a16="http://schemas.microsoft.com/office/drawing/2014/main" id="{3D78ECDB-8F83-4D8F-9D7F-23D05AAA24D2}"/>
              </a:ext>
            </a:extLst>
          </p:cNvPr>
          <p:cNvPicPr>
            <a:picLocks noChangeAspect="1" noChangeArrowheads="1"/>
          </p:cNvPicPr>
          <p:nvPr userDrawn="1"/>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00" y="135622"/>
            <a:ext cx="1002206" cy="626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065153"/>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hyperlink" Target="about:blank"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mailto:zfuad@gmu.edu" TargetMode="External"/><Relationship Id="rId2" Type="http://schemas.openxmlformats.org/officeDocument/2006/relationships/hyperlink" Target="mailto:eabbasi2@gmu.edu" TargetMode="External"/><Relationship Id="rId1" Type="http://schemas.openxmlformats.org/officeDocument/2006/relationships/slideLayout" Target="../slideLayouts/slideLayout6.xml"/><Relationship Id="rId6" Type="http://schemas.openxmlformats.org/officeDocument/2006/relationships/hyperlink" Target="mailto:mamissah@gmu.edu" TargetMode="External"/><Relationship Id="rId5" Type="http://schemas.openxmlformats.org/officeDocument/2006/relationships/hyperlink" Target="mailto:halwaha@gmu.edu" TargetMode="External"/><Relationship Id="rId4" Type="http://schemas.openxmlformats.org/officeDocument/2006/relationships/hyperlink" Target="mailto:sawad3@gmu.edu"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mailto:ttopcu@vt.edu" TargetMode="External"/><Relationship Id="rId2" Type="http://schemas.openxmlformats.org/officeDocument/2006/relationships/hyperlink" Target="mailto:shefa@vt.edu"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mailto:ericdano@gwu.edu" TargetMode="External"/><Relationship Id="rId2" Type="http://schemas.openxmlformats.org/officeDocument/2006/relationships/hyperlink" Target="mailto:buechner@gwmail.gwu.edu"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about:blank"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mailto:newsletter@incosewma.or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about:blank" TargetMode="External"/><Relationship Id="rId4" Type="http://schemas.openxmlformats.org/officeDocument/2006/relationships/image" Target="../media/image15.svg"/></Relationships>
</file>

<file path=ppt/slides/_rels/slide2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20.jpe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jpeg"/><Relationship Id="rId4" Type="http://schemas.openxmlformats.org/officeDocument/2006/relationships/image" Target="../media/image18.jpeg"/><Relationship Id="rId9" Type="http://schemas.openxmlformats.org/officeDocument/2006/relationships/image" Target="../media/image23.jpeg"/></Relationships>
</file>

<file path=ppt/slides/_rels/slide25.xml.rels><?xml version="1.0" encoding="UTF-8" standalone="yes"?>
<Relationships xmlns="http://schemas.openxmlformats.org/package/2006/relationships"><Relationship Id="rId3" Type="http://schemas.openxmlformats.org/officeDocument/2006/relationships/hyperlink" Target="mailto:events@incosewma.org" TargetMode="External"/><Relationship Id="rId2" Type="http://schemas.openxmlformats.org/officeDocument/2006/relationships/image" Target="../media/image26.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image" Target="../media/image27.png"/></Relationships>
</file>

<file path=ppt/slides/_rels/slide2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cdn.evbuc.com/eventlogos/3661846/incoselogoweb.jpg"/>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200" y="135622"/>
            <a:ext cx="2340866" cy="14630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img.evbuc.com/https%3A%2F%2Fimg.evbuc.com%2Fhttp%253A%252F%252Fcdn.evbuc.com%252Fimages%252F20467262%252F56013858409%252F1%252Foriginal.jpg%3Frect%3D770%252C777%252C1906%252C953%26s%3Dddcc90fde259348abe6851dc46f0e3f6?h=230&amp;w=460&amp;s=7eb06cadf46c68b1bffbca608954677e"/>
          <p:cNvPicPr>
            <a:picLocks noChangeAspect="1" noChangeArrowheads="1"/>
          </p:cNvPicPr>
          <p:nvPr/>
        </p:nvPicPr>
        <p:blipFill>
          <a:blip r:embed="rId3" cstate="print">
            <a:clrChange>
              <a:clrFrom>
                <a:srgbClr val="FEFEFE">
                  <a:alpha val="99608"/>
                </a:srgbClr>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9067800" y="135622"/>
            <a:ext cx="2926080" cy="1463040"/>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9E7E5F78-DB1A-4E67-A9C8-376B606C6D8A}"/>
              </a:ext>
            </a:extLst>
          </p:cNvPr>
          <p:cNvSpPr txBox="1">
            <a:spLocks/>
          </p:cNvSpPr>
          <p:nvPr/>
        </p:nvSpPr>
        <p:spPr>
          <a:xfrm>
            <a:off x="914400" y="4343400"/>
            <a:ext cx="10972800" cy="1600200"/>
          </a:xfrm>
          <a:prstGeom prst="rect">
            <a:avLst/>
          </a:prstGeom>
          <a:solidFill>
            <a:schemeClr val="accent1">
              <a:alpha val="50000"/>
            </a:schemeClr>
          </a:solidFill>
          <a:ln>
            <a:noFill/>
          </a:ln>
          <a:effectLst>
            <a:glow rad="228600">
              <a:schemeClr val="accent1">
                <a:satMod val="175000"/>
                <a:alpha val="40000"/>
              </a:schemeClr>
            </a:glow>
          </a:effectLst>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nSpc>
                <a:spcPct val="100000"/>
              </a:lnSpc>
              <a:spcBef>
                <a:spcPts val="600"/>
              </a:spcBef>
              <a:spcAft>
                <a:spcPts val="600"/>
              </a:spcAft>
            </a:pPr>
            <a:r>
              <a:rPr lang="en-US" sz="1600" dirty="0">
                <a:solidFill>
                  <a:schemeClr val="tx1"/>
                </a:solidFill>
                <a:latin typeface="Verdana" panose="020B0604030504040204" pitchFamily="34" charset="0"/>
                <a:cs typeface="Calibri" panose="020F0502020204030204" pitchFamily="34" charset="0"/>
              </a:rPr>
              <a:t>6:30 pm – 7:00 pm  </a:t>
            </a:r>
            <a:r>
              <a:rPr lang="en-US" sz="1600" dirty="0">
                <a:solidFill>
                  <a:schemeClr val="tx1"/>
                </a:solidFill>
                <a:latin typeface="Verdana" pitchFamily="34" charset="0"/>
                <a:ea typeface="Verdana" pitchFamily="34" charset="0"/>
                <a:cs typeface="Calibri" panose="020F0502020204030204" pitchFamily="34" charset="0"/>
              </a:rPr>
              <a:t>Administrative Updates</a:t>
            </a:r>
          </a:p>
          <a:p>
            <a:pPr marL="2349500" indent="-2349500">
              <a:lnSpc>
                <a:spcPct val="100000"/>
              </a:lnSpc>
              <a:spcBef>
                <a:spcPts val="600"/>
              </a:spcBef>
              <a:spcAft>
                <a:spcPts val="600"/>
              </a:spcAft>
            </a:pPr>
            <a:r>
              <a:rPr lang="en-US" sz="1600" dirty="0">
                <a:solidFill>
                  <a:schemeClr val="tx1"/>
                </a:solidFill>
                <a:latin typeface="Verdana" pitchFamily="34" charset="0"/>
                <a:ea typeface="Verdana" pitchFamily="34" charset="0"/>
                <a:cs typeface="Calibri" panose="020F0502020204030204" pitchFamily="34" charset="0"/>
              </a:rPr>
              <a:t>7:00 pm – 8:00 pm 2025 </a:t>
            </a:r>
            <a:r>
              <a:rPr lang="en-US" sz="1600" dirty="0" err="1">
                <a:solidFill>
                  <a:schemeClr val="tx1"/>
                </a:solidFill>
                <a:latin typeface="Verdana" pitchFamily="34" charset="0"/>
                <a:ea typeface="Verdana" pitchFamily="34" charset="0"/>
                <a:cs typeface="Calibri" panose="020F0502020204030204" pitchFamily="34" charset="0"/>
              </a:rPr>
              <a:t>BoD</a:t>
            </a:r>
            <a:r>
              <a:rPr lang="en-US" sz="1600" dirty="0">
                <a:solidFill>
                  <a:schemeClr val="tx1"/>
                </a:solidFill>
                <a:latin typeface="Verdana" pitchFamily="34" charset="0"/>
                <a:ea typeface="Verdana" pitchFamily="34" charset="0"/>
                <a:cs typeface="Calibri" panose="020F0502020204030204" pitchFamily="34" charset="0"/>
              </a:rPr>
              <a:t> Induction and Oath Ceremony; President Ralf Hartmann “INCOSE in 2025”</a:t>
            </a:r>
            <a:endParaRPr lang="en-US" sz="1600" dirty="0">
              <a:solidFill>
                <a:schemeClr val="tx1"/>
              </a:solidFill>
              <a:latin typeface="Verdana" pitchFamily="34" charset="0"/>
              <a:ea typeface="Verdana" pitchFamily="34" charset="0"/>
            </a:endParaRPr>
          </a:p>
        </p:txBody>
      </p:sp>
      <p:sp>
        <p:nvSpPr>
          <p:cNvPr id="6" name="Title 1">
            <a:extLst>
              <a:ext uri="{FF2B5EF4-FFF2-40B4-BE49-F238E27FC236}">
                <a16:creationId xmlns:a16="http://schemas.microsoft.com/office/drawing/2014/main" id="{23FB8B47-A0B4-4BCC-A63A-F4B4CEA22567}"/>
              </a:ext>
            </a:extLst>
          </p:cNvPr>
          <p:cNvSpPr txBox="1">
            <a:spLocks/>
          </p:cNvSpPr>
          <p:nvPr/>
        </p:nvSpPr>
        <p:spPr>
          <a:xfrm>
            <a:off x="1143000" y="1805965"/>
            <a:ext cx="9982200" cy="2485511"/>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8000" kern="1200" spc="-50" baseline="0">
                <a:solidFill>
                  <a:schemeClr val="tx1">
                    <a:lumMod val="85000"/>
                    <a:lumOff val="15000"/>
                  </a:schemeClr>
                </a:solidFill>
                <a:latin typeface="+mj-lt"/>
                <a:ea typeface="+mj-ea"/>
                <a:cs typeface="+mj-cs"/>
              </a:defRPr>
            </a:lvl1pPr>
          </a:lstStyle>
          <a:p>
            <a:pPr algn="ctr">
              <a:lnSpc>
                <a:spcPct val="100000"/>
              </a:lnSpc>
              <a:spcBef>
                <a:spcPts val="600"/>
              </a:spcBef>
              <a:spcAft>
                <a:spcPts val="600"/>
              </a:spcAft>
            </a:pPr>
            <a:r>
              <a:rPr lang="en-US" sz="4800" b="1" dirty="0">
                <a:latin typeface="Broadway" panose="04040905080B02020502" pitchFamily="82" charset="0"/>
              </a:rPr>
              <a:t>Program Monthly Meeting</a:t>
            </a:r>
            <a:br>
              <a:rPr lang="en-US" sz="4000" b="1" dirty="0">
                <a:latin typeface="Broadway" panose="04040905080B02020502" pitchFamily="82" charset="0"/>
              </a:rPr>
            </a:br>
            <a:r>
              <a:rPr lang="en-US" sz="4000" b="1" dirty="0">
                <a:solidFill>
                  <a:schemeClr val="bg2">
                    <a:lumMod val="25000"/>
                  </a:schemeClr>
                </a:solidFill>
              </a:rPr>
              <a:t>January </a:t>
            </a:r>
            <a:r>
              <a:rPr lang="en-US" sz="3600" b="1" dirty="0">
                <a:solidFill>
                  <a:schemeClr val="bg2">
                    <a:lumMod val="25000"/>
                  </a:schemeClr>
                </a:solidFill>
              </a:rPr>
              <a:t>08, 2025</a:t>
            </a:r>
            <a:br>
              <a:rPr lang="en-US" sz="4000" b="1" dirty="0"/>
            </a:br>
            <a:r>
              <a:rPr lang="en-US" sz="2400" b="1" i="1" dirty="0">
                <a:solidFill>
                  <a:srgbClr val="0070C0"/>
                </a:solidFill>
                <a:latin typeface="Arial" panose="020B0604020202020204" pitchFamily="34" charset="0"/>
                <a:cs typeface="Arial" panose="020B0604020202020204" pitchFamily="34" charset="0"/>
              </a:rPr>
              <a:t>Welcome to INCOSE WMA</a:t>
            </a:r>
            <a:endParaRPr lang="en-US" sz="4000" i="1" dirty="0">
              <a:solidFill>
                <a:srgbClr val="0070C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4022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A2F8-53C3-41F5-BB69-6007A2DA4735}"/>
              </a:ext>
            </a:extLst>
          </p:cNvPr>
          <p:cNvSpPr>
            <a:spLocks noGrp="1"/>
          </p:cNvSpPr>
          <p:nvPr>
            <p:ph type="title"/>
          </p:nvPr>
        </p:nvSpPr>
        <p:spPr/>
        <p:txBody>
          <a:bodyPr/>
          <a:lstStyle/>
          <a:p>
            <a:r>
              <a:rPr lang="en-US" b="1" dirty="0">
                <a:solidFill>
                  <a:schemeClr val="tx1"/>
                </a:solidFill>
              </a:rPr>
              <a:t>Welcome and Member Recognition</a:t>
            </a:r>
          </a:p>
        </p:txBody>
      </p:sp>
      <p:sp>
        <p:nvSpPr>
          <p:cNvPr id="3" name="Content Placeholder 2">
            <a:extLst>
              <a:ext uri="{FF2B5EF4-FFF2-40B4-BE49-F238E27FC236}">
                <a16:creationId xmlns:a16="http://schemas.microsoft.com/office/drawing/2014/main" id="{A2AA7B6C-9672-46E0-9DF2-C7472AF55B0C}"/>
              </a:ext>
            </a:extLst>
          </p:cNvPr>
          <p:cNvSpPr>
            <a:spLocks noGrp="1"/>
          </p:cNvSpPr>
          <p:nvPr>
            <p:ph idx="1"/>
          </p:nvPr>
        </p:nvSpPr>
        <p:spPr>
          <a:xfrm>
            <a:off x="2743200" y="2971332"/>
            <a:ext cx="5974698" cy="1495281"/>
          </a:xfrm>
        </p:spPr>
        <p:txBody>
          <a:bodyPr>
            <a:normAutofit fontScale="55000" lnSpcReduction="20000"/>
          </a:bodyPr>
          <a:lstStyle/>
          <a:p>
            <a:pPr marL="457200" indent="-457200" defTabSz="287338">
              <a:buFont typeface="Wingdings" panose="05000000000000000000" pitchFamily="2" charset="2"/>
              <a:buChar char="q"/>
            </a:pPr>
            <a:endParaRPr lang="en-US" sz="2800" dirty="0">
              <a:solidFill>
                <a:schemeClr val="tx1"/>
              </a:solidFill>
              <a:latin typeface="Arial" panose="020B0604020202020204" pitchFamily="34" charset="0"/>
              <a:cs typeface="Arial" panose="020B0604020202020204" pitchFamily="34" charset="0"/>
            </a:endParaRPr>
          </a:p>
          <a:p>
            <a:pPr marL="457200" indent="-457200" defTabSz="287338">
              <a:buFont typeface="Wingdings" panose="05000000000000000000" pitchFamily="2" charset="2"/>
              <a:buChar char="q"/>
            </a:pPr>
            <a:r>
              <a:rPr lang="en-US" sz="2800" dirty="0">
                <a:solidFill>
                  <a:schemeClr val="tx1"/>
                </a:solidFill>
                <a:latin typeface="Arial" panose="020B0604020202020204" pitchFamily="34" charset="0"/>
                <a:cs typeface="Arial" panose="020B0604020202020204" pitchFamily="34" charset="0"/>
              </a:rPr>
              <a:t>Welcome to the Monthly INCOSE WMA Program Meeting</a:t>
            </a:r>
          </a:p>
          <a:p>
            <a:pPr marL="457200" indent="-457200" defTabSz="287338">
              <a:buFont typeface="Wingdings" panose="05000000000000000000" pitchFamily="2" charset="2"/>
              <a:buChar char="q"/>
            </a:pPr>
            <a:r>
              <a:rPr lang="en-US" sz="2800" dirty="0">
                <a:solidFill>
                  <a:schemeClr val="tx1"/>
                </a:solidFill>
                <a:latin typeface="Arial" panose="020B0604020202020204" pitchFamily="34" charset="0"/>
                <a:cs typeface="Arial" panose="020B0604020202020204" pitchFamily="34" charset="0"/>
              </a:rPr>
              <a:t>Dial In Participants </a:t>
            </a:r>
          </a:p>
          <a:p>
            <a:pPr marL="749808" lvl="1" indent="-457200" defTabSz="287338">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New Members</a:t>
            </a:r>
          </a:p>
          <a:p>
            <a:pPr marL="749808" lvl="1" indent="-457200" defTabSz="287338">
              <a:buFont typeface="Arial" panose="020B0604020202020204" pitchFamily="34" charset="0"/>
              <a:buChar char="•"/>
            </a:pPr>
            <a:r>
              <a:rPr lang="en-US" sz="2600" dirty="0">
                <a:solidFill>
                  <a:schemeClr val="tx1"/>
                </a:solidFill>
                <a:latin typeface="Arial" panose="020B0604020202020204" pitchFamily="34" charset="0"/>
                <a:cs typeface="Arial" panose="020B0604020202020204" pitchFamily="34" charset="0"/>
              </a:rPr>
              <a:t>1</a:t>
            </a:r>
            <a:r>
              <a:rPr lang="en-US" sz="2600" baseline="30000" dirty="0">
                <a:solidFill>
                  <a:schemeClr val="tx1"/>
                </a:solidFill>
                <a:latin typeface="Arial" panose="020B0604020202020204" pitchFamily="34" charset="0"/>
                <a:cs typeface="Arial" panose="020B0604020202020204" pitchFamily="34" charset="0"/>
              </a:rPr>
              <a:t>st</a:t>
            </a:r>
            <a:r>
              <a:rPr lang="en-US" sz="2600" dirty="0">
                <a:solidFill>
                  <a:schemeClr val="tx1"/>
                </a:solidFill>
                <a:latin typeface="Arial" panose="020B0604020202020204" pitchFamily="34" charset="0"/>
                <a:cs typeface="Arial" panose="020B0604020202020204" pitchFamily="34" charset="0"/>
              </a:rPr>
              <a:t> time at an INCOSE meeting</a:t>
            </a:r>
          </a:p>
          <a:p>
            <a:pPr>
              <a:buFont typeface="Wingdings" panose="05000000000000000000" pitchFamily="2" charset="2"/>
              <a:buChar char="q"/>
            </a:pPr>
            <a:endParaRPr lang="en-US" dirty="0">
              <a:solidFill>
                <a:schemeClr val="tx1"/>
              </a:solidFill>
              <a:latin typeface="Arial" panose="020B0604020202020204" pitchFamily="34" charset="0"/>
              <a:cs typeface="Arial" panose="020B0604020202020204" pitchFamily="34" charset="0"/>
            </a:endParaRPr>
          </a:p>
        </p:txBody>
      </p:sp>
      <p:sp>
        <p:nvSpPr>
          <p:cNvPr id="6" name="Footer Placeholder 5">
            <a:extLst>
              <a:ext uri="{FF2B5EF4-FFF2-40B4-BE49-F238E27FC236}">
                <a16:creationId xmlns:a16="http://schemas.microsoft.com/office/drawing/2014/main" id="{AD0925C4-EB42-4BC2-8FDA-DAE91821D062}"/>
              </a:ext>
            </a:extLst>
          </p:cNvPr>
          <p:cNvSpPr>
            <a:spLocks noGrp="1"/>
          </p:cNvSpPr>
          <p:nvPr>
            <p:ph type="ftr" sz="quarter" idx="11"/>
          </p:nvPr>
        </p:nvSpPr>
        <p:spPr/>
        <p:txBody>
          <a:bodyPr/>
          <a:lstStyle/>
          <a:p>
            <a:r>
              <a:rPr lang="en-US" dirty="0"/>
              <a:t>INCOSE WMA  2025  Program Meeting</a:t>
            </a:r>
          </a:p>
        </p:txBody>
      </p:sp>
      <p:pic>
        <p:nvPicPr>
          <p:cNvPr id="1026" name="Picture 2">
            <a:extLst>
              <a:ext uri="{FF2B5EF4-FFF2-40B4-BE49-F238E27FC236}">
                <a16:creationId xmlns:a16="http://schemas.microsoft.com/office/drawing/2014/main" id="{E106AAA8-8AF7-79C8-1A3C-D98C7018E60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32782" y="2227282"/>
            <a:ext cx="619326" cy="537691"/>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a:extLst>
              <a:ext uri="{FF2B5EF4-FFF2-40B4-BE49-F238E27FC236}">
                <a16:creationId xmlns:a16="http://schemas.microsoft.com/office/drawing/2014/main" id="{73731F7B-F248-0797-8C73-78FD2BFB8A4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75938" y="2268440"/>
            <a:ext cx="225121" cy="2256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700E287-5D05-2478-6D1A-EB6D1F115CC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42445" y="2268440"/>
            <a:ext cx="225676" cy="225676"/>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a:extLst>
              <a:ext uri="{FF2B5EF4-FFF2-40B4-BE49-F238E27FC236}">
                <a16:creationId xmlns:a16="http://schemas.microsoft.com/office/drawing/2014/main" id="{98B296F1-C6FD-9EE4-6032-9D02FC092D9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40058" y="2691360"/>
            <a:ext cx="205273" cy="20527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2C8B141-10DB-BDD7-BFCE-D8D7D7D2D8DE}"/>
              </a:ext>
            </a:extLst>
          </p:cNvPr>
          <p:cNvSpPr txBox="1"/>
          <p:nvPr/>
        </p:nvSpPr>
        <p:spPr>
          <a:xfrm>
            <a:off x="3962400" y="2268440"/>
            <a:ext cx="4755498" cy="369332"/>
          </a:xfrm>
          <a:prstGeom prst="rect">
            <a:avLst/>
          </a:prstGeom>
          <a:noFill/>
        </p:spPr>
        <p:txBody>
          <a:bodyPr wrap="square" rtlCol="0">
            <a:spAutoFit/>
          </a:bodyPr>
          <a:lstStyle/>
          <a:p>
            <a:r>
              <a:rPr lang="en-US" b="1" i="0" u="none" strike="noStrike" dirty="0">
                <a:solidFill>
                  <a:srgbClr val="00B0F0"/>
                </a:solidFill>
                <a:effectLst/>
                <a:latin typeface="Arial" panose="020B0604020202020204" pitchFamily="34" charset="0"/>
              </a:rPr>
              <a:t>START RECORDING THE MEETING </a:t>
            </a:r>
            <a:r>
              <a:rPr lang="en-US" b="0" i="0" dirty="0">
                <a:solidFill>
                  <a:srgbClr val="000000"/>
                </a:solidFill>
                <a:effectLst/>
                <a:latin typeface="Arial" panose="020B0604020202020204" pitchFamily="34" charset="0"/>
              </a:rPr>
              <a:t>​</a:t>
            </a:r>
            <a:endParaRPr lang="en-US" dirty="0"/>
          </a:p>
        </p:txBody>
      </p:sp>
    </p:spTree>
    <p:extLst>
      <p:ext uri="{BB962C8B-B14F-4D97-AF65-F5344CB8AC3E}">
        <p14:creationId xmlns:p14="http://schemas.microsoft.com/office/powerpoint/2010/main" val="3619394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4A2F8-53C3-41F5-BB69-6007A2DA4735}"/>
              </a:ext>
            </a:extLst>
          </p:cNvPr>
          <p:cNvSpPr>
            <a:spLocks noGrp="1"/>
          </p:cNvSpPr>
          <p:nvPr>
            <p:ph type="title"/>
          </p:nvPr>
        </p:nvSpPr>
        <p:spPr>
          <a:xfrm>
            <a:off x="1097280" y="457200"/>
            <a:ext cx="10058400" cy="1237397"/>
          </a:xfrm>
        </p:spPr>
        <p:txBody>
          <a:bodyPr/>
          <a:lstStyle/>
          <a:p>
            <a:r>
              <a:rPr lang="en-US" b="1" dirty="0">
                <a:solidFill>
                  <a:schemeClr val="tx1"/>
                </a:solidFill>
              </a:rPr>
              <a:t>Virtual Housekeeping</a:t>
            </a:r>
            <a:endParaRPr lang="en-US" b="1" strike="sngStrike" dirty="0">
              <a:solidFill>
                <a:schemeClr val="tx1"/>
              </a:solidFill>
            </a:endParaRPr>
          </a:p>
        </p:txBody>
      </p:sp>
      <p:sp>
        <p:nvSpPr>
          <p:cNvPr id="3" name="Content Placeholder 2">
            <a:extLst>
              <a:ext uri="{FF2B5EF4-FFF2-40B4-BE49-F238E27FC236}">
                <a16:creationId xmlns:a16="http://schemas.microsoft.com/office/drawing/2014/main" id="{A2AA7B6C-9672-46E0-9DF2-C7472AF55B0C}"/>
              </a:ext>
            </a:extLst>
          </p:cNvPr>
          <p:cNvSpPr>
            <a:spLocks noGrp="1"/>
          </p:cNvSpPr>
          <p:nvPr>
            <p:ph idx="1"/>
          </p:nvPr>
        </p:nvSpPr>
        <p:spPr>
          <a:xfrm>
            <a:off x="1125354" y="1828800"/>
            <a:ext cx="10058400" cy="4706203"/>
          </a:xfrm>
        </p:spPr>
        <p:txBody>
          <a:bodyPr>
            <a:normAutofit/>
          </a:bodyPr>
          <a:lstStyle/>
          <a:p>
            <a:pPr marL="396875" indent="-396875">
              <a:buFont typeface="Wingdings" panose="05000000000000000000" pitchFamily="2" charset="2"/>
              <a:buChar char="q"/>
            </a:pPr>
            <a:r>
              <a:rPr lang="en-US" sz="2400" dirty="0">
                <a:solidFill>
                  <a:schemeClr val="tx1"/>
                </a:solidFill>
                <a:latin typeface="Arial" panose="020B0604020202020204" pitchFamily="34" charset="0"/>
                <a:cs typeface="Arial" panose="020B0604020202020204" pitchFamily="34" charset="0"/>
              </a:rPr>
              <a:t>Check-In</a:t>
            </a:r>
          </a:p>
          <a:p>
            <a:pPr marL="689483" lvl="1" indent="-396875">
              <a:buFont typeface="Wingdings" panose="05000000000000000000" pitchFamily="2" charset="2"/>
              <a:buChar char="q"/>
            </a:pPr>
            <a:r>
              <a:rPr lang="en-US" sz="2200" dirty="0">
                <a:solidFill>
                  <a:schemeClr val="tx1"/>
                </a:solidFill>
                <a:latin typeface="Arial" panose="020B0604020202020204" pitchFamily="34" charset="0"/>
                <a:cs typeface="Arial" panose="020B0604020202020204" pitchFamily="34" charset="0"/>
              </a:rPr>
              <a:t>If you are dialing in, please send an email to </a:t>
            </a:r>
            <a:r>
              <a:rPr lang="en-US" sz="2200" dirty="0">
                <a:latin typeface="Arial" panose="020B0604020202020204" pitchFamily="34" charset="0"/>
                <a:cs typeface="Arial" panose="020B0604020202020204" pitchFamily="34" charset="0"/>
                <a:hlinkClick r:id="rId2"/>
              </a:rPr>
              <a:t>programs@incosewma.org</a:t>
            </a:r>
            <a:r>
              <a:rPr lang="en-US" sz="2200" dirty="0">
                <a:latin typeface="Arial" panose="020B0604020202020204" pitchFamily="34" charset="0"/>
                <a:cs typeface="Arial" panose="020B0604020202020204" pitchFamily="34" charset="0"/>
              </a:rPr>
              <a:t> </a:t>
            </a:r>
            <a:r>
              <a:rPr lang="en-US" sz="2200" dirty="0">
                <a:solidFill>
                  <a:schemeClr val="tx1"/>
                </a:solidFill>
                <a:latin typeface="Arial" panose="020B0604020202020204" pitchFamily="34" charset="0"/>
                <a:cs typeface="Arial" panose="020B0604020202020204" pitchFamily="34" charset="0"/>
              </a:rPr>
              <a:t>to confirm your attendance</a:t>
            </a:r>
          </a:p>
          <a:p>
            <a:pPr marL="396875" indent="-396875">
              <a:buFont typeface="Wingdings" panose="05000000000000000000" pitchFamily="2" charset="2"/>
              <a:buChar char="q"/>
            </a:pPr>
            <a:r>
              <a:rPr lang="en-US" sz="2400" dirty="0">
                <a:solidFill>
                  <a:schemeClr val="tx1"/>
                </a:solidFill>
                <a:latin typeface="Arial" panose="020B0604020202020204" pitchFamily="34" charset="0"/>
                <a:cs typeface="Arial" panose="020B0604020202020204" pitchFamily="34" charset="0"/>
              </a:rPr>
              <a:t>Mute your phone and/or microphone</a:t>
            </a:r>
          </a:p>
          <a:p>
            <a:pPr marL="396875" indent="-396875">
              <a:buFont typeface="Wingdings" panose="05000000000000000000" pitchFamily="2" charset="2"/>
              <a:buChar char="q"/>
            </a:pPr>
            <a:r>
              <a:rPr lang="en-US" sz="2400" dirty="0">
                <a:solidFill>
                  <a:schemeClr val="tx1"/>
                </a:solidFill>
                <a:latin typeface="Arial" panose="020B0604020202020204" pitchFamily="34" charset="0"/>
                <a:cs typeface="Arial" panose="020B0604020202020204" pitchFamily="34" charset="0"/>
              </a:rPr>
              <a:t>Networking Opportunity - Exchange Business Information/Opportunities/Interests in the Chat</a:t>
            </a:r>
            <a:endParaRPr lang="en-US" sz="2400" strike="sngStrike" dirty="0">
              <a:solidFill>
                <a:schemeClr val="tx1"/>
              </a:solidFill>
              <a:latin typeface="Arial" panose="020B0604020202020204" pitchFamily="34" charset="0"/>
              <a:cs typeface="Arial" panose="020B0604020202020204" pitchFamily="34" charset="0"/>
            </a:endParaRPr>
          </a:p>
        </p:txBody>
      </p:sp>
      <p:sp>
        <p:nvSpPr>
          <p:cNvPr id="7" name="Footer Placeholder 5">
            <a:extLst>
              <a:ext uri="{FF2B5EF4-FFF2-40B4-BE49-F238E27FC236}">
                <a16:creationId xmlns:a16="http://schemas.microsoft.com/office/drawing/2014/main" id="{FC8529D9-2EF9-4D3F-9B41-BD3B8ED435E1}"/>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extLst>
      <p:ext uri="{BB962C8B-B14F-4D97-AF65-F5344CB8AC3E}">
        <p14:creationId xmlns:p14="http://schemas.microsoft.com/office/powerpoint/2010/main" val="2113645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69DC6-37AC-4BEB-B531-4FCF3C3FC565}"/>
              </a:ext>
            </a:extLst>
          </p:cNvPr>
          <p:cNvSpPr>
            <a:spLocks noGrp="1"/>
          </p:cNvSpPr>
          <p:nvPr>
            <p:ph type="title"/>
          </p:nvPr>
        </p:nvSpPr>
        <p:spPr>
          <a:xfrm>
            <a:off x="457200" y="449578"/>
            <a:ext cx="3200400" cy="5958841"/>
          </a:xfrm>
        </p:spPr>
        <p:txBody>
          <a:bodyPr anchor="ctr">
            <a:normAutofit/>
          </a:bodyPr>
          <a:lstStyle/>
          <a:p>
            <a:r>
              <a:rPr lang="en-US" sz="3600" dirty="0">
                <a:solidFill>
                  <a:srgbClr val="FFFFFF"/>
                </a:solidFill>
              </a:rPr>
              <a:t>President’s Message</a:t>
            </a:r>
          </a:p>
        </p:txBody>
      </p:sp>
      <p:sp>
        <p:nvSpPr>
          <p:cNvPr id="6" name="Footer Placeholder 5">
            <a:extLst>
              <a:ext uri="{FF2B5EF4-FFF2-40B4-BE49-F238E27FC236}">
                <a16:creationId xmlns:a16="http://schemas.microsoft.com/office/drawing/2014/main" id="{08F98150-4B34-4BED-B100-AE25A9022C15}"/>
              </a:ext>
            </a:extLst>
          </p:cNvPr>
          <p:cNvSpPr>
            <a:spLocks noGrp="1"/>
          </p:cNvSpPr>
          <p:nvPr>
            <p:ph type="ftr" sz="quarter" idx="11"/>
          </p:nvPr>
        </p:nvSpPr>
        <p:spPr>
          <a:xfrm>
            <a:off x="1600200" y="6492875"/>
            <a:ext cx="10591800" cy="365125"/>
          </a:xfrm>
          <a:solidFill>
            <a:schemeClr val="accent2"/>
          </a:solidFill>
        </p:spPr>
        <p:txBody>
          <a:bodyPr>
            <a:norm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900" b="0" i="0" u="none" strike="noStrike" kern="1200" cap="all" spc="0" normalizeH="0" baseline="0" noProof="0" dirty="0">
                <a:ln>
                  <a:noFill/>
                </a:ln>
                <a:solidFill>
                  <a:prstClr val="white"/>
                </a:solidFill>
                <a:effectLst/>
                <a:uLnTx/>
                <a:uFillTx/>
                <a:latin typeface="Calibri"/>
                <a:ea typeface="+mn-ea"/>
                <a:cs typeface="+mn-cs"/>
              </a:rPr>
              <a:t>INCOSE WMA 2025  Program Meeting</a:t>
            </a:r>
          </a:p>
        </p:txBody>
      </p:sp>
      <p:sp>
        <p:nvSpPr>
          <p:cNvPr id="8" name="Slide Number Placeholder 7"/>
          <p:cNvSpPr>
            <a:spLocks noGrp="1"/>
          </p:cNvSpPr>
          <p:nvPr>
            <p:ph type="sldNum" sz="quarter" idx="12"/>
          </p:nvPr>
        </p:nvSpPr>
        <p:spPr>
          <a:xfrm>
            <a:off x="10439400" y="6477000"/>
            <a:ext cx="1312025"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4FAB73BC-B049-4115-A692-8D63A059BFB8}" type="slidenum">
              <a:rPr kumimoji="0" lang="en-US" sz="1050" b="0" i="0" u="none" strike="noStrike" kern="1200" cap="none" spc="0" normalizeH="0" baseline="0" noProof="0" smtClean="0">
                <a:ln>
                  <a:noFill/>
                </a:ln>
                <a:solidFill>
                  <a:prstClr val="white"/>
                </a:solidFill>
                <a:effectLst/>
                <a:uLnTx/>
                <a:uFillTx/>
                <a:latin typeface="Calibri"/>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050" b="0" i="0" u="none" strike="noStrike" kern="1200" cap="none" spc="0" normalizeH="0" baseline="0" noProof="0" dirty="0">
              <a:ln>
                <a:noFill/>
              </a:ln>
              <a:solidFill>
                <a:prstClr val="white"/>
              </a:solidFill>
              <a:effectLst/>
              <a:uLnTx/>
              <a:uFillTx/>
              <a:latin typeface="Calibri"/>
              <a:ea typeface="+mn-ea"/>
              <a:cs typeface="+mn-cs"/>
            </a:endParaRPr>
          </a:p>
        </p:txBody>
      </p:sp>
      <p:sp>
        <p:nvSpPr>
          <p:cNvPr id="7" name="Content Placeholder 6"/>
          <p:cNvSpPr>
            <a:spLocks noGrp="1"/>
          </p:cNvSpPr>
          <p:nvPr>
            <p:ph idx="1"/>
          </p:nvPr>
        </p:nvSpPr>
        <p:spPr>
          <a:xfrm>
            <a:off x="4419600" y="289559"/>
            <a:ext cx="7772400" cy="5958841"/>
          </a:xfrm>
        </p:spPr>
        <p:txBody>
          <a:bodyPr>
            <a:normAutofit/>
          </a:bodyPr>
          <a:lstStyle/>
          <a:p>
            <a:pPr marL="342900" indent="-342900">
              <a:lnSpc>
                <a:spcPct val="150000"/>
              </a:lnSpc>
              <a:spcBef>
                <a:spcPts val="0"/>
              </a:spcBef>
              <a:spcAft>
                <a:spcPts val="0"/>
              </a:spcAft>
              <a:buFont typeface="Wingdings" panose="05000000000000000000" pitchFamily="2" charset="2"/>
              <a:buChar char="Ø"/>
            </a:pPr>
            <a:r>
              <a:rPr lang="en-US" sz="2800" dirty="0">
                <a:solidFill>
                  <a:schemeClr val="tx1"/>
                </a:solidFill>
              </a:rPr>
              <a:t>Happy New Year and Welcome to January 2025!</a:t>
            </a:r>
          </a:p>
          <a:p>
            <a:pPr marL="342900" indent="-342900">
              <a:lnSpc>
                <a:spcPct val="150000"/>
              </a:lnSpc>
              <a:spcBef>
                <a:spcPts val="0"/>
              </a:spcBef>
              <a:spcAft>
                <a:spcPts val="0"/>
              </a:spcAft>
              <a:buFont typeface="Wingdings" panose="05000000000000000000" pitchFamily="2" charset="2"/>
              <a:buChar char="Ø"/>
            </a:pPr>
            <a:endParaRPr lang="en-US" sz="2800" dirty="0">
              <a:solidFill>
                <a:schemeClr val="tx1"/>
              </a:solidFill>
            </a:endParaRPr>
          </a:p>
          <a:p>
            <a:pPr marL="342900" indent="-342900">
              <a:lnSpc>
                <a:spcPct val="150000"/>
              </a:lnSpc>
              <a:spcBef>
                <a:spcPts val="0"/>
              </a:spcBef>
              <a:spcAft>
                <a:spcPts val="0"/>
              </a:spcAft>
              <a:buFont typeface="Wingdings" panose="05000000000000000000" pitchFamily="2" charset="2"/>
              <a:buChar char="Ø"/>
            </a:pPr>
            <a:r>
              <a:rPr lang="en-US" sz="2800" dirty="0">
                <a:solidFill>
                  <a:schemeClr val="tx1"/>
                </a:solidFill>
              </a:rPr>
              <a:t>INCOSE WMA</a:t>
            </a:r>
          </a:p>
          <a:p>
            <a:pPr marL="635508" lvl="1" indent="-342900">
              <a:lnSpc>
                <a:spcPct val="150000"/>
              </a:lnSpc>
              <a:spcBef>
                <a:spcPts val="0"/>
              </a:spcBef>
              <a:spcAft>
                <a:spcPts val="0"/>
              </a:spcAft>
              <a:buFont typeface="Wingdings" panose="05000000000000000000" pitchFamily="2" charset="2"/>
              <a:buChar char="Ø"/>
            </a:pPr>
            <a:r>
              <a:rPr lang="en-US" sz="2200" dirty="0">
                <a:solidFill>
                  <a:schemeClr val="tx1"/>
                </a:solidFill>
              </a:rPr>
              <a:t>Out-going Chapter President’s Message (Mr. Thomas)</a:t>
            </a:r>
          </a:p>
          <a:p>
            <a:pPr marL="635508" lvl="1" indent="-342900">
              <a:lnSpc>
                <a:spcPct val="150000"/>
              </a:lnSpc>
              <a:spcBef>
                <a:spcPts val="0"/>
              </a:spcBef>
              <a:spcAft>
                <a:spcPts val="0"/>
              </a:spcAft>
              <a:buFont typeface="Wingdings" panose="05000000000000000000" pitchFamily="2" charset="2"/>
              <a:buChar char="Ø"/>
            </a:pPr>
            <a:r>
              <a:rPr lang="en-US" sz="2200" dirty="0">
                <a:solidFill>
                  <a:schemeClr val="tx1"/>
                </a:solidFill>
              </a:rPr>
              <a:t>Incoming Chapter President’s Message (Dr. Studevent) </a:t>
            </a:r>
          </a:p>
          <a:p>
            <a:pPr marL="342900" indent="-342900">
              <a:lnSpc>
                <a:spcPct val="150000"/>
              </a:lnSpc>
              <a:spcBef>
                <a:spcPts val="0"/>
              </a:spcBef>
              <a:spcAft>
                <a:spcPts val="0"/>
              </a:spcAft>
              <a:buFont typeface="Wingdings" panose="05000000000000000000" pitchFamily="2" charset="2"/>
              <a:buChar char="Ø"/>
            </a:pPr>
            <a:endParaRPr lang="en-US" sz="2600" dirty="0">
              <a:solidFill>
                <a:schemeClr val="tx1"/>
              </a:solidFill>
            </a:endParaRPr>
          </a:p>
          <a:p>
            <a:pPr marL="342900" indent="-342900">
              <a:lnSpc>
                <a:spcPct val="150000"/>
              </a:lnSpc>
              <a:spcBef>
                <a:spcPts val="0"/>
              </a:spcBef>
              <a:spcAft>
                <a:spcPts val="0"/>
              </a:spcAft>
              <a:buFont typeface="Wingdings" panose="05000000000000000000" pitchFamily="2" charset="2"/>
              <a:buChar char="Ø"/>
            </a:pPr>
            <a:r>
              <a:rPr lang="en-US" sz="2600" dirty="0">
                <a:solidFill>
                  <a:schemeClr val="tx1"/>
                </a:solidFill>
              </a:rPr>
              <a:t>INCOSE President “INCOSE 2025” (Mr. Ralf Hartmann)</a:t>
            </a:r>
            <a:endParaRPr lang="en-US" sz="2400" dirty="0">
              <a:solidFill>
                <a:schemeClr val="tx1"/>
              </a:solidFill>
            </a:endParaRPr>
          </a:p>
          <a:p>
            <a:pPr marL="0" indent="0">
              <a:buNone/>
            </a:pPr>
            <a:endParaRPr lang="en-US" sz="2800" dirty="0">
              <a:solidFill>
                <a:schemeClr val="tx1"/>
              </a:solidFill>
            </a:endParaRPr>
          </a:p>
        </p:txBody>
      </p:sp>
    </p:spTree>
    <p:extLst>
      <p:ext uri="{BB962C8B-B14F-4D97-AF65-F5344CB8AC3E}">
        <p14:creationId xmlns:p14="http://schemas.microsoft.com/office/powerpoint/2010/main" val="437667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69DC6-37AC-4BEB-B531-4FCF3C3FC565}"/>
              </a:ext>
            </a:extLst>
          </p:cNvPr>
          <p:cNvSpPr>
            <a:spLocks noGrp="1"/>
          </p:cNvSpPr>
          <p:nvPr>
            <p:ph type="title"/>
          </p:nvPr>
        </p:nvSpPr>
        <p:spPr>
          <a:xfrm>
            <a:off x="2047944" y="222253"/>
            <a:ext cx="7208520" cy="1450757"/>
          </a:xfrm>
        </p:spPr>
        <p:txBody>
          <a:bodyPr anchor="ctr"/>
          <a:lstStyle/>
          <a:p>
            <a:r>
              <a:rPr lang="en-US" b="1" dirty="0">
                <a:solidFill>
                  <a:schemeClr val="tx1"/>
                </a:solidFill>
              </a:rPr>
              <a:t>2024 WMA Board &amp; Liaisons</a:t>
            </a:r>
          </a:p>
        </p:txBody>
      </p:sp>
      <p:sp>
        <p:nvSpPr>
          <p:cNvPr id="3" name="Content Placeholder 2">
            <a:extLst>
              <a:ext uri="{FF2B5EF4-FFF2-40B4-BE49-F238E27FC236}">
                <a16:creationId xmlns:a16="http://schemas.microsoft.com/office/drawing/2014/main" id="{A5504A04-7D02-43DB-AF0B-1360B5FE5C15}"/>
              </a:ext>
            </a:extLst>
          </p:cNvPr>
          <p:cNvSpPr>
            <a:spLocks noGrp="1"/>
          </p:cNvSpPr>
          <p:nvPr>
            <p:ph sz="half" idx="1"/>
          </p:nvPr>
        </p:nvSpPr>
        <p:spPr>
          <a:xfrm>
            <a:off x="304800" y="1905001"/>
            <a:ext cx="6477000" cy="4326465"/>
          </a:xfrm>
          <a:noFill/>
          <a:ln>
            <a:noFill/>
          </a:ln>
        </p:spPr>
        <p:txBody>
          <a:bodyPr>
            <a:normAutofit/>
          </a:bodyPr>
          <a:lstStyle/>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President: Mr. Gary Thomas</a:t>
            </a:r>
          </a:p>
          <a:p>
            <a:pPr marL="342900" lvl="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VP/President-Elect: Dr. Lowanda Studevent</a:t>
            </a:r>
          </a:p>
          <a:p>
            <a:pPr marL="342900" lvl="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Past-President: Dr. Houng Soo, CSEP</a:t>
            </a:r>
          </a:p>
          <a:p>
            <a:pPr marL="342900" lvl="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Programs Chair: Ms. Ruchira Puri</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Treasurer: Mr. Brian Massa</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Secretary: Ms. Barbara Staples</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Director-at-Large: Ms. Roneal Josephs, ASEP</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Director-at-Large: Mr. William Scheible, ESEP</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Communications Chair: Mr. Michael O’Connor</a:t>
            </a:r>
          </a:p>
          <a:p>
            <a:endParaRPr lang="en-US" dirty="0"/>
          </a:p>
        </p:txBody>
      </p:sp>
      <p:sp>
        <p:nvSpPr>
          <p:cNvPr id="6" name="Content Placeholder 5">
            <a:extLst>
              <a:ext uri="{FF2B5EF4-FFF2-40B4-BE49-F238E27FC236}">
                <a16:creationId xmlns:a16="http://schemas.microsoft.com/office/drawing/2014/main" id="{B305B7CE-573D-4276-AC0C-C078AF68952B}"/>
              </a:ext>
            </a:extLst>
          </p:cNvPr>
          <p:cNvSpPr>
            <a:spLocks noGrp="1"/>
          </p:cNvSpPr>
          <p:nvPr>
            <p:ph sz="half" idx="2"/>
          </p:nvPr>
        </p:nvSpPr>
        <p:spPr>
          <a:xfrm>
            <a:off x="6400800" y="1905001"/>
            <a:ext cx="5715000" cy="4419599"/>
          </a:xfrm>
        </p:spPr>
        <p:txBody>
          <a:bodyPr>
            <a:normAutofit/>
          </a:bodyPr>
          <a:lstStyle/>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Tutorial Chair: Mr. Kyle Miller, ASEP</a:t>
            </a:r>
            <a:r>
              <a:rPr lang="en-US" sz="1800" dirty="0">
                <a:solidFill>
                  <a:srgbClr val="26282A"/>
                </a:solidFill>
                <a:highlight>
                  <a:srgbClr val="00FFFF"/>
                </a:highlight>
                <a:latin typeface="Helvetica" panose="020B0604020202020204" pitchFamily="34" charset="0"/>
                <a:ea typeface="Times New Roman" panose="02020603050405020304" pitchFamily="18" charset="0"/>
              </a:rPr>
              <a:t> </a:t>
            </a:r>
            <a:endParaRPr lang="en-US" sz="1800" dirty="0">
              <a:highlight>
                <a:srgbClr val="00FFFF"/>
              </a:highlight>
              <a:latin typeface="Calibri" panose="020F0502020204030204" pitchFamily="34" charset="0"/>
              <a:ea typeface="Calibri" panose="020F0502020204030204" pitchFamily="34" charset="0"/>
            </a:endParaRP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Membership Chair: Ms. Lisa Winchester</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Ambassador Chair: </a:t>
            </a:r>
            <a:r>
              <a:rPr lang="en-US">
                <a:solidFill>
                  <a:schemeClr val="tx1"/>
                </a:solidFill>
                <a:latin typeface="Arial" panose="020B0604020202020204" pitchFamily="34" charset="0"/>
                <a:cs typeface="Arial" panose="020B0604020202020204" pitchFamily="34" charset="0"/>
              </a:rPr>
              <a:t>Michael Jordan</a:t>
            </a:r>
            <a:endParaRPr lang="en-US" dirty="0">
              <a:solidFill>
                <a:schemeClr val="tx1"/>
              </a:solidFill>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Event Coordinator: Ms. </a:t>
            </a:r>
            <a:r>
              <a:rPr lang="en-US" dirty="0">
                <a:latin typeface="Arial" pitchFamily="34" charset="0"/>
                <a:cs typeface="Arial" pitchFamily="34" charset="0"/>
              </a:rPr>
              <a:t>Kathleen </a:t>
            </a:r>
            <a:r>
              <a:rPr lang="en-US" dirty="0">
                <a:solidFill>
                  <a:schemeClr val="tx1"/>
                </a:solidFill>
                <a:latin typeface="Arial" pitchFamily="34" charset="0"/>
                <a:cs typeface="Arial" pitchFamily="34" charset="0"/>
              </a:rPr>
              <a:t>Flynn, CSEP</a:t>
            </a:r>
          </a:p>
          <a:p>
            <a:pPr marL="342900" indent="-342900">
              <a:buFont typeface="Wingdings" panose="05000000000000000000" pitchFamily="2" charset="2"/>
              <a:buChar char="v"/>
            </a:pPr>
            <a:r>
              <a:rPr lang="en-US" dirty="0">
                <a:solidFill>
                  <a:schemeClr val="tx1"/>
                </a:solidFill>
                <a:latin typeface="Arial" pitchFamily="34" charset="0"/>
                <a:cs typeface="Arial" pitchFamily="34" charset="0"/>
              </a:rPr>
              <a:t>Newsletter Editor: Nalini </a:t>
            </a:r>
            <a:r>
              <a:rPr lang="en-US" dirty="0" err="1">
                <a:solidFill>
                  <a:schemeClr val="tx1"/>
                </a:solidFill>
                <a:latin typeface="Arial" pitchFamily="34" charset="0"/>
                <a:cs typeface="Arial" pitchFamily="34" charset="0"/>
              </a:rPr>
              <a:t>Muppala</a:t>
            </a:r>
            <a:endParaRPr lang="en-US" dirty="0">
              <a:solidFill>
                <a:schemeClr val="tx1"/>
              </a:solidFill>
              <a:latin typeface="Arial" pitchFamily="34" charset="0"/>
              <a:cs typeface="Arial" pitchFamily="34" charset="0"/>
            </a:endParaRPr>
          </a:p>
          <a:p>
            <a:pPr marL="342900" indent="-342900">
              <a:buFont typeface="Wingdings" panose="05000000000000000000" pitchFamily="2" charset="2"/>
              <a:buChar char="v"/>
            </a:pPr>
            <a:r>
              <a:rPr lang="en-US" dirty="0">
                <a:solidFill>
                  <a:schemeClr val="tx1"/>
                </a:solidFill>
                <a:latin typeface="Arial" pitchFamily="34" charset="0"/>
                <a:cs typeface="Arial" pitchFamily="34" charset="0"/>
              </a:rPr>
              <a:t>Student Chapter Faculty Advisor:</a:t>
            </a:r>
          </a:p>
          <a:p>
            <a:pPr marL="571500" lvl="1" indent="-228600">
              <a:spcBef>
                <a:spcPts val="1200"/>
              </a:spcBef>
              <a:spcAft>
                <a:spcPts val="200"/>
              </a:spcAft>
              <a:buFont typeface="Wingdings" panose="05000000000000000000" pitchFamily="2" charset="2"/>
              <a:buChar char="v"/>
            </a:pPr>
            <a:r>
              <a:rPr lang="en-US" dirty="0">
                <a:solidFill>
                  <a:schemeClr val="tx1"/>
                </a:solidFill>
                <a:latin typeface="Arial" pitchFamily="34" charset="0"/>
                <a:cs typeface="Arial" pitchFamily="34" charset="0"/>
              </a:rPr>
              <a:t>GMU - Professor Matthew Amissah</a:t>
            </a:r>
          </a:p>
          <a:p>
            <a:pPr marL="571500" lvl="1" indent="-228600">
              <a:spcBef>
                <a:spcPts val="1200"/>
              </a:spcBef>
              <a:spcAft>
                <a:spcPts val="200"/>
              </a:spcAft>
              <a:buFont typeface="Wingdings" panose="05000000000000000000" pitchFamily="2" charset="2"/>
              <a:buChar char="v"/>
            </a:pPr>
            <a:r>
              <a:rPr lang="en-US" dirty="0">
                <a:solidFill>
                  <a:schemeClr val="tx1"/>
                </a:solidFill>
                <a:latin typeface="Arial" pitchFamily="34" charset="0"/>
                <a:cs typeface="Arial" pitchFamily="34" charset="0"/>
              </a:rPr>
              <a:t>VA Tech  -    Professor Taylan </a:t>
            </a:r>
            <a:r>
              <a:rPr lang="en-US" dirty="0" err="1">
                <a:solidFill>
                  <a:schemeClr val="tx1"/>
                </a:solidFill>
                <a:latin typeface="Arial" pitchFamily="34" charset="0"/>
                <a:cs typeface="Arial" pitchFamily="34" charset="0"/>
              </a:rPr>
              <a:t>Topcu</a:t>
            </a:r>
            <a:endParaRPr lang="en-US" dirty="0">
              <a:solidFill>
                <a:schemeClr val="tx1"/>
              </a:solidFill>
              <a:latin typeface="Arial" pitchFamily="34" charset="0"/>
              <a:cs typeface="Arial" pitchFamily="34" charset="0"/>
            </a:endParaRPr>
          </a:p>
          <a:p>
            <a:pPr marL="571500" lvl="1" indent="-228600">
              <a:spcBef>
                <a:spcPts val="1200"/>
              </a:spcBef>
              <a:spcAft>
                <a:spcPts val="200"/>
              </a:spcAft>
              <a:buFont typeface="Wingdings" panose="05000000000000000000" pitchFamily="2" charset="2"/>
              <a:buChar char="v"/>
            </a:pPr>
            <a:r>
              <a:rPr lang="en-US" dirty="0">
                <a:solidFill>
                  <a:schemeClr val="tx1"/>
                </a:solidFill>
                <a:latin typeface="Arial" pitchFamily="34" charset="0"/>
                <a:cs typeface="Arial" pitchFamily="34" charset="0"/>
              </a:rPr>
              <a:t>GWU – Professor Eric </a:t>
            </a:r>
            <a:r>
              <a:rPr lang="en-US" dirty="0" err="1">
                <a:solidFill>
                  <a:schemeClr val="tx1"/>
                </a:solidFill>
                <a:latin typeface="Arial" pitchFamily="34" charset="0"/>
                <a:cs typeface="Arial" pitchFamily="34" charset="0"/>
              </a:rPr>
              <a:t>Dano</a:t>
            </a:r>
            <a:endParaRPr lang="en-US" dirty="0">
              <a:solidFill>
                <a:schemeClr val="tx1"/>
              </a:solidFill>
              <a:latin typeface="Arial" pitchFamily="34" charset="0"/>
              <a:cs typeface="Arial" pitchFamily="34" charset="0"/>
            </a:endParaRPr>
          </a:p>
          <a:p>
            <a:pPr lvl="1">
              <a:buFont typeface="Wingdings" panose="05000000000000000000" pitchFamily="2" charset="2"/>
              <a:buChar char="v"/>
            </a:pPr>
            <a:endParaRPr lang="en-US" dirty="0"/>
          </a:p>
          <a:p>
            <a:pPr lvl="1">
              <a:buNone/>
            </a:pPr>
            <a:endParaRPr lang="en-US" dirty="0"/>
          </a:p>
          <a:p>
            <a:endParaRPr lang="en-US" dirty="0"/>
          </a:p>
        </p:txBody>
      </p:sp>
      <p:sp>
        <p:nvSpPr>
          <p:cNvPr id="7" name="Footer Placeholder 5">
            <a:extLst>
              <a:ext uri="{FF2B5EF4-FFF2-40B4-BE49-F238E27FC236}">
                <a16:creationId xmlns:a16="http://schemas.microsoft.com/office/drawing/2014/main" id="{8A5F6353-E25F-46F7-93D9-CB6F746C991B}"/>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extLst>
      <p:ext uri="{BB962C8B-B14F-4D97-AF65-F5344CB8AC3E}">
        <p14:creationId xmlns:p14="http://schemas.microsoft.com/office/powerpoint/2010/main" val="1645036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GMU INCOSE Student Division</a:t>
            </a:r>
          </a:p>
        </p:txBody>
      </p:sp>
      <p:sp>
        <p:nvSpPr>
          <p:cNvPr id="3" name="Footer Placeholder 2"/>
          <p:cNvSpPr>
            <a:spLocks noGrp="1"/>
          </p:cNvSpPr>
          <p:nvPr>
            <p:ph type="ftr" sz="quarter" idx="11"/>
          </p:nvPr>
        </p:nvSpPr>
        <p:spPr/>
        <p:txBody>
          <a:bodyPr/>
          <a:lstStyle/>
          <a:p>
            <a:r>
              <a:rPr lang="en-US" dirty="0"/>
              <a:t>INCOSE WMA  2025  Program Meeting</a:t>
            </a:r>
          </a:p>
        </p:txBody>
      </p:sp>
      <p:sp>
        <p:nvSpPr>
          <p:cNvPr id="7" name="TextBox 6"/>
          <p:cNvSpPr txBox="1"/>
          <p:nvPr/>
        </p:nvSpPr>
        <p:spPr>
          <a:xfrm>
            <a:off x="6096000" y="1981200"/>
            <a:ext cx="5105400" cy="2554545"/>
          </a:xfrm>
          <a:prstGeom prst="rect">
            <a:avLst/>
          </a:prstGeom>
          <a:noFill/>
        </p:spPr>
        <p:txBody>
          <a:bodyPr wrap="square" rtlCol="0">
            <a:spAutoFit/>
          </a:bodyPr>
          <a:lstStyle/>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r>
              <a:rPr lang="en-US" sz="2000" dirty="0"/>
              <a:t> </a:t>
            </a:r>
          </a:p>
        </p:txBody>
      </p:sp>
      <p:sp>
        <p:nvSpPr>
          <p:cNvPr id="9" name="Rectangle 8"/>
          <p:cNvSpPr/>
          <p:nvPr/>
        </p:nvSpPr>
        <p:spPr>
          <a:xfrm>
            <a:off x="6096000" y="3962400"/>
            <a:ext cx="4572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990600" y="1981200"/>
            <a:ext cx="9220200" cy="3970318"/>
          </a:xfrm>
          <a:prstGeom prst="rect">
            <a:avLst/>
          </a:prstGeom>
        </p:spPr>
        <p:txBody>
          <a:bodyPr wrap="square">
            <a:spAutoFit/>
          </a:bodyPr>
          <a:lstStyle/>
          <a:p>
            <a:r>
              <a:rPr lang="en-US" sz="2800" b="1" dirty="0"/>
              <a:t>GMU Student Division Officers </a:t>
            </a:r>
          </a:p>
          <a:p>
            <a:endParaRPr lang="en-US" sz="2800" b="1" dirty="0"/>
          </a:p>
          <a:p>
            <a:r>
              <a:rPr lang="en-US" sz="2800" dirty="0"/>
              <a:t>President - </a:t>
            </a:r>
            <a:r>
              <a:rPr lang="en-US" sz="2800" dirty="0" err="1"/>
              <a:t>Emaan</a:t>
            </a:r>
            <a:r>
              <a:rPr lang="en-US" sz="2800" dirty="0"/>
              <a:t> </a:t>
            </a:r>
            <a:r>
              <a:rPr lang="en-US" sz="2800" dirty="0" err="1"/>
              <a:t>Abbasi</a:t>
            </a:r>
            <a:r>
              <a:rPr lang="en-US" sz="2800" dirty="0"/>
              <a:t> - </a:t>
            </a:r>
            <a:r>
              <a:rPr lang="en-US" sz="2800" dirty="0">
                <a:hlinkClick r:id="rId2"/>
              </a:rPr>
              <a:t>eabbasi2@gmu.edu</a:t>
            </a:r>
            <a:endParaRPr lang="en-US" sz="2800" dirty="0"/>
          </a:p>
          <a:p>
            <a:r>
              <a:rPr lang="en-US" sz="2800" dirty="0"/>
              <a:t>Vice President - </a:t>
            </a:r>
            <a:r>
              <a:rPr lang="en-US" sz="2800" dirty="0" err="1"/>
              <a:t>Zaara</a:t>
            </a:r>
            <a:r>
              <a:rPr lang="en-US" sz="2800" dirty="0"/>
              <a:t> </a:t>
            </a:r>
            <a:r>
              <a:rPr lang="en-US" sz="2800" dirty="0" err="1"/>
              <a:t>Fuad</a:t>
            </a:r>
            <a:r>
              <a:rPr lang="en-US" sz="2800" dirty="0"/>
              <a:t> - </a:t>
            </a:r>
            <a:r>
              <a:rPr lang="en-US" sz="2800" dirty="0">
                <a:hlinkClick r:id="rId3"/>
              </a:rPr>
              <a:t>zfuad@gmu.edu</a:t>
            </a:r>
            <a:r>
              <a:rPr lang="en-US" sz="2800" dirty="0"/>
              <a:t> </a:t>
            </a:r>
          </a:p>
          <a:p>
            <a:r>
              <a:rPr lang="en-US" sz="2800" dirty="0"/>
              <a:t>Secretary - </a:t>
            </a:r>
            <a:r>
              <a:rPr lang="en-US" sz="2800" dirty="0" err="1"/>
              <a:t>Salma</a:t>
            </a:r>
            <a:r>
              <a:rPr lang="en-US" sz="2800" dirty="0"/>
              <a:t> </a:t>
            </a:r>
            <a:r>
              <a:rPr lang="en-US" sz="2800" dirty="0" err="1"/>
              <a:t>Awad</a:t>
            </a:r>
            <a:r>
              <a:rPr lang="en-US" sz="2800" dirty="0"/>
              <a:t> - </a:t>
            </a:r>
            <a:r>
              <a:rPr lang="en-US" sz="2800" dirty="0">
                <a:hlinkClick r:id="rId4"/>
              </a:rPr>
              <a:t>sawad3@gmu.edu</a:t>
            </a:r>
            <a:endParaRPr lang="en-US" sz="2800" dirty="0"/>
          </a:p>
          <a:p>
            <a:r>
              <a:rPr lang="en-US" sz="2800" dirty="0"/>
              <a:t>Treasurer - </a:t>
            </a:r>
            <a:r>
              <a:rPr lang="en-US" sz="2800" dirty="0" err="1"/>
              <a:t>Hasan</a:t>
            </a:r>
            <a:r>
              <a:rPr lang="en-US" sz="2800" dirty="0"/>
              <a:t> </a:t>
            </a:r>
            <a:r>
              <a:rPr lang="en-US" sz="2800" dirty="0" err="1"/>
              <a:t>Alwahab</a:t>
            </a:r>
            <a:r>
              <a:rPr lang="en-US" sz="2800" dirty="0"/>
              <a:t> - </a:t>
            </a:r>
            <a:r>
              <a:rPr lang="en-US" sz="2800" dirty="0">
                <a:hlinkClick r:id="rId5"/>
              </a:rPr>
              <a:t>halwaha@gmu.edu</a:t>
            </a:r>
            <a:endParaRPr lang="en-US" sz="2800" dirty="0"/>
          </a:p>
          <a:p>
            <a:endParaRPr lang="en-US" sz="2800" u="sng" dirty="0"/>
          </a:p>
          <a:p>
            <a:r>
              <a:rPr lang="en-US" sz="2800" b="1" dirty="0"/>
              <a:t>Faculty Advisor</a:t>
            </a:r>
            <a:endParaRPr lang="en-US" sz="2800" dirty="0"/>
          </a:p>
          <a:p>
            <a:r>
              <a:rPr lang="en-US" sz="2800" dirty="0"/>
              <a:t>Professor Matthew </a:t>
            </a:r>
            <a:r>
              <a:rPr lang="en-US" sz="2800" dirty="0" err="1"/>
              <a:t>Amissah</a:t>
            </a:r>
            <a:r>
              <a:rPr lang="en-US" sz="2800" dirty="0"/>
              <a:t> - </a:t>
            </a:r>
            <a:r>
              <a:rPr lang="en-US" sz="2800" u="sng" dirty="0">
                <a:hlinkClick r:id="rId6"/>
              </a:rPr>
              <a:t>mamissah@gmu.edu</a:t>
            </a:r>
            <a:endParaRPr 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VA Tech INCOSE Student Division</a:t>
            </a:r>
          </a:p>
        </p:txBody>
      </p:sp>
      <p:sp>
        <p:nvSpPr>
          <p:cNvPr id="3" name="Footer Placeholder 2"/>
          <p:cNvSpPr>
            <a:spLocks noGrp="1"/>
          </p:cNvSpPr>
          <p:nvPr>
            <p:ph type="ftr" sz="quarter" idx="11"/>
          </p:nvPr>
        </p:nvSpPr>
        <p:spPr/>
        <p:txBody>
          <a:bodyPr/>
          <a:lstStyle/>
          <a:p>
            <a:r>
              <a:rPr lang="en-US" dirty="0"/>
              <a:t>INCOSE WMA 2025  Program Meeting</a:t>
            </a:r>
          </a:p>
        </p:txBody>
      </p:sp>
      <p:sp>
        <p:nvSpPr>
          <p:cNvPr id="7" name="TextBox 6"/>
          <p:cNvSpPr txBox="1"/>
          <p:nvPr/>
        </p:nvSpPr>
        <p:spPr>
          <a:xfrm>
            <a:off x="6096000" y="1981200"/>
            <a:ext cx="5105400" cy="2554545"/>
          </a:xfrm>
          <a:prstGeom prst="rect">
            <a:avLst/>
          </a:prstGeom>
          <a:noFill/>
        </p:spPr>
        <p:txBody>
          <a:bodyPr wrap="square" rtlCol="0">
            <a:spAutoFit/>
          </a:bodyPr>
          <a:lstStyle/>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endParaRPr lang="en-US" sz="2000" dirty="0"/>
          </a:p>
          <a:p>
            <a:pPr lvl="0"/>
            <a:r>
              <a:rPr lang="en-US" sz="2000" dirty="0"/>
              <a:t> </a:t>
            </a:r>
          </a:p>
        </p:txBody>
      </p:sp>
      <p:sp>
        <p:nvSpPr>
          <p:cNvPr id="10" name="Rectangle 9"/>
          <p:cNvSpPr/>
          <p:nvPr/>
        </p:nvSpPr>
        <p:spPr>
          <a:xfrm>
            <a:off x="457200" y="2133600"/>
            <a:ext cx="10287000" cy="3970318"/>
          </a:xfrm>
          <a:prstGeom prst="rect">
            <a:avLst/>
          </a:prstGeom>
        </p:spPr>
        <p:txBody>
          <a:bodyPr wrap="square">
            <a:spAutoFit/>
          </a:bodyPr>
          <a:lstStyle/>
          <a:p>
            <a:r>
              <a:rPr lang="en-US" sz="2800" b="1" dirty="0"/>
              <a:t>VA Tech Student Division Officers </a:t>
            </a:r>
          </a:p>
          <a:p>
            <a:r>
              <a:rPr lang="en-US" sz="2800" dirty="0"/>
              <a:t>President: </a:t>
            </a:r>
            <a:r>
              <a:rPr lang="en-US" sz="2800" dirty="0" err="1"/>
              <a:t>Shefa</a:t>
            </a:r>
            <a:r>
              <a:rPr lang="en-US" sz="2800" dirty="0"/>
              <a:t> </a:t>
            </a:r>
            <a:r>
              <a:rPr lang="en-US" sz="2800" dirty="0" err="1"/>
              <a:t>Jannatul</a:t>
            </a:r>
            <a:r>
              <a:rPr lang="en-US" sz="2800" dirty="0"/>
              <a:t> – </a:t>
            </a:r>
            <a:r>
              <a:rPr lang="en-US" sz="2800" dirty="0">
                <a:hlinkClick r:id="rId2"/>
              </a:rPr>
              <a:t>shefa@vt.edu</a:t>
            </a:r>
            <a:endParaRPr lang="en-US" sz="2800" dirty="0"/>
          </a:p>
          <a:p>
            <a:r>
              <a:rPr lang="en-US" sz="2800" dirty="0"/>
              <a:t>Vice President: </a:t>
            </a:r>
            <a:r>
              <a:rPr lang="en-US" sz="2800" dirty="0" err="1"/>
              <a:t>Md</a:t>
            </a:r>
            <a:r>
              <a:rPr lang="en-US" sz="2800" dirty="0"/>
              <a:t> </a:t>
            </a:r>
            <a:r>
              <a:rPr lang="en-US" sz="2800" dirty="0" err="1"/>
              <a:t>Doulotuzzaman</a:t>
            </a:r>
            <a:r>
              <a:rPr lang="en-US" sz="2800" dirty="0"/>
              <a:t> </a:t>
            </a:r>
            <a:r>
              <a:rPr lang="en-US" sz="2800" dirty="0" err="1"/>
              <a:t>Xames</a:t>
            </a:r>
            <a:endParaRPr lang="en-US" sz="2800" dirty="0"/>
          </a:p>
          <a:p>
            <a:r>
              <a:rPr lang="en-US" sz="2800" dirty="0"/>
              <a:t>Treasurer: </a:t>
            </a:r>
            <a:r>
              <a:rPr lang="en-US" sz="2800" dirty="0" err="1"/>
              <a:t>Kimiya</a:t>
            </a:r>
            <a:r>
              <a:rPr lang="en-US" sz="2800" dirty="0"/>
              <a:t> </a:t>
            </a:r>
            <a:r>
              <a:rPr lang="en-US" sz="2800" dirty="0" err="1"/>
              <a:t>MohammadiJozani</a:t>
            </a:r>
            <a:endParaRPr lang="en-US" sz="2800" dirty="0"/>
          </a:p>
          <a:p>
            <a:r>
              <a:rPr lang="en-US" sz="2800" dirty="0"/>
              <a:t>Event Manager: Trevor </a:t>
            </a:r>
            <a:r>
              <a:rPr lang="en-US" sz="2800" dirty="0" err="1"/>
              <a:t>Lerardi</a:t>
            </a:r>
            <a:endParaRPr lang="en-US" sz="2800" dirty="0"/>
          </a:p>
          <a:p>
            <a:endParaRPr lang="en-US" sz="2800" u="sng" dirty="0"/>
          </a:p>
          <a:p>
            <a:r>
              <a:rPr lang="en-US" sz="2800" b="1" dirty="0"/>
              <a:t>Faculty Advisor </a:t>
            </a:r>
          </a:p>
          <a:p>
            <a:r>
              <a:rPr lang="en-US" sz="2800" dirty="0"/>
              <a:t>Professor </a:t>
            </a:r>
            <a:r>
              <a:rPr lang="en-US" sz="2800" dirty="0" err="1"/>
              <a:t>Taylan</a:t>
            </a:r>
            <a:r>
              <a:rPr lang="en-US" sz="2800" dirty="0"/>
              <a:t> </a:t>
            </a:r>
            <a:r>
              <a:rPr lang="en-US" sz="2800" dirty="0" err="1"/>
              <a:t>Topcu</a:t>
            </a:r>
            <a:r>
              <a:rPr lang="en-US" sz="2800" dirty="0"/>
              <a:t> – </a:t>
            </a:r>
            <a:r>
              <a:rPr lang="en-US" sz="2800" dirty="0">
                <a:hlinkClick r:id="rId3"/>
              </a:rPr>
              <a:t>ttopcu@vt.edu</a:t>
            </a:r>
            <a:endParaRPr lang="en-US" sz="2800" dirty="0"/>
          </a:p>
          <a:p>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GWU INCOSE Student Division</a:t>
            </a:r>
          </a:p>
        </p:txBody>
      </p:sp>
      <p:sp>
        <p:nvSpPr>
          <p:cNvPr id="3" name="Footer Placeholder 2"/>
          <p:cNvSpPr>
            <a:spLocks noGrp="1"/>
          </p:cNvSpPr>
          <p:nvPr>
            <p:ph type="ftr" sz="quarter" idx="11"/>
          </p:nvPr>
        </p:nvSpPr>
        <p:spPr/>
        <p:txBody>
          <a:bodyPr/>
          <a:lstStyle/>
          <a:p>
            <a:r>
              <a:rPr lang="en-US" dirty="0"/>
              <a:t>INCOSE WMA  2025  Program Meeting</a:t>
            </a:r>
          </a:p>
        </p:txBody>
      </p:sp>
      <p:sp>
        <p:nvSpPr>
          <p:cNvPr id="5" name="TextBox 4"/>
          <p:cNvSpPr txBox="1"/>
          <p:nvPr/>
        </p:nvSpPr>
        <p:spPr>
          <a:xfrm>
            <a:off x="533400" y="1770995"/>
            <a:ext cx="10134600" cy="4401205"/>
          </a:xfrm>
          <a:prstGeom prst="rect">
            <a:avLst/>
          </a:prstGeom>
          <a:noFill/>
        </p:spPr>
        <p:txBody>
          <a:bodyPr wrap="square" rtlCol="0">
            <a:spAutoFit/>
          </a:bodyPr>
          <a:lstStyle/>
          <a:p>
            <a:r>
              <a:rPr lang="en-US" sz="2800" b="1" dirty="0"/>
              <a:t>GWU Student Division Officers</a:t>
            </a:r>
            <a:r>
              <a:rPr lang="en-US" sz="2800" dirty="0"/>
              <a:t>:</a:t>
            </a:r>
          </a:p>
          <a:p>
            <a:r>
              <a:rPr lang="en-US" sz="2800" dirty="0"/>
              <a:t>President: </a:t>
            </a:r>
            <a:r>
              <a:rPr lang="sv-SE" sz="2800" dirty="0"/>
              <a:t>Ben Buechner -  </a:t>
            </a:r>
            <a:r>
              <a:rPr lang="sv-SE" sz="2800" u="sng" dirty="0">
                <a:hlinkClick r:id="rId2"/>
              </a:rPr>
              <a:t>buechner@gwmail.gwu.edu </a:t>
            </a:r>
            <a:endParaRPr lang="en-US" sz="2800" dirty="0"/>
          </a:p>
          <a:p>
            <a:r>
              <a:rPr lang="en-US" sz="2800" dirty="0"/>
              <a:t>Vice President: </a:t>
            </a:r>
            <a:r>
              <a:rPr lang="sv-SE" sz="2800" dirty="0"/>
              <a:t>Amna Maqsood - </a:t>
            </a:r>
            <a:r>
              <a:rPr lang="sv-SE" sz="2800" u="sng" dirty="0">
                <a:solidFill>
                  <a:srgbClr val="0070C0"/>
                </a:solidFill>
              </a:rPr>
              <a:t>amnamaq5@gwmail.gwu.edu</a:t>
            </a:r>
            <a:r>
              <a:rPr lang="sv-SE" sz="2800" u="sng" dirty="0"/>
              <a:t> </a:t>
            </a:r>
            <a:endParaRPr lang="en-US" sz="2800" dirty="0"/>
          </a:p>
          <a:p>
            <a:r>
              <a:rPr lang="en-US" sz="2800" dirty="0"/>
              <a:t>Treasurer: Vijay </a:t>
            </a:r>
            <a:r>
              <a:rPr lang="en-US" sz="2800" dirty="0" err="1"/>
              <a:t>Jayamani</a:t>
            </a:r>
            <a:r>
              <a:rPr lang="en-US" sz="2800" dirty="0"/>
              <a:t>                            </a:t>
            </a:r>
          </a:p>
          <a:p>
            <a:r>
              <a:rPr lang="en-US" sz="2800" dirty="0"/>
              <a:t>Secretary: Parker Reese  </a:t>
            </a:r>
          </a:p>
          <a:p>
            <a:r>
              <a:rPr lang="en-US" sz="2800" dirty="0"/>
              <a:t>Advertising Coordinator - Newsletter:  Alana Lee </a:t>
            </a:r>
          </a:p>
          <a:p>
            <a:r>
              <a:rPr lang="en-US" sz="2800" dirty="0"/>
              <a:t>Advertising Coordinator - Socials:  Lola </a:t>
            </a:r>
            <a:r>
              <a:rPr lang="en-US" sz="2800" dirty="0" err="1"/>
              <a:t>Nurullaeva</a:t>
            </a:r>
            <a:r>
              <a:rPr lang="en-US" sz="2800" dirty="0"/>
              <a:t> </a:t>
            </a:r>
          </a:p>
          <a:p>
            <a:endParaRPr lang="en-US" sz="2800" dirty="0"/>
          </a:p>
          <a:p>
            <a:r>
              <a:rPr lang="en-US" sz="2800" b="1" dirty="0"/>
              <a:t>Faculty Advisor:</a:t>
            </a:r>
            <a:r>
              <a:rPr lang="en-US" sz="2800" dirty="0"/>
              <a:t> </a:t>
            </a:r>
          </a:p>
          <a:p>
            <a:r>
              <a:rPr lang="en-US" sz="2800" dirty="0"/>
              <a:t>Professor Eric </a:t>
            </a:r>
            <a:r>
              <a:rPr lang="en-US" sz="2800" dirty="0" err="1"/>
              <a:t>Dano</a:t>
            </a:r>
            <a:r>
              <a:rPr lang="en-US" sz="2800" dirty="0"/>
              <a:t> - </a:t>
            </a:r>
            <a:r>
              <a:rPr lang="en-US" sz="2800" u="sng" dirty="0">
                <a:hlinkClick r:id="rId3"/>
              </a:rPr>
              <a:t>ericdano@gwu.edu </a:t>
            </a:r>
            <a:endParaRPr lang="en-US" sz="2800" dirty="0"/>
          </a:p>
        </p:txBody>
      </p:sp>
      <p:sp>
        <p:nvSpPr>
          <p:cNvPr id="9" name="Rectangle 8"/>
          <p:cNvSpPr/>
          <p:nvPr/>
        </p:nvSpPr>
        <p:spPr>
          <a:xfrm>
            <a:off x="5867400" y="4114800"/>
            <a:ext cx="4572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Additional Volunteer Opportunities</a:t>
            </a:r>
          </a:p>
        </p:txBody>
      </p:sp>
      <p:sp>
        <p:nvSpPr>
          <p:cNvPr id="3" name="Footer Placeholder 2"/>
          <p:cNvSpPr>
            <a:spLocks noGrp="1"/>
          </p:cNvSpPr>
          <p:nvPr>
            <p:ph type="ftr" sz="quarter" idx="11"/>
          </p:nvPr>
        </p:nvSpPr>
        <p:spPr/>
        <p:txBody>
          <a:bodyPr/>
          <a:lstStyle/>
          <a:p>
            <a:r>
              <a:rPr lang="en-US" dirty="0"/>
              <a:t>INCOSE WMA 2025  Program Meeting</a:t>
            </a:r>
          </a:p>
        </p:txBody>
      </p:sp>
      <p:sp>
        <p:nvSpPr>
          <p:cNvPr id="5" name="TextBox 4"/>
          <p:cNvSpPr txBox="1"/>
          <p:nvPr/>
        </p:nvSpPr>
        <p:spPr>
          <a:xfrm>
            <a:off x="882267" y="1981200"/>
            <a:ext cx="5181600" cy="3785652"/>
          </a:xfrm>
          <a:prstGeom prst="rect">
            <a:avLst/>
          </a:prstGeom>
          <a:noFill/>
        </p:spPr>
        <p:txBody>
          <a:bodyPr wrap="square" rtlCol="0">
            <a:spAutoFit/>
          </a:bodyPr>
          <a:lstStyle/>
          <a:p>
            <a:r>
              <a:rPr lang="en-US" sz="2000" dirty="0"/>
              <a:t>Ambassador Program Committee</a:t>
            </a:r>
          </a:p>
          <a:p>
            <a:endParaRPr lang="en-US" sz="2000" dirty="0"/>
          </a:p>
          <a:p>
            <a:r>
              <a:rPr lang="en-US" sz="2000" dirty="0"/>
              <a:t>Communications Committee</a:t>
            </a:r>
          </a:p>
          <a:p>
            <a:pPr lvl="1"/>
            <a:r>
              <a:rPr lang="en-US" sz="2000" dirty="0"/>
              <a:t>Chapter Website</a:t>
            </a:r>
          </a:p>
          <a:p>
            <a:pPr lvl="1"/>
            <a:r>
              <a:rPr lang="en-US" sz="2000" dirty="0"/>
              <a:t>Social Media (LinkedIn, </a:t>
            </a:r>
            <a:r>
              <a:rPr lang="en-US" sz="2000" dirty="0" err="1"/>
              <a:t>Facebook</a:t>
            </a:r>
            <a:r>
              <a:rPr lang="en-US" sz="2000" dirty="0"/>
              <a:t>, X)</a:t>
            </a:r>
          </a:p>
          <a:p>
            <a:pPr lvl="1"/>
            <a:r>
              <a:rPr lang="en-US" sz="2000" dirty="0"/>
              <a:t>Publicity/Marketing</a:t>
            </a:r>
          </a:p>
          <a:p>
            <a:pPr lvl="1"/>
            <a:r>
              <a:rPr lang="en-US" sz="2000" dirty="0"/>
              <a:t>Technology and Equipment </a:t>
            </a:r>
          </a:p>
          <a:p>
            <a:pPr lvl="1"/>
            <a:endParaRPr lang="en-US" sz="2000" dirty="0"/>
          </a:p>
          <a:p>
            <a:r>
              <a:rPr lang="en-US" sz="2000" dirty="0"/>
              <a:t>Editor Chapter Newsletter </a:t>
            </a:r>
          </a:p>
          <a:p>
            <a:pPr lvl="1"/>
            <a:r>
              <a:rPr lang="en-US" sz="2000" dirty="0"/>
              <a:t>Content Contributors</a:t>
            </a:r>
          </a:p>
          <a:p>
            <a:r>
              <a:rPr lang="en-US" sz="2000" dirty="0"/>
              <a:t> </a:t>
            </a:r>
          </a:p>
          <a:p>
            <a:endParaRPr lang="en-US" sz="2000" dirty="0"/>
          </a:p>
        </p:txBody>
      </p:sp>
      <p:sp>
        <p:nvSpPr>
          <p:cNvPr id="7" name="TextBox 6"/>
          <p:cNvSpPr txBox="1"/>
          <p:nvPr/>
        </p:nvSpPr>
        <p:spPr>
          <a:xfrm>
            <a:off x="6172384" y="1995889"/>
            <a:ext cx="5105400" cy="3785652"/>
          </a:xfrm>
          <a:prstGeom prst="rect">
            <a:avLst/>
          </a:prstGeom>
          <a:noFill/>
        </p:spPr>
        <p:txBody>
          <a:bodyPr wrap="square" rtlCol="0">
            <a:spAutoFit/>
          </a:bodyPr>
          <a:lstStyle/>
          <a:p>
            <a:r>
              <a:rPr lang="en-US" sz="2000" dirty="0"/>
              <a:t>Election and Nomination Committee </a:t>
            </a:r>
          </a:p>
          <a:p>
            <a:pPr lvl="0"/>
            <a:endParaRPr lang="en-US" sz="2000" dirty="0"/>
          </a:p>
          <a:p>
            <a:pPr lvl="0"/>
            <a:r>
              <a:rPr lang="en-US" sz="2000" dirty="0"/>
              <a:t>Events Planning Committee</a:t>
            </a:r>
          </a:p>
          <a:p>
            <a:pPr lvl="0"/>
            <a:endParaRPr lang="en-US" sz="2000" dirty="0"/>
          </a:p>
          <a:p>
            <a:r>
              <a:rPr lang="en-US" sz="2000" dirty="0"/>
              <a:t>Membership Committee</a:t>
            </a:r>
          </a:p>
          <a:p>
            <a:pPr lvl="0"/>
            <a:endParaRPr lang="en-US" sz="2000" dirty="0"/>
          </a:p>
          <a:p>
            <a:pPr lvl="0"/>
            <a:r>
              <a:rPr lang="en-US" sz="2000" dirty="0"/>
              <a:t>Programs Committee</a:t>
            </a:r>
          </a:p>
          <a:p>
            <a:endParaRPr lang="en-US" sz="2000" dirty="0"/>
          </a:p>
          <a:p>
            <a:pPr lvl="0"/>
            <a:r>
              <a:rPr lang="en-US" sz="2000" dirty="0"/>
              <a:t>Tutorials Committee</a:t>
            </a:r>
          </a:p>
          <a:p>
            <a:pPr lvl="0"/>
            <a:endParaRPr lang="en-US" sz="2000" dirty="0"/>
          </a:p>
          <a:p>
            <a:pPr lvl="0"/>
            <a:endParaRPr lang="en-US" sz="2000" dirty="0"/>
          </a:p>
          <a:p>
            <a:pPr lvl="0"/>
            <a:r>
              <a:rPr lang="en-US" sz="2000" dirty="0"/>
              <a:t> </a:t>
            </a:r>
          </a:p>
        </p:txBody>
      </p:sp>
      <p:sp>
        <p:nvSpPr>
          <p:cNvPr id="9" name="Rectangle 8"/>
          <p:cNvSpPr/>
          <p:nvPr/>
        </p:nvSpPr>
        <p:spPr>
          <a:xfrm>
            <a:off x="6096000" y="3962400"/>
            <a:ext cx="4572000"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438400"/>
            <a:ext cx="10058400" cy="1450757"/>
          </a:xfrm>
        </p:spPr>
        <p:txBody>
          <a:bodyPr>
            <a:normAutofit/>
          </a:bodyPr>
          <a:lstStyle/>
          <a:p>
            <a:pPr algn="ctr"/>
            <a:r>
              <a:rPr lang="en-US" sz="4400" b="1" dirty="0"/>
              <a:t>2025 </a:t>
            </a:r>
            <a:r>
              <a:rPr lang="en-US" sz="4400" b="1" dirty="0" err="1"/>
              <a:t>BoD</a:t>
            </a:r>
            <a:r>
              <a:rPr lang="en-US" sz="4400" b="1" dirty="0"/>
              <a:t> Induction and </a:t>
            </a:r>
            <a:br>
              <a:rPr lang="en-US" sz="4400" b="1" dirty="0"/>
            </a:br>
            <a:r>
              <a:rPr lang="en-US" sz="4400" b="1" dirty="0"/>
              <a:t>Oath Taking Ceremony</a:t>
            </a:r>
          </a:p>
        </p:txBody>
      </p:sp>
      <p:sp>
        <p:nvSpPr>
          <p:cNvPr id="3" name="Footer Placeholder 2"/>
          <p:cNvSpPr>
            <a:spLocks noGrp="1"/>
          </p:cNvSpPr>
          <p:nvPr>
            <p:ph type="ftr" sz="quarter" idx="11"/>
          </p:nvPr>
        </p:nvSpPr>
        <p:spPr/>
        <p:txBody>
          <a:bodyPr/>
          <a:lstStyle/>
          <a:p>
            <a:r>
              <a:rPr lang="en-US" dirty="0"/>
              <a:t>INCOSE WMA 2025 PROGRAM Meeting</a:t>
            </a:r>
          </a:p>
        </p:txBody>
      </p:sp>
      <p:sp>
        <p:nvSpPr>
          <p:cNvPr id="4" name="Slide Number Placeholder 3"/>
          <p:cNvSpPr>
            <a:spLocks noGrp="1"/>
          </p:cNvSpPr>
          <p:nvPr>
            <p:ph type="sldNum" sz="quarter" idx="12"/>
          </p:nvPr>
        </p:nvSpPr>
        <p:spPr/>
        <p:txBody>
          <a:bodyPr/>
          <a:lstStyle/>
          <a:p>
            <a:fld id="{4FAB73BC-B049-4115-A692-8D63A059BFB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INCOSE WMA 2025 PROGRAM Meeting</a:t>
            </a:r>
          </a:p>
        </p:txBody>
      </p:sp>
      <p:sp>
        <p:nvSpPr>
          <p:cNvPr id="4" name="Slide Number Placeholder 3"/>
          <p:cNvSpPr>
            <a:spLocks noGrp="1"/>
          </p:cNvSpPr>
          <p:nvPr>
            <p:ph type="sldNum" sz="quarter" idx="12"/>
          </p:nvPr>
        </p:nvSpPr>
        <p:spPr/>
        <p:txBody>
          <a:bodyPr/>
          <a:lstStyle/>
          <a:p>
            <a:fld id="{4FAB73BC-B049-4115-A692-8D63A059BFB8}" type="slidenum">
              <a:rPr lang="en-US" smtClean="0"/>
              <a:pPr/>
              <a:t>11</a:t>
            </a:fld>
            <a:endParaRPr lang="en-US"/>
          </a:p>
        </p:txBody>
      </p:sp>
      <p:sp>
        <p:nvSpPr>
          <p:cNvPr id="6" name="TextBox 5"/>
          <p:cNvSpPr txBox="1"/>
          <p:nvPr/>
        </p:nvSpPr>
        <p:spPr>
          <a:xfrm>
            <a:off x="6630484" y="1897970"/>
            <a:ext cx="3269974" cy="4401205"/>
          </a:xfrm>
          <a:prstGeom prst="rect">
            <a:avLst/>
          </a:prstGeom>
          <a:noFill/>
        </p:spPr>
        <p:txBody>
          <a:bodyPr wrap="square" rtlCol="0">
            <a:spAutoFit/>
          </a:bodyPr>
          <a:lstStyle/>
          <a:p>
            <a:r>
              <a:rPr lang="en-US" sz="2000" dirty="0"/>
              <a:t>Dr. </a:t>
            </a:r>
            <a:r>
              <a:rPr lang="en-US" sz="2000" dirty="0" err="1"/>
              <a:t>Lowanda</a:t>
            </a:r>
            <a:r>
              <a:rPr lang="en-US" sz="2000" dirty="0"/>
              <a:t> </a:t>
            </a:r>
            <a:r>
              <a:rPr lang="en-US" sz="2000" dirty="0" err="1"/>
              <a:t>Studevent</a:t>
            </a:r>
            <a:endParaRPr lang="en-US" sz="2000" dirty="0"/>
          </a:p>
          <a:p>
            <a:r>
              <a:rPr lang="en-US" sz="2000" dirty="0"/>
              <a:t>Dr. Shawn Na, CSEP</a:t>
            </a:r>
          </a:p>
          <a:p>
            <a:r>
              <a:rPr lang="en-US" sz="2000" dirty="0"/>
              <a:t>Mr. Gary Thomas</a:t>
            </a:r>
          </a:p>
          <a:p>
            <a:r>
              <a:rPr lang="en-US" sz="2000" dirty="0"/>
              <a:t>Mr. Brian Massa</a:t>
            </a:r>
          </a:p>
          <a:p>
            <a:r>
              <a:rPr lang="en-US" sz="2000" dirty="0"/>
              <a:t>Ms. Barbara Staples</a:t>
            </a:r>
          </a:p>
          <a:p>
            <a:pPr>
              <a:tabLst>
                <a:tab pos="2514600" algn="l"/>
              </a:tabLst>
            </a:pPr>
            <a:r>
              <a:rPr lang="en-US" sz="2000" dirty="0"/>
              <a:t>Mr. Paul </a:t>
            </a:r>
            <a:r>
              <a:rPr lang="en-US" sz="2000" dirty="0" err="1"/>
              <a:t>DeMarco</a:t>
            </a:r>
            <a:endParaRPr lang="en-US" sz="2000" dirty="0"/>
          </a:p>
          <a:p>
            <a:r>
              <a:rPr lang="en-US" sz="2000" dirty="0"/>
              <a:t>Ms. Ruchira Puri</a:t>
            </a:r>
          </a:p>
          <a:p>
            <a:r>
              <a:rPr lang="en-US" sz="2000" dirty="0"/>
              <a:t>Mr. William </a:t>
            </a:r>
            <a:r>
              <a:rPr lang="en-US" sz="2000" dirty="0" err="1"/>
              <a:t>Scheible</a:t>
            </a:r>
            <a:r>
              <a:rPr lang="en-US" sz="2000" dirty="0"/>
              <a:t>, ESEP</a:t>
            </a:r>
          </a:p>
          <a:p>
            <a:r>
              <a:rPr lang="en-US" sz="2000" dirty="0"/>
              <a:t>Dr. Houng </a:t>
            </a:r>
            <a:r>
              <a:rPr lang="en-US" sz="2000" dirty="0" err="1"/>
              <a:t>Soo</a:t>
            </a:r>
            <a:r>
              <a:rPr lang="en-US" sz="2000" dirty="0"/>
              <a:t>, CSEP</a:t>
            </a:r>
          </a:p>
          <a:p>
            <a:r>
              <a:rPr lang="en-US" sz="2000" dirty="0"/>
              <a:t>Mr. Kyle Miller, ASEP 	</a:t>
            </a:r>
          </a:p>
          <a:p>
            <a:r>
              <a:rPr lang="en-US" sz="2000" dirty="0"/>
              <a:t>Ms. Lisa Winchester</a:t>
            </a:r>
          </a:p>
          <a:p>
            <a:r>
              <a:rPr lang="en-US" sz="2000" dirty="0"/>
              <a:t>Ms. Kathleen Flynn, CSEP</a:t>
            </a:r>
          </a:p>
          <a:p>
            <a:r>
              <a:rPr lang="en-US" sz="2000" dirty="0"/>
              <a:t>Mr. </a:t>
            </a:r>
            <a:r>
              <a:rPr lang="en-US" sz="2000" dirty="0" err="1"/>
              <a:t>Nalini</a:t>
            </a:r>
            <a:r>
              <a:rPr lang="en-US" sz="2000" dirty="0"/>
              <a:t> Muppala</a:t>
            </a:r>
          </a:p>
          <a:p>
            <a:endParaRPr lang="en-US" sz="2000" dirty="0"/>
          </a:p>
        </p:txBody>
      </p:sp>
      <p:sp>
        <p:nvSpPr>
          <p:cNvPr id="7" name="TextBox 6"/>
          <p:cNvSpPr txBox="1"/>
          <p:nvPr/>
        </p:nvSpPr>
        <p:spPr>
          <a:xfrm>
            <a:off x="2209800" y="1897970"/>
            <a:ext cx="3581400" cy="4093428"/>
          </a:xfrm>
          <a:prstGeom prst="rect">
            <a:avLst/>
          </a:prstGeom>
          <a:noFill/>
        </p:spPr>
        <p:txBody>
          <a:bodyPr wrap="square" rtlCol="0">
            <a:spAutoFit/>
          </a:bodyPr>
          <a:lstStyle/>
          <a:p>
            <a:r>
              <a:rPr lang="en-US" sz="2000" dirty="0"/>
              <a:t>President	</a:t>
            </a:r>
          </a:p>
          <a:p>
            <a:r>
              <a:rPr lang="en-US" sz="2000" dirty="0"/>
              <a:t>Vice President/President-Elect</a:t>
            </a:r>
          </a:p>
          <a:p>
            <a:r>
              <a:rPr lang="en-US" sz="2000" dirty="0"/>
              <a:t>Past President </a:t>
            </a:r>
          </a:p>
          <a:p>
            <a:r>
              <a:rPr lang="en-US" sz="2000" dirty="0"/>
              <a:t>Treasurer	</a:t>
            </a:r>
          </a:p>
          <a:p>
            <a:r>
              <a:rPr lang="en-US" sz="2000" dirty="0"/>
              <a:t>Secretary	</a:t>
            </a:r>
          </a:p>
          <a:p>
            <a:pPr>
              <a:tabLst>
                <a:tab pos="2514600" algn="l"/>
              </a:tabLst>
            </a:pPr>
            <a:r>
              <a:rPr lang="en-US" sz="2000" dirty="0"/>
              <a:t>Communications Chair</a:t>
            </a:r>
          </a:p>
          <a:p>
            <a:r>
              <a:rPr lang="en-US" sz="2000" dirty="0"/>
              <a:t>Program Chair</a:t>
            </a:r>
          </a:p>
          <a:p>
            <a:r>
              <a:rPr lang="en-US" sz="2000" dirty="0"/>
              <a:t>Director-at-Large </a:t>
            </a:r>
          </a:p>
          <a:p>
            <a:r>
              <a:rPr lang="en-US" sz="2000" dirty="0"/>
              <a:t>Director-at-Large</a:t>
            </a:r>
          </a:p>
          <a:p>
            <a:r>
              <a:rPr lang="en-US" sz="2000" dirty="0"/>
              <a:t>Tutorial Chair </a:t>
            </a:r>
          </a:p>
          <a:p>
            <a:r>
              <a:rPr lang="en-US" sz="2000" dirty="0"/>
              <a:t>Membership Chair 	</a:t>
            </a:r>
          </a:p>
          <a:p>
            <a:r>
              <a:rPr lang="en-US" sz="2000" dirty="0"/>
              <a:t>Event Coordinator	</a:t>
            </a:r>
          </a:p>
          <a:p>
            <a:r>
              <a:rPr lang="en-US" sz="2000" dirty="0"/>
              <a:t>Newsletter Editor</a:t>
            </a:r>
          </a:p>
        </p:txBody>
      </p:sp>
      <p:sp>
        <p:nvSpPr>
          <p:cNvPr id="8" name="Title 1"/>
          <p:cNvSpPr>
            <a:spLocks noGrp="1"/>
          </p:cNvSpPr>
          <p:nvPr>
            <p:ph type="title"/>
          </p:nvPr>
        </p:nvSpPr>
        <p:spPr/>
        <p:txBody>
          <a:bodyPr/>
          <a:lstStyle/>
          <a:p>
            <a:pPr algn="ctr"/>
            <a:r>
              <a:rPr lang="en-US" b="1" dirty="0"/>
              <a:t>2025 BOD Induction </a:t>
            </a:r>
            <a:br>
              <a:rPr lang="en-US" b="1" dirty="0"/>
            </a:br>
            <a:r>
              <a:rPr lang="en-US" b="1" dirty="0"/>
              <a:t>and Oath Taking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
            <a:ext cx="10058400" cy="1450757"/>
          </a:xfrm>
        </p:spPr>
        <p:txBody>
          <a:bodyPr>
            <a:normAutofit/>
          </a:bodyPr>
          <a:lstStyle/>
          <a:p>
            <a:pPr algn="ctr"/>
            <a:r>
              <a:rPr lang="en-US" sz="3600" b="1" dirty="0">
                <a:solidFill>
                  <a:schemeClr val="tx1"/>
                </a:solidFill>
              </a:rPr>
              <a:t>2024 BOD Induction and Oath Taking  </a:t>
            </a:r>
          </a:p>
        </p:txBody>
      </p:sp>
      <p:sp>
        <p:nvSpPr>
          <p:cNvPr id="3" name="Footer Placeholder 2"/>
          <p:cNvSpPr>
            <a:spLocks noGrp="1"/>
          </p:cNvSpPr>
          <p:nvPr>
            <p:ph type="ftr" sz="quarter" idx="11"/>
          </p:nvPr>
        </p:nvSpPr>
        <p:spPr/>
        <p:txBody>
          <a:bodyPr/>
          <a:lstStyle/>
          <a:p>
            <a:r>
              <a:rPr lang="en-US" dirty="0"/>
              <a:t>INCOSE WMA 2025 PROGRAM Meeting</a:t>
            </a:r>
          </a:p>
        </p:txBody>
      </p:sp>
      <p:sp>
        <p:nvSpPr>
          <p:cNvPr id="4" name="Slide Number Placeholder 3"/>
          <p:cNvSpPr>
            <a:spLocks noGrp="1"/>
          </p:cNvSpPr>
          <p:nvPr>
            <p:ph type="sldNum" sz="quarter" idx="12"/>
          </p:nvPr>
        </p:nvSpPr>
        <p:spPr/>
        <p:txBody>
          <a:bodyPr/>
          <a:lstStyle/>
          <a:p>
            <a:fld id="{4FAB73BC-B049-4115-A692-8D63A059BFB8}" type="slidenum">
              <a:rPr lang="en-US" smtClean="0"/>
              <a:pPr/>
              <a:t>12</a:t>
            </a:fld>
            <a:endParaRPr lang="en-US"/>
          </a:p>
        </p:txBody>
      </p:sp>
      <p:sp>
        <p:nvSpPr>
          <p:cNvPr id="5" name="TextBox 4"/>
          <p:cNvSpPr txBox="1"/>
          <p:nvPr/>
        </p:nvSpPr>
        <p:spPr>
          <a:xfrm>
            <a:off x="152400" y="1676400"/>
            <a:ext cx="12039600" cy="4770537"/>
          </a:xfrm>
          <a:prstGeom prst="rect">
            <a:avLst/>
          </a:prstGeom>
          <a:noFill/>
        </p:spPr>
        <p:txBody>
          <a:bodyPr wrap="square" rtlCol="0">
            <a:spAutoFit/>
          </a:bodyPr>
          <a:lstStyle/>
          <a:p>
            <a:r>
              <a:rPr lang="en-US" sz="1900" dirty="0"/>
              <a:t>As the newly-elected Board of Directors of the Washington Metropolitan Area chapter of INCOSE, you are responsible for managing the affairs of this organization and providing for the day-to-day operations and management of the chapter.</a:t>
            </a:r>
          </a:p>
          <a:p>
            <a:r>
              <a:rPr lang="en-US" sz="1900" dirty="0"/>
              <a:t> </a:t>
            </a:r>
          </a:p>
          <a:p>
            <a:r>
              <a:rPr lang="en-US" sz="1900" dirty="0"/>
              <a:t>Do you pledge yourselves to faithfully discharge these responsibilities, in accordance with our Chapter Constitution and By Laws, as board members of the Washington Metropolitan Areas Chapter of INCOSE?</a:t>
            </a:r>
          </a:p>
          <a:p>
            <a:r>
              <a:rPr lang="en-US" sz="1900" dirty="0"/>
              <a:t> </a:t>
            </a:r>
          </a:p>
          <a:p>
            <a:r>
              <a:rPr lang="en-US" sz="1900" dirty="0"/>
              <a:t>	If so, then answer, "I will"</a:t>
            </a:r>
          </a:p>
          <a:p>
            <a:r>
              <a:rPr lang="en-US" sz="1900" dirty="0"/>
              <a:t> </a:t>
            </a:r>
          </a:p>
          <a:p>
            <a:r>
              <a:rPr lang="en-US" sz="1900" dirty="0"/>
              <a:t>Do you pledge yourselves to fulfill the responsibilities and obligations of your elected office of Washington Metropolitan Areas Chapter of INCOSE, to promote the interests of the chapter so as to assist its development and health, and to serve as a member of the council's board of directors?</a:t>
            </a:r>
          </a:p>
          <a:p>
            <a:r>
              <a:rPr lang="en-US" sz="1900" dirty="0"/>
              <a:t> </a:t>
            </a:r>
          </a:p>
          <a:p>
            <a:r>
              <a:rPr lang="en-US" sz="1900" dirty="0"/>
              <a:t>	If so, then answer, "I will"</a:t>
            </a:r>
          </a:p>
          <a:p>
            <a:r>
              <a:rPr lang="en-US" sz="1900" dirty="0"/>
              <a:t> </a:t>
            </a:r>
          </a:p>
          <a:p>
            <a:r>
              <a:rPr lang="en-US" sz="1900" dirty="0"/>
              <a:t>Board members, I hereby install each of you into the office to which you have been elected.</a:t>
            </a:r>
          </a:p>
          <a:p>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69DC6-37AC-4BEB-B531-4FCF3C3FC565}"/>
              </a:ext>
            </a:extLst>
          </p:cNvPr>
          <p:cNvSpPr>
            <a:spLocks noGrp="1"/>
          </p:cNvSpPr>
          <p:nvPr>
            <p:ph type="title"/>
          </p:nvPr>
        </p:nvSpPr>
        <p:spPr>
          <a:xfrm>
            <a:off x="609600" y="152402"/>
            <a:ext cx="10058400" cy="1450757"/>
          </a:xfrm>
        </p:spPr>
        <p:txBody>
          <a:bodyPr anchor="ctr"/>
          <a:lstStyle/>
          <a:p>
            <a:pPr algn="ctr"/>
            <a:r>
              <a:rPr lang="en-US" b="1" dirty="0">
                <a:solidFill>
                  <a:schemeClr val="tx1"/>
                </a:solidFill>
              </a:rPr>
              <a:t>2025 WMA Board &amp; Liaisons</a:t>
            </a:r>
          </a:p>
        </p:txBody>
      </p:sp>
      <p:sp>
        <p:nvSpPr>
          <p:cNvPr id="3" name="Content Placeholder 2">
            <a:extLst>
              <a:ext uri="{FF2B5EF4-FFF2-40B4-BE49-F238E27FC236}">
                <a16:creationId xmlns:a16="http://schemas.microsoft.com/office/drawing/2014/main" id="{A5504A04-7D02-43DB-AF0B-1360B5FE5C15}"/>
              </a:ext>
            </a:extLst>
          </p:cNvPr>
          <p:cNvSpPr>
            <a:spLocks noGrp="1"/>
          </p:cNvSpPr>
          <p:nvPr>
            <p:ph sz="half" idx="1"/>
          </p:nvPr>
        </p:nvSpPr>
        <p:spPr>
          <a:xfrm>
            <a:off x="304800" y="1905001"/>
            <a:ext cx="6477000" cy="4326465"/>
          </a:xfrm>
          <a:noFill/>
          <a:ln>
            <a:noFill/>
          </a:ln>
        </p:spPr>
        <p:txBody>
          <a:bodyPr>
            <a:normAutofit/>
          </a:bodyPr>
          <a:lstStyle/>
          <a:p>
            <a:pPr marL="342900" lvl="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President: Dr. </a:t>
            </a:r>
            <a:r>
              <a:rPr lang="en-US" dirty="0" err="1">
                <a:solidFill>
                  <a:schemeClr val="tx1"/>
                </a:solidFill>
                <a:latin typeface="Arial" panose="020B0604020202020204" pitchFamily="34" charset="0"/>
                <a:cs typeface="Arial" panose="020B0604020202020204" pitchFamily="34" charset="0"/>
              </a:rPr>
              <a:t>Lowanda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Studevent</a:t>
            </a:r>
            <a:endParaRPr lang="en-US" dirty="0">
              <a:solidFill>
                <a:schemeClr val="tx1"/>
              </a:solidFill>
              <a:latin typeface="Arial" panose="020B0604020202020204" pitchFamily="34" charset="0"/>
              <a:cs typeface="Arial" panose="020B0604020202020204" pitchFamily="34" charset="0"/>
            </a:endParaRPr>
          </a:p>
          <a:p>
            <a:pPr marL="342900" lvl="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VP/President-Elect: Dr. </a:t>
            </a:r>
            <a:r>
              <a:rPr lang="en-US">
                <a:solidFill>
                  <a:schemeClr val="tx1"/>
                </a:solidFill>
                <a:latin typeface="Arial" panose="020B0604020202020204" pitchFamily="34" charset="0"/>
                <a:cs typeface="Arial" panose="020B0604020202020204" pitchFamily="34" charset="0"/>
              </a:rPr>
              <a:t>Shawn Na, CSEP</a:t>
            </a:r>
            <a:endParaRPr lang="en-US" dirty="0">
              <a:solidFill>
                <a:schemeClr val="tx1"/>
              </a:solidFill>
              <a:latin typeface="Arial" panose="020B0604020202020204" pitchFamily="34" charset="0"/>
              <a:cs typeface="Arial" panose="020B0604020202020204" pitchFamily="34" charset="0"/>
            </a:endParaRPr>
          </a:p>
          <a:p>
            <a:pPr marL="342900" lvl="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Past-President: Mr. Gary Thomas</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Programs Chair: Ms. </a:t>
            </a:r>
            <a:r>
              <a:rPr lang="en-US" dirty="0" err="1">
                <a:solidFill>
                  <a:schemeClr val="tx1"/>
                </a:solidFill>
                <a:latin typeface="Arial" panose="020B0604020202020204" pitchFamily="34" charset="0"/>
                <a:cs typeface="Arial" panose="020B0604020202020204" pitchFamily="34" charset="0"/>
              </a:rPr>
              <a:t>Ruchira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Puri</a:t>
            </a:r>
            <a:endParaRPr lang="en-US" dirty="0">
              <a:solidFill>
                <a:schemeClr val="tx1"/>
              </a:solidFill>
              <a:latin typeface="Arial" panose="020B0604020202020204" pitchFamily="34" charset="0"/>
              <a:cs typeface="Arial" panose="020B0604020202020204" pitchFamily="34" charset="0"/>
            </a:endParaRP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Treasurer: Mr. Brian Massa</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Secretary: Ms. Barbara Staples</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Director-at-Large: Mr. William </a:t>
            </a:r>
            <a:r>
              <a:rPr lang="en-US" dirty="0" err="1">
                <a:solidFill>
                  <a:schemeClr val="tx1"/>
                </a:solidFill>
                <a:latin typeface="Arial" panose="020B0604020202020204" pitchFamily="34" charset="0"/>
                <a:cs typeface="Arial" panose="020B0604020202020204" pitchFamily="34" charset="0"/>
              </a:rPr>
              <a:t>Scheible</a:t>
            </a:r>
            <a:r>
              <a:rPr lang="en-US" dirty="0">
                <a:solidFill>
                  <a:schemeClr val="tx1"/>
                </a:solidFill>
                <a:latin typeface="Arial" panose="020B0604020202020204" pitchFamily="34" charset="0"/>
                <a:cs typeface="Arial" panose="020B0604020202020204" pitchFamily="34" charset="0"/>
              </a:rPr>
              <a:t>, ESEP</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Director-at-Large: Dr. Houng </a:t>
            </a:r>
            <a:r>
              <a:rPr lang="en-US" dirty="0" err="1">
                <a:solidFill>
                  <a:schemeClr val="tx1"/>
                </a:solidFill>
                <a:latin typeface="Arial" panose="020B0604020202020204" pitchFamily="34" charset="0"/>
                <a:cs typeface="Arial" panose="020B0604020202020204" pitchFamily="34" charset="0"/>
              </a:rPr>
              <a:t>Soo</a:t>
            </a:r>
            <a:r>
              <a:rPr lang="en-US" dirty="0">
                <a:solidFill>
                  <a:schemeClr val="tx1"/>
                </a:solidFill>
                <a:latin typeface="Arial" panose="020B0604020202020204" pitchFamily="34" charset="0"/>
                <a:cs typeface="Arial" panose="020B0604020202020204" pitchFamily="34" charset="0"/>
              </a:rPr>
              <a:t>, CSEP</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Communications Chair: Mr. Paul </a:t>
            </a:r>
            <a:r>
              <a:rPr lang="en-US" dirty="0" err="1">
                <a:solidFill>
                  <a:schemeClr val="tx1"/>
                </a:solidFill>
                <a:latin typeface="Arial" panose="020B0604020202020204" pitchFamily="34" charset="0"/>
                <a:cs typeface="Arial" panose="020B0604020202020204" pitchFamily="34" charset="0"/>
              </a:rPr>
              <a:t>DeMarco</a:t>
            </a:r>
            <a:endParaRPr lang="en-US" dirty="0">
              <a:solidFill>
                <a:schemeClr val="tx1"/>
              </a:solidFill>
              <a:latin typeface="Arial" panose="020B0604020202020204" pitchFamily="34" charset="0"/>
              <a:cs typeface="Arial" panose="020B0604020202020204" pitchFamily="34" charset="0"/>
            </a:endParaRPr>
          </a:p>
          <a:p>
            <a:endParaRPr lang="en-US" dirty="0"/>
          </a:p>
        </p:txBody>
      </p:sp>
      <p:sp>
        <p:nvSpPr>
          <p:cNvPr id="6" name="Content Placeholder 5">
            <a:extLst>
              <a:ext uri="{FF2B5EF4-FFF2-40B4-BE49-F238E27FC236}">
                <a16:creationId xmlns:a16="http://schemas.microsoft.com/office/drawing/2014/main" id="{B305B7CE-573D-4276-AC0C-C078AF68952B}"/>
              </a:ext>
            </a:extLst>
          </p:cNvPr>
          <p:cNvSpPr>
            <a:spLocks noGrp="1"/>
          </p:cNvSpPr>
          <p:nvPr>
            <p:ph sz="half" idx="2"/>
          </p:nvPr>
        </p:nvSpPr>
        <p:spPr>
          <a:xfrm>
            <a:off x="6400800" y="1905001"/>
            <a:ext cx="5715000" cy="4419599"/>
          </a:xfrm>
        </p:spPr>
        <p:txBody>
          <a:bodyPr>
            <a:normAutofit/>
          </a:bodyPr>
          <a:lstStyle/>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Tutorial Chair: Mr. Kyle Miller, ASEP</a:t>
            </a:r>
            <a:r>
              <a:rPr lang="en-US" sz="1800" dirty="0">
                <a:solidFill>
                  <a:srgbClr val="26282A"/>
                </a:solidFill>
                <a:highlight>
                  <a:srgbClr val="00FFFF"/>
                </a:highlight>
                <a:latin typeface="Helvetica" panose="020B0604020202020204" pitchFamily="34" charset="0"/>
                <a:ea typeface="Times New Roman" panose="02020603050405020304" pitchFamily="18" charset="0"/>
              </a:rPr>
              <a:t> </a:t>
            </a:r>
            <a:endParaRPr lang="en-US" sz="1800" dirty="0">
              <a:highlight>
                <a:srgbClr val="00FFFF"/>
              </a:highlight>
              <a:latin typeface="Calibri" panose="020F0502020204030204" pitchFamily="34" charset="0"/>
              <a:ea typeface="Calibri" panose="020F0502020204030204" pitchFamily="34" charset="0"/>
            </a:endParaRP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Membership Chair: Ms. Lisa Winchester</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Ambassador Chair: </a:t>
            </a:r>
            <a:r>
              <a:rPr lang="en-US" dirty="0">
                <a:solidFill>
                  <a:srgbClr val="FF0000"/>
                </a:solidFill>
                <a:latin typeface="Arial" panose="020B0604020202020204" pitchFamily="34" charset="0"/>
                <a:cs typeface="Arial" panose="020B0604020202020204" pitchFamily="34" charset="0"/>
              </a:rPr>
              <a:t>Vacant</a:t>
            </a:r>
          </a:p>
          <a:p>
            <a:pPr marL="342900" indent="-342900">
              <a:buFont typeface="Wingdings" panose="05000000000000000000" pitchFamily="2" charset="2"/>
              <a:buChar char="v"/>
            </a:pPr>
            <a:r>
              <a:rPr lang="en-US" dirty="0">
                <a:solidFill>
                  <a:schemeClr val="tx1"/>
                </a:solidFill>
                <a:latin typeface="Arial" panose="020B0604020202020204" pitchFamily="34" charset="0"/>
                <a:cs typeface="Arial" panose="020B0604020202020204" pitchFamily="34" charset="0"/>
              </a:rPr>
              <a:t>Event Coordinator: Ms. </a:t>
            </a:r>
            <a:r>
              <a:rPr lang="en-US" dirty="0">
                <a:latin typeface="Arial" pitchFamily="34" charset="0"/>
                <a:cs typeface="Arial" pitchFamily="34" charset="0"/>
              </a:rPr>
              <a:t>Kathleen </a:t>
            </a:r>
            <a:r>
              <a:rPr lang="en-US" dirty="0">
                <a:solidFill>
                  <a:schemeClr val="tx1"/>
                </a:solidFill>
                <a:latin typeface="Arial" pitchFamily="34" charset="0"/>
                <a:cs typeface="Arial" pitchFamily="34" charset="0"/>
              </a:rPr>
              <a:t>Flynn, CSEP</a:t>
            </a:r>
          </a:p>
          <a:p>
            <a:pPr marL="342900" indent="-342900">
              <a:buFont typeface="Wingdings" panose="05000000000000000000" pitchFamily="2" charset="2"/>
              <a:buChar char="v"/>
            </a:pPr>
            <a:r>
              <a:rPr lang="en-US" dirty="0">
                <a:solidFill>
                  <a:schemeClr val="tx1"/>
                </a:solidFill>
                <a:latin typeface="Arial" pitchFamily="34" charset="0"/>
                <a:cs typeface="Arial" pitchFamily="34" charset="0"/>
              </a:rPr>
              <a:t>Newsletter Editor: Nalini </a:t>
            </a:r>
            <a:r>
              <a:rPr lang="en-US" dirty="0" err="1">
                <a:solidFill>
                  <a:schemeClr val="tx1"/>
                </a:solidFill>
                <a:latin typeface="Arial" pitchFamily="34" charset="0"/>
                <a:cs typeface="Arial" pitchFamily="34" charset="0"/>
              </a:rPr>
              <a:t>Muppala</a:t>
            </a:r>
            <a:endParaRPr lang="en-US" dirty="0">
              <a:solidFill>
                <a:schemeClr val="tx1"/>
              </a:solidFill>
              <a:latin typeface="Arial" pitchFamily="34" charset="0"/>
              <a:cs typeface="Arial" pitchFamily="34" charset="0"/>
            </a:endParaRPr>
          </a:p>
          <a:p>
            <a:pPr marL="342900" indent="-342900">
              <a:buFont typeface="Wingdings" panose="05000000000000000000" pitchFamily="2" charset="2"/>
              <a:buChar char="v"/>
            </a:pPr>
            <a:r>
              <a:rPr lang="en-US" dirty="0">
                <a:solidFill>
                  <a:schemeClr val="tx1"/>
                </a:solidFill>
                <a:latin typeface="Arial" pitchFamily="34" charset="0"/>
                <a:cs typeface="Arial" pitchFamily="34" charset="0"/>
              </a:rPr>
              <a:t>Student Division Faculty Advisor:</a:t>
            </a:r>
          </a:p>
          <a:p>
            <a:pPr marL="571500" lvl="1" indent="-228600">
              <a:spcBef>
                <a:spcPts val="1200"/>
              </a:spcBef>
              <a:spcAft>
                <a:spcPts val="200"/>
              </a:spcAft>
              <a:buFont typeface="Wingdings" panose="05000000000000000000" pitchFamily="2" charset="2"/>
              <a:buChar char="v"/>
            </a:pPr>
            <a:r>
              <a:rPr lang="en-US" dirty="0">
                <a:solidFill>
                  <a:schemeClr val="tx1"/>
                </a:solidFill>
                <a:latin typeface="Arial" pitchFamily="34" charset="0"/>
                <a:cs typeface="Arial" pitchFamily="34" charset="0"/>
              </a:rPr>
              <a:t>GMU -- 	Professor Matthew Amissah</a:t>
            </a:r>
          </a:p>
          <a:p>
            <a:pPr marL="571500" lvl="1" indent="-228600">
              <a:spcBef>
                <a:spcPts val="1200"/>
              </a:spcBef>
              <a:spcAft>
                <a:spcPts val="200"/>
              </a:spcAft>
              <a:buFont typeface="Wingdings" panose="05000000000000000000" pitchFamily="2" charset="2"/>
              <a:buChar char="v"/>
            </a:pPr>
            <a:r>
              <a:rPr lang="en-US" dirty="0">
                <a:solidFill>
                  <a:schemeClr val="tx1"/>
                </a:solidFill>
                <a:latin typeface="Arial" pitchFamily="34" charset="0"/>
                <a:cs typeface="Arial" pitchFamily="34" charset="0"/>
              </a:rPr>
              <a:t>VA Tech --   Professor Taylan </a:t>
            </a:r>
            <a:r>
              <a:rPr lang="en-US" dirty="0" err="1">
                <a:solidFill>
                  <a:schemeClr val="tx1"/>
                </a:solidFill>
                <a:latin typeface="Arial" pitchFamily="34" charset="0"/>
                <a:cs typeface="Arial" pitchFamily="34" charset="0"/>
              </a:rPr>
              <a:t>Topcu</a:t>
            </a:r>
            <a:endParaRPr lang="en-US" dirty="0">
              <a:solidFill>
                <a:schemeClr val="tx1"/>
              </a:solidFill>
              <a:latin typeface="Arial" pitchFamily="34" charset="0"/>
              <a:cs typeface="Arial" pitchFamily="34" charset="0"/>
            </a:endParaRPr>
          </a:p>
          <a:p>
            <a:pPr marL="571500" lvl="1" indent="-228600">
              <a:spcBef>
                <a:spcPts val="1200"/>
              </a:spcBef>
              <a:spcAft>
                <a:spcPts val="200"/>
              </a:spcAft>
              <a:buFont typeface="Wingdings" panose="05000000000000000000" pitchFamily="2" charset="2"/>
              <a:buChar char="v"/>
            </a:pPr>
            <a:r>
              <a:rPr lang="en-US" dirty="0">
                <a:solidFill>
                  <a:schemeClr val="tx1"/>
                </a:solidFill>
                <a:latin typeface="Arial" pitchFamily="34" charset="0"/>
                <a:cs typeface="Arial" pitchFamily="34" charset="0"/>
              </a:rPr>
              <a:t>GWU – 	Professor Eric Dano</a:t>
            </a:r>
          </a:p>
          <a:p>
            <a:pPr lvl="1">
              <a:buFont typeface="Wingdings" panose="05000000000000000000" pitchFamily="2" charset="2"/>
              <a:buChar char="v"/>
            </a:pPr>
            <a:endParaRPr lang="en-US" dirty="0"/>
          </a:p>
          <a:p>
            <a:pPr lvl="1">
              <a:buNone/>
            </a:pPr>
            <a:endParaRPr lang="en-US" dirty="0"/>
          </a:p>
          <a:p>
            <a:endParaRPr lang="en-US" dirty="0"/>
          </a:p>
        </p:txBody>
      </p:sp>
      <p:sp>
        <p:nvSpPr>
          <p:cNvPr id="7" name="Footer Placeholder 5">
            <a:extLst>
              <a:ext uri="{FF2B5EF4-FFF2-40B4-BE49-F238E27FC236}">
                <a16:creationId xmlns:a16="http://schemas.microsoft.com/office/drawing/2014/main" id="{8A5F6353-E25F-46F7-93D9-CB6F746C991B}"/>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
        <p:nvSpPr>
          <p:cNvPr id="8" name="Slide Number Placeholder 7"/>
          <p:cNvSpPr>
            <a:spLocks noGrp="1"/>
          </p:cNvSpPr>
          <p:nvPr>
            <p:ph type="sldNum" sz="quarter" idx="12"/>
          </p:nvPr>
        </p:nvSpPr>
        <p:spPr/>
        <p:txBody>
          <a:bodyPr/>
          <a:lstStyle/>
          <a:p>
            <a:fld id="{4FAB73BC-B049-4115-A692-8D63A059BFB8}" type="slidenum">
              <a:rPr lang="en-US" smtClean="0"/>
              <a:pPr/>
              <a:t>13</a:t>
            </a:fld>
            <a:endParaRPr lang="en-US"/>
          </a:p>
        </p:txBody>
      </p:sp>
    </p:spTree>
    <p:extLst>
      <p:ext uri="{BB962C8B-B14F-4D97-AF65-F5344CB8AC3E}">
        <p14:creationId xmlns:p14="http://schemas.microsoft.com/office/powerpoint/2010/main" val="23310969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7880" y="76200"/>
            <a:ext cx="7056120" cy="1450757"/>
          </a:xfrm>
        </p:spPr>
        <p:txBody>
          <a:bodyPr>
            <a:normAutofit/>
          </a:bodyPr>
          <a:lstStyle/>
          <a:p>
            <a:pPr algn="ctr"/>
            <a:r>
              <a:rPr lang="en-US" sz="4400" b="1" dirty="0">
                <a:solidFill>
                  <a:schemeClr val="tx1"/>
                </a:solidFill>
              </a:rPr>
              <a:t>2024 New SEP Recognitions</a:t>
            </a:r>
          </a:p>
        </p:txBody>
      </p:sp>
      <p:sp>
        <p:nvSpPr>
          <p:cNvPr id="6" name="Slide Number Placeholder 5"/>
          <p:cNvSpPr>
            <a:spLocks noGrp="1"/>
          </p:cNvSpPr>
          <p:nvPr>
            <p:ph type="sldNum" sz="quarter" idx="12"/>
          </p:nvPr>
        </p:nvSpPr>
        <p:spPr/>
        <p:txBody>
          <a:bodyPr/>
          <a:lstStyle/>
          <a:p>
            <a:fld id="{4FAB73BC-B049-4115-A692-8D63A059BFB8}" type="slidenum">
              <a:rPr lang="en-US" smtClean="0"/>
              <a:pPr/>
              <a:t>14</a:t>
            </a:fld>
            <a:endParaRPr lang="en-US"/>
          </a:p>
        </p:txBody>
      </p:sp>
      <p:sp>
        <p:nvSpPr>
          <p:cNvPr id="8" name="TextBox 7"/>
          <p:cNvSpPr txBox="1"/>
          <p:nvPr/>
        </p:nvSpPr>
        <p:spPr>
          <a:xfrm>
            <a:off x="1196996" y="1874728"/>
            <a:ext cx="9753600" cy="3108543"/>
          </a:xfrm>
          <a:prstGeom prst="rect">
            <a:avLst/>
          </a:prstGeom>
          <a:noFill/>
        </p:spPr>
        <p:txBody>
          <a:bodyPr wrap="square" rtlCol="0">
            <a:spAutoFit/>
          </a:bodyPr>
          <a:lstStyle/>
          <a:p>
            <a:r>
              <a:rPr lang="en-US" sz="2800" dirty="0"/>
              <a:t>60 WMA Chapter members earned SEP certifications in 2024.</a:t>
            </a:r>
          </a:p>
          <a:p>
            <a:endParaRPr lang="en-US" sz="2800" dirty="0"/>
          </a:p>
          <a:p>
            <a:pPr lvl="8"/>
            <a:r>
              <a:rPr lang="en-US" sz="2800" dirty="0"/>
              <a:t>ASEP   44</a:t>
            </a:r>
          </a:p>
          <a:p>
            <a:pPr lvl="8"/>
            <a:r>
              <a:rPr lang="en-US" sz="2800" dirty="0"/>
              <a:t>CSEP   14</a:t>
            </a:r>
          </a:p>
          <a:p>
            <a:pPr lvl="8"/>
            <a:r>
              <a:rPr lang="en-US" sz="2800" dirty="0"/>
              <a:t>ESP        2</a:t>
            </a:r>
          </a:p>
          <a:p>
            <a:pPr lvl="8"/>
            <a:r>
              <a:rPr lang="en-US" sz="2800" dirty="0"/>
              <a:t>------------</a:t>
            </a:r>
          </a:p>
          <a:p>
            <a:pPr lvl="8"/>
            <a:r>
              <a:rPr lang="en-US" sz="2800" dirty="0"/>
              <a:t>Total    60 </a:t>
            </a:r>
          </a:p>
        </p:txBody>
      </p:sp>
      <p:pic>
        <p:nvPicPr>
          <p:cNvPr id="3074" name="Picture 2" descr="Image result for incose esep">
            <a:extLst>
              <a:ext uri="{FF2B5EF4-FFF2-40B4-BE49-F238E27FC236}">
                <a16:creationId xmlns:a16="http://schemas.microsoft.com/office/drawing/2014/main" id="{8607C16F-4D62-E7CE-ADDE-1C62CFEAF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4983271"/>
            <a:ext cx="4347706" cy="1202823"/>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5">
            <a:extLst>
              <a:ext uri="{FF2B5EF4-FFF2-40B4-BE49-F238E27FC236}">
                <a16:creationId xmlns:a16="http://schemas.microsoft.com/office/drawing/2014/main" id="{66129467-0420-25CB-8759-3110B2AB60A5}"/>
              </a:ext>
            </a:extLst>
          </p:cNvPr>
          <p:cNvSpPr txBox="1">
            <a:spLocks/>
          </p:cNvSpPr>
          <p:nvPr/>
        </p:nvSpPr>
        <p:spPr>
          <a:xfrm>
            <a:off x="3352800" y="6492875"/>
            <a:ext cx="4822804"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cap="all"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A9A7DA1-87F4-598D-B220-034BF7B281F9}"/>
              </a:ext>
            </a:extLst>
          </p:cNvPr>
          <p:cNvSpPr>
            <a:spLocks noGrp="1"/>
          </p:cNvSpPr>
          <p:nvPr>
            <p:ph type="title"/>
          </p:nvPr>
        </p:nvSpPr>
        <p:spPr>
          <a:xfrm>
            <a:off x="2286000" y="519808"/>
            <a:ext cx="5486400" cy="838200"/>
          </a:xfrm>
        </p:spPr>
        <p:txBody>
          <a:bodyPr>
            <a:normAutofit/>
          </a:bodyPr>
          <a:lstStyle/>
          <a:p>
            <a:pPr algn="ctr"/>
            <a:r>
              <a:rPr lang="en-US" b="1" dirty="0">
                <a:solidFill>
                  <a:schemeClr val="tx1"/>
                </a:solidFill>
              </a:rPr>
              <a:t>44 New ASEPs</a:t>
            </a:r>
            <a:endParaRPr lang="en-US" sz="2700" b="1" dirty="0">
              <a:solidFill>
                <a:schemeClr val="tx1"/>
              </a:solidFill>
            </a:endParaRPr>
          </a:p>
        </p:txBody>
      </p:sp>
      <p:graphicFrame>
        <p:nvGraphicFramePr>
          <p:cNvPr id="7" name="Table 6">
            <a:extLst>
              <a:ext uri="{FF2B5EF4-FFF2-40B4-BE49-F238E27FC236}">
                <a16:creationId xmlns:a16="http://schemas.microsoft.com/office/drawing/2014/main" id="{263208E1-1FDF-CFD2-B988-B7D7391928E1}"/>
              </a:ext>
            </a:extLst>
          </p:cNvPr>
          <p:cNvGraphicFramePr>
            <a:graphicFrameLocks noGrp="1"/>
          </p:cNvGraphicFramePr>
          <p:nvPr>
            <p:extLst>
              <p:ext uri="{D42A27DB-BD31-4B8C-83A1-F6EECF244321}">
                <p14:modId xmlns:p14="http://schemas.microsoft.com/office/powerpoint/2010/main" val="483958049"/>
              </p:ext>
            </p:extLst>
          </p:nvPr>
        </p:nvGraphicFramePr>
        <p:xfrm>
          <a:off x="669090" y="2057400"/>
          <a:ext cx="2226509" cy="3924305"/>
        </p:xfrm>
        <a:graphic>
          <a:graphicData uri="http://schemas.openxmlformats.org/drawingml/2006/table">
            <a:tbl>
              <a:tblPr>
                <a:tableStyleId>{5C22544A-7EE6-4342-B048-85BDC9FD1C3A}</a:tableStyleId>
              </a:tblPr>
              <a:tblGrid>
                <a:gridCol w="2226509">
                  <a:extLst>
                    <a:ext uri="{9D8B030D-6E8A-4147-A177-3AD203B41FA5}">
                      <a16:colId xmlns:a16="http://schemas.microsoft.com/office/drawing/2014/main" val="1599292649"/>
                    </a:ext>
                  </a:extLst>
                </a:gridCol>
              </a:tblGrid>
              <a:tr h="356755">
                <a:tc>
                  <a:txBody>
                    <a:bodyPr/>
                    <a:lstStyle/>
                    <a:p>
                      <a:pPr algn="l" fontAlgn="b"/>
                      <a:r>
                        <a:rPr lang="en-US" sz="1600" u="none" strike="noStrike">
                          <a:effectLst/>
                        </a:rPr>
                        <a:t>Amir H. Abrari</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800863051"/>
                  </a:ext>
                </a:extLst>
              </a:tr>
              <a:tr h="356755">
                <a:tc>
                  <a:txBody>
                    <a:bodyPr/>
                    <a:lstStyle/>
                    <a:p>
                      <a:pPr algn="l" fontAlgn="b"/>
                      <a:r>
                        <a:rPr lang="en-US" sz="1600" u="none" strike="noStrike">
                          <a:effectLst/>
                        </a:rPr>
                        <a:t>Jonathan Bennett</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725292829"/>
                  </a:ext>
                </a:extLst>
              </a:tr>
              <a:tr h="356755">
                <a:tc>
                  <a:txBody>
                    <a:bodyPr/>
                    <a:lstStyle/>
                    <a:p>
                      <a:pPr algn="l" fontAlgn="b"/>
                      <a:r>
                        <a:rPr lang="en-US" sz="1600" u="none" strike="noStrike" dirty="0">
                          <a:effectLst/>
                        </a:rPr>
                        <a:t>Josiah Thomas Boman</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792371260"/>
                  </a:ext>
                </a:extLst>
              </a:tr>
              <a:tr h="356755">
                <a:tc>
                  <a:txBody>
                    <a:bodyPr/>
                    <a:lstStyle/>
                    <a:p>
                      <a:pPr algn="l" fontAlgn="b"/>
                      <a:r>
                        <a:rPr lang="en-US" sz="1600" u="none" strike="noStrike">
                          <a:effectLst/>
                        </a:rPr>
                        <a:t>Kimberly Capers</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63376709"/>
                  </a:ext>
                </a:extLst>
              </a:tr>
              <a:tr h="356755">
                <a:tc>
                  <a:txBody>
                    <a:bodyPr/>
                    <a:lstStyle/>
                    <a:p>
                      <a:pPr algn="l" fontAlgn="b"/>
                      <a:r>
                        <a:rPr lang="en-US" sz="1600" u="none" strike="noStrike" dirty="0">
                          <a:effectLst/>
                        </a:rPr>
                        <a:t>Brandon Cody Collins</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125748021"/>
                  </a:ext>
                </a:extLst>
              </a:tr>
              <a:tr h="356755">
                <a:tc>
                  <a:txBody>
                    <a:bodyPr/>
                    <a:lstStyle/>
                    <a:p>
                      <a:pPr algn="l" fontAlgn="b"/>
                      <a:r>
                        <a:rPr lang="en-US" sz="1600" u="none" strike="noStrike">
                          <a:effectLst/>
                        </a:rPr>
                        <a:t>Alexander Day</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181854083"/>
                  </a:ext>
                </a:extLst>
              </a:tr>
              <a:tr h="356755">
                <a:tc>
                  <a:txBody>
                    <a:bodyPr/>
                    <a:lstStyle/>
                    <a:p>
                      <a:pPr algn="l" fontAlgn="b"/>
                      <a:r>
                        <a:rPr lang="en-US" sz="1600" u="none" strike="noStrike" dirty="0">
                          <a:effectLst/>
                        </a:rPr>
                        <a:t>Emma Catherine Devine</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52262879"/>
                  </a:ext>
                </a:extLst>
              </a:tr>
              <a:tr h="356755">
                <a:tc>
                  <a:txBody>
                    <a:bodyPr/>
                    <a:lstStyle/>
                    <a:p>
                      <a:pPr algn="l" fontAlgn="b"/>
                      <a:r>
                        <a:rPr lang="en-US" sz="1600" u="none" strike="noStrike" dirty="0">
                          <a:effectLst/>
                        </a:rPr>
                        <a:t>Steven Michael Drost</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8382362"/>
                  </a:ext>
                </a:extLst>
              </a:tr>
              <a:tr h="356755">
                <a:tc>
                  <a:txBody>
                    <a:bodyPr/>
                    <a:lstStyle/>
                    <a:p>
                      <a:pPr algn="l" fontAlgn="b"/>
                      <a:r>
                        <a:rPr lang="en-US" sz="1600" u="none" strike="noStrike">
                          <a:effectLst/>
                        </a:rPr>
                        <a:t>Julie Frappier</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38757369"/>
                  </a:ext>
                </a:extLst>
              </a:tr>
              <a:tr h="356755">
                <a:tc>
                  <a:txBody>
                    <a:bodyPr/>
                    <a:lstStyle/>
                    <a:p>
                      <a:pPr algn="l" fontAlgn="b"/>
                      <a:r>
                        <a:rPr lang="en-US" sz="1600" u="none" strike="noStrike">
                          <a:effectLst/>
                        </a:rPr>
                        <a:t>Cullen Michael Hanks</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251869446"/>
                  </a:ext>
                </a:extLst>
              </a:tr>
              <a:tr h="356755">
                <a:tc>
                  <a:txBody>
                    <a:bodyPr/>
                    <a:lstStyle/>
                    <a:p>
                      <a:pPr algn="l" fontAlgn="b"/>
                      <a:r>
                        <a:rPr lang="en-US" sz="1600" u="none" strike="noStrike" dirty="0">
                          <a:effectLst/>
                        </a:rPr>
                        <a:t>Kwaku </a:t>
                      </a:r>
                      <a:r>
                        <a:rPr lang="en-US" sz="1600" u="none" strike="noStrike" dirty="0" err="1">
                          <a:effectLst/>
                        </a:rPr>
                        <a:t>Impraim</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87773143"/>
                  </a:ext>
                </a:extLst>
              </a:tr>
            </a:tbl>
          </a:graphicData>
        </a:graphic>
      </p:graphicFrame>
      <p:graphicFrame>
        <p:nvGraphicFramePr>
          <p:cNvPr id="8" name="Table 7">
            <a:extLst>
              <a:ext uri="{FF2B5EF4-FFF2-40B4-BE49-F238E27FC236}">
                <a16:creationId xmlns:a16="http://schemas.microsoft.com/office/drawing/2014/main" id="{98C14503-DC6B-33A1-E2D4-7EA573BDBF3A}"/>
              </a:ext>
            </a:extLst>
          </p:cNvPr>
          <p:cNvGraphicFramePr>
            <a:graphicFrameLocks noGrp="1"/>
          </p:cNvGraphicFramePr>
          <p:nvPr>
            <p:extLst>
              <p:ext uri="{D42A27DB-BD31-4B8C-83A1-F6EECF244321}">
                <p14:modId xmlns:p14="http://schemas.microsoft.com/office/powerpoint/2010/main" val="2371805509"/>
              </p:ext>
            </p:extLst>
          </p:nvPr>
        </p:nvGraphicFramePr>
        <p:xfrm>
          <a:off x="3152980" y="2057399"/>
          <a:ext cx="2350710" cy="3924305"/>
        </p:xfrm>
        <a:graphic>
          <a:graphicData uri="http://schemas.openxmlformats.org/drawingml/2006/table">
            <a:tbl>
              <a:tblPr>
                <a:tableStyleId>{5C22544A-7EE6-4342-B048-85BDC9FD1C3A}</a:tableStyleId>
              </a:tblPr>
              <a:tblGrid>
                <a:gridCol w="2350710">
                  <a:extLst>
                    <a:ext uri="{9D8B030D-6E8A-4147-A177-3AD203B41FA5}">
                      <a16:colId xmlns:a16="http://schemas.microsoft.com/office/drawing/2014/main" val="1299155618"/>
                    </a:ext>
                  </a:extLst>
                </a:gridCol>
              </a:tblGrid>
              <a:tr h="356755">
                <a:tc>
                  <a:txBody>
                    <a:bodyPr/>
                    <a:lstStyle/>
                    <a:p>
                      <a:pPr algn="l" fontAlgn="b"/>
                      <a:r>
                        <a:rPr lang="en-US" sz="1600" u="none" strike="noStrike">
                          <a:effectLst/>
                        </a:rPr>
                        <a:t>Darius Jack</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9338470"/>
                  </a:ext>
                </a:extLst>
              </a:tr>
              <a:tr h="356755">
                <a:tc>
                  <a:txBody>
                    <a:bodyPr/>
                    <a:lstStyle/>
                    <a:p>
                      <a:pPr algn="l" fontAlgn="b"/>
                      <a:r>
                        <a:rPr lang="en-US" sz="1600" u="none" strike="noStrike">
                          <a:effectLst/>
                        </a:rPr>
                        <a:t>Max Quinn Kirby</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89429580"/>
                  </a:ext>
                </a:extLst>
              </a:tr>
              <a:tr h="356755">
                <a:tc>
                  <a:txBody>
                    <a:bodyPr/>
                    <a:lstStyle/>
                    <a:p>
                      <a:pPr algn="l" fontAlgn="b"/>
                      <a:r>
                        <a:rPr lang="en-US" sz="1600" u="none" strike="noStrike" dirty="0">
                          <a:effectLst/>
                        </a:rPr>
                        <a:t>Venkatesh Krishnamoorthy</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67202006"/>
                  </a:ext>
                </a:extLst>
              </a:tr>
              <a:tr h="356755">
                <a:tc>
                  <a:txBody>
                    <a:bodyPr/>
                    <a:lstStyle/>
                    <a:p>
                      <a:pPr algn="l" fontAlgn="b"/>
                      <a:r>
                        <a:rPr lang="en-US" sz="1600" u="none" strike="noStrike" dirty="0">
                          <a:effectLst/>
                        </a:rPr>
                        <a:t>James Krumm</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335596570"/>
                  </a:ext>
                </a:extLst>
              </a:tr>
              <a:tr h="356755">
                <a:tc>
                  <a:txBody>
                    <a:bodyPr/>
                    <a:lstStyle/>
                    <a:p>
                      <a:pPr algn="l" fontAlgn="b"/>
                      <a:r>
                        <a:rPr lang="en-US" sz="1600" u="none" strike="noStrike">
                          <a:effectLst/>
                        </a:rPr>
                        <a:t>Robert Thompson Kuntz</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97471761"/>
                  </a:ext>
                </a:extLst>
              </a:tr>
              <a:tr h="356755">
                <a:tc>
                  <a:txBody>
                    <a:bodyPr/>
                    <a:lstStyle/>
                    <a:p>
                      <a:pPr algn="l" fontAlgn="b"/>
                      <a:r>
                        <a:rPr lang="en-US" sz="1600" u="none" strike="noStrike">
                          <a:effectLst/>
                        </a:rPr>
                        <a:t>Megan Liranzo</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006483984"/>
                  </a:ext>
                </a:extLst>
              </a:tr>
              <a:tr h="356755">
                <a:tc>
                  <a:txBody>
                    <a:bodyPr/>
                    <a:lstStyle/>
                    <a:p>
                      <a:pPr algn="l" fontAlgn="b"/>
                      <a:r>
                        <a:rPr lang="en-US" sz="1600" u="none" strike="noStrike">
                          <a:effectLst/>
                        </a:rPr>
                        <a:t>Mikeal Lockard</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886889876"/>
                  </a:ext>
                </a:extLst>
              </a:tr>
              <a:tr h="356755">
                <a:tc>
                  <a:txBody>
                    <a:bodyPr/>
                    <a:lstStyle/>
                    <a:p>
                      <a:pPr algn="l" fontAlgn="b"/>
                      <a:r>
                        <a:rPr lang="en-US" sz="1600" u="none" strike="noStrike">
                          <a:effectLst/>
                        </a:rPr>
                        <a:t>Stephen Loman</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27925280"/>
                  </a:ext>
                </a:extLst>
              </a:tr>
              <a:tr h="356755">
                <a:tc>
                  <a:txBody>
                    <a:bodyPr/>
                    <a:lstStyle/>
                    <a:p>
                      <a:pPr algn="l" fontAlgn="b"/>
                      <a:r>
                        <a:rPr lang="en-US" sz="1600" u="none" strike="noStrike" dirty="0">
                          <a:effectLst/>
                        </a:rPr>
                        <a:t>Benjamin Mangel</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234495725"/>
                  </a:ext>
                </a:extLst>
              </a:tr>
              <a:tr h="356755">
                <a:tc>
                  <a:txBody>
                    <a:bodyPr/>
                    <a:lstStyle/>
                    <a:p>
                      <a:pPr algn="l" fontAlgn="b"/>
                      <a:r>
                        <a:rPr lang="en-US" sz="1600" u="none" strike="noStrike" dirty="0">
                          <a:effectLst/>
                        </a:rPr>
                        <a:t>William Markowitz</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765805685"/>
                  </a:ext>
                </a:extLst>
              </a:tr>
              <a:tr h="356755">
                <a:tc>
                  <a:txBody>
                    <a:bodyPr/>
                    <a:lstStyle/>
                    <a:p>
                      <a:pPr algn="l" fontAlgn="b"/>
                      <a:r>
                        <a:rPr lang="en-US" sz="1600" u="none" strike="noStrike" dirty="0">
                          <a:effectLst/>
                        </a:rPr>
                        <a:t>Adam Ilesh Menon</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71041271"/>
                  </a:ext>
                </a:extLst>
              </a:tr>
            </a:tbl>
          </a:graphicData>
        </a:graphic>
      </p:graphicFrame>
      <p:graphicFrame>
        <p:nvGraphicFramePr>
          <p:cNvPr id="9" name="Table 8">
            <a:extLst>
              <a:ext uri="{FF2B5EF4-FFF2-40B4-BE49-F238E27FC236}">
                <a16:creationId xmlns:a16="http://schemas.microsoft.com/office/drawing/2014/main" id="{423A261C-9789-A08B-C1B3-5D2E68167B1E}"/>
              </a:ext>
            </a:extLst>
          </p:cNvPr>
          <p:cNvGraphicFramePr>
            <a:graphicFrameLocks noGrp="1"/>
          </p:cNvGraphicFramePr>
          <p:nvPr>
            <p:extLst>
              <p:ext uri="{D42A27DB-BD31-4B8C-83A1-F6EECF244321}">
                <p14:modId xmlns:p14="http://schemas.microsoft.com/office/powerpoint/2010/main" val="2296710442"/>
              </p:ext>
            </p:extLst>
          </p:nvPr>
        </p:nvGraphicFramePr>
        <p:xfrm>
          <a:off x="5761071" y="2057399"/>
          <a:ext cx="3140165" cy="3924305"/>
        </p:xfrm>
        <a:graphic>
          <a:graphicData uri="http://schemas.openxmlformats.org/drawingml/2006/table">
            <a:tbl>
              <a:tblPr>
                <a:tableStyleId>{5C22544A-7EE6-4342-B048-85BDC9FD1C3A}</a:tableStyleId>
              </a:tblPr>
              <a:tblGrid>
                <a:gridCol w="3140165">
                  <a:extLst>
                    <a:ext uri="{9D8B030D-6E8A-4147-A177-3AD203B41FA5}">
                      <a16:colId xmlns:a16="http://schemas.microsoft.com/office/drawing/2014/main" val="665549692"/>
                    </a:ext>
                  </a:extLst>
                </a:gridCol>
              </a:tblGrid>
              <a:tr h="356755">
                <a:tc>
                  <a:txBody>
                    <a:bodyPr/>
                    <a:lstStyle/>
                    <a:p>
                      <a:pPr algn="l" fontAlgn="b"/>
                      <a:r>
                        <a:rPr lang="en-US" sz="1600" u="none" strike="noStrike" dirty="0">
                          <a:effectLst/>
                        </a:rPr>
                        <a:t>Brandon Miller</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225819279"/>
                  </a:ext>
                </a:extLst>
              </a:tr>
              <a:tr h="356755">
                <a:tc>
                  <a:txBody>
                    <a:bodyPr/>
                    <a:lstStyle/>
                    <a:p>
                      <a:pPr algn="l" fontAlgn="b"/>
                      <a:r>
                        <a:rPr lang="en-US" sz="1600" u="none" strike="noStrike">
                          <a:effectLst/>
                        </a:rPr>
                        <a:t>Tracy Nguyen</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035796343"/>
                  </a:ext>
                </a:extLst>
              </a:tr>
              <a:tr h="356755">
                <a:tc>
                  <a:txBody>
                    <a:bodyPr/>
                    <a:lstStyle/>
                    <a:p>
                      <a:pPr algn="l" fontAlgn="b"/>
                      <a:r>
                        <a:rPr lang="en-US" sz="1600" u="none" strike="noStrike" dirty="0">
                          <a:effectLst/>
                        </a:rPr>
                        <a:t>Spain Arthur </a:t>
                      </a:r>
                      <a:r>
                        <a:rPr lang="en-US" sz="1600" u="none" strike="noStrike" dirty="0" err="1">
                          <a:effectLst/>
                        </a:rPr>
                        <a:t>Niemer</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814298634"/>
                  </a:ext>
                </a:extLst>
              </a:tr>
              <a:tr h="356755">
                <a:tc>
                  <a:txBody>
                    <a:bodyPr/>
                    <a:lstStyle/>
                    <a:p>
                      <a:pPr algn="l" fontAlgn="b"/>
                      <a:r>
                        <a:rPr lang="en-US" sz="1600" u="none" strike="noStrike">
                          <a:effectLst/>
                        </a:rPr>
                        <a:t>Chand Patel</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929118256"/>
                  </a:ext>
                </a:extLst>
              </a:tr>
              <a:tr h="356755">
                <a:tc>
                  <a:txBody>
                    <a:bodyPr/>
                    <a:lstStyle/>
                    <a:p>
                      <a:pPr algn="l" fontAlgn="b"/>
                      <a:r>
                        <a:rPr lang="en-US" sz="1600" u="none" strike="noStrike">
                          <a:effectLst/>
                        </a:rPr>
                        <a:t>Austin Pursley</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6024710"/>
                  </a:ext>
                </a:extLst>
              </a:tr>
              <a:tr h="356755">
                <a:tc>
                  <a:txBody>
                    <a:bodyPr/>
                    <a:lstStyle/>
                    <a:p>
                      <a:pPr algn="l" fontAlgn="b"/>
                      <a:r>
                        <a:rPr lang="en-US" sz="1600" u="none" strike="noStrike">
                          <a:effectLst/>
                        </a:rPr>
                        <a:t>Christopher James Quatroche</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226144361"/>
                  </a:ext>
                </a:extLst>
              </a:tr>
              <a:tr h="356755">
                <a:tc>
                  <a:txBody>
                    <a:bodyPr/>
                    <a:lstStyle/>
                    <a:p>
                      <a:pPr algn="l" fontAlgn="b"/>
                      <a:r>
                        <a:rPr lang="es-ES" sz="1600" u="none" strike="noStrike">
                          <a:effectLst/>
                        </a:rPr>
                        <a:t>Jeffrey Grean Delos Angeles Ramos</a:t>
                      </a:r>
                      <a:endParaRPr lang="es-E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50707765"/>
                  </a:ext>
                </a:extLst>
              </a:tr>
              <a:tr h="356755">
                <a:tc>
                  <a:txBody>
                    <a:bodyPr/>
                    <a:lstStyle/>
                    <a:p>
                      <a:pPr algn="l" fontAlgn="b"/>
                      <a:r>
                        <a:rPr lang="en-US" sz="1600" u="none" strike="noStrike">
                          <a:effectLst/>
                        </a:rPr>
                        <a:t>Semmie Rush</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30006293"/>
                  </a:ext>
                </a:extLst>
              </a:tr>
              <a:tr h="356755">
                <a:tc>
                  <a:txBody>
                    <a:bodyPr/>
                    <a:lstStyle/>
                    <a:p>
                      <a:pPr algn="l" fontAlgn="b"/>
                      <a:r>
                        <a:rPr lang="en-US" sz="1600" u="none" strike="noStrike" dirty="0">
                          <a:effectLst/>
                        </a:rPr>
                        <a:t>Alexis Daniel </a:t>
                      </a:r>
                      <a:r>
                        <a:rPr lang="en-US" sz="1600" u="none" strike="noStrike" dirty="0" err="1">
                          <a:effectLst/>
                        </a:rPr>
                        <a:t>Grassette</a:t>
                      </a:r>
                      <a:r>
                        <a:rPr lang="en-US" sz="1600" u="none" strike="noStrike" dirty="0">
                          <a:effectLst/>
                        </a:rPr>
                        <a:t> Santos</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061517532"/>
                  </a:ext>
                </a:extLst>
              </a:tr>
              <a:tr h="356755">
                <a:tc>
                  <a:txBody>
                    <a:bodyPr/>
                    <a:lstStyle/>
                    <a:p>
                      <a:pPr algn="l" fontAlgn="b"/>
                      <a:r>
                        <a:rPr lang="en-US" sz="1600" u="none" strike="noStrike">
                          <a:effectLst/>
                        </a:rPr>
                        <a:t>Connor Scala</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976602264"/>
                  </a:ext>
                </a:extLst>
              </a:tr>
              <a:tr h="356755">
                <a:tc>
                  <a:txBody>
                    <a:bodyPr/>
                    <a:lstStyle/>
                    <a:p>
                      <a:pPr algn="l" fontAlgn="b"/>
                      <a:r>
                        <a:rPr lang="en-US" sz="1600" u="none" strike="noStrike" dirty="0">
                          <a:effectLst/>
                        </a:rPr>
                        <a:t>Erin Schick</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287568259"/>
                  </a:ext>
                </a:extLst>
              </a:tr>
            </a:tbl>
          </a:graphicData>
        </a:graphic>
      </p:graphicFrame>
      <p:graphicFrame>
        <p:nvGraphicFramePr>
          <p:cNvPr id="10" name="Table 9">
            <a:extLst>
              <a:ext uri="{FF2B5EF4-FFF2-40B4-BE49-F238E27FC236}">
                <a16:creationId xmlns:a16="http://schemas.microsoft.com/office/drawing/2014/main" id="{EAD6E20F-CEF1-6398-68F7-3740CE597DA1}"/>
              </a:ext>
            </a:extLst>
          </p:cNvPr>
          <p:cNvGraphicFramePr>
            <a:graphicFrameLocks noGrp="1"/>
          </p:cNvGraphicFramePr>
          <p:nvPr>
            <p:extLst>
              <p:ext uri="{D42A27DB-BD31-4B8C-83A1-F6EECF244321}">
                <p14:modId xmlns:p14="http://schemas.microsoft.com/office/powerpoint/2010/main" val="624775793"/>
              </p:ext>
            </p:extLst>
          </p:nvPr>
        </p:nvGraphicFramePr>
        <p:xfrm>
          <a:off x="9064534" y="2057400"/>
          <a:ext cx="2839956" cy="3924305"/>
        </p:xfrm>
        <a:graphic>
          <a:graphicData uri="http://schemas.openxmlformats.org/drawingml/2006/table">
            <a:tbl>
              <a:tblPr>
                <a:tableStyleId>{5C22544A-7EE6-4342-B048-85BDC9FD1C3A}</a:tableStyleId>
              </a:tblPr>
              <a:tblGrid>
                <a:gridCol w="2839956">
                  <a:extLst>
                    <a:ext uri="{9D8B030D-6E8A-4147-A177-3AD203B41FA5}">
                      <a16:colId xmlns:a16="http://schemas.microsoft.com/office/drawing/2014/main" val="3255254352"/>
                    </a:ext>
                  </a:extLst>
                </a:gridCol>
              </a:tblGrid>
              <a:tr h="356755">
                <a:tc>
                  <a:txBody>
                    <a:bodyPr/>
                    <a:lstStyle/>
                    <a:p>
                      <a:pPr algn="l" fontAlgn="b"/>
                      <a:r>
                        <a:rPr lang="en-US" sz="1600" u="none" strike="noStrike">
                          <a:effectLst/>
                        </a:rPr>
                        <a:t>Thomas Schilling</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068589360"/>
                  </a:ext>
                </a:extLst>
              </a:tr>
              <a:tr h="356755">
                <a:tc>
                  <a:txBody>
                    <a:bodyPr/>
                    <a:lstStyle/>
                    <a:p>
                      <a:pPr algn="l" fontAlgn="b"/>
                      <a:r>
                        <a:rPr lang="en-US" sz="1600" u="none" strike="noStrike">
                          <a:effectLst/>
                        </a:rPr>
                        <a:t>Ryan David Stuckey</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171851849"/>
                  </a:ext>
                </a:extLst>
              </a:tr>
              <a:tr h="356755">
                <a:tc>
                  <a:txBody>
                    <a:bodyPr/>
                    <a:lstStyle/>
                    <a:p>
                      <a:pPr algn="l" fontAlgn="b"/>
                      <a:r>
                        <a:rPr lang="en-US" sz="1600" u="none" strike="noStrike">
                          <a:effectLst/>
                        </a:rPr>
                        <a:t>Gurkirt Tahim</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44771267"/>
                  </a:ext>
                </a:extLst>
              </a:tr>
              <a:tr h="356755">
                <a:tc>
                  <a:txBody>
                    <a:bodyPr/>
                    <a:lstStyle/>
                    <a:p>
                      <a:pPr algn="l" fontAlgn="b"/>
                      <a:r>
                        <a:rPr lang="en-US" sz="1600" u="none" strike="noStrike">
                          <a:effectLst/>
                        </a:rPr>
                        <a:t>Cullen Tores</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76787180"/>
                  </a:ext>
                </a:extLst>
              </a:tr>
              <a:tr h="356755">
                <a:tc>
                  <a:txBody>
                    <a:bodyPr/>
                    <a:lstStyle/>
                    <a:p>
                      <a:pPr algn="l" fontAlgn="b"/>
                      <a:r>
                        <a:rPr lang="en-US" sz="1600" u="none" strike="noStrike">
                          <a:effectLst/>
                        </a:rPr>
                        <a:t>Christopher Mark VanYe</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957072816"/>
                  </a:ext>
                </a:extLst>
              </a:tr>
              <a:tr h="356755">
                <a:tc>
                  <a:txBody>
                    <a:bodyPr/>
                    <a:lstStyle/>
                    <a:p>
                      <a:pPr algn="l" fontAlgn="b"/>
                      <a:r>
                        <a:rPr lang="en-US" sz="1600" u="none" strike="noStrike">
                          <a:effectLst/>
                        </a:rPr>
                        <a:t>Carolyn Vaseghi</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147687257"/>
                  </a:ext>
                </a:extLst>
              </a:tr>
              <a:tr h="356755">
                <a:tc>
                  <a:txBody>
                    <a:bodyPr/>
                    <a:lstStyle/>
                    <a:p>
                      <a:pPr algn="l" fontAlgn="b"/>
                      <a:r>
                        <a:rPr lang="en-US" sz="1600" u="none" strike="noStrike">
                          <a:effectLst/>
                        </a:rPr>
                        <a:t>Aaron Bergantinos Villaverde</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65241450"/>
                  </a:ext>
                </a:extLst>
              </a:tr>
              <a:tr h="356755">
                <a:tc>
                  <a:txBody>
                    <a:bodyPr/>
                    <a:lstStyle/>
                    <a:p>
                      <a:pPr algn="l" fontAlgn="b"/>
                      <a:r>
                        <a:rPr lang="en-US" sz="1600" u="none" strike="noStrike">
                          <a:effectLst/>
                        </a:rPr>
                        <a:t>Neil Whalen</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68026777"/>
                  </a:ext>
                </a:extLst>
              </a:tr>
              <a:tr h="356755">
                <a:tc>
                  <a:txBody>
                    <a:bodyPr/>
                    <a:lstStyle/>
                    <a:p>
                      <a:pPr algn="l" fontAlgn="b"/>
                      <a:r>
                        <a:rPr lang="en-US" sz="1600" u="none" strike="noStrike">
                          <a:effectLst/>
                        </a:rPr>
                        <a:t>Shemar Wilkins</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818291877"/>
                  </a:ext>
                </a:extLst>
              </a:tr>
              <a:tr h="356755">
                <a:tc>
                  <a:txBody>
                    <a:bodyPr/>
                    <a:lstStyle/>
                    <a:p>
                      <a:pPr algn="l" fontAlgn="b"/>
                      <a:r>
                        <a:rPr lang="en-US" sz="1600" u="none" strike="noStrike">
                          <a:effectLst/>
                        </a:rPr>
                        <a:t>Tesfamichael Worku</a:t>
                      </a:r>
                      <a:endParaRPr lang="en-US" sz="16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57235512"/>
                  </a:ext>
                </a:extLst>
              </a:tr>
              <a:tr h="356755">
                <a:tc>
                  <a:txBody>
                    <a:bodyPr/>
                    <a:lstStyle/>
                    <a:p>
                      <a:pPr algn="l" fontAlgn="b"/>
                      <a:r>
                        <a:rPr lang="en-US" sz="1600" u="none" strike="noStrike" dirty="0">
                          <a:effectLst/>
                        </a:rPr>
                        <a:t>John Young</a:t>
                      </a:r>
                      <a:endParaRPr lang="en-US" sz="16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87382863"/>
                  </a:ext>
                </a:extLst>
              </a:tr>
            </a:tbl>
          </a:graphicData>
        </a:graphic>
      </p:graphicFrame>
      <p:pic>
        <p:nvPicPr>
          <p:cNvPr id="2" name="Picture 1" descr="Image result for incose esep">
            <a:extLst>
              <a:ext uri="{FF2B5EF4-FFF2-40B4-BE49-F238E27FC236}">
                <a16:creationId xmlns:a16="http://schemas.microsoft.com/office/drawing/2014/main" id="{2771622C-6965-7190-7F1D-5EEC4FDEFA1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7760368" y="-60921"/>
            <a:ext cx="1794583" cy="1737321"/>
          </a:xfrm>
          <a:prstGeom prst="rect">
            <a:avLst/>
          </a:prstGeom>
          <a:noFill/>
          <a:extLst>
            <a:ext uri="{909E8E84-426E-40DD-AFC4-6F175D3DCCD1}">
              <a14:hiddenFill xmlns:a14="http://schemas.microsoft.com/office/drawing/2010/main">
                <a:solidFill>
                  <a:srgbClr val="FFFFFF"/>
                </a:solidFill>
              </a14:hiddenFill>
            </a:ext>
          </a:extLst>
        </p:spPr>
      </p:pic>
      <p:sp>
        <p:nvSpPr>
          <p:cNvPr id="5" name="Footer Placeholder 5">
            <a:extLst>
              <a:ext uri="{FF2B5EF4-FFF2-40B4-BE49-F238E27FC236}">
                <a16:creationId xmlns:a16="http://schemas.microsoft.com/office/drawing/2014/main" id="{A91D03EC-ED67-D9CB-360E-3D8279CC29E4}"/>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extLst>
      <p:ext uri="{BB962C8B-B14F-4D97-AF65-F5344CB8AC3E}">
        <p14:creationId xmlns:p14="http://schemas.microsoft.com/office/powerpoint/2010/main" val="18032733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0" y="467853"/>
            <a:ext cx="5486400" cy="838200"/>
          </a:xfrm>
        </p:spPr>
        <p:txBody>
          <a:bodyPr>
            <a:normAutofit/>
          </a:bodyPr>
          <a:lstStyle/>
          <a:p>
            <a:pPr algn="ctr"/>
            <a:r>
              <a:rPr lang="en-US" b="1" dirty="0">
                <a:solidFill>
                  <a:schemeClr val="tx1"/>
                </a:solidFill>
              </a:rPr>
              <a:t>14 New CSEPs</a:t>
            </a:r>
          </a:p>
        </p:txBody>
      </p:sp>
      <p:sp>
        <p:nvSpPr>
          <p:cNvPr id="7" name="Slide Number Placeholder 6"/>
          <p:cNvSpPr>
            <a:spLocks noGrp="1"/>
          </p:cNvSpPr>
          <p:nvPr>
            <p:ph type="sldNum" sz="quarter" idx="12"/>
          </p:nvPr>
        </p:nvSpPr>
        <p:spPr/>
        <p:txBody>
          <a:bodyPr/>
          <a:lstStyle/>
          <a:p>
            <a:fld id="{4FAB73BC-B049-4115-A692-8D63A059BFB8}" type="slidenum">
              <a:rPr lang="en-US" smtClean="0"/>
              <a:pPr/>
              <a:t>16</a:t>
            </a:fld>
            <a:endParaRPr lang="en-US"/>
          </a:p>
        </p:txBody>
      </p:sp>
      <p:pic>
        <p:nvPicPr>
          <p:cNvPr id="1026" name="Picture 2" descr="Image result for incose csep">
            <a:extLst>
              <a:ext uri="{FF2B5EF4-FFF2-40B4-BE49-F238E27FC236}">
                <a16:creationId xmlns:a16="http://schemas.microsoft.com/office/drawing/2014/main" id="{6B87602B-851B-4D76-2B15-88EECDEFC4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2073995"/>
            <a:ext cx="3059228" cy="30936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Table 3">
            <a:extLst>
              <a:ext uri="{FF2B5EF4-FFF2-40B4-BE49-F238E27FC236}">
                <a16:creationId xmlns:a16="http://schemas.microsoft.com/office/drawing/2014/main" id="{2B5930F7-2576-C62B-0C4B-E0B229AE977A}"/>
              </a:ext>
            </a:extLst>
          </p:cNvPr>
          <p:cNvGraphicFramePr>
            <a:graphicFrameLocks noGrp="1"/>
          </p:cNvGraphicFramePr>
          <p:nvPr>
            <p:extLst>
              <p:ext uri="{D42A27DB-BD31-4B8C-83A1-F6EECF244321}">
                <p14:modId xmlns:p14="http://schemas.microsoft.com/office/powerpoint/2010/main" val="795753122"/>
              </p:ext>
            </p:extLst>
          </p:nvPr>
        </p:nvGraphicFramePr>
        <p:xfrm>
          <a:off x="1175486" y="2073995"/>
          <a:ext cx="2678228" cy="3017518"/>
        </p:xfrm>
        <a:graphic>
          <a:graphicData uri="http://schemas.openxmlformats.org/drawingml/2006/table">
            <a:tbl>
              <a:tblPr>
                <a:tableStyleId>{5C22544A-7EE6-4342-B048-85BDC9FD1C3A}</a:tableStyleId>
              </a:tblPr>
              <a:tblGrid>
                <a:gridCol w="2678228">
                  <a:extLst>
                    <a:ext uri="{9D8B030D-6E8A-4147-A177-3AD203B41FA5}">
                      <a16:colId xmlns:a16="http://schemas.microsoft.com/office/drawing/2014/main" val="2203800731"/>
                    </a:ext>
                  </a:extLst>
                </a:gridCol>
              </a:tblGrid>
              <a:tr h="431074">
                <a:tc>
                  <a:txBody>
                    <a:bodyPr/>
                    <a:lstStyle/>
                    <a:p>
                      <a:pPr algn="l" fontAlgn="b"/>
                      <a:r>
                        <a:rPr lang="en-US" sz="1800" u="none" strike="noStrike" dirty="0" err="1">
                          <a:effectLst/>
                        </a:rPr>
                        <a:t>Relmane</a:t>
                      </a:r>
                      <a:r>
                        <a:rPr lang="en-US" sz="1800" u="none" strike="noStrike" dirty="0">
                          <a:effectLst/>
                        </a:rPr>
                        <a:t> Baptiste</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68312112"/>
                  </a:ext>
                </a:extLst>
              </a:tr>
              <a:tr h="431074">
                <a:tc>
                  <a:txBody>
                    <a:bodyPr/>
                    <a:lstStyle/>
                    <a:p>
                      <a:pPr algn="l" fontAlgn="b"/>
                      <a:r>
                        <a:rPr lang="en-US" sz="1800" u="none" strike="noStrike">
                          <a:effectLst/>
                        </a:rPr>
                        <a:t>Eric Anthony Bash</a:t>
                      </a:r>
                      <a:endParaRPr lang="en-US" sz="1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133516985"/>
                  </a:ext>
                </a:extLst>
              </a:tr>
              <a:tr h="431074">
                <a:tc>
                  <a:txBody>
                    <a:bodyPr/>
                    <a:lstStyle/>
                    <a:p>
                      <a:pPr algn="l" fontAlgn="b"/>
                      <a:r>
                        <a:rPr lang="en-US" sz="1800" u="none" strike="noStrike" dirty="0">
                          <a:effectLst/>
                        </a:rPr>
                        <a:t>Kathryn Elizabeth Carr</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102870468"/>
                  </a:ext>
                </a:extLst>
              </a:tr>
              <a:tr h="431074">
                <a:tc>
                  <a:txBody>
                    <a:bodyPr/>
                    <a:lstStyle/>
                    <a:p>
                      <a:pPr algn="l" fontAlgn="b"/>
                      <a:r>
                        <a:rPr lang="en-US" sz="1800" u="none" strike="noStrike" dirty="0">
                          <a:effectLst/>
                        </a:rPr>
                        <a:t>Kathleen Helen Flynn</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01956855"/>
                  </a:ext>
                </a:extLst>
              </a:tr>
              <a:tr h="431074">
                <a:tc>
                  <a:txBody>
                    <a:bodyPr/>
                    <a:lstStyle/>
                    <a:p>
                      <a:pPr algn="l" fontAlgn="b"/>
                      <a:r>
                        <a:rPr lang="en-US" sz="1800" u="none" strike="noStrike">
                          <a:effectLst/>
                        </a:rPr>
                        <a:t>Scott Tyler Frampton</a:t>
                      </a:r>
                      <a:endParaRPr lang="en-US" sz="1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59787923"/>
                  </a:ext>
                </a:extLst>
              </a:tr>
              <a:tr h="431074">
                <a:tc>
                  <a:txBody>
                    <a:bodyPr/>
                    <a:lstStyle/>
                    <a:p>
                      <a:pPr algn="l" fontAlgn="b"/>
                      <a:r>
                        <a:rPr lang="en-US" sz="1800" u="none" strike="noStrike">
                          <a:effectLst/>
                        </a:rPr>
                        <a:t>Nila Fridley</a:t>
                      </a:r>
                      <a:endParaRPr lang="en-US" sz="1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084052256"/>
                  </a:ext>
                </a:extLst>
              </a:tr>
              <a:tr h="431074">
                <a:tc>
                  <a:txBody>
                    <a:bodyPr/>
                    <a:lstStyle/>
                    <a:p>
                      <a:pPr algn="l" fontAlgn="b"/>
                      <a:r>
                        <a:rPr lang="en-US" sz="1800" u="none" strike="noStrike" dirty="0">
                          <a:effectLst/>
                        </a:rPr>
                        <a:t>Christian David Hermann</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492742435"/>
                  </a:ext>
                </a:extLst>
              </a:tr>
            </a:tbl>
          </a:graphicData>
        </a:graphic>
      </p:graphicFrame>
      <p:graphicFrame>
        <p:nvGraphicFramePr>
          <p:cNvPr id="5" name="Table 4">
            <a:extLst>
              <a:ext uri="{FF2B5EF4-FFF2-40B4-BE49-F238E27FC236}">
                <a16:creationId xmlns:a16="http://schemas.microsoft.com/office/drawing/2014/main" id="{F7F650D8-4F4E-7ACB-B59E-67DADA5D736F}"/>
              </a:ext>
            </a:extLst>
          </p:cNvPr>
          <p:cNvGraphicFramePr>
            <a:graphicFrameLocks noGrp="1"/>
          </p:cNvGraphicFramePr>
          <p:nvPr>
            <p:extLst>
              <p:ext uri="{D42A27DB-BD31-4B8C-83A1-F6EECF244321}">
                <p14:modId xmlns:p14="http://schemas.microsoft.com/office/powerpoint/2010/main" val="3857830499"/>
              </p:ext>
            </p:extLst>
          </p:nvPr>
        </p:nvGraphicFramePr>
        <p:xfrm>
          <a:off x="7696200" y="2073995"/>
          <a:ext cx="3017520" cy="2802804"/>
        </p:xfrm>
        <a:graphic>
          <a:graphicData uri="http://schemas.openxmlformats.org/drawingml/2006/table">
            <a:tbl>
              <a:tblPr>
                <a:tableStyleId>{5C22544A-7EE6-4342-B048-85BDC9FD1C3A}</a:tableStyleId>
              </a:tblPr>
              <a:tblGrid>
                <a:gridCol w="3017520">
                  <a:extLst>
                    <a:ext uri="{9D8B030D-6E8A-4147-A177-3AD203B41FA5}">
                      <a16:colId xmlns:a16="http://schemas.microsoft.com/office/drawing/2014/main" val="3990403515"/>
                    </a:ext>
                  </a:extLst>
                </a:gridCol>
              </a:tblGrid>
              <a:tr h="393812">
                <a:tc>
                  <a:txBody>
                    <a:bodyPr/>
                    <a:lstStyle/>
                    <a:p>
                      <a:pPr algn="l" fontAlgn="b"/>
                      <a:r>
                        <a:rPr lang="en-US" sz="1800" u="none" strike="noStrike">
                          <a:effectLst/>
                        </a:rPr>
                        <a:t>Dave Ingalls</a:t>
                      </a:r>
                      <a:endParaRPr lang="en-US" sz="1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472949618"/>
                  </a:ext>
                </a:extLst>
              </a:tr>
              <a:tr h="393812">
                <a:tc>
                  <a:txBody>
                    <a:bodyPr/>
                    <a:lstStyle/>
                    <a:p>
                      <a:pPr algn="l" fontAlgn="b"/>
                      <a:r>
                        <a:rPr lang="en-US" sz="1800" u="none" strike="noStrike" dirty="0">
                          <a:effectLst/>
                        </a:rPr>
                        <a:t>Sean Ivey</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284354071"/>
                  </a:ext>
                </a:extLst>
              </a:tr>
              <a:tr h="393812">
                <a:tc>
                  <a:txBody>
                    <a:bodyPr/>
                    <a:lstStyle/>
                    <a:p>
                      <a:pPr algn="l" fontAlgn="b"/>
                      <a:r>
                        <a:rPr lang="en-US" sz="1800" u="none" strike="noStrike" dirty="0">
                          <a:effectLst/>
                        </a:rPr>
                        <a:t>Shaun Jenkins</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146384641"/>
                  </a:ext>
                </a:extLst>
              </a:tr>
              <a:tr h="388219">
                <a:tc>
                  <a:txBody>
                    <a:bodyPr/>
                    <a:lstStyle/>
                    <a:p>
                      <a:pPr algn="l" fontAlgn="b"/>
                      <a:r>
                        <a:rPr lang="en-US" sz="1800" u="none" strike="noStrike">
                          <a:effectLst/>
                        </a:rPr>
                        <a:t>Miracle Ihemrochi Onyebuchim</a:t>
                      </a:r>
                      <a:endParaRPr lang="en-US" sz="1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984779963"/>
                  </a:ext>
                </a:extLst>
              </a:tr>
              <a:tr h="397790">
                <a:tc>
                  <a:txBody>
                    <a:bodyPr/>
                    <a:lstStyle/>
                    <a:p>
                      <a:pPr algn="l" fontAlgn="b"/>
                      <a:r>
                        <a:rPr lang="en-US" sz="1800" u="none" strike="noStrike" dirty="0">
                          <a:effectLst/>
                        </a:rPr>
                        <a:t>Carlo Francisco Palma</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3542406814"/>
                  </a:ext>
                </a:extLst>
              </a:tr>
              <a:tr h="358011">
                <a:tc>
                  <a:txBody>
                    <a:bodyPr/>
                    <a:lstStyle/>
                    <a:p>
                      <a:pPr algn="l" fontAlgn="b"/>
                      <a:r>
                        <a:rPr lang="en-US" sz="1800" u="none" strike="noStrike">
                          <a:effectLst/>
                        </a:rPr>
                        <a:t>Scott Richard Peters</a:t>
                      </a:r>
                      <a:endParaRPr lang="en-US" sz="18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2118324225"/>
                  </a:ext>
                </a:extLst>
              </a:tr>
              <a:tr h="477348">
                <a:tc>
                  <a:txBody>
                    <a:bodyPr/>
                    <a:lstStyle/>
                    <a:p>
                      <a:pPr algn="l" fontAlgn="b"/>
                      <a:r>
                        <a:rPr lang="en-US" sz="1800" u="none" strike="noStrike" dirty="0">
                          <a:effectLst/>
                        </a:rPr>
                        <a:t>Christopher Trumble</a:t>
                      </a:r>
                      <a:endParaRPr lang="en-US" sz="18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1546163056"/>
                  </a:ext>
                </a:extLst>
              </a:tr>
            </a:tbl>
          </a:graphicData>
        </a:graphic>
      </p:graphicFrame>
      <p:sp>
        <p:nvSpPr>
          <p:cNvPr id="8" name="Footer Placeholder 5">
            <a:extLst>
              <a:ext uri="{FF2B5EF4-FFF2-40B4-BE49-F238E27FC236}">
                <a16:creationId xmlns:a16="http://schemas.microsoft.com/office/drawing/2014/main" id="{817905F3-0AB0-C080-A54D-F72C2BD1E804}"/>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533400"/>
            <a:ext cx="5486400" cy="838200"/>
          </a:xfrm>
        </p:spPr>
        <p:txBody>
          <a:bodyPr>
            <a:normAutofit/>
          </a:bodyPr>
          <a:lstStyle/>
          <a:p>
            <a:pPr algn="ctr"/>
            <a:r>
              <a:rPr lang="en-US" b="1" dirty="0">
                <a:solidFill>
                  <a:schemeClr val="tx1"/>
                </a:solidFill>
              </a:rPr>
              <a:t>2 New ESEPs</a:t>
            </a:r>
          </a:p>
        </p:txBody>
      </p:sp>
      <p:sp>
        <p:nvSpPr>
          <p:cNvPr id="7" name="Slide Number Placeholder 6"/>
          <p:cNvSpPr>
            <a:spLocks noGrp="1"/>
          </p:cNvSpPr>
          <p:nvPr>
            <p:ph type="sldNum" sz="quarter" idx="12"/>
          </p:nvPr>
        </p:nvSpPr>
        <p:spPr/>
        <p:txBody>
          <a:bodyPr/>
          <a:lstStyle/>
          <a:p>
            <a:fld id="{4FAB73BC-B049-4115-A692-8D63A059BFB8}" type="slidenum">
              <a:rPr lang="en-US" smtClean="0"/>
              <a:pPr/>
              <a:t>17</a:t>
            </a:fld>
            <a:endParaRPr lang="en-US"/>
          </a:p>
        </p:txBody>
      </p:sp>
      <p:graphicFrame>
        <p:nvGraphicFramePr>
          <p:cNvPr id="3" name="Table 2">
            <a:extLst>
              <a:ext uri="{FF2B5EF4-FFF2-40B4-BE49-F238E27FC236}">
                <a16:creationId xmlns:a16="http://schemas.microsoft.com/office/drawing/2014/main" id="{E52883C0-06A2-4520-C6EC-F55B2CE6D461}"/>
              </a:ext>
            </a:extLst>
          </p:cNvPr>
          <p:cNvGraphicFramePr>
            <a:graphicFrameLocks noGrp="1"/>
          </p:cNvGraphicFramePr>
          <p:nvPr>
            <p:extLst>
              <p:ext uri="{D42A27DB-BD31-4B8C-83A1-F6EECF244321}">
                <p14:modId xmlns:p14="http://schemas.microsoft.com/office/powerpoint/2010/main" val="884866612"/>
              </p:ext>
            </p:extLst>
          </p:nvPr>
        </p:nvGraphicFramePr>
        <p:xfrm>
          <a:off x="4572000" y="2590800"/>
          <a:ext cx="3429000" cy="1066800"/>
        </p:xfrm>
        <a:graphic>
          <a:graphicData uri="http://schemas.openxmlformats.org/drawingml/2006/table">
            <a:tbl>
              <a:tblPr>
                <a:tableStyleId>{5C22544A-7EE6-4342-B048-85BDC9FD1C3A}</a:tableStyleId>
              </a:tblPr>
              <a:tblGrid>
                <a:gridCol w="3429000">
                  <a:extLst>
                    <a:ext uri="{9D8B030D-6E8A-4147-A177-3AD203B41FA5}">
                      <a16:colId xmlns:a16="http://schemas.microsoft.com/office/drawing/2014/main" val="3075205092"/>
                    </a:ext>
                  </a:extLst>
                </a:gridCol>
              </a:tblGrid>
              <a:tr h="533400">
                <a:tc>
                  <a:txBody>
                    <a:bodyPr/>
                    <a:lstStyle/>
                    <a:p>
                      <a:pPr algn="l" fontAlgn="b"/>
                      <a:r>
                        <a:rPr lang="en-US" sz="2000" u="none" strike="noStrike">
                          <a:effectLst/>
                        </a:rPr>
                        <a:t>Lawrence  George Leventhal</a:t>
                      </a:r>
                      <a:endParaRPr lang="en-US" sz="2000" b="0" i="0" u="none" strike="noStrike">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166143770"/>
                  </a:ext>
                </a:extLst>
              </a:tr>
              <a:tr h="533400">
                <a:tc>
                  <a:txBody>
                    <a:bodyPr/>
                    <a:lstStyle/>
                    <a:p>
                      <a:pPr algn="l" fontAlgn="b"/>
                      <a:r>
                        <a:rPr lang="en-US" sz="2000" u="none" strike="noStrike" dirty="0">
                          <a:effectLst/>
                        </a:rPr>
                        <a:t>Tim </a:t>
                      </a:r>
                      <a:r>
                        <a:rPr lang="en-US" sz="2000" u="none" strike="noStrike" dirty="0" err="1">
                          <a:effectLst/>
                        </a:rPr>
                        <a:t>Withum</a:t>
                      </a:r>
                      <a:endParaRPr lang="en-US" sz="2000" b="0" i="0" u="none" strike="noStrike" dirty="0">
                        <a:solidFill>
                          <a:srgbClr val="000000"/>
                        </a:solidFill>
                        <a:effectLst/>
                        <a:latin typeface="Aptos Narrow" panose="020B0004020202020204" pitchFamily="34" charset="0"/>
                      </a:endParaRPr>
                    </a:p>
                  </a:txBody>
                  <a:tcPr marL="0" marR="0" marT="0" marB="0" anchor="b"/>
                </a:tc>
                <a:extLst>
                  <a:ext uri="{0D108BD9-81ED-4DB2-BD59-A6C34878D82A}">
                    <a16:rowId xmlns:a16="http://schemas.microsoft.com/office/drawing/2014/main" val="4010144681"/>
                  </a:ext>
                </a:extLst>
              </a:tr>
            </a:tbl>
          </a:graphicData>
        </a:graphic>
      </p:graphicFrame>
      <p:pic>
        <p:nvPicPr>
          <p:cNvPr id="2052" name="Picture 4" descr="Certification Case Studies - INCOSE UK">
            <a:extLst>
              <a:ext uri="{FF2B5EF4-FFF2-40B4-BE49-F238E27FC236}">
                <a16:creationId xmlns:a16="http://schemas.microsoft.com/office/drawing/2014/main" id="{E1DA4378-2A42-6A80-216A-5FC7DE3620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8014" y="2238374"/>
            <a:ext cx="3156786" cy="3144209"/>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5">
            <a:extLst>
              <a:ext uri="{FF2B5EF4-FFF2-40B4-BE49-F238E27FC236}">
                <a16:creationId xmlns:a16="http://schemas.microsoft.com/office/drawing/2014/main" id="{D5E3AE42-673A-07EB-C0A8-F20A87C71E92}"/>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609600"/>
            <a:ext cx="6477000" cy="746762"/>
          </a:xfrm>
        </p:spPr>
        <p:txBody>
          <a:bodyPr>
            <a:normAutofit/>
          </a:bodyPr>
          <a:lstStyle/>
          <a:p>
            <a:pPr algn="ctr"/>
            <a:r>
              <a:rPr lang="en-US" b="1" dirty="0">
                <a:solidFill>
                  <a:schemeClr val="tx1"/>
                </a:solidFill>
              </a:rPr>
              <a:t>Certification Statistics</a:t>
            </a:r>
          </a:p>
        </p:txBody>
      </p:sp>
      <p:sp>
        <p:nvSpPr>
          <p:cNvPr id="7" name="TextBox 6"/>
          <p:cNvSpPr txBox="1"/>
          <p:nvPr/>
        </p:nvSpPr>
        <p:spPr>
          <a:xfrm>
            <a:off x="6324600" y="4950023"/>
            <a:ext cx="2971800" cy="307777"/>
          </a:xfrm>
          <a:prstGeom prst="rect">
            <a:avLst/>
          </a:prstGeom>
          <a:noFill/>
        </p:spPr>
        <p:txBody>
          <a:bodyPr wrap="square" rtlCol="0">
            <a:spAutoFit/>
          </a:bodyPr>
          <a:lstStyle/>
          <a:p>
            <a:pPr algn="ctr"/>
            <a:r>
              <a:rPr lang="en-US" sz="1400" dirty="0"/>
              <a:t>As of 18 January 2024</a:t>
            </a:r>
          </a:p>
        </p:txBody>
      </p:sp>
      <p:sp>
        <p:nvSpPr>
          <p:cNvPr id="8" name="TextBox 7"/>
          <p:cNvSpPr txBox="1"/>
          <p:nvPr/>
        </p:nvSpPr>
        <p:spPr>
          <a:xfrm>
            <a:off x="1600200" y="2057400"/>
            <a:ext cx="3200400" cy="400110"/>
          </a:xfrm>
          <a:prstGeom prst="rect">
            <a:avLst/>
          </a:prstGeom>
          <a:noFill/>
        </p:spPr>
        <p:txBody>
          <a:bodyPr wrap="square" rtlCol="0">
            <a:spAutoFit/>
          </a:bodyPr>
          <a:lstStyle/>
          <a:p>
            <a:pPr algn="ctr"/>
            <a:r>
              <a:rPr lang="en-US" sz="2000" dirty="0">
                <a:solidFill>
                  <a:srgbClr val="0070C0"/>
                </a:solidFill>
              </a:rPr>
              <a:t>INCOSE WMA</a:t>
            </a:r>
          </a:p>
        </p:txBody>
      </p:sp>
      <p:sp>
        <p:nvSpPr>
          <p:cNvPr id="9" name="TextBox 8"/>
          <p:cNvSpPr txBox="1"/>
          <p:nvPr/>
        </p:nvSpPr>
        <p:spPr>
          <a:xfrm>
            <a:off x="6172200" y="2057400"/>
            <a:ext cx="3200400" cy="400110"/>
          </a:xfrm>
          <a:prstGeom prst="rect">
            <a:avLst/>
          </a:prstGeom>
          <a:noFill/>
        </p:spPr>
        <p:txBody>
          <a:bodyPr wrap="square" rtlCol="0">
            <a:spAutoFit/>
          </a:bodyPr>
          <a:lstStyle/>
          <a:p>
            <a:pPr algn="ctr"/>
            <a:r>
              <a:rPr lang="en-US" sz="2000" dirty="0">
                <a:solidFill>
                  <a:srgbClr val="0070C0"/>
                </a:solidFill>
              </a:rPr>
              <a:t>INCOSE International</a:t>
            </a:r>
          </a:p>
        </p:txBody>
      </p:sp>
      <p:sp>
        <p:nvSpPr>
          <p:cNvPr id="10" name="Slide Number Placeholder 9"/>
          <p:cNvSpPr>
            <a:spLocks noGrp="1"/>
          </p:cNvSpPr>
          <p:nvPr>
            <p:ph type="sldNum" sz="quarter" idx="12"/>
          </p:nvPr>
        </p:nvSpPr>
        <p:spPr/>
        <p:txBody>
          <a:bodyPr/>
          <a:lstStyle/>
          <a:p>
            <a:fld id="{4FAB73BC-B049-4115-A692-8D63A059BFB8}" type="slidenum">
              <a:rPr lang="en-US" smtClean="0"/>
              <a:pPr/>
              <a:t>18</a:t>
            </a:fld>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3203386504"/>
              </p:ext>
            </p:extLst>
          </p:nvPr>
        </p:nvGraphicFramePr>
        <p:xfrm>
          <a:off x="1905000" y="2590800"/>
          <a:ext cx="2971800" cy="1981200"/>
        </p:xfrm>
        <a:graphic>
          <a:graphicData uri="http://schemas.openxmlformats.org/drawingml/2006/table">
            <a:tbl>
              <a:tblPr firstRow="1" bandRow="1">
                <a:tableStyleId>{5940675A-B579-460E-94D1-54222C63F5DA}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70840">
                <a:tc>
                  <a:txBody>
                    <a:bodyPr/>
                    <a:lstStyle/>
                    <a:p>
                      <a:r>
                        <a:rPr lang="en-US" sz="2000" b="1" dirty="0"/>
                        <a:t>Level</a:t>
                      </a:r>
                    </a:p>
                  </a:txBody>
                  <a:tcPr/>
                </a:tc>
                <a:tc>
                  <a:txBody>
                    <a:bodyPr/>
                    <a:lstStyle/>
                    <a:p>
                      <a:r>
                        <a:rPr lang="en-US" sz="2000" b="1" dirty="0"/>
                        <a:t>Number</a:t>
                      </a:r>
                    </a:p>
                  </a:txBody>
                  <a:tcPr/>
                </a:tc>
                <a:extLst>
                  <a:ext uri="{0D108BD9-81ED-4DB2-BD59-A6C34878D82A}">
                    <a16:rowId xmlns:a16="http://schemas.microsoft.com/office/drawing/2014/main" val="10000"/>
                  </a:ext>
                </a:extLst>
              </a:tr>
              <a:tr h="370840">
                <a:tc>
                  <a:txBody>
                    <a:bodyPr/>
                    <a:lstStyle/>
                    <a:p>
                      <a:r>
                        <a:rPr lang="en-US" sz="2000" dirty="0"/>
                        <a:t>ASEP</a:t>
                      </a:r>
                    </a:p>
                  </a:txBody>
                  <a:tcPr/>
                </a:tc>
                <a:tc>
                  <a:txBody>
                    <a:bodyPr/>
                    <a:lstStyle/>
                    <a:p>
                      <a:pPr algn="r"/>
                      <a:r>
                        <a:rPr lang="en-US" sz="2000" dirty="0"/>
                        <a:t>124</a:t>
                      </a:r>
                    </a:p>
                  </a:txBody>
                  <a:tcPr/>
                </a:tc>
                <a:extLst>
                  <a:ext uri="{0D108BD9-81ED-4DB2-BD59-A6C34878D82A}">
                    <a16:rowId xmlns:a16="http://schemas.microsoft.com/office/drawing/2014/main" val="10001"/>
                  </a:ext>
                </a:extLst>
              </a:tr>
              <a:tr h="370840">
                <a:tc>
                  <a:txBody>
                    <a:bodyPr/>
                    <a:lstStyle/>
                    <a:p>
                      <a:r>
                        <a:rPr lang="en-US" sz="2000" dirty="0"/>
                        <a:t>CSEP</a:t>
                      </a:r>
                    </a:p>
                  </a:txBody>
                  <a:tcPr/>
                </a:tc>
                <a:tc>
                  <a:txBody>
                    <a:bodyPr/>
                    <a:lstStyle/>
                    <a:p>
                      <a:pPr algn="r"/>
                      <a:r>
                        <a:rPr lang="en-US" sz="2000" dirty="0"/>
                        <a:t>248</a:t>
                      </a:r>
                    </a:p>
                  </a:txBody>
                  <a:tcPr/>
                </a:tc>
                <a:extLst>
                  <a:ext uri="{0D108BD9-81ED-4DB2-BD59-A6C34878D82A}">
                    <a16:rowId xmlns:a16="http://schemas.microsoft.com/office/drawing/2014/main" val="10002"/>
                  </a:ext>
                </a:extLst>
              </a:tr>
              <a:tr h="370840">
                <a:tc>
                  <a:txBody>
                    <a:bodyPr/>
                    <a:lstStyle/>
                    <a:p>
                      <a:r>
                        <a:rPr lang="en-US" sz="2000" dirty="0"/>
                        <a:t>ESEP</a:t>
                      </a:r>
                    </a:p>
                  </a:txBody>
                  <a:tcPr/>
                </a:tc>
                <a:tc>
                  <a:txBody>
                    <a:bodyPr/>
                    <a:lstStyle/>
                    <a:p>
                      <a:pPr algn="r"/>
                      <a:r>
                        <a:rPr lang="en-US" sz="2000" dirty="0"/>
                        <a:t>49</a:t>
                      </a:r>
                    </a:p>
                  </a:txBody>
                  <a:tcPr/>
                </a:tc>
                <a:extLst>
                  <a:ext uri="{0D108BD9-81ED-4DB2-BD59-A6C34878D82A}">
                    <a16:rowId xmlns:a16="http://schemas.microsoft.com/office/drawing/2014/main" val="10003"/>
                  </a:ext>
                </a:extLst>
              </a:tr>
              <a:tr h="370840">
                <a:tc>
                  <a:txBody>
                    <a:bodyPr/>
                    <a:lstStyle/>
                    <a:p>
                      <a:r>
                        <a:rPr lang="en-US" sz="2000" b="1" i="1" dirty="0"/>
                        <a:t>Total</a:t>
                      </a:r>
                    </a:p>
                  </a:txBody>
                  <a:tcPr/>
                </a:tc>
                <a:tc>
                  <a:txBody>
                    <a:bodyPr/>
                    <a:lstStyle/>
                    <a:p>
                      <a:pPr algn="r"/>
                      <a:r>
                        <a:rPr lang="en-US" sz="2000" b="1" i="1" dirty="0"/>
                        <a:t>421</a:t>
                      </a:r>
                    </a:p>
                  </a:txBody>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150994634"/>
              </p:ext>
            </p:extLst>
          </p:nvPr>
        </p:nvGraphicFramePr>
        <p:xfrm>
          <a:off x="6324600" y="2590800"/>
          <a:ext cx="2971800" cy="1981200"/>
        </p:xfrm>
        <a:graphic>
          <a:graphicData uri="http://schemas.openxmlformats.org/drawingml/2006/table">
            <a:tbl>
              <a:tblPr firstRow="1" bandRow="1">
                <a:tableStyleId>{5940675A-B579-460E-94D1-54222C63F5DA}</a:tableStyleId>
              </a:tblPr>
              <a:tblGrid>
                <a:gridCol w="1485900">
                  <a:extLst>
                    <a:ext uri="{9D8B030D-6E8A-4147-A177-3AD203B41FA5}">
                      <a16:colId xmlns:a16="http://schemas.microsoft.com/office/drawing/2014/main" val="20000"/>
                    </a:ext>
                  </a:extLst>
                </a:gridCol>
                <a:gridCol w="1485900">
                  <a:extLst>
                    <a:ext uri="{9D8B030D-6E8A-4147-A177-3AD203B41FA5}">
                      <a16:colId xmlns:a16="http://schemas.microsoft.com/office/drawing/2014/main" val="20001"/>
                    </a:ext>
                  </a:extLst>
                </a:gridCol>
              </a:tblGrid>
              <a:tr h="370840">
                <a:tc>
                  <a:txBody>
                    <a:bodyPr/>
                    <a:lstStyle/>
                    <a:p>
                      <a:r>
                        <a:rPr lang="en-US" sz="2000" b="1" dirty="0"/>
                        <a:t>Level</a:t>
                      </a:r>
                    </a:p>
                  </a:txBody>
                  <a:tcPr/>
                </a:tc>
                <a:tc>
                  <a:txBody>
                    <a:bodyPr/>
                    <a:lstStyle/>
                    <a:p>
                      <a:r>
                        <a:rPr lang="en-US" sz="2000" b="1" dirty="0"/>
                        <a:t>Number</a:t>
                      </a:r>
                    </a:p>
                  </a:txBody>
                  <a:tcPr/>
                </a:tc>
                <a:extLst>
                  <a:ext uri="{0D108BD9-81ED-4DB2-BD59-A6C34878D82A}">
                    <a16:rowId xmlns:a16="http://schemas.microsoft.com/office/drawing/2014/main" val="10000"/>
                  </a:ext>
                </a:extLst>
              </a:tr>
              <a:tr h="370840">
                <a:tc>
                  <a:txBody>
                    <a:bodyPr/>
                    <a:lstStyle/>
                    <a:p>
                      <a:r>
                        <a:rPr lang="en-US" sz="2000" dirty="0"/>
                        <a:t>ASEP</a:t>
                      </a:r>
                    </a:p>
                  </a:txBody>
                  <a:tcPr/>
                </a:tc>
                <a:tc>
                  <a:txBody>
                    <a:bodyPr/>
                    <a:lstStyle/>
                    <a:p>
                      <a:pPr algn="r"/>
                      <a:r>
                        <a:rPr lang="en-US" sz="2000" dirty="0"/>
                        <a:t>1776</a:t>
                      </a:r>
                    </a:p>
                  </a:txBody>
                  <a:tcPr/>
                </a:tc>
                <a:extLst>
                  <a:ext uri="{0D108BD9-81ED-4DB2-BD59-A6C34878D82A}">
                    <a16:rowId xmlns:a16="http://schemas.microsoft.com/office/drawing/2014/main" val="10001"/>
                  </a:ext>
                </a:extLst>
              </a:tr>
              <a:tr h="370840">
                <a:tc>
                  <a:txBody>
                    <a:bodyPr/>
                    <a:lstStyle/>
                    <a:p>
                      <a:r>
                        <a:rPr lang="en-US" sz="2000" dirty="0"/>
                        <a:t>CSEP</a:t>
                      </a:r>
                    </a:p>
                  </a:txBody>
                  <a:tcPr/>
                </a:tc>
                <a:tc>
                  <a:txBody>
                    <a:bodyPr/>
                    <a:lstStyle/>
                    <a:p>
                      <a:pPr algn="r"/>
                      <a:r>
                        <a:rPr lang="en-US" sz="2000" dirty="0"/>
                        <a:t>2490</a:t>
                      </a:r>
                    </a:p>
                  </a:txBody>
                  <a:tcPr/>
                </a:tc>
                <a:extLst>
                  <a:ext uri="{0D108BD9-81ED-4DB2-BD59-A6C34878D82A}">
                    <a16:rowId xmlns:a16="http://schemas.microsoft.com/office/drawing/2014/main" val="10002"/>
                  </a:ext>
                </a:extLst>
              </a:tr>
              <a:tr h="370840">
                <a:tc>
                  <a:txBody>
                    <a:bodyPr/>
                    <a:lstStyle/>
                    <a:p>
                      <a:r>
                        <a:rPr lang="en-US" sz="2000" dirty="0"/>
                        <a:t>ESEP</a:t>
                      </a:r>
                    </a:p>
                  </a:txBody>
                  <a:tcPr/>
                </a:tc>
                <a:tc>
                  <a:txBody>
                    <a:bodyPr/>
                    <a:lstStyle/>
                    <a:p>
                      <a:pPr algn="r"/>
                      <a:r>
                        <a:rPr lang="en-US" sz="2000" dirty="0"/>
                        <a:t>  382</a:t>
                      </a:r>
                    </a:p>
                  </a:txBody>
                  <a:tcPr/>
                </a:tc>
                <a:extLst>
                  <a:ext uri="{0D108BD9-81ED-4DB2-BD59-A6C34878D82A}">
                    <a16:rowId xmlns:a16="http://schemas.microsoft.com/office/drawing/2014/main" val="10003"/>
                  </a:ext>
                </a:extLst>
              </a:tr>
              <a:tr h="370840">
                <a:tc>
                  <a:txBody>
                    <a:bodyPr/>
                    <a:lstStyle/>
                    <a:p>
                      <a:r>
                        <a:rPr lang="en-US" sz="2000" b="1" i="1" dirty="0"/>
                        <a:t>Total</a:t>
                      </a:r>
                    </a:p>
                  </a:txBody>
                  <a:tcPr/>
                </a:tc>
                <a:tc>
                  <a:txBody>
                    <a:bodyPr/>
                    <a:lstStyle/>
                    <a:p>
                      <a:pPr algn="r"/>
                      <a:r>
                        <a:rPr lang="en-US" sz="2000" b="1" i="1" dirty="0"/>
                        <a:t>4648</a:t>
                      </a:r>
                    </a:p>
                  </a:txBody>
                  <a:tcPr/>
                </a:tc>
                <a:extLst>
                  <a:ext uri="{0D108BD9-81ED-4DB2-BD59-A6C34878D82A}">
                    <a16:rowId xmlns:a16="http://schemas.microsoft.com/office/drawing/2014/main" val="10004"/>
                  </a:ext>
                </a:extLst>
              </a:tr>
            </a:tbl>
          </a:graphicData>
        </a:graphic>
      </p:graphicFrame>
      <p:sp>
        <p:nvSpPr>
          <p:cNvPr id="13" name="TextBox 12"/>
          <p:cNvSpPr txBox="1"/>
          <p:nvPr/>
        </p:nvSpPr>
        <p:spPr>
          <a:xfrm>
            <a:off x="1905000" y="4950023"/>
            <a:ext cx="2971800" cy="307777"/>
          </a:xfrm>
          <a:prstGeom prst="rect">
            <a:avLst/>
          </a:prstGeom>
          <a:noFill/>
        </p:spPr>
        <p:txBody>
          <a:bodyPr wrap="square" rtlCol="0">
            <a:spAutoFit/>
          </a:bodyPr>
          <a:lstStyle/>
          <a:p>
            <a:pPr algn="ctr"/>
            <a:r>
              <a:rPr lang="en-US" sz="1400" dirty="0"/>
              <a:t>As of 2 January 2025</a:t>
            </a:r>
          </a:p>
        </p:txBody>
      </p:sp>
      <p:sp>
        <p:nvSpPr>
          <p:cNvPr id="3" name="Footer Placeholder 5">
            <a:extLst>
              <a:ext uri="{FF2B5EF4-FFF2-40B4-BE49-F238E27FC236}">
                <a16:creationId xmlns:a16="http://schemas.microsoft.com/office/drawing/2014/main" id="{93D0A1EB-CCEF-9752-09BC-CBE1E6FC8944}"/>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0" y="929638"/>
            <a:ext cx="6827520" cy="746762"/>
          </a:xfrm>
        </p:spPr>
        <p:txBody>
          <a:bodyPr>
            <a:noAutofit/>
          </a:bodyPr>
          <a:lstStyle/>
          <a:p>
            <a:pPr algn="ctr"/>
            <a:r>
              <a:rPr lang="en-US" b="1" dirty="0">
                <a:solidFill>
                  <a:schemeClr val="tx1"/>
                </a:solidFill>
              </a:rPr>
              <a:t>INCOSE WMA Demographics</a:t>
            </a:r>
          </a:p>
        </p:txBody>
      </p:sp>
      <p:sp>
        <p:nvSpPr>
          <p:cNvPr id="4" name="TextBox 3"/>
          <p:cNvSpPr txBox="1"/>
          <p:nvPr/>
        </p:nvSpPr>
        <p:spPr>
          <a:xfrm>
            <a:off x="4648200" y="4940241"/>
            <a:ext cx="3124200" cy="1015663"/>
          </a:xfrm>
          <a:prstGeom prst="rect">
            <a:avLst/>
          </a:prstGeom>
          <a:noFill/>
        </p:spPr>
        <p:txBody>
          <a:bodyPr wrap="square" rtlCol="0">
            <a:spAutoFit/>
          </a:bodyPr>
          <a:lstStyle/>
          <a:p>
            <a:r>
              <a:rPr lang="en-US" sz="2000" dirty="0"/>
              <a:t>*Other:  </a:t>
            </a:r>
          </a:p>
          <a:p>
            <a:pPr>
              <a:tabLst>
                <a:tab pos="287338" algn="l"/>
              </a:tabLst>
            </a:pPr>
            <a:r>
              <a:rPr lang="en-US" sz="2000" dirty="0"/>
              <a:t>  26 States</a:t>
            </a:r>
          </a:p>
          <a:p>
            <a:r>
              <a:rPr lang="en-US" sz="2000" dirty="0"/>
              <a:t>    4 Not in US</a:t>
            </a:r>
          </a:p>
        </p:txBody>
      </p:sp>
      <p:sp>
        <p:nvSpPr>
          <p:cNvPr id="10" name="Slide Number Placeholder 9"/>
          <p:cNvSpPr>
            <a:spLocks noGrp="1"/>
          </p:cNvSpPr>
          <p:nvPr>
            <p:ph type="sldNum" sz="quarter" idx="12"/>
          </p:nvPr>
        </p:nvSpPr>
        <p:spPr/>
        <p:txBody>
          <a:bodyPr/>
          <a:lstStyle/>
          <a:p>
            <a:fld id="{4FAB73BC-B049-4115-A692-8D63A059BFB8}" type="slidenum">
              <a:rPr lang="en-US" smtClean="0"/>
              <a:pPr/>
              <a:t>19</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360872395"/>
              </p:ext>
            </p:extLst>
          </p:nvPr>
        </p:nvGraphicFramePr>
        <p:xfrm>
          <a:off x="4267200" y="2353270"/>
          <a:ext cx="2438400" cy="2438400"/>
        </p:xfrm>
        <a:graphic>
          <a:graphicData uri="http://schemas.openxmlformats.org/drawingml/2006/table">
            <a:tbl>
              <a:tblPr firstRow="1" bandRow="1">
                <a:tableStyleId>{5C22544A-7EE6-4342-B048-85BDC9FD1C3A}</a:tableStyleId>
              </a:tblPr>
              <a:tblGrid>
                <a:gridCol w="1316736">
                  <a:extLst>
                    <a:ext uri="{9D8B030D-6E8A-4147-A177-3AD203B41FA5}">
                      <a16:colId xmlns:a16="http://schemas.microsoft.com/office/drawing/2014/main" val="20000"/>
                    </a:ext>
                  </a:extLst>
                </a:gridCol>
                <a:gridCol w="1121664">
                  <a:extLst>
                    <a:ext uri="{9D8B030D-6E8A-4147-A177-3AD203B41FA5}">
                      <a16:colId xmlns:a16="http://schemas.microsoft.com/office/drawing/2014/main" val="20001"/>
                    </a:ext>
                  </a:extLst>
                </a:gridCol>
              </a:tblGrid>
              <a:tr h="370840">
                <a:tc>
                  <a:txBody>
                    <a:bodyPr/>
                    <a:lstStyle/>
                    <a:p>
                      <a:r>
                        <a:rPr lang="en-US" sz="2000" dirty="0"/>
                        <a:t>Location</a:t>
                      </a:r>
                    </a:p>
                  </a:txBody>
                  <a:tcPr/>
                </a:tc>
                <a:tc>
                  <a:txBody>
                    <a:bodyPr/>
                    <a:lstStyle/>
                    <a:p>
                      <a:r>
                        <a:rPr lang="en-US" sz="2000" dirty="0"/>
                        <a:t>Number</a:t>
                      </a:r>
                    </a:p>
                  </a:txBody>
                  <a:tcPr/>
                </a:tc>
                <a:extLst>
                  <a:ext uri="{0D108BD9-81ED-4DB2-BD59-A6C34878D82A}">
                    <a16:rowId xmlns:a16="http://schemas.microsoft.com/office/drawing/2014/main" val="10000"/>
                  </a:ext>
                </a:extLst>
              </a:tr>
              <a:tr h="370840">
                <a:tc>
                  <a:txBody>
                    <a:bodyPr/>
                    <a:lstStyle/>
                    <a:p>
                      <a:r>
                        <a:rPr lang="en-US" sz="2000" dirty="0"/>
                        <a:t>DC</a:t>
                      </a:r>
                    </a:p>
                  </a:txBody>
                  <a:tcPr/>
                </a:tc>
                <a:tc>
                  <a:txBody>
                    <a:bodyPr/>
                    <a:lstStyle/>
                    <a:p>
                      <a:pPr algn="r"/>
                      <a:r>
                        <a:rPr lang="en-US" sz="2000" dirty="0"/>
                        <a:t>38</a:t>
                      </a:r>
                    </a:p>
                  </a:txBody>
                  <a:tcPr/>
                </a:tc>
                <a:extLst>
                  <a:ext uri="{0D108BD9-81ED-4DB2-BD59-A6C34878D82A}">
                    <a16:rowId xmlns:a16="http://schemas.microsoft.com/office/drawing/2014/main" val="10001"/>
                  </a:ext>
                </a:extLst>
              </a:tr>
              <a:tr h="370840">
                <a:tc>
                  <a:txBody>
                    <a:bodyPr/>
                    <a:lstStyle/>
                    <a:p>
                      <a:r>
                        <a:rPr lang="en-US" sz="2000" dirty="0"/>
                        <a:t>MD</a:t>
                      </a:r>
                    </a:p>
                  </a:txBody>
                  <a:tcPr/>
                </a:tc>
                <a:tc>
                  <a:txBody>
                    <a:bodyPr/>
                    <a:lstStyle/>
                    <a:p>
                      <a:pPr algn="r"/>
                      <a:r>
                        <a:rPr lang="en-US" sz="2000" dirty="0"/>
                        <a:t>177</a:t>
                      </a:r>
                    </a:p>
                  </a:txBody>
                  <a:tcPr/>
                </a:tc>
                <a:extLst>
                  <a:ext uri="{0D108BD9-81ED-4DB2-BD59-A6C34878D82A}">
                    <a16:rowId xmlns:a16="http://schemas.microsoft.com/office/drawing/2014/main" val="10002"/>
                  </a:ext>
                </a:extLst>
              </a:tr>
              <a:tr h="370840">
                <a:tc>
                  <a:txBody>
                    <a:bodyPr/>
                    <a:lstStyle/>
                    <a:p>
                      <a:r>
                        <a:rPr lang="en-US" sz="2000" dirty="0"/>
                        <a:t>VA</a:t>
                      </a:r>
                    </a:p>
                  </a:txBody>
                  <a:tcPr/>
                </a:tc>
                <a:tc>
                  <a:txBody>
                    <a:bodyPr/>
                    <a:lstStyle/>
                    <a:p>
                      <a:pPr algn="r"/>
                      <a:r>
                        <a:rPr lang="en-US" sz="2000" dirty="0"/>
                        <a:t>553</a:t>
                      </a:r>
                    </a:p>
                  </a:txBody>
                  <a:tcPr/>
                </a:tc>
                <a:extLst>
                  <a:ext uri="{0D108BD9-81ED-4DB2-BD59-A6C34878D82A}">
                    <a16:rowId xmlns:a16="http://schemas.microsoft.com/office/drawing/2014/main" val="10003"/>
                  </a:ext>
                </a:extLst>
              </a:tr>
              <a:tr h="370840">
                <a:tc>
                  <a:txBody>
                    <a:bodyPr/>
                    <a:lstStyle/>
                    <a:p>
                      <a:r>
                        <a:rPr lang="en-US" sz="2000" dirty="0"/>
                        <a:t>Other*</a:t>
                      </a:r>
                    </a:p>
                  </a:txBody>
                  <a:tcPr/>
                </a:tc>
                <a:tc>
                  <a:txBody>
                    <a:bodyPr/>
                    <a:lstStyle/>
                    <a:p>
                      <a:pPr algn="r"/>
                      <a:r>
                        <a:rPr lang="en-US" sz="2000" dirty="0"/>
                        <a:t>68</a:t>
                      </a:r>
                    </a:p>
                  </a:txBody>
                  <a:tcPr/>
                </a:tc>
                <a:extLst>
                  <a:ext uri="{0D108BD9-81ED-4DB2-BD59-A6C34878D82A}">
                    <a16:rowId xmlns:a16="http://schemas.microsoft.com/office/drawing/2014/main" val="10004"/>
                  </a:ext>
                </a:extLst>
              </a:tr>
              <a:tr h="370840">
                <a:tc>
                  <a:txBody>
                    <a:bodyPr/>
                    <a:lstStyle/>
                    <a:p>
                      <a:r>
                        <a:rPr lang="en-US" sz="2400" b="1" dirty="0"/>
                        <a:t>Total</a:t>
                      </a:r>
                      <a:endParaRPr lang="en-US" sz="2000" b="1" dirty="0"/>
                    </a:p>
                  </a:txBody>
                  <a:tcPr/>
                </a:tc>
                <a:tc>
                  <a:txBody>
                    <a:bodyPr/>
                    <a:lstStyle/>
                    <a:p>
                      <a:pPr algn="r"/>
                      <a:r>
                        <a:rPr lang="en-US" sz="2400" b="1" dirty="0"/>
                        <a:t>836</a:t>
                      </a:r>
                      <a:endParaRPr lang="en-US" sz="2000" b="1" dirty="0"/>
                    </a:p>
                  </a:txBody>
                  <a:tcPr/>
                </a:tc>
                <a:extLst>
                  <a:ext uri="{0D108BD9-81ED-4DB2-BD59-A6C34878D82A}">
                    <a16:rowId xmlns:a16="http://schemas.microsoft.com/office/drawing/2014/main" val="10005"/>
                  </a:ext>
                </a:extLst>
              </a:tr>
            </a:tbl>
          </a:graphicData>
        </a:graphic>
      </p:graphicFrame>
      <p:sp>
        <p:nvSpPr>
          <p:cNvPr id="13" name="TextBox 12"/>
          <p:cNvSpPr txBox="1"/>
          <p:nvPr/>
        </p:nvSpPr>
        <p:spPr>
          <a:xfrm>
            <a:off x="3962400" y="1752600"/>
            <a:ext cx="2971800" cy="307777"/>
          </a:xfrm>
          <a:prstGeom prst="rect">
            <a:avLst/>
          </a:prstGeom>
          <a:noFill/>
        </p:spPr>
        <p:txBody>
          <a:bodyPr wrap="square" rtlCol="0">
            <a:spAutoFit/>
          </a:bodyPr>
          <a:lstStyle/>
          <a:p>
            <a:pPr algn="ctr"/>
            <a:r>
              <a:rPr lang="en-US" sz="1400" dirty="0"/>
              <a:t>As of 2 January 2025</a:t>
            </a:r>
          </a:p>
        </p:txBody>
      </p:sp>
      <p:sp>
        <p:nvSpPr>
          <p:cNvPr id="3" name="Footer Placeholder 5">
            <a:extLst>
              <a:ext uri="{FF2B5EF4-FFF2-40B4-BE49-F238E27FC236}">
                <a16:creationId xmlns:a16="http://schemas.microsoft.com/office/drawing/2014/main" id="{7A8B3329-0497-86BC-D928-38FF2CF7207E}"/>
              </a:ext>
            </a:extLst>
          </p:cNvPr>
          <p:cNvSpPr>
            <a:spLocks noGrp="1"/>
          </p:cNvSpPr>
          <p:nvPr>
            <p:ph type="ftr" sz="quarter" idx="11"/>
          </p:nvPr>
        </p:nvSpPr>
        <p:spPr>
          <a:xfrm>
            <a:off x="3276600" y="6459785"/>
            <a:ext cx="4822804" cy="365125"/>
          </a:xfrm>
        </p:spPr>
        <p:txBody>
          <a:body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0" y="929638"/>
            <a:ext cx="6827520" cy="746762"/>
          </a:xfrm>
        </p:spPr>
        <p:txBody>
          <a:bodyPr>
            <a:noAutofit/>
          </a:bodyPr>
          <a:lstStyle/>
          <a:p>
            <a:pPr algn="ctr"/>
            <a:r>
              <a:rPr lang="en-US" b="1" dirty="0">
                <a:solidFill>
                  <a:schemeClr val="tx1"/>
                </a:solidFill>
              </a:rPr>
              <a:t>INCOSE WMA Demographics</a:t>
            </a:r>
          </a:p>
        </p:txBody>
      </p:sp>
      <p:sp>
        <p:nvSpPr>
          <p:cNvPr id="10" name="Slide Number Placeholder 9"/>
          <p:cNvSpPr>
            <a:spLocks noGrp="1"/>
          </p:cNvSpPr>
          <p:nvPr>
            <p:ph type="sldNum" sz="quarter" idx="12"/>
          </p:nvPr>
        </p:nvSpPr>
        <p:spPr/>
        <p:txBody>
          <a:bodyPr/>
          <a:lstStyle/>
          <a:p>
            <a:fld id="{4FAB73BC-B049-4115-A692-8D63A059BFB8}" type="slidenum">
              <a:rPr lang="en-US" smtClean="0"/>
              <a:pPr/>
              <a:t>20</a:t>
            </a:fld>
            <a:endParaRPr lang="en-US"/>
          </a:p>
        </p:txBody>
      </p:sp>
      <p:graphicFrame>
        <p:nvGraphicFramePr>
          <p:cNvPr id="11" name="Table 10"/>
          <p:cNvGraphicFramePr>
            <a:graphicFrameLocks noGrp="1"/>
          </p:cNvGraphicFramePr>
          <p:nvPr/>
        </p:nvGraphicFramePr>
        <p:xfrm>
          <a:off x="1981200" y="2895600"/>
          <a:ext cx="8305800" cy="1097280"/>
        </p:xfrm>
        <a:graphic>
          <a:graphicData uri="http://schemas.openxmlformats.org/drawingml/2006/table">
            <a:tbl>
              <a:tblPr firstRow="1" bandRow="1">
                <a:tableStyleId>{5C22544A-7EE6-4342-B048-85BDC9FD1C3A}</a:tableStyleId>
              </a:tblPr>
              <a:tblGrid>
                <a:gridCol w="1354667">
                  <a:extLst>
                    <a:ext uri="{9D8B030D-6E8A-4147-A177-3AD203B41FA5}">
                      <a16:colId xmlns:a16="http://schemas.microsoft.com/office/drawing/2014/main" val="20000"/>
                    </a:ext>
                  </a:extLst>
                </a:gridCol>
                <a:gridCol w="1354667">
                  <a:extLst>
                    <a:ext uri="{9D8B030D-6E8A-4147-A177-3AD203B41FA5}">
                      <a16:colId xmlns:a16="http://schemas.microsoft.com/office/drawing/2014/main" val="20001"/>
                    </a:ext>
                  </a:extLst>
                </a:gridCol>
                <a:gridCol w="1354667">
                  <a:extLst>
                    <a:ext uri="{9D8B030D-6E8A-4147-A177-3AD203B41FA5}">
                      <a16:colId xmlns:a16="http://schemas.microsoft.com/office/drawing/2014/main" val="20002"/>
                    </a:ext>
                  </a:extLst>
                </a:gridCol>
                <a:gridCol w="1650999">
                  <a:extLst>
                    <a:ext uri="{9D8B030D-6E8A-4147-A177-3AD203B41FA5}">
                      <a16:colId xmlns:a16="http://schemas.microsoft.com/office/drawing/2014/main" val="20003"/>
                    </a:ext>
                  </a:extLst>
                </a:gridCol>
                <a:gridCol w="1058335">
                  <a:extLst>
                    <a:ext uri="{9D8B030D-6E8A-4147-A177-3AD203B41FA5}">
                      <a16:colId xmlns:a16="http://schemas.microsoft.com/office/drawing/2014/main" val="20004"/>
                    </a:ext>
                  </a:extLst>
                </a:gridCol>
                <a:gridCol w="1532465">
                  <a:extLst>
                    <a:ext uri="{9D8B030D-6E8A-4147-A177-3AD203B41FA5}">
                      <a16:colId xmlns:a16="http://schemas.microsoft.com/office/drawing/2014/main" val="20005"/>
                    </a:ext>
                  </a:extLst>
                </a:gridCol>
              </a:tblGrid>
              <a:tr h="370840">
                <a:tc>
                  <a:txBody>
                    <a:bodyPr/>
                    <a:lstStyle/>
                    <a:p>
                      <a:r>
                        <a:rPr lang="en-US" sz="2000" dirty="0"/>
                        <a:t>CAB**</a:t>
                      </a:r>
                    </a:p>
                  </a:txBody>
                  <a:tcPr/>
                </a:tc>
                <a:tc>
                  <a:txBody>
                    <a:bodyPr/>
                    <a:lstStyle/>
                    <a:p>
                      <a:r>
                        <a:rPr lang="en-US" sz="2000" dirty="0"/>
                        <a:t>Defense</a:t>
                      </a:r>
                      <a:r>
                        <a:rPr lang="en-US" sz="2000" baseline="0" dirty="0"/>
                        <a:t> Companies</a:t>
                      </a:r>
                      <a:endParaRPr lang="en-US" sz="2000" dirty="0"/>
                    </a:p>
                  </a:txBody>
                  <a:tcPr/>
                </a:tc>
                <a:tc>
                  <a:txBody>
                    <a:bodyPr/>
                    <a:lstStyle/>
                    <a:p>
                      <a:r>
                        <a:rPr lang="en-US" sz="2000" dirty="0"/>
                        <a:t>FFRDC***</a:t>
                      </a:r>
                    </a:p>
                  </a:txBody>
                  <a:tcPr/>
                </a:tc>
                <a:tc>
                  <a:txBody>
                    <a:bodyPr/>
                    <a:lstStyle/>
                    <a:p>
                      <a:r>
                        <a:rPr lang="en-US" sz="2000" dirty="0"/>
                        <a:t>Federal Government</a:t>
                      </a:r>
                    </a:p>
                  </a:txBody>
                  <a:tcPr/>
                </a:tc>
                <a:tc>
                  <a:txBody>
                    <a:bodyPr/>
                    <a:lstStyle/>
                    <a:p>
                      <a:r>
                        <a:rPr lang="en-US" sz="2000" dirty="0" err="1"/>
                        <a:t>DoD</a:t>
                      </a:r>
                      <a:endParaRPr lang="en-US" sz="2000" dirty="0"/>
                    </a:p>
                  </a:txBody>
                  <a:tcPr/>
                </a:tc>
                <a:tc>
                  <a:txBody>
                    <a:bodyPr/>
                    <a:lstStyle/>
                    <a:p>
                      <a:r>
                        <a:rPr lang="en-US" sz="2000" dirty="0"/>
                        <a:t>Universities</a:t>
                      </a:r>
                    </a:p>
                  </a:txBody>
                  <a:tcPr/>
                </a:tc>
                <a:extLst>
                  <a:ext uri="{0D108BD9-81ED-4DB2-BD59-A6C34878D82A}">
                    <a16:rowId xmlns:a16="http://schemas.microsoft.com/office/drawing/2014/main" val="10000"/>
                  </a:ext>
                </a:extLst>
              </a:tr>
              <a:tr h="370840">
                <a:tc>
                  <a:txBody>
                    <a:bodyPr/>
                    <a:lstStyle/>
                    <a:p>
                      <a:r>
                        <a:rPr lang="en-US" sz="2000" dirty="0"/>
                        <a:t>52</a:t>
                      </a:r>
                    </a:p>
                  </a:txBody>
                  <a:tcPr/>
                </a:tc>
                <a:tc>
                  <a:txBody>
                    <a:bodyPr/>
                    <a:lstStyle/>
                    <a:p>
                      <a:r>
                        <a:rPr lang="en-US" sz="2000" dirty="0"/>
                        <a:t>24</a:t>
                      </a:r>
                    </a:p>
                  </a:txBody>
                  <a:tcPr/>
                </a:tc>
                <a:tc>
                  <a:txBody>
                    <a:bodyPr/>
                    <a:lstStyle/>
                    <a:p>
                      <a:r>
                        <a:rPr lang="en-US" sz="2000" dirty="0"/>
                        <a:t>5</a:t>
                      </a:r>
                    </a:p>
                  </a:txBody>
                  <a:tcPr/>
                </a:tc>
                <a:tc>
                  <a:txBody>
                    <a:bodyPr/>
                    <a:lstStyle/>
                    <a:p>
                      <a:r>
                        <a:rPr lang="en-US" sz="2000" dirty="0"/>
                        <a:t>6</a:t>
                      </a:r>
                    </a:p>
                  </a:txBody>
                  <a:tcPr/>
                </a:tc>
                <a:tc>
                  <a:txBody>
                    <a:bodyPr/>
                    <a:lstStyle/>
                    <a:p>
                      <a:r>
                        <a:rPr lang="en-US" sz="2000" dirty="0"/>
                        <a:t>19</a:t>
                      </a:r>
                    </a:p>
                  </a:txBody>
                  <a:tcPr/>
                </a:tc>
                <a:tc>
                  <a:txBody>
                    <a:bodyPr/>
                    <a:lstStyle/>
                    <a:p>
                      <a:r>
                        <a:rPr lang="en-US" sz="2000" dirty="0"/>
                        <a:t>19</a:t>
                      </a:r>
                    </a:p>
                  </a:txBody>
                  <a:tcPr/>
                </a:tc>
                <a:extLst>
                  <a:ext uri="{0D108BD9-81ED-4DB2-BD59-A6C34878D82A}">
                    <a16:rowId xmlns:a16="http://schemas.microsoft.com/office/drawing/2014/main" val="10001"/>
                  </a:ext>
                </a:extLst>
              </a:tr>
            </a:tbl>
          </a:graphicData>
        </a:graphic>
      </p:graphicFrame>
      <p:sp>
        <p:nvSpPr>
          <p:cNvPr id="8" name="TextBox 7"/>
          <p:cNvSpPr txBox="1"/>
          <p:nvPr/>
        </p:nvSpPr>
        <p:spPr>
          <a:xfrm>
            <a:off x="2819400" y="4648200"/>
            <a:ext cx="8077200" cy="707886"/>
          </a:xfrm>
          <a:prstGeom prst="rect">
            <a:avLst/>
          </a:prstGeom>
          <a:noFill/>
        </p:spPr>
        <p:txBody>
          <a:bodyPr wrap="square" rtlCol="0">
            <a:spAutoFit/>
          </a:bodyPr>
          <a:lstStyle/>
          <a:p>
            <a:r>
              <a:rPr lang="en-US" sz="2000" dirty="0"/>
              <a:t>**CAB – Corporate Advisory Board</a:t>
            </a:r>
          </a:p>
          <a:p>
            <a:r>
              <a:rPr lang="en-US" sz="2000" dirty="0"/>
              <a:t>***FFRDC – Federally Funded Research and Development Center</a:t>
            </a:r>
          </a:p>
        </p:txBody>
      </p:sp>
      <p:sp>
        <p:nvSpPr>
          <p:cNvPr id="13" name="TextBox 12"/>
          <p:cNvSpPr txBox="1"/>
          <p:nvPr/>
        </p:nvSpPr>
        <p:spPr>
          <a:xfrm>
            <a:off x="3962400" y="1752600"/>
            <a:ext cx="2971800" cy="307777"/>
          </a:xfrm>
          <a:prstGeom prst="rect">
            <a:avLst/>
          </a:prstGeom>
          <a:noFill/>
        </p:spPr>
        <p:txBody>
          <a:bodyPr wrap="square" rtlCol="0">
            <a:spAutoFit/>
          </a:bodyPr>
          <a:lstStyle/>
          <a:p>
            <a:pPr algn="ctr"/>
            <a:r>
              <a:rPr lang="en-US" sz="1400" dirty="0"/>
              <a:t>As of 2 January 2025</a:t>
            </a:r>
          </a:p>
        </p:txBody>
      </p:sp>
      <p:sp>
        <p:nvSpPr>
          <p:cNvPr id="3" name="Footer Placeholder 5">
            <a:extLst>
              <a:ext uri="{FF2B5EF4-FFF2-40B4-BE49-F238E27FC236}">
                <a16:creationId xmlns:a16="http://schemas.microsoft.com/office/drawing/2014/main" id="{3C39176C-9CB6-1D7F-2C4A-BC1B186089A9}"/>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1097280" y="286560"/>
            <a:ext cx="10058040" cy="1450440"/>
          </a:xfrm>
          <a:prstGeom prst="rect">
            <a:avLst/>
          </a:prstGeom>
          <a:noFill/>
          <a:ln w="0">
            <a:noFill/>
          </a:ln>
        </p:spPr>
        <p:txBody>
          <a:bodyPr lIns="91440" tIns="45720" rIns="91440" bIns="45720" anchor="b">
            <a:noAutofit/>
          </a:bodyPr>
          <a:lstStyle/>
          <a:p>
            <a:pPr indent="0" defTabSz="914400">
              <a:lnSpc>
                <a:spcPct val="85000"/>
              </a:lnSpc>
              <a:buNone/>
            </a:pPr>
            <a:r>
              <a:rPr lang="en-US" sz="4800" b="1" strike="noStrike" spc="-52" dirty="0">
                <a:solidFill>
                  <a:schemeClr val="dk1"/>
                </a:solidFill>
                <a:latin typeface="Calibri Light"/>
              </a:rPr>
              <a:t>Chapter Newsletter: </a:t>
            </a:r>
            <a:r>
              <a:rPr lang="en-US" b="1" spc="-52" dirty="0">
                <a:solidFill>
                  <a:schemeClr val="dk1"/>
                </a:solidFill>
                <a:latin typeface="Calibri Light"/>
              </a:rPr>
              <a:t>Schedule</a:t>
            </a:r>
            <a:endParaRPr lang="en-US" sz="4800" b="0" strike="noStrike" spc="-1" dirty="0">
              <a:solidFill>
                <a:schemeClr val="dk1"/>
              </a:solidFill>
              <a:latin typeface="Calibri"/>
            </a:endParaRPr>
          </a:p>
        </p:txBody>
      </p:sp>
      <p:sp>
        <p:nvSpPr>
          <p:cNvPr id="181" name="TextBox 4"/>
          <p:cNvSpPr/>
          <p:nvPr/>
        </p:nvSpPr>
        <p:spPr>
          <a:xfrm>
            <a:off x="1098884" y="5564605"/>
            <a:ext cx="10515600" cy="1014209"/>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169545" indent="-169545" algn="ctr">
              <a:tabLst>
                <a:tab pos="0" algn="l"/>
              </a:tabLst>
            </a:pPr>
            <a:r>
              <a:rPr lang="en-US" sz="2000" spc="-1" dirty="0">
                <a:solidFill>
                  <a:schemeClr val="dk1"/>
                </a:solidFill>
                <a:latin typeface="Calibri"/>
              </a:rPr>
              <a:t>Please send articles</a:t>
            </a:r>
            <a:r>
              <a:rPr lang="en-US" sz="2000" b="0" strike="noStrike" spc="-1" dirty="0">
                <a:solidFill>
                  <a:schemeClr val="dk1"/>
                </a:solidFill>
                <a:latin typeface="Calibri"/>
              </a:rPr>
              <a:t> for inclusion in next Chapter Newsletter. </a:t>
            </a:r>
            <a:endParaRPr lang="en-US" dirty="0">
              <a:solidFill>
                <a:schemeClr val="dk1"/>
              </a:solidFill>
            </a:endParaRPr>
          </a:p>
          <a:p>
            <a:pPr marL="169545" indent="-169545" algn="ctr">
              <a:tabLst>
                <a:tab pos="0" algn="l"/>
              </a:tabLst>
            </a:pPr>
            <a:r>
              <a:rPr lang="en-US" sz="2000" b="0" strike="noStrike" spc="-1" dirty="0">
                <a:solidFill>
                  <a:schemeClr val="dk1"/>
                </a:solidFill>
                <a:latin typeface="Calibri"/>
              </a:rPr>
              <a:t>Send contributions to </a:t>
            </a:r>
            <a:r>
              <a:rPr lang="en-US" sz="2000" b="0" u="sng" strike="noStrike" spc="-1" dirty="0">
                <a:solidFill>
                  <a:schemeClr val="dk1"/>
                </a:solidFill>
                <a:uFillTx/>
                <a:latin typeface="Calibri"/>
                <a:hlinkClick r:id="rId3">
                  <a:extLst>
                    <a:ext uri="{A12FA001-AC4F-418D-AE19-62706E023703}">
                      <ahyp:hlinkClr xmlns:ahyp="http://schemas.microsoft.com/office/drawing/2018/hyperlinkcolor" val="tx"/>
                    </a:ext>
                  </a:extLst>
                </a:hlinkClick>
              </a:rPr>
              <a:t>nalini.muppala@incose.net</a:t>
            </a:r>
            <a:r>
              <a:rPr lang="en-US" sz="2000" spc="-1" dirty="0">
                <a:solidFill>
                  <a:schemeClr val="dk1"/>
                </a:solidFill>
                <a:latin typeface="Arial"/>
                <a:cs typeface="Arial"/>
              </a:rPr>
              <a:t> or </a:t>
            </a:r>
            <a:r>
              <a:rPr lang="en-US" sz="2000" spc="-1" dirty="0">
                <a:solidFill>
                  <a:schemeClr val="dk1"/>
                </a:solidFill>
                <a:latin typeface="Arial"/>
                <a:cs typeface="Arial"/>
                <a:hlinkClick r:id="rId4">
                  <a:extLst>
                    <a:ext uri="{A12FA001-AC4F-418D-AE19-62706E023703}">
                      <ahyp:hlinkClr xmlns:ahyp="http://schemas.microsoft.com/office/drawing/2018/hyperlinkcolor" val="tx"/>
                    </a:ext>
                  </a:extLst>
                </a:hlinkClick>
              </a:rPr>
              <a:t>newsletter@incosewma.org</a:t>
            </a:r>
          </a:p>
          <a:p>
            <a:pPr marL="169545" indent="-169545" algn="ctr">
              <a:tabLst>
                <a:tab pos="0" algn="l"/>
              </a:tabLst>
            </a:pPr>
            <a:endParaRPr lang="en-US" sz="2000" spc="-1" dirty="0">
              <a:solidFill>
                <a:schemeClr val="dk1"/>
              </a:solidFill>
              <a:latin typeface="Arial"/>
              <a:cs typeface="Arial"/>
            </a:endParaRPr>
          </a:p>
        </p:txBody>
      </p:sp>
      <p:graphicFrame>
        <p:nvGraphicFramePr>
          <p:cNvPr id="5" name="Table 4">
            <a:extLst>
              <a:ext uri="{FF2B5EF4-FFF2-40B4-BE49-F238E27FC236}">
                <a16:creationId xmlns:a16="http://schemas.microsoft.com/office/drawing/2014/main" id="{B9EE6D3F-F6C1-439F-5D6A-9DF17CC7CA3F}"/>
              </a:ext>
            </a:extLst>
          </p:cNvPr>
          <p:cNvGraphicFramePr>
            <a:graphicFrameLocks noGrp="1"/>
          </p:cNvGraphicFramePr>
          <p:nvPr/>
        </p:nvGraphicFramePr>
        <p:xfrm>
          <a:off x="1981200" y="1778317"/>
          <a:ext cx="8999612" cy="3469005"/>
        </p:xfrm>
        <a:graphic>
          <a:graphicData uri="http://schemas.openxmlformats.org/drawingml/2006/table">
            <a:tbl>
              <a:tblPr bandRow="1">
                <a:tableStyleId>{5C22544A-7EE6-4342-B048-85BDC9FD1C3A}</a:tableStyleId>
              </a:tblPr>
              <a:tblGrid>
                <a:gridCol w="1872031">
                  <a:extLst>
                    <a:ext uri="{9D8B030D-6E8A-4147-A177-3AD203B41FA5}">
                      <a16:colId xmlns:a16="http://schemas.microsoft.com/office/drawing/2014/main" val="2721432924"/>
                    </a:ext>
                  </a:extLst>
                </a:gridCol>
                <a:gridCol w="693344">
                  <a:extLst>
                    <a:ext uri="{9D8B030D-6E8A-4147-A177-3AD203B41FA5}">
                      <a16:colId xmlns:a16="http://schemas.microsoft.com/office/drawing/2014/main" val="2452500142"/>
                    </a:ext>
                  </a:extLst>
                </a:gridCol>
                <a:gridCol w="824525">
                  <a:extLst>
                    <a:ext uri="{9D8B030D-6E8A-4147-A177-3AD203B41FA5}">
                      <a16:colId xmlns:a16="http://schemas.microsoft.com/office/drawing/2014/main" val="1055453629"/>
                    </a:ext>
                  </a:extLst>
                </a:gridCol>
                <a:gridCol w="811767">
                  <a:extLst>
                    <a:ext uri="{9D8B030D-6E8A-4147-A177-3AD203B41FA5}">
                      <a16:colId xmlns:a16="http://schemas.microsoft.com/office/drawing/2014/main" val="2856611660"/>
                    </a:ext>
                  </a:extLst>
                </a:gridCol>
                <a:gridCol w="1026149">
                  <a:extLst>
                    <a:ext uri="{9D8B030D-6E8A-4147-A177-3AD203B41FA5}">
                      <a16:colId xmlns:a16="http://schemas.microsoft.com/office/drawing/2014/main" val="2210453554"/>
                    </a:ext>
                  </a:extLst>
                </a:gridCol>
                <a:gridCol w="915214">
                  <a:extLst>
                    <a:ext uri="{9D8B030D-6E8A-4147-A177-3AD203B41FA5}">
                      <a16:colId xmlns:a16="http://schemas.microsoft.com/office/drawing/2014/main" val="822736194"/>
                    </a:ext>
                  </a:extLst>
                </a:gridCol>
                <a:gridCol w="2856582">
                  <a:extLst>
                    <a:ext uri="{9D8B030D-6E8A-4147-A177-3AD203B41FA5}">
                      <a16:colId xmlns:a16="http://schemas.microsoft.com/office/drawing/2014/main" val="2893549154"/>
                    </a:ext>
                  </a:extLst>
                </a:gridCol>
              </a:tblGrid>
              <a:tr h="466725">
                <a:tc>
                  <a:txBody>
                    <a:bodyPr/>
                    <a:lstStyle/>
                    <a:p>
                      <a:pPr algn="ctr" fontAlgn="ctr"/>
                      <a:r>
                        <a:rPr lang="en-US" sz="1200" b="1" i="0" u="none" strike="noStrike" dirty="0">
                          <a:solidFill>
                            <a:srgbClr val="000000"/>
                          </a:solidFill>
                          <a:effectLst/>
                          <a:latin typeface="Tahoma"/>
                        </a:rPr>
                        <a:t>Task</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DCE6"/>
                    </a:solidFill>
                  </a:tcPr>
                </a:tc>
                <a:tc>
                  <a:txBody>
                    <a:bodyPr/>
                    <a:lstStyle/>
                    <a:p>
                      <a:pPr algn="ctr" fontAlgn="ctr"/>
                      <a:r>
                        <a:rPr lang="en-US" sz="1200" b="1" i="0" u="none" strike="noStrike" dirty="0">
                          <a:solidFill>
                            <a:srgbClr val="000000"/>
                          </a:solidFill>
                          <a:effectLst/>
                          <a:latin typeface="Tahoma"/>
                        </a:rPr>
                        <a:t>Duration(days)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DCE6"/>
                    </a:solidFill>
                  </a:tcPr>
                </a:tc>
                <a:tc>
                  <a:txBody>
                    <a:bodyPr/>
                    <a:lstStyle/>
                    <a:p>
                      <a:pPr algn="ctr" fontAlgn="ctr"/>
                      <a:r>
                        <a:rPr lang="en-US" sz="1200" b="1" i="0" u="none" strike="noStrike" dirty="0">
                          <a:solidFill>
                            <a:srgbClr val="000000"/>
                          </a:solidFill>
                          <a:effectLst/>
                          <a:latin typeface="Tahoma"/>
                        </a:rPr>
                        <a:t>Iss1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DCE6"/>
                    </a:solidFill>
                  </a:tcPr>
                </a:tc>
                <a:tc>
                  <a:txBody>
                    <a:bodyPr/>
                    <a:lstStyle/>
                    <a:p>
                      <a:pPr algn="ctr" fontAlgn="ctr"/>
                      <a:r>
                        <a:rPr lang="en-US" sz="1200" b="1" i="0" u="none" strike="noStrike" dirty="0">
                          <a:solidFill>
                            <a:srgbClr val="000000"/>
                          </a:solidFill>
                          <a:effectLst/>
                          <a:latin typeface="Tahoma"/>
                        </a:rPr>
                        <a:t>Iss2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DCE6"/>
                    </a:solidFill>
                  </a:tcPr>
                </a:tc>
                <a:tc>
                  <a:txBody>
                    <a:bodyPr/>
                    <a:lstStyle/>
                    <a:p>
                      <a:pPr algn="ctr" fontAlgn="ctr"/>
                      <a:r>
                        <a:rPr lang="en-US" sz="1200" b="1" i="0" u="none" strike="noStrike" dirty="0">
                          <a:solidFill>
                            <a:srgbClr val="000000"/>
                          </a:solidFill>
                          <a:effectLst/>
                          <a:latin typeface="Tahoma"/>
                        </a:rPr>
                        <a:t>Iss3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DCE6"/>
                    </a:solidFill>
                  </a:tcPr>
                </a:tc>
                <a:tc>
                  <a:txBody>
                    <a:bodyPr/>
                    <a:lstStyle/>
                    <a:p>
                      <a:pPr algn="ctr" fontAlgn="ctr"/>
                      <a:r>
                        <a:rPr lang="en-US" sz="1200" b="1" i="0" u="none" strike="noStrike" dirty="0">
                          <a:solidFill>
                            <a:srgbClr val="000000"/>
                          </a:solidFill>
                          <a:effectLst/>
                          <a:latin typeface="Tahoma"/>
                        </a:rPr>
                        <a:t>Iss4</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DCE6"/>
                    </a:solidFill>
                  </a:tcPr>
                </a:tc>
                <a:tc>
                  <a:txBody>
                    <a:bodyPr/>
                    <a:lstStyle/>
                    <a:p>
                      <a:pPr algn="ctr" fontAlgn="ctr"/>
                      <a:r>
                        <a:rPr lang="en-US" sz="1200" b="1" i="0" u="none" strike="noStrike" dirty="0">
                          <a:solidFill>
                            <a:srgbClr val="000000"/>
                          </a:solidFill>
                          <a:effectLst/>
                          <a:latin typeface="Tahoma"/>
                        </a:rPr>
                        <a:t>Description</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DCE6"/>
                    </a:solidFill>
                  </a:tcPr>
                </a:tc>
                <a:extLst>
                  <a:ext uri="{0D108BD9-81ED-4DB2-BD59-A6C34878D82A}">
                    <a16:rowId xmlns:a16="http://schemas.microsoft.com/office/drawing/2014/main" val="2660812906"/>
                  </a:ext>
                </a:extLst>
              </a:tr>
              <a:tr h="238125">
                <a:tc>
                  <a:txBody>
                    <a:bodyPr/>
                    <a:lstStyle/>
                    <a:p>
                      <a:pPr algn="l" fontAlgn="ctr"/>
                      <a:r>
                        <a:rPr lang="en-US" sz="1200" b="0" i="0" u="none" strike="noStrike" dirty="0">
                          <a:solidFill>
                            <a:srgbClr val="000000"/>
                          </a:solidFill>
                          <a:effectLst/>
                          <a:latin typeface="Tahoma"/>
                        </a:rPr>
                        <a:t>Input from contributors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US" sz="1200" b="0" i="0" u="none" strike="noStrike" dirty="0">
                        <a:solidFill>
                          <a:srgbClr val="000000"/>
                        </a:solidFill>
                        <a:effectLst/>
                        <a:latin typeface="Tahoma"/>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3/1/2025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ctr" fontAlgn="ctr"/>
                      <a:r>
                        <a:rPr lang="en-US" sz="1200" b="0" i="0" u="none" strike="noStrike" dirty="0">
                          <a:solidFill>
                            <a:srgbClr val="000000"/>
                          </a:solidFill>
                          <a:effectLst/>
                          <a:latin typeface="Tahoma"/>
                        </a:rPr>
                        <a:t>5/31/2025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ctr" fontAlgn="ctr"/>
                      <a:r>
                        <a:rPr lang="en-US" sz="1200" b="0" i="0" u="none" strike="noStrike" dirty="0">
                          <a:solidFill>
                            <a:srgbClr val="000000"/>
                          </a:solidFill>
                          <a:effectLst/>
                          <a:latin typeface="Tahoma"/>
                        </a:rPr>
                        <a:t>8/30/2025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ctr" fontAlgn="ctr"/>
                      <a:r>
                        <a:rPr lang="en-US" sz="1200" b="0" i="0" u="none" strike="noStrike" dirty="0">
                          <a:solidFill>
                            <a:srgbClr val="000000"/>
                          </a:solidFill>
                          <a:effectLst/>
                          <a:latin typeface="Tahoma"/>
                        </a:rPr>
                        <a:t>11/29/2025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l" fontAlgn="ctr"/>
                      <a:r>
                        <a:rPr lang="en-US" sz="1200" b="0" i="0" u="none" strike="noStrike" dirty="0">
                          <a:solidFill>
                            <a:srgbClr val="000000"/>
                          </a:solidFill>
                          <a:effectLst/>
                          <a:latin typeface="Tahoma"/>
                        </a:rPr>
                        <a:t>Material due from contributors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58608544"/>
                  </a:ext>
                </a:extLst>
              </a:tr>
              <a:tr h="238125">
                <a:tc>
                  <a:txBody>
                    <a:bodyPr/>
                    <a:lstStyle/>
                    <a:p>
                      <a:pPr algn="l" fontAlgn="ctr"/>
                      <a:r>
                        <a:rPr lang="en-US" sz="1200" b="0" i="0" u="none" strike="noStrike" dirty="0">
                          <a:solidFill>
                            <a:srgbClr val="000000"/>
                          </a:solidFill>
                          <a:effectLst/>
                          <a:latin typeface="Tahoma"/>
                        </a:rPr>
                        <a:t>Initial Draft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3/4/2025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6/3/2025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9/2/2025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12/2/2025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ahoma"/>
                        </a:rPr>
                        <a:t>Compile material into a newsletter draft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32872701"/>
                  </a:ext>
                </a:extLst>
              </a:tr>
              <a:tr h="361950">
                <a:tc>
                  <a:txBody>
                    <a:bodyPr/>
                    <a:lstStyle/>
                    <a:p>
                      <a:pPr algn="l" fontAlgn="ctr"/>
                      <a:r>
                        <a:rPr lang="en-US" sz="1200" b="0" i="0" u="none" strike="noStrike" dirty="0">
                          <a:solidFill>
                            <a:srgbClr val="000000"/>
                          </a:solidFill>
                          <a:effectLst/>
                          <a:latin typeface="Tahoma"/>
                        </a:rPr>
                        <a:t>Initial review by BOD</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3/7/2025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6/6/2025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9/5/2025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12/5/2025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ahoma"/>
                        </a:rPr>
                        <a:t>Review and provide feedback. Still open for content modifications.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64894154"/>
                  </a:ext>
                </a:extLst>
              </a:tr>
              <a:tr h="361950">
                <a:tc>
                  <a:txBody>
                    <a:bodyPr/>
                    <a:lstStyle/>
                    <a:p>
                      <a:pPr algn="l" fontAlgn="ctr"/>
                      <a:r>
                        <a:rPr lang="en-US" sz="1200" b="0" i="0" u="none" strike="noStrike" dirty="0">
                          <a:solidFill>
                            <a:srgbClr val="000000"/>
                          </a:solidFill>
                          <a:effectLst/>
                          <a:latin typeface="Tahoma"/>
                        </a:rPr>
                        <a:t>Revise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3/10/2025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6/9/2025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9/8/2025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12/8/2025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ahoma"/>
                        </a:rPr>
                        <a:t>Update newsletter draft based on feedback</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57755468"/>
                  </a:ext>
                </a:extLst>
              </a:tr>
              <a:tr h="361950">
                <a:tc>
                  <a:txBody>
                    <a:bodyPr/>
                    <a:lstStyle/>
                    <a:p>
                      <a:pPr algn="l" fontAlgn="ctr"/>
                      <a:r>
                        <a:rPr lang="en-US" sz="1200" b="0" i="0" u="none" strike="noStrike" dirty="0">
                          <a:solidFill>
                            <a:srgbClr val="000000"/>
                          </a:solidFill>
                          <a:effectLst/>
                          <a:latin typeface="Tahoma"/>
                        </a:rPr>
                        <a:t>Final review by BOD</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3</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3/13/2025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6/12/2025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9/11/2025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12/11/2025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ahoma"/>
                        </a:rPr>
                        <a:t>Review and provide final feedback. Closed for major content changes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08571212"/>
                  </a:ext>
                </a:extLst>
              </a:tr>
              <a:tr h="361950">
                <a:tc>
                  <a:txBody>
                    <a:bodyPr/>
                    <a:lstStyle/>
                    <a:p>
                      <a:pPr algn="l" fontAlgn="ctr"/>
                      <a:r>
                        <a:rPr lang="en-US" sz="1200" b="0" i="0" u="none" strike="noStrike" dirty="0">
                          <a:solidFill>
                            <a:srgbClr val="000000"/>
                          </a:solidFill>
                          <a:effectLst/>
                          <a:latin typeface="Tahoma"/>
                        </a:rPr>
                        <a:t>Finalize &amp; Prepare to publish</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3/15/2025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6/14/2025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9/13/2025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12/13/2025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Tahoma"/>
                        </a:rPr>
                        <a:t>Layout updates and final copy ready for publisher</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38473762"/>
                  </a:ext>
                </a:extLst>
              </a:tr>
              <a:tr h="542925">
                <a:tc>
                  <a:txBody>
                    <a:bodyPr/>
                    <a:lstStyle/>
                    <a:p>
                      <a:pPr algn="l" fontAlgn="ctr"/>
                      <a:r>
                        <a:rPr lang="en-US" sz="1200" b="0" i="0" u="none" strike="noStrike" dirty="0">
                          <a:solidFill>
                            <a:srgbClr val="000000"/>
                          </a:solidFill>
                          <a:effectLst/>
                          <a:latin typeface="Tahoma"/>
                        </a:rPr>
                        <a:t>Publish</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1</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3/16/2025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ctr" fontAlgn="ctr"/>
                      <a:r>
                        <a:rPr lang="en-US" sz="1200" b="0" i="0" u="none" strike="noStrike" dirty="0">
                          <a:solidFill>
                            <a:srgbClr val="000000"/>
                          </a:solidFill>
                          <a:effectLst/>
                          <a:latin typeface="Tahoma"/>
                        </a:rPr>
                        <a:t>6/15/2025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ctr" fontAlgn="ctr"/>
                      <a:r>
                        <a:rPr lang="en-US" sz="1200" b="0" i="0" u="none" strike="noStrike" dirty="0">
                          <a:solidFill>
                            <a:srgbClr val="000000"/>
                          </a:solidFill>
                          <a:effectLst/>
                          <a:latin typeface="Tahoma"/>
                        </a:rPr>
                        <a:t>9/14/2025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ctr" fontAlgn="ctr"/>
                      <a:r>
                        <a:rPr lang="en-US" sz="1200" b="0" i="0" u="none" strike="noStrike" dirty="0">
                          <a:solidFill>
                            <a:srgbClr val="000000"/>
                          </a:solidFill>
                          <a:effectLst/>
                          <a:latin typeface="Tahoma"/>
                        </a:rPr>
                        <a:t>12/14/2025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6E905"/>
                    </a:solidFill>
                  </a:tcPr>
                </a:tc>
                <a:tc>
                  <a:txBody>
                    <a:bodyPr/>
                    <a:lstStyle/>
                    <a:p>
                      <a:pPr algn="l" fontAlgn="ctr"/>
                      <a:r>
                        <a:rPr lang="en-US" sz="1200" b="0" i="0" u="none" strike="noStrike" dirty="0">
                          <a:solidFill>
                            <a:srgbClr val="000000"/>
                          </a:solidFill>
                          <a:effectLst/>
                          <a:latin typeface="Tahoma"/>
                        </a:rPr>
                        <a:t>Publish date. This is decided up front to set a regular cadence for newsletter.</a:t>
                      </a:r>
                      <a:br>
                        <a:rPr lang="en-US" sz="1200" b="0" i="0" u="none" strike="noStrike" dirty="0">
                          <a:solidFill>
                            <a:srgbClr val="000000"/>
                          </a:solidFill>
                          <a:effectLst/>
                          <a:latin typeface="Tahoma"/>
                        </a:rPr>
                      </a:br>
                      <a:r>
                        <a:rPr lang="en-US" sz="1200" b="0" i="0" u="none" strike="noStrike" err="1">
                          <a:solidFill>
                            <a:srgbClr val="000000"/>
                          </a:solidFill>
                          <a:effectLst/>
                          <a:latin typeface="Tahoma"/>
                        </a:rPr>
                        <a:t>eg</a:t>
                      </a:r>
                      <a:r>
                        <a:rPr lang="en-US" sz="1200" b="0" i="0" u="none" strike="noStrike" dirty="0">
                          <a:solidFill>
                            <a:srgbClr val="000000"/>
                          </a:solidFill>
                          <a:effectLst/>
                          <a:latin typeface="Tahoma"/>
                        </a:rPr>
                        <a:t>: last Monday of months 3,6,9,12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28516255"/>
                  </a:ext>
                </a:extLst>
              </a:tr>
              <a:tr h="238125">
                <a:tc>
                  <a:txBody>
                    <a:bodyPr/>
                    <a:lstStyle/>
                    <a:p>
                      <a:pPr algn="l" fontAlgn="ctr"/>
                      <a:r>
                        <a:rPr lang="en-US" sz="1200" b="0" i="0" u="none" strike="noStrike" dirty="0">
                          <a:solidFill>
                            <a:srgbClr val="000000"/>
                          </a:solidFill>
                          <a:effectLst/>
                          <a:latin typeface="Tahoma"/>
                        </a:rPr>
                        <a:t>Archive materials</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2</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3CAC7"/>
                    </a:solidFill>
                  </a:tcPr>
                </a:tc>
                <a:tc>
                  <a:txBody>
                    <a:bodyPr/>
                    <a:lstStyle/>
                    <a:p>
                      <a:pPr algn="ctr" fontAlgn="ctr"/>
                      <a:r>
                        <a:rPr lang="en-US" sz="1200" b="0" i="0" u="none" strike="noStrike" dirty="0">
                          <a:solidFill>
                            <a:srgbClr val="000000"/>
                          </a:solidFill>
                          <a:effectLst/>
                          <a:latin typeface="Tahoma"/>
                        </a:rPr>
                        <a:t>3/18/2025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6/17/2025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9/16/2025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Tahoma"/>
                        </a:rPr>
                        <a:t>12/16/2025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ctr"/>
                      <a:endParaRPr lang="en-US" sz="1200" b="0" i="0" u="none" strike="noStrike" dirty="0">
                        <a:solidFill>
                          <a:srgbClr val="000000"/>
                        </a:solidFill>
                        <a:effectLst/>
                        <a:latin typeface="Tahoma"/>
                      </a:endParaRP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9469069"/>
                  </a:ext>
                </a:extLst>
              </a:tr>
            </a:tbl>
          </a:graphicData>
        </a:graphic>
      </p:graphicFrame>
      <p:sp>
        <p:nvSpPr>
          <p:cNvPr id="4" name="Rectangle: Rounded Corners 3">
            <a:extLst>
              <a:ext uri="{FF2B5EF4-FFF2-40B4-BE49-F238E27FC236}">
                <a16:creationId xmlns:a16="http://schemas.microsoft.com/office/drawing/2014/main" id="{AD9D56C9-C0D8-94F1-D19A-EDA9536B3238}"/>
              </a:ext>
            </a:extLst>
          </p:cNvPr>
          <p:cNvSpPr/>
          <p:nvPr/>
        </p:nvSpPr>
        <p:spPr>
          <a:xfrm>
            <a:off x="4574005" y="1734229"/>
            <a:ext cx="796088" cy="3609474"/>
          </a:xfrm>
          <a:prstGeom prst="round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dirty="0">
              <a:ea typeface="Calibri"/>
              <a:cs typeface="Calibri"/>
            </a:endParaRPr>
          </a:p>
        </p:txBody>
      </p:sp>
      <p:sp>
        <p:nvSpPr>
          <p:cNvPr id="2" name="Footer Placeholder 5">
            <a:extLst>
              <a:ext uri="{FF2B5EF4-FFF2-40B4-BE49-F238E27FC236}">
                <a16:creationId xmlns:a16="http://schemas.microsoft.com/office/drawing/2014/main" id="{D46B091E-F664-9A13-33CB-516CD478CCE2}"/>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949E88E-D807-A11F-F8CF-9B93E30310BF}"/>
              </a:ext>
            </a:extLst>
          </p:cNvPr>
          <p:cNvSpPr>
            <a:spLocks noGrp="1"/>
          </p:cNvSpPr>
          <p:nvPr>
            <p:ph type="title"/>
          </p:nvPr>
        </p:nvSpPr>
        <p:spPr>
          <a:xfrm>
            <a:off x="2819400" y="381000"/>
            <a:ext cx="5983271" cy="857283"/>
          </a:xfrm>
        </p:spPr>
        <p:txBody>
          <a:bodyPr vert="horz" lIns="91440" tIns="45720" rIns="91440" bIns="45720" rtlCol="0" anchor="b">
            <a:noAutofit/>
          </a:bodyPr>
          <a:lstStyle/>
          <a:p>
            <a:r>
              <a:rPr lang="en-US" b="1" dirty="0">
                <a:solidFill>
                  <a:schemeClr val="tx1">
                    <a:lumMod val="85000"/>
                    <a:lumOff val="15000"/>
                  </a:schemeClr>
                </a:solidFill>
              </a:rPr>
              <a:t>2025 Program Meetings</a:t>
            </a:r>
          </a:p>
        </p:txBody>
      </p:sp>
      <p:graphicFrame>
        <p:nvGraphicFramePr>
          <p:cNvPr id="6" name="Table 5">
            <a:extLst>
              <a:ext uri="{FF2B5EF4-FFF2-40B4-BE49-F238E27FC236}">
                <a16:creationId xmlns:a16="http://schemas.microsoft.com/office/drawing/2014/main" id="{AFDB5799-D72D-E63A-AA77-C7F2B28C99FD}"/>
              </a:ext>
            </a:extLst>
          </p:cNvPr>
          <p:cNvGraphicFramePr>
            <a:graphicFrameLocks noGrp="1"/>
          </p:cNvGraphicFramePr>
          <p:nvPr>
            <p:extLst>
              <p:ext uri="{D42A27DB-BD31-4B8C-83A1-F6EECF244321}">
                <p14:modId xmlns:p14="http://schemas.microsoft.com/office/powerpoint/2010/main" val="949569681"/>
              </p:ext>
            </p:extLst>
          </p:nvPr>
        </p:nvGraphicFramePr>
        <p:xfrm>
          <a:off x="1295400" y="2286000"/>
          <a:ext cx="9753599" cy="1985112"/>
        </p:xfrm>
        <a:graphic>
          <a:graphicData uri="http://schemas.openxmlformats.org/drawingml/2006/table">
            <a:tbl>
              <a:tblPr/>
              <a:tblGrid>
                <a:gridCol w="2905238">
                  <a:extLst>
                    <a:ext uri="{9D8B030D-6E8A-4147-A177-3AD203B41FA5}">
                      <a16:colId xmlns:a16="http://schemas.microsoft.com/office/drawing/2014/main" val="3743331738"/>
                    </a:ext>
                  </a:extLst>
                </a:gridCol>
                <a:gridCol w="1212502">
                  <a:extLst>
                    <a:ext uri="{9D8B030D-6E8A-4147-A177-3AD203B41FA5}">
                      <a16:colId xmlns:a16="http://schemas.microsoft.com/office/drawing/2014/main" val="554062676"/>
                    </a:ext>
                  </a:extLst>
                </a:gridCol>
                <a:gridCol w="1411452">
                  <a:extLst>
                    <a:ext uri="{9D8B030D-6E8A-4147-A177-3AD203B41FA5}">
                      <a16:colId xmlns:a16="http://schemas.microsoft.com/office/drawing/2014/main" val="164305870"/>
                    </a:ext>
                  </a:extLst>
                </a:gridCol>
                <a:gridCol w="1164796">
                  <a:extLst>
                    <a:ext uri="{9D8B030D-6E8A-4147-A177-3AD203B41FA5}">
                      <a16:colId xmlns:a16="http://schemas.microsoft.com/office/drawing/2014/main" val="2517598483"/>
                    </a:ext>
                  </a:extLst>
                </a:gridCol>
                <a:gridCol w="3059611">
                  <a:extLst>
                    <a:ext uri="{9D8B030D-6E8A-4147-A177-3AD203B41FA5}">
                      <a16:colId xmlns:a16="http://schemas.microsoft.com/office/drawing/2014/main" val="1006671715"/>
                    </a:ext>
                  </a:extLst>
                </a:gridCol>
              </a:tblGrid>
              <a:tr h="215696">
                <a:tc>
                  <a:txBody>
                    <a:bodyPr/>
                    <a:lstStyle/>
                    <a:p>
                      <a:pPr algn="l" fontAlgn="b"/>
                      <a:r>
                        <a:rPr lang="en-US" sz="1600" b="1" i="0" u="none" strike="noStrike">
                          <a:solidFill>
                            <a:srgbClr val="000000"/>
                          </a:solidFill>
                          <a:effectLst/>
                          <a:latin typeface="Calibri" panose="020F0502020204030204" pitchFamily="34" charset="0"/>
                        </a:rPr>
                        <a:t>Guest Speaker</a:t>
                      </a:r>
                      <a:endParaRPr lang="en-US" sz="2000" b="0" i="0" u="none" strike="noStrike">
                        <a:effectLst/>
                        <a:latin typeface="Arial" panose="020B0604020202020204" pitchFamily="34" charset="0"/>
                      </a:endParaRPr>
                    </a:p>
                  </a:txBody>
                  <a:tcPr marL="9095" marR="9095" marT="9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b"/>
                      <a:r>
                        <a:rPr lang="en-US" sz="1600" b="1" i="0" u="none" strike="noStrike">
                          <a:solidFill>
                            <a:srgbClr val="000000"/>
                          </a:solidFill>
                          <a:effectLst/>
                          <a:latin typeface="Calibri" panose="020F0502020204030204" pitchFamily="34" charset="0"/>
                        </a:rPr>
                        <a:t>Date</a:t>
                      </a:r>
                      <a:endParaRPr lang="en-US" sz="2000" b="0" i="0" u="none" strike="noStrike">
                        <a:effectLst/>
                        <a:latin typeface="Arial" panose="020B0604020202020204" pitchFamily="34" charset="0"/>
                      </a:endParaRPr>
                    </a:p>
                  </a:txBody>
                  <a:tcPr marL="9095" marR="9095" marT="9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b"/>
                      <a:r>
                        <a:rPr lang="en-US" sz="1600" b="1" i="0" u="none" strike="noStrike">
                          <a:solidFill>
                            <a:srgbClr val="000000"/>
                          </a:solidFill>
                          <a:effectLst/>
                          <a:latin typeface="Calibri" panose="020F0502020204030204" pitchFamily="34" charset="0"/>
                        </a:rPr>
                        <a:t>Time</a:t>
                      </a:r>
                      <a:endParaRPr lang="en-US" sz="2000" b="0" i="0" u="none" strike="noStrike">
                        <a:effectLst/>
                        <a:latin typeface="Arial" panose="020B0604020202020204" pitchFamily="34" charset="0"/>
                      </a:endParaRPr>
                    </a:p>
                  </a:txBody>
                  <a:tcPr marL="9095" marR="9095" marT="9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b"/>
                      <a:r>
                        <a:rPr lang="en-US" sz="1600" b="1" i="0" u="none" strike="noStrike">
                          <a:solidFill>
                            <a:srgbClr val="000000"/>
                          </a:solidFill>
                          <a:effectLst/>
                          <a:latin typeface="Calibri" panose="020F0502020204030204" pitchFamily="34" charset="0"/>
                        </a:rPr>
                        <a:t>Location</a:t>
                      </a:r>
                      <a:endParaRPr lang="en-US" sz="2000" b="0" i="0" u="none" strike="noStrike">
                        <a:effectLst/>
                        <a:latin typeface="Arial" panose="020B0604020202020204" pitchFamily="34" charset="0"/>
                      </a:endParaRPr>
                    </a:p>
                  </a:txBody>
                  <a:tcPr marL="9095" marR="9095" marT="9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tc>
                  <a:txBody>
                    <a:bodyPr/>
                    <a:lstStyle/>
                    <a:p>
                      <a:pPr algn="l" fontAlgn="b"/>
                      <a:r>
                        <a:rPr lang="en-US" sz="1600" b="1" i="0" u="none" strike="noStrike">
                          <a:solidFill>
                            <a:srgbClr val="000000"/>
                          </a:solidFill>
                          <a:effectLst/>
                          <a:latin typeface="Calibri" panose="020F0502020204030204" pitchFamily="34" charset="0"/>
                        </a:rPr>
                        <a:t>Topic</a:t>
                      </a:r>
                      <a:endParaRPr lang="en-US" sz="2000" b="0" i="0" u="none" strike="noStrike">
                        <a:effectLst/>
                        <a:latin typeface="Arial" panose="020B0604020202020204" pitchFamily="34" charset="0"/>
                      </a:endParaRPr>
                    </a:p>
                  </a:txBody>
                  <a:tcPr marL="9095" marR="9095" marT="909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BC2E6"/>
                    </a:solidFill>
                  </a:tcPr>
                </a:tc>
                <a:extLst>
                  <a:ext uri="{0D108BD9-81ED-4DB2-BD59-A6C34878D82A}">
                    <a16:rowId xmlns:a16="http://schemas.microsoft.com/office/drawing/2014/main" val="1988800784"/>
                  </a:ext>
                </a:extLst>
              </a:tr>
              <a:tr h="733102">
                <a:tc>
                  <a:txBody>
                    <a:bodyPr/>
                    <a:lstStyle/>
                    <a:p>
                      <a:pPr algn="l" fontAlgn="t"/>
                      <a:r>
                        <a:rPr lang="en-US" sz="1400" b="0" i="0" u="none" strike="noStrike" dirty="0">
                          <a:solidFill>
                            <a:srgbClr val="000000"/>
                          </a:solidFill>
                          <a:effectLst/>
                          <a:latin typeface="Abadi" panose="020B0604020104020204" pitchFamily="34" charset="0"/>
                        </a:rPr>
                        <a:t>BOD INDUCTION and </a:t>
                      </a:r>
                    </a:p>
                    <a:p>
                      <a:pPr algn="l" fontAlgn="t"/>
                      <a:r>
                        <a:rPr lang="en-US" sz="1400" b="0" i="0" u="none" strike="noStrike" dirty="0">
                          <a:solidFill>
                            <a:srgbClr val="000000"/>
                          </a:solidFill>
                          <a:effectLst/>
                          <a:latin typeface="Abadi" panose="020B0604020104020204" pitchFamily="34" charset="0"/>
                        </a:rPr>
                        <a:t>Ralf Hartmann, President of INCOSE</a:t>
                      </a:r>
                      <a:br>
                        <a:rPr lang="en-US" sz="1400" b="0" i="0" u="none" strike="noStrike" dirty="0">
                          <a:solidFill>
                            <a:srgbClr val="000000"/>
                          </a:solidFill>
                          <a:effectLst/>
                          <a:latin typeface="Abadi" panose="020B0604020104020204" pitchFamily="34" charset="0"/>
                        </a:rPr>
                      </a:br>
                      <a:endParaRPr lang="en-US" sz="2000" b="0" i="0" u="none" strike="noStrike" dirty="0">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400" b="0" i="0" u="none" strike="noStrike">
                          <a:solidFill>
                            <a:srgbClr val="000000"/>
                          </a:solidFill>
                          <a:effectLst/>
                          <a:latin typeface="Abadi" panose="020B0604020104020204" pitchFamily="34" charset="0"/>
                        </a:rPr>
                        <a:t>01/08/25</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400" b="0" i="0" u="none" strike="noStrike">
                          <a:solidFill>
                            <a:srgbClr val="000000"/>
                          </a:solidFill>
                          <a:effectLst/>
                          <a:latin typeface="Abadi" panose="020B0604020104020204" pitchFamily="34" charset="0"/>
                        </a:rPr>
                        <a:t>6:30 -8:00 pm</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t"/>
                      <a:r>
                        <a:rPr lang="en-US" sz="1400" b="0" i="0" u="none" strike="noStrike">
                          <a:solidFill>
                            <a:srgbClr val="000000"/>
                          </a:solidFill>
                          <a:effectLst/>
                          <a:latin typeface="Abadi" panose="020B0604020104020204" pitchFamily="34" charset="0"/>
                        </a:rPr>
                        <a:t>Virtual/ ZOOM</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t"/>
                      <a:r>
                        <a:rPr lang="en-US" sz="1400" b="0" i="0" u="none" strike="noStrike">
                          <a:solidFill>
                            <a:srgbClr val="000000"/>
                          </a:solidFill>
                          <a:effectLst/>
                          <a:latin typeface="Abadi" panose="020B0604020104020204" pitchFamily="34" charset="0"/>
                        </a:rPr>
                        <a:t>BOD INDUCTION</a:t>
                      </a:r>
                      <a:br>
                        <a:rPr lang="en-US" sz="1400" b="0" i="0" u="none" strike="noStrike">
                          <a:solidFill>
                            <a:srgbClr val="000000"/>
                          </a:solidFill>
                          <a:effectLst/>
                          <a:latin typeface="Abadi" panose="020B0604020104020204" pitchFamily="34" charset="0"/>
                        </a:rPr>
                      </a:br>
                      <a:r>
                        <a:rPr lang="en-US" sz="1400" b="0" i="0" u="none" strike="noStrike">
                          <a:solidFill>
                            <a:srgbClr val="000000"/>
                          </a:solidFill>
                          <a:effectLst/>
                          <a:latin typeface="Abadi" panose="020B0604020104020204" pitchFamily="34" charset="0"/>
                        </a:rPr>
                        <a:t>Presentation:</a:t>
                      </a:r>
                      <a:br>
                        <a:rPr lang="en-US" sz="1400" b="0" i="0" u="none" strike="noStrike">
                          <a:solidFill>
                            <a:srgbClr val="000000"/>
                          </a:solidFill>
                          <a:effectLst/>
                          <a:latin typeface="Abadi" panose="020B0604020104020204" pitchFamily="34" charset="0"/>
                        </a:rPr>
                      </a:br>
                      <a:r>
                        <a:rPr lang="en-US" sz="1400" b="0" i="0" u="none" strike="noStrike">
                          <a:solidFill>
                            <a:srgbClr val="000000"/>
                          </a:solidFill>
                          <a:effectLst/>
                          <a:latin typeface="Abadi" panose="020B0604020104020204" pitchFamily="34" charset="0"/>
                        </a:rPr>
                        <a:t>Plans for INCOSE in 2025</a:t>
                      </a:r>
                      <a:br>
                        <a:rPr lang="en-US" sz="1400" b="0" i="0" u="none" strike="noStrike">
                          <a:solidFill>
                            <a:srgbClr val="000000"/>
                          </a:solidFill>
                          <a:effectLst/>
                          <a:latin typeface="Abadi" panose="020B0604020104020204" pitchFamily="34" charset="0"/>
                        </a:rPr>
                      </a:b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8200684"/>
                  </a:ext>
                </a:extLst>
              </a:tr>
              <a:tr h="342387">
                <a:tc>
                  <a:txBody>
                    <a:bodyPr/>
                    <a:lstStyle/>
                    <a:p>
                      <a:pPr algn="l" fontAlgn="t"/>
                      <a:r>
                        <a:rPr lang="en-US" sz="1400" b="0" i="0" u="none" strike="noStrike">
                          <a:solidFill>
                            <a:srgbClr val="000000"/>
                          </a:solidFill>
                          <a:effectLst/>
                          <a:latin typeface="Abadi" panose="020B0604020104020204" pitchFamily="34" charset="0"/>
                        </a:rPr>
                        <a:t>WMA IW25 Attendees</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400" b="0" i="0" u="none" strike="noStrike">
                          <a:solidFill>
                            <a:srgbClr val="000000"/>
                          </a:solidFill>
                          <a:effectLst/>
                          <a:latin typeface="Abadi" panose="020B0604020104020204" pitchFamily="34" charset="0"/>
                        </a:rPr>
                        <a:t>02/12/25</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400" b="0" i="0" u="none" strike="noStrike">
                          <a:solidFill>
                            <a:srgbClr val="000000"/>
                          </a:solidFill>
                          <a:effectLst/>
                          <a:latin typeface="Abadi" panose="020B0604020104020204" pitchFamily="34" charset="0"/>
                        </a:rPr>
                        <a:t>6:30 -8:00 pm</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t"/>
                      <a:r>
                        <a:rPr lang="en-US" sz="1400" b="0" i="0" u="none" strike="noStrike">
                          <a:solidFill>
                            <a:srgbClr val="000000"/>
                          </a:solidFill>
                          <a:effectLst/>
                          <a:latin typeface="Abadi" panose="020B0604020104020204" pitchFamily="34" charset="0"/>
                        </a:rPr>
                        <a:t> </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t"/>
                      <a:r>
                        <a:rPr lang="en-US" sz="1400" b="0" i="0" u="none" strike="noStrike">
                          <a:solidFill>
                            <a:srgbClr val="000000"/>
                          </a:solidFill>
                          <a:effectLst/>
                          <a:latin typeface="Abadi" panose="020B0604020104020204" pitchFamily="34" charset="0"/>
                        </a:rPr>
                        <a:t>IW25 Debrief from Spain. Gary Thomas, Shawn Na, etc.</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11332475"/>
                  </a:ext>
                </a:extLst>
              </a:tr>
              <a:tr h="342387">
                <a:tc>
                  <a:txBody>
                    <a:bodyPr/>
                    <a:lstStyle/>
                    <a:p>
                      <a:pPr algn="l" fontAlgn="t"/>
                      <a:r>
                        <a:rPr lang="en-US" sz="1400" b="0" i="0" u="none" strike="noStrike" dirty="0">
                          <a:solidFill>
                            <a:srgbClr val="000000"/>
                          </a:solidFill>
                          <a:effectLst/>
                          <a:latin typeface="Abadi" panose="020B0604020104020204" pitchFamily="34" charset="0"/>
                        </a:rPr>
                        <a:t>Professor Matthew Burkett</a:t>
                      </a:r>
                      <a:endParaRPr lang="en-US" sz="2000" b="0" i="0" u="none" strike="noStrike" dirty="0">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400" b="0" i="0" u="none" strike="noStrike">
                          <a:solidFill>
                            <a:srgbClr val="000000"/>
                          </a:solidFill>
                          <a:effectLst/>
                          <a:latin typeface="Abadi" panose="020B0604020104020204" pitchFamily="34" charset="0"/>
                        </a:rPr>
                        <a:t>03/12/25</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t"/>
                      <a:r>
                        <a:rPr lang="en-US" sz="1400" b="0" i="0" u="none" strike="noStrike">
                          <a:solidFill>
                            <a:srgbClr val="000000"/>
                          </a:solidFill>
                          <a:effectLst/>
                          <a:latin typeface="Abadi" panose="020B0604020104020204" pitchFamily="34" charset="0"/>
                        </a:rPr>
                        <a:t>6:30 -8:00 pm</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t"/>
                      <a:r>
                        <a:rPr lang="en-US" sz="1400" b="0" i="0" u="none" strike="noStrike">
                          <a:solidFill>
                            <a:srgbClr val="000000"/>
                          </a:solidFill>
                          <a:effectLst/>
                          <a:latin typeface="Abadi" panose="020B0604020104020204" pitchFamily="34" charset="0"/>
                        </a:rPr>
                        <a:t> </a:t>
                      </a:r>
                      <a:endParaRPr lang="en-US" sz="2000" b="0" i="0" u="none" strike="noStrike">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699"/>
                    </a:solidFill>
                  </a:tcPr>
                </a:tc>
                <a:tc>
                  <a:txBody>
                    <a:bodyPr/>
                    <a:lstStyle/>
                    <a:p>
                      <a:pPr algn="l" fontAlgn="t"/>
                      <a:r>
                        <a:rPr lang="en-US" sz="1400" b="0" i="0" u="none" strike="noStrike" dirty="0">
                          <a:solidFill>
                            <a:srgbClr val="000000"/>
                          </a:solidFill>
                          <a:effectLst/>
                          <a:latin typeface="Abadi" panose="020B0604020104020204" pitchFamily="34" charset="0"/>
                        </a:rPr>
                        <a:t>UVA Briefing</a:t>
                      </a:r>
                      <a:endParaRPr lang="en-US" sz="2000" b="0" i="0" u="none" strike="noStrike" dirty="0">
                        <a:effectLst/>
                        <a:latin typeface="Arial" panose="020B0604020202020204" pitchFamily="34" charset="0"/>
                      </a:endParaRPr>
                    </a:p>
                  </a:txBody>
                  <a:tcPr marL="9095" marR="9095" marT="909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14662239"/>
                  </a:ext>
                </a:extLst>
              </a:tr>
            </a:tbl>
          </a:graphicData>
        </a:graphic>
      </p:graphicFrame>
      <p:sp>
        <p:nvSpPr>
          <p:cNvPr id="2" name="Footer Placeholder 5">
            <a:extLst>
              <a:ext uri="{FF2B5EF4-FFF2-40B4-BE49-F238E27FC236}">
                <a16:creationId xmlns:a16="http://schemas.microsoft.com/office/drawing/2014/main" id="{BAB21BE9-D415-0DAA-D102-D15A7EF5C05A}"/>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extLst>
      <p:ext uri="{BB962C8B-B14F-4D97-AF65-F5344CB8AC3E}">
        <p14:creationId xmlns:p14="http://schemas.microsoft.com/office/powerpoint/2010/main" val="3054152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A9A93-1059-4F8A-A58E-15FCA199258F}"/>
              </a:ext>
            </a:extLst>
          </p:cNvPr>
          <p:cNvSpPr>
            <a:spLocks noGrp="1"/>
          </p:cNvSpPr>
          <p:nvPr>
            <p:ph type="title"/>
          </p:nvPr>
        </p:nvSpPr>
        <p:spPr>
          <a:xfrm>
            <a:off x="2057400" y="212838"/>
            <a:ext cx="7214286" cy="932597"/>
          </a:xfrm>
        </p:spPr>
        <p:txBody>
          <a:bodyPr>
            <a:normAutofit/>
          </a:bodyPr>
          <a:lstStyle/>
          <a:p>
            <a:pPr algn="ctr"/>
            <a:r>
              <a:rPr lang="en-US" b="1" dirty="0">
                <a:solidFill>
                  <a:schemeClr val="tx1"/>
                </a:solidFill>
              </a:rPr>
              <a:t>Tutorials Plan 2025</a:t>
            </a:r>
            <a:endParaRPr lang="en-US" b="1" dirty="0">
              <a:solidFill>
                <a:srgbClr val="FF0000"/>
              </a:solidFill>
            </a:endParaRPr>
          </a:p>
        </p:txBody>
      </p:sp>
      <p:sp>
        <p:nvSpPr>
          <p:cNvPr id="8" name="Content Placeholder 2">
            <a:extLst>
              <a:ext uri="{FF2B5EF4-FFF2-40B4-BE49-F238E27FC236}">
                <a16:creationId xmlns:a16="http://schemas.microsoft.com/office/drawing/2014/main" id="{E4FB2161-F7EA-4200-B21D-EC05658F7D1E}"/>
              </a:ext>
            </a:extLst>
          </p:cNvPr>
          <p:cNvSpPr txBox="1">
            <a:spLocks/>
          </p:cNvSpPr>
          <p:nvPr/>
        </p:nvSpPr>
        <p:spPr>
          <a:xfrm>
            <a:off x="1097280" y="5536900"/>
            <a:ext cx="5990032" cy="87736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457200" indent="-457200" defTabSz="287338">
              <a:buFont typeface="Wingdings" panose="05000000000000000000" pitchFamily="2" charset="2"/>
              <a:buChar char="q"/>
            </a:pPr>
            <a:endParaRPr lang="en-US" dirty="0">
              <a:latin typeface="Arial" panose="020B0604020202020204" pitchFamily="34" charset="0"/>
              <a:cs typeface="Arial" panose="020B0604020202020204" pitchFamily="34" charset="0"/>
            </a:endParaRPr>
          </a:p>
        </p:txBody>
      </p:sp>
      <p:pic>
        <p:nvPicPr>
          <p:cNvPr id="10" name="Graphic 9" descr="Teacher">
            <a:extLst>
              <a:ext uri="{FF2B5EF4-FFF2-40B4-BE49-F238E27FC236}">
                <a16:creationId xmlns:a16="http://schemas.microsoft.com/office/drawing/2014/main" id="{8F48B1D5-F448-4CAA-8837-1D395DF04A4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29900" y="1958956"/>
            <a:ext cx="1447800" cy="1447800"/>
          </a:xfrm>
          <a:prstGeom prst="rect">
            <a:avLst/>
          </a:prstGeom>
        </p:spPr>
      </p:pic>
      <p:sp>
        <p:nvSpPr>
          <p:cNvPr id="12" name="Rectangle 11">
            <a:extLst>
              <a:ext uri="{FF2B5EF4-FFF2-40B4-BE49-F238E27FC236}">
                <a16:creationId xmlns:a16="http://schemas.microsoft.com/office/drawing/2014/main" id="{3757A213-A5F5-44BA-A6D8-67E4EFDC9E98}"/>
              </a:ext>
            </a:extLst>
          </p:cNvPr>
          <p:cNvSpPr/>
          <p:nvPr/>
        </p:nvSpPr>
        <p:spPr>
          <a:xfrm>
            <a:off x="1371600" y="5486400"/>
            <a:ext cx="9067800" cy="761999"/>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87338"/>
            <a:r>
              <a:rPr lang="en-US" sz="2000" dirty="0">
                <a:latin typeface="Arial" panose="020B0604020202020204" pitchFamily="34" charset="0"/>
                <a:cs typeface="Arial" panose="020B0604020202020204" pitchFamily="34" charset="0"/>
              </a:rPr>
              <a:t>Actively seeking presenters. Please contact </a:t>
            </a:r>
            <a:r>
              <a:rPr lang="en-US" sz="2000" b="1" dirty="0">
                <a:solidFill>
                  <a:srgbClr val="0070C0"/>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programs@incosewma.org</a:t>
            </a:r>
            <a:endParaRPr lang="en-US" sz="2000" b="1" dirty="0">
              <a:solidFill>
                <a:srgbClr val="0070C0"/>
              </a:solidFill>
              <a:latin typeface="Arial" panose="020B0604020202020204" pitchFamily="34" charset="0"/>
              <a:cs typeface="Arial" panose="020B0604020202020204" pitchFamily="34" charset="0"/>
            </a:endParaRPr>
          </a:p>
          <a:p>
            <a:pPr algn="ctr" defTabSz="287338"/>
            <a:r>
              <a:rPr lang="en-US" sz="2000" dirty="0">
                <a:latin typeface="Arial" panose="020B0604020202020204" pitchFamily="34" charset="0"/>
                <a:cs typeface="Arial" panose="020B0604020202020204" pitchFamily="34" charset="0"/>
              </a:rPr>
              <a:t> if you are interested in presenting a topic in systems engineering!  Thank you.</a:t>
            </a:r>
          </a:p>
        </p:txBody>
      </p:sp>
      <p:graphicFrame>
        <p:nvGraphicFramePr>
          <p:cNvPr id="11" name="Table 10">
            <a:extLst>
              <a:ext uri="{FF2B5EF4-FFF2-40B4-BE49-F238E27FC236}">
                <a16:creationId xmlns:a16="http://schemas.microsoft.com/office/drawing/2014/main" id="{87C27EE0-F69F-774B-95BB-3A645CEDFC8E}"/>
              </a:ext>
            </a:extLst>
          </p:cNvPr>
          <p:cNvGraphicFramePr>
            <a:graphicFrameLocks noGrp="1"/>
          </p:cNvGraphicFramePr>
          <p:nvPr>
            <p:extLst>
              <p:ext uri="{D42A27DB-BD31-4B8C-83A1-F6EECF244321}">
                <p14:modId xmlns:p14="http://schemas.microsoft.com/office/powerpoint/2010/main" val="3238314508"/>
              </p:ext>
            </p:extLst>
          </p:nvPr>
        </p:nvGraphicFramePr>
        <p:xfrm>
          <a:off x="914401" y="1977709"/>
          <a:ext cx="9642070" cy="2107911"/>
        </p:xfrm>
        <a:graphic>
          <a:graphicData uri="http://schemas.openxmlformats.org/drawingml/2006/table">
            <a:tbl>
              <a:tblPr firstRow="1" bandRow="1">
                <a:effectLst>
                  <a:outerShdw blurRad="63500" sx="102000" sy="102000" algn="ctr" rotWithShape="0">
                    <a:prstClr val="black">
                      <a:alpha val="40000"/>
                    </a:prstClr>
                  </a:outerShdw>
                </a:effectLst>
                <a:tableStyleId>{9DCAF9ED-07DC-4A11-8D7F-57B35C25682E}</a:tableStyleId>
              </a:tblPr>
              <a:tblGrid>
                <a:gridCol w="1864411">
                  <a:extLst>
                    <a:ext uri="{9D8B030D-6E8A-4147-A177-3AD203B41FA5}">
                      <a16:colId xmlns:a16="http://schemas.microsoft.com/office/drawing/2014/main" val="667448507"/>
                    </a:ext>
                  </a:extLst>
                </a:gridCol>
                <a:gridCol w="5831788">
                  <a:extLst>
                    <a:ext uri="{9D8B030D-6E8A-4147-A177-3AD203B41FA5}">
                      <a16:colId xmlns:a16="http://schemas.microsoft.com/office/drawing/2014/main" val="2428263129"/>
                    </a:ext>
                  </a:extLst>
                </a:gridCol>
                <a:gridCol w="1945871">
                  <a:extLst>
                    <a:ext uri="{9D8B030D-6E8A-4147-A177-3AD203B41FA5}">
                      <a16:colId xmlns:a16="http://schemas.microsoft.com/office/drawing/2014/main" val="3949487314"/>
                    </a:ext>
                  </a:extLst>
                </a:gridCol>
              </a:tblGrid>
              <a:tr h="446751">
                <a:tc>
                  <a:txBody>
                    <a:bodyPr/>
                    <a:lstStyle/>
                    <a:p>
                      <a:pPr algn="ctr"/>
                      <a:r>
                        <a:rPr lang="en-US" sz="1800" dirty="0">
                          <a:latin typeface="Arial" panose="020B0604020202020204" pitchFamily="34" charset="0"/>
                          <a:cs typeface="Arial" panose="020B0604020202020204" pitchFamily="34" charset="0"/>
                        </a:rPr>
                        <a:t>Date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Topic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800" dirty="0">
                          <a:latin typeface="Arial" panose="020B0604020202020204" pitchFamily="34" charset="0"/>
                          <a:cs typeface="Arial" panose="020B0604020202020204" pitchFamily="34" charset="0"/>
                        </a:rPr>
                        <a:t>Presenter(s)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7159878"/>
                  </a:ext>
                </a:extLst>
              </a:tr>
              <a:tr h="381000">
                <a:tc>
                  <a:txBody>
                    <a:bodyPr/>
                    <a:lstStyle/>
                    <a:p>
                      <a:r>
                        <a:rPr lang="en-US" sz="1800" dirty="0">
                          <a:latin typeface="Arial" panose="020B0604020202020204" pitchFamily="34" charset="0"/>
                          <a:cs typeface="Arial" panose="020B0604020202020204" pitchFamily="34" charset="0"/>
                        </a:rPr>
                        <a:t>Early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l" defTabSz="914400" rtl="0" eaLnBrk="1" latinLnBrk="0" hangingPunct="1"/>
                      <a:r>
                        <a:rPr lang="en-US" sz="1800" kern="1200" dirty="0">
                          <a:solidFill>
                            <a:schemeClr val="dk1"/>
                          </a:solidFill>
                          <a:effectLst/>
                          <a:latin typeface="+mn-lt"/>
                          <a:ea typeface="+mn-ea"/>
                          <a:cs typeface="+mn-cs"/>
                        </a:rPr>
                        <a:t>Intersection of Systems Thinking and Program Management</a:t>
                      </a:r>
                      <a:endParaRPr lang="en-US" sz="1800"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a:solidFill>
                            <a:schemeClr val="dk1"/>
                          </a:solidFill>
                          <a:latin typeface="Arial" panose="020B0604020202020204" pitchFamily="34" charset="0"/>
                          <a:ea typeface="+mn-ea"/>
                          <a:cs typeface="Arial" panose="020B0604020202020204" pitchFamily="34" charset="0"/>
                        </a:rPr>
                        <a:t>TBD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2525148976"/>
                  </a:ext>
                </a:extLst>
              </a:tr>
              <a:tr h="381000">
                <a:tc>
                  <a:txBody>
                    <a:bodyPr/>
                    <a:lstStyle/>
                    <a:p>
                      <a:r>
                        <a:rPr lang="en-US" sz="1800" dirty="0">
                          <a:latin typeface="Arial" panose="020B0604020202020204" pitchFamily="34" charset="0"/>
                          <a:cs typeface="Arial" panose="020B0604020202020204" pitchFamily="34" charset="0"/>
                        </a:rPr>
                        <a:t>TBD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l" defTabSz="914400" rtl="0" eaLnBrk="1" latinLnBrk="0" hangingPunct="1"/>
                      <a:r>
                        <a:rPr lang="en-US" sz="1800" kern="1200" dirty="0">
                          <a:solidFill>
                            <a:schemeClr val="dk1"/>
                          </a:solidFill>
                          <a:effectLst/>
                          <a:latin typeface="+mn-lt"/>
                          <a:ea typeface="+mn-ea"/>
                          <a:cs typeface="+mn-cs"/>
                        </a:rPr>
                        <a:t>Guidelines for Digital Engineering Success: </a:t>
                      </a:r>
                      <a:br>
                        <a:rPr lang="en-US" sz="1800" kern="1200" dirty="0">
                          <a:solidFill>
                            <a:schemeClr val="dk1"/>
                          </a:solidFill>
                          <a:effectLst/>
                          <a:latin typeface="+mn-lt"/>
                          <a:ea typeface="+mn-ea"/>
                          <a:cs typeface="+mn-cs"/>
                        </a:rPr>
                      </a:br>
                      <a:r>
                        <a:rPr lang="en-US" sz="1800" kern="1200" dirty="0">
                          <a:solidFill>
                            <a:schemeClr val="dk1"/>
                          </a:solidFill>
                          <a:effectLst/>
                          <a:latin typeface="+mn-lt"/>
                          <a:ea typeface="+mn-ea"/>
                          <a:cs typeface="+mn-cs"/>
                        </a:rPr>
                        <a:t>From Cultural Adoption to MBSE Basics</a:t>
                      </a:r>
                      <a:endParaRPr lang="en-US" sz="1800"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n-US" sz="1800" kern="1200" dirty="0">
                          <a:solidFill>
                            <a:schemeClr val="dk1"/>
                          </a:solidFill>
                          <a:latin typeface="Arial" panose="020B0604020202020204" pitchFamily="34" charset="0"/>
                          <a:ea typeface="+mn-ea"/>
                          <a:cs typeface="Arial" panose="020B0604020202020204" pitchFamily="34" charset="0"/>
                        </a:rPr>
                        <a:t>TBD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957078659"/>
                  </a:ext>
                </a:extLst>
              </a:tr>
              <a:tr h="381000">
                <a:tc>
                  <a:txBody>
                    <a:bodyPr/>
                    <a:lstStyle/>
                    <a:p>
                      <a:r>
                        <a:rPr lang="en-US" sz="1800" dirty="0">
                          <a:latin typeface="Arial" panose="020B0604020202020204" pitchFamily="34" charset="0"/>
                          <a:cs typeface="Arial" panose="020B0604020202020204" pitchFamily="34" charset="0"/>
                        </a:rPr>
                        <a:t>TBD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marL="0" algn="l" defTabSz="914400" rtl="0" eaLnBrk="1" latinLnBrk="0" hangingPunct="1"/>
                      <a:r>
                        <a:rPr lang="en-US" sz="1800" kern="1200" dirty="0">
                          <a:solidFill>
                            <a:schemeClr val="dk1"/>
                          </a:solidFill>
                          <a:effectLst/>
                          <a:latin typeface="+mn-lt"/>
                          <a:ea typeface="+mn-ea"/>
                          <a:cs typeface="+mn-cs"/>
                        </a:rPr>
                        <a:t>Applying Digital Engineering for the Early Integration of Verification Activities with Requirements Engineering</a:t>
                      </a:r>
                      <a:endParaRPr lang="en-US" sz="1800" kern="1200" dirty="0">
                        <a:solidFill>
                          <a:schemeClr val="dk1"/>
                        </a:solidFill>
                        <a:latin typeface="Arial" panose="020B0604020202020204" pitchFamily="34" charset="0"/>
                        <a:ea typeface="+mn-ea"/>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r>
                        <a:rPr lang="en-US" sz="1800" kern="1200" dirty="0">
                          <a:solidFill>
                            <a:schemeClr val="dk1"/>
                          </a:solidFill>
                          <a:latin typeface="Arial" panose="020B0604020202020204" pitchFamily="34" charset="0"/>
                          <a:ea typeface="+mn-ea"/>
                          <a:cs typeface="Arial" panose="020B0604020202020204" pitchFamily="34" charset="0"/>
                        </a:rPr>
                        <a:t>TBD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3339119562"/>
                  </a:ext>
                </a:extLst>
              </a:tr>
            </a:tbl>
          </a:graphicData>
        </a:graphic>
      </p:graphicFrame>
      <p:sp>
        <p:nvSpPr>
          <p:cNvPr id="3" name="Rectangle 2">
            <a:extLst>
              <a:ext uri="{FF2B5EF4-FFF2-40B4-BE49-F238E27FC236}">
                <a16:creationId xmlns:a16="http://schemas.microsoft.com/office/drawing/2014/main" id="{913C4C4D-AEF6-1999-39B4-281A9FB4045B}"/>
              </a:ext>
            </a:extLst>
          </p:cNvPr>
          <p:cNvSpPr/>
          <p:nvPr/>
        </p:nvSpPr>
        <p:spPr>
          <a:xfrm>
            <a:off x="1600200" y="4572001"/>
            <a:ext cx="9067800" cy="761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287338"/>
            <a:r>
              <a:rPr lang="en-US" dirty="0">
                <a:solidFill>
                  <a:schemeClr val="tx1"/>
                </a:solidFill>
                <a:latin typeface="Arial" panose="020B0604020202020204" pitchFamily="34" charset="0"/>
                <a:cs typeface="Arial" panose="020B0604020202020204" pitchFamily="34" charset="0"/>
              </a:rPr>
              <a:t>Tutorial topics are selected per member survey results and tailored by group inputs.  Selection of exact dates + locations underway.</a:t>
            </a:r>
          </a:p>
        </p:txBody>
      </p:sp>
      <p:sp>
        <p:nvSpPr>
          <p:cNvPr id="4" name="Footer Placeholder 5">
            <a:extLst>
              <a:ext uri="{FF2B5EF4-FFF2-40B4-BE49-F238E27FC236}">
                <a16:creationId xmlns:a16="http://schemas.microsoft.com/office/drawing/2014/main" id="{C310F99D-1147-3CC5-9A97-D9F6DC50EDA7}"/>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extLst>
      <p:ext uri="{BB962C8B-B14F-4D97-AF65-F5344CB8AC3E}">
        <p14:creationId xmlns:p14="http://schemas.microsoft.com/office/powerpoint/2010/main" val="30254161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4080" y="929638"/>
            <a:ext cx="6827520" cy="746762"/>
          </a:xfrm>
        </p:spPr>
        <p:txBody>
          <a:bodyPr>
            <a:noAutofit/>
          </a:bodyPr>
          <a:lstStyle/>
          <a:p>
            <a:pPr algn="ctr"/>
            <a:r>
              <a:rPr lang="en-US" b="1" dirty="0">
                <a:solidFill>
                  <a:schemeClr val="tx1"/>
                </a:solidFill>
              </a:rPr>
              <a:t>2024 Holiday Party</a:t>
            </a:r>
          </a:p>
        </p:txBody>
      </p:sp>
      <p:sp>
        <p:nvSpPr>
          <p:cNvPr id="10" name="Slide Number Placeholder 9"/>
          <p:cNvSpPr>
            <a:spLocks noGrp="1"/>
          </p:cNvSpPr>
          <p:nvPr>
            <p:ph type="sldNum" sz="quarter" idx="12"/>
          </p:nvPr>
        </p:nvSpPr>
        <p:spPr/>
        <p:txBody>
          <a:bodyPr/>
          <a:lstStyle/>
          <a:p>
            <a:fld id="{4FAB73BC-B049-4115-A692-8D63A059BFB8}" type="slidenum">
              <a:rPr lang="en-US" smtClean="0"/>
              <a:pPr/>
              <a:t>24</a:t>
            </a:fld>
            <a:endParaRPr lang="en-US"/>
          </a:p>
        </p:txBody>
      </p:sp>
      <p:pic>
        <p:nvPicPr>
          <p:cNvPr id="8196" name="Picture 4">
            <a:extLst>
              <a:ext uri="{FF2B5EF4-FFF2-40B4-BE49-F238E27FC236}">
                <a16:creationId xmlns:a16="http://schemas.microsoft.com/office/drawing/2014/main" id="{0BAF4991-7C74-7C3C-50E2-94DDEB3C35B6}"/>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3311287" y="4343399"/>
            <a:ext cx="2899631" cy="1948835"/>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a:extLst>
              <a:ext uri="{FF2B5EF4-FFF2-40B4-BE49-F238E27FC236}">
                <a16:creationId xmlns:a16="http://schemas.microsoft.com/office/drawing/2014/main" id="{96DFFA5A-1373-A85D-F87C-64A5ACEA0209}"/>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a:off x="-28090" y="3382170"/>
            <a:ext cx="2150507" cy="192245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a:extLst>
              <a:ext uri="{FF2B5EF4-FFF2-40B4-BE49-F238E27FC236}">
                <a16:creationId xmlns:a16="http://schemas.microsoft.com/office/drawing/2014/main" id="{3D6DD39C-4FF6-5827-617D-C788A2EF737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2728514" y="1925894"/>
            <a:ext cx="1704554" cy="2036973"/>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nline image">
            <a:extLst>
              <a:ext uri="{FF2B5EF4-FFF2-40B4-BE49-F238E27FC236}">
                <a16:creationId xmlns:a16="http://schemas.microsoft.com/office/drawing/2014/main" id="{C90BE0D2-E7D2-509F-C7AF-6F75C776D6F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3940" y="1925894"/>
            <a:ext cx="2438400" cy="1332230"/>
          </a:xfrm>
          <a:prstGeom prst="rect">
            <a:avLst/>
          </a:prstGeom>
          <a:noFill/>
          <a:extLst>
            <a:ext uri="{909E8E84-426E-40DD-AFC4-6F175D3DCCD1}">
              <a14:hiddenFill xmlns:a14="http://schemas.microsoft.com/office/drawing/2010/main">
                <a:solidFill>
                  <a:srgbClr val="FFFFFF"/>
                </a:solidFill>
              </a14:hiddenFill>
            </a:ext>
          </a:extLst>
        </p:spPr>
      </p:pic>
      <p:pic>
        <p:nvPicPr>
          <p:cNvPr id="8204" name="Picture 12">
            <a:extLst>
              <a:ext uri="{FF2B5EF4-FFF2-40B4-BE49-F238E27FC236}">
                <a16:creationId xmlns:a16="http://schemas.microsoft.com/office/drawing/2014/main" id="{3DEDCD9F-EB70-1F84-1101-80D665011B96}"/>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6413529" y="4572000"/>
            <a:ext cx="2756724" cy="1693858"/>
          </a:xfrm>
          <a:prstGeom prst="rect">
            <a:avLst/>
          </a:prstGeom>
          <a:noFill/>
          <a:extLst>
            <a:ext uri="{909E8E84-426E-40DD-AFC4-6F175D3DCCD1}">
              <a14:hiddenFill xmlns:a14="http://schemas.microsoft.com/office/drawing/2010/main">
                <a:solidFill>
                  <a:srgbClr val="FFFFFF"/>
                </a:solidFill>
              </a14:hiddenFill>
            </a:ext>
          </a:extLst>
        </p:spPr>
      </p:pic>
      <p:pic>
        <p:nvPicPr>
          <p:cNvPr id="8206" name="Picture 14">
            <a:extLst>
              <a:ext uri="{FF2B5EF4-FFF2-40B4-BE49-F238E27FC236}">
                <a16:creationId xmlns:a16="http://schemas.microsoft.com/office/drawing/2014/main" id="{DE44977A-9EE0-9932-51F0-18A4AE63430F}"/>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a:stretch/>
        </p:blipFill>
        <p:spPr bwMode="auto">
          <a:xfrm>
            <a:off x="7986849" y="2278991"/>
            <a:ext cx="1884231" cy="1683875"/>
          </a:xfrm>
          <a:prstGeom prst="rect">
            <a:avLst/>
          </a:prstGeom>
          <a:noFill/>
          <a:extLst>
            <a:ext uri="{909E8E84-426E-40DD-AFC4-6F175D3DCCD1}">
              <a14:hiddenFill xmlns:a14="http://schemas.microsoft.com/office/drawing/2010/main">
                <a:solidFill>
                  <a:srgbClr val="FFFFFF"/>
                </a:solidFill>
              </a14:hiddenFill>
            </a:ext>
          </a:extLst>
        </p:spPr>
      </p:pic>
      <p:pic>
        <p:nvPicPr>
          <p:cNvPr id="8208" name="Picture 16" descr="Ono Offshore | Private Event Space | 4515 Daly Drive STE N, Chantilly, VA,  USA">
            <a:extLst>
              <a:ext uri="{FF2B5EF4-FFF2-40B4-BE49-F238E27FC236}">
                <a16:creationId xmlns:a16="http://schemas.microsoft.com/office/drawing/2014/main" id="{23717973-43DA-D0E2-7F1E-E58B33A2965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94716" y="1764441"/>
            <a:ext cx="1930285" cy="1341511"/>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84FE2E56-F26F-BAE5-F816-657548EC1E0D}"/>
              </a:ext>
            </a:extLst>
          </p:cNvPr>
          <p:cNvSpPr txBox="1">
            <a:spLocks/>
          </p:cNvSpPr>
          <p:nvPr/>
        </p:nvSpPr>
        <p:spPr>
          <a:xfrm>
            <a:off x="2746099" y="3299881"/>
            <a:ext cx="6827520" cy="746762"/>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2000" dirty="0">
                <a:solidFill>
                  <a:schemeClr val="tx1"/>
                </a:solidFill>
                <a:latin typeface="+mn-lt"/>
              </a:rPr>
              <a:t>Year-end celebration on </a:t>
            </a:r>
            <a:br>
              <a:rPr lang="en-US" sz="2000" dirty="0">
                <a:solidFill>
                  <a:schemeClr val="tx1"/>
                </a:solidFill>
                <a:latin typeface="+mn-lt"/>
              </a:rPr>
            </a:br>
            <a:r>
              <a:rPr lang="en-US" sz="2000" b="1" dirty="0">
                <a:solidFill>
                  <a:schemeClr val="tx1"/>
                </a:solidFill>
                <a:latin typeface="+mn-lt"/>
              </a:rPr>
              <a:t>11 December 2024</a:t>
            </a:r>
          </a:p>
          <a:p>
            <a:pPr algn="ctr"/>
            <a:r>
              <a:rPr lang="en-US" sz="2000" dirty="0">
                <a:solidFill>
                  <a:schemeClr val="tx1"/>
                </a:solidFill>
                <a:latin typeface="+mn-lt"/>
              </a:rPr>
              <a:t>highlighted chapter successes!</a:t>
            </a:r>
          </a:p>
        </p:txBody>
      </p:sp>
      <p:pic>
        <p:nvPicPr>
          <p:cNvPr id="8210" name="Picture 18">
            <a:extLst>
              <a:ext uri="{FF2B5EF4-FFF2-40B4-BE49-F238E27FC236}">
                <a16:creationId xmlns:a16="http://schemas.microsoft.com/office/drawing/2014/main" id="{7343957E-87A3-12CD-534A-31367D61FC94}"/>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9990778" y="1942990"/>
            <a:ext cx="1969869" cy="1486010"/>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a:extLst>
              <a:ext uri="{FF2B5EF4-FFF2-40B4-BE49-F238E27FC236}">
                <a16:creationId xmlns:a16="http://schemas.microsoft.com/office/drawing/2014/main" id="{47F6913F-55F8-D154-23EA-45128BD1078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9573619" y="4240572"/>
            <a:ext cx="2209236" cy="1784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7" name="Picture 3">
            <a:extLst>
              <a:ext uri="{FF2B5EF4-FFF2-40B4-BE49-F238E27FC236}">
                <a16:creationId xmlns:a16="http://schemas.microsoft.com/office/drawing/2014/main" id="{96E5FC01-4668-B830-DC1B-322FE543D600}"/>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a:stretch/>
        </p:blipFill>
        <p:spPr bwMode="auto">
          <a:xfrm>
            <a:off x="1280190" y="4382599"/>
            <a:ext cx="1468086" cy="1844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5">
            <a:extLst>
              <a:ext uri="{FF2B5EF4-FFF2-40B4-BE49-F238E27FC236}">
                <a16:creationId xmlns:a16="http://schemas.microsoft.com/office/drawing/2014/main" id="{22FB5156-2EC9-7BE1-ED27-E9471BFECEE0}"/>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May include: A stylized green tree with a thick trunk and many branches with green leaves">
            <a:extLst>
              <a:ext uri="{FF2B5EF4-FFF2-40B4-BE49-F238E27FC236}">
                <a16:creationId xmlns:a16="http://schemas.microsoft.com/office/drawing/2014/main" id="{D3085B22-1954-2B08-77E0-D3200BAE2B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24400" y="1775402"/>
            <a:ext cx="2085986" cy="252705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087880" y="76200"/>
            <a:ext cx="7056120" cy="1450757"/>
          </a:xfrm>
        </p:spPr>
        <p:txBody>
          <a:bodyPr>
            <a:normAutofit/>
          </a:bodyPr>
          <a:lstStyle/>
          <a:p>
            <a:pPr algn="ctr"/>
            <a:r>
              <a:rPr lang="en-US" sz="4400" b="1" dirty="0">
                <a:solidFill>
                  <a:schemeClr val="tx1"/>
                </a:solidFill>
              </a:rPr>
              <a:t>Quarter 1 (Q1) 2025 </a:t>
            </a:r>
            <a:br>
              <a:rPr lang="en-US" sz="4400" b="1" dirty="0">
                <a:solidFill>
                  <a:schemeClr val="tx1"/>
                </a:solidFill>
              </a:rPr>
            </a:br>
            <a:r>
              <a:rPr lang="en-US" sz="4400" b="1" dirty="0">
                <a:solidFill>
                  <a:schemeClr val="tx1"/>
                </a:solidFill>
              </a:rPr>
              <a:t>Membership Event</a:t>
            </a:r>
          </a:p>
        </p:txBody>
      </p:sp>
      <p:sp>
        <p:nvSpPr>
          <p:cNvPr id="5" name="TextBox 4"/>
          <p:cNvSpPr txBox="1"/>
          <p:nvPr/>
        </p:nvSpPr>
        <p:spPr>
          <a:xfrm>
            <a:off x="38100" y="4251325"/>
            <a:ext cx="12039600" cy="1938992"/>
          </a:xfrm>
          <a:prstGeom prst="rect">
            <a:avLst/>
          </a:prstGeom>
          <a:noFill/>
        </p:spPr>
        <p:txBody>
          <a:bodyPr wrap="square" rtlCol="0">
            <a:spAutoFit/>
          </a:bodyPr>
          <a:lstStyle/>
          <a:p>
            <a:pPr marL="800100" lvl="1" indent="-342900">
              <a:buFont typeface="Arial" panose="020B0604020202020204" pitchFamily="34" charset="0"/>
              <a:buChar char="•"/>
            </a:pPr>
            <a:r>
              <a:rPr lang="en-US" sz="2000" dirty="0"/>
              <a:t>The focus of the Q1 2025 membership event will be on </a:t>
            </a:r>
            <a:r>
              <a:rPr lang="en-US" sz="2000" b="1" dirty="0"/>
              <a:t>natural systems</a:t>
            </a:r>
            <a:r>
              <a:rPr lang="en-US" sz="2000" dirty="0"/>
              <a:t>. More information to follow.</a:t>
            </a:r>
            <a:br>
              <a:rPr lang="en-US" sz="2000" dirty="0"/>
            </a:br>
            <a:endParaRPr lang="en-US" sz="2000" dirty="0"/>
          </a:p>
          <a:p>
            <a:pPr marL="800100" lvl="1" indent="-342900">
              <a:buFont typeface="Arial" panose="020B0604020202020204" pitchFamily="34" charset="0"/>
              <a:buChar char="•"/>
            </a:pPr>
            <a:r>
              <a:rPr lang="en-US" sz="2000" dirty="0"/>
              <a:t>A membership meet-and-greet </a:t>
            </a:r>
            <a:r>
              <a:rPr lang="en-US" sz="2000" b="1" dirty="0"/>
              <a:t>happy hour </a:t>
            </a:r>
            <a:r>
              <a:rPr lang="en-US" sz="2000" dirty="0"/>
              <a:t>will be scheduled during Q1 – details to be determined.</a:t>
            </a:r>
            <a:endParaRPr lang="en-US" sz="2000" b="1" dirty="0"/>
          </a:p>
          <a:p>
            <a:pPr lvl="1"/>
            <a:endParaRPr lang="en-US" sz="2000" b="1" dirty="0"/>
          </a:p>
          <a:p>
            <a:pPr lvl="1" algn="ctr"/>
            <a:r>
              <a:rPr lang="en-US" sz="2000" b="1" dirty="0"/>
              <a:t>Interested in helping to plan an INCOSE WMA event this year?</a:t>
            </a:r>
            <a:br>
              <a:rPr lang="en-US" sz="2000" b="1" dirty="0"/>
            </a:br>
            <a:r>
              <a:rPr lang="en-US" sz="2000" dirty="0"/>
              <a:t>Please contact the INCOSE WMA Event Coordinator, Kathleen Flynn, at </a:t>
            </a:r>
            <a:r>
              <a:rPr lang="en-US" sz="2000" dirty="0">
                <a:hlinkClick r:id="rId3"/>
              </a:rPr>
              <a:t>events@incosewma.org</a:t>
            </a:r>
            <a:r>
              <a:rPr lang="en-US" sz="2000" dirty="0"/>
              <a:t> </a:t>
            </a:r>
            <a:endParaRPr lang="en-US" sz="2000" b="1"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25</a:t>
            </a:fld>
            <a:endParaRPr lang="en-US"/>
          </a:p>
        </p:txBody>
      </p:sp>
      <p:pic>
        <p:nvPicPr>
          <p:cNvPr id="9220" name="Picture 4" descr="Hand Globe png images | PNGEgg">
            <a:extLst>
              <a:ext uri="{FF2B5EF4-FFF2-40B4-BE49-F238E27FC236}">
                <a16:creationId xmlns:a16="http://schemas.microsoft.com/office/drawing/2014/main" id="{9364B6AD-4C18-5338-F788-04CB118DF7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981200"/>
            <a:ext cx="1733550" cy="243095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Premium Vector | Happy hour Graphic design hand drawn illustration Vector  lettering">
            <a:extLst>
              <a:ext uri="{FF2B5EF4-FFF2-40B4-BE49-F238E27FC236}">
                <a16:creationId xmlns:a16="http://schemas.microsoft.com/office/drawing/2014/main" id="{ACFFB643-515A-0DAB-6119-1C949B9FA702}"/>
              </a:ext>
            </a:extLst>
          </p:cNvPr>
          <p:cNvPicPr>
            <a:picLocks noChangeAspect="1" noChangeArrowheads="1"/>
          </p:cNvPicPr>
          <p:nvPr/>
        </p:nvPicPr>
        <p:blipFill rotWithShape="1">
          <a:blip r:embed="rId5" cstate="print">
            <a:duotone>
              <a:schemeClr val="accent3">
                <a:shade val="45000"/>
                <a:satMod val="135000"/>
              </a:schemeClr>
              <a:prstClr val="white"/>
            </a:duotone>
            <a:extLst>
              <a:ext uri="{28A0092B-C50C-407E-A947-70E740481C1C}">
                <a14:useLocalDpi xmlns:a14="http://schemas.microsoft.com/office/drawing/2010/main" val="0"/>
              </a:ext>
            </a:extLst>
          </a:blip>
          <a:srcRect/>
          <a:stretch/>
        </p:blipFill>
        <p:spPr bwMode="auto">
          <a:xfrm>
            <a:off x="7863082" y="2128920"/>
            <a:ext cx="2693390" cy="2138363"/>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5">
            <a:extLst>
              <a:ext uri="{FF2B5EF4-FFF2-40B4-BE49-F238E27FC236}">
                <a16:creationId xmlns:a16="http://schemas.microsoft.com/office/drawing/2014/main" id="{4F705530-E862-065E-F913-AD64098AC46C}"/>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mc:AlternateContent xmlns:mc="http://schemas.openxmlformats.org/markup-compatibility/2006" xmlns:p14="http://schemas.microsoft.com/office/powerpoint/2010/main">
    <mc:Choice Requires="p14">
      <p:transition spd="slow" p14:dur="2000" advClick="0" advTm="10000"/>
    </mc:Choice>
    <mc:Fallback xmlns="">
      <p:transition spd="slow" advClick="0" advTm="10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AE7D3EDB-01BF-8F3E-BBE8-116AE2BA7C95}"/>
              </a:ext>
            </a:extLst>
          </p:cNvPr>
          <p:cNvSpPr>
            <a:spLocks noChangeArrowheads="1"/>
          </p:cNvSpPr>
          <p:nvPr/>
        </p:nvSpPr>
        <p:spPr bwMode="auto">
          <a:xfrm>
            <a:off x="-41275" y="1828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172" name="Grafik 1" descr="Ein Bild, das Person, Mann, Anzug, stehend enthält.&#10;&#10;Automatisch generierte Beschreibung">
            <a:extLst>
              <a:ext uri="{FF2B5EF4-FFF2-40B4-BE49-F238E27FC236}">
                <a16:creationId xmlns:a16="http://schemas.microsoft.com/office/drawing/2014/main" id="{2A5B3C53-1EB3-3C91-5B7F-01661F058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13" y="1809520"/>
            <a:ext cx="2546350" cy="337208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6">
            <a:extLst>
              <a:ext uri="{FF2B5EF4-FFF2-40B4-BE49-F238E27FC236}">
                <a16:creationId xmlns:a16="http://schemas.microsoft.com/office/drawing/2014/main" id="{D3B5D448-119B-F8B2-7F56-D9B8F1EBBD58}"/>
              </a:ext>
            </a:extLst>
          </p:cNvPr>
          <p:cNvSpPr>
            <a:spLocks noChangeArrowheads="1"/>
          </p:cNvSpPr>
          <p:nvPr/>
        </p:nvSpPr>
        <p:spPr bwMode="auto">
          <a:xfrm>
            <a:off x="2971800" y="1833390"/>
            <a:ext cx="895728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1" i="1"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Ralf Hartmann </a:t>
            </a:r>
            <a:r>
              <a:rPr kumimoji="0" lang="en-US" altLang="en-US" sz="1400" b="0"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is currently serving as President of the International Council on Systems Engineering (INCOSE) in 2024 and 2025. Ralf is an active and engaged INCOSE member since 1996 and a founding member of </a:t>
            </a:r>
            <a:r>
              <a:rPr kumimoji="0" lang="en-US" altLang="en-US" sz="1400" b="0" i="0" u="none" strike="noStrike" cap="none" normalizeH="0" baseline="0" dirty="0" err="1">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GfSE</a:t>
            </a:r>
            <a:r>
              <a:rPr kumimoji="0" lang="en-US" altLang="en-US" sz="1400" b="0"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 the German Chapter of INCOSE. He has been selected as an INCOSE Fellow in 2005 and received the prestigious INCOSE Founders Award in 2008. From 2008 until 2014 Ralf served as INCOSE Director for Strategy and ensured sponsorship of the former SE Vision 2025 in this period.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Ralf received a Diploma in Electrical Engineering from the University of Karlsruhe (KIT) and he is a certified project management professional (GPM/IPMA).</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Ralf Hartmann retired from Airbus the end of 2021 after a career of nearly 35 years in space and defense systems covering robotics, automatic control, simulation, S/W development and primarily Systems Engineering. In this period, he held various positions as project manager and vice president of international teams for engineering, research and technology.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Ralf joined the Digital Transformation Office at Airbus Defense &amp; Space in 2017 where he created and led the organization for “Digital Design, Manufacturing and Service” (DDMS). Furthermore, he was Head of Airbus Group Systems Engineering Governance. </a:t>
            </a:r>
            <a:r>
              <a:rPr kumimoji="0" lang="en-GB" altLang="en-US" sz="1400" b="0"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Along his whole career Ralf Hartmann was an engaged evangelist and promoter of Systems Engineering, the digital transformation and especially its combination.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de-DE" altLang="en-US" sz="1400" b="0" i="0" u="none" strike="noStrike" cap="none" normalizeH="0" baseline="0" dirty="0">
              <a:ln>
                <a:noFill/>
              </a:ln>
              <a:solidFill>
                <a:schemeClr val="tx1"/>
              </a:solidFill>
              <a:effectLst/>
              <a:ea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Today Ralf is a self-employed management and systems engineering consultant.</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4822A0E6-72DF-DE90-F1B6-F9B7B9087F88}"/>
              </a:ext>
            </a:extLst>
          </p:cNvPr>
          <p:cNvSpPr txBox="1"/>
          <p:nvPr/>
        </p:nvSpPr>
        <p:spPr>
          <a:xfrm>
            <a:off x="545488" y="5311265"/>
            <a:ext cx="1981200" cy="923330"/>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Ralf Hartmann</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i="1" dirty="0">
                <a:solidFill>
                  <a:srgbClr val="000000"/>
                </a:solidFill>
                <a:latin typeface="Tahoma" panose="020B0604030504040204" pitchFamily="34" charset="0"/>
                <a:ea typeface="Times New Roman" panose="02020603050405020304" pitchFamily="18" charset="0"/>
                <a:cs typeface="Tahoma" panose="020B0604030504040204" pitchFamily="34" charset="0"/>
              </a:rPr>
              <a:t>President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1"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INCOSE</a:t>
            </a:r>
            <a:r>
              <a:rPr kumimoji="0" lang="en-US" altLang="en-US" b="0" i="1" u="none" strike="noStrike" cap="none" normalizeH="0" baseline="0" dirty="0">
                <a:ln>
                  <a:noFill/>
                </a:ln>
                <a:solidFill>
                  <a:srgbClr val="000000"/>
                </a:solidFill>
                <a:effectLst/>
                <a:latin typeface="Tahoma" panose="020B0604030504040204" pitchFamily="34" charset="0"/>
                <a:ea typeface="Times New Roman" panose="02020603050405020304" pitchFamily="18" charset="0"/>
                <a:cs typeface="Tahoma" panose="020B0604030504040204" pitchFamily="34" charset="0"/>
              </a:rPr>
              <a:t> </a:t>
            </a:r>
            <a:endParaRPr kumimoji="0" lang="de-DE" altLang="en-US" b="0" i="1" u="none" strike="noStrike" cap="none" normalizeH="0" baseline="0" dirty="0">
              <a:ln>
                <a:noFill/>
              </a:ln>
              <a:solidFill>
                <a:schemeClr val="tx1"/>
              </a:solidFill>
              <a:effectLst/>
              <a:ea typeface="Times New Roman" panose="02020603050405020304" pitchFamily="18" charset="0"/>
            </a:endParaRPr>
          </a:p>
        </p:txBody>
      </p:sp>
      <p:sp>
        <p:nvSpPr>
          <p:cNvPr id="10" name="TextBox 9">
            <a:extLst>
              <a:ext uri="{FF2B5EF4-FFF2-40B4-BE49-F238E27FC236}">
                <a16:creationId xmlns:a16="http://schemas.microsoft.com/office/drawing/2014/main" id="{45D7633C-E32A-09B9-9982-2E4CEDDBE9C7}"/>
              </a:ext>
            </a:extLst>
          </p:cNvPr>
          <p:cNvSpPr txBox="1"/>
          <p:nvPr/>
        </p:nvSpPr>
        <p:spPr>
          <a:xfrm>
            <a:off x="2209800" y="515872"/>
            <a:ext cx="6603989" cy="830997"/>
          </a:xfrm>
          <a:prstGeom prst="rect">
            <a:avLst/>
          </a:prstGeom>
          <a:noFill/>
        </p:spPr>
        <p:txBody>
          <a:bodyPr wrap="square" rtlCol="0">
            <a:spAutoFit/>
          </a:bodyPr>
          <a:lstStyle/>
          <a:p>
            <a:pPr algn="ctr"/>
            <a:r>
              <a:rPr lang="en-US" sz="4800" dirty="0"/>
              <a:t>INCOSE in 2025</a:t>
            </a:r>
          </a:p>
        </p:txBody>
      </p:sp>
      <p:sp>
        <p:nvSpPr>
          <p:cNvPr id="2" name="Footer Placeholder 5">
            <a:extLst>
              <a:ext uri="{FF2B5EF4-FFF2-40B4-BE49-F238E27FC236}">
                <a16:creationId xmlns:a16="http://schemas.microsoft.com/office/drawing/2014/main" id="{C8A57451-7082-A185-D2C9-C2A135C184B5}"/>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extLst>
      <p:ext uri="{BB962C8B-B14F-4D97-AF65-F5344CB8AC3E}">
        <p14:creationId xmlns:p14="http://schemas.microsoft.com/office/powerpoint/2010/main" val="3038612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B7C674A-DC1B-4E3B-B268-3755E2558D2A}"/>
              </a:ext>
            </a:extLst>
          </p:cNvPr>
          <p:cNvPicPr>
            <a:picLocks noChangeAspect="1"/>
          </p:cNvPicPr>
          <p:nvPr/>
        </p:nvPicPr>
        <p:blipFill>
          <a:blip r:embed="rId2" cstate="print"/>
          <a:stretch>
            <a:fillRect/>
          </a:stretch>
        </p:blipFill>
        <p:spPr>
          <a:xfrm>
            <a:off x="0" y="5812971"/>
            <a:ext cx="12192000" cy="1045029"/>
          </a:xfrm>
          <a:prstGeom prst="rect">
            <a:avLst/>
          </a:prstGeom>
        </p:spPr>
      </p:pic>
      <p:pic>
        <p:nvPicPr>
          <p:cNvPr id="9" name="Picture 8">
            <a:extLst>
              <a:ext uri="{FF2B5EF4-FFF2-40B4-BE49-F238E27FC236}">
                <a16:creationId xmlns:a16="http://schemas.microsoft.com/office/drawing/2014/main" id="{DD50025A-8A49-8CF3-74B7-A3F56140075E}"/>
              </a:ext>
            </a:extLst>
          </p:cNvPr>
          <p:cNvPicPr>
            <a:picLocks noChangeAspect="1"/>
          </p:cNvPicPr>
          <p:nvPr/>
        </p:nvPicPr>
        <p:blipFill>
          <a:blip r:embed="rId3"/>
          <a:stretch>
            <a:fillRect/>
          </a:stretch>
        </p:blipFill>
        <p:spPr>
          <a:xfrm>
            <a:off x="1319212" y="0"/>
            <a:ext cx="9553575" cy="1657556"/>
          </a:xfrm>
          <a:prstGeom prst="rect">
            <a:avLst/>
          </a:prstGeom>
        </p:spPr>
      </p:pic>
      <p:pic>
        <p:nvPicPr>
          <p:cNvPr id="6" name="Picture 5">
            <a:extLst>
              <a:ext uri="{FF2B5EF4-FFF2-40B4-BE49-F238E27FC236}">
                <a16:creationId xmlns:a16="http://schemas.microsoft.com/office/drawing/2014/main" id="{6833A5FF-BA73-0E37-606F-2853FB57904E}"/>
              </a:ext>
            </a:extLst>
          </p:cNvPr>
          <p:cNvPicPr>
            <a:picLocks noChangeAspect="1"/>
          </p:cNvPicPr>
          <p:nvPr/>
        </p:nvPicPr>
        <p:blipFill>
          <a:blip r:embed="rId4"/>
          <a:stretch>
            <a:fillRect/>
          </a:stretch>
        </p:blipFill>
        <p:spPr>
          <a:xfrm>
            <a:off x="1371599" y="1657556"/>
            <a:ext cx="9553575" cy="4096321"/>
          </a:xfrm>
          <a:prstGeom prst="rect">
            <a:avLst/>
          </a:prstGeom>
        </p:spPr>
      </p:pic>
    </p:spTree>
    <p:extLst>
      <p:ext uri="{BB962C8B-B14F-4D97-AF65-F5344CB8AC3E}">
        <p14:creationId xmlns:p14="http://schemas.microsoft.com/office/powerpoint/2010/main" val="1744811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11427" y="5638800"/>
            <a:ext cx="9906000" cy="523220"/>
          </a:xfrm>
          <a:prstGeom prst="rect">
            <a:avLst/>
          </a:prstGeom>
          <a:noFill/>
          <a:ln>
            <a:solidFill>
              <a:schemeClr val="tx1"/>
            </a:solidFill>
          </a:ln>
        </p:spPr>
        <p:txBody>
          <a:bodyPr wrap="square" rtlCol="0">
            <a:spAutoFit/>
          </a:bodyPr>
          <a:lstStyle/>
          <a:p>
            <a:pPr marL="0" marR="0" lvl="0" indent="0" algn="ctr" defTabSz="914400" rtl="0" eaLnBrk="1" fontAlgn="t"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0000"/>
                </a:solidFill>
                <a:effectLst/>
                <a:uLnTx/>
                <a:uFillTx/>
                <a:latin typeface="Calibri"/>
                <a:ea typeface="+mn-ea"/>
                <a:cs typeface="+mn-cs"/>
              </a:rPr>
              <a:t>Next Monthly Meeting</a:t>
            </a:r>
            <a:r>
              <a:rPr kumimoji="0" lang="en-US" sz="2800" b="0" i="0" u="none" strike="noStrike" kern="1200" cap="none" spc="0" normalizeH="0" baseline="0" noProof="0" dirty="0">
                <a:ln>
                  <a:noFill/>
                </a:ln>
                <a:solidFill>
                  <a:srgbClr val="000000"/>
                </a:solidFill>
                <a:effectLst/>
                <a:uLnTx/>
                <a:uFillTx/>
                <a:latin typeface="Calibri"/>
                <a:ea typeface="+mn-ea"/>
                <a:cs typeface="+mn-cs"/>
              </a:rPr>
              <a:t>: </a:t>
            </a:r>
            <a:r>
              <a:rPr kumimoji="0" lang="en-US" sz="2800" b="1" i="0" u="none" strike="noStrike" kern="1200" cap="none" spc="0" normalizeH="0" baseline="0" noProof="0" dirty="0">
                <a:ln>
                  <a:noFill/>
                </a:ln>
                <a:solidFill>
                  <a:srgbClr val="000000"/>
                </a:solidFill>
                <a:effectLst/>
                <a:uLnTx/>
                <a:uFillTx/>
                <a:latin typeface="Calibri"/>
                <a:ea typeface="+mn-ea"/>
                <a:cs typeface="+mn-cs"/>
              </a:rPr>
              <a:t>Wed, Feb 12, 2025</a:t>
            </a:r>
            <a:endParaRPr kumimoji="0" lang="en-US" sz="2400" b="0" i="0" u="none" strike="noStrike" kern="1200" cap="none" spc="0" normalizeH="0" baseline="0" noProof="0" dirty="0">
              <a:ln>
                <a:noFill/>
              </a:ln>
              <a:solidFill>
                <a:srgbClr val="000000"/>
              </a:solidFill>
              <a:effectLst/>
              <a:uLnTx/>
              <a:uFillTx/>
              <a:latin typeface="Calibri"/>
              <a:ea typeface="+mn-ea"/>
              <a:cs typeface="+mn-cs"/>
            </a:endParaRPr>
          </a:p>
        </p:txBody>
      </p:sp>
      <p:sp>
        <p:nvSpPr>
          <p:cNvPr id="2" name="Title 1"/>
          <p:cNvSpPr>
            <a:spLocks noGrp="1"/>
          </p:cNvSpPr>
          <p:nvPr>
            <p:ph type="title"/>
          </p:nvPr>
        </p:nvSpPr>
        <p:spPr>
          <a:xfrm>
            <a:off x="685800" y="281878"/>
            <a:ext cx="10058400" cy="1450757"/>
          </a:xfrm>
        </p:spPr>
        <p:txBody>
          <a:bodyPr/>
          <a:lstStyle/>
          <a:p>
            <a:r>
              <a:rPr lang="en-US" b="1" dirty="0">
                <a:solidFill>
                  <a:schemeClr val="tx1"/>
                </a:solidFill>
              </a:rPr>
              <a:t>Way Ahead</a:t>
            </a:r>
            <a:endParaRPr lang="en-US" b="1" dirty="0">
              <a:solidFill>
                <a:srgbClr val="FF0000"/>
              </a:solidFill>
            </a:endParaRPr>
          </a:p>
        </p:txBody>
      </p:sp>
      <p:sp>
        <p:nvSpPr>
          <p:cNvPr id="8" name="Content Placeholder 7">
            <a:extLst>
              <a:ext uri="{FF2B5EF4-FFF2-40B4-BE49-F238E27FC236}">
                <a16:creationId xmlns:a16="http://schemas.microsoft.com/office/drawing/2014/main" id="{67948E9D-9708-DEA1-778A-9DA4123EC2C3}"/>
              </a:ext>
            </a:extLst>
          </p:cNvPr>
          <p:cNvSpPr>
            <a:spLocks noGrp="1"/>
          </p:cNvSpPr>
          <p:nvPr>
            <p:ph idx="1"/>
          </p:nvPr>
        </p:nvSpPr>
        <p:spPr>
          <a:xfrm>
            <a:off x="715709" y="1969383"/>
            <a:ext cx="10469880" cy="3593217"/>
          </a:xfrm>
        </p:spPr>
        <p:txBody>
          <a:bodyPr>
            <a:normAutofit lnSpcReduction="10000"/>
          </a:bodyPr>
          <a:lstStyle/>
          <a:p>
            <a:pPr>
              <a:buFont typeface="Wingdings" panose="05000000000000000000" pitchFamily="2" charset="2"/>
              <a:buChar char="§"/>
            </a:pPr>
            <a:r>
              <a:rPr lang="en-US" sz="2400" dirty="0"/>
              <a:t> Complete training for new INCOSE WMA chapter officers (Dr. Soo)</a:t>
            </a:r>
          </a:p>
          <a:p>
            <a:pPr>
              <a:buFont typeface="Wingdings" panose="05000000000000000000" pitchFamily="2" charset="2"/>
              <a:buChar char="§"/>
            </a:pPr>
            <a:r>
              <a:rPr lang="en-US" sz="2400" dirty="0"/>
              <a:t> Collaborate and complete Strategic Plan for 2025 (</a:t>
            </a:r>
            <a:r>
              <a:rPr lang="en-US" sz="2400" dirty="0" err="1"/>
              <a:t>BoD</a:t>
            </a:r>
            <a:r>
              <a:rPr lang="en-US" sz="2400" dirty="0"/>
              <a:t>)</a:t>
            </a:r>
          </a:p>
          <a:p>
            <a:pPr>
              <a:buFont typeface="Wingdings" panose="05000000000000000000" pitchFamily="2" charset="2"/>
              <a:buChar char="§"/>
            </a:pPr>
            <a:r>
              <a:rPr lang="en-US" sz="2400" dirty="0"/>
              <a:t> Document and Discuss Lessons Learned from 2024 (</a:t>
            </a:r>
            <a:r>
              <a:rPr lang="en-US" sz="2400" dirty="0" err="1"/>
              <a:t>BoD</a:t>
            </a:r>
            <a:r>
              <a:rPr lang="en-US" sz="2400" dirty="0"/>
              <a:t>)</a:t>
            </a:r>
          </a:p>
          <a:p>
            <a:pPr>
              <a:buFont typeface="Wingdings" panose="05000000000000000000" pitchFamily="2" charset="2"/>
              <a:buChar char="§"/>
            </a:pPr>
            <a:r>
              <a:rPr lang="en-US" sz="2400" dirty="0"/>
              <a:t> Continue to engage with INCOSE WMA Student Chapters</a:t>
            </a:r>
          </a:p>
          <a:p>
            <a:pPr lvl="1">
              <a:buFont typeface="Courier New" panose="02070309020205020404" pitchFamily="49" charset="0"/>
              <a:buChar char="o"/>
            </a:pPr>
            <a:r>
              <a:rPr lang="en-US" sz="2200" dirty="0"/>
              <a:t>Work with UVA to form a student chapter (Gary T.)</a:t>
            </a:r>
          </a:p>
          <a:p>
            <a:pPr lvl="1">
              <a:buFont typeface="Courier New" panose="02070309020205020404" pitchFamily="49" charset="0"/>
              <a:buChar char="o"/>
            </a:pPr>
            <a:r>
              <a:rPr lang="en-US" sz="2200" dirty="0"/>
              <a:t>Engage and establish INCOSE WMA Student Chapters with Howard University, Morgan State University, University of MD (Dr. Studevent)</a:t>
            </a:r>
          </a:p>
          <a:p>
            <a:pPr>
              <a:buFont typeface="Wingdings" panose="05000000000000000000" pitchFamily="2" charset="2"/>
              <a:buChar char="§"/>
            </a:pPr>
            <a:r>
              <a:rPr lang="en-US" sz="2400" dirty="0"/>
              <a:t>  Establish an INCOSE WMA working group for the 2025 GMUs Andrew P. Sage Systems Engineering Research Competition  (Leader-TBD)</a:t>
            </a:r>
          </a:p>
        </p:txBody>
      </p:sp>
      <p:sp>
        <p:nvSpPr>
          <p:cNvPr id="4" name="Footer Placeholder 5">
            <a:extLst>
              <a:ext uri="{FF2B5EF4-FFF2-40B4-BE49-F238E27FC236}">
                <a16:creationId xmlns:a16="http://schemas.microsoft.com/office/drawing/2014/main" id="{17426CB9-5130-3C75-BD2C-207E38C4DCB4}"/>
              </a:ext>
            </a:extLst>
          </p:cNvPr>
          <p:cNvSpPr>
            <a:spLocks noGrp="1"/>
          </p:cNvSpPr>
          <p:nvPr>
            <p:ph type="ftr" sz="quarter" idx="11"/>
          </p:nvPr>
        </p:nvSpPr>
        <p:spPr>
          <a:xfrm>
            <a:off x="3686185" y="6459785"/>
            <a:ext cx="4822804" cy="365125"/>
          </a:xfrm>
        </p:spPr>
        <p:txBody>
          <a:bodyPr/>
          <a:lstStyle/>
          <a:p>
            <a:r>
              <a:rPr lang="en-US" dirty="0"/>
              <a:t>INCOSE WMA 2025 PROGRAM Meeting</a:t>
            </a: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5D3B7874C8BC54988A903C43E8E1AD5" ma:contentTypeVersion="16" ma:contentTypeDescription="Create a new document." ma:contentTypeScope="" ma:versionID="51edc304cf485b1048a913417ff6fa37">
  <xsd:schema xmlns:xsd="http://www.w3.org/2001/XMLSchema" xmlns:xs="http://www.w3.org/2001/XMLSchema" xmlns:p="http://schemas.microsoft.com/office/2006/metadata/properties" xmlns:ns3="77229ce7-90af-40af-b032-e56d214cabbb" xmlns:ns4="e6ea882e-14c4-4222-b2a8-87c969497312" targetNamespace="http://schemas.microsoft.com/office/2006/metadata/properties" ma:root="true" ma:fieldsID="0402d76b991619e1ad80b126ffbd7992" ns3:_="" ns4:_="">
    <xsd:import namespace="77229ce7-90af-40af-b032-e56d214cabbb"/>
    <xsd:import namespace="e6ea882e-14c4-4222-b2a8-87c96949731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229ce7-90af-40af-b032-e56d214cab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_activity" ma:index="20" nillable="true" ma:displayName="_activity" ma:hidden="true" ma:internalName="_activity">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ystemTags" ma:index="22" nillable="true" ma:displayName="MediaServiceSystemTags" ma:hidden="true" ma:internalName="MediaServiceSystemTags" ma:readOnly="true">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6ea882e-14c4-4222-b2a8-87c96949731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7229ce7-90af-40af-b032-e56d214cabbb" xsi:nil="true"/>
  </documentManagement>
</p:properties>
</file>

<file path=customXml/itemProps1.xml><?xml version="1.0" encoding="utf-8"?>
<ds:datastoreItem xmlns:ds="http://schemas.openxmlformats.org/officeDocument/2006/customXml" ds:itemID="{57C8BE98-F3EB-47CC-B9C1-B4183F34125A}">
  <ds:schemaRefs>
    <ds:schemaRef ds:uri="http://schemas.microsoft.com/sharepoint/v3/contenttype/forms"/>
  </ds:schemaRefs>
</ds:datastoreItem>
</file>

<file path=customXml/itemProps2.xml><?xml version="1.0" encoding="utf-8"?>
<ds:datastoreItem xmlns:ds="http://schemas.openxmlformats.org/officeDocument/2006/customXml" ds:itemID="{21EE94EC-F402-4B9E-ADB7-D7A1D0714FC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7229ce7-90af-40af-b032-e56d214cabbb"/>
    <ds:schemaRef ds:uri="e6ea882e-14c4-4222-b2a8-87c9694973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290864A-3F5D-4A53-8B87-3A284A648967}">
  <ds:schemaRefs>
    <ds:schemaRef ds:uri="e6ea882e-14c4-4222-b2a8-87c969497312"/>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http://purl.org/dc/terms/"/>
    <ds:schemaRef ds:uri="http://www.w3.org/XML/1998/namespace"/>
    <ds:schemaRef ds:uri="77229ce7-90af-40af-b032-e56d214cabbb"/>
    <ds:schemaRef ds:uri="http://schemas.microsoft.com/office/2006/metadata/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103433</TotalTime>
  <Words>2150</Words>
  <Application>Microsoft Office PowerPoint</Application>
  <PresentationFormat>Widescreen</PresentationFormat>
  <Paragraphs>476</Paragraphs>
  <Slides>28</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28</vt:i4>
      </vt:variant>
    </vt:vector>
  </HeadingPairs>
  <TitlesOfParts>
    <vt:vector size="41" baseType="lpstr">
      <vt:lpstr>Abadi</vt:lpstr>
      <vt:lpstr>Aptos Narrow</vt:lpstr>
      <vt:lpstr>Arial</vt:lpstr>
      <vt:lpstr>Broadway</vt:lpstr>
      <vt:lpstr>Calibri</vt:lpstr>
      <vt:lpstr>Calibri Light</vt:lpstr>
      <vt:lpstr>Courier New</vt:lpstr>
      <vt:lpstr>Helvetica</vt:lpstr>
      <vt:lpstr>Tahoma</vt:lpstr>
      <vt:lpstr>Times New Roman</vt:lpstr>
      <vt:lpstr>Verdana</vt:lpstr>
      <vt:lpstr>Wingdings</vt:lpstr>
      <vt:lpstr>Retrospect</vt:lpstr>
      <vt:lpstr>PowerPoint Presentation</vt:lpstr>
      <vt:lpstr>Welcome and Member Recognition</vt:lpstr>
      <vt:lpstr>Virtual Housekeeping</vt:lpstr>
      <vt:lpstr>President’s Message</vt:lpstr>
      <vt:lpstr>2024 WMA Board &amp; Liaisons</vt:lpstr>
      <vt:lpstr>GMU INCOSE Student Division</vt:lpstr>
      <vt:lpstr>VA Tech INCOSE Student Division</vt:lpstr>
      <vt:lpstr>GWU INCOSE Student Division</vt:lpstr>
      <vt:lpstr>Additional Volunteer Opportunities</vt:lpstr>
      <vt:lpstr>2025 BoD Induction and  Oath Taking Ceremony</vt:lpstr>
      <vt:lpstr>2025 BOD Induction  and Oath Taking  </vt:lpstr>
      <vt:lpstr>2024 BOD Induction and Oath Taking  </vt:lpstr>
      <vt:lpstr>2025 WMA Board &amp; Liaisons</vt:lpstr>
      <vt:lpstr>2024 New SEP Recognitions</vt:lpstr>
      <vt:lpstr>44 New ASEPs</vt:lpstr>
      <vt:lpstr>14 New CSEPs</vt:lpstr>
      <vt:lpstr>2 New ESEPs</vt:lpstr>
      <vt:lpstr>Certification Statistics</vt:lpstr>
      <vt:lpstr>INCOSE WMA Demographics</vt:lpstr>
      <vt:lpstr>INCOSE WMA Demographics</vt:lpstr>
      <vt:lpstr>Chapter Newsletter: Schedule</vt:lpstr>
      <vt:lpstr>2025 Program Meetings</vt:lpstr>
      <vt:lpstr>Tutorials Plan 2025</vt:lpstr>
      <vt:lpstr>2024 Holiday Party</vt:lpstr>
      <vt:lpstr>Quarter 1 (Q1) 2025  Membership Event</vt:lpstr>
      <vt:lpstr>PowerPoint Presentation</vt:lpstr>
      <vt:lpstr>PowerPoint Presentation</vt:lpstr>
      <vt:lpstr>Way Ahead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INCOSE WMA Monthly Program Meeting  November 12, 2020</dc:title>
  <dc:creator>Ruchira Puri</dc:creator>
  <cp:lastModifiedBy>Dr. Lowanda Studevent</cp:lastModifiedBy>
  <cp:revision>187</cp:revision>
  <cp:lastPrinted>2024-03-13T15:36:47Z</cp:lastPrinted>
  <dcterms:created xsi:type="dcterms:W3CDTF">2020-10-27T13:00:46Z</dcterms:created>
  <dcterms:modified xsi:type="dcterms:W3CDTF">2025-01-07T23:30:38Z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0x01010055D3B7874C8BC54988A903C43E8E1AD5</vt:lpwstr>
  </property>
</Properties>
</file>
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91" r:id="rId1"/>
    <p:sldMasterId id="2147483897" r:id="rId2"/>
  </p:sldMasterIdLst>
  <p:sldIdLst>
    <p:sldId id="256" r:id="rId3"/>
    <p:sldId id="258" r:id="rId4"/>
    <p:sldId id="259" r:id="rId5"/>
    <p:sldId id="262" r:id="rId6"/>
    <p:sldId id="267" r:id="rId7"/>
    <p:sldId id="265" r:id="rId8"/>
    <p:sldId id="260" r:id="rId9"/>
  </p:sldIdLst>
  <p:sldSz cx="9144000" cy="6858000" type="letter"/>
  <p:notesSz cx="7102475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5pPr>
    <a:lvl6pPr marL="22860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6pPr>
    <a:lvl7pPr marL="27432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7pPr>
    <a:lvl8pPr marL="32004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8pPr>
    <a:lvl9pPr marL="36576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9835" autoAdjust="0"/>
  </p:normalViewPr>
  <p:slideViewPr>
    <p:cSldViewPr snapToGrid="0" snapToObjects="1">
      <p:cViewPr varScale="1">
        <p:scale>
          <a:sx n="128" d="100"/>
          <a:sy n="128" d="100"/>
        </p:scale>
        <p:origin x="17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55674"/>
            <a:ext cx="7772400" cy="523220"/>
          </a:xfrm>
        </p:spPr>
        <p:txBody>
          <a:bodyPr anchor="t"/>
          <a:lstStyle>
            <a:lvl1pPr algn="l">
              <a:defRPr sz="2800" b="1" cap="all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655495"/>
            <a:ext cx="7772400" cy="1500187"/>
          </a:xfrm>
          <a:prstGeom prst="rect">
            <a:avLst/>
          </a:prstGeom>
        </p:spPr>
        <p:txBody>
          <a:bodyPr lIns="91402" tIns="45702" rIns="91402" bIns="45702" anchor="b"/>
          <a:lstStyle>
            <a:lvl1pPr marL="0" indent="0">
              <a:buNone/>
              <a:defRPr sz="4000">
                <a:solidFill>
                  <a:srgbClr val="552200"/>
                </a:solidFill>
              </a:defRPr>
            </a:lvl1pPr>
            <a:lvl2pPr marL="457011" indent="0">
              <a:buNone/>
              <a:defRPr sz="1800"/>
            </a:lvl2pPr>
            <a:lvl3pPr marL="914024" indent="0">
              <a:buNone/>
              <a:defRPr sz="1600"/>
            </a:lvl3pPr>
            <a:lvl4pPr marL="1371040" indent="0">
              <a:buNone/>
              <a:defRPr sz="1400"/>
            </a:lvl4pPr>
            <a:lvl5pPr marL="1828052" indent="0">
              <a:buNone/>
              <a:defRPr sz="1400"/>
            </a:lvl5pPr>
            <a:lvl6pPr marL="2285064" indent="0">
              <a:buNone/>
              <a:defRPr sz="1400"/>
            </a:lvl6pPr>
            <a:lvl7pPr marL="2742079" indent="0">
              <a:buNone/>
              <a:defRPr sz="1400"/>
            </a:lvl7pPr>
            <a:lvl8pPr marL="3199088" indent="0">
              <a:buNone/>
              <a:defRPr sz="1400"/>
            </a:lvl8pPr>
            <a:lvl9pPr marL="3656104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47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veg logo v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25" y="606425"/>
            <a:ext cx="5413375" cy="12176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0" y="5959475"/>
            <a:ext cx="3070225" cy="898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l">
              <a:buFontTx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2955405"/>
            <a:ext cx="5570525" cy="553998"/>
          </a:xfrm>
        </p:spPr>
        <p:txBody>
          <a:bodyPr/>
          <a:lstStyle>
            <a:lvl1pPr algn="l">
              <a:defRPr sz="3000" b="1">
                <a:solidFill>
                  <a:srgbClr val="5522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1" y="3959353"/>
            <a:ext cx="5570525" cy="1773936"/>
          </a:xfrm>
          <a:prstGeom prst="rect">
            <a:avLst/>
          </a:prstGeom>
        </p:spPr>
        <p:txBody>
          <a:bodyPr lIns="91402" tIns="45702" rIns="91402" bIns="45702">
            <a:normAutofit/>
          </a:bodyPr>
          <a:lstStyle>
            <a:lvl1pPr marL="0" indent="0" algn="l">
              <a:buNone/>
              <a:defRPr sz="1600" b="1">
                <a:solidFill>
                  <a:srgbClr val="7F7F7F"/>
                </a:solidFill>
                <a:latin typeface="Arial" pitchFamily="34" charset="0"/>
                <a:cs typeface="Arial" pitchFamily="34" charset="0"/>
              </a:defRPr>
            </a:lvl1pPr>
            <a:lvl2pPr marL="457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0909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301" y="1670050"/>
            <a:ext cx="4061196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4548256" y="1670050"/>
            <a:ext cx="4138551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9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31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238" y="349250"/>
            <a:ext cx="7158037" cy="4603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31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730375"/>
            <a:ext cx="9144000" cy="215900"/>
          </a:xfrm>
          <a:prstGeom prst="rect">
            <a:avLst/>
          </a:prstGeom>
          <a:gradFill rotWithShape="0">
            <a:gsLst>
              <a:gs pos="0">
                <a:srgbClr val="E8E8E8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2" tIns="45702" rIns="91402" bIns="45702" anchor="ctr">
            <a:spAutoFit/>
          </a:bodyPr>
          <a:lstStyle/>
          <a:p>
            <a:endParaRPr 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38238" y="349250"/>
            <a:ext cx="7158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02" tIns="45702" rIns="91402" bIns="4570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8458200" y="6397625"/>
            <a:ext cx="68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02" rIns="0" bIns="45702" anchor="ctr"/>
          <a:lstStyle/>
          <a:p>
            <a:pPr>
              <a:buFontTx/>
              <a:buNone/>
            </a:pPr>
            <a:fld id="{FD8812A5-7706-AF45-9670-B8F2030C16DF}" type="slidenum">
              <a:rPr lang="en-US" sz="2000">
                <a:solidFill>
                  <a:srgbClr val="552200"/>
                </a:solidFill>
              </a:rPr>
              <a:pPr>
                <a:buFontTx/>
                <a:buNone/>
              </a:pPr>
              <a:t>‹#›</a:t>
            </a:fld>
            <a:endParaRPr lang="en-US" sz="2000">
              <a:solidFill>
                <a:srgbClr val="552200"/>
              </a:solidFill>
            </a:endParaRPr>
          </a:p>
        </p:txBody>
      </p:sp>
      <p:sp>
        <p:nvSpPr>
          <p:cNvPr id="1029" name="Content Placeholder 2"/>
          <p:cNvSpPr txBox="1">
            <a:spLocks/>
          </p:cNvSpPr>
          <p:nvPr/>
        </p:nvSpPr>
        <p:spPr bwMode="auto">
          <a:xfrm>
            <a:off x="368300" y="1670050"/>
            <a:ext cx="8318500" cy="4425950"/>
          </a:xfrm>
          <a:prstGeom prst="rect">
            <a:avLst/>
          </a:prstGeom>
          <a:noFill/>
          <a:ln>
            <a:noFill/>
          </a:ln>
        </p:spPr>
        <p:txBody>
          <a:bodyPr lIns="91402" tIns="45702" rIns="91402" bIns="45702"/>
          <a:lstStyle>
            <a:lvl1pPr marL="342900" indent="-3429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en-US" sz="1400" b="0" dirty="0">
              <a:solidFill>
                <a:srgbClr val="262626"/>
              </a:solidFill>
              <a:ea typeface="ＭＳ Ｐゴシック" pitchFamily="34" charset="-128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0" y="1033995"/>
            <a:ext cx="9144000" cy="1076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02" tIns="45702" rIns="91402" bIns="45702" anchor="ctr">
            <a:spAutoFit/>
          </a:bodyPr>
          <a:lstStyle/>
          <a:p>
            <a:pPr>
              <a:defRPr/>
            </a:pPr>
            <a:endParaRPr lang="en-US" sz="100" dirty="0">
              <a:solidFill>
                <a:schemeClr val="bg1"/>
              </a:solidFill>
            </a:endParaRPr>
          </a:p>
        </p:txBody>
      </p:sp>
      <p:pic>
        <p:nvPicPr>
          <p:cNvPr id="1033" name="Picture 3" descr="veg logo v5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6025"/>
            <a:ext cx="2449513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5pPr>
      <a:lvl6pPr marL="457011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6pPr>
      <a:lvl7pPr marL="914024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7pPr>
      <a:lvl8pPr marL="137104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8pPr>
      <a:lvl9pPr marL="1828052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9pPr>
    </p:titleStyle>
    <p:bodyStyle>
      <a:lvl1pPr marL="339725" indent="-339725" algn="l" rtl="0" eaLnBrk="1" fontAlgn="base" hangingPunct="1">
        <a:spcBef>
          <a:spcPct val="20000"/>
        </a:spcBef>
        <a:spcAft>
          <a:spcPct val="0"/>
        </a:spcAft>
        <a:buFont typeface="Wingdings" charset="0"/>
        <a:buChar char="•"/>
        <a:defRPr sz="1600"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39775" indent="-280988" algn="l" rtl="0" eaLnBrk="1" fontAlgn="base" hangingPunct="1">
        <a:spcBef>
          <a:spcPct val="20000"/>
        </a:spcBef>
        <a:spcAft>
          <a:spcPct val="0"/>
        </a:spcAft>
        <a:buClr>
          <a:srgbClr val="FD9712"/>
        </a:buClr>
        <a:buFont typeface="Wingdings" charset="0"/>
        <a:buChar char="§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2pPr>
      <a:lvl3pPr marL="1138238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Arial" charset="0"/>
        <a:buChar char="»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4pPr>
      <a:lvl5pPr marL="20542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5pPr>
      <a:lvl6pPr marL="2513573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6pPr>
      <a:lvl7pPr marL="2970584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7pPr>
      <a:lvl8pPr marL="3427598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8pPr>
      <a:lvl9pPr marL="3884609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11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2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52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6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79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88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10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Engineering Primer</a:t>
            </a:r>
          </a:p>
        </p:txBody>
      </p:sp>
    </p:spTree>
    <p:extLst>
      <p:ext uri="{BB962C8B-B14F-4D97-AF65-F5344CB8AC3E}">
        <p14:creationId xmlns:p14="http://schemas.microsoft.com/office/powerpoint/2010/main" val="3101258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226" y="349250"/>
            <a:ext cx="7680049" cy="460375"/>
          </a:xfrm>
        </p:spPr>
        <p:txBody>
          <a:bodyPr/>
          <a:lstStyle/>
          <a:p>
            <a:pPr algn="l"/>
            <a:r>
              <a:rPr lang="en-US" sz="3200" dirty="0"/>
              <a:t>Current State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86BB73A-582F-4420-9A14-CB10A2B2E5E8}" type="slidenum">
              <a:rPr lang="en-US" smtClean="0"/>
              <a:t>2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Today requirements are :</a:t>
            </a:r>
          </a:p>
          <a:p>
            <a:pPr lvl="1"/>
            <a:r>
              <a:rPr lang="en-US" b="0" dirty="0"/>
              <a:t>drafted as documents</a:t>
            </a:r>
          </a:p>
          <a:p>
            <a:pPr lvl="1"/>
            <a:r>
              <a:rPr lang="en-US" b="0" dirty="0"/>
              <a:t>translated into artifacts</a:t>
            </a:r>
          </a:p>
          <a:p>
            <a:pPr lvl="1"/>
            <a:r>
              <a:rPr lang="en-US" b="0" dirty="0"/>
              <a:t>decomposed into features</a:t>
            </a:r>
          </a:p>
          <a:p>
            <a:pPr lvl="1"/>
            <a:r>
              <a:rPr lang="en-US" b="0" dirty="0"/>
              <a:t>captured in doc objects, spreadsheets, and models</a:t>
            </a:r>
          </a:p>
          <a:p>
            <a:pPr lvl="1"/>
            <a:endParaRPr lang="en-US" b="0" dirty="0"/>
          </a:p>
          <a:p>
            <a:r>
              <a:rPr lang="en-US" b="0" dirty="0"/>
              <a:t>Some challenges include :</a:t>
            </a:r>
          </a:p>
          <a:p>
            <a:pPr lvl="1"/>
            <a:r>
              <a:rPr lang="en-US" b="0" dirty="0"/>
              <a:t>subject to interpretation</a:t>
            </a:r>
          </a:p>
          <a:p>
            <a:pPr lvl="1"/>
            <a:r>
              <a:rPr lang="en-US" b="0" dirty="0"/>
              <a:t>not easily reused or repurposed</a:t>
            </a:r>
          </a:p>
          <a:p>
            <a:pPr lvl="1"/>
            <a:r>
              <a:rPr lang="en-US" b="0" dirty="0"/>
              <a:t>difficult to achieve consistency </a:t>
            </a:r>
          </a:p>
          <a:p>
            <a:pPr lvl="1"/>
            <a:r>
              <a:rPr lang="en-US" b="0" dirty="0"/>
              <a:t>quickly becomes irrelevant (shelf-ware)</a:t>
            </a:r>
          </a:p>
        </p:txBody>
      </p:sp>
    </p:spTree>
    <p:extLst>
      <p:ext uri="{BB962C8B-B14F-4D97-AF65-F5344CB8AC3E}">
        <p14:creationId xmlns:p14="http://schemas.microsoft.com/office/powerpoint/2010/main" val="369917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566" y="349250"/>
            <a:ext cx="7898710" cy="460375"/>
          </a:xfrm>
        </p:spPr>
        <p:txBody>
          <a:bodyPr/>
          <a:lstStyle/>
          <a:p>
            <a:pPr algn="l"/>
            <a:r>
              <a:rPr lang="en-US" sz="3200" dirty="0"/>
              <a:t>Future State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86BB73A-582F-4420-9A14-CB10A2B2E5E8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20040" y="1143000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Tomorrow requirements could be :</a:t>
            </a:r>
          </a:p>
          <a:p>
            <a:pPr lvl="1"/>
            <a:r>
              <a:rPr lang="en-US" b="0" dirty="0"/>
              <a:t>drafted as capabilities and features which are aligned with services (business &amp; infrastructure)</a:t>
            </a:r>
          </a:p>
          <a:p>
            <a:pPr lvl="1"/>
            <a:r>
              <a:rPr lang="en-US" b="0" dirty="0"/>
              <a:t>captured as business rules, metadata, metrics, and function points within rules libraries, metadata repository, process models, and analytics models </a:t>
            </a:r>
          </a:p>
          <a:p>
            <a:pPr lvl="1"/>
            <a:endParaRPr lang="en-US" b="0" dirty="0"/>
          </a:p>
          <a:p>
            <a:r>
              <a:rPr lang="en-US" b="0" dirty="0"/>
              <a:t>Some of the benefits may include :</a:t>
            </a:r>
          </a:p>
          <a:p>
            <a:pPr lvl="1"/>
            <a:r>
              <a:rPr lang="en-US" b="0" dirty="0"/>
              <a:t>reuse of requirements (all levels of granularity)</a:t>
            </a:r>
          </a:p>
          <a:p>
            <a:pPr lvl="1"/>
            <a:r>
              <a:rPr lang="en-US" b="0" dirty="0"/>
              <a:t>high degree of consistency, relevancy, and usability</a:t>
            </a:r>
          </a:p>
          <a:p>
            <a:pPr lvl="1"/>
            <a:r>
              <a:rPr lang="en-US" b="0" dirty="0"/>
              <a:t>Requirements become part of the solution (subject to version management &amp; part of configuration mgmt.)</a:t>
            </a:r>
          </a:p>
        </p:txBody>
      </p:sp>
    </p:spTree>
    <p:extLst>
      <p:ext uri="{BB962C8B-B14F-4D97-AF65-F5344CB8AC3E}">
        <p14:creationId xmlns:p14="http://schemas.microsoft.com/office/powerpoint/2010/main" val="1355506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140" y="349250"/>
            <a:ext cx="7829136" cy="460375"/>
          </a:xfrm>
        </p:spPr>
        <p:txBody>
          <a:bodyPr/>
          <a:lstStyle/>
          <a:p>
            <a:pPr algn="l"/>
            <a:r>
              <a:rPr lang="en-US" sz="3200" dirty="0"/>
              <a:t>Project Artifacts to Operational Guidance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86BB73A-582F-4420-9A14-CB10A2B2E5E8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/>
              <a:t>Metrics are used for verification and validation to ensure quality of projects (across their lifecycle) are used to:</a:t>
            </a:r>
          </a:p>
          <a:p>
            <a:pPr lvl="1"/>
            <a:r>
              <a:rPr lang="en-US" b="0" dirty="0"/>
              <a:t>control tolerances for all categories of requirements (all levels of granularity) for products, services, and operations across their lifecycles (while in service)</a:t>
            </a:r>
          </a:p>
          <a:p>
            <a:pPr marL="274320" lvl="1" indent="0">
              <a:buNone/>
            </a:pPr>
            <a:endParaRPr lang="en-US" b="0" dirty="0"/>
          </a:p>
          <a:p>
            <a:r>
              <a:rPr lang="en-US" b="0" dirty="0"/>
              <a:t>Success Criteria are acceptable thresholds of performance covering (but not limited to):</a:t>
            </a:r>
          </a:p>
          <a:p>
            <a:pPr lvl="1"/>
            <a:r>
              <a:rPr lang="en-US" b="0" dirty="0"/>
              <a:t>projects &amp; test plans (all types of testing)</a:t>
            </a:r>
          </a:p>
          <a:p>
            <a:pPr lvl="1"/>
            <a:r>
              <a:rPr lang="en-US" b="0" dirty="0"/>
              <a:t>control charts and certifications</a:t>
            </a:r>
          </a:p>
          <a:p>
            <a:pPr lvl="1"/>
            <a:r>
              <a:rPr lang="en-US" b="0" dirty="0"/>
              <a:t>products &amp; services</a:t>
            </a:r>
          </a:p>
        </p:txBody>
      </p:sp>
    </p:spTree>
    <p:extLst>
      <p:ext uri="{BB962C8B-B14F-4D97-AF65-F5344CB8AC3E}">
        <p14:creationId xmlns:p14="http://schemas.microsoft.com/office/powerpoint/2010/main" val="837631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D499-2614-AA44-80DE-94F5FDFE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49250"/>
            <a:ext cx="7858953" cy="460375"/>
          </a:xfrm>
        </p:spPr>
        <p:txBody>
          <a:bodyPr anchor="ctr"/>
          <a:lstStyle/>
          <a:p>
            <a:pPr algn="l"/>
            <a:r>
              <a:rPr lang="en-US" sz="3200" dirty="0"/>
              <a:t>Requirements At Scale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191CE9-A14F-734C-A550-8DDD202D3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3853"/>
            <a:ext cx="9144000" cy="43702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E6BB02-43ED-3343-8367-0E7F3B8ACF25}"/>
              </a:ext>
            </a:extLst>
          </p:cNvPr>
          <p:cNvSpPr txBox="1"/>
          <p:nvPr/>
        </p:nvSpPr>
        <p:spPr>
          <a:xfrm>
            <a:off x="1065907" y="5871690"/>
            <a:ext cx="7159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Note: The MDR (metadata repository) contains the taxonomies and ontologies for which all requirements must adhere (semantic mappings support all POVs)  </a:t>
            </a:r>
          </a:p>
        </p:txBody>
      </p:sp>
    </p:spTree>
    <p:extLst>
      <p:ext uri="{BB962C8B-B14F-4D97-AF65-F5344CB8AC3E}">
        <p14:creationId xmlns:p14="http://schemas.microsoft.com/office/powerpoint/2010/main" val="108882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7441"/>
            <a:ext cx="7886700" cy="421550"/>
          </a:xfrm>
        </p:spPr>
        <p:txBody>
          <a:bodyPr>
            <a:noAutofit/>
          </a:bodyPr>
          <a:lstStyle/>
          <a:p>
            <a:r>
              <a:rPr lang="en-US" sz="2000" dirty="0"/>
              <a:t>Model-Driven Design Starts with Aligning WHY, WHAT, &amp; 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776" y="5628164"/>
            <a:ext cx="8473195" cy="10425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b="1" dirty="0"/>
              <a:t>Requirements are framed and aligned using business architecture to ensure they address the perspectives (POVs).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b="1" dirty="0"/>
              <a:t>When requirements are properly framed, they align strategy and execution to ensure the right value is delivered through the products and services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b="1" dirty="0"/>
              <a:t>Business architecture provides a consistent framework for aligning what customers want against what the organization provides as well as driving continuous improvement in value delivery (by closing the right value &amp; capability gaps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6" y="598991"/>
            <a:ext cx="8296364" cy="502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03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S–IPO-C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104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86BB73A-582F-4420-9A14-CB10A2B2E5E8}" type="slidenum">
              <a:rPr lang="en-US" smtClean="0"/>
              <a:t>7</a:t>
            </a:fld>
            <a:endParaRPr lang="en-US"/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84163" y="1392248"/>
            <a:ext cx="2701925" cy="508000"/>
          </a:xfrm>
          <a:prstGeom prst="flowChartAlternateProcess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1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nputs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3211513" y="1392248"/>
            <a:ext cx="2701925" cy="508000"/>
          </a:xfrm>
          <a:prstGeom prst="flowChartAlternateProcess">
            <a:avLst/>
          </a:prstGeom>
          <a:solidFill>
            <a:srgbClr val="FFFF66"/>
          </a:solidFill>
          <a:ln>
            <a:headEnd/>
            <a:tailEnd/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US" sz="18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rocessing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6138863" y="1379548"/>
            <a:ext cx="2701925" cy="508000"/>
          </a:xfrm>
          <a:prstGeom prst="flowChartAlternateProcess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buNone/>
            </a:pPr>
            <a:r>
              <a:rPr lang="en-US" sz="1800" b="1" u="sng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</a:t>
            </a:r>
            <a:r>
              <a:rPr lang="en-US" sz="1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utputs</a:t>
            </a:r>
          </a:p>
        </p:txBody>
      </p:sp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6138863" y="20272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1) List of Prioritized Features</a:t>
            </a:r>
          </a:p>
        </p:txBody>
      </p:sp>
      <p:sp>
        <p:nvSpPr>
          <p:cNvPr id="8" name="AutoShape 9"/>
          <p:cNvSpPr>
            <a:spLocks noChangeArrowheads="1"/>
          </p:cNvSpPr>
          <p:nvPr/>
        </p:nvSpPr>
        <p:spPr bwMode="auto">
          <a:xfrm>
            <a:off x="6138863" y="22558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2) Features by Magnitude </a:t>
            </a:r>
          </a:p>
        </p:txBody>
      </p:sp>
      <p:sp>
        <p:nvSpPr>
          <p:cNvPr id="9" name="AutoShape 10"/>
          <p:cNvSpPr>
            <a:spLocks noChangeArrowheads="1"/>
          </p:cNvSpPr>
          <p:nvPr/>
        </p:nvSpPr>
        <p:spPr bwMode="auto">
          <a:xfrm>
            <a:off x="3225800" y="20272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1) ID Skills / Resources</a:t>
            </a:r>
          </a:p>
        </p:txBody>
      </p:sp>
      <p:sp>
        <p:nvSpPr>
          <p:cNvPr id="10" name="AutoShape 24"/>
          <p:cNvSpPr>
            <a:spLocks noChangeArrowheads="1"/>
          </p:cNvSpPr>
          <p:nvPr/>
        </p:nvSpPr>
        <p:spPr bwMode="auto">
          <a:xfrm>
            <a:off x="3225800" y="2239973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2) Training on Req. Proc/Method.</a:t>
            </a:r>
          </a:p>
        </p:txBody>
      </p:sp>
      <p:sp>
        <p:nvSpPr>
          <p:cNvPr id="11" name="AutoShape 25"/>
          <p:cNvSpPr>
            <a:spLocks noChangeArrowheads="1"/>
          </p:cNvSpPr>
          <p:nvPr/>
        </p:nvSpPr>
        <p:spPr bwMode="auto">
          <a:xfrm>
            <a:off x="3225800" y="2463810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3) Common Document Template</a:t>
            </a:r>
          </a:p>
        </p:txBody>
      </p:sp>
      <p:sp>
        <p:nvSpPr>
          <p:cNvPr id="12" name="AutoShape 26"/>
          <p:cNvSpPr>
            <a:spLocks noChangeArrowheads="1"/>
          </p:cNvSpPr>
          <p:nvPr/>
        </p:nvSpPr>
        <p:spPr bwMode="auto">
          <a:xfrm>
            <a:off x="3225800" y="26876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4) Publish Glossary</a:t>
            </a:r>
          </a:p>
        </p:txBody>
      </p:sp>
      <p:sp>
        <p:nvSpPr>
          <p:cNvPr id="13" name="AutoShape 27"/>
          <p:cNvSpPr>
            <a:spLocks noChangeArrowheads="1"/>
          </p:cNvSpPr>
          <p:nvPr/>
        </p:nvSpPr>
        <p:spPr bwMode="auto">
          <a:xfrm>
            <a:off x="284163" y="20272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latin typeface="Arial" pitchFamily="34" charset="0"/>
                <a:cs typeface="Arial" pitchFamily="34" charset="0"/>
              </a:rPr>
              <a:t>1) Sample reports</a:t>
            </a:r>
          </a:p>
        </p:txBody>
      </p:sp>
      <p:sp>
        <p:nvSpPr>
          <p:cNvPr id="14" name="AutoShape 28"/>
          <p:cNvSpPr>
            <a:spLocks noChangeArrowheads="1"/>
          </p:cNvSpPr>
          <p:nvPr/>
        </p:nvSpPr>
        <p:spPr bwMode="auto">
          <a:xfrm>
            <a:off x="284163" y="22431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latin typeface="Arial" pitchFamily="34" charset="0"/>
                <a:cs typeface="Arial" pitchFamily="34" charset="0"/>
              </a:rPr>
              <a:t>2) Prototypes</a:t>
            </a:r>
          </a:p>
        </p:txBody>
      </p:sp>
      <p:sp>
        <p:nvSpPr>
          <p:cNvPr id="15" name="AutoShape 29"/>
          <p:cNvSpPr>
            <a:spLocks noChangeArrowheads="1"/>
          </p:cNvSpPr>
          <p:nvPr/>
        </p:nvSpPr>
        <p:spPr bwMode="auto">
          <a:xfrm>
            <a:off x="284163" y="24590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latin typeface="Arial" pitchFamily="34" charset="0"/>
                <a:cs typeface="Arial" pitchFamily="34" charset="0"/>
              </a:rPr>
              <a:t>3) Screen Mock-ups</a:t>
            </a:r>
          </a:p>
        </p:txBody>
      </p:sp>
      <p:sp>
        <p:nvSpPr>
          <p:cNvPr id="16" name="AutoShape 30"/>
          <p:cNvSpPr>
            <a:spLocks noChangeArrowheads="1"/>
          </p:cNvSpPr>
          <p:nvPr/>
        </p:nvSpPr>
        <p:spPr bwMode="auto">
          <a:xfrm>
            <a:off x="284163" y="26749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latin typeface="Arial" pitchFamily="34" charset="0"/>
                <a:cs typeface="Arial" pitchFamily="34" charset="0"/>
              </a:rPr>
              <a:t>4) ID Bus. Problem/Need</a:t>
            </a:r>
          </a:p>
        </p:txBody>
      </p:sp>
      <p:sp>
        <p:nvSpPr>
          <p:cNvPr id="17" name="AutoShape 31"/>
          <p:cNvSpPr>
            <a:spLocks noChangeArrowheads="1"/>
          </p:cNvSpPr>
          <p:nvPr/>
        </p:nvSpPr>
        <p:spPr bwMode="auto">
          <a:xfrm>
            <a:off x="284163" y="28908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latin typeface="Arial" pitchFamily="34" charset="0"/>
                <a:cs typeface="Arial" pitchFamily="34" charset="0"/>
              </a:rPr>
              <a:t>5) What is client trying to solve?</a:t>
            </a:r>
          </a:p>
        </p:txBody>
      </p:sp>
      <p:sp>
        <p:nvSpPr>
          <p:cNvPr id="18" name="AutoShape 32"/>
          <p:cNvSpPr>
            <a:spLocks noChangeArrowheads="1"/>
          </p:cNvSpPr>
          <p:nvPr/>
        </p:nvSpPr>
        <p:spPr bwMode="auto">
          <a:xfrm>
            <a:off x="284163" y="31067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latin typeface="Arial" pitchFamily="34" charset="0"/>
                <a:cs typeface="Arial" pitchFamily="34" charset="0"/>
              </a:rPr>
              <a:t>6) List of prioritized features</a:t>
            </a:r>
          </a:p>
        </p:txBody>
      </p:sp>
      <p:sp>
        <p:nvSpPr>
          <p:cNvPr id="19" name="AutoShape 33"/>
          <p:cNvSpPr>
            <a:spLocks noChangeArrowheads="1"/>
          </p:cNvSpPr>
          <p:nvPr/>
        </p:nvSpPr>
        <p:spPr bwMode="auto">
          <a:xfrm>
            <a:off x="284163" y="33226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latin typeface="Arial" pitchFamily="34" charset="0"/>
                <a:cs typeface="Arial" pitchFamily="34" charset="0"/>
              </a:rPr>
              <a:t>7) Strategic Product Roadmap</a:t>
            </a:r>
          </a:p>
        </p:txBody>
      </p:sp>
      <p:sp>
        <p:nvSpPr>
          <p:cNvPr id="20" name="AutoShape 34"/>
          <p:cNvSpPr>
            <a:spLocks noChangeArrowheads="1"/>
          </p:cNvSpPr>
          <p:nvPr/>
        </p:nvSpPr>
        <p:spPr bwMode="auto">
          <a:xfrm>
            <a:off x="284163" y="35385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latin typeface="Arial" pitchFamily="34" charset="0"/>
                <a:cs typeface="Arial" pitchFamily="34" charset="0"/>
              </a:rPr>
              <a:t>8) VOC</a:t>
            </a:r>
          </a:p>
        </p:txBody>
      </p:sp>
      <p:sp>
        <p:nvSpPr>
          <p:cNvPr id="21" name="AutoShape 35"/>
          <p:cNvSpPr>
            <a:spLocks noChangeArrowheads="1"/>
          </p:cNvSpPr>
          <p:nvPr/>
        </p:nvSpPr>
        <p:spPr bwMode="auto">
          <a:xfrm>
            <a:off x="284163" y="37544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latin typeface="Arial" pitchFamily="34" charset="0"/>
                <a:cs typeface="Arial" pitchFamily="34" charset="0"/>
              </a:rPr>
              <a:t>9) Non-functional Perf. Req.</a:t>
            </a:r>
          </a:p>
        </p:txBody>
      </p:sp>
      <p:sp>
        <p:nvSpPr>
          <p:cNvPr id="22" name="AutoShape 36"/>
          <p:cNvSpPr>
            <a:spLocks noChangeArrowheads="1"/>
          </p:cNvSpPr>
          <p:nvPr/>
        </p:nvSpPr>
        <p:spPr bwMode="auto">
          <a:xfrm>
            <a:off x="284163" y="39703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10) SLR</a:t>
            </a:r>
          </a:p>
        </p:txBody>
      </p:sp>
      <p:sp>
        <p:nvSpPr>
          <p:cNvPr id="23" name="AutoShape 37"/>
          <p:cNvSpPr>
            <a:spLocks noChangeArrowheads="1"/>
          </p:cNvSpPr>
          <p:nvPr/>
        </p:nvSpPr>
        <p:spPr bwMode="auto">
          <a:xfrm>
            <a:off x="284163" y="41862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latin typeface="Arial" pitchFamily="34" charset="0"/>
                <a:cs typeface="Arial" pitchFamily="34" charset="0"/>
              </a:rPr>
              <a:t>11) Bus. Rules</a:t>
            </a:r>
          </a:p>
        </p:txBody>
      </p:sp>
      <p:sp>
        <p:nvSpPr>
          <p:cNvPr id="24" name="AutoShape 38"/>
          <p:cNvSpPr>
            <a:spLocks noChangeArrowheads="1"/>
          </p:cNvSpPr>
          <p:nvPr/>
        </p:nvSpPr>
        <p:spPr bwMode="auto">
          <a:xfrm>
            <a:off x="284163" y="44021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12) Bus. Constraint Assumptions</a:t>
            </a:r>
          </a:p>
        </p:txBody>
      </p:sp>
      <p:sp>
        <p:nvSpPr>
          <p:cNvPr id="25" name="AutoShape 39"/>
          <p:cNvSpPr>
            <a:spLocks noChangeArrowheads="1"/>
          </p:cNvSpPr>
          <p:nvPr/>
        </p:nvSpPr>
        <p:spPr bwMode="auto">
          <a:xfrm>
            <a:off x="3225800" y="2913073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5) ID Req. Workflow</a:t>
            </a:r>
          </a:p>
        </p:txBody>
      </p:sp>
      <p:sp>
        <p:nvSpPr>
          <p:cNvPr id="26" name="AutoShape 40"/>
          <p:cNvSpPr>
            <a:spLocks noChangeArrowheads="1"/>
          </p:cNvSpPr>
          <p:nvPr/>
        </p:nvSpPr>
        <p:spPr bwMode="auto">
          <a:xfrm>
            <a:off x="3225800" y="3136910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6) Statistical Analysis</a:t>
            </a:r>
          </a:p>
        </p:txBody>
      </p:sp>
      <p:sp>
        <p:nvSpPr>
          <p:cNvPr id="27" name="AutoShape 41"/>
          <p:cNvSpPr>
            <a:spLocks noChangeArrowheads="1"/>
          </p:cNvSpPr>
          <p:nvPr/>
        </p:nvSpPr>
        <p:spPr bwMode="auto">
          <a:xfrm>
            <a:off x="3225800" y="33607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7) Research Tools</a:t>
            </a:r>
          </a:p>
        </p:txBody>
      </p:sp>
      <p:sp>
        <p:nvSpPr>
          <p:cNvPr id="28" name="AutoShape 42"/>
          <p:cNvSpPr>
            <a:spLocks noChangeArrowheads="1"/>
          </p:cNvSpPr>
          <p:nvPr/>
        </p:nvSpPr>
        <p:spPr bwMode="auto">
          <a:xfrm>
            <a:off x="6138863" y="24844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3) ID Depend. &amp; Rel. Impact </a:t>
            </a:r>
          </a:p>
        </p:txBody>
      </p:sp>
      <p:sp>
        <p:nvSpPr>
          <p:cNvPr id="29" name="AutoShape 43"/>
          <p:cNvSpPr>
            <a:spLocks noChangeArrowheads="1"/>
          </p:cNvSpPr>
          <p:nvPr/>
        </p:nvSpPr>
        <p:spPr bwMode="auto">
          <a:xfrm>
            <a:off x="6138863" y="27130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4) List Business of Assumptions </a:t>
            </a:r>
          </a:p>
        </p:txBody>
      </p:sp>
      <p:sp>
        <p:nvSpPr>
          <p:cNvPr id="30" name="AutoShape 44"/>
          <p:cNvSpPr>
            <a:spLocks noChangeArrowheads="1"/>
          </p:cNvSpPr>
          <p:nvPr/>
        </p:nvSpPr>
        <p:spPr bwMode="auto">
          <a:xfrm>
            <a:off x="6138863" y="29416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5) Business Process Flow </a:t>
            </a:r>
          </a:p>
        </p:txBody>
      </p:sp>
      <p:sp>
        <p:nvSpPr>
          <p:cNvPr id="31" name="AutoShape 45"/>
          <p:cNvSpPr>
            <a:spLocks noChangeArrowheads="1"/>
          </p:cNvSpPr>
          <p:nvPr/>
        </p:nvSpPr>
        <p:spPr bwMode="auto">
          <a:xfrm>
            <a:off x="6138863" y="31702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6) Scope SOW </a:t>
            </a:r>
          </a:p>
        </p:txBody>
      </p:sp>
      <p:sp>
        <p:nvSpPr>
          <p:cNvPr id="32" name="AutoShape 46"/>
          <p:cNvSpPr>
            <a:spLocks noChangeArrowheads="1"/>
          </p:cNvSpPr>
          <p:nvPr/>
        </p:nvSpPr>
        <p:spPr bwMode="auto">
          <a:xfrm>
            <a:off x="6138863" y="33988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7) Bus. Constraints </a:t>
            </a:r>
          </a:p>
        </p:txBody>
      </p:sp>
      <p:sp>
        <p:nvSpPr>
          <p:cNvPr id="33" name="AutoShape 47"/>
          <p:cNvSpPr>
            <a:spLocks noChangeArrowheads="1"/>
          </p:cNvSpPr>
          <p:nvPr/>
        </p:nvSpPr>
        <p:spPr bwMode="auto">
          <a:xfrm>
            <a:off x="6138863" y="36274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8) Bus. Rules </a:t>
            </a:r>
          </a:p>
        </p:txBody>
      </p:sp>
      <p:sp>
        <p:nvSpPr>
          <p:cNvPr id="34" name="AutoShape 48"/>
          <p:cNvSpPr>
            <a:spLocks noChangeArrowheads="1"/>
          </p:cNvSpPr>
          <p:nvPr/>
        </p:nvSpPr>
        <p:spPr bwMode="auto">
          <a:xfrm>
            <a:off x="6138863" y="38560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9) Traceability Matrix </a:t>
            </a:r>
          </a:p>
        </p:txBody>
      </p:sp>
      <p:sp>
        <p:nvSpPr>
          <p:cNvPr id="35" name="AutoShape 49"/>
          <p:cNvSpPr>
            <a:spLocks noChangeArrowheads="1"/>
          </p:cNvSpPr>
          <p:nvPr/>
        </p:nvSpPr>
        <p:spPr bwMode="auto">
          <a:xfrm>
            <a:off x="6138863" y="40846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10) Use Case </a:t>
            </a:r>
          </a:p>
        </p:txBody>
      </p:sp>
      <p:sp>
        <p:nvSpPr>
          <p:cNvPr id="36" name="AutoShape 50"/>
          <p:cNvSpPr>
            <a:spLocks noChangeArrowheads="1"/>
          </p:cNvSpPr>
          <p:nvPr/>
        </p:nvSpPr>
        <p:spPr bwMode="auto">
          <a:xfrm>
            <a:off x="6138863" y="43132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11) Storyboards </a:t>
            </a:r>
          </a:p>
        </p:txBody>
      </p:sp>
      <p:sp>
        <p:nvSpPr>
          <p:cNvPr id="37" name="AutoShape 51"/>
          <p:cNvSpPr>
            <a:spLocks noChangeArrowheads="1"/>
          </p:cNvSpPr>
          <p:nvPr/>
        </p:nvSpPr>
        <p:spPr bwMode="auto">
          <a:xfrm>
            <a:off x="6138863" y="45418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12) Test Scenarios </a:t>
            </a:r>
          </a:p>
        </p:txBody>
      </p:sp>
      <p:sp>
        <p:nvSpPr>
          <p:cNvPr id="38" name="AutoShape 52"/>
          <p:cNvSpPr>
            <a:spLocks noChangeArrowheads="1"/>
          </p:cNvSpPr>
          <p:nvPr/>
        </p:nvSpPr>
        <p:spPr bwMode="auto">
          <a:xfrm>
            <a:off x="6138863" y="47704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13) User Documentation </a:t>
            </a:r>
          </a:p>
        </p:txBody>
      </p:sp>
      <p:sp>
        <p:nvSpPr>
          <p:cNvPr id="39" name="AutoShape 53"/>
          <p:cNvSpPr>
            <a:spLocks noChangeArrowheads="1"/>
          </p:cNvSpPr>
          <p:nvPr/>
        </p:nvSpPr>
        <p:spPr bwMode="auto">
          <a:xfrm>
            <a:off x="6138863" y="49990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14) Sample Deliverables </a:t>
            </a:r>
          </a:p>
        </p:txBody>
      </p:sp>
      <p:sp>
        <p:nvSpPr>
          <p:cNvPr id="40" name="AutoShape 54"/>
          <p:cNvSpPr>
            <a:spLocks noChangeArrowheads="1"/>
          </p:cNvSpPr>
          <p:nvPr/>
        </p:nvSpPr>
        <p:spPr bwMode="auto">
          <a:xfrm>
            <a:off x="6138863" y="52276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15) Context Diagrams </a:t>
            </a:r>
          </a:p>
        </p:txBody>
      </p:sp>
      <p:sp>
        <p:nvSpPr>
          <p:cNvPr id="41" name="AutoShape 55"/>
          <p:cNvSpPr>
            <a:spLocks noChangeArrowheads="1"/>
          </p:cNvSpPr>
          <p:nvPr/>
        </p:nvSpPr>
        <p:spPr bwMode="auto">
          <a:xfrm>
            <a:off x="6138863" y="54562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16) Architectural Diagrams </a:t>
            </a:r>
          </a:p>
        </p:txBody>
      </p:sp>
      <p:sp>
        <p:nvSpPr>
          <p:cNvPr id="42" name="AutoShape 56"/>
          <p:cNvSpPr>
            <a:spLocks noChangeArrowheads="1"/>
          </p:cNvSpPr>
          <p:nvPr/>
        </p:nvSpPr>
        <p:spPr bwMode="auto">
          <a:xfrm>
            <a:off x="6138863" y="56848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17) Non-functional Req.</a:t>
            </a:r>
          </a:p>
        </p:txBody>
      </p:sp>
      <p:sp>
        <p:nvSpPr>
          <p:cNvPr id="43" name="AutoShape 57"/>
          <p:cNvSpPr>
            <a:spLocks noChangeArrowheads="1"/>
          </p:cNvSpPr>
          <p:nvPr/>
        </p:nvSpPr>
        <p:spPr bwMode="auto">
          <a:xfrm>
            <a:off x="6138863" y="59134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18) Screen Mock Ups </a:t>
            </a:r>
          </a:p>
        </p:txBody>
      </p:sp>
      <p:sp>
        <p:nvSpPr>
          <p:cNvPr id="44" name="AutoShape 58"/>
          <p:cNvSpPr>
            <a:spLocks noChangeArrowheads="1"/>
          </p:cNvSpPr>
          <p:nvPr/>
        </p:nvSpPr>
        <p:spPr bwMode="auto">
          <a:xfrm>
            <a:off x="6138863" y="6142048"/>
            <a:ext cx="2663825" cy="22860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l">
              <a:buNone/>
            </a:pPr>
            <a:r>
              <a:rPr lang="en-US" sz="1200" b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19) Use Case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3936" y="4878874"/>
            <a:ext cx="4719081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400" dirty="0">
                <a:solidFill>
                  <a:schemeClr val="accent1"/>
                </a:solidFill>
              </a:rPr>
              <a:t>This is one model for aligning inputs, processes, and outputs for current state business analysis.  </a:t>
            </a:r>
          </a:p>
          <a:p>
            <a:pPr algn="l">
              <a:buNone/>
            </a:pPr>
            <a:endParaRPr lang="en-US" sz="1400" dirty="0">
              <a:solidFill>
                <a:schemeClr val="accent1"/>
              </a:solidFill>
            </a:endParaRPr>
          </a:p>
          <a:p>
            <a:pPr algn="l">
              <a:buNone/>
            </a:pPr>
            <a:r>
              <a:rPr lang="en-US" sz="1400" dirty="0">
                <a:solidFill>
                  <a:schemeClr val="accent1"/>
                </a:solidFill>
              </a:rPr>
              <a:t>A new model would need to be proposed for the future state requirements (as depicted in the “big picture” and subsequent slides above.</a:t>
            </a:r>
          </a:p>
        </p:txBody>
      </p:sp>
    </p:spTree>
    <p:extLst>
      <p:ext uri="{BB962C8B-B14F-4D97-AF65-F5344CB8AC3E}">
        <p14:creationId xmlns:p14="http://schemas.microsoft.com/office/powerpoint/2010/main" val="220230152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VISIA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VISIA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agram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2029</TotalTime>
  <Words>584</Words>
  <Application>Microsoft Macintosh PowerPoint</Application>
  <PresentationFormat>Letter Paper (8.5x11 in)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Times</vt:lpstr>
      <vt:lpstr>Wingdings</vt:lpstr>
      <vt:lpstr>Wingdings 2</vt:lpstr>
      <vt:lpstr>Default Theme</vt:lpstr>
      <vt:lpstr>Diagram Master</vt:lpstr>
      <vt:lpstr>Requirements Engineering Primer</vt:lpstr>
      <vt:lpstr>Current State</vt:lpstr>
      <vt:lpstr>Future State</vt:lpstr>
      <vt:lpstr>Project Artifacts to Operational Guidance</vt:lpstr>
      <vt:lpstr>Requirements At Scale</vt:lpstr>
      <vt:lpstr>Model-Driven Design Starts with Aligning WHY, WHAT, &amp; HOW</vt:lpstr>
      <vt:lpstr>S–IPO-C</vt:lpstr>
    </vt:vector>
  </TitlesOfParts>
  <Company>The Value Enablement Group,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Management</dc:title>
  <dc:creator>jeffrey wallk</dc:creator>
  <cp:lastModifiedBy>Jeffrey Wallk</cp:lastModifiedBy>
  <cp:revision>43</cp:revision>
  <dcterms:created xsi:type="dcterms:W3CDTF">2013-08-24T23:38:47Z</dcterms:created>
  <dcterms:modified xsi:type="dcterms:W3CDTF">2022-03-10T11:44:57Z</dcterms:modified>
</cp:coreProperties>
</file>
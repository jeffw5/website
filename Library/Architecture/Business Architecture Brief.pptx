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emf" ContentType="image/x-emf"/>
  <Default Extension="jpeg" ContentType="image/jpeg"/>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46"/>
  </p:notesMasterIdLst>
  <p:handoutMasterIdLst>
    <p:handoutMasterId r:id="rId47"/>
  </p:handoutMasterIdLst>
  <p:sldIdLst>
    <p:sldId id="850" r:id="rId2"/>
    <p:sldId id="981" r:id="rId3"/>
    <p:sldId id="988" r:id="rId4"/>
    <p:sldId id="982" r:id="rId5"/>
    <p:sldId id="989" r:id="rId6"/>
    <p:sldId id="1008" r:id="rId7"/>
    <p:sldId id="990" r:id="rId8"/>
    <p:sldId id="992" r:id="rId9"/>
    <p:sldId id="994" r:id="rId10"/>
    <p:sldId id="995" r:id="rId11"/>
    <p:sldId id="996" r:id="rId12"/>
    <p:sldId id="998" r:id="rId13"/>
    <p:sldId id="985" r:id="rId14"/>
    <p:sldId id="957" r:id="rId15"/>
    <p:sldId id="958" r:id="rId16"/>
    <p:sldId id="959" r:id="rId17"/>
    <p:sldId id="960" r:id="rId18"/>
    <p:sldId id="961" r:id="rId19"/>
    <p:sldId id="962" r:id="rId20"/>
    <p:sldId id="1013" r:id="rId21"/>
    <p:sldId id="963" r:id="rId22"/>
    <p:sldId id="964" r:id="rId23"/>
    <p:sldId id="999" r:id="rId24"/>
    <p:sldId id="1000" r:id="rId25"/>
    <p:sldId id="1001" r:id="rId26"/>
    <p:sldId id="1002" r:id="rId27"/>
    <p:sldId id="1003" r:id="rId28"/>
    <p:sldId id="1004" r:id="rId29"/>
    <p:sldId id="1005" r:id="rId30"/>
    <p:sldId id="1006" r:id="rId31"/>
    <p:sldId id="986" r:id="rId32"/>
    <p:sldId id="969" r:id="rId33"/>
    <p:sldId id="970" r:id="rId34"/>
    <p:sldId id="971" r:id="rId35"/>
    <p:sldId id="1007" r:id="rId36"/>
    <p:sldId id="968" r:id="rId37"/>
    <p:sldId id="1009" r:id="rId38"/>
    <p:sldId id="987" r:id="rId39"/>
    <p:sldId id="1010" r:id="rId40"/>
    <p:sldId id="978" r:id="rId41"/>
    <p:sldId id="975" r:id="rId42"/>
    <p:sldId id="1011" r:id="rId43"/>
    <p:sldId id="979" r:id="rId44"/>
    <p:sldId id="1012" r:id="rId45"/>
  </p:sldIdLst>
  <p:sldSz cx="9144000" cy="6858000" type="screen4x3"/>
  <p:notesSz cx="6935788" cy="9220200"/>
  <p:defaultTextStyle>
    <a:defPPr>
      <a:defRPr lang="en-US"/>
    </a:defPPr>
    <a:lvl1pPr algn="ctr" rtl="0" fontAlgn="base">
      <a:spcBef>
        <a:spcPct val="0"/>
      </a:spcBef>
      <a:spcAft>
        <a:spcPct val="0"/>
      </a:spcAft>
      <a:buFont typeface="Wingdings" pitchFamily="2" charset="2"/>
      <a:defRPr kern="1200">
        <a:solidFill>
          <a:schemeClr val="tx1"/>
        </a:solidFill>
        <a:latin typeface="Arial" charset="0"/>
        <a:ea typeface="+mn-ea"/>
        <a:cs typeface="Arial" charset="0"/>
      </a:defRPr>
    </a:lvl1pPr>
    <a:lvl2pPr marL="457200" algn="ctr" rtl="0" fontAlgn="base">
      <a:spcBef>
        <a:spcPct val="0"/>
      </a:spcBef>
      <a:spcAft>
        <a:spcPct val="0"/>
      </a:spcAft>
      <a:buFont typeface="Wingdings" pitchFamily="2" charset="2"/>
      <a:defRPr kern="1200">
        <a:solidFill>
          <a:schemeClr val="tx1"/>
        </a:solidFill>
        <a:latin typeface="Arial" charset="0"/>
        <a:ea typeface="+mn-ea"/>
        <a:cs typeface="Arial" charset="0"/>
      </a:defRPr>
    </a:lvl2pPr>
    <a:lvl3pPr marL="914400" algn="ctr" rtl="0" fontAlgn="base">
      <a:spcBef>
        <a:spcPct val="0"/>
      </a:spcBef>
      <a:spcAft>
        <a:spcPct val="0"/>
      </a:spcAft>
      <a:buFont typeface="Wingdings" pitchFamily="2" charset="2"/>
      <a:defRPr kern="1200">
        <a:solidFill>
          <a:schemeClr val="tx1"/>
        </a:solidFill>
        <a:latin typeface="Arial" charset="0"/>
        <a:ea typeface="+mn-ea"/>
        <a:cs typeface="Arial" charset="0"/>
      </a:defRPr>
    </a:lvl3pPr>
    <a:lvl4pPr marL="1371600" algn="ctr" rtl="0" fontAlgn="base">
      <a:spcBef>
        <a:spcPct val="0"/>
      </a:spcBef>
      <a:spcAft>
        <a:spcPct val="0"/>
      </a:spcAft>
      <a:buFont typeface="Wingdings" pitchFamily="2" charset="2"/>
      <a:defRPr kern="1200">
        <a:solidFill>
          <a:schemeClr val="tx1"/>
        </a:solidFill>
        <a:latin typeface="Arial" charset="0"/>
        <a:ea typeface="+mn-ea"/>
        <a:cs typeface="Arial" charset="0"/>
      </a:defRPr>
    </a:lvl4pPr>
    <a:lvl5pPr marL="1828800" algn="ctr" rtl="0" fontAlgn="base">
      <a:spcBef>
        <a:spcPct val="0"/>
      </a:spcBef>
      <a:spcAft>
        <a:spcPct val="0"/>
      </a:spcAft>
      <a:buFont typeface="Wingdings" pitchFamily="2" charset="2"/>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33"/>
    <a:srgbClr val="760000"/>
    <a:srgbClr val="6E0000"/>
    <a:srgbClr val="FFFF66"/>
    <a:srgbClr val="33CC33"/>
    <a:srgbClr val="FFFF00"/>
    <a:srgbClr val="0099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70874" autoAdjust="0"/>
  </p:normalViewPr>
  <p:slideViewPr>
    <p:cSldViewPr snapToGrid="0">
      <p:cViewPr>
        <p:scale>
          <a:sx n="75" d="100"/>
          <a:sy n="75" d="100"/>
        </p:scale>
        <p:origin x="-1872" y="-84"/>
      </p:cViewPr>
      <p:guideLst>
        <p:guide orient="horz" pos="1632"/>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100" d="100"/>
        <a:sy n="100" d="100"/>
      </p:scale>
      <p:origin x="0" y="1296"/>
    </p:cViewPr>
  </p:sorterViewPr>
  <p:notesViewPr>
    <p:cSldViewPr snapToGrid="0">
      <p:cViewPr>
        <p:scale>
          <a:sx n="75" d="100"/>
          <a:sy n="75" d="100"/>
        </p:scale>
        <p:origin x="-1368" y="414"/>
      </p:cViewPr>
      <p:guideLst>
        <p:guide orient="horz" pos="2904"/>
        <p:guide pos="2184"/>
      </p:guideLst>
    </p:cSldViewPr>
  </p:notesViewPr>
  <p:gridSpacing cx="936345600" cy="9363456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_rels/viewProps.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slide" Target="slides/slide30.xml"/><Relationship Id="rId1" Type="http://schemas.openxmlformats.org/officeDocument/2006/relationships/slide" Target="slides/slide2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1666" name="Rectangle 2"/>
          <p:cNvSpPr>
            <a:spLocks noGrp="1" noChangeArrowheads="1"/>
          </p:cNvSpPr>
          <p:nvPr>
            <p:ph type="hdr" sz="quarter"/>
          </p:nvPr>
        </p:nvSpPr>
        <p:spPr bwMode="auto">
          <a:xfrm>
            <a:off x="0" y="0"/>
            <a:ext cx="3014663" cy="454025"/>
          </a:xfrm>
          <a:prstGeom prst="rect">
            <a:avLst/>
          </a:prstGeom>
          <a:noFill/>
          <a:ln w="9525">
            <a:noFill/>
            <a:miter lim="800000"/>
            <a:headEnd/>
            <a:tailEnd/>
          </a:ln>
          <a:effectLst/>
        </p:spPr>
        <p:txBody>
          <a:bodyPr vert="horz" wrap="square" lIns="90648" tIns="45324" rIns="90648" bIns="45324" numCol="1" anchor="t" anchorCtr="0" compatLnSpc="1">
            <a:prstTxWarp prst="textNoShape">
              <a:avLst/>
            </a:prstTxWarp>
          </a:bodyPr>
          <a:lstStyle>
            <a:lvl1pPr algn="l" defTabSz="904875">
              <a:buFontTx/>
              <a:buNone/>
              <a:defRPr sz="1200"/>
            </a:lvl1pPr>
          </a:lstStyle>
          <a:p>
            <a:endParaRPr lang="en-US"/>
          </a:p>
        </p:txBody>
      </p:sp>
      <p:sp>
        <p:nvSpPr>
          <p:cNvPr id="241667" name="Rectangle 3"/>
          <p:cNvSpPr>
            <a:spLocks noGrp="1" noChangeArrowheads="1"/>
          </p:cNvSpPr>
          <p:nvPr>
            <p:ph type="dt" sz="quarter" idx="1"/>
          </p:nvPr>
        </p:nvSpPr>
        <p:spPr bwMode="auto">
          <a:xfrm>
            <a:off x="3921125" y="0"/>
            <a:ext cx="3014663" cy="454025"/>
          </a:xfrm>
          <a:prstGeom prst="rect">
            <a:avLst/>
          </a:prstGeom>
          <a:noFill/>
          <a:ln w="9525">
            <a:noFill/>
            <a:miter lim="800000"/>
            <a:headEnd/>
            <a:tailEnd/>
          </a:ln>
          <a:effectLst/>
        </p:spPr>
        <p:txBody>
          <a:bodyPr vert="horz" wrap="square" lIns="90648" tIns="45324" rIns="90648" bIns="45324" numCol="1" anchor="t" anchorCtr="0" compatLnSpc="1">
            <a:prstTxWarp prst="textNoShape">
              <a:avLst/>
            </a:prstTxWarp>
          </a:bodyPr>
          <a:lstStyle>
            <a:lvl1pPr algn="r" defTabSz="904875">
              <a:buFontTx/>
              <a:buNone/>
              <a:defRPr sz="1200"/>
            </a:lvl1pPr>
          </a:lstStyle>
          <a:p>
            <a:endParaRPr lang="en-US"/>
          </a:p>
        </p:txBody>
      </p:sp>
      <p:sp>
        <p:nvSpPr>
          <p:cNvPr id="241668" name="Rectangle 4"/>
          <p:cNvSpPr>
            <a:spLocks noGrp="1" noChangeArrowheads="1"/>
          </p:cNvSpPr>
          <p:nvPr>
            <p:ph type="ftr" sz="quarter" idx="2"/>
          </p:nvPr>
        </p:nvSpPr>
        <p:spPr bwMode="auto">
          <a:xfrm>
            <a:off x="0" y="8778875"/>
            <a:ext cx="3014663" cy="454025"/>
          </a:xfrm>
          <a:prstGeom prst="rect">
            <a:avLst/>
          </a:prstGeom>
          <a:noFill/>
          <a:ln w="9525">
            <a:noFill/>
            <a:miter lim="800000"/>
            <a:headEnd/>
            <a:tailEnd/>
          </a:ln>
          <a:effectLst/>
        </p:spPr>
        <p:txBody>
          <a:bodyPr vert="horz" wrap="square" lIns="90648" tIns="45324" rIns="90648" bIns="45324" numCol="1" anchor="b" anchorCtr="0" compatLnSpc="1">
            <a:prstTxWarp prst="textNoShape">
              <a:avLst/>
            </a:prstTxWarp>
          </a:bodyPr>
          <a:lstStyle>
            <a:lvl1pPr algn="l" defTabSz="904875">
              <a:buFontTx/>
              <a:buNone/>
              <a:defRPr sz="1200"/>
            </a:lvl1pPr>
          </a:lstStyle>
          <a:p>
            <a:endParaRPr lang="en-US"/>
          </a:p>
        </p:txBody>
      </p:sp>
      <p:sp>
        <p:nvSpPr>
          <p:cNvPr id="241669" name="Rectangle 5"/>
          <p:cNvSpPr>
            <a:spLocks noGrp="1" noChangeArrowheads="1"/>
          </p:cNvSpPr>
          <p:nvPr>
            <p:ph type="sldNum" sz="quarter" idx="3"/>
          </p:nvPr>
        </p:nvSpPr>
        <p:spPr bwMode="auto">
          <a:xfrm>
            <a:off x="3921125" y="8778875"/>
            <a:ext cx="3014663" cy="454025"/>
          </a:xfrm>
          <a:prstGeom prst="rect">
            <a:avLst/>
          </a:prstGeom>
          <a:noFill/>
          <a:ln w="9525">
            <a:noFill/>
            <a:miter lim="800000"/>
            <a:headEnd/>
            <a:tailEnd/>
          </a:ln>
          <a:effectLst/>
        </p:spPr>
        <p:txBody>
          <a:bodyPr vert="horz" wrap="square" lIns="90648" tIns="45324" rIns="90648" bIns="45324" numCol="1" anchor="b" anchorCtr="0" compatLnSpc="1">
            <a:prstTxWarp prst="textNoShape">
              <a:avLst/>
            </a:prstTxWarp>
          </a:bodyPr>
          <a:lstStyle>
            <a:lvl1pPr algn="r" defTabSz="904875">
              <a:buFontTx/>
              <a:buNone/>
              <a:defRPr sz="1200"/>
            </a:lvl1pPr>
          </a:lstStyle>
          <a:p>
            <a:fld id="{F27748AC-5BCC-41CC-9108-BB678B74113F}"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3014663" cy="454025"/>
          </a:xfrm>
          <a:prstGeom prst="rect">
            <a:avLst/>
          </a:prstGeom>
          <a:noFill/>
          <a:ln w="9525">
            <a:noFill/>
            <a:miter lim="800000"/>
            <a:headEnd type="none" w="sm" len="sm"/>
            <a:tailEnd type="none" w="sm" len="sm"/>
          </a:ln>
          <a:effectLst/>
        </p:spPr>
        <p:txBody>
          <a:bodyPr vert="horz" wrap="none" lIns="90648" tIns="45324" rIns="90648" bIns="45324" numCol="1" anchor="ctr" anchorCtr="0" compatLnSpc="1">
            <a:prstTxWarp prst="textNoShape">
              <a:avLst/>
            </a:prstTxWarp>
          </a:bodyPr>
          <a:lstStyle>
            <a:lvl1pPr algn="l" defTabSz="904875">
              <a:buFontTx/>
              <a:buNone/>
              <a:defRPr sz="1200">
                <a:latin typeface="Times New Roman" pitchFamily="18" charset="0"/>
              </a:defRPr>
            </a:lvl1pPr>
          </a:lstStyle>
          <a:p>
            <a:endParaRPr lang="en-US"/>
          </a:p>
        </p:txBody>
      </p:sp>
      <p:sp>
        <p:nvSpPr>
          <p:cNvPr id="129027" name="Rectangle 3"/>
          <p:cNvSpPr>
            <a:spLocks noGrp="1" noChangeArrowheads="1"/>
          </p:cNvSpPr>
          <p:nvPr>
            <p:ph type="dt" idx="1"/>
          </p:nvPr>
        </p:nvSpPr>
        <p:spPr bwMode="auto">
          <a:xfrm>
            <a:off x="3921125" y="0"/>
            <a:ext cx="3014663" cy="454025"/>
          </a:xfrm>
          <a:prstGeom prst="rect">
            <a:avLst/>
          </a:prstGeom>
          <a:noFill/>
          <a:ln w="9525">
            <a:noFill/>
            <a:miter lim="800000"/>
            <a:headEnd type="none" w="sm" len="sm"/>
            <a:tailEnd type="none" w="sm" len="sm"/>
          </a:ln>
          <a:effectLst/>
        </p:spPr>
        <p:txBody>
          <a:bodyPr vert="horz" wrap="none" lIns="90648" tIns="45324" rIns="90648" bIns="45324" numCol="1" anchor="ctr" anchorCtr="0" compatLnSpc="1">
            <a:prstTxWarp prst="textNoShape">
              <a:avLst/>
            </a:prstTxWarp>
          </a:bodyPr>
          <a:lstStyle>
            <a:lvl1pPr algn="r" defTabSz="904875">
              <a:buFontTx/>
              <a:buNone/>
              <a:defRPr sz="1200">
                <a:latin typeface="Times New Roman" pitchFamily="18" charset="0"/>
              </a:defRPr>
            </a:lvl1pPr>
          </a:lstStyle>
          <a:p>
            <a:endParaRPr lang="en-US"/>
          </a:p>
        </p:txBody>
      </p:sp>
      <p:sp>
        <p:nvSpPr>
          <p:cNvPr id="129028" name="Rectangle 4"/>
          <p:cNvSpPr>
            <a:spLocks noChangeArrowheads="1" noTextEdit="1"/>
          </p:cNvSpPr>
          <p:nvPr>
            <p:ph type="sldImg" idx="2"/>
          </p:nvPr>
        </p:nvSpPr>
        <p:spPr bwMode="auto">
          <a:xfrm>
            <a:off x="1147763" y="681038"/>
            <a:ext cx="4641850" cy="3481387"/>
          </a:xfrm>
          <a:prstGeom prst="rect">
            <a:avLst/>
          </a:prstGeom>
          <a:noFill/>
          <a:ln w="9525">
            <a:solidFill>
              <a:srgbClr val="000000"/>
            </a:solidFill>
            <a:miter lim="800000"/>
            <a:headEnd/>
            <a:tailEnd/>
          </a:ln>
          <a:effectLst/>
        </p:spPr>
      </p:sp>
      <p:sp>
        <p:nvSpPr>
          <p:cNvPr id="129029" name="Rectangle 5"/>
          <p:cNvSpPr>
            <a:spLocks noGrp="1" noChangeArrowheads="1"/>
          </p:cNvSpPr>
          <p:nvPr>
            <p:ph type="body" sz="quarter" idx="3"/>
          </p:nvPr>
        </p:nvSpPr>
        <p:spPr bwMode="auto">
          <a:xfrm>
            <a:off x="903288" y="4389438"/>
            <a:ext cx="5129212" cy="4160837"/>
          </a:xfrm>
          <a:prstGeom prst="rect">
            <a:avLst/>
          </a:prstGeom>
          <a:noFill/>
          <a:ln w="9525">
            <a:noFill/>
            <a:miter lim="800000"/>
            <a:headEnd type="none" w="sm" len="sm"/>
            <a:tailEnd type="none" w="sm" len="sm"/>
          </a:ln>
          <a:effectLst/>
        </p:spPr>
        <p:txBody>
          <a:bodyPr vert="horz" wrap="none" lIns="90648" tIns="45324" rIns="90648" bIns="45324" numCol="1" anchor="ctr"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9030" name="Rectangle 6"/>
          <p:cNvSpPr>
            <a:spLocks noGrp="1" noChangeArrowheads="1"/>
          </p:cNvSpPr>
          <p:nvPr>
            <p:ph type="ftr" sz="quarter" idx="4"/>
          </p:nvPr>
        </p:nvSpPr>
        <p:spPr bwMode="auto">
          <a:xfrm>
            <a:off x="0" y="8778875"/>
            <a:ext cx="3014663" cy="454025"/>
          </a:xfrm>
          <a:prstGeom prst="rect">
            <a:avLst/>
          </a:prstGeom>
          <a:noFill/>
          <a:ln w="9525">
            <a:noFill/>
            <a:miter lim="800000"/>
            <a:headEnd type="none" w="sm" len="sm"/>
            <a:tailEnd type="none" w="sm" len="sm"/>
          </a:ln>
          <a:effectLst/>
        </p:spPr>
        <p:txBody>
          <a:bodyPr vert="horz" wrap="none" lIns="90648" tIns="45324" rIns="90648" bIns="45324" numCol="1" anchor="b" anchorCtr="0" compatLnSpc="1">
            <a:prstTxWarp prst="textNoShape">
              <a:avLst/>
            </a:prstTxWarp>
          </a:bodyPr>
          <a:lstStyle>
            <a:lvl1pPr algn="l" defTabSz="904875">
              <a:buFontTx/>
              <a:buNone/>
              <a:defRPr sz="1200">
                <a:latin typeface="Times New Roman" pitchFamily="18" charset="0"/>
              </a:defRPr>
            </a:lvl1pPr>
          </a:lstStyle>
          <a:p>
            <a:endParaRPr lang="en-US"/>
          </a:p>
        </p:txBody>
      </p:sp>
      <p:sp>
        <p:nvSpPr>
          <p:cNvPr id="129031" name="Rectangle 7"/>
          <p:cNvSpPr>
            <a:spLocks noGrp="1" noChangeArrowheads="1"/>
          </p:cNvSpPr>
          <p:nvPr>
            <p:ph type="sldNum" sz="quarter" idx="5"/>
          </p:nvPr>
        </p:nvSpPr>
        <p:spPr bwMode="auto">
          <a:xfrm>
            <a:off x="3921125" y="8778875"/>
            <a:ext cx="3014663" cy="454025"/>
          </a:xfrm>
          <a:prstGeom prst="rect">
            <a:avLst/>
          </a:prstGeom>
          <a:noFill/>
          <a:ln w="9525">
            <a:noFill/>
            <a:miter lim="800000"/>
            <a:headEnd type="none" w="sm" len="sm"/>
            <a:tailEnd type="none" w="sm" len="sm"/>
          </a:ln>
          <a:effectLst/>
        </p:spPr>
        <p:txBody>
          <a:bodyPr vert="horz" wrap="none" lIns="90648" tIns="45324" rIns="90648" bIns="45324" numCol="1" anchor="b" anchorCtr="0" compatLnSpc="1">
            <a:prstTxWarp prst="textNoShape">
              <a:avLst/>
            </a:prstTxWarp>
          </a:bodyPr>
          <a:lstStyle>
            <a:lvl1pPr algn="r" defTabSz="904875">
              <a:buFontTx/>
              <a:buNone/>
              <a:defRPr sz="1200">
                <a:latin typeface="Times New Roman" pitchFamily="18" charset="0"/>
              </a:defRPr>
            </a:lvl1pPr>
          </a:lstStyle>
          <a:p>
            <a:fld id="{15EB3FCC-92BF-4E38-ACD3-C3D7DE76B8B2}"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38DA16-BA52-45DD-971C-1C0E279AD681}" type="slidenum">
              <a:rPr lang="en-US"/>
              <a:pPr/>
              <a:t>4</a:t>
            </a:fld>
            <a:endParaRPr lang="en-US"/>
          </a:p>
        </p:txBody>
      </p:sp>
      <p:sp>
        <p:nvSpPr>
          <p:cNvPr id="1360898" name="Rectangle 2"/>
          <p:cNvSpPr>
            <a:spLocks noChangeArrowheads="1" noTextEdit="1"/>
          </p:cNvSpPr>
          <p:nvPr>
            <p:ph type="sldImg"/>
          </p:nvPr>
        </p:nvSpPr>
        <p:spPr>
          <a:xfrm>
            <a:off x="1149350" y="682625"/>
            <a:ext cx="4641850" cy="3481388"/>
          </a:xfrm>
          <a:ln/>
        </p:spPr>
      </p:sp>
      <p:sp>
        <p:nvSpPr>
          <p:cNvPr id="1360899" name="Rectangle 3"/>
          <p:cNvSpPr>
            <a:spLocks noGrp="1" noChangeArrowheads="1"/>
          </p:cNvSpPr>
          <p:nvPr>
            <p:ph type="body" idx="1"/>
          </p:nvPr>
        </p:nvSpPr>
        <p:spPr>
          <a:xfrm>
            <a:off x="904875" y="4391025"/>
            <a:ext cx="5126038" cy="4159250"/>
          </a:xfrm>
        </p:spPr>
        <p:txBody>
          <a:bodyPr/>
          <a:lstStyle/>
          <a:p>
            <a:r>
              <a:rPr lang="en-US"/>
              <a:t>Before discussing what they want from us.  Let’s examine how they’ve shown us their displeasure in our performance.  Albeit most of this is targeted at the Departmental level, we’re suffering in the balance.</a:t>
            </a:r>
          </a:p>
          <a:p>
            <a:endParaRPr lang="en-US"/>
          </a:p>
          <a:p>
            <a:r>
              <a:rPr lang="en-US"/>
              <a:t>They’ve levied a substantial cut in IT.  They’ve stated in meetings that the Department doesn’t do an adequate job of screening Major IT investments for duplication, mission essential, architecture alignment, etc.</a:t>
            </a:r>
          </a:p>
          <a:p>
            <a:endParaRPr lang="en-US"/>
          </a:p>
          <a:p>
            <a:r>
              <a:rPr lang="en-US"/>
              <a:t>They’ve scored many of the Bureau’s 300Bs Low. (Check which ones)</a:t>
            </a:r>
          </a:p>
          <a:p>
            <a:endParaRPr lang="en-US"/>
          </a:p>
          <a:p>
            <a:r>
              <a:rPr lang="en-US"/>
              <a:t>They don’t see an overarching connected game plan.</a:t>
            </a:r>
          </a:p>
          <a:p>
            <a:endParaRPr lang="en-US"/>
          </a:p>
          <a:p>
            <a:r>
              <a:rPr lang="en-US"/>
              <a:t>Let’s review the OMB Budget Pass Back Language</a:t>
            </a:r>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F37130-A219-4162-95FE-0882F2D4AE52}" type="slidenum">
              <a:rPr lang="en-US"/>
              <a:pPr/>
              <a:t>8</a:t>
            </a:fld>
            <a:endParaRPr lang="en-US"/>
          </a:p>
        </p:txBody>
      </p:sp>
      <p:sp>
        <p:nvSpPr>
          <p:cNvPr id="1378306" name="Rectangle 2"/>
          <p:cNvSpPr>
            <a:spLocks noChangeArrowheads="1" noTextEdit="1"/>
          </p:cNvSpPr>
          <p:nvPr>
            <p:ph type="sldImg"/>
          </p:nvPr>
        </p:nvSpPr>
        <p:spPr>
          <a:xfrm>
            <a:off x="1162050" y="690563"/>
            <a:ext cx="4614863" cy="3460750"/>
          </a:xfrm>
          <a:ln/>
        </p:spPr>
      </p:sp>
      <p:sp>
        <p:nvSpPr>
          <p:cNvPr id="1378307" name="Rectangle 3"/>
          <p:cNvSpPr>
            <a:spLocks noGrp="1" noChangeArrowheads="1"/>
          </p:cNvSpPr>
          <p:nvPr>
            <p:ph type="body" idx="1"/>
          </p:nvPr>
        </p:nvSpPr>
        <p:spPr>
          <a:xfrm>
            <a:off x="925513" y="4379913"/>
            <a:ext cx="5084762" cy="4149725"/>
          </a:xfrm>
        </p:spPr>
        <p:txBody>
          <a:bodyPr wrap="square" lIns="91915" tIns="45957" rIns="91915" bIns="45957" anchor="t"/>
          <a:lstStyle/>
          <a:p>
            <a:r>
              <a:rPr lang="en-US" sz="1000" b="1"/>
              <a:t>Program Performance Value </a:t>
            </a:r>
            <a:r>
              <a:rPr lang="en-US" sz="1000"/>
              <a:t>: </a:t>
            </a:r>
          </a:p>
          <a:p>
            <a:pPr lvl="1"/>
            <a:r>
              <a:rPr lang="en-US" sz="1000"/>
              <a:t>IT bought for agency operations —not citizens' interface needs.</a:t>
            </a:r>
          </a:p>
          <a:p>
            <a:pPr lvl="1"/>
            <a:r>
              <a:rPr lang="en-US" sz="1000"/>
              <a:t>Systems evaluated wrongly (e.g., % time they are working, rather effect on the programs they support).</a:t>
            </a:r>
            <a:endParaRPr lang="en-US"/>
          </a:p>
          <a:p>
            <a:r>
              <a:rPr lang="en-US" sz="1000" b="1"/>
              <a:t>Technology Leverage</a:t>
            </a:r>
            <a:r>
              <a:rPr lang="en-US" sz="1000"/>
              <a:t>: </a:t>
            </a:r>
          </a:p>
          <a:p>
            <a:pPr lvl="1"/>
            <a:r>
              <a:rPr lang="en-US" sz="1000"/>
              <a:t>Technology does not replace good management, but good government management requires technology </a:t>
            </a:r>
          </a:p>
          <a:p>
            <a:pPr lvl="1"/>
            <a:r>
              <a:rPr lang="en-US" sz="1000"/>
              <a:t>Government traditionally uses IT to automate existing processes, rather than to create more effective business practices.</a:t>
            </a:r>
          </a:p>
          <a:p>
            <a:r>
              <a:rPr lang="en-US" sz="1000" b="1"/>
              <a:t>Islands of Automation </a:t>
            </a:r>
            <a:r>
              <a:rPr lang="en-US" sz="1000"/>
              <a:t>: </a:t>
            </a:r>
          </a:p>
          <a:p>
            <a:pPr lvl="1"/>
            <a:r>
              <a:rPr lang="en-US" sz="1000"/>
              <a:t>22,000 Websites: citizens have to deal with multiple agencies to get service, </a:t>
            </a:r>
          </a:p>
          <a:p>
            <a:pPr lvl="1"/>
            <a:r>
              <a:rPr lang="en-US" sz="1000"/>
              <a:t>5,600 GPEA Transactions: businesses have to fill-out multiple forms that ask for the same information, and </a:t>
            </a:r>
          </a:p>
          <a:p>
            <a:pPr lvl="1"/>
            <a:r>
              <a:rPr lang="en-US" sz="1000"/>
              <a:t>Agencies cannot easily collaborate for key missions like Homeland Security.</a:t>
            </a:r>
            <a:endParaRPr lang="en-US"/>
          </a:p>
          <a:p>
            <a:r>
              <a:rPr lang="en-US" sz="1000" b="1"/>
              <a:t>Resistance to Change </a:t>
            </a:r>
            <a:r>
              <a:rPr lang="en-US" sz="1000"/>
              <a:t>: Budget processes and agency cultures perpetuate silos. </a:t>
            </a:r>
          </a:p>
          <a:p>
            <a:pPr lvl="1"/>
            <a:r>
              <a:rPr lang="en-US" sz="1000"/>
              <a:t>Budgeting processes support silos. </a:t>
            </a:r>
          </a:p>
          <a:p>
            <a:pPr lvl="1"/>
            <a:r>
              <a:rPr lang="en-US" sz="1000"/>
              <a:t>Agency cultures and fear of reorganization create resistance to integrating workload or sharing systems across several agencies.</a:t>
            </a:r>
          </a:p>
          <a:p>
            <a:endParaRPr lang="en-US" sz="10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AE4ABA-CAC1-400F-932A-CBB64F250F9F}" type="slidenum">
              <a:rPr lang="en-US"/>
              <a:pPr/>
              <a:t>9</a:t>
            </a:fld>
            <a:endParaRPr lang="en-US"/>
          </a:p>
        </p:txBody>
      </p:sp>
      <p:sp>
        <p:nvSpPr>
          <p:cNvPr id="1381378" name="Rectangle 2"/>
          <p:cNvSpPr>
            <a:spLocks noChangeArrowheads="1" noTextEdit="1"/>
          </p:cNvSpPr>
          <p:nvPr>
            <p:ph type="sldImg"/>
          </p:nvPr>
        </p:nvSpPr>
        <p:spPr>
          <a:ln/>
        </p:spPr>
      </p:sp>
      <p:sp>
        <p:nvSpPr>
          <p:cNvPr id="1381379" name="Rectangle 3"/>
          <p:cNvSpPr>
            <a:spLocks noGrp="1" noChangeArrowheads="1"/>
          </p:cNvSpPr>
          <p:nvPr>
            <p:ph type="body" idx="1"/>
          </p:nvPr>
        </p:nvSpPr>
        <p:spPr/>
        <p:txBody>
          <a:bodyPr/>
          <a:lstStyle/>
          <a:p>
            <a:r>
              <a:rPr lang="en-US"/>
              <a:t>EGov is the What or Destination  EA is the How or Roadmap of how you get there (Mark Forman says this a lot)</a:t>
            </a:r>
          </a:p>
          <a:p>
            <a:endParaRPr lang="en-US"/>
          </a:p>
          <a:p>
            <a:r>
              <a:rPr lang="en-US"/>
              <a:t>As you can see the means for achieving E-Gov progress is directly related to an mature CIO Program that includes:</a:t>
            </a:r>
          </a:p>
          <a:p>
            <a:r>
              <a:rPr lang="en-US"/>
              <a:t>EA, CPIC, Successful IT Program Mgmt. &amp; IT Security.</a:t>
            </a:r>
          </a:p>
          <a:p>
            <a:endParaRPr lang="en-US"/>
          </a:p>
          <a:p>
            <a:r>
              <a:rPr lang="en-US"/>
              <a:t>They’re telling us that an Agency’s EA &amp; E-GOV Strategies must be integrated!!</a:t>
            </a:r>
          </a:p>
          <a:p>
            <a:endParaRPr lang="en-US"/>
          </a:p>
          <a:p>
            <a:r>
              <a:rPr lang="en-US"/>
              <a:t>A MODERNIZATION BLUEPRINT = A TARGET ARCHITECTURE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2BB2B9-7503-4FC3-A7AC-26B460C0201D}" type="slidenum">
              <a:rPr lang="en-US"/>
              <a:pPr/>
              <a:t>10</a:t>
            </a:fld>
            <a:endParaRPr lang="en-US"/>
          </a:p>
        </p:txBody>
      </p:sp>
      <p:sp>
        <p:nvSpPr>
          <p:cNvPr id="1383426" name="Rectangle 2"/>
          <p:cNvSpPr>
            <a:spLocks noChangeArrowheads="1" noTextEdit="1"/>
          </p:cNvSpPr>
          <p:nvPr>
            <p:ph type="sldImg"/>
          </p:nvPr>
        </p:nvSpPr>
        <p:spPr>
          <a:ln/>
        </p:spPr>
      </p:sp>
      <p:sp>
        <p:nvSpPr>
          <p:cNvPr id="1383427" name="Rectangle 3"/>
          <p:cNvSpPr>
            <a:spLocks noGrp="1" noChangeArrowheads="1"/>
          </p:cNvSpPr>
          <p:nvPr>
            <p:ph type="body" idx="1"/>
          </p:nvPr>
        </p:nvSpPr>
        <p:spPr/>
        <p:txBody>
          <a:bodyPr/>
          <a:lstStyle/>
          <a:p>
            <a:r>
              <a:rPr lang="en-US"/>
              <a:t>The BEA’s Primary MISSION IS TO EFFECTIVELY PLAN IT INVESTMENTS THAT ARE LINKED TO BUSINESS PRIORITIES EFFICIENTLY.</a:t>
            </a:r>
          </a:p>
          <a:p>
            <a:endParaRPr lang="en-US"/>
          </a:p>
          <a:p>
            <a:r>
              <a:rPr lang="en-US"/>
              <a:t>THE BEA PROVIDES THE MEANS FOR ACHIEVING THE ABOVE THREE FUNDAMENTALS FOR ACHIEVING E-GOV.  IT IS THE PRIMARY STOREHOUSE OF THE ABOVE INFORMATION.</a:t>
            </a:r>
          </a:p>
          <a:p>
            <a:endParaRPr lang="en-US"/>
          </a:p>
          <a:p>
            <a:r>
              <a:rPr lang="en-US"/>
              <a:t>BLM HAS BEEN HAMPERED IN THE PAST FROM DEVELOPING THIS PLAN – TARGET ARCHITECTURE BECAUSE WE LACKED THE TOOL TO EFFECTIVELY PERFORM THE FIRST BULLET AT AN ENTERPRISE LEVEL.</a:t>
            </a:r>
          </a:p>
          <a:p>
            <a:endParaRPr lang="en-US"/>
          </a:p>
          <a:p>
            <a:r>
              <a:rPr lang="en-US"/>
              <a:t>WE’VE COLLECTED THE DATA BUT HAD NO REAL MECHANISM FOR PERFORMING THE ANALYSIS AT AN ENTERPRISE LEVEL.  NOW THAT WE’VE MIGRATED ALL THE INFORMATION TO A TOOL SET THAT ALLOWS US TO PERFORM THESE ANALYSES WE ARE WELL POSITIONED TO DEVELOP OUR EA BLUEPRINT – WITH YOUR HELP!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B8502-A98E-403F-8C46-BFB9B8275DD2}" type="slidenum">
              <a:rPr lang="en-US"/>
              <a:pPr/>
              <a:t>11</a:t>
            </a:fld>
            <a:endParaRPr lang="en-US"/>
          </a:p>
        </p:txBody>
      </p:sp>
      <p:sp>
        <p:nvSpPr>
          <p:cNvPr id="1385474" name="Rectangle 2"/>
          <p:cNvSpPr>
            <a:spLocks noChangeArrowheads="1" noTextEdit="1"/>
          </p:cNvSpPr>
          <p:nvPr>
            <p:ph type="sldImg"/>
          </p:nvPr>
        </p:nvSpPr>
        <p:spPr>
          <a:ln/>
        </p:spPr>
      </p:sp>
      <p:sp>
        <p:nvSpPr>
          <p:cNvPr id="1385475" name="Rectangle 3"/>
          <p:cNvSpPr>
            <a:spLocks noGrp="1" noChangeArrowheads="1"/>
          </p:cNvSpPr>
          <p:nvPr>
            <p:ph type="body" idx="1"/>
          </p:nvPr>
        </p:nvSpPr>
        <p:spPr/>
        <p:txBody>
          <a:bodyPr/>
          <a:lstStyle/>
          <a:p>
            <a:r>
              <a:rPr lang="en-US"/>
              <a:t>The BEA’s Primary MISSION IS TO EFFECTIVELY PLAN IT INVESTMENTS THAT ARE LINKED TO BUSINESS PRIORITIES SECURELY AND EFFICIENTLY.</a:t>
            </a:r>
          </a:p>
          <a:p>
            <a:endParaRPr lang="en-US"/>
          </a:p>
          <a:p>
            <a:r>
              <a:rPr lang="en-US"/>
              <a:t>THE BEA PROVIDES THE MEANS FOR ACHIEVING THE ABOVE THREE FUNDAMENTALS FOR ACHIEVING E-GOV.  IT IS THE PRIMARY STOREHOUSE OF THE ABOVE INFORMATION.</a:t>
            </a:r>
          </a:p>
          <a:p>
            <a:endParaRPr lang="en-US"/>
          </a:p>
          <a:p>
            <a:r>
              <a:rPr lang="en-US"/>
              <a:t>BLM HAS BEEN HAMPERED IN THE PAST FROM DEVELOPING THIS PLAN – TARGET ARCHITECTURE BECAUSE WE LACKED THE TOOL TO EFFECTIVELY PERFORM THE FIRST BULLET AT AN ENTERPRISE LEVEL.</a:t>
            </a:r>
          </a:p>
          <a:p>
            <a:endParaRPr lang="en-US"/>
          </a:p>
          <a:p>
            <a:r>
              <a:rPr lang="en-US"/>
              <a:t>WE’VE COLLECTED THE DATA BUT HAD NO REAL MECHANISM FOR PERFORMING THE ANALYSIS AT AN ENTERPRISE LEVEL.  NOW THAT WE’VE MIGRATED ALL THE INFORMATION TO A TOOL SET THAT ALLOWS US TO PERFORM THESE ANALYSES WE ARE WELL POSITIONED TO DEVELOP OUR EA BLUEPRINT – WITH YOUR HELP!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CFE68F-A14D-4732-B2CC-5508124D4624}" type="slidenum">
              <a:rPr lang="en-US"/>
              <a:pPr/>
              <a:t>24</a:t>
            </a:fld>
            <a:endParaRPr lang="en-US"/>
          </a:p>
        </p:txBody>
      </p:sp>
      <p:sp>
        <p:nvSpPr>
          <p:cNvPr id="1391618" name="Rectangle 2"/>
          <p:cNvSpPr>
            <a:spLocks noChangeArrowheads="1" noTextEdit="1"/>
          </p:cNvSpPr>
          <p:nvPr>
            <p:ph type="sldImg"/>
          </p:nvPr>
        </p:nvSpPr>
        <p:spPr>
          <a:xfrm>
            <a:off x="1162050" y="690563"/>
            <a:ext cx="4608513" cy="3455987"/>
          </a:xfrm>
          <a:ln/>
        </p:spPr>
      </p:sp>
      <p:sp>
        <p:nvSpPr>
          <p:cNvPr id="1391619" name="Rectangle 3"/>
          <p:cNvSpPr>
            <a:spLocks noGrp="1" noChangeArrowheads="1"/>
          </p:cNvSpPr>
          <p:nvPr>
            <p:ph type="body" idx="1"/>
          </p:nvPr>
        </p:nvSpPr>
        <p:spPr>
          <a:xfrm>
            <a:off x="923925" y="4376738"/>
            <a:ext cx="5081588" cy="4146550"/>
          </a:xfrm>
        </p:spPr>
        <p:txBody>
          <a:bodyPr wrap="square" lIns="91994" tIns="45998" rIns="91994" bIns="45998" anchor="t"/>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987A96-90C8-4F06-AE2F-4055809F0DC3}" type="slidenum">
              <a:rPr lang="en-US"/>
              <a:pPr/>
              <a:t>28</a:t>
            </a:fld>
            <a:endParaRPr lang="en-US"/>
          </a:p>
        </p:txBody>
      </p:sp>
      <p:sp>
        <p:nvSpPr>
          <p:cNvPr id="1400834" name="Rectangle 2"/>
          <p:cNvSpPr>
            <a:spLocks noChangeArrowheads="1" noTextEdit="1"/>
          </p:cNvSpPr>
          <p:nvPr>
            <p:ph type="sldImg"/>
          </p:nvPr>
        </p:nvSpPr>
        <p:spPr>
          <a:xfrm>
            <a:off x="1162050" y="692150"/>
            <a:ext cx="4608513" cy="3455988"/>
          </a:xfrm>
          <a:ln/>
        </p:spPr>
      </p:sp>
      <p:sp>
        <p:nvSpPr>
          <p:cNvPr id="1400835" name="Rectangle 3"/>
          <p:cNvSpPr>
            <a:spLocks noGrp="1" noChangeArrowheads="1"/>
          </p:cNvSpPr>
          <p:nvPr>
            <p:ph type="body" idx="1"/>
          </p:nvPr>
        </p:nvSpPr>
        <p:spPr>
          <a:xfrm>
            <a:off x="923925" y="4376738"/>
            <a:ext cx="5081588" cy="4144962"/>
          </a:xfrm>
        </p:spPr>
        <p:txBody>
          <a:bodyPr wrap="square" lIns="92160" tIns="46079" rIns="92160" bIns="46079" anchor="t"/>
          <a:lstStyle/>
          <a:p>
            <a:r>
              <a:rPr lang="en-US" sz="900"/>
              <a:t>The FEA Business Reference Model (BRM) is a function-driven framework for describing the Lines of Business performed by the Federal Government independent of the Agencies that perform them</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43ABAC-AF55-405F-87D6-DBBB02AD2CFC}" type="slidenum">
              <a:rPr lang="en-US"/>
              <a:pPr/>
              <a:t>29</a:t>
            </a:fld>
            <a:endParaRPr lang="en-US"/>
          </a:p>
        </p:txBody>
      </p:sp>
      <p:sp>
        <p:nvSpPr>
          <p:cNvPr id="1402882" name="Rectangle 2"/>
          <p:cNvSpPr>
            <a:spLocks noChangeArrowheads="1" noTextEdit="1"/>
          </p:cNvSpPr>
          <p:nvPr>
            <p:ph type="sldImg"/>
          </p:nvPr>
        </p:nvSpPr>
        <p:spPr>
          <a:xfrm>
            <a:off x="1160463" y="690563"/>
            <a:ext cx="4610100" cy="3457575"/>
          </a:xfrm>
          <a:ln/>
        </p:spPr>
      </p:sp>
      <p:sp>
        <p:nvSpPr>
          <p:cNvPr id="1402883" name="Rectangle 3"/>
          <p:cNvSpPr>
            <a:spLocks noGrp="1" noChangeArrowheads="1"/>
          </p:cNvSpPr>
          <p:nvPr>
            <p:ph type="body" idx="1"/>
          </p:nvPr>
        </p:nvSpPr>
        <p:spPr>
          <a:xfrm>
            <a:off x="923925" y="4376738"/>
            <a:ext cx="5081588" cy="4146550"/>
          </a:xfrm>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1896D6-BE84-48C9-977E-80F2747A0FAC}" type="slidenum">
              <a:rPr lang="en-US"/>
              <a:pPr/>
              <a:t>30</a:t>
            </a:fld>
            <a:endParaRPr lang="en-US"/>
          </a:p>
        </p:txBody>
      </p:sp>
      <p:sp>
        <p:nvSpPr>
          <p:cNvPr id="1404930" name="Rectangle 2"/>
          <p:cNvSpPr>
            <a:spLocks noChangeArrowheads="1" noTextEdit="1"/>
          </p:cNvSpPr>
          <p:nvPr>
            <p:ph type="sldImg"/>
          </p:nvPr>
        </p:nvSpPr>
        <p:spPr>
          <a:xfrm>
            <a:off x="1160463" y="690563"/>
            <a:ext cx="4610100" cy="3457575"/>
          </a:xfrm>
          <a:ln/>
        </p:spPr>
      </p:sp>
      <p:sp>
        <p:nvSpPr>
          <p:cNvPr id="1404931" name="Rectangle 3"/>
          <p:cNvSpPr>
            <a:spLocks noGrp="1" noChangeArrowheads="1"/>
          </p:cNvSpPr>
          <p:nvPr>
            <p:ph type="body" idx="1"/>
          </p:nvPr>
        </p:nvSpPr>
        <p:spPr>
          <a:xfrm>
            <a:off x="923925" y="4376738"/>
            <a:ext cx="5081588" cy="4146550"/>
          </a:xfrm>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EB3FCC-92BF-4E38-ACD3-C3D7DE76B8B2}" type="slidenum">
              <a:rPr lang="en-US" smtClean="0"/>
              <a:pPr/>
              <a:t>44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97378" name="Rectangle 2"/>
          <p:cNvSpPr>
            <a:spLocks noChangeArrowheads="1"/>
          </p:cNvSpPr>
          <p:nvPr/>
        </p:nvSpPr>
        <p:spPr bwMode="hidden">
          <a:xfrm>
            <a:off x="0" y="5257800"/>
            <a:ext cx="9144000" cy="1600200"/>
          </a:xfrm>
          <a:prstGeom prst="rect">
            <a:avLst/>
          </a:prstGeom>
          <a:solidFill>
            <a:schemeClr val="accent1"/>
          </a:solidFill>
          <a:ln w="9525">
            <a:solidFill>
              <a:schemeClr val="hlink"/>
            </a:solidFill>
            <a:miter lim="800000"/>
            <a:headEnd/>
            <a:tailEnd/>
          </a:ln>
          <a:effectLst/>
        </p:spPr>
        <p:txBody>
          <a:bodyPr wrap="none" anchor="ctr"/>
          <a:lstStyle/>
          <a:p>
            <a:endParaRPr lang="en-US"/>
          </a:p>
        </p:txBody>
      </p:sp>
      <p:sp>
        <p:nvSpPr>
          <p:cNvPr id="997379" name="Rectangle 3"/>
          <p:cNvSpPr>
            <a:spLocks noChangeArrowheads="1"/>
          </p:cNvSpPr>
          <p:nvPr/>
        </p:nvSpPr>
        <p:spPr bwMode="hidden">
          <a:xfrm>
            <a:off x="0" y="0"/>
            <a:ext cx="9144000" cy="1600200"/>
          </a:xfrm>
          <a:prstGeom prst="rect">
            <a:avLst/>
          </a:prstGeom>
          <a:solidFill>
            <a:schemeClr val="accent1"/>
          </a:solidFill>
          <a:ln w="9525">
            <a:solidFill>
              <a:schemeClr val="hlink"/>
            </a:solidFill>
            <a:miter lim="800000"/>
            <a:headEnd/>
            <a:tailEnd/>
          </a:ln>
          <a:effectLst/>
        </p:spPr>
        <p:txBody>
          <a:bodyPr wrap="none" anchor="ctr"/>
          <a:lstStyle/>
          <a:p>
            <a:endParaRPr lang="en-US"/>
          </a:p>
        </p:txBody>
      </p:sp>
      <p:sp>
        <p:nvSpPr>
          <p:cNvPr id="997380" name="Rectangle 4"/>
          <p:cNvSpPr>
            <a:spLocks noGrp="1" noChangeArrowheads="1"/>
          </p:cNvSpPr>
          <p:nvPr>
            <p:ph type="subTitle" idx="1"/>
          </p:nvPr>
        </p:nvSpPr>
        <p:spPr>
          <a:xfrm>
            <a:off x="1828800" y="4267200"/>
            <a:ext cx="4343400" cy="914400"/>
          </a:xfrm>
        </p:spPr>
        <p:txBody>
          <a:bodyPr lIns="91440" tIns="18000" rIns="91440"/>
          <a:lstStyle>
            <a:lvl1pPr marL="0" indent="0">
              <a:buFont typeface="Wingdings" pitchFamily="2" charset="2"/>
              <a:buNone/>
              <a:defRPr sz="2400">
                <a:solidFill>
                  <a:schemeClr val="bg2"/>
                </a:solidFill>
              </a:defRPr>
            </a:lvl1pPr>
          </a:lstStyle>
          <a:p>
            <a:r>
              <a:rPr lang="en-US"/>
              <a:t>Slide Subtitle</a:t>
            </a:r>
          </a:p>
        </p:txBody>
      </p:sp>
      <p:sp>
        <p:nvSpPr>
          <p:cNvPr id="997381" name="Line 5"/>
          <p:cNvSpPr>
            <a:spLocks noChangeShapeType="1"/>
          </p:cNvSpPr>
          <p:nvPr/>
        </p:nvSpPr>
        <p:spPr bwMode="auto">
          <a:xfrm flipV="1">
            <a:off x="1828800" y="1219200"/>
            <a:ext cx="0" cy="381000"/>
          </a:xfrm>
          <a:prstGeom prst="line">
            <a:avLst/>
          </a:prstGeom>
          <a:noFill/>
          <a:ln w="9525">
            <a:solidFill>
              <a:schemeClr val="bg1"/>
            </a:solidFill>
            <a:round/>
            <a:headEnd/>
            <a:tailEnd/>
          </a:ln>
          <a:effectLst/>
        </p:spPr>
        <p:txBody>
          <a:bodyPr/>
          <a:lstStyle/>
          <a:p>
            <a:endParaRPr lang="en-US"/>
          </a:p>
        </p:txBody>
      </p:sp>
      <p:sp>
        <p:nvSpPr>
          <p:cNvPr id="997382" name="Rectangle 6"/>
          <p:cNvSpPr>
            <a:spLocks noChangeArrowheads="1"/>
          </p:cNvSpPr>
          <p:nvPr/>
        </p:nvSpPr>
        <p:spPr bwMode="auto">
          <a:xfrm>
            <a:off x="1905000" y="1219200"/>
            <a:ext cx="5138738" cy="306388"/>
          </a:xfrm>
          <a:prstGeom prst="rect">
            <a:avLst/>
          </a:prstGeom>
          <a:noFill/>
          <a:ln w="9525" algn="ctr">
            <a:noFill/>
            <a:miter lim="800000"/>
            <a:headEnd/>
            <a:tailEnd/>
          </a:ln>
          <a:effectLst/>
        </p:spPr>
        <p:txBody>
          <a:bodyPr lIns="18288" tIns="18288" rIns="18288" bIns="18288" anchor="ctr"/>
          <a:lstStyle/>
          <a:p>
            <a:pPr marL="342900" indent="-342900" algn="l">
              <a:lnSpc>
                <a:spcPct val="98000"/>
              </a:lnSpc>
              <a:spcBef>
                <a:spcPct val="20000"/>
              </a:spcBef>
              <a:buFontTx/>
              <a:buNone/>
            </a:pPr>
            <a:r>
              <a:rPr lang="en-US" sz="1700">
                <a:solidFill>
                  <a:schemeClr val="bg1"/>
                </a:solidFill>
              </a:rPr>
              <a:t>Interior Enterprise Architecture (IEA)</a:t>
            </a:r>
          </a:p>
        </p:txBody>
      </p:sp>
      <p:sp>
        <p:nvSpPr>
          <p:cNvPr id="997383" name="Line 7"/>
          <p:cNvSpPr>
            <a:spLocks noChangeShapeType="1"/>
          </p:cNvSpPr>
          <p:nvPr/>
        </p:nvSpPr>
        <p:spPr bwMode="auto">
          <a:xfrm>
            <a:off x="0" y="1600200"/>
            <a:ext cx="9144000" cy="0"/>
          </a:xfrm>
          <a:prstGeom prst="line">
            <a:avLst/>
          </a:prstGeom>
          <a:noFill/>
          <a:ln w="9525">
            <a:solidFill>
              <a:srgbClr val="760000"/>
            </a:solidFill>
            <a:miter lim="800000"/>
            <a:headEnd/>
            <a:tailEnd/>
          </a:ln>
          <a:effectLst/>
        </p:spPr>
        <p:txBody>
          <a:bodyPr wrap="none"/>
          <a:lstStyle/>
          <a:p>
            <a:endParaRPr lang="en-US"/>
          </a:p>
        </p:txBody>
      </p:sp>
      <p:sp>
        <p:nvSpPr>
          <p:cNvPr id="997384" name="Line 8"/>
          <p:cNvSpPr>
            <a:spLocks noChangeShapeType="1"/>
          </p:cNvSpPr>
          <p:nvPr/>
        </p:nvSpPr>
        <p:spPr bwMode="auto">
          <a:xfrm>
            <a:off x="0" y="5257800"/>
            <a:ext cx="9144000" cy="0"/>
          </a:xfrm>
          <a:prstGeom prst="line">
            <a:avLst/>
          </a:prstGeom>
          <a:noFill/>
          <a:ln w="6350">
            <a:solidFill>
              <a:srgbClr val="760000"/>
            </a:solidFill>
            <a:miter lim="800000"/>
            <a:headEnd/>
            <a:tailEnd/>
          </a:ln>
          <a:effectLst/>
        </p:spPr>
        <p:txBody>
          <a:bodyPr wrap="none"/>
          <a:lstStyle/>
          <a:p>
            <a:endParaRPr lang="en-US"/>
          </a:p>
        </p:txBody>
      </p:sp>
      <p:sp>
        <p:nvSpPr>
          <p:cNvPr id="997385" name="Line 9"/>
          <p:cNvSpPr>
            <a:spLocks noChangeShapeType="1"/>
          </p:cNvSpPr>
          <p:nvPr/>
        </p:nvSpPr>
        <p:spPr bwMode="auto">
          <a:xfrm>
            <a:off x="1828800" y="4343400"/>
            <a:ext cx="0" cy="914400"/>
          </a:xfrm>
          <a:prstGeom prst="line">
            <a:avLst/>
          </a:prstGeom>
          <a:noFill/>
          <a:ln w="9525">
            <a:solidFill>
              <a:schemeClr val="tx1"/>
            </a:solidFill>
            <a:miter lim="800000"/>
            <a:headEnd/>
            <a:tailEnd/>
          </a:ln>
          <a:effectLst/>
        </p:spPr>
        <p:txBody>
          <a:bodyPr/>
          <a:lstStyle/>
          <a:p>
            <a:endParaRPr lang="en-US"/>
          </a:p>
        </p:txBody>
      </p:sp>
      <p:sp>
        <p:nvSpPr>
          <p:cNvPr id="997386" name="Rectangle 10"/>
          <p:cNvSpPr>
            <a:spLocks noGrp="1" noChangeArrowheads="1"/>
          </p:cNvSpPr>
          <p:nvPr>
            <p:ph type="ctrTitle" sz="quarter"/>
          </p:nvPr>
        </p:nvSpPr>
        <p:spPr>
          <a:xfrm>
            <a:off x="838200" y="2667000"/>
            <a:ext cx="5334000" cy="914400"/>
          </a:xfrm>
        </p:spPr>
        <p:txBody>
          <a:bodyPr lIns="91440" rIns="91440" anchor="t"/>
          <a:lstStyle>
            <a:lvl1pPr>
              <a:defRPr sz="3200" b="0"/>
            </a:lvl1pPr>
          </a:lstStyle>
          <a:p>
            <a:r>
              <a:rPr lang="en-US"/>
              <a:t>Main Slide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85800"/>
            <a:ext cx="2057400" cy="54403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85800"/>
            <a:ext cx="6019800" cy="54403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2352675" y="6534150"/>
            <a:ext cx="4114800" cy="323850"/>
          </a:xfrm>
        </p:spPr>
        <p:txBody>
          <a:bodyPr/>
          <a:lstStyle>
            <a:lvl1pPr>
              <a:defRPr sz="800"/>
            </a:lvl1pPr>
          </a:lstStyle>
          <a:p>
            <a:r>
              <a:rPr lang="en-US"/>
              <a:t>DOI Business Architecture Team Enterprise Architecture  |   </a:t>
            </a:r>
            <a:fld id="{4E463DCD-96CD-4756-9CD6-4C5B8F613A5B}" type="datetime1">
              <a:rPr lang="en-US"/>
              <a:pPr/>
              <a:t>3/30/2010</a:t>
            </a:fld>
            <a:r>
              <a:rPr lang="en-US"/>
              <a:t>  |</a:t>
            </a:r>
          </a:p>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96354" name="Rectangle 2"/>
          <p:cNvSpPr>
            <a:spLocks noChangeArrowheads="1"/>
          </p:cNvSpPr>
          <p:nvPr/>
        </p:nvSpPr>
        <p:spPr bwMode="hidden">
          <a:xfrm>
            <a:off x="0" y="6477000"/>
            <a:ext cx="9144000" cy="381000"/>
          </a:xfrm>
          <a:prstGeom prst="rect">
            <a:avLst/>
          </a:prstGeom>
          <a:solidFill>
            <a:schemeClr val="accent1"/>
          </a:solidFill>
          <a:ln w="9525">
            <a:solidFill>
              <a:schemeClr val="hlink"/>
            </a:solidFill>
            <a:miter lim="800000"/>
            <a:headEnd/>
            <a:tailEnd/>
          </a:ln>
          <a:effectLst/>
        </p:spPr>
        <p:txBody>
          <a:bodyPr wrap="none" anchor="ctr"/>
          <a:lstStyle/>
          <a:p>
            <a:endParaRPr lang="en-US" sz="2000"/>
          </a:p>
        </p:txBody>
      </p:sp>
      <p:sp>
        <p:nvSpPr>
          <p:cNvPr id="996355" name="Rectangle 3"/>
          <p:cNvSpPr>
            <a:spLocks noChangeArrowheads="1"/>
          </p:cNvSpPr>
          <p:nvPr/>
        </p:nvSpPr>
        <p:spPr bwMode="hidden">
          <a:xfrm>
            <a:off x="0" y="0"/>
            <a:ext cx="9144000" cy="504825"/>
          </a:xfrm>
          <a:prstGeom prst="rect">
            <a:avLst/>
          </a:prstGeom>
          <a:solidFill>
            <a:schemeClr val="accent1"/>
          </a:solidFill>
          <a:ln w="9525">
            <a:solidFill>
              <a:schemeClr val="hlink"/>
            </a:solidFill>
            <a:miter lim="800000"/>
            <a:headEnd/>
            <a:tailEnd/>
          </a:ln>
          <a:effectLst/>
        </p:spPr>
        <p:txBody>
          <a:bodyPr wrap="none" anchor="ctr"/>
          <a:lstStyle/>
          <a:p>
            <a:endParaRPr lang="en-US"/>
          </a:p>
        </p:txBody>
      </p:sp>
      <p:sp>
        <p:nvSpPr>
          <p:cNvPr id="996356" name="Rectangle 4"/>
          <p:cNvSpPr>
            <a:spLocks noGrp="1" noChangeArrowheads="1"/>
          </p:cNvSpPr>
          <p:nvPr>
            <p:ph type="title"/>
          </p:nvPr>
        </p:nvSpPr>
        <p:spPr bwMode="auto">
          <a:xfrm>
            <a:off x="457200" y="685800"/>
            <a:ext cx="8229600" cy="838200"/>
          </a:xfrm>
          <a:prstGeom prst="rect">
            <a:avLst/>
          </a:prstGeom>
          <a:noFill/>
          <a:ln w="9525">
            <a:noFill/>
            <a:miter lim="800000"/>
            <a:headEnd/>
            <a:tailEnd/>
          </a:ln>
          <a:effectLst/>
        </p:spPr>
        <p:txBody>
          <a:bodyPr vert="horz" wrap="square" lIns="0" tIns="45720" rIns="0" bIns="45720" numCol="1" anchor="b" anchorCtr="0" compatLnSpc="1">
            <a:prstTxWarp prst="textNoShape">
              <a:avLst/>
            </a:prstTxWarp>
          </a:bodyPr>
          <a:lstStyle/>
          <a:p>
            <a:pPr lvl="0"/>
            <a:r>
              <a:rPr lang="en-US" smtClean="0"/>
              <a:t>Main Slide Title</a:t>
            </a:r>
          </a:p>
        </p:txBody>
      </p:sp>
      <p:sp>
        <p:nvSpPr>
          <p:cNvPr id="996357" name="Rectangle 5"/>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p>
            <a:pPr lvl="0"/>
            <a:r>
              <a:rPr lang="en-US" smtClean="0"/>
              <a:t>Level One</a:t>
            </a:r>
          </a:p>
          <a:p>
            <a:pPr lvl="1"/>
            <a:r>
              <a:rPr lang="en-US" smtClean="0"/>
              <a:t>Level Two</a:t>
            </a:r>
          </a:p>
          <a:p>
            <a:pPr lvl="2"/>
            <a:r>
              <a:rPr lang="en-US" smtClean="0"/>
              <a:t>Level Three</a:t>
            </a:r>
          </a:p>
          <a:p>
            <a:pPr lvl="3"/>
            <a:r>
              <a:rPr lang="en-US" smtClean="0"/>
              <a:t>Level Four</a:t>
            </a:r>
          </a:p>
          <a:p>
            <a:pPr lvl="4"/>
            <a:r>
              <a:rPr lang="en-US" smtClean="0"/>
              <a:t>Level Five</a:t>
            </a:r>
          </a:p>
        </p:txBody>
      </p:sp>
      <p:sp>
        <p:nvSpPr>
          <p:cNvPr id="996358" name="Line 6"/>
          <p:cNvSpPr>
            <a:spLocks noChangeShapeType="1"/>
          </p:cNvSpPr>
          <p:nvPr/>
        </p:nvSpPr>
        <p:spPr bwMode="auto">
          <a:xfrm flipV="1">
            <a:off x="1524000" y="152400"/>
            <a:ext cx="0" cy="228600"/>
          </a:xfrm>
          <a:prstGeom prst="line">
            <a:avLst/>
          </a:prstGeom>
          <a:noFill/>
          <a:ln w="9525">
            <a:solidFill>
              <a:schemeClr val="bg1"/>
            </a:solidFill>
            <a:round/>
            <a:headEnd/>
            <a:tailEnd/>
          </a:ln>
          <a:effectLst/>
        </p:spPr>
        <p:txBody>
          <a:bodyPr/>
          <a:lstStyle/>
          <a:p>
            <a:endParaRPr lang="en-US"/>
          </a:p>
        </p:txBody>
      </p:sp>
      <p:sp>
        <p:nvSpPr>
          <p:cNvPr id="996359" name="Line 7"/>
          <p:cNvSpPr>
            <a:spLocks noChangeShapeType="1"/>
          </p:cNvSpPr>
          <p:nvPr/>
        </p:nvSpPr>
        <p:spPr bwMode="auto">
          <a:xfrm flipV="1">
            <a:off x="1524000" y="6477000"/>
            <a:ext cx="0" cy="228600"/>
          </a:xfrm>
          <a:prstGeom prst="line">
            <a:avLst/>
          </a:prstGeom>
          <a:noFill/>
          <a:ln w="9525">
            <a:solidFill>
              <a:schemeClr val="bg1"/>
            </a:solidFill>
            <a:round/>
            <a:headEnd/>
            <a:tailEnd/>
          </a:ln>
          <a:effectLst/>
        </p:spPr>
        <p:txBody>
          <a:bodyPr/>
          <a:lstStyle/>
          <a:p>
            <a:endParaRPr lang="en-US"/>
          </a:p>
        </p:txBody>
      </p:sp>
      <p:sp>
        <p:nvSpPr>
          <p:cNvPr id="996360" name="Line 8"/>
          <p:cNvSpPr>
            <a:spLocks noChangeShapeType="1"/>
          </p:cNvSpPr>
          <p:nvPr/>
        </p:nvSpPr>
        <p:spPr bwMode="auto">
          <a:xfrm>
            <a:off x="0" y="504825"/>
            <a:ext cx="9144000" cy="0"/>
          </a:xfrm>
          <a:prstGeom prst="line">
            <a:avLst/>
          </a:prstGeom>
          <a:noFill/>
          <a:ln w="6350">
            <a:solidFill>
              <a:schemeClr val="accent1"/>
            </a:solidFill>
            <a:miter lim="800000"/>
            <a:headEnd/>
            <a:tailEnd/>
          </a:ln>
          <a:effectLst/>
        </p:spPr>
        <p:txBody>
          <a:bodyPr wrap="none"/>
          <a:lstStyle/>
          <a:p>
            <a:endParaRPr lang="en-US"/>
          </a:p>
        </p:txBody>
      </p:sp>
      <p:sp>
        <p:nvSpPr>
          <p:cNvPr id="996361" name="Line 9"/>
          <p:cNvSpPr>
            <a:spLocks noChangeShapeType="1"/>
          </p:cNvSpPr>
          <p:nvPr/>
        </p:nvSpPr>
        <p:spPr bwMode="auto">
          <a:xfrm>
            <a:off x="0" y="6477000"/>
            <a:ext cx="9144000" cy="0"/>
          </a:xfrm>
          <a:prstGeom prst="line">
            <a:avLst/>
          </a:prstGeom>
          <a:noFill/>
          <a:ln w="6350">
            <a:solidFill>
              <a:schemeClr val="accent1"/>
            </a:solidFill>
            <a:miter lim="800000"/>
            <a:headEnd/>
            <a:tailEnd/>
          </a:ln>
          <a:effectLst/>
        </p:spPr>
        <p:txBody>
          <a:bodyPr wrap="none"/>
          <a:lstStyle/>
          <a:p>
            <a:endParaRPr lang="en-US"/>
          </a:p>
        </p:txBody>
      </p:sp>
      <p:sp>
        <p:nvSpPr>
          <p:cNvPr id="996362" name="Line 10"/>
          <p:cNvSpPr>
            <a:spLocks noChangeShapeType="1"/>
          </p:cNvSpPr>
          <p:nvPr/>
        </p:nvSpPr>
        <p:spPr bwMode="auto">
          <a:xfrm>
            <a:off x="457200" y="1524000"/>
            <a:ext cx="8229600" cy="0"/>
          </a:xfrm>
          <a:prstGeom prst="line">
            <a:avLst/>
          </a:prstGeom>
          <a:noFill/>
          <a:ln w="9525">
            <a:solidFill>
              <a:schemeClr val="tx1"/>
            </a:solidFill>
            <a:miter lim="800000"/>
            <a:headEnd/>
            <a:tailEnd/>
          </a:ln>
          <a:effectLst/>
        </p:spPr>
        <p:txBody>
          <a:bodyPr wrap="none"/>
          <a:lstStyle/>
          <a:p>
            <a:endParaRPr lang="en-US"/>
          </a:p>
        </p:txBody>
      </p:sp>
      <p:sp>
        <p:nvSpPr>
          <p:cNvPr id="996363" name="Rectangle 11"/>
          <p:cNvSpPr>
            <a:spLocks noGrp="1" noChangeArrowheads="1"/>
          </p:cNvSpPr>
          <p:nvPr>
            <p:ph type="ftr" sz="quarter" idx="3"/>
          </p:nvPr>
        </p:nvSpPr>
        <p:spPr bwMode="auto">
          <a:xfrm>
            <a:off x="2352675" y="6534150"/>
            <a:ext cx="4114800" cy="323850"/>
          </a:xfrm>
          <a:prstGeom prst="rect">
            <a:avLst/>
          </a:prstGeom>
          <a:solidFill>
            <a:schemeClr val="accent1"/>
          </a:solidFill>
          <a:ln w="9525">
            <a:noFill/>
            <a:miter lim="800000"/>
            <a:headEnd/>
            <a:tailEnd/>
          </a:ln>
          <a:effectLst/>
        </p:spPr>
        <p:txBody>
          <a:bodyPr vert="horz" wrap="square" lIns="91440" tIns="68400" rIns="91440" bIns="45720" numCol="1" anchor="t" anchorCtr="0" compatLnSpc="1">
            <a:prstTxWarp prst="textNoShape">
              <a:avLst/>
            </a:prstTxWarp>
          </a:bodyPr>
          <a:lstStyle>
            <a:lvl1pPr algn="l">
              <a:buFontTx/>
              <a:buNone/>
              <a:defRPr sz="700">
                <a:solidFill>
                  <a:schemeClr val="bg1"/>
                </a:solidFill>
              </a:defRPr>
            </a:lvl1pPr>
          </a:lstStyle>
          <a:p>
            <a:r>
              <a:rPr lang="en-US" sz="800"/>
              <a:t>DOI Business Architecture Team Enterprise Architecture  |  </a:t>
            </a:r>
            <a:r>
              <a:rPr lang="en-US"/>
              <a:t> </a:t>
            </a:r>
            <a:fld id="{4E463DCD-96CD-4756-9CD6-4C5B8F613A5B}" type="datetime1">
              <a:rPr lang="en-US" sz="800"/>
              <a:pPr/>
              <a:t>3/30/2010</a:t>
            </a:fld>
            <a:r>
              <a:rPr lang="en-US" sz="800"/>
              <a:t>  |</a:t>
            </a:r>
          </a:p>
          <a:p>
            <a:endParaRPr lang="en-US"/>
          </a:p>
        </p:txBody>
      </p:sp>
      <p:sp>
        <p:nvSpPr>
          <p:cNvPr id="996368" name="Text Box 16"/>
          <p:cNvSpPr txBox="1">
            <a:spLocks noChangeArrowheads="1"/>
          </p:cNvSpPr>
          <p:nvPr/>
        </p:nvSpPr>
        <p:spPr bwMode="auto">
          <a:xfrm>
            <a:off x="8010525" y="6551613"/>
            <a:ext cx="981075" cy="182562"/>
          </a:xfrm>
          <a:prstGeom prst="rect">
            <a:avLst/>
          </a:prstGeom>
          <a:noFill/>
          <a:ln w="6350">
            <a:noFill/>
            <a:miter lim="800000"/>
            <a:headEnd/>
            <a:tailEnd/>
          </a:ln>
          <a:effectLst/>
        </p:spPr>
        <p:txBody>
          <a:bodyPr lIns="0" tIns="0" rIns="0" bIns="0">
            <a:spAutoFit/>
          </a:bodyPr>
          <a:lstStyle/>
          <a:p>
            <a:pPr>
              <a:spcBef>
                <a:spcPct val="50000"/>
              </a:spcBef>
            </a:pPr>
            <a:r>
              <a:rPr lang="en-US" sz="1200">
                <a:solidFill>
                  <a:schemeClr val="bg1"/>
                </a:solidFill>
              </a:rPr>
              <a:t>Page </a:t>
            </a:r>
            <a:fld id="{1E0C2CE1-461D-4978-9AAF-A2F8B796120F}" type="slidenum">
              <a:rPr lang="en-US" sz="1200">
                <a:solidFill>
                  <a:schemeClr val="bg1"/>
                </a:solidFill>
              </a:rPr>
              <a:pPr>
                <a:spcBef>
                  <a:spcPct val="50000"/>
                </a:spcBef>
              </a:pPr>
              <a:t>‹#›</a:t>
            </a:fld>
            <a:endParaRPr lang="en-US" sz="1200">
              <a:solidFill>
                <a:schemeClr val="bg1"/>
              </a:solidFill>
            </a:endParaRPr>
          </a:p>
        </p:txBody>
      </p:sp>
      <p:sp>
        <p:nvSpPr>
          <p:cNvPr id="996371" name="Rectangle 19"/>
          <p:cNvSpPr>
            <a:spLocks noChangeArrowheads="1"/>
          </p:cNvSpPr>
          <p:nvPr/>
        </p:nvSpPr>
        <p:spPr bwMode="auto">
          <a:xfrm>
            <a:off x="1905000" y="150813"/>
            <a:ext cx="5138738" cy="306387"/>
          </a:xfrm>
          <a:prstGeom prst="rect">
            <a:avLst/>
          </a:prstGeom>
          <a:noFill/>
          <a:ln w="9525" algn="ctr">
            <a:noFill/>
            <a:miter lim="800000"/>
            <a:headEnd/>
            <a:tailEnd/>
          </a:ln>
          <a:effectLst/>
        </p:spPr>
        <p:txBody>
          <a:bodyPr lIns="18288" tIns="18288" rIns="18288" bIns="18288" anchor="ctr"/>
          <a:lstStyle/>
          <a:p>
            <a:pPr marL="342900" indent="-342900" algn="l">
              <a:lnSpc>
                <a:spcPct val="98000"/>
              </a:lnSpc>
              <a:spcBef>
                <a:spcPct val="20000"/>
              </a:spcBef>
              <a:buFontTx/>
              <a:buNone/>
            </a:pPr>
            <a:r>
              <a:rPr lang="en-US" sz="1700">
                <a:solidFill>
                  <a:schemeClr val="bg1"/>
                </a:solidFill>
              </a:rPr>
              <a:t>Interior Enterprise Architecture (IEA)</a:t>
            </a:r>
          </a:p>
        </p:txBody>
      </p:sp>
      <p:graphicFrame>
        <p:nvGraphicFramePr>
          <p:cNvPr id="996372" name="Object 20"/>
          <p:cNvGraphicFramePr>
            <a:graphicFrameLocks noChangeAspect="1"/>
          </p:cNvGraphicFramePr>
          <p:nvPr/>
        </p:nvGraphicFramePr>
        <p:xfrm>
          <a:off x="8442325" y="9525"/>
          <a:ext cx="501650" cy="474663"/>
        </p:xfrm>
        <a:graphic>
          <a:graphicData uri="http://schemas.openxmlformats.org/presentationml/2006/ole">
            <p:oleObj spid="_x0000_s996372" r:id="rId15" imgW="5588280" imgH="5281920" progId="">
              <p:embed/>
            </p:oleObj>
          </a:graphicData>
        </a:graphic>
      </p:graphicFrame>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dt="0"/>
  <p:txStyles>
    <p:titleStyle>
      <a:lvl1pPr algn="l" rtl="0" fontAlgn="base">
        <a:spcBef>
          <a:spcPct val="0"/>
        </a:spcBef>
        <a:spcAft>
          <a:spcPct val="0"/>
        </a:spcAft>
        <a:defRPr sz="2200" b="1">
          <a:solidFill>
            <a:srgbClr val="760000"/>
          </a:solidFill>
          <a:latin typeface="+mj-lt"/>
          <a:ea typeface="+mj-ea"/>
          <a:cs typeface="+mj-cs"/>
        </a:defRPr>
      </a:lvl1pPr>
      <a:lvl2pPr algn="l" rtl="0" fontAlgn="base">
        <a:spcBef>
          <a:spcPct val="0"/>
        </a:spcBef>
        <a:spcAft>
          <a:spcPct val="0"/>
        </a:spcAft>
        <a:defRPr sz="2200" b="1">
          <a:solidFill>
            <a:srgbClr val="760000"/>
          </a:solidFill>
          <a:latin typeface="Arial" charset="0"/>
          <a:cs typeface="Arial" charset="0"/>
        </a:defRPr>
      </a:lvl2pPr>
      <a:lvl3pPr algn="l" rtl="0" fontAlgn="base">
        <a:spcBef>
          <a:spcPct val="0"/>
        </a:spcBef>
        <a:spcAft>
          <a:spcPct val="0"/>
        </a:spcAft>
        <a:defRPr sz="2200" b="1">
          <a:solidFill>
            <a:srgbClr val="760000"/>
          </a:solidFill>
          <a:latin typeface="Arial" charset="0"/>
          <a:cs typeface="Arial" charset="0"/>
        </a:defRPr>
      </a:lvl3pPr>
      <a:lvl4pPr algn="l" rtl="0" fontAlgn="base">
        <a:spcBef>
          <a:spcPct val="0"/>
        </a:spcBef>
        <a:spcAft>
          <a:spcPct val="0"/>
        </a:spcAft>
        <a:defRPr sz="2200" b="1">
          <a:solidFill>
            <a:srgbClr val="760000"/>
          </a:solidFill>
          <a:latin typeface="Arial" charset="0"/>
          <a:cs typeface="Arial" charset="0"/>
        </a:defRPr>
      </a:lvl4pPr>
      <a:lvl5pPr algn="l" rtl="0" fontAlgn="base">
        <a:spcBef>
          <a:spcPct val="0"/>
        </a:spcBef>
        <a:spcAft>
          <a:spcPct val="0"/>
        </a:spcAft>
        <a:defRPr sz="2200" b="1">
          <a:solidFill>
            <a:srgbClr val="760000"/>
          </a:solidFill>
          <a:latin typeface="Arial" charset="0"/>
          <a:cs typeface="Arial" charset="0"/>
        </a:defRPr>
      </a:lvl5pPr>
      <a:lvl6pPr marL="457200" algn="l" rtl="0" fontAlgn="base">
        <a:spcBef>
          <a:spcPct val="0"/>
        </a:spcBef>
        <a:spcAft>
          <a:spcPct val="0"/>
        </a:spcAft>
        <a:defRPr sz="2200" b="1">
          <a:solidFill>
            <a:srgbClr val="760000"/>
          </a:solidFill>
          <a:latin typeface="Arial" charset="0"/>
          <a:cs typeface="Arial" charset="0"/>
        </a:defRPr>
      </a:lvl6pPr>
      <a:lvl7pPr marL="914400" algn="l" rtl="0" fontAlgn="base">
        <a:spcBef>
          <a:spcPct val="0"/>
        </a:spcBef>
        <a:spcAft>
          <a:spcPct val="0"/>
        </a:spcAft>
        <a:defRPr sz="2200" b="1">
          <a:solidFill>
            <a:srgbClr val="760000"/>
          </a:solidFill>
          <a:latin typeface="Arial" charset="0"/>
          <a:cs typeface="Arial" charset="0"/>
        </a:defRPr>
      </a:lvl7pPr>
      <a:lvl8pPr marL="1371600" algn="l" rtl="0" fontAlgn="base">
        <a:spcBef>
          <a:spcPct val="0"/>
        </a:spcBef>
        <a:spcAft>
          <a:spcPct val="0"/>
        </a:spcAft>
        <a:defRPr sz="2200" b="1">
          <a:solidFill>
            <a:srgbClr val="760000"/>
          </a:solidFill>
          <a:latin typeface="Arial" charset="0"/>
          <a:cs typeface="Arial" charset="0"/>
        </a:defRPr>
      </a:lvl8pPr>
      <a:lvl9pPr marL="1828800" algn="l" rtl="0" fontAlgn="base">
        <a:spcBef>
          <a:spcPct val="0"/>
        </a:spcBef>
        <a:spcAft>
          <a:spcPct val="0"/>
        </a:spcAft>
        <a:defRPr sz="2200" b="1">
          <a:solidFill>
            <a:srgbClr val="760000"/>
          </a:solidFill>
          <a:latin typeface="Arial" charset="0"/>
          <a:cs typeface="Arial" charset="0"/>
        </a:defRPr>
      </a:lvl9pPr>
    </p:titleStyle>
    <p:bodyStyle>
      <a:lvl1pPr marL="192088" indent="-192088" algn="l" rtl="0" fontAlgn="base">
        <a:spcBef>
          <a:spcPct val="20000"/>
        </a:spcBef>
        <a:spcAft>
          <a:spcPct val="0"/>
        </a:spcAft>
        <a:buFont typeface="Wingdings" pitchFamily="2" charset="2"/>
        <a:buChar char="§"/>
        <a:defRPr>
          <a:solidFill>
            <a:schemeClr val="tx1"/>
          </a:solidFill>
          <a:latin typeface="+mn-lt"/>
          <a:ea typeface="+mn-ea"/>
          <a:cs typeface="+mn-cs"/>
        </a:defRPr>
      </a:lvl1pPr>
      <a:lvl2pPr marL="463550" indent="-185738" algn="l" rtl="0" fontAlgn="base">
        <a:spcBef>
          <a:spcPct val="20000"/>
        </a:spcBef>
        <a:spcAft>
          <a:spcPct val="0"/>
        </a:spcAft>
        <a:buSzPct val="75000"/>
        <a:buFont typeface="Wingdings 3" pitchFamily="18" charset="2"/>
        <a:buChar char="}"/>
        <a:defRPr sz="1600">
          <a:solidFill>
            <a:schemeClr val="tx1"/>
          </a:solidFill>
          <a:latin typeface="+mn-lt"/>
          <a:cs typeface="+mn-cs"/>
        </a:defRPr>
      </a:lvl2pPr>
      <a:lvl3pPr marL="768350" indent="-193675" algn="l" rtl="0" fontAlgn="base">
        <a:spcBef>
          <a:spcPct val="20000"/>
        </a:spcBef>
        <a:spcAft>
          <a:spcPct val="0"/>
        </a:spcAft>
        <a:buChar char="•"/>
        <a:defRPr sz="1600">
          <a:solidFill>
            <a:schemeClr val="tx1"/>
          </a:solidFill>
          <a:latin typeface="+mn-lt"/>
          <a:cs typeface="+mn-cs"/>
        </a:defRPr>
      </a:lvl3pPr>
      <a:lvl4pPr marL="1052513" indent="-180975" algn="l" rtl="0" fontAlgn="base">
        <a:spcBef>
          <a:spcPct val="20000"/>
        </a:spcBef>
        <a:spcAft>
          <a:spcPct val="0"/>
        </a:spcAft>
        <a:buFont typeface="Arial" charset="0"/>
        <a:buChar char="-"/>
        <a:defRPr sz="1600">
          <a:solidFill>
            <a:schemeClr val="tx1"/>
          </a:solidFill>
          <a:latin typeface="+mn-lt"/>
          <a:cs typeface="+mn-cs"/>
        </a:defRPr>
      </a:lvl4pPr>
      <a:lvl5pPr marL="1381125" indent="-146050" algn="l" rtl="0" fontAlgn="base">
        <a:spcBef>
          <a:spcPct val="20000"/>
        </a:spcBef>
        <a:spcAft>
          <a:spcPct val="0"/>
        </a:spcAft>
        <a:buFont typeface="Arial" charset="0"/>
        <a:buChar char="-"/>
        <a:defRPr sz="1400">
          <a:solidFill>
            <a:schemeClr val="tx1"/>
          </a:solidFill>
          <a:latin typeface="+mn-lt"/>
          <a:cs typeface="+mn-cs"/>
        </a:defRPr>
      </a:lvl5pPr>
      <a:lvl6pPr marL="1838325" indent="-146050" algn="l" rtl="0" fontAlgn="base">
        <a:spcBef>
          <a:spcPct val="20000"/>
        </a:spcBef>
        <a:spcAft>
          <a:spcPct val="0"/>
        </a:spcAft>
        <a:buFont typeface="Arial" charset="0"/>
        <a:buChar char="-"/>
        <a:defRPr sz="1400">
          <a:solidFill>
            <a:schemeClr val="tx1"/>
          </a:solidFill>
          <a:latin typeface="+mn-lt"/>
          <a:cs typeface="+mn-cs"/>
        </a:defRPr>
      </a:lvl6pPr>
      <a:lvl7pPr marL="2295525" indent="-146050" algn="l" rtl="0" fontAlgn="base">
        <a:spcBef>
          <a:spcPct val="20000"/>
        </a:spcBef>
        <a:spcAft>
          <a:spcPct val="0"/>
        </a:spcAft>
        <a:buFont typeface="Arial" charset="0"/>
        <a:buChar char="-"/>
        <a:defRPr sz="1400">
          <a:solidFill>
            <a:schemeClr val="tx1"/>
          </a:solidFill>
          <a:latin typeface="+mn-lt"/>
          <a:cs typeface="+mn-cs"/>
        </a:defRPr>
      </a:lvl7pPr>
      <a:lvl8pPr marL="2752725" indent="-146050" algn="l" rtl="0" fontAlgn="base">
        <a:spcBef>
          <a:spcPct val="20000"/>
        </a:spcBef>
        <a:spcAft>
          <a:spcPct val="0"/>
        </a:spcAft>
        <a:buFont typeface="Arial" charset="0"/>
        <a:buChar char="-"/>
        <a:defRPr sz="1400">
          <a:solidFill>
            <a:schemeClr val="tx1"/>
          </a:solidFill>
          <a:latin typeface="+mn-lt"/>
          <a:cs typeface="+mn-cs"/>
        </a:defRPr>
      </a:lvl8pPr>
      <a:lvl9pPr marL="3209925" indent="-146050" algn="l" rtl="0" fontAlgn="base">
        <a:spcBef>
          <a:spcPct val="20000"/>
        </a:spcBef>
        <a:spcAft>
          <a:spcPct val="0"/>
        </a:spcAft>
        <a:buFont typeface="Arial" charset="0"/>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6818" name="Rectangle 2"/>
          <p:cNvSpPr>
            <a:spLocks noGrp="1" noChangeArrowheads="1"/>
          </p:cNvSpPr>
          <p:nvPr>
            <p:ph type="ctrTitle"/>
          </p:nvPr>
        </p:nvSpPr>
        <p:spPr>
          <a:xfrm>
            <a:off x="581025" y="1847850"/>
            <a:ext cx="8077200" cy="1143000"/>
          </a:xfrm>
        </p:spPr>
        <p:txBody>
          <a:bodyPr/>
          <a:lstStyle/>
          <a:p>
            <a:r>
              <a:rPr lang="en-US"/>
              <a:t>Interior Business Architecture Team (IBAT) </a:t>
            </a:r>
            <a:br>
              <a:rPr lang="en-US"/>
            </a:br>
            <a:endParaRPr lang="en-US" sz="3600"/>
          </a:p>
        </p:txBody>
      </p:sp>
      <p:sp>
        <p:nvSpPr>
          <p:cNvPr id="1186819" name="Rectangle 3"/>
          <p:cNvSpPr>
            <a:spLocks noGrp="1" noChangeArrowheads="1"/>
          </p:cNvSpPr>
          <p:nvPr>
            <p:ph type="subTitle" idx="1"/>
          </p:nvPr>
        </p:nvSpPr>
        <p:spPr>
          <a:xfrm>
            <a:off x="1981200" y="2743200"/>
            <a:ext cx="7162800" cy="1752600"/>
          </a:xfrm>
        </p:spPr>
        <p:txBody>
          <a:bodyPr/>
          <a:lstStyle/>
          <a:p>
            <a:r>
              <a:rPr lang="en-US" sz="2800">
                <a:solidFill>
                  <a:schemeClr val="tx1"/>
                </a:solidFill>
              </a:rPr>
              <a:t>Kick-Off Meeting</a:t>
            </a:r>
          </a:p>
          <a:p>
            <a:r>
              <a:rPr lang="en-US">
                <a:solidFill>
                  <a:schemeClr val="tx1"/>
                </a:solidFill>
              </a:rPr>
              <a:t>July 24, 2003</a:t>
            </a:r>
          </a:p>
          <a:p>
            <a:endParaRPr lang="en-US">
              <a:solidFill>
                <a:schemeClr val="tx1"/>
              </a:solidFill>
            </a:endParaRPr>
          </a:p>
          <a:p>
            <a:r>
              <a:rPr lang="en-US">
                <a:solidFill>
                  <a:schemeClr val="tx1"/>
                </a:solidFill>
              </a:rPr>
              <a:t>Sponsor:  W. Hord Tipton, DOI CIO</a:t>
            </a:r>
          </a:p>
        </p:txBody>
      </p:sp>
      <p:graphicFrame>
        <p:nvGraphicFramePr>
          <p:cNvPr id="1432576" name="Object 0"/>
          <p:cNvGraphicFramePr>
            <a:graphicFrameLocks noChangeAspect="1"/>
          </p:cNvGraphicFramePr>
          <p:nvPr/>
        </p:nvGraphicFramePr>
        <p:xfrm>
          <a:off x="7004050" y="9525"/>
          <a:ext cx="1682750" cy="1590675"/>
        </p:xfrm>
        <a:graphic>
          <a:graphicData uri="http://schemas.openxmlformats.org/presentationml/2006/ole">
            <p:oleObj spid="_x0000_s1432576" r:id="rId4" imgW="5588280" imgH="5281920" progId="">
              <p:embed/>
            </p:oleObj>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57826" name="Rectangle 2"/>
          <p:cNvSpPr>
            <a:spLocks noGrp="1" noChangeArrowheads="1"/>
          </p:cNvSpPr>
          <p:nvPr>
            <p:ph type="title"/>
          </p:nvPr>
        </p:nvSpPr>
        <p:spPr/>
        <p:txBody>
          <a:bodyPr/>
          <a:lstStyle/>
          <a:p>
            <a:r>
              <a:rPr lang="en-US"/>
              <a:t>IBAT AGENDA</a:t>
            </a:r>
          </a:p>
        </p:txBody>
      </p:sp>
      <p:sp>
        <p:nvSpPr>
          <p:cNvPr id="1357827" name="Rectangle 3"/>
          <p:cNvSpPr>
            <a:spLocks noGrp="1" noChangeArrowheads="1"/>
          </p:cNvSpPr>
          <p:nvPr>
            <p:ph type="body" idx="1"/>
          </p:nvPr>
        </p:nvSpPr>
        <p:spPr/>
        <p:txBody>
          <a:bodyPr/>
          <a:lstStyle/>
          <a:p>
            <a:r>
              <a:rPr lang="en-US" sz="1600"/>
              <a:t>What Are We Charged to Do?...........................................................Hord Tipton</a:t>
            </a:r>
          </a:p>
          <a:p>
            <a:pPr>
              <a:buFont typeface="Wingdings" pitchFamily="2" charset="2"/>
              <a:buNone/>
            </a:pPr>
            <a:endParaRPr lang="en-US" sz="1600"/>
          </a:p>
          <a:p>
            <a:r>
              <a:rPr lang="en-US" sz="1600"/>
              <a:t>Enterprise Architecture – Federal Direction……………………...Colleen Coggins</a:t>
            </a:r>
          </a:p>
          <a:p>
            <a:endParaRPr lang="en-US" sz="1600"/>
          </a:p>
          <a:p>
            <a:r>
              <a:rPr lang="en-US" sz="1600"/>
              <a:t>IEA End Outcomes……………………………………………….…Colleen Coggins</a:t>
            </a:r>
          </a:p>
          <a:p>
            <a:endParaRPr lang="en-US" sz="1600"/>
          </a:p>
          <a:p>
            <a:r>
              <a:rPr lang="en-US" sz="1600"/>
              <a:t>IEA Business Value……………………………………............……..James Barrett</a:t>
            </a:r>
          </a:p>
          <a:p>
            <a:endParaRPr lang="en-US" sz="1600"/>
          </a:p>
          <a:p>
            <a:r>
              <a:rPr lang="en-US" sz="1600"/>
              <a:t>OMB Federal Enterprise Architecture (FEA) Overview…………Colleen Coggins</a:t>
            </a:r>
          </a:p>
          <a:p>
            <a:pPr>
              <a:buFont typeface="Wingdings" pitchFamily="2" charset="2"/>
              <a:buNone/>
            </a:pPr>
            <a:endParaRPr lang="en-US" sz="1600"/>
          </a:p>
          <a:p>
            <a:r>
              <a:rPr lang="en-US" sz="1600"/>
              <a:t>Financial Management &amp; Popkin Demo………………...……….Colleen &amp; James</a:t>
            </a:r>
          </a:p>
          <a:p>
            <a:pPr>
              <a:buFont typeface="Wingdings" pitchFamily="2" charset="2"/>
              <a:buNone/>
            </a:pPr>
            <a:endParaRPr lang="en-US" sz="1600"/>
          </a:p>
          <a:p>
            <a:r>
              <a:rPr lang="en-US" sz="1600"/>
              <a:t>IBAT Roles &amp; Meeting Logistics…………….…………...……….…IBAT Members</a:t>
            </a:r>
          </a:p>
          <a:p>
            <a:pPr>
              <a:buFont typeface="Wingdings" pitchFamily="2" charset="2"/>
              <a:buNone/>
            </a:pPr>
            <a:endParaRPr lang="en-US" sz="1600"/>
          </a:p>
          <a:p>
            <a:r>
              <a:rPr lang="en-US" sz="1600"/>
              <a:t>Open Discussion……………...………………………………………IBAT Members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066" name="Rectangle 1026"/>
          <p:cNvSpPr>
            <a:spLocks noGrp="1" noChangeArrowheads="1"/>
          </p:cNvSpPr>
          <p:nvPr>
            <p:ph type="ctrTitle"/>
          </p:nvPr>
        </p:nvSpPr>
        <p:spPr>
          <a:xfrm>
            <a:off x="838200" y="2667000"/>
            <a:ext cx="6048375" cy="914400"/>
          </a:xfrm>
        </p:spPr>
        <p:txBody>
          <a:bodyPr/>
          <a:lstStyle/>
          <a:p>
            <a:r>
              <a:rPr lang="en-US" sz="2800"/>
              <a:t>WHAT ARE WE CHARGED TO DO? </a:t>
            </a:r>
          </a:p>
        </p:txBody>
      </p:sp>
      <p:sp>
        <p:nvSpPr>
          <p:cNvPr id="1368067" name="Rectangle 1027"/>
          <p:cNvSpPr>
            <a:spLocks noGrp="1" noChangeArrowheads="1"/>
          </p:cNvSpPr>
          <p:nvPr>
            <p:ph type="subTitle" idx="1"/>
          </p:nvPr>
        </p:nvSpPr>
        <p:spPr/>
        <p:txBody>
          <a:bodyPr/>
          <a:lstStyle/>
          <a:p>
            <a:pPr>
              <a:lnSpc>
                <a:spcPct val="80000"/>
              </a:lnSpc>
            </a:pPr>
            <a:r>
              <a:rPr lang="en-US"/>
              <a:t>Hord Tipton</a:t>
            </a:r>
          </a:p>
          <a:p>
            <a:pPr>
              <a:lnSpc>
                <a:spcPct val="80000"/>
              </a:lnSpc>
            </a:pPr>
            <a:endParaRPr lang="en-US"/>
          </a:p>
          <a:p>
            <a:pPr>
              <a:lnSpc>
                <a:spcPct val="80000"/>
              </a:lnSpc>
            </a:pPr>
            <a:r>
              <a:rPr lang="en-US"/>
              <a:t>DOI CIO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59874" name="Rectangle 2"/>
          <p:cNvSpPr>
            <a:spLocks noGrp="1" noChangeArrowheads="1"/>
          </p:cNvSpPr>
          <p:nvPr>
            <p:ph type="title"/>
          </p:nvPr>
        </p:nvSpPr>
        <p:spPr>
          <a:xfrm>
            <a:off x="466725" y="658813"/>
            <a:ext cx="8534400" cy="912812"/>
          </a:xfrm>
        </p:spPr>
        <p:txBody>
          <a:bodyPr/>
          <a:lstStyle/>
          <a:p>
            <a:r>
              <a:rPr lang="en-US" sz="2800"/>
              <a:t>Extracts From OMB FY 2004 Budget Passback:</a:t>
            </a:r>
          </a:p>
        </p:txBody>
      </p:sp>
      <p:sp>
        <p:nvSpPr>
          <p:cNvPr id="1359875" name="Rectangle 3"/>
          <p:cNvSpPr>
            <a:spLocks noGrp="1" noChangeArrowheads="1"/>
          </p:cNvSpPr>
          <p:nvPr>
            <p:ph type="body" idx="1"/>
          </p:nvPr>
        </p:nvSpPr>
        <p:spPr>
          <a:xfrm>
            <a:off x="304800" y="1676400"/>
            <a:ext cx="8229600" cy="4572000"/>
          </a:xfrm>
        </p:spPr>
        <p:txBody>
          <a:bodyPr/>
          <a:lstStyle/>
          <a:p>
            <a:r>
              <a:rPr lang="en-US" sz="2800" i="1"/>
              <a:t>The DOI is </a:t>
            </a:r>
            <a:r>
              <a:rPr lang="en-US" sz="2800" b="1" i="1">
                <a:solidFill>
                  <a:schemeClr val="tx2"/>
                </a:solidFill>
              </a:rPr>
              <a:t>directed</a:t>
            </a:r>
            <a:r>
              <a:rPr lang="en-US" sz="2800" i="1"/>
              <a:t> to </a:t>
            </a:r>
            <a:r>
              <a:rPr lang="en-US" sz="2800" b="1" i="1">
                <a:solidFill>
                  <a:schemeClr val="tx2"/>
                </a:solidFill>
              </a:rPr>
              <a:t>create an integrated and  comprehensive departmental process for EA</a:t>
            </a:r>
            <a:r>
              <a:rPr lang="en-US" sz="2800" i="1"/>
              <a:t>; </a:t>
            </a:r>
          </a:p>
          <a:p>
            <a:r>
              <a:rPr lang="en-US" sz="2800" i="1"/>
              <a:t>Reduce </a:t>
            </a:r>
            <a:r>
              <a:rPr lang="en-US" sz="2800" b="1" i="1">
                <a:solidFill>
                  <a:schemeClr val="tx2"/>
                </a:solidFill>
              </a:rPr>
              <a:t>redundancie</a:t>
            </a:r>
            <a:r>
              <a:rPr lang="en-US" sz="2800" i="1">
                <a:solidFill>
                  <a:schemeClr val="tx2"/>
                </a:solidFill>
              </a:rPr>
              <a:t>s</a:t>
            </a:r>
            <a:r>
              <a:rPr lang="en-US" sz="2800" i="1"/>
              <a:t> in these separate approaches; </a:t>
            </a:r>
          </a:p>
          <a:p>
            <a:r>
              <a:rPr lang="en-US" sz="2800" i="1"/>
              <a:t>Map to </a:t>
            </a:r>
            <a:r>
              <a:rPr lang="en-US" sz="2800" b="1" i="1">
                <a:solidFill>
                  <a:schemeClr val="tx2"/>
                </a:solidFill>
              </a:rPr>
              <a:t>the Federal Enterprise Architecture efforts of OMB</a:t>
            </a:r>
            <a:r>
              <a:rPr lang="en-US" sz="2800" i="1"/>
              <a:t>.  </a:t>
            </a:r>
          </a:p>
          <a:p>
            <a:r>
              <a:rPr lang="en-US" sz="2800" i="1"/>
              <a:t>OMB endorsed the </a:t>
            </a:r>
            <a:r>
              <a:rPr lang="en-US" sz="2800" b="1" i="1">
                <a:solidFill>
                  <a:schemeClr val="tx2"/>
                </a:solidFill>
              </a:rPr>
              <a:t>BLM EA</a:t>
            </a:r>
            <a:r>
              <a:rPr lang="en-US" sz="2800" i="1"/>
              <a:t> process.</a:t>
            </a:r>
          </a:p>
          <a:p>
            <a:r>
              <a:rPr lang="en-US" sz="2800" b="1" i="1">
                <a:solidFill>
                  <a:schemeClr val="tx2"/>
                </a:solidFill>
              </a:rPr>
              <a:t>EA developed to a detail level</a:t>
            </a:r>
            <a:r>
              <a:rPr lang="en-US" sz="2800" i="1"/>
              <a:t> that ensures the efficient management of Department IT resources,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74210" name="Rectangle 2"/>
          <p:cNvSpPr>
            <a:spLocks noGrp="1" noChangeArrowheads="1"/>
          </p:cNvSpPr>
          <p:nvPr>
            <p:ph type="title"/>
          </p:nvPr>
        </p:nvSpPr>
        <p:spPr/>
        <p:txBody>
          <a:bodyPr/>
          <a:lstStyle/>
          <a:p>
            <a:r>
              <a:rPr lang="en-US" sz="2800"/>
              <a:t>Interior Enterprise Architecture – A New Approach</a:t>
            </a:r>
          </a:p>
        </p:txBody>
      </p:sp>
      <p:sp>
        <p:nvSpPr>
          <p:cNvPr id="1374211" name="Rectangle 3"/>
          <p:cNvSpPr>
            <a:spLocks noGrp="1" noChangeArrowheads="1"/>
          </p:cNvSpPr>
          <p:nvPr>
            <p:ph type="body" sz="half" idx="1"/>
          </p:nvPr>
        </p:nvSpPr>
        <p:spPr>
          <a:xfrm>
            <a:off x="457200" y="1600200"/>
            <a:ext cx="5994400" cy="4525963"/>
          </a:xfrm>
        </p:spPr>
        <p:txBody>
          <a:bodyPr/>
          <a:lstStyle/>
          <a:p>
            <a:r>
              <a:rPr lang="en-US" sz="1600"/>
              <a:t>Refocused the IEA to align with OMB Federal Enterprise Architecture (FEA) Reference Models </a:t>
            </a:r>
          </a:p>
          <a:p>
            <a:pPr lvl="1"/>
            <a:r>
              <a:rPr lang="en-US" sz="1400"/>
              <a:t>Performance, Business, Data, Service and Technology Reference Model</a:t>
            </a:r>
          </a:p>
          <a:p>
            <a:pPr lvl="1">
              <a:buFont typeface="Wingdings 3" pitchFamily="18" charset="2"/>
              <a:buNone/>
            </a:pPr>
            <a:endParaRPr lang="en-US" sz="1400"/>
          </a:p>
          <a:p>
            <a:r>
              <a:rPr lang="en-US" sz="1600"/>
              <a:t>Created two teams to fast-track IEA development</a:t>
            </a:r>
          </a:p>
          <a:p>
            <a:pPr lvl="1"/>
            <a:r>
              <a:rPr lang="en-US" sz="1400"/>
              <a:t>Interior Business Architecture Team (IBAT)</a:t>
            </a:r>
          </a:p>
          <a:p>
            <a:pPr lvl="2"/>
            <a:r>
              <a:rPr lang="en-US" sz="1200"/>
              <a:t>Business layers of Architecture (e.g., Performance and Business Reference Models)</a:t>
            </a:r>
          </a:p>
          <a:p>
            <a:pPr lvl="1"/>
            <a:r>
              <a:rPr lang="en-US" sz="1400"/>
              <a:t>Interior Technical Architecture Team (ITAT)</a:t>
            </a:r>
          </a:p>
          <a:p>
            <a:pPr lvl="2"/>
            <a:r>
              <a:rPr lang="en-US" sz="1200"/>
              <a:t>Technology Layers of Architecture (e.g., Technology Reference Model, etc.)</a:t>
            </a:r>
          </a:p>
          <a:p>
            <a:pPr lvl="2">
              <a:buFontTx/>
              <a:buNone/>
            </a:pPr>
            <a:endParaRPr lang="en-US" sz="1200"/>
          </a:p>
          <a:p>
            <a:r>
              <a:rPr lang="en-US" sz="1600"/>
              <a:t>Incorporating Existing Bureau </a:t>
            </a:r>
            <a:r>
              <a:rPr lang="en-US" sz="1200" i="1"/>
              <a:t>(e.g., MMS, BLM)</a:t>
            </a:r>
            <a:r>
              <a:rPr lang="en-US" sz="1600"/>
              <a:t> &amp; Business Area </a:t>
            </a:r>
            <a:r>
              <a:rPr lang="en-US" sz="1200" i="1"/>
              <a:t>(e.g., Recreation, Fire)</a:t>
            </a:r>
            <a:r>
              <a:rPr lang="en-US" sz="1600"/>
              <a:t> artifacts into unified DOI Architecture</a:t>
            </a:r>
          </a:p>
          <a:p>
            <a:pPr>
              <a:buFont typeface="Wingdings" pitchFamily="2" charset="2"/>
              <a:buNone/>
            </a:pPr>
            <a:endParaRPr lang="en-US" sz="1600"/>
          </a:p>
          <a:p>
            <a:r>
              <a:rPr lang="en-US" sz="1600"/>
              <a:t>Establishing IEA governance </a:t>
            </a:r>
          </a:p>
          <a:p>
            <a:pPr lvl="1"/>
            <a:r>
              <a:rPr lang="en-US" sz="1200"/>
              <a:t>Ensure IT investments adhere to the IEA.</a:t>
            </a:r>
          </a:p>
          <a:p>
            <a:endParaRPr lang="en-US" sz="1200"/>
          </a:p>
        </p:txBody>
      </p:sp>
      <p:pic>
        <p:nvPicPr>
          <p:cNvPr id="1374217" name="Picture 9" descr="ibatitat"/>
          <p:cNvPicPr>
            <a:picLocks noChangeAspect="1" noChangeArrowheads="1"/>
          </p:cNvPicPr>
          <p:nvPr>
            <p:ph sz="half" idx="2"/>
          </p:nvPr>
        </p:nvPicPr>
        <p:blipFill>
          <a:blip r:embed="rId3" cstate="print">
            <a:clrChange>
              <a:clrFrom>
                <a:srgbClr val="FFFFFF"/>
              </a:clrFrom>
              <a:clrTo>
                <a:srgbClr val="FFFFFF">
                  <a:alpha val="0"/>
                </a:srgbClr>
              </a:clrTo>
            </a:clrChange>
          </a:blip>
          <a:srcRect/>
          <a:stretch>
            <a:fillRect/>
          </a:stretch>
        </p:blipFill>
        <p:spPr>
          <a:xfrm>
            <a:off x="5991225" y="2355850"/>
            <a:ext cx="2924175" cy="3038475"/>
          </a:xfrm>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408002" name="Rectangle 1026"/>
          <p:cNvSpPr>
            <a:spLocks noGrp="1" noChangeArrowheads="1"/>
          </p:cNvSpPr>
          <p:nvPr>
            <p:ph type="title"/>
          </p:nvPr>
        </p:nvSpPr>
        <p:spPr/>
        <p:txBody>
          <a:bodyPr/>
          <a:lstStyle/>
          <a:p>
            <a:r>
              <a:rPr lang="en-US"/>
              <a:t>Interior Enterprise Architecture Program - Accomplishments</a:t>
            </a:r>
          </a:p>
        </p:txBody>
      </p:sp>
      <p:sp>
        <p:nvSpPr>
          <p:cNvPr id="1408003" name="Rectangle 1027"/>
          <p:cNvSpPr>
            <a:spLocks noGrp="1" noChangeArrowheads="1"/>
          </p:cNvSpPr>
          <p:nvPr>
            <p:ph type="body" idx="1"/>
          </p:nvPr>
        </p:nvSpPr>
        <p:spPr/>
        <p:txBody>
          <a:bodyPr/>
          <a:lstStyle/>
          <a:p>
            <a:pPr>
              <a:lnSpc>
                <a:spcPct val="90000"/>
              </a:lnSpc>
              <a:buFont typeface="Wingdings" pitchFamily="2" charset="2"/>
              <a:buNone/>
            </a:pPr>
            <a:r>
              <a:rPr lang="en-US" sz="1600">
                <a:solidFill>
                  <a:schemeClr val="accent1"/>
                </a:solidFill>
              </a:rPr>
              <a:t>MAY 2003</a:t>
            </a:r>
          </a:p>
          <a:p>
            <a:pPr>
              <a:lnSpc>
                <a:spcPct val="90000"/>
              </a:lnSpc>
            </a:pPr>
            <a:r>
              <a:rPr lang="en-US" sz="1600"/>
              <a:t>DOI Briefed Version 1.0 of the Interior Business Architecture (IBA) concentrating on Financial Management Business Area to OMB</a:t>
            </a:r>
          </a:p>
          <a:p>
            <a:pPr>
              <a:lnSpc>
                <a:spcPct val="90000"/>
              </a:lnSpc>
            </a:pPr>
            <a:r>
              <a:rPr lang="en-US" sz="1600"/>
              <a:t>OMB Endorsed Methodology, Tools and Approach of IEA.</a:t>
            </a:r>
          </a:p>
          <a:p>
            <a:pPr>
              <a:lnSpc>
                <a:spcPct val="90000"/>
              </a:lnSpc>
            </a:pPr>
            <a:r>
              <a:rPr lang="en-US" sz="1600"/>
              <a:t>Briefing resulted in OMB release of DOI FBMS system out of “Architecture Jail”</a:t>
            </a:r>
          </a:p>
          <a:p>
            <a:pPr>
              <a:lnSpc>
                <a:spcPct val="90000"/>
              </a:lnSpc>
              <a:buFont typeface="Wingdings" pitchFamily="2" charset="2"/>
              <a:buNone/>
            </a:pPr>
            <a:r>
              <a:rPr lang="en-US" sz="1600">
                <a:solidFill>
                  <a:schemeClr val="accent1"/>
                </a:solidFill>
              </a:rPr>
              <a:t>June 2003</a:t>
            </a:r>
            <a:r>
              <a:rPr lang="en-US" sz="1600"/>
              <a:t> </a:t>
            </a:r>
          </a:p>
          <a:p>
            <a:pPr>
              <a:lnSpc>
                <a:spcPct val="90000"/>
              </a:lnSpc>
            </a:pPr>
            <a:r>
              <a:rPr lang="en-US" sz="1600"/>
              <a:t>DOI Updating Technical Reference Model – Defines DOI approved technology and product standards.</a:t>
            </a:r>
          </a:p>
          <a:p>
            <a:pPr>
              <a:lnSpc>
                <a:spcPct val="90000"/>
              </a:lnSpc>
            </a:pPr>
            <a:r>
              <a:rPr lang="en-US" sz="1600"/>
              <a:t>DOI Names Popkin System Architect as DOI Architecture Repository Standard</a:t>
            </a:r>
          </a:p>
          <a:p>
            <a:pPr>
              <a:lnSpc>
                <a:spcPct val="90000"/>
              </a:lnSpc>
            </a:pPr>
            <a:r>
              <a:rPr lang="en-US" sz="1600"/>
              <a:t>DOI Launches Popkin IPT to launch DOI-Standard Architecture Repository</a:t>
            </a:r>
          </a:p>
          <a:p>
            <a:pPr>
              <a:lnSpc>
                <a:spcPct val="90000"/>
              </a:lnSpc>
            </a:pPr>
            <a:r>
              <a:rPr lang="en-US" sz="1600"/>
              <a:t>DOI Launches Data Resources Management Program</a:t>
            </a:r>
          </a:p>
          <a:p>
            <a:pPr>
              <a:lnSpc>
                <a:spcPct val="90000"/>
              </a:lnSpc>
              <a:buFont typeface="Wingdings" pitchFamily="2" charset="2"/>
              <a:buNone/>
            </a:pPr>
            <a:r>
              <a:rPr lang="en-US" sz="1600">
                <a:solidFill>
                  <a:schemeClr val="accent1"/>
                </a:solidFill>
              </a:rPr>
              <a:t>July 2003</a:t>
            </a:r>
          </a:p>
          <a:p>
            <a:pPr>
              <a:lnSpc>
                <a:spcPct val="90000"/>
              </a:lnSpc>
            </a:pPr>
            <a:r>
              <a:rPr lang="en-US" sz="1600"/>
              <a:t>DOI Lifts Bureau-level Architecture Freeze</a:t>
            </a:r>
          </a:p>
          <a:p>
            <a:pPr>
              <a:lnSpc>
                <a:spcPct val="90000"/>
              </a:lnSpc>
            </a:pPr>
            <a:r>
              <a:rPr lang="en-US" sz="1600"/>
              <a:t>DOI Announces Initial Business &amp; Data Architecture Focus of 5 Business Areas</a:t>
            </a:r>
          </a:p>
          <a:p>
            <a:pPr>
              <a:lnSpc>
                <a:spcPct val="90000"/>
              </a:lnSpc>
            </a:pPr>
            <a:r>
              <a:rPr lang="en-US" sz="1600"/>
              <a:t>DOI Establishes IBAT</a:t>
            </a:r>
          </a:p>
          <a:p>
            <a:pPr>
              <a:lnSpc>
                <a:spcPct val="90000"/>
              </a:lnSpc>
            </a:pPr>
            <a:r>
              <a:rPr lang="en-US" sz="1600"/>
              <a:t>DOI Positioned to Pilot Popkin Across DOI WAN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234" name="Rectangle 2"/>
          <p:cNvSpPr>
            <a:spLocks noGrp="1" noChangeArrowheads="1"/>
          </p:cNvSpPr>
          <p:nvPr>
            <p:ph type="ctrTitle"/>
          </p:nvPr>
        </p:nvSpPr>
        <p:spPr>
          <a:xfrm>
            <a:off x="838200" y="2667000"/>
            <a:ext cx="7629525" cy="914400"/>
          </a:xfrm>
        </p:spPr>
        <p:txBody>
          <a:bodyPr/>
          <a:lstStyle/>
          <a:p>
            <a:r>
              <a:rPr lang="en-US" sz="2800"/>
              <a:t>Enterprise Architecture – Federal Direction </a:t>
            </a:r>
          </a:p>
        </p:txBody>
      </p:sp>
      <p:sp>
        <p:nvSpPr>
          <p:cNvPr id="1375235" name="Rectangle 3"/>
          <p:cNvSpPr>
            <a:spLocks noGrp="1" noChangeArrowheads="1"/>
          </p:cNvSpPr>
          <p:nvPr>
            <p:ph type="subTitle" idx="1"/>
          </p:nvPr>
        </p:nvSpPr>
        <p:spPr>
          <a:xfrm>
            <a:off x="1828800" y="4267200"/>
            <a:ext cx="5248275" cy="914400"/>
          </a:xfrm>
        </p:spPr>
        <p:txBody>
          <a:bodyPr/>
          <a:lstStyle/>
          <a:p>
            <a:pPr>
              <a:lnSpc>
                <a:spcPct val="80000"/>
              </a:lnSpc>
            </a:pPr>
            <a:r>
              <a:rPr lang="en-US"/>
              <a:t>Colleen Coggins</a:t>
            </a:r>
          </a:p>
          <a:p>
            <a:pPr>
              <a:lnSpc>
                <a:spcPct val="80000"/>
              </a:lnSpc>
            </a:pPr>
            <a:endParaRPr lang="en-US"/>
          </a:p>
          <a:p>
            <a:pPr>
              <a:lnSpc>
                <a:spcPct val="80000"/>
              </a:lnSpc>
            </a:pPr>
            <a:r>
              <a:rPr lang="en-US"/>
              <a:t>Interior Business Architect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77282" name="Rectangle 1026"/>
          <p:cNvSpPr>
            <a:spLocks noGrp="1" noChangeArrowheads="1"/>
          </p:cNvSpPr>
          <p:nvPr>
            <p:ph type="title"/>
          </p:nvPr>
        </p:nvSpPr>
        <p:spPr/>
        <p:txBody>
          <a:bodyPr/>
          <a:lstStyle/>
          <a:p>
            <a:r>
              <a:rPr lang="en-US"/>
              <a:t>Achieving Results from IT: </a:t>
            </a:r>
            <a:br>
              <a:rPr lang="en-US"/>
            </a:br>
            <a:r>
              <a:rPr lang="en-US" sz="2000"/>
              <a:t>Last Year’s Analysis Identified Six Chronic Problems</a:t>
            </a:r>
          </a:p>
        </p:txBody>
      </p:sp>
      <p:sp>
        <p:nvSpPr>
          <p:cNvPr id="1377283" name="Rectangle 1027"/>
          <p:cNvSpPr>
            <a:spLocks noGrp="1" noChangeArrowheads="1"/>
          </p:cNvSpPr>
          <p:nvPr>
            <p:ph type="body" sz="half" idx="1"/>
          </p:nvPr>
        </p:nvSpPr>
        <p:spPr>
          <a:xfrm>
            <a:off x="381000" y="1600200"/>
            <a:ext cx="8280400" cy="3690938"/>
          </a:xfrm>
          <a:solidFill>
            <a:srgbClr val="FFFFCC"/>
          </a:solidFill>
          <a:ln>
            <a:solidFill>
              <a:schemeClr val="accent2"/>
            </a:solidFill>
          </a:ln>
        </p:spPr>
        <p:txBody>
          <a:bodyPr lIns="91440" rIns="91440">
            <a:spAutoFit/>
          </a:bodyPr>
          <a:lstStyle/>
          <a:p>
            <a:pPr>
              <a:lnSpc>
                <a:spcPct val="80000"/>
              </a:lnSpc>
              <a:spcBef>
                <a:spcPct val="50000"/>
              </a:spcBef>
              <a:buFont typeface="Wingdings" pitchFamily="2" charset="2"/>
              <a:buNone/>
            </a:pPr>
            <a:r>
              <a:rPr lang="en-US" sz="1600" b="1">
                <a:solidFill>
                  <a:srgbClr val="FF0000"/>
                </a:solidFill>
              </a:rPr>
              <a:t>Poor Modernization Blueprints:</a:t>
            </a:r>
            <a:r>
              <a:rPr lang="en-US" sz="1600" b="1"/>
              <a:t> </a:t>
            </a:r>
            <a:r>
              <a:rPr lang="en-US" sz="1600"/>
              <a:t>Few agencies had a business-driven enterprise architectures, a roadmap that showed what IT investments will be used to better improve performance</a:t>
            </a:r>
          </a:p>
          <a:p>
            <a:pPr>
              <a:lnSpc>
                <a:spcPct val="80000"/>
              </a:lnSpc>
              <a:spcBef>
                <a:spcPct val="50000"/>
              </a:spcBef>
              <a:buFont typeface="Wingdings" pitchFamily="2" charset="2"/>
              <a:buNone/>
            </a:pPr>
            <a:r>
              <a:rPr lang="en-US" sz="1600" b="1">
                <a:solidFill>
                  <a:srgbClr val="FF0000"/>
                </a:solidFill>
              </a:rPr>
              <a:t>Paving Cowpaths</a:t>
            </a:r>
            <a:r>
              <a:rPr lang="en-US" sz="1600" b="1"/>
              <a:t>: </a:t>
            </a:r>
            <a:r>
              <a:rPr lang="en-US" sz="1600"/>
              <a:t>Agencies automated management problems, instead of leveraging   e-business to fix them</a:t>
            </a:r>
          </a:p>
          <a:p>
            <a:pPr>
              <a:lnSpc>
                <a:spcPct val="80000"/>
              </a:lnSpc>
              <a:spcBef>
                <a:spcPct val="50000"/>
              </a:spcBef>
              <a:buFont typeface="Wingdings" pitchFamily="2" charset="2"/>
              <a:buNone/>
            </a:pPr>
            <a:r>
              <a:rPr lang="en-US" sz="1600" b="1">
                <a:solidFill>
                  <a:srgbClr val="FF0000"/>
                </a:solidFill>
              </a:rPr>
              <a:t>Redundant Buying:</a:t>
            </a:r>
            <a:r>
              <a:rPr lang="en-US" sz="1600" b="1"/>
              <a:t> </a:t>
            </a:r>
            <a:r>
              <a:rPr lang="en-US" sz="1600"/>
              <a:t>Multiple agencies bought the same item, instead of                  driving economies of scale or creating one-stop points of service</a:t>
            </a:r>
            <a:endParaRPr lang="en-US" sz="1600" b="1"/>
          </a:p>
          <a:p>
            <a:pPr>
              <a:lnSpc>
                <a:spcPct val="80000"/>
              </a:lnSpc>
              <a:spcBef>
                <a:spcPct val="50000"/>
              </a:spcBef>
              <a:buFont typeface="Wingdings" pitchFamily="2" charset="2"/>
              <a:buNone/>
            </a:pPr>
            <a:r>
              <a:rPr lang="en-US" sz="1600" b="1">
                <a:solidFill>
                  <a:srgbClr val="FF0000"/>
                </a:solidFill>
              </a:rPr>
              <a:t>Program Management</a:t>
            </a:r>
            <a:r>
              <a:rPr lang="en-US" sz="1600" b="1"/>
              <a:t>: </a:t>
            </a:r>
            <a:r>
              <a:rPr lang="en-US" sz="1600"/>
              <a:t>Few delivered on time, on budget</a:t>
            </a:r>
            <a:endParaRPr lang="en-US" sz="1600" b="1"/>
          </a:p>
          <a:p>
            <a:pPr>
              <a:lnSpc>
                <a:spcPct val="80000"/>
              </a:lnSpc>
              <a:spcBef>
                <a:spcPct val="50000"/>
              </a:spcBef>
              <a:buFont typeface="Wingdings" pitchFamily="2" charset="2"/>
              <a:buNone/>
            </a:pPr>
            <a:r>
              <a:rPr lang="en-US" sz="1600" b="1">
                <a:solidFill>
                  <a:srgbClr val="FF0000"/>
                </a:solidFill>
              </a:rPr>
              <a:t>Islands of Automation:</a:t>
            </a:r>
            <a:r>
              <a:rPr lang="en-US" sz="1600" b="1"/>
              <a:t> </a:t>
            </a:r>
          </a:p>
          <a:p>
            <a:pPr lvl="1">
              <a:lnSpc>
                <a:spcPct val="80000"/>
              </a:lnSpc>
              <a:spcBef>
                <a:spcPct val="50000"/>
              </a:spcBef>
            </a:pPr>
            <a:r>
              <a:rPr lang="en-US"/>
              <a:t>Citizens have to deal with multiple agencies (22,000 websites) to get service, instead of going to a single point of service website or call center</a:t>
            </a:r>
          </a:p>
          <a:p>
            <a:pPr lvl="1">
              <a:lnSpc>
                <a:spcPct val="80000"/>
              </a:lnSpc>
              <a:spcBef>
                <a:spcPct val="50000"/>
              </a:spcBef>
            </a:pPr>
            <a:r>
              <a:rPr lang="en-US"/>
              <a:t>Agencies cannot easily collaborate for key missions like Homeland Security.</a:t>
            </a:r>
          </a:p>
          <a:p>
            <a:pPr>
              <a:lnSpc>
                <a:spcPct val="80000"/>
              </a:lnSpc>
              <a:spcBef>
                <a:spcPct val="50000"/>
              </a:spcBef>
              <a:buFont typeface="Wingdings" pitchFamily="2" charset="2"/>
              <a:buNone/>
            </a:pPr>
            <a:r>
              <a:rPr lang="en-US" sz="1600" b="1">
                <a:solidFill>
                  <a:srgbClr val="FF0000"/>
                </a:solidFill>
              </a:rPr>
              <a:t>Poor Cyber Security:</a:t>
            </a:r>
            <a:r>
              <a:rPr lang="en-US" sz="1600" b="1"/>
              <a:t> </a:t>
            </a:r>
            <a:r>
              <a:rPr lang="en-US" sz="1600"/>
              <a:t>IT security is seen as an IT or funding issue, instead of agency management issue</a:t>
            </a:r>
          </a:p>
        </p:txBody>
      </p:sp>
      <p:sp>
        <p:nvSpPr>
          <p:cNvPr id="1377284" name="Text Box 1028"/>
          <p:cNvSpPr txBox="1">
            <a:spLocks noChangeArrowheads="1"/>
          </p:cNvSpPr>
          <p:nvPr/>
        </p:nvSpPr>
        <p:spPr bwMode="auto">
          <a:xfrm>
            <a:off x="406400" y="5943600"/>
            <a:ext cx="8426450" cy="366713"/>
          </a:xfrm>
          <a:prstGeom prst="rect">
            <a:avLst/>
          </a:prstGeom>
          <a:noFill/>
          <a:ln w="6350">
            <a:noFill/>
            <a:miter lim="800000"/>
            <a:headEnd/>
            <a:tailEnd/>
          </a:ln>
          <a:effectLst/>
        </p:spPr>
        <p:txBody>
          <a:bodyPr wrap="none">
            <a:spAutoFit/>
          </a:bodyPr>
          <a:lstStyle/>
          <a:p>
            <a:r>
              <a:rPr lang="en-US"/>
              <a:t>Source:  Briefing from Mark Forman (OMB AD for IT &amp; E-GOV); September 2002 </a:t>
            </a:r>
          </a:p>
        </p:txBody>
      </p:sp>
      <p:pic>
        <p:nvPicPr>
          <p:cNvPr id="1377288" name="Picture 1032" descr="j0240687[1]"/>
          <p:cNvPicPr>
            <a:picLocks noChangeAspect="1" noChangeArrowheads="1"/>
          </p:cNvPicPr>
          <p:nvPr>
            <p:ph sz="half" idx="2"/>
          </p:nvPr>
        </p:nvPicPr>
        <p:blipFill>
          <a:blip r:embed="rId3" cstate="print"/>
          <a:srcRect t="16000"/>
          <a:stretch>
            <a:fillRect/>
          </a:stretch>
        </p:blipFill>
        <p:spPr>
          <a:xfrm>
            <a:off x="7058025" y="2466975"/>
            <a:ext cx="1806575" cy="1533525"/>
          </a:xfrm>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80354" name="Rectangle 2"/>
          <p:cNvSpPr>
            <a:spLocks noGrp="1" noChangeArrowheads="1"/>
          </p:cNvSpPr>
          <p:nvPr>
            <p:ph type="title"/>
          </p:nvPr>
        </p:nvSpPr>
        <p:spPr/>
        <p:txBody>
          <a:bodyPr/>
          <a:lstStyle/>
          <a:p>
            <a:r>
              <a:rPr lang="en-US"/>
              <a:t>WHAT DOES OMB WANT FROM US?</a:t>
            </a:r>
          </a:p>
        </p:txBody>
      </p:sp>
      <p:sp>
        <p:nvSpPr>
          <p:cNvPr id="1380355" name="Rectangle 3"/>
          <p:cNvSpPr>
            <a:spLocks noGrp="1" noChangeArrowheads="1"/>
          </p:cNvSpPr>
          <p:nvPr>
            <p:ph type="body" sz="half" idx="1"/>
          </p:nvPr>
        </p:nvSpPr>
        <p:spPr>
          <a:xfrm>
            <a:off x="228600" y="1600200"/>
            <a:ext cx="8077200" cy="4525963"/>
          </a:xfrm>
        </p:spPr>
        <p:txBody>
          <a:bodyPr/>
          <a:lstStyle/>
          <a:p>
            <a:pPr>
              <a:buFont typeface="Wingdings" pitchFamily="2" charset="2"/>
              <a:buNone/>
            </a:pPr>
            <a:r>
              <a:rPr lang="en-US" sz="1600" b="1"/>
              <a:t>    WHAT HAVE THEY TOLD FEDERAL AGENCIES?</a:t>
            </a:r>
          </a:p>
          <a:p>
            <a:endParaRPr lang="en-US" sz="1600"/>
          </a:p>
        </p:txBody>
      </p:sp>
      <p:pic>
        <p:nvPicPr>
          <p:cNvPr id="1380356" name="Picture 4" descr="omb"/>
          <p:cNvPicPr>
            <a:picLocks noChangeAspect="1" noChangeArrowheads="1"/>
          </p:cNvPicPr>
          <p:nvPr>
            <p:ph sz="half" idx="2"/>
          </p:nvPr>
        </p:nvPicPr>
        <p:blipFill>
          <a:blip r:embed="rId3" cstate="print">
            <a:clrChange>
              <a:clrFrom>
                <a:srgbClr val="FFFFFF"/>
              </a:clrFrom>
              <a:clrTo>
                <a:srgbClr val="FFFFFF">
                  <a:alpha val="0"/>
                </a:srgbClr>
              </a:clrTo>
            </a:clrChange>
          </a:blip>
          <a:srcRect/>
          <a:stretch>
            <a:fillRect/>
          </a:stretch>
        </p:blipFill>
        <p:spPr>
          <a:xfrm>
            <a:off x="6934200" y="2054225"/>
            <a:ext cx="1371600" cy="1368425"/>
          </a:xfrm>
          <a:solidFill>
            <a:schemeClr val="bg1"/>
          </a:solidFill>
          <a:ln/>
        </p:spPr>
      </p:pic>
      <p:sp>
        <p:nvSpPr>
          <p:cNvPr id="1380357" name="Rectangle 5"/>
          <p:cNvSpPr>
            <a:spLocks noChangeArrowheads="1"/>
          </p:cNvSpPr>
          <p:nvPr/>
        </p:nvSpPr>
        <p:spPr bwMode="auto">
          <a:xfrm>
            <a:off x="457200" y="2054225"/>
            <a:ext cx="6521450" cy="915988"/>
          </a:xfrm>
          <a:prstGeom prst="rect">
            <a:avLst/>
          </a:prstGeom>
          <a:noFill/>
          <a:ln w="6350">
            <a:noFill/>
            <a:miter lim="800000"/>
            <a:headEnd/>
            <a:tailEnd/>
          </a:ln>
          <a:effectLst/>
        </p:spPr>
        <p:txBody>
          <a:bodyPr>
            <a:spAutoFit/>
          </a:bodyPr>
          <a:lstStyle/>
          <a:p>
            <a:pPr algn="l"/>
            <a:r>
              <a:rPr lang="en-US" b="1"/>
              <a:t>OMB Has A Two-pronged Approach For Driving Progress: Each Cabinet-level Department and Agency is Rated </a:t>
            </a:r>
            <a:r>
              <a:rPr lang="en-US" b="1">
                <a:solidFill>
                  <a:srgbClr val="FF0000"/>
                </a:solidFill>
              </a:rPr>
              <a:t>Quarterly</a:t>
            </a:r>
          </a:p>
        </p:txBody>
      </p:sp>
      <p:sp>
        <p:nvSpPr>
          <p:cNvPr id="1380358" name="Rectangle 6"/>
          <p:cNvSpPr>
            <a:spLocks noChangeArrowheads="1"/>
          </p:cNvSpPr>
          <p:nvPr/>
        </p:nvSpPr>
        <p:spPr bwMode="auto">
          <a:xfrm>
            <a:off x="1066800" y="2970213"/>
            <a:ext cx="5029200" cy="2897187"/>
          </a:xfrm>
          <a:prstGeom prst="rect">
            <a:avLst/>
          </a:prstGeom>
          <a:solidFill>
            <a:srgbClr val="FFFFCC"/>
          </a:solidFill>
          <a:ln w="9525">
            <a:solidFill>
              <a:schemeClr val="tx1"/>
            </a:solidFill>
            <a:miter lim="800000"/>
            <a:headEnd/>
            <a:tailEnd/>
          </a:ln>
          <a:effectLst/>
        </p:spPr>
        <p:txBody>
          <a:bodyPr/>
          <a:lstStyle/>
          <a:p>
            <a:pPr marL="342900" indent="-342900" algn="l">
              <a:spcBef>
                <a:spcPct val="20000"/>
              </a:spcBef>
              <a:buFont typeface="Wingdings" pitchFamily="2" charset="2"/>
              <a:buChar char="§"/>
            </a:pPr>
            <a:r>
              <a:rPr lang="en-US" sz="1600" b="1"/>
              <a:t>Agency E-government Progress</a:t>
            </a:r>
          </a:p>
          <a:p>
            <a:pPr marL="742950" lvl="1" indent="-285750" algn="l">
              <a:spcBef>
                <a:spcPct val="20000"/>
              </a:spcBef>
              <a:buSzPct val="75000"/>
              <a:buFont typeface="Wingdings 3" pitchFamily="18" charset="2"/>
              <a:buChar char="}"/>
            </a:pPr>
            <a:r>
              <a:rPr lang="en-US" sz="1600" b="1"/>
              <a:t>Modernization Blueprint -- Enterprise Architecture</a:t>
            </a:r>
          </a:p>
          <a:p>
            <a:pPr marL="742950" lvl="1" indent="-285750" algn="l">
              <a:spcBef>
                <a:spcPct val="20000"/>
              </a:spcBef>
              <a:buSzPct val="75000"/>
              <a:buFont typeface="Wingdings 3" pitchFamily="18" charset="2"/>
              <a:buChar char="}"/>
            </a:pPr>
            <a:r>
              <a:rPr lang="en-US" sz="1600" b="1"/>
              <a:t>Business Cases -- Capital Planning and Investment Control</a:t>
            </a:r>
          </a:p>
          <a:p>
            <a:pPr marL="742950" lvl="1" indent="-285750" algn="l">
              <a:spcBef>
                <a:spcPct val="20000"/>
              </a:spcBef>
              <a:buSzPct val="75000"/>
              <a:buFont typeface="Wingdings 3" pitchFamily="18" charset="2"/>
              <a:buChar char="}"/>
            </a:pPr>
            <a:r>
              <a:rPr lang="en-US" sz="1600" b="1"/>
              <a:t>IT Program Management</a:t>
            </a:r>
          </a:p>
          <a:p>
            <a:pPr marL="742950" lvl="1" indent="-285750" algn="l">
              <a:spcBef>
                <a:spcPct val="20000"/>
              </a:spcBef>
              <a:buSzPct val="75000"/>
              <a:buFont typeface="Wingdings 3" pitchFamily="18" charset="2"/>
              <a:buChar char="}"/>
            </a:pPr>
            <a:r>
              <a:rPr lang="en-US" sz="1600" b="1"/>
              <a:t>IT Security</a:t>
            </a:r>
          </a:p>
          <a:p>
            <a:pPr marL="342900" indent="-342900" algn="l">
              <a:spcBef>
                <a:spcPct val="20000"/>
              </a:spcBef>
              <a:buFont typeface="Wingdings" pitchFamily="2" charset="2"/>
              <a:buChar char="§"/>
            </a:pPr>
            <a:r>
              <a:rPr lang="en-US" sz="1600" b="1"/>
              <a:t>Multi-agency E-Government Initiative Involvement</a:t>
            </a:r>
          </a:p>
        </p:txBody>
      </p:sp>
      <p:sp>
        <p:nvSpPr>
          <p:cNvPr id="1380359" name="Text Box 7"/>
          <p:cNvSpPr txBox="1">
            <a:spLocks noChangeArrowheads="1"/>
          </p:cNvSpPr>
          <p:nvPr/>
        </p:nvSpPr>
        <p:spPr bwMode="auto">
          <a:xfrm>
            <a:off x="457200" y="5867400"/>
            <a:ext cx="8686800" cy="836613"/>
          </a:xfrm>
          <a:prstGeom prst="rect">
            <a:avLst/>
          </a:prstGeom>
          <a:noFill/>
          <a:ln w="6350">
            <a:noFill/>
            <a:miter lim="800000"/>
            <a:headEnd/>
            <a:tailEnd/>
          </a:ln>
          <a:effectLst/>
        </p:spPr>
        <p:txBody>
          <a:bodyPr>
            <a:spAutoFit/>
          </a:bodyPr>
          <a:lstStyle/>
          <a:p>
            <a:pPr algn="l"/>
            <a:r>
              <a:rPr lang="en-US" sz="1400"/>
              <a:t>Source:  Mark A. Forman,</a:t>
            </a:r>
            <a:r>
              <a:rPr lang="en-US" sz="1400" b="1"/>
              <a:t> </a:t>
            </a:r>
            <a:r>
              <a:rPr lang="en-US" sz="1400"/>
              <a:t>Associate Director for IT and E-Government (OMB) Briefing:  </a:t>
            </a:r>
            <a:r>
              <a:rPr lang="en-US" sz="1400" i="1"/>
              <a:t>Enterprise Architectures That Matter</a:t>
            </a:r>
          </a:p>
          <a:p>
            <a:pPr>
              <a:spcBef>
                <a:spcPct val="50000"/>
              </a:spcBef>
              <a:buFontTx/>
              <a:buNone/>
            </a:pPr>
            <a:endParaRPr lang="en-US" sz="1400" i="1"/>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82402" name="Rectangle 2"/>
          <p:cNvSpPr>
            <a:spLocks noGrp="1" noChangeArrowheads="1"/>
          </p:cNvSpPr>
          <p:nvPr>
            <p:ph type="title"/>
          </p:nvPr>
        </p:nvSpPr>
        <p:spPr/>
        <p:txBody>
          <a:bodyPr/>
          <a:lstStyle/>
          <a:p>
            <a:r>
              <a:rPr lang="en-US"/>
              <a:t>WHAT DOES OMB WANT FROM US?</a:t>
            </a:r>
          </a:p>
        </p:txBody>
      </p:sp>
      <p:sp>
        <p:nvSpPr>
          <p:cNvPr id="1382403" name="Rectangle 3"/>
          <p:cNvSpPr>
            <a:spLocks noGrp="1" noChangeArrowheads="1"/>
          </p:cNvSpPr>
          <p:nvPr>
            <p:ph type="body" sz="half" idx="1"/>
          </p:nvPr>
        </p:nvSpPr>
        <p:spPr>
          <a:xfrm>
            <a:off x="457200" y="2971800"/>
            <a:ext cx="5943600" cy="2743200"/>
          </a:xfrm>
          <a:solidFill>
            <a:srgbClr val="FFFF99"/>
          </a:solidFill>
          <a:ln>
            <a:solidFill>
              <a:srgbClr val="333399"/>
            </a:solidFill>
          </a:ln>
        </p:spPr>
        <p:txBody>
          <a:bodyPr/>
          <a:lstStyle/>
          <a:p>
            <a:pPr marL="342900" indent="-342900"/>
            <a:r>
              <a:rPr lang="en-US" sz="1600" b="1"/>
              <a:t>Identify common functions, interdependencies, interrelationships, and evaluate barriers to information sharing</a:t>
            </a:r>
          </a:p>
          <a:p>
            <a:pPr marL="342900" indent="-342900"/>
            <a:r>
              <a:rPr lang="en-US" sz="1600" b="1"/>
              <a:t>Implement in a way that addresses both the opportunities and risks of a “networked” environment</a:t>
            </a:r>
          </a:p>
          <a:p>
            <a:pPr marL="342900" indent="-342900"/>
            <a:r>
              <a:rPr lang="en-US" sz="1600" b="1"/>
              <a:t>Leverage technologies to achieve benefits of interoperability while protecting societal values of privacy and intellectual property rights, etc.</a:t>
            </a:r>
          </a:p>
        </p:txBody>
      </p:sp>
      <p:sp>
        <p:nvSpPr>
          <p:cNvPr id="1382404" name="Rectangle 4"/>
          <p:cNvSpPr>
            <a:spLocks noChangeArrowheads="1"/>
          </p:cNvSpPr>
          <p:nvPr/>
        </p:nvSpPr>
        <p:spPr bwMode="auto">
          <a:xfrm>
            <a:off x="304800" y="1943100"/>
            <a:ext cx="7467600" cy="1143000"/>
          </a:xfrm>
          <a:prstGeom prst="rect">
            <a:avLst/>
          </a:prstGeom>
          <a:noFill/>
          <a:ln w="9525">
            <a:noFill/>
            <a:miter lim="800000"/>
            <a:headEnd/>
            <a:tailEnd/>
          </a:ln>
          <a:effectLst/>
        </p:spPr>
        <p:txBody>
          <a:bodyPr anchor="ctr"/>
          <a:lstStyle/>
          <a:p>
            <a:pPr algn="l">
              <a:buFontTx/>
              <a:buNone/>
            </a:pPr>
            <a:r>
              <a:rPr lang="en-US" sz="2200" b="1"/>
              <a:t>Fundamentals for Success in Applying Web Services</a:t>
            </a:r>
          </a:p>
        </p:txBody>
      </p:sp>
      <p:pic>
        <p:nvPicPr>
          <p:cNvPr id="1382405" name="Picture 5" descr="omb"/>
          <p:cNvPicPr>
            <a:picLocks noChangeAspect="1" noChangeArrowheads="1"/>
          </p:cNvPicPr>
          <p:nvPr>
            <p:ph sz="half" idx="2"/>
          </p:nvPr>
        </p:nvPicPr>
        <p:blipFill>
          <a:blip r:embed="rId3" cstate="print">
            <a:clrChange>
              <a:clrFrom>
                <a:srgbClr val="FFFFFF"/>
              </a:clrFrom>
              <a:clrTo>
                <a:srgbClr val="FFFFFF">
                  <a:alpha val="0"/>
                </a:srgbClr>
              </a:clrTo>
            </a:clrChange>
          </a:blip>
          <a:srcRect/>
          <a:stretch>
            <a:fillRect/>
          </a:stretch>
        </p:blipFill>
        <p:spPr>
          <a:xfrm>
            <a:off x="6705600" y="2971800"/>
            <a:ext cx="1981200" cy="1976438"/>
          </a:xfrm>
          <a:solidFill>
            <a:schemeClr val="bg1"/>
          </a:solidFill>
          <a:ln/>
        </p:spPr>
      </p:pic>
      <p:sp>
        <p:nvSpPr>
          <p:cNvPr id="1382406" name="Text Box 6"/>
          <p:cNvSpPr txBox="1">
            <a:spLocks noChangeArrowheads="1"/>
          </p:cNvSpPr>
          <p:nvPr/>
        </p:nvSpPr>
        <p:spPr bwMode="auto">
          <a:xfrm>
            <a:off x="304800" y="5867400"/>
            <a:ext cx="8839200" cy="836613"/>
          </a:xfrm>
          <a:prstGeom prst="rect">
            <a:avLst/>
          </a:prstGeom>
          <a:noFill/>
          <a:ln w="6350">
            <a:noFill/>
            <a:miter lim="800000"/>
            <a:headEnd/>
            <a:tailEnd/>
          </a:ln>
          <a:effectLst/>
        </p:spPr>
        <p:txBody>
          <a:bodyPr>
            <a:spAutoFit/>
          </a:bodyPr>
          <a:lstStyle/>
          <a:p>
            <a:pPr algn="l"/>
            <a:r>
              <a:rPr lang="en-US" sz="1400"/>
              <a:t>Source:  Mark A. Forman,</a:t>
            </a:r>
            <a:r>
              <a:rPr lang="en-US" sz="1400" b="1"/>
              <a:t> </a:t>
            </a:r>
            <a:r>
              <a:rPr lang="en-US" sz="1400"/>
              <a:t>Associate Director for IT and E-Government (OMB)</a:t>
            </a:r>
          </a:p>
          <a:p>
            <a:pPr algn="l"/>
            <a:r>
              <a:rPr lang="en-US" sz="1400"/>
              <a:t>Briefing:  </a:t>
            </a:r>
            <a:r>
              <a:rPr lang="en-US" sz="1400" i="1"/>
              <a:t>Enterprise Architectures That Matter</a:t>
            </a:r>
          </a:p>
          <a:p>
            <a:pPr>
              <a:spcBef>
                <a:spcPct val="50000"/>
              </a:spcBef>
              <a:buFontTx/>
              <a:buNone/>
            </a:pPr>
            <a:endParaRPr lang="en-US" sz="1400" i="1"/>
          </a:p>
        </p:txBody>
      </p:sp>
      <p:sp>
        <p:nvSpPr>
          <p:cNvPr id="1382407" name="Rectangle 7"/>
          <p:cNvSpPr>
            <a:spLocks noChangeArrowheads="1"/>
          </p:cNvSpPr>
          <p:nvPr/>
        </p:nvSpPr>
        <p:spPr bwMode="auto">
          <a:xfrm>
            <a:off x="457200" y="1758950"/>
            <a:ext cx="5467350" cy="366713"/>
          </a:xfrm>
          <a:prstGeom prst="rect">
            <a:avLst/>
          </a:prstGeom>
          <a:noFill/>
          <a:ln w="6350">
            <a:noFill/>
            <a:miter lim="800000"/>
            <a:headEnd/>
            <a:tailEnd/>
          </a:ln>
          <a:effectLst/>
        </p:spPr>
        <p:txBody>
          <a:bodyPr wrap="none">
            <a:spAutoFit/>
          </a:bodyPr>
          <a:lstStyle/>
          <a:p>
            <a:pPr>
              <a:spcBef>
                <a:spcPct val="20000"/>
              </a:spcBef>
            </a:pPr>
            <a:r>
              <a:rPr lang="en-US" b="1"/>
              <a:t>WHAT HAVE THEY TOLD FEDERAL AGENCIES?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84450" name="Rectangle 1026"/>
          <p:cNvSpPr>
            <a:spLocks noGrp="1" noChangeArrowheads="1"/>
          </p:cNvSpPr>
          <p:nvPr>
            <p:ph type="title"/>
          </p:nvPr>
        </p:nvSpPr>
        <p:spPr>
          <a:xfrm>
            <a:off x="457200" y="723900"/>
            <a:ext cx="8229600" cy="838200"/>
          </a:xfrm>
        </p:spPr>
        <p:txBody>
          <a:bodyPr/>
          <a:lstStyle/>
          <a:p>
            <a:r>
              <a:rPr lang="en-US"/>
              <a:t>WHAT DOES OMB WANT FROM US?</a:t>
            </a:r>
          </a:p>
        </p:txBody>
      </p:sp>
      <p:pic>
        <p:nvPicPr>
          <p:cNvPr id="1384451" name="Picture 1027" descr="omb"/>
          <p:cNvPicPr>
            <a:picLocks noChangeAspect="1" noChangeArrowheads="1"/>
          </p:cNvPicPr>
          <p:nvPr>
            <p:ph sz="half" idx="2"/>
          </p:nvPr>
        </p:nvPicPr>
        <p:blipFill>
          <a:blip r:embed="rId3" cstate="print">
            <a:clrChange>
              <a:clrFrom>
                <a:srgbClr val="FFFFFF"/>
              </a:clrFrom>
              <a:clrTo>
                <a:srgbClr val="FFFFFF">
                  <a:alpha val="0"/>
                </a:srgbClr>
              </a:clrTo>
            </a:clrChange>
          </a:blip>
          <a:srcRect/>
          <a:stretch>
            <a:fillRect/>
          </a:stretch>
        </p:blipFill>
        <p:spPr>
          <a:xfrm>
            <a:off x="7080250" y="2468563"/>
            <a:ext cx="1447800" cy="1444625"/>
          </a:xfrm>
          <a:solidFill>
            <a:schemeClr val="bg1"/>
          </a:solidFill>
          <a:ln/>
        </p:spPr>
      </p:pic>
      <p:sp>
        <p:nvSpPr>
          <p:cNvPr id="1384452" name="Text Box 1028"/>
          <p:cNvSpPr txBox="1">
            <a:spLocks noChangeArrowheads="1"/>
          </p:cNvSpPr>
          <p:nvPr/>
        </p:nvSpPr>
        <p:spPr bwMode="auto">
          <a:xfrm>
            <a:off x="533400" y="5867400"/>
            <a:ext cx="8610600" cy="836613"/>
          </a:xfrm>
          <a:prstGeom prst="rect">
            <a:avLst/>
          </a:prstGeom>
          <a:noFill/>
          <a:ln w="6350">
            <a:noFill/>
            <a:miter lim="800000"/>
            <a:headEnd/>
            <a:tailEnd/>
          </a:ln>
          <a:effectLst/>
        </p:spPr>
        <p:txBody>
          <a:bodyPr>
            <a:spAutoFit/>
          </a:bodyPr>
          <a:lstStyle/>
          <a:p>
            <a:pPr algn="l"/>
            <a:r>
              <a:rPr lang="en-US" sz="1400"/>
              <a:t>Source:  Mark A. Forman,</a:t>
            </a:r>
            <a:r>
              <a:rPr lang="en-US" sz="1400" b="1"/>
              <a:t> </a:t>
            </a:r>
            <a:r>
              <a:rPr lang="en-US" sz="1400"/>
              <a:t>Associate Director for IT and E-Government (OMB) Briefing:  </a:t>
            </a:r>
            <a:r>
              <a:rPr lang="en-US" sz="1400" i="1"/>
              <a:t>Enterprise Architectures That Matter</a:t>
            </a:r>
          </a:p>
          <a:p>
            <a:pPr>
              <a:spcBef>
                <a:spcPct val="50000"/>
              </a:spcBef>
              <a:buFontTx/>
              <a:buNone/>
            </a:pPr>
            <a:endParaRPr lang="en-US" sz="1400" i="1"/>
          </a:p>
        </p:txBody>
      </p:sp>
      <p:sp>
        <p:nvSpPr>
          <p:cNvPr id="1384453" name="Rectangle 1029"/>
          <p:cNvSpPr>
            <a:spLocks noChangeArrowheads="1"/>
          </p:cNvSpPr>
          <p:nvPr/>
        </p:nvSpPr>
        <p:spPr bwMode="auto">
          <a:xfrm>
            <a:off x="228600" y="1663700"/>
            <a:ext cx="5467350" cy="366713"/>
          </a:xfrm>
          <a:prstGeom prst="rect">
            <a:avLst/>
          </a:prstGeom>
          <a:noFill/>
          <a:ln w="6350">
            <a:noFill/>
            <a:miter lim="800000"/>
            <a:headEnd/>
            <a:tailEnd/>
          </a:ln>
          <a:effectLst/>
        </p:spPr>
        <p:txBody>
          <a:bodyPr wrap="none">
            <a:spAutoFit/>
          </a:bodyPr>
          <a:lstStyle/>
          <a:p>
            <a:pPr>
              <a:spcBef>
                <a:spcPct val="20000"/>
              </a:spcBef>
            </a:pPr>
            <a:r>
              <a:rPr lang="en-US" b="1"/>
              <a:t>WHAT HAVE THEY TOLD FEDERAL AGENCIES?</a:t>
            </a:r>
          </a:p>
        </p:txBody>
      </p:sp>
      <p:sp>
        <p:nvSpPr>
          <p:cNvPr id="1384454" name="Rectangle 1030"/>
          <p:cNvSpPr>
            <a:spLocks noGrp="1" noChangeArrowheads="1"/>
          </p:cNvSpPr>
          <p:nvPr>
            <p:ph type="body" sz="half" idx="1"/>
          </p:nvPr>
        </p:nvSpPr>
        <p:spPr>
          <a:xfrm>
            <a:off x="228600" y="2468563"/>
            <a:ext cx="6623050" cy="3154362"/>
          </a:xfrm>
          <a:solidFill>
            <a:srgbClr val="FFFF99"/>
          </a:solidFill>
          <a:ln>
            <a:solidFill>
              <a:srgbClr val="333399"/>
            </a:solidFill>
          </a:ln>
        </p:spPr>
        <p:txBody>
          <a:bodyPr/>
          <a:lstStyle/>
          <a:p>
            <a:pPr marL="342900" indent="-342900">
              <a:lnSpc>
                <a:spcPct val="80000"/>
              </a:lnSpc>
            </a:pPr>
            <a:r>
              <a:rPr lang="en-US" sz="1600" b="1"/>
              <a:t>Developing a modernization blueprint</a:t>
            </a:r>
          </a:p>
          <a:p>
            <a:pPr marL="742950" lvl="1" indent="-285750">
              <a:lnSpc>
                <a:spcPct val="80000"/>
              </a:lnSpc>
            </a:pPr>
            <a:r>
              <a:rPr lang="en-US" sz="1400" b="1"/>
              <a:t>Component-based enterprise architecture that addresses the business lines, data, information, and technology necessary to meet our missions. </a:t>
            </a:r>
          </a:p>
          <a:p>
            <a:pPr marL="742950" lvl="1" indent="-285750">
              <a:lnSpc>
                <a:spcPct val="80000"/>
              </a:lnSpc>
            </a:pPr>
            <a:r>
              <a:rPr lang="en-US" sz="1400" b="1"/>
              <a:t>CIO Council/OMB Analysis identifying internal/external interrelationships and interdependencies at each layer</a:t>
            </a:r>
          </a:p>
          <a:p>
            <a:pPr marL="742950" lvl="1" indent="-285750">
              <a:lnSpc>
                <a:spcPct val="80000"/>
              </a:lnSpc>
            </a:pPr>
            <a:r>
              <a:rPr lang="en-US" sz="1400" b="1"/>
              <a:t>Within and across departments</a:t>
            </a:r>
          </a:p>
          <a:p>
            <a:pPr marL="342900" indent="-342900">
              <a:lnSpc>
                <a:spcPct val="80000"/>
              </a:lnSpc>
            </a:pPr>
            <a:r>
              <a:rPr lang="en-US" sz="1600" b="1"/>
              <a:t>Privacy and security are key components of this architecture</a:t>
            </a:r>
          </a:p>
          <a:p>
            <a:pPr marL="342900" indent="-342900">
              <a:lnSpc>
                <a:spcPct val="80000"/>
              </a:lnSpc>
            </a:pPr>
            <a:r>
              <a:rPr lang="en-US" sz="1600" b="1"/>
              <a:t>Eliminate investments in redundant IT capabilities</a:t>
            </a:r>
          </a:p>
          <a:p>
            <a:pPr marL="342900" indent="-342900">
              <a:lnSpc>
                <a:spcPct val="80000"/>
              </a:lnSpc>
            </a:pPr>
            <a:r>
              <a:rPr lang="en-US" sz="1600" b="1"/>
              <a:t>Unify and Simplify: Shared investments and process integration to leverage common components in making government citizen centered and driving results </a:t>
            </a:r>
          </a:p>
          <a:p>
            <a:pPr marL="742950" lvl="1" indent="-285750">
              <a:lnSpc>
                <a:spcPct val="80000"/>
              </a:lnSpc>
            </a:pPr>
            <a:r>
              <a:rPr lang="en-US" sz="1400" b="1"/>
              <a:t>Common business functions</a:t>
            </a:r>
          </a:p>
          <a:p>
            <a:pPr marL="742950" lvl="1" indent="-285750">
              <a:lnSpc>
                <a:spcPct val="80000"/>
              </a:lnSpc>
            </a:pPr>
            <a:r>
              <a:rPr lang="en-US" sz="1400" b="1"/>
              <a:t>Vertical or horizontal integration needed to perform</a:t>
            </a:r>
          </a:p>
        </p:txBody>
      </p:sp>
      <p:sp>
        <p:nvSpPr>
          <p:cNvPr id="1384455" name="Rectangle 1031"/>
          <p:cNvSpPr>
            <a:spLocks noChangeArrowheads="1"/>
          </p:cNvSpPr>
          <p:nvPr/>
        </p:nvSpPr>
        <p:spPr bwMode="auto">
          <a:xfrm>
            <a:off x="228600" y="2030413"/>
            <a:ext cx="7575550" cy="366712"/>
          </a:xfrm>
          <a:prstGeom prst="rect">
            <a:avLst/>
          </a:prstGeom>
          <a:noFill/>
          <a:ln w="6350">
            <a:noFill/>
            <a:miter lim="800000"/>
            <a:headEnd/>
            <a:tailEnd/>
          </a:ln>
          <a:effectLst/>
        </p:spPr>
        <p:txBody>
          <a:bodyPr wrap="none">
            <a:spAutoFit/>
          </a:bodyPr>
          <a:lstStyle/>
          <a:p>
            <a:r>
              <a:rPr lang="en-US" b="1">
                <a:solidFill>
                  <a:srgbClr val="333399"/>
                </a:solidFill>
              </a:rPr>
              <a:t>END-TO-END DIGITAL SERVICE DELIVERY IS THE NEW PARADIGM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8546" name="Rectangle 1026"/>
          <p:cNvSpPr>
            <a:spLocks noGrp="1" noChangeArrowheads="1"/>
          </p:cNvSpPr>
          <p:nvPr>
            <p:ph type="ctrTitle"/>
          </p:nvPr>
        </p:nvSpPr>
        <p:spPr>
          <a:xfrm>
            <a:off x="838200" y="2667000"/>
            <a:ext cx="6048375" cy="914400"/>
          </a:xfrm>
        </p:spPr>
        <p:txBody>
          <a:bodyPr/>
          <a:lstStyle/>
          <a:p>
            <a:r>
              <a:rPr lang="en-US"/>
              <a:t>IEA End Outcomes </a:t>
            </a:r>
          </a:p>
        </p:txBody>
      </p:sp>
      <p:sp>
        <p:nvSpPr>
          <p:cNvPr id="1388547" name="Rectangle 1027"/>
          <p:cNvSpPr>
            <a:spLocks noGrp="1" noChangeArrowheads="1"/>
          </p:cNvSpPr>
          <p:nvPr>
            <p:ph type="subTitle" idx="1"/>
          </p:nvPr>
        </p:nvSpPr>
        <p:spPr>
          <a:xfrm>
            <a:off x="1828800" y="4267200"/>
            <a:ext cx="5248275" cy="914400"/>
          </a:xfrm>
        </p:spPr>
        <p:txBody>
          <a:bodyPr/>
          <a:lstStyle/>
          <a:p>
            <a:pPr>
              <a:lnSpc>
                <a:spcPct val="80000"/>
              </a:lnSpc>
            </a:pPr>
            <a:r>
              <a:rPr lang="en-US"/>
              <a:t>Colleen Coggins</a:t>
            </a:r>
          </a:p>
          <a:p>
            <a:pPr>
              <a:lnSpc>
                <a:spcPct val="80000"/>
              </a:lnSpc>
            </a:pPr>
            <a:endParaRPr lang="en-US"/>
          </a:p>
          <a:p>
            <a:pPr>
              <a:lnSpc>
                <a:spcPct val="80000"/>
              </a:lnSpc>
            </a:pPr>
            <a:r>
              <a:rPr lang="en-US"/>
              <a:t>Interior Business Architect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1"/>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64994" name="Text Box 2"/>
          <p:cNvSpPr txBox="1">
            <a:spLocks noChangeArrowheads="1"/>
          </p:cNvSpPr>
          <p:nvPr/>
        </p:nvSpPr>
        <p:spPr bwMode="auto">
          <a:xfrm>
            <a:off x="161925" y="1820863"/>
            <a:ext cx="2797175" cy="3933825"/>
          </a:xfrm>
          <a:prstGeom prst="rect">
            <a:avLst/>
          </a:prstGeom>
          <a:noFill/>
          <a:ln w="6350">
            <a:noFill/>
            <a:miter lim="800000"/>
            <a:headEnd/>
            <a:tailEnd/>
          </a:ln>
          <a:effectLst/>
        </p:spPr>
        <p:txBody>
          <a:bodyPr>
            <a:spAutoFit/>
          </a:bodyPr>
          <a:lstStyle/>
          <a:p>
            <a:pPr>
              <a:spcBef>
                <a:spcPct val="50000"/>
              </a:spcBef>
            </a:pPr>
            <a:r>
              <a:rPr lang="en-US" sz="2800" b="1">
                <a:solidFill>
                  <a:srgbClr val="760000"/>
                </a:solidFill>
              </a:rPr>
              <a:t>DOI Business Priorities, Goals &amp; Outcomes</a:t>
            </a:r>
          </a:p>
          <a:p>
            <a:pPr algn="l">
              <a:spcBef>
                <a:spcPct val="50000"/>
              </a:spcBef>
              <a:buFont typeface="Wingdings" pitchFamily="2" charset="2"/>
              <a:buChar char="§"/>
            </a:pPr>
            <a:r>
              <a:rPr lang="en-US" sz="2000" b="1">
                <a:solidFill>
                  <a:srgbClr val="FF0000"/>
                </a:solidFill>
              </a:rPr>
              <a:t>Strategic Plan</a:t>
            </a:r>
          </a:p>
          <a:p>
            <a:pPr algn="l">
              <a:spcBef>
                <a:spcPct val="50000"/>
              </a:spcBef>
              <a:buFont typeface="Wingdings" pitchFamily="2" charset="2"/>
              <a:buChar char="§"/>
            </a:pPr>
            <a:r>
              <a:rPr lang="en-US" sz="2000" b="1">
                <a:solidFill>
                  <a:srgbClr val="FF0000"/>
                </a:solidFill>
              </a:rPr>
              <a:t>Activity Based Costing (ABC),</a:t>
            </a:r>
          </a:p>
          <a:p>
            <a:pPr algn="l">
              <a:spcBef>
                <a:spcPct val="50000"/>
              </a:spcBef>
              <a:buFont typeface="Wingdings" pitchFamily="2" charset="2"/>
              <a:buChar char="§"/>
            </a:pPr>
            <a:r>
              <a:rPr lang="en-US" sz="2000" b="1">
                <a:solidFill>
                  <a:srgbClr val="FF0000"/>
                </a:solidFill>
              </a:rPr>
              <a:t>Business Functions,</a:t>
            </a:r>
          </a:p>
          <a:p>
            <a:pPr algn="l">
              <a:spcBef>
                <a:spcPct val="50000"/>
              </a:spcBef>
              <a:buFont typeface="Wingdings" pitchFamily="2" charset="2"/>
              <a:buChar char="§"/>
            </a:pPr>
            <a:r>
              <a:rPr lang="en-US" sz="2000" b="1">
                <a:solidFill>
                  <a:srgbClr val="FF0000"/>
                </a:solidFill>
              </a:rPr>
              <a:t>Data Requirements</a:t>
            </a:r>
          </a:p>
        </p:txBody>
      </p:sp>
      <p:sp>
        <p:nvSpPr>
          <p:cNvPr id="1364995" name="Text Box 3"/>
          <p:cNvSpPr txBox="1">
            <a:spLocks noChangeArrowheads="1"/>
          </p:cNvSpPr>
          <p:nvPr/>
        </p:nvSpPr>
        <p:spPr bwMode="auto">
          <a:xfrm>
            <a:off x="6629400" y="1628775"/>
            <a:ext cx="2514600" cy="4489450"/>
          </a:xfrm>
          <a:prstGeom prst="rect">
            <a:avLst/>
          </a:prstGeom>
          <a:noFill/>
          <a:ln w="6350">
            <a:noFill/>
            <a:miter lim="800000"/>
            <a:headEnd/>
            <a:tailEnd/>
          </a:ln>
          <a:effectLst/>
        </p:spPr>
        <p:txBody>
          <a:bodyPr>
            <a:spAutoFit/>
          </a:bodyPr>
          <a:lstStyle/>
          <a:p>
            <a:r>
              <a:rPr lang="en-US" sz="2500" b="1">
                <a:solidFill>
                  <a:srgbClr val="760000"/>
                </a:solidFill>
              </a:rPr>
              <a:t>IT Investments:</a:t>
            </a:r>
          </a:p>
          <a:p>
            <a:r>
              <a:rPr lang="en-US" sz="2400" b="1">
                <a:solidFill>
                  <a:srgbClr val="FF0000"/>
                </a:solidFill>
              </a:rPr>
              <a:t>E-GOV Initiatives</a:t>
            </a:r>
          </a:p>
          <a:p>
            <a:endParaRPr lang="en-US" sz="2400" b="1">
              <a:solidFill>
                <a:srgbClr val="FF0000"/>
              </a:solidFill>
            </a:endParaRPr>
          </a:p>
          <a:p>
            <a:r>
              <a:rPr lang="en-US" sz="2400" b="1">
                <a:solidFill>
                  <a:srgbClr val="FF0000"/>
                </a:solidFill>
              </a:rPr>
              <a:t>Major System Development Efforts</a:t>
            </a:r>
          </a:p>
          <a:p>
            <a:endParaRPr lang="en-US" sz="2400" b="1">
              <a:solidFill>
                <a:srgbClr val="FF0000"/>
              </a:solidFill>
            </a:endParaRPr>
          </a:p>
          <a:p>
            <a:r>
              <a:rPr lang="en-US" sz="2400" b="1">
                <a:solidFill>
                  <a:srgbClr val="FF0000"/>
                </a:solidFill>
              </a:rPr>
              <a:t>Infrastructure Upgrades &amp; Enhancements</a:t>
            </a:r>
          </a:p>
          <a:p>
            <a:r>
              <a:rPr lang="en-US" sz="2400" b="1">
                <a:solidFill>
                  <a:srgbClr val="FF0000"/>
                </a:solidFill>
              </a:rPr>
              <a:t>BRM</a:t>
            </a:r>
          </a:p>
        </p:txBody>
      </p:sp>
      <p:sp>
        <p:nvSpPr>
          <p:cNvPr id="1364996" name="Text Box 4"/>
          <p:cNvSpPr txBox="1">
            <a:spLocks noChangeArrowheads="1"/>
          </p:cNvSpPr>
          <p:nvPr/>
        </p:nvSpPr>
        <p:spPr bwMode="auto">
          <a:xfrm>
            <a:off x="381000" y="1071563"/>
            <a:ext cx="8763000" cy="519112"/>
          </a:xfrm>
          <a:prstGeom prst="rect">
            <a:avLst/>
          </a:prstGeom>
          <a:noFill/>
          <a:ln w="6350">
            <a:noFill/>
            <a:miter lim="800000"/>
            <a:headEnd/>
            <a:tailEnd/>
          </a:ln>
          <a:effectLst/>
        </p:spPr>
        <p:txBody>
          <a:bodyPr>
            <a:spAutoFit/>
          </a:bodyPr>
          <a:lstStyle/>
          <a:p>
            <a:pPr algn="l"/>
            <a:r>
              <a:rPr lang="en-US" sz="2800" b="1">
                <a:solidFill>
                  <a:srgbClr val="760000"/>
                </a:solidFill>
              </a:rPr>
              <a:t>Aligning IT Investments with Business Needs</a:t>
            </a:r>
          </a:p>
        </p:txBody>
      </p:sp>
      <p:grpSp>
        <p:nvGrpSpPr>
          <p:cNvPr id="1364997" name="Group 5"/>
          <p:cNvGrpSpPr>
            <a:grpSpLocks/>
          </p:cNvGrpSpPr>
          <p:nvPr/>
        </p:nvGrpSpPr>
        <p:grpSpPr bwMode="auto">
          <a:xfrm>
            <a:off x="3162300" y="3533775"/>
            <a:ext cx="3676650" cy="2211388"/>
            <a:chOff x="1788" y="2712"/>
            <a:chExt cx="2316" cy="1393"/>
          </a:xfrm>
        </p:grpSpPr>
        <p:sp>
          <p:nvSpPr>
            <p:cNvPr id="1364998" name="AutoShape 6"/>
            <p:cNvSpPr>
              <a:spLocks noChangeArrowheads="1"/>
            </p:cNvSpPr>
            <p:nvPr/>
          </p:nvSpPr>
          <p:spPr bwMode="auto">
            <a:xfrm>
              <a:off x="2640" y="2712"/>
              <a:ext cx="528" cy="816"/>
            </a:xfrm>
            <a:prstGeom prst="upArrow">
              <a:avLst>
                <a:gd name="adj1" fmla="val 50000"/>
                <a:gd name="adj2" fmla="val 38636"/>
              </a:avLst>
            </a:prstGeom>
            <a:solidFill>
              <a:srgbClr val="FF0000"/>
            </a:solidFill>
            <a:ln w="6350">
              <a:solidFill>
                <a:schemeClr val="tx1"/>
              </a:solidFill>
              <a:miter lim="800000"/>
              <a:headEnd/>
              <a:tailEnd/>
            </a:ln>
            <a:effectLst/>
          </p:spPr>
          <p:txBody>
            <a:bodyPr wrap="none" anchor="ctr"/>
            <a:lstStyle/>
            <a:p>
              <a:endParaRPr lang="en-US"/>
            </a:p>
          </p:txBody>
        </p:sp>
        <p:sp>
          <p:nvSpPr>
            <p:cNvPr id="1364999" name="Text Box 7"/>
            <p:cNvSpPr txBox="1">
              <a:spLocks noChangeArrowheads="1"/>
            </p:cNvSpPr>
            <p:nvPr/>
          </p:nvSpPr>
          <p:spPr bwMode="auto">
            <a:xfrm>
              <a:off x="1788" y="3528"/>
              <a:ext cx="2316" cy="577"/>
            </a:xfrm>
            <a:prstGeom prst="rect">
              <a:avLst/>
            </a:prstGeom>
            <a:noFill/>
            <a:ln w="6350">
              <a:noFill/>
              <a:miter lim="800000"/>
              <a:headEnd/>
              <a:tailEnd/>
            </a:ln>
            <a:effectLst/>
          </p:spPr>
          <p:txBody>
            <a:bodyPr wrap="none">
              <a:spAutoFit/>
            </a:bodyPr>
            <a:lstStyle/>
            <a:p>
              <a:r>
                <a:rPr lang="en-US" b="1"/>
                <a:t>Provides Basis</a:t>
              </a:r>
            </a:p>
            <a:p>
              <a:r>
                <a:rPr lang="en-US" b="1"/>
                <a:t>For Executive Decision Making, </a:t>
              </a:r>
            </a:p>
            <a:p>
              <a:r>
                <a:rPr lang="en-US" b="1"/>
                <a:t>&amp; Project Coordination </a:t>
              </a:r>
            </a:p>
          </p:txBody>
        </p:sp>
      </p:grpSp>
      <p:pic>
        <p:nvPicPr>
          <p:cNvPr id="1365000" name="Picture 8" descr="j0202662[1]"/>
          <p:cNvPicPr>
            <a:picLocks noChangeAspect="1" noChangeArrowheads="1"/>
          </p:cNvPicPr>
          <p:nvPr/>
        </p:nvPicPr>
        <p:blipFill>
          <a:blip r:embed="rId3" cstate="print"/>
          <a:srcRect/>
          <a:stretch>
            <a:fillRect/>
          </a:stretch>
        </p:blipFill>
        <p:spPr bwMode="auto">
          <a:xfrm>
            <a:off x="2882900" y="2686050"/>
            <a:ext cx="4137025" cy="53816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650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649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33250" name="Rectangle 2"/>
          <p:cNvSpPr>
            <a:spLocks noGrp="1" noChangeArrowheads="1"/>
          </p:cNvSpPr>
          <p:nvPr>
            <p:ph type="title"/>
          </p:nvPr>
        </p:nvSpPr>
        <p:spPr/>
        <p:txBody>
          <a:bodyPr/>
          <a:lstStyle/>
          <a:p>
            <a:r>
              <a:rPr lang="en-US"/>
              <a:t>Expected Outcomes:</a:t>
            </a:r>
          </a:p>
        </p:txBody>
      </p:sp>
      <p:sp>
        <p:nvSpPr>
          <p:cNvPr id="1333251" name="Rectangle 3"/>
          <p:cNvSpPr>
            <a:spLocks noGrp="1" noChangeArrowheads="1"/>
          </p:cNvSpPr>
          <p:nvPr>
            <p:ph type="body" idx="1"/>
          </p:nvPr>
        </p:nvSpPr>
        <p:spPr/>
        <p:txBody>
          <a:bodyPr/>
          <a:lstStyle/>
          <a:p>
            <a:pPr>
              <a:buFont typeface="Wingdings" pitchFamily="2" charset="2"/>
              <a:buNone/>
            </a:pPr>
            <a:r>
              <a:rPr lang="en-US" sz="2000"/>
              <a:t>Interior Business Architecture Team:</a:t>
            </a:r>
          </a:p>
          <a:p>
            <a:pPr>
              <a:buFont typeface="Wingdings" pitchFamily="2" charset="2"/>
              <a:buNone/>
            </a:pPr>
            <a:endParaRPr lang="en-US" sz="2000"/>
          </a:p>
          <a:p>
            <a:r>
              <a:rPr lang="en-US" sz="2000"/>
              <a:t>Define an Interior-wide modernization blueprint for IT investments that:</a:t>
            </a:r>
          </a:p>
          <a:p>
            <a:pPr lvl="1"/>
            <a:r>
              <a:rPr lang="en-US" sz="2000"/>
              <a:t>Supports Interior’s strategic priorities and business needs</a:t>
            </a:r>
          </a:p>
          <a:p>
            <a:pPr lvl="1"/>
            <a:r>
              <a:rPr lang="en-US" sz="2000"/>
              <a:t>Guides the decision making in the Capital Planning and Investment Control Process</a:t>
            </a:r>
          </a:p>
          <a:p>
            <a:pPr lvl="1"/>
            <a:r>
              <a:rPr lang="en-US" sz="2000"/>
              <a:t>Minimizes functional and data redundancies</a:t>
            </a:r>
          </a:p>
          <a:p>
            <a:pPr lvl="1"/>
            <a:r>
              <a:rPr lang="en-US" sz="2000"/>
              <a:t>Improves Overall Performance</a:t>
            </a:r>
          </a:p>
          <a:p>
            <a:pPr lvl="1"/>
            <a:r>
              <a:rPr lang="en-US" sz="2000"/>
              <a:t>Target Systems are based on Re-engineered/Optimized business processes</a:t>
            </a:r>
          </a:p>
          <a:p>
            <a:pPr lvl="1"/>
            <a:r>
              <a:rPr lang="en-US" sz="2000"/>
              <a:t>Target Systems adhere to the DOI Technical Reference Model</a:t>
            </a:r>
          </a:p>
          <a:p>
            <a:pPr>
              <a:buFont typeface="Wingdings" pitchFamily="2" charset="2"/>
              <a:buNone/>
            </a:pPr>
            <a:endParaRPr lang="en-US" sz="2000"/>
          </a:p>
          <a:p>
            <a:pPr>
              <a:buFont typeface="Wingdings" pitchFamily="2" charset="2"/>
              <a:buNone/>
            </a:pPr>
            <a:endParaRPr lang="en-US"/>
          </a:p>
        </p:txBody>
      </p:sp>
      <p:pic>
        <p:nvPicPr>
          <p:cNvPr id="1333252" name="Picture 4" descr="BD05590_[1]"/>
          <p:cNvPicPr>
            <a:picLocks noChangeAspect="1" noChangeArrowheads="1"/>
          </p:cNvPicPr>
          <p:nvPr/>
        </p:nvPicPr>
        <p:blipFill>
          <a:blip r:embed="rId3" cstate="print"/>
          <a:srcRect/>
          <a:stretch>
            <a:fillRect/>
          </a:stretch>
        </p:blipFill>
        <p:spPr bwMode="auto">
          <a:xfrm>
            <a:off x="6208713" y="554038"/>
            <a:ext cx="1666875" cy="186531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274" name="Rectangle 2"/>
          <p:cNvSpPr>
            <a:spLocks noGrp="1" noChangeArrowheads="1"/>
          </p:cNvSpPr>
          <p:nvPr>
            <p:ph type="ctrTitle"/>
          </p:nvPr>
        </p:nvSpPr>
        <p:spPr/>
        <p:txBody>
          <a:bodyPr/>
          <a:lstStyle/>
          <a:p>
            <a:r>
              <a:rPr lang="en-US"/>
              <a:t>IBAT Business Value </a:t>
            </a:r>
          </a:p>
        </p:txBody>
      </p:sp>
      <p:sp>
        <p:nvSpPr>
          <p:cNvPr id="1334275" name="Rectangle 3"/>
          <p:cNvSpPr>
            <a:spLocks noGrp="1" noChangeArrowheads="1"/>
          </p:cNvSpPr>
          <p:nvPr>
            <p:ph type="subTitle" idx="1"/>
          </p:nvPr>
        </p:nvSpPr>
        <p:spPr>
          <a:xfrm>
            <a:off x="1828800" y="4419600"/>
            <a:ext cx="5629275" cy="914400"/>
          </a:xfrm>
        </p:spPr>
        <p:txBody>
          <a:bodyPr/>
          <a:lstStyle/>
          <a:p>
            <a:r>
              <a:rPr lang="en-US"/>
              <a:t>Jim Barrett</a:t>
            </a:r>
          </a:p>
          <a:p>
            <a:r>
              <a:rPr lang="en-US"/>
              <a:t>Northrop Grumman – IBAT Support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35298" name="Rectangle 2"/>
          <p:cNvSpPr>
            <a:spLocks noGrp="1" noChangeArrowheads="1"/>
          </p:cNvSpPr>
          <p:nvPr>
            <p:ph type="title"/>
          </p:nvPr>
        </p:nvSpPr>
        <p:spPr/>
        <p:txBody>
          <a:bodyPr/>
          <a:lstStyle/>
          <a:p>
            <a:r>
              <a:rPr lang="en-US" sz="2000"/>
              <a:t>Business Value of Interior Enterprise Architecture</a:t>
            </a:r>
          </a:p>
        </p:txBody>
      </p:sp>
      <p:sp>
        <p:nvSpPr>
          <p:cNvPr id="1335299" name="Rectangle 3"/>
          <p:cNvSpPr>
            <a:spLocks noGrp="1" noChangeArrowheads="1"/>
          </p:cNvSpPr>
          <p:nvPr>
            <p:ph type="body" sz="half" idx="1"/>
          </p:nvPr>
        </p:nvSpPr>
        <p:spPr>
          <a:xfrm>
            <a:off x="457200" y="1600200"/>
            <a:ext cx="7848600" cy="4525963"/>
          </a:xfrm>
        </p:spPr>
        <p:txBody>
          <a:bodyPr/>
          <a:lstStyle/>
          <a:p>
            <a:endParaRPr lang="en-US" sz="2000"/>
          </a:p>
          <a:p>
            <a:endParaRPr lang="en-US" sz="2000"/>
          </a:p>
          <a:p>
            <a:r>
              <a:rPr lang="en-US" sz="2000"/>
              <a:t>How do the DOI Programs stand to benefit from this effort?</a:t>
            </a:r>
          </a:p>
          <a:p>
            <a:endParaRPr lang="en-US" sz="2000"/>
          </a:p>
          <a:p>
            <a:r>
              <a:rPr lang="en-US" sz="2000"/>
              <a:t>What does the IBA provide?</a:t>
            </a:r>
          </a:p>
        </p:txBody>
      </p:sp>
      <p:pic>
        <p:nvPicPr>
          <p:cNvPr id="1335300" name="Picture 4" descr="j0198794[1]"/>
          <p:cNvPicPr>
            <a:picLocks noChangeAspect="1" noChangeArrowheads="1"/>
          </p:cNvPicPr>
          <p:nvPr>
            <p:ph sz="half" idx="2"/>
          </p:nvPr>
        </p:nvPicPr>
        <p:blipFill>
          <a:blip r:embed="rId3" cstate="print"/>
          <a:srcRect/>
          <a:stretch>
            <a:fillRect/>
          </a:stretch>
        </p:blipFill>
        <p:spPr>
          <a:xfrm>
            <a:off x="6819900" y="3613150"/>
            <a:ext cx="1751013" cy="2295525"/>
          </a:xfrm>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36322" name="Rectangle 2"/>
          <p:cNvSpPr>
            <a:spLocks noGrp="1" noChangeArrowheads="1"/>
          </p:cNvSpPr>
          <p:nvPr>
            <p:ph type="title"/>
          </p:nvPr>
        </p:nvSpPr>
        <p:spPr/>
        <p:txBody>
          <a:bodyPr/>
          <a:lstStyle/>
          <a:p>
            <a:r>
              <a:rPr lang="en-US" sz="2000"/>
              <a:t>Interior Enterprise Architecture Provides</a:t>
            </a:r>
          </a:p>
        </p:txBody>
      </p:sp>
      <p:sp>
        <p:nvSpPr>
          <p:cNvPr id="1336323" name="Rectangle 3"/>
          <p:cNvSpPr>
            <a:spLocks noGrp="1" noChangeArrowheads="1"/>
          </p:cNvSpPr>
          <p:nvPr>
            <p:ph type="body" idx="1"/>
          </p:nvPr>
        </p:nvSpPr>
        <p:spPr/>
        <p:txBody>
          <a:bodyPr/>
          <a:lstStyle/>
          <a:p>
            <a:pPr marL="342900" indent="-342900">
              <a:lnSpc>
                <a:spcPct val="90000"/>
              </a:lnSpc>
            </a:pPr>
            <a:endParaRPr lang="en-US" sz="1600"/>
          </a:p>
          <a:p>
            <a:pPr marL="342900" indent="-342900">
              <a:lnSpc>
                <a:spcPct val="90000"/>
              </a:lnSpc>
            </a:pPr>
            <a:endParaRPr lang="en-US" sz="1600"/>
          </a:p>
          <a:p>
            <a:pPr marL="342900" indent="-342900">
              <a:lnSpc>
                <a:spcPct val="90000"/>
              </a:lnSpc>
            </a:pPr>
            <a:r>
              <a:rPr lang="en-US" sz="2000"/>
              <a:t>Enabling Capabilities</a:t>
            </a:r>
          </a:p>
          <a:p>
            <a:pPr marL="742950" lvl="1" indent="-285750">
              <a:lnSpc>
                <a:spcPct val="90000"/>
              </a:lnSpc>
            </a:pPr>
            <a:r>
              <a:rPr lang="en-US" sz="2000"/>
              <a:t>Analytical Tools and Information</a:t>
            </a:r>
          </a:p>
          <a:p>
            <a:pPr marL="742950" lvl="1" indent="-285750">
              <a:lnSpc>
                <a:spcPct val="90000"/>
              </a:lnSpc>
            </a:pPr>
            <a:r>
              <a:rPr lang="en-US" sz="2000"/>
              <a:t>Architecture Skills and Services</a:t>
            </a:r>
          </a:p>
          <a:p>
            <a:pPr marL="342900" indent="-342900">
              <a:lnSpc>
                <a:spcPct val="90000"/>
              </a:lnSpc>
            </a:pPr>
            <a:endParaRPr lang="en-US" sz="2000"/>
          </a:p>
          <a:p>
            <a:pPr marL="342900" indent="-342900">
              <a:lnSpc>
                <a:spcPct val="90000"/>
              </a:lnSpc>
            </a:pPr>
            <a:r>
              <a:rPr lang="en-US" sz="2000"/>
              <a:t>Recommendations:</a:t>
            </a:r>
          </a:p>
          <a:p>
            <a:pPr marL="742950" lvl="1" indent="-285750">
              <a:lnSpc>
                <a:spcPct val="90000"/>
              </a:lnSpc>
            </a:pPr>
            <a:r>
              <a:rPr lang="en-US" sz="2000"/>
              <a:t>How to manage and align IT investments with</a:t>
            </a:r>
          </a:p>
          <a:p>
            <a:pPr marL="1143000" lvl="2" indent="-228600">
              <a:lnSpc>
                <a:spcPct val="90000"/>
              </a:lnSpc>
            </a:pPr>
            <a:r>
              <a:rPr lang="en-US" sz="2000"/>
              <a:t>Future business models (inter agency, e-gov) </a:t>
            </a:r>
          </a:p>
          <a:p>
            <a:pPr marL="1143000" lvl="2" indent="-228600">
              <a:lnSpc>
                <a:spcPct val="90000"/>
              </a:lnSpc>
            </a:pPr>
            <a:r>
              <a:rPr lang="en-US" sz="2000"/>
              <a:t>Changing government landscape and directives (BRM)</a:t>
            </a:r>
          </a:p>
          <a:p>
            <a:pPr marL="342900" indent="-342900">
              <a:lnSpc>
                <a:spcPct val="90000"/>
              </a:lnSpc>
            </a:pPr>
            <a:endParaRPr lang="en-US" sz="2000"/>
          </a:p>
          <a:p>
            <a:pPr marL="342900" indent="-342900">
              <a:lnSpc>
                <a:spcPct val="90000"/>
              </a:lnSpc>
            </a:pPr>
            <a:r>
              <a:rPr lang="en-US" sz="2000"/>
              <a:t>Opportunities</a:t>
            </a:r>
          </a:p>
          <a:p>
            <a:pPr marL="742950" lvl="1" indent="-285750">
              <a:lnSpc>
                <a:spcPct val="90000"/>
              </a:lnSpc>
            </a:pPr>
            <a:r>
              <a:rPr lang="en-US" sz="2000"/>
              <a:t>Alignment with OMB can yield supporting program or infrastructure investment dollars</a:t>
            </a:r>
          </a:p>
          <a:p>
            <a:pPr marL="742950" lvl="1" indent="-285750">
              <a:lnSpc>
                <a:spcPct val="90000"/>
              </a:lnSpc>
              <a:buFont typeface="Wingdings 3" pitchFamily="18" charset="2"/>
              <a:buNone/>
            </a:pPr>
            <a:endParaRPr lang="en-US" sz="2000"/>
          </a:p>
        </p:txBody>
      </p:sp>
      <p:pic>
        <p:nvPicPr>
          <p:cNvPr id="1336326" name="Picture 6" descr="j0149882[1]"/>
          <p:cNvPicPr>
            <a:picLocks noChangeAspect="1" noChangeArrowheads="1"/>
          </p:cNvPicPr>
          <p:nvPr/>
        </p:nvPicPr>
        <p:blipFill>
          <a:blip r:embed="rId3" cstate="print"/>
          <a:srcRect/>
          <a:stretch>
            <a:fillRect/>
          </a:stretch>
        </p:blipFill>
        <p:spPr bwMode="auto">
          <a:xfrm>
            <a:off x="5416550" y="1568450"/>
            <a:ext cx="3236913" cy="21717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2"/>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37346" name="Rectangle 2"/>
          <p:cNvSpPr>
            <a:spLocks noGrp="1" noChangeArrowheads="1"/>
          </p:cNvSpPr>
          <p:nvPr>
            <p:ph type="title"/>
          </p:nvPr>
        </p:nvSpPr>
        <p:spPr/>
        <p:txBody>
          <a:bodyPr/>
          <a:lstStyle/>
          <a:p>
            <a:r>
              <a:rPr lang="en-US" sz="2000"/>
              <a:t>The Challenge Of Knowing Where The IT  Dollar Goes?</a:t>
            </a:r>
          </a:p>
        </p:txBody>
      </p:sp>
      <p:sp>
        <p:nvSpPr>
          <p:cNvPr id="1337400" name="Text Box 56"/>
          <p:cNvSpPr txBox="1">
            <a:spLocks noChangeArrowheads="1"/>
          </p:cNvSpPr>
          <p:nvPr/>
        </p:nvSpPr>
        <p:spPr bwMode="auto">
          <a:xfrm>
            <a:off x="390525" y="1914525"/>
            <a:ext cx="3706813" cy="1006475"/>
          </a:xfrm>
          <a:prstGeom prst="rect">
            <a:avLst/>
          </a:prstGeom>
          <a:noFill/>
          <a:ln w="6350">
            <a:noFill/>
            <a:miter lim="800000"/>
            <a:headEnd/>
            <a:tailEnd/>
          </a:ln>
          <a:effectLst/>
        </p:spPr>
        <p:txBody>
          <a:bodyPr wrap="none">
            <a:spAutoFit/>
          </a:bodyPr>
          <a:lstStyle/>
          <a:p>
            <a:r>
              <a:rPr lang="en-US" sz="2000">
                <a:solidFill>
                  <a:schemeClr val="accent1"/>
                </a:solidFill>
              </a:rPr>
              <a:t>How is our IT $ being spent?</a:t>
            </a:r>
          </a:p>
          <a:p>
            <a:r>
              <a:rPr lang="en-US" sz="2000">
                <a:solidFill>
                  <a:schemeClr val="accent1"/>
                </a:solidFill>
              </a:rPr>
              <a:t>What does it mean to my LOB?</a:t>
            </a:r>
          </a:p>
          <a:p>
            <a:r>
              <a:rPr lang="en-US" sz="2000">
                <a:solidFill>
                  <a:schemeClr val="accent1"/>
                </a:solidFill>
              </a:rPr>
              <a:t>Just what is going on?</a:t>
            </a:r>
          </a:p>
        </p:txBody>
      </p:sp>
      <p:sp>
        <p:nvSpPr>
          <p:cNvPr id="1337401" name="Text Box 57"/>
          <p:cNvSpPr txBox="1">
            <a:spLocks noChangeArrowheads="1"/>
          </p:cNvSpPr>
          <p:nvPr/>
        </p:nvSpPr>
        <p:spPr bwMode="auto">
          <a:xfrm>
            <a:off x="4656138" y="1781175"/>
            <a:ext cx="4287837" cy="1311275"/>
          </a:xfrm>
          <a:prstGeom prst="rect">
            <a:avLst/>
          </a:prstGeom>
          <a:noFill/>
          <a:ln w="6350">
            <a:noFill/>
            <a:miter lim="800000"/>
            <a:headEnd/>
            <a:tailEnd/>
          </a:ln>
          <a:effectLst/>
        </p:spPr>
        <p:txBody>
          <a:bodyPr wrap="none">
            <a:spAutoFit/>
          </a:bodyPr>
          <a:lstStyle/>
          <a:p>
            <a:r>
              <a:rPr lang="en-US" sz="2000">
                <a:solidFill>
                  <a:schemeClr val="accent1"/>
                </a:solidFill>
              </a:rPr>
              <a:t>Creates business oriented views</a:t>
            </a:r>
          </a:p>
          <a:p>
            <a:r>
              <a:rPr lang="en-US" sz="2000">
                <a:solidFill>
                  <a:schemeClr val="accent1"/>
                </a:solidFill>
              </a:rPr>
              <a:t> into how all of this works together</a:t>
            </a:r>
          </a:p>
          <a:p>
            <a:r>
              <a:rPr lang="en-US" sz="2000">
                <a:solidFill>
                  <a:schemeClr val="accent1"/>
                </a:solidFill>
              </a:rPr>
              <a:t>Get the Business Priority driving the </a:t>
            </a:r>
          </a:p>
          <a:p>
            <a:r>
              <a:rPr lang="en-US" sz="2000">
                <a:solidFill>
                  <a:schemeClr val="accent1"/>
                </a:solidFill>
              </a:rPr>
              <a:t>IT investments</a:t>
            </a:r>
          </a:p>
        </p:txBody>
      </p:sp>
      <p:grpSp>
        <p:nvGrpSpPr>
          <p:cNvPr id="1337460" name="Group 116"/>
          <p:cNvGrpSpPr>
            <a:grpSpLocks/>
          </p:cNvGrpSpPr>
          <p:nvPr/>
        </p:nvGrpSpPr>
        <p:grpSpPr bwMode="auto">
          <a:xfrm>
            <a:off x="225425" y="3371850"/>
            <a:ext cx="8677275" cy="2362200"/>
            <a:chOff x="102" y="2124"/>
            <a:chExt cx="5466" cy="1488"/>
          </a:xfrm>
        </p:grpSpPr>
        <p:sp>
          <p:nvSpPr>
            <p:cNvPr id="1337461" name="Oval 117"/>
            <p:cNvSpPr>
              <a:spLocks noChangeArrowheads="1"/>
            </p:cNvSpPr>
            <p:nvPr/>
          </p:nvSpPr>
          <p:spPr bwMode="auto">
            <a:xfrm>
              <a:off x="102" y="2230"/>
              <a:ext cx="614" cy="334"/>
            </a:xfrm>
            <a:prstGeom prst="ellipse">
              <a:avLst/>
            </a:prstGeom>
            <a:solidFill>
              <a:schemeClr val="bg1"/>
            </a:solidFill>
            <a:ln w="6350">
              <a:solidFill>
                <a:srgbClr val="00CC00"/>
              </a:solidFill>
              <a:miter lim="800000"/>
              <a:headEnd/>
              <a:tailEnd/>
            </a:ln>
            <a:effectLst/>
          </p:spPr>
          <p:txBody>
            <a:bodyPr wrap="none" anchor="ctr"/>
            <a:lstStyle/>
            <a:p>
              <a:r>
                <a:rPr lang="en-US" sz="1400"/>
                <a:t>Business</a:t>
              </a:r>
            </a:p>
            <a:p>
              <a:r>
                <a:rPr lang="en-US" sz="1400"/>
                <a:t>Priorities</a:t>
              </a:r>
            </a:p>
          </p:txBody>
        </p:sp>
        <p:sp>
          <p:nvSpPr>
            <p:cNvPr id="1337462" name="Oval 118"/>
            <p:cNvSpPr>
              <a:spLocks noChangeArrowheads="1"/>
            </p:cNvSpPr>
            <p:nvPr/>
          </p:nvSpPr>
          <p:spPr bwMode="auto">
            <a:xfrm>
              <a:off x="121" y="2742"/>
              <a:ext cx="488" cy="292"/>
            </a:xfrm>
            <a:prstGeom prst="ellipse">
              <a:avLst/>
            </a:prstGeom>
            <a:solidFill>
              <a:schemeClr val="bg1"/>
            </a:solidFill>
            <a:ln w="6350">
              <a:solidFill>
                <a:srgbClr val="00CC00"/>
              </a:solidFill>
              <a:miter lim="800000"/>
              <a:headEnd/>
              <a:tailEnd/>
            </a:ln>
            <a:effectLst/>
          </p:spPr>
          <p:txBody>
            <a:bodyPr wrap="none" anchor="ctr"/>
            <a:lstStyle/>
            <a:p>
              <a:r>
                <a:rPr lang="en-US" sz="1400"/>
                <a:t>Security</a:t>
              </a:r>
            </a:p>
          </p:txBody>
        </p:sp>
        <p:sp>
          <p:nvSpPr>
            <p:cNvPr id="1337463" name="Oval 119"/>
            <p:cNvSpPr>
              <a:spLocks noChangeArrowheads="1"/>
            </p:cNvSpPr>
            <p:nvPr/>
          </p:nvSpPr>
          <p:spPr bwMode="auto">
            <a:xfrm>
              <a:off x="877" y="2124"/>
              <a:ext cx="579" cy="389"/>
            </a:xfrm>
            <a:prstGeom prst="ellipse">
              <a:avLst/>
            </a:prstGeom>
            <a:solidFill>
              <a:schemeClr val="bg1"/>
            </a:solidFill>
            <a:ln w="6350">
              <a:solidFill>
                <a:srgbClr val="00CC00"/>
              </a:solidFill>
              <a:miter lim="800000"/>
              <a:headEnd/>
              <a:tailEnd/>
            </a:ln>
            <a:effectLst/>
          </p:spPr>
          <p:txBody>
            <a:bodyPr wrap="none" anchor="ctr"/>
            <a:lstStyle/>
            <a:p>
              <a:r>
                <a:rPr lang="en-US" sz="1400"/>
                <a:t>IT Capital</a:t>
              </a:r>
            </a:p>
            <a:p>
              <a:r>
                <a:rPr lang="en-US" sz="1400"/>
                <a:t>Planning</a:t>
              </a:r>
            </a:p>
          </p:txBody>
        </p:sp>
        <p:sp>
          <p:nvSpPr>
            <p:cNvPr id="1337464" name="Oval 120"/>
            <p:cNvSpPr>
              <a:spLocks noChangeArrowheads="1"/>
            </p:cNvSpPr>
            <p:nvPr/>
          </p:nvSpPr>
          <p:spPr bwMode="auto">
            <a:xfrm>
              <a:off x="541" y="3162"/>
              <a:ext cx="488" cy="292"/>
            </a:xfrm>
            <a:prstGeom prst="ellipse">
              <a:avLst/>
            </a:prstGeom>
            <a:solidFill>
              <a:schemeClr val="bg1"/>
            </a:solidFill>
            <a:ln w="6350">
              <a:solidFill>
                <a:srgbClr val="00CC00"/>
              </a:solidFill>
              <a:miter lim="800000"/>
              <a:headEnd/>
              <a:tailEnd/>
            </a:ln>
            <a:effectLst/>
          </p:spPr>
          <p:txBody>
            <a:bodyPr wrap="none" anchor="ctr"/>
            <a:lstStyle/>
            <a:p>
              <a:r>
                <a:rPr lang="en-US" sz="1400"/>
                <a:t>IT Assets</a:t>
              </a:r>
            </a:p>
          </p:txBody>
        </p:sp>
        <p:sp>
          <p:nvSpPr>
            <p:cNvPr id="1337465" name="Oval 121"/>
            <p:cNvSpPr>
              <a:spLocks noChangeArrowheads="1"/>
            </p:cNvSpPr>
            <p:nvPr/>
          </p:nvSpPr>
          <p:spPr bwMode="auto">
            <a:xfrm>
              <a:off x="1212" y="3129"/>
              <a:ext cx="610" cy="357"/>
            </a:xfrm>
            <a:prstGeom prst="ellipse">
              <a:avLst/>
            </a:prstGeom>
            <a:solidFill>
              <a:schemeClr val="bg1"/>
            </a:solidFill>
            <a:ln w="6350">
              <a:solidFill>
                <a:srgbClr val="00CC00"/>
              </a:solidFill>
              <a:miter lim="800000"/>
              <a:headEnd/>
              <a:tailEnd/>
            </a:ln>
            <a:effectLst/>
          </p:spPr>
          <p:txBody>
            <a:bodyPr wrap="none" anchor="ctr"/>
            <a:lstStyle/>
            <a:p>
              <a:r>
                <a:rPr lang="en-US" sz="1400"/>
                <a:t>Architecture</a:t>
              </a:r>
            </a:p>
          </p:txBody>
        </p:sp>
        <p:sp>
          <p:nvSpPr>
            <p:cNvPr id="1337466" name="Oval 122"/>
            <p:cNvSpPr>
              <a:spLocks noChangeArrowheads="1"/>
            </p:cNvSpPr>
            <p:nvPr/>
          </p:nvSpPr>
          <p:spPr bwMode="auto">
            <a:xfrm>
              <a:off x="1731" y="2773"/>
              <a:ext cx="488" cy="291"/>
            </a:xfrm>
            <a:prstGeom prst="ellipse">
              <a:avLst/>
            </a:prstGeom>
            <a:solidFill>
              <a:schemeClr val="bg1"/>
            </a:solidFill>
            <a:ln w="6350">
              <a:solidFill>
                <a:srgbClr val="00CC00"/>
              </a:solidFill>
              <a:miter lim="800000"/>
              <a:headEnd/>
              <a:tailEnd/>
            </a:ln>
            <a:effectLst/>
          </p:spPr>
          <p:txBody>
            <a:bodyPr wrap="none" anchor="ctr"/>
            <a:lstStyle/>
            <a:p>
              <a:r>
                <a:rPr lang="en-US" sz="1400"/>
                <a:t>CPIC</a:t>
              </a:r>
            </a:p>
          </p:txBody>
        </p:sp>
        <p:sp>
          <p:nvSpPr>
            <p:cNvPr id="1337467" name="Oval 123"/>
            <p:cNvSpPr>
              <a:spLocks noChangeArrowheads="1"/>
            </p:cNvSpPr>
            <p:nvPr/>
          </p:nvSpPr>
          <p:spPr bwMode="auto">
            <a:xfrm>
              <a:off x="1578" y="2221"/>
              <a:ext cx="702" cy="357"/>
            </a:xfrm>
            <a:prstGeom prst="ellipse">
              <a:avLst/>
            </a:prstGeom>
            <a:solidFill>
              <a:schemeClr val="bg1"/>
            </a:solidFill>
            <a:ln w="6350">
              <a:solidFill>
                <a:srgbClr val="00CC00"/>
              </a:solidFill>
              <a:miter lim="800000"/>
              <a:headEnd/>
              <a:tailEnd/>
            </a:ln>
            <a:effectLst/>
          </p:spPr>
          <p:txBody>
            <a:bodyPr wrap="none" anchor="ctr"/>
            <a:lstStyle/>
            <a:p>
              <a:r>
                <a:rPr lang="en-US" sz="1400"/>
                <a:t>Projects</a:t>
              </a:r>
            </a:p>
          </p:txBody>
        </p:sp>
        <p:grpSp>
          <p:nvGrpSpPr>
            <p:cNvPr id="1337468" name="Group 124"/>
            <p:cNvGrpSpPr>
              <a:grpSpLocks/>
            </p:cNvGrpSpPr>
            <p:nvPr/>
          </p:nvGrpSpPr>
          <p:grpSpPr bwMode="auto">
            <a:xfrm>
              <a:off x="389" y="2446"/>
              <a:ext cx="1555" cy="878"/>
              <a:chOff x="1632" y="1676"/>
              <a:chExt cx="2448" cy="1300"/>
            </a:xfrm>
          </p:grpSpPr>
          <p:sp>
            <p:nvSpPr>
              <p:cNvPr id="1337469" name="Line 125"/>
              <p:cNvSpPr>
                <a:spLocks noChangeShapeType="1"/>
              </p:cNvSpPr>
              <p:nvPr/>
            </p:nvSpPr>
            <p:spPr bwMode="auto">
              <a:xfrm flipV="1">
                <a:off x="2640" y="2976"/>
                <a:ext cx="288" cy="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grpSp>
            <p:nvGrpSpPr>
              <p:cNvPr id="1337470" name="Group 126"/>
              <p:cNvGrpSpPr>
                <a:grpSpLocks/>
              </p:cNvGrpSpPr>
              <p:nvPr/>
            </p:nvGrpSpPr>
            <p:grpSpPr bwMode="auto">
              <a:xfrm>
                <a:off x="1632" y="1676"/>
                <a:ext cx="2448" cy="1156"/>
                <a:chOff x="1632" y="1676"/>
                <a:chExt cx="2448" cy="1156"/>
              </a:xfrm>
            </p:grpSpPr>
            <p:sp>
              <p:nvSpPr>
                <p:cNvPr id="1337471" name="Line 127"/>
                <p:cNvSpPr>
                  <a:spLocks noChangeShapeType="1"/>
                </p:cNvSpPr>
                <p:nvPr/>
              </p:nvSpPr>
              <p:spPr bwMode="auto">
                <a:xfrm flipV="1">
                  <a:off x="1632" y="1872"/>
                  <a:ext cx="0" cy="24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72" name="Line 128"/>
                <p:cNvSpPr>
                  <a:spLocks noChangeShapeType="1"/>
                </p:cNvSpPr>
                <p:nvPr/>
              </p:nvSpPr>
              <p:spPr bwMode="auto">
                <a:xfrm flipV="1">
                  <a:off x="3840" y="2592"/>
                  <a:ext cx="240" cy="24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73" name="Line 129"/>
                <p:cNvSpPr>
                  <a:spLocks noChangeShapeType="1"/>
                </p:cNvSpPr>
                <p:nvPr/>
              </p:nvSpPr>
              <p:spPr bwMode="auto">
                <a:xfrm flipV="1">
                  <a:off x="4080" y="1872"/>
                  <a:ext cx="0" cy="288"/>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74" name="Line 130"/>
                <p:cNvSpPr>
                  <a:spLocks noChangeShapeType="1"/>
                </p:cNvSpPr>
                <p:nvPr/>
              </p:nvSpPr>
              <p:spPr bwMode="auto">
                <a:xfrm>
                  <a:off x="1776" y="2496"/>
                  <a:ext cx="240" cy="288"/>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75" name="Line 131"/>
                <p:cNvSpPr>
                  <a:spLocks noChangeShapeType="1"/>
                </p:cNvSpPr>
                <p:nvPr/>
              </p:nvSpPr>
              <p:spPr bwMode="auto">
                <a:xfrm flipH="1" flipV="1">
                  <a:off x="1992" y="1768"/>
                  <a:ext cx="1752" cy="584"/>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cxnSp>
              <p:nvCxnSpPr>
                <p:cNvPr id="1337476" name="AutoShape 132"/>
                <p:cNvCxnSpPr>
                  <a:cxnSpLocks noChangeShapeType="1"/>
                  <a:stCxn id="1337491" idx="0"/>
                  <a:endCxn id="1337491" idx="0"/>
                </p:cNvCxnSpPr>
                <p:nvPr/>
              </p:nvCxnSpPr>
              <p:spPr bwMode="auto">
                <a:xfrm>
                  <a:off x="1632" y="2112"/>
                  <a:ext cx="0" cy="0"/>
                </a:xfrm>
                <a:prstGeom prst="straightConnector1">
                  <a:avLst/>
                </a:prstGeom>
                <a:noFill/>
                <a:ln w="6350">
                  <a:solidFill>
                    <a:schemeClr val="accent1"/>
                  </a:solidFill>
                  <a:miter lim="800000"/>
                  <a:headEnd type="triangle" w="med" len="med"/>
                  <a:tailEnd type="triangle" w="med" len="med"/>
                </a:ln>
                <a:effectLst/>
              </p:spPr>
            </p:cxnSp>
            <p:sp>
              <p:nvSpPr>
                <p:cNvPr id="1337477" name="Line 133"/>
                <p:cNvSpPr>
                  <a:spLocks noChangeShapeType="1"/>
                </p:cNvSpPr>
                <p:nvPr/>
              </p:nvSpPr>
              <p:spPr bwMode="auto">
                <a:xfrm flipV="1">
                  <a:off x="1968" y="2352"/>
                  <a:ext cx="1776" cy="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78" name="Line 134"/>
                <p:cNvSpPr>
                  <a:spLocks noChangeShapeType="1"/>
                </p:cNvSpPr>
                <p:nvPr/>
              </p:nvSpPr>
              <p:spPr bwMode="auto">
                <a:xfrm>
                  <a:off x="1992" y="1784"/>
                  <a:ext cx="1320" cy="904"/>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79" name="Line 135"/>
                <p:cNvSpPr>
                  <a:spLocks noChangeShapeType="1"/>
                </p:cNvSpPr>
                <p:nvPr/>
              </p:nvSpPr>
              <p:spPr bwMode="auto">
                <a:xfrm>
                  <a:off x="1968" y="2352"/>
                  <a:ext cx="1344" cy="336"/>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0" name="Line 136"/>
                <p:cNvSpPr>
                  <a:spLocks noChangeShapeType="1"/>
                </p:cNvSpPr>
                <p:nvPr/>
              </p:nvSpPr>
              <p:spPr bwMode="auto">
                <a:xfrm flipV="1">
                  <a:off x="2468" y="2352"/>
                  <a:ext cx="1276" cy="42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1" name="Line 137"/>
                <p:cNvSpPr>
                  <a:spLocks noChangeShapeType="1"/>
                </p:cNvSpPr>
                <p:nvPr/>
              </p:nvSpPr>
              <p:spPr bwMode="auto">
                <a:xfrm>
                  <a:off x="1984" y="1784"/>
                  <a:ext cx="364" cy="964"/>
                </a:xfrm>
                <a:prstGeom prst="line">
                  <a:avLst/>
                </a:prstGeom>
                <a:noFill/>
                <a:ln w="6350">
                  <a:solidFill>
                    <a:schemeClr val="accent1"/>
                  </a:solidFill>
                  <a:miter lim="800000"/>
                  <a:headEnd type="triangle" w="med" len="med"/>
                  <a:tailEnd type="triangle" w="med" len="med"/>
                </a:ln>
                <a:effectLst/>
              </p:spPr>
              <p:txBody>
                <a:bodyPr anchor="ctr"/>
                <a:lstStyle/>
                <a:p>
                  <a:endParaRPr lang="en-US"/>
                </a:p>
              </p:txBody>
            </p:sp>
            <p:sp>
              <p:nvSpPr>
                <p:cNvPr id="1337482" name="Line 138"/>
                <p:cNvSpPr>
                  <a:spLocks noChangeShapeType="1"/>
                </p:cNvSpPr>
                <p:nvPr/>
              </p:nvSpPr>
              <p:spPr bwMode="auto">
                <a:xfrm flipH="1" flipV="1">
                  <a:off x="1992" y="1768"/>
                  <a:ext cx="1752" cy="584"/>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3" name="Line 139"/>
                <p:cNvSpPr>
                  <a:spLocks noChangeShapeType="1"/>
                </p:cNvSpPr>
                <p:nvPr/>
              </p:nvSpPr>
              <p:spPr bwMode="auto">
                <a:xfrm flipV="1">
                  <a:off x="1968" y="2352"/>
                  <a:ext cx="1776" cy="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4" name="Line 140"/>
                <p:cNvSpPr>
                  <a:spLocks noChangeShapeType="1"/>
                </p:cNvSpPr>
                <p:nvPr/>
              </p:nvSpPr>
              <p:spPr bwMode="auto">
                <a:xfrm>
                  <a:off x="1992" y="1784"/>
                  <a:ext cx="1320" cy="904"/>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5" name="Line 141"/>
                <p:cNvSpPr>
                  <a:spLocks noChangeShapeType="1"/>
                </p:cNvSpPr>
                <p:nvPr/>
              </p:nvSpPr>
              <p:spPr bwMode="auto">
                <a:xfrm>
                  <a:off x="1968" y="2352"/>
                  <a:ext cx="1344" cy="336"/>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6" name="Line 142"/>
                <p:cNvSpPr>
                  <a:spLocks noChangeShapeType="1"/>
                </p:cNvSpPr>
                <p:nvPr/>
              </p:nvSpPr>
              <p:spPr bwMode="auto">
                <a:xfrm>
                  <a:off x="1984" y="1784"/>
                  <a:ext cx="364" cy="964"/>
                </a:xfrm>
                <a:prstGeom prst="line">
                  <a:avLst/>
                </a:prstGeom>
                <a:noFill/>
                <a:ln w="6350">
                  <a:solidFill>
                    <a:schemeClr val="accent1"/>
                  </a:solidFill>
                  <a:miter lim="800000"/>
                  <a:headEnd type="triangle" w="med" len="med"/>
                  <a:tailEnd type="triangle" w="med" len="med"/>
                </a:ln>
                <a:effectLst/>
              </p:spPr>
              <p:txBody>
                <a:bodyPr anchor="ctr"/>
                <a:lstStyle/>
                <a:p>
                  <a:endParaRPr lang="en-US"/>
                </a:p>
              </p:txBody>
            </p:sp>
            <p:sp>
              <p:nvSpPr>
                <p:cNvPr id="1337487" name="Line 143"/>
                <p:cNvSpPr>
                  <a:spLocks noChangeShapeType="1"/>
                </p:cNvSpPr>
                <p:nvPr/>
              </p:nvSpPr>
              <p:spPr bwMode="auto">
                <a:xfrm>
                  <a:off x="3200" y="1676"/>
                  <a:ext cx="640" cy="58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8" name="Line 144"/>
                <p:cNvSpPr>
                  <a:spLocks noChangeShapeType="1"/>
                </p:cNvSpPr>
                <p:nvPr/>
              </p:nvSpPr>
              <p:spPr bwMode="auto">
                <a:xfrm flipH="1" flipV="1">
                  <a:off x="1992" y="1768"/>
                  <a:ext cx="1752" cy="584"/>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89" name="Line 145"/>
                <p:cNvSpPr>
                  <a:spLocks noChangeShapeType="1"/>
                </p:cNvSpPr>
                <p:nvPr/>
              </p:nvSpPr>
              <p:spPr bwMode="auto">
                <a:xfrm flipH="1" flipV="1">
                  <a:off x="2976" y="1766"/>
                  <a:ext cx="328" cy="928"/>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0" name="Line 146"/>
                <p:cNvSpPr>
                  <a:spLocks noChangeShapeType="1"/>
                </p:cNvSpPr>
                <p:nvPr/>
              </p:nvSpPr>
              <p:spPr bwMode="auto">
                <a:xfrm flipV="1">
                  <a:off x="2352" y="1776"/>
                  <a:ext cx="480" cy="966"/>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1" name="Line 147"/>
                <p:cNvSpPr>
                  <a:spLocks noChangeShapeType="1"/>
                </p:cNvSpPr>
                <p:nvPr/>
              </p:nvSpPr>
              <p:spPr bwMode="auto">
                <a:xfrm flipV="1">
                  <a:off x="1632" y="1684"/>
                  <a:ext cx="880" cy="428"/>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2" name="Line 148"/>
                <p:cNvSpPr>
                  <a:spLocks noChangeShapeType="1"/>
                </p:cNvSpPr>
                <p:nvPr/>
              </p:nvSpPr>
              <p:spPr bwMode="auto">
                <a:xfrm>
                  <a:off x="3200" y="1676"/>
                  <a:ext cx="640" cy="58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3" name="Line 149"/>
                <p:cNvSpPr>
                  <a:spLocks noChangeShapeType="1"/>
                </p:cNvSpPr>
                <p:nvPr/>
              </p:nvSpPr>
              <p:spPr bwMode="auto">
                <a:xfrm flipV="1">
                  <a:off x="3408" y="1828"/>
                  <a:ext cx="364" cy="86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4" name="Line 150"/>
                <p:cNvSpPr>
                  <a:spLocks noChangeShapeType="1"/>
                </p:cNvSpPr>
                <p:nvPr/>
              </p:nvSpPr>
              <p:spPr bwMode="auto">
                <a:xfrm flipV="1">
                  <a:off x="2468" y="2352"/>
                  <a:ext cx="1276" cy="42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5" name="Line 151"/>
                <p:cNvSpPr>
                  <a:spLocks noChangeShapeType="1"/>
                </p:cNvSpPr>
                <p:nvPr/>
              </p:nvSpPr>
              <p:spPr bwMode="auto">
                <a:xfrm flipV="1">
                  <a:off x="1968" y="2352"/>
                  <a:ext cx="1776" cy="0"/>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6" name="Line 152"/>
                <p:cNvSpPr>
                  <a:spLocks noChangeShapeType="1"/>
                </p:cNvSpPr>
                <p:nvPr/>
              </p:nvSpPr>
              <p:spPr bwMode="auto">
                <a:xfrm>
                  <a:off x="1992" y="1784"/>
                  <a:ext cx="1320" cy="904"/>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7" name="Line 153"/>
                <p:cNvSpPr>
                  <a:spLocks noChangeShapeType="1"/>
                </p:cNvSpPr>
                <p:nvPr/>
              </p:nvSpPr>
              <p:spPr bwMode="auto">
                <a:xfrm>
                  <a:off x="1968" y="2352"/>
                  <a:ext cx="1344" cy="336"/>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sp>
              <p:nvSpPr>
                <p:cNvPr id="1337498" name="Line 154"/>
                <p:cNvSpPr>
                  <a:spLocks noChangeShapeType="1"/>
                </p:cNvSpPr>
                <p:nvPr/>
              </p:nvSpPr>
              <p:spPr bwMode="auto">
                <a:xfrm>
                  <a:off x="1984" y="1784"/>
                  <a:ext cx="364" cy="964"/>
                </a:xfrm>
                <a:prstGeom prst="line">
                  <a:avLst/>
                </a:prstGeom>
                <a:noFill/>
                <a:ln w="6350">
                  <a:solidFill>
                    <a:schemeClr val="accent1"/>
                  </a:solidFill>
                  <a:miter lim="800000"/>
                  <a:headEnd type="triangle" w="med" len="med"/>
                  <a:tailEnd type="triangle" w="med" len="med"/>
                </a:ln>
                <a:effectLst/>
              </p:spPr>
              <p:txBody>
                <a:bodyPr anchor="ctr"/>
                <a:lstStyle/>
                <a:p>
                  <a:endParaRPr lang="en-US"/>
                </a:p>
              </p:txBody>
            </p:sp>
            <p:sp>
              <p:nvSpPr>
                <p:cNvPr id="1337499" name="Line 155"/>
                <p:cNvSpPr>
                  <a:spLocks noChangeShapeType="1"/>
                </p:cNvSpPr>
                <p:nvPr/>
              </p:nvSpPr>
              <p:spPr bwMode="auto">
                <a:xfrm flipH="1" flipV="1">
                  <a:off x="1992" y="1768"/>
                  <a:ext cx="1752" cy="584"/>
                </a:xfrm>
                <a:prstGeom prst="line">
                  <a:avLst/>
                </a:prstGeom>
                <a:noFill/>
                <a:ln w="6350">
                  <a:solidFill>
                    <a:schemeClr val="accent1"/>
                  </a:solidFill>
                  <a:miter lim="800000"/>
                  <a:headEnd type="triangle" w="med" len="med"/>
                  <a:tailEnd type="triangle" w="med" len="med"/>
                </a:ln>
                <a:effectLst/>
              </p:spPr>
              <p:txBody>
                <a:bodyPr wrap="none" anchor="ctr"/>
                <a:lstStyle/>
                <a:p>
                  <a:endParaRPr lang="en-US"/>
                </a:p>
              </p:txBody>
            </p:sp>
          </p:grpSp>
        </p:grpSp>
        <p:sp>
          <p:nvSpPr>
            <p:cNvPr id="1337500" name="Oval 156"/>
            <p:cNvSpPr>
              <a:spLocks noChangeArrowheads="1"/>
            </p:cNvSpPr>
            <p:nvPr/>
          </p:nvSpPr>
          <p:spPr bwMode="auto">
            <a:xfrm>
              <a:off x="3369" y="2330"/>
              <a:ext cx="534" cy="294"/>
            </a:xfrm>
            <a:prstGeom prst="ellipse">
              <a:avLst/>
            </a:prstGeom>
            <a:solidFill>
              <a:schemeClr val="bg1"/>
            </a:solidFill>
            <a:ln w="6350">
              <a:solidFill>
                <a:srgbClr val="00CC00"/>
              </a:solidFill>
              <a:miter lim="800000"/>
              <a:headEnd/>
              <a:tailEnd/>
            </a:ln>
            <a:effectLst/>
          </p:spPr>
          <p:txBody>
            <a:bodyPr wrap="none" anchor="ctr"/>
            <a:lstStyle/>
            <a:p>
              <a:r>
                <a:rPr lang="en-US" sz="1400"/>
                <a:t>Security</a:t>
              </a:r>
            </a:p>
          </p:txBody>
        </p:sp>
        <p:sp>
          <p:nvSpPr>
            <p:cNvPr id="1337501" name="Oval 157"/>
            <p:cNvSpPr>
              <a:spLocks noChangeArrowheads="1"/>
            </p:cNvSpPr>
            <p:nvPr/>
          </p:nvSpPr>
          <p:spPr bwMode="auto">
            <a:xfrm>
              <a:off x="4116" y="2142"/>
              <a:ext cx="633" cy="393"/>
            </a:xfrm>
            <a:prstGeom prst="ellipse">
              <a:avLst/>
            </a:prstGeom>
            <a:solidFill>
              <a:schemeClr val="bg1"/>
            </a:solidFill>
            <a:ln w="6350">
              <a:solidFill>
                <a:srgbClr val="00CC00"/>
              </a:solidFill>
              <a:miter lim="800000"/>
              <a:headEnd/>
              <a:tailEnd/>
            </a:ln>
            <a:effectLst/>
          </p:spPr>
          <p:txBody>
            <a:bodyPr wrap="none" anchor="ctr"/>
            <a:lstStyle/>
            <a:p>
              <a:r>
                <a:rPr lang="en-US" sz="1400"/>
                <a:t>IT Capital</a:t>
              </a:r>
            </a:p>
            <a:p>
              <a:r>
                <a:rPr lang="en-US" sz="1400"/>
                <a:t>Planning</a:t>
              </a:r>
            </a:p>
          </p:txBody>
        </p:sp>
        <p:sp>
          <p:nvSpPr>
            <p:cNvPr id="1337502" name="Oval 158"/>
            <p:cNvSpPr>
              <a:spLocks noChangeArrowheads="1"/>
            </p:cNvSpPr>
            <p:nvPr/>
          </p:nvSpPr>
          <p:spPr bwMode="auto">
            <a:xfrm>
              <a:off x="3408" y="2892"/>
              <a:ext cx="533" cy="294"/>
            </a:xfrm>
            <a:prstGeom prst="ellipse">
              <a:avLst/>
            </a:prstGeom>
            <a:solidFill>
              <a:schemeClr val="bg1"/>
            </a:solidFill>
            <a:ln w="6350">
              <a:solidFill>
                <a:srgbClr val="00CC00"/>
              </a:solidFill>
              <a:miter lim="800000"/>
              <a:headEnd/>
              <a:tailEnd/>
            </a:ln>
            <a:effectLst/>
          </p:spPr>
          <p:txBody>
            <a:bodyPr wrap="none" anchor="ctr"/>
            <a:lstStyle/>
            <a:p>
              <a:r>
                <a:rPr lang="en-US" sz="1400"/>
                <a:t>IT Assets</a:t>
              </a:r>
            </a:p>
          </p:txBody>
        </p:sp>
        <p:sp>
          <p:nvSpPr>
            <p:cNvPr id="1337503" name="Oval 159"/>
            <p:cNvSpPr>
              <a:spLocks noChangeArrowheads="1"/>
            </p:cNvSpPr>
            <p:nvPr/>
          </p:nvSpPr>
          <p:spPr bwMode="auto">
            <a:xfrm>
              <a:off x="4114" y="3252"/>
              <a:ext cx="667" cy="360"/>
            </a:xfrm>
            <a:prstGeom prst="ellipse">
              <a:avLst/>
            </a:prstGeom>
            <a:solidFill>
              <a:schemeClr val="bg1"/>
            </a:solidFill>
            <a:ln w="6350">
              <a:solidFill>
                <a:srgbClr val="00CC00"/>
              </a:solidFill>
              <a:miter lim="800000"/>
              <a:headEnd/>
              <a:tailEnd/>
            </a:ln>
            <a:effectLst/>
          </p:spPr>
          <p:txBody>
            <a:bodyPr wrap="none" anchor="ctr"/>
            <a:lstStyle/>
            <a:p>
              <a:r>
                <a:rPr lang="en-US" sz="1400"/>
                <a:t>Architecture</a:t>
              </a:r>
            </a:p>
          </p:txBody>
        </p:sp>
        <p:sp>
          <p:nvSpPr>
            <p:cNvPr id="1337504" name="Oval 160"/>
            <p:cNvSpPr>
              <a:spLocks noChangeArrowheads="1"/>
            </p:cNvSpPr>
            <p:nvPr/>
          </p:nvSpPr>
          <p:spPr bwMode="auto">
            <a:xfrm>
              <a:off x="4992" y="2932"/>
              <a:ext cx="533" cy="295"/>
            </a:xfrm>
            <a:prstGeom prst="ellipse">
              <a:avLst/>
            </a:prstGeom>
            <a:solidFill>
              <a:schemeClr val="bg1"/>
            </a:solidFill>
            <a:ln w="6350">
              <a:solidFill>
                <a:srgbClr val="00CC00"/>
              </a:solidFill>
              <a:miter lim="800000"/>
              <a:headEnd/>
              <a:tailEnd/>
            </a:ln>
            <a:effectLst/>
          </p:spPr>
          <p:txBody>
            <a:bodyPr wrap="none" anchor="ctr"/>
            <a:lstStyle/>
            <a:p>
              <a:r>
                <a:rPr lang="en-US" sz="1400"/>
                <a:t>CPIC</a:t>
              </a:r>
            </a:p>
          </p:txBody>
        </p:sp>
        <p:sp>
          <p:nvSpPr>
            <p:cNvPr id="1337505" name="Oval 161"/>
            <p:cNvSpPr>
              <a:spLocks noChangeArrowheads="1"/>
            </p:cNvSpPr>
            <p:nvPr/>
          </p:nvSpPr>
          <p:spPr bwMode="auto">
            <a:xfrm>
              <a:off x="4897" y="2306"/>
              <a:ext cx="671" cy="306"/>
            </a:xfrm>
            <a:prstGeom prst="ellipse">
              <a:avLst/>
            </a:prstGeom>
            <a:solidFill>
              <a:schemeClr val="bg1"/>
            </a:solidFill>
            <a:ln w="6350">
              <a:solidFill>
                <a:srgbClr val="00CC00"/>
              </a:solidFill>
              <a:miter lim="800000"/>
              <a:headEnd/>
              <a:tailEnd/>
            </a:ln>
            <a:effectLst/>
          </p:spPr>
          <p:txBody>
            <a:bodyPr wrap="none" anchor="ctr"/>
            <a:lstStyle/>
            <a:p>
              <a:r>
                <a:rPr lang="en-US" sz="1400"/>
                <a:t>Projects</a:t>
              </a:r>
            </a:p>
          </p:txBody>
        </p:sp>
        <p:sp>
          <p:nvSpPr>
            <p:cNvPr id="1337506" name="AutoShape 162"/>
            <p:cNvSpPr>
              <a:spLocks noChangeArrowheads="1"/>
            </p:cNvSpPr>
            <p:nvPr/>
          </p:nvSpPr>
          <p:spPr bwMode="auto">
            <a:xfrm>
              <a:off x="4170" y="2659"/>
              <a:ext cx="505" cy="364"/>
            </a:xfrm>
            <a:prstGeom prst="flowChartMagneticDisk">
              <a:avLst/>
            </a:prstGeom>
            <a:solidFill>
              <a:srgbClr val="FFFF00"/>
            </a:solidFill>
            <a:ln w="6350">
              <a:solidFill>
                <a:schemeClr val="tx1"/>
              </a:solidFill>
              <a:miter lim="800000"/>
              <a:headEnd/>
              <a:tailEnd/>
            </a:ln>
            <a:effectLst/>
          </p:spPr>
          <p:txBody>
            <a:bodyPr wrap="none" anchor="ctr"/>
            <a:lstStyle/>
            <a:p>
              <a:endParaRPr lang="en-US" sz="1200" b="1"/>
            </a:p>
          </p:txBody>
        </p:sp>
        <p:sp>
          <p:nvSpPr>
            <p:cNvPr id="1337507" name="Line 163"/>
            <p:cNvSpPr>
              <a:spLocks noChangeShapeType="1"/>
            </p:cNvSpPr>
            <p:nvPr/>
          </p:nvSpPr>
          <p:spPr bwMode="auto">
            <a:xfrm>
              <a:off x="3834" y="2584"/>
              <a:ext cx="341" cy="136"/>
            </a:xfrm>
            <a:prstGeom prst="line">
              <a:avLst/>
            </a:prstGeom>
            <a:noFill/>
            <a:ln w="28575">
              <a:solidFill>
                <a:schemeClr val="accent1"/>
              </a:solidFill>
              <a:miter lim="800000"/>
              <a:headEnd type="triangle" w="med" len="med"/>
              <a:tailEnd type="triangle" w="med" len="med"/>
            </a:ln>
            <a:effectLst/>
          </p:spPr>
          <p:txBody>
            <a:bodyPr wrap="none" anchor="ctr"/>
            <a:lstStyle/>
            <a:p>
              <a:endParaRPr lang="en-US"/>
            </a:p>
          </p:txBody>
        </p:sp>
        <p:sp>
          <p:nvSpPr>
            <p:cNvPr id="1337508" name="Line 164"/>
            <p:cNvSpPr>
              <a:spLocks noChangeShapeType="1"/>
            </p:cNvSpPr>
            <p:nvPr/>
          </p:nvSpPr>
          <p:spPr bwMode="auto">
            <a:xfrm flipH="1">
              <a:off x="4446" y="3021"/>
              <a:ext cx="0" cy="221"/>
            </a:xfrm>
            <a:prstGeom prst="line">
              <a:avLst/>
            </a:prstGeom>
            <a:noFill/>
            <a:ln w="28575">
              <a:solidFill>
                <a:schemeClr val="accent1"/>
              </a:solidFill>
              <a:miter lim="800000"/>
              <a:headEnd type="triangle" w="med" len="med"/>
              <a:tailEnd type="triangle" w="med" len="med"/>
            </a:ln>
            <a:effectLst/>
          </p:spPr>
          <p:txBody>
            <a:bodyPr wrap="none" anchor="ctr"/>
            <a:lstStyle/>
            <a:p>
              <a:endParaRPr lang="en-US"/>
            </a:p>
          </p:txBody>
        </p:sp>
        <p:sp>
          <p:nvSpPr>
            <p:cNvPr id="1337509" name="Line 165"/>
            <p:cNvSpPr>
              <a:spLocks noChangeShapeType="1"/>
            </p:cNvSpPr>
            <p:nvPr/>
          </p:nvSpPr>
          <p:spPr bwMode="auto">
            <a:xfrm flipV="1">
              <a:off x="3939" y="2949"/>
              <a:ext cx="216" cy="98"/>
            </a:xfrm>
            <a:prstGeom prst="line">
              <a:avLst/>
            </a:prstGeom>
            <a:noFill/>
            <a:ln w="28575">
              <a:solidFill>
                <a:schemeClr val="accent1"/>
              </a:solidFill>
              <a:miter lim="800000"/>
              <a:headEnd type="triangle" w="med" len="med"/>
              <a:tailEnd type="triangle" w="med" len="med"/>
            </a:ln>
            <a:effectLst/>
          </p:spPr>
          <p:txBody>
            <a:bodyPr wrap="none" anchor="ctr"/>
            <a:lstStyle/>
            <a:p>
              <a:endParaRPr lang="en-US"/>
            </a:p>
          </p:txBody>
        </p:sp>
        <p:sp>
          <p:nvSpPr>
            <p:cNvPr id="1337510" name="Line 166"/>
            <p:cNvSpPr>
              <a:spLocks noChangeShapeType="1"/>
            </p:cNvSpPr>
            <p:nvPr/>
          </p:nvSpPr>
          <p:spPr bwMode="auto">
            <a:xfrm flipH="1" flipV="1">
              <a:off x="4429" y="2532"/>
              <a:ext cx="0" cy="135"/>
            </a:xfrm>
            <a:prstGeom prst="line">
              <a:avLst/>
            </a:prstGeom>
            <a:noFill/>
            <a:ln w="28575">
              <a:solidFill>
                <a:schemeClr val="accent1"/>
              </a:solidFill>
              <a:miter lim="800000"/>
              <a:headEnd type="triangle" w="med" len="med"/>
              <a:tailEnd type="triangle" w="med" len="med"/>
            </a:ln>
            <a:effectLst/>
          </p:spPr>
          <p:txBody>
            <a:bodyPr wrap="none" anchor="ctr"/>
            <a:lstStyle/>
            <a:p>
              <a:endParaRPr lang="en-US"/>
            </a:p>
          </p:txBody>
        </p:sp>
        <p:sp>
          <p:nvSpPr>
            <p:cNvPr id="1337511" name="Line 167"/>
            <p:cNvSpPr>
              <a:spLocks noChangeShapeType="1"/>
            </p:cNvSpPr>
            <p:nvPr/>
          </p:nvSpPr>
          <p:spPr bwMode="auto">
            <a:xfrm>
              <a:off x="4679" y="2927"/>
              <a:ext cx="300" cy="112"/>
            </a:xfrm>
            <a:prstGeom prst="line">
              <a:avLst/>
            </a:prstGeom>
            <a:noFill/>
            <a:ln w="28575">
              <a:solidFill>
                <a:schemeClr val="accent1"/>
              </a:solidFill>
              <a:miter lim="800000"/>
              <a:headEnd type="triangle" w="med" len="med"/>
              <a:tailEnd type="triangle" w="med" len="med"/>
            </a:ln>
            <a:effectLst/>
          </p:spPr>
          <p:txBody>
            <a:bodyPr wrap="none" anchor="ctr"/>
            <a:lstStyle/>
            <a:p>
              <a:endParaRPr lang="en-US"/>
            </a:p>
          </p:txBody>
        </p:sp>
        <p:sp>
          <p:nvSpPr>
            <p:cNvPr id="1337512" name="Line 168"/>
            <p:cNvSpPr>
              <a:spLocks noChangeShapeType="1"/>
            </p:cNvSpPr>
            <p:nvPr/>
          </p:nvSpPr>
          <p:spPr bwMode="auto">
            <a:xfrm flipV="1">
              <a:off x="4671" y="2540"/>
              <a:ext cx="296" cy="168"/>
            </a:xfrm>
            <a:prstGeom prst="line">
              <a:avLst/>
            </a:prstGeom>
            <a:noFill/>
            <a:ln w="28575">
              <a:solidFill>
                <a:schemeClr val="accent1"/>
              </a:solidFill>
              <a:miter lim="800000"/>
              <a:headEnd type="triangle" w="med" len="med"/>
              <a:tailEnd type="triangle" w="med" len="med"/>
            </a:ln>
            <a:effectLst/>
          </p:spPr>
          <p:txBody>
            <a:bodyPr wrap="none" anchor="ctr"/>
            <a:lstStyle/>
            <a:p>
              <a:endParaRPr lang="en-US"/>
            </a:p>
          </p:txBody>
        </p:sp>
        <p:sp>
          <p:nvSpPr>
            <p:cNvPr id="1337513" name="AutoShape 169"/>
            <p:cNvSpPr>
              <a:spLocks noChangeArrowheads="1"/>
            </p:cNvSpPr>
            <p:nvPr/>
          </p:nvSpPr>
          <p:spPr bwMode="auto">
            <a:xfrm rot="21600000">
              <a:off x="2553" y="2340"/>
              <a:ext cx="618" cy="1104"/>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6350">
              <a:solidFill>
                <a:schemeClr val="tx1"/>
              </a:solidFill>
              <a:miter lim="800000"/>
              <a:headEnd/>
              <a:tailEnd/>
            </a:ln>
            <a:effectLst/>
          </p:spPr>
          <p:txBody>
            <a:bodyPr wrap="none" anchor="ctr"/>
            <a:lstStyle/>
            <a:p>
              <a:pPr>
                <a:buFontTx/>
                <a:buNone/>
              </a:pPr>
              <a:r>
                <a:rPr lang="en-US" sz="2400"/>
                <a:t>PRM</a:t>
              </a:r>
            </a:p>
            <a:p>
              <a:pPr>
                <a:buFontTx/>
                <a:buNone/>
              </a:pPr>
              <a:r>
                <a:rPr lang="en-US" sz="2400"/>
                <a:t>BRM</a:t>
              </a:r>
            </a:p>
          </p:txBody>
        </p:sp>
        <p:sp>
          <p:nvSpPr>
            <p:cNvPr id="1337514" name="AutoShape 170"/>
            <p:cNvSpPr>
              <a:spLocks noChangeArrowheads="1"/>
            </p:cNvSpPr>
            <p:nvPr/>
          </p:nvSpPr>
          <p:spPr bwMode="auto">
            <a:xfrm>
              <a:off x="900" y="2652"/>
              <a:ext cx="505" cy="364"/>
            </a:xfrm>
            <a:prstGeom prst="flowChartMagneticDisk">
              <a:avLst/>
            </a:prstGeom>
            <a:solidFill>
              <a:srgbClr val="FFFF00"/>
            </a:solidFill>
            <a:ln w="6350">
              <a:solidFill>
                <a:schemeClr val="tx1"/>
              </a:solidFill>
              <a:miter lim="800000"/>
              <a:headEnd/>
              <a:tailEnd/>
            </a:ln>
            <a:effectLst/>
          </p:spPr>
          <p:txBody>
            <a:bodyPr wrap="none" anchor="ctr"/>
            <a:lstStyle/>
            <a:p>
              <a:r>
                <a:rPr lang="en-US" sz="1200" b="1"/>
                <a:t>LOB</a:t>
              </a:r>
            </a:p>
          </p:txBody>
        </p:sp>
        <p:sp>
          <p:nvSpPr>
            <p:cNvPr id="1337515" name="Rectangle 171"/>
            <p:cNvSpPr>
              <a:spLocks noChangeArrowheads="1"/>
            </p:cNvSpPr>
            <p:nvPr/>
          </p:nvSpPr>
          <p:spPr bwMode="auto">
            <a:xfrm>
              <a:off x="4158" y="2742"/>
              <a:ext cx="532" cy="288"/>
            </a:xfrm>
            <a:prstGeom prst="rect">
              <a:avLst/>
            </a:prstGeom>
            <a:noFill/>
            <a:ln w="9525">
              <a:noFill/>
              <a:miter lim="800000"/>
              <a:headEnd/>
              <a:tailEnd/>
            </a:ln>
            <a:effectLst/>
          </p:spPr>
          <p:txBody>
            <a:bodyPr wrap="none">
              <a:spAutoFit/>
            </a:bodyPr>
            <a:lstStyle/>
            <a:p>
              <a:pPr>
                <a:buFontTx/>
                <a:buNone/>
              </a:pPr>
              <a:r>
                <a:rPr lang="en-US" sz="1200" b="1"/>
                <a:t>LOB</a:t>
              </a:r>
            </a:p>
            <a:p>
              <a:pPr>
                <a:buFontTx/>
                <a:buNone/>
              </a:pPr>
              <a:r>
                <a:rPr lang="en-US" sz="1200" b="1"/>
                <a:t>Priorities</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38370" name="Rectangle 2"/>
          <p:cNvSpPr>
            <a:spLocks noGrp="1" noChangeArrowheads="1"/>
          </p:cNvSpPr>
          <p:nvPr>
            <p:ph type="title"/>
          </p:nvPr>
        </p:nvSpPr>
        <p:spPr/>
        <p:txBody>
          <a:bodyPr/>
          <a:lstStyle/>
          <a:p>
            <a:r>
              <a:rPr lang="en-US"/>
              <a:t>How is this Accomplished?</a:t>
            </a:r>
          </a:p>
        </p:txBody>
      </p:sp>
      <p:sp>
        <p:nvSpPr>
          <p:cNvPr id="1338371" name="Rectangle 3"/>
          <p:cNvSpPr>
            <a:spLocks noGrp="1" noChangeArrowheads="1"/>
          </p:cNvSpPr>
          <p:nvPr>
            <p:ph type="body" idx="1"/>
          </p:nvPr>
        </p:nvSpPr>
        <p:spPr/>
        <p:txBody>
          <a:bodyPr/>
          <a:lstStyle/>
          <a:p>
            <a:pPr>
              <a:lnSpc>
                <a:spcPct val="90000"/>
              </a:lnSpc>
              <a:buFont typeface="Wingdings" pitchFamily="2" charset="2"/>
              <a:buNone/>
            </a:pPr>
            <a:endParaRPr lang="en-US"/>
          </a:p>
          <a:p>
            <a:pPr>
              <a:lnSpc>
                <a:spcPct val="90000"/>
              </a:lnSpc>
              <a:buFont typeface="Wingdings" pitchFamily="2" charset="2"/>
              <a:buNone/>
            </a:pPr>
            <a:r>
              <a:rPr lang="en-US" sz="2400"/>
              <a:t>IEA follows the IT dollars:</a:t>
            </a:r>
          </a:p>
          <a:p>
            <a:pPr>
              <a:lnSpc>
                <a:spcPct val="90000"/>
              </a:lnSpc>
              <a:buFont typeface="Wingdings" pitchFamily="2" charset="2"/>
              <a:buNone/>
            </a:pPr>
            <a:endParaRPr lang="en-US" sz="2400"/>
          </a:p>
          <a:p>
            <a:pPr lvl="1">
              <a:lnSpc>
                <a:spcPct val="90000"/>
              </a:lnSpc>
            </a:pPr>
            <a:r>
              <a:rPr lang="en-US" sz="2400"/>
              <a:t>Where has it been invested?</a:t>
            </a:r>
          </a:p>
          <a:p>
            <a:pPr lvl="1">
              <a:lnSpc>
                <a:spcPct val="90000"/>
              </a:lnSpc>
              <a:buFont typeface="Wingdings 3" pitchFamily="18" charset="2"/>
              <a:buNone/>
            </a:pPr>
            <a:r>
              <a:rPr lang="en-US" sz="2400"/>
              <a:t>   </a:t>
            </a:r>
          </a:p>
          <a:p>
            <a:pPr lvl="1">
              <a:lnSpc>
                <a:spcPct val="90000"/>
              </a:lnSpc>
            </a:pPr>
            <a:r>
              <a:rPr lang="en-US" sz="2400"/>
              <a:t>Where is it going to be spent?</a:t>
            </a:r>
          </a:p>
          <a:p>
            <a:pPr lvl="1">
              <a:lnSpc>
                <a:spcPct val="90000"/>
              </a:lnSpc>
              <a:buFont typeface="Wingdings 3" pitchFamily="18" charset="2"/>
              <a:buNone/>
            </a:pPr>
            <a:endParaRPr lang="en-US" sz="2400"/>
          </a:p>
          <a:p>
            <a:pPr lvl="1">
              <a:lnSpc>
                <a:spcPct val="90000"/>
              </a:lnSpc>
            </a:pPr>
            <a:r>
              <a:rPr lang="en-US" sz="2400"/>
              <a:t>Is it being spent effectively?</a:t>
            </a:r>
          </a:p>
          <a:p>
            <a:pPr lvl="1">
              <a:lnSpc>
                <a:spcPct val="90000"/>
              </a:lnSpc>
              <a:buFont typeface="Wingdings 3" pitchFamily="18" charset="2"/>
              <a:buNone/>
            </a:pPr>
            <a:endParaRPr lang="en-US" sz="2400"/>
          </a:p>
          <a:p>
            <a:pPr lvl="1">
              <a:lnSpc>
                <a:spcPct val="90000"/>
              </a:lnSpc>
            </a:pPr>
            <a:r>
              <a:rPr lang="en-US" sz="2400"/>
              <a:t>Does it align with the strategic planning and business objectives?</a:t>
            </a:r>
          </a:p>
        </p:txBody>
      </p:sp>
      <p:pic>
        <p:nvPicPr>
          <p:cNvPr id="1338372" name="Picture 4" descr="j0285468[1]"/>
          <p:cNvPicPr>
            <a:picLocks noChangeAspect="1" noChangeArrowheads="1"/>
          </p:cNvPicPr>
          <p:nvPr/>
        </p:nvPicPr>
        <p:blipFill>
          <a:blip r:embed="rId3" cstate="print"/>
          <a:srcRect/>
          <a:stretch>
            <a:fillRect/>
          </a:stretch>
        </p:blipFill>
        <p:spPr bwMode="auto">
          <a:xfrm>
            <a:off x="6445250" y="1962150"/>
            <a:ext cx="1814513" cy="1814513"/>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22" name="Rectangle 1026"/>
          <p:cNvSpPr>
            <a:spLocks noGrp="1" noChangeArrowheads="1"/>
          </p:cNvSpPr>
          <p:nvPr>
            <p:ph type="ctrTitle"/>
          </p:nvPr>
        </p:nvSpPr>
        <p:spPr/>
        <p:txBody>
          <a:bodyPr/>
          <a:lstStyle/>
          <a:p>
            <a:r>
              <a:rPr lang="en-US"/>
              <a:t>Strategy and Approach </a:t>
            </a:r>
          </a:p>
        </p:txBody>
      </p:sp>
      <p:sp>
        <p:nvSpPr>
          <p:cNvPr id="1413123" name="Rectangle 1027"/>
          <p:cNvSpPr>
            <a:spLocks noGrp="1" noChangeArrowheads="1"/>
          </p:cNvSpPr>
          <p:nvPr>
            <p:ph type="subTitle" idx="1"/>
          </p:nvPr>
        </p:nvSpPr>
        <p:spPr>
          <a:xfrm>
            <a:off x="1828800" y="4419600"/>
            <a:ext cx="5629275" cy="914400"/>
          </a:xfrm>
        </p:spPr>
        <p:txBody>
          <a:bodyPr/>
          <a:lstStyle/>
          <a:p>
            <a:r>
              <a:rPr lang="en-US"/>
              <a:t>Jim Barrett</a:t>
            </a:r>
          </a:p>
          <a:p>
            <a:r>
              <a:rPr lang="en-US"/>
              <a:t>Northrop Grumman – IBAT Support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39394" name="Rectangle 2"/>
          <p:cNvSpPr>
            <a:spLocks noGrp="1" noChangeArrowheads="1"/>
          </p:cNvSpPr>
          <p:nvPr>
            <p:ph type="title"/>
          </p:nvPr>
        </p:nvSpPr>
        <p:spPr/>
        <p:txBody>
          <a:bodyPr/>
          <a:lstStyle/>
          <a:p>
            <a:r>
              <a:rPr lang="en-US" sz="2000"/>
              <a:t>Interior Business Architecture Approach</a:t>
            </a:r>
          </a:p>
        </p:txBody>
      </p:sp>
      <p:sp>
        <p:nvSpPr>
          <p:cNvPr id="1339395" name="Rectangle 3"/>
          <p:cNvSpPr>
            <a:spLocks noGrp="1" noChangeArrowheads="1"/>
          </p:cNvSpPr>
          <p:nvPr>
            <p:ph type="body" idx="1"/>
          </p:nvPr>
        </p:nvSpPr>
        <p:spPr>
          <a:xfrm>
            <a:off x="457200" y="1504950"/>
            <a:ext cx="8229600" cy="5221288"/>
          </a:xfrm>
        </p:spPr>
        <p:txBody>
          <a:bodyPr/>
          <a:lstStyle/>
          <a:p>
            <a:pPr>
              <a:lnSpc>
                <a:spcPct val="80000"/>
              </a:lnSpc>
              <a:buFont typeface="Wingdings" pitchFamily="2" charset="2"/>
              <a:buNone/>
            </a:pPr>
            <a:r>
              <a:rPr lang="en-US"/>
              <a:t>Team will use a combination of:</a:t>
            </a:r>
          </a:p>
          <a:p>
            <a:pPr>
              <a:lnSpc>
                <a:spcPct val="80000"/>
              </a:lnSpc>
              <a:buFont typeface="Wingdings" pitchFamily="2" charset="2"/>
              <a:buNone/>
            </a:pPr>
            <a:r>
              <a:rPr lang="en-US" sz="2000" b="1" i="1">
                <a:solidFill>
                  <a:schemeClr val="accent1"/>
                </a:solidFill>
              </a:rPr>
              <a:t>Top Down</a:t>
            </a:r>
            <a:r>
              <a:rPr lang="en-US" sz="2000"/>
              <a:t> – Understanding the external and business drivers pushing the DOI</a:t>
            </a:r>
          </a:p>
          <a:p>
            <a:pPr lvl="2">
              <a:lnSpc>
                <a:spcPct val="80000"/>
              </a:lnSpc>
            </a:pPr>
            <a:r>
              <a:rPr lang="en-US" sz="1800"/>
              <a:t>(e.g., President’s Management Agenda, Strategic Plan, ABC, and Competitive Sourcing)</a:t>
            </a:r>
          </a:p>
          <a:p>
            <a:pPr lvl="2">
              <a:lnSpc>
                <a:spcPct val="80000"/>
              </a:lnSpc>
            </a:pPr>
            <a:r>
              <a:rPr lang="en-US" sz="1800"/>
              <a:t>Focusing on Interior-wide strategic business areas</a:t>
            </a:r>
          </a:p>
          <a:p>
            <a:pPr lvl="3">
              <a:lnSpc>
                <a:spcPct val="80000"/>
              </a:lnSpc>
            </a:pPr>
            <a:r>
              <a:rPr lang="en-US" sz="1800"/>
              <a:t>Initial focus:</a:t>
            </a:r>
          </a:p>
          <a:p>
            <a:pPr lvl="4">
              <a:lnSpc>
                <a:spcPct val="80000"/>
              </a:lnSpc>
            </a:pPr>
            <a:r>
              <a:rPr lang="en-US" sz="1600"/>
              <a:t>Financial Management</a:t>
            </a:r>
          </a:p>
          <a:p>
            <a:pPr lvl="4">
              <a:lnSpc>
                <a:spcPct val="80000"/>
              </a:lnSpc>
            </a:pPr>
            <a:r>
              <a:rPr lang="en-US" sz="1600"/>
              <a:t>Recreation</a:t>
            </a:r>
          </a:p>
          <a:p>
            <a:pPr lvl="4">
              <a:lnSpc>
                <a:spcPct val="80000"/>
              </a:lnSpc>
            </a:pPr>
            <a:r>
              <a:rPr lang="en-US" sz="1600"/>
              <a:t>Indian Trust</a:t>
            </a:r>
          </a:p>
          <a:p>
            <a:pPr lvl="4">
              <a:lnSpc>
                <a:spcPct val="80000"/>
              </a:lnSpc>
            </a:pPr>
            <a:r>
              <a:rPr lang="en-US" sz="1600"/>
              <a:t>Law Enforcement</a:t>
            </a:r>
          </a:p>
          <a:p>
            <a:pPr lvl="4">
              <a:lnSpc>
                <a:spcPct val="80000"/>
              </a:lnSpc>
            </a:pPr>
            <a:r>
              <a:rPr lang="en-US" sz="1600"/>
              <a:t>Wildland Fire Management</a:t>
            </a:r>
          </a:p>
          <a:p>
            <a:pPr lvl="1">
              <a:lnSpc>
                <a:spcPct val="80000"/>
              </a:lnSpc>
            </a:pPr>
            <a:r>
              <a:rPr lang="en-US" sz="1800" b="1" i="1">
                <a:solidFill>
                  <a:schemeClr val="accent1"/>
                </a:solidFill>
              </a:rPr>
              <a:t>Bottom Up</a:t>
            </a:r>
            <a:r>
              <a:rPr lang="en-US" sz="1800"/>
              <a:t> – Leveraging and Understanding business needs and architectures at the bureau/office level.</a:t>
            </a:r>
          </a:p>
          <a:p>
            <a:pPr lvl="2">
              <a:lnSpc>
                <a:spcPct val="80000"/>
              </a:lnSpc>
            </a:pPr>
            <a:r>
              <a:rPr lang="en-US" sz="1800"/>
              <a:t>Bureau-level architecture efforts should focus on:</a:t>
            </a:r>
          </a:p>
          <a:p>
            <a:pPr lvl="3">
              <a:lnSpc>
                <a:spcPct val="80000"/>
              </a:lnSpc>
            </a:pPr>
            <a:r>
              <a:rPr lang="en-US" sz="1800"/>
              <a:t>Business Areas Strategically important at bureau-level</a:t>
            </a:r>
          </a:p>
          <a:p>
            <a:pPr lvl="3">
              <a:lnSpc>
                <a:spcPct val="80000"/>
              </a:lnSpc>
            </a:pPr>
            <a:r>
              <a:rPr lang="en-US" sz="1800"/>
              <a:t>Business Areas not targeted under IEA effort</a:t>
            </a:r>
          </a:p>
          <a:p>
            <a:pPr lvl="3">
              <a:lnSpc>
                <a:spcPct val="80000"/>
              </a:lnSpc>
            </a:pPr>
            <a:r>
              <a:rPr lang="en-US" sz="1800"/>
              <a:t>Bureau-unique Business Functions</a:t>
            </a:r>
          </a:p>
          <a:p>
            <a:pPr lvl="2">
              <a:lnSpc>
                <a:spcPct val="80000"/>
              </a:lnSpc>
              <a:buFontTx/>
              <a:buNone/>
            </a:pPr>
            <a:r>
              <a:rPr lang="en-US" sz="1800">
                <a:solidFill>
                  <a:srgbClr val="FF0000"/>
                </a:solidFill>
              </a:rPr>
              <a:t>				“BEST OF BREED WILL LEAD”</a:t>
            </a:r>
          </a:p>
          <a:p>
            <a:pPr>
              <a:lnSpc>
                <a:spcPct val="80000"/>
              </a:lnSpc>
              <a:buFont typeface="Wingdings" pitchFamily="2" charset="2"/>
              <a:buNone/>
            </a:pPr>
            <a:endParaRPr lang="en-US">
              <a:solidFill>
                <a:srgbClr val="FF0000"/>
              </a:solidFill>
            </a:endParaRPr>
          </a:p>
        </p:txBody>
      </p:sp>
      <p:pic>
        <p:nvPicPr>
          <p:cNvPr id="1339396" name="Picture 4" descr="j0190991[1]"/>
          <p:cNvPicPr>
            <a:picLocks noChangeAspect="1" noChangeArrowheads="1"/>
          </p:cNvPicPr>
          <p:nvPr/>
        </p:nvPicPr>
        <p:blipFill>
          <a:blip r:embed="rId3" cstate="print"/>
          <a:srcRect/>
          <a:stretch>
            <a:fillRect/>
          </a:stretch>
        </p:blipFill>
        <p:spPr bwMode="auto">
          <a:xfrm>
            <a:off x="7124700" y="4908550"/>
            <a:ext cx="1789113" cy="1684338"/>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40418" name="Rectangle 2"/>
          <p:cNvSpPr>
            <a:spLocks noGrp="1" noChangeArrowheads="1"/>
          </p:cNvSpPr>
          <p:nvPr>
            <p:ph type="title"/>
          </p:nvPr>
        </p:nvSpPr>
        <p:spPr/>
        <p:txBody>
          <a:bodyPr/>
          <a:lstStyle/>
          <a:p>
            <a:r>
              <a:rPr lang="en-US" sz="2000"/>
              <a:t>We Will Use Both ‘Top-down’ and ‘Bottom-up’ Methods As Part of Our Integrated Approach</a:t>
            </a:r>
          </a:p>
        </p:txBody>
      </p:sp>
      <p:sp>
        <p:nvSpPr>
          <p:cNvPr id="1340419" name="Rectangle 3"/>
          <p:cNvSpPr>
            <a:spLocks noChangeArrowheads="1"/>
          </p:cNvSpPr>
          <p:nvPr/>
        </p:nvSpPr>
        <p:spPr bwMode="auto">
          <a:xfrm>
            <a:off x="152400" y="5638800"/>
            <a:ext cx="6543675" cy="504825"/>
          </a:xfrm>
          <a:prstGeom prst="rect">
            <a:avLst/>
          </a:prstGeom>
          <a:solidFill>
            <a:srgbClr val="00CC00"/>
          </a:solidFill>
          <a:ln w="6350">
            <a:solidFill>
              <a:schemeClr val="tx1"/>
            </a:solidFill>
            <a:miter lim="800000"/>
            <a:headEnd/>
            <a:tailEnd/>
          </a:ln>
          <a:effectLst/>
        </p:spPr>
        <p:txBody>
          <a:bodyPr wrap="none" anchor="ctr"/>
          <a:lstStyle/>
          <a:p>
            <a:endParaRPr lang="en-US"/>
          </a:p>
        </p:txBody>
      </p:sp>
      <p:sp>
        <p:nvSpPr>
          <p:cNvPr id="1340420" name="Rectangle 4"/>
          <p:cNvSpPr>
            <a:spLocks noChangeArrowheads="1"/>
          </p:cNvSpPr>
          <p:nvPr/>
        </p:nvSpPr>
        <p:spPr bwMode="auto">
          <a:xfrm>
            <a:off x="457200" y="685800"/>
            <a:ext cx="8229600" cy="844550"/>
          </a:xfrm>
          <a:prstGeom prst="rect">
            <a:avLst/>
          </a:prstGeom>
          <a:noFill/>
          <a:ln w="9525">
            <a:noFill/>
            <a:miter lim="800000"/>
            <a:headEnd/>
            <a:tailEnd/>
          </a:ln>
          <a:effectLst/>
        </p:spPr>
        <p:txBody>
          <a:bodyPr lIns="0" rIns="0" anchor="b"/>
          <a:lstStyle/>
          <a:p>
            <a:pPr algn="l">
              <a:buFontTx/>
              <a:buNone/>
            </a:pPr>
            <a:endParaRPr lang="en-US" sz="2200" b="1">
              <a:solidFill>
                <a:srgbClr val="760000"/>
              </a:solidFill>
            </a:endParaRPr>
          </a:p>
        </p:txBody>
      </p:sp>
      <p:sp>
        <p:nvSpPr>
          <p:cNvPr id="1340421" name="Text Box 5"/>
          <p:cNvSpPr txBox="1">
            <a:spLocks noChangeArrowheads="1"/>
          </p:cNvSpPr>
          <p:nvPr/>
        </p:nvSpPr>
        <p:spPr bwMode="auto">
          <a:xfrm>
            <a:off x="241300" y="5745163"/>
            <a:ext cx="2803525" cy="311150"/>
          </a:xfrm>
          <a:prstGeom prst="rect">
            <a:avLst/>
          </a:prstGeom>
          <a:solidFill>
            <a:schemeClr val="bg1"/>
          </a:solidFill>
          <a:ln w="6350">
            <a:solidFill>
              <a:schemeClr val="accent1"/>
            </a:solidFill>
            <a:miter lim="800000"/>
            <a:headEnd/>
            <a:tailEnd/>
          </a:ln>
          <a:effectLst/>
        </p:spPr>
        <p:txBody>
          <a:bodyPr wrap="none">
            <a:spAutoFit/>
          </a:bodyPr>
          <a:lstStyle/>
          <a:p>
            <a:r>
              <a:rPr lang="en-US" sz="1400">
                <a:solidFill>
                  <a:schemeClr val="accent1"/>
                </a:solidFill>
              </a:rPr>
              <a:t>IT Expenditures, Business Cases</a:t>
            </a:r>
          </a:p>
        </p:txBody>
      </p:sp>
      <p:sp>
        <p:nvSpPr>
          <p:cNvPr id="1340422" name="Text Box 6"/>
          <p:cNvSpPr txBox="1">
            <a:spLocks noChangeArrowheads="1"/>
          </p:cNvSpPr>
          <p:nvPr/>
        </p:nvSpPr>
        <p:spPr bwMode="auto">
          <a:xfrm>
            <a:off x="3170238" y="5745163"/>
            <a:ext cx="3394075" cy="311150"/>
          </a:xfrm>
          <a:prstGeom prst="rect">
            <a:avLst/>
          </a:prstGeom>
          <a:solidFill>
            <a:schemeClr val="bg1"/>
          </a:solidFill>
          <a:ln w="6350">
            <a:solidFill>
              <a:schemeClr val="accent1"/>
            </a:solidFill>
            <a:miter lim="800000"/>
            <a:headEnd/>
            <a:tailEnd/>
          </a:ln>
          <a:effectLst/>
        </p:spPr>
        <p:txBody>
          <a:bodyPr wrap="none">
            <a:spAutoFit/>
          </a:bodyPr>
          <a:lstStyle/>
          <a:p>
            <a:r>
              <a:rPr lang="en-US" sz="1400">
                <a:solidFill>
                  <a:schemeClr val="accent1"/>
                </a:solidFill>
              </a:rPr>
              <a:t>Bureaus Enterprise Architecture Artifacts</a:t>
            </a:r>
          </a:p>
        </p:txBody>
      </p:sp>
      <p:grpSp>
        <p:nvGrpSpPr>
          <p:cNvPr id="1340423" name="Group 7"/>
          <p:cNvGrpSpPr>
            <a:grpSpLocks/>
          </p:cNvGrpSpPr>
          <p:nvPr/>
        </p:nvGrpSpPr>
        <p:grpSpPr bwMode="auto">
          <a:xfrm>
            <a:off x="161925" y="1695450"/>
            <a:ext cx="8124825" cy="504825"/>
            <a:chOff x="102" y="1074"/>
            <a:chExt cx="5118" cy="318"/>
          </a:xfrm>
        </p:grpSpPr>
        <p:sp>
          <p:nvSpPr>
            <p:cNvPr id="1340424" name="Rectangle 8"/>
            <p:cNvSpPr>
              <a:spLocks noChangeArrowheads="1"/>
            </p:cNvSpPr>
            <p:nvPr/>
          </p:nvSpPr>
          <p:spPr bwMode="auto">
            <a:xfrm>
              <a:off x="102" y="1074"/>
              <a:ext cx="5118" cy="318"/>
            </a:xfrm>
            <a:prstGeom prst="rect">
              <a:avLst/>
            </a:prstGeom>
            <a:solidFill>
              <a:srgbClr val="00CC00"/>
            </a:solidFill>
            <a:ln w="6350">
              <a:solidFill>
                <a:schemeClr val="tx1"/>
              </a:solidFill>
              <a:miter lim="800000"/>
              <a:headEnd/>
              <a:tailEnd/>
            </a:ln>
            <a:effectLst/>
          </p:spPr>
          <p:txBody>
            <a:bodyPr wrap="none" anchor="ctr"/>
            <a:lstStyle/>
            <a:p>
              <a:endParaRPr lang="en-US"/>
            </a:p>
          </p:txBody>
        </p:sp>
        <p:sp>
          <p:nvSpPr>
            <p:cNvPr id="1340425" name="Text Box 9"/>
            <p:cNvSpPr txBox="1">
              <a:spLocks noChangeArrowheads="1"/>
            </p:cNvSpPr>
            <p:nvPr/>
          </p:nvSpPr>
          <p:spPr bwMode="auto">
            <a:xfrm>
              <a:off x="255" y="1141"/>
              <a:ext cx="847" cy="196"/>
            </a:xfrm>
            <a:prstGeom prst="rect">
              <a:avLst/>
            </a:prstGeom>
            <a:solidFill>
              <a:schemeClr val="bg1"/>
            </a:solidFill>
            <a:ln w="6350">
              <a:solidFill>
                <a:schemeClr val="accent1"/>
              </a:solidFill>
              <a:miter lim="800000"/>
              <a:headEnd/>
              <a:tailEnd/>
            </a:ln>
            <a:effectLst/>
          </p:spPr>
          <p:txBody>
            <a:bodyPr wrap="none">
              <a:spAutoFit/>
            </a:bodyPr>
            <a:lstStyle/>
            <a:p>
              <a:r>
                <a:rPr lang="en-US" sz="1400">
                  <a:solidFill>
                    <a:schemeClr val="accent1"/>
                  </a:solidFill>
                </a:rPr>
                <a:t> Strategic Plan</a:t>
              </a:r>
            </a:p>
          </p:txBody>
        </p:sp>
        <p:sp>
          <p:nvSpPr>
            <p:cNvPr id="1340426" name="Text Box 10"/>
            <p:cNvSpPr txBox="1">
              <a:spLocks noChangeArrowheads="1"/>
            </p:cNvSpPr>
            <p:nvPr/>
          </p:nvSpPr>
          <p:spPr bwMode="auto">
            <a:xfrm>
              <a:off x="1377" y="1141"/>
              <a:ext cx="1599" cy="196"/>
            </a:xfrm>
            <a:prstGeom prst="rect">
              <a:avLst/>
            </a:prstGeom>
            <a:solidFill>
              <a:schemeClr val="bg1"/>
            </a:solidFill>
            <a:ln w="6350">
              <a:solidFill>
                <a:schemeClr val="accent1"/>
              </a:solidFill>
              <a:miter lim="800000"/>
              <a:headEnd/>
              <a:tailEnd/>
            </a:ln>
            <a:effectLst/>
          </p:spPr>
          <p:txBody>
            <a:bodyPr wrap="none">
              <a:spAutoFit/>
            </a:bodyPr>
            <a:lstStyle/>
            <a:p>
              <a:r>
                <a:rPr lang="en-US" sz="1400">
                  <a:solidFill>
                    <a:schemeClr val="accent1"/>
                  </a:solidFill>
                </a:rPr>
                <a:t> Activity Based Costing Model</a:t>
              </a:r>
            </a:p>
          </p:txBody>
        </p:sp>
        <p:sp>
          <p:nvSpPr>
            <p:cNvPr id="1340427" name="Text Box 11"/>
            <p:cNvSpPr txBox="1">
              <a:spLocks noChangeArrowheads="1"/>
            </p:cNvSpPr>
            <p:nvPr/>
          </p:nvSpPr>
          <p:spPr bwMode="auto">
            <a:xfrm>
              <a:off x="3171" y="1141"/>
              <a:ext cx="2002" cy="196"/>
            </a:xfrm>
            <a:prstGeom prst="rect">
              <a:avLst/>
            </a:prstGeom>
            <a:solidFill>
              <a:schemeClr val="bg1"/>
            </a:solidFill>
            <a:ln w="6350">
              <a:solidFill>
                <a:schemeClr val="accent1"/>
              </a:solidFill>
              <a:miter lim="800000"/>
              <a:headEnd/>
              <a:tailEnd/>
            </a:ln>
            <a:effectLst/>
          </p:spPr>
          <p:txBody>
            <a:bodyPr wrap="none">
              <a:spAutoFit/>
            </a:bodyPr>
            <a:lstStyle/>
            <a:p>
              <a:r>
                <a:rPr lang="en-US" sz="1400">
                  <a:solidFill>
                    <a:schemeClr val="accent1"/>
                  </a:solidFill>
                </a:rPr>
                <a:t>OMB Business Reference Model V2.0</a:t>
              </a:r>
            </a:p>
          </p:txBody>
        </p:sp>
      </p:grpSp>
      <p:sp>
        <p:nvSpPr>
          <p:cNvPr id="1340428" name="Rectangle 12"/>
          <p:cNvSpPr>
            <a:spLocks noChangeArrowheads="1"/>
          </p:cNvSpPr>
          <p:nvPr/>
        </p:nvSpPr>
        <p:spPr bwMode="auto">
          <a:xfrm>
            <a:off x="800100" y="3514725"/>
            <a:ext cx="1714500" cy="809625"/>
          </a:xfrm>
          <a:prstGeom prst="rect">
            <a:avLst/>
          </a:prstGeom>
          <a:solidFill>
            <a:srgbClr val="00CC00"/>
          </a:solidFill>
          <a:ln w="6350">
            <a:solidFill>
              <a:schemeClr val="tx1"/>
            </a:solidFill>
            <a:miter lim="800000"/>
            <a:headEnd/>
            <a:tailEnd/>
          </a:ln>
          <a:effectLst/>
        </p:spPr>
        <p:txBody>
          <a:bodyPr wrap="none"/>
          <a:lstStyle/>
          <a:p>
            <a:r>
              <a:rPr lang="en-US" b="1">
                <a:solidFill>
                  <a:schemeClr val="bg1"/>
                </a:solidFill>
              </a:rPr>
              <a:t>DOI Repository</a:t>
            </a:r>
          </a:p>
        </p:txBody>
      </p:sp>
      <p:sp>
        <p:nvSpPr>
          <p:cNvPr id="1340429" name="Text Box 13"/>
          <p:cNvSpPr txBox="1">
            <a:spLocks noChangeArrowheads="1"/>
          </p:cNvSpPr>
          <p:nvPr/>
        </p:nvSpPr>
        <p:spPr bwMode="auto">
          <a:xfrm>
            <a:off x="922338" y="3910013"/>
            <a:ext cx="1452562" cy="342900"/>
          </a:xfrm>
          <a:prstGeom prst="rect">
            <a:avLst/>
          </a:prstGeom>
          <a:solidFill>
            <a:schemeClr val="bg1"/>
          </a:solidFill>
          <a:ln w="6350">
            <a:solidFill>
              <a:schemeClr val="accent1"/>
            </a:solidFill>
            <a:miter lim="800000"/>
            <a:headEnd/>
            <a:tailEnd/>
          </a:ln>
          <a:effectLst/>
        </p:spPr>
        <p:txBody>
          <a:bodyPr>
            <a:spAutoFit/>
          </a:bodyPr>
          <a:lstStyle/>
          <a:p>
            <a:r>
              <a:rPr lang="en-US" sz="1600">
                <a:solidFill>
                  <a:schemeClr val="accent1"/>
                </a:solidFill>
              </a:rPr>
              <a:t>Gap Analysis</a:t>
            </a:r>
          </a:p>
        </p:txBody>
      </p:sp>
      <p:grpSp>
        <p:nvGrpSpPr>
          <p:cNvPr id="1340430" name="Group 14"/>
          <p:cNvGrpSpPr>
            <a:grpSpLocks/>
          </p:cNvGrpSpPr>
          <p:nvPr/>
        </p:nvGrpSpPr>
        <p:grpSpPr bwMode="auto">
          <a:xfrm>
            <a:off x="171450" y="4346575"/>
            <a:ext cx="6515100" cy="1273175"/>
            <a:chOff x="108" y="2738"/>
            <a:chExt cx="4104" cy="802"/>
          </a:xfrm>
        </p:grpSpPr>
        <p:sp>
          <p:nvSpPr>
            <p:cNvPr id="1340431" name="AutoShape 15"/>
            <p:cNvSpPr>
              <a:spLocks noChangeArrowheads="1"/>
            </p:cNvSpPr>
            <p:nvPr/>
          </p:nvSpPr>
          <p:spPr bwMode="auto">
            <a:xfrm rot="16200000">
              <a:off x="798" y="2728"/>
              <a:ext cx="489" cy="51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6350">
              <a:solidFill>
                <a:schemeClr val="tx1"/>
              </a:solidFill>
              <a:miter lim="800000"/>
              <a:headEnd/>
              <a:tailEnd/>
            </a:ln>
            <a:effectLst/>
          </p:spPr>
          <p:txBody>
            <a:bodyPr wrap="none" anchor="ctr"/>
            <a:lstStyle/>
            <a:p>
              <a:endParaRPr lang="en-US"/>
            </a:p>
          </p:txBody>
        </p:sp>
        <p:sp>
          <p:nvSpPr>
            <p:cNvPr id="1340432" name="AutoShape 16"/>
            <p:cNvSpPr>
              <a:spLocks/>
            </p:cNvSpPr>
            <p:nvPr/>
          </p:nvSpPr>
          <p:spPr bwMode="auto">
            <a:xfrm rot="16200000" flipV="1">
              <a:off x="2031" y="1359"/>
              <a:ext cx="258" cy="4104"/>
            </a:xfrm>
            <a:prstGeom prst="rightBrace">
              <a:avLst>
                <a:gd name="adj1" fmla="val 132558"/>
                <a:gd name="adj2" fmla="val 76949"/>
              </a:avLst>
            </a:prstGeom>
            <a:noFill/>
            <a:ln w="28575">
              <a:solidFill>
                <a:schemeClr val="tx1"/>
              </a:solidFill>
              <a:miter lim="800000"/>
              <a:headEnd/>
              <a:tailEnd/>
            </a:ln>
            <a:effectLst/>
          </p:spPr>
          <p:txBody>
            <a:bodyPr wrap="none" anchor="ctr"/>
            <a:lstStyle/>
            <a:p>
              <a:endParaRPr lang="en-US"/>
            </a:p>
          </p:txBody>
        </p:sp>
      </p:grpSp>
      <p:grpSp>
        <p:nvGrpSpPr>
          <p:cNvPr id="1340433" name="Group 17"/>
          <p:cNvGrpSpPr>
            <a:grpSpLocks/>
          </p:cNvGrpSpPr>
          <p:nvPr/>
        </p:nvGrpSpPr>
        <p:grpSpPr bwMode="auto">
          <a:xfrm>
            <a:off x="171450" y="2228850"/>
            <a:ext cx="8115300" cy="1265238"/>
            <a:chOff x="108" y="1404"/>
            <a:chExt cx="5112" cy="797"/>
          </a:xfrm>
        </p:grpSpPr>
        <p:sp>
          <p:nvSpPr>
            <p:cNvPr id="1340434" name="AutoShape 18"/>
            <p:cNvSpPr>
              <a:spLocks/>
            </p:cNvSpPr>
            <p:nvPr/>
          </p:nvSpPr>
          <p:spPr bwMode="auto">
            <a:xfrm rot="5400000">
              <a:off x="2534" y="-1022"/>
              <a:ext cx="259" cy="5112"/>
            </a:xfrm>
            <a:prstGeom prst="rightBrace">
              <a:avLst>
                <a:gd name="adj1" fmla="val 164479"/>
                <a:gd name="adj2" fmla="val 81935"/>
              </a:avLst>
            </a:prstGeom>
            <a:noFill/>
            <a:ln w="28575">
              <a:solidFill>
                <a:schemeClr val="tx1"/>
              </a:solidFill>
              <a:miter lim="800000"/>
              <a:headEnd/>
              <a:tailEnd/>
            </a:ln>
            <a:effectLst/>
          </p:spPr>
          <p:txBody>
            <a:bodyPr wrap="none" anchor="ctr"/>
            <a:lstStyle/>
            <a:p>
              <a:endParaRPr lang="en-US"/>
            </a:p>
          </p:txBody>
        </p:sp>
        <p:sp>
          <p:nvSpPr>
            <p:cNvPr id="1340435" name="AutoShape 19"/>
            <p:cNvSpPr>
              <a:spLocks noChangeArrowheads="1"/>
            </p:cNvSpPr>
            <p:nvPr/>
          </p:nvSpPr>
          <p:spPr bwMode="auto">
            <a:xfrm rot="5400000" flipV="1">
              <a:off x="799" y="1702"/>
              <a:ext cx="489" cy="51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6350">
              <a:solidFill>
                <a:schemeClr val="tx1"/>
              </a:solidFill>
              <a:miter lim="800000"/>
              <a:headEnd/>
              <a:tailEnd/>
            </a:ln>
            <a:effectLst/>
          </p:spPr>
          <p:txBody>
            <a:bodyPr wrap="none" anchor="ctr"/>
            <a:lstStyle/>
            <a:p>
              <a:endParaRPr lang="en-US"/>
            </a:p>
          </p:txBody>
        </p:sp>
      </p:grpSp>
      <p:grpSp>
        <p:nvGrpSpPr>
          <p:cNvPr id="1340436" name="Group 20"/>
          <p:cNvGrpSpPr>
            <a:grpSpLocks/>
          </p:cNvGrpSpPr>
          <p:nvPr/>
        </p:nvGrpSpPr>
        <p:grpSpPr bwMode="auto">
          <a:xfrm>
            <a:off x="2595563" y="3105150"/>
            <a:ext cx="2686050" cy="1628775"/>
            <a:chOff x="1635" y="1956"/>
            <a:chExt cx="1692" cy="1026"/>
          </a:xfrm>
        </p:grpSpPr>
        <p:sp>
          <p:nvSpPr>
            <p:cNvPr id="1340437" name="AutoShape 21"/>
            <p:cNvSpPr>
              <a:spLocks noChangeArrowheads="1"/>
            </p:cNvSpPr>
            <p:nvPr/>
          </p:nvSpPr>
          <p:spPr bwMode="auto">
            <a:xfrm rot="21600000">
              <a:off x="1635" y="1956"/>
              <a:ext cx="1692" cy="102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6350">
              <a:solidFill>
                <a:schemeClr val="tx1"/>
              </a:solidFill>
              <a:miter lim="800000"/>
              <a:headEnd/>
              <a:tailEnd/>
            </a:ln>
            <a:effectLst/>
          </p:spPr>
          <p:txBody>
            <a:bodyPr wrap="none" anchor="ctr"/>
            <a:lstStyle/>
            <a:p>
              <a:endParaRPr lang="en-US"/>
            </a:p>
          </p:txBody>
        </p:sp>
        <p:sp>
          <p:nvSpPr>
            <p:cNvPr id="1340438" name="Text Box 22"/>
            <p:cNvSpPr txBox="1">
              <a:spLocks noChangeArrowheads="1"/>
            </p:cNvSpPr>
            <p:nvPr/>
          </p:nvSpPr>
          <p:spPr bwMode="auto">
            <a:xfrm>
              <a:off x="1858" y="2211"/>
              <a:ext cx="1433" cy="518"/>
            </a:xfrm>
            <a:prstGeom prst="rect">
              <a:avLst/>
            </a:prstGeom>
            <a:noFill/>
            <a:ln w="6350">
              <a:noFill/>
              <a:miter lim="800000"/>
              <a:headEnd/>
              <a:tailEnd/>
            </a:ln>
            <a:effectLst/>
          </p:spPr>
          <p:txBody>
            <a:bodyPr wrap="none">
              <a:spAutoFit/>
            </a:bodyPr>
            <a:lstStyle/>
            <a:p>
              <a:pPr algn="l">
                <a:buFont typeface="Wingdings" pitchFamily="2" charset="2"/>
                <a:buChar char="§"/>
              </a:pPr>
              <a:r>
                <a:rPr lang="en-US" sz="1200"/>
                <a:t>Redundancies</a:t>
              </a:r>
            </a:p>
            <a:p>
              <a:pPr algn="l">
                <a:buFont typeface="Wingdings" pitchFamily="2" charset="2"/>
                <a:buChar char="§"/>
              </a:pPr>
              <a:r>
                <a:rPr lang="en-US" sz="1200"/>
                <a:t>Gaps/Voids for Target Models</a:t>
              </a:r>
            </a:p>
            <a:p>
              <a:pPr algn="l">
                <a:buFont typeface="Wingdings" pitchFamily="2" charset="2"/>
                <a:buChar char="§"/>
              </a:pPr>
              <a:r>
                <a:rPr lang="en-US" sz="1200"/>
                <a:t>Integration Opportunities</a:t>
              </a:r>
            </a:p>
            <a:p>
              <a:pPr algn="l">
                <a:buFont typeface="Wingdings" pitchFamily="2" charset="2"/>
                <a:buChar char="§"/>
              </a:pPr>
              <a:r>
                <a:rPr lang="en-US" sz="1200"/>
                <a:t>Technology Obsolescence</a:t>
              </a:r>
            </a:p>
          </p:txBody>
        </p:sp>
      </p:grpSp>
      <p:sp>
        <p:nvSpPr>
          <p:cNvPr id="1340439" name="Rectangle 23"/>
          <p:cNvSpPr>
            <a:spLocks noChangeArrowheads="1"/>
          </p:cNvSpPr>
          <p:nvPr/>
        </p:nvSpPr>
        <p:spPr bwMode="auto">
          <a:xfrm>
            <a:off x="5257800" y="2667000"/>
            <a:ext cx="3495675" cy="2514600"/>
          </a:xfrm>
          <a:prstGeom prst="rect">
            <a:avLst/>
          </a:prstGeom>
          <a:solidFill>
            <a:srgbClr val="00CC00"/>
          </a:solidFill>
          <a:ln w="6350">
            <a:solidFill>
              <a:schemeClr val="tx1"/>
            </a:solidFill>
            <a:miter lim="800000"/>
            <a:headEnd/>
            <a:tailEnd/>
          </a:ln>
          <a:effectLst/>
        </p:spPr>
        <p:txBody>
          <a:bodyPr wrap="none" anchor="ctr"/>
          <a:lstStyle/>
          <a:p>
            <a:endParaRPr lang="en-US"/>
          </a:p>
        </p:txBody>
      </p:sp>
      <p:sp>
        <p:nvSpPr>
          <p:cNvPr id="1340440" name="Text Box 24"/>
          <p:cNvSpPr txBox="1">
            <a:spLocks noChangeArrowheads="1"/>
          </p:cNvSpPr>
          <p:nvPr/>
        </p:nvSpPr>
        <p:spPr bwMode="auto">
          <a:xfrm>
            <a:off x="5334000" y="2819400"/>
            <a:ext cx="3276600" cy="2281238"/>
          </a:xfrm>
          <a:prstGeom prst="rect">
            <a:avLst/>
          </a:prstGeom>
          <a:noFill/>
          <a:ln w="9525">
            <a:noFill/>
            <a:miter lim="800000"/>
            <a:headEnd/>
            <a:tailEnd/>
          </a:ln>
          <a:effectLst/>
        </p:spPr>
        <p:txBody>
          <a:bodyPr>
            <a:spAutoFit/>
          </a:bodyPr>
          <a:lstStyle/>
          <a:p>
            <a:pPr algn="l">
              <a:spcBef>
                <a:spcPct val="50000"/>
              </a:spcBef>
              <a:buFontTx/>
              <a:buNone/>
            </a:pPr>
            <a:r>
              <a:rPr lang="en-US" b="1">
                <a:solidFill>
                  <a:schemeClr val="bg1"/>
                </a:solidFill>
              </a:rPr>
              <a:t>Outcomes:</a:t>
            </a:r>
          </a:p>
          <a:p>
            <a:pPr algn="l">
              <a:spcBef>
                <a:spcPct val="50000"/>
              </a:spcBef>
              <a:buFontTx/>
              <a:buNone/>
            </a:pPr>
            <a:r>
              <a:rPr lang="en-US" sz="1400" b="1">
                <a:solidFill>
                  <a:schemeClr val="bg1"/>
                </a:solidFill>
              </a:rPr>
              <a:t>Modernization Blueprint</a:t>
            </a:r>
          </a:p>
          <a:p>
            <a:pPr algn="l">
              <a:spcBef>
                <a:spcPct val="50000"/>
              </a:spcBef>
              <a:buFontTx/>
              <a:buNone/>
            </a:pPr>
            <a:r>
              <a:rPr lang="en-US" sz="1400" b="1">
                <a:solidFill>
                  <a:schemeClr val="bg1"/>
                </a:solidFill>
              </a:rPr>
              <a:t>Near term $ savings on IT portfolios and business operations</a:t>
            </a:r>
          </a:p>
          <a:p>
            <a:pPr algn="l">
              <a:spcBef>
                <a:spcPct val="50000"/>
              </a:spcBef>
              <a:buFontTx/>
              <a:buNone/>
            </a:pPr>
            <a:r>
              <a:rPr lang="en-US" sz="1400" b="1">
                <a:solidFill>
                  <a:schemeClr val="bg1"/>
                </a:solidFill>
              </a:rPr>
              <a:t>Improved means for LOB prioritizations</a:t>
            </a:r>
          </a:p>
          <a:p>
            <a:pPr algn="l">
              <a:spcBef>
                <a:spcPct val="50000"/>
              </a:spcBef>
              <a:buFontTx/>
              <a:buNone/>
            </a:pPr>
            <a:r>
              <a:rPr lang="en-US" sz="1400" b="1">
                <a:solidFill>
                  <a:schemeClr val="bg1"/>
                </a:solidFill>
              </a:rPr>
              <a:t>Opportunities for organizational efficiencies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404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404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404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340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0429"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570" name="Rectangle 2"/>
          <p:cNvSpPr>
            <a:spLocks noGrp="1" noChangeArrowheads="1"/>
          </p:cNvSpPr>
          <p:nvPr>
            <p:ph type="ctrTitle"/>
          </p:nvPr>
        </p:nvSpPr>
        <p:spPr/>
        <p:txBody>
          <a:bodyPr/>
          <a:lstStyle/>
          <a:p>
            <a:r>
              <a:rPr lang="en-US"/>
              <a:t>OMB FEA OVERVIEW </a:t>
            </a:r>
          </a:p>
        </p:txBody>
      </p:sp>
      <p:sp>
        <p:nvSpPr>
          <p:cNvPr id="1389571" name="Rectangle 3"/>
          <p:cNvSpPr>
            <a:spLocks noGrp="1" noChangeArrowheads="1"/>
          </p:cNvSpPr>
          <p:nvPr>
            <p:ph type="subTitle" idx="1"/>
          </p:nvPr>
        </p:nvSpPr>
        <p:spPr>
          <a:xfrm>
            <a:off x="1800225" y="4438650"/>
            <a:ext cx="5629275" cy="914400"/>
          </a:xfrm>
        </p:spPr>
        <p:txBody>
          <a:bodyPr/>
          <a:lstStyle/>
          <a:p>
            <a:r>
              <a:rPr lang="en-US"/>
              <a:t>Colleen Coggins</a:t>
            </a:r>
          </a:p>
          <a:p>
            <a:r>
              <a:rPr lang="en-US"/>
              <a:t>Interior Business Architect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90594" name="Rectangle 2"/>
          <p:cNvSpPr>
            <a:spLocks noChangeArrowheads="1"/>
          </p:cNvSpPr>
          <p:nvPr/>
        </p:nvSpPr>
        <p:spPr bwMode="auto">
          <a:xfrm>
            <a:off x="830263" y="3121025"/>
            <a:ext cx="7534275" cy="842963"/>
          </a:xfrm>
          <a:prstGeom prst="rect">
            <a:avLst/>
          </a:prstGeom>
          <a:gradFill rotWithShape="0">
            <a:gsLst>
              <a:gs pos="0">
                <a:schemeClr val="bg2"/>
              </a:gs>
              <a:gs pos="100000">
                <a:schemeClr val="bg2">
                  <a:gamma/>
                  <a:tint val="0"/>
                  <a:invGamma/>
                </a:schemeClr>
              </a:gs>
            </a:gsLst>
            <a:lin ang="5400000" scaled="1"/>
          </a:gradFill>
          <a:ln w="9525">
            <a:noFill/>
            <a:miter lim="800000"/>
            <a:headEnd/>
            <a:tailEnd/>
          </a:ln>
          <a:effectLst/>
        </p:spPr>
        <p:txBody>
          <a:bodyPr wrap="none" anchor="ctr"/>
          <a:lstStyle/>
          <a:p>
            <a:endParaRPr lang="en-US"/>
          </a:p>
        </p:txBody>
      </p:sp>
      <p:sp>
        <p:nvSpPr>
          <p:cNvPr id="1390595" name="Rectangle 3"/>
          <p:cNvSpPr>
            <a:spLocks noChangeArrowheads="1"/>
          </p:cNvSpPr>
          <p:nvPr/>
        </p:nvSpPr>
        <p:spPr bwMode="auto">
          <a:xfrm>
            <a:off x="812800" y="4721225"/>
            <a:ext cx="7558088" cy="698500"/>
          </a:xfrm>
          <a:prstGeom prst="rect">
            <a:avLst/>
          </a:prstGeom>
          <a:gradFill rotWithShape="0">
            <a:gsLst>
              <a:gs pos="0">
                <a:schemeClr val="bg2"/>
              </a:gs>
              <a:gs pos="100000">
                <a:schemeClr val="bg2">
                  <a:gamma/>
                  <a:tint val="0"/>
                  <a:invGamma/>
                </a:schemeClr>
              </a:gs>
            </a:gsLst>
            <a:lin ang="5400000" scaled="1"/>
          </a:gradFill>
          <a:ln w="9525">
            <a:noFill/>
            <a:miter lim="800000"/>
            <a:headEnd/>
            <a:tailEnd/>
          </a:ln>
          <a:effectLst/>
        </p:spPr>
        <p:txBody>
          <a:bodyPr wrap="none" anchor="ctr"/>
          <a:lstStyle/>
          <a:p>
            <a:endParaRPr lang="en-US"/>
          </a:p>
        </p:txBody>
      </p:sp>
      <p:sp>
        <p:nvSpPr>
          <p:cNvPr id="1390596" name="Rectangle 4"/>
          <p:cNvSpPr>
            <a:spLocks noChangeArrowheads="1"/>
          </p:cNvSpPr>
          <p:nvPr/>
        </p:nvSpPr>
        <p:spPr bwMode="auto">
          <a:xfrm>
            <a:off x="830263" y="2105025"/>
            <a:ext cx="7534275" cy="1003300"/>
          </a:xfrm>
          <a:prstGeom prst="rect">
            <a:avLst/>
          </a:prstGeom>
          <a:gradFill rotWithShape="0">
            <a:gsLst>
              <a:gs pos="0">
                <a:schemeClr val="bg2"/>
              </a:gs>
              <a:gs pos="100000">
                <a:schemeClr val="bg2">
                  <a:gamma/>
                  <a:tint val="0"/>
                  <a:invGamma/>
                </a:schemeClr>
              </a:gs>
            </a:gsLst>
            <a:lin ang="5400000" scaled="1"/>
          </a:gradFill>
          <a:ln w="9525">
            <a:noFill/>
            <a:miter lim="800000"/>
            <a:headEnd/>
            <a:tailEnd/>
          </a:ln>
          <a:effectLst/>
        </p:spPr>
        <p:txBody>
          <a:bodyPr wrap="none" anchor="ctr"/>
          <a:lstStyle/>
          <a:p>
            <a:endParaRPr lang="en-US"/>
          </a:p>
        </p:txBody>
      </p:sp>
      <p:sp>
        <p:nvSpPr>
          <p:cNvPr id="1390597" name="Rectangle 5"/>
          <p:cNvSpPr>
            <a:spLocks noChangeArrowheads="1"/>
          </p:cNvSpPr>
          <p:nvPr/>
        </p:nvSpPr>
        <p:spPr bwMode="auto">
          <a:xfrm>
            <a:off x="830263" y="3938588"/>
            <a:ext cx="7534275" cy="769937"/>
          </a:xfrm>
          <a:prstGeom prst="rect">
            <a:avLst/>
          </a:prstGeom>
          <a:gradFill rotWithShape="0">
            <a:gsLst>
              <a:gs pos="0">
                <a:srgbClr val="9999FF"/>
              </a:gs>
              <a:gs pos="100000">
                <a:srgbClr val="9999FF">
                  <a:gamma/>
                  <a:tint val="0"/>
                  <a:invGamma/>
                </a:srgbClr>
              </a:gs>
            </a:gsLst>
            <a:lin ang="5400000" scaled="1"/>
          </a:gradFill>
          <a:ln w="9525">
            <a:noFill/>
            <a:miter lim="800000"/>
            <a:headEnd/>
            <a:tailEnd/>
          </a:ln>
          <a:effectLst/>
        </p:spPr>
        <p:txBody>
          <a:bodyPr wrap="none" anchor="ctr"/>
          <a:lstStyle/>
          <a:p>
            <a:endParaRPr lang="en-US"/>
          </a:p>
        </p:txBody>
      </p:sp>
      <p:sp>
        <p:nvSpPr>
          <p:cNvPr id="1390598" name="Rectangle 6"/>
          <p:cNvSpPr>
            <a:spLocks noChangeArrowheads="1"/>
          </p:cNvSpPr>
          <p:nvPr/>
        </p:nvSpPr>
        <p:spPr bwMode="auto">
          <a:xfrm>
            <a:off x="830263" y="5440363"/>
            <a:ext cx="7534275" cy="855662"/>
          </a:xfrm>
          <a:prstGeom prst="rect">
            <a:avLst/>
          </a:prstGeom>
          <a:gradFill rotWithShape="0">
            <a:gsLst>
              <a:gs pos="0">
                <a:schemeClr val="bg2"/>
              </a:gs>
              <a:gs pos="100000">
                <a:schemeClr val="bg2">
                  <a:gamma/>
                  <a:tint val="0"/>
                  <a:invGamma/>
                </a:schemeClr>
              </a:gs>
            </a:gsLst>
            <a:lin ang="5400000" scaled="1"/>
          </a:gradFill>
          <a:ln w="9525">
            <a:noFill/>
            <a:miter lim="800000"/>
            <a:headEnd/>
            <a:tailEnd/>
          </a:ln>
          <a:effectLst/>
        </p:spPr>
        <p:txBody>
          <a:bodyPr wrap="none" anchor="ctr"/>
          <a:lstStyle/>
          <a:p>
            <a:endParaRPr lang="en-US"/>
          </a:p>
        </p:txBody>
      </p:sp>
      <p:sp>
        <p:nvSpPr>
          <p:cNvPr id="1390599" name="Text Box 7"/>
          <p:cNvSpPr txBox="1">
            <a:spLocks noChangeArrowheads="1"/>
          </p:cNvSpPr>
          <p:nvPr/>
        </p:nvSpPr>
        <p:spPr bwMode="auto">
          <a:xfrm>
            <a:off x="2082800" y="3146425"/>
            <a:ext cx="3148013" cy="304800"/>
          </a:xfrm>
          <a:prstGeom prst="rect">
            <a:avLst/>
          </a:prstGeom>
          <a:noFill/>
          <a:ln w="9525">
            <a:noFill/>
            <a:miter lim="800000"/>
            <a:headEnd/>
            <a:tailEnd/>
          </a:ln>
          <a:effectLst/>
        </p:spPr>
        <p:txBody>
          <a:bodyPr wrap="none">
            <a:spAutoFit/>
            <a:flatTx/>
          </a:bodyPr>
          <a:lstStyle/>
          <a:p>
            <a:pPr algn="l">
              <a:buFontTx/>
              <a:buNone/>
            </a:pPr>
            <a:r>
              <a:rPr lang="en-US" sz="1400" b="1" u="sng">
                <a:solidFill>
                  <a:srgbClr val="000000"/>
                </a:solidFill>
                <a:latin typeface="Tahoma" pitchFamily="34" charset="0"/>
              </a:rPr>
              <a:t>Business Reference Model (BRM)</a:t>
            </a:r>
          </a:p>
        </p:txBody>
      </p:sp>
      <p:sp>
        <p:nvSpPr>
          <p:cNvPr id="1390600" name="Text Box 8"/>
          <p:cNvSpPr txBox="1">
            <a:spLocks noChangeArrowheads="1"/>
          </p:cNvSpPr>
          <p:nvPr/>
        </p:nvSpPr>
        <p:spPr bwMode="auto">
          <a:xfrm>
            <a:off x="2357438" y="3405188"/>
            <a:ext cx="2359025" cy="457200"/>
          </a:xfrm>
          <a:prstGeom prst="rect">
            <a:avLst/>
          </a:prstGeom>
          <a:noFill/>
          <a:ln w="9525">
            <a:noFill/>
            <a:miter lim="800000"/>
            <a:headEnd/>
            <a:tailEnd/>
          </a:ln>
          <a:effectLst/>
        </p:spPr>
        <p:txBody>
          <a:bodyPr wrap="none">
            <a:spAutoFit/>
            <a:flatTx/>
          </a:bodyPr>
          <a:lstStyle/>
          <a:p>
            <a:pPr algn="l">
              <a:buFontTx/>
              <a:buChar char="•"/>
            </a:pPr>
            <a:r>
              <a:rPr lang="en-US" sz="1200">
                <a:solidFill>
                  <a:srgbClr val="000000"/>
                </a:solidFill>
                <a:latin typeface="Tahoma" pitchFamily="34" charset="0"/>
              </a:rPr>
              <a:t> Lines of Business</a:t>
            </a:r>
          </a:p>
          <a:p>
            <a:pPr algn="l">
              <a:buFontTx/>
              <a:buChar char="•"/>
            </a:pPr>
            <a:r>
              <a:rPr lang="en-US" sz="1200">
                <a:solidFill>
                  <a:srgbClr val="000000"/>
                </a:solidFill>
                <a:latin typeface="Tahoma" pitchFamily="34" charset="0"/>
              </a:rPr>
              <a:t> Agencies, Customers, Partners</a:t>
            </a:r>
          </a:p>
        </p:txBody>
      </p:sp>
      <p:sp>
        <p:nvSpPr>
          <p:cNvPr id="1390601" name="Text Box 9"/>
          <p:cNvSpPr txBox="1">
            <a:spLocks noChangeArrowheads="1"/>
          </p:cNvSpPr>
          <p:nvPr/>
        </p:nvSpPr>
        <p:spPr bwMode="auto">
          <a:xfrm>
            <a:off x="2760663" y="3968750"/>
            <a:ext cx="4086225" cy="304800"/>
          </a:xfrm>
          <a:prstGeom prst="rect">
            <a:avLst/>
          </a:prstGeom>
          <a:noFill/>
          <a:ln w="9525">
            <a:noFill/>
            <a:miter lim="800000"/>
            <a:headEnd/>
            <a:tailEnd/>
          </a:ln>
          <a:effectLst/>
        </p:spPr>
        <p:txBody>
          <a:bodyPr wrap="none">
            <a:spAutoFit/>
            <a:flatTx/>
          </a:bodyPr>
          <a:lstStyle/>
          <a:p>
            <a:pPr algn="l">
              <a:buFontTx/>
              <a:buNone/>
            </a:pPr>
            <a:r>
              <a:rPr lang="en-US" sz="1400" b="1" u="sng">
                <a:solidFill>
                  <a:srgbClr val="000000"/>
                </a:solidFill>
                <a:latin typeface="Tahoma" pitchFamily="34" charset="0"/>
              </a:rPr>
              <a:t>Service Component Reference Model (SRM)</a:t>
            </a:r>
          </a:p>
        </p:txBody>
      </p:sp>
      <p:sp>
        <p:nvSpPr>
          <p:cNvPr id="1390602" name="Text Box 10"/>
          <p:cNvSpPr txBox="1">
            <a:spLocks noChangeArrowheads="1"/>
          </p:cNvSpPr>
          <p:nvPr/>
        </p:nvSpPr>
        <p:spPr bwMode="auto">
          <a:xfrm>
            <a:off x="3143250" y="4222750"/>
            <a:ext cx="2306638" cy="457200"/>
          </a:xfrm>
          <a:prstGeom prst="rect">
            <a:avLst/>
          </a:prstGeom>
          <a:noFill/>
          <a:ln w="9525">
            <a:noFill/>
            <a:miter lim="800000"/>
            <a:headEnd/>
            <a:tailEnd/>
          </a:ln>
          <a:effectLst/>
        </p:spPr>
        <p:txBody>
          <a:bodyPr wrap="none">
            <a:spAutoFit/>
            <a:flatTx/>
          </a:bodyPr>
          <a:lstStyle/>
          <a:p>
            <a:pPr algn="l">
              <a:buFontTx/>
              <a:buChar char="•"/>
            </a:pPr>
            <a:r>
              <a:rPr lang="en-US" sz="1200">
                <a:solidFill>
                  <a:srgbClr val="000000"/>
                </a:solidFill>
                <a:latin typeface="Tahoma" pitchFamily="34" charset="0"/>
              </a:rPr>
              <a:t> Capabilities and Functionality</a:t>
            </a:r>
          </a:p>
          <a:p>
            <a:pPr algn="l">
              <a:buFontTx/>
              <a:buChar char="•"/>
            </a:pPr>
            <a:r>
              <a:rPr lang="en-US" sz="1200">
                <a:solidFill>
                  <a:srgbClr val="000000"/>
                </a:solidFill>
                <a:latin typeface="Tahoma" pitchFamily="34" charset="0"/>
              </a:rPr>
              <a:t> Services and Access Channels</a:t>
            </a:r>
          </a:p>
        </p:txBody>
      </p:sp>
      <p:sp>
        <p:nvSpPr>
          <p:cNvPr id="1390603" name="Text Box 11"/>
          <p:cNvSpPr txBox="1">
            <a:spLocks noChangeArrowheads="1"/>
          </p:cNvSpPr>
          <p:nvPr/>
        </p:nvSpPr>
        <p:spPr bwMode="auto">
          <a:xfrm>
            <a:off x="3643313" y="5432425"/>
            <a:ext cx="3194050" cy="304800"/>
          </a:xfrm>
          <a:prstGeom prst="rect">
            <a:avLst/>
          </a:prstGeom>
          <a:noFill/>
          <a:ln w="9525">
            <a:noFill/>
            <a:miter lim="800000"/>
            <a:headEnd/>
            <a:tailEnd/>
          </a:ln>
          <a:effectLst/>
        </p:spPr>
        <p:txBody>
          <a:bodyPr wrap="none">
            <a:spAutoFit/>
            <a:flatTx/>
          </a:bodyPr>
          <a:lstStyle/>
          <a:p>
            <a:pPr algn="l">
              <a:buFontTx/>
              <a:buNone/>
            </a:pPr>
            <a:r>
              <a:rPr lang="en-US" sz="1400" b="1" u="sng">
                <a:solidFill>
                  <a:srgbClr val="000000"/>
                </a:solidFill>
                <a:latin typeface="Tahoma" pitchFamily="34" charset="0"/>
              </a:rPr>
              <a:t>Technical Reference Model (TRM)</a:t>
            </a:r>
          </a:p>
        </p:txBody>
      </p:sp>
      <p:sp>
        <p:nvSpPr>
          <p:cNvPr id="1390604" name="Text Box 12"/>
          <p:cNvSpPr txBox="1">
            <a:spLocks noChangeArrowheads="1"/>
          </p:cNvSpPr>
          <p:nvPr/>
        </p:nvSpPr>
        <p:spPr bwMode="auto">
          <a:xfrm>
            <a:off x="3941763" y="5686425"/>
            <a:ext cx="1046162" cy="457200"/>
          </a:xfrm>
          <a:prstGeom prst="rect">
            <a:avLst/>
          </a:prstGeom>
          <a:noFill/>
          <a:ln w="9525">
            <a:noFill/>
            <a:miter lim="800000"/>
            <a:headEnd/>
            <a:tailEnd/>
          </a:ln>
          <a:effectLst/>
        </p:spPr>
        <p:txBody>
          <a:bodyPr wrap="none">
            <a:spAutoFit/>
            <a:flatTx/>
          </a:bodyPr>
          <a:lstStyle/>
          <a:p>
            <a:pPr algn="l">
              <a:buFontTx/>
              <a:buChar char="•"/>
            </a:pPr>
            <a:r>
              <a:rPr lang="en-US" sz="1200">
                <a:solidFill>
                  <a:srgbClr val="000000"/>
                </a:solidFill>
                <a:latin typeface="Tahoma" pitchFamily="34" charset="0"/>
              </a:rPr>
              <a:t> IT Services</a:t>
            </a:r>
          </a:p>
          <a:p>
            <a:pPr algn="l">
              <a:buFontTx/>
              <a:buChar char="•"/>
            </a:pPr>
            <a:r>
              <a:rPr lang="en-US" sz="1200">
                <a:solidFill>
                  <a:srgbClr val="000000"/>
                </a:solidFill>
                <a:latin typeface="Tahoma" pitchFamily="34" charset="0"/>
              </a:rPr>
              <a:t> Standards</a:t>
            </a:r>
          </a:p>
        </p:txBody>
      </p:sp>
      <p:sp>
        <p:nvSpPr>
          <p:cNvPr id="1390605" name="Text Box 13"/>
          <p:cNvSpPr txBox="1">
            <a:spLocks noChangeArrowheads="1"/>
          </p:cNvSpPr>
          <p:nvPr/>
        </p:nvSpPr>
        <p:spPr bwMode="auto">
          <a:xfrm>
            <a:off x="3643313" y="4716463"/>
            <a:ext cx="2795587" cy="304800"/>
          </a:xfrm>
          <a:prstGeom prst="rect">
            <a:avLst/>
          </a:prstGeom>
          <a:noFill/>
          <a:ln w="9525">
            <a:noFill/>
            <a:miter lim="800000"/>
            <a:headEnd/>
            <a:tailEnd/>
          </a:ln>
          <a:effectLst/>
        </p:spPr>
        <p:txBody>
          <a:bodyPr wrap="none">
            <a:spAutoFit/>
            <a:flatTx/>
          </a:bodyPr>
          <a:lstStyle/>
          <a:p>
            <a:pPr algn="l">
              <a:buFontTx/>
              <a:buNone/>
            </a:pPr>
            <a:r>
              <a:rPr lang="en-US" sz="1400" b="1" u="sng">
                <a:solidFill>
                  <a:srgbClr val="000000"/>
                </a:solidFill>
                <a:latin typeface="Tahoma" pitchFamily="34" charset="0"/>
              </a:rPr>
              <a:t>Data Reference Model (DRM)</a:t>
            </a:r>
          </a:p>
        </p:txBody>
      </p:sp>
      <p:sp>
        <p:nvSpPr>
          <p:cNvPr id="1390606" name="Text Box 14"/>
          <p:cNvSpPr txBox="1">
            <a:spLocks noChangeArrowheads="1"/>
          </p:cNvSpPr>
          <p:nvPr/>
        </p:nvSpPr>
        <p:spPr bwMode="auto">
          <a:xfrm>
            <a:off x="3898900" y="4975225"/>
            <a:ext cx="2921000" cy="457200"/>
          </a:xfrm>
          <a:prstGeom prst="rect">
            <a:avLst/>
          </a:prstGeom>
          <a:noFill/>
          <a:ln w="9525">
            <a:noFill/>
            <a:miter lim="800000"/>
            <a:headEnd/>
            <a:tailEnd/>
          </a:ln>
          <a:effectLst/>
        </p:spPr>
        <p:txBody>
          <a:bodyPr wrap="none">
            <a:spAutoFit/>
            <a:flatTx/>
          </a:bodyPr>
          <a:lstStyle/>
          <a:p>
            <a:pPr algn="l">
              <a:buFontTx/>
              <a:buChar char="•"/>
            </a:pPr>
            <a:r>
              <a:rPr lang="en-US" sz="1200">
                <a:solidFill>
                  <a:srgbClr val="000000"/>
                </a:solidFill>
                <a:latin typeface="Tahoma" pitchFamily="34" charset="0"/>
              </a:rPr>
              <a:t> Business-focused data standardization </a:t>
            </a:r>
          </a:p>
          <a:p>
            <a:pPr algn="l">
              <a:buFontTx/>
              <a:buChar char="•"/>
            </a:pPr>
            <a:r>
              <a:rPr lang="en-US" sz="1200">
                <a:solidFill>
                  <a:srgbClr val="000000"/>
                </a:solidFill>
                <a:latin typeface="Tahoma" pitchFamily="34" charset="0"/>
              </a:rPr>
              <a:t> Cross-Agency Information exchanges</a:t>
            </a:r>
          </a:p>
        </p:txBody>
      </p:sp>
      <p:grpSp>
        <p:nvGrpSpPr>
          <p:cNvPr id="1390607" name="Group 15"/>
          <p:cNvGrpSpPr>
            <a:grpSpLocks/>
          </p:cNvGrpSpPr>
          <p:nvPr/>
        </p:nvGrpSpPr>
        <p:grpSpPr bwMode="auto">
          <a:xfrm>
            <a:off x="781050" y="2293938"/>
            <a:ext cx="439738" cy="3735387"/>
            <a:chOff x="572" y="1429"/>
            <a:chExt cx="277" cy="2353"/>
          </a:xfrm>
        </p:grpSpPr>
        <p:sp>
          <p:nvSpPr>
            <p:cNvPr id="1390608" name="AutoShape 16"/>
            <p:cNvSpPr>
              <a:spLocks noChangeArrowheads="1"/>
            </p:cNvSpPr>
            <p:nvPr/>
          </p:nvSpPr>
          <p:spPr bwMode="auto">
            <a:xfrm>
              <a:off x="572" y="1429"/>
              <a:ext cx="273" cy="2353"/>
            </a:xfrm>
            <a:prstGeom prst="downArrow">
              <a:avLst>
                <a:gd name="adj1" fmla="val 70250"/>
                <a:gd name="adj2" fmla="val 89024"/>
              </a:avLst>
            </a:prstGeom>
            <a:solidFill>
              <a:schemeClr val="bg1"/>
            </a:solidFill>
            <a:ln w="9525">
              <a:solidFill>
                <a:schemeClr val="tx1"/>
              </a:solidFill>
              <a:miter lim="800000"/>
              <a:headEnd/>
              <a:tailEnd/>
            </a:ln>
            <a:effectLst/>
          </p:spPr>
          <p:txBody>
            <a:bodyPr wrap="none" anchor="ctr"/>
            <a:lstStyle/>
            <a:p>
              <a:endParaRPr lang="en-US"/>
            </a:p>
          </p:txBody>
        </p:sp>
        <p:sp>
          <p:nvSpPr>
            <p:cNvPr id="1390609" name="Text Box 17"/>
            <p:cNvSpPr txBox="1">
              <a:spLocks noChangeArrowheads="1"/>
            </p:cNvSpPr>
            <p:nvPr/>
          </p:nvSpPr>
          <p:spPr bwMode="auto">
            <a:xfrm rot="5400000">
              <a:off x="-162" y="2428"/>
              <a:ext cx="1810" cy="212"/>
            </a:xfrm>
            <a:prstGeom prst="rect">
              <a:avLst/>
            </a:prstGeom>
            <a:noFill/>
            <a:ln w="9525">
              <a:noFill/>
              <a:miter lim="800000"/>
              <a:headEnd/>
              <a:tailEnd/>
            </a:ln>
            <a:effectLst/>
          </p:spPr>
          <p:txBody>
            <a:bodyPr wrap="none">
              <a:spAutoFit/>
            </a:bodyPr>
            <a:lstStyle/>
            <a:p>
              <a:pPr algn="l">
                <a:buFontTx/>
                <a:buNone/>
              </a:pPr>
              <a:r>
                <a:rPr lang="en-US" sz="1600" b="1">
                  <a:latin typeface="Tahoma" pitchFamily="34" charset="0"/>
                </a:rPr>
                <a:t>Business-Driven Approach</a:t>
              </a:r>
            </a:p>
          </p:txBody>
        </p:sp>
      </p:grpSp>
      <p:sp>
        <p:nvSpPr>
          <p:cNvPr id="1390610" name="Text Box 18"/>
          <p:cNvSpPr txBox="1">
            <a:spLocks noChangeArrowheads="1"/>
          </p:cNvSpPr>
          <p:nvPr/>
        </p:nvSpPr>
        <p:spPr bwMode="auto">
          <a:xfrm>
            <a:off x="1593850" y="2278063"/>
            <a:ext cx="3503613" cy="304800"/>
          </a:xfrm>
          <a:prstGeom prst="rect">
            <a:avLst/>
          </a:prstGeom>
          <a:noFill/>
          <a:ln w="9525">
            <a:noFill/>
            <a:miter lim="800000"/>
            <a:headEnd/>
            <a:tailEnd/>
          </a:ln>
          <a:effectLst/>
        </p:spPr>
        <p:txBody>
          <a:bodyPr wrap="none">
            <a:spAutoFit/>
            <a:flatTx/>
          </a:bodyPr>
          <a:lstStyle/>
          <a:p>
            <a:pPr algn="l">
              <a:buFontTx/>
              <a:buNone/>
            </a:pPr>
            <a:r>
              <a:rPr lang="en-US" sz="1400" b="1" u="sng">
                <a:solidFill>
                  <a:srgbClr val="000000"/>
                </a:solidFill>
                <a:latin typeface="Tahoma" pitchFamily="34" charset="0"/>
              </a:rPr>
              <a:t>Performance Reference Model (PRM)</a:t>
            </a:r>
          </a:p>
        </p:txBody>
      </p:sp>
      <p:sp>
        <p:nvSpPr>
          <p:cNvPr id="1390611" name="Text Box 19"/>
          <p:cNvSpPr txBox="1">
            <a:spLocks noChangeArrowheads="1"/>
          </p:cNvSpPr>
          <p:nvPr/>
        </p:nvSpPr>
        <p:spPr bwMode="auto">
          <a:xfrm>
            <a:off x="1854200" y="2574925"/>
            <a:ext cx="4410075" cy="457200"/>
          </a:xfrm>
          <a:prstGeom prst="rect">
            <a:avLst/>
          </a:prstGeom>
          <a:noFill/>
          <a:ln w="9525">
            <a:noFill/>
            <a:miter lim="800000"/>
            <a:headEnd/>
            <a:tailEnd/>
          </a:ln>
          <a:effectLst/>
        </p:spPr>
        <p:txBody>
          <a:bodyPr wrap="none">
            <a:spAutoFit/>
            <a:flatTx/>
          </a:bodyPr>
          <a:lstStyle/>
          <a:p>
            <a:pPr algn="l">
              <a:buFontTx/>
              <a:buChar char="•"/>
            </a:pPr>
            <a:r>
              <a:rPr lang="en-US" sz="1200">
                <a:solidFill>
                  <a:srgbClr val="000000"/>
                </a:solidFill>
                <a:latin typeface="Tahoma" pitchFamily="34" charset="0"/>
              </a:rPr>
              <a:t> Government-wide Performance Measures &amp; Outcomes</a:t>
            </a:r>
          </a:p>
          <a:p>
            <a:pPr algn="l">
              <a:buFontTx/>
              <a:buChar char="•"/>
            </a:pPr>
            <a:r>
              <a:rPr lang="en-US" sz="1200">
                <a:solidFill>
                  <a:srgbClr val="000000"/>
                </a:solidFill>
                <a:latin typeface="Tahoma" pitchFamily="34" charset="0"/>
              </a:rPr>
              <a:t> Line of Business-Specific Performance Measures &amp; Outcomes</a:t>
            </a:r>
          </a:p>
        </p:txBody>
      </p:sp>
      <p:sp>
        <p:nvSpPr>
          <p:cNvPr id="1390612" name="Rectangle 20"/>
          <p:cNvSpPr>
            <a:spLocks noGrp="1" noChangeArrowheads="1"/>
          </p:cNvSpPr>
          <p:nvPr>
            <p:ph type="title"/>
          </p:nvPr>
        </p:nvSpPr>
        <p:spPr>
          <a:xfrm>
            <a:off x="679450" y="652463"/>
            <a:ext cx="7899400" cy="711200"/>
          </a:xfrm>
          <a:noFill/>
          <a:ln/>
        </p:spPr>
        <p:txBody>
          <a:bodyPr/>
          <a:lstStyle/>
          <a:p>
            <a:r>
              <a:rPr lang="en-US" sz="2400"/>
              <a:t>Interior Enterprise Architecture – FEA Alignment</a:t>
            </a:r>
          </a:p>
        </p:txBody>
      </p:sp>
      <p:sp>
        <p:nvSpPr>
          <p:cNvPr id="1390613" name="Text Box 21"/>
          <p:cNvSpPr txBox="1">
            <a:spLocks noChangeArrowheads="1"/>
          </p:cNvSpPr>
          <p:nvPr/>
        </p:nvSpPr>
        <p:spPr bwMode="auto">
          <a:xfrm>
            <a:off x="2270125" y="1725613"/>
            <a:ext cx="4478338" cy="366712"/>
          </a:xfrm>
          <a:prstGeom prst="rect">
            <a:avLst/>
          </a:prstGeom>
          <a:solidFill>
            <a:schemeClr val="bg1"/>
          </a:solidFill>
          <a:ln w="9525">
            <a:noFill/>
            <a:miter lim="800000"/>
            <a:headEnd/>
            <a:tailEnd/>
          </a:ln>
          <a:effectLst/>
        </p:spPr>
        <p:txBody>
          <a:bodyPr wrap="none">
            <a:spAutoFit/>
          </a:bodyPr>
          <a:lstStyle/>
          <a:p>
            <a:pPr algn="l">
              <a:buFontTx/>
              <a:buNone/>
            </a:pPr>
            <a:r>
              <a:rPr lang="en-US" b="1">
                <a:latin typeface="Tahoma" pitchFamily="34" charset="0"/>
              </a:rPr>
              <a:t>Federal Enterprise Architecture (FEA)</a:t>
            </a:r>
          </a:p>
        </p:txBody>
      </p:sp>
      <p:sp>
        <p:nvSpPr>
          <p:cNvPr id="1390614" name="Line 22"/>
          <p:cNvSpPr>
            <a:spLocks noChangeShapeType="1"/>
          </p:cNvSpPr>
          <p:nvPr/>
        </p:nvSpPr>
        <p:spPr bwMode="auto">
          <a:xfrm>
            <a:off x="1485900" y="2460625"/>
            <a:ext cx="0" cy="1676400"/>
          </a:xfrm>
          <a:prstGeom prst="line">
            <a:avLst/>
          </a:prstGeom>
          <a:noFill/>
          <a:ln w="38100">
            <a:solidFill>
              <a:srgbClr val="000000"/>
            </a:solidFill>
            <a:round/>
            <a:headEnd type="oval" w="sm" len="sm"/>
            <a:tailEnd/>
          </a:ln>
          <a:effectLst/>
        </p:spPr>
        <p:txBody>
          <a:bodyPr wrap="none"/>
          <a:lstStyle/>
          <a:p>
            <a:endParaRPr lang="en-US"/>
          </a:p>
        </p:txBody>
      </p:sp>
      <p:sp>
        <p:nvSpPr>
          <p:cNvPr id="1390615" name="Line 23"/>
          <p:cNvSpPr>
            <a:spLocks noChangeShapeType="1"/>
          </p:cNvSpPr>
          <p:nvPr/>
        </p:nvSpPr>
        <p:spPr bwMode="auto">
          <a:xfrm>
            <a:off x="1473200" y="4137025"/>
            <a:ext cx="1143000" cy="0"/>
          </a:xfrm>
          <a:prstGeom prst="line">
            <a:avLst/>
          </a:prstGeom>
          <a:noFill/>
          <a:ln w="38100">
            <a:solidFill>
              <a:srgbClr val="000000"/>
            </a:solidFill>
            <a:round/>
            <a:headEnd/>
            <a:tailEnd type="triangle" w="med" len="med"/>
          </a:ln>
          <a:effectLst/>
        </p:spPr>
        <p:txBody>
          <a:bodyPr wrap="none"/>
          <a:lstStyle/>
          <a:p>
            <a:endParaRPr lang="en-US"/>
          </a:p>
        </p:txBody>
      </p:sp>
      <p:sp>
        <p:nvSpPr>
          <p:cNvPr id="1390616" name="Line 24"/>
          <p:cNvSpPr>
            <a:spLocks noChangeShapeType="1"/>
          </p:cNvSpPr>
          <p:nvPr/>
        </p:nvSpPr>
        <p:spPr bwMode="auto">
          <a:xfrm>
            <a:off x="1473200" y="3298825"/>
            <a:ext cx="533400" cy="0"/>
          </a:xfrm>
          <a:prstGeom prst="line">
            <a:avLst/>
          </a:prstGeom>
          <a:noFill/>
          <a:ln w="38100">
            <a:solidFill>
              <a:srgbClr val="000000"/>
            </a:solidFill>
            <a:round/>
            <a:headEnd/>
            <a:tailEnd type="triangle" w="med" len="med"/>
          </a:ln>
          <a:effectLst/>
        </p:spPr>
        <p:txBody>
          <a:bodyPr wrap="none"/>
          <a:lstStyle/>
          <a:p>
            <a:endParaRPr lang="en-US"/>
          </a:p>
        </p:txBody>
      </p:sp>
      <p:sp>
        <p:nvSpPr>
          <p:cNvPr id="1390617" name="Line 25"/>
          <p:cNvSpPr>
            <a:spLocks noChangeShapeType="1"/>
          </p:cNvSpPr>
          <p:nvPr/>
        </p:nvSpPr>
        <p:spPr bwMode="auto">
          <a:xfrm>
            <a:off x="2082800" y="4124325"/>
            <a:ext cx="0" cy="1481138"/>
          </a:xfrm>
          <a:prstGeom prst="line">
            <a:avLst/>
          </a:prstGeom>
          <a:noFill/>
          <a:ln w="38100">
            <a:solidFill>
              <a:srgbClr val="000000"/>
            </a:solidFill>
            <a:round/>
            <a:headEnd/>
            <a:tailEnd/>
          </a:ln>
          <a:effectLst/>
        </p:spPr>
        <p:txBody>
          <a:bodyPr wrap="none"/>
          <a:lstStyle/>
          <a:p>
            <a:endParaRPr lang="en-US"/>
          </a:p>
        </p:txBody>
      </p:sp>
      <p:sp>
        <p:nvSpPr>
          <p:cNvPr id="1390618" name="Line 26"/>
          <p:cNvSpPr>
            <a:spLocks noChangeShapeType="1"/>
          </p:cNvSpPr>
          <p:nvPr/>
        </p:nvSpPr>
        <p:spPr bwMode="auto">
          <a:xfrm>
            <a:off x="2082800" y="4886325"/>
            <a:ext cx="1447800" cy="0"/>
          </a:xfrm>
          <a:prstGeom prst="line">
            <a:avLst/>
          </a:prstGeom>
          <a:noFill/>
          <a:ln w="38100">
            <a:solidFill>
              <a:srgbClr val="000000"/>
            </a:solidFill>
            <a:round/>
            <a:headEnd/>
            <a:tailEnd type="triangle" w="med" len="med"/>
          </a:ln>
          <a:effectLst/>
        </p:spPr>
        <p:txBody>
          <a:bodyPr wrap="none"/>
          <a:lstStyle/>
          <a:p>
            <a:endParaRPr lang="en-US"/>
          </a:p>
        </p:txBody>
      </p:sp>
      <p:sp>
        <p:nvSpPr>
          <p:cNvPr id="1390619" name="Line 27"/>
          <p:cNvSpPr>
            <a:spLocks noChangeShapeType="1"/>
          </p:cNvSpPr>
          <p:nvPr/>
        </p:nvSpPr>
        <p:spPr bwMode="auto">
          <a:xfrm>
            <a:off x="2070100" y="5610225"/>
            <a:ext cx="1447800" cy="0"/>
          </a:xfrm>
          <a:prstGeom prst="line">
            <a:avLst/>
          </a:prstGeom>
          <a:noFill/>
          <a:ln w="38100">
            <a:solidFill>
              <a:srgbClr val="000000"/>
            </a:solidFill>
            <a:round/>
            <a:headEnd/>
            <a:tailEnd type="triangle" w="med" len="med"/>
          </a:ln>
          <a:effectLst/>
        </p:spPr>
        <p:txBody>
          <a:bodyPr wrap="none"/>
          <a:lstStyle/>
          <a:p>
            <a:endParaRPr lang="en-US"/>
          </a:p>
        </p:txBody>
      </p:sp>
      <p:grpSp>
        <p:nvGrpSpPr>
          <p:cNvPr id="1390620" name="Group 28"/>
          <p:cNvGrpSpPr>
            <a:grpSpLocks/>
          </p:cNvGrpSpPr>
          <p:nvPr/>
        </p:nvGrpSpPr>
        <p:grpSpPr bwMode="auto">
          <a:xfrm>
            <a:off x="7975600" y="2308225"/>
            <a:ext cx="381000" cy="3581400"/>
            <a:chOff x="4680" y="1414"/>
            <a:chExt cx="240" cy="2256"/>
          </a:xfrm>
        </p:grpSpPr>
        <p:sp>
          <p:nvSpPr>
            <p:cNvPr id="1390621" name="Rectangle 29"/>
            <p:cNvSpPr>
              <a:spLocks noChangeArrowheads="1"/>
            </p:cNvSpPr>
            <p:nvPr/>
          </p:nvSpPr>
          <p:spPr bwMode="auto">
            <a:xfrm>
              <a:off x="4680" y="1414"/>
              <a:ext cx="240" cy="2256"/>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1390622" name="Text Box 30"/>
            <p:cNvSpPr txBox="1">
              <a:spLocks noChangeArrowheads="1"/>
            </p:cNvSpPr>
            <p:nvPr/>
          </p:nvSpPr>
          <p:spPr bwMode="auto">
            <a:xfrm rot="5400000">
              <a:off x="3742" y="2433"/>
              <a:ext cx="2133" cy="212"/>
            </a:xfrm>
            <a:prstGeom prst="rect">
              <a:avLst/>
            </a:prstGeom>
            <a:noFill/>
            <a:ln w="9525">
              <a:noFill/>
              <a:miter lim="800000"/>
              <a:headEnd/>
              <a:tailEnd/>
            </a:ln>
            <a:effectLst/>
          </p:spPr>
          <p:txBody>
            <a:bodyPr wrap="none">
              <a:spAutoFit/>
            </a:bodyPr>
            <a:lstStyle/>
            <a:p>
              <a:pPr algn="l">
                <a:buFontTx/>
                <a:buNone/>
              </a:pPr>
              <a:r>
                <a:rPr lang="en-US" sz="1600" b="1">
                  <a:latin typeface="Tahoma" pitchFamily="34" charset="0"/>
                </a:rPr>
                <a:t>Component-Based Architecture</a:t>
              </a:r>
            </a:p>
          </p:txBody>
        </p:sp>
      </p:grpSp>
      <p:sp>
        <p:nvSpPr>
          <p:cNvPr id="1390623" name="Text Box 31"/>
          <p:cNvSpPr txBox="1">
            <a:spLocks noChangeArrowheads="1"/>
          </p:cNvSpPr>
          <p:nvPr/>
        </p:nvSpPr>
        <p:spPr bwMode="auto">
          <a:xfrm>
            <a:off x="5140325" y="3128963"/>
            <a:ext cx="184150" cy="290512"/>
          </a:xfrm>
          <a:prstGeom prst="rect">
            <a:avLst/>
          </a:prstGeom>
          <a:noFill/>
          <a:ln w="9525">
            <a:noFill/>
            <a:miter lim="800000"/>
            <a:headEnd/>
            <a:tailEnd/>
          </a:ln>
          <a:effectLst/>
        </p:spPr>
        <p:txBody>
          <a:bodyPr wrap="none">
            <a:spAutoFit/>
          </a:bodyPr>
          <a:lstStyle/>
          <a:p>
            <a:pPr algn="l">
              <a:buFontTx/>
              <a:buNone/>
            </a:pPr>
            <a:endParaRPr lang="en-US" sz="1300" i="1">
              <a:solidFill>
                <a:srgbClr val="003366"/>
              </a:solidFill>
              <a:latin typeface="Tahoma" pitchFamily="34" charset="0"/>
            </a:endParaRPr>
          </a:p>
        </p:txBody>
      </p:sp>
      <p:sp>
        <p:nvSpPr>
          <p:cNvPr id="1390624" name="Text Box 32"/>
          <p:cNvSpPr txBox="1">
            <a:spLocks noChangeArrowheads="1"/>
          </p:cNvSpPr>
          <p:nvPr/>
        </p:nvSpPr>
        <p:spPr bwMode="auto">
          <a:xfrm>
            <a:off x="166688" y="2339975"/>
            <a:ext cx="500062" cy="1739900"/>
          </a:xfrm>
          <a:prstGeom prst="rect">
            <a:avLst/>
          </a:prstGeom>
          <a:solidFill>
            <a:srgbClr val="CC3399"/>
          </a:solidFill>
          <a:ln w="6350">
            <a:noFill/>
            <a:miter lim="800000"/>
            <a:headEnd/>
            <a:tailEnd/>
          </a:ln>
          <a:effectLst/>
        </p:spPr>
        <p:txBody>
          <a:bodyPr>
            <a:spAutoFit/>
          </a:bodyPr>
          <a:lstStyle/>
          <a:p>
            <a:pPr>
              <a:spcBef>
                <a:spcPct val="50000"/>
              </a:spcBef>
            </a:pPr>
            <a:r>
              <a:rPr lang="en-US" sz="3600">
                <a:solidFill>
                  <a:schemeClr val="bg1"/>
                </a:solidFill>
              </a:rPr>
              <a:t>IBA</a:t>
            </a:r>
          </a:p>
        </p:txBody>
      </p:sp>
      <p:sp>
        <p:nvSpPr>
          <p:cNvPr id="1390625" name="Text Box 33"/>
          <p:cNvSpPr txBox="1">
            <a:spLocks noChangeArrowheads="1"/>
          </p:cNvSpPr>
          <p:nvPr/>
        </p:nvSpPr>
        <p:spPr bwMode="auto">
          <a:xfrm>
            <a:off x="8478838" y="4333875"/>
            <a:ext cx="498475" cy="1739900"/>
          </a:xfrm>
          <a:prstGeom prst="rect">
            <a:avLst/>
          </a:prstGeom>
          <a:solidFill>
            <a:srgbClr val="CC3399"/>
          </a:solidFill>
          <a:ln w="6350">
            <a:noFill/>
            <a:miter lim="800000"/>
            <a:headEnd/>
            <a:tailEnd/>
          </a:ln>
          <a:effectLst/>
        </p:spPr>
        <p:txBody>
          <a:bodyPr>
            <a:spAutoFit/>
          </a:bodyPr>
          <a:lstStyle/>
          <a:p>
            <a:pPr>
              <a:spcBef>
                <a:spcPct val="50000"/>
              </a:spcBef>
            </a:pPr>
            <a:r>
              <a:rPr lang="en-US" sz="3600">
                <a:solidFill>
                  <a:schemeClr val="bg1"/>
                </a:solidFill>
              </a:rPr>
              <a:t>ITA</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93666" name="Rectangle 2"/>
          <p:cNvSpPr>
            <a:spLocks noGrp="1" noChangeArrowheads="1"/>
          </p:cNvSpPr>
          <p:nvPr>
            <p:ph type="title"/>
          </p:nvPr>
        </p:nvSpPr>
        <p:spPr/>
        <p:txBody>
          <a:bodyPr/>
          <a:lstStyle/>
          <a:p>
            <a:r>
              <a:rPr lang="en-US" sz="1500" b="0"/>
              <a:t>The PRM’s six Measurement Areas are designed to capture the relationship between inputs, outputs, and outcomes.  </a:t>
            </a:r>
          </a:p>
        </p:txBody>
      </p:sp>
      <p:sp>
        <p:nvSpPr>
          <p:cNvPr id="1393667" name="Rectangle 3"/>
          <p:cNvSpPr>
            <a:spLocks noChangeArrowheads="1"/>
          </p:cNvSpPr>
          <p:nvPr/>
        </p:nvSpPr>
        <p:spPr bwMode="auto">
          <a:xfrm>
            <a:off x="6437313" y="1447800"/>
            <a:ext cx="1903412" cy="579438"/>
          </a:xfrm>
          <a:prstGeom prst="rect">
            <a:avLst/>
          </a:prstGeom>
          <a:solidFill>
            <a:srgbClr val="DDDDDD"/>
          </a:solidFill>
          <a:ln w="9525">
            <a:solidFill>
              <a:schemeClr val="tx1"/>
            </a:solidFill>
            <a:miter lim="800000"/>
            <a:headEnd/>
            <a:tailEnd/>
          </a:ln>
          <a:effectLst/>
        </p:spPr>
        <p:txBody>
          <a:bodyPr wrap="none" anchor="ctr"/>
          <a:lstStyle/>
          <a:p>
            <a:endParaRPr lang="en-US"/>
          </a:p>
        </p:txBody>
      </p:sp>
      <p:pic>
        <p:nvPicPr>
          <p:cNvPr id="1393668" name="Picture 4"/>
          <p:cNvPicPr>
            <a:picLocks noChangeAspect="1" noChangeArrowheads="1"/>
          </p:cNvPicPr>
          <p:nvPr/>
        </p:nvPicPr>
        <p:blipFill>
          <a:blip r:embed="rId3" cstate="print"/>
          <a:srcRect/>
          <a:stretch>
            <a:fillRect/>
          </a:stretch>
        </p:blipFill>
        <p:spPr bwMode="auto">
          <a:xfrm>
            <a:off x="6483350" y="1473200"/>
            <a:ext cx="1825625" cy="862013"/>
          </a:xfrm>
          <a:prstGeom prst="rect">
            <a:avLst/>
          </a:prstGeom>
          <a:noFill/>
          <a:ln w="9525">
            <a:noFill/>
            <a:miter lim="800000"/>
            <a:headEnd/>
            <a:tailEnd/>
          </a:ln>
          <a:effectLst/>
        </p:spPr>
      </p:pic>
      <p:grpSp>
        <p:nvGrpSpPr>
          <p:cNvPr id="1393673" name="Group 9"/>
          <p:cNvGrpSpPr>
            <a:grpSpLocks/>
          </p:cNvGrpSpPr>
          <p:nvPr/>
        </p:nvGrpSpPr>
        <p:grpSpPr bwMode="auto">
          <a:xfrm>
            <a:off x="1174750" y="3322638"/>
            <a:ext cx="3743325" cy="1654175"/>
            <a:chOff x="740" y="2093"/>
            <a:chExt cx="2358" cy="1042"/>
          </a:xfrm>
        </p:grpSpPr>
        <p:sp>
          <p:nvSpPr>
            <p:cNvPr id="1393670" name="Rectangle 6"/>
            <p:cNvSpPr>
              <a:spLocks noChangeArrowheads="1"/>
            </p:cNvSpPr>
            <p:nvPr/>
          </p:nvSpPr>
          <p:spPr bwMode="auto">
            <a:xfrm>
              <a:off x="740" y="2093"/>
              <a:ext cx="2358" cy="1042"/>
            </a:xfrm>
            <a:prstGeom prst="rect">
              <a:avLst/>
            </a:prstGeom>
            <a:noFill/>
            <a:ln w="9525">
              <a:noFill/>
              <a:miter lim="800000"/>
              <a:headEnd/>
              <a:tailEnd/>
            </a:ln>
          </p:spPr>
          <p:txBody>
            <a:bodyPr/>
            <a:lstStyle/>
            <a:p>
              <a:endParaRPr lang="en-US"/>
            </a:p>
          </p:txBody>
        </p:sp>
        <p:sp>
          <p:nvSpPr>
            <p:cNvPr id="1393671" name="Freeform 7"/>
            <p:cNvSpPr>
              <a:spLocks/>
            </p:cNvSpPr>
            <p:nvPr/>
          </p:nvSpPr>
          <p:spPr bwMode="auto">
            <a:xfrm>
              <a:off x="740" y="2093"/>
              <a:ext cx="2353" cy="1037"/>
            </a:xfrm>
            <a:custGeom>
              <a:avLst/>
              <a:gdLst/>
              <a:ahLst/>
              <a:cxnLst>
                <a:cxn ang="0">
                  <a:pos x="0" y="1037"/>
                </a:cxn>
                <a:cxn ang="0">
                  <a:pos x="601" y="0"/>
                </a:cxn>
                <a:cxn ang="0">
                  <a:pos x="1752" y="0"/>
                </a:cxn>
                <a:cxn ang="0">
                  <a:pos x="2353" y="1037"/>
                </a:cxn>
                <a:cxn ang="0">
                  <a:pos x="0" y="1037"/>
                </a:cxn>
              </a:cxnLst>
              <a:rect l="0" t="0" r="r" b="b"/>
              <a:pathLst>
                <a:path w="2353" h="1037">
                  <a:moveTo>
                    <a:pt x="0" y="1037"/>
                  </a:moveTo>
                  <a:lnTo>
                    <a:pt x="601" y="0"/>
                  </a:lnTo>
                  <a:lnTo>
                    <a:pt x="1752" y="0"/>
                  </a:lnTo>
                  <a:lnTo>
                    <a:pt x="2353" y="1037"/>
                  </a:lnTo>
                  <a:lnTo>
                    <a:pt x="0" y="1037"/>
                  </a:lnTo>
                  <a:close/>
                </a:path>
              </a:pathLst>
            </a:custGeom>
            <a:noFill/>
            <a:ln w="9525">
              <a:noFill/>
              <a:round/>
              <a:headEnd/>
              <a:tailEnd/>
            </a:ln>
          </p:spPr>
          <p:txBody>
            <a:bodyPr/>
            <a:lstStyle/>
            <a:p>
              <a:endParaRPr lang="en-US"/>
            </a:p>
          </p:txBody>
        </p:sp>
        <p:sp>
          <p:nvSpPr>
            <p:cNvPr id="1393672" name="Rectangle 8"/>
            <p:cNvSpPr>
              <a:spLocks noChangeArrowheads="1"/>
            </p:cNvSpPr>
            <p:nvPr/>
          </p:nvSpPr>
          <p:spPr bwMode="auto">
            <a:xfrm>
              <a:off x="740" y="2093"/>
              <a:ext cx="2358" cy="1042"/>
            </a:xfrm>
            <a:prstGeom prst="rect">
              <a:avLst/>
            </a:prstGeom>
            <a:noFill/>
            <a:ln w="9525">
              <a:noFill/>
              <a:miter lim="800000"/>
              <a:headEnd/>
              <a:tailEnd/>
            </a:ln>
          </p:spPr>
          <p:txBody>
            <a:bodyPr/>
            <a:lstStyle/>
            <a:p>
              <a:endParaRPr lang="en-US"/>
            </a:p>
          </p:txBody>
        </p:sp>
      </p:grpSp>
      <p:sp>
        <p:nvSpPr>
          <p:cNvPr id="1393708" name="Rectangle 44"/>
          <p:cNvSpPr>
            <a:spLocks noChangeArrowheads="1"/>
          </p:cNvSpPr>
          <p:nvPr/>
        </p:nvSpPr>
        <p:spPr bwMode="auto">
          <a:xfrm>
            <a:off x="4383088" y="2401888"/>
            <a:ext cx="2830512" cy="830262"/>
          </a:xfrm>
          <a:prstGeom prst="rect">
            <a:avLst/>
          </a:prstGeom>
          <a:noFill/>
          <a:ln w="9525">
            <a:noFill/>
            <a:miter lim="800000"/>
            <a:headEnd/>
            <a:tailEnd/>
          </a:ln>
        </p:spPr>
        <p:txBody>
          <a:bodyPr/>
          <a:lstStyle/>
          <a:p>
            <a:endParaRPr lang="en-US"/>
          </a:p>
        </p:txBody>
      </p:sp>
      <p:sp>
        <p:nvSpPr>
          <p:cNvPr id="1393709" name="Rectangle 45"/>
          <p:cNvSpPr>
            <a:spLocks noChangeArrowheads="1"/>
          </p:cNvSpPr>
          <p:nvPr/>
        </p:nvSpPr>
        <p:spPr bwMode="auto">
          <a:xfrm>
            <a:off x="4498975" y="2433638"/>
            <a:ext cx="2328863" cy="188912"/>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OUTCOMES:  Mission and business</a:t>
            </a:r>
            <a:endParaRPr lang="en-US"/>
          </a:p>
        </p:txBody>
      </p:sp>
      <p:sp>
        <p:nvSpPr>
          <p:cNvPr id="1393710" name="Rectangle 46"/>
          <p:cNvSpPr>
            <a:spLocks noChangeArrowheads="1"/>
          </p:cNvSpPr>
          <p:nvPr/>
        </p:nvSpPr>
        <p:spPr bwMode="auto">
          <a:xfrm>
            <a:off x="6629400" y="2433638"/>
            <a:ext cx="115888" cy="188912"/>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a:t>
            </a:r>
            <a:endParaRPr lang="en-US"/>
          </a:p>
        </p:txBody>
      </p:sp>
      <p:sp>
        <p:nvSpPr>
          <p:cNvPr id="1393711" name="Rectangle 47"/>
          <p:cNvSpPr>
            <a:spLocks noChangeArrowheads="1"/>
          </p:cNvSpPr>
          <p:nvPr/>
        </p:nvSpPr>
        <p:spPr bwMode="auto">
          <a:xfrm>
            <a:off x="6670675" y="2433638"/>
            <a:ext cx="552450" cy="188912"/>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critical </a:t>
            </a:r>
            <a:endParaRPr lang="en-US"/>
          </a:p>
        </p:txBody>
      </p:sp>
      <p:sp>
        <p:nvSpPr>
          <p:cNvPr id="1393712" name="Rectangle 48"/>
          <p:cNvSpPr>
            <a:spLocks noChangeArrowheads="1"/>
          </p:cNvSpPr>
          <p:nvPr/>
        </p:nvSpPr>
        <p:spPr bwMode="auto">
          <a:xfrm>
            <a:off x="4522788" y="2590800"/>
            <a:ext cx="2806700"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results aligned with Levels 1 and 3 of the </a:t>
            </a:r>
            <a:endParaRPr lang="en-US"/>
          </a:p>
        </p:txBody>
      </p:sp>
      <p:sp>
        <p:nvSpPr>
          <p:cNvPr id="1393713" name="Rectangle 49"/>
          <p:cNvSpPr>
            <a:spLocks noChangeArrowheads="1"/>
          </p:cNvSpPr>
          <p:nvPr/>
        </p:nvSpPr>
        <p:spPr bwMode="auto">
          <a:xfrm>
            <a:off x="4514850" y="2746375"/>
            <a:ext cx="2830513"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BRM.  Results measured from a customer </a:t>
            </a:r>
            <a:endParaRPr lang="en-US"/>
          </a:p>
        </p:txBody>
      </p:sp>
      <p:sp>
        <p:nvSpPr>
          <p:cNvPr id="1393714" name="Rectangle 50"/>
          <p:cNvSpPr>
            <a:spLocks noChangeArrowheads="1"/>
          </p:cNvSpPr>
          <p:nvPr/>
        </p:nvSpPr>
        <p:spPr bwMode="auto">
          <a:xfrm>
            <a:off x="5403850" y="2911475"/>
            <a:ext cx="904875"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perspective.</a:t>
            </a:r>
            <a:endParaRPr lang="en-US"/>
          </a:p>
        </p:txBody>
      </p:sp>
      <p:sp>
        <p:nvSpPr>
          <p:cNvPr id="1393715" name="Rectangle 51"/>
          <p:cNvSpPr>
            <a:spLocks noChangeArrowheads="1"/>
          </p:cNvSpPr>
          <p:nvPr/>
        </p:nvSpPr>
        <p:spPr bwMode="auto">
          <a:xfrm>
            <a:off x="4003675" y="3773488"/>
            <a:ext cx="2978150" cy="896937"/>
          </a:xfrm>
          <a:prstGeom prst="rect">
            <a:avLst/>
          </a:prstGeom>
          <a:noFill/>
          <a:ln w="9525">
            <a:noFill/>
            <a:miter lim="800000"/>
            <a:headEnd/>
            <a:tailEnd/>
          </a:ln>
        </p:spPr>
        <p:txBody>
          <a:bodyPr/>
          <a:lstStyle/>
          <a:p>
            <a:endParaRPr lang="en-US"/>
          </a:p>
        </p:txBody>
      </p:sp>
      <p:sp>
        <p:nvSpPr>
          <p:cNvPr id="1393716" name="Rectangle 52"/>
          <p:cNvSpPr>
            <a:spLocks noChangeArrowheads="1"/>
          </p:cNvSpPr>
          <p:nvPr/>
        </p:nvSpPr>
        <p:spPr bwMode="auto">
          <a:xfrm>
            <a:off x="4860925" y="3775075"/>
            <a:ext cx="2393950"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OUTPUTS:  The direct effects of day</a:t>
            </a:r>
            <a:endParaRPr lang="en-US"/>
          </a:p>
        </p:txBody>
      </p:sp>
      <p:sp>
        <p:nvSpPr>
          <p:cNvPr id="1393717" name="Rectangle 53"/>
          <p:cNvSpPr>
            <a:spLocks noChangeArrowheads="1"/>
          </p:cNvSpPr>
          <p:nvPr/>
        </p:nvSpPr>
        <p:spPr bwMode="auto">
          <a:xfrm>
            <a:off x="7065963" y="3775075"/>
            <a:ext cx="115887"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a:t>
            </a:r>
            <a:endParaRPr lang="en-US"/>
          </a:p>
        </p:txBody>
      </p:sp>
      <p:sp>
        <p:nvSpPr>
          <p:cNvPr id="1393718" name="Rectangle 54"/>
          <p:cNvSpPr>
            <a:spLocks noChangeArrowheads="1"/>
          </p:cNvSpPr>
          <p:nvPr/>
        </p:nvSpPr>
        <p:spPr bwMode="auto">
          <a:xfrm>
            <a:off x="7107238" y="3775075"/>
            <a:ext cx="206375"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to</a:t>
            </a:r>
            <a:endParaRPr lang="en-US"/>
          </a:p>
        </p:txBody>
      </p:sp>
      <p:sp>
        <p:nvSpPr>
          <p:cNvPr id="1393719" name="Rectangle 55"/>
          <p:cNvSpPr>
            <a:spLocks noChangeArrowheads="1"/>
          </p:cNvSpPr>
          <p:nvPr/>
        </p:nvSpPr>
        <p:spPr bwMode="auto">
          <a:xfrm>
            <a:off x="7246938" y="3775075"/>
            <a:ext cx="115887"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a:t>
            </a:r>
            <a:endParaRPr lang="en-US"/>
          </a:p>
        </p:txBody>
      </p:sp>
      <p:sp>
        <p:nvSpPr>
          <p:cNvPr id="1393720" name="Rectangle 56"/>
          <p:cNvSpPr>
            <a:spLocks noChangeArrowheads="1"/>
          </p:cNvSpPr>
          <p:nvPr/>
        </p:nvSpPr>
        <p:spPr bwMode="auto">
          <a:xfrm>
            <a:off x="7288213" y="3775075"/>
            <a:ext cx="371475"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day </a:t>
            </a:r>
            <a:endParaRPr lang="en-US"/>
          </a:p>
        </p:txBody>
      </p:sp>
      <p:sp>
        <p:nvSpPr>
          <p:cNvPr id="1393721" name="Rectangle 57"/>
          <p:cNvSpPr>
            <a:spLocks noChangeArrowheads="1"/>
          </p:cNvSpPr>
          <p:nvPr/>
        </p:nvSpPr>
        <p:spPr bwMode="auto">
          <a:xfrm>
            <a:off x="4827588" y="3932238"/>
            <a:ext cx="3019425" cy="188912"/>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activities and broader processes measured </a:t>
            </a:r>
            <a:endParaRPr lang="en-US"/>
          </a:p>
        </p:txBody>
      </p:sp>
      <p:sp>
        <p:nvSpPr>
          <p:cNvPr id="1393722" name="Rectangle 58"/>
          <p:cNvSpPr>
            <a:spLocks noChangeArrowheads="1"/>
          </p:cNvSpPr>
          <p:nvPr/>
        </p:nvSpPr>
        <p:spPr bwMode="auto">
          <a:xfrm>
            <a:off x="4918075" y="4097338"/>
            <a:ext cx="2814638" cy="188912"/>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as driven by desired outcomes.  Aligned </a:t>
            </a:r>
            <a:endParaRPr lang="en-US"/>
          </a:p>
        </p:txBody>
      </p:sp>
      <p:sp>
        <p:nvSpPr>
          <p:cNvPr id="1393723" name="Rectangle 59"/>
          <p:cNvSpPr>
            <a:spLocks noChangeArrowheads="1"/>
          </p:cNvSpPr>
          <p:nvPr/>
        </p:nvSpPr>
        <p:spPr bwMode="auto">
          <a:xfrm>
            <a:off x="5453063" y="4252913"/>
            <a:ext cx="1662112" cy="188912"/>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with Level 2 of the BRM.</a:t>
            </a:r>
            <a:endParaRPr lang="en-US"/>
          </a:p>
        </p:txBody>
      </p:sp>
      <p:sp>
        <p:nvSpPr>
          <p:cNvPr id="1393724" name="Rectangle 60"/>
          <p:cNvSpPr>
            <a:spLocks noChangeArrowheads="1"/>
          </p:cNvSpPr>
          <p:nvPr/>
        </p:nvSpPr>
        <p:spPr bwMode="auto">
          <a:xfrm>
            <a:off x="5305425" y="5167313"/>
            <a:ext cx="2698750" cy="592137"/>
          </a:xfrm>
          <a:prstGeom prst="rect">
            <a:avLst/>
          </a:prstGeom>
          <a:noFill/>
          <a:ln w="9525">
            <a:noFill/>
            <a:miter lim="800000"/>
            <a:headEnd/>
            <a:tailEnd/>
          </a:ln>
        </p:spPr>
        <p:txBody>
          <a:bodyPr/>
          <a:lstStyle/>
          <a:p>
            <a:endParaRPr lang="en-US"/>
          </a:p>
        </p:txBody>
      </p:sp>
      <p:sp>
        <p:nvSpPr>
          <p:cNvPr id="1393725" name="Rectangle 61"/>
          <p:cNvSpPr>
            <a:spLocks noChangeArrowheads="1"/>
          </p:cNvSpPr>
          <p:nvPr/>
        </p:nvSpPr>
        <p:spPr bwMode="auto">
          <a:xfrm>
            <a:off x="5649913" y="5199063"/>
            <a:ext cx="2246312" cy="188912"/>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INPUTS:  Key enablers measured </a:t>
            </a:r>
            <a:endParaRPr lang="en-US"/>
          </a:p>
        </p:txBody>
      </p:sp>
      <p:sp>
        <p:nvSpPr>
          <p:cNvPr id="1393726" name="Rectangle 62"/>
          <p:cNvSpPr>
            <a:spLocks noChangeArrowheads="1"/>
          </p:cNvSpPr>
          <p:nvPr/>
        </p:nvSpPr>
        <p:spPr bwMode="auto">
          <a:xfrm>
            <a:off x="5453063" y="5356225"/>
            <a:ext cx="2535237"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through their contribution to outputs </a:t>
            </a:r>
            <a:endParaRPr lang="en-US"/>
          </a:p>
        </p:txBody>
      </p:sp>
      <p:sp>
        <p:nvSpPr>
          <p:cNvPr id="1393727" name="Rectangle 63"/>
          <p:cNvSpPr>
            <a:spLocks noChangeArrowheads="1"/>
          </p:cNvSpPr>
          <p:nvPr/>
        </p:nvSpPr>
        <p:spPr bwMode="auto">
          <a:xfrm>
            <a:off x="7797800" y="5356225"/>
            <a:ext cx="131763"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a:t>
            </a:r>
            <a:endParaRPr lang="en-US"/>
          </a:p>
        </p:txBody>
      </p:sp>
      <p:sp>
        <p:nvSpPr>
          <p:cNvPr id="1393728" name="Rectangle 64"/>
          <p:cNvSpPr>
            <a:spLocks noChangeArrowheads="1"/>
          </p:cNvSpPr>
          <p:nvPr/>
        </p:nvSpPr>
        <p:spPr bwMode="auto">
          <a:xfrm>
            <a:off x="5773738" y="5511800"/>
            <a:ext cx="1951037" cy="188913"/>
          </a:xfrm>
          <a:prstGeom prst="rect">
            <a:avLst/>
          </a:prstGeom>
          <a:noFill/>
          <a:ln w="9525">
            <a:noFill/>
            <a:miter lim="800000"/>
            <a:headEnd/>
            <a:tailEnd/>
          </a:ln>
        </p:spPr>
        <p:txBody>
          <a:bodyPr wrap="none" lIns="0" tIns="0" rIns="0" bIns="0">
            <a:spAutoFit/>
          </a:bodyPr>
          <a:lstStyle/>
          <a:p>
            <a:r>
              <a:rPr lang="en-US" sz="1000">
                <a:solidFill>
                  <a:srgbClr val="000000"/>
                </a:solidFill>
                <a:latin typeface="Century Gothic" pitchFamily="34" charset="0"/>
              </a:rPr>
              <a:t>and by extension outcomes</a:t>
            </a:r>
            <a:endParaRPr lang="en-US"/>
          </a:p>
        </p:txBody>
      </p:sp>
      <p:grpSp>
        <p:nvGrpSpPr>
          <p:cNvPr id="1393751" name="Group 87"/>
          <p:cNvGrpSpPr>
            <a:grpSpLocks/>
          </p:cNvGrpSpPr>
          <p:nvPr/>
        </p:nvGrpSpPr>
        <p:grpSpPr bwMode="auto">
          <a:xfrm>
            <a:off x="4144963" y="3521075"/>
            <a:ext cx="3900487" cy="15875"/>
            <a:chOff x="2611" y="2218"/>
            <a:chExt cx="2457" cy="10"/>
          </a:xfrm>
        </p:grpSpPr>
        <p:sp>
          <p:nvSpPr>
            <p:cNvPr id="1393729" name="Rectangle 65"/>
            <p:cNvSpPr>
              <a:spLocks noChangeArrowheads="1"/>
            </p:cNvSpPr>
            <p:nvPr/>
          </p:nvSpPr>
          <p:spPr bwMode="auto">
            <a:xfrm>
              <a:off x="2611" y="2218"/>
              <a:ext cx="83" cy="10"/>
            </a:xfrm>
            <a:prstGeom prst="rect">
              <a:avLst/>
            </a:prstGeom>
            <a:solidFill>
              <a:srgbClr val="000000"/>
            </a:solidFill>
            <a:ln w="9525">
              <a:noFill/>
              <a:miter lim="800000"/>
              <a:headEnd/>
              <a:tailEnd/>
            </a:ln>
          </p:spPr>
          <p:txBody>
            <a:bodyPr/>
            <a:lstStyle/>
            <a:p>
              <a:endParaRPr lang="en-US"/>
            </a:p>
          </p:txBody>
        </p:sp>
        <p:sp>
          <p:nvSpPr>
            <p:cNvPr id="1393730" name="Rectangle 66"/>
            <p:cNvSpPr>
              <a:spLocks noChangeArrowheads="1"/>
            </p:cNvSpPr>
            <p:nvPr/>
          </p:nvSpPr>
          <p:spPr bwMode="auto">
            <a:xfrm>
              <a:off x="2725" y="2218"/>
              <a:ext cx="83" cy="10"/>
            </a:xfrm>
            <a:prstGeom prst="rect">
              <a:avLst/>
            </a:prstGeom>
            <a:solidFill>
              <a:srgbClr val="000000"/>
            </a:solidFill>
            <a:ln w="9525">
              <a:noFill/>
              <a:miter lim="800000"/>
              <a:headEnd/>
              <a:tailEnd/>
            </a:ln>
          </p:spPr>
          <p:txBody>
            <a:bodyPr/>
            <a:lstStyle/>
            <a:p>
              <a:endParaRPr lang="en-US"/>
            </a:p>
          </p:txBody>
        </p:sp>
        <p:sp>
          <p:nvSpPr>
            <p:cNvPr id="1393731" name="Rectangle 67"/>
            <p:cNvSpPr>
              <a:spLocks noChangeArrowheads="1"/>
            </p:cNvSpPr>
            <p:nvPr/>
          </p:nvSpPr>
          <p:spPr bwMode="auto">
            <a:xfrm>
              <a:off x="2839" y="2218"/>
              <a:ext cx="83" cy="10"/>
            </a:xfrm>
            <a:prstGeom prst="rect">
              <a:avLst/>
            </a:prstGeom>
            <a:solidFill>
              <a:srgbClr val="000000"/>
            </a:solidFill>
            <a:ln w="9525">
              <a:noFill/>
              <a:miter lim="800000"/>
              <a:headEnd/>
              <a:tailEnd/>
            </a:ln>
          </p:spPr>
          <p:txBody>
            <a:bodyPr/>
            <a:lstStyle/>
            <a:p>
              <a:endParaRPr lang="en-US"/>
            </a:p>
          </p:txBody>
        </p:sp>
        <p:sp>
          <p:nvSpPr>
            <p:cNvPr id="1393732" name="Rectangle 68"/>
            <p:cNvSpPr>
              <a:spLocks noChangeArrowheads="1"/>
            </p:cNvSpPr>
            <p:nvPr/>
          </p:nvSpPr>
          <p:spPr bwMode="auto">
            <a:xfrm>
              <a:off x="2953" y="2218"/>
              <a:ext cx="83" cy="10"/>
            </a:xfrm>
            <a:prstGeom prst="rect">
              <a:avLst/>
            </a:prstGeom>
            <a:solidFill>
              <a:srgbClr val="000000"/>
            </a:solidFill>
            <a:ln w="9525">
              <a:noFill/>
              <a:miter lim="800000"/>
              <a:headEnd/>
              <a:tailEnd/>
            </a:ln>
          </p:spPr>
          <p:txBody>
            <a:bodyPr/>
            <a:lstStyle/>
            <a:p>
              <a:endParaRPr lang="en-US"/>
            </a:p>
          </p:txBody>
        </p:sp>
        <p:sp>
          <p:nvSpPr>
            <p:cNvPr id="1393733" name="Rectangle 69"/>
            <p:cNvSpPr>
              <a:spLocks noChangeArrowheads="1"/>
            </p:cNvSpPr>
            <p:nvPr/>
          </p:nvSpPr>
          <p:spPr bwMode="auto">
            <a:xfrm>
              <a:off x="3067" y="2218"/>
              <a:ext cx="83" cy="10"/>
            </a:xfrm>
            <a:prstGeom prst="rect">
              <a:avLst/>
            </a:prstGeom>
            <a:solidFill>
              <a:srgbClr val="000000"/>
            </a:solidFill>
            <a:ln w="9525">
              <a:noFill/>
              <a:miter lim="800000"/>
              <a:headEnd/>
              <a:tailEnd/>
            </a:ln>
          </p:spPr>
          <p:txBody>
            <a:bodyPr/>
            <a:lstStyle/>
            <a:p>
              <a:endParaRPr lang="en-US"/>
            </a:p>
          </p:txBody>
        </p:sp>
        <p:sp>
          <p:nvSpPr>
            <p:cNvPr id="1393734" name="Rectangle 70"/>
            <p:cNvSpPr>
              <a:spLocks noChangeArrowheads="1"/>
            </p:cNvSpPr>
            <p:nvPr/>
          </p:nvSpPr>
          <p:spPr bwMode="auto">
            <a:xfrm>
              <a:off x="3181" y="2218"/>
              <a:ext cx="83" cy="10"/>
            </a:xfrm>
            <a:prstGeom prst="rect">
              <a:avLst/>
            </a:prstGeom>
            <a:solidFill>
              <a:srgbClr val="000000"/>
            </a:solidFill>
            <a:ln w="9525">
              <a:noFill/>
              <a:miter lim="800000"/>
              <a:headEnd/>
              <a:tailEnd/>
            </a:ln>
          </p:spPr>
          <p:txBody>
            <a:bodyPr/>
            <a:lstStyle/>
            <a:p>
              <a:endParaRPr lang="en-US"/>
            </a:p>
          </p:txBody>
        </p:sp>
        <p:sp>
          <p:nvSpPr>
            <p:cNvPr id="1393735" name="Rectangle 71"/>
            <p:cNvSpPr>
              <a:spLocks noChangeArrowheads="1"/>
            </p:cNvSpPr>
            <p:nvPr/>
          </p:nvSpPr>
          <p:spPr bwMode="auto">
            <a:xfrm>
              <a:off x="3295" y="2218"/>
              <a:ext cx="83" cy="10"/>
            </a:xfrm>
            <a:prstGeom prst="rect">
              <a:avLst/>
            </a:prstGeom>
            <a:solidFill>
              <a:srgbClr val="000000"/>
            </a:solidFill>
            <a:ln w="9525">
              <a:noFill/>
              <a:miter lim="800000"/>
              <a:headEnd/>
              <a:tailEnd/>
            </a:ln>
          </p:spPr>
          <p:txBody>
            <a:bodyPr/>
            <a:lstStyle/>
            <a:p>
              <a:endParaRPr lang="en-US"/>
            </a:p>
          </p:txBody>
        </p:sp>
        <p:sp>
          <p:nvSpPr>
            <p:cNvPr id="1393736" name="Rectangle 72"/>
            <p:cNvSpPr>
              <a:spLocks noChangeArrowheads="1"/>
            </p:cNvSpPr>
            <p:nvPr/>
          </p:nvSpPr>
          <p:spPr bwMode="auto">
            <a:xfrm>
              <a:off x="3409" y="2218"/>
              <a:ext cx="83" cy="10"/>
            </a:xfrm>
            <a:prstGeom prst="rect">
              <a:avLst/>
            </a:prstGeom>
            <a:solidFill>
              <a:srgbClr val="000000"/>
            </a:solidFill>
            <a:ln w="9525">
              <a:noFill/>
              <a:miter lim="800000"/>
              <a:headEnd/>
              <a:tailEnd/>
            </a:ln>
          </p:spPr>
          <p:txBody>
            <a:bodyPr/>
            <a:lstStyle/>
            <a:p>
              <a:endParaRPr lang="en-US"/>
            </a:p>
          </p:txBody>
        </p:sp>
        <p:sp>
          <p:nvSpPr>
            <p:cNvPr id="1393737" name="Rectangle 73"/>
            <p:cNvSpPr>
              <a:spLocks noChangeArrowheads="1"/>
            </p:cNvSpPr>
            <p:nvPr/>
          </p:nvSpPr>
          <p:spPr bwMode="auto">
            <a:xfrm>
              <a:off x="3523" y="2218"/>
              <a:ext cx="83" cy="10"/>
            </a:xfrm>
            <a:prstGeom prst="rect">
              <a:avLst/>
            </a:prstGeom>
            <a:solidFill>
              <a:srgbClr val="000000"/>
            </a:solidFill>
            <a:ln w="9525">
              <a:noFill/>
              <a:miter lim="800000"/>
              <a:headEnd/>
              <a:tailEnd/>
            </a:ln>
          </p:spPr>
          <p:txBody>
            <a:bodyPr/>
            <a:lstStyle/>
            <a:p>
              <a:endParaRPr lang="en-US"/>
            </a:p>
          </p:txBody>
        </p:sp>
        <p:sp>
          <p:nvSpPr>
            <p:cNvPr id="1393738" name="Rectangle 74"/>
            <p:cNvSpPr>
              <a:spLocks noChangeArrowheads="1"/>
            </p:cNvSpPr>
            <p:nvPr/>
          </p:nvSpPr>
          <p:spPr bwMode="auto">
            <a:xfrm>
              <a:off x="3637" y="2218"/>
              <a:ext cx="83" cy="10"/>
            </a:xfrm>
            <a:prstGeom prst="rect">
              <a:avLst/>
            </a:prstGeom>
            <a:solidFill>
              <a:srgbClr val="000000"/>
            </a:solidFill>
            <a:ln w="9525">
              <a:noFill/>
              <a:miter lim="800000"/>
              <a:headEnd/>
              <a:tailEnd/>
            </a:ln>
          </p:spPr>
          <p:txBody>
            <a:bodyPr/>
            <a:lstStyle/>
            <a:p>
              <a:endParaRPr lang="en-US"/>
            </a:p>
          </p:txBody>
        </p:sp>
        <p:sp>
          <p:nvSpPr>
            <p:cNvPr id="1393739" name="Rectangle 75"/>
            <p:cNvSpPr>
              <a:spLocks noChangeArrowheads="1"/>
            </p:cNvSpPr>
            <p:nvPr/>
          </p:nvSpPr>
          <p:spPr bwMode="auto">
            <a:xfrm>
              <a:off x="3751" y="2218"/>
              <a:ext cx="83" cy="10"/>
            </a:xfrm>
            <a:prstGeom prst="rect">
              <a:avLst/>
            </a:prstGeom>
            <a:solidFill>
              <a:srgbClr val="000000"/>
            </a:solidFill>
            <a:ln w="9525">
              <a:noFill/>
              <a:miter lim="800000"/>
              <a:headEnd/>
              <a:tailEnd/>
            </a:ln>
          </p:spPr>
          <p:txBody>
            <a:bodyPr/>
            <a:lstStyle/>
            <a:p>
              <a:endParaRPr lang="en-US"/>
            </a:p>
          </p:txBody>
        </p:sp>
        <p:sp>
          <p:nvSpPr>
            <p:cNvPr id="1393740" name="Rectangle 76"/>
            <p:cNvSpPr>
              <a:spLocks noChangeArrowheads="1"/>
            </p:cNvSpPr>
            <p:nvPr/>
          </p:nvSpPr>
          <p:spPr bwMode="auto">
            <a:xfrm>
              <a:off x="3865" y="2218"/>
              <a:ext cx="83" cy="10"/>
            </a:xfrm>
            <a:prstGeom prst="rect">
              <a:avLst/>
            </a:prstGeom>
            <a:solidFill>
              <a:srgbClr val="000000"/>
            </a:solidFill>
            <a:ln w="9525">
              <a:noFill/>
              <a:miter lim="800000"/>
              <a:headEnd/>
              <a:tailEnd/>
            </a:ln>
          </p:spPr>
          <p:txBody>
            <a:bodyPr/>
            <a:lstStyle/>
            <a:p>
              <a:endParaRPr lang="en-US"/>
            </a:p>
          </p:txBody>
        </p:sp>
        <p:sp>
          <p:nvSpPr>
            <p:cNvPr id="1393741" name="Rectangle 77"/>
            <p:cNvSpPr>
              <a:spLocks noChangeArrowheads="1"/>
            </p:cNvSpPr>
            <p:nvPr/>
          </p:nvSpPr>
          <p:spPr bwMode="auto">
            <a:xfrm>
              <a:off x="3979" y="2218"/>
              <a:ext cx="83" cy="10"/>
            </a:xfrm>
            <a:prstGeom prst="rect">
              <a:avLst/>
            </a:prstGeom>
            <a:solidFill>
              <a:srgbClr val="000000"/>
            </a:solidFill>
            <a:ln w="9525">
              <a:noFill/>
              <a:miter lim="800000"/>
              <a:headEnd/>
              <a:tailEnd/>
            </a:ln>
          </p:spPr>
          <p:txBody>
            <a:bodyPr/>
            <a:lstStyle/>
            <a:p>
              <a:endParaRPr lang="en-US"/>
            </a:p>
          </p:txBody>
        </p:sp>
        <p:sp>
          <p:nvSpPr>
            <p:cNvPr id="1393742" name="Rectangle 78"/>
            <p:cNvSpPr>
              <a:spLocks noChangeArrowheads="1"/>
            </p:cNvSpPr>
            <p:nvPr/>
          </p:nvSpPr>
          <p:spPr bwMode="auto">
            <a:xfrm>
              <a:off x="4093" y="2218"/>
              <a:ext cx="83" cy="10"/>
            </a:xfrm>
            <a:prstGeom prst="rect">
              <a:avLst/>
            </a:prstGeom>
            <a:solidFill>
              <a:srgbClr val="000000"/>
            </a:solidFill>
            <a:ln w="9525">
              <a:noFill/>
              <a:miter lim="800000"/>
              <a:headEnd/>
              <a:tailEnd/>
            </a:ln>
          </p:spPr>
          <p:txBody>
            <a:bodyPr/>
            <a:lstStyle/>
            <a:p>
              <a:endParaRPr lang="en-US"/>
            </a:p>
          </p:txBody>
        </p:sp>
        <p:sp>
          <p:nvSpPr>
            <p:cNvPr id="1393743" name="Rectangle 79"/>
            <p:cNvSpPr>
              <a:spLocks noChangeArrowheads="1"/>
            </p:cNvSpPr>
            <p:nvPr/>
          </p:nvSpPr>
          <p:spPr bwMode="auto">
            <a:xfrm>
              <a:off x="4207" y="2218"/>
              <a:ext cx="83" cy="10"/>
            </a:xfrm>
            <a:prstGeom prst="rect">
              <a:avLst/>
            </a:prstGeom>
            <a:solidFill>
              <a:srgbClr val="000000"/>
            </a:solidFill>
            <a:ln w="9525">
              <a:noFill/>
              <a:miter lim="800000"/>
              <a:headEnd/>
              <a:tailEnd/>
            </a:ln>
          </p:spPr>
          <p:txBody>
            <a:bodyPr/>
            <a:lstStyle/>
            <a:p>
              <a:endParaRPr lang="en-US"/>
            </a:p>
          </p:txBody>
        </p:sp>
        <p:sp>
          <p:nvSpPr>
            <p:cNvPr id="1393744" name="Rectangle 80"/>
            <p:cNvSpPr>
              <a:spLocks noChangeArrowheads="1"/>
            </p:cNvSpPr>
            <p:nvPr/>
          </p:nvSpPr>
          <p:spPr bwMode="auto">
            <a:xfrm>
              <a:off x="4321" y="2218"/>
              <a:ext cx="83" cy="10"/>
            </a:xfrm>
            <a:prstGeom prst="rect">
              <a:avLst/>
            </a:prstGeom>
            <a:solidFill>
              <a:srgbClr val="000000"/>
            </a:solidFill>
            <a:ln w="9525">
              <a:noFill/>
              <a:miter lim="800000"/>
              <a:headEnd/>
              <a:tailEnd/>
            </a:ln>
          </p:spPr>
          <p:txBody>
            <a:bodyPr/>
            <a:lstStyle/>
            <a:p>
              <a:endParaRPr lang="en-US"/>
            </a:p>
          </p:txBody>
        </p:sp>
        <p:sp>
          <p:nvSpPr>
            <p:cNvPr id="1393745" name="Rectangle 81"/>
            <p:cNvSpPr>
              <a:spLocks noChangeArrowheads="1"/>
            </p:cNvSpPr>
            <p:nvPr/>
          </p:nvSpPr>
          <p:spPr bwMode="auto">
            <a:xfrm>
              <a:off x="4435" y="2218"/>
              <a:ext cx="83" cy="10"/>
            </a:xfrm>
            <a:prstGeom prst="rect">
              <a:avLst/>
            </a:prstGeom>
            <a:solidFill>
              <a:srgbClr val="000000"/>
            </a:solidFill>
            <a:ln w="9525">
              <a:noFill/>
              <a:miter lim="800000"/>
              <a:headEnd/>
              <a:tailEnd/>
            </a:ln>
          </p:spPr>
          <p:txBody>
            <a:bodyPr/>
            <a:lstStyle/>
            <a:p>
              <a:endParaRPr lang="en-US"/>
            </a:p>
          </p:txBody>
        </p:sp>
        <p:sp>
          <p:nvSpPr>
            <p:cNvPr id="1393746" name="Rectangle 82"/>
            <p:cNvSpPr>
              <a:spLocks noChangeArrowheads="1"/>
            </p:cNvSpPr>
            <p:nvPr/>
          </p:nvSpPr>
          <p:spPr bwMode="auto">
            <a:xfrm>
              <a:off x="4549" y="2218"/>
              <a:ext cx="83" cy="10"/>
            </a:xfrm>
            <a:prstGeom prst="rect">
              <a:avLst/>
            </a:prstGeom>
            <a:solidFill>
              <a:srgbClr val="000000"/>
            </a:solidFill>
            <a:ln w="9525">
              <a:noFill/>
              <a:miter lim="800000"/>
              <a:headEnd/>
              <a:tailEnd/>
            </a:ln>
          </p:spPr>
          <p:txBody>
            <a:bodyPr/>
            <a:lstStyle/>
            <a:p>
              <a:endParaRPr lang="en-US"/>
            </a:p>
          </p:txBody>
        </p:sp>
        <p:sp>
          <p:nvSpPr>
            <p:cNvPr id="1393747" name="Rectangle 83"/>
            <p:cNvSpPr>
              <a:spLocks noChangeArrowheads="1"/>
            </p:cNvSpPr>
            <p:nvPr/>
          </p:nvSpPr>
          <p:spPr bwMode="auto">
            <a:xfrm>
              <a:off x="4663" y="2218"/>
              <a:ext cx="83" cy="10"/>
            </a:xfrm>
            <a:prstGeom prst="rect">
              <a:avLst/>
            </a:prstGeom>
            <a:solidFill>
              <a:srgbClr val="000000"/>
            </a:solidFill>
            <a:ln w="9525">
              <a:noFill/>
              <a:miter lim="800000"/>
              <a:headEnd/>
              <a:tailEnd/>
            </a:ln>
          </p:spPr>
          <p:txBody>
            <a:bodyPr/>
            <a:lstStyle/>
            <a:p>
              <a:endParaRPr lang="en-US"/>
            </a:p>
          </p:txBody>
        </p:sp>
        <p:sp>
          <p:nvSpPr>
            <p:cNvPr id="1393748" name="Rectangle 84"/>
            <p:cNvSpPr>
              <a:spLocks noChangeArrowheads="1"/>
            </p:cNvSpPr>
            <p:nvPr/>
          </p:nvSpPr>
          <p:spPr bwMode="auto">
            <a:xfrm>
              <a:off x="4777" y="2218"/>
              <a:ext cx="83" cy="10"/>
            </a:xfrm>
            <a:prstGeom prst="rect">
              <a:avLst/>
            </a:prstGeom>
            <a:solidFill>
              <a:srgbClr val="000000"/>
            </a:solidFill>
            <a:ln w="9525">
              <a:noFill/>
              <a:miter lim="800000"/>
              <a:headEnd/>
              <a:tailEnd/>
            </a:ln>
          </p:spPr>
          <p:txBody>
            <a:bodyPr/>
            <a:lstStyle/>
            <a:p>
              <a:endParaRPr lang="en-US"/>
            </a:p>
          </p:txBody>
        </p:sp>
        <p:sp>
          <p:nvSpPr>
            <p:cNvPr id="1393749" name="Rectangle 85"/>
            <p:cNvSpPr>
              <a:spLocks noChangeArrowheads="1"/>
            </p:cNvSpPr>
            <p:nvPr/>
          </p:nvSpPr>
          <p:spPr bwMode="auto">
            <a:xfrm>
              <a:off x="4891" y="2218"/>
              <a:ext cx="83" cy="10"/>
            </a:xfrm>
            <a:prstGeom prst="rect">
              <a:avLst/>
            </a:prstGeom>
            <a:solidFill>
              <a:srgbClr val="000000"/>
            </a:solidFill>
            <a:ln w="9525">
              <a:noFill/>
              <a:miter lim="800000"/>
              <a:headEnd/>
              <a:tailEnd/>
            </a:ln>
          </p:spPr>
          <p:txBody>
            <a:bodyPr/>
            <a:lstStyle/>
            <a:p>
              <a:endParaRPr lang="en-US"/>
            </a:p>
          </p:txBody>
        </p:sp>
        <p:sp>
          <p:nvSpPr>
            <p:cNvPr id="1393750" name="Rectangle 86"/>
            <p:cNvSpPr>
              <a:spLocks noChangeArrowheads="1"/>
            </p:cNvSpPr>
            <p:nvPr/>
          </p:nvSpPr>
          <p:spPr bwMode="auto">
            <a:xfrm>
              <a:off x="5005" y="2218"/>
              <a:ext cx="63" cy="10"/>
            </a:xfrm>
            <a:prstGeom prst="rect">
              <a:avLst/>
            </a:prstGeom>
            <a:solidFill>
              <a:srgbClr val="000000"/>
            </a:solidFill>
            <a:ln w="9525">
              <a:noFill/>
              <a:miter lim="800000"/>
              <a:headEnd/>
              <a:tailEnd/>
            </a:ln>
          </p:spPr>
          <p:txBody>
            <a:bodyPr/>
            <a:lstStyle/>
            <a:p>
              <a:endParaRPr lang="en-US"/>
            </a:p>
          </p:txBody>
        </p:sp>
      </p:grpSp>
      <p:grpSp>
        <p:nvGrpSpPr>
          <p:cNvPr id="1393770" name="Group 106"/>
          <p:cNvGrpSpPr>
            <a:grpSpLocks/>
          </p:cNvGrpSpPr>
          <p:nvPr/>
        </p:nvGrpSpPr>
        <p:grpSpPr bwMode="auto">
          <a:xfrm>
            <a:off x="4852988" y="4738688"/>
            <a:ext cx="3175000" cy="15875"/>
            <a:chOff x="3057" y="2985"/>
            <a:chExt cx="2000" cy="10"/>
          </a:xfrm>
        </p:grpSpPr>
        <p:sp>
          <p:nvSpPr>
            <p:cNvPr id="1393752" name="Rectangle 88"/>
            <p:cNvSpPr>
              <a:spLocks noChangeArrowheads="1"/>
            </p:cNvSpPr>
            <p:nvPr/>
          </p:nvSpPr>
          <p:spPr bwMode="auto">
            <a:xfrm>
              <a:off x="3057" y="2985"/>
              <a:ext cx="83" cy="10"/>
            </a:xfrm>
            <a:prstGeom prst="rect">
              <a:avLst/>
            </a:prstGeom>
            <a:solidFill>
              <a:srgbClr val="000000"/>
            </a:solidFill>
            <a:ln w="9525">
              <a:noFill/>
              <a:miter lim="800000"/>
              <a:headEnd/>
              <a:tailEnd/>
            </a:ln>
          </p:spPr>
          <p:txBody>
            <a:bodyPr/>
            <a:lstStyle/>
            <a:p>
              <a:endParaRPr lang="en-US"/>
            </a:p>
          </p:txBody>
        </p:sp>
        <p:sp>
          <p:nvSpPr>
            <p:cNvPr id="1393753" name="Rectangle 89"/>
            <p:cNvSpPr>
              <a:spLocks noChangeArrowheads="1"/>
            </p:cNvSpPr>
            <p:nvPr/>
          </p:nvSpPr>
          <p:spPr bwMode="auto">
            <a:xfrm>
              <a:off x="3171" y="2985"/>
              <a:ext cx="83" cy="10"/>
            </a:xfrm>
            <a:prstGeom prst="rect">
              <a:avLst/>
            </a:prstGeom>
            <a:solidFill>
              <a:srgbClr val="000000"/>
            </a:solidFill>
            <a:ln w="9525">
              <a:noFill/>
              <a:miter lim="800000"/>
              <a:headEnd/>
              <a:tailEnd/>
            </a:ln>
          </p:spPr>
          <p:txBody>
            <a:bodyPr/>
            <a:lstStyle/>
            <a:p>
              <a:endParaRPr lang="en-US"/>
            </a:p>
          </p:txBody>
        </p:sp>
        <p:sp>
          <p:nvSpPr>
            <p:cNvPr id="1393754" name="Rectangle 90"/>
            <p:cNvSpPr>
              <a:spLocks noChangeArrowheads="1"/>
            </p:cNvSpPr>
            <p:nvPr/>
          </p:nvSpPr>
          <p:spPr bwMode="auto">
            <a:xfrm>
              <a:off x="3285" y="2985"/>
              <a:ext cx="83" cy="10"/>
            </a:xfrm>
            <a:prstGeom prst="rect">
              <a:avLst/>
            </a:prstGeom>
            <a:solidFill>
              <a:srgbClr val="000000"/>
            </a:solidFill>
            <a:ln w="9525">
              <a:noFill/>
              <a:miter lim="800000"/>
              <a:headEnd/>
              <a:tailEnd/>
            </a:ln>
          </p:spPr>
          <p:txBody>
            <a:bodyPr/>
            <a:lstStyle/>
            <a:p>
              <a:endParaRPr lang="en-US"/>
            </a:p>
          </p:txBody>
        </p:sp>
        <p:sp>
          <p:nvSpPr>
            <p:cNvPr id="1393755" name="Rectangle 91"/>
            <p:cNvSpPr>
              <a:spLocks noChangeArrowheads="1"/>
            </p:cNvSpPr>
            <p:nvPr/>
          </p:nvSpPr>
          <p:spPr bwMode="auto">
            <a:xfrm>
              <a:off x="3399" y="2985"/>
              <a:ext cx="83" cy="10"/>
            </a:xfrm>
            <a:prstGeom prst="rect">
              <a:avLst/>
            </a:prstGeom>
            <a:solidFill>
              <a:srgbClr val="000000"/>
            </a:solidFill>
            <a:ln w="9525">
              <a:noFill/>
              <a:miter lim="800000"/>
              <a:headEnd/>
              <a:tailEnd/>
            </a:ln>
          </p:spPr>
          <p:txBody>
            <a:bodyPr/>
            <a:lstStyle/>
            <a:p>
              <a:endParaRPr lang="en-US"/>
            </a:p>
          </p:txBody>
        </p:sp>
        <p:sp>
          <p:nvSpPr>
            <p:cNvPr id="1393756" name="Rectangle 92"/>
            <p:cNvSpPr>
              <a:spLocks noChangeArrowheads="1"/>
            </p:cNvSpPr>
            <p:nvPr/>
          </p:nvSpPr>
          <p:spPr bwMode="auto">
            <a:xfrm>
              <a:off x="3513" y="2985"/>
              <a:ext cx="83" cy="10"/>
            </a:xfrm>
            <a:prstGeom prst="rect">
              <a:avLst/>
            </a:prstGeom>
            <a:solidFill>
              <a:srgbClr val="000000"/>
            </a:solidFill>
            <a:ln w="9525">
              <a:noFill/>
              <a:miter lim="800000"/>
              <a:headEnd/>
              <a:tailEnd/>
            </a:ln>
          </p:spPr>
          <p:txBody>
            <a:bodyPr/>
            <a:lstStyle/>
            <a:p>
              <a:endParaRPr lang="en-US"/>
            </a:p>
          </p:txBody>
        </p:sp>
        <p:sp>
          <p:nvSpPr>
            <p:cNvPr id="1393757" name="Rectangle 93"/>
            <p:cNvSpPr>
              <a:spLocks noChangeArrowheads="1"/>
            </p:cNvSpPr>
            <p:nvPr/>
          </p:nvSpPr>
          <p:spPr bwMode="auto">
            <a:xfrm>
              <a:off x="3627" y="2985"/>
              <a:ext cx="83" cy="10"/>
            </a:xfrm>
            <a:prstGeom prst="rect">
              <a:avLst/>
            </a:prstGeom>
            <a:solidFill>
              <a:srgbClr val="000000"/>
            </a:solidFill>
            <a:ln w="9525">
              <a:noFill/>
              <a:miter lim="800000"/>
              <a:headEnd/>
              <a:tailEnd/>
            </a:ln>
          </p:spPr>
          <p:txBody>
            <a:bodyPr/>
            <a:lstStyle/>
            <a:p>
              <a:endParaRPr lang="en-US"/>
            </a:p>
          </p:txBody>
        </p:sp>
        <p:sp>
          <p:nvSpPr>
            <p:cNvPr id="1393758" name="Rectangle 94"/>
            <p:cNvSpPr>
              <a:spLocks noChangeArrowheads="1"/>
            </p:cNvSpPr>
            <p:nvPr/>
          </p:nvSpPr>
          <p:spPr bwMode="auto">
            <a:xfrm>
              <a:off x="3741" y="2985"/>
              <a:ext cx="83" cy="10"/>
            </a:xfrm>
            <a:prstGeom prst="rect">
              <a:avLst/>
            </a:prstGeom>
            <a:solidFill>
              <a:srgbClr val="000000"/>
            </a:solidFill>
            <a:ln w="9525">
              <a:noFill/>
              <a:miter lim="800000"/>
              <a:headEnd/>
              <a:tailEnd/>
            </a:ln>
          </p:spPr>
          <p:txBody>
            <a:bodyPr/>
            <a:lstStyle/>
            <a:p>
              <a:endParaRPr lang="en-US"/>
            </a:p>
          </p:txBody>
        </p:sp>
        <p:sp>
          <p:nvSpPr>
            <p:cNvPr id="1393759" name="Rectangle 95"/>
            <p:cNvSpPr>
              <a:spLocks noChangeArrowheads="1"/>
            </p:cNvSpPr>
            <p:nvPr/>
          </p:nvSpPr>
          <p:spPr bwMode="auto">
            <a:xfrm>
              <a:off x="3855" y="2985"/>
              <a:ext cx="83" cy="10"/>
            </a:xfrm>
            <a:prstGeom prst="rect">
              <a:avLst/>
            </a:prstGeom>
            <a:solidFill>
              <a:srgbClr val="000000"/>
            </a:solidFill>
            <a:ln w="9525">
              <a:noFill/>
              <a:miter lim="800000"/>
              <a:headEnd/>
              <a:tailEnd/>
            </a:ln>
          </p:spPr>
          <p:txBody>
            <a:bodyPr/>
            <a:lstStyle/>
            <a:p>
              <a:endParaRPr lang="en-US"/>
            </a:p>
          </p:txBody>
        </p:sp>
        <p:sp>
          <p:nvSpPr>
            <p:cNvPr id="1393760" name="Rectangle 96"/>
            <p:cNvSpPr>
              <a:spLocks noChangeArrowheads="1"/>
            </p:cNvSpPr>
            <p:nvPr/>
          </p:nvSpPr>
          <p:spPr bwMode="auto">
            <a:xfrm>
              <a:off x="3969" y="2985"/>
              <a:ext cx="83" cy="10"/>
            </a:xfrm>
            <a:prstGeom prst="rect">
              <a:avLst/>
            </a:prstGeom>
            <a:solidFill>
              <a:srgbClr val="000000"/>
            </a:solidFill>
            <a:ln w="9525">
              <a:noFill/>
              <a:miter lim="800000"/>
              <a:headEnd/>
              <a:tailEnd/>
            </a:ln>
          </p:spPr>
          <p:txBody>
            <a:bodyPr/>
            <a:lstStyle/>
            <a:p>
              <a:endParaRPr lang="en-US"/>
            </a:p>
          </p:txBody>
        </p:sp>
        <p:sp>
          <p:nvSpPr>
            <p:cNvPr id="1393761" name="Rectangle 97"/>
            <p:cNvSpPr>
              <a:spLocks noChangeArrowheads="1"/>
            </p:cNvSpPr>
            <p:nvPr/>
          </p:nvSpPr>
          <p:spPr bwMode="auto">
            <a:xfrm>
              <a:off x="4083" y="2985"/>
              <a:ext cx="83" cy="10"/>
            </a:xfrm>
            <a:prstGeom prst="rect">
              <a:avLst/>
            </a:prstGeom>
            <a:solidFill>
              <a:srgbClr val="000000"/>
            </a:solidFill>
            <a:ln w="9525">
              <a:noFill/>
              <a:miter lim="800000"/>
              <a:headEnd/>
              <a:tailEnd/>
            </a:ln>
          </p:spPr>
          <p:txBody>
            <a:bodyPr/>
            <a:lstStyle/>
            <a:p>
              <a:endParaRPr lang="en-US"/>
            </a:p>
          </p:txBody>
        </p:sp>
        <p:sp>
          <p:nvSpPr>
            <p:cNvPr id="1393762" name="Rectangle 98"/>
            <p:cNvSpPr>
              <a:spLocks noChangeArrowheads="1"/>
            </p:cNvSpPr>
            <p:nvPr/>
          </p:nvSpPr>
          <p:spPr bwMode="auto">
            <a:xfrm>
              <a:off x="4197" y="2985"/>
              <a:ext cx="83" cy="10"/>
            </a:xfrm>
            <a:prstGeom prst="rect">
              <a:avLst/>
            </a:prstGeom>
            <a:solidFill>
              <a:srgbClr val="000000"/>
            </a:solidFill>
            <a:ln w="9525">
              <a:noFill/>
              <a:miter lim="800000"/>
              <a:headEnd/>
              <a:tailEnd/>
            </a:ln>
          </p:spPr>
          <p:txBody>
            <a:bodyPr/>
            <a:lstStyle/>
            <a:p>
              <a:endParaRPr lang="en-US"/>
            </a:p>
          </p:txBody>
        </p:sp>
        <p:sp>
          <p:nvSpPr>
            <p:cNvPr id="1393763" name="Rectangle 99"/>
            <p:cNvSpPr>
              <a:spLocks noChangeArrowheads="1"/>
            </p:cNvSpPr>
            <p:nvPr/>
          </p:nvSpPr>
          <p:spPr bwMode="auto">
            <a:xfrm>
              <a:off x="4311" y="2985"/>
              <a:ext cx="83" cy="10"/>
            </a:xfrm>
            <a:prstGeom prst="rect">
              <a:avLst/>
            </a:prstGeom>
            <a:solidFill>
              <a:srgbClr val="000000"/>
            </a:solidFill>
            <a:ln w="9525">
              <a:noFill/>
              <a:miter lim="800000"/>
              <a:headEnd/>
              <a:tailEnd/>
            </a:ln>
          </p:spPr>
          <p:txBody>
            <a:bodyPr/>
            <a:lstStyle/>
            <a:p>
              <a:endParaRPr lang="en-US"/>
            </a:p>
          </p:txBody>
        </p:sp>
        <p:sp>
          <p:nvSpPr>
            <p:cNvPr id="1393764" name="Rectangle 100"/>
            <p:cNvSpPr>
              <a:spLocks noChangeArrowheads="1"/>
            </p:cNvSpPr>
            <p:nvPr/>
          </p:nvSpPr>
          <p:spPr bwMode="auto">
            <a:xfrm>
              <a:off x="4425" y="2985"/>
              <a:ext cx="83" cy="10"/>
            </a:xfrm>
            <a:prstGeom prst="rect">
              <a:avLst/>
            </a:prstGeom>
            <a:solidFill>
              <a:srgbClr val="000000"/>
            </a:solidFill>
            <a:ln w="9525">
              <a:noFill/>
              <a:miter lim="800000"/>
              <a:headEnd/>
              <a:tailEnd/>
            </a:ln>
          </p:spPr>
          <p:txBody>
            <a:bodyPr/>
            <a:lstStyle/>
            <a:p>
              <a:endParaRPr lang="en-US"/>
            </a:p>
          </p:txBody>
        </p:sp>
        <p:sp>
          <p:nvSpPr>
            <p:cNvPr id="1393765" name="Rectangle 101"/>
            <p:cNvSpPr>
              <a:spLocks noChangeArrowheads="1"/>
            </p:cNvSpPr>
            <p:nvPr/>
          </p:nvSpPr>
          <p:spPr bwMode="auto">
            <a:xfrm>
              <a:off x="4539" y="2985"/>
              <a:ext cx="83" cy="10"/>
            </a:xfrm>
            <a:prstGeom prst="rect">
              <a:avLst/>
            </a:prstGeom>
            <a:solidFill>
              <a:srgbClr val="000000"/>
            </a:solidFill>
            <a:ln w="9525">
              <a:noFill/>
              <a:miter lim="800000"/>
              <a:headEnd/>
              <a:tailEnd/>
            </a:ln>
          </p:spPr>
          <p:txBody>
            <a:bodyPr/>
            <a:lstStyle/>
            <a:p>
              <a:endParaRPr lang="en-US"/>
            </a:p>
          </p:txBody>
        </p:sp>
        <p:sp>
          <p:nvSpPr>
            <p:cNvPr id="1393766" name="Rectangle 102"/>
            <p:cNvSpPr>
              <a:spLocks noChangeArrowheads="1"/>
            </p:cNvSpPr>
            <p:nvPr/>
          </p:nvSpPr>
          <p:spPr bwMode="auto">
            <a:xfrm>
              <a:off x="4653" y="2985"/>
              <a:ext cx="83" cy="10"/>
            </a:xfrm>
            <a:prstGeom prst="rect">
              <a:avLst/>
            </a:prstGeom>
            <a:solidFill>
              <a:srgbClr val="000000"/>
            </a:solidFill>
            <a:ln w="9525">
              <a:noFill/>
              <a:miter lim="800000"/>
              <a:headEnd/>
              <a:tailEnd/>
            </a:ln>
          </p:spPr>
          <p:txBody>
            <a:bodyPr/>
            <a:lstStyle/>
            <a:p>
              <a:endParaRPr lang="en-US"/>
            </a:p>
          </p:txBody>
        </p:sp>
        <p:sp>
          <p:nvSpPr>
            <p:cNvPr id="1393767" name="Rectangle 103"/>
            <p:cNvSpPr>
              <a:spLocks noChangeArrowheads="1"/>
            </p:cNvSpPr>
            <p:nvPr/>
          </p:nvSpPr>
          <p:spPr bwMode="auto">
            <a:xfrm>
              <a:off x="4767" y="2985"/>
              <a:ext cx="83" cy="10"/>
            </a:xfrm>
            <a:prstGeom prst="rect">
              <a:avLst/>
            </a:prstGeom>
            <a:solidFill>
              <a:srgbClr val="000000"/>
            </a:solidFill>
            <a:ln w="9525">
              <a:noFill/>
              <a:miter lim="800000"/>
              <a:headEnd/>
              <a:tailEnd/>
            </a:ln>
          </p:spPr>
          <p:txBody>
            <a:bodyPr/>
            <a:lstStyle/>
            <a:p>
              <a:endParaRPr lang="en-US"/>
            </a:p>
          </p:txBody>
        </p:sp>
        <p:sp>
          <p:nvSpPr>
            <p:cNvPr id="1393768" name="Rectangle 104"/>
            <p:cNvSpPr>
              <a:spLocks noChangeArrowheads="1"/>
            </p:cNvSpPr>
            <p:nvPr/>
          </p:nvSpPr>
          <p:spPr bwMode="auto">
            <a:xfrm>
              <a:off x="4881" y="2985"/>
              <a:ext cx="83" cy="10"/>
            </a:xfrm>
            <a:prstGeom prst="rect">
              <a:avLst/>
            </a:prstGeom>
            <a:solidFill>
              <a:srgbClr val="000000"/>
            </a:solidFill>
            <a:ln w="9525">
              <a:noFill/>
              <a:miter lim="800000"/>
              <a:headEnd/>
              <a:tailEnd/>
            </a:ln>
          </p:spPr>
          <p:txBody>
            <a:bodyPr/>
            <a:lstStyle/>
            <a:p>
              <a:endParaRPr lang="en-US"/>
            </a:p>
          </p:txBody>
        </p:sp>
        <p:sp>
          <p:nvSpPr>
            <p:cNvPr id="1393769" name="Rectangle 105"/>
            <p:cNvSpPr>
              <a:spLocks noChangeArrowheads="1"/>
            </p:cNvSpPr>
            <p:nvPr/>
          </p:nvSpPr>
          <p:spPr bwMode="auto">
            <a:xfrm>
              <a:off x="4995" y="2985"/>
              <a:ext cx="62" cy="10"/>
            </a:xfrm>
            <a:prstGeom prst="rect">
              <a:avLst/>
            </a:prstGeom>
            <a:solidFill>
              <a:srgbClr val="000000"/>
            </a:solidFill>
            <a:ln w="9525">
              <a:noFill/>
              <a:miter lim="800000"/>
              <a:headEnd/>
              <a:tailEnd/>
            </a:ln>
          </p:spPr>
          <p:txBody>
            <a:bodyPr/>
            <a:lstStyle/>
            <a:p>
              <a:endParaRPr lang="en-US"/>
            </a:p>
          </p:txBody>
        </p:sp>
      </p:grpSp>
      <p:sp>
        <p:nvSpPr>
          <p:cNvPr id="1393887" name="Rectangle 223"/>
          <p:cNvSpPr>
            <a:spLocks noChangeArrowheads="1"/>
          </p:cNvSpPr>
          <p:nvPr/>
        </p:nvSpPr>
        <p:spPr bwMode="auto">
          <a:xfrm>
            <a:off x="1154113" y="5775325"/>
            <a:ext cx="31750" cy="106363"/>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88" name="Rectangle 224"/>
          <p:cNvSpPr>
            <a:spLocks noChangeArrowheads="1"/>
          </p:cNvSpPr>
          <p:nvPr/>
        </p:nvSpPr>
        <p:spPr bwMode="auto">
          <a:xfrm>
            <a:off x="1222375" y="5775325"/>
            <a:ext cx="669925" cy="106363"/>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Employee Ratios</a:t>
            </a:r>
            <a:endParaRPr lang="en-US">
              <a:solidFill>
                <a:schemeClr val="bg1"/>
              </a:solidFill>
            </a:endParaRPr>
          </a:p>
        </p:txBody>
      </p:sp>
      <p:sp>
        <p:nvSpPr>
          <p:cNvPr id="1393889" name="Rectangle 225"/>
          <p:cNvSpPr>
            <a:spLocks noChangeArrowheads="1"/>
          </p:cNvSpPr>
          <p:nvPr/>
        </p:nvSpPr>
        <p:spPr bwMode="auto">
          <a:xfrm>
            <a:off x="1052513" y="5183188"/>
            <a:ext cx="1323975" cy="741362"/>
          </a:xfrm>
          <a:prstGeom prst="rect">
            <a:avLst/>
          </a:prstGeom>
          <a:solidFill>
            <a:schemeClr val="bg2"/>
          </a:solidFill>
          <a:ln w="9525">
            <a:noFill/>
            <a:miter lim="800000"/>
            <a:headEnd/>
            <a:tailEnd/>
          </a:ln>
        </p:spPr>
        <p:txBody>
          <a:bodyPr/>
          <a:lstStyle/>
          <a:p>
            <a:endParaRPr lang="en-US"/>
          </a:p>
        </p:txBody>
      </p:sp>
      <p:grpSp>
        <p:nvGrpSpPr>
          <p:cNvPr id="1393942" name="Group 278"/>
          <p:cNvGrpSpPr>
            <a:grpSpLocks/>
          </p:cNvGrpSpPr>
          <p:nvPr/>
        </p:nvGrpSpPr>
        <p:grpSpPr bwMode="auto">
          <a:xfrm>
            <a:off x="566738" y="1582738"/>
            <a:ext cx="4984750" cy="4710112"/>
            <a:chOff x="357" y="997"/>
            <a:chExt cx="3140" cy="2967"/>
          </a:xfrm>
        </p:grpSpPr>
        <p:sp>
          <p:nvSpPr>
            <p:cNvPr id="1393677" name="Freeform 13"/>
            <p:cNvSpPr>
              <a:spLocks/>
            </p:cNvSpPr>
            <p:nvPr/>
          </p:nvSpPr>
          <p:spPr bwMode="auto">
            <a:xfrm>
              <a:off x="891" y="2378"/>
              <a:ext cx="2067" cy="488"/>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FFFF99"/>
            </a:solidFill>
            <a:ln w="9525" cap="rnd">
              <a:noFill/>
              <a:prstDash val="solid"/>
              <a:round/>
              <a:headEnd/>
              <a:tailEnd/>
            </a:ln>
          </p:spPr>
          <p:txBody>
            <a:bodyPr/>
            <a:lstStyle/>
            <a:p>
              <a:endParaRPr lang="en-US"/>
            </a:p>
          </p:txBody>
        </p:sp>
        <p:grpSp>
          <p:nvGrpSpPr>
            <p:cNvPr id="1393941" name="Group 277"/>
            <p:cNvGrpSpPr>
              <a:grpSpLocks/>
            </p:cNvGrpSpPr>
            <p:nvPr/>
          </p:nvGrpSpPr>
          <p:grpSpPr bwMode="auto">
            <a:xfrm>
              <a:off x="357" y="997"/>
              <a:ext cx="3140" cy="2967"/>
              <a:chOff x="357" y="997"/>
              <a:chExt cx="3140" cy="2967"/>
            </a:xfrm>
          </p:grpSpPr>
          <p:sp>
            <p:nvSpPr>
              <p:cNvPr id="1393934" name="Freeform 270"/>
              <p:cNvSpPr>
                <a:spLocks/>
              </p:cNvSpPr>
              <p:nvPr/>
            </p:nvSpPr>
            <p:spPr bwMode="auto">
              <a:xfrm>
                <a:off x="742" y="2558"/>
                <a:ext cx="2359" cy="572"/>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E2E5FE"/>
              </a:solidFill>
              <a:ln w="9525" cap="rnd">
                <a:solidFill>
                  <a:srgbClr val="D3D8FD"/>
                </a:solidFill>
                <a:prstDash val="solid"/>
                <a:round/>
                <a:headEnd/>
                <a:tailEnd/>
              </a:ln>
            </p:spPr>
            <p:txBody>
              <a:bodyPr/>
              <a:lstStyle/>
              <a:p>
                <a:endParaRPr lang="en-US"/>
              </a:p>
            </p:txBody>
          </p:sp>
          <p:sp>
            <p:nvSpPr>
              <p:cNvPr id="1393933" name="Freeform 269"/>
              <p:cNvSpPr>
                <a:spLocks/>
              </p:cNvSpPr>
              <p:nvPr/>
            </p:nvSpPr>
            <p:spPr bwMode="auto">
              <a:xfrm>
                <a:off x="1169" y="2065"/>
                <a:ext cx="1506" cy="311"/>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E2E5FE"/>
              </a:solidFill>
              <a:ln w="9525" cap="rnd">
                <a:solidFill>
                  <a:srgbClr val="D3D8FD"/>
                </a:solidFill>
                <a:prstDash val="solid"/>
                <a:round/>
                <a:headEnd/>
                <a:tailEnd/>
              </a:ln>
            </p:spPr>
            <p:txBody>
              <a:bodyPr/>
              <a:lstStyle/>
              <a:p>
                <a:endParaRPr lang="en-US"/>
              </a:p>
            </p:txBody>
          </p:sp>
          <p:sp>
            <p:nvSpPr>
              <p:cNvPr id="1393930" name="Oval 266"/>
              <p:cNvSpPr>
                <a:spLocks noChangeArrowheads="1"/>
              </p:cNvSpPr>
              <p:nvPr/>
            </p:nvSpPr>
            <p:spPr bwMode="auto">
              <a:xfrm>
                <a:off x="1449" y="997"/>
                <a:ext cx="946" cy="212"/>
              </a:xfrm>
              <a:prstGeom prst="ellipse">
                <a:avLst/>
              </a:prstGeom>
              <a:solidFill>
                <a:srgbClr val="F5FDA9"/>
              </a:solidFill>
              <a:ln w="6350">
                <a:solidFill>
                  <a:schemeClr val="tx1"/>
                </a:solidFill>
                <a:miter lim="800000"/>
                <a:headEnd/>
                <a:tailEnd/>
              </a:ln>
              <a:effectLst/>
            </p:spPr>
            <p:txBody>
              <a:bodyPr wrap="none" anchor="ctr"/>
              <a:lstStyle/>
              <a:p>
                <a:endParaRPr lang="en-US"/>
              </a:p>
            </p:txBody>
          </p:sp>
          <p:sp>
            <p:nvSpPr>
              <p:cNvPr id="1393674" name="Freeform 10"/>
              <p:cNvSpPr>
                <a:spLocks/>
              </p:cNvSpPr>
              <p:nvPr/>
            </p:nvSpPr>
            <p:spPr bwMode="auto">
              <a:xfrm>
                <a:off x="1523" y="1222"/>
                <a:ext cx="782" cy="2738"/>
              </a:xfrm>
              <a:custGeom>
                <a:avLst/>
                <a:gdLst/>
                <a:ahLst/>
                <a:cxnLst>
                  <a:cxn ang="0">
                    <a:pos x="0" y="146"/>
                  </a:cxn>
                  <a:cxn ang="0">
                    <a:pos x="202" y="146"/>
                  </a:cxn>
                  <a:cxn ang="0">
                    <a:pos x="202" y="2738"/>
                  </a:cxn>
                  <a:cxn ang="0">
                    <a:pos x="580" y="2738"/>
                  </a:cxn>
                  <a:cxn ang="0">
                    <a:pos x="580" y="146"/>
                  </a:cxn>
                  <a:cxn ang="0">
                    <a:pos x="782" y="146"/>
                  </a:cxn>
                  <a:cxn ang="0">
                    <a:pos x="394" y="0"/>
                  </a:cxn>
                  <a:cxn ang="0">
                    <a:pos x="0" y="146"/>
                  </a:cxn>
                </a:cxnLst>
                <a:rect l="0" t="0" r="r" b="b"/>
                <a:pathLst>
                  <a:path w="782" h="2738">
                    <a:moveTo>
                      <a:pt x="0" y="146"/>
                    </a:moveTo>
                    <a:lnTo>
                      <a:pt x="202" y="146"/>
                    </a:lnTo>
                    <a:lnTo>
                      <a:pt x="202" y="2738"/>
                    </a:lnTo>
                    <a:lnTo>
                      <a:pt x="580" y="2738"/>
                    </a:lnTo>
                    <a:lnTo>
                      <a:pt x="580" y="146"/>
                    </a:lnTo>
                    <a:lnTo>
                      <a:pt x="782" y="146"/>
                    </a:lnTo>
                    <a:lnTo>
                      <a:pt x="394" y="0"/>
                    </a:lnTo>
                    <a:lnTo>
                      <a:pt x="0" y="146"/>
                    </a:lnTo>
                    <a:close/>
                  </a:path>
                </a:pathLst>
              </a:custGeom>
              <a:solidFill>
                <a:srgbClr val="0033CC"/>
              </a:solidFill>
              <a:ln w="9525">
                <a:noFill/>
                <a:round/>
                <a:headEnd/>
                <a:tailEnd/>
              </a:ln>
            </p:spPr>
            <p:txBody>
              <a:bodyPr/>
              <a:lstStyle/>
              <a:p>
                <a:endParaRPr lang="en-US"/>
              </a:p>
            </p:txBody>
          </p:sp>
          <p:sp>
            <p:nvSpPr>
              <p:cNvPr id="1393675" name="Freeform 11"/>
              <p:cNvSpPr>
                <a:spLocks/>
              </p:cNvSpPr>
              <p:nvPr/>
            </p:nvSpPr>
            <p:spPr bwMode="auto">
              <a:xfrm>
                <a:off x="1937" y="1305"/>
                <a:ext cx="550" cy="794"/>
              </a:xfrm>
              <a:custGeom>
                <a:avLst/>
                <a:gdLst/>
                <a:ahLst/>
                <a:cxnLst>
                  <a:cxn ang="0">
                    <a:pos x="0" y="0"/>
                  </a:cxn>
                  <a:cxn ang="0">
                    <a:pos x="0" y="794"/>
                  </a:cxn>
                  <a:cxn ang="0">
                    <a:pos x="550" y="794"/>
                  </a:cxn>
                  <a:cxn ang="0">
                    <a:pos x="0" y="0"/>
                  </a:cxn>
                </a:cxnLst>
                <a:rect l="0" t="0" r="r" b="b"/>
                <a:pathLst>
                  <a:path w="550" h="794">
                    <a:moveTo>
                      <a:pt x="0" y="0"/>
                    </a:moveTo>
                    <a:lnTo>
                      <a:pt x="0" y="794"/>
                    </a:lnTo>
                    <a:lnTo>
                      <a:pt x="550" y="794"/>
                    </a:lnTo>
                    <a:lnTo>
                      <a:pt x="0" y="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3676" name="Freeform 12"/>
              <p:cNvSpPr>
                <a:spLocks/>
              </p:cNvSpPr>
              <p:nvPr/>
            </p:nvSpPr>
            <p:spPr bwMode="auto">
              <a:xfrm>
                <a:off x="1347" y="1305"/>
                <a:ext cx="544" cy="794"/>
              </a:xfrm>
              <a:custGeom>
                <a:avLst/>
                <a:gdLst/>
                <a:ahLst/>
                <a:cxnLst>
                  <a:cxn ang="0">
                    <a:pos x="544" y="0"/>
                  </a:cxn>
                  <a:cxn ang="0">
                    <a:pos x="544" y="794"/>
                  </a:cxn>
                  <a:cxn ang="0">
                    <a:pos x="0" y="794"/>
                  </a:cxn>
                  <a:cxn ang="0">
                    <a:pos x="544" y="0"/>
                  </a:cxn>
                </a:cxnLst>
                <a:rect l="0" t="0" r="r" b="b"/>
                <a:pathLst>
                  <a:path w="544" h="794">
                    <a:moveTo>
                      <a:pt x="544" y="0"/>
                    </a:moveTo>
                    <a:lnTo>
                      <a:pt x="544" y="794"/>
                    </a:lnTo>
                    <a:lnTo>
                      <a:pt x="0" y="794"/>
                    </a:lnTo>
                    <a:lnTo>
                      <a:pt x="544" y="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3678" name="Freeform 14"/>
              <p:cNvSpPr>
                <a:spLocks/>
              </p:cNvSpPr>
              <p:nvPr/>
            </p:nvSpPr>
            <p:spPr bwMode="auto">
              <a:xfrm>
                <a:off x="357" y="3135"/>
                <a:ext cx="3140" cy="700"/>
              </a:xfrm>
              <a:custGeom>
                <a:avLst/>
                <a:gdLst/>
                <a:ahLst/>
                <a:cxnLst>
                  <a:cxn ang="0">
                    <a:pos x="0" y="700"/>
                  </a:cxn>
                  <a:cxn ang="0">
                    <a:pos x="394" y="0"/>
                  </a:cxn>
                  <a:cxn ang="0">
                    <a:pos x="2746" y="0"/>
                  </a:cxn>
                  <a:cxn ang="0">
                    <a:pos x="3140" y="700"/>
                  </a:cxn>
                  <a:cxn ang="0">
                    <a:pos x="0" y="700"/>
                  </a:cxn>
                </a:cxnLst>
                <a:rect l="0" t="0" r="r" b="b"/>
                <a:pathLst>
                  <a:path w="3140" h="700">
                    <a:moveTo>
                      <a:pt x="0" y="700"/>
                    </a:moveTo>
                    <a:lnTo>
                      <a:pt x="394" y="0"/>
                    </a:lnTo>
                    <a:lnTo>
                      <a:pt x="2746" y="0"/>
                    </a:lnTo>
                    <a:lnTo>
                      <a:pt x="3140" y="700"/>
                    </a:lnTo>
                    <a:lnTo>
                      <a:pt x="0" y="70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3679" name="Rectangle 15"/>
              <p:cNvSpPr>
                <a:spLocks noChangeArrowheads="1"/>
              </p:cNvSpPr>
              <p:nvPr/>
            </p:nvSpPr>
            <p:spPr bwMode="auto">
              <a:xfrm>
                <a:off x="1758" y="3405"/>
                <a:ext cx="448" cy="96"/>
              </a:xfrm>
              <a:prstGeom prst="rect">
                <a:avLst/>
              </a:prstGeom>
              <a:no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grpSp>
            <p:nvGrpSpPr>
              <p:cNvPr id="1393705" name="Group 41"/>
              <p:cNvGrpSpPr>
                <a:grpSpLocks/>
              </p:cNvGrpSpPr>
              <p:nvPr/>
            </p:nvGrpSpPr>
            <p:grpSpPr bwMode="auto">
              <a:xfrm>
                <a:off x="1549" y="3317"/>
                <a:ext cx="772" cy="243"/>
                <a:chOff x="1549" y="3317"/>
                <a:chExt cx="772" cy="243"/>
              </a:xfrm>
            </p:grpSpPr>
            <p:sp>
              <p:nvSpPr>
                <p:cNvPr id="1393680" name="Rectangle 16"/>
                <p:cNvSpPr>
                  <a:spLocks noChangeArrowheads="1"/>
                </p:cNvSpPr>
                <p:nvPr/>
              </p:nvSpPr>
              <p:spPr bwMode="auto">
                <a:xfrm>
                  <a:off x="1575" y="3343"/>
                  <a:ext cx="746" cy="217"/>
                </a:xfrm>
                <a:prstGeom prst="rect">
                  <a:avLst/>
                </a:prstGeom>
                <a:solidFill>
                  <a:srgbClr val="808080"/>
                </a:solidFill>
                <a:ln w="9525">
                  <a:noFill/>
                  <a:miter lim="800000"/>
                  <a:headEnd/>
                  <a:tailEnd/>
                </a:ln>
              </p:spPr>
              <p:txBody>
                <a:bodyPr/>
                <a:lstStyle/>
                <a:p>
                  <a:endParaRPr lang="en-US"/>
                </a:p>
              </p:txBody>
            </p:sp>
            <p:grpSp>
              <p:nvGrpSpPr>
                <p:cNvPr id="1393703" name="Group 39"/>
                <p:cNvGrpSpPr>
                  <a:grpSpLocks/>
                </p:cNvGrpSpPr>
                <p:nvPr/>
              </p:nvGrpSpPr>
              <p:grpSpPr bwMode="auto">
                <a:xfrm>
                  <a:off x="1549" y="3317"/>
                  <a:ext cx="746" cy="212"/>
                  <a:chOff x="1549" y="3317"/>
                  <a:chExt cx="746" cy="212"/>
                </a:xfrm>
              </p:grpSpPr>
              <p:sp>
                <p:nvSpPr>
                  <p:cNvPr id="1393681" name="Rectangle 17"/>
                  <p:cNvSpPr>
                    <a:spLocks noChangeArrowheads="1"/>
                  </p:cNvSpPr>
                  <p:nvPr/>
                </p:nvSpPr>
                <p:spPr bwMode="auto">
                  <a:xfrm>
                    <a:off x="1549" y="3317"/>
                    <a:ext cx="36" cy="212"/>
                  </a:xfrm>
                  <a:prstGeom prst="rect">
                    <a:avLst/>
                  </a:prstGeom>
                  <a:solidFill>
                    <a:srgbClr val="CBCBFE"/>
                  </a:solidFill>
                  <a:ln w="9525">
                    <a:noFill/>
                    <a:miter lim="800000"/>
                    <a:headEnd/>
                    <a:tailEnd/>
                  </a:ln>
                </p:spPr>
                <p:txBody>
                  <a:bodyPr/>
                  <a:lstStyle/>
                  <a:p>
                    <a:endParaRPr lang="en-US"/>
                  </a:p>
                </p:txBody>
              </p:sp>
              <p:sp>
                <p:nvSpPr>
                  <p:cNvPr id="1393682" name="Rectangle 18"/>
                  <p:cNvSpPr>
                    <a:spLocks noChangeArrowheads="1"/>
                  </p:cNvSpPr>
                  <p:nvPr/>
                </p:nvSpPr>
                <p:spPr bwMode="auto">
                  <a:xfrm>
                    <a:off x="1585" y="3317"/>
                    <a:ext cx="31" cy="212"/>
                  </a:xfrm>
                  <a:prstGeom prst="rect">
                    <a:avLst/>
                  </a:prstGeom>
                  <a:solidFill>
                    <a:srgbClr val="CBCBFE"/>
                  </a:solidFill>
                  <a:ln w="9525">
                    <a:noFill/>
                    <a:miter lim="800000"/>
                    <a:headEnd/>
                    <a:tailEnd/>
                  </a:ln>
                </p:spPr>
                <p:txBody>
                  <a:bodyPr/>
                  <a:lstStyle/>
                  <a:p>
                    <a:endParaRPr lang="en-US"/>
                  </a:p>
                </p:txBody>
              </p:sp>
              <p:sp>
                <p:nvSpPr>
                  <p:cNvPr id="1393683" name="Rectangle 19"/>
                  <p:cNvSpPr>
                    <a:spLocks noChangeArrowheads="1"/>
                  </p:cNvSpPr>
                  <p:nvPr/>
                </p:nvSpPr>
                <p:spPr bwMode="auto">
                  <a:xfrm>
                    <a:off x="1616" y="3317"/>
                    <a:ext cx="36" cy="212"/>
                  </a:xfrm>
                  <a:prstGeom prst="rect">
                    <a:avLst/>
                  </a:prstGeom>
                  <a:solidFill>
                    <a:srgbClr val="CBCBFD"/>
                  </a:solidFill>
                  <a:ln w="9525">
                    <a:noFill/>
                    <a:miter lim="800000"/>
                    <a:headEnd/>
                    <a:tailEnd/>
                  </a:ln>
                </p:spPr>
                <p:txBody>
                  <a:bodyPr/>
                  <a:lstStyle/>
                  <a:p>
                    <a:endParaRPr lang="en-US"/>
                  </a:p>
                </p:txBody>
              </p:sp>
              <p:sp>
                <p:nvSpPr>
                  <p:cNvPr id="1393684" name="Rectangle 20"/>
                  <p:cNvSpPr>
                    <a:spLocks noChangeArrowheads="1"/>
                  </p:cNvSpPr>
                  <p:nvPr/>
                </p:nvSpPr>
                <p:spPr bwMode="auto">
                  <a:xfrm>
                    <a:off x="1652" y="3317"/>
                    <a:ext cx="31" cy="212"/>
                  </a:xfrm>
                  <a:prstGeom prst="rect">
                    <a:avLst/>
                  </a:prstGeom>
                  <a:solidFill>
                    <a:srgbClr val="CACAFC"/>
                  </a:solidFill>
                  <a:ln w="9525">
                    <a:noFill/>
                    <a:miter lim="800000"/>
                    <a:headEnd/>
                    <a:tailEnd/>
                  </a:ln>
                </p:spPr>
                <p:txBody>
                  <a:bodyPr/>
                  <a:lstStyle/>
                  <a:p>
                    <a:endParaRPr lang="en-US"/>
                  </a:p>
                </p:txBody>
              </p:sp>
              <p:sp>
                <p:nvSpPr>
                  <p:cNvPr id="1393685" name="Rectangle 21"/>
                  <p:cNvSpPr>
                    <a:spLocks noChangeArrowheads="1"/>
                  </p:cNvSpPr>
                  <p:nvPr/>
                </p:nvSpPr>
                <p:spPr bwMode="auto">
                  <a:xfrm>
                    <a:off x="1683" y="3317"/>
                    <a:ext cx="37" cy="212"/>
                  </a:xfrm>
                  <a:prstGeom prst="rect">
                    <a:avLst/>
                  </a:prstGeom>
                  <a:solidFill>
                    <a:srgbClr val="C9C9FB"/>
                  </a:solidFill>
                  <a:ln w="9525">
                    <a:noFill/>
                    <a:miter lim="800000"/>
                    <a:headEnd/>
                    <a:tailEnd/>
                  </a:ln>
                </p:spPr>
                <p:txBody>
                  <a:bodyPr/>
                  <a:lstStyle/>
                  <a:p>
                    <a:endParaRPr lang="en-US"/>
                  </a:p>
                </p:txBody>
              </p:sp>
              <p:sp>
                <p:nvSpPr>
                  <p:cNvPr id="1393686" name="Rectangle 22"/>
                  <p:cNvSpPr>
                    <a:spLocks noChangeArrowheads="1"/>
                  </p:cNvSpPr>
                  <p:nvPr/>
                </p:nvSpPr>
                <p:spPr bwMode="auto">
                  <a:xfrm>
                    <a:off x="1720" y="3317"/>
                    <a:ext cx="31" cy="212"/>
                  </a:xfrm>
                  <a:prstGeom prst="rect">
                    <a:avLst/>
                  </a:prstGeom>
                  <a:solidFill>
                    <a:srgbClr val="C8C8FA"/>
                  </a:solidFill>
                  <a:ln w="9525">
                    <a:noFill/>
                    <a:miter lim="800000"/>
                    <a:headEnd/>
                    <a:tailEnd/>
                  </a:ln>
                </p:spPr>
                <p:txBody>
                  <a:bodyPr/>
                  <a:lstStyle/>
                  <a:p>
                    <a:endParaRPr lang="en-US"/>
                  </a:p>
                </p:txBody>
              </p:sp>
              <p:sp>
                <p:nvSpPr>
                  <p:cNvPr id="1393687" name="Rectangle 23"/>
                  <p:cNvSpPr>
                    <a:spLocks noChangeArrowheads="1"/>
                  </p:cNvSpPr>
                  <p:nvPr/>
                </p:nvSpPr>
                <p:spPr bwMode="auto">
                  <a:xfrm>
                    <a:off x="1751" y="3317"/>
                    <a:ext cx="36" cy="212"/>
                  </a:xfrm>
                  <a:prstGeom prst="rect">
                    <a:avLst/>
                  </a:prstGeom>
                  <a:solidFill>
                    <a:srgbClr val="C6C6F8"/>
                  </a:solidFill>
                  <a:ln w="9525">
                    <a:noFill/>
                    <a:miter lim="800000"/>
                    <a:headEnd/>
                    <a:tailEnd/>
                  </a:ln>
                </p:spPr>
                <p:txBody>
                  <a:bodyPr/>
                  <a:lstStyle/>
                  <a:p>
                    <a:endParaRPr lang="en-US"/>
                  </a:p>
                </p:txBody>
              </p:sp>
              <p:sp>
                <p:nvSpPr>
                  <p:cNvPr id="1393688" name="Rectangle 24"/>
                  <p:cNvSpPr>
                    <a:spLocks noChangeArrowheads="1"/>
                  </p:cNvSpPr>
                  <p:nvPr/>
                </p:nvSpPr>
                <p:spPr bwMode="auto">
                  <a:xfrm>
                    <a:off x="1787" y="3317"/>
                    <a:ext cx="31" cy="212"/>
                  </a:xfrm>
                  <a:prstGeom prst="rect">
                    <a:avLst/>
                  </a:prstGeom>
                  <a:solidFill>
                    <a:srgbClr val="C5C5F7"/>
                  </a:solidFill>
                  <a:ln w="9525">
                    <a:noFill/>
                    <a:miter lim="800000"/>
                    <a:headEnd/>
                    <a:tailEnd/>
                  </a:ln>
                </p:spPr>
                <p:txBody>
                  <a:bodyPr/>
                  <a:lstStyle/>
                  <a:p>
                    <a:endParaRPr lang="en-US"/>
                  </a:p>
                </p:txBody>
              </p:sp>
              <p:sp>
                <p:nvSpPr>
                  <p:cNvPr id="1393689" name="Rectangle 25"/>
                  <p:cNvSpPr>
                    <a:spLocks noChangeArrowheads="1"/>
                  </p:cNvSpPr>
                  <p:nvPr/>
                </p:nvSpPr>
                <p:spPr bwMode="auto">
                  <a:xfrm>
                    <a:off x="1818" y="3317"/>
                    <a:ext cx="36" cy="212"/>
                  </a:xfrm>
                  <a:prstGeom prst="rect">
                    <a:avLst/>
                  </a:prstGeom>
                  <a:solidFill>
                    <a:srgbClr val="C4C4F6"/>
                  </a:solidFill>
                  <a:ln w="9525">
                    <a:noFill/>
                    <a:miter lim="800000"/>
                    <a:headEnd/>
                    <a:tailEnd/>
                  </a:ln>
                </p:spPr>
                <p:txBody>
                  <a:bodyPr/>
                  <a:lstStyle/>
                  <a:p>
                    <a:endParaRPr lang="en-US"/>
                  </a:p>
                </p:txBody>
              </p:sp>
              <p:sp>
                <p:nvSpPr>
                  <p:cNvPr id="1393690" name="Rectangle 26"/>
                  <p:cNvSpPr>
                    <a:spLocks noChangeArrowheads="1"/>
                  </p:cNvSpPr>
                  <p:nvPr/>
                </p:nvSpPr>
                <p:spPr bwMode="auto">
                  <a:xfrm>
                    <a:off x="1854" y="3317"/>
                    <a:ext cx="32" cy="212"/>
                  </a:xfrm>
                  <a:prstGeom prst="rect">
                    <a:avLst/>
                  </a:prstGeom>
                  <a:solidFill>
                    <a:srgbClr val="C4C4F5"/>
                  </a:solidFill>
                  <a:ln w="9525">
                    <a:noFill/>
                    <a:miter lim="800000"/>
                    <a:headEnd/>
                    <a:tailEnd/>
                  </a:ln>
                </p:spPr>
                <p:txBody>
                  <a:bodyPr/>
                  <a:lstStyle/>
                  <a:p>
                    <a:endParaRPr lang="en-US"/>
                  </a:p>
                </p:txBody>
              </p:sp>
              <p:sp>
                <p:nvSpPr>
                  <p:cNvPr id="1393691" name="Rectangle 27"/>
                  <p:cNvSpPr>
                    <a:spLocks noChangeArrowheads="1"/>
                  </p:cNvSpPr>
                  <p:nvPr/>
                </p:nvSpPr>
                <p:spPr bwMode="auto">
                  <a:xfrm>
                    <a:off x="1886" y="3317"/>
                    <a:ext cx="36" cy="212"/>
                  </a:xfrm>
                  <a:prstGeom prst="rect">
                    <a:avLst/>
                  </a:prstGeom>
                  <a:solidFill>
                    <a:srgbClr val="C4C4F5"/>
                  </a:solidFill>
                  <a:ln w="9525">
                    <a:noFill/>
                    <a:miter lim="800000"/>
                    <a:headEnd/>
                    <a:tailEnd/>
                  </a:ln>
                </p:spPr>
                <p:txBody>
                  <a:bodyPr/>
                  <a:lstStyle/>
                  <a:p>
                    <a:endParaRPr lang="en-US"/>
                  </a:p>
                </p:txBody>
              </p:sp>
              <p:sp>
                <p:nvSpPr>
                  <p:cNvPr id="1393692" name="Rectangle 28"/>
                  <p:cNvSpPr>
                    <a:spLocks noChangeArrowheads="1"/>
                  </p:cNvSpPr>
                  <p:nvPr/>
                </p:nvSpPr>
                <p:spPr bwMode="auto">
                  <a:xfrm>
                    <a:off x="1922" y="3317"/>
                    <a:ext cx="36" cy="212"/>
                  </a:xfrm>
                  <a:prstGeom prst="rect">
                    <a:avLst/>
                  </a:prstGeom>
                  <a:solidFill>
                    <a:srgbClr val="C4C4F5"/>
                  </a:solidFill>
                  <a:ln w="9525">
                    <a:noFill/>
                    <a:miter lim="800000"/>
                    <a:headEnd/>
                    <a:tailEnd/>
                  </a:ln>
                </p:spPr>
                <p:txBody>
                  <a:bodyPr/>
                  <a:lstStyle/>
                  <a:p>
                    <a:endParaRPr lang="en-US"/>
                  </a:p>
                </p:txBody>
              </p:sp>
              <p:sp>
                <p:nvSpPr>
                  <p:cNvPr id="1393693" name="Rectangle 29"/>
                  <p:cNvSpPr>
                    <a:spLocks noChangeArrowheads="1"/>
                  </p:cNvSpPr>
                  <p:nvPr/>
                </p:nvSpPr>
                <p:spPr bwMode="auto">
                  <a:xfrm>
                    <a:off x="1958" y="3317"/>
                    <a:ext cx="31" cy="212"/>
                  </a:xfrm>
                  <a:prstGeom prst="rect">
                    <a:avLst/>
                  </a:prstGeom>
                  <a:solidFill>
                    <a:srgbClr val="C4C4F5"/>
                  </a:solidFill>
                  <a:ln w="9525">
                    <a:noFill/>
                    <a:miter lim="800000"/>
                    <a:headEnd/>
                    <a:tailEnd/>
                  </a:ln>
                </p:spPr>
                <p:txBody>
                  <a:bodyPr/>
                  <a:lstStyle/>
                  <a:p>
                    <a:endParaRPr lang="en-US"/>
                  </a:p>
                </p:txBody>
              </p:sp>
              <p:sp>
                <p:nvSpPr>
                  <p:cNvPr id="1393694" name="Rectangle 30"/>
                  <p:cNvSpPr>
                    <a:spLocks noChangeArrowheads="1"/>
                  </p:cNvSpPr>
                  <p:nvPr/>
                </p:nvSpPr>
                <p:spPr bwMode="auto">
                  <a:xfrm>
                    <a:off x="1989" y="3317"/>
                    <a:ext cx="36" cy="212"/>
                  </a:xfrm>
                  <a:prstGeom prst="rect">
                    <a:avLst/>
                  </a:prstGeom>
                  <a:solidFill>
                    <a:srgbClr val="C4C4F6"/>
                  </a:solidFill>
                  <a:ln w="9525">
                    <a:noFill/>
                    <a:miter lim="800000"/>
                    <a:headEnd/>
                    <a:tailEnd/>
                  </a:ln>
                </p:spPr>
                <p:txBody>
                  <a:bodyPr/>
                  <a:lstStyle/>
                  <a:p>
                    <a:endParaRPr lang="en-US"/>
                  </a:p>
                </p:txBody>
              </p:sp>
              <p:sp>
                <p:nvSpPr>
                  <p:cNvPr id="1393695" name="Rectangle 31"/>
                  <p:cNvSpPr>
                    <a:spLocks noChangeArrowheads="1"/>
                  </p:cNvSpPr>
                  <p:nvPr/>
                </p:nvSpPr>
                <p:spPr bwMode="auto">
                  <a:xfrm>
                    <a:off x="2025" y="3317"/>
                    <a:ext cx="32" cy="212"/>
                  </a:xfrm>
                  <a:prstGeom prst="rect">
                    <a:avLst/>
                  </a:prstGeom>
                  <a:solidFill>
                    <a:srgbClr val="C5C5F7"/>
                  </a:solidFill>
                  <a:ln w="9525">
                    <a:noFill/>
                    <a:miter lim="800000"/>
                    <a:headEnd/>
                    <a:tailEnd/>
                  </a:ln>
                </p:spPr>
                <p:txBody>
                  <a:bodyPr/>
                  <a:lstStyle/>
                  <a:p>
                    <a:endParaRPr lang="en-US"/>
                  </a:p>
                </p:txBody>
              </p:sp>
              <p:sp>
                <p:nvSpPr>
                  <p:cNvPr id="1393696" name="Rectangle 32"/>
                  <p:cNvSpPr>
                    <a:spLocks noChangeArrowheads="1"/>
                  </p:cNvSpPr>
                  <p:nvPr/>
                </p:nvSpPr>
                <p:spPr bwMode="auto">
                  <a:xfrm>
                    <a:off x="2057" y="3317"/>
                    <a:ext cx="36" cy="212"/>
                  </a:xfrm>
                  <a:prstGeom prst="rect">
                    <a:avLst/>
                  </a:prstGeom>
                  <a:solidFill>
                    <a:srgbClr val="C6C6F8"/>
                  </a:solidFill>
                  <a:ln w="9525">
                    <a:noFill/>
                    <a:miter lim="800000"/>
                    <a:headEnd/>
                    <a:tailEnd/>
                  </a:ln>
                </p:spPr>
                <p:txBody>
                  <a:bodyPr/>
                  <a:lstStyle/>
                  <a:p>
                    <a:endParaRPr lang="en-US"/>
                  </a:p>
                </p:txBody>
              </p:sp>
              <p:sp>
                <p:nvSpPr>
                  <p:cNvPr id="1393697" name="Rectangle 33"/>
                  <p:cNvSpPr>
                    <a:spLocks noChangeArrowheads="1"/>
                  </p:cNvSpPr>
                  <p:nvPr/>
                </p:nvSpPr>
                <p:spPr bwMode="auto">
                  <a:xfrm>
                    <a:off x="2093" y="3317"/>
                    <a:ext cx="31" cy="212"/>
                  </a:xfrm>
                  <a:prstGeom prst="rect">
                    <a:avLst/>
                  </a:prstGeom>
                  <a:solidFill>
                    <a:srgbClr val="C8C8FA"/>
                  </a:solidFill>
                  <a:ln w="9525">
                    <a:noFill/>
                    <a:miter lim="800000"/>
                    <a:headEnd/>
                    <a:tailEnd/>
                  </a:ln>
                </p:spPr>
                <p:txBody>
                  <a:bodyPr/>
                  <a:lstStyle/>
                  <a:p>
                    <a:endParaRPr lang="en-US"/>
                  </a:p>
                </p:txBody>
              </p:sp>
              <p:sp>
                <p:nvSpPr>
                  <p:cNvPr id="1393698" name="Rectangle 34"/>
                  <p:cNvSpPr>
                    <a:spLocks noChangeArrowheads="1"/>
                  </p:cNvSpPr>
                  <p:nvPr/>
                </p:nvSpPr>
                <p:spPr bwMode="auto">
                  <a:xfrm>
                    <a:off x="2124" y="3317"/>
                    <a:ext cx="36" cy="212"/>
                  </a:xfrm>
                  <a:prstGeom prst="rect">
                    <a:avLst/>
                  </a:prstGeom>
                  <a:solidFill>
                    <a:srgbClr val="C9C9FB"/>
                  </a:solidFill>
                  <a:ln w="9525">
                    <a:noFill/>
                    <a:miter lim="800000"/>
                    <a:headEnd/>
                    <a:tailEnd/>
                  </a:ln>
                </p:spPr>
                <p:txBody>
                  <a:bodyPr/>
                  <a:lstStyle/>
                  <a:p>
                    <a:endParaRPr lang="en-US"/>
                  </a:p>
                </p:txBody>
              </p:sp>
              <p:sp>
                <p:nvSpPr>
                  <p:cNvPr id="1393699" name="Rectangle 35"/>
                  <p:cNvSpPr>
                    <a:spLocks noChangeArrowheads="1"/>
                  </p:cNvSpPr>
                  <p:nvPr/>
                </p:nvSpPr>
                <p:spPr bwMode="auto">
                  <a:xfrm>
                    <a:off x="2160" y="3317"/>
                    <a:ext cx="31" cy="212"/>
                  </a:xfrm>
                  <a:prstGeom prst="rect">
                    <a:avLst/>
                  </a:prstGeom>
                  <a:solidFill>
                    <a:srgbClr val="CACAFC"/>
                  </a:solidFill>
                  <a:ln w="9525">
                    <a:noFill/>
                    <a:miter lim="800000"/>
                    <a:headEnd/>
                    <a:tailEnd/>
                  </a:ln>
                </p:spPr>
                <p:txBody>
                  <a:bodyPr/>
                  <a:lstStyle/>
                  <a:p>
                    <a:endParaRPr lang="en-US"/>
                  </a:p>
                </p:txBody>
              </p:sp>
              <p:sp>
                <p:nvSpPr>
                  <p:cNvPr id="1393700" name="Rectangle 36"/>
                  <p:cNvSpPr>
                    <a:spLocks noChangeArrowheads="1"/>
                  </p:cNvSpPr>
                  <p:nvPr/>
                </p:nvSpPr>
                <p:spPr bwMode="auto">
                  <a:xfrm>
                    <a:off x="2191" y="3317"/>
                    <a:ext cx="37" cy="212"/>
                  </a:xfrm>
                  <a:prstGeom prst="rect">
                    <a:avLst/>
                  </a:prstGeom>
                  <a:solidFill>
                    <a:srgbClr val="CBCBFD"/>
                  </a:solidFill>
                  <a:ln w="9525">
                    <a:noFill/>
                    <a:miter lim="800000"/>
                    <a:headEnd/>
                    <a:tailEnd/>
                  </a:ln>
                </p:spPr>
                <p:txBody>
                  <a:bodyPr/>
                  <a:lstStyle/>
                  <a:p>
                    <a:endParaRPr lang="en-US"/>
                  </a:p>
                </p:txBody>
              </p:sp>
              <p:sp>
                <p:nvSpPr>
                  <p:cNvPr id="1393701" name="Rectangle 37"/>
                  <p:cNvSpPr>
                    <a:spLocks noChangeArrowheads="1"/>
                  </p:cNvSpPr>
                  <p:nvPr/>
                </p:nvSpPr>
                <p:spPr bwMode="auto">
                  <a:xfrm>
                    <a:off x="2228" y="3317"/>
                    <a:ext cx="31" cy="212"/>
                  </a:xfrm>
                  <a:prstGeom prst="rect">
                    <a:avLst/>
                  </a:prstGeom>
                  <a:solidFill>
                    <a:srgbClr val="CBCBFE"/>
                  </a:solidFill>
                  <a:ln w="9525">
                    <a:noFill/>
                    <a:miter lim="800000"/>
                    <a:headEnd/>
                    <a:tailEnd/>
                  </a:ln>
                </p:spPr>
                <p:txBody>
                  <a:bodyPr/>
                  <a:lstStyle/>
                  <a:p>
                    <a:endParaRPr lang="en-US"/>
                  </a:p>
                </p:txBody>
              </p:sp>
              <p:sp>
                <p:nvSpPr>
                  <p:cNvPr id="1393702" name="Rectangle 38"/>
                  <p:cNvSpPr>
                    <a:spLocks noChangeArrowheads="1"/>
                  </p:cNvSpPr>
                  <p:nvPr/>
                </p:nvSpPr>
                <p:spPr bwMode="auto">
                  <a:xfrm>
                    <a:off x="2259" y="3317"/>
                    <a:ext cx="36" cy="212"/>
                  </a:xfrm>
                  <a:prstGeom prst="rect">
                    <a:avLst/>
                  </a:prstGeom>
                  <a:solidFill>
                    <a:srgbClr val="CCCCFF"/>
                  </a:solidFill>
                  <a:ln w="9525">
                    <a:noFill/>
                    <a:miter lim="800000"/>
                    <a:headEnd/>
                    <a:tailEnd/>
                  </a:ln>
                </p:spPr>
                <p:txBody>
                  <a:bodyPr/>
                  <a:lstStyle/>
                  <a:p>
                    <a:endParaRPr lang="en-US"/>
                  </a:p>
                </p:txBody>
              </p:sp>
            </p:grpSp>
            <p:sp>
              <p:nvSpPr>
                <p:cNvPr id="1393704" name="Rectangle 40"/>
                <p:cNvSpPr>
                  <a:spLocks noChangeArrowheads="1"/>
                </p:cNvSpPr>
                <p:nvPr/>
              </p:nvSpPr>
              <p:spPr bwMode="auto">
                <a:xfrm>
                  <a:off x="1549" y="3317"/>
                  <a:ext cx="746" cy="212"/>
                </a:xfrm>
                <a:prstGeom prst="rect">
                  <a:avLst/>
                </a:prstGeom>
                <a:noFill/>
                <a:ln w="9525" cap="rnd">
                  <a:solidFill>
                    <a:srgbClr val="000000"/>
                  </a:solidFill>
                  <a:miter lim="800000"/>
                  <a:headEnd/>
                  <a:tailEnd/>
                </a:ln>
              </p:spPr>
              <p:txBody>
                <a:bodyPr/>
                <a:lstStyle/>
                <a:p>
                  <a:endParaRPr lang="en-US"/>
                </a:p>
              </p:txBody>
            </p:sp>
          </p:grpSp>
          <p:sp>
            <p:nvSpPr>
              <p:cNvPr id="1393706" name="Rectangle 42"/>
              <p:cNvSpPr>
                <a:spLocks noChangeArrowheads="1"/>
              </p:cNvSpPr>
              <p:nvPr/>
            </p:nvSpPr>
            <p:spPr bwMode="auto">
              <a:xfrm>
                <a:off x="1732" y="3379"/>
                <a:ext cx="448" cy="96"/>
              </a:xfrm>
              <a:prstGeom prst="rect">
                <a:avLst/>
              </a:prstGeom>
              <a:no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sp>
            <p:nvSpPr>
              <p:cNvPr id="1393707" name="Freeform 43"/>
              <p:cNvSpPr>
                <a:spLocks/>
              </p:cNvSpPr>
              <p:nvPr/>
            </p:nvSpPr>
            <p:spPr bwMode="auto">
              <a:xfrm>
                <a:off x="1559" y="2093"/>
                <a:ext cx="705" cy="285"/>
              </a:xfrm>
              <a:custGeom>
                <a:avLst/>
                <a:gdLst/>
                <a:ahLst/>
                <a:cxnLst>
                  <a:cxn ang="0">
                    <a:pos x="0" y="228"/>
                  </a:cxn>
                  <a:cxn ang="0">
                    <a:pos x="176" y="228"/>
                  </a:cxn>
                  <a:cxn ang="0">
                    <a:pos x="176" y="285"/>
                  </a:cxn>
                  <a:cxn ang="0">
                    <a:pos x="529" y="285"/>
                  </a:cxn>
                  <a:cxn ang="0">
                    <a:pos x="529" y="228"/>
                  </a:cxn>
                  <a:cxn ang="0">
                    <a:pos x="705" y="228"/>
                  </a:cxn>
                  <a:cxn ang="0">
                    <a:pos x="352" y="0"/>
                  </a:cxn>
                  <a:cxn ang="0">
                    <a:pos x="0" y="228"/>
                  </a:cxn>
                </a:cxnLst>
                <a:rect l="0" t="0" r="r" b="b"/>
                <a:pathLst>
                  <a:path w="705" h="285">
                    <a:moveTo>
                      <a:pt x="0" y="228"/>
                    </a:moveTo>
                    <a:lnTo>
                      <a:pt x="176" y="228"/>
                    </a:lnTo>
                    <a:lnTo>
                      <a:pt x="176" y="285"/>
                    </a:lnTo>
                    <a:lnTo>
                      <a:pt x="529" y="285"/>
                    </a:lnTo>
                    <a:lnTo>
                      <a:pt x="529" y="228"/>
                    </a:lnTo>
                    <a:lnTo>
                      <a:pt x="705" y="228"/>
                    </a:lnTo>
                    <a:lnTo>
                      <a:pt x="352" y="0"/>
                    </a:lnTo>
                    <a:lnTo>
                      <a:pt x="0" y="228"/>
                    </a:lnTo>
                    <a:close/>
                  </a:path>
                </a:pathLst>
              </a:custGeom>
              <a:solidFill>
                <a:srgbClr val="CCCCFF"/>
              </a:solidFill>
              <a:ln w="9525" cap="rnd">
                <a:solidFill>
                  <a:srgbClr val="000000"/>
                </a:solidFill>
                <a:prstDash val="solid"/>
                <a:round/>
                <a:headEnd/>
                <a:tailEnd/>
              </a:ln>
            </p:spPr>
            <p:txBody>
              <a:bodyPr/>
              <a:lstStyle/>
              <a:p>
                <a:endParaRPr lang="en-US"/>
              </a:p>
            </p:txBody>
          </p:sp>
          <p:sp>
            <p:nvSpPr>
              <p:cNvPr id="1393777" name="Rectangle 113"/>
              <p:cNvSpPr>
                <a:spLocks noChangeArrowheads="1"/>
              </p:cNvSpPr>
              <p:nvPr/>
            </p:nvSpPr>
            <p:spPr bwMode="auto">
              <a:xfrm>
                <a:off x="1552" y="1054"/>
                <a:ext cx="753" cy="96"/>
              </a:xfrm>
              <a:prstGeom prst="rect">
                <a:avLst/>
              </a:prstGeom>
              <a:noFill/>
              <a:ln w="9525">
                <a:noFill/>
                <a:miter lim="800000"/>
                <a:headEnd/>
                <a:tailEnd/>
              </a:ln>
            </p:spPr>
            <p:txBody>
              <a:bodyPr wrap="none" lIns="0" tIns="0" rIns="0" bIns="0">
                <a:spAutoFit/>
              </a:bodyPr>
              <a:lstStyle/>
              <a:p>
                <a:r>
                  <a:rPr lang="en-US" sz="1000" b="1">
                    <a:solidFill>
                      <a:srgbClr val="000000"/>
                    </a:solidFill>
                  </a:rPr>
                  <a:t>Strategic Outcomes</a:t>
                </a:r>
                <a:endParaRPr lang="en-US"/>
              </a:p>
            </p:txBody>
          </p:sp>
          <p:sp>
            <p:nvSpPr>
              <p:cNvPr id="1393778" name="Rectangle 114"/>
              <p:cNvSpPr>
                <a:spLocks noChangeArrowheads="1"/>
              </p:cNvSpPr>
              <p:nvPr/>
            </p:nvSpPr>
            <p:spPr bwMode="auto">
              <a:xfrm>
                <a:off x="1751" y="3809"/>
                <a:ext cx="321" cy="151"/>
              </a:xfrm>
              <a:prstGeom prst="rect">
                <a:avLst/>
              </a:prstGeom>
              <a:noFill/>
              <a:ln w="9525">
                <a:noFill/>
                <a:miter lim="800000"/>
                <a:headEnd/>
                <a:tailEnd/>
              </a:ln>
            </p:spPr>
            <p:txBody>
              <a:bodyPr/>
              <a:lstStyle/>
              <a:p>
                <a:endParaRPr lang="en-US"/>
              </a:p>
            </p:txBody>
          </p:sp>
          <p:sp>
            <p:nvSpPr>
              <p:cNvPr id="1393779" name="Rectangle 115"/>
              <p:cNvSpPr>
                <a:spLocks noChangeArrowheads="1"/>
              </p:cNvSpPr>
              <p:nvPr/>
            </p:nvSpPr>
            <p:spPr bwMode="auto">
              <a:xfrm>
                <a:off x="1803" y="3840"/>
                <a:ext cx="275" cy="124"/>
              </a:xfrm>
              <a:prstGeom prst="rect">
                <a:avLst/>
              </a:prstGeom>
              <a:noFill/>
              <a:ln w="9525">
                <a:noFill/>
                <a:miter lim="800000"/>
                <a:headEnd/>
                <a:tailEnd/>
              </a:ln>
            </p:spPr>
            <p:txBody>
              <a:bodyPr wrap="none" lIns="0" tIns="0" rIns="0" bIns="0">
                <a:spAutoFit/>
              </a:bodyPr>
              <a:lstStyle/>
              <a:p>
                <a:r>
                  <a:rPr lang="en-US" sz="1000" b="1">
                    <a:solidFill>
                      <a:srgbClr val="FFFFFF"/>
                    </a:solidFill>
                  </a:rPr>
                  <a:t>Value</a:t>
                </a:r>
                <a:endParaRPr lang="en-US"/>
              </a:p>
            </p:txBody>
          </p:sp>
          <p:sp>
            <p:nvSpPr>
              <p:cNvPr id="1393780" name="Rectangle 116"/>
              <p:cNvSpPr>
                <a:spLocks noChangeArrowheads="1"/>
              </p:cNvSpPr>
              <p:nvPr/>
            </p:nvSpPr>
            <p:spPr bwMode="auto">
              <a:xfrm>
                <a:off x="2165" y="1419"/>
                <a:ext cx="395" cy="96"/>
              </a:xfrm>
              <a:prstGeom prst="rect">
                <a:avLst/>
              </a:prstGeom>
              <a:noFill/>
              <a:ln w="9525">
                <a:noFill/>
                <a:miter lim="800000"/>
                <a:headEnd/>
                <a:tailEnd/>
              </a:ln>
            </p:spPr>
            <p:txBody>
              <a:bodyPr wrap="none" lIns="0" tIns="0" rIns="0" bIns="0">
                <a:spAutoFit/>
              </a:bodyPr>
              <a:lstStyle/>
              <a:p>
                <a:r>
                  <a:rPr lang="en-US" sz="1000" b="1">
                    <a:solidFill>
                      <a:schemeClr val="bg1"/>
                    </a:solidFill>
                  </a:rPr>
                  <a:t>Customer </a:t>
                </a:r>
                <a:endParaRPr lang="en-US">
                  <a:solidFill>
                    <a:schemeClr val="bg1"/>
                  </a:solidFill>
                </a:endParaRPr>
              </a:p>
            </p:txBody>
          </p:sp>
          <p:sp>
            <p:nvSpPr>
              <p:cNvPr id="1393781" name="Rectangle 117"/>
              <p:cNvSpPr>
                <a:spLocks noChangeArrowheads="1"/>
              </p:cNvSpPr>
              <p:nvPr/>
            </p:nvSpPr>
            <p:spPr bwMode="auto">
              <a:xfrm>
                <a:off x="2206" y="1497"/>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3782" name="Rectangle 118"/>
              <p:cNvSpPr>
                <a:spLocks noChangeArrowheads="1"/>
              </p:cNvSpPr>
              <p:nvPr/>
            </p:nvSpPr>
            <p:spPr bwMode="auto">
              <a:xfrm>
                <a:off x="2054" y="1601"/>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783" name="Rectangle 119"/>
              <p:cNvSpPr>
                <a:spLocks noChangeArrowheads="1"/>
              </p:cNvSpPr>
              <p:nvPr/>
            </p:nvSpPr>
            <p:spPr bwMode="auto">
              <a:xfrm>
                <a:off x="2079" y="1601"/>
                <a:ext cx="277" cy="67"/>
              </a:xfrm>
              <a:prstGeom prst="rect">
                <a:avLst/>
              </a:prstGeom>
              <a:noFill/>
              <a:ln w="9525">
                <a:noFill/>
                <a:miter lim="800000"/>
                <a:headEnd/>
                <a:tailEnd/>
              </a:ln>
            </p:spPr>
            <p:txBody>
              <a:bodyPr wrap="none" lIns="0" tIns="0" rIns="0" bIns="0">
                <a:spAutoFit/>
              </a:bodyPr>
              <a:lstStyle/>
              <a:p>
                <a:r>
                  <a:rPr lang="en-US" sz="700" b="1">
                    <a:solidFill>
                      <a:schemeClr val="bg1"/>
                    </a:solidFill>
                  </a:rPr>
                  <a:t>Customer </a:t>
                </a:r>
                <a:endParaRPr lang="en-US" b="1">
                  <a:solidFill>
                    <a:schemeClr val="bg1"/>
                  </a:solidFill>
                </a:endParaRPr>
              </a:p>
            </p:txBody>
          </p:sp>
          <p:sp>
            <p:nvSpPr>
              <p:cNvPr id="1393784" name="Rectangle 120"/>
              <p:cNvSpPr>
                <a:spLocks noChangeArrowheads="1"/>
              </p:cNvSpPr>
              <p:nvPr/>
            </p:nvSpPr>
            <p:spPr bwMode="auto">
              <a:xfrm>
                <a:off x="2056" y="1658"/>
                <a:ext cx="318" cy="67"/>
              </a:xfrm>
              <a:prstGeom prst="rect">
                <a:avLst/>
              </a:prstGeom>
              <a:noFill/>
              <a:ln w="9525">
                <a:noFill/>
                <a:miter lim="800000"/>
                <a:headEnd/>
                <a:tailEnd/>
              </a:ln>
            </p:spPr>
            <p:txBody>
              <a:bodyPr wrap="none" lIns="0" tIns="0" rIns="0" bIns="0">
                <a:spAutoFit/>
              </a:bodyPr>
              <a:lstStyle/>
              <a:p>
                <a:r>
                  <a:rPr lang="en-US" sz="700" b="1">
                    <a:solidFill>
                      <a:schemeClr val="bg1"/>
                    </a:solidFill>
                  </a:rPr>
                  <a:t>Satisfaction</a:t>
                </a:r>
                <a:endParaRPr lang="en-US" b="1">
                  <a:solidFill>
                    <a:schemeClr val="bg1"/>
                  </a:solidFill>
                </a:endParaRPr>
              </a:p>
            </p:txBody>
          </p:sp>
          <p:sp>
            <p:nvSpPr>
              <p:cNvPr id="1393785" name="Rectangle 121"/>
              <p:cNvSpPr>
                <a:spLocks noChangeArrowheads="1"/>
              </p:cNvSpPr>
              <p:nvPr/>
            </p:nvSpPr>
            <p:spPr bwMode="auto">
              <a:xfrm>
                <a:off x="2054" y="1725"/>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786" name="Rectangle 122"/>
              <p:cNvSpPr>
                <a:spLocks noChangeArrowheads="1"/>
              </p:cNvSpPr>
              <p:nvPr/>
            </p:nvSpPr>
            <p:spPr bwMode="auto">
              <a:xfrm>
                <a:off x="2087" y="1725"/>
                <a:ext cx="469"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Coverage</a:t>
                </a:r>
                <a:endParaRPr lang="en-US" b="1">
                  <a:solidFill>
                    <a:schemeClr val="bg1"/>
                  </a:solidFill>
                </a:endParaRPr>
              </a:p>
            </p:txBody>
          </p:sp>
          <p:sp>
            <p:nvSpPr>
              <p:cNvPr id="1393787" name="Rectangle 123"/>
              <p:cNvSpPr>
                <a:spLocks noChangeArrowheads="1"/>
              </p:cNvSpPr>
              <p:nvPr/>
            </p:nvSpPr>
            <p:spPr bwMode="auto">
              <a:xfrm>
                <a:off x="2054" y="1787"/>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788" name="Rectangle 124"/>
              <p:cNvSpPr>
                <a:spLocks noChangeArrowheads="1"/>
              </p:cNvSpPr>
              <p:nvPr/>
            </p:nvSpPr>
            <p:spPr bwMode="auto">
              <a:xfrm>
                <a:off x="2081" y="1787"/>
                <a:ext cx="362" cy="67"/>
              </a:xfrm>
              <a:prstGeom prst="rect">
                <a:avLst/>
              </a:prstGeom>
              <a:noFill/>
              <a:ln w="9525">
                <a:noFill/>
                <a:miter lim="800000"/>
                <a:headEnd/>
                <a:tailEnd/>
              </a:ln>
            </p:spPr>
            <p:txBody>
              <a:bodyPr wrap="none" lIns="0" tIns="0" rIns="0" bIns="0">
                <a:spAutoFit/>
              </a:bodyPr>
              <a:lstStyle/>
              <a:p>
                <a:r>
                  <a:rPr lang="en-US" sz="700" b="1">
                    <a:solidFill>
                      <a:schemeClr val="bg1"/>
                    </a:solidFill>
                  </a:rPr>
                  <a:t>Timeliness &amp; </a:t>
                </a:r>
                <a:endParaRPr lang="en-US" b="1">
                  <a:solidFill>
                    <a:schemeClr val="bg1"/>
                  </a:solidFill>
                </a:endParaRPr>
              </a:p>
            </p:txBody>
          </p:sp>
          <p:sp>
            <p:nvSpPr>
              <p:cNvPr id="1393789" name="Rectangle 125"/>
              <p:cNvSpPr>
                <a:spLocks noChangeArrowheads="1"/>
              </p:cNvSpPr>
              <p:nvPr/>
            </p:nvSpPr>
            <p:spPr bwMode="auto">
              <a:xfrm>
                <a:off x="2060" y="1844"/>
                <a:ext cx="440" cy="67"/>
              </a:xfrm>
              <a:prstGeom prst="rect">
                <a:avLst/>
              </a:prstGeom>
              <a:noFill/>
              <a:ln w="9525">
                <a:noFill/>
                <a:miter lim="800000"/>
                <a:headEnd/>
                <a:tailEnd/>
              </a:ln>
            </p:spPr>
            <p:txBody>
              <a:bodyPr wrap="none" lIns="0" tIns="0" rIns="0" bIns="0">
                <a:spAutoFit/>
              </a:bodyPr>
              <a:lstStyle/>
              <a:p>
                <a:r>
                  <a:rPr lang="en-US" sz="700" b="1">
                    <a:solidFill>
                      <a:schemeClr val="bg1"/>
                    </a:solidFill>
                  </a:rPr>
                  <a:t>Responsiveness</a:t>
                </a:r>
                <a:endParaRPr lang="en-US" b="1">
                  <a:solidFill>
                    <a:schemeClr val="bg1"/>
                  </a:solidFill>
                </a:endParaRPr>
              </a:p>
            </p:txBody>
          </p:sp>
          <p:sp>
            <p:nvSpPr>
              <p:cNvPr id="1393790" name="Rectangle 126"/>
              <p:cNvSpPr>
                <a:spLocks noChangeArrowheads="1"/>
              </p:cNvSpPr>
              <p:nvPr/>
            </p:nvSpPr>
            <p:spPr bwMode="auto">
              <a:xfrm>
                <a:off x="2054" y="191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791" name="Rectangle 127"/>
              <p:cNvSpPr>
                <a:spLocks noChangeArrowheads="1"/>
              </p:cNvSpPr>
              <p:nvPr/>
            </p:nvSpPr>
            <p:spPr bwMode="auto">
              <a:xfrm>
                <a:off x="2079" y="1912"/>
                <a:ext cx="406"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Quality</a:t>
                </a:r>
                <a:endParaRPr lang="en-US" b="1">
                  <a:solidFill>
                    <a:schemeClr val="bg1"/>
                  </a:solidFill>
                </a:endParaRPr>
              </a:p>
            </p:txBody>
          </p:sp>
          <p:sp>
            <p:nvSpPr>
              <p:cNvPr id="1393792" name="Rectangle 128"/>
              <p:cNvSpPr>
                <a:spLocks noChangeArrowheads="1"/>
              </p:cNvSpPr>
              <p:nvPr/>
            </p:nvSpPr>
            <p:spPr bwMode="auto">
              <a:xfrm>
                <a:off x="2054" y="1979"/>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793" name="Rectangle 129"/>
              <p:cNvSpPr>
                <a:spLocks noChangeArrowheads="1"/>
              </p:cNvSpPr>
              <p:nvPr/>
            </p:nvSpPr>
            <p:spPr bwMode="auto">
              <a:xfrm>
                <a:off x="2076" y="1979"/>
                <a:ext cx="558"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Accessibility</a:t>
                </a:r>
                <a:endParaRPr lang="en-US" b="1">
                  <a:solidFill>
                    <a:schemeClr val="bg1"/>
                  </a:solidFill>
                </a:endParaRPr>
              </a:p>
            </p:txBody>
          </p:sp>
          <p:sp>
            <p:nvSpPr>
              <p:cNvPr id="1393794" name="Rectangle 130"/>
              <p:cNvSpPr>
                <a:spLocks noChangeArrowheads="1"/>
              </p:cNvSpPr>
              <p:nvPr/>
            </p:nvSpPr>
            <p:spPr bwMode="auto">
              <a:xfrm>
                <a:off x="1989" y="1404"/>
                <a:ext cx="669" cy="669"/>
              </a:xfrm>
              <a:prstGeom prst="rect">
                <a:avLst/>
              </a:prstGeom>
              <a:solidFill>
                <a:srgbClr val="808080"/>
              </a:solidFill>
              <a:ln w="9525">
                <a:noFill/>
                <a:miter lim="800000"/>
                <a:headEnd/>
                <a:tailEnd/>
              </a:ln>
            </p:spPr>
            <p:txBody>
              <a:bodyPr/>
              <a:lstStyle/>
              <a:p>
                <a:endParaRPr lang="en-US"/>
              </a:p>
            </p:txBody>
          </p:sp>
          <p:sp>
            <p:nvSpPr>
              <p:cNvPr id="1393795" name="Rectangle 131"/>
              <p:cNvSpPr>
                <a:spLocks noChangeArrowheads="1"/>
              </p:cNvSpPr>
              <p:nvPr/>
            </p:nvSpPr>
            <p:spPr bwMode="auto">
              <a:xfrm>
                <a:off x="1974" y="1388"/>
                <a:ext cx="663" cy="664"/>
              </a:xfrm>
              <a:prstGeom prst="rect">
                <a:avLst/>
              </a:prstGeom>
              <a:solidFill>
                <a:srgbClr val="909DFC"/>
              </a:solidFill>
              <a:ln w="9525">
                <a:solidFill>
                  <a:srgbClr val="000000"/>
                </a:solidFill>
                <a:miter lim="800000"/>
                <a:headEnd/>
                <a:tailEnd/>
              </a:ln>
            </p:spPr>
            <p:txBody>
              <a:bodyPr/>
              <a:lstStyle/>
              <a:p>
                <a:endParaRPr lang="en-US"/>
              </a:p>
            </p:txBody>
          </p:sp>
          <p:sp>
            <p:nvSpPr>
              <p:cNvPr id="1393796" name="Rectangle 132"/>
              <p:cNvSpPr>
                <a:spLocks noChangeArrowheads="1"/>
              </p:cNvSpPr>
              <p:nvPr/>
            </p:nvSpPr>
            <p:spPr bwMode="auto">
              <a:xfrm>
                <a:off x="2149" y="1404"/>
                <a:ext cx="395" cy="96"/>
              </a:xfrm>
              <a:prstGeom prst="rect">
                <a:avLst/>
              </a:prstGeom>
              <a:noFill/>
              <a:ln w="9525">
                <a:noFill/>
                <a:miter lim="800000"/>
                <a:headEnd/>
                <a:tailEnd/>
              </a:ln>
            </p:spPr>
            <p:txBody>
              <a:bodyPr wrap="none" lIns="0" tIns="0" rIns="0" bIns="0">
                <a:spAutoFit/>
              </a:bodyPr>
              <a:lstStyle/>
              <a:p>
                <a:r>
                  <a:rPr lang="en-US" sz="1000" b="1">
                    <a:solidFill>
                      <a:schemeClr val="bg1"/>
                    </a:solidFill>
                  </a:rPr>
                  <a:t>Customer </a:t>
                </a:r>
                <a:endParaRPr lang="en-US">
                  <a:solidFill>
                    <a:schemeClr val="bg1"/>
                  </a:solidFill>
                </a:endParaRPr>
              </a:p>
            </p:txBody>
          </p:sp>
          <p:sp>
            <p:nvSpPr>
              <p:cNvPr id="1393797" name="Rectangle 133"/>
              <p:cNvSpPr>
                <a:spLocks noChangeArrowheads="1"/>
              </p:cNvSpPr>
              <p:nvPr/>
            </p:nvSpPr>
            <p:spPr bwMode="auto">
              <a:xfrm>
                <a:off x="2190" y="1481"/>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3798" name="Rectangle 134"/>
              <p:cNvSpPr>
                <a:spLocks noChangeArrowheads="1"/>
              </p:cNvSpPr>
              <p:nvPr/>
            </p:nvSpPr>
            <p:spPr bwMode="auto">
              <a:xfrm>
                <a:off x="2010" y="1585"/>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799" name="Rectangle 135"/>
              <p:cNvSpPr>
                <a:spLocks noChangeArrowheads="1"/>
              </p:cNvSpPr>
              <p:nvPr/>
            </p:nvSpPr>
            <p:spPr bwMode="auto">
              <a:xfrm>
                <a:off x="2054" y="1585"/>
                <a:ext cx="277" cy="67"/>
              </a:xfrm>
              <a:prstGeom prst="rect">
                <a:avLst/>
              </a:prstGeom>
              <a:noFill/>
              <a:ln w="9525">
                <a:noFill/>
                <a:miter lim="800000"/>
                <a:headEnd/>
                <a:tailEnd/>
              </a:ln>
            </p:spPr>
            <p:txBody>
              <a:bodyPr wrap="none" lIns="0" tIns="0" rIns="0" bIns="0">
                <a:spAutoFit/>
              </a:bodyPr>
              <a:lstStyle/>
              <a:p>
                <a:r>
                  <a:rPr lang="en-US" sz="700" b="1">
                    <a:solidFill>
                      <a:schemeClr val="bg1"/>
                    </a:solidFill>
                  </a:rPr>
                  <a:t>Customer </a:t>
                </a:r>
                <a:endParaRPr lang="en-US" b="1">
                  <a:solidFill>
                    <a:schemeClr val="bg1"/>
                  </a:solidFill>
                </a:endParaRPr>
              </a:p>
            </p:txBody>
          </p:sp>
          <p:sp>
            <p:nvSpPr>
              <p:cNvPr id="1393800" name="Rectangle 136"/>
              <p:cNvSpPr>
                <a:spLocks noChangeArrowheads="1"/>
              </p:cNvSpPr>
              <p:nvPr/>
            </p:nvSpPr>
            <p:spPr bwMode="auto">
              <a:xfrm>
                <a:off x="2054" y="1642"/>
                <a:ext cx="318" cy="67"/>
              </a:xfrm>
              <a:prstGeom prst="rect">
                <a:avLst/>
              </a:prstGeom>
              <a:noFill/>
              <a:ln w="9525">
                <a:noFill/>
                <a:miter lim="800000"/>
                <a:headEnd/>
                <a:tailEnd/>
              </a:ln>
            </p:spPr>
            <p:txBody>
              <a:bodyPr wrap="none" lIns="0" tIns="0" rIns="0" bIns="0">
                <a:spAutoFit/>
              </a:bodyPr>
              <a:lstStyle/>
              <a:p>
                <a:r>
                  <a:rPr lang="en-US" sz="700" b="1">
                    <a:solidFill>
                      <a:schemeClr val="bg1"/>
                    </a:solidFill>
                  </a:rPr>
                  <a:t>Satisfaction</a:t>
                </a:r>
                <a:endParaRPr lang="en-US" b="1">
                  <a:solidFill>
                    <a:schemeClr val="bg1"/>
                  </a:solidFill>
                </a:endParaRPr>
              </a:p>
            </p:txBody>
          </p:sp>
          <p:sp>
            <p:nvSpPr>
              <p:cNvPr id="1393801" name="Rectangle 137"/>
              <p:cNvSpPr>
                <a:spLocks noChangeArrowheads="1"/>
              </p:cNvSpPr>
              <p:nvPr/>
            </p:nvSpPr>
            <p:spPr bwMode="auto">
              <a:xfrm>
                <a:off x="2010" y="1710"/>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02" name="Rectangle 138"/>
              <p:cNvSpPr>
                <a:spLocks noChangeArrowheads="1"/>
              </p:cNvSpPr>
              <p:nvPr/>
            </p:nvSpPr>
            <p:spPr bwMode="auto">
              <a:xfrm>
                <a:off x="2054" y="1710"/>
                <a:ext cx="469"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Coverage</a:t>
                </a:r>
                <a:endParaRPr lang="en-US" b="1">
                  <a:solidFill>
                    <a:schemeClr val="bg1"/>
                  </a:solidFill>
                </a:endParaRPr>
              </a:p>
            </p:txBody>
          </p:sp>
          <p:sp>
            <p:nvSpPr>
              <p:cNvPr id="1393803" name="Rectangle 139"/>
              <p:cNvSpPr>
                <a:spLocks noChangeArrowheads="1"/>
              </p:cNvSpPr>
              <p:nvPr/>
            </p:nvSpPr>
            <p:spPr bwMode="auto">
              <a:xfrm>
                <a:off x="2010" y="177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04" name="Rectangle 140"/>
              <p:cNvSpPr>
                <a:spLocks noChangeArrowheads="1"/>
              </p:cNvSpPr>
              <p:nvPr/>
            </p:nvSpPr>
            <p:spPr bwMode="auto">
              <a:xfrm>
                <a:off x="2054" y="1772"/>
                <a:ext cx="362" cy="67"/>
              </a:xfrm>
              <a:prstGeom prst="rect">
                <a:avLst/>
              </a:prstGeom>
              <a:noFill/>
              <a:ln w="9525">
                <a:noFill/>
                <a:miter lim="800000"/>
                <a:headEnd/>
                <a:tailEnd/>
              </a:ln>
            </p:spPr>
            <p:txBody>
              <a:bodyPr wrap="none" lIns="0" tIns="0" rIns="0" bIns="0">
                <a:spAutoFit/>
              </a:bodyPr>
              <a:lstStyle/>
              <a:p>
                <a:r>
                  <a:rPr lang="en-US" sz="700" b="1">
                    <a:solidFill>
                      <a:schemeClr val="bg1"/>
                    </a:solidFill>
                  </a:rPr>
                  <a:t>Timeliness &amp; </a:t>
                </a:r>
                <a:endParaRPr lang="en-US" b="1">
                  <a:solidFill>
                    <a:schemeClr val="bg1"/>
                  </a:solidFill>
                </a:endParaRPr>
              </a:p>
            </p:txBody>
          </p:sp>
          <p:sp>
            <p:nvSpPr>
              <p:cNvPr id="1393805" name="Rectangle 141"/>
              <p:cNvSpPr>
                <a:spLocks noChangeArrowheads="1"/>
              </p:cNvSpPr>
              <p:nvPr/>
            </p:nvSpPr>
            <p:spPr bwMode="auto">
              <a:xfrm>
                <a:off x="2054" y="1829"/>
                <a:ext cx="440" cy="67"/>
              </a:xfrm>
              <a:prstGeom prst="rect">
                <a:avLst/>
              </a:prstGeom>
              <a:noFill/>
              <a:ln w="9525">
                <a:noFill/>
                <a:miter lim="800000"/>
                <a:headEnd/>
                <a:tailEnd/>
              </a:ln>
            </p:spPr>
            <p:txBody>
              <a:bodyPr wrap="none" lIns="0" tIns="0" rIns="0" bIns="0">
                <a:spAutoFit/>
              </a:bodyPr>
              <a:lstStyle/>
              <a:p>
                <a:r>
                  <a:rPr lang="en-US" sz="700" b="1">
                    <a:solidFill>
                      <a:schemeClr val="bg1"/>
                    </a:solidFill>
                  </a:rPr>
                  <a:t>Responsiveness</a:t>
                </a:r>
                <a:endParaRPr lang="en-US" b="1">
                  <a:solidFill>
                    <a:schemeClr val="bg1"/>
                  </a:solidFill>
                </a:endParaRPr>
              </a:p>
            </p:txBody>
          </p:sp>
          <p:sp>
            <p:nvSpPr>
              <p:cNvPr id="1393806" name="Rectangle 142"/>
              <p:cNvSpPr>
                <a:spLocks noChangeArrowheads="1"/>
              </p:cNvSpPr>
              <p:nvPr/>
            </p:nvSpPr>
            <p:spPr bwMode="auto">
              <a:xfrm>
                <a:off x="2010" y="1896"/>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07" name="Rectangle 143"/>
              <p:cNvSpPr>
                <a:spLocks noChangeArrowheads="1"/>
              </p:cNvSpPr>
              <p:nvPr/>
            </p:nvSpPr>
            <p:spPr bwMode="auto">
              <a:xfrm>
                <a:off x="2054" y="1896"/>
                <a:ext cx="406"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Quality</a:t>
                </a:r>
                <a:endParaRPr lang="en-US" b="1">
                  <a:solidFill>
                    <a:schemeClr val="bg1"/>
                  </a:solidFill>
                </a:endParaRPr>
              </a:p>
            </p:txBody>
          </p:sp>
          <p:sp>
            <p:nvSpPr>
              <p:cNvPr id="1393808" name="Rectangle 144"/>
              <p:cNvSpPr>
                <a:spLocks noChangeArrowheads="1"/>
              </p:cNvSpPr>
              <p:nvPr/>
            </p:nvSpPr>
            <p:spPr bwMode="auto">
              <a:xfrm>
                <a:off x="2010" y="1964"/>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09" name="Rectangle 145"/>
              <p:cNvSpPr>
                <a:spLocks noChangeArrowheads="1"/>
              </p:cNvSpPr>
              <p:nvPr/>
            </p:nvSpPr>
            <p:spPr bwMode="auto">
              <a:xfrm>
                <a:off x="2054" y="1964"/>
                <a:ext cx="558"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Accessibility</a:t>
                </a:r>
                <a:endParaRPr lang="en-US" b="1">
                  <a:solidFill>
                    <a:schemeClr val="bg1"/>
                  </a:solidFill>
                </a:endParaRPr>
              </a:p>
            </p:txBody>
          </p:sp>
          <p:sp>
            <p:nvSpPr>
              <p:cNvPr id="1393810" name="Rectangle 146"/>
              <p:cNvSpPr>
                <a:spLocks noChangeArrowheads="1"/>
              </p:cNvSpPr>
              <p:nvPr/>
            </p:nvSpPr>
            <p:spPr bwMode="auto">
              <a:xfrm>
                <a:off x="1529" y="2487"/>
                <a:ext cx="937" cy="96"/>
              </a:xfrm>
              <a:prstGeom prst="rect">
                <a:avLst/>
              </a:prstGeom>
              <a:noFill/>
              <a:ln w="9525">
                <a:noFill/>
                <a:miter lim="800000"/>
                <a:headEnd/>
                <a:tailEnd/>
              </a:ln>
            </p:spPr>
            <p:txBody>
              <a:bodyPr wrap="none" lIns="0" tIns="0" rIns="0" bIns="0">
                <a:spAutoFit/>
              </a:bodyPr>
              <a:lstStyle/>
              <a:p>
                <a:r>
                  <a:rPr lang="en-US" sz="1000" b="1">
                    <a:solidFill>
                      <a:schemeClr val="bg1"/>
                    </a:solidFill>
                  </a:rPr>
                  <a:t>Processes and Activities</a:t>
                </a:r>
                <a:endParaRPr lang="en-US">
                  <a:solidFill>
                    <a:schemeClr val="bg1"/>
                  </a:solidFill>
                </a:endParaRPr>
              </a:p>
            </p:txBody>
          </p:sp>
          <p:sp>
            <p:nvSpPr>
              <p:cNvPr id="1393811" name="Rectangle 147"/>
              <p:cNvSpPr>
                <a:spLocks noChangeArrowheads="1"/>
              </p:cNvSpPr>
              <p:nvPr/>
            </p:nvSpPr>
            <p:spPr bwMode="auto">
              <a:xfrm>
                <a:off x="1226" y="2591"/>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12" name="Rectangle 148"/>
              <p:cNvSpPr>
                <a:spLocks noChangeArrowheads="1"/>
              </p:cNvSpPr>
              <p:nvPr/>
            </p:nvSpPr>
            <p:spPr bwMode="auto">
              <a:xfrm>
                <a:off x="1250" y="2591"/>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3813" name="Rectangle 149"/>
              <p:cNvSpPr>
                <a:spLocks noChangeArrowheads="1"/>
              </p:cNvSpPr>
              <p:nvPr/>
            </p:nvSpPr>
            <p:spPr bwMode="auto">
              <a:xfrm>
                <a:off x="1226" y="2658"/>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14" name="Rectangle 150"/>
              <p:cNvSpPr>
                <a:spLocks noChangeArrowheads="1"/>
              </p:cNvSpPr>
              <p:nvPr/>
            </p:nvSpPr>
            <p:spPr bwMode="auto">
              <a:xfrm>
                <a:off x="1245" y="2658"/>
                <a:ext cx="720" cy="67"/>
              </a:xfrm>
              <a:prstGeom prst="rect">
                <a:avLst/>
              </a:prstGeom>
              <a:noFill/>
              <a:ln w="9525">
                <a:noFill/>
                <a:miter lim="800000"/>
                <a:headEnd/>
                <a:tailEnd/>
              </a:ln>
            </p:spPr>
            <p:txBody>
              <a:bodyPr wrap="none" lIns="0" tIns="0" rIns="0" bIns="0">
                <a:spAutoFit/>
              </a:bodyPr>
              <a:lstStyle/>
              <a:p>
                <a:r>
                  <a:rPr lang="en-US" sz="700" b="1">
                    <a:solidFill>
                      <a:schemeClr val="bg1"/>
                    </a:solidFill>
                  </a:rPr>
                  <a:t>Productivity and Efficiency</a:t>
                </a:r>
                <a:endParaRPr lang="en-US" b="1">
                  <a:solidFill>
                    <a:schemeClr val="bg1"/>
                  </a:solidFill>
                </a:endParaRPr>
              </a:p>
            </p:txBody>
          </p:sp>
          <p:sp>
            <p:nvSpPr>
              <p:cNvPr id="1393815" name="Rectangle 151"/>
              <p:cNvSpPr>
                <a:spLocks noChangeArrowheads="1"/>
              </p:cNvSpPr>
              <p:nvPr/>
            </p:nvSpPr>
            <p:spPr bwMode="auto">
              <a:xfrm>
                <a:off x="1226" y="2726"/>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16" name="Rectangle 152"/>
              <p:cNvSpPr>
                <a:spLocks noChangeArrowheads="1"/>
              </p:cNvSpPr>
              <p:nvPr/>
            </p:nvSpPr>
            <p:spPr bwMode="auto">
              <a:xfrm>
                <a:off x="1261" y="2726"/>
                <a:ext cx="681" cy="67"/>
              </a:xfrm>
              <a:prstGeom prst="rect">
                <a:avLst/>
              </a:prstGeom>
              <a:noFill/>
              <a:ln w="9525">
                <a:noFill/>
                <a:miter lim="800000"/>
                <a:headEnd/>
                <a:tailEnd/>
              </a:ln>
            </p:spPr>
            <p:txBody>
              <a:bodyPr wrap="none" lIns="0" tIns="0" rIns="0" bIns="0">
                <a:spAutoFit/>
              </a:bodyPr>
              <a:lstStyle/>
              <a:p>
                <a:r>
                  <a:rPr lang="en-US" sz="700" b="1">
                    <a:solidFill>
                      <a:schemeClr val="bg1"/>
                    </a:solidFill>
                  </a:rPr>
                  <a:t>Cycle and Resource Time</a:t>
                </a:r>
                <a:endParaRPr lang="en-US" b="1">
                  <a:solidFill>
                    <a:schemeClr val="bg1"/>
                  </a:solidFill>
                </a:endParaRPr>
              </a:p>
            </p:txBody>
          </p:sp>
          <p:sp>
            <p:nvSpPr>
              <p:cNvPr id="1393817" name="Rectangle 153"/>
              <p:cNvSpPr>
                <a:spLocks noChangeArrowheads="1"/>
              </p:cNvSpPr>
              <p:nvPr/>
            </p:nvSpPr>
            <p:spPr bwMode="auto">
              <a:xfrm>
                <a:off x="1202" y="2472"/>
                <a:ext cx="1497" cy="352"/>
              </a:xfrm>
              <a:prstGeom prst="rect">
                <a:avLst/>
              </a:prstGeom>
              <a:solidFill>
                <a:srgbClr val="808080"/>
              </a:solidFill>
              <a:ln w="9525">
                <a:noFill/>
                <a:miter lim="800000"/>
                <a:headEnd/>
                <a:tailEnd/>
              </a:ln>
            </p:spPr>
            <p:txBody>
              <a:bodyPr/>
              <a:lstStyle/>
              <a:p>
                <a:endParaRPr lang="en-US"/>
              </a:p>
            </p:txBody>
          </p:sp>
          <p:sp>
            <p:nvSpPr>
              <p:cNvPr id="1393818" name="Rectangle 154"/>
              <p:cNvSpPr>
                <a:spLocks noChangeArrowheads="1"/>
              </p:cNvSpPr>
              <p:nvPr/>
            </p:nvSpPr>
            <p:spPr bwMode="auto">
              <a:xfrm>
                <a:off x="1154" y="2456"/>
                <a:ext cx="1560" cy="358"/>
              </a:xfrm>
              <a:prstGeom prst="rect">
                <a:avLst/>
              </a:prstGeom>
              <a:solidFill>
                <a:srgbClr val="909DFC"/>
              </a:solidFill>
              <a:ln w="9525">
                <a:solidFill>
                  <a:srgbClr val="000000"/>
                </a:solidFill>
                <a:miter lim="800000"/>
                <a:headEnd/>
                <a:tailEnd/>
              </a:ln>
            </p:spPr>
            <p:txBody>
              <a:bodyPr/>
              <a:lstStyle/>
              <a:p>
                <a:endParaRPr lang="en-US"/>
              </a:p>
            </p:txBody>
          </p:sp>
          <p:sp>
            <p:nvSpPr>
              <p:cNvPr id="1393819" name="Rectangle 155"/>
              <p:cNvSpPr>
                <a:spLocks noChangeArrowheads="1"/>
              </p:cNvSpPr>
              <p:nvPr/>
            </p:nvSpPr>
            <p:spPr bwMode="auto">
              <a:xfrm>
                <a:off x="1513" y="2472"/>
                <a:ext cx="937" cy="96"/>
              </a:xfrm>
              <a:prstGeom prst="rect">
                <a:avLst/>
              </a:prstGeom>
              <a:noFill/>
              <a:ln w="9525">
                <a:noFill/>
                <a:miter lim="800000"/>
                <a:headEnd/>
                <a:tailEnd/>
              </a:ln>
            </p:spPr>
            <p:txBody>
              <a:bodyPr wrap="none" lIns="0" tIns="0" rIns="0" bIns="0">
                <a:spAutoFit/>
              </a:bodyPr>
              <a:lstStyle/>
              <a:p>
                <a:r>
                  <a:rPr lang="en-US" sz="1000" b="1">
                    <a:solidFill>
                      <a:schemeClr val="bg1"/>
                    </a:solidFill>
                  </a:rPr>
                  <a:t>Processes and Activities</a:t>
                </a:r>
                <a:endParaRPr lang="en-US">
                  <a:solidFill>
                    <a:schemeClr val="bg1"/>
                  </a:solidFill>
                </a:endParaRPr>
              </a:p>
            </p:txBody>
          </p:sp>
          <p:sp>
            <p:nvSpPr>
              <p:cNvPr id="1393820" name="Rectangle 156"/>
              <p:cNvSpPr>
                <a:spLocks noChangeArrowheads="1"/>
              </p:cNvSpPr>
              <p:nvPr/>
            </p:nvSpPr>
            <p:spPr bwMode="auto">
              <a:xfrm>
                <a:off x="1189" y="2575"/>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21" name="Rectangle 157"/>
              <p:cNvSpPr>
                <a:spLocks noChangeArrowheads="1"/>
              </p:cNvSpPr>
              <p:nvPr/>
            </p:nvSpPr>
            <p:spPr bwMode="auto">
              <a:xfrm>
                <a:off x="1226" y="2575"/>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3822" name="Rectangle 158"/>
              <p:cNvSpPr>
                <a:spLocks noChangeArrowheads="1"/>
              </p:cNvSpPr>
              <p:nvPr/>
            </p:nvSpPr>
            <p:spPr bwMode="auto">
              <a:xfrm>
                <a:off x="1185" y="2643"/>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23" name="Rectangle 159"/>
              <p:cNvSpPr>
                <a:spLocks noChangeArrowheads="1"/>
              </p:cNvSpPr>
              <p:nvPr/>
            </p:nvSpPr>
            <p:spPr bwMode="auto">
              <a:xfrm>
                <a:off x="1226" y="2643"/>
                <a:ext cx="720" cy="67"/>
              </a:xfrm>
              <a:prstGeom prst="rect">
                <a:avLst/>
              </a:prstGeom>
              <a:noFill/>
              <a:ln w="9525">
                <a:noFill/>
                <a:miter lim="800000"/>
                <a:headEnd/>
                <a:tailEnd/>
              </a:ln>
            </p:spPr>
            <p:txBody>
              <a:bodyPr wrap="none" lIns="0" tIns="0" rIns="0" bIns="0">
                <a:spAutoFit/>
              </a:bodyPr>
              <a:lstStyle/>
              <a:p>
                <a:r>
                  <a:rPr lang="en-US" sz="700" b="1">
                    <a:solidFill>
                      <a:schemeClr val="bg1"/>
                    </a:solidFill>
                  </a:rPr>
                  <a:t>Productivity and Efficiency</a:t>
                </a:r>
                <a:endParaRPr lang="en-US" b="1">
                  <a:solidFill>
                    <a:schemeClr val="bg1"/>
                  </a:solidFill>
                </a:endParaRPr>
              </a:p>
            </p:txBody>
          </p:sp>
          <p:sp>
            <p:nvSpPr>
              <p:cNvPr id="1393824" name="Rectangle 160"/>
              <p:cNvSpPr>
                <a:spLocks noChangeArrowheads="1"/>
              </p:cNvSpPr>
              <p:nvPr/>
            </p:nvSpPr>
            <p:spPr bwMode="auto">
              <a:xfrm>
                <a:off x="1185" y="2710"/>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25" name="Rectangle 161"/>
              <p:cNvSpPr>
                <a:spLocks noChangeArrowheads="1"/>
              </p:cNvSpPr>
              <p:nvPr/>
            </p:nvSpPr>
            <p:spPr bwMode="auto">
              <a:xfrm>
                <a:off x="1226" y="2710"/>
                <a:ext cx="681" cy="67"/>
              </a:xfrm>
              <a:prstGeom prst="rect">
                <a:avLst/>
              </a:prstGeom>
              <a:noFill/>
              <a:ln w="9525">
                <a:noFill/>
                <a:miter lim="800000"/>
                <a:headEnd/>
                <a:tailEnd/>
              </a:ln>
            </p:spPr>
            <p:txBody>
              <a:bodyPr wrap="none" lIns="0" tIns="0" rIns="0" bIns="0">
                <a:spAutoFit/>
              </a:bodyPr>
              <a:lstStyle/>
              <a:p>
                <a:r>
                  <a:rPr lang="en-US" sz="700" b="1">
                    <a:solidFill>
                      <a:schemeClr val="bg1"/>
                    </a:solidFill>
                  </a:rPr>
                  <a:t>Cycle and Resource Time</a:t>
                </a:r>
                <a:endParaRPr lang="en-US" b="1">
                  <a:solidFill>
                    <a:schemeClr val="bg1"/>
                  </a:solidFill>
                </a:endParaRPr>
              </a:p>
            </p:txBody>
          </p:sp>
          <p:sp>
            <p:nvSpPr>
              <p:cNvPr id="1393826" name="Rectangle 162"/>
              <p:cNvSpPr>
                <a:spLocks noChangeArrowheads="1"/>
              </p:cNvSpPr>
              <p:nvPr/>
            </p:nvSpPr>
            <p:spPr bwMode="auto">
              <a:xfrm>
                <a:off x="1932" y="2456"/>
                <a:ext cx="829" cy="270"/>
              </a:xfrm>
              <a:prstGeom prst="rect">
                <a:avLst/>
              </a:prstGeom>
              <a:noFill/>
              <a:ln w="9525">
                <a:noFill/>
                <a:miter lim="800000"/>
                <a:headEnd/>
                <a:tailEnd/>
              </a:ln>
            </p:spPr>
            <p:txBody>
              <a:bodyPr/>
              <a:lstStyle/>
              <a:p>
                <a:endParaRPr lang="en-US"/>
              </a:p>
            </p:txBody>
          </p:sp>
          <p:sp>
            <p:nvSpPr>
              <p:cNvPr id="1393827" name="Rectangle 163"/>
              <p:cNvSpPr>
                <a:spLocks noChangeArrowheads="1"/>
              </p:cNvSpPr>
              <p:nvPr/>
            </p:nvSpPr>
            <p:spPr bwMode="auto">
              <a:xfrm>
                <a:off x="1973" y="2575"/>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28" name="Rectangle 164"/>
              <p:cNvSpPr>
                <a:spLocks noChangeArrowheads="1"/>
              </p:cNvSpPr>
              <p:nvPr/>
            </p:nvSpPr>
            <p:spPr bwMode="auto">
              <a:xfrm>
                <a:off x="2015" y="2575"/>
                <a:ext cx="191" cy="67"/>
              </a:xfrm>
              <a:prstGeom prst="rect">
                <a:avLst/>
              </a:prstGeom>
              <a:noFill/>
              <a:ln w="9525">
                <a:noFill/>
                <a:miter lim="800000"/>
                <a:headEnd/>
                <a:tailEnd/>
              </a:ln>
            </p:spPr>
            <p:txBody>
              <a:bodyPr wrap="none" lIns="0" tIns="0" rIns="0" bIns="0">
                <a:spAutoFit/>
              </a:bodyPr>
              <a:lstStyle/>
              <a:p>
                <a:r>
                  <a:rPr lang="en-US" sz="700" b="1">
                    <a:solidFill>
                      <a:schemeClr val="bg1"/>
                    </a:solidFill>
                  </a:rPr>
                  <a:t>Quality</a:t>
                </a:r>
                <a:endParaRPr lang="en-US" b="1">
                  <a:solidFill>
                    <a:schemeClr val="bg1"/>
                  </a:solidFill>
                </a:endParaRPr>
              </a:p>
            </p:txBody>
          </p:sp>
          <p:sp>
            <p:nvSpPr>
              <p:cNvPr id="1393829" name="Rectangle 165"/>
              <p:cNvSpPr>
                <a:spLocks noChangeArrowheads="1"/>
              </p:cNvSpPr>
              <p:nvPr/>
            </p:nvSpPr>
            <p:spPr bwMode="auto">
              <a:xfrm>
                <a:off x="1973" y="2638"/>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830" name="Rectangle 166"/>
              <p:cNvSpPr>
                <a:spLocks noChangeArrowheads="1"/>
              </p:cNvSpPr>
              <p:nvPr/>
            </p:nvSpPr>
            <p:spPr bwMode="auto">
              <a:xfrm>
                <a:off x="2003" y="2638"/>
                <a:ext cx="697" cy="67"/>
              </a:xfrm>
              <a:prstGeom prst="rect">
                <a:avLst/>
              </a:prstGeom>
              <a:noFill/>
              <a:ln w="9525">
                <a:noFill/>
                <a:miter lim="800000"/>
                <a:headEnd/>
                <a:tailEnd/>
              </a:ln>
            </p:spPr>
            <p:txBody>
              <a:bodyPr wrap="none" lIns="0" tIns="0" rIns="0" bIns="0">
                <a:spAutoFit/>
              </a:bodyPr>
              <a:lstStyle/>
              <a:p>
                <a:r>
                  <a:rPr lang="en-US" sz="700" b="1">
                    <a:solidFill>
                      <a:schemeClr val="bg1"/>
                    </a:solidFill>
                  </a:rPr>
                  <a:t>Management &amp; Innovation</a:t>
                </a:r>
                <a:endParaRPr lang="en-US" b="1">
                  <a:solidFill>
                    <a:schemeClr val="bg1"/>
                  </a:solidFill>
                </a:endParaRPr>
              </a:p>
            </p:txBody>
          </p:sp>
          <p:sp>
            <p:nvSpPr>
              <p:cNvPr id="1393831" name="Rectangle 167"/>
              <p:cNvSpPr>
                <a:spLocks noChangeArrowheads="1"/>
              </p:cNvSpPr>
              <p:nvPr/>
            </p:nvSpPr>
            <p:spPr bwMode="auto">
              <a:xfrm>
                <a:off x="1752" y="3244"/>
                <a:ext cx="448" cy="96"/>
              </a:xfrm>
              <a:prstGeom prst="rect">
                <a:avLst/>
              </a:prstGeom>
              <a:no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sp>
            <p:nvSpPr>
              <p:cNvPr id="1393832" name="Rectangle 168"/>
              <p:cNvSpPr>
                <a:spLocks noChangeArrowheads="1"/>
              </p:cNvSpPr>
              <p:nvPr/>
            </p:nvSpPr>
            <p:spPr bwMode="auto">
              <a:xfrm>
                <a:off x="1598" y="3348"/>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33" name="Rectangle 169"/>
              <p:cNvSpPr>
                <a:spLocks noChangeArrowheads="1"/>
              </p:cNvSpPr>
              <p:nvPr/>
            </p:nvSpPr>
            <p:spPr bwMode="auto">
              <a:xfrm>
                <a:off x="1632" y="3348"/>
                <a:ext cx="222" cy="67"/>
              </a:xfrm>
              <a:prstGeom prst="rect">
                <a:avLst/>
              </a:prstGeom>
              <a:noFill/>
              <a:ln w="9525">
                <a:noFill/>
                <a:miter lim="800000"/>
                <a:headEnd/>
                <a:tailEnd/>
              </a:ln>
            </p:spPr>
            <p:txBody>
              <a:bodyPr wrap="none" lIns="0" tIns="0" rIns="0" bIns="0">
                <a:spAutoFit/>
              </a:bodyPr>
              <a:lstStyle/>
              <a:p>
                <a:r>
                  <a:rPr lang="en-US" sz="700">
                    <a:solidFill>
                      <a:schemeClr val="bg1"/>
                    </a:solidFill>
                  </a:rPr>
                  <a:t>Financial</a:t>
                </a:r>
                <a:endParaRPr lang="en-US">
                  <a:solidFill>
                    <a:schemeClr val="bg1"/>
                  </a:solidFill>
                </a:endParaRPr>
              </a:p>
            </p:txBody>
          </p:sp>
          <p:sp>
            <p:nvSpPr>
              <p:cNvPr id="1393834" name="Rectangle 170"/>
              <p:cNvSpPr>
                <a:spLocks noChangeArrowheads="1"/>
              </p:cNvSpPr>
              <p:nvPr/>
            </p:nvSpPr>
            <p:spPr bwMode="auto">
              <a:xfrm>
                <a:off x="1598" y="3415"/>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35" name="Rectangle 171"/>
              <p:cNvSpPr>
                <a:spLocks noChangeArrowheads="1"/>
              </p:cNvSpPr>
              <p:nvPr/>
            </p:nvSpPr>
            <p:spPr bwMode="auto">
              <a:xfrm>
                <a:off x="1642" y="3415"/>
                <a:ext cx="482" cy="67"/>
              </a:xfrm>
              <a:prstGeom prst="rect">
                <a:avLst/>
              </a:prstGeom>
              <a:noFill/>
              <a:ln w="9525">
                <a:noFill/>
                <a:miter lim="800000"/>
                <a:headEnd/>
                <a:tailEnd/>
              </a:ln>
            </p:spPr>
            <p:txBody>
              <a:bodyPr wrap="none" lIns="0" tIns="0" rIns="0" bIns="0">
                <a:spAutoFit/>
              </a:bodyPr>
              <a:lstStyle/>
              <a:p>
                <a:r>
                  <a:rPr lang="en-US" sz="700">
                    <a:solidFill>
                      <a:schemeClr val="bg1"/>
                    </a:solidFill>
                  </a:rPr>
                  <a:t>Quality &amp; Efficiency</a:t>
                </a:r>
                <a:endParaRPr lang="en-US">
                  <a:solidFill>
                    <a:schemeClr val="bg1"/>
                  </a:solidFill>
                </a:endParaRPr>
              </a:p>
            </p:txBody>
          </p:sp>
          <p:sp>
            <p:nvSpPr>
              <p:cNvPr id="1393836" name="Rectangle 172"/>
              <p:cNvSpPr>
                <a:spLocks noChangeArrowheads="1"/>
              </p:cNvSpPr>
              <p:nvPr/>
            </p:nvSpPr>
            <p:spPr bwMode="auto">
              <a:xfrm>
                <a:off x="1598" y="3483"/>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37" name="Rectangle 173"/>
              <p:cNvSpPr>
                <a:spLocks noChangeArrowheads="1"/>
              </p:cNvSpPr>
              <p:nvPr/>
            </p:nvSpPr>
            <p:spPr bwMode="auto">
              <a:xfrm>
                <a:off x="1641" y="3483"/>
                <a:ext cx="468" cy="67"/>
              </a:xfrm>
              <a:prstGeom prst="rect">
                <a:avLst/>
              </a:prstGeom>
              <a:noFill/>
              <a:ln w="9525">
                <a:noFill/>
                <a:miter lim="800000"/>
                <a:headEnd/>
                <a:tailEnd/>
              </a:ln>
            </p:spPr>
            <p:txBody>
              <a:bodyPr wrap="none" lIns="0" tIns="0" rIns="0" bIns="0">
                <a:spAutoFit/>
              </a:bodyPr>
              <a:lstStyle/>
              <a:p>
                <a:r>
                  <a:rPr lang="en-US" sz="700">
                    <a:solidFill>
                      <a:schemeClr val="bg1"/>
                    </a:solidFill>
                  </a:rPr>
                  <a:t>Information &amp; Data</a:t>
                </a:r>
                <a:endParaRPr lang="en-US">
                  <a:solidFill>
                    <a:schemeClr val="bg1"/>
                  </a:solidFill>
                </a:endParaRPr>
              </a:p>
            </p:txBody>
          </p:sp>
          <p:sp>
            <p:nvSpPr>
              <p:cNvPr id="1393838" name="Rectangle 174"/>
              <p:cNvSpPr>
                <a:spLocks noChangeArrowheads="1"/>
              </p:cNvSpPr>
              <p:nvPr/>
            </p:nvSpPr>
            <p:spPr bwMode="auto">
              <a:xfrm>
                <a:off x="1598" y="3550"/>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39" name="Rectangle 175"/>
              <p:cNvSpPr>
                <a:spLocks noChangeArrowheads="1"/>
              </p:cNvSpPr>
              <p:nvPr/>
            </p:nvSpPr>
            <p:spPr bwMode="auto">
              <a:xfrm>
                <a:off x="1648" y="3550"/>
                <a:ext cx="568" cy="67"/>
              </a:xfrm>
              <a:prstGeom prst="rect">
                <a:avLst/>
              </a:prstGeom>
              <a:noFill/>
              <a:ln w="9525">
                <a:noFill/>
                <a:miter lim="800000"/>
                <a:headEnd/>
                <a:tailEnd/>
              </a:ln>
            </p:spPr>
            <p:txBody>
              <a:bodyPr wrap="none" lIns="0" tIns="0" rIns="0" bIns="0">
                <a:spAutoFit/>
              </a:bodyPr>
              <a:lstStyle/>
              <a:p>
                <a:r>
                  <a:rPr lang="en-US" sz="700">
                    <a:solidFill>
                      <a:schemeClr val="bg1"/>
                    </a:solidFill>
                  </a:rPr>
                  <a:t>Reliability &amp; Availability</a:t>
                </a:r>
                <a:endParaRPr lang="en-US">
                  <a:solidFill>
                    <a:schemeClr val="bg1"/>
                  </a:solidFill>
                </a:endParaRPr>
              </a:p>
            </p:txBody>
          </p:sp>
          <p:sp>
            <p:nvSpPr>
              <p:cNvPr id="1393840" name="Rectangle 176"/>
              <p:cNvSpPr>
                <a:spLocks noChangeArrowheads="1"/>
              </p:cNvSpPr>
              <p:nvPr/>
            </p:nvSpPr>
            <p:spPr bwMode="auto">
              <a:xfrm>
                <a:off x="1598" y="361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41" name="Rectangle 177"/>
              <p:cNvSpPr>
                <a:spLocks noChangeArrowheads="1"/>
              </p:cNvSpPr>
              <p:nvPr/>
            </p:nvSpPr>
            <p:spPr bwMode="auto">
              <a:xfrm>
                <a:off x="1641" y="3612"/>
                <a:ext cx="423" cy="67"/>
              </a:xfrm>
              <a:prstGeom prst="rect">
                <a:avLst/>
              </a:prstGeom>
              <a:noFill/>
              <a:ln w="9525">
                <a:noFill/>
                <a:miter lim="800000"/>
                <a:headEnd/>
                <a:tailEnd/>
              </a:ln>
            </p:spPr>
            <p:txBody>
              <a:bodyPr wrap="none" lIns="0" tIns="0" rIns="0" bIns="0">
                <a:spAutoFit/>
              </a:bodyPr>
              <a:lstStyle/>
              <a:p>
                <a:r>
                  <a:rPr lang="en-US" sz="700">
                    <a:solidFill>
                      <a:schemeClr val="bg1"/>
                    </a:solidFill>
                  </a:rPr>
                  <a:t>User Satisfaction</a:t>
                </a:r>
                <a:endParaRPr lang="en-US">
                  <a:solidFill>
                    <a:schemeClr val="bg1"/>
                  </a:solidFill>
                </a:endParaRPr>
              </a:p>
            </p:txBody>
          </p:sp>
          <p:sp>
            <p:nvSpPr>
              <p:cNvPr id="1393842" name="Rectangle 178"/>
              <p:cNvSpPr>
                <a:spLocks noChangeArrowheads="1"/>
              </p:cNvSpPr>
              <p:nvPr/>
            </p:nvSpPr>
            <p:spPr bwMode="auto">
              <a:xfrm>
                <a:off x="1533" y="3259"/>
                <a:ext cx="835" cy="482"/>
              </a:xfrm>
              <a:prstGeom prst="rect">
                <a:avLst/>
              </a:prstGeom>
              <a:solidFill>
                <a:schemeClr val="bg2"/>
              </a:solidFill>
              <a:ln w="9525">
                <a:noFill/>
                <a:miter lim="800000"/>
                <a:headEnd/>
                <a:tailEnd/>
              </a:ln>
            </p:spPr>
            <p:txBody>
              <a:bodyPr/>
              <a:lstStyle/>
              <a:p>
                <a:endParaRPr lang="en-US"/>
              </a:p>
            </p:txBody>
          </p:sp>
          <p:grpSp>
            <p:nvGrpSpPr>
              <p:cNvPr id="1393936" name="Group 272"/>
              <p:cNvGrpSpPr>
                <a:grpSpLocks/>
              </p:cNvGrpSpPr>
              <p:nvPr/>
            </p:nvGrpSpPr>
            <p:grpSpPr bwMode="auto">
              <a:xfrm>
                <a:off x="1518" y="3243"/>
                <a:ext cx="829" cy="477"/>
                <a:chOff x="1518" y="3213"/>
                <a:chExt cx="829" cy="477"/>
              </a:xfrm>
            </p:grpSpPr>
            <p:sp>
              <p:nvSpPr>
                <p:cNvPr id="1393843" name="Rectangle 179"/>
                <p:cNvSpPr>
                  <a:spLocks noChangeArrowheads="1"/>
                </p:cNvSpPr>
                <p:nvPr/>
              </p:nvSpPr>
              <p:spPr bwMode="auto">
                <a:xfrm>
                  <a:off x="1518" y="3213"/>
                  <a:ext cx="829" cy="477"/>
                </a:xfrm>
                <a:prstGeom prst="rect">
                  <a:avLst/>
                </a:prstGeom>
                <a:solidFill>
                  <a:srgbClr val="909DFC"/>
                </a:solidFill>
                <a:ln w="9525">
                  <a:solidFill>
                    <a:srgbClr val="000000"/>
                  </a:solidFill>
                  <a:miter lim="800000"/>
                  <a:headEnd/>
                  <a:tailEnd/>
                </a:ln>
              </p:spPr>
              <p:txBody>
                <a:bodyPr/>
                <a:lstStyle/>
                <a:p>
                  <a:endParaRPr lang="en-US"/>
                </a:p>
              </p:txBody>
            </p:sp>
            <p:sp>
              <p:nvSpPr>
                <p:cNvPr id="1393844" name="Rectangle 180"/>
                <p:cNvSpPr>
                  <a:spLocks noChangeArrowheads="1"/>
                </p:cNvSpPr>
                <p:nvPr/>
              </p:nvSpPr>
              <p:spPr bwMode="auto">
                <a:xfrm>
                  <a:off x="1737" y="3228"/>
                  <a:ext cx="448" cy="96"/>
                </a:xfrm>
                <a:prstGeom prst="rect">
                  <a:avLst/>
                </a:prstGeom>
                <a:solidFill>
                  <a:srgbClr val="909DFC"/>
                </a:solid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sp>
              <p:nvSpPr>
                <p:cNvPr id="1393845" name="Rectangle 181"/>
                <p:cNvSpPr>
                  <a:spLocks noChangeArrowheads="1"/>
                </p:cNvSpPr>
                <p:nvPr/>
              </p:nvSpPr>
              <p:spPr bwMode="auto">
                <a:xfrm>
                  <a:off x="1568" y="3332"/>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46" name="Rectangle 182"/>
                <p:cNvSpPr>
                  <a:spLocks noChangeArrowheads="1"/>
                </p:cNvSpPr>
                <p:nvPr/>
              </p:nvSpPr>
              <p:spPr bwMode="auto">
                <a:xfrm>
                  <a:off x="1629" y="3332"/>
                  <a:ext cx="243"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3847" name="Rectangle 183"/>
                <p:cNvSpPr>
                  <a:spLocks noChangeArrowheads="1"/>
                </p:cNvSpPr>
                <p:nvPr/>
              </p:nvSpPr>
              <p:spPr bwMode="auto">
                <a:xfrm>
                  <a:off x="1568" y="3400"/>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48" name="Rectangle 184"/>
                <p:cNvSpPr>
                  <a:spLocks noChangeArrowheads="1"/>
                </p:cNvSpPr>
                <p:nvPr/>
              </p:nvSpPr>
              <p:spPr bwMode="auto">
                <a:xfrm>
                  <a:off x="1629" y="3400"/>
                  <a:ext cx="528"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Quality &amp; Efficiency</a:t>
                  </a:r>
                  <a:endParaRPr lang="en-US" b="1">
                    <a:solidFill>
                      <a:schemeClr val="bg1"/>
                    </a:solidFill>
                  </a:endParaRPr>
                </a:p>
              </p:txBody>
            </p:sp>
            <p:sp>
              <p:nvSpPr>
                <p:cNvPr id="1393849" name="Rectangle 185"/>
                <p:cNvSpPr>
                  <a:spLocks noChangeArrowheads="1"/>
                </p:cNvSpPr>
                <p:nvPr/>
              </p:nvSpPr>
              <p:spPr bwMode="auto">
                <a:xfrm>
                  <a:off x="1568" y="3467"/>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50" name="Rectangle 186"/>
                <p:cNvSpPr>
                  <a:spLocks noChangeArrowheads="1"/>
                </p:cNvSpPr>
                <p:nvPr/>
              </p:nvSpPr>
              <p:spPr bwMode="auto">
                <a:xfrm>
                  <a:off x="1629" y="3467"/>
                  <a:ext cx="502"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Information &amp; Data</a:t>
                  </a:r>
                  <a:endParaRPr lang="en-US" b="1">
                    <a:solidFill>
                      <a:schemeClr val="bg1"/>
                    </a:solidFill>
                  </a:endParaRPr>
                </a:p>
              </p:txBody>
            </p:sp>
            <p:sp>
              <p:nvSpPr>
                <p:cNvPr id="1393851" name="Rectangle 187"/>
                <p:cNvSpPr>
                  <a:spLocks noChangeArrowheads="1"/>
                </p:cNvSpPr>
                <p:nvPr/>
              </p:nvSpPr>
              <p:spPr bwMode="auto">
                <a:xfrm>
                  <a:off x="1568" y="3534"/>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52" name="Rectangle 188"/>
                <p:cNvSpPr>
                  <a:spLocks noChangeArrowheads="1"/>
                </p:cNvSpPr>
                <p:nvPr/>
              </p:nvSpPr>
              <p:spPr bwMode="auto">
                <a:xfrm>
                  <a:off x="1629" y="3534"/>
                  <a:ext cx="635"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Reliability &amp; Availability</a:t>
                  </a:r>
                  <a:endParaRPr lang="en-US" b="1">
                    <a:solidFill>
                      <a:schemeClr val="bg1"/>
                    </a:solidFill>
                  </a:endParaRPr>
                </a:p>
              </p:txBody>
            </p:sp>
            <p:sp>
              <p:nvSpPr>
                <p:cNvPr id="1393853" name="Rectangle 189"/>
                <p:cNvSpPr>
                  <a:spLocks noChangeArrowheads="1"/>
                </p:cNvSpPr>
                <p:nvPr/>
              </p:nvSpPr>
              <p:spPr bwMode="auto">
                <a:xfrm>
                  <a:off x="1568" y="3597"/>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54" name="Rectangle 190"/>
                <p:cNvSpPr>
                  <a:spLocks noChangeArrowheads="1"/>
                </p:cNvSpPr>
                <p:nvPr/>
              </p:nvSpPr>
              <p:spPr bwMode="auto">
                <a:xfrm>
                  <a:off x="1629" y="3597"/>
                  <a:ext cx="458"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User Satisfaction</a:t>
                  </a:r>
                  <a:endParaRPr lang="en-US" b="1">
                    <a:solidFill>
                      <a:schemeClr val="bg1"/>
                    </a:solidFill>
                  </a:endParaRPr>
                </a:p>
              </p:txBody>
            </p:sp>
          </p:grpSp>
          <p:sp>
            <p:nvSpPr>
              <p:cNvPr id="1393855" name="Rectangle 191"/>
              <p:cNvSpPr>
                <a:spLocks noChangeArrowheads="1"/>
              </p:cNvSpPr>
              <p:nvPr/>
            </p:nvSpPr>
            <p:spPr bwMode="auto">
              <a:xfrm>
                <a:off x="2635" y="3244"/>
                <a:ext cx="465" cy="96"/>
              </a:xfrm>
              <a:prstGeom prst="rect">
                <a:avLst/>
              </a:prstGeom>
              <a:noFill/>
              <a:ln w="9525">
                <a:noFill/>
                <a:miter lim="800000"/>
                <a:headEnd/>
                <a:tailEnd/>
              </a:ln>
            </p:spPr>
            <p:txBody>
              <a:bodyPr wrap="none" lIns="0" tIns="0" rIns="0" bIns="0">
                <a:spAutoFit/>
              </a:bodyPr>
              <a:lstStyle/>
              <a:p>
                <a:r>
                  <a:rPr lang="en-US" sz="1000" b="1">
                    <a:solidFill>
                      <a:schemeClr val="bg1"/>
                    </a:solidFill>
                  </a:rPr>
                  <a:t>Other Fixed </a:t>
                </a:r>
                <a:endParaRPr lang="en-US">
                  <a:solidFill>
                    <a:schemeClr val="bg1"/>
                  </a:solidFill>
                </a:endParaRPr>
              </a:p>
            </p:txBody>
          </p:sp>
          <p:sp>
            <p:nvSpPr>
              <p:cNvPr id="1393856" name="Rectangle 192"/>
              <p:cNvSpPr>
                <a:spLocks noChangeArrowheads="1"/>
              </p:cNvSpPr>
              <p:nvPr/>
            </p:nvSpPr>
            <p:spPr bwMode="auto">
              <a:xfrm>
                <a:off x="2717" y="3322"/>
                <a:ext cx="261" cy="96"/>
              </a:xfrm>
              <a:prstGeom prst="rect">
                <a:avLst/>
              </a:prstGeom>
              <a:noFill/>
              <a:ln w="9525">
                <a:noFill/>
                <a:miter lim="800000"/>
                <a:headEnd/>
                <a:tailEnd/>
              </a:ln>
            </p:spPr>
            <p:txBody>
              <a:bodyPr wrap="none" lIns="0" tIns="0" rIns="0" bIns="0">
                <a:spAutoFit/>
              </a:bodyPr>
              <a:lstStyle/>
              <a:p>
                <a:r>
                  <a:rPr lang="en-US" sz="1000" b="1">
                    <a:solidFill>
                      <a:schemeClr val="bg1"/>
                    </a:solidFill>
                  </a:rPr>
                  <a:t>Assets</a:t>
                </a:r>
                <a:endParaRPr lang="en-US">
                  <a:solidFill>
                    <a:schemeClr val="bg1"/>
                  </a:solidFill>
                </a:endParaRPr>
              </a:p>
            </p:txBody>
          </p:sp>
          <p:sp>
            <p:nvSpPr>
              <p:cNvPr id="1393857" name="Rectangle 193"/>
              <p:cNvSpPr>
                <a:spLocks noChangeArrowheads="1"/>
              </p:cNvSpPr>
              <p:nvPr/>
            </p:nvSpPr>
            <p:spPr bwMode="auto">
              <a:xfrm>
                <a:off x="2469" y="3426"/>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58" name="Rectangle 194"/>
              <p:cNvSpPr>
                <a:spLocks noChangeArrowheads="1"/>
              </p:cNvSpPr>
              <p:nvPr/>
            </p:nvSpPr>
            <p:spPr bwMode="auto">
              <a:xfrm>
                <a:off x="2502" y="3426"/>
                <a:ext cx="222" cy="67"/>
              </a:xfrm>
              <a:prstGeom prst="rect">
                <a:avLst/>
              </a:prstGeom>
              <a:noFill/>
              <a:ln w="9525">
                <a:noFill/>
                <a:miter lim="800000"/>
                <a:headEnd/>
                <a:tailEnd/>
              </a:ln>
            </p:spPr>
            <p:txBody>
              <a:bodyPr wrap="none" lIns="0" tIns="0" rIns="0" bIns="0">
                <a:spAutoFit/>
              </a:bodyPr>
              <a:lstStyle/>
              <a:p>
                <a:r>
                  <a:rPr lang="en-US" sz="700">
                    <a:solidFill>
                      <a:schemeClr val="bg1"/>
                    </a:solidFill>
                  </a:rPr>
                  <a:t>Financial</a:t>
                </a:r>
                <a:endParaRPr lang="en-US">
                  <a:solidFill>
                    <a:schemeClr val="bg1"/>
                  </a:solidFill>
                </a:endParaRPr>
              </a:p>
            </p:txBody>
          </p:sp>
          <p:sp>
            <p:nvSpPr>
              <p:cNvPr id="1393859" name="Rectangle 195"/>
              <p:cNvSpPr>
                <a:spLocks noChangeArrowheads="1"/>
              </p:cNvSpPr>
              <p:nvPr/>
            </p:nvSpPr>
            <p:spPr bwMode="auto">
              <a:xfrm>
                <a:off x="2469" y="3493"/>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60" name="Rectangle 196"/>
              <p:cNvSpPr>
                <a:spLocks noChangeArrowheads="1"/>
              </p:cNvSpPr>
              <p:nvPr/>
            </p:nvSpPr>
            <p:spPr bwMode="auto">
              <a:xfrm>
                <a:off x="2518" y="3493"/>
                <a:ext cx="611" cy="67"/>
              </a:xfrm>
              <a:prstGeom prst="rect">
                <a:avLst/>
              </a:prstGeom>
              <a:noFill/>
              <a:ln w="9525">
                <a:noFill/>
                <a:miter lim="800000"/>
                <a:headEnd/>
                <a:tailEnd/>
              </a:ln>
            </p:spPr>
            <p:txBody>
              <a:bodyPr wrap="none" lIns="0" tIns="0" rIns="0" bIns="0">
                <a:spAutoFit/>
              </a:bodyPr>
              <a:lstStyle/>
              <a:p>
                <a:r>
                  <a:rPr lang="en-US" sz="700">
                    <a:solidFill>
                      <a:schemeClr val="bg1"/>
                    </a:solidFill>
                  </a:rPr>
                  <a:t>Quality, Maintenance, &amp; </a:t>
                </a:r>
                <a:endParaRPr lang="en-US">
                  <a:solidFill>
                    <a:schemeClr val="bg1"/>
                  </a:solidFill>
                </a:endParaRPr>
              </a:p>
            </p:txBody>
          </p:sp>
          <p:sp>
            <p:nvSpPr>
              <p:cNvPr id="1393861" name="Rectangle 197"/>
              <p:cNvSpPr>
                <a:spLocks noChangeArrowheads="1"/>
              </p:cNvSpPr>
              <p:nvPr/>
            </p:nvSpPr>
            <p:spPr bwMode="auto">
              <a:xfrm>
                <a:off x="2482" y="3545"/>
                <a:ext cx="239" cy="67"/>
              </a:xfrm>
              <a:prstGeom prst="rect">
                <a:avLst/>
              </a:prstGeom>
              <a:noFill/>
              <a:ln w="9525">
                <a:noFill/>
                <a:miter lim="800000"/>
                <a:headEnd/>
                <a:tailEnd/>
              </a:ln>
            </p:spPr>
            <p:txBody>
              <a:bodyPr wrap="none" lIns="0" tIns="0" rIns="0" bIns="0">
                <a:spAutoFit/>
              </a:bodyPr>
              <a:lstStyle/>
              <a:p>
                <a:r>
                  <a:rPr lang="en-US" sz="700">
                    <a:solidFill>
                      <a:schemeClr val="bg1"/>
                    </a:solidFill>
                  </a:rPr>
                  <a:t>Efficiency</a:t>
                </a:r>
                <a:endParaRPr lang="en-US">
                  <a:solidFill>
                    <a:schemeClr val="bg1"/>
                  </a:solidFill>
                </a:endParaRPr>
              </a:p>
            </p:txBody>
          </p:sp>
          <p:sp>
            <p:nvSpPr>
              <p:cNvPr id="1393862" name="Rectangle 198"/>
              <p:cNvSpPr>
                <a:spLocks noChangeArrowheads="1"/>
              </p:cNvSpPr>
              <p:nvPr/>
            </p:nvSpPr>
            <p:spPr bwMode="auto">
              <a:xfrm>
                <a:off x="2469" y="361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63" name="Rectangle 199"/>
              <p:cNvSpPr>
                <a:spLocks noChangeArrowheads="1"/>
              </p:cNvSpPr>
              <p:nvPr/>
            </p:nvSpPr>
            <p:spPr bwMode="auto">
              <a:xfrm>
                <a:off x="2507" y="3612"/>
                <a:ext cx="430" cy="67"/>
              </a:xfrm>
              <a:prstGeom prst="rect">
                <a:avLst/>
              </a:prstGeom>
              <a:noFill/>
              <a:ln w="9525">
                <a:noFill/>
                <a:miter lim="800000"/>
                <a:headEnd/>
                <a:tailEnd/>
              </a:ln>
            </p:spPr>
            <p:txBody>
              <a:bodyPr wrap="none" lIns="0" tIns="0" rIns="0" bIns="0">
                <a:spAutoFit/>
              </a:bodyPr>
              <a:lstStyle/>
              <a:p>
                <a:r>
                  <a:rPr lang="en-US" sz="700">
                    <a:solidFill>
                      <a:schemeClr val="bg1"/>
                    </a:solidFill>
                  </a:rPr>
                  <a:t>Security &amp; Safety</a:t>
                </a:r>
                <a:endParaRPr lang="en-US">
                  <a:solidFill>
                    <a:schemeClr val="bg1"/>
                  </a:solidFill>
                </a:endParaRPr>
              </a:p>
            </p:txBody>
          </p:sp>
          <p:sp>
            <p:nvSpPr>
              <p:cNvPr id="1393864" name="Rectangle 200"/>
              <p:cNvSpPr>
                <a:spLocks noChangeArrowheads="1"/>
              </p:cNvSpPr>
              <p:nvPr/>
            </p:nvSpPr>
            <p:spPr bwMode="auto">
              <a:xfrm>
                <a:off x="2456" y="3680"/>
                <a:ext cx="47" cy="78"/>
              </a:xfrm>
              <a:prstGeom prst="rect">
                <a:avLst/>
              </a:prstGeom>
              <a:noFill/>
              <a:ln w="9525">
                <a:noFill/>
                <a:miter lim="800000"/>
                <a:headEnd/>
                <a:tailEnd/>
              </a:ln>
            </p:spPr>
            <p:txBody>
              <a:bodyPr wrap="none" lIns="0" tIns="0" rIns="0" bIns="0">
                <a:spAutoFit/>
              </a:bodyPr>
              <a:lstStyle/>
              <a:p>
                <a:r>
                  <a:rPr lang="en-US" sz="700">
                    <a:solidFill>
                      <a:srgbClr val="808080"/>
                    </a:solidFill>
                  </a:rPr>
                  <a:t>•</a:t>
                </a:r>
                <a:endParaRPr lang="en-US"/>
              </a:p>
            </p:txBody>
          </p:sp>
          <p:sp>
            <p:nvSpPr>
              <p:cNvPr id="1393865" name="Rectangle 201"/>
              <p:cNvSpPr>
                <a:spLocks noChangeArrowheads="1"/>
              </p:cNvSpPr>
              <p:nvPr/>
            </p:nvSpPr>
            <p:spPr bwMode="auto">
              <a:xfrm>
                <a:off x="2476" y="3680"/>
                <a:ext cx="296" cy="78"/>
              </a:xfrm>
              <a:prstGeom prst="rect">
                <a:avLst/>
              </a:prstGeom>
              <a:noFill/>
              <a:ln w="9525">
                <a:noFill/>
                <a:miter lim="800000"/>
                <a:headEnd/>
                <a:tailEnd/>
              </a:ln>
            </p:spPr>
            <p:txBody>
              <a:bodyPr wrap="none" lIns="0" tIns="0" rIns="0" bIns="0">
                <a:spAutoFit/>
              </a:bodyPr>
              <a:lstStyle/>
              <a:p>
                <a:r>
                  <a:rPr lang="en-US" sz="700">
                    <a:solidFill>
                      <a:srgbClr val="808080"/>
                    </a:solidFill>
                  </a:rPr>
                  <a:t>Utilization</a:t>
                </a:r>
                <a:endParaRPr lang="en-US"/>
              </a:p>
            </p:txBody>
          </p:sp>
          <p:sp>
            <p:nvSpPr>
              <p:cNvPr id="1393866" name="Rectangle 202"/>
              <p:cNvSpPr>
                <a:spLocks noChangeArrowheads="1"/>
              </p:cNvSpPr>
              <p:nvPr/>
            </p:nvSpPr>
            <p:spPr bwMode="auto">
              <a:xfrm>
                <a:off x="2404" y="3229"/>
                <a:ext cx="834" cy="544"/>
              </a:xfrm>
              <a:prstGeom prst="rect">
                <a:avLst/>
              </a:prstGeom>
              <a:solidFill>
                <a:srgbClr val="808080"/>
              </a:solidFill>
              <a:ln w="9525">
                <a:noFill/>
                <a:miter lim="800000"/>
                <a:headEnd/>
                <a:tailEnd/>
              </a:ln>
            </p:spPr>
            <p:txBody>
              <a:bodyPr/>
              <a:lstStyle/>
              <a:p>
                <a:endParaRPr lang="en-US"/>
              </a:p>
            </p:txBody>
          </p:sp>
          <p:sp>
            <p:nvSpPr>
              <p:cNvPr id="1393867" name="Rectangle 203"/>
              <p:cNvSpPr>
                <a:spLocks noChangeArrowheads="1"/>
              </p:cNvSpPr>
              <p:nvPr/>
            </p:nvSpPr>
            <p:spPr bwMode="auto">
              <a:xfrm>
                <a:off x="2388" y="3213"/>
                <a:ext cx="829" cy="539"/>
              </a:xfrm>
              <a:prstGeom prst="rect">
                <a:avLst/>
              </a:prstGeom>
              <a:solidFill>
                <a:srgbClr val="909DFC"/>
              </a:solidFill>
              <a:ln w="9525">
                <a:solidFill>
                  <a:srgbClr val="000000"/>
                </a:solidFill>
                <a:miter lim="800000"/>
                <a:headEnd/>
                <a:tailEnd/>
              </a:ln>
            </p:spPr>
            <p:txBody>
              <a:bodyPr/>
              <a:lstStyle/>
              <a:p>
                <a:endParaRPr lang="en-US"/>
              </a:p>
            </p:txBody>
          </p:sp>
          <p:sp>
            <p:nvSpPr>
              <p:cNvPr id="1393868" name="Rectangle 204"/>
              <p:cNvSpPr>
                <a:spLocks noChangeArrowheads="1"/>
              </p:cNvSpPr>
              <p:nvPr/>
            </p:nvSpPr>
            <p:spPr bwMode="auto">
              <a:xfrm>
                <a:off x="2620" y="3228"/>
                <a:ext cx="465" cy="96"/>
              </a:xfrm>
              <a:prstGeom prst="rect">
                <a:avLst/>
              </a:prstGeom>
              <a:noFill/>
              <a:ln w="9525">
                <a:noFill/>
                <a:miter lim="800000"/>
                <a:headEnd/>
                <a:tailEnd/>
              </a:ln>
            </p:spPr>
            <p:txBody>
              <a:bodyPr wrap="none" lIns="0" tIns="0" rIns="0" bIns="0">
                <a:spAutoFit/>
              </a:bodyPr>
              <a:lstStyle/>
              <a:p>
                <a:r>
                  <a:rPr lang="en-US" sz="1000" b="1">
                    <a:solidFill>
                      <a:schemeClr val="bg1"/>
                    </a:solidFill>
                  </a:rPr>
                  <a:t>Other Fixed </a:t>
                </a:r>
                <a:endParaRPr lang="en-US">
                  <a:solidFill>
                    <a:schemeClr val="bg1"/>
                  </a:solidFill>
                </a:endParaRPr>
              </a:p>
            </p:txBody>
          </p:sp>
          <p:sp>
            <p:nvSpPr>
              <p:cNvPr id="1393869" name="Rectangle 205"/>
              <p:cNvSpPr>
                <a:spLocks noChangeArrowheads="1"/>
              </p:cNvSpPr>
              <p:nvPr/>
            </p:nvSpPr>
            <p:spPr bwMode="auto">
              <a:xfrm>
                <a:off x="2701" y="3306"/>
                <a:ext cx="261" cy="96"/>
              </a:xfrm>
              <a:prstGeom prst="rect">
                <a:avLst/>
              </a:prstGeom>
              <a:noFill/>
              <a:ln w="9525">
                <a:noFill/>
                <a:miter lim="800000"/>
                <a:headEnd/>
                <a:tailEnd/>
              </a:ln>
            </p:spPr>
            <p:txBody>
              <a:bodyPr wrap="none" lIns="0" tIns="0" rIns="0" bIns="0">
                <a:spAutoFit/>
              </a:bodyPr>
              <a:lstStyle/>
              <a:p>
                <a:r>
                  <a:rPr lang="en-US" sz="1000" b="1">
                    <a:solidFill>
                      <a:schemeClr val="bg1"/>
                    </a:solidFill>
                  </a:rPr>
                  <a:t>Assets</a:t>
                </a:r>
                <a:endParaRPr lang="en-US">
                  <a:solidFill>
                    <a:schemeClr val="bg1"/>
                  </a:solidFill>
                </a:endParaRPr>
              </a:p>
            </p:txBody>
          </p:sp>
          <p:sp>
            <p:nvSpPr>
              <p:cNvPr id="1393870" name="Rectangle 206"/>
              <p:cNvSpPr>
                <a:spLocks noChangeArrowheads="1"/>
              </p:cNvSpPr>
              <p:nvPr/>
            </p:nvSpPr>
            <p:spPr bwMode="auto">
              <a:xfrm>
                <a:off x="2431" y="3410"/>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71" name="Rectangle 207"/>
              <p:cNvSpPr>
                <a:spLocks noChangeArrowheads="1"/>
              </p:cNvSpPr>
              <p:nvPr/>
            </p:nvSpPr>
            <p:spPr bwMode="auto">
              <a:xfrm>
                <a:off x="2496" y="3410"/>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3872" name="Rectangle 208"/>
              <p:cNvSpPr>
                <a:spLocks noChangeArrowheads="1"/>
              </p:cNvSpPr>
              <p:nvPr/>
            </p:nvSpPr>
            <p:spPr bwMode="auto">
              <a:xfrm>
                <a:off x="2431" y="3477"/>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73" name="Rectangle 209"/>
              <p:cNvSpPr>
                <a:spLocks noChangeArrowheads="1"/>
              </p:cNvSpPr>
              <p:nvPr/>
            </p:nvSpPr>
            <p:spPr bwMode="auto">
              <a:xfrm>
                <a:off x="2496" y="3477"/>
                <a:ext cx="650" cy="67"/>
              </a:xfrm>
              <a:prstGeom prst="rect">
                <a:avLst/>
              </a:prstGeom>
              <a:noFill/>
              <a:ln w="9525">
                <a:noFill/>
                <a:miter lim="800000"/>
                <a:headEnd/>
                <a:tailEnd/>
              </a:ln>
            </p:spPr>
            <p:txBody>
              <a:bodyPr wrap="none" lIns="0" tIns="0" rIns="0" bIns="0">
                <a:spAutoFit/>
              </a:bodyPr>
              <a:lstStyle/>
              <a:p>
                <a:r>
                  <a:rPr lang="en-US" sz="700" b="1">
                    <a:solidFill>
                      <a:schemeClr val="bg1"/>
                    </a:solidFill>
                  </a:rPr>
                  <a:t>Quality, Maintenance, &amp; </a:t>
                </a:r>
                <a:endParaRPr lang="en-US" b="1">
                  <a:solidFill>
                    <a:schemeClr val="bg1"/>
                  </a:solidFill>
                </a:endParaRPr>
              </a:p>
            </p:txBody>
          </p:sp>
          <p:sp>
            <p:nvSpPr>
              <p:cNvPr id="1393874" name="Rectangle 210"/>
              <p:cNvSpPr>
                <a:spLocks noChangeArrowheads="1"/>
              </p:cNvSpPr>
              <p:nvPr/>
            </p:nvSpPr>
            <p:spPr bwMode="auto">
              <a:xfrm>
                <a:off x="2496" y="3537"/>
                <a:ext cx="265" cy="67"/>
              </a:xfrm>
              <a:prstGeom prst="rect">
                <a:avLst/>
              </a:prstGeom>
              <a:noFill/>
              <a:ln w="9525">
                <a:noFill/>
                <a:miter lim="800000"/>
                <a:headEnd/>
                <a:tailEnd/>
              </a:ln>
            </p:spPr>
            <p:txBody>
              <a:bodyPr wrap="none" lIns="0" tIns="0" rIns="0" bIns="0">
                <a:spAutoFit/>
              </a:bodyPr>
              <a:lstStyle/>
              <a:p>
                <a:r>
                  <a:rPr lang="en-US" sz="700" b="1">
                    <a:solidFill>
                      <a:schemeClr val="bg1"/>
                    </a:solidFill>
                  </a:rPr>
                  <a:t>Efficiency</a:t>
                </a:r>
                <a:endParaRPr lang="en-US" b="1">
                  <a:solidFill>
                    <a:schemeClr val="bg1"/>
                  </a:solidFill>
                </a:endParaRPr>
              </a:p>
            </p:txBody>
          </p:sp>
          <p:sp>
            <p:nvSpPr>
              <p:cNvPr id="1393875" name="Rectangle 211"/>
              <p:cNvSpPr>
                <a:spLocks noChangeArrowheads="1"/>
              </p:cNvSpPr>
              <p:nvPr/>
            </p:nvSpPr>
            <p:spPr bwMode="auto">
              <a:xfrm>
                <a:off x="2431" y="3597"/>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76" name="Rectangle 212"/>
              <p:cNvSpPr>
                <a:spLocks noChangeArrowheads="1"/>
              </p:cNvSpPr>
              <p:nvPr/>
            </p:nvSpPr>
            <p:spPr bwMode="auto">
              <a:xfrm>
                <a:off x="2496" y="3597"/>
                <a:ext cx="461" cy="67"/>
              </a:xfrm>
              <a:prstGeom prst="rect">
                <a:avLst/>
              </a:prstGeom>
              <a:noFill/>
              <a:ln w="9525">
                <a:noFill/>
                <a:miter lim="800000"/>
                <a:headEnd/>
                <a:tailEnd/>
              </a:ln>
            </p:spPr>
            <p:txBody>
              <a:bodyPr wrap="none" lIns="0" tIns="0" rIns="0" bIns="0">
                <a:spAutoFit/>
              </a:bodyPr>
              <a:lstStyle/>
              <a:p>
                <a:r>
                  <a:rPr lang="en-US" sz="700" b="1">
                    <a:solidFill>
                      <a:schemeClr val="bg1"/>
                    </a:solidFill>
                  </a:rPr>
                  <a:t>Security &amp; Safety</a:t>
                </a:r>
                <a:endParaRPr lang="en-US" b="1">
                  <a:solidFill>
                    <a:schemeClr val="bg1"/>
                  </a:solidFill>
                </a:endParaRPr>
              </a:p>
            </p:txBody>
          </p:sp>
          <p:sp>
            <p:nvSpPr>
              <p:cNvPr id="1393877" name="Rectangle 213"/>
              <p:cNvSpPr>
                <a:spLocks noChangeArrowheads="1"/>
              </p:cNvSpPr>
              <p:nvPr/>
            </p:nvSpPr>
            <p:spPr bwMode="auto">
              <a:xfrm>
                <a:off x="2431" y="3664"/>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78" name="Rectangle 214"/>
              <p:cNvSpPr>
                <a:spLocks noChangeArrowheads="1"/>
              </p:cNvSpPr>
              <p:nvPr/>
            </p:nvSpPr>
            <p:spPr bwMode="auto">
              <a:xfrm>
                <a:off x="2496" y="3664"/>
                <a:ext cx="269" cy="67"/>
              </a:xfrm>
              <a:prstGeom prst="rect">
                <a:avLst/>
              </a:prstGeom>
              <a:noFill/>
              <a:ln w="9525">
                <a:noFill/>
                <a:miter lim="800000"/>
                <a:headEnd/>
                <a:tailEnd/>
              </a:ln>
            </p:spPr>
            <p:txBody>
              <a:bodyPr wrap="none" lIns="0" tIns="0" rIns="0" bIns="0">
                <a:spAutoFit/>
              </a:bodyPr>
              <a:lstStyle/>
              <a:p>
                <a:r>
                  <a:rPr lang="en-US" sz="700" b="1">
                    <a:solidFill>
                      <a:schemeClr val="bg1"/>
                    </a:solidFill>
                  </a:rPr>
                  <a:t>Utilization</a:t>
                </a:r>
                <a:endParaRPr lang="en-US" b="1">
                  <a:solidFill>
                    <a:schemeClr val="bg1"/>
                  </a:solidFill>
                </a:endParaRPr>
              </a:p>
            </p:txBody>
          </p:sp>
          <p:grpSp>
            <p:nvGrpSpPr>
              <p:cNvPr id="1393939" name="Group 275"/>
              <p:cNvGrpSpPr>
                <a:grpSpLocks/>
              </p:cNvGrpSpPr>
              <p:nvPr/>
            </p:nvGrpSpPr>
            <p:grpSpPr bwMode="auto">
              <a:xfrm>
                <a:off x="647" y="3249"/>
                <a:ext cx="829" cy="462"/>
                <a:chOff x="647" y="3249"/>
                <a:chExt cx="829" cy="462"/>
              </a:xfrm>
            </p:grpSpPr>
            <p:sp>
              <p:nvSpPr>
                <p:cNvPr id="1393879" name="Rectangle 215"/>
                <p:cNvSpPr>
                  <a:spLocks noChangeArrowheads="1"/>
                </p:cNvSpPr>
                <p:nvPr/>
              </p:nvSpPr>
              <p:spPr bwMode="auto">
                <a:xfrm>
                  <a:off x="972" y="3280"/>
                  <a:ext cx="261" cy="96"/>
                </a:xfrm>
                <a:prstGeom prst="rect">
                  <a:avLst/>
                </a:prstGeom>
                <a:solidFill>
                  <a:srgbClr val="909DFC"/>
                </a:solidFill>
                <a:ln w="9525">
                  <a:noFill/>
                  <a:miter lim="800000"/>
                  <a:headEnd/>
                  <a:tailEnd/>
                </a:ln>
              </p:spPr>
              <p:txBody>
                <a:bodyPr wrap="none" lIns="0" tIns="0" rIns="0" bIns="0">
                  <a:spAutoFit/>
                </a:bodyPr>
                <a:lstStyle/>
                <a:p>
                  <a:r>
                    <a:rPr lang="en-US" sz="1000" b="1">
                      <a:solidFill>
                        <a:schemeClr val="bg1"/>
                      </a:solidFill>
                    </a:rPr>
                    <a:t>People</a:t>
                  </a:r>
                  <a:endParaRPr lang="en-US">
                    <a:solidFill>
                      <a:schemeClr val="bg1"/>
                    </a:solidFill>
                  </a:endParaRPr>
                </a:p>
              </p:txBody>
            </p:sp>
            <p:sp>
              <p:nvSpPr>
                <p:cNvPr id="1393880" name="Rectangle 216"/>
                <p:cNvSpPr>
                  <a:spLocks noChangeArrowheads="1"/>
                </p:cNvSpPr>
                <p:nvPr/>
              </p:nvSpPr>
              <p:spPr bwMode="auto">
                <a:xfrm>
                  <a:off x="727" y="3379"/>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81" name="Rectangle 217"/>
                <p:cNvSpPr>
                  <a:spLocks noChangeArrowheads="1"/>
                </p:cNvSpPr>
                <p:nvPr/>
              </p:nvSpPr>
              <p:spPr bwMode="auto">
                <a:xfrm>
                  <a:off x="779" y="3379"/>
                  <a:ext cx="622"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Employee Satisfaction &amp; </a:t>
                  </a:r>
                  <a:endParaRPr lang="en-US">
                    <a:solidFill>
                      <a:schemeClr val="bg1"/>
                    </a:solidFill>
                  </a:endParaRPr>
                </a:p>
              </p:txBody>
            </p:sp>
            <p:sp>
              <p:nvSpPr>
                <p:cNvPr id="1393882" name="Rectangle 218"/>
                <p:cNvSpPr>
                  <a:spLocks noChangeArrowheads="1"/>
                </p:cNvSpPr>
                <p:nvPr/>
              </p:nvSpPr>
              <p:spPr bwMode="auto">
                <a:xfrm>
                  <a:off x="751" y="3436"/>
                  <a:ext cx="455"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Quality of Worklife</a:t>
                  </a:r>
                  <a:endParaRPr lang="en-US">
                    <a:solidFill>
                      <a:schemeClr val="bg1"/>
                    </a:solidFill>
                  </a:endParaRPr>
                </a:p>
              </p:txBody>
            </p:sp>
            <p:sp>
              <p:nvSpPr>
                <p:cNvPr id="1393883" name="Rectangle 219"/>
                <p:cNvSpPr>
                  <a:spLocks noChangeArrowheads="1"/>
                </p:cNvSpPr>
                <p:nvPr/>
              </p:nvSpPr>
              <p:spPr bwMode="auto">
                <a:xfrm>
                  <a:off x="727" y="3503"/>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84" name="Rectangle 220"/>
                <p:cNvSpPr>
                  <a:spLocks noChangeArrowheads="1"/>
                </p:cNvSpPr>
                <p:nvPr/>
              </p:nvSpPr>
              <p:spPr bwMode="auto">
                <a:xfrm>
                  <a:off x="777" y="3503"/>
                  <a:ext cx="61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Recruitment &amp; Retention</a:t>
                  </a:r>
                  <a:endParaRPr lang="en-US">
                    <a:solidFill>
                      <a:schemeClr val="bg1"/>
                    </a:solidFill>
                  </a:endParaRPr>
                </a:p>
              </p:txBody>
            </p:sp>
            <p:sp>
              <p:nvSpPr>
                <p:cNvPr id="1393885" name="Rectangle 221"/>
                <p:cNvSpPr>
                  <a:spLocks noChangeArrowheads="1"/>
                </p:cNvSpPr>
                <p:nvPr/>
              </p:nvSpPr>
              <p:spPr bwMode="auto">
                <a:xfrm>
                  <a:off x="727" y="3571"/>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86" name="Rectangle 222"/>
                <p:cNvSpPr>
                  <a:spLocks noChangeArrowheads="1"/>
                </p:cNvSpPr>
                <p:nvPr/>
              </p:nvSpPr>
              <p:spPr bwMode="auto">
                <a:xfrm>
                  <a:off x="778" y="3571"/>
                  <a:ext cx="593"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Employee Development</a:t>
                  </a:r>
                  <a:endParaRPr lang="en-US">
                    <a:solidFill>
                      <a:schemeClr val="bg1"/>
                    </a:solidFill>
                  </a:endParaRPr>
                </a:p>
              </p:txBody>
            </p:sp>
            <p:sp>
              <p:nvSpPr>
                <p:cNvPr id="1393890" name="Rectangle 226"/>
                <p:cNvSpPr>
                  <a:spLocks noChangeArrowheads="1"/>
                </p:cNvSpPr>
                <p:nvPr/>
              </p:nvSpPr>
              <p:spPr bwMode="auto">
                <a:xfrm>
                  <a:off x="647" y="3249"/>
                  <a:ext cx="829" cy="462"/>
                </a:xfrm>
                <a:prstGeom prst="rect">
                  <a:avLst/>
                </a:prstGeom>
                <a:solidFill>
                  <a:srgbClr val="909DFC"/>
                </a:solidFill>
                <a:ln w="9525">
                  <a:solidFill>
                    <a:srgbClr val="000000"/>
                  </a:solidFill>
                  <a:miter lim="800000"/>
                  <a:headEnd/>
                  <a:tailEnd/>
                </a:ln>
              </p:spPr>
              <p:txBody>
                <a:bodyPr/>
                <a:lstStyle/>
                <a:p>
                  <a:endParaRPr lang="en-US"/>
                </a:p>
              </p:txBody>
            </p:sp>
            <p:sp>
              <p:nvSpPr>
                <p:cNvPr id="1393891" name="Rectangle 227"/>
                <p:cNvSpPr>
                  <a:spLocks noChangeArrowheads="1"/>
                </p:cNvSpPr>
                <p:nvPr/>
              </p:nvSpPr>
              <p:spPr bwMode="auto">
                <a:xfrm>
                  <a:off x="957" y="3265"/>
                  <a:ext cx="261" cy="96"/>
                </a:xfrm>
                <a:prstGeom prst="rect">
                  <a:avLst/>
                </a:prstGeom>
                <a:solidFill>
                  <a:srgbClr val="909DFC"/>
                </a:solidFill>
                <a:ln w="9525">
                  <a:noFill/>
                  <a:miter lim="800000"/>
                  <a:headEnd/>
                  <a:tailEnd/>
                </a:ln>
              </p:spPr>
              <p:txBody>
                <a:bodyPr wrap="none" lIns="0" tIns="0" rIns="0" bIns="0">
                  <a:spAutoFit/>
                </a:bodyPr>
                <a:lstStyle/>
                <a:p>
                  <a:r>
                    <a:rPr lang="en-US" sz="1000" b="1">
                      <a:solidFill>
                        <a:schemeClr val="bg1"/>
                      </a:solidFill>
                    </a:rPr>
                    <a:t>People</a:t>
                  </a:r>
                  <a:endParaRPr lang="en-US">
                    <a:solidFill>
                      <a:schemeClr val="bg1"/>
                    </a:solidFill>
                  </a:endParaRPr>
                </a:p>
              </p:txBody>
            </p:sp>
            <p:sp>
              <p:nvSpPr>
                <p:cNvPr id="1393892" name="Rectangle 228"/>
                <p:cNvSpPr>
                  <a:spLocks noChangeArrowheads="1"/>
                </p:cNvSpPr>
                <p:nvPr/>
              </p:nvSpPr>
              <p:spPr bwMode="auto">
                <a:xfrm>
                  <a:off x="678" y="3363"/>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93" name="Rectangle 229"/>
                <p:cNvSpPr>
                  <a:spLocks noChangeArrowheads="1"/>
                </p:cNvSpPr>
                <p:nvPr/>
              </p:nvSpPr>
              <p:spPr bwMode="auto">
                <a:xfrm>
                  <a:off x="739" y="3363"/>
                  <a:ext cx="670"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Employee Satisfaction &amp; </a:t>
                  </a:r>
                  <a:endParaRPr lang="en-US" b="1">
                    <a:solidFill>
                      <a:schemeClr val="bg1"/>
                    </a:solidFill>
                  </a:endParaRPr>
                </a:p>
              </p:txBody>
            </p:sp>
            <p:sp>
              <p:nvSpPr>
                <p:cNvPr id="1393894" name="Rectangle 230"/>
                <p:cNvSpPr>
                  <a:spLocks noChangeArrowheads="1"/>
                </p:cNvSpPr>
                <p:nvPr/>
              </p:nvSpPr>
              <p:spPr bwMode="auto">
                <a:xfrm>
                  <a:off x="739" y="3420"/>
                  <a:ext cx="498"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Quality of Worklife</a:t>
                  </a:r>
                  <a:endParaRPr lang="en-US" b="1">
                    <a:solidFill>
                      <a:schemeClr val="bg1"/>
                    </a:solidFill>
                  </a:endParaRPr>
                </a:p>
              </p:txBody>
            </p:sp>
            <p:sp>
              <p:nvSpPr>
                <p:cNvPr id="1393895" name="Rectangle 231"/>
                <p:cNvSpPr>
                  <a:spLocks noChangeArrowheads="1"/>
                </p:cNvSpPr>
                <p:nvPr/>
              </p:nvSpPr>
              <p:spPr bwMode="auto">
                <a:xfrm>
                  <a:off x="678" y="3488"/>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96" name="Rectangle 232"/>
                <p:cNvSpPr>
                  <a:spLocks noChangeArrowheads="1"/>
                </p:cNvSpPr>
                <p:nvPr/>
              </p:nvSpPr>
              <p:spPr bwMode="auto">
                <a:xfrm>
                  <a:off x="739" y="3488"/>
                  <a:ext cx="657"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Recruitment &amp; Retention</a:t>
                  </a:r>
                  <a:endParaRPr lang="en-US" b="1">
                    <a:solidFill>
                      <a:schemeClr val="bg1"/>
                    </a:solidFill>
                  </a:endParaRPr>
                </a:p>
              </p:txBody>
            </p:sp>
            <p:sp>
              <p:nvSpPr>
                <p:cNvPr id="1393897" name="Rectangle 233"/>
                <p:cNvSpPr>
                  <a:spLocks noChangeArrowheads="1"/>
                </p:cNvSpPr>
                <p:nvPr/>
              </p:nvSpPr>
              <p:spPr bwMode="auto">
                <a:xfrm>
                  <a:off x="678" y="3555"/>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898" name="Rectangle 234"/>
                <p:cNvSpPr>
                  <a:spLocks noChangeArrowheads="1"/>
                </p:cNvSpPr>
                <p:nvPr/>
              </p:nvSpPr>
              <p:spPr bwMode="auto">
                <a:xfrm>
                  <a:off x="739" y="3555"/>
                  <a:ext cx="631"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Employee Development</a:t>
                  </a:r>
                  <a:endParaRPr lang="en-US" b="1">
                    <a:solidFill>
                      <a:schemeClr val="bg1"/>
                    </a:solidFill>
                  </a:endParaRPr>
                </a:p>
              </p:txBody>
            </p:sp>
            <p:sp>
              <p:nvSpPr>
                <p:cNvPr id="1393899" name="Rectangle 235"/>
                <p:cNvSpPr>
                  <a:spLocks noChangeArrowheads="1"/>
                </p:cNvSpPr>
                <p:nvPr/>
              </p:nvSpPr>
              <p:spPr bwMode="auto">
                <a:xfrm>
                  <a:off x="678" y="3622"/>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3900" name="Rectangle 236"/>
                <p:cNvSpPr>
                  <a:spLocks noChangeArrowheads="1"/>
                </p:cNvSpPr>
                <p:nvPr/>
              </p:nvSpPr>
              <p:spPr bwMode="auto">
                <a:xfrm>
                  <a:off x="739" y="3622"/>
                  <a:ext cx="451"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Employee Ratios</a:t>
                  </a:r>
                  <a:endParaRPr lang="en-US" b="1">
                    <a:solidFill>
                      <a:schemeClr val="bg1"/>
                    </a:solidFill>
                  </a:endParaRPr>
                </a:p>
              </p:txBody>
            </p:sp>
          </p:grpSp>
          <p:sp>
            <p:nvSpPr>
              <p:cNvPr id="1393901" name="Freeform 237"/>
              <p:cNvSpPr>
                <a:spLocks/>
              </p:cNvSpPr>
              <p:nvPr/>
            </p:nvSpPr>
            <p:spPr bwMode="auto">
              <a:xfrm>
                <a:off x="1559" y="2845"/>
                <a:ext cx="705" cy="285"/>
              </a:xfrm>
              <a:custGeom>
                <a:avLst/>
                <a:gdLst/>
                <a:ahLst/>
                <a:cxnLst>
                  <a:cxn ang="0">
                    <a:pos x="0" y="228"/>
                  </a:cxn>
                  <a:cxn ang="0">
                    <a:pos x="176" y="228"/>
                  </a:cxn>
                  <a:cxn ang="0">
                    <a:pos x="176" y="285"/>
                  </a:cxn>
                  <a:cxn ang="0">
                    <a:pos x="529" y="285"/>
                  </a:cxn>
                  <a:cxn ang="0">
                    <a:pos x="529" y="228"/>
                  </a:cxn>
                  <a:cxn ang="0">
                    <a:pos x="705" y="228"/>
                  </a:cxn>
                  <a:cxn ang="0">
                    <a:pos x="352" y="0"/>
                  </a:cxn>
                  <a:cxn ang="0">
                    <a:pos x="0" y="228"/>
                  </a:cxn>
                </a:cxnLst>
                <a:rect l="0" t="0" r="r" b="b"/>
                <a:pathLst>
                  <a:path w="705" h="285">
                    <a:moveTo>
                      <a:pt x="0" y="228"/>
                    </a:moveTo>
                    <a:lnTo>
                      <a:pt x="176" y="228"/>
                    </a:lnTo>
                    <a:lnTo>
                      <a:pt x="176" y="285"/>
                    </a:lnTo>
                    <a:lnTo>
                      <a:pt x="529" y="285"/>
                    </a:lnTo>
                    <a:lnTo>
                      <a:pt x="529" y="228"/>
                    </a:lnTo>
                    <a:lnTo>
                      <a:pt x="705" y="228"/>
                    </a:lnTo>
                    <a:lnTo>
                      <a:pt x="352" y="0"/>
                    </a:lnTo>
                    <a:lnTo>
                      <a:pt x="0" y="228"/>
                    </a:lnTo>
                    <a:close/>
                  </a:path>
                </a:pathLst>
              </a:custGeom>
              <a:solidFill>
                <a:srgbClr val="CCCCFF"/>
              </a:solidFill>
              <a:ln w="9525" cap="rnd">
                <a:solidFill>
                  <a:srgbClr val="000000"/>
                </a:solidFill>
                <a:prstDash val="solid"/>
                <a:round/>
                <a:headEnd/>
                <a:tailEnd/>
              </a:ln>
            </p:spPr>
            <p:txBody>
              <a:bodyPr/>
              <a:lstStyle/>
              <a:p>
                <a:endParaRPr lang="en-US"/>
              </a:p>
            </p:txBody>
          </p:sp>
          <p:sp>
            <p:nvSpPr>
              <p:cNvPr id="1393902" name="Rectangle 238"/>
              <p:cNvSpPr>
                <a:spLocks noChangeArrowheads="1"/>
              </p:cNvSpPr>
              <p:nvPr/>
            </p:nvSpPr>
            <p:spPr bwMode="auto">
              <a:xfrm>
                <a:off x="1274" y="1419"/>
                <a:ext cx="576" cy="124"/>
              </a:xfrm>
              <a:prstGeom prst="rect">
                <a:avLst/>
              </a:prstGeom>
              <a:noFill/>
              <a:ln w="9525">
                <a:noFill/>
                <a:miter lim="800000"/>
                <a:headEnd/>
                <a:tailEnd/>
              </a:ln>
            </p:spPr>
            <p:txBody>
              <a:bodyPr wrap="none" lIns="0" tIns="0" rIns="0" bIns="0">
                <a:spAutoFit/>
              </a:bodyPr>
              <a:lstStyle/>
              <a:p>
                <a:r>
                  <a:rPr lang="en-US" sz="1000" b="1">
                    <a:solidFill>
                      <a:srgbClr val="808080"/>
                    </a:solidFill>
                  </a:rPr>
                  <a:t>Mission and </a:t>
                </a:r>
                <a:endParaRPr lang="en-US"/>
              </a:p>
            </p:txBody>
          </p:sp>
          <p:sp>
            <p:nvSpPr>
              <p:cNvPr id="1393903" name="Rectangle 239"/>
              <p:cNvSpPr>
                <a:spLocks noChangeArrowheads="1"/>
              </p:cNvSpPr>
              <p:nvPr/>
            </p:nvSpPr>
            <p:spPr bwMode="auto">
              <a:xfrm>
                <a:off x="1366" y="1497"/>
                <a:ext cx="376" cy="96"/>
              </a:xfrm>
              <a:prstGeom prst="rect">
                <a:avLst/>
              </a:prstGeom>
              <a:noFill/>
              <a:ln w="9525">
                <a:noFill/>
                <a:miter lim="800000"/>
                <a:headEnd/>
                <a:tailEnd/>
              </a:ln>
            </p:spPr>
            <p:txBody>
              <a:bodyPr wrap="none" lIns="0" tIns="0" rIns="0" bIns="0">
                <a:spAutoFit/>
              </a:bodyPr>
              <a:lstStyle/>
              <a:p>
                <a:r>
                  <a:rPr lang="en-US" sz="1000" b="1">
                    <a:solidFill>
                      <a:schemeClr val="bg1"/>
                    </a:solidFill>
                  </a:rPr>
                  <a:t>Business </a:t>
                </a:r>
                <a:endParaRPr lang="en-US">
                  <a:solidFill>
                    <a:schemeClr val="bg1"/>
                  </a:solidFill>
                </a:endParaRPr>
              </a:p>
            </p:txBody>
          </p:sp>
          <p:sp>
            <p:nvSpPr>
              <p:cNvPr id="1393904" name="Rectangle 240"/>
              <p:cNvSpPr>
                <a:spLocks noChangeArrowheads="1"/>
              </p:cNvSpPr>
              <p:nvPr/>
            </p:nvSpPr>
            <p:spPr bwMode="auto">
              <a:xfrm>
                <a:off x="1397" y="1575"/>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3905" name="Rectangle 241"/>
              <p:cNvSpPr>
                <a:spLocks noChangeArrowheads="1"/>
              </p:cNvSpPr>
              <p:nvPr/>
            </p:nvSpPr>
            <p:spPr bwMode="auto">
              <a:xfrm>
                <a:off x="1200" y="1678"/>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906" name="Rectangle 242"/>
              <p:cNvSpPr>
                <a:spLocks noChangeArrowheads="1"/>
              </p:cNvSpPr>
              <p:nvPr/>
            </p:nvSpPr>
            <p:spPr bwMode="auto">
              <a:xfrm>
                <a:off x="1227" y="1678"/>
                <a:ext cx="552"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 for Citizens</a:t>
                </a:r>
                <a:endParaRPr lang="en-US" b="1">
                  <a:solidFill>
                    <a:schemeClr val="bg1"/>
                  </a:solidFill>
                </a:endParaRPr>
              </a:p>
            </p:txBody>
          </p:sp>
          <p:sp>
            <p:nvSpPr>
              <p:cNvPr id="1393907" name="Rectangle 243"/>
              <p:cNvSpPr>
                <a:spLocks noChangeArrowheads="1"/>
              </p:cNvSpPr>
              <p:nvPr/>
            </p:nvSpPr>
            <p:spPr bwMode="auto">
              <a:xfrm>
                <a:off x="1200" y="1746"/>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908" name="Rectangle 244"/>
              <p:cNvSpPr>
                <a:spLocks noChangeArrowheads="1"/>
              </p:cNvSpPr>
              <p:nvPr/>
            </p:nvSpPr>
            <p:spPr bwMode="auto">
              <a:xfrm>
                <a:off x="1224" y="1746"/>
                <a:ext cx="533" cy="67"/>
              </a:xfrm>
              <a:prstGeom prst="rect">
                <a:avLst/>
              </a:prstGeom>
              <a:noFill/>
              <a:ln w="9525">
                <a:noFill/>
                <a:miter lim="800000"/>
                <a:headEnd/>
                <a:tailEnd/>
              </a:ln>
            </p:spPr>
            <p:txBody>
              <a:bodyPr wrap="none" lIns="0" tIns="0" rIns="0" bIns="0">
                <a:spAutoFit/>
              </a:bodyPr>
              <a:lstStyle/>
              <a:p>
                <a:r>
                  <a:rPr lang="en-US" sz="700" b="1">
                    <a:solidFill>
                      <a:schemeClr val="bg1"/>
                    </a:solidFill>
                  </a:rPr>
                  <a:t>Support Delivery of </a:t>
                </a:r>
                <a:endParaRPr lang="en-US" b="1">
                  <a:solidFill>
                    <a:schemeClr val="bg1"/>
                  </a:solidFill>
                </a:endParaRPr>
              </a:p>
            </p:txBody>
          </p:sp>
          <p:sp>
            <p:nvSpPr>
              <p:cNvPr id="1393909" name="Rectangle 245"/>
              <p:cNvSpPr>
                <a:spLocks noChangeArrowheads="1"/>
              </p:cNvSpPr>
              <p:nvPr/>
            </p:nvSpPr>
            <p:spPr bwMode="auto">
              <a:xfrm>
                <a:off x="1204" y="1803"/>
                <a:ext cx="230"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a:t>
                </a:r>
                <a:endParaRPr lang="en-US" b="1">
                  <a:solidFill>
                    <a:schemeClr val="bg1"/>
                  </a:solidFill>
                </a:endParaRPr>
              </a:p>
            </p:txBody>
          </p:sp>
          <p:sp>
            <p:nvSpPr>
              <p:cNvPr id="1393910" name="Rectangle 246"/>
              <p:cNvSpPr>
                <a:spLocks noChangeArrowheads="1"/>
              </p:cNvSpPr>
              <p:nvPr/>
            </p:nvSpPr>
            <p:spPr bwMode="auto">
              <a:xfrm>
                <a:off x="1200" y="1865"/>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911" name="Rectangle 247"/>
              <p:cNvSpPr>
                <a:spLocks noChangeArrowheads="1"/>
              </p:cNvSpPr>
              <p:nvPr/>
            </p:nvSpPr>
            <p:spPr bwMode="auto">
              <a:xfrm>
                <a:off x="1231" y="1865"/>
                <a:ext cx="427" cy="67"/>
              </a:xfrm>
              <a:prstGeom prst="rect">
                <a:avLst/>
              </a:prstGeom>
              <a:noFill/>
              <a:ln w="9525">
                <a:noFill/>
                <a:miter lim="800000"/>
                <a:headEnd/>
                <a:tailEnd/>
              </a:ln>
            </p:spPr>
            <p:txBody>
              <a:bodyPr wrap="none" lIns="0" tIns="0" rIns="0" bIns="0">
                <a:spAutoFit/>
              </a:bodyPr>
              <a:lstStyle/>
              <a:p>
                <a:r>
                  <a:rPr lang="en-US" sz="700" b="1">
                    <a:solidFill>
                      <a:schemeClr val="bg1"/>
                    </a:solidFill>
                  </a:rPr>
                  <a:t>Management of </a:t>
                </a:r>
                <a:endParaRPr lang="en-US" b="1">
                  <a:solidFill>
                    <a:schemeClr val="bg1"/>
                  </a:solidFill>
                </a:endParaRPr>
              </a:p>
            </p:txBody>
          </p:sp>
          <p:sp>
            <p:nvSpPr>
              <p:cNvPr id="1393912" name="Rectangle 248"/>
              <p:cNvSpPr>
                <a:spLocks noChangeArrowheads="1"/>
              </p:cNvSpPr>
              <p:nvPr/>
            </p:nvSpPr>
            <p:spPr bwMode="auto">
              <a:xfrm>
                <a:off x="1230" y="1922"/>
                <a:ext cx="592" cy="67"/>
              </a:xfrm>
              <a:prstGeom prst="rect">
                <a:avLst/>
              </a:prstGeom>
              <a:noFill/>
              <a:ln w="9525">
                <a:noFill/>
                <a:miter lim="800000"/>
                <a:headEnd/>
                <a:tailEnd/>
              </a:ln>
            </p:spPr>
            <p:txBody>
              <a:bodyPr wrap="none" lIns="0" tIns="0" rIns="0" bIns="0">
                <a:spAutoFit/>
              </a:bodyPr>
              <a:lstStyle/>
              <a:p>
                <a:r>
                  <a:rPr lang="en-US" sz="700">
                    <a:solidFill>
                      <a:srgbClr val="808080"/>
                    </a:solidFill>
                  </a:rPr>
                  <a:t>Government Resources</a:t>
                </a:r>
                <a:endParaRPr lang="en-US"/>
              </a:p>
            </p:txBody>
          </p:sp>
          <p:sp>
            <p:nvSpPr>
              <p:cNvPr id="1393913" name="Rectangle 249"/>
              <p:cNvSpPr>
                <a:spLocks noChangeArrowheads="1"/>
              </p:cNvSpPr>
              <p:nvPr/>
            </p:nvSpPr>
            <p:spPr bwMode="auto">
              <a:xfrm>
                <a:off x="1212" y="1989"/>
                <a:ext cx="47" cy="78"/>
              </a:xfrm>
              <a:prstGeom prst="rect">
                <a:avLst/>
              </a:prstGeom>
              <a:noFill/>
              <a:ln w="9525">
                <a:noFill/>
                <a:miter lim="800000"/>
                <a:headEnd/>
                <a:tailEnd/>
              </a:ln>
            </p:spPr>
            <p:txBody>
              <a:bodyPr wrap="none" lIns="0" tIns="0" rIns="0" bIns="0">
                <a:spAutoFit/>
              </a:bodyPr>
              <a:lstStyle/>
              <a:p>
                <a:r>
                  <a:rPr lang="en-US" sz="700">
                    <a:solidFill>
                      <a:srgbClr val="808080"/>
                    </a:solidFill>
                  </a:rPr>
                  <a:t>•</a:t>
                </a:r>
                <a:endParaRPr lang="en-US"/>
              </a:p>
            </p:txBody>
          </p:sp>
          <p:sp>
            <p:nvSpPr>
              <p:cNvPr id="1393914" name="Rectangle 250"/>
              <p:cNvSpPr>
                <a:spLocks noChangeArrowheads="1"/>
              </p:cNvSpPr>
              <p:nvPr/>
            </p:nvSpPr>
            <p:spPr bwMode="auto">
              <a:xfrm>
                <a:off x="1233" y="1989"/>
                <a:ext cx="275" cy="78"/>
              </a:xfrm>
              <a:prstGeom prst="rect">
                <a:avLst/>
              </a:prstGeom>
              <a:noFill/>
              <a:ln w="9525">
                <a:noFill/>
                <a:miter lim="800000"/>
                <a:headEnd/>
                <a:tailEnd/>
              </a:ln>
            </p:spPr>
            <p:txBody>
              <a:bodyPr wrap="none" lIns="0" tIns="0" rIns="0" bIns="0">
                <a:spAutoFit/>
              </a:bodyPr>
              <a:lstStyle/>
              <a:p>
                <a:r>
                  <a:rPr lang="en-US" sz="700">
                    <a:solidFill>
                      <a:srgbClr val="808080"/>
                    </a:solidFill>
                  </a:rPr>
                  <a:t>Financial</a:t>
                </a:r>
                <a:endParaRPr lang="en-US"/>
              </a:p>
            </p:txBody>
          </p:sp>
          <p:sp>
            <p:nvSpPr>
              <p:cNvPr id="1393915" name="Rectangle 251"/>
              <p:cNvSpPr>
                <a:spLocks noChangeArrowheads="1"/>
              </p:cNvSpPr>
              <p:nvPr/>
            </p:nvSpPr>
            <p:spPr bwMode="auto">
              <a:xfrm>
                <a:off x="1160" y="1404"/>
                <a:ext cx="710" cy="679"/>
              </a:xfrm>
              <a:prstGeom prst="rect">
                <a:avLst/>
              </a:prstGeom>
              <a:solidFill>
                <a:srgbClr val="808080"/>
              </a:solidFill>
              <a:ln w="9525">
                <a:noFill/>
                <a:miter lim="800000"/>
                <a:headEnd/>
                <a:tailEnd/>
              </a:ln>
            </p:spPr>
            <p:txBody>
              <a:bodyPr/>
              <a:lstStyle/>
              <a:p>
                <a:endParaRPr lang="en-US"/>
              </a:p>
            </p:txBody>
          </p:sp>
          <p:sp>
            <p:nvSpPr>
              <p:cNvPr id="1393916" name="Rectangle 252"/>
              <p:cNvSpPr>
                <a:spLocks noChangeArrowheads="1"/>
              </p:cNvSpPr>
              <p:nvPr/>
            </p:nvSpPr>
            <p:spPr bwMode="auto">
              <a:xfrm>
                <a:off x="1144" y="1388"/>
                <a:ext cx="705" cy="674"/>
              </a:xfrm>
              <a:prstGeom prst="rect">
                <a:avLst/>
              </a:prstGeom>
              <a:solidFill>
                <a:srgbClr val="909DFC"/>
              </a:solidFill>
              <a:ln w="9525">
                <a:solidFill>
                  <a:srgbClr val="000000"/>
                </a:solidFill>
                <a:miter lim="800000"/>
                <a:headEnd/>
                <a:tailEnd/>
              </a:ln>
            </p:spPr>
            <p:txBody>
              <a:bodyPr/>
              <a:lstStyle/>
              <a:p>
                <a:endParaRPr lang="en-US"/>
              </a:p>
            </p:txBody>
          </p:sp>
          <p:sp>
            <p:nvSpPr>
              <p:cNvPr id="1393917" name="Rectangle 253"/>
              <p:cNvSpPr>
                <a:spLocks noChangeArrowheads="1"/>
              </p:cNvSpPr>
              <p:nvPr/>
            </p:nvSpPr>
            <p:spPr bwMode="auto">
              <a:xfrm>
                <a:off x="1305" y="1404"/>
                <a:ext cx="483" cy="96"/>
              </a:xfrm>
              <a:prstGeom prst="rect">
                <a:avLst/>
              </a:prstGeom>
              <a:noFill/>
              <a:ln w="9525">
                <a:noFill/>
                <a:miter lim="800000"/>
                <a:headEnd/>
                <a:tailEnd/>
              </a:ln>
            </p:spPr>
            <p:txBody>
              <a:bodyPr wrap="none" lIns="0" tIns="0" rIns="0" bIns="0">
                <a:spAutoFit/>
              </a:bodyPr>
              <a:lstStyle/>
              <a:p>
                <a:r>
                  <a:rPr lang="en-US" sz="1000" b="1">
                    <a:solidFill>
                      <a:schemeClr val="bg1"/>
                    </a:solidFill>
                  </a:rPr>
                  <a:t>Mission and </a:t>
                </a:r>
                <a:endParaRPr lang="en-US">
                  <a:solidFill>
                    <a:schemeClr val="bg1"/>
                  </a:solidFill>
                </a:endParaRPr>
              </a:p>
            </p:txBody>
          </p:sp>
          <p:sp>
            <p:nvSpPr>
              <p:cNvPr id="1393918" name="Rectangle 254"/>
              <p:cNvSpPr>
                <a:spLocks noChangeArrowheads="1"/>
              </p:cNvSpPr>
              <p:nvPr/>
            </p:nvSpPr>
            <p:spPr bwMode="auto">
              <a:xfrm>
                <a:off x="1350" y="1481"/>
                <a:ext cx="376" cy="96"/>
              </a:xfrm>
              <a:prstGeom prst="rect">
                <a:avLst/>
              </a:prstGeom>
              <a:noFill/>
              <a:ln w="9525">
                <a:noFill/>
                <a:miter lim="800000"/>
                <a:headEnd/>
                <a:tailEnd/>
              </a:ln>
            </p:spPr>
            <p:txBody>
              <a:bodyPr wrap="none" lIns="0" tIns="0" rIns="0" bIns="0">
                <a:spAutoFit/>
              </a:bodyPr>
              <a:lstStyle/>
              <a:p>
                <a:r>
                  <a:rPr lang="en-US" sz="1000" b="1">
                    <a:solidFill>
                      <a:schemeClr val="bg1"/>
                    </a:solidFill>
                  </a:rPr>
                  <a:t>Business </a:t>
                </a:r>
                <a:endParaRPr lang="en-US">
                  <a:solidFill>
                    <a:schemeClr val="bg1"/>
                  </a:solidFill>
                </a:endParaRPr>
              </a:p>
            </p:txBody>
          </p:sp>
          <p:sp>
            <p:nvSpPr>
              <p:cNvPr id="1393919" name="Rectangle 255"/>
              <p:cNvSpPr>
                <a:spLocks noChangeArrowheads="1"/>
              </p:cNvSpPr>
              <p:nvPr/>
            </p:nvSpPr>
            <p:spPr bwMode="auto">
              <a:xfrm>
                <a:off x="1382" y="1559"/>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3920" name="Rectangle 256"/>
              <p:cNvSpPr>
                <a:spLocks noChangeArrowheads="1"/>
              </p:cNvSpPr>
              <p:nvPr/>
            </p:nvSpPr>
            <p:spPr bwMode="auto">
              <a:xfrm>
                <a:off x="1167" y="1663"/>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921" name="Rectangle 257"/>
              <p:cNvSpPr>
                <a:spLocks noChangeArrowheads="1"/>
              </p:cNvSpPr>
              <p:nvPr/>
            </p:nvSpPr>
            <p:spPr bwMode="auto">
              <a:xfrm>
                <a:off x="1199" y="1663"/>
                <a:ext cx="552"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 for Citizens</a:t>
                </a:r>
                <a:endParaRPr lang="en-US" b="1">
                  <a:solidFill>
                    <a:schemeClr val="bg1"/>
                  </a:solidFill>
                </a:endParaRPr>
              </a:p>
            </p:txBody>
          </p:sp>
          <p:sp>
            <p:nvSpPr>
              <p:cNvPr id="1393922" name="Rectangle 258"/>
              <p:cNvSpPr>
                <a:spLocks noChangeArrowheads="1"/>
              </p:cNvSpPr>
              <p:nvPr/>
            </p:nvSpPr>
            <p:spPr bwMode="auto">
              <a:xfrm>
                <a:off x="1167" y="1730"/>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923" name="Rectangle 259"/>
              <p:cNvSpPr>
                <a:spLocks noChangeArrowheads="1"/>
              </p:cNvSpPr>
              <p:nvPr/>
            </p:nvSpPr>
            <p:spPr bwMode="auto">
              <a:xfrm>
                <a:off x="1199" y="1730"/>
                <a:ext cx="533" cy="67"/>
              </a:xfrm>
              <a:prstGeom prst="rect">
                <a:avLst/>
              </a:prstGeom>
              <a:noFill/>
              <a:ln w="9525">
                <a:noFill/>
                <a:miter lim="800000"/>
                <a:headEnd/>
                <a:tailEnd/>
              </a:ln>
            </p:spPr>
            <p:txBody>
              <a:bodyPr wrap="none" lIns="0" tIns="0" rIns="0" bIns="0">
                <a:spAutoFit/>
              </a:bodyPr>
              <a:lstStyle/>
              <a:p>
                <a:r>
                  <a:rPr lang="en-US" sz="700" b="1">
                    <a:solidFill>
                      <a:schemeClr val="bg1"/>
                    </a:solidFill>
                  </a:rPr>
                  <a:t>Support Delivery of </a:t>
                </a:r>
                <a:endParaRPr lang="en-US" b="1">
                  <a:solidFill>
                    <a:schemeClr val="bg1"/>
                  </a:solidFill>
                </a:endParaRPr>
              </a:p>
            </p:txBody>
          </p:sp>
          <p:sp>
            <p:nvSpPr>
              <p:cNvPr id="1393924" name="Rectangle 260"/>
              <p:cNvSpPr>
                <a:spLocks noChangeArrowheads="1"/>
              </p:cNvSpPr>
              <p:nvPr/>
            </p:nvSpPr>
            <p:spPr bwMode="auto">
              <a:xfrm>
                <a:off x="1199" y="1787"/>
                <a:ext cx="230"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a:t>
                </a:r>
                <a:endParaRPr lang="en-US" b="1">
                  <a:solidFill>
                    <a:schemeClr val="bg1"/>
                  </a:solidFill>
                </a:endParaRPr>
              </a:p>
            </p:txBody>
          </p:sp>
          <p:sp>
            <p:nvSpPr>
              <p:cNvPr id="1393925" name="Rectangle 261"/>
              <p:cNvSpPr>
                <a:spLocks noChangeArrowheads="1"/>
              </p:cNvSpPr>
              <p:nvPr/>
            </p:nvSpPr>
            <p:spPr bwMode="auto">
              <a:xfrm>
                <a:off x="1167" y="1850"/>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926" name="Rectangle 262"/>
              <p:cNvSpPr>
                <a:spLocks noChangeArrowheads="1"/>
              </p:cNvSpPr>
              <p:nvPr/>
            </p:nvSpPr>
            <p:spPr bwMode="auto">
              <a:xfrm>
                <a:off x="1199" y="1850"/>
                <a:ext cx="427" cy="67"/>
              </a:xfrm>
              <a:prstGeom prst="rect">
                <a:avLst/>
              </a:prstGeom>
              <a:noFill/>
              <a:ln w="9525">
                <a:noFill/>
                <a:miter lim="800000"/>
                <a:headEnd/>
                <a:tailEnd/>
              </a:ln>
            </p:spPr>
            <p:txBody>
              <a:bodyPr wrap="none" lIns="0" tIns="0" rIns="0" bIns="0">
                <a:spAutoFit/>
              </a:bodyPr>
              <a:lstStyle/>
              <a:p>
                <a:r>
                  <a:rPr lang="en-US" sz="700" b="1">
                    <a:solidFill>
                      <a:schemeClr val="bg1"/>
                    </a:solidFill>
                  </a:rPr>
                  <a:t>Management of </a:t>
                </a:r>
                <a:endParaRPr lang="en-US" b="1">
                  <a:solidFill>
                    <a:schemeClr val="bg1"/>
                  </a:solidFill>
                </a:endParaRPr>
              </a:p>
            </p:txBody>
          </p:sp>
          <p:sp>
            <p:nvSpPr>
              <p:cNvPr id="1393927" name="Rectangle 263"/>
              <p:cNvSpPr>
                <a:spLocks noChangeArrowheads="1"/>
              </p:cNvSpPr>
              <p:nvPr/>
            </p:nvSpPr>
            <p:spPr bwMode="auto">
              <a:xfrm>
                <a:off x="1199" y="1907"/>
                <a:ext cx="631" cy="67"/>
              </a:xfrm>
              <a:prstGeom prst="rect">
                <a:avLst/>
              </a:prstGeom>
              <a:noFill/>
              <a:ln w="9525">
                <a:noFill/>
                <a:miter lim="800000"/>
                <a:headEnd/>
                <a:tailEnd/>
              </a:ln>
            </p:spPr>
            <p:txBody>
              <a:bodyPr wrap="none" lIns="0" tIns="0" rIns="0" bIns="0">
                <a:spAutoFit/>
              </a:bodyPr>
              <a:lstStyle/>
              <a:p>
                <a:r>
                  <a:rPr lang="en-US" sz="700" b="1">
                    <a:solidFill>
                      <a:schemeClr val="bg1"/>
                    </a:solidFill>
                  </a:rPr>
                  <a:t>Government Resources</a:t>
                </a:r>
                <a:endParaRPr lang="en-US" b="1">
                  <a:solidFill>
                    <a:schemeClr val="bg1"/>
                  </a:solidFill>
                </a:endParaRPr>
              </a:p>
            </p:txBody>
          </p:sp>
          <p:sp>
            <p:nvSpPr>
              <p:cNvPr id="1393928" name="Rectangle 264"/>
              <p:cNvSpPr>
                <a:spLocks noChangeArrowheads="1"/>
              </p:cNvSpPr>
              <p:nvPr/>
            </p:nvSpPr>
            <p:spPr bwMode="auto">
              <a:xfrm>
                <a:off x="1167" y="1974"/>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3929" name="Rectangle 265"/>
              <p:cNvSpPr>
                <a:spLocks noChangeArrowheads="1"/>
              </p:cNvSpPr>
              <p:nvPr/>
            </p:nvSpPr>
            <p:spPr bwMode="auto">
              <a:xfrm>
                <a:off x="1199" y="1974"/>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gr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grpSp>
        <p:nvGrpSpPr>
          <p:cNvPr id="1395229" name="Group 541"/>
          <p:cNvGrpSpPr>
            <a:grpSpLocks/>
          </p:cNvGrpSpPr>
          <p:nvPr/>
        </p:nvGrpSpPr>
        <p:grpSpPr bwMode="auto">
          <a:xfrm>
            <a:off x="138113" y="1566863"/>
            <a:ext cx="4984750" cy="4703762"/>
            <a:chOff x="357" y="997"/>
            <a:chExt cx="3140" cy="2963"/>
          </a:xfrm>
        </p:grpSpPr>
        <p:sp>
          <p:nvSpPr>
            <p:cNvPr id="1395230" name="Freeform 542"/>
            <p:cNvSpPr>
              <a:spLocks/>
            </p:cNvSpPr>
            <p:nvPr/>
          </p:nvSpPr>
          <p:spPr bwMode="auto">
            <a:xfrm>
              <a:off x="891" y="2378"/>
              <a:ext cx="2067" cy="488"/>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FFFF99"/>
            </a:solidFill>
            <a:ln w="9525" cap="rnd">
              <a:noFill/>
              <a:prstDash val="solid"/>
              <a:round/>
              <a:headEnd/>
              <a:tailEnd/>
            </a:ln>
          </p:spPr>
          <p:txBody>
            <a:bodyPr/>
            <a:lstStyle/>
            <a:p>
              <a:endParaRPr lang="en-US"/>
            </a:p>
          </p:txBody>
        </p:sp>
        <p:grpSp>
          <p:nvGrpSpPr>
            <p:cNvPr id="1395231" name="Group 543"/>
            <p:cNvGrpSpPr>
              <a:grpSpLocks/>
            </p:cNvGrpSpPr>
            <p:nvPr/>
          </p:nvGrpSpPr>
          <p:grpSpPr bwMode="auto">
            <a:xfrm>
              <a:off x="357" y="997"/>
              <a:ext cx="3140" cy="2963"/>
              <a:chOff x="357" y="997"/>
              <a:chExt cx="3140" cy="2963"/>
            </a:xfrm>
          </p:grpSpPr>
          <p:sp>
            <p:nvSpPr>
              <p:cNvPr id="1395232" name="Freeform 544"/>
              <p:cNvSpPr>
                <a:spLocks/>
              </p:cNvSpPr>
              <p:nvPr/>
            </p:nvSpPr>
            <p:spPr bwMode="auto">
              <a:xfrm>
                <a:off x="742" y="2558"/>
                <a:ext cx="2359" cy="572"/>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E2E5FE"/>
              </a:solidFill>
              <a:ln w="9525" cap="rnd">
                <a:solidFill>
                  <a:srgbClr val="D3D8FD"/>
                </a:solidFill>
                <a:prstDash val="solid"/>
                <a:round/>
                <a:headEnd/>
                <a:tailEnd/>
              </a:ln>
            </p:spPr>
            <p:txBody>
              <a:bodyPr/>
              <a:lstStyle/>
              <a:p>
                <a:endParaRPr lang="en-US"/>
              </a:p>
            </p:txBody>
          </p:sp>
          <p:sp>
            <p:nvSpPr>
              <p:cNvPr id="1395233" name="Freeform 545"/>
              <p:cNvSpPr>
                <a:spLocks/>
              </p:cNvSpPr>
              <p:nvPr/>
            </p:nvSpPr>
            <p:spPr bwMode="auto">
              <a:xfrm>
                <a:off x="1169" y="2065"/>
                <a:ext cx="1506" cy="311"/>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E2E5FE"/>
              </a:solidFill>
              <a:ln w="9525" cap="rnd">
                <a:solidFill>
                  <a:srgbClr val="D3D8FD"/>
                </a:solidFill>
                <a:prstDash val="solid"/>
                <a:round/>
                <a:headEnd/>
                <a:tailEnd/>
              </a:ln>
            </p:spPr>
            <p:txBody>
              <a:bodyPr/>
              <a:lstStyle/>
              <a:p>
                <a:endParaRPr lang="en-US"/>
              </a:p>
            </p:txBody>
          </p:sp>
          <p:sp>
            <p:nvSpPr>
              <p:cNvPr id="1395234" name="Oval 546"/>
              <p:cNvSpPr>
                <a:spLocks noChangeArrowheads="1"/>
              </p:cNvSpPr>
              <p:nvPr/>
            </p:nvSpPr>
            <p:spPr bwMode="auto">
              <a:xfrm>
                <a:off x="1449" y="997"/>
                <a:ext cx="946" cy="212"/>
              </a:xfrm>
              <a:prstGeom prst="ellipse">
                <a:avLst/>
              </a:prstGeom>
              <a:solidFill>
                <a:srgbClr val="F5FDA9"/>
              </a:solidFill>
              <a:ln w="6350">
                <a:solidFill>
                  <a:schemeClr val="tx1"/>
                </a:solidFill>
                <a:miter lim="800000"/>
                <a:headEnd/>
                <a:tailEnd/>
              </a:ln>
              <a:effectLst/>
            </p:spPr>
            <p:txBody>
              <a:bodyPr wrap="none" anchor="ctr"/>
              <a:lstStyle/>
              <a:p>
                <a:endParaRPr lang="en-US"/>
              </a:p>
            </p:txBody>
          </p:sp>
          <p:sp>
            <p:nvSpPr>
              <p:cNvPr id="1395235" name="Freeform 547"/>
              <p:cNvSpPr>
                <a:spLocks/>
              </p:cNvSpPr>
              <p:nvPr/>
            </p:nvSpPr>
            <p:spPr bwMode="auto">
              <a:xfrm>
                <a:off x="1523" y="1222"/>
                <a:ext cx="782" cy="2738"/>
              </a:xfrm>
              <a:custGeom>
                <a:avLst/>
                <a:gdLst/>
                <a:ahLst/>
                <a:cxnLst>
                  <a:cxn ang="0">
                    <a:pos x="0" y="146"/>
                  </a:cxn>
                  <a:cxn ang="0">
                    <a:pos x="202" y="146"/>
                  </a:cxn>
                  <a:cxn ang="0">
                    <a:pos x="202" y="2738"/>
                  </a:cxn>
                  <a:cxn ang="0">
                    <a:pos x="580" y="2738"/>
                  </a:cxn>
                  <a:cxn ang="0">
                    <a:pos x="580" y="146"/>
                  </a:cxn>
                  <a:cxn ang="0">
                    <a:pos x="782" y="146"/>
                  </a:cxn>
                  <a:cxn ang="0">
                    <a:pos x="394" y="0"/>
                  </a:cxn>
                  <a:cxn ang="0">
                    <a:pos x="0" y="146"/>
                  </a:cxn>
                </a:cxnLst>
                <a:rect l="0" t="0" r="r" b="b"/>
                <a:pathLst>
                  <a:path w="782" h="2738">
                    <a:moveTo>
                      <a:pt x="0" y="146"/>
                    </a:moveTo>
                    <a:lnTo>
                      <a:pt x="202" y="146"/>
                    </a:lnTo>
                    <a:lnTo>
                      <a:pt x="202" y="2738"/>
                    </a:lnTo>
                    <a:lnTo>
                      <a:pt x="580" y="2738"/>
                    </a:lnTo>
                    <a:lnTo>
                      <a:pt x="580" y="146"/>
                    </a:lnTo>
                    <a:lnTo>
                      <a:pt x="782" y="146"/>
                    </a:lnTo>
                    <a:lnTo>
                      <a:pt x="394" y="0"/>
                    </a:lnTo>
                    <a:lnTo>
                      <a:pt x="0" y="146"/>
                    </a:lnTo>
                    <a:close/>
                  </a:path>
                </a:pathLst>
              </a:custGeom>
              <a:solidFill>
                <a:srgbClr val="0033CC"/>
              </a:solidFill>
              <a:ln w="9525">
                <a:noFill/>
                <a:round/>
                <a:headEnd/>
                <a:tailEnd/>
              </a:ln>
            </p:spPr>
            <p:txBody>
              <a:bodyPr/>
              <a:lstStyle/>
              <a:p>
                <a:endParaRPr lang="en-US"/>
              </a:p>
            </p:txBody>
          </p:sp>
          <p:sp>
            <p:nvSpPr>
              <p:cNvPr id="1395236" name="Freeform 548"/>
              <p:cNvSpPr>
                <a:spLocks/>
              </p:cNvSpPr>
              <p:nvPr/>
            </p:nvSpPr>
            <p:spPr bwMode="auto">
              <a:xfrm>
                <a:off x="1937" y="1305"/>
                <a:ext cx="550" cy="794"/>
              </a:xfrm>
              <a:custGeom>
                <a:avLst/>
                <a:gdLst/>
                <a:ahLst/>
                <a:cxnLst>
                  <a:cxn ang="0">
                    <a:pos x="0" y="0"/>
                  </a:cxn>
                  <a:cxn ang="0">
                    <a:pos x="0" y="794"/>
                  </a:cxn>
                  <a:cxn ang="0">
                    <a:pos x="550" y="794"/>
                  </a:cxn>
                  <a:cxn ang="0">
                    <a:pos x="0" y="0"/>
                  </a:cxn>
                </a:cxnLst>
                <a:rect l="0" t="0" r="r" b="b"/>
                <a:pathLst>
                  <a:path w="550" h="794">
                    <a:moveTo>
                      <a:pt x="0" y="0"/>
                    </a:moveTo>
                    <a:lnTo>
                      <a:pt x="0" y="794"/>
                    </a:lnTo>
                    <a:lnTo>
                      <a:pt x="550" y="794"/>
                    </a:lnTo>
                    <a:lnTo>
                      <a:pt x="0" y="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5237" name="Freeform 549"/>
              <p:cNvSpPr>
                <a:spLocks/>
              </p:cNvSpPr>
              <p:nvPr/>
            </p:nvSpPr>
            <p:spPr bwMode="auto">
              <a:xfrm>
                <a:off x="1347" y="1305"/>
                <a:ext cx="544" cy="794"/>
              </a:xfrm>
              <a:custGeom>
                <a:avLst/>
                <a:gdLst/>
                <a:ahLst/>
                <a:cxnLst>
                  <a:cxn ang="0">
                    <a:pos x="544" y="0"/>
                  </a:cxn>
                  <a:cxn ang="0">
                    <a:pos x="544" y="794"/>
                  </a:cxn>
                  <a:cxn ang="0">
                    <a:pos x="0" y="794"/>
                  </a:cxn>
                  <a:cxn ang="0">
                    <a:pos x="544" y="0"/>
                  </a:cxn>
                </a:cxnLst>
                <a:rect l="0" t="0" r="r" b="b"/>
                <a:pathLst>
                  <a:path w="544" h="794">
                    <a:moveTo>
                      <a:pt x="544" y="0"/>
                    </a:moveTo>
                    <a:lnTo>
                      <a:pt x="544" y="794"/>
                    </a:lnTo>
                    <a:lnTo>
                      <a:pt x="0" y="794"/>
                    </a:lnTo>
                    <a:lnTo>
                      <a:pt x="544" y="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5238" name="Freeform 550"/>
              <p:cNvSpPr>
                <a:spLocks/>
              </p:cNvSpPr>
              <p:nvPr/>
            </p:nvSpPr>
            <p:spPr bwMode="auto">
              <a:xfrm>
                <a:off x="357" y="3135"/>
                <a:ext cx="3140" cy="700"/>
              </a:xfrm>
              <a:custGeom>
                <a:avLst/>
                <a:gdLst/>
                <a:ahLst/>
                <a:cxnLst>
                  <a:cxn ang="0">
                    <a:pos x="0" y="700"/>
                  </a:cxn>
                  <a:cxn ang="0">
                    <a:pos x="394" y="0"/>
                  </a:cxn>
                  <a:cxn ang="0">
                    <a:pos x="2746" y="0"/>
                  </a:cxn>
                  <a:cxn ang="0">
                    <a:pos x="3140" y="700"/>
                  </a:cxn>
                  <a:cxn ang="0">
                    <a:pos x="0" y="700"/>
                  </a:cxn>
                </a:cxnLst>
                <a:rect l="0" t="0" r="r" b="b"/>
                <a:pathLst>
                  <a:path w="3140" h="700">
                    <a:moveTo>
                      <a:pt x="0" y="700"/>
                    </a:moveTo>
                    <a:lnTo>
                      <a:pt x="394" y="0"/>
                    </a:lnTo>
                    <a:lnTo>
                      <a:pt x="2746" y="0"/>
                    </a:lnTo>
                    <a:lnTo>
                      <a:pt x="3140" y="700"/>
                    </a:lnTo>
                    <a:lnTo>
                      <a:pt x="0" y="70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5239" name="Rectangle 551"/>
              <p:cNvSpPr>
                <a:spLocks noChangeArrowheads="1"/>
              </p:cNvSpPr>
              <p:nvPr/>
            </p:nvSpPr>
            <p:spPr bwMode="auto">
              <a:xfrm>
                <a:off x="1758" y="3405"/>
                <a:ext cx="448" cy="96"/>
              </a:xfrm>
              <a:prstGeom prst="rect">
                <a:avLst/>
              </a:prstGeom>
              <a:no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grpSp>
            <p:nvGrpSpPr>
              <p:cNvPr id="1395240" name="Group 552"/>
              <p:cNvGrpSpPr>
                <a:grpSpLocks/>
              </p:cNvGrpSpPr>
              <p:nvPr/>
            </p:nvGrpSpPr>
            <p:grpSpPr bwMode="auto">
              <a:xfrm>
                <a:off x="1549" y="3317"/>
                <a:ext cx="772" cy="243"/>
                <a:chOff x="1549" y="3317"/>
                <a:chExt cx="772" cy="243"/>
              </a:xfrm>
            </p:grpSpPr>
            <p:sp>
              <p:nvSpPr>
                <p:cNvPr id="1395241" name="Rectangle 553"/>
                <p:cNvSpPr>
                  <a:spLocks noChangeArrowheads="1"/>
                </p:cNvSpPr>
                <p:nvPr/>
              </p:nvSpPr>
              <p:spPr bwMode="auto">
                <a:xfrm>
                  <a:off x="1575" y="3343"/>
                  <a:ext cx="746" cy="217"/>
                </a:xfrm>
                <a:prstGeom prst="rect">
                  <a:avLst/>
                </a:prstGeom>
                <a:solidFill>
                  <a:srgbClr val="808080"/>
                </a:solidFill>
                <a:ln w="9525">
                  <a:noFill/>
                  <a:miter lim="800000"/>
                  <a:headEnd/>
                  <a:tailEnd/>
                </a:ln>
              </p:spPr>
              <p:txBody>
                <a:bodyPr/>
                <a:lstStyle/>
                <a:p>
                  <a:endParaRPr lang="en-US"/>
                </a:p>
              </p:txBody>
            </p:sp>
            <p:grpSp>
              <p:nvGrpSpPr>
                <p:cNvPr id="1395242" name="Group 554"/>
                <p:cNvGrpSpPr>
                  <a:grpSpLocks/>
                </p:cNvGrpSpPr>
                <p:nvPr/>
              </p:nvGrpSpPr>
              <p:grpSpPr bwMode="auto">
                <a:xfrm>
                  <a:off x="1549" y="3317"/>
                  <a:ext cx="746" cy="212"/>
                  <a:chOff x="1549" y="3317"/>
                  <a:chExt cx="746" cy="212"/>
                </a:xfrm>
              </p:grpSpPr>
              <p:sp>
                <p:nvSpPr>
                  <p:cNvPr id="1395243" name="Rectangle 555"/>
                  <p:cNvSpPr>
                    <a:spLocks noChangeArrowheads="1"/>
                  </p:cNvSpPr>
                  <p:nvPr/>
                </p:nvSpPr>
                <p:spPr bwMode="auto">
                  <a:xfrm>
                    <a:off x="1549" y="3317"/>
                    <a:ext cx="36" cy="212"/>
                  </a:xfrm>
                  <a:prstGeom prst="rect">
                    <a:avLst/>
                  </a:prstGeom>
                  <a:solidFill>
                    <a:srgbClr val="CBCBFE"/>
                  </a:solidFill>
                  <a:ln w="9525">
                    <a:noFill/>
                    <a:miter lim="800000"/>
                    <a:headEnd/>
                    <a:tailEnd/>
                  </a:ln>
                </p:spPr>
                <p:txBody>
                  <a:bodyPr/>
                  <a:lstStyle/>
                  <a:p>
                    <a:endParaRPr lang="en-US"/>
                  </a:p>
                </p:txBody>
              </p:sp>
              <p:sp>
                <p:nvSpPr>
                  <p:cNvPr id="1395244" name="Rectangle 556"/>
                  <p:cNvSpPr>
                    <a:spLocks noChangeArrowheads="1"/>
                  </p:cNvSpPr>
                  <p:nvPr/>
                </p:nvSpPr>
                <p:spPr bwMode="auto">
                  <a:xfrm>
                    <a:off x="1585" y="3317"/>
                    <a:ext cx="31" cy="212"/>
                  </a:xfrm>
                  <a:prstGeom prst="rect">
                    <a:avLst/>
                  </a:prstGeom>
                  <a:solidFill>
                    <a:srgbClr val="CBCBFE"/>
                  </a:solidFill>
                  <a:ln w="9525">
                    <a:noFill/>
                    <a:miter lim="800000"/>
                    <a:headEnd/>
                    <a:tailEnd/>
                  </a:ln>
                </p:spPr>
                <p:txBody>
                  <a:bodyPr/>
                  <a:lstStyle/>
                  <a:p>
                    <a:endParaRPr lang="en-US"/>
                  </a:p>
                </p:txBody>
              </p:sp>
              <p:sp>
                <p:nvSpPr>
                  <p:cNvPr id="1395245" name="Rectangle 557"/>
                  <p:cNvSpPr>
                    <a:spLocks noChangeArrowheads="1"/>
                  </p:cNvSpPr>
                  <p:nvPr/>
                </p:nvSpPr>
                <p:spPr bwMode="auto">
                  <a:xfrm>
                    <a:off x="1616" y="3317"/>
                    <a:ext cx="36" cy="212"/>
                  </a:xfrm>
                  <a:prstGeom prst="rect">
                    <a:avLst/>
                  </a:prstGeom>
                  <a:solidFill>
                    <a:srgbClr val="CBCBFD"/>
                  </a:solidFill>
                  <a:ln w="9525">
                    <a:noFill/>
                    <a:miter lim="800000"/>
                    <a:headEnd/>
                    <a:tailEnd/>
                  </a:ln>
                </p:spPr>
                <p:txBody>
                  <a:bodyPr/>
                  <a:lstStyle/>
                  <a:p>
                    <a:endParaRPr lang="en-US"/>
                  </a:p>
                </p:txBody>
              </p:sp>
              <p:sp>
                <p:nvSpPr>
                  <p:cNvPr id="1395246" name="Rectangle 558"/>
                  <p:cNvSpPr>
                    <a:spLocks noChangeArrowheads="1"/>
                  </p:cNvSpPr>
                  <p:nvPr/>
                </p:nvSpPr>
                <p:spPr bwMode="auto">
                  <a:xfrm>
                    <a:off x="1652" y="3317"/>
                    <a:ext cx="31" cy="212"/>
                  </a:xfrm>
                  <a:prstGeom prst="rect">
                    <a:avLst/>
                  </a:prstGeom>
                  <a:solidFill>
                    <a:srgbClr val="CACAFC"/>
                  </a:solidFill>
                  <a:ln w="9525">
                    <a:noFill/>
                    <a:miter lim="800000"/>
                    <a:headEnd/>
                    <a:tailEnd/>
                  </a:ln>
                </p:spPr>
                <p:txBody>
                  <a:bodyPr/>
                  <a:lstStyle/>
                  <a:p>
                    <a:endParaRPr lang="en-US"/>
                  </a:p>
                </p:txBody>
              </p:sp>
              <p:sp>
                <p:nvSpPr>
                  <p:cNvPr id="1395247" name="Rectangle 559"/>
                  <p:cNvSpPr>
                    <a:spLocks noChangeArrowheads="1"/>
                  </p:cNvSpPr>
                  <p:nvPr/>
                </p:nvSpPr>
                <p:spPr bwMode="auto">
                  <a:xfrm>
                    <a:off x="1683" y="3317"/>
                    <a:ext cx="37" cy="212"/>
                  </a:xfrm>
                  <a:prstGeom prst="rect">
                    <a:avLst/>
                  </a:prstGeom>
                  <a:solidFill>
                    <a:srgbClr val="C9C9FB"/>
                  </a:solidFill>
                  <a:ln w="9525">
                    <a:noFill/>
                    <a:miter lim="800000"/>
                    <a:headEnd/>
                    <a:tailEnd/>
                  </a:ln>
                </p:spPr>
                <p:txBody>
                  <a:bodyPr/>
                  <a:lstStyle/>
                  <a:p>
                    <a:endParaRPr lang="en-US"/>
                  </a:p>
                </p:txBody>
              </p:sp>
              <p:sp>
                <p:nvSpPr>
                  <p:cNvPr id="1395248" name="Rectangle 560"/>
                  <p:cNvSpPr>
                    <a:spLocks noChangeArrowheads="1"/>
                  </p:cNvSpPr>
                  <p:nvPr/>
                </p:nvSpPr>
                <p:spPr bwMode="auto">
                  <a:xfrm>
                    <a:off x="1720" y="3317"/>
                    <a:ext cx="31" cy="212"/>
                  </a:xfrm>
                  <a:prstGeom prst="rect">
                    <a:avLst/>
                  </a:prstGeom>
                  <a:solidFill>
                    <a:srgbClr val="C8C8FA"/>
                  </a:solidFill>
                  <a:ln w="9525">
                    <a:noFill/>
                    <a:miter lim="800000"/>
                    <a:headEnd/>
                    <a:tailEnd/>
                  </a:ln>
                </p:spPr>
                <p:txBody>
                  <a:bodyPr/>
                  <a:lstStyle/>
                  <a:p>
                    <a:endParaRPr lang="en-US"/>
                  </a:p>
                </p:txBody>
              </p:sp>
              <p:sp>
                <p:nvSpPr>
                  <p:cNvPr id="1395249" name="Rectangle 561"/>
                  <p:cNvSpPr>
                    <a:spLocks noChangeArrowheads="1"/>
                  </p:cNvSpPr>
                  <p:nvPr/>
                </p:nvSpPr>
                <p:spPr bwMode="auto">
                  <a:xfrm>
                    <a:off x="1751" y="3317"/>
                    <a:ext cx="36" cy="212"/>
                  </a:xfrm>
                  <a:prstGeom prst="rect">
                    <a:avLst/>
                  </a:prstGeom>
                  <a:solidFill>
                    <a:srgbClr val="C6C6F8"/>
                  </a:solidFill>
                  <a:ln w="9525">
                    <a:noFill/>
                    <a:miter lim="800000"/>
                    <a:headEnd/>
                    <a:tailEnd/>
                  </a:ln>
                </p:spPr>
                <p:txBody>
                  <a:bodyPr/>
                  <a:lstStyle/>
                  <a:p>
                    <a:endParaRPr lang="en-US"/>
                  </a:p>
                </p:txBody>
              </p:sp>
              <p:sp>
                <p:nvSpPr>
                  <p:cNvPr id="1395250" name="Rectangle 562"/>
                  <p:cNvSpPr>
                    <a:spLocks noChangeArrowheads="1"/>
                  </p:cNvSpPr>
                  <p:nvPr/>
                </p:nvSpPr>
                <p:spPr bwMode="auto">
                  <a:xfrm>
                    <a:off x="1787" y="3317"/>
                    <a:ext cx="31" cy="212"/>
                  </a:xfrm>
                  <a:prstGeom prst="rect">
                    <a:avLst/>
                  </a:prstGeom>
                  <a:solidFill>
                    <a:srgbClr val="C5C5F7"/>
                  </a:solidFill>
                  <a:ln w="9525">
                    <a:noFill/>
                    <a:miter lim="800000"/>
                    <a:headEnd/>
                    <a:tailEnd/>
                  </a:ln>
                </p:spPr>
                <p:txBody>
                  <a:bodyPr/>
                  <a:lstStyle/>
                  <a:p>
                    <a:endParaRPr lang="en-US"/>
                  </a:p>
                </p:txBody>
              </p:sp>
              <p:sp>
                <p:nvSpPr>
                  <p:cNvPr id="1395251" name="Rectangle 563"/>
                  <p:cNvSpPr>
                    <a:spLocks noChangeArrowheads="1"/>
                  </p:cNvSpPr>
                  <p:nvPr/>
                </p:nvSpPr>
                <p:spPr bwMode="auto">
                  <a:xfrm>
                    <a:off x="1818" y="3317"/>
                    <a:ext cx="36" cy="212"/>
                  </a:xfrm>
                  <a:prstGeom prst="rect">
                    <a:avLst/>
                  </a:prstGeom>
                  <a:solidFill>
                    <a:srgbClr val="C4C4F6"/>
                  </a:solidFill>
                  <a:ln w="9525">
                    <a:noFill/>
                    <a:miter lim="800000"/>
                    <a:headEnd/>
                    <a:tailEnd/>
                  </a:ln>
                </p:spPr>
                <p:txBody>
                  <a:bodyPr/>
                  <a:lstStyle/>
                  <a:p>
                    <a:endParaRPr lang="en-US"/>
                  </a:p>
                </p:txBody>
              </p:sp>
              <p:sp>
                <p:nvSpPr>
                  <p:cNvPr id="1395252" name="Rectangle 564"/>
                  <p:cNvSpPr>
                    <a:spLocks noChangeArrowheads="1"/>
                  </p:cNvSpPr>
                  <p:nvPr/>
                </p:nvSpPr>
                <p:spPr bwMode="auto">
                  <a:xfrm>
                    <a:off x="1854" y="3317"/>
                    <a:ext cx="32" cy="212"/>
                  </a:xfrm>
                  <a:prstGeom prst="rect">
                    <a:avLst/>
                  </a:prstGeom>
                  <a:solidFill>
                    <a:srgbClr val="C4C4F5"/>
                  </a:solidFill>
                  <a:ln w="9525">
                    <a:noFill/>
                    <a:miter lim="800000"/>
                    <a:headEnd/>
                    <a:tailEnd/>
                  </a:ln>
                </p:spPr>
                <p:txBody>
                  <a:bodyPr/>
                  <a:lstStyle/>
                  <a:p>
                    <a:endParaRPr lang="en-US"/>
                  </a:p>
                </p:txBody>
              </p:sp>
              <p:sp>
                <p:nvSpPr>
                  <p:cNvPr id="1395253" name="Rectangle 565"/>
                  <p:cNvSpPr>
                    <a:spLocks noChangeArrowheads="1"/>
                  </p:cNvSpPr>
                  <p:nvPr/>
                </p:nvSpPr>
                <p:spPr bwMode="auto">
                  <a:xfrm>
                    <a:off x="1886" y="3317"/>
                    <a:ext cx="36" cy="212"/>
                  </a:xfrm>
                  <a:prstGeom prst="rect">
                    <a:avLst/>
                  </a:prstGeom>
                  <a:solidFill>
                    <a:srgbClr val="C4C4F5"/>
                  </a:solidFill>
                  <a:ln w="9525">
                    <a:noFill/>
                    <a:miter lim="800000"/>
                    <a:headEnd/>
                    <a:tailEnd/>
                  </a:ln>
                </p:spPr>
                <p:txBody>
                  <a:bodyPr/>
                  <a:lstStyle/>
                  <a:p>
                    <a:endParaRPr lang="en-US"/>
                  </a:p>
                </p:txBody>
              </p:sp>
              <p:sp>
                <p:nvSpPr>
                  <p:cNvPr id="1395254" name="Rectangle 566"/>
                  <p:cNvSpPr>
                    <a:spLocks noChangeArrowheads="1"/>
                  </p:cNvSpPr>
                  <p:nvPr/>
                </p:nvSpPr>
                <p:spPr bwMode="auto">
                  <a:xfrm>
                    <a:off x="1922" y="3317"/>
                    <a:ext cx="36" cy="212"/>
                  </a:xfrm>
                  <a:prstGeom prst="rect">
                    <a:avLst/>
                  </a:prstGeom>
                  <a:solidFill>
                    <a:srgbClr val="C4C4F5"/>
                  </a:solidFill>
                  <a:ln w="9525">
                    <a:noFill/>
                    <a:miter lim="800000"/>
                    <a:headEnd/>
                    <a:tailEnd/>
                  </a:ln>
                </p:spPr>
                <p:txBody>
                  <a:bodyPr/>
                  <a:lstStyle/>
                  <a:p>
                    <a:endParaRPr lang="en-US"/>
                  </a:p>
                </p:txBody>
              </p:sp>
              <p:sp>
                <p:nvSpPr>
                  <p:cNvPr id="1395255" name="Rectangle 567"/>
                  <p:cNvSpPr>
                    <a:spLocks noChangeArrowheads="1"/>
                  </p:cNvSpPr>
                  <p:nvPr/>
                </p:nvSpPr>
                <p:spPr bwMode="auto">
                  <a:xfrm>
                    <a:off x="1958" y="3317"/>
                    <a:ext cx="31" cy="212"/>
                  </a:xfrm>
                  <a:prstGeom prst="rect">
                    <a:avLst/>
                  </a:prstGeom>
                  <a:solidFill>
                    <a:srgbClr val="C4C4F5"/>
                  </a:solidFill>
                  <a:ln w="9525">
                    <a:noFill/>
                    <a:miter lim="800000"/>
                    <a:headEnd/>
                    <a:tailEnd/>
                  </a:ln>
                </p:spPr>
                <p:txBody>
                  <a:bodyPr/>
                  <a:lstStyle/>
                  <a:p>
                    <a:endParaRPr lang="en-US"/>
                  </a:p>
                </p:txBody>
              </p:sp>
              <p:sp>
                <p:nvSpPr>
                  <p:cNvPr id="1395256" name="Rectangle 568"/>
                  <p:cNvSpPr>
                    <a:spLocks noChangeArrowheads="1"/>
                  </p:cNvSpPr>
                  <p:nvPr/>
                </p:nvSpPr>
                <p:spPr bwMode="auto">
                  <a:xfrm>
                    <a:off x="1989" y="3317"/>
                    <a:ext cx="36" cy="212"/>
                  </a:xfrm>
                  <a:prstGeom prst="rect">
                    <a:avLst/>
                  </a:prstGeom>
                  <a:solidFill>
                    <a:srgbClr val="C4C4F6"/>
                  </a:solidFill>
                  <a:ln w="9525">
                    <a:noFill/>
                    <a:miter lim="800000"/>
                    <a:headEnd/>
                    <a:tailEnd/>
                  </a:ln>
                </p:spPr>
                <p:txBody>
                  <a:bodyPr/>
                  <a:lstStyle/>
                  <a:p>
                    <a:endParaRPr lang="en-US"/>
                  </a:p>
                </p:txBody>
              </p:sp>
              <p:sp>
                <p:nvSpPr>
                  <p:cNvPr id="1395257" name="Rectangle 569"/>
                  <p:cNvSpPr>
                    <a:spLocks noChangeArrowheads="1"/>
                  </p:cNvSpPr>
                  <p:nvPr/>
                </p:nvSpPr>
                <p:spPr bwMode="auto">
                  <a:xfrm>
                    <a:off x="2025" y="3317"/>
                    <a:ext cx="32" cy="212"/>
                  </a:xfrm>
                  <a:prstGeom prst="rect">
                    <a:avLst/>
                  </a:prstGeom>
                  <a:solidFill>
                    <a:srgbClr val="C5C5F7"/>
                  </a:solidFill>
                  <a:ln w="9525">
                    <a:noFill/>
                    <a:miter lim="800000"/>
                    <a:headEnd/>
                    <a:tailEnd/>
                  </a:ln>
                </p:spPr>
                <p:txBody>
                  <a:bodyPr/>
                  <a:lstStyle/>
                  <a:p>
                    <a:endParaRPr lang="en-US"/>
                  </a:p>
                </p:txBody>
              </p:sp>
              <p:sp>
                <p:nvSpPr>
                  <p:cNvPr id="1395258" name="Rectangle 570"/>
                  <p:cNvSpPr>
                    <a:spLocks noChangeArrowheads="1"/>
                  </p:cNvSpPr>
                  <p:nvPr/>
                </p:nvSpPr>
                <p:spPr bwMode="auto">
                  <a:xfrm>
                    <a:off x="2057" y="3317"/>
                    <a:ext cx="36" cy="212"/>
                  </a:xfrm>
                  <a:prstGeom prst="rect">
                    <a:avLst/>
                  </a:prstGeom>
                  <a:solidFill>
                    <a:srgbClr val="C6C6F8"/>
                  </a:solidFill>
                  <a:ln w="9525">
                    <a:noFill/>
                    <a:miter lim="800000"/>
                    <a:headEnd/>
                    <a:tailEnd/>
                  </a:ln>
                </p:spPr>
                <p:txBody>
                  <a:bodyPr/>
                  <a:lstStyle/>
                  <a:p>
                    <a:endParaRPr lang="en-US"/>
                  </a:p>
                </p:txBody>
              </p:sp>
              <p:sp>
                <p:nvSpPr>
                  <p:cNvPr id="1395259" name="Rectangle 571"/>
                  <p:cNvSpPr>
                    <a:spLocks noChangeArrowheads="1"/>
                  </p:cNvSpPr>
                  <p:nvPr/>
                </p:nvSpPr>
                <p:spPr bwMode="auto">
                  <a:xfrm>
                    <a:off x="2093" y="3317"/>
                    <a:ext cx="31" cy="212"/>
                  </a:xfrm>
                  <a:prstGeom prst="rect">
                    <a:avLst/>
                  </a:prstGeom>
                  <a:solidFill>
                    <a:srgbClr val="C8C8FA"/>
                  </a:solidFill>
                  <a:ln w="9525">
                    <a:noFill/>
                    <a:miter lim="800000"/>
                    <a:headEnd/>
                    <a:tailEnd/>
                  </a:ln>
                </p:spPr>
                <p:txBody>
                  <a:bodyPr/>
                  <a:lstStyle/>
                  <a:p>
                    <a:endParaRPr lang="en-US"/>
                  </a:p>
                </p:txBody>
              </p:sp>
              <p:sp>
                <p:nvSpPr>
                  <p:cNvPr id="1395260" name="Rectangle 572"/>
                  <p:cNvSpPr>
                    <a:spLocks noChangeArrowheads="1"/>
                  </p:cNvSpPr>
                  <p:nvPr/>
                </p:nvSpPr>
                <p:spPr bwMode="auto">
                  <a:xfrm>
                    <a:off x="2124" y="3317"/>
                    <a:ext cx="36" cy="212"/>
                  </a:xfrm>
                  <a:prstGeom prst="rect">
                    <a:avLst/>
                  </a:prstGeom>
                  <a:solidFill>
                    <a:srgbClr val="C9C9FB"/>
                  </a:solidFill>
                  <a:ln w="9525">
                    <a:noFill/>
                    <a:miter lim="800000"/>
                    <a:headEnd/>
                    <a:tailEnd/>
                  </a:ln>
                </p:spPr>
                <p:txBody>
                  <a:bodyPr/>
                  <a:lstStyle/>
                  <a:p>
                    <a:endParaRPr lang="en-US"/>
                  </a:p>
                </p:txBody>
              </p:sp>
              <p:sp>
                <p:nvSpPr>
                  <p:cNvPr id="1395261" name="Rectangle 573"/>
                  <p:cNvSpPr>
                    <a:spLocks noChangeArrowheads="1"/>
                  </p:cNvSpPr>
                  <p:nvPr/>
                </p:nvSpPr>
                <p:spPr bwMode="auto">
                  <a:xfrm>
                    <a:off x="2160" y="3317"/>
                    <a:ext cx="31" cy="212"/>
                  </a:xfrm>
                  <a:prstGeom prst="rect">
                    <a:avLst/>
                  </a:prstGeom>
                  <a:solidFill>
                    <a:srgbClr val="CACAFC"/>
                  </a:solidFill>
                  <a:ln w="9525">
                    <a:noFill/>
                    <a:miter lim="800000"/>
                    <a:headEnd/>
                    <a:tailEnd/>
                  </a:ln>
                </p:spPr>
                <p:txBody>
                  <a:bodyPr/>
                  <a:lstStyle/>
                  <a:p>
                    <a:endParaRPr lang="en-US"/>
                  </a:p>
                </p:txBody>
              </p:sp>
              <p:sp>
                <p:nvSpPr>
                  <p:cNvPr id="1395262" name="Rectangle 574"/>
                  <p:cNvSpPr>
                    <a:spLocks noChangeArrowheads="1"/>
                  </p:cNvSpPr>
                  <p:nvPr/>
                </p:nvSpPr>
                <p:spPr bwMode="auto">
                  <a:xfrm>
                    <a:off x="2191" y="3317"/>
                    <a:ext cx="37" cy="212"/>
                  </a:xfrm>
                  <a:prstGeom prst="rect">
                    <a:avLst/>
                  </a:prstGeom>
                  <a:solidFill>
                    <a:srgbClr val="CBCBFD"/>
                  </a:solidFill>
                  <a:ln w="9525">
                    <a:noFill/>
                    <a:miter lim="800000"/>
                    <a:headEnd/>
                    <a:tailEnd/>
                  </a:ln>
                </p:spPr>
                <p:txBody>
                  <a:bodyPr/>
                  <a:lstStyle/>
                  <a:p>
                    <a:endParaRPr lang="en-US"/>
                  </a:p>
                </p:txBody>
              </p:sp>
              <p:sp>
                <p:nvSpPr>
                  <p:cNvPr id="1395263" name="Rectangle 575"/>
                  <p:cNvSpPr>
                    <a:spLocks noChangeArrowheads="1"/>
                  </p:cNvSpPr>
                  <p:nvPr/>
                </p:nvSpPr>
                <p:spPr bwMode="auto">
                  <a:xfrm>
                    <a:off x="2228" y="3317"/>
                    <a:ext cx="31" cy="212"/>
                  </a:xfrm>
                  <a:prstGeom prst="rect">
                    <a:avLst/>
                  </a:prstGeom>
                  <a:solidFill>
                    <a:srgbClr val="CBCBFE"/>
                  </a:solidFill>
                  <a:ln w="9525">
                    <a:noFill/>
                    <a:miter lim="800000"/>
                    <a:headEnd/>
                    <a:tailEnd/>
                  </a:ln>
                </p:spPr>
                <p:txBody>
                  <a:bodyPr/>
                  <a:lstStyle/>
                  <a:p>
                    <a:endParaRPr lang="en-US"/>
                  </a:p>
                </p:txBody>
              </p:sp>
              <p:sp>
                <p:nvSpPr>
                  <p:cNvPr id="1395264" name="Rectangle 576"/>
                  <p:cNvSpPr>
                    <a:spLocks noChangeArrowheads="1"/>
                  </p:cNvSpPr>
                  <p:nvPr/>
                </p:nvSpPr>
                <p:spPr bwMode="auto">
                  <a:xfrm>
                    <a:off x="2259" y="3317"/>
                    <a:ext cx="36" cy="212"/>
                  </a:xfrm>
                  <a:prstGeom prst="rect">
                    <a:avLst/>
                  </a:prstGeom>
                  <a:solidFill>
                    <a:srgbClr val="CCCCFF"/>
                  </a:solidFill>
                  <a:ln w="9525">
                    <a:noFill/>
                    <a:miter lim="800000"/>
                    <a:headEnd/>
                    <a:tailEnd/>
                  </a:ln>
                </p:spPr>
                <p:txBody>
                  <a:bodyPr/>
                  <a:lstStyle/>
                  <a:p>
                    <a:endParaRPr lang="en-US"/>
                  </a:p>
                </p:txBody>
              </p:sp>
            </p:grpSp>
            <p:sp>
              <p:nvSpPr>
                <p:cNvPr id="1395265" name="Rectangle 577"/>
                <p:cNvSpPr>
                  <a:spLocks noChangeArrowheads="1"/>
                </p:cNvSpPr>
                <p:nvPr/>
              </p:nvSpPr>
              <p:spPr bwMode="auto">
                <a:xfrm>
                  <a:off x="1549" y="3317"/>
                  <a:ext cx="746" cy="212"/>
                </a:xfrm>
                <a:prstGeom prst="rect">
                  <a:avLst/>
                </a:prstGeom>
                <a:noFill/>
                <a:ln w="9525" cap="rnd">
                  <a:solidFill>
                    <a:srgbClr val="000000"/>
                  </a:solidFill>
                  <a:miter lim="800000"/>
                  <a:headEnd/>
                  <a:tailEnd/>
                </a:ln>
              </p:spPr>
              <p:txBody>
                <a:bodyPr/>
                <a:lstStyle/>
                <a:p>
                  <a:endParaRPr lang="en-US"/>
                </a:p>
              </p:txBody>
            </p:sp>
          </p:grpSp>
          <p:sp>
            <p:nvSpPr>
              <p:cNvPr id="1395266" name="Rectangle 578"/>
              <p:cNvSpPr>
                <a:spLocks noChangeArrowheads="1"/>
              </p:cNvSpPr>
              <p:nvPr/>
            </p:nvSpPr>
            <p:spPr bwMode="auto">
              <a:xfrm>
                <a:off x="1732" y="3379"/>
                <a:ext cx="448" cy="96"/>
              </a:xfrm>
              <a:prstGeom prst="rect">
                <a:avLst/>
              </a:prstGeom>
              <a:no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sp>
            <p:nvSpPr>
              <p:cNvPr id="1395267" name="Freeform 579"/>
              <p:cNvSpPr>
                <a:spLocks/>
              </p:cNvSpPr>
              <p:nvPr/>
            </p:nvSpPr>
            <p:spPr bwMode="auto">
              <a:xfrm>
                <a:off x="1559" y="2093"/>
                <a:ext cx="705" cy="285"/>
              </a:xfrm>
              <a:custGeom>
                <a:avLst/>
                <a:gdLst/>
                <a:ahLst/>
                <a:cxnLst>
                  <a:cxn ang="0">
                    <a:pos x="0" y="228"/>
                  </a:cxn>
                  <a:cxn ang="0">
                    <a:pos x="176" y="228"/>
                  </a:cxn>
                  <a:cxn ang="0">
                    <a:pos x="176" y="285"/>
                  </a:cxn>
                  <a:cxn ang="0">
                    <a:pos x="529" y="285"/>
                  </a:cxn>
                  <a:cxn ang="0">
                    <a:pos x="529" y="228"/>
                  </a:cxn>
                  <a:cxn ang="0">
                    <a:pos x="705" y="228"/>
                  </a:cxn>
                  <a:cxn ang="0">
                    <a:pos x="352" y="0"/>
                  </a:cxn>
                  <a:cxn ang="0">
                    <a:pos x="0" y="228"/>
                  </a:cxn>
                </a:cxnLst>
                <a:rect l="0" t="0" r="r" b="b"/>
                <a:pathLst>
                  <a:path w="705" h="285">
                    <a:moveTo>
                      <a:pt x="0" y="228"/>
                    </a:moveTo>
                    <a:lnTo>
                      <a:pt x="176" y="228"/>
                    </a:lnTo>
                    <a:lnTo>
                      <a:pt x="176" y="285"/>
                    </a:lnTo>
                    <a:lnTo>
                      <a:pt x="529" y="285"/>
                    </a:lnTo>
                    <a:lnTo>
                      <a:pt x="529" y="228"/>
                    </a:lnTo>
                    <a:lnTo>
                      <a:pt x="705" y="228"/>
                    </a:lnTo>
                    <a:lnTo>
                      <a:pt x="352" y="0"/>
                    </a:lnTo>
                    <a:lnTo>
                      <a:pt x="0" y="228"/>
                    </a:lnTo>
                    <a:close/>
                  </a:path>
                </a:pathLst>
              </a:custGeom>
              <a:solidFill>
                <a:srgbClr val="CCCCFF"/>
              </a:solidFill>
              <a:ln w="9525" cap="rnd">
                <a:solidFill>
                  <a:srgbClr val="000000"/>
                </a:solidFill>
                <a:prstDash val="solid"/>
                <a:round/>
                <a:headEnd/>
                <a:tailEnd/>
              </a:ln>
            </p:spPr>
            <p:txBody>
              <a:bodyPr/>
              <a:lstStyle/>
              <a:p>
                <a:endParaRPr lang="en-US"/>
              </a:p>
            </p:txBody>
          </p:sp>
          <p:sp>
            <p:nvSpPr>
              <p:cNvPr id="1395268" name="Rectangle 580"/>
              <p:cNvSpPr>
                <a:spLocks noChangeArrowheads="1"/>
              </p:cNvSpPr>
              <p:nvPr/>
            </p:nvSpPr>
            <p:spPr bwMode="auto">
              <a:xfrm>
                <a:off x="1552" y="1054"/>
                <a:ext cx="753" cy="96"/>
              </a:xfrm>
              <a:prstGeom prst="rect">
                <a:avLst/>
              </a:prstGeom>
              <a:noFill/>
              <a:ln w="9525">
                <a:noFill/>
                <a:miter lim="800000"/>
                <a:headEnd/>
                <a:tailEnd/>
              </a:ln>
            </p:spPr>
            <p:txBody>
              <a:bodyPr wrap="none" lIns="0" tIns="0" rIns="0" bIns="0">
                <a:spAutoFit/>
              </a:bodyPr>
              <a:lstStyle/>
              <a:p>
                <a:r>
                  <a:rPr lang="en-US" sz="1000" b="1">
                    <a:solidFill>
                      <a:srgbClr val="000000"/>
                    </a:solidFill>
                  </a:rPr>
                  <a:t>Strategic Outcomes</a:t>
                </a:r>
                <a:endParaRPr lang="en-US"/>
              </a:p>
            </p:txBody>
          </p:sp>
          <p:sp>
            <p:nvSpPr>
              <p:cNvPr id="1395269" name="Rectangle 581"/>
              <p:cNvSpPr>
                <a:spLocks noChangeArrowheads="1"/>
              </p:cNvSpPr>
              <p:nvPr/>
            </p:nvSpPr>
            <p:spPr bwMode="auto">
              <a:xfrm>
                <a:off x="1751" y="3809"/>
                <a:ext cx="321" cy="151"/>
              </a:xfrm>
              <a:prstGeom prst="rect">
                <a:avLst/>
              </a:prstGeom>
              <a:noFill/>
              <a:ln w="9525">
                <a:noFill/>
                <a:miter lim="800000"/>
                <a:headEnd/>
                <a:tailEnd/>
              </a:ln>
            </p:spPr>
            <p:txBody>
              <a:bodyPr/>
              <a:lstStyle/>
              <a:p>
                <a:endParaRPr lang="en-US"/>
              </a:p>
            </p:txBody>
          </p:sp>
          <p:sp>
            <p:nvSpPr>
              <p:cNvPr id="1395270" name="Rectangle 582"/>
              <p:cNvSpPr>
                <a:spLocks noChangeArrowheads="1"/>
              </p:cNvSpPr>
              <p:nvPr/>
            </p:nvSpPr>
            <p:spPr bwMode="auto">
              <a:xfrm>
                <a:off x="1834" y="3840"/>
                <a:ext cx="212" cy="96"/>
              </a:xfrm>
              <a:prstGeom prst="rect">
                <a:avLst/>
              </a:prstGeom>
              <a:noFill/>
              <a:ln w="9525">
                <a:noFill/>
                <a:miter lim="800000"/>
                <a:headEnd/>
                <a:tailEnd/>
              </a:ln>
            </p:spPr>
            <p:txBody>
              <a:bodyPr wrap="none" lIns="0" tIns="0" rIns="0" bIns="0">
                <a:spAutoFit/>
              </a:bodyPr>
              <a:lstStyle/>
              <a:p>
                <a:r>
                  <a:rPr lang="en-US" sz="1000" b="1">
                    <a:solidFill>
                      <a:srgbClr val="FFFFFF"/>
                    </a:solidFill>
                  </a:rPr>
                  <a:t>Value</a:t>
                </a:r>
                <a:endParaRPr lang="en-US"/>
              </a:p>
            </p:txBody>
          </p:sp>
          <p:sp>
            <p:nvSpPr>
              <p:cNvPr id="1395271" name="Rectangle 583"/>
              <p:cNvSpPr>
                <a:spLocks noChangeArrowheads="1"/>
              </p:cNvSpPr>
              <p:nvPr/>
            </p:nvSpPr>
            <p:spPr bwMode="auto">
              <a:xfrm>
                <a:off x="2165" y="1419"/>
                <a:ext cx="395" cy="96"/>
              </a:xfrm>
              <a:prstGeom prst="rect">
                <a:avLst/>
              </a:prstGeom>
              <a:noFill/>
              <a:ln w="9525">
                <a:noFill/>
                <a:miter lim="800000"/>
                <a:headEnd/>
                <a:tailEnd/>
              </a:ln>
            </p:spPr>
            <p:txBody>
              <a:bodyPr wrap="none" lIns="0" tIns="0" rIns="0" bIns="0">
                <a:spAutoFit/>
              </a:bodyPr>
              <a:lstStyle/>
              <a:p>
                <a:r>
                  <a:rPr lang="en-US" sz="1000" b="1">
                    <a:solidFill>
                      <a:schemeClr val="bg1"/>
                    </a:solidFill>
                  </a:rPr>
                  <a:t>Customer </a:t>
                </a:r>
                <a:endParaRPr lang="en-US">
                  <a:solidFill>
                    <a:schemeClr val="bg1"/>
                  </a:solidFill>
                </a:endParaRPr>
              </a:p>
            </p:txBody>
          </p:sp>
          <p:sp>
            <p:nvSpPr>
              <p:cNvPr id="1395272" name="Rectangle 584"/>
              <p:cNvSpPr>
                <a:spLocks noChangeArrowheads="1"/>
              </p:cNvSpPr>
              <p:nvPr/>
            </p:nvSpPr>
            <p:spPr bwMode="auto">
              <a:xfrm>
                <a:off x="2206" y="1497"/>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5273" name="Rectangle 585"/>
              <p:cNvSpPr>
                <a:spLocks noChangeArrowheads="1"/>
              </p:cNvSpPr>
              <p:nvPr/>
            </p:nvSpPr>
            <p:spPr bwMode="auto">
              <a:xfrm>
                <a:off x="2054" y="1601"/>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74" name="Rectangle 586"/>
              <p:cNvSpPr>
                <a:spLocks noChangeArrowheads="1"/>
              </p:cNvSpPr>
              <p:nvPr/>
            </p:nvSpPr>
            <p:spPr bwMode="auto">
              <a:xfrm>
                <a:off x="2079" y="1601"/>
                <a:ext cx="277" cy="67"/>
              </a:xfrm>
              <a:prstGeom prst="rect">
                <a:avLst/>
              </a:prstGeom>
              <a:noFill/>
              <a:ln w="9525">
                <a:noFill/>
                <a:miter lim="800000"/>
                <a:headEnd/>
                <a:tailEnd/>
              </a:ln>
            </p:spPr>
            <p:txBody>
              <a:bodyPr wrap="none" lIns="0" tIns="0" rIns="0" bIns="0">
                <a:spAutoFit/>
              </a:bodyPr>
              <a:lstStyle/>
              <a:p>
                <a:r>
                  <a:rPr lang="en-US" sz="700" b="1">
                    <a:solidFill>
                      <a:schemeClr val="bg1"/>
                    </a:solidFill>
                  </a:rPr>
                  <a:t>Customer </a:t>
                </a:r>
                <a:endParaRPr lang="en-US" b="1">
                  <a:solidFill>
                    <a:schemeClr val="bg1"/>
                  </a:solidFill>
                </a:endParaRPr>
              </a:p>
            </p:txBody>
          </p:sp>
          <p:sp>
            <p:nvSpPr>
              <p:cNvPr id="1395275" name="Rectangle 587"/>
              <p:cNvSpPr>
                <a:spLocks noChangeArrowheads="1"/>
              </p:cNvSpPr>
              <p:nvPr/>
            </p:nvSpPr>
            <p:spPr bwMode="auto">
              <a:xfrm>
                <a:off x="2056" y="1658"/>
                <a:ext cx="318" cy="67"/>
              </a:xfrm>
              <a:prstGeom prst="rect">
                <a:avLst/>
              </a:prstGeom>
              <a:noFill/>
              <a:ln w="9525">
                <a:noFill/>
                <a:miter lim="800000"/>
                <a:headEnd/>
                <a:tailEnd/>
              </a:ln>
            </p:spPr>
            <p:txBody>
              <a:bodyPr wrap="none" lIns="0" tIns="0" rIns="0" bIns="0">
                <a:spAutoFit/>
              </a:bodyPr>
              <a:lstStyle/>
              <a:p>
                <a:r>
                  <a:rPr lang="en-US" sz="700" b="1">
                    <a:solidFill>
                      <a:schemeClr val="bg1"/>
                    </a:solidFill>
                  </a:rPr>
                  <a:t>Satisfaction</a:t>
                </a:r>
                <a:endParaRPr lang="en-US" b="1">
                  <a:solidFill>
                    <a:schemeClr val="bg1"/>
                  </a:solidFill>
                </a:endParaRPr>
              </a:p>
            </p:txBody>
          </p:sp>
          <p:sp>
            <p:nvSpPr>
              <p:cNvPr id="1395276" name="Rectangle 588"/>
              <p:cNvSpPr>
                <a:spLocks noChangeArrowheads="1"/>
              </p:cNvSpPr>
              <p:nvPr/>
            </p:nvSpPr>
            <p:spPr bwMode="auto">
              <a:xfrm>
                <a:off x="2054" y="1725"/>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77" name="Rectangle 589"/>
              <p:cNvSpPr>
                <a:spLocks noChangeArrowheads="1"/>
              </p:cNvSpPr>
              <p:nvPr/>
            </p:nvSpPr>
            <p:spPr bwMode="auto">
              <a:xfrm>
                <a:off x="2087" y="1725"/>
                <a:ext cx="469"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Coverage</a:t>
                </a:r>
                <a:endParaRPr lang="en-US" b="1">
                  <a:solidFill>
                    <a:schemeClr val="bg1"/>
                  </a:solidFill>
                </a:endParaRPr>
              </a:p>
            </p:txBody>
          </p:sp>
          <p:sp>
            <p:nvSpPr>
              <p:cNvPr id="1395278" name="Rectangle 590"/>
              <p:cNvSpPr>
                <a:spLocks noChangeArrowheads="1"/>
              </p:cNvSpPr>
              <p:nvPr/>
            </p:nvSpPr>
            <p:spPr bwMode="auto">
              <a:xfrm>
                <a:off x="2054" y="1787"/>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79" name="Rectangle 591"/>
              <p:cNvSpPr>
                <a:spLocks noChangeArrowheads="1"/>
              </p:cNvSpPr>
              <p:nvPr/>
            </p:nvSpPr>
            <p:spPr bwMode="auto">
              <a:xfrm>
                <a:off x="2081" y="1787"/>
                <a:ext cx="362" cy="67"/>
              </a:xfrm>
              <a:prstGeom prst="rect">
                <a:avLst/>
              </a:prstGeom>
              <a:noFill/>
              <a:ln w="9525">
                <a:noFill/>
                <a:miter lim="800000"/>
                <a:headEnd/>
                <a:tailEnd/>
              </a:ln>
            </p:spPr>
            <p:txBody>
              <a:bodyPr wrap="none" lIns="0" tIns="0" rIns="0" bIns="0">
                <a:spAutoFit/>
              </a:bodyPr>
              <a:lstStyle/>
              <a:p>
                <a:r>
                  <a:rPr lang="en-US" sz="700" b="1">
                    <a:solidFill>
                      <a:schemeClr val="bg1"/>
                    </a:solidFill>
                  </a:rPr>
                  <a:t>Timeliness &amp; </a:t>
                </a:r>
                <a:endParaRPr lang="en-US" b="1">
                  <a:solidFill>
                    <a:schemeClr val="bg1"/>
                  </a:solidFill>
                </a:endParaRPr>
              </a:p>
            </p:txBody>
          </p:sp>
          <p:sp>
            <p:nvSpPr>
              <p:cNvPr id="1395280" name="Rectangle 592"/>
              <p:cNvSpPr>
                <a:spLocks noChangeArrowheads="1"/>
              </p:cNvSpPr>
              <p:nvPr/>
            </p:nvSpPr>
            <p:spPr bwMode="auto">
              <a:xfrm>
                <a:off x="2060" y="1844"/>
                <a:ext cx="440" cy="67"/>
              </a:xfrm>
              <a:prstGeom prst="rect">
                <a:avLst/>
              </a:prstGeom>
              <a:noFill/>
              <a:ln w="9525">
                <a:noFill/>
                <a:miter lim="800000"/>
                <a:headEnd/>
                <a:tailEnd/>
              </a:ln>
            </p:spPr>
            <p:txBody>
              <a:bodyPr wrap="none" lIns="0" tIns="0" rIns="0" bIns="0">
                <a:spAutoFit/>
              </a:bodyPr>
              <a:lstStyle/>
              <a:p>
                <a:r>
                  <a:rPr lang="en-US" sz="700" b="1">
                    <a:solidFill>
                      <a:schemeClr val="bg1"/>
                    </a:solidFill>
                  </a:rPr>
                  <a:t>Responsiveness</a:t>
                </a:r>
                <a:endParaRPr lang="en-US" b="1">
                  <a:solidFill>
                    <a:schemeClr val="bg1"/>
                  </a:solidFill>
                </a:endParaRPr>
              </a:p>
            </p:txBody>
          </p:sp>
          <p:sp>
            <p:nvSpPr>
              <p:cNvPr id="1395281" name="Rectangle 593"/>
              <p:cNvSpPr>
                <a:spLocks noChangeArrowheads="1"/>
              </p:cNvSpPr>
              <p:nvPr/>
            </p:nvSpPr>
            <p:spPr bwMode="auto">
              <a:xfrm>
                <a:off x="2054" y="191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82" name="Rectangle 594"/>
              <p:cNvSpPr>
                <a:spLocks noChangeArrowheads="1"/>
              </p:cNvSpPr>
              <p:nvPr/>
            </p:nvSpPr>
            <p:spPr bwMode="auto">
              <a:xfrm>
                <a:off x="2079" y="1912"/>
                <a:ext cx="406"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Quality</a:t>
                </a:r>
                <a:endParaRPr lang="en-US" b="1">
                  <a:solidFill>
                    <a:schemeClr val="bg1"/>
                  </a:solidFill>
                </a:endParaRPr>
              </a:p>
            </p:txBody>
          </p:sp>
          <p:sp>
            <p:nvSpPr>
              <p:cNvPr id="1395283" name="Rectangle 595"/>
              <p:cNvSpPr>
                <a:spLocks noChangeArrowheads="1"/>
              </p:cNvSpPr>
              <p:nvPr/>
            </p:nvSpPr>
            <p:spPr bwMode="auto">
              <a:xfrm>
                <a:off x="2054" y="1979"/>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84" name="Rectangle 596"/>
              <p:cNvSpPr>
                <a:spLocks noChangeArrowheads="1"/>
              </p:cNvSpPr>
              <p:nvPr/>
            </p:nvSpPr>
            <p:spPr bwMode="auto">
              <a:xfrm>
                <a:off x="2076" y="1979"/>
                <a:ext cx="558"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Accessibility</a:t>
                </a:r>
                <a:endParaRPr lang="en-US" b="1">
                  <a:solidFill>
                    <a:schemeClr val="bg1"/>
                  </a:solidFill>
                </a:endParaRPr>
              </a:p>
            </p:txBody>
          </p:sp>
          <p:sp>
            <p:nvSpPr>
              <p:cNvPr id="1395285" name="Rectangle 597"/>
              <p:cNvSpPr>
                <a:spLocks noChangeArrowheads="1"/>
              </p:cNvSpPr>
              <p:nvPr/>
            </p:nvSpPr>
            <p:spPr bwMode="auto">
              <a:xfrm>
                <a:off x="1989" y="1404"/>
                <a:ext cx="669" cy="669"/>
              </a:xfrm>
              <a:prstGeom prst="rect">
                <a:avLst/>
              </a:prstGeom>
              <a:solidFill>
                <a:srgbClr val="808080"/>
              </a:solidFill>
              <a:ln w="9525">
                <a:noFill/>
                <a:miter lim="800000"/>
                <a:headEnd/>
                <a:tailEnd/>
              </a:ln>
            </p:spPr>
            <p:txBody>
              <a:bodyPr/>
              <a:lstStyle/>
              <a:p>
                <a:endParaRPr lang="en-US"/>
              </a:p>
            </p:txBody>
          </p:sp>
          <p:sp>
            <p:nvSpPr>
              <p:cNvPr id="1395286" name="Rectangle 598"/>
              <p:cNvSpPr>
                <a:spLocks noChangeArrowheads="1"/>
              </p:cNvSpPr>
              <p:nvPr/>
            </p:nvSpPr>
            <p:spPr bwMode="auto">
              <a:xfrm>
                <a:off x="1974" y="1388"/>
                <a:ext cx="663" cy="664"/>
              </a:xfrm>
              <a:prstGeom prst="rect">
                <a:avLst/>
              </a:prstGeom>
              <a:solidFill>
                <a:srgbClr val="909DFC"/>
              </a:solidFill>
              <a:ln w="9525">
                <a:solidFill>
                  <a:srgbClr val="000000"/>
                </a:solidFill>
                <a:miter lim="800000"/>
                <a:headEnd/>
                <a:tailEnd/>
              </a:ln>
            </p:spPr>
            <p:txBody>
              <a:bodyPr/>
              <a:lstStyle/>
              <a:p>
                <a:endParaRPr lang="en-US"/>
              </a:p>
            </p:txBody>
          </p:sp>
          <p:sp>
            <p:nvSpPr>
              <p:cNvPr id="1395287" name="Rectangle 599"/>
              <p:cNvSpPr>
                <a:spLocks noChangeArrowheads="1"/>
              </p:cNvSpPr>
              <p:nvPr/>
            </p:nvSpPr>
            <p:spPr bwMode="auto">
              <a:xfrm>
                <a:off x="2149" y="1404"/>
                <a:ext cx="395" cy="96"/>
              </a:xfrm>
              <a:prstGeom prst="rect">
                <a:avLst/>
              </a:prstGeom>
              <a:noFill/>
              <a:ln w="9525">
                <a:noFill/>
                <a:miter lim="800000"/>
                <a:headEnd/>
                <a:tailEnd/>
              </a:ln>
            </p:spPr>
            <p:txBody>
              <a:bodyPr wrap="none" lIns="0" tIns="0" rIns="0" bIns="0">
                <a:spAutoFit/>
              </a:bodyPr>
              <a:lstStyle/>
              <a:p>
                <a:r>
                  <a:rPr lang="en-US" sz="1000" b="1">
                    <a:solidFill>
                      <a:schemeClr val="bg1"/>
                    </a:solidFill>
                  </a:rPr>
                  <a:t>Customer </a:t>
                </a:r>
                <a:endParaRPr lang="en-US">
                  <a:solidFill>
                    <a:schemeClr val="bg1"/>
                  </a:solidFill>
                </a:endParaRPr>
              </a:p>
            </p:txBody>
          </p:sp>
          <p:sp>
            <p:nvSpPr>
              <p:cNvPr id="1395288" name="Rectangle 600"/>
              <p:cNvSpPr>
                <a:spLocks noChangeArrowheads="1"/>
              </p:cNvSpPr>
              <p:nvPr/>
            </p:nvSpPr>
            <p:spPr bwMode="auto">
              <a:xfrm>
                <a:off x="2190" y="1481"/>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5289" name="Rectangle 601"/>
              <p:cNvSpPr>
                <a:spLocks noChangeArrowheads="1"/>
              </p:cNvSpPr>
              <p:nvPr/>
            </p:nvSpPr>
            <p:spPr bwMode="auto">
              <a:xfrm>
                <a:off x="2010" y="1585"/>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90" name="Rectangle 602"/>
              <p:cNvSpPr>
                <a:spLocks noChangeArrowheads="1"/>
              </p:cNvSpPr>
              <p:nvPr/>
            </p:nvSpPr>
            <p:spPr bwMode="auto">
              <a:xfrm>
                <a:off x="2054" y="1585"/>
                <a:ext cx="277" cy="67"/>
              </a:xfrm>
              <a:prstGeom prst="rect">
                <a:avLst/>
              </a:prstGeom>
              <a:noFill/>
              <a:ln w="9525">
                <a:noFill/>
                <a:miter lim="800000"/>
                <a:headEnd/>
                <a:tailEnd/>
              </a:ln>
            </p:spPr>
            <p:txBody>
              <a:bodyPr wrap="none" lIns="0" tIns="0" rIns="0" bIns="0">
                <a:spAutoFit/>
              </a:bodyPr>
              <a:lstStyle/>
              <a:p>
                <a:r>
                  <a:rPr lang="en-US" sz="700" b="1">
                    <a:solidFill>
                      <a:schemeClr val="bg1"/>
                    </a:solidFill>
                  </a:rPr>
                  <a:t>Customer </a:t>
                </a:r>
                <a:endParaRPr lang="en-US" b="1">
                  <a:solidFill>
                    <a:schemeClr val="bg1"/>
                  </a:solidFill>
                </a:endParaRPr>
              </a:p>
            </p:txBody>
          </p:sp>
          <p:sp>
            <p:nvSpPr>
              <p:cNvPr id="1395291" name="Rectangle 603"/>
              <p:cNvSpPr>
                <a:spLocks noChangeArrowheads="1"/>
              </p:cNvSpPr>
              <p:nvPr/>
            </p:nvSpPr>
            <p:spPr bwMode="auto">
              <a:xfrm>
                <a:off x="2054" y="1642"/>
                <a:ext cx="318" cy="67"/>
              </a:xfrm>
              <a:prstGeom prst="rect">
                <a:avLst/>
              </a:prstGeom>
              <a:noFill/>
              <a:ln w="9525">
                <a:noFill/>
                <a:miter lim="800000"/>
                <a:headEnd/>
                <a:tailEnd/>
              </a:ln>
            </p:spPr>
            <p:txBody>
              <a:bodyPr wrap="none" lIns="0" tIns="0" rIns="0" bIns="0">
                <a:spAutoFit/>
              </a:bodyPr>
              <a:lstStyle/>
              <a:p>
                <a:r>
                  <a:rPr lang="en-US" sz="700" b="1">
                    <a:solidFill>
                      <a:schemeClr val="bg1"/>
                    </a:solidFill>
                  </a:rPr>
                  <a:t>Satisfaction</a:t>
                </a:r>
                <a:endParaRPr lang="en-US" b="1">
                  <a:solidFill>
                    <a:schemeClr val="bg1"/>
                  </a:solidFill>
                </a:endParaRPr>
              </a:p>
            </p:txBody>
          </p:sp>
          <p:sp>
            <p:nvSpPr>
              <p:cNvPr id="1395292" name="Rectangle 604"/>
              <p:cNvSpPr>
                <a:spLocks noChangeArrowheads="1"/>
              </p:cNvSpPr>
              <p:nvPr/>
            </p:nvSpPr>
            <p:spPr bwMode="auto">
              <a:xfrm>
                <a:off x="2010" y="1710"/>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93" name="Rectangle 605"/>
              <p:cNvSpPr>
                <a:spLocks noChangeArrowheads="1"/>
              </p:cNvSpPr>
              <p:nvPr/>
            </p:nvSpPr>
            <p:spPr bwMode="auto">
              <a:xfrm>
                <a:off x="2054" y="1710"/>
                <a:ext cx="469"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Coverage</a:t>
                </a:r>
                <a:endParaRPr lang="en-US" b="1">
                  <a:solidFill>
                    <a:schemeClr val="bg1"/>
                  </a:solidFill>
                </a:endParaRPr>
              </a:p>
            </p:txBody>
          </p:sp>
          <p:sp>
            <p:nvSpPr>
              <p:cNvPr id="1395294" name="Rectangle 606"/>
              <p:cNvSpPr>
                <a:spLocks noChangeArrowheads="1"/>
              </p:cNvSpPr>
              <p:nvPr/>
            </p:nvSpPr>
            <p:spPr bwMode="auto">
              <a:xfrm>
                <a:off x="2010" y="177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95" name="Rectangle 607"/>
              <p:cNvSpPr>
                <a:spLocks noChangeArrowheads="1"/>
              </p:cNvSpPr>
              <p:nvPr/>
            </p:nvSpPr>
            <p:spPr bwMode="auto">
              <a:xfrm>
                <a:off x="2054" y="1772"/>
                <a:ext cx="362" cy="67"/>
              </a:xfrm>
              <a:prstGeom prst="rect">
                <a:avLst/>
              </a:prstGeom>
              <a:noFill/>
              <a:ln w="9525">
                <a:noFill/>
                <a:miter lim="800000"/>
                <a:headEnd/>
                <a:tailEnd/>
              </a:ln>
            </p:spPr>
            <p:txBody>
              <a:bodyPr wrap="none" lIns="0" tIns="0" rIns="0" bIns="0">
                <a:spAutoFit/>
              </a:bodyPr>
              <a:lstStyle/>
              <a:p>
                <a:r>
                  <a:rPr lang="en-US" sz="700" b="1">
                    <a:solidFill>
                      <a:schemeClr val="bg1"/>
                    </a:solidFill>
                  </a:rPr>
                  <a:t>Timeliness &amp; </a:t>
                </a:r>
                <a:endParaRPr lang="en-US" b="1">
                  <a:solidFill>
                    <a:schemeClr val="bg1"/>
                  </a:solidFill>
                </a:endParaRPr>
              </a:p>
            </p:txBody>
          </p:sp>
          <p:sp>
            <p:nvSpPr>
              <p:cNvPr id="1395296" name="Rectangle 608"/>
              <p:cNvSpPr>
                <a:spLocks noChangeArrowheads="1"/>
              </p:cNvSpPr>
              <p:nvPr/>
            </p:nvSpPr>
            <p:spPr bwMode="auto">
              <a:xfrm>
                <a:off x="2054" y="1829"/>
                <a:ext cx="440" cy="67"/>
              </a:xfrm>
              <a:prstGeom prst="rect">
                <a:avLst/>
              </a:prstGeom>
              <a:noFill/>
              <a:ln w="9525">
                <a:noFill/>
                <a:miter lim="800000"/>
                <a:headEnd/>
                <a:tailEnd/>
              </a:ln>
            </p:spPr>
            <p:txBody>
              <a:bodyPr wrap="none" lIns="0" tIns="0" rIns="0" bIns="0">
                <a:spAutoFit/>
              </a:bodyPr>
              <a:lstStyle/>
              <a:p>
                <a:r>
                  <a:rPr lang="en-US" sz="700" b="1">
                    <a:solidFill>
                      <a:schemeClr val="bg1"/>
                    </a:solidFill>
                  </a:rPr>
                  <a:t>Responsiveness</a:t>
                </a:r>
                <a:endParaRPr lang="en-US" b="1">
                  <a:solidFill>
                    <a:schemeClr val="bg1"/>
                  </a:solidFill>
                </a:endParaRPr>
              </a:p>
            </p:txBody>
          </p:sp>
          <p:sp>
            <p:nvSpPr>
              <p:cNvPr id="1395297" name="Rectangle 609"/>
              <p:cNvSpPr>
                <a:spLocks noChangeArrowheads="1"/>
              </p:cNvSpPr>
              <p:nvPr/>
            </p:nvSpPr>
            <p:spPr bwMode="auto">
              <a:xfrm>
                <a:off x="2010" y="1896"/>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298" name="Rectangle 610"/>
              <p:cNvSpPr>
                <a:spLocks noChangeArrowheads="1"/>
              </p:cNvSpPr>
              <p:nvPr/>
            </p:nvSpPr>
            <p:spPr bwMode="auto">
              <a:xfrm>
                <a:off x="2054" y="1896"/>
                <a:ext cx="406"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Quality</a:t>
                </a:r>
                <a:endParaRPr lang="en-US" b="1">
                  <a:solidFill>
                    <a:schemeClr val="bg1"/>
                  </a:solidFill>
                </a:endParaRPr>
              </a:p>
            </p:txBody>
          </p:sp>
          <p:sp>
            <p:nvSpPr>
              <p:cNvPr id="1395299" name="Rectangle 611"/>
              <p:cNvSpPr>
                <a:spLocks noChangeArrowheads="1"/>
              </p:cNvSpPr>
              <p:nvPr/>
            </p:nvSpPr>
            <p:spPr bwMode="auto">
              <a:xfrm>
                <a:off x="2010" y="1964"/>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00" name="Rectangle 612"/>
              <p:cNvSpPr>
                <a:spLocks noChangeArrowheads="1"/>
              </p:cNvSpPr>
              <p:nvPr/>
            </p:nvSpPr>
            <p:spPr bwMode="auto">
              <a:xfrm>
                <a:off x="2054" y="1964"/>
                <a:ext cx="558"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 Accessibility</a:t>
                </a:r>
                <a:endParaRPr lang="en-US" b="1">
                  <a:solidFill>
                    <a:schemeClr val="bg1"/>
                  </a:solidFill>
                </a:endParaRPr>
              </a:p>
            </p:txBody>
          </p:sp>
          <p:sp>
            <p:nvSpPr>
              <p:cNvPr id="1395301" name="Rectangle 613"/>
              <p:cNvSpPr>
                <a:spLocks noChangeArrowheads="1"/>
              </p:cNvSpPr>
              <p:nvPr/>
            </p:nvSpPr>
            <p:spPr bwMode="auto">
              <a:xfrm>
                <a:off x="1529" y="2487"/>
                <a:ext cx="937" cy="96"/>
              </a:xfrm>
              <a:prstGeom prst="rect">
                <a:avLst/>
              </a:prstGeom>
              <a:noFill/>
              <a:ln w="9525">
                <a:noFill/>
                <a:miter lim="800000"/>
                <a:headEnd/>
                <a:tailEnd/>
              </a:ln>
            </p:spPr>
            <p:txBody>
              <a:bodyPr wrap="none" lIns="0" tIns="0" rIns="0" bIns="0">
                <a:spAutoFit/>
              </a:bodyPr>
              <a:lstStyle/>
              <a:p>
                <a:r>
                  <a:rPr lang="en-US" sz="1000" b="1">
                    <a:solidFill>
                      <a:schemeClr val="bg1"/>
                    </a:solidFill>
                  </a:rPr>
                  <a:t>Processes and Activities</a:t>
                </a:r>
                <a:endParaRPr lang="en-US">
                  <a:solidFill>
                    <a:schemeClr val="bg1"/>
                  </a:solidFill>
                </a:endParaRPr>
              </a:p>
            </p:txBody>
          </p:sp>
          <p:sp>
            <p:nvSpPr>
              <p:cNvPr id="1395302" name="Rectangle 614"/>
              <p:cNvSpPr>
                <a:spLocks noChangeArrowheads="1"/>
              </p:cNvSpPr>
              <p:nvPr/>
            </p:nvSpPr>
            <p:spPr bwMode="auto">
              <a:xfrm>
                <a:off x="1226" y="2591"/>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03" name="Rectangle 615"/>
              <p:cNvSpPr>
                <a:spLocks noChangeArrowheads="1"/>
              </p:cNvSpPr>
              <p:nvPr/>
            </p:nvSpPr>
            <p:spPr bwMode="auto">
              <a:xfrm>
                <a:off x="1250" y="2591"/>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5304" name="Rectangle 616"/>
              <p:cNvSpPr>
                <a:spLocks noChangeArrowheads="1"/>
              </p:cNvSpPr>
              <p:nvPr/>
            </p:nvSpPr>
            <p:spPr bwMode="auto">
              <a:xfrm>
                <a:off x="1226" y="2658"/>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05" name="Rectangle 617"/>
              <p:cNvSpPr>
                <a:spLocks noChangeArrowheads="1"/>
              </p:cNvSpPr>
              <p:nvPr/>
            </p:nvSpPr>
            <p:spPr bwMode="auto">
              <a:xfrm>
                <a:off x="1245" y="2658"/>
                <a:ext cx="720" cy="67"/>
              </a:xfrm>
              <a:prstGeom prst="rect">
                <a:avLst/>
              </a:prstGeom>
              <a:noFill/>
              <a:ln w="9525">
                <a:noFill/>
                <a:miter lim="800000"/>
                <a:headEnd/>
                <a:tailEnd/>
              </a:ln>
            </p:spPr>
            <p:txBody>
              <a:bodyPr wrap="none" lIns="0" tIns="0" rIns="0" bIns="0">
                <a:spAutoFit/>
              </a:bodyPr>
              <a:lstStyle/>
              <a:p>
                <a:r>
                  <a:rPr lang="en-US" sz="700" b="1">
                    <a:solidFill>
                      <a:schemeClr val="bg1"/>
                    </a:solidFill>
                  </a:rPr>
                  <a:t>Productivity and Efficiency</a:t>
                </a:r>
                <a:endParaRPr lang="en-US" b="1">
                  <a:solidFill>
                    <a:schemeClr val="bg1"/>
                  </a:solidFill>
                </a:endParaRPr>
              </a:p>
            </p:txBody>
          </p:sp>
          <p:sp>
            <p:nvSpPr>
              <p:cNvPr id="1395306" name="Rectangle 618"/>
              <p:cNvSpPr>
                <a:spLocks noChangeArrowheads="1"/>
              </p:cNvSpPr>
              <p:nvPr/>
            </p:nvSpPr>
            <p:spPr bwMode="auto">
              <a:xfrm>
                <a:off x="1226" y="2726"/>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07" name="Rectangle 619"/>
              <p:cNvSpPr>
                <a:spLocks noChangeArrowheads="1"/>
              </p:cNvSpPr>
              <p:nvPr/>
            </p:nvSpPr>
            <p:spPr bwMode="auto">
              <a:xfrm>
                <a:off x="1261" y="2726"/>
                <a:ext cx="681" cy="67"/>
              </a:xfrm>
              <a:prstGeom prst="rect">
                <a:avLst/>
              </a:prstGeom>
              <a:noFill/>
              <a:ln w="9525">
                <a:noFill/>
                <a:miter lim="800000"/>
                <a:headEnd/>
                <a:tailEnd/>
              </a:ln>
            </p:spPr>
            <p:txBody>
              <a:bodyPr wrap="none" lIns="0" tIns="0" rIns="0" bIns="0">
                <a:spAutoFit/>
              </a:bodyPr>
              <a:lstStyle/>
              <a:p>
                <a:r>
                  <a:rPr lang="en-US" sz="700" b="1">
                    <a:solidFill>
                      <a:schemeClr val="bg1"/>
                    </a:solidFill>
                  </a:rPr>
                  <a:t>Cycle and Resource Time</a:t>
                </a:r>
                <a:endParaRPr lang="en-US" b="1">
                  <a:solidFill>
                    <a:schemeClr val="bg1"/>
                  </a:solidFill>
                </a:endParaRPr>
              </a:p>
            </p:txBody>
          </p:sp>
          <p:sp>
            <p:nvSpPr>
              <p:cNvPr id="1395308" name="Rectangle 620"/>
              <p:cNvSpPr>
                <a:spLocks noChangeArrowheads="1"/>
              </p:cNvSpPr>
              <p:nvPr/>
            </p:nvSpPr>
            <p:spPr bwMode="auto">
              <a:xfrm>
                <a:off x="1202" y="2472"/>
                <a:ext cx="1497" cy="352"/>
              </a:xfrm>
              <a:prstGeom prst="rect">
                <a:avLst/>
              </a:prstGeom>
              <a:solidFill>
                <a:srgbClr val="808080"/>
              </a:solidFill>
              <a:ln w="9525">
                <a:noFill/>
                <a:miter lim="800000"/>
                <a:headEnd/>
                <a:tailEnd/>
              </a:ln>
            </p:spPr>
            <p:txBody>
              <a:bodyPr/>
              <a:lstStyle/>
              <a:p>
                <a:endParaRPr lang="en-US"/>
              </a:p>
            </p:txBody>
          </p:sp>
          <p:sp>
            <p:nvSpPr>
              <p:cNvPr id="1395309" name="Rectangle 621"/>
              <p:cNvSpPr>
                <a:spLocks noChangeArrowheads="1"/>
              </p:cNvSpPr>
              <p:nvPr/>
            </p:nvSpPr>
            <p:spPr bwMode="auto">
              <a:xfrm>
                <a:off x="1154" y="2456"/>
                <a:ext cx="1560" cy="358"/>
              </a:xfrm>
              <a:prstGeom prst="rect">
                <a:avLst/>
              </a:prstGeom>
              <a:solidFill>
                <a:srgbClr val="909DFC"/>
              </a:solidFill>
              <a:ln w="9525">
                <a:solidFill>
                  <a:srgbClr val="000000"/>
                </a:solidFill>
                <a:miter lim="800000"/>
                <a:headEnd/>
                <a:tailEnd/>
              </a:ln>
            </p:spPr>
            <p:txBody>
              <a:bodyPr/>
              <a:lstStyle/>
              <a:p>
                <a:endParaRPr lang="en-US"/>
              </a:p>
            </p:txBody>
          </p:sp>
          <p:sp>
            <p:nvSpPr>
              <p:cNvPr id="1395310" name="Rectangle 622"/>
              <p:cNvSpPr>
                <a:spLocks noChangeArrowheads="1"/>
              </p:cNvSpPr>
              <p:nvPr/>
            </p:nvSpPr>
            <p:spPr bwMode="auto">
              <a:xfrm>
                <a:off x="1513" y="2472"/>
                <a:ext cx="937" cy="96"/>
              </a:xfrm>
              <a:prstGeom prst="rect">
                <a:avLst/>
              </a:prstGeom>
              <a:noFill/>
              <a:ln w="9525">
                <a:noFill/>
                <a:miter lim="800000"/>
                <a:headEnd/>
                <a:tailEnd/>
              </a:ln>
            </p:spPr>
            <p:txBody>
              <a:bodyPr wrap="none" lIns="0" tIns="0" rIns="0" bIns="0">
                <a:spAutoFit/>
              </a:bodyPr>
              <a:lstStyle/>
              <a:p>
                <a:r>
                  <a:rPr lang="en-US" sz="1000" b="1">
                    <a:solidFill>
                      <a:schemeClr val="bg1"/>
                    </a:solidFill>
                  </a:rPr>
                  <a:t>Processes and Activities</a:t>
                </a:r>
                <a:endParaRPr lang="en-US">
                  <a:solidFill>
                    <a:schemeClr val="bg1"/>
                  </a:solidFill>
                </a:endParaRPr>
              </a:p>
            </p:txBody>
          </p:sp>
          <p:sp>
            <p:nvSpPr>
              <p:cNvPr id="1395311" name="Rectangle 623"/>
              <p:cNvSpPr>
                <a:spLocks noChangeArrowheads="1"/>
              </p:cNvSpPr>
              <p:nvPr/>
            </p:nvSpPr>
            <p:spPr bwMode="auto">
              <a:xfrm>
                <a:off x="1189" y="2575"/>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12" name="Rectangle 624"/>
              <p:cNvSpPr>
                <a:spLocks noChangeArrowheads="1"/>
              </p:cNvSpPr>
              <p:nvPr/>
            </p:nvSpPr>
            <p:spPr bwMode="auto">
              <a:xfrm>
                <a:off x="1226" y="2575"/>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5313" name="Rectangle 625"/>
              <p:cNvSpPr>
                <a:spLocks noChangeArrowheads="1"/>
              </p:cNvSpPr>
              <p:nvPr/>
            </p:nvSpPr>
            <p:spPr bwMode="auto">
              <a:xfrm>
                <a:off x="1185" y="2643"/>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14" name="Rectangle 626"/>
              <p:cNvSpPr>
                <a:spLocks noChangeArrowheads="1"/>
              </p:cNvSpPr>
              <p:nvPr/>
            </p:nvSpPr>
            <p:spPr bwMode="auto">
              <a:xfrm>
                <a:off x="1226" y="2643"/>
                <a:ext cx="720" cy="67"/>
              </a:xfrm>
              <a:prstGeom prst="rect">
                <a:avLst/>
              </a:prstGeom>
              <a:noFill/>
              <a:ln w="9525">
                <a:noFill/>
                <a:miter lim="800000"/>
                <a:headEnd/>
                <a:tailEnd/>
              </a:ln>
            </p:spPr>
            <p:txBody>
              <a:bodyPr wrap="none" lIns="0" tIns="0" rIns="0" bIns="0">
                <a:spAutoFit/>
              </a:bodyPr>
              <a:lstStyle/>
              <a:p>
                <a:r>
                  <a:rPr lang="en-US" sz="700" b="1">
                    <a:solidFill>
                      <a:schemeClr val="bg1"/>
                    </a:solidFill>
                  </a:rPr>
                  <a:t>Productivity and Efficiency</a:t>
                </a:r>
                <a:endParaRPr lang="en-US" b="1">
                  <a:solidFill>
                    <a:schemeClr val="bg1"/>
                  </a:solidFill>
                </a:endParaRPr>
              </a:p>
            </p:txBody>
          </p:sp>
          <p:sp>
            <p:nvSpPr>
              <p:cNvPr id="1395315" name="Rectangle 627"/>
              <p:cNvSpPr>
                <a:spLocks noChangeArrowheads="1"/>
              </p:cNvSpPr>
              <p:nvPr/>
            </p:nvSpPr>
            <p:spPr bwMode="auto">
              <a:xfrm>
                <a:off x="1185" y="2710"/>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16" name="Rectangle 628"/>
              <p:cNvSpPr>
                <a:spLocks noChangeArrowheads="1"/>
              </p:cNvSpPr>
              <p:nvPr/>
            </p:nvSpPr>
            <p:spPr bwMode="auto">
              <a:xfrm>
                <a:off x="1226" y="2710"/>
                <a:ext cx="681" cy="67"/>
              </a:xfrm>
              <a:prstGeom prst="rect">
                <a:avLst/>
              </a:prstGeom>
              <a:noFill/>
              <a:ln w="9525">
                <a:noFill/>
                <a:miter lim="800000"/>
                <a:headEnd/>
                <a:tailEnd/>
              </a:ln>
            </p:spPr>
            <p:txBody>
              <a:bodyPr wrap="none" lIns="0" tIns="0" rIns="0" bIns="0">
                <a:spAutoFit/>
              </a:bodyPr>
              <a:lstStyle/>
              <a:p>
                <a:r>
                  <a:rPr lang="en-US" sz="700" b="1">
                    <a:solidFill>
                      <a:schemeClr val="bg1"/>
                    </a:solidFill>
                  </a:rPr>
                  <a:t>Cycle and Resource Time</a:t>
                </a:r>
                <a:endParaRPr lang="en-US" b="1">
                  <a:solidFill>
                    <a:schemeClr val="bg1"/>
                  </a:solidFill>
                </a:endParaRPr>
              </a:p>
            </p:txBody>
          </p:sp>
          <p:sp>
            <p:nvSpPr>
              <p:cNvPr id="1395317" name="Rectangle 629"/>
              <p:cNvSpPr>
                <a:spLocks noChangeArrowheads="1"/>
              </p:cNvSpPr>
              <p:nvPr/>
            </p:nvSpPr>
            <p:spPr bwMode="auto">
              <a:xfrm>
                <a:off x="1932" y="2456"/>
                <a:ext cx="829" cy="270"/>
              </a:xfrm>
              <a:prstGeom prst="rect">
                <a:avLst/>
              </a:prstGeom>
              <a:noFill/>
              <a:ln w="9525">
                <a:noFill/>
                <a:miter lim="800000"/>
                <a:headEnd/>
                <a:tailEnd/>
              </a:ln>
            </p:spPr>
            <p:txBody>
              <a:bodyPr/>
              <a:lstStyle/>
              <a:p>
                <a:endParaRPr lang="en-US"/>
              </a:p>
            </p:txBody>
          </p:sp>
          <p:sp>
            <p:nvSpPr>
              <p:cNvPr id="1395318" name="Rectangle 630"/>
              <p:cNvSpPr>
                <a:spLocks noChangeArrowheads="1"/>
              </p:cNvSpPr>
              <p:nvPr/>
            </p:nvSpPr>
            <p:spPr bwMode="auto">
              <a:xfrm>
                <a:off x="1973" y="2575"/>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19" name="Rectangle 631"/>
              <p:cNvSpPr>
                <a:spLocks noChangeArrowheads="1"/>
              </p:cNvSpPr>
              <p:nvPr/>
            </p:nvSpPr>
            <p:spPr bwMode="auto">
              <a:xfrm>
                <a:off x="2015" y="2575"/>
                <a:ext cx="191" cy="67"/>
              </a:xfrm>
              <a:prstGeom prst="rect">
                <a:avLst/>
              </a:prstGeom>
              <a:noFill/>
              <a:ln w="9525">
                <a:noFill/>
                <a:miter lim="800000"/>
                <a:headEnd/>
                <a:tailEnd/>
              </a:ln>
            </p:spPr>
            <p:txBody>
              <a:bodyPr wrap="none" lIns="0" tIns="0" rIns="0" bIns="0">
                <a:spAutoFit/>
              </a:bodyPr>
              <a:lstStyle/>
              <a:p>
                <a:r>
                  <a:rPr lang="en-US" sz="700" b="1">
                    <a:solidFill>
                      <a:schemeClr val="bg1"/>
                    </a:solidFill>
                  </a:rPr>
                  <a:t>Quality</a:t>
                </a:r>
                <a:endParaRPr lang="en-US" b="1">
                  <a:solidFill>
                    <a:schemeClr val="bg1"/>
                  </a:solidFill>
                </a:endParaRPr>
              </a:p>
            </p:txBody>
          </p:sp>
          <p:sp>
            <p:nvSpPr>
              <p:cNvPr id="1395320" name="Rectangle 632"/>
              <p:cNvSpPr>
                <a:spLocks noChangeArrowheads="1"/>
              </p:cNvSpPr>
              <p:nvPr/>
            </p:nvSpPr>
            <p:spPr bwMode="auto">
              <a:xfrm>
                <a:off x="1973" y="2638"/>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21" name="Rectangle 633"/>
              <p:cNvSpPr>
                <a:spLocks noChangeArrowheads="1"/>
              </p:cNvSpPr>
              <p:nvPr/>
            </p:nvSpPr>
            <p:spPr bwMode="auto">
              <a:xfrm>
                <a:off x="2003" y="2638"/>
                <a:ext cx="697" cy="67"/>
              </a:xfrm>
              <a:prstGeom prst="rect">
                <a:avLst/>
              </a:prstGeom>
              <a:noFill/>
              <a:ln w="9525">
                <a:noFill/>
                <a:miter lim="800000"/>
                <a:headEnd/>
                <a:tailEnd/>
              </a:ln>
            </p:spPr>
            <p:txBody>
              <a:bodyPr wrap="none" lIns="0" tIns="0" rIns="0" bIns="0">
                <a:spAutoFit/>
              </a:bodyPr>
              <a:lstStyle/>
              <a:p>
                <a:r>
                  <a:rPr lang="en-US" sz="700" b="1">
                    <a:solidFill>
                      <a:schemeClr val="bg1"/>
                    </a:solidFill>
                  </a:rPr>
                  <a:t>Management &amp; Innovation</a:t>
                </a:r>
                <a:endParaRPr lang="en-US" b="1">
                  <a:solidFill>
                    <a:schemeClr val="bg1"/>
                  </a:solidFill>
                </a:endParaRPr>
              </a:p>
            </p:txBody>
          </p:sp>
          <p:sp>
            <p:nvSpPr>
              <p:cNvPr id="1395322" name="Rectangle 634"/>
              <p:cNvSpPr>
                <a:spLocks noChangeArrowheads="1"/>
              </p:cNvSpPr>
              <p:nvPr/>
            </p:nvSpPr>
            <p:spPr bwMode="auto">
              <a:xfrm>
                <a:off x="1752" y="3244"/>
                <a:ext cx="448" cy="96"/>
              </a:xfrm>
              <a:prstGeom prst="rect">
                <a:avLst/>
              </a:prstGeom>
              <a:no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sp>
            <p:nvSpPr>
              <p:cNvPr id="1395323" name="Rectangle 635"/>
              <p:cNvSpPr>
                <a:spLocks noChangeArrowheads="1"/>
              </p:cNvSpPr>
              <p:nvPr/>
            </p:nvSpPr>
            <p:spPr bwMode="auto">
              <a:xfrm>
                <a:off x="1598" y="3348"/>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24" name="Rectangle 636"/>
              <p:cNvSpPr>
                <a:spLocks noChangeArrowheads="1"/>
              </p:cNvSpPr>
              <p:nvPr/>
            </p:nvSpPr>
            <p:spPr bwMode="auto">
              <a:xfrm>
                <a:off x="1632" y="3348"/>
                <a:ext cx="222" cy="67"/>
              </a:xfrm>
              <a:prstGeom prst="rect">
                <a:avLst/>
              </a:prstGeom>
              <a:noFill/>
              <a:ln w="9525">
                <a:noFill/>
                <a:miter lim="800000"/>
                <a:headEnd/>
                <a:tailEnd/>
              </a:ln>
            </p:spPr>
            <p:txBody>
              <a:bodyPr wrap="none" lIns="0" tIns="0" rIns="0" bIns="0">
                <a:spAutoFit/>
              </a:bodyPr>
              <a:lstStyle/>
              <a:p>
                <a:r>
                  <a:rPr lang="en-US" sz="700">
                    <a:solidFill>
                      <a:schemeClr val="bg1"/>
                    </a:solidFill>
                  </a:rPr>
                  <a:t>Financial</a:t>
                </a:r>
                <a:endParaRPr lang="en-US">
                  <a:solidFill>
                    <a:schemeClr val="bg1"/>
                  </a:solidFill>
                </a:endParaRPr>
              </a:p>
            </p:txBody>
          </p:sp>
          <p:sp>
            <p:nvSpPr>
              <p:cNvPr id="1395325" name="Rectangle 637"/>
              <p:cNvSpPr>
                <a:spLocks noChangeArrowheads="1"/>
              </p:cNvSpPr>
              <p:nvPr/>
            </p:nvSpPr>
            <p:spPr bwMode="auto">
              <a:xfrm>
                <a:off x="1598" y="3415"/>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26" name="Rectangle 638"/>
              <p:cNvSpPr>
                <a:spLocks noChangeArrowheads="1"/>
              </p:cNvSpPr>
              <p:nvPr/>
            </p:nvSpPr>
            <p:spPr bwMode="auto">
              <a:xfrm>
                <a:off x="1642" y="3415"/>
                <a:ext cx="482" cy="67"/>
              </a:xfrm>
              <a:prstGeom prst="rect">
                <a:avLst/>
              </a:prstGeom>
              <a:noFill/>
              <a:ln w="9525">
                <a:noFill/>
                <a:miter lim="800000"/>
                <a:headEnd/>
                <a:tailEnd/>
              </a:ln>
            </p:spPr>
            <p:txBody>
              <a:bodyPr wrap="none" lIns="0" tIns="0" rIns="0" bIns="0">
                <a:spAutoFit/>
              </a:bodyPr>
              <a:lstStyle/>
              <a:p>
                <a:r>
                  <a:rPr lang="en-US" sz="700">
                    <a:solidFill>
                      <a:schemeClr val="bg1"/>
                    </a:solidFill>
                  </a:rPr>
                  <a:t>Quality &amp; Efficiency</a:t>
                </a:r>
                <a:endParaRPr lang="en-US">
                  <a:solidFill>
                    <a:schemeClr val="bg1"/>
                  </a:solidFill>
                </a:endParaRPr>
              </a:p>
            </p:txBody>
          </p:sp>
          <p:sp>
            <p:nvSpPr>
              <p:cNvPr id="1395327" name="Rectangle 639"/>
              <p:cNvSpPr>
                <a:spLocks noChangeArrowheads="1"/>
              </p:cNvSpPr>
              <p:nvPr/>
            </p:nvSpPr>
            <p:spPr bwMode="auto">
              <a:xfrm>
                <a:off x="1598" y="3483"/>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28" name="Rectangle 640"/>
              <p:cNvSpPr>
                <a:spLocks noChangeArrowheads="1"/>
              </p:cNvSpPr>
              <p:nvPr/>
            </p:nvSpPr>
            <p:spPr bwMode="auto">
              <a:xfrm>
                <a:off x="1641" y="3483"/>
                <a:ext cx="468" cy="67"/>
              </a:xfrm>
              <a:prstGeom prst="rect">
                <a:avLst/>
              </a:prstGeom>
              <a:noFill/>
              <a:ln w="9525">
                <a:noFill/>
                <a:miter lim="800000"/>
                <a:headEnd/>
                <a:tailEnd/>
              </a:ln>
            </p:spPr>
            <p:txBody>
              <a:bodyPr wrap="none" lIns="0" tIns="0" rIns="0" bIns="0">
                <a:spAutoFit/>
              </a:bodyPr>
              <a:lstStyle/>
              <a:p>
                <a:r>
                  <a:rPr lang="en-US" sz="700">
                    <a:solidFill>
                      <a:schemeClr val="bg1"/>
                    </a:solidFill>
                  </a:rPr>
                  <a:t>Information &amp; Data</a:t>
                </a:r>
                <a:endParaRPr lang="en-US">
                  <a:solidFill>
                    <a:schemeClr val="bg1"/>
                  </a:solidFill>
                </a:endParaRPr>
              </a:p>
            </p:txBody>
          </p:sp>
          <p:sp>
            <p:nvSpPr>
              <p:cNvPr id="1395329" name="Rectangle 641"/>
              <p:cNvSpPr>
                <a:spLocks noChangeArrowheads="1"/>
              </p:cNvSpPr>
              <p:nvPr/>
            </p:nvSpPr>
            <p:spPr bwMode="auto">
              <a:xfrm>
                <a:off x="1598" y="3550"/>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30" name="Rectangle 642"/>
              <p:cNvSpPr>
                <a:spLocks noChangeArrowheads="1"/>
              </p:cNvSpPr>
              <p:nvPr/>
            </p:nvSpPr>
            <p:spPr bwMode="auto">
              <a:xfrm>
                <a:off x="1648" y="3550"/>
                <a:ext cx="568" cy="67"/>
              </a:xfrm>
              <a:prstGeom prst="rect">
                <a:avLst/>
              </a:prstGeom>
              <a:noFill/>
              <a:ln w="9525">
                <a:noFill/>
                <a:miter lim="800000"/>
                <a:headEnd/>
                <a:tailEnd/>
              </a:ln>
            </p:spPr>
            <p:txBody>
              <a:bodyPr wrap="none" lIns="0" tIns="0" rIns="0" bIns="0">
                <a:spAutoFit/>
              </a:bodyPr>
              <a:lstStyle/>
              <a:p>
                <a:r>
                  <a:rPr lang="en-US" sz="700">
                    <a:solidFill>
                      <a:schemeClr val="bg1"/>
                    </a:solidFill>
                  </a:rPr>
                  <a:t>Reliability &amp; Availability</a:t>
                </a:r>
                <a:endParaRPr lang="en-US">
                  <a:solidFill>
                    <a:schemeClr val="bg1"/>
                  </a:solidFill>
                </a:endParaRPr>
              </a:p>
            </p:txBody>
          </p:sp>
          <p:sp>
            <p:nvSpPr>
              <p:cNvPr id="1395331" name="Rectangle 643"/>
              <p:cNvSpPr>
                <a:spLocks noChangeArrowheads="1"/>
              </p:cNvSpPr>
              <p:nvPr/>
            </p:nvSpPr>
            <p:spPr bwMode="auto">
              <a:xfrm>
                <a:off x="1598" y="361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32" name="Rectangle 644"/>
              <p:cNvSpPr>
                <a:spLocks noChangeArrowheads="1"/>
              </p:cNvSpPr>
              <p:nvPr/>
            </p:nvSpPr>
            <p:spPr bwMode="auto">
              <a:xfrm>
                <a:off x="1641" y="3612"/>
                <a:ext cx="423" cy="67"/>
              </a:xfrm>
              <a:prstGeom prst="rect">
                <a:avLst/>
              </a:prstGeom>
              <a:noFill/>
              <a:ln w="9525">
                <a:noFill/>
                <a:miter lim="800000"/>
                <a:headEnd/>
                <a:tailEnd/>
              </a:ln>
            </p:spPr>
            <p:txBody>
              <a:bodyPr wrap="none" lIns="0" tIns="0" rIns="0" bIns="0">
                <a:spAutoFit/>
              </a:bodyPr>
              <a:lstStyle/>
              <a:p>
                <a:r>
                  <a:rPr lang="en-US" sz="700">
                    <a:solidFill>
                      <a:schemeClr val="bg1"/>
                    </a:solidFill>
                  </a:rPr>
                  <a:t>User Satisfaction</a:t>
                </a:r>
                <a:endParaRPr lang="en-US">
                  <a:solidFill>
                    <a:schemeClr val="bg1"/>
                  </a:solidFill>
                </a:endParaRPr>
              </a:p>
            </p:txBody>
          </p:sp>
          <p:sp>
            <p:nvSpPr>
              <p:cNvPr id="1395333" name="Rectangle 645"/>
              <p:cNvSpPr>
                <a:spLocks noChangeArrowheads="1"/>
              </p:cNvSpPr>
              <p:nvPr/>
            </p:nvSpPr>
            <p:spPr bwMode="auto">
              <a:xfrm>
                <a:off x="1533" y="3259"/>
                <a:ext cx="835" cy="482"/>
              </a:xfrm>
              <a:prstGeom prst="rect">
                <a:avLst/>
              </a:prstGeom>
              <a:solidFill>
                <a:schemeClr val="bg2"/>
              </a:solidFill>
              <a:ln w="9525">
                <a:noFill/>
                <a:miter lim="800000"/>
                <a:headEnd/>
                <a:tailEnd/>
              </a:ln>
            </p:spPr>
            <p:txBody>
              <a:bodyPr/>
              <a:lstStyle/>
              <a:p>
                <a:endParaRPr lang="en-US"/>
              </a:p>
            </p:txBody>
          </p:sp>
          <p:grpSp>
            <p:nvGrpSpPr>
              <p:cNvPr id="1395334" name="Group 646"/>
              <p:cNvGrpSpPr>
                <a:grpSpLocks/>
              </p:cNvGrpSpPr>
              <p:nvPr/>
            </p:nvGrpSpPr>
            <p:grpSpPr bwMode="auto">
              <a:xfrm>
                <a:off x="1518" y="3243"/>
                <a:ext cx="829" cy="477"/>
                <a:chOff x="1518" y="3213"/>
                <a:chExt cx="829" cy="477"/>
              </a:xfrm>
            </p:grpSpPr>
            <p:sp>
              <p:nvSpPr>
                <p:cNvPr id="1395335" name="Rectangle 647"/>
                <p:cNvSpPr>
                  <a:spLocks noChangeArrowheads="1"/>
                </p:cNvSpPr>
                <p:nvPr/>
              </p:nvSpPr>
              <p:spPr bwMode="auto">
                <a:xfrm>
                  <a:off x="1518" y="3213"/>
                  <a:ext cx="829" cy="477"/>
                </a:xfrm>
                <a:prstGeom prst="rect">
                  <a:avLst/>
                </a:prstGeom>
                <a:solidFill>
                  <a:srgbClr val="909DFC"/>
                </a:solidFill>
                <a:ln w="9525">
                  <a:solidFill>
                    <a:srgbClr val="000000"/>
                  </a:solidFill>
                  <a:miter lim="800000"/>
                  <a:headEnd/>
                  <a:tailEnd/>
                </a:ln>
              </p:spPr>
              <p:txBody>
                <a:bodyPr/>
                <a:lstStyle/>
                <a:p>
                  <a:endParaRPr lang="en-US"/>
                </a:p>
              </p:txBody>
            </p:sp>
            <p:sp>
              <p:nvSpPr>
                <p:cNvPr id="1395336" name="Rectangle 648"/>
                <p:cNvSpPr>
                  <a:spLocks noChangeArrowheads="1"/>
                </p:cNvSpPr>
                <p:nvPr/>
              </p:nvSpPr>
              <p:spPr bwMode="auto">
                <a:xfrm>
                  <a:off x="1737" y="3228"/>
                  <a:ext cx="448" cy="96"/>
                </a:xfrm>
                <a:prstGeom prst="rect">
                  <a:avLst/>
                </a:prstGeom>
                <a:solidFill>
                  <a:srgbClr val="909DFC"/>
                </a:solidFill>
                <a:ln w="9525">
                  <a:noFill/>
                  <a:miter lim="800000"/>
                  <a:headEnd/>
                  <a:tailEnd/>
                </a:ln>
              </p:spPr>
              <p:txBody>
                <a:bodyPr wrap="none" lIns="0" tIns="0" rIns="0" bIns="0">
                  <a:spAutoFit/>
                </a:bodyPr>
                <a:lstStyle/>
                <a:p>
                  <a:r>
                    <a:rPr lang="en-US" sz="1000" b="1">
                      <a:solidFill>
                        <a:schemeClr val="bg1"/>
                      </a:solidFill>
                    </a:rPr>
                    <a:t>Technology</a:t>
                  </a:r>
                  <a:endParaRPr lang="en-US">
                    <a:solidFill>
                      <a:schemeClr val="bg1"/>
                    </a:solidFill>
                  </a:endParaRPr>
                </a:p>
              </p:txBody>
            </p:sp>
            <p:sp>
              <p:nvSpPr>
                <p:cNvPr id="1395337" name="Rectangle 649"/>
                <p:cNvSpPr>
                  <a:spLocks noChangeArrowheads="1"/>
                </p:cNvSpPr>
                <p:nvPr/>
              </p:nvSpPr>
              <p:spPr bwMode="auto">
                <a:xfrm>
                  <a:off x="1568" y="3332"/>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38" name="Rectangle 650"/>
                <p:cNvSpPr>
                  <a:spLocks noChangeArrowheads="1"/>
                </p:cNvSpPr>
                <p:nvPr/>
              </p:nvSpPr>
              <p:spPr bwMode="auto">
                <a:xfrm>
                  <a:off x="1629" y="3332"/>
                  <a:ext cx="243"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5339" name="Rectangle 651"/>
                <p:cNvSpPr>
                  <a:spLocks noChangeArrowheads="1"/>
                </p:cNvSpPr>
                <p:nvPr/>
              </p:nvSpPr>
              <p:spPr bwMode="auto">
                <a:xfrm>
                  <a:off x="1568" y="3400"/>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40" name="Rectangle 652"/>
                <p:cNvSpPr>
                  <a:spLocks noChangeArrowheads="1"/>
                </p:cNvSpPr>
                <p:nvPr/>
              </p:nvSpPr>
              <p:spPr bwMode="auto">
                <a:xfrm>
                  <a:off x="1629" y="3400"/>
                  <a:ext cx="528"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Quality &amp; Efficiency</a:t>
                  </a:r>
                  <a:endParaRPr lang="en-US" b="1">
                    <a:solidFill>
                      <a:schemeClr val="bg1"/>
                    </a:solidFill>
                  </a:endParaRPr>
                </a:p>
              </p:txBody>
            </p:sp>
            <p:sp>
              <p:nvSpPr>
                <p:cNvPr id="1395341" name="Rectangle 653"/>
                <p:cNvSpPr>
                  <a:spLocks noChangeArrowheads="1"/>
                </p:cNvSpPr>
                <p:nvPr/>
              </p:nvSpPr>
              <p:spPr bwMode="auto">
                <a:xfrm>
                  <a:off x="1568" y="3467"/>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42" name="Rectangle 654"/>
                <p:cNvSpPr>
                  <a:spLocks noChangeArrowheads="1"/>
                </p:cNvSpPr>
                <p:nvPr/>
              </p:nvSpPr>
              <p:spPr bwMode="auto">
                <a:xfrm>
                  <a:off x="1629" y="3467"/>
                  <a:ext cx="502"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Information &amp; Data</a:t>
                  </a:r>
                  <a:endParaRPr lang="en-US" b="1">
                    <a:solidFill>
                      <a:schemeClr val="bg1"/>
                    </a:solidFill>
                  </a:endParaRPr>
                </a:p>
              </p:txBody>
            </p:sp>
            <p:sp>
              <p:nvSpPr>
                <p:cNvPr id="1395343" name="Rectangle 655"/>
                <p:cNvSpPr>
                  <a:spLocks noChangeArrowheads="1"/>
                </p:cNvSpPr>
                <p:nvPr/>
              </p:nvSpPr>
              <p:spPr bwMode="auto">
                <a:xfrm>
                  <a:off x="1568" y="3534"/>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44" name="Rectangle 656"/>
                <p:cNvSpPr>
                  <a:spLocks noChangeArrowheads="1"/>
                </p:cNvSpPr>
                <p:nvPr/>
              </p:nvSpPr>
              <p:spPr bwMode="auto">
                <a:xfrm>
                  <a:off x="1629" y="3534"/>
                  <a:ext cx="635"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Reliability &amp; Availability</a:t>
                  </a:r>
                  <a:endParaRPr lang="en-US" b="1">
                    <a:solidFill>
                      <a:schemeClr val="bg1"/>
                    </a:solidFill>
                  </a:endParaRPr>
                </a:p>
              </p:txBody>
            </p:sp>
            <p:sp>
              <p:nvSpPr>
                <p:cNvPr id="1395345" name="Rectangle 657"/>
                <p:cNvSpPr>
                  <a:spLocks noChangeArrowheads="1"/>
                </p:cNvSpPr>
                <p:nvPr/>
              </p:nvSpPr>
              <p:spPr bwMode="auto">
                <a:xfrm>
                  <a:off x="1568" y="3597"/>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46" name="Rectangle 658"/>
                <p:cNvSpPr>
                  <a:spLocks noChangeArrowheads="1"/>
                </p:cNvSpPr>
                <p:nvPr/>
              </p:nvSpPr>
              <p:spPr bwMode="auto">
                <a:xfrm>
                  <a:off x="1629" y="3597"/>
                  <a:ext cx="458"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User Satisfaction</a:t>
                  </a:r>
                  <a:endParaRPr lang="en-US" b="1">
                    <a:solidFill>
                      <a:schemeClr val="bg1"/>
                    </a:solidFill>
                  </a:endParaRPr>
                </a:p>
              </p:txBody>
            </p:sp>
          </p:grpSp>
          <p:sp>
            <p:nvSpPr>
              <p:cNvPr id="1395347" name="Rectangle 659"/>
              <p:cNvSpPr>
                <a:spLocks noChangeArrowheads="1"/>
              </p:cNvSpPr>
              <p:nvPr/>
            </p:nvSpPr>
            <p:spPr bwMode="auto">
              <a:xfrm>
                <a:off x="2635" y="3244"/>
                <a:ext cx="465" cy="96"/>
              </a:xfrm>
              <a:prstGeom prst="rect">
                <a:avLst/>
              </a:prstGeom>
              <a:noFill/>
              <a:ln w="9525">
                <a:noFill/>
                <a:miter lim="800000"/>
                <a:headEnd/>
                <a:tailEnd/>
              </a:ln>
            </p:spPr>
            <p:txBody>
              <a:bodyPr wrap="none" lIns="0" tIns="0" rIns="0" bIns="0">
                <a:spAutoFit/>
              </a:bodyPr>
              <a:lstStyle/>
              <a:p>
                <a:r>
                  <a:rPr lang="en-US" sz="1000" b="1">
                    <a:solidFill>
                      <a:schemeClr val="bg1"/>
                    </a:solidFill>
                  </a:rPr>
                  <a:t>Other Fixed </a:t>
                </a:r>
                <a:endParaRPr lang="en-US">
                  <a:solidFill>
                    <a:schemeClr val="bg1"/>
                  </a:solidFill>
                </a:endParaRPr>
              </a:p>
            </p:txBody>
          </p:sp>
          <p:sp>
            <p:nvSpPr>
              <p:cNvPr id="1395348" name="Rectangle 660"/>
              <p:cNvSpPr>
                <a:spLocks noChangeArrowheads="1"/>
              </p:cNvSpPr>
              <p:nvPr/>
            </p:nvSpPr>
            <p:spPr bwMode="auto">
              <a:xfrm>
                <a:off x="2717" y="3322"/>
                <a:ext cx="261" cy="96"/>
              </a:xfrm>
              <a:prstGeom prst="rect">
                <a:avLst/>
              </a:prstGeom>
              <a:noFill/>
              <a:ln w="9525">
                <a:noFill/>
                <a:miter lim="800000"/>
                <a:headEnd/>
                <a:tailEnd/>
              </a:ln>
            </p:spPr>
            <p:txBody>
              <a:bodyPr wrap="none" lIns="0" tIns="0" rIns="0" bIns="0">
                <a:spAutoFit/>
              </a:bodyPr>
              <a:lstStyle/>
              <a:p>
                <a:r>
                  <a:rPr lang="en-US" sz="1000" b="1">
                    <a:solidFill>
                      <a:schemeClr val="bg1"/>
                    </a:solidFill>
                  </a:rPr>
                  <a:t>Assets</a:t>
                </a:r>
                <a:endParaRPr lang="en-US">
                  <a:solidFill>
                    <a:schemeClr val="bg1"/>
                  </a:solidFill>
                </a:endParaRPr>
              </a:p>
            </p:txBody>
          </p:sp>
          <p:sp>
            <p:nvSpPr>
              <p:cNvPr id="1395349" name="Rectangle 661"/>
              <p:cNvSpPr>
                <a:spLocks noChangeArrowheads="1"/>
              </p:cNvSpPr>
              <p:nvPr/>
            </p:nvSpPr>
            <p:spPr bwMode="auto">
              <a:xfrm>
                <a:off x="2469" y="3426"/>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50" name="Rectangle 662"/>
              <p:cNvSpPr>
                <a:spLocks noChangeArrowheads="1"/>
              </p:cNvSpPr>
              <p:nvPr/>
            </p:nvSpPr>
            <p:spPr bwMode="auto">
              <a:xfrm>
                <a:off x="2502" y="3426"/>
                <a:ext cx="222" cy="67"/>
              </a:xfrm>
              <a:prstGeom prst="rect">
                <a:avLst/>
              </a:prstGeom>
              <a:noFill/>
              <a:ln w="9525">
                <a:noFill/>
                <a:miter lim="800000"/>
                <a:headEnd/>
                <a:tailEnd/>
              </a:ln>
            </p:spPr>
            <p:txBody>
              <a:bodyPr wrap="none" lIns="0" tIns="0" rIns="0" bIns="0">
                <a:spAutoFit/>
              </a:bodyPr>
              <a:lstStyle/>
              <a:p>
                <a:r>
                  <a:rPr lang="en-US" sz="700">
                    <a:solidFill>
                      <a:schemeClr val="bg1"/>
                    </a:solidFill>
                  </a:rPr>
                  <a:t>Financial</a:t>
                </a:r>
                <a:endParaRPr lang="en-US">
                  <a:solidFill>
                    <a:schemeClr val="bg1"/>
                  </a:solidFill>
                </a:endParaRPr>
              </a:p>
            </p:txBody>
          </p:sp>
          <p:sp>
            <p:nvSpPr>
              <p:cNvPr id="1395351" name="Rectangle 663"/>
              <p:cNvSpPr>
                <a:spLocks noChangeArrowheads="1"/>
              </p:cNvSpPr>
              <p:nvPr/>
            </p:nvSpPr>
            <p:spPr bwMode="auto">
              <a:xfrm>
                <a:off x="2469" y="3493"/>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52" name="Rectangle 664"/>
              <p:cNvSpPr>
                <a:spLocks noChangeArrowheads="1"/>
              </p:cNvSpPr>
              <p:nvPr/>
            </p:nvSpPr>
            <p:spPr bwMode="auto">
              <a:xfrm>
                <a:off x="2518" y="3493"/>
                <a:ext cx="611" cy="67"/>
              </a:xfrm>
              <a:prstGeom prst="rect">
                <a:avLst/>
              </a:prstGeom>
              <a:noFill/>
              <a:ln w="9525">
                <a:noFill/>
                <a:miter lim="800000"/>
                <a:headEnd/>
                <a:tailEnd/>
              </a:ln>
            </p:spPr>
            <p:txBody>
              <a:bodyPr wrap="none" lIns="0" tIns="0" rIns="0" bIns="0">
                <a:spAutoFit/>
              </a:bodyPr>
              <a:lstStyle/>
              <a:p>
                <a:r>
                  <a:rPr lang="en-US" sz="700">
                    <a:solidFill>
                      <a:schemeClr val="bg1"/>
                    </a:solidFill>
                  </a:rPr>
                  <a:t>Quality, Maintenance, &amp; </a:t>
                </a:r>
                <a:endParaRPr lang="en-US">
                  <a:solidFill>
                    <a:schemeClr val="bg1"/>
                  </a:solidFill>
                </a:endParaRPr>
              </a:p>
            </p:txBody>
          </p:sp>
          <p:sp>
            <p:nvSpPr>
              <p:cNvPr id="1395353" name="Rectangle 665"/>
              <p:cNvSpPr>
                <a:spLocks noChangeArrowheads="1"/>
              </p:cNvSpPr>
              <p:nvPr/>
            </p:nvSpPr>
            <p:spPr bwMode="auto">
              <a:xfrm>
                <a:off x="2482" y="3545"/>
                <a:ext cx="239" cy="67"/>
              </a:xfrm>
              <a:prstGeom prst="rect">
                <a:avLst/>
              </a:prstGeom>
              <a:noFill/>
              <a:ln w="9525">
                <a:noFill/>
                <a:miter lim="800000"/>
                <a:headEnd/>
                <a:tailEnd/>
              </a:ln>
            </p:spPr>
            <p:txBody>
              <a:bodyPr wrap="none" lIns="0" tIns="0" rIns="0" bIns="0">
                <a:spAutoFit/>
              </a:bodyPr>
              <a:lstStyle/>
              <a:p>
                <a:r>
                  <a:rPr lang="en-US" sz="700">
                    <a:solidFill>
                      <a:schemeClr val="bg1"/>
                    </a:solidFill>
                  </a:rPr>
                  <a:t>Efficiency</a:t>
                </a:r>
                <a:endParaRPr lang="en-US">
                  <a:solidFill>
                    <a:schemeClr val="bg1"/>
                  </a:solidFill>
                </a:endParaRPr>
              </a:p>
            </p:txBody>
          </p:sp>
          <p:sp>
            <p:nvSpPr>
              <p:cNvPr id="1395354" name="Rectangle 666"/>
              <p:cNvSpPr>
                <a:spLocks noChangeArrowheads="1"/>
              </p:cNvSpPr>
              <p:nvPr/>
            </p:nvSpPr>
            <p:spPr bwMode="auto">
              <a:xfrm>
                <a:off x="2469" y="3612"/>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55" name="Rectangle 667"/>
              <p:cNvSpPr>
                <a:spLocks noChangeArrowheads="1"/>
              </p:cNvSpPr>
              <p:nvPr/>
            </p:nvSpPr>
            <p:spPr bwMode="auto">
              <a:xfrm>
                <a:off x="2507" y="3612"/>
                <a:ext cx="430" cy="67"/>
              </a:xfrm>
              <a:prstGeom prst="rect">
                <a:avLst/>
              </a:prstGeom>
              <a:noFill/>
              <a:ln w="9525">
                <a:noFill/>
                <a:miter lim="800000"/>
                <a:headEnd/>
                <a:tailEnd/>
              </a:ln>
            </p:spPr>
            <p:txBody>
              <a:bodyPr wrap="none" lIns="0" tIns="0" rIns="0" bIns="0">
                <a:spAutoFit/>
              </a:bodyPr>
              <a:lstStyle/>
              <a:p>
                <a:r>
                  <a:rPr lang="en-US" sz="700">
                    <a:solidFill>
                      <a:schemeClr val="bg1"/>
                    </a:solidFill>
                  </a:rPr>
                  <a:t>Security &amp; Safety</a:t>
                </a:r>
                <a:endParaRPr lang="en-US">
                  <a:solidFill>
                    <a:schemeClr val="bg1"/>
                  </a:solidFill>
                </a:endParaRPr>
              </a:p>
            </p:txBody>
          </p:sp>
          <p:sp>
            <p:nvSpPr>
              <p:cNvPr id="1395356" name="Rectangle 668"/>
              <p:cNvSpPr>
                <a:spLocks noChangeArrowheads="1"/>
              </p:cNvSpPr>
              <p:nvPr/>
            </p:nvSpPr>
            <p:spPr bwMode="auto">
              <a:xfrm>
                <a:off x="2469" y="3680"/>
                <a:ext cx="20" cy="67"/>
              </a:xfrm>
              <a:prstGeom prst="rect">
                <a:avLst/>
              </a:prstGeom>
              <a:noFill/>
              <a:ln w="9525">
                <a:noFill/>
                <a:miter lim="800000"/>
                <a:headEnd/>
                <a:tailEnd/>
              </a:ln>
            </p:spPr>
            <p:txBody>
              <a:bodyPr wrap="none" lIns="0" tIns="0" rIns="0" bIns="0">
                <a:spAutoFit/>
              </a:bodyPr>
              <a:lstStyle/>
              <a:p>
                <a:r>
                  <a:rPr lang="en-US" sz="700">
                    <a:solidFill>
                      <a:srgbClr val="808080"/>
                    </a:solidFill>
                  </a:rPr>
                  <a:t>•</a:t>
                </a:r>
                <a:endParaRPr lang="en-US"/>
              </a:p>
            </p:txBody>
          </p:sp>
          <p:sp>
            <p:nvSpPr>
              <p:cNvPr id="1395357" name="Rectangle 669"/>
              <p:cNvSpPr>
                <a:spLocks noChangeArrowheads="1"/>
              </p:cNvSpPr>
              <p:nvPr/>
            </p:nvSpPr>
            <p:spPr bwMode="auto">
              <a:xfrm>
                <a:off x="2503" y="3680"/>
                <a:ext cx="241" cy="67"/>
              </a:xfrm>
              <a:prstGeom prst="rect">
                <a:avLst/>
              </a:prstGeom>
              <a:noFill/>
              <a:ln w="9525">
                <a:noFill/>
                <a:miter lim="800000"/>
                <a:headEnd/>
                <a:tailEnd/>
              </a:ln>
            </p:spPr>
            <p:txBody>
              <a:bodyPr wrap="none" lIns="0" tIns="0" rIns="0" bIns="0">
                <a:spAutoFit/>
              </a:bodyPr>
              <a:lstStyle/>
              <a:p>
                <a:r>
                  <a:rPr lang="en-US" sz="700">
                    <a:solidFill>
                      <a:srgbClr val="808080"/>
                    </a:solidFill>
                  </a:rPr>
                  <a:t>Utilization</a:t>
                </a:r>
                <a:endParaRPr lang="en-US"/>
              </a:p>
            </p:txBody>
          </p:sp>
          <p:sp>
            <p:nvSpPr>
              <p:cNvPr id="1395358" name="Rectangle 670"/>
              <p:cNvSpPr>
                <a:spLocks noChangeArrowheads="1"/>
              </p:cNvSpPr>
              <p:nvPr/>
            </p:nvSpPr>
            <p:spPr bwMode="auto">
              <a:xfrm>
                <a:off x="2404" y="3229"/>
                <a:ext cx="834" cy="544"/>
              </a:xfrm>
              <a:prstGeom prst="rect">
                <a:avLst/>
              </a:prstGeom>
              <a:solidFill>
                <a:srgbClr val="808080"/>
              </a:solidFill>
              <a:ln w="9525">
                <a:noFill/>
                <a:miter lim="800000"/>
                <a:headEnd/>
                <a:tailEnd/>
              </a:ln>
            </p:spPr>
            <p:txBody>
              <a:bodyPr/>
              <a:lstStyle/>
              <a:p>
                <a:endParaRPr lang="en-US"/>
              </a:p>
            </p:txBody>
          </p:sp>
          <p:sp>
            <p:nvSpPr>
              <p:cNvPr id="1395359" name="Rectangle 671"/>
              <p:cNvSpPr>
                <a:spLocks noChangeArrowheads="1"/>
              </p:cNvSpPr>
              <p:nvPr/>
            </p:nvSpPr>
            <p:spPr bwMode="auto">
              <a:xfrm>
                <a:off x="2388" y="3213"/>
                <a:ext cx="829" cy="539"/>
              </a:xfrm>
              <a:prstGeom prst="rect">
                <a:avLst/>
              </a:prstGeom>
              <a:solidFill>
                <a:srgbClr val="909DFC"/>
              </a:solidFill>
              <a:ln w="9525">
                <a:solidFill>
                  <a:srgbClr val="000000"/>
                </a:solidFill>
                <a:miter lim="800000"/>
                <a:headEnd/>
                <a:tailEnd/>
              </a:ln>
            </p:spPr>
            <p:txBody>
              <a:bodyPr/>
              <a:lstStyle/>
              <a:p>
                <a:endParaRPr lang="en-US"/>
              </a:p>
            </p:txBody>
          </p:sp>
          <p:sp>
            <p:nvSpPr>
              <p:cNvPr id="1395360" name="Rectangle 672"/>
              <p:cNvSpPr>
                <a:spLocks noChangeArrowheads="1"/>
              </p:cNvSpPr>
              <p:nvPr/>
            </p:nvSpPr>
            <p:spPr bwMode="auto">
              <a:xfrm>
                <a:off x="2620" y="3228"/>
                <a:ext cx="465" cy="96"/>
              </a:xfrm>
              <a:prstGeom prst="rect">
                <a:avLst/>
              </a:prstGeom>
              <a:noFill/>
              <a:ln w="9525">
                <a:noFill/>
                <a:miter lim="800000"/>
                <a:headEnd/>
                <a:tailEnd/>
              </a:ln>
            </p:spPr>
            <p:txBody>
              <a:bodyPr wrap="none" lIns="0" tIns="0" rIns="0" bIns="0">
                <a:spAutoFit/>
              </a:bodyPr>
              <a:lstStyle/>
              <a:p>
                <a:r>
                  <a:rPr lang="en-US" sz="1000" b="1">
                    <a:solidFill>
                      <a:schemeClr val="bg1"/>
                    </a:solidFill>
                  </a:rPr>
                  <a:t>Other Fixed </a:t>
                </a:r>
                <a:endParaRPr lang="en-US">
                  <a:solidFill>
                    <a:schemeClr val="bg1"/>
                  </a:solidFill>
                </a:endParaRPr>
              </a:p>
            </p:txBody>
          </p:sp>
          <p:sp>
            <p:nvSpPr>
              <p:cNvPr id="1395361" name="Rectangle 673"/>
              <p:cNvSpPr>
                <a:spLocks noChangeArrowheads="1"/>
              </p:cNvSpPr>
              <p:nvPr/>
            </p:nvSpPr>
            <p:spPr bwMode="auto">
              <a:xfrm>
                <a:off x="2701" y="3306"/>
                <a:ext cx="261" cy="96"/>
              </a:xfrm>
              <a:prstGeom prst="rect">
                <a:avLst/>
              </a:prstGeom>
              <a:noFill/>
              <a:ln w="9525">
                <a:noFill/>
                <a:miter lim="800000"/>
                <a:headEnd/>
                <a:tailEnd/>
              </a:ln>
            </p:spPr>
            <p:txBody>
              <a:bodyPr wrap="none" lIns="0" tIns="0" rIns="0" bIns="0">
                <a:spAutoFit/>
              </a:bodyPr>
              <a:lstStyle/>
              <a:p>
                <a:r>
                  <a:rPr lang="en-US" sz="1000" b="1">
                    <a:solidFill>
                      <a:schemeClr val="bg1"/>
                    </a:solidFill>
                  </a:rPr>
                  <a:t>Assets</a:t>
                </a:r>
                <a:endParaRPr lang="en-US">
                  <a:solidFill>
                    <a:schemeClr val="bg1"/>
                  </a:solidFill>
                </a:endParaRPr>
              </a:p>
            </p:txBody>
          </p:sp>
          <p:sp>
            <p:nvSpPr>
              <p:cNvPr id="1395362" name="Rectangle 674"/>
              <p:cNvSpPr>
                <a:spLocks noChangeArrowheads="1"/>
              </p:cNvSpPr>
              <p:nvPr/>
            </p:nvSpPr>
            <p:spPr bwMode="auto">
              <a:xfrm>
                <a:off x="2431" y="3410"/>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63" name="Rectangle 675"/>
              <p:cNvSpPr>
                <a:spLocks noChangeArrowheads="1"/>
              </p:cNvSpPr>
              <p:nvPr/>
            </p:nvSpPr>
            <p:spPr bwMode="auto">
              <a:xfrm>
                <a:off x="2496" y="3410"/>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sp>
            <p:nvSpPr>
              <p:cNvPr id="1395364" name="Rectangle 676"/>
              <p:cNvSpPr>
                <a:spLocks noChangeArrowheads="1"/>
              </p:cNvSpPr>
              <p:nvPr/>
            </p:nvSpPr>
            <p:spPr bwMode="auto">
              <a:xfrm>
                <a:off x="2431" y="3477"/>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65" name="Rectangle 677"/>
              <p:cNvSpPr>
                <a:spLocks noChangeArrowheads="1"/>
              </p:cNvSpPr>
              <p:nvPr/>
            </p:nvSpPr>
            <p:spPr bwMode="auto">
              <a:xfrm>
                <a:off x="2496" y="3477"/>
                <a:ext cx="650" cy="67"/>
              </a:xfrm>
              <a:prstGeom prst="rect">
                <a:avLst/>
              </a:prstGeom>
              <a:noFill/>
              <a:ln w="9525">
                <a:noFill/>
                <a:miter lim="800000"/>
                <a:headEnd/>
                <a:tailEnd/>
              </a:ln>
            </p:spPr>
            <p:txBody>
              <a:bodyPr wrap="none" lIns="0" tIns="0" rIns="0" bIns="0">
                <a:spAutoFit/>
              </a:bodyPr>
              <a:lstStyle/>
              <a:p>
                <a:r>
                  <a:rPr lang="en-US" sz="700" b="1">
                    <a:solidFill>
                      <a:schemeClr val="bg1"/>
                    </a:solidFill>
                  </a:rPr>
                  <a:t>Quality, Maintenance, &amp; </a:t>
                </a:r>
                <a:endParaRPr lang="en-US" b="1">
                  <a:solidFill>
                    <a:schemeClr val="bg1"/>
                  </a:solidFill>
                </a:endParaRPr>
              </a:p>
            </p:txBody>
          </p:sp>
          <p:sp>
            <p:nvSpPr>
              <p:cNvPr id="1395366" name="Rectangle 678"/>
              <p:cNvSpPr>
                <a:spLocks noChangeArrowheads="1"/>
              </p:cNvSpPr>
              <p:nvPr/>
            </p:nvSpPr>
            <p:spPr bwMode="auto">
              <a:xfrm>
                <a:off x="2496" y="3537"/>
                <a:ext cx="265" cy="67"/>
              </a:xfrm>
              <a:prstGeom prst="rect">
                <a:avLst/>
              </a:prstGeom>
              <a:noFill/>
              <a:ln w="9525">
                <a:noFill/>
                <a:miter lim="800000"/>
                <a:headEnd/>
                <a:tailEnd/>
              </a:ln>
            </p:spPr>
            <p:txBody>
              <a:bodyPr wrap="none" lIns="0" tIns="0" rIns="0" bIns="0">
                <a:spAutoFit/>
              </a:bodyPr>
              <a:lstStyle/>
              <a:p>
                <a:r>
                  <a:rPr lang="en-US" sz="700" b="1">
                    <a:solidFill>
                      <a:schemeClr val="bg1"/>
                    </a:solidFill>
                  </a:rPr>
                  <a:t>Efficiency</a:t>
                </a:r>
                <a:endParaRPr lang="en-US" b="1">
                  <a:solidFill>
                    <a:schemeClr val="bg1"/>
                  </a:solidFill>
                </a:endParaRPr>
              </a:p>
            </p:txBody>
          </p:sp>
          <p:sp>
            <p:nvSpPr>
              <p:cNvPr id="1395367" name="Rectangle 679"/>
              <p:cNvSpPr>
                <a:spLocks noChangeArrowheads="1"/>
              </p:cNvSpPr>
              <p:nvPr/>
            </p:nvSpPr>
            <p:spPr bwMode="auto">
              <a:xfrm>
                <a:off x="2431" y="3597"/>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68" name="Rectangle 680"/>
              <p:cNvSpPr>
                <a:spLocks noChangeArrowheads="1"/>
              </p:cNvSpPr>
              <p:nvPr/>
            </p:nvSpPr>
            <p:spPr bwMode="auto">
              <a:xfrm>
                <a:off x="2496" y="3597"/>
                <a:ext cx="461" cy="67"/>
              </a:xfrm>
              <a:prstGeom prst="rect">
                <a:avLst/>
              </a:prstGeom>
              <a:noFill/>
              <a:ln w="9525">
                <a:noFill/>
                <a:miter lim="800000"/>
                <a:headEnd/>
                <a:tailEnd/>
              </a:ln>
            </p:spPr>
            <p:txBody>
              <a:bodyPr wrap="none" lIns="0" tIns="0" rIns="0" bIns="0">
                <a:spAutoFit/>
              </a:bodyPr>
              <a:lstStyle/>
              <a:p>
                <a:r>
                  <a:rPr lang="en-US" sz="700" b="1">
                    <a:solidFill>
                      <a:schemeClr val="bg1"/>
                    </a:solidFill>
                  </a:rPr>
                  <a:t>Security &amp; Safety</a:t>
                </a:r>
                <a:endParaRPr lang="en-US" b="1">
                  <a:solidFill>
                    <a:schemeClr val="bg1"/>
                  </a:solidFill>
                </a:endParaRPr>
              </a:p>
            </p:txBody>
          </p:sp>
          <p:sp>
            <p:nvSpPr>
              <p:cNvPr id="1395369" name="Rectangle 681"/>
              <p:cNvSpPr>
                <a:spLocks noChangeArrowheads="1"/>
              </p:cNvSpPr>
              <p:nvPr/>
            </p:nvSpPr>
            <p:spPr bwMode="auto">
              <a:xfrm>
                <a:off x="2431" y="3664"/>
                <a:ext cx="20" cy="67"/>
              </a:xfrm>
              <a:prstGeom prst="rect">
                <a:avLst/>
              </a:prstGeom>
              <a:no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70" name="Rectangle 682"/>
              <p:cNvSpPr>
                <a:spLocks noChangeArrowheads="1"/>
              </p:cNvSpPr>
              <p:nvPr/>
            </p:nvSpPr>
            <p:spPr bwMode="auto">
              <a:xfrm>
                <a:off x="2496" y="3664"/>
                <a:ext cx="269" cy="67"/>
              </a:xfrm>
              <a:prstGeom prst="rect">
                <a:avLst/>
              </a:prstGeom>
              <a:noFill/>
              <a:ln w="9525">
                <a:noFill/>
                <a:miter lim="800000"/>
                <a:headEnd/>
                <a:tailEnd/>
              </a:ln>
            </p:spPr>
            <p:txBody>
              <a:bodyPr wrap="none" lIns="0" tIns="0" rIns="0" bIns="0">
                <a:spAutoFit/>
              </a:bodyPr>
              <a:lstStyle/>
              <a:p>
                <a:r>
                  <a:rPr lang="en-US" sz="700" b="1">
                    <a:solidFill>
                      <a:schemeClr val="bg1"/>
                    </a:solidFill>
                  </a:rPr>
                  <a:t>Utilization</a:t>
                </a:r>
                <a:endParaRPr lang="en-US" b="1">
                  <a:solidFill>
                    <a:schemeClr val="bg1"/>
                  </a:solidFill>
                </a:endParaRPr>
              </a:p>
            </p:txBody>
          </p:sp>
          <p:grpSp>
            <p:nvGrpSpPr>
              <p:cNvPr id="1395371" name="Group 683"/>
              <p:cNvGrpSpPr>
                <a:grpSpLocks/>
              </p:cNvGrpSpPr>
              <p:nvPr/>
            </p:nvGrpSpPr>
            <p:grpSpPr bwMode="auto">
              <a:xfrm>
                <a:off x="647" y="3249"/>
                <a:ext cx="829" cy="462"/>
                <a:chOff x="647" y="3249"/>
                <a:chExt cx="829" cy="462"/>
              </a:xfrm>
            </p:grpSpPr>
            <p:sp>
              <p:nvSpPr>
                <p:cNvPr id="1395372" name="Rectangle 684"/>
                <p:cNvSpPr>
                  <a:spLocks noChangeArrowheads="1"/>
                </p:cNvSpPr>
                <p:nvPr/>
              </p:nvSpPr>
              <p:spPr bwMode="auto">
                <a:xfrm>
                  <a:off x="972" y="3280"/>
                  <a:ext cx="261" cy="96"/>
                </a:xfrm>
                <a:prstGeom prst="rect">
                  <a:avLst/>
                </a:prstGeom>
                <a:solidFill>
                  <a:srgbClr val="909DFC"/>
                </a:solidFill>
                <a:ln w="9525">
                  <a:noFill/>
                  <a:miter lim="800000"/>
                  <a:headEnd/>
                  <a:tailEnd/>
                </a:ln>
              </p:spPr>
              <p:txBody>
                <a:bodyPr wrap="none" lIns="0" tIns="0" rIns="0" bIns="0">
                  <a:spAutoFit/>
                </a:bodyPr>
                <a:lstStyle/>
                <a:p>
                  <a:r>
                    <a:rPr lang="en-US" sz="1000" b="1">
                      <a:solidFill>
                        <a:schemeClr val="bg1"/>
                      </a:solidFill>
                    </a:rPr>
                    <a:t>People</a:t>
                  </a:r>
                  <a:endParaRPr lang="en-US">
                    <a:solidFill>
                      <a:schemeClr val="bg1"/>
                    </a:solidFill>
                  </a:endParaRPr>
                </a:p>
              </p:txBody>
            </p:sp>
            <p:sp>
              <p:nvSpPr>
                <p:cNvPr id="1395373" name="Rectangle 685"/>
                <p:cNvSpPr>
                  <a:spLocks noChangeArrowheads="1"/>
                </p:cNvSpPr>
                <p:nvPr/>
              </p:nvSpPr>
              <p:spPr bwMode="auto">
                <a:xfrm>
                  <a:off x="727" y="3379"/>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74" name="Rectangle 686"/>
                <p:cNvSpPr>
                  <a:spLocks noChangeArrowheads="1"/>
                </p:cNvSpPr>
                <p:nvPr/>
              </p:nvSpPr>
              <p:spPr bwMode="auto">
                <a:xfrm>
                  <a:off x="779" y="3379"/>
                  <a:ext cx="622"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Employee Satisfaction &amp; </a:t>
                  </a:r>
                  <a:endParaRPr lang="en-US">
                    <a:solidFill>
                      <a:schemeClr val="bg1"/>
                    </a:solidFill>
                  </a:endParaRPr>
                </a:p>
              </p:txBody>
            </p:sp>
            <p:sp>
              <p:nvSpPr>
                <p:cNvPr id="1395375" name="Rectangle 687"/>
                <p:cNvSpPr>
                  <a:spLocks noChangeArrowheads="1"/>
                </p:cNvSpPr>
                <p:nvPr/>
              </p:nvSpPr>
              <p:spPr bwMode="auto">
                <a:xfrm>
                  <a:off x="751" y="3436"/>
                  <a:ext cx="455"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Quality of Worklife</a:t>
                  </a:r>
                  <a:endParaRPr lang="en-US">
                    <a:solidFill>
                      <a:schemeClr val="bg1"/>
                    </a:solidFill>
                  </a:endParaRPr>
                </a:p>
              </p:txBody>
            </p:sp>
            <p:sp>
              <p:nvSpPr>
                <p:cNvPr id="1395376" name="Rectangle 688"/>
                <p:cNvSpPr>
                  <a:spLocks noChangeArrowheads="1"/>
                </p:cNvSpPr>
                <p:nvPr/>
              </p:nvSpPr>
              <p:spPr bwMode="auto">
                <a:xfrm>
                  <a:off x="727" y="3503"/>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77" name="Rectangle 689"/>
                <p:cNvSpPr>
                  <a:spLocks noChangeArrowheads="1"/>
                </p:cNvSpPr>
                <p:nvPr/>
              </p:nvSpPr>
              <p:spPr bwMode="auto">
                <a:xfrm>
                  <a:off x="777" y="3503"/>
                  <a:ext cx="61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Recruitment &amp; Retention</a:t>
                  </a:r>
                  <a:endParaRPr lang="en-US">
                    <a:solidFill>
                      <a:schemeClr val="bg1"/>
                    </a:solidFill>
                  </a:endParaRPr>
                </a:p>
              </p:txBody>
            </p:sp>
            <p:sp>
              <p:nvSpPr>
                <p:cNvPr id="1395378" name="Rectangle 690"/>
                <p:cNvSpPr>
                  <a:spLocks noChangeArrowheads="1"/>
                </p:cNvSpPr>
                <p:nvPr/>
              </p:nvSpPr>
              <p:spPr bwMode="auto">
                <a:xfrm>
                  <a:off x="727" y="3571"/>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79" name="Rectangle 691"/>
                <p:cNvSpPr>
                  <a:spLocks noChangeArrowheads="1"/>
                </p:cNvSpPr>
                <p:nvPr/>
              </p:nvSpPr>
              <p:spPr bwMode="auto">
                <a:xfrm>
                  <a:off x="778" y="3571"/>
                  <a:ext cx="593"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Employee Development</a:t>
                  </a:r>
                  <a:endParaRPr lang="en-US">
                    <a:solidFill>
                      <a:schemeClr val="bg1"/>
                    </a:solidFill>
                  </a:endParaRPr>
                </a:p>
              </p:txBody>
            </p:sp>
            <p:sp>
              <p:nvSpPr>
                <p:cNvPr id="1395380" name="Rectangle 692"/>
                <p:cNvSpPr>
                  <a:spLocks noChangeArrowheads="1"/>
                </p:cNvSpPr>
                <p:nvPr/>
              </p:nvSpPr>
              <p:spPr bwMode="auto">
                <a:xfrm>
                  <a:off x="647" y="3249"/>
                  <a:ext cx="829" cy="462"/>
                </a:xfrm>
                <a:prstGeom prst="rect">
                  <a:avLst/>
                </a:prstGeom>
                <a:solidFill>
                  <a:srgbClr val="909DFC"/>
                </a:solidFill>
                <a:ln w="9525">
                  <a:solidFill>
                    <a:srgbClr val="000000"/>
                  </a:solidFill>
                  <a:miter lim="800000"/>
                  <a:headEnd/>
                  <a:tailEnd/>
                </a:ln>
              </p:spPr>
              <p:txBody>
                <a:bodyPr/>
                <a:lstStyle/>
                <a:p>
                  <a:endParaRPr lang="en-US"/>
                </a:p>
              </p:txBody>
            </p:sp>
            <p:sp>
              <p:nvSpPr>
                <p:cNvPr id="1395381" name="Rectangle 693"/>
                <p:cNvSpPr>
                  <a:spLocks noChangeArrowheads="1"/>
                </p:cNvSpPr>
                <p:nvPr/>
              </p:nvSpPr>
              <p:spPr bwMode="auto">
                <a:xfrm>
                  <a:off x="957" y="3265"/>
                  <a:ext cx="261" cy="96"/>
                </a:xfrm>
                <a:prstGeom prst="rect">
                  <a:avLst/>
                </a:prstGeom>
                <a:solidFill>
                  <a:srgbClr val="909DFC"/>
                </a:solidFill>
                <a:ln w="9525">
                  <a:noFill/>
                  <a:miter lim="800000"/>
                  <a:headEnd/>
                  <a:tailEnd/>
                </a:ln>
              </p:spPr>
              <p:txBody>
                <a:bodyPr wrap="none" lIns="0" tIns="0" rIns="0" bIns="0">
                  <a:spAutoFit/>
                </a:bodyPr>
                <a:lstStyle/>
                <a:p>
                  <a:r>
                    <a:rPr lang="en-US" sz="1000" b="1">
                      <a:solidFill>
                        <a:schemeClr val="bg1"/>
                      </a:solidFill>
                    </a:rPr>
                    <a:t>People</a:t>
                  </a:r>
                  <a:endParaRPr lang="en-US">
                    <a:solidFill>
                      <a:schemeClr val="bg1"/>
                    </a:solidFill>
                  </a:endParaRPr>
                </a:p>
              </p:txBody>
            </p:sp>
            <p:sp>
              <p:nvSpPr>
                <p:cNvPr id="1395382" name="Rectangle 694"/>
                <p:cNvSpPr>
                  <a:spLocks noChangeArrowheads="1"/>
                </p:cNvSpPr>
                <p:nvPr/>
              </p:nvSpPr>
              <p:spPr bwMode="auto">
                <a:xfrm>
                  <a:off x="678" y="3363"/>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83" name="Rectangle 695"/>
                <p:cNvSpPr>
                  <a:spLocks noChangeArrowheads="1"/>
                </p:cNvSpPr>
                <p:nvPr/>
              </p:nvSpPr>
              <p:spPr bwMode="auto">
                <a:xfrm>
                  <a:off x="739" y="3363"/>
                  <a:ext cx="670"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Employee Satisfaction &amp; </a:t>
                  </a:r>
                  <a:endParaRPr lang="en-US" b="1">
                    <a:solidFill>
                      <a:schemeClr val="bg1"/>
                    </a:solidFill>
                  </a:endParaRPr>
                </a:p>
              </p:txBody>
            </p:sp>
            <p:sp>
              <p:nvSpPr>
                <p:cNvPr id="1395384" name="Rectangle 696"/>
                <p:cNvSpPr>
                  <a:spLocks noChangeArrowheads="1"/>
                </p:cNvSpPr>
                <p:nvPr/>
              </p:nvSpPr>
              <p:spPr bwMode="auto">
                <a:xfrm>
                  <a:off x="739" y="3420"/>
                  <a:ext cx="498"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Quality of Worklife</a:t>
                  </a:r>
                  <a:endParaRPr lang="en-US" b="1">
                    <a:solidFill>
                      <a:schemeClr val="bg1"/>
                    </a:solidFill>
                  </a:endParaRPr>
                </a:p>
              </p:txBody>
            </p:sp>
            <p:sp>
              <p:nvSpPr>
                <p:cNvPr id="1395385" name="Rectangle 697"/>
                <p:cNvSpPr>
                  <a:spLocks noChangeArrowheads="1"/>
                </p:cNvSpPr>
                <p:nvPr/>
              </p:nvSpPr>
              <p:spPr bwMode="auto">
                <a:xfrm>
                  <a:off x="678" y="3488"/>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86" name="Rectangle 698"/>
                <p:cNvSpPr>
                  <a:spLocks noChangeArrowheads="1"/>
                </p:cNvSpPr>
                <p:nvPr/>
              </p:nvSpPr>
              <p:spPr bwMode="auto">
                <a:xfrm>
                  <a:off x="739" y="3488"/>
                  <a:ext cx="657"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Recruitment &amp; Retention</a:t>
                  </a:r>
                  <a:endParaRPr lang="en-US" b="1">
                    <a:solidFill>
                      <a:schemeClr val="bg1"/>
                    </a:solidFill>
                  </a:endParaRPr>
                </a:p>
              </p:txBody>
            </p:sp>
            <p:sp>
              <p:nvSpPr>
                <p:cNvPr id="1395387" name="Rectangle 699"/>
                <p:cNvSpPr>
                  <a:spLocks noChangeArrowheads="1"/>
                </p:cNvSpPr>
                <p:nvPr/>
              </p:nvSpPr>
              <p:spPr bwMode="auto">
                <a:xfrm>
                  <a:off x="678" y="3555"/>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88" name="Rectangle 700"/>
                <p:cNvSpPr>
                  <a:spLocks noChangeArrowheads="1"/>
                </p:cNvSpPr>
                <p:nvPr/>
              </p:nvSpPr>
              <p:spPr bwMode="auto">
                <a:xfrm>
                  <a:off x="739" y="3555"/>
                  <a:ext cx="631"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Employee Development</a:t>
                  </a:r>
                  <a:endParaRPr lang="en-US" b="1">
                    <a:solidFill>
                      <a:schemeClr val="bg1"/>
                    </a:solidFill>
                  </a:endParaRPr>
                </a:p>
              </p:txBody>
            </p:sp>
            <p:sp>
              <p:nvSpPr>
                <p:cNvPr id="1395389" name="Rectangle 701"/>
                <p:cNvSpPr>
                  <a:spLocks noChangeArrowheads="1"/>
                </p:cNvSpPr>
                <p:nvPr/>
              </p:nvSpPr>
              <p:spPr bwMode="auto">
                <a:xfrm>
                  <a:off x="678" y="3622"/>
                  <a:ext cx="20" cy="67"/>
                </a:xfrm>
                <a:prstGeom prst="rect">
                  <a:avLst/>
                </a:prstGeom>
                <a:solidFill>
                  <a:srgbClr val="909DFC"/>
                </a:solidFill>
                <a:ln w="9525">
                  <a:noFill/>
                  <a:miter lim="800000"/>
                  <a:headEnd/>
                  <a:tailEnd/>
                </a:ln>
              </p:spPr>
              <p:txBody>
                <a:bodyPr wrap="none" lIns="0" tIns="0" rIns="0" bIns="0">
                  <a:spAutoFit/>
                </a:bodyPr>
                <a:lstStyle/>
                <a:p>
                  <a:r>
                    <a:rPr lang="en-US" sz="700">
                      <a:solidFill>
                        <a:schemeClr val="bg1"/>
                      </a:solidFill>
                    </a:rPr>
                    <a:t>•</a:t>
                  </a:r>
                  <a:endParaRPr lang="en-US">
                    <a:solidFill>
                      <a:schemeClr val="bg1"/>
                    </a:solidFill>
                  </a:endParaRPr>
                </a:p>
              </p:txBody>
            </p:sp>
            <p:sp>
              <p:nvSpPr>
                <p:cNvPr id="1395390" name="Rectangle 702"/>
                <p:cNvSpPr>
                  <a:spLocks noChangeArrowheads="1"/>
                </p:cNvSpPr>
                <p:nvPr/>
              </p:nvSpPr>
              <p:spPr bwMode="auto">
                <a:xfrm>
                  <a:off x="739" y="3622"/>
                  <a:ext cx="451" cy="67"/>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Employee Ratios</a:t>
                  </a:r>
                  <a:endParaRPr lang="en-US" b="1">
                    <a:solidFill>
                      <a:schemeClr val="bg1"/>
                    </a:solidFill>
                  </a:endParaRPr>
                </a:p>
              </p:txBody>
            </p:sp>
          </p:grpSp>
          <p:sp>
            <p:nvSpPr>
              <p:cNvPr id="1395391" name="Freeform 703"/>
              <p:cNvSpPr>
                <a:spLocks/>
              </p:cNvSpPr>
              <p:nvPr/>
            </p:nvSpPr>
            <p:spPr bwMode="auto">
              <a:xfrm>
                <a:off x="1559" y="2845"/>
                <a:ext cx="705" cy="285"/>
              </a:xfrm>
              <a:custGeom>
                <a:avLst/>
                <a:gdLst/>
                <a:ahLst/>
                <a:cxnLst>
                  <a:cxn ang="0">
                    <a:pos x="0" y="228"/>
                  </a:cxn>
                  <a:cxn ang="0">
                    <a:pos x="176" y="228"/>
                  </a:cxn>
                  <a:cxn ang="0">
                    <a:pos x="176" y="285"/>
                  </a:cxn>
                  <a:cxn ang="0">
                    <a:pos x="529" y="285"/>
                  </a:cxn>
                  <a:cxn ang="0">
                    <a:pos x="529" y="228"/>
                  </a:cxn>
                  <a:cxn ang="0">
                    <a:pos x="705" y="228"/>
                  </a:cxn>
                  <a:cxn ang="0">
                    <a:pos x="352" y="0"/>
                  </a:cxn>
                  <a:cxn ang="0">
                    <a:pos x="0" y="228"/>
                  </a:cxn>
                </a:cxnLst>
                <a:rect l="0" t="0" r="r" b="b"/>
                <a:pathLst>
                  <a:path w="705" h="285">
                    <a:moveTo>
                      <a:pt x="0" y="228"/>
                    </a:moveTo>
                    <a:lnTo>
                      <a:pt x="176" y="228"/>
                    </a:lnTo>
                    <a:lnTo>
                      <a:pt x="176" y="285"/>
                    </a:lnTo>
                    <a:lnTo>
                      <a:pt x="529" y="285"/>
                    </a:lnTo>
                    <a:lnTo>
                      <a:pt x="529" y="228"/>
                    </a:lnTo>
                    <a:lnTo>
                      <a:pt x="705" y="228"/>
                    </a:lnTo>
                    <a:lnTo>
                      <a:pt x="352" y="0"/>
                    </a:lnTo>
                    <a:lnTo>
                      <a:pt x="0" y="228"/>
                    </a:lnTo>
                    <a:close/>
                  </a:path>
                </a:pathLst>
              </a:custGeom>
              <a:solidFill>
                <a:srgbClr val="CCCCFF"/>
              </a:solidFill>
              <a:ln w="9525" cap="rnd">
                <a:solidFill>
                  <a:srgbClr val="000000"/>
                </a:solidFill>
                <a:prstDash val="solid"/>
                <a:round/>
                <a:headEnd/>
                <a:tailEnd/>
              </a:ln>
            </p:spPr>
            <p:txBody>
              <a:bodyPr/>
              <a:lstStyle/>
              <a:p>
                <a:endParaRPr lang="en-US"/>
              </a:p>
            </p:txBody>
          </p:sp>
          <p:sp>
            <p:nvSpPr>
              <p:cNvPr id="1395392" name="Rectangle 704"/>
              <p:cNvSpPr>
                <a:spLocks noChangeArrowheads="1"/>
              </p:cNvSpPr>
              <p:nvPr/>
            </p:nvSpPr>
            <p:spPr bwMode="auto">
              <a:xfrm>
                <a:off x="1320" y="1419"/>
                <a:ext cx="483" cy="96"/>
              </a:xfrm>
              <a:prstGeom prst="rect">
                <a:avLst/>
              </a:prstGeom>
              <a:noFill/>
              <a:ln w="9525">
                <a:noFill/>
                <a:miter lim="800000"/>
                <a:headEnd/>
                <a:tailEnd/>
              </a:ln>
            </p:spPr>
            <p:txBody>
              <a:bodyPr wrap="none" lIns="0" tIns="0" rIns="0" bIns="0">
                <a:spAutoFit/>
              </a:bodyPr>
              <a:lstStyle/>
              <a:p>
                <a:r>
                  <a:rPr lang="en-US" sz="1000" b="1">
                    <a:solidFill>
                      <a:srgbClr val="808080"/>
                    </a:solidFill>
                  </a:rPr>
                  <a:t>Mission and </a:t>
                </a:r>
                <a:endParaRPr lang="en-US"/>
              </a:p>
            </p:txBody>
          </p:sp>
          <p:sp>
            <p:nvSpPr>
              <p:cNvPr id="1395393" name="Rectangle 705"/>
              <p:cNvSpPr>
                <a:spLocks noChangeArrowheads="1"/>
              </p:cNvSpPr>
              <p:nvPr/>
            </p:nvSpPr>
            <p:spPr bwMode="auto">
              <a:xfrm>
                <a:off x="1366" y="1497"/>
                <a:ext cx="376" cy="96"/>
              </a:xfrm>
              <a:prstGeom prst="rect">
                <a:avLst/>
              </a:prstGeom>
              <a:noFill/>
              <a:ln w="9525">
                <a:noFill/>
                <a:miter lim="800000"/>
                <a:headEnd/>
                <a:tailEnd/>
              </a:ln>
            </p:spPr>
            <p:txBody>
              <a:bodyPr wrap="none" lIns="0" tIns="0" rIns="0" bIns="0">
                <a:spAutoFit/>
              </a:bodyPr>
              <a:lstStyle/>
              <a:p>
                <a:r>
                  <a:rPr lang="en-US" sz="1000" b="1">
                    <a:solidFill>
                      <a:schemeClr val="bg1"/>
                    </a:solidFill>
                  </a:rPr>
                  <a:t>Business </a:t>
                </a:r>
                <a:endParaRPr lang="en-US">
                  <a:solidFill>
                    <a:schemeClr val="bg1"/>
                  </a:solidFill>
                </a:endParaRPr>
              </a:p>
            </p:txBody>
          </p:sp>
          <p:sp>
            <p:nvSpPr>
              <p:cNvPr id="1395394" name="Rectangle 706"/>
              <p:cNvSpPr>
                <a:spLocks noChangeArrowheads="1"/>
              </p:cNvSpPr>
              <p:nvPr/>
            </p:nvSpPr>
            <p:spPr bwMode="auto">
              <a:xfrm>
                <a:off x="1397" y="1575"/>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5395" name="Rectangle 707"/>
              <p:cNvSpPr>
                <a:spLocks noChangeArrowheads="1"/>
              </p:cNvSpPr>
              <p:nvPr/>
            </p:nvSpPr>
            <p:spPr bwMode="auto">
              <a:xfrm>
                <a:off x="1200" y="1678"/>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96" name="Rectangle 708"/>
              <p:cNvSpPr>
                <a:spLocks noChangeArrowheads="1"/>
              </p:cNvSpPr>
              <p:nvPr/>
            </p:nvSpPr>
            <p:spPr bwMode="auto">
              <a:xfrm>
                <a:off x="1227" y="1678"/>
                <a:ext cx="552"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 for Citizens</a:t>
                </a:r>
                <a:endParaRPr lang="en-US" b="1">
                  <a:solidFill>
                    <a:schemeClr val="bg1"/>
                  </a:solidFill>
                </a:endParaRPr>
              </a:p>
            </p:txBody>
          </p:sp>
          <p:sp>
            <p:nvSpPr>
              <p:cNvPr id="1395397" name="Rectangle 709"/>
              <p:cNvSpPr>
                <a:spLocks noChangeArrowheads="1"/>
              </p:cNvSpPr>
              <p:nvPr/>
            </p:nvSpPr>
            <p:spPr bwMode="auto">
              <a:xfrm>
                <a:off x="1200" y="1746"/>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398" name="Rectangle 710"/>
              <p:cNvSpPr>
                <a:spLocks noChangeArrowheads="1"/>
              </p:cNvSpPr>
              <p:nvPr/>
            </p:nvSpPr>
            <p:spPr bwMode="auto">
              <a:xfrm>
                <a:off x="1224" y="1746"/>
                <a:ext cx="533" cy="67"/>
              </a:xfrm>
              <a:prstGeom prst="rect">
                <a:avLst/>
              </a:prstGeom>
              <a:noFill/>
              <a:ln w="9525">
                <a:noFill/>
                <a:miter lim="800000"/>
                <a:headEnd/>
                <a:tailEnd/>
              </a:ln>
            </p:spPr>
            <p:txBody>
              <a:bodyPr wrap="none" lIns="0" tIns="0" rIns="0" bIns="0">
                <a:spAutoFit/>
              </a:bodyPr>
              <a:lstStyle/>
              <a:p>
                <a:r>
                  <a:rPr lang="en-US" sz="700" b="1">
                    <a:solidFill>
                      <a:schemeClr val="bg1"/>
                    </a:solidFill>
                  </a:rPr>
                  <a:t>Support Delivery of </a:t>
                </a:r>
                <a:endParaRPr lang="en-US" b="1">
                  <a:solidFill>
                    <a:schemeClr val="bg1"/>
                  </a:solidFill>
                </a:endParaRPr>
              </a:p>
            </p:txBody>
          </p:sp>
          <p:sp>
            <p:nvSpPr>
              <p:cNvPr id="1395399" name="Rectangle 711"/>
              <p:cNvSpPr>
                <a:spLocks noChangeArrowheads="1"/>
              </p:cNvSpPr>
              <p:nvPr/>
            </p:nvSpPr>
            <p:spPr bwMode="auto">
              <a:xfrm>
                <a:off x="1204" y="1803"/>
                <a:ext cx="230"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a:t>
                </a:r>
                <a:endParaRPr lang="en-US" b="1">
                  <a:solidFill>
                    <a:schemeClr val="bg1"/>
                  </a:solidFill>
                </a:endParaRPr>
              </a:p>
            </p:txBody>
          </p:sp>
          <p:sp>
            <p:nvSpPr>
              <p:cNvPr id="1395400" name="Rectangle 712"/>
              <p:cNvSpPr>
                <a:spLocks noChangeArrowheads="1"/>
              </p:cNvSpPr>
              <p:nvPr/>
            </p:nvSpPr>
            <p:spPr bwMode="auto">
              <a:xfrm>
                <a:off x="1200" y="1865"/>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401" name="Rectangle 713"/>
              <p:cNvSpPr>
                <a:spLocks noChangeArrowheads="1"/>
              </p:cNvSpPr>
              <p:nvPr/>
            </p:nvSpPr>
            <p:spPr bwMode="auto">
              <a:xfrm>
                <a:off x="1231" y="1865"/>
                <a:ext cx="427" cy="67"/>
              </a:xfrm>
              <a:prstGeom prst="rect">
                <a:avLst/>
              </a:prstGeom>
              <a:noFill/>
              <a:ln w="9525">
                <a:noFill/>
                <a:miter lim="800000"/>
                <a:headEnd/>
                <a:tailEnd/>
              </a:ln>
            </p:spPr>
            <p:txBody>
              <a:bodyPr wrap="none" lIns="0" tIns="0" rIns="0" bIns="0">
                <a:spAutoFit/>
              </a:bodyPr>
              <a:lstStyle/>
              <a:p>
                <a:r>
                  <a:rPr lang="en-US" sz="700" b="1">
                    <a:solidFill>
                      <a:schemeClr val="bg1"/>
                    </a:solidFill>
                  </a:rPr>
                  <a:t>Management of </a:t>
                </a:r>
                <a:endParaRPr lang="en-US" b="1">
                  <a:solidFill>
                    <a:schemeClr val="bg1"/>
                  </a:solidFill>
                </a:endParaRPr>
              </a:p>
            </p:txBody>
          </p:sp>
          <p:sp>
            <p:nvSpPr>
              <p:cNvPr id="1395402" name="Rectangle 714"/>
              <p:cNvSpPr>
                <a:spLocks noChangeArrowheads="1"/>
              </p:cNvSpPr>
              <p:nvPr/>
            </p:nvSpPr>
            <p:spPr bwMode="auto">
              <a:xfrm>
                <a:off x="1230" y="1922"/>
                <a:ext cx="592" cy="67"/>
              </a:xfrm>
              <a:prstGeom prst="rect">
                <a:avLst/>
              </a:prstGeom>
              <a:noFill/>
              <a:ln w="9525">
                <a:noFill/>
                <a:miter lim="800000"/>
                <a:headEnd/>
                <a:tailEnd/>
              </a:ln>
            </p:spPr>
            <p:txBody>
              <a:bodyPr wrap="none" lIns="0" tIns="0" rIns="0" bIns="0">
                <a:spAutoFit/>
              </a:bodyPr>
              <a:lstStyle/>
              <a:p>
                <a:r>
                  <a:rPr lang="en-US" sz="700">
                    <a:solidFill>
                      <a:srgbClr val="808080"/>
                    </a:solidFill>
                  </a:rPr>
                  <a:t>Government Resources</a:t>
                </a:r>
                <a:endParaRPr lang="en-US"/>
              </a:p>
            </p:txBody>
          </p:sp>
          <p:sp>
            <p:nvSpPr>
              <p:cNvPr id="1395403" name="Rectangle 715"/>
              <p:cNvSpPr>
                <a:spLocks noChangeArrowheads="1"/>
              </p:cNvSpPr>
              <p:nvPr/>
            </p:nvSpPr>
            <p:spPr bwMode="auto">
              <a:xfrm>
                <a:off x="1225" y="1989"/>
                <a:ext cx="20" cy="67"/>
              </a:xfrm>
              <a:prstGeom prst="rect">
                <a:avLst/>
              </a:prstGeom>
              <a:noFill/>
              <a:ln w="9525">
                <a:noFill/>
                <a:miter lim="800000"/>
                <a:headEnd/>
                <a:tailEnd/>
              </a:ln>
            </p:spPr>
            <p:txBody>
              <a:bodyPr wrap="none" lIns="0" tIns="0" rIns="0" bIns="0">
                <a:spAutoFit/>
              </a:bodyPr>
              <a:lstStyle/>
              <a:p>
                <a:r>
                  <a:rPr lang="en-US" sz="700">
                    <a:solidFill>
                      <a:srgbClr val="808080"/>
                    </a:solidFill>
                  </a:rPr>
                  <a:t>•</a:t>
                </a:r>
                <a:endParaRPr lang="en-US"/>
              </a:p>
            </p:txBody>
          </p:sp>
          <p:sp>
            <p:nvSpPr>
              <p:cNvPr id="1395404" name="Rectangle 716"/>
              <p:cNvSpPr>
                <a:spLocks noChangeArrowheads="1"/>
              </p:cNvSpPr>
              <p:nvPr/>
            </p:nvSpPr>
            <p:spPr bwMode="auto">
              <a:xfrm>
                <a:off x="1259" y="1989"/>
                <a:ext cx="222" cy="67"/>
              </a:xfrm>
              <a:prstGeom prst="rect">
                <a:avLst/>
              </a:prstGeom>
              <a:noFill/>
              <a:ln w="9525">
                <a:noFill/>
                <a:miter lim="800000"/>
                <a:headEnd/>
                <a:tailEnd/>
              </a:ln>
            </p:spPr>
            <p:txBody>
              <a:bodyPr wrap="none" lIns="0" tIns="0" rIns="0" bIns="0">
                <a:spAutoFit/>
              </a:bodyPr>
              <a:lstStyle/>
              <a:p>
                <a:r>
                  <a:rPr lang="en-US" sz="700">
                    <a:solidFill>
                      <a:srgbClr val="808080"/>
                    </a:solidFill>
                  </a:rPr>
                  <a:t>Financial</a:t>
                </a:r>
                <a:endParaRPr lang="en-US"/>
              </a:p>
            </p:txBody>
          </p:sp>
          <p:sp>
            <p:nvSpPr>
              <p:cNvPr id="1395405" name="Rectangle 717"/>
              <p:cNvSpPr>
                <a:spLocks noChangeArrowheads="1"/>
              </p:cNvSpPr>
              <p:nvPr/>
            </p:nvSpPr>
            <p:spPr bwMode="auto">
              <a:xfrm>
                <a:off x="1160" y="1404"/>
                <a:ext cx="710" cy="679"/>
              </a:xfrm>
              <a:prstGeom prst="rect">
                <a:avLst/>
              </a:prstGeom>
              <a:solidFill>
                <a:srgbClr val="808080"/>
              </a:solidFill>
              <a:ln w="9525">
                <a:noFill/>
                <a:miter lim="800000"/>
                <a:headEnd/>
                <a:tailEnd/>
              </a:ln>
            </p:spPr>
            <p:txBody>
              <a:bodyPr/>
              <a:lstStyle/>
              <a:p>
                <a:endParaRPr lang="en-US"/>
              </a:p>
            </p:txBody>
          </p:sp>
          <p:sp>
            <p:nvSpPr>
              <p:cNvPr id="1395406" name="Rectangle 718"/>
              <p:cNvSpPr>
                <a:spLocks noChangeArrowheads="1"/>
              </p:cNvSpPr>
              <p:nvPr/>
            </p:nvSpPr>
            <p:spPr bwMode="auto">
              <a:xfrm>
                <a:off x="1144" y="1388"/>
                <a:ext cx="705" cy="674"/>
              </a:xfrm>
              <a:prstGeom prst="rect">
                <a:avLst/>
              </a:prstGeom>
              <a:solidFill>
                <a:srgbClr val="909DFC"/>
              </a:solidFill>
              <a:ln w="9525">
                <a:solidFill>
                  <a:srgbClr val="000000"/>
                </a:solidFill>
                <a:miter lim="800000"/>
                <a:headEnd/>
                <a:tailEnd/>
              </a:ln>
            </p:spPr>
            <p:txBody>
              <a:bodyPr/>
              <a:lstStyle/>
              <a:p>
                <a:endParaRPr lang="en-US"/>
              </a:p>
            </p:txBody>
          </p:sp>
          <p:sp>
            <p:nvSpPr>
              <p:cNvPr id="1395407" name="Rectangle 719"/>
              <p:cNvSpPr>
                <a:spLocks noChangeArrowheads="1"/>
              </p:cNvSpPr>
              <p:nvPr/>
            </p:nvSpPr>
            <p:spPr bwMode="auto">
              <a:xfrm>
                <a:off x="1305" y="1404"/>
                <a:ext cx="483" cy="96"/>
              </a:xfrm>
              <a:prstGeom prst="rect">
                <a:avLst/>
              </a:prstGeom>
              <a:noFill/>
              <a:ln w="9525">
                <a:noFill/>
                <a:miter lim="800000"/>
                <a:headEnd/>
                <a:tailEnd/>
              </a:ln>
            </p:spPr>
            <p:txBody>
              <a:bodyPr wrap="none" lIns="0" tIns="0" rIns="0" bIns="0">
                <a:spAutoFit/>
              </a:bodyPr>
              <a:lstStyle/>
              <a:p>
                <a:r>
                  <a:rPr lang="en-US" sz="1000" b="1">
                    <a:solidFill>
                      <a:schemeClr val="bg1"/>
                    </a:solidFill>
                  </a:rPr>
                  <a:t>Mission and </a:t>
                </a:r>
                <a:endParaRPr lang="en-US">
                  <a:solidFill>
                    <a:schemeClr val="bg1"/>
                  </a:solidFill>
                </a:endParaRPr>
              </a:p>
            </p:txBody>
          </p:sp>
          <p:sp>
            <p:nvSpPr>
              <p:cNvPr id="1395408" name="Rectangle 720"/>
              <p:cNvSpPr>
                <a:spLocks noChangeArrowheads="1"/>
              </p:cNvSpPr>
              <p:nvPr/>
            </p:nvSpPr>
            <p:spPr bwMode="auto">
              <a:xfrm>
                <a:off x="1350" y="1481"/>
                <a:ext cx="376" cy="96"/>
              </a:xfrm>
              <a:prstGeom prst="rect">
                <a:avLst/>
              </a:prstGeom>
              <a:noFill/>
              <a:ln w="9525">
                <a:noFill/>
                <a:miter lim="800000"/>
                <a:headEnd/>
                <a:tailEnd/>
              </a:ln>
            </p:spPr>
            <p:txBody>
              <a:bodyPr wrap="none" lIns="0" tIns="0" rIns="0" bIns="0">
                <a:spAutoFit/>
              </a:bodyPr>
              <a:lstStyle/>
              <a:p>
                <a:r>
                  <a:rPr lang="en-US" sz="1000" b="1">
                    <a:solidFill>
                      <a:schemeClr val="bg1"/>
                    </a:solidFill>
                  </a:rPr>
                  <a:t>Business </a:t>
                </a:r>
                <a:endParaRPr lang="en-US">
                  <a:solidFill>
                    <a:schemeClr val="bg1"/>
                  </a:solidFill>
                </a:endParaRPr>
              </a:p>
            </p:txBody>
          </p:sp>
          <p:sp>
            <p:nvSpPr>
              <p:cNvPr id="1395409" name="Rectangle 721"/>
              <p:cNvSpPr>
                <a:spLocks noChangeArrowheads="1"/>
              </p:cNvSpPr>
              <p:nvPr/>
            </p:nvSpPr>
            <p:spPr bwMode="auto">
              <a:xfrm>
                <a:off x="1382" y="1559"/>
                <a:ext cx="288" cy="96"/>
              </a:xfrm>
              <a:prstGeom prst="rect">
                <a:avLst/>
              </a:prstGeom>
              <a:noFill/>
              <a:ln w="9525">
                <a:noFill/>
                <a:miter lim="800000"/>
                <a:headEnd/>
                <a:tailEnd/>
              </a:ln>
            </p:spPr>
            <p:txBody>
              <a:bodyPr wrap="none" lIns="0" tIns="0" rIns="0" bIns="0">
                <a:spAutoFit/>
              </a:bodyPr>
              <a:lstStyle/>
              <a:p>
                <a:r>
                  <a:rPr lang="en-US" sz="1000" b="1">
                    <a:solidFill>
                      <a:schemeClr val="bg1"/>
                    </a:solidFill>
                  </a:rPr>
                  <a:t>Results</a:t>
                </a:r>
                <a:endParaRPr lang="en-US">
                  <a:solidFill>
                    <a:schemeClr val="bg1"/>
                  </a:solidFill>
                </a:endParaRPr>
              </a:p>
            </p:txBody>
          </p:sp>
          <p:sp>
            <p:nvSpPr>
              <p:cNvPr id="1395410" name="Rectangle 722"/>
              <p:cNvSpPr>
                <a:spLocks noChangeArrowheads="1"/>
              </p:cNvSpPr>
              <p:nvPr/>
            </p:nvSpPr>
            <p:spPr bwMode="auto">
              <a:xfrm>
                <a:off x="1167" y="1663"/>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411" name="Rectangle 723"/>
              <p:cNvSpPr>
                <a:spLocks noChangeArrowheads="1"/>
              </p:cNvSpPr>
              <p:nvPr/>
            </p:nvSpPr>
            <p:spPr bwMode="auto">
              <a:xfrm>
                <a:off x="1199" y="1663"/>
                <a:ext cx="552"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 for Citizens</a:t>
                </a:r>
                <a:endParaRPr lang="en-US" b="1">
                  <a:solidFill>
                    <a:schemeClr val="bg1"/>
                  </a:solidFill>
                </a:endParaRPr>
              </a:p>
            </p:txBody>
          </p:sp>
          <p:sp>
            <p:nvSpPr>
              <p:cNvPr id="1395412" name="Rectangle 724"/>
              <p:cNvSpPr>
                <a:spLocks noChangeArrowheads="1"/>
              </p:cNvSpPr>
              <p:nvPr/>
            </p:nvSpPr>
            <p:spPr bwMode="auto">
              <a:xfrm>
                <a:off x="1167" y="1730"/>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413" name="Rectangle 725"/>
              <p:cNvSpPr>
                <a:spLocks noChangeArrowheads="1"/>
              </p:cNvSpPr>
              <p:nvPr/>
            </p:nvSpPr>
            <p:spPr bwMode="auto">
              <a:xfrm>
                <a:off x="1199" y="1730"/>
                <a:ext cx="533" cy="67"/>
              </a:xfrm>
              <a:prstGeom prst="rect">
                <a:avLst/>
              </a:prstGeom>
              <a:noFill/>
              <a:ln w="9525">
                <a:noFill/>
                <a:miter lim="800000"/>
                <a:headEnd/>
                <a:tailEnd/>
              </a:ln>
            </p:spPr>
            <p:txBody>
              <a:bodyPr wrap="none" lIns="0" tIns="0" rIns="0" bIns="0">
                <a:spAutoFit/>
              </a:bodyPr>
              <a:lstStyle/>
              <a:p>
                <a:r>
                  <a:rPr lang="en-US" sz="700" b="1">
                    <a:solidFill>
                      <a:schemeClr val="bg1"/>
                    </a:solidFill>
                  </a:rPr>
                  <a:t>Support Delivery of </a:t>
                </a:r>
                <a:endParaRPr lang="en-US" b="1">
                  <a:solidFill>
                    <a:schemeClr val="bg1"/>
                  </a:solidFill>
                </a:endParaRPr>
              </a:p>
            </p:txBody>
          </p:sp>
          <p:sp>
            <p:nvSpPr>
              <p:cNvPr id="1395414" name="Rectangle 726"/>
              <p:cNvSpPr>
                <a:spLocks noChangeArrowheads="1"/>
              </p:cNvSpPr>
              <p:nvPr/>
            </p:nvSpPr>
            <p:spPr bwMode="auto">
              <a:xfrm>
                <a:off x="1199" y="1787"/>
                <a:ext cx="230" cy="67"/>
              </a:xfrm>
              <a:prstGeom prst="rect">
                <a:avLst/>
              </a:prstGeom>
              <a:noFill/>
              <a:ln w="9525">
                <a:noFill/>
                <a:miter lim="800000"/>
                <a:headEnd/>
                <a:tailEnd/>
              </a:ln>
            </p:spPr>
            <p:txBody>
              <a:bodyPr wrap="none" lIns="0" tIns="0" rIns="0" bIns="0">
                <a:spAutoFit/>
              </a:bodyPr>
              <a:lstStyle/>
              <a:p>
                <a:r>
                  <a:rPr lang="en-US" sz="700" b="1">
                    <a:solidFill>
                      <a:schemeClr val="bg1"/>
                    </a:solidFill>
                  </a:rPr>
                  <a:t>Services</a:t>
                </a:r>
                <a:endParaRPr lang="en-US" b="1">
                  <a:solidFill>
                    <a:schemeClr val="bg1"/>
                  </a:solidFill>
                </a:endParaRPr>
              </a:p>
            </p:txBody>
          </p:sp>
          <p:sp>
            <p:nvSpPr>
              <p:cNvPr id="1395415" name="Rectangle 727"/>
              <p:cNvSpPr>
                <a:spLocks noChangeArrowheads="1"/>
              </p:cNvSpPr>
              <p:nvPr/>
            </p:nvSpPr>
            <p:spPr bwMode="auto">
              <a:xfrm>
                <a:off x="1167" y="1850"/>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416" name="Rectangle 728"/>
              <p:cNvSpPr>
                <a:spLocks noChangeArrowheads="1"/>
              </p:cNvSpPr>
              <p:nvPr/>
            </p:nvSpPr>
            <p:spPr bwMode="auto">
              <a:xfrm>
                <a:off x="1199" y="1850"/>
                <a:ext cx="427" cy="67"/>
              </a:xfrm>
              <a:prstGeom prst="rect">
                <a:avLst/>
              </a:prstGeom>
              <a:noFill/>
              <a:ln w="9525">
                <a:noFill/>
                <a:miter lim="800000"/>
                <a:headEnd/>
                <a:tailEnd/>
              </a:ln>
            </p:spPr>
            <p:txBody>
              <a:bodyPr wrap="none" lIns="0" tIns="0" rIns="0" bIns="0">
                <a:spAutoFit/>
              </a:bodyPr>
              <a:lstStyle/>
              <a:p>
                <a:r>
                  <a:rPr lang="en-US" sz="700" b="1">
                    <a:solidFill>
                      <a:schemeClr val="bg1"/>
                    </a:solidFill>
                  </a:rPr>
                  <a:t>Management of </a:t>
                </a:r>
                <a:endParaRPr lang="en-US" b="1">
                  <a:solidFill>
                    <a:schemeClr val="bg1"/>
                  </a:solidFill>
                </a:endParaRPr>
              </a:p>
            </p:txBody>
          </p:sp>
          <p:sp>
            <p:nvSpPr>
              <p:cNvPr id="1395417" name="Rectangle 729"/>
              <p:cNvSpPr>
                <a:spLocks noChangeArrowheads="1"/>
              </p:cNvSpPr>
              <p:nvPr/>
            </p:nvSpPr>
            <p:spPr bwMode="auto">
              <a:xfrm>
                <a:off x="1199" y="1907"/>
                <a:ext cx="631" cy="67"/>
              </a:xfrm>
              <a:prstGeom prst="rect">
                <a:avLst/>
              </a:prstGeom>
              <a:noFill/>
              <a:ln w="9525">
                <a:noFill/>
                <a:miter lim="800000"/>
                <a:headEnd/>
                <a:tailEnd/>
              </a:ln>
            </p:spPr>
            <p:txBody>
              <a:bodyPr wrap="none" lIns="0" tIns="0" rIns="0" bIns="0">
                <a:spAutoFit/>
              </a:bodyPr>
              <a:lstStyle/>
              <a:p>
                <a:r>
                  <a:rPr lang="en-US" sz="700" b="1">
                    <a:solidFill>
                      <a:schemeClr val="bg1"/>
                    </a:solidFill>
                  </a:rPr>
                  <a:t>Government Resources</a:t>
                </a:r>
                <a:endParaRPr lang="en-US" b="1">
                  <a:solidFill>
                    <a:schemeClr val="bg1"/>
                  </a:solidFill>
                </a:endParaRPr>
              </a:p>
            </p:txBody>
          </p:sp>
          <p:sp>
            <p:nvSpPr>
              <p:cNvPr id="1395418" name="Rectangle 730"/>
              <p:cNvSpPr>
                <a:spLocks noChangeArrowheads="1"/>
              </p:cNvSpPr>
              <p:nvPr/>
            </p:nvSpPr>
            <p:spPr bwMode="auto">
              <a:xfrm>
                <a:off x="1167" y="1974"/>
                <a:ext cx="20" cy="67"/>
              </a:xfrm>
              <a:prstGeom prst="rect">
                <a:avLst/>
              </a:prstGeom>
              <a:noFill/>
              <a:ln w="9525">
                <a:noFill/>
                <a:miter lim="800000"/>
                <a:headEnd/>
                <a:tailEnd/>
              </a:ln>
            </p:spPr>
            <p:txBody>
              <a:bodyPr wrap="none" lIns="0" tIns="0" rIns="0" bIns="0">
                <a:spAutoFit/>
              </a:bodyPr>
              <a:lstStyle/>
              <a:p>
                <a:r>
                  <a:rPr lang="en-US" sz="700" b="1">
                    <a:solidFill>
                      <a:schemeClr val="bg1"/>
                    </a:solidFill>
                  </a:rPr>
                  <a:t>•</a:t>
                </a:r>
                <a:endParaRPr lang="en-US" b="1">
                  <a:solidFill>
                    <a:schemeClr val="bg1"/>
                  </a:solidFill>
                </a:endParaRPr>
              </a:p>
            </p:txBody>
          </p:sp>
          <p:sp>
            <p:nvSpPr>
              <p:cNvPr id="1395419" name="Rectangle 731"/>
              <p:cNvSpPr>
                <a:spLocks noChangeArrowheads="1"/>
              </p:cNvSpPr>
              <p:nvPr/>
            </p:nvSpPr>
            <p:spPr bwMode="auto">
              <a:xfrm>
                <a:off x="1199" y="1974"/>
                <a:ext cx="243" cy="67"/>
              </a:xfrm>
              <a:prstGeom prst="rect">
                <a:avLst/>
              </a:prstGeom>
              <a:noFill/>
              <a:ln w="9525">
                <a:noFill/>
                <a:miter lim="800000"/>
                <a:headEnd/>
                <a:tailEnd/>
              </a:ln>
            </p:spPr>
            <p:txBody>
              <a:bodyPr wrap="none" lIns="0" tIns="0" rIns="0" bIns="0">
                <a:spAutoFit/>
              </a:bodyPr>
              <a:lstStyle/>
              <a:p>
                <a:r>
                  <a:rPr lang="en-US" sz="700" b="1">
                    <a:solidFill>
                      <a:schemeClr val="bg1"/>
                    </a:solidFill>
                  </a:rPr>
                  <a:t>Financial</a:t>
                </a:r>
                <a:endParaRPr lang="en-US" b="1">
                  <a:solidFill>
                    <a:schemeClr val="bg1"/>
                  </a:solidFill>
                </a:endParaRPr>
              </a:p>
            </p:txBody>
          </p:sp>
        </p:grpSp>
      </p:grpSp>
      <p:sp>
        <p:nvSpPr>
          <p:cNvPr id="1394690" name="Rectangle 2"/>
          <p:cNvSpPr>
            <a:spLocks noGrp="1" noChangeArrowheads="1"/>
          </p:cNvSpPr>
          <p:nvPr>
            <p:ph type="title"/>
          </p:nvPr>
        </p:nvSpPr>
        <p:spPr/>
        <p:txBody>
          <a:bodyPr/>
          <a:lstStyle/>
          <a:p>
            <a:r>
              <a:rPr lang="en-US" sz="1500" b="0"/>
              <a:t>Each PRM Measurement Category contains generic Indicators. </a:t>
            </a:r>
          </a:p>
        </p:txBody>
      </p:sp>
      <p:sp>
        <p:nvSpPr>
          <p:cNvPr id="1394692" name="Rectangle 4"/>
          <p:cNvSpPr>
            <a:spLocks noChangeArrowheads="1"/>
          </p:cNvSpPr>
          <p:nvPr/>
        </p:nvSpPr>
        <p:spPr bwMode="auto">
          <a:xfrm>
            <a:off x="5527675" y="2439988"/>
            <a:ext cx="2584450" cy="3714750"/>
          </a:xfrm>
          <a:prstGeom prst="rect">
            <a:avLst/>
          </a:prstGeom>
          <a:solidFill>
            <a:srgbClr val="FFFF6F"/>
          </a:solidFill>
          <a:ln w="9525">
            <a:solidFill>
              <a:schemeClr val="tx1"/>
            </a:solidFill>
            <a:miter lim="800000"/>
            <a:headEnd/>
            <a:tailEnd/>
          </a:ln>
          <a:effectLst/>
        </p:spPr>
        <p:txBody>
          <a:bodyPr wrap="none" anchor="ctr"/>
          <a:lstStyle/>
          <a:p>
            <a:endParaRPr lang="en-US"/>
          </a:p>
        </p:txBody>
      </p:sp>
      <p:sp>
        <p:nvSpPr>
          <p:cNvPr id="1394693" name="Text Box 5"/>
          <p:cNvSpPr txBox="1">
            <a:spLocks noChangeArrowheads="1"/>
          </p:cNvSpPr>
          <p:nvPr/>
        </p:nvSpPr>
        <p:spPr bwMode="auto">
          <a:xfrm>
            <a:off x="5632450" y="2724150"/>
            <a:ext cx="2376488" cy="3354388"/>
          </a:xfrm>
          <a:prstGeom prst="rect">
            <a:avLst/>
          </a:prstGeom>
          <a:solidFill>
            <a:schemeClr val="bg1"/>
          </a:solidFill>
          <a:ln w="9525">
            <a:solidFill>
              <a:schemeClr val="tx1"/>
            </a:solidFill>
            <a:miter lim="800000"/>
            <a:headEnd/>
            <a:tailEnd/>
          </a:ln>
          <a:effectLst/>
        </p:spPr>
        <p:txBody>
          <a:bodyPr>
            <a:spAutoFit/>
          </a:bodyPr>
          <a:lstStyle/>
          <a:p>
            <a:pPr marL="230188" indent="-230188" algn="l">
              <a:spcAft>
                <a:spcPct val="50000"/>
              </a:spcAft>
              <a:buFontTx/>
              <a:buNone/>
            </a:pPr>
            <a:r>
              <a:rPr lang="en-US" sz="1200"/>
              <a:t>Generic Performance Indicators</a:t>
            </a:r>
          </a:p>
          <a:p>
            <a:pPr marL="230188" indent="-230188" algn="l">
              <a:spcAft>
                <a:spcPct val="50000"/>
              </a:spcAft>
              <a:buFontTx/>
              <a:buChar char="•"/>
            </a:pPr>
            <a:r>
              <a:rPr lang="en-US" sz="1300"/>
              <a:t>Total # of products produced, activities performed, or services provided per relevant unit of time</a:t>
            </a:r>
          </a:p>
          <a:p>
            <a:pPr marL="230188" indent="-230188" algn="l">
              <a:spcAft>
                <a:spcPct val="50000"/>
              </a:spcAft>
              <a:buFontTx/>
              <a:buChar char="•"/>
            </a:pPr>
            <a:r>
              <a:rPr lang="en-US" sz="1300"/>
              <a:t># of products produced, activities performed, or services provided per FTE</a:t>
            </a:r>
          </a:p>
          <a:p>
            <a:pPr marL="230188" indent="-230188" algn="l">
              <a:buFontTx/>
              <a:buChar char="•"/>
            </a:pPr>
            <a:r>
              <a:rPr lang="en-US" sz="1300"/>
              <a:t>% of resources used versus resources available for use</a:t>
            </a:r>
          </a:p>
          <a:p>
            <a:pPr marL="230188" indent="-230188" algn="l">
              <a:buFontTx/>
              <a:buChar char="•"/>
            </a:pPr>
            <a:r>
              <a:rPr lang="en-US" sz="1300"/>
              <a:t># and/or % of products or services that are electronic</a:t>
            </a:r>
            <a:endParaRPr lang="en-US" sz="1300">
              <a:latin typeface="Tahoma" pitchFamily="34" charset="0"/>
            </a:endParaRPr>
          </a:p>
        </p:txBody>
      </p:sp>
      <p:sp>
        <p:nvSpPr>
          <p:cNvPr id="1394694" name="Rectangle 6"/>
          <p:cNvSpPr>
            <a:spLocks noChangeArrowheads="1"/>
          </p:cNvSpPr>
          <p:nvPr/>
        </p:nvSpPr>
        <p:spPr bwMode="auto">
          <a:xfrm>
            <a:off x="1477963" y="4130675"/>
            <a:ext cx="1223962" cy="185738"/>
          </a:xfrm>
          <a:prstGeom prst="rect">
            <a:avLst/>
          </a:prstGeom>
          <a:noFill/>
          <a:ln w="28575">
            <a:solidFill>
              <a:schemeClr val="tx1"/>
            </a:solidFill>
            <a:miter lim="800000"/>
            <a:headEnd/>
            <a:tailEnd/>
          </a:ln>
          <a:effectLst/>
        </p:spPr>
        <p:txBody>
          <a:bodyPr wrap="none" anchor="ctr"/>
          <a:lstStyle/>
          <a:p>
            <a:endParaRPr lang="en-US"/>
          </a:p>
        </p:txBody>
      </p:sp>
      <p:sp>
        <p:nvSpPr>
          <p:cNvPr id="1394695" name="Text Box 7"/>
          <p:cNvSpPr txBox="1">
            <a:spLocks noChangeArrowheads="1"/>
          </p:cNvSpPr>
          <p:nvPr/>
        </p:nvSpPr>
        <p:spPr bwMode="auto">
          <a:xfrm>
            <a:off x="5783263" y="2422525"/>
            <a:ext cx="2060575" cy="274638"/>
          </a:xfrm>
          <a:prstGeom prst="rect">
            <a:avLst/>
          </a:prstGeom>
          <a:noFill/>
          <a:ln w="9525">
            <a:noFill/>
            <a:miter lim="800000"/>
            <a:headEnd/>
            <a:tailEnd/>
          </a:ln>
          <a:effectLst/>
        </p:spPr>
        <p:txBody>
          <a:bodyPr wrap="none">
            <a:spAutoFit/>
          </a:bodyPr>
          <a:lstStyle/>
          <a:p>
            <a:pPr>
              <a:buFontTx/>
              <a:buNone/>
            </a:pPr>
            <a:r>
              <a:rPr lang="en-US" sz="1200" b="1">
                <a:latin typeface="Tahoma" pitchFamily="34" charset="0"/>
              </a:rPr>
              <a:t>Productivity &amp; Efficiency</a:t>
            </a:r>
            <a:endParaRPr lang="en-US" sz="1200" b="1" u="sng">
              <a:latin typeface="Tahoma" pitchFamily="34" charset="0"/>
            </a:endParaRPr>
          </a:p>
        </p:txBody>
      </p:sp>
      <p:cxnSp>
        <p:nvCxnSpPr>
          <p:cNvPr id="1394696" name="AutoShape 8"/>
          <p:cNvCxnSpPr>
            <a:cxnSpLocks noChangeShapeType="1"/>
            <a:stCxn id="1394694" idx="3"/>
            <a:endCxn id="1394692" idx="0"/>
          </p:cNvCxnSpPr>
          <p:nvPr/>
        </p:nvCxnSpPr>
        <p:spPr bwMode="auto">
          <a:xfrm flipV="1">
            <a:off x="2716213" y="2439988"/>
            <a:ext cx="4103687" cy="1784350"/>
          </a:xfrm>
          <a:prstGeom prst="bentConnector4">
            <a:avLst>
              <a:gd name="adj1" fmla="val 34083"/>
              <a:gd name="adj2" fmla="val 112810"/>
            </a:avLst>
          </a:prstGeom>
          <a:noFill/>
          <a:ln w="19050">
            <a:solidFill>
              <a:schemeClr val="tx1"/>
            </a:solidFill>
            <a:miter lim="800000"/>
            <a:headEnd/>
            <a:tailEnd type="stealth" w="med" len="med"/>
          </a:ln>
          <a:effectLst/>
        </p:spPr>
      </p:cxnSp>
      <p:grpSp>
        <p:nvGrpSpPr>
          <p:cNvPr id="1394697" name="Group 9"/>
          <p:cNvGrpSpPr>
            <a:grpSpLocks/>
          </p:cNvGrpSpPr>
          <p:nvPr/>
        </p:nvGrpSpPr>
        <p:grpSpPr bwMode="auto">
          <a:xfrm>
            <a:off x="6400800" y="990600"/>
            <a:ext cx="2286000" cy="877888"/>
            <a:chOff x="4334" y="937"/>
            <a:chExt cx="1186" cy="553"/>
          </a:xfrm>
        </p:grpSpPr>
        <p:sp>
          <p:nvSpPr>
            <p:cNvPr id="1394698" name="Rectangle 10"/>
            <p:cNvSpPr>
              <a:spLocks noChangeArrowheads="1"/>
            </p:cNvSpPr>
            <p:nvPr/>
          </p:nvSpPr>
          <p:spPr bwMode="auto">
            <a:xfrm>
              <a:off x="4334" y="1253"/>
              <a:ext cx="1171" cy="237"/>
            </a:xfrm>
            <a:prstGeom prst="rect">
              <a:avLst/>
            </a:prstGeom>
            <a:solidFill>
              <a:srgbClr val="DDDDDD"/>
            </a:solidFill>
            <a:ln w="9525">
              <a:solidFill>
                <a:schemeClr val="tx1"/>
              </a:solidFill>
              <a:miter lim="800000"/>
              <a:headEnd/>
              <a:tailEnd/>
            </a:ln>
            <a:effectLst/>
          </p:spPr>
          <p:txBody>
            <a:bodyPr wrap="none" anchor="ctr"/>
            <a:lstStyle/>
            <a:p>
              <a:endParaRPr lang="en-US"/>
            </a:p>
          </p:txBody>
        </p:sp>
        <p:sp>
          <p:nvSpPr>
            <p:cNvPr id="1394699" name="AutoShape 11"/>
            <p:cNvSpPr>
              <a:spLocks noChangeAspect="1" noChangeArrowheads="1" noTextEdit="1"/>
            </p:cNvSpPr>
            <p:nvPr/>
          </p:nvSpPr>
          <p:spPr bwMode="auto">
            <a:xfrm>
              <a:off x="4354" y="937"/>
              <a:ext cx="1166" cy="543"/>
            </a:xfrm>
            <a:prstGeom prst="rect">
              <a:avLst/>
            </a:prstGeom>
            <a:noFill/>
            <a:ln w="9525">
              <a:noFill/>
              <a:miter lim="800000"/>
              <a:headEnd/>
              <a:tailEnd/>
            </a:ln>
          </p:spPr>
          <p:txBody>
            <a:bodyPr/>
            <a:lstStyle/>
            <a:p>
              <a:endParaRPr lang="en-US"/>
            </a:p>
          </p:txBody>
        </p:sp>
        <p:sp>
          <p:nvSpPr>
            <p:cNvPr id="1394700" name="Rectangle 12"/>
            <p:cNvSpPr>
              <a:spLocks noChangeArrowheads="1"/>
            </p:cNvSpPr>
            <p:nvPr/>
          </p:nvSpPr>
          <p:spPr bwMode="auto">
            <a:xfrm>
              <a:off x="4363" y="961"/>
              <a:ext cx="1055" cy="94"/>
            </a:xfrm>
            <a:prstGeom prst="rect">
              <a:avLst/>
            </a:prstGeom>
            <a:noFill/>
            <a:ln w="9525">
              <a:noFill/>
              <a:miter lim="800000"/>
              <a:headEnd/>
              <a:tailEnd/>
            </a:ln>
          </p:spPr>
          <p:txBody>
            <a:bodyPr/>
            <a:lstStyle/>
            <a:p>
              <a:endParaRPr lang="en-US"/>
            </a:p>
          </p:txBody>
        </p:sp>
        <p:sp>
          <p:nvSpPr>
            <p:cNvPr id="1394701" name="Rectangle 13"/>
            <p:cNvSpPr>
              <a:spLocks noChangeArrowheads="1"/>
            </p:cNvSpPr>
            <p:nvPr/>
          </p:nvSpPr>
          <p:spPr bwMode="auto">
            <a:xfrm>
              <a:off x="4391" y="974"/>
              <a:ext cx="436" cy="67"/>
            </a:xfrm>
            <a:prstGeom prst="rect">
              <a:avLst/>
            </a:prstGeom>
            <a:noFill/>
            <a:ln w="9525">
              <a:noFill/>
              <a:miter lim="800000"/>
              <a:headEnd/>
              <a:tailEnd/>
            </a:ln>
          </p:spPr>
          <p:txBody>
            <a:bodyPr wrap="none" lIns="0" tIns="0" rIns="0" bIns="0">
              <a:spAutoFit/>
            </a:bodyPr>
            <a:lstStyle/>
            <a:p>
              <a:pPr algn="l">
                <a:buFontTx/>
                <a:buNone/>
              </a:pPr>
              <a:r>
                <a:rPr lang="en-US" sz="700" b="1">
                  <a:solidFill>
                    <a:srgbClr val="40458C"/>
                  </a:solidFill>
                  <a:latin typeface="Tahoma" pitchFamily="34" charset="0"/>
                </a:rPr>
                <a:t>Measurement Area</a:t>
              </a:r>
              <a:endParaRPr lang="en-US"/>
            </a:p>
          </p:txBody>
        </p:sp>
        <p:sp>
          <p:nvSpPr>
            <p:cNvPr id="1394702" name="Rectangle 14"/>
            <p:cNvSpPr>
              <a:spLocks noChangeArrowheads="1"/>
            </p:cNvSpPr>
            <p:nvPr/>
          </p:nvSpPr>
          <p:spPr bwMode="auto">
            <a:xfrm>
              <a:off x="4601" y="1164"/>
              <a:ext cx="789" cy="94"/>
            </a:xfrm>
            <a:prstGeom prst="rect">
              <a:avLst/>
            </a:prstGeom>
            <a:noFill/>
            <a:ln w="9525">
              <a:noFill/>
              <a:miter lim="800000"/>
              <a:headEnd/>
              <a:tailEnd/>
            </a:ln>
          </p:spPr>
          <p:txBody>
            <a:bodyPr/>
            <a:lstStyle/>
            <a:p>
              <a:endParaRPr lang="en-US"/>
            </a:p>
          </p:txBody>
        </p:sp>
        <p:sp>
          <p:nvSpPr>
            <p:cNvPr id="1394703" name="Rectangle 15"/>
            <p:cNvSpPr>
              <a:spLocks noChangeArrowheads="1"/>
            </p:cNvSpPr>
            <p:nvPr/>
          </p:nvSpPr>
          <p:spPr bwMode="auto">
            <a:xfrm>
              <a:off x="4629" y="1177"/>
              <a:ext cx="538" cy="67"/>
            </a:xfrm>
            <a:prstGeom prst="rect">
              <a:avLst/>
            </a:prstGeom>
            <a:noFill/>
            <a:ln w="9525">
              <a:noFill/>
              <a:miter lim="800000"/>
              <a:headEnd/>
              <a:tailEnd/>
            </a:ln>
          </p:spPr>
          <p:txBody>
            <a:bodyPr wrap="none" lIns="0" tIns="0" rIns="0" bIns="0">
              <a:spAutoFit/>
            </a:bodyPr>
            <a:lstStyle/>
            <a:p>
              <a:pPr algn="l">
                <a:buFontTx/>
                <a:buNone/>
              </a:pPr>
              <a:r>
                <a:rPr lang="en-US" sz="700" b="1">
                  <a:solidFill>
                    <a:srgbClr val="40458C"/>
                  </a:solidFill>
                  <a:latin typeface="Tahoma" pitchFamily="34" charset="0"/>
                </a:rPr>
                <a:t>Measurement Category</a:t>
              </a:r>
              <a:endParaRPr lang="en-US"/>
            </a:p>
          </p:txBody>
        </p:sp>
        <p:sp>
          <p:nvSpPr>
            <p:cNvPr id="1394704" name="Rectangle 16"/>
            <p:cNvSpPr>
              <a:spLocks noChangeArrowheads="1"/>
            </p:cNvSpPr>
            <p:nvPr/>
          </p:nvSpPr>
          <p:spPr bwMode="auto">
            <a:xfrm>
              <a:off x="4802" y="1354"/>
              <a:ext cx="492" cy="94"/>
            </a:xfrm>
            <a:prstGeom prst="rect">
              <a:avLst/>
            </a:prstGeom>
            <a:noFill/>
            <a:ln w="9525">
              <a:noFill/>
              <a:miter lim="800000"/>
              <a:headEnd/>
              <a:tailEnd/>
            </a:ln>
          </p:spPr>
          <p:txBody>
            <a:bodyPr/>
            <a:lstStyle/>
            <a:p>
              <a:endParaRPr lang="en-US"/>
            </a:p>
          </p:txBody>
        </p:sp>
        <p:sp>
          <p:nvSpPr>
            <p:cNvPr id="1394705" name="Rectangle 17"/>
            <p:cNvSpPr>
              <a:spLocks noChangeArrowheads="1"/>
            </p:cNvSpPr>
            <p:nvPr/>
          </p:nvSpPr>
          <p:spPr bwMode="auto">
            <a:xfrm>
              <a:off x="4830" y="1367"/>
              <a:ext cx="632" cy="7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latin typeface="Tahoma" pitchFamily="34" charset="0"/>
                </a:rPr>
                <a:t>Performance Indicator  </a:t>
              </a:r>
              <a:endParaRPr lang="en-US" sz="800"/>
            </a:p>
          </p:txBody>
        </p:sp>
        <p:grpSp>
          <p:nvGrpSpPr>
            <p:cNvPr id="1394706" name="Group 18"/>
            <p:cNvGrpSpPr>
              <a:grpSpLocks/>
            </p:cNvGrpSpPr>
            <p:nvPr/>
          </p:nvGrpSpPr>
          <p:grpSpPr bwMode="auto">
            <a:xfrm>
              <a:off x="4390" y="1078"/>
              <a:ext cx="1070" cy="8"/>
              <a:chOff x="4390" y="1078"/>
              <a:chExt cx="1070" cy="8"/>
            </a:xfrm>
          </p:grpSpPr>
          <p:sp>
            <p:nvSpPr>
              <p:cNvPr id="1394707" name="Rectangle 19"/>
              <p:cNvSpPr>
                <a:spLocks noChangeArrowheads="1"/>
              </p:cNvSpPr>
              <p:nvPr/>
            </p:nvSpPr>
            <p:spPr bwMode="auto">
              <a:xfrm>
                <a:off x="4390" y="1078"/>
                <a:ext cx="8" cy="8"/>
              </a:xfrm>
              <a:prstGeom prst="rect">
                <a:avLst/>
              </a:prstGeom>
              <a:solidFill>
                <a:srgbClr val="40458C"/>
              </a:solidFill>
              <a:ln w="9525">
                <a:noFill/>
                <a:miter lim="800000"/>
                <a:headEnd/>
                <a:tailEnd/>
              </a:ln>
            </p:spPr>
            <p:txBody>
              <a:bodyPr/>
              <a:lstStyle/>
              <a:p>
                <a:endParaRPr lang="en-US"/>
              </a:p>
            </p:txBody>
          </p:sp>
          <p:sp>
            <p:nvSpPr>
              <p:cNvPr id="1394708" name="Rectangle 20"/>
              <p:cNvSpPr>
                <a:spLocks noChangeArrowheads="1"/>
              </p:cNvSpPr>
              <p:nvPr/>
            </p:nvSpPr>
            <p:spPr bwMode="auto">
              <a:xfrm>
                <a:off x="4406" y="1078"/>
                <a:ext cx="8" cy="8"/>
              </a:xfrm>
              <a:prstGeom prst="rect">
                <a:avLst/>
              </a:prstGeom>
              <a:solidFill>
                <a:srgbClr val="40458C"/>
              </a:solidFill>
              <a:ln w="9525">
                <a:noFill/>
                <a:miter lim="800000"/>
                <a:headEnd/>
                <a:tailEnd/>
              </a:ln>
            </p:spPr>
            <p:txBody>
              <a:bodyPr/>
              <a:lstStyle/>
              <a:p>
                <a:endParaRPr lang="en-US"/>
              </a:p>
            </p:txBody>
          </p:sp>
          <p:sp>
            <p:nvSpPr>
              <p:cNvPr id="1394709" name="Rectangle 21"/>
              <p:cNvSpPr>
                <a:spLocks noChangeArrowheads="1"/>
              </p:cNvSpPr>
              <p:nvPr/>
            </p:nvSpPr>
            <p:spPr bwMode="auto">
              <a:xfrm>
                <a:off x="4421" y="1078"/>
                <a:ext cx="8" cy="8"/>
              </a:xfrm>
              <a:prstGeom prst="rect">
                <a:avLst/>
              </a:prstGeom>
              <a:solidFill>
                <a:srgbClr val="40458C"/>
              </a:solidFill>
              <a:ln w="9525">
                <a:noFill/>
                <a:miter lim="800000"/>
                <a:headEnd/>
                <a:tailEnd/>
              </a:ln>
            </p:spPr>
            <p:txBody>
              <a:bodyPr/>
              <a:lstStyle/>
              <a:p>
                <a:endParaRPr lang="en-US"/>
              </a:p>
            </p:txBody>
          </p:sp>
          <p:sp>
            <p:nvSpPr>
              <p:cNvPr id="1394710" name="Rectangle 22"/>
              <p:cNvSpPr>
                <a:spLocks noChangeArrowheads="1"/>
              </p:cNvSpPr>
              <p:nvPr/>
            </p:nvSpPr>
            <p:spPr bwMode="auto">
              <a:xfrm>
                <a:off x="4437" y="1078"/>
                <a:ext cx="8" cy="8"/>
              </a:xfrm>
              <a:prstGeom prst="rect">
                <a:avLst/>
              </a:prstGeom>
              <a:solidFill>
                <a:srgbClr val="40458C"/>
              </a:solidFill>
              <a:ln w="9525">
                <a:noFill/>
                <a:miter lim="800000"/>
                <a:headEnd/>
                <a:tailEnd/>
              </a:ln>
            </p:spPr>
            <p:txBody>
              <a:bodyPr/>
              <a:lstStyle/>
              <a:p>
                <a:endParaRPr lang="en-US"/>
              </a:p>
            </p:txBody>
          </p:sp>
          <p:sp>
            <p:nvSpPr>
              <p:cNvPr id="1394711" name="Rectangle 23"/>
              <p:cNvSpPr>
                <a:spLocks noChangeArrowheads="1"/>
              </p:cNvSpPr>
              <p:nvPr/>
            </p:nvSpPr>
            <p:spPr bwMode="auto">
              <a:xfrm>
                <a:off x="4453" y="1078"/>
                <a:ext cx="7" cy="8"/>
              </a:xfrm>
              <a:prstGeom prst="rect">
                <a:avLst/>
              </a:prstGeom>
              <a:solidFill>
                <a:srgbClr val="40458C"/>
              </a:solidFill>
              <a:ln w="9525">
                <a:noFill/>
                <a:miter lim="800000"/>
                <a:headEnd/>
                <a:tailEnd/>
              </a:ln>
            </p:spPr>
            <p:txBody>
              <a:bodyPr/>
              <a:lstStyle/>
              <a:p>
                <a:endParaRPr lang="en-US"/>
              </a:p>
            </p:txBody>
          </p:sp>
          <p:sp>
            <p:nvSpPr>
              <p:cNvPr id="1394712" name="Rectangle 24"/>
              <p:cNvSpPr>
                <a:spLocks noChangeArrowheads="1"/>
              </p:cNvSpPr>
              <p:nvPr/>
            </p:nvSpPr>
            <p:spPr bwMode="auto">
              <a:xfrm>
                <a:off x="4468" y="1078"/>
                <a:ext cx="8" cy="8"/>
              </a:xfrm>
              <a:prstGeom prst="rect">
                <a:avLst/>
              </a:prstGeom>
              <a:solidFill>
                <a:srgbClr val="40458C"/>
              </a:solidFill>
              <a:ln w="9525">
                <a:noFill/>
                <a:miter lim="800000"/>
                <a:headEnd/>
                <a:tailEnd/>
              </a:ln>
            </p:spPr>
            <p:txBody>
              <a:bodyPr/>
              <a:lstStyle/>
              <a:p>
                <a:endParaRPr lang="en-US"/>
              </a:p>
            </p:txBody>
          </p:sp>
          <p:sp>
            <p:nvSpPr>
              <p:cNvPr id="1394713" name="Rectangle 25"/>
              <p:cNvSpPr>
                <a:spLocks noChangeArrowheads="1"/>
              </p:cNvSpPr>
              <p:nvPr/>
            </p:nvSpPr>
            <p:spPr bwMode="auto">
              <a:xfrm>
                <a:off x="4484" y="1078"/>
                <a:ext cx="8" cy="8"/>
              </a:xfrm>
              <a:prstGeom prst="rect">
                <a:avLst/>
              </a:prstGeom>
              <a:solidFill>
                <a:srgbClr val="40458C"/>
              </a:solidFill>
              <a:ln w="9525">
                <a:noFill/>
                <a:miter lim="800000"/>
                <a:headEnd/>
                <a:tailEnd/>
              </a:ln>
            </p:spPr>
            <p:txBody>
              <a:bodyPr/>
              <a:lstStyle/>
              <a:p>
                <a:endParaRPr lang="en-US"/>
              </a:p>
            </p:txBody>
          </p:sp>
          <p:sp>
            <p:nvSpPr>
              <p:cNvPr id="1394714" name="Rectangle 26"/>
              <p:cNvSpPr>
                <a:spLocks noChangeArrowheads="1"/>
              </p:cNvSpPr>
              <p:nvPr/>
            </p:nvSpPr>
            <p:spPr bwMode="auto">
              <a:xfrm>
                <a:off x="4499" y="1078"/>
                <a:ext cx="8" cy="8"/>
              </a:xfrm>
              <a:prstGeom prst="rect">
                <a:avLst/>
              </a:prstGeom>
              <a:solidFill>
                <a:srgbClr val="40458C"/>
              </a:solidFill>
              <a:ln w="9525">
                <a:noFill/>
                <a:miter lim="800000"/>
                <a:headEnd/>
                <a:tailEnd/>
              </a:ln>
            </p:spPr>
            <p:txBody>
              <a:bodyPr/>
              <a:lstStyle/>
              <a:p>
                <a:endParaRPr lang="en-US"/>
              </a:p>
            </p:txBody>
          </p:sp>
          <p:sp>
            <p:nvSpPr>
              <p:cNvPr id="1394715" name="Rectangle 27"/>
              <p:cNvSpPr>
                <a:spLocks noChangeArrowheads="1"/>
              </p:cNvSpPr>
              <p:nvPr/>
            </p:nvSpPr>
            <p:spPr bwMode="auto">
              <a:xfrm>
                <a:off x="4515" y="1078"/>
                <a:ext cx="8" cy="8"/>
              </a:xfrm>
              <a:prstGeom prst="rect">
                <a:avLst/>
              </a:prstGeom>
              <a:solidFill>
                <a:srgbClr val="40458C"/>
              </a:solidFill>
              <a:ln w="9525">
                <a:noFill/>
                <a:miter lim="800000"/>
                <a:headEnd/>
                <a:tailEnd/>
              </a:ln>
            </p:spPr>
            <p:txBody>
              <a:bodyPr/>
              <a:lstStyle/>
              <a:p>
                <a:endParaRPr lang="en-US"/>
              </a:p>
            </p:txBody>
          </p:sp>
          <p:sp>
            <p:nvSpPr>
              <p:cNvPr id="1394716" name="Rectangle 28"/>
              <p:cNvSpPr>
                <a:spLocks noChangeArrowheads="1"/>
              </p:cNvSpPr>
              <p:nvPr/>
            </p:nvSpPr>
            <p:spPr bwMode="auto">
              <a:xfrm>
                <a:off x="4531" y="1078"/>
                <a:ext cx="7" cy="8"/>
              </a:xfrm>
              <a:prstGeom prst="rect">
                <a:avLst/>
              </a:prstGeom>
              <a:solidFill>
                <a:srgbClr val="40458C"/>
              </a:solidFill>
              <a:ln w="9525">
                <a:noFill/>
                <a:miter lim="800000"/>
                <a:headEnd/>
                <a:tailEnd/>
              </a:ln>
            </p:spPr>
            <p:txBody>
              <a:bodyPr/>
              <a:lstStyle/>
              <a:p>
                <a:endParaRPr lang="en-US"/>
              </a:p>
            </p:txBody>
          </p:sp>
          <p:sp>
            <p:nvSpPr>
              <p:cNvPr id="1394717" name="Rectangle 29"/>
              <p:cNvSpPr>
                <a:spLocks noChangeArrowheads="1"/>
              </p:cNvSpPr>
              <p:nvPr/>
            </p:nvSpPr>
            <p:spPr bwMode="auto">
              <a:xfrm>
                <a:off x="4546" y="1078"/>
                <a:ext cx="8" cy="8"/>
              </a:xfrm>
              <a:prstGeom prst="rect">
                <a:avLst/>
              </a:prstGeom>
              <a:solidFill>
                <a:srgbClr val="40458C"/>
              </a:solidFill>
              <a:ln w="9525">
                <a:noFill/>
                <a:miter lim="800000"/>
                <a:headEnd/>
                <a:tailEnd/>
              </a:ln>
            </p:spPr>
            <p:txBody>
              <a:bodyPr/>
              <a:lstStyle/>
              <a:p>
                <a:endParaRPr lang="en-US"/>
              </a:p>
            </p:txBody>
          </p:sp>
          <p:sp>
            <p:nvSpPr>
              <p:cNvPr id="1394718" name="Rectangle 30"/>
              <p:cNvSpPr>
                <a:spLocks noChangeArrowheads="1"/>
              </p:cNvSpPr>
              <p:nvPr/>
            </p:nvSpPr>
            <p:spPr bwMode="auto">
              <a:xfrm>
                <a:off x="4562" y="1078"/>
                <a:ext cx="8" cy="8"/>
              </a:xfrm>
              <a:prstGeom prst="rect">
                <a:avLst/>
              </a:prstGeom>
              <a:solidFill>
                <a:srgbClr val="40458C"/>
              </a:solidFill>
              <a:ln w="9525">
                <a:noFill/>
                <a:miter lim="800000"/>
                <a:headEnd/>
                <a:tailEnd/>
              </a:ln>
            </p:spPr>
            <p:txBody>
              <a:bodyPr/>
              <a:lstStyle/>
              <a:p>
                <a:endParaRPr lang="en-US"/>
              </a:p>
            </p:txBody>
          </p:sp>
          <p:sp>
            <p:nvSpPr>
              <p:cNvPr id="1394719" name="Rectangle 31"/>
              <p:cNvSpPr>
                <a:spLocks noChangeArrowheads="1"/>
              </p:cNvSpPr>
              <p:nvPr/>
            </p:nvSpPr>
            <p:spPr bwMode="auto">
              <a:xfrm>
                <a:off x="4577" y="1078"/>
                <a:ext cx="8" cy="8"/>
              </a:xfrm>
              <a:prstGeom prst="rect">
                <a:avLst/>
              </a:prstGeom>
              <a:solidFill>
                <a:srgbClr val="40458C"/>
              </a:solidFill>
              <a:ln w="9525">
                <a:noFill/>
                <a:miter lim="800000"/>
                <a:headEnd/>
                <a:tailEnd/>
              </a:ln>
            </p:spPr>
            <p:txBody>
              <a:bodyPr/>
              <a:lstStyle/>
              <a:p>
                <a:endParaRPr lang="en-US"/>
              </a:p>
            </p:txBody>
          </p:sp>
          <p:sp>
            <p:nvSpPr>
              <p:cNvPr id="1394720" name="Rectangle 32"/>
              <p:cNvSpPr>
                <a:spLocks noChangeArrowheads="1"/>
              </p:cNvSpPr>
              <p:nvPr/>
            </p:nvSpPr>
            <p:spPr bwMode="auto">
              <a:xfrm>
                <a:off x="4593" y="1078"/>
                <a:ext cx="8" cy="8"/>
              </a:xfrm>
              <a:prstGeom prst="rect">
                <a:avLst/>
              </a:prstGeom>
              <a:solidFill>
                <a:srgbClr val="40458C"/>
              </a:solidFill>
              <a:ln w="9525">
                <a:noFill/>
                <a:miter lim="800000"/>
                <a:headEnd/>
                <a:tailEnd/>
              </a:ln>
            </p:spPr>
            <p:txBody>
              <a:bodyPr/>
              <a:lstStyle/>
              <a:p>
                <a:endParaRPr lang="en-US"/>
              </a:p>
            </p:txBody>
          </p:sp>
          <p:sp>
            <p:nvSpPr>
              <p:cNvPr id="1394721" name="Rectangle 33"/>
              <p:cNvSpPr>
                <a:spLocks noChangeArrowheads="1"/>
              </p:cNvSpPr>
              <p:nvPr/>
            </p:nvSpPr>
            <p:spPr bwMode="auto">
              <a:xfrm>
                <a:off x="4609" y="1078"/>
                <a:ext cx="7" cy="8"/>
              </a:xfrm>
              <a:prstGeom prst="rect">
                <a:avLst/>
              </a:prstGeom>
              <a:solidFill>
                <a:srgbClr val="40458C"/>
              </a:solidFill>
              <a:ln w="9525">
                <a:noFill/>
                <a:miter lim="800000"/>
                <a:headEnd/>
                <a:tailEnd/>
              </a:ln>
            </p:spPr>
            <p:txBody>
              <a:bodyPr/>
              <a:lstStyle/>
              <a:p>
                <a:endParaRPr lang="en-US"/>
              </a:p>
            </p:txBody>
          </p:sp>
          <p:sp>
            <p:nvSpPr>
              <p:cNvPr id="1394722" name="Rectangle 34"/>
              <p:cNvSpPr>
                <a:spLocks noChangeArrowheads="1"/>
              </p:cNvSpPr>
              <p:nvPr/>
            </p:nvSpPr>
            <p:spPr bwMode="auto">
              <a:xfrm>
                <a:off x="4624" y="1078"/>
                <a:ext cx="8" cy="8"/>
              </a:xfrm>
              <a:prstGeom prst="rect">
                <a:avLst/>
              </a:prstGeom>
              <a:solidFill>
                <a:srgbClr val="40458C"/>
              </a:solidFill>
              <a:ln w="9525">
                <a:noFill/>
                <a:miter lim="800000"/>
                <a:headEnd/>
                <a:tailEnd/>
              </a:ln>
            </p:spPr>
            <p:txBody>
              <a:bodyPr/>
              <a:lstStyle/>
              <a:p>
                <a:endParaRPr lang="en-US"/>
              </a:p>
            </p:txBody>
          </p:sp>
          <p:sp>
            <p:nvSpPr>
              <p:cNvPr id="1394723" name="Rectangle 35"/>
              <p:cNvSpPr>
                <a:spLocks noChangeArrowheads="1"/>
              </p:cNvSpPr>
              <p:nvPr/>
            </p:nvSpPr>
            <p:spPr bwMode="auto">
              <a:xfrm>
                <a:off x="4640" y="1078"/>
                <a:ext cx="8" cy="8"/>
              </a:xfrm>
              <a:prstGeom prst="rect">
                <a:avLst/>
              </a:prstGeom>
              <a:solidFill>
                <a:srgbClr val="40458C"/>
              </a:solidFill>
              <a:ln w="9525">
                <a:noFill/>
                <a:miter lim="800000"/>
                <a:headEnd/>
                <a:tailEnd/>
              </a:ln>
            </p:spPr>
            <p:txBody>
              <a:bodyPr/>
              <a:lstStyle/>
              <a:p>
                <a:endParaRPr lang="en-US"/>
              </a:p>
            </p:txBody>
          </p:sp>
          <p:sp>
            <p:nvSpPr>
              <p:cNvPr id="1394724" name="Rectangle 36"/>
              <p:cNvSpPr>
                <a:spLocks noChangeArrowheads="1"/>
              </p:cNvSpPr>
              <p:nvPr/>
            </p:nvSpPr>
            <p:spPr bwMode="auto">
              <a:xfrm>
                <a:off x="4656" y="1078"/>
                <a:ext cx="7" cy="8"/>
              </a:xfrm>
              <a:prstGeom prst="rect">
                <a:avLst/>
              </a:prstGeom>
              <a:solidFill>
                <a:srgbClr val="40458C"/>
              </a:solidFill>
              <a:ln w="9525">
                <a:noFill/>
                <a:miter lim="800000"/>
                <a:headEnd/>
                <a:tailEnd/>
              </a:ln>
            </p:spPr>
            <p:txBody>
              <a:bodyPr/>
              <a:lstStyle/>
              <a:p>
                <a:endParaRPr lang="en-US"/>
              </a:p>
            </p:txBody>
          </p:sp>
          <p:sp>
            <p:nvSpPr>
              <p:cNvPr id="1394725" name="Rectangle 37"/>
              <p:cNvSpPr>
                <a:spLocks noChangeArrowheads="1"/>
              </p:cNvSpPr>
              <p:nvPr/>
            </p:nvSpPr>
            <p:spPr bwMode="auto">
              <a:xfrm>
                <a:off x="4671" y="1078"/>
                <a:ext cx="8" cy="8"/>
              </a:xfrm>
              <a:prstGeom prst="rect">
                <a:avLst/>
              </a:prstGeom>
              <a:solidFill>
                <a:srgbClr val="40458C"/>
              </a:solidFill>
              <a:ln w="9525">
                <a:noFill/>
                <a:miter lim="800000"/>
                <a:headEnd/>
                <a:tailEnd/>
              </a:ln>
            </p:spPr>
            <p:txBody>
              <a:bodyPr/>
              <a:lstStyle/>
              <a:p>
                <a:endParaRPr lang="en-US"/>
              </a:p>
            </p:txBody>
          </p:sp>
          <p:sp>
            <p:nvSpPr>
              <p:cNvPr id="1394726" name="Rectangle 38"/>
              <p:cNvSpPr>
                <a:spLocks noChangeArrowheads="1"/>
              </p:cNvSpPr>
              <p:nvPr/>
            </p:nvSpPr>
            <p:spPr bwMode="auto">
              <a:xfrm>
                <a:off x="4687" y="1078"/>
                <a:ext cx="8" cy="8"/>
              </a:xfrm>
              <a:prstGeom prst="rect">
                <a:avLst/>
              </a:prstGeom>
              <a:solidFill>
                <a:srgbClr val="40458C"/>
              </a:solidFill>
              <a:ln w="9525">
                <a:noFill/>
                <a:miter lim="800000"/>
                <a:headEnd/>
                <a:tailEnd/>
              </a:ln>
            </p:spPr>
            <p:txBody>
              <a:bodyPr/>
              <a:lstStyle/>
              <a:p>
                <a:endParaRPr lang="en-US"/>
              </a:p>
            </p:txBody>
          </p:sp>
          <p:sp>
            <p:nvSpPr>
              <p:cNvPr id="1394727" name="Rectangle 39"/>
              <p:cNvSpPr>
                <a:spLocks noChangeArrowheads="1"/>
              </p:cNvSpPr>
              <p:nvPr/>
            </p:nvSpPr>
            <p:spPr bwMode="auto">
              <a:xfrm>
                <a:off x="4702" y="1078"/>
                <a:ext cx="8" cy="8"/>
              </a:xfrm>
              <a:prstGeom prst="rect">
                <a:avLst/>
              </a:prstGeom>
              <a:solidFill>
                <a:srgbClr val="40458C"/>
              </a:solidFill>
              <a:ln w="9525">
                <a:noFill/>
                <a:miter lim="800000"/>
                <a:headEnd/>
                <a:tailEnd/>
              </a:ln>
            </p:spPr>
            <p:txBody>
              <a:bodyPr/>
              <a:lstStyle/>
              <a:p>
                <a:endParaRPr lang="en-US"/>
              </a:p>
            </p:txBody>
          </p:sp>
          <p:sp>
            <p:nvSpPr>
              <p:cNvPr id="1394728" name="Rectangle 40"/>
              <p:cNvSpPr>
                <a:spLocks noChangeArrowheads="1"/>
              </p:cNvSpPr>
              <p:nvPr/>
            </p:nvSpPr>
            <p:spPr bwMode="auto">
              <a:xfrm>
                <a:off x="4718" y="1078"/>
                <a:ext cx="8" cy="8"/>
              </a:xfrm>
              <a:prstGeom prst="rect">
                <a:avLst/>
              </a:prstGeom>
              <a:solidFill>
                <a:srgbClr val="40458C"/>
              </a:solidFill>
              <a:ln w="9525">
                <a:noFill/>
                <a:miter lim="800000"/>
                <a:headEnd/>
                <a:tailEnd/>
              </a:ln>
            </p:spPr>
            <p:txBody>
              <a:bodyPr/>
              <a:lstStyle/>
              <a:p>
                <a:endParaRPr lang="en-US"/>
              </a:p>
            </p:txBody>
          </p:sp>
          <p:sp>
            <p:nvSpPr>
              <p:cNvPr id="1394729" name="Rectangle 41"/>
              <p:cNvSpPr>
                <a:spLocks noChangeArrowheads="1"/>
              </p:cNvSpPr>
              <p:nvPr/>
            </p:nvSpPr>
            <p:spPr bwMode="auto">
              <a:xfrm>
                <a:off x="4734" y="1078"/>
                <a:ext cx="7" cy="8"/>
              </a:xfrm>
              <a:prstGeom prst="rect">
                <a:avLst/>
              </a:prstGeom>
              <a:solidFill>
                <a:srgbClr val="40458C"/>
              </a:solidFill>
              <a:ln w="9525">
                <a:noFill/>
                <a:miter lim="800000"/>
                <a:headEnd/>
                <a:tailEnd/>
              </a:ln>
            </p:spPr>
            <p:txBody>
              <a:bodyPr/>
              <a:lstStyle/>
              <a:p>
                <a:endParaRPr lang="en-US"/>
              </a:p>
            </p:txBody>
          </p:sp>
          <p:sp>
            <p:nvSpPr>
              <p:cNvPr id="1394730" name="Rectangle 42"/>
              <p:cNvSpPr>
                <a:spLocks noChangeArrowheads="1"/>
              </p:cNvSpPr>
              <p:nvPr/>
            </p:nvSpPr>
            <p:spPr bwMode="auto">
              <a:xfrm>
                <a:off x="4749" y="1078"/>
                <a:ext cx="8" cy="8"/>
              </a:xfrm>
              <a:prstGeom prst="rect">
                <a:avLst/>
              </a:prstGeom>
              <a:solidFill>
                <a:srgbClr val="40458C"/>
              </a:solidFill>
              <a:ln w="9525">
                <a:noFill/>
                <a:miter lim="800000"/>
                <a:headEnd/>
                <a:tailEnd/>
              </a:ln>
            </p:spPr>
            <p:txBody>
              <a:bodyPr/>
              <a:lstStyle/>
              <a:p>
                <a:endParaRPr lang="en-US"/>
              </a:p>
            </p:txBody>
          </p:sp>
          <p:sp>
            <p:nvSpPr>
              <p:cNvPr id="1394731" name="Rectangle 43"/>
              <p:cNvSpPr>
                <a:spLocks noChangeArrowheads="1"/>
              </p:cNvSpPr>
              <p:nvPr/>
            </p:nvSpPr>
            <p:spPr bwMode="auto">
              <a:xfrm>
                <a:off x="4765" y="1078"/>
                <a:ext cx="8" cy="8"/>
              </a:xfrm>
              <a:prstGeom prst="rect">
                <a:avLst/>
              </a:prstGeom>
              <a:solidFill>
                <a:srgbClr val="40458C"/>
              </a:solidFill>
              <a:ln w="9525">
                <a:noFill/>
                <a:miter lim="800000"/>
                <a:headEnd/>
                <a:tailEnd/>
              </a:ln>
            </p:spPr>
            <p:txBody>
              <a:bodyPr/>
              <a:lstStyle/>
              <a:p>
                <a:endParaRPr lang="en-US"/>
              </a:p>
            </p:txBody>
          </p:sp>
          <p:sp>
            <p:nvSpPr>
              <p:cNvPr id="1394732" name="Rectangle 44"/>
              <p:cNvSpPr>
                <a:spLocks noChangeArrowheads="1"/>
              </p:cNvSpPr>
              <p:nvPr/>
            </p:nvSpPr>
            <p:spPr bwMode="auto">
              <a:xfrm>
                <a:off x="4780" y="1078"/>
                <a:ext cx="8" cy="8"/>
              </a:xfrm>
              <a:prstGeom prst="rect">
                <a:avLst/>
              </a:prstGeom>
              <a:solidFill>
                <a:srgbClr val="40458C"/>
              </a:solidFill>
              <a:ln w="9525">
                <a:noFill/>
                <a:miter lim="800000"/>
                <a:headEnd/>
                <a:tailEnd/>
              </a:ln>
            </p:spPr>
            <p:txBody>
              <a:bodyPr/>
              <a:lstStyle/>
              <a:p>
                <a:endParaRPr lang="en-US"/>
              </a:p>
            </p:txBody>
          </p:sp>
          <p:sp>
            <p:nvSpPr>
              <p:cNvPr id="1394733" name="Rectangle 45"/>
              <p:cNvSpPr>
                <a:spLocks noChangeArrowheads="1"/>
              </p:cNvSpPr>
              <p:nvPr/>
            </p:nvSpPr>
            <p:spPr bwMode="auto">
              <a:xfrm>
                <a:off x="4796" y="1078"/>
                <a:ext cx="8" cy="8"/>
              </a:xfrm>
              <a:prstGeom prst="rect">
                <a:avLst/>
              </a:prstGeom>
              <a:solidFill>
                <a:srgbClr val="40458C"/>
              </a:solidFill>
              <a:ln w="9525">
                <a:noFill/>
                <a:miter lim="800000"/>
                <a:headEnd/>
                <a:tailEnd/>
              </a:ln>
            </p:spPr>
            <p:txBody>
              <a:bodyPr/>
              <a:lstStyle/>
              <a:p>
                <a:endParaRPr lang="en-US"/>
              </a:p>
            </p:txBody>
          </p:sp>
          <p:sp>
            <p:nvSpPr>
              <p:cNvPr id="1394734" name="Rectangle 46"/>
              <p:cNvSpPr>
                <a:spLocks noChangeArrowheads="1"/>
              </p:cNvSpPr>
              <p:nvPr/>
            </p:nvSpPr>
            <p:spPr bwMode="auto">
              <a:xfrm>
                <a:off x="4812" y="1078"/>
                <a:ext cx="7" cy="8"/>
              </a:xfrm>
              <a:prstGeom prst="rect">
                <a:avLst/>
              </a:prstGeom>
              <a:solidFill>
                <a:srgbClr val="40458C"/>
              </a:solidFill>
              <a:ln w="9525">
                <a:noFill/>
                <a:miter lim="800000"/>
                <a:headEnd/>
                <a:tailEnd/>
              </a:ln>
            </p:spPr>
            <p:txBody>
              <a:bodyPr/>
              <a:lstStyle/>
              <a:p>
                <a:endParaRPr lang="en-US"/>
              </a:p>
            </p:txBody>
          </p:sp>
          <p:sp>
            <p:nvSpPr>
              <p:cNvPr id="1394735" name="Rectangle 47"/>
              <p:cNvSpPr>
                <a:spLocks noChangeArrowheads="1"/>
              </p:cNvSpPr>
              <p:nvPr/>
            </p:nvSpPr>
            <p:spPr bwMode="auto">
              <a:xfrm>
                <a:off x="4827" y="1078"/>
                <a:ext cx="8" cy="8"/>
              </a:xfrm>
              <a:prstGeom prst="rect">
                <a:avLst/>
              </a:prstGeom>
              <a:solidFill>
                <a:srgbClr val="40458C"/>
              </a:solidFill>
              <a:ln w="9525">
                <a:noFill/>
                <a:miter lim="800000"/>
                <a:headEnd/>
                <a:tailEnd/>
              </a:ln>
            </p:spPr>
            <p:txBody>
              <a:bodyPr/>
              <a:lstStyle/>
              <a:p>
                <a:endParaRPr lang="en-US"/>
              </a:p>
            </p:txBody>
          </p:sp>
          <p:sp>
            <p:nvSpPr>
              <p:cNvPr id="1394736" name="Rectangle 48"/>
              <p:cNvSpPr>
                <a:spLocks noChangeArrowheads="1"/>
              </p:cNvSpPr>
              <p:nvPr/>
            </p:nvSpPr>
            <p:spPr bwMode="auto">
              <a:xfrm>
                <a:off x="4843" y="1078"/>
                <a:ext cx="8" cy="8"/>
              </a:xfrm>
              <a:prstGeom prst="rect">
                <a:avLst/>
              </a:prstGeom>
              <a:solidFill>
                <a:srgbClr val="40458C"/>
              </a:solidFill>
              <a:ln w="9525">
                <a:noFill/>
                <a:miter lim="800000"/>
                <a:headEnd/>
                <a:tailEnd/>
              </a:ln>
            </p:spPr>
            <p:txBody>
              <a:bodyPr/>
              <a:lstStyle/>
              <a:p>
                <a:endParaRPr lang="en-US"/>
              </a:p>
            </p:txBody>
          </p:sp>
          <p:sp>
            <p:nvSpPr>
              <p:cNvPr id="1394737" name="Rectangle 49"/>
              <p:cNvSpPr>
                <a:spLocks noChangeArrowheads="1"/>
              </p:cNvSpPr>
              <p:nvPr/>
            </p:nvSpPr>
            <p:spPr bwMode="auto">
              <a:xfrm>
                <a:off x="4858" y="1078"/>
                <a:ext cx="8" cy="8"/>
              </a:xfrm>
              <a:prstGeom prst="rect">
                <a:avLst/>
              </a:prstGeom>
              <a:solidFill>
                <a:srgbClr val="40458C"/>
              </a:solidFill>
              <a:ln w="9525">
                <a:noFill/>
                <a:miter lim="800000"/>
                <a:headEnd/>
                <a:tailEnd/>
              </a:ln>
            </p:spPr>
            <p:txBody>
              <a:bodyPr/>
              <a:lstStyle/>
              <a:p>
                <a:endParaRPr lang="en-US"/>
              </a:p>
            </p:txBody>
          </p:sp>
          <p:sp>
            <p:nvSpPr>
              <p:cNvPr id="1394738" name="Rectangle 50"/>
              <p:cNvSpPr>
                <a:spLocks noChangeArrowheads="1"/>
              </p:cNvSpPr>
              <p:nvPr/>
            </p:nvSpPr>
            <p:spPr bwMode="auto">
              <a:xfrm>
                <a:off x="4874" y="1078"/>
                <a:ext cx="8" cy="8"/>
              </a:xfrm>
              <a:prstGeom prst="rect">
                <a:avLst/>
              </a:prstGeom>
              <a:solidFill>
                <a:srgbClr val="40458C"/>
              </a:solidFill>
              <a:ln w="9525">
                <a:noFill/>
                <a:miter lim="800000"/>
                <a:headEnd/>
                <a:tailEnd/>
              </a:ln>
            </p:spPr>
            <p:txBody>
              <a:bodyPr/>
              <a:lstStyle/>
              <a:p>
                <a:endParaRPr lang="en-US"/>
              </a:p>
            </p:txBody>
          </p:sp>
          <p:sp>
            <p:nvSpPr>
              <p:cNvPr id="1394739" name="Rectangle 51"/>
              <p:cNvSpPr>
                <a:spLocks noChangeArrowheads="1"/>
              </p:cNvSpPr>
              <p:nvPr/>
            </p:nvSpPr>
            <p:spPr bwMode="auto">
              <a:xfrm>
                <a:off x="4890" y="1078"/>
                <a:ext cx="8" cy="8"/>
              </a:xfrm>
              <a:prstGeom prst="rect">
                <a:avLst/>
              </a:prstGeom>
              <a:solidFill>
                <a:srgbClr val="40458C"/>
              </a:solidFill>
              <a:ln w="9525">
                <a:noFill/>
                <a:miter lim="800000"/>
                <a:headEnd/>
                <a:tailEnd/>
              </a:ln>
            </p:spPr>
            <p:txBody>
              <a:bodyPr/>
              <a:lstStyle/>
              <a:p>
                <a:endParaRPr lang="en-US"/>
              </a:p>
            </p:txBody>
          </p:sp>
          <p:sp>
            <p:nvSpPr>
              <p:cNvPr id="1394740" name="Rectangle 52"/>
              <p:cNvSpPr>
                <a:spLocks noChangeArrowheads="1"/>
              </p:cNvSpPr>
              <p:nvPr/>
            </p:nvSpPr>
            <p:spPr bwMode="auto">
              <a:xfrm>
                <a:off x="4905" y="1078"/>
                <a:ext cx="8" cy="8"/>
              </a:xfrm>
              <a:prstGeom prst="rect">
                <a:avLst/>
              </a:prstGeom>
              <a:solidFill>
                <a:srgbClr val="40458C"/>
              </a:solidFill>
              <a:ln w="9525">
                <a:noFill/>
                <a:miter lim="800000"/>
                <a:headEnd/>
                <a:tailEnd/>
              </a:ln>
            </p:spPr>
            <p:txBody>
              <a:bodyPr/>
              <a:lstStyle/>
              <a:p>
                <a:endParaRPr lang="en-US"/>
              </a:p>
            </p:txBody>
          </p:sp>
          <p:sp>
            <p:nvSpPr>
              <p:cNvPr id="1394741" name="Rectangle 53"/>
              <p:cNvSpPr>
                <a:spLocks noChangeArrowheads="1"/>
              </p:cNvSpPr>
              <p:nvPr/>
            </p:nvSpPr>
            <p:spPr bwMode="auto">
              <a:xfrm>
                <a:off x="4921" y="1078"/>
                <a:ext cx="8" cy="8"/>
              </a:xfrm>
              <a:prstGeom prst="rect">
                <a:avLst/>
              </a:prstGeom>
              <a:solidFill>
                <a:srgbClr val="40458C"/>
              </a:solidFill>
              <a:ln w="9525">
                <a:noFill/>
                <a:miter lim="800000"/>
                <a:headEnd/>
                <a:tailEnd/>
              </a:ln>
            </p:spPr>
            <p:txBody>
              <a:bodyPr/>
              <a:lstStyle/>
              <a:p>
                <a:endParaRPr lang="en-US"/>
              </a:p>
            </p:txBody>
          </p:sp>
          <p:sp>
            <p:nvSpPr>
              <p:cNvPr id="1394742" name="Rectangle 54"/>
              <p:cNvSpPr>
                <a:spLocks noChangeArrowheads="1"/>
              </p:cNvSpPr>
              <p:nvPr/>
            </p:nvSpPr>
            <p:spPr bwMode="auto">
              <a:xfrm>
                <a:off x="4937" y="1078"/>
                <a:ext cx="7" cy="8"/>
              </a:xfrm>
              <a:prstGeom prst="rect">
                <a:avLst/>
              </a:prstGeom>
              <a:solidFill>
                <a:srgbClr val="40458C"/>
              </a:solidFill>
              <a:ln w="9525">
                <a:noFill/>
                <a:miter lim="800000"/>
                <a:headEnd/>
                <a:tailEnd/>
              </a:ln>
            </p:spPr>
            <p:txBody>
              <a:bodyPr/>
              <a:lstStyle/>
              <a:p>
                <a:endParaRPr lang="en-US"/>
              </a:p>
            </p:txBody>
          </p:sp>
          <p:sp>
            <p:nvSpPr>
              <p:cNvPr id="1394743" name="Rectangle 55"/>
              <p:cNvSpPr>
                <a:spLocks noChangeArrowheads="1"/>
              </p:cNvSpPr>
              <p:nvPr/>
            </p:nvSpPr>
            <p:spPr bwMode="auto">
              <a:xfrm>
                <a:off x="4952" y="1078"/>
                <a:ext cx="8" cy="8"/>
              </a:xfrm>
              <a:prstGeom prst="rect">
                <a:avLst/>
              </a:prstGeom>
              <a:solidFill>
                <a:srgbClr val="40458C"/>
              </a:solidFill>
              <a:ln w="9525">
                <a:noFill/>
                <a:miter lim="800000"/>
                <a:headEnd/>
                <a:tailEnd/>
              </a:ln>
            </p:spPr>
            <p:txBody>
              <a:bodyPr/>
              <a:lstStyle/>
              <a:p>
                <a:endParaRPr lang="en-US"/>
              </a:p>
            </p:txBody>
          </p:sp>
          <p:sp>
            <p:nvSpPr>
              <p:cNvPr id="1394744" name="Rectangle 56"/>
              <p:cNvSpPr>
                <a:spLocks noChangeArrowheads="1"/>
              </p:cNvSpPr>
              <p:nvPr/>
            </p:nvSpPr>
            <p:spPr bwMode="auto">
              <a:xfrm>
                <a:off x="4968" y="1078"/>
                <a:ext cx="8" cy="8"/>
              </a:xfrm>
              <a:prstGeom prst="rect">
                <a:avLst/>
              </a:prstGeom>
              <a:solidFill>
                <a:srgbClr val="40458C"/>
              </a:solidFill>
              <a:ln w="9525">
                <a:noFill/>
                <a:miter lim="800000"/>
                <a:headEnd/>
                <a:tailEnd/>
              </a:ln>
            </p:spPr>
            <p:txBody>
              <a:bodyPr/>
              <a:lstStyle/>
              <a:p>
                <a:endParaRPr lang="en-US"/>
              </a:p>
            </p:txBody>
          </p:sp>
          <p:sp>
            <p:nvSpPr>
              <p:cNvPr id="1394745" name="Rectangle 57"/>
              <p:cNvSpPr>
                <a:spLocks noChangeArrowheads="1"/>
              </p:cNvSpPr>
              <p:nvPr/>
            </p:nvSpPr>
            <p:spPr bwMode="auto">
              <a:xfrm>
                <a:off x="4983" y="1078"/>
                <a:ext cx="8" cy="8"/>
              </a:xfrm>
              <a:prstGeom prst="rect">
                <a:avLst/>
              </a:prstGeom>
              <a:solidFill>
                <a:srgbClr val="40458C"/>
              </a:solidFill>
              <a:ln w="9525">
                <a:noFill/>
                <a:miter lim="800000"/>
                <a:headEnd/>
                <a:tailEnd/>
              </a:ln>
            </p:spPr>
            <p:txBody>
              <a:bodyPr/>
              <a:lstStyle/>
              <a:p>
                <a:endParaRPr lang="en-US"/>
              </a:p>
            </p:txBody>
          </p:sp>
          <p:sp>
            <p:nvSpPr>
              <p:cNvPr id="1394746" name="Rectangle 58"/>
              <p:cNvSpPr>
                <a:spLocks noChangeArrowheads="1"/>
              </p:cNvSpPr>
              <p:nvPr/>
            </p:nvSpPr>
            <p:spPr bwMode="auto">
              <a:xfrm>
                <a:off x="4999" y="1078"/>
                <a:ext cx="8" cy="8"/>
              </a:xfrm>
              <a:prstGeom prst="rect">
                <a:avLst/>
              </a:prstGeom>
              <a:solidFill>
                <a:srgbClr val="40458C"/>
              </a:solidFill>
              <a:ln w="9525">
                <a:noFill/>
                <a:miter lim="800000"/>
                <a:headEnd/>
                <a:tailEnd/>
              </a:ln>
            </p:spPr>
            <p:txBody>
              <a:bodyPr/>
              <a:lstStyle/>
              <a:p>
                <a:endParaRPr lang="en-US"/>
              </a:p>
            </p:txBody>
          </p:sp>
          <p:sp>
            <p:nvSpPr>
              <p:cNvPr id="1394747" name="Rectangle 59"/>
              <p:cNvSpPr>
                <a:spLocks noChangeArrowheads="1"/>
              </p:cNvSpPr>
              <p:nvPr/>
            </p:nvSpPr>
            <p:spPr bwMode="auto">
              <a:xfrm>
                <a:off x="5015" y="1078"/>
                <a:ext cx="7" cy="8"/>
              </a:xfrm>
              <a:prstGeom prst="rect">
                <a:avLst/>
              </a:prstGeom>
              <a:solidFill>
                <a:srgbClr val="40458C"/>
              </a:solidFill>
              <a:ln w="9525">
                <a:noFill/>
                <a:miter lim="800000"/>
                <a:headEnd/>
                <a:tailEnd/>
              </a:ln>
            </p:spPr>
            <p:txBody>
              <a:bodyPr/>
              <a:lstStyle/>
              <a:p>
                <a:endParaRPr lang="en-US"/>
              </a:p>
            </p:txBody>
          </p:sp>
          <p:sp>
            <p:nvSpPr>
              <p:cNvPr id="1394748" name="Rectangle 60"/>
              <p:cNvSpPr>
                <a:spLocks noChangeArrowheads="1"/>
              </p:cNvSpPr>
              <p:nvPr/>
            </p:nvSpPr>
            <p:spPr bwMode="auto">
              <a:xfrm>
                <a:off x="5030" y="1078"/>
                <a:ext cx="8" cy="8"/>
              </a:xfrm>
              <a:prstGeom prst="rect">
                <a:avLst/>
              </a:prstGeom>
              <a:solidFill>
                <a:srgbClr val="40458C"/>
              </a:solidFill>
              <a:ln w="9525">
                <a:noFill/>
                <a:miter lim="800000"/>
                <a:headEnd/>
                <a:tailEnd/>
              </a:ln>
            </p:spPr>
            <p:txBody>
              <a:bodyPr/>
              <a:lstStyle/>
              <a:p>
                <a:endParaRPr lang="en-US"/>
              </a:p>
            </p:txBody>
          </p:sp>
          <p:sp>
            <p:nvSpPr>
              <p:cNvPr id="1394749" name="Rectangle 61"/>
              <p:cNvSpPr>
                <a:spLocks noChangeArrowheads="1"/>
              </p:cNvSpPr>
              <p:nvPr/>
            </p:nvSpPr>
            <p:spPr bwMode="auto">
              <a:xfrm>
                <a:off x="5046" y="1078"/>
                <a:ext cx="8" cy="8"/>
              </a:xfrm>
              <a:prstGeom prst="rect">
                <a:avLst/>
              </a:prstGeom>
              <a:solidFill>
                <a:srgbClr val="40458C"/>
              </a:solidFill>
              <a:ln w="9525">
                <a:noFill/>
                <a:miter lim="800000"/>
                <a:headEnd/>
                <a:tailEnd/>
              </a:ln>
            </p:spPr>
            <p:txBody>
              <a:bodyPr/>
              <a:lstStyle/>
              <a:p>
                <a:endParaRPr lang="en-US"/>
              </a:p>
            </p:txBody>
          </p:sp>
          <p:sp>
            <p:nvSpPr>
              <p:cNvPr id="1394750" name="Rectangle 62"/>
              <p:cNvSpPr>
                <a:spLocks noChangeArrowheads="1"/>
              </p:cNvSpPr>
              <p:nvPr/>
            </p:nvSpPr>
            <p:spPr bwMode="auto">
              <a:xfrm>
                <a:off x="5061" y="1078"/>
                <a:ext cx="8" cy="8"/>
              </a:xfrm>
              <a:prstGeom prst="rect">
                <a:avLst/>
              </a:prstGeom>
              <a:solidFill>
                <a:srgbClr val="40458C"/>
              </a:solidFill>
              <a:ln w="9525">
                <a:noFill/>
                <a:miter lim="800000"/>
                <a:headEnd/>
                <a:tailEnd/>
              </a:ln>
            </p:spPr>
            <p:txBody>
              <a:bodyPr/>
              <a:lstStyle/>
              <a:p>
                <a:endParaRPr lang="en-US"/>
              </a:p>
            </p:txBody>
          </p:sp>
          <p:sp>
            <p:nvSpPr>
              <p:cNvPr id="1394751" name="Rectangle 63"/>
              <p:cNvSpPr>
                <a:spLocks noChangeArrowheads="1"/>
              </p:cNvSpPr>
              <p:nvPr/>
            </p:nvSpPr>
            <p:spPr bwMode="auto">
              <a:xfrm>
                <a:off x="5077" y="1078"/>
                <a:ext cx="8" cy="8"/>
              </a:xfrm>
              <a:prstGeom prst="rect">
                <a:avLst/>
              </a:prstGeom>
              <a:solidFill>
                <a:srgbClr val="40458C"/>
              </a:solidFill>
              <a:ln w="9525">
                <a:noFill/>
                <a:miter lim="800000"/>
                <a:headEnd/>
                <a:tailEnd/>
              </a:ln>
            </p:spPr>
            <p:txBody>
              <a:bodyPr/>
              <a:lstStyle/>
              <a:p>
                <a:endParaRPr lang="en-US"/>
              </a:p>
            </p:txBody>
          </p:sp>
          <p:sp>
            <p:nvSpPr>
              <p:cNvPr id="1394752" name="Rectangle 64"/>
              <p:cNvSpPr>
                <a:spLocks noChangeArrowheads="1"/>
              </p:cNvSpPr>
              <p:nvPr/>
            </p:nvSpPr>
            <p:spPr bwMode="auto">
              <a:xfrm>
                <a:off x="5093" y="1078"/>
                <a:ext cx="7" cy="8"/>
              </a:xfrm>
              <a:prstGeom prst="rect">
                <a:avLst/>
              </a:prstGeom>
              <a:solidFill>
                <a:srgbClr val="40458C"/>
              </a:solidFill>
              <a:ln w="9525">
                <a:noFill/>
                <a:miter lim="800000"/>
                <a:headEnd/>
                <a:tailEnd/>
              </a:ln>
            </p:spPr>
            <p:txBody>
              <a:bodyPr/>
              <a:lstStyle/>
              <a:p>
                <a:endParaRPr lang="en-US"/>
              </a:p>
            </p:txBody>
          </p:sp>
          <p:sp>
            <p:nvSpPr>
              <p:cNvPr id="1394753" name="Rectangle 65"/>
              <p:cNvSpPr>
                <a:spLocks noChangeArrowheads="1"/>
              </p:cNvSpPr>
              <p:nvPr/>
            </p:nvSpPr>
            <p:spPr bwMode="auto">
              <a:xfrm>
                <a:off x="5108" y="1078"/>
                <a:ext cx="8" cy="8"/>
              </a:xfrm>
              <a:prstGeom prst="rect">
                <a:avLst/>
              </a:prstGeom>
              <a:solidFill>
                <a:srgbClr val="40458C"/>
              </a:solidFill>
              <a:ln w="9525">
                <a:noFill/>
                <a:miter lim="800000"/>
                <a:headEnd/>
                <a:tailEnd/>
              </a:ln>
            </p:spPr>
            <p:txBody>
              <a:bodyPr/>
              <a:lstStyle/>
              <a:p>
                <a:endParaRPr lang="en-US"/>
              </a:p>
            </p:txBody>
          </p:sp>
          <p:sp>
            <p:nvSpPr>
              <p:cNvPr id="1394754" name="Rectangle 66"/>
              <p:cNvSpPr>
                <a:spLocks noChangeArrowheads="1"/>
              </p:cNvSpPr>
              <p:nvPr/>
            </p:nvSpPr>
            <p:spPr bwMode="auto">
              <a:xfrm>
                <a:off x="5124" y="1078"/>
                <a:ext cx="8" cy="8"/>
              </a:xfrm>
              <a:prstGeom prst="rect">
                <a:avLst/>
              </a:prstGeom>
              <a:solidFill>
                <a:srgbClr val="40458C"/>
              </a:solidFill>
              <a:ln w="9525">
                <a:noFill/>
                <a:miter lim="800000"/>
                <a:headEnd/>
                <a:tailEnd/>
              </a:ln>
            </p:spPr>
            <p:txBody>
              <a:bodyPr/>
              <a:lstStyle/>
              <a:p>
                <a:endParaRPr lang="en-US"/>
              </a:p>
            </p:txBody>
          </p:sp>
          <p:sp>
            <p:nvSpPr>
              <p:cNvPr id="1394755" name="Rectangle 67"/>
              <p:cNvSpPr>
                <a:spLocks noChangeArrowheads="1"/>
              </p:cNvSpPr>
              <p:nvPr/>
            </p:nvSpPr>
            <p:spPr bwMode="auto">
              <a:xfrm>
                <a:off x="5140" y="1078"/>
                <a:ext cx="7" cy="8"/>
              </a:xfrm>
              <a:prstGeom prst="rect">
                <a:avLst/>
              </a:prstGeom>
              <a:solidFill>
                <a:srgbClr val="40458C"/>
              </a:solidFill>
              <a:ln w="9525">
                <a:noFill/>
                <a:miter lim="800000"/>
                <a:headEnd/>
                <a:tailEnd/>
              </a:ln>
            </p:spPr>
            <p:txBody>
              <a:bodyPr/>
              <a:lstStyle/>
              <a:p>
                <a:endParaRPr lang="en-US"/>
              </a:p>
            </p:txBody>
          </p:sp>
          <p:sp>
            <p:nvSpPr>
              <p:cNvPr id="1394756" name="Rectangle 68"/>
              <p:cNvSpPr>
                <a:spLocks noChangeArrowheads="1"/>
              </p:cNvSpPr>
              <p:nvPr/>
            </p:nvSpPr>
            <p:spPr bwMode="auto">
              <a:xfrm>
                <a:off x="5155" y="1078"/>
                <a:ext cx="8" cy="8"/>
              </a:xfrm>
              <a:prstGeom prst="rect">
                <a:avLst/>
              </a:prstGeom>
              <a:solidFill>
                <a:srgbClr val="40458C"/>
              </a:solidFill>
              <a:ln w="9525">
                <a:noFill/>
                <a:miter lim="800000"/>
                <a:headEnd/>
                <a:tailEnd/>
              </a:ln>
            </p:spPr>
            <p:txBody>
              <a:bodyPr/>
              <a:lstStyle/>
              <a:p>
                <a:endParaRPr lang="en-US"/>
              </a:p>
            </p:txBody>
          </p:sp>
          <p:sp>
            <p:nvSpPr>
              <p:cNvPr id="1394757" name="Rectangle 69"/>
              <p:cNvSpPr>
                <a:spLocks noChangeArrowheads="1"/>
              </p:cNvSpPr>
              <p:nvPr/>
            </p:nvSpPr>
            <p:spPr bwMode="auto">
              <a:xfrm>
                <a:off x="5171" y="1078"/>
                <a:ext cx="8" cy="8"/>
              </a:xfrm>
              <a:prstGeom prst="rect">
                <a:avLst/>
              </a:prstGeom>
              <a:solidFill>
                <a:srgbClr val="40458C"/>
              </a:solidFill>
              <a:ln w="9525">
                <a:noFill/>
                <a:miter lim="800000"/>
                <a:headEnd/>
                <a:tailEnd/>
              </a:ln>
            </p:spPr>
            <p:txBody>
              <a:bodyPr/>
              <a:lstStyle/>
              <a:p>
                <a:endParaRPr lang="en-US"/>
              </a:p>
            </p:txBody>
          </p:sp>
          <p:sp>
            <p:nvSpPr>
              <p:cNvPr id="1394758" name="Rectangle 70"/>
              <p:cNvSpPr>
                <a:spLocks noChangeArrowheads="1"/>
              </p:cNvSpPr>
              <p:nvPr/>
            </p:nvSpPr>
            <p:spPr bwMode="auto">
              <a:xfrm>
                <a:off x="5186" y="1078"/>
                <a:ext cx="8" cy="8"/>
              </a:xfrm>
              <a:prstGeom prst="rect">
                <a:avLst/>
              </a:prstGeom>
              <a:solidFill>
                <a:srgbClr val="40458C"/>
              </a:solidFill>
              <a:ln w="9525">
                <a:noFill/>
                <a:miter lim="800000"/>
                <a:headEnd/>
                <a:tailEnd/>
              </a:ln>
            </p:spPr>
            <p:txBody>
              <a:bodyPr/>
              <a:lstStyle/>
              <a:p>
                <a:endParaRPr lang="en-US"/>
              </a:p>
            </p:txBody>
          </p:sp>
          <p:sp>
            <p:nvSpPr>
              <p:cNvPr id="1394759" name="Rectangle 71"/>
              <p:cNvSpPr>
                <a:spLocks noChangeArrowheads="1"/>
              </p:cNvSpPr>
              <p:nvPr/>
            </p:nvSpPr>
            <p:spPr bwMode="auto">
              <a:xfrm>
                <a:off x="5202" y="1078"/>
                <a:ext cx="8" cy="8"/>
              </a:xfrm>
              <a:prstGeom prst="rect">
                <a:avLst/>
              </a:prstGeom>
              <a:solidFill>
                <a:srgbClr val="40458C"/>
              </a:solidFill>
              <a:ln w="9525">
                <a:noFill/>
                <a:miter lim="800000"/>
                <a:headEnd/>
                <a:tailEnd/>
              </a:ln>
            </p:spPr>
            <p:txBody>
              <a:bodyPr/>
              <a:lstStyle/>
              <a:p>
                <a:endParaRPr lang="en-US"/>
              </a:p>
            </p:txBody>
          </p:sp>
          <p:sp>
            <p:nvSpPr>
              <p:cNvPr id="1394760" name="Rectangle 72"/>
              <p:cNvSpPr>
                <a:spLocks noChangeArrowheads="1"/>
              </p:cNvSpPr>
              <p:nvPr/>
            </p:nvSpPr>
            <p:spPr bwMode="auto">
              <a:xfrm>
                <a:off x="5218" y="1078"/>
                <a:ext cx="7" cy="8"/>
              </a:xfrm>
              <a:prstGeom prst="rect">
                <a:avLst/>
              </a:prstGeom>
              <a:solidFill>
                <a:srgbClr val="40458C"/>
              </a:solidFill>
              <a:ln w="9525">
                <a:noFill/>
                <a:miter lim="800000"/>
                <a:headEnd/>
                <a:tailEnd/>
              </a:ln>
            </p:spPr>
            <p:txBody>
              <a:bodyPr/>
              <a:lstStyle/>
              <a:p>
                <a:endParaRPr lang="en-US"/>
              </a:p>
            </p:txBody>
          </p:sp>
          <p:sp>
            <p:nvSpPr>
              <p:cNvPr id="1394761" name="Rectangle 73"/>
              <p:cNvSpPr>
                <a:spLocks noChangeArrowheads="1"/>
              </p:cNvSpPr>
              <p:nvPr/>
            </p:nvSpPr>
            <p:spPr bwMode="auto">
              <a:xfrm>
                <a:off x="5233" y="1078"/>
                <a:ext cx="8" cy="8"/>
              </a:xfrm>
              <a:prstGeom prst="rect">
                <a:avLst/>
              </a:prstGeom>
              <a:solidFill>
                <a:srgbClr val="40458C"/>
              </a:solidFill>
              <a:ln w="9525">
                <a:noFill/>
                <a:miter lim="800000"/>
                <a:headEnd/>
                <a:tailEnd/>
              </a:ln>
            </p:spPr>
            <p:txBody>
              <a:bodyPr/>
              <a:lstStyle/>
              <a:p>
                <a:endParaRPr lang="en-US"/>
              </a:p>
            </p:txBody>
          </p:sp>
          <p:sp>
            <p:nvSpPr>
              <p:cNvPr id="1394762" name="Rectangle 74"/>
              <p:cNvSpPr>
                <a:spLocks noChangeArrowheads="1"/>
              </p:cNvSpPr>
              <p:nvPr/>
            </p:nvSpPr>
            <p:spPr bwMode="auto">
              <a:xfrm>
                <a:off x="5249" y="1078"/>
                <a:ext cx="8" cy="8"/>
              </a:xfrm>
              <a:prstGeom prst="rect">
                <a:avLst/>
              </a:prstGeom>
              <a:solidFill>
                <a:srgbClr val="40458C"/>
              </a:solidFill>
              <a:ln w="9525">
                <a:noFill/>
                <a:miter lim="800000"/>
                <a:headEnd/>
                <a:tailEnd/>
              </a:ln>
            </p:spPr>
            <p:txBody>
              <a:bodyPr/>
              <a:lstStyle/>
              <a:p>
                <a:endParaRPr lang="en-US"/>
              </a:p>
            </p:txBody>
          </p:sp>
          <p:sp>
            <p:nvSpPr>
              <p:cNvPr id="1394763" name="Rectangle 75"/>
              <p:cNvSpPr>
                <a:spLocks noChangeArrowheads="1"/>
              </p:cNvSpPr>
              <p:nvPr/>
            </p:nvSpPr>
            <p:spPr bwMode="auto">
              <a:xfrm>
                <a:off x="5264" y="1078"/>
                <a:ext cx="8" cy="8"/>
              </a:xfrm>
              <a:prstGeom prst="rect">
                <a:avLst/>
              </a:prstGeom>
              <a:solidFill>
                <a:srgbClr val="40458C"/>
              </a:solidFill>
              <a:ln w="9525">
                <a:noFill/>
                <a:miter lim="800000"/>
                <a:headEnd/>
                <a:tailEnd/>
              </a:ln>
            </p:spPr>
            <p:txBody>
              <a:bodyPr/>
              <a:lstStyle/>
              <a:p>
                <a:endParaRPr lang="en-US"/>
              </a:p>
            </p:txBody>
          </p:sp>
          <p:sp>
            <p:nvSpPr>
              <p:cNvPr id="1394764" name="Rectangle 76"/>
              <p:cNvSpPr>
                <a:spLocks noChangeArrowheads="1"/>
              </p:cNvSpPr>
              <p:nvPr/>
            </p:nvSpPr>
            <p:spPr bwMode="auto">
              <a:xfrm>
                <a:off x="5280" y="1078"/>
                <a:ext cx="8" cy="8"/>
              </a:xfrm>
              <a:prstGeom prst="rect">
                <a:avLst/>
              </a:prstGeom>
              <a:solidFill>
                <a:srgbClr val="40458C"/>
              </a:solidFill>
              <a:ln w="9525">
                <a:noFill/>
                <a:miter lim="800000"/>
                <a:headEnd/>
                <a:tailEnd/>
              </a:ln>
            </p:spPr>
            <p:txBody>
              <a:bodyPr/>
              <a:lstStyle/>
              <a:p>
                <a:endParaRPr lang="en-US"/>
              </a:p>
            </p:txBody>
          </p:sp>
          <p:sp>
            <p:nvSpPr>
              <p:cNvPr id="1394765" name="Rectangle 77"/>
              <p:cNvSpPr>
                <a:spLocks noChangeArrowheads="1"/>
              </p:cNvSpPr>
              <p:nvPr/>
            </p:nvSpPr>
            <p:spPr bwMode="auto">
              <a:xfrm>
                <a:off x="5296" y="1078"/>
                <a:ext cx="7" cy="8"/>
              </a:xfrm>
              <a:prstGeom prst="rect">
                <a:avLst/>
              </a:prstGeom>
              <a:solidFill>
                <a:srgbClr val="40458C"/>
              </a:solidFill>
              <a:ln w="9525">
                <a:noFill/>
                <a:miter lim="800000"/>
                <a:headEnd/>
                <a:tailEnd/>
              </a:ln>
            </p:spPr>
            <p:txBody>
              <a:bodyPr/>
              <a:lstStyle/>
              <a:p>
                <a:endParaRPr lang="en-US"/>
              </a:p>
            </p:txBody>
          </p:sp>
          <p:sp>
            <p:nvSpPr>
              <p:cNvPr id="1394766" name="Rectangle 78"/>
              <p:cNvSpPr>
                <a:spLocks noChangeArrowheads="1"/>
              </p:cNvSpPr>
              <p:nvPr/>
            </p:nvSpPr>
            <p:spPr bwMode="auto">
              <a:xfrm>
                <a:off x="5311" y="1078"/>
                <a:ext cx="8" cy="8"/>
              </a:xfrm>
              <a:prstGeom prst="rect">
                <a:avLst/>
              </a:prstGeom>
              <a:solidFill>
                <a:srgbClr val="40458C"/>
              </a:solidFill>
              <a:ln w="9525">
                <a:noFill/>
                <a:miter lim="800000"/>
                <a:headEnd/>
                <a:tailEnd/>
              </a:ln>
            </p:spPr>
            <p:txBody>
              <a:bodyPr/>
              <a:lstStyle/>
              <a:p>
                <a:endParaRPr lang="en-US"/>
              </a:p>
            </p:txBody>
          </p:sp>
          <p:sp>
            <p:nvSpPr>
              <p:cNvPr id="1394767" name="Rectangle 79"/>
              <p:cNvSpPr>
                <a:spLocks noChangeArrowheads="1"/>
              </p:cNvSpPr>
              <p:nvPr/>
            </p:nvSpPr>
            <p:spPr bwMode="auto">
              <a:xfrm>
                <a:off x="5327" y="1078"/>
                <a:ext cx="8" cy="8"/>
              </a:xfrm>
              <a:prstGeom prst="rect">
                <a:avLst/>
              </a:prstGeom>
              <a:solidFill>
                <a:srgbClr val="40458C"/>
              </a:solidFill>
              <a:ln w="9525">
                <a:noFill/>
                <a:miter lim="800000"/>
                <a:headEnd/>
                <a:tailEnd/>
              </a:ln>
            </p:spPr>
            <p:txBody>
              <a:bodyPr/>
              <a:lstStyle/>
              <a:p>
                <a:endParaRPr lang="en-US"/>
              </a:p>
            </p:txBody>
          </p:sp>
          <p:sp>
            <p:nvSpPr>
              <p:cNvPr id="1394768" name="Rectangle 80"/>
              <p:cNvSpPr>
                <a:spLocks noChangeArrowheads="1"/>
              </p:cNvSpPr>
              <p:nvPr/>
            </p:nvSpPr>
            <p:spPr bwMode="auto">
              <a:xfrm>
                <a:off x="5343" y="1078"/>
                <a:ext cx="7" cy="8"/>
              </a:xfrm>
              <a:prstGeom prst="rect">
                <a:avLst/>
              </a:prstGeom>
              <a:solidFill>
                <a:srgbClr val="40458C"/>
              </a:solidFill>
              <a:ln w="9525">
                <a:noFill/>
                <a:miter lim="800000"/>
                <a:headEnd/>
                <a:tailEnd/>
              </a:ln>
            </p:spPr>
            <p:txBody>
              <a:bodyPr/>
              <a:lstStyle/>
              <a:p>
                <a:endParaRPr lang="en-US"/>
              </a:p>
            </p:txBody>
          </p:sp>
          <p:sp>
            <p:nvSpPr>
              <p:cNvPr id="1394769" name="Rectangle 81"/>
              <p:cNvSpPr>
                <a:spLocks noChangeArrowheads="1"/>
              </p:cNvSpPr>
              <p:nvPr/>
            </p:nvSpPr>
            <p:spPr bwMode="auto">
              <a:xfrm>
                <a:off x="5358" y="1078"/>
                <a:ext cx="8" cy="8"/>
              </a:xfrm>
              <a:prstGeom prst="rect">
                <a:avLst/>
              </a:prstGeom>
              <a:solidFill>
                <a:srgbClr val="40458C"/>
              </a:solidFill>
              <a:ln w="9525">
                <a:noFill/>
                <a:miter lim="800000"/>
                <a:headEnd/>
                <a:tailEnd/>
              </a:ln>
            </p:spPr>
            <p:txBody>
              <a:bodyPr/>
              <a:lstStyle/>
              <a:p>
                <a:endParaRPr lang="en-US"/>
              </a:p>
            </p:txBody>
          </p:sp>
          <p:sp>
            <p:nvSpPr>
              <p:cNvPr id="1394770" name="Rectangle 82"/>
              <p:cNvSpPr>
                <a:spLocks noChangeArrowheads="1"/>
              </p:cNvSpPr>
              <p:nvPr/>
            </p:nvSpPr>
            <p:spPr bwMode="auto">
              <a:xfrm>
                <a:off x="5374" y="1078"/>
                <a:ext cx="8" cy="8"/>
              </a:xfrm>
              <a:prstGeom prst="rect">
                <a:avLst/>
              </a:prstGeom>
              <a:solidFill>
                <a:srgbClr val="40458C"/>
              </a:solidFill>
              <a:ln w="9525">
                <a:noFill/>
                <a:miter lim="800000"/>
                <a:headEnd/>
                <a:tailEnd/>
              </a:ln>
            </p:spPr>
            <p:txBody>
              <a:bodyPr/>
              <a:lstStyle/>
              <a:p>
                <a:endParaRPr lang="en-US"/>
              </a:p>
            </p:txBody>
          </p:sp>
          <p:sp>
            <p:nvSpPr>
              <p:cNvPr id="1394771" name="Rectangle 83"/>
              <p:cNvSpPr>
                <a:spLocks noChangeArrowheads="1"/>
              </p:cNvSpPr>
              <p:nvPr/>
            </p:nvSpPr>
            <p:spPr bwMode="auto">
              <a:xfrm>
                <a:off x="5389" y="1078"/>
                <a:ext cx="8" cy="8"/>
              </a:xfrm>
              <a:prstGeom prst="rect">
                <a:avLst/>
              </a:prstGeom>
              <a:solidFill>
                <a:srgbClr val="40458C"/>
              </a:solidFill>
              <a:ln w="9525">
                <a:noFill/>
                <a:miter lim="800000"/>
                <a:headEnd/>
                <a:tailEnd/>
              </a:ln>
            </p:spPr>
            <p:txBody>
              <a:bodyPr/>
              <a:lstStyle/>
              <a:p>
                <a:endParaRPr lang="en-US"/>
              </a:p>
            </p:txBody>
          </p:sp>
          <p:sp>
            <p:nvSpPr>
              <p:cNvPr id="1394772" name="Rectangle 84"/>
              <p:cNvSpPr>
                <a:spLocks noChangeArrowheads="1"/>
              </p:cNvSpPr>
              <p:nvPr/>
            </p:nvSpPr>
            <p:spPr bwMode="auto">
              <a:xfrm>
                <a:off x="5405" y="1078"/>
                <a:ext cx="8" cy="8"/>
              </a:xfrm>
              <a:prstGeom prst="rect">
                <a:avLst/>
              </a:prstGeom>
              <a:solidFill>
                <a:srgbClr val="40458C"/>
              </a:solidFill>
              <a:ln w="9525">
                <a:noFill/>
                <a:miter lim="800000"/>
                <a:headEnd/>
                <a:tailEnd/>
              </a:ln>
            </p:spPr>
            <p:txBody>
              <a:bodyPr/>
              <a:lstStyle/>
              <a:p>
                <a:endParaRPr lang="en-US"/>
              </a:p>
            </p:txBody>
          </p:sp>
          <p:sp>
            <p:nvSpPr>
              <p:cNvPr id="1394773" name="Rectangle 85"/>
              <p:cNvSpPr>
                <a:spLocks noChangeArrowheads="1"/>
              </p:cNvSpPr>
              <p:nvPr/>
            </p:nvSpPr>
            <p:spPr bwMode="auto">
              <a:xfrm>
                <a:off x="5421" y="1078"/>
                <a:ext cx="7" cy="8"/>
              </a:xfrm>
              <a:prstGeom prst="rect">
                <a:avLst/>
              </a:prstGeom>
              <a:solidFill>
                <a:srgbClr val="40458C"/>
              </a:solidFill>
              <a:ln w="9525">
                <a:noFill/>
                <a:miter lim="800000"/>
                <a:headEnd/>
                <a:tailEnd/>
              </a:ln>
            </p:spPr>
            <p:txBody>
              <a:bodyPr/>
              <a:lstStyle/>
              <a:p>
                <a:endParaRPr lang="en-US"/>
              </a:p>
            </p:txBody>
          </p:sp>
          <p:sp>
            <p:nvSpPr>
              <p:cNvPr id="1394774" name="Rectangle 86"/>
              <p:cNvSpPr>
                <a:spLocks noChangeArrowheads="1"/>
              </p:cNvSpPr>
              <p:nvPr/>
            </p:nvSpPr>
            <p:spPr bwMode="auto">
              <a:xfrm>
                <a:off x="5436" y="1078"/>
                <a:ext cx="8" cy="8"/>
              </a:xfrm>
              <a:prstGeom prst="rect">
                <a:avLst/>
              </a:prstGeom>
              <a:solidFill>
                <a:srgbClr val="40458C"/>
              </a:solidFill>
              <a:ln w="9525">
                <a:noFill/>
                <a:miter lim="800000"/>
                <a:headEnd/>
                <a:tailEnd/>
              </a:ln>
            </p:spPr>
            <p:txBody>
              <a:bodyPr/>
              <a:lstStyle/>
              <a:p>
                <a:endParaRPr lang="en-US"/>
              </a:p>
            </p:txBody>
          </p:sp>
          <p:sp>
            <p:nvSpPr>
              <p:cNvPr id="1394775" name="Rectangle 87"/>
              <p:cNvSpPr>
                <a:spLocks noChangeArrowheads="1"/>
              </p:cNvSpPr>
              <p:nvPr/>
            </p:nvSpPr>
            <p:spPr bwMode="auto">
              <a:xfrm>
                <a:off x="5452" y="1078"/>
                <a:ext cx="8" cy="8"/>
              </a:xfrm>
              <a:prstGeom prst="rect">
                <a:avLst/>
              </a:prstGeom>
              <a:solidFill>
                <a:srgbClr val="40458C"/>
              </a:solidFill>
              <a:ln w="9525">
                <a:noFill/>
                <a:miter lim="800000"/>
                <a:headEnd/>
                <a:tailEnd/>
              </a:ln>
            </p:spPr>
            <p:txBody>
              <a:bodyPr/>
              <a:lstStyle/>
              <a:p>
                <a:endParaRPr lang="en-US"/>
              </a:p>
            </p:txBody>
          </p:sp>
        </p:grpSp>
        <p:sp>
          <p:nvSpPr>
            <p:cNvPr id="1394776" name="Freeform 88"/>
            <p:cNvSpPr>
              <a:spLocks/>
            </p:cNvSpPr>
            <p:nvPr/>
          </p:nvSpPr>
          <p:spPr bwMode="auto">
            <a:xfrm>
              <a:off x="4448" y="1110"/>
              <a:ext cx="103" cy="131"/>
            </a:xfrm>
            <a:custGeom>
              <a:avLst/>
              <a:gdLst/>
              <a:ahLst/>
              <a:cxnLst>
                <a:cxn ang="0">
                  <a:pos x="308" y="301"/>
                </a:cxn>
                <a:cxn ang="0">
                  <a:pos x="185" y="209"/>
                </a:cxn>
                <a:cxn ang="0">
                  <a:pos x="185" y="243"/>
                </a:cxn>
                <a:cxn ang="0">
                  <a:pos x="100" y="243"/>
                </a:cxn>
                <a:cxn ang="0">
                  <a:pos x="100" y="0"/>
                </a:cxn>
                <a:cxn ang="0">
                  <a:pos x="0" y="0"/>
                </a:cxn>
                <a:cxn ang="0">
                  <a:pos x="0" y="360"/>
                </a:cxn>
                <a:cxn ang="0">
                  <a:pos x="185" y="360"/>
                </a:cxn>
                <a:cxn ang="0">
                  <a:pos x="185" y="393"/>
                </a:cxn>
                <a:cxn ang="0">
                  <a:pos x="308" y="301"/>
                </a:cxn>
              </a:cxnLst>
              <a:rect l="0" t="0" r="r" b="b"/>
              <a:pathLst>
                <a:path w="308" h="393">
                  <a:moveTo>
                    <a:pt x="308" y="301"/>
                  </a:moveTo>
                  <a:lnTo>
                    <a:pt x="185" y="209"/>
                  </a:lnTo>
                  <a:lnTo>
                    <a:pt x="185" y="243"/>
                  </a:lnTo>
                  <a:lnTo>
                    <a:pt x="100" y="243"/>
                  </a:lnTo>
                  <a:lnTo>
                    <a:pt x="100" y="0"/>
                  </a:lnTo>
                  <a:lnTo>
                    <a:pt x="0" y="0"/>
                  </a:lnTo>
                  <a:lnTo>
                    <a:pt x="0" y="360"/>
                  </a:lnTo>
                  <a:lnTo>
                    <a:pt x="185" y="360"/>
                  </a:lnTo>
                  <a:lnTo>
                    <a:pt x="185" y="393"/>
                  </a:lnTo>
                  <a:lnTo>
                    <a:pt x="308" y="301"/>
                  </a:lnTo>
                  <a:close/>
                </a:path>
              </a:pathLst>
            </a:custGeom>
            <a:solidFill>
              <a:srgbClr val="40458C"/>
            </a:solidFill>
            <a:ln w="4763">
              <a:solidFill>
                <a:srgbClr val="40458C"/>
              </a:solidFill>
              <a:prstDash val="solid"/>
              <a:round/>
              <a:headEnd/>
              <a:tailEnd/>
            </a:ln>
          </p:spPr>
          <p:txBody>
            <a:bodyPr/>
            <a:lstStyle/>
            <a:p>
              <a:endParaRPr lang="en-US"/>
            </a:p>
          </p:txBody>
        </p:sp>
        <p:sp>
          <p:nvSpPr>
            <p:cNvPr id="1394777" name="Rectangle 89"/>
            <p:cNvSpPr>
              <a:spLocks noChangeArrowheads="1"/>
            </p:cNvSpPr>
            <p:nvPr/>
          </p:nvSpPr>
          <p:spPr bwMode="auto">
            <a:xfrm>
              <a:off x="4358" y="941"/>
              <a:ext cx="1138" cy="531"/>
            </a:xfrm>
            <a:prstGeom prst="rect">
              <a:avLst/>
            </a:prstGeom>
            <a:noFill/>
            <a:ln w="14288">
              <a:solidFill>
                <a:srgbClr val="40458C"/>
              </a:solidFill>
              <a:miter lim="800000"/>
              <a:headEnd/>
              <a:tailEnd/>
            </a:ln>
          </p:spPr>
          <p:txBody>
            <a:bodyPr/>
            <a:lstStyle/>
            <a:p>
              <a:endParaRPr lang="en-US"/>
            </a:p>
          </p:txBody>
        </p:sp>
        <p:sp>
          <p:nvSpPr>
            <p:cNvPr id="1394778" name="Freeform 90"/>
            <p:cNvSpPr>
              <a:spLocks/>
            </p:cNvSpPr>
            <p:nvPr/>
          </p:nvSpPr>
          <p:spPr bwMode="auto">
            <a:xfrm>
              <a:off x="4656" y="1318"/>
              <a:ext cx="102" cy="131"/>
            </a:xfrm>
            <a:custGeom>
              <a:avLst/>
              <a:gdLst/>
              <a:ahLst/>
              <a:cxnLst>
                <a:cxn ang="0">
                  <a:pos x="307" y="301"/>
                </a:cxn>
                <a:cxn ang="0">
                  <a:pos x="184" y="209"/>
                </a:cxn>
                <a:cxn ang="0">
                  <a:pos x="184" y="243"/>
                </a:cxn>
                <a:cxn ang="0">
                  <a:pos x="99" y="243"/>
                </a:cxn>
                <a:cxn ang="0">
                  <a:pos x="99" y="0"/>
                </a:cxn>
                <a:cxn ang="0">
                  <a:pos x="0" y="0"/>
                </a:cxn>
                <a:cxn ang="0">
                  <a:pos x="0" y="360"/>
                </a:cxn>
                <a:cxn ang="0">
                  <a:pos x="184" y="360"/>
                </a:cxn>
                <a:cxn ang="0">
                  <a:pos x="184" y="393"/>
                </a:cxn>
                <a:cxn ang="0">
                  <a:pos x="307" y="301"/>
                </a:cxn>
              </a:cxnLst>
              <a:rect l="0" t="0" r="r" b="b"/>
              <a:pathLst>
                <a:path w="307" h="393">
                  <a:moveTo>
                    <a:pt x="307" y="301"/>
                  </a:moveTo>
                  <a:lnTo>
                    <a:pt x="184" y="209"/>
                  </a:lnTo>
                  <a:lnTo>
                    <a:pt x="184" y="243"/>
                  </a:lnTo>
                  <a:lnTo>
                    <a:pt x="99" y="243"/>
                  </a:lnTo>
                  <a:lnTo>
                    <a:pt x="99" y="0"/>
                  </a:lnTo>
                  <a:lnTo>
                    <a:pt x="0" y="0"/>
                  </a:lnTo>
                  <a:lnTo>
                    <a:pt x="0" y="360"/>
                  </a:lnTo>
                  <a:lnTo>
                    <a:pt x="184" y="360"/>
                  </a:lnTo>
                  <a:lnTo>
                    <a:pt x="184" y="393"/>
                  </a:lnTo>
                  <a:lnTo>
                    <a:pt x="307" y="301"/>
                  </a:lnTo>
                  <a:close/>
                </a:path>
              </a:pathLst>
            </a:custGeom>
            <a:solidFill>
              <a:srgbClr val="40458C"/>
            </a:solidFill>
            <a:ln w="4763">
              <a:solidFill>
                <a:srgbClr val="40458C"/>
              </a:solidFill>
              <a:prstDash val="solid"/>
              <a:round/>
              <a:headEnd/>
              <a:tailEnd/>
            </a:ln>
          </p:spPr>
          <p:txBody>
            <a:bodyPr/>
            <a:lstStyle/>
            <a:p>
              <a:endParaRPr lang="en-US"/>
            </a:p>
          </p:txBody>
        </p:sp>
        <p:grpSp>
          <p:nvGrpSpPr>
            <p:cNvPr id="1394779" name="Group 91"/>
            <p:cNvGrpSpPr>
              <a:grpSpLocks/>
            </p:cNvGrpSpPr>
            <p:nvPr/>
          </p:nvGrpSpPr>
          <p:grpSpPr bwMode="auto">
            <a:xfrm>
              <a:off x="4411" y="1279"/>
              <a:ext cx="1069" cy="8"/>
              <a:chOff x="4411" y="1279"/>
              <a:chExt cx="1069" cy="8"/>
            </a:xfrm>
          </p:grpSpPr>
          <p:sp>
            <p:nvSpPr>
              <p:cNvPr id="1394780" name="Rectangle 92"/>
              <p:cNvSpPr>
                <a:spLocks noChangeArrowheads="1"/>
              </p:cNvSpPr>
              <p:nvPr/>
            </p:nvSpPr>
            <p:spPr bwMode="auto">
              <a:xfrm>
                <a:off x="4411" y="1279"/>
                <a:ext cx="7" cy="8"/>
              </a:xfrm>
              <a:prstGeom prst="rect">
                <a:avLst/>
              </a:prstGeom>
              <a:solidFill>
                <a:srgbClr val="40458C"/>
              </a:solidFill>
              <a:ln w="9525">
                <a:noFill/>
                <a:miter lim="800000"/>
                <a:headEnd/>
                <a:tailEnd/>
              </a:ln>
            </p:spPr>
            <p:txBody>
              <a:bodyPr/>
              <a:lstStyle/>
              <a:p>
                <a:endParaRPr lang="en-US"/>
              </a:p>
            </p:txBody>
          </p:sp>
          <p:sp>
            <p:nvSpPr>
              <p:cNvPr id="1394781" name="Rectangle 93"/>
              <p:cNvSpPr>
                <a:spLocks noChangeArrowheads="1"/>
              </p:cNvSpPr>
              <p:nvPr/>
            </p:nvSpPr>
            <p:spPr bwMode="auto">
              <a:xfrm>
                <a:off x="4426" y="1279"/>
                <a:ext cx="8" cy="8"/>
              </a:xfrm>
              <a:prstGeom prst="rect">
                <a:avLst/>
              </a:prstGeom>
              <a:solidFill>
                <a:srgbClr val="40458C"/>
              </a:solidFill>
              <a:ln w="9525">
                <a:noFill/>
                <a:miter lim="800000"/>
                <a:headEnd/>
                <a:tailEnd/>
              </a:ln>
            </p:spPr>
            <p:txBody>
              <a:bodyPr/>
              <a:lstStyle/>
              <a:p>
                <a:endParaRPr lang="en-US"/>
              </a:p>
            </p:txBody>
          </p:sp>
          <p:sp>
            <p:nvSpPr>
              <p:cNvPr id="1394782" name="Rectangle 94"/>
              <p:cNvSpPr>
                <a:spLocks noChangeArrowheads="1"/>
              </p:cNvSpPr>
              <p:nvPr/>
            </p:nvSpPr>
            <p:spPr bwMode="auto">
              <a:xfrm>
                <a:off x="4442" y="1279"/>
                <a:ext cx="8" cy="8"/>
              </a:xfrm>
              <a:prstGeom prst="rect">
                <a:avLst/>
              </a:prstGeom>
              <a:solidFill>
                <a:srgbClr val="40458C"/>
              </a:solidFill>
              <a:ln w="9525">
                <a:noFill/>
                <a:miter lim="800000"/>
                <a:headEnd/>
                <a:tailEnd/>
              </a:ln>
            </p:spPr>
            <p:txBody>
              <a:bodyPr/>
              <a:lstStyle/>
              <a:p>
                <a:endParaRPr lang="en-US"/>
              </a:p>
            </p:txBody>
          </p:sp>
          <p:sp>
            <p:nvSpPr>
              <p:cNvPr id="1394783" name="Rectangle 95"/>
              <p:cNvSpPr>
                <a:spLocks noChangeArrowheads="1"/>
              </p:cNvSpPr>
              <p:nvPr/>
            </p:nvSpPr>
            <p:spPr bwMode="auto">
              <a:xfrm>
                <a:off x="4457" y="1279"/>
                <a:ext cx="8" cy="8"/>
              </a:xfrm>
              <a:prstGeom prst="rect">
                <a:avLst/>
              </a:prstGeom>
              <a:solidFill>
                <a:srgbClr val="40458C"/>
              </a:solidFill>
              <a:ln w="9525">
                <a:noFill/>
                <a:miter lim="800000"/>
                <a:headEnd/>
                <a:tailEnd/>
              </a:ln>
            </p:spPr>
            <p:txBody>
              <a:bodyPr/>
              <a:lstStyle/>
              <a:p>
                <a:endParaRPr lang="en-US"/>
              </a:p>
            </p:txBody>
          </p:sp>
          <p:sp>
            <p:nvSpPr>
              <p:cNvPr id="1394784" name="Rectangle 96"/>
              <p:cNvSpPr>
                <a:spLocks noChangeArrowheads="1"/>
              </p:cNvSpPr>
              <p:nvPr/>
            </p:nvSpPr>
            <p:spPr bwMode="auto">
              <a:xfrm>
                <a:off x="4473" y="1279"/>
                <a:ext cx="8" cy="8"/>
              </a:xfrm>
              <a:prstGeom prst="rect">
                <a:avLst/>
              </a:prstGeom>
              <a:solidFill>
                <a:srgbClr val="40458C"/>
              </a:solidFill>
              <a:ln w="9525">
                <a:noFill/>
                <a:miter lim="800000"/>
                <a:headEnd/>
                <a:tailEnd/>
              </a:ln>
            </p:spPr>
            <p:txBody>
              <a:bodyPr/>
              <a:lstStyle/>
              <a:p>
                <a:endParaRPr lang="en-US"/>
              </a:p>
            </p:txBody>
          </p:sp>
          <p:sp>
            <p:nvSpPr>
              <p:cNvPr id="1394785" name="Rectangle 97"/>
              <p:cNvSpPr>
                <a:spLocks noChangeArrowheads="1"/>
              </p:cNvSpPr>
              <p:nvPr/>
            </p:nvSpPr>
            <p:spPr bwMode="auto">
              <a:xfrm>
                <a:off x="4489" y="1279"/>
                <a:ext cx="7" cy="8"/>
              </a:xfrm>
              <a:prstGeom prst="rect">
                <a:avLst/>
              </a:prstGeom>
              <a:solidFill>
                <a:srgbClr val="40458C"/>
              </a:solidFill>
              <a:ln w="9525">
                <a:noFill/>
                <a:miter lim="800000"/>
                <a:headEnd/>
                <a:tailEnd/>
              </a:ln>
            </p:spPr>
            <p:txBody>
              <a:bodyPr/>
              <a:lstStyle/>
              <a:p>
                <a:endParaRPr lang="en-US"/>
              </a:p>
            </p:txBody>
          </p:sp>
          <p:sp>
            <p:nvSpPr>
              <p:cNvPr id="1394786" name="Rectangle 98"/>
              <p:cNvSpPr>
                <a:spLocks noChangeArrowheads="1"/>
              </p:cNvSpPr>
              <p:nvPr/>
            </p:nvSpPr>
            <p:spPr bwMode="auto">
              <a:xfrm>
                <a:off x="4504" y="1279"/>
                <a:ext cx="8" cy="8"/>
              </a:xfrm>
              <a:prstGeom prst="rect">
                <a:avLst/>
              </a:prstGeom>
              <a:solidFill>
                <a:srgbClr val="40458C"/>
              </a:solidFill>
              <a:ln w="9525">
                <a:noFill/>
                <a:miter lim="800000"/>
                <a:headEnd/>
                <a:tailEnd/>
              </a:ln>
            </p:spPr>
            <p:txBody>
              <a:bodyPr/>
              <a:lstStyle/>
              <a:p>
                <a:endParaRPr lang="en-US"/>
              </a:p>
            </p:txBody>
          </p:sp>
          <p:sp>
            <p:nvSpPr>
              <p:cNvPr id="1394787" name="Rectangle 99"/>
              <p:cNvSpPr>
                <a:spLocks noChangeArrowheads="1"/>
              </p:cNvSpPr>
              <p:nvPr/>
            </p:nvSpPr>
            <p:spPr bwMode="auto">
              <a:xfrm>
                <a:off x="4520" y="1279"/>
                <a:ext cx="8" cy="8"/>
              </a:xfrm>
              <a:prstGeom prst="rect">
                <a:avLst/>
              </a:prstGeom>
              <a:solidFill>
                <a:srgbClr val="40458C"/>
              </a:solidFill>
              <a:ln w="9525">
                <a:noFill/>
                <a:miter lim="800000"/>
                <a:headEnd/>
                <a:tailEnd/>
              </a:ln>
            </p:spPr>
            <p:txBody>
              <a:bodyPr/>
              <a:lstStyle/>
              <a:p>
                <a:endParaRPr lang="en-US"/>
              </a:p>
            </p:txBody>
          </p:sp>
          <p:sp>
            <p:nvSpPr>
              <p:cNvPr id="1394788" name="Rectangle 100"/>
              <p:cNvSpPr>
                <a:spLocks noChangeArrowheads="1"/>
              </p:cNvSpPr>
              <p:nvPr/>
            </p:nvSpPr>
            <p:spPr bwMode="auto">
              <a:xfrm>
                <a:off x="4536" y="1279"/>
                <a:ext cx="7" cy="8"/>
              </a:xfrm>
              <a:prstGeom prst="rect">
                <a:avLst/>
              </a:prstGeom>
              <a:solidFill>
                <a:srgbClr val="40458C"/>
              </a:solidFill>
              <a:ln w="9525">
                <a:noFill/>
                <a:miter lim="800000"/>
                <a:headEnd/>
                <a:tailEnd/>
              </a:ln>
            </p:spPr>
            <p:txBody>
              <a:bodyPr/>
              <a:lstStyle/>
              <a:p>
                <a:endParaRPr lang="en-US"/>
              </a:p>
            </p:txBody>
          </p:sp>
          <p:sp>
            <p:nvSpPr>
              <p:cNvPr id="1394789" name="Rectangle 101"/>
              <p:cNvSpPr>
                <a:spLocks noChangeArrowheads="1"/>
              </p:cNvSpPr>
              <p:nvPr/>
            </p:nvSpPr>
            <p:spPr bwMode="auto">
              <a:xfrm>
                <a:off x="4551" y="1279"/>
                <a:ext cx="8" cy="8"/>
              </a:xfrm>
              <a:prstGeom prst="rect">
                <a:avLst/>
              </a:prstGeom>
              <a:solidFill>
                <a:srgbClr val="40458C"/>
              </a:solidFill>
              <a:ln w="9525">
                <a:noFill/>
                <a:miter lim="800000"/>
                <a:headEnd/>
                <a:tailEnd/>
              </a:ln>
            </p:spPr>
            <p:txBody>
              <a:bodyPr/>
              <a:lstStyle/>
              <a:p>
                <a:endParaRPr lang="en-US"/>
              </a:p>
            </p:txBody>
          </p:sp>
          <p:sp>
            <p:nvSpPr>
              <p:cNvPr id="1394790" name="Rectangle 102"/>
              <p:cNvSpPr>
                <a:spLocks noChangeArrowheads="1"/>
              </p:cNvSpPr>
              <p:nvPr/>
            </p:nvSpPr>
            <p:spPr bwMode="auto">
              <a:xfrm>
                <a:off x="4567" y="1279"/>
                <a:ext cx="8" cy="8"/>
              </a:xfrm>
              <a:prstGeom prst="rect">
                <a:avLst/>
              </a:prstGeom>
              <a:solidFill>
                <a:srgbClr val="40458C"/>
              </a:solidFill>
              <a:ln w="9525">
                <a:noFill/>
                <a:miter lim="800000"/>
                <a:headEnd/>
                <a:tailEnd/>
              </a:ln>
            </p:spPr>
            <p:txBody>
              <a:bodyPr/>
              <a:lstStyle/>
              <a:p>
                <a:endParaRPr lang="en-US"/>
              </a:p>
            </p:txBody>
          </p:sp>
          <p:sp>
            <p:nvSpPr>
              <p:cNvPr id="1394791" name="Rectangle 103"/>
              <p:cNvSpPr>
                <a:spLocks noChangeArrowheads="1"/>
              </p:cNvSpPr>
              <p:nvPr/>
            </p:nvSpPr>
            <p:spPr bwMode="auto">
              <a:xfrm>
                <a:off x="4582" y="1279"/>
                <a:ext cx="8" cy="8"/>
              </a:xfrm>
              <a:prstGeom prst="rect">
                <a:avLst/>
              </a:prstGeom>
              <a:solidFill>
                <a:srgbClr val="40458C"/>
              </a:solidFill>
              <a:ln w="9525">
                <a:noFill/>
                <a:miter lim="800000"/>
                <a:headEnd/>
                <a:tailEnd/>
              </a:ln>
            </p:spPr>
            <p:txBody>
              <a:bodyPr/>
              <a:lstStyle/>
              <a:p>
                <a:endParaRPr lang="en-US"/>
              </a:p>
            </p:txBody>
          </p:sp>
          <p:sp>
            <p:nvSpPr>
              <p:cNvPr id="1394792" name="Rectangle 104"/>
              <p:cNvSpPr>
                <a:spLocks noChangeArrowheads="1"/>
              </p:cNvSpPr>
              <p:nvPr/>
            </p:nvSpPr>
            <p:spPr bwMode="auto">
              <a:xfrm>
                <a:off x="4598" y="1279"/>
                <a:ext cx="8" cy="8"/>
              </a:xfrm>
              <a:prstGeom prst="rect">
                <a:avLst/>
              </a:prstGeom>
              <a:solidFill>
                <a:srgbClr val="40458C"/>
              </a:solidFill>
              <a:ln w="9525">
                <a:noFill/>
                <a:miter lim="800000"/>
                <a:headEnd/>
                <a:tailEnd/>
              </a:ln>
            </p:spPr>
            <p:txBody>
              <a:bodyPr/>
              <a:lstStyle/>
              <a:p>
                <a:endParaRPr lang="en-US"/>
              </a:p>
            </p:txBody>
          </p:sp>
          <p:sp>
            <p:nvSpPr>
              <p:cNvPr id="1394793" name="Rectangle 105"/>
              <p:cNvSpPr>
                <a:spLocks noChangeArrowheads="1"/>
              </p:cNvSpPr>
              <p:nvPr/>
            </p:nvSpPr>
            <p:spPr bwMode="auto">
              <a:xfrm>
                <a:off x="4614" y="1279"/>
                <a:ext cx="7" cy="8"/>
              </a:xfrm>
              <a:prstGeom prst="rect">
                <a:avLst/>
              </a:prstGeom>
              <a:solidFill>
                <a:srgbClr val="40458C"/>
              </a:solidFill>
              <a:ln w="9525">
                <a:noFill/>
                <a:miter lim="800000"/>
                <a:headEnd/>
                <a:tailEnd/>
              </a:ln>
            </p:spPr>
            <p:txBody>
              <a:bodyPr/>
              <a:lstStyle/>
              <a:p>
                <a:endParaRPr lang="en-US"/>
              </a:p>
            </p:txBody>
          </p:sp>
          <p:sp>
            <p:nvSpPr>
              <p:cNvPr id="1394794" name="Rectangle 106"/>
              <p:cNvSpPr>
                <a:spLocks noChangeArrowheads="1"/>
              </p:cNvSpPr>
              <p:nvPr/>
            </p:nvSpPr>
            <p:spPr bwMode="auto">
              <a:xfrm>
                <a:off x="4629" y="1279"/>
                <a:ext cx="8" cy="8"/>
              </a:xfrm>
              <a:prstGeom prst="rect">
                <a:avLst/>
              </a:prstGeom>
              <a:solidFill>
                <a:srgbClr val="40458C"/>
              </a:solidFill>
              <a:ln w="9525">
                <a:noFill/>
                <a:miter lim="800000"/>
                <a:headEnd/>
                <a:tailEnd/>
              </a:ln>
            </p:spPr>
            <p:txBody>
              <a:bodyPr/>
              <a:lstStyle/>
              <a:p>
                <a:endParaRPr lang="en-US"/>
              </a:p>
            </p:txBody>
          </p:sp>
          <p:sp>
            <p:nvSpPr>
              <p:cNvPr id="1394795" name="Rectangle 107"/>
              <p:cNvSpPr>
                <a:spLocks noChangeArrowheads="1"/>
              </p:cNvSpPr>
              <p:nvPr/>
            </p:nvSpPr>
            <p:spPr bwMode="auto">
              <a:xfrm>
                <a:off x="4645" y="1279"/>
                <a:ext cx="8" cy="8"/>
              </a:xfrm>
              <a:prstGeom prst="rect">
                <a:avLst/>
              </a:prstGeom>
              <a:solidFill>
                <a:srgbClr val="40458C"/>
              </a:solidFill>
              <a:ln w="9525">
                <a:noFill/>
                <a:miter lim="800000"/>
                <a:headEnd/>
                <a:tailEnd/>
              </a:ln>
            </p:spPr>
            <p:txBody>
              <a:bodyPr/>
              <a:lstStyle/>
              <a:p>
                <a:endParaRPr lang="en-US"/>
              </a:p>
            </p:txBody>
          </p:sp>
          <p:sp>
            <p:nvSpPr>
              <p:cNvPr id="1394796" name="Rectangle 108"/>
              <p:cNvSpPr>
                <a:spLocks noChangeArrowheads="1"/>
              </p:cNvSpPr>
              <p:nvPr/>
            </p:nvSpPr>
            <p:spPr bwMode="auto">
              <a:xfrm>
                <a:off x="4660" y="1279"/>
                <a:ext cx="8" cy="8"/>
              </a:xfrm>
              <a:prstGeom prst="rect">
                <a:avLst/>
              </a:prstGeom>
              <a:solidFill>
                <a:srgbClr val="40458C"/>
              </a:solidFill>
              <a:ln w="9525">
                <a:noFill/>
                <a:miter lim="800000"/>
                <a:headEnd/>
                <a:tailEnd/>
              </a:ln>
            </p:spPr>
            <p:txBody>
              <a:bodyPr/>
              <a:lstStyle/>
              <a:p>
                <a:endParaRPr lang="en-US"/>
              </a:p>
            </p:txBody>
          </p:sp>
          <p:sp>
            <p:nvSpPr>
              <p:cNvPr id="1394797" name="Rectangle 109"/>
              <p:cNvSpPr>
                <a:spLocks noChangeArrowheads="1"/>
              </p:cNvSpPr>
              <p:nvPr/>
            </p:nvSpPr>
            <p:spPr bwMode="auto">
              <a:xfrm>
                <a:off x="4676" y="1279"/>
                <a:ext cx="8" cy="8"/>
              </a:xfrm>
              <a:prstGeom prst="rect">
                <a:avLst/>
              </a:prstGeom>
              <a:solidFill>
                <a:srgbClr val="40458C"/>
              </a:solidFill>
              <a:ln w="9525">
                <a:noFill/>
                <a:miter lim="800000"/>
                <a:headEnd/>
                <a:tailEnd/>
              </a:ln>
            </p:spPr>
            <p:txBody>
              <a:bodyPr/>
              <a:lstStyle/>
              <a:p>
                <a:endParaRPr lang="en-US"/>
              </a:p>
            </p:txBody>
          </p:sp>
          <p:sp>
            <p:nvSpPr>
              <p:cNvPr id="1394798" name="Rectangle 110"/>
              <p:cNvSpPr>
                <a:spLocks noChangeArrowheads="1"/>
              </p:cNvSpPr>
              <p:nvPr/>
            </p:nvSpPr>
            <p:spPr bwMode="auto">
              <a:xfrm>
                <a:off x="4692" y="1279"/>
                <a:ext cx="7" cy="8"/>
              </a:xfrm>
              <a:prstGeom prst="rect">
                <a:avLst/>
              </a:prstGeom>
              <a:solidFill>
                <a:srgbClr val="40458C"/>
              </a:solidFill>
              <a:ln w="9525">
                <a:noFill/>
                <a:miter lim="800000"/>
                <a:headEnd/>
                <a:tailEnd/>
              </a:ln>
            </p:spPr>
            <p:txBody>
              <a:bodyPr/>
              <a:lstStyle/>
              <a:p>
                <a:endParaRPr lang="en-US"/>
              </a:p>
            </p:txBody>
          </p:sp>
          <p:sp>
            <p:nvSpPr>
              <p:cNvPr id="1394799" name="Rectangle 111"/>
              <p:cNvSpPr>
                <a:spLocks noChangeArrowheads="1"/>
              </p:cNvSpPr>
              <p:nvPr/>
            </p:nvSpPr>
            <p:spPr bwMode="auto">
              <a:xfrm>
                <a:off x="4707" y="1279"/>
                <a:ext cx="8" cy="8"/>
              </a:xfrm>
              <a:prstGeom prst="rect">
                <a:avLst/>
              </a:prstGeom>
              <a:solidFill>
                <a:srgbClr val="40458C"/>
              </a:solidFill>
              <a:ln w="9525">
                <a:noFill/>
                <a:miter lim="800000"/>
                <a:headEnd/>
                <a:tailEnd/>
              </a:ln>
            </p:spPr>
            <p:txBody>
              <a:bodyPr/>
              <a:lstStyle/>
              <a:p>
                <a:endParaRPr lang="en-US"/>
              </a:p>
            </p:txBody>
          </p:sp>
          <p:sp>
            <p:nvSpPr>
              <p:cNvPr id="1394800" name="Rectangle 112"/>
              <p:cNvSpPr>
                <a:spLocks noChangeArrowheads="1"/>
              </p:cNvSpPr>
              <p:nvPr/>
            </p:nvSpPr>
            <p:spPr bwMode="auto">
              <a:xfrm>
                <a:off x="4723" y="1279"/>
                <a:ext cx="8" cy="8"/>
              </a:xfrm>
              <a:prstGeom prst="rect">
                <a:avLst/>
              </a:prstGeom>
              <a:solidFill>
                <a:srgbClr val="40458C"/>
              </a:solidFill>
              <a:ln w="9525">
                <a:noFill/>
                <a:miter lim="800000"/>
                <a:headEnd/>
                <a:tailEnd/>
              </a:ln>
            </p:spPr>
            <p:txBody>
              <a:bodyPr/>
              <a:lstStyle/>
              <a:p>
                <a:endParaRPr lang="en-US"/>
              </a:p>
            </p:txBody>
          </p:sp>
          <p:sp>
            <p:nvSpPr>
              <p:cNvPr id="1394801" name="Rectangle 113"/>
              <p:cNvSpPr>
                <a:spLocks noChangeArrowheads="1"/>
              </p:cNvSpPr>
              <p:nvPr/>
            </p:nvSpPr>
            <p:spPr bwMode="auto">
              <a:xfrm>
                <a:off x="4738" y="1279"/>
                <a:ext cx="8" cy="8"/>
              </a:xfrm>
              <a:prstGeom prst="rect">
                <a:avLst/>
              </a:prstGeom>
              <a:solidFill>
                <a:srgbClr val="40458C"/>
              </a:solidFill>
              <a:ln w="9525">
                <a:noFill/>
                <a:miter lim="800000"/>
                <a:headEnd/>
                <a:tailEnd/>
              </a:ln>
            </p:spPr>
            <p:txBody>
              <a:bodyPr/>
              <a:lstStyle/>
              <a:p>
                <a:endParaRPr lang="en-US"/>
              </a:p>
            </p:txBody>
          </p:sp>
          <p:sp>
            <p:nvSpPr>
              <p:cNvPr id="1394802" name="Rectangle 114"/>
              <p:cNvSpPr>
                <a:spLocks noChangeArrowheads="1"/>
              </p:cNvSpPr>
              <p:nvPr/>
            </p:nvSpPr>
            <p:spPr bwMode="auto">
              <a:xfrm>
                <a:off x="4754" y="1279"/>
                <a:ext cx="8" cy="8"/>
              </a:xfrm>
              <a:prstGeom prst="rect">
                <a:avLst/>
              </a:prstGeom>
              <a:solidFill>
                <a:srgbClr val="40458C"/>
              </a:solidFill>
              <a:ln w="9525">
                <a:noFill/>
                <a:miter lim="800000"/>
                <a:headEnd/>
                <a:tailEnd/>
              </a:ln>
            </p:spPr>
            <p:txBody>
              <a:bodyPr/>
              <a:lstStyle/>
              <a:p>
                <a:endParaRPr lang="en-US"/>
              </a:p>
            </p:txBody>
          </p:sp>
          <p:sp>
            <p:nvSpPr>
              <p:cNvPr id="1394803" name="Rectangle 115"/>
              <p:cNvSpPr>
                <a:spLocks noChangeArrowheads="1"/>
              </p:cNvSpPr>
              <p:nvPr/>
            </p:nvSpPr>
            <p:spPr bwMode="auto">
              <a:xfrm>
                <a:off x="4770" y="1279"/>
                <a:ext cx="8" cy="8"/>
              </a:xfrm>
              <a:prstGeom prst="rect">
                <a:avLst/>
              </a:prstGeom>
              <a:solidFill>
                <a:srgbClr val="40458C"/>
              </a:solidFill>
              <a:ln w="9525">
                <a:noFill/>
                <a:miter lim="800000"/>
                <a:headEnd/>
                <a:tailEnd/>
              </a:ln>
            </p:spPr>
            <p:txBody>
              <a:bodyPr/>
              <a:lstStyle/>
              <a:p>
                <a:endParaRPr lang="en-US"/>
              </a:p>
            </p:txBody>
          </p:sp>
          <p:sp>
            <p:nvSpPr>
              <p:cNvPr id="1394804" name="Rectangle 116"/>
              <p:cNvSpPr>
                <a:spLocks noChangeArrowheads="1"/>
              </p:cNvSpPr>
              <p:nvPr/>
            </p:nvSpPr>
            <p:spPr bwMode="auto">
              <a:xfrm>
                <a:off x="4785" y="1279"/>
                <a:ext cx="8" cy="8"/>
              </a:xfrm>
              <a:prstGeom prst="rect">
                <a:avLst/>
              </a:prstGeom>
              <a:solidFill>
                <a:srgbClr val="40458C"/>
              </a:solidFill>
              <a:ln w="9525">
                <a:noFill/>
                <a:miter lim="800000"/>
                <a:headEnd/>
                <a:tailEnd/>
              </a:ln>
            </p:spPr>
            <p:txBody>
              <a:bodyPr/>
              <a:lstStyle/>
              <a:p>
                <a:endParaRPr lang="en-US"/>
              </a:p>
            </p:txBody>
          </p:sp>
          <p:sp>
            <p:nvSpPr>
              <p:cNvPr id="1394805" name="Rectangle 117"/>
              <p:cNvSpPr>
                <a:spLocks noChangeArrowheads="1"/>
              </p:cNvSpPr>
              <p:nvPr/>
            </p:nvSpPr>
            <p:spPr bwMode="auto">
              <a:xfrm>
                <a:off x="4801" y="1279"/>
                <a:ext cx="8" cy="8"/>
              </a:xfrm>
              <a:prstGeom prst="rect">
                <a:avLst/>
              </a:prstGeom>
              <a:solidFill>
                <a:srgbClr val="40458C"/>
              </a:solidFill>
              <a:ln w="9525">
                <a:noFill/>
                <a:miter lim="800000"/>
                <a:headEnd/>
                <a:tailEnd/>
              </a:ln>
            </p:spPr>
            <p:txBody>
              <a:bodyPr/>
              <a:lstStyle/>
              <a:p>
                <a:endParaRPr lang="en-US"/>
              </a:p>
            </p:txBody>
          </p:sp>
          <p:sp>
            <p:nvSpPr>
              <p:cNvPr id="1394806" name="Rectangle 118"/>
              <p:cNvSpPr>
                <a:spLocks noChangeArrowheads="1"/>
              </p:cNvSpPr>
              <p:nvPr/>
            </p:nvSpPr>
            <p:spPr bwMode="auto">
              <a:xfrm>
                <a:off x="4817" y="1279"/>
                <a:ext cx="7" cy="8"/>
              </a:xfrm>
              <a:prstGeom prst="rect">
                <a:avLst/>
              </a:prstGeom>
              <a:solidFill>
                <a:srgbClr val="40458C"/>
              </a:solidFill>
              <a:ln w="9525">
                <a:noFill/>
                <a:miter lim="800000"/>
                <a:headEnd/>
                <a:tailEnd/>
              </a:ln>
            </p:spPr>
            <p:txBody>
              <a:bodyPr/>
              <a:lstStyle/>
              <a:p>
                <a:endParaRPr lang="en-US"/>
              </a:p>
            </p:txBody>
          </p:sp>
          <p:sp>
            <p:nvSpPr>
              <p:cNvPr id="1394807" name="Rectangle 119"/>
              <p:cNvSpPr>
                <a:spLocks noChangeArrowheads="1"/>
              </p:cNvSpPr>
              <p:nvPr/>
            </p:nvSpPr>
            <p:spPr bwMode="auto">
              <a:xfrm>
                <a:off x="4832" y="1279"/>
                <a:ext cx="8" cy="8"/>
              </a:xfrm>
              <a:prstGeom prst="rect">
                <a:avLst/>
              </a:prstGeom>
              <a:solidFill>
                <a:srgbClr val="40458C"/>
              </a:solidFill>
              <a:ln w="9525">
                <a:noFill/>
                <a:miter lim="800000"/>
                <a:headEnd/>
                <a:tailEnd/>
              </a:ln>
            </p:spPr>
            <p:txBody>
              <a:bodyPr/>
              <a:lstStyle/>
              <a:p>
                <a:endParaRPr lang="en-US"/>
              </a:p>
            </p:txBody>
          </p:sp>
          <p:sp>
            <p:nvSpPr>
              <p:cNvPr id="1394808" name="Rectangle 120"/>
              <p:cNvSpPr>
                <a:spLocks noChangeArrowheads="1"/>
              </p:cNvSpPr>
              <p:nvPr/>
            </p:nvSpPr>
            <p:spPr bwMode="auto">
              <a:xfrm>
                <a:off x="4848" y="1279"/>
                <a:ext cx="8" cy="8"/>
              </a:xfrm>
              <a:prstGeom prst="rect">
                <a:avLst/>
              </a:prstGeom>
              <a:solidFill>
                <a:srgbClr val="40458C"/>
              </a:solidFill>
              <a:ln w="9525">
                <a:noFill/>
                <a:miter lim="800000"/>
                <a:headEnd/>
                <a:tailEnd/>
              </a:ln>
            </p:spPr>
            <p:txBody>
              <a:bodyPr/>
              <a:lstStyle/>
              <a:p>
                <a:endParaRPr lang="en-US"/>
              </a:p>
            </p:txBody>
          </p:sp>
          <p:sp>
            <p:nvSpPr>
              <p:cNvPr id="1394809" name="Rectangle 121"/>
              <p:cNvSpPr>
                <a:spLocks noChangeArrowheads="1"/>
              </p:cNvSpPr>
              <p:nvPr/>
            </p:nvSpPr>
            <p:spPr bwMode="auto">
              <a:xfrm>
                <a:off x="4863" y="1279"/>
                <a:ext cx="8" cy="8"/>
              </a:xfrm>
              <a:prstGeom prst="rect">
                <a:avLst/>
              </a:prstGeom>
              <a:solidFill>
                <a:srgbClr val="40458C"/>
              </a:solidFill>
              <a:ln w="9525">
                <a:noFill/>
                <a:miter lim="800000"/>
                <a:headEnd/>
                <a:tailEnd/>
              </a:ln>
            </p:spPr>
            <p:txBody>
              <a:bodyPr/>
              <a:lstStyle/>
              <a:p>
                <a:endParaRPr lang="en-US"/>
              </a:p>
            </p:txBody>
          </p:sp>
          <p:sp>
            <p:nvSpPr>
              <p:cNvPr id="1394810" name="Rectangle 122"/>
              <p:cNvSpPr>
                <a:spLocks noChangeArrowheads="1"/>
              </p:cNvSpPr>
              <p:nvPr/>
            </p:nvSpPr>
            <p:spPr bwMode="auto">
              <a:xfrm>
                <a:off x="4879" y="1279"/>
                <a:ext cx="8" cy="8"/>
              </a:xfrm>
              <a:prstGeom prst="rect">
                <a:avLst/>
              </a:prstGeom>
              <a:solidFill>
                <a:srgbClr val="40458C"/>
              </a:solidFill>
              <a:ln w="9525">
                <a:noFill/>
                <a:miter lim="800000"/>
                <a:headEnd/>
                <a:tailEnd/>
              </a:ln>
            </p:spPr>
            <p:txBody>
              <a:bodyPr/>
              <a:lstStyle/>
              <a:p>
                <a:endParaRPr lang="en-US"/>
              </a:p>
            </p:txBody>
          </p:sp>
          <p:sp>
            <p:nvSpPr>
              <p:cNvPr id="1394811" name="Rectangle 123"/>
              <p:cNvSpPr>
                <a:spLocks noChangeArrowheads="1"/>
              </p:cNvSpPr>
              <p:nvPr/>
            </p:nvSpPr>
            <p:spPr bwMode="auto">
              <a:xfrm>
                <a:off x="4895" y="1279"/>
                <a:ext cx="7" cy="8"/>
              </a:xfrm>
              <a:prstGeom prst="rect">
                <a:avLst/>
              </a:prstGeom>
              <a:solidFill>
                <a:srgbClr val="40458C"/>
              </a:solidFill>
              <a:ln w="9525">
                <a:noFill/>
                <a:miter lim="800000"/>
                <a:headEnd/>
                <a:tailEnd/>
              </a:ln>
            </p:spPr>
            <p:txBody>
              <a:bodyPr/>
              <a:lstStyle/>
              <a:p>
                <a:endParaRPr lang="en-US"/>
              </a:p>
            </p:txBody>
          </p:sp>
          <p:sp>
            <p:nvSpPr>
              <p:cNvPr id="1394812" name="Rectangle 124"/>
              <p:cNvSpPr>
                <a:spLocks noChangeArrowheads="1"/>
              </p:cNvSpPr>
              <p:nvPr/>
            </p:nvSpPr>
            <p:spPr bwMode="auto">
              <a:xfrm>
                <a:off x="4910" y="1279"/>
                <a:ext cx="8" cy="8"/>
              </a:xfrm>
              <a:prstGeom prst="rect">
                <a:avLst/>
              </a:prstGeom>
              <a:solidFill>
                <a:srgbClr val="40458C"/>
              </a:solidFill>
              <a:ln w="9525">
                <a:noFill/>
                <a:miter lim="800000"/>
                <a:headEnd/>
                <a:tailEnd/>
              </a:ln>
            </p:spPr>
            <p:txBody>
              <a:bodyPr/>
              <a:lstStyle/>
              <a:p>
                <a:endParaRPr lang="en-US"/>
              </a:p>
            </p:txBody>
          </p:sp>
          <p:sp>
            <p:nvSpPr>
              <p:cNvPr id="1394813" name="Rectangle 125"/>
              <p:cNvSpPr>
                <a:spLocks noChangeArrowheads="1"/>
              </p:cNvSpPr>
              <p:nvPr/>
            </p:nvSpPr>
            <p:spPr bwMode="auto">
              <a:xfrm>
                <a:off x="4926" y="1279"/>
                <a:ext cx="8" cy="8"/>
              </a:xfrm>
              <a:prstGeom prst="rect">
                <a:avLst/>
              </a:prstGeom>
              <a:solidFill>
                <a:srgbClr val="40458C"/>
              </a:solidFill>
              <a:ln w="9525">
                <a:noFill/>
                <a:miter lim="800000"/>
                <a:headEnd/>
                <a:tailEnd/>
              </a:ln>
            </p:spPr>
            <p:txBody>
              <a:bodyPr/>
              <a:lstStyle/>
              <a:p>
                <a:endParaRPr lang="en-US"/>
              </a:p>
            </p:txBody>
          </p:sp>
          <p:sp>
            <p:nvSpPr>
              <p:cNvPr id="1394814" name="Rectangle 126"/>
              <p:cNvSpPr>
                <a:spLocks noChangeArrowheads="1"/>
              </p:cNvSpPr>
              <p:nvPr/>
            </p:nvSpPr>
            <p:spPr bwMode="auto">
              <a:xfrm>
                <a:off x="4941" y="1279"/>
                <a:ext cx="8" cy="8"/>
              </a:xfrm>
              <a:prstGeom prst="rect">
                <a:avLst/>
              </a:prstGeom>
              <a:solidFill>
                <a:srgbClr val="40458C"/>
              </a:solidFill>
              <a:ln w="9525">
                <a:noFill/>
                <a:miter lim="800000"/>
                <a:headEnd/>
                <a:tailEnd/>
              </a:ln>
            </p:spPr>
            <p:txBody>
              <a:bodyPr/>
              <a:lstStyle/>
              <a:p>
                <a:endParaRPr lang="en-US"/>
              </a:p>
            </p:txBody>
          </p:sp>
          <p:sp>
            <p:nvSpPr>
              <p:cNvPr id="1394815" name="Rectangle 127"/>
              <p:cNvSpPr>
                <a:spLocks noChangeArrowheads="1"/>
              </p:cNvSpPr>
              <p:nvPr/>
            </p:nvSpPr>
            <p:spPr bwMode="auto">
              <a:xfrm>
                <a:off x="4957" y="1279"/>
                <a:ext cx="8" cy="8"/>
              </a:xfrm>
              <a:prstGeom prst="rect">
                <a:avLst/>
              </a:prstGeom>
              <a:solidFill>
                <a:srgbClr val="40458C"/>
              </a:solidFill>
              <a:ln w="9525">
                <a:noFill/>
                <a:miter lim="800000"/>
                <a:headEnd/>
                <a:tailEnd/>
              </a:ln>
            </p:spPr>
            <p:txBody>
              <a:bodyPr/>
              <a:lstStyle/>
              <a:p>
                <a:endParaRPr lang="en-US"/>
              </a:p>
            </p:txBody>
          </p:sp>
          <p:sp>
            <p:nvSpPr>
              <p:cNvPr id="1394816" name="Rectangle 128"/>
              <p:cNvSpPr>
                <a:spLocks noChangeArrowheads="1"/>
              </p:cNvSpPr>
              <p:nvPr/>
            </p:nvSpPr>
            <p:spPr bwMode="auto">
              <a:xfrm>
                <a:off x="4973" y="1279"/>
                <a:ext cx="7" cy="8"/>
              </a:xfrm>
              <a:prstGeom prst="rect">
                <a:avLst/>
              </a:prstGeom>
              <a:solidFill>
                <a:srgbClr val="40458C"/>
              </a:solidFill>
              <a:ln w="9525">
                <a:noFill/>
                <a:miter lim="800000"/>
                <a:headEnd/>
                <a:tailEnd/>
              </a:ln>
            </p:spPr>
            <p:txBody>
              <a:bodyPr/>
              <a:lstStyle/>
              <a:p>
                <a:endParaRPr lang="en-US"/>
              </a:p>
            </p:txBody>
          </p:sp>
          <p:sp>
            <p:nvSpPr>
              <p:cNvPr id="1394817" name="Rectangle 129"/>
              <p:cNvSpPr>
                <a:spLocks noChangeArrowheads="1"/>
              </p:cNvSpPr>
              <p:nvPr/>
            </p:nvSpPr>
            <p:spPr bwMode="auto">
              <a:xfrm>
                <a:off x="4988" y="1279"/>
                <a:ext cx="8" cy="8"/>
              </a:xfrm>
              <a:prstGeom prst="rect">
                <a:avLst/>
              </a:prstGeom>
              <a:solidFill>
                <a:srgbClr val="40458C"/>
              </a:solidFill>
              <a:ln w="9525">
                <a:noFill/>
                <a:miter lim="800000"/>
                <a:headEnd/>
                <a:tailEnd/>
              </a:ln>
            </p:spPr>
            <p:txBody>
              <a:bodyPr/>
              <a:lstStyle/>
              <a:p>
                <a:endParaRPr lang="en-US"/>
              </a:p>
            </p:txBody>
          </p:sp>
          <p:sp>
            <p:nvSpPr>
              <p:cNvPr id="1394818" name="Rectangle 130"/>
              <p:cNvSpPr>
                <a:spLocks noChangeArrowheads="1"/>
              </p:cNvSpPr>
              <p:nvPr/>
            </p:nvSpPr>
            <p:spPr bwMode="auto">
              <a:xfrm>
                <a:off x="5004" y="1279"/>
                <a:ext cx="8" cy="8"/>
              </a:xfrm>
              <a:prstGeom prst="rect">
                <a:avLst/>
              </a:prstGeom>
              <a:solidFill>
                <a:srgbClr val="40458C"/>
              </a:solidFill>
              <a:ln w="9525">
                <a:noFill/>
                <a:miter lim="800000"/>
                <a:headEnd/>
                <a:tailEnd/>
              </a:ln>
            </p:spPr>
            <p:txBody>
              <a:bodyPr/>
              <a:lstStyle/>
              <a:p>
                <a:endParaRPr lang="en-US"/>
              </a:p>
            </p:txBody>
          </p:sp>
          <p:sp>
            <p:nvSpPr>
              <p:cNvPr id="1394819" name="Rectangle 131"/>
              <p:cNvSpPr>
                <a:spLocks noChangeArrowheads="1"/>
              </p:cNvSpPr>
              <p:nvPr/>
            </p:nvSpPr>
            <p:spPr bwMode="auto">
              <a:xfrm>
                <a:off x="5020" y="1279"/>
                <a:ext cx="7" cy="8"/>
              </a:xfrm>
              <a:prstGeom prst="rect">
                <a:avLst/>
              </a:prstGeom>
              <a:solidFill>
                <a:srgbClr val="40458C"/>
              </a:solidFill>
              <a:ln w="9525">
                <a:noFill/>
                <a:miter lim="800000"/>
                <a:headEnd/>
                <a:tailEnd/>
              </a:ln>
            </p:spPr>
            <p:txBody>
              <a:bodyPr/>
              <a:lstStyle/>
              <a:p>
                <a:endParaRPr lang="en-US"/>
              </a:p>
            </p:txBody>
          </p:sp>
          <p:sp>
            <p:nvSpPr>
              <p:cNvPr id="1394820" name="Rectangle 132"/>
              <p:cNvSpPr>
                <a:spLocks noChangeArrowheads="1"/>
              </p:cNvSpPr>
              <p:nvPr/>
            </p:nvSpPr>
            <p:spPr bwMode="auto">
              <a:xfrm>
                <a:off x="5035" y="1279"/>
                <a:ext cx="8" cy="8"/>
              </a:xfrm>
              <a:prstGeom prst="rect">
                <a:avLst/>
              </a:prstGeom>
              <a:solidFill>
                <a:srgbClr val="40458C"/>
              </a:solidFill>
              <a:ln w="9525">
                <a:noFill/>
                <a:miter lim="800000"/>
                <a:headEnd/>
                <a:tailEnd/>
              </a:ln>
            </p:spPr>
            <p:txBody>
              <a:bodyPr/>
              <a:lstStyle/>
              <a:p>
                <a:endParaRPr lang="en-US"/>
              </a:p>
            </p:txBody>
          </p:sp>
          <p:sp>
            <p:nvSpPr>
              <p:cNvPr id="1394821" name="Rectangle 133"/>
              <p:cNvSpPr>
                <a:spLocks noChangeArrowheads="1"/>
              </p:cNvSpPr>
              <p:nvPr/>
            </p:nvSpPr>
            <p:spPr bwMode="auto">
              <a:xfrm>
                <a:off x="5051" y="1279"/>
                <a:ext cx="8" cy="8"/>
              </a:xfrm>
              <a:prstGeom prst="rect">
                <a:avLst/>
              </a:prstGeom>
              <a:solidFill>
                <a:srgbClr val="40458C"/>
              </a:solidFill>
              <a:ln w="9525">
                <a:noFill/>
                <a:miter lim="800000"/>
                <a:headEnd/>
                <a:tailEnd/>
              </a:ln>
            </p:spPr>
            <p:txBody>
              <a:bodyPr/>
              <a:lstStyle/>
              <a:p>
                <a:endParaRPr lang="en-US"/>
              </a:p>
            </p:txBody>
          </p:sp>
          <p:sp>
            <p:nvSpPr>
              <p:cNvPr id="1394822" name="Rectangle 134"/>
              <p:cNvSpPr>
                <a:spLocks noChangeArrowheads="1"/>
              </p:cNvSpPr>
              <p:nvPr/>
            </p:nvSpPr>
            <p:spPr bwMode="auto">
              <a:xfrm>
                <a:off x="5066" y="1279"/>
                <a:ext cx="8" cy="8"/>
              </a:xfrm>
              <a:prstGeom prst="rect">
                <a:avLst/>
              </a:prstGeom>
              <a:solidFill>
                <a:srgbClr val="40458C"/>
              </a:solidFill>
              <a:ln w="9525">
                <a:noFill/>
                <a:miter lim="800000"/>
                <a:headEnd/>
                <a:tailEnd/>
              </a:ln>
            </p:spPr>
            <p:txBody>
              <a:bodyPr/>
              <a:lstStyle/>
              <a:p>
                <a:endParaRPr lang="en-US"/>
              </a:p>
            </p:txBody>
          </p:sp>
          <p:sp>
            <p:nvSpPr>
              <p:cNvPr id="1394823" name="Rectangle 135"/>
              <p:cNvSpPr>
                <a:spLocks noChangeArrowheads="1"/>
              </p:cNvSpPr>
              <p:nvPr/>
            </p:nvSpPr>
            <p:spPr bwMode="auto">
              <a:xfrm>
                <a:off x="5082" y="1279"/>
                <a:ext cx="8" cy="8"/>
              </a:xfrm>
              <a:prstGeom prst="rect">
                <a:avLst/>
              </a:prstGeom>
              <a:solidFill>
                <a:srgbClr val="40458C"/>
              </a:solidFill>
              <a:ln w="9525">
                <a:noFill/>
                <a:miter lim="800000"/>
                <a:headEnd/>
                <a:tailEnd/>
              </a:ln>
            </p:spPr>
            <p:txBody>
              <a:bodyPr/>
              <a:lstStyle/>
              <a:p>
                <a:endParaRPr lang="en-US"/>
              </a:p>
            </p:txBody>
          </p:sp>
          <p:sp>
            <p:nvSpPr>
              <p:cNvPr id="1394824" name="Rectangle 136"/>
              <p:cNvSpPr>
                <a:spLocks noChangeArrowheads="1"/>
              </p:cNvSpPr>
              <p:nvPr/>
            </p:nvSpPr>
            <p:spPr bwMode="auto">
              <a:xfrm>
                <a:off x="5098" y="1279"/>
                <a:ext cx="7" cy="8"/>
              </a:xfrm>
              <a:prstGeom prst="rect">
                <a:avLst/>
              </a:prstGeom>
              <a:solidFill>
                <a:srgbClr val="40458C"/>
              </a:solidFill>
              <a:ln w="9525">
                <a:noFill/>
                <a:miter lim="800000"/>
                <a:headEnd/>
                <a:tailEnd/>
              </a:ln>
            </p:spPr>
            <p:txBody>
              <a:bodyPr/>
              <a:lstStyle/>
              <a:p>
                <a:endParaRPr lang="en-US"/>
              </a:p>
            </p:txBody>
          </p:sp>
          <p:sp>
            <p:nvSpPr>
              <p:cNvPr id="1394825" name="Rectangle 137"/>
              <p:cNvSpPr>
                <a:spLocks noChangeArrowheads="1"/>
              </p:cNvSpPr>
              <p:nvPr/>
            </p:nvSpPr>
            <p:spPr bwMode="auto">
              <a:xfrm>
                <a:off x="5113" y="1279"/>
                <a:ext cx="8" cy="8"/>
              </a:xfrm>
              <a:prstGeom prst="rect">
                <a:avLst/>
              </a:prstGeom>
              <a:solidFill>
                <a:srgbClr val="40458C"/>
              </a:solidFill>
              <a:ln w="9525">
                <a:noFill/>
                <a:miter lim="800000"/>
                <a:headEnd/>
                <a:tailEnd/>
              </a:ln>
            </p:spPr>
            <p:txBody>
              <a:bodyPr/>
              <a:lstStyle/>
              <a:p>
                <a:endParaRPr lang="en-US"/>
              </a:p>
            </p:txBody>
          </p:sp>
          <p:sp>
            <p:nvSpPr>
              <p:cNvPr id="1394826" name="Rectangle 138"/>
              <p:cNvSpPr>
                <a:spLocks noChangeArrowheads="1"/>
              </p:cNvSpPr>
              <p:nvPr/>
            </p:nvSpPr>
            <p:spPr bwMode="auto">
              <a:xfrm>
                <a:off x="5129" y="1279"/>
                <a:ext cx="8" cy="8"/>
              </a:xfrm>
              <a:prstGeom prst="rect">
                <a:avLst/>
              </a:prstGeom>
              <a:solidFill>
                <a:srgbClr val="40458C"/>
              </a:solidFill>
              <a:ln w="9525">
                <a:noFill/>
                <a:miter lim="800000"/>
                <a:headEnd/>
                <a:tailEnd/>
              </a:ln>
            </p:spPr>
            <p:txBody>
              <a:bodyPr/>
              <a:lstStyle/>
              <a:p>
                <a:endParaRPr lang="en-US"/>
              </a:p>
            </p:txBody>
          </p:sp>
          <p:sp>
            <p:nvSpPr>
              <p:cNvPr id="1394827" name="Rectangle 139"/>
              <p:cNvSpPr>
                <a:spLocks noChangeArrowheads="1"/>
              </p:cNvSpPr>
              <p:nvPr/>
            </p:nvSpPr>
            <p:spPr bwMode="auto">
              <a:xfrm>
                <a:off x="5144" y="1279"/>
                <a:ext cx="8" cy="8"/>
              </a:xfrm>
              <a:prstGeom prst="rect">
                <a:avLst/>
              </a:prstGeom>
              <a:solidFill>
                <a:srgbClr val="40458C"/>
              </a:solidFill>
              <a:ln w="9525">
                <a:noFill/>
                <a:miter lim="800000"/>
                <a:headEnd/>
                <a:tailEnd/>
              </a:ln>
            </p:spPr>
            <p:txBody>
              <a:bodyPr/>
              <a:lstStyle/>
              <a:p>
                <a:endParaRPr lang="en-US"/>
              </a:p>
            </p:txBody>
          </p:sp>
          <p:sp>
            <p:nvSpPr>
              <p:cNvPr id="1394828" name="Rectangle 140"/>
              <p:cNvSpPr>
                <a:spLocks noChangeArrowheads="1"/>
              </p:cNvSpPr>
              <p:nvPr/>
            </p:nvSpPr>
            <p:spPr bwMode="auto">
              <a:xfrm>
                <a:off x="5160" y="1279"/>
                <a:ext cx="8" cy="8"/>
              </a:xfrm>
              <a:prstGeom prst="rect">
                <a:avLst/>
              </a:prstGeom>
              <a:solidFill>
                <a:srgbClr val="40458C"/>
              </a:solidFill>
              <a:ln w="9525">
                <a:noFill/>
                <a:miter lim="800000"/>
                <a:headEnd/>
                <a:tailEnd/>
              </a:ln>
            </p:spPr>
            <p:txBody>
              <a:bodyPr/>
              <a:lstStyle/>
              <a:p>
                <a:endParaRPr lang="en-US"/>
              </a:p>
            </p:txBody>
          </p:sp>
          <p:sp>
            <p:nvSpPr>
              <p:cNvPr id="1394829" name="Rectangle 141"/>
              <p:cNvSpPr>
                <a:spLocks noChangeArrowheads="1"/>
              </p:cNvSpPr>
              <p:nvPr/>
            </p:nvSpPr>
            <p:spPr bwMode="auto">
              <a:xfrm>
                <a:off x="5176" y="1279"/>
                <a:ext cx="7" cy="8"/>
              </a:xfrm>
              <a:prstGeom prst="rect">
                <a:avLst/>
              </a:prstGeom>
              <a:solidFill>
                <a:srgbClr val="40458C"/>
              </a:solidFill>
              <a:ln w="9525">
                <a:noFill/>
                <a:miter lim="800000"/>
                <a:headEnd/>
                <a:tailEnd/>
              </a:ln>
            </p:spPr>
            <p:txBody>
              <a:bodyPr/>
              <a:lstStyle/>
              <a:p>
                <a:endParaRPr lang="en-US"/>
              </a:p>
            </p:txBody>
          </p:sp>
          <p:sp>
            <p:nvSpPr>
              <p:cNvPr id="1394830" name="Rectangle 142"/>
              <p:cNvSpPr>
                <a:spLocks noChangeArrowheads="1"/>
              </p:cNvSpPr>
              <p:nvPr/>
            </p:nvSpPr>
            <p:spPr bwMode="auto">
              <a:xfrm>
                <a:off x="5191" y="1279"/>
                <a:ext cx="8" cy="8"/>
              </a:xfrm>
              <a:prstGeom prst="rect">
                <a:avLst/>
              </a:prstGeom>
              <a:solidFill>
                <a:srgbClr val="40458C"/>
              </a:solidFill>
              <a:ln w="9525">
                <a:noFill/>
                <a:miter lim="800000"/>
                <a:headEnd/>
                <a:tailEnd/>
              </a:ln>
            </p:spPr>
            <p:txBody>
              <a:bodyPr/>
              <a:lstStyle/>
              <a:p>
                <a:endParaRPr lang="en-US"/>
              </a:p>
            </p:txBody>
          </p:sp>
          <p:sp>
            <p:nvSpPr>
              <p:cNvPr id="1394831" name="Rectangle 143"/>
              <p:cNvSpPr>
                <a:spLocks noChangeArrowheads="1"/>
              </p:cNvSpPr>
              <p:nvPr/>
            </p:nvSpPr>
            <p:spPr bwMode="auto">
              <a:xfrm>
                <a:off x="5207" y="1279"/>
                <a:ext cx="8" cy="8"/>
              </a:xfrm>
              <a:prstGeom prst="rect">
                <a:avLst/>
              </a:prstGeom>
              <a:solidFill>
                <a:srgbClr val="40458C"/>
              </a:solidFill>
              <a:ln w="9525">
                <a:noFill/>
                <a:miter lim="800000"/>
                <a:headEnd/>
                <a:tailEnd/>
              </a:ln>
            </p:spPr>
            <p:txBody>
              <a:bodyPr/>
              <a:lstStyle/>
              <a:p>
                <a:endParaRPr lang="en-US"/>
              </a:p>
            </p:txBody>
          </p:sp>
          <p:sp>
            <p:nvSpPr>
              <p:cNvPr id="1394832" name="Rectangle 144"/>
              <p:cNvSpPr>
                <a:spLocks noChangeArrowheads="1"/>
              </p:cNvSpPr>
              <p:nvPr/>
            </p:nvSpPr>
            <p:spPr bwMode="auto">
              <a:xfrm>
                <a:off x="5222" y="1279"/>
                <a:ext cx="8" cy="8"/>
              </a:xfrm>
              <a:prstGeom prst="rect">
                <a:avLst/>
              </a:prstGeom>
              <a:solidFill>
                <a:srgbClr val="40458C"/>
              </a:solidFill>
              <a:ln w="9525">
                <a:noFill/>
                <a:miter lim="800000"/>
                <a:headEnd/>
                <a:tailEnd/>
              </a:ln>
            </p:spPr>
            <p:txBody>
              <a:bodyPr/>
              <a:lstStyle/>
              <a:p>
                <a:endParaRPr lang="en-US"/>
              </a:p>
            </p:txBody>
          </p:sp>
          <p:sp>
            <p:nvSpPr>
              <p:cNvPr id="1394833" name="Rectangle 145"/>
              <p:cNvSpPr>
                <a:spLocks noChangeArrowheads="1"/>
              </p:cNvSpPr>
              <p:nvPr/>
            </p:nvSpPr>
            <p:spPr bwMode="auto">
              <a:xfrm>
                <a:off x="5238" y="1279"/>
                <a:ext cx="8" cy="8"/>
              </a:xfrm>
              <a:prstGeom prst="rect">
                <a:avLst/>
              </a:prstGeom>
              <a:solidFill>
                <a:srgbClr val="40458C"/>
              </a:solidFill>
              <a:ln w="9525">
                <a:noFill/>
                <a:miter lim="800000"/>
                <a:headEnd/>
                <a:tailEnd/>
              </a:ln>
            </p:spPr>
            <p:txBody>
              <a:bodyPr/>
              <a:lstStyle/>
              <a:p>
                <a:endParaRPr lang="en-US"/>
              </a:p>
            </p:txBody>
          </p:sp>
          <p:sp>
            <p:nvSpPr>
              <p:cNvPr id="1394834" name="Rectangle 146"/>
              <p:cNvSpPr>
                <a:spLocks noChangeArrowheads="1"/>
              </p:cNvSpPr>
              <p:nvPr/>
            </p:nvSpPr>
            <p:spPr bwMode="auto">
              <a:xfrm>
                <a:off x="5254" y="1279"/>
                <a:ext cx="8" cy="8"/>
              </a:xfrm>
              <a:prstGeom prst="rect">
                <a:avLst/>
              </a:prstGeom>
              <a:solidFill>
                <a:srgbClr val="40458C"/>
              </a:solidFill>
              <a:ln w="9525">
                <a:noFill/>
                <a:miter lim="800000"/>
                <a:headEnd/>
                <a:tailEnd/>
              </a:ln>
            </p:spPr>
            <p:txBody>
              <a:bodyPr/>
              <a:lstStyle/>
              <a:p>
                <a:endParaRPr lang="en-US"/>
              </a:p>
            </p:txBody>
          </p:sp>
          <p:sp>
            <p:nvSpPr>
              <p:cNvPr id="1394835" name="Rectangle 147"/>
              <p:cNvSpPr>
                <a:spLocks noChangeArrowheads="1"/>
              </p:cNvSpPr>
              <p:nvPr/>
            </p:nvSpPr>
            <p:spPr bwMode="auto">
              <a:xfrm>
                <a:off x="5269" y="1279"/>
                <a:ext cx="8" cy="8"/>
              </a:xfrm>
              <a:prstGeom prst="rect">
                <a:avLst/>
              </a:prstGeom>
              <a:solidFill>
                <a:srgbClr val="40458C"/>
              </a:solidFill>
              <a:ln w="9525">
                <a:noFill/>
                <a:miter lim="800000"/>
                <a:headEnd/>
                <a:tailEnd/>
              </a:ln>
            </p:spPr>
            <p:txBody>
              <a:bodyPr/>
              <a:lstStyle/>
              <a:p>
                <a:endParaRPr lang="en-US"/>
              </a:p>
            </p:txBody>
          </p:sp>
          <p:sp>
            <p:nvSpPr>
              <p:cNvPr id="1394836" name="Rectangle 148"/>
              <p:cNvSpPr>
                <a:spLocks noChangeArrowheads="1"/>
              </p:cNvSpPr>
              <p:nvPr/>
            </p:nvSpPr>
            <p:spPr bwMode="auto">
              <a:xfrm>
                <a:off x="5285" y="1279"/>
                <a:ext cx="8" cy="8"/>
              </a:xfrm>
              <a:prstGeom prst="rect">
                <a:avLst/>
              </a:prstGeom>
              <a:solidFill>
                <a:srgbClr val="40458C"/>
              </a:solidFill>
              <a:ln w="9525">
                <a:noFill/>
                <a:miter lim="800000"/>
                <a:headEnd/>
                <a:tailEnd/>
              </a:ln>
            </p:spPr>
            <p:txBody>
              <a:bodyPr/>
              <a:lstStyle/>
              <a:p>
                <a:endParaRPr lang="en-US"/>
              </a:p>
            </p:txBody>
          </p:sp>
          <p:sp>
            <p:nvSpPr>
              <p:cNvPr id="1394837" name="Rectangle 149"/>
              <p:cNvSpPr>
                <a:spLocks noChangeArrowheads="1"/>
              </p:cNvSpPr>
              <p:nvPr/>
            </p:nvSpPr>
            <p:spPr bwMode="auto">
              <a:xfrm>
                <a:off x="5301" y="1279"/>
                <a:ext cx="7" cy="8"/>
              </a:xfrm>
              <a:prstGeom prst="rect">
                <a:avLst/>
              </a:prstGeom>
              <a:solidFill>
                <a:srgbClr val="40458C"/>
              </a:solidFill>
              <a:ln w="9525">
                <a:noFill/>
                <a:miter lim="800000"/>
                <a:headEnd/>
                <a:tailEnd/>
              </a:ln>
            </p:spPr>
            <p:txBody>
              <a:bodyPr/>
              <a:lstStyle/>
              <a:p>
                <a:endParaRPr lang="en-US"/>
              </a:p>
            </p:txBody>
          </p:sp>
          <p:sp>
            <p:nvSpPr>
              <p:cNvPr id="1394838" name="Rectangle 150"/>
              <p:cNvSpPr>
                <a:spLocks noChangeArrowheads="1"/>
              </p:cNvSpPr>
              <p:nvPr/>
            </p:nvSpPr>
            <p:spPr bwMode="auto">
              <a:xfrm>
                <a:off x="5316" y="1279"/>
                <a:ext cx="8" cy="8"/>
              </a:xfrm>
              <a:prstGeom prst="rect">
                <a:avLst/>
              </a:prstGeom>
              <a:solidFill>
                <a:srgbClr val="40458C"/>
              </a:solidFill>
              <a:ln w="9525">
                <a:noFill/>
                <a:miter lim="800000"/>
                <a:headEnd/>
                <a:tailEnd/>
              </a:ln>
            </p:spPr>
            <p:txBody>
              <a:bodyPr/>
              <a:lstStyle/>
              <a:p>
                <a:endParaRPr lang="en-US"/>
              </a:p>
            </p:txBody>
          </p:sp>
          <p:sp>
            <p:nvSpPr>
              <p:cNvPr id="1394839" name="Rectangle 151"/>
              <p:cNvSpPr>
                <a:spLocks noChangeArrowheads="1"/>
              </p:cNvSpPr>
              <p:nvPr/>
            </p:nvSpPr>
            <p:spPr bwMode="auto">
              <a:xfrm>
                <a:off x="5332" y="1279"/>
                <a:ext cx="8" cy="8"/>
              </a:xfrm>
              <a:prstGeom prst="rect">
                <a:avLst/>
              </a:prstGeom>
              <a:solidFill>
                <a:srgbClr val="40458C"/>
              </a:solidFill>
              <a:ln w="9525">
                <a:noFill/>
                <a:miter lim="800000"/>
                <a:headEnd/>
                <a:tailEnd/>
              </a:ln>
            </p:spPr>
            <p:txBody>
              <a:bodyPr/>
              <a:lstStyle/>
              <a:p>
                <a:endParaRPr lang="en-US"/>
              </a:p>
            </p:txBody>
          </p:sp>
          <p:sp>
            <p:nvSpPr>
              <p:cNvPr id="1394840" name="Rectangle 152"/>
              <p:cNvSpPr>
                <a:spLocks noChangeArrowheads="1"/>
              </p:cNvSpPr>
              <p:nvPr/>
            </p:nvSpPr>
            <p:spPr bwMode="auto">
              <a:xfrm>
                <a:off x="5347" y="1279"/>
                <a:ext cx="8" cy="8"/>
              </a:xfrm>
              <a:prstGeom prst="rect">
                <a:avLst/>
              </a:prstGeom>
              <a:solidFill>
                <a:srgbClr val="40458C"/>
              </a:solidFill>
              <a:ln w="9525">
                <a:noFill/>
                <a:miter lim="800000"/>
                <a:headEnd/>
                <a:tailEnd/>
              </a:ln>
            </p:spPr>
            <p:txBody>
              <a:bodyPr/>
              <a:lstStyle/>
              <a:p>
                <a:endParaRPr lang="en-US"/>
              </a:p>
            </p:txBody>
          </p:sp>
          <p:sp>
            <p:nvSpPr>
              <p:cNvPr id="1394841" name="Rectangle 153"/>
              <p:cNvSpPr>
                <a:spLocks noChangeArrowheads="1"/>
              </p:cNvSpPr>
              <p:nvPr/>
            </p:nvSpPr>
            <p:spPr bwMode="auto">
              <a:xfrm>
                <a:off x="5363" y="1279"/>
                <a:ext cx="8" cy="8"/>
              </a:xfrm>
              <a:prstGeom prst="rect">
                <a:avLst/>
              </a:prstGeom>
              <a:solidFill>
                <a:srgbClr val="40458C"/>
              </a:solidFill>
              <a:ln w="9525">
                <a:noFill/>
                <a:miter lim="800000"/>
                <a:headEnd/>
                <a:tailEnd/>
              </a:ln>
            </p:spPr>
            <p:txBody>
              <a:bodyPr/>
              <a:lstStyle/>
              <a:p>
                <a:endParaRPr lang="en-US"/>
              </a:p>
            </p:txBody>
          </p:sp>
          <p:sp>
            <p:nvSpPr>
              <p:cNvPr id="1394842" name="Rectangle 154"/>
              <p:cNvSpPr>
                <a:spLocks noChangeArrowheads="1"/>
              </p:cNvSpPr>
              <p:nvPr/>
            </p:nvSpPr>
            <p:spPr bwMode="auto">
              <a:xfrm>
                <a:off x="5379" y="1279"/>
                <a:ext cx="7" cy="8"/>
              </a:xfrm>
              <a:prstGeom prst="rect">
                <a:avLst/>
              </a:prstGeom>
              <a:solidFill>
                <a:srgbClr val="40458C"/>
              </a:solidFill>
              <a:ln w="9525">
                <a:noFill/>
                <a:miter lim="800000"/>
                <a:headEnd/>
                <a:tailEnd/>
              </a:ln>
            </p:spPr>
            <p:txBody>
              <a:bodyPr/>
              <a:lstStyle/>
              <a:p>
                <a:endParaRPr lang="en-US"/>
              </a:p>
            </p:txBody>
          </p:sp>
          <p:sp>
            <p:nvSpPr>
              <p:cNvPr id="1394843" name="Rectangle 155"/>
              <p:cNvSpPr>
                <a:spLocks noChangeArrowheads="1"/>
              </p:cNvSpPr>
              <p:nvPr/>
            </p:nvSpPr>
            <p:spPr bwMode="auto">
              <a:xfrm>
                <a:off x="5394" y="1279"/>
                <a:ext cx="8" cy="8"/>
              </a:xfrm>
              <a:prstGeom prst="rect">
                <a:avLst/>
              </a:prstGeom>
              <a:solidFill>
                <a:srgbClr val="40458C"/>
              </a:solidFill>
              <a:ln w="9525">
                <a:noFill/>
                <a:miter lim="800000"/>
                <a:headEnd/>
                <a:tailEnd/>
              </a:ln>
            </p:spPr>
            <p:txBody>
              <a:bodyPr/>
              <a:lstStyle/>
              <a:p>
                <a:endParaRPr lang="en-US"/>
              </a:p>
            </p:txBody>
          </p:sp>
          <p:sp>
            <p:nvSpPr>
              <p:cNvPr id="1394844" name="Rectangle 156"/>
              <p:cNvSpPr>
                <a:spLocks noChangeArrowheads="1"/>
              </p:cNvSpPr>
              <p:nvPr/>
            </p:nvSpPr>
            <p:spPr bwMode="auto">
              <a:xfrm>
                <a:off x="5410" y="1279"/>
                <a:ext cx="8" cy="8"/>
              </a:xfrm>
              <a:prstGeom prst="rect">
                <a:avLst/>
              </a:prstGeom>
              <a:solidFill>
                <a:srgbClr val="40458C"/>
              </a:solidFill>
              <a:ln w="9525">
                <a:noFill/>
                <a:miter lim="800000"/>
                <a:headEnd/>
                <a:tailEnd/>
              </a:ln>
            </p:spPr>
            <p:txBody>
              <a:bodyPr/>
              <a:lstStyle/>
              <a:p>
                <a:endParaRPr lang="en-US"/>
              </a:p>
            </p:txBody>
          </p:sp>
          <p:sp>
            <p:nvSpPr>
              <p:cNvPr id="1394845" name="Rectangle 157"/>
              <p:cNvSpPr>
                <a:spLocks noChangeArrowheads="1"/>
              </p:cNvSpPr>
              <p:nvPr/>
            </p:nvSpPr>
            <p:spPr bwMode="auto">
              <a:xfrm>
                <a:off x="5425" y="1279"/>
                <a:ext cx="8" cy="8"/>
              </a:xfrm>
              <a:prstGeom prst="rect">
                <a:avLst/>
              </a:prstGeom>
              <a:solidFill>
                <a:srgbClr val="40458C"/>
              </a:solidFill>
              <a:ln w="9525">
                <a:noFill/>
                <a:miter lim="800000"/>
                <a:headEnd/>
                <a:tailEnd/>
              </a:ln>
            </p:spPr>
            <p:txBody>
              <a:bodyPr/>
              <a:lstStyle/>
              <a:p>
                <a:endParaRPr lang="en-US"/>
              </a:p>
            </p:txBody>
          </p:sp>
          <p:sp>
            <p:nvSpPr>
              <p:cNvPr id="1394846" name="Rectangle 158"/>
              <p:cNvSpPr>
                <a:spLocks noChangeArrowheads="1"/>
              </p:cNvSpPr>
              <p:nvPr/>
            </p:nvSpPr>
            <p:spPr bwMode="auto">
              <a:xfrm>
                <a:off x="5441" y="1279"/>
                <a:ext cx="8" cy="8"/>
              </a:xfrm>
              <a:prstGeom prst="rect">
                <a:avLst/>
              </a:prstGeom>
              <a:solidFill>
                <a:srgbClr val="40458C"/>
              </a:solidFill>
              <a:ln w="9525">
                <a:noFill/>
                <a:miter lim="800000"/>
                <a:headEnd/>
                <a:tailEnd/>
              </a:ln>
            </p:spPr>
            <p:txBody>
              <a:bodyPr/>
              <a:lstStyle/>
              <a:p>
                <a:endParaRPr lang="en-US"/>
              </a:p>
            </p:txBody>
          </p:sp>
          <p:sp>
            <p:nvSpPr>
              <p:cNvPr id="1394847" name="Rectangle 159"/>
              <p:cNvSpPr>
                <a:spLocks noChangeArrowheads="1"/>
              </p:cNvSpPr>
              <p:nvPr/>
            </p:nvSpPr>
            <p:spPr bwMode="auto">
              <a:xfrm>
                <a:off x="5457" y="1279"/>
                <a:ext cx="7" cy="8"/>
              </a:xfrm>
              <a:prstGeom prst="rect">
                <a:avLst/>
              </a:prstGeom>
              <a:solidFill>
                <a:srgbClr val="40458C"/>
              </a:solidFill>
              <a:ln w="9525">
                <a:noFill/>
                <a:miter lim="800000"/>
                <a:headEnd/>
                <a:tailEnd/>
              </a:ln>
            </p:spPr>
            <p:txBody>
              <a:bodyPr/>
              <a:lstStyle/>
              <a:p>
                <a:endParaRPr lang="en-US"/>
              </a:p>
            </p:txBody>
          </p:sp>
          <p:sp>
            <p:nvSpPr>
              <p:cNvPr id="1394848" name="Rectangle 160"/>
              <p:cNvSpPr>
                <a:spLocks noChangeArrowheads="1"/>
              </p:cNvSpPr>
              <p:nvPr/>
            </p:nvSpPr>
            <p:spPr bwMode="auto">
              <a:xfrm>
                <a:off x="5472" y="1279"/>
                <a:ext cx="8" cy="8"/>
              </a:xfrm>
              <a:prstGeom prst="rect">
                <a:avLst/>
              </a:prstGeom>
              <a:solidFill>
                <a:srgbClr val="40458C"/>
              </a:solidFill>
              <a:ln w="9525">
                <a:noFill/>
                <a:miter lim="800000"/>
                <a:headEnd/>
                <a:tailEnd/>
              </a:ln>
            </p:spPr>
            <p:txBody>
              <a:bodyPr/>
              <a:lstStyle/>
              <a:p>
                <a:endParaRPr lang="en-US"/>
              </a:p>
            </p:txBody>
          </p:sp>
        </p:gr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grpSp>
        <p:nvGrpSpPr>
          <p:cNvPr id="1396074" name="Group 362"/>
          <p:cNvGrpSpPr>
            <a:grpSpLocks noChangeAspect="1"/>
          </p:cNvGrpSpPr>
          <p:nvPr/>
        </p:nvGrpSpPr>
        <p:grpSpPr bwMode="auto">
          <a:xfrm>
            <a:off x="214313" y="1738313"/>
            <a:ext cx="4268787" cy="4035425"/>
            <a:chOff x="432" y="720"/>
            <a:chExt cx="3140" cy="2963"/>
          </a:xfrm>
        </p:grpSpPr>
        <p:sp>
          <p:nvSpPr>
            <p:cNvPr id="1396075" name="Freeform 363"/>
            <p:cNvSpPr>
              <a:spLocks noChangeAspect="1"/>
            </p:cNvSpPr>
            <p:nvPr/>
          </p:nvSpPr>
          <p:spPr bwMode="auto">
            <a:xfrm>
              <a:off x="966" y="2101"/>
              <a:ext cx="2067" cy="488"/>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FFFF99"/>
            </a:solidFill>
            <a:ln w="9525" cap="rnd">
              <a:noFill/>
              <a:prstDash val="solid"/>
              <a:round/>
              <a:headEnd/>
              <a:tailEnd/>
            </a:ln>
          </p:spPr>
          <p:txBody>
            <a:bodyPr/>
            <a:lstStyle/>
            <a:p>
              <a:endParaRPr lang="en-US"/>
            </a:p>
          </p:txBody>
        </p:sp>
        <p:sp>
          <p:nvSpPr>
            <p:cNvPr id="1396076" name="Freeform 364"/>
            <p:cNvSpPr>
              <a:spLocks noChangeAspect="1"/>
            </p:cNvSpPr>
            <p:nvPr/>
          </p:nvSpPr>
          <p:spPr bwMode="auto">
            <a:xfrm>
              <a:off x="817" y="2281"/>
              <a:ext cx="2359" cy="572"/>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E2E5FE"/>
            </a:solidFill>
            <a:ln w="9525" cap="rnd">
              <a:solidFill>
                <a:srgbClr val="D3D8FD"/>
              </a:solidFill>
              <a:prstDash val="solid"/>
              <a:round/>
              <a:headEnd/>
              <a:tailEnd/>
            </a:ln>
          </p:spPr>
          <p:txBody>
            <a:bodyPr/>
            <a:lstStyle/>
            <a:p>
              <a:endParaRPr lang="en-US"/>
            </a:p>
          </p:txBody>
        </p:sp>
        <p:sp>
          <p:nvSpPr>
            <p:cNvPr id="1396077" name="Freeform 365"/>
            <p:cNvSpPr>
              <a:spLocks noChangeAspect="1"/>
            </p:cNvSpPr>
            <p:nvPr/>
          </p:nvSpPr>
          <p:spPr bwMode="auto">
            <a:xfrm>
              <a:off x="1244" y="1788"/>
              <a:ext cx="1506" cy="311"/>
            </a:xfrm>
            <a:custGeom>
              <a:avLst/>
              <a:gdLst/>
              <a:ahLst/>
              <a:cxnLst>
                <a:cxn ang="0">
                  <a:pos x="0" y="488"/>
                </a:cxn>
                <a:cxn ang="0">
                  <a:pos x="285" y="0"/>
                </a:cxn>
                <a:cxn ang="0">
                  <a:pos x="1782" y="0"/>
                </a:cxn>
                <a:cxn ang="0">
                  <a:pos x="2067" y="488"/>
                </a:cxn>
                <a:cxn ang="0">
                  <a:pos x="0" y="488"/>
                </a:cxn>
              </a:cxnLst>
              <a:rect l="0" t="0" r="r" b="b"/>
              <a:pathLst>
                <a:path w="2067" h="488">
                  <a:moveTo>
                    <a:pt x="0" y="488"/>
                  </a:moveTo>
                  <a:lnTo>
                    <a:pt x="285" y="0"/>
                  </a:lnTo>
                  <a:lnTo>
                    <a:pt x="1782" y="0"/>
                  </a:lnTo>
                  <a:lnTo>
                    <a:pt x="2067" y="488"/>
                  </a:lnTo>
                  <a:lnTo>
                    <a:pt x="0" y="488"/>
                  </a:lnTo>
                  <a:close/>
                </a:path>
              </a:pathLst>
            </a:custGeom>
            <a:solidFill>
              <a:srgbClr val="E2E5FE"/>
            </a:solidFill>
            <a:ln w="9525" cap="rnd">
              <a:solidFill>
                <a:srgbClr val="D3D8FD"/>
              </a:solidFill>
              <a:prstDash val="solid"/>
              <a:round/>
              <a:headEnd/>
              <a:tailEnd/>
            </a:ln>
          </p:spPr>
          <p:txBody>
            <a:bodyPr/>
            <a:lstStyle/>
            <a:p>
              <a:endParaRPr lang="en-US"/>
            </a:p>
          </p:txBody>
        </p:sp>
        <p:sp>
          <p:nvSpPr>
            <p:cNvPr id="1396078" name="Oval 366"/>
            <p:cNvSpPr>
              <a:spLocks noChangeAspect="1" noChangeArrowheads="1"/>
            </p:cNvSpPr>
            <p:nvPr/>
          </p:nvSpPr>
          <p:spPr bwMode="auto">
            <a:xfrm>
              <a:off x="1524" y="720"/>
              <a:ext cx="946" cy="212"/>
            </a:xfrm>
            <a:prstGeom prst="ellipse">
              <a:avLst/>
            </a:prstGeom>
            <a:solidFill>
              <a:srgbClr val="F5FDA9"/>
            </a:solidFill>
            <a:ln w="6350">
              <a:solidFill>
                <a:schemeClr val="tx1"/>
              </a:solidFill>
              <a:miter lim="800000"/>
              <a:headEnd/>
              <a:tailEnd/>
            </a:ln>
            <a:effectLst/>
          </p:spPr>
          <p:txBody>
            <a:bodyPr wrap="none" anchor="ctr"/>
            <a:lstStyle/>
            <a:p>
              <a:endParaRPr lang="en-US"/>
            </a:p>
          </p:txBody>
        </p:sp>
        <p:sp>
          <p:nvSpPr>
            <p:cNvPr id="1396079" name="Freeform 367"/>
            <p:cNvSpPr>
              <a:spLocks noChangeAspect="1"/>
            </p:cNvSpPr>
            <p:nvPr/>
          </p:nvSpPr>
          <p:spPr bwMode="auto">
            <a:xfrm>
              <a:off x="1598" y="945"/>
              <a:ext cx="782" cy="2738"/>
            </a:xfrm>
            <a:custGeom>
              <a:avLst/>
              <a:gdLst/>
              <a:ahLst/>
              <a:cxnLst>
                <a:cxn ang="0">
                  <a:pos x="0" y="146"/>
                </a:cxn>
                <a:cxn ang="0">
                  <a:pos x="202" y="146"/>
                </a:cxn>
                <a:cxn ang="0">
                  <a:pos x="202" y="2738"/>
                </a:cxn>
                <a:cxn ang="0">
                  <a:pos x="580" y="2738"/>
                </a:cxn>
                <a:cxn ang="0">
                  <a:pos x="580" y="146"/>
                </a:cxn>
                <a:cxn ang="0">
                  <a:pos x="782" y="146"/>
                </a:cxn>
                <a:cxn ang="0">
                  <a:pos x="394" y="0"/>
                </a:cxn>
                <a:cxn ang="0">
                  <a:pos x="0" y="146"/>
                </a:cxn>
              </a:cxnLst>
              <a:rect l="0" t="0" r="r" b="b"/>
              <a:pathLst>
                <a:path w="782" h="2738">
                  <a:moveTo>
                    <a:pt x="0" y="146"/>
                  </a:moveTo>
                  <a:lnTo>
                    <a:pt x="202" y="146"/>
                  </a:lnTo>
                  <a:lnTo>
                    <a:pt x="202" y="2738"/>
                  </a:lnTo>
                  <a:lnTo>
                    <a:pt x="580" y="2738"/>
                  </a:lnTo>
                  <a:lnTo>
                    <a:pt x="580" y="146"/>
                  </a:lnTo>
                  <a:lnTo>
                    <a:pt x="782" y="146"/>
                  </a:lnTo>
                  <a:lnTo>
                    <a:pt x="394" y="0"/>
                  </a:lnTo>
                  <a:lnTo>
                    <a:pt x="0" y="146"/>
                  </a:lnTo>
                  <a:close/>
                </a:path>
              </a:pathLst>
            </a:custGeom>
            <a:solidFill>
              <a:srgbClr val="0033CC"/>
            </a:solidFill>
            <a:ln w="9525">
              <a:noFill/>
              <a:round/>
              <a:headEnd/>
              <a:tailEnd/>
            </a:ln>
          </p:spPr>
          <p:txBody>
            <a:bodyPr/>
            <a:lstStyle/>
            <a:p>
              <a:endParaRPr lang="en-US"/>
            </a:p>
          </p:txBody>
        </p:sp>
        <p:sp>
          <p:nvSpPr>
            <p:cNvPr id="1396080" name="Freeform 368"/>
            <p:cNvSpPr>
              <a:spLocks noChangeAspect="1"/>
            </p:cNvSpPr>
            <p:nvPr/>
          </p:nvSpPr>
          <p:spPr bwMode="auto">
            <a:xfrm>
              <a:off x="2012" y="1028"/>
              <a:ext cx="550" cy="794"/>
            </a:xfrm>
            <a:custGeom>
              <a:avLst/>
              <a:gdLst/>
              <a:ahLst/>
              <a:cxnLst>
                <a:cxn ang="0">
                  <a:pos x="0" y="0"/>
                </a:cxn>
                <a:cxn ang="0">
                  <a:pos x="0" y="794"/>
                </a:cxn>
                <a:cxn ang="0">
                  <a:pos x="550" y="794"/>
                </a:cxn>
                <a:cxn ang="0">
                  <a:pos x="0" y="0"/>
                </a:cxn>
              </a:cxnLst>
              <a:rect l="0" t="0" r="r" b="b"/>
              <a:pathLst>
                <a:path w="550" h="794">
                  <a:moveTo>
                    <a:pt x="0" y="0"/>
                  </a:moveTo>
                  <a:lnTo>
                    <a:pt x="0" y="794"/>
                  </a:lnTo>
                  <a:lnTo>
                    <a:pt x="550" y="794"/>
                  </a:lnTo>
                  <a:lnTo>
                    <a:pt x="0" y="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6081" name="Freeform 369"/>
            <p:cNvSpPr>
              <a:spLocks noChangeAspect="1"/>
            </p:cNvSpPr>
            <p:nvPr/>
          </p:nvSpPr>
          <p:spPr bwMode="auto">
            <a:xfrm>
              <a:off x="1422" y="1028"/>
              <a:ext cx="544" cy="794"/>
            </a:xfrm>
            <a:custGeom>
              <a:avLst/>
              <a:gdLst/>
              <a:ahLst/>
              <a:cxnLst>
                <a:cxn ang="0">
                  <a:pos x="544" y="0"/>
                </a:cxn>
                <a:cxn ang="0">
                  <a:pos x="544" y="794"/>
                </a:cxn>
                <a:cxn ang="0">
                  <a:pos x="0" y="794"/>
                </a:cxn>
                <a:cxn ang="0">
                  <a:pos x="544" y="0"/>
                </a:cxn>
              </a:cxnLst>
              <a:rect l="0" t="0" r="r" b="b"/>
              <a:pathLst>
                <a:path w="544" h="794">
                  <a:moveTo>
                    <a:pt x="544" y="0"/>
                  </a:moveTo>
                  <a:lnTo>
                    <a:pt x="544" y="794"/>
                  </a:lnTo>
                  <a:lnTo>
                    <a:pt x="0" y="794"/>
                  </a:lnTo>
                  <a:lnTo>
                    <a:pt x="544" y="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6082" name="Freeform 370"/>
            <p:cNvSpPr>
              <a:spLocks noChangeAspect="1"/>
            </p:cNvSpPr>
            <p:nvPr/>
          </p:nvSpPr>
          <p:spPr bwMode="auto">
            <a:xfrm>
              <a:off x="432" y="2858"/>
              <a:ext cx="3140" cy="700"/>
            </a:xfrm>
            <a:custGeom>
              <a:avLst/>
              <a:gdLst/>
              <a:ahLst/>
              <a:cxnLst>
                <a:cxn ang="0">
                  <a:pos x="0" y="700"/>
                </a:cxn>
                <a:cxn ang="0">
                  <a:pos x="394" y="0"/>
                </a:cxn>
                <a:cxn ang="0">
                  <a:pos x="2746" y="0"/>
                </a:cxn>
                <a:cxn ang="0">
                  <a:pos x="3140" y="700"/>
                </a:cxn>
                <a:cxn ang="0">
                  <a:pos x="0" y="700"/>
                </a:cxn>
              </a:cxnLst>
              <a:rect l="0" t="0" r="r" b="b"/>
              <a:pathLst>
                <a:path w="3140" h="700">
                  <a:moveTo>
                    <a:pt x="0" y="700"/>
                  </a:moveTo>
                  <a:lnTo>
                    <a:pt x="394" y="0"/>
                  </a:lnTo>
                  <a:lnTo>
                    <a:pt x="2746" y="0"/>
                  </a:lnTo>
                  <a:lnTo>
                    <a:pt x="3140" y="700"/>
                  </a:lnTo>
                  <a:lnTo>
                    <a:pt x="0" y="700"/>
                  </a:lnTo>
                  <a:close/>
                </a:path>
              </a:pathLst>
            </a:custGeom>
            <a:solidFill>
              <a:srgbClr val="FFFF99"/>
            </a:solidFill>
            <a:ln w="9525" cap="rnd">
              <a:solidFill>
                <a:srgbClr val="000000"/>
              </a:solidFill>
              <a:prstDash val="solid"/>
              <a:round/>
              <a:headEnd/>
              <a:tailEnd/>
            </a:ln>
          </p:spPr>
          <p:txBody>
            <a:bodyPr/>
            <a:lstStyle/>
            <a:p>
              <a:endParaRPr lang="en-US"/>
            </a:p>
          </p:txBody>
        </p:sp>
        <p:sp>
          <p:nvSpPr>
            <p:cNvPr id="1396083" name="Rectangle 371"/>
            <p:cNvSpPr>
              <a:spLocks noChangeAspect="1" noChangeArrowheads="1"/>
            </p:cNvSpPr>
            <p:nvPr/>
          </p:nvSpPr>
          <p:spPr bwMode="auto">
            <a:xfrm>
              <a:off x="1873" y="3129"/>
              <a:ext cx="365" cy="78"/>
            </a:xfrm>
            <a:prstGeom prst="rect">
              <a:avLst/>
            </a:prstGeom>
            <a:noFill/>
            <a:ln w="9525">
              <a:noFill/>
              <a:miter lim="800000"/>
              <a:headEnd/>
              <a:tailEnd/>
            </a:ln>
          </p:spPr>
          <p:txBody>
            <a:bodyPr wrap="none" lIns="0" tIns="0" rIns="0" bIns="0">
              <a:spAutoFit/>
            </a:bodyPr>
            <a:lstStyle/>
            <a:p>
              <a:r>
                <a:rPr lang="en-US" sz="700" b="1">
                  <a:solidFill>
                    <a:schemeClr val="bg1"/>
                  </a:solidFill>
                </a:rPr>
                <a:t>Technology</a:t>
              </a:r>
              <a:endParaRPr lang="en-US" sz="1200">
                <a:solidFill>
                  <a:schemeClr val="bg1"/>
                </a:solidFill>
              </a:endParaRPr>
            </a:p>
          </p:txBody>
        </p:sp>
        <p:grpSp>
          <p:nvGrpSpPr>
            <p:cNvPr id="1396084" name="Group 372"/>
            <p:cNvGrpSpPr>
              <a:grpSpLocks noChangeAspect="1"/>
            </p:cNvGrpSpPr>
            <p:nvPr/>
          </p:nvGrpSpPr>
          <p:grpSpPr bwMode="auto">
            <a:xfrm>
              <a:off x="1624" y="3040"/>
              <a:ext cx="772" cy="243"/>
              <a:chOff x="1549" y="3317"/>
              <a:chExt cx="772" cy="243"/>
            </a:xfrm>
          </p:grpSpPr>
          <p:sp>
            <p:nvSpPr>
              <p:cNvPr id="1396085" name="Rectangle 373"/>
              <p:cNvSpPr>
                <a:spLocks noChangeAspect="1" noChangeArrowheads="1"/>
              </p:cNvSpPr>
              <p:nvPr/>
            </p:nvSpPr>
            <p:spPr bwMode="auto">
              <a:xfrm>
                <a:off x="1575" y="3343"/>
                <a:ext cx="746" cy="217"/>
              </a:xfrm>
              <a:prstGeom prst="rect">
                <a:avLst/>
              </a:prstGeom>
              <a:solidFill>
                <a:srgbClr val="808080"/>
              </a:solidFill>
              <a:ln w="9525">
                <a:noFill/>
                <a:miter lim="800000"/>
                <a:headEnd/>
                <a:tailEnd/>
              </a:ln>
            </p:spPr>
            <p:txBody>
              <a:bodyPr/>
              <a:lstStyle/>
              <a:p>
                <a:endParaRPr lang="en-US"/>
              </a:p>
            </p:txBody>
          </p:sp>
          <p:grpSp>
            <p:nvGrpSpPr>
              <p:cNvPr id="1396086" name="Group 374"/>
              <p:cNvGrpSpPr>
                <a:grpSpLocks noChangeAspect="1"/>
              </p:cNvGrpSpPr>
              <p:nvPr/>
            </p:nvGrpSpPr>
            <p:grpSpPr bwMode="auto">
              <a:xfrm>
                <a:off x="1549" y="3317"/>
                <a:ext cx="746" cy="212"/>
                <a:chOff x="1549" y="3317"/>
                <a:chExt cx="746" cy="212"/>
              </a:xfrm>
            </p:grpSpPr>
            <p:sp>
              <p:nvSpPr>
                <p:cNvPr id="1396087" name="Rectangle 375"/>
                <p:cNvSpPr>
                  <a:spLocks noChangeAspect="1" noChangeArrowheads="1"/>
                </p:cNvSpPr>
                <p:nvPr/>
              </p:nvSpPr>
              <p:spPr bwMode="auto">
                <a:xfrm>
                  <a:off x="1549" y="3317"/>
                  <a:ext cx="36" cy="212"/>
                </a:xfrm>
                <a:prstGeom prst="rect">
                  <a:avLst/>
                </a:prstGeom>
                <a:solidFill>
                  <a:srgbClr val="CBCBFE"/>
                </a:solidFill>
                <a:ln w="9525">
                  <a:noFill/>
                  <a:miter lim="800000"/>
                  <a:headEnd/>
                  <a:tailEnd/>
                </a:ln>
              </p:spPr>
              <p:txBody>
                <a:bodyPr/>
                <a:lstStyle/>
                <a:p>
                  <a:endParaRPr lang="en-US"/>
                </a:p>
              </p:txBody>
            </p:sp>
            <p:sp>
              <p:nvSpPr>
                <p:cNvPr id="1396088" name="Rectangle 376"/>
                <p:cNvSpPr>
                  <a:spLocks noChangeAspect="1" noChangeArrowheads="1"/>
                </p:cNvSpPr>
                <p:nvPr/>
              </p:nvSpPr>
              <p:spPr bwMode="auto">
                <a:xfrm>
                  <a:off x="1585" y="3317"/>
                  <a:ext cx="31" cy="212"/>
                </a:xfrm>
                <a:prstGeom prst="rect">
                  <a:avLst/>
                </a:prstGeom>
                <a:solidFill>
                  <a:srgbClr val="CBCBFE"/>
                </a:solidFill>
                <a:ln w="9525">
                  <a:noFill/>
                  <a:miter lim="800000"/>
                  <a:headEnd/>
                  <a:tailEnd/>
                </a:ln>
              </p:spPr>
              <p:txBody>
                <a:bodyPr/>
                <a:lstStyle/>
                <a:p>
                  <a:endParaRPr lang="en-US"/>
                </a:p>
              </p:txBody>
            </p:sp>
            <p:sp>
              <p:nvSpPr>
                <p:cNvPr id="1396089" name="Rectangle 377"/>
                <p:cNvSpPr>
                  <a:spLocks noChangeAspect="1" noChangeArrowheads="1"/>
                </p:cNvSpPr>
                <p:nvPr/>
              </p:nvSpPr>
              <p:spPr bwMode="auto">
                <a:xfrm>
                  <a:off x="1616" y="3317"/>
                  <a:ext cx="36" cy="212"/>
                </a:xfrm>
                <a:prstGeom prst="rect">
                  <a:avLst/>
                </a:prstGeom>
                <a:solidFill>
                  <a:srgbClr val="CBCBFD"/>
                </a:solidFill>
                <a:ln w="9525">
                  <a:noFill/>
                  <a:miter lim="800000"/>
                  <a:headEnd/>
                  <a:tailEnd/>
                </a:ln>
              </p:spPr>
              <p:txBody>
                <a:bodyPr/>
                <a:lstStyle/>
                <a:p>
                  <a:endParaRPr lang="en-US"/>
                </a:p>
              </p:txBody>
            </p:sp>
            <p:sp>
              <p:nvSpPr>
                <p:cNvPr id="1396090" name="Rectangle 378"/>
                <p:cNvSpPr>
                  <a:spLocks noChangeAspect="1" noChangeArrowheads="1"/>
                </p:cNvSpPr>
                <p:nvPr/>
              </p:nvSpPr>
              <p:spPr bwMode="auto">
                <a:xfrm>
                  <a:off x="1652" y="3317"/>
                  <a:ext cx="31" cy="212"/>
                </a:xfrm>
                <a:prstGeom prst="rect">
                  <a:avLst/>
                </a:prstGeom>
                <a:solidFill>
                  <a:srgbClr val="CACAFC"/>
                </a:solidFill>
                <a:ln w="9525">
                  <a:noFill/>
                  <a:miter lim="800000"/>
                  <a:headEnd/>
                  <a:tailEnd/>
                </a:ln>
              </p:spPr>
              <p:txBody>
                <a:bodyPr/>
                <a:lstStyle/>
                <a:p>
                  <a:endParaRPr lang="en-US"/>
                </a:p>
              </p:txBody>
            </p:sp>
            <p:sp>
              <p:nvSpPr>
                <p:cNvPr id="1396091" name="Rectangle 379"/>
                <p:cNvSpPr>
                  <a:spLocks noChangeAspect="1" noChangeArrowheads="1"/>
                </p:cNvSpPr>
                <p:nvPr/>
              </p:nvSpPr>
              <p:spPr bwMode="auto">
                <a:xfrm>
                  <a:off x="1683" y="3317"/>
                  <a:ext cx="37" cy="212"/>
                </a:xfrm>
                <a:prstGeom prst="rect">
                  <a:avLst/>
                </a:prstGeom>
                <a:solidFill>
                  <a:srgbClr val="C9C9FB"/>
                </a:solidFill>
                <a:ln w="9525">
                  <a:noFill/>
                  <a:miter lim="800000"/>
                  <a:headEnd/>
                  <a:tailEnd/>
                </a:ln>
              </p:spPr>
              <p:txBody>
                <a:bodyPr/>
                <a:lstStyle/>
                <a:p>
                  <a:endParaRPr lang="en-US"/>
                </a:p>
              </p:txBody>
            </p:sp>
            <p:sp>
              <p:nvSpPr>
                <p:cNvPr id="1396092" name="Rectangle 380"/>
                <p:cNvSpPr>
                  <a:spLocks noChangeAspect="1" noChangeArrowheads="1"/>
                </p:cNvSpPr>
                <p:nvPr/>
              </p:nvSpPr>
              <p:spPr bwMode="auto">
                <a:xfrm>
                  <a:off x="1720" y="3317"/>
                  <a:ext cx="31" cy="212"/>
                </a:xfrm>
                <a:prstGeom prst="rect">
                  <a:avLst/>
                </a:prstGeom>
                <a:solidFill>
                  <a:srgbClr val="C8C8FA"/>
                </a:solidFill>
                <a:ln w="9525">
                  <a:noFill/>
                  <a:miter lim="800000"/>
                  <a:headEnd/>
                  <a:tailEnd/>
                </a:ln>
              </p:spPr>
              <p:txBody>
                <a:bodyPr/>
                <a:lstStyle/>
                <a:p>
                  <a:endParaRPr lang="en-US"/>
                </a:p>
              </p:txBody>
            </p:sp>
            <p:sp>
              <p:nvSpPr>
                <p:cNvPr id="1396093" name="Rectangle 381"/>
                <p:cNvSpPr>
                  <a:spLocks noChangeAspect="1" noChangeArrowheads="1"/>
                </p:cNvSpPr>
                <p:nvPr/>
              </p:nvSpPr>
              <p:spPr bwMode="auto">
                <a:xfrm>
                  <a:off x="1751" y="3317"/>
                  <a:ext cx="36" cy="212"/>
                </a:xfrm>
                <a:prstGeom prst="rect">
                  <a:avLst/>
                </a:prstGeom>
                <a:solidFill>
                  <a:srgbClr val="C6C6F8"/>
                </a:solidFill>
                <a:ln w="9525">
                  <a:noFill/>
                  <a:miter lim="800000"/>
                  <a:headEnd/>
                  <a:tailEnd/>
                </a:ln>
              </p:spPr>
              <p:txBody>
                <a:bodyPr/>
                <a:lstStyle/>
                <a:p>
                  <a:endParaRPr lang="en-US"/>
                </a:p>
              </p:txBody>
            </p:sp>
            <p:sp>
              <p:nvSpPr>
                <p:cNvPr id="1396094" name="Rectangle 382"/>
                <p:cNvSpPr>
                  <a:spLocks noChangeAspect="1" noChangeArrowheads="1"/>
                </p:cNvSpPr>
                <p:nvPr/>
              </p:nvSpPr>
              <p:spPr bwMode="auto">
                <a:xfrm>
                  <a:off x="1787" y="3317"/>
                  <a:ext cx="31" cy="212"/>
                </a:xfrm>
                <a:prstGeom prst="rect">
                  <a:avLst/>
                </a:prstGeom>
                <a:solidFill>
                  <a:srgbClr val="C5C5F7"/>
                </a:solidFill>
                <a:ln w="9525">
                  <a:noFill/>
                  <a:miter lim="800000"/>
                  <a:headEnd/>
                  <a:tailEnd/>
                </a:ln>
              </p:spPr>
              <p:txBody>
                <a:bodyPr/>
                <a:lstStyle/>
                <a:p>
                  <a:endParaRPr lang="en-US"/>
                </a:p>
              </p:txBody>
            </p:sp>
            <p:sp>
              <p:nvSpPr>
                <p:cNvPr id="1396095" name="Rectangle 383"/>
                <p:cNvSpPr>
                  <a:spLocks noChangeAspect="1" noChangeArrowheads="1"/>
                </p:cNvSpPr>
                <p:nvPr/>
              </p:nvSpPr>
              <p:spPr bwMode="auto">
                <a:xfrm>
                  <a:off x="1818" y="3317"/>
                  <a:ext cx="36" cy="212"/>
                </a:xfrm>
                <a:prstGeom prst="rect">
                  <a:avLst/>
                </a:prstGeom>
                <a:solidFill>
                  <a:srgbClr val="C4C4F6"/>
                </a:solidFill>
                <a:ln w="9525">
                  <a:noFill/>
                  <a:miter lim="800000"/>
                  <a:headEnd/>
                  <a:tailEnd/>
                </a:ln>
              </p:spPr>
              <p:txBody>
                <a:bodyPr/>
                <a:lstStyle/>
                <a:p>
                  <a:endParaRPr lang="en-US"/>
                </a:p>
              </p:txBody>
            </p:sp>
            <p:sp>
              <p:nvSpPr>
                <p:cNvPr id="1396096" name="Rectangle 384"/>
                <p:cNvSpPr>
                  <a:spLocks noChangeAspect="1" noChangeArrowheads="1"/>
                </p:cNvSpPr>
                <p:nvPr/>
              </p:nvSpPr>
              <p:spPr bwMode="auto">
                <a:xfrm>
                  <a:off x="1854" y="3317"/>
                  <a:ext cx="32" cy="212"/>
                </a:xfrm>
                <a:prstGeom prst="rect">
                  <a:avLst/>
                </a:prstGeom>
                <a:solidFill>
                  <a:srgbClr val="C4C4F5"/>
                </a:solidFill>
                <a:ln w="9525">
                  <a:noFill/>
                  <a:miter lim="800000"/>
                  <a:headEnd/>
                  <a:tailEnd/>
                </a:ln>
              </p:spPr>
              <p:txBody>
                <a:bodyPr/>
                <a:lstStyle/>
                <a:p>
                  <a:endParaRPr lang="en-US"/>
                </a:p>
              </p:txBody>
            </p:sp>
            <p:sp>
              <p:nvSpPr>
                <p:cNvPr id="1396097" name="Rectangle 385"/>
                <p:cNvSpPr>
                  <a:spLocks noChangeAspect="1" noChangeArrowheads="1"/>
                </p:cNvSpPr>
                <p:nvPr/>
              </p:nvSpPr>
              <p:spPr bwMode="auto">
                <a:xfrm>
                  <a:off x="1886" y="3317"/>
                  <a:ext cx="36" cy="212"/>
                </a:xfrm>
                <a:prstGeom prst="rect">
                  <a:avLst/>
                </a:prstGeom>
                <a:solidFill>
                  <a:srgbClr val="C4C4F5"/>
                </a:solidFill>
                <a:ln w="9525">
                  <a:noFill/>
                  <a:miter lim="800000"/>
                  <a:headEnd/>
                  <a:tailEnd/>
                </a:ln>
              </p:spPr>
              <p:txBody>
                <a:bodyPr/>
                <a:lstStyle/>
                <a:p>
                  <a:endParaRPr lang="en-US"/>
                </a:p>
              </p:txBody>
            </p:sp>
            <p:sp>
              <p:nvSpPr>
                <p:cNvPr id="1396098" name="Rectangle 386"/>
                <p:cNvSpPr>
                  <a:spLocks noChangeAspect="1" noChangeArrowheads="1"/>
                </p:cNvSpPr>
                <p:nvPr/>
              </p:nvSpPr>
              <p:spPr bwMode="auto">
                <a:xfrm>
                  <a:off x="1922" y="3317"/>
                  <a:ext cx="36" cy="212"/>
                </a:xfrm>
                <a:prstGeom prst="rect">
                  <a:avLst/>
                </a:prstGeom>
                <a:solidFill>
                  <a:srgbClr val="C4C4F5"/>
                </a:solidFill>
                <a:ln w="9525">
                  <a:noFill/>
                  <a:miter lim="800000"/>
                  <a:headEnd/>
                  <a:tailEnd/>
                </a:ln>
              </p:spPr>
              <p:txBody>
                <a:bodyPr/>
                <a:lstStyle/>
                <a:p>
                  <a:endParaRPr lang="en-US"/>
                </a:p>
              </p:txBody>
            </p:sp>
            <p:sp>
              <p:nvSpPr>
                <p:cNvPr id="1396099" name="Rectangle 387"/>
                <p:cNvSpPr>
                  <a:spLocks noChangeAspect="1" noChangeArrowheads="1"/>
                </p:cNvSpPr>
                <p:nvPr/>
              </p:nvSpPr>
              <p:spPr bwMode="auto">
                <a:xfrm>
                  <a:off x="1958" y="3317"/>
                  <a:ext cx="31" cy="212"/>
                </a:xfrm>
                <a:prstGeom prst="rect">
                  <a:avLst/>
                </a:prstGeom>
                <a:solidFill>
                  <a:srgbClr val="C4C4F5"/>
                </a:solidFill>
                <a:ln w="9525">
                  <a:noFill/>
                  <a:miter lim="800000"/>
                  <a:headEnd/>
                  <a:tailEnd/>
                </a:ln>
              </p:spPr>
              <p:txBody>
                <a:bodyPr/>
                <a:lstStyle/>
                <a:p>
                  <a:endParaRPr lang="en-US"/>
                </a:p>
              </p:txBody>
            </p:sp>
            <p:sp>
              <p:nvSpPr>
                <p:cNvPr id="1396100" name="Rectangle 388"/>
                <p:cNvSpPr>
                  <a:spLocks noChangeAspect="1" noChangeArrowheads="1"/>
                </p:cNvSpPr>
                <p:nvPr/>
              </p:nvSpPr>
              <p:spPr bwMode="auto">
                <a:xfrm>
                  <a:off x="1989" y="3317"/>
                  <a:ext cx="36" cy="212"/>
                </a:xfrm>
                <a:prstGeom prst="rect">
                  <a:avLst/>
                </a:prstGeom>
                <a:solidFill>
                  <a:srgbClr val="C4C4F6"/>
                </a:solidFill>
                <a:ln w="9525">
                  <a:noFill/>
                  <a:miter lim="800000"/>
                  <a:headEnd/>
                  <a:tailEnd/>
                </a:ln>
              </p:spPr>
              <p:txBody>
                <a:bodyPr/>
                <a:lstStyle/>
                <a:p>
                  <a:endParaRPr lang="en-US"/>
                </a:p>
              </p:txBody>
            </p:sp>
            <p:sp>
              <p:nvSpPr>
                <p:cNvPr id="1396101" name="Rectangle 389"/>
                <p:cNvSpPr>
                  <a:spLocks noChangeAspect="1" noChangeArrowheads="1"/>
                </p:cNvSpPr>
                <p:nvPr/>
              </p:nvSpPr>
              <p:spPr bwMode="auto">
                <a:xfrm>
                  <a:off x="2025" y="3317"/>
                  <a:ext cx="32" cy="212"/>
                </a:xfrm>
                <a:prstGeom prst="rect">
                  <a:avLst/>
                </a:prstGeom>
                <a:solidFill>
                  <a:srgbClr val="C5C5F7"/>
                </a:solidFill>
                <a:ln w="9525">
                  <a:noFill/>
                  <a:miter lim="800000"/>
                  <a:headEnd/>
                  <a:tailEnd/>
                </a:ln>
              </p:spPr>
              <p:txBody>
                <a:bodyPr/>
                <a:lstStyle/>
                <a:p>
                  <a:endParaRPr lang="en-US"/>
                </a:p>
              </p:txBody>
            </p:sp>
            <p:sp>
              <p:nvSpPr>
                <p:cNvPr id="1396102" name="Rectangle 390"/>
                <p:cNvSpPr>
                  <a:spLocks noChangeAspect="1" noChangeArrowheads="1"/>
                </p:cNvSpPr>
                <p:nvPr/>
              </p:nvSpPr>
              <p:spPr bwMode="auto">
                <a:xfrm>
                  <a:off x="2057" y="3317"/>
                  <a:ext cx="36" cy="212"/>
                </a:xfrm>
                <a:prstGeom prst="rect">
                  <a:avLst/>
                </a:prstGeom>
                <a:solidFill>
                  <a:srgbClr val="C6C6F8"/>
                </a:solidFill>
                <a:ln w="9525">
                  <a:noFill/>
                  <a:miter lim="800000"/>
                  <a:headEnd/>
                  <a:tailEnd/>
                </a:ln>
              </p:spPr>
              <p:txBody>
                <a:bodyPr/>
                <a:lstStyle/>
                <a:p>
                  <a:endParaRPr lang="en-US"/>
                </a:p>
              </p:txBody>
            </p:sp>
            <p:sp>
              <p:nvSpPr>
                <p:cNvPr id="1396103" name="Rectangle 391"/>
                <p:cNvSpPr>
                  <a:spLocks noChangeAspect="1" noChangeArrowheads="1"/>
                </p:cNvSpPr>
                <p:nvPr/>
              </p:nvSpPr>
              <p:spPr bwMode="auto">
                <a:xfrm>
                  <a:off x="2093" y="3317"/>
                  <a:ext cx="31" cy="212"/>
                </a:xfrm>
                <a:prstGeom prst="rect">
                  <a:avLst/>
                </a:prstGeom>
                <a:solidFill>
                  <a:srgbClr val="C8C8FA"/>
                </a:solidFill>
                <a:ln w="9525">
                  <a:noFill/>
                  <a:miter lim="800000"/>
                  <a:headEnd/>
                  <a:tailEnd/>
                </a:ln>
              </p:spPr>
              <p:txBody>
                <a:bodyPr/>
                <a:lstStyle/>
                <a:p>
                  <a:endParaRPr lang="en-US"/>
                </a:p>
              </p:txBody>
            </p:sp>
            <p:sp>
              <p:nvSpPr>
                <p:cNvPr id="1396104" name="Rectangle 392"/>
                <p:cNvSpPr>
                  <a:spLocks noChangeAspect="1" noChangeArrowheads="1"/>
                </p:cNvSpPr>
                <p:nvPr/>
              </p:nvSpPr>
              <p:spPr bwMode="auto">
                <a:xfrm>
                  <a:off x="2124" y="3317"/>
                  <a:ext cx="36" cy="212"/>
                </a:xfrm>
                <a:prstGeom prst="rect">
                  <a:avLst/>
                </a:prstGeom>
                <a:solidFill>
                  <a:srgbClr val="C9C9FB"/>
                </a:solidFill>
                <a:ln w="9525">
                  <a:noFill/>
                  <a:miter lim="800000"/>
                  <a:headEnd/>
                  <a:tailEnd/>
                </a:ln>
              </p:spPr>
              <p:txBody>
                <a:bodyPr/>
                <a:lstStyle/>
                <a:p>
                  <a:endParaRPr lang="en-US"/>
                </a:p>
              </p:txBody>
            </p:sp>
            <p:sp>
              <p:nvSpPr>
                <p:cNvPr id="1396105" name="Rectangle 393"/>
                <p:cNvSpPr>
                  <a:spLocks noChangeAspect="1" noChangeArrowheads="1"/>
                </p:cNvSpPr>
                <p:nvPr/>
              </p:nvSpPr>
              <p:spPr bwMode="auto">
                <a:xfrm>
                  <a:off x="2160" y="3317"/>
                  <a:ext cx="31" cy="212"/>
                </a:xfrm>
                <a:prstGeom prst="rect">
                  <a:avLst/>
                </a:prstGeom>
                <a:solidFill>
                  <a:srgbClr val="CACAFC"/>
                </a:solidFill>
                <a:ln w="9525">
                  <a:noFill/>
                  <a:miter lim="800000"/>
                  <a:headEnd/>
                  <a:tailEnd/>
                </a:ln>
              </p:spPr>
              <p:txBody>
                <a:bodyPr/>
                <a:lstStyle/>
                <a:p>
                  <a:endParaRPr lang="en-US"/>
                </a:p>
              </p:txBody>
            </p:sp>
            <p:sp>
              <p:nvSpPr>
                <p:cNvPr id="1396106" name="Rectangle 394"/>
                <p:cNvSpPr>
                  <a:spLocks noChangeAspect="1" noChangeArrowheads="1"/>
                </p:cNvSpPr>
                <p:nvPr/>
              </p:nvSpPr>
              <p:spPr bwMode="auto">
                <a:xfrm>
                  <a:off x="2191" y="3317"/>
                  <a:ext cx="37" cy="212"/>
                </a:xfrm>
                <a:prstGeom prst="rect">
                  <a:avLst/>
                </a:prstGeom>
                <a:solidFill>
                  <a:srgbClr val="CBCBFD"/>
                </a:solidFill>
                <a:ln w="9525">
                  <a:noFill/>
                  <a:miter lim="800000"/>
                  <a:headEnd/>
                  <a:tailEnd/>
                </a:ln>
              </p:spPr>
              <p:txBody>
                <a:bodyPr/>
                <a:lstStyle/>
                <a:p>
                  <a:endParaRPr lang="en-US"/>
                </a:p>
              </p:txBody>
            </p:sp>
            <p:sp>
              <p:nvSpPr>
                <p:cNvPr id="1396107" name="Rectangle 395"/>
                <p:cNvSpPr>
                  <a:spLocks noChangeAspect="1" noChangeArrowheads="1"/>
                </p:cNvSpPr>
                <p:nvPr/>
              </p:nvSpPr>
              <p:spPr bwMode="auto">
                <a:xfrm>
                  <a:off x="2228" y="3317"/>
                  <a:ext cx="31" cy="212"/>
                </a:xfrm>
                <a:prstGeom prst="rect">
                  <a:avLst/>
                </a:prstGeom>
                <a:solidFill>
                  <a:srgbClr val="CBCBFE"/>
                </a:solidFill>
                <a:ln w="9525">
                  <a:noFill/>
                  <a:miter lim="800000"/>
                  <a:headEnd/>
                  <a:tailEnd/>
                </a:ln>
              </p:spPr>
              <p:txBody>
                <a:bodyPr/>
                <a:lstStyle/>
                <a:p>
                  <a:endParaRPr lang="en-US"/>
                </a:p>
              </p:txBody>
            </p:sp>
            <p:sp>
              <p:nvSpPr>
                <p:cNvPr id="1396108" name="Rectangle 396"/>
                <p:cNvSpPr>
                  <a:spLocks noChangeAspect="1" noChangeArrowheads="1"/>
                </p:cNvSpPr>
                <p:nvPr/>
              </p:nvSpPr>
              <p:spPr bwMode="auto">
                <a:xfrm>
                  <a:off x="2259" y="3317"/>
                  <a:ext cx="36" cy="212"/>
                </a:xfrm>
                <a:prstGeom prst="rect">
                  <a:avLst/>
                </a:prstGeom>
                <a:solidFill>
                  <a:srgbClr val="CCCCFF"/>
                </a:solidFill>
                <a:ln w="9525">
                  <a:noFill/>
                  <a:miter lim="800000"/>
                  <a:headEnd/>
                  <a:tailEnd/>
                </a:ln>
              </p:spPr>
              <p:txBody>
                <a:bodyPr/>
                <a:lstStyle/>
                <a:p>
                  <a:endParaRPr lang="en-US"/>
                </a:p>
              </p:txBody>
            </p:sp>
          </p:grpSp>
          <p:sp>
            <p:nvSpPr>
              <p:cNvPr id="1396109" name="Rectangle 397"/>
              <p:cNvSpPr>
                <a:spLocks noChangeAspect="1" noChangeArrowheads="1"/>
              </p:cNvSpPr>
              <p:nvPr/>
            </p:nvSpPr>
            <p:spPr bwMode="auto">
              <a:xfrm>
                <a:off x="1549" y="3317"/>
                <a:ext cx="746" cy="212"/>
              </a:xfrm>
              <a:prstGeom prst="rect">
                <a:avLst/>
              </a:prstGeom>
              <a:noFill/>
              <a:ln w="9525" cap="rnd">
                <a:solidFill>
                  <a:srgbClr val="000000"/>
                </a:solidFill>
                <a:miter lim="800000"/>
                <a:headEnd/>
                <a:tailEnd/>
              </a:ln>
            </p:spPr>
            <p:txBody>
              <a:bodyPr/>
              <a:lstStyle/>
              <a:p>
                <a:endParaRPr lang="en-US"/>
              </a:p>
            </p:txBody>
          </p:sp>
        </p:grpSp>
        <p:sp>
          <p:nvSpPr>
            <p:cNvPr id="1396110" name="Rectangle 398"/>
            <p:cNvSpPr>
              <a:spLocks noChangeAspect="1" noChangeArrowheads="1"/>
            </p:cNvSpPr>
            <p:nvPr/>
          </p:nvSpPr>
          <p:spPr bwMode="auto">
            <a:xfrm>
              <a:off x="1848" y="3103"/>
              <a:ext cx="366" cy="78"/>
            </a:xfrm>
            <a:prstGeom prst="rect">
              <a:avLst/>
            </a:prstGeom>
            <a:noFill/>
            <a:ln w="9525">
              <a:noFill/>
              <a:miter lim="800000"/>
              <a:headEnd/>
              <a:tailEnd/>
            </a:ln>
          </p:spPr>
          <p:txBody>
            <a:bodyPr wrap="none" lIns="0" tIns="0" rIns="0" bIns="0">
              <a:spAutoFit/>
            </a:bodyPr>
            <a:lstStyle/>
            <a:p>
              <a:r>
                <a:rPr lang="en-US" sz="700" b="1">
                  <a:solidFill>
                    <a:schemeClr val="bg1"/>
                  </a:solidFill>
                </a:rPr>
                <a:t>Technology</a:t>
              </a:r>
              <a:endParaRPr lang="en-US" sz="1200">
                <a:solidFill>
                  <a:schemeClr val="bg1"/>
                </a:solidFill>
              </a:endParaRPr>
            </a:p>
          </p:txBody>
        </p:sp>
        <p:sp>
          <p:nvSpPr>
            <p:cNvPr id="1396111" name="Freeform 399"/>
            <p:cNvSpPr>
              <a:spLocks noChangeAspect="1"/>
            </p:cNvSpPr>
            <p:nvPr/>
          </p:nvSpPr>
          <p:spPr bwMode="auto">
            <a:xfrm>
              <a:off x="1634" y="1816"/>
              <a:ext cx="705" cy="285"/>
            </a:xfrm>
            <a:custGeom>
              <a:avLst/>
              <a:gdLst/>
              <a:ahLst/>
              <a:cxnLst>
                <a:cxn ang="0">
                  <a:pos x="0" y="228"/>
                </a:cxn>
                <a:cxn ang="0">
                  <a:pos x="176" y="228"/>
                </a:cxn>
                <a:cxn ang="0">
                  <a:pos x="176" y="285"/>
                </a:cxn>
                <a:cxn ang="0">
                  <a:pos x="529" y="285"/>
                </a:cxn>
                <a:cxn ang="0">
                  <a:pos x="529" y="228"/>
                </a:cxn>
                <a:cxn ang="0">
                  <a:pos x="705" y="228"/>
                </a:cxn>
                <a:cxn ang="0">
                  <a:pos x="352" y="0"/>
                </a:cxn>
                <a:cxn ang="0">
                  <a:pos x="0" y="228"/>
                </a:cxn>
              </a:cxnLst>
              <a:rect l="0" t="0" r="r" b="b"/>
              <a:pathLst>
                <a:path w="705" h="285">
                  <a:moveTo>
                    <a:pt x="0" y="228"/>
                  </a:moveTo>
                  <a:lnTo>
                    <a:pt x="176" y="228"/>
                  </a:lnTo>
                  <a:lnTo>
                    <a:pt x="176" y="285"/>
                  </a:lnTo>
                  <a:lnTo>
                    <a:pt x="529" y="285"/>
                  </a:lnTo>
                  <a:lnTo>
                    <a:pt x="529" y="228"/>
                  </a:lnTo>
                  <a:lnTo>
                    <a:pt x="705" y="228"/>
                  </a:lnTo>
                  <a:lnTo>
                    <a:pt x="352" y="0"/>
                  </a:lnTo>
                  <a:lnTo>
                    <a:pt x="0" y="228"/>
                  </a:lnTo>
                  <a:close/>
                </a:path>
              </a:pathLst>
            </a:custGeom>
            <a:solidFill>
              <a:srgbClr val="CCCCFF"/>
            </a:solidFill>
            <a:ln w="9525" cap="rnd">
              <a:solidFill>
                <a:srgbClr val="000000"/>
              </a:solidFill>
              <a:prstDash val="solid"/>
              <a:round/>
              <a:headEnd/>
              <a:tailEnd/>
            </a:ln>
          </p:spPr>
          <p:txBody>
            <a:bodyPr/>
            <a:lstStyle/>
            <a:p>
              <a:endParaRPr lang="en-US"/>
            </a:p>
          </p:txBody>
        </p:sp>
        <p:sp>
          <p:nvSpPr>
            <p:cNvPr id="1396112" name="Rectangle 400"/>
            <p:cNvSpPr>
              <a:spLocks noChangeAspect="1" noChangeArrowheads="1"/>
            </p:cNvSpPr>
            <p:nvPr/>
          </p:nvSpPr>
          <p:spPr bwMode="auto">
            <a:xfrm>
              <a:off x="1606" y="777"/>
              <a:ext cx="794" cy="100"/>
            </a:xfrm>
            <a:prstGeom prst="rect">
              <a:avLst/>
            </a:prstGeom>
            <a:noFill/>
            <a:ln w="9525">
              <a:noFill/>
              <a:miter lim="800000"/>
              <a:headEnd/>
              <a:tailEnd/>
            </a:ln>
          </p:spPr>
          <p:txBody>
            <a:bodyPr wrap="none" lIns="0" tIns="0" rIns="0" bIns="0">
              <a:spAutoFit/>
            </a:bodyPr>
            <a:lstStyle/>
            <a:p>
              <a:r>
                <a:rPr lang="en-US" sz="900" b="1">
                  <a:solidFill>
                    <a:srgbClr val="000000"/>
                  </a:solidFill>
                </a:rPr>
                <a:t>Strategic Outcomes</a:t>
              </a:r>
              <a:endParaRPr lang="en-US" sz="1600"/>
            </a:p>
          </p:txBody>
        </p:sp>
        <p:sp>
          <p:nvSpPr>
            <p:cNvPr id="1396113" name="Rectangle 401"/>
            <p:cNvSpPr>
              <a:spLocks noChangeAspect="1" noChangeArrowheads="1"/>
            </p:cNvSpPr>
            <p:nvPr/>
          </p:nvSpPr>
          <p:spPr bwMode="auto">
            <a:xfrm>
              <a:off x="1826" y="3532"/>
              <a:ext cx="321" cy="151"/>
            </a:xfrm>
            <a:prstGeom prst="rect">
              <a:avLst/>
            </a:prstGeom>
            <a:noFill/>
            <a:ln w="9525">
              <a:noFill/>
              <a:miter lim="800000"/>
              <a:headEnd/>
              <a:tailEnd/>
            </a:ln>
          </p:spPr>
          <p:txBody>
            <a:bodyPr/>
            <a:lstStyle/>
            <a:p>
              <a:endParaRPr lang="en-US"/>
            </a:p>
          </p:txBody>
        </p:sp>
        <p:sp>
          <p:nvSpPr>
            <p:cNvPr id="1396114" name="Rectangle 402"/>
            <p:cNvSpPr>
              <a:spLocks noChangeAspect="1" noChangeArrowheads="1"/>
            </p:cNvSpPr>
            <p:nvPr/>
          </p:nvSpPr>
          <p:spPr bwMode="auto">
            <a:xfrm>
              <a:off x="1903" y="3563"/>
              <a:ext cx="225" cy="100"/>
            </a:xfrm>
            <a:prstGeom prst="rect">
              <a:avLst/>
            </a:prstGeom>
            <a:noFill/>
            <a:ln w="9525">
              <a:noFill/>
              <a:miter lim="800000"/>
              <a:headEnd/>
              <a:tailEnd/>
            </a:ln>
          </p:spPr>
          <p:txBody>
            <a:bodyPr wrap="none" lIns="0" tIns="0" rIns="0" bIns="0">
              <a:spAutoFit/>
            </a:bodyPr>
            <a:lstStyle/>
            <a:p>
              <a:r>
                <a:rPr lang="en-US" sz="900" b="1">
                  <a:solidFill>
                    <a:srgbClr val="FFFFFF"/>
                  </a:solidFill>
                </a:rPr>
                <a:t>Value</a:t>
              </a:r>
              <a:endParaRPr lang="en-US" sz="1600"/>
            </a:p>
          </p:txBody>
        </p:sp>
        <p:sp>
          <p:nvSpPr>
            <p:cNvPr id="1396115" name="Rectangle 403"/>
            <p:cNvSpPr>
              <a:spLocks noChangeAspect="1" noChangeArrowheads="1"/>
            </p:cNvSpPr>
            <p:nvPr/>
          </p:nvSpPr>
          <p:spPr bwMode="auto">
            <a:xfrm>
              <a:off x="2229" y="1142"/>
              <a:ext cx="416" cy="100"/>
            </a:xfrm>
            <a:prstGeom prst="rect">
              <a:avLst/>
            </a:prstGeom>
            <a:noFill/>
            <a:ln w="9525">
              <a:noFill/>
              <a:miter lim="800000"/>
              <a:headEnd/>
              <a:tailEnd/>
            </a:ln>
          </p:spPr>
          <p:txBody>
            <a:bodyPr wrap="none" lIns="0" tIns="0" rIns="0" bIns="0">
              <a:spAutoFit/>
            </a:bodyPr>
            <a:lstStyle/>
            <a:p>
              <a:r>
                <a:rPr lang="en-US" sz="900" b="1">
                  <a:solidFill>
                    <a:schemeClr val="bg1"/>
                  </a:solidFill>
                </a:rPr>
                <a:t>Customer </a:t>
              </a:r>
              <a:endParaRPr lang="en-US" sz="1600">
                <a:solidFill>
                  <a:schemeClr val="bg1"/>
                </a:solidFill>
              </a:endParaRPr>
            </a:p>
          </p:txBody>
        </p:sp>
        <p:sp>
          <p:nvSpPr>
            <p:cNvPr id="1396116" name="Rectangle 404"/>
            <p:cNvSpPr>
              <a:spLocks noChangeAspect="1" noChangeArrowheads="1"/>
            </p:cNvSpPr>
            <p:nvPr/>
          </p:nvSpPr>
          <p:spPr bwMode="auto">
            <a:xfrm>
              <a:off x="2272" y="1220"/>
              <a:ext cx="304" cy="100"/>
            </a:xfrm>
            <a:prstGeom prst="rect">
              <a:avLst/>
            </a:prstGeom>
            <a:noFill/>
            <a:ln w="9525">
              <a:noFill/>
              <a:miter lim="800000"/>
              <a:headEnd/>
              <a:tailEnd/>
            </a:ln>
          </p:spPr>
          <p:txBody>
            <a:bodyPr wrap="none" lIns="0" tIns="0" rIns="0" bIns="0">
              <a:spAutoFit/>
            </a:bodyPr>
            <a:lstStyle/>
            <a:p>
              <a:r>
                <a:rPr lang="en-US" sz="900" b="1">
                  <a:solidFill>
                    <a:schemeClr val="bg1"/>
                  </a:solidFill>
                </a:rPr>
                <a:t>Results</a:t>
              </a:r>
              <a:endParaRPr lang="en-US" sz="1600">
                <a:solidFill>
                  <a:schemeClr val="bg1"/>
                </a:solidFill>
              </a:endParaRPr>
            </a:p>
          </p:txBody>
        </p:sp>
        <p:sp>
          <p:nvSpPr>
            <p:cNvPr id="1396117" name="Rectangle 405"/>
            <p:cNvSpPr>
              <a:spLocks noChangeAspect="1" noChangeArrowheads="1"/>
            </p:cNvSpPr>
            <p:nvPr/>
          </p:nvSpPr>
          <p:spPr bwMode="auto">
            <a:xfrm>
              <a:off x="2129" y="1323"/>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18" name="Rectangle 406"/>
            <p:cNvSpPr>
              <a:spLocks noChangeAspect="1" noChangeArrowheads="1"/>
            </p:cNvSpPr>
            <p:nvPr/>
          </p:nvSpPr>
          <p:spPr bwMode="auto">
            <a:xfrm>
              <a:off x="2152" y="1323"/>
              <a:ext cx="278" cy="67"/>
            </a:xfrm>
            <a:prstGeom prst="rect">
              <a:avLst/>
            </a:prstGeom>
            <a:noFill/>
            <a:ln w="9525">
              <a:noFill/>
              <a:miter lim="800000"/>
              <a:headEnd/>
              <a:tailEnd/>
            </a:ln>
          </p:spPr>
          <p:txBody>
            <a:bodyPr wrap="none" lIns="0" tIns="0" rIns="0" bIns="0">
              <a:spAutoFit/>
            </a:bodyPr>
            <a:lstStyle/>
            <a:p>
              <a:r>
                <a:rPr lang="en-US" sz="600" b="1">
                  <a:solidFill>
                    <a:schemeClr val="bg1"/>
                  </a:solidFill>
                </a:rPr>
                <a:t>Customer </a:t>
              </a:r>
              <a:endParaRPr lang="en-US" sz="1600" b="1">
                <a:solidFill>
                  <a:schemeClr val="bg1"/>
                </a:solidFill>
              </a:endParaRPr>
            </a:p>
          </p:txBody>
        </p:sp>
        <p:sp>
          <p:nvSpPr>
            <p:cNvPr id="1396119" name="Rectangle 407"/>
            <p:cNvSpPr>
              <a:spLocks noChangeAspect="1" noChangeArrowheads="1"/>
            </p:cNvSpPr>
            <p:nvPr/>
          </p:nvSpPr>
          <p:spPr bwMode="auto">
            <a:xfrm>
              <a:off x="2160" y="1381"/>
              <a:ext cx="262" cy="56"/>
            </a:xfrm>
            <a:prstGeom prst="rect">
              <a:avLst/>
            </a:prstGeom>
            <a:noFill/>
            <a:ln w="9525">
              <a:noFill/>
              <a:miter lim="800000"/>
              <a:headEnd/>
              <a:tailEnd/>
            </a:ln>
          </p:spPr>
          <p:txBody>
            <a:bodyPr wrap="none" lIns="0" tIns="0" rIns="0" bIns="0">
              <a:spAutoFit/>
            </a:bodyPr>
            <a:lstStyle/>
            <a:p>
              <a:r>
                <a:rPr lang="en-US" sz="500" b="1">
                  <a:solidFill>
                    <a:schemeClr val="bg1"/>
                  </a:solidFill>
                </a:rPr>
                <a:t>Satisfaction</a:t>
              </a:r>
            </a:p>
          </p:txBody>
        </p:sp>
        <p:sp>
          <p:nvSpPr>
            <p:cNvPr id="1396120" name="Rectangle 408"/>
            <p:cNvSpPr>
              <a:spLocks noChangeAspect="1" noChangeArrowheads="1"/>
            </p:cNvSpPr>
            <p:nvPr/>
          </p:nvSpPr>
          <p:spPr bwMode="auto">
            <a:xfrm>
              <a:off x="2129" y="1449"/>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21" name="Rectangle 409"/>
            <p:cNvSpPr>
              <a:spLocks noChangeAspect="1" noChangeArrowheads="1"/>
            </p:cNvSpPr>
            <p:nvPr/>
          </p:nvSpPr>
          <p:spPr bwMode="auto">
            <a:xfrm>
              <a:off x="2201" y="1449"/>
              <a:ext cx="390" cy="55"/>
            </a:xfrm>
            <a:prstGeom prst="rect">
              <a:avLst/>
            </a:prstGeom>
            <a:noFill/>
            <a:ln w="9525">
              <a:noFill/>
              <a:miter lim="800000"/>
              <a:headEnd/>
              <a:tailEnd/>
            </a:ln>
          </p:spPr>
          <p:txBody>
            <a:bodyPr wrap="none" lIns="0" tIns="0" rIns="0" bIns="0">
              <a:spAutoFit/>
            </a:bodyPr>
            <a:lstStyle/>
            <a:p>
              <a:r>
                <a:rPr lang="en-US" sz="500" b="1">
                  <a:solidFill>
                    <a:schemeClr val="bg1"/>
                  </a:solidFill>
                </a:rPr>
                <a:t>Service Coverage</a:t>
              </a:r>
            </a:p>
          </p:txBody>
        </p:sp>
        <p:sp>
          <p:nvSpPr>
            <p:cNvPr id="1396122" name="Rectangle 410"/>
            <p:cNvSpPr>
              <a:spLocks noChangeAspect="1" noChangeArrowheads="1"/>
            </p:cNvSpPr>
            <p:nvPr/>
          </p:nvSpPr>
          <p:spPr bwMode="auto">
            <a:xfrm>
              <a:off x="2129" y="1510"/>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23" name="Rectangle 411"/>
            <p:cNvSpPr>
              <a:spLocks noChangeAspect="1" noChangeArrowheads="1"/>
            </p:cNvSpPr>
            <p:nvPr/>
          </p:nvSpPr>
          <p:spPr bwMode="auto">
            <a:xfrm>
              <a:off x="2187" y="1510"/>
              <a:ext cx="299" cy="56"/>
            </a:xfrm>
            <a:prstGeom prst="rect">
              <a:avLst/>
            </a:prstGeom>
            <a:noFill/>
            <a:ln w="9525">
              <a:noFill/>
              <a:miter lim="800000"/>
              <a:headEnd/>
              <a:tailEnd/>
            </a:ln>
          </p:spPr>
          <p:txBody>
            <a:bodyPr wrap="none" lIns="0" tIns="0" rIns="0" bIns="0">
              <a:spAutoFit/>
            </a:bodyPr>
            <a:lstStyle/>
            <a:p>
              <a:r>
                <a:rPr lang="en-US" sz="500" b="1">
                  <a:solidFill>
                    <a:schemeClr val="bg1"/>
                  </a:solidFill>
                </a:rPr>
                <a:t>Timeliness &amp; </a:t>
              </a:r>
            </a:p>
          </p:txBody>
        </p:sp>
        <p:sp>
          <p:nvSpPr>
            <p:cNvPr id="1396124" name="Rectangle 412"/>
            <p:cNvSpPr>
              <a:spLocks noChangeAspect="1" noChangeArrowheads="1"/>
            </p:cNvSpPr>
            <p:nvPr/>
          </p:nvSpPr>
          <p:spPr bwMode="auto">
            <a:xfrm>
              <a:off x="2174" y="1567"/>
              <a:ext cx="365" cy="56"/>
            </a:xfrm>
            <a:prstGeom prst="rect">
              <a:avLst/>
            </a:prstGeom>
            <a:noFill/>
            <a:ln w="9525">
              <a:noFill/>
              <a:miter lim="800000"/>
              <a:headEnd/>
              <a:tailEnd/>
            </a:ln>
          </p:spPr>
          <p:txBody>
            <a:bodyPr wrap="none" lIns="0" tIns="0" rIns="0" bIns="0">
              <a:spAutoFit/>
            </a:bodyPr>
            <a:lstStyle/>
            <a:p>
              <a:r>
                <a:rPr lang="en-US" sz="500" b="1">
                  <a:solidFill>
                    <a:schemeClr val="bg1"/>
                  </a:solidFill>
                </a:rPr>
                <a:t>Responsiveness</a:t>
              </a:r>
            </a:p>
          </p:txBody>
        </p:sp>
        <p:sp>
          <p:nvSpPr>
            <p:cNvPr id="1396125" name="Rectangle 413"/>
            <p:cNvSpPr>
              <a:spLocks noChangeAspect="1" noChangeArrowheads="1"/>
            </p:cNvSpPr>
            <p:nvPr/>
          </p:nvSpPr>
          <p:spPr bwMode="auto">
            <a:xfrm>
              <a:off x="2129" y="1635"/>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26" name="Rectangle 414"/>
            <p:cNvSpPr>
              <a:spLocks noChangeAspect="1" noChangeArrowheads="1"/>
            </p:cNvSpPr>
            <p:nvPr/>
          </p:nvSpPr>
          <p:spPr bwMode="auto">
            <a:xfrm>
              <a:off x="2189" y="1635"/>
              <a:ext cx="336"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 Quality</a:t>
              </a:r>
            </a:p>
          </p:txBody>
        </p:sp>
        <p:sp>
          <p:nvSpPr>
            <p:cNvPr id="1396127" name="Rectangle 415"/>
            <p:cNvSpPr>
              <a:spLocks noChangeAspect="1" noChangeArrowheads="1"/>
            </p:cNvSpPr>
            <p:nvPr/>
          </p:nvSpPr>
          <p:spPr bwMode="auto">
            <a:xfrm>
              <a:off x="2129" y="1703"/>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28" name="Rectangle 416"/>
            <p:cNvSpPr>
              <a:spLocks noChangeAspect="1" noChangeArrowheads="1"/>
            </p:cNvSpPr>
            <p:nvPr/>
          </p:nvSpPr>
          <p:spPr bwMode="auto">
            <a:xfrm>
              <a:off x="2200" y="1703"/>
              <a:ext cx="461"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 Accessibility</a:t>
              </a:r>
            </a:p>
          </p:txBody>
        </p:sp>
        <p:sp>
          <p:nvSpPr>
            <p:cNvPr id="1396129" name="Rectangle 417"/>
            <p:cNvSpPr>
              <a:spLocks noChangeAspect="1" noChangeArrowheads="1"/>
            </p:cNvSpPr>
            <p:nvPr/>
          </p:nvSpPr>
          <p:spPr bwMode="auto">
            <a:xfrm>
              <a:off x="2064" y="1127"/>
              <a:ext cx="669" cy="669"/>
            </a:xfrm>
            <a:prstGeom prst="rect">
              <a:avLst/>
            </a:prstGeom>
            <a:solidFill>
              <a:srgbClr val="808080"/>
            </a:solidFill>
            <a:ln w="9525">
              <a:noFill/>
              <a:miter lim="800000"/>
              <a:headEnd/>
              <a:tailEnd/>
            </a:ln>
          </p:spPr>
          <p:txBody>
            <a:bodyPr/>
            <a:lstStyle/>
            <a:p>
              <a:endParaRPr lang="en-US"/>
            </a:p>
          </p:txBody>
        </p:sp>
        <p:sp>
          <p:nvSpPr>
            <p:cNvPr id="1396130" name="Rectangle 418"/>
            <p:cNvSpPr>
              <a:spLocks noChangeAspect="1" noChangeArrowheads="1"/>
            </p:cNvSpPr>
            <p:nvPr/>
          </p:nvSpPr>
          <p:spPr bwMode="auto">
            <a:xfrm>
              <a:off x="2049" y="1111"/>
              <a:ext cx="663" cy="664"/>
            </a:xfrm>
            <a:prstGeom prst="rect">
              <a:avLst/>
            </a:prstGeom>
            <a:solidFill>
              <a:srgbClr val="909DFC"/>
            </a:solidFill>
            <a:ln w="9525">
              <a:solidFill>
                <a:srgbClr val="000000"/>
              </a:solidFill>
              <a:miter lim="800000"/>
              <a:headEnd/>
              <a:tailEnd/>
            </a:ln>
          </p:spPr>
          <p:txBody>
            <a:bodyPr/>
            <a:lstStyle/>
            <a:p>
              <a:endParaRPr lang="en-US"/>
            </a:p>
          </p:txBody>
        </p:sp>
        <p:sp>
          <p:nvSpPr>
            <p:cNvPr id="1396131" name="Rectangle 419"/>
            <p:cNvSpPr>
              <a:spLocks noChangeAspect="1" noChangeArrowheads="1"/>
            </p:cNvSpPr>
            <p:nvPr/>
          </p:nvSpPr>
          <p:spPr bwMode="auto">
            <a:xfrm>
              <a:off x="2094" y="1127"/>
              <a:ext cx="578" cy="78"/>
            </a:xfrm>
            <a:prstGeom prst="rect">
              <a:avLst/>
            </a:prstGeom>
            <a:noFill/>
            <a:ln w="9525">
              <a:noFill/>
              <a:miter lim="800000"/>
              <a:headEnd/>
              <a:tailEnd/>
            </a:ln>
          </p:spPr>
          <p:txBody>
            <a:bodyPr wrap="none" lIns="0" tIns="0" rIns="0" bIns="0">
              <a:spAutoFit/>
            </a:bodyPr>
            <a:lstStyle/>
            <a:p>
              <a:r>
                <a:rPr lang="en-US" sz="700" b="1">
                  <a:solidFill>
                    <a:schemeClr val="bg1"/>
                  </a:solidFill>
                </a:rPr>
                <a:t>Customer Results </a:t>
              </a:r>
              <a:endParaRPr lang="en-US" sz="1200">
                <a:solidFill>
                  <a:schemeClr val="bg1"/>
                </a:solidFill>
              </a:endParaRPr>
            </a:p>
          </p:txBody>
        </p:sp>
        <p:grpSp>
          <p:nvGrpSpPr>
            <p:cNvPr id="1396132" name="Group 420"/>
            <p:cNvGrpSpPr>
              <a:grpSpLocks noChangeAspect="1"/>
            </p:cNvGrpSpPr>
            <p:nvPr/>
          </p:nvGrpSpPr>
          <p:grpSpPr bwMode="auto">
            <a:xfrm>
              <a:off x="2084" y="1307"/>
              <a:ext cx="493" cy="446"/>
              <a:chOff x="2084" y="1307"/>
              <a:chExt cx="493" cy="446"/>
            </a:xfrm>
          </p:grpSpPr>
          <p:sp>
            <p:nvSpPr>
              <p:cNvPr id="1396133" name="Rectangle 421"/>
              <p:cNvSpPr>
                <a:spLocks noChangeAspect="1" noChangeArrowheads="1"/>
              </p:cNvSpPr>
              <p:nvPr/>
            </p:nvSpPr>
            <p:spPr bwMode="auto">
              <a:xfrm>
                <a:off x="2084" y="1309"/>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34" name="Rectangle 422"/>
              <p:cNvSpPr>
                <a:spLocks noChangeAspect="1" noChangeArrowheads="1"/>
              </p:cNvSpPr>
              <p:nvPr/>
            </p:nvSpPr>
            <p:spPr bwMode="auto">
              <a:xfrm>
                <a:off x="2132" y="1307"/>
                <a:ext cx="230" cy="56"/>
              </a:xfrm>
              <a:prstGeom prst="rect">
                <a:avLst/>
              </a:prstGeom>
              <a:noFill/>
              <a:ln w="9525">
                <a:noFill/>
                <a:miter lim="800000"/>
                <a:headEnd/>
                <a:tailEnd/>
              </a:ln>
            </p:spPr>
            <p:txBody>
              <a:bodyPr wrap="none" lIns="0" tIns="0" rIns="0" bIns="0">
                <a:spAutoFit/>
              </a:bodyPr>
              <a:lstStyle/>
              <a:p>
                <a:r>
                  <a:rPr lang="en-US" sz="500" b="1">
                    <a:solidFill>
                      <a:schemeClr val="bg1"/>
                    </a:solidFill>
                  </a:rPr>
                  <a:t>Customer </a:t>
                </a:r>
              </a:p>
            </p:txBody>
          </p:sp>
          <p:sp>
            <p:nvSpPr>
              <p:cNvPr id="1396135" name="Rectangle 423"/>
              <p:cNvSpPr>
                <a:spLocks noChangeAspect="1" noChangeArrowheads="1"/>
              </p:cNvSpPr>
              <p:nvPr/>
            </p:nvSpPr>
            <p:spPr bwMode="auto">
              <a:xfrm>
                <a:off x="2131" y="1363"/>
                <a:ext cx="262" cy="56"/>
              </a:xfrm>
              <a:prstGeom prst="rect">
                <a:avLst/>
              </a:prstGeom>
              <a:noFill/>
              <a:ln w="9525">
                <a:noFill/>
                <a:miter lim="800000"/>
                <a:headEnd/>
                <a:tailEnd/>
              </a:ln>
            </p:spPr>
            <p:txBody>
              <a:bodyPr wrap="none" lIns="0" tIns="0" rIns="0" bIns="0">
                <a:spAutoFit/>
              </a:bodyPr>
              <a:lstStyle/>
              <a:p>
                <a:r>
                  <a:rPr lang="en-US" sz="500" b="1">
                    <a:solidFill>
                      <a:schemeClr val="bg1"/>
                    </a:solidFill>
                  </a:rPr>
                  <a:t>Satisfaction</a:t>
                </a:r>
              </a:p>
            </p:txBody>
          </p:sp>
          <p:sp>
            <p:nvSpPr>
              <p:cNvPr id="1396136" name="Rectangle 424"/>
              <p:cNvSpPr>
                <a:spLocks noChangeAspect="1" noChangeArrowheads="1"/>
              </p:cNvSpPr>
              <p:nvPr/>
            </p:nvSpPr>
            <p:spPr bwMode="auto">
              <a:xfrm>
                <a:off x="2084" y="1432"/>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37" name="Rectangle 425"/>
              <p:cNvSpPr>
                <a:spLocks noChangeAspect="1" noChangeArrowheads="1"/>
              </p:cNvSpPr>
              <p:nvPr/>
            </p:nvSpPr>
            <p:spPr bwMode="auto">
              <a:xfrm>
                <a:off x="2121" y="1432"/>
                <a:ext cx="390"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 Coverage</a:t>
                </a:r>
              </a:p>
            </p:txBody>
          </p:sp>
          <p:sp>
            <p:nvSpPr>
              <p:cNvPr id="1396138" name="Rectangle 426"/>
              <p:cNvSpPr>
                <a:spLocks noChangeAspect="1" noChangeArrowheads="1"/>
              </p:cNvSpPr>
              <p:nvPr/>
            </p:nvSpPr>
            <p:spPr bwMode="auto">
              <a:xfrm>
                <a:off x="2084" y="1495"/>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39" name="Rectangle 427"/>
              <p:cNvSpPr>
                <a:spLocks noChangeAspect="1" noChangeArrowheads="1"/>
              </p:cNvSpPr>
              <p:nvPr/>
            </p:nvSpPr>
            <p:spPr bwMode="auto">
              <a:xfrm>
                <a:off x="2128" y="1495"/>
                <a:ext cx="298" cy="56"/>
              </a:xfrm>
              <a:prstGeom prst="rect">
                <a:avLst/>
              </a:prstGeom>
              <a:noFill/>
              <a:ln w="9525">
                <a:noFill/>
                <a:miter lim="800000"/>
                <a:headEnd/>
                <a:tailEnd/>
              </a:ln>
            </p:spPr>
            <p:txBody>
              <a:bodyPr wrap="none" lIns="0" tIns="0" rIns="0" bIns="0">
                <a:spAutoFit/>
              </a:bodyPr>
              <a:lstStyle/>
              <a:p>
                <a:r>
                  <a:rPr lang="en-US" sz="500" b="1">
                    <a:solidFill>
                      <a:schemeClr val="bg1"/>
                    </a:solidFill>
                  </a:rPr>
                  <a:t>Timeliness &amp; </a:t>
                </a:r>
              </a:p>
            </p:txBody>
          </p:sp>
          <p:sp>
            <p:nvSpPr>
              <p:cNvPr id="1396140" name="Rectangle 428"/>
              <p:cNvSpPr>
                <a:spLocks noChangeAspect="1" noChangeArrowheads="1"/>
              </p:cNvSpPr>
              <p:nvPr/>
            </p:nvSpPr>
            <p:spPr bwMode="auto">
              <a:xfrm>
                <a:off x="2123" y="1552"/>
                <a:ext cx="364" cy="56"/>
              </a:xfrm>
              <a:prstGeom prst="rect">
                <a:avLst/>
              </a:prstGeom>
              <a:noFill/>
              <a:ln w="9525">
                <a:noFill/>
                <a:miter lim="800000"/>
                <a:headEnd/>
                <a:tailEnd/>
              </a:ln>
            </p:spPr>
            <p:txBody>
              <a:bodyPr wrap="none" lIns="0" tIns="0" rIns="0" bIns="0">
                <a:spAutoFit/>
              </a:bodyPr>
              <a:lstStyle/>
              <a:p>
                <a:r>
                  <a:rPr lang="en-US" sz="500" b="1">
                    <a:solidFill>
                      <a:schemeClr val="bg1"/>
                    </a:solidFill>
                  </a:rPr>
                  <a:t>Responsiveness</a:t>
                </a:r>
              </a:p>
            </p:txBody>
          </p:sp>
          <p:sp>
            <p:nvSpPr>
              <p:cNvPr id="1396141" name="Rectangle 429"/>
              <p:cNvSpPr>
                <a:spLocks noChangeAspect="1" noChangeArrowheads="1"/>
              </p:cNvSpPr>
              <p:nvPr/>
            </p:nvSpPr>
            <p:spPr bwMode="auto">
              <a:xfrm>
                <a:off x="2084" y="1619"/>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42" name="Rectangle 430"/>
              <p:cNvSpPr>
                <a:spLocks noChangeAspect="1" noChangeArrowheads="1"/>
              </p:cNvSpPr>
              <p:nvPr/>
            </p:nvSpPr>
            <p:spPr bwMode="auto">
              <a:xfrm>
                <a:off x="2126" y="1619"/>
                <a:ext cx="335"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 Quality</a:t>
                </a:r>
              </a:p>
            </p:txBody>
          </p:sp>
          <p:sp>
            <p:nvSpPr>
              <p:cNvPr id="1396143" name="Rectangle 431"/>
              <p:cNvSpPr>
                <a:spLocks noChangeAspect="1" noChangeArrowheads="1"/>
              </p:cNvSpPr>
              <p:nvPr/>
            </p:nvSpPr>
            <p:spPr bwMode="auto">
              <a:xfrm>
                <a:off x="2084" y="1685"/>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600">
                  <a:solidFill>
                    <a:schemeClr val="bg1"/>
                  </a:solidFill>
                </a:endParaRPr>
              </a:p>
            </p:txBody>
          </p:sp>
          <p:sp>
            <p:nvSpPr>
              <p:cNvPr id="1396144" name="Rectangle 432"/>
              <p:cNvSpPr>
                <a:spLocks noChangeAspect="1" noChangeArrowheads="1"/>
              </p:cNvSpPr>
              <p:nvPr/>
            </p:nvSpPr>
            <p:spPr bwMode="auto">
              <a:xfrm>
                <a:off x="2116" y="1685"/>
                <a:ext cx="461"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 Accessibility</a:t>
                </a:r>
              </a:p>
            </p:txBody>
          </p:sp>
        </p:grpSp>
        <p:sp>
          <p:nvSpPr>
            <p:cNvPr id="1396145" name="Rectangle 433"/>
            <p:cNvSpPr>
              <a:spLocks noChangeAspect="1" noChangeArrowheads="1"/>
            </p:cNvSpPr>
            <p:nvPr/>
          </p:nvSpPr>
          <p:spPr bwMode="auto">
            <a:xfrm>
              <a:off x="1686" y="2210"/>
              <a:ext cx="771" cy="78"/>
            </a:xfrm>
            <a:prstGeom prst="rect">
              <a:avLst/>
            </a:prstGeom>
            <a:noFill/>
            <a:ln w="9525">
              <a:noFill/>
              <a:miter lim="800000"/>
              <a:headEnd/>
              <a:tailEnd/>
            </a:ln>
          </p:spPr>
          <p:txBody>
            <a:bodyPr wrap="none" lIns="0" tIns="0" rIns="0" bIns="0">
              <a:spAutoFit/>
            </a:bodyPr>
            <a:lstStyle/>
            <a:p>
              <a:r>
                <a:rPr lang="en-US" sz="700" b="1">
                  <a:solidFill>
                    <a:schemeClr val="bg1"/>
                  </a:solidFill>
                </a:rPr>
                <a:t>Processes and Activities</a:t>
              </a:r>
              <a:endParaRPr lang="en-US" sz="1200">
                <a:solidFill>
                  <a:schemeClr val="bg1"/>
                </a:solidFill>
              </a:endParaRPr>
            </a:p>
          </p:txBody>
        </p:sp>
        <p:sp>
          <p:nvSpPr>
            <p:cNvPr id="1396146" name="Rectangle 434"/>
            <p:cNvSpPr>
              <a:spLocks noChangeAspect="1" noChangeArrowheads="1"/>
            </p:cNvSpPr>
            <p:nvPr/>
          </p:nvSpPr>
          <p:spPr bwMode="auto">
            <a:xfrm>
              <a:off x="1302" y="2315"/>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47" name="Rectangle 435"/>
            <p:cNvSpPr>
              <a:spLocks noChangeAspect="1" noChangeArrowheads="1"/>
            </p:cNvSpPr>
            <p:nvPr/>
          </p:nvSpPr>
          <p:spPr bwMode="auto">
            <a:xfrm>
              <a:off x="1347" y="2315"/>
              <a:ext cx="200" cy="56"/>
            </a:xfrm>
            <a:prstGeom prst="rect">
              <a:avLst/>
            </a:prstGeom>
            <a:noFill/>
            <a:ln w="9525">
              <a:noFill/>
              <a:miter lim="800000"/>
              <a:headEnd/>
              <a:tailEnd/>
            </a:ln>
          </p:spPr>
          <p:txBody>
            <a:bodyPr wrap="none" lIns="0" tIns="0" rIns="0" bIns="0">
              <a:spAutoFit/>
            </a:bodyPr>
            <a:lstStyle/>
            <a:p>
              <a:r>
                <a:rPr lang="en-US" sz="500" b="1">
                  <a:solidFill>
                    <a:schemeClr val="bg1"/>
                  </a:solidFill>
                </a:rPr>
                <a:t>Financial</a:t>
              </a:r>
              <a:endParaRPr lang="en-US" sz="1200" b="1">
                <a:solidFill>
                  <a:schemeClr val="bg1"/>
                </a:solidFill>
              </a:endParaRPr>
            </a:p>
          </p:txBody>
        </p:sp>
        <p:sp>
          <p:nvSpPr>
            <p:cNvPr id="1396148" name="Rectangle 436"/>
            <p:cNvSpPr>
              <a:spLocks noChangeAspect="1" noChangeArrowheads="1"/>
            </p:cNvSpPr>
            <p:nvPr/>
          </p:nvSpPr>
          <p:spPr bwMode="auto">
            <a:xfrm>
              <a:off x="1302" y="2380"/>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49" name="Rectangle 437"/>
            <p:cNvSpPr>
              <a:spLocks noChangeAspect="1" noChangeArrowheads="1"/>
            </p:cNvSpPr>
            <p:nvPr/>
          </p:nvSpPr>
          <p:spPr bwMode="auto">
            <a:xfrm>
              <a:off x="1384" y="2380"/>
              <a:ext cx="593" cy="56"/>
            </a:xfrm>
            <a:prstGeom prst="rect">
              <a:avLst/>
            </a:prstGeom>
            <a:noFill/>
            <a:ln w="9525">
              <a:noFill/>
              <a:miter lim="800000"/>
              <a:headEnd/>
              <a:tailEnd/>
            </a:ln>
          </p:spPr>
          <p:txBody>
            <a:bodyPr wrap="none" lIns="0" tIns="0" rIns="0" bIns="0">
              <a:spAutoFit/>
            </a:bodyPr>
            <a:lstStyle/>
            <a:p>
              <a:r>
                <a:rPr lang="en-US" sz="500" b="1">
                  <a:solidFill>
                    <a:schemeClr val="bg1"/>
                  </a:solidFill>
                </a:rPr>
                <a:t>Productivity and Efficiency</a:t>
              </a:r>
              <a:endParaRPr lang="en-US" sz="1200" b="1">
                <a:solidFill>
                  <a:schemeClr val="bg1"/>
                </a:solidFill>
              </a:endParaRPr>
            </a:p>
          </p:txBody>
        </p:sp>
        <p:sp>
          <p:nvSpPr>
            <p:cNvPr id="1396150" name="Rectangle 438"/>
            <p:cNvSpPr>
              <a:spLocks noChangeAspect="1" noChangeArrowheads="1"/>
            </p:cNvSpPr>
            <p:nvPr/>
          </p:nvSpPr>
          <p:spPr bwMode="auto">
            <a:xfrm>
              <a:off x="1302" y="2447"/>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51" name="Rectangle 439"/>
            <p:cNvSpPr>
              <a:spLocks noChangeAspect="1" noChangeArrowheads="1"/>
            </p:cNvSpPr>
            <p:nvPr/>
          </p:nvSpPr>
          <p:spPr bwMode="auto">
            <a:xfrm>
              <a:off x="1394" y="2447"/>
              <a:ext cx="564" cy="56"/>
            </a:xfrm>
            <a:prstGeom prst="rect">
              <a:avLst/>
            </a:prstGeom>
            <a:noFill/>
            <a:ln w="9525">
              <a:noFill/>
              <a:miter lim="800000"/>
              <a:headEnd/>
              <a:tailEnd/>
            </a:ln>
          </p:spPr>
          <p:txBody>
            <a:bodyPr wrap="none" lIns="0" tIns="0" rIns="0" bIns="0">
              <a:spAutoFit/>
            </a:bodyPr>
            <a:lstStyle/>
            <a:p>
              <a:r>
                <a:rPr lang="en-US" sz="500" b="1">
                  <a:solidFill>
                    <a:schemeClr val="bg1"/>
                  </a:solidFill>
                </a:rPr>
                <a:t>Cycle and Resource Time</a:t>
              </a:r>
              <a:endParaRPr lang="en-US" sz="1200" b="1">
                <a:solidFill>
                  <a:schemeClr val="bg1"/>
                </a:solidFill>
              </a:endParaRPr>
            </a:p>
          </p:txBody>
        </p:sp>
        <p:sp>
          <p:nvSpPr>
            <p:cNvPr id="1396152" name="Rectangle 440"/>
            <p:cNvSpPr>
              <a:spLocks noChangeAspect="1" noChangeArrowheads="1"/>
            </p:cNvSpPr>
            <p:nvPr/>
          </p:nvSpPr>
          <p:spPr bwMode="auto">
            <a:xfrm>
              <a:off x="1277" y="2195"/>
              <a:ext cx="1497" cy="352"/>
            </a:xfrm>
            <a:prstGeom prst="rect">
              <a:avLst/>
            </a:prstGeom>
            <a:solidFill>
              <a:srgbClr val="808080"/>
            </a:solidFill>
            <a:ln w="9525">
              <a:noFill/>
              <a:miter lim="800000"/>
              <a:headEnd/>
              <a:tailEnd/>
            </a:ln>
          </p:spPr>
          <p:txBody>
            <a:bodyPr/>
            <a:lstStyle/>
            <a:p>
              <a:endParaRPr lang="en-US"/>
            </a:p>
          </p:txBody>
        </p:sp>
        <p:sp>
          <p:nvSpPr>
            <p:cNvPr id="1396153" name="Rectangle 441"/>
            <p:cNvSpPr>
              <a:spLocks noChangeAspect="1" noChangeArrowheads="1"/>
            </p:cNvSpPr>
            <p:nvPr/>
          </p:nvSpPr>
          <p:spPr bwMode="auto">
            <a:xfrm>
              <a:off x="1229" y="2179"/>
              <a:ext cx="1560" cy="358"/>
            </a:xfrm>
            <a:prstGeom prst="rect">
              <a:avLst/>
            </a:prstGeom>
            <a:solidFill>
              <a:srgbClr val="909DFC"/>
            </a:solidFill>
            <a:ln w="9525">
              <a:solidFill>
                <a:srgbClr val="000000"/>
              </a:solidFill>
              <a:miter lim="800000"/>
              <a:headEnd/>
              <a:tailEnd/>
            </a:ln>
          </p:spPr>
          <p:txBody>
            <a:bodyPr/>
            <a:lstStyle/>
            <a:p>
              <a:endParaRPr lang="en-US"/>
            </a:p>
          </p:txBody>
        </p:sp>
        <p:sp>
          <p:nvSpPr>
            <p:cNvPr id="1396154" name="Rectangle 442"/>
            <p:cNvSpPr>
              <a:spLocks noChangeAspect="1" noChangeArrowheads="1"/>
            </p:cNvSpPr>
            <p:nvPr/>
          </p:nvSpPr>
          <p:spPr bwMode="auto">
            <a:xfrm>
              <a:off x="1670" y="2195"/>
              <a:ext cx="770" cy="78"/>
            </a:xfrm>
            <a:prstGeom prst="rect">
              <a:avLst/>
            </a:prstGeom>
            <a:noFill/>
            <a:ln w="9525">
              <a:noFill/>
              <a:miter lim="800000"/>
              <a:headEnd/>
              <a:tailEnd/>
            </a:ln>
          </p:spPr>
          <p:txBody>
            <a:bodyPr wrap="none" lIns="0" tIns="0" rIns="0" bIns="0">
              <a:spAutoFit/>
            </a:bodyPr>
            <a:lstStyle/>
            <a:p>
              <a:r>
                <a:rPr lang="en-US" sz="700" b="1">
                  <a:solidFill>
                    <a:schemeClr val="bg1"/>
                  </a:solidFill>
                </a:rPr>
                <a:t>Processes and Activities</a:t>
              </a:r>
              <a:endParaRPr lang="en-US" sz="1200">
                <a:solidFill>
                  <a:schemeClr val="bg1"/>
                </a:solidFill>
              </a:endParaRPr>
            </a:p>
          </p:txBody>
        </p:sp>
        <p:sp>
          <p:nvSpPr>
            <p:cNvPr id="1396155" name="Rectangle 443"/>
            <p:cNvSpPr>
              <a:spLocks noChangeAspect="1" noChangeArrowheads="1"/>
            </p:cNvSpPr>
            <p:nvPr/>
          </p:nvSpPr>
          <p:spPr bwMode="auto">
            <a:xfrm>
              <a:off x="2007" y="2179"/>
              <a:ext cx="829" cy="270"/>
            </a:xfrm>
            <a:prstGeom prst="rect">
              <a:avLst/>
            </a:prstGeom>
            <a:noFill/>
            <a:ln w="9525">
              <a:noFill/>
              <a:miter lim="800000"/>
              <a:headEnd/>
              <a:tailEnd/>
            </a:ln>
          </p:spPr>
          <p:txBody>
            <a:bodyPr/>
            <a:lstStyle/>
            <a:p>
              <a:endParaRPr lang="en-US"/>
            </a:p>
          </p:txBody>
        </p:sp>
        <p:grpSp>
          <p:nvGrpSpPr>
            <p:cNvPr id="1396156" name="Group 444"/>
            <p:cNvGrpSpPr>
              <a:grpSpLocks noChangeAspect="1"/>
            </p:cNvGrpSpPr>
            <p:nvPr/>
          </p:nvGrpSpPr>
          <p:grpSpPr bwMode="auto">
            <a:xfrm>
              <a:off x="1261" y="2299"/>
              <a:ext cx="1392" cy="190"/>
              <a:chOff x="1261" y="2299"/>
              <a:chExt cx="1392" cy="190"/>
            </a:xfrm>
          </p:grpSpPr>
          <p:grpSp>
            <p:nvGrpSpPr>
              <p:cNvPr id="1396157" name="Group 445"/>
              <p:cNvGrpSpPr>
                <a:grpSpLocks noChangeAspect="1"/>
              </p:cNvGrpSpPr>
              <p:nvPr/>
            </p:nvGrpSpPr>
            <p:grpSpPr bwMode="auto">
              <a:xfrm>
                <a:off x="1261" y="2299"/>
                <a:ext cx="627" cy="190"/>
                <a:chOff x="1261" y="2299"/>
                <a:chExt cx="627" cy="190"/>
              </a:xfrm>
            </p:grpSpPr>
            <p:sp>
              <p:nvSpPr>
                <p:cNvPr id="1396158" name="Rectangle 446"/>
                <p:cNvSpPr>
                  <a:spLocks noChangeAspect="1" noChangeArrowheads="1"/>
                </p:cNvSpPr>
                <p:nvPr/>
              </p:nvSpPr>
              <p:spPr bwMode="auto">
                <a:xfrm>
                  <a:off x="1266" y="2299"/>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59" name="Rectangle 447"/>
                <p:cNvSpPr>
                  <a:spLocks noChangeAspect="1" noChangeArrowheads="1"/>
                </p:cNvSpPr>
                <p:nvPr/>
              </p:nvSpPr>
              <p:spPr bwMode="auto">
                <a:xfrm>
                  <a:off x="1322" y="2299"/>
                  <a:ext cx="199" cy="56"/>
                </a:xfrm>
                <a:prstGeom prst="rect">
                  <a:avLst/>
                </a:prstGeom>
                <a:noFill/>
                <a:ln w="9525">
                  <a:noFill/>
                  <a:miter lim="800000"/>
                  <a:headEnd/>
                  <a:tailEnd/>
                </a:ln>
              </p:spPr>
              <p:txBody>
                <a:bodyPr wrap="none" lIns="0" tIns="0" rIns="0" bIns="0">
                  <a:spAutoFit/>
                </a:bodyPr>
                <a:lstStyle/>
                <a:p>
                  <a:r>
                    <a:rPr lang="en-US" sz="500" b="1">
                      <a:solidFill>
                        <a:schemeClr val="bg1"/>
                      </a:solidFill>
                    </a:rPr>
                    <a:t>Financial</a:t>
                  </a:r>
                  <a:endParaRPr lang="en-US" sz="1200" b="1">
                    <a:solidFill>
                      <a:schemeClr val="bg1"/>
                    </a:solidFill>
                  </a:endParaRPr>
                </a:p>
              </p:txBody>
            </p:sp>
            <p:sp>
              <p:nvSpPr>
                <p:cNvPr id="1396160" name="Rectangle 448"/>
                <p:cNvSpPr>
                  <a:spLocks noChangeAspect="1" noChangeArrowheads="1"/>
                </p:cNvSpPr>
                <p:nvPr/>
              </p:nvSpPr>
              <p:spPr bwMode="auto">
                <a:xfrm>
                  <a:off x="1261" y="2367"/>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61" name="Rectangle 449"/>
                <p:cNvSpPr>
                  <a:spLocks noChangeAspect="1" noChangeArrowheads="1"/>
                </p:cNvSpPr>
                <p:nvPr/>
              </p:nvSpPr>
              <p:spPr bwMode="auto">
                <a:xfrm>
                  <a:off x="1295" y="2367"/>
                  <a:ext cx="593" cy="56"/>
                </a:xfrm>
                <a:prstGeom prst="rect">
                  <a:avLst/>
                </a:prstGeom>
                <a:noFill/>
                <a:ln w="9525">
                  <a:noFill/>
                  <a:miter lim="800000"/>
                  <a:headEnd/>
                  <a:tailEnd/>
                </a:ln>
              </p:spPr>
              <p:txBody>
                <a:bodyPr wrap="none" lIns="0" tIns="0" rIns="0" bIns="0">
                  <a:spAutoFit/>
                </a:bodyPr>
                <a:lstStyle/>
                <a:p>
                  <a:r>
                    <a:rPr lang="en-US" sz="500" b="1">
                      <a:solidFill>
                        <a:schemeClr val="bg1"/>
                      </a:solidFill>
                    </a:rPr>
                    <a:t>Productivity and Efficiency</a:t>
                  </a:r>
                  <a:endParaRPr lang="en-US" sz="1200" b="1">
                    <a:solidFill>
                      <a:schemeClr val="bg1"/>
                    </a:solidFill>
                  </a:endParaRPr>
                </a:p>
              </p:txBody>
            </p:sp>
            <p:sp>
              <p:nvSpPr>
                <p:cNvPr id="1396162" name="Rectangle 450"/>
                <p:cNvSpPr>
                  <a:spLocks noChangeAspect="1" noChangeArrowheads="1"/>
                </p:cNvSpPr>
                <p:nvPr/>
              </p:nvSpPr>
              <p:spPr bwMode="auto">
                <a:xfrm>
                  <a:off x="1261" y="2433"/>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63" name="Rectangle 451"/>
                <p:cNvSpPr>
                  <a:spLocks noChangeAspect="1" noChangeArrowheads="1"/>
                </p:cNvSpPr>
                <p:nvPr/>
              </p:nvSpPr>
              <p:spPr bwMode="auto">
                <a:xfrm>
                  <a:off x="1297" y="2433"/>
                  <a:ext cx="564" cy="56"/>
                </a:xfrm>
                <a:prstGeom prst="rect">
                  <a:avLst/>
                </a:prstGeom>
                <a:noFill/>
                <a:ln w="9525">
                  <a:noFill/>
                  <a:miter lim="800000"/>
                  <a:headEnd/>
                  <a:tailEnd/>
                </a:ln>
              </p:spPr>
              <p:txBody>
                <a:bodyPr wrap="none" lIns="0" tIns="0" rIns="0" bIns="0">
                  <a:spAutoFit/>
                </a:bodyPr>
                <a:lstStyle/>
                <a:p>
                  <a:r>
                    <a:rPr lang="en-US" sz="500" b="1">
                      <a:solidFill>
                        <a:schemeClr val="bg1"/>
                      </a:solidFill>
                    </a:rPr>
                    <a:t>Cycle and Resource Time</a:t>
                  </a:r>
                  <a:endParaRPr lang="en-US" sz="1200" b="1">
                    <a:solidFill>
                      <a:schemeClr val="bg1"/>
                    </a:solidFill>
                  </a:endParaRPr>
                </a:p>
              </p:txBody>
            </p:sp>
          </p:grpSp>
          <p:sp>
            <p:nvSpPr>
              <p:cNvPr id="1396164" name="Rectangle 452"/>
              <p:cNvSpPr>
                <a:spLocks noChangeAspect="1" noChangeArrowheads="1"/>
              </p:cNvSpPr>
              <p:nvPr/>
            </p:nvSpPr>
            <p:spPr bwMode="auto">
              <a:xfrm>
                <a:off x="2049" y="2299"/>
                <a:ext cx="17"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65" name="Rectangle 453"/>
              <p:cNvSpPr>
                <a:spLocks noChangeAspect="1" noChangeArrowheads="1"/>
              </p:cNvSpPr>
              <p:nvPr/>
            </p:nvSpPr>
            <p:spPr bwMode="auto">
              <a:xfrm>
                <a:off x="2107" y="2299"/>
                <a:ext cx="156" cy="56"/>
              </a:xfrm>
              <a:prstGeom prst="rect">
                <a:avLst/>
              </a:prstGeom>
              <a:noFill/>
              <a:ln w="9525">
                <a:noFill/>
                <a:miter lim="800000"/>
                <a:headEnd/>
                <a:tailEnd/>
              </a:ln>
            </p:spPr>
            <p:txBody>
              <a:bodyPr wrap="none" lIns="0" tIns="0" rIns="0" bIns="0">
                <a:spAutoFit/>
              </a:bodyPr>
              <a:lstStyle/>
              <a:p>
                <a:r>
                  <a:rPr lang="en-US" sz="500" b="1">
                    <a:solidFill>
                      <a:schemeClr val="bg1"/>
                    </a:solidFill>
                  </a:rPr>
                  <a:t>Quality</a:t>
                </a:r>
                <a:endParaRPr lang="en-US" sz="1200" b="1">
                  <a:solidFill>
                    <a:schemeClr val="bg1"/>
                  </a:solidFill>
                </a:endParaRPr>
              </a:p>
            </p:txBody>
          </p:sp>
          <p:sp>
            <p:nvSpPr>
              <p:cNvPr id="1396166" name="Rectangle 454"/>
              <p:cNvSpPr>
                <a:spLocks noChangeAspect="1" noChangeArrowheads="1"/>
              </p:cNvSpPr>
              <p:nvPr/>
            </p:nvSpPr>
            <p:spPr bwMode="auto">
              <a:xfrm>
                <a:off x="2049" y="2361"/>
                <a:ext cx="17"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167" name="Rectangle 455"/>
              <p:cNvSpPr>
                <a:spLocks noChangeAspect="1" noChangeArrowheads="1"/>
              </p:cNvSpPr>
              <p:nvPr/>
            </p:nvSpPr>
            <p:spPr bwMode="auto">
              <a:xfrm>
                <a:off x="2078" y="2361"/>
                <a:ext cx="575" cy="56"/>
              </a:xfrm>
              <a:prstGeom prst="rect">
                <a:avLst/>
              </a:prstGeom>
              <a:noFill/>
              <a:ln w="9525">
                <a:noFill/>
                <a:miter lim="800000"/>
                <a:headEnd/>
                <a:tailEnd/>
              </a:ln>
            </p:spPr>
            <p:txBody>
              <a:bodyPr wrap="none" lIns="0" tIns="0" rIns="0" bIns="0">
                <a:spAutoFit/>
              </a:bodyPr>
              <a:lstStyle/>
              <a:p>
                <a:r>
                  <a:rPr lang="en-US" sz="500" b="1">
                    <a:solidFill>
                      <a:schemeClr val="bg1"/>
                    </a:solidFill>
                  </a:rPr>
                  <a:t>Management &amp; Innovation</a:t>
                </a:r>
                <a:endParaRPr lang="en-US" sz="1200" b="1">
                  <a:solidFill>
                    <a:schemeClr val="bg1"/>
                  </a:solidFill>
                </a:endParaRPr>
              </a:p>
            </p:txBody>
          </p:sp>
        </p:grpSp>
        <p:sp>
          <p:nvSpPr>
            <p:cNvPr id="1396168" name="Rectangle 456"/>
            <p:cNvSpPr>
              <a:spLocks noChangeAspect="1" noChangeArrowheads="1"/>
            </p:cNvSpPr>
            <p:nvPr/>
          </p:nvSpPr>
          <p:spPr bwMode="auto">
            <a:xfrm>
              <a:off x="1815" y="2967"/>
              <a:ext cx="471" cy="101"/>
            </a:xfrm>
            <a:prstGeom prst="rect">
              <a:avLst/>
            </a:prstGeom>
            <a:noFill/>
            <a:ln w="9525">
              <a:noFill/>
              <a:miter lim="800000"/>
              <a:headEnd/>
              <a:tailEnd/>
            </a:ln>
          </p:spPr>
          <p:txBody>
            <a:bodyPr wrap="none" lIns="0" tIns="0" rIns="0" bIns="0">
              <a:spAutoFit/>
            </a:bodyPr>
            <a:lstStyle/>
            <a:p>
              <a:r>
                <a:rPr lang="en-US" sz="900" b="1">
                  <a:solidFill>
                    <a:schemeClr val="bg1"/>
                  </a:solidFill>
                </a:rPr>
                <a:t>Technology</a:t>
              </a:r>
              <a:endParaRPr lang="en-US" sz="1600">
                <a:solidFill>
                  <a:schemeClr val="bg1"/>
                </a:solidFill>
              </a:endParaRPr>
            </a:p>
          </p:txBody>
        </p:sp>
        <p:sp>
          <p:nvSpPr>
            <p:cNvPr id="1396169" name="Rectangle 457"/>
            <p:cNvSpPr>
              <a:spLocks noChangeAspect="1" noChangeArrowheads="1"/>
            </p:cNvSpPr>
            <p:nvPr/>
          </p:nvSpPr>
          <p:spPr bwMode="auto">
            <a:xfrm>
              <a:off x="1673" y="3071"/>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70" name="Rectangle 458"/>
            <p:cNvSpPr>
              <a:spLocks noChangeAspect="1" noChangeArrowheads="1"/>
            </p:cNvSpPr>
            <p:nvPr/>
          </p:nvSpPr>
          <p:spPr bwMode="auto">
            <a:xfrm>
              <a:off x="1705" y="3071"/>
              <a:ext cx="226" cy="68"/>
            </a:xfrm>
            <a:prstGeom prst="rect">
              <a:avLst/>
            </a:prstGeom>
            <a:noFill/>
            <a:ln w="9525">
              <a:noFill/>
              <a:miter lim="800000"/>
              <a:headEnd/>
              <a:tailEnd/>
            </a:ln>
          </p:spPr>
          <p:txBody>
            <a:bodyPr wrap="none" lIns="0" tIns="0" rIns="0" bIns="0">
              <a:spAutoFit/>
            </a:bodyPr>
            <a:lstStyle/>
            <a:p>
              <a:r>
                <a:rPr lang="en-US" sz="600">
                  <a:solidFill>
                    <a:schemeClr val="bg1"/>
                  </a:solidFill>
                </a:rPr>
                <a:t>Financial</a:t>
              </a:r>
              <a:endParaRPr lang="en-US" sz="1200">
                <a:solidFill>
                  <a:schemeClr val="bg1"/>
                </a:solidFill>
              </a:endParaRPr>
            </a:p>
          </p:txBody>
        </p:sp>
        <p:sp>
          <p:nvSpPr>
            <p:cNvPr id="1396171" name="Rectangle 459"/>
            <p:cNvSpPr>
              <a:spLocks noChangeAspect="1" noChangeArrowheads="1"/>
            </p:cNvSpPr>
            <p:nvPr/>
          </p:nvSpPr>
          <p:spPr bwMode="auto">
            <a:xfrm>
              <a:off x="1673" y="3139"/>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72" name="Rectangle 460"/>
            <p:cNvSpPr>
              <a:spLocks noChangeAspect="1" noChangeArrowheads="1"/>
            </p:cNvSpPr>
            <p:nvPr/>
          </p:nvSpPr>
          <p:spPr bwMode="auto">
            <a:xfrm>
              <a:off x="1715" y="3139"/>
              <a:ext cx="484" cy="67"/>
            </a:xfrm>
            <a:prstGeom prst="rect">
              <a:avLst/>
            </a:prstGeom>
            <a:noFill/>
            <a:ln w="9525">
              <a:noFill/>
              <a:miter lim="800000"/>
              <a:headEnd/>
              <a:tailEnd/>
            </a:ln>
          </p:spPr>
          <p:txBody>
            <a:bodyPr wrap="none" lIns="0" tIns="0" rIns="0" bIns="0">
              <a:spAutoFit/>
            </a:bodyPr>
            <a:lstStyle/>
            <a:p>
              <a:r>
                <a:rPr lang="en-US" sz="600">
                  <a:solidFill>
                    <a:schemeClr val="bg1"/>
                  </a:solidFill>
                </a:rPr>
                <a:t>Quality &amp; Efficiency</a:t>
              </a:r>
              <a:endParaRPr lang="en-US" sz="1200">
                <a:solidFill>
                  <a:schemeClr val="bg1"/>
                </a:solidFill>
              </a:endParaRPr>
            </a:p>
          </p:txBody>
        </p:sp>
        <p:sp>
          <p:nvSpPr>
            <p:cNvPr id="1396173" name="Rectangle 461"/>
            <p:cNvSpPr>
              <a:spLocks noChangeAspect="1" noChangeArrowheads="1"/>
            </p:cNvSpPr>
            <p:nvPr/>
          </p:nvSpPr>
          <p:spPr bwMode="auto">
            <a:xfrm>
              <a:off x="1673" y="3206"/>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74" name="Rectangle 462"/>
            <p:cNvSpPr>
              <a:spLocks noChangeAspect="1" noChangeArrowheads="1"/>
            </p:cNvSpPr>
            <p:nvPr/>
          </p:nvSpPr>
          <p:spPr bwMode="auto">
            <a:xfrm>
              <a:off x="1715" y="3206"/>
              <a:ext cx="469" cy="68"/>
            </a:xfrm>
            <a:prstGeom prst="rect">
              <a:avLst/>
            </a:prstGeom>
            <a:noFill/>
            <a:ln w="9525">
              <a:noFill/>
              <a:miter lim="800000"/>
              <a:headEnd/>
              <a:tailEnd/>
            </a:ln>
          </p:spPr>
          <p:txBody>
            <a:bodyPr wrap="none" lIns="0" tIns="0" rIns="0" bIns="0">
              <a:spAutoFit/>
            </a:bodyPr>
            <a:lstStyle/>
            <a:p>
              <a:r>
                <a:rPr lang="en-US" sz="600">
                  <a:solidFill>
                    <a:schemeClr val="bg1"/>
                  </a:solidFill>
                </a:rPr>
                <a:t>Information &amp; Data</a:t>
              </a:r>
              <a:endParaRPr lang="en-US" sz="1200">
                <a:solidFill>
                  <a:schemeClr val="bg1"/>
                </a:solidFill>
              </a:endParaRPr>
            </a:p>
          </p:txBody>
        </p:sp>
        <p:sp>
          <p:nvSpPr>
            <p:cNvPr id="1396175" name="Rectangle 463"/>
            <p:cNvSpPr>
              <a:spLocks noChangeAspect="1" noChangeArrowheads="1"/>
            </p:cNvSpPr>
            <p:nvPr/>
          </p:nvSpPr>
          <p:spPr bwMode="auto">
            <a:xfrm>
              <a:off x="1673" y="3274"/>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76" name="Rectangle 464"/>
            <p:cNvSpPr>
              <a:spLocks noChangeAspect="1" noChangeArrowheads="1"/>
            </p:cNvSpPr>
            <p:nvPr/>
          </p:nvSpPr>
          <p:spPr bwMode="auto">
            <a:xfrm>
              <a:off x="1718" y="3274"/>
              <a:ext cx="578" cy="67"/>
            </a:xfrm>
            <a:prstGeom prst="rect">
              <a:avLst/>
            </a:prstGeom>
            <a:noFill/>
            <a:ln w="9525">
              <a:noFill/>
              <a:miter lim="800000"/>
              <a:headEnd/>
              <a:tailEnd/>
            </a:ln>
          </p:spPr>
          <p:txBody>
            <a:bodyPr wrap="none" lIns="0" tIns="0" rIns="0" bIns="0">
              <a:spAutoFit/>
            </a:bodyPr>
            <a:lstStyle/>
            <a:p>
              <a:r>
                <a:rPr lang="en-US" sz="600">
                  <a:solidFill>
                    <a:schemeClr val="bg1"/>
                  </a:solidFill>
                </a:rPr>
                <a:t>Reliability &amp; Availability</a:t>
              </a:r>
              <a:endParaRPr lang="en-US" sz="1200">
                <a:solidFill>
                  <a:schemeClr val="bg1"/>
                </a:solidFill>
              </a:endParaRPr>
            </a:p>
          </p:txBody>
        </p:sp>
        <p:sp>
          <p:nvSpPr>
            <p:cNvPr id="1396177" name="Rectangle 465"/>
            <p:cNvSpPr>
              <a:spLocks noChangeAspect="1" noChangeArrowheads="1"/>
            </p:cNvSpPr>
            <p:nvPr/>
          </p:nvSpPr>
          <p:spPr bwMode="auto">
            <a:xfrm>
              <a:off x="1673" y="3334"/>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78" name="Rectangle 466"/>
            <p:cNvSpPr>
              <a:spLocks noChangeAspect="1" noChangeArrowheads="1"/>
            </p:cNvSpPr>
            <p:nvPr/>
          </p:nvSpPr>
          <p:spPr bwMode="auto">
            <a:xfrm>
              <a:off x="1714" y="3334"/>
              <a:ext cx="425" cy="68"/>
            </a:xfrm>
            <a:prstGeom prst="rect">
              <a:avLst/>
            </a:prstGeom>
            <a:noFill/>
            <a:ln w="9525">
              <a:noFill/>
              <a:miter lim="800000"/>
              <a:headEnd/>
              <a:tailEnd/>
            </a:ln>
          </p:spPr>
          <p:txBody>
            <a:bodyPr wrap="none" lIns="0" tIns="0" rIns="0" bIns="0">
              <a:spAutoFit/>
            </a:bodyPr>
            <a:lstStyle/>
            <a:p>
              <a:r>
                <a:rPr lang="en-US" sz="600">
                  <a:solidFill>
                    <a:schemeClr val="bg1"/>
                  </a:solidFill>
                </a:rPr>
                <a:t>User Satisfaction</a:t>
              </a:r>
              <a:endParaRPr lang="en-US" sz="1200">
                <a:solidFill>
                  <a:schemeClr val="bg1"/>
                </a:solidFill>
              </a:endParaRPr>
            </a:p>
          </p:txBody>
        </p:sp>
        <p:sp>
          <p:nvSpPr>
            <p:cNvPr id="1396179" name="Rectangle 467"/>
            <p:cNvSpPr>
              <a:spLocks noChangeAspect="1" noChangeArrowheads="1"/>
            </p:cNvSpPr>
            <p:nvPr/>
          </p:nvSpPr>
          <p:spPr bwMode="auto">
            <a:xfrm>
              <a:off x="1608" y="2982"/>
              <a:ext cx="835" cy="482"/>
            </a:xfrm>
            <a:prstGeom prst="rect">
              <a:avLst/>
            </a:prstGeom>
            <a:solidFill>
              <a:schemeClr val="bg2"/>
            </a:solidFill>
            <a:ln w="9525">
              <a:noFill/>
              <a:miter lim="800000"/>
              <a:headEnd/>
              <a:tailEnd/>
            </a:ln>
          </p:spPr>
          <p:txBody>
            <a:bodyPr/>
            <a:lstStyle/>
            <a:p>
              <a:endParaRPr lang="en-US"/>
            </a:p>
          </p:txBody>
        </p:sp>
        <p:sp>
          <p:nvSpPr>
            <p:cNvPr id="1396180" name="Rectangle 468"/>
            <p:cNvSpPr>
              <a:spLocks noChangeAspect="1" noChangeArrowheads="1"/>
            </p:cNvSpPr>
            <p:nvPr/>
          </p:nvSpPr>
          <p:spPr bwMode="auto">
            <a:xfrm>
              <a:off x="1593" y="2966"/>
              <a:ext cx="829" cy="477"/>
            </a:xfrm>
            <a:prstGeom prst="rect">
              <a:avLst/>
            </a:prstGeom>
            <a:solidFill>
              <a:srgbClr val="909DFC"/>
            </a:solidFill>
            <a:ln w="9525">
              <a:solidFill>
                <a:srgbClr val="000000"/>
              </a:solidFill>
              <a:miter lim="800000"/>
              <a:headEnd/>
              <a:tailEnd/>
            </a:ln>
          </p:spPr>
          <p:txBody>
            <a:bodyPr/>
            <a:lstStyle/>
            <a:p>
              <a:endParaRPr lang="en-US"/>
            </a:p>
          </p:txBody>
        </p:sp>
        <p:sp>
          <p:nvSpPr>
            <p:cNvPr id="1396181" name="Rectangle 469"/>
            <p:cNvSpPr>
              <a:spLocks noChangeAspect="1" noChangeArrowheads="1"/>
            </p:cNvSpPr>
            <p:nvPr/>
          </p:nvSpPr>
          <p:spPr bwMode="auto">
            <a:xfrm>
              <a:off x="1853" y="2981"/>
              <a:ext cx="366" cy="78"/>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Technology</a:t>
              </a:r>
              <a:endParaRPr lang="en-US" sz="1200">
                <a:solidFill>
                  <a:schemeClr val="bg1"/>
                </a:solidFill>
              </a:endParaRPr>
            </a:p>
          </p:txBody>
        </p:sp>
        <p:grpSp>
          <p:nvGrpSpPr>
            <p:cNvPr id="1396182" name="Group 470"/>
            <p:cNvGrpSpPr>
              <a:grpSpLocks noChangeAspect="1"/>
            </p:cNvGrpSpPr>
            <p:nvPr/>
          </p:nvGrpSpPr>
          <p:grpSpPr bwMode="auto">
            <a:xfrm>
              <a:off x="1643" y="3085"/>
              <a:ext cx="666" cy="332"/>
              <a:chOff x="1643" y="3085"/>
              <a:chExt cx="666" cy="332"/>
            </a:xfrm>
          </p:grpSpPr>
          <p:sp>
            <p:nvSpPr>
              <p:cNvPr id="1396183" name="Rectangle 471"/>
              <p:cNvSpPr>
                <a:spLocks noChangeAspect="1" noChangeArrowheads="1"/>
              </p:cNvSpPr>
              <p:nvPr/>
            </p:nvSpPr>
            <p:spPr bwMode="auto">
              <a:xfrm>
                <a:off x="1643" y="3085"/>
                <a:ext cx="20"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84" name="Rectangle 472"/>
              <p:cNvSpPr>
                <a:spLocks noChangeAspect="1" noChangeArrowheads="1"/>
              </p:cNvSpPr>
              <p:nvPr/>
            </p:nvSpPr>
            <p:spPr bwMode="auto">
              <a:xfrm>
                <a:off x="1705" y="3085"/>
                <a:ext cx="242" cy="68"/>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Financial</a:t>
                </a:r>
                <a:endParaRPr lang="en-US" sz="1200" b="1">
                  <a:solidFill>
                    <a:schemeClr val="bg1"/>
                  </a:solidFill>
                </a:endParaRPr>
              </a:p>
            </p:txBody>
          </p:sp>
          <p:sp>
            <p:nvSpPr>
              <p:cNvPr id="1396185" name="Rectangle 473"/>
              <p:cNvSpPr>
                <a:spLocks noChangeAspect="1" noChangeArrowheads="1"/>
              </p:cNvSpPr>
              <p:nvPr/>
            </p:nvSpPr>
            <p:spPr bwMode="auto">
              <a:xfrm>
                <a:off x="1643" y="3153"/>
                <a:ext cx="20"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86" name="Rectangle 474"/>
              <p:cNvSpPr>
                <a:spLocks noChangeAspect="1" noChangeArrowheads="1"/>
              </p:cNvSpPr>
              <p:nvPr/>
            </p:nvSpPr>
            <p:spPr bwMode="auto">
              <a:xfrm>
                <a:off x="1685" y="3153"/>
                <a:ext cx="525" cy="67"/>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Quality &amp; Efficiency</a:t>
                </a:r>
                <a:endParaRPr lang="en-US" sz="1200" b="1">
                  <a:solidFill>
                    <a:schemeClr val="bg1"/>
                  </a:solidFill>
                </a:endParaRPr>
              </a:p>
            </p:txBody>
          </p:sp>
          <p:sp>
            <p:nvSpPr>
              <p:cNvPr id="1396187" name="Rectangle 475"/>
              <p:cNvSpPr>
                <a:spLocks noChangeAspect="1" noChangeArrowheads="1"/>
              </p:cNvSpPr>
              <p:nvPr/>
            </p:nvSpPr>
            <p:spPr bwMode="auto">
              <a:xfrm>
                <a:off x="1643" y="3221"/>
                <a:ext cx="20"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88" name="Rectangle 476"/>
              <p:cNvSpPr>
                <a:spLocks noChangeAspect="1" noChangeArrowheads="1"/>
              </p:cNvSpPr>
              <p:nvPr/>
            </p:nvSpPr>
            <p:spPr bwMode="auto">
              <a:xfrm>
                <a:off x="1686" y="3221"/>
                <a:ext cx="501" cy="68"/>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Information &amp; Data</a:t>
                </a:r>
                <a:endParaRPr lang="en-US" sz="1200" b="1">
                  <a:solidFill>
                    <a:schemeClr val="bg1"/>
                  </a:solidFill>
                </a:endParaRPr>
              </a:p>
            </p:txBody>
          </p:sp>
          <p:sp>
            <p:nvSpPr>
              <p:cNvPr id="1396189" name="Rectangle 477"/>
              <p:cNvSpPr>
                <a:spLocks noChangeAspect="1" noChangeArrowheads="1"/>
              </p:cNvSpPr>
              <p:nvPr/>
            </p:nvSpPr>
            <p:spPr bwMode="auto">
              <a:xfrm>
                <a:off x="1643" y="3287"/>
                <a:ext cx="20"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90" name="Rectangle 478"/>
              <p:cNvSpPr>
                <a:spLocks noChangeAspect="1" noChangeArrowheads="1"/>
              </p:cNvSpPr>
              <p:nvPr/>
            </p:nvSpPr>
            <p:spPr bwMode="auto">
              <a:xfrm>
                <a:off x="1678" y="3287"/>
                <a:ext cx="631" cy="67"/>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Reliability &amp; Availability</a:t>
                </a:r>
                <a:endParaRPr lang="en-US" sz="1200" b="1">
                  <a:solidFill>
                    <a:schemeClr val="bg1"/>
                  </a:solidFill>
                </a:endParaRPr>
              </a:p>
            </p:txBody>
          </p:sp>
          <p:sp>
            <p:nvSpPr>
              <p:cNvPr id="1396191" name="Rectangle 479"/>
              <p:cNvSpPr>
                <a:spLocks noChangeAspect="1" noChangeArrowheads="1"/>
              </p:cNvSpPr>
              <p:nvPr/>
            </p:nvSpPr>
            <p:spPr bwMode="auto">
              <a:xfrm>
                <a:off x="1643" y="3350"/>
                <a:ext cx="20"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92" name="Rectangle 480"/>
              <p:cNvSpPr>
                <a:spLocks noChangeAspect="1" noChangeArrowheads="1"/>
              </p:cNvSpPr>
              <p:nvPr/>
            </p:nvSpPr>
            <p:spPr bwMode="auto">
              <a:xfrm>
                <a:off x="1690" y="3350"/>
                <a:ext cx="459" cy="67"/>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User Satisfaction</a:t>
                </a:r>
                <a:endParaRPr lang="en-US" sz="1200" b="1">
                  <a:solidFill>
                    <a:schemeClr val="bg1"/>
                  </a:solidFill>
                </a:endParaRPr>
              </a:p>
            </p:txBody>
          </p:sp>
        </p:grpSp>
        <p:sp>
          <p:nvSpPr>
            <p:cNvPr id="1396193" name="Rectangle 481"/>
            <p:cNvSpPr>
              <a:spLocks noChangeAspect="1" noChangeArrowheads="1"/>
            </p:cNvSpPr>
            <p:nvPr/>
          </p:nvSpPr>
          <p:spPr bwMode="auto">
            <a:xfrm>
              <a:off x="2696" y="2967"/>
              <a:ext cx="491" cy="101"/>
            </a:xfrm>
            <a:prstGeom prst="rect">
              <a:avLst/>
            </a:prstGeom>
            <a:noFill/>
            <a:ln w="9525">
              <a:noFill/>
              <a:miter lim="800000"/>
              <a:headEnd/>
              <a:tailEnd/>
            </a:ln>
          </p:spPr>
          <p:txBody>
            <a:bodyPr wrap="none" lIns="0" tIns="0" rIns="0" bIns="0">
              <a:spAutoFit/>
            </a:bodyPr>
            <a:lstStyle/>
            <a:p>
              <a:r>
                <a:rPr lang="en-US" sz="900" b="1">
                  <a:solidFill>
                    <a:schemeClr val="bg1"/>
                  </a:solidFill>
                </a:rPr>
                <a:t>Other Fixed </a:t>
              </a:r>
              <a:endParaRPr lang="en-US" sz="1600">
                <a:solidFill>
                  <a:schemeClr val="bg1"/>
                </a:solidFill>
              </a:endParaRPr>
            </a:p>
          </p:txBody>
        </p:sp>
        <p:sp>
          <p:nvSpPr>
            <p:cNvPr id="1396194" name="Rectangle 482"/>
            <p:cNvSpPr>
              <a:spLocks noChangeAspect="1" noChangeArrowheads="1"/>
            </p:cNvSpPr>
            <p:nvPr/>
          </p:nvSpPr>
          <p:spPr bwMode="auto">
            <a:xfrm>
              <a:off x="2814" y="3047"/>
              <a:ext cx="214" cy="78"/>
            </a:xfrm>
            <a:prstGeom prst="rect">
              <a:avLst/>
            </a:prstGeom>
            <a:noFill/>
            <a:ln w="9525">
              <a:noFill/>
              <a:miter lim="800000"/>
              <a:headEnd/>
              <a:tailEnd/>
            </a:ln>
          </p:spPr>
          <p:txBody>
            <a:bodyPr wrap="none" lIns="0" tIns="0" rIns="0" bIns="0">
              <a:spAutoFit/>
            </a:bodyPr>
            <a:lstStyle/>
            <a:p>
              <a:r>
                <a:rPr lang="en-US" sz="700" b="1">
                  <a:solidFill>
                    <a:schemeClr val="bg1"/>
                  </a:solidFill>
                </a:rPr>
                <a:t>Assets</a:t>
              </a:r>
              <a:endParaRPr lang="en-US" sz="1200">
                <a:solidFill>
                  <a:schemeClr val="bg1"/>
                </a:solidFill>
              </a:endParaRPr>
            </a:p>
          </p:txBody>
        </p:sp>
        <p:sp>
          <p:nvSpPr>
            <p:cNvPr id="1396195" name="Rectangle 483"/>
            <p:cNvSpPr>
              <a:spLocks noChangeAspect="1" noChangeArrowheads="1"/>
            </p:cNvSpPr>
            <p:nvPr/>
          </p:nvSpPr>
          <p:spPr bwMode="auto">
            <a:xfrm>
              <a:off x="2544" y="3149"/>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96" name="Rectangle 484"/>
            <p:cNvSpPr>
              <a:spLocks noChangeAspect="1" noChangeArrowheads="1"/>
            </p:cNvSpPr>
            <p:nvPr/>
          </p:nvSpPr>
          <p:spPr bwMode="auto">
            <a:xfrm>
              <a:off x="2575" y="3149"/>
              <a:ext cx="226" cy="68"/>
            </a:xfrm>
            <a:prstGeom prst="rect">
              <a:avLst/>
            </a:prstGeom>
            <a:noFill/>
            <a:ln w="9525">
              <a:noFill/>
              <a:miter lim="800000"/>
              <a:headEnd/>
              <a:tailEnd/>
            </a:ln>
          </p:spPr>
          <p:txBody>
            <a:bodyPr wrap="none" lIns="0" tIns="0" rIns="0" bIns="0">
              <a:spAutoFit/>
            </a:bodyPr>
            <a:lstStyle/>
            <a:p>
              <a:r>
                <a:rPr lang="en-US" sz="600">
                  <a:solidFill>
                    <a:schemeClr val="bg1"/>
                  </a:solidFill>
                </a:rPr>
                <a:t>Financial</a:t>
              </a:r>
              <a:endParaRPr lang="en-US" sz="1200">
                <a:solidFill>
                  <a:schemeClr val="bg1"/>
                </a:solidFill>
              </a:endParaRPr>
            </a:p>
          </p:txBody>
        </p:sp>
        <p:sp>
          <p:nvSpPr>
            <p:cNvPr id="1396197" name="Rectangle 485"/>
            <p:cNvSpPr>
              <a:spLocks noChangeAspect="1" noChangeArrowheads="1"/>
            </p:cNvSpPr>
            <p:nvPr/>
          </p:nvSpPr>
          <p:spPr bwMode="auto">
            <a:xfrm>
              <a:off x="2544" y="3216"/>
              <a:ext cx="20" cy="67"/>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198" name="Rectangle 486"/>
            <p:cNvSpPr>
              <a:spLocks noChangeAspect="1" noChangeArrowheads="1"/>
            </p:cNvSpPr>
            <p:nvPr/>
          </p:nvSpPr>
          <p:spPr bwMode="auto">
            <a:xfrm>
              <a:off x="2591" y="3216"/>
              <a:ext cx="612" cy="67"/>
            </a:xfrm>
            <a:prstGeom prst="rect">
              <a:avLst/>
            </a:prstGeom>
            <a:noFill/>
            <a:ln w="9525">
              <a:noFill/>
              <a:miter lim="800000"/>
              <a:headEnd/>
              <a:tailEnd/>
            </a:ln>
          </p:spPr>
          <p:txBody>
            <a:bodyPr wrap="none" lIns="0" tIns="0" rIns="0" bIns="0">
              <a:spAutoFit/>
            </a:bodyPr>
            <a:lstStyle/>
            <a:p>
              <a:r>
                <a:rPr lang="en-US" sz="600">
                  <a:solidFill>
                    <a:schemeClr val="bg1"/>
                  </a:solidFill>
                </a:rPr>
                <a:t>Quality, Maintenance, &amp; </a:t>
              </a:r>
              <a:endParaRPr lang="en-US" sz="1200">
                <a:solidFill>
                  <a:schemeClr val="bg1"/>
                </a:solidFill>
              </a:endParaRPr>
            </a:p>
          </p:txBody>
        </p:sp>
        <p:sp>
          <p:nvSpPr>
            <p:cNvPr id="1396199" name="Rectangle 487"/>
            <p:cNvSpPr>
              <a:spLocks noChangeAspect="1" noChangeArrowheads="1"/>
            </p:cNvSpPr>
            <p:nvPr/>
          </p:nvSpPr>
          <p:spPr bwMode="auto">
            <a:xfrm>
              <a:off x="2556" y="3269"/>
              <a:ext cx="241" cy="68"/>
            </a:xfrm>
            <a:prstGeom prst="rect">
              <a:avLst/>
            </a:prstGeom>
            <a:noFill/>
            <a:ln w="9525">
              <a:noFill/>
              <a:miter lim="800000"/>
              <a:headEnd/>
              <a:tailEnd/>
            </a:ln>
          </p:spPr>
          <p:txBody>
            <a:bodyPr wrap="none" lIns="0" tIns="0" rIns="0" bIns="0">
              <a:spAutoFit/>
            </a:bodyPr>
            <a:lstStyle/>
            <a:p>
              <a:r>
                <a:rPr lang="en-US" sz="600">
                  <a:solidFill>
                    <a:schemeClr val="bg1"/>
                  </a:solidFill>
                </a:rPr>
                <a:t>Efficiency</a:t>
              </a:r>
              <a:endParaRPr lang="en-US" sz="1200">
                <a:solidFill>
                  <a:schemeClr val="bg1"/>
                </a:solidFill>
              </a:endParaRPr>
            </a:p>
          </p:txBody>
        </p:sp>
        <p:sp>
          <p:nvSpPr>
            <p:cNvPr id="1396200" name="Rectangle 488"/>
            <p:cNvSpPr>
              <a:spLocks noChangeAspect="1" noChangeArrowheads="1"/>
            </p:cNvSpPr>
            <p:nvPr/>
          </p:nvSpPr>
          <p:spPr bwMode="auto">
            <a:xfrm>
              <a:off x="2544" y="3334"/>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01" name="Rectangle 489"/>
            <p:cNvSpPr>
              <a:spLocks noChangeAspect="1" noChangeArrowheads="1"/>
            </p:cNvSpPr>
            <p:nvPr/>
          </p:nvSpPr>
          <p:spPr bwMode="auto">
            <a:xfrm>
              <a:off x="2582" y="3334"/>
              <a:ext cx="429" cy="68"/>
            </a:xfrm>
            <a:prstGeom prst="rect">
              <a:avLst/>
            </a:prstGeom>
            <a:noFill/>
            <a:ln w="9525">
              <a:noFill/>
              <a:miter lim="800000"/>
              <a:headEnd/>
              <a:tailEnd/>
            </a:ln>
          </p:spPr>
          <p:txBody>
            <a:bodyPr wrap="none" lIns="0" tIns="0" rIns="0" bIns="0">
              <a:spAutoFit/>
            </a:bodyPr>
            <a:lstStyle/>
            <a:p>
              <a:r>
                <a:rPr lang="en-US" sz="600">
                  <a:solidFill>
                    <a:schemeClr val="bg1"/>
                  </a:solidFill>
                </a:rPr>
                <a:t>Security &amp; Safety</a:t>
              </a:r>
              <a:endParaRPr lang="en-US" sz="1200">
                <a:solidFill>
                  <a:schemeClr val="bg1"/>
                </a:solidFill>
              </a:endParaRPr>
            </a:p>
          </p:txBody>
        </p:sp>
        <p:sp>
          <p:nvSpPr>
            <p:cNvPr id="1396202" name="Rectangle 490"/>
            <p:cNvSpPr>
              <a:spLocks noChangeAspect="1" noChangeArrowheads="1"/>
            </p:cNvSpPr>
            <p:nvPr/>
          </p:nvSpPr>
          <p:spPr bwMode="auto">
            <a:xfrm>
              <a:off x="2544" y="3402"/>
              <a:ext cx="20" cy="68"/>
            </a:xfrm>
            <a:prstGeom prst="rect">
              <a:avLst/>
            </a:prstGeom>
            <a:noFill/>
            <a:ln w="9525">
              <a:noFill/>
              <a:miter lim="800000"/>
              <a:headEnd/>
              <a:tailEnd/>
            </a:ln>
          </p:spPr>
          <p:txBody>
            <a:bodyPr wrap="none" lIns="0" tIns="0" rIns="0" bIns="0">
              <a:spAutoFit/>
            </a:bodyPr>
            <a:lstStyle/>
            <a:p>
              <a:r>
                <a:rPr lang="en-US" sz="600">
                  <a:solidFill>
                    <a:srgbClr val="808080"/>
                  </a:solidFill>
                </a:rPr>
                <a:t>•</a:t>
              </a:r>
              <a:endParaRPr lang="en-US" sz="1200"/>
            </a:p>
          </p:txBody>
        </p:sp>
        <p:sp>
          <p:nvSpPr>
            <p:cNvPr id="1396203" name="Rectangle 491"/>
            <p:cNvSpPr>
              <a:spLocks noChangeAspect="1" noChangeArrowheads="1"/>
            </p:cNvSpPr>
            <p:nvPr/>
          </p:nvSpPr>
          <p:spPr bwMode="auto">
            <a:xfrm>
              <a:off x="2576" y="3402"/>
              <a:ext cx="245" cy="68"/>
            </a:xfrm>
            <a:prstGeom prst="rect">
              <a:avLst/>
            </a:prstGeom>
            <a:noFill/>
            <a:ln w="9525">
              <a:noFill/>
              <a:miter lim="800000"/>
              <a:headEnd/>
              <a:tailEnd/>
            </a:ln>
          </p:spPr>
          <p:txBody>
            <a:bodyPr wrap="none" lIns="0" tIns="0" rIns="0" bIns="0">
              <a:spAutoFit/>
            </a:bodyPr>
            <a:lstStyle/>
            <a:p>
              <a:r>
                <a:rPr lang="en-US" sz="600">
                  <a:solidFill>
                    <a:srgbClr val="808080"/>
                  </a:solidFill>
                </a:rPr>
                <a:t>Utilization</a:t>
              </a:r>
              <a:endParaRPr lang="en-US" sz="1200"/>
            </a:p>
          </p:txBody>
        </p:sp>
        <p:sp>
          <p:nvSpPr>
            <p:cNvPr id="1396204" name="Rectangle 492"/>
            <p:cNvSpPr>
              <a:spLocks noChangeAspect="1" noChangeArrowheads="1"/>
            </p:cNvSpPr>
            <p:nvPr/>
          </p:nvSpPr>
          <p:spPr bwMode="auto">
            <a:xfrm>
              <a:off x="2479" y="2952"/>
              <a:ext cx="834" cy="544"/>
            </a:xfrm>
            <a:prstGeom prst="rect">
              <a:avLst/>
            </a:prstGeom>
            <a:solidFill>
              <a:srgbClr val="808080"/>
            </a:solidFill>
            <a:ln w="9525">
              <a:noFill/>
              <a:miter lim="800000"/>
              <a:headEnd/>
              <a:tailEnd/>
            </a:ln>
          </p:spPr>
          <p:txBody>
            <a:bodyPr/>
            <a:lstStyle/>
            <a:p>
              <a:endParaRPr lang="en-US"/>
            </a:p>
          </p:txBody>
        </p:sp>
        <p:sp>
          <p:nvSpPr>
            <p:cNvPr id="1396205" name="Rectangle 493"/>
            <p:cNvSpPr>
              <a:spLocks noChangeAspect="1" noChangeArrowheads="1"/>
            </p:cNvSpPr>
            <p:nvPr/>
          </p:nvSpPr>
          <p:spPr bwMode="auto">
            <a:xfrm>
              <a:off x="2463" y="2936"/>
              <a:ext cx="829" cy="539"/>
            </a:xfrm>
            <a:prstGeom prst="rect">
              <a:avLst/>
            </a:prstGeom>
            <a:solidFill>
              <a:srgbClr val="909DFC"/>
            </a:solidFill>
            <a:ln w="9525">
              <a:solidFill>
                <a:srgbClr val="000000"/>
              </a:solidFill>
              <a:miter lim="800000"/>
              <a:headEnd/>
              <a:tailEnd/>
            </a:ln>
          </p:spPr>
          <p:txBody>
            <a:bodyPr/>
            <a:lstStyle/>
            <a:p>
              <a:endParaRPr lang="en-US"/>
            </a:p>
          </p:txBody>
        </p:sp>
        <p:sp>
          <p:nvSpPr>
            <p:cNvPr id="1396206" name="Rectangle 494"/>
            <p:cNvSpPr>
              <a:spLocks noChangeAspect="1" noChangeArrowheads="1"/>
            </p:cNvSpPr>
            <p:nvPr/>
          </p:nvSpPr>
          <p:spPr bwMode="auto">
            <a:xfrm>
              <a:off x="2549" y="2975"/>
              <a:ext cx="615" cy="79"/>
            </a:xfrm>
            <a:prstGeom prst="rect">
              <a:avLst/>
            </a:prstGeom>
            <a:noFill/>
            <a:ln w="9525">
              <a:noFill/>
              <a:miter lim="800000"/>
              <a:headEnd/>
              <a:tailEnd/>
            </a:ln>
          </p:spPr>
          <p:txBody>
            <a:bodyPr wrap="none" lIns="0" tIns="0" rIns="0" bIns="0">
              <a:spAutoFit/>
            </a:bodyPr>
            <a:lstStyle/>
            <a:p>
              <a:r>
                <a:rPr lang="en-US" sz="700" b="1">
                  <a:solidFill>
                    <a:schemeClr val="bg1"/>
                  </a:solidFill>
                </a:rPr>
                <a:t>Other Fixed Assets </a:t>
              </a:r>
              <a:endParaRPr lang="en-US" sz="1200">
                <a:solidFill>
                  <a:schemeClr val="bg1"/>
                </a:solidFill>
              </a:endParaRPr>
            </a:p>
          </p:txBody>
        </p:sp>
        <p:grpSp>
          <p:nvGrpSpPr>
            <p:cNvPr id="1396207" name="Group 495"/>
            <p:cNvGrpSpPr>
              <a:grpSpLocks noChangeAspect="1"/>
            </p:cNvGrpSpPr>
            <p:nvPr/>
          </p:nvGrpSpPr>
          <p:grpSpPr bwMode="auto">
            <a:xfrm>
              <a:off x="2505" y="3132"/>
              <a:ext cx="684" cy="323"/>
              <a:chOff x="2505" y="3132"/>
              <a:chExt cx="684" cy="323"/>
            </a:xfrm>
          </p:grpSpPr>
          <p:sp>
            <p:nvSpPr>
              <p:cNvPr id="1396208" name="Rectangle 496"/>
              <p:cNvSpPr>
                <a:spLocks noChangeAspect="1" noChangeArrowheads="1"/>
              </p:cNvSpPr>
              <p:nvPr/>
            </p:nvSpPr>
            <p:spPr bwMode="auto">
              <a:xfrm>
                <a:off x="2506" y="3134"/>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09" name="Rectangle 497"/>
              <p:cNvSpPr>
                <a:spLocks noChangeAspect="1" noChangeArrowheads="1"/>
              </p:cNvSpPr>
              <p:nvPr/>
            </p:nvSpPr>
            <p:spPr bwMode="auto">
              <a:xfrm>
                <a:off x="2574" y="3132"/>
                <a:ext cx="241" cy="67"/>
              </a:xfrm>
              <a:prstGeom prst="rect">
                <a:avLst/>
              </a:prstGeom>
              <a:noFill/>
              <a:ln w="9525">
                <a:noFill/>
                <a:miter lim="800000"/>
                <a:headEnd/>
                <a:tailEnd/>
              </a:ln>
            </p:spPr>
            <p:txBody>
              <a:bodyPr wrap="none" lIns="0" tIns="0" rIns="0" bIns="0">
                <a:spAutoFit/>
              </a:bodyPr>
              <a:lstStyle/>
              <a:p>
                <a:r>
                  <a:rPr lang="en-US" sz="600" b="1">
                    <a:solidFill>
                      <a:schemeClr val="bg1"/>
                    </a:solidFill>
                  </a:rPr>
                  <a:t>Financial</a:t>
                </a:r>
                <a:endParaRPr lang="en-US" sz="1200" b="1">
                  <a:solidFill>
                    <a:schemeClr val="bg1"/>
                  </a:solidFill>
                </a:endParaRPr>
              </a:p>
            </p:txBody>
          </p:sp>
          <p:sp>
            <p:nvSpPr>
              <p:cNvPr id="1396210" name="Rectangle 498"/>
              <p:cNvSpPr>
                <a:spLocks noChangeAspect="1" noChangeArrowheads="1"/>
              </p:cNvSpPr>
              <p:nvPr/>
            </p:nvSpPr>
            <p:spPr bwMode="auto">
              <a:xfrm>
                <a:off x="2506" y="3198"/>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11" name="Rectangle 499"/>
              <p:cNvSpPr>
                <a:spLocks noChangeAspect="1" noChangeArrowheads="1"/>
              </p:cNvSpPr>
              <p:nvPr/>
            </p:nvSpPr>
            <p:spPr bwMode="auto">
              <a:xfrm>
                <a:off x="2543" y="3198"/>
                <a:ext cx="646" cy="68"/>
              </a:xfrm>
              <a:prstGeom prst="rect">
                <a:avLst/>
              </a:prstGeom>
              <a:noFill/>
              <a:ln w="9525">
                <a:noFill/>
                <a:miter lim="800000"/>
                <a:headEnd/>
                <a:tailEnd/>
              </a:ln>
            </p:spPr>
            <p:txBody>
              <a:bodyPr wrap="none" lIns="0" tIns="0" rIns="0" bIns="0">
                <a:spAutoFit/>
              </a:bodyPr>
              <a:lstStyle/>
              <a:p>
                <a:r>
                  <a:rPr lang="en-US" sz="600" b="1">
                    <a:solidFill>
                      <a:schemeClr val="bg1"/>
                    </a:solidFill>
                  </a:rPr>
                  <a:t>Quality, Maintenance, &amp; </a:t>
                </a:r>
                <a:endParaRPr lang="en-US" sz="1200" b="1">
                  <a:solidFill>
                    <a:schemeClr val="bg1"/>
                  </a:solidFill>
                </a:endParaRPr>
              </a:p>
            </p:txBody>
          </p:sp>
          <p:sp>
            <p:nvSpPr>
              <p:cNvPr id="1396212" name="Rectangle 500"/>
              <p:cNvSpPr>
                <a:spLocks noChangeAspect="1" noChangeArrowheads="1"/>
              </p:cNvSpPr>
              <p:nvPr/>
            </p:nvSpPr>
            <p:spPr bwMode="auto">
              <a:xfrm>
                <a:off x="2570" y="3261"/>
                <a:ext cx="265" cy="68"/>
              </a:xfrm>
              <a:prstGeom prst="rect">
                <a:avLst/>
              </a:prstGeom>
              <a:noFill/>
              <a:ln w="9525">
                <a:noFill/>
                <a:miter lim="800000"/>
                <a:headEnd/>
                <a:tailEnd/>
              </a:ln>
            </p:spPr>
            <p:txBody>
              <a:bodyPr wrap="none" lIns="0" tIns="0" rIns="0" bIns="0">
                <a:spAutoFit/>
              </a:bodyPr>
              <a:lstStyle/>
              <a:p>
                <a:r>
                  <a:rPr lang="en-US" sz="600" b="1">
                    <a:solidFill>
                      <a:schemeClr val="bg1"/>
                    </a:solidFill>
                  </a:rPr>
                  <a:t>Efficiency</a:t>
                </a:r>
                <a:endParaRPr lang="en-US" sz="1200" b="1">
                  <a:solidFill>
                    <a:schemeClr val="bg1"/>
                  </a:solidFill>
                </a:endParaRPr>
              </a:p>
            </p:txBody>
          </p:sp>
          <p:sp>
            <p:nvSpPr>
              <p:cNvPr id="1396213" name="Rectangle 501"/>
              <p:cNvSpPr>
                <a:spLocks noChangeAspect="1" noChangeArrowheads="1"/>
              </p:cNvSpPr>
              <p:nvPr/>
            </p:nvSpPr>
            <p:spPr bwMode="auto">
              <a:xfrm>
                <a:off x="2506" y="3319"/>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14" name="Rectangle 502"/>
              <p:cNvSpPr>
                <a:spLocks noChangeAspect="1" noChangeArrowheads="1"/>
              </p:cNvSpPr>
              <p:nvPr/>
            </p:nvSpPr>
            <p:spPr bwMode="auto">
              <a:xfrm>
                <a:off x="2556" y="3319"/>
                <a:ext cx="463" cy="68"/>
              </a:xfrm>
              <a:prstGeom prst="rect">
                <a:avLst/>
              </a:prstGeom>
              <a:noFill/>
              <a:ln w="9525">
                <a:noFill/>
                <a:miter lim="800000"/>
                <a:headEnd/>
                <a:tailEnd/>
              </a:ln>
            </p:spPr>
            <p:txBody>
              <a:bodyPr wrap="none" lIns="0" tIns="0" rIns="0" bIns="0">
                <a:spAutoFit/>
              </a:bodyPr>
              <a:lstStyle/>
              <a:p>
                <a:r>
                  <a:rPr lang="en-US" sz="600" b="1">
                    <a:solidFill>
                      <a:schemeClr val="bg1"/>
                    </a:solidFill>
                  </a:rPr>
                  <a:t>Security &amp; Safety</a:t>
                </a:r>
                <a:endParaRPr lang="en-US" sz="1200" b="1">
                  <a:solidFill>
                    <a:schemeClr val="bg1"/>
                  </a:solidFill>
                </a:endParaRPr>
              </a:p>
            </p:txBody>
          </p:sp>
          <p:sp>
            <p:nvSpPr>
              <p:cNvPr id="1396215" name="Rectangle 503"/>
              <p:cNvSpPr>
                <a:spLocks noChangeAspect="1" noChangeArrowheads="1"/>
              </p:cNvSpPr>
              <p:nvPr/>
            </p:nvSpPr>
            <p:spPr bwMode="auto">
              <a:xfrm>
                <a:off x="2505" y="3387"/>
                <a:ext cx="20" cy="68"/>
              </a:xfrm>
              <a:prstGeom prst="rect">
                <a:avLst/>
              </a:prstGeom>
              <a:no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16" name="Rectangle 504"/>
              <p:cNvSpPr>
                <a:spLocks noChangeAspect="1" noChangeArrowheads="1"/>
              </p:cNvSpPr>
              <p:nvPr/>
            </p:nvSpPr>
            <p:spPr bwMode="auto">
              <a:xfrm>
                <a:off x="2570" y="3387"/>
                <a:ext cx="266" cy="68"/>
              </a:xfrm>
              <a:prstGeom prst="rect">
                <a:avLst/>
              </a:prstGeom>
              <a:noFill/>
              <a:ln w="9525">
                <a:noFill/>
                <a:miter lim="800000"/>
                <a:headEnd/>
                <a:tailEnd/>
              </a:ln>
            </p:spPr>
            <p:txBody>
              <a:bodyPr wrap="none" lIns="0" tIns="0" rIns="0" bIns="0">
                <a:spAutoFit/>
              </a:bodyPr>
              <a:lstStyle/>
              <a:p>
                <a:r>
                  <a:rPr lang="en-US" sz="600" b="1">
                    <a:solidFill>
                      <a:schemeClr val="bg1"/>
                    </a:solidFill>
                  </a:rPr>
                  <a:t>Utilization</a:t>
                </a:r>
                <a:endParaRPr lang="en-US" sz="1200" b="1">
                  <a:solidFill>
                    <a:schemeClr val="bg1"/>
                  </a:solidFill>
                </a:endParaRPr>
              </a:p>
            </p:txBody>
          </p:sp>
        </p:grpSp>
        <p:sp>
          <p:nvSpPr>
            <p:cNvPr id="1396217" name="Rectangle 505"/>
            <p:cNvSpPr>
              <a:spLocks noChangeAspect="1" noChangeArrowheads="1"/>
            </p:cNvSpPr>
            <p:nvPr/>
          </p:nvSpPr>
          <p:spPr bwMode="auto">
            <a:xfrm>
              <a:off x="1070" y="3003"/>
              <a:ext cx="213" cy="79"/>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People</a:t>
              </a:r>
              <a:endParaRPr lang="en-US" sz="1200">
                <a:solidFill>
                  <a:schemeClr val="bg1"/>
                </a:solidFill>
              </a:endParaRPr>
            </a:p>
          </p:txBody>
        </p:sp>
        <p:sp>
          <p:nvSpPr>
            <p:cNvPr id="1396218" name="Rectangle 506"/>
            <p:cNvSpPr>
              <a:spLocks noChangeAspect="1" noChangeArrowheads="1"/>
            </p:cNvSpPr>
            <p:nvPr/>
          </p:nvSpPr>
          <p:spPr bwMode="auto">
            <a:xfrm>
              <a:off x="801" y="3103"/>
              <a:ext cx="20"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19" name="Rectangle 507"/>
            <p:cNvSpPr>
              <a:spLocks noChangeAspect="1" noChangeArrowheads="1"/>
            </p:cNvSpPr>
            <p:nvPr/>
          </p:nvSpPr>
          <p:spPr bwMode="auto">
            <a:xfrm>
              <a:off x="851" y="3103"/>
              <a:ext cx="625"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Employee Satisfaction &amp; </a:t>
              </a:r>
              <a:endParaRPr lang="en-US" sz="1200">
                <a:solidFill>
                  <a:schemeClr val="bg1"/>
                </a:solidFill>
              </a:endParaRPr>
            </a:p>
          </p:txBody>
        </p:sp>
        <p:sp>
          <p:nvSpPr>
            <p:cNvPr id="1396220" name="Rectangle 508"/>
            <p:cNvSpPr>
              <a:spLocks noChangeAspect="1" noChangeArrowheads="1"/>
            </p:cNvSpPr>
            <p:nvPr/>
          </p:nvSpPr>
          <p:spPr bwMode="auto">
            <a:xfrm>
              <a:off x="826" y="3158"/>
              <a:ext cx="455"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Quality of Worklife</a:t>
              </a:r>
              <a:endParaRPr lang="en-US" sz="1200">
                <a:solidFill>
                  <a:schemeClr val="bg1"/>
                </a:solidFill>
              </a:endParaRPr>
            </a:p>
          </p:txBody>
        </p:sp>
        <p:sp>
          <p:nvSpPr>
            <p:cNvPr id="1396221" name="Rectangle 509"/>
            <p:cNvSpPr>
              <a:spLocks noChangeAspect="1" noChangeArrowheads="1"/>
            </p:cNvSpPr>
            <p:nvPr/>
          </p:nvSpPr>
          <p:spPr bwMode="auto">
            <a:xfrm>
              <a:off x="801" y="3226"/>
              <a:ext cx="20"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22" name="Rectangle 510"/>
            <p:cNvSpPr>
              <a:spLocks noChangeAspect="1" noChangeArrowheads="1"/>
            </p:cNvSpPr>
            <p:nvPr/>
          </p:nvSpPr>
          <p:spPr bwMode="auto">
            <a:xfrm>
              <a:off x="850" y="3226"/>
              <a:ext cx="613"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Recruitment &amp; Retention</a:t>
              </a:r>
              <a:endParaRPr lang="en-US" sz="1200">
                <a:solidFill>
                  <a:schemeClr val="bg1"/>
                </a:solidFill>
              </a:endParaRPr>
            </a:p>
          </p:txBody>
        </p:sp>
        <p:sp>
          <p:nvSpPr>
            <p:cNvPr id="1396223" name="Rectangle 511"/>
            <p:cNvSpPr>
              <a:spLocks noChangeAspect="1" noChangeArrowheads="1"/>
            </p:cNvSpPr>
            <p:nvPr/>
          </p:nvSpPr>
          <p:spPr bwMode="auto">
            <a:xfrm>
              <a:off x="801" y="3294"/>
              <a:ext cx="20"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24" name="Rectangle 512"/>
            <p:cNvSpPr>
              <a:spLocks noChangeAspect="1" noChangeArrowheads="1"/>
            </p:cNvSpPr>
            <p:nvPr/>
          </p:nvSpPr>
          <p:spPr bwMode="auto">
            <a:xfrm>
              <a:off x="850" y="3294"/>
              <a:ext cx="599"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Employee Development</a:t>
              </a:r>
              <a:endParaRPr lang="en-US" sz="1200">
                <a:solidFill>
                  <a:schemeClr val="bg1"/>
                </a:solidFill>
              </a:endParaRPr>
            </a:p>
          </p:txBody>
        </p:sp>
        <p:sp>
          <p:nvSpPr>
            <p:cNvPr id="1396225" name="Rectangle 513"/>
            <p:cNvSpPr>
              <a:spLocks noChangeAspect="1" noChangeArrowheads="1"/>
            </p:cNvSpPr>
            <p:nvPr/>
          </p:nvSpPr>
          <p:spPr bwMode="auto">
            <a:xfrm>
              <a:off x="722" y="2972"/>
              <a:ext cx="829" cy="462"/>
            </a:xfrm>
            <a:prstGeom prst="rect">
              <a:avLst/>
            </a:prstGeom>
            <a:solidFill>
              <a:srgbClr val="909DFC"/>
            </a:solidFill>
            <a:ln w="9525">
              <a:solidFill>
                <a:srgbClr val="000000"/>
              </a:solidFill>
              <a:miter lim="800000"/>
              <a:headEnd/>
              <a:tailEnd/>
            </a:ln>
          </p:spPr>
          <p:txBody>
            <a:bodyPr/>
            <a:lstStyle/>
            <a:p>
              <a:endParaRPr lang="en-US"/>
            </a:p>
          </p:txBody>
        </p:sp>
        <p:sp>
          <p:nvSpPr>
            <p:cNvPr id="1396226" name="Rectangle 514"/>
            <p:cNvSpPr>
              <a:spLocks noChangeAspect="1" noChangeArrowheads="1"/>
            </p:cNvSpPr>
            <p:nvPr/>
          </p:nvSpPr>
          <p:spPr bwMode="auto">
            <a:xfrm>
              <a:off x="1056" y="2988"/>
              <a:ext cx="213" cy="78"/>
            </a:xfrm>
            <a:prstGeom prst="rect">
              <a:avLst/>
            </a:prstGeom>
            <a:solidFill>
              <a:srgbClr val="909DFC"/>
            </a:solidFill>
            <a:ln w="9525">
              <a:noFill/>
              <a:miter lim="800000"/>
              <a:headEnd/>
              <a:tailEnd/>
            </a:ln>
          </p:spPr>
          <p:txBody>
            <a:bodyPr wrap="none" lIns="0" tIns="0" rIns="0" bIns="0">
              <a:spAutoFit/>
            </a:bodyPr>
            <a:lstStyle/>
            <a:p>
              <a:r>
                <a:rPr lang="en-US" sz="700" b="1">
                  <a:solidFill>
                    <a:schemeClr val="bg1"/>
                  </a:solidFill>
                </a:rPr>
                <a:t>People</a:t>
              </a:r>
              <a:endParaRPr lang="en-US" sz="1200">
                <a:solidFill>
                  <a:schemeClr val="bg1"/>
                </a:solidFill>
              </a:endParaRPr>
            </a:p>
          </p:txBody>
        </p:sp>
        <p:grpSp>
          <p:nvGrpSpPr>
            <p:cNvPr id="1396227" name="Group 515"/>
            <p:cNvGrpSpPr>
              <a:grpSpLocks noChangeAspect="1"/>
            </p:cNvGrpSpPr>
            <p:nvPr/>
          </p:nvGrpSpPr>
          <p:grpSpPr bwMode="auto">
            <a:xfrm>
              <a:off x="752" y="3086"/>
              <a:ext cx="715" cy="327"/>
              <a:chOff x="752" y="3086"/>
              <a:chExt cx="715" cy="327"/>
            </a:xfrm>
          </p:grpSpPr>
          <p:sp>
            <p:nvSpPr>
              <p:cNvPr id="1396228" name="Rectangle 516"/>
              <p:cNvSpPr>
                <a:spLocks noChangeAspect="1" noChangeArrowheads="1"/>
              </p:cNvSpPr>
              <p:nvPr/>
            </p:nvSpPr>
            <p:spPr bwMode="auto">
              <a:xfrm>
                <a:off x="753" y="3086"/>
                <a:ext cx="20"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29" name="Rectangle 517"/>
              <p:cNvSpPr>
                <a:spLocks noChangeAspect="1" noChangeArrowheads="1"/>
              </p:cNvSpPr>
              <p:nvPr/>
            </p:nvSpPr>
            <p:spPr bwMode="auto">
              <a:xfrm>
                <a:off x="797" y="3086"/>
                <a:ext cx="670" cy="68"/>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Employee Satisfaction &amp; </a:t>
                </a:r>
                <a:endParaRPr lang="en-US" sz="1200" b="1">
                  <a:solidFill>
                    <a:schemeClr val="bg1"/>
                  </a:solidFill>
                </a:endParaRPr>
              </a:p>
            </p:txBody>
          </p:sp>
          <p:sp>
            <p:nvSpPr>
              <p:cNvPr id="1396230" name="Rectangle 518"/>
              <p:cNvSpPr>
                <a:spLocks noChangeAspect="1" noChangeArrowheads="1"/>
              </p:cNvSpPr>
              <p:nvPr/>
            </p:nvSpPr>
            <p:spPr bwMode="auto">
              <a:xfrm>
                <a:off x="812" y="3143"/>
                <a:ext cx="492" cy="68"/>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Quality of Worklife</a:t>
                </a:r>
                <a:endParaRPr lang="en-US" sz="1200" b="1">
                  <a:solidFill>
                    <a:schemeClr val="bg1"/>
                  </a:solidFill>
                </a:endParaRPr>
              </a:p>
            </p:txBody>
          </p:sp>
          <p:sp>
            <p:nvSpPr>
              <p:cNvPr id="1396231" name="Rectangle 519"/>
              <p:cNvSpPr>
                <a:spLocks noChangeAspect="1" noChangeArrowheads="1"/>
              </p:cNvSpPr>
              <p:nvPr/>
            </p:nvSpPr>
            <p:spPr bwMode="auto">
              <a:xfrm>
                <a:off x="753" y="3212"/>
                <a:ext cx="20"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32" name="Rectangle 520"/>
              <p:cNvSpPr>
                <a:spLocks noChangeAspect="1" noChangeArrowheads="1"/>
              </p:cNvSpPr>
              <p:nvPr/>
            </p:nvSpPr>
            <p:spPr bwMode="auto">
              <a:xfrm>
                <a:off x="800" y="3212"/>
                <a:ext cx="657" cy="68"/>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Recruitment &amp; Retention</a:t>
                </a:r>
                <a:endParaRPr lang="en-US" sz="1200" b="1">
                  <a:solidFill>
                    <a:schemeClr val="bg1"/>
                  </a:solidFill>
                </a:endParaRPr>
              </a:p>
            </p:txBody>
          </p:sp>
          <p:sp>
            <p:nvSpPr>
              <p:cNvPr id="1396233" name="Rectangle 521"/>
              <p:cNvSpPr>
                <a:spLocks noChangeAspect="1" noChangeArrowheads="1"/>
              </p:cNvSpPr>
              <p:nvPr/>
            </p:nvSpPr>
            <p:spPr bwMode="auto">
              <a:xfrm>
                <a:off x="753" y="3279"/>
                <a:ext cx="20" cy="67"/>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34" name="Rectangle 522"/>
              <p:cNvSpPr>
                <a:spLocks noChangeAspect="1" noChangeArrowheads="1"/>
              </p:cNvSpPr>
              <p:nvPr/>
            </p:nvSpPr>
            <p:spPr bwMode="auto">
              <a:xfrm>
                <a:off x="800" y="3279"/>
                <a:ext cx="633" cy="67"/>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Employee Development</a:t>
                </a:r>
                <a:endParaRPr lang="en-US" sz="1200" b="1">
                  <a:solidFill>
                    <a:schemeClr val="bg1"/>
                  </a:solidFill>
                </a:endParaRPr>
              </a:p>
            </p:txBody>
          </p:sp>
          <p:sp>
            <p:nvSpPr>
              <p:cNvPr id="1396235" name="Rectangle 523"/>
              <p:cNvSpPr>
                <a:spLocks noChangeAspect="1" noChangeArrowheads="1"/>
              </p:cNvSpPr>
              <p:nvPr/>
            </p:nvSpPr>
            <p:spPr bwMode="auto">
              <a:xfrm>
                <a:off x="752" y="3345"/>
                <a:ext cx="20" cy="68"/>
              </a:xfrm>
              <a:prstGeom prst="rect">
                <a:avLst/>
              </a:prstGeom>
              <a:solidFill>
                <a:srgbClr val="909DFC"/>
              </a:solidFill>
              <a:ln w="9525">
                <a:noFill/>
                <a:miter lim="800000"/>
                <a:headEnd/>
                <a:tailEnd/>
              </a:ln>
            </p:spPr>
            <p:txBody>
              <a:bodyPr wrap="none" lIns="0" tIns="0" rIns="0" bIns="0">
                <a:spAutoFit/>
              </a:bodyPr>
              <a:lstStyle/>
              <a:p>
                <a:r>
                  <a:rPr lang="en-US" sz="600">
                    <a:solidFill>
                      <a:schemeClr val="bg1"/>
                    </a:solidFill>
                  </a:rPr>
                  <a:t>•</a:t>
                </a:r>
                <a:endParaRPr lang="en-US" sz="1200">
                  <a:solidFill>
                    <a:schemeClr val="bg1"/>
                  </a:solidFill>
                </a:endParaRPr>
              </a:p>
            </p:txBody>
          </p:sp>
          <p:sp>
            <p:nvSpPr>
              <p:cNvPr id="1396236" name="Rectangle 524"/>
              <p:cNvSpPr>
                <a:spLocks noChangeAspect="1" noChangeArrowheads="1"/>
              </p:cNvSpPr>
              <p:nvPr/>
            </p:nvSpPr>
            <p:spPr bwMode="auto">
              <a:xfrm>
                <a:off x="813" y="3345"/>
                <a:ext cx="452" cy="68"/>
              </a:xfrm>
              <a:prstGeom prst="rect">
                <a:avLst/>
              </a:prstGeom>
              <a:solidFill>
                <a:srgbClr val="909DFC"/>
              </a:solidFill>
              <a:ln w="9525">
                <a:noFill/>
                <a:miter lim="800000"/>
                <a:headEnd/>
                <a:tailEnd/>
              </a:ln>
            </p:spPr>
            <p:txBody>
              <a:bodyPr wrap="none" lIns="0" tIns="0" rIns="0" bIns="0">
                <a:spAutoFit/>
              </a:bodyPr>
              <a:lstStyle/>
              <a:p>
                <a:r>
                  <a:rPr lang="en-US" sz="600" b="1">
                    <a:solidFill>
                      <a:schemeClr val="bg1"/>
                    </a:solidFill>
                  </a:rPr>
                  <a:t>Employee Ratios</a:t>
                </a:r>
                <a:endParaRPr lang="en-US" sz="1200" b="1">
                  <a:solidFill>
                    <a:schemeClr val="bg1"/>
                  </a:solidFill>
                </a:endParaRPr>
              </a:p>
            </p:txBody>
          </p:sp>
        </p:grpSp>
        <p:sp>
          <p:nvSpPr>
            <p:cNvPr id="1396237" name="Freeform 525"/>
            <p:cNvSpPr>
              <a:spLocks noChangeAspect="1"/>
            </p:cNvSpPr>
            <p:nvPr/>
          </p:nvSpPr>
          <p:spPr bwMode="auto">
            <a:xfrm>
              <a:off x="1634" y="2568"/>
              <a:ext cx="705" cy="285"/>
            </a:xfrm>
            <a:custGeom>
              <a:avLst/>
              <a:gdLst/>
              <a:ahLst/>
              <a:cxnLst>
                <a:cxn ang="0">
                  <a:pos x="0" y="228"/>
                </a:cxn>
                <a:cxn ang="0">
                  <a:pos x="176" y="228"/>
                </a:cxn>
                <a:cxn ang="0">
                  <a:pos x="176" y="285"/>
                </a:cxn>
                <a:cxn ang="0">
                  <a:pos x="529" y="285"/>
                </a:cxn>
                <a:cxn ang="0">
                  <a:pos x="529" y="228"/>
                </a:cxn>
                <a:cxn ang="0">
                  <a:pos x="705" y="228"/>
                </a:cxn>
                <a:cxn ang="0">
                  <a:pos x="352" y="0"/>
                </a:cxn>
                <a:cxn ang="0">
                  <a:pos x="0" y="228"/>
                </a:cxn>
              </a:cxnLst>
              <a:rect l="0" t="0" r="r" b="b"/>
              <a:pathLst>
                <a:path w="705" h="285">
                  <a:moveTo>
                    <a:pt x="0" y="228"/>
                  </a:moveTo>
                  <a:lnTo>
                    <a:pt x="176" y="228"/>
                  </a:lnTo>
                  <a:lnTo>
                    <a:pt x="176" y="285"/>
                  </a:lnTo>
                  <a:lnTo>
                    <a:pt x="529" y="285"/>
                  </a:lnTo>
                  <a:lnTo>
                    <a:pt x="529" y="228"/>
                  </a:lnTo>
                  <a:lnTo>
                    <a:pt x="705" y="228"/>
                  </a:lnTo>
                  <a:lnTo>
                    <a:pt x="352" y="0"/>
                  </a:lnTo>
                  <a:lnTo>
                    <a:pt x="0" y="228"/>
                  </a:lnTo>
                  <a:close/>
                </a:path>
              </a:pathLst>
            </a:custGeom>
            <a:solidFill>
              <a:srgbClr val="CCCCFF"/>
            </a:solidFill>
            <a:ln w="9525" cap="rnd">
              <a:solidFill>
                <a:srgbClr val="000000"/>
              </a:solidFill>
              <a:prstDash val="solid"/>
              <a:round/>
              <a:headEnd/>
              <a:tailEnd/>
            </a:ln>
          </p:spPr>
          <p:txBody>
            <a:bodyPr/>
            <a:lstStyle/>
            <a:p>
              <a:endParaRPr lang="en-US"/>
            </a:p>
          </p:txBody>
        </p:sp>
        <p:sp>
          <p:nvSpPr>
            <p:cNvPr id="1396238" name="Rectangle 526"/>
            <p:cNvSpPr>
              <a:spLocks noChangeAspect="1" noChangeArrowheads="1"/>
            </p:cNvSpPr>
            <p:nvPr/>
          </p:nvSpPr>
          <p:spPr bwMode="auto">
            <a:xfrm>
              <a:off x="1381" y="1142"/>
              <a:ext cx="509" cy="100"/>
            </a:xfrm>
            <a:prstGeom prst="rect">
              <a:avLst/>
            </a:prstGeom>
            <a:noFill/>
            <a:ln w="9525">
              <a:noFill/>
              <a:miter lim="800000"/>
              <a:headEnd/>
              <a:tailEnd/>
            </a:ln>
          </p:spPr>
          <p:txBody>
            <a:bodyPr wrap="none" lIns="0" tIns="0" rIns="0" bIns="0">
              <a:spAutoFit/>
            </a:bodyPr>
            <a:lstStyle/>
            <a:p>
              <a:r>
                <a:rPr lang="en-US" sz="900" b="1">
                  <a:solidFill>
                    <a:srgbClr val="808080"/>
                  </a:solidFill>
                </a:rPr>
                <a:t>Mission and </a:t>
              </a:r>
              <a:endParaRPr lang="en-US" sz="1600"/>
            </a:p>
          </p:txBody>
        </p:sp>
        <p:sp>
          <p:nvSpPr>
            <p:cNvPr id="1396239" name="Rectangle 527"/>
            <p:cNvSpPr>
              <a:spLocks noChangeAspect="1" noChangeArrowheads="1"/>
            </p:cNvSpPr>
            <p:nvPr/>
          </p:nvSpPr>
          <p:spPr bwMode="auto">
            <a:xfrm>
              <a:off x="1430" y="1220"/>
              <a:ext cx="397" cy="100"/>
            </a:xfrm>
            <a:prstGeom prst="rect">
              <a:avLst/>
            </a:prstGeom>
            <a:noFill/>
            <a:ln w="9525">
              <a:noFill/>
              <a:miter lim="800000"/>
              <a:headEnd/>
              <a:tailEnd/>
            </a:ln>
          </p:spPr>
          <p:txBody>
            <a:bodyPr wrap="none" lIns="0" tIns="0" rIns="0" bIns="0">
              <a:spAutoFit/>
            </a:bodyPr>
            <a:lstStyle/>
            <a:p>
              <a:r>
                <a:rPr lang="en-US" sz="900" b="1">
                  <a:solidFill>
                    <a:schemeClr val="bg1"/>
                  </a:solidFill>
                </a:rPr>
                <a:t>Business </a:t>
              </a:r>
              <a:endParaRPr lang="en-US" sz="1600">
                <a:solidFill>
                  <a:schemeClr val="bg1"/>
                </a:solidFill>
              </a:endParaRPr>
            </a:p>
          </p:txBody>
        </p:sp>
        <p:sp>
          <p:nvSpPr>
            <p:cNvPr id="1396240" name="Rectangle 528"/>
            <p:cNvSpPr>
              <a:spLocks noChangeAspect="1" noChangeArrowheads="1"/>
            </p:cNvSpPr>
            <p:nvPr/>
          </p:nvSpPr>
          <p:spPr bwMode="auto">
            <a:xfrm>
              <a:off x="1463" y="1298"/>
              <a:ext cx="304" cy="100"/>
            </a:xfrm>
            <a:prstGeom prst="rect">
              <a:avLst/>
            </a:prstGeom>
            <a:noFill/>
            <a:ln w="9525">
              <a:noFill/>
              <a:miter lim="800000"/>
              <a:headEnd/>
              <a:tailEnd/>
            </a:ln>
          </p:spPr>
          <p:txBody>
            <a:bodyPr wrap="none" lIns="0" tIns="0" rIns="0" bIns="0">
              <a:spAutoFit/>
            </a:bodyPr>
            <a:lstStyle/>
            <a:p>
              <a:r>
                <a:rPr lang="en-US" sz="900" b="1">
                  <a:solidFill>
                    <a:schemeClr val="bg1"/>
                  </a:solidFill>
                </a:rPr>
                <a:t>Results</a:t>
              </a:r>
              <a:endParaRPr lang="en-US" sz="1600">
                <a:solidFill>
                  <a:schemeClr val="bg1"/>
                </a:solidFill>
              </a:endParaRPr>
            </a:p>
          </p:txBody>
        </p:sp>
        <p:sp>
          <p:nvSpPr>
            <p:cNvPr id="1396241" name="Rectangle 529"/>
            <p:cNvSpPr>
              <a:spLocks noChangeAspect="1" noChangeArrowheads="1"/>
            </p:cNvSpPr>
            <p:nvPr/>
          </p:nvSpPr>
          <p:spPr bwMode="auto">
            <a:xfrm>
              <a:off x="1275" y="1402"/>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242" name="Rectangle 530"/>
            <p:cNvSpPr>
              <a:spLocks noChangeAspect="1" noChangeArrowheads="1"/>
            </p:cNvSpPr>
            <p:nvPr/>
          </p:nvSpPr>
          <p:spPr bwMode="auto">
            <a:xfrm>
              <a:off x="1350" y="1402"/>
              <a:ext cx="456"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Services for Citizens</a:t>
              </a:r>
              <a:endParaRPr lang="en-US" sz="1200" b="1">
                <a:solidFill>
                  <a:schemeClr val="bg1"/>
                </a:solidFill>
              </a:endParaRPr>
            </a:p>
          </p:txBody>
        </p:sp>
        <p:sp>
          <p:nvSpPr>
            <p:cNvPr id="1396243" name="Rectangle 531"/>
            <p:cNvSpPr>
              <a:spLocks noChangeAspect="1" noChangeArrowheads="1"/>
            </p:cNvSpPr>
            <p:nvPr/>
          </p:nvSpPr>
          <p:spPr bwMode="auto">
            <a:xfrm>
              <a:off x="1275" y="1469"/>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244" name="Rectangle 532"/>
            <p:cNvSpPr>
              <a:spLocks noChangeAspect="1" noChangeArrowheads="1"/>
            </p:cNvSpPr>
            <p:nvPr/>
          </p:nvSpPr>
          <p:spPr bwMode="auto">
            <a:xfrm>
              <a:off x="1345" y="1469"/>
              <a:ext cx="440" cy="56"/>
            </a:xfrm>
            <a:prstGeom prst="rect">
              <a:avLst/>
            </a:prstGeom>
            <a:noFill/>
            <a:ln w="9525">
              <a:noFill/>
              <a:miter lim="800000"/>
              <a:headEnd/>
              <a:tailEnd/>
            </a:ln>
          </p:spPr>
          <p:txBody>
            <a:bodyPr wrap="none" lIns="0" tIns="0" rIns="0" bIns="0">
              <a:spAutoFit/>
            </a:bodyPr>
            <a:lstStyle/>
            <a:p>
              <a:r>
                <a:rPr lang="en-US" sz="500" b="1">
                  <a:solidFill>
                    <a:schemeClr val="bg1"/>
                  </a:solidFill>
                </a:rPr>
                <a:t>Support Delivery of </a:t>
              </a:r>
              <a:endParaRPr lang="en-US" sz="1200" b="1">
                <a:solidFill>
                  <a:schemeClr val="bg1"/>
                </a:solidFill>
              </a:endParaRPr>
            </a:p>
          </p:txBody>
        </p:sp>
        <p:sp>
          <p:nvSpPr>
            <p:cNvPr id="1396245" name="Rectangle 533"/>
            <p:cNvSpPr>
              <a:spLocks noChangeAspect="1" noChangeArrowheads="1"/>
            </p:cNvSpPr>
            <p:nvPr/>
          </p:nvSpPr>
          <p:spPr bwMode="auto">
            <a:xfrm>
              <a:off x="1297" y="1525"/>
              <a:ext cx="192"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Services</a:t>
              </a:r>
              <a:endParaRPr lang="en-US" sz="1200" b="1">
                <a:solidFill>
                  <a:schemeClr val="bg1"/>
                </a:solidFill>
              </a:endParaRPr>
            </a:p>
          </p:txBody>
        </p:sp>
        <p:sp>
          <p:nvSpPr>
            <p:cNvPr id="1396246" name="Rectangle 534"/>
            <p:cNvSpPr>
              <a:spLocks noChangeAspect="1" noChangeArrowheads="1"/>
            </p:cNvSpPr>
            <p:nvPr/>
          </p:nvSpPr>
          <p:spPr bwMode="auto">
            <a:xfrm>
              <a:off x="1275" y="1588"/>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247" name="Rectangle 535"/>
            <p:cNvSpPr>
              <a:spLocks noChangeAspect="1" noChangeArrowheads="1"/>
            </p:cNvSpPr>
            <p:nvPr/>
          </p:nvSpPr>
          <p:spPr bwMode="auto">
            <a:xfrm>
              <a:off x="1344" y="1588"/>
              <a:ext cx="351" cy="56"/>
            </a:xfrm>
            <a:prstGeom prst="rect">
              <a:avLst/>
            </a:prstGeom>
            <a:noFill/>
            <a:ln w="9525">
              <a:noFill/>
              <a:miter lim="800000"/>
              <a:headEnd/>
              <a:tailEnd/>
            </a:ln>
          </p:spPr>
          <p:txBody>
            <a:bodyPr wrap="none" lIns="0" tIns="0" rIns="0" bIns="0">
              <a:spAutoFit/>
            </a:bodyPr>
            <a:lstStyle/>
            <a:p>
              <a:r>
                <a:rPr lang="en-US" sz="500" b="1">
                  <a:solidFill>
                    <a:schemeClr val="bg1"/>
                  </a:solidFill>
                </a:rPr>
                <a:t>Management of </a:t>
              </a:r>
              <a:endParaRPr lang="en-US" sz="1200" b="1">
                <a:solidFill>
                  <a:schemeClr val="bg1"/>
                </a:solidFill>
              </a:endParaRPr>
            </a:p>
          </p:txBody>
        </p:sp>
        <p:sp>
          <p:nvSpPr>
            <p:cNvPr id="1396248" name="Rectangle 536"/>
            <p:cNvSpPr>
              <a:spLocks noChangeAspect="1" noChangeArrowheads="1"/>
            </p:cNvSpPr>
            <p:nvPr/>
          </p:nvSpPr>
          <p:spPr bwMode="auto">
            <a:xfrm>
              <a:off x="1357" y="1646"/>
              <a:ext cx="489" cy="55"/>
            </a:xfrm>
            <a:prstGeom prst="rect">
              <a:avLst/>
            </a:prstGeom>
            <a:noFill/>
            <a:ln w="9525">
              <a:noFill/>
              <a:miter lim="800000"/>
              <a:headEnd/>
              <a:tailEnd/>
            </a:ln>
          </p:spPr>
          <p:txBody>
            <a:bodyPr wrap="none" lIns="0" tIns="0" rIns="0" bIns="0">
              <a:spAutoFit/>
            </a:bodyPr>
            <a:lstStyle/>
            <a:p>
              <a:r>
                <a:rPr lang="en-US" sz="500">
                  <a:solidFill>
                    <a:srgbClr val="808080"/>
                  </a:solidFill>
                </a:rPr>
                <a:t>Government Resources</a:t>
              </a:r>
              <a:endParaRPr lang="en-US" sz="1200"/>
            </a:p>
          </p:txBody>
        </p:sp>
        <p:sp>
          <p:nvSpPr>
            <p:cNvPr id="1396249" name="Rectangle 537"/>
            <p:cNvSpPr>
              <a:spLocks noChangeAspect="1" noChangeArrowheads="1"/>
            </p:cNvSpPr>
            <p:nvPr/>
          </p:nvSpPr>
          <p:spPr bwMode="auto">
            <a:xfrm>
              <a:off x="1301" y="1711"/>
              <a:ext cx="16" cy="56"/>
            </a:xfrm>
            <a:prstGeom prst="rect">
              <a:avLst/>
            </a:prstGeom>
            <a:noFill/>
            <a:ln w="9525">
              <a:noFill/>
              <a:miter lim="800000"/>
              <a:headEnd/>
              <a:tailEnd/>
            </a:ln>
          </p:spPr>
          <p:txBody>
            <a:bodyPr wrap="none" lIns="0" tIns="0" rIns="0" bIns="0">
              <a:spAutoFit/>
            </a:bodyPr>
            <a:lstStyle/>
            <a:p>
              <a:r>
                <a:rPr lang="en-US" sz="500">
                  <a:solidFill>
                    <a:srgbClr val="808080"/>
                  </a:solidFill>
                </a:rPr>
                <a:t>•</a:t>
              </a:r>
              <a:endParaRPr lang="en-US" sz="1200"/>
            </a:p>
          </p:txBody>
        </p:sp>
        <p:sp>
          <p:nvSpPr>
            <p:cNvPr id="1396250" name="Rectangle 538"/>
            <p:cNvSpPr>
              <a:spLocks noChangeAspect="1" noChangeArrowheads="1"/>
            </p:cNvSpPr>
            <p:nvPr/>
          </p:nvSpPr>
          <p:spPr bwMode="auto">
            <a:xfrm>
              <a:off x="1351" y="1711"/>
              <a:ext cx="186" cy="56"/>
            </a:xfrm>
            <a:prstGeom prst="rect">
              <a:avLst/>
            </a:prstGeom>
            <a:noFill/>
            <a:ln w="9525">
              <a:noFill/>
              <a:miter lim="800000"/>
              <a:headEnd/>
              <a:tailEnd/>
            </a:ln>
          </p:spPr>
          <p:txBody>
            <a:bodyPr wrap="none" lIns="0" tIns="0" rIns="0" bIns="0">
              <a:spAutoFit/>
            </a:bodyPr>
            <a:lstStyle/>
            <a:p>
              <a:r>
                <a:rPr lang="en-US" sz="500">
                  <a:solidFill>
                    <a:srgbClr val="808080"/>
                  </a:solidFill>
                </a:rPr>
                <a:t>Financial</a:t>
              </a:r>
              <a:endParaRPr lang="en-US" sz="1200"/>
            </a:p>
          </p:txBody>
        </p:sp>
        <p:sp>
          <p:nvSpPr>
            <p:cNvPr id="1396251" name="Rectangle 539"/>
            <p:cNvSpPr>
              <a:spLocks noChangeAspect="1" noChangeArrowheads="1"/>
            </p:cNvSpPr>
            <p:nvPr/>
          </p:nvSpPr>
          <p:spPr bwMode="auto">
            <a:xfrm>
              <a:off x="1235" y="1127"/>
              <a:ext cx="710" cy="679"/>
            </a:xfrm>
            <a:prstGeom prst="rect">
              <a:avLst/>
            </a:prstGeom>
            <a:solidFill>
              <a:srgbClr val="808080"/>
            </a:solidFill>
            <a:ln w="9525">
              <a:noFill/>
              <a:miter lim="800000"/>
              <a:headEnd/>
              <a:tailEnd/>
            </a:ln>
          </p:spPr>
          <p:txBody>
            <a:bodyPr/>
            <a:lstStyle/>
            <a:p>
              <a:endParaRPr lang="en-US"/>
            </a:p>
          </p:txBody>
        </p:sp>
        <p:sp>
          <p:nvSpPr>
            <p:cNvPr id="1396252" name="Rectangle 540"/>
            <p:cNvSpPr>
              <a:spLocks noChangeAspect="1" noChangeArrowheads="1"/>
            </p:cNvSpPr>
            <p:nvPr/>
          </p:nvSpPr>
          <p:spPr bwMode="auto">
            <a:xfrm>
              <a:off x="1219" y="1111"/>
              <a:ext cx="705" cy="674"/>
            </a:xfrm>
            <a:prstGeom prst="rect">
              <a:avLst/>
            </a:prstGeom>
            <a:solidFill>
              <a:srgbClr val="909DFC"/>
            </a:solidFill>
            <a:ln w="9525">
              <a:solidFill>
                <a:srgbClr val="000000"/>
              </a:solidFill>
              <a:miter lim="800000"/>
              <a:headEnd/>
              <a:tailEnd/>
            </a:ln>
          </p:spPr>
          <p:txBody>
            <a:bodyPr/>
            <a:lstStyle/>
            <a:p>
              <a:endParaRPr lang="en-US"/>
            </a:p>
          </p:txBody>
        </p:sp>
        <p:sp>
          <p:nvSpPr>
            <p:cNvPr id="1396253" name="Rectangle 541"/>
            <p:cNvSpPr>
              <a:spLocks noChangeAspect="1" noChangeArrowheads="1"/>
            </p:cNvSpPr>
            <p:nvPr/>
          </p:nvSpPr>
          <p:spPr bwMode="auto">
            <a:xfrm>
              <a:off x="1202" y="1124"/>
              <a:ext cx="718" cy="157"/>
            </a:xfrm>
            <a:prstGeom prst="rect">
              <a:avLst/>
            </a:prstGeom>
            <a:noFill/>
            <a:ln w="9525">
              <a:noFill/>
              <a:miter lim="800000"/>
              <a:headEnd/>
              <a:tailEnd/>
            </a:ln>
          </p:spPr>
          <p:txBody>
            <a:bodyPr lIns="0" tIns="0" rIns="0" bIns="0">
              <a:spAutoFit/>
            </a:bodyPr>
            <a:lstStyle/>
            <a:p>
              <a:r>
                <a:rPr lang="en-US" sz="700" b="1">
                  <a:solidFill>
                    <a:schemeClr val="bg1"/>
                  </a:solidFill>
                </a:rPr>
                <a:t>Mission and  Business Results</a:t>
              </a:r>
              <a:endParaRPr lang="en-US" sz="700">
                <a:solidFill>
                  <a:schemeClr val="bg1"/>
                </a:solidFill>
              </a:endParaRPr>
            </a:p>
          </p:txBody>
        </p:sp>
        <p:grpSp>
          <p:nvGrpSpPr>
            <p:cNvPr id="1396254" name="Group 542"/>
            <p:cNvGrpSpPr>
              <a:grpSpLocks noChangeAspect="1"/>
            </p:cNvGrpSpPr>
            <p:nvPr/>
          </p:nvGrpSpPr>
          <p:grpSpPr bwMode="auto">
            <a:xfrm>
              <a:off x="1242" y="1386"/>
              <a:ext cx="552" cy="368"/>
              <a:chOff x="1242" y="1386"/>
              <a:chExt cx="552" cy="368"/>
            </a:xfrm>
          </p:grpSpPr>
          <p:sp>
            <p:nvSpPr>
              <p:cNvPr id="1396255" name="Rectangle 543"/>
              <p:cNvSpPr>
                <a:spLocks noChangeAspect="1" noChangeArrowheads="1"/>
              </p:cNvSpPr>
              <p:nvPr/>
            </p:nvSpPr>
            <p:spPr bwMode="auto">
              <a:xfrm>
                <a:off x="1245" y="1386"/>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256" name="Rectangle 544"/>
              <p:cNvSpPr>
                <a:spLocks noChangeAspect="1" noChangeArrowheads="1"/>
              </p:cNvSpPr>
              <p:nvPr/>
            </p:nvSpPr>
            <p:spPr bwMode="auto">
              <a:xfrm>
                <a:off x="1274" y="1386"/>
                <a:ext cx="457"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Services for Citizens</a:t>
                </a:r>
                <a:endParaRPr lang="en-US" sz="1200" b="1">
                  <a:solidFill>
                    <a:schemeClr val="bg1"/>
                  </a:solidFill>
                </a:endParaRPr>
              </a:p>
            </p:txBody>
          </p:sp>
          <p:sp>
            <p:nvSpPr>
              <p:cNvPr id="1396257" name="Rectangle 545"/>
              <p:cNvSpPr>
                <a:spLocks noChangeAspect="1" noChangeArrowheads="1"/>
              </p:cNvSpPr>
              <p:nvPr/>
            </p:nvSpPr>
            <p:spPr bwMode="auto">
              <a:xfrm>
                <a:off x="1245" y="1453"/>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258" name="Rectangle 546"/>
              <p:cNvSpPr>
                <a:spLocks noChangeAspect="1" noChangeArrowheads="1"/>
              </p:cNvSpPr>
              <p:nvPr/>
            </p:nvSpPr>
            <p:spPr bwMode="auto">
              <a:xfrm>
                <a:off x="1276" y="1453"/>
                <a:ext cx="440" cy="56"/>
              </a:xfrm>
              <a:prstGeom prst="rect">
                <a:avLst/>
              </a:prstGeom>
              <a:noFill/>
              <a:ln w="9525">
                <a:noFill/>
                <a:miter lim="800000"/>
                <a:headEnd/>
                <a:tailEnd/>
              </a:ln>
            </p:spPr>
            <p:txBody>
              <a:bodyPr wrap="none" lIns="0" tIns="0" rIns="0" bIns="0">
                <a:spAutoFit/>
              </a:bodyPr>
              <a:lstStyle/>
              <a:p>
                <a:r>
                  <a:rPr lang="en-US" sz="500" b="1">
                    <a:solidFill>
                      <a:schemeClr val="bg1"/>
                    </a:solidFill>
                  </a:rPr>
                  <a:t>Support Delivery of </a:t>
                </a:r>
                <a:endParaRPr lang="en-US" sz="1200" b="1">
                  <a:solidFill>
                    <a:schemeClr val="bg1"/>
                  </a:solidFill>
                </a:endParaRPr>
              </a:p>
            </p:txBody>
          </p:sp>
          <p:sp>
            <p:nvSpPr>
              <p:cNvPr id="1396259" name="Rectangle 547"/>
              <p:cNvSpPr>
                <a:spLocks noChangeAspect="1" noChangeArrowheads="1"/>
              </p:cNvSpPr>
              <p:nvPr/>
            </p:nvSpPr>
            <p:spPr bwMode="auto">
              <a:xfrm>
                <a:off x="1293" y="1510"/>
                <a:ext cx="191" cy="56"/>
              </a:xfrm>
              <a:prstGeom prst="rect">
                <a:avLst/>
              </a:prstGeom>
              <a:noFill/>
              <a:ln w="9525">
                <a:noFill/>
                <a:miter lim="800000"/>
                <a:headEnd/>
                <a:tailEnd/>
              </a:ln>
            </p:spPr>
            <p:txBody>
              <a:bodyPr wrap="none" lIns="0" tIns="0" rIns="0" bIns="0">
                <a:spAutoFit/>
              </a:bodyPr>
              <a:lstStyle/>
              <a:p>
                <a:r>
                  <a:rPr lang="en-US" sz="500" b="1">
                    <a:solidFill>
                      <a:schemeClr val="bg1"/>
                    </a:solidFill>
                  </a:rPr>
                  <a:t>Services</a:t>
                </a:r>
                <a:endParaRPr lang="en-US" sz="1200" b="1">
                  <a:solidFill>
                    <a:schemeClr val="bg1"/>
                  </a:solidFill>
                </a:endParaRPr>
              </a:p>
            </p:txBody>
          </p:sp>
          <p:sp>
            <p:nvSpPr>
              <p:cNvPr id="1396260" name="Rectangle 548"/>
              <p:cNvSpPr>
                <a:spLocks noChangeAspect="1" noChangeArrowheads="1"/>
              </p:cNvSpPr>
              <p:nvPr/>
            </p:nvSpPr>
            <p:spPr bwMode="auto">
              <a:xfrm>
                <a:off x="1245" y="1573"/>
                <a:ext cx="16"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261" name="Rectangle 549"/>
              <p:cNvSpPr>
                <a:spLocks noChangeAspect="1" noChangeArrowheads="1"/>
              </p:cNvSpPr>
              <p:nvPr/>
            </p:nvSpPr>
            <p:spPr bwMode="auto">
              <a:xfrm>
                <a:off x="1281" y="1573"/>
                <a:ext cx="351" cy="56"/>
              </a:xfrm>
              <a:prstGeom prst="rect">
                <a:avLst/>
              </a:prstGeom>
              <a:noFill/>
              <a:ln w="9525">
                <a:noFill/>
                <a:miter lim="800000"/>
                <a:headEnd/>
                <a:tailEnd/>
              </a:ln>
            </p:spPr>
            <p:txBody>
              <a:bodyPr wrap="none" lIns="0" tIns="0" rIns="0" bIns="0">
                <a:spAutoFit/>
              </a:bodyPr>
              <a:lstStyle/>
              <a:p>
                <a:r>
                  <a:rPr lang="en-US" sz="500" b="1">
                    <a:solidFill>
                      <a:schemeClr val="bg1"/>
                    </a:solidFill>
                  </a:rPr>
                  <a:t>Management of </a:t>
                </a:r>
                <a:endParaRPr lang="en-US" sz="1200" b="1">
                  <a:solidFill>
                    <a:schemeClr val="bg1"/>
                  </a:solidFill>
                </a:endParaRPr>
              </a:p>
            </p:txBody>
          </p:sp>
          <p:sp>
            <p:nvSpPr>
              <p:cNvPr id="1396262" name="Rectangle 550"/>
              <p:cNvSpPr>
                <a:spLocks noChangeAspect="1" noChangeArrowheads="1"/>
              </p:cNvSpPr>
              <p:nvPr/>
            </p:nvSpPr>
            <p:spPr bwMode="auto">
              <a:xfrm>
                <a:off x="1270" y="1630"/>
                <a:ext cx="524" cy="56"/>
              </a:xfrm>
              <a:prstGeom prst="rect">
                <a:avLst/>
              </a:prstGeom>
              <a:noFill/>
              <a:ln w="9525">
                <a:noFill/>
                <a:miter lim="800000"/>
                <a:headEnd/>
                <a:tailEnd/>
              </a:ln>
            </p:spPr>
            <p:txBody>
              <a:bodyPr wrap="none" lIns="0" tIns="0" rIns="0" bIns="0">
                <a:spAutoFit/>
              </a:bodyPr>
              <a:lstStyle/>
              <a:p>
                <a:r>
                  <a:rPr lang="en-US" sz="500" b="1">
                    <a:solidFill>
                      <a:schemeClr val="bg1"/>
                    </a:solidFill>
                  </a:rPr>
                  <a:t>Government Resources</a:t>
                </a:r>
                <a:endParaRPr lang="en-US" sz="1200" b="1">
                  <a:solidFill>
                    <a:schemeClr val="bg1"/>
                  </a:solidFill>
                </a:endParaRPr>
              </a:p>
            </p:txBody>
          </p:sp>
          <p:sp>
            <p:nvSpPr>
              <p:cNvPr id="1396263" name="Rectangle 551"/>
              <p:cNvSpPr>
                <a:spLocks noChangeAspect="1" noChangeArrowheads="1"/>
              </p:cNvSpPr>
              <p:nvPr/>
            </p:nvSpPr>
            <p:spPr bwMode="auto">
              <a:xfrm>
                <a:off x="1242" y="1698"/>
                <a:ext cx="17" cy="56"/>
              </a:xfrm>
              <a:prstGeom prst="rect">
                <a:avLst/>
              </a:prstGeom>
              <a:noFill/>
              <a:ln w="9525">
                <a:noFill/>
                <a:miter lim="800000"/>
                <a:headEnd/>
                <a:tailEnd/>
              </a:ln>
            </p:spPr>
            <p:txBody>
              <a:bodyPr wrap="none" lIns="0" tIns="0" rIns="0" bIns="0">
                <a:spAutoFit/>
              </a:bodyPr>
              <a:lstStyle/>
              <a:p>
                <a:r>
                  <a:rPr lang="en-US" sz="500" b="1">
                    <a:solidFill>
                      <a:schemeClr val="bg1"/>
                    </a:solidFill>
                  </a:rPr>
                  <a:t>•</a:t>
                </a:r>
                <a:endParaRPr lang="en-US" sz="1200" b="1">
                  <a:solidFill>
                    <a:schemeClr val="bg1"/>
                  </a:solidFill>
                </a:endParaRPr>
              </a:p>
            </p:txBody>
          </p:sp>
          <p:sp>
            <p:nvSpPr>
              <p:cNvPr id="1396264" name="Rectangle 552"/>
              <p:cNvSpPr>
                <a:spLocks noChangeAspect="1" noChangeArrowheads="1"/>
              </p:cNvSpPr>
              <p:nvPr/>
            </p:nvSpPr>
            <p:spPr bwMode="auto">
              <a:xfrm>
                <a:off x="1293" y="1698"/>
                <a:ext cx="199" cy="56"/>
              </a:xfrm>
              <a:prstGeom prst="rect">
                <a:avLst/>
              </a:prstGeom>
              <a:noFill/>
              <a:ln w="9525">
                <a:noFill/>
                <a:miter lim="800000"/>
                <a:headEnd/>
                <a:tailEnd/>
              </a:ln>
            </p:spPr>
            <p:txBody>
              <a:bodyPr wrap="none" lIns="0" tIns="0" rIns="0" bIns="0">
                <a:spAutoFit/>
              </a:bodyPr>
              <a:lstStyle/>
              <a:p>
                <a:r>
                  <a:rPr lang="en-US" sz="500" b="1">
                    <a:solidFill>
                      <a:schemeClr val="bg1"/>
                    </a:solidFill>
                  </a:rPr>
                  <a:t>Financial</a:t>
                </a:r>
                <a:endParaRPr lang="en-US" sz="1200" b="1">
                  <a:solidFill>
                    <a:schemeClr val="bg1"/>
                  </a:solidFill>
                </a:endParaRPr>
              </a:p>
            </p:txBody>
          </p:sp>
        </p:grpSp>
      </p:grpSp>
      <p:sp>
        <p:nvSpPr>
          <p:cNvPr id="1395714" name="Rectangle 2"/>
          <p:cNvSpPr>
            <a:spLocks noGrp="1" noChangeArrowheads="1"/>
          </p:cNvSpPr>
          <p:nvPr>
            <p:ph type="title"/>
          </p:nvPr>
        </p:nvSpPr>
        <p:spPr>
          <a:xfrm>
            <a:off x="457200" y="277813"/>
            <a:ext cx="8458200" cy="1139825"/>
          </a:xfrm>
        </p:spPr>
        <p:txBody>
          <a:bodyPr/>
          <a:lstStyle/>
          <a:p>
            <a:r>
              <a:rPr lang="en-US" sz="1500" b="0"/>
              <a:t>Decision-makers then uniquely tailor or “operationalize” these Indicators to reflect their specific environment</a:t>
            </a:r>
          </a:p>
        </p:txBody>
      </p:sp>
      <p:sp>
        <p:nvSpPr>
          <p:cNvPr id="1395716" name="Rectangle 4"/>
          <p:cNvSpPr>
            <a:spLocks noChangeArrowheads="1"/>
          </p:cNvSpPr>
          <p:nvPr/>
        </p:nvSpPr>
        <p:spPr bwMode="auto">
          <a:xfrm>
            <a:off x="3457575" y="3041650"/>
            <a:ext cx="2206625" cy="2538413"/>
          </a:xfrm>
          <a:prstGeom prst="rect">
            <a:avLst/>
          </a:prstGeom>
          <a:solidFill>
            <a:srgbClr val="FFFF6F"/>
          </a:solidFill>
          <a:ln w="9525">
            <a:solidFill>
              <a:schemeClr val="tx1"/>
            </a:solidFill>
            <a:miter lim="800000"/>
            <a:headEnd/>
            <a:tailEnd/>
          </a:ln>
          <a:effectLst/>
        </p:spPr>
        <p:txBody>
          <a:bodyPr wrap="none" anchor="ctr"/>
          <a:lstStyle/>
          <a:p>
            <a:endParaRPr lang="en-US"/>
          </a:p>
        </p:txBody>
      </p:sp>
      <p:sp>
        <p:nvSpPr>
          <p:cNvPr id="1395717" name="Text Box 5"/>
          <p:cNvSpPr txBox="1">
            <a:spLocks noChangeArrowheads="1"/>
          </p:cNvSpPr>
          <p:nvPr/>
        </p:nvSpPr>
        <p:spPr bwMode="auto">
          <a:xfrm>
            <a:off x="3517900" y="3244850"/>
            <a:ext cx="2085975" cy="2235200"/>
          </a:xfrm>
          <a:prstGeom prst="rect">
            <a:avLst/>
          </a:prstGeom>
          <a:solidFill>
            <a:schemeClr val="bg1"/>
          </a:solidFill>
          <a:ln w="9525">
            <a:solidFill>
              <a:schemeClr val="tx1"/>
            </a:solidFill>
            <a:miter lim="800000"/>
            <a:headEnd/>
            <a:tailEnd/>
          </a:ln>
          <a:effectLst/>
        </p:spPr>
        <p:txBody>
          <a:bodyPr>
            <a:spAutoFit/>
          </a:bodyPr>
          <a:lstStyle/>
          <a:p>
            <a:pPr marL="230188" indent="-230188" algn="l">
              <a:spcAft>
                <a:spcPct val="50000"/>
              </a:spcAft>
              <a:buFontTx/>
              <a:buChar char="•"/>
            </a:pPr>
            <a:r>
              <a:rPr lang="en-US" sz="1000"/>
              <a:t>Total # of products produced, activities performed, or services provided per relevant unit of time</a:t>
            </a:r>
          </a:p>
          <a:p>
            <a:pPr marL="230188" indent="-230188" algn="l">
              <a:spcAft>
                <a:spcPct val="50000"/>
              </a:spcAft>
              <a:buFontTx/>
              <a:buChar char="•"/>
            </a:pPr>
            <a:r>
              <a:rPr lang="en-US" sz="1000"/>
              <a:t># of products produced, activities performed, or services provided per FTE</a:t>
            </a:r>
          </a:p>
          <a:p>
            <a:pPr marL="230188" indent="-230188" algn="l">
              <a:buFontTx/>
              <a:buChar char="•"/>
            </a:pPr>
            <a:r>
              <a:rPr lang="en-US" sz="1000"/>
              <a:t>% of resources used versus resources available for use</a:t>
            </a:r>
          </a:p>
          <a:p>
            <a:pPr marL="230188" indent="-230188" algn="l">
              <a:buFontTx/>
              <a:buNone/>
            </a:pPr>
            <a:endParaRPr lang="en-US" sz="1000"/>
          </a:p>
          <a:p>
            <a:pPr marL="230188" indent="-230188" algn="l">
              <a:buFontTx/>
              <a:buChar char="•"/>
            </a:pPr>
            <a:r>
              <a:rPr lang="en-US" sz="1000"/>
              <a:t># and/or % of products or services that are electronic</a:t>
            </a:r>
          </a:p>
          <a:p>
            <a:pPr marL="230188" indent="-230188" algn="l">
              <a:buFontTx/>
              <a:buNone/>
            </a:pPr>
            <a:endParaRPr lang="en-US" sz="1000">
              <a:latin typeface="Tahoma" pitchFamily="34" charset="0"/>
            </a:endParaRPr>
          </a:p>
        </p:txBody>
      </p:sp>
      <p:sp>
        <p:nvSpPr>
          <p:cNvPr id="1395718" name="Rectangle 6"/>
          <p:cNvSpPr>
            <a:spLocks noChangeArrowheads="1"/>
          </p:cNvSpPr>
          <p:nvPr/>
        </p:nvSpPr>
        <p:spPr bwMode="auto">
          <a:xfrm>
            <a:off x="1333500" y="3960813"/>
            <a:ext cx="817563" cy="107950"/>
          </a:xfrm>
          <a:prstGeom prst="rect">
            <a:avLst/>
          </a:prstGeom>
          <a:noFill/>
          <a:ln w="28575">
            <a:solidFill>
              <a:schemeClr val="tx1"/>
            </a:solidFill>
            <a:miter lim="800000"/>
            <a:headEnd/>
            <a:tailEnd/>
          </a:ln>
          <a:effectLst/>
        </p:spPr>
        <p:txBody>
          <a:bodyPr wrap="none" anchor="ctr"/>
          <a:lstStyle/>
          <a:p>
            <a:endParaRPr lang="en-US"/>
          </a:p>
        </p:txBody>
      </p:sp>
      <p:sp>
        <p:nvSpPr>
          <p:cNvPr id="1395719" name="Text Box 7"/>
          <p:cNvSpPr txBox="1">
            <a:spLocks noChangeArrowheads="1"/>
          </p:cNvSpPr>
          <p:nvPr/>
        </p:nvSpPr>
        <p:spPr bwMode="auto">
          <a:xfrm>
            <a:off x="3697288" y="3035300"/>
            <a:ext cx="1744662" cy="244475"/>
          </a:xfrm>
          <a:prstGeom prst="rect">
            <a:avLst/>
          </a:prstGeom>
          <a:noFill/>
          <a:ln w="9525">
            <a:noFill/>
            <a:miter lim="800000"/>
            <a:headEnd/>
            <a:tailEnd/>
          </a:ln>
          <a:effectLst/>
        </p:spPr>
        <p:txBody>
          <a:bodyPr wrap="none">
            <a:spAutoFit/>
          </a:bodyPr>
          <a:lstStyle/>
          <a:p>
            <a:pPr>
              <a:buFontTx/>
              <a:buNone/>
            </a:pPr>
            <a:r>
              <a:rPr lang="en-US" sz="1000" b="1">
                <a:latin typeface="Tahoma" pitchFamily="34" charset="0"/>
              </a:rPr>
              <a:t>Productivity &amp; Efficiency</a:t>
            </a:r>
            <a:endParaRPr lang="en-US" sz="1000" b="1" u="sng">
              <a:latin typeface="Tahoma" pitchFamily="34" charset="0"/>
            </a:endParaRPr>
          </a:p>
        </p:txBody>
      </p:sp>
      <p:cxnSp>
        <p:nvCxnSpPr>
          <p:cNvPr id="1395720" name="AutoShape 8"/>
          <p:cNvCxnSpPr>
            <a:cxnSpLocks noChangeShapeType="1"/>
            <a:stCxn id="1395718" idx="3"/>
            <a:endCxn id="1395716" idx="0"/>
          </p:cNvCxnSpPr>
          <p:nvPr/>
        </p:nvCxnSpPr>
        <p:spPr bwMode="auto">
          <a:xfrm flipV="1">
            <a:off x="2165350" y="3041650"/>
            <a:ext cx="2395538" cy="973138"/>
          </a:xfrm>
          <a:prstGeom prst="bentConnector4">
            <a:avLst>
              <a:gd name="adj1" fmla="val 26639"/>
              <a:gd name="adj2" fmla="val 123491"/>
            </a:avLst>
          </a:prstGeom>
          <a:noFill/>
          <a:ln w="19050">
            <a:solidFill>
              <a:schemeClr val="tx1"/>
            </a:solidFill>
            <a:miter lim="800000"/>
            <a:headEnd/>
            <a:tailEnd type="stealth" w="med" len="med"/>
          </a:ln>
          <a:effectLst/>
        </p:spPr>
      </p:cxnSp>
      <p:sp>
        <p:nvSpPr>
          <p:cNvPr id="1395721" name="Rectangle 9"/>
          <p:cNvSpPr>
            <a:spLocks noChangeArrowheads="1"/>
          </p:cNvSpPr>
          <p:nvPr/>
        </p:nvSpPr>
        <p:spPr bwMode="auto">
          <a:xfrm>
            <a:off x="3771900" y="3276600"/>
            <a:ext cx="1792288" cy="681038"/>
          </a:xfrm>
          <a:prstGeom prst="rect">
            <a:avLst/>
          </a:prstGeom>
          <a:noFill/>
          <a:ln w="28575">
            <a:solidFill>
              <a:schemeClr val="tx1"/>
            </a:solidFill>
            <a:miter lim="800000"/>
            <a:headEnd/>
            <a:tailEnd/>
          </a:ln>
          <a:effectLst/>
        </p:spPr>
        <p:txBody>
          <a:bodyPr wrap="none" anchor="ctr"/>
          <a:lstStyle/>
          <a:p>
            <a:endParaRPr lang="en-US"/>
          </a:p>
        </p:txBody>
      </p:sp>
      <p:cxnSp>
        <p:nvCxnSpPr>
          <p:cNvPr id="1395722" name="AutoShape 10"/>
          <p:cNvCxnSpPr>
            <a:cxnSpLocks noChangeShapeType="1"/>
            <a:stCxn id="1395721" idx="3"/>
            <a:endCxn id="1395724" idx="1"/>
          </p:cNvCxnSpPr>
          <p:nvPr/>
        </p:nvCxnSpPr>
        <p:spPr bwMode="auto">
          <a:xfrm>
            <a:off x="5578475" y="3617913"/>
            <a:ext cx="593725" cy="442912"/>
          </a:xfrm>
          <a:prstGeom prst="bentConnector3">
            <a:avLst>
              <a:gd name="adj1" fmla="val 48662"/>
            </a:avLst>
          </a:prstGeom>
          <a:noFill/>
          <a:ln w="19050">
            <a:solidFill>
              <a:schemeClr val="tx1"/>
            </a:solidFill>
            <a:miter lim="800000"/>
            <a:headEnd/>
            <a:tailEnd type="stealth" w="med" len="med"/>
          </a:ln>
          <a:effectLst/>
        </p:spPr>
      </p:cxnSp>
      <p:grpSp>
        <p:nvGrpSpPr>
          <p:cNvPr id="1395723" name="Group 11"/>
          <p:cNvGrpSpPr>
            <a:grpSpLocks/>
          </p:cNvGrpSpPr>
          <p:nvPr/>
        </p:nvGrpSpPr>
        <p:grpSpPr bwMode="auto">
          <a:xfrm>
            <a:off x="6172200" y="2895600"/>
            <a:ext cx="2206625" cy="2030413"/>
            <a:chOff x="3865" y="1820"/>
            <a:chExt cx="1390" cy="1279"/>
          </a:xfrm>
        </p:grpSpPr>
        <p:sp>
          <p:nvSpPr>
            <p:cNvPr id="1395724" name="Rectangle 12"/>
            <p:cNvSpPr>
              <a:spLocks noChangeArrowheads="1"/>
            </p:cNvSpPr>
            <p:nvPr/>
          </p:nvSpPr>
          <p:spPr bwMode="auto">
            <a:xfrm>
              <a:off x="3865" y="2107"/>
              <a:ext cx="1390" cy="894"/>
            </a:xfrm>
            <a:prstGeom prst="rect">
              <a:avLst/>
            </a:prstGeom>
            <a:solidFill>
              <a:srgbClr val="FFFF6F"/>
            </a:solidFill>
            <a:ln w="9525">
              <a:solidFill>
                <a:schemeClr val="tx1"/>
              </a:solidFill>
              <a:miter lim="800000"/>
              <a:headEnd/>
              <a:tailEnd/>
            </a:ln>
            <a:effectLst/>
          </p:spPr>
          <p:txBody>
            <a:bodyPr wrap="none" anchor="ctr"/>
            <a:lstStyle/>
            <a:p>
              <a:endParaRPr lang="en-US"/>
            </a:p>
          </p:txBody>
        </p:sp>
        <p:sp>
          <p:nvSpPr>
            <p:cNvPr id="1395725" name="Text Box 13"/>
            <p:cNvSpPr txBox="1">
              <a:spLocks noChangeArrowheads="1"/>
            </p:cNvSpPr>
            <p:nvPr/>
          </p:nvSpPr>
          <p:spPr bwMode="auto">
            <a:xfrm>
              <a:off x="3902" y="2170"/>
              <a:ext cx="1314" cy="929"/>
            </a:xfrm>
            <a:prstGeom prst="rect">
              <a:avLst/>
            </a:prstGeom>
            <a:solidFill>
              <a:schemeClr val="bg1"/>
            </a:solidFill>
            <a:ln w="9525">
              <a:solidFill>
                <a:schemeClr val="tx1"/>
              </a:solidFill>
              <a:miter lim="800000"/>
              <a:headEnd/>
              <a:tailEnd/>
            </a:ln>
            <a:effectLst/>
          </p:spPr>
          <p:txBody>
            <a:bodyPr>
              <a:spAutoFit/>
            </a:bodyPr>
            <a:lstStyle/>
            <a:p>
              <a:pPr marL="230188" indent="-230188" algn="l">
                <a:spcAft>
                  <a:spcPct val="50000"/>
                </a:spcAft>
                <a:buFontTx/>
                <a:buChar char="•"/>
              </a:pPr>
              <a:r>
                <a:rPr lang="en-US"/>
                <a:t>Number of mine-scarred land acres improved for beneficial use</a:t>
              </a:r>
            </a:p>
          </p:txBody>
        </p:sp>
        <p:sp>
          <p:nvSpPr>
            <p:cNvPr id="1395726" name="Text Box 14"/>
            <p:cNvSpPr txBox="1">
              <a:spLocks noChangeArrowheads="1"/>
            </p:cNvSpPr>
            <p:nvPr/>
          </p:nvSpPr>
          <p:spPr bwMode="auto">
            <a:xfrm>
              <a:off x="4034" y="1820"/>
              <a:ext cx="1098" cy="288"/>
            </a:xfrm>
            <a:prstGeom prst="rect">
              <a:avLst/>
            </a:prstGeom>
            <a:noFill/>
            <a:ln w="9525">
              <a:noFill/>
              <a:miter lim="800000"/>
              <a:headEnd/>
              <a:tailEnd/>
            </a:ln>
            <a:effectLst/>
          </p:spPr>
          <p:txBody>
            <a:bodyPr>
              <a:spAutoFit/>
            </a:bodyPr>
            <a:lstStyle/>
            <a:p>
              <a:pPr>
                <a:buFontTx/>
                <a:buNone/>
              </a:pPr>
              <a:r>
                <a:rPr lang="en-US" sz="1200" b="1">
                  <a:latin typeface="Tahoma" pitchFamily="34" charset="0"/>
                </a:rPr>
                <a:t>BRM Sub-function:  Land Management</a:t>
              </a:r>
              <a:endParaRPr lang="en-US" sz="1200" b="1" u="sng">
                <a:latin typeface="Tahoma" pitchFamily="34" charset="0"/>
              </a:endParaRPr>
            </a:p>
          </p:txBody>
        </p:sp>
      </p:grpSp>
      <p:grpSp>
        <p:nvGrpSpPr>
          <p:cNvPr id="1395727" name="Group 15"/>
          <p:cNvGrpSpPr>
            <a:grpSpLocks/>
          </p:cNvGrpSpPr>
          <p:nvPr/>
        </p:nvGrpSpPr>
        <p:grpSpPr bwMode="auto">
          <a:xfrm>
            <a:off x="6553200" y="1143000"/>
            <a:ext cx="2286000" cy="877888"/>
            <a:chOff x="4334" y="937"/>
            <a:chExt cx="1186" cy="553"/>
          </a:xfrm>
        </p:grpSpPr>
        <p:sp>
          <p:nvSpPr>
            <p:cNvPr id="1395728" name="Rectangle 16"/>
            <p:cNvSpPr>
              <a:spLocks noChangeArrowheads="1"/>
            </p:cNvSpPr>
            <p:nvPr/>
          </p:nvSpPr>
          <p:spPr bwMode="auto">
            <a:xfrm>
              <a:off x="4334" y="1253"/>
              <a:ext cx="1171" cy="237"/>
            </a:xfrm>
            <a:prstGeom prst="rect">
              <a:avLst/>
            </a:prstGeom>
            <a:solidFill>
              <a:srgbClr val="DDDDDD"/>
            </a:solidFill>
            <a:ln w="9525">
              <a:solidFill>
                <a:schemeClr val="tx1"/>
              </a:solidFill>
              <a:miter lim="800000"/>
              <a:headEnd/>
              <a:tailEnd/>
            </a:ln>
            <a:effectLst/>
          </p:spPr>
          <p:txBody>
            <a:bodyPr wrap="none" anchor="ctr"/>
            <a:lstStyle/>
            <a:p>
              <a:endParaRPr lang="en-US"/>
            </a:p>
          </p:txBody>
        </p:sp>
        <p:sp>
          <p:nvSpPr>
            <p:cNvPr id="1395729" name="AutoShape 17"/>
            <p:cNvSpPr>
              <a:spLocks noChangeAspect="1" noChangeArrowheads="1" noTextEdit="1"/>
            </p:cNvSpPr>
            <p:nvPr/>
          </p:nvSpPr>
          <p:spPr bwMode="auto">
            <a:xfrm>
              <a:off x="4354" y="937"/>
              <a:ext cx="1166" cy="543"/>
            </a:xfrm>
            <a:prstGeom prst="rect">
              <a:avLst/>
            </a:prstGeom>
            <a:noFill/>
            <a:ln w="9525">
              <a:noFill/>
              <a:miter lim="800000"/>
              <a:headEnd/>
              <a:tailEnd/>
            </a:ln>
          </p:spPr>
          <p:txBody>
            <a:bodyPr/>
            <a:lstStyle/>
            <a:p>
              <a:endParaRPr lang="en-US"/>
            </a:p>
          </p:txBody>
        </p:sp>
        <p:sp>
          <p:nvSpPr>
            <p:cNvPr id="1395730" name="Rectangle 18"/>
            <p:cNvSpPr>
              <a:spLocks noChangeArrowheads="1"/>
            </p:cNvSpPr>
            <p:nvPr/>
          </p:nvSpPr>
          <p:spPr bwMode="auto">
            <a:xfrm>
              <a:off x="4363" y="961"/>
              <a:ext cx="1055" cy="94"/>
            </a:xfrm>
            <a:prstGeom prst="rect">
              <a:avLst/>
            </a:prstGeom>
            <a:noFill/>
            <a:ln w="9525">
              <a:noFill/>
              <a:miter lim="800000"/>
              <a:headEnd/>
              <a:tailEnd/>
            </a:ln>
          </p:spPr>
          <p:txBody>
            <a:bodyPr/>
            <a:lstStyle/>
            <a:p>
              <a:endParaRPr lang="en-US"/>
            </a:p>
          </p:txBody>
        </p:sp>
        <p:sp>
          <p:nvSpPr>
            <p:cNvPr id="1395731" name="Rectangle 19"/>
            <p:cNvSpPr>
              <a:spLocks noChangeArrowheads="1"/>
            </p:cNvSpPr>
            <p:nvPr/>
          </p:nvSpPr>
          <p:spPr bwMode="auto">
            <a:xfrm>
              <a:off x="4391" y="974"/>
              <a:ext cx="436" cy="67"/>
            </a:xfrm>
            <a:prstGeom prst="rect">
              <a:avLst/>
            </a:prstGeom>
            <a:noFill/>
            <a:ln w="9525">
              <a:noFill/>
              <a:miter lim="800000"/>
              <a:headEnd/>
              <a:tailEnd/>
            </a:ln>
          </p:spPr>
          <p:txBody>
            <a:bodyPr wrap="none" lIns="0" tIns="0" rIns="0" bIns="0">
              <a:spAutoFit/>
            </a:bodyPr>
            <a:lstStyle/>
            <a:p>
              <a:pPr algn="l">
                <a:buFontTx/>
                <a:buNone/>
              </a:pPr>
              <a:r>
                <a:rPr lang="en-US" sz="700" b="1">
                  <a:solidFill>
                    <a:srgbClr val="40458C"/>
                  </a:solidFill>
                  <a:latin typeface="Tahoma" pitchFamily="34" charset="0"/>
                </a:rPr>
                <a:t>Measurement Area</a:t>
              </a:r>
              <a:endParaRPr lang="en-US"/>
            </a:p>
          </p:txBody>
        </p:sp>
        <p:sp>
          <p:nvSpPr>
            <p:cNvPr id="1395732" name="Rectangle 20"/>
            <p:cNvSpPr>
              <a:spLocks noChangeArrowheads="1"/>
            </p:cNvSpPr>
            <p:nvPr/>
          </p:nvSpPr>
          <p:spPr bwMode="auto">
            <a:xfrm>
              <a:off x="4601" y="1164"/>
              <a:ext cx="789" cy="94"/>
            </a:xfrm>
            <a:prstGeom prst="rect">
              <a:avLst/>
            </a:prstGeom>
            <a:noFill/>
            <a:ln w="9525">
              <a:noFill/>
              <a:miter lim="800000"/>
              <a:headEnd/>
              <a:tailEnd/>
            </a:ln>
          </p:spPr>
          <p:txBody>
            <a:bodyPr/>
            <a:lstStyle/>
            <a:p>
              <a:endParaRPr lang="en-US"/>
            </a:p>
          </p:txBody>
        </p:sp>
        <p:sp>
          <p:nvSpPr>
            <p:cNvPr id="1395733" name="Rectangle 21"/>
            <p:cNvSpPr>
              <a:spLocks noChangeArrowheads="1"/>
            </p:cNvSpPr>
            <p:nvPr/>
          </p:nvSpPr>
          <p:spPr bwMode="auto">
            <a:xfrm>
              <a:off x="4629" y="1177"/>
              <a:ext cx="538" cy="67"/>
            </a:xfrm>
            <a:prstGeom prst="rect">
              <a:avLst/>
            </a:prstGeom>
            <a:noFill/>
            <a:ln w="9525">
              <a:noFill/>
              <a:miter lim="800000"/>
              <a:headEnd/>
              <a:tailEnd/>
            </a:ln>
          </p:spPr>
          <p:txBody>
            <a:bodyPr wrap="none" lIns="0" tIns="0" rIns="0" bIns="0">
              <a:spAutoFit/>
            </a:bodyPr>
            <a:lstStyle/>
            <a:p>
              <a:pPr algn="l">
                <a:buFontTx/>
                <a:buNone/>
              </a:pPr>
              <a:r>
                <a:rPr lang="en-US" sz="700" b="1">
                  <a:solidFill>
                    <a:srgbClr val="40458C"/>
                  </a:solidFill>
                  <a:latin typeface="Tahoma" pitchFamily="34" charset="0"/>
                </a:rPr>
                <a:t>Measurement Category</a:t>
              </a:r>
              <a:endParaRPr lang="en-US"/>
            </a:p>
          </p:txBody>
        </p:sp>
        <p:sp>
          <p:nvSpPr>
            <p:cNvPr id="1395734" name="Rectangle 22"/>
            <p:cNvSpPr>
              <a:spLocks noChangeArrowheads="1"/>
            </p:cNvSpPr>
            <p:nvPr/>
          </p:nvSpPr>
          <p:spPr bwMode="auto">
            <a:xfrm>
              <a:off x="4802" y="1354"/>
              <a:ext cx="492" cy="94"/>
            </a:xfrm>
            <a:prstGeom prst="rect">
              <a:avLst/>
            </a:prstGeom>
            <a:noFill/>
            <a:ln w="9525">
              <a:noFill/>
              <a:miter lim="800000"/>
              <a:headEnd/>
              <a:tailEnd/>
            </a:ln>
          </p:spPr>
          <p:txBody>
            <a:bodyPr/>
            <a:lstStyle/>
            <a:p>
              <a:endParaRPr lang="en-US"/>
            </a:p>
          </p:txBody>
        </p:sp>
        <p:sp>
          <p:nvSpPr>
            <p:cNvPr id="1395735" name="Rectangle 23"/>
            <p:cNvSpPr>
              <a:spLocks noChangeArrowheads="1"/>
            </p:cNvSpPr>
            <p:nvPr/>
          </p:nvSpPr>
          <p:spPr bwMode="auto">
            <a:xfrm>
              <a:off x="4830" y="1367"/>
              <a:ext cx="632" cy="7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latin typeface="Tahoma" pitchFamily="34" charset="0"/>
                </a:rPr>
                <a:t>Performance Indicator  </a:t>
              </a:r>
              <a:endParaRPr lang="en-US" sz="800"/>
            </a:p>
          </p:txBody>
        </p:sp>
        <p:grpSp>
          <p:nvGrpSpPr>
            <p:cNvPr id="1395736" name="Group 24"/>
            <p:cNvGrpSpPr>
              <a:grpSpLocks/>
            </p:cNvGrpSpPr>
            <p:nvPr/>
          </p:nvGrpSpPr>
          <p:grpSpPr bwMode="auto">
            <a:xfrm>
              <a:off x="4390" y="1078"/>
              <a:ext cx="1070" cy="8"/>
              <a:chOff x="4390" y="1078"/>
              <a:chExt cx="1070" cy="8"/>
            </a:xfrm>
          </p:grpSpPr>
          <p:sp>
            <p:nvSpPr>
              <p:cNvPr id="1395737" name="Rectangle 25"/>
              <p:cNvSpPr>
                <a:spLocks noChangeArrowheads="1"/>
              </p:cNvSpPr>
              <p:nvPr/>
            </p:nvSpPr>
            <p:spPr bwMode="auto">
              <a:xfrm>
                <a:off x="4390" y="1078"/>
                <a:ext cx="8" cy="8"/>
              </a:xfrm>
              <a:prstGeom prst="rect">
                <a:avLst/>
              </a:prstGeom>
              <a:solidFill>
                <a:srgbClr val="40458C"/>
              </a:solidFill>
              <a:ln w="9525">
                <a:noFill/>
                <a:miter lim="800000"/>
                <a:headEnd/>
                <a:tailEnd/>
              </a:ln>
            </p:spPr>
            <p:txBody>
              <a:bodyPr/>
              <a:lstStyle/>
              <a:p>
                <a:endParaRPr lang="en-US"/>
              </a:p>
            </p:txBody>
          </p:sp>
          <p:sp>
            <p:nvSpPr>
              <p:cNvPr id="1395738" name="Rectangle 26"/>
              <p:cNvSpPr>
                <a:spLocks noChangeArrowheads="1"/>
              </p:cNvSpPr>
              <p:nvPr/>
            </p:nvSpPr>
            <p:spPr bwMode="auto">
              <a:xfrm>
                <a:off x="4406" y="1078"/>
                <a:ext cx="8" cy="8"/>
              </a:xfrm>
              <a:prstGeom prst="rect">
                <a:avLst/>
              </a:prstGeom>
              <a:solidFill>
                <a:srgbClr val="40458C"/>
              </a:solidFill>
              <a:ln w="9525">
                <a:noFill/>
                <a:miter lim="800000"/>
                <a:headEnd/>
                <a:tailEnd/>
              </a:ln>
            </p:spPr>
            <p:txBody>
              <a:bodyPr/>
              <a:lstStyle/>
              <a:p>
                <a:endParaRPr lang="en-US"/>
              </a:p>
            </p:txBody>
          </p:sp>
          <p:sp>
            <p:nvSpPr>
              <p:cNvPr id="1395739" name="Rectangle 27"/>
              <p:cNvSpPr>
                <a:spLocks noChangeArrowheads="1"/>
              </p:cNvSpPr>
              <p:nvPr/>
            </p:nvSpPr>
            <p:spPr bwMode="auto">
              <a:xfrm>
                <a:off x="4421" y="1078"/>
                <a:ext cx="8" cy="8"/>
              </a:xfrm>
              <a:prstGeom prst="rect">
                <a:avLst/>
              </a:prstGeom>
              <a:solidFill>
                <a:srgbClr val="40458C"/>
              </a:solidFill>
              <a:ln w="9525">
                <a:noFill/>
                <a:miter lim="800000"/>
                <a:headEnd/>
                <a:tailEnd/>
              </a:ln>
            </p:spPr>
            <p:txBody>
              <a:bodyPr/>
              <a:lstStyle/>
              <a:p>
                <a:endParaRPr lang="en-US"/>
              </a:p>
            </p:txBody>
          </p:sp>
          <p:sp>
            <p:nvSpPr>
              <p:cNvPr id="1395740" name="Rectangle 28"/>
              <p:cNvSpPr>
                <a:spLocks noChangeArrowheads="1"/>
              </p:cNvSpPr>
              <p:nvPr/>
            </p:nvSpPr>
            <p:spPr bwMode="auto">
              <a:xfrm>
                <a:off x="4437" y="1078"/>
                <a:ext cx="8" cy="8"/>
              </a:xfrm>
              <a:prstGeom prst="rect">
                <a:avLst/>
              </a:prstGeom>
              <a:solidFill>
                <a:srgbClr val="40458C"/>
              </a:solidFill>
              <a:ln w="9525">
                <a:noFill/>
                <a:miter lim="800000"/>
                <a:headEnd/>
                <a:tailEnd/>
              </a:ln>
            </p:spPr>
            <p:txBody>
              <a:bodyPr/>
              <a:lstStyle/>
              <a:p>
                <a:endParaRPr lang="en-US"/>
              </a:p>
            </p:txBody>
          </p:sp>
          <p:sp>
            <p:nvSpPr>
              <p:cNvPr id="1395741" name="Rectangle 29"/>
              <p:cNvSpPr>
                <a:spLocks noChangeArrowheads="1"/>
              </p:cNvSpPr>
              <p:nvPr/>
            </p:nvSpPr>
            <p:spPr bwMode="auto">
              <a:xfrm>
                <a:off x="4453" y="1078"/>
                <a:ext cx="7" cy="8"/>
              </a:xfrm>
              <a:prstGeom prst="rect">
                <a:avLst/>
              </a:prstGeom>
              <a:solidFill>
                <a:srgbClr val="40458C"/>
              </a:solidFill>
              <a:ln w="9525">
                <a:noFill/>
                <a:miter lim="800000"/>
                <a:headEnd/>
                <a:tailEnd/>
              </a:ln>
            </p:spPr>
            <p:txBody>
              <a:bodyPr/>
              <a:lstStyle/>
              <a:p>
                <a:endParaRPr lang="en-US"/>
              </a:p>
            </p:txBody>
          </p:sp>
          <p:sp>
            <p:nvSpPr>
              <p:cNvPr id="1395742" name="Rectangle 30"/>
              <p:cNvSpPr>
                <a:spLocks noChangeArrowheads="1"/>
              </p:cNvSpPr>
              <p:nvPr/>
            </p:nvSpPr>
            <p:spPr bwMode="auto">
              <a:xfrm>
                <a:off x="4468" y="1078"/>
                <a:ext cx="8" cy="8"/>
              </a:xfrm>
              <a:prstGeom prst="rect">
                <a:avLst/>
              </a:prstGeom>
              <a:solidFill>
                <a:srgbClr val="40458C"/>
              </a:solidFill>
              <a:ln w="9525">
                <a:noFill/>
                <a:miter lim="800000"/>
                <a:headEnd/>
                <a:tailEnd/>
              </a:ln>
            </p:spPr>
            <p:txBody>
              <a:bodyPr/>
              <a:lstStyle/>
              <a:p>
                <a:endParaRPr lang="en-US"/>
              </a:p>
            </p:txBody>
          </p:sp>
          <p:sp>
            <p:nvSpPr>
              <p:cNvPr id="1395743" name="Rectangle 31"/>
              <p:cNvSpPr>
                <a:spLocks noChangeArrowheads="1"/>
              </p:cNvSpPr>
              <p:nvPr/>
            </p:nvSpPr>
            <p:spPr bwMode="auto">
              <a:xfrm>
                <a:off x="4484" y="1078"/>
                <a:ext cx="8" cy="8"/>
              </a:xfrm>
              <a:prstGeom prst="rect">
                <a:avLst/>
              </a:prstGeom>
              <a:solidFill>
                <a:srgbClr val="40458C"/>
              </a:solidFill>
              <a:ln w="9525">
                <a:noFill/>
                <a:miter lim="800000"/>
                <a:headEnd/>
                <a:tailEnd/>
              </a:ln>
            </p:spPr>
            <p:txBody>
              <a:bodyPr/>
              <a:lstStyle/>
              <a:p>
                <a:endParaRPr lang="en-US"/>
              </a:p>
            </p:txBody>
          </p:sp>
          <p:sp>
            <p:nvSpPr>
              <p:cNvPr id="1395744" name="Rectangle 32"/>
              <p:cNvSpPr>
                <a:spLocks noChangeArrowheads="1"/>
              </p:cNvSpPr>
              <p:nvPr/>
            </p:nvSpPr>
            <p:spPr bwMode="auto">
              <a:xfrm>
                <a:off x="4499" y="1078"/>
                <a:ext cx="8" cy="8"/>
              </a:xfrm>
              <a:prstGeom prst="rect">
                <a:avLst/>
              </a:prstGeom>
              <a:solidFill>
                <a:srgbClr val="40458C"/>
              </a:solidFill>
              <a:ln w="9525">
                <a:noFill/>
                <a:miter lim="800000"/>
                <a:headEnd/>
                <a:tailEnd/>
              </a:ln>
            </p:spPr>
            <p:txBody>
              <a:bodyPr/>
              <a:lstStyle/>
              <a:p>
                <a:endParaRPr lang="en-US"/>
              </a:p>
            </p:txBody>
          </p:sp>
          <p:sp>
            <p:nvSpPr>
              <p:cNvPr id="1395745" name="Rectangle 33"/>
              <p:cNvSpPr>
                <a:spLocks noChangeArrowheads="1"/>
              </p:cNvSpPr>
              <p:nvPr/>
            </p:nvSpPr>
            <p:spPr bwMode="auto">
              <a:xfrm>
                <a:off x="4515" y="1078"/>
                <a:ext cx="8" cy="8"/>
              </a:xfrm>
              <a:prstGeom prst="rect">
                <a:avLst/>
              </a:prstGeom>
              <a:solidFill>
                <a:srgbClr val="40458C"/>
              </a:solidFill>
              <a:ln w="9525">
                <a:noFill/>
                <a:miter lim="800000"/>
                <a:headEnd/>
                <a:tailEnd/>
              </a:ln>
            </p:spPr>
            <p:txBody>
              <a:bodyPr/>
              <a:lstStyle/>
              <a:p>
                <a:endParaRPr lang="en-US"/>
              </a:p>
            </p:txBody>
          </p:sp>
          <p:sp>
            <p:nvSpPr>
              <p:cNvPr id="1395746" name="Rectangle 34"/>
              <p:cNvSpPr>
                <a:spLocks noChangeArrowheads="1"/>
              </p:cNvSpPr>
              <p:nvPr/>
            </p:nvSpPr>
            <p:spPr bwMode="auto">
              <a:xfrm>
                <a:off x="4531" y="1078"/>
                <a:ext cx="7" cy="8"/>
              </a:xfrm>
              <a:prstGeom prst="rect">
                <a:avLst/>
              </a:prstGeom>
              <a:solidFill>
                <a:srgbClr val="40458C"/>
              </a:solidFill>
              <a:ln w="9525">
                <a:noFill/>
                <a:miter lim="800000"/>
                <a:headEnd/>
                <a:tailEnd/>
              </a:ln>
            </p:spPr>
            <p:txBody>
              <a:bodyPr/>
              <a:lstStyle/>
              <a:p>
                <a:endParaRPr lang="en-US"/>
              </a:p>
            </p:txBody>
          </p:sp>
          <p:sp>
            <p:nvSpPr>
              <p:cNvPr id="1395747" name="Rectangle 35"/>
              <p:cNvSpPr>
                <a:spLocks noChangeArrowheads="1"/>
              </p:cNvSpPr>
              <p:nvPr/>
            </p:nvSpPr>
            <p:spPr bwMode="auto">
              <a:xfrm>
                <a:off x="4546" y="1078"/>
                <a:ext cx="8" cy="8"/>
              </a:xfrm>
              <a:prstGeom prst="rect">
                <a:avLst/>
              </a:prstGeom>
              <a:solidFill>
                <a:srgbClr val="40458C"/>
              </a:solidFill>
              <a:ln w="9525">
                <a:noFill/>
                <a:miter lim="800000"/>
                <a:headEnd/>
                <a:tailEnd/>
              </a:ln>
            </p:spPr>
            <p:txBody>
              <a:bodyPr/>
              <a:lstStyle/>
              <a:p>
                <a:endParaRPr lang="en-US"/>
              </a:p>
            </p:txBody>
          </p:sp>
          <p:sp>
            <p:nvSpPr>
              <p:cNvPr id="1395748" name="Rectangle 36"/>
              <p:cNvSpPr>
                <a:spLocks noChangeArrowheads="1"/>
              </p:cNvSpPr>
              <p:nvPr/>
            </p:nvSpPr>
            <p:spPr bwMode="auto">
              <a:xfrm>
                <a:off x="4562" y="1078"/>
                <a:ext cx="8" cy="8"/>
              </a:xfrm>
              <a:prstGeom prst="rect">
                <a:avLst/>
              </a:prstGeom>
              <a:solidFill>
                <a:srgbClr val="40458C"/>
              </a:solidFill>
              <a:ln w="9525">
                <a:noFill/>
                <a:miter lim="800000"/>
                <a:headEnd/>
                <a:tailEnd/>
              </a:ln>
            </p:spPr>
            <p:txBody>
              <a:bodyPr/>
              <a:lstStyle/>
              <a:p>
                <a:endParaRPr lang="en-US"/>
              </a:p>
            </p:txBody>
          </p:sp>
          <p:sp>
            <p:nvSpPr>
              <p:cNvPr id="1395749" name="Rectangle 37"/>
              <p:cNvSpPr>
                <a:spLocks noChangeArrowheads="1"/>
              </p:cNvSpPr>
              <p:nvPr/>
            </p:nvSpPr>
            <p:spPr bwMode="auto">
              <a:xfrm>
                <a:off x="4577" y="1078"/>
                <a:ext cx="8" cy="8"/>
              </a:xfrm>
              <a:prstGeom prst="rect">
                <a:avLst/>
              </a:prstGeom>
              <a:solidFill>
                <a:srgbClr val="40458C"/>
              </a:solidFill>
              <a:ln w="9525">
                <a:noFill/>
                <a:miter lim="800000"/>
                <a:headEnd/>
                <a:tailEnd/>
              </a:ln>
            </p:spPr>
            <p:txBody>
              <a:bodyPr/>
              <a:lstStyle/>
              <a:p>
                <a:endParaRPr lang="en-US"/>
              </a:p>
            </p:txBody>
          </p:sp>
          <p:sp>
            <p:nvSpPr>
              <p:cNvPr id="1395750" name="Rectangle 38"/>
              <p:cNvSpPr>
                <a:spLocks noChangeArrowheads="1"/>
              </p:cNvSpPr>
              <p:nvPr/>
            </p:nvSpPr>
            <p:spPr bwMode="auto">
              <a:xfrm>
                <a:off x="4593" y="1078"/>
                <a:ext cx="8" cy="8"/>
              </a:xfrm>
              <a:prstGeom prst="rect">
                <a:avLst/>
              </a:prstGeom>
              <a:solidFill>
                <a:srgbClr val="40458C"/>
              </a:solidFill>
              <a:ln w="9525">
                <a:noFill/>
                <a:miter lim="800000"/>
                <a:headEnd/>
                <a:tailEnd/>
              </a:ln>
            </p:spPr>
            <p:txBody>
              <a:bodyPr/>
              <a:lstStyle/>
              <a:p>
                <a:endParaRPr lang="en-US"/>
              </a:p>
            </p:txBody>
          </p:sp>
          <p:sp>
            <p:nvSpPr>
              <p:cNvPr id="1395751" name="Rectangle 39"/>
              <p:cNvSpPr>
                <a:spLocks noChangeArrowheads="1"/>
              </p:cNvSpPr>
              <p:nvPr/>
            </p:nvSpPr>
            <p:spPr bwMode="auto">
              <a:xfrm>
                <a:off x="4609" y="1078"/>
                <a:ext cx="7" cy="8"/>
              </a:xfrm>
              <a:prstGeom prst="rect">
                <a:avLst/>
              </a:prstGeom>
              <a:solidFill>
                <a:srgbClr val="40458C"/>
              </a:solidFill>
              <a:ln w="9525">
                <a:noFill/>
                <a:miter lim="800000"/>
                <a:headEnd/>
                <a:tailEnd/>
              </a:ln>
            </p:spPr>
            <p:txBody>
              <a:bodyPr/>
              <a:lstStyle/>
              <a:p>
                <a:endParaRPr lang="en-US"/>
              </a:p>
            </p:txBody>
          </p:sp>
          <p:sp>
            <p:nvSpPr>
              <p:cNvPr id="1395752" name="Rectangle 40"/>
              <p:cNvSpPr>
                <a:spLocks noChangeArrowheads="1"/>
              </p:cNvSpPr>
              <p:nvPr/>
            </p:nvSpPr>
            <p:spPr bwMode="auto">
              <a:xfrm>
                <a:off x="4624" y="1078"/>
                <a:ext cx="8" cy="8"/>
              </a:xfrm>
              <a:prstGeom prst="rect">
                <a:avLst/>
              </a:prstGeom>
              <a:solidFill>
                <a:srgbClr val="40458C"/>
              </a:solidFill>
              <a:ln w="9525">
                <a:noFill/>
                <a:miter lim="800000"/>
                <a:headEnd/>
                <a:tailEnd/>
              </a:ln>
            </p:spPr>
            <p:txBody>
              <a:bodyPr/>
              <a:lstStyle/>
              <a:p>
                <a:endParaRPr lang="en-US"/>
              </a:p>
            </p:txBody>
          </p:sp>
          <p:sp>
            <p:nvSpPr>
              <p:cNvPr id="1395753" name="Rectangle 41"/>
              <p:cNvSpPr>
                <a:spLocks noChangeArrowheads="1"/>
              </p:cNvSpPr>
              <p:nvPr/>
            </p:nvSpPr>
            <p:spPr bwMode="auto">
              <a:xfrm>
                <a:off x="4640" y="1078"/>
                <a:ext cx="8" cy="8"/>
              </a:xfrm>
              <a:prstGeom prst="rect">
                <a:avLst/>
              </a:prstGeom>
              <a:solidFill>
                <a:srgbClr val="40458C"/>
              </a:solidFill>
              <a:ln w="9525">
                <a:noFill/>
                <a:miter lim="800000"/>
                <a:headEnd/>
                <a:tailEnd/>
              </a:ln>
            </p:spPr>
            <p:txBody>
              <a:bodyPr/>
              <a:lstStyle/>
              <a:p>
                <a:endParaRPr lang="en-US"/>
              </a:p>
            </p:txBody>
          </p:sp>
          <p:sp>
            <p:nvSpPr>
              <p:cNvPr id="1395754" name="Rectangle 42"/>
              <p:cNvSpPr>
                <a:spLocks noChangeArrowheads="1"/>
              </p:cNvSpPr>
              <p:nvPr/>
            </p:nvSpPr>
            <p:spPr bwMode="auto">
              <a:xfrm>
                <a:off x="4656" y="1078"/>
                <a:ext cx="7" cy="8"/>
              </a:xfrm>
              <a:prstGeom prst="rect">
                <a:avLst/>
              </a:prstGeom>
              <a:solidFill>
                <a:srgbClr val="40458C"/>
              </a:solidFill>
              <a:ln w="9525">
                <a:noFill/>
                <a:miter lim="800000"/>
                <a:headEnd/>
                <a:tailEnd/>
              </a:ln>
            </p:spPr>
            <p:txBody>
              <a:bodyPr/>
              <a:lstStyle/>
              <a:p>
                <a:endParaRPr lang="en-US"/>
              </a:p>
            </p:txBody>
          </p:sp>
          <p:sp>
            <p:nvSpPr>
              <p:cNvPr id="1395755" name="Rectangle 43"/>
              <p:cNvSpPr>
                <a:spLocks noChangeArrowheads="1"/>
              </p:cNvSpPr>
              <p:nvPr/>
            </p:nvSpPr>
            <p:spPr bwMode="auto">
              <a:xfrm>
                <a:off x="4671" y="1078"/>
                <a:ext cx="8" cy="8"/>
              </a:xfrm>
              <a:prstGeom prst="rect">
                <a:avLst/>
              </a:prstGeom>
              <a:solidFill>
                <a:srgbClr val="40458C"/>
              </a:solidFill>
              <a:ln w="9525">
                <a:noFill/>
                <a:miter lim="800000"/>
                <a:headEnd/>
                <a:tailEnd/>
              </a:ln>
            </p:spPr>
            <p:txBody>
              <a:bodyPr/>
              <a:lstStyle/>
              <a:p>
                <a:endParaRPr lang="en-US"/>
              </a:p>
            </p:txBody>
          </p:sp>
          <p:sp>
            <p:nvSpPr>
              <p:cNvPr id="1395756" name="Rectangle 44"/>
              <p:cNvSpPr>
                <a:spLocks noChangeArrowheads="1"/>
              </p:cNvSpPr>
              <p:nvPr/>
            </p:nvSpPr>
            <p:spPr bwMode="auto">
              <a:xfrm>
                <a:off x="4687" y="1078"/>
                <a:ext cx="8" cy="8"/>
              </a:xfrm>
              <a:prstGeom prst="rect">
                <a:avLst/>
              </a:prstGeom>
              <a:solidFill>
                <a:srgbClr val="40458C"/>
              </a:solidFill>
              <a:ln w="9525">
                <a:noFill/>
                <a:miter lim="800000"/>
                <a:headEnd/>
                <a:tailEnd/>
              </a:ln>
            </p:spPr>
            <p:txBody>
              <a:bodyPr/>
              <a:lstStyle/>
              <a:p>
                <a:endParaRPr lang="en-US"/>
              </a:p>
            </p:txBody>
          </p:sp>
          <p:sp>
            <p:nvSpPr>
              <p:cNvPr id="1395757" name="Rectangle 45"/>
              <p:cNvSpPr>
                <a:spLocks noChangeArrowheads="1"/>
              </p:cNvSpPr>
              <p:nvPr/>
            </p:nvSpPr>
            <p:spPr bwMode="auto">
              <a:xfrm>
                <a:off x="4702" y="1078"/>
                <a:ext cx="8" cy="8"/>
              </a:xfrm>
              <a:prstGeom prst="rect">
                <a:avLst/>
              </a:prstGeom>
              <a:solidFill>
                <a:srgbClr val="40458C"/>
              </a:solidFill>
              <a:ln w="9525">
                <a:noFill/>
                <a:miter lim="800000"/>
                <a:headEnd/>
                <a:tailEnd/>
              </a:ln>
            </p:spPr>
            <p:txBody>
              <a:bodyPr/>
              <a:lstStyle/>
              <a:p>
                <a:endParaRPr lang="en-US"/>
              </a:p>
            </p:txBody>
          </p:sp>
          <p:sp>
            <p:nvSpPr>
              <p:cNvPr id="1395758" name="Rectangle 46"/>
              <p:cNvSpPr>
                <a:spLocks noChangeArrowheads="1"/>
              </p:cNvSpPr>
              <p:nvPr/>
            </p:nvSpPr>
            <p:spPr bwMode="auto">
              <a:xfrm>
                <a:off x="4718" y="1078"/>
                <a:ext cx="8" cy="8"/>
              </a:xfrm>
              <a:prstGeom prst="rect">
                <a:avLst/>
              </a:prstGeom>
              <a:solidFill>
                <a:srgbClr val="40458C"/>
              </a:solidFill>
              <a:ln w="9525">
                <a:noFill/>
                <a:miter lim="800000"/>
                <a:headEnd/>
                <a:tailEnd/>
              </a:ln>
            </p:spPr>
            <p:txBody>
              <a:bodyPr/>
              <a:lstStyle/>
              <a:p>
                <a:endParaRPr lang="en-US"/>
              </a:p>
            </p:txBody>
          </p:sp>
          <p:sp>
            <p:nvSpPr>
              <p:cNvPr id="1395759" name="Rectangle 47"/>
              <p:cNvSpPr>
                <a:spLocks noChangeArrowheads="1"/>
              </p:cNvSpPr>
              <p:nvPr/>
            </p:nvSpPr>
            <p:spPr bwMode="auto">
              <a:xfrm>
                <a:off x="4734" y="1078"/>
                <a:ext cx="7" cy="8"/>
              </a:xfrm>
              <a:prstGeom prst="rect">
                <a:avLst/>
              </a:prstGeom>
              <a:solidFill>
                <a:srgbClr val="40458C"/>
              </a:solidFill>
              <a:ln w="9525">
                <a:noFill/>
                <a:miter lim="800000"/>
                <a:headEnd/>
                <a:tailEnd/>
              </a:ln>
            </p:spPr>
            <p:txBody>
              <a:bodyPr/>
              <a:lstStyle/>
              <a:p>
                <a:endParaRPr lang="en-US"/>
              </a:p>
            </p:txBody>
          </p:sp>
          <p:sp>
            <p:nvSpPr>
              <p:cNvPr id="1395760" name="Rectangle 48"/>
              <p:cNvSpPr>
                <a:spLocks noChangeArrowheads="1"/>
              </p:cNvSpPr>
              <p:nvPr/>
            </p:nvSpPr>
            <p:spPr bwMode="auto">
              <a:xfrm>
                <a:off x="4749" y="1078"/>
                <a:ext cx="8" cy="8"/>
              </a:xfrm>
              <a:prstGeom prst="rect">
                <a:avLst/>
              </a:prstGeom>
              <a:solidFill>
                <a:srgbClr val="40458C"/>
              </a:solidFill>
              <a:ln w="9525">
                <a:noFill/>
                <a:miter lim="800000"/>
                <a:headEnd/>
                <a:tailEnd/>
              </a:ln>
            </p:spPr>
            <p:txBody>
              <a:bodyPr/>
              <a:lstStyle/>
              <a:p>
                <a:endParaRPr lang="en-US"/>
              </a:p>
            </p:txBody>
          </p:sp>
          <p:sp>
            <p:nvSpPr>
              <p:cNvPr id="1395761" name="Rectangle 49"/>
              <p:cNvSpPr>
                <a:spLocks noChangeArrowheads="1"/>
              </p:cNvSpPr>
              <p:nvPr/>
            </p:nvSpPr>
            <p:spPr bwMode="auto">
              <a:xfrm>
                <a:off x="4765" y="1078"/>
                <a:ext cx="8" cy="8"/>
              </a:xfrm>
              <a:prstGeom prst="rect">
                <a:avLst/>
              </a:prstGeom>
              <a:solidFill>
                <a:srgbClr val="40458C"/>
              </a:solidFill>
              <a:ln w="9525">
                <a:noFill/>
                <a:miter lim="800000"/>
                <a:headEnd/>
                <a:tailEnd/>
              </a:ln>
            </p:spPr>
            <p:txBody>
              <a:bodyPr/>
              <a:lstStyle/>
              <a:p>
                <a:endParaRPr lang="en-US"/>
              </a:p>
            </p:txBody>
          </p:sp>
          <p:sp>
            <p:nvSpPr>
              <p:cNvPr id="1395762" name="Rectangle 50"/>
              <p:cNvSpPr>
                <a:spLocks noChangeArrowheads="1"/>
              </p:cNvSpPr>
              <p:nvPr/>
            </p:nvSpPr>
            <p:spPr bwMode="auto">
              <a:xfrm>
                <a:off x="4780" y="1078"/>
                <a:ext cx="8" cy="8"/>
              </a:xfrm>
              <a:prstGeom prst="rect">
                <a:avLst/>
              </a:prstGeom>
              <a:solidFill>
                <a:srgbClr val="40458C"/>
              </a:solidFill>
              <a:ln w="9525">
                <a:noFill/>
                <a:miter lim="800000"/>
                <a:headEnd/>
                <a:tailEnd/>
              </a:ln>
            </p:spPr>
            <p:txBody>
              <a:bodyPr/>
              <a:lstStyle/>
              <a:p>
                <a:endParaRPr lang="en-US"/>
              </a:p>
            </p:txBody>
          </p:sp>
          <p:sp>
            <p:nvSpPr>
              <p:cNvPr id="1395763" name="Rectangle 51"/>
              <p:cNvSpPr>
                <a:spLocks noChangeArrowheads="1"/>
              </p:cNvSpPr>
              <p:nvPr/>
            </p:nvSpPr>
            <p:spPr bwMode="auto">
              <a:xfrm>
                <a:off x="4796" y="1078"/>
                <a:ext cx="8" cy="8"/>
              </a:xfrm>
              <a:prstGeom prst="rect">
                <a:avLst/>
              </a:prstGeom>
              <a:solidFill>
                <a:srgbClr val="40458C"/>
              </a:solidFill>
              <a:ln w="9525">
                <a:noFill/>
                <a:miter lim="800000"/>
                <a:headEnd/>
                <a:tailEnd/>
              </a:ln>
            </p:spPr>
            <p:txBody>
              <a:bodyPr/>
              <a:lstStyle/>
              <a:p>
                <a:endParaRPr lang="en-US"/>
              </a:p>
            </p:txBody>
          </p:sp>
          <p:sp>
            <p:nvSpPr>
              <p:cNvPr id="1395764" name="Rectangle 52"/>
              <p:cNvSpPr>
                <a:spLocks noChangeArrowheads="1"/>
              </p:cNvSpPr>
              <p:nvPr/>
            </p:nvSpPr>
            <p:spPr bwMode="auto">
              <a:xfrm>
                <a:off x="4812" y="1078"/>
                <a:ext cx="7" cy="8"/>
              </a:xfrm>
              <a:prstGeom prst="rect">
                <a:avLst/>
              </a:prstGeom>
              <a:solidFill>
                <a:srgbClr val="40458C"/>
              </a:solidFill>
              <a:ln w="9525">
                <a:noFill/>
                <a:miter lim="800000"/>
                <a:headEnd/>
                <a:tailEnd/>
              </a:ln>
            </p:spPr>
            <p:txBody>
              <a:bodyPr/>
              <a:lstStyle/>
              <a:p>
                <a:endParaRPr lang="en-US"/>
              </a:p>
            </p:txBody>
          </p:sp>
          <p:sp>
            <p:nvSpPr>
              <p:cNvPr id="1395765" name="Rectangle 53"/>
              <p:cNvSpPr>
                <a:spLocks noChangeArrowheads="1"/>
              </p:cNvSpPr>
              <p:nvPr/>
            </p:nvSpPr>
            <p:spPr bwMode="auto">
              <a:xfrm>
                <a:off x="4827" y="1078"/>
                <a:ext cx="8" cy="8"/>
              </a:xfrm>
              <a:prstGeom prst="rect">
                <a:avLst/>
              </a:prstGeom>
              <a:solidFill>
                <a:srgbClr val="40458C"/>
              </a:solidFill>
              <a:ln w="9525">
                <a:noFill/>
                <a:miter lim="800000"/>
                <a:headEnd/>
                <a:tailEnd/>
              </a:ln>
            </p:spPr>
            <p:txBody>
              <a:bodyPr/>
              <a:lstStyle/>
              <a:p>
                <a:endParaRPr lang="en-US"/>
              </a:p>
            </p:txBody>
          </p:sp>
          <p:sp>
            <p:nvSpPr>
              <p:cNvPr id="1395766" name="Rectangle 54"/>
              <p:cNvSpPr>
                <a:spLocks noChangeArrowheads="1"/>
              </p:cNvSpPr>
              <p:nvPr/>
            </p:nvSpPr>
            <p:spPr bwMode="auto">
              <a:xfrm>
                <a:off x="4843" y="1078"/>
                <a:ext cx="8" cy="8"/>
              </a:xfrm>
              <a:prstGeom prst="rect">
                <a:avLst/>
              </a:prstGeom>
              <a:solidFill>
                <a:srgbClr val="40458C"/>
              </a:solidFill>
              <a:ln w="9525">
                <a:noFill/>
                <a:miter lim="800000"/>
                <a:headEnd/>
                <a:tailEnd/>
              </a:ln>
            </p:spPr>
            <p:txBody>
              <a:bodyPr/>
              <a:lstStyle/>
              <a:p>
                <a:endParaRPr lang="en-US"/>
              </a:p>
            </p:txBody>
          </p:sp>
          <p:sp>
            <p:nvSpPr>
              <p:cNvPr id="1395767" name="Rectangle 55"/>
              <p:cNvSpPr>
                <a:spLocks noChangeArrowheads="1"/>
              </p:cNvSpPr>
              <p:nvPr/>
            </p:nvSpPr>
            <p:spPr bwMode="auto">
              <a:xfrm>
                <a:off x="4858" y="1078"/>
                <a:ext cx="8" cy="8"/>
              </a:xfrm>
              <a:prstGeom prst="rect">
                <a:avLst/>
              </a:prstGeom>
              <a:solidFill>
                <a:srgbClr val="40458C"/>
              </a:solidFill>
              <a:ln w="9525">
                <a:noFill/>
                <a:miter lim="800000"/>
                <a:headEnd/>
                <a:tailEnd/>
              </a:ln>
            </p:spPr>
            <p:txBody>
              <a:bodyPr/>
              <a:lstStyle/>
              <a:p>
                <a:endParaRPr lang="en-US"/>
              </a:p>
            </p:txBody>
          </p:sp>
          <p:sp>
            <p:nvSpPr>
              <p:cNvPr id="1395768" name="Rectangle 56"/>
              <p:cNvSpPr>
                <a:spLocks noChangeArrowheads="1"/>
              </p:cNvSpPr>
              <p:nvPr/>
            </p:nvSpPr>
            <p:spPr bwMode="auto">
              <a:xfrm>
                <a:off x="4874" y="1078"/>
                <a:ext cx="8" cy="8"/>
              </a:xfrm>
              <a:prstGeom prst="rect">
                <a:avLst/>
              </a:prstGeom>
              <a:solidFill>
                <a:srgbClr val="40458C"/>
              </a:solidFill>
              <a:ln w="9525">
                <a:noFill/>
                <a:miter lim="800000"/>
                <a:headEnd/>
                <a:tailEnd/>
              </a:ln>
            </p:spPr>
            <p:txBody>
              <a:bodyPr/>
              <a:lstStyle/>
              <a:p>
                <a:endParaRPr lang="en-US"/>
              </a:p>
            </p:txBody>
          </p:sp>
          <p:sp>
            <p:nvSpPr>
              <p:cNvPr id="1395769" name="Rectangle 57"/>
              <p:cNvSpPr>
                <a:spLocks noChangeArrowheads="1"/>
              </p:cNvSpPr>
              <p:nvPr/>
            </p:nvSpPr>
            <p:spPr bwMode="auto">
              <a:xfrm>
                <a:off x="4890" y="1078"/>
                <a:ext cx="8" cy="8"/>
              </a:xfrm>
              <a:prstGeom prst="rect">
                <a:avLst/>
              </a:prstGeom>
              <a:solidFill>
                <a:srgbClr val="40458C"/>
              </a:solidFill>
              <a:ln w="9525">
                <a:noFill/>
                <a:miter lim="800000"/>
                <a:headEnd/>
                <a:tailEnd/>
              </a:ln>
            </p:spPr>
            <p:txBody>
              <a:bodyPr/>
              <a:lstStyle/>
              <a:p>
                <a:endParaRPr lang="en-US"/>
              </a:p>
            </p:txBody>
          </p:sp>
          <p:sp>
            <p:nvSpPr>
              <p:cNvPr id="1395770" name="Rectangle 58"/>
              <p:cNvSpPr>
                <a:spLocks noChangeArrowheads="1"/>
              </p:cNvSpPr>
              <p:nvPr/>
            </p:nvSpPr>
            <p:spPr bwMode="auto">
              <a:xfrm>
                <a:off x="4905" y="1078"/>
                <a:ext cx="8" cy="8"/>
              </a:xfrm>
              <a:prstGeom prst="rect">
                <a:avLst/>
              </a:prstGeom>
              <a:solidFill>
                <a:srgbClr val="40458C"/>
              </a:solidFill>
              <a:ln w="9525">
                <a:noFill/>
                <a:miter lim="800000"/>
                <a:headEnd/>
                <a:tailEnd/>
              </a:ln>
            </p:spPr>
            <p:txBody>
              <a:bodyPr/>
              <a:lstStyle/>
              <a:p>
                <a:endParaRPr lang="en-US"/>
              </a:p>
            </p:txBody>
          </p:sp>
          <p:sp>
            <p:nvSpPr>
              <p:cNvPr id="1395771" name="Rectangle 59"/>
              <p:cNvSpPr>
                <a:spLocks noChangeArrowheads="1"/>
              </p:cNvSpPr>
              <p:nvPr/>
            </p:nvSpPr>
            <p:spPr bwMode="auto">
              <a:xfrm>
                <a:off x="4921" y="1078"/>
                <a:ext cx="8" cy="8"/>
              </a:xfrm>
              <a:prstGeom prst="rect">
                <a:avLst/>
              </a:prstGeom>
              <a:solidFill>
                <a:srgbClr val="40458C"/>
              </a:solidFill>
              <a:ln w="9525">
                <a:noFill/>
                <a:miter lim="800000"/>
                <a:headEnd/>
                <a:tailEnd/>
              </a:ln>
            </p:spPr>
            <p:txBody>
              <a:bodyPr/>
              <a:lstStyle/>
              <a:p>
                <a:endParaRPr lang="en-US"/>
              </a:p>
            </p:txBody>
          </p:sp>
          <p:sp>
            <p:nvSpPr>
              <p:cNvPr id="1395772" name="Rectangle 60"/>
              <p:cNvSpPr>
                <a:spLocks noChangeArrowheads="1"/>
              </p:cNvSpPr>
              <p:nvPr/>
            </p:nvSpPr>
            <p:spPr bwMode="auto">
              <a:xfrm>
                <a:off x="4937" y="1078"/>
                <a:ext cx="7" cy="8"/>
              </a:xfrm>
              <a:prstGeom prst="rect">
                <a:avLst/>
              </a:prstGeom>
              <a:solidFill>
                <a:srgbClr val="40458C"/>
              </a:solidFill>
              <a:ln w="9525">
                <a:noFill/>
                <a:miter lim="800000"/>
                <a:headEnd/>
                <a:tailEnd/>
              </a:ln>
            </p:spPr>
            <p:txBody>
              <a:bodyPr/>
              <a:lstStyle/>
              <a:p>
                <a:endParaRPr lang="en-US"/>
              </a:p>
            </p:txBody>
          </p:sp>
          <p:sp>
            <p:nvSpPr>
              <p:cNvPr id="1395773" name="Rectangle 61"/>
              <p:cNvSpPr>
                <a:spLocks noChangeArrowheads="1"/>
              </p:cNvSpPr>
              <p:nvPr/>
            </p:nvSpPr>
            <p:spPr bwMode="auto">
              <a:xfrm>
                <a:off x="4952" y="1078"/>
                <a:ext cx="8" cy="8"/>
              </a:xfrm>
              <a:prstGeom prst="rect">
                <a:avLst/>
              </a:prstGeom>
              <a:solidFill>
                <a:srgbClr val="40458C"/>
              </a:solidFill>
              <a:ln w="9525">
                <a:noFill/>
                <a:miter lim="800000"/>
                <a:headEnd/>
                <a:tailEnd/>
              </a:ln>
            </p:spPr>
            <p:txBody>
              <a:bodyPr/>
              <a:lstStyle/>
              <a:p>
                <a:endParaRPr lang="en-US"/>
              </a:p>
            </p:txBody>
          </p:sp>
          <p:sp>
            <p:nvSpPr>
              <p:cNvPr id="1395774" name="Rectangle 62"/>
              <p:cNvSpPr>
                <a:spLocks noChangeArrowheads="1"/>
              </p:cNvSpPr>
              <p:nvPr/>
            </p:nvSpPr>
            <p:spPr bwMode="auto">
              <a:xfrm>
                <a:off x="4968" y="1078"/>
                <a:ext cx="8" cy="8"/>
              </a:xfrm>
              <a:prstGeom prst="rect">
                <a:avLst/>
              </a:prstGeom>
              <a:solidFill>
                <a:srgbClr val="40458C"/>
              </a:solidFill>
              <a:ln w="9525">
                <a:noFill/>
                <a:miter lim="800000"/>
                <a:headEnd/>
                <a:tailEnd/>
              </a:ln>
            </p:spPr>
            <p:txBody>
              <a:bodyPr/>
              <a:lstStyle/>
              <a:p>
                <a:endParaRPr lang="en-US"/>
              </a:p>
            </p:txBody>
          </p:sp>
          <p:sp>
            <p:nvSpPr>
              <p:cNvPr id="1395775" name="Rectangle 63"/>
              <p:cNvSpPr>
                <a:spLocks noChangeArrowheads="1"/>
              </p:cNvSpPr>
              <p:nvPr/>
            </p:nvSpPr>
            <p:spPr bwMode="auto">
              <a:xfrm>
                <a:off x="4983" y="1078"/>
                <a:ext cx="8" cy="8"/>
              </a:xfrm>
              <a:prstGeom prst="rect">
                <a:avLst/>
              </a:prstGeom>
              <a:solidFill>
                <a:srgbClr val="40458C"/>
              </a:solidFill>
              <a:ln w="9525">
                <a:noFill/>
                <a:miter lim="800000"/>
                <a:headEnd/>
                <a:tailEnd/>
              </a:ln>
            </p:spPr>
            <p:txBody>
              <a:bodyPr/>
              <a:lstStyle/>
              <a:p>
                <a:endParaRPr lang="en-US"/>
              </a:p>
            </p:txBody>
          </p:sp>
          <p:sp>
            <p:nvSpPr>
              <p:cNvPr id="1395776" name="Rectangle 64"/>
              <p:cNvSpPr>
                <a:spLocks noChangeArrowheads="1"/>
              </p:cNvSpPr>
              <p:nvPr/>
            </p:nvSpPr>
            <p:spPr bwMode="auto">
              <a:xfrm>
                <a:off x="4999" y="1078"/>
                <a:ext cx="8" cy="8"/>
              </a:xfrm>
              <a:prstGeom prst="rect">
                <a:avLst/>
              </a:prstGeom>
              <a:solidFill>
                <a:srgbClr val="40458C"/>
              </a:solidFill>
              <a:ln w="9525">
                <a:noFill/>
                <a:miter lim="800000"/>
                <a:headEnd/>
                <a:tailEnd/>
              </a:ln>
            </p:spPr>
            <p:txBody>
              <a:bodyPr/>
              <a:lstStyle/>
              <a:p>
                <a:endParaRPr lang="en-US"/>
              </a:p>
            </p:txBody>
          </p:sp>
          <p:sp>
            <p:nvSpPr>
              <p:cNvPr id="1395777" name="Rectangle 65"/>
              <p:cNvSpPr>
                <a:spLocks noChangeArrowheads="1"/>
              </p:cNvSpPr>
              <p:nvPr/>
            </p:nvSpPr>
            <p:spPr bwMode="auto">
              <a:xfrm>
                <a:off x="5015" y="1078"/>
                <a:ext cx="7" cy="8"/>
              </a:xfrm>
              <a:prstGeom prst="rect">
                <a:avLst/>
              </a:prstGeom>
              <a:solidFill>
                <a:srgbClr val="40458C"/>
              </a:solidFill>
              <a:ln w="9525">
                <a:noFill/>
                <a:miter lim="800000"/>
                <a:headEnd/>
                <a:tailEnd/>
              </a:ln>
            </p:spPr>
            <p:txBody>
              <a:bodyPr/>
              <a:lstStyle/>
              <a:p>
                <a:endParaRPr lang="en-US"/>
              </a:p>
            </p:txBody>
          </p:sp>
          <p:sp>
            <p:nvSpPr>
              <p:cNvPr id="1395778" name="Rectangle 66"/>
              <p:cNvSpPr>
                <a:spLocks noChangeArrowheads="1"/>
              </p:cNvSpPr>
              <p:nvPr/>
            </p:nvSpPr>
            <p:spPr bwMode="auto">
              <a:xfrm>
                <a:off x="5030" y="1078"/>
                <a:ext cx="8" cy="8"/>
              </a:xfrm>
              <a:prstGeom prst="rect">
                <a:avLst/>
              </a:prstGeom>
              <a:solidFill>
                <a:srgbClr val="40458C"/>
              </a:solidFill>
              <a:ln w="9525">
                <a:noFill/>
                <a:miter lim="800000"/>
                <a:headEnd/>
                <a:tailEnd/>
              </a:ln>
            </p:spPr>
            <p:txBody>
              <a:bodyPr/>
              <a:lstStyle/>
              <a:p>
                <a:endParaRPr lang="en-US"/>
              </a:p>
            </p:txBody>
          </p:sp>
          <p:sp>
            <p:nvSpPr>
              <p:cNvPr id="1395779" name="Rectangle 67"/>
              <p:cNvSpPr>
                <a:spLocks noChangeArrowheads="1"/>
              </p:cNvSpPr>
              <p:nvPr/>
            </p:nvSpPr>
            <p:spPr bwMode="auto">
              <a:xfrm>
                <a:off x="5046" y="1078"/>
                <a:ext cx="8" cy="8"/>
              </a:xfrm>
              <a:prstGeom prst="rect">
                <a:avLst/>
              </a:prstGeom>
              <a:solidFill>
                <a:srgbClr val="40458C"/>
              </a:solidFill>
              <a:ln w="9525">
                <a:noFill/>
                <a:miter lim="800000"/>
                <a:headEnd/>
                <a:tailEnd/>
              </a:ln>
            </p:spPr>
            <p:txBody>
              <a:bodyPr/>
              <a:lstStyle/>
              <a:p>
                <a:endParaRPr lang="en-US"/>
              </a:p>
            </p:txBody>
          </p:sp>
          <p:sp>
            <p:nvSpPr>
              <p:cNvPr id="1395780" name="Rectangle 68"/>
              <p:cNvSpPr>
                <a:spLocks noChangeArrowheads="1"/>
              </p:cNvSpPr>
              <p:nvPr/>
            </p:nvSpPr>
            <p:spPr bwMode="auto">
              <a:xfrm>
                <a:off x="5061" y="1078"/>
                <a:ext cx="8" cy="8"/>
              </a:xfrm>
              <a:prstGeom prst="rect">
                <a:avLst/>
              </a:prstGeom>
              <a:solidFill>
                <a:srgbClr val="40458C"/>
              </a:solidFill>
              <a:ln w="9525">
                <a:noFill/>
                <a:miter lim="800000"/>
                <a:headEnd/>
                <a:tailEnd/>
              </a:ln>
            </p:spPr>
            <p:txBody>
              <a:bodyPr/>
              <a:lstStyle/>
              <a:p>
                <a:endParaRPr lang="en-US"/>
              </a:p>
            </p:txBody>
          </p:sp>
          <p:sp>
            <p:nvSpPr>
              <p:cNvPr id="1395781" name="Rectangle 69"/>
              <p:cNvSpPr>
                <a:spLocks noChangeArrowheads="1"/>
              </p:cNvSpPr>
              <p:nvPr/>
            </p:nvSpPr>
            <p:spPr bwMode="auto">
              <a:xfrm>
                <a:off x="5077" y="1078"/>
                <a:ext cx="8" cy="8"/>
              </a:xfrm>
              <a:prstGeom prst="rect">
                <a:avLst/>
              </a:prstGeom>
              <a:solidFill>
                <a:srgbClr val="40458C"/>
              </a:solidFill>
              <a:ln w="9525">
                <a:noFill/>
                <a:miter lim="800000"/>
                <a:headEnd/>
                <a:tailEnd/>
              </a:ln>
            </p:spPr>
            <p:txBody>
              <a:bodyPr/>
              <a:lstStyle/>
              <a:p>
                <a:endParaRPr lang="en-US"/>
              </a:p>
            </p:txBody>
          </p:sp>
          <p:sp>
            <p:nvSpPr>
              <p:cNvPr id="1395782" name="Rectangle 70"/>
              <p:cNvSpPr>
                <a:spLocks noChangeArrowheads="1"/>
              </p:cNvSpPr>
              <p:nvPr/>
            </p:nvSpPr>
            <p:spPr bwMode="auto">
              <a:xfrm>
                <a:off x="5093" y="1078"/>
                <a:ext cx="7" cy="8"/>
              </a:xfrm>
              <a:prstGeom prst="rect">
                <a:avLst/>
              </a:prstGeom>
              <a:solidFill>
                <a:srgbClr val="40458C"/>
              </a:solidFill>
              <a:ln w="9525">
                <a:noFill/>
                <a:miter lim="800000"/>
                <a:headEnd/>
                <a:tailEnd/>
              </a:ln>
            </p:spPr>
            <p:txBody>
              <a:bodyPr/>
              <a:lstStyle/>
              <a:p>
                <a:endParaRPr lang="en-US"/>
              </a:p>
            </p:txBody>
          </p:sp>
          <p:sp>
            <p:nvSpPr>
              <p:cNvPr id="1395783" name="Rectangle 71"/>
              <p:cNvSpPr>
                <a:spLocks noChangeArrowheads="1"/>
              </p:cNvSpPr>
              <p:nvPr/>
            </p:nvSpPr>
            <p:spPr bwMode="auto">
              <a:xfrm>
                <a:off x="5108" y="1078"/>
                <a:ext cx="8" cy="8"/>
              </a:xfrm>
              <a:prstGeom prst="rect">
                <a:avLst/>
              </a:prstGeom>
              <a:solidFill>
                <a:srgbClr val="40458C"/>
              </a:solidFill>
              <a:ln w="9525">
                <a:noFill/>
                <a:miter lim="800000"/>
                <a:headEnd/>
                <a:tailEnd/>
              </a:ln>
            </p:spPr>
            <p:txBody>
              <a:bodyPr/>
              <a:lstStyle/>
              <a:p>
                <a:endParaRPr lang="en-US"/>
              </a:p>
            </p:txBody>
          </p:sp>
          <p:sp>
            <p:nvSpPr>
              <p:cNvPr id="1395784" name="Rectangle 72"/>
              <p:cNvSpPr>
                <a:spLocks noChangeArrowheads="1"/>
              </p:cNvSpPr>
              <p:nvPr/>
            </p:nvSpPr>
            <p:spPr bwMode="auto">
              <a:xfrm>
                <a:off x="5124" y="1078"/>
                <a:ext cx="8" cy="8"/>
              </a:xfrm>
              <a:prstGeom prst="rect">
                <a:avLst/>
              </a:prstGeom>
              <a:solidFill>
                <a:srgbClr val="40458C"/>
              </a:solidFill>
              <a:ln w="9525">
                <a:noFill/>
                <a:miter lim="800000"/>
                <a:headEnd/>
                <a:tailEnd/>
              </a:ln>
            </p:spPr>
            <p:txBody>
              <a:bodyPr/>
              <a:lstStyle/>
              <a:p>
                <a:endParaRPr lang="en-US"/>
              </a:p>
            </p:txBody>
          </p:sp>
          <p:sp>
            <p:nvSpPr>
              <p:cNvPr id="1395785" name="Rectangle 73"/>
              <p:cNvSpPr>
                <a:spLocks noChangeArrowheads="1"/>
              </p:cNvSpPr>
              <p:nvPr/>
            </p:nvSpPr>
            <p:spPr bwMode="auto">
              <a:xfrm>
                <a:off x="5140" y="1078"/>
                <a:ext cx="7" cy="8"/>
              </a:xfrm>
              <a:prstGeom prst="rect">
                <a:avLst/>
              </a:prstGeom>
              <a:solidFill>
                <a:srgbClr val="40458C"/>
              </a:solidFill>
              <a:ln w="9525">
                <a:noFill/>
                <a:miter lim="800000"/>
                <a:headEnd/>
                <a:tailEnd/>
              </a:ln>
            </p:spPr>
            <p:txBody>
              <a:bodyPr/>
              <a:lstStyle/>
              <a:p>
                <a:endParaRPr lang="en-US"/>
              </a:p>
            </p:txBody>
          </p:sp>
          <p:sp>
            <p:nvSpPr>
              <p:cNvPr id="1395786" name="Rectangle 74"/>
              <p:cNvSpPr>
                <a:spLocks noChangeArrowheads="1"/>
              </p:cNvSpPr>
              <p:nvPr/>
            </p:nvSpPr>
            <p:spPr bwMode="auto">
              <a:xfrm>
                <a:off x="5155" y="1078"/>
                <a:ext cx="8" cy="8"/>
              </a:xfrm>
              <a:prstGeom prst="rect">
                <a:avLst/>
              </a:prstGeom>
              <a:solidFill>
                <a:srgbClr val="40458C"/>
              </a:solidFill>
              <a:ln w="9525">
                <a:noFill/>
                <a:miter lim="800000"/>
                <a:headEnd/>
                <a:tailEnd/>
              </a:ln>
            </p:spPr>
            <p:txBody>
              <a:bodyPr/>
              <a:lstStyle/>
              <a:p>
                <a:endParaRPr lang="en-US"/>
              </a:p>
            </p:txBody>
          </p:sp>
          <p:sp>
            <p:nvSpPr>
              <p:cNvPr id="1395787" name="Rectangle 75"/>
              <p:cNvSpPr>
                <a:spLocks noChangeArrowheads="1"/>
              </p:cNvSpPr>
              <p:nvPr/>
            </p:nvSpPr>
            <p:spPr bwMode="auto">
              <a:xfrm>
                <a:off x="5171" y="1078"/>
                <a:ext cx="8" cy="8"/>
              </a:xfrm>
              <a:prstGeom prst="rect">
                <a:avLst/>
              </a:prstGeom>
              <a:solidFill>
                <a:srgbClr val="40458C"/>
              </a:solidFill>
              <a:ln w="9525">
                <a:noFill/>
                <a:miter lim="800000"/>
                <a:headEnd/>
                <a:tailEnd/>
              </a:ln>
            </p:spPr>
            <p:txBody>
              <a:bodyPr/>
              <a:lstStyle/>
              <a:p>
                <a:endParaRPr lang="en-US"/>
              </a:p>
            </p:txBody>
          </p:sp>
          <p:sp>
            <p:nvSpPr>
              <p:cNvPr id="1395788" name="Rectangle 76"/>
              <p:cNvSpPr>
                <a:spLocks noChangeArrowheads="1"/>
              </p:cNvSpPr>
              <p:nvPr/>
            </p:nvSpPr>
            <p:spPr bwMode="auto">
              <a:xfrm>
                <a:off x="5186" y="1078"/>
                <a:ext cx="8" cy="8"/>
              </a:xfrm>
              <a:prstGeom prst="rect">
                <a:avLst/>
              </a:prstGeom>
              <a:solidFill>
                <a:srgbClr val="40458C"/>
              </a:solidFill>
              <a:ln w="9525">
                <a:noFill/>
                <a:miter lim="800000"/>
                <a:headEnd/>
                <a:tailEnd/>
              </a:ln>
            </p:spPr>
            <p:txBody>
              <a:bodyPr/>
              <a:lstStyle/>
              <a:p>
                <a:endParaRPr lang="en-US"/>
              </a:p>
            </p:txBody>
          </p:sp>
          <p:sp>
            <p:nvSpPr>
              <p:cNvPr id="1395789" name="Rectangle 77"/>
              <p:cNvSpPr>
                <a:spLocks noChangeArrowheads="1"/>
              </p:cNvSpPr>
              <p:nvPr/>
            </p:nvSpPr>
            <p:spPr bwMode="auto">
              <a:xfrm>
                <a:off x="5202" y="1078"/>
                <a:ext cx="8" cy="8"/>
              </a:xfrm>
              <a:prstGeom prst="rect">
                <a:avLst/>
              </a:prstGeom>
              <a:solidFill>
                <a:srgbClr val="40458C"/>
              </a:solidFill>
              <a:ln w="9525">
                <a:noFill/>
                <a:miter lim="800000"/>
                <a:headEnd/>
                <a:tailEnd/>
              </a:ln>
            </p:spPr>
            <p:txBody>
              <a:bodyPr/>
              <a:lstStyle/>
              <a:p>
                <a:endParaRPr lang="en-US"/>
              </a:p>
            </p:txBody>
          </p:sp>
          <p:sp>
            <p:nvSpPr>
              <p:cNvPr id="1395790" name="Rectangle 78"/>
              <p:cNvSpPr>
                <a:spLocks noChangeArrowheads="1"/>
              </p:cNvSpPr>
              <p:nvPr/>
            </p:nvSpPr>
            <p:spPr bwMode="auto">
              <a:xfrm>
                <a:off x="5218" y="1078"/>
                <a:ext cx="7" cy="8"/>
              </a:xfrm>
              <a:prstGeom prst="rect">
                <a:avLst/>
              </a:prstGeom>
              <a:solidFill>
                <a:srgbClr val="40458C"/>
              </a:solidFill>
              <a:ln w="9525">
                <a:noFill/>
                <a:miter lim="800000"/>
                <a:headEnd/>
                <a:tailEnd/>
              </a:ln>
            </p:spPr>
            <p:txBody>
              <a:bodyPr/>
              <a:lstStyle/>
              <a:p>
                <a:endParaRPr lang="en-US"/>
              </a:p>
            </p:txBody>
          </p:sp>
          <p:sp>
            <p:nvSpPr>
              <p:cNvPr id="1395791" name="Rectangle 79"/>
              <p:cNvSpPr>
                <a:spLocks noChangeArrowheads="1"/>
              </p:cNvSpPr>
              <p:nvPr/>
            </p:nvSpPr>
            <p:spPr bwMode="auto">
              <a:xfrm>
                <a:off x="5233" y="1078"/>
                <a:ext cx="8" cy="8"/>
              </a:xfrm>
              <a:prstGeom prst="rect">
                <a:avLst/>
              </a:prstGeom>
              <a:solidFill>
                <a:srgbClr val="40458C"/>
              </a:solidFill>
              <a:ln w="9525">
                <a:noFill/>
                <a:miter lim="800000"/>
                <a:headEnd/>
                <a:tailEnd/>
              </a:ln>
            </p:spPr>
            <p:txBody>
              <a:bodyPr/>
              <a:lstStyle/>
              <a:p>
                <a:endParaRPr lang="en-US"/>
              </a:p>
            </p:txBody>
          </p:sp>
          <p:sp>
            <p:nvSpPr>
              <p:cNvPr id="1395792" name="Rectangle 80"/>
              <p:cNvSpPr>
                <a:spLocks noChangeArrowheads="1"/>
              </p:cNvSpPr>
              <p:nvPr/>
            </p:nvSpPr>
            <p:spPr bwMode="auto">
              <a:xfrm>
                <a:off x="5249" y="1078"/>
                <a:ext cx="8" cy="8"/>
              </a:xfrm>
              <a:prstGeom prst="rect">
                <a:avLst/>
              </a:prstGeom>
              <a:solidFill>
                <a:srgbClr val="40458C"/>
              </a:solidFill>
              <a:ln w="9525">
                <a:noFill/>
                <a:miter lim="800000"/>
                <a:headEnd/>
                <a:tailEnd/>
              </a:ln>
            </p:spPr>
            <p:txBody>
              <a:bodyPr/>
              <a:lstStyle/>
              <a:p>
                <a:endParaRPr lang="en-US"/>
              </a:p>
            </p:txBody>
          </p:sp>
          <p:sp>
            <p:nvSpPr>
              <p:cNvPr id="1395793" name="Rectangle 81"/>
              <p:cNvSpPr>
                <a:spLocks noChangeArrowheads="1"/>
              </p:cNvSpPr>
              <p:nvPr/>
            </p:nvSpPr>
            <p:spPr bwMode="auto">
              <a:xfrm>
                <a:off x="5264" y="1078"/>
                <a:ext cx="8" cy="8"/>
              </a:xfrm>
              <a:prstGeom prst="rect">
                <a:avLst/>
              </a:prstGeom>
              <a:solidFill>
                <a:srgbClr val="40458C"/>
              </a:solidFill>
              <a:ln w="9525">
                <a:noFill/>
                <a:miter lim="800000"/>
                <a:headEnd/>
                <a:tailEnd/>
              </a:ln>
            </p:spPr>
            <p:txBody>
              <a:bodyPr/>
              <a:lstStyle/>
              <a:p>
                <a:endParaRPr lang="en-US"/>
              </a:p>
            </p:txBody>
          </p:sp>
          <p:sp>
            <p:nvSpPr>
              <p:cNvPr id="1395794" name="Rectangle 82"/>
              <p:cNvSpPr>
                <a:spLocks noChangeArrowheads="1"/>
              </p:cNvSpPr>
              <p:nvPr/>
            </p:nvSpPr>
            <p:spPr bwMode="auto">
              <a:xfrm>
                <a:off x="5280" y="1078"/>
                <a:ext cx="8" cy="8"/>
              </a:xfrm>
              <a:prstGeom prst="rect">
                <a:avLst/>
              </a:prstGeom>
              <a:solidFill>
                <a:srgbClr val="40458C"/>
              </a:solidFill>
              <a:ln w="9525">
                <a:noFill/>
                <a:miter lim="800000"/>
                <a:headEnd/>
                <a:tailEnd/>
              </a:ln>
            </p:spPr>
            <p:txBody>
              <a:bodyPr/>
              <a:lstStyle/>
              <a:p>
                <a:endParaRPr lang="en-US"/>
              </a:p>
            </p:txBody>
          </p:sp>
          <p:sp>
            <p:nvSpPr>
              <p:cNvPr id="1395795" name="Rectangle 83"/>
              <p:cNvSpPr>
                <a:spLocks noChangeArrowheads="1"/>
              </p:cNvSpPr>
              <p:nvPr/>
            </p:nvSpPr>
            <p:spPr bwMode="auto">
              <a:xfrm>
                <a:off x="5296" y="1078"/>
                <a:ext cx="7" cy="8"/>
              </a:xfrm>
              <a:prstGeom prst="rect">
                <a:avLst/>
              </a:prstGeom>
              <a:solidFill>
                <a:srgbClr val="40458C"/>
              </a:solidFill>
              <a:ln w="9525">
                <a:noFill/>
                <a:miter lim="800000"/>
                <a:headEnd/>
                <a:tailEnd/>
              </a:ln>
            </p:spPr>
            <p:txBody>
              <a:bodyPr/>
              <a:lstStyle/>
              <a:p>
                <a:endParaRPr lang="en-US"/>
              </a:p>
            </p:txBody>
          </p:sp>
          <p:sp>
            <p:nvSpPr>
              <p:cNvPr id="1395796" name="Rectangle 84"/>
              <p:cNvSpPr>
                <a:spLocks noChangeArrowheads="1"/>
              </p:cNvSpPr>
              <p:nvPr/>
            </p:nvSpPr>
            <p:spPr bwMode="auto">
              <a:xfrm>
                <a:off x="5311" y="1078"/>
                <a:ext cx="8" cy="8"/>
              </a:xfrm>
              <a:prstGeom prst="rect">
                <a:avLst/>
              </a:prstGeom>
              <a:solidFill>
                <a:srgbClr val="40458C"/>
              </a:solidFill>
              <a:ln w="9525">
                <a:noFill/>
                <a:miter lim="800000"/>
                <a:headEnd/>
                <a:tailEnd/>
              </a:ln>
            </p:spPr>
            <p:txBody>
              <a:bodyPr/>
              <a:lstStyle/>
              <a:p>
                <a:endParaRPr lang="en-US"/>
              </a:p>
            </p:txBody>
          </p:sp>
          <p:sp>
            <p:nvSpPr>
              <p:cNvPr id="1395797" name="Rectangle 85"/>
              <p:cNvSpPr>
                <a:spLocks noChangeArrowheads="1"/>
              </p:cNvSpPr>
              <p:nvPr/>
            </p:nvSpPr>
            <p:spPr bwMode="auto">
              <a:xfrm>
                <a:off x="5327" y="1078"/>
                <a:ext cx="8" cy="8"/>
              </a:xfrm>
              <a:prstGeom prst="rect">
                <a:avLst/>
              </a:prstGeom>
              <a:solidFill>
                <a:srgbClr val="40458C"/>
              </a:solidFill>
              <a:ln w="9525">
                <a:noFill/>
                <a:miter lim="800000"/>
                <a:headEnd/>
                <a:tailEnd/>
              </a:ln>
            </p:spPr>
            <p:txBody>
              <a:bodyPr/>
              <a:lstStyle/>
              <a:p>
                <a:endParaRPr lang="en-US"/>
              </a:p>
            </p:txBody>
          </p:sp>
          <p:sp>
            <p:nvSpPr>
              <p:cNvPr id="1395798" name="Rectangle 86"/>
              <p:cNvSpPr>
                <a:spLocks noChangeArrowheads="1"/>
              </p:cNvSpPr>
              <p:nvPr/>
            </p:nvSpPr>
            <p:spPr bwMode="auto">
              <a:xfrm>
                <a:off x="5343" y="1078"/>
                <a:ext cx="7" cy="8"/>
              </a:xfrm>
              <a:prstGeom prst="rect">
                <a:avLst/>
              </a:prstGeom>
              <a:solidFill>
                <a:srgbClr val="40458C"/>
              </a:solidFill>
              <a:ln w="9525">
                <a:noFill/>
                <a:miter lim="800000"/>
                <a:headEnd/>
                <a:tailEnd/>
              </a:ln>
            </p:spPr>
            <p:txBody>
              <a:bodyPr/>
              <a:lstStyle/>
              <a:p>
                <a:endParaRPr lang="en-US"/>
              </a:p>
            </p:txBody>
          </p:sp>
          <p:sp>
            <p:nvSpPr>
              <p:cNvPr id="1395799" name="Rectangle 87"/>
              <p:cNvSpPr>
                <a:spLocks noChangeArrowheads="1"/>
              </p:cNvSpPr>
              <p:nvPr/>
            </p:nvSpPr>
            <p:spPr bwMode="auto">
              <a:xfrm>
                <a:off x="5358" y="1078"/>
                <a:ext cx="8" cy="8"/>
              </a:xfrm>
              <a:prstGeom prst="rect">
                <a:avLst/>
              </a:prstGeom>
              <a:solidFill>
                <a:srgbClr val="40458C"/>
              </a:solidFill>
              <a:ln w="9525">
                <a:noFill/>
                <a:miter lim="800000"/>
                <a:headEnd/>
                <a:tailEnd/>
              </a:ln>
            </p:spPr>
            <p:txBody>
              <a:bodyPr/>
              <a:lstStyle/>
              <a:p>
                <a:endParaRPr lang="en-US"/>
              </a:p>
            </p:txBody>
          </p:sp>
          <p:sp>
            <p:nvSpPr>
              <p:cNvPr id="1395800" name="Rectangle 88"/>
              <p:cNvSpPr>
                <a:spLocks noChangeArrowheads="1"/>
              </p:cNvSpPr>
              <p:nvPr/>
            </p:nvSpPr>
            <p:spPr bwMode="auto">
              <a:xfrm>
                <a:off x="5374" y="1078"/>
                <a:ext cx="8" cy="8"/>
              </a:xfrm>
              <a:prstGeom prst="rect">
                <a:avLst/>
              </a:prstGeom>
              <a:solidFill>
                <a:srgbClr val="40458C"/>
              </a:solidFill>
              <a:ln w="9525">
                <a:noFill/>
                <a:miter lim="800000"/>
                <a:headEnd/>
                <a:tailEnd/>
              </a:ln>
            </p:spPr>
            <p:txBody>
              <a:bodyPr/>
              <a:lstStyle/>
              <a:p>
                <a:endParaRPr lang="en-US"/>
              </a:p>
            </p:txBody>
          </p:sp>
          <p:sp>
            <p:nvSpPr>
              <p:cNvPr id="1395801" name="Rectangle 89"/>
              <p:cNvSpPr>
                <a:spLocks noChangeArrowheads="1"/>
              </p:cNvSpPr>
              <p:nvPr/>
            </p:nvSpPr>
            <p:spPr bwMode="auto">
              <a:xfrm>
                <a:off x="5389" y="1078"/>
                <a:ext cx="8" cy="8"/>
              </a:xfrm>
              <a:prstGeom prst="rect">
                <a:avLst/>
              </a:prstGeom>
              <a:solidFill>
                <a:srgbClr val="40458C"/>
              </a:solidFill>
              <a:ln w="9525">
                <a:noFill/>
                <a:miter lim="800000"/>
                <a:headEnd/>
                <a:tailEnd/>
              </a:ln>
            </p:spPr>
            <p:txBody>
              <a:bodyPr/>
              <a:lstStyle/>
              <a:p>
                <a:endParaRPr lang="en-US"/>
              </a:p>
            </p:txBody>
          </p:sp>
          <p:sp>
            <p:nvSpPr>
              <p:cNvPr id="1395802" name="Rectangle 90"/>
              <p:cNvSpPr>
                <a:spLocks noChangeArrowheads="1"/>
              </p:cNvSpPr>
              <p:nvPr/>
            </p:nvSpPr>
            <p:spPr bwMode="auto">
              <a:xfrm>
                <a:off x="5405" y="1078"/>
                <a:ext cx="8" cy="8"/>
              </a:xfrm>
              <a:prstGeom prst="rect">
                <a:avLst/>
              </a:prstGeom>
              <a:solidFill>
                <a:srgbClr val="40458C"/>
              </a:solidFill>
              <a:ln w="9525">
                <a:noFill/>
                <a:miter lim="800000"/>
                <a:headEnd/>
                <a:tailEnd/>
              </a:ln>
            </p:spPr>
            <p:txBody>
              <a:bodyPr/>
              <a:lstStyle/>
              <a:p>
                <a:endParaRPr lang="en-US"/>
              </a:p>
            </p:txBody>
          </p:sp>
          <p:sp>
            <p:nvSpPr>
              <p:cNvPr id="1395803" name="Rectangle 91"/>
              <p:cNvSpPr>
                <a:spLocks noChangeArrowheads="1"/>
              </p:cNvSpPr>
              <p:nvPr/>
            </p:nvSpPr>
            <p:spPr bwMode="auto">
              <a:xfrm>
                <a:off x="5421" y="1078"/>
                <a:ext cx="7" cy="8"/>
              </a:xfrm>
              <a:prstGeom prst="rect">
                <a:avLst/>
              </a:prstGeom>
              <a:solidFill>
                <a:srgbClr val="40458C"/>
              </a:solidFill>
              <a:ln w="9525">
                <a:noFill/>
                <a:miter lim="800000"/>
                <a:headEnd/>
                <a:tailEnd/>
              </a:ln>
            </p:spPr>
            <p:txBody>
              <a:bodyPr/>
              <a:lstStyle/>
              <a:p>
                <a:endParaRPr lang="en-US"/>
              </a:p>
            </p:txBody>
          </p:sp>
          <p:sp>
            <p:nvSpPr>
              <p:cNvPr id="1395804" name="Rectangle 92"/>
              <p:cNvSpPr>
                <a:spLocks noChangeArrowheads="1"/>
              </p:cNvSpPr>
              <p:nvPr/>
            </p:nvSpPr>
            <p:spPr bwMode="auto">
              <a:xfrm>
                <a:off x="5436" y="1078"/>
                <a:ext cx="8" cy="8"/>
              </a:xfrm>
              <a:prstGeom prst="rect">
                <a:avLst/>
              </a:prstGeom>
              <a:solidFill>
                <a:srgbClr val="40458C"/>
              </a:solidFill>
              <a:ln w="9525">
                <a:noFill/>
                <a:miter lim="800000"/>
                <a:headEnd/>
                <a:tailEnd/>
              </a:ln>
            </p:spPr>
            <p:txBody>
              <a:bodyPr/>
              <a:lstStyle/>
              <a:p>
                <a:endParaRPr lang="en-US"/>
              </a:p>
            </p:txBody>
          </p:sp>
          <p:sp>
            <p:nvSpPr>
              <p:cNvPr id="1395805" name="Rectangle 93"/>
              <p:cNvSpPr>
                <a:spLocks noChangeArrowheads="1"/>
              </p:cNvSpPr>
              <p:nvPr/>
            </p:nvSpPr>
            <p:spPr bwMode="auto">
              <a:xfrm>
                <a:off x="5452" y="1078"/>
                <a:ext cx="8" cy="8"/>
              </a:xfrm>
              <a:prstGeom prst="rect">
                <a:avLst/>
              </a:prstGeom>
              <a:solidFill>
                <a:srgbClr val="40458C"/>
              </a:solidFill>
              <a:ln w="9525">
                <a:noFill/>
                <a:miter lim="800000"/>
                <a:headEnd/>
                <a:tailEnd/>
              </a:ln>
            </p:spPr>
            <p:txBody>
              <a:bodyPr/>
              <a:lstStyle/>
              <a:p>
                <a:endParaRPr lang="en-US"/>
              </a:p>
            </p:txBody>
          </p:sp>
        </p:grpSp>
        <p:sp>
          <p:nvSpPr>
            <p:cNvPr id="1395806" name="Freeform 94"/>
            <p:cNvSpPr>
              <a:spLocks/>
            </p:cNvSpPr>
            <p:nvPr/>
          </p:nvSpPr>
          <p:spPr bwMode="auto">
            <a:xfrm>
              <a:off x="4448" y="1110"/>
              <a:ext cx="103" cy="131"/>
            </a:xfrm>
            <a:custGeom>
              <a:avLst/>
              <a:gdLst/>
              <a:ahLst/>
              <a:cxnLst>
                <a:cxn ang="0">
                  <a:pos x="308" y="301"/>
                </a:cxn>
                <a:cxn ang="0">
                  <a:pos x="185" y="209"/>
                </a:cxn>
                <a:cxn ang="0">
                  <a:pos x="185" y="243"/>
                </a:cxn>
                <a:cxn ang="0">
                  <a:pos x="100" y="243"/>
                </a:cxn>
                <a:cxn ang="0">
                  <a:pos x="100" y="0"/>
                </a:cxn>
                <a:cxn ang="0">
                  <a:pos x="0" y="0"/>
                </a:cxn>
                <a:cxn ang="0">
                  <a:pos x="0" y="360"/>
                </a:cxn>
                <a:cxn ang="0">
                  <a:pos x="185" y="360"/>
                </a:cxn>
                <a:cxn ang="0">
                  <a:pos x="185" y="393"/>
                </a:cxn>
                <a:cxn ang="0">
                  <a:pos x="308" y="301"/>
                </a:cxn>
              </a:cxnLst>
              <a:rect l="0" t="0" r="r" b="b"/>
              <a:pathLst>
                <a:path w="308" h="393">
                  <a:moveTo>
                    <a:pt x="308" y="301"/>
                  </a:moveTo>
                  <a:lnTo>
                    <a:pt x="185" y="209"/>
                  </a:lnTo>
                  <a:lnTo>
                    <a:pt x="185" y="243"/>
                  </a:lnTo>
                  <a:lnTo>
                    <a:pt x="100" y="243"/>
                  </a:lnTo>
                  <a:lnTo>
                    <a:pt x="100" y="0"/>
                  </a:lnTo>
                  <a:lnTo>
                    <a:pt x="0" y="0"/>
                  </a:lnTo>
                  <a:lnTo>
                    <a:pt x="0" y="360"/>
                  </a:lnTo>
                  <a:lnTo>
                    <a:pt x="185" y="360"/>
                  </a:lnTo>
                  <a:lnTo>
                    <a:pt x="185" y="393"/>
                  </a:lnTo>
                  <a:lnTo>
                    <a:pt x="308" y="301"/>
                  </a:lnTo>
                  <a:close/>
                </a:path>
              </a:pathLst>
            </a:custGeom>
            <a:solidFill>
              <a:srgbClr val="40458C"/>
            </a:solidFill>
            <a:ln w="4763">
              <a:solidFill>
                <a:srgbClr val="40458C"/>
              </a:solidFill>
              <a:prstDash val="solid"/>
              <a:round/>
              <a:headEnd/>
              <a:tailEnd/>
            </a:ln>
          </p:spPr>
          <p:txBody>
            <a:bodyPr/>
            <a:lstStyle/>
            <a:p>
              <a:endParaRPr lang="en-US"/>
            </a:p>
          </p:txBody>
        </p:sp>
        <p:sp>
          <p:nvSpPr>
            <p:cNvPr id="1395807" name="Rectangle 95"/>
            <p:cNvSpPr>
              <a:spLocks noChangeArrowheads="1"/>
            </p:cNvSpPr>
            <p:nvPr/>
          </p:nvSpPr>
          <p:spPr bwMode="auto">
            <a:xfrm>
              <a:off x="4358" y="941"/>
              <a:ext cx="1138" cy="531"/>
            </a:xfrm>
            <a:prstGeom prst="rect">
              <a:avLst/>
            </a:prstGeom>
            <a:noFill/>
            <a:ln w="14288">
              <a:solidFill>
                <a:srgbClr val="40458C"/>
              </a:solidFill>
              <a:miter lim="800000"/>
              <a:headEnd/>
              <a:tailEnd/>
            </a:ln>
          </p:spPr>
          <p:txBody>
            <a:bodyPr/>
            <a:lstStyle/>
            <a:p>
              <a:endParaRPr lang="en-US"/>
            </a:p>
          </p:txBody>
        </p:sp>
        <p:sp>
          <p:nvSpPr>
            <p:cNvPr id="1395808" name="Freeform 96"/>
            <p:cNvSpPr>
              <a:spLocks/>
            </p:cNvSpPr>
            <p:nvPr/>
          </p:nvSpPr>
          <p:spPr bwMode="auto">
            <a:xfrm>
              <a:off x="4656" y="1318"/>
              <a:ext cx="102" cy="131"/>
            </a:xfrm>
            <a:custGeom>
              <a:avLst/>
              <a:gdLst/>
              <a:ahLst/>
              <a:cxnLst>
                <a:cxn ang="0">
                  <a:pos x="307" y="301"/>
                </a:cxn>
                <a:cxn ang="0">
                  <a:pos x="184" y="209"/>
                </a:cxn>
                <a:cxn ang="0">
                  <a:pos x="184" y="243"/>
                </a:cxn>
                <a:cxn ang="0">
                  <a:pos x="99" y="243"/>
                </a:cxn>
                <a:cxn ang="0">
                  <a:pos x="99" y="0"/>
                </a:cxn>
                <a:cxn ang="0">
                  <a:pos x="0" y="0"/>
                </a:cxn>
                <a:cxn ang="0">
                  <a:pos x="0" y="360"/>
                </a:cxn>
                <a:cxn ang="0">
                  <a:pos x="184" y="360"/>
                </a:cxn>
                <a:cxn ang="0">
                  <a:pos x="184" y="393"/>
                </a:cxn>
                <a:cxn ang="0">
                  <a:pos x="307" y="301"/>
                </a:cxn>
              </a:cxnLst>
              <a:rect l="0" t="0" r="r" b="b"/>
              <a:pathLst>
                <a:path w="307" h="393">
                  <a:moveTo>
                    <a:pt x="307" y="301"/>
                  </a:moveTo>
                  <a:lnTo>
                    <a:pt x="184" y="209"/>
                  </a:lnTo>
                  <a:lnTo>
                    <a:pt x="184" y="243"/>
                  </a:lnTo>
                  <a:lnTo>
                    <a:pt x="99" y="243"/>
                  </a:lnTo>
                  <a:lnTo>
                    <a:pt x="99" y="0"/>
                  </a:lnTo>
                  <a:lnTo>
                    <a:pt x="0" y="0"/>
                  </a:lnTo>
                  <a:lnTo>
                    <a:pt x="0" y="360"/>
                  </a:lnTo>
                  <a:lnTo>
                    <a:pt x="184" y="360"/>
                  </a:lnTo>
                  <a:lnTo>
                    <a:pt x="184" y="393"/>
                  </a:lnTo>
                  <a:lnTo>
                    <a:pt x="307" y="301"/>
                  </a:lnTo>
                  <a:close/>
                </a:path>
              </a:pathLst>
            </a:custGeom>
            <a:solidFill>
              <a:srgbClr val="40458C"/>
            </a:solidFill>
            <a:ln w="4763">
              <a:solidFill>
                <a:srgbClr val="40458C"/>
              </a:solidFill>
              <a:prstDash val="solid"/>
              <a:round/>
              <a:headEnd/>
              <a:tailEnd/>
            </a:ln>
          </p:spPr>
          <p:txBody>
            <a:bodyPr/>
            <a:lstStyle/>
            <a:p>
              <a:endParaRPr lang="en-US"/>
            </a:p>
          </p:txBody>
        </p:sp>
        <p:grpSp>
          <p:nvGrpSpPr>
            <p:cNvPr id="1395809" name="Group 97"/>
            <p:cNvGrpSpPr>
              <a:grpSpLocks/>
            </p:cNvGrpSpPr>
            <p:nvPr/>
          </p:nvGrpSpPr>
          <p:grpSpPr bwMode="auto">
            <a:xfrm>
              <a:off x="4411" y="1279"/>
              <a:ext cx="1069" cy="8"/>
              <a:chOff x="4411" y="1279"/>
              <a:chExt cx="1069" cy="8"/>
            </a:xfrm>
          </p:grpSpPr>
          <p:sp>
            <p:nvSpPr>
              <p:cNvPr id="1395810" name="Rectangle 98"/>
              <p:cNvSpPr>
                <a:spLocks noChangeArrowheads="1"/>
              </p:cNvSpPr>
              <p:nvPr/>
            </p:nvSpPr>
            <p:spPr bwMode="auto">
              <a:xfrm>
                <a:off x="4411" y="1279"/>
                <a:ext cx="7" cy="8"/>
              </a:xfrm>
              <a:prstGeom prst="rect">
                <a:avLst/>
              </a:prstGeom>
              <a:solidFill>
                <a:srgbClr val="40458C"/>
              </a:solidFill>
              <a:ln w="9525">
                <a:noFill/>
                <a:miter lim="800000"/>
                <a:headEnd/>
                <a:tailEnd/>
              </a:ln>
            </p:spPr>
            <p:txBody>
              <a:bodyPr/>
              <a:lstStyle/>
              <a:p>
                <a:endParaRPr lang="en-US"/>
              </a:p>
            </p:txBody>
          </p:sp>
          <p:sp>
            <p:nvSpPr>
              <p:cNvPr id="1395811" name="Rectangle 99"/>
              <p:cNvSpPr>
                <a:spLocks noChangeArrowheads="1"/>
              </p:cNvSpPr>
              <p:nvPr/>
            </p:nvSpPr>
            <p:spPr bwMode="auto">
              <a:xfrm>
                <a:off x="4426" y="1279"/>
                <a:ext cx="8" cy="8"/>
              </a:xfrm>
              <a:prstGeom prst="rect">
                <a:avLst/>
              </a:prstGeom>
              <a:solidFill>
                <a:srgbClr val="40458C"/>
              </a:solidFill>
              <a:ln w="9525">
                <a:noFill/>
                <a:miter lim="800000"/>
                <a:headEnd/>
                <a:tailEnd/>
              </a:ln>
            </p:spPr>
            <p:txBody>
              <a:bodyPr/>
              <a:lstStyle/>
              <a:p>
                <a:endParaRPr lang="en-US"/>
              </a:p>
            </p:txBody>
          </p:sp>
          <p:sp>
            <p:nvSpPr>
              <p:cNvPr id="1395812" name="Rectangle 100"/>
              <p:cNvSpPr>
                <a:spLocks noChangeArrowheads="1"/>
              </p:cNvSpPr>
              <p:nvPr/>
            </p:nvSpPr>
            <p:spPr bwMode="auto">
              <a:xfrm>
                <a:off x="4442" y="1279"/>
                <a:ext cx="8" cy="8"/>
              </a:xfrm>
              <a:prstGeom prst="rect">
                <a:avLst/>
              </a:prstGeom>
              <a:solidFill>
                <a:srgbClr val="40458C"/>
              </a:solidFill>
              <a:ln w="9525">
                <a:noFill/>
                <a:miter lim="800000"/>
                <a:headEnd/>
                <a:tailEnd/>
              </a:ln>
            </p:spPr>
            <p:txBody>
              <a:bodyPr/>
              <a:lstStyle/>
              <a:p>
                <a:endParaRPr lang="en-US"/>
              </a:p>
            </p:txBody>
          </p:sp>
          <p:sp>
            <p:nvSpPr>
              <p:cNvPr id="1395813" name="Rectangle 101"/>
              <p:cNvSpPr>
                <a:spLocks noChangeArrowheads="1"/>
              </p:cNvSpPr>
              <p:nvPr/>
            </p:nvSpPr>
            <p:spPr bwMode="auto">
              <a:xfrm>
                <a:off x="4457" y="1279"/>
                <a:ext cx="8" cy="8"/>
              </a:xfrm>
              <a:prstGeom prst="rect">
                <a:avLst/>
              </a:prstGeom>
              <a:solidFill>
                <a:srgbClr val="40458C"/>
              </a:solidFill>
              <a:ln w="9525">
                <a:noFill/>
                <a:miter lim="800000"/>
                <a:headEnd/>
                <a:tailEnd/>
              </a:ln>
            </p:spPr>
            <p:txBody>
              <a:bodyPr/>
              <a:lstStyle/>
              <a:p>
                <a:endParaRPr lang="en-US"/>
              </a:p>
            </p:txBody>
          </p:sp>
          <p:sp>
            <p:nvSpPr>
              <p:cNvPr id="1395814" name="Rectangle 102"/>
              <p:cNvSpPr>
                <a:spLocks noChangeArrowheads="1"/>
              </p:cNvSpPr>
              <p:nvPr/>
            </p:nvSpPr>
            <p:spPr bwMode="auto">
              <a:xfrm>
                <a:off x="4473" y="1279"/>
                <a:ext cx="8" cy="8"/>
              </a:xfrm>
              <a:prstGeom prst="rect">
                <a:avLst/>
              </a:prstGeom>
              <a:solidFill>
                <a:srgbClr val="40458C"/>
              </a:solidFill>
              <a:ln w="9525">
                <a:noFill/>
                <a:miter lim="800000"/>
                <a:headEnd/>
                <a:tailEnd/>
              </a:ln>
            </p:spPr>
            <p:txBody>
              <a:bodyPr/>
              <a:lstStyle/>
              <a:p>
                <a:endParaRPr lang="en-US"/>
              </a:p>
            </p:txBody>
          </p:sp>
          <p:sp>
            <p:nvSpPr>
              <p:cNvPr id="1395815" name="Rectangle 103"/>
              <p:cNvSpPr>
                <a:spLocks noChangeArrowheads="1"/>
              </p:cNvSpPr>
              <p:nvPr/>
            </p:nvSpPr>
            <p:spPr bwMode="auto">
              <a:xfrm>
                <a:off x="4489" y="1279"/>
                <a:ext cx="7" cy="8"/>
              </a:xfrm>
              <a:prstGeom prst="rect">
                <a:avLst/>
              </a:prstGeom>
              <a:solidFill>
                <a:srgbClr val="40458C"/>
              </a:solidFill>
              <a:ln w="9525">
                <a:noFill/>
                <a:miter lim="800000"/>
                <a:headEnd/>
                <a:tailEnd/>
              </a:ln>
            </p:spPr>
            <p:txBody>
              <a:bodyPr/>
              <a:lstStyle/>
              <a:p>
                <a:endParaRPr lang="en-US"/>
              </a:p>
            </p:txBody>
          </p:sp>
          <p:sp>
            <p:nvSpPr>
              <p:cNvPr id="1395816" name="Rectangle 104"/>
              <p:cNvSpPr>
                <a:spLocks noChangeArrowheads="1"/>
              </p:cNvSpPr>
              <p:nvPr/>
            </p:nvSpPr>
            <p:spPr bwMode="auto">
              <a:xfrm>
                <a:off x="4504" y="1279"/>
                <a:ext cx="8" cy="8"/>
              </a:xfrm>
              <a:prstGeom prst="rect">
                <a:avLst/>
              </a:prstGeom>
              <a:solidFill>
                <a:srgbClr val="40458C"/>
              </a:solidFill>
              <a:ln w="9525">
                <a:noFill/>
                <a:miter lim="800000"/>
                <a:headEnd/>
                <a:tailEnd/>
              </a:ln>
            </p:spPr>
            <p:txBody>
              <a:bodyPr/>
              <a:lstStyle/>
              <a:p>
                <a:endParaRPr lang="en-US"/>
              </a:p>
            </p:txBody>
          </p:sp>
          <p:sp>
            <p:nvSpPr>
              <p:cNvPr id="1395817" name="Rectangle 105"/>
              <p:cNvSpPr>
                <a:spLocks noChangeArrowheads="1"/>
              </p:cNvSpPr>
              <p:nvPr/>
            </p:nvSpPr>
            <p:spPr bwMode="auto">
              <a:xfrm>
                <a:off x="4520" y="1279"/>
                <a:ext cx="8" cy="8"/>
              </a:xfrm>
              <a:prstGeom prst="rect">
                <a:avLst/>
              </a:prstGeom>
              <a:solidFill>
                <a:srgbClr val="40458C"/>
              </a:solidFill>
              <a:ln w="9525">
                <a:noFill/>
                <a:miter lim="800000"/>
                <a:headEnd/>
                <a:tailEnd/>
              </a:ln>
            </p:spPr>
            <p:txBody>
              <a:bodyPr/>
              <a:lstStyle/>
              <a:p>
                <a:endParaRPr lang="en-US"/>
              </a:p>
            </p:txBody>
          </p:sp>
          <p:sp>
            <p:nvSpPr>
              <p:cNvPr id="1395818" name="Rectangle 106"/>
              <p:cNvSpPr>
                <a:spLocks noChangeArrowheads="1"/>
              </p:cNvSpPr>
              <p:nvPr/>
            </p:nvSpPr>
            <p:spPr bwMode="auto">
              <a:xfrm>
                <a:off x="4536" y="1279"/>
                <a:ext cx="7" cy="8"/>
              </a:xfrm>
              <a:prstGeom prst="rect">
                <a:avLst/>
              </a:prstGeom>
              <a:solidFill>
                <a:srgbClr val="40458C"/>
              </a:solidFill>
              <a:ln w="9525">
                <a:noFill/>
                <a:miter lim="800000"/>
                <a:headEnd/>
                <a:tailEnd/>
              </a:ln>
            </p:spPr>
            <p:txBody>
              <a:bodyPr/>
              <a:lstStyle/>
              <a:p>
                <a:endParaRPr lang="en-US"/>
              </a:p>
            </p:txBody>
          </p:sp>
          <p:sp>
            <p:nvSpPr>
              <p:cNvPr id="1395819" name="Rectangle 107"/>
              <p:cNvSpPr>
                <a:spLocks noChangeArrowheads="1"/>
              </p:cNvSpPr>
              <p:nvPr/>
            </p:nvSpPr>
            <p:spPr bwMode="auto">
              <a:xfrm>
                <a:off x="4551" y="1279"/>
                <a:ext cx="8" cy="8"/>
              </a:xfrm>
              <a:prstGeom prst="rect">
                <a:avLst/>
              </a:prstGeom>
              <a:solidFill>
                <a:srgbClr val="40458C"/>
              </a:solidFill>
              <a:ln w="9525">
                <a:noFill/>
                <a:miter lim="800000"/>
                <a:headEnd/>
                <a:tailEnd/>
              </a:ln>
            </p:spPr>
            <p:txBody>
              <a:bodyPr/>
              <a:lstStyle/>
              <a:p>
                <a:endParaRPr lang="en-US"/>
              </a:p>
            </p:txBody>
          </p:sp>
          <p:sp>
            <p:nvSpPr>
              <p:cNvPr id="1395820" name="Rectangle 108"/>
              <p:cNvSpPr>
                <a:spLocks noChangeArrowheads="1"/>
              </p:cNvSpPr>
              <p:nvPr/>
            </p:nvSpPr>
            <p:spPr bwMode="auto">
              <a:xfrm>
                <a:off x="4567" y="1279"/>
                <a:ext cx="8" cy="8"/>
              </a:xfrm>
              <a:prstGeom prst="rect">
                <a:avLst/>
              </a:prstGeom>
              <a:solidFill>
                <a:srgbClr val="40458C"/>
              </a:solidFill>
              <a:ln w="9525">
                <a:noFill/>
                <a:miter lim="800000"/>
                <a:headEnd/>
                <a:tailEnd/>
              </a:ln>
            </p:spPr>
            <p:txBody>
              <a:bodyPr/>
              <a:lstStyle/>
              <a:p>
                <a:endParaRPr lang="en-US"/>
              </a:p>
            </p:txBody>
          </p:sp>
          <p:sp>
            <p:nvSpPr>
              <p:cNvPr id="1395821" name="Rectangle 109"/>
              <p:cNvSpPr>
                <a:spLocks noChangeArrowheads="1"/>
              </p:cNvSpPr>
              <p:nvPr/>
            </p:nvSpPr>
            <p:spPr bwMode="auto">
              <a:xfrm>
                <a:off x="4582" y="1279"/>
                <a:ext cx="8" cy="8"/>
              </a:xfrm>
              <a:prstGeom prst="rect">
                <a:avLst/>
              </a:prstGeom>
              <a:solidFill>
                <a:srgbClr val="40458C"/>
              </a:solidFill>
              <a:ln w="9525">
                <a:noFill/>
                <a:miter lim="800000"/>
                <a:headEnd/>
                <a:tailEnd/>
              </a:ln>
            </p:spPr>
            <p:txBody>
              <a:bodyPr/>
              <a:lstStyle/>
              <a:p>
                <a:endParaRPr lang="en-US"/>
              </a:p>
            </p:txBody>
          </p:sp>
          <p:sp>
            <p:nvSpPr>
              <p:cNvPr id="1395822" name="Rectangle 110"/>
              <p:cNvSpPr>
                <a:spLocks noChangeArrowheads="1"/>
              </p:cNvSpPr>
              <p:nvPr/>
            </p:nvSpPr>
            <p:spPr bwMode="auto">
              <a:xfrm>
                <a:off x="4598" y="1279"/>
                <a:ext cx="8" cy="8"/>
              </a:xfrm>
              <a:prstGeom prst="rect">
                <a:avLst/>
              </a:prstGeom>
              <a:solidFill>
                <a:srgbClr val="40458C"/>
              </a:solidFill>
              <a:ln w="9525">
                <a:noFill/>
                <a:miter lim="800000"/>
                <a:headEnd/>
                <a:tailEnd/>
              </a:ln>
            </p:spPr>
            <p:txBody>
              <a:bodyPr/>
              <a:lstStyle/>
              <a:p>
                <a:endParaRPr lang="en-US"/>
              </a:p>
            </p:txBody>
          </p:sp>
          <p:sp>
            <p:nvSpPr>
              <p:cNvPr id="1395823" name="Rectangle 111"/>
              <p:cNvSpPr>
                <a:spLocks noChangeArrowheads="1"/>
              </p:cNvSpPr>
              <p:nvPr/>
            </p:nvSpPr>
            <p:spPr bwMode="auto">
              <a:xfrm>
                <a:off x="4614" y="1279"/>
                <a:ext cx="7" cy="8"/>
              </a:xfrm>
              <a:prstGeom prst="rect">
                <a:avLst/>
              </a:prstGeom>
              <a:solidFill>
                <a:srgbClr val="40458C"/>
              </a:solidFill>
              <a:ln w="9525">
                <a:noFill/>
                <a:miter lim="800000"/>
                <a:headEnd/>
                <a:tailEnd/>
              </a:ln>
            </p:spPr>
            <p:txBody>
              <a:bodyPr/>
              <a:lstStyle/>
              <a:p>
                <a:endParaRPr lang="en-US"/>
              </a:p>
            </p:txBody>
          </p:sp>
          <p:sp>
            <p:nvSpPr>
              <p:cNvPr id="1395824" name="Rectangle 112"/>
              <p:cNvSpPr>
                <a:spLocks noChangeArrowheads="1"/>
              </p:cNvSpPr>
              <p:nvPr/>
            </p:nvSpPr>
            <p:spPr bwMode="auto">
              <a:xfrm>
                <a:off x="4629" y="1279"/>
                <a:ext cx="8" cy="8"/>
              </a:xfrm>
              <a:prstGeom prst="rect">
                <a:avLst/>
              </a:prstGeom>
              <a:solidFill>
                <a:srgbClr val="40458C"/>
              </a:solidFill>
              <a:ln w="9525">
                <a:noFill/>
                <a:miter lim="800000"/>
                <a:headEnd/>
                <a:tailEnd/>
              </a:ln>
            </p:spPr>
            <p:txBody>
              <a:bodyPr/>
              <a:lstStyle/>
              <a:p>
                <a:endParaRPr lang="en-US"/>
              </a:p>
            </p:txBody>
          </p:sp>
          <p:sp>
            <p:nvSpPr>
              <p:cNvPr id="1395825" name="Rectangle 113"/>
              <p:cNvSpPr>
                <a:spLocks noChangeArrowheads="1"/>
              </p:cNvSpPr>
              <p:nvPr/>
            </p:nvSpPr>
            <p:spPr bwMode="auto">
              <a:xfrm>
                <a:off x="4645" y="1279"/>
                <a:ext cx="8" cy="8"/>
              </a:xfrm>
              <a:prstGeom prst="rect">
                <a:avLst/>
              </a:prstGeom>
              <a:solidFill>
                <a:srgbClr val="40458C"/>
              </a:solidFill>
              <a:ln w="9525">
                <a:noFill/>
                <a:miter lim="800000"/>
                <a:headEnd/>
                <a:tailEnd/>
              </a:ln>
            </p:spPr>
            <p:txBody>
              <a:bodyPr/>
              <a:lstStyle/>
              <a:p>
                <a:endParaRPr lang="en-US"/>
              </a:p>
            </p:txBody>
          </p:sp>
          <p:sp>
            <p:nvSpPr>
              <p:cNvPr id="1395826" name="Rectangle 114"/>
              <p:cNvSpPr>
                <a:spLocks noChangeArrowheads="1"/>
              </p:cNvSpPr>
              <p:nvPr/>
            </p:nvSpPr>
            <p:spPr bwMode="auto">
              <a:xfrm>
                <a:off x="4660" y="1279"/>
                <a:ext cx="8" cy="8"/>
              </a:xfrm>
              <a:prstGeom prst="rect">
                <a:avLst/>
              </a:prstGeom>
              <a:solidFill>
                <a:srgbClr val="40458C"/>
              </a:solidFill>
              <a:ln w="9525">
                <a:noFill/>
                <a:miter lim="800000"/>
                <a:headEnd/>
                <a:tailEnd/>
              </a:ln>
            </p:spPr>
            <p:txBody>
              <a:bodyPr/>
              <a:lstStyle/>
              <a:p>
                <a:endParaRPr lang="en-US"/>
              </a:p>
            </p:txBody>
          </p:sp>
          <p:sp>
            <p:nvSpPr>
              <p:cNvPr id="1395827" name="Rectangle 115"/>
              <p:cNvSpPr>
                <a:spLocks noChangeArrowheads="1"/>
              </p:cNvSpPr>
              <p:nvPr/>
            </p:nvSpPr>
            <p:spPr bwMode="auto">
              <a:xfrm>
                <a:off x="4676" y="1279"/>
                <a:ext cx="8" cy="8"/>
              </a:xfrm>
              <a:prstGeom prst="rect">
                <a:avLst/>
              </a:prstGeom>
              <a:solidFill>
                <a:srgbClr val="40458C"/>
              </a:solidFill>
              <a:ln w="9525">
                <a:noFill/>
                <a:miter lim="800000"/>
                <a:headEnd/>
                <a:tailEnd/>
              </a:ln>
            </p:spPr>
            <p:txBody>
              <a:bodyPr/>
              <a:lstStyle/>
              <a:p>
                <a:endParaRPr lang="en-US"/>
              </a:p>
            </p:txBody>
          </p:sp>
          <p:sp>
            <p:nvSpPr>
              <p:cNvPr id="1395828" name="Rectangle 116"/>
              <p:cNvSpPr>
                <a:spLocks noChangeArrowheads="1"/>
              </p:cNvSpPr>
              <p:nvPr/>
            </p:nvSpPr>
            <p:spPr bwMode="auto">
              <a:xfrm>
                <a:off x="4692" y="1279"/>
                <a:ext cx="7" cy="8"/>
              </a:xfrm>
              <a:prstGeom prst="rect">
                <a:avLst/>
              </a:prstGeom>
              <a:solidFill>
                <a:srgbClr val="40458C"/>
              </a:solidFill>
              <a:ln w="9525">
                <a:noFill/>
                <a:miter lim="800000"/>
                <a:headEnd/>
                <a:tailEnd/>
              </a:ln>
            </p:spPr>
            <p:txBody>
              <a:bodyPr/>
              <a:lstStyle/>
              <a:p>
                <a:endParaRPr lang="en-US"/>
              </a:p>
            </p:txBody>
          </p:sp>
          <p:sp>
            <p:nvSpPr>
              <p:cNvPr id="1395829" name="Rectangle 117"/>
              <p:cNvSpPr>
                <a:spLocks noChangeArrowheads="1"/>
              </p:cNvSpPr>
              <p:nvPr/>
            </p:nvSpPr>
            <p:spPr bwMode="auto">
              <a:xfrm>
                <a:off x="4707" y="1279"/>
                <a:ext cx="8" cy="8"/>
              </a:xfrm>
              <a:prstGeom prst="rect">
                <a:avLst/>
              </a:prstGeom>
              <a:solidFill>
                <a:srgbClr val="40458C"/>
              </a:solidFill>
              <a:ln w="9525">
                <a:noFill/>
                <a:miter lim="800000"/>
                <a:headEnd/>
                <a:tailEnd/>
              </a:ln>
            </p:spPr>
            <p:txBody>
              <a:bodyPr/>
              <a:lstStyle/>
              <a:p>
                <a:endParaRPr lang="en-US"/>
              </a:p>
            </p:txBody>
          </p:sp>
          <p:sp>
            <p:nvSpPr>
              <p:cNvPr id="1395830" name="Rectangle 118"/>
              <p:cNvSpPr>
                <a:spLocks noChangeArrowheads="1"/>
              </p:cNvSpPr>
              <p:nvPr/>
            </p:nvSpPr>
            <p:spPr bwMode="auto">
              <a:xfrm>
                <a:off x="4723" y="1279"/>
                <a:ext cx="8" cy="8"/>
              </a:xfrm>
              <a:prstGeom prst="rect">
                <a:avLst/>
              </a:prstGeom>
              <a:solidFill>
                <a:srgbClr val="40458C"/>
              </a:solidFill>
              <a:ln w="9525">
                <a:noFill/>
                <a:miter lim="800000"/>
                <a:headEnd/>
                <a:tailEnd/>
              </a:ln>
            </p:spPr>
            <p:txBody>
              <a:bodyPr/>
              <a:lstStyle/>
              <a:p>
                <a:endParaRPr lang="en-US"/>
              </a:p>
            </p:txBody>
          </p:sp>
          <p:sp>
            <p:nvSpPr>
              <p:cNvPr id="1395831" name="Rectangle 119"/>
              <p:cNvSpPr>
                <a:spLocks noChangeArrowheads="1"/>
              </p:cNvSpPr>
              <p:nvPr/>
            </p:nvSpPr>
            <p:spPr bwMode="auto">
              <a:xfrm>
                <a:off x="4738" y="1279"/>
                <a:ext cx="8" cy="8"/>
              </a:xfrm>
              <a:prstGeom prst="rect">
                <a:avLst/>
              </a:prstGeom>
              <a:solidFill>
                <a:srgbClr val="40458C"/>
              </a:solidFill>
              <a:ln w="9525">
                <a:noFill/>
                <a:miter lim="800000"/>
                <a:headEnd/>
                <a:tailEnd/>
              </a:ln>
            </p:spPr>
            <p:txBody>
              <a:bodyPr/>
              <a:lstStyle/>
              <a:p>
                <a:endParaRPr lang="en-US"/>
              </a:p>
            </p:txBody>
          </p:sp>
          <p:sp>
            <p:nvSpPr>
              <p:cNvPr id="1395832" name="Rectangle 120"/>
              <p:cNvSpPr>
                <a:spLocks noChangeArrowheads="1"/>
              </p:cNvSpPr>
              <p:nvPr/>
            </p:nvSpPr>
            <p:spPr bwMode="auto">
              <a:xfrm>
                <a:off x="4754" y="1279"/>
                <a:ext cx="8" cy="8"/>
              </a:xfrm>
              <a:prstGeom prst="rect">
                <a:avLst/>
              </a:prstGeom>
              <a:solidFill>
                <a:srgbClr val="40458C"/>
              </a:solidFill>
              <a:ln w="9525">
                <a:noFill/>
                <a:miter lim="800000"/>
                <a:headEnd/>
                <a:tailEnd/>
              </a:ln>
            </p:spPr>
            <p:txBody>
              <a:bodyPr/>
              <a:lstStyle/>
              <a:p>
                <a:endParaRPr lang="en-US"/>
              </a:p>
            </p:txBody>
          </p:sp>
          <p:sp>
            <p:nvSpPr>
              <p:cNvPr id="1395833" name="Rectangle 121"/>
              <p:cNvSpPr>
                <a:spLocks noChangeArrowheads="1"/>
              </p:cNvSpPr>
              <p:nvPr/>
            </p:nvSpPr>
            <p:spPr bwMode="auto">
              <a:xfrm>
                <a:off x="4770" y="1279"/>
                <a:ext cx="8" cy="8"/>
              </a:xfrm>
              <a:prstGeom prst="rect">
                <a:avLst/>
              </a:prstGeom>
              <a:solidFill>
                <a:srgbClr val="40458C"/>
              </a:solidFill>
              <a:ln w="9525">
                <a:noFill/>
                <a:miter lim="800000"/>
                <a:headEnd/>
                <a:tailEnd/>
              </a:ln>
            </p:spPr>
            <p:txBody>
              <a:bodyPr/>
              <a:lstStyle/>
              <a:p>
                <a:endParaRPr lang="en-US"/>
              </a:p>
            </p:txBody>
          </p:sp>
          <p:sp>
            <p:nvSpPr>
              <p:cNvPr id="1395834" name="Rectangle 122"/>
              <p:cNvSpPr>
                <a:spLocks noChangeArrowheads="1"/>
              </p:cNvSpPr>
              <p:nvPr/>
            </p:nvSpPr>
            <p:spPr bwMode="auto">
              <a:xfrm>
                <a:off x="4785" y="1279"/>
                <a:ext cx="8" cy="8"/>
              </a:xfrm>
              <a:prstGeom prst="rect">
                <a:avLst/>
              </a:prstGeom>
              <a:solidFill>
                <a:srgbClr val="40458C"/>
              </a:solidFill>
              <a:ln w="9525">
                <a:noFill/>
                <a:miter lim="800000"/>
                <a:headEnd/>
                <a:tailEnd/>
              </a:ln>
            </p:spPr>
            <p:txBody>
              <a:bodyPr/>
              <a:lstStyle/>
              <a:p>
                <a:endParaRPr lang="en-US"/>
              </a:p>
            </p:txBody>
          </p:sp>
          <p:sp>
            <p:nvSpPr>
              <p:cNvPr id="1395835" name="Rectangle 123"/>
              <p:cNvSpPr>
                <a:spLocks noChangeArrowheads="1"/>
              </p:cNvSpPr>
              <p:nvPr/>
            </p:nvSpPr>
            <p:spPr bwMode="auto">
              <a:xfrm>
                <a:off x="4801" y="1279"/>
                <a:ext cx="8" cy="8"/>
              </a:xfrm>
              <a:prstGeom prst="rect">
                <a:avLst/>
              </a:prstGeom>
              <a:solidFill>
                <a:srgbClr val="40458C"/>
              </a:solidFill>
              <a:ln w="9525">
                <a:noFill/>
                <a:miter lim="800000"/>
                <a:headEnd/>
                <a:tailEnd/>
              </a:ln>
            </p:spPr>
            <p:txBody>
              <a:bodyPr/>
              <a:lstStyle/>
              <a:p>
                <a:endParaRPr lang="en-US"/>
              </a:p>
            </p:txBody>
          </p:sp>
          <p:sp>
            <p:nvSpPr>
              <p:cNvPr id="1395836" name="Rectangle 124"/>
              <p:cNvSpPr>
                <a:spLocks noChangeArrowheads="1"/>
              </p:cNvSpPr>
              <p:nvPr/>
            </p:nvSpPr>
            <p:spPr bwMode="auto">
              <a:xfrm>
                <a:off x="4817" y="1279"/>
                <a:ext cx="7" cy="8"/>
              </a:xfrm>
              <a:prstGeom prst="rect">
                <a:avLst/>
              </a:prstGeom>
              <a:solidFill>
                <a:srgbClr val="40458C"/>
              </a:solidFill>
              <a:ln w="9525">
                <a:noFill/>
                <a:miter lim="800000"/>
                <a:headEnd/>
                <a:tailEnd/>
              </a:ln>
            </p:spPr>
            <p:txBody>
              <a:bodyPr/>
              <a:lstStyle/>
              <a:p>
                <a:endParaRPr lang="en-US"/>
              </a:p>
            </p:txBody>
          </p:sp>
          <p:sp>
            <p:nvSpPr>
              <p:cNvPr id="1395837" name="Rectangle 125"/>
              <p:cNvSpPr>
                <a:spLocks noChangeArrowheads="1"/>
              </p:cNvSpPr>
              <p:nvPr/>
            </p:nvSpPr>
            <p:spPr bwMode="auto">
              <a:xfrm>
                <a:off x="4832" y="1279"/>
                <a:ext cx="8" cy="8"/>
              </a:xfrm>
              <a:prstGeom prst="rect">
                <a:avLst/>
              </a:prstGeom>
              <a:solidFill>
                <a:srgbClr val="40458C"/>
              </a:solidFill>
              <a:ln w="9525">
                <a:noFill/>
                <a:miter lim="800000"/>
                <a:headEnd/>
                <a:tailEnd/>
              </a:ln>
            </p:spPr>
            <p:txBody>
              <a:bodyPr/>
              <a:lstStyle/>
              <a:p>
                <a:endParaRPr lang="en-US"/>
              </a:p>
            </p:txBody>
          </p:sp>
          <p:sp>
            <p:nvSpPr>
              <p:cNvPr id="1395838" name="Rectangle 126"/>
              <p:cNvSpPr>
                <a:spLocks noChangeArrowheads="1"/>
              </p:cNvSpPr>
              <p:nvPr/>
            </p:nvSpPr>
            <p:spPr bwMode="auto">
              <a:xfrm>
                <a:off x="4848" y="1279"/>
                <a:ext cx="8" cy="8"/>
              </a:xfrm>
              <a:prstGeom prst="rect">
                <a:avLst/>
              </a:prstGeom>
              <a:solidFill>
                <a:srgbClr val="40458C"/>
              </a:solidFill>
              <a:ln w="9525">
                <a:noFill/>
                <a:miter lim="800000"/>
                <a:headEnd/>
                <a:tailEnd/>
              </a:ln>
            </p:spPr>
            <p:txBody>
              <a:bodyPr/>
              <a:lstStyle/>
              <a:p>
                <a:endParaRPr lang="en-US"/>
              </a:p>
            </p:txBody>
          </p:sp>
          <p:sp>
            <p:nvSpPr>
              <p:cNvPr id="1395839" name="Rectangle 127"/>
              <p:cNvSpPr>
                <a:spLocks noChangeArrowheads="1"/>
              </p:cNvSpPr>
              <p:nvPr/>
            </p:nvSpPr>
            <p:spPr bwMode="auto">
              <a:xfrm>
                <a:off x="4863" y="1279"/>
                <a:ext cx="8" cy="8"/>
              </a:xfrm>
              <a:prstGeom prst="rect">
                <a:avLst/>
              </a:prstGeom>
              <a:solidFill>
                <a:srgbClr val="40458C"/>
              </a:solidFill>
              <a:ln w="9525">
                <a:noFill/>
                <a:miter lim="800000"/>
                <a:headEnd/>
                <a:tailEnd/>
              </a:ln>
            </p:spPr>
            <p:txBody>
              <a:bodyPr/>
              <a:lstStyle/>
              <a:p>
                <a:endParaRPr lang="en-US"/>
              </a:p>
            </p:txBody>
          </p:sp>
          <p:sp>
            <p:nvSpPr>
              <p:cNvPr id="1395840" name="Rectangle 128"/>
              <p:cNvSpPr>
                <a:spLocks noChangeArrowheads="1"/>
              </p:cNvSpPr>
              <p:nvPr/>
            </p:nvSpPr>
            <p:spPr bwMode="auto">
              <a:xfrm>
                <a:off x="4879" y="1279"/>
                <a:ext cx="8" cy="8"/>
              </a:xfrm>
              <a:prstGeom prst="rect">
                <a:avLst/>
              </a:prstGeom>
              <a:solidFill>
                <a:srgbClr val="40458C"/>
              </a:solidFill>
              <a:ln w="9525">
                <a:noFill/>
                <a:miter lim="800000"/>
                <a:headEnd/>
                <a:tailEnd/>
              </a:ln>
            </p:spPr>
            <p:txBody>
              <a:bodyPr/>
              <a:lstStyle/>
              <a:p>
                <a:endParaRPr lang="en-US"/>
              </a:p>
            </p:txBody>
          </p:sp>
          <p:sp>
            <p:nvSpPr>
              <p:cNvPr id="1395841" name="Rectangle 129"/>
              <p:cNvSpPr>
                <a:spLocks noChangeArrowheads="1"/>
              </p:cNvSpPr>
              <p:nvPr/>
            </p:nvSpPr>
            <p:spPr bwMode="auto">
              <a:xfrm>
                <a:off x="4895" y="1279"/>
                <a:ext cx="7" cy="8"/>
              </a:xfrm>
              <a:prstGeom prst="rect">
                <a:avLst/>
              </a:prstGeom>
              <a:solidFill>
                <a:srgbClr val="40458C"/>
              </a:solidFill>
              <a:ln w="9525">
                <a:noFill/>
                <a:miter lim="800000"/>
                <a:headEnd/>
                <a:tailEnd/>
              </a:ln>
            </p:spPr>
            <p:txBody>
              <a:bodyPr/>
              <a:lstStyle/>
              <a:p>
                <a:endParaRPr lang="en-US"/>
              </a:p>
            </p:txBody>
          </p:sp>
          <p:sp>
            <p:nvSpPr>
              <p:cNvPr id="1395842" name="Rectangle 130"/>
              <p:cNvSpPr>
                <a:spLocks noChangeArrowheads="1"/>
              </p:cNvSpPr>
              <p:nvPr/>
            </p:nvSpPr>
            <p:spPr bwMode="auto">
              <a:xfrm>
                <a:off x="4910" y="1279"/>
                <a:ext cx="8" cy="8"/>
              </a:xfrm>
              <a:prstGeom prst="rect">
                <a:avLst/>
              </a:prstGeom>
              <a:solidFill>
                <a:srgbClr val="40458C"/>
              </a:solidFill>
              <a:ln w="9525">
                <a:noFill/>
                <a:miter lim="800000"/>
                <a:headEnd/>
                <a:tailEnd/>
              </a:ln>
            </p:spPr>
            <p:txBody>
              <a:bodyPr/>
              <a:lstStyle/>
              <a:p>
                <a:endParaRPr lang="en-US"/>
              </a:p>
            </p:txBody>
          </p:sp>
          <p:sp>
            <p:nvSpPr>
              <p:cNvPr id="1395843" name="Rectangle 131"/>
              <p:cNvSpPr>
                <a:spLocks noChangeArrowheads="1"/>
              </p:cNvSpPr>
              <p:nvPr/>
            </p:nvSpPr>
            <p:spPr bwMode="auto">
              <a:xfrm>
                <a:off x="4926" y="1279"/>
                <a:ext cx="8" cy="8"/>
              </a:xfrm>
              <a:prstGeom prst="rect">
                <a:avLst/>
              </a:prstGeom>
              <a:solidFill>
                <a:srgbClr val="40458C"/>
              </a:solidFill>
              <a:ln w="9525">
                <a:noFill/>
                <a:miter lim="800000"/>
                <a:headEnd/>
                <a:tailEnd/>
              </a:ln>
            </p:spPr>
            <p:txBody>
              <a:bodyPr/>
              <a:lstStyle/>
              <a:p>
                <a:endParaRPr lang="en-US"/>
              </a:p>
            </p:txBody>
          </p:sp>
          <p:sp>
            <p:nvSpPr>
              <p:cNvPr id="1395844" name="Rectangle 132"/>
              <p:cNvSpPr>
                <a:spLocks noChangeArrowheads="1"/>
              </p:cNvSpPr>
              <p:nvPr/>
            </p:nvSpPr>
            <p:spPr bwMode="auto">
              <a:xfrm>
                <a:off x="4941" y="1279"/>
                <a:ext cx="8" cy="8"/>
              </a:xfrm>
              <a:prstGeom prst="rect">
                <a:avLst/>
              </a:prstGeom>
              <a:solidFill>
                <a:srgbClr val="40458C"/>
              </a:solidFill>
              <a:ln w="9525">
                <a:noFill/>
                <a:miter lim="800000"/>
                <a:headEnd/>
                <a:tailEnd/>
              </a:ln>
            </p:spPr>
            <p:txBody>
              <a:bodyPr/>
              <a:lstStyle/>
              <a:p>
                <a:endParaRPr lang="en-US"/>
              </a:p>
            </p:txBody>
          </p:sp>
          <p:sp>
            <p:nvSpPr>
              <p:cNvPr id="1395845" name="Rectangle 133"/>
              <p:cNvSpPr>
                <a:spLocks noChangeArrowheads="1"/>
              </p:cNvSpPr>
              <p:nvPr/>
            </p:nvSpPr>
            <p:spPr bwMode="auto">
              <a:xfrm>
                <a:off x="4957" y="1279"/>
                <a:ext cx="8" cy="8"/>
              </a:xfrm>
              <a:prstGeom prst="rect">
                <a:avLst/>
              </a:prstGeom>
              <a:solidFill>
                <a:srgbClr val="40458C"/>
              </a:solidFill>
              <a:ln w="9525">
                <a:noFill/>
                <a:miter lim="800000"/>
                <a:headEnd/>
                <a:tailEnd/>
              </a:ln>
            </p:spPr>
            <p:txBody>
              <a:bodyPr/>
              <a:lstStyle/>
              <a:p>
                <a:endParaRPr lang="en-US"/>
              </a:p>
            </p:txBody>
          </p:sp>
          <p:sp>
            <p:nvSpPr>
              <p:cNvPr id="1395846" name="Rectangle 134"/>
              <p:cNvSpPr>
                <a:spLocks noChangeArrowheads="1"/>
              </p:cNvSpPr>
              <p:nvPr/>
            </p:nvSpPr>
            <p:spPr bwMode="auto">
              <a:xfrm>
                <a:off x="4973" y="1279"/>
                <a:ext cx="7" cy="8"/>
              </a:xfrm>
              <a:prstGeom prst="rect">
                <a:avLst/>
              </a:prstGeom>
              <a:solidFill>
                <a:srgbClr val="40458C"/>
              </a:solidFill>
              <a:ln w="9525">
                <a:noFill/>
                <a:miter lim="800000"/>
                <a:headEnd/>
                <a:tailEnd/>
              </a:ln>
            </p:spPr>
            <p:txBody>
              <a:bodyPr/>
              <a:lstStyle/>
              <a:p>
                <a:endParaRPr lang="en-US"/>
              </a:p>
            </p:txBody>
          </p:sp>
          <p:sp>
            <p:nvSpPr>
              <p:cNvPr id="1395847" name="Rectangle 135"/>
              <p:cNvSpPr>
                <a:spLocks noChangeArrowheads="1"/>
              </p:cNvSpPr>
              <p:nvPr/>
            </p:nvSpPr>
            <p:spPr bwMode="auto">
              <a:xfrm>
                <a:off x="4988" y="1279"/>
                <a:ext cx="8" cy="8"/>
              </a:xfrm>
              <a:prstGeom prst="rect">
                <a:avLst/>
              </a:prstGeom>
              <a:solidFill>
                <a:srgbClr val="40458C"/>
              </a:solidFill>
              <a:ln w="9525">
                <a:noFill/>
                <a:miter lim="800000"/>
                <a:headEnd/>
                <a:tailEnd/>
              </a:ln>
            </p:spPr>
            <p:txBody>
              <a:bodyPr/>
              <a:lstStyle/>
              <a:p>
                <a:endParaRPr lang="en-US"/>
              </a:p>
            </p:txBody>
          </p:sp>
          <p:sp>
            <p:nvSpPr>
              <p:cNvPr id="1395848" name="Rectangle 136"/>
              <p:cNvSpPr>
                <a:spLocks noChangeArrowheads="1"/>
              </p:cNvSpPr>
              <p:nvPr/>
            </p:nvSpPr>
            <p:spPr bwMode="auto">
              <a:xfrm>
                <a:off x="5004" y="1279"/>
                <a:ext cx="8" cy="8"/>
              </a:xfrm>
              <a:prstGeom prst="rect">
                <a:avLst/>
              </a:prstGeom>
              <a:solidFill>
                <a:srgbClr val="40458C"/>
              </a:solidFill>
              <a:ln w="9525">
                <a:noFill/>
                <a:miter lim="800000"/>
                <a:headEnd/>
                <a:tailEnd/>
              </a:ln>
            </p:spPr>
            <p:txBody>
              <a:bodyPr/>
              <a:lstStyle/>
              <a:p>
                <a:endParaRPr lang="en-US"/>
              </a:p>
            </p:txBody>
          </p:sp>
          <p:sp>
            <p:nvSpPr>
              <p:cNvPr id="1395849" name="Rectangle 137"/>
              <p:cNvSpPr>
                <a:spLocks noChangeArrowheads="1"/>
              </p:cNvSpPr>
              <p:nvPr/>
            </p:nvSpPr>
            <p:spPr bwMode="auto">
              <a:xfrm>
                <a:off x="5020" y="1279"/>
                <a:ext cx="7" cy="8"/>
              </a:xfrm>
              <a:prstGeom prst="rect">
                <a:avLst/>
              </a:prstGeom>
              <a:solidFill>
                <a:srgbClr val="40458C"/>
              </a:solidFill>
              <a:ln w="9525">
                <a:noFill/>
                <a:miter lim="800000"/>
                <a:headEnd/>
                <a:tailEnd/>
              </a:ln>
            </p:spPr>
            <p:txBody>
              <a:bodyPr/>
              <a:lstStyle/>
              <a:p>
                <a:endParaRPr lang="en-US"/>
              </a:p>
            </p:txBody>
          </p:sp>
          <p:sp>
            <p:nvSpPr>
              <p:cNvPr id="1395850" name="Rectangle 138"/>
              <p:cNvSpPr>
                <a:spLocks noChangeArrowheads="1"/>
              </p:cNvSpPr>
              <p:nvPr/>
            </p:nvSpPr>
            <p:spPr bwMode="auto">
              <a:xfrm>
                <a:off x="5035" y="1279"/>
                <a:ext cx="8" cy="8"/>
              </a:xfrm>
              <a:prstGeom prst="rect">
                <a:avLst/>
              </a:prstGeom>
              <a:solidFill>
                <a:srgbClr val="40458C"/>
              </a:solidFill>
              <a:ln w="9525">
                <a:noFill/>
                <a:miter lim="800000"/>
                <a:headEnd/>
                <a:tailEnd/>
              </a:ln>
            </p:spPr>
            <p:txBody>
              <a:bodyPr/>
              <a:lstStyle/>
              <a:p>
                <a:endParaRPr lang="en-US"/>
              </a:p>
            </p:txBody>
          </p:sp>
          <p:sp>
            <p:nvSpPr>
              <p:cNvPr id="1395851" name="Rectangle 139"/>
              <p:cNvSpPr>
                <a:spLocks noChangeArrowheads="1"/>
              </p:cNvSpPr>
              <p:nvPr/>
            </p:nvSpPr>
            <p:spPr bwMode="auto">
              <a:xfrm>
                <a:off x="5051" y="1279"/>
                <a:ext cx="8" cy="8"/>
              </a:xfrm>
              <a:prstGeom prst="rect">
                <a:avLst/>
              </a:prstGeom>
              <a:solidFill>
                <a:srgbClr val="40458C"/>
              </a:solidFill>
              <a:ln w="9525">
                <a:noFill/>
                <a:miter lim="800000"/>
                <a:headEnd/>
                <a:tailEnd/>
              </a:ln>
            </p:spPr>
            <p:txBody>
              <a:bodyPr/>
              <a:lstStyle/>
              <a:p>
                <a:endParaRPr lang="en-US"/>
              </a:p>
            </p:txBody>
          </p:sp>
          <p:sp>
            <p:nvSpPr>
              <p:cNvPr id="1395852" name="Rectangle 140"/>
              <p:cNvSpPr>
                <a:spLocks noChangeArrowheads="1"/>
              </p:cNvSpPr>
              <p:nvPr/>
            </p:nvSpPr>
            <p:spPr bwMode="auto">
              <a:xfrm>
                <a:off x="5066" y="1279"/>
                <a:ext cx="8" cy="8"/>
              </a:xfrm>
              <a:prstGeom prst="rect">
                <a:avLst/>
              </a:prstGeom>
              <a:solidFill>
                <a:srgbClr val="40458C"/>
              </a:solidFill>
              <a:ln w="9525">
                <a:noFill/>
                <a:miter lim="800000"/>
                <a:headEnd/>
                <a:tailEnd/>
              </a:ln>
            </p:spPr>
            <p:txBody>
              <a:bodyPr/>
              <a:lstStyle/>
              <a:p>
                <a:endParaRPr lang="en-US"/>
              </a:p>
            </p:txBody>
          </p:sp>
          <p:sp>
            <p:nvSpPr>
              <p:cNvPr id="1395853" name="Rectangle 141"/>
              <p:cNvSpPr>
                <a:spLocks noChangeArrowheads="1"/>
              </p:cNvSpPr>
              <p:nvPr/>
            </p:nvSpPr>
            <p:spPr bwMode="auto">
              <a:xfrm>
                <a:off x="5082" y="1279"/>
                <a:ext cx="8" cy="8"/>
              </a:xfrm>
              <a:prstGeom prst="rect">
                <a:avLst/>
              </a:prstGeom>
              <a:solidFill>
                <a:srgbClr val="40458C"/>
              </a:solidFill>
              <a:ln w="9525">
                <a:noFill/>
                <a:miter lim="800000"/>
                <a:headEnd/>
                <a:tailEnd/>
              </a:ln>
            </p:spPr>
            <p:txBody>
              <a:bodyPr/>
              <a:lstStyle/>
              <a:p>
                <a:endParaRPr lang="en-US"/>
              </a:p>
            </p:txBody>
          </p:sp>
          <p:sp>
            <p:nvSpPr>
              <p:cNvPr id="1395854" name="Rectangle 142"/>
              <p:cNvSpPr>
                <a:spLocks noChangeArrowheads="1"/>
              </p:cNvSpPr>
              <p:nvPr/>
            </p:nvSpPr>
            <p:spPr bwMode="auto">
              <a:xfrm>
                <a:off x="5098" y="1279"/>
                <a:ext cx="7" cy="8"/>
              </a:xfrm>
              <a:prstGeom prst="rect">
                <a:avLst/>
              </a:prstGeom>
              <a:solidFill>
                <a:srgbClr val="40458C"/>
              </a:solidFill>
              <a:ln w="9525">
                <a:noFill/>
                <a:miter lim="800000"/>
                <a:headEnd/>
                <a:tailEnd/>
              </a:ln>
            </p:spPr>
            <p:txBody>
              <a:bodyPr/>
              <a:lstStyle/>
              <a:p>
                <a:endParaRPr lang="en-US"/>
              </a:p>
            </p:txBody>
          </p:sp>
          <p:sp>
            <p:nvSpPr>
              <p:cNvPr id="1395855" name="Rectangle 143"/>
              <p:cNvSpPr>
                <a:spLocks noChangeArrowheads="1"/>
              </p:cNvSpPr>
              <p:nvPr/>
            </p:nvSpPr>
            <p:spPr bwMode="auto">
              <a:xfrm>
                <a:off x="5113" y="1279"/>
                <a:ext cx="8" cy="8"/>
              </a:xfrm>
              <a:prstGeom prst="rect">
                <a:avLst/>
              </a:prstGeom>
              <a:solidFill>
                <a:srgbClr val="40458C"/>
              </a:solidFill>
              <a:ln w="9525">
                <a:noFill/>
                <a:miter lim="800000"/>
                <a:headEnd/>
                <a:tailEnd/>
              </a:ln>
            </p:spPr>
            <p:txBody>
              <a:bodyPr/>
              <a:lstStyle/>
              <a:p>
                <a:endParaRPr lang="en-US"/>
              </a:p>
            </p:txBody>
          </p:sp>
          <p:sp>
            <p:nvSpPr>
              <p:cNvPr id="1395856" name="Rectangle 144"/>
              <p:cNvSpPr>
                <a:spLocks noChangeArrowheads="1"/>
              </p:cNvSpPr>
              <p:nvPr/>
            </p:nvSpPr>
            <p:spPr bwMode="auto">
              <a:xfrm>
                <a:off x="5129" y="1279"/>
                <a:ext cx="8" cy="8"/>
              </a:xfrm>
              <a:prstGeom prst="rect">
                <a:avLst/>
              </a:prstGeom>
              <a:solidFill>
                <a:srgbClr val="40458C"/>
              </a:solidFill>
              <a:ln w="9525">
                <a:noFill/>
                <a:miter lim="800000"/>
                <a:headEnd/>
                <a:tailEnd/>
              </a:ln>
            </p:spPr>
            <p:txBody>
              <a:bodyPr/>
              <a:lstStyle/>
              <a:p>
                <a:endParaRPr lang="en-US"/>
              </a:p>
            </p:txBody>
          </p:sp>
          <p:sp>
            <p:nvSpPr>
              <p:cNvPr id="1395857" name="Rectangle 145"/>
              <p:cNvSpPr>
                <a:spLocks noChangeArrowheads="1"/>
              </p:cNvSpPr>
              <p:nvPr/>
            </p:nvSpPr>
            <p:spPr bwMode="auto">
              <a:xfrm>
                <a:off x="5144" y="1279"/>
                <a:ext cx="8" cy="8"/>
              </a:xfrm>
              <a:prstGeom prst="rect">
                <a:avLst/>
              </a:prstGeom>
              <a:solidFill>
                <a:srgbClr val="40458C"/>
              </a:solidFill>
              <a:ln w="9525">
                <a:noFill/>
                <a:miter lim="800000"/>
                <a:headEnd/>
                <a:tailEnd/>
              </a:ln>
            </p:spPr>
            <p:txBody>
              <a:bodyPr/>
              <a:lstStyle/>
              <a:p>
                <a:endParaRPr lang="en-US"/>
              </a:p>
            </p:txBody>
          </p:sp>
          <p:sp>
            <p:nvSpPr>
              <p:cNvPr id="1395858" name="Rectangle 146"/>
              <p:cNvSpPr>
                <a:spLocks noChangeArrowheads="1"/>
              </p:cNvSpPr>
              <p:nvPr/>
            </p:nvSpPr>
            <p:spPr bwMode="auto">
              <a:xfrm>
                <a:off x="5160" y="1279"/>
                <a:ext cx="8" cy="8"/>
              </a:xfrm>
              <a:prstGeom prst="rect">
                <a:avLst/>
              </a:prstGeom>
              <a:solidFill>
                <a:srgbClr val="40458C"/>
              </a:solidFill>
              <a:ln w="9525">
                <a:noFill/>
                <a:miter lim="800000"/>
                <a:headEnd/>
                <a:tailEnd/>
              </a:ln>
            </p:spPr>
            <p:txBody>
              <a:bodyPr/>
              <a:lstStyle/>
              <a:p>
                <a:endParaRPr lang="en-US"/>
              </a:p>
            </p:txBody>
          </p:sp>
          <p:sp>
            <p:nvSpPr>
              <p:cNvPr id="1395859" name="Rectangle 147"/>
              <p:cNvSpPr>
                <a:spLocks noChangeArrowheads="1"/>
              </p:cNvSpPr>
              <p:nvPr/>
            </p:nvSpPr>
            <p:spPr bwMode="auto">
              <a:xfrm>
                <a:off x="5176" y="1279"/>
                <a:ext cx="7" cy="8"/>
              </a:xfrm>
              <a:prstGeom prst="rect">
                <a:avLst/>
              </a:prstGeom>
              <a:solidFill>
                <a:srgbClr val="40458C"/>
              </a:solidFill>
              <a:ln w="9525">
                <a:noFill/>
                <a:miter lim="800000"/>
                <a:headEnd/>
                <a:tailEnd/>
              </a:ln>
            </p:spPr>
            <p:txBody>
              <a:bodyPr/>
              <a:lstStyle/>
              <a:p>
                <a:endParaRPr lang="en-US"/>
              </a:p>
            </p:txBody>
          </p:sp>
          <p:sp>
            <p:nvSpPr>
              <p:cNvPr id="1395860" name="Rectangle 148"/>
              <p:cNvSpPr>
                <a:spLocks noChangeArrowheads="1"/>
              </p:cNvSpPr>
              <p:nvPr/>
            </p:nvSpPr>
            <p:spPr bwMode="auto">
              <a:xfrm>
                <a:off x="5191" y="1279"/>
                <a:ext cx="8" cy="8"/>
              </a:xfrm>
              <a:prstGeom prst="rect">
                <a:avLst/>
              </a:prstGeom>
              <a:solidFill>
                <a:srgbClr val="40458C"/>
              </a:solidFill>
              <a:ln w="9525">
                <a:noFill/>
                <a:miter lim="800000"/>
                <a:headEnd/>
                <a:tailEnd/>
              </a:ln>
            </p:spPr>
            <p:txBody>
              <a:bodyPr/>
              <a:lstStyle/>
              <a:p>
                <a:endParaRPr lang="en-US"/>
              </a:p>
            </p:txBody>
          </p:sp>
          <p:sp>
            <p:nvSpPr>
              <p:cNvPr id="1395861" name="Rectangle 149"/>
              <p:cNvSpPr>
                <a:spLocks noChangeArrowheads="1"/>
              </p:cNvSpPr>
              <p:nvPr/>
            </p:nvSpPr>
            <p:spPr bwMode="auto">
              <a:xfrm>
                <a:off x="5207" y="1279"/>
                <a:ext cx="8" cy="8"/>
              </a:xfrm>
              <a:prstGeom prst="rect">
                <a:avLst/>
              </a:prstGeom>
              <a:solidFill>
                <a:srgbClr val="40458C"/>
              </a:solidFill>
              <a:ln w="9525">
                <a:noFill/>
                <a:miter lim="800000"/>
                <a:headEnd/>
                <a:tailEnd/>
              </a:ln>
            </p:spPr>
            <p:txBody>
              <a:bodyPr/>
              <a:lstStyle/>
              <a:p>
                <a:endParaRPr lang="en-US"/>
              </a:p>
            </p:txBody>
          </p:sp>
          <p:sp>
            <p:nvSpPr>
              <p:cNvPr id="1395862" name="Rectangle 150"/>
              <p:cNvSpPr>
                <a:spLocks noChangeArrowheads="1"/>
              </p:cNvSpPr>
              <p:nvPr/>
            </p:nvSpPr>
            <p:spPr bwMode="auto">
              <a:xfrm>
                <a:off x="5222" y="1279"/>
                <a:ext cx="8" cy="8"/>
              </a:xfrm>
              <a:prstGeom prst="rect">
                <a:avLst/>
              </a:prstGeom>
              <a:solidFill>
                <a:srgbClr val="40458C"/>
              </a:solidFill>
              <a:ln w="9525">
                <a:noFill/>
                <a:miter lim="800000"/>
                <a:headEnd/>
                <a:tailEnd/>
              </a:ln>
            </p:spPr>
            <p:txBody>
              <a:bodyPr/>
              <a:lstStyle/>
              <a:p>
                <a:endParaRPr lang="en-US"/>
              </a:p>
            </p:txBody>
          </p:sp>
          <p:sp>
            <p:nvSpPr>
              <p:cNvPr id="1395863" name="Rectangle 151"/>
              <p:cNvSpPr>
                <a:spLocks noChangeArrowheads="1"/>
              </p:cNvSpPr>
              <p:nvPr/>
            </p:nvSpPr>
            <p:spPr bwMode="auto">
              <a:xfrm>
                <a:off x="5238" y="1279"/>
                <a:ext cx="8" cy="8"/>
              </a:xfrm>
              <a:prstGeom prst="rect">
                <a:avLst/>
              </a:prstGeom>
              <a:solidFill>
                <a:srgbClr val="40458C"/>
              </a:solidFill>
              <a:ln w="9525">
                <a:noFill/>
                <a:miter lim="800000"/>
                <a:headEnd/>
                <a:tailEnd/>
              </a:ln>
            </p:spPr>
            <p:txBody>
              <a:bodyPr/>
              <a:lstStyle/>
              <a:p>
                <a:endParaRPr lang="en-US"/>
              </a:p>
            </p:txBody>
          </p:sp>
          <p:sp>
            <p:nvSpPr>
              <p:cNvPr id="1395864" name="Rectangle 152"/>
              <p:cNvSpPr>
                <a:spLocks noChangeArrowheads="1"/>
              </p:cNvSpPr>
              <p:nvPr/>
            </p:nvSpPr>
            <p:spPr bwMode="auto">
              <a:xfrm>
                <a:off x="5254" y="1279"/>
                <a:ext cx="8" cy="8"/>
              </a:xfrm>
              <a:prstGeom prst="rect">
                <a:avLst/>
              </a:prstGeom>
              <a:solidFill>
                <a:srgbClr val="40458C"/>
              </a:solidFill>
              <a:ln w="9525">
                <a:noFill/>
                <a:miter lim="800000"/>
                <a:headEnd/>
                <a:tailEnd/>
              </a:ln>
            </p:spPr>
            <p:txBody>
              <a:bodyPr/>
              <a:lstStyle/>
              <a:p>
                <a:endParaRPr lang="en-US"/>
              </a:p>
            </p:txBody>
          </p:sp>
          <p:sp>
            <p:nvSpPr>
              <p:cNvPr id="1395865" name="Rectangle 153"/>
              <p:cNvSpPr>
                <a:spLocks noChangeArrowheads="1"/>
              </p:cNvSpPr>
              <p:nvPr/>
            </p:nvSpPr>
            <p:spPr bwMode="auto">
              <a:xfrm>
                <a:off x="5269" y="1279"/>
                <a:ext cx="8" cy="8"/>
              </a:xfrm>
              <a:prstGeom prst="rect">
                <a:avLst/>
              </a:prstGeom>
              <a:solidFill>
                <a:srgbClr val="40458C"/>
              </a:solidFill>
              <a:ln w="9525">
                <a:noFill/>
                <a:miter lim="800000"/>
                <a:headEnd/>
                <a:tailEnd/>
              </a:ln>
            </p:spPr>
            <p:txBody>
              <a:bodyPr/>
              <a:lstStyle/>
              <a:p>
                <a:endParaRPr lang="en-US"/>
              </a:p>
            </p:txBody>
          </p:sp>
          <p:sp>
            <p:nvSpPr>
              <p:cNvPr id="1395866" name="Rectangle 154"/>
              <p:cNvSpPr>
                <a:spLocks noChangeArrowheads="1"/>
              </p:cNvSpPr>
              <p:nvPr/>
            </p:nvSpPr>
            <p:spPr bwMode="auto">
              <a:xfrm>
                <a:off x="5285" y="1279"/>
                <a:ext cx="8" cy="8"/>
              </a:xfrm>
              <a:prstGeom prst="rect">
                <a:avLst/>
              </a:prstGeom>
              <a:solidFill>
                <a:srgbClr val="40458C"/>
              </a:solidFill>
              <a:ln w="9525">
                <a:noFill/>
                <a:miter lim="800000"/>
                <a:headEnd/>
                <a:tailEnd/>
              </a:ln>
            </p:spPr>
            <p:txBody>
              <a:bodyPr/>
              <a:lstStyle/>
              <a:p>
                <a:endParaRPr lang="en-US"/>
              </a:p>
            </p:txBody>
          </p:sp>
          <p:sp>
            <p:nvSpPr>
              <p:cNvPr id="1395867" name="Rectangle 155"/>
              <p:cNvSpPr>
                <a:spLocks noChangeArrowheads="1"/>
              </p:cNvSpPr>
              <p:nvPr/>
            </p:nvSpPr>
            <p:spPr bwMode="auto">
              <a:xfrm>
                <a:off x="5301" y="1279"/>
                <a:ext cx="7" cy="8"/>
              </a:xfrm>
              <a:prstGeom prst="rect">
                <a:avLst/>
              </a:prstGeom>
              <a:solidFill>
                <a:srgbClr val="40458C"/>
              </a:solidFill>
              <a:ln w="9525">
                <a:noFill/>
                <a:miter lim="800000"/>
                <a:headEnd/>
                <a:tailEnd/>
              </a:ln>
            </p:spPr>
            <p:txBody>
              <a:bodyPr/>
              <a:lstStyle/>
              <a:p>
                <a:endParaRPr lang="en-US"/>
              </a:p>
            </p:txBody>
          </p:sp>
          <p:sp>
            <p:nvSpPr>
              <p:cNvPr id="1395868" name="Rectangle 156"/>
              <p:cNvSpPr>
                <a:spLocks noChangeArrowheads="1"/>
              </p:cNvSpPr>
              <p:nvPr/>
            </p:nvSpPr>
            <p:spPr bwMode="auto">
              <a:xfrm>
                <a:off x="5316" y="1279"/>
                <a:ext cx="8" cy="8"/>
              </a:xfrm>
              <a:prstGeom prst="rect">
                <a:avLst/>
              </a:prstGeom>
              <a:solidFill>
                <a:srgbClr val="40458C"/>
              </a:solidFill>
              <a:ln w="9525">
                <a:noFill/>
                <a:miter lim="800000"/>
                <a:headEnd/>
                <a:tailEnd/>
              </a:ln>
            </p:spPr>
            <p:txBody>
              <a:bodyPr/>
              <a:lstStyle/>
              <a:p>
                <a:endParaRPr lang="en-US"/>
              </a:p>
            </p:txBody>
          </p:sp>
          <p:sp>
            <p:nvSpPr>
              <p:cNvPr id="1395869" name="Rectangle 157"/>
              <p:cNvSpPr>
                <a:spLocks noChangeArrowheads="1"/>
              </p:cNvSpPr>
              <p:nvPr/>
            </p:nvSpPr>
            <p:spPr bwMode="auto">
              <a:xfrm>
                <a:off x="5332" y="1279"/>
                <a:ext cx="8" cy="8"/>
              </a:xfrm>
              <a:prstGeom prst="rect">
                <a:avLst/>
              </a:prstGeom>
              <a:solidFill>
                <a:srgbClr val="40458C"/>
              </a:solidFill>
              <a:ln w="9525">
                <a:noFill/>
                <a:miter lim="800000"/>
                <a:headEnd/>
                <a:tailEnd/>
              </a:ln>
            </p:spPr>
            <p:txBody>
              <a:bodyPr/>
              <a:lstStyle/>
              <a:p>
                <a:endParaRPr lang="en-US"/>
              </a:p>
            </p:txBody>
          </p:sp>
          <p:sp>
            <p:nvSpPr>
              <p:cNvPr id="1395870" name="Rectangle 158"/>
              <p:cNvSpPr>
                <a:spLocks noChangeArrowheads="1"/>
              </p:cNvSpPr>
              <p:nvPr/>
            </p:nvSpPr>
            <p:spPr bwMode="auto">
              <a:xfrm>
                <a:off x="5347" y="1279"/>
                <a:ext cx="8" cy="8"/>
              </a:xfrm>
              <a:prstGeom prst="rect">
                <a:avLst/>
              </a:prstGeom>
              <a:solidFill>
                <a:srgbClr val="40458C"/>
              </a:solidFill>
              <a:ln w="9525">
                <a:noFill/>
                <a:miter lim="800000"/>
                <a:headEnd/>
                <a:tailEnd/>
              </a:ln>
            </p:spPr>
            <p:txBody>
              <a:bodyPr/>
              <a:lstStyle/>
              <a:p>
                <a:endParaRPr lang="en-US"/>
              </a:p>
            </p:txBody>
          </p:sp>
          <p:sp>
            <p:nvSpPr>
              <p:cNvPr id="1395871" name="Rectangle 159"/>
              <p:cNvSpPr>
                <a:spLocks noChangeArrowheads="1"/>
              </p:cNvSpPr>
              <p:nvPr/>
            </p:nvSpPr>
            <p:spPr bwMode="auto">
              <a:xfrm>
                <a:off x="5363" y="1279"/>
                <a:ext cx="8" cy="8"/>
              </a:xfrm>
              <a:prstGeom prst="rect">
                <a:avLst/>
              </a:prstGeom>
              <a:solidFill>
                <a:srgbClr val="40458C"/>
              </a:solidFill>
              <a:ln w="9525">
                <a:noFill/>
                <a:miter lim="800000"/>
                <a:headEnd/>
                <a:tailEnd/>
              </a:ln>
            </p:spPr>
            <p:txBody>
              <a:bodyPr/>
              <a:lstStyle/>
              <a:p>
                <a:endParaRPr lang="en-US"/>
              </a:p>
            </p:txBody>
          </p:sp>
          <p:sp>
            <p:nvSpPr>
              <p:cNvPr id="1395872" name="Rectangle 160"/>
              <p:cNvSpPr>
                <a:spLocks noChangeArrowheads="1"/>
              </p:cNvSpPr>
              <p:nvPr/>
            </p:nvSpPr>
            <p:spPr bwMode="auto">
              <a:xfrm>
                <a:off x="5379" y="1279"/>
                <a:ext cx="7" cy="8"/>
              </a:xfrm>
              <a:prstGeom prst="rect">
                <a:avLst/>
              </a:prstGeom>
              <a:solidFill>
                <a:srgbClr val="40458C"/>
              </a:solidFill>
              <a:ln w="9525">
                <a:noFill/>
                <a:miter lim="800000"/>
                <a:headEnd/>
                <a:tailEnd/>
              </a:ln>
            </p:spPr>
            <p:txBody>
              <a:bodyPr/>
              <a:lstStyle/>
              <a:p>
                <a:endParaRPr lang="en-US"/>
              </a:p>
            </p:txBody>
          </p:sp>
          <p:sp>
            <p:nvSpPr>
              <p:cNvPr id="1395873" name="Rectangle 161"/>
              <p:cNvSpPr>
                <a:spLocks noChangeArrowheads="1"/>
              </p:cNvSpPr>
              <p:nvPr/>
            </p:nvSpPr>
            <p:spPr bwMode="auto">
              <a:xfrm>
                <a:off x="5394" y="1279"/>
                <a:ext cx="8" cy="8"/>
              </a:xfrm>
              <a:prstGeom prst="rect">
                <a:avLst/>
              </a:prstGeom>
              <a:solidFill>
                <a:srgbClr val="40458C"/>
              </a:solidFill>
              <a:ln w="9525">
                <a:noFill/>
                <a:miter lim="800000"/>
                <a:headEnd/>
                <a:tailEnd/>
              </a:ln>
            </p:spPr>
            <p:txBody>
              <a:bodyPr/>
              <a:lstStyle/>
              <a:p>
                <a:endParaRPr lang="en-US"/>
              </a:p>
            </p:txBody>
          </p:sp>
          <p:sp>
            <p:nvSpPr>
              <p:cNvPr id="1395874" name="Rectangle 162"/>
              <p:cNvSpPr>
                <a:spLocks noChangeArrowheads="1"/>
              </p:cNvSpPr>
              <p:nvPr/>
            </p:nvSpPr>
            <p:spPr bwMode="auto">
              <a:xfrm>
                <a:off x="5410" y="1279"/>
                <a:ext cx="8" cy="8"/>
              </a:xfrm>
              <a:prstGeom prst="rect">
                <a:avLst/>
              </a:prstGeom>
              <a:solidFill>
                <a:srgbClr val="40458C"/>
              </a:solidFill>
              <a:ln w="9525">
                <a:noFill/>
                <a:miter lim="800000"/>
                <a:headEnd/>
                <a:tailEnd/>
              </a:ln>
            </p:spPr>
            <p:txBody>
              <a:bodyPr/>
              <a:lstStyle/>
              <a:p>
                <a:endParaRPr lang="en-US"/>
              </a:p>
            </p:txBody>
          </p:sp>
          <p:sp>
            <p:nvSpPr>
              <p:cNvPr id="1395875" name="Rectangle 163"/>
              <p:cNvSpPr>
                <a:spLocks noChangeArrowheads="1"/>
              </p:cNvSpPr>
              <p:nvPr/>
            </p:nvSpPr>
            <p:spPr bwMode="auto">
              <a:xfrm>
                <a:off x="5425" y="1279"/>
                <a:ext cx="8" cy="8"/>
              </a:xfrm>
              <a:prstGeom prst="rect">
                <a:avLst/>
              </a:prstGeom>
              <a:solidFill>
                <a:srgbClr val="40458C"/>
              </a:solidFill>
              <a:ln w="9525">
                <a:noFill/>
                <a:miter lim="800000"/>
                <a:headEnd/>
                <a:tailEnd/>
              </a:ln>
            </p:spPr>
            <p:txBody>
              <a:bodyPr/>
              <a:lstStyle/>
              <a:p>
                <a:endParaRPr lang="en-US"/>
              </a:p>
            </p:txBody>
          </p:sp>
          <p:sp>
            <p:nvSpPr>
              <p:cNvPr id="1395876" name="Rectangle 164"/>
              <p:cNvSpPr>
                <a:spLocks noChangeArrowheads="1"/>
              </p:cNvSpPr>
              <p:nvPr/>
            </p:nvSpPr>
            <p:spPr bwMode="auto">
              <a:xfrm>
                <a:off x="5441" y="1279"/>
                <a:ext cx="8" cy="8"/>
              </a:xfrm>
              <a:prstGeom prst="rect">
                <a:avLst/>
              </a:prstGeom>
              <a:solidFill>
                <a:srgbClr val="40458C"/>
              </a:solidFill>
              <a:ln w="9525">
                <a:noFill/>
                <a:miter lim="800000"/>
                <a:headEnd/>
                <a:tailEnd/>
              </a:ln>
            </p:spPr>
            <p:txBody>
              <a:bodyPr/>
              <a:lstStyle/>
              <a:p>
                <a:endParaRPr lang="en-US"/>
              </a:p>
            </p:txBody>
          </p:sp>
          <p:sp>
            <p:nvSpPr>
              <p:cNvPr id="1395877" name="Rectangle 165"/>
              <p:cNvSpPr>
                <a:spLocks noChangeArrowheads="1"/>
              </p:cNvSpPr>
              <p:nvPr/>
            </p:nvSpPr>
            <p:spPr bwMode="auto">
              <a:xfrm>
                <a:off x="5457" y="1279"/>
                <a:ext cx="7" cy="8"/>
              </a:xfrm>
              <a:prstGeom prst="rect">
                <a:avLst/>
              </a:prstGeom>
              <a:solidFill>
                <a:srgbClr val="40458C"/>
              </a:solidFill>
              <a:ln w="9525">
                <a:noFill/>
                <a:miter lim="800000"/>
                <a:headEnd/>
                <a:tailEnd/>
              </a:ln>
            </p:spPr>
            <p:txBody>
              <a:bodyPr/>
              <a:lstStyle/>
              <a:p>
                <a:endParaRPr lang="en-US"/>
              </a:p>
            </p:txBody>
          </p:sp>
          <p:sp>
            <p:nvSpPr>
              <p:cNvPr id="1395878" name="Rectangle 166"/>
              <p:cNvSpPr>
                <a:spLocks noChangeArrowheads="1"/>
              </p:cNvSpPr>
              <p:nvPr/>
            </p:nvSpPr>
            <p:spPr bwMode="auto">
              <a:xfrm>
                <a:off x="5472" y="1279"/>
                <a:ext cx="8" cy="8"/>
              </a:xfrm>
              <a:prstGeom prst="rect">
                <a:avLst/>
              </a:prstGeom>
              <a:solidFill>
                <a:srgbClr val="40458C"/>
              </a:solidFill>
              <a:ln w="9525">
                <a:noFill/>
                <a:miter lim="800000"/>
                <a:headEnd/>
                <a:tailEnd/>
              </a:ln>
            </p:spPr>
            <p:txBody>
              <a:bodyPr/>
              <a:lstStyle/>
              <a:p>
                <a:endParaRPr lang="en-US"/>
              </a:p>
            </p:txBody>
          </p:sp>
        </p:grpSp>
      </p:grpSp>
      <p:sp>
        <p:nvSpPr>
          <p:cNvPr id="1395879" name="AutoShape 167"/>
          <p:cNvSpPr>
            <a:spLocks noChangeArrowheads="1"/>
          </p:cNvSpPr>
          <p:nvPr/>
        </p:nvSpPr>
        <p:spPr bwMode="auto">
          <a:xfrm>
            <a:off x="6858000" y="4953000"/>
            <a:ext cx="685800" cy="609600"/>
          </a:xfrm>
          <a:prstGeom prst="upArrow">
            <a:avLst>
              <a:gd name="adj1" fmla="val 50000"/>
              <a:gd name="adj2" fmla="val 25000"/>
            </a:avLst>
          </a:prstGeom>
          <a:solidFill>
            <a:srgbClr val="3333FF"/>
          </a:solidFill>
          <a:ln w="9525">
            <a:solidFill>
              <a:schemeClr val="tx1"/>
            </a:solidFill>
            <a:miter lim="800000"/>
            <a:headEnd/>
            <a:tailEnd/>
          </a:ln>
          <a:effectLst/>
        </p:spPr>
        <p:txBody>
          <a:bodyPr vert="eaVert" wrap="none" anchor="ctr"/>
          <a:lstStyle/>
          <a:p>
            <a:endParaRPr lang="en-US"/>
          </a:p>
        </p:txBody>
      </p:sp>
      <p:grpSp>
        <p:nvGrpSpPr>
          <p:cNvPr id="1395880" name="Group 168"/>
          <p:cNvGrpSpPr>
            <a:grpSpLocks/>
          </p:cNvGrpSpPr>
          <p:nvPr/>
        </p:nvGrpSpPr>
        <p:grpSpPr bwMode="auto">
          <a:xfrm>
            <a:off x="6324600" y="5562600"/>
            <a:ext cx="2133600" cy="762000"/>
            <a:chOff x="3936" y="3456"/>
            <a:chExt cx="1344" cy="480"/>
          </a:xfrm>
        </p:grpSpPr>
        <p:sp>
          <p:nvSpPr>
            <p:cNvPr id="1395881" name="Rectangle 169"/>
            <p:cNvSpPr>
              <a:spLocks noChangeArrowheads="1"/>
            </p:cNvSpPr>
            <p:nvPr/>
          </p:nvSpPr>
          <p:spPr bwMode="auto">
            <a:xfrm>
              <a:off x="3936" y="3456"/>
              <a:ext cx="1344" cy="384"/>
            </a:xfrm>
            <a:prstGeom prst="rect">
              <a:avLst/>
            </a:prstGeom>
            <a:solidFill>
              <a:srgbClr val="FFFF66"/>
            </a:solidFill>
            <a:ln w="9525">
              <a:solidFill>
                <a:schemeClr val="tx1"/>
              </a:solidFill>
              <a:miter lim="800000"/>
              <a:headEnd/>
              <a:tailEnd/>
            </a:ln>
            <a:effectLst/>
          </p:spPr>
          <p:txBody>
            <a:bodyPr wrap="none" anchor="ctr"/>
            <a:lstStyle/>
            <a:p>
              <a:endParaRPr lang="en-US"/>
            </a:p>
          </p:txBody>
        </p:sp>
        <p:sp>
          <p:nvSpPr>
            <p:cNvPr id="1395882" name="Rectangle 170"/>
            <p:cNvSpPr>
              <a:spLocks noChangeArrowheads="1"/>
            </p:cNvSpPr>
            <p:nvPr/>
          </p:nvSpPr>
          <p:spPr bwMode="auto">
            <a:xfrm>
              <a:off x="3984" y="3504"/>
              <a:ext cx="1248" cy="432"/>
            </a:xfrm>
            <a:prstGeom prst="rect">
              <a:avLst/>
            </a:prstGeom>
            <a:solidFill>
              <a:schemeClr val="bg1"/>
            </a:solidFill>
            <a:ln w="9525">
              <a:solidFill>
                <a:schemeClr val="tx1"/>
              </a:solidFill>
              <a:miter lim="800000"/>
              <a:headEnd/>
              <a:tailEnd/>
            </a:ln>
            <a:effectLst/>
          </p:spPr>
          <p:txBody>
            <a:bodyPr wrap="none" anchor="ctr"/>
            <a:lstStyle/>
            <a:p>
              <a:pPr>
                <a:buFontTx/>
                <a:buNone/>
              </a:pPr>
              <a:r>
                <a:rPr lang="en-US"/>
                <a:t>DOI Strategic Plan</a:t>
              </a: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99810" name="Rectangle 2"/>
          <p:cNvSpPr>
            <a:spLocks noGrp="1" noChangeArrowheads="1"/>
          </p:cNvSpPr>
          <p:nvPr>
            <p:ph type="title"/>
          </p:nvPr>
        </p:nvSpPr>
        <p:spPr>
          <a:xfrm>
            <a:off x="352425" y="495300"/>
            <a:ext cx="8432800" cy="711200"/>
          </a:xfrm>
          <a:noFill/>
          <a:ln/>
        </p:spPr>
        <p:txBody>
          <a:bodyPr/>
          <a:lstStyle/>
          <a:p>
            <a:r>
              <a:rPr lang="en-US" sz="2400"/>
              <a:t>The FEA Business Reference Model (BRM)</a:t>
            </a:r>
          </a:p>
        </p:txBody>
      </p:sp>
      <p:sp>
        <p:nvSpPr>
          <p:cNvPr id="1399812" name="Rectangle 4"/>
          <p:cNvSpPr>
            <a:spLocks noChangeArrowheads="1"/>
          </p:cNvSpPr>
          <p:nvPr/>
        </p:nvSpPr>
        <p:spPr bwMode="auto">
          <a:xfrm>
            <a:off x="3182938" y="5802313"/>
            <a:ext cx="5273675" cy="627062"/>
          </a:xfrm>
          <a:prstGeom prst="rect">
            <a:avLst/>
          </a:prstGeom>
          <a:solidFill>
            <a:srgbClr val="FFFFFF"/>
          </a:solidFill>
          <a:ln w="9525">
            <a:miter lim="800000"/>
            <a:headEnd/>
            <a:tailEnd/>
          </a:ln>
          <a:effectLst/>
          <a:scene3d>
            <a:camera prst="legacyObliqueTopRight"/>
            <a:lightRig rig="legacyFlat3" dir="b"/>
          </a:scene3d>
          <a:sp3d extrusionH="1243000" prstMaterial="legacyMatte">
            <a:bevelT w="13500" h="13500" prst="angle"/>
            <a:bevelB w="13500" h="13500" prst="angle"/>
            <a:extrusionClr>
              <a:srgbClr val="FFFFFF"/>
            </a:extrusionClr>
          </a:sp3d>
        </p:spPr>
        <p:txBody>
          <a:bodyPr wrap="none" anchor="ctr">
            <a:flatTx/>
          </a:bodyPr>
          <a:lstStyle/>
          <a:p>
            <a:endParaRPr lang="en-US"/>
          </a:p>
        </p:txBody>
      </p:sp>
      <p:sp>
        <p:nvSpPr>
          <p:cNvPr id="1399813" name="Line 5"/>
          <p:cNvSpPr>
            <a:spLocks noChangeShapeType="1"/>
          </p:cNvSpPr>
          <p:nvPr/>
        </p:nvSpPr>
        <p:spPr bwMode="auto">
          <a:xfrm>
            <a:off x="3195638" y="6057900"/>
            <a:ext cx="5238750" cy="1588"/>
          </a:xfrm>
          <a:prstGeom prst="line">
            <a:avLst/>
          </a:prstGeom>
          <a:noFill/>
          <a:ln w="9525">
            <a:solidFill>
              <a:schemeClr val="tx1"/>
            </a:solidFill>
            <a:round/>
            <a:headEnd/>
            <a:tailEnd/>
          </a:ln>
          <a:effectLst/>
        </p:spPr>
        <p:txBody>
          <a:bodyPr wrap="none"/>
          <a:lstStyle/>
          <a:p>
            <a:endParaRPr lang="en-US"/>
          </a:p>
        </p:txBody>
      </p:sp>
      <p:sp>
        <p:nvSpPr>
          <p:cNvPr id="1399814" name="Rectangle 6"/>
          <p:cNvSpPr>
            <a:spLocks noChangeArrowheads="1"/>
          </p:cNvSpPr>
          <p:nvPr/>
        </p:nvSpPr>
        <p:spPr bwMode="auto">
          <a:xfrm>
            <a:off x="4191000" y="5797550"/>
            <a:ext cx="3098800" cy="222250"/>
          </a:xfrm>
          <a:prstGeom prst="rect">
            <a:avLst/>
          </a:prstGeom>
          <a:solidFill>
            <a:srgbClr val="009900"/>
          </a:solidFill>
          <a:ln w="9525">
            <a:solidFill>
              <a:schemeClr val="tx1"/>
            </a:solidFill>
            <a:miter lim="800000"/>
            <a:headEnd/>
            <a:tailEnd/>
          </a:ln>
          <a:effectLst/>
        </p:spPr>
        <p:txBody>
          <a:bodyPr wrap="none" anchor="ctr"/>
          <a:lstStyle/>
          <a:p>
            <a:endParaRPr lang="en-US"/>
          </a:p>
        </p:txBody>
      </p:sp>
      <p:sp>
        <p:nvSpPr>
          <p:cNvPr id="1399815" name="Text Box 7"/>
          <p:cNvSpPr txBox="1">
            <a:spLocks noChangeArrowheads="1"/>
          </p:cNvSpPr>
          <p:nvPr/>
        </p:nvSpPr>
        <p:spPr bwMode="auto">
          <a:xfrm>
            <a:off x="4335463" y="5743575"/>
            <a:ext cx="2959100" cy="303213"/>
          </a:xfrm>
          <a:prstGeom prst="rect">
            <a:avLst/>
          </a:prstGeom>
          <a:noFill/>
          <a:ln w="9525">
            <a:noFill/>
            <a:miter lim="800000"/>
            <a:headEnd/>
            <a:tailEnd/>
          </a:ln>
          <a:effectLst/>
        </p:spPr>
        <p:txBody>
          <a:bodyPr wrap="none">
            <a:spAutoFit/>
          </a:bodyPr>
          <a:lstStyle/>
          <a:p>
            <a:pPr algn="l">
              <a:buFontTx/>
              <a:buNone/>
            </a:pPr>
            <a:r>
              <a:rPr lang="en-US" sz="1400">
                <a:solidFill>
                  <a:schemeClr val="bg1"/>
                </a:solidFill>
                <a:latin typeface="Tahoma" pitchFamily="34" charset="0"/>
              </a:rPr>
              <a:t>Internal Operations / Infrastructure</a:t>
            </a:r>
          </a:p>
        </p:txBody>
      </p:sp>
      <p:sp>
        <p:nvSpPr>
          <p:cNvPr id="1399816" name="Rectangle 8"/>
          <p:cNvSpPr>
            <a:spLocks noChangeArrowheads="1"/>
          </p:cNvSpPr>
          <p:nvPr/>
        </p:nvSpPr>
        <p:spPr bwMode="auto">
          <a:xfrm>
            <a:off x="3233738" y="6122988"/>
            <a:ext cx="5153025" cy="257175"/>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17" name="Text Box 9"/>
          <p:cNvSpPr txBox="1">
            <a:spLocks noChangeArrowheads="1"/>
          </p:cNvSpPr>
          <p:nvPr/>
        </p:nvSpPr>
        <p:spPr bwMode="auto">
          <a:xfrm>
            <a:off x="3171825" y="6092825"/>
            <a:ext cx="2681288" cy="336550"/>
          </a:xfrm>
          <a:prstGeom prst="rect">
            <a:avLst/>
          </a:prstGeom>
          <a:noFill/>
          <a:ln w="9525">
            <a:noFill/>
            <a:miter lim="800000"/>
            <a:headEnd/>
            <a:tailEnd/>
          </a:ln>
          <a:effectLst/>
        </p:spPr>
        <p:txBody>
          <a:bodyPr>
            <a:spAutoFit/>
          </a:bodyPr>
          <a:lstStyle/>
          <a:p>
            <a:pPr>
              <a:buFontTx/>
              <a:buNone/>
            </a:pPr>
            <a:r>
              <a:rPr lang="en-US" sz="800" b="1">
                <a:solidFill>
                  <a:srgbClr val="FF0000"/>
                </a:solidFill>
              </a:rPr>
              <a:t>Human Resources,  Financial Management Admin                       Supply Chain Management </a:t>
            </a:r>
          </a:p>
        </p:txBody>
      </p:sp>
      <p:sp>
        <p:nvSpPr>
          <p:cNvPr id="1399818" name="Text Box 10"/>
          <p:cNvSpPr txBox="1">
            <a:spLocks noChangeArrowheads="1"/>
          </p:cNvSpPr>
          <p:nvPr/>
        </p:nvSpPr>
        <p:spPr bwMode="auto">
          <a:xfrm>
            <a:off x="5822950" y="6084888"/>
            <a:ext cx="2682875" cy="338137"/>
          </a:xfrm>
          <a:prstGeom prst="rect">
            <a:avLst/>
          </a:prstGeom>
          <a:noFill/>
          <a:ln w="9525">
            <a:noFill/>
            <a:miter lim="800000"/>
            <a:headEnd/>
            <a:tailEnd/>
          </a:ln>
          <a:effectLst/>
        </p:spPr>
        <p:txBody>
          <a:bodyPr>
            <a:spAutoFit/>
          </a:bodyPr>
          <a:lstStyle/>
          <a:p>
            <a:pPr>
              <a:buFontTx/>
              <a:buNone/>
            </a:pPr>
            <a:r>
              <a:rPr lang="en-US" sz="800" b="1">
                <a:solidFill>
                  <a:srgbClr val="FF0000"/>
                </a:solidFill>
              </a:rPr>
              <a:t>Human Resources,  Financial Management Admin                       Supply Chain Management </a:t>
            </a:r>
          </a:p>
        </p:txBody>
      </p:sp>
      <p:sp>
        <p:nvSpPr>
          <p:cNvPr id="1399819" name="Text Box 11"/>
          <p:cNvSpPr txBox="1">
            <a:spLocks noChangeArrowheads="1"/>
          </p:cNvSpPr>
          <p:nvPr/>
        </p:nvSpPr>
        <p:spPr bwMode="auto">
          <a:xfrm>
            <a:off x="3178175" y="5799138"/>
            <a:ext cx="1038225" cy="260350"/>
          </a:xfrm>
          <a:prstGeom prst="rect">
            <a:avLst/>
          </a:prstGeom>
          <a:noFill/>
          <a:ln w="9525">
            <a:noFill/>
            <a:miter lim="800000"/>
            <a:headEnd/>
            <a:tailEnd/>
          </a:ln>
          <a:effectLst/>
        </p:spPr>
        <p:txBody>
          <a:bodyPr wrap="none">
            <a:spAutoFit/>
          </a:bodyPr>
          <a:lstStyle/>
          <a:p>
            <a:pPr algn="l">
              <a:buFontTx/>
              <a:buNone/>
            </a:pPr>
            <a:r>
              <a:rPr lang="en-US" sz="1100" b="1"/>
              <a:t>Inter-Agency</a:t>
            </a:r>
          </a:p>
        </p:txBody>
      </p:sp>
      <p:sp>
        <p:nvSpPr>
          <p:cNvPr id="1399820" name="Text Box 12"/>
          <p:cNvSpPr txBox="1">
            <a:spLocks noChangeArrowheads="1"/>
          </p:cNvSpPr>
          <p:nvPr/>
        </p:nvSpPr>
        <p:spPr bwMode="auto">
          <a:xfrm>
            <a:off x="7526338" y="5799138"/>
            <a:ext cx="1038225" cy="260350"/>
          </a:xfrm>
          <a:prstGeom prst="rect">
            <a:avLst/>
          </a:prstGeom>
          <a:noFill/>
          <a:ln w="9525">
            <a:noFill/>
            <a:miter lim="800000"/>
            <a:headEnd/>
            <a:tailEnd/>
          </a:ln>
          <a:effectLst/>
        </p:spPr>
        <p:txBody>
          <a:bodyPr wrap="none">
            <a:spAutoFit/>
          </a:bodyPr>
          <a:lstStyle/>
          <a:p>
            <a:pPr algn="l">
              <a:buFontTx/>
              <a:buNone/>
            </a:pPr>
            <a:r>
              <a:rPr lang="en-US" sz="1100" b="1"/>
              <a:t>Intra-Agency</a:t>
            </a:r>
          </a:p>
        </p:txBody>
      </p:sp>
      <p:sp>
        <p:nvSpPr>
          <p:cNvPr id="1399821" name="Line 13"/>
          <p:cNvSpPr>
            <a:spLocks noChangeShapeType="1"/>
          </p:cNvSpPr>
          <p:nvPr/>
        </p:nvSpPr>
        <p:spPr bwMode="auto">
          <a:xfrm flipV="1">
            <a:off x="5700713" y="6124575"/>
            <a:ext cx="1587" cy="257175"/>
          </a:xfrm>
          <a:prstGeom prst="line">
            <a:avLst/>
          </a:prstGeom>
          <a:noFill/>
          <a:ln w="9525">
            <a:solidFill>
              <a:schemeClr val="tx1"/>
            </a:solidFill>
            <a:round/>
            <a:headEnd/>
            <a:tailEnd/>
          </a:ln>
          <a:effectLst/>
        </p:spPr>
        <p:txBody>
          <a:bodyPr wrap="none"/>
          <a:lstStyle/>
          <a:p>
            <a:endParaRPr lang="en-US"/>
          </a:p>
        </p:txBody>
      </p:sp>
      <p:sp>
        <p:nvSpPr>
          <p:cNvPr id="1399822" name="Rectangle 14"/>
          <p:cNvSpPr>
            <a:spLocks noChangeArrowheads="1"/>
          </p:cNvSpPr>
          <p:nvPr/>
        </p:nvSpPr>
        <p:spPr bwMode="auto">
          <a:xfrm>
            <a:off x="3489325" y="4878388"/>
            <a:ext cx="4792663" cy="877887"/>
          </a:xfrm>
          <a:prstGeom prst="rect">
            <a:avLst/>
          </a:prstGeom>
          <a:solidFill>
            <a:srgbClr val="FFFFFF"/>
          </a:solidFill>
          <a:ln w="9525">
            <a:miter lim="800000"/>
            <a:headEnd/>
            <a:tailEnd/>
          </a:ln>
          <a:effectLst/>
          <a:scene3d>
            <a:camera prst="legacyObliqueTopRight"/>
            <a:lightRig rig="legacyFlat3" dir="b"/>
          </a:scene3d>
          <a:sp3d extrusionH="1243000" prstMaterial="legacyMatte">
            <a:bevelT w="13500" h="13500" prst="angle"/>
            <a:bevelB w="13500" h="13500" prst="angle"/>
            <a:extrusionClr>
              <a:srgbClr val="FFFFFF"/>
            </a:extrusionClr>
          </a:sp3d>
        </p:spPr>
        <p:txBody>
          <a:bodyPr wrap="none" anchor="ctr">
            <a:flatTx/>
          </a:bodyPr>
          <a:lstStyle/>
          <a:p>
            <a:endParaRPr lang="en-US"/>
          </a:p>
        </p:txBody>
      </p:sp>
      <p:sp>
        <p:nvSpPr>
          <p:cNvPr id="1399823" name="Rectangle 15"/>
          <p:cNvSpPr>
            <a:spLocks noChangeArrowheads="1"/>
          </p:cNvSpPr>
          <p:nvPr/>
        </p:nvSpPr>
        <p:spPr bwMode="auto">
          <a:xfrm>
            <a:off x="4597400" y="4910138"/>
            <a:ext cx="2701925" cy="222250"/>
          </a:xfrm>
          <a:prstGeom prst="rect">
            <a:avLst/>
          </a:prstGeom>
          <a:solidFill>
            <a:srgbClr val="009900"/>
          </a:solidFill>
          <a:ln w="9525">
            <a:solidFill>
              <a:schemeClr val="tx1"/>
            </a:solidFill>
            <a:miter lim="800000"/>
            <a:headEnd/>
            <a:tailEnd/>
          </a:ln>
          <a:effectLst/>
        </p:spPr>
        <p:txBody>
          <a:bodyPr wrap="none" anchor="ctr"/>
          <a:lstStyle/>
          <a:p>
            <a:endParaRPr lang="en-US"/>
          </a:p>
        </p:txBody>
      </p:sp>
      <p:sp>
        <p:nvSpPr>
          <p:cNvPr id="1399824" name="Text Box 16"/>
          <p:cNvSpPr txBox="1">
            <a:spLocks noChangeArrowheads="1"/>
          </p:cNvSpPr>
          <p:nvPr/>
        </p:nvSpPr>
        <p:spPr bwMode="auto">
          <a:xfrm>
            <a:off x="4651375" y="4862513"/>
            <a:ext cx="2390775" cy="304800"/>
          </a:xfrm>
          <a:prstGeom prst="rect">
            <a:avLst/>
          </a:prstGeom>
          <a:noFill/>
          <a:ln w="9525">
            <a:noFill/>
            <a:miter lim="800000"/>
            <a:headEnd/>
            <a:tailEnd/>
          </a:ln>
          <a:effectLst/>
        </p:spPr>
        <p:txBody>
          <a:bodyPr wrap="none">
            <a:spAutoFit/>
          </a:bodyPr>
          <a:lstStyle/>
          <a:p>
            <a:pPr algn="l">
              <a:buFontTx/>
              <a:buNone/>
            </a:pPr>
            <a:r>
              <a:rPr lang="en-US" sz="1400">
                <a:solidFill>
                  <a:schemeClr val="bg1"/>
                </a:solidFill>
                <a:latin typeface="Tahoma" pitchFamily="34" charset="0"/>
              </a:rPr>
              <a:t>Support Delivery of Services</a:t>
            </a:r>
          </a:p>
        </p:txBody>
      </p:sp>
      <p:sp>
        <p:nvSpPr>
          <p:cNvPr id="1399825" name="Rectangle 17"/>
          <p:cNvSpPr>
            <a:spLocks noChangeArrowheads="1"/>
          </p:cNvSpPr>
          <p:nvPr/>
        </p:nvSpPr>
        <p:spPr bwMode="auto">
          <a:xfrm>
            <a:off x="3570288" y="5153025"/>
            <a:ext cx="4614862" cy="5715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6" name="Text Box 18"/>
          <p:cNvSpPr txBox="1">
            <a:spLocks noChangeArrowheads="1"/>
          </p:cNvSpPr>
          <p:nvPr/>
        </p:nvSpPr>
        <p:spPr bwMode="auto">
          <a:xfrm>
            <a:off x="3586163" y="5143500"/>
            <a:ext cx="2178050" cy="579438"/>
          </a:xfrm>
          <a:prstGeom prst="rect">
            <a:avLst/>
          </a:prstGeom>
          <a:noFill/>
          <a:ln w="9525">
            <a:noFill/>
            <a:miter lim="800000"/>
            <a:headEnd/>
            <a:tailEnd/>
          </a:ln>
          <a:effectLst/>
        </p:spPr>
        <p:txBody>
          <a:bodyPr>
            <a:spAutoFit/>
          </a:bodyPr>
          <a:lstStyle/>
          <a:p>
            <a:pPr algn="l">
              <a:buFontTx/>
              <a:buNone/>
            </a:pPr>
            <a:r>
              <a:rPr lang="en-US" sz="800" b="1">
                <a:solidFill>
                  <a:srgbClr val="FF0000"/>
                </a:solidFill>
              </a:rPr>
              <a:t>Legislative Management</a:t>
            </a:r>
          </a:p>
          <a:p>
            <a:pPr algn="l">
              <a:buFontTx/>
              <a:buNone/>
            </a:pPr>
            <a:r>
              <a:rPr lang="en-US" sz="800" b="1">
                <a:solidFill>
                  <a:srgbClr val="FF0000"/>
                </a:solidFill>
              </a:rPr>
              <a:t>Business Management of Information</a:t>
            </a:r>
          </a:p>
          <a:p>
            <a:pPr algn="l">
              <a:buFontTx/>
              <a:buNone/>
            </a:pPr>
            <a:r>
              <a:rPr lang="en-US" sz="800" b="1">
                <a:solidFill>
                  <a:srgbClr val="FF0000"/>
                </a:solidFill>
              </a:rPr>
              <a:t>IT Management, Regulator Management</a:t>
            </a:r>
          </a:p>
          <a:p>
            <a:pPr algn="l">
              <a:buFontTx/>
              <a:buNone/>
            </a:pPr>
            <a:r>
              <a:rPr lang="en-US" sz="800" b="1">
                <a:solidFill>
                  <a:srgbClr val="FF0000"/>
                </a:solidFill>
              </a:rPr>
              <a:t>Planning and Resource Allocation</a:t>
            </a:r>
          </a:p>
        </p:txBody>
      </p:sp>
      <p:sp>
        <p:nvSpPr>
          <p:cNvPr id="1399827" name="Text Box 19"/>
          <p:cNvSpPr txBox="1">
            <a:spLocks noChangeArrowheads="1"/>
          </p:cNvSpPr>
          <p:nvPr/>
        </p:nvSpPr>
        <p:spPr bwMode="auto">
          <a:xfrm>
            <a:off x="6000750" y="5138738"/>
            <a:ext cx="2352675" cy="581025"/>
          </a:xfrm>
          <a:prstGeom prst="rect">
            <a:avLst/>
          </a:prstGeom>
          <a:noFill/>
          <a:ln w="9525">
            <a:noFill/>
            <a:miter lim="800000"/>
            <a:headEnd/>
            <a:tailEnd/>
          </a:ln>
          <a:effectLst/>
        </p:spPr>
        <p:txBody>
          <a:bodyPr>
            <a:spAutoFit/>
          </a:bodyPr>
          <a:lstStyle/>
          <a:p>
            <a:pPr algn="l">
              <a:buFontTx/>
              <a:buNone/>
            </a:pPr>
            <a:r>
              <a:rPr lang="en-US" sz="800" b="1">
                <a:solidFill>
                  <a:srgbClr val="FF0000"/>
                </a:solidFill>
              </a:rPr>
              <a:t>Controls and Oversight</a:t>
            </a:r>
          </a:p>
          <a:p>
            <a:pPr algn="l">
              <a:buFontTx/>
              <a:buNone/>
            </a:pPr>
            <a:r>
              <a:rPr lang="en-US" sz="800" b="1">
                <a:solidFill>
                  <a:srgbClr val="FF0000"/>
                </a:solidFill>
              </a:rPr>
              <a:t>Public Affairs</a:t>
            </a:r>
          </a:p>
          <a:p>
            <a:pPr algn="l">
              <a:buFontTx/>
              <a:buNone/>
            </a:pPr>
            <a:r>
              <a:rPr lang="en-US" sz="800" b="1">
                <a:solidFill>
                  <a:srgbClr val="FF0000"/>
                </a:solidFill>
              </a:rPr>
              <a:t>Internal Risk Management and Mitigation</a:t>
            </a:r>
          </a:p>
          <a:p>
            <a:pPr algn="l">
              <a:buFontTx/>
              <a:buNone/>
            </a:pPr>
            <a:r>
              <a:rPr lang="en-US" sz="800" b="1">
                <a:solidFill>
                  <a:srgbClr val="FF0000"/>
                </a:solidFill>
              </a:rPr>
              <a:t>Federal Financial Assistance</a:t>
            </a:r>
          </a:p>
        </p:txBody>
      </p:sp>
      <p:sp>
        <p:nvSpPr>
          <p:cNvPr id="1399828" name="Rectangle 20"/>
          <p:cNvSpPr>
            <a:spLocks noChangeArrowheads="1"/>
          </p:cNvSpPr>
          <p:nvPr/>
        </p:nvSpPr>
        <p:spPr bwMode="auto">
          <a:xfrm>
            <a:off x="3724275" y="4340225"/>
            <a:ext cx="4487863" cy="495300"/>
          </a:xfrm>
          <a:prstGeom prst="rect">
            <a:avLst/>
          </a:prstGeom>
          <a:solidFill>
            <a:srgbClr val="FFFF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buFontTx/>
              <a:buNone/>
            </a:pPr>
            <a:endParaRPr lang="en-US" sz="3200">
              <a:solidFill>
                <a:srgbClr val="000000"/>
              </a:solidFill>
              <a:latin typeface="Tahoma" pitchFamily="34" charset="0"/>
            </a:endParaRPr>
          </a:p>
        </p:txBody>
      </p:sp>
      <p:sp>
        <p:nvSpPr>
          <p:cNvPr id="1399829" name="Text Box 21"/>
          <p:cNvSpPr txBox="1">
            <a:spLocks noChangeArrowheads="1"/>
          </p:cNvSpPr>
          <p:nvPr/>
        </p:nvSpPr>
        <p:spPr bwMode="auto">
          <a:xfrm>
            <a:off x="3748088" y="4418013"/>
            <a:ext cx="622300" cy="363537"/>
          </a:xfrm>
          <a:prstGeom prst="rect">
            <a:avLst/>
          </a:prstGeom>
          <a:noFill/>
          <a:ln w="9525">
            <a:noFill/>
            <a:miter lim="800000"/>
            <a:headEnd/>
            <a:tailEnd/>
          </a:ln>
          <a:effectLst/>
        </p:spPr>
        <p:txBody>
          <a:bodyPr wrap="none">
            <a:spAutoFit/>
          </a:bodyPr>
          <a:lstStyle/>
          <a:p>
            <a:pPr>
              <a:buFontTx/>
              <a:buNone/>
            </a:pPr>
            <a:r>
              <a:rPr lang="en-US" sz="900"/>
              <a:t>Web</a:t>
            </a:r>
          </a:p>
          <a:p>
            <a:pPr>
              <a:buFontTx/>
              <a:buNone/>
            </a:pPr>
            <a:r>
              <a:rPr lang="en-US" sz="900"/>
              <a:t>Services</a:t>
            </a:r>
          </a:p>
        </p:txBody>
      </p:sp>
      <p:sp>
        <p:nvSpPr>
          <p:cNvPr id="1399830" name="Text Box 22"/>
          <p:cNvSpPr txBox="1">
            <a:spLocks noChangeArrowheads="1"/>
          </p:cNvSpPr>
          <p:nvPr/>
        </p:nvSpPr>
        <p:spPr bwMode="auto">
          <a:xfrm>
            <a:off x="4324350" y="4371975"/>
            <a:ext cx="749300" cy="503238"/>
          </a:xfrm>
          <a:prstGeom prst="rect">
            <a:avLst/>
          </a:prstGeom>
          <a:noFill/>
          <a:ln w="9525">
            <a:noFill/>
            <a:miter lim="800000"/>
            <a:headEnd/>
            <a:tailEnd/>
          </a:ln>
          <a:effectLst/>
        </p:spPr>
        <p:txBody>
          <a:bodyPr wrap="none">
            <a:spAutoFit/>
          </a:bodyPr>
          <a:lstStyle/>
          <a:p>
            <a:pPr algn="l">
              <a:buFontTx/>
              <a:buNone/>
            </a:pPr>
            <a:r>
              <a:rPr lang="en-US" sz="900"/>
              <a:t>Telephone</a:t>
            </a:r>
          </a:p>
          <a:p>
            <a:pPr algn="l">
              <a:buFontTx/>
              <a:buChar char="-"/>
            </a:pPr>
            <a:r>
              <a:rPr lang="en-US" sz="900"/>
              <a:t>Voice</a:t>
            </a:r>
          </a:p>
          <a:p>
            <a:pPr algn="l">
              <a:buFontTx/>
              <a:buChar char="-"/>
            </a:pPr>
            <a:r>
              <a:rPr lang="en-US" sz="900"/>
              <a:t>Interactive</a:t>
            </a:r>
          </a:p>
        </p:txBody>
      </p:sp>
      <p:sp>
        <p:nvSpPr>
          <p:cNvPr id="1399831" name="Text Box 23"/>
          <p:cNvSpPr txBox="1">
            <a:spLocks noChangeArrowheads="1"/>
          </p:cNvSpPr>
          <p:nvPr/>
        </p:nvSpPr>
        <p:spPr bwMode="auto">
          <a:xfrm>
            <a:off x="5049838" y="4432300"/>
            <a:ext cx="692150" cy="366713"/>
          </a:xfrm>
          <a:prstGeom prst="rect">
            <a:avLst/>
          </a:prstGeom>
          <a:noFill/>
          <a:ln w="9525">
            <a:noFill/>
            <a:miter lim="800000"/>
            <a:headEnd/>
            <a:tailEnd/>
          </a:ln>
          <a:effectLst/>
        </p:spPr>
        <p:txBody>
          <a:bodyPr wrap="none">
            <a:spAutoFit/>
          </a:bodyPr>
          <a:lstStyle/>
          <a:p>
            <a:pPr>
              <a:buFontTx/>
              <a:buNone/>
            </a:pPr>
            <a:r>
              <a:rPr lang="en-US" sz="900"/>
              <a:t>E-system</a:t>
            </a:r>
          </a:p>
          <a:p>
            <a:pPr>
              <a:buFontTx/>
              <a:buNone/>
            </a:pPr>
            <a:r>
              <a:rPr lang="en-US" sz="900"/>
              <a:t>to System</a:t>
            </a:r>
          </a:p>
        </p:txBody>
      </p:sp>
      <p:sp>
        <p:nvSpPr>
          <p:cNvPr id="1399832" name="Text Box 24"/>
          <p:cNvSpPr txBox="1">
            <a:spLocks noChangeArrowheads="1"/>
          </p:cNvSpPr>
          <p:nvPr/>
        </p:nvSpPr>
        <p:spPr bwMode="auto">
          <a:xfrm>
            <a:off x="5702300" y="4440238"/>
            <a:ext cx="882650" cy="365125"/>
          </a:xfrm>
          <a:prstGeom prst="rect">
            <a:avLst/>
          </a:prstGeom>
          <a:noFill/>
          <a:ln w="9525">
            <a:noFill/>
            <a:miter lim="800000"/>
            <a:headEnd/>
            <a:tailEnd/>
          </a:ln>
          <a:effectLst/>
        </p:spPr>
        <p:txBody>
          <a:bodyPr wrap="none">
            <a:spAutoFit/>
          </a:bodyPr>
          <a:lstStyle/>
          <a:p>
            <a:pPr>
              <a:buFontTx/>
              <a:buNone/>
            </a:pPr>
            <a:r>
              <a:rPr lang="en-US" sz="900"/>
              <a:t>Public/Private</a:t>
            </a:r>
          </a:p>
          <a:p>
            <a:pPr>
              <a:buFontTx/>
              <a:buNone/>
            </a:pPr>
            <a:r>
              <a:rPr lang="en-US" sz="900"/>
              <a:t>Partnerships</a:t>
            </a:r>
          </a:p>
        </p:txBody>
      </p:sp>
      <p:sp>
        <p:nvSpPr>
          <p:cNvPr id="1399833" name="Text Box 25"/>
          <p:cNvSpPr txBox="1">
            <a:spLocks noChangeArrowheads="1"/>
          </p:cNvSpPr>
          <p:nvPr/>
        </p:nvSpPr>
        <p:spPr bwMode="auto">
          <a:xfrm>
            <a:off x="6546850" y="4513263"/>
            <a:ext cx="374650" cy="228600"/>
          </a:xfrm>
          <a:prstGeom prst="rect">
            <a:avLst/>
          </a:prstGeom>
          <a:noFill/>
          <a:ln w="9525">
            <a:noFill/>
            <a:miter lim="800000"/>
            <a:headEnd/>
            <a:tailEnd/>
          </a:ln>
          <a:effectLst/>
        </p:spPr>
        <p:txBody>
          <a:bodyPr wrap="none">
            <a:spAutoFit/>
          </a:bodyPr>
          <a:lstStyle/>
          <a:p>
            <a:pPr algn="l">
              <a:buFontTx/>
              <a:buNone/>
            </a:pPr>
            <a:r>
              <a:rPr lang="en-US" sz="900"/>
              <a:t>Fax</a:t>
            </a:r>
          </a:p>
        </p:txBody>
      </p:sp>
      <p:sp>
        <p:nvSpPr>
          <p:cNvPr id="1399834" name="Text Box 26"/>
          <p:cNvSpPr txBox="1">
            <a:spLocks noChangeArrowheads="1"/>
          </p:cNvSpPr>
          <p:nvPr/>
        </p:nvSpPr>
        <p:spPr bwMode="auto">
          <a:xfrm>
            <a:off x="6873875" y="4508500"/>
            <a:ext cx="184150" cy="244475"/>
          </a:xfrm>
          <a:prstGeom prst="rect">
            <a:avLst/>
          </a:prstGeom>
          <a:noFill/>
          <a:ln w="9525">
            <a:noFill/>
            <a:miter lim="800000"/>
            <a:headEnd/>
            <a:tailEnd/>
          </a:ln>
          <a:effectLst/>
        </p:spPr>
        <p:txBody>
          <a:bodyPr wrap="none">
            <a:spAutoFit/>
          </a:bodyPr>
          <a:lstStyle/>
          <a:p>
            <a:pPr algn="l">
              <a:buFontTx/>
              <a:buNone/>
            </a:pPr>
            <a:endParaRPr lang="en-US" sz="1000"/>
          </a:p>
        </p:txBody>
      </p:sp>
      <p:sp>
        <p:nvSpPr>
          <p:cNvPr id="1399835" name="Text Box 27"/>
          <p:cNvSpPr txBox="1">
            <a:spLocks noChangeArrowheads="1"/>
          </p:cNvSpPr>
          <p:nvPr/>
        </p:nvSpPr>
        <p:spPr bwMode="auto">
          <a:xfrm>
            <a:off x="7272338" y="4441825"/>
            <a:ext cx="565150" cy="365125"/>
          </a:xfrm>
          <a:prstGeom prst="rect">
            <a:avLst/>
          </a:prstGeom>
          <a:noFill/>
          <a:ln w="9525">
            <a:noFill/>
            <a:miter lim="800000"/>
            <a:headEnd/>
            <a:tailEnd/>
          </a:ln>
          <a:effectLst/>
        </p:spPr>
        <p:txBody>
          <a:bodyPr wrap="none">
            <a:spAutoFit/>
          </a:bodyPr>
          <a:lstStyle/>
          <a:p>
            <a:pPr>
              <a:buFontTx/>
              <a:buNone/>
            </a:pPr>
            <a:r>
              <a:rPr lang="en-US" sz="900"/>
              <a:t>Face to</a:t>
            </a:r>
          </a:p>
          <a:p>
            <a:pPr>
              <a:buFontTx/>
              <a:buNone/>
            </a:pPr>
            <a:r>
              <a:rPr lang="en-US" sz="900"/>
              <a:t>Face</a:t>
            </a:r>
          </a:p>
        </p:txBody>
      </p:sp>
      <p:sp>
        <p:nvSpPr>
          <p:cNvPr id="1399836" name="Text Box 28"/>
          <p:cNvSpPr txBox="1">
            <a:spLocks noChangeArrowheads="1"/>
          </p:cNvSpPr>
          <p:nvPr/>
        </p:nvSpPr>
        <p:spPr bwMode="auto">
          <a:xfrm>
            <a:off x="7767638" y="4522788"/>
            <a:ext cx="393700" cy="227012"/>
          </a:xfrm>
          <a:prstGeom prst="rect">
            <a:avLst/>
          </a:prstGeom>
          <a:noFill/>
          <a:ln w="9525">
            <a:noFill/>
            <a:miter lim="800000"/>
            <a:headEnd/>
            <a:tailEnd/>
          </a:ln>
          <a:effectLst/>
        </p:spPr>
        <p:txBody>
          <a:bodyPr wrap="none">
            <a:spAutoFit/>
          </a:bodyPr>
          <a:lstStyle/>
          <a:p>
            <a:pPr algn="l">
              <a:buFontTx/>
              <a:buNone/>
            </a:pPr>
            <a:r>
              <a:rPr lang="en-US" sz="900"/>
              <a:t>Mail</a:t>
            </a:r>
          </a:p>
        </p:txBody>
      </p:sp>
      <p:grpSp>
        <p:nvGrpSpPr>
          <p:cNvPr id="1399837" name="Group 29"/>
          <p:cNvGrpSpPr>
            <a:grpSpLocks/>
          </p:cNvGrpSpPr>
          <p:nvPr/>
        </p:nvGrpSpPr>
        <p:grpSpPr bwMode="auto">
          <a:xfrm>
            <a:off x="4010025" y="2125663"/>
            <a:ext cx="4162425" cy="2173287"/>
            <a:chOff x="955" y="1305"/>
            <a:chExt cx="2775" cy="1617"/>
          </a:xfrm>
        </p:grpSpPr>
        <p:sp>
          <p:nvSpPr>
            <p:cNvPr id="1399838" name="Freeform 30"/>
            <p:cNvSpPr>
              <a:spLocks/>
            </p:cNvSpPr>
            <p:nvPr/>
          </p:nvSpPr>
          <p:spPr bwMode="auto">
            <a:xfrm>
              <a:off x="3637" y="1305"/>
              <a:ext cx="93" cy="1617"/>
            </a:xfrm>
            <a:custGeom>
              <a:avLst/>
              <a:gdLst/>
              <a:ahLst/>
              <a:cxnLst>
                <a:cxn ang="0">
                  <a:pos x="0" y="1617"/>
                </a:cxn>
                <a:cxn ang="0">
                  <a:pos x="0" y="93"/>
                </a:cxn>
                <a:cxn ang="0">
                  <a:pos x="93" y="0"/>
                </a:cxn>
                <a:cxn ang="0">
                  <a:pos x="93" y="1524"/>
                </a:cxn>
                <a:cxn ang="0">
                  <a:pos x="0" y="1617"/>
                </a:cxn>
              </a:cxnLst>
              <a:rect l="0" t="0" r="r" b="b"/>
              <a:pathLst>
                <a:path w="93" h="1617">
                  <a:moveTo>
                    <a:pt x="0" y="1617"/>
                  </a:moveTo>
                  <a:lnTo>
                    <a:pt x="0" y="93"/>
                  </a:lnTo>
                  <a:lnTo>
                    <a:pt x="93" y="0"/>
                  </a:lnTo>
                  <a:lnTo>
                    <a:pt x="93" y="1524"/>
                  </a:lnTo>
                  <a:lnTo>
                    <a:pt x="0" y="1617"/>
                  </a:lnTo>
                  <a:close/>
                </a:path>
              </a:pathLst>
            </a:custGeom>
            <a:solidFill>
              <a:srgbClr val="E1E1E1"/>
            </a:solidFill>
            <a:ln w="9525">
              <a:noFill/>
              <a:round/>
              <a:headEnd/>
              <a:tailEnd/>
            </a:ln>
          </p:spPr>
          <p:txBody>
            <a:bodyPr/>
            <a:lstStyle/>
            <a:p>
              <a:endParaRPr lang="en-US"/>
            </a:p>
          </p:txBody>
        </p:sp>
        <p:sp>
          <p:nvSpPr>
            <p:cNvPr id="1399839" name="Freeform 31"/>
            <p:cNvSpPr>
              <a:spLocks/>
            </p:cNvSpPr>
            <p:nvPr/>
          </p:nvSpPr>
          <p:spPr bwMode="auto">
            <a:xfrm>
              <a:off x="955" y="1305"/>
              <a:ext cx="2775" cy="93"/>
            </a:xfrm>
            <a:custGeom>
              <a:avLst/>
              <a:gdLst/>
              <a:ahLst/>
              <a:cxnLst>
                <a:cxn ang="0">
                  <a:pos x="2682" y="93"/>
                </a:cxn>
                <a:cxn ang="0">
                  <a:pos x="0" y="93"/>
                </a:cxn>
                <a:cxn ang="0">
                  <a:pos x="93" y="0"/>
                </a:cxn>
                <a:cxn ang="0">
                  <a:pos x="2775" y="0"/>
                </a:cxn>
                <a:cxn ang="0">
                  <a:pos x="2682" y="93"/>
                </a:cxn>
              </a:cxnLst>
              <a:rect l="0" t="0" r="r" b="b"/>
              <a:pathLst>
                <a:path w="2775" h="93">
                  <a:moveTo>
                    <a:pt x="2682" y="93"/>
                  </a:moveTo>
                  <a:lnTo>
                    <a:pt x="0" y="93"/>
                  </a:lnTo>
                  <a:lnTo>
                    <a:pt x="93" y="0"/>
                  </a:lnTo>
                  <a:lnTo>
                    <a:pt x="2775" y="0"/>
                  </a:lnTo>
                  <a:lnTo>
                    <a:pt x="2682" y="93"/>
                  </a:lnTo>
                  <a:close/>
                </a:path>
              </a:pathLst>
            </a:custGeom>
            <a:solidFill>
              <a:srgbClr val="989898"/>
            </a:solidFill>
            <a:ln w="9525">
              <a:noFill/>
              <a:round/>
              <a:headEnd/>
              <a:tailEnd/>
            </a:ln>
          </p:spPr>
          <p:txBody>
            <a:bodyPr/>
            <a:lstStyle/>
            <a:p>
              <a:endParaRPr lang="en-US"/>
            </a:p>
          </p:txBody>
        </p:sp>
        <p:sp>
          <p:nvSpPr>
            <p:cNvPr id="1399840" name="Rectangle 32"/>
            <p:cNvSpPr>
              <a:spLocks noChangeArrowheads="1"/>
            </p:cNvSpPr>
            <p:nvPr/>
          </p:nvSpPr>
          <p:spPr bwMode="auto">
            <a:xfrm>
              <a:off x="955" y="1398"/>
              <a:ext cx="2682" cy="1524"/>
            </a:xfrm>
            <a:prstGeom prst="rect">
              <a:avLst/>
            </a:prstGeom>
            <a:solidFill>
              <a:srgbClr val="C4C4C4"/>
            </a:solidFill>
            <a:ln w="9525">
              <a:noFill/>
              <a:miter lim="800000"/>
              <a:headEnd/>
              <a:tailEnd/>
            </a:ln>
          </p:spPr>
          <p:txBody>
            <a:bodyPr/>
            <a:lstStyle/>
            <a:p>
              <a:endParaRPr lang="en-US"/>
            </a:p>
          </p:txBody>
        </p:sp>
      </p:grpSp>
      <p:sp>
        <p:nvSpPr>
          <p:cNvPr id="1399841" name="Rectangle 33"/>
          <p:cNvSpPr>
            <a:spLocks noChangeArrowheads="1"/>
          </p:cNvSpPr>
          <p:nvPr/>
        </p:nvSpPr>
        <p:spPr bwMode="auto">
          <a:xfrm>
            <a:off x="4076700" y="2424113"/>
            <a:ext cx="1087438" cy="228600"/>
          </a:xfrm>
          <a:prstGeom prst="rect">
            <a:avLst/>
          </a:prstGeom>
          <a:noFill/>
          <a:ln w="9525">
            <a:noFill/>
            <a:miter lim="800000"/>
            <a:headEnd/>
            <a:tailEnd/>
          </a:ln>
        </p:spPr>
        <p:txBody>
          <a:bodyPr/>
          <a:lstStyle/>
          <a:p>
            <a:endParaRPr lang="en-US"/>
          </a:p>
        </p:txBody>
      </p:sp>
      <p:sp>
        <p:nvSpPr>
          <p:cNvPr id="1399842" name="Rectangle 34"/>
          <p:cNvSpPr>
            <a:spLocks noChangeArrowheads="1"/>
          </p:cNvSpPr>
          <p:nvPr/>
        </p:nvSpPr>
        <p:spPr bwMode="auto">
          <a:xfrm>
            <a:off x="4159250" y="2478088"/>
            <a:ext cx="987425" cy="182562"/>
          </a:xfrm>
          <a:prstGeom prst="rect">
            <a:avLst/>
          </a:prstGeom>
          <a:noFill/>
          <a:ln w="9525">
            <a:noFill/>
            <a:miter lim="800000"/>
            <a:headEnd/>
            <a:tailEnd/>
          </a:ln>
        </p:spPr>
        <p:txBody>
          <a:bodyPr wrap="none" lIns="0" tIns="0" rIns="0" bIns="0">
            <a:spAutoFit/>
          </a:bodyPr>
          <a:lstStyle/>
          <a:p>
            <a:pPr algn="l">
              <a:buFontTx/>
              <a:buNone/>
            </a:pPr>
            <a:r>
              <a:rPr lang="en-US" sz="1200">
                <a:solidFill>
                  <a:srgbClr val="40458C"/>
                </a:solidFill>
                <a:latin typeface="Times New Roman" pitchFamily="18" charset="0"/>
              </a:rPr>
              <a:t>Program Admin</a:t>
            </a:r>
            <a:endParaRPr lang="en-US" sz="3200">
              <a:latin typeface="Tahoma" pitchFamily="34" charset="0"/>
            </a:endParaRPr>
          </a:p>
        </p:txBody>
      </p:sp>
      <p:grpSp>
        <p:nvGrpSpPr>
          <p:cNvPr id="1399843" name="Group 35"/>
          <p:cNvGrpSpPr>
            <a:grpSpLocks/>
          </p:cNvGrpSpPr>
          <p:nvPr/>
        </p:nvGrpSpPr>
        <p:grpSpPr bwMode="auto">
          <a:xfrm>
            <a:off x="5146675" y="2563813"/>
            <a:ext cx="569913" cy="80962"/>
            <a:chOff x="1713" y="1632"/>
            <a:chExt cx="380" cy="59"/>
          </a:xfrm>
        </p:grpSpPr>
        <p:sp>
          <p:nvSpPr>
            <p:cNvPr id="1399844" name="Line 36"/>
            <p:cNvSpPr>
              <a:spLocks noChangeShapeType="1"/>
            </p:cNvSpPr>
            <p:nvPr/>
          </p:nvSpPr>
          <p:spPr bwMode="auto">
            <a:xfrm flipH="1">
              <a:off x="1757" y="1659"/>
              <a:ext cx="336" cy="1"/>
            </a:xfrm>
            <a:prstGeom prst="line">
              <a:avLst/>
            </a:prstGeom>
            <a:noFill/>
            <a:ln w="7938" cap="rnd">
              <a:solidFill>
                <a:srgbClr val="40458C"/>
              </a:solidFill>
              <a:round/>
              <a:headEnd/>
              <a:tailEnd/>
            </a:ln>
          </p:spPr>
          <p:txBody>
            <a:bodyPr/>
            <a:lstStyle/>
            <a:p>
              <a:endParaRPr lang="en-US"/>
            </a:p>
          </p:txBody>
        </p:sp>
        <p:sp>
          <p:nvSpPr>
            <p:cNvPr id="1399845" name="Freeform 37"/>
            <p:cNvSpPr>
              <a:spLocks/>
            </p:cNvSpPr>
            <p:nvPr/>
          </p:nvSpPr>
          <p:spPr bwMode="auto">
            <a:xfrm>
              <a:off x="1713" y="1632"/>
              <a:ext cx="61" cy="59"/>
            </a:xfrm>
            <a:custGeom>
              <a:avLst/>
              <a:gdLst/>
              <a:ahLst/>
              <a:cxnLst>
                <a:cxn ang="0">
                  <a:pos x="61" y="0"/>
                </a:cxn>
                <a:cxn ang="0">
                  <a:pos x="0" y="32"/>
                </a:cxn>
                <a:cxn ang="0">
                  <a:pos x="61" y="59"/>
                </a:cxn>
                <a:cxn ang="0">
                  <a:pos x="61" y="0"/>
                </a:cxn>
              </a:cxnLst>
              <a:rect l="0" t="0" r="r" b="b"/>
              <a:pathLst>
                <a:path w="61" h="59">
                  <a:moveTo>
                    <a:pt x="61" y="0"/>
                  </a:moveTo>
                  <a:lnTo>
                    <a:pt x="0" y="32"/>
                  </a:lnTo>
                  <a:lnTo>
                    <a:pt x="61" y="59"/>
                  </a:lnTo>
                  <a:lnTo>
                    <a:pt x="61" y="0"/>
                  </a:lnTo>
                  <a:close/>
                </a:path>
              </a:pathLst>
            </a:custGeom>
            <a:solidFill>
              <a:srgbClr val="40458C"/>
            </a:solidFill>
            <a:ln w="9525">
              <a:noFill/>
              <a:round/>
              <a:headEnd/>
              <a:tailEnd/>
            </a:ln>
          </p:spPr>
          <p:txBody>
            <a:bodyPr/>
            <a:lstStyle/>
            <a:p>
              <a:endParaRPr lang="en-US"/>
            </a:p>
          </p:txBody>
        </p:sp>
      </p:grpSp>
      <p:sp>
        <p:nvSpPr>
          <p:cNvPr id="1399846" name="Rectangle 38"/>
          <p:cNvSpPr>
            <a:spLocks noChangeArrowheads="1"/>
          </p:cNvSpPr>
          <p:nvPr/>
        </p:nvSpPr>
        <p:spPr bwMode="auto">
          <a:xfrm>
            <a:off x="4933950" y="3384550"/>
            <a:ext cx="1912938" cy="652463"/>
          </a:xfrm>
          <a:prstGeom prst="rect">
            <a:avLst/>
          </a:prstGeom>
          <a:noFill/>
          <a:ln w="9525">
            <a:noFill/>
            <a:miter lim="800000"/>
            <a:headEnd/>
            <a:tailEnd/>
          </a:ln>
        </p:spPr>
        <p:txBody>
          <a:bodyPr/>
          <a:lstStyle/>
          <a:p>
            <a:endParaRPr lang="en-US"/>
          </a:p>
        </p:txBody>
      </p:sp>
      <p:sp>
        <p:nvSpPr>
          <p:cNvPr id="1399847" name="Rectangle 39"/>
          <p:cNvSpPr>
            <a:spLocks noChangeArrowheads="1"/>
          </p:cNvSpPr>
          <p:nvPr/>
        </p:nvSpPr>
        <p:spPr bwMode="auto">
          <a:xfrm>
            <a:off x="6919913" y="2424113"/>
            <a:ext cx="849312" cy="228600"/>
          </a:xfrm>
          <a:prstGeom prst="rect">
            <a:avLst/>
          </a:prstGeom>
          <a:noFill/>
          <a:ln w="9525">
            <a:noFill/>
            <a:miter lim="800000"/>
            <a:headEnd/>
            <a:tailEnd/>
          </a:ln>
        </p:spPr>
        <p:txBody>
          <a:bodyPr/>
          <a:lstStyle/>
          <a:p>
            <a:endParaRPr lang="en-US"/>
          </a:p>
        </p:txBody>
      </p:sp>
      <p:sp>
        <p:nvSpPr>
          <p:cNvPr id="1399848" name="Rectangle 40"/>
          <p:cNvSpPr>
            <a:spLocks noChangeArrowheads="1"/>
          </p:cNvSpPr>
          <p:nvPr/>
        </p:nvSpPr>
        <p:spPr bwMode="auto">
          <a:xfrm>
            <a:off x="7002463" y="2478088"/>
            <a:ext cx="739775" cy="182562"/>
          </a:xfrm>
          <a:prstGeom prst="rect">
            <a:avLst/>
          </a:prstGeom>
          <a:noFill/>
          <a:ln w="9525">
            <a:noFill/>
            <a:miter lim="800000"/>
            <a:headEnd/>
            <a:tailEnd/>
          </a:ln>
        </p:spPr>
        <p:txBody>
          <a:bodyPr wrap="none" lIns="0" tIns="0" rIns="0" bIns="0">
            <a:spAutoFit/>
          </a:bodyPr>
          <a:lstStyle/>
          <a:p>
            <a:pPr algn="l">
              <a:buFontTx/>
              <a:buNone/>
            </a:pPr>
            <a:r>
              <a:rPr lang="en-US" sz="1200">
                <a:solidFill>
                  <a:srgbClr val="40458C"/>
                </a:solidFill>
                <a:latin typeface="Times New Roman" pitchFamily="18" charset="0"/>
              </a:rPr>
              <a:t>Compliance</a:t>
            </a:r>
            <a:endParaRPr lang="en-US" sz="3200">
              <a:latin typeface="Tahoma" pitchFamily="34" charset="0"/>
            </a:endParaRPr>
          </a:p>
        </p:txBody>
      </p:sp>
      <p:grpSp>
        <p:nvGrpSpPr>
          <p:cNvPr id="1399849" name="Group 41"/>
          <p:cNvGrpSpPr>
            <a:grpSpLocks/>
          </p:cNvGrpSpPr>
          <p:nvPr/>
        </p:nvGrpSpPr>
        <p:grpSpPr bwMode="auto">
          <a:xfrm>
            <a:off x="6269038" y="2563813"/>
            <a:ext cx="577850" cy="80962"/>
            <a:chOff x="2461" y="1632"/>
            <a:chExt cx="385" cy="59"/>
          </a:xfrm>
        </p:grpSpPr>
        <p:sp>
          <p:nvSpPr>
            <p:cNvPr id="1399850" name="Line 42"/>
            <p:cNvSpPr>
              <a:spLocks noChangeShapeType="1"/>
            </p:cNvSpPr>
            <p:nvPr/>
          </p:nvSpPr>
          <p:spPr bwMode="auto">
            <a:xfrm>
              <a:off x="2461" y="1659"/>
              <a:ext cx="335" cy="1"/>
            </a:xfrm>
            <a:prstGeom prst="line">
              <a:avLst/>
            </a:prstGeom>
            <a:noFill/>
            <a:ln w="7938" cap="rnd">
              <a:solidFill>
                <a:srgbClr val="40458C"/>
              </a:solidFill>
              <a:round/>
              <a:headEnd/>
              <a:tailEnd/>
            </a:ln>
          </p:spPr>
          <p:txBody>
            <a:bodyPr/>
            <a:lstStyle/>
            <a:p>
              <a:endParaRPr lang="en-US"/>
            </a:p>
          </p:txBody>
        </p:sp>
        <p:sp>
          <p:nvSpPr>
            <p:cNvPr id="1399851" name="Freeform 43"/>
            <p:cNvSpPr>
              <a:spLocks/>
            </p:cNvSpPr>
            <p:nvPr/>
          </p:nvSpPr>
          <p:spPr bwMode="auto">
            <a:xfrm>
              <a:off x="2785" y="1632"/>
              <a:ext cx="61" cy="59"/>
            </a:xfrm>
            <a:custGeom>
              <a:avLst/>
              <a:gdLst/>
              <a:ahLst/>
              <a:cxnLst>
                <a:cxn ang="0">
                  <a:pos x="0" y="59"/>
                </a:cxn>
                <a:cxn ang="0">
                  <a:pos x="61" y="32"/>
                </a:cxn>
                <a:cxn ang="0">
                  <a:pos x="0" y="0"/>
                </a:cxn>
                <a:cxn ang="0">
                  <a:pos x="0" y="59"/>
                </a:cxn>
              </a:cxnLst>
              <a:rect l="0" t="0" r="r" b="b"/>
              <a:pathLst>
                <a:path w="61" h="59">
                  <a:moveTo>
                    <a:pt x="0" y="59"/>
                  </a:moveTo>
                  <a:lnTo>
                    <a:pt x="61" y="32"/>
                  </a:lnTo>
                  <a:lnTo>
                    <a:pt x="0" y="0"/>
                  </a:lnTo>
                  <a:lnTo>
                    <a:pt x="0" y="59"/>
                  </a:lnTo>
                  <a:close/>
                </a:path>
              </a:pathLst>
            </a:custGeom>
            <a:solidFill>
              <a:srgbClr val="40458C"/>
            </a:solidFill>
            <a:ln w="9525">
              <a:noFill/>
              <a:round/>
              <a:headEnd/>
              <a:tailEnd/>
            </a:ln>
          </p:spPr>
          <p:txBody>
            <a:bodyPr/>
            <a:lstStyle/>
            <a:p>
              <a:endParaRPr lang="en-US"/>
            </a:p>
          </p:txBody>
        </p:sp>
      </p:grpSp>
      <p:sp>
        <p:nvSpPr>
          <p:cNvPr id="1399852" name="Rectangle 44"/>
          <p:cNvSpPr>
            <a:spLocks noChangeArrowheads="1"/>
          </p:cNvSpPr>
          <p:nvPr/>
        </p:nvSpPr>
        <p:spPr bwMode="auto">
          <a:xfrm>
            <a:off x="5073650" y="2271713"/>
            <a:ext cx="1830388" cy="234950"/>
          </a:xfrm>
          <a:prstGeom prst="rect">
            <a:avLst/>
          </a:prstGeom>
          <a:solidFill>
            <a:srgbClr val="333399"/>
          </a:solidFill>
          <a:ln w="7938">
            <a:solidFill>
              <a:srgbClr val="40458C"/>
            </a:solidFill>
            <a:miter lim="800000"/>
            <a:headEnd/>
            <a:tailEnd/>
          </a:ln>
        </p:spPr>
        <p:txBody>
          <a:bodyPr/>
          <a:lstStyle/>
          <a:p>
            <a:endParaRPr lang="en-US"/>
          </a:p>
        </p:txBody>
      </p:sp>
      <p:sp>
        <p:nvSpPr>
          <p:cNvPr id="1399853" name="Rectangle 45"/>
          <p:cNvSpPr>
            <a:spLocks noChangeArrowheads="1"/>
          </p:cNvSpPr>
          <p:nvPr/>
        </p:nvSpPr>
        <p:spPr bwMode="auto">
          <a:xfrm>
            <a:off x="5040313" y="2235200"/>
            <a:ext cx="1905000" cy="307975"/>
          </a:xfrm>
          <a:prstGeom prst="rect">
            <a:avLst/>
          </a:prstGeom>
          <a:noFill/>
          <a:ln w="9525">
            <a:noFill/>
            <a:miter lim="800000"/>
            <a:headEnd/>
            <a:tailEnd/>
          </a:ln>
        </p:spPr>
        <p:txBody>
          <a:bodyPr/>
          <a:lstStyle/>
          <a:p>
            <a:endParaRPr lang="en-US"/>
          </a:p>
        </p:txBody>
      </p:sp>
      <p:sp>
        <p:nvSpPr>
          <p:cNvPr id="1399854" name="Rectangle 46"/>
          <p:cNvSpPr>
            <a:spLocks noChangeArrowheads="1"/>
          </p:cNvSpPr>
          <p:nvPr/>
        </p:nvSpPr>
        <p:spPr bwMode="auto">
          <a:xfrm>
            <a:off x="5122863" y="2287588"/>
            <a:ext cx="1816100" cy="273050"/>
          </a:xfrm>
          <a:prstGeom prst="rect">
            <a:avLst/>
          </a:prstGeom>
          <a:noFill/>
          <a:ln w="9525">
            <a:noFill/>
            <a:miter lim="800000"/>
            <a:headEnd/>
            <a:tailEnd/>
          </a:ln>
        </p:spPr>
        <p:txBody>
          <a:bodyPr wrap="none" lIns="0" tIns="0" rIns="0" bIns="0">
            <a:spAutoFit/>
          </a:bodyPr>
          <a:lstStyle/>
          <a:p>
            <a:pPr algn="l">
              <a:buFontTx/>
              <a:buNone/>
            </a:pPr>
            <a:r>
              <a:rPr lang="en-US">
                <a:solidFill>
                  <a:srgbClr val="FFFFFF"/>
                </a:solidFill>
                <a:latin typeface="Times New Roman" pitchFamily="18" charset="0"/>
              </a:rPr>
              <a:t>Services to Citizens</a:t>
            </a:r>
            <a:endParaRPr lang="en-US" sz="3200">
              <a:latin typeface="Tahoma" pitchFamily="34" charset="0"/>
            </a:endParaRPr>
          </a:p>
        </p:txBody>
      </p:sp>
      <p:sp>
        <p:nvSpPr>
          <p:cNvPr id="1399855" name="Rectangle 47"/>
          <p:cNvSpPr>
            <a:spLocks noChangeArrowheads="1"/>
          </p:cNvSpPr>
          <p:nvPr/>
        </p:nvSpPr>
        <p:spPr bwMode="auto">
          <a:xfrm>
            <a:off x="4076700" y="2659063"/>
            <a:ext cx="3890963" cy="1582737"/>
          </a:xfrm>
          <a:prstGeom prst="rect">
            <a:avLst/>
          </a:prstGeom>
          <a:solidFill>
            <a:srgbClr val="FFFFFF"/>
          </a:solidFill>
          <a:ln w="7938">
            <a:solidFill>
              <a:srgbClr val="40458C"/>
            </a:solidFill>
            <a:miter lim="800000"/>
            <a:headEnd/>
            <a:tailEnd/>
          </a:ln>
        </p:spPr>
        <p:txBody>
          <a:bodyPr/>
          <a:lstStyle/>
          <a:p>
            <a:endParaRPr lang="en-US"/>
          </a:p>
        </p:txBody>
      </p:sp>
      <p:sp>
        <p:nvSpPr>
          <p:cNvPr id="1399856" name="Rectangle 48"/>
          <p:cNvSpPr>
            <a:spLocks noChangeArrowheads="1"/>
          </p:cNvSpPr>
          <p:nvPr/>
        </p:nvSpPr>
        <p:spPr bwMode="auto">
          <a:xfrm>
            <a:off x="4076700" y="2659063"/>
            <a:ext cx="2043113" cy="1597025"/>
          </a:xfrm>
          <a:prstGeom prst="rect">
            <a:avLst/>
          </a:prstGeom>
          <a:noFill/>
          <a:ln w="9525">
            <a:noFill/>
            <a:miter lim="800000"/>
            <a:headEnd/>
            <a:tailEnd/>
          </a:ln>
        </p:spPr>
        <p:txBody>
          <a:bodyPr/>
          <a:lstStyle/>
          <a:p>
            <a:endParaRPr lang="en-US"/>
          </a:p>
        </p:txBody>
      </p:sp>
      <p:sp>
        <p:nvSpPr>
          <p:cNvPr id="1399857" name="Rectangle 49"/>
          <p:cNvSpPr>
            <a:spLocks noChangeArrowheads="1"/>
          </p:cNvSpPr>
          <p:nvPr/>
        </p:nvSpPr>
        <p:spPr bwMode="auto">
          <a:xfrm>
            <a:off x="4159250" y="2705100"/>
            <a:ext cx="1416050" cy="134938"/>
          </a:xfrm>
          <a:prstGeom prst="rect">
            <a:avLst/>
          </a:prstGeom>
          <a:noFill/>
          <a:ln w="9525">
            <a:noFill/>
            <a:miter lim="800000"/>
            <a:headEnd/>
            <a:tailEnd/>
          </a:ln>
        </p:spPr>
        <p:txBody>
          <a:bodyPr wrap="none" lIns="0" tIns="0" rIns="0" bIns="0">
            <a:spAutoFit/>
          </a:bodyPr>
          <a:lstStyle/>
          <a:p>
            <a:pPr algn="l">
              <a:buFontTx/>
              <a:buNone/>
            </a:pPr>
            <a:r>
              <a:rPr lang="en-US" sz="900" b="1">
                <a:solidFill>
                  <a:srgbClr val="40458C"/>
                </a:solidFill>
              </a:rPr>
              <a:t>Public Asset Management</a:t>
            </a:r>
            <a:endParaRPr lang="en-US" sz="3200">
              <a:latin typeface="Tahoma" pitchFamily="34" charset="0"/>
            </a:endParaRPr>
          </a:p>
        </p:txBody>
      </p:sp>
      <p:sp>
        <p:nvSpPr>
          <p:cNvPr id="1399858" name="Rectangle 50"/>
          <p:cNvSpPr>
            <a:spLocks noChangeArrowheads="1"/>
          </p:cNvSpPr>
          <p:nvPr/>
        </p:nvSpPr>
        <p:spPr bwMode="auto">
          <a:xfrm>
            <a:off x="4159250" y="2820988"/>
            <a:ext cx="1490663"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Marketable Asset Management</a:t>
            </a:r>
            <a:endParaRPr lang="en-US" sz="800">
              <a:latin typeface="Tahoma" pitchFamily="34" charset="0"/>
            </a:endParaRPr>
          </a:p>
        </p:txBody>
      </p:sp>
      <p:sp>
        <p:nvSpPr>
          <p:cNvPr id="1399859" name="Rectangle 51"/>
          <p:cNvSpPr>
            <a:spLocks noChangeArrowheads="1"/>
          </p:cNvSpPr>
          <p:nvPr/>
        </p:nvSpPr>
        <p:spPr bwMode="auto">
          <a:xfrm>
            <a:off x="4159250" y="2938463"/>
            <a:ext cx="1406525"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Defense &amp; Nat’l Security Ops</a:t>
            </a:r>
            <a:endParaRPr lang="en-US" sz="800">
              <a:latin typeface="Tahoma" pitchFamily="34" charset="0"/>
            </a:endParaRPr>
          </a:p>
        </p:txBody>
      </p:sp>
      <p:sp>
        <p:nvSpPr>
          <p:cNvPr id="1399860" name="Rectangle 52"/>
          <p:cNvSpPr>
            <a:spLocks noChangeArrowheads="1"/>
          </p:cNvSpPr>
          <p:nvPr/>
        </p:nvSpPr>
        <p:spPr bwMode="auto">
          <a:xfrm>
            <a:off x="4159250" y="3055938"/>
            <a:ext cx="1506538"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Diplomacy &amp; Foreign Relations</a:t>
            </a:r>
            <a:endParaRPr lang="en-US" sz="800">
              <a:latin typeface="Tahoma" pitchFamily="34" charset="0"/>
            </a:endParaRPr>
          </a:p>
        </p:txBody>
      </p:sp>
      <p:sp>
        <p:nvSpPr>
          <p:cNvPr id="1399861" name="Rectangle 53"/>
          <p:cNvSpPr>
            <a:spLocks noChangeArrowheads="1"/>
          </p:cNvSpPr>
          <p:nvPr/>
        </p:nvSpPr>
        <p:spPr bwMode="auto">
          <a:xfrm>
            <a:off x="4159250" y="3173413"/>
            <a:ext cx="1054100"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Disaster Management</a:t>
            </a:r>
            <a:endParaRPr lang="en-US" sz="800">
              <a:latin typeface="Tahoma" pitchFamily="34" charset="0"/>
            </a:endParaRPr>
          </a:p>
        </p:txBody>
      </p:sp>
      <p:sp>
        <p:nvSpPr>
          <p:cNvPr id="1399862" name="Rectangle 54"/>
          <p:cNvSpPr>
            <a:spLocks noChangeArrowheads="1"/>
          </p:cNvSpPr>
          <p:nvPr/>
        </p:nvSpPr>
        <p:spPr bwMode="auto">
          <a:xfrm>
            <a:off x="4159250" y="3289300"/>
            <a:ext cx="946150"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Domestic Economy</a:t>
            </a:r>
            <a:endParaRPr lang="en-US" sz="800">
              <a:latin typeface="Tahoma" pitchFamily="34" charset="0"/>
            </a:endParaRPr>
          </a:p>
        </p:txBody>
      </p:sp>
      <p:sp>
        <p:nvSpPr>
          <p:cNvPr id="1399863" name="Rectangle 55"/>
          <p:cNvSpPr>
            <a:spLocks noChangeArrowheads="1"/>
          </p:cNvSpPr>
          <p:nvPr/>
        </p:nvSpPr>
        <p:spPr bwMode="auto">
          <a:xfrm>
            <a:off x="4159250" y="3408363"/>
            <a:ext cx="492125"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Education</a:t>
            </a:r>
            <a:endParaRPr lang="en-US" sz="800">
              <a:latin typeface="Tahoma" pitchFamily="34" charset="0"/>
            </a:endParaRPr>
          </a:p>
        </p:txBody>
      </p:sp>
      <p:sp>
        <p:nvSpPr>
          <p:cNvPr id="1399864" name="Rectangle 56"/>
          <p:cNvSpPr>
            <a:spLocks noChangeArrowheads="1"/>
          </p:cNvSpPr>
          <p:nvPr/>
        </p:nvSpPr>
        <p:spPr bwMode="auto">
          <a:xfrm>
            <a:off x="4159250" y="3524250"/>
            <a:ext cx="996950"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Energy Management</a:t>
            </a:r>
            <a:endParaRPr lang="en-US" sz="800">
              <a:latin typeface="Tahoma" pitchFamily="34" charset="0"/>
            </a:endParaRPr>
          </a:p>
        </p:txBody>
      </p:sp>
      <p:sp>
        <p:nvSpPr>
          <p:cNvPr id="1399865" name="Rectangle 57"/>
          <p:cNvSpPr>
            <a:spLocks noChangeArrowheads="1"/>
          </p:cNvSpPr>
          <p:nvPr/>
        </p:nvSpPr>
        <p:spPr bwMode="auto">
          <a:xfrm>
            <a:off x="4159250" y="3640138"/>
            <a:ext cx="482600"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Insurance</a:t>
            </a:r>
            <a:endParaRPr lang="en-US" sz="800">
              <a:latin typeface="Tahoma" pitchFamily="34" charset="0"/>
            </a:endParaRPr>
          </a:p>
        </p:txBody>
      </p:sp>
      <p:sp>
        <p:nvSpPr>
          <p:cNvPr id="1399866" name="Rectangle 58"/>
          <p:cNvSpPr>
            <a:spLocks noChangeArrowheads="1"/>
          </p:cNvSpPr>
          <p:nvPr/>
        </p:nvSpPr>
        <p:spPr bwMode="auto">
          <a:xfrm>
            <a:off x="4159250" y="3759200"/>
            <a:ext cx="646113"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Public Health</a:t>
            </a:r>
            <a:endParaRPr lang="en-US" sz="800">
              <a:latin typeface="Tahoma" pitchFamily="34" charset="0"/>
            </a:endParaRPr>
          </a:p>
        </p:txBody>
      </p:sp>
      <p:sp>
        <p:nvSpPr>
          <p:cNvPr id="1399867" name="Rectangle 59"/>
          <p:cNvSpPr>
            <a:spLocks noChangeArrowheads="1"/>
          </p:cNvSpPr>
          <p:nvPr/>
        </p:nvSpPr>
        <p:spPr bwMode="auto">
          <a:xfrm>
            <a:off x="4159250" y="3875088"/>
            <a:ext cx="1609725"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Recreation &amp; National Resources</a:t>
            </a:r>
            <a:endParaRPr lang="en-US" sz="800">
              <a:latin typeface="Tahoma" pitchFamily="34" charset="0"/>
            </a:endParaRPr>
          </a:p>
        </p:txBody>
      </p:sp>
      <p:sp>
        <p:nvSpPr>
          <p:cNvPr id="1399868" name="Rectangle 60"/>
          <p:cNvSpPr>
            <a:spLocks noChangeArrowheads="1"/>
          </p:cNvSpPr>
          <p:nvPr/>
        </p:nvSpPr>
        <p:spPr bwMode="auto">
          <a:xfrm>
            <a:off x="4159250" y="3990975"/>
            <a:ext cx="752475"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Social Services</a:t>
            </a:r>
            <a:endParaRPr lang="en-US" sz="800">
              <a:latin typeface="Tahoma" pitchFamily="34" charset="0"/>
            </a:endParaRPr>
          </a:p>
        </p:txBody>
      </p:sp>
      <p:sp>
        <p:nvSpPr>
          <p:cNvPr id="1399869" name="Rectangle 61"/>
          <p:cNvSpPr>
            <a:spLocks noChangeArrowheads="1"/>
          </p:cNvSpPr>
          <p:nvPr/>
        </p:nvSpPr>
        <p:spPr bwMode="auto">
          <a:xfrm>
            <a:off x="4159250" y="4110038"/>
            <a:ext cx="736600"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R&amp;D &amp; Science</a:t>
            </a:r>
            <a:endParaRPr lang="en-US" sz="800">
              <a:latin typeface="Tahoma" pitchFamily="34" charset="0"/>
            </a:endParaRPr>
          </a:p>
        </p:txBody>
      </p:sp>
      <p:sp>
        <p:nvSpPr>
          <p:cNvPr id="1399870" name="Rectangle 62"/>
          <p:cNvSpPr>
            <a:spLocks noChangeArrowheads="1"/>
          </p:cNvSpPr>
          <p:nvPr/>
        </p:nvSpPr>
        <p:spPr bwMode="auto">
          <a:xfrm>
            <a:off x="6054725" y="2719388"/>
            <a:ext cx="1862138" cy="1243012"/>
          </a:xfrm>
          <a:prstGeom prst="rect">
            <a:avLst/>
          </a:prstGeom>
          <a:noFill/>
          <a:ln w="9525">
            <a:noFill/>
            <a:miter lim="800000"/>
            <a:headEnd/>
            <a:tailEnd/>
          </a:ln>
        </p:spPr>
        <p:txBody>
          <a:bodyPr/>
          <a:lstStyle/>
          <a:p>
            <a:endParaRPr lang="en-US"/>
          </a:p>
        </p:txBody>
      </p:sp>
      <p:sp>
        <p:nvSpPr>
          <p:cNvPr id="1399871" name="Rectangle 63"/>
          <p:cNvSpPr>
            <a:spLocks noChangeArrowheads="1"/>
          </p:cNvSpPr>
          <p:nvPr/>
        </p:nvSpPr>
        <p:spPr bwMode="auto">
          <a:xfrm>
            <a:off x="6384925" y="2762250"/>
            <a:ext cx="1358900"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Regulated Activity Approval</a:t>
            </a:r>
            <a:endParaRPr lang="en-US" sz="800">
              <a:latin typeface="Tahoma" pitchFamily="34" charset="0"/>
            </a:endParaRPr>
          </a:p>
        </p:txBody>
      </p:sp>
      <p:sp>
        <p:nvSpPr>
          <p:cNvPr id="1399872" name="Rectangle 64"/>
          <p:cNvSpPr>
            <a:spLocks noChangeArrowheads="1"/>
          </p:cNvSpPr>
          <p:nvPr/>
        </p:nvSpPr>
        <p:spPr bwMode="auto">
          <a:xfrm>
            <a:off x="6945313" y="2881313"/>
            <a:ext cx="838200"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Consumer Safety</a:t>
            </a:r>
            <a:endParaRPr lang="en-US" sz="800">
              <a:latin typeface="Tahoma" pitchFamily="34" charset="0"/>
            </a:endParaRPr>
          </a:p>
        </p:txBody>
      </p:sp>
      <p:sp>
        <p:nvSpPr>
          <p:cNvPr id="1399873" name="Rectangle 65"/>
          <p:cNvSpPr>
            <a:spLocks noChangeArrowheads="1"/>
          </p:cNvSpPr>
          <p:nvPr/>
        </p:nvSpPr>
        <p:spPr bwMode="auto">
          <a:xfrm>
            <a:off x="6375400" y="2997200"/>
            <a:ext cx="1358900"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Environmental Management</a:t>
            </a:r>
            <a:endParaRPr lang="en-US" sz="800">
              <a:latin typeface="Tahoma" pitchFamily="34" charset="0"/>
            </a:endParaRPr>
          </a:p>
        </p:txBody>
      </p:sp>
      <p:sp>
        <p:nvSpPr>
          <p:cNvPr id="1399874" name="Rectangle 66"/>
          <p:cNvSpPr>
            <a:spLocks noChangeArrowheads="1"/>
          </p:cNvSpPr>
          <p:nvPr/>
        </p:nvSpPr>
        <p:spPr bwMode="auto">
          <a:xfrm>
            <a:off x="6929438" y="3113088"/>
            <a:ext cx="849312"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Law Enforcement</a:t>
            </a:r>
            <a:endParaRPr lang="en-US" sz="800">
              <a:latin typeface="Tahoma" pitchFamily="34" charset="0"/>
            </a:endParaRPr>
          </a:p>
        </p:txBody>
      </p:sp>
      <p:sp>
        <p:nvSpPr>
          <p:cNvPr id="1399875" name="Rectangle 67"/>
          <p:cNvSpPr>
            <a:spLocks noChangeArrowheads="1"/>
          </p:cNvSpPr>
          <p:nvPr/>
        </p:nvSpPr>
        <p:spPr bwMode="auto">
          <a:xfrm>
            <a:off x="7546975" y="3232150"/>
            <a:ext cx="266700"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Legal</a:t>
            </a:r>
            <a:endParaRPr lang="en-US" sz="800">
              <a:latin typeface="Tahoma" pitchFamily="34" charset="0"/>
            </a:endParaRPr>
          </a:p>
        </p:txBody>
      </p:sp>
      <p:sp>
        <p:nvSpPr>
          <p:cNvPr id="1399876" name="Rectangle 68"/>
          <p:cNvSpPr>
            <a:spLocks noChangeArrowheads="1"/>
          </p:cNvSpPr>
          <p:nvPr/>
        </p:nvSpPr>
        <p:spPr bwMode="auto">
          <a:xfrm>
            <a:off x="6829425" y="3348038"/>
            <a:ext cx="946150"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Revenue Collection</a:t>
            </a:r>
            <a:endParaRPr lang="en-US" sz="800">
              <a:latin typeface="Tahoma" pitchFamily="34" charset="0"/>
            </a:endParaRPr>
          </a:p>
        </p:txBody>
      </p:sp>
      <p:sp>
        <p:nvSpPr>
          <p:cNvPr id="1399877" name="Rectangle 69"/>
          <p:cNvSpPr>
            <a:spLocks noChangeArrowheads="1"/>
          </p:cNvSpPr>
          <p:nvPr/>
        </p:nvSpPr>
        <p:spPr bwMode="auto">
          <a:xfrm>
            <a:off x="6731000" y="3463925"/>
            <a:ext cx="1039813"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Trade (Import/Export)</a:t>
            </a:r>
            <a:endParaRPr lang="en-US" sz="800">
              <a:latin typeface="Tahoma" pitchFamily="34" charset="0"/>
            </a:endParaRPr>
          </a:p>
        </p:txBody>
      </p:sp>
      <p:sp>
        <p:nvSpPr>
          <p:cNvPr id="1399878" name="Rectangle 70"/>
          <p:cNvSpPr>
            <a:spLocks noChangeArrowheads="1"/>
          </p:cNvSpPr>
          <p:nvPr/>
        </p:nvSpPr>
        <p:spPr bwMode="auto">
          <a:xfrm>
            <a:off x="7077075" y="3582988"/>
            <a:ext cx="717550"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Transportation</a:t>
            </a:r>
            <a:endParaRPr lang="en-US" sz="800">
              <a:latin typeface="Tahoma" pitchFamily="34" charset="0"/>
            </a:endParaRPr>
          </a:p>
        </p:txBody>
      </p:sp>
      <p:sp>
        <p:nvSpPr>
          <p:cNvPr id="1399879" name="Rectangle 71"/>
          <p:cNvSpPr>
            <a:spLocks noChangeArrowheads="1"/>
          </p:cNvSpPr>
          <p:nvPr/>
        </p:nvSpPr>
        <p:spPr bwMode="auto">
          <a:xfrm>
            <a:off x="6599238" y="3700463"/>
            <a:ext cx="1154112"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Workforce Management</a:t>
            </a:r>
            <a:endParaRPr lang="en-US" sz="800">
              <a:latin typeface="Tahoma" pitchFamily="34" charset="0"/>
            </a:endParaRPr>
          </a:p>
        </p:txBody>
      </p:sp>
      <p:grpSp>
        <p:nvGrpSpPr>
          <p:cNvPr id="1399880" name="Group 72"/>
          <p:cNvGrpSpPr>
            <a:grpSpLocks/>
          </p:cNvGrpSpPr>
          <p:nvPr/>
        </p:nvGrpSpPr>
        <p:grpSpPr bwMode="auto">
          <a:xfrm>
            <a:off x="4010025" y="2125663"/>
            <a:ext cx="4162425" cy="2173287"/>
            <a:chOff x="955" y="1305"/>
            <a:chExt cx="2775" cy="1617"/>
          </a:xfrm>
        </p:grpSpPr>
        <p:sp>
          <p:nvSpPr>
            <p:cNvPr id="1399881" name="Freeform 73"/>
            <p:cNvSpPr>
              <a:spLocks/>
            </p:cNvSpPr>
            <p:nvPr/>
          </p:nvSpPr>
          <p:spPr bwMode="auto">
            <a:xfrm>
              <a:off x="3637" y="1305"/>
              <a:ext cx="93" cy="1617"/>
            </a:xfrm>
            <a:custGeom>
              <a:avLst/>
              <a:gdLst/>
              <a:ahLst/>
              <a:cxnLst>
                <a:cxn ang="0">
                  <a:pos x="0" y="1617"/>
                </a:cxn>
                <a:cxn ang="0">
                  <a:pos x="0" y="93"/>
                </a:cxn>
                <a:cxn ang="0">
                  <a:pos x="93" y="0"/>
                </a:cxn>
                <a:cxn ang="0">
                  <a:pos x="93" y="1524"/>
                </a:cxn>
                <a:cxn ang="0">
                  <a:pos x="0" y="1617"/>
                </a:cxn>
              </a:cxnLst>
              <a:rect l="0" t="0" r="r" b="b"/>
              <a:pathLst>
                <a:path w="93" h="1617">
                  <a:moveTo>
                    <a:pt x="0" y="1617"/>
                  </a:moveTo>
                  <a:lnTo>
                    <a:pt x="0" y="93"/>
                  </a:lnTo>
                  <a:lnTo>
                    <a:pt x="93" y="0"/>
                  </a:lnTo>
                  <a:lnTo>
                    <a:pt x="93" y="1524"/>
                  </a:lnTo>
                  <a:lnTo>
                    <a:pt x="0" y="1617"/>
                  </a:lnTo>
                  <a:close/>
                </a:path>
              </a:pathLst>
            </a:custGeom>
            <a:solidFill>
              <a:srgbClr val="E1E1E1"/>
            </a:solidFill>
            <a:ln w="9525">
              <a:noFill/>
              <a:round/>
              <a:headEnd/>
              <a:tailEnd/>
            </a:ln>
          </p:spPr>
          <p:txBody>
            <a:bodyPr/>
            <a:lstStyle/>
            <a:p>
              <a:endParaRPr lang="en-US"/>
            </a:p>
          </p:txBody>
        </p:sp>
        <p:sp>
          <p:nvSpPr>
            <p:cNvPr id="1399882" name="Freeform 74"/>
            <p:cNvSpPr>
              <a:spLocks/>
            </p:cNvSpPr>
            <p:nvPr/>
          </p:nvSpPr>
          <p:spPr bwMode="auto">
            <a:xfrm>
              <a:off x="955" y="1305"/>
              <a:ext cx="2775" cy="93"/>
            </a:xfrm>
            <a:custGeom>
              <a:avLst/>
              <a:gdLst/>
              <a:ahLst/>
              <a:cxnLst>
                <a:cxn ang="0">
                  <a:pos x="2682" y="93"/>
                </a:cxn>
                <a:cxn ang="0">
                  <a:pos x="0" y="93"/>
                </a:cxn>
                <a:cxn ang="0">
                  <a:pos x="93" y="0"/>
                </a:cxn>
                <a:cxn ang="0">
                  <a:pos x="2775" y="0"/>
                </a:cxn>
                <a:cxn ang="0">
                  <a:pos x="2682" y="93"/>
                </a:cxn>
              </a:cxnLst>
              <a:rect l="0" t="0" r="r" b="b"/>
              <a:pathLst>
                <a:path w="2775" h="93">
                  <a:moveTo>
                    <a:pt x="2682" y="93"/>
                  </a:moveTo>
                  <a:lnTo>
                    <a:pt x="0" y="93"/>
                  </a:lnTo>
                  <a:lnTo>
                    <a:pt x="93" y="0"/>
                  </a:lnTo>
                  <a:lnTo>
                    <a:pt x="2775" y="0"/>
                  </a:lnTo>
                  <a:lnTo>
                    <a:pt x="2682" y="93"/>
                  </a:lnTo>
                  <a:close/>
                </a:path>
              </a:pathLst>
            </a:custGeom>
            <a:solidFill>
              <a:srgbClr val="989898"/>
            </a:solidFill>
            <a:ln w="9525">
              <a:noFill/>
              <a:round/>
              <a:headEnd/>
              <a:tailEnd/>
            </a:ln>
          </p:spPr>
          <p:txBody>
            <a:bodyPr/>
            <a:lstStyle/>
            <a:p>
              <a:endParaRPr lang="en-US"/>
            </a:p>
          </p:txBody>
        </p:sp>
        <p:sp>
          <p:nvSpPr>
            <p:cNvPr id="1399883" name="Rectangle 75"/>
            <p:cNvSpPr>
              <a:spLocks noChangeArrowheads="1"/>
            </p:cNvSpPr>
            <p:nvPr/>
          </p:nvSpPr>
          <p:spPr bwMode="auto">
            <a:xfrm>
              <a:off x="955" y="1398"/>
              <a:ext cx="2682" cy="1524"/>
            </a:xfrm>
            <a:prstGeom prst="rect">
              <a:avLst/>
            </a:prstGeom>
            <a:solidFill>
              <a:srgbClr val="C4C4C4"/>
            </a:solidFill>
            <a:ln w="9525">
              <a:noFill/>
              <a:miter lim="800000"/>
              <a:headEnd/>
              <a:tailEnd/>
            </a:ln>
          </p:spPr>
          <p:txBody>
            <a:bodyPr/>
            <a:lstStyle/>
            <a:p>
              <a:endParaRPr lang="en-US"/>
            </a:p>
          </p:txBody>
        </p:sp>
      </p:grpSp>
      <p:sp>
        <p:nvSpPr>
          <p:cNvPr id="1399884" name="Rectangle 76"/>
          <p:cNvSpPr>
            <a:spLocks noChangeArrowheads="1"/>
          </p:cNvSpPr>
          <p:nvPr/>
        </p:nvSpPr>
        <p:spPr bwMode="auto">
          <a:xfrm>
            <a:off x="4076700" y="2424113"/>
            <a:ext cx="1087438" cy="228600"/>
          </a:xfrm>
          <a:prstGeom prst="rect">
            <a:avLst/>
          </a:prstGeom>
          <a:noFill/>
          <a:ln w="9525">
            <a:noFill/>
            <a:miter lim="800000"/>
            <a:headEnd/>
            <a:tailEnd/>
          </a:ln>
        </p:spPr>
        <p:txBody>
          <a:bodyPr/>
          <a:lstStyle/>
          <a:p>
            <a:endParaRPr lang="en-US"/>
          </a:p>
        </p:txBody>
      </p:sp>
      <p:sp>
        <p:nvSpPr>
          <p:cNvPr id="1399885" name="Rectangle 77"/>
          <p:cNvSpPr>
            <a:spLocks noChangeArrowheads="1"/>
          </p:cNvSpPr>
          <p:nvPr/>
        </p:nvSpPr>
        <p:spPr bwMode="auto">
          <a:xfrm>
            <a:off x="4156075" y="2441575"/>
            <a:ext cx="1047750" cy="168275"/>
          </a:xfrm>
          <a:prstGeom prst="rect">
            <a:avLst/>
          </a:prstGeom>
          <a:noFill/>
          <a:ln w="9525">
            <a:noFill/>
            <a:miter lim="800000"/>
            <a:headEnd/>
            <a:tailEnd/>
          </a:ln>
        </p:spPr>
        <p:txBody>
          <a:bodyPr wrap="none" lIns="0" tIns="0" rIns="0" bIns="0">
            <a:spAutoFit/>
          </a:bodyPr>
          <a:lstStyle/>
          <a:p>
            <a:pPr algn="l">
              <a:buFontTx/>
              <a:buNone/>
            </a:pPr>
            <a:r>
              <a:rPr lang="en-US" sz="1100" b="1">
                <a:solidFill>
                  <a:srgbClr val="40458C"/>
                </a:solidFill>
              </a:rPr>
              <a:t>Program Admin</a:t>
            </a:r>
            <a:endParaRPr lang="en-US" sz="1100" b="1"/>
          </a:p>
        </p:txBody>
      </p:sp>
      <p:sp>
        <p:nvSpPr>
          <p:cNvPr id="1399886" name="Rectangle 78"/>
          <p:cNvSpPr>
            <a:spLocks noChangeArrowheads="1"/>
          </p:cNvSpPr>
          <p:nvPr/>
        </p:nvSpPr>
        <p:spPr bwMode="auto">
          <a:xfrm>
            <a:off x="4933950" y="3384550"/>
            <a:ext cx="1912938" cy="652463"/>
          </a:xfrm>
          <a:prstGeom prst="rect">
            <a:avLst/>
          </a:prstGeom>
          <a:noFill/>
          <a:ln w="9525">
            <a:noFill/>
            <a:miter lim="800000"/>
            <a:headEnd/>
            <a:tailEnd/>
          </a:ln>
        </p:spPr>
        <p:txBody>
          <a:bodyPr/>
          <a:lstStyle/>
          <a:p>
            <a:endParaRPr lang="en-US"/>
          </a:p>
        </p:txBody>
      </p:sp>
      <p:sp>
        <p:nvSpPr>
          <p:cNvPr id="1399887" name="Rectangle 79"/>
          <p:cNvSpPr>
            <a:spLocks noChangeArrowheads="1"/>
          </p:cNvSpPr>
          <p:nvPr/>
        </p:nvSpPr>
        <p:spPr bwMode="auto">
          <a:xfrm>
            <a:off x="6919913" y="2424113"/>
            <a:ext cx="849312" cy="228600"/>
          </a:xfrm>
          <a:prstGeom prst="rect">
            <a:avLst/>
          </a:prstGeom>
          <a:noFill/>
          <a:ln w="9525">
            <a:noFill/>
            <a:miter lim="800000"/>
            <a:headEnd/>
            <a:tailEnd/>
          </a:ln>
        </p:spPr>
        <p:txBody>
          <a:bodyPr/>
          <a:lstStyle/>
          <a:p>
            <a:endParaRPr lang="en-US"/>
          </a:p>
        </p:txBody>
      </p:sp>
      <p:sp>
        <p:nvSpPr>
          <p:cNvPr id="1399888" name="Rectangle 80"/>
          <p:cNvSpPr>
            <a:spLocks noChangeArrowheads="1"/>
          </p:cNvSpPr>
          <p:nvPr/>
        </p:nvSpPr>
        <p:spPr bwMode="auto">
          <a:xfrm>
            <a:off x="7112000" y="2455863"/>
            <a:ext cx="792163" cy="168275"/>
          </a:xfrm>
          <a:prstGeom prst="rect">
            <a:avLst/>
          </a:prstGeom>
          <a:noFill/>
          <a:ln w="9525">
            <a:noFill/>
            <a:miter lim="800000"/>
            <a:headEnd/>
            <a:tailEnd/>
          </a:ln>
        </p:spPr>
        <p:txBody>
          <a:bodyPr wrap="none" lIns="0" tIns="0" rIns="0" bIns="0">
            <a:spAutoFit/>
          </a:bodyPr>
          <a:lstStyle/>
          <a:p>
            <a:pPr algn="l">
              <a:buFontTx/>
              <a:buNone/>
            </a:pPr>
            <a:r>
              <a:rPr lang="en-US" sz="1100" b="1">
                <a:solidFill>
                  <a:srgbClr val="40458C"/>
                </a:solidFill>
              </a:rPr>
              <a:t>Compliance</a:t>
            </a:r>
            <a:endParaRPr lang="en-US" sz="1100" b="1"/>
          </a:p>
        </p:txBody>
      </p:sp>
      <p:sp>
        <p:nvSpPr>
          <p:cNvPr id="1399889" name="Rectangle 81"/>
          <p:cNvSpPr>
            <a:spLocks noChangeArrowheads="1"/>
          </p:cNvSpPr>
          <p:nvPr/>
        </p:nvSpPr>
        <p:spPr bwMode="auto">
          <a:xfrm>
            <a:off x="5040313" y="2235200"/>
            <a:ext cx="1905000" cy="307975"/>
          </a:xfrm>
          <a:prstGeom prst="rect">
            <a:avLst/>
          </a:prstGeom>
          <a:noFill/>
          <a:ln w="9525">
            <a:noFill/>
            <a:miter lim="800000"/>
            <a:headEnd/>
            <a:tailEnd/>
          </a:ln>
        </p:spPr>
        <p:txBody>
          <a:bodyPr/>
          <a:lstStyle/>
          <a:p>
            <a:endParaRPr lang="en-US"/>
          </a:p>
        </p:txBody>
      </p:sp>
      <p:sp>
        <p:nvSpPr>
          <p:cNvPr id="1399890" name="Rectangle 82"/>
          <p:cNvSpPr>
            <a:spLocks noChangeArrowheads="1"/>
          </p:cNvSpPr>
          <p:nvPr/>
        </p:nvSpPr>
        <p:spPr bwMode="auto">
          <a:xfrm>
            <a:off x="5391150" y="2287588"/>
            <a:ext cx="1516063" cy="220662"/>
          </a:xfrm>
          <a:prstGeom prst="rect">
            <a:avLst/>
          </a:prstGeom>
          <a:solidFill>
            <a:srgbClr val="009900"/>
          </a:solidFill>
          <a:ln w="9525">
            <a:solidFill>
              <a:schemeClr val="tx1"/>
            </a:solidFill>
            <a:miter lim="800000"/>
            <a:headEnd/>
            <a:tailEnd/>
          </a:ln>
        </p:spPr>
        <p:txBody>
          <a:bodyPr wrap="none" lIns="0" tIns="0" rIns="0" bIns="0">
            <a:spAutoFit/>
          </a:bodyPr>
          <a:lstStyle/>
          <a:p>
            <a:pPr>
              <a:buFontTx/>
              <a:buNone/>
            </a:pPr>
            <a:r>
              <a:rPr lang="en-US" sz="1400">
                <a:solidFill>
                  <a:srgbClr val="FFFFFF"/>
                </a:solidFill>
                <a:latin typeface="Tahoma" pitchFamily="34" charset="0"/>
              </a:rPr>
              <a:t>Services to Citizens</a:t>
            </a:r>
            <a:endParaRPr lang="en-US" sz="1400">
              <a:latin typeface="Tahoma" pitchFamily="34" charset="0"/>
            </a:endParaRPr>
          </a:p>
        </p:txBody>
      </p:sp>
      <p:sp>
        <p:nvSpPr>
          <p:cNvPr id="1399891" name="Rectangle 83"/>
          <p:cNvSpPr>
            <a:spLocks noChangeArrowheads="1"/>
          </p:cNvSpPr>
          <p:nvPr/>
        </p:nvSpPr>
        <p:spPr bwMode="auto">
          <a:xfrm>
            <a:off x="4076700" y="2659063"/>
            <a:ext cx="3890963" cy="1582737"/>
          </a:xfrm>
          <a:prstGeom prst="rect">
            <a:avLst/>
          </a:prstGeom>
          <a:solidFill>
            <a:srgbClr val="FFFFFF"/>
          </a:solidFill>
          <a:ln w="7938">
            <a:solidFill>
              <a:srgbClr val="40458C"/>
            </a:solidFill>
            <a:miter lim="800000"/>
            <a:headEnd/>
            <a:tailEnd/>
          </a:ln>
        </p:spPr>
        <p:txBody>
          <a:bodyPr/>
          <a:lstStyle/>
          <a:p>
            <a:endParaRPr lang="en-US"/>
          </a:p>
        </p:txBody>
      </p:sp>
      <p:sp>
        <p:nvSpPr>
          <p:cNvPr id="1399892" name="Rectangle 84"/>
          <p:cNvSpPr>
            <a:spLocks noChangeArrowheads="1"/>
          </p:cNvSpPr>
          <p:nvPr/>
        </p:nvSpPr>
        <p:spPr bwMode="auto">
          <a:xfrm>
            <a:off x="4076700" y="2659063"/>
            <a:ext cx="2043113" cy="1597025"/>
          </a:xfrm>
          <a:prstGeom prst="rect">
            <a:avLst/>
          </a:prstGeom>
          <a:noFill/>
          <a:ln w="9525">
            <a:noFill/>
            <a:miter lim="800000"/>
            <a:headEnd/>
            <a:tailEnd/>
          </a:ln>
        </p:spPr>
        <p:txBody>
          <a:bodyPr/>
          <a:lstStyle/>
          <a:p>
            <a:endParaRPr lang="en-US"/>
          </a:p>
        </p:txBody>
      </p:sp>
      <p:sp>
        <p:nvSpPr>
          <p:cNvPr id="1399893" name="Rectangle 85"/>
          <p:cNvSpPr>
            <a:spLocks noChangeArrowheads="1"/>
          </p:cNvSpPr>
          <p:nvPr/>
        </p:nvSpPr>
        <p:spPr bwMode="auto">
          <a:xfrm>
            <a:off x="4159250" y="2705100"/>
            <a:ext cx="1263650"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FF0000"/>
                </a:solidFill>
              </a:rPr>
              <a:t>Public Asset Management</a:t>
            </a:r>
            <a:endParaRPr lang="en-US" sz="800">
              <a:solidFill>
                <a:srgbClr val="FF0000"/>
              </a:solidFill>
              <a:latin typeface="Tahoma" pitchFamily="34" charset="0"/>
            </a:endParaRPr>
          </a:p>
        </p:txBody>
      </p:sp>
      <p:sp>
        <p:nvSpPr>
          <p:cNvPr id="1399894" name="Rectangle 86"/>
          <p:cNvSpPr>
            <a:spLocks noChangeArrowheads="1"/>
          </p:cNvSpPr>
          <p:nvPr/>
        </p:nvSpPr>
        <p:spPr bwMode="auto">
          <a:xfrm>
            <a:off x="4159250" y="2820988"/>
            <a:ext cx="1490663"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Marketable Asset Management</a:t>
            </a:r>
            <a:endParaRPr lang="en-US" sz="800">
              <a:latin typeface="Tahoma" pitchFamily="34" charset="0"/>
            </a:endParaRPr>
          </a:p>
        </p:txBody>
      </p:sp>
      <p:sp>
        <p:nvSpPr>
          <p:cNvPr id="1399895" name="Rectangle 87"/>
          <p:cNvSpPr>
            <a:spLocks noChangeArrowheads="1"/>
          </p:cNvSpPr>
          <p:nvPr/>
        </p:nvSpPr>
        <p:spPr bwMode="auto">
          <a:xfrm>
            <a:off x="4159250" y="2938463"/>
            <a:ext cx="1406525"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Defense &amp; Nat’l Security Ops</a:t>
            </a:r>
            <a:endParaRPr lang="en-US" sz="800">
              <a:latin typeface="Tahoma" pitchFamily="34" charset="0"/>
            </a:endParaRPr>
          </a:p>
        </p:txBody>
      </p:sp>
      <p:sp>
        <p:nvSpPr>
          <p:cNvPr id="1399896" name="Rectangle 88"/>
          <p:cNvSpPr>
            <a:spLocks noChangeArrowheads="1"/>
          </p:cNvSpPr>
          <p:nvPr/>
        </p:nvSpPr>
        <p:spPr bwMode="auto">
          <a:xfrm>
            <a:off x="4159250" y="3055938"/>
            <a:ext cx="1506538"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Diplomacy &amp; Foreign Relations</a:t>
            </a:r>
            <a:endParaRPr lang="en-US" sz="800">
              <a:latin typeface="Tahoma" pitchFamily="34" charset="0"/>
            </a:endParaRPr>
          </a:p>
        </p:txBody>
      </p:sp>
      <p:sp>
        <p:nvSpPr>
          <p:cNvPr id="1399897" name="Rectangle 89"/>
          <p:cNvSpPr>
            <a:spLocks noChangeArrowheads="1"/>
          </p:cNvSpPr>
          <p:nvPr/>
        </p:nvSpPr>
        <p:spPr bwMode="auto">
          <a:xfrm>
            <a:off x="4159250" y="3173413"/>
            <a:ext cx="1054100"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FF0000"/>
                </a:solidFill>
              </a:rPr>
              <a:t>Disaster Management</a:t>
            </a:r>
            <a:endParaRPr lang="en-US" sz="800">
              <a:solidFill>
                <a:srgbClr val="FF0000"/>
              </a:solidFill>
              <a:latin typeface="Tahoma" pitchFamily="34" charset="0"/>
            </a:endParaRPr>
          </a:p>
        </p:txBody>
      </p:sp>
      <p:sp>
        <p:nvSpPr>
          <p:cNvPr id="1399898" name="Rectangle 90"/>
          <p:cNvSpPr>
            <a:spLocks noChangeArrowheads="1"/>
          </p:cNvSpPr>
          <p:nvPr/>
        </p:nvSpPr>
        <p:spPr bwMode="auto">
          <a:xfrm>
            <a:off x="4159250" y="3289300"/>
            <a:ext cx="946150"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Domestic Economy</a:t>
            </a:r>
            <a:endParaRPr lang="en-US" sz="800">
              <a:latin typeface="Tahoma" pitchFamily="34" charset="0"/>
            </a:endParaRPr>
          </a:p>
        </p:txBody>
      </p:sp>
      <p:sp>
        <p:nvSpPr>
          <p:cNvPr id="1399899" name="Rectangle 91"/>
          <p:cNvSpPr>
            <a:spLocks noChangeArrowheads="1"/>
          </p:cNvSpPr>
          <p:nvPr/>
        </p:nvSpPr>
        <p:spPr bwMode="auto">
          <a:xfrm>
            <a:off x="4159250" y="3408363"/>
            <a:ext cx="492125"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Education</a:t>
            </a:r>
            <a:endParaRPr lang="en-US" sz="800">
              <a:latin typeface="Tahoma" pitchFamily="34" charset="0"/>
            </a:endParaRPr>
          </a:p>
        </p:txBody>
      </p:sp>
      <p:sp>
        <p:nvSpPr>
          <p:cNvPr id="1399900" name="Rectangle 92"/>
          <p:cNvSpPr>
            <a:spLocks noChangeArrowheads="1"/>
          </p:cNvSpPr>
          <p:nvPr/>
        </p:nvSpPr>
        <p:spPr bwMode="auto">
          <a:xfrm>
            <a:off x="4159250" y="3524250"/>
            <a:ext cx="996950"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FF0000"/>
                </a:solidFill>
              </a:rPr>
              <a:t>Energy Management</a:t>
            </a:r>
            <a:endParaRPr lang="en-US" sz="800">
              <a:solidFill>
                <a:srgbClr val="FF0000"/>
              </a:solidFill>
              <a:latin typeface="Tahoma" pitchFamily="34" charset="0"/>
            </a:endParaRPr>
          </a:p>
        </p:txBody>
      </p:sp>
      <p:sp>
        <p:nvSpPr>
          <p:cNvPr id="1399901" name="Rectangle 93"/>
          <p:cNvSpPr>
            <a:spLocks noChangeArrowheads="1"/>
          </p:cNvSpPr>
          <p:nvPr/>
        </p:nvSpPr>
        <p:spPr bwMode="auto">
          <a:xfrm>
            <a:off x="4159250" y="3640138"/>
            <a:ext cx="482600"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Insurance</a:t>
            </a:r>
            <a:endParaRPr lang="en-US" sz="800">
              <a:latin typeface="Tahoma" pitchFamily="34" charset="0"/>
            </a:endParaRPr>
          </a:p>
        </p:txBody>
      </p:sp>
      <p:sp>
        <p:nvSpPr>
          <p:cNvPr id="1399902" name="Rectangle 94"/>
          <p:cNvSpPr>
            <a:spLocks noChangeArrowheads="1"/>
          </p:cNvSpPr>
          <p:nvPr/>
        </p:nvSpPr>
        <p:spPr bwMode="auto">
          <a:xfrm>
            <a:off x="4159250" y="3759200"/>
            <a:ext cx="646113"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Public Health</a:t>
            </a:r>
            <a:endParaRPr lang="en-US" sz="800">
              <a:latin typeface="Tahoma" pitchFamily="34" charset="0"/>
            </a:endParaRPr>
          </a:p>
        </p:txBody>
      </p:sp>
      <p:sp>
        <p:nvSpPr>
          <p:cNvPr id="1399903" name="Rectangle 95"/>
          <p:cNvSpPr>
            <a:spLocks noChangeArrowheads="1"/>
          </p:cNvSpPr>
          <p:nvPr/>
        </p:nvSpPr>
        <p:spPr bwMode="auto">
          <a:xfrm>
            <a:off x="4159250" y="3875088"/>
            <a:ext cx="1609725" cy="123825"/>
          </a:xfrm>
          <a:prstGeom prst="rect">
            <a:avLst/>
          </a:prstGeom>
          <a:noFill/>
          <a:ln w="9525">
            <a:noFill/>
            <a:miter lim="800000"/>
            <a:headEnd/>
            <a:tailEnd/>
          </a:ln>
        </p:spPr>
        <p:txBody>
          <a:bodyPr wrap="none" lIns="0" tIns="0" rIns="0" bIns="0">
            <a:spAutoFit/>
          </a:bodyPr>
          <a:lstStyle/>
          <a:p>
            <a:pPr algn="l">
              <a:buFontTx/>
              <a:buNone/>
            </a:pPr>
            <a:r>
              <a:rPr lang="en-US" sz="800" b="1">
                <a:solidFill>
                  <a:srgbClr val="FF0000"/>
                </a:solidFill>
              </a:rPr>
              <a:t>Recreation &amp; National Resources</a:t>
            </a:r>
            <a:endParaRPr lang="en-US" sz="800">
              <a:solidFill>
                <a:srgbClr val="FF0000"/>
              </a:solidFill>
              <a:latin typeface="Tahoma" pitchFamily="34" charset="0"/>
            </a:endParaRPr>
          </a:p>
        </p:txBody>
      </p:sp>
      <p:sp>
        <p:nvSpPr>
          <p:cNvPr id="1399904" name="Rectangle 96"/>
          <p:cNvSpPr>
            <a:spLocks noChangeArrowheads="1"/>
          </p:cNvSpPr>
          <p:nvPr/>
        </p:nvSpPr>
        <p:spPr bwMode="auto">
          <a:xfrm>
            <a:off x="4159250" y="3990975"/>
            <a:ext cx="752475"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Social Services</a:t>
            </a:r>
            <a:endParaRPr lang="en-US" sz="800">
              <a:latin typeface="Tahoma" pitchFamily="34" charset="0"/>
            </a:endParaRPr>
          </a:p>
        </p:txBody>
      </p:sp>
      <p:sp>
        <p:nvSpPr>
          <p:cNvPr id="1399905" name="Rectangle 97"/>
          <p:cNvSpPr>
            <a:spLocks noChangeArrowheads="1"/>
          </p:cNvSpPr>
          <p:nvPr/>
        </p:nvSpPr>
        <p:spPr bwMode="auto">
          <a:xfrm>
            <a:off x="4159250" y="4110038"/>
            <a:ext cx="736600"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R&amp;D &amp; Science</a:t>
            </a:r>
            <a:endParaRPr lang="en-US" sz="800">
              <a:latin typeface="Tahoma" pitchFamily="34" charset="0"/>
            </a:endParaRPr>
          </a:p>
        </p:txBody>
      </p:sp>
      <p:sp>
        <p:nvSpPr>
          <p:cNvPr id="1399906" name="Rectangle 98"/>
          <p:cNvSpPr>
            <a:spLocks noChangeArrowheads="1"/>
          </p:cNvSpPr>
          <p:nvPr/>
        </p:nvSpPr>
        <p:spPr bwMode="auto">
          <a:xfrm>
            <a:off x="6054725" y="2719388"/>
            <a:ext cx="1862138" cy="1243012"/>
          </a:xfrm>
          <a:prstGeom prst="rect">
            <a:avLst/>
          </a:prstGeom>
          <a:noFill/>
          <a:ln w="9525">
            <a:noFill/>
            <a:miter lim="800000"/>
            <a:headEnd/>
            <a:tailEnd/>
          </a:ln>
        </p:spPr>
        <p:txBody>
          <a:bodyPr/>
          <a:lstStyle/>
          <a:p>
            <a:endParaRPr lang="en-US"/>
          </a:p>
        </p:txBody>
      </p:sp>
      <p:sp>
        <p:nvSpPr>
          <p:cNvPr id="1399907" name="Rectangle 99"/>
          <p:cNvSpPr>
            <a:spLocks noChangeArrowheads="1"/>
          </p:cNvSpPr>
          <p:nvPr/>
        </p:nvSpPr>
        <p:spPr bwMode="auto">
          <a:xfrm>
            <a:off x="6588125" y="2762250"/>
            <a:ext cx="1358900"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Regulated Activity Approval</a:t>
            </a:r>
            <a:endParaRPr lang="en-US" sz="800">
              <a:latin typeface="Tahoma" pitchFamily="34" charset="0"/>
            </a:endParaRPr>
          </a:p>
        </p:txBody>
      </p:sp>
      <p:sp>
        <p:nvSpPr>
          <p:cNvPr id="1399908" name="Rectangle 100"/>
          <p:cNvSpPr>
            <a:spLocks noChangeArrowheads="1"/>
          </p:cNvSpPr>
          <p:nvPr/>
        </p:nvSpPr>
        <p:spPr bwMode="auto">
          <a:xfrm>
            <a:off x="7070725" y="2881313"/>
            <a:ext cx="838200"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Consumer Safety</a:t>
            </a:r>
            <a:endParaRPr lang="en-US" sz="800">
              <a:latin typeface="Tahoma" pitchFamily="34" charset="0"/>
            </a:endParaRPr>
          </a:p>
        </p:txBody>
      </p:sp>
      <p:sp>
        <p:nvSpPr>
          <p:cNvPr id="1399909" name="Rectangle 101"/>
          <p:cNvSpPr>
            <a:spLocks noChangeArrowheads="1"/>
          </p:cNvSpPr>
          <p:nvPr/>
        </p:nvSpPr>
        <p:spPr bwMode="auto">
          <a:xfrm>
            <a:off x="6584950" y="2997200"/>
            <a:ext cx="1358900"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Environmental Management</a:t>
            </a:r>
            <a:endParaRPr lang="en-US" sz="800">
              <a:latin typeface="Tahoma" pitchFamily="34" charset="0"/>
            </a:endParaRPr>
          </a:p>
        </p:txBody>
      </p:sp>
      <p:sp>
        <p:nvSpPr>
          <p:cNvPr id="1399910" name="Rectangle 102"/>
          <p:cNvSpPr>
            <a:spLocks noChangeArrowheads="1"/>
          </p:cNvSpPr>
          <p:nvPr/>
        </p:nvSpPr>
        <p:spPr bwMode="auto">
          <a:xfrm>
            <a:off x="7054850" y="3113088"/>
            <a:ext cx="849313"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FF0000"/>
                </a:solidFill>
              </a:rPr>
              <a:t>Law Enforcement</a:t>
            </a:r>
            <a:endParaRPr lang="en-US" sz="800">
              <a:solidFill>
                <a:srgbClr val="FF0000"/>
              </a:solidFill>
              <a:latin typeface="Tahoma" pitchFamily="34" charset="0"/>
            </a:endParaRPr>
          </a:p>
        </p:txBody>
      </p:sp>
      <p:sp>
        <p:nvSpPr>
          <p:cNvPr id="1399911" name="Rectangle 103"/>
          <p:cNvSpPr>
            <a:spLocks noChangeArrowheads="1"/>
          </p:cNvSpPr>
          <p:nvPr/>
        </p:nvSpPr>
        <p:spPr bwMode="auto">
          <a:xfrm>
            <a:off x="7618413" y="3219450"/>
            <a:ext cx="266700"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Legal</a:t>
            </a:r>
            <a:endParaRPr lang="en-US" sz="800">
              <a:latin typeface="Tahoma" pitchFamily="34" charset="0"/>
            </a:endParaRPr>
          </a:p>
        </p:txBody>
      </p:sp>
      <p:sp>
        <p:nvSpPr>
          <p:cNvPr id="1399912" name="Rectangle 104"/>
          <p:cNvSpPr>
            <a:spLocks noChangeArrowheads="1"/>
          </p:cNvSpPr>
          <p:nvPr/>
        </p:nvSpPr>
        <p:spPr bwMode="auto">
          <a:xfrm>
            <a:off x="6973888" y="3332163"/>
            <a:ext cx="946150"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FF0000"/>
                </a:solidFill>
              </a:rPr>
              <a:t>Revenue Collection</a:t>
            </a:r>
            <a:endParaRPr lang="en-US" sz="800">
              <a:solidFill>
                <a:srgbClr val="FF0000"/>
              </a:solidFill>
              <a:latin typeface="Tahoma" pitchFamily="34" charset="0"/>
            </a:endParaRPr>
          </a:p>
        </p:txBody>
      </p:sp>
      <p:sp>
        <p:nvSpPr>
          <p:cNvPr id="1399913" name="Rectangle 105"/>
          <p:cNvSpPr>
            <a:spLocks noChangeArrowheads="1"/>
          </p:cNvSpPr>
          <p:nvPr/>
        </p:nvSpPr>
        <p:spPr bwMode="auto">
          <a:xfrm>
            <a:off x="6892925" y="3438525"/>
            <a:ext cx="1039813" cy="120650"/>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Trade (Import/Export)</a:t>
            </a:r>
            <a:endParaRPr lang="en-US" sz="800">
              <a:latin typeface="Tahoma" pitchFamily="34" charset="0"/>
            </a:endParaRPr>
          </a:p>
        </p:txBody>
      </p:sp>
      <p:sp>
        <p:nvSpPr>
          <p:cNvPr id="1399914" name="Rectangle 106"/>
          <p:cNvSpPr>
            <a:spLocks noChangeArrowheads="1"/>
          </p:cNvSpPr>
          <p:nvPr/>
        </p:nvSpPr>
        <p:spPr bwMode="auto">
          <a:xfrm>
            <a:off x="7191375" y="3554413"/>
            <a:ext cx="717550" cy="122237"/>
          </a:xfrm>
          <a:prstGeom prst="rect">
            <a:avLst/>
          </a:prstGeom>
          <a:noFill/>
          <a:ln w="9525">
            <a:noFill/>
            <a:miter lim="800000"/>
            <a:headEnd/>
            <a:tailEnd/>
          </a:ln>
        </p:spPr>
        <p:txBody>
          <a:bodyPr wrap="none" lIns="0" tIns="0" rIns="0" bIns="0">
            <a:spAutoFit/>
          </a:bodyPr>
          <a:lstStyle/>
          <a:p>
            <a:pPr algn="l">
              <a:buFontTx/>
              <a:buNone/>
            </a:pPr>
            <a:r>
              <a:rPr lang="en-US" sz="800" b="1">
                <a:solidFill>
                  <a:srgbClr val="40458C"/>
                </a:solidFill>
              </a:rPr>
              <a:t>Transportation</a:t>
            </a:r>
            <a:endParaRPr lang="en-US" sz="800">
              <a:latin typeface="Tahoma" pitchFamily="34" charset="0"/>
            </a:endParaRPr>
          </a:p>
        </p:txBody>
      </p:sp>
      <p:sp>
        <p:nvSpPr>
          <p:cNvPr id="1399915" name="Rectangle 107"/>
          <p:cNvSpPr>
            <a:spLocks noChangeArrowheads="1"/>
          </p:cNvSpPr>
          <p:nvPr/>
        </p:nvSpPr>
        <p:spPr bwMode="auto">
          <a:xfrm>
            <a:off x="6778625" y="3673475"/>
            <a:ext cx="1154113" cy="122238"/>
          </a:xfrm>
          <a:prstGeom prst="rect">
            <a:avLst/>
          </a:prstGeom>
          <a:noFill/>
          <a:ln w="9525">
            <a:noFill/>
            <a:miter lim="800000"/>
            <a:headEnd/>
            <a:tailEnd/>
          </a:ln>
        </p:spPr>
        <p:txBody>
          <a:bodyPr wrap="none" lIns="0" tIns="0" rIns="0" bIns="0">
            <a:spAutoFit/>
          </a:bodyPr>
          <a:lstStyle/>
          <a:p>
            <a:pPr algn="l">
              <a:buFontTx/>
              <a:buNone/>
            </a:pPr>
            <a:r>
              <a:rPr lang="en-US" sz="800" b="1">
                <a:solidFill>
                  <a:srgbClr val="FF0000"/>
                </a:solidFill>
              </a:rPr>
              <a:t>Workforce Management</a:t>
            </a:r>
            <a:endParaRPr lang="en-US" sz="800">
              <a:solidFill>
                <a:srgbClr val="FF0000"/>
              </a:solidFill>
              <a:latin typeface="Tahoma" pitchFamily="34" charset="0"/>
            </a:endParaRPr>
          </a:p>
        </p:txBody>
      </p:sp>
      <p:sp>
        <p:nvSpPr>
          <p:cNvPr id="1399916" name="Line 108"/>
          <p:cNvSpPr>
            <a:spLocks noChangeShapeType="1"/>
          </p:cNvSpPr>
          <p:nvPr/>
        </p:nvSpPr>
        <p:spPr bwMode="auto">
          <a:xfrm flipH="1">
            <a:off x="5457825" y="2581275"/>
            <a:ext cx="593725" cy="0"/>
          </a:xfrm>
          <a:prstGeom prst="line">
            <a:avLst/>
          </a:prstGeom>
          <a:noFill/>
          <a:ln w="9525">
            <a:solidFill>
              <a:schemeClr val="tx1"/>
            </a:solidFill>
            <a:round/>
            <a:headEnd/>
            <a:tailEnd type="triangle" w="med" len="med"/>
          </a:ln>
          <a:effectLst/>
        </p:spPr>
        <p:txBody>
          <a:bodyPr wrap="none"/>
          <a:lstStyle/>
          <a:p>
            <a:endParaRPr lang="en-US"/>
          </a:p>
        </p:txBody>
      </p:sp>
      <p:sp>
        <p:nvSpPr>
          <p:cNvPr id="1399917" name="Line 109"/>
          <p:cNvSpPr>
            <a:spLocks noChangeShapeType="1"/>
          </p:cNvSpPr>
          <p:nvPr/>
        </p:nvSpPr>
        <p:spPr bwMode="auto">
          <a:xfrm>
            <a:off x="6176963" y="2581275"/>
            <a:ext cx="595312" cy="0"/>
          </a:xfrm>
          <a:prstGeom prst="line">
            <a:avLst/>
          </a:prstGeom>
          <a:noFill/>
          <a:ln w="9525">
            <a:solidFill>
              <a:schemeClr val="tx1"/>
            </a:solidFill>
            <a:round/>
            <a:headEnd/>
            <a:tailEnd type="triangle" w="med" len="med"/>
          </a:ln>
          <a:effectLst/>
        </p:spPr>
        <p:txBody>
          <a:bodyPr wrap="none"/>
          <a:lstStyle/>
          <a:p>
            <a:endParaRPr lang="en-US"/>
          </a:p>
        </p:txBody>
      </p:sp>
      <p:grpSp>
        <p:nvGrpSpPr>
          <p:cNvPr id="1399918" name="Group 110"/>
          <p:cNvGrpSpPr>
            <a:grpSpLocks/>
          </p:cNvGrpSpPr>
          <p:nvPr/>
        </p:nvGrpSpPr>
        <p:grpSpPr bwMode="auto">
          <a:xfrm>
            <a:off x="3919538" y="1711325"/>
            <a:ext cx="4214812" cy="536575"/>
            <a:chOff x="1738" y="744"/>
            <a:chExt cx="2810" cy="400"/>
          </a:xfrm>
        </p:grpSpPr>
        <p:sp>
          <p:nvSpPr>
            <p:cNvPr id="1399919" name="Rectangle 111"/>
            <p:cNvSpPr>
              <a:spLocks noChangeArrowheads="1"/>
            </p:cNvSpPr>
            <p:nvPr/>
          </p:nvSpPr>
          <p:spPr bwMode="auto">
            <a:xfrm>
              <a:off x="1738" y="744"/>
              <a:ext cx="2810" cy="368"/>
            </a:xfrm>
            <a:prstGeom prst="rect">
              <a:avLst/>
            </a:prstGeom>
            <a:solidFill>
              <a:srgbClr val="FFFF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buFontTx/>
                <a:buNone/>
              </a:pPr>
              <a:endParaRPr lang="en-US" sz="3200">
                <a:solidFill>
                  <a:srgbClr val="000000"/>
                </a:solidFill>
                <a:latin typeface="Tahoma" pitchFamily="34" charset="0"/>
              </a:endParaRPr>
            </a:p>
          </p:txBody>
        </p:sp>
        <p:sp>
          <p:nvSpPr>
            <p:cNvPr id="1399920" name="Text Box 112"/>
            <p:cNvSpPr txBox="1">
              <a:spLocks noChangeArrowheads="1"/>
            </p:cNvSpPr>
            <p:nvPr/>
          </p:nvSpPr>
          <p:spPr bwMode="auto">
            <a:xfrm>
              <a:off x="1748" y="771"/>
              <a:ext cx="499" cy="373"/>
            </a:xfrm>
            <a:prstGeom prst="rect">
              <a:avLst/>
            </a:prstGeom>
            <a:noFill/>
            <a:ln w="9525">
              <a:noFill/>
              <a:miter lim="800000"/>
              <a:headEnd/>
              <a:tailEnd/>
            </a:ln>
            <a:effectLst/>
          </p:spPr>
          <p:txBody>
            <a:bodyPr wrap="none">
              <a:spAutoFit/>
            </a:bodyPr>
            <a:lstStyle/>
            <a:p>
              <a:pPr algn="l">
                <a:buFontTx/>
                <a:buNone/>
              </a:pPr>
              <a:r>
                <a:rPr lang="en-US" sz="900"/>
                <a:t>Telephone</a:t>
              </a:r>
            </a:p>
            <a:p>
              <a:pPr algn="l">
                <a:buFontTx/>
                <a:buChar char="-"/>
              </a:pPr>
              <a:r>
                <a:rPr lang="en-US" sz="900"/>
                <a:t>Voice</a:t>
              </a:r>
            </a:p>
            <a:p>
              <a:pPr algn="l">
                <a:buFontTx/>
                <a:buChar char="-"/>
              </a:pPr>
              <a:r>
                <a:rPr lang="en-US" sz="900"/>
                <a:t>Interactive</a:t>
              </a:r>
            </a:p>
          </p:txBody>
        </p:sp>
        <p:sp>
          <p:nvSpPr>
            <p:cNvPr id="1399921" name="Text Box 113"/>
            <p:cNvSpPr txBox="1">
              <a:spLocks noChangeArrowheads="1"/>
            </p:cNvSpPr>
            <p:nvPr/>
          </p:nvSpPr>
          <p:spPr bwMode="auto">
            <a:xfrm>
              <a:off x="2232" y="771"/>
              <a:ext cx="593" cy="373"/>
            </a:xfrm>
            <a:prstGeom prst="rect">
              <a:avLst/>
            </a:prstGeom>
            <a:noFill/>
            <a:ln w="9525">
              <a:noFill/>
              <a:miter lim="800000"/>
              <a:headEnd/>
              <a:tailEnd/>
            </a:ln>
            <a:effectLst/>
          </p:spPr>
          <p:txBody>
            <a:bodyPr wrap="none">
              <a:spAutoFit/>
            </a:bodyPr>
            <a:lstStyle/>
            <a:p>
              <a:pPr>
                <a:buFontTx/>
                <a:buNone/>
              </a:pPr>
              <a:r>
                <a:rPr lang="en-US" sz="900"/>
                <a:t>E-system</a:t>
              </a:r>
            </a:p>
            <a:p>
              <a:pPr>
                <a:buFontTx/>
                <a:buNone/>
              </a:pPr>
              <a:r>
                <a:rPr lang="en-US" sz="900"/>
                <a:t>to System/</a:t>
              </a:r>
            </a:p>
            <a:p>
              <a:pPr>
                <a:buFontTx/>
                <a:buNone/>
              </a:pPr>
              <a:r>
                <a:rPr lang="en-US" sz="900"/>
                <a:t>Web Services</a:t>
              </a:r>
            </a:p>
          </p:txBody>
        </p:sp>
        <p:sp>
          <p:nvSpPr>
            <p:cNvPr id="1399922" name="Text Box 114"/>
            <p:cNvSpPr txBox="1">
              <a:spLocks noChangeArrowheads="1"/>
            </p:cNvSpPr>
            <p:nvPr/>
          </p:nvSpPr>
          <p:spPr bwMode="auto">
            <a:xfrm>
              <a:off x="2751" y="771"/>
              <a:ext cx="550" cy="373"/>
            </a:xfrm>
            <a:prstGeom prst="rect">
              <a:avLst/>
            </a:prstGeom>
            <a:noFill/>
            <a:ln w="9525">
              <a:noFill/>
              <a:miter lim="800000"/>
              <a:headEnd/>
              <a:tailEnd/>
            </a:ln>
            <a:effectLst/>
          </p:spPr>
          <p:txBody>
            <a:bodyPr wrap="none">
              <a:spAutoFit/>
            </a:bodyPr>
            <a:lstStyle/>
            <a:p>
              <a:pPr>
                <a:buFontTx/>
                <a:buNone/>
              </a:pPr>
              <a:r>
                <a:rPr lang="en-US" sz="900"/>
                <a:t>Public/</a:t>
              </a:r>
            </a:p>
            <a:p>
              <a:pPr>
                <a:buFontTx/>
                <a:buNone/>
              </a:pPr>
              <a:r>
                <a:rPr lang="en-US" sz="900"/>
                <a:t>Private</a:t>
              </a:r>
            </a:p>
            <a:p>
              <a:pPr>
                <a:buFontTx/>
                <a:buNone/>
              </a:pPr>
              <a:r>
                <a:rPr lang="en-US" sz="900"/>
                <a:t>Partnerships</a:t>
              </a:r>
            </a:p>
          </p:txBody>
        </p:sp>
        <p:sp>
          <p:nvSpPr>
            <p:cNvPr id="1399923" name="Text Box 115"/>
            <p:cNvSpPr txBox="1">
              <a:spLocks noChangeArrowheads="1"/>
            </p:cNvSpPr>
            <p:nvPr/>
          </p:nvSpPr>
          <p:spPr bwMode="auto">
            <a:xfrm>
              <a:off x="3536" y="857"/>
              <a:ext cx="250" cy="170"/>
            </a:xfrm>
            <a:prstGeom prst="rect">
              <a:avLst/>
            </a:prstGeom>
            <a:noFill/>
            <a:ln w="9525">
              <a:noFill/>
              <a:miter lim="800000"/>
              <a:headEnd/>
              <a:tailEnd/>
            </a:ln>
            <a:effectLst/>
          </p:spPr>
          <p:txBody>
            <a:bodyPr wrap="none">
              <a:spAutoFit/>
            </a:bodyPr>
            <a:lstStyle/>
            <a:p>
              <a:pPr algn="l">
                <a:buFontTx/>
                <a:buNone/>
              </a:pPr>
              <a:r>
                <a:rPr lang="en-US" sz="900"/>
                <a:t>Fax</a:t>
              </a:r>
            </a:p>
          </p:txBody>
        </p:sp>
        <p:sp>
          <p:nvSpPr>
            <p:cNvPr id="1399924" name="Text Box 116"/>
            <p:cNvSpPr txBox="1">
              <a:spLocks noChangeArrowheads="1"/>
            </p:cNvSpPr>
            <p:nvPr/>
          </p:nvSpPr>
          <p:spPr bwMode="auto">
            <a:xfrm>
              <a:off x="3720" y="857"/>
              <a:ext cx="309" cy="170"/>
            </a:xfrm>
            <a:prstGeom prst="rect">
              <a:avLst/>
            </a:prstGeom>
            <a:noFill/>
            <a:ln w="9525">
              <a:noFill/>
              <a:miter lim="800000"/>
              <a:headEnd/>
              <a:tailEnd/>
            </a:ln>
            <a:effectLst/>
          </p:spPr>
          <p:txBody>
            <a:bodyPr wrap="none">
              <a:spAutoFit/>
            </a:bodyPr>
            <a:lstStyle/>
            <a:p>
              <a:pPr algn="l">
                <a:buFontTx/>
                <a:buNone/>
              </a:pPr>
              <a:r>
                <a:rPr lang="en-US" sz="900"/>
                <a:t>Kiosk</a:t>
              </a:r>
            </a:p>
          </p:txBody>
        </p:sp>
        <p:sp>
          <p:nvSpPr>
            <p:cNvPr id="1399925" name="Text Box 117"/>
            <p:cNvSpPr txBox="1">
              <a:spLocks noChangeArrowheads="1"/>
            </p:cNvSpPr>
            <p:nvPr/>
          </p:nvSpPr>
          <p:spPr bwMode="auto">
            <a:xfrm>
              <a:off x="3973" y="820"/>
              <a:ext cx="377" cy="271"/>
            </a:xfrm>
            <a:prstGeom prst="rect">
              <a:avLst/>
            </a:prstGeom>
            <a:noFill/>
            <a:ln w="9525">
              <a:noFill/>
              <a:miter lim="800000"/>
              <a:headEnd/>
              <a:tailEnd/>
            </a:ln>
            <a:effectLst/>
          </p:spPr>
          <p:txBody>
            <a:bodyPr wrap="none">
              <a:spAutoFit/>
            </a:bodyPr>
            <a:lstStyle/>
            <a:p>
              <a:pPr>
                <a:buFontTx/>
                <a:buNone/>
              </a:pPr>
              <a:r>
                <a:rPr lang="en-US" sz="900"/>
                <a:t>Face to</a:t>
              </a:r>
            </a:p>
            <a:p>
              <a:pPr>
                <a:buFontTx/>
                <a:buNone/>
              </a:pPr>
              <a:r>
                <a:rPr lang="en-US" sz="900"/>
                <a:t>Face</a:t>
              </a:r>
            </a:p>
          </p:txBody>
        </p:sp>
        <p:sp>
          <p:nvSpPr>
            <p:cNvPr id="1399926" name="Text Box 118"/>
            <p:cNvSpPr txBox="1">
              <a:spLocks noChangeArrowheads="1"/>
            </p:cNvSpPr>
            <p:nvPr/>
          </p:nvSpPr>
          <p:spPr bwMode="auto">
            <a:xfrm>
              <a:off x="4270" y="879"/>
              <a:ext cx="262" cy="170"/>
            </a:xfrm>
            <a:prstGeom prst="rect">
              <a:avLst/>
            </a:prstGeom>
            <a:noFill/>
            <a:ln w="9525">
              <a:noFill/>
              <a:miter lim="800000"/>
              <a:headEnd/>
              <a:tailEnd/>
            </a:ln>
            <a:effectLst/>
          </p:spPr>
          <p:txBody>
            <a:bodyPr wrap="none">
              <a:spAutoFit/>
            </a:bodyPr>
            <a:lstStyle/>
            <a:p>
              <a:pPr algn="l">
                <a:buFontTx/>
                <a:buNone/>
              </a:pPr>
              <a:r>
                <a:rPr lang="en-US" sz="900"/>
                <a:t>Mail</a:t>
              </a:r>
            </a:p>
          </p:txBody>
        </p:sp>
      </p:grpSp>
      <p:sp>
        <p:nvSpPr>
          <p:cNvPr id="1399927" name="Text Box 119"/>
          <p:cNvSpPr txBox="1">
            <a:spLocks noChangeArrowheads="1"/>
          </p:cNvSpPr>
          <p:nvPr/>
        </p:nvSpPr>
        <p:spPr bwMode="auto">
          <a:xfrm>
            <a:off x="6127750" y="1795463"/>
            <a:ext cx="603250" cy="365125"/>
          </a:xfrm>
          <a:prstGeom prst="rect">
            <a:avLst/>
          </a:prstGeom>
          <a:noFill/>
          <a:ln w="9525">
            <a:noFill/>
            <a:miter lim="800000"/>
            <a:headEnd/>
            <a:tailEnd/>
          </a:ln>
          <a:effectLst/>
        </p:spPr>
        <p:txBody>
          <a:bodyPr wrap="none">
            <a:spAutoFit/>
          </a:bodyPr>
          <a:lstStyle/>
          <a:p>
            <a:pPr>
              <a:buFontTx/>
              <a:buNone/>
            </a:pPr>
            <a:r>
              <a:rPr lang="en-US" sz="900"/>
              <a:t>Internet/</a:t>
            </a:r>
          </a:p>
          <a:p>
            <a:pPr>
              <a:buFontTx/>
              <a:buNone/>
            </a:pPr>
            <a:r>
              <a:rPr lang="en-US" sz="900"/>
              <a:t>Portal</a:t>
            </a:r>
          </a:p>
        </p:txBody>
      </p:sp>
      <p:sp>
        <p:nvSpPr>
          <p:cNvPr id="1399928" name="Text Box 120"/>
          <p:cNvSpPr txBox="1">
            <a:spLocks noChangeArrowheads="1"/>
          </p:cNvSpPr>
          <p:nvPr/>
        </p:nvSpPr>
        <p:spPr bwMode="auto">
          <a:xfrm>
            <a:off x="6792913" y="4433888"/>
            <a:ext cx="603250" cy="366712"/>
          </a:xfrm>
          <a:prstGeom prst="rect">
            <a:avLst/>
          </a:prstGeom>
          <a:noFill/>
          <a:ln w="9525">
            <a:noFill/>
            <a:miter lim="800000"/>
            <a:headEnd/>
            <a:tailEnd/>
          </a:ln>
          <a:effectLst/>
        </p:spPr>
        <p:txBody>
          <a:bodyPr wrap="none">
            <a:spAutoFit/>
          </a:bodyPr>
          <a:lstStyle/>
          <a:p>
            <a:pPr>
              <a:buFontTx/>
              <a:buNone/>
            </a:pPr>
            <a:r>
              <a:rPr lang="en-US" sz="900"/>
              <a:t>Intranet/</a:t>
            </a:r>
          </a:p>
          <a:p>
            <a:pPr>
              <a:buFontTx/>
              <a:buNone/>
            </a:pPr>
            <a:r>
              <a:rPr lang="en-US" sz="900"/>
              <a:t>Portal</a:t>
            </a:r>
          </a:p>
        </p:txBody>
      </p:sp>
      <p:sp>
        <p:nvSpPr>
          <p:cNvPr id="1399929" name="Rectangle 121"/>
          <p:cNvSpPr>
            <a:spLocks noChangeArrowheads="1"/>
          </p:cNvSpPr>
          <p:nvPr/>
        </p:nvSpPr>
        <p:spPr bwMode="auto">
          <a:xfrm>
            <a:off x="590550" y="3008313"/>
            <a:ext cx="2138363" cy="649287"/>
          </a:xfrm>
          <a:prstGeom prst="rect">
            <a:avLst/>
          </a:prstGeom>
          <a:solidFill>
            <a:schemeClr val="accent2"/>
          </a:solidFill>
          <a:ln w="9525">
            <a:solidFill>
              <a:schemeClr val="tx1"/>
            </a:solidFill>
            <a:miter lim="800000"/>
            <a:headEnd/>
            <a:tailEnd/>
          </a:ln>
          <a:effectLst>
            <a:outerShdw dist="35921" dir="2700000" algn="ctr" rotWithShape="0">
              <a:schemeClr val="bg2"/>
            </a:outerShdw>
          </a:effectLst>
        </p:spPr>
        <p:txBody>
          <a:bodyPr>
            <a:spAutoFit/>
          </a:bodyPr>
          <a:lstStyle/>
          <a:p>
            <a:pPr algn="l" eaLnBrk="0" hangingPunct="0">
              <a:buFontTx/>
              <a:buNone/>
            </a:pPr>
            <a:r>
              <a:rPr lang="en-US" sz="1200" b="1"/>
              <a:t>On average 10 Cabinet Departments and agencies per Line of Business</a:t>
            </a:r>
          </a:p>
        </p:txBody>
      </p:sp>
      <p:sp>
        <p:nvSpPr>
          <p:cNvPr id="1399930" name="Rectangle 122"/>
          <p:cNvSpPr>
            <a:spLocks noChangeArrowheads="1"/>
          </p:cNvSpPr>
          <p:nvPr/>
        </p:nvSpPr>
        <p:spPr bwMode="auto">
          <a:xfrm>
            <a:off x="585788" y="4918075"/>
            <a:ext cx="2133600" cy="649288"/>
          </a:xfrm>
          <a:prstGeom prst="rect">
            <a:avLst/>
          </a:prstGeom>
          <a:solidFill>
            <a:schemeClr val="accent2"/>
          </a:solidFill>
          <a:ln w="9525">
            <a:solidFill>
              <a:schemeClr val="tx1"/>
            </a:solidFill>
            <a:miter lim="800000"/>
            <a:headEnd/>
            <a:tailEnd/>
          </a:ln>
          <a:effectLst>
            <a:outerShdw dist="35921" dir="2700000" algn="ctr" rotWithShape="0">
              <a:schemeClr val="bg2"/>
            </a:outerShdw>
          </a:effectLst>
        </p:spPr>
        <p:txBody>
          <a:bodyPr>
            <a:spAutoFit/>
          </a:bodyPr>
          <a:lstStyle/>
          <a:p>
            <a:pPr algn="l" eaLnBrk="0" hangingPunct="0">
              <a:buFontTx/>
              <a:buNone/>
            </a:pPr>
            <a:r>
              <a:rPr lang="en-US" sz="1200" b="1"/>
              <a:t>On average 21 Cabinet Departments and agencies per Line of Business</a:t>
            </a:r>
          </a:p>
        </p:txBody>
      </p:sp>
      <p:sp>
        <p:nvSpPr>
          <p:cNvPr id="1399931" name="Rectangle 123"/>
          <p:cNvSpPr>
            <a:spLocks noChangeArrowheads="1"/>
          </p:cNvSpPr>
          <p:nvPr/>
        </p:nvSpPr>
        <p:spPr bwMode="auto">
          <a:xfrm>
            <a:off x="590550" y="5751513"/>
            <a:ext cx="2133600" cy="649287"/>
          </a:xfrm>
          <a:prstGeom prst="rect">
            <a:avLst/>
          </a:prstGeom>
          <a:solidFill>
            <a:schemeClr val="accent2"/>
          </a:solidFill>
          <a:ln w="9525">
            <a:solidFill>
              <a:schemeClr val="tx1"/>
            </a:solidFill>
            <a:miter lim="800000"/>
            <a:headEnd/>
            <a:tailEnd/>
          </a:ln>
          <a:effectLst>
            <a:outerShdw dist="35921" dir="2700000" algn="ctr" rotWithShape="0">
              <a:schemeClr val="bg2"/>
            </a:outerShdw>
          </a:effectLst>
        </p:spPr>
        <p:txBody>
          <a:bodyPr>
            <a:spAutoFit/>
          </a:bodyPr>
          <a:lstStyle/>
          <a:p>
            <a:pPr algn="l" eaLnBrk="0" hangingPunct="0">
              <a:buFontTx/>
              <a:buNone/>
            </a:pPr>
            <a:r>
              <a:rPr lang="en-US" sz="1200" b="1"/>
              <a:t>All 24 Cabinet Departments and agencies per Line of Business</a:t>
            </a:r>
          </a:p>
        </p:txBody>
      </p:sp>
      <p:sp>
        <p:nvSpPr>
          <p:cNvPr id="1399932" name="AutoShape 124"/>
          <p:cNvSpPr>
            <a:spLocks noChangeArrowheads="1"/>
          </p:cNvSpPr>
          <p:nvPr/>
        </p:nvSpPr>
        <p:spPr bwMode="auto">
          <a:xfrm>
            <a:off x="2924175" y="3124200"/>
            <a:ext cx="809625" cy="457200"/>
          </a:xfrm>
          <a:prstGeom prst="rightArrow">
            <a:avLst>
              <a:gd name="adj1" fmla="val 50000"/>
              <a:gd name="adj2" fmla="val 44271"/>
            </a:avLst>
          </a:prstGeom>
          <a:solidFill>
            <a:schemeClr val="accent1"/>
          </a:solidFill>
          <a:ln w="9525">
            <a:solidFill>
              <a:schemeClr val="tx1"/>
            </a:solidFill>
            <a:miter lim="800000"/>
            <a:headEnd/>
            <a:tailEnd/>
          </a:ln>
          <a:effectLst/>
        </p:spPr>
        <p:txBody>
          <a:bodyPr wrap="none" anchor="ctr"/>
          <a:lstStyle/>
          <a:p>
            <a:endParaRPr lang="en-US"/>
          </a:p>
        </p:txBody>
      </p:sp>
      <p:sp>
        <p:nvSpPr>
          <p:cNvPr id="1399933" name="AutoShape 125"/>
          <p:cNvSpPr>
            <a:spLocks noChangeArrowheads="1"/>
          </p:cNvSpPr>
          <p:nvPr/>
        </p:nvSpPr>
        <p:spPr bwMode="auto">
          <a:xfrm>
            <a:off x="2809875" y="5160963"/>
            <a:ext cx="533400" cy="457200"/>
          </a:xfrm>
          <a:prstGeom prst="rightArrow">
            <a:avLst>
              <a:gd name="adj1" fmla="val 50000"/>
              <a:gd name="adj2" fmla="val 29167"/>
            </a:avLst>
          </a:prstGeom>
          <a:solidFill>
            <a:schemeClr val="accent1"/>
          </a:solidFill>
          <a:ln w="9525">
            <a:solidFill>
              <a:schemeClr val="tx1"/>
            </a:solidFill>
            <a:miter lim="800000"/>
            <a:headEnd/>
            <a:tailEnd/>
          </a:ln>
          <a:effectLst/>
        </p:spPr>
        <p:txBody>
          <a:bodyPr wrap="none" anchor="ctr"/>
          <a:lstStyle/>
          <a:p>
            <a:endParaRPr lang="en-US"/>
          </a:p>
        </p:txBody>
      </p:sp>
      <p:sp>
        <p:nvSpPr>
          <p:cNvPr id="1399934" name="AutoShape 126"/>
          <p:cNvSpPr>
            <a:spLocks noChangeArrowheads="1"/>
          </p:cNvSpPr>
          <p:nvPr/>
        </p:nvSpPr>
        <p:spPr bwMode="auto">
          <a:xfrm>
            <a:off x="2781300" y="5989638"/>
            <a:ext cx="381000" cy="457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anchor="ctr"/>
          <a:lstStyle/>
          <a:p>
            <a:endParaRPr lang="en-US"/>
          </a:p>
        </p:txBody>
      </p:sp>
      <p:sp>
        <p:nvSpPr>
          <p:cNvPr id="1399935" name="AutoShape 127"/>
          <p:cNvSpPr>
            <a:spLocks noChangeArrowheads="1"/>
          </p:cNvSpPr>
          <p:nvPr/>
        </p:nvSpPr>
        <p:spPr bwMode="auto">
          <a:xfrm rot="-444563">
            <a:off x="238125" y="1317625"/>
            <a:ext cx="3457575" cy="1676400"/>
          </a:xfrm>
          <a:prstGeom prst="irregularSeal1">
            <a:avLst/>
          </a:prstGeom>
          <a:solidFill>
            <a:srgbClr val="FFFF00"/>
          </a:solidFill>
          <a:ln w="6350">
            <a:solidFill>
              <a:schemeClr val="tx1"/>
            </a:solidFill>
            <a:miter lim="800000"/>
            <a:headEnd/>
            <a:tailEnd/>
          </a:ln>
          <a:effectLst/>
        </p:spPr>
        <p:txBody>
          <a:bodyPr wrap="none" anchor="ctr"/>
          <a:lstStyle/>
          <a:p>
            <a:r>
              <a:rPr lang="en-US" sz="1600" b="1"/>
              <a:t>DOI supports over </a:t>
            </a:r>
          </a:p>
          <a:p>
            <a:r>
              <a:rPr lang="en-US" sz="1600" b="1"/>
              <a:t>50 BRM sub-functions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401858" name="Rectangle 1026"/>
          <p:cNvSpPr>
            <a:spLocks noGrp="1" noChangeArrowheads="1"/>
          </p:cNvSpPr>
          <p:nvPr>
            <p:ph type="title"/>
          </p:nvPr>
        </p:nvSpPr>
        <p:spPr>
          <a:xfrm>
            <a:off x="349250" y="939800"/>
            <a:ext cx="8737600" cy="609600"/>
          </a:xfrm>
        </p:spPr>
        <p:txBody>
          <a:bodyPr/>
          <a:lstStyle/>
          <a:p>
            <a:r>
              <a:rPr lang="en-US" sz="1800"/>
              <a:t>The SRM framework is comprised of three (3) inter-related “service-orientated” tiers – each of which describes capabilities in greater levels of granularity</a:t>
            </a:r>
          </a:p>
        </p:txBody>
      </p:sp>
      <p:sp>
        <p:nvSpPr>
          <p:cNvPr id="1401859" name="Text Box 1027"/>
          <p:cNvSpPr txBox="1">
            <a:spLocks noChangeArrowheads="1"/>
          </p:cNvSpPr>
          <p:nvPr/>
        </p:nvSpPr>
        <p:spPr bwMode="auto">
          <a:xfrm>
            <a:off x="1531938" y="1546225"/>
            <a:ext cx="6784975" cy="1100138"/>
          </a:xfrm>
          <a:prstGeom prst="rect">
            <a:avLst/>
          </a:prstGeom>
          <a:noFill/>
          <a:ln w="9525">
            <a:noFill/>
            <a:miter lim="800000"/>
            <a:headEnd/>
            <a:tailEnd/>
          </a:ln>
          <a:effectLst/>
        </p:spPr>
        <p:txBody>
          <a:bodyPr>
            <a:spAutoFit/>
          </a:bodyPr>
          <a:lstStyle/>
          <a:p>
            <a:pPr algn="l">
              <a:buFontTx/>
              <a:buNone/>
            </a:pPr>
            <a:r>
              <a:rPr lang="en-US" b="1"/>
              <a:t>Service Layers</a:t>
            </a:r>
          </a:p>
          <a:p>
            <a:pPr algn="l">
              <a:buFontTx/>
              <a:buNone/>
            </a:pPr>
            <a:r>
              <a:rPr lang="en-US" sz="1600"/>
              <a:t>The collection of business oriented service categories that align service / component capabilities to a level in which they support the objectives and performance of the business.</a:t>
            </a:r>
            <a:endParaRPr lang="en-US" sz="1600" b="1"/>
          </a:p>
        </p:txBody>
      </p:sp>
      <p:sp>
        <p:nvSpPr>
          <p:cNvPr id="1401860" name="Text Box 1028"/>
          <p:cNvSpPr txBox="1">
            <a:spLocks noChangeArrowheads="1"/>
          </p:cNvSpPr>
          <p:nvPr/>
        </p:nvSpPr>
        <p:spPr bwMode="auto">
          <a:xfrm>
            <a:off x="2620963" y="3221038"/>
            <a:ext cx="5794375" cy="1100137"/>
          </a:xfrm>
          <a:prstGeom prst="rect">
            <a:avLst/>
          </a:prstGeom>
          <a:noFill/>
          <a:ln w="9525">
            <a:noFill/>
            <a:miter lim="800000"/>
            <a:headEnd/>
            <a:tailEnd/>
          </a:ln>
          <a:effectLst/>
        </p:spPr>
        <p:txBody>
          <a:bodyPr>
            <a:spAutoFit/>
          </a:bodyPr>
          <a:lstStyle/>
          <a:p>
            <a:pPr algn="l">
              <a:buFontTx/>
              <a:buNone/>
            </a:pPr>
            <a:r>
              <a:rPr lang="en-US" b="1"/>
              <a:t>Service Types</a:t>
            </a:r>
          </a:p>
          <a:p>
            <a:pPr algn="l">
              <a:buFontTx/>
              <a:buNone/>
            </a:pPr>
            <a:r>
              <a:rPr lang="en-US" sz="1600"/>
              <a:t>A collection of business-driven, service types (or categories) that assist the Service Layer in accomplishing of mission and/or performance objectives.</a:t>
            </a:r>
            <a:endParaRPr lang="en-US" sz="1600" b="1"/>
          </a:p>
        </p:txBody>
      </p:sp>
      <p:sp>
        <p:nvSpPr>
          <p:cNvPr id="1401861" name="Text Box 1029"/>
          <p:cNvSpPr txBox="1">
            <a:spLocks noChangeArrowheads="1"/>
          </p:cNvSpPr>
          <p:nvPr/>
        </p:nvSpPr>
        <p:spPr bwMode="auto">
          <a:xfrm>
            <a:off x="3609975" y="4914900"/>
            <a:ext cx="5032375" cy="855663"/>
          </a:xfrm>
          <a:prstGeom prst="rect">
            <a:avLst/>
          </a:prstGeom>
          <a:noFill/>
          <a:ln w="9525">
            <a:noFill/>
            <a:miter lim="800000"/>
            <a:headEnd/>
            <a:tailEnd/>
          </a:ln>
          <a:effectLst/>
        </p:spPr>
        <p:txBody>
          <a:bodyPr>
            <a:spAutoFit/>
          </a:bodyPr>
          <a:lstStyle/>
          <a:p>
            <a:pPr algn="l">
              <a:buFontTx/>
              <a:buNone/>
            </a:pPr>
            <a:r>
              <a:rPr lang="en-US" b="1"/>
              <a:t>Service Components</a:t>
            </a:r>
          </a:p>
          <a:p>
            <a:pPr algn="l">
              <a:buFontTx/>
              <a:buNone/>
            </a:pPr>
            <a:r>
              <a:rPr lang="en-US" sz="1600"/>
              <a:t>The collection of components and/or capabilities that support the Service Type.</a:t>
            </a:r>
            <a:endParaRPr lang="en-US" sz="1600" b="1"/>
          </a:p>
        </p:txBody>
      </p:sp>
      <p:sp>
        <p:nvSpPr>
          <p:cNvPr id="1401862" name="Line 1030"/>
          <p:cNvSpPr>
            <a:spLocks noChangeShapeType="1"/>
          </p:cNvSpPr>
          <p:nvPr/>
        </p:nvSpPr>
        <p:spPr bwMode="auto">
          <a:xfrm>
            <a:off x="1635125" y="2970213"/>
            <a:ext cx="6856413" cy="0"/>
          </a:xfrm>
          <a:prstGeom prst="line">
            <a:avLst/>
          </a:prstGeom>
          <a:noFill/>
          <a:ln w="25400">
            <a:solidFill>
              <a:schemeClr val="tx1"/>
            </a:solidFill>
            <a:prstDash val="sysDot"/>
            <a:round/>
            <a:headEnd/>
            <a:tailEnd/>
          </a:ln>
          <a:effectLst/>
        </p:spPr>
        <p:txBody>
          <a:bodyPr wrap="none"/>
          <a:lstStyle/>
          <a:p>
            <a:endParaRPr lang="en-US"/>
          </a:p>
        </p:txBody>
      </p:sp>
      <p:sp>
        <p:nvSpPr>
          <p:cNvPr id="1401863" name="Line 1031"/>
          <p:cNvSpPr>
            <a:spLocks noChangeShapeType="1"/>
          </p:cNvSpPr>
          <p:nvPr/>
        </p:nvSpPr>
        <p:spPr bwMode="auto">
          <a:xfrm>
            <a:off x="1647825" y="4683125"/>
            <a:ext cx="6856413" cy="0"/>
          </a:xfrm>
          <a:prstGeom prst="line">
            <a:avLst/>
          </a:prstGeom>
          <a:noFill/>
          <a:ln w="25400">
            <a:solidFill>
              <a:schemeClr val="tx1"/>
            </a:solidFill>
            <a:prstDash val="sysDot"/>
            <a:round/>
            <a:headEnd/>
            <a:tailEnd/>
          </a:ln>
          <a:effectLst/>
        </p:spPr>
        <p:txBody>
          <a:bodyPr wrap="none"/>
          <a:lstStyle/>
          <a:p>
            <a:endParaRPr lang="en-US"/>
          </a:p>
        </p:txBody>
      </p:sp>
      <p:sp>
        <p:nvSpPr>
          <p:cNvPr id="1401864" name="AutoShape 1032"/>
          <p:cNvSpPr>
            <a:spLocks noChangeArrowheads="1"/>
          </p:cNvSpPr>
          <p:nvPr/>
        </p:nvSpPr>
        <p:spPr bwMode="auto">
          <a:xfrm rot="5400000">
            <a:off x="1747838" y="3430588"/>
            <a:ext cx="762000" cy="609600"/>
          </a:xfrm>
          <a:custGeom>
            <a:avLst/>
            <a:gdLst>
              <a:gd name="G0" fmla="+- 9257 0 0"/>
              <a:gd name="G1" fmla="+- 18450 0 0"/>
              <a:gd name="G2" fmla="+- 9257 0 0"/>
              <a:gd name="G3" fmla="*/ 9257 1 2"/>
              <a:gd name="G4" fmla="+- G3 10800 0"/>
              <a:gd name="G5" fmla="+- 21600 9257 18450"/>
              <a:gd name="G6" fmla="+- 18450 9257 0"/>
              <a:gd name="G7" fmla="*/ G6 1 2"/>
              <a:gd name="G8" fmla="*/ 18450 2 1"/>
              <a:gd name="G9" fmla="+- G8 0 21600"/>
              <a:gd name="G10" fmla="*/ 21600 G0 G1"/>
              <a:gd name="G11" fmla="*/ 21600 G4 G1"/>
              <a:gd name="G12" fmla="*/ 21600 G5 G1"/>
              <a:gd name="G13" fmla="*/ 21600 G7 G1"/>
              <a:gd name="G14" fmla="*/ 18450 1 2"/>
              <a:gd name="G15" fmla="+- G5 0 G4"/>
              <a:gd name="G16" fmla="+- G0 0 G4"/>
              <a:gd name="G17" fmla="*/ G2 G15 G16"/>
              <a:gd name="T0" fmla="*/ 15429 w 21600"/>
              <a:gd name="T1" fmla="*/ 0 h 21600"/>
              <a:gd name="T2" fmla="*/ 9257 w 21600"/>
              <a:gd name="T3" fmla="*/ 9257 h 21600"/>
              <a:gd name="T4" fmla="*/ 0 w 21600"/>
              <a:gd name="T5" fmla="*/ 18063 h 21600"/>
              <a:gd name="T6" fmla="*/ 9225 w 21600"/>
              <a:gd name="T7" fmla="*/ 21600 h 21600"/>
              <a:gd name="T8" fmla="*/ 18450 w 21600"/>
              <a:gd name="T9" fmla="*/ 16219 h 21600"/>
              <a:gd name="T10" fmla="*/ 21600 w 21600"/>
              <a:gd name="T11" fmla="*/ 9257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9257"/>
                </a:lnTo>
                <a:lnTo>
                  <a:pt x="12407" y="9257"/>
                </a:lnTo>
                <a:lnTo>
                  <a:pt x="12407" y="14525"/>
                </a:lnTo>
                <a:lnTo>
                  <a:pt x="0" y="14525"/>
                </a:lnTo>
                <a:lnTo>
                  <a:pt x="0" y="21600"/>
                </a:lnTo>
                <a:lnTo>
                  <a:pt x="18450" y="21600"/>
                </a:lnTo>
                <a:lnTo>
                  <a:pt x="18450" y="9257"/>
                </a:lnTo>
                <a:lnTo>
                  <a:pt x="21600" y="9257"/>
                </a:lnTo>
                <a:close/>
              </a:path>
            </a:pathLst>
          </a:custGeom>
          <a:solidFill>
            <a:schemeClr val="tx1"/>
          </a:solidFill>
          <a:ln w="9525">
            <a:solidFill>
              <a:schemeClr val="tx1"/>
            </a:solidFill>
            <a:miter lim="800000"/>
            <a:headEnd/>
            <a:tailEnd/>
          </a:ln>
          <a:effectLst/>
        </p:spPr>
        <p:txBody>
          <a:bodyPr wrap="none" anchor="ctr"/>
          <a:lstStyle/>
          <a:p>
            <a:endParaRPr lang="en-US"/>
          </a:p>
        </p:txBody>
      </p:sp>
      <p:sp>
        <p:nvSpPr>
          <p:cNvPr id="1401865" name="AutoShape 1033"/>
          <p:cNvSpPr>
            <a:spLocks noChangeArrowheads="1"/>
          </p:cNvSpPr>
          <p:nvPr/>
        </p:nvSpPr>
        <p:spPr bwMode="auto">
          <a:xfrm rot="5400000">
            <a:off x="2774950" y="5032375"/>
            <a:ext cx="762000" cy="609600"/>
          </a:xfrm>
          <a:custGeom>
            <a:avLst/>
            <a:gdLst>
              <a:gd name="G0" fmla="+- 9257 0 0"/>
              <a:gd name="G1" fmla="+- 18450 0 0"/>
              <a:gd name="G2" fmla="+- 9257 0 0"/>
              <a:gd name="G3" fmla="*/ 9257 1 2"/>
              <a:gd name="G4" fmla="+- G3 10800 0"/>
              <a:gd name="G5" fmla="+- 21600 9257 18450"/>
              <a:gd name="G6" fmla="+- 18450 9257 0"/>
              <a:gd name="G7" fmla="*/ G6 1 2"/>
              <a:gd name="G8" fmla="*/ 18450 2 1"/>
              <a:gd name="G9" fmla="+- G8 0 21600"/>
              <a:gd name="G10" fmla="*/ 21600 G0 G1"/>
              <a:gd name="G11" fmla="*/ 21600 G4 G1"/>
              <a:gd name="G12" fmla="*/ 21600 G5 G1"/>
              <a:gd name="G13" fmla="*/ 21600 G7 G1"/>
              <a:gd name="G14" fmla="*/ 18450 1 2"/>
              <a:gd name="G15" fmla="+- G5 0 G4"/>
              <a:gd name="G16" fmla="+- G0 0 G4"/>
              <a:gd name="G17" fmla="*/ G2 G15 G16"/>
              <a:gd name="T0" fmla="*/ 15429 w 21600"/>
              <a:gd name="T1" fmla="*/ 0 h 21600"/>
              <a:gd name="T2" fmla="*/ 9257 w 21600"/>
              <a:gd name="T3" fmla="*/ 9257 h 21600"/>
              <a:gd name="T4" fmla="*/ 0 w 21600"/>
              <a:gd name="T5" fmla="*/ 18063 h 21600"/>
              <a:gd name="T6" fmla="*/ 9225 w 21600"/>
              <a:gd name="T7" fmla="*/ 21600 h 21600"/>
              <a:gd name="T8" fmla="*/ 18450 w 21600"/>
              <a:gd name="T9" fmla="*/ 16219 h 21600"/>
              <a:gd name="T10" fmla="*/ 21600 w 21600"/>
              <a:gd name="T11" fmla="*/ 9257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9257"/>
                </a:lnTo>
                <a:lnTo>
                  <a:pt x="12407" y="9257"/>
                </a:lnTo>
                <a:lnTo>
                  <a:pt x="12407" y="14525"/>
                </a:lnTo>
                <a:lnTo>
                  <a:pt x="0" y="14525"/>
                </a:lnTo>
                <a:lnTo>
                  <a:pt x="0" y="21600"/>
                </a:lnTo>
                <a:lnTo>
                  <a:pt x="18450" y="21600"/>
                </a:lnTo>
                <a:lnTo>
                  <a:pt x="18450" y="9257"/>
                </a:lnTo>
                <a:lnTo>
                  <a:pt x="21600" y="9257"/>
                </a:lnTo>
                <a:close/>
              </a:path>
            </a:pathLst>
          </a:custGeom>
          <a:solidFill>
            <a:schemeClr val="tx1"/>
          </a:solidFill>
          <a:ln w="9525">
            <a:solidFill>
              <a:schemeClr val="tx1"/>
            </a:solidFill>
            <a:miter lim="800000"/>
            <a:headEnd/>
            <a:tailEnd/>
          </a:ln>
          <a:effectLst/>
        </p:spPr>
        <p:txBody>
          <a:bodyPr wrap="none" anchor="ctr"/>
          <a:lstStyle/>
          <a:p>
            <a:endParaRPr lang="en-US"/>
          </a:p>
        </p:txBody>
      </p:sp>
      <p:sp>
        <p:nvSpPr>
          <p:cNvPr id="1401866" name="AutoShape 1034"/>
          <p:cNvSpPr>
            <a:spLocks noChangeArrowheads="1"/>
          </p:cNvSpPr>
          <p:nvPr/>
        </p:nvSpPr>
        <p:spPr bwMode="auto">
          <a:xfrm>
            <a:off x="828675" y="1755775"/>
            <a:ext cx="530225" cy="3735388"/>
          </a:xfrm>
          <a:prstGeom prst="downArrow">
            <a:avLst>
              <a:gd name="adj1" fmla="val 70250"/>
              <a:gd name="adj2" fmla="val 72765"/>
            </a:avLst>
          </a:prstGeom>
          <a:solidFill>
            <a:schemeClr val="bg1"/>
          </a:solidFill>
          <a:ln w="9525">
            <a:solidFill>
              <a:schemeClr val="tx1"/>
            </a:solidFill>
            <a:miter lim="800000"/>
            <a:headEnd/>
            <a:tailEnd/>
          </a:ln>
          <a:effectLst/>
        </p:spPr>
        <p:txBody>
          <a:bodyPr wrap="none" anchor="ctr"/>
          <a:lstStyle/>
          <a:p>
            <a:endParaRPr lang="en-US"/>
          </a:p>
        </p:txBody>
      </p:sp>
      <p:sp>
        <p:nvSpPr>
          <p:cNvPr id="1401867" name="Text Box 1035"/>
          <p:cNvSpPr txBox="1">
            <a:spLocks noChangeArrowheads="1"/>
          </p:cNvSpPr>
          <p:nvPr/>
        </p:nvSpPr>
        <p:spPr bwMode="auto">
          <a:xfrm rot="5400000">
            <a:off x="147638" y="3348038"/>
            <a:ext cx="1930400" cy="336550"/>
          </a:xfrm>
          <a:prstGeom prst="rect">
            <a:avLst/>
          </a:prstGeom>
          <a:noFill/>
          <a:ln w="9525">
            <a:noFill/>
            <a:miter lim="800000"/>
            <a:headEnd/>
            <a:tailEnd/>
          </a:ln>
          <a:effectLst/>
        </p:spPr>
        <p:txBody>
          <a:bodyPr wrap="none">
            <a:spAutoFit/>
          </a:bodyPr>
          <a:lstStyle/>
          <a:p>
            <a:pPr>
              <a:buFontTx/>
              <a:buNone/>
            </a:pPr>
            <a:r>
              <a:rPr lang="en-US" sz="1600">
                <a:latin typeface="Tahoma" pitchFamily="34" charset="0"/>
              </a:rPr>
              <a:t>Level of Granularity</a:t>
            </a:r>
          </a:p>
        </p:txBody>
      </p:sp>
      <p:sp>
        <p:nvSpPr>
          <p:cNvPr id="1401868" name="Text Box 1036"/>
          <p:cNvSpPr txBox="1">
            <a:spLocks noChangeArrowheads="1"/>
          </p:cNvSpPr>
          <p:nvPr/>
        </p:nvSpPr>
        <p:spPr bwMode="auto">
          <a:xfrm>
            <a:off x="6843713" y="2586038"/>
            <a:ext cx="1584325" cy="304800"/>
          </a:xfrm>
          <a:prstGeom prst="rect">
            <a:avLst/>
          </a:prstGeom>
          <a:noFill/>
          <a:ln w="9525">
            <a:noFill/>
            <a:miter lim="800000"/>
            <a:headEnd/>
            <a:tailEnd/>
          </a:ln>
          <a:effectLst/>
        </p:spPr>
        <p:txBody>
          <a:bodyPr wrap="none">
            <a:spAutoFit/>
          </a:bodyPr>
          <a:lstStyle/>
          <a:p>
            <a:pPr algn="l">
              <a:buFontTx/>
              <a:buNone/>
            </a:pPr>
            <a:r>
              <a:rPr lang="en-US" sz="1400" b="1" i="1"/>
              <a:t>7 Service Layers</a:t>
            </a:r>
          </a:p>
        </p:txBody>
      </p:sp>
      <p:sp>
        <p:nvSpPr>
          <p:cNvPr id="1401869" name="Text Box 1037"/>
          <p:cNvSpPr txBox="1">
            <a:spLocks noChangeArrowheads="1"/>
          </p:cNvSpPr>
          <p:nvPr/>
        </p:nvSpPr>
        <p:spPr bwMode="auto">
          <a:xfrm>
            <a:off x="6853238" y="4305300"/>
            <a:ext cx="1622425" cy="304800"/>
          </a:xfrm>
          <a:prstGeom prst="rect">
            <a:avLst/>
          </a:prstGeom>
          <a:noFill/>
          <a:ln w="9525">
            <a:noFill/>
            <a:miter lim="800000"/>
            <a:headEnd/>
            <a:tailEnd/>
          </a:ln>
          <a:effectLst/>
        </p:spPr>
        <p:txBody>
          <a:bodyPr wrap="none">
            <a:spAutoFit/>
          </a:bodyPr>
          <a:lstStyle/>
          <a:p>
            <a:pPr algn="l">
              <a:buFontTx/>
              <a:buNone/>
            </a:pPr>
            <a:r>
              <a:rPr lang="en-US" sz="1400" b="1" i="1"/>
              <a:t>27 Service Types</a:t>
            </a:r>
          </a:p>
        </p:txBody>
      </p:sp>
      <p:sp>
        <p:nvSpPr>
          <p:cNvPr id="1401870" name="Text Box 1038"/>
          <p:cNvSpPr txBox="1">
            <a:spLocks noChangeArrowheads="1"/>
          </p:cNvSpPr>
          <p:nvPr/>
        </p:nvSpPr>
        <p:spPr bwMode="auto">
          <a:xfrm>
            <a:off x="6134100" y="5772150"/>
            <a:ext cx="2292350" cy="304800"/>
          </a:xfrm>
          <a:prstGeom prst="rect">
            <a:avLst/>
          </a:prstGeom>
          <a:noFill/>
          <a:ln w="9525">
            <a:noFill/>
            <a:miter lim="800000"/>
            <a:headEnd/>
            <a:tailEnd/>
          </a:ln>
          <a:effectLst/>
        </p:spPr>
        <p:txBody>
          <a:bodyPr wrap="none">
            <a:spAutoFit/>
          </a:bodyPr>
          <a:lstStyle/>
          <a:p>
            <a:pPr algn="l">
              <a:buFontTx/>
              <a:buNone/>
            </a:pPr>
            <a:r>
              <a:rPr lang="en-US" sz="1400" b="1" i="1"/>
              <a:t>143 Service Components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403906" name="Rectangle 2"/>
          <p:cNvSpPr>
            <a:spLocks noGrp="1" noChangeArrowheads="1"/>
          </p:cNvSpPr>
          <p:nvPr>
            <p:ph type="title"/>
          </p:nvPr>
        </p:nvSpPr>
        <p:spPr>
          <a:xfrm>
            <a:off x="533400" y="873125"/>
            <a:ext cx="8610600" cy="609600"/>
          </a:xfrm>
        </p:spPr>
        <p:txBody>
          <a:bodyPr/>
          <a:lstStyle/>
          <a:p>
            <a:r>
              <a:rPr lang="en-US"/>
              <a:t>Customer Services</a:t>
            </a:r>
          </a:p>
        </p:txBody>
      </p:sp>
      <p:sp>
        <p:nvSpPr>
          <p:cNvPr id="1403907" name="Text Box 3"/>
          <p:cNvSpPr txBox="1">
            <a:spLocks noChangeArrowheads="1"/>
          </p:cNvSpPr>
          <p:nvPr/>
        </p:nvSpPr>
        <p:spPr bwMode="auto">
          <a:xfrm>
            <a:off x="419100" y="1639888"/>
            <a:ext cx="8328025" cy="915987"/>
          </a:xfrm>
          <a:prstGeom prst="rect">
            <a:avLst/>
          </a:prstGeom>
          <a:noFill/>
          <a:ln w="9525">
            <a:noFill/>
            <a:miter lim="800000"/>
            <a:headEnd/>
            <a:tailEnd/>
          </a:ln>
          <a:effectLst/>
        </p:spPr>
        <p:txBody>
          <a:bodyPr>
            <a:spAutoFit/>
          </a:bodyPr>
          <a:lstStyle/>
          <a:p>
            <a:pPr algn="l">
              <a:buFontTx/>
              <a:buNone/>
            </a:pPr>
            <a:r>
              <a:rPr lang="en-US" b="1"/>
              <a:t>Defines the set of capabilities that are directly related to the end customer, the business’ interaction with the customer, and the customer driven activities or functions.</a:t>
            </a:r>
          </a:p>
        </p:txBody>
      </p:sp>
      <p:sp>
        <p:nvSpPr>
          <p:cNvPr id="1403908" name="Rectangle 4"/>
          <p:cNvSpPr>
            <a:spLocks noChangeArrowheads="1"/>
          </p:cNvSpPr>
          <p:nvPr/>
        </p:nvSpPr>
        <p:spPr bwMode="auto">
          <a:xfrm>
            <a:off x="825500" y="2624138"/>
            <a:ext cx="2286000" cy="457200"/>
          </a:xfrm>
          <a:prstGeom prst="rect">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1403909" name="Text Box 5"/>
          <p:cNvSpPr txBox="1">
            <a:spLocks noChangeArrowheads="1"/>
          </p:cNvSpPr>
          <p:nvPr/>
        </p:nvSpPr>
        <p:spPr bwMode="auto">
          <a:xfrm>
            <a:off x="952500" y="2636838"/>
            <a:ext cx="1981200" cy="428625"/>
          </a:xfrm>
          <a:prstGeom prst="rect">
            <a:avLst/>
          </a:prstGeom>
          <a:noFill/>
          <a:ln w="9525">
            <a:noFill/>
            <a:miter lim="800000"/>
            <a:headEnd/>
            <a:tailEnd/>
          </a:ln>
          <a:effectLst/>
        </p:spPr>
        <p:txBody>
          <a:bodyPr>
            <a:spAutoFit/>
          </a:bodyPr>
          <a:lstStyle/>
          <a:p>
            <a:pPr>
              <a:buFontTx/>
              <a:buNone/>
            </a:pPr>
            <a:r>
              <a:rPr lang="en-US" sz="1100" b="1">
                <a:solidFill>
                  <a:schemeClr val="bg1"/>
                </a:solidFill>
              </a:rPr>
              <a:t>Customer Relationship Management (CRM)</a:t>
            </a:r>
          </a:p>
        </p:txBody>
      </p:sp>
      <p:sp>
        <p:nvSpPr>
          <p:cNvPr id="1403910" name="Rectangle 6"/>
          <p:cNvSpPr>
            <a:spLocks noChangeArrowheads="1"/>
          </p:cNvSpPr>
          <p:nvPr/>
        </p:nvSpPr>
        <p:spPr bwMode="auto">
          <a:xfrm>
            <a:off x="3492500" y="2624138"/>
            <a:ext cx="2286000" cy="457200"/>
          </a:xfrm>
          <a:prstGeom prst="rect">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1403911" name="Text Box 7"/>
          <p:cNvSpPr txBox="1">
            <a:spLocks noChangeArrowheads="1"/>
          </p:cNvSpPr>
          <p:nvPr/>
        </p:nvSpPr>
        <p:spPr bwMode="auto">
          <a:xfrm>
            <a:off x="3657600" y="2624138"/>
            <a:ext cx="1981200" cy="428625"/>
          </a:xfrm>
          <a:prstGeom prst="rect">
            <a:avLst/>
          </a:prstGeom>
          <a:noFill/>
          <a:ln w="9525">
            <a:noFill/>
            <a:miter lim="800000"/>
            <a:headEnd/>
            <a:tailEnd/>
          </a:ln>
          <a:effectLst/>
        </p:spPr>
        <p:txBody>
          <a:bodyPr>
            <a:spAutoFit/>
          </a:bodyPr>
          <a:lstStyle/>
          <a:p>
            <a:pPr>
              <a:buFontTx/>
              <a:buNone/>
            </a:pPr>
            <a:r>
              <a:rPr lang="en-US" sz="1100" b="1">
                <a:solidFill>
                  <a:schemeClr val="bg1"/>
                </a:solidFill>
              </a:rPr>
              <a:t>Customer</a:t>
            </a:r>
          </a:p>
          <a:p>
            <a:pPr>
              <a:buFontTx/>
              <a:buNone/>
            </a:pPr>
            <a:r>
              <a:rPr lang="en-US" sz="1100" b="1">
                <a:solidFill>
                  <a:schemeClr val="bg1"/>
                </a:solidFill>
              </a:rPr>
              <a:t>Preferences</a:t>
            </a:r>
          </a:p>
        </p:txBody>
      </p:sp>
      <p:sp>
        <p:nvSpPr>
          <p:cNvPr id="1403912" name="Text Box 8"/>
          <p:cNvSpPr txBox="1">
            <a:spLocks noChangeArrowheads="1"/>
          </p:cNvSpPr>
          <p:nvPr/>
        </p:nvSpPr>
        <p:spPr bwMode="auto">
          <a:xfrm>
            <a:off x="1041400" y="3186113"/>
            <a:ext cx="2260600" cy="1606550"/>
          </a:xfrm>
          <a:prstGeom prst="rect">
            <a:avLst/>
          </a:prstGeom>
          <a:noFill/>
          <a:ln w="9525">
            <a:noFill/>
            <a:miter lim="800000"/>
            <a:headEnd/>
            <a:tailEnd/>
          </a:ln>
          <a:effectLst/>
        </p:spPr>
        <p:txBody>
          <a:bodyPr wrap="none">
            <a:spAutoFit/>
          </a:bodyPr>
          <a:lstStyle/>
          <a:p>
            <a:pPr algn="l">
              <a:buFontTx/>
              <a:buNone/>
            </a:pPr>
            <a:r>
              <a:rPr lang="en-US" sz="1100"/>
              <a:t>Call Center Management</a:t>
            </a:r>
          </a:p>
          <a:p>
            <a:pPr algn="l">
              <a:buFontTx/>
              <a:buNone/>
            </a:pPr>
            <a:r>
              <a:rPr lang="en-US" sz="1100"/>
              <a:t>Customer Analytics</a:t>
            </a:r>
          </a:p>
          <a:p>
            <a:pPr algn="l">
              <a:buFontTx/>
              <a:buNone/>
            </a:pPr>
            <a:r>
              <a:rPr lang="en-US" sz="1100"/>
              <a:t>Sales and Marketing</a:t>
            </a:r>
          </a:p>
          <a:p>
            <a:pPr algn="l">
              <a:buFontTx/>
              <a:buNone/>
            </a:pPr>
            <a:r>
              <a:rPr lang="en-US" sz="1100"/>
              <a:t>Product / Brand Management</a:t>
            </a:r>
          </a:p>
          <a:p>
            <a:pPr algn="l">
              <a:buFontTx/>
              <a:buNone/>
            </a:pPr>
            <a:r>
              <a:rPr lang="en-US" sz="1100"/>
              <a:t>Customer / Account Management</a:t>
            </a:r>
          </a:p>
          <a:p>
            <a:pPr algn="l">
              <a:buFontTx/>
              <a:buNone/>
            </a:pPr>
            <a:r>
              <a:rPr lang="en-US" sz="1100"/>
              <a:t>Contact Management</a:t>
            </a:r>
          </a:p>
          <a:p>
            <a:pPr algn="l">
              <a:buFontTx/>
              <a:buNone/>
            </a:pPr>
            <a:r>
              <a:rPr lang="en-US" sz="1100"/>
              <a:t>Partner Relationship Mgmt</a:t>
            </a:r>
          </a:p>
          <a:p>
            <a:pPr algn="l">
              <a:buFontTx/>
              <a:buNone/>
            </a:pPr>
            <a:r>
              <a:rPr lang="en-US" sz="1100"/>
              <a:t>Customer Feedback</a:t>
            </a:r>
          </a:p>
          <a:p>
            <a:pPr algn="l">
              <a:buFontTx/>
              <a:buNone/>
            </a:pPr>
            <a:r>
              <a:rPr lang="en-US" sz="1100"/>
              <a:t>Surveys</a:t>
            </a:r>
          </a:p>
        </p:txBody>
      </p:sp>
      <p:sp>
        <p:nvSpPr>
          <p:cNvPr id="1403913" name="Text Box 9"/>
          <p:cNvSpPr txBox="1">
            <a:spLocks noChangeArrowheads="1"/>
          </p:cNvSpPr>
          <p:nvPr/>
        </p:nvSpPr>
        <p:spPr bwMode="auto">
          <a:xfrm>
            <a:off x="3657600" y="3186113"/>
            <a:ext cx="1612900" cy="765175"/>
          </a:xfrm>
          <a:prstGeom prst="rect">
            <a:avLst/>
          </a:prstGeom>
          <a:noFill/>
          <a:ln w="9525">
            <a:noFill/>
            <a:miter lim="800000"/>
            <a:headEnd/>
            <a:tailEnd/>
          </a:ln>
          <a:effectLst/>
        </p:spPr>
        <p:txBody>
          <a:bodyPr wrap="none">
            <a:spAutoFit/>
          </a:bodyPr>
          <a:lstStyle/>
          <a:p>
            <a:pPr algn="l">
              <a:buFontTx/>
              <a:buNone/>
            </a:pPr>
            <a:r>
              <a:rPr lang="en-US" sz="1100"/>
              <a:t>Personalization</a:t>
            </a:r>
          </a:p>
          <a:p>
            <a:pPr algn="l">
              <a:buFontTx/>
              <a:buNone/>
            </a:pPr>
            <a:r>
              <a:rPr lang="en-US" sz="1100"/>
              <a:t>Subscriptions</a:t>
            </a:r>
          </a:p>
          <a:p>
            <a:pPr algn="l">
              <a:buFontTx/>
              <a:buNone/>
            </a:pPr>
            <a:r>
              <a:rPr lang="en-US" sz="1100"/>
              <a:t>Alerts and Notifications</a:t>
            </a:r>
          </a:p>
          <a:p>
            <a:pPr algn="l">
              <a:buFontTx/>
              <a:buNone/>
            </a:pPr>
            <a:r>
              <a:rPr lang="en-US" sz="1100"/>
              <a:t>Profile Management</a:t>
            </a:r>
          </a:p>
        </p:txBody>
      </p:sp>
      <p:sp>
        <p:nvSpPr>
          <p:cNvPr id="1403914" name="Rectangle 10"/>
          <p:cNvSpPr>
            <a:spLocks noChangeArrowheads="1"/>
          </p:cNvSpPr>
          <p:nvPr/>
        </p:nvSpPr>
        <p:spPr bwMode="auto">
          <a:xfrm>
            <a:off x="5981700" y="2624138"/>
            <a:ext cx="2286000" cy="457200"/>
          </a:xfrm>
          <a:prstGeom prst="rect">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1403915" name="Text Box 11"/>
          <p:cNvSpPr txBox="1">
            <a:spLocks noChangeArrowheads="1"/>
          </p:cNvSpPr>
          <p:nvPr/>
        </p:nvSpPr>
        <p:spPr bwMode="auto">
          <a:xfrm>
            <a:off x="6146800" y="2636838"/>
            <a:ext cx="1981200" cy="428625"/>
          </a:xfrm>
          <a:prstGeom prst="rect">
            <a:avLst/>
          </a:prstGeom>
          <a:noFill/>
          <a:ln w="9525">
            <a:noFill/>
            <a:miter lim="800000"/>
            <a:headEnd/>
            <a:tailEnd/>
          </a:ln>
          <a:effectLst/>
        </p:spPr>
        <p:txBody>
          <a:bodyPr>
            <a:spAutoFit/>
          </a:bodyPr>
          <a:lstStyle/>
          <a:p>
            <a:pPr>
              <a:buFontTx/>
              <a:buNone/>
            </a:pPr>
            <a:r>
              <a:rPr lang="en-US" sz="1100" b="1">
                <a:solidFill>
                  <a:schemeClr val="bg1"/>
                </a:solidFill>
              </a:rPr>
              <a:t>Customer Initiated</a:t>
            </a:r>
          </a:p>
          <a:p>
            <a:pPr>
              <a:buFontTx/>
              <a:buNone/>
            </a:pPr>
            <a:r>
              <a:rPr lang="en-US" sz="1100" b="1">
                <a:solidFill>
                  <a:schemeClr val="bg1"/>
                </a:solidFill>
              </a:rPr>
              <a:t>Assistance</a:t>
            </a:r>
          </a:p>
        </p:txBody>
      </p:sp>
      <p:sp>
        <p:nvSpPr>
          <p:cNvPr id="1403916" name="Text Box 12"/>
          <p:cNvSpPr txBox="1">
            <a:spLocks noChangeArrowheads="1"/>
          </p:cNvSpPr>
          <p:nvPr/>
        </p:nvSpPr>
        <p:spPr bwMode="auto">
          <a:xfrm>
            <a:off x="6146800" y="3186113"/>
            <a:ext cx="1860550" cy="1270000"/>
          </a:xfrm>
          <a:prstGeom prst="rect">
            <a:avLst/>
          </a:prstGeom>
          <a:noFill/>
          <a:ln w="9525">
            <a:noFill/>
            <a:miter lim="800000"/>
            <a:headEnd/>
            <a:tailEnd/>
          </a:ln>
          <a:effectLst/>
        </p:spPr>
        <p:txBody>
          <a:bodyPr wrap="none">
            <a:spAutoFit/>
          </a:bodyPr>
          <a:lstStyle/>
          <a:p>
            <a:pPr algn="l">
              <a:buFontTx/>
              <a:buNone/>
            </a:pPr>
            <a:r>
              <a:rPr lang="en-US" sz="1100"/>
              <a:t>Online Help</a:t>
            </a:r>
          </a:p>
          <a:p>
            <a:pPr algn="l">
              <a:buFontTx/>
              <a:buNone/>
            </a:pPr>
            <a:r>
              <a:rPr lang="en-US" sz="1100"/>
              <a:t>Online Tutorials</a:t>
            </a:r>
          </a:p>
          <a:p>
            <a:pPr algn="l">
              <a:buFontTx/>
              <a:buNone/>
            </a:pPr>
            <a:r>
              <a:rPr lang="en-US" sz="1100"/>
              <a:t>Self-Service</a:t>
            </a:r>
          </a:p>
          <a:p>
            <a:pPr algn="l">
              <a:buFontTx/>
              <a:buNone/>
            </a:pPr>
            <a:r>
              <a:rPr lang="en-US" sz="1100"/>
              <a:t>Reservations / Registration</a:t>
            </a:r>
          </a:p>
          <a:p>
            <a:pPr algn="l">
              <a:buFontTx/>
              <a:buNone/>
            </a:pPr>
            <a:r>
              <a:rPr lang="en-US" sz="1100"/>
              <a:t>Multi-Lingual Support</a:t>
            </a:r>
          </a:p>
          <a:p>
            <a:pPr algn="l">
              <a:buFontTx/>
              <a:buNone/>
            </a:pPr>
            <a:r>
              <a:rPr lang="en-US" sz="1100"/>
              <a:t>Assistance Request</a:t>
            </a:r>
          </a:p>
          <a:p>
            <a:pPr algn="l">
              <a:buFontTx/>
              <a:buNone/>
            </a:pPr>
            <a:endParaRPr lang="en-US" sz="1100"/>
          </a:p>
        </p:txBody>
      </p:sp>
      <p:sp>
        <p:nvSpPr>
          <p:cNvPr id="1403917" name="Text Box 13"/>
          <p:cNvSpPr txBox="1">
            <a:spLocks noChangeArrowheads="1"/>
          </p:cNvSpPr>
          <p:nvPr/>
        </p:nvSpPr>
        <p:spPr bwMode="auto">
          <a:xfrm>
            <a:off x="5295900" y="457200"/>
            <a:ext cx="3352800" cy="457200"/>
          </a:xfrm>
          <a:prstGeom prst="rect">
            <a:avLst/>
          </a:prstGeom>
          <a:noFill/>
          <a:ln w="9525">
            <a:noFill/>
            <a:miter lim="800000"/>
            <a:headEnd/>
            <a:tailEnd/>
          </a:ln>
          <a:effectLst/>
        </p:spPr>
        <p:txBody>
          <a:bodyPr>
            <a:spAutoFit/>
          </a:bodyPr>
          <a:lstStyle/>
          <a:p>
            <a:pPr algn="r">
              <a:buFontTx/>
              <a:buNone/>
            </a:pPr>
            <a:r>
              <a:rPr lang="en-US" sz="1200" i="1">
                <a:latin typeface="Tahoma" pitchFamily="34" charset="0"/>
              </a:rPr>
              <a:t>Extended descriptions of capabilities and functions are provided in Appendix B.</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66018" name="Rectangle 2"/>
          <p:cNvSpPr>
            <a:spLocks noGrp="1" noChangeArrowheads="1"/>
          </p:cNvSpPr>
          <p:nvPr>
            <p:ph type="title"/>
          </p:nvPr>
        </p:nvSpPr>
        <p:spPr>
          <a:xfrm>
            <a:off x="485775" y="835025"/>
            <a:ext cx="8229600" cy="719138"/>
          </a:xfrm>
        </p:spPr>
        <p:txBody>
          <a:bodyPr/>
          <a:lstStyle/>
          <a:p>
            <a:pPr algn="ctr"/>
            <a:r>
              <a:rPr lang="en-US" sz="3200"/>
              <a:t>DOI Conceptual Business </a:t>
            </a:r>
            <a:br>
              <a:rPr lang="en-US" sz="3200"/>
            </a:br>
            <a:r>
              <a:rPr lang="en-US" sz="3200"/>
              <a:t>Architecture Model</a:t>
            </a:r>
          </a:p>
        </p:txBody>
      </p:sp>
      <p:pic>
        <p:nvPicPr>
          <p:cNvPr id="1366019" name="Picture 3"/>
          <p:cNvPicPr>
            <a:picLocks noChangeAspect="1" noChangeArrowheads="1"/>
          </p:cNvPicPr>
          <p:nvPr/>
        </p:nvPicPr>
        <p:blipFill>
          <a:blip r:embed="rId3" cstate="print"/>
          <a:srcRect/>
          <a:stretch>
            <a:fillRect/>
          </a:stretch>
        </p:blipFill>
        <p:spPr bwMode="auto">
          <a:xfrm>
            <a:off x="484188" y="2062163"/>
            <a:ext cx="7696200" cy="3960812"/>
          </a:xfrm>
          <a:prstGeom prst="rect">
            <a:avLst/>
          </a:prstGeom>
          <a:noFill/>
          <a:ln w="9525">
            <a:noFill/>
            <a:miter lim="800000"/>
            <a:headEnd/>
            <a:tailEnd/>
          </a:ln>
          <a:effec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538" name="Rectangle 2"/>
          <p:cNvSpPr>
            <a:spLocks noGrp="1" noChangeArrowheads="1"/>
          </p:cNvSpPr>
          <p:nvPr>
            <p:ph type="ctrTitle"/>
          </p:nvPr>
        </p:nvSpPr>
        <p:spPr/>
        <p:txBody>
          <a:bodyPr/>
          <a:lstStyle/>
          <a:p>
            <a:r>
              <a:rPr lang="en-US" sz="2800"/>
              <a:t>DOI Financial Management Architecture  </a:t>
            </a:r>
          </a:p>
        </p:txBody>
      </p:sp>
      <p:sp>
        <p:nvSpPr>
          <p:cNvPr id="1345539" name="Rectangle 3"/>
          <p:cNvSpPr>
            <a:spLocks noGrp="1" noChangeArrowheads="1"/>
          </p:cNvSpPr>
          <p:nvPr>
            <p:ph type="subTitle" idx="1"/>
          </p:nvPr>
        </p:nvSpPr>
        <p:spPr>
          <a:xfrm>
            <a:off x="1828800" y="4419600"/>
            <a:ext cx="4343400" cy="914400"/>
          </a:xfrm>
        </p:spPr>
        <p:txBody>
          <a:bodyPr/>
          <a:lstStyle/>
          <a:p>
            <a:r>
              <a:rPr lang="en-US"/>
              <a:t>Demonstration of Value</a:t>
            </a:r>
          </a:p>
          <a:p>
            <a:r>
              <a:rPr lang="en-US"/>
              <a:t>Demonstration of Approach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46562" name="Rectangle 2"/>
          <p:cNvSpPr>
            <a:spLocks noChangeArrowheads="1"/>
          </p:cNvSpPr>
          <p:nvPr/>
        </p:nvSpPr>
        <p:spPr bwMode="auto">
          <a:xfrm>
            <a:off x="457200" y="723900"/>
            <a:ext cx="8229600" cy="838200"/>
          </a:xfrm>
          <a:prstGeom prst="rect">
            <a:avLst/>
          </a:prstGeom>
          <a:noFill/>
          <a:ln w="9525">
            <a:noFill/>
            <a:miter lim="800000"/>
            <a:headEnd/>
            <a:tailEnd/>
          </a:ln>
          <a:effectLst/>
        </p:spPr>
        <p:txBody>
          <a:bodyPr lIns="0" rIns="0" anchor="b"/>
          <a:lstStyle/>
          <a:p>
            <a:pPr algn="l">
              <a:buFontTx/>
              <a:buNone/>
            </a:pPr>
            <a:r>
              <a:rPr lang="en-US" sz="2200" b="1">
                <a:solidFill>
                  <a:srgbClr val="760000"/>
                </a:solidFill>
              </a:rPr>
              <a:t>Integrated DOI BRM Report</a:t>
            </a:r>
          </a:p>
        </p:txBody>
      </p:sp>
      <p:sp>
        <p:nvSpPr>
          <p:cNvPr id="1346563" name="Rectangle 3"/>
          <p:cNvSpPr>
            <a:spLocks noChangeArrowheads="1"/>
          </p:cNvSpPr>
          <p:nvPr/>
        </p:nvSpPr>
        <p:spPr bwMode="auto">
          <a:xfrm>
            <a:off x="381000" y="1533525"/>
            <a:ext cx="4133850" cy="1439863"/>
          </a:xfrm>
          <a:prstGeom prst="rect">
            <a:avLst/>
          </a:prstGeom>
          <a:noFill/>
          <a:ln w="9525">
            <a:noFill/>
            <a:miter lim="800000"/>
            <a:headEnd/>
            <a:tailEnd/>
          </a:ln>
          <a:effectLst/>
        </p:spPr>
        <p:txBody>
          <a:bodyPr lIns="0" rIns="0"/>
          <a:lstStyle/>
          <a:p>
            <a:pPr marL="192088" indent="-192088" algn="l">
              <a:spcBef>
                <a:spcPct val="20000"/>
              </a:spcBef>
              <a:buFont typeface="Wingdings" pitchFamily="2" charset="2"/>
              <a:buChar char="§"/>
            </a:pPr>
            <a:r>
              <a:rPr lang="en-US" sz="1000"/>
              <a:t>DOI Financial Function / Activities mapped to OMB BRM V2</a:t>
            </a:r>
          </a:p>
          <a:p>
            <a:pPr marL="192088" indent="-192088" algn="l">
              <a:spcBef>
                <a:spcPct val="20000"/>
              </a:spcBef>
              <a:buFont typeface="Wingdings" pitchFamily="2" charset="2"/>
              <a:buChar char="§"/>
            </a:pPr>
            <a:r>
              <a:rPr lang="en-US" sz="1000"/>
              <a:t>DOI Integrated BRM shows mappings between OMB BRM and DOI Financial Activities, DOI Financial Systems, and ABC elements</a:t>
            </a:r>
          </a:p>
          <a:p>
            <a:pPr marL="192088" indent="-192088" algn="l">
              <a:spcBef>
                <a:spcPct val="20000"/>
              </a:spcBef>
              <a:buFont typeface="Wingdings" pitchFamily="2" charset="2"/>
              <a:buChar char="§"/>
            </a:pPr>
            <a:r>
              <a:rPr lang="en-US" sz="1000"/>
              <a:t>Use of a modeling tool allows rapid response to changes in the OMB’s BRM and clearly shows where multiple financial systems are mapped to a given function / activity</a:t>
            </a:r>
          </a:p>
          <a:p>
            <a:pPr marL="192088" indent="-192088" algn="l">
              <a:spcBef>
                <a:spcPct val="20000"/>
              </a:spcBef>
              <a:buFont typeface="Wingdings" pitchFamily="2" charset="2"/>
              <a:buChar char="§"/>
            </a:pPr>
            <a:r>
              <a:rPr lang="en-US" sz="1000"/>
              <a:t>Linkages between PRM and BRM shows the relationship between functions performed and goals / objectives supported</a:t>
            </a:r>
          </a:p>
        </p:txBody>
      </p:sp>
      <p:pic>
        <p:nvPicPr>
          <p:cNvPr id="1346564" name="Picture 4"/>
          <p:cNvPicPr>
            <a:picLocks noChangeAspect="1" noChangeArrowheads="1"/>
          </p:cNvPicPr>
          <p:nvPr/>
        </p:nvPicPr>
        <p:blipFill>
          <a:blip r:embed="rId3" cstate="print"/>
          <a:srcRect/>
          <a:stretch>
            <a:fillRect/>
          </a:stretch>
        </p:blipFill>
        <p:spPr bwMode="auto">
          <a:xfrm>
            <a:off x="4772025" y="1609725"/>
            <a:ext cx="4192588" cy="2930525"/>
          </a:xfrm>
          <a:prstGeom prst="rect">
            <a:avLst/>
          </a:prstGeom>
          <a:noFill/>
          <a:ln w="9525">
            <a:noFill/>
            <a:miter lim="800000"/>
            <a:headEnd/>
            <a:tailEnd/>
          </a:ln>
          <a:effectLst/>
        </p:spPr>
      </p:pic>
      <p:pic>
        <p:nvPicPr>
          <p:cNvPr id="1346565" name="Picture 5"/>
          <p:cNvPicPr>
            <a:picLocks noChangeAspect="1" noChangeArrowheads="1"/>
          </p:cNvPicPr>
          <p:nvPr/>
        </p:nvPicPr>
        <p:blipFill>
          <a:blip r:embed="rId4" cstate="print"/>
          <a:srcRect/>
          <a:stretch>
            <a:fillRect/>
          </a:stretch>
        </p:blipFill>
        <p:spPr bwMode="auto">
          <a:xfrm>
            <a:off x="5067300" y="3313113"/>
            <a:ext cx="2714625" cy="2862262"/>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47586" name="Rectangle 2"/>
          <p:cNvSpPr>
            <a:spLocks noChangeArrowheads="1"/>
          </p:cNvSpPr>
          <p:nvPr/>
        </p:nvSpPr>
        <p:spPr bwMode="auto">
          <a:xfrm>
            <a:off x="457200" y="685800"/>
            <a:ext cx="8229600" cy="838200"/>
          </a:xfrm>
          <a:prstGeom prst="rect">
            <a:avLst/>
          </a:prstGeom>
          <a:noFill/>
          <a:ln w="9525">
            <a:noFill/>
            <a:miter lim="800000"/>
            <a:headEnd/>
            <a:tailEnd/>
          </a:ln>
          <a:effectLst/>
        </p:spPr>
        <p:txBody>
          <a:bodyPr lIns="0" rIns="0" anchor="b"/>
          <a:lstStyle/>
          <a:p>
            <a:pPr algn="l">
              <a:buFontTx/>
              <a:buNone/>
            </a:pPr>
            <a:r>
              <a:rPr lang="en-US" sz="2200" b="1">
                <a:solidFill>
                  <a:srgbClr val="760000"/>
                </a:solidFill>
              </a:rPr>
              <a:t>Function to BRM Matrix Report</a:t>
            </a:r>
          </a:p>
        </p:txBody>
      </p:sp>
      <p:pic>
        <p:nvPicPr>
          <p:cNvPr id="1347587" name="Picture 3"/>
          <p:cNvPicPr>
            <a:picLocks noChangeAspect="1" noChangeArrowheads="1"/>
          </p:cNvPicPr>
          <p:nvPr/>
        </p:nvPicPr>
        <p:blipFill>
          <a:blip r:embed="rId3" cstate="print"/>
          <a:srcRect/>
          <a:stretch>
            <a:fillRect/>
          </a:stretch>
        </p:blipFill>
        <p:spPr bwMode="auto">
          <a:xfrm>
            <a:off x="457200" y="1600200"/>
            <a:ext cx="8229600" cy="4525963"/>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6978" name="Rectangle 1026"/>
          <p:cNvSpPr>
            <a:spLocks noGrp="1" noChangeArrowheads="1"/>
          </p:cNvSpPr>
          <p:nvPr>
            <p:ph type="ctrTitle"/>
          </p:nvPr>
        </p:nvSpPr>
        <p:spPr>
          <a:xfrm>
            <a:off x="838200" y="2667000"/>
            <a:ext cx="7791450" cy="914400"/>
          </a:xfrm>
        </p:spPr>
        <p:txBody>
          <a:bodyPr/>
          <a:lstStyle/>
          <a:p>
            <a:r>
              <a:rPr lang="en-US" sz="2800"/>
              <a:t>Arming the Business Managers with Information to Drive Decision-Making  </a:t>
            </a:r>
          </a:p>
        </p:txBody>
      </p:sp>
      <p:sp>
        <p:nvSpPr>
          <p:cNvPr id="1406979" name="Rectangle 1027"/>
          <p:cNvSpPr>
            <a:spLocks noGrp="1" noChangeArrowheads="1"/>
          </p:cNvSpPr>
          <p:nvPr>
            <p:ph type="subTitle" idx="1"/>
          </p:nvPr>
        </p:nvSpPr>
        <p:spPr>
          <a:xfrm>
            <a:off x="1828800" y="4543425"/>
            <a:ext cx="4343400" cy="914400"/>
          </a:xfrm>
        </p:spPr>
        <p:txBody>
          <a:bodyPr/>
          <a:lstStyle/>
          <a:p>
            <a:r>
              <a:rPr lang="en-US" sz="2000"/>
              <a:t>James Barrett</a:t>
            </a:r>
          </a:p>
          <a:p>
            <a:r>
              <a:rPr lang="en-US" sz="2000"/>
              <a:t>Northrop Grumman (IBAT Support)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44514" name="Rectangle 2"/>
          <p:cNvSpPr>
            <a:spLocks noGrp="1" noChangeArrowheads="1"/>
          </p:cNvSpPr>
          <p:nvPr>
            <p:ph type="title" idx="4294967295"/>
          </p:nvPr>
        </p:nvSpPr>
        <p:spPr>
          <a:xfrm>
            <a:off x="457200" y="417513"/>
            <a:ext cx="8229600" cy="1143000"/>
          </a:xfrm>
        </p:spPr>
        <p:txBody>
          <a:bodyPr/>
          <a:lstStyle/>
          <a:p>
            <a:r>
              <a:rPr lang="en-US" sz="2000"/>
              <a:t>How can Line of Business (LOB) Manager “Mine” for Opportunities</a:t>
            </a:r>
          </a:p>
        </p:txBody>
      </p:sp>
      <p:sp>
        <p:nvSpPr>
          <p:cNvPr id="1344515" name="Rectangle 3"/>
          <p:cNvSpPr>
            <a:spLocks noGrp="1" noChangeArrowheads="1"/>
          </p:cNvSpPr>
          <p:nvPr>
            <p:ph type="body" idx="4294967295"/>
          </p:nvPr>
        </p:nvSpPr>
        <p:spPr>
          <a:xfrm>
            <a:off x="428625" y="1609725"/>
            <a:ext cx="6489700" cy="4525963"/>
          </a:xfrm>
        </p:spPr>
        <p:txBody>
          <a:bodyPr/>
          <a:lstStyle/>
          <a:p>
            <a:r>
              <a:rPr lang="en-US" sz="2000"/>
              <a:t>How do my IT investments support my Strategic Outcomes?</a:t>
            </a:r>
          </a:p>
          <a:p>
            <a:r>
              <a:rPr lang="en-US" sz="2000"/>
              <a:t>What investments/adjustments must I make to assure accomplishment of my Strategic Outcomes?</a:t>
            </a:r>
          </a:p>
          <a:p>
            <a:r>
              <a:rPr lang="en-US" sz="2000"/>
              <a:t>Why does the LOB portfolio have so many applications?</a:t>
            </a:r>
          </a:p>
          <a:p>
            <a:pPr lvl="1"/>
            <a:r>
              <a:rPr lang="en-US" sz="1800"/>
              <a:t>How are they related? </a:t>
            </a:r>
          </a:p>
          <a:p>
            <a:r>
              <a:rPr lang="en-US" sz="2000"/>
              <a:t>Are there cost sharing opportunities?</a:t>
            </a:r>
          </a:p>
          <a:p>
            <a:r>
              <a:rPr lang="en-US" sz="2000"/>
              <a:t>What re-engineered processes can I leverage in my bureau?</a:t>
            </a:r>
          </a:p>
          <a:p>
            <a:r>
              <a:rPr lang="en-US" sz="2000"/>
              <a:t>How is my investment different than other LOBs?</a:t>
            </a:r>
          </a:p>
          <a:p>
            <a:endParaRPr lang="en-US" sz="2000"/>
          </a:p>
          <a:p>
            <a:pPr>
              <a:buFont typeface="Wingdings" pitchFamily="2" charset="2"/>
              <a:buNone/>
            </a:pPr>
            <a:endParaRPr lang="en-US" sz="2000"/>
          </a:p>
        </p:txBody>
      </p:sp>
      <p:pic>
        <p:nvPicPr>
          <p:cNvPr id="1344516" name="Picture 4" descr="goldinhand"/>
          <p:cNvPicPr>
            <a:picLocks noChangeAspect="1" noChangeArrowheads="1"/>
          </p:cNvPicPr>
          <p:nvPr/>
        </p:nvPicPr>
        <p:blipFill>
          <a:blip r:embed="rId3" cstate="print"/>
          <a:srcRect/>
          <a:stretch>
            <a:fillRect/>
          </a:stretch>
        </p:blipFill>
        <p:spPr bwMode="auto">
          <a:xfrm>
            <a:off x="6756400" y="4806950"/>
            <a:ext cx="1905000" cy="1562100"/>
          </a:xfrm>
          <a:prstGeom prst="rect">
            <a:avLst/>
          </a:prstGeom>
          <a:noFill/>
        </p:spPr>
      </p:pic>
      <p:pic>
        <p:nvPicPr>
          <p:cNvPr id="1344517" name="Picture 5" descr="mineshaft"/>
          <p:cNvPicPr>
            <a:picLocks noChangeAspect="1" noChangeArrowheads="1"/>
          </p:cNvPicPr>
          <p:nvPr/>
        </p:nvPicPr>
        <p:blipFill>
          <a:blip r:embed="rId4" cstate="print"/>
          <a:srcRect/>
          <a:stretch>
            <a:fillRect/>
          </a:stretch>
        </p:blipFill>
        <p:spPr bwMode="auto">
          <a:xfrm>
            <a:off x="6769100" y="1631950"/>
            <a:ext cx="1905000" cy="28575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9026" name="Rectangle 1026"/>
          <p:cNvSpPr>
            <a:spLocks noGrp="1" noChangeArrowheads="1"/>
          </p:cNvSpPr>
          <p:nvPr>
            <p:ph type="ctrTitle"/>
          </p:nvPr>
        </p:nvSpPr>
        <p:spPr>
          <a:xfrm>
            <a:off x="838200" y="2667000"/>
            <a:ext cx="7791450" cy="914400"/>
          </a:xfrm>
        </p:spPr>
        <p:txBody>
          <a:bodyPr/>
          <a:lstStyle/>
          <a:p>
            <a:r>
              <a:rPr lang="en-US" sz="2800"/>
              <a:t>“Plan of Attack”  </a:t>
            </a:r>
          </a:p>
        </p:txBody>
      </p:sp>
      <p:sp>
        <p:nvSpPr>
          <p:cNvPr id="1409027" name="Rectangle 1027"/>
          <p:cNvSpPr>
            <a:spLocks noGrp="1" noChangeArrowheads="1"/>
          </p:cNvSpPr>
          <p:nvPr>
            <p:ph type="subTitle" idx="1"/>
          </p:nvPr>
        </p:nvSpPr>
        <p:spPr>
          <a:xfrm>
            <a:off x="1828800" y="4543425"/>
            <a:ext cx="4343400" cy="914400"/>
          </a:xfrm>
        </p:spPr>
        <p:txBody>
          <a:bodyPr/>
          <a:lstStyle/>
          <a:p>
            <a:r>
              <a:rPr lang="en-US" sz="2000"/>
              <a:t>Colleen Coggins</a:t>
            </a:r>
          </a:p>
          <a:p>
            <a:r>
              <a:rPr lang="en-US" sz="2000"/>
              <a:t>Interior Business Architect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67043" name="Rectangle 3"/>
          <p:cNvSpPr>
            <a:spLocks noChangeArrowheads="1"/>
          </p:cNvSpPr>
          <p:nvPr/>
        </p:nvSpPr>
        <p:spPr bwMode="auto">
          <a:xfrm>
            <a:off x="317500" y="457200"/>
            <a:ext cx="8229600" cy="381000"/>
          </a:xfrm>
          <a:prstGeom prst="rect">
            <a:avLst/>
          </a:prstGeom>
          <a:noFill/>
          <a:ln w="9525">
            <a:noFill/>
            <a:miter lim="800000"/>
            <a:headEnd/>
            <a:tailEnd/>
          </a:ln>
          <a:effectLst/>
        </p:spPr>
        <p:txBody>
          <a:bodyPr lIns="0" rIns="0" anchor="b"/>
          <a:lstStyle/>
          <a:p>
            <a:pPr algn="l">
              <a:buFontTx/>
              <a:buNone/>
            </a:pPr>
            <a:r>
              <a:rPr lang="en-US" b="1">
                <a:solidFill>
                  <a:srgbClr val="760000"/>
                </a:solidFill>
              </a:rPr>
              <a:t>Project Management Effort</a:t>
            </a:r>
          </a:p>
        </p:txBody>
      </p:sp>
      <p:sp>
        <p:nvSpPr>
          <p:cNvPr id="1367044" name="AutoShape 4"/>
          <p:cNvSpPr>
            <a:spLocks noChangeArrowheads="1"/>
          </p:cNvSpPr>
          <p:nvPr/>
        </p:nvSpPr>
        <p:spPr bwMode="auto">
          <a:xfrm>
            <a:off x="2716213" y="1038225"/>
            <a:ext cx="1638300" cy="282575"/>
          </a:xfrm>
          <a:prstGeom prst="roundRect">
            <a:avLst>
              <a:gd name="adj" fmla="val 16667"/>
            </a:avLst>
          </a:prstGeom>
          <a:solidFill>
            <a:srgbClr val="FFFF66"/>
          </a:solidFill>
          <a:ln w="9525">
            <a:solidFill>
              <a:schemeClr val="tx1"/>
            </a:solidFill>
            <a:round/>
            <a:headEnd/>
            <a:tailEnd/>
          </a:ln>
          <a:effectLst/>
        </p:spPr>
        <p:txBody>
          <a:bodyPr lIns="0" tIns="0" rIns="0" bIns="0" anchor="ctr" anchorCtr="1">
            <a:spAutoFit/>
          </a:bodyPr>
          <a:lstStyle/>
          <a:p>
            <a:pPr algn="l">
              <a:buFontTx/>
              <a:buNone/>
            </a:pPr>
            <a:r>
              <a:rPr lang="en-US" sz="800" b="1"/>
              <a:t>Create DOI Performance Reference Model (PRM)</a:t>
            </a:r>
            <a:r>
              <a:rPr lang="en-US" sz="800"/>
              <a:t> </a:t>
            </a:r>
          </a:p>
        </p:txBody>
      </p:sp>
      <p:sp>
        <p:nvSpPr>
          <p:cNvPr id="1367045" name="AutoShape 5"/>
          <p:cNvSpPr>
            <a:spLocks noChangeArrowheads="1"/>
          </p:cNvSpPr>
          <p:nvPr/>
        </p:nvSpPr>
        <p:spPr bwMode="auto">
          <a:xfrm>
            <a:off x="5006975" y="1038225"/>
            <a:ext cx="1562100" cy="282575"/>
          </a:xfrm>
          <a:prstGeom prst="roundRect">
            <a:avLst>
              <a:gd name="adj" fmla="val 16667"/>
            </a:avLst>
          </a:prstGeom>
          <a:solidFill>
            <a:srgbClr val="FFFF66"/>
          </a:solidFill>
          <a:ln w="9525">
            <a:solidFill>
              <a:schemeClr val="tx1"/>
            </a:solidFill>
            <a:round/>
            <a:headEnd/>
            <a:tailEnd/>
          </a:ln>
          <a:effectLst/>
        </p:spPr>
        <p:txBody>
          <a:bodyPr lIns="0" tIns="0" rIns="0" bIns="0" anchor="ctr" anchorCtr="1">
            <a:spAutoFit/>
          </a:bodyPr>
          <a:lstStyle/>
          <a:p>
            <a:pPr algn="l">
              <a:buFontTx/>
              <a:buNone/>
            </a:pPr>
            <a:r>
              <a:rPr lang="en-US" sz="800" b="1"/>
              <a:t>Create DOI Business Reference Model (BRM) </a:t>
            </a:r>
          </a:p>
        </p:txBody>
      </p:sp>
      <p:sp>
        <p:nvSpPr>
          <p:cNvPr id="1367046" name="AutoShape 6"/>
          <p:cNvSpPr>
            <a:spLocks noChangeArrowheads="1"/>
          </p:cNvSpPr>
          <p:nvPr/>
        </p:nvSpPr>
        <p:spPr bwMode="auto">
          <a:xfrm>
            <a:off x="7132638" y="903288"/>
            <a:ext cx="1682750" cy="552450"/>
          </a:xfrm>
          <a:prstGeom prst="roundRect">
            <a:avLst>
              <a:gd name="adj" fmla="val 16667"/>
            </a:avLst>
          </a:prstGeom>
          <a:solidFill>
            <a:schemeClr val="accent1"/>
          </a:solidFill>
          <a:ln w="9525">
            <a:solidFill>
              <a:schemeClr val="tx1"/>
            </a:solidFill>
            <a:round/>
            <a:headEnd/>
            <a:tailEnd/>
          </a:ln>
          <a:effectLst/>
        </p:spPr>
        <p:txBody>
          <a:bodyPr lIns="0" tIns="0" rIns="0" bIns="0" anchor="ctr" anchorCtr="1">
            <a:spAutoFit/>
          </a:bodyPr>
          <a:lstStyle/>
          <a:p>
            <a:pPr algn="l">
              <a:buFontTx/>
              <a:buNone/>
            </a:pPr>
            <a:r>
              <a:rPr lang="en-US" sz="800" b="1">
                <a:solidFill>
                  <a:schemeClr val="bg1"/>
                </a:solidFill>
              </a:rPr>
              <a:t>Create a DOI-wide As-Is/Baseline Applications Architecture mapped to the DOI BRM and PRM. </a:t>
            </a:r>
          </a:p>
        </p:txBody>
      </p:sp>
      <p:sp>
        <p:nvSpPr>
          <p:cNvPr id="1367047" name="AutoShape 7"/>
          <p:cNvSpPr>
            <a:spLocks noChangeArrowheads="1"/>
          </p:cNvSpPr>
          <p:nvPr/>
        </p:nvSpPr>
        <p:spPr bwMode="auto">
          <a:xfrm>
            <a:off x="333375" y="3922713"/>
            <a:ext cx="1631950" cy="687387"/>
          </a:xfrm>
          <a:prstGeom prst="roundRect">
            <a:avLst>
              <a:gd name="adj" fmla="val 16667"/>
            </a:avLst>
          </a:prstGeom>
          <a:solidFill>
            <a:srgbClr val="FFFF66"/>
          </a:solidFill>
          <a:ln w="9525">
            <a:solidFill>
              <a:schemeClr val="tx1"/>
            </a:solidFill>
            <a:round/>
            <a:headEnd/>
            <a:tailEnd/>
          </a:ln>
          <a:effectLst/>
        </p:spPr>
        <p:txBody>
          <a:bodyPr lIns="0" tIns="0" rIns="0" bIns="0" anchor="ctr" anchorCtr="1">
            <a:spAutoFit/>
          </a:bodyPr>
          <a:lstStyle/>
          <a:p>
            <a:pPr algn="l">
              <a:buFontTx/>
              <a:buNone/>
            </a:pPr>
            <a:r>
              <a:rPr lang="en-US" sz="800" b="1"/>
              <a:t>Design for Implementing DOI-wide Popkin System Architecture Solution and accompanying form 300 in XML format.</a:t>
            </a:r>
            <a:r>
              <a:rPr lang="en-US" sz="800"/>
              <a:t> </a:t>
            </a:r>
          </a:p>
        </p:txBody>
      </p:sp>
      <p:sp>
        <p:nvSpPr>
          <p:cNvPr id="1367048" name="AutoShape 8"/>
          <p:cNvSpPr>
            <a:spLocks noChangeArrowheads="1"/>
          </p:cNvSpPr>
          <p:nvPr/>
        </p:nvSpPr>
        <p:spPr bwMode="auto">
          <a:xfrm>
            <a:off x="2328863" y="3924300"/>
            <a:ext cx="1631950" cy="687388"/>
          </a:xfrm>
          <a:prstGeom prst="roundRect">
            <a:avLst>
              <a:gd name="adj" fmla="val 16667"/>
            </a:avLst>
          </a:prstGeom>
          <a:solidFill>
            <a:schemeClr val="accent1"/>
          </a:solidFill>
          <a:ln w="9525">
            <a:solidFill>
              <a:schemeClr val="accent2"/>
            </a:solidFill>
            <a:round/>
            <a:headEnd/>
            <a:tailEnd/>
          </a:ln>
          <a:effectLst/>
        </p:spPr>
        <p:txBody>
          <a:bodyPr lIns="0" tIns="0" rIns="0" bIns="0" anchor="ctr" anchorCtr="1">
            <a:spAutoFit/>
          </a:bodyPr>
          <a:lstStyle/>
          <a:p>
            <a:pPr algn="l">
              <a:buFontTx/>
              <a:buNone/>
            </a:pPr>
            <a:r>
              <a:rPr lang="en-US" sz="800" b="1">
                <a:solidFill>
                  <a:schemeClr val="bg1"/>
                </a:solidFill>
              </a:rPr>
              <a:t>Develop Plan to create and fully populate all FEA-models (i.e., PRM, BRM, SRM, DRM and TRM) for the DOI and its sub-Bureaus. </a:t>
            </a:r>
          </a:p>
        </p:txBody>
      </p:sp>
      <p:sp>
        <p:nvSpPr>
          <p:cNvPr id="1367049" name="AutoShape 9"/>
          <p:cNvSpPr>
            <a:spLocks noChangeArrowheads="1"/>
          </p:cNvSpPr>
          <p:nvPr/>
        </p:nvSpPr>
        <p:spPr bwMode="auto">
          <a:xfrm>
            <a:off x="4359275" y="4130675"/>
            <a:ext cx="901700" cy="282575"/>
          </a:xfrm>
          <a:prstGeom prst="roundRect">
            <a:avLst>
              <a:gd name="adj" fmla="val 16667"/>
            </a:avLst>
          </a:prstGeom>
          <a:solidFill>
            <a:schemeClr val="accent1"/>
          </a:solidFill>
          <a:ln w="9525">
            <a:solidFill>
              <a:schemeClr val="tx1"/>
            </a:solidFill>
            <a:round/>
            <a:headEnd/>
            <a:tailEnd/>
          </a:ln>
          <a:effectLst/>
        </p:spPr>
        <p:txBody>
          <a:bodyPr lIns="0" tIns="0" rIns="0" bIns="0" anchor="ctr" anchorCtr="1">
            <a:spAutoFit/>
          </a:bodyPr>
          <a:lstStyle/>
          <a:p>
            <a:pPr algn="l">
              <a:buFontTx/>
              <a:buNone/>
            </a:pPr>
            <a:r>
              <a:rPr lang="en-US" sz="800" b="1">
                <a:solidFill>
                  <a:schemeClr val="bg1"/>
                </a:solidFill>
              </a:rPr>
              <a:t>Conduct Popkin SA Training</a:t>
            </a:r>
            <a:r>
              <a:rPr lang="en-US" sz="800"/>
              <a:t> </a:t>
            </a:r>
            <a:r>
              <a:rPr lang="en-US" sz="800" b="1"/>
              <a:t> </a:t>
            </a:r>
          </a:p>
        </p:txBody>
      </p:sp>
      <p:sp>
        <p:nvSpPr>
          <p:cNvPr id="1367050" name="AutoShape 10"/>
          <p:cNvSpPr>
            <a:spLocks noChangeArrowheads="1"/>
          </p:cNvSpPr>
          <p:nvPr/>
        </p:nvSpPr>
        <p:spPr bwMode="auto">
          <a:xfrm>
            <a:off x="5703888" y="4057650"/>
            <a:ext cx="1127125" cy="417513"/>
          </a:xfrm>
          <a:prstGeom prst="roundRect">
            <a:avLst>
              <a:gd name="adj" fmla="val 16667"/>
            </a:avLst>
          </a:prstGeom>
          <a:solidFill>
            <a:srgbClr val="33CC33"/>
          </a:solidFill>
          <a:ln w="9525">
            <a:solidFill>
              <a:schemeClr val="tx1"/>
            </a:solidFill>
            <a:round/>
            <a:headEnd/>
            <a:tailEnd/>
          </a:ln>
          <a:effectLst/>
        </p:spPr>
        <p:txBody>
          <a:bodyPr lIns="0" tIns="0" rIns="0" bIns="0" anchor="ctr" anchorCtr="1">
            <a:spAutoFit/>
          </a:bodyPr>
          <a:lstStyle/>
          <a:p>
            <a:pPr algn="l">
              <a:buFontTx/>
              <a:buNone/>
            </a:pPr>
            <a:r>
              <a:rPr lang="en-US" sz="800">
                <a:solidFill>
                  <a:schemeClr val="bg1"/>
                </a:solidFill>
              </a:rPr>
              <a:t>Fully maintain, update, administer and operate the D.E.A.R. </a:t>
            </a:r>
          </a:p>
        </p:txBody>
      </p:sp>
      <p:cxnSp>
        <p:nvCxnSpPr>
          <p:cNvPr id="1367051" name="AutoShape 11"/>
          <p:cNvCxnSpPr>
            <a:cxnSpLocks noChangeShapeType="1"/>
            <a:stCxn id="1367044" idx="3"/>
            <a:endCxn id="1367045" idx="1"/>
          </p:cNvCxnSpPr>
          <p:nvPr/>
        </p:nvCxnSpPr>
        <p:spPr bwMode="auto">
          <a:xfrm>
            <a:off x="4354513" y="1179513"/>
            <a:ext cx="652462" cy="0"/>
          </a:xfrm>
          <a:prstGeom prst="straightConnector1">
            <a:avLst/>
          </a:prstGeom>
          <a:noFill/>
          <a:ln w="9525">
            <a:solidFill>
              <a:schemeClr val="tx1"/>
            </a:solidFill>
            <a:round/>
            <a:headEnd/>
            <a:tailEnd type="triangle" w="med" len="med"/>
          </a:ln>
          <a:effectLst/>
        </p:spPr>
      </p:cxnSp>
      <p:cxnSp>
        <p:nvCxnSpPr>
          <p:cNvPr id="1367052" name="AutoShape 12"/>
          <p:cNvCxnSpPr>
            <a:cxnSpLocks noChangeShapeType="1"/>
            <a:stCxn id="1367048" idx="3"/>
            <a:endCxn id="1367049" idx="1"/>
          </p:cNvCxnSpPr>
          <p:nvPr/>
        </p:nvCxnSpPr>
        <p:spPr bwMode="auto">
          <a:xfrm>
            <a:off x="3960813" y="4268788"/>
            <a:ext cx="398462" cy="3175"/>
          </a:xfrm>
          <a:prstGeom prst="straightConnector1">
            <a:avLst/>
          </a:prstGeom>
          <a:noFill/>
          <a:ln w="9525">
            <a:solidFill>
              <a:schemeClr val="tx1"/>
            </a:solidFill>
            <a:round/>
            <a:headEnd/>
            <a:tailEnd type="triangle" w="med" len="med"/>
          </a:ln>
          <a:effectLst/>
        </p:spPr>
      </p:cxnSp>
      <p:cxnSp>
        <p:nvCxnSpPr>
          <p:cNvPr id="1367053" name="AutoShape 13"/>
          <p:cNvCxnSpPr>
            <a:cxnSpLocks noChangeShapeType="1"/>
            <a:stCxn id="1367049" idx="3"/>
            <a:endCxn id="1367050" idx="1"/>
          </p:cNvCxnSpPr>
          <p:nvPr/>
        </p:nvCxnSpPr>
        <p:spPr bwMode="auto">
          <a:xfrm flipV="1">
            <a:off x="5260975" y="4267200"/>
            <a:ext cx="442913" cy="4763"/>
          </a:xfrm>
          <a:prstGeom prst="straightConnector1">
            <a:avLst/>
          </a:prstGeom>
          <a:noFill/>
          <a:ln w="9525">
            <a:solidFill>
              <a:schemeClr val="tx1"/>
            </a:solidFill>
            <a:round/>
            <a:headEnd/>
            <a:tailEnd type="triangle" w="med" len="med"/>
          </a:ln>
          <a:effectLst/>
        </p:spPr>
      </p:cxnSp>
      <p:cxnSp>
        <p:nvCxnSpPr>
          <p:cNvPr id="1367054" name="AutoShape 14"/>
          <p:cNvCxnSpPr>
            <a:cxnSpLocks noChangeShapeType="1"/>
            <a:stCxn id="1367045" idx="3"/>
            <a:endCxn id="1367046" idx="1"/>
          </p:cNvCxnSpPr>
          <p:nvPr/>
        </p:nvCxnSpPr>
        <p:spPr bwMode="auto">
          <a:xfrm>
            <a:off x="6569075" y="1179513"/>
            <a:ext cx="563563" cy="0"/>
          </a:xfrm>
          <a:prstGeom prst="straightConnector1">
            <a:avLst/>
          </a:prstGeom>
          <a:noFill/>
          <a:ln w="9525">
            <a:solidFill>
              <a:schemeClr val="tx1"/>
            </a:solidFill>
            <a:round/>
            <a:headEnd/>
            <a:tailEnd type="triangle" w="med" len="med"/>
          </a:ln>
          <a:effectLst/>
        </p:spPr>
      </p:cxnSp>
      <p:sp>
        <p:nvSpPr>
          <p:cNvPr id="1367055" name="Text Box 15"/>
          <p:cNvSpPr txBox="1">
            <a:spLocks noChangeArrowheads="1"/>
          </p:cNvSpPr>
          <p:nvPr/>
        </p:nvSpPr>
        <p:spPr bwMode="auto">
          <a:xfrm>
            <a:off x="403225" y="4637088"/>
            <a:ext cx="1474788" cy="1344612"/>
          </a:xfrm>
          <a:prstGeom prst="rect">
            <a:avLst/>
          </a:prstGeom>
          <a:noFill/>
          <a:ln w="9525">
            <a:noFill/>
            <a:miter lim="800000"/>
            <a:headEnd/>
            <a:tailEnd/>
          </a:ln>
          <a:effectLst/>
        </p:spPr>
        <p:txBody>
          <a:bodyPr lIns="0" tIns="0" rIns="0" bIns="0">
            <a:spAutoFit/>
          </a:bodyPr>
          <a:lstStyle/>
          <a:p>
            <a:pPr indent="114300" algn="l">
              <a:buFontTx/>
              <a:buChar char="•"/>
            </a:pPr>
            <a:r>
              <a:rPr lang="en-US" sz="800"/>
              <a:t>Draft and Final DOI-wide Popkin SA systems architecture design</a:t>
            </a:r>
          </a:p>
          <a:p>
            <a:pPr indent="114300" algn="l">
              <a:buFontTx/>
              <a:buChar char="•"/>
            </a:pPr>
            <a:r>
              <a:rPr lang="en-US" sz="800"/>
              <a:t>Draft and Final Concept of Operations DEAR plan that includes SOP for:</a:t>
            </a:r>
          </a:p>
          <a:p>
            <a:pPr marL="228600" lvl="1" algn="l">
              <a:buFontTx/>
              <a:buChar char="•"/>
            </a:pPr>
            <a:r>
              <a:rPr lang="en-US" sz="800"/>
              <a:t>Security Management and Access Control</a:t>
            </a:r>
            <a:endParaRPr lang="en-US"/>
          </a:p>
          <a:p>
            <a:pPr marL="228600" lvl="1" algn="l">
              <a:buFontTx/>
              <a:buChar char="•"/>
            </a:pPr>
            <a:r>
              <a:rPr lang="en-US" sz="800"/>
              <a:t>Systems Administration</a:t>
            </a:r>
          </a:p>
          <a:p>
            <a:pPr marL="228600" lvl="1" algn="l">
              <a:buFontTx/>
              <a:buChar char="•"/>
            </a:pPr>
            <a:r>
              <a:rPr lang="en-US" sz="800"/>
              <a:t>Configuration Management</a:t>
            </a:r>
            <a:endParaRPr lang="en-US"/>
          </a:p>
        </p:txBody>
      </p:sp>
      <p:sp>
        <p:nvSpPr>
          <p:cNvPr id="1367056" name="Text Box 16"/>
          <p:cNvSpPr txBox="1">
            <a:spLocks noChangeArrowheads="1"/>
          </p:cNvSpPr>
          <p:nvPr/>
        </p:nvSpPr>
        <p:spPr bwMode="auto">
          <a:xfrm>
            <a:off x="2398713" y="4646613"/>
            <a:ext cx="1503362" cy="1466850"/>
          </a:xfrm>
          <a:prstGeom prst="rect">
            <a:avLst/>
          </a:prstGeom>
          <a:noFill/>
          <a:ln w="9525" algn="ctr">
            <a:noFill/>
            <a:miter lim="800000"/>
            <a:headEnd/>
            <a:tailEnd/>
          </a:ln>
          <a:effectLst/>
        </p:spPr>
        <p:txBody>
          <a:bodyPr lIns="0" tIns="0" rIns="0" bIns="0">
            <a:spAutoFit/>
          </a:bodyPr>
          <a:lstStyle/>
          <a:p>
            <a:pPr indent="114300" algn="l">
              <a:buFontTx/>
              <a:buChar char="•"/>
            </a:pPr>
            <a:r>
              <a:rPr lang="en-US" sz="800"/>
              <a:t>  Report enumerating existing enterprise architecture artifacts in existence  across Bureaus</a:t>
            </a:r>
          </a:p>
          <a:p>
            <a:pPr indent="114300" algn="l">
              <a:buFontTx/>
              <a:buChar char="•"/>
            </a:pPr>
            <a:r>
              <a:rPr lang="en-US" sz="800"/>
              <a:t>  Documentation of Bureau - specific PRM, BRM, TRM, SRM, and DRM Metamodels</a:t>
            </a:r>
          </a:p>
          <a:p>
            <a:pPr indent="114300" algn="l">
              <a:buFontTx/>
              <a:buChar char="•"/>
            </a:pPr>
            <a:r>
              <a:rPr lang="en-US" sz="800"/>
              <a:t>  Plan, schedule, cost estimates by bureau and Departmental office for developing and fully populating all FEA models, bureau and DOI office reports, queries, etc</a:t>
            </a:r>
          </a:p>
        </p:txBody>
      </p:sp>
      <p:sp>
        <p:nvSpPr>
          <p:cNvPr id="1367057" name="Text Box 17"/>
          <p:cNvSpPr txBox="1">
            <a:spLocks noChangeArrowheads="1"/>
          </p:cNvSpPr>
          <p:nvPr/>
        </p:nvSpPr>
        <p:spPr bwMode="auto">
          <a:xfrm>
            <a:off x="4225925" y="4646613"/>
            <a:ext cx="1217613" cy="611187"/>
          </a:xfrm>
          <a:prstGeom prst="rect">
            <a:avLst/>
          </a:prstGeom>
          <a:noFill/>
          <a:ln w="9525">
            <a:noFill/>
            <a:miter lim="800000"/>
            <a:headEnd/>
            <a:tailEnd/>
          </a:ln>
          <a:effectLst/>
        </p:spPr>
        <p:txBody>
          <a:bodyPr lIns="0" tIns="0" rIns="0" bIns="0">
            <a:spAutoFit/>
          </a:bodyPr>
          <a:lstStyle/>
          <a:p>
            <a:pPr indent="114300" algn="l">
              <a:buFontTx/>
              <a:buChar char="•"/>
            </a:pPr>
            <a:r>
              <a:rPr lang="en-US" sz="800"/>
              <a:t>  One-week customized Popkin training for up to 15 students</a:t>
            </a:r>
            <a:endParaRPr lang="en-US"/>
          </a:p>
          <a:p>
            <a:pPr indent="114300" algn="l">
              <a:buFontTx/>
              <a:buChar char="•"/>
            </a:pPr>
            <a:r>
              <a:rPr lang="en-US" sz="800"/>
              <a:t>  Accompanying training and reference material</a:t>
            </a:r>
          </a:p>
        </p:txBody>
      </p:sp>
      <p:sp>
        <p:nvSpPr>
          <p:cNvPr id="1367058" name="Text Box 18"/>
          <p:cNvSpPr txBox="1">
            <a:spLocks noChangeArrowheads="1"/>
          </p:cNvSpPr>
          <p:nvPr/>
        </p:nvSpPr>
        <p:spPr bwMode="auto">
          <a:xfrm>
            <a:off x="5688013" y="4627563"/>
            <a:ext cx="1303337" cy="733425"/>
          </a:xfrm>
          <a:prstGeom prst="rect">
            <a:avLst/>
          </a:prstGeom>
          <a:noFill/>
          <a:ln w="9525">
            <a:noFill/>
            <a:miter lim="800000"/>
            <a:headEnd/>
            <a:tailEnd/>
          </a:ln>
          <a:effectLst/>
        </p:spPr>
        <p:txBody>
          <a:bodyPr lIns="0" tIns="0" rIns="0" bIns="0">
            <a:spAutoFit/>
          </a:bodyPr>
          <a:lstStyle/>
          <a:p>
            <a:pPr indent="114300" algn="l">
              <a:buFontTx/>
              <a:buChar char="•"/>
            </a:pPr>
            <a:r>
              <a:rPr lang="en-US" sz="800"/>
              <a:t>  Operational reports as required or directed by the TM (e.g., usage, access control lists, etc.) </a:t>
            </a:r>
          </a:p>
          <a:p>
            <a:pPr indent="114300" algn="l">
              <a:buFontTx/>
              <a:buChar char="•"/>
            </a:pPr>
            <a:r>
              <a:rPr lang="en-US" sz="800"/>
              <a:t>  Updated, secure and operational D.E.A.R</a:t>
            </a:r>
            <a:endParaRPr lang="en-US"/>
          </a:p>
        </p:txBody>
      </p:sp>
      <p:cxnSp>
        <p:nvCxnSpPr>
          <p:cNvPr id="1367059" name="AutoShape 19"/>
          <p:cNvCxnSpPr>
            <a:cxnSpLocks noChangeShapeType="1"/>
            <a:stCxn id="1367091" idx="3"/>
            <a:endCxn id="1367044" idx="1"/>
          </p:cNvCxnSpPr>
          <p:nvPr/>
        </p:nvCxnSpPr>
        <p:spPr bwMode="auto">
          <a:xfrm flipV="1">
            <a:off x="1993900" y="1179513"/>
            <a:ext cx="722313" cy="200025"/>
          </a:xfrm>
          <a:prstGeom prst="bentConnector3">
            <a:avLst>
              <a:gd name="adj1" fmla="val 49889"/>
            </a:avLst>
          </a:prstGeom>
          <a:noFill/>
          <a:ln w="9525">
            <a:solidFill>
              <a:schemeClr val="tx1"/>
            </a:solidFill>
            <a:miter lim="800000"/>
            <a:headEnd/>
            <a:tailEnd type="triangle" w="med" len="med"/>
          </a:ln>
          <a:effectLst/>
        </p:spPr>
      </p:cxnSp>
      <p:cxnSp>
        <p:nvCxnSpPr>
          <p:cNvPr id="1367060" name="AutoShape 20"/>
          <p:cNvCxnSpPr>
            <a:cxnSpLocks noChangeShapeType="1"/>
            <a:stCxn id="1367092" idx="3"/>
            <a:endCxn id="1367044" idx="1"/>
          </p:cNvCxnSpPr>
          <p:nvPr/>
        </p:nvCxnSpPr>
        <p:spPr bwMode="auto">
          <a:xfrm>
            <a:off x="2043113" y="1017588"/>
            <a:ext cx="673100" cy="161925"/>
          </a:xfrm>
          <a:prstGeom prst="bentConnector3">
            <a:avLst>
              <a:gd name="adj1" fmla="val 50000"/>
            </a:avLst>
          </a:prstGeom>
          <a:noFill/>
          <a:ln w="9525">
            <a:solidFill>
              <a:schemeClr val="tx1"/>
            </a:solidFill>
            <a:miter lim="800000"/>
            <a:headEnd/>
            <a:tailEnd type="triangle" w="med" len="med"/>
          </a:ln>
          <a:effectLst/>
        </p:spPr>
      </p:cxnSp>
      <p:sp>
        <p:nvSpPr>
          <p:cNvPr id="1367061" name="Text Box 21"/>
          <p:cNvSpPr txBox="1">
            <a:spLocks noChangeArrowheads="1"/>
          </p:cNvSpPr>
          <p:nvPr/>
        </p:nvSpPr>
        <p:spPr bwMode="auto">
          <a:xfrm>
            <a:off x="641350" y="6238875"/>
            <a:ext cx="996950"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5/15/03 – 7/31/03</a:t>
            </a:r>
          </a:p>
        </p:txBody>
      </p:sp>
      <p:sp>
        <p:nvSpPr>
          <p:cNvPr id="1367062" name="Text Box 22"/>
          <p:cNvSpPr txBox="1">
            <a:spLocks noChangeArrowheads="1"/>
          </p:cNvSpPr>
          <p:nvPr/>
        </p:nvSpPr>
        <p:spPr bwMode="auto">
          <a:xfrm>
            <a:off x="2803525" y="6238875"/>
            <a:ext cx="996950"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8/1/03 – 10/31/03</a:t>
            </a:r>
          </a:p>
        </p:txBody>
      </p:sp>
      <p:sp>
        <p:nvSpPr>
          <p:cNvPr id="1367063" name="Text Box 23"/>
          <p:cNvSpPr txBox="1">
            <a:spLocks noChangeArrowheads="1"/>
          </p:cNvSpPr>
          <p:nvPr/>
        </p:nvSpPr>
        <p:spPr bwMode="auto">
          <a:xfrm>
            <a:off x="4368800" y="6238875"/>
            <a:ext cx="1038225"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7/1/03 – 10/31/03</a:t>
            </a:r>
          </a:p>
        </p:txBody>
      </p:sp>
      <p:sp>
        <p:nvSpPr>
          <p:cNvPr id="1367064" name="Text Box 24"/>
          <p:cNvSpPr txBox="1">
            <a:spLocks noChangeArrowheads="1"/>
          </p:cNvSpPr>
          <p:nvPr/>
        </p:nvSpPr>
        <p:spPr bwMode="auto">
          <a:xfrm>
            <a:off x="5835650" y="6238875"/>
            <a:ext cx="996950"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9/1/03 – 10/31/03</a:t>
            </a:r>
          </a:p>
        </p:txBody>
      </p:sp>
      <p:cxnSp>
        <p:nvCxnSpPr>
          <p:cNvPr id="1367065" name="AutoShape 25"/>
          <p:cNvCxnSpPr>
            <a:cxnSpLocks noChangeShapeType="1"/>
            <a:stCxn id="1367047" idx="3"/>
            <a:endCxn id="1367048" idx="1"/>
          </p:cNvCxnSpPr>
          <p:nvPr/>
        </p:nvCxnSpPr>
        <p:spPr bwMode="auto">
          <a:xfrm>
            <a:off x="1965325" y="4267200"/>
            <a:ext cx="363538" cy="1588"/>
          </a:xfrm>
          <a:prstGeom prst="straightConnector1">
            <a:avLst/>
          </a:prstGeom>
          <a:noFill/>
          <a:ln w="9525">
            <a:solidFill>
              <a:schemeClr val="tx1"/>
            </a:solidFill>
            <a:round/>
            <a:headEnd/>
            <a:tailEnd type="triangle" w="med" len="med"/>
          </a:ln>
          <a:effectLst/>
        </p:spPr>
      </p:cxnSp>
      <p:cxnSp>
        <p:nvCxnSpPr>
          <p:cNvPr id="1367066" name="AutoShape 26"/>
          <p:cNvCxnSpPr>
            <a:cxnSpLocks noChangeShapeType="1"/>
            <a:stCxn id="1367046" idx="3"/>
            <a:endCxn id="1367047" idx="1"/>
          </p:cNvCxnSpPr>
          <p:nvPr/>
        </p:nvCxnSpPr>
        <p:spPr bwMode="auto">
          <a:xfrm flipH="1">
            <a:off x="333375" y="1179513"/>
            <a:ext cx="8482013" cy="3087687"/>
          </a:xfrm>
          <a:prstGeom prst="bentConnector5">
            <a:avLst>
              <a:gd name="adj1" fmla="val -2694"/>
              <a:gd name="adj2" fmla="val 48894"/>
              <a:gd name="adj3" fmla="val 102694"/>
            </a:avLst>
          </a:prstGeom>
          <a:noFill/>
          <a:ln w="9525">
            <a:solidFill>
              <a:schemeClr val="tx1"/>
            </a:solidFill>
            <a:miter lim="800000"/>
            <a:headEnd/>
            <a:tailEnd type="triangle" w="med" len="med"/>
          </a:ln>
          <a:effectLst/>
        </p:spPr>
      </p:cxnSp>
      <p:cxnSp>
        <p:nvCxnSpPr>
          <p:cNvPr id="1367067" name="AutoShape 27"/>
          <p:cNvCxnSpPr>
            <a:cxnSpLocks noChangeShapeType="1"/>
            <a:stCxn id="1367055" idx="2"/>
            <a:endCxn id="1367061" idx="0"/>
          </p:cNvCxnSpPr>
          <p:nvPr/>
        </p:nvCxnSpPr>
        <p:spPr bwMode="auto">
          <a:xfrm flipH="1">
            <a:off x="1139825" y="5981700"/>
            <a:ext cx="1588" cy="257175"/>
          </a:xfrm>
          <a:prstGeom prst="straightConnector1">
            <a:avLst/>
          </a:prstGeom>
          <a:noFill/>
          <a:ln w="9525">
            <a:solidFill>
              <a:schemeClr val="tx1"/>
            </a:solidFill>
            <a:round/>
            <a:headEnd/>
            <a:tailEnd/>
          </a:ln>
          <a:effectLst/>
        </p:spPr>
      </p:cxnSp>
      <p:cxnSp>
        <p:nvCxnSpPr>
          <p:cNvPr id="1367068" name="AutoShape 28"/>
          <p:cNvCxnSpPr>
            <a:cxnSpLocks noChangeShapeType="1"/>
            <a:stCxn id="1367056" idx="2"/>
          </p:cNvCxnSpPr>
          <p:nvPr/>
        </p:nvCxnSpPr>
        <p:spPr bwMode="auto">
          <a:xfrm>
            <a:off x="3151188" y="6113463"/>
            <a:ext cx="1587" cy="115887"/>
          </a:xfrm>
          <a:prstGeom prst="straightConnector1">
            <a:avLst/>
          </a:prstGeom>
          <a:noFill/>
          <a:ln w="9525">
            <a:solidFill>
              <a:schemeClr val="tx1"/>
            </a:solidFill>
            <a:round/>
            <a:headEnd/>
            <a:tailEnd/>
          </a:ln>
          <a:effectLst/>
        </p:spPr>
      </p:cxnSp>
      <p:cxnSp>
        <p:nvCxnSpPr>
          <p:cNvPr id="1367069" name="AutoShape 29"/>
          <p:cNvCxnSpPr>
            <a:cxnSpLocks noChangeShapeType="1"/>
            <a:endCxn id="1367063" idx="0"/>
          </p:cNvCxnSpPr>
          <p:nvPr/>
        </p:nvCxnSpPr>
        <p:spPr bwMode="auto">
          <a:xfrm flipH="1">
            <a:off x="4887913" y="5307013"/>
            <a:ext cx="1587" cy="931862"/>
          </a:xfrm>
          <a:prstGeom prst="straightConnector1">
            <a:avLst/>
          </a:prstGeom>
          <a:noFill/>
          <a:ln w="9525">
            <a:solidFill>
              <a:schemeClr val="tx1"/>
            </a:solidFill>
            <a:round/>
            <a:headEnd/>
            <a:tailEnd/>
          </a:ln>
          <a:effectLst/>
        </p:spPr>
      </p:cxnSp>
      <p:cxnSp>
        <p:nvCxnSpPr>
          <p:cNvPr id="1367070" name="AutoShape 30"/>
          <p:cNvCxnSpPr>
            <a:cxnSpLocks noChangeShapeType="1"/>
            <a:stCxn id="1367058" idx="2"/>
            <a:endCxn id="1367064" idx="0"/>
          </p:cNvCxnSpPr>
          <p:nvPr/>
        </p:nvCxnSpPr>
        <p:spPr bwMode="auto">
          <a:xfrm flipH="1">
            <a:off x="6334125" y="5360988"/>
            <a:ext cx="6350" cy="877887"/>
          </a:xfrm>
          <a:prstGeom prst="straightConnector1">
            <a:avLst/>
          </a:prstGeom>
          <a:noFill/>
          <a:ln w="9525">
            <a:solidFill>
              <a:schemeClr val="tx1"/>
            </a:solidFill>
            <a:round/>
            <a:headEnd/>
            <a:tailEnd/>
          </a:ln>
          <a:effectLst/>
        </p:spPr>
      </p:cxnSp>
      <p:sp>
        <p:nvSpPr>
          <p:cNvPr id="1367071" name="Line 31"/>
          <p:cNvSpPr>
            <a:spLocks noChangeShapeType="1"/>
          </p:cNvSpPr>
          <p:nvPr/>
        </p:nvSpPr>
        <p:spPr bwMode="auto">
          <a:xfrm>
            <a:off x="2368550" y="1179513"/>
            <a:ext cx="354013" cy="341312"/>
          </a:xfrm>
          <a:prstGeom prst="line">
            <a:avLst/>
          </a:prstGeom>
          <a:noFill/>
          <a:ln w="6350">
            <a:solidFill>
              <a:schemeClr val="tx1"/>
            </a:solidFill>
            <a:miter lim="800000"/>
            <a:headEnd/>
            <a:tailEnd type="triangle" w="med" len="med"/>
          </a:ln>
          <a:effectLst/>
        </p:spPr>
        <p:txBody>
          <a:bodyPr anchor="ctr"/>
          <a:lstStyle/>
          <a:p>
            <a:endParaRPr lang="en-US"/>
          </a:p>
        </p:txBody>
      </p:sp>
      <p:sp>
        <p:nvSpPr>
          <p:cNvPr id="1367072" name="AutoShape 32"/>
          <p:cNvSpPr>
            <a:spLocks noChangeArrowheads="1"/>
          </p:cNvSpPr>
          <p:nvPr/>
        </p:nvSpPr>
        <p:spPr bwMode="auto">
          <a:xfrm>
            <a:off x="7170738" y="3862388"/>
            <a:ext cx="1774825" cy="1230312"/>
          </a:xfrm>
          <a:prstGeom prst="roundRect">
            <a:avLst>
              <a:gd name="adj" fmla="val 16667"/>
            </a:avLst>
          </a:prstGeom>
          <a:solidFill>
            <a:srgbClr val="FFFF66"/>
          </a:solidFill>
          <a:ln w="9525">
            <a:solidFill>
              <a:schemeClr val="tx1"/>
            </a:solidFill>
            <a:round/>
            <a:headEnd/>
            <a:tailEnd/>
          </a:ln>
          <a:effectLst/>
        </p:spPr>
        <p:txBody>
          <a:bodyPr lIns="0" tIns="0" rIns="0" bIns="0" anchor="ctr" anchorCtr="1">
            <a:spAutoFit/>
          </a:bodyPr>
          <a:lstStyle/>
          <a:p>
            <a:pPr marL="342900" indent="-342900"/>
            <a:r>
              <a:rPr lang="en-US" sz="800" b="1"/>
              <a:t>Develop complete “As-Is” Business Architecture for the following business areas:</a:t>
            </a:r>
            <a:endParaRPr lang="en-US" sz="800"/>
          </a:p>
          <a:p>
            <a:pPr marL="342900" indent="-342900"/>
            <a:r>
              <a:rPr lang="en-US" sz="800"/>
              <a:t>Fire Management</a:t>
            </a:r>
          </a:p>
          <a:p>
            <a:pPr marL="342900" indent="-342900"/>
            <a:r>
              <a:rPr lang="en-US" sz="800"/>
              <a:t>Law Enforcement</a:t>
            </a:r>
          </a:p>
          <a:p>
            <a:pPr marL="342900" indent="-342900"/>
            <a:r>
              <a:rPr lang="en-US" sz="800"/>
              <a:t>Indian Trust </a:t>
            </a:r>
          </a:p>
          <a:p>
            <a:pPr marL="342900" indent="-342900"/>
            <a:r>
              <a:rPr lang="en-US" sz="800"/>
              <a:t>Financial Management</a:t>
            </a:r>
          </a:p>
          <a:p>
            <a:pPr marL="342900" indent="-342900"/>
            <a:r>
              <a:rPr lang="en-US" sz="800"/>
              <a:t>Recreation</a:t>
            </a:r>
          </a:p>
        </p:txBody>
      </p:sp>
      <p:sp>
        <p:nvSpPr>
          <p:cNvPr id="1367073" name="Text Box 33"/>
          <p:cNvSpPr txBox="1">
            <a:spLocks noChangeArrowheads="1"/>
          </p:cNvSpPr>
          <p:nvPr/>
        </p:nvSpPr>
        <p:spPr bwMode="auto">
          <a:xfrm>
            <a:off x="7421563" y="5141913"/>
            <a:ext cx="1579562" cy="977900"/>
          </a:xfrm>
          <a:prstGeom prst="rect">
            <a:avLst/>
          </a:prstGeom>
          <a:noFill/>
          <a:ln w="9525">
            <a:noFill/>
            <a:miter lim="800000"/>
            <a:headEnd/>
            <a:tailEnd/>
          </a:ln>
          <a:effectLst/>
        </p:spPr>
        <p:txBody>
          <a:bodyPr lIns="0" tIns="0" rIns="0" bIns="0">
            <a:spAutoFit/>
          </a:bodyPr>
          <a:lstStyle/>
          <a:p>
            <a:pPr indent="114300" algn="l">
              <a:buFontTx/>
              <a:buChar char="•"/>
            </a:pPr>
            <a:r>
              <a:rPr lang="en-US" sz="800"/>
              <a:t>  Draft and final business architecture for each of the five business areas and its relation to the overall DOI business architecture in hard copy report format and electronic version of populated Popkin S.A. encyclopedia. </a:t>
            </a:r>
          </a:p>
        </p:txBody>
      </p:sp>
      <p:sp>
        <p:nvSpPr>
          <p:cNvPr id="1367074" name="Text Box 34"/>
          <p:cNvSpPr txBox="1">
            <a:spLocks noChangeArrowheads="1"/>
          </p:cNvSpPr>
          <p:nvPr/>
        </p:nvSpPr>
        <p:spPr bwMode="auto">
          <a:xfrm>
            <a:off x="7715250" y="6223000"/>
            <a:ext cx="996950"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5/1/03 – 10/31/03</a:t>
            </a:r>
          </a:p>
        </p:txBody>
      </p:sp>
      <p:cxnSp>
        <p:nvCxnSpPr>
          <p:cNvPr id="1367075" name="AutoShape 35"/>
          <p:cNvCxnSpPr>
            <a:cxnSpLocks noChangeShapeType="1"/>
            <a:stCxn id="1367073" idx="2"/>
            <a:endCxn id="1367074" idx="0"/>
          </p:cNvCxnSpPr>
          <p:nvPr/>
        </p:nvCxnSpPr>
        <p:spPr bwMode="auto">
          <a:xfrm>
            <a:off x="8212138" y="6119813"/>
            <a:ext cx="1587" cy="103187"/>
          </a:xfrm>
          <a:prstGeom prst="straightConnector1">
            <a:avLst/>
          </a:prstGeom>
          <a:noFill/>
          <a:ln w="9525">
            <a:solidFill>
              <a:schemeClr val="tx1"/>
            </a:solidFill>
            <a:round/>
            <a:headEnd/>
            <a:tailEnd/>
          </a:ln>
          <a:effectLst/>
        </p:spPr>
      </p:cxnSp>
      <p:sp>
        <p:nvSpPr>
          <p:cNvPr id="1367076" name="Line 36"/>
          <p:cNvSpPr>
            <a:spLocks noChangeShapeType="1"/>
          </p:cNvSpPr>
          <p:nvPr/>
        </p:nvSpPr>
        <p:spPr bwMode="auto">
          <a:xfrm>
            <a:off x="6845300" y="4264025"/>
            <a:ext cx="298450" cy="0"/>
          </a:xfrm>
          <a:prstGeom prst="line">
            <a:avLst/>
          </a:prstGeom>
          <a:noFill/>
          <a:ln w="9525">
            <a:solidFill>
              <a:schemeClr val="tx1"/>
            </a:solidFill>
            <a:miter lim="800000"/>
            <a:headEnd/>
            <a:tailEnd type="triangle" w="med" len="med"/>
          </a:ln>
          <a:effectLst/>
        </p:spPr>
        <p:txBody>
          <a:bodyPr anchor="ctr"/>
          <a:lstStyle/>
          <a:p>
            <a:endParaRPr lang="en-US"/>
          </a:p>
        </p:txBody>
      </p:sp>
      <p:sp>
        <p:nvSpPr>
          <p:cNvPr id="1367077" name="Text Box 37"/>
          <p:cNvSpPr txBox="1">
            <a:spLocks noChangeArrowheads="1"/>
          </p:cNvSpPr>
          <p:nvPr/>
        </p:nvSpPr>
        <p:spPr bwMode="auto">
          <a:xfrm>
            <a:off x="517525" y="3409950"/>
            <a:ext cx="949325"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5/1/03 – 5/30/03</a:t>
            </a:r>
          </a:p>
        </p:txBody>
      </p:sp>
      <p:sp>
        <p:nvSpPr>
          <p:cNvPr id="1367078" name="Text Box 38"/>
          <p:cNvSpPr txBox="1">
            <a:spLocks noChangeArrowheads="1"/>
          </p:cNvSpPr>
          <p:nvPr/>
        </p:nvSpPr>
        <p:spPr bwMode="auto">
          <a:xfrm>
            <a:off x="3036888" y="3333750"/>
            <a:ext cx="996950"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5/15/03 – 6/31/03</a:t>
            </a:r>
          </a:p>
        </p:txBody>
      </p:sp>
      <p:sp>
        <p:nvSpPr>
          <p:cNvPr id="1367079" name="Text Box 39"/>
          <p:cNvSpPr txBox="1">
            <a:spLocks noChangeArrowheads="1"/>
          </p:cNvSpPr>
          <p:nvPr/>
        </p:nvSpPr>
        <p:spPr bwMode="auto">
          <a:xfrm>
            <a:off x="5254625" y="3505200"/>
            <a:ext cx="996950"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7/1/03 – 8/31/03</a:t>
            </a:r>
          </a:p>
        </p:txBody>
      </p:sp>
      <p:sp>
        <p:nvSpPr>
          <p:cNvPr id="1367080" name="Text Box 40"/>
          <p:cNvSpPr txBox="1">
            <a:spLocks noChangeArrowheads="1"/>
          </p:cNvSpPr>
          <p:nvPr/>
        </p:nvSpPr>
        <p:spPr bwMode="auto">
          <a:xfrm>
            <a:off x="7427913" y="3486150"/>
            <a:ext cx="1101725" cy="152400"/>
          </a:xfrm>
          <a:prstGeom prst="rect">
            <a:avLst/>
          </a:prstGeom>
          <a:noFill/>
          <a:ln w="9525">
            <a:noFill/>
            <a:miter lim="800000"/>
            <a:headEnd/>
            <a:tailEnd/>
          </a:ln>
          <a:effectLst/>
        </p:spPr>
        <p:txBody>
          <a:bodyPr lIns="0" tIns="0" rIns="0" bIns="0" anchor="ctr" anchorCtr="1">
            <a:spAutoFit/>
          </a:bodyPr>
          <a:lstStyle/>
          <a:p>
            <a:pPr algn="l">
              <a:buFontTx/>
              <a:buNone/>
            </a:pPr>
            <a:r>
              <a:rPr lang="en-US" sz="1000"/>
              <a:t>6/01/03 – 10/31/03</a:t>
            </a:r>
          </a:p>
        </p:txBody>
      </p:sp>
      <p:cxnSp>
        <p:nvCxnSpPr>
          <p:cNvPr id="1367081" name="AutoShape 41"/>
          <p:cNvCxnSpPr>
            <a:cxnSpLocks noChangeShapeType="1"/>
            <a:endCxn id="1367077" idx="0"/>
          </p:cNvCxnSpPr>
          <p:nvPr/>
        </p:nvCxnSpPr>
        <p:spPr bwMode="auto">
          <a:xfrm>
            <a:off x="992188" y="3135313"/>
            <a:ext cx="0" cy="274637"/>
          </a:xfrm>
          <a:prstGeom prst="straightConnector1">
            <a:avLst/>
          </a:prstGeom>
          <a:noFill/>
          <a:ln w="9525">
            <a:solidFill>
              <a:schemeClr val="tx1"/>
            </a:solidFill>
            <a:round/>
            <a:headEnd/>
            <a:tailEnd/>
          </a:ln>
          <a:effectLst/>
        </p:spPr>
      </p:cxnSp>
      <p:cxnSp>
        <p:nvCxnSpPr>
          <p:cNvPr id="1367082" name="AutoShape 42"/>
          <p:cNvCxnSpPr>
            <a:cxnSpLocks noChangeShapeType="1"/>
            <a:stCxn id="1367087" idx="2"/>
            <a:endCxn id="1367078" idx="0"/>
          </p:cNvCxnSpPr>
          <p:nvPr/>
        </p:nvCxnSpPr>
        <p:spPr bwMode="auto">
          <a:xfrm flipH="1">
            <a:off x="3535363" y="3013075"/>
            <a:ext cx="1587" cy="320675"/>
          </a:xfrm>
          <a:prstGeom prst="straightConnector1">
            <a:avLst/>
          </a:prstGeom>
          <a:noFill/>
          <a:ln w="9525">
            <a:solidFill>
              <a:schemeClr val="tx1"/>
            </a:solidFill>
            <a:round/>
            <a:headEnd/>
            <a:tailEnd/>
          </a:ln>
          <a:effectLst/>
        </p:spPr>
      </p:cxnSp>
      <p:cxnSp>
        <p:nvCxnSpPr>
          <p:cNvPr id="1367083" name="AutoShape 43"/>
          <p:cNvCxnSpPr>
            <a:cxnSpLocks noChangeShapeType="1"/>
            <a:stCxn id="1367088" idx="2"/>
            <a:endCxn id="1367079" idx="0"/>
          </p:cNvCxnSpPr>
          <p:nvPr/>
        </p:nvCxnSpPr>
        <p:spPr bwMode="auto">
          <a:xfrm>
            <a:off x="5753100" y="3352800"/>
            <a:ext cx="0" cy="152400"/>
          </a:xfrm>
          <a:prstGeom prst="straightConnector1">
            <a:avLst/>
          </a:prstGeom>
          <a:noFill/>
          <a:ln w="9525">
            <a:solidFill>
              <a:schemeClr val="tx1"/>
            </a:solidFill>
            <a:round/>
            <a:headEnd/>
            <a:tailEnd/>
          </a:ln>
          <a:effectLst/>
        </p:spPr>
      </p:cxnSp>
      <p:sp>
        <p:nvSpPr>
          <p:cNvPr id="1367084" name="Rectangle 44"/>
          <p:cNvSpPr>
            <a:spLocks noChangeArrowheads="1"/>
          </p:cNvSpPr>
          <p:nvPr/>
        </p:nvSpPr>
        <p:spPr bwMode="auto">
          <a:xfrm>
            <a:off x="428625" y="1476375"/>
            <a:ext cx="8277225" cy="88900"/>
          </a:xfrm>
          <a:prstGeom prst="rect">
            <a:avLst/>
          </a:prstGeom>
          <a:solidFill>
            <a:schemeClr val="bg1"/>
          </a:solidFill>
          <a:ln w="6350">
            <a:noFill/>
            <a:miter lim="800000"/>
            <a:headEnd/>
            <a:tailEnd/>
          </a:ln>
          <a:effectLst/>
        </p:spPr>
        <p:txBody>
          <a:bodyPr wrap="none" anchor="ctr"/>
          <a:lstStyle/>
          <a:p>
            <a:endParaRPr lang="en-US"/>
          </a:p>
        </p:txBody>
      </p:sp>
      <p:cxnSp>
        <p:nvCxnSpPr>
          <p:cNvPr id="1367085" name="AutoShape 45"/>
          <p:cNvCxnSpPr>
            <a:cxnSpLocks noChangeShapeType="1"/>
            <a:stCxn id="1367089" idx="2"/>
            <a:endCxn id="1367080" idx="0"/>
          </p:cNvCxnSpPr>
          <p:nvPr/>
        </p:nvCxnSpPr>
        <p:spPr bwMode="auto">
          <a:xfrm>
            <a:off x="7974013" y="3257550"/>
            <a:ext cx="4762" cy="228600"/>
          </a:xfrm>
          <a:prstGeom prst="straightConnector1">
            <a:avLst/>
          </a:prstGeom>
          <a:noFill/>
          <a:ln w="9525">
            <a:solidFill>
              <a:schemeClr val="tx1"/>
            </a:solidFill>
            <a:round/>
            <a:headEnd/>
            <a:tailEnd/>
          </a:ln>
          <a:effectLst/>
        </p:spPr>
      </p:cxnSp>
      <p:sp>
        <p:nvSpPr>
          <p:cNvPr id="1367086" name="Text Box 46"/>
          <p:cNvSpPr txBox="1">
            <a:spLocks noChangeArrowheads="1"/>
          </p:cNvSpPr>
          <p:nvPr/>
        </p:nvSpPr>
        <p:spPr bwMode="auto">
          <a:xfrm>
            <a:off x="412750" y="1668463"/>
            <a:ext cx="1503363" cy="1466850"/>
          </a:xfrm>
          <a:prstGeom prst="rect">
            <a:avLst/>
          </a:prstGeom>
          <a:solidFill>
            <a:schemeClr val="bg1"/>
          </a:solidFill>
          <a:ln w="9525">
            <a:noFill/>
            <a:miter lim="800000"/>
            <a:headEnd/>
            <a:tailEnd/>
          </a:ln>
          <a:effectLst/>
        </p:spPr>
        <p:txBody>
          <a:bodyPr lIns="0" tIns="0" rIns="0" bIns="0">
            <a:spAutoFit/>
          </a:bodyPr>
          <a:lstStyle/>
          <a:p>
            <a:pPr indent="114300" algn="l">
              <a:buFontTx/>
              <a:buChar char="•"/>
            </a:pPr>
            <a:r>
              <a:rPr lang="en-US" sz="800"/>
              <a:t>Create critical path, resource loaded project plan</a:t>
            </a:r>
          </a:p>
          <a:p>
            <a:pPr indent="114300" algn="l">
              <a:buFontTx/>
              <a:buChar char="•"/>
            </a:pPr>
            <a:r>
              <a:rPr lang="en-US" sz="800"/>
              <a:t>Maintain and update the project plan</a:t>
            </a:r>
          </a:p>
          <a:p>
            <a:pPr indent="114300" algn="l">
              <a:buFontTx/>
              <a:buChar char="•"/>
            </a:pPr>
            <a:r>
              <a:rPr lang="en-US" sz="800"/>
              <a:t>Monthly Status Reports</a:t>
            </a:r>
          </a:p>
          <a:p>
            <a:pPr indent="114300" algn="l">
              <a:buFontTx/>
              <a:buChar char="•"/>
            </a:pPr>
            <a:r>
              <a:rPr lang="en-US" sz="800"/>
              <a:t>Draft and Final Communications Plan</a:t>
            </a:r>
          </a:p>
          <a:p>
            <a:pPr indent="114300" algn="l">
              <a:buFontTx/>
              <a:buChar char="•"/>
            </a:pPr>
            <a:r>
              <a:rPr lang="en-US" sz="800"/>
              <a:t>Bi-Monthly Printed Newsletters</a:t>
            </a:r>
          </a:p>
          <a:p>
            <a:pPr indent="114300" algn="l">
              <a:buFontTx/>
              <a:buChar char="•"/>
            </a:pPr>
            <a:r>
              <a:rPr lang="en-US" sz="800"/>
              <a:t>Bi-Weekly Electronic Bulletins</a:t>
            </a:r>
          </a:p>
          <a:p>
            <a:pPr indent="114300" algn="l">
              <a:buFontTx/>
              <a:buChar char="•"/>
            </a:pPr>
            <a:r>
              <a:rPr lang="en-US" sz="800"/>
              <a:t>DOI Business Architecture Intranet/Internet Websites</a:t>
            </a:r>
            <a:endParaRPr lang="en-US"/>
          </a:p>
        </p:txBody>
      </p:sp>
      <p:sp>
        <p:nvSpPr>
          <p:cNvPr id="1367087" name="Text Box 47"/>
          <p:cNvSpPr txBox="1">
            <a:spLocks noChangeArrowheads="1"/>
          </p:cNvSpPr>
          <p:nvPr/>
        </p:nvSpPr>
        <p:spPr bwMode="auto">
          <a:xfrm>
            <a:off x="2808288" y="1668463"/>
            <a:ext cx="1455737" cy="1344612"/>
          </a:xfrm>
          <a:prstGeom prst="rect">
            <a:avLst/>
          </a:prstGeom>
          <a:solidFill>
            <a:schemeClr val="bg1"/>
          </a:solidFill>
          <a:ln w="9525">
            <a:noFill/>
            <a:miter lim="800000"/>
            <a:headEnd/>
            <a:tailEnd/>
          </a:ln>
          <a:effectLst/>
        </p:spPr>
        <p:txBody>
          <a:bodyPr lIns="0" tIns="0" rIns="0" bIns="0">
            <a:spAutoFit/>
          </a:bodyPr>
          <a:lstStyle/>
          <a:p>
            <a:pPr indent="114300" algn="l">
              <a:buFontTx/>
              <a:buChar char="•"/>
            </a:pPr>
            <a:r>
              <a:rPr lang="en-US" sz="800"/>
              <a:t>Draft and Final DOI PRM Meta-model defined within Popkin SA tool including  Entity Relationship Diagram (ERD) </a:t>
            </a:r>
          </a:p>
          <a:p>
            <a:pPr indent="114300" algn="l">
              <a:buFontTx/>
              <a:buChar char="•"/>
            </a:pPr>
            <a:r>
              <a:rPr lang="en-US" sz="800"/>
              <a:t>Draft and Final DOI PRM including Mapping of DOI Strategic Plan </a:t>
            </a:r>
          </a:p>
          <a:p>
            <a:pPr indent="114300" algn="l">
              <a:buFontTx/>
              <a:buChar char="•"/>
            </a:pPr>
            <a:r>
              <a:rPr lang="en-US" sz="800"/>
              <a:t>Macros, scripts, and tailoring of Popkin SA to enable PRM HTML and Word/Excel report generation from Popkin SA tool</a:t>
            </a:r>
          </a:p>
        </p:txBody>
      </p:sp>
      <p:sp>
        <p:nvSpPr>
          <p:cNvPr id="1367088" name="Text Box 48"/>
          <p:cNvSpPr txBox="1">
            <a:spLocks noChangeArrowheads="1"/>
          </p:cNvSpPr>
          <p:nvPr/>
        </p:nvSpPr>
        <p:spPr bwMode="auto">
          <a:xfrm>
            <a:off x="5014913" y="1641475"/>
            <a:ext cx="1474787" cy="1711325"/>
          </a:xfrm>
          <a:prstGeom prst="rect">
            <a:avLst/>
          </a:prstGeom>
          <a:solidFill>
            <a:schemeClr val="bg1"/>
          </a:solidFill>
          <a:ln w="9525">
            <a:noFill/>
            <a:miter lim="800000"/>
            <a:headEnd/>
            <a:tailEnd/>
          </a:ln>
          <a:effectLst/>
        </p:spPr>
        <p:txBody>
          <a:bodyPr lIns="0" tIns="0" rIns="0" bIns="0">
            <a:spAutoFit/>
          </a:bodyPr>
          <a:lstStyle/>
          <a:p>
            <a:pPr indent="114300" algn="l">
              <a:buFontTx/>
              <a:buChar char="•"/>
            </a:pPr>
            <a:r>
              <a:rPr lang="en-US" sz="800"/>
              <a:t>Create and define a DOI BRM consistent with FEA BRM and map the DOI BRM to the DOI PRM</a:t>
            </a:r>
          </a:p>
          <a:p>
            <a:pPr indent="114300" algn="l">
              <a:buFontTx/>
              <a:buChar char="•"/>
            </a:pPr>
            <a:r>
              <a:rPr lang="en-US" sz="800"/>
              <a:t>Create the DOI BRM in the Popkin SA tool</a:t>
            </a:r>
            <a:endParaRPr lang="en-US"/>
          </a:p>
          <a:p>
            <a:pPr indent="114300" algn="l">
              <a:buFontTx/>
              <a:buChar char="•"/>
            </a:pPr>
            <a:r>
              <a:rPr lang="en-US" sz="800"/>
              <a:t>Define and validate DOI BRM functions, activities, and principle tasks with DOI and Bureau-level stakeholders </a:t>
            </a:r>
          </a:p>
          <a:p>
            <a:pPr indent="114300" algn="l">
              <a:buFontTx/>
              <a:buChar char="•"/>
            </a:pPr>
            <a:r>
              <a:rPr lang="en-US" sz="800"/>
              <a:t>Macros, scripts, and tailoring of Popkin SA to enable PRM HTML and Word/Excel report generation from Popkin SA tool</a:t>
            </a:r>
          </a:p>
        </p:txBody>
      </p:sp>
      <p:sp>
        <p:nvSpPr>
          <p:cNvPr id="1367089" name="Text Box 49"/>
          <p:cNvSpPr txBox="1">
            <a:spLocks noChangeArrowheads="1"/>
          </p:cNvSpPr>
          <p:nvPr/>
        </p:nvSpPr>
        <p:spPr bwMode="auto">
          <a:xfrm>
            <a:off x="7278688" y="1668463"/>
            <a:ext cx="1389062" cy="1589087"/>
          </a:xfrm>
          <a:prstGeom prst="rect">
            <a:avLst/>
          </a:prstGeom>
          <a:solidFill>
            <a:schemeClr val="bg1"/>
          </a:solidFill>
          <a:ln w="9525">
            <a:noFill/>
            <a:miter lim="800000"/>
            <a:headEnd/>
            <a:tailEnd/>
          </a:ln>
          <a:effectLst/>
        </p:spPr>
        <p:txBody>
          <a:bodyPr lIns="0" tIns="0" rIns="0" bIns="0">
            <a:spAutoFit/>
          </a:bodyPr>
          <a:lstStyle/>
          <a:p>
            <a:pPr indent="114300" algn="l">
              <a:buFontTx/>
              <a:buChar char="•"/>
            </a:pPr>
            <a:r>
              <a:rPr lang="en-US" sz="800"/>
              <a:t>Draft and Final DOI Baseline Applications Architecture Meta-model in Popkin SA</a:t>
            </a:r>
            <a:endParaRPr lang="en-US"/>
          </a:p>
          <a:p>
            <a:pPr indent="114300" algn="l">
              <a:buFontTx/>
              <a:buChar char="•"/>
            </a:pPr>
            <a:r>
              <a:rPr lang="en-US" sz="800"/>
              <a:t>Baseline application system shall be mapped to the DOI BRM &amp; PRM</a:t>
            </a:r>
            <a:endParaRPr lang="en-US"/>
          </a:p>
          <a:p>
            <a:pPr indent="114300" algn="l">
              <a:buFontTx/>
              <a:buChar char="•"/>
            </a:pPr>
            <a:r>
              <a:rPr lang="en-US" sz="800"/>
              <a:t>Macros, scripts, and tailoring of Popkin SA to enable Baseline Applications Architecture HTML and Word report generation from Popkin SA tool</a:t>
            </a:r>
          </a:p>
        </p:txBody>
      </p:sp>
      <p:grpSp>
        <p:nvGrpSpPr>
          <p:cNvPr id="1367090" name="Group 50"/>
          <p:cNvGrpSpPr>
            <a:grpSpLocks/>
          </p:cNvGrpSpPr>
          <p:nvPr/>
        </p:nvGrpSpPr>
        <p:grpSpPr bwMode="auto">
          <a:xfrm>
            <a:off x="284163" y="876300"/>
            <a:ext cx="1758950" cy="644525"/>
            <a:chOff x="89" y="450"/>
            <a:chExt cx="1108" cy="406"/>
          </a:xfrm>
        </p:grpSpPr>
        <p:sp>
          <p:nvSpPr>
            <p:cNvPr id="1367091" name="AutoShape 51"/>
            <p:cNvSpPr>
              <a:spLocks noChangeArrowheads="1"/>
            </p:cNvSpPr>
            <p:nvPr/>
          </p:nvSpPr>
          <p:spPr bwMode="auto">
            <a:xfrm>
              <a:off x="120" y="678"/>
              <a:ext cx="1046" cy="178"/>
            </a:xfrm>
            <a:prstGeom prst="roundRect">
              <a:avLst>
                <a:gd name="adj" fmla="val 16667"/>
              </a:avLst>
            </a:prstGeom>
            <a:solidFill>
              <a:srgbClr val="FFFF66"/>
            </a:solidFill>
            <a:ln w="9525">
              <a:solidFill>
                <a:schemeClr val="tx1"/>
              </a:solidFill>
              <a:round/>
              <a:headEnd/>
              <a:tailEnd/>
            </a:ln>
            <a:effectLst/>
          </p:spPr>
          <p:txBody>
            <a:bodyPr lIns="0" tIns="0" rIns="0" bIns="0" anchor="ctr" anchorCtr="1">
              <a:spAutoFit/>
            </a:bodyPr>
            <a:lstStyle/>
            <a:p>
              <a:pPr algn="l">
                <a:buFontTx/>
                <a:buNone/>
              </a:pPr>
              <a:r>
                <a:rPr lang="en-US" sz="800" b="1"/>
                <a:t>Communications and Operations Support</a:t>
              </a:r>
              <a:r>
                <a:rPr lang="en-US" sz="800"/>
                <a:t> </a:t>
              </a:r>
            </a:p>
          </p:txBody>
        </p:sp>
        <p:sp>
          <p:nvSpPr>
            <p:cNvPr id="1367092" name="AutoShape 52"/>
            <p:cNvSpPr>
              <a:spLocks noChangeArrowheads="1"/>
            </p:cNvSpPr>
            <p:nvPr/>
          </p:nvSpPr>
          <p:spPr bwMode="auto">
            <a:xfrm>
              <a:off x="89" y="450"/>
              <a:ext cx="1108" cy="178"/>
            </a:xfrm>
            <a:prstGeom prst="roundRect">
              <a:avLst>
                <a:gd name="adj" fmla="val 16667"/>
              </a:avLst>
            </a:prstGeom>
            <a:solidFill>
              <a:srgbClr val="FFFF66"/>
            </a:solidFill>
            <a:ln w="9525">
              <a:solidFill>
                <a:schemeClr val="tx1"/>
              </a:solidFill>
              <a:round/>
              <a:headEnd/>
              <a:tailEnd/>
            </a:ln>
            <a:effectLst/>
          </p:spPr>
          <p:txBody>
            <a:bodyPr lIns="0" tIns="0" rIns="0" bIns="0" anchor="ctr" anchorCtr="1">
              <a:spAutoFit/>
            </a:bodyPr>
            <a:lstStyle/>
            <a:p>
              <a:pPr algn="l">
                <a:buFontTx/>
                <a:buNone/>
              </a:pPr>
              <a:r>
                <a:rPr lang="en-US" sz="800" b="1"/>
                <a:t>Perform Project Planning and Event Scheduling</a:t>
              </a:r>
              <a:r>
                <a:rPr lang="en-US" sz="800"/>
                <a:t> </a:t>
              </a:r>
            </a:p>
          </p:txBody>
        </p:sp>
        <p:cxnSp>
          <p:nvCxnSpPr>
            <p:cNvPr id="1367093" name="AutoShape 53"/>
            <p:cNvCxnSpPr>
              <a:cxnSpLocks noChangeShapeType="1"/>
              <a:stCxn id="1367092" idx="2"/>
              <a:endCxn id="1367091" idx="0"/>
            </p:cNvCxnSpPr>
            <p:nvPr/>
          </p:nvCxnSpPr>
          <p:spPr bwMode="auto">
            <a:xfrm>
              <a:off x="643" y="628"/>
              <a:ext cx="0" cy="50"/>
            </a:xfrm>
            <a:prstGeom prst="straightConnector1">
              <a:avLst/>
            </a:prstGeom>
            <a:noFill/>
            <a:ln w="9525">
              <a:solidFill>
                <a:schemeClr val="tx1"/>
              </a:solidFill>
              <a:round/>
              <a:headEnd/>
              <a:tailEnd/>
            </a:ln>
            <a:effectLst/>
          </p:spPr>
        </p:cxnSp>
      </p:grpSp>
      <p:sp>
        <p:nvSpPr>
          <p:cNvPr id="1367094" name="AutoShape 54"/>
          <p:cNvSpPr>
            <a:spLocks noChangeArrowheads="1"/>
          </p:cNvSpPr>
          <p:nvPr/>
        </p:nvSpPr>
        <p:spPr bwMode="auto">
          <a:xfrm>
            <a:off x="2716213" y="1446213"/>
            <a:ext cx="1625600" cy="147637"/>
          </a:xfrm>
          <a:prstGeom prst="roundRect">
            <a:avLst>
              <a:gd name="adj" fmla="val 16667"/>
            </a:avLst>
          </a:prstGeom>
          <a:solidFill>
            <a:schemeClr val="accent1"/>
          </a:solidFill>
          <a:ln w="9525">
            <a:solidFill>
              <a:schemeClr val="tx1"/>
            </a:solidFill>
            <a:round/>
            <a:headEnd/>
            <a:tailEnd/>
          </a:ln>
          <a:effectLst/>
        </p:spPr>
        <p:txBody>
          <a:bodyPr lIns="0" tIns="0" rIns="0" bIns="0" anchor="ctr" anchorCtr="1">
            <a:spAutoFit/>
          </a:bodyPr>
          <a:lstStyle/>
          <a:p>
            <a:pPr algn="l">
              <a:buFontTx/>
              <a:buNone/>
            </a:pPr>
            <a:r>
              <a:rPr lang="en-US" sz="800" b="1">
                <a:solidFill>
                  <a:schemeClr val="bg1"/>
                </a:solidFill>
              </a:rPr>
              <a:t>Procure Popkin Licenses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050" name="Rectangle 1026"/>
          <p:cNvSpPr>
            <a:spLocks noGrp="1" noChangeArrowheads="1"/>
          </p:cNvSpPr>
          <p:nvPr>
            <p:ph type="ctrTitle"/>
          </p:nvPr>
        </p:nvSpPr>
        <p:spPr>
          <a:xfrm>
            <a:off x="838200" y="2667000"/>
            <a:ext cx="7791450" cy="914400"/>
          </a:xfrm>
        </p:spPr>
        <p:txBody>
          <a:bodyPr/>
          <a:lstStyle/>
          <a:p>
            <a:r>
              <a:rPr lang="en-US" sz="2800"/>
              <a:t>IBAT Recommended Roles &amp; Responsibilities  </a:t>
            </a:r>
          </a:p>
        </p:txBody>
      </p:sp>
      <p:sp>
        <p:nvSpPr>
          <p:cNvPr id="1410051" name="Rectangle 1027"/>
          <p:cNvSpPr>
            <a:spLocks noGrp="1" noChangeArrowheads="1"/>
          </p:cNvSpPr>
          <p:nvPr>
            <p:ph type="subTitle" idx="1"/>
          </p:nvPr>
        </p:nvSpPr>
        <p:spPr>
          <a:xfrm>
            <a:off x="1828800" y="4572000"/>
            <a:ext cx="4343400" cy="914400"/>
          </a:xfrm>
        </p:spPr>
        <p:txBody>
          <a:bodyPr/>
          <a:lstStyle/>
          <a:p>
            <a:r>
              <a:rPr lang="en-US" sz="2000"/>
              <a:t>Colleen Coggins</a:t>
            </a:r>
          </a:p>
          <a:p>
            <a:r>
              <a:rPr lang="en-US" sz="2000"/>
              <a:t>Interior Business Architect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54754" name="Rectangle 2"/>
          <p:cNvSpPr>
            <a:spLocks noGrp="1" noChangeArrowheads="1"/>
          </p:cNvSpPr>
          <p:nvPr>
            <p:ph type="title"/>
          </p:nvPr>
        </p:nvSpPr>
        <p:spPr/>
        <p:txBody>
          <a:bodyPr/>
          <a:lstStyle/>
          <a:p>
            <a:r>
              <a:rPr lang="en-US"/>
              <a:t>Recommended IBAT Roles and Responsibilities</a:t>
            </a:r>
          </a:p>
        </p:txBody>
      </p:sp>
      <p:sp>
        <p:nvSpPr>
          <p:cNvPr id="1354755" name="Rectangle 3"/>
          <p:cNvSpPr>
            <a:spLocks noGrp="1" noChangeArrowheads="1"/>
          </p:cNvSpPr>
          <p:nvPr>
            <p:ph type="body" idx="1"/>
          </p:nvPr>
        </p:nvSpPr>
        <p:spPr>
          <a:noFill/>
        </p:spPr>
        <p:txBody>
          <a:bodyPr/>
          <a:lstStyle/>
          <a:p>
            <a:r>
              <a:rPr lang="en-US" sz="2000"/>
              <a:t>Assure the IEA is business driven and supports the strategic priorities of DOI.</a:t>
            </a:r>
          </a:p>
          <a:p>
            <a:r>
              <a:rPr lang="en-US" sz="2000"/>
              <a:t>Recommend to the ITMC and MIT business improvements and technology investments that benefit the DOI overall.</a:t>
            </a:r>
          </a:p>
          <a:p>
            <a:r>
              <a:rPr lang="en-US" sz="2000"/>
              <a:t>Support, where feasible, cross-cutting solutions that are customer-centric.</a:t>
            </a:r>
          </a:p>
          <a:p>
            <a:r>
              <a:rPr lang="en-US" sz="2000"/>
              <a:t>Serve as the focal point of contact for respective bureau/office/business area on business architecture issues.</a:t>
            </a:r>
          </a:p>
          <a:p>
            <a:r>
              <a:rPr lang="en-US" sz="2000"/>
              <a:t>Actively participate in the development and validation of the business layers of the IEA.</a:t>
            </a:r>
          </a:p>
          <a:p>
            <a:r>
              <a:rPr lang="en-US" sz="2000"/>
              <a:t>Provide input on “best practice” solutions that may be leveraged   across the DOI</a:t>
            </a:r>
          </a:p>
          <a:p>
            <a:r>
              <a:rPr lang="en-US" sz="2000"/>
              <a:t>Provide feedback into the overall IEA to continually improve               the overall Program.</a:t>
            </a:r>
          </a:p>
        </p:txBody>
      </p:sp>
      <p:pic>
        <p:nvPicPr>
          <p:cNvPr id="1354756" name="Picture 4" descr="j0225300[1]"/>
          <p:cNvPicPr>
            <a:picLocks noChangeAspect="1" noChangeArrowheads="1"/>
          </p:cNvPicPr>
          <p:nvPr/>
        </p:nvPicPr>
        <p:blipFill>
          <a:blip r:embed="rId3" cstate="print"/>
          <a:srcRect/>
          <a:stretch>
            <a:fillRect/>
          </a:stretch>
        </p:blipFill>
        <p:spPr bwMode="auto">
          <a:xfrm>
            <a:off x="7754938" y="4954588"/>
            <a:ext cx="1330325" cy="1495425"/>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51682" name="Rectangle 2"/>
          <p:cNvSpPr>
            <a:spLocks noGrp="1" noChangeArrowheads="1"/>
          </p:cNvSpPr>
          <p:nvPr>
            <p:ph type="title"/>
          </p:nvPr>
        </p:nvSpPr>
        <p:spPr/>
        <p:txBody>
          <a:bodyPr/>
          <a:lstStyle/>
          <a:p>
            <a:r>
              <a:rPr lang="en-US"/>
              <a:t>Immediate IBAT Participation Requested</a:t>
            </a:r>
          </a:p>
        </p:txBody>
      </p:sp>
      <p:sp>
        <p:nvSpPr>
          <p:cNvPr id="1351683" name="Rectangle 3"/>
          <p:cNvSpPr>
            <a:spLocks noGrp="1" noChangeArrowheads="1"/>
          </p:cNvSpPr>
          <p:nvPr>
            <p:ph type="body" idx="1"/>
          </p:nvPr>
        </p:nvSpPr>
        <p:spPr/>
        <p:txBody>
          <a:bodyPr/>
          <a:lstStyle/>
          <a:p>
            <a:r>
              <a:rPr lang="en-US" sz="2000"/>
              <a:t>5 Focal Business Areas –</a:t>
            </a:r>
          </a:p>
          <a:p>
            <a:pPr lvl="1"/>
            <a:r>
              <a:rPr lang="en-US" sz="2000"/>
              <a:t>Follow-up Interviews to determine functions, processes, and information requirements.</a:t>
            </a:r>
          </a:p>
          <a:p>
            <a:r>
              <a:rPr lang="en-US" sz="2000"/>
              <a:t>Office of Planning and Performance Management –</a:t>
            </a:r>
          </a:p>
          <a:p>
            <a:pPr lvl="1"/>
            <a:r>
              <a:rPr lang="en-US" sz="2000"/>
              <a:t>Assistance in mapping DOI Strategic Plan to OMB PRM for IBAT Review</a:t>
            </a:r>
          </a:p>
          <a:p>
            <a:r>
              <a:rPr lang="en-US" sz="2000"/>
              <a:t>Office of Budget</a:t>
            </a:r>
          </a:p>
          <a:p>
            <a:pPr lvl="1"/>
            <a:r>
              <a:rPr lang="en-US" sz="2000"/>
              <a:t>Assistance in mapping ABC work activities to DOI BRM Functions</a:t>
            </a:r>
          </a:p>
          <a:p>
            <a:r>
              <a:rPr lang="en-US" sz="2000"/>
              <a:t>Bureaus and Offices</a:t>
            </a:r>
          </a:p>
          <a:p>
            <a:pPr lvl="1"/>
            <a:r>
              <a:rPr lang="en-US" sz="2000"/>
              <a:t>Follow-up Interviews to determine existing architecture artifacts available for mapping into unified IEA.</a:t>
            </a:r>
          </a:p>
          <a:p>
            <a:pPr lvl="1"/>
            <a:r>
              <a:rPr lang="en-US" sz="2000"/>
              <a:t>Understanding of Business Areas for Focus in FY04 &amp; 05.</a:t>
            </a:r>
          </a:p>
          <a:p>
            <a:pPr lvl="1"/>
            <a:r>
              <a:rPr lang="en-US" sz="2000"/>
              <a:t>Validation of existing and planned Major Applications to IEA models</a:t>
            </a:r>
          </a:p>
          <a:p>
            <a:pPr>
              <a:buFont typeface="Wingdings" pitchFamily="2" charset="2"/>
              <a:buNone/>
            </a:pPr>
            <a:endParaRPr lang="en-US" sz="2000"/>
          </a:p>
        </p:txBody>
      </p:sp>
      <p:pic>
        <p:nvPicPr>
          <p:cNvPr id="1351686" name="Picture 6" descr="bd19924_[1]"/>
          <p:cNvPicPr>
            <a:picLocks noChangeAspect="1" noChangeArrowheads="1"/>
          </p:cNvPicPr>
          <p:nvPr/>
        </p:nvPicPr>
        <p:blipFill>
          <a:blip r:embed="rId3" cstate="print"/>
          <a:srcRect/>
          <a:stretch>
            <a:fillRect/>
          </a:stretch>
        </p:blipFill>
        <p:spPr bwMode="auto">
          <a:xfrm>
            <a:off x="6861175" y="600075"/>
            <a:ext cx="2076450" cy="1462088"/>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1074" name="Rectangle 2"/>
          <p:cNvSpPr>
            <a:spLocks noGrp="1" noChangeArrowheads="1"/>
          </p:cNvSpPr>
          <p:nvPr>
            <p:ph type="ctrTitle"/>
          </p:nvPr>
        </p:nvSpPr>
        <p:spPr>
          <a:xfrm>
            <a:off x="838200" y="2667000"/>
            <a:ext cx="7791450" cy="914400"/>
          </a:xfrm>
        </p:spPr>
        <p:txBody>
          <a:bodyPr/>
          <a:lstStyle/>
          <a:p>
            <a:r>
              <a:rPr lang="en-US" sz="2800"/>
              <a:t>IBAT Logistics  </a:t>
            </a:r>
          </a:p>
        </p:txBody>
      </p:sp>
      <p:sp>
        <p:nvSpPr>
          <p:cNvPr id="1411075" name="Rectangle 3"/>
          <p:cNvSpPr>
            <a:spLocks noGrp="1" noChangeArrowheads="1"/>
          </p:cNvSpPr>
          <p:nvPr>
            <p:ph type="subTitle" idx="1"/>
          </p:nvPr>
        </p:nvSpPr>
        <p:spPr/>
        <p:txBody>
          <a:bodyPr/>
          <a:lstStyle/>
          <a:p>
            <a:r>
              <a:rPr lang="en-US"/>
              <a:t>Open Discussion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DOI Business Architecture Team Enterprise Architecture  |  </a:t>
            </a:r>
            <a:r>
              <a:rPr lang="en-US" sz="700"/>
              <a:t> </a:t>
            </a:r>
            <a:fld id="{4E463DCD-96CD-4756-9CD6-4C5B8F613A5B}" type="datetime1">
              <a:rPr lang="en-US"/>
              <a:pPr/>
              <a:t>3/30/2010</a:t>
            </a:fld>
            <a:r>
              <a:rPr lang="en-US"/>
              <a:t>  |</a:t>
            </a:r>
          </a:p>
          <a:p>
            <a:endParaRPr lang="en-US" sz="700"/>
          </a:p>
        </p:txBody>
      </p:sp>
      <p:sp>
        <p:nvSpPr>
          <p:cNvPr id="1355778" name="Rectangle 2"/>
          <p:cNvSpPr>
            <a:spLocks noGrp="1" noChangeArrowheads="1"/>
          </p:cNvSpPr>
          <p:nvPr>
            <p:ph type="title"/>
          </p:nvPr>
        </p:nvSpPr>
        <p:spPr/>
        <p:txBody>
          <a:bodyPr/>
          <a:lstStyle/>
          <a:p>
            <a:r>
              <a:rPr lang="en-US"/>
              <a:t>IBAT Logistics </a:t>
            </a:r>
          </a:p>
        </p:txBody>
      </p:sp>
      <p:sp>
        <p:nvSpPr>
          <p:cNvPr id="1355779" name="Rectangle 3"/>
          <p:cNvSpPr>
            <a:spLocks noGrp="1" noChangeArrowheads="1"/>
          </p:cNvSpPr>
          <p:nvPr>
            <p:ph type="body" idx="1"/>
          </p:nvPr>
        </p:nvSpPr>
        <p:spPr/>
        <p:txBody>
          <a:bodyPr/>
          <a:lstStyle/>
          <a:p>
            <a:r>
              <a:rPr lang="en-US"/>
              <a:t>Establish Meeting Schedules</a:t>
            </a:r>
          </a:p>
          <a:p>
            <a:pPr>
              <a:buFont typeface="Wingdings" pitchFamily="2" charset="2"/>
              <a:buNone/>
            </a:pPr>
            <a:endParaRPr lang="en-US"/>
          </a:p>
          <a:p>
            <a:pPr lvl="1"/>
            <a:r>
              <a:rPr lang="en-US"/>
              <a:t>Frequency </a:t>
            </a:r>
          </a:p>
          <a:p>
            <a:pPr lvl="1"/>
            <a:r>
              <a:rPr lang="en-US"/>
              <a:t>Telcon logistics</a:t>
            </a:r>
          </a:p>
          <a:p>
            <a:pPr lvl="1"/>
            <a:r>
              <a:rPr lang="en-US"/>
              <a:t>Locations</a:t>
            </a:r>
          </a:p>
          <a:p>
            <a:pPr lvl="1"/>
            <a:endParaRPr lang="en-US"/>
          </a:p>
          <a:p>
            <a:r>
              <a:rPr lang="en-US"/>
              <a:t>IBAT Charter</a:t>
            </a:r>
          </a:p>
          <a:p>
            <a:pPr lvl="1"/>
            <a:r>
              <a:rPr lang="en-US"/>
              <a:t>Draft by next meeting</a:t>
            </a:r>
          </a:p>
          <a:p>
            <a:pPr lvl="1"/>
            <a:endParaRPr lang="en-US"/>
          </a:p>
        </p:txBody>
      </p:sp>
      <p:pic>
        <p:nvPicPr>
          <p:cNvPr id="1355786" name="Picture 10" descr="BD05450_[1]"/>
          <p:cNvPicPr>
            <a:picLocks noChangeAspect="1" noChangeArrowheads="1"/>
          </p:cNvPicPr>
          <p:nvPr/>
        </p:nvPicPr>
        <p:blipFill>
          <a:blip r:embed="rId3" cstate="print"/>
          <a:srcRect/>
          <a:stretch>
            <a:fillRect/>
          </a:stretch>
        </p:blipFill>
        <p:spPr bwMode="auto">
          <a:xfrm>
            <a:off x="4906963" y="2139950"/>
            <a:ext cx="3521075" cy="34417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098" name="Rectangle 2"/>
          <p:cNvSpPr>
            <a:spLocks noGrp="1" noChangeArrowheads="1"/>
          </p:cNvSpPr>
          <p:nvPr>
            <p:ph type="ctrTitle"/>
          </p:nvPr>
        </p:nvSpPr>
        <p:spPr>
          <a:xfrm>
            <a:off x="838200" y="2667000"/>
            <a:ext cx="7791450" cy="914400"/>
          </a:xfrm>
        </p:spPr>
        <p:txBody>
          <a:bodyPr/>
          <a:lstStyle/>
          <a:p>
            <a:r>
              <a:rPr lang="en-US" sz="2800"/>
              <a:t>Questions, Concerns, Discussion  </a:t>
            </a:r>
          </a:p>
        </p:txBody>
      </p:sp>
      <p:sp>
        <p:nvSpPr>
          <p:cNvPr id="1412099" name="Rectangle 3"/>
          <p:cNvSpPr>
            <a:spLocks noGrp="1" noChangeArrowheads="1"/>
          </p:cNvSpPr>
          <p:nvPr>
            <p:ph type="subTitle" idx="1"/>
          </p:nvPr>
        </p:nvSpPr>
        <p:spPr/>
        <p:txBody>
          <a:bodyPr/>
          <a:lstStyle/>
          <a:p>
            <a:r>
              <a:rPr lang="en-US"/>
              <a:t>IBAT Members</a:t>
            </a:r>
          </a:p>
        </p:txBody>
      </p:sp>
    </p:spTree>
  </p:cSld>
  <p:clrMapOvr>
    <a:masterClrMapping/>
  </p:clrMapOvr>
</p:sld>
</file>

<file path=ppt/theme/theme1.xml><?xml version="1.0" encoding="utf-8"?>
<a:theme xmlns:a="http://schemas.openxmlformats.org/drawingml/2006/main" name="1_IGS_White_Background">
  <a:themeElements>
    <a:clrScheme name="1_IGS_White_Background 1">
      <a:dk1>
        <a:srgbClr val="000000"/>
      </a:dk1>
      <a:lt1>
        <a:srgbClr val="FFFFFF"/>
      </a:lt1>
      <a:dk2>
        <a:srgbClr val="061DC8"/>
      </a:dk2>
      <a:lt2>
        <a:srgbClr val="727272"/>
      </a:lt2>
      <a:accent1>
        <a:srgbClr val="7889FB"/>
      </a:accent1>
      <a:accent2>
        <a:srgbClr val="C7CDFD"/>
      </a:accent2>
      <a:accent3>
        <a:srgbClr val="FFFFFF"/>
      </a:accent3>
      <a:accent4>
        <a:srgbClr val="000000"/>
      </a:accent4>
      <a:accent5>
        <a:srgbClr val="BEC4FD"/>
      </a:accent5>
      <a:accent6>
        <a:srgbClr val="B4BAE5"/>
      </a:accent6>
      <a:hlink>
        <a:srgbClr val="669900"/>
      </a:hlink>
      <a:folHlink>
        <a:srgbClr val="8CC800"/>
      </a:folHlink>
    </a:clrScheme>
    <a:fontScheme name="1_IGS_White_Background">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6350" cap="flat" cmpd="sng" algn="ctr">
          <a:solidFill>
            <a:schemeClr val="tx1"/>
          </a:solidFill>
          <a:prstDash val="solid"/>
          <a:miter lim="800000"/>
          <a:headEnd type="triangle" w="med" len="med"/>
          <a:tailEnd type="triangle" w="med" len="med"/>
        </a:ln>
        <a:effec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bg1"/>
        </a:solidFill>
        <a:ln w="6350" cap="flat" cmpd="sng" algn="ctr">
          <a:solidFill>
            <a:schemeClr val="tx1"/>
          </a:solidFill>
          <a:prstDash val="solid"/>
          <a:miter lim="800000"/>
          <a:headEnd type="triangle" w="med" len="med"/>
          <a:tailEnd type="triangle" w="med" len="med"/>
        </a:ln>
        <a:effec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IGS_White_Background 1">
        <a:dk1>
          <a:srgbClr val="000000"/>
        </a:dk1>
        <a:lt1>
          <a:srgbClr val="FFFFFF"/>
        </a:lt1>
        <a:dk2>
          <a:srgbClr val="061DC8"/>
        </a:dk2>
        <a:lt2>
          <a:srgbClr val="727272"/>
        </a:lt2>
        <a:accent1>
          <a:srgbClr val="7889FB"/>
        </a:accent1>
        <a:accent2>
          <a:srgbClr val="C7CDFD"/>
        </a:accent2>
        <a:accent3>
          <a:srgbClr val="FFFFFF"/>
        </a:accent3>
        <a:accent4>
          <a:srgbClr val="000000"/>
        </a:accent4>
        <a:accent5>
          <a:srgbClr val="BEC4FD"/>
        </a:accent5>
        <a:accent6>
          <a:srgbClr val="B4BAE5"/>
        </a:accent6>
        <a:hlink>
          <a:srgbClr val="669900"/>
        </a:hlink>
        <a:folHlink>
          <a:srgbClr val="8CC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15240</TotalTime>
  <Words>4750</Words>
  <Application>Microsoft Office PowerPoint</Application>
  <PresentationFormat>On-screen Show (4:3)</PresentationFormat>
  <Paragraphs>1087</Paragraphs>
  <Slides>44</Slides>
  <Notes>44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0</vt:i4>
      </vt:variant>
      <vt:variant>
        <vt:lpstr>Slide Titles</vt:lpstr>
      </vt:variant>
      <vt:variant>
        <vt:i4>44</vt:i4>
      </vt:variant>
    </vt:vector>
  </HeadingPairs>
  <TitlesOfParts>
    <vt:vector size="51" baseType="lpstr">
      <vt:lpstr>Arial</vt:lpstr>
      <vt:lpstr>Wingdings</vt:lpstr>
      <vt:lpstr>Wingdings 3</vt:lpstr>
      <vt:lpstr>Times New Roman</vt:lpstr>
      <vt:lpstr>Tahoma</vt:lpstr>
      <vt:lpstr>Century Gothic</vt:lpstr>
      <vt:lpstr>1_IGS_White_Background</vt:lpstr>
      <vt:lpstr>Interior Business Architecture Team (IBAT)  </vt:lpstr>
      <vt:lpstr>IBAT AGENDA</vt:lpstr>
      <vt:lpstr>WHAT ARE WE CHARGED TO DO? </vt:lpstr>
      <vt:lpstr>Extracts From OMB FY 2004 Budget Passback:</vt:lpstr>
      <vt:lpstr>Interior Enterprise Architecture – A New Approach</vt:lpstr>
      <vt:lpstr>Interior Enterprise Architecture Program - Accomplishments</vt:lpstr>
      <vt:lpstr>Enterprise Architecture – Federal Direction </vt:lpstr>
      <vt:lpstr>Achieving Results from IT:  Last Year’s Analysis Identified Six Chronic Problems</vt:lpstr>
      <vt:lpstr>WHAT DOES OMB WANT FROM US?</vt:lpstr>
      <vt:lpstr>WHAT DOES OMB WANT FROM US?</vt:lpstr>
      <vt:lpstr>WHAT DOES OMB WANT FROM US?</vt:lpstr>
      <vt:lpstr>IEA End Outcomes </vt:lpstr>
      <vt:lpstr>Slide 13</vt:lpstr>
      <vt:lpstr>Expected Outcomes:</vt:lpstr>
      <vt:lpstr>IBAT Business Value </vt:lpstr>
      <vt:lpstr>Business Value of Interior Enterprise Architecture</vt:lpstr>
      <vt:lpstr>Interior Enterprise Architecture Provides</vt:lpstr>
      <vt:lpstr>The Challenge Of Knowing Where The IT  Dollar Goes?</vt:lpstr>
      <vt:lpstr>How is this Accomplished?</vt:lpstr>
      <vt:lpstr>Strategy and Approach </vt:lpstr>
      <vt:lpstr>Interior Business Architecture Approach</vt:lpstr>
      <vt:lpstr>We Will Use Both ‘Top-down’ and ‘Bottom-up’ Methods As Part of Our Integrated Approach</vt:lpstr>
      <vt:lpstr>OMB FEA OVERVIEW </vt:lpstr>
      <vt:lpstr>Interior Enterprise Architecture – FEA Alignment</vt:lpstr>
      <vt:lpstr>The PRM’s six Measurement Areas are designed to capture the relationship between inputs, outputs, and outcomes.  </vt:lpstr>
      <vt:lpstr>Each PRM Measurement Category contains generic Indicators. </vt:lpstr>
      <vt:lpstr>Decision-makers then uniquely tailor or “operationalize” these Indicators to reflect their specific environment</vt:lpstr>
      <vt:lpstr>The FEA Business Reference Model (BRM)</vt:lpstr>
      <vt:lpstr>The SRM framework is comprised of three (3) inter-related “service-orientated” tiers – each of which describes capabilities in greater levels of granularity</vt:lpstr>
      <vt:lpstr>Customer Services</vt:lpstr>
      <vt:lpstr>DOI Conceptual Business  Architecture Model</vt:lpstr>
      <vt:lpstr>DOI Financial Management Architecture  </vt:lpstr>
      <vt:lpstr>Slide 33</vt:lpstr>
      <vt:lpstr>Slide 34</vt:lpstr>
      <vt:lpstr>Arming the Business Managers with Information to Drive Decision-Making  </vt:lpstr>
      <vt:lpstr>How can Line of Business (LOB) Manager “Mine” for Opportunities</vt:lpstr>
      <vt:lpstr>“Plan of Attack”  </vt:lpstr>
      <vt:lpstr>Slide 38</vt:lpstr>
      <vt:lpstr>IBAT Recommended Roles &amp; Responsibilities  </vt:lpstr>
      <vt:lpstr>Recommended IBAT Roles and Responsibilities</vt:lpstr>
      <vt:lpstr>Immediate IBAT Participation Requested</vt:lpstr>
      <vt:lpstr>IBAT Logistics  </vt:lpstr>
      <vt:lpstr>IBAT Logistics </vt:lpstr>
      <vt:lpstr>Questions, Concerns, Discussion  </vt:lpstr>
    </vt:vector>
  </TitlesOfParts>
  <Company>BLM Enterprise Architecture Team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Architecture</dc:title>
  <dc:creator>Colleen Coggins</dc:creator>
  <cp:keywords>BEA, APM, TAA</cp:keywords>
  <dc:description>Portfolio Managers_x000d_
Jan 16 Las Vegas Presentation</dc:description>
  <cp:lastModifiedBy>JEFF</cp:lastModifiedBy>
  <cp:revision>553</cp:revision>
  <cp:lastPrinted>2003-01-02T23:46:44Z</cp:lastPrinted>
  <dcterms:created xsi:type="dcterms:W3CDTF">2001-06-28T23:22:33Z</dcterms:created>
  <dcterms:modified xsi:type="dcterms:W3CDTF">2010-03-30T12:50:57Z</dcterms:modified>
  <cp:category>BEA</cp:category>
</cp:coreProperties>
</file>
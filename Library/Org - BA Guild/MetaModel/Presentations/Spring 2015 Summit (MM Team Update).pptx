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8"/>
  </p:notesMasterIdLst>
  <p:handoutMasterIdLst>
    <p:handoutMasterId r:id="rId9"/>
  </p:handoutMasterIdLst>
  <p:sldIdLst>
    <p:sldId id="259" r:id="rId2"/>
    <p:sldId id="262" r:id="rId3"/>
    <p:sldId id="261" r:id="rId4"/>
    <p:sldId id="264" r:id="rId5"/>
    <p:sldId id="263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5413"/>
    <a:srgbClr val="00C49E"/>
    <a:srgbClr val="252E33"/>
    <a:srgbClr val="3F4E56"/>
    <a:srgbClr val="0000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106" autoAdjust="0"/>
  </p:normalViewPr>
  <p:slideViewPr>
    <p:cSldViewPr snapToGrid="0">
      <p:cViewPr varScale="1">
        <p:scale>
          <a:sx n="70" d="100"/>
          <a:sy n="70" d="100"/>
        </p:scale>
        <p:origin x="-1192" y="-96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3/15/15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3/15/15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3/15/15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t>3/15/15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sinessarchitectureguild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81615" y="2798081"/>
            <a:ext cx="4380777" cy="615553"/>
          </a:xfrm>
        </p:spPr>
        <p:txBody>
          <a:bodyPr/>
          <a:lstStyle/>
          <a:p>
            <a:r>
              <a:rPr lang="en-US" dirty="0" smtClean="0"/>
              <a:t>Metamodel team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106417" y="3515231"/>
            <a:ext cx="2931173" cy="369332"/>
          </a:xfrm>
        </p:spPr>
        <p:txBody>
          <a:bodyPr/>
          <a:lstStyle/>
          <a:p>
            <a:r>
              <a:rPr lang="en-US" dirty="0" smtClean="0"/>
              <a:t>2014 Summit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3/15/15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06400" y="4284134"/>
            <a:ext cx="8229600" cy="1564744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dirty="0" smtClean="0"/>
              <a:t>We have multiple threads that the team is trying to pursue. First and foremost, is the OMG White Paper. </a:t>
            </a:r>
            <a:r>
              <a:rPr lang="en-US" dirty="0"/>
              <a:t>T</a:t>
            </a:r>
            <a:r>
              <a:rPr lang="en-US" dirty="0" smtClean="0"/>
              <a:t>he BA </a:t>
            </a:r>
            <a:r>
              <a:rPr lang="en-US" dirty="0" err="1" smtClean="0"/>
              <a:t>MetaModel</a:t>
            </a:r>
            <a:r>
              <a:rPr lang="en-US" dirty="0" smtClean="0"/>
              <a:t> Team’s responsibility is to provide a working group BASIG in the OMG with guidance and thought leadership to justify the need for a </a:t>
            </a:r>
            <a:r>
              <a:rPr lang="en-US" dirty="0"/>
              <a:t>BA </a:t>
            </a:r>
            <a:r>
              <a:rPr lang="en-US" dirty="0" err="1"/>
              <a:t>MetaModel</a:t>
            </a:r>
            <a:r>
              <a:rPr lang="en-US" dirty="0"/>
              <a:t> </a:t>
            </a:r>
            <a:r>
              <a:rPr lang="en-US" dirty="0" smtClean="0"/>
              <a:t>standard.  </a:t>
            </a:r>
            <a:endParaRPr lang="en-US" dirty="0"/>
          </a:p>
        </p:txBody>
      </p:sp>
      <p:sp>
        <p:nvSpPr>
          <p:cNvPr id="9" name="Chevron 8"/>
          <p:cNvSpPr/>
          <p:nvPr/>
        </p:nvSpPr>
        <p:spPr>
          <a:xfrm>
            <a:off x="423333" y="1253067"/>
            <a:ext cx="2641600" cy="677333"/>
          </a:xfrm>
          <a:prstGeom prst="chevron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OMG WP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2743201" y="1253067"/>
            <a:ext cx="2641600" cy="677333"/>
          </a:xfrm>
          <a:prstGeom prst="chevron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OMG RFP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2286000" y="1964267"/>
            <a:ext cx="2286000" cy="677333"/>
          </a:xfrm>
          <a:prstGeom prst="chevron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BIZBOK® WP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149598" y="2624666"/>
            <a:ext cx="4216401" cy="677333"/>
          </a:xfrm>
          <a:prstGeom prst="chevron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BIZBOK® Updates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2590798" y="3318932"/>
            <a:ext cx="5232401" cy="677333"/>
          </a:xfrm>
          <a:prstGeom prst="chevron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Ongoing Vendor Engagement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Up Arrow Callout 13"/>
          <p:cNvSpPr/>
          <p:nvPr/>
        </p:nvSpPr>
        <p:spPr>
          <a:xfrm>
            <a:off x="1151467" y="1947333"/>
            <a:ext cx="948266" cy="1473200"/>
          </a:xfrm>
          <a:prstGeom prst="upArrowCallout">
            <a:avLst/>
          </a:prstGeom>
          <a:solidFill>
            <a:srgbClr val="FFFF0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ETC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3/15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9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06400" y="1083695"/>
            <a:ext cx="4064000" cy="4741372"/>
          </a:xfrm>
        </p:spPr>
        <p:txBody>
          <a:bodyPr>
            <a:noAutofit/>
          </a:bodyPr>
          <a:lstStyle/>
          <a:p>
            <a:pPr marL="0" indent="0"/>
            <a:r>
              <a:rPr lang="en-US" sz="1600" dirty="0"/>
              <a:t>OMG White Paper to justify a BA </a:t>
            </a:r>
            <a:r>
              <a:rPr lang="en-US" sz="1600" dirty="0" err="1"/>
              <a:t>MetaModel</a:t>
            </a:r>
            <a:r>
              <a:rPr lang="en-US" sz="1600" dirty="0"/>
              <a:t> (drafted by </a:t>
            </a:r>
            <a:r>
              <a:rPr lang="en-US" sz="1600" dirty="0" smtClean="0"/>
              <a:t>BASIG)</a:t>
            </a:r>
            <a:endParaRPr lang="en-US" sz="1600" dirty="0"/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Deliverable </a:t>
            </a:r>
            <a:r>
              <a:rPr lang="en-US" sz="1600" dirty="0"/>
              <a:t>(List of Bullet Points)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List </a:t>
            </a:r>
            <a:r>
              <a:rPr lang="en-US" sz="1600" dirty="0"/>
              <a:t>of Scenarios (to support the Bullets)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Draft review </a:t>
            </a:r>
            <a:r>
              <a:rPr lang="en-US" sz="1600" dirty="0"/>
              <a:t>(part of the </a:t>
            </a:r>
            <a:r>
              <a:rPr lang="en-US" sz="1600" dirty="0" err="1"/>
              <a:t>BAsig</a:t>
            </a:r>
            <a:r>
              <a:rPr lang="en-US" sz="1600" dirty="0"/>
              <a:t> effort)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Team </a:t>
            </a:r>
            <a:r>
              <a:rPr lang="en-US" sz="1600" dirty="0"/>
              <a:t>review of Draft 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Finalize </a:t>
            </a:r>
            <a:r>
              <a:rPr lang="en-US" sz="1600" dirty="0"/>
              <a:t>deliverable by EOM January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Present </a:t>
            </a:r>
            <a:r>
              <a:rPr lang="en-US" sz="1600" dirty="0"/>
              <a:t>at March meeting for Guild</a:t>
            </a:r>
          </a:p>
          <a:p>
            <a:pPr marL="0" indent="0"/>
            <a:endParaRPr lang="en-US" sz="1600" dirty="0"/>
          </a:p>
          <a:p>
            <a:r>
              <a:rPr lang="en-US" sz="1600" dirty="0"/>
              <a:t>BA </a:t>
            </a:r>
            <a:r>
              <a:rPr lang="en-US" sz="1600" dirty="0" err="1" smtClean="0"/>
              <a:t>MetaModel</a:t>
            </a:r>
            <a:r>
              <a:rPr lang="en-US" sz="1600" dirty="0" smtClean="0"/>
              <a:t> for </a:t>
            </a:r>
            <a:r>
              <a:rPr lang="en-US" sz="1600" dirty="0"/>
              <a:t>the RFP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Deliverable </a:t>
            </a:r>
            <a:r>
              <a:rPr lang="en-US" sz="1600" dirty="0"/>
              <a:t>(RFP Document + “neutral” BA </a:t>
            </a:r>
            <a:r>
              <a:rPr lang="en-US" sz="1600" dirty="0" err="1"/>
              <a:t>MetaModel</a:t>
            </a:r>
            <a:r>
              <a:rPr lang="en-US" sz="1600" dirty="0"/>
              <a:t>) 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BA </a:t>
            </a:r>
            <a:r>
              <a:rPr lang="en-US" sz="1600" dirty="0" err="1"/>
              <a:t>MetaModel</a:t>
            </a:r>
            <a:r>
              <a:rPr lang="en-US" sz="1600" dirty="0"/>
              <a:t> (</a:t>
            </a:r>
            <a:r>
              <a:rPr lang="en-US" sz="1600" dirty="0" smtClean="0"/>
              <a:t>expand on OMG WP)</a:t>
            </a:r>
            <a:endParaRPr lang="en-US" sz="1600" dirty="0"/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RFP Document</a:t>
            </a:r>
          </a:p>
          <a:p>
            <a:pPr lvl="1">
              <a:buFont typeface="Wingdings" charset="2"/>
              <a:buChar char="q"/>
            </a:pPr>
            <a:r>
              <a:rPr lang="en-US" sz="1600" dirty="0" smtClean="0"/>
              <a:t>Team </a:t>
            </a:r>
            <a:r>
              <a:rPr lang="en-US" sz="1600" dirty="0"/>
              <a:t>review of Draft BA </a:t>
            </a:r>
            <a:r>
              <a:rPr lang="en-US" sz="1600" dirty="0" err="1"/>
              <a:t>MetaModel</a:t>
            </a:r>
            <a:endParaRPr lang="en-US" sz="16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3/15/15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 (Detailed Breakdown)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88934" y="1134533"/>
            <a:ext cx="4419600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BIZBOK® </a:t>
            </a:r>
            <a:r>
              <a:rPr lang="en-US" sz="1600" b="1" dirty="0"/>
              <a:t>White Paper to introduce and position MM for </a:t>
            </a:r>
            <a:r>
              <a:rPr lang="en-US" sz="1600" b="1" dirty="0" smtClean="0"/>
              <a:t>BIZBOK®</a:t>
            </a:r>
            <a:endParaRPr lang="en-US" sz="1600" b="1" dirty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Deliverable </a:t>
            </a:r>
            <a:r>
              <a:rPr lang="en-US" sz="1600" dirty="0"/>
              <a:t>(White Paper + </a:t>
            </a:r>
            <a:r>
              <a:rPr lang="en-US" sz="1600" dirty="0" smtClean="0"/>
              <a:t>BIZBOK® </a:t>
            </a:r>
            <a:r>
              <a:rPr lang="en-US" sz="1600" dirty="0"/>
              <a:t>MM)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White Paper </a:t>
            </a:r>
            <a:r>
              <a:rPr lang="en-US" sz="1600" dirty="0" smtClean="0"/>
              <a:t>(</a:t>
            </a:r>
            <a:r>
              <a:rPr lang="en-US" sz="1600" dirty="0"/>
              <a:t>What, Why, Where, </a:t>
            </a:r>
            <a:r>
              <a:rPr lang="en-US" sz="1600" dirty="0" smtClean="0"/>
              <a:t>How)</a:t>
            </a:r>
            <a:endParaRPr lang="en-US" sz="1600" dirty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Team </a:t>
            </a:r>
            <a:r>
              <a:rPr lang="en-US" sz="1600" dirty="0"/>
              <a:t>review of draft </a:t>
            </a:r>
            <a:r>
              <a:rPr lang="en-US" sz="1600" dirty="0" smtClean="0"/>
              <a:t>outline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Bullet </a:t>
            </a:r>
            <a:r>
              <a:rPr lang="en-US" sz="1600" dirty="0"/>
              <a:t>Points (per OMG White Paper)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updated </a:t>
            </a:r>
            <a:r>
              <a:rPr lang="en-US" sz="1600" dirty="0" smtClean="0"/>
              <a:t>BIZBOK® </a:t>
            </a:r>
            <a:r>
              <a:rPr lang="en-US" sz="1600" dirty="0"/>
              <a:t>MM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Present </a:t>
            </a:r>
            <a:r>
              <a:rPr lang="en-US" sz="1600" dirty="0"/>
              <a:t>at March meeting for Guild</a:t>
            </a:r>
          </a:p>
          <a:p>
            <a:r>
              <a:rPr lang="en-US" sz="1600" dirty="0"/>
              <a:t>  </a:t>
            </a:r>
          </a:p>
          <a:p>
            <a:r>
              <a:rPr lang="en-US" sz="1600" b="1" dirty="0" smtClean="0"/>
              <a:t>BIZBOK™ </a:t>
            </a:r>
            <a:r>
              <a:rPr lang="en-US" sz="1600" b="1" dirty="0"/>
              <a:t>Section 5.1 Update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Draft </a:t>
            </a:r>
            <a:r>
              <a:rPr lang="en-US" sz="1600" dirty="0"/>
              <a:t>section to align with </a:t>
            </a:r>
            <a:r>
              <a:rPr lang="en-US" sz="1600" dirty="0" smtClean="0"/>
              <a:t>BIZBOK® WP</a:t>
            </a:r>
            <a:endParaRPr lang="en-US" sz="1600" dirty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Include </a:t>
            </a:r>
            <a:r>
              <a:rPr lang="en-US" sz="1600" dirty="0"/>
              <a:t>reference to </a:t>
            </a:r>
            <a:r>
              <a:rPr lang="en-US" sz="1600" dirty="0" smtClean="0"/>
              <a:t>align </a:t>
            </a:r>
            <a:r>
              <a:rPr lang="en-US" sz="1600" dirty="0"/>
              <a:t>with other MMs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Include </a:t>
            </a:r>
            <a:r>
              <a:rPr lang="en-US" sz="1600" dirty="0"/>
              <a:t>reference to scenarios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/>
              <a:t>Vendor Collaboration</a:t>
            </a:r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Setup </a:t>
            </a:r>
            <a:r>
              <a:rPr lang="en-US" sz="1600" dirty="0"/>
              <a:t>initial meeting with vendor representatives </a:t>
            </a:r>
            <a:endParaRPr lang="en-US" sz="1600" dirty="0" smtClean="0"/>
          </a:p>
          <a:p>
            <a:pPr marL="285750" indent="-285750">
              <a:buClr>
                <a:schemeClr val="accent2"/>
              </a:buClr>
              <a:buFont typeface="Wingdings" charset="2"/>
              <a:buChar char="q"/>
            </a:pPr>
            <a:r>
              <a:rPr lang="en-US" sz="1600" dirty="0" smtClean="0"/>
              <a:t>Establish ongoing</a:t>
            </a:r>
            <a:r>
              <a:rPr lang="en-US" sz="1600" dirty="0"/>
              <a:t> </a:t>
            </a:r>
            <a:r>
              <a:rPr lang="en-US" sz="1600" dirty="0" smtClean="0"/>
              <a:t>cadence with tool vendors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35418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3/15/15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Scenarios for the OMG WP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071427"/>
              </p:ext>
            </p:extLst>
          </p:nvPr>
        </p:nvGraphicFramePr>
        <p:xfrm>
          <a:off x="547022" y="1408597"/>
          <a:ext cx="7329401" cy="3731824"/>
        </p:xfrm>
        <a:graphic>
          <a:graphicData uri="http://schemas.openxmlformats.org/drawingml/2006/table">
            <a:tbl>
              <a:tblPr/>
              <a:tblGrid>
                <a:gridCol w="2557009"/>
                <a:gridCol w="2029043"/>
                <a:gridCol w="2743349"/>
              </a:tblGrid>
              <a:tr h="159425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of Scenarios</a:t>
                      </a:r>
                    </a:p>
                  </a:txBody>
                  <a:tcPr marL="10352" marR="10352" marT="1035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D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5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Helps align the “enterprise” vocabulary across the organization to promote “understanding” across the organization (across value streams ?)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Shift to Customer-Centric Business Model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Joint Venture Development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5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Provides a solid foundation for launching or extending data governance program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Strategy Development and Execution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Globalization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Helps drive consistency amongst the vendor community (reduces integration challenge and minimizes risk of vendor lock-in)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Change Management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Agile Strategic Planning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8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Driving software and system requirements from business architecture (also driving software testing from same)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Merger and Acquisition Analysis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Operational Cost Reduction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5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Enables consistency check and alignment across the organization &amp; value streams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Governance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Supply Chain Streamlining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5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Ensures the enterprise modeling is driven and aligned by the business (not IT)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&amp; Compliance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Analysis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1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Helps ensure initiatives are better aligned and coordinated.  And within one or more portfolios, the business has a better opportunity to prioritize the right initiatives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End-2-End capability to inform impact analysis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New Product / Service Rollout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5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Provides visibility to align strategy with execution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Divestiture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 Capability Outsourcing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4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352" marR="10352" marT="1035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0352" marR="10352" marT="1035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Ensures interoperability can scale</a:t>
                      </a:r>
                    </a:p>
                  </a:txBody>
                  <a:tcPr marL="10352" marR="10352" marT="1035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2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3/15/15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0999" y="365759"/>
            <a:ext cx="7866529" cy="548640"/>
          </a:xfrm>
        </p:spPr>
        <p:txBody>
          <a:bodyPr/>
          <a:lstStyle/>
          <a:p>
            <a:r>
              <a:rPr lang="en-US" dirty="0" smtClean="0"/>
              <a:t>Current state </a:t>
            </a:r>
            <a:r>
              <a:rPr lang="en-US" dirty="0"/>
              <a:t>BA </a:t>
            </a:r>
            <a:r>
              <a:rPr lang="en-US" dirty="0" err="1"/>
              <a:t>MetaModel</a:t>
            </a:r>
            <a:r>
              <a:rPr lang="en-US" dirty="0"/>
              <a:t> (</a:t>
            </a:r>
            <a:r>
              <a:rPr lang="en-US" dirty="0" err="1" smtClean="0"/>
              <a:t>bizbok</a:t>
            </a:r>
            <a:r>
              <a:rPr lang="en-US" dirty="0" smtClean="0"/>
              <a:t>®)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174"/>
            <a:ext cx="9144000" cy="445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1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7B1AF-C811-49A0-AC28-BC2743A8A5B8}" type="datetime1">
              <a:rPr lang="en-US" smtClean="0"/>
              <a:t>3/15/15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488711" y="3767024"/>
            <a:ext cx="8018654" cy="1887696"/>
          </a:xfrm>
        </p:spPr>
        <p:txBody>
          <a:bodyPr/>
          <a:lstStyle/>
          <a:p>
            <a:r>
              <a:rPr lang="en-US" dirty="0" smtClean="0"/>
              <a:t>We are looking for additional participants to accelerate </a:t>
            </a:r>
          </a:p>
          <a:p>
            <a:r>
              <a:rPr lang="en-US" dirty="0" smtClean="0"/>
              <a:t>our efforts on this landmark work plan. Please contact the </a:t>
            </a:r>
          </a:p>
          <a:p>
            <a:r>
              <a:rPr lang="en-US" dirty="0" smtClean="0"/>
              <a:t>Team Leader (Jeffrey Wallk) on the Guild Site (see link)</a:t>
            </a:r>
          </a:p>
          <a:p>
            <a:endParaRPr lang="en-US" dirty="0" smtClean="0"/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www.businessarchitectureguild.org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520314" y="2798076"/>
            <a:ext cx="2744211" cy="61555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21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263</TotalTime>
  <Words>474</Words>
  <Application>Microsoft Macintosh PowerPoint</Application>
  <PresentationFormat>On-screen Show (4:3)</PresentationFormat>
  <Paragraphs>92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1_Angles</vt:lpstr>
      <vt:lpstr>Metamodel team</vt:lpstr>
      <vt:lpstr>Roadmap</vt:lpstr>
      <vt:lpstr>Roadmap (Detailed Breakdown)</vt:lpstr>
      <vt:lpstr>Scenarios for the OMG WP</vt:lpstr>
      <vt:lpstr>Current state BA MetaModel (bizbok®)</vt:lpstr>
      <vt:lpstr>Thank you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22</cp:revision>
  <dcterms:created xsi:type="dcterms:W3CDTF">2012-10-06T17:50:46Z</dcterms:created>
  <dcterms:modified xsi:type="dcterms:W3CDTF">2015-03-15T21:23:19Z</dcterms:modified>
</cp:coreProperties>
</file>
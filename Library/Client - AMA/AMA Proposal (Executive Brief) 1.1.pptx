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notesSlides/notesSlide12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15"/>
  </p:notesMasterIdLst>
  <p:handoutMasterIdLst>
    <p:handoutMasterId r:id="rId16"/>
  </p:handoutMasterIdLst>
  <p:sldIdLst>
    <p:sldId id="257" r:id="rId2"/>
    <p:sldId id="283" r:id="rId3"/>
    <p:sldId id="284" r:id="rId4"/>
    <p:sldId id="259" r:id="rId5"/>
    <p:sldId id="260" r:id="rId6"/>
    <p:sldId id="265" r:id="rId7"/>
    <p:sldId id="276" r:id="rId8"/>
    <p:sldId id="263" r:id="rId9"/>
    <p:sldId id="262" r:id="rId10"/>
    <p:sldId id="261" r:id="rId11"/>
    <p:sldId id="271" r:id="rId12"/>
    <p:sldId id="266" r:id="rId13"/>
    <p:sldId id="277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38" autoAdjust="0"/>
    <p:restoredTop sz="94660"/>
  </p:normalViewPr>
  <p:slideViewPr>
    <p:cSldViewPr>
      <p:cViewPr varScale="1">
        <p:scale>
          <a:sx n="71" d="100"/>
          <a:sy n="71" d="100"/>
        </p:scale>
        <p:origin x="-14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953B3E-FE0E-4132-8507-9B770972069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A238D8-41AA-42D1-A624-A4BE17E3489D}">
      <dgm:prSet phldrT="[Text]"/>
      <dgm:spPr/>
      <dgm:t>
        <a:bodyPr/>
        <a:lstStyle/>
        <a:p>
          <a:r>
            <a:rPr lang="en-US" b="1" dirty="0" smtClean="0"/>
            <a:t>Value</a:t>
          </a:r>
          <a:endParaRPr lang="en-US" b="1" dirty="0"/>
        </a:p>
      </dgm:t>
    </dgm:pt>
    <dgm:pt modelId="{6FA72C3A-72F3-40C1-8749-0403B7B19AEC}" type="parTrans" cxnId="{FE37E077-C1FA-4AC5-B890-C36DE75CB9AE}">
      <dgm:prSet/>
      <dgm:spPr/>
      <dgm:t>
        <a:bodyPr/>
        <a:lstStyle/>
        <a:p>
          <a:endParaRPr lang="en-US"/>
        </a:p>
      </dgm:t>
    </dgm:pt>
    <dgm:pt modelId="{1323FBD4-0185-4499-9C77-8B125A9EDECB}" type="sibTrans" cxnId="{FE37E077-C1FA-4AC5-B890-C36DE75CB9AE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DBB4C2F7-4009-4772-A287-018D1DFA27A3}">
      <dgm:prSet phldrT="[Text]"/>
      <dgm:spPr/>
      <dgm:t>
        <a:bodyPr/>
        <a:lstStyle/>
        <a:p>
          <a:r>
            <a:rPr lang="en-US" b="1" dirty="0" smtClean="0"/>
            <a:t>Quality</a:t>
          </a:r>
          <a:endParaRPr lang="en-US" b="1" dirty="0"/>
        </a:p>
      </dgm:t>
    </dgm:pt>
    <dgm:pt modelId="{36F840AF-7E1B-42F5-9FEA-00725135DC0C}" type="parTrans" cxnId="{44C1A03A-48EE-4CE5-8585-EC265DA22029}">
      <dgm:prSet/>
      <dgm:spPr/>
      <dgm:t>
        <a:bodyPr/>
        <a:lstStyle/>
        <a:p>
          <a:endParaRPr lang="en-US"/>
        </a:p>
      </dgm:t>
    </dgm:pt>
    <dgm:pt modelId="{3EBECECA-EEE9-4671-989E-9D199CD8E4F3}" type="sibTrans" cxnId="{44C1A03A-48EE-4CE5-8585-EC265DA22029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797F2B97-E140-44EC-B0A7-251A59CA45CE}">
      <dgm:prSet phldrT="[Text]"/>
      <dgm:spPr/>
      <dgm:t>
        <a:bodyPr/>
        <a:lstStyle/>
        <a:p>
          <a:r>
            <a:rPr lang="en-US" dirty="0" smtClean="0"/>
            <a:t>Practitioner-Driven</a:t>
          </a:r>
          <a:endParaRPr lang="en-US" dirty="0"/>
        </a:p>
      </dgm:t>
    </dgm:pt>
    <dgm:pt modelId="{8D02BC7A-3D51-4B34-9986-C9B1FE3CFFE5}" type="parTrans" cxnId="{3FD6B0BB-80DC-42AB-BEF1-FABF153F6717}">
      <dgm:prSet/>
      <dgm:spPr/>
      <dgm:t>
        <a:bodyPr/>
        <a:lstStyle/>
        <a:p>
          <a:endParaRPr lang="en-US"/>
        </a:p>
      </dgm:t>
    </dgm:pt>
    <dgm:pt modelId="{4215C9C7-68AC-4EC3-8995-A4834E0849E5}" type="sibTrans" cxnId="{3FD6B0BB-80DC-42AB-BEF1-FABF153F6717}">
      <dgm:prSet/>
      <dgm:spPr/>
      <dgm:t>
        <a:bodyPr/>
        <a:lstStyle/>
        <a:p>
          <a:endParaRPr lang="en-US"/>
        </a:p>
      </dgm:t>
    </dgm:pt>
    <dgm:pt modelId="{1D895A9F-66CD-4D6A-87C1-D6070AA2D1F9}">
      <dgm:prSet phldrT="[Text]"/>
      <dgm:spPr/>
      <dgm:t>
        <a:bodyPr/>
        <a:lstStyle/>
        <a:p>
          <a:r>
            <a:rPr lang="en-US" b="1" dirty="0" smtClean="0"/>
            <a:t>Results</a:t>
          </a:r>
          <a:endParaRPr lang="en-US" b="1" dirty="0"/>
        </a:p>
      </dgm:t>
    </dgm:pt>
    <dgm:pt modelId="{7AA8497B-C2CC-4C8E-AC5B-345ACBA48BB7}" type="parTrans" cxnId="{FC7A256F-CA42-4098-82B2-7BE13DF4416C}">
      <dgm:prSet/>
      <dgm:spPr/>
      <dgm:t>
        <a:bodyPr/>
        <a:lstStyle/>
        <a:p>
          <a:endParaRPr lang="en-US"/>
        </a:p>
      </dgm:t>
    </dgm:pt>
    <dgm:pt modelId="{EE563ECF-BA11-485C-9105-3B86BDDB9B0B}" type="sibTrans" cxnId="{FC7A256F-CA42-4098-82B2-7BE13DF4416C}">
      <dgm:prSet/>
      <dgm:spPr/>
      <dgm:t>
        <a:bodyPr/>
        <a:lstStyle/>
        <a:p>
          <a:endParaRPr lang="en-US"/>
        </a:p>
      </dgm:t>
    </dgm:pt>
    <dgm:pt modelId="{F8612028-6F88-4858-AC54-F76CAE6CE636}">
      <dgm:prSet phldrT="[Text]"/>
      <dgm:spPr/>
      <dgm:t>
        <a:bodyPr/>
        <a:lstStyle/>
        <a:p>
          <a:r>
            <a:rPr lang="en-US" dirty="0" smtClean="0"/>
            <a:t>Provider-Driven</a:t>
          </a:r>
          <a:endParaRPr lang="en-US" dirty="0"/>
        </a:p>
      </dgm:t>
    </dgm:pt>
    <dgm:pt modelId="{217EE81B-17E9-4ECD-A44B-ECAAC82F554C}" type="parTrans" cxnId="{33939C41-5E32-4666-AB99-99D212C8DF44}">
      <dgm:prSet/>
      <dgm:spPr/>
      <dgm:t>
        <a:bodyPr/>
        <a:lstStyle/>
        <a:p>
          <a:endParaRPr lang="en-US"/>
        </a:p>
      </dgm:t>
    </dgm:pt>
    <dgm:pt modelId="{EBCD7AA3-FFCF-492D-BBCF-DF14AFE4441E}" type="sibTrans" cxnId="{33939C41-5E32-4666-AB99-99D212C8DF44}">
      <dgm:prSet/>
      <dgm:spPr/>
      <dgm:t>
        <a:bodyPr/>
        <a:lstStyle/>
        <a:p>
          <a:endParaRPr lang="en-US"/>
        </a:p>
      </dgm:t>
    </dgm:pt>
    <dgm:pt modelId="{B137D134-E00F-4B03-8649-9260A5728E45}">
      <dgm:prSet phldrT="[Text]"/>
      <dgm:spPr/>
      <dgm:t>
        <a:bodyPr/>
        <a:lstStyle/>
        <a:p>
          <a:r>
            <a:rPr lang="en-US" dirty="0" smtClean="0"/>
            <a:t>Patient-Driven</a:t>
          </a:r>
          <a:endParaRPr lang="en-US" dirty="0"/>
        </a:p>
      </dgm:t>
    </dgm:pt>
    <dgm:pt modelId="{A56E3852-5D08-455E-934F-CC4A209DEBA1}" type="sibTrans" cxnId="{E546E067-D952-4C16-BF55-4CDDE33654ED}">
      <dgm:prSet/>
      <dgm:spPr/>
      <dgm:t>
        <a:bodyPr/>
        <a:lstStyle/>
        <a:p>
          <a:endParaRPr lang="en-US"/>
        </a:p>
      </dgm:t>
    </dgm:pt>
    <dgm:pt modelId="{F18D071C-91F5-4256-9C04-9045C1A99306}" type="parTrans" cxnId="{E546E067-D952-4C16-BF55-4CDDE33654ED}">
      <dgm:prSet/>
      <dgm:spPr/>
      <dgm:t>
        <a:bodyPr/>
        <a:lstStyle/>
        <a:p>
          <a:endParaRPr lang="en-US"/>
        </a:p>
      </dgm:t>
    </dgm:pt>
    <dgm:pt modelId="{1E153542-D7E0-4561-8633-4F9C38EBC364}" type="pres">
      <dgm:prSet presAssocID="{BF953B3E-FE0E-4132-8507-9B770972069A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C6F8402-BB6D-4E54-A9CD-7AF6DDC9F657}" type="pres">
      <dgm:prSet presAssocID="{BF953B3E-FE0E-4132-8507-9B770972069A}" presName="dummyMaxCanvas" presStyleCnt="0">
        <dgm:presLayoutVars/>
      </dgm:prSet>
      <dgm:spPr/>
    </dgm:pt>
    <dgm:pt modelId="{19112690-9CC1-42CA-92EF-22A5046497D0}" type="pres">
      <dgm:prSet presAssocID="{BF953B3E-FE0E-4132-8507-9B770972069A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FCDAAD-01F0-4B5F-AC01-AA624E3EDD7F}" type="pres">
      <dgm:prSet presAssocID="{BF953B3E-FE0E-4132-8507-9B770972069A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74B58B-DD19-4846-902F-F2A0A40B53F0}" type="pres">
      <dgm:prSet presAssocID="{BF953B3E-FE0E-4132-8507-9B770972069A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0F8408-68AE-4879-BCBB-6F1D070EBBEC}" type="pres">
      <dgm:prSet presAssocID="{BF953B3E-FE0E-4132-8507-9B770972069A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27DFCF-341C-4832-B707-7562421074B8}" type="pres">
      <dgm:prSet presAssocID="{BF953B3E-FE0E-4132-8507-9B770972069A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7EC5E8-DE49-43E0-8D6A-67245C3D29F1}" type="pres">
      <dgm:prSet presAssocID="{BF953B3E-FE0E-4132-8507-9B770972069A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F0F54D-BDA7-46C0-84B2-112BAAC12E67}" type="pres">
      <dgm:prSet presAssocID="{BF953B3E-FE0E-4132-8507-9B770972069A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643E70-788A-439F-A22B-D54BB71AE1B4}" type="pres">
      <dgm:prSet presAssocID="{BF953B3E-FE0E-4132-8507-9B770972069A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FD6B0BB-80DC-42AB-BEF1-FABF153F6717}" srcId="{DBB4C2F7-4009-4772-A287-018D1DFA27A3}" destId="{797F2B97-E140-44EC-B0A7-251A59CA45CE}" srcOrd="0" destOrd="0" parTransId="{8D02BC7A-3D51-4B34-9986-C9B1FE3CFFE5}" sibTransId="{4215C9C7-68AC-4EC3-8995-A4834E0849E5}"/>
    <dgm:cxn modelId="{8F8183BF-8B88-4B8D-803F-D7F900E37297}" type="presOf" srcId="{DBB4C2F7-4009-4772-A287-018D1DFA27A3}" destId="{44FCDAAD-01F0-4B5F-AC01-AA624E3EDD7F}" srcOrd="0" destOrd="0" presId="urn:microsoft.com/office/officeart/2005/8/layout/vProcess5"/>
    <dgm:cxn modelId="{33939C41-5E32-4666-AB99-99D212C8DF44}" srcId="{1D895A9F-66CD-4D6A-87C1-D6070AA2D1F9}" destId="{F8612028-6F88-4858-AC54-F76CAE6CE636}" srcOrd="0" destOrd="0" parTransId="{217EE81B-17E9-4ECD-A44B-ECAAC82F554C}" sibTransId="{EBCD7AA3-FFCF-492D-BBCF-DF14AFE4441E}"/>
    <dgm:cxn modelId="{F97A496A-1E42-4619-B712-FA49E8E0FB32}" type="presOf" srcId="{7CA238D8-41AA-42D1-A624-A4BE17E3489D}" destId="{19112690-9CC1-42CA-92EF-22A5046497D0}" srcOrd="0" destOrd="0" presId="urn:microsoft.com/office/officeart/2005/8/layout/vProcess5"/>
    <dgm:cxn modelId="{97401368-9CC1-4B46-869A-BFACB2071978}" type="presOf" srcId="{F8612028-6F88-4858-AC54-F76CAE6CE636}" destId="{55643E70-788A-439F-A22B-D54BB71AE1B4}" srcOrd="1" destOrd="1" presId="urn:microsoft.com/office/officeart/2005/8/layout/vProcess5"/>
    <dgm:cxn modelId="{E546E067-D952-4C16-BF55-4CDDE33654ED}" srcId="{7CA238D8-41AA-42D1-A624-A4BE17E3489D}" destId="{B137D134-E00F-4B03-8649-9260A5728E45}" srcOrd="0" destOrd="0" parTransId="{F18D071C-91F5-4256-9C04-9045C1A99306}" sibTransId="{A56E3852-5D08-455E-934F-CC4A209DEBA1}"/>
    <dgm:cxn modelId="{173B5D9E-620E-4448-8430-88D26E18F9DE}" type="presOf" srcId="{DBB4C2F7-4009-4772-A287-018D1DFA27A3}" destId="{78F0F54D-BDA7-46C0-84B2-112BAAC12E67}" srcOrd="1" destOrd="0" presId="urn:microsoft.com/office/officeart/2005/8/layout/vProcess5"/>
    <dgm:cxn modelId="{969F60E9-399F-4721-811C-CFDAFBEEC567}" type="presOf" srcId="{B137D134-E00F-4B03-8649-9260A5728E45}" destId="{C67EC5E8-DE49-43E0-8D6A-67245C3D29F1}" srcOrd="1" destOrd="1" presId="urn:microsoft.com/office/officeart/2005/8/layout/vProcess5"/>
    <dgm:cxn modelId="{5A4F3D74-1B65-4C6D-8C66-829354959ABF}" type="presOf" srcId="{BF953B3E-FE0E-4132-8507-9B770972069A}" destId="{1E153542-D7E0-4561-8633-4F9C38EBC364}" srcOrd="0" destOrd="0" presId="urn:microsoft.com/office/officeart/2005/8/layout/vProcess5"/>
    <dgm:cxn modelId="{87865818-BDDA-4894-AC14-FF20E5EDEB6E}" type="presOf" srcId="{797F2B97-E140-44EC-B0A7-251A59CA45CE}" destId="{78F0F54D-BDA7-46C0-84B2-112BAAC12E67}" srcOrd="1" destOrd="1" presId="urn:microsoft.com/office/officeart/2005/8/layout/vProcess5"/>
    <dgm:cxn modelId="{FF9EE5F1-4E31-42B8-BD1B-988B7FAE156D}" type="presOf" srcId="{797F2B97-E140-44EC-B0A7-251A59CA45CE}" destId="{44FCDAAD-01F0-4B5F-AC01-AA624E3EDD7F}" srcOrd="0" destOrd="1" presId="urn:microsoft.com/office/officeart/2005/8/layout/vProcess5"/>
    <dgm:cxn modelId="{FC7A256F-CA42-4098-82B2-7BE13DF4416C}" srcId="{BF953B3E-FE0E-4132-8507-9B770972069A}" destId="{1D895A9F-66CD-4D6A-87C1-D6070AA2D1F9}" srcOrd="2" destOrd="0" parTransId="{7AA8497B-C2CC-4C8E-AC5B-345ACBA48BB7}" sibTransId="{EE563ECF-BA11-485C-9105-3B86BDDB9B0B}"/>
    <dgm:cxn modelId="{76AAAAE4-F669-4258-A904-113B696840DB}" type="presOf" srcId="{B137D134-E00F-4B03-8649-9260A5728E45}" destId="{19112690-9CC1-42CA-92EF-22A5046497D0}" srcOrd="0" destOrd="1" presId="urn:microsoft.com/office/officeart/2005/8/layout/vProcess5"/>
    <dgm:cxn modelId="{44C1A03A-48EE-4CE5-8585-EC265DA22029}" srcId="{BF953B3E-FE0E-4132-8507-9B770972069A}" destId="{DBB4C2F7-4009-4772-A287-018D1DFA27A3}" srcOrd="1" destOrd="0" parTransId="{36F840AF-7E1B-42F5-9FEA-00725135DC0C}" sibTransId="{3EBECECA-EEE9-4671-989E-9D199CD8E4F3}"/>
    <dgm:cxn modelId="{7E0227FC-4359-4C07-8214-E68641270586}" type="presOf" srcId="{7CA238D8-41AA-42D1-A624-A4BE17E3489D}" destId="{C67EC5E8-DE49-43E0-8D6A-67245C3D29F1}" srcOrd="1" destOrd="0" presId="urn:microsoft.com/office/officeart/2005/8/layout/vProcess5"/>
    <dgm:cxn modelId="{A100D246-4654-409B-90DE-70011E0C5EE9}" type="presOf" srcId="{1D895A9F-66CD-4D6A-87C1-D6070AA2D1F9}" destId="{55643E70-788A-439F-A22B-D54BB71AE1B4}" srcOrd="1" destOrd="0" presId="urn:microsoft.com/office/officeart/2005/8/layout/vProcess5"/>
    <dgm:cxn modelId="{A3280FA3-4726-4059-BF42-5FD5ABF12655}" type="presOf" srcId="{F8612028-6F88-4858-AC54-F76CAE6CE636}" destId="{F374B58B-DD19-4846-902F-F2A0A40B53F0}" srcOrd="0" destOrd="1" presId="urn:microsoft.com/office/officeart/2005/8/layout/vProcess5"/>
    <dgm:cxn modelId="{FE37E077-C1FA-4AC5-B890-C36DE75CB9AE}" srcId="{BF953B3E-FE0E-4132-8507-9B770972069A}" destId="{7CA238D8-41AA-42D1-A624-A4BE17E3489D}" srcOrd="0" destOrd="0" parTransId="{6FA72C3A-72F3-40C1-8749-0403B7B19AEC}" sibTransId="{1323FBD4-0185-4499-9C77-8B125A9EDECB}"/>
    <dgm:cxn modelId="{731BCE9F-5CF2-4AE3-9513-2812FD4ED712}" type="presOf" srcId="{3EBECECA-EEE9-4671-989E-9D199CD8E4F3}" destId="{BC27DFCF-341C-4832-B707-7562421074B8}" srcOrd="0" destOrd="0" presId="urn:microsoft.com/office/officeart/2005/8/layout/vProcess5"/>
    <dgm:cxn modelId="{F9E84F6A-503A-42F0-B977-BE1EE364CC3C}" type="presOf" srcId="{1D895A9F-66CD-4D6A-87C1-D6070AA2D1F9}" destId="{F374B58B-DD19-4846-902F-F2A0A40B53F0}" srcOrd="0" destOrd="0" presId="urn:microsoft.com/office/officeart/2005/8/layout/vProcess5"/>
    <dgm:cxn modelId="{9E4B3D65-7867-46DE-984D-9D33B5A89C9B}" type="presOf" srcId="{1323FBD4-0185-4499-9C77-8B125A9EDECB}" destId="{6A0F8408-68AE-4879-BCBB-6F1D070EBBEC}" srcOrd="0" destOrd="0" presId="urn:microsoft.com/office/officeart/2005/8/layout/vProcess5"/>
    <dgm:cxn modelId="{E901AA8A-0F65-45DC-A2F6-0EE385B1D20D}" type="presParOf" srcId="{1E153542-D7E0-4561-8633-4F9C38EBC364}" destId="{7C6F8402-BB6D-4E54-A9CD-7AF6DDC9F657}" srcOrd="0" destOrd="0" presId="urn:microsoft.com/office/officeart/2005/8/layout/vProcess5"/>
    <dgm:cxn modelId="{A2A5C3DC-1495-4C03-AC16-55468342A75D}" type="presParOf" srcId="{1E153542-D7E0-4561-8633-4F9C38EBC364}" destId="{19112690-9CC1-42CA-92EF-22A5046497D0}" srcOrd="1" destOrd="0" presId="urn:microsoft.com/office/officeart/2005/8/layout/vProcess5"/>
    <dgm:cxn modelId="{D09C5166-B240-4F92-B01B-C2D2D7418FF4}" type="presParOf" srcId="{1E153542-D7E0-4561-8633-4F9C38EBC364}" destId="{44FCDAAD-01F0-4B5F-AC01-AA624E3EDD7F}" srcOrd="2" destOrd="0" presId="urn:microsoft.com/office/officeart/2005/8/layout/vProcess5"/>
    <dgm:cxn modelId="{C7F0D368-08B9-4640-A9C7-8E621EEA40D2}" type="presParOf" srcId="{1E153542-D7E0-4561-8633-4F9C38EBC364}" destId="{F374B58B-DD19-4846-902F-F2A0A40B53F0}" srcOrd="3" destOrd="0" presId="urn:microsoft.com/office/officeart/2005/8/layout/vProcess5"/>
    <dgm:cxn modelId="{6232EABD-F989-458B-B70E-EE19AB0398E7}" type="presParOf" srcId="{1E153542-D7E0-4561-8633-4F9C38EBC364}" destId="{6A0F8408-68AE-4879-BCBB-6F1D070EBBEC}" srcOrd="4" destOrd="0" presId="urn:microsoft.com/office/officeart/2005/8/layout/vProcess5"/>
    <dgm:cxn modelId="{A69B442C-0BD6-4B56-89D2-1804C4452C69}" type="presParOf" srcId="{1E153542-D7E0-4561-8633-4F9C38EBC364}" destId="{BC27DFCF-341C-4832-B707-7562421074B8}" srcOrd="5" destOrd="0" presId="urn:microsoft.com/office/officeart/2005/8/layout/vProcess5"/>
    <dgm:cxn modelId="{C2D2757A-C3C9-486D-BF3A-24A6CC6F92A2}" type="presParOf" srcId="{1E153542-D7E0-4561-8633-4F9C38EBC364}" destId="{C67EC5E8-DE49-43E0-8D6A-67245C3D29F1}" srcOrd="6" destOrd="0" presId="urn:microsoft.com/office/officeart/2005/8/layout/vProcess5"/>
    <dgm:cxn modelId="{BF34F124-8C5A-4898-9FDD-DE81493AC9E5}" type="presParOf" srcId="{1E153542-D7E0-4561-8633-4F9C38EBC364}" destId="{78F0F54D-BDA7-46C0-84B2-112BAAC12E67}" srcOrd="7" destOrd="0" presId="urn:microsoft.com/office/officeart/2005/8/layout/vProcess5"/>
    <dgm:cxn modelId="{AB4A6EAE-7A5B-4AC5-B19B-FE987777A098}" type="presParOf" srcId="{1E153542-D7E0-4561-8633-4F9C38EBC364}" destId="{55643E70-788A-439F-A22B-D54BB71AE1B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 custT="1"/>
      <dgm:spPr/>
      <dgm:t>
        <a:bodyPr/>
        <a:lstStyle/>
        <a:p>
          <a:r>
            <a:rPr lang="en-US" sz="1050" b="1" dirty="0" smtClean="0"/>
            <a:t>Technology</a:t>
          </a:r>
          <a:endParaRPr lang="en-US" sz="1050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 custT="1"/>
      <dgm:spPr/>
      <dgm:t>
        <a:bodyPr/>
        <a:lstStyle/>
        <a:p>
          <a:r>
            <a:rPr lang="en-US" sz="1050" b="1" dirty="0" smtClean="0"/>
            <a:t>Ideas</a:t>
          </a:r>
          <a:endParaRPr lang="en-US" sz="1050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b="1" dirty="0">
            <a:solidFill>
              <a:schemeClr val="tx2">
                <a:lumMod val="75000"/>
              </a:schemeClr>
            </a:solidFill>
          </a:endParaRPr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 custLinFactNeighborX="-12222" custLinFactNeighborY="86714"/>
      <dgm:spPr/>
    </dgm:pt>
    <dgm:pt modelId="{0B61870B-E2AE-47B9-90BE-64D52B77842D}" type="pres">
      <dgm:prSet presAssocID="{E20769C5-73DC-4E8A-913F-24C08F2848CC}" presName="rectangle" presStyleLbl="revTx" presStyleIdx="0" presStyleCnt="1" custScaleX="70370" custLinFactNeighborX="-1852" custLinFactNeighborY="517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 custScaleX="147013" custScaleY="103048" custLinFactNeighborX="-208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 custScaleY="114285" custLinFactNeighborX="-2381" custLinFactNeighborY="-231"/>
      <dgm:spPr/>
      <dgm:t>
        <a:bodyPr/>
        <a:lstStyle/>
        <a:p>
          <a:endParaRPr lang="en-US"/>
        </a:p>
      </dgm:t>
    </dgm:pt>
  </dgm:ptLst>
  <dgm:cxnLst>
    <dgm:cxn modelId="{3DE32D3F-1626-4303-B698-83C0BE34096B}" type="presOf" srcId="{E20769C5-73DC-4E8A-913F-24C08F2848CC}" destId="{D7B10E75-58CC-4807-BD47-EBDD0F301C5F}" srcOrd="0" destOrd="0" presId="urn:microsoft.com/office/officeart/2005/8/layout/funnel1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58674CAE-D621-42E1-B737-852527C6B949}" type="presOf" srcId="{CAE624CA-334A-4EB5-BD8E-55849449CB58}" destId="{1700B4C8-12E4-4D00-876C-94377F786E85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19D82CE6-D630-421F-8F02-9CD0A715698A}" type="presOf" srcId="{39749F21-8792-4349-A6A7-BF01EB94F789}" destId="{0B61870B-E2AE-47B9-90BE-64D52B77842D}" srcOrd="0" destOrd="0" presId="urn:microsoft.com/office/officeart/2005/8/layout/funnel1"/>
    <dgm:cxn modelId="{ECC74AD3-8785-4C6E-A4E5-2BD166B59511}" type="presOf" srcId="{42874977-2580-429E-9A3F-5B0A5A2948AF}" destId="{F96B2562-BEBF-42CE-9FF0-1BBD38426426}" srcOrd="0" destOrd="0" presId="urn:microsoft.com/office/officeart/2005/8/layout/funnel1"/>
    <dgm:cxn modelId="{5B2A9A3C-87A9-4DA5-82DA-B10F00C832A5}" type="presOf" srcId="{973D7B39-D5D2-4B89-A3E7-1C0B9FD794DD}" destId="{3260B18C-0F12-415C-B2B5-B0D612D38936}" srcOrd="0" destOrd="0" presId="urn:microsoft.com/office/officeart/2005/8/layout/funnel1"/>
    <dgm:cxn modelId="{8B5B5923-7CBB-4646-9341-5327389C8121}" type="presParOf" srcId="{D7B10E75-58CC-4807-BD47-EBDD0F301C5F}" destId="{E1C58007-ADFE-400C-A7E7-0C16929F4834}" srcOrd="0" destOrd="0" presId="urn:microsoft.com/office/officeart/2005/8/layout/funnel1"/>
    <dgm:cxn modelId="{0D3B1025-3BEC-4317-8935-CA4F3BC2C2E1}" type="presParOf" srcId="{D7B10E75-58CC-4807-BD47-EBDD0F301C5F}" destId="{BE474BB7-A5E2-4490-A567-03B382957073}" srcOrd="1" destOrd="0" presId="urn:microsoft.com/office/officeart/2005/8/layout/funnel1"/>
    <dgm:cxn modelId="{97D5EDD7-E412-4A1F-BD3F-56F9A82C8C80}" type="presParOf" srcId="{D7B10E75-58CC-4807-BD47-EBDD0F301C5F}" destId="{0B61870B-E2AE-47B9-90BE-64D52B77842D}" srcOrd="2" destOrd="0" presId="urn:microsoft.com/office/officeart/2005/8/layout/funnel1"/>
    <dgm:cxn modelId="{3167C9CD-2B26-4E4A-BF58-006E135C311E}" type="presParOf" srcId="{D7B10E75-58CC-4807-BD47-EBDD0F301C5F}" destId="{3260B18C-0F12-415C-B2B5-B0D612D38936}" srcOrd="3" destOrd="0" presId="urn:microsoft.com/office/officeart/2005/8/layout/funnel1"/>
    <dgm:cxn modelId="{CFB1F51F-15E4-4CD4-B974-616F4E118548}" type="presParOf" srcId="{D7B10E75-58CC-4807-BD47-EBDD0F301C5F}" destId="{F96B2562-BEBF-42CE-9FF0-1BBD38426426}" srcOrd="4" destOrd="0" presId="urn:microsoft.com/office/officeart/2005/8/layout/funnel1"/>
    <dgm:cxn modelId="{F71AB4F8-B302-4D4E-AEB8-2D2229E1561F}" type="presParOf" srcId="{D7B10E75-58CC-4807-BD47-EBDD0F301C5F}" destId="{1700B4C8-12E4-4D00-876C-94377F786E85}" srcOrd="5" destOrd="0" presId="urn:microsoft.com/office/officeart/2005/8/layout/funnel1"/>
    <dgm:cxn modelId="{DAD1A2C4-698E-44C1-800C-01769B43B8C0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Concepts</a:t>
          </a:r>
          <a:endParaRPr lang="en-US" sz="1600" b="1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Products &amp; Services</a:t>
          </a:r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    Value Delivery</a:t>
          </a:r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ScaleX="117647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F5BB735-D62C-4A9F-9EA6-3D7C29558420}" type="presOf" srcId="{673AE5C1-39E1-47D6-9713-8CA9BE6EA1DA}" destId="{F6218397-5286-4BF9-91BC-3A8217C085AF}" srcOrd="0" destOrd="0" presId="urn:microsoft.com/office/officeart/2005/8/layout/hProcess9"/>
    <dgm:cxn modelId="{03E435AB-0AAF-4281-8868-DDED2AEDC476}" type="presOf" srcId="{5DCEAD6A-2995-470E-B294-EFE25C7FA270}" destId="{0564D69C-C697-46C9-AFEA-F63178C739BD}" srcOrd="0" destOrd="0" presId="urn:microsoft.com/office/officeart/2005/8/layout/hProcess9"/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C4D08A56-6610-46D8-822B-E2656EEB3F47}" type="presOf" srcId="{56F0B946-F863-43B5-9AE7-3ED2571CC1F7}" destId="{D195289F-4E10-4B57-8C58-6BB3CB9CCF4B}" srcOrd="0" destOrd="0" presId="urn:microsoft.com/office/officeart/2005/8/layout/hProcess9"/>
    <dgm:cxn modelId="{84B97C2C-EF37-4E3C-8C22-167013D915EC}" type="presOf" srcId="{F75D5E40-C0EA-4FAA-9275-3C70938E00EE}" destId="{EDBBB759-F01A-4C3B-A1A8-D2C8F1E5A578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CA143FF3-D2F9-40D7-A686-892FA7BAE482}" type="presParOf" srcId="{F6218397-5286-4BF9-91BC-3A8217C085AF}" destId="{57B6F08F-F180-42E5-86EE-1F47EC70A8B7}" srcOrd="0" destOrd="0" presId="urn:microsoft.com/office/officeart/2005/8/layout/hProcess9"/>
    <dgm:cxn modelId="{33DCACD1-1374-445F-B4E0-ADD7E6590037}" type="presParOf" srcId="{F6218397-5286-4BF9-91BC-3A8217C085AF}" destId="{ED339E6A-99DE-44B5-8942-676116993976}" srcOrd="1" destOrd="0" presId="urn:microsoft.com/office/officeart/2005/8/layout/hProcess9"/>
    <dgm:cxn modelId="{DB23A0A1-B316-4F74-AA80-1D4F8729C208}" type="presParOf" srcId="{ED339E6A-99DE-44B5-8942-676116993976}" destId="{D195289F-4E10-4B57-8C58-6BB3CB9CCF4B}" srcOrd="0" destOrd="0" presId="urn:microsoft.com/office/officeart/2005/8/layout/hProcess9"/>
    <dgm:cxn modelId="{FF11F6E7-8BA4-4984-92CB-21FC6FEDA47B}" type="presParOf" srcId="{ED339E6A-99DE-44B5-8942-676116993976}" destId="{B5A6657B-DFA9-42AD-BD72-82BAEBF8B87E}" srcOrd="1" destOrd="0" presId="urn:microsoft.com/office/officeart/2005/8/layout/hProcess9"/>
    <dgm:cxn modelId="{960AECA3-3429-493F-97DC-E2C8CA120FF2}" type="presParOf" srcId="{ED339E6A-99DE-44B5-8942-676116993976}" destId="{EDBBB759-F01A-4C3B-A1A8-D2C8F1E5A578}" srcOrd="2" destOrd="0" presId="urn:microsoft.com/office/officeart/2005/8/layout/hProcess9"/>
    <dgm:cxn modelId="{E4112049-8ED3-4149-A1B6-A3D3DF078CF9}" type="presParOf" srcId="{ED339E6A-99DE-44B5-8942-676116993976}" destId="{7E687DF4-201B-4FB8-B89C-9863D30313FA}" srcOrd="3" destOrd="0" presId="urn:microsoft.com/office/officeart/2005/8/layout/hProcess9"/>
    <dgm:cxn modelId="{059E70AD-CF31-4471-9245-93B04D08FB2A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9112690-9CC1-42CA-92EF-22A5046497D0}">
      <dsp:nvSpPr>
        <dsp:cNvPr id="0" name=""/>
        <dsp:cNvSpPr/>
      </dsp:nvSpPr>
      <dsp:spPr>
        <a:xfrm>
          <a:off x="0" y="0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Value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Patient-Driven</a:t>
          </a:r>
          <a:endParaRPr lang="en-US" sz="2300" kern="1200" dirty="0"/>
        </a:p>
      </dsp:txBody>
      <dsp:txXfrm>
        <a:off x="0" y="0"/>
        <a:ext cx="3937406" cy="1219200"/>
      </dsp:txXfrm>
    </dsp:sp>
    <dsp:sp modelId="{44FCDAAD-01F0-4B5F-AC01-AA624E3EDD7F}">
      <dsp:nvSpPr>
        <dsp:cNvPr id="0" name=""/>
        <dsp:cNvSpPr/>
      </dsp:nvSpPr>
      <dsp:spPr>
        <a:xfrm>
          <a:off x="457199" y="14223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Quality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Practitioner-Driven</a:t>
          </a:r>
          <a:endParaRPr lang="en-US" sz="2300" kern="1200" dirty="0"/>
        </a:p>
      </dsp:txBody>
      <dsp:txXfrm>
        <a:off x="457199" y="1422399"/>
        <a:ext cx="3931920" cy="1219200"/>
      </dsp:txXfrm>
    </dsp:sp>
    <dsp:sp modelId="{F374B58B-DD19-4846-902F-F2A0A40B53F0}">
      <dsp:nvSpPr>
        <dsp:cNvPr id="0" name=""/>
        <dsp:cNvSpPr/>
      </dsp:nvSpPr>
      <dsp:spPr>
        <a:xfrm>
          <a:off x="914399" y="28447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Results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Provider-Driven</a:t>
          </a:r>
          <a:endParaRPr lang="en-US" sz="2300" kern="1200" dirty="0"/>
        </a:p>
      </dsp:txBody>
      <dsp:txXfrm>
        <a:off x="914399" y="2844799"/>
        <a:ext cx="3931920" cy="1219200"/>
      </dsp:txXfrm>
    </dsp:sp>
    <dsp:sp modelId="{6A0F8408-68AE-4879-BCBB-6F1D070EBBEC}">
      <dsp:nvSpPr>
        <dsp:cNvPr id="0" name=""/>
        <dsp:cNvSpPr/>
      </dsp:nvSpPr>
      <dsp:spPr>
        <a:xfrm>
          <a:off x="4389120" y="924560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389120" y="924560"/>
        <a:ext cx="792480" cy="792480"/>
      </dsp:txXfrm>
    </dsp:sp>
    <dsp:sp modelId="{BC27DFCF-341C-4832-B707-7562421074B8}">
      <dsp:nvSpPr>
        <dsp:cNvPr id="0" name=""/>
        <dsp:cNvSpPr/>
      </dsp:nvSpPr>
      <dsp:spPr>
        <a:xfrm>
          <a:off x="4846320" y="2338832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846320" y="2338832"/>
        <a:ext cx="792480" cy="79248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700719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447800" y="281939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952500" y="3067049"/>
          <a:ext cx="1447792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sz="1800" b="1" kern="1200" dirty="0">
            <a:solidFill>
              <a:schemeClr val="tx2">
                <a:lumMod val="75000"/>
              </a:schemeClr>
            </a:solidFill>
          </a:endParaRPr>
        </a:p>
      </dsp:txBody>
      <dsp:txXfrm>
        <a:off x="952500" y="3067049"/>
        <a:ext cx="1447792" cy="514350"/>
      </dsp:txXfrm>
    </dsp:sp>
    <dsp:sp modelId="{3260B18C-0F12-415C-B2B5-B0D612D38936}">
      <dsp:nvSpPr>
        <dsp:cNvPr id="0" name=""/>
        <dsp:cNvSpPr/>
      </dsp:nvSpPr>
      <dsp:spPr>
        <a:xfrm>
          <a:off x="1066804" y="1516378"/>
          <a:ext cx="1134242" cy="79504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Resources</a:t>
          </a:r>
          <a:endParaRPr lang="en-US" sz="1400" b="1" kern="1200" dirty="0"/>
        </a:p>
      </dsp:txBody>
      <dsp:txXfrm>
        <a:off x="1066804" y="1516378"/>
        <a:ext cx="1134242" cy="795041"/>
      </dsp:txXfrm>
    </dsp:sp>
    <dsp:sp modelId="{F96B2562-BEBF-42CE-9FF0-1BBD38426426}">
      <dsp:nvSpPr>
        <dsp:cNvPr id="0" name=""/>
        <dsp:cNvSpPr/>
      </dsp:nvSpPr>
      <dsp:spPr>
        <a:xfrm>
          <a:off x="645786" y="940915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Ideas</a:t>
          </a:r>
          <a:endParaRPr lang="en-US" sz="1050" b="1" kern="1200" dirty="0"/>
        </a:p>
      </dsp:txBody>
      <dsp:txXfrm>
        <a:off x="645786" y="940915"/>
        <a:ext cx="965833" cy="788336"/>
      </dsp:txXfrm>
    </dsp:sp>
    <dsp:sp modelId="{1700B4C8-12E4-4D00-876C-94377F786E85}">
      <dsp:nvSpPr>
        <dsp:cNvPr id="0" name=""/>
        <dsp:cNvSpPr/>
      </dsp:nvSpPr>
      <dsp:spPr>
        <a:xfrm>
          <a:off x="1434456" y="754378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Technology</a:t>
          </a:r>
          <a:endParaRPr lang="en-US" sz="1050" b="1" kern="1200" dirty="0"/>
        </a:p>
      </dsp:txBody>
      <dsp:txXfrm>
        <a:off x="1434456" y="754378"/>
        <a:ext cx="965833" cy="788336"/>
      </dsp:txXfrm>
    </dsp:sp>
    <dsp:sp modelId="{CDFE8F55-FE62-4CE9-AB0C-1431255D3302}">
      <dsp:nvSpPr>
        <dsp:cNvPr id="0" name=""/>
        <dsp:cNvSpPr/>
      </dsp:nvSpPr>
      <dsp:spPr>
        <a:xfrm>
          <a:off x="457198" y="464832"/>
          <a:ext cx="2400300" cy="219454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2" y="0"/>
          <a:ext cx="4190997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Concepts</a:t>
          </a:r>
          <a:endParaRPr lang="en-US" sz="1600" b="1" kern="1200" dirty="0"/>
        </a:p>
      </dsp:txBody>
      <dsp:txXfrm>
        <a:off x="0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4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Products &amp; Services</a:t>
          </a:r>
        </a:p>
      </dsp:txBody>
      <dsp:txXfrm>
        <a:off x="1466849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93370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    Value Delivery</a:t>
          </a:r>
        </a:p>
      </dsp:txBody>
      <dsp:txXfrm>
        <a:off x="2933700" y="701040"/>
        <a:ext cx="1257300" cy="934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DD8D3DF-C8E7-400F-A470-C35BFABFEA8B}" type="datetime1">
              <a:rPr lang="en-US"/>
              <a:pPr>
                <a:defRPr/>
              </a:pPr>
              <a:t>12/11/2009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DFC0378-E924-45D2-833F-2407825596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BA5DA134-F246-4A0D-B32C-1C816EB1D884}" type="datetime1">
              <a:rPr lang="en-US"/>
              <a:pPr>
                <a:defRPr/>
              </a:pPr>
              <a:t>12/11/2009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D8C2B3F5-6F9B-4CB9-8D11-1CB8B4199F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8086183-1692-4BAB-89CE-8EA69FACF634}" type="slidenum">
              <a:rPr lang="en-US" smtClean="0">
                <a:latin typeface="Calibri" pitchFamily="34" charset="0"/>
              </a:rPr>
              <a:pPr/>
              <a:t>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A6487A0-066A-4A22-8DFD-9A39B981C7E8}" type="slidenum">
              <a:rPr lang="en-US" smtClean="0">
                <a:latin typeface="Calibri" pitchFamily="34" charset="0"/>
              </a:rPr>
              <a:pPr/>
              <a:t>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42860BF-E294-4513-9F1C-003FAAC914C4}" type="slidenum">
              <a:rPr lang="en-US" smtClean="0">
                <a:latin typeface="Calibri" pitchFamily="34" charset="0"/>
              </a:rPr>
              <a:pPr/>
              <a:t>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BD134A0-657D-41F1-9E66-AB3AE6B97A02}" type="slidenum">
              <a:rPr lang="en-US" smtClean="0">
                <a:latin typeface="Calibri" pitchFamily="34" charset="0"/>
              </a:rPr>
              <a:pPr/>
              <a:t>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234C9EB-C7A4-4235-86DC-D3FDF026DCA4}" type="slidenum">
              <a:rPr lang="en-US" smtClean="0">
                <a:latin typeface="Calibri" pitchFamily="34" charset="0"/>
              </a:rPr>
              <a:pPr/>
              <a:t>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982A622-745F-4962-875B-0ADA09E6DA90}" type="slidenum">
              <a:rPr lang="en-US" smtClean="0">
                <a:latin typeface="Calibri" pitchFamily="34" charset="0"/>
              </a:rPr>
              <a:pPr/>
              <a:t>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11E45C7-64D4-4801-B5EA-FD192A93681B}" type="slidenum">
              <a:rPr lang="en-US" smtClean="0">
                <a:latin typeface="Calibri" pitchFamily="34" charset="0"/>
              </a:rPr>
              <a:pPr/>
              <a:t>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7CC1184-0578-4AC4-BBEF-A4F127FA2C39}" type="slidenum">
              <a:rPr lang="en-US" smtClean="0">
                <a:latin typeface="Calibri" pitchFamily="34" charset="0"/>
              </a:rPr>
              <a:pPr/>
              <a:t>10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D0BB94-9E74-4702-9353-84CB161F2723}" type="slidenum">
              <a:rPr lang="en-US" smtClean="0">
                <a:latin typeface="Calibri" pitchFamily="34" charset="0"/>
              </a:rPr>
              <a:pPr/>
              <a:t>11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967E0A2-8659-4B14-B129-2CA54DA3F4C1}" type="slidenum">
              <a:rPr lang="en-US" smtClean="0">
                <a:latin typeface="Calibri" pitchFamily="34" charset="0"/>
              </a:rPr>
              <a:pPr/>
              <a:t>12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724FB15-D4DD-42F5-8CEF-6AFF62F6DDF1}" type="slidenum">
              <a:rPr lang="en-US" smtClean="0">
                <a:latin typeface="Calibri" pitchFamily="34" charset="0"/>
              </a:rPr>
              <a:pPr/>
              <a:t>13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8A67391-9C2F-4576-BC27-1C9C10A952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B17766A0-4E7E-4346-9845-753A3E560A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887C531-DA27-446A-8A3B-0540AE8DE5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C9C5604-86D9-4EB0-BC59-58A9D6CCB3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DCA6F392-9C2D-4F42-B20A-C1BECCDA9F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B372FCA7-C354-429C-9ED2-828CB4DE6D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DBBCB50-9D3D-47BD-8364-0BC282FB8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6D52CC7-5F5A-4913-8F2B-3DD5AAB29E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98569EF-EF0C-43C2-A2A7-1FCA48F5D3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C33277A-904F-48AA-BB90-3186DF325E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5D87D35D-A695-453C-87D5-A9ECB16D7C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6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ea typeface="ＭＳ Ｐゴシック" pitchFamily="34" charset="-128"/>
              </a:rPr>
              <a:t>A New Value Proposition</a:t>
            </a:r>
            <a:br>
              <a:rPr lang="en-US" b="1" smtClean="0">
                <a:ea typeface="ＭＳ Ｐゴシック" pitchFamily="34" charset="-128"/>
              </a:rPr>
            </a:br>
            <a:r>
              <a:rPr lang="en-US" b="1" smtClean="0">
                <a:ea typeface="ＭＳ Ｐゴシック" pitchFamily="34" charset="-128"/>
              </a:rPr>
              <a:t>for the AMA</a:t>
            </a:r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7413" y="3733800"/>
            <a:ext cx="2744787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Proposal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itchFamily="2" charset="2"/>
              <a:buChar char="q"/>
            </a:pP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marL="457200" lvl="1" indent="0">
              <a:buNone/>
            </a:pPr>
            <a:r>
              <a:rPr lang="en-US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Implementing </a:t>
            </a:r>
            <a:r>
              <a:rPr lang="en-US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a value-driven measurement system for healthcare </a:t>
            </a:r>
            <a:r>
              <a:rPr lang="en-US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that results in expanding membership</a:t>
            </a:r>
            <a:r>
              <a:rPr lang="en-US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improving relevancy</a:t>
            </a:r>
            <a:r>
              <a:rPr lang="en-US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, and </a:t>
            </a:r>
            <a:r>
              <a:rPr lang="en-US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increasing revenue </a:t>
            </a:r>
            <a:r>
              <a:rPr lang="en-US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potential for the AMA.   </a:t>
            </a:r>
            <a:endParaRPr lang="en-US" b="1" i="1" dirty="0" smtClean="0">
              <a:solidFill>
                <a:schemeClr val="tx2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457200" lvl="1" indent="0">
              <a:buNone/>
            </a:pPr>
            <a:endParaRPr lang="en-US" sz="2000" b="1" i="1" dirty="0" smtClean="0">
              <a:solidFill>
                <a:schemeClr val="tx2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457200" lvl="1" indent="0">
              <a:buNone/>
            </a:pPr>
            <a:r>
              <a:rPr lang="en-US" sz="2000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Value-Driven Healthcare System d</a:t>
            </a:r>
            <a:r>
              <a:rPr lang="en-US" sz="2000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eliverables include:</a:t>
            </a:r>
            <a:endParaRPr lang="en-US" sz="2400" b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Providing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a unified vision </a:t>
            </a: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for delivering sustainable value for patients, practitioners, and provider.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D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riving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innovation 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&amp; 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collaboration in a cohesive manner.</a:t>
            </a:r>
            <a:endParaRPr lang="en-US" sz="2000" b="1" dirty="0" smtClean="0">
              <a:latin typeface="Calibri" pitchFamily="34" charset="0"/>
              <a:ea typeface="ＭＳ Ｐゴシック" pitchFamily="34" charset="-128"/>
              <a:cs typeface="Calibri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Aligning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continuous improvement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 (quality and efficiency) 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with patient-driven value across 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the continuum of care.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B45B14-899C-4571-9F69-B0E8FA6BE4F1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Vision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graphicFrame>
        <p:nvGraphicFramePr>
          <p:cNvPr id="12" name="Diagram 11"/>
          <p:cNvGraphicFramePr/>
          <p:nvPr/>
        </p:nvGraphicFramePr>
        <p:xfrm>
          <a:off x="1524000" y="1447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 descr="business person 2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34000" y="4394200"/>
            <a:ext cx="1057275" cy="1057275"/>
          </a:xfrm>
          <a:prstGeom prst="rect">
            <a:avLst/>
          </a:prstGeom>
        </p:spPr>
      </p:pic>
      <p:pic>
        <p:nvPicPr>
          <p:cNvPr id="15" name="Picture 14" descr="doctor 2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876800" y="2946400"/>
            <a:ext cx="1066800" cy="1066800"/>
          </a:xfrm>
          <a:prstGeom prst="rect">
            <a:avLst/>
          </a:prstGeom>
        </p:spPr>
      </p:pic>
      <p:pic>
        <p:nvPicPr>
          <p:cNvPr id="16" name="Picture 15" descr="patient 2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72000" y="1574800"/>
            <a:ext cx="990600" cy="99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638800"/>
            <a:ext cx="8001000" cy="73866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“Health care organizations are increasingly concerned with looking beyond financial performance measures, while focusing on how to deliver higher quality care “</a:t>
            </a:r>
          </a:p>
          <a:p>
            <a:r>
              <a:rPr lang="en-US" sz="1400" dirty="0" smtClean="0"/>
              <a:t>      - Love, Dianne, Revere, Lee, and Black, Ken. (2008), </a:t>
            </a:r>
            <a:r>
              <a:rPr lang="en-US" sz="1400" i="1" dirty="0" smtClean="0"/>
              <a:t>Journal of Health Care Finance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Current </a:t>
            </a:r>
            <a:r>
              <a:rPr lang="en-US" dirty="0" smtClean="0">
                <a:ea typeface="ＭＳ Ｐゴシック" pitchFamily="34" charset="-128"/>
              </a:rPr>
              <a:t>Challenges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AMA Challenges:</a:t>
            </a:r>
          </a:p>
          <a:p>
            <a:pPr lvl="1" eaLnBrk="1" hangingPunct="1"/>
            <a:r>
              <a:rPr lang="en-US" sz="2000" dirty="0" smtClean="0">
                <a:ea typeface="ＭＳ Ｐゴシック" pitchFamily="34" charset="-128"/>
              </a:rPr>
              <a:t>Eroding </a:t>
            </a:r>
            <a:r>
              <a:rPr lang="en-US" sz="2000" dirty="0" smtClean="0">
                <a:ea typeface="ＭＳ Ｐゴシック" pitchFamily="34" charset="-128"/>
              </a:rPr>
              <a:t>member base.  </a:t>
            </a:r>
          </a:p>
          <a:p>
            <a:pPr lvl="1" eaLnBrk="1" hangingPunct="1"/>
            <a:r>
              <a:rPr lang="en-US" sz="2000" dirty="0" smtClean="0">
                <a:ea typeface="ＭＳ Ｐゴシック" pitchFamily="34" charset="-128"/>
              </a:rPr>
              <a:t>Aging membership.</a:t>
            </a:r>
          </a:p>
          <a:p>
            <a:pPr lvl="1" eaLnBrk="1" hangingPunct="1"/>
            <a:r>
              <a:rPr lang="en-US" sz="2000" dirty="0" smtClean="0">
                <a:ea typeface="ＭＳ Ｐゴシック" pitchFamily="34" charset="-128"/>
              </a:rPr>
              <a:t>Decline in revenues from membership.</a:t>
            </a:r>
          </a:p>
          <a:p>
            <a:pPr lvl="1" eaLnBrk="1" hangingPunct="1"/>
            <a:r>
              <a:rPr lang="en-US" sz="2000" dirty="0" smtClean="0">
                <a:ea typeface="ＭＳ Ｐゴシック" pitchFamily="34" charset="-128"/>
              </a:rPr>
              <a:t>Not perceived as an innovation leader. 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Healthcare Challenges:</a:t>
            </a:r>
          </a:p>
          <a:p>
            <a:pPr lvl="1" eaLnBrk="1" hangingPunct="1"/>
            <a:r>
              <a:rPr lang="en-US" sz="2000" dirty="0" smtClean="0">
                <a:ea typeface="ＭＳ Ｐゴシック" pitchFamily="34" charset="-128"/>
              </a:rPr>
              <a:t>Continuum of care is not measured from a </a:t>
            </a:r>
            <a:r>
              <a:rPr lang="en-US" sz="2000" dirty="0" smtClean="0">
                <a:ea typeface="ＭＳ Ｐゴシック" pitchFamily="34" charset="-128"/>
              </a:rPr>
              <a:t>patient (customer) perspective.</a:t>
            </a:r>
          </a:p>
          <a:p>
            <a:pPr lvl="1" eaLnBrk="1" hangingPunct="1"/>
            <a:r>
              <a:rPr lang="en-US" sz="2000" dirty="0" smtClean="0">
                <a:ea typeface="ＭＳ Ｐゴシック" pitchFamily="34" charset="-128"/>
              </a:rPr>
              <a:t>Healthcare is fractionalized and becoming more distributed.</a:t>
            </a:r>
          </a:p>
          <a:p>
            <a:pPr lvl="1" eaLnBrk="1" hangingPunct="1"/>
            <a:r>
              <a:rPr lang="en-US" sz="2000" dirty="0" smtClean="0">
                <a:ea typeface="ＭＳ Ｐゴシック" pitchFamily="34" charset="-128"/>
              </a:rPr>
              <a:t>The government is trying to lead healthcare reform.</a:t>
            </a:r>
          </a:p>
          <a:p>
            <a:pPr lvl="1" eaLnBrk="1" hangingPunct="1"/>
            <a:r>
              <a:rPr lang="en-US" sz="2000" dirty="0" smtClean="0">
                <a:ea typeface="ＭＳ Ｐゴシック" pitchFamily="34" charset="-128"/>
              </a:rPr>
              <a:t>There is no </a:t>
            </a:r>
            <a:r>
              <a:rPr lang="en-US" sz="2000" dirty="0" smtClean="0">
                <a:ea typeface="ＭＳ Ｐゴシック" pitchFamily="34" charset="-128"/>
              </a:rPr>
              <a:t>clear </a:t>
            </a:r>
            <a:r>
              <a:rPr lang="en-US" sz="2000" dirty="0" smtClean="0">
                <a:ea typeface="ＭＳ Ｐゴシック" pitchFamily="34" charset="-128"/>
              </a:rPr>
              <a:t>leadership to drive reform, innovation, and unification across the healthcare continuum.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3895AA-5A0D-4A2D-B0AA-2BADCF071D5D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19800" y="1371600"/>
            <a:ext cx="2895600" cy="116955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“There should be no presumption that good quality is more costly.  In health care…better providers are usually more efficient.”</a:t>
            </a:r>
          </a:p>
          <a:p>
            <a:r>
              <a:rPr lang="en-US" sz="1400" i="1" dirty="0" smtClean="0"/>
              <a:t>        - Redefining Health Care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AMA’s </a:t>
            </a:r>
            <a:r>
              <a:rPr lang="en-US" dirty="0" smtClean="0">
                <a:ea typeface="ＭＳ Ｐゴシック" pitchFamily="34" charset="-128"/>
              </a:rPr>
              <a:t>Opportunities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Drive </a:t>
            </a:r>
            <a:r>
              <a:rPr lang="en-US" sz="2400" dirty="0" smtClean="0">
                <a:ea typeface="ＭＳ Ｐゴシック" pitchFamily="34" charset="-128"/>
              </a:rPr>
              <a:t>reform, innovation, and unification across the healthcare continuum. 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Provide</a:t>
            </a:r>
            <a:r>
              <a:rPr lang="en-US" sz="2400" dirty="0" smtClean="0">
                <a:ea typeface="ＭＳ Ｐゴシック" pitchFamily="34" charset="-128"/>
              </a:rPr>
              <a:t> </a:t>
            </a:r>
            <a:r>
              <a:rPr lang="en-US" sz="2400" dirty="0" smtClean="0">
                <a:ea typeface="ＭＳ Ｐゴシック" pitchFamily="34" charset="-128"/>
              </a:rPr>
              <a:t>healthcare stakeholders with the following answers:</a:t>
            </a:r>
          </a:p>
          <a:p>
            <a:pPr lvl="1"/>
            <a:r>
              <a:rPr lang="en-US" sz="2000" dirty="0" smtClean="0">
                <a:ea typeface="ＭＳ Ｐゴシック" pitchFamily="34" charset="-128"/>
              </a:rPr>
              <a:t>Practitioners are worried about quality, timeliness, and effort of care</a:t>
            </a:r>
          </a:p>
          <a:p>
            <a:pPr lvl="1"/>
            <a:r>
              <a:rPr lang="en-US" sz="2000" dirty="0" smtClean="0">
                <a:ea typeface="ＭＳ Ｐゴシック" pitchFamily="34" charset="-128"/>
              </a:rPr>
              <a:t>Patients are worried about quality of care, loss of control, and cost</a:t>
            </a:r>
          </a:p>
          <a:p>
            <a:pPr lvl="1"/>
            <a:r>
              <a:rPr lang="en-US" sz="2000" dirty="0" smtClean="0">
                <a:ea typeface="ＭＳ Ｐゴシック" pitchFamily="34" charset="-128"/>
              </a:rPr>
              <a:t>Providers are worried about loss of control and revenue</a:t>
            </a:r>
          </a:p>
          <a:p>
            <a:r>
              <a:rPr lang="en-US" sz="2400" dirty="0" smtClean="0">
                <a:ea typeface="ＭＳ Ｐゴシック" pitchFamily="34" charset="-128"/>
              </a:rPr>
              <a:t>Unify leadership across the 3Ps </a:t>
            </a:r>
            <a:r>
              <a:rPr lang="en-US" sz="2400" dirty="0" smtClean="0">
                <a:ea typeface="ＭＳ Ｐゴシック" pitchFamily="34" charset="-128"/>
              </a:rPr>
              <a:t>to provide guidance and direction for change (much of which will be disruptive). </a:t>
            </a:r>
          </a:p>
          <a:p>
            <a:r>
              <a:rPr lang="en-US" sz="2400" dirty="0" smtClean="0">
                <a:ea typeface="ＭＳ Ｐゴシック" pitchFamily="34" charset="-128"/>
              </a:rPr>
              <a:t>Encourage </a:t>
            </a:r>
            <a:r>
              <a:rPr lang="en-US" sz="2400" dirty="0" smtClean="0">
                <a:ea typeface="ＭＳ Ｐゴシック" pitchFamily="34" charset="-128"/>
              </a:rPr>
              <a:t>collaboration and cooperation to solve the healthcare needs in the </a:t>
            </a:r>
            <a:r>
              <a:rPr lang="en-US" sz="2400" dirty="0" smtClean="0">
                <a:ea typeface="ＭＳ Ｐゴシック" pitchFamily="34" charset="-128"/>
              </a:rPr>
              <a:t>US.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Create </a:t>
            </a:r>
            <a:r>
              <a:rPr lang="en-US" sz="2400" dirty="0" smtClean="0">
                <a:ea typeface="ＭＳ Ｐゴシック" pitchFamily="34" charset="-128"/>
              </a:rPr>
              <a:t>a “system” of healthcare guided by </a:t>
            </a:r>
            <a:r>
              <a:rPr lang="en-US" sz="2400" dirty="0" smtClean="0">
                <a:ea typeface="ＭＳ Ｐゴシック" pitchFamily="34" charset="-128"/>
              </a:rPr>
              <a:t>patient-driven value metrics.</a:t>
            </a:r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4A389A-525C-4005-8C8B-B939A4EADC11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AMA at the forefront of Healthcare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Defining &amp; delivering the prescription for healthcare reform should come from within healthcare (not the government).</a:t>
            </a:r>
          </a:p>
          <a:p>
            <a:r>
              <a:rPr lang="en-US" sz="2400" smtClean="0">
                <a:ea typeface="ＭＳ Ｐゴシック" pitchFamily="34" charset="-128"/>
              </a:rPr>
              <a:t>Creating a vision for a new healthcare system by forming a collaborative model with healthcare advocacy organizations, institutions, providers and practitioners.</a:t>
            </a:r>
          </a:p>
          <a:p>
            <a:r>
              <a:rPr lang="en-US" sz="2400" smtClean="0">
                <a:ea typeface="ＭＳ Ｐゴシック" pitchFamily="34" charset="-128"/>
              </a:rPr>
              <a:t>Providing the practitioners with a consistent set of benchmarks for measuring the value they deliver to patients.</a:t>
            </a:r>
          </a:p>
          <a:p>
            <a:r>
              <a:rPr lang="en-US" sz="2400" smtClean="0">
                <a:ea typeface="ＭＳ Ｐゴシック" pitchFamily="34" charset="-128"/>
              </a:rPr>
              <a:t>Driving open innovation among providers to create a more efficient process for guiding and creating value.</a:t>
            </a:r>
          </a:p>
          <a:p>
            <a:r>
              <a:rPr lang="en-US" sz="2400" smtClean="0">
                <a:ea typeface="ＭＳ Ｐゴシック" pitchFamily="34" charset="-128"/>
              </a:rPr>
              <a:t>Working collaboratively with the government to guide more efficient and effective funding that drives healthcare reform.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281EFA-00CE-46BE-8631-FFAAC4DB71EC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/>
          <p:cNvSpPr/>
          <p:nvPr/>
        </p:nvSpPr>
        <p:spPr>
          <a:xfrm>
            <a:off x="2438400" y="1447800"/>
            <a:ext cx="4953000" cy="4648200"/>
          </a:xfrm>
          <a:prstGeom prst="triangle">
            <a:avLst/>
          </a:prstGeom>
          <a:gradFill>
            <a:gsLst>
              <a:gs pos="12000">
                <a:schemeClr val="accent4">
                  <a:shade val="51000"/>
                  <a:satMod val="130000"/>
                  <a:alpha val="53000"/>
                </a:schemeClr>
              </a:gs>
              <a:gs pos="80000">
                <a:schemeClr val="accent4">
                  <a:shade val="93000"/>
                  <a:satMod val="130000"/>
                </a:schemeClr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An Expanded Membership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5DEC1B-D880-4351-9F40-9ABC1755827C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3797" name="TextBox 5"/>
          <p:cNvSpPr txBox="1">
            <a:spLocks noChangeArrowheads="1"/>
          </p:cNvSpPr>
          <p:nvPr/>
        </p:nvSpPr>
        <p:spPr bwMode="auto">
          <a:xfrm>
            <a:off x="3048000" y="5181600"/>
            <a:ext cx="2057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8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Providing Patients with a way to measure the value they should be receiving for healthcare throughout the continuum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Practitioners to measure and optimize the value they deliver to Patients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the Providers to </a:t>
            </a:r>
            <a:r>
              <a:rPr lang="en-US" sz="1400" dirty="0" smtClean="0"/>
              <a:t>deliver </a:t>
            </a:r>
            <a:r>
              <a:rPr lang="en-US" sz="1400" dirty="0"/>
              <a:t>value to Patients &amp; Practitioners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2438400"/>
            <a:ext cx="4295565" cy="2838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Patients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have affordable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attainable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more accessible healthcare.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consistent levels of quality (results).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receive a total healthcare experience: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functional </a:t>
            </a:r>
            <a:r>
              <a:rPr lang="en-US" sz="2400" dirty="0" smtClean="0">
                <a:ea typeface="ＭＳ Ｐゴシック" pitchFamily="34" charset="-128"/>
              </a:rPr>
              <a:t>outcomes are </a:t>
            </a:r>
            <a:r>
              <a:rPr lang="en-US" sz="2400" dirty="0" smtClean="0">
                <a:ea typeface="ＭＳ Ｐゴシック" pitchFamily="34" charset="-128"/>
              </a:rPr>
              <a:t>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emotional outcomes </a:t>
            </a:r>
            <a:r>
              <a:rPr lang="en-US" sz="2400" dirty="0" smtClean="0">
                <a:ea typeface="ＭＳ Ｐゴシック" pitchFamily="34" charset="-128"/>
              </a:rPr>
              <a:t>are met</a:t>
            </a:r>
            <a:r>
              <a:rPr lang="en-US" sz="2400" dirty="0" smtClean="0">
                <a:ea typeface="ＭＳ Ｐゴシック" pitchFamily="34" charset="-128"/>
              </a:rPr>
              <a:t>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outcomes are met across the continuum of care (beyond the hospital, into clinics, and into the home).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6AFF13-FBD9-4DDC-BC61-67DF0C43507F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77000" y="1600200"/>
            <a:ext cx="2362200" cy="138499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“We continue to pay for lots of medical procedures that don't add to health value and in fact just add costs to the system..”</a:t>
            </a:r>
          </a:p>
          <a:p>
            <a:r>
              <a:rPr lang="en-US" sz="1400" dirty="0" smtClean="0"/>
              <a:t>      - Kathleen Sebelius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Practitioners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improve diagnostic capabilities in a cost-effective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improve clinical processes.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provide consistent levels of quality.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move beyond </a:t>
            </a:r>
            <a:r>
              <a:rPr lang="en-US" sz="2400" dirty="0" smtClean="0">
                <a:ea typeface="ＭＳ Ｐゴシック" pitchFamily="34" charset="-128"/>
              </a:rPr>
              <a:t>service and deliver </a:t>
            </a:r>
            <a:r>
              <a:rPr lang="en-US" sz="2400" dirty="0" smtClean="0">
                <a:ea typeface="ＭＳ Ｐゴシック" pitchFamily="34" charset="-128"/>
              </a:rPr>
              <a:t>a positive  experience.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</a:t>
            </a:r>
            <a:r>
              <a:rPr lang="en-US" sz="2400" dirty="0" smtClean="0">
                <a:ea typeface="ＭＳ Ｐゴシック" pitchFamily="34" charset="-128"/>
              </a:rPr>
              <a:t>create benchmarks </a:t>
            </a:r>
            <a:r>
              <a:rPr lang="en-US" sz="2400" dirty="0" smtClean="0">
                <a:ea typeface="ＭＳ Ｐゴシック" pitchFamily="34" charset="-128"/>
              </a:rPr>
              <a:t>to </a:t>
            </a:r>
            <a:r>
              <a:rPr lang="en-US" sz="2400" dirty="0" smtClean="0">
                <a:ea typeface="ＭＳ Ｐゴシック" pitchFamily="34" charset="-128"/>
              </a:rPr>
              <a:t>reliably measure value for their patients, for themselves as individual practitioners , and for their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7D1754-EBF7-40B4-9263-B045173B9D29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</a:t>
            </a:r>
            <a:r>
              <a:rPr lang="en-US" sz="2400" dirty="0" smtClean="0">
                <a:ea typeface="ＭＳ Ｐゴシック" pitchFamily="34" charset="-128"/>
              </a:rPr>
              <a:t>be aligned and focused on a consisten</a:t>
            </a:r>
            <a:r>
              <a:rPr lang="en-US" sz="2400" dirty="0" smtClean="0">
                <a:ea typeface="ＭＳ Ｐゴシック" pitchFamily="34" charset="-128"/>
              </a:rPr>
              <a:t>t set of outcomes with </a:t>
            </a:r>
            <a:r>
              <a:rPr lang="en-US" sz="2400" dirty="0" smtClean="0">
                <a:ea typeface="ＭＳ Ｐゴシック" pitchFamily="34" charset="-128"/>
              </a:rPr>
              <a:t>pharmaceutical </a:t>
            </a:r>
            <a:r>
              <a:rPr lang="en-US" sz="2400" dirty="0" smtClean="0">
                <a:ea typeface="ＭＳ Ｐゴシック" pitchFamily="34" charset="-128"/>
              </a:rPr>
              <a:t>and device manufacturers, insurers, and healthcare </a:t>
            </a:r>
            <a:r>
              <a:rPr lang="en-US" sz="2400" dirty="0" smtClean="0">
                <a:ea typeface="ＭＳ Ｐゴシック" pitchFamily="34" charset="-128"/>
              </a:rPr>
              <a:t>suppliers.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To increase collaboration NOT competition.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</a:t>
            </a:r>
            <a:r>
              <a:rPr lang="en-US" sz="2400" dirty="0" smtClean="0">
                <a:ea typeface="ＭＳ Ｐゴシック" pitchFamily="34" charset="-128"/>
              </a:rPr>
              <a:t>have value-driven benchmarks across the healthcare network.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To move towards a shared revenue model where everyone can still win, but not at the expense of others (esp. the patients &amp; the public).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D9A88-38E3-479E-A0BA-0FCC23C694D0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5344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400" b="1" dirty="0" smtClean="0">
                <a:solidFill>
                  <a:schemeClr val="tx1"/>
                </a:solidFill>
              </a:rPr>
              <a:t>Value-Driven Healthcare </a:t>
            </a:r>
            <a:r>
              <a:rPr lang="en-US" sz="2400" b="1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smtClean="0"/>
              <a:t>Compliance</a:t>
            </a:r>
            <a:endParaRPr lang="en-US" b="1" dirty="0"/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B004A5-7865-4A5B-AD53-0C3EC97B50CE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668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Value-Driven metrics are used to drive innovation &amp; direct Quality &amp; Efficiency 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" y="1905000"/>
            <a:ext cx="20574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Value Measurement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53000" y="4191000"/>
            <a:ext cx="25146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Quality &amp; Efficiency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Deliverables for an Expanded Membership Model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A </a:t>
            </a:r>
            <a:r>
              <a:rPr lang="en-US" sz="2400" dirty="0" smtClean="0">
                <a:ea typeface="ＭＳ Ｐゴシック" pitchFamily="34" charset="-128"/>
              </a:rPr>
              <a:t>program focused on mapping the Jobs &amp; Outcomes across the healthcare domain.</a:t>
            </a:r>
          </a:p>
          <a:p>
            <a:r>
              <a:rPr lang="en-US" sz="2400" dirty="0" smtClean="0">
                <a:ea typeface="ＭＳ Ｐゴシック" pitchFamily="34" charset="-128"/>
              </a:rPr>
              <a:t>A</a:t>
            </a:r>
            <a:r>
              <a:rPr lang="en-US" sz="2400" dirty="0" smtClean="0">
                <a:ea typeface="ＭＳ Ｐゴシック" pitchFamily="34" charset="-128"/>
              </a:rPr>
              <a:t> </a:t>
            </a:r>
            <a:r>
              <a:rPr lang="en-US" sz="2400" dirty="0" smtClean="0">
                <a:ea typeface="ＭＳ Ｐゴシック" pitchFamily="34" charset="-128"/>
              </a:rPr>
              <a:t>portfolio of unmet needs (opportunities) for improving value delivery to patients and practitioners.</a:t>
            </a:r>
          </a:p>
          <a:p>
            <a:r>
              <a:rPr lang="en-US" sz="2400" dirty="0" smtClean="0">
                <a:ea typeface="ＭＳ Ｐゴシック" pitchFamily="34" charset="-128"/>
              </a:rPr>
              <a:t>A </a:t>
            </a:r>
            <a:r>
              <a:rPr lang="en-US" sz="2400" dirty="0" smtClean="0">
                <a:ea typeface="ＭＳ Ｐゴシック" pitchFamily="34" charset="-128"/>
              </a:rPr>
              <a:t>prioritization model to direct resources in an efficient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An </a:t>
            </a:r>
            <a:r>
              <a:rPr lang="en-US" sz="2400" dirty="0" smtClean="0">
                <a:ea typeface="ＭＳ Ｐゴシック" pitchFamily="34" charset="-128"/>
              </a:rPr>
              <a:t>open innovation framework using the opportunities to generate ideas that can address the most important (prioritized) unmet needs. </a:t>
            </a:r>
          </a:p>
          <a:p>
            <a:r>
              <a:rPr lang="en-US" sz="2400" dirty="0" smtClean="0">
                <a:ea typeface="ＭＳ Ｐゴシック" pitchFamily="34" charset="-128"/>
              </a:rPr>
              <a:t>A</a:t>
            </a:r>
            <a:r>
              <a:rPr lang="en-US" sz="2400" dirty="0" smtClean="0">
                <a:ea typeface="ＭＳ Ｐゴシック" pitchFamily="34" charset="-128"/>
              </a:rPr>
              <a:t> </a:t>
            </a:r>
            <a:r>
              <a:rPr lang="en-US" sz="2400" dirty="0" smtClean="0">
                <a:ea typeface="ＭＳ Ｐゴシック" pitchFamily="34" charset="-128"/>
              </a:rPr>
              <a:t>shared revenue model as part of a collaborative to address unmet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D2C59-5E42-4FA5-82DF-A858C91AD997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ea typeface="ＭＳ Ｐゴシック" pitchFamily="34" charset="-128"/>
              </a:rPr>
              <a:t>Thank You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Prepared by 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Jeffrey Wallk (Managing Partner)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Helene Sigman (Strategic Partner)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990685-1496-41A7-8D7C-6CE4810F3A23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8896</TotalTime>
  <Words>879</Words>
  <Application>Microsoft Office PowerPoint</Application>
  <PresentationFormat>On-screen Show (4:3)</PresentationFormat>
  <Paragraphs>124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VEG</vt:lpstr>
      <vt:lpstr>A New Value Proposition for the AMA</vt:lpstr>
      <vt:lpstr>Proposal</vt:lpstr>
      <vt:lpstr>The Vision</vt:lpstr>
      <vt:lpstr>Current Challenges</vt:lpstr>
      <vt:lpstr>AMA’s Opportunities</vt:lpstr>
      <vt:lpstr>AMA at the forefront of Healthcare</vt:lpstr>
      <vt:lpstr>An Expanded Membership Model</vt:lpstr>
      <vt:lpstr>Needs of the Patients</vt:lpstr>
      <vt:lpstr>Needs of the Practitioners</vt:lpstr>
      <vt:lpstr>Needs of the Providers</vt:lpstr>
      <vt:lpstr>Enabling Value for Healthcare</vt:lpstr>
      <vt:lpstr>Deliverables for an Expanded Membership Model</vt:lpstr>
      <vt:lpstr>Thank You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</cp:lastModifiedBy>
  <cp:revision>233</cp:revision>
  <dcterms:created xsi:type="dcterms:W3CDTF">2009-06-09T11:36:35Z</dcterms:created>
  <dcterms:modified xsi:type="dcterms:W3CDTF">2009-12-11T23:36:38Z</dcterms:modified>
</cp:coreProperties>
</file>
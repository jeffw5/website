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5" r:id="rId5"/>
  </p:sldMasterIdLst>
  <p:notesMasterIdLst>
    <p:notesMasterId r:id="rId32"/>
  </p:notesMasterIdLst>
  <p:handoutMasterIdLst>
    <p:handoutMasterId r:id="rId33"/>
  </p:handoutMasterIdLst>
  <p:sldIdLst>
    <p:sldId id="770" r:id="rId6"/>
    <p:sldId id="2171" r:id="rId7"/>
    <p:sldId id="2193" r:id="rId8"/>
    <p:sldId id="2184" r:id="rId9"/>
    <p:sldId id="714" r:id="rId10"/>
    <p:sldId id="2170" r:id="rId11"/>
    <p:sldId id="399" r:id="rId12"/>
    <p:sldId id="2165" r:id="rId13"/>
    <p:sldId id="2190" r:id="rId14"/>
    <p:sldId id="2191" r:id="rId15"/>
    <p:sldId id="2169" r:id="rId16"/>
    <p:sldId id="2174" r:id="rId17"/>
    <p:sldId id="2175" r:id="rId18"/>
    <p:sldId id="2176" r:id="rId19"/>
    <p:sldId id="2177" r:id="rId20"/>
    <p:sldId id="2178" r:id="rId21"/>
    <p:sldId id="2179" r:id="rId22"/>
    <p:sldId id="2180" r:id="rId23"/>
    <p:sldId id="2168" r:id="rId24"/>
    <p:sldId id="2187" r:id="rId25"/>
    <p:sldId id="2186" r:id="rId26"/>
    <p:sldId id="782" r:id="rId27"/>
    <p:sldId id="776" r:id="rId28"/>
    <p:sldId id="778" r:id="rId29"/>
    <p:sldId id="263" r:id="rId30"/>
    <p:sldId id="218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AAA77F-5A81-451D-A09F-FEE62173B26E}">
          <p14:sldIdLst>
            <p14:sldId id="770"/>
            <p14:sldId id="2171"/>
            <p14:sldId id="2193"/>
            <p14:sldId id="2184"/>
            <p14:sldId id="714"/>
            <p14:sldId id="2170"/>
            <p14:sldId id="399"/>
            <p14:sldId id="2165"/>
            <p14:sldId id="2190"/>
            <p14:sldId id="2191"/>
            <p14:sldId id="2169"/>
            <p14:sldId id="2174"/>
            <p14:sldId id="2175"/>
            <p14:sldId id="2176"/>
            <p14:sldId id="2177"/>
            <p14:sldId id="2178"/>
            <p14:sldId id="2179"/>
            <p14:sldId id="2180"/>
            <p14:sldId id="2168"/>
            <p14:sldId id="2187"/>
            <p14:sldId id="2186"/>
            <p14:sldId id="782"/>
            <p14:sldId id="776"/>
            <p14:sldId id="778"/>
            <p14:sldId id="263"/>
            <p14:sldId id="21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EA2"/>
    <a:srgbClr val="97BB3D"/>
    <a:srgbClr val="80A6D0"/>
    <a:srgbClr val="BAA9D1"/>
    <a:srgbClr val="F8CE1B"/>
    <a:srgbClr val="297D1B"/>
    <a:srgbClr val="4987C7"/>
    <a:srgbClr val="E7E6E6"/>
    <a:srgbClr val="06A1DC"/>
    <a:srgbClr val="2E65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934" autoAdjust="0"/>
    <p:restoredTop sz="93420" autoAdjust="0"/>
  </p:normalViewPr>
  <p:slideViewPr>
    <p:cSldViewPr snapToGrid="0">
      <p:cViewPr varScale="1">
        <p:scale>
          <a:sx n="107" d="100"/>
          <a:sy n="107" d="100"/>
        </p:scale>
        <p:origin x="228" y="114"/>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4C65A-A5B0-41A4-A45E-AD60463533A6}" type="doc">
      <dgm:prSet loTypeId="urn:microsoft.com/office/officeart/2005/8/layout/radial1" loCatId="relationship" qsTypeId="urn:microsoft.com/office/officeart/2005/8/quickstyle/simple5" qsCatId="simple" csTypeId="urn:microsoft.com/office/officeart/2005/8/colors/colorful1" csCatId="colorful" phldr="1"/>
      <dgm:spPr/>
      <dgm:t>
        <a:bodyPr/>
        <a:lstStyle/>
        <a:p>
          <a:endParaRPr lang="en-US"/>
        </a:p>
      </dgm:t>
    </dgm:pt>
    <dgm:pt modelId="{9467A333-6628-4878-9F4D-122BA2059500}">
      <dgm:prSet phldrT="[Text]" custT="1"/>
      <dgm:spPr/>
      <dgm:t>
        <a:bodyPr/>
        <a:lstStyle/>
        <a:p>
          <a:pPr algn="ctr"/>
          <a:r>
            <a:rPr lang="en-US" sz="1600" b="0" dirty="0">
              <a:effectLst/>
            </a:rPr>
            <a:t>Terminology</a:t>
          </a:r>
        </a:p>
      </dgm:t>
    </dgm:pt>
    <dgm:pt modelId="{D8E5B605-8FFB-4B9C-80CF-8D7DC21C8A2E}" type="parTrans" cxnId="{B9A7CA35-DABE-4A19-831B-1AE8ABE5BB09}">
      <dgm:prSet/>
      <dgm:spPr/>
      <dgm:t>
        <a:bodyPr/>
        <a:lstStyle/>
        <a:p>
          <a:pPr algn="ctr"/>
          <a:endParaRPr lang="en-US" b="0"/>
        </a:p>
      </dgm:t>
    </dgm:pt>
    <dgm:pt modelId="{D8D6359A-BCA5-4D5A-B579-B9170D4E3720}" type="sibTrans" cxnId="{B9A7CA35-DABE-4A19-831B-1AE8ABE5BB09}">
      <dgm:prSet/>
      <dgm:spPr/>
      <dgm:t>
        <a:bodyPr/>
        <a:lstStyle/>
        <a:p>
          <a:pPr algn="ctr"/>
          <a:endParaRPr lang="en-US" b="0"/>
        </a:p>
      </dgm:t>
    </dgm:pt>
    <dgm:pt modelId="{25EC3F60-A198-471F-A67C-E6056DF81E90}">
      <dgm:prSet phldrT="[Text]" custT="1"/>
      <dgm:spPr/>
      <dgm:t>
        <a:bodyPr/>
        <a:lstStyle/>
        <a:p>
          <a:pPr algn="ctr"/>
          <a:r>
            <a:rPr lang="en-US" sz="1200" b="1" dirty="0">
              <a:effectLst>
                <a:outerShdw blurRad="38100" dist="38100" dir="2700000" algn="tl">
                  <a:srgbClr val="000000">
                    <a:alpha val="43137"/>
                  </a:srgbClr>
                </a:outerShdw>
              </a:effectLst>
            </a:rPr>
            <a:t>Security</a:t>
          </a:r>
        </a:p>
        <a:p>
          <a:pPr algn="ctr"/>
          <a:r>
            <a:rPr lang="en-US" sz="1200" b="1" dirty="0">
              <a:effectLst>
                <a:outerShdw blurRad="38100" dist="38100" dir="2700000" algn="tl">
                  <a:srgbClr val="000000">
                    <a:alpha val="43137"/>
                  </a:srgbClr>
                </a:outerShdw>
              </a:effectLst>
            </a:rPr>
            <a:t>Trustworthiness</a:t>
          </a:r>
        </a:p>
      </dgm:t>
    </dgm:pt>
    <dgm:pt modelId="{E6904251-D720-48A8-B781-C01A628BC70A}" type="parTrans" cxnId="{0E03858E-072A-4054-8A92-55D277E3B876}">
      <dgm:prSet custT="1"/>
      <dgm:spPr/>
      <dgm:t>
        <a:bodyPr/>
        <a:lstStyle/>
        <a:p>
          <a:pPr algn="ctr"/>
          <a:endParaRPr lang="en-US" sz="500" b="0">
            <a:effectLst/>
          </a:endParaRPr>
        </a:p>
      </dgm:t>
    </dgm:pt>
    <dgm:pt modelId="{C5EC7E41-0052-4336-A872-2B90B43F124E}" type="sibTrans" cxnId="{0E03858E-072A-4054-8A92-55D277E3B876}">
      <dgm:prSet/>
      <dgm:spPr/>
      <dgm:t>
        <a:bodyPr/>
        <a:lstStyle/>
        <a:p>
          <a:pPr algn="ctr"/>
          <a:endParaRPr lang="en-US" b="0"/>
        </a:p>
      </dgm:t>
    </dgm:pt>
    <dgm:pt modelId="{A90D434D-C153-49FB-8B51-3F0F67891E01}">
      <dgm:prSet phldrT="[Text]" custT="1"/>
      <dgm:spPr>
        <a:solidFill>
          <a:schemeClr val="accent6">
            <a:lumMod val="60000"/>
            <a:lumOff val="40000"/>
          </a:schemeClr>
        </a:solidFill>
      </dgm:spPr>
      <dgm:t>
        <a:bodyPr/>
        <a:lstStyle/>
        <a:p>
          <a:pPr algn="ctr"/>
          <a:r>
            <a:rPr lang="en-US" sz="1200" b="1" dirty="0">
              <a:effectLst>
                <a:outerShdw blurRad="38100" dist="38100" dir="2700000" algn="tl">
                  <a:srgbClr val="000000">
                    <a:alpha val="43137"/>
                  </a:srgbClr>
                </a:outerShdw>
              </a:effectLst>
            </a:rPr>
            <a:t>Common Characteristics</a:t>
          </a:r>
        </a:p>
      </dgm:t>
    </dgm:pt>
    <dgm:pt modelId="{39029C91-2565-477E-9A6F-34A1CD161806}" type="parTrans" cxnId="{7789A56A-F0E0-49B2-9BFE-34DA48D7D149}">
      <dgm:prSet custT="1"/>
      <dgm:spPr/>
      <dgm:t>
        <a:bodyPr/>
        <a:lstStyle/>
        <a:p>
          <a:pPr algn="ctr"/>
          <a:endParaRPr lang="en-US" sz="500" b="0">
            <a:effectLst/>
          </a:endParaRPr>
        </a:p>
      </dgm:t>
    </dgm:pt>
    <dgm:pt modelId="{A0B60AC4-5108-4E97-B0B9-EA9BA2CACCA1}" type="sibTrans" cxnId="{7789A56A-F0E0-49B2-9BFE-34DA48D7D149}">
      <dgm:prSet/>
      <dgm:spPr/>
      <dgm:t>
        <a:bodyPr/>
        <a:lstStyle/>
        <a:p>
          <a:pPr algn="ctr"/>
          <a:endParaRPr lang="en-US" b="0"/>
        </a:p>
      </dgm:t>
    </dgm:pt>
    <dgm:pt modelId="{318FCDAE-451B-42F3-9E3E-353AB18CE995}">
      <dgm:prSet phldrT="[Text]" custT="1"/>
      <dgm:spPr>
        <a:solidFill>
          <a:schemeClr val="accent1">
            <a:lumMod val="60000"/>
            <a:lumOff val="40000"/>
          </a:schemeClr>
        </a:solidFill>
      </dgm:spPr>
      <dgm:t>
        <a:bodyPr/>
        <a:lstStyle/>
        <a:p>
          <a:pPr algn="ctr"/>
          <a:r>
            <a:rPr lang="en-US" sz="1200" b="1" dirty="0">
              <a:effectLst>
                <a:outerShdw blurRad="38100" dist="38100" dir="2700000" algn="tl">
                  <a:srgbClr val="000000">
                    <a:alpha val="43137"/>
                  </a:srgbClr>
                </a:outerShdw>
              </a:effectLst>
            </a:rPr>
            <a:t>Enabling</a:t>
          </a:r>
        </a:p>
        <a:p>
          <a:pPr algn="ctr"/>
          <a:r>
            <a:rPr lang="en-US" sz="1200" b="1" dirty="0">
              <a:effectLst>
                <a:outerShdw blurRad="38100" dist="38100" dir="2700000" algn="tl">
                  <a:srgbClr val="000000">
                    <a:alpha val="43137"/>
                  </a:srgbClr>
                </a:outerShdw>
              </a:effectLst>
            </a:rPr>
            <a:t>Technologies </a:t>
          </a:r>
        </a:p>
      </dgm:t>
    </dgm:pt>
    <dgm:pt modelId="{43300389-C01B-4E02-8491-85315BD5FFEC}" type="parTrans" cxnId="{57B8BFF5-B7AB-4DE4-851D-6EAF8598990E}">
      <dgm:prSet custT="1"/>
      <dgm:spPr/>
      <dgm:t>
        <a:bodyPr/>
        <a:lstStyle/>
        <a:p>
          <a:pPr algn="ctr"/>
          <a:endParaRPr lang="en-US" sz="500" b="0">
            <a:effectLst/>
          </a:endParaRPr>
        </a:p>
      </dgm:t>
    </dgm:pt>
    <dgm:pt modelId="{BDF4B1A6-A274-439C-B1CD-0C705E90CE86}" type="sibTrans" cxnId="{57B8BFF5-B7AB-4DE4-851D-6EAF8598990E}">
      <dgm:prSet/>
      <dgm:spPr/>
      <dgm:t>
        <a:bodyPr/>
        <a:lstStyle/>
        <a:p>
          <a:pPr algn="ctr"/>
          <a:endParaRPr lang="en-US" b="0"/>
        </a:p>
      </dgm:t>
    </dgm:pt>
    <dgm:pt modelId="{2E2BA956-3E23-4C3F-8F8A-89AC89DF4CB6}">
      <dgm:prSet phldrT="[Text]" custT="1"/>
      <dgm:spPr/>
      <dgm:t>
        <a:bodyPr/>
        <a:lstStyle/>
        <a:p>
          <a:pPr algn="ctr"/>
          <a:r>
            <a:rPr lang="en-US" sz="1200" b="1" dirty="0">
              <a:effectLst>
                <a:outerShdw blurRad="38100" dist="38100" dir="2700000" algn="tl">
                  <a:srgbClr val="000000">
                    <a:alpha val="43137"/>
                  </a:srgbClr>
                </a:outerShdw>
              </a:effectLst>
            </a:rPr>
            <a:t>Platform</a:t>
          </a:r>
        </a:p>
        <a:p>
          <a:pPr algn="ctr"/>
          <a:r>
            <a:rPr lang="en-US" sz="1200" b="1" dirty="0">
              <a:effectLst>
                <a:outerShdw blurRad="38100" dist="38100" dir="2700000" algn="tl">
                  <a:srgbClr val="000000">
                    <a:alpha val="43137"/>
                  </a:srgbClr>
                </a:outerShdw>
              </a:effectLst>
            </a:rPr>
            <a:t>Stacks</a:t>
          </a:r>
        </a:p>
      </dgm:t>
    </dgm:pt>
    <dgm:pt modelId="{6CDEAFB7-6156-4563-B7F2-194B2EAEC78E}" type="parTrans" cxnId="{2B514E0C-4168-4F7C-AEE9-3226947DA142}">
      <dgm:prSet custT="1"/>
      <dgm:spPr/>
      <dgm:t>
        <a:bodyPr/>
        <a:lstStyle/>
        <a:p>
          <a:pPr algn="ctr"/>
          <a:endParaRPr lang="en-US" sz="500" b="0">
            <a:effectLst/>
          </a:endParaRPr>
        </a:p>
      </dgm:t>
    </dgm:pt>
    <dgm:pt modelId="{BFC3D5C8-7DD6-4066-BC82-0CE069A209B5}" type="sibTrans" cxnId="{2B514E0C-4168-4F7C-AEE9-3226947DA142}">
      <dgm:prSet/>
      <dgm:spPr/>
      <dgm:t>
        <a:bodyPr/>
        <a:lstStyle/>
        <a:p>
          <a:pPr algn="ctr"/>
          <a:endParaRPr lang="en-US" b="0"/>
        </a:p>
      </dgm:t>
    </dgm:pt>
    <dgm:pt modelId="{7C12EEE3-05F6-400A-AEFE-7051CBA9C9AF}">
      <dgm:prSet phldrT="[Text]" custT="1"/>
      <dgm:spPr/>
      <dgm:t>
        <a:bodyPr/>
        <a:lstStyle/>
        <a:p>
          <a:pPr algn="ctr"/>
          <a:r>
            <a:rPr lang="en-US" sz="1200" b="1" dirty="0">
              <a:effectLst>
                <a:outerShdw blurRad="38100" dist="38100" dir="2700000" algn="tl">
                  <a:srgbClr val="000000">
                    <a:alpha val="43137"/>
                  </a:srgbClr>
                </a:outerShdw>
              </a:effectLst>
            </a:rPr>
            <a:t>Taxonomy </a:t>
          </a:r>
        </a:p>
        <a:p>
          <a:pPr algn="ctr"/>
          <a:r>
            <a:rPr lang="en-US" sz="1200" b="1" dirty="0">
              <a:effectLst>
                <a:outerShdw blurRad="38100" dist="38100" dir="2700000" algn="tl">
                  <a:srgbClr val="000000">
                    <a:alpha val="43137"/>
                  </a:srgbClr>
                </a:outerShdw>
              </a:effectLst>
            </a:rPr>
            <a:t>Types</a:t>
          </a:r>
        </a:p>
      </dgm:t>
    </dgm:pt>
    <dgm:pt modelId="{7987FFAE-7E72-4ACD-91FA-264C2A6EAEE9}" type="parTrans" cxnId="{19DE3086-87C0-4893-B8ED-53A44BF5DDC0}">
      <dgm:prSet custT="1"/>
      <dgm:spPr/>
      <dgm:t>
        <a:bodyPr/>
        <a:lstStyle/>
        <a:p>
          <a:pPr algn="ctr"/>
          <a:endParaRPr lang="en-US" sz="500" b="0">
            <a:effectLst/>
          </a:endParaRPr>
        </a:p>
      </dgm:t>
    </dgm:pt>
    <dgm:pt modelId="{D111448A-70CF-4821-81F9-41DCB621291F}" type="sibTrans" cxnId="{19DE3086-87C0-4893-B8ED-53A44BF5DDC0}">
      <dgm:prSet/>
      <dgm:spPr/>
      <dgm:t>
        <a:bodyPr/>
        <a:lstStyle/>
        <a:p>
          <a:pPr algn="ctr"/>
          <a:endParaRPr lang="en-US" b="0"/>
        </a:p>
      </dgm:t>
    </dgm:pt>
    <dgm:pt modelId="{9FA45081-4E47-4940-A75D-381D344C3D44}" type="pres">
      <dgm:prSet presAssocID="{5154C65A-A5B0-41A4-A45E-AD60463533A6}" presName="cycle" presStyleCnt="0">
        <dgm:presLayoutVars>
          <dgm:chMax val="1"/>
          <dgm:dir/>
          <dgm:animLvl val="ctr"/>
          <dgm:resizeHandles val="exact"/>
        </dgm:presLayoutVars>
      </dgm:prSet>
      <dgm:spPr/>
    </dgm:pt>
    <dgm:pt modelId="{287CE30F-C863-4B2C-9044-5540DE020E9D}" type="pres">
      <dgm:prSet presAssocID="{9467A333-6628-4878-9F4D-122BA2059500}" presName="centerShape" presStyleLbl="node0" presStyleIdx="0" presStyleCnt="1"/>
      <dgm:spPr/>
    </dgm:pt>
    <dgm:pt modelId="{AA0452A0-F47D-4E93-A74F-4335F8B2A541}" type="pres">
      <dgm:prSet presAssocID="{E6904251-D720-48A8-B781-C01A628BC70A}" presName="Name9" presStyleLbl="parChTrans1D2" presStyleIdx="0" presStyleCnt="5"/>
      <dgm:spPr/>
    </dgm:pt>
    <dgm:pt modelId="{8D46EAE3-1881-416C-835A-19E66E05ED7B}" type="pres">
      <dgm:prSet presAssocID="{E6904251-D720-48A8-B781-C01A628BC70A}" presName="connTx" presStyleLbl="parChTrans1D2" presStyleIdx="0" presStyleCnt="5"/>
      <dgm:spPr/>
    </dgm:pt>
    <dgm:pt modelId="{4D951460-93F8-4640-979C-7467E2E088EE}" type="pres">
      <dgm:prSet presAssocID="{25EC3F60-A198-471F-A67C-E6056DF81E90}" presName="node" presStyleLbl="node1" presStyleIdx="0" presStyleCnt="5">
        <dgm:presLayoutVars>
          <dgm:bulletEnabled val="1"/>
        </dgm:presLayoutVars>
      </dgm:prSet>
      <dgm:spPr/>
    </dgm:pt>
    <dgm:pt modelId="{675F0835-093A-40F6-A3CD-F5CE8942900A}" type="pres">
      <dgm:prSet presAssocID="{39029C91-2565-477E-9A6F-34A1CD161806}" presName="Name9" presStyleLbl="parChTrans1D2" presStyleIdx="1" presStyleCnt="5"/>
      <dgm:spPr/>
    </dgm:pt>
    <dgm:pt modelId="{34C624A1-8762-4B89-8ABC-32A7B027C972}" type="pres">
      <dgm:prSet presAssocID="{39029C91-2565-477E-9A6F-34A1CD161806}" presName="connTx" presStyleLbl="parChTrans1D2" presStyleIdx="1" presStyleCnt="5"/>
      <dgm:spPr/>
    </dgm:pt>
    <dgm:pt modelId="{3E3E8BA1-7E0B-4564-943D-E6B2EE95D772}" type="pres">
      <dgm:prSet presAssocID="{A90D434D-C153-49FB-8B51-3F0F67891E01}" presName="node" presStyleLbl="node1" presStyleIdx="1" presStyleCnt="5">
        <dgm:presLayoutVars>
          <dgm:bulletEnabled val="1"/>
        </dgm:presLayoutVars>
      </dgm:prSet>
      <dgm:spPr/>
    </dgm:pt>
    <dgm:pt modelId="{FBFCF10D-5C40-4A9C-BB93-6AB3526D78BA}" type="pres">
      <dgm:prSet presAssocID="{43300389-C01B-4E02-8491-85315BD5FFEC}" presName="Name9" presStyleLbl="parChTrans1D2" presStyleIdx="2" presStyleCnt="5"/>
      <dgm:spPr/>
    </dgm:pt>
    <dgm:pt modelId="{98EEA344-C13E-4E16-BA8B-5DFB16AC8CB2}" type="pres">
      <dgm:prSet presAssocID="{43300389-C01B-4E02-8491-85315BD5FFEC}" presName="connTx" presStyleLbl="parChTrans1D2" presStyleIdx="2" presStyleCnt="5"/>
      <dgm:spPr/>
    </dgm:pt>
    <dgm:pt modelId="{713B59DF-FB42-4F70-ADB1-DAA4F6B9A056}" type="pres">
      <dgm:prSet presAssocID="{318FCDAE-451B-42F3-9E3E-353AB18CE995}" presName="node" presStyleLbl="node1" presStyleIdx="2" presStyleCnt="5">
        <dgm:presLayoutVars>
          <dgm:bulletEnabled val="1"/>
        </dgm:presLayoutVars>
      </dgm:prSet>
      <dgm:spPr/>
    </dgm:pt>
    <dgm:pt modelId="{79632D9A-CB10-415F-B904-B86D65A48DE1}" type="pres">
      <dgm:prSet presAssocID="{6CDEAFB7-6156-4563-B7F2-194B2EAEC78E}" presName="Name9" presStyleLbl="parChTrans1D2" presStyleIdx="3" presStyleCnt="5"/>
      <dgm:spPr/>
    </dgm:pt>
    <dgm:pt modelId="{A8E7B953-CF49-4DB7-ACAB-B1C9B7EFB6A3}" type="pres">
      <dgm:prSet presAssocID="{6CDEAFB7-6156-4563-B7F2-194B2EAEC78E}" presName="connTx" presStyleLbl="parChTrans1D2" presStyleIdx="3" presStyleCnt="5"/>
      <dgm:spPr/>
    </dgm:pt>
    <dgm:pt modelId="{D1F48121-2658-46BC-AB84-BEDE4D27252C}" type="pres">
      <dgm:prSet presAssocID="{2E2BA956-3E23-4C3F-8F8A-89AC89DF4CB6}" presName="node" presStyleLbl="node1" presStyleIdx="3" presStyleCnt="5">
        <dgm:presLayoutVars>
          <dgm:bulletEnabled val="1"/>
        </dgm:presLayoutVars>
      </dgm:prSet>
      <dgm:spPr/>
    </dgm:pt>
    <dgm:pt modelId="{5BE2E3B0-AD3C-498E-B0C3-C328CE9340E5}" type="pres">
      <dgm:prSet presAssocID="{7987FFAE-7E72-4ACD-91FA-264C2A6EAEE9}" presName="Name9" presStyleLbl="parChTrans1D2" presStyleIdx="4" presStyleCnt="5"/>
      <dgm:spPr/>
    </dgm:pt>
    <dgm:pt modelId="{E76E731F-7A90-4004-B67E-8CBEAEF5FDB7}" type="pres">
      <dgm:prSet presAssocID="{7987FFAE-7E72-4ACD-91FA-264C2A6EAEE9}" presName="connTx" presStyleLbl="parChTrans1D2" presStyleIdx="4" presStyleCnt="5"/>
      <dgm:spPr/>
    </dgm:pt>
    <dgm:pt modelId="{C3E09D0A-18FF-4E94-8B44-B45F1A861374}" type="pres">
      <dgm:prSet presAssocID="{7C12EEE3-05F6-400A-AEFE-7051CBA9C9AF}" presName="node" presStyleLbl="node1" presStyleIdx="4" presStyleCnt="5">
        <dgm:presLayoutVars>
          <dgm:bulletEnabled val="1"/>
        </dgm:presLayoutVars>
      </dgm:prSet>
      <dgm:spPr/>
    </dgm:pt>
  </dgm:ptLst>
  <dgm:cxnLst>
    <dgm:cxn modelId="{2B514E0C-4168-4F7C-AEE9-3226947DA142}" srcId="{9467A333-6628-4878-9F4D-122BA2059500}" destId="{2E2BA956-3E23-4C3F-8F8A-89AC89DF4CB6}" srcOrd="3" destOrd="0" parTransId="{6CDEAFB7-6156-4563-B7F2-194B2EAEC78E}" sibTransId="{BFC3D5C8-7DD6-4066-BC82-0CE069A209B5}"/>
    <dgm:cxn modelId="{0EE7ED21-AC3D-47D4-9F07-B791DD1EE5F2}" type="presOf" srcId="{6CDEAFB7-6156-4563-B7F2-194B2EAEC78E}" destId="{A8E7B953-CF49-4DB7-ACAB-B1C9B7EFB6A3}" srcOrd="1" destOrd="0" presId="urn:microsoft.com/office/officeart/2005/8/layout/radial1"/>
    <dgm:cxn modelId="{B9A7CA35-DABE-4A19-831B-1AE8ABE5BB09}" srcId="{5154C65A-A5B0-41A4-A45E-AD60463533A6}" destId="{9467A333-6628-4878-9F4D-122BA2059500}" srcOrd="0" destOrd="0" parTransId="{D8E5B605-8FFB-4B9C-80CF-8D7DC21C8A2E}" sibTransId="{D8D6359A-BCA5-4D5A-B579-B9170D4E3720}"/>
    <dgm:cxn modelId="{03AE6337-4373-4364-A16A-1E830627129B}" type="presOf" srcId="{9467A333-6628-4878-9F4D-122BA2059500}" destId="{287CE30F-C863-4B2C-9044-5540DE020E9D}" srcOrd="0" destOrd="0" presId="urn:microsoft.com/office/officeart/2005/8/layout/radial1"/>
    <dgm:cxn modelId="{3034943D-DCDB-42F8-8CC2-4824E08A41F2}" type="presOf" srcId="{43300389-C01B-4E02-8491-85315BD5FFEC}" destId="{FBFCF10D-5C40-4A9C-BB93-6AB3526D78BA}" srcOrd="0" destOrd="0" presId="urn:microsoft.com/office/officeart/2005/8/layout/radial1"/>
    <dgm:cxn modelId="{9B157563-28B4-4000-BF0D-6FDF4D8B3753}" type="presOf" srcId="{E6904251-D720-48A8-B781-C01A628BC70A}" destId="{8D46EAE3-1881-416C-835A-19E66E05ED7B}" srcOrd="1" destOrd="0" presId="urn:microsoft.com/office/officeart/2005/8/layout/radial1"/>
    <dgm:cxn modelId="{7789A56A-F0E0-49B2-9BFE-34DA48D7D149}" srcId="{9467A333-6628-4878-9F4D-122BA2059500}" destId="{A90D434D-C153-49FB-8B51-3F0F67891E01}" srcOrd="1" destOrd="0" parTransId="{39029C91-2565-477E-9A6F-34A1CD161806}" sibTransId="{A0B60AC4-5108-4E97-B0B9-EA9BA2CACCA1}"/>
    <dgm:cxn modelId="{2391564B-0588-4EC5-96F7-F000DE2AAC91}" type="presOf" srcId="{43300389-C01B-4E02-8491-85315BD5FFEC}" destId="{98EEA344-C13E-4E16-BA8B-5DFB16AC8CB2}" srcOrd="1" destOrd="0" presId="urn:microsoft.com/office/officeart/2005/8/layout/radial1"/>
    <dgm:cxn modelId="{973C8F4C-8E64-4B0F-9F37-A9FDFA58B85E}" type="presOf" srcId="{A90D434D-C153-49FB-8B51-3F0F67891E01}" destId="{3E3E8BA1-7E0B-4564-943D-E6B2EE95D772}" srcOrd="0" destOrd="0" presId="urn:microsoft.com/office/officeart/2005/8/layout/radial1"/>
    <dgm:cxn modelId="{5DA7E752-70F6-4B41-ACC1-469250946EE6}" type="presOf" srcId="{7987FFAE-7E72-4ACD-91FA-264C2A6EAEE9}" destId="{E76E731F-7A90-4004-B67E-8CBEAEF5FDB7}" srcOrd="1" destOrd="0" presId="urn:microsoft.com/office/officeart/2005/8/layout/radial1"/>
    <dgm:cxn modelId="{7337AA7F-EC37-4941-8A5B-9DD091EA24B0}" type="presOf" srcId="{2E2BA956-3E23-4C3F-8F8A-89AC89DF4CB6}" destId="{D1F48121-2658-46BC-AB84-BEDE4D27252C}" srcOrd="0" destOrd="0" presId="urn:microsoft.com/office/officeart/2005/8/layout/radial1"/>
    <dgm:cxn modelId="{19DE3086-87C0-4893-B8ED-53A44BF5DDC0}" srcId="{9467A333-6628-4878-9F4D-122BA2059500}" destId="{7C12EEE3-05F6-400A-AEFE-7051CBA9C9AF}" srcOrd="4" destOrd="0" parTransId="{7987FFAE-7E72-4ACD-91FA-264C2A6EAEE9}" sibTransId="{D111448A-70CF-4821-81F9-41DCB621291F}"/>
    <dgm:cxn modelId="{AE899D8D-1C2E-43E7-83EC-967277C9812B}" type="presOf" srcId="{7987FFAE-7E72-4ACD-91FA-264C2A6EAEE9}" destId="{5BE2E3B0-AD3C-498E-B0C3-C328CE9340E5}" srcOrd="0" destOrd="0" presId="urn:microsoft.com/office/officeart/2005/8/layout/radial1"/>
    <dgm:cxn modelId="{0E03858E-072A-4054-8A92-55D277E3B876}" srcId="{9467A333-6628-4878-9F4D-122BA2059500}" destId="{25EC3F60-A198-471F-A67C-E6056DF81E90}" srcOrd="0" destOrd="0" parTransId="{E6904251-D720-48A8-B781-C01A628BC70A}" sibTransId="{C5EC7E41-0052-4336-A872-2B90B43F124E}"/>
    <dgm:cxn modelId="{BACC4B92-63F4-495B-8F0C-13F6B803E34C}" type="presOf" srcId="{25EC3F60-A198-471F-A67C-E6056DF81E90}" destId="{4D951460-93F8-4640-979C-7467E2E088EE}" srcOrd="0" destOrd="0" presId="urn:microsoft.com/office/officeart/2005/8/layout/radial1"/>
    <dgm:cxn modelId="{5D2395A0-F1EB-44AA-881A-6E1B919F7B00}" type="presOf" srcId="{39029C91-2565-477E-9A6F-34A1CD161806}" destId="{675F0835-093A-40F6-A3CD-F5CE8942900A}" srcOrd="0" destOrd="0" presId="urn:microsoft.com/office/officeart/2005/8/layout/radial1"/>
    <dgm:cxn modelId="{A021F6B0-19C2-41C6-9ABF-0BF171307B65}" type="presOf" srcId="{6CDEAFB7-6156-4563-B7F2-194B2EAEC78E}" destId="{79632D9A-CB10-415F-B904-B86D65A48DE1}" srcOrd="0" destOrd="0" presId="urn:microsoft.com/office/officeart/2005/8/layout/radial1"/>
    <dgm:cxn modelId="{7091A9BE-6878-4B4E-8489-A71BFA65D85E}" type="presOf" srcId="{7C12EEE3-05F6-400A-AEFE-7051CBA9C9AF}" destId="{C3E09D0A-18FF-4E94-8B44-B45F1A861374}" srcOrd="0" destOrd="0" presId="urn:microsoft.com/office/officeart/2005/8/layout/radial1"/>
    <dgm:cxn modelId="{B73694D4-91B3-4446-8ED1-D82B0B2E558E}" type="presOf" srcId="{E6904251-D720-48A8-B781-C01A628BC70A}" destId="{AA0452A0-F47D-4E93-A74F-4335F8B2A541}" srcOrd="0" destOrd="0" presId="urn:microsoft.com/office/officeart/2005/8/layout/radial1"/>
    <dgm:cxn modelId="{B7ACEFDD-4EE3-4CFE-99F4-3773A1CBA7D6}" type="presOf" srcId="{5154C65A-A5B0-41A4-A45E-AD60463533A6}" destId="{9FA45081-4E47-4940-A75D-381D344C3D44}" srcOrd="0" destOrd="0" presId="urn:microsoft.com/office/officeart/2005/8/layout/radial1"/>
    <dgm:cxn modelId="{2722CAE8-136D-442F-A045-5DC2F1C9C641}" type="presOf" srcId="{39029C91-2565-477E-9A6F-34A1CD161806}" destId="{34C624A1-8762-4B89-8ABC-32A7B027C972}" srcOrd="1" destOrd="0" presId="urn:microsoft.com/office/officeart/2005/8/layout/radial1"/>
    <dgm:cxn modelId="{F53CF9F3-DC90-46E3-A56E-640E71C19E13}" type="presOf" srcId="{318FCDAE-451B-42F3-9E3E-353AB18CE995}" destId="{713B59DF-FB42-4F70-ADB1-DAA4F6B9A056}" srcOrd="0" destOrd="0" presId="urn:microsoft.com/office/officeart/2005/8/layout/radial1"/>
    <dgm:cxn modelId="{57B8BFF5-B7AB-4DE4-851D-6EAF8598990E}" srcId="{9467A333-6628-4878-9F4D-122BA2059500}" destId="{318FCDAE-451B-42F3-9E3E-353AB18CE995}" srcOrd="2" destOrd="0" parTransId="{43300389-C01B-4E02-8491-85315BD5FFEC}" sibTransId="{BDF4B1A6-A274-439C-B1CD-0C705E90CE86}"/>
    <dgm:cxn modelId="{DED10973-FB1F-4D99-8A42-2A9A16540DA6}" type="presParOf" srcId="{9FA45081-4E47-4940-A75D-381D344C3D44}" destId="{287CE30F-C863-4B2C-9044-5540DE020E9D}" srcOrd="0" destOrd="0" presId="urn:microsoft.com/office/officeart/2005/8/layout/radial1"/>
    <dgm:cxn modelId="{8F47C012-A98A-40B9-A1D1-56A4C1F30DF7}" type="presParOf" srcId="{9FA45081-4E47-4940-A75D-381D344C3D44}" destId="{AA0452A0-F47D-4E93-A74F-4335F8B2A541}" srcOrd="1" destOrd="0" presId="urn:microsoft.com/office/officeart/2005/8/layout/radial1"/>
    <dgm:cxn modelId="{90571B58-CE2E-4187-B626-1DA60F0DC633}" type="presParOf" srcId="{AA0452A0-F47D-4E93-A74F-4335F8B2A541}" destId="{8D46EAE3-1881-416C-835A-19E66E05ED7B}" srcOrd="0" destOrd="0" presId="urn:microsoft.com/office/officeart/2005/8/layout/radial1"/>
    <dgm:cxn modelId="{826CFB9A-8DD0-4EC4-9B0F-0517383A276F}" type="presParOf" srcId="{9FA45081-4E47-4940-A75D-381D344C3D44}" destId="{4D951460-93F8-4640-979C-7467E2E088EE}" srcOrd="2" destOrd="0" presId="urn:microsoft.com/office/officeart/2005/8/layout/radial1"/>
    <dgm:cxn modelId="{B51FD418-4903-45C9-9482-0E6D2C0F546B}" type="presParOf" srcId="{9FA45081-4E47-4940-A75D-381D344C3D44}" destId="{675F0835-093A-40F6-A3CD-F5CE8942900A}" srcOrd="3" destOrd="0" presId="urn:microsoft.com/office/officeart/2005/8/layout/radial1"/>
    <dgm:cxn modelId="{B37FF229-CD43-4CBA-B0B3-3B802C9BCA61}" type="presParOf" srcId="{675F0835-093A-40F6-A3CD-F5CE8942900A}" destId="{34C624A1-8762-4B89-8ABC-32A7B027C972}" srcOrd="0" destOrd="0" presId="urn:microsoft.com/office/officeart/2005/8/layout/radial1"/>
    <dgm:cxn modelId="{D8BB16D3-B395-4B8A-A25A-2FC9652BD5CD}" type="presParOf" srcId="{9FA45081-4E47-4940-A75D-381D344C3D44}" destId="{3E3E8BA1-7E0B-4564-943D-E6B2EE95D772}" srcOrd="4" destOrd="0" presId="urn:microsoft.com/office/officeart/2005/8/layout/radial1"/>
    <dgm:cxn modelId="{5195AEC0-0E94-46AB-A1B1-EB6708989F19}" type="presParOf" srcId="{9FA45081-4E47-4940-A75D-381D344C3D44}" destId="{FBFCF10D-5C40-4A9C-BB93-6AB3526D78BA}" srcOrd="5" destOrd="0" presId="urn:microsoft.com/office/officeart/2005/8/layout/radial1"/>
    <dgm:cxn modelId="{2F874359-6A13-4619-96C7-818889BC13EE}" type="presParOf" srcId="{FBFCF10D-5C40-4A9C-BB93-6AB3526D78BA}" destId="{98EEA344-C13E-4E16-BA8B-5DFB16AC8CB2}" srcOrd="0" destOrd="0" presId="urn:microsoft.com/office/officeart/2005/8/layout/radial1"/>
    <dgm:cxn modelId="{E72E044C-CBA0-4914-8863-799990FCB1C5}" type="presParOf" srcId="{9FA45081-4E47-4940-A75D-381D344C3D44}" destId="{713B59DF-FB42-4F70-ADB1-DAA4F6B9A056}" srcOrd="6" destOrd="0" presId="urn:microsoft.com/office/officeart/2005/8/layout/radial1"/>
    <dgm:cxn modelId="{CAF12770-D75E-4D49-94C5-DA60627BA0C5}" type="presParOf" srcId="{9FA45081-4E47-4940-A75D-381D344C3D44}" destId="{79632D9A-CB10-415F-B904-B86D65A48DE1}" srcOrd="7" destOrd="0" presId="urn:microsoft.com/office/officeart/2005/8/layout/radial1"/>
    <dgm:cxn modelId="{45638918-9B7F-4783-9D8B-21B650F4E49E}" type="presParOf" srcId="{79632D9A-CB10-415F-B904-B86D65A48DE1}" destId="{A8E7B953-CF49-4DB7-ACAB-B1C9B7EFB6A3}" srcOrd="0" destOrd="0" presId="urn:microsoft.com/office/officeart/2005/8/layout/radial1"/>
    <dgm:cxn modelId="{D1DD335B-9305-49A8-9336-E12A64567C2B}" type="presParOf" srcId="{9FA45081-4E47-4940-A75D-381D344C3D44}" destId="{D1F48121-2658-46BC-AB84-BEDE4D27252C}" srcOrd="8" destOrd="0" presId="urn:microsoft.com/office/officeart/2005/8/layout/radial1"/>
    <dgm:cxn modelId="{38A2EE93-F70E-4A50-BA15-65A22C410B43}" type="presParOf" srcId="{9FA45081-4E47-4940-A75D-381D344C3D44}" destId="{5BE2E3B0-AD3C-498E-B0C3-C328CE9340E5}" srcOrd="9" destOrd="0" presId="urn:microsoft.com/office/officeart/2005/8/layout/radial1"/>
    <dgm:cxn modelId="{FD34C1AE-2E4B-4964-9F2B-FCB9051FC179}" type="presParOf" srcId="{5BE2E3B0-AD3C-498E-B0C3-C328CE9340E5}" destId="{E76E731F-7A90-4004-B67E-8CBEAEF5FDB7}" srcOrd="0" destOrd="0" presId="urn:microsoft.com/office/officeart/2005/8/layout/radial1"/>
    <dgm:cxn modelId="{2C3F31C1-7E00-42BF-9CC3-5E607AA8A27B}" type="presParOf" srcId="{9FA45081-4E47-4940-A75D-381D344C3D44}" destId="{C3E09D0A-18FF-4E94-8B44-B45F1A861374}" srcOrd="10"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D3890C-5208-44EA-B22B-FF8E4D6BB503}"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E867A785-8833-4BAC-B29F-15431E63DA03}">
      <dgm:prSet/>
      <dgm:spPr/>
      <dgm:t>
        <a:bodyPr/>
        <a:lstStyle/>
        <a:p>
          <a:r>
            <a:rPr lang="en-US" dirty="0"/>
            <a:t>Standing orders (New Members, Minutes, Liaison Reports)</a:t>
          </a:r>
        </a:p>
      </dgm:t>
    </dgm:pt>
    <dgm:pt modelId="{B89BA783-8C80-4CB2-9015-2A7BFA39C8B7}" type="parTrans" cxnId="{2B51A248-D410-491B-9ACB-5A5D5A4274D9}">
      <dgm:prSet/>
      <dgm:spPr/>
      <dgm:t>
        <a:bodyPr/>
        <a:lstStyle/>
        <a:p>
          <a:endParaRPr lang="en-US"/>
        </a:p>
      </dgm:t>
    </dgm:pt>
    <dgm:pt modelId="{43DC39BC-F041-4CB6-B149-80BA38A65186}" type="sibTrans" cxnId="{2B51A248-D410-491B-9ACB-5A5D5A4274D9}">
      <dgm:prSet/>
      <dgm:spPr/>
      <dgm:t>
        <a:bodyPr/>
        <a:lstStyle/>
        <a:p>
          <a:endParaRPr lang="en-US"/>
        </a:p>
      </dgm:t>
    </dgm:pt>
    <dgm:pt modelId="{420F6766-F0FC-4DB2-BEA9-44D8C8CC0F8E}">
      <dgm:prSet/>
      <dgm:spPr/>
      <dgm:t>
        <a:bodyPr/>
        <a:lstStyle/>
        <a:p>
          <a:r>
            <a:rPr lang="en-US" dirty="0"/>
            <a:t>AOB</a:t>
          </a:r>
        </a:p>
      </dgm:t>
    </dgm:pt>
    <dgm:pt modelId="{34E42625-31D0-4831-B8C0-8151BF8C99EF}" type="parTrans" cxnId="{ECE1240F-70DA-4602-A2BA-95EB377FFA35}">
      <dgm:prSet/>
      <dgm:spPr/>
      <dgm:t>
        <a:bodyPr/>
        <a:lstStyle/>
        <a:p>
          <a:endParaRPr lang="en-US"/>
        </a:p>
      </dgm:t>
    </dgm:pt>
    <dgm:pt modelId="{894E56A9-F8B7-4F2D-91A5-5277AE5DDE10}" type="sibTrans" cxnId="{ECE1240F-70DA-4602-A2BA-95EB377FFA35}">
      <dgm:prSet/>
      <dgm:spPr/>
      <dgm:t>
        <a:bodyPr/>
        <a:lstStyle/>
        <a:p>
          <a:endParaRPr lang="en-US"/>
        </a:p>
      </dgm:t>
    </dgm:pt>
    <dgm:pt modelId="{68F9780B-2556-A346-AF20-ECC3B2D16A4D}">
      <dgm:prSet/>
      <dgm:spPr/>
      <dgm:t>
        <a:bodyPr/>
        <a:lstStyle/>
        <a:p>
          <a:r>
            <a:rPr lang="en-GB" dirty="0"/>
            <a:t>Welcome and terms of reference</a:t>
          </a:r>
          <a:endParaRPr lang="en-US" dirty="0"/>
        </a:p>
      </dgm:t>
    </dgm:pt>
    <dgm:pt modelId="{35D973D7-5F7D-BD4F-B814-349144165C97}" type="parTrans" cxnId="{C01D7DEF-B7C4-2046-9DFC-2AF4B03F9B59}">
      <dgm:prSet/>
      <dgm:spPr/>
      <dgm:t>
        <a:bodyPr/>
        <a:lstStyle/>
        <a:p>
          <a:endParaRPr lang="en-GB"/>
        </a:p>
      </dgm:t>
    </dgm:pt>
    <dgm:pt modelId="{ABCB057C-D781-D640-9707-2BCC599D7DF1}" type="sibTrans" cxnId="{C01D7DEF-B7C4-2046-9DFC-2AF4B03F9B59}">
      <dgm:prSet/>
      <dgm:spPr/>
      <dgm:t>
        <a:bodyPr/>
        <a:lstStyle/>
        <a:p>
          <a:endParaRPr lang="en-GB"/>
        </a:p>
      </dgm:t>
    </dgm:pt>
    <dgm:pt modelId="{54CB2A82-F12D-DE49-9CF8-0D186C695A66}">
      <dgm:prSet/>
      <dgm:spPr/>
      <dgm:t>
        <a:bodyPr/>
        <a:lstStyle/>
        <a:p>
          <a:r>
            <a:rPr lang="en-US" dirty="0"/>
            <a:t>WELCOME TO 2021!</a:t>
          </a:r>
        </a:p>
      </dgm:t>
    </dgm:pt>
    <dgm:pt modelId="{99246D0B-6276-2D4D-AEDB-C9496D730373}" type="parTrans" cxnId="{EA4100B6-F4B2-844A-8E31-FBEF0E1A65D1}">
      <dgm:prSet/>
      <dgm:spPr/>
      <dgm:t>
        <a:bodyPr/>
        <a:lstStyle/>
        <a:p>
          <a:endParaRPr lang="en-GB"/>
        </a:p>
      </dgm:t>
    </dgm:pt>
    <dgm:pt modelId="{B2D070DA-2B7C-304F-9884-C9DC22C78A9A}" type="sibTrans" cxnId="{EA4100B6-F4B2-844A-8E31-FBEF0E1A65D1}">
      <dgm:prSet/>
      <dgm:spPr/>
      <dgm:t>
        <a:bodyPr/>
        <a:lstStyle/>
        <a:p>
          <a:endParaRPr lang="en-GB"/>
        </a:p>
      </dgm:t>
    </dgm:pt>
    <dgm:pt modelId="{02D2EFCB-BE98-4448-9958-D37487FA3570}">
      <dgm:prSet/>
      <dgm:spPr/>
      <dgm:t>
        <a:bodyPr/>
        <a:lstStyle/>
        <a:p>
          <a:r>
            <a:rPr lang="en-US" dirty="0"/>
            <a:t>Priorities for this year</a:t>
          </a:r>
        </a:p>
      </dgm:t>
    </dgm:pt>
    <dgm:pt modelId="{5F6DBB43-7528-A647-924E-8ED990DB57D0}" type="parTrans" cxnId="{30ABBAF8-9714-184C-AF5A-06F29985CCDF}">
      <dgm:prSet/>
      <dgm:spPr/>
      <dgm:t>
        <a:bodyPr/>
        <a:lstStyle/>
        <a:p>
          <a:endParaRPr lang="en-GB"/>
        </a:p>
      </dgm:t>
    </dgm:pt>
    <dgm:pt modelId="{C567F265-E3AE-1842-8EE4-26879F412175}" type="sibTrans" cxnId="{30ABBAF8-9714-184C-AF5A-06F29985CCDF}">
      <dgm:prSet/>
      <dgm:spPr/>
      <dgm:t>
        <a:bodyPr/>
        <a:lstStyle/>
        <a:p>
          <a:endParaRPr lang="en-GB"/>
        </a:p>
      </dgm:t>
    </dgm:pt>
    <dgm:pt modelId="{0E211868-8BBC-1041-A23A-32E6E33E9F11}">
      <dgm:prSet/>
      <dgm:spPr/>
      <dgm:t>
        <a:bodyPr/>
        <a:lstStyle/>
        <a:p>
          <a:r>
            <a:rPr lang="en-US" dirty="0"/>
            <a:t>Dynamic Trustworthiness Cases</a:t>
          </a:r>
        </a:p>
      </dgm:t>
    </dgm:pt>
    <dgm:pt modelId="{8FD92DFE-E68B-AB4E-B163-7F969E5C4B3D}" type="parTrans" cxnId="{3F51BBD6-38CF-5B46-98B8-BB286FD2AE3F}">
      <dgm:prSet/>
      <dgm:spPr/>
      <dgm:t>
        <a:bodyPr/>
        <a:lstStyle/>
        <a:p>
          <a:endParaRPr lang="en-GB"/>
        </a:p>
      </dgm:t>
    </dgm:pt>
    <dgm:pt modelId="{8F171A4A-C78C-7740-B403-02CEF9E092C8}" type="sibTrans" cxnId="{3F51BBD6-38CF-5B46-98B8-BB286FD2AE3F}">
      <dgm:prSet/>
      <dgm:spPr/>
      <dgm:t>
        <a:bodyPr/>
        <a:lstStyle/>
        <a:p>
          <a:endParaRPr lang="en-GB"/>
        </a:p>
      </dgm:t>
    </dgm:pt>
    <dgm:pt modelId="{A1D9E596-9B2B-4EEF-9D63-B26EFF6EE3AF}" type="pres">
      <dgm:prSet presAssocID="{63D3890C-5208-44EA-B22B-FF8E4D6BB503}" presName="Name0" presStyleCnt="0">
        <dgm:presLayoutVars>
          <dgm:chMax val="7"/>
          <dgm:chPref val="7"/>
          <dgm:dir/>
        </dgm:presLayoutVars>
      </dgm:prSet>
      <dgm:spPr/>
    </dgm:pt>
    <dgm:pt modelId="{DED3E166-0609-48AE-9C80-5E5C3FF5E010}" type="pres">
      <dgm:prSet presAssocID="{63D3890C-5208-44EA-B22B-FF8E4D6BB503}" presName="Name1" presStyleCnt="0"/>
      <dgm:spPr/>
    </dgm:pt>
    <dgm:pt modelId="{FFA2ADA4-D8C7-4015-B6CC-92418DE2D2D8}" type="pres">
      <dgm:prSet presAssocID="{63D3890C-5208-44EA-B22B-FF8E4D6BB503}" presName="cycle" presStyleCnt="0"/>
      <dgm:spPr/>
    </dgm:pt>
    <dgm:pt modelId="{F868A2DC-2BDA-4581-873A-4A219459256B}" type="pres">
      <dgm:prSet presAssocID="{63D3890C-5208-44EA-B22B-FF8E4D6BB503}" presName="srcNode" presStyleLbl="node1" presStyleIdx="0" presStyleCnt="6"/>
      <dgm:spPr/>
    </dgm:pt>
    <dgm:pt modelId="{454FE333-9FCA-4A88-A2BA-D3D7AAF63722}" type="pres">
      <dgm:prSet presAssocID="{63D3890C-5208-44EA-B22B-FF8E4D6BB503}" presName="conn" presStyleLbl="parChTrans1D2" presStyleIdx="0" presStyleCnt="1"/>
      <dgm:spPr/>
    </dgm:pt>
    <dgm:pt modelId="{D2746C13-7E31-42E9-AAD9-5F9FCF4C1150}" type="pres">
      <dgm:prSet presAssocID="{63D3890C-5208-44EA-B22B-FF8E4D6BB503}" presName="extraNode" presStyleLbl="node1" presStyleIdx="0" presStyleCnt="6"/>
      <dgm:spPr/>
    </dgm:pt>
    <dgm:pt modelId="{50259408-18B1-4B4C-989E-B600E30BAD15}" type="pres">
      <dgm:prSet presAssocID="{63D3890C-5208-44EA-B22B-FF8E4D6BB503}" presName="dstNode" presStyleLbl="node1" presStyleIdx="0" presStyleCnt="6"/>
      <dgm:spPr/>
    </dgm:pt>
    <dgm:pt modelId="{6CBE8D51-4B8B-4748-B527-6B1459153162}" type="pres">
      <dgm:prSet presAssocID="{68F9780B-2556-A346-AF20-ECC3B2D16A4D}" presName="text_1" presStyleLbl="node1" presStyleIdx="0" presStyleCnt="6">
        <dgm:presLayoutVars>
          <dgm:bulletEnabled val="1"/>
        </dgm:presLayoutVars>
      </dgm:prSet>
      <dgm:spPr/>
    </dgm:pt>
    <dgm:pt modelId="{8AE48D9E-8BDB-0442-A7D4-B509AE61E9C5}" type="pres">
      <dgm:prSet presAssocID="{68F9780B-2556-A346-AF20-ECC3B2D16A4D}" presName="accent_1" presStyleCnt="0"/>
      <dgm:spPr/>
    </dgm:pt>
    <dgm:pt modelId="{F07F2526-603C-5541-93A7-F3B141D0F3A7}" type="pres">
      <dgm:prSet presAssocID="{68F9780B-2556-A346-AF20-ECC3B2D16A4D}" presName="accentRepeatNode" presStyleLbl="solidFgAcc1" presStyleIdx="0" presStyleCnt="6"/>
      <dgm:spPr/>
    </dgm:pt>
    <dgm:pt modelId="{AF1E3F13-189E-274E-84AB-5FB95B2BE346}" type="pres">
      <dgm:prSet presAssocID="{54CB2A82-F12D-DE49-9CF8-0D186C695A66}" presName="text_2" presStyleLbl="node1" presStyleIdx="1" presStyleCnt="6">
        <dgm:presLayoutVars>
          <dgm:bulletEnabled val="1"/>
        </dgm:presLayoutVars>
      </dgm:prSet>
      <dgm:spPr/>
    </dgm:pt>
    <dgm:pt modelId="{DA8B75B1-2FF3-4F4E-B85C-00E1E374B98B}" type="pres">
      <dgm:prSet presAssocID="{54CB2A82-F12D-DE49-9CF8-0D186C695A66}" presName="accent_2" presStyleCnt="0"/>
      <dgm:spPr/>
    </dgm:pt>
    <dgm:pt modelId="{FF4DE5AD-1AE0-0C4F-B859-CC3614355F5D}" type="pres">
      <dgm:prSet presAssocID="{54CB2A82-F12D-DE49-9CF8-0D186C695A66}" presName="accentRepeatNode" presStyleLbl="solidFgAcc1" presStyleIdx="1" presStyleCnt="6"/>
      <dgm:spPr/>
    </dgm:pt>
    <dgm:pt modelId="{3D2E1A1F-3DB4-B447-8D19-0D9CAA78C952}" type="pres">
      <dgm:prSet presAssocID="{E867A785-8833-4BAC-B29F-15431E63DA03}" presName="text_3" presStyleLbl="node1" presStyleIdx="2" presStyleCnt="6">
        <dgm:presLayoutVars>
          <dgm:bulletEnabled val="1"/>
        </dgm:presLayoutVars>
      </dgm:prSet>
      <dgm:spPr/>
    </dgm:pt>
    <dgm:pt modelId="{9AB26110-0C6E-234A-BC0D-623FD68B7A67}" type="pres">
      <dgm:prSet presAssocID="{E867A785-8833-4BAC-B29F-15431E63DA03}" presName="accent_3" presStyleCnt="0"/>
      <dgm:spPr/>
    </dgm:pt>
    <dgm:pt modelId="{94150FB3-EA9D-4F9A-91D8-35C3BA0873B4}" type="pres">
      <dgm:prSet presAssocID="{E867A785-8833-4BAC-B29F-15431E63DA03}" presName="accentRepeatNode" presStyleLbl="solidFgAcc1" presStyleIdx="2" presStyleCnt="6"/>
      <dgm:spPr/>
    </dgm:pt>
    <dgm:pt modelId="{E104E993-6451-B14A-9C36-20812BA96324}" type="pres">
      <dgm:prSet presAssocID="{0E211868-8BBC-1041-A23A-32E6E33E9F11}" presName="text_4" presStyleLbl="node1" presStyleIdx="3" presStyleCnt="6">
        <dgm:presLayoutVars>
          <dgm:bulletEnabled val="1"/>
        </dgm:presLayoutVars>
      </dgm:prSet>
      <dgm:spPr/>
    </dgm:pt>
    <dgm:pt modelId="{0A33AD20-9FD4-894F-9C19-885A1E94A7F9}" type="pres">
      <dgm:prSet presAssocID="{0E211868-8BBC-1041-A23A-32E6E33E9F11}" presName="accent_4" presStyleCnt="0"/>
      <dgm:spPr/>
    </dgm:pt>
    <dgm:pt modelId="{3B85C02F-0FFA-5349-8E5F-56D268BA3CB3}" type="pres">
      <dgm:prSet presAssocID="{0E211868-8BBC-1041-A23A-32E6E33E9F11}" presName="accentRepeatNode" presStyleLbl="solidFgAcc1" presStyleIdx="3" presStyleCnt="6"/>
      <dgm:spPr/>
    </dgm:pt>
    <dgm:pt modelId="{51433E93-3D9E-A943-9C28-9F15AC37D740}" type="pres">
      <dgm:prSet presAssocID="{02D2EFCB-BE98-4448-9958-D37487FA3570}" presName="text_5" presStyleLbl="node1" presStyleIdx="4" presStyleCnt="6">
        <dgm:presLayoutVars>
          <dgm:bulletEnabled val="1"/>
        </dgm:presLayoutVars>
      </dgm:prSet>
      <dgm:spPr/>
    </dgm:pt>
    <dgm:pt modelId="{4448420E-7A14-CE45-87BA-BFE265F4CB73}" type="pres">
      <dgm:prSet presAssocID="{02D2EFCB-BE98-4448-9958-D37487FA3570}" presName="accent_5" presStyleCnt="0"/>
      <dgm:spPr/>
    </dgm:pt>
    <dgm:pt modelId="{273D7758-5E3F-1F47-B305-E11F71F8867D}" type="pres">
      <dgm:prSet presAssocID="{02D2EFCB-BE98-4448-9958-D37487FA3570}" presName="accentRepeatNode" presStyleLbl="solidFgAcc1" presStyleIdx="4" presStyleCnt="6"/>
      <dgm:spPr/>
    </dgm:pt>
    <dgm:pt modelId="{88DE5B59-6783-6944-BBEE-EF86AFD66C17}" type="pres">
      <dgm:prSet presAssocID="{420F6766-F0FC-4DB2-BEA9-44D8C8CC0F8E}" presName="text_6" presStyleLbl="node1" presStyleIdx="5" presStyleCnt="6">
        <dgm:presLayoutVars>
          <dgm:bulletEnabled val="1"/>
        </dgm:presLayoutVars>
      </dgm:prSet>
      <dgm:spPr/>
    </dgm:pt>
    <dgm:pt modelId="{3730623A-7B66-C849-B43B-B2967B6E3A11}" type="pres">
      <dgm:prSet presAssocID="{420F6766-F0FC-4DB2-BEA9-44D8C8CC0F8E}" presName="accent_6" presStyleCnt="0"/>
      <dgm:spPr/>
    </dgm:pt>
    <dgm:pt modelId="{92084532-D58E-41A3-BF46-A49D4F637984}" type="pres">
      <dgm:prSet presAssocID="{420F6766-F0FC-4DB2-BEA9-44D8C8CC0F8E}" presName="accentRepeatNode" presStyleLbl="solidFgAcc1" presStyleIdx="5" presStyleCnt="6"/>
      <dgm:spPr/>
    </dgm:pt>
  </dgm:ptLst>
  <dgm:cxnLst>
    <dgm:cxn modelId="{8937DA03-BF32-1741-BF03-1282FF8A4345}" type="presOf" srcId="{54CB2A82-F12D-DE49-9CF8-0D186C695A66}" destId="{AF1E3F13-189E-274E-84AB-5FB95B2BE346}" srcOrd="0" destOrd="0" presId="urn:microsoft.com/office/officeart/2008/layout/VerticalCurvedList"/>
    <dgm:cxn modelId="{ECE1240F-70DA-4602-A2BA-95EB377FFA35}" srcId="{63D3890C-5208-44EA-B22B-FF8E4D6BB503}" destId="{420F6766-F0FC-4DB2-BEA9-44D8C8CC0F8E}" srcOrd="5" destOrd="0" parTransId="{34E42625-31D0-4831-B8C0-8151BF8C99EF}" sibTransId="{894E56A9-F8B7-4F2D-91A5-5277AE5DDE10}"/>
    <dgm:cxn modelId="{825FC412-700A-8243-914B-7619A746DABD}" type="presOf" srcId="{68F9780B-2556-A346-AF20-ECC3B2D16A4D}" destId="{6CBE8D51-4B8B-4748-B527-6B1459153162}" srcOrd="0" destOrd="0" presId="urn:microsoft.com/office/officeart/2008/layout/VerticalCurvedList"/>
    <dgm:cxn modelId="{AF158462-7049-0C47-8E73-055650FCC94A}" type="presOf" srcId="{02D2EFCB-BE98-4448-9958-D37487FA3570}" destId="{51433E93-3D9E-A943-9C28-9F15AC37D740}" srcOrd="0" destOrd="0" presId="urn:microsoft.com/office/officeart/2008/layout/VerticalCurvedList"/>
    <dgm:cxn modelId="{17742E65-6FD9-4B68-B38F-98AABDB1F5BC}" type="presOf" srcId="{63D3890C-5208-44EA-B22B-FF8E4D6BB503}" destId="{A1D9E596-9B2B-4EEF-9D63-B26EFF6EE3AF}" srcOrd="0" destOrd="0" presId="urn:microsoft.com/office/officeart/2008/layout/VerticalCurvedList"/>
    <dgm:cxn modelId="{91C6D265-4E61-BF4C-8EA3-F8E5E811F257}" type="presOf" srcId="{0E211868-8BBC-1041-A23A-32E6E33E9F11}" destId="{E104E993-6451-B14A-9C36-20812BA96324}" srcOrd="0" destOrd="0" presId="urn:microsoft.com/office/officeart/2008/layout/VerticalCurvedList"/>
    <dgm:cxn modelId="{2B51A248-D410-491B-9ACB-5A5D5A4274D9}" srcId="{63D3890C-5208-44EA-B22B-FF8E4D6BB503}" destId="{E867A785-8833-4BAC-B29F-15431E63DA03}" srcOrd="2" destOrd="0" parTransId="{B89BA783-8C80-4CB2-9015-2A7BFA39C8B7}" sibTransId="{43DC39BC-F041-4CB6-B149-80BA38A65186}"/>
    <dgm:cxn modelId="{65E0D2AE-D1C3-3049-8EA7-5055CF802907}" type="presOf" srcId="{E867A785-8833-4BAC-B29F-15431E63DA03}" destId="{3D2E1A1F-3DB4-B447-8D19-0D9CAA78C952}" srcOrd="0" destOrd="0" presId="urn:microsoft.com/office/officeart/2008/layout/VerticalCurvedList"/>
    <dgm:cxn modelId="{EA4100B6-F4B2-844A-8E31-FBEF0E1A65D1}" srcId="{63D3890C-5208-44EA-B22B-FF8E4D6BB503}" destId="{54CB2A82-F12D-DE49-9CF8-0D186C695A66}" srcOrd="1" destOrd="0" parTransId="{99246D0B-6276-2D4D-AEDB-C9496D730373}" sibTransId="{B2D070DA-2B7C-304F-9884-C9DC22C78A9A}"/>
    <dgm:cxn modelId="{7155E0B8-72A9-0344-9499-E60B842527D0}" type="presOf" srcId="{420F6766-F0FC-4DB2-BEA9-44D8C8CC0F8E}" destId="{88DE5B59-6783-6944-BBEE-EF86AFD66C17}" srcOrd="0" destOrd="0" presId="urn:microsoft.com/office/officeart/2008/layout/VerticalCurvedList"/>
    <dgm:cxn modelId="{3F51BBD6-38CF-5B46-98B8-BB286FD2AE3F}" srcId="{63D3890C-5208-44EA-B22B-FF8E4D6BB503}" destId="{0E211868-8BBC-1041-A23A-32E6E33E9F11}" srcOrd="3" destOrd="0" parTransId="{8FD92DFE-E68B-AB4E-B163-7F969E5C4B3D}" sibTransId="{8F171A4A-C78C-7740-B403-02CEF9E092C8}"/>
    <dgm:cxn modelId="{C01D7DEF-B7C4-2046-9DFC-2AF4B03F9B59}" srcId="{63D3890C-5208-44EA-B22B-FF8E4D6BB503}" destId="{68F9780B-2556-A346-AF20-ECC3B2D16A4D}" srcOrd="0" destOrd="0" parTransId="{35D973D7-5F7D-BD4F-B814-349144165C97}" sibTransId="{ABCB057C-D781-D640-9707-2BCC599D7DF1}"/>
    <dgm:cxn modelId="{63D7D7F3-23AB-2442-A6A2-CBE3E9A7C78F}" type="presOf" srcId="{ABCB057C-D781-D640-9707-2BCC599D7DF1}" destId="{454FE333-9FCA-4A88-A2BA-D3D7AAF63722}" srcOrd="0" destOrd="0" presId="urn:microsoft.com/office/officeart/2008/layout/VerticalCurvedList"/>
    <dgm:cxn modelId="{30ABBAF8-9714-184C-AF5A-06F29985CCDF}" srcId="{63D3890C-5208-44EA-B22B-FF8E4D6BB503}" destId="{02D2EFCB-BE98-4448-9958-D37487FA3570}" srcOrd="4" destOrd="0" parTransId="{5F6DBB43-7528-A647-924E-8ED990DB57D0}" sibTransId="{C567F265-E3AE-1842-8EE4-26879F412175}"/>
    <dgm:cxn modelId="{C3C711C4-8EAD-429A-8447-30C8FA0A1F2F}" type="presParOf" srcId="{A1D9E596-9B2B-4EEF-9D63-B26EFF6EE3AF}" destId="{DED3E166-0609-48AE-9C80-5E5C3FF5E010}" srcOrd="0" destOrd="0" presId="urn:microsoft.com/office/officeart/2008/layout/VerticalCurvedList"/>
    <dgm:cxn modelId="{00D580EA-923F-441C-AC8F-F6027234FEA0}" type="presParOf" srcId="{DED3E166-0609-48AE-9C80-5E5C3FF5E010}" destId="{FFA2ADA4-D8C7-4015-B6CC-92418DE2D2D8}" srcOrd="0" destOrd="0" presId="urn:microsoft.com/office/officeart/2008/layout/VerticalCurvedList"/>
    <dgm:cxn modelId="{CBF97BF6-44CC-4C21-8816-D7FA3C9CD869}" type="presParOf" srcId="{FFA2ADA4-D8C7-4015-B6CC-92418DE2D2D8}" destId="{F868A2DC-2BDA-4581-873A-4A219459256B}" srcOrd="0" destOrd="0" presId="urn:microsoft.com/office/officeart/2008/layout/VerticalCurvedList"/>
    <dgm:cxn modelId="{4B2D7030-3118-48D7-B0FD-E1120D651B17}" type="presParOf" srcId="{FFA2ADA4-D8C7-4015-B6CC-92418DE2D2D8}" destId="{454FE333-9FCA-4A88-A2BA-D3D7AAF63722}" srcOrd="1" destOrd="0" presId="urn:microsoft.com/office/officeart/2008/layout/VerticalCurvedList"/>
    <dgm:cxn modelId="{0D7A9247-D919-44E1-AAF1-E91911650052}" type="presParOf" srcId="{FFA2ADA4-D8C7-4015-B6CC-92418DE2D2D8}" destId="{D2746C13-7E31-42E9-AAD9-5F9FCF4C1150}" srcOrd="2" destOrd="0" presId="urn:microsoft.com/office/officeart/2008/layout/VerticalCurvedList"/>
    <dgm:cxn modelId="{27026295-3CBD-4DB4-A1D3-95F9A15BB0F5}" type="presParOf" srcId="{FFA2ADA4-D8C7-4015-B6CC-92418DE2D2D8}" destId="{50259408-18B1-4B4C-989E-B600E30BAD15}" srcOrd="3" destOrd="0" presId="urn:microsoft.com/office/officeart/2008/layout/VerticalCurvedList"/>
    <dgm:cxn modelId="{B3263721-45B5-264F-B2DB-B7A226620FB6}" type="presParOf" srcId="{DED3E166-0609-48AE-9C80-5E5C3FF5E010}" destId="{6CBE8D51-4B8B-4748-B527-6B1459153162}" srcOrd="1" destOrd="0" presId="urn:microsoft.com/office/officeart/2008/layout/VerticalCurvedList"/>
    <dgm:cxn modelId="{70FDD958-3451-4C4F-86E2-2B52103E1649}" type="presParOf" srcId="{DED3E166-0609-48AE-9C80-5E5C3FF5E010}" destId="{8AE48D9E-8BDB-0442-A7D4-B509AE61E9C5}" srcOrd="2" destOrd="0" presId="urn:microsoft.com/office/officeart/2008/layout/VerticalCurvedList"/>
    <dgm:cxn modelId="{04941ECA-09A0-684C-A63B-2F9DA37BAAF2}" type="presParOf" srcId="{8AE48D9E-8BDB-0442-A7D4-B509AE61E9C5}" destId="{F07F2526-603C-5541-93A7-F3B141D0F3A7}" srcOrd="0" destOrd="0" presId="urn:microsoft.com/office/officeart/2008/layout/VerticalCurvedList"/>
    <dgm:cxn modelId="{80332B67-21F2-5842-BD95-8B57CAB6D8F3}" type="presParOf" srcId="{DED3E166-0609-48AE-9C80-5E5C3FF5E010}" destId="{AF1E3F13-189E-274E-84AB-5FB95B2BE346}" srcOrd="3" destOrd="0" presId="urn:microsoft.com/office/officeart/2008/layout/VerticalCurvedList"/>
    <dgm:cxn modelId="{B34606BE-A954-6541-B965-FF37DFBBF61C}" type="presParOf" srcId="{DED3E166-0609-48AE-9C80-5E5C3FF5E010}" destId="{DA8B75B1-2FF3-4F4E-B85C-00E1E374B98B}" srcOrd="4" destOrd="0" presId="urn:microsoft.com/office/officeart/2008/layout/VerticalCurvedList"/>
    <dgm:cxn modelId="{906A88FC-F821-8243-BF26-8E7CC5AF0059}" type="presParOf" srcId="{DA8B75B1-2FF3-4F4E-B85C-00E1E374B98B}" destId="{FF4DE5AD-1AE0-0C4F-B859-CC3614355F5D}" srcOrd="0" destOrd="0" presId="urn:microsoft.com/office/officeart/2008/layout/VerticalCurvedList"/>
    <dgm:cxn modelId="{09DE602D-CA53-5940-B964-789860A8BC71}" type="presParOf" srcId="{DED3E166-0609-48AE-9C80-5E5C3FF5E010}" destId="{3D2E1A1F-3DB4-B447-8D19-0D9CAA78C952}" srcOrd="5" destOrd="0" presId="urn:microsoft.com/office/officeart/2008/layout/VerticalCurvedList"/>
    <dgm:cxn modelId="{AFA94137-0B5A-6C4F-817F-EAFDA3A2CBF7}" type="presParOf" srcId="{DED3E166-0609-48AE-9C80-5E5C3FF5E010}" destId="{9AB26110-0C6E-234A-BC0D-623FD68B7A67}" srcOrd="6" destOrd="0" presId="urn:microsoft.com/office/officeart/2008/layout/VerticalCurvedList"/>
    <dgm:cxn modelId="{CE5A291C-EEF9-6A43-A5FE-12A40F81F88E}" type="presParOf" srcId="{9AB26110-0C6E-234A-BC0D-623FD68B7A67}" destId="{94150FB3-EA9D-4F9A-91D8-35C3BA0873B4}" srcOrd="0" destOrd="0" presId="urn:microsoft.com/office/officeart/2008/layout/VerticalCurvedList"/>
    <dgm:cxn modelId="{5A67279F-B4BE-3743-8B37-32D1F17D21F4}" type="presParOf" srcId="{DED3E166-0609-48AE-9C80-5E5C3FF5E010}" destId="{E104E993-6451-B14A-9C36-20812BA96324}" srcOrd="7" destOrd="0" presId="urn:microsoft.com/office/officeart/2008/layout/VerticalCurvedList"/>
    <dgm:cxn modelId="{830DAD77-6012-CE48-B4C6-E20257AA7A1F}" type="presParOf" srcId="{DED3E166-0609-48AE-9C80-5E5C3FF5E010}" destId="{0A33AD20-9FD4-894F-9C19-885A1E94A7F9}" srcOrd="8" destOrd="0" presId="urn:microsoft.com/office/officeart/2008/layout/VerticalCurvedList"/>
    <dgm:cxn modelId="{AB4697CC-7409-0749-ADA5-224F70BDFF4E}" type="presParOf" srcId="{0A33AD20-9FD4-894F-9C19-885A1E94A7F9}" destId="{3B85C02F-0FFA-5349-8E5F-56D268BA3CB3}" srcOrd="0" destOrd="0" presId="urn:microsoft.com/office/officeart/2008/layout/VerticalCurvedList"/>
    <dgm:cxn modelId="{65441956-C52F-C448-9F80-637C816F47F7}" type="presParOf" srcId="{DED3E166-0609-48AE-9C80-5E5C3FF5E010}" destId="{51433E93-3D9E-A943-9C28-9F15AC37D740}" srcOrd="9" destOrd="0" presId="urn:microsoft.com/office/officeart/2008/layout/VerticalCurvedList"/>
    <dgm:cxn modelId="{C7DF0787-6F75-4C47-886B-B048E76E226D}" type="presParOf" srcId="{DED3E166-0609-48AE-9C80-5E5C3FF5E010}" destId="{4448420E-7A14-CE45-87BA-BFE265F4CB73}" srcOrd="10" destOrd="0" presId="urn:microsoft.com/office/officeart/2008/layout/VerticalCurvedList"/>
    <dgm:cxn modelId="{06EF9FBD-7992-4F4F-BDBD-62832908B63D}" type="presParOf" srcId="{4448420E-7A14-CE45-87BA-BFE265F4CB73}" destId="{273D7758-5E3F-1F47-B305-E11F71F8867D}" srcOrd="0" destOrd="0" presId="urn:microsoft.com/office/officeart/2008/layout/VerticalCurvedList"/>
    <dgm:cxn modelId="{4E23C449-9891-7140-AB86-2D01B3622BDD}" type="presParOf" srcId="{DED3E166-0609-48AE-9C80-5E5C3FF5E010}" destId="{88DE5B59-6783-6944-BBEE-EF86AFD66C17}" srcOrd="11" destOrd="0" presId="urn:microsoft.com/office/officeart/2008/layout/VerticalCurvedList"/>
    <dgm:cxn modelId="{EA55F2DF-8D59-B242-9A96-53B4EBE7B5D2}" type="presParOf" srcId="{DED3E166-0609-48AE-9C80-5E5C3FF5E010}" destId="{3730623A-7B66-C849-B43B-B2967B6E3A11}" srcOrd="12" destOrd="0" presId="urn:microsoft.com/office/officeart/2008/layout/VerticalCurvedList"/>
    <dgm:cxn modelId="{5140DD0E-F216-1B4F-A564-EE99219AF4AA}" type="presParOf" srcId="{3730623A-7B66-C849-B43B-B2967B6E3A11}" destId="{92084532-D58E-41A3-BF46-A49D4F63798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7CE30F-C863-4B2C-9044-5540DE020E9D}">
      <dsp:nvSpPr>
        <dsp:cNvPr id="0" name=""/>
        <dsp:cNvSpPr/>
      </dsp:nvSpPr>
      <dsp:spPr>
        <a:xfrm>
          <a:off x="3563863" y="1939344"/>
          <a:ext cx="1489501" cy="148950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effectLst/>
            </a:rPr>
            <a:t>Terminology</a:t>
          </a:r>
        </a:p>
      </dsp:txBody>
      <dsp:txXfrm>
        <a:off x="3781995" y="2157476"/>
        <a:ext cx="1053237" cy="1053237"/>
      </dsp:txXfrm>
    </dsp:sp>
    <dsp:sp modelId="{AA0452A0-F47D-4E93-A74F-4335F8B2A541}">
      <dsp:nvSpPr>
        <dsp:cNvPr id="0" name=""/>
        <dsp:cNvSpPr/>
      </dsp:nvSpPr>
      <dsp:spPr>
        <a:xfrm rot="16200000">
          <a:off x="4085106" y="1700280"/>
          <a:ext cx="447014" cy="31113"/>
        </a:xfrm>
        <a:custGeom>
          <a:avLst/>
          <a:gdLst/>
          <a:ahLst/>
          <a:cxnLst/>
          <a:rect l="0" t="0" r="0" b="0"/>
          <a:pathLst>
            <a:path>
              <a:moveTo>
                <a:pt x="0" y="15556"/>
              </a:moveTo>
              <a:lnTo>
                <a:pt x="447014" y="1555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0" kern="1200">
            <a:effectLst/>
          </a:endParaRPr>
        </a:p>
      </dsp:txBody>
      <dsp:txXfrm>
        <a:off x="4297438" y="1704661"/>
        <a:ext cx="22350" cy="22350"/>
      </dsp:txXfrm>
    </dsp:sp>
    <dsp:sp modelId="{4D951460-93F8-4640-979C-7467E2E088EE}">
      <dsp:nvSpPr>
        <dsp:cNvPr id="0" name=""/>
        <dsp:cNvSpPr/>
      </dsp:nvSpPr>
      <dsp:spPr>
        <a:xfrm>
          <a:off x="3563863" y="2828"/>
          <a:ext cx="1489501" cy="1489501"/>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Security</a:t>
          </a:r>
        </a:p>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Trustworthiness</a:t>
          </a:r>
        </a:p>
      </dsp:txBody>
      <dsp:txXfrm>
        <a:off x="3781995" y="220960"/>
        <a:ext cx="1053237" cy="1053237"/>
      </dsp:txXfrm>
    </dsp:sp>
    <dsp:sp modelId="{675F0835-093A-40F6-A3CD-F5CE8942900A}">
      <dsp:nvSpPr>
        <dsp:cNvPr id="0" name=""/>
        <dsp:cNvSpPr/>
      </dsp:nvSpPr>
      <dsp:spPr>
        <a:xfrm rot="20520000">
          <a:off x="5005974" y="2369330"/>
          <a:ext cx="447014" cy="31113"/>
        </a:xfrm>
        <a:custGeom>
          <a:avLst/>
          <a:gdLst/>
          <a:ahLst/>
          <a:cxnLst/>
          <a:rect l="0" t="0" r="0" b="0"/>
          <a:pathLst>
            <a:path>
              <a:moveTo>
                <a:pt x="0" y="15556"/>
              </a:moveTo>
              <a:lnTo>
                <a:pt x="447014" y="1555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0" kern="1200">
            <a:effectLst/>
          </a:endParaRPr>
        </a:p>
      </dsp:txBody>
      <dsp:txXfrm>
        <a:off x="5218306" y="2373711"/>
        <a:ext cx="22350" cy="22350"/>
      </dsp:txXfrm>
    </dsp:sp>
    <dsp:sp modelId="{3E3E8BA1-7E0B-4564-943D-E6B2EE95D772}">
      <dsp:nvSpPr>
        <dsp:cNvPr id="0" name=""/>
        <dsp:cNvSpPr/>
      </dsp:nvSpPr>
      <dsp:spPr>
        <a:xfrm>
          <a:off x="5405599" y="1340927"/>
          <a:ext cx="1489501" cy="1489501"/>
        </a:xfrm>
        <a:prstGeom prst="ellipse">
          <a:avLst/>
        </a:prstGeom>
        <a:solidFill>
          <a:schemeClr val="accent6">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Common Characteristics</a:t>
          </a:r>
        </a:p>
      </dsp:txBody>
      <dsp:txXfrm>
        <a:off x="5623731" y="1559059"/>
        <a:ext cx="1053237" cy="1053237"/>
      </dsp:txXfrm>
    </dsp:sp>
    <dsp:sp modelId="{FBFCF10D-5C40-4A9C-BB93-6AB3526D78BA}">
      <dsp:nvSpPr>
        <dsp:cNvPr id="0" name=""/>
        <dsp:cNvSpPr/>
      </dsp:nvSpPr>
      <dsp:spPr>
        <a:xfrm rot="3240000">
          <a:off x="4654234" y="3451875"/>
          <a:ext cx="447014" cy="31113"/>
        </a:xfrm>
        <a:custGeom>
          <a:avLst/>
          <a:gdLst/>
          <a:ahLst/>
          <a:cxnLst/>
          <a:rect l="0" t="0" r="0" b="0"/>
          <a:pathLst>
            <a:path>
              <a:moveTo>
                <a:pt x="0" y="15556"/>
              </a:moveTo>
              <a:lnTo>
                <a:pt x="447014" y="1555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0" kern="1200">
            <a:effectLst/>
          </a:endParaRPr>
        </a:p>
      </dsp:txBody>
      <dsp:txXfrm>
        <a:off x="4866566" y="3456256"/>
        <a:ext cx="22350" cy="22350"/>
      </dsp:txXfrm>
    </dsp:sp>
    <dsp:sp modelId="{713B59DF-FB42-4F70-ADB1-DAA4F6B9A056}">
      <dsp:nvSpPr>
        <dsp:cNvPr id="0" name=""/>
        <dsp:cNvSpPr/>
      </dsp:nvSpPr>
      <dsp:spPr>
        <a:xfrm>
          <a:off x="4702118" y="3506018"/>
          <a:ext cx="1489501" cy="1489501"/>
        </a:xfrm>
        <a:prstGeom prst="ellipse">
          <a:avLst/>
        </a:prstGeom>
        <a:solidFill>
          <a:schemeClr val="accent1">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Enabling</a:t>
          </a:r>
        </a:p>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Technologies </a:t>
          </a:r>
        </a:p>
      </dsp:txBody>
      <dsp:txXfrm>
        <a:off x="4920250" y="3724150"/>
        <a:ext cx="1053237" cy="1053237"/>
      </dsp:txXfrm>
    </dsp:sp>
    <dsp:sp modelId="{79632D9A-CB10-415F-B904-B86D65A48DE1}">
      <dsp:nvSpPr>
        <dsp:cNvPr id="0" name=""/>
        <dsp:cNvSpPr/>
      </dsp:nvSpPr>
      <dsp:spPr>
        <a:xfrm rot="7560000">
          <a:off x="3515978" y="3451875"/>
          <a:ext cx="447014" cy="31113"/>
        </a:xfrm>
        <a:custGeom>
          <a:avLst/>
          <a:gdLst/>
          <a:ahLst/>
          <a:cxnLst/>
          <a:rect l="0" t="0" r="0" b="0"/>
          <a:pathLst>
            <a:path>
              <a:moveTo>
                <a:pt x="0" y="15556"/>
              </a:moveTo>
              <a:lnTo>
                <a:pt x="447014" y="1555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0" kern="1200">
            <a:effectLst/>
          </a:endParaRPr>
        </a:p>
      </dsp:txBody>
      <dsp:txXfrm rot="10800000">
        <a:off x="3728310" y="3456256"/>
        <a:ext cx="22350" cy="22350"/>
      </dsp:txXfrm>
    </dsp:sp>
    <dsp:sp modelId="{D1F48121-2658-46BC-AB84-BEDE4D27252C}">
      <dsp:nvSpPr>
        <dsp:cNvPr id="0" name=""/>
        <dsp:cNvSpPr/>
      </dsp:nvSpPr>
      <dsp:spPr>
        <a:xfrm>
          <a:off x="2425607" y="3506018"/>
          <a:ext cx="1489501" cy="1489501"/>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Platform</a:t>
          </a:r>
        </a:p>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Stacks</a:t>
          </a:r>
        </a:p>
      </dsp:txBody>
      <dsp:txXfrm>
        <a:off x="2643739" y="3724150"/>
        <a:ext cx="1053237" cy="1053237"/>
      </dsp:txXfrm>
    </dsp:sp>
    <dsp:sp modelId="{5BE2E3B0-AD3C-498E-B0C3-C328CE9340E5}">
      <dsp:nvSpPr>
        <dsp:cNvPr id="0" name=""/>
        <dsp:cNvSpPr/>
      </dsp:nvSpPr>
      <dsp:spPr>
        <a:xfrm rot="11880000">
          <a:off x="3164238" y="2369330"/>
          <a:ext cx="447014" cy="31113"/>
        </a:xfrm>
        <a:custGeom>
          <a:avLst/>
          <a:gdLst/>
          <a:ahLst/>
          <a:cxnLst/>
          <a:rect l="0" t="0" r="0" b="0"/>
          <a:pathLst>
            <a:path>
              <a:moveTo>
                <a:pt x="0" y="15556"/>
              </a:moveTo>
              <a:lnTo>
                <a:pt x="447014" y="1555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0" kern="1200">
            <a:effectLst/>
          </a:endParaRPr>
        </a:p>
      </dsp:txBody>
      <dsp:txXfrm rot="10800000">
        <a:off x="3376570" y="2373711"/>
        <a:ext cx="22350" cy="22350"/>
      </dsp:txXfrm>
    </dsp:sp>
    <dsp:sp modelId="{C3E09D0A-18FF-4E94-8B44-B45F1A861374}">
      <dsp:nvSpPr>
        <dsp:cNvPr id="0" name=""/>
        <dsp:cNvSpPr/>
      </dsp:nvSpPr>
      <dsp:spPr>
        <a:xfrm>
          <a:off x="1722127" y="1340927"/>
          <a:ext cx="1489501" cy="1489501"/>
        </a:xfrm>
        <a:prstGeom prst="ellips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Taxonomy </a:t>
          </a:r>
        </a:p>
        <a:p>
          <a:pPr marL="0" lvl="0" indent="0" algn="ctr" defTabSz="53340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Types</a:t>
          </a:r>
        </a:p>
      </dsp:txBody>
      <dsp:txXfrm>
        <a:off x="1940259" y="1559059"/>
        <a:ext cx="1053237" cy="10532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4FE333-9FCA-4A88-A2BA-D3D7AAF63722}">
      <dsp:nvSpPr>
        <dsp:cNvPr id="0" name=""/>
        <dsp:cNvSpPr/>
      </dsp:nvSpPr>
      <dsp:spPr>
        <a:xfrm>
          <a:off x="-4919424" y="-753830"/>
          <a:ext cx="5858998" cy="5858998"/>
        </a:xfrm>
        <a:prstGeom prst="blockArc">
          <a:avLst>
            <a:gd name="adj1" fmla="val 18900000"/>
            <a:gd name="adj2" fmla="val 2700000"/>
            <a:gd name="adj3" fmla="val 369"/>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BE8D51-4B8B-4748-B527-6B1459153162}">
      <dsp:nvSpPr>
        <dsp:cNvPr id="0" name=""/>
        <dsp:cNvSpPr/>
      </dsp:nvSpPr>
      <dsp:spPr>
        <a:xfrm>
          <a:off x="350606" y="229141"/>
          <a:ext cx="10105268" cy="4581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GB" sz="2400" kern="1200" dirty="0"/>
            <a:t>Welcome and terms of reference</a:t>
          </a:r>
          <a:endParaRPr lang="en-US" sz="2400" kern="1200" dirty="0"/>
        </a:p>
      </dsp:txBody>
      <dsp:txXfrm>
        <a:off x="350606" y="229141"/>
        <a:ext cx="10105268" cy="458108"/>
      </dsp:txXfrm>
    </dsp:sp>
    <dsp:sp modelId="{F07F2526-603C-5541-93A7-F3B141D0F3A7}">
      <dsp:nvSpPr>
        <dsp:cNvPr id="0" name=""/>
        <dsp:cNvSpPr/>
      </dsp:nvSpPr>
      <dsp:spPr>
        <a:xfrm>
          <a:off x="64288" y="171877"/>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1E3F13-189E-274E-84AB-5FB95B2BE346}">
      <dsp:nvSpPr>
        <dsp:cNvPr id="0" name=""/>
        <dsp:cNvSpPr/>
      </dsp:nvSpPr>
      <dsp:spPr>
        <a:xfrm>
          <a:off x="727432" y="916217"/>
          <a:ext cx="9728442" cy="4581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WELCOME TO 2021!</a:t>
          </a:r>
        </a:p>
      </dsp:txBody>
      <dsp:txXfrm>
        <a:off x="727432" y="916217"/>
        <a:ext cx="9728442" cy="458108"/>
      </dsp:txXfrm>
    </dsp:sp>
    <dsp:sp modelId="{FF4DE5AD-1AE0-0C4F-B859-CC3614355F5D}">
      <dsp:nvSpPr>
        <dsp:cNvPr id="0" name=""/>
        <dsp:cNvSpPr/>
      </dsp:nvSpPr>
      <dsp:spPr>
        <a:xfrm>
          <a:off x="441114" y="858954"/>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D2E1A1F-3DB4-B447-8D19-0D9CAA78C952}">
      <dsp:nvSpPr>
        <dsp:cNvPr id="0" name=""/>
        <dsp:cNvSpPr/>
      </dsp:nvSpPr>
      <dsp:spPr>
        <a:xfrm>
          <a:off x="899745" y="1603293"/>
          <a:ext cx="9556129" cy="4581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Standing orders (New Members, Minutes, Liaison Reports)</a:t>
          </a:r>
        </a:p>
      </dsp:txBody>
      <dsp:txXfrm>
        <a:off x="899745" y="1603293"/>
        <a:ext cx="9556129" cy="458108"/>
      </dsp:txXfrm>
    </dsp:sp>
    <dsp:sp modelId="{94150FB3-EA9D-4F9A-91D8-35C3BA0873B4}">
      <dsp:nvSpPr>
        <dsp:cNvPr id="0" name=""/>
        <dsp:cNvSpPr/>
      </dsp:nvSpPr>
      <dsp:spPr>
        <a:xfrm>
          <a:off x="613427" y="1546030"/>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04E993-6451-B14A-9C36-20812BA96324}">
      <dsp:nvSpPr>
        <dsp:cNvPr id="0" name=""/>
        <dsp:cNvSpPr/>
      </dsp:nvSpPr>
      <dsp:spPr>
        <a:xfrm>
          <a:off x="899745" y="2289935"/>
          <a:ext cx="9556129" cy="4581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Dynamic Trustworthiness Cases</a:t>
          </a:r>
        </a:p>
      </dsp:txBody>
      <dsp:txXfrm>
        <a:off x="899745" y="2289935"/>
        <a:ext cx="9556129" cy="458108"/>
      </dsp:txXfrm>
    </dsp:sp>
    <dsp:sp modelId="{3B85C02F-0FFA-5349-8E5F-56D268BA3CB3}">
      <dsp:nvSpPr>
        <dsp:cNvPr id="0" name=""/>
        <dsp:cNvSpPr/>
      </dsp:nvSpPr>
      <dsp:spPr>
        <a:xfrm>
          <a:off x="613427" y="2232671"/>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1433E93-3D9E-A943-9C28-9F15AC37D740}">
      <dsp:nvSpPr>
        <dsp:cNvPr id="0" name=""/>
        <dsp:cNvSpPr/>
      </dsp:nvSpPr>
      <dsp:spPr>
        <a:xfrm>
          <a:off x="727432" y="2977011"/>
          <a:ext cx="9728442" cy="4581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Priorities for this year</a:t>
          </a:r>
        </a:p>
      </dsp:txBody>
      <dsp:txXfrm>
        <a:off x="727432" y="2977011"/>
        <a:ext cx="9728442" cy="458108"/>
      </dsp:txXfrm>
    </dsp:sp>
    <dsp:sp modelId="{273D7758-5E3F-1F47-B305-E11F71F8867D}">
      <dsp:nvSpPr>
        <dsp:cNvPr id="0" name=""/>
        <dsp:cNvSpPr/>
      </dsp:nvSpPr>
      <dsp:spPr>
        <a:xfrm>
          <a:off x="441114" y="2919747"/>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DE5B59-6783-6944-BBEE-EF86AFD66C17}">
      <dsp:nvSpPr>
        <dsp:cNvPr id="0" name=""/>
        <dsp:cNvSpPr/>
      </dsp:nvSpPr>
      <dsp:spPr>
        <a:xfrm>
          <a:off x="350606" y="3664087"/>
          <a:ext cx="10105268" cy="4581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3624"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AOB</a:t>
          </a:r>
        </a:p>
      </dsp:txBody>
      <dsp:txXfrm>
        <a:off x="350606" y="3664087"/>
        <a:ext cx="10105268" cy="458108"/>
      </dsp:txXfrm>
    </dsp:sp>
    <dsp:sp modelId="{92084532-D58E-41A3-BF46-A49D4F637984}">
      <dsp:nvSpPr>
        <dsp:cNvPr id="0" name=""/>
        <dsp:cNvSpPr/>
      </dsp:nvSpPr>
      <dsp:spPr>
        <a:xfrm>
          <a:off x="64288" y="3606824"/>
          <a:ext cx="572636" cy="572636"/>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CE62A8-7E94-49BC-8621-12A0497BD095}" type="datetimeFigureOut">
              <a:rPr lang="en-US" smtClean="0"/>
              <a:t>1/8/2021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713C2D-6DAD-4B2F-8BAD-E2E60092FD75}" type="slidenum">
              <a:rPr lang="en-US" smtClean="0"/>
              <a:t>‹#›</a:t>
            </a:fld>
            <a:endParaRPr lang="en-US"/>
          </a:p>
        </p:txBody>
      </p:sp>
    </p:spTree>
    <p:extLst>
      <p:ext uri="{BB962C8B-B14F-4D97-AF65-F5344CB8AC3E}">
        <p14:creationId xmlns:p14="http://schemas.microsoft.com/office/powerpoint/2010/main" val="14259175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35B27-FC83-4C74-B3EA-562A0BFAF1DA}" type="datetimeFigureOut">
              <a:rPr lang="en-US" smtClean="0"/>
              <a:t>1/8/2021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AEB4F-9A24-4AB5-A444-3ADB622784C7}" type="slidenum">
              <a:rPr lang="en-US" smtClean="0"/>
              <a:t>‹#›</a:t>
            </a:fld>
            <a:endParaRPr lang="en-US"/>
          </a:p>
        </p:txBody>
      </p:sp>
    </p:spTree>
    <p:extLst>
      <p:ext uri="{BB962C8B-B14F-4D97-AF65-F5344CB8AC3E}">
        <p14:creationId xmlns:p14="http://schemas.microsoft.com/office/powerpoint/2010/main" val="27761436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week to 2 weeks for iteration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8AEB4F-9A24-4AB5-A444-3ADB622784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876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AEB4F-9A24-4AB5-A444-3ADB622784C7}" type="slidenum">
              <a:rPr lang="en-US" smtClean="0"/>
              <a:t>8</a:t>
            </a:fld>
            <a:endParaRPr lang="en-US"/>
          </a:p>
        </p:txBody>
      </p:sp>
    </p:spTree>
    <p:extLst>
      <p:ext uri="{BB962C8B-B14F-4D97-AF65-F5344CB8AC3E}">
        <p14:creationId xmlns:p14="http://schemas.microsoft.com/office/powerpoint/2010/main" val="4022191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Dan Isaacs - Digital Twin Consortium (privately):    4:03 PM</a:t>
            </a:r>
          </a:p>
          <a:p>
            <a:r>
              <a:rPr lang="en-GB" dirty="0"/>
              <a:t>HI Dan, any particular objectives you'd like to see today? Or carry on as normal?</a:t>
            </a:r>
          </a:p>
          <a:p>
            <a:r>
              <a:rPr lang="en-GB" dirty="0"/>
              <a:t>from Dan Isaacs - Digital Twin Consortium (privately):    4:06 PM</a:t>
            </a:r>
          </a:p>
          <a:p>
            <a:r>
              <a:rPr lang="en-GB" dirty="0"/>
              <a:t>not at this point other than </a:t>
            </a:r>
            <a:r>
              <a:rPr lang="en-GB" dirty="0" err="1"/>
              <a:t>disuss</a:t>
            </a:r>
            <a:r>
              <a:rPr lang="en-GB" dirty="0"/>
              <a:t> the stack expanded in context of graph/mesh</a:t>
            </a:r>
          </a:p>
          <a:p>
            <a:r>
              <a:rPr lang="en-GB" dirty="0"/>
              <a:t>from Dan Isaacs - Digital Twin Consortium to everyone:    4:24 PM</a:t>
            </a:r>
          </a:p>
          <a:p>
            <a:r>
              <a:rPr lang="en-GB" dirty="0"/>
              <a:t>An API describes all the valid messages that one program can accept. It says nothing about the proper ordering of these messages, or their interaction with other programs.</a:t>
            </a:r>
          </a:p>
          <a:p>
            <a:r>
              <a:rPr lang="en-GB" dirty="0"/>
              <a:t>Protocols sit on top of APIs. A protocol describes the valid sequence of messages that flow between the APIs of multiple parties to accomplish some higher-level task</a:t>
            </a:r>
          </a:p>
          <a:p>
            <a:r>
              <a:rPr lang="en-GB" dirty="0"/>
              <a:t>from Dan Isaacs - Digital Twin Consortium (privately):    4:24 PM</a:t>
            </a:r>
          </a:p>
          <a:p>
            <a:r>
              <a:rPr lang="en-GB" dirty="0"/>
              <a:t>Just put a description from the web on differences</a:t>
            </a:r>
          </a:p>
          <a:p>
            <a:r>
              <a:rPr lang="en-GB" dirty="0"/>
              <a:t>from Dan Isaacs - Digital Twin Consortium (privately):    4:26 PM</a:t>
            </a:r>
          </a:p>
          <a:p>
            <a:r>
              <a:rPr lang="en-GB" dirty="0"/>
              <a:t>so interesting points as </a:t>
            </a:r>
            <a:r>
              <a:rPr lang="en-GB" dirty="0" err="1"/>
              <a:t>i</a:t>
            </a:r>
            <a:r>
              <a:rPr lang="en-GB" dirty="0"/>
              <a:t> can see the opposite being true also</a:t>
            </a:r>
          </a:p>
          <a:p>
            <a:r>
              <a:rPr lang="en-GB" dirty="0"/>
              <a:t>from Sean Olcott to everyone:    4:37 PM</a:t>
            </a:r>
          </a:p>
          <a:p>
            <a:r>
              <a:rPr lang="en-GB" dirty="0"/>
              <a:t>In definition: A representational model is a digital model consisting of persisted information.</a:t>
            </a:r>
          </a:p>
          <a:p>
            <a:r>
              <a:rPr lang="en-GB" dirty="0"/>
              <a:t>A simulation model is an executable digital model (of a process) consisting of reference data and computational algorithms which (when executed or “run”) take representational models as input and produce representational models as output.</a:t>
            </a:r>
          </a:p>
          <a:p>
            <a:endParaRPr lang="en-GB" dirty="0"/>
          </a:p>
          <a:p>
            <a:r>
              <a:rPr lang="en-GB" dirty="0"/>
              <a:t>from Sean Olcott to everyone:    4:38 PM</a:t>
            </a:r>
          </a:p>
          <a:p>
            <a:r>
              <a:rPr lang="en-GB" dirty="0"/>
              <a:t>A representational model is a digital model consisting of persisted information.</a:t>
            </a:r>
          </a:p>
          <a:p>
            <a:r>
              <a:rPr lang="en-GB" dirty="0"/>
              <a:t>A simulation model is an executable digital model (of a process) consisting of reference data and computational algorithms which (when executed or “run”) take representational models as input and produce representational models as output.</a:t>
            </a:r>
          </a:p>
          <a:p>
            <a:endParaRPr lang="en-GB" dirty="0"/>
          </a:p>
          <a:p>
            <a:r>
              <a:rPr lang="en-GB" dirty="0"/>
              <a:t>from Sean Olcott to everyone:    4:54 PM</a:t>
            </a:r>
          </a:p>
          <a:p>
            <a:r>
              <a:rPr lang="en-GB" dirty="0"/>
              <a:t>In current draft of definition: To synchronize (in the context of a digital twin) means to cause the virtual representation to more-closely match the real-world or cause the real-world to more-closely match the virtual representation of a desired state.</a:t>
            </a:r>
          </a:p>
          <a:p>
            <a:r>
              <a:rPr lang="en-GB" dirty="0"/>
              <a:t>Real-to-virtual synchronization is the process of mirroring the real world in the virtual representation.</a:t>
            </a:r>
          </a:p>
          <a:p>
            <a:r>
              <a:rPr lang="en-GB" dirty="0"/>
              <a:t>Virtual-to-real synchronization is a process of mirroring the virtual representation into the real world.</a:t>
            </a:r>
          </a:p>
          <a:p>
            <a:r>
              <a:rPr lang="en-GB" dirty="0"/>
              <a:t>A real-to-virtual synchronization mechanism is a means by which the virtual representation is synchronized with the real-world as a result of observations made of the real-world. </a:t>
            </a:r>
          </a:p>
          <a:p>
            <a:r>
              <a:rPr lang="en-GB" dirty="0"/>
              <a:t>A virtual-to-real synchronization mechanism is a means by which the real world is changed to match an intended state depicted in the virtual representation.</a:t>
            </a:r>
          </a:p>
          <a:p>
            <a:r>
              <a:rPr lang="en-GB" dirty="0"/>
              <a:t>Synchronization frequency is the frequency with which synchronization occurs.</a:t>
            </a:r>
          </a:p>
          <a:p>
            <a:r>
              <a:rPr lang="en-GB" dirty="0"/>
              <a:t>Synchronizing fidelity is a characterization of the degree of detail and accuracy of the digital twin.</a:t>
            </a:r>
          </a:p>
          <a:p>
            <a:r>
              <a:rPr lang="en-GB" dirty="0"/>
              <a:t>from Chafia Aouissi to everyone:    4:54 PM</a:t>
            </a:r>
          </a:p>
          <a:p>
            <a:r>
              <a:rPr lang="en-GB" dirty="0"/>
              <a:t>I've to drop. Thank you everyone. Great discussions.</a:t>
            </a:r>
          </a:p>
        </p:txBody>
      </p:sp>
      <p:sp>
        <p:nvSpPr>
          <p:cNvPr id="4" name="Slide Number Placeholder 3"/>
          <p:cNvSpPr>
            <a:spLocks noGrp="1"/>
          </p:cNvSpPr>
          <p:nvPr>
            <p:ph type="sldNum" sz="quarter" idx="5"/>
          </p:nvPr>
        </p:nvSpPr>
        <p:spPr/>
        <p:txBody>
          <a:bodyPr/>
          <a:lstStyle/>
          <a:p>
            <a:fld id="{518AEB4F-9A24-4AB5-A444-3ADB622784C7}" type="slidenum">
              <a:rPr lang="en-US" smtClean="0"/>
              <a:t>13</a:t>
            </a:fld>
            <a:endParaRPr lang="en-US"/>
          </a:p>
        </p:txBody>
      </p:sp>
    </p:spTree>
    <p:extLst>
      <p:ext uri="{BB962C8B-B14F-4D97-AF65-F5344CB8AC3E}">
        <p14:creationId xmlns:p14="http://schemas.microsoft.com/office/powerpoint/2010/main" val="2571941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GB" b="0" dirty="0"/>
          </a:p>
        </p:txBody>
      </p:sp>
      <p:sp>
        <p:nvSpPr>
          <p:cNvPr id="4" name="Slide Number Placeholder 3"/>
          <p:cNvSpPr>
            <a:spLocks noGrp="1"/>
          </p:cNvSpPr>
          <p:nvPr>
            <p:ph type="sldNum" sz="quarter" idx="5"/>
          </p:nvPr>
        </p:nvSpPr>
        <p:spPr/>
        <p:txBody>
          <a:bodyPr/>
          <a:lstStyle/>
          <a:p>
            <a:fld id="{518AEB4F-9A24-4AB5-A444-3ADB622784C7}" type="slidenum">
              <a:rPr lang="en-US" smtClean="0"/>
              <a:t>14</a:t>
            </a:fld>
            <a:endParaRPr lang="en-US"/>
          </a:p>
        </p:txBody>
      </p:sp>
    </p:spTree>
    <p:extLst>
      <p:ext uri="{BB962C8B-B14F-4D97-AF65-F5344CB8AC3E}">
        <p14:creationId xmlns:p14="http://schemas.microsoft.com/office/powerpoint/2010/main" val="1617809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518AEB4F-9A24-4AB5-A444-3ADB622784C7}" type="slidenum">
              <a:rPr lang="en-US" smtClean="0"/>
              <a:t>15</a:t>
            </a:fld>
            <a:endParaRPr lang="en-US"/>
          </a:p>
        </p:txBody>
      </p:sp>
    </p:spTree>
    <p:extLst>
      <p:ext uri="{BB962C8B-B14F-4D97-AF65-F5344CB8AC3E}">
        <p14:creationId xmlns:p14="http://schemas.microsoft.com/office/powerpoint/2010/main" val="717943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8AEB4F-9A24-4AB5-A444-3ADB622784C7}" type="slidenum">
              <a:rPr lang="en-US" smtClean="0"/>
              <a:t>16</a:t>
            </a:fld>
            <a:endParaRPr lang="en-US"/>
          </a:p>
        </p:txBody>
      </p:sp>
    </p:spTree>
    <p:extLst>
      <p:ext uri="{BB962C8B-B14F-4D97-AF65-F5344CB8AC3E}">
        <p14:creationId xmlns:p14="http://schemas.microsoft.com/office/powerpoint/2010/main" val="2540141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dirty="0">
                <a:highlight>
                  <a:srgbClr val="FFFF00"/>
                </a:highlight>
              </a:rPr>
              <a:t>Note: I’ve not included the concept of “assurance” as it should be encapsulated by the other 5</a:t>
            </a:r>
            <a:endParaRPr lang="en-GB" b="0" dirty="0"/>
          </a:p>
        </p:txBody>
      </p:sp>
      <p:sp>
        <p:nvSpPr>
          <p:cNvPr id="4" name="Slide Number Placeholder 3"/>
          <p:cNvSpPr>
            <a:spLocks noGrp="1"/>
          </p:cNvSpPr>
          <p:nvPr>
            <p:ph type="sldNum" sz="quarter" idx="5"/>
          </p:nvPr>
        </p:nvSpPr>
        <p:spPr/>
        <p:txBody>
          <a:bodyPr/>
          <a:lstStyle/>
          <a:p>
            <a:fld id="{518AEB4F-9A24-4AB5-A444-3ADB622784C7}" type="slidenum">
              <a:rPr lang="en-US" smtClean="0"/>
              <a:t>17</a:t>
            </a:fld>
            <a:endParaRPr lang="en-US"/>
          </a:p>
        </p:txBody>
      </p:sp>
    </p:spTree>
    <p:extLst>
      <p:ext uri="{BB962C8B-B14F-4D97-AF65-F5344CB8AC3E}">
        <p14:creationId xmlns:p14="http://schemas.microsoft.com/office/powerpoint/2010/main" val="1433360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AEB4F-9A24-4AB5-A444-3ADB622784C7}" type="slidenum">
              <a:rPr lang="en-US" smtClean="0"/>
              <a:t>26</a:t>
            </a:fld>
            <a:endParaRPr lang="en-US"/>
          </a:p>
        </p:txBody>
      </p:sp>
    </p:spTree>
    <p:extLst>
      <p:ext uri="{BB962C8B-B14F-4D97-AF65-F5344CB8AC3E}">
        <p14:creationId xmlns:p14="http://schemas.microsoft.com/office/powerpoint/2010/main" val="13477474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34EA2"/>
        </a:solidFill>
        <a:effectLst/>
      </p:bgPr>
    </p:bg>
    <p:spTree>
      <p:nvGrpSpPr>
        <p:cNvPr id="1" name=""/>
        <p:cNvGrpSpPr/>
        <p:nvPr/>
      </p:nvGrpSpPr>
      <p:grpSpPr>
        <a:xfrm>
          <a:off x="0" y="0"/>
          <a:ext cx="0" cy="0"/>
          <a:chOff x="0" y="0"/>
          <a:chExt cx="0" cy="0"/>
        </a:xfrm>
      </p:grpSpPr>
      <p:sp>
        <p:nvSpPr>
          <p:cNvPr id="20" name="Oval 19"/>
          <p:cNvSpPr/>
          <p:nvPr/>
        </p:nvSpPr>
        <p:spPr>
          <a:xfrm>
            <a:off x="838200" y="869568"/>
            <a:ext cx="798369" cy="798369"/>
          </a:xfrm>
          <a:prstGeom prst="ellipse">
            <a:avLst/>
          </a:prstGeom>
          <a:solidFill>
            <a:srgbClr val="00C45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Oval 20"/>
          <p:cNvSpPr/>
          <p:nvPr/>
        </p:nvSpPr>
        <p:spPr>
          <a:xfrm>
            <a:off x="509784" y="3296098"/>
            <a:ext cx="453127" cy="453127"/>
          </a:xfrm>
          <a:prstGeom prst="ellipse">
            <a:avLst/>
          </a:prstGeom>
          <a:solidFill>
            <a:schemeClr val="accent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48006" y="1409612"/>
            <a:ext cx="2151485" cy="2151485"/>
          </a:xfrm>
          <a:prstGeom prst="ellipse">
            <a:avLst/>
          </a:prstGeom>
          <a:solidFill>
            <a:schemeClr val="bg2">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10007316" y="3075143"/>
            <a:ext cx="927969" cy="927969"/>
          </a:xfrm>
          <a:prstGeom prst="ellipse">
            <a:avLst/>
          </a:prstGeom>
          <a:solidFill>
            <a:schemeClr val="accent2">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Freeform 14"/>
          <p:cNvSpPr/>
          <p:nvPr userDrawn="1"/>
        </p:nvSpPr>
        <p:spPr>
          <a:xfrm flipH="1">
            <a:off x="10007316" y="2790662"/>
            <a:ext cx="2186006" cy="3789321"/>
          </a:xfrm>
          <a:custGeom>
            <a:avLst/>
            <a:gdLst>
              <a:gd name="connsiteX0" fmla="*/ 372517 w 2795044"/>
              <a:gd name="connsiteY0" fmla="*/ 0 h 4845054"/>
              <a:gd name="connsiteX1" fmla="*/ 2795044 w 2795044"/>
              <a:gd name="connsiteY1" fmla="*/ 2422527 h 4845054"/>
              <a:gd name="connsiteX2" fmla="*/ 372517 w 2795044"/>
              <a:gd name="connsiteY2" fmla="*/ 4845054 h 4845054"/>
              <a:gd name="connsiteX3" fmla="*/ 124828 w 2795044"/>
              <a:gd name="connsiteY3" fmla="*/ 4832547 h 4845054"/>
              <a:gd name="connsiteX4" fmla="*/ 0 w 2795044"/>
              <a:gd name="connsiteY4" fmla="*/ 4813496 h 4845054"/>
              <a:gd name="connsiteX5" fmla="*/ 0 w 2795044"/>
              <a:gd name="connsiteY5" fmla="*/ 31558 h 4845054"/>
              <a:gd name="connsiteX6" fmla="*/ 124828 w 2795044"/>
              <a:gd name="connsiteY6" fmla="*/ 12507 h 4845054"/>
              <a:gd name="connsiteX7" fmla="*/ 372517 w 2795044"/>
              <a:gd name="connsiteY7" fmla="*/ 0 h 4845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95044" h="4845054">
                <a:moveTo>
                  <a:pt x="372517" y="0"/>
                </a:moveTo>
                <a:cubicBezTo>
                  <a:pt x="1710442" y="0"/>
                  <a:pt x="2795044" y="1084602"/>
                  <a:pt x="2795044" y="2422527"/>
                </a:cubicBezTo>
                <a:cubicBezTo>
                  <a:pt x="2795044" y="3760452"/>
                  <a:pt x="1710442" y="4845054"/>
                  <a:pt x="372517" y="4845054"/>
                </a:cubicBezTo>
                <a:cubicBezTo>
                  <a:pt x="288897" y="4845054"/>
                  <a:pt x="206266" y="4840818"/>
                  <a:pt x="124828" y="4832547"/>
                </a:cubicBezTo>
                <a:lnTo>
                  <a:pt x="0" y="4813496"/>
                </a:lnTo>
                <a:lnTo>
                  <a:pt x="0" y="31558"/>
                </a:lnTo>
                <a:lnTo>
                  <a:pt x="124828" y="12507"/>
                </a:lnTo>
                <a:cubicBezTo>
                  <a:pt x="206266" y="4237"/>
                  <a:pt x="288897" y="0"/>
                  <a:pt x="372517" y="0"/>
                </a:cubicBezTo>
                <a:close/>
              </a:path>
            </a:pathLst>
          </a:custGeom>
          <a:solidFill>
            <a:srgbClr val="326FB4">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userDrawn="1"/>
        </p:nvSpPr>
        <p:spPr>
          <a:xfrm>
            <a:off x="10955042" y="5680502"/>
            <a:ext cx="611654" cy="611654"/>
          </a:xfrm>
          <a:prstGeom prst="ellipse">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a:off x="9618604" y="4844787"/>
            <a:ext cx="1735196" cy="1735196"/>
          </a:xfrm>
          <a:prstGeom prst="ellipse">
            <a:avLst/>
          </a:prstGeom>
          <a:solidFill>
            <a:schemeClr val="bg1">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9078FF-B56D-488A-B93D-8C50531D031C}"/>
              </a:ext>
            </a:extLst>
          </p:cNvPr>
          <p:cNvSpPr>
            <a:spLocks noGrp="1"/>
          </p:cNvSpPr>
          <p:nvPr userDrawn="1">
            <p:ph type="ctrTitle"/>
          </p:nvPr>
        </p:nvSpPr>
        <p:spPr>
          <a:xfrm>
            <a:off x="1426886" y="2953883"/>
            <a:ext cx="9144000" cy="1303596"/>
          </a:xfrm>
        </p:spPr>
        <p:txBody>
          <a:bodyPr anchor="ctr"/>
          <a:lstStyle>
            <a:lvl1pPr algn="ctr">
              <a:defRPr sz="6000" b="1">
                <a:solidFill>
                  <a:schemeClr val="accent4"/>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CBF1E494-4736-4125-A498-B42E1E98C495}"/>
              </a:ext>
            </a:extLst>
          </p:cNvPr>
          <p:cNvSpPr>
            <a:spLocks noGrp="1"/>
          </p:cNvSpPr>
          <p:nvPr userDrawn="1">
            <p:ph type="subTitle" idx="1"/>
          </p:nvPr>
        </p:nvSpPr>
        <p:spPr>
          <a:xfrm>
            <a:off x="1524000" y="5057750"/>
            <a:ext cx="9144000" cy="456778"/>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2800" y="655207"/>
            <a:ext cx="5486400" cy="1674951"/>
          </a:xfrm>
          <a:prstGeom prst="rect">
            <a:avLst/>
          </a:prstGeom>
        </p:spPr>
      </p:pic>
      <p:sp>
        <p:nvSpPr>
          <p:cNvPr id="19" name="Oval 18"/>
          <p:cNvSpPr/>
          <p:nvPr/>
        </p:nvSpPr>
        <p:spPr>
          <a:xfrm>
            <a:off x="1256256" y="1086534"/>
            <a:ext cx="1186508" cy="1186508"/>
          </a:xfrm>
          <a:prstGeom prst="ellipse">
            <a:avLst/>
          </a:prstGeom>
          <a:solidFill>
            <a:schemeClr val="accent1">
              <a:lumMod val="40000"/>
              <a:lumOff val="60000"/>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176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61AD11D-63D7-4763-A80B-DDB59C13DEA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3" name="Content Placeholder 2">
            <a:extLst>
              <a:ext uri="{FF2B5EF4-FFF2-40B4-BE49-F238E27FC236}">
                <a16:creationId xmlns:a16="http://schemas.microsoft.com/office/drawing/2014/main" id="{05627BE2-6929-463D-9A0E-27E9460EA21E}"/>
              </a:ext>
            </a:extLst>
          </p:cNvPr>
          <p:cNvSpPr>
            <a:spLocks noGrp="1"/>
          </p:cNvSpPr>
          <p:nvPr userDrawn="1">
            <p:ph idx="1"/>
          </p:nvPr>
        </p:nvSpPr>
        <p:spPr/>
        <p:txBody>
          <a:bodyPr/>
          <a:lstStyle>
            <a:lvl1pPr>
              <a:buClr>
                <a:srgbClr val="F7941D"/>
              </a:buClr>
              <a:buSzPct val="100000"/>
              <a:defRPr/>
            </a:lvl1pPr>
            <a:lvl2pPr>
              <a:buClr>
                <a:schemeClr val="tx2"/>
              </a:buClr>
              <a:defRPr>
                <a:solidFill>
                  <a:schemeClr val="tx1"/>
                </a:solidFill>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Date Placeholder 35"/>
          <p:cNvSpPr>
            <a:spLocks noGrp="1"/>
          </p:cNvSpPr>
          <p:nvPr userDrawn="1">
            <p:ph type="dt" sz="half" idx="14"/>
          </p:nvPr>
        </p:nvSpPr>
        <p:spPr/>
        <p:txBody>
          <a:bodyPr/>
          <a:lstStyle/>
          <a:p>
            <a:fld id="{E86231B4-8799-4095-A9F6-88F13DCCFFE2}" type="datetime1">
              <a:rPr lang="en-US" smtClean="0"/>
              <a:t>1/8/2021</a:t>
            </a:fld>
            <a:endParaRPr lang="en-US"/>
          </a:p>
        </p:txBody>
      </p:sp>
      <p:sp>
        <p:nvSpPr>
          <p:cNvPr id="37" name="Footer Placeholder 36"/>
          <p:cNvSpPr>
            <a:spLocks noGrp="1"/>
          </p:cNvSpPr>
          <p:nvPr userDrawn="1">
            <p:ph type="ftr" sz="quarter" idx="15"/>
          </p:nvPr>
        </p:nvSpPr>
        <p:spPr/>
        <p:txBody>
          <a:bodyPr/>
          <a:lstStyle/>
          <a:p>
            <a:endParaRPr lang="en-US"/>
          </a:p>
        </p:txBody>
      </p:sp>
      <p:sp>
        <p:nvSpPr>
          <p:cNvPr id="38" name="Slide Number Placeholder 37"/>
          <p:cNvSpPr>
            <a:spLocks noGrp="1"/>
          </p:cNvSpPr>
          <p:nvPr userDrawn="1">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3" name="Rectangle 22">
            <a:extLst>
              <a:ext uri="{FF2B5EF4-FFF2-40B4-BE49-F238E27FC236}">
                <a16:creationId xmlns:a16="http://schemas.microsoft.com/office/drawing/2014/main" id="{09E65EE2-5635-4C5D-8131-361B9802D922}"/>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C66519-DD0B-4374-8217-6D6F8CC25061}"/>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cxnSp>
        <p:nvCxnSpPr>
          <p:cNvPr id="39" name="Straight Connector 38">
            <a:extLst>
              <a:ext uri="{FF2B5EF4-FFF2-40B4-BE49-F238E27FC236}">
                <a16:creationId xmlns:a16="http://schemas.microsoft.com/office/drawing/2014/main" id="{E3262A37-01F5-45C4-82F5-49C70BA04B38}"/>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3905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61AD11D-63D7-4763-A80B-DDB59C13DEA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36" name="Date Placeholder 35"/>
          <p:cNvSpPr>
            <a:spLocks noGrp="1"/>
          </p:cNvSpPr>
          <p:nvPr userDrawn="1">
            <p:ph type="dt" sz="half" idx="14"/>
          </p:nvPr>
        </p:nvSpPr>
        <p:spPr/>
        <p:txBody>
          <a:bodyPr/>
          <a:lstStyle/>
          <a:p>
            <a:fld id="{6BF04978-D66A-441D-AAA4-8DA7AE7C797C}" type="datetime1">
              <a:rPr lang="en-US" smtClean="0"/>
              <a:t>1/8/2021</a:t>
            </a:fld>
            <a:endParaRPr lang="en-US"/>
          </a:p>
        </p:txBody>
      </p:sp>
      <p:sp>
        <p:nvSpPr>
          <p:cNvPr id="37" name="Footer Placeholder 36"/>
          <p:cNvSpPr>
            <a:spLocks noGrp="1"/>
          </p:cNvSpPr>
          <p:nvPr userDrawn="1">
            <p:ph type="ftr" sz="quarter" idx="15"/>
          </p:nvPr>
        </p:nvSpPr>
        <p:spPr/>
        <p:txBody>
          <a:bodyPr/>
          <a:lstStyle/>
          <a:p>
            <a:endParaRPr lang="en-US"/>
          </a:p>
        </p:txBody>
      </p:sp>
      <p:sp>
        <p:nvSpPr>
          <p:cNvPr id="38" name="Slide Number Placeholder 37"/>
          <p:cNvSpPr>
            <a:spLocks noGrp="1"/>
          </p:cNvSpPr>
          <p:nvPr userDrawn="1">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3" name="Rectangle 22">
            <a:extLst>
              <a:ext uri="{FF2B5EF4-FFF2-40B4-BE49-F238E27FC236}">
                <a16:creationId xmlns:a16="http://schemas.microsoft.com/office/drawing/2014/main" id="{09E65EE2-5635-4C5D-8131-361B9802D922}"/>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C66519-DD0B-4374-8217-6D6F8CC25061}"/>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cxnSp>
        <p:nvCxnSpPr>
          <p:cNvPr id="39" name="Straight Connector 38">
            <a:extLst>
              <a:ext uri="{FF2B5EF4-FFF2-40B4-BE49-F238E27FC236}">
                <a16:creationId xmlns:a16="http://schemas.microsoft.com/office/drawing/2014/main" id="{E3262A37-01F5-45C4-82F5-49C70BA04B38}"/>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04E22E8B-D220-416C-95A4-73AFE090E045}"/>
              </a:ext>
            </a:extLst>
          </p:cNvPr>
          <p:cNvSpPr>
            <a:spLocks noGrp="1"/>
          </p:cNvSpPr>
          <p:nvPr>
            <p:ph sz="half" idx="1"/>
          </p:nvPr>
        </p:nvSpPr>
        <p:spPr>
          <a:xfrm>
            <a:off x="838200" y="1825625"/>
            <a:ext cx="5181600" cy="4351338"/>
          </a:xfrm>
        </p:spPr>
        <p:txBody>
          <a:bodyPr/>
          <a:lstStyle>
            <a:lvl1pPr>
              <a:buClr>
                <a:schemeClr val="accent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C57709D6-DEC3-41F8-8E5B-526AAA18C7B4}"/>
              </a:ext>
            </a:extLst>
          </p:cNvPr>
          <p:cNvSpPr>
            <a:spLocks noGrp="1"/>
          </p:cNvSpPr>
          <p:nvPr>
            <p:ph sz="half" idx="2"/>
          </p:nvPr>
        </p:nvSpPr>
        <p:spPr>
          <a:xfrm>
            <a:off x="6172200" y="1825625"/>
            <a:ext cx="5181600" cy="4351338"/>
          </a:xfrm>
        </p:spPr>
        <p:txBody>
          <a:bodyPr/>
          <a:lstStyle>
            <a:lvl1pPr>
              <a:buClr>
                <a:schemeClr val="accent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91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1">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02A70AB-C5E0-4182-A412-7EBB0125DC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5" name="Date Placeholder 35">
            <a:extLst>
              <a:ext uri="{FF2B5EF4-FFF2-40B4-BE49-F238E27FC236}">
                <a16:creationId xmlns:a16="http://schemas.microsoft.com/office/drawing/2014/main" id="{B1F121D8-051A-4F4C-8623-98F1260A1CBD}"/>
              </a:ext>
            </a:extLst>
          </p:cNvPr>
          <p:cNvSpPr>
            <a:spLocks noGrp="1"/>
          </p:cNvSpPr>
          <p:nvPr>
            <p:ph type="dt" sz="half" idx="14"/>
          </p:nvPr>
        </p:nvSpPr>
        <p:spPr>
          <a:xfrm>
            <a:off x="838200" y="6356350"/>
            <a:ext cx="2743200" cy="365125"/>
          </a:xfrm>
        </p:spPr>
        <p:txBody>
          <a:bodyPr/>
          <a:lstStyle/>
          <a:p>
            <a:fld id="{A44A6C12-8802-481D-B329-FC58F760DE11}" type="datetime1">
              <a:rPr lang="en-US" smtClean="0"/>
              <a:t>1/8/2021</a:t>
            </a:fld>
            <a:endParaRPr lang="en-US"/>
          </a:p>
        </p:txBody>
      </p:sp>
      <p:sp>
        <p:nvSpPr>
          <p:cNvPr id="26" name="Footer Placeholder 36">
            <a:extLst>
              <a:ext uri="{FF2B5EF4-FFF2-40B4-BE49-F238E27FC236}">
                <a16:creationId xmlns:a16="http://schemas.microsoft.com/office/drawing/2014/main" id="{1186F3A4-02DF-438F-A96D-5A616B66F437}"/>
              </a:ext>
            </a:extLst>
          </p:cNvPr>
          <p:cNvSpPr>
            <a:spLocks noGrp="1"/>
          </p:cNvSpPr>
          <p:nvPr>
            <p:ph type="ftr" sz="quarter" idx="15"/>
          </p:nvPr>
        </p:nvSpPr>
        <p:spPr>
          <a:xfrm>
            <a:off x="4038600" y="6356350"/>
            <a:ext cx="4114800" cy="365125"/>
          </a:xfrm>
        </p:spPr>
        <p:txBody>
          <a:bodyPr/>
          <a:lstStyle/>
          <a:p>
            <a:endParaRPr lang="en-US"/>
          </a:p>
        </p:txBody>
      </p:sp>
      <p:sp>
        <p:nvSpPr>
          <p:cNvPr id="27" name="Slide Number Placeholder 37">
            <a:extLst>
              <a:ext uri="{FF2B5EF4-FFF2-40B4-BE49-F238E27FC236}">
                <a16:creationId xmlns:a16="http://schemas.microsoft.com/office/drawing/2014/main" id="{26D0D916-9988-4506-B1D2-26E3A5CCB704}"/>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8" name="Rectangle 27">
            <a:extLst>
              <a:ext uri="{FF2B5EF4-FFF2-40B4-BE49-F238E27FC236}">
                <a16:creationId xmlns:a16="http://schemas.microsoft.com/office/drawing/2014/main" id="{6646629B-6672-4286-BBEA-840A6FEB26A3}"/>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74B3FB89-5D9E-417F-A1E7-0A30E7CE1CD1}"/>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6B16A2E2-2E87-4BDD-9654-AFD356C4C63D}"/>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2808277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Break">
    <p:bg>
      <p:bgPr>
        <a:solidFill>
          <a:srgbClr val="034EA2"/>
        </a:solidFill>
        <a:effectLst/>
      </p:bgPr>
    </p:bg>
    <p:spTree>
      <p:nvGrpSpPr>
        <p:cNvPr id="1" name=""/>
        <p:cNvGrpSpPr/>
        <p:nvPr/>
      </p:nvGrpSpPr>
      <p:grpSpPr>
        <a:xfrm>
          <a:off x="0" y="0"/>
          <a:ext cx="0" cy="0"/>
          <a:chOff x="0" y="0"/>
          <a:chExt cx="0" cy="0"/>
        </a:xfrm>
      </p:grpSpPr>
      <p:grpSp>
        <p:nvGrpSpPr>
          <p:cNvPr id="11" name="Group 10"/>
          <p:cNvGrpSpPr/>
          <p:nvPr userDrawn="1"/>
        </p:nvGrpSpPr>
        <p:grpSpPr>
          <a:xfrm>
            <a:off x="295743" y="278648"/>
            <a:ext cx="1058839" cy="1469212"/>
            <a:chOff x="295743" y="278648"/>
            <a:chExt cx="1058839" cy="1469212"/>
          </a:xfrm>
        </p:grpSpPr>
        <p:sp>
          <p:nvSpPr>
            <p:cNvPr id="5" name="Oval 4"/>
            <p:cNvSpPr/>
            <p:nvPr userDrawn="1"/>
          </p:nvSpPr>
          <p:spPr>
            <a:xfrm rot="21430362">
              <a:off x="295743" y="1385061"/>
              <a:ext cx="362799" cy="362799"/>
            </a:xfrm>
            <a:prstGeom prst="ellipse">
              <a:avLst/>
            </a:prstGeom>
            <a:solidFill>
              <a:srgbClr val="F896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userDrawn="1"/>
          </p:nvSpPr>
          <p:spPr>
            <a:xfrm rot="21030870">
              <a:off x="446702" y="1120454"/>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userDrawn="1"/>
          </p:nvSpPr>
          <p:spPr>
            <a:xfrm rot="21030870">
              <a:off x="554603" y="861630"/>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userDrawn="1"/>
          </p:nvSpPr>
          <p:spPr>
            <a:xfrm rot="21030870">
              <a:off x="723951" y="613612"/>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rot="21030870">
              <a:off x="939994" y="415759"/>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userDrawn="1"/>
          </p:nvSpPr>
          <p:spPr>
            <a:xfrm rot="21030870">
              <a:off x="1216373" y="278648"/>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userDrawn="1"/>
        </p:nvGrpSpPr>
        <p:grpSpPr>
          <a:xfrm rot="10800000">
            <a:off x="10752161" y="5069700"/>
            <a:ext cx="1058839" cy="1469212"/>
            <a:chOff x="295743" y="278648"/>
            <a:chExt cx="1058839" cy="1469212"/>
          </a:xfrm>
        </p:grpSpPr>
        <p:sp>
          <p:nvSpPr>
            <p:cNvPr id="13" name="Oval 12"/>
            <p:cNvSpPr/>
            <p:nvPr userDrawn="1"/>
          </p:nvSpPr>
          <p:spPr>
            <a:xfrm rot="21430362">
              <a:off x="295743" y="1385061"/>
              <a:ext cx="362799" cy="362799"/>
            </a:xfrm>
            <a:prstGeom prst="ellipse">
              <a:avLst/>
            </a:prstGeom>
            <a:solidFill>
              <a:srgbClr val="F896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rot="21030870">
              <a:off x="446702" y="1120454"/>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rot="21030870">
              <a:off x="554603" y="861630"/>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userDrawn="1"/>
          </p:nvSpPr>
          <p:spPr>
            <a:xfrm rot="21030870">
              <a:off x="723951" y="613612"/>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rot="21030870">
              <a:off x="939994" y="415759"/>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userDrawn="1"/>
          </p:nvSpPr>
          <p:spPr>
            <a:xfrm rot="21030870">
              <a:off x="1216373" y="278648"/>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22">
            <a:extLst>
              <a:ext uri="{FF2B5EF4-FFF2-40B4-BE49-F238E27FC236}">
                <a16:creationId xmlns:a16="http://schemas.microsoft.com/office/drawing/2014/main" id="{69618F3F-2ABF-4459-9284-29700F025895}"/>
              </a:ext>
            </a:extLst>
          </p:cNvPr>
          <p:cNvSpPr>
            <a:spLocks noGrp="1"/>
          </p:cNvSpPr>
          <p:nvPr>
            <p:ph type="title" hasCustomPrompt="1"/>
          </p:nvPr>
        </p:nvSpPr>
        <p:spPr>
          <a:xfrm>
            <a:off x="838200" y="2766219"/>
            <a:ext cx="10515600" cy="1325563"/>
          </a:xfrm>
        </p:spPr>
        <p:txBody>
          <a:bodyPr>
            <a:normAutofit/>
          </a:bodyPr>
          <a:lstStyle>
            <a:lvl1pPr algn="ctr">
              <a:defRPr sz="5400">
                <a:solidFill>
                  <a:schemeClr val="bg1"/>
                </a:solidFill>
                <a:latin typeface="+mn-lt"/>
              </a:defRPr>
            </a:lvl1pPr>
          </a:lstStyle>
          <a:p>
            <a:r>
              <a:rPr lang="en-US"/>
              <a:t>Section break</a:t>
            </a:r>
          </a:p>
        </p:txBody>
      </p:sp>
    </p:spTree>
    <p:extLst>
      <p:ext uri="{BB962C8B-B14F-4D97-AF65-F5344CB8AC3E}">
        <p14:creationId xmlns:p14="http://schemas.microsoft.com/office/powerpoint/2010/main" val="2739154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_withPageNumber">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02A70AB-C5E0-4182-A412-7EBB0125DC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5" name="Date Placeholder 35">
            <a:extLst>
              <a:ext uri="{FF2B5EF4-FFF2-40B4-BE49-F238E27FC236}">
                <a16:creationId xmlns:a16="http://schemas.microsoft.com/office/drawing/2014/main" id="{B1F121D8-051A-4F4C-8623-98F1260A1CBD}"/>
              </a:ext>
            </a:extLst>
          </p:cNvPr>
          <p:cNvSpPr>
            <a:spLocks noGrp="1"/>
          </p:cNvSpPr>
          <p:nvPr>
            <p:ph type="dt" sz="half" idx="14"/>
          </p:nvPr>
        </p:nvSpPr>
        <p:spPr>
          <a:xfrm>
            <a:off x="838200" y="6356350"/>
            <a:ext cx="2743200" cy="365125"/>
          </a:xfrm>
        </p:spPr>
        <p:txBody>
          <a:bodyPr/>
          <a:lstStyle/>
          <a:p>
            <a:fld id="{9E9D4424-898E-4C95-B84F-5235E02059BA}" type="datetime1">
              <a:rPr lang="en-US" smtClean="0"/>
              <a:t>1/8/2021</a:t>
            </a:fld>
            <a:endParaRPr lang="en-US"/>
          </a:p>
        </p:txBody>
      </p:sp>
      <p:sp>
        <p:nvSpPr>
          <p:cNvPr id="26" name="Footer Placeholder 36">
            <a:extLst>
              <a:ext uri="{FF2B5EF4-FFF2-40B4-BE49-F238E27FC236}">
                <a16:creationId xmlns:a16="http://schemas.microsoft.com/office/drawing/2014/main" id="{1186F3A4-02DF-438F-A96D-5A616B66F437}"/>
              </a:ext>
            </a:extLst>
          </p:cNvPr>
          <p:cNvSpPr>
            <a:spLocks noGrp="1"/>
          </p:cNvSpPr>
          <p:nvPr>
            <p:ph type="ftr" sz="quarter" idx="15"/>
          </p:nvPr>
        </p:nvSpPr>
        <p:spPr>
          <a:xfrm>
            <a:off x="4038600" y="6356350"/>
            <a:ext cx="4114800" cy="365125"/>
          </a:xfrm>
        </p:spPr>
        <p:txBody>
          <a:bodyPr/>
          <a:lstStyle/>
          <a:p>
            <a:endParaRPr lang="en-US"/>
          </a:p>
        </p:txBody>
      </p:sp>
      <p:sp>
        <p:nvSpPr>
          <p:cNvPr id="27" name="Slide Number Placeholder 37">
            <a:extLst>
              <a:ext uri="{FF2B5EF4-FFF2-40B4-BE49-F238E27FC236}">
                <a16:creationId xmlns:a16="http://schemas.microsoft.com/office/drawing/2014/main" id="{26D0D916-9988-4506-B1D2-26E3A5CCB704}"/>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Tree>
    <p:extLst>
      <p:ext uri="{BB962C8B-B14F-4D97-AF65-F5344CB8AC3E}">
        <p14:creationId xmlns:p14="http://schemas.microsoft.com/office/powerpoint/2010/main" val="1331043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5777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Blu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9591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Blue_withPageNumber">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ED7FD18C-E25E-43A2-9CAD-6DEC223C29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3" name="Slide Number Placeholder 37">
            <a:extLst>
              <a:ext uri="{FF2B5EF4-FFF2-40B4-BE49-F238E27FC236}">
                <a16:creationId xmlns:a16="http://schemas.microsoft.com/office/drawing/2014/main" id="{1E9C6EF1-F1DE-473D-AC0B-94E59E3AE521}"/>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5" name="Date Placeholder 35">
            <a:extLst>
              <a:ext uri="{FF2B5EF4-FFF2-40B4-BE49-F238E27FC236}">
                <a16:creationId xmlns:a16="http://schemas.microsoft.com/office/drawing/2014/main" id="{2CA6F28B-C080-48F0-8D75-94208B11E046}"/>
              </a:ext>
            </a:extLst>
          </p:cNvPr>
          <p:cNvSpPr>
            <a:spLocks noGrp="1"/>
          </p:cNvSpPr>
          <p:nvPr>
            <p:ph type="dt" sz="half" idx="14"/>
          </p:nvPr>
        </p:nvSpPr>
        <p:spPr>
          <a:xfrm>
            <a:off x="838200" y="6356350"/>
            <a:ext cx="2743200" cy="365125"/>
          </a:xfrm>
        </p:spPr>
        <p:txBody>
          <a:bodyPr/>
          <a:lstStyle/>
          <a:p>
            <a:fld id="{331BDA9A-DF2E-49C1-95A2-4F5F4AA1116C}" type="datetime1">
              <a:rPr lang="en-US" smtClean="0"/>
              <a:t>1/8/2021</a:t>
            </a:fld>
            <a:endParaRPr lang="en-US"/>
          </a:p>
        </p:txBody>
      </p:sp>
      <p:sp>
        <p:nvSpPr>
          <p:cNvPr id="6" name="Footer Placeholder 36">
            <a:extLst>
              <a:ext uri="{FF2B5EF4-FFF2-40B4-BE49-F238E27FC236}">
                <a16:creationId xmlns:a16="http://schemas.microsoft.com/office/drawing/2014/main" id="{69397C78-A924-4CC3-B931-B736F5C071F4}"/>
              </a:ext>
            </a:extLst>
          </p:cNvPr>
          <p:cNvSpPr>
            <a:spLocks noGrp="1"/>
          </p:cNvSpPr>
          <p:nvPr>
            <p:ph type="ftr" sz="quarter" idx="15"/>
          </p:nvPr>
        </p:nvSpPr>
        <p:spPr>
          <a:xfrm>
            <a:off x="4038600" y="6356350"/>
            <a:ext cx="4114800" cy="365125"/>
          </a:xfrm>
        </p:spPr>
        <p:txBody>
          <a:bodyPr/>
          <a:lstStyle/>
          <a:p>
            <a:endParaRPr lang="en-US"/>
          </a:p>
        </p:txBody>
      </p:sp>
    </p:spTree>
    <p:extLst>
      <p:ext uri="{BB962C8B-B14F-4D97-AF65-F5344CB8AC3E}">
        <p14:creationId xmlns:p14="http://schemas.microsoft.com/office/powerpoint/2010/main" val="159167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34EA2"/>
        </a:solidFill>
        <a:effectLst/>
      </p:bgPr>
    </p:bg>
    <p:spTree>
      <p:nvGrpSpPr>
        <p:cNvPr id="1" name=""/>
        <p:cNvGrpSpPr/>
        <p:nvPr/>
      </p:nvGrpSpPr>
      <p:grpSpPr>
        <a:xfrm>
          <a:off x="0" y="0"/>
          <a:ext cx="0" cy="0"/>
          <a:chOff x="0" y="0"/>
          <a:chExt cx="0" cy="0"/>
        </a:xfrm>
      </p:grpSpPr>
      <p:sp>
        <p:nvSpPr>
          <p:cNvPr id="20" name="Oval 19"/>
          <p:cNvSpPr/>
          <p:nvPr/>
        </p:nvSpPr>
        <p:spPr>
          <a:xfrm>
            <a:off x="838200" y="869568"/>
            <a:ext cx="798369" cy="798369"/>
          </a:xfrm>
          <a:prstGeom prst="ellipse">
            <a:avLst/>
          </a:prstGeom>
          <a:solidFill>
            <a:srgbClr val="00C459">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Oval 20"/>
          <p:cNvSpPr/>
          <p:nvPr/>
        </p:nvSpPr>
        <p:spPr>
          <a:xfrm>
            <a:off x="509784" y="3296098"/>
            <a:ext cx="453127" cy="453127"/>
          </a:xfrm>
          <a:prstGeom prst="ellipse">
            <a:avLst/>
          </a:prstGeom>
          <a:solidFill>
            <a:schemeClr val="accent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148006" y="1409612"/>
            <a:ext cx="2151485" cy="2151485"/>
          </a:xfrm>
          <a:prstGeom prst="ellipse">
            <a:avLst/>
          </a:prstGeom>
          <a:solidFill>
            <a:schemeClr val="bg2">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10007316" y="3075143"/>
            <a:ext cx="927969" cy="927969"/>
          </a:xfrm>
          <a:prstGeom prst="ellipse">
            <a:avLst/>
          </a:prstGeom>
          <a:solidFill>
            <a:schemeClr val="accent2">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Freeform 14"/>
          <p:cNvSpPr/>
          <p:nvPr userDrawn="1"/>
        </p:nvSpPr>
        <p:spPr>
          <a:xfrm flipH="1">
            <a:off x="10007316" y="2790662"/>
            <a:ext cx="2186006" cy="3789321"/>
          </a:xfrm>
          <a:custGeom>
            <a:avLst/>
            <a:gdLst>
              <a:gd name="connsiteX0" fmla="*/ 372517 w 2795044"/>
              <a:gd name="connsiteY0" fmla="*/ 0 h 4845054"/>
              <a:gd name="connsiteX1" fmla="*/ 2795044 w 2795044"/>
              <a:gd name="connsiteY1" fmla="*/ 2422527 h 4845054"/>
              <a:gd name="connsiteX2" fmla="*/ 372517 w 2795044"/>
              <a:gd name="connsiteY2" fmla="*/ 4845054 h 4845054"/>
              <a:gd name="connsiteX3" fmla="*/ 124828 w 2795044"/>
              <a:gd name="connsiteY3" fmla="*/ 4832547 h 4845054"/>
              <a:gd name="connsiteX4" fmla="*/ 0 w 2795044"/>
              <a:gd name="connsiteY4" fmla="*/ 4813496 h 4845054"/>
              <a:gd name="connsiteX5" fmla="*/ 0 w 2795044"/>
              <a:gd name="connsiteY5" fmla="*/ 31558 h 4845054"/>
              <a:gd name="connsiteX6" fmla="*/ 124828 w 2795044"/>
              <a:gd name="connsiteY6" fmla="*/ 12507 h 4845054"/>
              <a:gd name="connsiteX7" fmla="*/ 372517 w 2795044"/>
              <a:gd name="connsiteY7" fmla="*/ 0 h 4845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95044" h="4845054">
                <a:moveTo>
                  <a:pt x="372517" y="0"/>
                </a:moveTo>
                <a:cubicBezTo>
                  <a:pt x="1710442" y="0"/>
                  <a:pt x="2795044" y="1084602"/>
                  <a:pt x="2795044" y="2422527"/>
                </a:cubicBezTo>
                <a:cubicBezTo>
                  <a:pt x="2795044" y="3760452"/>
                  <a:pt x="1710442" y="4845054"/>
                  <a:pt x="372517" y="4845054"/>
                </a:cubicBezTo>
                <a:cubicBezTo>
                  <a:pt x="288897" y="4845054"/>
                  <a:pt x="206266" y="4840818"/>
                  <a:pt x="124828" y="4832547"/>
                </a:cubicBezTo>
                <a:lnTo>
                  <a:pt x="0" y="4813496"/>
                </a:lnTo>
                <a:lnTo>
                  <a:pt x="0" y="31558"/>
                </a:lnTo>
                <a:lnTo>
                  <a:pt x="124828" y="12507"/>
                </a:lnTo>
                <a:cubicBezTo>
                  <a:pt x="206266" y="4237"/>
                  <a:pt x="288897" y="0"/>
                  <a:pt x="372517" y="0"/>
                </a:cubicBezTo>
                <a:close/>
              </a:path>
            </a:pathLst>
          </a:custGeom>
          <a:solidFill>
            <a:srgbClr val="326FB4">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userDrawn="1"/>
        </p:nvSpPr>
        <p:spPr>
          <a:xfrm>
            <a:off x="10955042" y="5680502"/>
            <a:ext cx="611654" cy="611654"/>
          </a:xfrm>
          <a:prstGeom prst="ellipse">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a:off x="9618604" y="4844787"/>
            <a:ext cx="1735196" cy="1735196"/>
          </a:xfrm>
          <a:prstGeom prst="ellipse">
            <a:avLst/>
          </a:prstGeom>
          <a:solidFill>
            <a:schemeClr val="bg1">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9078FF-B56D-488A-B93D-8C50531D031C}"/>
              </a:ext>
            </a:extLst>
          </p:cNvPr>
          <p:cNvSpPr>
            <a:spLocks noGrp="1"/>
          </p:cNvSpPr>
          <p:nvPr userDrawn="1">
            <p:ph type="ctrTitle"/>
          </p:nvPr>
        </p:nvSpPr>
        <p:spPr>
          <a:xfrm>
            <a:off x="1426886" y="2953883"/>
            <a:ext cx="9144000" cy="1303596"/>
          </a:xfrm>
        </p:spPr>
        <p:txBody>
          <a:bodyPr anchor="ctr"/>
          <a:lstStyle>
            <a:lvl1pPr algn="ctr">
              <a:defRPr sz="6000" b="1">
                <a:solidFill>
                  <a:schemeClr val="accent4"/>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CBF1E494-4736-4125-A498-B42E1E98C495}"/>
              </a:ext>
            </a:extLst>
          </p:cNvPr>
          <p:cNvSpPr>
            <a:spLocks noGrp="1"/>
          </p:cNvSpPr>
          <p:nvPr userDrawn="1">
            <p:ph type="subTitle" idx="1"/>
          </p:nvPr>
        </p:nvSpPr>
        <p:spPr>
          <a:xfrm>
            <a:off x="1524000" y="5057750"/>
            <a:ext cx="9144000" cy="456778"/>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2800" y="655207"/>
            <a:ext cx="5486400" cy="1674951"/>
          </a:xfrm>
          <a:prstGeom prst="rect">
            <a:avLst/>
          </a:prstGeom>
        </p:spPr>
      </p:pic>
      <p:sp>
        <p:nvSpPr>
          <p:cNvPr id="19" name="Oval 18"/>
          <p:cNvSpPr/>
          <p:nvPr/>
        </p:nvSpPr>
        <p:spPr>
          <a:xfrm>
            <a:off x="1256256" y="1086534"/>
            <a:ext cx="1186508" cy="1186508"/>
          </a:xfrm>
          <a:prstGeom prst="ellipse">
            <a:avLst/>
          </a:prstGeom>
          <a:solidFill>
            <a:schemeClr val="accent1">
              <a:lumMod val="40000"/>
              <a:lumOff val="60000"/>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5566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627BE2-6929-463D-9A0E-27E9460EA21E}"/>
              </a:ext>
            </a:extLst>
          </p:cNvPr>
          <p:cNvSpPr>
            <a:spLocks noGrp="1"/>
          </p:cNvSpPr>
          <p:nvPr userDrawn="1">
            <p:ph idx="1"/>
          </p:nvPr>
        </p:nvSpPr>
        <p:spPr>
          <a:xfrm>
            <a:off x="836676" y="1350453"/>
            <a:ext cx="10515600" cy="4988795"/>
          </a:xfrm>
        </p:spPr>
        <p:txBody>
          <a:bodyPr/>
          <a:lstStyle>
            <a:lvl1pPr>
              <a:buClr>
                <a:srgbClr val="F7941D"/>
              </a:buClr>
              <a:buSzPct val="100000"/>
              <a:defRPr sz="2400"/>
            </a:lvl1pPr>
            <a:lvl2pPr>
              <a:buClr>
                <a:schemeClr val="tx2"/>
              </a:buClr>
              <a:defRPr>
                <a:solidFill>
                  <a:schemeClr val="tx1"/>
                </a:solidFill>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Date Placeholder 35"/>
          <p:cNvSpPr>
            <a:spLocks noGrp="1"/>
          </p:cNvSpPr>
          <p:nvPr userDrawn="1">
            <p:ph type="dt" sz="half" idx="14"/>
          </p:nvPr>
        </p:nvSpPr>
        <p:spPr/>
        <p:txBody>
          <a:bodyPr/>
          <a:lstStyle/>
          <a:p>
            <a:r>
              <a:rPr lang="en-US"/>
              <a:t>2020-05-16</a:t>
            </a:r>
          </a:p>
        </p:txBody>
      </p:sp>
      <p:sp>
        <p:nvSpPr>
          <p:cNvPr id="37" name="Footer Placeholder 36"/>
          <p:cNvSpPr>
            <a:spLocks noGrp="1"/>
          </p:cNvSpPr>
          <p:nvPr userDrawn="1">
            <p:ph type="ftr" sz="quarter" idx="15"/>
          </p:nvPr>
        </p:nvSpPr>
        <p:spPr/>
        <p:txBody>
          <a:bodyPr/>
          <a:lstStyle/>
          <a:p>
            <a:endParaRPr lang="en-US"/>
          </a:p>
        </p:txBody>
      </p:sp>
      <p:sp>
        <p:nvSpPr>
          <p:cNvPr id="38" name="Slide Number Placeholder 37"/>
          <p:cNvSpPr>
            <a:spLocks noGrp="1"/>
          </p:cNvSpPr>
          <p:nvPr userDrawn="1">
            <p:ph type="sldNum" sz="quarter" idx="16"/>
          </p:nvPr>
        </p:nvSpPr>
        <p:spPr>
          <a:xfrm>
            <a:off x="11368512" y="6356350"/>
            <a:ext cx="588818" cy="365125"/>
          </a:xfrm>
        </p:spPr>
        <p:txBody>
          <a:bodyPr/>
          <a:lstStyle>
            <a:lvl1pPr algn="ctr">
              <a:defRPr/>
            </a:lvl1pPr>
          </a:lstStyle>
          <a:p>
            <a:fld id="{EA358FA9-F386-4A12-B482-464C32CE5754}" type="slidenum">
              <a:rPr lang="en-US" smtClean="0"/>
              <a:pPr/>
              <a:t>‹#›</a:t>
            </a:fld>
            <a:endParaRPr lang="en-US"/>
          </a:p>
        </p:txBody>
      </p:sp>
      <p:sp>
        <p:nvSpPr>
          <p:cNvPr id="23" name="Rectangle 22">
            <a:extLst>
              <a:ext uri="{FF2B5EF4-FFF2-40B4-BE49-F238E27FC236}">
                <a16:creationId xmlns:a16="http://schemas.microsoft.com/office/drawing/2014/main" id="{09E65EE2-5635-4C5D-8131-361B9802D922}"/>
              </a:ext>
            </a:extLst>
          </p:cNvPr>
          <p:cNvSpPr/>
          <p:nvPr userDrawn="1"/>
        </p:nvSpPr>
        <p:spPr>
          <a:xfrm>
            <a:off x="0" y="0"/>
            <a:ext cx="12192000" cy="931122"/>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C66519-DD0B-4374-8217-6D6F8CC25061}"/>
              </a:ext>
            </a:extLst>
          </p:cNvPr>
          <p:cNvSpPr>
            <a:spLocks noGrp="1"/>
          </p:cNvSpPr>
          <p:nvPr>
            <p:ph type="title"/>
          </p:nvPr>
        </p:nvSpPr>
        <p:spPr>
          <a:xfrm>
            <a:off x="836676" y="61277"/>
            <a:ext cx="10515600" cy="869845"/>
          </a:xfrm>
        </p:spPr>
        <p:txBody>
          <a:bodyPr>
            <a:normAutofit/>
          </a:bodyPr>
          <a:lstStyle>
            <a:lvl1pPr>
              <a:defRPr sz="3200">
                <a:solidFill>
                  <a:schemeClr val="bg1"/>
                </a:solidFill>
                <a:latin typeface="+mn-lt"/>
              </a:defRPr>
            </a:lvl1pPr>
          </a:lstStyle>
          <a:p>
            <a:r>
              <a:rPr lang="en-US"/>
              <a:t>Click to edit Master title style</a:t>
            </a:r>
          </a:p>
        </p:txBody>
      </p:sp>
      <p:cxnSp>
        <p:nvCxnSpPr>
          <p:cNvPr id="39" name="Straight Connector 38">
            <a:extLst>
              <a:ext uri="{FF2B5EF4-FFF2-40B4-BE49-F238E27FC236}">
                <a16:creationId xmlns:a16="http://schemas.microsoft.com/office/drawing/2014/main" id="{E3262A37-01F5-45C4-82F5-49C70BA04B38}"/>
              </a:ext>
            </a:extLst>
          </p:cNvPr>
          <p:cNvCxnSpPr/>
          <p:nvPr userDrawn="1"/>
        </p:nvCxnSpPr>
        <p:spPr>
          <a:xfrm>
            <a:off x="3048" y="955480"/>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861AD11D-63D7-4763-A80B-DDB59C13DEA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002752" y="246105"/>
            <a:ext cx="731520" cy="438912"/>
          </a:xfrm>
          <a:prstGeom prst="rect">
            <a:avLst/>
          </a:prstGeom>
        </p:spPr>
      </p:pic>
    </p:spTree>
    <p:extLst>
      <p:ext uri="{BB962C8B-B14F-4D97-AF65-F5344CB8AC3E}">
        <p14:creationId xmlns:p14="http://schemas.microsoft.com/office/powerpoint/2010/main" val="1742087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861AD11D-63D7-4763-A80B-DDB59C13DEA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36" name="Date Placeholder 35"/>
          <p:cNvSpPr>
            <a:spLocks noGrp="1"/>
          </p:cNvSpPr>
          <p:nvPr userDrawn="1">
            <p:ph type="dt" sz="half" idx="14"/>
          </p:nvPr>
        </p:nvSpPr>
        <p:spPr/>
        <p:txBody>
          <a:bodyPr/>
          <a:lstStyle/>
          <a:p>
            <a:r>
              <a:rPr lang="en-US"/>
              <a:t>2020-05-16</a:t>
            </a:r>
          </a:p>
        </p:txBody>
      </p:sp>
      <p:sp>
        <p:nvSpPr>
          <p:cNvPr id="37" name="Footer Placeholder 36"/>
          <p:cNvSpPr>
            <a:spLocks noGrp="1"/>
          </p:cNvSpPr>
          <p:nvPr userDrawn="1">
            <p:ph type="ftr" sz="quarter" idx="15"/>
          </p:nvPr>
        </p:nvSpPr>
        <p:spPr/>
        <p:txBody>
          <a:bodyPr/>
          <a:lstStyle/>
          <a:p>
            <a:endParaRPr lang="en-US"/>
          </a:p>
        </p:txBody>
      </p:sp>
      <p:sp>
        <p:nvSpPr>
          <p:cNvPr id="38" name="Slide Number Placeholder 37"/>
          <p:cNvSpPr>
            <a:spLocks noGrp="1"/>
          </p:cNvSpPr>
          <p:nvPr userDrawn="1">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3" name="Rectangle 22">
            <a:extLst>
              <a:ext uri="{FF2B5EF4-FFF2-40B4-BE49-F238E27FC236}">
                <a16:creationId xmlns:a16="http://schemas.microsoft.com/office/drawing/2014/main" id="{09E65EE2-5635-4C5D-8131-361B9802D922}"/>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C66519-DD0B-4374-8217-6D6F8CC25061}"/>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cxnSp>
        <p:nvCxnSpPr>
          <p:cNvPr id="39" name="Straight Connector 38">
            <a:extLst>
              <a:ext uri="{FF2B5EF4-FFF2-40B4-BE49-F238E27FC236}">
                <a16:creationId xmlns:a16="http://schemas.microsoft.com/office/drawing/2014/main" id="{E3262A37-01F5-45C4-82F5-49C70BA04B38}"/>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04E22E8B-D220-416C-95A4-73AFE090E045}"/>
              </a:ext>
            </a:extLst>
          </p:cNvPr>
          <p:cNvSpPr>
            <a:spLocks noGrp="1"/>
          </p:cNvSpPr>
          <p:nvPr>
            <p:ph sz="half" idx="1"/>
          </p:nvPr>
        </p:nvSpPr>
        <p:spPr>
          <a:xfrm>
            <a:off x="838200" y="1825625"/>
            <a:ext cx="5181600" cy="4351338"/>
          </a:xfrm>
        </p:spPr>
        <p:txBody>
          <a:bodyPr/>
          <a:lstStyle>
            <a:lvl1pPr>
              <a:buClr>
                <a:schemeClr val="accent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C57709D6-DEC3-41F8-8E5B-526AAA18C7B4}"/>
              </a:ext>
            </a:extLst>
          </p:cNvPr>
          <p:cNvSpPr>
            <a:spLocks noGrp="1"/>
          </p:cNvSpPr>
          <p:nvPr>
            <p:ph sz="half" idx="2"/>
          </p:nvPr>
        </p:nvSpPr>
        <p:spPr>
          <a:xfrm>
            <a:off x="6172200" y="1825625"/>
            <a:ext cx="5181600" cy="4351338"/>
          </a:xfrm>
        </p:spPr>
        <p:txBody>
          <a:bodyPr/>
          <a:lstStyle>
            <a:lvl1pPr>
              <a:buClr>
                <a:schemeClr val="accent2"/>
              </a:buCl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59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1">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02A70AB-C5E0-4182-A412-7EBB0125DC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5" name="Date Placeholder 35">
            <a:extLst>
              <a:ext uri="{FF2B5EF4-FFF2-40B4-BE49-F238E27FC236}">
                <a16:creationId xmlns:a16="http://schemas.microsoft.com/office/drawing/2014/main" id="{B1F121D8-051A-4F4C-8623-98F1260A1CBD}"/>
              </a:ext>
            </a:extLst>
          </p:cNvPr>
          <p:cNvSpPr>
            <a:spLocks noGrp="1"/>
          </p:cNvSpPr>
          <p:nvPr>
            <p:ph type="dt" sz="half" idx="14"/>
          </p:nvPr>
        </p:nvSpPr>
        <p:spPr>
          <a:xfrm>
            <a:off x="838200" y="6356350"/>
            <a:ext cx="2743200" cy="365125"/>
          </a:xfrm>
        </p:spPr>
        <p:txBody>
          <a:bodyPr/>
          <a:lstStyle/>
          <a:p>
            <a:r>
              <a:rPr lang="en-US"/>
              <a:t>2020-05-16</a:t>
            </a:r>
          </a:p>
        </p:txBody>
      </p:sp>
      <p:sp>
        <p:nvSpPr>
          <p:cNvPr id="26" name="Footer Placeholder 36">
            <a:extLst>
              <a:ext uri="{FF2B5EF4-FFF2-40B4-BE49-F238E27FC236}">
                <a16:creationId xmlns:a16="http://schemas.microsoft.com/office/drawing/2014/main" id="{1186F3A4-02DF-438F-A96D-5A616B66F437}"/>
              </a:ext>
            </a:extLst>
          </p:cNvPr>
          <p:cNvSpPr>
            <a:spLocks noGrp="1"/>
          </p:cNvSpPr>
          <p:nvPr>
            <p:ph type="ftr" sz="quarter" idx="15"/>
          </p:nvPr>
        </p:nvSpPr>
        <p:spPr>
          <a:xfrm>
            <a:off x="4038600" y="6356350"/>
            <a:ext cx="4114800" cy="365125"/>
          </a:xfrm>
        </p:spPr>
        <p:txBody>
          <a:bodyPr/>
          <a:lstStyle/>
          <a:p>
            <a:endParaRPr lang="en-US"/>
          </a:p>
        </p:txBody>
      </p:sp>
      <p:sp>
        <p:nvSpPr>
          <p:cNvPr id="27" name="Slide Number Placeholder 37">
            <a:extLst>
              <a:ext uri="{FF2B5EF4-FFF2-40B4-BE49-F238E27FC236}">
                <a16:creationId xmlns:a16="http://schemas.microsoft.com/office/drawing/2014/main" id="{26D0D916-9988-4506-B1D2-26E3A5CCB704}"/>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28" name="Rectangle 27">
            <a:extLst>
              <a:ext uri="{FF2B5EF4-FFF2-40B4-BE49-F238E27FC236}">
                <a16:creationId xmlns:a16="http://schemas.microsoft.com/office/drawing/2014/main" id="{6646629B-6672-4286-BBEA-840A6FEB26A3}"/>
              </a:ext>
            </a:extLst>
          </p:cNvPr>
          <p:cNvSpPr/>
          <p:nvPr userDrawn="1"/>
        </p:nvSpPr>
        <p:spPr>
          <a:xfrm>
            <a:off x="0" y="0"/>
            <a:ext cx="12192000" cy="1346200"/>
          </a:xfrm>
          <a:prstGeom prst="rect">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74B3FB89-5D9E-417F-A1E7-0A30E7CE1CD1}"/>
              </a:ext>
            </a:extLst>
          </p:cNvPr>
          <p:cNvCxnSpPr/>
          <p:nvPr userDrawn="1"/>
        </p:nvCxnSpPr>
        <p:spPr>
          <a:xfrm>
            <a:off x="0" y="1378373"/>
            <a:ext cx="12188952" cy="0"/>
          </a:xfrm>
          <a:prstGeom prst="line">
            <a:avLst/>
          </a:prstGeom>
          <a:ln w="76200">
            <a:solidFill>
              <a:srgbClr val="939598"/>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6B16A2E2-2E87-4BDD-9654-AFD356C4C63D}"/>
              </a:ext>
            </a:extLst>
          </p:cNvPr>
          <p:cNvSpPr>
            <a:spLocks noGrp="1"/>
          </p:cNvSpPr>
          <p:nvPr>
            <p:ph type="title"/>
          </p:nvPr>
        </p:nvSpPr>
        <p:spPr>
          <a:xfrm>
            <a:off x="836676" y="61277"/>
            <a:ext cx="10515600" cy="1325563"/>
          </a:xfrm>
        </p:spPr>
        <p:txBody>
          <a:bodyPr>
            <a:normAutofit/>
          </a:bodyPr>
          <a:lstStyle>
            <a:lvl1pPr>
              <a:defRPr sz="4800">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2241880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Break">
    <p:bg>
      <p:bgPr>
        <a:solidFill>
          <a:srgbClr val="034EA2"/>
        </a:solidFill>
        <a:effectLst/>
      </p:bgPr>
    </p:bg>
    <p:spTree>
      <p:nvGrpSpPr>
        <p:cNvPr id="1" name=""/>
        <p:cNvGrpSpPr/>
        <p:nvPr/>
      </p:nvGrpSpPr>
      <p:grpSpPr>
        <a:xfrm>
          <a:off x="0" y="0"/>
          <a:ext cx="0" cy="0"/>
          <a:chOff x="0" y="0"/>
          <a:chExt cx="0" cy="0"/>
        </a:xfrm>
      </p:grpSpPr>
      <p:grpSp>
        <p:nvGrpSpPr>
          <p:cNvPr id="11" name="Group 10"/>
          <p:cNvGrpSpPr/>
          <p:nvPr userDrawn="1"/>
        </p:nvGrpSpPr>
        <p:grpSpPr>
          <a:xfrm>
            <a:off x="295743" y="278648"/>
            <a:ext cx="1058839" cy="1469212"/>
            <a:chOff x="295743" y="278648"/>
            <a:chExt cx="1058839" cy="1469212"/>
          </a:xfrm>
        </p:grpSpPr>
        <p:sp>
          <p:nvSpPr>
            <p:cNvPr id="5" name="Oval 4"/>
            <p:cNvSpPr/>
            <p:nvPr userDrawn="1"/>
          </p:nvSpPr>
          <p:spPr>
            <a:xfrm rot="21430362">
              <a:off x="295743" y="1385061"/>
              <a:ext cx="362799" cy="362799"/>
            </a:xfrm>
            <a:prstGeom prst="ellipse">
              <a:avLst/>
            </a:prstGeom>
            <a:solidFill>
              <a:srgbClr val="F896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userDrawn="1"/>
          </p:nvSpPr>
          <p:spPr>
            <a:xfrm rot="21030870">
              <a:off x="446702" y="1120454"/>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userDrawn="1"/>
          </p:nvSpPr>
          <p:spPr>
            <a:xfrm rot="21030870">
              <a:off x="554603" y="861630"/>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userDrawn="1"/>
          </p:nvSpPr>
          <p:spPr>
            <a:xfrm rot="21030870">
              <a:off x="723951" y="613612"/>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rot="21030870">
              <a:off x="939994" y="415759"/>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userDrawn="1"/>
          </p:nvSpPr>
          <p:spPr>
            <a:xfrm rot="21030870">
              <a:off x="1216373" y="278648"/>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userDrawn="1"/>
        </p:nvGrpSpPr>
        <p:grpSpPr>
          <a:xfrm rot="10800000">
            <a:off x="10752161" y="5069700"/>
            <a:ext cx="1058839" cy="1469212"/>
            <a:chOff x="295743" y="278648"/>
            <a:chExt cx="1058839" cy="1469212"/>
          </a:xfrm>
        </p:grpSpPr>
        <p:sp>
          <p:nvSpPr>
            <p:cNvPr id="13" name="Oval 12"/>
            <p:cNvSpPr/>
            <p:nvPr userDrawn="1"/>
          </p:nvSpPr>
          <p:spPr>
            <a:xfrm rot="21430362">
              <a:off x="295743" y="1385061"/>
              <a:ext cx="362799" cy="362799"/>
            </a:xfrm>
            <a:prstGeom prst="ellipse">
              <a:avLst/>
            </a:prstGeom>
            <a:solidFill>
              <a:srgbClr val="F8961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rot="21030870">
              <a:off x="446702" y="1120454"/>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rot="21030870">
              <a:off x="554603" y="861630"/>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userDrawn="1"/>
          </p:nvSpPr>
          <p:spPr>
            <a:xfrm rot="21030870">
              <a:off x="723951" y="613612"/>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userDrawn="1"/>
          </p:nvSpPr>
          <p:spPr>
            <a:xfrm rot="21030870">
              <a:off x="939994" y="415759"/>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userDrawn="1"/>
          </p:nvSpPr>
          <p:spPr>
            <a:xfrm rot="21030870">
              <a:off x="1216373" y="278648"/>
              <a:ext cx="138209" cy="138209"/>
            </a:xfrm>
            <a:prstGeom prst="ellipse">
              <a:avLst/>
            </a:prstGeom>
            <a:solidFill>
              <a:schemeClr val="bg1">
                <a:lumMod val="8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itle 22">
            <a:extLst>
              <a:ext uri="{FF2B5EF4-FFF2-40B4-BE49-F238E27FC236}">
                <a16:creationId xmlns:a16="http://schemas.microsoft.com/office/drawing/2014/main" id="{69618F3F-2ABF-4459-9284-29700F025895}"/>
              </a:ext>
            </a:extLst>
          </p:cNvPr>
          <p:cNvSpPr>
            <a:spLocks noGrp="1"/>
          </p:cNvSpPr>
          <p:nvPr>
            <p:ph type="title" hasCustomPrompt="1"/>
          </p:nvPr>
        </p:nvSpPr>
        <p:spPr>
          <a:xfrm>
            <a:off x="838200" y="2766219"/>
            <a:ext cx="10515600" cy="1325563"/>
          </a:xfrm>
        </p:spPr>
        <p:txBody>
          <a:bodyPr>
            <a:normAutofit/>
          </a:bodyPr>
          <a:lstStyle>
            <a:lvl1pPr algn="ctr">
              <a:defRPr sz="5400">
                <a:solidFill>
                  <a:schemeClr val="bg1"/>
                </a:solidFill>
                <a:latin typeface="+mn-lt"/>
              </a:defRPr>
            </a:lvl1pPr>
          </a:lstStyle>
          <a:p>
            <a:r>
              <a:rPr lang="en-US"/>
              <a:t>Section break</a:t>
            </a:r>
          </a:p>
        </p:txBody>
      </p:sp>
    </p:spTree>
    <p:extLst>
      <p:ext uri="{BB962C8B-B14F-4D97-AF65-F5344CB8AC3E}">
        <p14:creationId xmlns:p14="http://schemas.microsoft.com/office/powerpoint/2010/main" val="2455436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_withPageNumber">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902A70AB-C5E0-4182-A412-7EBB0125DC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5" name="Date Placeholder 35">
            <a:extLst>
              <a:ext uri="{FF2B5EF4-FFF2-40B4-BE49-F238E27FC236}">
                <a16:creationId xmlns:a16="http://schemas.microsoft.com/office/drawing/2014/main" id="{B1F121D8-051A-4F4C-8623-98F1260A1CBD}"/>
              </a:ext>
            </a:extLst>
          </p:cNvPr>
          <p:cNvSpPr>
            <a:spLocks noGrp="1"/>
          </p:cNvSpPr>
          <p:nvPr>
            <p:ph type="dt" sz="half" idx="14"/>
          </p:nvPr>
        </p:nvSpPr>
        <p:spPr>
          <a:xfrm>
            <a:off x="838200" y="6356350"/>
            <a:ext cx="2743200" cy="365125"/>
          </a:xfrm>
        </p:spPr>
        <p:txBody>
          <a:bodyPr/>
          <a:lstStyle/>
          <a:p>
            <a:r>
              <a:rPr lang="en-US"/>
              <a:t>2020-05-16</a:t>
            </a:r>
          </a:p>
        </p:txBody>
      </p:sp>
      <p:sp>
        <p:nvSpPr>
          <p:cNvPr id="26" name="Footer Placeholder 36">
            <a:extLst>
              <a:ext uri="{FF2B5EF4-FFF2-40B4-BE49-F238E27FC236}">
                <a16:creationId xmlns:a16="http://schemas.microsoft.com/office/drawing/2014/main" id="{1186F3A4-02DF-438F-A96D-5A616B66F437}"/>
              </a:ext>
            </a:extLst>
          </p:cNvPr>
          <p:cNvSpPr>
            <a:spLocks noGrp="1"/>
          </p:cNvSpPr>
          <p:nvPr>
            <p:ph type="ftr" sz="quarter" idx="15"/>
          </p:nvPr>
        </p:nvSpPr>
        <p:spPr>
          <a:xfrm>
            <a:off x="4038600" y="6356350"/>
            <a:ext cx="4114800" cy="365125"/>
          </a:xfrm>
        </p:spPr>
        <p:txBody>
          <a:bodyPr/>
          <a:lstStyle/>
          <a:p>
            <a:endParaRPr lang="en-US"/>
          </a:p>
        </p:txBody>
      </p:sp>
      <p:sp>
        <p:nvSpPr>
          <p:cNvPr id="27" name="Slide Number Placeholder 37">
            <a:extLst>
              <a:ext uri="{FF2B5EF4-FFF2-40B4-BE49-F238E27FC236}">
                <a16:creationId xmlns:a16="http://schemas.microsoft.com/office/drawing/2014/main" id="{26D0D916-9988-4506-B1D2-26E3A5CCB704}"/>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Tree>
    <p:extLst>
      <p:ext uri="{BB962C8B-B14F-4D97-AF65-F5344CB8AC3E}">
        <p14:creationId xmlns:p14="http://schemas.microsoft.com/office/powerpoint/2010/main" val="29616494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64780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Blu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999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Blue_withPageNumber">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C4D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ED7FD18C-E25E-43A2-9CAD-6DEC223C295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67" t="877" r="68933" b="59649"/>
          <a:stretch/>
        </p:blipFill>
        <p:spPr>
          <a:xfrm>
            <a:off x="11276442" y="6279568"/>
            <a:ext cx="731520" cy="438912"/>
          </a:xfrm>
          <a:prstGeom prst="rect">
            <a:avLst/>
          </a:prstGeom>
        </p:spPr>
      </p:pic>
      <p:sp>
        <p:nvSpPr>
          <p:cNvPr id="23" name="Slide Number Placeholder 37">
            <a:extLst>
              <a:ext uri="{FF2B5EF4-FFF2-40B4-BE49-F238E27FC236}">
                <a16:creationId xmlns:a16="http://schemas.microsoft.com/office/drawing/2014/main" id="{1E9C6EF1-F1DE-473D-AC0B-94E59E3AE521}"/>
              </a:ext>
            </a:extLst>
          </p:cNvPr>
          <p:cNvSpPr>
            <a:spLocks noGrp="1"/>
          </p:cNvSpPr>
          <p:nvPr>
            <p:ph type="sldNum" sz="quarter" idx="16"/>
          </p:nvPr>
        </p:nvSpPr>
        <p:spPr>
          <a:xfrm>
            <a:off x="11353800" y="6356350"/>
            <a:ext cx="588818" cy="365125"/>
          </a:xfrm>
        </p:spPr>
        <p:txBody>
          <a:bodyPr/>
          <a:lstStyle>
            <a:lvl1pPr algn="ctr">
              <a:defRPr/>
            </a:lvl1pPr>
          </a:lstStyle>
          <a:p>
            <a:fld id="{EA358FA9-F386-4A12-B482-464C32CE5754}" type="slidenum">
              <a:rPr lang="en-US" smtClean="0"/>
              <a:pPr/>
              <a:t>‹#›</a:t>
            </a:fld>
            <a:endParaRPr lang="en-US"/>
          </a:p>
        </p:txBody>
      </p:sp>
      <p:sp>
        <p:nvSpPr>
          <p:cNvPr id="5" name="Date Placeholder 35">
            <a:extLst>
              <a:ext uri="{FF2B5EF4-FFF2-40B4-BE49-F238E27FC236}">
                <a16:creationId xmlns:a16="http://schemas.microsoft.com/office/drawing/2014/main" id="{2CA6F28B-C080-48F0-8D75-94208B11E046}"/>
              </a:ext>
            </a:extLst>
          </p:cNvPr>
          <p:cNvSpPr>
            <a:spLocks noGrp="1"/>
          </p:cNvSpPr>
          <p:nvPr>
            <p:ph type="dt" sz="half" idx="14"/>
          </p:nvPr>
        </p:nvSpPr>
        <p:spPr>
          <a:xfrm>
            <a:off x="838200" y="6356350"/>
            <a:ext cx="2743200" cy="365125"/>
          </a:xfrm>
        </p:spPr>
        <p:txBody>
          <a:bodyPr/>
          <a:lstStyle/>
          <a:p>
            <a:r>
              <a:rPr lang="en-US"/>
              <a:t>2020-05-16</a:t>
            </a:r>
          </a:p>
        </p:txBody>
      </p:sp>
      <p:sp>
        <p:nvSpPr>
          <p:cNvPr id="6" name="Footer Placeholder 36">
            <a:extLst>
              <a:ext uri="{FF2B5EF4-FFF2-40B4-BE49-F238E27FC236}">
                <a16:creationId xmlns:a16="http://schemas.microsoft.com/office/drawing/2014/main" id="{69397C78-A924-4CC3-B931-B736F5C071F4}"/>
              </a:ext>
            </a:extLst>
          </p:cNvPr>
          <p:cNvSpPr>
            <a:spLocks noGrp="1"/>
          </p:cNvSpPr>
          <p:nvPr>
            <p:ph type="ftr" sz="quarter" idx="15"/>
          </p:nvPr>
        </p:nvSpPr>
        <p:spPr>
          <a:xfrm>
            <a:off x="4038600" y="6356350"/>
            <a:ext cx="4114800" cy="365125"/>
          </a:xfrm>
        </p:spPr>
        <p:txBody>
          <a:bodyPr/>
          <a:lstStyle/>
          <a:p>
            <a:endParaRPr lang="en-US"/>
          </a:p>
        </p:txBody>
      </p:sp>
    </p:spTree>
    <p:extLst>
      <p:ext uri="{BB962C8B-B14F-4D97-AF65-F5344CB8AC3E}">
        <p14:creationId xmlns:p14="http://schemas.microsoft.com/office/powerpoint/2010/main" val="1242353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D65528-1CB3-436D-BB16-1DD1A82B5B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F0B96C-5600-4F30-B2E5-48AD4116C0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57794E-6D1B-4566-A546-EF2F0A7B0F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06C1EE-673C-4BF7-B8EE-4F142CE073E2}" type="datetime1">
              <a:rPr lang="en-US" smtClean="0"/>
              <a:t>1/8/2021</a:t>
            </a:fld>
            <a:endParaRPr lang="en-US"/>
          </a:p>
        </p:txBody>
      </p:sp>
      <p:sp>
        <p:nvSpPr>
          <p:cNvPr id="5" name="Footer Placeholder 4">
            <a:extLst>
              <a:ext uri="{FF2B5EF4-FFF2-40B4-BE49-F238E27FC236}">
                <a16:creationId xmlns:a16="http://schemas.microsoft.com/office/drawing/2014/main" id="{E845911E-2B9C-415D-B821-8DAD7C7F7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72706F-717A-4858-B886-4D5755F5EC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358FA9-F386-4A12-B482-464C32CE5754}" type="slidenum">
              <a:rPr lang="en-US" smtClean="0"/>
              <a:t>‹#›</a:t>
            </a:fld>
            <a:endParaRPr lang="en-US"/>
          </a:p>
        </p:txBody>
      </p:sp>
    </p:spTree>
    <p:extLst>
      <p:ext uri="{BB962C8B-B14F-4D97-AF65-F5344CB8AC3E}">
        <p14:creationId xmlns:p14="http://schemas.microsoft.com/office/powerpoint/2010/main" val="1034123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2" r:id="rId4"/>
    <p:sldLayoutId id="2147483655" r:id="rId5"/>
    <p:sldLayoutId id="2147483664" r:id="rId6"/>
    <p:sldLayoutId id="2147483653" r:id="rId7"/>
    <p:sldLayoutId id="2147483654" r:id="rId8"/>
    <p:sldLayoutId id="2147483663"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D65528-1CB3-436D-BB16-1DD1A82B5B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F0B96C-5600-4F30-B2E5-48AD4116C0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57794E-6D1B-4566-A546-EF2F0A7B0F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2020-05-16</a:t>
            </a:r>
          </a:p>
        </p:txBody>
      </p:sp>
      <p:sp>
        <p:nvSpPr>
          <p:cNvPr id="5" name="Footer Placeholder 4">
            <a:extLst>
              <a:ext uri="{FF2B5EF4-FFF2-40B4-BE49-F238E27FC236}">
                <a16:creationId xmlns:a16="http://schemas.microsoft.com/office/drawing/2014/main" id="{E845911E-2B9C-415D-B821-8DAD7C7F7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72706F-717A-4858-B886-4D5755F5EC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358FA9-F386-4A12-B482-464C32CE5754}" type="slidenum">
              <a:rPr lang="en-US" smtClean="0"/>
              <a:t>‹#›</a:t>
            </a:fld>
            <a:endParaRPr lang="en-US"/>
          </a:p>
        </p:txBody>
      </p:sp>
    </p:spTree>
    <p:extLst>
      <p:ext uri="{BB962C8B-B14F-4D97-AF65-F5344CB8AC3E}">
        <p14:creationId xmlns:p14="http://schemas.microsoft.com/office/powerpoint/2010/main" val="96740903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mailto:platform-stacks@engage.digitaltwinconsortium.org"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clipboard/media/image6.png"/><Relationship Id="rId13" Type="http://schemas.openxmlformats.org/officeDocument/2006/relationships/image" Target="../media/image5.png"/><Relationship Id="rId3" Type="http://schemas.openxmlformats.org/officeDocument/2006/relationships/image" Target="../media/image3.png"/><Relationship Id="rId12"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clipboard/media/image4.png"/><Relationship Id="rId10" Type="http://schemas.openxmlformats.org/officeDocument/2006/relationships/image" Target="../media/image70.png"/><Relationship Id="rId4" Type="http://schemas.openxmlformats.org/officeDocument/2006/relationships/image" Target="../media/image30.png"/><Relationship Id="rId14" Type="http://schemas.openxmlformats.org/officeDocument/2006/relationships/image" Target="../media/image9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1E85B1-E459-4FBB-A55A-AE4D222412D8}"/>
              </a:ext>
            </a:extLst>
          </p:cNvPr>
          <p:cNvSpPr>
            <a:spLocks noGrp="1"/>
          </p:cNvSpPr>
          <p:nvPr>
            <p:ph type="title"/>
          </p:nvPr>
        </p:nvSpPr>
        <p:spPr>
          <a:xfrm>
            <a:off x="2045799" y="2532184"/>
            <a:ext cx="8258785" cy="2887541"/>
          </a:xfrm>
        </p:spPr>
        <p:txBody>
          <a:bodyPr>
            <a:noAutofit/>
          </a:bodyPr>
          <a:lstStyle/>
          <a:p>
            <a:pPr algn="l"/>
            <a:r>
              <a:rPr lang="en-US" sz="4000" b="1" dirty="0">
                <a:solidFill>
                  <a:srgbClr val="FFC000"/>
                </a:solidFill>
                <a:effectLst>
                  <a:outerShdw blurRad="38100" dist="38100" dir="2700000" algn="tl">
                    <a:srgbClr val="000000">
                      <a:alpha val="43137"/>
                    </a:srgbClr>
                  </a:outerShdw>
                </a:effectLst>
                <a:latin typeface="Calibri" panose="020F0502020204030204" pitchFamily="34" charset="0"/>
              </a:rPr>
              <a:t>  3T </a:t>
            </a:r>
            <a:r>
              <a:rPr lang="en-US" sz="4000" b="1" dirty="0">
                <a:solidFill>
                  <a:srgbClr val="FFC000"/>
                </a:solidFill>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rPr>
              <a:t>Working Group – January 7</a:t>
            </a:r>
            <a:r>
              <a:rPr lang="en-US" sz="4000" b="1" baseline="30000" dirty="0">
                <a:solidFill>
                  <a:srgbClr val="FFC000"/>
                </a:solidFill>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rPr>
              <a:t>th</a:t>
            </a:r>
            <a:br>
              <a:rPr lang="en-US" sz="4000" b="1" dirty="0">
                <a:solidFill>
                  <a:srgbClr val="FFC000"/>
                </a:solidFill>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rPr>
            </a:br>
            <a:br>
              <a:rPr lang="en-US" sz="4000" b="1" dirty="0">
                <a:solidFill>
                  <a:srgbClr val="FFC000"/>
                </a:solidFill>
                <a:effectLst/>
                <a:latin typeface="Calibri" panose="020F0502020204030204" pitchFamily="34" charset="0"/>
                <a:ea typeface="Times New Roman" panose="02020603050405020304" pitchFamily="18" charset="0"/>
              </a:rPr>
            </a:br>
            <a:r>
              <a:rPr lang="en-US" sz="2800" b="1" dirty="0">
                <a:solidFill>
                  <a:srgbClr val="FFC000"/>
                </a:solidFill>
                <a:latin typeface="Calibri" panose="020F0502020204030204" pitchFamily="34" charset="0"/>
                <a:ea typeface="Times New Roman" panose="02020603050405020304" pitchFamily="18" charset="0"/>
              </a:rPr>
              <a:t>       </a:t>
            </a:r>
            <a:r>
              <a:rPr lang="en-US" sz="2800" b="1" dirty="0">
                <a:effectLst/>
                <a:latin typeface="Calibri" panose="020F0502020204030204" pitchFamily="34" charset="0"/>
                <a:ea typeface="Times New Roman" panose="02020603050405020304" pitchFamily="18" charset="0"/>
              </a:rPr>
              <a:t>3T Terminology, Taxonomy, Technology</a:t>
            </a:r>
            <a:br>
              <a:rPr lang="en-US" sz="2800" dirty="0">
                <a:latin typeface="Calibri" panose="020F0502020204030204" pitchFamily="34" charset="0"/>
                <a:ea typeface="Times New Roman" panose="02020603050405020304" pitchFamily="18" charset="0"/>
              </a:rPr>
            </a:br>
            <a:r>
              <a:rPr lang="en-US" sz="2800" dirty="0">
                <a:latin typeface="Calibri" panose="020F0502020204030204" pitchFamily="34" charset="0"/>
                <a:ea typeface="Times New Roman" panose="02020603050405020304" pitchFamily="18" charset="0"/>
              </a:rPr>
              <a:t>    	- 3T Overview</a:t>
            </a:r>
            <a:br>
              <a:rPr lang="en-US" sz="2800" dirty="0">
                <a:latin typeface="Calibri" panose="020F0502020204030204" pitchFamily="34" charset="0"/>
                <a:ea typeface="Times New Roman" panose="02020603050405020304" pitchFamily="18" charset="0"/>
              </a:rPr>
            </a:br>
            <a:r>
              <a:rPr lang="en-US" sz="2800" dirty="0">
                <a:latin typeface="Calibri" panose="020F0502020204030204" pitchFamily="34" charset="0"/>
                <a:ea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t>- Revised Charter Update</a:t>
            </a:r>
            <a:br>
              <a:rPr lang="en-US" sz="2800" dirty="0">
                <a:latin typeface="Calibri" panose="020F0502020204030204" pitchFamily="34" charset="0"/>
                <a:ea typeface="Times New Roman" panose="02020603050405020304" pitchFamily="18" charset="0"/>
              </a:rPr>
            </a:br>
            <a:r>
              <a:rPr lang="en-US" sz="2800" dirty="0">
                <a:latin typeface="Calibri" panose="020F0502020204030204" pitchFamily="34" charset="0"/>
                <a:ea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t>- Phase II Release and Definition, Taxonomy</a:t>
            </a:r>
            <a:b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b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t>	- Security &amp; Trustworthiness Sub-Group</a:t>
            </a:r>
            <a:br>
              <a:rPr lang="en-US" sz="2800" dirty="0">
                <a:effectLst/>
                <a:latin typeface="Calibri" panose="020F0502020204030204" pitchFamily="34" charset="0"/>
                <a:ea typeface="Calibri" panose="020F0502020204030204" pitchFamily="34" charset="0"/>
              </a:rPr>
            </a:br>
            <a:r>
              <a:rPr lang="en-US" sz="2800" dirty="0">
                <a:effectLst/>
                <a:latin typeface="Calibri" panose="020F0502020204030204" pitchFamily="34" charset="0"/>
                <a:ea typeface="Calibri" panose="020F0502020204030204" pitchFamily="34" charset="0"/>
              </a:rPr>
              <a:t>    	- </a:t>
            </a:r>
            <a:r>
              <a:rPr lang="en-US" sz="2800" dirty="0">
                <a:effectLst/>
                <a:latin typeface="Calibri" panose="020F0502020204030204" pitchFamily="34" charset="0"/>
                <a:ea typeface="Times New Roman" panose="02020603050405020304" pitchFamily="18" charset="0"/>
              </a:rPr>
              <a:t>Platform Stack  </a:t>
            </a:r>
            <a:r>
              <a:rPr lang="en-US" sz="2800" dirty="0">
                <a:effectLst/>
                <a:latin typeface="Calibri" panose="020F0502020204030204" pitchFamily="34" charset="0"/>
                <a:ea typeface="Times New Roman" panose="02020603050405020304" pitchFamily="18" charset="0"/>
                <a:sym typeface="Wingdings" panose="05000000000000000000" pitchFamily="2" charset="2"/>
              </a:rPr>
              <a:t> </a:t>
            </a:r>
            <a:r>
              <a:rPr lang="en-US" sz="2800" dirty="0">
                <a:effectLst/>
                <a:latin typeface="Calibri" panose="020F0502020204030204" pitchFamily="34" charset="0"/>
                <a:ea typeface="Times New Roman" panose="02020603050405020304" pitchFamily="18" charset="0"/>
              </a:rPr>
              <a:t>Open Source </a:t>
            </a:r>
            <a:br>
              <a:rPr lang="en-US" sz="2800" dirty="0">
                <a:effectLst/>
                <a:latin typeface="Calibri" panose="020F0502020204030204" pitchFamily="34" charset="0"/>
                <a:ea typeface="Times New Roman" panose="02020603050405020304" pitchFamily="18" charset="0"/>
              </a:rPr>
            </a:br>
            <a:r>
              <a:rPr lang="en-US" sz="2800" dirty="0">
                <a:effectLst/>
                <a:latin typeface="Calibri" panose="020F0502020204030204" pitchFamily="34" charset="0"/>
                <a:ea typeface="Times New Roman" panose="02020603050405020304" pitchFamily="18" charset="0"/>
              </a:rPr>
              <a:t>	- </a:t>
            </a: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t>New Business Maturity Framework Sub-Group 	  Update</a:t>
            </a:r>
            <a:b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br>
            <a: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t>	- Introduction of NTT’s Digital Twin Vision 	    </a:t>
            </a:r>
            <a:br>
              <a:rPr lang="en-US" sz="2800" dirty="0">
                <a:solidFill>
                  <a:prstClr val="white"/>
                </a:solidFill>
                <a:latin typeface="Calibri" panose="020F0502020204030204" pitchFamily="34" charset="0"/>
                <a:ea typeface="Times New Roman" panose="02020603050405020304" pitchFamily="18" charset="0"/>
              </a:rPr>
            </a:br>
            <a:r>
              <a:rPr lang="en-US" sz="2800" dirty="0">
                <a:solidFill>
                  <a:prstClr val="white"/>
                </a:solidFill>
                <a:latin typeface="Calibri" panose="020F0502020204030204" pitchFamily="34" charset="0"/>
                <a:ea typeface="Times New Roman" panose="02020603050405020304" pitchFamily="18" charset="0"/>
              </a:rPr>
              <a:t>	- Liaison and Regional Branch Update</a:t>
            </a:r>
            <a:br>
              <a:rPr kumimoji="0" lang="en-US" sz="2800" b="0" i="0" u="none" strike="noStrike" kern="1200" cap="none" spc="0" normalizeH="0" baseline="0" noProof="0" dirty="0">
                <a:ln>
                  <a:noFill/>
                </a:ln>
                <a:solidFill>
                  <a:prstClr val="white"/>
                </a:solidFill>
                <a:effectLst/>
                <a:uLnTx/>
                <a:uFillTx/>
                <a:latin typeface="Calibri" panose="020F0502020204030204" pitchFamily="34" charset="0"/>
                <a:ea typeface="Times New Roman" panose="02020603050405020304" pitchFamily="18" charset="0"/>
                <a:cs typeface="+mj-cs"/>
              </a:rPr>
            </a:br>
            <a:br>
              <a:rPr lang="en-US" sz="2800" dirty="0">
                <a:effectLst/>
                <a:latin typeface="Calibri" panose="020F0502020204030204" pitchFamily="34" charset="0"/>
                <a:ea typeface="Calibri" panose="020F0502020204030204" pitchFamily="34" charset="0"/>
              </a:rPr>
            </a:br>
            <a:r>
              <a:rPr lang="en-US" sz="2800" dirty="0">
                <a:effectLst/>
                <a:latin typeface="Calibri" panose="020F0502020204030204" pitchFamily="34" charset="0"/>
                <a:ea typeface="Calibri" panose="020F0502020204030204" pitchFamily="34" charset="0"/>
              </a:rPr>
              <a:t>	</a:t>
            </a:r>
            <a:br>
              <a:rPr lang="en-US" sz="2800" dirty="0">
                <a:effectLst/>
                <a:latin typeface="Calibri" panose="020F0502020204030204" pitchFamily="34" charset="0"/>
                <a:ea typeface="Times New Roman" panose="02020603050405020304" pitchFamily="18" charset="0"/>
              </a:rPr>
            </a:br>
            <a:r>
              <a:rPr lang="en-US" sz="2800" dirty="0">
                <a:effectLst/>
                <a:latin typeface="Calibri" panose="020F0502020204030204" pitchFamily="34" charset="0"/>
                <a:ea typeface="Times New Roman" panose="02020603050405020304" pitchFamily="18" charset="0"/>
              </a:rPr>
              <a:t>	</a:t>
            </a:r>
            <a:br>
              <a:rPr lang="en-US" sz="2800" dirty="0">
                <a:effectLst/>
                <a:latin typeface="Calibri" panose="020F0502020204030204" pitchFamily="34" charset="0"/>
                <a:ea typeface="Times New Roman" panose="02020603050405020304" pitchFamily="18" charset="0"/>
              </a:rPr>
            </a:br>
            <a:endParaRPr lang="en-US" sz="3600" dirty="0"/>
          </a:p>
        </p:txBody>
      </p:sp>
      <p:sp>
        <p:nvSpPr>
          <p:cNvPr id="3" name="Slide Number Placeholder 2">
            <a:extLst>
              <a:ext uri="{FF2B5EF4-FFF2-40B4-BE49-F238E27FC236}">
                <a16:creationId xmlns:a16="http://schemas.microsoft.com/office/drawing/2014/main" id="{358BFC83-405D-4D7A-9258-3D93A9401E39}"/>
              </a:ext>
            </a:extLst>
          </p:cNvPr>
          <p:cNvSpPr>
            <a:spLocks noGrp="1"/>
          </p:cNvSpPr>
          <p:nvPr>
            <p:ph type="sldNum" sz="quarter" idx="4294967295"/>
          </p:nvPr>
        </p:nvSpPr>
        <p:spPr>
          <a:xfrm>
            <a:off x="11603038" y="6356350"/>
            <a:ext cx="588962" cy="365125"/>
          </a:xfrm>
        </p:spPr>
        <p:txBody>
          <a:bodyPr/>
          <a:lstStyle/>
          <a:p>
            <a:fld id="{EA358FA9-F386-4A12-B482-464C32CE5754}" type="slidenum">
              <a:rPr lang="en-US" smtClean="0"/>
              <a:pPr/>
              <a:t>1</a:t>
            </a:fld>
            <a:endParaRPr lang="en-US"/>
          </a:p>
        </p:txBody>
      </p:sp>
    </p:spTree>
    <p:extLst>
      <p:ext uri="{BB962C8B-B14F-4D97-AF65-F5344CB8AC3E}">
        <p14:creationId xmlns:p14="http://schemas.microsoft.com/office/powerpoint/2010/main" val="287864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A1605C-062A-4962-B917-4998AA14E0F9}"/>
              </a:ext>
            </a:extLst>
          </p:cNvPr>
          <p:cNvSpPr>
            <a:spLocks noGrp="1"/>
          </p:cNvSpPr>
          <p:nvPr>
            <p:ph type="sldNum" sz="quarter" idx="16"/>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A358FA9-F386-4A12-B482-464C32CE575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4E34793E-28CE-4243-A9EC-A65BCF7F29DE}"/>
              </a:ext>
            </a:extLst>
          </p:cNvPr>
          <p:cNvGraphicFramePr/>
          <p:nvPr/>
        </p:nvGraphicFramePr>
        <p:xfrm>
          <a:off x="1787386" y="1723127"/>
          <a:ext cx="8617228" cy="49983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EDE514D8-2917-4FE2-885D-CDD9AD0A1A9F}"/>
              </a:ext>
            </a:extLst>
          </p:cNvPr>
          <p:cNvSpPr>
            <a:spLocks noGrp="1"/>
          </p:cNvSpPr>
          <p:nvPr>
            <p:ph type="title"/>
          </p:nvPr>
        </p:nvSpPr>
        <p:spPr>
          <a:xfrm>
            <a:off x="685799" y="76200"/>
            <a:ext cx="11363325" cy="1325563"/>
          </a:xfrm>
        </p:spPr>
        <p:txBody>
          <a:bodyPr>
            <a:normAutofit/>
          </a:bodyPr>
          <a:lstStyle/>
          <a:p>
            <a:r>
              <a:rPr lang="en-US" sz="4000" dirty="0"/>
              <a:t>Technology, Terminology &amp; Taxonomy Working Group</a:t>
            </a:r>
          </a:p>
        </p:txBody>
      </p:sp>
    </p:spTree>
    <p:extLst>
      <p:ext uri="{BB962C8B-B14F-4D97-AF65-F5344CB8AC3E}">
        <p14:creationId xmlns:p14="http://schemas.microsoft.com/office/powerpoint/2010/main" val="2289614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27A3FD-4907-49E6-A585-920971E52308}"/>
              </a:ext>
            </a:extLst>
          </p:cNvPr>
          <p:cNvSpPr>
            <a:spLocks noGrp="1"/>
          </p:cNvSpPr>
          <p:nvPr>
            <p:ph type="sldNum" sz="quarter" idx="16"/>
          </p:nvPr>
        </p:nvSpPr>
        <p:spPr/>
        <p:txBody>
          <a:bodyPr/>
          <a:lstStyle/>
          <a:p>
            <a:fld id="{EA358FA9-F386-4A12-B482-464C32CE5754}" type="slidenum">
              <a:rPr lang="en-US" smtClean="0"/>
              <a:pPr/>
              <a:t>3</a:t>
            </a:fld>
            <a:endParaRPr lang="en-US" dirty="0"/>
          </a:p>
        </p:txBody>
      </p:sp>
      <p:sp>
        <p:nvSpPr>
          <p:cNvPr id="4" name="Title 3">
            <a:extLst>
              <a:ext uri="{FF2B5EF4-FFF2-40B4-BE49-F238E27FC236}">
                <a16:creationId xmlns:a16="http://schemas.microsoft.com/office/drawing/2014/main" id="{73758108-0FAC-469C-A339-297B145B36A3}"/>
              </a:ext>
            </a:extLst>
          </p:cNvPr>
          <p:cNvSpPr>
            <a:spLocks noGrp="1"/>
          </p:cNvSpPr>
          <p:nvPr>
            <p:ph type="title"/>
          </p:nvPr>
        </p:nvSpPr>
        <p:spPr>
          <a:xfrm>
            <a:off x="836676" y="61277"/>
            <a:ext cx="11105942" cy="1325563"/>
          </a:xfrm>
        </p:spPr>
        <p:txBody>
          <a:bodyPr vert="horz" lIns="91440" tIns="45720" rIns="91440" bIns="45720" rtlCol="0" anchor="ctr">
            <a:normAutofit/>
          </a:bodyPr>
          <a:lstStyle/>
          <a:p>
            <a:r>
              <a:rPr lang="en-US" sz="4000" dirty="0"/>
              <a:t>New DTC 3Ts WG Charter (Proposed):</a:t>
            </a:r>
          </a:p>
        </p:txBody>
      </p:sp>
      <p:sp>
        <p:nvSpPr>
          <p:cNvPr id="21" name="Content Placeholder 20">
            <a:extLst>
              <a:ext uri="{FF2B5EF4-FFF2-40B4-BE49-F238E27FC236}">
                <a16:creationId xmlns:a16="http://schemas.microsoft.com/office/drawing/2014/main" id="{8286D15E-D545-4E33-A2A8-CBBC1B190868}"/>
              </a:ext>
            </a:extLst>
          </p:cNvPr>
          <p:cNvSpPr>
            <a:spLocks noGrp="1"/>
          </p:cNvSpPr>
          <p:nvPr>
            <p:ph idx="1"/>
          </p:nvPr>
        </p:nvSpPr>
        <p:spPr>
          <a:xfrm>
            <a:off x="161925" y="1657350"/>
            <a:ext cx="11780693" cy="5064125"/>
          </a:xfrm>
        </p:spPr>
        <p:txBody>
          <a:bodyPr>
            <a:normAutofit/>
          </a:bodyPr>
          <a:lstStyle/>
          <a:p>
            <a:pPr marL="0" indent="0">
              <a:buNone/>
            </a:pPr>
            <a:r>
              <a:rPr lang="en-CA" sz="1400" b="1" dirty="0">
                <a:solidFill>
                  <a:srgbClr val="000000"/>
                </a:solidFill>
                <a:effectLst/>
                <a:latin typeface="Calibri" panose="020F0502020204030204" pitchFamily="34" charset="0"/>
                <a:ea typeface="Calibri" panose="020F0502020204030204" pitchFamily="34" charset="0"/>
              </a:rPr>
              <a:t>3Ts Group is a horizontal group, that is meant to collaborate and gather feedback from all groups, subgroups, and tiger teams at the DTC to meet the following objectives:  </a:t>
            </a:r>
            <a:endParaRPr lang="en-CA" sz="14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CA" sz="1400" b="1" dirty="0">
                <a:solidFill>
                  <a:srgbClr val="000000"/>
                </a:solidFill>
                <a:latin typeface="Calibri" panose="020F0502020204030204" pitchFamily="34" charset="0"/>
                <a:ea typeface="Calibri" panose="020F0502020204030204" pitchFamily="34" charset="0"/>
              </a:rPr>
              <a:t>D</a:t>
            </a:r>
            <a:r>
              <a:rPr lang="en-CA" sz="1400" b="1" dirty="0">
                <a:solidFill>
                  <a:srgbClr val="000000"/>
                </a:solidFill>
                <a:effectLst/>
                <a:latin typeface="Calibri" panose="020F0502020204030204" pitchFamily="34" charset="0"/>
                <a:ea typeface="Calibri" panose="020F0502020204030204" pitchFamily="34" charset="0"/>
              </a:rPr>
              <a:t>efine </a:t>
            </a:r>
            <a:r>
              <a:rPr lang="en-CA" sz="1400" dirty="0">
                <a:solidFill>
                  <a:srgbClr val="000000"/>
                </a:solidFill>
                <a:effectLst/>
                <a:latin typeface="Calibri" panose="020F0502020204030204" pitchFamily="34" charset="0"/>
                <a:ea typeface="Calibri" panose="020F0502020204030204" pitchFamily="34" charset="0"/>
              </a:rPr>
              <a:t>a consistent standard definition for “Digital Twin” across multiple industries </a:t>
            </a:r>
            <a:endParaRPr lang="en-CA" sz="1400" dirty="0">
              <a:effectLst/>
              <a:latin typeface="Calibri" panose="020F0502020204030204" pitchFamily="34" charset="0"/>
              <a:ea typeface="Calibri" panose="020F0502020204030204" pitchFamily="34" charset="0"/>
            </a:endParaRPr>
          </a:p>
          <a:p>
            <a:pPr marL="742950" lvl="1" indent="-285750">
              <a:buFont typeface="Courier New" panose="02070309020205020404" pitchFamily="49" charset="0"/>
              <a:buChar char="o"/>
            </a:pPr>
            <a:r>
              <a:rPr lang="en-CA" sz="1400" dirty="0">
                <a:solidFill>
                  <a:srgbClr val="000000"/>
                </a:solidFill>
                <a:effectLst/>
                <a:latin typeface="Calibri" panose="020F0502020204030204" pitchFamily="34" charset="0"/>
                <a:ea typeface="Calibri" panose="020F0502020204030204" pitchFamily="34" charset="0"/>
              </a:rPr>
              <a:t>Define what describes a digital twin, why is it used and how it is applied   </a:t>
            </a:r>
            <a:endParaRPr lang="en-CA" sz="1400" dirty="0">
              <a:effectLst/>
              <a:latin typeface="Calibri" panose="020F0502020204030204" pitchFamily="34" charset="0"/>
              <a:ea typeface="Calibri" panose="020F0502020204030204" pitchFamily="34" charset="0"/>
            </a:endParaRPr>
          </a:p>
          <a:p>
            <a:pPr marL="742950" lvl="1" indent="-285750">
              <a:buFont typeface="Courier New" panose="02070309020205020404" pitchFamily="49" charset="0"/>
              <a:buChar char="o"/>
            </a:pPr>
            <a:r>
              <a:rPr lang="en-CA" sz="1400" dirty="0">
                <a:solidFill>
                  <a:srgbClr val="000000"/>
                </a:solidFill>
                <a:effectLst/>
                <a:latin typeface="Calibri" panose="020F0502020204030204" pitchFamily="34" charset="0"/>
                <a:ea typeface="Calibri" panose="020F0502020204030204" pitchFamily="34" charset="0"/>
              </a:rPr>
              <a:t>Create a concentrated multi-party (industry enterprise, non-profit, and academic) effort to harmonize terminology and representations of Digital Twins, and put forward a single authoritative vocabulary </a:t>
            </a:r>
            <a:endParaRPr lang="en-CA" sz="14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CA" sz="1400" b="1" dirty="0">
                <a:solidFill>
                  <a:srgbClr val="000000"/>
                </a:solidFill>
                <a:latin typeface="Calibri" panose="020F0502020204030204" pitchFamily="34" charset="0"/>
                <a:ea typeface="Calibri" panose="020F0502020204030204" pitchFamily="34" charset="0"/>
              </a:rPr>
              <a:t>E</a:t>
            </a:r>
            <a:r>
              <a:rPr lang="en-CA" sz="1400" b="1" dirty="0">
                <a:solidFill>
                  <a:srgbClr val="000000"/>
                </a:solidFill>
                <a:effectLst/>
                <a:latin typeface="Calibri" panose="020F0502020204030204" pitchFamily="34" charset="0"/>
                <a:ea typeface="Calibri" panose="020F0502020204030204" pitchFamily="34" charset="0"/>
              </a:rPr>
              <a:t>xplore </a:t>
            </a:r>
            <a:r>
              <a:rPr lang="en-CA" sz="1400" dirty="0">
                <a:solidFill>
                  <a:srgbClr val="000000"/>
                </a:solidFill>
                <a:effectLst/>
                <a:latin typeface="Calibri" panose="020F0502020204030204" pitchFamily="34" charset="0"/>
                <a:ea typeface="Calibri" panose="020F0502020204030204" pitchFamily="34" charset="0"/>
              </a:rPr>
              <a:t>types of digital twins used in the market, and define relationships between them</a:t>
            </a:r>
            <a:endParaRPr lang="en-CA" sz="1400" dirty="0">
              <a:effectLst/>
              <a:latin typeface="Calibri" panose="020F0502020204030204" pitchFamily="34" charset="0"/>
              <a:ea typeface="Calibri" panose="020F0502020204030204" pitchFamily="34" charset="0"/>
            </a:endParaRPr>
          </a:p>
          <a:p>
            <a:pPr marL="742950" lvl="1" indent="-285750">
              <a:buFont typeface="Courier New" panose="02070309020205020404" pitchFamily="49" charset="0"/>
              <a:buChar char="o"/>
            </a:pPr>
            <a:r>
              <a:rPr lang="en-CA" sz="1400" dirty="0">
                <a:solidFill>
                  <a:srgbClr val="000000"/>
                </a:solidFill>
                <a:effectLst/>
                <a:latin typeface="Calibri" panose="020F0502020204030204" pitchFamily="34" charset="0"/>
                <a:ea typeface="Calibri" panose="020F0502020204030204" pitchFamily="34" charset="0"/>
              </a:rPr>
              <a:t>Applicability of each type of digital twin, and their relationships to existing business applications to maximize the value of digital twins’ </a:t>
            </a:r>
            <a:endParaRPr lang="en-CA" sz="14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CA" sz="1400" dirty="0">
                <a:solidFill>
                  <a:srgbClr val="000000"/>
                </a:solidFill>
                <a:effectLst/>
                <a:latin typeface="Calibri" panose="020F0502020204030204" pitchFamily="34" charset="0"/>
                <a:ea typeface="Calibri" panose="020F0502020204030204" pitchFamily="34" charset="0"/>
              </a:rPr>
              <a:t> </a:t>
            </a:r>
            <a:r>
              <a:rPr lang="en-CA" sz="1400" b="1" dirty="0">
                <a:solidFill>
                  <a:srgbClr val="000000"/>
                </a:solidFill>
                <a:effectLst/>
                <a:latin typeface="Calibri" panose="020F0502020204030204" pitchFamily="34" charset="0"/>
                <a:ea typeface="Calibri" panose="020F0502020204030204" pitchFamily="34" charset="0"/>
              </a:rPr>
              <a:t>Identify</a:t>
            </a:r>
            <a:r>
              <a:rPr lang="en-CA" sz="1400" dirty="0">
                <a:solidFill>
                  <a:srgbClr val="000000"/>
                </a:solidFill>
                <a:effectLst/>
                <a:latin typeface="Calibri" panose="020F0502020204030204" pitchFamily="34" charset="0"/>
                <a:ea typeface="Calibri" panose="020F0502020204030204" pitchFamily="34" charset="0"/>
              </a:rPr>
              <a:t> technical components -led by Platform Stack Tiger Team- needed to build digital twins to support a wide range of business activities</a:t>
            </a:r>
            <a:endParaRPr lang="en-CA" sz="1400" dirty="0">
              <a:effectLst/>
              <a:latin typeface="Calibri" panose="020F0502020204030204" pitchFamily="34" charset="0"/>
              <a:ea typeface="Calibri" panose="020F0502020204030204" pitchFamily="34" charset="0"/>
            </a:endParaRPr>
          </a:p>
          <a:p>
            <a:pPr marL="742950" lvl="1" indent="-285750">
              <a:buFont typeface="Courier New" panose="02070309020205020404" pitchFamily="49" charset="0"/>
              <a:buChar char="o"/>
            </a:pPr>
            <a:r>
              <a:rPr lang="en-CA" sz="1400" dirty="0">
                <a:solidFill>
                  <a:srgbClr val="000000"/>
                </a:solidFill>
                <a:effectLst/>
                <a:latin typeface="Calibri" panose="020F0502020204030204" pitchFamily="34" charset="0"/>
                <a:ea typeface="Calibri" panose="020F0502020204030204" pitchFamily="34" charset="0"/>
              </a:rPr>
              <a:t>Identify enabling technologies for Digital Twins, and create a reference architecture </a:t>
            </a:r>
            <a:endParaRPr lang="en-CA" sz="14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GB" sz="1400" b="1" dirty="0">
                <a:solidFill>
                  <a:srgbClr val="000000"/>
                </a:solidFill>
                <a:latin typeface="Calibri" panose="020F0502020204030204" pitchFamily="34" charset="0"/>
                <a:ea typeface="Calibri" panose="020F0502020204030204" pitchFamily="34" charset="0"/>
              </a:rPr>
              <a:t>A</a:t>
            </a:r>
            <a:r>
              <a:rPr lang="en-GB" sz="1400" b="1" dirty="0">
                <a:solidFill>
                  <a:srgbClr val="000000"/>
                </a:solidFill>
                <a:effectLst/>
                <a:latin typeface="Calibri" panose="020F0502020204030204" pitchFamily="34" charset="0"/>
                <a:ea typeface="Calibri" panose="020F0502020204030204" pitchFamily="34" charset="0"/>
              </a:rPr>
              <a:t>ddress</a:t>
            </a:r>
            <a:r>
              <a:rPr lang="en-GB" sz="1400" dirty="0">
                <a:solidFill>
                  <a:srgbClr val="000000"/>
                </a:solidFill>
                <a:effectLst/>
                <a:latin typeface="Calibri" panose="020F0502020204030204" pitchFamily="34" charset="0"/>
                <a:ea typeface="Calibri" panose="020F0502020204030204" pitchFamily="34" charset="0"/>
              </a:rPr>
              <a:t> the need for industry security and compliance requirements as Digital Twins become more interoperable</a:t>
            </a:r>
            <a:r>
              <a:rPr lang="en-GB" sz="1400" b="1" dirty="0">
                <a:solidFill>
                  <a:srgbClr val="000000"/>
                </a:solidFill>
                <a:effectLst/>
                <a:latin typeface="Calibri" panose="020F0502020204030204" pitchFamily="34" charset="0"/>
                <a:ea typeface="Calibri" panose="020F0502020204030204" pitchFamily="34" charset="0"/>
              </a:rPr>
              <a:t>,</a:t>
            </a:r>
            <a:r>
              <a:rPr lang="en-GB" sz="1400" dirty="0">
                <a:solidFill>
                  <a:srgbClr val="000000"/>
                </a:solidFill>
                <a:effectLst/>
                <a:latin typeface="Calibri" panose="020F0502020204030204" pitchFamily="34" charset="0"/>
                <a:ea typeface="Calibri" panose="020F0502020204030204" pitchFamily="34" charset="0"/>
              </a:rPr>
              <a:t> and create a model and best practices across industries, guided by the Security and Trustworthiness subgroup</a:t>
            </a:r>
            <a:endParaRPr lang="en-CA" sz="1400" dirty="0">
              <a:effectLst/>
              <a:latin typeface="Calibri" panose="020F0502020204030204" pitchFamily="34" charset="0"/>
              <a:ea typeface="Calibri" panose="020F0502020204030204" pitchFamily="34" charset="0"/>
            </a:endParaRPr>
          </a:p>
          <a:p>
            <a:pPr marL="342900" lvl="0" indent="-342900">
              <a:buFont typeface="Calibri" panose="020F0502020204030204" pitchFamily="34" charset="0"/>
              <a:buChar char="-"/>
            </a:pPr>
            <a:r>
              <a:rPr lang="en-CA" sz="1400" b="1" dirty="0">
                <a:solidFill>
                  <a:srgbClr val="000000"/>
                </a:solidFill>
                <a:latin typeface="Calibri" panose="020F0502020204030204" pitchFamily="34" charset="0"/>
                <a:ea typeface="Calibri" panose="020F0502020204030204" pitchFamily="34" charset="0"/>
              </a:rPr>
              <a:t>Develop </a:t>
            </a:r>
            <a:r>
              <a:rPr lang="en-CA" sz="1400" dirty="0">
                <a:solidFill>
                  <a:srgbClr val="000000"/>
                </a:solidFill>
                <a:latin typeface="Calibri" panose="020F0502020204030204" pitchFamily="34" charset="0"/>
                <a:ea typeface="Calibri" panose="020F0502020204030204" pitchFamily="34" charset="0"/>
              </a:rPr>
              <a:t>a digital</a:t>
            </a:r>
            <a:r>
              <a:rPr lang="en-CA" sz="1400" dirty="0">
                <a:solidFill>
                  <a:srgbClr val="000000"/>
                </a:solidFill>
                <a:effectLst/>
                <a:latin typeface="Calibri" panose="020F0502020204030204" pitchFamily="34" charset="0"/>
                <a:ea typeface="Calibri" panose="020F0502020204030204" pitchFamily="34" charset="0"/>
              </a:rPr>
              <a:t> business maturity framework to help businesses achieve measurable outcomes with successful implementation and adoption of Digital Twins</a:t>
            </a:r>
            <a:endParaRPr lang="en-CA" sz="1400" dirty="0">
              <a:effectLst/>
              <a:latin typeface="Calibri" panose="020F0502020204030204" pitchFamily="34" charset="0"/>
              <a:ea typeface="Calibri" panose="020F0502020204030204" pitchFamily="34" charset="0"/>
            </a:endParaRPr>
          </a:p>
          <a:p>
            <a:pPr marL="742950" lvl="1" indent="-285750">
              <a:buFont typeface="Courier New" panose="02070309020205020404" pitchFamily="49" charset="0"/>
              <a:buChar char="o"/>
            </a:pPr>
            <a:r>
              <a:rPr lang="en-CA" sz="1400" dirty="0">
                <a:solidFill>
                  <a:srgbClr val="000000"/>
                </a:solidFill>
                <a:effectLst/>
                <a:latin typeface="Calibri" panose="020F0502020204030204" pitchFamily="34" charset="0"/>
                <a:ea typeface="Calibri" panose="020F0502020204030204" pitchFamily="34" charset="0"/>
              </a:rPr>
              <a:t>Define levels of business maturity, and organizational areas that affects implementation and adoption of Digital Twins </a:t>
            </a:r>
          </a:p>
          <a:p>
            <a:pPr marL="742950" lvl="1" indent="-285750">
              <a:buFont typeface="Courier New" panose="02070309020205020404" pitchFamily="49" charset="0"/>
              <a:buChar char="o"/>
            </a:pPr>
            <a:r>
              <a:rPr lang="en-CA" sz="1400" dirty="0">
                <a:solidFill>
                  <a:srgbClr val="000000"/>
                </a:solidFill>
                <a:effectLst/>
                <a:latin typeface="Calibri" panose="020F0502020204030204" pitchFamily="34" charset="0"/>
                <a:ea typeface="Calibri" panose="020F0502020204030204" pitchFamily="34" charset="0"/>
              </a:rPr>
              <a:t>Provide a </a:t>
            </a:r>
            <a:r>
              <a:rPr lang="en-CA" sz="1400" dirty="0">
                <a:solidFill>
                  <a:srgbClr val="000000"/>
                </a:solidFill>
                <a:latin typeface="Calibri" panose="020F0502020204030204" pitchFamily="34" charset="0"/>
                <a:ea typeface="Calibri" panose="020F0502020204030204" pitchFamily="34" charset="0"/>
              </a:rPr>
              <a:t>roadmap </a:t>
            </a:r>
            <a:r>
              <a:rPr lang="en-CA" sz="1400" dirty="0">
                <a:solidFill>
                  <a:srgbClr val="000000"/>
                </a:solidFill>
                <a:effectLst/>
                <a:latin typeface="Calibri" panose="020F0502020204030204" pitchFamily="34" charset="0"/>
                <a:ea typeface="Calibri" panose="020F0502020204030204" pitchFamily="34" charset="0"/>
              </a:rPr>
              <a:t>for businesses depending on their maturity level to implement Digital Twins </a:t>
            </a:r>
            <a:endParaRPr lang="en-CA" sz="1400" dirty="0">
              <a:effectLst/>
              <a:latin typeface="Calibri" panose="020F0502020204030204" pitchFamily="34" charset="0"/>
              <a:ea typeface="Calibri" panose="020F0502020204030204" pitchFamily="34" charset="0"/>
            </a:endParaRPr>
          </a:p>
          <a:p>
            <a:pPr marL="742950" lvl="1" indent="-285750">
              <a:buFont typeface="Courier New" panose="02070309020205020404" pitchFamily="49" charset="0"/>
              <a:buChar char="o"/>
            </a:pPr>
            <a:r>
              <a:rPr lang="en-CA" sz="1400" dirty="0">
                <a:solidFill>
                  <a:srgbClr val="000000"/>
                </a:solidFill>
                <a:effectLst/>
                <a:latin typeface="Calibri" panose="020F0502020204030204" pitchFamily="34" charset="0"/>
                <a:ea typeface="Calibri" panose="020F0502020204030204" pitchFamily="34" charset="0"/>
              </a:rPr>
              <a:t>Guide successful implementations by embedding Digital Twins at the core of business operating model </a:t>
            </a:r>
            <a:endParaRPr lang="en-CA" sz="1400" dirty="0">
              <a:effectLst/>
              <a:latin typeface="Calibri" panose="020F0502020204030204" pitchFamily="34" charset="0"/>
              <a:ea typeface="Calibri" panose="020F0502020204030204" pitchFamily="34" charset="0"/>
            </a:endParaRPr>
          </a:p>
          <a:p>
            <a:pPr marL="0" indent="0">
              <a:buNone/>
            </a:pPr>
            <a:r>
              <a:rPr lang="en-US" sz="1400" dirty="0">
                <a:solidFill>
                  <a:srgbClr val="000000"/>
                </a:solidFill>
                <a:latin typeface="Calibri" panose="020F0502020204030204" pitchFamily="34" charset="0"/>
              </a:rPr>
              <a:t>The 3Ts working group will consolidate vertical WG efforts to publish opinions and position statements, and establish DTC’s authority &amp; thought leadership, definitions, launch of Value Innovation Platforms, identification of gaps in Standards, taxonomy, and reference architectures.</a:t>
            </a:r>
          </a:p>
          <a:p>
            <a:endParaRPr lang="en-US" dirty="0"/>
          </a:p>
        </p:txBody>
      </p:sp>
      <p:sp>
        <p:nvSpPr>
          <p:cNvPr id="2" name="Rectangle 1">
            <a:extLst>
              <a:ext uri="{FF2B5EF4-FFF2-40B4-BE49-F238E27FC236}">
                <a16:creationId xmlns:a16="http://schemas.microsoft.com/office/drawing/2014/main" id="{70CD35E1-9BF4-4EB8-AF81-EF273A483155}"/>
              </a:ext>
            </a:extLst>
          </p:cNvPr>
          <p:cNvSpPr/>
          <p:nvPr/>
        </p:nvSpPr>
        <p:spPr>
          <a:xfrm rot="19750551">
            <a:off x="1223760" y="2639417"/>
            <a:ext cx="7586425" cy="2646878"/>
          </a:xfrm>
          <a:prstGeom prst="rect">
            <a:avLst/>
          </a:prstGeom>
          <a:noFill/>
        </p:spPr>
        <p:txBody>
          <a:bodyPr wrap="square" lIns="91440" tIns="45720" rIns="91440" bIns="45720">
            <a:spAutoFit/>
          </a:bodyPr>
          <a:lstStyle/>
          <a:p>
            <a:pPr algn="ctr"/>
            <a:r>
              <a:rPr lang="en-US" sz="16600" cap="none" spc="50" dirty="0">
                <a:ln w="0"/>
                <a:solidFill>
                  <a:schemeClr val="bg1">
                    <a:lumMod val="95000"/>
                  </a:schemeClr>
                </a:solidFill>
                <a:effectLst>
                  <a:innerShdw blurRad="63500" dist="50800" dir="13500000">
                    <a:srgbClr val="000000">
                      <a:alpha val="50000"/>
                    </a:srgbClr>
                  </a:innerShdw>
                </a:effectLst>
              </a:rPr>
              <a:t>DRAFT</a:t>
            </a:r>
          </a:p>
        </p:txBody>
      </p:sp>
    </p:spTree>
    <p:extLst>
      <p:ext uri="{BB962C8B-B14F-4D97-AF65-F5344CB8AC3E}">
        <p14:creationId xmlns:p14="http://schemas.microsoft.com/office/powerpoint/2010/main" val="250407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80E8-6D23-490F-9781-2C14A2F0A6A5}"/>
              </a:ext>
            </a:extLst>
          </p:cNvPr>
          <p:cNvSpPr>
            <a:spLocks noGrp="1"/>
          </p:cNvSpPr>
          <p:nvPr>
            <p:ph type="ctrTitle"/>
          </p:nvPr>
        </p:nvSpPr>
        <p:spPr>
          <a:xfrm>
            <a:off x="1322111" y="2953883"/>
            <a:ext cx="9144000" cy="1303596"/>
          </a:xfrm>
        </p:spPr>
        <p:txBody>
          <a:bodyPr>
            <a:normAutofit fontScale="90000"/>
          </a:bodyPr>
          <a:lstStyle/>
          <a:p>
            <a:r>
              <a:rPr lang="en-GB" dirty="0"/>
              <a:t>Definition and Phase II Update</a:t>
            </a:r>
          </a:p>
        </p:txBody>
      </p:sp>
      <p:sp>
        <p:nvSpPr>
          <p:cNvPr id="5" name="Subtitle 4">
            <a:extLst>
              <a:ext uri="{FF2B5EF4-FFF2-40B4-BE49-F238E27FC236}">
                <a16:creationId xmlns:a16="http://schemas.microsoft.com/office/drawing/2014/main" id="{119270FC-1A3A-4FA0-9EBE-F01EE1D30161}"/>
              </a:ext>
            </a:extLst>
          </p:cNvPr>
          <p:cNvSpPr>
            <a:spLocks noGrp="1"/>
          </p:cNvSpPr>
          <p:nvPr>
            <p:ph type="subTitle" idx="1"/>
          </p:nvPr>
        </p:nvSpPr>
        <p:spPr/>
        <p:txBody>
          <a:bodyPr>
            <a:normAutofit fontScale="92500" lnSpcReduction="20000"/>
          </a:bodyPr>
          <a:lstStyle/>
          <a:p>
            <a:endParaRPr lang="en-US" sz="3200" dirty="0"/>
          </a:p>
        </p:txBody>
      </p:sp>
    </p:spTree>
    <p:extLst>
      <p:ext uri="{BB962C8B-B14F-4D97-AF65-F5344CB8AC3E}">
        <p14:creationId xmlns:p14="http://schemas.microsoft.com/office/powerpoint/2010/main" val="4285583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E3AA82-77FA-4D99-8141-924DFC3953EB}"/>
              </a:ext>
            </a:extLst>
          </p:cNvPr>
          <p:cNvSpPr>
            <a:spLocks noGrp="1"/>
          </p:cNvSpPr>
          <p:nvPr>
            <p:ph idx="1"/>
          </p:nvPr>
        </p:nvSpPr>
        <p:spPr>
          <a:xfrm>
            <a:off x="819470" y="2082240"/>
            <a:ext cx="5276530" cy="3820830"/>
          </a:xfrm>
        </p:spPr>
        <p:txBody>
          <a:bodyPr>
            <a:normAutofit fontScale="92500" lnSpcReduction="20000"/>
          </a:bodyPr>
          <a:lstStyle/>
          <a:p>
            <a:pPr marL="0" marR="0" indent="0">
              <a:lnSpc>
                <a:spcPct val="105000"/>
              </a:lnSpc>
              <a:spcBef>
                <a:spcPts val="1200"/>
              </a:spcBef>
              <a:spcAft>
                <a:spcPts val="0"/>
              </a:spcAft>
              <a:buNone/>
            </a:pPr>
            <a:endParaRPr lang="en-US" sz="1900" b="1" dirty="0">
              <a:solidFill>
                <a:srgbClr val="002060"/>
              </a:solidFill>
              <a:latin typeface="Calibri Light" panose="020F0302020204030204" pitchFamily="34" charset="0"/>
              <a:ea typeface="Times New Roman" panose="02020603050405020304" pitchFamily="18" charset="0"/>
            </a:endParaRPr>
          </a:p>
          <a:p>
            <a:pPr marL="0" marR="0" indent="0">
              <a:lnSpc>
                <a:spcPct val="105000"/>
              </a:lnSpc>
              <a:spcBef>
                <a:spcPts val="1200"/>
              </a:spcBef>
              <a:spcAft>
                <a:spcPts val="0"/>
              </a:spcAft>
              <a:buNone/>
            </a:pPr>
            <a:r>
              <a:rPr lang="en-US" sz="1900" b="1" dirty="0">
                <a:solidFill>
                  <a:srgbClr val="002060"/>
                </a:solidFill>
                <a:latin typeface="Calibri Light" panose="020F0302020204030204" pitchFamily="34" charset="0"/>
                <a:ea typeface="Times New Roman" panose="02020603050405020304" pitchFamily="18" charset="0"/>
              </a:rPr>
              <a:t> </a:t>
            </a:r>
            <a:r>
              <a:rPr lang="en-US" sz="1900" b="1" u="sng" dirty="0">
                <a:solidFill>
                  <a:srgbClr val="002060"/>
                </a:solidFill>
                <a:latin typeface="Calibri Light" panose="020F0302020204030204" pitchFamily="34" charset="0"/>
                <a:ea typeface="Times New Roman" panose="02020603050405020304" pitchFamily="18" charset="0"/>
              </a:rPr>
              <a:t>Introduction and  Scope</a:t>
            </a:r>
            <a:endParaRPr lang="en-US" sz="100" b="1" u="sng" dirty="0">
              <a:solidFill>
                <a:srgbClr val="2F5496"/>
              </a:solidFill>
              <a:latin typeface="Calibri Light" panose="020F0302020204030204" pitchFamily="34" charset="0"/>
              <a:ea typeface="Calibri" panose="020F0502020204030204" pitchFamily="34" charset="0"/>
            </a:endParaRPr>
          </a:p>
          <a:p>
            <a:pPr marL="0" marR="0">
              <a:lnSpc>
                <a:spcPct val="105000"/>
              </a:lnSpc>
              <a:spcBef>
                <a:spcPts val="200"/>
              </a:spcBef>
              <a:spcAft>
                <a:spcPts val="0"/>
              </a:spcAft>
            </a:pPr>
            <a:r>
              <a:rPr lang="en-US" sz="1700" b="1" dirty="0">
                <a:solidFill>
                  <a:srgbClr val="2F5496"/>
                </a:solidFill>
                <a:latin typeface="Calibri Light" panose="020F0302020204030204" pitchFamily="34" charset="0"/>
              </a:rPr>
              <a:t>Definition Process</a:t>
            </a:r>
          </a:p>
          <a:p>
            <a:pPr marL="457200" lvl="1">
              <a:lnSpc>
                <a:spcPct val="105000"/>
              </a:lnSpc>
              <a:spcBef>
                <a:spcPts val="200"/>
              </a:spcBef>
            </a:pPr>
            <a:r>
              <a:rPr lang="en-US" sz="1400" b="1" dirty="0">
                <a:solidFill>
                  <a:srgbClr val="1F3763"/>
                </a:solidFill>
                <a:effectLst/>
                <a:latin typeface="Calibri Light" panose="020F0302020204030204" pitchFamily="34" charset="0"/>
                <a:ea typeface="Times New Roman" panose="02020603050405020304" pitchFamily="18" charset="0"/>
              </a:rPr>
              <a:t>What is included</a:t>
            </a:r>
            <a:endParaRPr lang="en-US" sz="1400" b="1" dirty="0">
              <a:solidFill>
                <a:srgbClr val="1F3763"/>
              </a:solidFill>
              <a:effectLst/>
              <a:latin typeface="Calibri Light" panose="020F0302020204030204" pitchFamily="34" charset="0"/>
              <a:ea typeface="Calibri" panose="020F0502020204030204" pitchFamily="34" charset="0"/>
            </a:endParaRPr>
          </a:p>
          <a:p>
            <a:pPr marL="457200" lvl="1">
              <a:lnSpc>
                <a:spcPct val="105000"/>
              </a:lnSpc>
              <a:spcBef>
                <a:spcPts val="200"/>
              </a:spcBef>
            </a:pPr>
            <a:r>
              <a:rPr lang="en-US" sz="1400" b="1" dirty="0">
                <a:solidFill>
                  <a:srgbClr val="1F3763"/>
                </a:solidFill>
                <a:effectLst/>
                <a:latin typeface="Calibri Light" panose="020F0302020204030204" pitchFamily="34" charset="0"/>
                <a:ea typeface="Times New Roman" panose="02020603050405020304" pitchFamily="18" charset="0"/>
              </a:rPr>
              <a:t>What is Excluded</a:t>
            </a:r>
            <a:endParaRPr lang="en-US" sz="1400" b="1" dirty="0">
              <a:solidFill>
                <a:srgbClr val="1F3763"/>
              </a:solidFill>
              <a:effectLst/>
              <a:latin typeface="Calibri Light" panose="020F0302020204030204" pitchFamily="34" charset="0"/>
              <a:ea typeface="Calibri" panose="020F0502020204030204" pitchFamily="34" charset="0"/>
            </a:endParaRPr>
          </a:p>
          <a:p>
            <a:pPr marL="0" indent="0">
              <a:lnSpc>
                <a:spcPct val="105000"/>
              </a:lnSpc>
              <a:spcBef>
                <a:spcPts val="1200"/>
              </a:spcBef>
              <a:buNone/>
            </a:pPr>
            <a:r>
              <a:rPr lang="en-US" sz="1900" b="1" u="sng" dirty="0">
                <a:solidFill>
                  <a:srgbClr val="002060"/>
                </a:solidFill>
                <a:latin typeface="Calibri Light" panose="020F0302020204030204" pitchFamily="34" charset="0"/>
              </a:rPr>
              <a:t>Vocabulary and Terminology</a:t>
            </a:r>
          </a:p>
          <a:p>
            <a:pPr marL="0">
              <a:lnSpc>
                <a:spcPct val="105000"/>
              </a:lnSpc>
              <a:spcBef>
                <a:spcPts val="200"/>
              </a:spcBef>
            </a:pPr>
            <a:r>
              <a:rPr lang="en-US" sz="1700" b="1" dirty="0">
                <a:solidFill>
                  <a:srgbClr val="2F5496"/>
                </a:solidFill>
                <a:latin typeface="Calibri Light" panose="020F0302020204030204" pitchFamily="34" charset="0"/>
              </a:rPr>
              <a:t>Definition</a:t>
            </a:r>
          </a:p>
          <a:p>
            <a:pPr marL="0">
              <a:lnSpc>
                <a:spcPct val="105000"/>
              </a:lnSpc>
              <a:spcBef>
                <a:spcPts val="200"/>
              </a:spcBef>
            </a:pPr>
            <a:r>
              <a:rPr lang="en-US" sz="1700" b="1" dirty="0">
                <a:solidFill>
                  <a:srgbClr val="2F5496"/>
                </a:solidFill>
                <a:latin typeface="Calibri Light" panose="020F0302020204030204" pitchFamily="34" charset="0"/>
                <a:ea typeface="Times New Roman" panose="02020603050405020304" pitchFamily="18" charset="0"/>
              </a:rPr>
              <a:t>Supporting </a:t>
            </a:r>
            <a:r>
              <a:rPr lang="en-US" sz="1700" b="1" dirty="0">
                <a:solidFill>
                  <a:srgbClr val="2F5496"/>
                </a:solidFill>
                <a:effectLst/>
                <a:latin typeface="Calibri Light" panose="020F0302020204030204" pitchFamily="34" charset="0"/>
                <a:ea typeface="Times New Roman" panose="02020603050405020304" pitchFamily="18" charset="0"/>
              </a:rPr>
              <a:t>Statements</a:t>
            </a:r>
          </a:p>
          <a:p>
            <a:pPr marL="0">
              <a:lnSpc>
                <a:spcPct val="105000"/>
              </a:lnSpc>
              <a:spcBef>
                <a:spcPts val="200"/>
              </a:spcBef>
            </a:pPr>
            <a:r>
              <a:rPr lang="en-US" sz="1700" b="1" dirty="0">
                <a:solidFill>
                  <a:srgbClr val="2F5496"/>
                </a:solidFill>
                <a:latin typeface="Calibri Light" panose="020F0302020204030204" pitchFamily="34" charset="0"/>
                <a:ea typeface="Calibri" panose="020F0502020204030204" pitchFamily="34" charset="0"/>
              </a:rPr>
              <a:t>Elaboration Description</a:t>
            </a:r>
          </a:p>
          <a:p>
            <a:pPr marL="0">
              <a:lnSpc>
                <a:spcPct val="105000"/>
              </a:lnSpc>
              <a:spcBef>
                <a:spcPts val="200"/>
              </a:spcBef>
            </a:pPr>
            <a:endParaRPr lang="en-US" sz="1700" b="1" dirty="0">
              <a:solidFill>
                <a:srgbClr val="2F5496"/>
              </a:solidFill>
              <a:latin typeface="Calibri Light" panose="020F0302020204030204" pitchFamily="34" charset="0"/>
              <a:ea typeface="Calibri" panose="020F0502020204030204" pitchFamily="34" charset="0"/>
            </a:endParaRPr>
          </a:p>
          <a:p>
            <a:pPr marL="0" indent="0">
              <a:lnSpc>
                <a:spcPct val="105000"/>
              </a:lnSpc>
              <a:spcBef>
                <a:spcPts val="200"/>
              </a:spcBef>
              <a:buNone/>
            </a:pPr>
            <a:r>
              <a:rPr lang="en-US" sz="1800" b="1" dirty="0">
                <a:solidFill>
                  <a:srgbClr val="2F5496"/>
                </a:solidFill>
                <a:effectLst/>
                <a:latin typeface="Calibri Light" panose="020F0302020204030204" pitchFamily="34" charset="0"/>
                <a:ea typeface="Calibri" panose="020F0502020204030204" pitchFamily="34" charset="0"/>
              </a:rPr>
              <a:t>TBD: </a:t>
            </a:r>
          </a:p>
          <a:p>
            <a:pPr marL="0" indent="0">
              <a:lnSpc>
                <a:spcPct val="125000"/>
              </a:lnSpc>
              <a:spcBef>
                <a:spcPts val="1200"/>
              </a:spcBef>
              <a:buNone/>
            </a:pPr>
            <a:r>
              <a:rPr lang="en-US" sz="1800" b="1" u="sng" dirty="0">
                <a:solidFill>
                  <a:srgbClr val="002060"/>
                </a:solidFill>
                <a:latin typeface="Calibri Light" panose="020F0302020204030204" pitchFamily="34" charset="0"/>
              </a:rPr>
              <a:t>Types of Digital Twins</a:t>
            </a:r>
          </a:p>
          <a:p>
            <a:pPr marL="0">
              <a:lnSpc>
                <a:spcPct val="115000"/>
              </a:lnSpc>
              <a:spcBef>
                <a:spcPts val="200"/>
              </a:spcBef>
            </a:pPr>
            <a:r>
              <a:rPr lang="en-US" sz="1400" b="1" dirty="0">
                <a:solidFill>
                  <a:srgbClr val="2F5496"/>
                </a:solidFill>
                <a:latin typeface="Calibri Light" panose="020F0302020204030204" pitchFamily="34" charset="0"/>
              </a:rPr>
              <a:t>High level view - Taxonomy</a:t>
            </a:r>
          </a:p>
          <a:p>
            <a:pPr marL="0" marR="0" indent="0">
              <a:lnSpc>
                <a:spcPct val="105000"/>
              </a:lnSpc>
              <a:spcBef>
                <a:spcPts val="1200"/>
              </a:spcBef>
              <a:spcAft>
                <a:spcPts val="0"/>
              </a:spcAft>
              <a:buNone/>
            </a:pPr>
            <a:endParaRPr lang="en-US" sz="1400" dirty="0"/>
          </a:p>
        </p:txBody>
      </p:sp>
      <p:sp>
        <p:nvSpPr>
          <p:cNvPr id="4" name="Slide Number Placeholder 3">
            <a:extLst>
              <a:ext uri="{FF2B5EF4-FFF2-40B4-BE49-F238E27FC236}">
                <a16:creationId xmlns:a16="http://schemas.microsoft.com/office/drawing/2014/main" id="{4DFA833E-A589-4880-A385-849B16DBC6B7}"/>
              </a:ext>
            </a:extLst>
          </p:cNvPr>
          <p:cNvSpPr>
            <a:spLocks noGrp="1"/>
          </p:cNvSpPr>
          <p:nvPr>
            <p:ph type="sldNum" sz="quarter" idx="16"/>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A358FA9-F386-4A12-B482-464C32CE5754}"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5C0A1844-61C8-40D2-9B08-F1E85D975084}"/>
              </a:ext>
            </a:extLst>
          </p:cNvPr>
          <p:cNvSpPr>
            <a:spLocks noGrp="1"/>
          </p:cNvSpPr>
          <p:nvPr>
            <p:ph type="title"/>
          </p:nvPr>
        </p:nvSpPr>
        <p:spPr>
          <a:xfrm>
            <a:off x="836676" y="61277"/>
            <a:ext cx="10898124" cy="1325563"/>
          </a:xfrm>
        </p:spPr>
        <p:txBody>
          <a:bodyPr>
            <a:normAutofit fontScale="90000"/>
          </a:bodyPr>
          <a:lstStyle/>
          <a:p>
            <a:r>
              <a:rPr lang="en-US" dirty="0"/>
              <a:t>Technical Reports: Phased Release Proposal</a:t>
            </a:r>
          </a:p>
        </p:txBody>
      </p:sp>
      <p:sp>
        <p:nvSpPr>
          <p:cNvPr id="8" name="Content Placeholder 1">
            <a:extLst>
              <a:ext uri="{FF2B5EF4-FFF2-40B4-BE49-F238E27FC236}">
                <a16:creationId xmlns:a16="http://schemas.microsoft.com/office/drawing/2014/main" id="{E4A5104A-A0D4-4A9E-94C0-FA5E8EF7F98C}"/>
              </a:ext>
            </a:extLst>
          </p:cNvPr>
          <p:cNvSpPr txBox="1">
            <a:spLocks/>
          </p:cNvSpPr>
          <p:nvPr/>
        </p:nvSpPr>
        <p:spPr>
          <a:xfrm>
            <a:off x="4793039" y="1962883"/>
            <a:ext cx="5827889" cy="46791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F7941D"/>
              </a:buClr>
              <a:buSzPct val="100000"/>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nSpc>
                <a:spcPct val="115000"/>
              </a:lnSpc>
              <a:spcBef>
                <a:spcPts val="1200"/>
              </a:spcBef>
              <a:spcAft>
                <a:spcPts val="0"/>
              </a:spcAft>
              <a:buNone/>
            </a:pPr>
            <a:endParaRPr lang="en-US" sz="1900" b="1" dirty="0">
              <a:solidFill>
                <a:srgbClr val="002060"/>
              </a:solidFill>
              <a:latin typeface="Calibri Light" panose="020F0302020204030204" pitchFamily="34" charset="0"/>
            </a:endParaRPr>
          </a:p>
          <a:p>
            <a:pPr marL="0" marR="0" indent="0">
              <a:lnSpc>
                <a:spcPct val="115000"/>
              </a:lnSpc>
              <a:spcBef>
                <a:spcPts val="1200"/>
              </a:spcBef>
              <a:spcAft>
                <a:spcPts val="0"/>
              </a:spcAft>
              <a:buNone/>
            </a:pPr>
            <a:r>
              <a:rPr lang="en-US" sz="1900" b="1" u="sng" dirty="0">
                <a:solidFill>
                  <a:srgbClr val="002060"/>
                </a:solidFill>
                <a:latin typeface="Calibri Light" panose="020F0302020204030204" pitchFamily="34" charset="0"/>
              </a:rPr>
              <a:t>Platform Stack</a:t>
            </a:r>
          </a:p>
          <a:p>
            <a:pPr marL="0" marR="0">
              <a:lnSpc>
                <a:spcPct val="105000"/>
              </a:lnSpc>
              <a:spcBef>
                <a:spcPts val="200"/>
              </a:spcBef>
              <a:spcAft>
                <a:spcPts val="0"/>
              </a:spcAft>
            </a:pPr>
            <a:r>
              <a:rPr lang="en-US" sz="1700" b="1" dirty="0">
                <a:solidFill>
                  <a:srgbClr val="2F5496"/>
                </a:solidFill>
                <a:effectLst/>
                <a:latin typeface="Calibri Light" panose="020F0302020204030204" pitchFamily="34" charset="0"/>
                <a:ea typeface="Times New Roman" panose="02020603050405020304" pitchFamily="18" charset="0"/>
              </a:rPr>
              <a:t>Layered stack diagram</a:t>
            </a:r>
            <a:endParaRPr lang="en-US" sz="1700" b="1" dirty="0">
              <a:solidFill>
                <a:srgbClr val="2F5496"/>
              </a:solidFill>
              <a:effectLst/>
              <a:latin typeface="Calibri Light" panose="020F0302020204030204" pitchFamily="34" charset="0"/>
              <a:ea typeface="Calibri" panose="020F0502020204030204" pitchFamily="34" charset="0"/>
            </a:endParaRPr>
          </a:p>
          <a:p>
            <a:pPr marL="0" marR="0">
              <a:lnSpc>
                <a:spcPct val="105000"/>
              </a:lnSpc>
              <a:spcBef>
                <a:spcPts val="200"/>
              </a:spcBef>
              <a:spcAft>
                <a:spcPts val="0"/>
              </a:spcAft>
            </a:pPr>
            <a:r>
              <a:rPr lang="en-US" sz="1700" b="1" dirty="0">
                <a:solidFill>
                  <a:srgbClr val="2F5496"/>
                </a:solidFill>
                <a:effectLst/>
                <a:latin typeface="Calibri Light" panose="020F0302020204030204" pitchFamily="34" charset="0"/>
                <a:ea typeface="Times New Roman" panose="02020603050405020304" pitchFamily="18" charset="0"/>
              </a:rPr>
              <a:t>Open Source consideration</a:t>
            </a:r>
            <a:endParaRPr lang="en-US" sz="1700" b="1" dirty="0">
              <a:solidFill>
                <a:srgbClr val="2F5496"/>
              </a:solidFill>
              <a:effectLst/>
              <a:latin typeface="Calibri Light" panose="020F0302020204030204" pitchFamily="34" charset="0"/>
              <a:ea typeface="Calibri" panose="020F0502020204030204" pitchFamily="34" charset="0"/>
            </a:endParaRPr>
          </a:p>
          <a:p>
            <a:pPr marL="0" marR="0">
              <a:lnSpc>
                <a:spcPct val="105000"/>
              </a:lnSpc>
              <a:spcBef>
                <a:spcPts val="200"/>
              </a:spcBef>
              <a:spcAft>
                <a:spcPts val="0"/>
              </a:spcAft>
            </a:pPr>
            <a:r>
              <a:rPr lang="en-US" sz="1700" b="1" dirty="0">
                <a:solidFill>
                  <a:srgbClr val="2F5496"/>
                </a:solidFill>
                <a:effectLst/>
                <a:latin typeface="Calibri Light" panose="020F0302020204030204" pitchFamily="34" charset="0"/>
                <a:ea typeface="Times New Roman" panose="02020603050405020304" pitchFamily="18" charset="0"/>
              </a:rPr>
              <a:t>External Data provisioning</a:t>
            </a:r>
            <a:endParaRPr lang="en-US" sz="1700" b="1" dirty="0">
              <a:solidFill>
                <a:srgbClr val="2F5496"/>
              </a:solidFill>
              <a:effectLst/>
              <a:latin typeface="Calibri Light" panose="020F0302020204030204" pitchFamily="34" charset="0"/>
              <a:ea typeface="Calibri" panose="020F0502020204030204" pitchFamily="34" charset="0"/>
            </a:endParaRPr>
          </a:p>
          <a:p>
            <a:pPr marL="0" indent="0">
              <a:lnSpc>
                <a:spcPct val="115000"/>
              </a:lnSpc>
              <a:spcBef>
                <a:spcPts val="1200"/>
              </a:spcBef>
              <a:buNone/>
            </a:pPr>
            <a:r>
              <a:rPr lang="en-US" sz="1900" b="1" u="sng" dirty="0">
                <a:solidFill>
                  <a:srgbClr val="002060"/>
                </a:solidFill>
                <a:latin typeface="Calibri Light" panose="020F0302020204030204" pitchFamily="34" charset="0"/>
              </a:rPr>
              <a:t>Lifecycle Phases</a:t>
            </a:r>
          </a:p>
          <a:p>
            <a:pPr marL="0">
              <a:lnSpc>
                <a:spcPct val="105000"/>
              </a:lnSpc>
              <a:spcBef>
                <a:spcPts val="200"/>
              </a:spcBef>
            </a:pPr>
            <a:r>
              <a:rPr lang="en-US" sz="1700" b="1" dirty="0">
                <a:solidFill>
                  <a:srgbClr val="2F5496"/>
                </a:solidFill>
                <a:latin typeface="Calibri Light" panose="020F0302020204030204" pitchFamily="34" charset="0"/>
              </a:rPr>
              <a:t>Digital Twin View  (Virtualized)</a:t>
            </a:r>
          </a:p>
          <a:p>
            <a:pPr marL="0">
              <a:lnSpc>
                <a:spcPct val="105000"/>
              </a:lnSpc>
              <a:spcBef>
                <a:spcPts val="200"/>
              </a:spcBef>
            </a:pPr>
            <a:r>
              <a:rPr lang="en-US" sz="1700" b="1" dirty="0">
                <a:solidFill>
                  <a:srgbClr val="2F5496"/>
                </a:solidFill>
                <a:latin typeface="Calibri Light" panose="020F0302020204030204" pitchFamily="34" charset="0"/>
              </a:rPr>
              <a:t>Asset / Entity View  (OT)</a:t>
            </a:r>
          </a:p>
          <a:p>
            <a:pPr marL="0">
              <a:lnSpc>
                <a:spcPct val="105000"/>
              </a:lnSpc>
              <a:spcBef>
                <a:spcPts val="200"/>
              </a:spcBef>
            </a:pPr>
            <a:r>
              <a:rPr lang="en-US" sz="1700" b="1" i="1" dirty="0">
                <a:solidFill>
                  <a:srgbClr val="FF0000"/>
                </a:solidFill>
                <a:latin typeface="Calibri Light" panose="020F0302020204030204" pitchFamily="34" charset="0"/>
              </a:rPr>
              <a:t>Maturity Model</a:t>
            </a:r>
          </a:p>
          <a:p>
            <a:pPr marL="0" marR="0" lvl="0" indent="0" algn="l" defTabSz="914400" rtl="0" eaLnBrk="1" fontAlgn="auto" latinLnBrk="0" hangingPunct="1">
              <a:lnSpc>
                <a:spcPct val="95000"/>
              </a:lnSpc>
              <a:spcBef>
                <a:spcPts val="1200"/>
              </a:spcBef>
              <a:spcAft>
                <a:spcPts val="0"/>
              </a:spcAft>
              <a:buClr>
                <a:srgbClr val="F7941D"/>
              </a:buClr>
              <a:buSzPct val="100000"/>
              <a:buFont typeface="Arial" panose="020B0604020202020204" pitchFamily="34" charset="0"/>
              <a:buNone/>
              <a:tabLst/>
              <a:defRPr/>
            </a:pPr>
            <a:r>
              <a:rPr kumimoji="0" lang="en-US" sz="1800" b="1" i="0" u="sng" strike="noStrike" kern="1200" cap="none" spc="0" normalizeH="0" baseline="0" noProof="0" dirty="0">
                <a:ln>
                  <a:noFill/>
                </a:ln>
                <a:solidFill>
                  <a:srgbClr val="002060"/>
                </a:solidFill>
                <a:effectLst/>
                <a:uLnTx/>
                <a:uFillTx/>
                <a:latin typeface="Calibri Light" panose="020F0302020204030204" pitchFamily="34" charset="0"/>
                <a:ea typeface="+mn-ea"/>
                <a:cs typeface="+mn-cs"/>
              </a:rPr>
              <a:t>Framework </a:t>
            </a: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mn-cs"/>
              </a:rPr>
              <a:t>Common Characteristics</a:t>
            </a: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mn-cs"/>
              </a:rPr>
              <a:t>Enabling Technologies</a:t>
            </a: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mn-cs"/>
              </a:rPr>
              <a:t>Blueprint: Reference architecture</a:t>
            </a: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a:lnSpc>
                <a:spcPct val="105000"/>
              </a:lnSpc>
              <a:spcBef>
                <a:spcPts val="200"/>
              </a:spcBef>
            </a:pPr>
            <a:endParaRPr lang="en-US" sz="1700" b="1" dirty="0">
              <a:solidFill>
                <a:srgbClr val="2F5496"/>
              </a:solidFill>
              <a:latin typeface="Calibri Light" panose="020F0302020204030204" pitchFamily="34" charset="0"/>
            </a:endParaRPr>
          </a:p>
          <a:p>
            <a:pPr marL="228600" marR="0" lvl="0" indent="-228600" algn="l" defTabSz="914400" rtl="0" eaLnBrk="1" fontAlgn="auto" latinLnBrk="0" hangingPunct="1">
              <a:lnSpc>
                <a:spcPct val="105000"/>
              </a:lnSpc>
              <a:spcBef>
                <a:spcPts val="1200"/>
              </a:spcBef>
              <a:spcAft>
                <a:spcPts val="0"/>
              </a:spcAft>
              <a:buClr>
                <a:srgbClr val="F7941D"/>
              </a:buClr>
              <a:buSzPct val="100000"/>
              <a:buFont typeface="Arial" panose="020B0604020202020204" pitchFamily="34" charset="0"/>
              <a:buChar char="•"/>
              <a:tabLst/>
              <a:defRPr/>
            </a:pP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228600" marR="0" lvl="0" indent="-228600" algn="l" defTabSz="914400" rtl="0" eaLnBrk="1" fontAlgn="auto" latinLnBrk="0" hangingPunct="1">
              <a:lnSpc>
                <a:spcPct val="105000"/>
              </a:lnSpc>
              <a:spcBef>
                <a:spcPts val="1200"/>
              </a:spcBef>
              <a:spcAft>
                <a:spcPts val="0"/>
              </a:spcAft>
              <a:buClr>
                <a:srgbClr val="F7941D"/>
              </a:buClr>
              <a:buSzPct val="100000"/>
              <a:buFont typeface="Arial" panose="020B0604020202020204" pitchFamily="34" charset="0"/>
              <a:buChar char="•"/>
              <a:tabLst/>
              <a:defRPr/>
            </a:pPr>
            <a:endPar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228600" marR="0" lvl="0" indent="-228600" algn="l" defTabSz="914400" rtl="0" eaLnBrk="1" fontAlgn="auto" latinLnBrk="0" hangingPunct="1">
              <a:lnSpc>
                <a:spcPct val="105000"/>
              </a:lnSpc>
              <a:spcBef>
                <a:spcPts val="1200"/>
              </a:spcBef>
              <a:spcAft>
                <a:spcPts val="0"/>
              </a:spcAft>
              <a:buClr>
                <a:srgbClr val="F7941D"/>
              </a:buClr>
              <a:buSzPct val="100000"/>
              <a:buFont typeface="Arial" panose="020B0604020202020204" pitchFamily="34" charset="0"/>
              <a:buChar char="•"/>
              <a:tabLst/>
              <a:defRPr/>
            </a:pPr>
            <a:endPar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p:txBody>
      </p:sp>
      <p:sp>
        <p:nvSpPr>
          <p:cNvPr id="6" name="Rectangle 5">
            <a:extLst>
              <a:ext uri="{FF2B5EF4-FFF2-40B4-BE49-F238E27FC236}">
                <a16:creationId xmlns:a16="http://schemas.microsoft.com/office/drawing/2014/main" id="{1611892F-3062-4FA8-A455-3760302D9C10}"/>
              </a:ext>
            </a:extLst>
          </p:cNvPr>
          <p:cNvSpPr/>
          <p:nvPr/>
        </p:nvSpPr>
        <p:spPr>
          <a:xfrm>
            <a:off x="697832" y="1447799"/>
            <a:ext cx="3352800" cy="5273675"/>
          </a:xfrm>
          <a:prstGeom prst="rect">
            <a:avLst/>
          </a:prstGeom>
          <a:noFill/>
          <a:ln w="38100">
            <a:solidFill>
              <a:srgbClr val="F051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
            <a:extLst>
              <a:ext uri="{FF2B5EF4-FFF2-40B4-BE49-F238E27FC236}">
                <a16:creationId xmlns:a16="http://schemas.microsoft.com/office/drawing/2014/main" id="{3C839FD8-F29F-46C7-A034-E37FD20013C5}"/>
              </a:ext>
            </a:extLst>
          </p:cNvPr>
          <p:cNvSpPr txBox="1">
            <a:spLocks/>
          </p:cNvSpPr>
          <p:nvPr/>
        </p:nvSpPr>
        <p:spPr>
          <a:xfrm>
            <a:off x="8416319" y="2487955"/>
            <a:ext cx="5827889" cy="4215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F7941D"/>
              </a:buClr>
              <a:buSzPct val="100000"/>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5000"/>
              </a:lnSpc>
              <a:spcBef>
                <a:spcPts val="1200"/>
              </a:spcBef>
              <a:spcAft>
                <a:spcPts val="0"/>
              </a:spcAft>
              <a:buClr>
                <a:srgbClr val="F7941D"/>
              </a:buClr>
              <a:buSzPct val="100000"/>
              <a:buFont typeface="Arial" panose="020B0604020202020204" pitchFamily="34" charset="0"/>
              <a:buNone/>
              <a:tabLst/>
              <a:defRPr/>
            </a:pPr>
            <a:r>
              <a:rPr kumimoji="0" lang="en-US" sz="2000" b="1" i="0" u="sng" strike="noStrike" kern="1200" cap="none" spc="0" normalizeH="0" baseline="0" noProof="0" dirty="0">
                <a:ln>
                  <a:noFill/>
                </a:ln>
                <a:solidFill>
                  <a:srgbClr val="002060"/>
                </a:solidFill>
                <a:effectLst/>
                <a:uLnTx/>
                <a:uFillTx/>
                <a:latin typeface="Calibri Light" panose="020F0302020204030204" pitchFamily="34" charset="0"/>
                <a:ea typeface="+mn-ea"/>
                <a:cs typeface="+mn-cs"/>
              </a:rPr>
              <a:t>Use Cases Examples</a:t>
            </a: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mn-cs"/>
              </a:rPr>
              <a:t>High Level - overview</a:t>
            </a:r>
            <a:endPar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mn-cs"/>
              </a:rPr>
              <a:t>Case Study – advance view</a:t>
            </a:r>
            <a:endPar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0" algn="l" defTabSz="914400" rtl="0" eaLnBrk="1" fontAlgn="auto" latinLnBrk="0" hangingPunct="1">
              <a:lnSpc>
                <a:spcPct val="95000"/>
              </a:lnSpc>
              <a:spcBef>
                <a:spcPts val="1200"/>
              </a:spcBef>
              <a:spcAft>
                <a:spcPts val="0"/>
              </a:spcAft>
              <a:buClr>
                <a:srgbClr val="F7941D"/>
              </a:buClr>
              <a:buSzPct val="100000"/>
              <a:buFont typeface="Arial" panose="020B0604020202020204" pitchFamily="34" charset="0"/>
              <a:buNone/>
              <a:tabLst/>
              <a:defRPr/>
            </a:pPr>
            <a:r>
              <a:rPr kumimoji="0" lang="en-US" sz="1700" b="1" i="0" u="sng" strike="noStrike" kern="1200" cap="none" spc="0" normalizeH="0" baseline="0" noProof="0" dirty="0">
                <a:ln>
                  <a:noFill/>
                </a:ln>
                <a:solidFill>
                  <a:srgbClr val="002060"/>
                </a:solidFill>
                <a:effectLst/>
                <a:uLnTx/>
                <a:uFillTx/>
                <a:latin typeface="Calibri Light" panose="020F0302020204030204" pitchFamily="34" charset="0"/>
                <a:ea typeface="+mn-ea"/>
                <a:cs typeface="+mn-cs"/>
              </a:rPr>
              <a:t>Next Installment</a:t>
            </a: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mn-cs"/>
              </a:rPr>
              <a:t>Updates on Use case analysis</a:t>
            </a: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rPr>
              <a:t>Case Study detail</a:t>
            </a: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rPr>
              <a:t>RO</a:t>
            </a:r>
            <a:r>
              <a:rPr lang="en-US" sz="1600" b="1" dirty="0">
                <a:solidFill>
                  <a:srgbClr val="2F5496"/>
                </a:solidFill>
                <a:latin typeface="Calibri Light" panose="020F0302020204030204" pitchFamily="34" charset="0"/>
                <a:ea typeface="Calibri" panose="020F0502020204030204" pitchFamily="34" charset="0"/>
              </a:rPr>
              <a:t>I , Business Outcome, Value at Stake</a:t>
            </a: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0" algn="l" defTabSz="914400" rtl="0" eaLnBrk="1" fontAlgn="auto" latinLnBrk="0" hangingPunct="1">
              <a:lnSpc>
                <a:spcPct val="105000"/>
              </a:lnSpc>
              <a:spcBef>
                <a:spcPts val="200"/>
              </a:spcBef>
              <a:spcAft>
                <a:spcPts val="0"/>
              </a:spcAft>
              <a:buClr>
                <a:srgbClr val="F7941D"/>
              </a:buClr>
              <a:buSzPct val="100000"/>
              <a:buNone/>
              <a:tabLst/>
              <a:defRPr/>
            </a:pPr>
            <a:endParaRPr kumimoji="0" lang="en-US" sz="1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0" marR="0" lvl="0" indent="0" algn="l" defTabSz="914400" rtl="0" eaLnBrk="1" fontAlgn="auto" latinLnBrk="0" hangingPunct="1">
              <a:lnSpc>
                <a:spcPct val="95000"/>
              </a:lnSpc>
              <a:spcBef>
                <a:spcPts val="1200"/>
              </a:spcBef>
              <a:spcAft>
                <a:spcPts val="0"/>
              </a:spcAft>
              <a:buClr>
                <a:srgbClr val="F7941D"/>
              </a:buClr>
              <a:buSzPct val="100000"/>
              <a:buFont typeface="Arial" panose="020B0604020202020204" pitchFamily="34" charset="0"/>
              <a:buNone/>
              <a:tabLst/>
              <a:defRPr/>
            </a:pPr>
            <a:r>
              <a:rPr lang="en-US" sz="1700" b="1" u="sng" dirty="0">
                <a:solidFill>
                  <a:srgbClr val="002060"/>
                </a:solidFill>
                <a:latin typeface="Calibri Light" panose="020F0302020204030204" pitchFamily="34" charset="0"/>
              </a:rPr>
              <a:t>References</a:t>
            </a:r>
            <a:r>
              <a:rPr kumimoji="0" lang="en-US" sz="1700" b="1" i="0" u="sng" strike="noStrike" kern="1200" cap="none" spc="0" normalizeH="0" baseline="0" noProof="0" dirty="0">
                <a:ln>
                  <a:noFill/>
                </a:ln>
                <a:solidFill>
                  <a:srgbClr val="002060"/>
                </a:solidFill>
                <a:effectLst/>
                <a:uLnTx/>
                <a:uFillTx/>
                <a:latin typeface="Calibri Light" panose="020F0302020204030204" pitchFamily="34" charset="0"/>
                <a:ea typeface="+mn-ea"/>
                <a:cs typeface="+mn-cs"/>
              </a:rPr>
              <a:t> </a:t>
            </a: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mn-ea"/>
                <a:cs typeface="+mn-cs"/>
              </a:rPr>
              <a:t>Platform 4.0 and IIC  DT Admin Shell WP</a:t>
            </a: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mn-ea"/>
                <a:cs typeface="+mn-cs"/>
              </a:rPr>
              <a:t>Digital Twin Whitepapers  utilized</a:t>
            </a:r>
          </a:p>
          <a:p>
            <a:pPr marL="0" marR="0" lvl="0" indent="-228600" algn="l" defTabSz="914400" rtl="0" eaLnBrk="1" fontAlgn="auto" latinLnBrk="0" hangingPunct="1">
              <a:lnSpc>
                <a:spcPct val="105000"/>
              </a:lnSpc>
              <a:spcBef>
                <a:spcPts val="200"/>
              </a:spcBef>
              <a:spcAft>
                <a:spcPts val="0"/>
              </a:spcAft>
              <a:buClr>
                <a:srgbClr val="F7941D"/>
              </a:buClr>
              <a:buSzPct val="100000"/>
              <a:buFont typeface="Arial" panose="020B0604020202020204" pitchFamily="34" charset="0"/>
              <a:buChar char="•"/>
              <a:tabLst/>
              <a:defRPr/>
            </a:pPr>
            <a:r>
              <a:rPr lang="en-US" sz="1600" b="1" dirty="0">
                <a:solidFill>
                  <a:srgbClr val="2F5496"/>
                </a:solidFill>
                <a:latin typeface="Calibri Light" panose="020F0302020204030204" pitchFamily="34" charset="0"/>
              </a:rPr>
              <a:t>…</a:t>
            </a: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mn-ea"/>
              <a:cs typeface="+mn-cs"/>
            </a:endParaRPr>
          </a:p>
          <a:p>
            <a:pPr marL="228600" marR="0" lvl="0" indent="-228600" algn="l" defTabSz="914400" rtl="0" eaLnBrk="1" fontAlgn="auto" latinLnBrk="0" hangingPunct="1">
              <a:lnSpc>
                <a:spcPct val="105000"/>
              </a:lnSpc>
              <a:spcBef>
                <a:spcPts val="1200"/>
              </a:spcBef>
              <a:spcAft>
                <a:spcPts val="0"/>
              </a:spcAft>
              <a:buClr>
                <a:srgbClr val="F7941D"/>
              </a:buClr>
              <a:buSzPct val="100000"/>
              <a:buFont typeface="Arial" panose="020B0604020202020204" pitchFamily="34" charset="0"/>
              <a:buChar char="•"/>
              <a:tabLst/>
              <a:defRPr/>
            </a:pPr>
            <a:endParaRPr kumimoji="0" lang="en-US" sz="16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228600" marR="0" lvl="0" indent="-228600" algn="l" defTabSz="914400" rtl="0" eaLnBrk="1" fontAlgn="auto" latinLnBrk="0" hangingPunct="1">
              <a:lnSpc>
                <a:spcPct val="105000"/>
              </a:lnSpc>
              <a:spcBef>
                <a:spcPts val="1200"/>
              </a:spcBef>
              <a:spcAft>
                <a:spcPts val="0"/>
              </a:spcAft>
              <a:buClr>
                <a:srgbClr val="F7941D"/>
              </a:buClr>
              <a:buSzPct val="100000"/>
              <a:buFont typeface="Arial" panose="020B0604020202020204" pitchFamily="34" charset="0"/>
              <a:buChar char="•"/>
              <a:tabLst/>
              <a:defRPr/>
            </a:pPr>
            <a:endPar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a:p>
            <a:pPr marL="228600" marR="0" lvl="0" indent="-228600" algn="l" defTabSz="914400" rtl="0" eaLnBrk="1" fontAlgn="auto" latinLnBrk="0" hangingPunct="1">
              <a:lnSpc>
                <a:spcPct val="105000"/>
              </a:lnSpc>
              <a:spcBef>
                <a:spcPts val="1200"/>
              </a:spcBef>
              <a:spcAft>
                <a:spcPts val="0"/>
              </a:spcAft>
              <a:buClr>
                <a:srgbClr val="F7941D"/>
              </a:buClr>
              <a:buSzPct val="100000"/>
              <a:buFont typeface="Arial" panose="020B0604020202020204" pitchFamily="34" charset="0"/>
              <a:buChar char="•"/>
              <a:tabLst/>
              <a:defRPr/>
            </a:pPr>
            <a:endParaRPr kumimoji="0" lang="en-US" sz="1800" b="1" i="0" u="none" strike="noStrike" kern="1200" cap="none" spc="0" normalizeH="0" baseline="0" noProof="0" dirty="0">
              <a:ln>
                <a:noFill/>
              </a:ln>
              <a:solidFill>
                <a:srgbClr val="2F5496"/>
              </a:solidFill>
              <a:effectLst/>
              <a:uLnTx/>
              <a:uFillTx/>
              <a:latin typeface="Calibri Light" panose="020F0302020204030204" pitchFamily="34" charset="0"/>
              <a:ea typeface="Calibri" panose="020F0502020204030204" pitchFamily="34" charset="0"/>
              <a:cs typeface="+mn-cs"/>
            </a:endParaRPr>
          </a:p>
        </p:txBody>
      </p:sp>
      <p:sp>
        <p:nvSpPr>
          <p:cNvPr id="13" name="Rectangle 12">
            <a:extLst>
              <a:ext uri="{FF2B5EF4-FFF2-40B4-BE49-F238E27FC236}">
                <a16:creationId xmlns:a16="http://schemas.microsoft.com/office/drawing/2014/main" id="{F9C9C7B4-4049-479E-B47C-F69C0EDB7B5C}"/>
              </a:ext>
            </a:extLst>
          </p:cNvPr>
          <p:cNvSpPr/>
          <p:nvPr/>
        </p:nvSpPr>
        <p:spPr>
          <a:xfrm>
            <a:off x="4541238" y="1447799"/>
            <a:ext cx="3352800" cy="5273675"/>
          </a:xfrm>
          <a:prstGeom prst="rect">
            <a:avLst/>
          </a:prstGeom>
          <a:noFill/>
          <a:ln w="38100">
            <a:solidFill>
              <a:srgbClr val="F051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7BEBCE-5664-4212-AE62-9A67B47D53B3}"/>
              </a:ext>
            </a:extLst>
          </p:cNvPr>
          <p:cNvSpPr/>
          <p:nvPr/>
        </p:nvSpPr>
        <p:spPr>
          <a:xfrm>
            <a:off x="8254984" y="1447800"/>
            <a:ext cx="3784615" cy="5273675"/>
          </a:xfrm>
          <a:prstGeom prst="rect">
            <a:avLst/>
          </a:prstGeom>
          <a:noFill/>
          <a:ln w="38100">
            <a:solidFill>
              <a:srgbClr val="F051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154CDDD-CD4D-4CF5-99E5-D95911502694}"/>
              </a:ext>
            </a:extLst>
          </p:cNvPr>
          <p:cNvSpPr txBox="1"/>
          <p:nvPr/>
        </p:nvSpPr>
        <p:spPr>
          <a:xfrm>
            <a:off x="1015413" y="1554910"/>
            <a:ext cx="2487219" cy="646331"/>
          </a:xfrm>
          <a:prstGeom prst="rect">
            <a:avLst/>
          </a:prstGeom>
          <a:noFill/>
        </p:spPr>
        <p:txBody>
          <a:bodyPr wrap="none" rtlCol="0">
            <a:spAutoFit/>
          </a:bodyPr>
          <a:lstStyle/>
          <a:p>
            <a:pPr algn="ctr"/>
            <a:r>
              <a:rPr lang="en-US" b="1" dirty="0">
                <a:highlight>
                  <a:srgbClr val="FFFF00"/>
                </a:highlight>
              </a:rPr>
              <a:t>Phase 1 – Doc Release</a:t>
            </a:r>
          </a:p>
          <a:p>
            <a:r>
              <a:rPr lang="en-US" b="1" dirty="0">
                <a:highlight>
                  <a:srgbClr val="FFFF00"/>
                </a:highlight>
              </a:rPr>
              <a:t> Definition / Description</a:t>
            </a:r>
          </a:p>
        </p:txBody>
      </p:sp>
      <p:sp>
        <p:nvSpPr>
          <p:cNvPr id="20" name="TextBox 19">
            <a:extLst>
              <a:ext uri="{FF2B5EF4-FFF2-40B4-BE49-F238E27FC236}">
                <a16:creationId xmlns:a16="http://schemas.microsoft.com/office/drawing/2014/main" id="{21FC7138-A2F5-474D-ABBC-23CBBD2A3520}"/>
              </a:ext>
            </a:extLst>
          </p:cNvPr>
          <p:cNvSpPr txBox="1"/>
          <p:nvPr/>
        </p:nvSpPr>
        <p:spPr>
          <a:xfrm>
            <a:off x="4553717" y="1554911"/>
            <a:ext cx="2295628" cy="646331"/>
          </a:xfrm>
          <a:prstGeom prst="rect">
            <a:avLst/>
          </a:prstGeom>
          <a:noFill/>
        </p:spPr>
        <p:txBody>
          <a:bodyPr wrap="none" rtlCol="0">
            <a:spAutoFit/>
          </a:bodyPr>
          <a:lstStyle/>
          <a:p>
            <a:pPr algn="ctr"/>
            <a:r>
              <a:rPr lang="en-US" b="1" dirty="0">
                <a:highlight>
                  <a:srgbClr val="FFFF00"/>
                </a:highlight>
              </a:rPr>
              <a:t>Phase 2 – Doc Release</a:t>
            </a:r>
          </a:p>
          <a:p>
            <a:pPr algn="ctr"/>
            <a:r>
              <a:rPr lang="en-US" b="1" dirty="0">
                <a:highlight>
                  <a:srgbClr val="FFFF00"/>
                </a:highlight>
              </a:rPr>
              <a:t>Stack/Lifecycle</a:t>
            </a:r>
          </a:p>
        </p:txBody>
      </p:sp>
      <p:sp>
        <p:nvSpPr>
          <p:cNvPr id="22" name="TextBox 21">
            <a:extLst>
              <a:ext uri="{FF2B5EF4-FFF2-40B4-BE49-F238E27FC236}">
                <a16:creationId xmlns:a16="http://schemas.microsoft.com/office/drawing/2014/main" id="{257EF184-13B2-43CD-9D17-A20B75A99968}"/>
              </a:ext>
            </a:extLst>
          </p:cNvPr>
          <p:cNvSpPr txBox="1"/>
          <p:nvPr/>
        </p:nvSpPr>
        <p:spPr>
          <a:xfrm>
            <a:off x="8496697" y="1554911"/>
            <a:ext cx="2295629" cy="646331"/>
          </a:xfrm>
          <a:prstGeom prst="rect">
            <a:avLst/>
          </a:prstGeom>
          <a:noFill/>
        </p:spPr>
        <p:txBody>
          <a:bodyPr wrap="none" rtlCol="0">
            <a:spAutoFit/>
          </a:bodyPr>
          <a:lstStyle/>
          <a:p>
            <a:pPr algn="ctr"/>
            <a:r>
              <a:rPr lang="en-US" b="1" dirty="0"/>
              <a:t>Phase 3 – Doc Release</a:t>
            </a:r>
          </a:p>
          <a:p>
            <a:pPr algn="ctr"/>
            <a:r>
              <a:rPr lang="en-US" b="1" dirty="0"/>
              <a:t>Use Case/Case Study</a:t>
            </a:r>
          </a:p>
        </p:txBody>
      </p:sp>
      <p:cxnSp>
        <p:nvCxnSpPr>
          <p:cNvPr id="7" name="Straight Connector 6">
            <a:extLst>
              <a:ext uri="{FF2B5EF4-FFF2-40B4-BE49-F238E27FC236}">
                <a16:creationId xmlns:a16="http://schemas.microsoft.com/office/drawing/2014/main" id="{FF5E156D-269A-451C-AD75-17F22C57BB39}"/>
              </a:ext>
            </a:extLst>
          </p:cNvPr>
          <p:cNvCxnSpPr>
            <a:cxnSpLocks/>
          </p:cNvCxnSpPr>
          <p:nvPr/>
        </p:nvCxnSpPr>
        <p:spPr>
          <a:xfrm>
            <a:off x="8319835" y="5126691"/>
            <a:ext cx="3702346" cy="0"/>
          </a:xfrm>
          <a:prstGeom prst="line">
            <a:avLst/>
          </a:prstGeom>
          <a:ln w="38100">
            <a:solidFill>
              <a:srgbClr val="F0512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0190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80E8-6D23-490F-9781-2C14A2F0A6A5}"/>
              </a:ext>
            </a:extLst>
          </p:cNvPr>
          <p:cNvSpPr>
            <a:spLocks noGrp="1"/>
          </p:cNvSpPr>
          <p:nvPr>
            <p:ph type="ctrTitle"/>
          </p:nvPr>
        </p:nvSpPr>
        <p:spPr/>
        <p:txBody>
          <a:bodyPr>
            <a:normAutofit fontScale="90000"/>
          </a:bodyPr>
          <a:lstStyle/>
          <a:p>
            <a:r>
              <a:rPr lang="en-GB" dirty="0"/>
              <a:t>Security and Trustworthiness</a:t>
            </a:r>
            <a:br>
              <a:rPr lang="en-GB" dirty="0"/>
            </a:br>
            <a:r>
              <a:rPr lang="en-GB" dirty="0"/>
              <a:t>Sub-Group</a:t>
            </a:r>
          </a:p>
        </p:txBody>
      </p:sp>
      <p:sp>
        <p:nvSpPr>
          <p:cNvPr id="5" name="Subtitle 4">
            <a:extLst>
              <a:ext uri="{FF2B5EF4-FFF2-40B4-BE49-F238E27FC236}">
                <a16:creationId xmlns:a16="http://schemas.microsoft.com/office/drawing/2014/main" id="{119270FC-1A3A-4FA0-9EBE-F01EE1D30161}"/>
              </a:ext>
            </a:extLst>
          </p:cNvPr>
          <p:cNvSpPr>
            <a:spLocks noGrp="1"/>
          </p:cNvSpPr>
          <p:nvPr>
            <p:ph type="subTitle" idx="1"/>
          </p:nvPr>
        </p:nvSpPr>
        <p:spPr/>
        <p:txBody>
          <a:bodyPr>
            <a:normAutofit fontScale="92500" lnSpcReduction="20000"/>
          </a:bodyPr>
          <a:lstStyle/>
          <a:p>
            <a:r>
              <a:rPr lang="en-US" sz="3200" dirty="0"/>
              <a:t>Jon Geater and Detlev  Richter</a:t>
            </a:r>
          </a:p>
        </p:txBody>
      </p:sp>
    </p:spTree>
    <p:extLst>
      <p:ext uri="{BB962C8B-B14F-4D97-AF65-F5344CB8AC3E}">
        <p14:creationId xmlns:p14="http://schemas.microsoft.com/office/powerpoint/2010/main" val="2155738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26DD71CE-EA26-47CF-AA35-24AE62A5933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4F7FD626-E54F-43D9-A86A-A8A6F62BADAC}"/>
              </a:ext>
            </a:extLst>
          </p:cNvPr>
          <p:cNvSpPr>
            <a:spLocks noGrp="1"/>
          </p:cNvSpPr>
          <p:nvPr>
            <p:ph type="sldNum" sz="quarter" idx="16"/>
          </p:nvPr>
        </p:nvSpPr>
        <p:spPr/>
        <p:txBody>
          <a:bodyPr/>
          <a:lstStyle/>
          <a:p>
            <a:fld id="{EA358FA9-F386-4A12-B482-464C32CE5754}" type="slidenum">
              <a:rPr lang="en-US" smtClean="0"/>
              <a:pPr/>
              <a:t>7</a:t>
            </a:fld>
            <a:endParaRPr lang="en-US"/>
          </a:p>
        </p:txBody>
      </p:sp>
      <p:sp>
        <p:nvSpPr>
          <p:cNvPr id="3" name="Title 2">
            <a:extLst>
              <a:ext uri="{FF2B5EF4-FFF2-40B4-BE49-F238E27FC236}">
                <a16:creationId xmlns:a16="http://schemas.microsoft.com/office/drawing/2014/main" id="{24621545-5578-484F-AFA8-291BF07EAB03}"/>
              </a:ext>
            </a:extLst>
          </p:cNvPr>
          <p:cNvSpPr>
            <a:spLocks noGrp="1"/>
          </p:cNvSpPr>
          <p:nvPr>
            <p:ph type="title"/>
          </p:nvPr>
        </p:nvSpPr>
        <p:spPr/>
        <p:txBody>
          <a:bodyPr>
            <a:normAutofit/>
          </a:bodyPr>
          <a:lstStyle/>
          <a:p>
            <a:r>
              <a:rPr lang="en-US" dirty="0"/>
              <a:t>Agenda</a:t>
            </a:r>
          </a:p>
        </p:txBody>
      </p:sp>
    </p:spTree>
    <p:extLst>
      <p:ext uri="{BB962C8B-B14F-4D97-AF65-F5344CB8AC3E}">
        <p14:creationId xmlns:p14="http://schemas.microsoft.com/office/powerpoint/2010/main" val="38990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34A5-9D8B-40BA-B587-482C24B893A1}"/>
              </a:ext>
            </a:extLst>
          </p:cNvPr>
          <p:cNvSpPr>
            <a:spLocks noGrp="1"/>
          </p:cNvSpPr>
          <p:nvPr>
            <p:ph type="title"/>
          </p:nvPr>
        </p:nvSpPr>
        <p:spPr/>
        <p:txBody>
          <a:bodyPr/>
          <a:lstStyle/>
          <a:p>
            <a:r>
              <a:rPr lang="en-US" dirty="0"/>
              <a:t>Priority work items for 2021</a:t>
            </a:r>
          </a:p>
        </p:txBody>
      </p:sp>
    </p:spTree>
    <p:extLst>
      <p:ext uri="{BB962C8B-B14F-4D97-AF65-F5344CB8AC3E}">
        <p14:creationId xmlns:p14="http://schemas.microsoft.com/office/powerpoint/2010/main" val="620910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8DB23D-CD0D-B840-8B46-A38B9AA4BE46}"/>
              </a:ext>
            </a:extLst>
          </p:cNvPr>
          <p:cNvSpPr>
            <a:spLocks noGrp="1"/>
          </p:cNvSpPr>
          <p:nvPr>
            <p:ph idx="1"/>
          </p:nvPr>
        </p:nvSpPr>
        <p:spPr/>
        <p:txBody>
          <a:bodyPr/>
          <a:lstStyle/>
          <a:p>
            <a:r>
              <a:rPr lang="en-US" dirty="0"/>
              <a:t>What are we trying to achieve</a:t>
            </a:r>
          </a:p>
          <a:p>
            <a:pPr lvl="1"/>
            <a:r>
              <a:rPr lang="en-US" dirty="0"/>
              <a:t>A model of Trustworthiness that works in the real, messy world of I4.0</a:t>
            </a:r>
          </a:p>
          <a:p>
            <a:pPr lvl="1"/>
            <a:r>
              <a:rPr lang="en-US" dirty="0"/>
              <a:t>A way of communicating that to business leaders for buy-in: ROI calculator</a:t>
            </a:r>
          </a:p>
          <a:p>
            <a:r>
              <a:rPr lang="en-US" dirty="0"/>
              <a:t>What are the key concepts that will get us there?</a:t>
            </a:r>
          </a:p>
          <a:p>
            <a:pPr lvl="1"/>
            <a:r>
              <a:rPr lang="en-US" dirty="0"/>
              <a:t>Quantifying and balancing the case for Trustworthiness</a:t>
            </a:r>
          </a:p>
          <a:p>
            <a:pPr lvl="1"/>
            <a:r>
              <a:rPr lang="en-US" dirty="0"/>
              <a:t>Resiliency vs safety &amp; security</a:t>
            </a:r>
          </a:p>
          <a:p>
            <a:pPr lvl="1"/>
            <a:r>
              <a:rPr lang="en-US" dirty="0"/>
              <a:t>Dynamic assurance cases</a:t>
            </a:r>
          </a:p>
          <a:p>
            <a:r>
              <a:rPr lang="en-US" dirty="0"/>
              <a:t>What do we need to do to develop understanding of those concepts?</a:t>
            </a:r>
          </a:p>
          <a:p>
            <a:pPr lvl="1"/>
            <a:r>
              <a:rPr lang="en-US" dirty="0"/>
              <a:t>Workable definitions of assurance case concepts (vocab </a:t>
            </a:r>
            <a:r>
              <a:rPr lang="en-US" dirty="0">
                <a:sym typeface="Wingdings" pitchFamily="2" charset="2"/>
              </a:rPr>
              <a:t> ontology)</a:t>
            </a:r>
            <a:endParaRPr lang="en-US" dirty="0"/>
          </a:p>
          <a:p>
            <a:pPr lvl="1"/>
            <a:r>
              <a:rPr lang="en-US" dirty="0"/>
              <a:t>Use case worked examples</a:t>
            </a:r>
          </a:p>
        </p:txBody>
      </p:sp>
      <p:sp>
        <p:nvSpPr>
          <p:cNvPr id="3" name="Slide Number Placeholder 2">
            <a:extLst>
              <a:ext uri="{FF2B5EF4-FFF2-40B4-BE49-F238E27FC236}">
                <a16:creationId xmlns:a16="http://schemas.microsoft.com/office/drawing/2014/main" id="{04B9A722-EC0B-8741-A2F8-83D840CCA8C4}"/>
              </a:ext>
            </a:extLst>
          </p:cNvPr>
          <p:cNvSpPr>
            <a:spLocks noGrp="1"/>
          </p:cNvSpPr>
          <p:nvPr>
            <p:ph type="sldNum" sz="quarter" idx="16"/>
          </p:nvPr>
        </p:nvSpPr>
        <p:spPr/>
        <p:txBody>
          <a:bodyPr/>
          <a:lstStyle/>
          <a:p>
            <a:fld id="{EA358FA9-F386-4A12-B482-464C32CE5754}" type="slidenum">
              <a:rPr lang="en-US" smtClean="0"/>
              <a:pPr/>
              <a:t>9</a:t>
            </a:fld>
            <a:endParaRPr lang="en-US"/>
          </a:p>
        </p:txBody>
      </p:sp>
      <p:sp>
        <p:nvSpPr>
          <p:cNvPr id="4" name="Title 3">
            <a:extLst>
              <a:ext uri="{FF2B5EF4-FFF2-40B4-BE49-F238E27FC236}">
                <a16:creationId xmlns:a16="http://schemas.microsoft.com/office/drawing/2014/main" id="{E7C1FF50-0AD2-5C42-8130-60D835AE5D68}"/>
              </a:ext>
            </a:extLst>
          </p:cNvPr>
          <p:cNvSpPr>
            <a:spLocks noGrp="1"/>
          </p:cNvSpPr>
          <p:nvPr>
            <p:ph type="title"/>
          </p:nvPr>
        </p:nvSpPr>
        <p:spPr/>
        <p:txBody>
          <a:bodyPr/>
          <a:lstStyle/>
          <a:p>
            <a:r>
              <a:rPr lang="en-US" dirty="0"/>
              <a:t>Outline for 2021</a:t>
            </a:r>
          </a:p>
        </p:txBody>
      </p:sp>
    </p:spTree>
    <p:extLst>
      <p:ext uri="{BB962C8B-B14F-4D97-AF65-F5344CB8AC3E}">
        <p14:creationId xmlns:p14="http://schemas.microsoft.com/office/powerpoint/2010/main" val="4196167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8D8494-E490-6A42-8DFA-81AB4F115759}"/>
              </a:ext>
            </a:extLst>
          </p:cNvPr>
          <p:cNvSpPr>
            <a:spLocks noGrp="1"/>
          </p:cNvSpPr>
          <p:nvPr>
            <p:ph idx="1"/>
          </p:nvPr>
        </p:nvSpPr>
        <p:spPr/>
        <p:txBody>
          <a:bodyPr>
            <a:normAutofit lnSpcReduction="10000"/>
          </a:bodyPr>
          <a:lstStyle/>
          <a:p>
            <a:r>
              <a:rPr lang="en-US" dirty="0"/>
              <a:t>We would like to offer a large part of each meeting to specific Subject Matter Experts for a two-way exchange on how our wider work intersects their specialty:</a:t>
            </a:r>
          </a:p>
          <a:p>
            <a:pPr lvl="1"/>
            <a:r>
              <a:rPr lang="en-US" dirty="0"/>
              <a:t>Maturity Models</a:t>
            </a:r>
          </a:p>
          <a:p>
            <a:pPr lvl="1"/>
            <a:r>
              <a:rPr lang="en-US" dirty="0"/>
              <a:t>Dynamic assurance cases</a:t>
            </a:r>
          </a:p>
          <a:p>
            <a:pPr lvl="1"/>
            <a:r>
              <a:rPr lang="en-US" dirty="0"/>
              <a:t>Data regulations and certification</a:t>
            </a:r>
          </a:p>
          <a:p>
            <a:pPr lvl="1"/>
            <a:r>
              <a:rPr lang="en-US" dirty="0"/>
              <a:t>Safety regulations and certification</a:t>
            </a:r>
          </a:p>
          <a:p>
            <a:pPr lvl="1"/>
            <a:r>
              <a:rPr lang="en-US" dirty="0"/>
              <a:t>Embedded security technologies</a:t>
            </a:r>
          </a:p>
          <a:p>
            <a:pPr lvl="1"/>
            <a:r>
              <a:rPr lang="en-US" dirty="0"/>
              <a:t>Distributed computing and fuzzy processing concepts </a:t>
            </a:r>
          </a:p>
          <a:p>
            <a:pPr lvl="1"/>
            <a:r>
              <a:rPr lang="en-US" dirty="0"/>
              <a:t>Analog security/safety and physical environment sensing</a:t>
            </a:r>
          </a:p>
          <a:p>
            <a:pPr lvl="1"/>
            <a:r>
              <a:rPr lang="en-US" dirty="0"/>
              <a:t>Vertical WG business cases</a:t>
            </a:r>
          </a:p>
        </p:txBody>
      </p:sp>
      <p:sp>
        <p:nvSpPr>
          <p:cNvPr id="3" name="Slide Number Placeholder 2">
            <a:extLst>
              <a:ext uri="{FF2B5EF4-FFF2-40B4-BE49-F238E27FC236}">
                <a16:creationId xmlns:a16="http://schemas.microsoft.com/office/drawing/2014/main" id="{4BF8A4E3-D5F5-8249-87AD-3FAC1EBBF9CE}"/>
              </a:ext>
            </a:extLst>
          </p:cNvPr>
          <p:cNvSpPr>
            <a:spLocks noGrp="1"/>
          </p:cNvSpPr>
          <p:nvPr>
            <p:ph type="sldNum" sz="quarter" idx="16"/>
          </p:nvPr>
        </p:nvSpPr>
        <p:spPr/>
        <p:txBody>
          <a:bodyPr/>
          <a:lstStyle/>
          <a:p>
            <a:fld id="{EA358FA9-F386-4A12-B482-464C32CE5754}" type="slidenum">
              <a:rPr lang="en-US" smtClean="0"/>
              <a:pPr/>
              <a:t>10</a:t>
            </a:fld>
            <a:endParaRPr lang="en-US"/>
          </a:p>
        </p:txBody>
      </p:sp>
      <p:sp>
        <p:nvSpPr>
          <p:cNvPr id="4" name="Title 3">
            <a:extLst>
              <a:ext uri="{FF2B5EF4-FFF2-40B4-BE49-F238E27FC236}">
                <a16:creationId xmlns:a16="http://schemas.microsoft.com/office/drawing/2014/main" id="{F196A4FE-A89D-B04A-BC54-0A9C51588AC1}"/>
              </a:ext>
            </a:extLst>
          </p:cNvPr>
          <p:cNvSpPr>
            <a:spLocks noGrp="1"/>
          </p:cNvSpPr>
          <p:nvPr>
            <p:ph type="title"/>
          </p:nvPr>
        </p:nvSpPr>
        <p:spPr/>
        <p:txBody>
          <a:bodyPr/>
          <a:lstStyle/>
          <a:p>
            <a:r>
              <a:rPr lang="en-US" dirty="0"/>
              <a:t>Sample focus topics</a:t>
            </a:r>
          </a:p>
        </p:txBody>
      </p:sp>
    </p:spTree>
    <p:extLst>
      <p:ext uri="{BB962C8B-B14F-4D97-AF65-F5344CB8AC3E}">
        <p14:creationId xmlns:p14="http://schemas.microsoft.com/office/powerpoint/2010/main" val="2045980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6DA424-40B7-FD4B-91B1-30C7ED5BECB9}"/>
              </a:ext>
            </a:extLst>
          </p:cNvPr>
          <p:cNvSpPr>
            <a:spLocks noGrp="1"/>
          </p:cNvSpPr>
          <p:nvPr>
            <p:ph idx="1"/>
          </p:nvPr>
        </p:nvSpPr>
        <p:spPr/>
        <p:txBody>
          <a:bodyPr>
            <a:normAutofit fontScale="70000" lnSpcReduction="20000"/>
          </a:bodyPr>
          <a:lstStyle/>
          <a:p>
            <a:r>
              <a:rPr lang="en-GB" dirty="0"/>
              <a:t>Q1: Agree and write up a clear taxonomy/vocabulary for the different major abstractions we’re working with (in concert with new 3T platforms sub group):</a:t>
            </a:r>
          </a:p>
          <a:p>
            <a:pPr lvl="1"/>
            <a:r>
              <a:rPr lang="en-GB" dirty="0"/>
              <a:t>The infrastructure on which Digital Twins and Physical Twins run (facilities, computers, storage media etc)</a:t>
            </a:r>
          </a:p>
          <a:p>
            <a:pPr lvl="1"/>
            <a:r>
              <a:rPr lang="en-GB" dirty="0"/>
              <a:t>The data/processing layer</a:t>
            </a:r>
          </a:p>
          <a:p>
            <a:pPr lvl="1"/>
            <a:r>
              <a:rPr lang="en-GB" dirty="0"/>
              <a:t>The twin itself (as a system composed of the data/processing layer)</a:t>
            </a:r>
          </a:p>
          <a:p>
            <a:r>
              <a:rPr lang="en-GB" dirty="0"/>
              <a:t>Q1: Write up security and safety strategies for these according to today’s static approach</a:t>
            </a:r>
          </a:p>
          <a:p>
            <a:r>
              <a:rPr lang="en-GB" dirty="0"/>
              <a:t>Q1: Publish high level 2-pager guide on how to convert this to dynamic safety/security cases</a:t>
            </a:r>
          </a:p>
          <a:p>
            <a:r>
              <a:rPr lang="en-GB" dirty="0"/>
              <a:t>Q2: Deep-dive on detailed standards/technologies that can help us (with guest specialists):</a:t>
            </a:r>
          </a:p>
          <a:p>
            <a:pPr lvl="1"/>
            <a:r>
              <a:rPr lang="en-GB" dirty="0"/>
              <a:t>Digital identity</a:t>
            </a:r>
          </a:p>
          <a:p>
            <a:pPr lvl="1"/>
            <a:r>
              <a:rPr lang="en-GB" dirty="0"/>
              <a:t>Trusted Execution</a:t>
            </a:r>
          </a:p>
          <a:p>
            <a:pPr lvl="1"/>
            <a:r>
              <a:rPr lang="en-GB" dirty="0"/>
              <a:t>Distributed applications (including but not limited to blockchain type)</a:t>
            </a:r>
          </a:p>
          <a:p>
            <a:pPr lvl="1"/>
            <a:r>
              <a:rPr lang="en-GB" dirty="0"/>
              <a:t>ISO/IEC standards (62443 and friends)</a:t>
            </a:r>
          </a:p>
          <a:p>
            <a:pPr lvl="1"/>
            <a:r>
              <a:rPr lang="en-GB" dirty="0"/>
              <a:t>Maturity Models</a:t>
            </a:r>
          </a:p>
          <a:p>
            <a:pPr lvl="1"/>
            <a:r>
              <a:rPr lang="en-GB" dirty="0"/>
              <a:t>Other (canvas the group. Other good ideas have been floated)</a:t>
            </a:r>
          </a:p>
          <a:p>
            <a:r>
              <a:rPr lang="en-GB" dirty="0"/>
              <a:t>Q3: Create the detailed doc on dynamic trustworthiness assurance cases</a:t>
            </a:r>
          </a:p>
          <a:p>
            <a:endParaRPr lang="en-US" dirty="0"/>
          </a:p>
        </p:txBody>
      </p:sp>
      <p:sp>
        <p:nvSpPr>
          <p:cNvPr id="3" name="Slide Number Placeholder 2">
            <a:extLst>
              <a:ext uri="{FF2B5EF4-FFF2-40B4-BE49-F238E27FC236}">
                <a16:creationId xmlns:a16="http://schemas.microsoft.com/office/drawing/2014/main" id="{236E340E-B176-6E46-B2FD-2188B5EF2A1C}"/>
              </a:ext>
            </a:extLst>
          </p:cNvPr>
          <p:cNvSpPr>
            <a:spLocks noGrp="1"/>
          </p:cNvSpPr>
          <p:nvPr>
            <p:ph type="sldNum" sz="quarter" idx="16"/>
          </p:nvPr>
        </p:nvSpPr>
        <p:spPr/>
        <p:txBody>
          <a:bodyPr/>
          <a:lstStyle/>
          <a:p>
            <a:fld id="{EA358FA9-F386-4A12-B482-464C32CE5754}" type="slidenum">
              <a:rPr lang="en-US" smtClean="0"/>
              <a:pPr/>
              <a:t>11</a:t>
            </a:fld>
            <a:endParaRPr lang="en-US"/>
          </a:p>
        </p:txBody>
      </p:sp>
      <p:sp>
        <p:nvSpPr>
          <p:cNvPr id="4" name="Title 3">
            <a:extLst>
              <a:ext uri="{FF2B5EF4-FFF2-40B4-BE49-F238E27FC236}">
                <a16:creationId xmlns:a16="http://schemas.microsoft.com/office/drawing/2014/main" id="{57967EED-9811-EA4F-81A1-3CAC7B9FF7BF}"/>
              </a:ext>
            </a:extLst>
          </p:cNvPr>
          <p:cNvSpPr>
            <a:spLocks noGrp="1"/>
          </p:cNvSpPr>
          <p:nvPr>
            <p:ph type="title"/>
          </p:nvPr>
        </p:nvSpPr>
        <p:spPr/>
        <p:txBody>
          <a:bodyPr/>
          <a:lstStyle/>
          <a:p>
            <a:r>
              <a:rPr lang="en-US" dirty="0"/>
              <a:t>Draft timeline</a:t>
            </a:r>
          </a:p>
        </p:txBody>
      </p:sp>
    </p:spTree>
    <p:extLst>
      <p:ext uri="{BB962C8B-B14F-4D97-AF65-F5344CB8AC3E}">
        <p14:creationId xmlns:p14="http://schemas.microsoft.com/office/powerpoint/2010/main" val="3479215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80E8-6D23-490F-9781-2C14A2F0A6A5}"/>
              </a:ext>
            </a:extLst>
          </p:cNvPr>
          <p:cNvSpPr>
            <a:spLocks noGrp="1"/>
          </p:cNvSpPr>
          <p:nvPr>
            <p:ph type="ctrTitle"/>
          </p:nvPr>
        </p:nvSpPr>
        <p:spPr/>
        <p:txBody>
          <a:bodyPr/>
          <a:lstStyle/>
          <a:p>
            <a:r>
              <a:rPr lang="en-GB" dirty="0"/>
              <a:t>Platform Stack Sub-Group</a:t>
            </a:r>
          </a:p>
        </p:txBody>
      </p:sp>
      <p:sp>
        <p:nvSpPr>
          <p:cNvPr id="3" name="Subtitle 2">
            <a:extLst>
              <a:ext uri="{FF2B5EF4-FFF2-40B4-BE49-F238E27FC236}">
                <a16:creationId xmlns:a16="http://schemas.microsoft.com/office/drawing/2014/main" id="{BB57D60E-80D1-41B3-B111-3CEAEC2D581F}"/>
              </a:ext>
            </a:extLst>
          </p:cNvPr>
          <p:cNvSpPr>
            <a:spLocks noGrp="1"/>
          </p:cNvSpPr>
          <p:nvPr>
            <p:ph type="subTitle" idx="1"/>
          </p:nvPr>
        </p:nvSpPr>
        <p:spPr>
          <a:xfrm>
            <a:off x="696286" y="4615941"/>
            <a:ext cx="10799428" cy="1709358"/>
          </a:xfrm>
        </p:spPr>
        <p:txBody>
          <a:bodyPr>
            <a:normAutofit fontScale="92500"/>
          </a:bodyPr>
          <a:lstStyle/>
          <a:p>
            <a:r>
              <a:rPr lang="en-GB" sz="3600" b="1" dirty="0"/>
              <a:t>Email: </a:t>
            </a:r>
            <a:r>
              <a:rPr lang="en-GB" sz="3600" b="1" dirty="0">
                <a:solidFill>
                  <a:schemeClr val="accent4"/>
                </a:solidFill>
                <a:hlinkClick r:id="rId2">
                  <a:extLst>
                    <a:ext uri="{A12FA001-AC4F-418D-AE19-62706E023703}">
                      <ahyp:hlinkClr xmlns:ahyp="http://schemas.microsoft.com/office/drawing/2018/hyperlinkcolor" val="tx"/>
                    </a:ext>
                  </a:extLst>
                </a:hlinkClick>
              </a:rPr>
              <a:t>platform-stacks@engage.digitaltwinconsortium.org</a:t>
            </a:r>
            <a:endParaRPr lang="en-GB" sz="3600" b="1" dirty="0">
              <a:solidFill>
                <a:schemeClr val="accent4"/>
              </a:solidFill>
            </a:endParaRPr>
          </a:p>
          <a:p>
            <a:endParaRPr lang="en-GB" sz="3600" b="1" dirty="0"/>
          </a:p>
          <a:p>
            <a:r>
              <a:rPr lang="en-GB" baseline="30000" dirty="0"/>
              <a:t>7th</a:t>
            </a:r>
            <a:r>
              <a:rPr lang="en-GB" dirty="0"/>
              <a:t> January 2021</a:t>
            </a:r>
          </a:p>
        </p:txBody>
      </p:sp>
    </p:spTree>
    <p:extLst>
      <p:ext uri="{BB962C8B-B14F-4D97-AF65-F5344CB8AC3E}">
        <p14:creationId xmlns:p14="http://schemas.microsoft.com/office/powerpoint/2010/main" val="1290945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638898-5A01-4AD4-BA1B-28D31CDE2D92}"/>
              </a:ext>
            </a:extLst>
          </p:cNvPr>
          <p:cNvSpPr>
            <a:spLocks noGrp="1"/>
          </p:cNvSpPr>
          <p:nvPr>
            <p:ph idx="1"/>
          </p:nvPr>
        </p:nvSpPr>
        <p:spPr/>
        <p:txBody>
          <a:bodyPr>
            <a:normAutofit/>
          </a:bodyPr>
          <a:lstStyle/>
          <a:p>
            <a:pPr>
              <a:lnSpc>
                <a:spcPct val="120000"/>
              </a:lnSpc>
            </a:pPr>
            <a:r>
              <a:rPr lang="en-GB" dirty="0"/>
              <a:t>Abstract Stack</a:t>
            </a:r>
          </a:p>
          <a:p>
            <a:pPr lvl="1">
              <a:lnSpc>
                <a:spcPct val="120000"/>
              </a:lnSpc>
            </a:pPr>
            <a:r>
              <a:rPr lang="en-GB" dirty="0"/>
              <a:t>Rationale</a:t>
            </a:r>
          </a:p>
          <a:p>
            <a:pPr>
              <a:lnSpc>
                <a:spcPct val="120000"/>
              </a:lnSpc>
            </a:pPr>
            <a:r>
              <a:rPr lang="en-GB" dirty="0"/>
              <a:t>Expanded Traditional Stack</a:t>
            </a:r>
          </a:p>
          <a:p>
            <a:pPr>
              <a:lnSpc>
                <a:spcPct val="120000"/>
              </a:lnSpc>
            </a:pPr>
            <a:r>
              <a:rPr lang="en-GB" dirty="0"/>
              <a:t>Mesh View</a:t>
            </a:r>
          </a:p>
          <a:p>
            <a:pPr lvl="1">
              <a:lnSpc>
                <a:spcPct val="120000"/>
              </a:lnSpc>
            </a:pPr>
            <a:r>
              <a:rPr lang="en-GB" dirty="0"/>
              <a:t>Simplified</a:t>
            </a:r>
          </a:p>
          <a:p>
            <a:pPr lvl="1">
              <a:lnSpc>
                <a:spcPct val="120000"/>
              </a:lnSpc>
            </a:pPr>
            <a:r>
              <a:rPr lang="en-GB" dirty="0"/>
              <a:t>Expanded</a:t>
            </a:r>
          </a:p>
        </p:txBody>
      </p:sp>
      <p:sp>
        <p:nvSpPr>
          <p:cNvPr id="4" name="Title 3">
            <a:extLst>
              <a:ext uri="{FF2B5EF4-FFF2-40B4-BE49-F238E27FC236}">
                <a16:creationId xmlns:a16="http://schemas.microsoft.com/office/drawing/2014/main" id="{3CCCEE84-F0F8-4CC1-AA59-55E371D4B534}"/>
              </a:ext>
            </a:extLst>
          </p:cNvPr>
          <p:cNvSpPr>
            <a:spLocks noGrp="1"/>
          </p:cNvSpPr>
          <p:nvPr>
            <p:ph type="title"/>
          </p:nvPr>
        </p:nvSpPr>
        <p:spPr/>
        <p:txBody>
          <a:bodyPr/>
          <a:lstStyle/>
          <a:p>
            <a:r>
              <a:rPr lang="en-GB" dirty="0"/>
              <a:t>Outline</a:t>
            </a:r>
          </a:p>
        </p:txBody>
      </p:sp>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4198D5AE-3414-4FEF-87C4-B864F93A2AC4}"/>
                  </a:ext>
                </a:extLst>
              </p:cNvPr>
              <p:cNvGraphicFramePr>
                <a:graphicFrameLocks noChangeAspect="1"/>
              </p:cNvGraphicFramePr>
              <p:nvPr/>
            </p:nvGraphicFramePr>
            <p:xfrm>
              <a:off x="5753100" y="1469390"/>
              <a:ext cx="3048000" cy="1714500"/>
            </p:xfrm>
            <a:graphic>
              <a:graphicData uri="http://schemas.microsoft.com/office/powerpoint/2016/slidezoom">
                <pslz:sldZm>
                  <pslz:sldZmObj sldId="594" cId="2801634504">
                    <pslz:zmPr id="{C4CC8E06-73BA-4B88-B8D8-46D5C8770814}"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6" name="Slide Zoom 5">
                <a:extLst>
                  <a:ext uri="{FF2B5EF4-FFF2-40B4-BE49-F238E27FC236}">
                    <a16:creationId xmlns:a16="http://schemas.microsoft.com/office/drawing/2014/main" id="{4198D5AE-3414-4FEF-87C4-B864F93A2AC4}"/>
                  </a:ext>
                </a:extLst>
              </p:cNvPr>
              <p:cNvPicPr>
                <a:picLocks noGrp="1" noRot="1" noChangeAspect="1" noMove="1" noResize="1" noEditPoints="1" noAdjustHandles="1" noChangeArrowheads="1" noChangeShapeType="1"/>
              </p:cNvPicPr>
              <p:nvPr/>
            </p:nvPicPr>
            <p:blipFill>
              <a:blip r:embed="rId4"/>
              <a:stretch>
                <a:fillRect/>
              </a:stretch>
            </p:blipFill>
            <p:spPr>
              <a:xfrm>
                <a:off x="5753100" y="146939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Slide Zoom 7">
                <a:extLst>
                  <a:ext uri="{FF2B5EF4-FFF2-40B4-BE49-F238E27FC236}">
                    <a16:creationId xmlns:a16="http://schemas.microsoft.com/office/drawing/2014/main" id="{510AF9CC-2CC5-4624-A09A-80DFFF37796D}"/>
                  </a:ext>
                </a:extLst>
              </p:cNvPr>
              <p:cNvGraphicFramePr>
                <a:graphicFrameLocks noChangeAspect="1"/>
              </p:cNvGraphicFramePr>
              <p:nvPr/>
            </p:nvGraphicFramePr>
            <p:xfrm>
              <a:off x="9000259" y="1482090"/>
              <a:ext cx="3048000" cy="1714500"/>
            </p:xfrm>
            <a:graphic>
              <a:graphicData uri="http://schemas.microsoft.com/office/powerpoint/2016/slidezoom">
                <pslz:sldZm>
                  <pslz:sldZmObj sldId="595" cId="3163374429">
                    <pslz:zmPr id="{B7AD5F41-6409-4579-BA12-A88F26512CB4}"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8" name="Slide Zoom 7">
                <a:extLst>
                  <a:ext uri="{FF2B5EF4-FFF2-40B4-BE49-F238E27FC236}">
                    <a16:creationId xmlns:a16="http://schemas.microsoft.com/office/drawing/2014/main" id="{510AF9CC-2CC5-4624-A09A-80DFFF37796D}"/>
                  </a:ext>
                </a:extLst>
              </p:cNvPr>
              <p:cNvPicPr>
                <a:picLocks noGrp="1" noRot="1" noChangeAspect="1" noMove="1" noResize="1" noEditPoints="1" noAdjustHandles="1" noChangeArrowheads="1" noChangeShapeType="1"/>
              </p:cNvPicPr>
              <p:nvPr/>
            </p:nvPicPr>
            <p:blipFill>
              <a:blip r:embed="rId6"/>
              <a:stretch>
                <a:fillRect/>
              </a:stretch>
            </p:blipFill>
            <p:spPr>
              <a:xfrm>
                <a:off x="9000259" y="1482090"/>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70BB09D7-0257-473A-8747-D775D3EF2EDF}"/>
                  </a:ext>
                </a:extLst>
              </p:cNvPr>
              <p:cNvGraphicFramePr>
                <a:graphicFrameLocks noChangeAspect="1"/>
              </p:cNvGraphicFramePr>
              <p:nvPr/>
            </p:nvGraphicFramePr>
            <p:xfrm>
              <a:off x="5753100" y="3257127"/>
              <a:ext cx="3048000" cy="1714500"/>
            </p:xfrm>
            <a:graphic>
              <a:graphicData uri="http://schemas.microsoft.com/office/powerpoint/2016/slidezoom">
                <pslz:sldZm>
                  <pslz:sldZmObj sldId="597" cId="3441978821">
                    <pslz:zmPr id="{87E54499-229C-4300-9A22-CC8871F3D21B}"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0" name="Slide Zoom 9">
                <a:extLst>
                  <a:ext uri="{FF2B5EF4-FFF2-40B4-BE49-F238E27FC236}">
                    <a16:creationId xmlns:a16="http://schemas.microsoft.com/office/drawing/2014/main" id="{70BB09D7-0257-473A-8747-D775D3EF2EDF}"/>
                  </a:ext>
                </a:extLst>
              </p:cNvPr>
              <p:cNvPicPr>
                <a:picLocks noGrp="1" noRot="1" noChangeAspect="1" noMove="1" noResize="1" noEditPoints="1" noAdjustHandles="1" noChangeArrowheads="1" noChangeShapeType="1"/>
              </p:cNvPicPr>
              <p:nvPr/>
            </p:nvPicPr>
            <p:blipFill>
              <a:blip r:embed="rId8"/>
              <a:stretch>
                <a:fillRect/>
              </a:stretch>
            </p:blipFill>
            <p:spPr>
              <a:xfrm>
                <a:off x="5753100" y="3257127"/>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2" name="Slide Zoom 11">
                <a:extLst>
                  <a:ext uri="{FF2B5EF4-FFF2-40B4-BE49-F238E27FC236}">
                    <a16:creationId xmlns:a16="http://schemas.microsoft.com/office/drawing/2014/main" id="{60BD4226-8554-488E-9B79-C72BB1877AD8}"/>
                  </a:ext>
                </a:extLst>
              </p:cNvPr>
              <p:cNvGraphicFramePr>
                <a:graphicFrameLocks noChangeAspect="1"/>
              </p:cNvGraphicFramePr>
              <p:nvPr/>
            </p:nvGraphicFramePr>
            <p:xfrm>
              <a:off x="9000259" y="3257127"/>
              <a:ext cx="3048000" cy="1714500"/>
            </p:xfrm>
            <a:graphic>
              <a:graphicData uri="http://schemas.microsoft.com/office/powerpoint/2016/slidezoom">
                <pslz:sldZm>
                  <pslz:sldZmObj sldId="598" cId="3921305886">
                    <pslz:zmPr id="{DBB75C57-C687-4C57-AFBD-4A44D75F58FF}"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2" name="Slide Zoom 11">
                <a:extLst>
                  <a:ext uri="{FF2B5EF4-FFF2-40B4-BE49-F238E27FC236}">
                    <a16:creationId xmlns:a16="http://schemas.microsoft.com/office/drawing/2014/main" id="{60BD4226-8554-488E-9B79-C72BB1877AD8}"/>
                  </a:ext>
                </a:extLst>
              </p:cNvPr>
              <p:cNvPicPr>
                <a:picLocks noGrp="1" noRot="1" noChangeAspect="1" noMove="1" noResize="1" noEditPoints="1" noAdjustHandles="1" noChangeArrowheads="1" noChangeShapeType="1"/>
              </p:cNvPicPr>
              <p:nvPr/>
            </p:nvPicPr>
            <p:blipFill>
              <a:blip r:embed="rId10"/>
              <a:stretch>
                <a:fillRect/>
              </a:stretch>
            </p:blipFill>
            <p:spPr>
              <a:xfrm>
                <a:off x="9000259" y="3257127"/>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F1ADAF67-1B30-46C3-94B8-18FAEA1F6149}"/>
                  </a:ext>
                </a:extLst>
              </p:cNvPr>
              <p:cNvGraphicFramePr>
                <a:graphicFrameLocks noChangeAspect="1"/>
              </p:cNvGraphicFramePr>
              <p:nvPr/>
            </p:nvGraphicFramePr>
            <p:xfrm>
              <a:off x="5753100" y="5031212"/>
              <a:ext cx="3048000" cy="1714500"/>
            </p:xfrm>
            <a:graphic>
              <a:graphicData uri="http://schemas.microsoft.com/office/powerpoint/2016/slidezoom">
                <pslz:sldZm>
                  <pslz:sldZmObj sldId="599" cId="386937277">
                    <pslz:zmPr id="{74FBE9EF-E36F-4528-8046-D954D7B14DF7}"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4" name="Slide Zoom 13">
                <a:extLst>
                  <a:ext uri="{FF2B5EF4-FFF2-40B4-BE49-F238E27FC236}">
                    <a16:creationId xmlns:a16="http://schemas.microsoft.com/office/drawing/2014/main" id="{F1ADAF67-1B30-46C3-94B8-18FAEA1F6149}"/>
                  </a:ext>
                </a:extLst>
              </p:cNvPr>
              <p:cNvPicPr>
                <a:picLocks noGrp="1" noRot="1" noChangeAspect="1" noMove="1" noResize="1" noEditPoints="1" noAdjustHandles="1" noChangeArrowheads="1" noChangeShapeType="1"/>
              </p:cNvPicPr>
              <p:nvPr/>
            </p:nvPicPr>
            <p:blipFill>
              <a:blip r:embed="rId12"/>
              <a:stretch>
                <a:fillRect/>
              </a:stretch>
            </p:blipFill>
            <p:spPr>
              <a:xfrm>
                <a:off x="5753100" y="5031212"/>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6" name="Slide Zoom 15">
                <a:extLst>
                  <a:ext uri="{FF2B5EF4-FFF2-40B4-BE49-F238E27FC236}">
                    <a16:creationId xmlns:a16="http://schemas.microsoft.com/office/drawing/2014/main" id="{F9E2703D-AC6A-46E6-8D4D-5866FCB44AE2}"/>
                  </a:ext>
                </a:extLst>
              </p:cNvPr>
              <p:cNvGraphicFramePr>
                <a:graphicFrameLocks noChangeAspect="1"/>
              </p:cNvGraphicFramePr>
              <p:nvPr/>
            </p:nvGraphicFramePr>
            <p:xfrm>
              <a:off x="9000259" y="5032164"/>
              <a:ext cx="3048000" cy="1714500"/>
            </p:xfrm>
            <a:graphic>
              <a:graphicData uri="http://schemas.microsoft.com/office/powerpoint/2016/slidezoom">
                <pslz:sldZm>
                  <pslz:sldZmObj sldId="609" cId="972669289">
                    <pslz:zmPr id="{C525846E-D151-46EA-B673-BAE883C07668}" transitionDur="1000">
                      <p166:blipFill xmlns:p166="http://schemas.microsoft.com/office/powerpoint/2016/6/main">
                        <a:blip r:embed="rId1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6" name="Slide Zoom 15">
                <a:extLst>
                  <a:ext uri="{FF2B5EF4-FFF2-40B4-BE49-F238E27FC236}">
                    <a16:creationId xmlns:a16="http://schemas.microsoft.com/office/drawing/2014/main" id="{F9E2703D-AC6A-46E6-8D4D-5866FCB44AE2}"/>
                  </a:ext>
                </a:extLst>
              </p:cNvPr>
              <p:cNvPicPr>
                <a:picLocks noGrp="1" noRot="1" noChangeAspect="1" noMove="1" noResize="1" noEditPoints="1" noAdjustHandles="1" noChangeArrowheads="1" noChangeShapeType="1"/>
              </p:cNvPicPr>
              <p:nvPr/>
            </p:nvPicPr>
            <p:blipFill>
              <a:blip r:embed="rId14"/>
              <a:stretch>
                <a:fillRect/>
              </a:stretch>
            </p:blipFill>
            <p:spPr>
              <a:xfrm>
                <a:off x="9000259" y="5032164"/>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808186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85E5D8-B7BA-4674-8B0E-E7046B4BADE4}"/>
              </a:ext>
            </a:extLst>
          </p:cNvPr>
          <p:cNvSpPr>
            <a:spLocks noGrp="1"/>
          </p:cNvSpPr>
          <p:nvPr>
            <p:ph type="sldNum" sz="quarter" idx="16"/>
          </p:nvPr>
        </p:nvSpPr>
        <p:spPr/>
        <p:txBody>
          <a:bodyPr/>
          <a:lstStyle/>
          <a:p>
            <a:fld id="{EA358FA9-F386-4A12-B482-464C32CE5754}" type="slidenum">
              <a:rPr lang="en-US" smtClean="0"/>
              <a:pPr/>
              <a:t>14</a:t>
            </a:fld>
            <a:endParaRPr lang="en-US"/>
          </a:p>
        </p:txBody>
      </p:sp>
      <p:sp>
        <p:nvSpPr>
          <p:cNvPr id="20" name="Title 19">
            <a:extLst>
              <a:ext uri="{FF2B5EF4-FFF2-40B4-BE49-F238E27FC236}">
                <a16:creationId xmlns:a16="http://schemas.microsoft.com/office/drawing/2014/main" id="{B664BB96-2538-4D1C-8050-F3C1F4F3DBEC}"/>
              </a:ext>
            </a:extLst>
          </p:cNvPr>
          <p:cNvSpPr>
            <a:spLocks noGrp="1"/>
          </p:cNvSpPr>
          <p:nvPr>
            <p:ph type="title"/>
          </p:nvPr>
        </p:nvSpPr>
        <p:spPr/>
        <p:txBody>
          <a:bodyPr/>
          <a:lstStyle/>
          <a:p>
            <a:r>
              <a:rPr lang="en-GB" dirty="0"/>
              <a:t>Abstract Stack</a:t>
            </a:r>
          </a:p>
        </p:txBody>
      </p:sp>
      <p:sp>
        <p:nvSpPr>
          <p:cNvPr id="37" name="Rectangle 36">
            <a:extLst>
              <a:ext uri="{FF2B5EF4-FFF2-40B4-BE49-F238E27FC236}">
                <a16:creationId xmlns:a16="http://schemas.microsoft.com/office/drawing/2014/main" id="{0A89561F-5530-4BFC-8CF8-6B1E1E2B2088}"/>
              </a:ext>
            </a:extLst>
          </p:cNvPr>
          <p:cNvSpPr/>
          <p:nvPr/>
        </p:nvSpPr>
        <p:spPr>
          <a:xfrm>
            <a:off x="1113904" y="1951347"/>
            <a:ext cx="5846618" cy="4770127"/>
          </a:xfrm>
          <a:prstGeom prst="rect">
            <a:avLst/>
          </a:prstGeom>
          <a:noFill/>
          <a:ln>
            <a:solidFill>
              <a:schemeClr val="bg2">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b="1" dirty="0">
                <a:solidFill>
                  <a:schemeClr val="tx1">
                    <a:lumMod val="65000"/>
                    <a:lumOff val="35000"/>
                  </a:schemeClr>
                </a:solidFill>
              </a:rPr>
              <a:t>Systems of Digital Twins / etc.</a:t>
            </a:r>
          </a:p>
          <a:p>
            <a:r>
              <a:rPr lang="en-GB" dirty="0">
                <a:solidFill>
                  <a:schemeClr val="tx1">
                    <a:lumMod val="65000"/>
                    <a:lumOff val="35000"/>
                  </a:schemeClr>
                </a:solidFill>
              </a:rPr>
              <a:t>…</a:t>
            </a:r>
          </a:p>
        </p:txBody>
      </p:sp>
      <p:sp>
        <p:nvSpPr>
          <p:cNvPr id="36" name="Rectangle 35">
            <a:extLst>
              <a:ext uri="{FF2B5EF4-FFF2-40B4-BE49-F238E27FC236}">
                <a16:creationId xmlns:a16="http://schemas.microsoft.com/office/drawing/2014/main" id="{279603BF-E99B-475F-BE84-3D58E1DAACF2}"/>
              </a:ext>
            </a:extLst>
          </p:cNvPr>
          <p:cNvSpPr/>
          <p:nvPr/>
        </p:nvSpPr>
        <p:spPr>
          <a:xfrm>
            <a:off x="1577753" y="3007152"/>
            <a:ext cx="4774874" cy="3084552"/>
          </a:xfrm>
          <a:prstGeom prst="rect">
            <a:avLst/>
          </a:prstGeom>
          <a:solidFill>
            <a:schemeClr val="bg1">
              <a:alpha val="50000"/>
            </a:schemeClr>
          </a:solidFill>
        </p:spPr>
        <p:style>
          <a:lnRef idx="2">
            <a:schemeClr val="accent2"/>
          </a:lnRef>
          <a:fillRef idx="1">
            <a:schemeClr val="lt1"/>
          </a:fillRef>
          <a:effectRef idx="0">
            <a:schemeClr val="accent2"/>
          </a:effectRef>
          <a:fontRef idx="minor">
            <a:schemeClr val="dk1"/>
          </a:fontRef>
        </p:style>
        <p:txBody>
          <a:bodyPr rtlCol="0" anchor="t"/>
          <a:lstStyle/>
          <a:p>
            <a:r>
              <a:rPr lang="en-GB" b="1" dirty="0"/>
              <a:t>Digital</a:t>
            </a:r>
          </a:p>
          <a:p>
            <a:r>
              <a:rPr lang="en-GB" b="1" dirty="0"/>
              <a:t>Twin</a:t>
            </a:r>
          </a:p>
          <a:p>
            <a:r>
              <a:rPr lang="en-GB" b="1" dirty="0"/>
              <a:t>System</a:t>
            </a:r>
          </a:p>
        </p:txBody>
      </p:sp>
      <p:sp>
        <p:nvSpPr>
          <p:cNvPr id="24" name="Trapezoid 23">
            <a:extLst>
              <a:ext uri="{FF2B5EF4-FFF2-40B4-BE49-F238E27FC236}">
                <a16:creationId xmlns:a16="http://schemas.microsoft.com/office/drawing/2014/main" id="{A8190C7B-1BB8-4C07-B07C-AEA6D8AF8EF0}"/>
              </a:ext>
            </a:extLst>
          </p:cNvPr>
          <p:cNvSpPr/>
          <p:nvPr/>
        </p:nvSpPr>
        <p:spPr>
          <a:xfrm>
            <a:off x="1760300" y="5649744"/>
            <a:ext cx="4225844" cy="853918"/>
          </a:xfrm>
          <a:prstGeom prst="trapezoid">
            <a:avLst>
              <a:gd name="adj" fmla="val 34085"/>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000" dirty="0"/>
              <a:t>IT/OT Platform</a:t>
            </a:r>
          </a:p>
        </p:txBody>
      </p:sp>
      <p:sp>
        <p:nvSpPr>
          <p:cNvPr id="27" name="Trapezoid 26">
            <a:extLst>
              <a:ext uri="{FF2B5EF4-FFF2-40B4-BE49-F238E27FC236}">
                <a16:creationId xmlns:a16="http://schemas.microsoft.com/office/drawing/2014/main" id="{97CA6D57-AA81-440B-A6A9-D83DEC07C718}"/>
              </a:ext>
            </a:extLst>
          </p:cNvPr>
          <p:cNvSpPr/>
          <p:nvPr/>
        </p:nvSpPr>
        <p:spPr>
          <a:xfrm>
            <a:off x="2143371" y="4629766"/>
            <a:ext cx="3512684" cy="853918"/>
          </a:xfrm>
          <a:prstGeom prst="trapezoid">
            <a:avLst>
              <a:gd name="adj" fmla="val 49225"/>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2000" dirty="0">
                <a:solidFill>
                  <a:schemeClr val="tx1"/>
                </a:solidFill>
              </a:rPr>
              <a:t>Digital Twin</a:t>
            </a:r>
          </a:p>
        </p:txBody>
      </p:sp>
      <p:sp>
        <p:nvSpPr>
          <p:cNvPr id="28" name="Trapezoid 27">
            <a:extLst>
              <a:ext uri="{FF2B5EF4-FFF2-40B4-BE49-F238E27FC236}">
                <a16:creationId xmlns:a16="http://schemas.microsoft.com/office/drawing/2014/main" id="{23EB24DF-E372-412D-A077-73ABFF50854C}"/>
              </a:ext>
            </a:extLst>
          </p:cNvPr>
          <p:cNvSpPr/>
          <p:nvPr/>
        </p:nvSpPr>
        <p:spPr>
          <a:xfrm>
            <a:off x="2591243" y="3609788"/>
            <a:ext cx="2589789" cy="853918"/>
          </a:xfrm>
          <a:prstGeom prst="trapezoid">
            <a:avLst>
              <a:gd name="adj" fmla="val 6133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2000" dirty="0"/>
              <a:t>Service Interfaces</a:t>
            </a:r>
          </a:p>
        </p:txBody>
      </p:sp>
      <p:sp>
        <p:nvSpPr>
          <p:cNvPr id="35" name="Freeform: Shape 34">
            <a:extLst>
              <a:ext uri="{FF2B5EF4-FFF2-40B4-BE49-F238E27FC236}">
                <a16:creationId xmlns:a16="http://schemas.microsoft.com/office/drawing/2014/main" id="{EDBC575E-70A7-4A9E-8314-4D2CE6DE924F}"/>
              </a:ext>
            </a:extLst>
          </p:cNvPr>
          <p:cNvSpPr/>
          <p:nvPr/>
        </p:nvSpPr>
        <p:spPr>
          <a:xfrm>
            <a:off x="1974864" y="2589810"/>
            <a:ext cx="3842631" cy="853918"/>
          </a:xfrm>
          <a:custGeom>
            <a:avLst/>
            <a:gdLst>
              <a:gd name="connsiteX0" fmla="*/ 0 w 4313804"/>
              <a:gd name="connsiteY0" fmla="*/ 0 h 958623"/>
              <a:gd name="connsiteX1" fmla="*/ 4313804 w 4313804"/>
              <a:gd name="connsiteY1" fmla="*/ 0 h 958623"/>
              <a:gd name="connsiteX2" fmla="*/ 3130719 w 4313804"/>
              <a:gd name="connsiteY2" fmla="*/ 958623 h 958623"/>
              <a:gd name="connsiteX3" fmla="*/ 1183085 w 4313804"/>
              <a:gd name="connsiteY3" fmla="*/ 958623 h 958623"/>
            </a:gdLst>
            <a:ahLst/>
            <a:cxnLst>
              <a:cxn ang="0">
                <a:pos x="connsiteX0" y="connsiteY0"/>
              </a:cxn>
              <a:cxn ang="0">
                <a:pos x="connsiteX1" y="connsiteY1"/>
              </a:cxn>
              <a:cxn ang="0">
                <a:pos x="connsiteX2" y="connsiteY2"/>
              </a:cxn>
              <a:cxn ang="0">
                <a:pos x="connsiteX3" y="connsiteY3"/>
              </a:cxn>
            </a:cxnLst>
            <a:rect l="l" t="t" r="r" b="b"/>
            <a:pathLst>
              <a:path w="4313804" h="958623">
                <a:moveTo>
                  <a:pt x="0" y="0"/>
                </a:moveTo>
                <a:lnTo>
                  <a:pt x="4313804" y="0"/>
                </a:lnTo>
                <a:lnTo>
                  <a:pt x="3130719" y="958623"/>
                </a:lnTo>
                <a:lnTo>
                  <a:pt x="1183085" y="958623"/>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2000" dirty="0"/>
              <a:t>Applications &amp;</a:t>
            </a:r>
          </a:p>
          <a:p>
            <a:pPr algn="ctr"/>
            <a:r>
              <a:rPr lang="en-GB" sz="2000" dirty="0"/>
              <a:t>Services</a:t>
            </a:r>
          </a:p>
        </p:txBody>
      </p:sp>
      <p:sp>
        <p:nvSpPr>
          <p:cNvPr id="31" name="Rectangle 30">
            <a:extLst>
              <a:ext uri="{FF2B5EF4-FFF2-40B4-BE49-F238E27FC236}">
                <a16:creationId xmlns:a16="http://schemas.microsoft.com/office/drawing/2014/main" id="{DCAE8AD7-9C40-494A-8F59-FEBAF10670BC}"/>
              </a:ext>
            </a:extLst>
          </p:cNvPr>
          <p:cNvSpPr/>
          <p:nvPr/>
        </p:nvSpPr>
        <p:spPr>
          <a:xfrm>
            <a:off x="7080735" y="1951347"/>
            <a:ext cx="1244115" cy="4770128"/>
          </a:xfrm>
          <a:prstGeom prst="rect">
            <a:avLst/>
          </a:prstGeom>
          <a:gradFill flip="none" rotWithShape="1">
            <a:gsLst>
              <a:gs pos="17000">
                <a:schemeClr val="tx1">
                  <a:lumMod val="75000"/>
                  <a:lumOff val="25000"/>
                </a:schemeClr>
              </a:gs>
              <a:gs pos="100000">
                <a:schemeClr val="bg1"/>
              </a:gs>
            </a:gsLst>
            <a:lin ang="0" scaled="1"/>
            <a:tileRect/>
          </a:gradFill>
          <a:ln>
            <a:noFill/>
          </a:ln>
        </p:spPr>
        <p:style>
          <a:lnRef idx="2">
            <a:schemeClr val="dk1">
              <a:shade val="50000"/>
            </a:schemeClr>
          </a:lnRef>
          <a:fillRef idx="1">
            <a:schemeClr val="dk1"/>
          </a:fillRef>
          <a:effectRef idx="0">
            <a:schemeClr val="dk1"/>
          </a:effectRef>
          <a:fontRef idx="minor">
            <a:schemeClr val="lt1"/>
          </a:fontRef>
        </p:style>
        <p:txBody>
          <a:bodyPr vert="vert" rtlCol="0" anchor="b"/>
          <a:lstStyle/>
          <a:p>
            <a:pPr algn="ctr"/>
            <a:r>
              <a:rPr lang="en-GB" sz="2000" dirty="0"/>
              <a:t>Real-world</a:t>
            </a:r>
          </a:p>
          <a:p>
            <a:pPr algn="ctr"/>
            <a:r>
              <a:rPr lang="en-GB" sz="2000" dirty="0"/>
              <a:t>(</a:t>
            </a:r>
            <a:r>
              <a:rPr lang="en-GB" sz="1600" i="1" dirty="0"/>
              <a:t>entities, processes, and their interactions</a:t>
            </a:r>
            <a:r>
              <a:rPr lang="en-GB" sz="2000" dirty="0"/>
              <a:t>)</a:t>
            </a:r>
          </a:p>
        </p:txBody>
      </p:sp>
      <p:sp>
        <p:nvSpPr>
          <p:cNvPr id="32" name="Rectangle: Rounded Corners 31">
            <a:extLst>
              <a:ext uri="{FF2B5EF4-FFF2-40B4-BE49-F238E27FC236}">
                <a16:creationId xmlns:a16="http://schemas.microsoft.com/office/drawing/2014/main" id="{7786E4AE-F0BD-47CD-AD0E-E9F9E6FED4DF}"/>
              </a:ext>
            </a:extLst>
          </p:cNvPr>
          <p:cNvSpPr/>
          <p:nvPr/>
        </p:nvSpPr>
        <p:spPr>
          <a:xfrm>
            <a:off x="5900122" y="2589810"/>
            <a:ext cx="853918" cy="2893874"/>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vert="vert" rtlCol="0" anchor="ctr"/>
          <a:lstStyle/>
          <a:p>
            <a:pPr algn="ctr"/>
            <a:r>
              <a:rPr lang="en-GB" sz="2000" dirty="0"/>
              <a:t>Synchronisation Mechanisms</a:t>
            </a:r>
            <a:endParaRPr lang="en-GB" sz="1600" dirty="0"/>
          </a:p>
        </p:txBody>
      </p:sp>
      <p:sp>
        <p:nvSpPr>
          <p:cNvPr id="33" name="Rectangle 32">
            <a:extLst>
              <a:ext uri="{FF2B5EF4-FFF2-40B4-BE49-F238E27FC236}">
                <a16:creationId xmlns:a16="http://schemas.microsoft.com/office/drawing/2014/main" id="{9E417A31-49F3-4870-A3A9-DDD20C624487}"/>
              </a:ext>
            </a:extLst>
          </p:cNvPr>
          <p:cNvSpPr/>
          <p:nvPr/>
        </p:nvSpPr>
        <p:spPr>
          <a:xfrm>
            <a:off x="115940" y="1951347"/>
            <a:ext cx="853918" cy="477012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vert270" rtlCol="0" anchor="ctr"/>
          <a:lstStyle/>
          <a:p>
            <a:pPr algn="ctr"/>
            <a:r>
              <a:rPr lang="en-GB" sz="2000" dirty="0"/>
              <a:t>Security, Trust, &amp; Governance</a:t>
            </a:r>
          </a:p>
        </p:txBody>
      </p:sp>
    </p:spTree>
    <p:extLst>
      <p:ext uri="{BB962C8B-B14F-4D97-AF65-F5344CB8AC3E}">
        <p14:creationId xmlns:p14="http://schemas.microsoft.com/office/powerpoint/2010/main" val="155585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2E07D0-D82C-48BF-A87E-5BAB21DA49EC}"/>
              </a:ext>
            </a:extLst>
          </p:cNvPr>
          <p:cNvSpPr>
            <a:spLocks noChangeAspect="1"/>
          </p:cNvSpPr>
          <p:nvPr/>
        </p:nvSpPr>
        <p:spPr>
          <a:xfrm>
            <a:off x="11030857" y="6168571"/>
            <a:ext cx="1161143" cy="689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itle 19">
            <a:extLst>
              <a:ext uri="{FF2B5EF4-FFF2-40B4-BE49-F238E27FC236}">
                <a16:creationId xmlns:a16="http://schemas.microsoft.com/office/drawing/2014/main" id="{B664BB96-2538-4D1C-8050-F3C1F4F3DBEC}"/>
              </a:ext>
            </a:extLst>
          </p:cNvPr>
          <p:cNvSpPr>
            <a:spLocks noGrp="1"/>
          </p:cNvSpPr>
          <p:nvPr>
            <p:ph type="title"/>
          </p:nvPr>
        </p:nvSpPr>
        <p:spPr>
          <a:xfrm>
            <a:off x="145143" y="61277"/>
            <a:ext cx="11207133" cy="1325563"/>
          </a:xfrm>
        </p:spPr>
        <p:txBody>
          <a:bodyPr/>
          <a:lstStyle/>
          <a:p>
            <a:r>
              <a:rPr lang="en-GB" dirty="0"/>
              <a:t>Abstract Stack Rationale</a:t>
            </a:r>
          </a:p>
        </p:txBody>
      </p:sp>
      <p:sp>
        <p:nvSpPr>
          <p:cNvPr id="7" name="TextBox 6">
            <a:extLst>
              <a:ext uri="{FF2B5EF4-FFF2-40B4-BE49-F238E27FC236}">
                <a16:creationId xmlns:a16="http://schemas.microsoft.com/office/drawing/2014/main" id="{9D065C07-9AD0-4351-99E6-180BA0E96A53}"/>
              </a:ext>
            </a:extLst>
          </p:cNvPr>
          <p:cNvSpPr txBox="1"/>
          <p:nvPr/>
        </p:nvSpPr>
        <p:spPr>
          <a:xfrm>
            <a:off x="0" y="1386841"/>
            <a:ext cx="12192000" cy="5471160"/>
          </a:xfrm>
          <a:prstGeom prst="rect">
            <a:avLst/>
          </a:prstGeom>
          <a:noFill/>
        </p:spPr>
        <p:txBody>
          <a:bodyPr wrap="square" lIns="36000" tIns="36000" rIns="36000" bIns="36000" rtlCol="0" anchor="ctr">
            <a:normAutofit fontScale="85000" lnSpcReduction="20000"/>
          </a:bodyPr>
          <a:lstStyle/>
          <a:p>
            <a:pPr algn="just">
              <a:defRPr/>
            </a:pPr>
            <a:r>
              <a:rPr lang="en-GB" sz="1600" dirty="0"/>
              <a:t>A </a:t>
            </a:r>
            <a:r>
              <a:rPr lang="en-GB" sz="1600" b="1" u="sng" dirty="0"/>
              <a:t>Digital Twin System</a:t>
            </a:r>
            <a:r>
              <a:rPr lang="en-GB" sz="1600" b="1" dirty="0"/>
              <a:t> </a:t>
            </a:r>
            <a:r>
              <a:rPr lang="en-GB" sz="1600" dirty="0"/>
              <a:t>is comprised of Digital Twins, the IT/OT system they run on and the required APIs and protocols for integration and use within other systems and applications. This in turn facilitates the creation of </a:t>
            </a:r>
            <a:r>
              <a:rPr lang="en-GB" sz="1600" b="1" u="sng" dirty="0"/>
              <a:t>Systems of Systems</a:t>
            </a:r>
            <a:r>
              <a:rPr lang="en-GB" sz="1600" dirty="0"/>
              <a:t> (shown as </a:t>
            </a:r>
            <a:r>
              <a:rPr lang="en-GB" sz="1600" b="1" u="sng" dirty="0"/>
              <a:t>Systems of Digital Twins</a:t>
            </a:r>
            <a:r>
              <a:rPr lang="en-GB" sz="1600" dirty="0"/>
              <a:t>) approach to integrating Digital Twins for meaningful use cases. The practical approach to describing these concepts is primarily in terms of federations of Digital Twin Systems where both the larger System of Systems and the individual DT are valid DTs. The Digital Twin System may not always include the Applications &amp; Services when implemented within a </a:t>
            </a:r>
            <a:r>
              <a:rPr lang="en-GB" sz="1600" dirty="0" err="1"/>
              <a:t>SoS</a:t>
            </a:r>
            <a:r>
              <a:rPr lang="en-GB" sz="1600" dirty="0"/>
              <a:t> solution.</a:t>
            </a:r>
            <a:endParaRPr lang="en-GB" sz="1600" dirty="0">
              <a:solidFill>
                <a:srgbClr val="FF0000"/>
              </a:solidFill>
            </a:endParaRPr>
          </a:p>
          <a:p>
            <a:pPr algn="just">
              <a:defRPr/>
            </a:pPr>
            <a:endParaRPr lang="en-GB" sz="1600" dirty="0">
              <a:solidFill>
                <a:srgbClr val="FF0000"/>
              </a:solidFill>
            </a:endParaRPr>
          </a:p>
          <a:p>
            <a:pPr algn="just">
              <a:defRPr/>
            </a:pPr>
            <a:r>
              <a:rPr lang="en-GB" sz="1600" b="1" u="sng" dirty="0"/>
              <a:t>Data</a:t>
            </a:r>
            <a:r>
              <a:rPr lang="en-GB" sz="1600" dirty="0"/>
              <a:t> is also all around the system but not explicitly shown within the stack diagram but is pulled out in the mesh view to indicate the flow of data between different parts of the system.</a:t>
            </a:r>
            <a:endParaRPr lang="en-GB" sz="1600" b="1" u="sng" dirty="0"/>
          </a:p>
          <a:p>
            <a:pPr algn="just"/>
            <a:endParaRPr lang="en-GB" sz="1600" b="1" dirty="0"/>
          </a:p>
          <a:p>
            <a:pPr algn="just"/>
            <a:r>
              <a:rPr lang="en-GB" sz="1600" b="1" dirty="0"/>
              <a:t>Horizontally (</a:t>
            </a:r>
            <a:r>
              <a:rPr lang="en-GB" sz="1600" i="1" dirty="0"/>
              <a:t>bottom up</a:t>
            </a:r>
            <a:r>
              <a:rPr lang="en-GB" sz="1600" b="1" dirty="0"/>
              <a:t>)</a:t>
            </a:r>
            <a:endParaRPr lang="en-GB" sz="1600" b="1" dirty="0">
              <a:solidFill>
                <a:schemeClr val="accent2"/>
              </a:solidFill>
            </a:endParaRPr>
          </a:p>
          <a:p>
            <a:pPr marL="628650" lvl="1" indent="-171450" algn="just">
              <a:buFont typeface="Arial" panose="020B0604020202020204" pitchFamily="34" charset="0"/>
              <a:buChar char="•"/>
            </a:pPr>
            <a:r>
              <a:rPr lang="en-GB" sz="1600" b="0" dirty="0">
                <a:solidFill>
                  <a:schemeClr val="accent5"/>
                </a:solidFill>
              </a:rPr>
              <a:t>As per the definition all Digital Twins must run/exist on an </a:t>
            </a:r>
            <a:r>
              <a:rPr lang="en-GB" sz="1600" b="1" u="sng" dirty="0">
                <a:solidFill>
                  <a:schemeClr val="accent5"/>
                </a:solidFill>
              </a:rPr>
              <a:t>IT/OT Platform</a:t>
            </a:r>
            <a:r>
              <a:rPr lang="en-GB" sz="1600" b="1" dirty="0">
                <a:solidFill>
                  <a:schemeClr val="accent5"/>
                </a:solidFill>
              </a:rPr>
              <a:t> </a:t>
            </a:r>
            <a:r>
              <a:rPr lang="en-GB" sz="1600" b="0" dirty="0">
                <a:solidFill>
                  <a:schemeClr val="accent5"/>
                </a:solidFill>
              </a:rPr>
              <a:t>of some form. This provides the base layer for computation, connectivity, data storage etc. This can mostly be considered as </a:t>
            </a:r>
            <a:r>
              <a:rPr lang="en-GB" sz="1600" b="1" u="sng" dirty="0">
                <a:solidFill>
                  <a:schemeClr val="accent5"/>
                </a:solidFill>
              </a:rPr>
              <a:t>enabling technologies</a:t>
            </a:r>
            <a:r>
              <a:rPr lang="en-GB" sz="1600" b="1" dirty="0">
                <a:solidFill>
                  <a:schemeClr val="accent5"/>
                </a:solidFill>
              </a:rPr>
              <a:t> </a:t>
            </a:r>
            <a:r>
              <a:rPr lang="en-GB" sz="1600" dirty="0">
                <a:solidFill>
                  <a:schemeClr val="accent5"/>
                </a:solidFill>
              </a:rPr>
              <a:t>as suggested by Gartner’s Digital Twin reference model</a:t>
            </a:r>
            <a:endParaRPr lang="en-GB" sz="1600" b="1" u="sng" dirty="0">
              <a:solidFill>
                <a:schemeClr val="accent5"/>
              </a:solidFill>
            </a:endParaRPr>
          </a:p>
          <a:p>
            <a:pPr marL="628650" lvl="1" indent="-171450" algn="just">
              <a:buFont typeface="Arial" panose="020B0604020202020204" pitchFamily="34" charset="0"/>
              <a:buChar char="•"/>
            </a:pPr>
            <a:r>
              <a:rPr lang="en-GB" sz="1600" b="1" u="sng" dirty="0">
                <a:solidFill>
                  <a:schemeClr val="accent4"/>
                </a:solidFill>
              </a:rPr>
              <a:t>Digital Twins</a:t>
            </a:r>
            <a:r>
              <a:rPr lang="en-GB" sz="1600" b="0" dirty="0">
                <a:solidFill>
                  <a:schemeClr val="accent4"/>
                </a:solidFill>
              </a:rPr>
              <a:t> then run on/use that IT/OT platform, this includes all types of twins and the appropriate breakdown of their parts. </a:t>
            </a:r>
            <a:r>
              <a:rPr lang="en-GB" sz="1600" dirty="0">
                <a:solidFill>
                  <a:schemeClr val="accent4"/>
                </a:solidFill>
              </a:rPr>
              <a:t>Specifically this includes digital models (reference and simulation) and their supporting data</a:t>
            </a:r>
            <a:endParaRPr lang="en-GB" sz="1600" b="0" dirty="0">
              <a:solidFill>
                <a:schemeClr val="accent4"/>
              </a:solidFill>
            </a:endParaRPr>
          </a:p>
          <a:p>
            <a:pPr marL="628650" lvl="1" indent="-171450" algn="just">
              <a:buFont typeface="Arial" panose="020B0604020202020204" pitchFamily="34" charset="0"/>
              <a:buChar char="•"/>
            </a:pPr>
            <a:r>
              <a:rPr lang="en-GB" sz="1600" b="0" dirty="0">
                <a:solidFill>
                  <a:schemeClr val="accent2"/>
                </a:solidFill>
              </a:rPr>
              <a:t>Above the Digital Twins are the  “standardised” </a:t>
            </a:r>
            <a:r>
              <a:rPr lang="en-GB" sz="1600" b="1" u="sng" dirty="0">
                <a:solidFill>
                  <a:schemeClr val="accent2"/>
                </a:solidFill>
              </a:rPr>
              <a:t>service interfaces</a:t>
            </a:r>
            <a:r>
              <a:rPr lang="en-GB" sz="1600" b="1" dirty="0">
                <a:solidFill>
                  <a:schemeClr val="accent2"/>
                </a:solidFill>
              </a:rPr>
              <a:t> </a:t>
            </a:r>
            <a:r>
              <a:rPr lang="en-GB" sz="1600" dirty="0">
                <a:solidFill>
                  <a:schemeClr val="accent2"/>
                </a:solidFill>
              </a:rPr>
              <a:t>(i.e. integrations, APIs, and protocols) </a:t>
            </a:r>
            <a:r>
              <a:rPr lang="en-GB" sz="1600" b="0" dirty="0">
                <a:solidFill>
                  <a:schemeClr val="accent2"/>
                </a:solidFill>
              </a:rPr>
              <a:t>for use within particular domains or with other Twins.</a:t>
            </a:r>
          </a:p>
          <a:p>
            <a:pPr marL="1085850" lvl="2" indent="-171450" algn="just">
              <a:buFont typeface="Arial" panose="020B0604020202020204" pitchFamily="34" charset="0"/>
              <a:buChar char="•"/>
            </a:pPr>
            <a:r>
              <a:rPr lang="en-GB" sz="1600" b="0" dirty="0">
                <a:solidFill>
                  <a:schemeClr val="accent2"/>
                </a:solidFill>
              </a:rPr>
              <a:t>An API describes all the valid messages that one program can accept. It says nothing about the proper ordering of these messages, or their interaction with other programs. Protocols sit on top of APIs. A protocol describes the valid sequence of messages that flow between the APIs of multiple parties to accomplish some higher-level task. Services interfaces summarise these concepts.</a:t>
            </a:r>
          </a:p>
          <a:p>
            <a:pPr marL="628650" lvl="1" indent="-171450" algn="just">
              <a:buFont typeface="Arial" panose="020B0604020202020204" pitchFamily="34" charset="0"/>
              <a:buChar char="•"/>
            </a:pPr>
            <a:r>
              <a:rPr lang="en-GB" sz="1600" b="0" dirty="0">
                <a:solidFill>
                  <a:schemeClr val="accent1"/>
                </a:solidFill>
              </a:rPr>
              <a:t>At the top of the abstract stack are the </a:t>
            </a:r>
            <a:r>
              <a:rPr lang="en-GB" sz="1600" b="1" u="sng" dirty="0">
                <a:solidFill>
                  <a:schemeClr val="accent1"/>
                </a:solidFill>
              </a:rPr>
              <a:t>applications, services and systems</a:t>
            </a:r>
            <a:r>
              <a:rPr lang="en-GB" sz="1600" b="0" dirty="0">
                <a:solidFill>
                  <a:schemeClr val="accent1"/>
                </a:solidFill>
              </a:rPr>
              <a:t> that either feed into, work with, or make use of the twins</a:t>
            </a:r>
            <a:endParaRPr lang="en-GB" sz="1600" b="1" dirty="0">
              <a:solidFill>
                <a:schemeClr val="accent1"/>
              </a:solidFill>
            </a:endParaRPr>
          </a:p>
          <a:p>
            <a:pPr marL="171450" indent="-171450" algn="just">
              <a:buFont typeface="Arial" panose="020B0604020202020204" pitchFamily="34" charset="0"/>
              <a:buChar char="•"/>
            </a:pPr>
            <a:endParaRPr lang="en-GB" sz="1600" b="1" dirty="0"/>
          </a:p>
          <a:p>
            <a:pPr algn="just"/>
            <a:r>
              <a:rPr lang="en-GB" sz="1600" b="1" dirty="0"/>
              <a:t>Vertically (</a:t>
            </a:r>
            <a:r>
              <a:rPr lang="en-GB" sz="1600" i="1" dirty="0"/>
              <a:t>left-right</a:t>
            </a:r>
            <a:r>
              <a:rPr lang="en-GB" sz="1600" b="1" dirty="0"/>
              <a:t>)</a:t>
            </a:r>
          </a:p>
          <a:p>
            <a:pPr marL="628650" lvl="1" indent="-171450" algn="just">
              <a:buFont typeface="Arial" panose="020B0604020202020204" pitchFamily="34" charset="0"/>
              <a:buChar char="•"/>
            </a:pPr>
            <a:r>
              <a:rPr lang="en-GB" sz="1600" b="0" dirty="0">
                <a:solidFill>
                  <a:schemeClr val="accent6"/>
                </a:solidFill>
              </a:rPr>
              <a:t>The aspects of </a:t>
            </a:r>
            <a:r>
              <a:rPr lang="en-GB" sz="1600" b="1" u="sng" dirty="0">
                <a:solidFill>
                  <a:schemeClr val="accent6"/>
                </a:solidFill>
              </a:rPr>
              <a:t>privacy, security, trust, safety, and governance</a:t>
            </a:r>
            <a:r>
              <a:rPr lang="en-GB" sz="1600" b="0" dirty="0">
                <a:solidFill>
                  <a:schemeClr val="accent6"/>
                </a:solidFill>
              </a:rPr>
              <a:t> should be considered at all layers of the architecture including the physical world which provides the context for everything else</a:t>
            </a:r>
          </a:p>
          <a:p>
            <a:pPr marL="628650" lvl="1" indent="-171450" algn="just">
              <a:buFont typeface="Arial" panose="020B0604020202020204" pitchFamily="34" charset="0"/>
              <a:buChar char="•"/>
            </a:pPr>
            <a:r>
              <a:rPr lang="en-GB" sz="1600" b="1" u="sng" dirty="0">
                <a:solidFill>
                  <a:schemeClr val="accent3"/>
                </a:solidFill>
              </a:rPr>
              <a:t>Synchronisation Mechanisms</a:t>
            </a:r>
            <a:r>
              <a:rPr lang="en-GB" sz="1600" dirty="0">
                <a:solidFill>
                  <a:schemeClr val="accent3"/>
                </a:solidFill>
              </a:rPr>
              <a:t> </a:t>
            </a:r>
            <a:r>
              <a:rPr lang="en-GB" sz="1600" b="0" dirty="0">
                <a:solidFill>
                  <a:schemeClr val="accent3"/>
                </a:solidFill>
              </a:rPr>
              <a:t>are a central tenet of Digital Twins and is also defined as a vertical concept from a perspective of ingress, egress, and interoperability. This is indicated between the physical world and the software world’s as it is also the means for synchronising data between the Digital Twin and the real world. These can occur at any layer but would make use of the IT/OT platform. Note: the synchronisation mechanisms is primarily referring to the synchronisation with the real world and not the interactions within the system itself. It is envisaged that synchronisation could however occur between 2 or more Digital Twin Systems as part of large </a:t>
            </a:r>
            <a:r>
              <a:rPr lang="en-GB" sz="1600" b="0" dirty="0" err="1">
                <a:solidFill>
                  <a:schemeClr val="accent3"/>
                </a:solidFill>
              </a:rPr>
              <a:t>SoS</a:t>
            </a:r>
            <a:r>
              <a:rPr lang="en-GB" sz="1600" b="0" dirty="0">
                <a:solidFill>
                  <a:schemeClr val="accent3"/>
                </a:solidFill>
              </a:rPr>
              <a:t> approach (this would likely be similar to the concepts of co-simulation).</a:t>
            </a:r>
          </a:p>
          <a:p>
            <a:pPr marL="628650" lvl="1" indent="-171450" algn="just">
              <a:buFont typeface="Arial" panose="020B0604020202020204" pitchFamily="34" charset="0"/>
              <a:buChar char="•"/>
            </a:pPr>
            <a:r>
              <a:rPr lang="en-GB" sz="1600" b="0" dirty="0"/>
              <a:t>The </a:t>
            </a:r>
            <a:r>
              <a:rPr lang="en-GB" sz="1600" b="1" u="sng" dirty="0"/>
              <a:t>Physical world or real world</a:t>
            </a:r>
            <a:r>
              <a:rPr lang="en-GB" sz="1600" b="0" dirty="0"/>
              <a:t> exists both as the context in which a digital twin operates (and so is the context for the IT/OT platforms) but stretches across the stack and as it is connected to the Digital Twin. It must be noted that scope of this architecture does NOT include IoT systems, physical security considerations, etc.</a:t>
            </a:r>
          </a:p>
        </p:txBody>
      </p:sp>
    </p:spTree>
    <p:extLst>
      <p:ext uri="{BB962C8B-B14F-4D97-AF65-F5344CB8AC3E}">
        <p14:creationId xmlns:p14="http://schemas.microsoft.com/office/powerpoint/2010/main" val="543717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CF68CF-ADE7-462B-B500-21BD4C49B201}"/>
              </a:ext>
            </a:extLst>
          </p:cNvPr>
          <p:cNvSpPr>
            <a:spLocks noGrp="1"/>
          </p:cNvSpPr>
          <p:nvPr>
            <p:ph type="title"/>
          </p:nvPr>
        </p:nvSpPr>
        <p:spPr/>
        <p:txBody>
          <a:bodyPr/>
          <a:lstStyle/>
          <a:p>
            <a:r>
              <a:rPr lang="en-GB" dirty="0"/>
              <a:t>Expanded Stack</a:t>
            </a:r>
          </a:p>
        </p:txBody>
      </p:sp>
      <p:sp>
        <p:nvSpPr>
          <p:cNvPr id="21" name="Rectangle 20">
            <a:extLst>
              <a:ext uri="{FF2B5EF4-FFF2-40B4-BE49-F238E27FC236}">
                <a16:creationId xmlns:a16="http://schemas.microsoft.com/office/drawing/2014/main" id="{C140E1C3-5830-40C6-B70B-1D5E41D78435}"/>
              </a:ext>
            </a:extLst>
          </p:cNvPr>
          <p:cNvSpPr/>
          <p:nvPr/>
        </p:nvSpPr>
        <p:spPr>
          <a:xfrm>
            <a:off x="1429791" y="1493517"/>
            <a:ext cx="9742516" cy="4942793"/>
          </a:xfrm>
          <a:prstGeom prst="rect">
            <a:avLst/>
          </a:prstGeom>
          <a:noFill/>
          <a:ln>
            <a:solidFill>
              <a:schemeClr val="bg2">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400" b="1" dirty="0">
                <a:solidFill>
                  <a:schemeClr val="tx1">
                    <a:lumMod val="65000"/>
                    <a:lumOff val="35000"/>
                  </a:schemeClr>
                </a:solidFill>
              </a:rPr>
              <a:t>Systems of Digital Twins / etc.</a:t>
            </a:r>
          </a:p>
          <a:p>
            <a:r>
              <a:rPr lang="en-GB" sz="1400" dirty="0">
                <a:solidFill>
                  <a:schemeClr val="tx1">
                    <a:lumMod val="65000"/>
                    <a:lumOff val="35000"/>
                  </a:schemeClr>
                </a:solidFill>
              </a:rPr>
              <a:t>…</a:t>
            </a:r>
          </a:p>
        </p:txBody>
      </p:sp>
      <p:sp>
        <p:nvSpPr>
          <p:cNvPr id="18" name="Rectangle 17">
            <a:extLst>
              <a:ext uri="{FF2B5EF4-FFF2-40B4-BE49-F238E27FC236}">
                <a16:creationId xmlns:a16="http://schemas.microsoft.com/office/drawing/2014/main" id="{E167438A-69E2-421F-A4FC-56B91D2BDA98}"/>
              </a:ext>
            </a:extLst>
          </p:cNvPr>
          <p:cNvSpPr/>
          <p:nvPr/>
        </p:nvSpPr>
        <p:spPr>
          <a:xfrm>
            <a:off x="1667967" y="2507530"/>
            <a:ext cx="8333219" cy="3795616"/>
          </a:xfrm>
          <a:prstGeom prst="rect">
            <a:avLst/>
          </a:prstGeom>
          <a:solidFill>
            <a:schemeClr val="bg1">
              <a:alpha val="50000"/>
            </a:schemeClr>
          </a:solidFill>
          <a:ln>
            <a:prstDash val="lgDash"/>
          </a:ln>
        </p:spPr>
        <p:style>
          <a:lnRef idx="2">
            <a:schemeClr val="accent2"/>
          </a:lnRef>
          <a:fillRef idx="1">
            <a:schemeClr val="lt1"/>
          </a:fillRef>
          <a:effectRef idx="0">
            <a:schemeClr val="accent2"/>
          </a:effectRef>
          <a:fontRef idx="minor">
            <a:schemeClr val="dk1"/>
          </a:fontRef>
        </p:style>
        <p:txBody>
          <a:bodyPr rtlCol="0" anchor="t"/>
          <a:lstStyle/>
          <a:p>
            <a:r>
              <a:rPr lang="en-GB" sz="1400" b="1" dirty="0"/>
              <a:t>Digital</a:t>
            </a:r>
          </a:p>
          <a:p>
            <a:r>
              <a:rPr lang="en-GB" sz="1400" b="1" dirty="0"/>
              <a:t>Twin</a:t>
            </a:r>
          </a:p>
          <a:p>
            <a:r>
              <a:rPr lang="en-GB" sz="1400" b="1" dirty="0"/>
              <a:t>System</a:t>
            </a:r>
          </a:p>
        </p:txBody>
      </p:sp>
      <p:sp>
        <p:nvSpPr>
          <p:cNvPr id="14" name="Rectangle 13">
            <a:extLst>
              <a:ext uri="{FF2B5EF4-FFF2-40B4-BE49-F238E27FC236}">
                <a16:creationId xmlns:a16="http://schemas.microsoft.com/office/drawing/2014/main" id="{92F6FC07-31DA-416D-9EFA-7AB3D83C13F7}"/>
              </a:ext>
            </a:extLst>
          </p:cNvPr>
          <p:cNvSpPr/>
          <p:nvPr/>
        </p:nvSpPr>
        <p:spPr>
          <a:xfrm>
            <a:off x="11355775" y="1742093"/>
            <a:ext cx="670482" cy="4473100"/>
          </a:xfrm>
          <a:prstGeom prst="rect">
            <a:avLst/>
          </a:prstGeom>
        </p:spPr>
        <p:style>
          <a:lnRef idx="2">
            <a:schemeClr val="dk1">
              <a:shade val="50000"/>
            </a:schemeClr>
          </a:lnRef>
          <a:fillRef idx="1">
            <a:schemeClr val="dk1"/>
          </a:fillRef>
          <a:effectRef idx="0">
            <a:schemeClr val="dk1"/>
          </a:effectRef>
          <a:fontRef idx="minor">
            <a:schemeClr val="lt1"/>
          </a:fontRef>
        </p:style>
        <p:txBody>
          <a:bodyPr vert="vert" rtlCol="0" anchor="ctr"/>
          <a:lstStyle/>
          <a:p>
            <a:pPr algn="ctr"/>
            <a:r>
              <a:rPr lang="en-GB" dirty="0"/>
              <a:t>Real World</a:t>
            </a:r>
          </a:p>
        </p:txBody>
      </p:sp>
      <p:sp>
        <p:nvSpPr>
          <p:cNvPr id="15" name="Rectangle: Rounded Corners 14">
            <a:extLst>
              <a:ext uri="{FF2B5EF4-FFF2-40B4-BE49-F238E27FC236}">
                <a16:creationId xmlns:a16="http://schemas.microsoft.com/office/drawing/2014/main" id="{06113A7C-2E1C-4F63-8DCD-C4B76588050B}"/>
              </a:ext>
            </a:extLst>
          </p:cNvPr>
          <p:cNvSpPr/>
          <p:nvPr/>
        </p:nvSpPr>
        <p:spPr>
          <a:xfrm>
            <a:off x="9482718" y="2127855"/>
            <a:ext cx="671199" cy="278682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vert="vert" rtlCol="0" anchor="ctr"/>
          <a:lstStyle/>
          <a:p>
            <a:pPr algn="ctr"/>
            <a:r>
              <a:rPr lang="en-GB" sz="1600" dirty="0"/>
              <a:t>Synchronisation Mechanisms</a:t>
            </a:r>
            <a:endParaRPr lang="en-GB" sz="1200" dirty="0"/>
          </a:p>
        </p:txBody>
      </p:sp>
      <p:sp>
        <p:nvSpPr>
          <p:cNvPr id="19" name="Rectangle 18">
            <a:extLst>
              <a:ext uri="{FF2B5EF4-FFF2-40B4-BE49-F238E27FC236}">
                <a16:creationId xmlns:a16="http://schemas.microsoft.com/office/drawing/2014/main" id="{6AB2AE10-3C13-4AE6-8568-A5D090B95602}"/>
              </a:ext>
            </a:extLst>
          </p:cNvPr>
          <p:cNvSpPr/>
          <p:nvPr/>
        </p:nvSpPr>
        <p:spPr>
          <a:xfrm rot="5400000">
            <a:off x="9073911" y="3419295"/>
            <a:ext cx="3219892" cy="67048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a:t>Management &amp; Automation</a:t>
            </a:r>
          </a:p>
        </p:txBody>
      </p:sp>
      <p:grpSp>
        <p:nvGrpSpPr>
          <p:cNvPr id="44" name="Group 43">
            <a:extLst>
              <a:ext uri="{FF2B5EF4-FFF2-40B4-BE49-F238E27FC236}">
                <a16:creationId xmlns:a16="http://schemas.microsoft.com/office/drawing/2014/main" id="{AF2BF5DF-0D1D-4EB3-AE26-48E0ED459B05}"/>
              </a:ext>
            </a:extLst>
          </p:cNvPr>
          <p:cNvGrpSpPr/>
          <p:nvPr/>
        </p:nvGrpSpPr>
        <p:grpSpPr>
          <a:xfrm>
            <a:off x="4896421" y="2144590"/>
            <a:ext cx="4410970" cy="740853"/>
            <a:chOff x="629510" y="1532633"/>
            <a:chExt cx="6180561" cy="1058105"/>
          </a:xfrm>
        </p:grpSpPr>
        <p:sp>
          <p:nvSpPr>
            <p:cNvPr id="13" name="Rectangle 12">
              <a:extLst>
                <a:ext uri="{FF2B5EF4-FFF2-40B4-BE49-F238E27FC236}">
                  <a16:creationId xmlns:a16="http://schemas.microsoft.com/office/drawing/2014/main" id="{5E5AB748-2ECE-4302-9C07-CDCCC25B2600}"/>
                </a:ext>
              </a:extLst>
            </p:cNvPr>
            <p:cNvSpPr/>
            <p:nvPr/>
          </p:nvSpPr>
          <p:spPr>
            <a:xfrm>
              <a:off x="629510" y="1532633"/>
              <a:ext cx="6180561"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Applications</a:t>
              </a:r>
            </a:p>
          </p:txBody>
        </p:sp>
        <p:grpSp>
          <p:nvGrpSpPr>
            <p:cNvPr id="24" name="Group 23">
              <a:extLst>
                <a:ext uri="{FF2B5EF4-FFF2-40B4-BE49-F238E27FC236}">
                  <a16:creationId xmlns:a16="http://schemas.microsoft.com/office/drawing/2014/main" id="{9C709877-F284-429A-8A2C-B86BA1A16912}"/>
                </a:ext>
              </a:extLst>
            </p:cNvPr>
            <p:cNvGrpSpPr/>
            <p:nvPr/>
          </p:nvGrpSpPr>
          <p:grpSpPr>
            <a:xfrm>
              <a:off x="629510" y="2122738"/>
              <a:ext cx="6180561" cy="468000"/>
              <a:chOff x="159748" y="2687193"/>
              <a:chExt cx="6180561" cy="958623"/>
            </a:xfrm>
          </p:grpSpPr>
          <p:sp>
            <p:nvSpPr>
              <p:cNvPr id="22" name="Rectangle 21">
                <a:extLst>
                  <a:ext uri="{FF2B5EF4-FFF2-40B4-BE49-F238E27FC236}">
                    <a16:creationId xmlns:a16="http://schemas.microsoft.com/office/drawing/2014/main" id="{C702B25B-9FC9-46AF-A849-C4F62FC7D4EB}"/>
                  </a:ext>
                </a:extLst>
              </p:cNvPr>
              <p:cNvSpPr/>
              <p:nvPr/>
            </p:nvSpPr>
            <p:spPr>
              <a:xfrm>
                <a:off x="3593100" y="2687193"/>
                <a:ext cx="2747209" cy="9586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Services</a:t>
                </a:r>
              </a:p>
            </p:txBody>
          </p:sp>
          <p:sp>
            <p:nvSpPr>
              <p:cNvPr id="23" name="Rectangle 22">
                <a:extLst>
                  <a:ext uri="{FF2B5EF4-FFF2-40B4-BE49-F238E27FC236}">
                    <a16:creationId xmlns:a16="http://schemas.microsoft.com/office/drawing/2014/main" id="{2AED7BB0-AE0F-47B9-8203-FC32C09095E7}"/>
                  </a:ext>
                </a:extLst>
              </p:cNvPr>
              <p:cNvSpPr/>
              <p:nvPr/>
            </p:nvSpPr>
            <p:spPr>
              <a:xfrm>
                <a:off x="159748" y="2687193"/>
                <a:ext cx="1716676" cy="958623"/>
              </a:xfrm>
              <a:prstGeom prst="rect">
                <a:avLst/>
              </a:prstGeom>
              <a:solidFill>
                <a:srgbClr val="80A6D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fontScale="85000" lnSpcReduction="20000"/>
              </a:bodyPr>
              <a:lstStyle/>
              <a:p>
                <a:pPr algn="ctr"/>
                <a:r>
                  <a:rPr lang="en-GB" sz="1200" dirty="0"/>
                  <a:t>Visualisation / Render Services</a:t>
                </a:r>
              </a:p>
            </p:txBody>
          </p:sp>
          <p:sp>
            <p:nvSpPr>
              <p:cNvPr id="25" name="Rectangle 24">
                <a:extLst>
                  <a:ext uri="{FF2B5EF4-FFF2-40B4-BE49-F238E27FC236}">
                    <a16:creationId xmlns:a16="http://schemas.microsoft.com/office/drawing/2014/main" id="{D21B8919-DD7F-4926-BDC3-CF0B1CB38B5C}"/>
                  </a:ext>
                </a:extLst>
              </p:cNvPr>
              <p:cNvSpPr/>
              <p:nvPr/>
            </p:nvSpPr>
            <p:spPr>
              <a:xfrm>
                <a:off x="1876424" y="2687193"/>
                <a:ext cx="1716676" cy="958623"/>
              </a:xfrm>
              <a:prstGeom prst="rect">
                <a:avLst/>
              </a:prstGeom>
              <a:solidFill>
                <a:srgbClr val="80A6D0"/>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Analytics</a:t>
                </a:r>
              </a:p>
            </p:txBody>
          </p:sp>
        </p:grpSp>
      </p:grpSp>
      <p:sp>
        <p:nvSpPr>
          <p:cNvPr id="11" name="Rectangle 10">
            <a:extLst>
              <a:ext uri="{FF2B5EF4-FFF2-40B4-BE49-F238E27FC236}">
                <a16:creationId xmlns:a16="http://schemas.microsoft.com/office/drawing/2014/main" id="{514F35A3-BF4A-4929-A834-50A8579648DA}"/>
              </a:ext>
            </a:extLst>
          </p:cNvPr>
          <p:cNvSpPr/>
          <p:nvPr/>
        </p:nvSpPr>
        <p:spPr>
          <a:xfrm>
            <a:off x="4896421" y="3774734"/>
            <a:ext cx="4410969" cy="32767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solidFill>
                  <a:schemeClr val="tx1"/>
                </a:solidFill>
              </a:rPr>
              <a:t>Computational Simulation Models</a:t>
            </a:r>
            <a:endParaRPr lang="en-GB" dirty="0">
              <a:solidFill>
                <a:schemeClr val="tx1"/>
              </a:solidFill>
            </a:endParaRPr>
          </a:p>
        </p:txBody>
      </p:sp>
      <p:sp>
        <p:nvSpPr>
          <p:cNvPr id="12" name="Rectangle 11">
            <a:extLst>
              <a:ext uri="{FF2B5EF4-FFF2-40B4-BE49-F238E27FC236}">
                <a16:creationId xmlns:a16="http://schemas.microsoft.com/office/drawing/2014/main" id="{0CE07454-07D4-4EB9-8C90-D2F273469E98}"/>
              </a:ext>
            </a:extLst>
          </p:cNvPr>
          <p:cNvSpPr/>
          <p:nvPr/>
        </p:nvSpPr>
        <p:spPr>
          <a:xfrm>
            <a:off x="4896421" y="2970937"/>
            <a:ext cx="4410970" cy="32767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t>Service Interfaces</a:t>
            </a:r>
          </a:p>
        </p:txBody>
      </p:sp>
      <p:sp>
        <p:nvSpPr>
          <p:cNvPr id="26" name="Rectangle 25">
            <a:extLst>
              <a:ext uri="{FF2B5EF4-FFF2-40B4-BE49-F238E27FC236}">
                <a16:creationId xmlns:a16="http://schemas.microsoft.com/office/drawing/2014/main" id="{84BE0E7E-6CC5-4693-A9D6-CF22491B3275}"/>
              </a:ext>
            </a:extLst>
          </p:cNvPr>
          <p:cNvSpPr/>
          <p:nvPr/>
        </p:nvSpPr>
        <p:spPr>
          <a:xfrm>
            <a:off x="4896421" y="4187908"/>
            <a:ext cx="4410969" cy="32767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solidFill>
                  <a:schemeClr val="tx1"/>
                </a:solidFill>
              </a:rPr>
              <a:t>Digital Representational Models</a:t>
            </a:r>
          </a:p>
        </p:txBody>
      </p:sp>
      <p:grpSp>
        <p:nvGrpSpPr>
          <p:cNvPr id="42" name="Group 41">
            <a:extLst>
              <a:ext uri="{FF2B5EF4-FFF2-40B4-BE49-F238E27FC236}">
                <a16:creationId xmlns:a16="http://schemas.microsoft.com/office/drawing/2014/main" id="{FE3B6A74-87B4-4088-B149-6A2104E1704C}"/>
              </a:ext>
            </a:extLst>
          </p:cNvPr>
          <p:cNvGrpSpPr/>
          <p:nvPr/>
        </p:nvGrpSpPr>
        <p:grpSpPr>
          <a:xfrm>
            <a:off x="4896420" y="4601076"/>
            <a:ext cx="4952750" cy="1567201"/>
            <a:chOff x="629509" y="4483158"/>
            <a:chExt cx="6939692" cy="2238316"/>
          </a:xfrm>
        </p:grpSpPr>
        <p:sp>
          <p:nvSpPr>
            <p:cNvPr id="29" name="Rectangle 28">
              <a:extLst>
                <a:ext uri="{FF2B5EF4-FFF2-40B4-BE49-F238E27FC236}">
                  <a16:creationId xmlns:a16="http://schemas.microsoft.com/office/drawing/2014/main" id="{1D431EE3-5975-42E0-9C6C-38FD00EE58FC}"/>
                </a:ext>
              </a:extLst>
            </p:cNvPr>
            <p:cNvSpPr/>
            <p:nvPr/>
          </p:nvSpPr>
          <p:spPr>
            <a:xfrm>
              <a:off x="629511" y="4483158"/>
              <a:ext cx="6180560" cy="468000"/>
            </a:xfrm>
            <a:prstGeom prst="rect">
              <a:avLst/>
            </a:prstGeom>
            <a:solidFill>
              <a:srgbClr val="97BB3D"/>
            </a:solidFill>
            <a:ln>
              <a:solidFill>
                <a:schemeClr val="accent4">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t>Software Platform / Tooling Stack</a:t>
              </a:r>
            </a:p>
          </p:txBody>
        </p:sp>
        <p:sp>
          <p:nvSpPr>
            <p:cNvPr id="30" name="Rectangle 29">
              <a:extLst>
                <a:ext uri="{FF2B5EF4-FFF2-40B4-BE49-F238E27FC236}">
                  <a16:creationId xmlns:a16="http://schemas.microsoft.com/office/drawing/2014/main" id="{A363EDFA-A50C-4533-9031-B8ECAB2D90CC}"/>
                </a:ext>
              </a:extLst>
            </p:cNvPr>
            <p:cNvSpPr/>
            <p:nvPr/>
          </p:nvSpPr>
          <p:spPr>
            <a:xfrm>
              <a:off x="629511" y="5663368"/>
              <a:ext cx="693969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Orchestration</a:t>
              </a:r>
            </a:p>
          </p:txBody>
        </p:sp>
        <p:grpSp>
          <p:nvGrpSpPr>
            <p:cNvPr id="33" name="Group 32">
              <a:extLst>
                <a:ext uri="{FF2B5EF4-FFF2-40B4-BE49-F238E27FC236}">
                  <a16:creationId xmlns:a16="http://schemas.microsoft.com/office/drawing/2014/main" id="{2577598F-2F3E-4771-9B7F-D16E766E0884}"/>
                </a:ext>
              </a:extLst>
            </p:cNvPr>
            <p:cNvGrpSpPr/>
            <p:nvPr/>
          </p:nvGrpSpPr>
          <p:grpSpPr>
            <a:xfrm>
              <a:off x="629511" y="6253474"/>
              <a:ext cx="6939690" cy="468000"/>
              <a:chOff x="150538" y="6620027"/>
              <a:chExt cx="6180560" cy="468000"/>
            </a:xfrm>
          </p:grpSpPr>
          <p:sp>
            <p:nvSpPr>
              <p:cNvPr id="5" name="Rectangle 4">
                <a:extLst>
                  <a:ext uri="{FF2B5EF4-FFF2-40B4-BE49-F238E27FC236}">
                    <a16:creationId xmlns:a16="http://schemas.microsoft.com/office/drawing/2014/main" id="{B9F67726-FE16-4DB2-8AFB-0C88F6383006}"/>
                  </a:ext>
                </a:extLst>
              </p:cNvPr>
              <p:cNvSpPr/>
              <p:nvPr/>
            </p:nvSpPr>
            <p:spPr>
              <a:xfrm>
                <a:off x="150538" y="6620027"/>
                <a:ext cx="198000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Compute</a:t>
                </a:r>
              </a:p>
            </p:txBody>
          </p:sp>
          <p:sp>
            <p:nvSpPr>
              <p:cNvPr id="31" name="Rectangle 30">
                <a:extLst>
                  <a:ext uri="{FF2B5EF4-FFF2-40B4-BE49-F238E27FC236}">
                    <a16:creationId xmlns:a16="http://schemas.microsoft.com/office/drawing/2014/main" id="{D175A914-8444-4BDD-9AC5-45408C39AE1D}"/>
                  </a:ext>
                </a:extLst>
              </p:cNvPr>
              <p:cNvSpPr/>
              <p:nvPr/>
            </p:nvSpPr>
            <p:spPr>
              <a:xfrm>
                <a:off x="2250818" y="6620027"/>
                <a:ext cx="198000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400" dirty="0"/>
                  <a:t>Networking</a:t>
                </a:r>
              </a:p>
            </p:txBody>
          </p:sp>
          <p:sp>
            <p:nvSpPr>
              <p:cNvPr id="32" name="Rectangle 31">
                <a:extLst>
                  <a:ext uri="{FF2B5EF4-FFF2-40B4-BE49-F238E27FC236}">
                    <a16:creationId xmlns:a16="http://schemas.microsoft.com/office/drawing/2014/main" id="{2075ED5E-CC35-4855-BD54-E5D81A4EB31F}"/>
                  </a:ext>
                </a:extLst>
              </p:cNvPr>
              <p:cNvSpPr/>
              <p:nvPr/>
            </p:nvSpPr>
            <p:spPr>
              <a:xfrm>
                <a:off x="4351098" y="6620027"/>
                <a:ext cx="1980000"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Data Storage</a:t>
                </a:r>
              </a:p>
            </p:txBody>
          </p:sp>
        </p:grpSp>
        <p:sp>
          <p:nvSpPr>
            <p:cNvPr id="27" name="Rectangle 26">
              <a:extLst>
                <a:ext uri="{FF2B5EF4-FFF2-40B4-BE49-F238E27FC236}">
                  <a16:creationId xmlns:a16="http://schemas.microsoft.com/office/drawing/2014/main" id="{74BA2354-4D10-4743-8FDA-185F8C885B26}"/>
                </a:ext>
              </a:extLst>
            </p:cNvPr>
            <p:cNvSpPr/>
            <p:nvPr/>
          </p:nvSpPr>
          <p:spPr>
            <a:xfrm>
              <a:off x="629509" y="5073263"/>
              <a:ext cx="6207015" cy="468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600" dirty="0"/>
                <a:t>Platform APIs</a:t>
              </a:r>
            </a:p>
          </p:txBody>
        </p:sp>
      </p:grpSp>
      <p:sp>
        <p:nvSpPr>
          <p:cNvPr id="2" name="Trapezoid 1">
            <a:extLst>
              <a:ext uri="{FF2B5EF4-FFF2-40B4-BE49-F238E27FC236}">
                <a16:creationId xmlns:a16="http://schemas.microsoft.com/office/drawing/2014/main" id="{A25DDC20-890A-4C15-B6E7-90DEDCDF504F}"/>
              </a:ext>
            </a:extLst>
          </p:cNvPr>
          <p:cNvSpPr/>
          <p:nvPr/>
        </p:nvSpPr>
        <p:spPr>
          <a:xfrm>
            <a:off x="1747963" y="4600433"/>
            <a:ext cx="2958807" cy="1567844"/>
          </a:xfrm>
          <a:prstGeom prst="trapezoid">
            <a:avLst>
              <a:gd name="adj" fmla="val 34085"/>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600" dirty="0"/>
              <a:t>IT/OT Platform</a:t>
            </a:r>
          </a:p>
        </p:txBody>
      </p:sp>
      <p:sp>
        <p:nvSpPr>
          <p:cNvPr id="7" name="Trapezoid 6">
            <a:extLst>
              <a:ext uri="{FF2B5EF4-FFF2-40B4-BE49-F238E27FC236}">
                <a16:creationId xmlns:a16="http://schemas.microsoft.com/office/drawing/2014/main" id="{1C2CD08A-5E5B-4A35-BE4E-08D59E2FE4C2}"/>
              </a:ext>
            </a:extLst>
          </p:cNvPr>
          <p:cNvSpPr/>
          <p:nvPr/>
        </p:nvSpPr>
        <p:spPr>
          <a:xfrm>
            <a:off x="2294863" y="3384111"/>
            <a:ext cx="1865006" cy="1131476"/>
          </a:xfrm>
          <a:prstGeom prst="trapezoid">
            <a:avLst>
              <a:gd name="adj" fmla="val 30664"/>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GB" sz="1600" dirty="0">
                <a:solidFill>
                  <a:schemeClr val="tx1"/>
                </a:solidFill>
              </a:rPr>
              <a:t>Digital Twin</a:t>
            </a:r>
          </a:p>
        </p:txBody>
      </p:sp>
      <p:sp>
        <p:nvSpPr>
          <p:cNvPr id="8" name="Trapezoid 7">
            <a:extLst>
              <a:ext uri="{FF2B5EF4-FFF2-40B4-BE49-F238E27FC236}">
                <a16:creationId xmlns:a16="http://schemas.microsoft.com/office/drawing/2014/main" id="{95D44DCF-7200-47C7-96D2-E4E6EE6640EC}"/>
              </a:ext>
            </a:extLst>
          </p:cNvPr>
          <p:cNvSpPr/>
          <p:nvPr/>
        </p:nvSpPr>
        <p:spPr>
          <a:xfrm>
            <a:off x="2633116" y="2970937"/>
            <a:ext cx="1186752" cy="327679"/>
          </a:xfrm>
          <a:prstGeom prst="trapezoid">
            <a:avLst>
              <a:gd name="adj" fmla="val 73654"/>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GB" sz="1100" dirty="0"/>
              <a:t>Service Interfaces</a:t>
            </a:r>
          </a:p>
        </p:txBody>
      </p:sp>
      <p:sp>
        <p:nvSpPr>
          <p:cNvPr id="9" name="Freeform: Shape 8">
            <a:extLst>
              <a:ext uri="{FF2B5EF4-FFF2-40B4-BE49-F238E27FC236}">
                <a16:creationId xmlns:a16="http://schemas.microsoft.com/office/drawing/2014/main" id="{51E0D087-CB6D-4B21-BDE7-C9B1E8FAF07D}"/>
              </a:ext>
            </a:extLst>
          </p:cNvPr>
          <p:cNvSpPr/>
          <p:nvPr/>
        </p:nvSpPr>
        <p:spPr>
          <a:xfrm>
            <a:off x="1747963" y="2145234"/>
            <a:ext cx="2958807" cy="740209"/>
          </a:xfrm>
          <a:custGeom>
            <a:avLst/>
            <a:gdLst>
              <a:gd name="connsiteX0" fmla="*/ 0 w 4313804"/>
              <a:gd name="connsiteY0" fmla="*/ 0 h 958623"/>
              <a:gd name="connsiteX1" fmla="*/ 4313804 w 4313804"/>
              <a:gd name="connsiteY1" fmla="*/ 0 h 958623"/>
              <a:gd name="connsiteX2" fmla="*/ 3130719 w 4313804"/>
              <a:gd name="connsiteY2" fmla="*/ 958623 h 958623"/>
              <a:gd name="connsiteX3" fmla="*/ 1183085 w 4313804"/>
              <a:gd name="connsiteY3" fmla="*/ 958623 h 958623"/>
              <a:gd name="connsiteX0" fmla="*/ 0 w 4313804"/>
              <a:gd name="connsiteY0" fmla="*/ 0 h 958623"/>
              <a:gd name="connsiteX1" fmla="*/ 4313804 w 4313804"/>
              <a:gd name="connsiteY1" fmla="*/ 0 h 958623"/>
              <a:gd name="connsiteX2" fmla="*/ 3130719 w 4313804"/>
              <a:gd name="connsiteY2" fmla="*/ 958623 h 958623"/>
              <a:gd name="connsiteX3" fmla="*/ 1617391 w 4313804"/>
              <a:gd name="connsiteY3" fmla="*/ 958623 h 958623"/>
              <a:gd name="connsiteX4" fmla="*/ 0 w 4313804"/>
              <a:gd name="connsiteY4" fmla="*/ 0 h 958623"/>
              <a:gd name="connsiteX0" fmla="*/ 0 w 4313804"/>
              <a:gd name="connsiteY0" fmla="*/ 0 h 958623"/>
              <a:gd name="connsiteX1" fmla="*/ 4313804 w 4313804"/>
              <a:gd name="connsiteY1" fmla="*/ 0 h 958623"/>
              <a:gd name="connsiteX2" fmla="*/ 3130719 w 4313804"/>
              <a:gd name="connsiteY2" fmla="*/ 958623 h 958623"/>
              <a:gd name="connsiteX3" fmla="*/ 1617391 w 4313804"/>
              <a:gd name="connsiteY3" fmla="*/ 958623 h 958623"/>
              <a:gd name="connsiteX4" fmla="*/ 0 w 4313804"/>
              <a:gd name="connsiteY4" fmla="*/ 0 h 958623"/>
              <a:gd name="connsiteX0" fmla="*/ 0 w 4313804"/>
              <a:gd name="connsiteY0" fmla="*/ 0 h 958623"/>
              <a:gd name="connsiteX1" fmla="*/ 4313804 w 4313804"/>
              <a:gd name="connsiteY1" fmla="*/ 0 h 958623"/>
              <a:gd name="connsiteX2" fmla="*/ 2527877 w 4313804"/>
              <a:gd name="connsiteY2" fmla="*/ 958623 h 958623"/>
              <a:gd name="connsiteX3" fmla="*/ 1617391 w 4313804"/>
              <a:gd name="connsiteY3" fmla="*/ 958623 h 958623"/>
              <a:gd name="connsiteX4" fmla="*/ 0 w 4313804"/>
              <a:gd name="connsiteY4" fmla="*/ 0 h 958623"/>
              <a:gd name="connsiteX0" fmla="*/ 0 w 4313804"/>
              <a:gd name="connsiteY0" fmla="*/ 0 h 958623"/>
              <a:gd name="connsiteX1" fmla="*/ 4313804 w 4313804"/>
              <a:gd name="connsiteY1" fmla="*/ 0 h 958623"/>
              <a:gd name="connsiteX2" fmla="*/ 2644556 w 4313804"/>
              <a:gd name="connsiteY2" fmla="*/ 958623 h 958623"/>
              <a:gd name="connsiteX3" fmla="*/ 1617391 w 4313804"/>
              <a:gd name="connsiteY3" fmla="*/ 958623 h 958623"/>
              <a:gd name="connsiteX4" fmla="*/ 0 w 4313804"/>
              <a:gd name="connsiteY4" fmla="*/ 0 h 958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3804" h="958623">
                <a:moveTo>
                  <a:pt x="0" y="0"/>
                </a:moveTo>
                <a:lnTo>
                  <a:pt x="4313804" y="0"/>
                </a:lnTo>
                <a:lnTo>
                  <a:pt x="2644556" y="958623"/>
                </a:lnTo>
                <a:lnTo>
                  <a:pt x="1617391" y="958623"/>
                </a:lnTo>
                <a:lnTo>
                  <a:pt x="0" y="0"/>
                </a:lnTo>
                <a:close/>
              </a:path>
            </a:pathLst>
          </a:custGeom>
        </p:spPr>
        <p:style>
          <a:lnRef idx="2">
            <a:schemeClr val="accent1"/>
          </a:lnRef>
          <a:fillRef idx="1">
            <a:schemeClr val="lt1"/>
          </a:fillRef>
          <a:effectRef idx="0">
            <a:schemeClr val="accent1"/>
          </a:effectRef>
          <a:fontRef idx="minor">
            <a:schemeClr val="dk1"/>
          </a:fontRef>
        </p:style>
        <p:txBody>
          <a:bodyPr wrap="square" rtlCol="0" anchor="ctr">
            <a:noAutofit/>
          </a:bodyPr>
          <a:lstStyle/>
          <a:p>
            <a:pPr algn="ctr"/>
            <a:r>
              <a:rPr lang="en-GB" sz="1600" dirty="0"/>
              <a:t>Applications</a:t>
            </a:r>
          </a:p>
          <a:p>
            <a:pPr algn="ctr"/>
            <a:r>
              <a:rPr lang="en-GB" sz="1600" dirty="0"/>
              <a:t>&amp; Services</a:t>
            </a:r>
          </a:p>
        </p:txBody>
      </p:sp>
      <p:grpSp>
        <p:nvGrpSpPr>
          <p:cNvPr id="28" name="Group 27">
            <a:extLst>
              <a:ext uri="{FF2B5EF4-FFF2-40B4-BE49-F238E27FC236}">
                <a16:creationId xmlns:a16="http://schemas.microsoft.com/office/drawing/2014/main" id="{400FFF78-E205-485F-922D-A8A00DDFDCA6}"/>
              </a:ext>
            </a:extLst>
          </p:cNvPr>
          <p:cNvGrpSpPr/>
          <p:nvPr/>
        </p:nvGrpSpPr>
        <p:grpSpPr>
          <a:xfrm rot="10800000">
            <a:off x="151885" y="1848979"/>
            <a:ext cx="962012" cy="4231179"/>
            <a:chOff x="10193669" y="1662545"/>
            <a:chExt cx="962012" cy="4231179"/>
          </a:xfrm>
        </p:grpSpPr>
        <p:sp>
          <p:nvSpPr>
            <p:cNvPr id="6" name="Rectangle 5">
              <a:extLst>
                <a:ext uri="{FF2B5EF4-FFF2-40B4-BE49-F238E27FC236}">
                  <a16:creationId xmlns:a16="http://schemas.microsoft.com/office/drawing/2014/main" id="{8F5C0E68-DE14-4A5E-BE0F-DB41D89498FD}"/>
                </a:ext>
              </a:extLst>
            </p:cNvPr>
            <p:cNvSpPr/>
            <p:nvPr/>
          </p:nvSpPr>
          <p:spPr>
            <a:xfrm>
              <a:off x="10193669" y="1662545"/>
              <a:ext cx="962012" cy="423117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vert" rtlCol="0" anchor="t"/>
            <a:lstStyle/>
            <a:p>
              <a:pPr algn="ctr"/>
              <a:r>
                <a:rPr lang="en-GB" sz="1600" dirty="0"/>
                <a:t>Security, Trust, &amp; Governance</a:t>
              </a:r>
            </a:p>
          </p:txBody>
        </p:sp>
        <p:grpSp>
          <p:nvGrpSpPr>
            <p:cNvPr id="41" name="Group 40">
              <a:extLst>
                <a:ext uri="{FF2B5EF4-FFF2-40B4-BE49-F238E27FC236}">
                  <a16:creationId xmlns:a16="http://schemas.microsoft.com/office/drawing/2014/main" id="{F57B2A09-CD6D-4FCA-9552-50A85E5E105B}"/>
                </a:ext>
              </a:extLst>
            </p:cNvPr>
            <p:cNvGrpSpPr/>
            <p:nvPr/>
          </p:nvGrpSpPr>
          <p:grpSpPr>
            <a:xfrm>
              <a:off x="10271543" y="1735927"/>
              <a:ext cx="493436" cy="4099608"/>
              <a:chOff x="9423142" y="1738230"/>
              <a:chExt cx="608932" cy="5676634"/>
            </a:xfrm>
          </p:grpSpPr>
          <p:sp>
            <p:nvSpPr>
              <p:cNvPr id="46" name="Rectangle 45">
                <a:extLst>
                  <a:ext uri="{FF2B5EF4-FFF2-40B4-BE49-F238E27FC236}">
                    <a16:creationId xmlns:a16="http://schemas.microsoft.com/office/drawing/2014/main" id="{5953B080-507D-4B47-9761-1AFD11E5F7F9}"/>
                  </a:ext>
                </a:extLst>
              </p:cNvPr>
              <p:cNvSpPr/>
              <p:nvPr/>
            </p:nvSpPr>
            <p:spPr>
              <a:xfrm>
                <a:off x="9423142" y="1738230"/>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Privacy</a:t>
                </a:r>
              </a:p>
            </p:txBody>
          </p:sp>
          <p:sp>
            <p:nvSpPr>
              <p:cNvPr id="47" name="Rectangle 46">
                <a:extLst>
                  <a:ext uri="{FF2B5EF4-FFF2-40B4-BE49-F238E27FC236}">
                    <a16:creationId xmlns:a16="http://schemas.microsoft.com/office/drawing/2014/main" id="{FF6E8F0A-AEF7-4B33-B07F-0E8AB5FA8D8D}"/>
                  </a:ext>
                </a:extLst>
              </p:cNvPr>
              <p:cNvSpPr/>
              <p:nvPr/>
            </p:nvSpPr>
            <p:spPr>
              <a:xfrm>
                <a:off x="9423142" y="2889477"/>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Security</a:t>
                </a:r>
              </a:p>
            </p:txBody>
          </p:sp>
          <p:sp>
            <p:nvSpPr>
              <p:cNvPr id="48" name="Rectangle 47">
                <a:extLst>
                  <a:ext uri="{FF2B5EF4-FFF2-40B4-BE49-F238E27FC236}">
                    <a16:creationId xmlns:a16="http://schemas.microsoft.com/office/drawing/2014/main" id="{7817AD0B-3858-4D52-B830-4E347657EF84}"/>
                  </a:ext>
                </a:extLst>
              </p:cNvPr>
              <p:cNvSpPr/>
              <p:nvPr/>
            </p:nvSpPr>
            <p:spPr>
              <a:xfrm>
                <a:off x="9423142" y="4040725"/>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Safety</a:t>
                </a:r>
              </a:p>
            </p:txBody>
          </p:sp>
          <p:sp>
            <p:nvSpPr>
              <p:cNvPr id="49" name="Rectangle 48">
                <a:extLst>
                  <a:ext uri="{FF2B5EF4-FFF2-40B4-BE49-F238E27FC236}">
                    <a16:creationId xmlns:a16="http://schemas.microsoft.com/office/drawing/2014/main" id="{BE4450DB-3FD6-4ACD-B458-42AC322F2773}"/>
                  </a:ext>
                </a:extLst>
              </p:cNvPr>
              <p:cNvSpPr/>
              <p:nvPr/>
            </p:nvSpPr>
            <p:spPr>
              <a:xfrm>
                <a:off x="9423142" y="5191971"/>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Resilience</a:t>
                </a:r>
              </a:p>
            </p:txBody>
          </p:sp>
          <p:sp>
            <p:nvSpPr>
              <p:cNvPr id="50" name="Rectangle 49">
                <a:extLst>
                  <a:ext uri="{FF2B5EF4-FFF2-40B4-BE49-F238E27FC236}">
                    <a16:creationId xmlns:a16="http://schemas.microsoft.com/office/drawing/2014/main" id="{A461CC2F-18BC-4C03-9A3B-1464F010DC2A}"/>
                  </a:ext>
                </a:extLst>
              </p:cNvPr>
              <p:cNvSpPr/>
              <p:nvPr/>
            </p:nvSpPr>
            <p:spPr>
              <a:xfrm>
                <a:off x="9423142" y="6343218"/>
                <a:ext cx="608932" cy="1071646"/>
              </a:xfrm>
              <a:prstGeom prst="rect">
                <a:avLst/>
              </a:prstGeom>
            </p:spPr>
            <p:style>
              <a:lnRef idx="2">
                <a:schemeClr val="accent6"/>
              </a:lnRef>
              <a:fillRef idx="1">
                <a:schemeClr val="lt1"/>
              </a:fillRef>
              <a:effectRef idx="0">
                <a:schemeClr val="accent6"/>
              </a:effectRef>
              <a:fontRef idx="minor">
                <a:schemeClr val="dk1"/>
              </a:fontRef>
            </p:style>
            <p:txBody>
              <a:bodyPr vert="vert" wrap="square" lIns="36000" tIns="36000" rIns="36000" bIns="36000" rtlCol="0" anchor="ctr">
                <a:noAutofit/>
              </a:bodyPr>
              <a:lstStyle/>
              <a:p>
                <a:pPr algn="ctr"/>
                <a:r>
                  <a:rPr lang="en-GB" sz="1200" dirty="0"/>
                  <a:t>Reliability</a:t>
                </a:r>
              </a:p>
            </p:txBody>
          </p:sp>
        </p:grpSp>
      </p:grpSp>
      <p:sp>
        <p:nvSpPr>
          <p:cNvPr id="51" name="Rectangle 10">
            <a:extLst>
              <a:ext uri="{FF2B5EF4-FFF2-40B4-BE49-F238E27FC236}">
                <a16:creationId xmlns:a16="http://schemas.microsoft.com/office/drawing/2014/main" id="{514F35A3-BF4A-4929-A834-50A8579648DA}"/>
              </a:ext>
            </a:extLst>
          </p:cNvPr>
          <p:cNvSpPr/>
          <p:nvPr/>
        </p:nvSpPr>
        <p:spPr>
          <a:xfrm>
            <a:off x="4905860" y="3360880"/>
            <a:ext cx="4410969" cy="32767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solidFill>
                  <a:schemeClr val="tx1"/>
                </a:solidFill>
              </a:rPr>
              <a:t>Digital Twin Interaction/Integration Functions </a:t>
            </a:r>
            <a:endParaRPr lang="en-GB" dirty="0">
              <a:solidFill>
                <a:schemeClr val="tx1"/>
              </a:solidFill>
            </a:endParaRPr>
          </a:p>
        </p:txBody>
      </p:sp>
    </p:spTree>
    <p:extLst>
      <p:ext uri="{BB962C8B-B14F-4D97-AF65-F5344CB8AC3E}">
        <p14:creationId xmlns:p14="http://schemas.microsoft.com/office/powerpoint/2010/main" val="3665357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12E07D0-D82C-48BF-A87E-5BAB21DA49EC}"/>
              </a:ext>
            </a:extLst>
          </p:cNvPr>
          <p:cNvSpPr>
            <a:spLocks noChangeAspect="1"/>
          </p:cNvSpPr>
          <p:nvPr/>
        </p:nvSpPr>
        <p:spPr>
          <a:xfrm>
            <a:off x="11030857" y="6168571"/>
            <a:ext cx="1161143" cy="6894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itle 19">
            <a:extLst>
              <a:ext uri="{FF2B5EF4-FFF2-40B4-BE49-F238E27FC236}">
                <a16:creationId xmlns:a16="http://schemas.microsoft.com/office/drawing/2014/main" id="{B664BB96-2538-4D1C-8050-F3C1F4F3DBEC}"/>
              </a:ext>
            </a:extLst>
          </p:cNvPr>
          <p:cNvSpPr>
            <a:spLocks noGrp="1"/>
          </p:cNvSpPr>
          <p:nvPr>
            <p:ph type="title"/>
          </p:nvPr>
        </p:nvSpPr>
        <p:spPr/>
        <p:txBody>
          <a:bodyPr>
            <a:normAutofit/>
          </a:bodyPr>
          <a:lstStyle/>
          <a:p>
            <a:r>
              <a:rPr lang="en-GB" dirty="0"/>
              <a:t>Expanded Stack Rationale</a:t>
            </a:r>
          </a:p>
        </p:txBody>
      </p:sp>
      <p:sp>
        <p:nvSpPr>
          <p:cNvPr id="7" name="TextBox 6">
            <a:extLst>
              <a:ext uri="{FF2B5EF4-FFF2-40B4-BE49-F238E27FC236}">
                <a16:creationId xmlns:a16="http://schemas.microsoft.com/office/drawing/2014/main" id="{9D065C07-9AD0-4351-99E6-180BA0E96A53}"/>
              </a:ext>
            </a:extLst>
          </p:cNvPr>
          <p:cNvSpPr txBox="1"/>
          <p:nvPr/>
        </p:nvSpPr>
        <p:spPr>
          <a:xfrm>
            <a:off x="0" y="1386841"/>
            <a:ext cx="12192000" cy="5471160"/>
          </a:xfrm>
          <a:prstGeom prst="rect">
            <a:avLst/>
          </a:prstGeom>
          <a:noFill/>
        </p:spPr>
        <p:txBody>
          <a:bodyPr wrap="square" lIns="36000" tIns="36000" rIns="36000" bIns="36000" rtlCol="0" anchor="ctr">
            <a:normAutofit fontScale="85000" lnSpcReduction="10000"/>
          </a:bodyPr>
          <a:lstStyle/>
          <a:p>
            <a:pPr marL="171450" indent="-171450">
              <a:buFont typeface="Arial" panose="020B0604020202020204" pitchFamily="34" charset="0"/>
              <a:buChar char="•"/>
            </a:pPr>
            <a:r>
              <a:rPr lang="en-GB" sz="2000" dirty="0">
                <a:solidFill>
                  <a:schemeClr val="accent5"/>
                </a:solidFill>
              </a:rPr>
              <a:t>The </a:t>
            </a:r>
            <a:r>
              <a:rPr lang="en-GB" sz="2000" b="1" u="sng" dirty="0">
                <a:solidFill>
                  <a:schemeClr val="accent5"/>
                </a:solidFill>
              </a:rPr>
              <a:t>IT/OT platform</a:t>
            </a:r>
            <a:r>
              <a:rPr lang="en-GB" sz="2000" dirty="0">
                <a:solidFill>
                  <a:schemeClr val="accent5"/>
                </a:solidFill>
              </a:rPr>
              <a:t> consists of 5 primary elements:</a:t>
            </a:r>
          </a:p>
          <a:p>
            <a:pPr marL="628650" lvl="1" indent="-171450">
              <a:buFont typeface="Arial" panose="020B0604020202020204" pitchFamily="34" charset="0"/>
              <a:buChar char="•"/>
            </a:pPr>
            <a:r>
              <a:rPr lang="en-GB" sz="2000" b="1" u="sng" dirty="0">
                <a:solidFill>
                  <a:schemeClr val="accent5"/>
                </a:solidFill>
              </a:rPr>
              <a:t>Compute</a:t>
            </a:r>
            <a:endParaRPr lang="en-GB" sz="2000" dirty="0">
              <a:solidFill>
                <a:schemeClr val="accent5"/>
              </a:solidFill>
            </a:endParaRPr>
          </a:p>
          <a:p>
            <a:pPr marL="628650" lvl="1" indent="-171450">
              <a:buFont typeface="Arial" panose="020B0604020202020204" pitchFamily="34" charset="0"/>
              <a:buChar char="•"/>
            </a:pPr>
            <a:r>
              <a:rPr lang="en-GB" sz="2000" b="1" u="sng" dirty="0">
                <a:solidFill>
                  <a:schemeClr val="accent5"/>
                </a:solidFill>
              </a:rPr>
              <a:t>Networking</a:t>
            </a:r>
            <a:r>
              <a:rPr lang="en-GB" sz="2000" dirty="0">
                <a:solidFill>
                  <a:schemeClr val="accent5"/>
                </a:solidFill>
              </a:rPr>
              <a:t> including Communication and Connectivity</a:t>
            </a:r>
          </a:p>
          <a:p>
            <a:pPr marL="628650" lvl="1" indent="-171450">
              <a:buFont typeface="Arial" panose="020B0604020202020204" pitchFamily="34" charset="0"/>
              <a:buChar char="•"/>
            </a:pPr>
            <a:r>
              <a:rPr lang="en-GB" sz="2000" b="1" u="sng" dirty="0">
                <a:solidFill>
                  <a:schemeClr val="accent5"/>
                </a:solidFill>
              </a:rPr>
              <a:t>Data storage</a:t>
            </a:r>
            <a:r>
              <a:rPr lang="en-GB" sz="2000" dirty="0">
                <a:solidFill>
                  <a:schemeClr val="accent5"/>
                </a:solidFill>
              </a:rPr>
              <a:t> (e.g. databases, warehousing)</a:t>
            </a:r>
          </a:p>
          <a:p>
            <a:pPr marL="628650" lvl="1" indent="-171450">
              <a:buFont typeface="Arial" panose="020B0604020202020204" pitchFamily="34" charset="0"/>
              <a:buChar char="•"/>
            </a:pPr>
            <a:r>
              <a:rPr lang="en-GB" sz="2000" b="1" u="sng" dirty="0">
                <a:solidFill>
                  <a:schemeClr val="accent5"/>
                </a:solidFill>
              </a:rPr>
              <a:t>Orchestration</a:t>
            </a:r>
            <a:r>
              <a:rPr lang="en-GB" sz="2000" dirty="0">
                <a:solidFill>
                  <a:schemeClr val="accent5"/>
                </a:solidFill>
              </a:rPr>
              <a:t>, and the required software applications</a:t>
            </a:r>
          </a:p>
          <a:p>
            <a:pPr marL="628650" lvl="1" indent="-171450">
              <a:buFont typeface="Arial" panose="020B0604020202020204" pitchFamily="34" charset="0"/>
              <a:buChar char="•"/>
            </a:pPr>
            <a:r>
              <a:rPr lang="en-GB" sz="2000" dirty="0">
                <a:solidFill>
                  <a:schemeClr val="accent5"/>
                </a:solidFill>
              </a:rPr>
              <a:t>There is also often an </a:t>
            </a:r>
            <a:r>
              <a:rPr lang="en-GB" sz="2000" b="1" u="sng" dirty="0">
                <a:solidFill>
                  <a:schemeClr val="accent5"/>
                </a:solidFill>
              </a:rPr>
              <a:t>API layer</a:t>
            </a:r>
            <a:r>
              <a:rPr lang="en-GB" sz="2000" dirty="0">
                <a:solidFill>
                  <a:schemeClr val="accent5"/>
                </a:solidFill>
              </a:rPr>
              <a:t> for managing the IT/OT platform</a:t>
            </a:r>
            <a:endParaRPr lang="en-GB" sz="2000" i="1" dirty="0">
              <a:solidFill>
                <a:schemeClr val="accent5"/>
              </a:solidFill>
            </a:endParaRPr>
          </a:p>
          <a:p>
            <a:pPr marL="171450" indent="-171450">
              <a:buFont typeface="Arial" panose="020B0604020202020204" pitchFamily="34" charset="0"/>
              <a:buChar char="•"/>
            </a:pPr>
            <a:r>
              <a:rPr lang="en-GB" sz="2000" dirty="0">
                <a:solidFill>
                  <a:srgbClr val="92D050"/>
                </a:solidFill>
              </a:rPr>
              <a:t>The </a:t>
            </a:r>
            <a:r>
              <a:rPr lang="en-GB" sz="2000" b="1" u="sng" dirty="0">
                <a:solidFill>
                  <a:srgbClr val="92D050"/>
                </a:solidFill>
              </a:rPr>
              <a:t>software applications</a:t>
            </a:r>
            <a:r>
              <a:rPr lang="en-GB" sz="2000" dirty="0">
                <a:solidFill>
                  <a:srgbClr val="92D050"/>
                </a:solidFill>
              </a:rPr>
              <a:t> themselves sit between the IT/OT layer and the Digital Twin as they are often specific to a modelling or simulation tool and within a given domain</a:t>
            </a:r>
            <a:endParaRPr lang="en-GB" sz="2000" dirty="0">
              <a:solidFill>
                <a:schemeClr val="accent5"/>
              </a:solidFill>
            </a:endParaRPr>
          </a:p>
          <a:p>
            <a:pPr marL="171450" indent="-171450">
              <a:buFont typeface="Arial" panose="020B0604020202020204" pitchFamily="34" charset="0"/>
              <a:buChar char="•"/>
            </a:pPr>
            <a:r>
              <a:rPr lang="en-GB" sz="2000" b="0" dirty="0">
                <a:solidFill>
                  <a:schemeClr val="accent4"/>
                </a:solidFill>
              </a:rPr>
              <a:t>Digital Twins are then separated into:</a:t>
            </a:r>
          </a:p>
          <a:p>
            <a:pPr marL="628650" lvl="1" indent="-171450">
              <a:buFont typeface="Arial" panose="020B0604020202020204" pitchFamily="34" charset="0"/>
              <a:buChar char="•"/>
            </a:pPr>
            <a:r>
              <a:rPr lang="en-GB" sz="2000" dirty="0">
                <a:solidFill>
                  <a:schemeClr val="accent4"/>
                </a:solidFill>
              </a:rPr>
              <a:t>R</a:t>
            </a:r>
            <a:r>
              <a:rPr lang="en-GB" sz="2000" b="0" dirty="0">
                <a:solidFill>
                  <a:schemeClr val="accent4"/>
                </a:solidFill>
              </a:rPr>
              <a:t>epresentational </a:t>
            </a:r>
            <a:r>
              <a:rPr lang="en-GB" sz="2000" b="1" u="sng" dirty="0">
                <a:solidFill>
                  <a:schemeClr val="accent4"/>
                </a:solidFill>
              </a:rPr>
              <a:t>models</a:t>
            </a:r>
            <a:r>
              <a:rPr lang="en-GB" sz="2000" b="0" dirty="0">
                <a:solidFill>
                  <a:schemeClr val="accent4"/>
                </a:solidFill>
              </a:rPr>
              <a:t> and functional </a:t>
            </a:r>
            <a:r>
              <a:rPr lang="en-GB" sz="2000" b="1" u="sng" dirty="0">
                <a:solidFill>
                  <a:schemeClr val="accent4"/>
                </a:solidFill>
              </a:rPr>
              <a:t>simulations</a:t>
            </a:r>
            <a:r>
              <a:rPr lang="en-GB" sz="2000" dirty="0">
                <a:solidFill>
                  <a:schemeClr val="accent4"/>
                </a:solidFill>
              </a:rPr>
              <a:t> (these could also be described as predictive or computational models)</a:t>
            </a:r>
          </a:p>
          <a:p>
            <a:pPr marL="628650" lvl="1" indent="-171450">
              <a:buFont typeface="Arial" panose="020B0604020202020204" pitchFamily="34" charset="0"/>
              <a:buChar char="•"/>
            </a:pPr>
            <a:r>
              <a:rPr lang="en-GB" sz="2000" b="0" dirty="0">
                <a:solidFill>
                  <a:schemeClr val="accent4"/>
                </a:solidFill>
              </a:rPr>
              <a:t>Digital Twin Interaction/Integration Functions provide a framework to combine various types of digital twins in an integrated digital world and an unified layer to expose Service Interfaces</a:t>
            </a:r>
            <a:endParaRPr lang="en-GB" sz="2000" b="0" dirty="0">
              <a:solidFill>
                <a:schemeClr val="tx1">
                  <a:lumMod val="65000"/>
                  <a:lumOff val="35000"/>
                </a:schemeClr>
              </a:solidFill>
            </a:endParaRPr>
          </a:p>
          <a:p>
            <a:pPr marL="171450" indent="-171450">
              <a:buFont typeface="Arial" panose="020B0604020202020204" pitchFamily="34" charset="0"/>
              <a:buChar char="•"/>
            </a:pPr>
            <a:r>
              <a:rPr lang="en-GB" sz="2000" b="0" dirty="0">
                <a:solidFill>
                  <a:schemeClr val="accent2"/>
                </a:solidFill>
              </a:rPr>
              <a:t>The </a:t>
            </a:r>
            <a:r>
              <a:rPr lang="en-GB" sz="2000" b="1" u="sng" dirty="0">
                <a:solidFill>
                  <a:schemeClr val="accent2"/>
                </a:solidFill>
              </a:rPr>
              <a:t>Service Interfaces</a:t>
            </a:r>
            <a:r>
              <a:rPr lang="en-GB" sz="2000" b="0" dirty="0">
                <a:solidFill>
                  <a:schemeClr val="accent2"/>
                </a:solidFill>
              </a:rPr>
              <a:t> are an opportunity to begin to define a level of standardisation for interoperability between Digital Twin Systems but currently would be specific to a given technology stack or domain.</a:t>
            </a:r>
          </a:p>
          <a:p>
            <a:pPr marL="171450" indent="-171450">
              <a:buFont typeface="Arial" panose="020B0604020202020204" pitchFamily="34" charset="0"/>
              <a:buChar char="•"/>
            </a:pPr>
            <a:r>
              <a:rPr lang="en-GB" sz="2000" b="1" u="sng" dirty="0">
                <a:solidFill>
                  <a:schemeClr val="accent1"/>
                </a:solidFill>
              </a:rPr>
              <a:t>Application Services</a:t>
            </a:r>
            <a:r>
              <a:rPr lang="en-GB" sz="2000" dirty="0">
                <a:solidFill>
                  <a:schemeClr val="accent1"/>
                </a:solidFill>
              </a:rPr>
              <a:t> include visualisation/rendering services as well as analytics</a:t>
            </a:r>
            <a:endParaRPr lang="en-GB" sz="2000" dirty="0">
              <a:solidFill>
                <a:schemeClr val="tx1">
                  <a:lumMod val="65000"/>
                  <a:lumOff val="35000"/>
                </a:schemeClr>
              </a:solidFill>
            </a:endParaRPr>
          </a:p>
          <a:p>
            <a:pPr marL="171450" indent="-171450">
              <a:buFont typeface="Arial" panose="020B0604020202020204" pitchFamily="34" charset="0"/>
              <a:buChar char="•"/>
            </a:pPr>
            <a:r>
              <a:rPr lang="en-GB" sz="2000" b="0" dirty="0">
                <a:solidFill>
                  <a:schemeClr val="accent1"/>
                </a:solidFill>
              </a:rPr>
              <a:t>Applications will be driven by case studies</a:t>
            </a:r>
          </a:p>
          <a:p>
            <a:pPr marL="171450" indent="-171450">
              <a:buFont typeface="Arial" panose="020B0604020202020204" pitchFamily="34" charset="0"/>
              <a:buChar char="•"/>
            </a:pPr>
            <a:r>
              <a:rPr lang="en-GB" sz="2000" b="0" dirty="0">
                <a:solidFill>
                  <a:schemeClr val="accent6"/>
                </a:solidFill>
              </a:rPr>
              <a:t>The </a:t>
            </a:r>
            <a:r>
              <a:rPr lang="en-GB" sz="2000" b="1" u="sng" dirty="0">
                <a:solidFill>
                  <a:schemeClr val="accent6"/>
                </a:solidFill>
              </a:rPr>
              <a:t>Security &amp; Trustworthiness</a:t>
            </a:r>
            <a:r>
              <a:rPr lang="en-GB" sz="2000" b="0" dirty="0">
                <a:solidFill>
                  <a:schemeClr val="accent6"/>
                </a:solidFill>
              </a:rPr>
              <a:t> vertical block is split as per the IIC guidance into 5 sub-blocks: privacy, security,</a:t>
            </a:r>
            <a:r>
              <a:rPr lang="en-GB" sz="2000" dirty="0">
                <a:solidFill>
                  <a:schemeClr val="accent6"/>
                </a:solidFill>
              </a:rPr>
              <a:t> safety, resilience, and reliability</a:t>
            </a:r>
            <a:endParaRPr lang="en-GB" sz="2000" b="0" dirty="0">
              <a:highlight>
                <a:srgbClr val="FFFF00"/>
              </a:highlight>
            </a:endParaRPr>
          </a:p>
          <a:p>
            <a:pPr marL="171450" indent="-171450">
              <a:buFont typeface="Arial" panose="020B0604020202020204" pitchFamily="34" charset="0"/>
              <a:buChar char="•"/>
            </a:pPr>
            <a:r>
              <a:rPr lang="en-GB" sz="2000" b="1" u="sng" dirty="0">
                <a:solidFill>
                  <a:schemeClr val="accent3"/>
                </a:solidFill>
              </a:rPr>
              <a:t>Synchronisation Mechanisms</a:t>
            </a:r>
            <a:r>
              <a:rPr lang="en-GB" sz="2000" dirty="0">
                <a:solidFill>
                  <a:schemeClr val="accent3"/>
                </a:solidFill>
              </a:rPr>
              <a:t> as previously defined this is to facilitate the integration with the real world and specifically the incorporation of real-world data into the Digital Twin and realise the effects of the Digital Twin on the real-world</a:t>
            </a:r>
          </a:p>
          <a:p>
            <a:pPr marL="171450" indent="-171450">
              <a:buFont typeface="Arial" panose="020B0604020202020204" pitchFamily="34" charset="0"/>
              <a:buChar char="•"/>
            </a:pPr>
            <a:r>
              <a:rPr lang="en-GB" sz="2000" b="1" u="sng" dirty="0">
                <a:solidFill>
                  <a:schemeClr val="accent2"/>
                </a:solidFill>
              </a:rPr>
              <a:t>Management &amp; Automation</a:t>
            </a:r>
            <a:r>
              <a:rPr lang="en-GB" sz="2000" b="0" dirty="0">
                <a:solidFill>
                  <a:schemeClr val="accent2"/>
                </a:solidFill>
              </a:rPr>
              <a:t> will include both the business processes as well as the technologies for managing the entire stack. This is likely to initially be specific to a given domain but is particularly important when considering a </a:t>
            </a:r>
            <a:r>
              <a:rPr lang="en-GB" sz="2000" b="0" dirty="0" err="1">
                <a:solidFill>
                  <a:schemeClr val="accent2"/>
                </a:solidFill>
              </a:rPr>
              <a:t>SoS</a:t>
            </a:r>
            <a:r>
              <a:rPr lang="en-GB" sz="2000" b="0" dirty="0">
                <a:solidFill>
                  <a:schemeClr val="accent2"/>
                </a:solidFill>
              </a:rPr>
              <a:t> approach. The various lifecycles (both domain specific and that of the Digital Twin itself) will define the structure.</a:t>
            </a:r>
          </a:p>
        </p:txBody>
      </p:sp>
    </p:spTree>
    <p:extLst>
      <p:ext uri="{BB962C8B-B14F-4D97-AF65-F5344CB8AC3E}">
        <p14:creationId xmlns:p14="http://schemas.microsoft.com/office/powerpoint/2010/main" val="2089372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C1E7B5-A871-4674-99E2-D93AC9CB31FC}"/>
              </a:ext>
            </a:extLst>
          </p:cNvPr>
          <p:cNvSpPr>
            <a:spLocks noGrp="1"/>
          </p:cNvSpPr>
          <p:nvPr>
            <p:ph type="sldNum" sz="quarter" idx="16"/>
          </p:nvPr>
        </p:nvSpPr>
        <p:spPr/>
        <p:txBody>
          <a:bodyPr/>
          <a:lstStyle/>
          <a:p>
            <a:fld id="{EA358FA9-F386-4A12-B482-464C32CE5754}" type="slidenum">
              <a:rPr lang="en-US" smtClean="0"/>
              <a:pPr/>
              <a:t>18</a:t>
            </a:fld>
            <a:endParaRPr lang="en-US"/>
          </a:p>
        </p:txBody>
      </p:sp>
      <p:sp>
        <p:nvSpPr>
          <p:cNvPr id="4" name="Title 3">
            <a:extLst>
              <a:ext uri="{FF2B5EF4-FFF2-40B4-BE49-F238E27FC236}">
                <a16:creationId xmlns:a16="http://schemas.microsoft.com/office/drawing/2014/main" id="{D92AE15D-A85F-447F-83BD-515FD5075B29}"/>
              </a:ext>
            </a:extLst>
          </p:cNvPr>
          <p:cNvSpPr>
            <a:spLocks noGrp="1"/>
          </p:cNvSpPr>
          <p:nvPr>
            <p:ph type="title"/>
          </p:nvPr>
        </p:nvSpPr>
        <p:spPr/>
        <p:txBody>
          <a:bodyPr/>
          <a:lstStyle/>
          <a:p>
            <a:r>
              <a:rPr lang="en-GB" dirty="0"/>
              <a:t>Mesh Perspective</a:t>
            </a:r>
          </a:p>
        </p:txBody>
      </p:sp>
      <p:grpSp>
        <p:nvGrpSpPr>
          <p:cNvPr id="27" name="IT / OT Platform">
            <a:extLst>
              <a:ext uri="{FF2B5EF4-FFF2-40B4-BE49-F238E27FC236}">
                <a16:creationId xmlns:a16="http://schemas.microsoft.com/office/drawing/2014/main" id="{CC9984A4-B174-4738-81A6-781B8695DF81}"/>
              </a:ext>
            </a:extLst>
          </p:cNvPr>
          <p:cNvGrpSpPr/>
          <p:nvPr/>
        </p:nvGrpSpPr>
        <p:grpSpPr>
          <a:xfrm>
            <a:off x="3575723" y="4871795"/>
            <a:ext cx="3598623" cy="1732204"/>
            <a:chOff x="6455694" y="3438605"/>
            <a:chExt cx="5377985" cy="2588704"/>
          </a:xfrm>
        </p:grpSpPr>
        <p:sp>
          <p:nvSpPr>
            <p:cNvPr id="25" name="IT Platform [back]">
              <a:extLst>
                <a:ext uri="{FF2B5EF4-FFF2-40B4-BE49-F238E27FC236}">
                  <a16:creationId xmlns:a16="http://schemas.microsoft.com/office/drawing/2014/main" id="{12BBA008-FA5B-4F30-8E43-BD92F3FB4C83}"/>
                </a:ext>
              </a:extLst>
            </p:cNvPr>
            <p:cNvSpPr/>
            <p:nvPr/>
          </p:nvSpPr>
          <p:spPr>
            <a:xfrm rot="10800000">
              <a:off x="6455695" y="3438605"/>
              <a:ext cx="5377984" cy="2588703"/>
            </a:xfrm>
            <a:prstGeom prst="cube">
              <a:avLst>
                <a:gd name="adj" fmla="val 8664"/>
              </a:avLst>
            </a:prstGeom>
            <a:ln>
              <a:solidFill>
                <a:schemeClr val="accent5">
                  <a:lumMod val="50000"/>
                </a:schemeClr>
              </a:solidFill>
            </a:ln>
          </p:spPr>
          <p:style>
            <a:lnRef idx="1">
              <a:schemeClr val="accent5"/>
            </a:lnRef>
            <a:fillRef idx="2">
              <a:schemeClr val="accent5"/>
            </a:fillRef>
            <a:effectRef idx="1">
              <a:schemeClr val="accent5"/>
            </a:effectRef>
            <a:fontRef idx="minor">
              <a:schemeClr val="dk1"/>
            </a:fontRef>
          </p:style>
          <p:txBody>
            <a:bodyPr lIns="0" tIns="0" rIns="0" bIns="0" rtlCol="0" anchor="t">
              <a:normAutofit/>
            </a:bodyPr>
            <a:lstStyle/>
            <a:p>
              <a:endParaRPr lang="en-GB" sz="1400" b="1" dirty="0"/>
            </a:p>
          </p:txBody>
        </p:sp>
        <p:sp>
          <p:nvSpPr>
            <p:cNvPr id="14" name="Cube 13">
              <a:extLst>
                <a:ext uri="{FF2B5EF4-FFF2-40B4-BE49-F238E27FC236}">
                  <a16:creationId xmlns:a16="http://schemas.microsoft.com/office/drawing/2014/main" id="{040987B7-C392-4D0E-BDF9-18B6B7A8C5F2}"/>
                </a:ext>
              </a:extLst>
            </p:cNvPr>
            <p:cNvSpPr/>
            <p:nvPr/>
          </p:nvSpPr>
          <p:spPr>
            <a:xfrm>
              <a:off x="6544093" y="49724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Compute</a:t>
              </a:r>
            </a:p>
          </p:txBody>
        </p:sp>
        <p:sp>
          <p:nvSpPr>
            <p:cNvPr id="15" name="Cube 14">
              <a:extLst>
                <a:ext uri="{FF2B5EF4-FFF2-40B4-BE49-F238E27FC236}">
                  <a16:creationId xmlns:a16="http://schemas.microsoft.com/office/drawing/2014/main" id="{67F2F7E7-B2B4-4893-9113-FD8AFB63F2A8}"/>
                </a:ext>
              </a:extLst>
            </p:cNvPr>
            <p:cNvSpPr/>
            <p:nvPr/>
          </p:nvSpPr>
          <p:spPr>
            <a:xfrm>
              <a:off x="8272817" y="49724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Networking</a:t>
              </a:r>
            </a:p>
          </p:txBody>
        </p:sp>
        <p:sp>
          <p:nvSpPr>
            <p:cNvPr id="16" name="Cube 15">
              <a:extLst>
                <a:ext uri="{FF2B5EF4-FFF2-40B4-BE49-F238E27FC236}">
                  <a16:creationId xmlns:a16="http://schemas.microsoft.com/office/drawing/2014/main" id="{05FBA573-C5E1-472E-9160-16F12FF9A534}"/>
                </a:ext>
              </a:extLst>
            </p:cNvPr>
            <p:cNvSpPr/>
            <p:nvPr/>
          </p:nvSpPr>
          <p:spPr>
            <a:xfrm>
              <a:off x="10001541" y="49724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Data Storage</a:t>
              </a:r>
            </a:p>
          </p:txBody>
        </p:sp>
        <p:sp>
          <p:nvSpPr>
            <p:cNvPr id="17" name="Cube 16">
              <a:extLst>
                <a:ext uri="{FF2B5EF4-FFF2-40B4-BE49-F238E27FC236}">
                  <a16:creationId xmlns:a16="http://schemas.microsoft.com/office/drawing/2014/main" id="{46C810FC-19E0-48F6-8A81-455CFA764782}"/>
                </a:ext>
              </a:extLst>
            </p:cNvPr>
            <p:cNvSpPr/>
            <p:nvPr/>
          </p:nvSpPr>
          <p:spPr>
            <a:xfrm>
              <a:off x="10001541" y="3967620"/>
              <a:ext cx="1674392" cy="954000"/>
            </a:xfrm>
            <a:prstGeom prst="cube">
              <a:avLst/>
            </a:prstGeom>
            <a:solidFill>
              <a:srgbClr val="97BB3D"/>
            </a:solidFill>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fontScale="85000" lnSpcReduction="20000"/>
            </a:bodyPr>
            <a:lstStyle/>
            <a:p>
              <a:pPr algn="ctr"/>
              <a:r>
                <a:rPr lang="en-GB" sz="1400" dirty="0"/>
                <a:t>Software Platform / Tooling Stack</a:t>
              </a:r>
            </a:p>
          </p:txBody>
        </p:sp>
        <p:sp>
          <p:nvSpPr>
            <p:cNvPr id="12" name="Cube 11">
              <a:extLst>
                <a:ext uri="{FF2B5EF4-FFF2-40B4-BE49-F238E27FC236}">
                  <a16:creationId xmlns:a16="http://schemas.microsoft.com/office/drawing/2014/main" id="{BDEF16F5-9A30-4FF7-8B13-71F0ADB34451}"/>
                </a:ext>
              </a:extLst>
            </p:cNvPr>
            <p:cNvSpPr/>
            <p:nvPr/>
          </p:nvSpPr>
          <p:spPr>
            <a:xfrm>
              <a:off x="8272817" y="39676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400" dirty="0"/>
                <a:t>Platform APIs</a:t>
              </a:r>
            </a:p>
          </p:txBody>
        </p:sp>
        <p:sp>
          <p:nvSpPr>
            <p:cNvPr id="13" name="Cube 12">
              <a:extLst>
                <a:ext uri="{FF2B5EF4-FFF2-40B4-BE49-F238E27FC236}">
                  <a16:creationId xmlns:a16="http://schemas.microsoft.com/office/drawing/2014/main" id="{79CC785F-EF2C-41C3-9C3A-A676EB0FAFD0}"/>
                </a:ext>
              </a:extLst>
            </p:cNvPr>
            <p:cNvSpPr/>
            <p:nvPr/>
          </p:nvSpPr>
          <p:spPr>
            <a:xfrm>
              <a:off x="6544093" y="3967620"/>
              <a:ext cx="1674392" cy="954000"/>
            </a:xfrm>
            <a:prstGeom prst="cube">
              <a:avLst/>
            </a:prstGeom>
          </p:spPr>
          <p:style>
            <a:lnRef idx="2">
              <a:schemeClr val="accent5">
                <a:shade val="50000"/>
              </a:schemeClr>
            </a:lnRef>
            <a:fillRef idx="1">
              <a:schemeClr val="accent5"/>
            </a:fillRef>
            <a:effectRef idx="0">
              <a:schemeClr val="accent5"/>
            </a:effectRef>
            <a:fontRef idx="minor">
              <a:schemeClr val="lt1"/>
            </a:fontRef>
          </p:style>
          <p:txBody>
            <a:bodyPr lIns="0" tIns="0" rIns="0" bIns="0" rtlCol="0" anchor="ctr">
              <a:normAutofit/>
            </a:bodyPr>
            <a:lstStyle/>
            <a:p>
              <a:pPr algn="ctr"/>
              <a:r>
                <a:rPr lang="en-GB" sz="1200" dirty="0"/>
                <a:t>Orchestration</a:t>
              </a:r>
            </a:p>
          </p:txBody>
        </p:sp>
        <p:sp>
          <p:nvSpPr>
            <p:cNvPr id="24" name="IT Platform [front]">
              <a:extLst>
                <a:ext uri="{FF2B5EF4-FFF2-40B4-BE49-F238E27FC236}">
                  <a16:creationId xmlns:a16="http://schemas.microsoft.com/office/drawing/2014/main" id="{46A43DE0-DA4F-44B2-9722-F2B7C4E1F012}"/>
                </a:ext>
              </a:extLst>
            </p:cNvPr>
            <p:cNvSpPr/>
            <p:nvPr/>
          </p:nvSpPr>
          <p:spPr>
            <a:xfrm>
              <a:off x="6455694" y="3438606"/>
              <a:ext cx="5377984" cy="2588703"/>
            </a:xfrm>
            <a:prstGeom prst="cube">
              <a:avLst>
                <a:gd name="adj" fmla="val 8664"/>
              </a:avLst>
            </a:prstGeom>
            <a:noFill/>
            <a:ln>
              <a:solidFill>
                <a:schemeClr val="accent5">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bg1"/>
                  </a:solidFill>
                </a:rPr>
                <a:t>IT / OT Platform</a:t>
              </a:r>
            </a:p>
          </p:txBody>
        </p:sp>
      </p:grpSp>
      <p:grpSp>
        <p:nvGrpSpPr>
          <p:cNvPr id="37" name="Digital Twin">
            <a:extLst>
              <a:ext uri="{FF2B5EF4-FFF2-40B4-BE49-F238E27FC236}">
                <a16:creationId xmlns:a16="http://schemas.microsoft.com/office/drawing/2014/main" id="{323989C8-81D1-4308-B30F-A2BF9F7B212F}"/>
              </a:ext>
            </a:extLst>
          </p:cNvPr>
          <p:cNvGrpSpPr/>
          <p:nvPr/>
        </p:nvGrpSpPr>
        <p:grpSpPr>
          <a:xfrm>
            <a:off x="496339" y="4871795"/>
            <a:ext cx="2428022" cy="1732205"/>
            <a:chOff x="0" y="4269295"/>
            <a:chExt cx="3628572" cy="2588705"/>
          </a:xfrm>
        </p:grpSpPr>
        <p:sp>
          <p:nvSpPr>
            <p:cNvPr id="29" name="Digital Twin [back]">
              <a:extLst>
                <a:ext uri="{FF2B5EF4-FFF2-40B4-BE49-F238E27FC236}">
                  <a16:creationId xmlns:a16="http://schemas.microsoft.com/office/drawing/2014/main" id="{66086264-CD71-4788-90BA-B644EC35105C}"/>
                </a:ext>
              </a:extLst>
            </p:cNvPr>
            <p:cNvSpPr/>
            <p:nvPr/>
          </p:nvSpPr>
          <p:spPr>
            <a:xfrm rot="10800000">
              <a:off x="1" y="4269295"/>
              <a:ext cx="3628571" cy="2588703"/>
            </a:xfrm>
            <a:prstGeom prst="cube">
              <a:avLst>
                <a:gd name="adj" fmla="val 8664"/>
              </a:avLst>
            </a:prstGeom>
            <a:ln/>
          </p:spPr>
          <p:style>
            <a:lnRef idx="1">
              <a:schemeClr val="accent4"/>
            </a:lnRef>
            <a:fillRef idx="2">
              <a:schemeClr val="accent4"/>
            </a:fillRef>
            <a:effectRef idx="1">
              <a:schemeClr val="accent4"/>
            </a:effectRef>
            <a:fontRef idx="minor">
              <a:schemeClr val="dk1"/>
            </a:fontRef>
          </p:style>
          <p:txBody>
            <a:bodyPr lIns="0" tIns="0" rIns="0" bIns="0" rtlCol="0" anchor="t">
              <a:normAutofit/>
            </a:bodyPr>
            <a:lstStyle/>
            <a:p>
              <a:endParaRPr lang="en-GB" sz="1400" b="1" dirty="0"/>
            </a:p>
          </p:txBody>
        </p:sp>
        <p:sp>
          <p:nvSpPr>
            <p:cNvPr id="30" name="Cube 29">
              <a:extLst>
                <a:ext uri="{FF2B5EF4-FFF2-40B4-BE49-F238E27FC236}">
                  <a16:creationId xmlns:a16="http://schemas.microsoft.com/office/drawing/2014/main" id="{EDC216BB-7E18-49A6-BCBD-761014E5EA5C}"/>
                </a:ext>
              </a:extLst>
            </p:cNvPr>
            <p:cNvSpPr/>
            <p:nvPr/>
          </p:nvSpPr>
          <p:spPr>
            <a:xfrm>
              <a:off x="88399" y="58031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100" dirty="0">
                  <a:solidFill>
                    <a:schemeClr val="tx1"/>
                  </a:solidFill>
                </a:rPr>
                <a:t>Digital Representations</a:t>
              </a:r>
            </a:p>
          </p:txBody>
        </p:sp>
        <p:sp>
          <p:nvSpPr>
            <p:cNvPr id="31" name="Cube 30">
              <a:extLst>
                <a:ext uri="{FF2B5EF4-FFF2-40B4-BE49-F238E27FC236}">
                  <a16:creationId xmlns:a16="http://schemas.microsoft.com/office/drawing/2014/main" id="{8D5A14C1-B687-4A3F-8B6D-1ADCEB6B8671}"/>
                </a:ext>
              </a:extLst>
            </p:cNvPr>
            <p:cNvSpPr/>
            <p:nvPr/>
          </p:nvSpPr>
          <p:spPr>
            <a:xfrm>
              <a:off x="1817123" y="58031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400" dirty="0">
                  <a:solidFill>
                    <a:schemeClr val="tx1"/>
                  </a:solidFill>
                </a:rPr>
                <a:t>Computational Simulation</a:t>
              </a:r>
            </a:p>
          </p:txBody>
        </p:sp>
        <p:sp>
          <p:nvSpPr>
            <p:cNvPr id="35" name="Cube 34">
              <a:extLst>
                <a:ext uri="{FF2B5EF4-FFF2-40B4-BE49-F238E27FC236}">
                  <a16:creationId xmlns:a16="http://schemas.microsoft.com/office/drawing/2014/main" id="{F14AA6BA-C379-4888-8CB6-D2FA25D07F3F}"/>
                </a:ext>
              </a:extLst>
            </p:cNvPr>
            <p:cNvSpPr/>
            <p:nvPr/>
          </p:nvSpPr>
          <p:spPr>
            <a:xfrm>
              <a:off x="88399" y="47983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400" dirty="0">
                  <a:solidFill>
                    <a:schemeClr val="tx1"/>
                  </a:solidFill>
                </a:rPr>
                <a:t>Integration Functions</a:t>
              </a:r>
            </a:p>
          </p:txBody>
        </p:sp>
        <p:sp>
          <p:nvSpPr>
            <p:cNvPr id="60" name="Cube 59">
              <a:extLst>
                <a:ext uri="{FF2B5EF4-FFF2-40B4-BE49-F238E27FC236}">
                  <a16:creationId xmlns:a16="http://schemas.microsoft.com/office/drawing/2014/main" id="{D91D2CE0-4813-4881-9BCF-F58BC54BDC98}"/>
                </a:ext>
              </a:extLst>
            </p:cNvPr>
            <p:cNvSpPr/>
            <p:nvPr/>
          </p:nvSpPr>
          <p:spPr>
            <a:xfrm>
              <a:off x="1817123" y="4792211"/>
              <a:ext cx="1674392" cy="954000"/>
            </a:xfrm>
            <a:prstGeom prst="cube">
              <a:avLst/>
            </a:prstGeom>
          </p:spPr>
          <p:style>
            <a:lnRef idx="2">
              <a:schemeClr val="accent4">
                <a:shade val="50000"/>
              </a:schemeClr>
            </a:lnRef>
            <a:fillRef idx="1">
              <a:schemeClr val="accent4"/>
            </a:fillRef>
            <a:effectRef idx="0">
              <a:schemeClr val="accent4"/>
            </a:effectRef>
            <a:fontRef idx="minor">
              <a:schemeClr val="lt1"/>
            </a:fontRef>
          </p:style>
          <p:txBody>
            <a:bodyPr lIns="0" tIns="0" rIns="0" bIns="0" rtlCol="0" anchor="ctr">
              <a:normAutofit/>
            </a:bodyPr>
            <a:lstStyle/>
            <a:p>
              <a:pPr algn="ctr"/>
              <a:r>
                <a:rPr lang="en-GB" sz="1400" dirty="0">
                  <a:solidFill>
                    <a:schemeClr val="tx1"/>
                  </a:solidFill>
                </a:rPr>
                <a:t>Interaction Functions</a:t>
              </a:r>
            </a:p>
          </p:txBody>
        </p:sp>
        <p:sp>
          <p:nvSpPr>
            <p:cNvPr id="36" name="Digital Twin [front]">
              <a:extLst>
                <a:ext uri="{FF2B5EF4-FFF2-40B4-BE49-F238E27FC236}">
                  <a16:creationId xmlns:a16="http://schemas.microsoft.com/office/drawing/2014/main" id="{3D5A592A-A3F1-4A85-8145-453746EE38E9}"/>
                </a:ext>
              </a:extLst>
            </p:cNvPr>
            <p:cNvSpPr/>
            <p:nvPr/>
          </p:nvSpPr>
          <p:spPr>
            <a:xfrm>
              <a:off x="0" y="4269297"/>
              <a:ext cx="3628571" cy="2588703"/>
            </a:xfrm>
            <a:prstGeom prst="cube">
              <a:avLst>
                <a:gd name="adj" fmla="val 8664"/>
              </a:avLst>
            </a:prstGeom>
            <a:noFill/>
            <a:ln>
              <a:solidFill>
                <a:schemeClr val="accent4">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tx1"/>
                  </a:solidFill>
                </a:rPr>
                <a:t>Digital Twin</a:t>
              </a:r>
            </a:p>
          </p:txBody>
        </p:sp>
      </p:grpSp>
      <p:sp>
        <p:nvSpPr>
          <p:cNvPr id="19" name="Cube 18">
            <a:extLst>
              <a:ext uri="{FF2B5EF4-FFF2-40B4-BE49-F238E27FC236}">
                <a16:creationId xmlns:a16="http://schemas.microsoft.com/office/drawing/2014/main" id="{35A10406-9D83-426C-B01A-24AD7892A343}"/>
              </a:ext>
            </a:extLst>
          </p:cNvPr>
          <p:cNvSpPr/>
          <p:nvPr/>
        </p:nvSpPr>
        <p:spPr>
          <a:xfrm>
            <a:off x="6053944" y="3797689"/>
            <a:ext cx="1120402" cy="638359"/>
          </a:xfrm>
          <a:prstGeom prst="cub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normAutofit fontScale="92500"/>
          </a:bodyPr>
          <a:lstStyle/>
          <a:p>
            <a:pPr algn="ctr"/>
            <a:r>
              <a:rPr lang="en-GB" sz="1400" dirty="0"/>
              <a:t>Management &amp; Automation</a:t>
            </a:r>
          </a:p>
        </p:txBody>
      </p:sp>
      <p:grpSp>
        <p:nvGrpSpPr>
          <p:cNvPr id="39" name="Service Interfaces">
            <a:extLst>
              <a:ext uri="{FF2B5EF4-FFF2-40B4-BE49-F238E27FC236}">
                <a16:creationId xmlns:a16="http://schemas.microsoft.com/office/drawing/2014/main" id="{4B468E14-3768-425A-A677-B1505E90DCE9}"/>
              </a:ext>
            </a:extLst>
          </p:cNvPr>
          <p:cNvGrpSpPr/>
          <p:nvPr/>
        </p:nvGrpSpPr>
        <p:grpSpPr>
          <a:xfrm>
            <a:off x="496339" y="1629739"/>
            <a:ext cx="2428022" cy="1732205"/>
            <a:chOff x="0" y="4269295"/>
            <a:chExt cx="3628572" cy="2588705"/>
          </a:xfrm>
        </p:grpSpPr>
        <p:sp>
          <p:nvSpPr>
            <p:cNvPr id="40" name="Sync [back]">
              <a:extLst>
                <a:ext uri="{FF2B5EF4-FFF2-40B4-BE49-F238E27FC236}">
                  <a16:creationId xmlns:a16="http://schemas.microsoft.com/office/drawing/2014/main" id="{E83E77C9-C27C-46F7-8916-56543193B9BE}"/>
                </a:ext>
              </a:extLst>
            </p:cNvPr>
            <p:cNvSpPr/>
            <p:nvPr/>
          </p:nvSpPr>
          <p:spPr>
            <a:xfrm rot="10800000">
              <a:off x="1" y="4269295"/>
              <a:ext cx="3628571" cy="2588703"/>
            </a:xfrm>
            <a:prstGeom prst="cube">
              <a:avLst>
                <a:gd name="adj" fmla="val 8664"/>
              </a:avLst>
            </a:prstGeom>
            <a:ln/>
          </p:spPr>
          <p:style>
            <a:lnRef idx="1">
              <a:schemeClr val="accent2"/>
            </a:lnRef>
            <a:fillRef idx="2">
              <a:schemeClr val="accent2"/>
            </a:fillRef>
            <a:effectRef idx="1">
              <a:schemeClr val="accent2"/>
            </a:effectRef>
            <a:fontRef idx="minor">
              <a:schemeClr val="dk1"/>
            </a:fontRef>
          </p:style>
          <p:txBody>
            <a:bodyPr lIns="0" tIns="0" rIns="0" bIns="0" rtlCol="0" anchor="t">
              <a:normAutofit/>
            </a:bodyPr>
            <a:lstStyle/>
            <a:p>
              <a:endParaRPr lang="en-GB" sz="1400" b="1" dirty="0">
                <a:solidFill>
                  <a:schemeClr val="bg1"/>
                </a:solidFill>
              </a:endParaRPr>
            </a:p>
          </p:txBody>
        </p:sp>
        <p:sp>
          <p:nvSpPr>
            <p:cNvPr id="41" name="Cube 40">
              <a:extLst>
                <a:ext uri="{FF2B5EF4-FFF2-40B4-BE49-F238E27FC236}">
                  <a16:creationId xmlns:a16="http://schemas.microsoft.com/office/drawing/2014/main" id="{4AFF2A06-C73D-400E-8AE8-395818268524}"/>
                </a:ext>
              </a:extLst>
            </p:cNvPr>
            <p:cNvSpPr/>
            <p:nvPr/>
          </p:nvSpPr>
          <p:spPr>
            <a:xfrm>
              <a:off x="88399" y="5803111"/>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fontScale="85000" lnSpcReduction="20000"/>
            </a:bodyPr>
            <a:lstStyle/>
            <a:p>
              <a:pPr algn="ctr"/>
              <a:r>
                <a:rPr lang="en-GB" sz="1400" dirty="0">
                  <a:solidFill>
                    <a:schemeClr val="bg1"/>
                  </a:solidFill>
                </a:rPr>
                <a:t>Model / Simulation Interoperability</a:t>
              </a:r>
            </a:p>
          </p:txBody>
        </p:sp>
        <p:sp>
          <p:nvSpPr>
            <p:cNvPr id="42" name="Cube 41">
              <a:extLst>
                <a:ext uri="{FF2B5EF4-FFF2-40B4-BE49-F238E27FC236}">
                  <a16:creationId xmlns:a16="http://schemas.microsoft.com/office/drawing/2014/main" id="{C1C2C67C-AD89-4C7E-A841-8F2F5826DF0D}"/>
                </a:ext>
              </a:extLst>
            </p:cNvPr>
            <p:cNvSpPr/>
            <p:nvPr/>
          </p:nvSpPr>
          <p:spPr>
            <a:xfrm>
              <a:off x="1817123" y="5803111"/>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a:bodyPr>
            <a:lstStyle/>
            <a:p>
              <a:pPr algn="ctr"/>
              <a:r>
                <a:rPr lang="en-GB" sz="1400" dirty="0">
                  <a:solidFill>
                    <a:schemeClr val="bg1"/>
                  </a:solidFill>
                </a:rPr>
                <a:t>Model Integration</a:t>
              </a:r>
            </a:p>
          </p:txBody>
        </p:sp>
        <p:sp>
          <p:nvSpPr>
            <p:cNvPr id="43" name="Cube 42">
              <a:extLst>
                <a:ext uri="{FF2B5EF4-FFF2-40B4-BE49-F238E27FC236}">
                  <a16:creationId xmlns:a16="http://schemas.microsoft.com/office/drawing/2014/main" id="{43054F30-9222-4BC5-A23D-B2F2598703E2}"/>
                </a:ext>
              </a:extLst>
            </p:cNvPr>
            <p:cNvSpPr/>
            <p:nvPr/>
          </p:nvSpPr>
          <p:spPr>
            <a:xfrm>
              <a:off x="88399" y="4798311"/>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a:bodyPr>
            <a:lstStyle/>
            <a:p>
              <a:pPr algn="ctr"/>
              <a:r>
                <a:rPr lang="en-GB" sz="1400" dirty="0">
                  <a:solidFill>
                    <a:schemeClr val="bg1"/>
                  </a:solidFill>
                </a:rPr>
                <a:t>Data Integration</a:t>
              </a:r>
            </a:p>
          </p:txBody>
        </p:sp>
        <p:sp>
          <p:nvSpPr>
            <p:cNvPr id="45" name="Cube 44">
              <a:extLst>
                <a:ext uri="{FF2B5EF4-FFF2-40B4-BE49-F238E27FC236}">
                  <a16:creationId xmlns:a16="http://schemas.microsoft.com/office/drawing/2014/main" id="{9F56C6D6-93C1-4FA1-8BD0-1E973EBDCC86}"/>
                </a:ext>
              </a:extLst>
            </p:cNvPr>
            <p:cNvSpPr/>
            <p:nvPr/>
          </p:nvSpPr>
          <p:spPr>
            <a:xfrm>
              <a:off x="1817123" y="4792046"/>
              <a:ext cx="1674392" cy="954000"/>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normAutofit/>
            </a:bodyPr>
            <a:lstStyle/>
            <a:p>
              <a:pPr algn="ctr"/>
              <a:r>
                <a:rPr lang="en-GB" sz="1400" dirty="0">
                  <a:solidFill>
                    <a:schemeClr val="bg1"/>
                  </a:solidFill>
                </a:rPr>
                <a:t>Protocols</a:t>
              </a:r>
            </a:p>
          </p:txBody>
        </p:sp>
        <p:sp>
          <p:nvSpPr>
            <p:cNvPr id="44" name="Sync [front]">
              <a:extLst>
                <a:ext uri="{FF2B5EF4-FFF2-40B4-BE49-F238E27FC236}">
                  <a16:creationId xmlns:a16="http://schemas.microsoft.com/office/drawing/2014/main" id="{3CEB2CF3-0E30-4461-BD1B-139733F193F0}"/>
                </a:ext>
              </a:extLst>
            </p:cNvPr>
            <p:cNvSpPr/>
            <p:nvPr/>
          </p:nvSpPr>
          <p:spPr>
            <a:xfrm>
              <a:off x="0" y="4269297"/>
              <a:ext cx="3628571" cy="2588703"/>
            </a:xfrm>
            <a:prstGeom prst="cube">
              <a:avLst>
                <a:gd name="adj" fmla="val 8664"/>
              </a:avLst>
            </a:prstGeom>
            <a:noFill/>
            <a:ln>
              <a:solidFill>
                <a:schemeClr val="accent2">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tx1"/>
                  </a:solidFill>
                </a:rPr>
                <a:t>Service Interfaces</a:t>
              </a:r>
            </a:p>
          </p:txBody>
        </p:sp>
      </p:grpSp>
      <p:grpSp>
        <p:nvGrpSpPr>
          <p:cNvPr id="46" name="Synchronisation">
            <a:extLst>
              <a:ext uri="{FF2B5EF4-FFF2-40B4-BE49-F238E27FC236}">
                <a16:creationId xmlns:a16="http://schemas.microsoft.com/office/drawing/2014/main" id="{5D373924-B8FF-402F-AA6A-F867941B5081}"/>
              </a:ext>
            </a:extLst>
          </p:cNvPr>
          <p:cNvGrpSpPr/>
          <p:nvPr/>
        </p:nvGrpSpPr>
        <p:grpSpPr>
          <a:xfrm>
            <a:off x="2526255" y="3587302"/>
            <a:ext cx="2428021" cy="1031020"/>
            <a:chOff x="0" y="4269294"/>
            <a:chExt cx="3628571" cy="1540814"/>
          </a:xfrm>
        </p:grpSpPr>
        <p:sp>
          <p:nvSpPr>
            <p:cNvPr id="47" name="Digital Twin [back]">
              <a:extLst>
                <a:ext uri="{FF2B5EF4-FFF2-40B4-BE49-F238E27FC236}">
                  <a16:creationId xmlns:a16="http://schemas.microsoft.com/office/drawing/2014/main" id="{4077D992-139F-4B7A-A969-4DBBC9616B05}"/>
                </a:ext>
              </a:extLst>
            </p:cNvPr>
            <p:cNvSpPr/>
            <p:nvPr/>
          </p:nvSpPr>
          <p:spPr>
            <a:xfrm rot="10800000">
              <a:off x="0" y="4269294"/>
              <a:ext cx="3628571" cy="1540811"/>
            </a:xfrm>
            <a:prstGeom prst="cube">
              <a:avLst>
                <a:gd name="adj" fmla="val 14059"/>
              </a:avLst>
            </a:prstGeom>
            <a:ln/>
          </p:spPr>
          <p:style>
            <a:lnRef idx="1">
              <a:schemeClr val="accent3"/>
            </a:lnRef>
            <a:fillRef idx="2">
              <a:schemeClr val="accent3"/>
            </a:fillRef>
            <a:effectRef idx="1">
              <a:schemeClr val="accent3"/>
            </a:effectRef>
            <a:fontRef idx="minor">
              <a:schemeClr val="dk1"/>
            </a:fontRef>
          </p:style>
          <p:txBody>
            <a:bodyPr lIns="0" tIns="0" rIns="0" bIns="0" rtlCol="0" anchor="t">
              <a:normAutofit/>
            </a:bodyPr>
            <a:lstStyle/>
            <a:p>
              <a:endParaRPr lang="en-GB" sz="1400" b="1" dirty="0">
                <a:solidFill>
                  <a:schemeClr val="bg1"/>
                </a:solidFill>
              </a:endParaRPr>
            </a:p>
          </p:txBody>
        </p:sp>
        <p:sp>
          <p:nvSpPr>
            <p:cNvPr id="50" name="Cube 49">
              <a:extLst>
                <a:ext uri="{FF2B5EF4-FFF2-40B4-BE49-F238E27FC236}">
                  <a16:creationId xmlns:a16="http://schemas.microsoft.com/office/drawing/2014/main" id="{2D5AB39E-7535-4FEF-B9FA-DDF8B40704C3}"/>
                </a:ext>
              </a:extLst>
            </p:cNvPr>
            <p:cNvSpPr/>
            <p:nvPr/>
          </p:nvSpPr>
          <p:spPr>
            <a:xfrm>
              <a:off x="88399" y="4798311"/>
              <a:ext cx="1674392" cy="954000"/>
            </a:xfrm>
            <a:prstGeom prst="cube">
              <a:avLst/>
            </a:prstGeom>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normAutofit/>
            </a:bodyPr>
            <a:lstStyle/>
            <a:p>
              <a:pPr algn="ctr"/>
              <a:r>
                <a:rPr lang="en-GB" sz="1400" dirty="0">
                  <a:solidFill>
                    <a:schemeClr val="bg1"/>
                  </a:solidFill>
                </a:rPr>
                <a:t>Real </a:t>
              </a:r>
              <a:r>
                <a:rPr lang="en-GB" sz="1400" dirty="0">
                  <a:solidFill>
                    <a:schemeClr val="bg1"/>
                  </a:solidFill>
                  <a:sym typeface="Wingdings" panose="05000000000000000000" pitchFamily="2" charset="2"/>
                </a:rPr>
                <a:t> Virtual</a:t>
              </a:r>
              <a:endParaRPr lang="en-GB" sz="1400" dirty="0">
                <a:solidFill>
                  <a:schemeClr val="bg1"/>
                </a:solidFill>
              </a:endParaRPr>
            </a:p>
          </p:txBody>
        </p:sp>
        <p:sp>
          <p:nvSpPr>
            <p:cNvPr id="51" name="Cube 50">
              <a:extLst>
                <a:ext uri="{FF2B5EF4-FFF2-40B4-BE49-F238E27FC236}">
                  <a16:creationId xmlns:a16="http://schemas.microsoft.com/office/drawing/2014/main" id="{4C40B3D8-3651-4F79-8CD6-7D32966DDA94}"/>
                </a:ext>
              </a:extLst>
            </p:cNvPr>
            <p:cNvSpPr/>
            <p:nvPr/>
          </p:nvSpPr>
          <p:spPr>
            <a:xfrm>
              <a:off x="1817123" y="4792046"/>
              <a:ext cx="1674392" cy="954000"/>
            </a:xfrm>
            <a:prstGeom prst="cube">
              <a:avLst/>
            </a:prstGeom>
          </p:spPr>
          <p:style>
            <a:lnRef idx="2">
              <a:schemeClr val="accent3">
                <a:shade val="50000"/>
              </a:schemeClr>
            </a:lnRef>
            <a:fillRef idx="1">
              <a:schemeClr val="accent3"/>
            </a:fillRef>
            <a:effectRef idx="0">
              <a:schemeClr val="accent3"/>
            </a:effectRef>
            <a:fontRef idx="minor">
              <a:schemeClr val="lt1"/>
            </a:fontRef>
          </p:style>
          <p:txBody>
            <a:bodyPr lIns="0" tIns="0" rIns="0" bIns="0" rtlCol="0" anchor="ctr">
              <a:normAutofit/>
            </a:bodyPr>
            <a:lstStyle/>
            <a:p>
              <a:pPr algn="ctr"/>
              <a:r>
                <a:rPr lang="en-GB" sz="1400" dirty="0">
                  <a:solidFill>
                    <a:schemeClr val="bg1"/>
                  </a:solidFill>
                </a:rPr>
                <a:t>Virtual </a:t>
              </a:r>
              <a:r>
                <a:rPr lang="en-GB" sz="1400" dirty="0">
                  <a:solidFill>
                    <a:schemeClr val="bg1"/>
                  </a:solidFill>
                  <a:sym typeface="Wingdings" panose="05000000000000000000" pitchFamily="2" charset="2"/>
                </a:rPr>
                <a:t> Real</a:t>
              </a:r>
              <a:endParaRPr lang="en-GB" sz="1400" dirty="0">
                <a:solidFill>
                  <a:schemeClr val="bg1"/>
                </a:solidFill>
              </a:endParaRPr>
            </a:p>
          </p:txBody>
        </p:sp>
        <p:sp>
          <p:nvSpPr>
            <p:cNvPr id="52" name="Digital Twin [front]">
              <a:extLst>
                <a:ext uri="{FF2B5EF4-FFF2-40B4-BE49-F238E27FC236}">
                  <a16:creationId xmlns:a16="http://schemas.microsoft.com/office/drawing/2014/main" id="{8F2544EE-7B5C-429B-9C11-6F3B4AFE1E04}"/>
                </a:ext>
              </a:extLst>
            </p:cNvPr>
            <p:cNvSpPr/>
            <p:nvPr/>
          </p:nvSpPr>
          <p:spPr>
            <a:xfrm>
              <a:off x="0" y="4269297"/>
              <a:ext cx="3628571" cy="1540811"/>
            </a:xfrm>
            <a:prstGeom prst="cube">
              <a:avLst>
                <a:gd name="adj" fmla="val 14658"/>
              </a:avLst>
            </a:prstGeom>
            <a:noFill/>
            <a:ln>
              <a:solidFill>
                <a:schemeClr val="accent3">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bg1"/>
                  </a:solidFill>
                </a:rPr>
                <a:t>Synchronisation Mechanisms</a:t>
              </a:r>
            </a:p>
          </p:txBody>
        </p:sp>
      </p:grpSp>
      <p:grpSp>
        <p:nvGrpSpPr>
          <p:cNvPr id="53" name="Apps &amp; Services">
            <a:extLst>
              <a:ext uri="{FF2B5EF4-FFF2-40B4-BE49-F238E27FC236}">
                <a16:creationId xmlns:a16="http://schemas.microsoft.com/office/drawing/2014/main" id="{3189B2BE-B038-4039-9EBC-150E40A122C4}"/>
              </a:ext>
            </a:extLst>
          </p:cNvPr>
          <p:cNvGrpSpPr/>
          <p:nvPr/>
        </p:nvGrpSpPr>
        <p:grpSpPr>
          <a:xfrm>
            <a:off x="4746325" y="1629739"/>
            <a:ext cx="2428022" cy="1732205"/>
            <a:chOff x="0" y="4269295"/>
            <a:chExt cx="3628572" cy="2588705"/>
          </a:xfrm>
        </p:grpSpPr>
        <p:sp>
          <p:nvSpPr>
            <p:cNvPr id="54" name="Apps [back]">
              <a:extLst>
                <a:ext uri="{FF2B5EF4-FFF2-40B4-BE49-F238E27FC236}">
                  <a16:creationId xmlns:a16="http://schemas.microsoft.com/office/drawing/2014/main" id="{D0590563-DFAC-4C59-BB70-F6927530D57F}"/>
                </a:ext>
              </a:extLst>
            </p:cNvPr>
            <p:cNvSpPr/>
            <p:nvPr/>
          </p:nvSpPr>
          <p:spPr>
            <a:xfrm rot="10800000">
              <a:off x="1" y="4269295"/>
              <a:ext cx="3628571" cy="2588703"/>
            </a:xfrm>
            <a:prstGeom prst="cube">
              <a:avLst>
                <a:gd name="adj" fmla="val 8664"/>
              </a:avLst>
            </a:prstGeom>
            <a:ln/>
          </p:spPr>
          <p:style>
            <a:lnRef idx="1">
              <a:schemeClr val="accent1"/>
            </a:lnRef>
            <a:fillRef idx="2">
              <a:schemeClr val="accent1"/>
            </a:fillRef>
            <a:effectRef idx="1">
              <a:schemeClr val="accent1"/>
            </a:effectRef>
            <a:fontRef idx="minor">
              <a:schemeClr val="dk1"/>
            </a:fontRef>
          </p:style>
          <p:txBody>
            <a:bodyPr lIns="0" tIns="0" rIns="0" bIns="0" rtlCol="0" anchor="t">
              <a:normAutofit/>
            </a:bodyPr>
            <a:lstStyle/>
            <a:p>
              <a:endParaRPr lang="en-GB" sz="1400" b="1" dirty="0">
                <a:solidFill>
                  <a:schemeClr val="bg1"/>
                </a:solidFill>
              </a:endParaRPr>
            </a:p>
          </p:txBody>
        </p:sp>
        <p:sp>
          <p:nvSpPr>
            <p:cNvPr id="55" name="Cube 54">
              <a:extLst>
                <a:ext uri="{FF2B5EF4-FFF2-40B4-BE49-F238E27FC236}">
                  <a16:creationId xmlns:a16="http://schemas.microsoft.com/office/drawing/2014/main" id="{46439E53-3A5A-446B-9AB0-08802482E17F}"/>
                </a:ext>
              </a:extLst>
            </p:cNvPr>
            <p:cNvSpPr/>
            <p:nvPr/>
          </p:nvSpPr>
          <p:spPr>
            <a:xfrm>
              <a:off x="88399" y="5803111"/>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User Interfaces</a:t>
              </a:r>
            </a:p>
          </p:txBody>
        </p:sp>
        <p:sp>
          <p:nvSpPr>
            <p:cNvPr id="56" name="Cube 55">
              <a:extLst>
                <a:ext uri="{FF2B5EF4-FFF2-40B4-BE49-F238E27FC236}">
                  <a16:creationId xmlns:a16="http://schemas.microsoft.com/office/drawing/2014/main" id="{583680BC-2D06-4C2B-97E7-CF0E3ECDE85C}"/>
                </a:ext>
              </a:extLst>
            </p:cNvPr>
            <p:cNvSpPr/>
            <p:nvPr/>
          </p:nvSpPr>
          <p:spPr>
            <a:xfrm>
              <a:off x="1817123" y="5803111"/>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Visualisation</a:t>
              </a:r>
            </a:p>
          </p:txBody>
        </p:sp>
        <p:sp>
          <p:nvSpPr>
            <p:cNvPr id="57" name="Cube 56">
              <a:extLst>
                <a:ext uri="{FF2B5EF4-FFF2-40B4-BE49-F238E27FC236}">
                  <a16:creationId xmlns:a16="http://schemas.microsoft.com/office/drawing/2014/main" id="{4F940463-C342-4644-B0E8-498DE108F2A7}"/>
                </a:ext>
              </a:extLst>
            </p:cNvPr>
            <p:cNvSpPr/>
            <p:nvPr/>
          </p:nvSpPr>
          <p:spPr>
            <a:xfrm>
              <a:off x="88399" y="4798311"/>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Rendering</a:t>
              </a:r>
            </a:p>
          </p:txBody>
        </p:sp>
        <p:sp>
          <p:nvSpPr>
            <p:cNvPr id="58" name="Cube 57">
              <a:extLst>
                <a:ext uri="{FF2B5EF4-FFF2-40B4-BE49-F238E27FC236}">
                  <a16:creationId xmlns:a16="http://schemas.microsoft.com/office/drawing/2014/main" id="{CF9CC8DE-A6FE-474A-96F4-8BC193461303}"/>
                </a:ext>
              </a:extLst>
            </p:cNvPr>
            <p:cNvSpPr/>
            <p:nvPr/>
          </p:nvSpPr>
          <p:spPr>
            <a:xfrm>
              <a:off x="1817123" y="4792046"/>
              <a:ext cx="1674392" cy="954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400" dirty="0">
                  <a:solidFill>
                    <a:schemeClr val="bg1"/>
                  </a:solidFill>
                </a:rPr>
                <a:t>Analytics</a:t>
              </a:r>
            </a:p>
          </p:txBody>
        </p:sp>
        <p:sp>
          <p:nvSpPr>
            <p:cNvPr id="59" name="Apps [front]">
              <a:extLst>
                <a:ext uri="{FF2B5EF4-FFF2-40B4-BE49-F238E27FC236}">
                  <a16:creationId xmlns:a16="http://schemas.microsoft.com/office/drawing/2014/main" id="{D71D0F78-122C-4E56-B2C7-D52FC7643E0D}"/>
                </a:ext>
              </a:extLst>
            </p:cNvPr>
            <p:cNvSpPr/>
            <p:nvPr/>
          </p:nvSpPr>
          <p:spPr>
            <a:xfrm>
              <a:off x="0" y="4269297"/>
              <a:ext cx="3628571" cy="2588703"/>
            </a:xfrm>
            <a:prstGeom prst="cube">
              <a:avLst>
                <a:gd name="adj" fmla="val 8664"/>
              </a:avLst>
            </a:prstGeom>
            <a:noFill/>
            <a:ln>
              <a:solidFill>
                <a:schemeClr val="accent1">
                  <a:lumMod val="50000"/>
                </a:schemeClr>
              </a:solidFill>
            </a:ln>
          </p:spPr>
          <p:style>
            <a:lnRef idx="2">
              <a:schemeClr val="accent5"/>
            </a:lnRef>
            <a:fillRef idx="1">
              <a:schemeClr val="lt1"/>
            </a:fillRef>
            <a:effectRef idx="0">
              <a:schemeClr val="accent5"/>
            </a:effectRef>
            <a:fontRef idx="minor">
              <a:schemeClr val="dk1"/>
            </a:fontRef>
          </p:style>
          <p:txBody>
            <a:bodyPr lIns="0" tIns="0" rIns="0" bIns="0" rtlCol="0" anchor="t">
              <a:normAutofit/>
            </a:bodyPr>
            <a:lstStyle/>
            <a:p>
              <a:pPr algn="ctr"/>
              <a:r>
                <a:rPr lang="en-GB" sz="1400" b="1" dirty="0">
                  <a:solidFill>
                    <a:schemeClr val="bg1"/>
                  </a:solidFill>
                </a:rPr>
                <a:t>Applications &amp; Services</a:t>
              </a:r>
            </a:p>
          </p:txBody>
        </p:sp>
      </p:grpSp>
      <p:sp>
        <p:nvSpPr>
          <p:cNvPr id="23" name="Cube 22">
            <a:extLst>
              <a:ext uri="{FF2B5EF4-FFF2-40B4-BE49-F238E27FC236}">
                <a16:creationId xmlns:a16="http://schemas.microsoft.com/office/drawing/2014/main" id="{F6F58164-BE69-4135-8C5B-43975165507D}"/>
              </a:ext>
            </a:extLst>
          </p:cNvPr>
          <p:cNvSpPr/>
          <p:nvPr/>
        </p:nvSpPr>
        <p:spPr>
          <a:xfrm>
            <a:off x="496339" y="3797689"/>
            <a:ext cx="1120402" cy="638359"/>
          </a:xfrm>
          <a:prstGeom prst="cube">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normAutofit fontScale="85000" lnSpcReduction="10000"/>
          </a:bodyPr>
          <a:lstStyle/>
          <a:p>
            <a:pPr algn="ctr"/>
            <a:r>
              <a:rPr lang="en-GB" sz="1400" dirty="0"/>
              <a:t>Security, Trust, &amp; Governance</a:t>
            </a:r>
          </a:p>
        </p:txBody>
      </p:sp>
      <p:sp>
        <p:nvSpPr>
          <p:cNvPr id="63" name="Arrow: Left-Right 62">
            <a:extLst>
              <a:ext uri="{FF2B5EF4-FFF2-40B4-BE49-F238E27FC236}">
                <a16:creationId xmlns:a16="http://schemas.microsoft.com/office/drawing/2014/main" id="{948D387D-E5B7-4AFE-BC05-3F78FEBF3098}"/>
              </a:ext>
            </a:extLst>
          </p:cNvPr>
          <p:cNvSpPr/>
          <p:nvPr/>
        </p:nvSpPr>
        <p:spPr>
          <a:xfrm>
            <a:off x="3036772" y="2177614"/>
            <a:ext cx="1597141" cy="636455"/>
          </a:xfrm>
          <a:prstGeom prst="leftRightArrow">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lIns="0" tIns="0" rIns="0" bIns="0" rtlCol="0" anchor="ctr">
            <a:normAutofit/>
          </a:bodyPr>
          <a:lstStyle/>
          <a:p>
            <a:pPr algn="ctr"/>
            <a:endParaRPr lang="en-GB"/>
          </a:p>
        </p:txBody>
      </p:sp>
    </p:spTree>
    <p:extLst>
      <p:ext uri="{BB962C8B-B14F-4D97-AF65-F5344CB8AC3E}">
        <p14:creationId xmlns:p14="http://schemas.microsoft.com/office/powerpoint/2010/main" val="1568678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B793A0-AAB2-4C20-A002-72284B902054}"/>
              </a:ext>
            </a:extLst>
          </p:cNvPr>
          <p:cNvSpPr>
            <a:spLocks noGrp="1"/>
          </p:cNvSpPr>
          <p:nvPr>
            <p:ph idx="1"/>
          </p:nvPr>
        </p:nvSpPr>
        <p:spPr>
          <a:xfrm>
            <a:off x="836676" y="1512059"/>
            <a:ext cx="10127657" cy="5203467"/>
          </a:xfrm>
        </p:spPr>
        <p:txBody>
          <a:bodyPr>
            <a:normAutofit fontScale="92500" lnSpcReduction="10000"/>
          </a:bodyPr>
          <a:lstStyle/>
          <a:p>
            <a:pPr marL="0" marR="0" algn="just">
              <a:spcBef>
                <a:spcPts val="0"/>
              </a:spcBef>
              <a:spcAft>
                <a:spcPts val="600"/>
              </a:spcAft>
              <a:tabLst>
                <a:tab pos="365760" algn="l"/>
              </a:tabLst>
            </a:pPr>
            <a:endParaRPr lang="en-US" sz="1100" dirty="0">
              <a:effectLst/>
              <a:latin typeface="Garamond" panose="02020404030301010803" pitchFamily="18"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600"/>
              </a:spcAft>
              <a:buFont typeface="Symbol" panose="05050102010706020507" pitchFamily="18" charset="2"/>
              <a:buChar char=""/>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A Digital Twin workflow (from engineering model to embedded code)</a:t>
            </a:r>
          </a:p>
          <a:p>
            <a:pPr marL="342900" marR="0" lvl="0" indent="-342900" algn="just">
              <a:spcBef>
                <a:spcPts val="0"/>
              </a:spcBef>
              <a:spcAft>
                <a:spcPts val="600"/>
              </a:spcAft>
              <a:buFont typeface="Symbol" panose="05050102010706020507" pitchFamily="18" charset="2"/>
              <a:buChar char=""/>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The key technologies required to build a multi-physics, equation-based, twin </a:t>
            </a:r>
          </a:p>
          <a:p>
            <a:pPr marL="0" marR="0" lvl="0" indent="0" algn="just">
              <a:spcBef>
                <a:spcPts val="0"/>
              </a:spcBef>
              <a:spcAft>
                <a:spcPts val="600"/>
              </a:spcAft>
              <a:buNone/>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dirty="0" err="1">
                <a:effectLst/>
                <a:latin typeface="Calibri" panose="020F0502020204030204" pitchFamily="34" charset="0"/>
                <a:ea typeface="Times New Roman" panose="02020603050405020304" pitchFamily="18" charset="0"/>
                <a:cs typeface="Calibri" panose="020F0502020204030204" pitchFamily="34" charset="0"/>
              </a:rPr>
              <a:t>Modelica</a:t>
            </a:r>
            <a:r>
              <a:rPr lang="en-US" sz="2000" dirty="0">
                <a:effectLst/>
                <a:latin typeface="Calibri" panose="020F0502020204030204" pitchFamily="34" charset="0"/>
                <a:ea typeface="Times New Roman" panose="02020603050405020304" pitchFamily="18" charset="0"/>
                <a:cs typeface="Calibri" panose="020F0502020204030204" pitchFamily="34" charset="0"/>
              </a:rPr>
              <a:t>, Julia, Ansys Simulation, etc.)</a:t>
            </a:r>
          </a:p>
          <a:p>
            <a:pPr marL="342900" marR="0" lvl="0" indent="-342900" algn="just">
              <a:spcBef>
                <a:spcPts val="0"/>
              </a:spcBef>
              <a:spcAft>
                <a:spcPts val="600"/>
              </a:spcAft>
              <a:buFont typeface="Symbol" panose="05050102010706020507" pitchFamily="18" charset="2"/>
              <a:buChar char=""/>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The key technologies for integrating equation-based twin with the information twin </a:t>
            </a:r>
          </a:p>
          <a:p>
            <a:pPr marL="0" marR="0" lvl="0" indent="0" algn="just">
              <a:spcBef>
                <a:spcPts val="0"/>
              </a:spcBef>
              <a:spcAft>
                <a:spcPts val="600"/>
              </a:spcAft>
              <a:buNone/>
              <a:tabLst>
                <a:tab pos="365760" algn="l"/>
              </a:tabLst>
            </a:pPr>
            <a:r>
              <a:rPr lang="en-US" sz="2000" dirty="0">
                <a:latin typeface="Calibri" panose="020F0502020204030204" pitchFamily="34" charset="0"/>
                <a:ea typeface="Times New Roman" panose="02020603050405020304" pitchFamily="18" charset="0"/>
                <a:cs typeface="Calibri" panose="020F0502020204030204" pitchFamily="34" charset="0"/>
              </a:rPr>
              <a:t>      </a:t>
            </a:r>
            <a:r>
              <a:rPr lang="en-US" sz="2000" dirty="0">
                <a:effectLst/>
                <a:latin typeface="Calibri" panose="020F0502020204030204" pitchFamily="34" charset="0"/>
                <a:ea typeface="Times New Roman" panose="02020603050405020304" pitchFamily="18" charset="0"/>
                <a:cs typeface="Calibri" panose="020F0502020204030204" pitchFamily="34" charset="0"/>
              </a:rPr>
              <a:t>(MSFT Twin Builder, DTDL, DDS, etc.)</a:t>
            </a:r>
          </a:p>
          <a:p>
            <a:pPr marL="342900" marR="0" lvl="0" indent="-342900" algn="just">
              <a:spcBef>
                <a:spcPts val="0"/>
              </a:spcBef>
              <a:spcAft>
                <a:spcPts val="600"/>
              </a:spcAft>
              <a:buFont typeface="Symbol" panose="05050102010706020507" pitchFamily="18" charset="2"/>
              <a:buChar char=""/>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The key technologies needed to interface the equation-based twin with automation and control systems (IEC 61131, IEC61499, IEC 61508 etc.)</a:t>
            </a:r>
          </a:p>
          <a:p>
            <a:pPr marL="342900" marR="0" lvl="0" indent="-342900" algn="just">
              <a:spcBef>
                <a:spcPts val="0"/>
              </a:spcBef>
              <a:spcAft>
                <a:spcPts val="600"/>
              </a:spcAft>
              <a:buFont typeface="Symbol" panose="05050102010706020507" pitchFamily="18" charset="2"/>
              <a:buChar char=""/>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The pathway to develop </a:t>
            </a:r>
            <a:r>
              <a:rPr lang="en-US" sz="2000" u="sng" dirty="0">
                <a:effectLst/>
                <a:latin typeface="Calibri" panose="020F0502020204030204" pitchFamily="34" charset="0"/>
                <a:ea typeface="Times New Roman" panose="02020603050405020304" pitchFamily="18" charset="0"/>
                <a:cs typeface="Calibri" panose="020F0502020204030204" pitchFamily="34" charset="0"/>
              </a:rPr>
              <a:t>Opensource</a:t>
            </a:r>
            <a:r>
              <a:rPr lang="en-US" sz="2000" dirty="0">
                <a:effectLst/>
                <a:latin typeface="Calibri" panose="020F0502020204030204" pitchFamily="34" charset="0"/>
                <a:ea typeface="Times New Roman" panose="02020603050405020304" pitchFamily="18" charset="0"/>
                <a:cs typeface="Calibri" panose="020F0502020204030204" pitchFamily="34" charset="0"/>
              </a:rPr>
              <a:t> modeling languages and reference models that allow us to:</a:t>
            </a:r>
          </a:p>
          <a:p>
            <a:pPr marL="742950" marR="0" lvl="1" indent="-285750" algn="just">
              <a:spcBef>
                <a:spcPts val="0"/>
              </a:spcBef>
              <a:spcAft>
                <a:spcPts val="600"/>
              </a:spcAft>
              <a:buFont typeface="Courier New" panose="02070309020205020404" pitchFamily="49" charset="0"/>
              <a:buChar char="o"/>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Build Multiphysics models for systems of systems</a:t>
            </a:r>
          </a:p>
          <a:p>
            <a:pPr marL="742950" marR="0" lvl="1" indent="-285750" algn="just">
              <a:spcBef>
                <a:spcPts val="0"/>
              </a:spcBef>
              <a:spcAft>
                <a:spcPts val="600"/>
              </a:spcAft>
              <a:buFont typeface="Courier New" panose="02070309020205020404" pitchFamily="49" charset="0"/>
              <a:buChar char="o"/>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Interface automation &amp; control systems with the models</a:t>
            </a:r>
          </a:p>
          <a:p>
            <a:pPr marL="742950" marR="0" lvl="1" indent="-285750" algn="just">
              <a:spcBef>
                <a:spcPts val="0"/>
              </a:spcBef>
              <a:spcAft>
                <a:spcPts val="600"/>
              </a:spcAft>
              <a:buFont typeface="Courier New" panose="02070309020205020404" pitchFamily="49" charset="0"/>
              <a:buChar char="o"/>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Interface the equation and information models</a:t>
            </a:r>
          </a:p>
          <a:p>
            <a:pPr marL="742950" marR="0" lvl="1" indent="-285750" algn="just">
              <a:spcBef>
                <a:spcPts val="0"/>
              </a:spcBef>
              <a:spcAft>
                <a:spcPts val="600"/>
              </a:spcAft>
              <a:buFont typeface="Courier New" panose="02070309020205020404" pitchFamily="49" charset="0"/>
              <a:buChar char="o"/>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Export engineering quality control code from the model</a:t>
            </a:r>
          </a:p>
          <a:p>
            <a:pPr marL="742950" marR="0" lvl="1" indent="-285750" algn="just">
              <a:spcBef>
                <a:spcPts val="0"/>
              </a:spcBef>
              <a:spcAft>
                <a:spcPts val="600"/>
              </a:spcAft>
              <a:buFont typeface="Courier New" panose="02070309020205020404" pitchFamily="49" charset="0"/>
              <a:buChar char="o"/>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Export embeddable code from the model that can be used at the edge</a:t>
            </a:r>
          </a:p>
          <a:p>
            <a:pPr marL="742950" marR="0" lvl="1" indent="-285750" algn="just">
              <a:spcBef>
                <a:spcPts val="0"/>
              </a:spcBef>
              <a:spcAft>
                <a:spcPts val="600"/>
              </a:spcAft>
              <a:buFont typeface="Courier New" panose="02070309020205020404" pitchFamily="49" charset="0"/>
              <a:buChar char="o"/>
              <a:tabLst>
                <a:tab pos="365760" algn="l"/>
              </a:tabLst>
            </a:pPr>
            <a:r>
              <a:rPr lang="en-US" sz="2000" dirty="0">
                <a:effectLst/>
                <a:latin typeface="Calibri" panose="020F0502020204030204" pitchFamily="34" charset="0"/>
                <a:ea typeface="Times New Roman" panose="02020603050405020304" pitchFamily="18" charset="0"/>
                <a:cs typeface="Calibri" panose="020F0502020204030204" pitchFamily="34" charset="0"/>
              </a:rPr>
              <a:t>Co-simulate models from different vendors </a:t>
            </a:r>
          </a:p>
          <a:p>
            <a:pPr marL="457200" marR="0" lvl="1" indent="0" algn="just">
              <a:spcBef>
                <a:spcPts val="0"/>
              </a:spcBef>
              <a:spcAft>
                <a:spcPts val="600"/>
              </a:spcAft>
              <a:buNone/>
              <a:tabLst>
                <a:tab pos="365760" algn="l"/>
              </a:tabLst>
            </a:pPr>
            <a:r>
              <a:rPr lang="en-US" sz="2000" dirty="0">
                <a:latin typeface="Calibri" panose="020F0502020204030204" pitchFamily="34" charset="0"/>
                <a:ea typeface="Times New Roman" panose="02020603050405020304" pitchFamily="18" charset="0"/>
                <a:cs typeface="Calibri" panose="020F0502020204030204" pitchFamily="34" charset="0"/>
              </a:rPr>
              <a:t>     </a:t>
            </a:r>
            <a:r>
              <a:rPr lang="en-US" sz="2000" dirty="0">
                <a:effectLst/>
                <a:latin typeface="Calibri" panose="020F0502020204030204" pitchFamily="34" charset="0"/>
                <a:ea typeface="Times New Roman" panose="02020603050405020304" pitchFamily="18" charset="0"/>
                <a:cs typeface="Calibri" panose="020F0502020204030204" pitchFamily="34" charset="0"/>
              </a:rPr>
              <a:t>(e.g. an FEA or CFD model run in-the-loop with an automation model) </a:t>
            </a:r>
          </a:p>
          <a:p>
            <a:endParaRPr lang="en-US" dirty="0"/>
          </a:p>
        </p:txBody>
      </p:sp>
      <p:sp>
        <p:nvSpPr>
          <p:cNvPr id="3" name="Slide Number Placeholder 2">
            <a:extLst>
              <a:ext uri="{FF2B5EF4-FFF2-40B4-BE49-F238E27FC236}">
                <a16:creationId xmlns:a16="http://schemas.microsoft.com/office/drawing/2014/main" id="{CD5A454D-1522-410D-807C-48FF8741BD33}"/>
              </a:ext>
            </a:extLst>
          </p:cNvPr>
          <p:cNvSpPr>
            <a:spLocks noGrp="1"/>
          </p:cNvSpPr>
          <p:nvPr>
            <p:ph type="sldNum" sz="quarter" idx="16"/>
          </p:nvPr>
        </p:nvSpPr>
        <p:spPr/>
        <p:txBody>
          <a:bodyPr/>
          <a:lstStyle/>
          <a:p>
            <a:fld id="{EA358FA9-F386-4A12-B482-464C32CE5754}" type="slidenum">
              <a:rPr lang="en-US" smtClean="0"/>
              <a:pPr/>
              <a:t>19</a:t>
            </a:fld>
            <a:endParaRPr lang="en-US"/>
          </a:p>
        </p:txBody>
      </p:sp>
      <p:sp>
        <p:nvSpPr>
          <p:cNvPr id="4" name="Title 3">
            <a:extLst>
              <a:ext uri="{FF2B5EF4-FFF2-40B4-BE49-F238E27FC236}">
                <a16:creationId xmlns:a16="http://schemas.microsoft.com/office/drawing/2014/main" id="{8449390A-D67C-4B7B-93BD-BC2022D04315}"/>
              </a:ext>
            </a:extLst>
          </p:cNvPr>
          <p:cNvSpPr>
            <a:spLocks noGrp="1"/>
          </p:cNvSpPr>
          <p:nvPr>
            <p:ph type="title"/>
          </p:nvPr>
        </p:nvSpPr>
        <p:spPr>
          <a:xfrm>
            <a:off x="270739" y="254000"/>
            <a:ext cx="11259530" cy="869845"/>
          </a:xfrm>
        </p:spPr>
        <p:txBody>
          <a:bodyPr>
            <a:normAutofit fontScale="90000"/>
          </a:bodyPr>
          <a:lstStyle/>
          <a:p>
            <a:r>
              <a:rPr lang="en-US" dirty="0"/>
              <a:t>Expand Platform Stack to 3T Sub-Group</a:t>
            </a:r>
            <a:br>
              <a:rPr lang="en-US" dirty="0"/>
            </a:br>
            <a:r>
              <a:rPr lang="en-US" dirty="0"/>
              <a:t>Include Focus on Open Source</a:t>
            </a:r>
          </a:p>
        </p:txBody>
      </p:sp>
    </p:spTree>
    <p:extLst>
      <p:ext uri="{BB962C8B-B14F-4D97-AF65-F5344CB8AC3E}">
        <p14:creationId xmlns:p14="http://schemas.microsoft.com/office/powerpoint/2010/main" val="3097091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ACDCE1-A2E7-4C8C-8CB4-5CCCC71BF6A7}"/>
              </a:ext>
            </a:extLst>
          </p:cNvPr>
          <p:cNvSpPr>
            <a:spLocks noGrp="1"/>
          </p:cNvSpPr>
          <p:nvPr>
            <p:ph type="sldNum" sz="quarter" idx="16"/>
          </p:nvPr>
        </p:nvSpPr>
        <p:spPr/>
        <p:txBody>
          <a:bodyPr/>
          <a:lstStyle/>
          <a:p>
            <a:fld id="{EA358FA9-F386-4A12-B482-464C32CE5754}" type="slidenum">
              <a:rPr lang="en-US" smtClean="0"/>
              <a:pPr/>
              <a:t>20</a:t>
            </a:fld>
            <a:endParaRPr lang="en-US"/>
          </a:p>
        </p:txBody>
      </p:sp>
      <p:sp>
        <p:nvSpPr>
          <p:cNvPr id="4" name="Title 3">
            <a:extLst>
              <a:ext uri="{FF2B5EF4-FFF2-40B4-BE49-F238E27FC236}">
                <a16:creationId xmlns:a16="http://schemas.microsoft.com/office/drawing/2014/main" id="{4287E1A8-F679-4F46-91CA-1973C710AE04}"/>
              </a:ext>
            </a:extLst>
          </p:cNvPr>
          <p:cNvSpPr>
            <a:spLocks noGrp="1"/>
          </p:cNvSpPr>
          <p:nvPr>
            <p:ph type="title"/>
          </p:nvPr>
        </p:nvSpPr>
        <p:spPr/>
        <p:txBody>
          <a:bodyPr>
            <a:normAutofit fontScale="90000"/>
          </a:bodyPr>
          <a:lstStyle/>
          <a:p>
            <a:r>
              <a:rPr lang="en-US" dirty="0"/>
              <a:t>New Business Maturity Framework Sub-Group</a:t>
            </a:r>
          </a:p>
        </p:txBody>
      </p:sp>
      <p:pic>
        <p:nvPicPr>
          <p:cNvPr id="6" name="Picture 5">
            <a:extLst>
              <a:ext uri="{FF2B5EF4-FFF2-40B4-BE49-F238E27FC236}">
                <a16:creationId xmlns:a16="http://schemas.microsoft.com/office/drawing/2014/main" id="{4DADCCE7-DE1B-4055-A7E8-18D145F97557}"/>
              </a:ext>
            </a:extLst>
          </p:cNvPr>
          <p:cNvPicPr>
            <a:picLocks noChangeAspect="1"/>
          </p:cNvPicPr>
          <p:nvPr/>
        </p:nvPicPr>
        <p:blipFill>
          <a:blip r:embed="rId2"/>
          <a:stretch>
            <a:fillRect/>
          </a:stretch>
        </p:blipFill>
        <p:spPr>
          <a:xfrm>
            <a:off x="312801" y="1742757"/>
            <a:ext cx="11563350" cy="4257675"/>
          </a:xfrm>
          <a:prstGeom prst="rect">
            <a:avLst/>
          </a:prstGeom>
        </p:spPr>
      </p:pic>
    </p:spTree>
    <p:extLst>
      <p:ext uri="{BB962C8B-B14F-4D97-AF65-F5344CB8AC3E}">
        <p14:creationId xmlns:p14="http://schemas.microsoft.com/office/powerpoint/2010/main" val="2398890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80E8-6D23-490F-9781-2C14A2F0A6A5}"/>
              </a:ext>
            </a:extLst>
          </p:cNvPr>
          <p:cNvSpPr>
            <a:spLocks noGrp="1"/>
          </p:cNvSpPr>
          <p:nvPr>
            <p:ph type="ctrTitle"/>
          </p:nvPr>
        </p:nvSpPr>
        <p:spPr/>
        <p:txBody>
          <a:bodyPr>
            <a:normAutofit fontScale="90000"/>
          </a:bodyPr>
          <a:lstStyle/>
          <a:p>
            <a:r>
              <a:rPr lang="en-GB" dirty="0"/>
              <a:t>Introduction of NTT’s Digital Twin Vision </a:t>
            </a:r>
          </a:p>
        </p:txBody>
      </p:sp>
      <p:sp>
        <p:nvSpPr>
          <p:cNvPr id="3" name="Subtitle 2">
            <a:extLst>
              <a:ext uri="{FF2B5EF4-FFF2-40B4-BE49-F238E27FC236}">
                <a16:creationId xmlns:a16="http://schemas.microsoft.com/office/drawing/2014/main" id="{BB57D60E-80D1-41B3-B111-3CEAEC2D581F}"/>
              </a:ext>
            </a:extLst>
          </p:cNvPr>
          <p:cNvSpPr>
            <a:spLocks noGrp="1"/>
          </p:cNvSpPr>
          <p:nvPr>
            <p:ph type="subTitle" idx="1"/>
          </p:nvPr>
        </p:nvSpPr>
        <p:spPr>
          <a:xfrm>
            <a:off x="696286" y="4615941"/>
            <a:ext cx="10799428" cy="1709358"/>
          </a:xfrm>
        </p:spPr>
        <p:txBody>
          <a:bodyPr>
            <a:normAutofit/>
          </a:bodyPr>
          <a:lstStyle/>
          <a:p>
            <a:endParaRPr lang="en-GB" baseline="30000" dirty="0"/>
          </a:p>
          <a:p>
            <a:r>
              <a:rPr lang="en-GB" baseline="30000" dirty="0"/>
              <a:t>7th</a:t>
            </a:r>
            <a:r>
              <a:rPr lang="en-GB" dirty="0"/>
              <a:t> January 2021</a:t>
            </a:r>
          </a:p>
        </p:txBody>
      </p:sp>
    </p:spTree>
    <p:extLst>
      <p:ext uri="{BB962C8B-B14F-4D97-AF65-F5344CB8AC3E}">
        <p14:creationId xmlns:p14="http://schemas.microsoft.com/office/powerpoint/2010/main" val="3277984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F2FA8-A322-467A-8009-1009784C9436}"/>
              </a:ext>
            </a:extLst>
          </p:cNvPr>
          <p:cNvSpPr>
            <a:spLocks noGrp="1"/>
          </p:cNvSpPr>
          <p:nvPr>
            <p:ph type="title"/>
          </p:nvPr>
        </p:nvSpPr>
        <p:spPr>
          <a:xfrm>
            <a:off x="2595081" y="2766218"/>
            <a:ext cx="7730447" cy="1325563"/>
          </a:xfrm>
        </p:spPr>
        <p:txBody>
          <a:bodyPr>
            <a:noAutofit/>
          </a:bodyPr>
          <a:lstStyle/>
          <a:p>
            <a:pPr algn="l"/>
            <a:br>
              <a:rPr lang="en-US" sz="4000" dirty="0">
                <a:solidFill>
                  <a:srgbClr val="FFC000"/>
                </a:solidFill>
                <a:latin typeface="Calibri" panose="020F0502020204030204" pitchFamily="34" charset="0"/>
                <a:ea typeface="Times New Roman" panose="02020603050405020304" pitchFamily="18" charset="0"/>
              </a:rPr>
            </a:br>
            <a:r>
              <a:rPr lang="en-US" sz="4000" dirty="0">
                <a:solidFill>
                  <a:srgbClr val="FFC000"/>
                </a:solidFill>
                <a:latin typeface="Calibri" panose="020F0502020204030204" pitchFamily="34" charset="0"/>
                <a:ea typeface="Times New Roman" panose="02020603050405020304" pitchFamily="18" charset="0"/>
              </a:rPr>
              <a:t>&gt; </a:t>
            </a:r>
            <a:r>
              <a:rPr lang="en-US" sz="4000" b="1" dirty="0">
                <a:solidFill>
                  <a:srgbClr val="FFC000"/>
                </a:solidFill>
                <a:effectLst>
                  <a:outerShdw blurRad="38100" dist="38100" dir="2700000" algn="tl">
                    <a:srgbClr val="000000">
                      <a:alpha val="43137"/>
                    </a:srgbClr>
                  </a:outerShdw>
                </a:effectLst>
                <a:latin typeface="Calibri" panose="020F0502020204030204" pitchFamily="34" charset="0"/>
              </a:rPr>
              <a:t>Consortium Expansion</a:t>
            </a:r>
            <a:br>
              <a:rPr lang="en-US" sz="4000" dirty="0">
                <a:effectLst/>
                <a:latin typeface="Calibri" panose="020F0502020204030204" pitchFamily="34" charset="0"/>
                <a:ea typeface="Calibri" panose="020F0502020204030204" pitchFamily="34" charset="0"/>
              </a:rPr>
            </a:br>
            <a:r>
              <a:rPr lang="en-US" sz="4000" dirty="0">
                <a:effectLst/>
                <a:latin typeface="Calibri" panose="020F0502020204030204" pitchFamily="34" charset="0"/>
                <a:ea typeface="Calibri" panose="020F0502020204030204" pitchFamily="34" charset="0"/>
              </a:rPr>
              <a:t>    -</a:t>
            </a:r>
            <a:r>
              <a:rPr lang="en-US" sz="4000" dirty="0">
                <a:solidFill>
                  <a:schemeClr val="bg1">
                    <a:lumMod val="95000"/>
                  </a:schemeClr>
                </a:solidFill>
                <a:effectLst/>
                <a:latin typeface="Calibri" panose="020F0502020204030204" pitchFamily="34" charset="0"/>
                <a:ea typeface="Calibri" panose="020F0502020204030204" pitchFamily="34" charset="0"/>
              </a:rPr>
              <a:t> </a:t>
            </a:r>
            <a:r>
              <a:rPr lang="en-US" sz="2800" dirty="0">
                <a:solidFill>
                  <a:schemeClr val="bg1">
                    <a:lumMod val="95000"/>
                  </a:schemeClr>
                </a:solidFill>
                <a:effectLst/>
                <a:latin typeface="Calibri" panose="020F0502020204030204" pitchFamily="34" charset="0"/>
                <a:ea typeface="Times New Roman" panose="02020603050405020304" pitchFamily="18" charset="0"/>
              </a:rPr>
              <a:t>Liaison Status   </a:t>
            </a:r>
            <a:br>
              <a:rPr lang="en-US" sz="2800" dirty="0">
                <a:solidFill>
                  <a:schemeClr val="bg1">
                    <a:lumMod val="95000"/>
                  </a:schemeClr>
                </a:solidFill>
                <a:effectLst/>
                <a:latin typeface="Calibri" panose="020F0502020204030204" pitchFamily="34" charset="0"/>
                <a:ea typeface="Calibri" panose="020F0502020204030204" pitchFamily="34" charset="0"/>
              </a:rPr>
            </a:br>
            <a:r>
              <a:rPr lang="en-US" sz="4000" dirty="0">
                <a:solidFill>
                  <a:schemeClr val="bg1">
                    <a:lumMod val="95000"/>
                  </a:schemeClr>
                </a:solidFill>
                <a:effectLst/>
                <a:latin typeface="Calibri" panose="020F0502020204030204" pitchFamily="34" charset="0"/>
                <a:ea typeface="Calibri" panose="020F0502020204030204" pitchFamily="34" charset="0"/>
              </a:rPr>
              <a:t>    - </a:t>
            </a:r>
            <a:r>
              <a:rPr lang="en-US" sz="2800" dirty="0">
                <a:solidFill>
                  <a:schemeClr val="bg1">
                    <a:lumMod val="95000"/>
                  </a:schemeClr>
                </a:solidFill>
                <a:effectLst/>
                <a:latin typeface="Calibri" panose="020F0502020204030204" pitchFamily="34" charset="0"/>
                <a:ea typeface="Times New Roman" panose="02020603050405020304" pitchFamily="18" charset="0"/>
              </a:rPr>
              <a:t>Regional Branch Update</a:t>
            </a:r>
            <a:br>
              <a:rPr lang="en-US" sz="4000" dirty="0">
                <a:effectLst/>
                <a:latin typeface="Calibri" panose="020F0502020204030204" pitchFamily="34" charset="0"/>
                <a:ea typeface="Times New Roman" panose="02020603050405020304" pitchFamily="18" charset="0"/>
              </a:rPr>
            </a:br>
            <a:br>
              <a:rPr lang="en-US" sz="4000" dirty="0">
                <a:effectLst/>
                <a:latin typeface="Calibri" panose="020F0502020204030204" pitchFamily="34" charset="0"/>
                <a:ea typeface="Times New Roman" panose="02020603050405020304" pitchFamily="18" charset="0"/>
              </a:rPr>
            </a:br>
            <a:endParaRPr lang="en-US" sz="4000" dirty="0"/>
          </a:p>
        </p:txBody>
      </p:sp>
    </p:spTree>
    <p:extLst>
      <p:ext uri="{BB962C8B-B14F-4D97-AF65-F5344CB8AC3E}">
        <p14:creationId xmlns:p14="http://schemas.microsoft.com/office/powerpoint/2010/main" val="285784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743E31-09E1-4303-9AFB-13D4F61AED39}"/>
              </a:ext>
            </a:extLst>
          </p:cNvPr>
          <p:cNvSpPr>
            <a:spLocks noGrp="1"/>
          </p:cNvSpPr>
          <p:nvPr>
            <p:ph type="title"/>
          </p:nvPr>
        </p:nvSpPr>
        <p:spPr/>
        <p:txBody>
          <a:bodyPr/>
          <a:lstStyle/>
          <a:p>
            <a:r>
              <a:rPr lang="en-US" sz="5400" b="1" dirty="0"/>
              <a:t>Growth: Liaisons &amp; Regional Teams</a:t>
            </a:r>
            <a:endParaRPr lang="en-US" dirty="0"/>
          </a:p>
        </p:txBody>
      </p:sp>
      <p:sp>
        <p:nvSpPr>
          <p:cNvPr id="2" name="Slide Number Placeholder 1">
            <a:extLst>
              <a:ext uri="{FF2B5EF4-FFF2-40B4-BE49-F238E27FC236}">
                <a16:creationId xmlns:a16="http://schemas.microsoft.com/office/drawing/2014/main" id="{53D6395D-779B-47CE-BEF9-C54F1F631929}"/>
              </a:ext>
            </a:extLst>
          </p:cNvPr>
          <p:cNvSpPr>
            <a:spLocks noGrp="1"/>
          </p:cNvSpPr>
          <p:nvPr>
            <p:ph type="sldNum" sz="quarter" idx="4294967295"/>
          </p:nvPr>
        </p:nvSpPr>
        <p:spPr>
          <a:xfrm>
            <a:off x="11603038" y="6356350"/>
            <a:ext cx="588962" cy="365125"/>
          </a:xfrm>
        </p:spPr>
        <p:txBody>
          <a:bodyPr/>
          <a:lstStyle/>
          <a:p>
            <a:fld id="{EA358FA9-F386-4A12-B482-464C32CE5754}" type="slidenum">
              <a:rPr lang="en-US" smtClean="0"/>
              <a:pPr/>
              <a:t>23</a:t>
            </a:fld>
            <a:endParaRPr lang="en-US"/>
          </a:p>
        </p:txBody>
      </p:sp>
    </p:spTree>
    <p:extLst>
      <p:ext uri="{BB962C8B-B14F-4D97-AF65-F5344CB8AC3E}">
        <p14:creationId xmlns:p14="http://schemas.microsoft.com/office/powerpoint/2010/main" val="4014746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855BA7-E9F6-492C-B5FA-3A75E0C2910A}"/>
              </a:ext>
            </a:extLst>
          </p:cNvPr>
          <p:cNvSpPr>
            <a:spLocks noGrp="1"/>
          </p:cNvSpPr>
          <p:nvPr>
            <p:ph idx="1"/>
          </p:nvPr>
        </p:nvSpPr>
        <p:spPr>
          <a:xfrm>
            <a:off x="836676" y="1550117"/>
            <a:ext cx="10991530" cy="4988795"/>
          </a:xfrm>
        </p:spPr>
        <p:txBody>
          <a:bodyPr>
            <a:noAutofit/>
          </a:bodyPr>
          <a:lstStyle/>
          <a:p>
            <a:r>
              <a:rPr lang="en-US" sz="2000" dirty="0"/>
              <a:t>IIC  - Signed </a:t>
            </a:r>
          </a:p>
          <a:p>
            <a:r>
              <a:rPr lang="en-US" sz="2000" dirty="0"/>
              <a:t>Building Smart- Signed</a:t>
            </a:r>
          </a:p>
          <a:p>
            <a:r>
              <a:rPr lang="en-US" sz="2000" dirty="0"/>
              <a:t>CABA – Continental Building Association - Signed</a:t>
            </a:r>
          </a:p>
          <a:p>
            <a:r>
              <a:rPr lang="en-US" sz="2000" dirty="0"/>
              <a:t>CDBB – Center for Digitally Built Britain  - In progress</a:t>
            </a:r>
          </a:p>
          <a:p>
            <a:r>
              <a:rPr lang="en-US" sz="2000" dirty="0"/>
              <a:t>CPC  - Construction Progress Congress – In progress</a:t>
            </a:r>
          </a:p>
          <a:p>
            <a:r>
              <a:rPr lang="en-US" sz="2000" dirty="0"/>
              <a:t>SCCANZ – Smart City Council for Australia and New Zealand – In progress</a:t>
            </a:r>
          </a:p>
          <a:p>
            <a:r>
              <a:rPr lang="en-US" sz="2000" dirty="0"/>
              <a:t>In Progress: </a:t>
            </a:r>
          </a:p>
          <a:p>
            <a:r>
              <a:rPr lang="en-US" sz="2000" dirty="0"/>
              <a:t>SWAN – Smart Water Association </a:t>
            </a:r>
          </a:p>
          <a:p>
            <a:r>
              <a:rPr lang="en-US" sz="2000" dirty="0">
                <a:solidFill>
                  <a:srgbClr val="F05124"/>
                </a:solidFill>
              </a:rPr>
              <a:t>FIWARE - </a:t>
            </a:r>
          </a:p>
          <a:p>
            <a:r>
              <a:rPr lang="en-US" sz="2000" dirty="0">
                <a:solidFill>
                  <a:srgbClr val="F05124"/>
                </a:solidFill>
              </a:rPr>
              <a:t>GMG  -  Global Mining Group</a:t>
            </a:r>
          </a:p>
          <a:p>
            <a:r>
              <a:rPr lang="en-US" sz="2000" dirty="0">
                <a:solidFill>
                  <a:srgbClr val="F05124"/>
                </a:solidFill>
              </a:rPr>
              <a:t>OSMG – Open Source </a:t>
            </a:r>
            <a:r>
              <a:rPr lang="en-US" sz="2000" dirty="0" err="1">
                <a:solidFill>
                  <a:srgbClr val="F05124"/>
                </a:solidFill>
              </a:rPr>
              <a:t>Modelica</a:t>
            </a:r>
            <a:r>
              <a:rPr lang="en-US" sz="2000" dirty="0">
                <a:solidFill>
                  <a:srgbClr val="F05124"/>
                </a:solidFill>
              </a:rPr>
              <a:t> Group</a:t>
            </a:r>
          </a:p>
          <a:p>
            <a:r>
              <a:rPr lang="en-US" sz="2000" dirty="0">
                <a:solidFill>
                  <a:srgbClr val="F05124"/>
                </a:solidFill>
              </a:rPr>
              <a:t>IDTA – Discussions in progress</a:t>
            </a:r>
          </a:p>
          <a:p>
            <a:endParaRPr lang="en-US" sz="2000" dirty="0"/>
          </a:p>
          <a:p>
            <a:endParaRPr lang="en-US" sz="2000" dirty="0"/>
          </a:p>
        </p:txBody>
      </p:sp>
      <p:sp>
        <p:nvSpPr>
          <p:cNvPr id="3" name="Slide Number Placeholder 2">
            <a:extLst>
              <a:ext uri="{FF2B5EF4-FFF2-40B4-BE49-F238E27FC236}">
                <a16:creationId xmlns:a16="http://schemas.microsoft.com/office/drawing/2014/main" id="{425A0DD3-9287-433A-8ADA-B0A0122A7B02}"/>
              </a:ext>
            </a:extLst>
          </p:cNvPr>
          <p:cNvSpPr>
            <a:spLocks noGrp="1"/>
          </p:cNvSpPr>
          <p:nvPr>
            <p:ph type="sldNum" sz="quarter" idx="16"/>
          </p:nvPr>
        </p:nvSpPr>
        <p:spPr/>
        <p:txBody>
          <a:bodyPr/>
          <a:lstStyle/>
          <a:p>
            <a:fld id="{EA358FA9-F386-4A12-B482-464C32CE5754}" type="slidenum">
              <a:rPr lang="en-US" smtClean="0"/>
              <a:pPr/>
              <a:t>24</a:t>
            </a:fld>
            <a:endParaRPr lang="en-US"/>
          </a:p>
        </p:txBody>
      </p:sp>
      <p:sp>
        <p:nvSpPr>
          <p:cNvPr id="4" name="Title 3">
            <a:extLst>
              <a:ext uri="{FF2B5EF4-FFF2-40B4-BE49-F238E27FC236}">
                <a16:creationId xmlns:a16="http://schemas.microsoft.com/office/drawing/2014/main" id="{9DFE702C-67E1-4FB2-943A-EEABC51AC035}"/>
              </a:ext>
            </a:extLst>
          </p:cNvPr>
          <p:cNvSpPr>
            <a:spLocks noGrp="1"/>
          </p:cNvSpPr>
          <p:nvPr>
            <p:ph type="title"/>
          </p:nvPr>
        </p:nvSpPr>
        <p:spPr/>
        <p:txBody>
          <a:bodyPr/>
          <a:lstStyle/>
          <a:p>
            <a:r>
              <a:rPr lang="en-US" dirty="0"/>
              <a:t>Liaisons – Collaborations In Progress</a:t>
            </a:r>
          </a:p>
        </p:txBody>
      </p:sp>
      <p:pic>
        <p:nvPicPr>
          <p:cNvPr id="6" name="Picture 5">
            <a:extLst>
              <a:ext uri="{FF2B5EF4-FFF2-40B4-BE49-F238E27FC236}">
                <a16:creationId xmlns:a16="http://schemas.microsoft.com/office/drawing/2014/main" id="{A704DD11-A348-4905-A3C0-04AD2F1E82FF}"/>
              </a:ext>
            </a:extLst>
          </p:cNvPr>
          <p:cNvPicPr>
            <a:picLocks noChangeAspect="1"/>
          </p:cNvPicPr>
          <p:nvPr/>
        </p:nvPicPr>
        <p:blipFill>
          <a:blip r:embed="rId2"/>
          <a:stretch>
            <a:fillRect/>
          </a:stretch>
        </p:blipFill>
        <p:spPr>
          <a:xfrm>
            <a:off x="4799636" y="4070341"/>
            <a:ext cx="1488022" cy="953072"/>
          </a:xfrm>
          <a:prstGeom prst="rect">
            <a:avLst/>
          </a:prstGeom>
          <a:ln w="19050">
            <a:solidFill>
              <a:srgbClr val="034EA2"/>
            </a:solidFill>
          </a:ln>
        </p:spPr>
      </p:pic>
      <p:pic>
        <p:nvPicPr>
          <p:cNvPr id="8" name="Picture 7">
            <a:extLst>
              <a:ext uri="{FF2B5EF4-FFF2-40B4-BE49-F238E27FC236}">
                <a16:creationId xmlns:a16="http://schemas.microsoft.com/office/drawing/2014/main" id="{D1B79F78-B671-47AB-9510-060021B5D263}"/>
              </a:ext>
            </a:extLst>
          </p:cNvPr>
          <p:cNvPicPr>
            <a:picLocks noChangeAspect="1"/>
          </p:cNvPicPr>
          <p:nvPr/>
        </p:nvPicPr>
        <p:blipFill>
          <a:blip r:embed="rId3"/>
          <a:stretch>
            <a:fillRect/>
          </a:stretch>
        </p:blipFill>
        <p:spPr>
          <a:xfrm>
            <a:off x="2184041" y="4732809"/>
            <a:ext cx="1476581" cy="419158"/>
          </a:xfrm>
          <a:prstGeom prst="rect">
            <a:avLst/>
          </a:prstGeom>
          <a:ln>
            <a:solidFill>
              <a:schemeClr val="accent1">
                <a:lumMod val="75000"/>
              </a:schemeClr>
            </a:solidFill>
          </a:ln>
        </p:spPr>
      </p:pic>
    </p:spTree>
    <p:extLst>
      <p:ext uri="{BB962C8B-B14F-4D97-AF65-F5344CB8AC3E}">
        <p14:creationId xmlns:p14="http://schemas.microsoft.com/office/powerpoint/2010/main" val="3037287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75" y="61277"/>
            <a:ext cx="10717149" cy="1325563"/>
          </a:xfrm>
        </p:spPr>
        <p:txBody>
          <a:bodyPr>
            <a:normAutofit fontScale="90000"/>
          </a:bodyPr>
          <a:lstStyle/>
          <a:p>
            <a:r>
              <a:rPr kumimoji="1" lang="en-US" altLang="ja-JP" dirty="0"/>
              <a:t>Strategic Objectives of Digital Twin Consortium Regional Teams</a:t>
            </a:r>
            <a:endParaRPr kumimoji="1" lang="ja-JP" altLang="en-US" dirty="0"/>
          </a:p>
        </p:txBody>
      </p:sp>
      <p:sp>
        <p:nvSpPr>
          <p:cNvPr id="3" name="Content Placeholder 2"/>
          <p:cNvSpPr>
            <a:spLocks noGrp="1"/>
          </p:cNvSpPr>
          <p:nvPr>
            <p:ph idx="1"/>
          </p:nvPr>
        </p:nvSpPr>
        <p:spPr/>
        <p:txBody>
          <a:bodyPr/>
          <a:lstStyle/>
          <a:p>
            <a:r>
              <a:rPr lang="en-US" altLang="ja-JP" dirty="0"/>
              <a:t>The purpose of a </a:t>
            </a:r>
            <a:r>
              <a:rPr lang="en-US" altLang="ja-JP" i="1" dirty="0"/>
              <a:t>Regional Team </a:t>
            </a:r>
            <a:r>
              <a:rPr lang="en-US" altLang="ja-JP" dirty="0"/>
              <a:t>is to facilitate local Digital Twin Consortium activities that can sometimes be hindered by language, culture and time zones, and to take advantage of access to local officials and official documents.</a:t>
            </a:r>
          </a:p>
          <a:p>
            <a:endParaRPr lang="en-US" altLang="ja-JP" dirty="0"/>
          </a:p>
          <a:p>
            <a:r>
              <a:rPr lang="en-US" altLang="ja-JP" dirty="0"/>
              <a:t>Regional teams and their meeting are open to all Digital Twin Consortium members and will be held at the convenience of regional members in terms of language, culture and time zones.</a:t>
            </a:r>
          </a:p>
          <a:p>
            <a:endParaRPr lang="en-US" altLang="ja-JP" dirty="0"/>
          </a:p>
          <a:p>
            <a:endParaRPr lang="en-US" altLang="ja-JP" dirty="0"/>
          </a:p>
          <a:p>
            <a:endParaRPr lang="en-US" altLang="ja-JP" dirty="0"/>
          </a:p>
          <a:p>
            <a:endParaRPr lang="en-US" altLang="ja-JP" dirty="0"/>
          </a:p>
          <a:p>
            <a:endParaRPr kumimoji="1" lang="ja-JP" altLang="en-US" dirty="0"/>
          </a:p>
        </p:txBody>
      </p:sp>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0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a:defRPr/>
            </a:pPr>
            <a:r>
              <a:rPr lang="en-US" dirty="0"/>
              <a:t>Content restricted to Digital Twin Consortium Members</a:t>
            </a:r>
          </a:p>
          <a:p>
            <a:pPr>
              <a:defRPr/>
            </a:pPr>
            <a:r>
              <a:rPr lang="en-US" dirty="0"/>
              <a:t>Not for External Publication</a:t>
            </a:r>
          </a:p>
        </p:txBody>
      </p:sp>
      <p:sp>
        <p:nvSpPr>
          <p:cNvPr id="5" name="Slide Number Placeholder 4"/>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a:defRPr/>
            </a:pPr>
            <a:fld id="{E03FC22D-B811-194B-97FA-96217E562CA6}" type="slidenum">
              <a:rPr lang="en-US" smtClean="0"/>
              <a:pPr>
                <a:defRPr/>
              </a:pPr>
              <a:t>25</a:t>
            </a:fld>
            <a:endParaRPr lang="en-US"/>
          </a:p>
        </p:txBody>
      </p:sp>
    </p:spTree>
    <p:extLst>
      <p:ext uri="{BB962C8B-B14F-4D97-AF65-F5344CB8AC3E}">
        <p14:creationId xmlns:p14="http://schemas.microsoft.com/office/powerpoint/2010/main" val="227772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A37568-93C8-4E54-9200-C504C5CA264E}"/>
              </a:ext>
            </a:extLst>
          </p:cNvPr>
          <p:cNvSpPr>
            <a:spLocks noGrp="1"/>
          </p:cNvSpPr>
          <p:nvPr>
            <p:ph idx="1"/>
          </p:nvPr>
        </p:nvSpPr>
        <p:spPr>
          <a:xfrm>
            <a:off x="10041891" y="2445975"/>
            <a:ext cx="2191565" cy="3035286"/>
          </a:xfrm>
        </p:spPr>
        <p:txBody>
          <a:bodyPr>
            <a:normAutofit fontScale="92500" lnSpcReduction="20000"/>
          </a:bodyPr>
          <a:lstStyle/>
          <a:p>
            <a:r>
              <a:rPr lang="en-US" sz="1600" b="1" dirty="0"/>
              <a:t>Africa</a:t>
            </a:r>
          </a:p>
          <a:p>
            <a:r>
              <a:rPr lang="en-US" sz="1600" b="1" dirty="0"/>
              <a:t>Australia</a:t>
            </a:r>
          </a:p>
          <a:p>
            <a:r>
              <a:rPr lang="en-US" sz="1600" b="1" dirty="0"/>
              <a:t>Canada</a:t>
            </a:r>
          </a:p>
          <a:p>
            <a:r>
              <a:rPr lang="en-US" sz="1600" b="1" dirty="0"/>
              <a:t>Germany</a:t>
            </a:r>
          </a:p>
          <a:p>
            <a:r>
              <a:rPr lang="en-US" sz="1600" b="1" dirty="0"/>
              <a:t>India</a:t>
            </a:r>
          </a:p>
          <a:p>
            <a:r>
              <a:rPr lang="en-US" sz="1600" b="1" dirty="0"/>
              <a:t>Italy</a:t>
            </a:r>
          </a:p>
          <a:p>
            <a:r>
              <a:rPr lang="en-US" sz="1600" b="1" dirty="0"/>
              <a:t>Japan</a:t>
            </a:r>
          </a:p>
          <a:p>
            <a:r>
              <a:rPr lang="en-US" sz="1600" b="1" dirty="0"/>
              <a:t>Korea</a:t>
            </a:r>
          </a:p>
          <a:p>
            <a:r>
              <a:rPr lang="en-US" sz="1600" b="1" dirty="0"/>
              <a:t>North America </a:t>
            </a:r>
          </a:p>
          <a:p>
            <a:r>
              <a:rPr lang="en-US" sz="1600" b="1" dirty="0"/>
              <a:t>South America</a:t>
            </a:r>
          </a:p>
          <a:p>
            <a:endParaRPr lang="en-US" sz="1600" dirty="0"/>
          </a:p>
          <a:p>
            <a:pPr marL="0" indent="0">
              <a:buNone/>
            </a:pPr>
            <a:endParaRPr lang="en-US" sz="1600" dirty="0"/>
          </a:p>
        </p:txBody>
      </p:sp>
      <p:sp>
        <p:nvSpPr>
          <p:cNvPr id="3" name="Slide Number Placeholder 2">
            <a:extLst>
              <a:ext uri="{FF2B5EF4-FFF2-40B4-BE49-F238E27FC236}">
                <a16:creationId xmlns:a16="http://schemas.microsoft.com/office/drawing/2014/main" id="{F5A966B3-6DDD-4262-82E7-0E25765BDED9}"/>
              </a:ext>
            </a:extLst>
          </p:cNvPr>
          <p:cNvSpPr>
            <a:spLocks noGrp="1"/>
          </p:cNvSpPr>
          <p:nvPr>
            <p:ph type="sldNum" sz="quarter" idx="16"/>
          </p:nvPr>
        </p:nvSpPr>
        <p:spPr/>
        <p:txBody>
          <a:bodyPr/>
          <a:lstStyle/>
          <a:p>
            <a:fld id="{EA358FA9-F386-4A12-B482-464C32CE5754}" type="slidenum">
              <a:rPr lang="en-US" smtClean="0"/>
              <a:pPr/>
              <a:t>26</a:t>
            </a:fld>
            <a:endParaRPr lang="en-US"/>
          </a:p>
        </p:txBody>
      </p:sp>
      <p:sp>
        <p:nvSpPr>
          <p:cNvPr id="4" name="Title 3">
            <a:extLst>
              <a:ext uri="{FF2B5EF4-FFF2-40B4-BE49-F238E27FC236}">
                <a16:creationId xmlns:a16="http://schemas.microsoft.com/office/drawing/2014/main" id="{C8107F10-7B9F-462F-B219-7A52E3EB35E0}"/>
              </a:ext>
            </a:extLst>
          </p:cNvPr>
          <p:cNvSpPr>
            <a:spLocks noGrp="1"/>
          </p:cNvSpPr>
          <p:nvPr>
            <p:ph type="title"/>
          </p:nvPr>
        </p:nvSpPr>
        <p:spPr/>
        <p:txBody>
          <a:bodyPr/>
          <a:lstStyle/>
          <a:p>
            <a:r>
              <a:rPr lang="en-US" dirty="0"/>
              <a:t>Regional Team Expansion - In Progress</a:t>
            </a:r>
          </a:p>
        </p:txBody>
      </p:sp>
      <p:grpSp>
        <p:nvGrpSpPr>
          <p:cNvPr id="5" name="Group 4">
            <a:extLst>
              <a:ext uri="{FF2B5EF4-FFF2-40B4-BE49-F238E27FC236}">
                <a16:creationId xmlns:a16="http://schemas.microsoft.com/office/drawing/2014/main" id="{62BF2C76-99DD-4B68-AA15-1440FA54161A}"/>
              </a:ext>
            </a:extLst>
          </p:cNvPr>
          <p:cNvGrpSpPr/>
          <p:nvPr/>
        </p:nvGrpSpPr>
        <p:grpSpPr>
          <a:xfrm>
            <a:off x="836675" y="1530219"/>
            <a:ext cx="9371015" cy="5266503"/>
            <a:chOff x="836675" y="1347749"/>
            <a:chExt cx="9395759" cy="5448974"/>
          </a:xfrm>
        </p:grpSpPr>
        <p:pic>
          <p:nvPicPr>
            <p:cNvPr id="1026" name="Picture 2" descr="See the source image">
              <a:extLst>
                <a:ext uri="{FF2B5EF4-FFF2-40B4-BE49-F238E27FC236}">
                  <a16:creationId xmlns:a16="http://schemas.microsoft.com/office/drawing/2014/main" id="{97E9A98C-E11E-4BFB-9F2F-D20EA2EA4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75" y="1347749"/>
              <a:ext cx="9395759" cy="5448974"/>
            </a:xfrm>
            <a:prstGeom prst="rect">
              <a:avLst/>
            </a:prstGeom>
            <a:noFill/>
            <a:extLst>
              <a:ext uri="{909E8E84-426E-40DD-AFC4-6F175D3DCCD1}">
                <a14:hiddenFill xmlns:a14="http://schemas.microsoft.com/office/drawing/2010/main">
                  <a:solidFill>
                    <a:srgbClr val="FFFFFF"/>
                  </a:solidFill>
                </a14:hiddenFill>
              </a:ext>
            </a:extLst>
          </p:spPr>
        </p:pic>
        <p:sp>
          <p:nvSpPr>
            <p:cNvPr id="6" name="Star: 5 Points 5">
              <a:extLst>
                <a:ext uri="{FF2B5EF4-FFF2-40B4-BE49-F238E27FC236}">
                  <a16:creationId xmlns:a16="http://schemas.microsoft.com/office/drawing/2014/main" id="{338F7217-D1A4-47B1-9815-1DCC5499F84F}"/>
                </a:ext>
              </a:extLst>
            </p:cNvPr>
            <p:cNvSpPr/>
            <p:nvPr/>
          </p:nvSpPr>
          <p:spPr>
            <a:xfrm>
              <a:off x="8446185" y="5115577"/>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F01BAE01-F4C2-4F44-9A11-EAE4903C74BE}"/>
                </a:ext>
              </a:extLst>
            </p:cNvPr>
            <p:cNvSpPr/>
            <p:nvPr/>
          </p:nvSpPr>
          <p:spPr>
            <a:xfrm>
              <a:off x="5486896" y="3427312"/>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5 Points 9">
              <a:extLst>
                <a:ext uri="{FF2B5EF4-FFF2-40B4-BE49-F238E27FC236}">
                  <a16:creationId xmlns:a16="http://schemas.microsoft.com/office/drawing/2014/main" id="{CFD20DF7-01DC-4F68-B2CC-B2BE54CA1F4B}"/>
                </a:ext>
              </a:extLst>
            </p:cNvPr>
            <p:cNvSpPr/>
            <p:nvPr/>
          </p:nvSpPr>
          <p:spPr>
            <a:xfrm>
              <a:off x="3287904" y="5466069"/>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tar: 5 Points 11">
              <a:extLst>
                <a:ext uri="{FF2B5EF4-FFF2-40B4-BE49-F238E27FC236}">
                  <a16:creationId xmlns:a16="http://schemas.microsoft.com/office/drawing/2014/main" id="{D1494007-7244-42BC-9C2C-1AB13941DF21}"/>
                </a:ext>
              </a:extLst>
            </p:cNvPr>
            <p:cNvSpPr/>
            <p:nvPr/>
          </p:nvSpPr>
          <p:spPr>
            <a:xfrm>
              <a:off x="3297449" y="3238500"/>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tar: 5 Points 15">
              <a:extLst>
                <a:ext uri="{FF2B5EF4-FFF2-40B4-BE49-F238E27FC236}">
                  <a16:creationId xmlns:a16="http://schemas.microsoft.com/office/drawing/2014/main" id="{297D90B6-D97F-40AC-9CCE-92BC070F542A}"/>
                </a:ext>
              </a:extLst>
            </p:cNvPr>
            <p:cNvSpPr/>
            <p:nvPr/>
          </p:nvSpPr>
          <p:spPr>
            <a:xfrm>
              <a:off x="5546407" y="3052191"/>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tar: 5 Points 17">
              <a:extLst>
                <a:ext uri="{FF2B5EF4-FFF2-40B4-BE49-F238E27FC236}">
                  <a16:creationId xmlns:a16="http://schemas.microsoft.com/office/drawing/2014/main" id="{5BEC8862-2DD6-405D-A5C8-18E74E0C8562}"/>
                </a:ext>
              </a:extLst>
            </p:cNvPr>
            <p:cNvSpPr/>
            <p:nvPr/>
          </p:nvSpPr>
          <p:spPr>
            <a:xfrm>
              <a:off x="4879018" y="4259476"/>
              <a:ext cx="378570" cy="323862"/>
            </a:xfrm>
            <a:prstGeom prst="star5">
              <a:avLst>
                <a:gd name="adj" fmla="val 16410"/>
                <a:gd name="hf" fmla="val 105146"/>
                <a:gd name="vf" fmla="val 110557"/>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E325F34-70C6-4097-A9C3-246A8E4BBA2E}"/>
                </a:ext>
              </a:extLst>
            </p:cNvPr>
            <p:cNvSpPr/>
            <p:nvPr/>
          </p:nvSpPr>
          <p:spPr>
            <a:xfrm>
              <a:off x="3157264" y="3151435"/>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E2D55C6-1971-4DCA-B762-BBBD26B0289F}"/>
                </a:ext>
              </a:extLst>
            </p:cNvPr>
            <p:cNvSpPr txBox="1"/>
            <p:nvPr/>
          </p:nvSpPr>
          <p:spPr>
            <a:xfrm>
              <a:off x="4699256" y="5579874"/>
              <a:ext cx="1996572" cy="523220"/>
            </a:xfrm>
            <a:prstGeom prst="rect">
              <a:avLst/>
            </a:prstGeom>
            <a:noFill/>
          </p:spPr>
          <p:txBody>
            <a:bodyPr wrap="none" rtlCol="0">
              <a:spAutoFit/>
            </a:bodyPr>
            <a:lstStyle/>
            <a:p>
              <a:pPr algn="ctr"/>
              <a:r>
                <a:rPr lang="en-US" sz="1400" dirty="0">
                  <a:effectLst>
                    <a:outerShdw blurRad="38100" dist="38100" dir="2700000" algn="tl">
                      <a:srgbClr val="000000">
                        <a:alpha val="43137"/>
                      </a:srgbClr>
                    </a:outerShdw>
                  </a:effectLst>
                </a:rPr>
                <a:t>Nigeria, Ghana: </a:t>
              </a:r>
            </a:p>
            <a:p>
              <a:pPr algn="ctr"/>
              <a:r>
                <a:rPr lang="en-US" sz="1400" dirty="0">
                  <a:effectLst>
                    <a:outerShdw blurRad="38100" dist="38100" dir="2700000" algn="tl">
                      <a:srgbClr val="000000">
                        <a:alpha val="43137"/>
                      </a:srgbClr>
                    </a:outerShdw>
                  </a:effectLst>
                </a:rPr>
                <a:t>Transportation &amp; Energy</a:t>
              </a:r>
            </a:p>
          </p:txBody>
        </p:sp>
        <p:sp>
          <p:nvSpPr>
            <p:cNvPr id="13" name="TextBox 12">
              <a:extLst>
                <a:ext uri="{FF2B5EF4-FFF2-40B4-BE49-F238E27FC236}">
                  <a16:creationId xmlns:a16="http://schemas.microsoft.com/office/drawing/2014/main" id="{200C156C-F897-4666-AC52-B1733EE4CE8E}"/>
                </a:ext>
              </a:extLst>
            </p:cNvPr>
            <p:cNvSpPr txBox="1"/>
            <p:nvPr/>
          </p:nvSpPr>
          <p:spPr>
            <a:xfrm>
              <a:off x="1068266" y="5277343"/>
              <a:ext cx="1677575" cy="738664"/>
            </a:xfrm>
            <a:prstGeom prst="rect">
              <a:avLst/>
            </a:prstGeom>
            <a:noFill/>
          </p:spPr>
          <p:txBody>
            <a:bodyPr wrap="none" rtlCol="0">
              <a:spAutoFit/>
            </a:bodyPr>
            <a:lstStyle/>
            <a:p>
              <a:pPr algn="ctr"/>
              <a:r>
                <a:rPr lang="en-US" sz="1400" dirty="0">
                  <a:effectLst>
                    <a:outerShdw blurRad="38100" dist="38100" dir="2700000" algn="tl">
                      <a:srgbClr val="000000">
                        <a:alpha val="43137"/>
                      </a:srgbClr>
                    </a:outerShdw>
                  </a:effectLst>
                </a:rPr>
                <a:t>Chile: </a:t>
              </a:r>
            </a:p>
            <a:p>
              <a:pPr algn="ctr"/>
              <a:r>
                <a:rPr lang="en-US" sz="1400" dirty="0">
                  <a:effectLst>
                    <a:outerShdw blurRad="38100" dist="38100" dir="2700000" algn="tl">
                      <a:srgbClr val="000000">
                        <a:alpha val="43137"/>
                      </a:srgbClr>
                    </a:outerShdw>
                  </a:effectLst>
                </a:rPr>
                <a:t>Sustainable Foods</a:t>
              </a:r>
            </a:p>
            <a:p>
              <a:pPr algn="ctr"/>
              <a:r>
                <a:rPr lang="en-US" sz="1400" dirty="0">
                  <a:effectLst>
                    <a:outerShdw blurRad="38100" dist="38100" dir="2700000" algn="tl">
                      <a:srgbClr val="000000">
                        <a:alpha val="43137"/>
                      </a:srgbClr>
                    </a:outerShdw>
                  </a:effectLst>
                </a:rPr>
                <a:t>Water Management</a:t>
              </a:r>
            </a:p>
          </p:txBody>
        </p:sp>
        <p:cxnSp>
          <p:nvCxnSpPr>
            <p:cNvPr id="15" name="Straight Arrow Connector 14">
              <a:extLst>
                <a:ext uri="{FF2B5EF4-FFF2-40B4-BE49-F238E27FC236}">
                  <a16:creationId xmlns:a16="http://schemas.microsoft.com/office/drawing/2014/main" id="{C975E6F9-5B9A-41B7-9957-8F1C210B3229}"/>
                </a:ext>
              </a:extLst>
            </p:cNvPr>
            <p:cNvCxnSpPr>
              <a:cxnSpLocks/>
            </p:cNvCxnSpPr>
            <p:nvPr/>
          </p:nvCxnSpPr>
          <p:spPr>
            <a:xfrm flipV="1">
              <a:off x="4974172" y="4762620"/>
              <a:ext cx="94131" cy="9145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BE72638-92BC-424D-BF18-82C02FBB1C14}"/>
                </a:ext>
              </a:extLst>
            </p:cNvPr>
            <p:cNvCxnSpPr>
              <a:cxnSpLocks/>
            </p:cNvCxnSpPr>
            <p:nvPr/>
          </p:nvCxnSpPr>
          <p:spPr>
            <a:xfrm>
              <a:off x="2236039" y="5465558"/>
              <a:ext cx="836711" cy="114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32C89BC-FA44-4E0B-8FF5-0700839E2960}"/>
                </a:ext>
              </a:extLst>
            </p:cNvPr>
            <p:cNvSpPr txBox="1"/>
            <p:nvPr/>
          </p:nvSpPr>
          <p:spPr>
            <a:xfrm>
              <a:off x="3765667" y="3530011"/>
              <a:ext cx="1266372" cy="523220"/>
            </a:xfrm>
            <a:prstGeom prst="rect">
              <a:avLst/>
            </a:prstGeom>
            <a:noFill/>
          </p:spPr>
          <p:txBody>
            <a:bodyPr wrap="none" rtlCol="0">
              <a:spAutoFit/>
            </a:bodyPr>
            <a:lstStyle/>
            <a:p>
              <a:pPr algn="ctr"/>
              <a:r>
                <a:rPr lang="en-US" sz="1400" dirty="0">
                  <a:effectLst>
                    <a:outerShdw blurRad="38100" dist="38100" dir="2700000" algn="tl">
                      <a:srgbClr val="000000">
                        <a:alpha val="43137"/>
                      </a:srgbClr>
                    </a:outerShdw>
                  </a:effectLst>
                </a:rPr>
                <a:t>Italy: </a:t>
              </a:r>
            </a:p>
            <a:p>
              <a:pPr algn="ctr"/>
              <a:r>
                <a:rPr lang="en-US" sz="1400" dirty="0">
                  <a:effectLst>
                    <a:outerShdw blurRad="38100" dist="38100" dir="2700000" algn="tl">
                      <a:srgbClr val="000000">
                        <a:alpha val="43137"/>
                      </a:srgbClr>
                    </a:outerShdw>
                  </a:effectLst>
                </a:rPr>
                <a:t>Manufacturing</a:t>
              </a:r>
            </a:p>
          </p:txBody>
        </p:sp>
        <p:cxnSp>
          <p:nvCxnSpPr>
            <p:cNvPr id="36" name="Straight Arrow Connector 35">
              <a:extLst>
                <a:ext uri="{FF2B5EF4-FFF2-40B4-BE49-F238E27FC236}">
                  <a16:creationId xmlns:a16="http://schemas.microsoft.com/office/drawing/2014/main" id="{3D10820C-8494-4CE0-82B4-0E9D04951E93}"/>
                </a:ext>
              </a:extLst>
            </p:cNvPr>
            <p:cNvCxnSpPr>
              <a:cxnSpLocks/>
            </p:cNvCxnSpPr>
            <p:nvPr/>
          </p:nvCxnSpPr>
          <p:spPr>
            <a:xfrm flipV="1">
              <a:off x="4685029" y="3704890"/>
              <a:ext cx="677707" cy="20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Star: 5 Points 38">
              <a:extLst>
                <a:ext uri="{FF2B5EF4-FFF2-40B4-BE49-F238E27FC236}">
                  <a16:creationId xmlns:a16="http://schemas.microsoft.com/office/drawing/2014/main" id="{679AADAA-31AC-4597-B54B-42B0173E1928}"/>
                </a:ext>
              </a:extLst>
            </p:cNvPr>
            <p:cNvSpPr/>
            <p:nvPr/>
          </p:nvSpPr>
          <p:spPr>
            <a:xfrm>
              <a:off x="2143803" y="3036075"/>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Star: 5 Points 49">
              <a:extLst>
                <a:ext uri="{FF2B5EF4-FFF2-40B4-BE49-F238E27FC236}">
                  <a16:creationId xmlns:a16="http://schemas.microsoft.com/office/drawing/2014/main" id="{1FBF66A6-9136-4BEC-9462-985437E05DD4}"/>
                </a:ext>
              </a:extLst>
            </p:cNvPr>
            <p:cNvSpPr/>
            <p:nvPr/>
          </p:nvSpPr>
          <p:spPr>
            <a:xfrm>
              <a:off x="8476822" y="3589243"/>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Star: 5 Points 53">
              <a:extLst>
                <a:ext uri="{FF2B5EF4-FFF2-40B4-BE49-F238E27FC236}">
                  <a16:creationId xmlns:a16="http://schemas.microsoft.com/office/drawing/2014/main" id="{53EB092E-4A79-409F-B166-E8FD39884CBA}"/>
                </a:ext>
              </a:extLst>
            </p:cNvPr>
            <p:cNvSpPr/>
            <p:nvPr/>
          </p:nvSpPr>
          <p:spPr>
            <a:xfrm>
              <a:off x="8103761" y="3724957"/>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12E2693-6964-44EE-ABFE-B7C046E2F98F}"/>
                </a:ext>
              </a:extLst>
            </p:cNvPr>
            <p:cNvSpPr/>
            <p:nvPr/>
          </p:nvSpPr>
          <p:spPr>
            <a:xfrm>
              <a:off x="1994217" y="2950911"/>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AEB1DB8-E228-4FBC-84D1-76940BE2CC27}"/>
                </a:ext>
              </a:extLst>
            </p:cNvPr>
            <p:cNvSpPr/>
            <p:nvPr/>
          </p:nvSpPr>
          <p:spPr>
            <a:xfrm>
              <a:off x="5363052" y="3351961"/>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B89280A-3795-4ED5-BE4D-2B11A759C625}"/>
                </a:ext>
              </a:extLst>
            </p:cNvPr>
            <p:cNvSpPr/>
            <p:nvPr/>
          </p:nvSpPr>
          <p:spPr>
            <a:xfrm>
              <a:off x="7873638" y="3624676"/>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9FCE7C7-18C1-48B5-8273-7888BA90EBEC}"/>
                </a:ext>
              </a:extLst>
            </p:cNvPr>
            <p:cNvSpPr/>
            <p:nvPr/>
          </p:nvSpPr>
          <p:spPr>
            <a:xfrm>
              <a:off x="5491390" y="2934871"/>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FF6C9D2-0CA4-4AA0-9E5D-FE95347649CE}"/>
                </a:ext>
              </a:extLst>
            </p:cNvPr>
            <p:cNvSpPr/>
            <p:nvPr/>
          </p:nvSpPr>
          <p:spPr>
            <a:xfrm>
              <a:off x="8386983" y="3456236"/>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7FE2090-5AB5-4147-A074-5B42B11FA12F}"/>
                </a:ext>
              </a:extLst>
            </p:cNvPr>
            <p:cNvSpPr/>
            <p:nvPr/>
          </p:nvSpPr>
          <p:spPr>
            <a:xfrm>
              <a:off x="4817607" y="4121979"/>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CB825C11-EC0D-4A36-9A8C-2B98D28D9184}"/>
                </a:ext>
              </a:extLst>
            </p:cNvPr>
            <p:cNvSpPr/>
            <p:nvPr/>
          </p:nvSpPr>
          <p:spPr>
            <a:xfrm>
              <a:off x="3165273" y="5445452"/>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96A9DD4-4040-4FD1-B79D-E349DD02EC67}"/>
                </a:ext>
              </a:extLst>
            </p:cNvPr>
            <p:cNvSpPr/>
            <p:nvPr/>
          </p:nvSpPr>
          <p:spPr>
            <a:xfrm>
              <a:off x="8331152" y="5046936"/>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Star: 5 Points 41">
              <a:extLst>
                <a:ext uri="{FF2B5EF4-FFF2-40B4-BE49-F238E27FC236}">
                  <a16:creationId xmlns:a16="http://schemas.microsoft.com/office/drawing/2014/main" id="{4A15E5FA-456F-43F4-BECE-F88EFA8F6C98}"/>
                </a:ext>
              </a:extLst>
            </p:cNvPr>
            <p:cNvSpPr/>
            <p:nvPr/>
          </p:nvSpPr>
          <p:spPr>
            <a:xfrm>
              <a:off x="6890106" y="3896386"/>
              <a:ext cx="378570" cy="323862"/>
            </a:xfrm>
            <a:prstGeom prst="star5">
              <a:avLst/>
            </a:prstGeom>
            <a:solidFill>
              <a:srgbClr val="F051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6E09064-4057-4618-9F58-1FDBBF4EF1D4}"/>
                </a:ext>
              </a:extLst>
            </p:cNvPr>
            <p:cNvSpPr/>
            <p:nvPr/>
          </p:nvSpPr>
          <p:spPr>
            <a:xfrm>
              <a:off x="6775073" y="3827745"/>
              <a:ext cx="626613" cy="599739"/>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680457"/>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44546A"/>
      </a:dk2>
      <a:lt2>
        <a:srgbClr val="E7E6E6"/>
      </a:lt2>
      <a:accent1>
        <a:srgbClr val="034EA2"/>
      </a:accent1>
      <a:accent2>
        <a:srgbClr val="F7941D"/>
      </a:accent2>
      <a:accent3>
        <a:srgbClr val="7554A3"/>
      </a:accent3>
      <a:accent4>
        <a:srgbClr val="F8CE1B"/>
      </a:accent4>
      <a:accent5>
        <a:srgbClr val="1D7B65"/>
      </a:accent5>
      <a:accent6>
        <a:srgbClr val="BB362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034EA2"/>
      </a:accent1>
      <a:accent2>
        <a:srgbClr val="F7941D"/>
      </a:accent2>
      <a:accent3>
        <a:srgbClr val="7554A3"/>
      </a:accent3>
      <a:accent4>
        <a:srgbClr val="F8CE1B"/>
      </a:accent4>
      <a:accent5>
        <a:srgbClr val="1D7B65"/>
      </a:accent5>
      <a:accent6>
        <a:srgbClr val="BB362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1594AA914E87A4793C81F9A752B084B" ma:contentTypeVersion="13" ma:contentTypeDescription="Create a new document." ma:contentTypeScope="" ma:versionID="111c2798393764bffa2ff7eef02833b9">
  <xsd:schema xmlns:xsd="http://www.w3.org/2001/XMLSchema" xmlns:xs="http://www.w3.org/2001/XMLSchema" xmlns:p="http://schemas.microsoft.com/office/2006/metadata/properties" xmlns:ns3="86a69738-2b33-4f9e-b752-0456aeb03f4f" xmlns:ns4="8913e304-20d0-4aa7-92bd-e5234ee41d1d" targetNamespace="http://schemas.microsoft.com/office/2006/metadata/properties" ma:root="true" ma:fieldsID="044f40d475cbc26b9184940a1085890b" ns3:_="" ns4:_="">
    <xsd:import namespace="86a69738-2b33-4f9e-b752-0456aeb03f4f"/>
    <xsd:import namespace="8913e304-20d0-4aa7-92bd-e5234ee41d1d"/>
    <xsd:element name="properties">
      <xsd:complexType>
        <xsd:sequence>
          <xsd:element name="documentManagement">
            <xsd:complexType>
              <xsd:all>
                <xsd:element ref="ns3:SharedWithUsers" minOccurs="0"/>
                <xsd:element ref="ns3:SharingHintHash" minOccurs="0"/>
                <xsd:element ref="ns3:SharedWithDetails" minOccurs="0"/>
                <xsd:element ref="ns4:MediaServiceMetadata" minOccurs="0"/>
                <xsd:element ref="ns4:MediaServiceFastMetadata" minOccurs="0"/>
                <xsd:element ref="ns4:MediaServiceAutoTags" minOccurs="0"/>
                <xsd:element ref="ns4:MediaServiceDateTaken"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a69738-2b33-4f9e-b752-0456aeb03f4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913e304-20d0-4aa7-92bd-e5234ee41d1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description="" ma:internalName="MediaServiceAutoTags" ma:readOnly="true">
      <xsd:simpleType>
        <xsd:restriction base="dms:Text"/>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Location" ma:index="15" nillable="true" ma:displayName="MediaServiceLocation" ma:descrip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8755B5-31EE-4A14-80B3-381FA40CCAFA}">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CF482B15-EC3A-4FEE-9A5F-D339C02E7B24}">
  <ds:schemaRefs>
    <ds:schemaRef ds:uri="86a69738-2b33-4f9e-b752-0456aeb03f4f"/>
    <ds:schemaRef ds:uri="8913e304-20d0-4aa7-92bd-e5234ee41d1d"/>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5B438D-894B-4E19-B30B-40143FFA588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3585</TotalTime>
  <Words>3013</Words>
  <Application>Microsoft Office PowerPoint</Application>
  <PresentationFormat>Widescreen</PresentationFormat>
  <Paragraphs>362</Paragraphs>
  <Slides>26</Slides>
  <Notes>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26</vt:i4>
      </vt:variant>
    </vt:vector>
  </HeadingPairs>
  <TitlesOfParts>
    <vt:vector size="34" baseType="lpstr">
      <vt:lpstr>Arial</vt:lpstr>
      <vt:lpstr>Calibri</vt:lpstr>
      <vt:lpstr>Calibri Light</vt:lpstr>
      <vt:lpstr>Courier New</vt:lpstr>
      <vt:lpstr>Garamond</vt:lpstr>
      <vt:lpstr>Symbol</vt:lpstr>
      <vt:lpstr>Office Theme</vt:lpstr>
      <vt:lpstr>1_Office Theme</vt:lpstr>
      <vt:lpstr>  3T Working Group – January 7th         3T Terminology, Taxonomy, Technology      - 3T Overview  - Revised Charter Update  - Phase II Release and Definition, Taxonomy  - Security &amp; Trustworthiness Sub-Group      - Platform Stack   Open Source   - New Business Maturity Framework Sub-Group    Update  - Introduction of NTT’s Digital Twin Vision        - Liaison and Regional Branch Update      </vt:lpstr>
      <vt:lpstr>Technology, Terminology &amp; Taxonomy Working Group</vt:lpstr>
      <vt:lpstr>New DTC 3Ts WG Charter (Proposed):</vt:lpstr>
      <vt:lpstr>Definition and Phase II Update</vt:lpstr>
      <vt:lpstr>Technical Reports: Phased Release Proposal</vt:lpstr>
      <vt:lpstr>Security and Trustworthiness Sub-Group</vt:lpstr>
      <vt:lpstr>Agenda</vt:lpstr>
      <vt:lpstr>Priority work items for 2021</vt:lpstr>
      <vt:lpstr>Outline for 2021</vt:lpstr>
      <vt:lpstr>Sample focus topics</vt:lpstr>
      <vt:lpstr>Draft timeline</vt:lpstr>
      <vt:lpstr>Platform Stack Sub-Group</vt:lpstr>
      <vt:lpstr>Outline</vt:lpstr>
      <vt:lpstr>Abstract Stack</vt:lpstr>
      <vt:lpstr>Abstract Stack Rationale</vt:lpstr>
      <vt:lpstr>Expanded Stack</vt:lpstr>
      <vt:lpstr>Expanded Stack Rationale</vt:lpstr>
      <vt:lpstr>Mesh Perspective</vt:lpstr>
      <vt:lpstr>Expand Platform Stack to 3T Sub-Group Include Focus on Open Source</vt:lpstr>
      <vt:lpstr>New Business Maturity Framework Sub-Group</vt:lpstr>
      <vt:lpstr>Introduction of NTT’s Digital Twin Vision </vt:lpstr>
      <vt:lpstr> &gt; Consortium Expansion     - Liaison Status        - Regional Branch Update  </vt:lpstr>
      <vt:lpstr>Growth: Liaisons &amp; Regional Teams</vt:lpstr>
      <vt:lpstr>Liaisons – Collaborations In Progress</vt:lpstr>
      <vt:lpstr>Strategic Objectives of Digital Twin Consortium Regional Teams</vt:lpstr>
      <vt:lpstr>Regional Team Expansion - In Progress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Maureen Robusto</dc:creator>
  <cp:lastModifiedBy>Ben Zahavi</cp:lastModifiedBy>
  <cp:revision>40</cp:revision>
  <dcterms:created xsi:type="dcterms:W3CDTF">2019-10-15T13:54:59Z</dcterms:created>
  <dcterms:modified xsi:type="dcterms:W3CDTF">2021-01-08T21:54:12Z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0x010100A1594AA914E87A4793C81F9A752B084B</vt:lpwstr>
  </property>
</Properties>
</file>
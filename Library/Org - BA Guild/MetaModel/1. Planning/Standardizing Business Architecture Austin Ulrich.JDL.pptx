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4"/>
  </p:notesMasterIdLst>
  <p:handoutMasterIdLst>
    <p:handoutMasterId r:id="rId15"/>
  </p:handoutMasterIdLst>
  <p:sldIdLst>
    <p:sldId id="259" r:id="rId2"/>
    <p:sldId id="285" r:id="rId3"/>
    <p:sldId id="290" r:id="rId4"/>
    <p:sldId id="291" r:id="rId5"/>
    <p:sldId id="292" r:id="rId6"/>
    <p:sldId id="293" r:id="rId7"/>
    <p:sldId id="294" r:id="rId8"/>
    <p:sldId id="288" r:id="rId9"/>
    <p:sldId id="286" r:id="rId10"/>
    <p:sldId id="295" r:id="rId11"/>
    <p:sldId id="296" r:id="rId12"/>
    <p:sldId id="28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774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9900"/>
    <a:srgbClr val="00C49E"/>
    <a:srgbClr val="F25413"/>
    <a:srgbClr val="252E33"/>
    <a:srgbClr val="3F4E56"/>
    <a:srgbClr val="0000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230" y="-102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Business Architecture Guild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Copyright 2012 @ Business Architecture Guild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Business Architecture Guild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Copyright 2012 @ Business Architecture Guild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usinessarchitectureguild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mg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usinessarchitectureguild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56019" y="1548215"/>
            <a:ext cx="6223948" cy="1231106"/>
          </a:xfrm>
        </p:spPr>
        <p:txBody>
          <a:bodyPr/>
          <a:lstStyle/>
          <a:p>
            <a:r>
              <a:rPr lang="en-US" dirty="0"/>
              <a:t>Standardizing </a:t>
            </a:r>
            <a:r>
              <a:rPr lang="en-US" dirty="0" smtClean="0"/>
              <a:t>Business</a:t>
            </a:r>
            <a:br>
              <a:rPr lang="en-US" dirty="0" smtClean="0"/>
            </a:br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744799" y="3515231"/>
            <a:ext cx="5654433" cy="369332"/>
          </a:xfrm>
        </p:spPr>
        <p:txBody>
          <a:bodyPr/>
          <a:lstStyle/>
          <a:p>
            <a:r>
              <a:rPr lang="en-US" dirty="0" smtClean="0"/>
              <a:t>Austin, Texas, USA - September 15, 2014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668215" y="4368800"/>
            <a:ext cx="8229600" cy="1843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William Ulrich, Business Architecture Guild &amp; TSG, Inc.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Janice Lewis, Pfizer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  <a:hlinkClick r:id="rId2"/>
              </a:rPr>
              <a:t>www.businessarchitectureguild.org</a:t>
            </a:r>
            <a:endParaRPr lang="en-US" dirty="0" smtClean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441822"/>
            <a:ext cx="8229600" cy="357984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standardization?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What is standardization?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Path to phased standardization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Long-term game plan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365759"/>
            <a:ext cx="7222524" cy="548640"/>
          </a:xfrm>
        </p:spPr>
        <p:txBody>
          <a:bodyPr/>
          <a:lstStyle/>
          <a:p>
            <a:r>
              <a:rPr lang="en-US" dirty="0" smtClean="0"/>
              <a:t>Standardizing business architecture?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53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441822"/>
            <a:ext cx="8229600" cy="3579849"/>
          </a:xfrm>
        </p:spPr>
        <p:txBody>
          <a:bodyPr/>
          <a:lstStyle/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 many misaligned business architecture perspectives cause confusion, implementation slowdown and justification challenges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Tool vendor solutions do not fully align to standard mapping approaches, confusing teams and slowing deployments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Tool interchange makes sharing business architecture information across tools challenging 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Executives sense that business architecture is not ready for prime time as no consistent deployment approach is in place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Lack of standardization harms progress towards a maturity industry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Standardization?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0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441822"/>
            <a:ext cx="8229600" cy="425052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Consistency of blueprint perspectives, including shared set of practice oriented principles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Agreed approach as to how all of the parts of business architecture align, with cross-mappings an essential aspect of the discipline</a:t>
            </a:r>
          </a:p>
          <a:p>
            <a:pPr lvl="2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For example, value stream / capability cross-mapping provides insights not achieved from value streams or a capability map alone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/>
              <a:t>An aligned body of knowledge with tool vendor solutions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 basis for formalizing artifact relationships that enables automation and dissemination of business architecture – the “metamodel”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 fully packaged standard, including metamodel, that has been passed officially by an international standards body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324569"/>
            <a:ext cx="6858000" cy="548640"/>
          </a:xfrm>
        </p:spPr>
        <p:txBody>
          <a:bodyPr/>
          <a:lstStyle/>
          <a:p>
            <a:r>
              <a:rPr lang="en-US" dirty="0" smtClean="0"/>
              <a:t>What is standardization?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3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4496" y="1244110"/>
            <a:ext cx="8229600" cy="4250524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Formalize the discipline in a body of knowledge (i.e., BIZBOK® Guide)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Build collaborative consensus on approach through practice and practitioner contributions, including scenario development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Incorporate alignment to related disciplines, including BPM and requirements analysis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Build third party vendor support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Assemble artifacts and relationships into a formal metamodel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Package metamodel for submission to standards body*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Establish evolutionary path to build upon the standard long-term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308093"/>
            <a:ext cx="6858000" cy="548640"/>
          </a:xfrm>
        </p:spPr>
        <p:txBody>
          <a:bodyPr/>
          <a:lstStyle/>
          <a:p>
            <a:r>
              <a:rPr lang="en-US" dirty="0"/>
              <a:t>Path </a:t>
            </a:r>
            <a:r>
              <a:rPr lang="en-US" dirty="0" smtClean="0"/>
              <a:t>to Business architecture </a:t>
            </a:r>
            <a:r>
              <a:rPr lang="en-US" dirty="0"/>
              <a:t>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321" y="5652110"/>
            <a:ext cx="82213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*</a:t>
            </a:r>
            <a:r>
              <a:rPr lang="en-US" sz="1050" dirty="0"/>
              <a:t> The </a:t>
            </a:r>
            <a:r>
              <a:rPr lang="en-US" sz="1050" dirty="0">
                <a:hlinkClick r:id="rId2"/>
              </a:rPr>
              <a:t>Object Management Group</a:t>
            </a:r>
            <a:r>
              <a:rPr lang="en-US" sz="1050" dirty="0"/>
              <a:t> (OMG®) is an international, open membership, not-for-profit </a:t>
            </a:r>
            <a:r>
              <a:rPr lang="en-US" sz="1050" b="1" dirty="0"/>
              <a:t>technology standards</a:t>
            </a:r>
            <a:r>
              <a:rPr lang="en-US" sz="1050" dirty="0"/>
              <a:t> consortium</a:t>
            </a:r>
            <a:r>
              <a:rPr lang="en-US" sz="1050" dirty="0" smtClean="0"/>
              <a:t>. </a:t>
            </a:r>
            <a:r>
              <a:rPr lang="en-US" sz="1050" dirty="0" smtClean="0">
                <a:hlinkClick r:id="rId2"/>
              </a:rPr>
              <a:t>www.omg.org</a:t>
            </a:r>
            <a:r>
              <a:rPr lang="en-US" sz="1050" dirty="0" smtClean="0"/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0724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209237"/>
            <a:ext cx="6858000" cy="548640"/>
          </a:xfrm>
        </p:spPr>
        <p:txBody>
          <a:bodyPr/>
          <a:lstStyle/>
          <a:p>
            <a:r>
              <a:rPr lang="en-US" dirty="0" smtClean="0"/>
              <a:t>Sample Business architecture metamodel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29" y="1129356"/>
            <a:ext cx="8452097" cy="4464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9459" y="6642227"/>
            <a:ext cx="52838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bg1"/>
                </a:solidFill>
              </a:rPr>
              <a:t>Source: A Guide to the Business Architecture Body of Knowledge™ </a:t>
            </a:r>
            <a:r>
              <a:rPr lang="en-US" sz="1050" dirty="0">
                <a:solidFill>
                  <a:schemeClr val="bg1"/>
                </a:solidFill>
              </a:rPr>
              <a:t>(</a:t>
            </a:r>
            <a:r>
              <a:rPr lang="en-US" sz="1050" dirty="0" smtClean="0">
                <a:solidFill>
                  <a:schemeClr val="bg1"/>
                </a:solidFill>
              </a:rPr>
              <a:t>BIZBOK®) Version 4.0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321" y="5594444"/>
            <a:ext cx="822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*</a:t>
            </a:r>
            <a:r>
              <a:rPr lang="en-US" sz="1200" dirty="0"/>
              <a:t> </a:t>
            </a:r>
            <a:r>
              <a:rPr lang="en-US" sz="1200" dirty="0" smtClean="0"/>
              <a:t>Source: A Guide to the Business Architecture Body of Knowledge™ (BIZBOK® Guide), V4.0, Part 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3144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436" y="1037422"/>
            <a:ext cx="1044511" cy="1044511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33951"/>
            <a:ext cx="6858000" cy="548640"/>
          </a:xfrm>
        </p:spPr>
        <p:txBody>
          <a:bodyPr/>
          <a:lstStyle/>
          <a:p>
            <a:r>
              <a:rPr lang="en-US" dirty="0" smtClean="0"/>
              <a:t>What value does standardization provide?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435" y="2221321"/>
            <a:ext cx="2286515" cy="1207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08552" y="1523673"/>
            <a:ext cx="303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Tool-to-tool interchange via business architecture metadata</a:t>
            </a:r>
            <a:endParaRPr lang="en-US" sz="1600" dirty="0"/>
          </a:p>
        </p:txBody>
      </p:sp>
      <p:sp>
        <p:nvSpPr>
          <p:cNvPr id="11" name="Left-Right Arrow 10"/>
          <p:cNvSpPr/>
          <p:nvPr/>
        </p:nvSpPr>
        <p:spPr>
          <a:xfrm rot="19290171">
            <a:off x="5513687" y="1881165"/>
            <a:ext cx="1153297" cy="290040"/>
          </a:xfrm>
          <a:prstGeom prst="left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Content Placeholder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0107" y="983872"/>
            <a:ext cx="1044511" cy="1044511"/>
          </a:xfrm>
          <a:prstGeom prst="rect">
            <a:avLst/>
          </a:prstGeom>
        </p:spPr>
      </p:pic>
      <p:sp>
        <p:nvSpPr>
          <p:cNvPr id="13" name="Left-Right Arrow 12"/>
          <p:cNvSpPr/>
          <p:nvPr/>
        </p:nvSpPr>
        <p:spPr>
          <a:xfrm rot="2309829" flipH="1">
            <a:off x="2230930" y="1877043"/>
            <a:ext cx="1153297" cy="290040"/>
          </a:xfrm>
          <a:prstGeom prst="left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own Arrow 13"/>
          <p:cNvSpPr/>
          <p:nvPr/>
        </p:nvSpPr>
        <p:spPr>
          <a:xfrm rot="18617467">
            <a:off x="5940136" y="2712653"/>
            <a:ext cx="231129" cy="1022638"/>
          </a:xfrm>
          <a:prstGeom prst="down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own Arrow 15"/>
          <p:cNvSpPr/>
          <p:nvPr/>
        </p:nvSpPr>
        <p:spPr>
          <a:xfrm rot="2982533" flipH="1">
            <a:off x="2657364" y="2725010"/>
            <a:ext cx="231129" cy="1022638"/>
          </a:xfrm>
          <a:prstGeom prst="down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16" y="3191885"/>
            <a:ext cx="1915957" cy="17508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41" y="3191885"/>
            <a:ext cx="1915957" cy="17508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53859" y="3447207"/>
            <a:ext cx="3039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Consistency of artifact relationships ensures that tool based results easily align to best practices and industry body of knowledge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537522" y="5079053"/>
            <a:ext cx="82213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Consider the challenges of using a tool that does not enable the artifact input and blueprint production required for basic or extended business architecture perspectives, including automatic generation of standard mappings and cross-mappings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8409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7104"/>
            <a:ext cx="8229600" cy="4295156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1800" dirty="0" smtClean="0"/>
              <a:t>Sample scenarios: 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Shift to Customer-Centric Business Model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Business Capability Outsourcing, 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Supply Chain Streamlining, </a:t>
            </a:r>
          </a:p>
          <a:p>
            <a:pPr lvl="1">
              <a:spcBef>
                <a:spcPts val="1200"/>
              </a:spcBef>
            </a:pPr>
            <a:r>
              <a:rPr lang="en-US" sz="1800" dirty="0" smtClean="0"/>
              <a:t>Compliance </a:t>
            </a:r>
            <a:endParaRPr lang="en-US" sz="1800" dirty="0"/>
          </a:p>
          <a:p>
            <a:pPr lvl="1">
              <a:spcBef>
                <a:spcPts val="1200"/>
              </a:spcBef>
            </a:pPr>
            <a:r>
              <a:rPr lang="en-US" sz="1800" dirty="0" smtClean="0"/>
              <a:t>Strategy </a:t>
            </a:r>
            <a:r>
              <a:rPr lang="en-US" sz="1800" dirty="0"/>
              <a:t>Development and Execution</a:t>
            </a:r>
          </a:p>
          <a:p>
            <a:pPr lvl="1">
              <a:spcBef>
                <a:spcPts val="1200"/>
              </a:spcBef>
            </a:pPr>
            <a:r>
              <a:rPr lang="en-US" sz="1800" dirty="0" smtClean="0"/>
              <a:t>Driving </a:t>
            </a:r>
            <a:r>
              <a:rPr lang="en-US" sz="1800" dirty="0"/>
              <a:t>Requirements from Business Architecture </a:t>
            </a:r>
            <a:endParaRPr lang="en-US" sz="1800" dirty="0" smtClean="0"/>
          </a:p>
          <a:p>
            <a:pPr lvl="1">
              <a:spcBef>
                <a:spcPts val="1200"/>
              </a:spcBef>
            </a:pPr>
            <a:r>
              <a:rPr lang="en-US" sz="1800" dirty="0" smtClean="0"/>
              <a:t>Leveraging Business Architecture for Software Testing</a:t>
            </a:r>
          </a:p>
          <a:p>
            <a:pPr lvl="1">
              <a:spcBef>
                <a:spcPts val="1200"/>
              </a:spcBef>
            </a:pPr>
            <a:r>
              <a:rPr lang="en-US" sz="1800" dirty="0" smtClean="0"/>
              <a:t>Operational </a:t>
            </a:r>
            <a:r>
              <a:rPr lang="en-US" sz="1800" dirty="0"/>
              <a:t>Cost Reduction </a:t>
            </a:r>
          </a:p>
          <a:p>
            <a:pPr lvl="1">
              <a:spcBef>
                <a:spcPts val="1200"/>
              </a:spcBef>
            </a:pPr>
            <a:r>
              <a:rPr lang="en-US" sz="1800" dirty="0" smtClean="0"/>
              <a:t>Change Management</a:t>
            </a:r>
            <a:endParaRPr lang="en-US" sz="1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75141"/>
            <a:ext cx="6858000" cy="548640"/>
          </a:xfrm>
        </p:spPr>
        <p:txBody>
          <a:bodyPr/>
          <a:lstStyle/>
          <a:p>
            <a:r>
              <a:rPr lang="en-US" dirty="0" smtClean="0"/>
              <a:t>Sample Scenarios for Testing the business architecture standard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4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/>
          <p:cNvCxnSpPr/>
          <p:nvPr/>
        </p:nvCxnSpPr>
        <p:spPr>
          <a:xfrm>
            <a:off x="7725644" y="1966677"/>
            <a:ext cx="0" cy="102300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045477"/>
            <a:ext cx="8229600" cy="362427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Note timeline is not entirely predictable due to numerous third parties involved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99855"/>
            <a:ext cx="6858000" cy="548640"/>
          </a:xfrm>
        </p:spPr>
        <p:txBody>
          <a:bodyPr/>
          <a:lstStyle/>
          <a:p>
            <a:r>
              <a:rPr lang="en-US" dirty="0" smtClean="0"/>
              <a:t>pathway to business architecture standardization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192852" y="2672666"/>
            <a:ext cx="8676933" cy="548640"/>
          </a:xfrm>
          <a:prstGeom prst="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0455" y="3399199"/>
            <a:ext cx="16147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Early attempts to formalize metamodel – lacking formally defined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912" y="2823289"/>
            <a:ext cx="8533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2009-</a:t>
            </a:r>
            <a:r>
              <a:rPr lang="en-US" sz="1200" b="1" dirty="0" smtClean="0"/>
              <a:t>--------------</a:t>
            </a:r>
            <a:r>
              <a:rPr lang="en-US" sz="1200" b="1" dirty="0"/>
              <a:t>-</a:t>
            </a:r>
            <a:r>
              <a:rPr lang="en-US" sz="1200" b="1" dirty="0" smtClean="0"/>
              <a:t>--2010</a:t>
            </a:r>
            <a:r>
              <a:rPr lang="en-US" sz="1200" b="1" dirty="0"/>
              <a:t>-</a:t>
            </a:r>
            <a:r>
              <a:rPr lang="en-US" sz="1200" b="1" dirty="0" smtClean="0"/>
              <a:t>--------------</a:t>
            </a:r>
            <a:r>
              <a:rPr lang="en-US" sz="1200" b="1" dirty="0"/>
              <a:t>-</a:t>
            </a:r>
            <a:r>
              <a:rPr lang="en-US" sz="1200" b="1" dirty="0" smtClean="0"/>
              <a:t>-2011------------------------------</a:t>
            </a:r>
            <a:r>
              <a:rPr lang="en-US" sz="1200" b="1" dirty="0"/>
              <a:t>--</a:t>
            </a:r>
            <a:r>
              <a:rPr lang="en-US" sz="1200" b="1" dirty="0" smtClean="0"/>
              <a:t>---2014---------</a:t>
            </a:r>
            <a:r>
              <a:rPr lang="en-US" sz="1200" dirty="0" smtClean="0"/>
              <a:t>------</a:t>
            </a:r>
            <a:r>
              <a:rPr lang="en-US" sz="1200" b="1" dirty="0" smtClean="0"/>
              <a:t>----</a:t>
            </a:r>
            <a:r>
              <a:rPr lang="en-US" sz="1200" dirty="0" smtClean="0"/>
              <a:t>----------</a:t>
            </a:r>
            <a:r>
              <a:rPr lang="en-US" sz="1200" b="1" dirty="0"/>
              <a:t>2015-</a:t>
            </a:r>
            <a:r>
              <a:rPr lang="en-US" sz="1200" dirty="0" smtClean="0"/>
              <a:t>------</a:t>
            </a:r>
            <a:r>
              <a:rPr lang="en-US" sz="1200" b="1" dirty="0" smtClean="0"/>
              <a:t>----</a:t>
            </a:r>
            <a:r>
              <a:rPr lang="en-US" sz="1200" dirty="0" smtClean="0"/>
              <a:t>-----------</a:t>
            </a:r>
            <a:r>
              <a:rPr lang="en-US" sz="1200" dirty="0"/>
              <a:t>-</a:t>
            </a:r>
            <a:r>
              <a:rPr lang="en-US" sz="1200" dirty="0" smtClean="0"/>
              <a:t>-</a:t>
            </a:r>
            <a:r>
              <a:rPr lang="en-US" sz="1200" b="1" dirty="0" smtClean="0"/>
              <a:t>2016</a:t>
            </a:r>
            <a:r>
              <a:rPr lang="en-US" sz="1200" b="1" dirty="0"/>
              <a:t>-</a:t>
            </a:r>
            <a:r>
              <a:rPr lang="en-US" sz="1200" dirty="0" smtClean="0"/>
              <a:t>----</a:t>
            </a:r>
            <a:r>
              <a:rPr lang="en-US" sz="1200" b="1" dirty="0" smtClean="0"/>
              <a:t>----</a:t>
            </a:r>
            <a:r>
              <a:rPr lang="en-US" sz="1200" dirty="0" smtClean="0"/>
              <a:t>----------</a:t>
            </a:r>
            <a:r>
              <a:rPr lang="en-US" sz="1200" dirty="0"/>
              <a:t>-</a:t>
            </a:r>
            <a:r>
              <a:rPr lang="en-US" sz="1200" b="1" dirty="0" smtClean="0"/>
              <a:t>2017</a:t>
            </a:r>
          </a:p>
          <a:p>
            <a:endParaRPr lang="en-US" sz="1200" b="1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157748" y="3091518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61746" y="1992716"/>
            <a:ext cx="2809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Formalization of business architecture discipline in BIZBOK® V1.0–4.0</a:t>
            </a:r>
            <a:endParaRPr lang="en-US" sz="1100" b="1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4660034" y="3080119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07170" y="4089388"/>
            <a:ext cx="17426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Metamodel scenario creation, packaging</a:t>
            </a:r>
            <a:endParaRPr lang="en-US" sz="11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3748500" y="3389079"/>
            <a:ext cx="13257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Metamodel v1.0 released in BIZBOK® 4.0</a:t>
            </a:r>
            <a:endParaRPr lang="en-US" sz="11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838285" y="4097626"/>
            <a:ext cx="169280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Follow-up effort to standardize business / IT architecture alignment</a:t>
            </a:r>
            <a:endParaRPr lang="en-US" sz="1100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6070578" y="3088821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283126" y="3096172"/>
            <a:ext cx="0" cy="102300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3262184" y="2356022"/>
            <a:ext cx="8229" cy="22062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634398" y="3084030"/>
            <a:ext cx="0" cy="108456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46320" y="3361730"/>
            <a:ext cx="17629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RFC packaging / delivery to OMG standards process</a:t>
            </a:r>
            <a:endParaRPr lang="en-US" sz="1100" b="1" dirty="0"/>
          </a:p>
        </p:txBody>
      </p:sp>
      <p:sp>
        <p:nvSpPr>
          <p:cNvPr id="11" name="Right Brace 10"/>
          <p:cNvSpPr/>
          <p:nvPr/>
        </p:nvSpPr>
        <p:spPr>
          <a:xfrm rot="16200000" flipV="1">
            <a:off x="3165214" y="1912087"/>
            <a:ext cx="210398" cy="1557084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795282" y="2031314"/>
            <a:ext cx="1703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Targeted timeline for OMG standard passage</a:t>
            </a:r>
            <a:endParaRPr lang="en-US" sz="1100" b="1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6783152" y="2433909"/>
            <a:ext cx="0" cy="3570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14951" y="1574109"/>
            <a:ext cx="1703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/>
              <a:t>Submission of OMG standard to ISO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7006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Business Architecture Guild Metamodel team is a collaborative team of Guild members that includes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Expert practitioners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Companies with business architecture deployments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Vendors with mutual interest in achieving business architecture standardization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is driving </a:t>
            </a:r>
            <a:r>
              <a:rPr lang="en-US" smtClean="0"/>
              <a:t>this effort?</a:t>
            </a: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30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Standardization </a:t>
            </a:r>
            <a:r>
              <a:rPr lang="en-US" dirty="0" err="1" smtClean="0"/>
              <a:t>MetaModel</a:t>
            </a:r>
            <a:r>
              <a:rPr lang="en-US" dirty="0" smtClean="0"/>
              <a:t> Team</a:t>
            </a:r>
            <a:br>
              <a:rPr lang="en-US" dirty="0" smtClean="0"/>
            </a:br>
            <a:r>
              <a:rPr lang="en-US" sz="1600" dirty="0" smtClean="0"/>
              <a:t>Lead: Jeff Wallk</a:t>
            </a:r>
            <a:endParaRPr lang="en-US" sz="16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054008"/>
              </p:ext>
            </p:extLst>
          </p:nvPr>
        </p:nvGraphicFramePr>
        <p:xfrm>
          <a:off x="121202" y="1089749"/>
          <a:ext cx="4980732" cy="4881066"/>
        </p:xfrm>
        <a:graphic>
          <a:graphicData uri="http://schemas.openxmlformats.org/drawingml/2006/table">
            <a:tbl>
              <a:tblPr/>
              <a:tblGrid>
                <a:gridCol w="3952032"/>
                <a:gridCol w="1028700"/>
              </a:tblGrid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Calibri"/>
                        </a:rPr>
                        <a:t>Scenario  Development</a:t>
                      </a:r>
                      <a:endParaRPr lang="en-US" sz="1200" b="1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Calibri"/>
                        </a:rPr>
                        <a:t>Lead</a:t>
                      </a:r>
                      <a:r>
                        <a:rPr lang="en-US" sz="1200" b="1" baseline="0" dirty="0" smtClean="0">
                          <a:effectLst/>
                          <a:latin typeface="Calibri"/>
                        </a:rPr>
                        <a:t> / Team</a:t>
                      </a:r>
                      <a:endParaRPr lang="en-US" sz="1200" b="1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Driving Requirements from Business Architecture (and Software Testing)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Paula </a:t>
                      </a:r>
                      <a:r>
                        <a:rPr lang="en-US" sz="1000" dirty="0" err="1">
                          <a:effectLst/>
                          <a:latin typeface="Calibri"/>
                        </a:rPr>
                        <a:t>Mihalek</a:t>
                      </a:r>
                      <a:endParaRPr lang="en-US" sz="1000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Shift to Customer-Centric Business Model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Paula Mihalek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Business Capability Outsourcing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Steve Hunter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Supply Chain Streamlining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Steve Hunter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Compliance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Steve Hunter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Operational Cost Reduction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Janice Lewis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Change Management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Janice Lewis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Strategy Development and Execution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Karrie </a:t>
                      </a:r>
                      <a:r>
                        <a:rPr lang="en-US" sz="1000" dirty="0" smtClean="0">
                          <a:effectLst/>
                          <a:latin typeface="Calibri"/>
                        </a:rPr>
                        <a:t>Austin, Olga Romeos</a:t>
                      </a:r>
                      <a:endParaRPr lang="en-US" sz="1000" dirty="0">
                        <a:effectLst/>
                        <a:latin typeface="Calibri"/>
                      </a:endParaRP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Investment Analysis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Merger and Acquisition Analysis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New Product / Service Rollout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Globalization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Divestiture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8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alibri"/>
                        </a:rPr>
                        <a:t>Joint Venture Development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48245" marR="48245" marT="48245" marB="48245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101930" y="1080651"/>
            <a:ext cx="1309254" cy="4894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Glossary and Modeling Team</a:t>
            </a:r>
          </a:p>
          <a:p>
            <a:pPr algn="ctr"/>
            <a:endParaRPr lang="en-US" sz="12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(Alain Picard &amp; Jeffrey Wallk)</a:t>
            </a:r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11184" y="1080651"/>
            <a:ext cx="1309254" cy="4894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Publishing Team</a:t>
            </a: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Alain Picard &amp; Jeffrey Wallk)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0438" y="1080651"/>
            <a:ext cx="1309254" cy="4894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Team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200" b="1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(Select members of Guild Board)</a:t>
            </a:r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195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86892"/>
            <a:ext cx="8229600" cy="1843492"/>
          </a:xfrm>
        </p:spPr>
        <p:txBody>
          <a:bodyPr/>
          <a:lstStyle/>
          <a:p>
            <a:pPr algn="ctr"/>
            <a:r>
              <a:rPr lang="en-US" dirty="0" smtClean="0"/>
              <a:t>William Ulrich, Business Architecture Guild &amp; TSG, Inc.</a:t>
            </a:r>
          </a:p>
          <a:p>
            <a:pPr algn="ctr"/>
            <a:r>
              <a:rPr lang="en-US" dirty="0"/>
              <a:t>Janice Lewis, Pfizer</a:t>
            </a:r>
          </a:p>
          <a:p>
            <a:pPr algn="ctr"/>
            <a:r>
              <a:rPr lang="en-US" dirty="0" smtClean="0">
                <a:hlinkClick r:id="rId2"/>
              </a:rPr>
              <a:t>www.businessarchitectureguild.org</a:t>
            </a:r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pPr/>
              <a:t>9/9/2014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250427"/>
            <a:ext cx="6858000" cy="548640"/>
          </a:xfrm>
        </p:spPr>
        <p:txBody>
          <a:bodyPr/>
          <a:lstStyle/>
          <a:p>
            <a:r>
              <a:rPr lang="en-US" dirty="0" smtClean="0"/>
              <a:t>Standardization: questions /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9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3095</TotalTime>
  <Words>772</Words>
  <Application>Microsoft Office PowerPoint</Application>
  <PresentationFormat>On-screen Show (4:3)</PresentationFormat>
  <Paragraphs>145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1_Angles</vt:lpstr>
      <vt:lpstr>Standardizing Business Architecture</vt:lpstr>
      <vt:lpstr>Standardizing business architecture?</vt:lpstr>
      <vt:lpstr>Why Standardization?</vt:lpstr>
      <vt:lpstr>What is standardization? </vt:lpstr>
      <vt:lpstr>Path to Business architecture standardization</vt:lpstr>
      <vt:lpstr>Sample Business architecture metamodel</vt:lpstr>
      <vt:lpstr>What value does standardization provide? </vt:lpstr>
      <vt:lpstr>Sample Scenarios for Testing the business architecture standard</vt:lpstr>
      <vt:lpstr>pathway to business architecture standardization</vt:lpstr>
      <vt:lpstr>Who is driving this effort? </vt:lpstr>
      <vt:lpstr>Standardization MetaModel Team Lead: Jeff Wallk</vt:lpstr>
      <vt:lpstr>Standardization: questions / discussion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Lewis, Janice</cp:lastModifiedBy>
  <cp:revision>299</cp:revision>
  <dcterms:created xsi:type="dcterms:W3CDTF">2012-10-06T17:50:46Z</dcterms:created>
  <dcterms:modified xsi:type="dcterms:W3CDTF">2014-09-09T23:40:40Z</dcterms:modified>
</cp:coreProperties>
</file>
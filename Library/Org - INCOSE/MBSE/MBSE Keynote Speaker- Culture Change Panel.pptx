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12198350"/>
  <p:notesSz cx="12192000" cy="121983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71C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71C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71C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99199"/>
            <a:ext cx="12198095" cy="558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006328" y="0"/>
            <a:ext cx="1191767" cy="9456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5102" y="661568"/>
            <a:ext cx="6848144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71C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55723" y="1548650"/>
            <a:ext cx="7486903" cy="414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ncose.org/IW2021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://www.okrcoaching.com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Relationship Id="rId24" Type="http://schemas.openxmlformats.org/officeDocument/2006/relationships/image" Target="../media/image51.png"/><Relationship Id="rId25" Type="http://schemas.openxmlformats.org/officeDocument/2006/relationships/image" Target="../media/image52.png"/><Relationship Id="rId26" Type="http://schemas.openxmlformats.org/officeDocument/2006/relationships/image" Target="../media/image53.png"/><Relationship Id="rId27" Type="http://schemas.openxmlformats.org/officeDocument/2006/relationships/image" Target="../media/image54.png"/><Relationship Id="rId28" Type="http://schemas.openxmlformats.org/officeDocument/2006/relationships/image" Target="../media/image55.png"/><Relationship Id="rId29" Type="http://schemas.openxmlformats.org/officeDocument/2006/relationships/image" Target="../media/image56.png"/><Relationship Id="rId30" Type="http://schemas.openxmlformats.org/officeDocument/2006/relationships/image" Target="../media/image57.png"/><Relationship Id="rId31" Type="http://schemas.openxmlformats.org/officeDocument/2006/relationships/image" Target="../media/image58.png"/><Relationship Id="rId32" Type="http://schemas.openxmlformats.org/officeDocument/2006/relationships/image" Target="../media/image59.png"/><Relationship Id="rId33" Type="http://schemas.openxmlformats.org/officeDocument/2006/relationships/image" Target="../media/image60.png"/><Relationship Id="rId34" Type="http://schemas.openxmlformats.org/officeDocument/2006/relationships/image" Target="../media/image61.png"/><Relationship Id="rId35" Type="http://schemas.openxmlformats.org/officeDocument/2006/relationships/image" Target="../media/image62.png"/><Relationship Id="rId36" Type="http://schemas.openxmlformats.org/officeDocument/2006/relationships/image" Target="../media/image63.png"/><Relationship Id="rId37" Type="http://schemas.openxmlformats.org/officeDocument/2006/relationships/image" Target="../media/image64.png"/><Relationship Id="rId38" Type="http://schemas.openxmlformats.org/officeDocument/2006/relationships/image" Target="../media/image65.png"/><Relationship Id="rId39" Type="http://schemas.openxmlformats.org/officeDocument/2006/relationships/image" Target="../media/image66.png"/><Relationship Id="rId40" Type="http://schemas.openxmlformats.org/officeDocument/2006/relationships/image" Target="../media/image67.png"/><Relationship Id="rId41" Type="http://schemas.openxmlformats.org/officeDocument/2006/relationships/image" Target="../media/image68.png"/><Relationship Id="rId42" Type="http://schemas.openxmlformats.org/officeDocument/2006/relationships/image" Target="../media/image69.png"/><Relationship Id="rId43" Type="http://schemas.openxmlformats.org/officeDocument/2006/relationships/image" Target="../media/image70.png"/><Relationship Id="rId44" Type="http://schemas.openxmlformats.org/officeDocument/2006/relationships/image" Target="../media/image71.png"/><Relationship Id="rId45" Type="http://schemas.openxmlformats.org/officeDocument/2006/relationships/image" Target="../media/image72.png"/><Relationship Id="rId46" Type="http://schemas.openxmlformats.org/officeDocument/2006/relationships/image" Target="../media/image73.png"/><Relationship Id="rId47" Type="http://schemas.openxmlformats.org/officeDocument/2006/relationships/image" Target="../media/image74.png"/><Relationship Id="rId48" Type="http://schemas.openxmlformats.org/officeDocument/2006/relationships/image" Target="../media/image75.png"/><Relationship Id="rId49" Type="http://schemas.openxmlformats.org/officeDocument/2006/relationships/image" Target="../media/image76.png"/><Relationship Id="rId50" Type="http://schemas.openxmlformats.org/officeDocument/2006/relationships/image" Target="../media/image77.png"/><Relationship Id="rId51" Type="http://schemas.openxmlformats.org/officeDocument/2006/relationships/image" Target="../media/image78.png"/><Relationship Id="rId52" Type="http://schemas.openxmlformats.org/officeDocument/2006/relationships/image" Target="../media/image79.png"/><Relationship Id="rId53" Type="http://schemas.openxmlformats.org/officeDocument/2006/relationships/image" Target="../media/image80.png"/><Relationship Id="rId54" Type="http://schemas.openxmlformats.org/officeDocument/2006/relationships/image" Target="../media/image81.png"/><Relationship Id="rId55" Type="http://schemas.openxmlformats.org/officeDocument/2006/relationships/image" Target="../media/image82.png"/><Relationship Id="rId56" Type="http://schemas.openxmlformats.org/officeDocument/2006/relationships/image" Target="../media/image83.png"/><Relationship Id="rId57" Type="http://schemas.openxmlformats.org/officeDocument/2006/relationships/image" Target="../media/image84.png"/><Relationship Id="rId58" Type="http://schemas.openxmlformats.org/officeDocument/2006/relationships/image" Target="../media/image85.png"/><Relationship Id="rId59" Type="http://schemas.openxmlformats.org/officeDocument/2006/relationships/image" Target="../media/image86.png"/><Relationship Id="rId60" Type="http://schemas.openxmlformats.org/officeDocument/2006/relationships/image" Target="../media/image87.png"/><Relationship Id="rId61" Type="http://schemas.openxmlformats.org/officeDocument/2006/relationships/image" Target="../media/image88.png"/><Relationship Id="rId62" Type="http://schemas.openxmlformats.org/officeDocument/2006/relationships/image" Target="../media/image89.png"/><Relationship Id="rId63" Type="http://schemas.openxmlformats.org/officeDocument/2006/relationships/image" Target="../media/image90.png"/><Relationship Id="rId64" Type="http://schemas.openxmlformats.org/officeDocument/2006/relationships/image" Target="../media/image91.png"/><Relationship Id="rId65" Type="http://schemas.openxmlformats.org/officeDocument/2006/relationships/image" Target="../media/image92.png"/><Relationship Id="rId66" Type="http://schemas.openxmlformats.org/officeDocument/2006/relationships/image" Target="../media/image93.png"/><Relationship Id="rId67" Type="http://schemas.openxmlformats.org/officeDocument/2006/relationships/image" Target="../media/image94.png"/><Relationship Id="rId68" Type="http://schemas.openxmlformats.org/officeDocument/2006/relationships/image" Target="../media/image95.png"/><Relationship Id="rId69" Type="http://schemas.openxmlformats.org/officeDocument/2006/relationships/image" Target="../media/image96.png"/><Relationship Id="rId70" Type="http://schemas.openxmlformats.org/officeDocument/2006/relationships/image" Target="../media/image97.png"/><Relationship Id="rId71" Type="http://schemas.openxmlformats.org/officeDocument/2006/relationships/image" Target="../media/image98.png"/><Relationship Id="rId72" Type="http://schemas.openxmlformats.org/officeDocument/2006/relationships/image" Target="../media/image99.png"/><Relationship Id="rId73" Type="http://schemas.openxmlformats.org/officeDocument/2006/relationships/image" Target="../media/image100.png"/><Relationship Id="rId74" Type="http://schemas.openxmlformats.org/officeDocument/2006/relationships/image" Target="../media/image101.png"/><Relationship Id="rId75" Type="http://schemas.openxmlformats.org/officeDocument/2006/relationships/image" Target="../media/image102.png"/><Relationship Id="rId76" Type="http://schemas.openxmlformats.org/officeDocument/2006/relationships/image" Target="../media/image103.png"/><Relationship Id="rId77" Type="http://schemas.openxmlformats.org/officeDocument/2006/relationships/image" Target="../media/image104.png"/><Relationship Id="rId78" Type="http://schemas.openxmlformats.org/officeDocument/2006/relationships/image" Target="../media/image105.png"/><Relationship Id="rId79" Type="http://schemas.openxmlformats.org/officeDocument/2006/relationships/image" Target="../media/image106.png"/><Relationship Id="rId80" Type="http://schemas.openxmlformats.org/officeDocument/2006/relationships/image" Target="../media/image107.png"/><Relationship Id="rId81" Type="http://schemas.openxmlformats.org/officeDocument/2006/relationships/image" Target="../media/image108.png"/><Relationship Id="rId82" Type="http://schemas.openxmlformats.org/officeDocument/2006/relationships/image" Target="../media/image109.png"/><Relationship Id="rId83" Type="http://schemas.openxmlformats.org/officeDocument/2006/relationships/image" Target="../media/image110.png"/><Relationship Id="rId84" Type="http://schemas.openxmlformats.org/officeDocument/2006/relationships/image" Target="../media/image111.png"/><Relationship Id="rId85" Type="http://schemas.openxmlformats.org/officeDocument/2006/relationships/image" Target="../media/image112.png"/><Relationship Id="rId86" Type="http://schemas.openxmlformats.org/officeDocument/2006/relationships/image" Target="../media/image113.png"/><Relationship Id="rId87" Type="http://schemas.openxmlformats.org/officeDocument/2006/relationships/image" Target="../media/image114.png"/><Relationship Id="rId88" Type="http://schemas.openxmlformats.org/officeDocument/2006/relationships/image" Target="../media/image115.png"/><Relationship Id="rId89" Type="http://schemas.openxmlformats.org/officeDocument/2006/relationships/image" Target="../media/image116.png"/><Relationship Id="rId90" Type="http://schemas.openxmlformats.org/officeDocument/2006/relationships/image" Target="../media/image117.png"/><Relationship Id="rId91" Type="http://schemas.openxmlformats.org/officeDocument/2006/relationships/image" Target="../media/image118.png"/><Relationship Id="rId92" Type="http://schemas.openxmlformats.org/officeDocument/2006/relationships/image" Target="../media/image119.png"/><Relationship Id="rId93" Type="http://schemas.openxmlformats.org/officeDocument/2006/relationships/image" Target="../media/image120.png"/><Relationship Id="rId94" Type="http://schemas.openxmlformats.org/officeDocument/2006/relationships/image" Target="../media/image12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2.jpg"/><Relationship Id="rId3" Type="http://schemas.openxmlformats.org/officeDocument/2006/relationships/image" Target="../media/image12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jpg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Relationship Id="rId6" Type="http://schemas.openxmlformats.org/officeDocument/2006/relationships/image" Target="../media/image131.png"/><Relationship Id="rId7" Type="http://schemas.openxmlformats.org/officeDocument/2006/relationships/image" Target="../media/image132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517" y="6435173"/>
            <a:ext cx="27235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20">
                <a:solidFill>
                  <a:srgbClr val="414042"/>
                </a:solidFill>
                <a:latin typeface="Arial"/>
                <a:cs typeface="Arial"/>
                <a:hlinkClick r:id="rId2"/>
              </a:rPr>
              <a:t>www.incose.org/IW2021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8515" y="5472684"/>
            <a:ext cx="3194685" cy="158750"/>
            <a:chOff x="318515" y="5472684"/>
            <a:chExt cx="3194685" cy="158750"/>
          </a:xfrm>
        </p:grpSpPr>
        <p:sp>
          <p:nvSpPr>
            <p:cNvPr id="4" name="object 4"/>
            <p:cNvSpPr/>
            <p:nvPr/>
          </p:nvSpPr>
          <p:spPr>
            <a:xfrm>
              <a:off x="318515" y="5472684"/>
              <a:ext cx="3194304" cy="1584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663" y="5532120"/>
              <a:ext cx="3074670" cy="0"/>
            </a:xfrm>
            <a:custGeom>
              <a:avLst/>
              <a:gdLst/>
              <a:ahLst/>
              <a:cxnLst/>
              <a:rect l="l" t="t" r="r" b="b"/>
              <a:pathLst>
                <a:path w="3074670" h="0">
                  <a:moveTo>
                    <a:pt x="0" y="0"/>
                  </a:moveTo>
                  <a:lnTo>
                    <a:pt x="3074085" y="0"/>
                  </a:lnTo>
                </a:path>
              </a:pathLst>
            </a:custGeom>
            <a:ln w="76200">
              <a:solidFill>
                <a:srgbClr val="0071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3430497" y="601181"/>
            <a:ext cx="4979767" cy="17671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9031" y="4522965"/>
            <a:ext cx="105289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0071CE"/>
                </a:solidFill>
                <a:latin typeface="Arial"/>
                <a:cs typeface="Arial"/>
              </a:rPr>
              <a:t>MBSE </a:t>
            </a:r>
            <a:r>
              <a:rPr dirty="0" sz="6000" spc="-5">
                <a:solidFill>
                  <a:srgbClr val="0071CE"/>
                </a:solidFill>
                <a:latin typeface="Arial"/>
                <a:cs typeface="Arial"/>
              </a:rPr>
              <a:t>– Culture Change</a:t>
            </a:r>
            <a:r>
              <a:rPr dirty="0" sz="6000" spc="-1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6000" spc="-5">
                <a:solidFill>
                  <a:srgbClr val="0071CE"/>
                </a:solidFill>
                <a:latin typeface="Arial"/>
                <a:cs typeface="Arial"/>
              </a:rPr>
              <a:t>Panel</a:t>
            </a:r>
            <a:endParaRPr sz="600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fade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4031" y="5952616"/>
            <a:ext cx="23215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0071CE"/>
                </a:solidFill>
                <a:latin typeface="Arial"/>
                <a:cs typeface="Arial"/>
              </a:rPr>
              <a:t>Copyright Strategic Venture Planning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96211" y="766572"/>
            <a:ext cx="6964045" cy="5029200"/>
            <a:chOff x="1696211" y="766572"/>
            <a:chExt cx="6964045" cy="5029200"/>
          </a:xfrm>
        </p:grpSpPr>
        <p:sp>
          <p:nvSpPr>
            <p:cNvPr id="4" name="object 4"/>
            <p:cNvSpPr/>
            <p:nvPr/>
          </p:nvSpPr>
          <p:spPr>
            <a:xfrm>
              <a:off x="3013532" y="1458683"/>
              <a:ext cx="5633720" cy="4324350"/>
            </a:xfrm>
            <a:custGeom>
              <a:avLst/>
              <a:gdLst/>
              <a:ahLst/>
              <a:cxnLst/>
              <a:rect l="l" t="t" r="r" b="b"/>
              <a:pathLst>
                <a:path w="5633720" h="4324350">
                  <a:moveTo>
                    <a:pt x="618159" y="0"/>
                  </a:moveTo>
                  <a:lnTo>
                    <a:pt x="5016144" y="2934131"/>
                  </a:lnTo>
                  <a:lnTo>
                    <a:pt x="5325211" y="2470861"/>
                  </a:lnTo>
                  <a:lnTo>
                    <a:pt x="5633618" y="4015562"/>
                  </a:lnTo>
                  <a:lnTo>
                    <a:pt x="4088904" y="4323969"/>
                  </a:lnTo>
                  <a:lnTo>
                    <a:pt x="4397984" y="3860685"/>
                  </a:lnTo>
                  <a:lnTo>
                    <a:pt x="0" y="926553"/>
                  </a:lnTo>
                  <a:lnTo>
                    <a:pt x="618159" y="0"/>
                  </a:lnTo>
                  <a:close/>
                </a:path>
              </a:pathLst>
            </a:custGeom>
            <a:ln w="25400">
              <a:solidFill>
                <a:srgbClr val="2D830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96211" y="766572"/>
              <a:ext cx="1877567" cy="13822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24060" y="1738655"/>
              <a:ext cx="146265" cy="1373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98903" y="1797494"/>
              <a:ext cx="93687" cy="78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33930" y="804291"/>
              <a:ext cx="1748789" cy="1253490"/>
            </a:xfrm>
            <a:custGeom>
              <a:avLst/>
              <a:gdLst/>
              <a:ahLst/>
              <a:cxnLst/>
              <a:rect l="l" t="t" r="r" b="b"/>
              <a:pathLst>
                <a:path w="1748789" h="1253489">
                  <a:moveTo>
                    <a:pt x="874394" y="0"/>
                  </a:moveTo>
                  <a:lnTo>
                    <a:pt x="819096" y="1233"/>
                  </a:lnTo>
                  <a:lnTo>
                    <a:pt x="764712" y="4883"/>
                  </a:lnTo>
                  <a:lnTo>
                    <a:pt x="711344" y="10877"/>
                  </a:lnTo>
                  <a:lnTo>
                    <a:pt x="659095" y="19141"/>
                  </a:lnTo>
                  <a:lnTo>
                    <a:pt x="608067" y="29602"/>
                  </a:lnTo>
                  <a:lnTo>
                    <a:pt x="558363" y="42187"/>
                  </a:lnTo>
                  <a:lnTo>
                    <a:pt x="510085" y="56822"/>
                  </a:lnTo>
                  <a:lnTo>
                    <a:pt x="463336" y="73433"/>
                  </a:lnTo>
                  <a:lnTo>
                    <a:pt x="418218" y="91948"/>
                  </a:lnTo>
                  <a:lnTo>
                    <a:pt x="374833" y="112292"/>
                  </a:lnTo>
                  <a:lnTo>
                    <a:pt x="333284" y="134393"/>
                  </a:lnTo>
                  <a:lnTo>
                    <a:pt x="293673" y="158177"/>
                  </a:lnTo>
                  <a:lnTo>
                    <a:pt x="256103" y="183570"/>
                  </a:lnTo>
                  <a:lnTo>
                    <a:pt x="220676" y="210499"/>
                  </a:lnTo>
                  <a:lnTo>
                    <a:pt x="187495" y="238892"/>
                  </a:lnTo>
                  <a:lnTo>
                    <a:pt x="156661" y="268673"/>
                  </a:lnTo>
                  <a:lnTo>
                    <a:pt x="128278" y="299770"/>
                  </a:lnTo>
                  <a:lnTo>
                    <a:pt x="102448" y="332110"/>
                  </a:lnTo>
                  <a:lnTo>
                    <a:pt x="79273" y="365619"/>
                  </a:lnTo>
                  <a:lnTo>
                    <a:pt x="58856" y="400223"/>
                  </a:lnTo>
                  <a:lnTo>
                    <a:pt x="41299" y="435849"/>
                  </a:lnTo>
                  <a:lnTo>
                    <a:pt x="26704" y="472425"/>
                  </a:lnTo>
                  <a:lnTo>
                    <a:pt x="15175" y="509875"/>
                  </a:lnTo>
                  <a:lnTo>
                    <a:pt x="6812" y="548128"/>
                  </a:lnTo>
                  <a:lnTo>
                    <a:pt x="1720" y="587109"/>
                  </a:lnTo>
                  <a:lnTo>
                    <a:pt x="0" y="626745"/>
                  </a:lnTo>
                  <a:lnTo>
                    <a:pt x="1720" y="666380"/>
                  </a:lnTo>
                  <a:lnTo>
                    <a:pt x="6812" y="705361"/>
                  </a:lnTo>
                  <a:lnTo>
                    <a:pt x="15175" y="743614"/>
                  </a:lnTo>
                  <a:lnTo>
                    <a:pt x="26704" y="781064"/>
                  </a:lnTo>
                  <a:lnTo>
                    <a:pt x="41299" y="817640"/>
                  </a:lnTo>
                  <a:lnTo>
                    <a:pt x="58856" y="853266"/>
                  </a:lnTo>
                  <a:lnTo>
                    <a:pt x="79273" y="887870"/>
                  </a:lnTo>
                  <a:lnTo>
                    <a:pt x="102448" y="921379"/>
                  </a:lnTo>
                  <a:lnTo>
                    <a:pt x="128278" y="953719"/>
                  </a:lnTo>
                  <a:lnTo>
                    <a:pt x="156661" y="984816"/>
                  </a:lnTo>
                  <a:lnTo>
                    <a:pt x="187495" y="1014597"/>
                  </a:lnTo>
                  <a:lnTo>
                    <a:pt x="220676" y="1042990"/>
                  </a:lnTo>
                  <a:lnTo>
                    <a:pt x="256103" y="1069919"/>
                  </a:lnTo>
                  <a:lnTo>
                    <a:pt x="293673" y="1095312"/>
                  </a:lnTo>
                  <a:lnTo>
                    <a:pt x="333284" y="1119096"/>
                  </a:lnTo>
                  <a:lnTo>
                    <a:pt x="374833" y="1141197"/>
                  </a:lnTo>
                  <a:lnTo>
                    <a:pt x="418218" y="1161541"/>
                  </a:lnTo>
                  <a:lnTo>
                    <a:pt x="463336" y="1180056"/>
                  </a:lnTo>
                  <a:lnTo>
                    <a:pt x="510085" y="1196667"/>
                  </a:lnTo>
                  <a:lnTo>
                    <a:pt x="558363" y="1211302"/>
                  </a:lnTo>
                  <a:lnTo>
                    <a:pt x="608067" y="1223887"/>
                  </a:lnTo>
                  <a:lnTo>
                    <a:pt x="659095" y="1234348"/>
                  </a:lnTo>
                  <a:lnTo>
                    <a:pt x="711344" y="1242612"/>
                  </a:lnTo>
                  <a:lnTo>
                    <a:pt x="764712" y="1248606"/>
                  </a:lnTo>
                  <a:lnTo>
                    <a:pt x="819096" y="1252256"/>
                  </a:lnTo>
                  <a:lnTo>
                    <a:pt x="874394" y="1253490"/>
                  </a:lnTo>
                  <a:lnTo>
                    <a:pt x="929693" y="1252256"/>
                  </a:lnTo>
                  <a:lnTo>
                    <a:pt x="984077" y="1248606"/>
                  </a:lnTo>
                  <a:lnTo>
                    <a:pt x="1037445" y="1242612"/>
                  </a:lnTo>
                  <a:lnTo>
                    <a:pt x="1089694" y="1234348"/>
                  </a:lnTo>
                  <a:lnTo>
                    <a:pt x="1140722" y="1223887"/>
                  </a:lnTo>
                  <a:lnTo>
                    <a:pt x="1190426" y="1211302"/>
                  </a:lnTo>
                  <a:lnTo>
                    <a:pt x="1238704" y="1196667"/>
                  </a:lnTo>
                  <a:lnTo>
                    <a:pt x="1285453" y="1180056"/>
                  </a:lnTo>
                  <a:lnTo>
                    <a:pt x="1330571" y="1161541"/>
                  </a:lnTo>
                  <a:lnTo>
                    <a:pt x="1373956" y="1141197"/>
                  </a:lnTo>
                  <a:lnTo>
                    <a:pt x="1415505" y="1119096"/>
                  </a:lnTo>
                  <a:lnTo>
                    <a:pt x="1455116" y="1095312"/>
                  </a:lnTo>
                  <a:lnTo>
                    <a:pt x="1492686" y="1069919"/>
                  </a:lnTo>
                  <a:lnTo>
                    <a:pt x="1528113" y="1042990"/>
                  </a:lnTo>
                  <a:lnTo>
                    <a:pt x="1561294" y="1014597"/>
                  </a:lnTo>
                  <a:lnTo>
                    <a:pt x="1592128" y="984816"/>
                  </a:lnTo>
                  <a:lnTo>
                    <a:pt x="1620511" y="953719"/>
                  </a:lnTo>
                  <a:lnTo>
                    <a:pt x="1646341" y="921379"/>
                  </a:lnTo>
                  <a:lnTo>
                    <a:pt x="1669516" y="887870"/>
                  </a:lnTo>
                  <a:lnTo>
                    <a:pt x="1689933" y="853266"/>
                  </a:lnTo>
                  <a:lnTo>
                    <a:pt x="1707490" y="817640"/>
                  </a:lnTo>
                  <a:lnTo>
                    <a:pt x="1722085" y="781064"/>
                  </a:lnTo>
                  <a:lnTo>
                    <a:pt x="1733614" y="743614"/>
                  </a:lnTo>
                  <a:lnTo>
                    <a:pt x="1741977" y="705361"/>
                  </a:lnTo>
                  <a:lnTo>
                    <a:pt x="1747069" y="666380"/>
                  </a:lnTo>
                  <a:lnTo>
                    <a:pt x="1748789" y="626745"/>
                  </a:lnTo>
                  <a:lnTo>
                    <a:pt x="1747069" y="587109"/>
                  </a:lnTo>
                  <a:lnTo>
                    <a:pt x="1741977" y="548128"/>
                  </a:lnTo>
                  <a:lnTo>
                    <a:pt x="1733614" y="509875"/>
                  </a:lnTo>
                  <a:lnTo>
                    <a:pt x="1722085" y="472425"/>
                  </a:lnTo>
                  <a:lnTo>
                    <a:pt x="1707490" y="435849"/>
                  </a:lnTo>
                  <a:lnTo>
                    <a:pt x="1689933" y="400223"/>
                  </a:lnTo>
                  <a:lnTo>
                    <a:pt x="1669516" y="365619"/>
                  </a:lnTo>
                  <a:lnTo>
                    <a:pt x="1646341" y="332110"/>
                  </a:lnTo>
                  <a:lnTo>
                    <a:pt x="1620511" y="299770"/>
                  </a:lnTo>
                  <a:lnTo>
                    <a:pt x="1592128" y="268673"/>
                  </a:lnTo>
                  <a:lnTo>
                    <a:pt x="1561294" y="238892"/>
                  </a:lnTo>
                  <a:lnTo>
                    <a:pt x="1528113" y="210499"/>
                  </a:lnTo>
                  <a:lnTo>
                    <a:pt x="1492686" y="183570"/>
                  </a:lnTo>
                  <a:lnTo>
                    <a:pt x="1455116" y="158177"/>
                  </a:lnTo>
                  <a:lnTo>
                    <a:pt x="1415505" y="134393"/>
                  </a:lnTo>
                  <a:lnTo>
                    <a:pt x="1373956" y="112292"/>
                  </a:lnTo>
                  <a:lnTo>
                    <a:pt x="1330571" y="91948"/>
                  </a:lnTo>
                  <a:lnTo>
                    <a:pt x="1285453" y="73433"/>
                  </a:lnTo>
                  <a:lnTo>
                    <a:pt x="1238704" y="56822"/>
                  </a:lnTo>
                  <a:lnTo>
                    <a:pt x="1190426" y="42187"/>
                  </a:lnTo>
                  <a:lnTo>
                    <a:pt x="1140722" y="29602"/>
                  </a:lnTo>
                  <a:lnTo>
                    <a:pt x="1089694" y="19141"/>
                  </a:lnTo>
                  <a:lnTo>
                    <a:pt x="1037445" y="10877"/>
                  </a:lnTo>
                  <a:lnTo>
                    <a:pt x="984077" y="4883"/>
                  </a:lnTo>
                  <a:lnTo>
                    <a:pt x="929693" y="1233"/>
                  </a:lnTo>
                  <a:lnTo>
                    <a:pt x="8743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733930" y="804291"/>
              <a:ext cx="1748789" cy="1253490"/>
            </a:xfrm>
            <a:custGeom>
              <a:avLst/>
              <a:gdLst/>
              <a:ahLst/>
              <a:cxnLst/>
              <a:rect l="l" t="t" r="r" b="b"/>
              <a:pathLst>
                <a:path w="1748789" h="1253489">
                  <a:moveTo>
                    <a:pt x="0" y="626745"/>
                  </a:moveTo>
                  <a:lnTo>
                    <a:pt x="1720" y="587109"/>
                  </a:lnTo>
                  <a:lnTo>
                    <a:pt x="6812" y="548128"/>
                  </a:lnTo>
                  <a:lnTo>
                    <a:pt x="15175" y="509875"/>
                  </a:lnTo>
                  <a:lnTo>
                    <a:pt x="26704" y="472425"/>
                  </a:lnTo>
                  <a:lnTo>
                    <a:pt x="41299" y="435849"/>
                  </a:lnTo>
                  <a:lnTo>
                    <a:pt x="58856" y="400223"/>
                  </a:lnTo>
                  <a:lnTo>
                    <a:pt x="79273" y="365619"/>
                  </a:lnTo>
                  <a:lnTo>
                    <a:pt x="102448" y="332110"/>
                  </a:lnTo>
                  <a:lnTo>
                    <a:pt x="128278" y="299770"/>
                  </a:lnTo>
                  <a:lnTo>
                    <a:pt x="156661" y="268673"/>
                  </a:lnTo>
                  <a:lnTo>
                    <a:pt x="187495" y="238892"/>
                  </a:lnTo>
                  <a:lnTo>
                    <a:pt x="220676" y="210499"/>
                  </a:lnTo>
                  <a:lnTo>
                    <a:pt x="256103" y="183570"/>
                  </a:lnTo>
                  <a:lnTo>
                    <a:pt x="293673" y="158177"/>
                  </a:lnTo>
                  <a:lnTo>
                    <a:pt x="333284" y="134393"/>
                  </a:lnTo>
                  <a:lnTo>
                    <a:pt x="374833" y="112292"/>
                  </a:lnTo>
                  <a:lnTo>
                    <a:pt x="418218" y="91948"/>
                  </a:lnTo>
                  <a:lnTo>
                    <a:pt x="463336" y="73433"/>
                  </a:lnTo>
                  <a:lnTo>
                    <a:pt x="510085" y="56822"/>
                  </a:lnTo>
                  <a:lnTo>
                    <a:pt x="558363" y="42187"/>
                  </a:lnTo>
                  <a:lnTo>
                    <a:pt x="608067" y="29602"/>
                  </a:lnTo>
                  <a:lnTo>
                    <a:pt x="659095" y="19141"/>
                  </a:lnTo>
                  <a:lnTo>
                    <a:pt x="711344" y="10877"/>
                  </a:lnTo>
                  <a:lnTo>
                    <a:pt x="764712" y="4883"/>
                  </a:lnTo>
                  <a:lnTo>
                    <a:pt x="819096" y="1233"/>
                  </a:lnTo>
                  <a:lnTo>
                    <a:pt x="874394" y="0"/>
                  </a:lnTo>
                  <a:lnTo>
                    <a:pt x="929693" y="1233"/>
                  </a:lnTo>
                  <a:lnTo>
                    <a:pt x="984077" y="4883"/>
                  </a:lnTo>
                  <a:lnTo>
                    <a:pt x="1037445" y="10877"/>
                  </a:lnTo>
                  <a:lnTo>
                    <a:pt x="1089694" y="19141"/>
                  </a:lnTo>
                  <a:lnTo>
                    <a:pt x="1140722" y="29602"/>
                  </a:lnTo>
                  <a:lnTo>
                    <a:pt x="1190426" y="42187"/>
                  </a:lnTo>
                  <a:lnTo>
                    <a:pt x="1238704" y="56822"/>
                  </a:lnTo>
                  <a:lnTo>
                    <a:pt x="1285453" y="73433"/>
                  </a:lnTo>
                  <a:lnTo>
                    <a:pt x="1330571" y="91948"/>
                  </a:lnTo>
                  <a:lnTo>
                    <a:pt x="1373956" y="112292"/>
                  </a:lnTo>
                  <a:lnTo>
                    <a:pt x="1415505" y="134393"/>
                  </a:lnTo>
                  <a:lnTo>
                    <a:pt x="1455116" y="158177"/>
                  </a:lnTo>
                  <a:lnTo>
                    <a:pt x="1492686" y="183570"/>
                  </a:lnTo>
                  <a:lnTo>
                    <a:pt x="1528113" y="210499"/>
                  </a:lnTo>
                  <a:lnTo>
                    <a:pt x="1561294" y="238892"/>
                  </a:lnTo>
                  <a:lnTo>
                    <a:pt x="1592128" y="268673"/>
                  </a:lnTo>
                  <a:lnTo>
                    <a:pt x="1620511" y="299770"/>
                  </a:lnTo>
                  <a:lnTo>
                    <a:pt x="1646341" y="332110"/>
                  </a:lnTo>
                  <a:lnTo>
                    <a:pt x="1669516" y="365619"/>
                  </a:lnTo>
                  <a:lnTo>
                    <a:pt x="1689933" y="400223"/>
                  </a:lnTo>
                  <a:lnTo>
                    <a:pt x="1707490" y="435849"/>
                  </a:lnTo>
                  <a:lnTo>
                    <a:pt x="1722085" y="472425"/>
                  </a:lnTo>
                  <a:lnTo>
                    <a:pt x="1733614" y="509875"/>
                  </a:lnTo>
                  <a:lnTo>
                    <a:pt x="1741977" y="548128"/>
                  </a:lnTo>
                  <a:lnTo>
                    <a:pt x="1747069" y="587109"/>
                  </a:lnTo>
                  <a:lnTo>
                    <a:pt x="1748789" y="626745"/>
                  </a:lnTo>
                  <a:lnTo>
                    <a:pt x="1747069" y="666380"/>
                  </a:lnTo>
                  <a:lnTo>
                    <a:pt x="1741977" y="705361"/>
                  </a:lnTo>
                  <a:lnTo>
                    <a:pt x="1733614" y="743614"/>
                  </a:lnTo>
                  <a:lnTo>
                    <a:pt x="1722085" y="781064"/>
                  </a:lnTo>
                  <a:lnTo>
                    <a:pt x="1707490" y="817640"/>
                  </a:lnTo>
                  <a:lnTo>
                    <a:pt x="1689933" y="853266"/>
                  </a:lnTo>
                  <a:lnTo>
                    <a:pt x="1669516" y="887870"/>
                  </a:lnTo>
                  <a:lnTo>
                    <a:pt x="1646341" y="921379"/>
                  </a:lnTo>
                  <a:lnTo>
                    <a:pt x="1620511" y="953719"/>
                  </a:lnTo>
                  <a:lnTo>
                    <a:pt x="1592128" y="984816"/>
                  </a:lnTo>
                  <a:lnTo>
                    <a:pt x="1561294" y="1014597"/>
                  </a:lnTo>
                  <a:lnTo>
                    <a:pt x="1528113" y="1042990"/>
                  </a:lnTo>
                  <a:lnTo>
                    <a:pt x="1492686" y="1069919"/>
                  </a:lnTo>
                  <a:lnTo>
                    <a:pt x="1455116" y="1095312"/>
                  </a:lnTo>
                  <a:lnTo>
                    <a:pt x="1415505" y="1119096"/>
                  </a:lnTo>
                  <a:lnTo>
                    <a:pt x="1373956" y="1141197"/>
                  </a:lnTo>
                  <a:lnTo>
                    <a:pt x="1330571" y="1161541"/>
                  </a:lnTo>
                  <a:lnTo>
                    <a:pt x="1285453" y="1180056"/>
                  </a:lnTo>
                  <a:lnTo>
                    <a:pt x="1238704" y="1196667"/>
                  </a:lnTo>
                  <a:lnTo>
                    <a:pt x="1190426" y="1211302"/>
                  </a:lnTo>
                  <a:lnTo>
                    <a:pt x="1140722" y="1223887"/>
                  </a:lnTo>
                  <a:lnTo>
                    <a:pt x="1089694" y="1234348"/>
                  </a:lnTo>
                  <a:lnTo>
                    <a:pt x="1037445" y="1242612"/>
                  </a:lnTo>
                  <a:lnTo>
                    <a:pt x="984077" y="1248606"/>
                  </a:lnTo>
                  <a:lnTo>
                    <a:pt x="929693" y="1252256"/>
                  </a:lnTo>
                  <a:lnTo>
                    <a:pt x="874394" y="1253490"/>
                  </a:lnTo>
                  <a:lnTo>
                    <a:pt x="819096" y="1252256"/>
                  </a:lnTo>
                  <a:lnTo>
                    <a:pt x="764712" y="1248606"/>
                  </a:lnTo>
                  <a:lnTo>
                    <a:pt x="711344" y="1242612"/>
                  </a:lnTo>
                  <a:lnTo>
                    <a:pt x="659095" y="1234348"/>
                  </a:lnTo>
                  <a:lnTo>
                    <a:pt x="608067" y="1223887"/>
                  </a:lnTo>
                  <a:lnTo>
                    <a:pt x="558363" y="1211302"/>
                  </a:lnTo>
                  <a:lnTo>
                    <a:pt x="510085" y="1196667"/>
                  </a:lnTo>
                  <a:lnTo>
                    <a:pt x="463336" y="1180056"/>
                  </a:lnTo>
                  <a:lnTo>
                    <a:pt x="418218" y="1161541"/>
                  </a:lnTo>
                  <a:lnTo>
                    <a:pt x="374833" y="1141197"/>
                  </a:lnTo>
                  <a:lnTo>
                    <a:pt x="333284" y="1119096"/>
                  </a:lnTo>
                  <a:lnTo>
                    <a:pt x="293673" y="1095312"/>
                  </a:lnTo>
                  <a:lnTo>
                    <a:pt x="256103" y="1069919"/>
                  </a:lnTo>
                  <a:lnTo>
                    <a:pt x="220676" y="1042990"/>
                  </a:lnTo>
                  <a:lnTo>
                    <a:pt x="187495" y="1014597"/>
                  </a:lnTo>
                  <a:lnTo>
                    <a:pt x="156661" y="984816"/>
                  </a:lnTo>
                  <a:lnTo>
                    <a:pt x="128278" y="953719"/>
                  </a:lnTo>
                  <a:lnTo>
                    <a:pt x="102448" y="921379"/>
                  </a:lnTo>
                  <a:lnTo>
                    <a:pt x="79273" y="887870"/>
                  </a:lnTo>
                  <a:lnTo>
                    <a:pt x="58856" y="853266"/>
                  </a:lnTo>
                  <a:lnTo>
                    <a:pt x="41299" y="817640"/>
                  </a:lnTo>
                  <a:lnTo>
                    <a:pt x="26704" y="781064"/>
                  </a:lnTo>
                  <a:lnTo>
                    <a:pt x="15175" y="743614"/>
                  </a:lnTo>
                  <a:lnTo>
                    <a:pt x="6812" y="705361"/>
                  </a:lnTo>
                  <a:lnTo>
                    <a:pt x="1720" y="666380"/>
                  </a:lnTo>
                  <a:lnTo>
                    <a:pt x="0" y="626745"/>
                  </a:lnTo>
                  <a:close/>
                </a:path>
              </a:pathLst>
            </a:custGeom>
            <a:ln w="25145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033114" y="1161097"/>
            <a:ext cx="11480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7686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Carlito"/>
                <a:cs typeface="Carlito"/>
              </a:rPr>
              <a:t>Siloed,  </a:t>
            </a:r>
            <a:r>
              <a:rPr dirty="0" sz="1600" b="1">
                <a:latin typeface="Carlito"/>
                <a:cs typeface="Carlito"/>
              </a:rPr>
              <a:t>Analog,</a:t>
            </a:r>
            <a:r>
              <a:rPr dirty="0" sz="1600" spc="-60" b="1">
                <a:latin typeface="Carlito"/>
                <a:cs typeface="Carlito"/>
              </a:rPr>
              <a:t> </a:t>
            </a:r>
            <a:r>
              <a:rPr dirty="0" sz="1600" spc="-20" b="1">
                <a:latin typeface="Carlito"/>
                <a:cs typeface="Carlito"/>
              </a:rPr>
              <a:t>State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23909" y="5170932"/>
            <a:ext cx="1957705" cy="1321435"/>
            <a:chOff x="8423909" y="5170932"/>
            <a:chExt cx="1957705" cy="1321435"/>
          </a:xfrm>
        </p:grpSpPr>
        <p:sp>
          <p:nvSpPr>
            <p:cNvPr id="12" name="object 12"/>
            <p:cNvSpPr/>
            <p:nvPr/>
          </p:nvSpPr>
          <p:spPr>
            <a:xfrm>
              <a:off x="8423909" y="5170932"/>
              <a:ext cx="1957577" cy="13213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84638" y="6180848"/>
              <a:ext cx="101193" cy="6907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718041" y="6218961"/>
              <a:ext cx="49377" cy="3096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461628" y="5208651"/>
              <a:ext cx="1828800" cy="1192530"/>
            </a:xfrm>
            <a:custGeom>
              <a:avLst/>
              <a:gdLst/>
              <a:ahLst/>
              <a:cxnLst/>
              <a:rect l="l" t="t" r="r" b="b"/>
              <a:pathLst>
                <a:path w="1828800" h="1192529">
                  <a:moveTo>
                    <a:pt x="914400" y="0"/>
                  </a:moveTo>
                  <a:lnTo>
                    <a:pt x="856571" y="1173"/>
                  </a:lnTo>
                  <a:lnTo>
                    <a:pt x="799698" y="4645"/>
                  </a:lnTo>
                  <a:lnTo>
                    <a:pt x="743888" y="10348"/>
                  </a:lnTo>
                  <a:lnTo>
                    <a:pt x="689248" y="18210"/>
                  </a:lnTo>
                  <a:lnTo>
                    <a:pt x="635886" y="28162"/>
                  </a:lnTo>
                  <a:lnTo>
                    <a:pt x="583908" y="40135"/>
                  </a:lnTo>
                  <a:lnTo>
                    <a:pt x="533421" y="54057"/>
                  </a:lnTo>
                  <a:lnTo>
                    <a:pt x="484533" y="69861"/>
                  </a:lnTo>
                  <a:lnTo>
                    <a:pt x="437350" y="87475"/>
                  </a:lnTo>
                  <a:lnTo>
                    <a:pt x="391980" y="106830"/>
                  </a:lnTo>
                  <a:lnTo>
                    <a:pt x="348530" y="127855"/>
                  </a:lnTo>
                  <a:lnTo>
                    <a:pt x="307108" y="150482"/>
                  </a:lnTo>
                  <a:lnTo>
                    <a:pt x="267819" y="174640"/>
                  </a:lnTo>
                  <a:lnTo>
                    <a:pt x="230771" y="200260"/>
                  </a:lnTo>
                  <a:lnTo>
                    <a:pt x="196072" y="227271"/>
                  </a:lnTo>
                  <a:lnTo>
                    <a:pt x="163828" y="255604"/>
                  </a:lnTo>
                  <a:lnTo>
                    <a:pt x="134146" y="285189"/>
                  </a:lnTo>
                  <a:lnTo>
                    <a:pt x="107135" y="315956"/>
                  </a:lnTo>
                  <a:lnTo>
                    <a:pt x="82899" y="347835"/>
                  </a:lnTo>
                  <a:lnTo>
                    <a:pt x="61548" y="380757"/>
                  </a:lnTo>
                  <a:lnTo>
                    <a:pt x="43188" y="414651"/>
                  </a:lnTo>
                  <a:lnTo>
                    <a:pt x="15869" y="485077"/>
                  </a:lnTo>
                  <a:lnTo>
                    <a:pt x="1798" y="558555"/>
                  </a:lnTo>
                  <a:lnTo>
                    <a:pt x="0" y="596265"/>
                  </a:lnTo>
                  <a:lnTo>
                    <a:pt x="1798" y="633974"/>
                  </a:lnTo>
                  <a:lnTo>
                    <a:pt x="15869" y="707452"/>
                  </a:lnTo>
                  <a:lnTo>
                    <a:pt x="43188" y="777878"/>
                  </a:lnTo>
                  <a:lnTo>
                    <a:pt x="61548" y="811772"/>
                  </a:lnTo>
                  <a:lnTo>
                    <a:pt x="82899" y="844694"/>
                  </a:lnTo>
                  <a:lnTo>
                    <a:pt x="107135" y="876573"/>
                  </a:lnTo>
                  <a:lnTo>
                    <a:pt x="134146" y="907340"/>
                  </a:lnTo>
                  <a:lnTo>
                    <a:pt x="163828" y="936925"/>
                  </a:lnTo>
                  <a:lnTo>
                    <a:pt x="196072" y="965258"/>
                  </a:lnTo>
                  <a:lnTo>
                    <a:pt x="230771" y="992269"/>
                  </a:lnTo>
                  <a:lnTo>
                    <a:pt x="267819" y="1017889"/>
                  </a:lnTo>
                  <a:lnTo>
                    <a:pt x="307108" y="1042047"/>
                  </a:lnTo>
                  <a:lnTo>
                    <a:pt x="348530" y="1064674"/>
                  </a:lnTo>
                  <a:lnTo>
                    <a:pt x="391980" y="1085699"/>
                  </a:lnTo>
                  <a:lnTo>
                    <a:pt x="437350" y="1105054"/>
                  </a:lnTo>
                  <a:lnTo>
                    <a:pt x="484533" y="1122668"/>
                  </a:lnTo>
                  <a:lnTo>
                    <a:pt x="533421" y="1138472"/>
                  </a:lnTo>
                  <a:lnTo>
                    <a:pt x="583908" y="1152394"/>
                  </a:lnTo>
                  <a:lnTo>
                    <a:pt x="635886" y="1164367"/>
                  </a:lnTo>
                  <a:lnTo>
                    <a:pt x="689248" y="1174319"/>
                  </a:lnTo>
                  <a:lnTo>
                    <a:pt x="743888" y="1182181"/>
                  </a:lnTo>
                  <a:lnTo>
                    <a:pt x="799698" y="1187884"/>
                  </a:lnTo>
                  <a:lnTo>
                    <a:pt x="856571" y="1191356"/>
                  </a:lnTo>
                  <a:lnTo>
                    <a:pt x="914400" y="1192530"/>
                  </a:lnTo>
                  <a:lnTo>
                    <a:pt x="972228" y="1191356"/>
                  </a:lnTo>
                  <a:lnTo>
                    <a:pt x="1029101" y="1187884"/>
                  </a:lnTo>
                  <a:lnTo>
                    <a:pt x="1084911" y="1182181"/>
                  </a:lnTo>
                  <a:lnTo>
                    <a:pt x="1139551" y="1174319"/>
                  </a:lnTo>
                  <a:lnTo>
                    <a:pt x="1192913" y="1164367"/>
                  </a:lnTo>
                  <a:lnTo>
                    <a:pt x="1244891" y="1152394"/>
                  </a:lnTo>
                  <a:lnTo>
                    <a:pt x="1295378" y="1138472"/>
                  </a:lnTo>
                  <a:lnTo>
                    <a:pt x="1344266" y="1122668"/>
                  </a:lnTo>
                  <a:lnTo>
                    <a:pt x="1391449" y="1105054"/>
                  </a:lnTo>
                  <a:lnTo>
                    <a:pt x="1436819" y="1085699"/>
                  </a:lnTo>
                  <a:lnTo>
                    <a:pt x="1480269" y="1064674"/>
                  </a:lnTo>
                  <a:lnTo>
                    <a:pt x="1521691" y="1042047"/>
                  </a:lnTo>
                  <a:lnTo>
                    <a:pt x="1560980" y="1017889"/>
                  </a:lnTo>
                  <a:lnTo>
                    <a:pt x="1598028" y="992269"/>
                  </a:lnTo>
                  <a:lnTo>
                    <a:pt x="1632727" y="965258"/>
                  </a:lnTo>
                  <a:lnTo>
                    <a:pt x="1664971" y="936925"/>
                  </a:lnTo>
                  <a:lnTo>
                    <a:pt x="1694653" y="907340"/>
                  </a:lnTo>
                  <a:lnTo>
                    <a:pt x="1721664" y="876573"/>
                  </a:lnTo>
                  <a:lnTo>
                    <a:pt x="1745900" y="844694"/>
                  </a:lnTo>
                  <a:lnTo>
                    <a:pt x="1767251" y="811772"/>
                  </a:lnTo>
                  <a:lnTo>
                    <a:pt x="1785611" y="777878"/>
                  </a:lnTo>
                  <a:lnTo>
                    <a:pt x="1812930" y="707452"/>
                  </a:lnTo>
                  <a:lnTo>
                    <a:pt x="1827001" y="633974"/>
                  </a:lnTo>
                  <a:lnTo>
                    <a:pt x="1828800" y="596265"/>
                  </a:lnTo>
                  <a:lnTo>
                    <a:pt x="1827001" y="558555"/>
                  </a:lnTo>
                  <a:lnTo>
                    <a:pt x="1812930" y="485077"/>
                  </a:lnTo>
                  <a:lnTo>
                    <a:pt x="1785611" y="414651"/>
                  </a:lnTo>
                  <a:lnTo>
                    <a:pt x="1767251" y="380757"/>
                  </a:lnTo>
                  <a:lnTo>
                    <a:pt x="1745900" y="347835"/>
                  </a:lnTo>
                  <a:lnTo>
                    <a:pt x="1721664" y="315956"/>
                  </a:lnTo>
                  <a:lnTo>
                    <a:pt x="1694653" y="285189"/>
                  </a:lnTo>
                  <a:lnTo>
                    <a:pt x="1664971" y="255604"/>
                  </a:lnTo>
                  <a:lnTo>
                    <a:pt x="1632727" y="227271"/>
                  </a:lnTo>
                  <a:lnTo>
                    <a:pt x="1598028" y="200260"/>
                  </a:lnTo>
                  <a:lnTo>
                    <a:pt x="1560980" y="174640"/>
                  </a:lnTo>
                  <a:lnTo>
                    <a:pt x="1521691" y="150482"/>
                  </a:lnTo>
                  <a:lnTo>
                    <a:pt x="1480269" y="127855"/>
                  </a:lnTo>
                  <a:lnTo>
                    <a:pt x="1436819" y="106830"/>
                  </a:lnTo>
                  <a:lnTo>
                    <a:pt x="1391449" y="87475"/>
                  </a:lnTo>
                  <a:lnTo>
                    <a:pt x="1344266" y="69861"/>
                  </a:lnTo>
                  <a:lnTo>
                    <a:pt x="1295378" y="54057"/>
                  </a:lnTo>
                  <a:lnTo>
                    <a:pt x="1244891" y="40135"/>
                  </a:lnTo>
                  <a:lnTo>
                    <a:pt x="1192913" y="28162"/>
                  </a:lnTo>
                  <a:lnTo>
                    <a:pt x="1139551" y="18210"/>
                  </a:lnTo>
                  <a:lnTo>
                    <a:pt x="1084911" y="10348"/>
                  </a:lnTo>
                  <a:lnTo>
                    <a:pt x="1029101" y="4645"/>
                  </a:lnTo>
                  <a:lnTo>
                    <a:pt x="972228" y="1173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461628" y="5208651"/>
              <a:ext cx="1828800" cy="1192530"/>
            </a:xfrm>
            <a:custGeom>
              <a:avLst/>
              <a:gdLst/>
              <a:ahLst/>
              <a:cxnLst/>
              <a:rect l="l" t="t" r="r" b="b"/>
              <a:pathLst>
                <a:path w="1828800" h="1192529">
                  <a:moveTo>
                    <a:pt x="0" y="596265"/>
                  </a:moveTo>
                  <a:lnTo>
                    <a:pt x="7124" y="521470"/>
                  </a:lnTo>
                  <a:lnTo>
                    <a:pt x="27926" y="449448"/>
                  </a:lnTo>
                  <a:lnTo>
                    <a:pt x="61548" y="380757"/>
                  </a:lnTo>
                  <a:lnTo>
                    <a:pt x="82899" y="347835"/>
                  </a:lnTo>
                  <a:lnTo>
                    <a:pt x="107135" y="315956"/>
                  </a:lnTo>
                  <a:lnTo>
                    <a:pt x="134146" y="285189"/>
                  </a:lnTo>
                  <a:lnTo>
                    <a:pt x="163828" y="255604"/>
                  </a:lnTo>
                  <a:lnTo>
                    <a:pt x="196072" y="227271"/>
                  </a:lnTo>
                  <a:lnTo>
                    <a:pt x="230771" y="200260"/>
                  </a:lnTo>
                  <a:lnTo>
                    <a:pt x="267819" y="174640"/>
                  </a:lnTo>
                  <a:lnTo>
                    <a:pt x="307108" y="150482"/>
                  </a:lnTo>
                  <a:lnTo>
                    <a:pt x="348530" y="127855"/>
                  </a:lnTo>
                  <a:lnTo>
                    <a:pt x="391980" y="106830"/>
                  </a:lnTo>
                  <a:lnTo>
                    <a:pt x="437350" y="87475"/>
                  </a:lnTo>
                  <a:lnTo>
                    <a:pt x="484533" y="69861"/>
                  </a:lnTo>
                  <a:lnTo>
                    <a:pt x="533421" y="54057"/>
                  </a:lnTo>
                  <a:lnTo>
                    <a:pt x="583908" y="40135"/>
                  </a:lnTo>
                  <a:lnTo>
                    <a:pt x="635886" y="28162"/>
                  </a:lnTo>
                  <a:lnTo>
                    <a:pt x="689248" y="18210"/>
                  </a:lnTo>
                  <a:lnTo>
                    <a:pt x="743888" y="10348"/>
                  </a:lnTo>
                  <a:lnTo>
                    <a:pt x="799698" y="4645"/>
                  </a:lnTo>
                  <a:lnTo>
                    <a:pt x="856571" y="1173"/>
                  </a:lnTo>
                  <a:lnTo>
                    <a:pt x="914400" y="0"/>
                  </a:lnTo>
                  <a:lnTo>
                    <a:pt x="972228" y="1173"/>
                  </a:lnTo>
                  <a:lnTo>
                    <a:pt x="1029101" y="4645"/>
                  </a:lnTo>
                  <a:lnTo>
                    <a:pt x="1084911" y="10348"/>
                  </a:lnTo>
                  <a:lnTo>
                    <a:pt x="1139551" y="18210"/>
                  </a:lnTo>
                  <a:lnTo>
                    <a:pt x="1192913" y="28162"/>
                  </a:lnTo>
                  <a:lnTo>
                    <a:pt x="1244891" y="40135"/>
                  </a:lnTo>
                  <a:lnTo>
                    <a:pt x="1295378" y="54057"/>
                  </a:lnTo>
                  <a:lnTo>
                    <a:pt x="1344266" y="69861"/>
                  </a:lnTo>
                  <a:lnTo>
                    <a:pt x="1391449" y="87475"/>
                  </a:lnTo>
                  <a:lnTo>
                    <a:pt x="1436819" y="106830"/>
                  </a:lnTo>
                  <a:lnTo>
                    <a:pt x="1480269" y="127855"/>
                  </a:lnTo>
                  <a:lnTo>
                    <a:pt x="1521691" y="150482"/>
                  </a:lnTo>
                  <a:lnTo>
                    <a:pt x="1560980" y="174640"/>
                  </a:lnTo>
                  <a:lnTo>
                    <a:pt x="1598028" y="200260"/>
                  </a:lnTo>
                  <a:lnTo>
                    <a:pt x="1632727" y="227271"/>
                  </a:lnTo>
                  <a:lnTo>
                    <a:pt x="1664971" y="255604"/>
                  </a:lnTo>
                  <a:lnTo>
                    <a:pt x="1694653" y="285189"/>
                  </a:lnTo>
                  <a:lnTo>
                    <a:pt x="1721664" y="315956"/>
                  </a:lnTo>
                  <a:lnTo>
                    <a:pt x="1745900" y="347835"/>
                  </a:lnTo>
                  <a:lnTo>
                    <a:pt x="1767251" y="380757"/>
                  </a:lnTo>
                  <a:lnTo>
                    <a:pt x="1785611" y="414651"/>
                  </a:lnTo>
                  <a:lnTo>
                    <a:pt x="1812930" y="485077"/>
                  </a:lnTo>
                  <a:lnTo>
                    <a:pt x="1827001" y="558555"/>
                  </a:lnTo>
                  <a:lnTo>
                    <a:pt x="1828800" y="596265"/>
                  </a:lnTo>
                  <a:lnTo>
                    <a:pt x="1827001" y="633974"/>
                  </a:lnTo>
                  <a:lnTo>
                    <a:pt x="1812930" y="707452"/>
                  </a:lnTo>
                  <a:lnTo>
                    <a:pt x="1785611" y="777878"/>
                  </a:lnTo>
                  <a:lnTo>
                    <a:pt x="1767251" y="811772"/>
                  </a:lnTo>
                  <a:lnTo>
                    <a:pt x="1745900" y="844694"/>
                  </a:lnTo>
                  <a:lnTo>
                    <a:pt x="1721664" y="876573"/>
                  </a:lnTo>
                  <a:lnTo>
                    <a:pt x="1694653" y="907340"/>
                  </a:lnTo>
                  <a:lnTo>
                    <a:pt x="1664971" y="936925"/>
                  </a:lnTo>
                  <a:lnTo>
                    <a:pt x="1632727" y="965258"/>
                  </a:lnTo>
                  <a:lnTo>
                    <a:pt x="1598028" y="992269"/>
                  </a:lnTo>
                  <a:lnTo>
                    <a:pt x="1560980" y="1017889"/>
                  </a:lnTo>
                  <a:lnTo>
                    <a:pt x="1521691" y="1042047"/>
                  </a:lnTo>
                  <a:lnTo>
                    <a:pt x="1480269" y="1064674"/>
                  </a:lnTo>
                  <a:lnTo>
                    <a:pt x="1436819" y="1085699"/>
                  </a:lnTo>
                  <a:lnTo>
                    <a:pt x="1391449" y="1105054"/>
                  </a:lnTo>
                  <a:lnTo>
                    <a:pt x="1344266" y="1122668"/>
                  </a:lnTo>
                  <a:lnTo>
                    <a:pt x="1295378" y="1138472"/>
                  </a:lnTo>
                  <a:lnTo>
                    <a:pt x="1244891" y="1152394"/>
                  </a:lnTo>
                  <a:lnTo>
                    <a:pt x="1192913" y="1164367"/>
                  </a:lnTo>
                  <a:lnTo>
                    <a:pt x="1139551" y="1174319"/>
                  </a:lnTo>
                  <a:lnTo>
                    <a:pt x="1084911" y="1182181"/>
                  </a:lnTo>
                  <a:lnTo>
                    <a:pt x="1029101" y="1187884"/>
                  </a:lnTo>
                  <a:lnTo>
                    <a:pt x="972228" y="1191356"/>
                  </a:lnTo>
                  <a:lnTo>
                    <a:pt x="914400" y="1192530"/>
                  </a:lnTo>
                  <a:lnTo>
                    <a:pt x="856571" y="1191356"/>
                  </a:lnTo>
                  <a:lnTo>
                    <a:pt x="799698" y="1187884"/>
                  </a:lnTo>
                  <a:lnTo>
                    <a:pt x="743888" y="1182181"/>
                  </a:lnTo>
                  <a:lnTo>
                    <a:pt x="689248" y="1174319"/>
                  </a:lnTo>
                  <a:lnTo>
                    <a:pt x="635886" y="1164367"/>
                  </a:lnTo>
                  <a:lnTo>
                    <a:pt x="583908" y="1152394"/>
                  </a:lnTo>
                  <a:lnTo>
                    <a:pt x="533421" y="1138472"/>
                  </a:lnTo>
                  <a:lnTo>
                    <a:pt x="484533" y="1122668"/>
                  </a:lnTo>
                  <a:lnTo>
                    <a:pt x="437350" y="1105054"/>
                  </a:lnTo>
                  <a:lnTo>
                    <a:pt x="391980" y="1085699"/>
                  </a:lnTo>
                  <a:lnTo>
                    <a:pt x="348530" y="1064674"/>
                  </a:lnTo>
                  <a:lnTo>
                    <a:pt x="307108" y="1042047"/>
                  </a:lnTo>
                  <a:lnTo>
                    <a:pt x="267819" y="1017889"/>
                  </a:lnTo>
                  <a:lnTo>
                    <a:pt x="230771" y="992269"/>
                  </a:lnTo>
                  <a:lnTo>
                    <a:pt x="196072" y="965258"/>
                  </a:lnTo>
                  <a:lnTo>
                    <a:pt x="163828" y="936925"/>
                  </a:lnTo>
                  <a:lnTo>
                    <a:pt x="134146" y="907340"/>
                  </a:lnTo>
                  <a:lnTo>
                    <a:pt x="107135" y="876573"/>
                  </a:lnTo>
                  <a:lnTo>
                    <a:pt x="82899" y="844694"/>
                  </a:lnTo>
                  <a:lnTo>
                    <a:pt x="61548" y="811772"/>
                  </a:lnTo>
                  <a:lnTo>
                    <a:pt x="43188" y="777878"/>
                  </a:lnTo>
                  <a:lnTo>
                    <a:pt x="15869" y="707452"/>
                  </a:lnTo>
                  <a:lnTo>
                    <a:pt x="1798" y="633974"/>
                  </a:lnTo>
                  <a:lnTo>
                    <a:pt x="0" y="596265"/>
                  </a:lnTo>
                  <a:close/>
                </a:path>
              </a:pathLst>
            </a:custGeom>
            <a:ln w="25146">
              <a:solidFill>
                <a:srgbClr val="2D830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852513" y="5535226"/>
            <a:ext cx="104394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6990">
              <a:lnSpc>
                <a:spcPct val="100000"/>
              </a:lnSpc>
              <a:spcBef>
                <a:spcPts val="100"/>
              </a:spcBef>
            </a:pPr>
            <a:r>
              <a:rPr dirty="0" sz="1600" spc="-15" b="1">
                <a:solidFill>
                  <a:srgbClr val="2D830B"/>
                </a:solidFill>
                <a:latin typeface="Carlito"/>
                <a:cs typeface="Carlito"/>
              </a:rPr>
              <a:t>Integrated,  </a:t>
            </a:r>
            <a:r>
              <a:rPr dirty="0" sz="1600" spc="-5" b="1">
                <a:solidFill>
                  <a:srgbClr val="2D830B"/>
                </a:solidFill>
                <a:latin typeface="Carlito"/>
                <a:cs typeface="Carlito"/>
              </a:rPr>
              <a:t>Digital</a:t>
            </a:r>
            <a:r>
              <a:rPr dirty="0" sz="1600" spc="-90" b="1">
                <a:solidFill>
                  <a:srgbClr val="2D830B"/>
                </a:solidFill>
                <a:latin typeface="Carlito"/>
                <a:cs typeface="Carlito"/>
              </a:rPr>
              <a:t> </a:t>
            </a:r>
            <a:r>
              <a:rPr dirty="0" sz="1600" spc="-20" b="1">
                <a:solidFill>
                  <a:srgbClr val="2D830B"/>
                </a:solidFill>
                <a:latin typeface="Carlito"/>
                <a:cs typeface="Carlito"/>
              </a:rPr>
              <a:t>State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94784" y="1737741"/>
            <a:ext cx="1856739" cy="306070"/>
          </a:xfrm>
          <a:prstGeom prst="rect">
            <a:avLst/>
          </a:prstGeom>
          <a:solidFill>
            <a:srgbClr val="92D050"/>
          </a:solidFill>
          <a:ln w="12953">
            <a:solidFill>
              <a:srgbClr val="414042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265"/>
              </a:spcBef>
            </a:pPr>
            <a:r>
              <a:rPr dirty="0" sz="1400" spc="-5">
                <a:latin typeface="Carlito"/>
                <a:cs typeface="Carlito"/>
              </a:rPr>
              <a:t>Compelling</a:t>
            </a:r>
            <a:r>
              <a:rPr dirty="0" sz="1400">
                <a:latin typeface="Carlito"/>
                <a:cs typeface="Carlito"/>
              </a:rPr>
              <a:t> </a:t>
            </a:r>
            <a:r>
              <a:rPr dirty="0" sz="1400" spc="-5">
                <a:latin typeface="Carlito"/>
                <a:cs typeface="Carlito"/>
              </a:rPr>
              <a:t>Vision/ROI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94784" y="2043683"/>
            <a:ext cx="1856739" cy="306070"/>
          </a:xfrm>
          <a:prstGeom prst="rect">
            <a:avLst/>
          </a:prstGeom>
          <a:solidFill>
            <a:srgbClr val="FFFF00"/>
          </a:solidFill>
          <a:ln w="12953">
            <a:solidFill>
              <a:srgbClr val="414042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306705">
              <a:lnSpc>
                <a:spcPct val="100000"/>
              </a:lnSpc>
              <a:spcBef>
                <a:spcPts val="275"/>
              </a:spcBef>
            </a:pPr>
            <a:r>
              <a:rPr dirty="0" sz="1400" spc="-5">
                <a:latin typeface="Carlito"/>
                <a:cs typeface="Carlito"/>
              </a:rPr>
              <a:t>Siloed, </a:t>
            </a:r>
            <a:r>
              <a:rPr dirty="0" sz="1400" spc="-10">
                <a:latin typeface="Carlito"/>
                <a:cs typeface="Carlito"/>
              </a:rPr>
              <a:t>fuzzy</a:t>
            </a:r>
            <a:r>
              <a:rPr dirty="0" sz="1400">
                <a:latin typeface="Carlito"/>
                <a:cs typeface="Carlito"/>
              </a:rPr>
              <a:t> </a:t>
            </a:r>
            <a:r>
              <a:rPr dirty="0" sz="1400" spc="-5">
                <a:latin typeface="Carlito"/>
                <a:cs typeface="Carlito"/>
              </a:rPr>
              <a:t>plan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59983" y="4722495"/>
            <a:ext cx="2564130" cy="306070"/>
          </a:xfrm>
          <a:prstGeom prst="rect">
            <a:avLst/>
          </a:prstGeom>
          <a:solidFill>
            <a:srgbClr val="92D050"/>
          </a:solidFill>
          <a:ln w="12953">
            <a:solidFill>
              <a:srgbClr val="414042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800100">
              <a:lnSpc>
                <a:spcPct val="100000"/>
              </a:lnSpc>
              <a:spcBef>
                <a:spcPts val="260"/>
              </a:spcBef>
            </a:pPr>
            <a:r>
              <a:rPr dirty="0" sz="1400" spc="-30">
                <a:latin typeface="Carlito"/>
                <a:cs typeface="Carlito"/>
              </a:rPr>
              <a:t>Years</a:t>
            </a:r>
            <a:r>
              <a:rPr dirty="0" sz="1400" spc="5">
                <a:latin typeface="Carlito"/>
                <a:cs typeface="Carlito"/>
              </a:rPr>
              <a:t> </a:t>
            </a:r>
            <a:r>
              <a:rPr dirty="0" sz="1400" spc="-5">
                <a:latin typeface="Carlito"/>
                <a:cs typeface="Carlito"/>
              </a:rPr>
              <a:t>needed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59983" y="5029580"/>
            <a:ext cx="2564130" cy="304800"/>
          </a:xfrm>
          <a:custGeom>
            <a:avLst/>
            <a:gdLst/>
            <a:ahLst/>
            <a:cxnLst/>
            <a:rect l="l" t="t" r="r" b="b"/>
            <a:pathLst>
              <a:path w="2564129" h="304800">
                <a:moveTo>
                  <a:pt x="2564130" y="0"/>
                </a:moveTo>
                <a:lnTo>
                  <a:pt x="0" y="0"/>
                </a:lnTo>
                <a:lnTo>
                  <a:pt x="0" y="304800"/>
                </a:lnTo>
                <a:lnTo>
                  <a:pt x="2564130" y="304800"/>
                </a:lnTo>
                <a:lnTo>
                  <a:pt x="256413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59983" y="5028438"/>
            <a:ext cx="2564130" cy="306070"/>
          </a:xfrm>
          <a:prstGeom prst="rect">
            <a:avLst/>
          </a:prstGeom>
          <a:ln w="12953">
            <a:solidFill>
              <a:srgbClr val="414042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275"/>
              </a:spcBef>
            </a:pPr>
            <a:r>
              <a:rPr dirty="0" sz="1400" spc="-10">
                <a:latin typeface="Carlito"/>
                <a:cs typeface="Carlito"/>
              </a:rPr>
              <a:t>Months promised </a:t>
            </a:r>
            <a:r>
              <a:rPr dirty="0" sz="1400" spc="-5">
                <a:latin typeface="Carlito"/>
                <a:cs typeface="Carlito"/>
              </a:rPr>
              <a:t>and</a:t>
            </a:r>
            <a:r>
              <a:rPr dirty="0" sz="1400" spc="50">
                <a:latin typeface="Carlito"/>
                <a:cs typeface="Carlito"/>
              </a:rPr>
              <a:t> </a:t>
            </a:r>
            <a:r>
              <a:rPr dirty="0" sz="1400" spc="-10">
                <a:latin typeface="Carlito"/>
                <a:cs typeface="Carlito"/>
              </a:rPr>
              <a:t>budgeted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18029" y="2603373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600199" y="0"/>
                </a:moveTo>
                <a:lnTo>
                  <a:pt x="0" y="0"/>
                </a:lnTo>
                <a:lnTo>
                  <a:pt x="0" y="304800"/>
                </a:lnTo>
                <a:lnTo>
                  <a:pt x="1600199" y="304800"/>
                </a:lnTo>
                <a:lnTo>
                  <a:pt x="1600199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518029" y="2603373"/>
            <a:ext cx="1600200" cy="306070"/>
          </a:xfrm>
          <a:prstGeom prst="rect">
            <a:avLst/>
          </a:prstGeom>
          <a:ln w="12953">
            <a:solidFill>
              <a:srgbClr val="414042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219075">
              <a:lnSpc>
                <a:spcPct val="100000"/>
              </a:lnSpc>
              <a:spcBef>
                <a:spcPts val="260"/>
              </a:spcBef>
            </a:pPr>
            <a:r>
              <a:rPr dirty="0" sz="1400" spc="-10">
                <a:latin typeface="Carlito"/>
                <a:cs typeface="Carlito"/>
              </a:rPr>
              <a:t>Engaged</a:t>
            </a:r>
            <a:r>
              <a:rPr dirty="0" sz="1400" spc="5">
                <a:latin typeface="Carlito"/>
                <a:cs typeface="Carlito"/>
              </a:rPr>
              <a:t> </a:t>
            </a:r>
            <a:r>
              <a:rPr dirty="0" sz="1400" spc="-10">
                <a:latin typeface="Carlito"/>
                <a:cs typeface="Carlito"/>
              </a:rPr>
              <a:t>C-Suite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18029" y="2910458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600199" y="0"/>
                </a:moveTo>
                <a:lnTo>
                  <a:pt x="0" y="0"/>
                </a:lnTo>
                <a:lnTo>
                  <a:pt x="0" y="304800"/>
                </a:lnTo>
                <a:lnTo>
                  <a:pt x="1600199" y="304800"/>
                </a:lnTo>
                <a:lnTo>
                  <a:pt x="160019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518029" y="2909316"/>
            <a:ext cx="1600200" cy="306070"/>
          </a:xfrm>
          <a:prstGeom prst="rect">
            <a:avLst/>
          </a:prstGeom>
          <a:ln w="12953">
            <a:solidFill>
              <a:srgbClr val="414042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270"/>
              </a:spcBef>
            </a:pPr>
            <a:r>
              <a:rPr dirty="0" sz="1400" spc="-10">
                <a:latin typeface="Carlito"/>
                <a:cs typeface="Carlito"/>
              </a:rPr>
              <a:t>Delegated</a:t>
            </a:r>
            <a:r>
              <a:rPr dirty="0" sz="1400" spc="5">
                <a:latin typeface="Carlito"/>
                <a:cs typeface="Carlito"/>
              </a:rPr>
              <a:t> </a:t>
            </a:r>
            <a:r>
              <a:rPr dirty="0" sz="1400" spc="-10">
                <a:latin typeface="Carlito"/>
                <a:cs typeface="Carlito"/>
              </a:rPr>
              <a:t>project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09413" y="2626995"/>
            <a:ext cx="2322195" cy="304800"/>
          </a:xfrm>
          <a:custGeom>
            <a:avLst/>
            <a:gdLst/>
            <a:ahLst/>
            <a:cxnLst/>
            <a:rect l="l" t="t" r="r" b="b"/>
            <a:pathLst>
              <a:path w="2322195" h="304800">
                <a:moveTo>
                  <a:pt x="0" y="0"/>
                </a:moveTo>
                <a:lnTo>
                  <a:pt x="2321814" y="0"/>
                </a:lnTo>
                <a:lnTo>
                  <a:pt x="2321814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12954">
            <a:solidFill>
              <a:srgbClr val="4140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215890" y="2633472"/>
            <a:ext cx="2308860" cy="29210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27305" rIns="0" bIns="0" rtlCol="0" vert="horz">
            <a:spAutoFit/>
          </a:bodyPr>
          <a:lstStyle/>
          <a:p>
            <a:pPr marL="187960">
              <a:lnSpc>
                <a:spcPct val="100000"/>
              </a:lnSpc>
              <a:spcBef>
                <a:spcPts val="215"/>
              </a:spcBef>
            </a:pPr>
            <a:r>
              <a:rPr dirty="0" sz="1400" spc="-5">
                <a:latin typeface="Carlito"/>
                <a:cs typeface="Carlito"/>
              </a:rPr>
              <a:t>Common Priorities &amp;</a:t>
            </a:r>
            <a:r>
              <a:rPr dirty="0" sz="1400" spc="-10">
                <a:latin typeface="Carlito"/>
                <a:cs typeface="Carlito"/>
              </a:rPr>
              <a:t> </a:t>
            </a:r>
            <a:r>
              <a:rPr dirty="0" sz="1400" spc="-5">
                <a:latin typeface="Carlito"/>
                <a:cs typeface="Carlito"/>
              </a:rPr>
              <a:t>Plans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09413" y="2934842"/>
            <a:ext cx="2322195" cy="304800"/>
          </a:xfrm>
          <a:custGeom>
            <a:avLst/>
            <a:gdLst/>
            <a:ahLst/>
            <a:cxnLst/>
            <a:rect l="l" t="t" r="r" b="b"/>
            <a:pathLst>
              <a:path w="2322195" h="304800">
                <a:moveTo>
                  <a:pt x="0" y="0"/>
                </a:moveTo>
                <a:lnTo>
                  <a:pt x="2321814" y="0"/>
                </a:lnTo>
                <a:lnTo>
                  <a:pt x="2321814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12954">
            <a:solidFill>
              <a:srgbClr val="4140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215890" y="2941320"/>
            <a:ext cx="2308860" cy="2921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2667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210"/>
              </a:spcBef>
            </a:pPr>
            <a:r>
              <a:rPr dirty="0" sz="1400" spc="-10">
                <a:latin typeface="Carlito"/>
                <a:cs typeface="Carlito"/>
              </a:rPr>
              <a:t>Competing </a:t>
            </a:r>
            <a:r>
              <a:rPr dirty="0" sz="1400" spc="-5">
                <a:latin typeface="Carlito"/>
                <a:cs typeface="Carlito"/>
              </a:rPr>
              <a:t>Priorities &amp;</a:t>
            </a:r>
            <a:r>
              <a:rPr dirty="0" sz="1400" spc="35">
                <a:latin typeface="Carlito"/>
                <a:cs typeface="Carlito"/>
              </a:rPr>
              <a:t> </a:t>
            </a:r>
            <a:r>
              <a:rPr dirty="0" sz="1400" spc="-5">
                <a:latin typeface="Carlito"/>
                <a:cs typeface="Carlito"/>
              </a:rPr>
              <a:t>Plans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30543" y="3589401"/>
            <a:ext cx="1600200" cy="306070"/>
          </a:xfrm>
          <a:prstGeom prst="rect">
            <a:avLst/>
          </a:prstGeom>
          <a:solidFill>
            <a:srgbClr val="92D050"/>
          </a:solidFill>
          <a:ln w="12953">
            <a:solidFill>
              <a:srgbClr val="414042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260"/>
              </a:spcBef>
            </a:pPr>
            <a:r>
              <a:rPr dirty="0" sz="1400" spc="-35">
                <a:latin typeface="Carlito"/>
                <a:cs typeface="Carlito"/>
              </a:rPr>
              <a:t>Tech </a:t>
            </a:r>
            <a:r>
              <a:rPr dirty="0" sz="1400" spc="-5">
                <a:latin typeface="Carlito"/>
                <a:cs typeface="Carlito"/>
              </a:rPr>
              <a:t>&amp; </a:t>
            </a:r>
            <a:r>
              <a:rPr dirty="0" sz="1400" spc="-10">
                <a:latin typeface="Carlito"/>
                <a:cs typeface="Carlito"/>
              </a:rPr>
              <a:t>Org </a:t>
            </a:r>
            <a:r>
              <a:rPr dirty="0" sz="1400" spc="-5">
                <a:latin typeface="Carlito"/>
                <a:cs typeface="Carlito"/>
              </a:rPr>
              <a:t>RL 4.5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30543" y="3895344"/>
            <a:ext cx="1600200" cy="306070"/>
          </a:xfrm>
          <a:prstGeom prst="rect">
            <a:avLst/>
          </a:prstGeom>
          <a:solidFill>
            <a:srgbClr val="FFFF00"/>
          </a:solidFill>
          <a:ln w="12953">
            <a:solidFill>
              <a:srgbClr val="414042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marL="408305">
              <a:lnSpc>
                <a:spcPct val="100000"/>
              </a:lnSpc>
              <a:spcBef>
                <a:spcPts val="270"/>
              </a:spcBef>
            </a:pPr>
            <a:r>
              <a:rPr dirty="0" sz="1400" spc="-10">
                <a:latin typeface="Carlito"/>
                <a:cs typeface="Carlito"/>
              </a:rPr>
              <a:t>Org. </a:t>
            </a:r>
            <a:r>
              <a:rPr dirty="0" sz="1400" spc="-5">
                <a:latin typeface="Carlito"/>
                <a:cs typeface="Carlito"/>
              </a:rPr>
              <a:t>RL</a:t>
            </a:r>
            <a:r>
              <a:rPr dirty="0" sz="1400" spc="-15">
                <a:latin typeface="Carlito"/>
                <a:cs typeface="Carlito"/>
              </a:rPr>
              <a:t> </a:t>
            </a:r>
            <a:r>
              <a:rPr dirty="0" sz="1400" spc="-5">
                <a:latin typeface="Carlito"/>
                <a:cs typeface="Carlito"/>
              </a:rPr>
              <a:t>1.5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5340603" y="231140"/>
            <a:ext cx="485965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/>
              <a:t>Digital </a:t>
            </a:r>
            <a:r>
              <a:rPr dirty="0" sz="2800" spc="-10"/>
              <a:t>Transformation</a:t>
            </a:r>
            <a:r>
              <a:rPr dirty="0" sz="2800" spc="-60"/>
              <a:t> </a:t>
            </a:r>
            <a:r>
              <a:rPr dirty="0" sz="2800"/>
              <a:t>Journey</a:t>
            </a:r>
            <a:endParaRPr sz="2800"/>
          </a:p>
        </p:txBody>
      </p:sp>
      <p:grpSp>
        <p:nvGrpSpPr>
          <p:cNvPr id="34" name="object 34"/>
          <p:cNvGrpSpPr/>
          <p:nvPr/>
        </p:nvGrpSpPr>
        <p:grpSpPr>
          <a:xfrm>
            <a:off x="7956613" y="1516189"/>
            <a:ext cx="1461135" cy="318135"/>
            <a:chOff x="7956613" y="1516189"/>
            <a:chExt cx="1461135" cy="318135"/>
          </a:xfrm>
        </p:grpSpPr>
        <p:sp>
          <p:nvSpPr>
            <p:cNvPr id="35" name="object 35"/>
            <p:cNvSpPr/>
            <p:nvPr/>
          </p:nvSpPr>
          <p:spPr>
            <a:xfrm>
              <a:off x="7963281" y="1522857"/>
              <a:ext cx="1447800" cy="304800"/>
            </a:xfrm>
            <a:custGeom>
              <a:avLst/>
              <a:gdLst/>
              <a:ahLst/>
              <a:cxnLst/>
              <a:rect l="l" t="t" r="r" b="b"/>
              <a:pathLst>
                <a:path w="1447800" h="304800">
                  <a:moveTo>
                    <a:pt x="1447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963281" y="1522857"/>
              <a:ext cx="1447800" cy="304800"/>
            </a:xfrm>
            <a:custGeom>
              <a:avLst/>
              <a:gdLst/>
              <a:ahLst/>
              <a:cxnLst/>
              <a:rect l="l" t="t" r="r" b="b"/>
              <a:pathLst>
                <a:path w="1447800" h="304800">
                  <a:moveTo>
                    <a:pt x="0" y="0"/>
                  </a:moveTo>
                  <a:lnTo>
                    <a:pt x="1447800" y="0"/>
                  </a:lnTo>
                  <a:lnTo>
                    <a:pt x="1447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7969757" y="1544358"/>
            <a:ext cx="143510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386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Carlito"/>
                <a:cs typeface="Carlito"/>
              </a:rPr>
              <a:t>Requires</a:t>
            </a:r>
            <a:endParaRPr sz="14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956804" y="1824227"/>
            <a:ext cx="1461135" cy="318135"/>
            <a:chOff x="7956804" y="1824227"/>
            <a:chExt cx="1461135" cy="318135"/>
          </a:xfrm>
        </p:grpSpPr>
        <p:sp>
          <p:nvSpPr>
            <p:cNvPr id="39" name="object 39"/>
            <p:cNvSpPr/>
            <p:nvPr/>
          </p:nvSpPr>
          <p:spPr>
            <a:xfrm>
              <a:off x="7963281" y="1830704"/>
              <a:ext cx="1447800" cy="304800"/>
            </a:xfrm>
            <a:custGeom>
              <a:avLst/>
              <a:gdLst/>
              <a:ahLst/>
              <a:cxnLst/>
              <a:rect l="l" t="t" r="r" b="b"/>
              <a:pathLst>
                <a:path w="1447800" h="304800">
                  <a:moveTo>
                    <a:pt x="1447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963281" y="1830704"/>
              <a:ext cx="1447800" cy="304800"/>
            </a:xfrm>
            <a:custGeom>
              <a:avLst/>
              <a:gdLst/>
              <a:ahLst/>
              <a:cxnLst/>
              <a:rect l="l" t="t" r="r" b="b"/>
              <a:pathLst>
                <a:path w="1447800" h="304800">
                  <a:moveTo>
                    <a:pt x="0" y="0"/>
                  </a:moveTo>
                  <a:lnTo>
                    <a:pt x="1447800" y="0"/>
                  </a:lnTo>
                  <a:lnTo>
                    <a:pt x="1447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969757" y="1851622"/>
            <a:ext cx="143510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244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Carlito"/>
                <a:cs typeface="Carlito"/>
              </a:rPr>
              <a:t>Reality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27629" y="3606165"/>
            <a:ext cx="2947670" cy="306070"/>
          </a:xfrm>
          <a:prstGeom prst="rect">
            <a:avLst/>
          </a:prstGeom>
          <a:solidFill>
            <a:srgbClr val="92D050"/>
          </a:solidFill>
          <a:ln w="12953">
            <a:solidFill>
              <a:srgbClr val="414042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265"/>
              </a:spcBef>
            </a:pPr>
            <a:r>
              <a:rPr dirty="0" sz="1400" spc="-15">
                <a:latin typeface="Carlito"/>
                <a:cs typeface="Carlito"/>
              </a:rPr>
              <a:t>Re-invent </a:t>
            </a:r>
            <a:r>
              <a:rPr dirty="0" sz="1400" spc="-5">
                <a:latin typeface="Carlito"/>
                <a:cs typeface="Carlito"/>
              </a:rPr>
              <a:t>the</a:t>
            </a:r>
            <a:r>
              <a:rPr dirty="0" sz="1400" spc="45">
                <a:latin typeface="Carlito"/>
                <a:cs typeface="Carlito"/>
              </a:rPr>
              <a:t> </a:t>
            </a:r>
            <a:r>
              <a:rPr dirty="0" sz="1400" spc="-10">
                <a:latin typeface="Carlito"/>
                <a:cs typeface="Carlito"/>
              </a:rPr>
              <a:t>Company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27629" y="3912108"/>
            <a:ext cx="2947670" cy="306070"/>
          </a:xfrm>
          <a:prstGeom prst="rect">
            <a:avLst/>
          </a:prstGeom>
          <a:solidFill>
            <a:srgbClr val="FFFF00"/>
          </a:solidFill>
          <a:ln w="12953">
            <a:solidFill>
              <a:srgbClr val="414042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334010">
              <a:lnSpc>
                <a:spcPct val="100000"/>
              </a:lnSpc>
              <a:spcBef>
                <a:spcPts val="275"/>
              </a:spcBef>
            </a:pPr>
            <a:r>
              <a:rPr dirty="0" sz="1400" spc="-10">
                <a:latin typeface="Carlito"/>
                <a:cs typeface="Carlito"/>
              </a:rPr>
              <a:t>Digitized </a:t>
            </a:r>
            <a:r>
              <a:rPr dirty="0" sz="1400" spc="-5">
                <a:latin typeface="Carlito"/>
                <a:cs typeface="Carlito"/>
              </a:rPr>
              <a:t>Siloed </a:t>
            </a:r>
            <a:r>
              <a:rPr dirty="0" sz="1400" spc="-20">
                <a:latin typeface="Carlito"/>
                <a:cs typeface="Carlito"/>
              </a:rPr>
              <a:t>Work</a:t>
            </a:r>
            <a:r>
              <a:rPr dirty="0" sz="1400" spc="45">
                <a:latin typeface="Carlito"/>
                <a:cs typeface="Carlito"/>
              </a:rPr>
              <a:t> </a:t>
            </a:r>
            <a:r>
              <a:rPr dirty="0" sz="1400" spc="-10">
                <a:latin typeface="Carlito"/>
                <a:cs typeface="Carlito"/>
              </a:rPr>
              <a:t>Processes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  <p:transition spd="med">
    <p:fade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4915" y="81368"/>
            <a:ext cx="79819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/>
              <a:t>Silos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26844" y="6149219"/>
            <a:ext cx="1704339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solidFill>
                  <a:srgbClr val="0071CE"/>
                </a:solidFill>
                <a:latin typeface="Arial"/>
                <a:cs typeface="Arial"/>
              </a:rPr>
              <a:t>Copyright Strategic Venture</a:t>
            </a:r>
            <a:r>
              <a:rPr dirty="0" sz="800" spc="9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800" spc="-5">
                <a:solidFill>
                  <a:srgbClr val="0071CE"/>
                </a:solidFill>
                <a:latin typeface="Arial"/>
                <a:cs typeface="Arial"/>
              </a:rPr>
              <a:t>Planning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43683" y="704850"/>
            <a:ext cx="8305800" cy="4314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81593" y="5121478"/>
            <a:ext cx="802640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17930" marR="5080" indent="-1205865">
              <a:lnSpc>
                <a:spcPct val="100000"/>
              </a:lnSpc>
              <a:spcBef>
                <a:spcPts val="95"/>
              </a:spcBef>
            </a:pPr>
            <a:r>
              <a:rPr dirty="0" sz="3200" spc="-5">
                <a:solidFill>
                  <a:srgbClr val="0071CE"/>
                </a:solidFill>
                <a:latin typeface="Arial"/>
                <a:cs typeface="Arial"/>
              </a:rPr>
              <a:t>Most </a:t>
            </a:r>
            <a:r>
              <a:rPr dirty="0" sz="3200" spc="-10">
                <a:solidFill>
                  <a:srgbClr val="0071CE"/>
                </a:solidFill>
                <a:latin typeface="Arial"/>
                <a:cs typeface="Arial"/>
              </a:rPr>
              <a:t>large enterprises </a:t>
            </a:r>
            <a:r>
              <a:rPr dirty="0" sz="3200" spc="-5">
                <a:solidFill>
                  <a:srgbClr val="0071CE"/>
                </a:solidFill>
                <a:latin typeface="Arial"/>
                <a:cs typeface="Arial"/>
              </a:rPr>
              <a:t>are remarkably </a:t>
            </a:r>
            <a:r>
              <a:rPr dirty="0" sz="3200" spc="-10">
                <a:solidFill>
                  <a:srgbClr val="0071CE"/>
                </a:solidFill>
                <a:latin typeface="Arial"/>
                <a:cs typeface="Arial"/>
              </a:rPr>
              <a:t>siloed  Bounded rationality </a:t>
            </a:r>
            <a:r>
              <a:rPr dirty="0" sz="3200" spc="-5">
                <a:solidFill>
                  <a:srgbClr val="0071CE"/>
                </a:solidFill>
                <a:latin typeface="Arial"/>
                <a:cs typeface="Arial"/>
              </a:rPr>
              <a:t>is the</a:t>
            </a:r>
            <a:r>
              <a:rPr dirty="0" sz="3200" spc="1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0071CE"/>
                </a:solidFill>
                <a:latin typeface="Arial"/>
                <a:cs typeface="Arial"/>
              </a:rPr>
              <a:t>norm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fade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3633" y="235419"/>
            <a:ext cx="503301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00" spc="-5"/>
              <a:t>Bounded</a:t>
            </a:r>
            <a:r>
              <a:rPr dirty="0" sz="4400" spc="-20"/>
              <a:t> </a:t>
            </a:r>
            <a:r>
              <a:rPr dirty="0" sz="4400" spc="-5"/>
              <a:t>Rationality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19170" y="1071816"/>
            <a:ext cx="10753725" cy="429006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298450" marR="868680" indent="-285750">
              <a:lnSpc>
                <a:spcPct val="80000"/>
              </a:lnSpc>
              <a:spcBef>
                <a:spcPts val="960"/>
              </a:spcBef>
              <a:buChar char="•"/>
              <a:tabLst>
                <a:tab pos="298450" algn="l"/>
              </a:tabLst>
            </a:pPr>
            <a:r>
              <a:rPr dirty="0" sz="3600" spc="-5">
                <a:solidFill>
                  <a:srgbClr val="0071CE"/>
                </a:solidFill>
                <a:latin typeface="Arial"/>
                <a:cs typeface="Arial"/>
              </a:rPr>
              <a:t>Bounded rationality is the idea </a:t>
            </a:r>
            <a:r>
              <a:rPr dirty="0" sz="3600">
                <a:solidFill>
                  <a:srgbClr val="0071CE"/>
                </a:solidFill>
                <a:latin typeface="Arial"/>
                <a:cs typeface="Arial"/>
              </a:rPr>
              <a:t>that </a:t>
            </a:r>
            <a:r>
              <a:rPr dirty="0" sz="3600" spc="-5">
                <a:solidFill>
                  <a:srgbClr val="0071CE"/>
                </a:solidFill>
                <a:latin typeface="Arial"/>
                <a:cs typeface="Arial"/>
              </a:rPr>
              <a:t>rationality in  </a:t>
            </a:r>
            <a:r>
              <a:rPr dirty="0" sz="3600" spc="-10">
                <a:solidFill>
                  <a:srgbClr val="0071CE"/>
                </a:solidFill>
                <a:latin typeface="Arial"/>
                <a:cs typeface="Arial"/>
              </a:rPr>
              <a:t>individual’s </a:t>
            </a:r>
            <a:r>
              <a:rPr dirty="0" sz="3600" spc="-5">
                <a:solidFill>
                  <a:srgbClr val="0071CE"/>
                </a:solidFill>
                <a:latin typeface="Arial"/>
                <a:cs typeface="Arial"/>
              </a:rPr>
              <a:t>decisions is limited</a:t>
            </a:r>
            <a:r>
              <a:rPr dirty="0" sz="3600" spc="-2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0071CE"/>
                </a:solidFill>
                <a:latin typeface="Arial"/>
                <a:cs typeface="Arial"/>
              </a:rPr>
              <a:t>by:</a:t>
            </a:r>
            <a:endParaRPr sz="3600">
              <a:latin typeface="Arial"/>
              <a:cs typeface="Arial"/>
            </a:endParaRPr>
          </a:p>
          <a:p>
            <a:pPr lvl="1" marL="698500" indent="-381000">
              <a:lnSpc>
                <a:spcPct val="100000"/>
              </a:lnSpc>
              <a:spcBef>
                <a:spcPts val="170"/>
              </a:spcBef>
              <a:buChar char="•"/>
              <a:tabLst>
                <a:tab pos="697865" algn="l"/>
                <a:tab pos="698500" algn="l"/>
              </a:tabLst>
            </a:pP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the tractability of the decision</a:t>
            </a:r>
            <a:r>
              <a:rPr dirty="0" sz="2000" spc="-3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problem</a:t>
            </a:r>
            <a:endParaRPr sz="2000">
              <a:latin typeface="Arial"/>
              <a:cs typeface="Arial"/>
            </a:endParaRPr>
          </a:p>
          <a:p>
            <a:pPr lvl="1" marL="698500" indent="-381000">
              <a:lnSpc>
                <a:spcPct val="100000"/>
              </a:lnSpc>
              <a:spcBef>
                <a:spcPts val="120"/>
              </a:spcBef>
              <a:buChar char="•"/>
              <a:tabLst>
                <a:tab pos="697865" algn="l"/>
                <a:tab pos="698500" algn="l"/>
              </a:tabLst>
            </a:pP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the cognitive limitations of the</a:t>
            </a:r>
            <a:r>
              <a:rPr dirty="0" sz="2000" spc="-1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0071CE"/>
                </a:solidFill>
                <a:latin typeface="Arial"/>
                <a:cs typeface="Arial"/>
              </a:rPr>
              <a:t>mind</a:t>
            </a:r>
            <a:endParaRPr sz="2000">
              <a:latin typeface="Arial"/>
              <a:cs typeface="Arial"/>
            </a:endParaRPr>
          </a:p>
          <a:p>
            <a:pPr lvl="1" marL="698500" indent="-381000">
              <a:lnSpc>
                <a:spcPct val="100000"/>
              </a:lnSpc>
              <a:spcBef>
                <a:spcPts val="120"/>
              </a:spcBef>
              <a:buChar char="•"/>
              <a:tabLst>
                <a:tab pos="697865" algn="l"/>
                <a:tab pos="698500" algn="l"/>
              </a:tabLst>
            </a:pP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the time available to make the</a:t>
            </a:r>
            <a:r>
              <a:rPr dirty="0" sz="2000" spc="-2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decision</a:t>
            </a:r>
            <a:endParaRPr sz="2000">
              <a:latin typeface="Arial"/>
              <a:cs typeface="Arial"/>
            </a:endParaRPr>
          </a:p>
          <a:p>
            <a:pPr lvl="1" marL="698500" indent="-381000">
              <a:lnSpc>
                <a:spcPct val="100000"/>
              </a:lnSpc>
              <a:spcBef>
                <a:spcPts val="120"/>
              </a:spcBef>
              <a:buChar char="•"/>
              <a:tabLst>
                <a:tab pos="697865" algn="l"/>
                <a:tab pos="698500" algn="l"/>
              </a:tabLst>
            </a:pP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the perceived or actual limits of their view or knowledge</a:t>
            </a:r>
            <a:r>
              <a:rPr dirty="0" sz="2000" spc="2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(</a:t>
            </a:r>
            <a:r>
              <a:rPr dirty="0" sz="2000" spc="-5">
                <a:solidFill>
                  <a:srgbClr val="FF0000"/>
                </a:solidFill>
                <a:latin typeface="Arial"/>
                <a:cs typeface="Arial"/>
              </a:rPr>
              <a:t>boundaries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lvl="1" marL="698500" indent="-381000">
              <a:lnSpc>
                <a:spcPct val="100000"/>
              </a:lnSpc>
              <a:spcBef>
                <a:spcPts val="120"/>
              </a:spcBef>
              <a:buChar char="•"/>
              <a:tabLst>
                <a:tab pos="697865" algn="l"/>
                <a:tab pos="698500" algn="l"/>
              </a:tabLst>
            </a:pP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some combination or all of the</a:t>
            </a:r>
            <a:r>
              <a:rPr dirty="0" sz="200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above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0071CE"/>
              </a:buClr>
              <a:buFont typeface="Arial"/>
              <a:buChar char="•"/>
            </a:pPr>
            <a:endParaRPr sz="2400">
              <a:latin typeface="Arial"/>
              <a:cs typeface="Arial"/>
            </a:endParaRPr>
          </a:p>
          <a:p>
            <a:pPr marL="298450" marR="5080" indent="-285750">
              <a:lnSpc>
                <a:spcPct val="80000"/>
              </a:lnSpc>
              <a:buChar char="•"/>
              <a:tabLst>
                <a:tab pos="298450" algn="l"/>
              </a:tabLst>
            </a:pPr>
            <a:r>
              <a:rPr dirty="0" sz="3600" spc="-5">
                <a:solidFill>
                  <a:srgbClr val="0071CE"/>
                </a:solidFill>
                <a:latin typeface="Arial"/>
                <a:cs typeface="Arial"/>
              </a:rPr>
              <a:t>Decision-makers, in this </a:t>
            </a:r>
            <a:r>
              <a:rPr dirty="0" sz="3600" spc="-45">
                <a:solidFill>
                  <a:srgbClr val="0071CE"/>
                </a:solidFill>
                <a:latin typeface="Arial"/>
                <a:cs typeface="Arial"/>
              </a:rPr>
              <a:t>view, </a:t>
            </a:r>
            <a:r>
              <a:rPr dirty="0" sz="3600">
                <a:solidFill>
                  <a:srgbClr val="0071CE"/>
                </a:solidFill>
                <a:latin typeface="Arial"/>
                <a:cs typeface="Arial"/>
              </a:rPr>
              <a:t>act </a:t>
            </a:r>
            <a:r>
              <a:rPr dirty="0" sz="3600" spc="-5">
                <a:solidFill>
                  <a:srgbClr val="0071CE"/>
                </a:solidFill>
                <a:latin typeface="Arial"/>
                <a:cs typeface="Arial"/>
              </a:rPr>
              <a:t>as </a:t>
            </a:r>
            <a:r>
              <a:rPr dirty="0" u="heavy" sz="3600" spc="-5">
                <a:solidFill>
                  <a:srgbClr val="0071CE"/>
                </a:solidFill>
                <a:uFill>
                  <a:solidFill>
                    <a:srgbClr val="0071CE"/>
                  </a:solidFill>
                </a:uFill>
                <a:latin typeface="Arial"/>
                <a:cs typeface="Arial"/>
              </a:rPr>
              <a:t>satisficers</a:t>
            </a:r>
            <a:r>
              <a:rPr dirty="0" sz="3600" spc="-5">
                <a:solidFill>
                  <a:srgbClr val="0071CE"/>
                </a:solidFill>
                <a:latin typeface="Arial"/>
                <a:cs typeface="Arial"/>
              </a:rPr>
              <a:t>,  seeking a satisfactory (</a:t>
            </a:r>
            <a:r>
              <a:rPr dirty="0" sz="3600" spc="-5">
                <a:solidFill>
                  <a:srgbClr val="FF0000"/>
                </a:solidFill>
                <a:latin typeface="Arial"/>
                <a:cs typeface="Arial"/>
              </a:rPr>
              <a:t>local</a:t>
            </a:r>
            <a:r>
              <a:rPr dirty="0" sz="3600" spc="-5">
                <a:solidFill>
                  <a:srgbClr val="0071CE"/>
                </a:solidFill>
                <a:latin typeface="Arial"/>
                <a:cs typeface="Arial"/>
              </a:rPr>
              <a:t>) solution rather than an  optimal (</a:t>
            </a:r>
            <a:r>
              <a:rPr dirty="0" sz="3600" spc="-5">
                <a:solidFill>
                  <a:srgbClr val="FF0000"/>
                </a:solidFill>
                <a:latin typeface="Arial"/>
                <a:cs typeface="Arial"/>
              </a:rPr>
              <a:t>systemic</a:t>
            </a:r>
            <a:r>
              <a:rPr dirty="0" sz="3600" spc="-5">
                <a:solidFill>
                  <a:srgbClr val="0071CE"/>
                </a:solidFill>
                <a:latin typeface="Arial"/>
                <a:cs typeface="Arial"/>
              </a:rPr>
              <a:t>)</a:t>
            </a:r>
            <a:r>
              <a:rPr dirty="0" sz="3600" spc="-2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3600" spc="-5">
                <a:solidFill>
                  <a:srgbClr val="0071CE"/>
                </a:solidFill>
                <a:latin typeface="Arial"/>
                <a:cs typeface="Arial"/>
              </a:rPr>
              <a:t>one.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4926" y="5819319"/>
            <a:ext cx="31400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solidFill>
                  <a:srgbClr val="0071CE"/>
                </a:solidFill>
                <a:latin typeface="Arial"/>
                <a:cs typeface="Arial"/>
              </a:rPr>
              <a:t>Source: Simon, Herbert; </a:t>
            </a:r>
            <a:r>
              <a:rPr dirty="0" sz="1400" spc="-5" i="1">
                <a:solidFill>
                  <a:srgbClr val="0071CE"/>
                </a:solidFill>
                <a:latin typeface="Arial"/>
                <a:cs typeface="Arial"/>
              </a:rPr>
              <a:t>Models of</a:t>
            </a:r>
            <a:r>
              <a:rPr dirty="0" sz="1400" spc="-70" i="1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1400" spc="-5" i="1">
                <a:solidFill>
                  <a:srgbClr val="0071CE"/>
                </a:solidFill>
                <a:latin typeface="Arial"/>
                <a:cs typeface="Arial"/>
              </a:rPr>
              <a:t>Man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6579" y="5973969"/>
            <a:ext cx="23215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0071CE"/>
                </a:solidFill>
                <a:latin typeface="Arial"/>
                <a:cs typeface="Arial"/>
              </a:rPr>
              <a:t>Copyright Strategic Venture Planning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fade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5997" y="1277061"/>
            <a:ext cx="7823200" cy="49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>
                <a:solidFill>
                  <a:srgbClr val="0071CE"/>
                </a:solidFill>
                <a:latin typeface="Arial"/>
                <a:cs typeface="Arial"/>
              </a:rPr>
              <a:t>3 fundamental </a:t>
            </a:r>
            <a:r>
              <a:rPr dirty="0" sz="3100" spc="-5">
                <a:solidFill>
                  <a:srgbClr val="0071CE"/>
                </a:solidFill>
                <a:latin typeface="Arial"/>
                <a:cs typeface="Arial"/>
              </a:rPr>
              <a:t>corporate </a:t>
            </a:r>
            <a:r>
              <a:rPr dirty="0" sz="3100">
                <a:solidFill>
                  <a:srgbClr val="0071CE"/>
                </a:solidFill>
                <a:latin typeface="Arial"/>
                <a:cs typeface="Arial"/>
              </a:rPr>
              <a:t>processes </a:t>
            </a:r>
            <a:r>
              <a:rPr dirty="0" sz="3100" spc="-5">
                <a:solidFill>
                  <a:srgbClr val="0071CE"/>
                </a:solidFill>
                <a:latin typeface="Arial"/>
                <a:cs typeface="Arial"/>
              </a:rPr>
              <a:t>drive</a:t>
            </a:r>
            <a:r>
              <a:rPr dirty="0" sz="3100" spc="-8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0071CE"/>
                </a:solidFill>
                <a:latin typeface="Arial"/>
                <a:cs typeface="Arial"/>
              </a:rPr>
              <a:t>BR</a:t>
            </a:r>
            <a:endParaRPr sz="3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7523" y="2394204"/>
            <a:ext cx="1936750" cy="1957070"/>
            <a:chOff x="2287523" y="2394204"/>
            <a:chExt cx="1936750" cy="1957070"/>
          </a:xfrm>
        </p:grpSpPr>
        <p:sp>
          <p:nvSpPr>
            <p:cNvPr id="4" name="object 4"/>
            <p:cNvSpPr/>
            <p:nvPr/>
          </p:nvSpPr>
          <p:spPr>
            <a:xfrm>
              <a:off x="2287523" y="2394204"/>
              <a:ext cx="1936750" cy="1957070"/>
            </a:xfrm>
            <a:custGeom>
              <a:avLst/>
              <a:gdLst/>
              <a:ahLst/>
              <a:cxnLst/>
              <a:rect l="l" t="t" r="r" b="b"/>
              <a:pathLst>
                <a:path w="1936750" h="1957070">
                  <a:moveTo>
                    <a:pt x="968121" y="0"/>
                  </a:moveTo>
                  <a:lnTo>
                    <a:pt x="919801" y="1197"/>
                  </a:lnTo>
                  <a:lnTo>
                    <a:pt x="872095" y="4752"/>
                  </a:lnTo>
                  <a:lnTo>
                    <a:pt x="825058" y="10608"/>
                  </a:lnTo>
                  <a:lnTo>
                    <a:pt x="778745" y="18710"/>
                  </a:lnTo>
                  <a:lnTo>
                    <a:pt x="733211" y="29000"/>
                  </a:lnTo>
                  <a:lnTo>
                    <a:pt x="688513" y="41424"/>
                  </a:lnTo>
                  <a:lnTo>
                    <a:pt x="644705" y="55926"/>
                  </a:lnTo>
                  <a:lnTo>
                    <a:pt x="601843" y="72448"/>
                  </a:lnTo>
                  <a:lnTo>
                    <a:pt x="559983" y="90935"/>
                  </a:lnTo>
                  <a:lnTo>
                    <a:pt x="519180" y="111332"/>
                  </a:lnTo>
                  <a:lnTo>
                    <a:pt x="479489" y="133581"/>
                  </a:lnTo>
                  <a:lnTo>
                    <a:pt x="440967" y="157627"/>
                  </a:lnTo>
                  <a:lnTo>
                    <a:pt x="403667" y="183414"/>
                  </a:lnTo>
                  <a:lnTo>
                    <a:pt x="367647" y="210886"/>
                  </a:lnTo>
                  <a:lnTo>
                    <a:pt x="332960" y="239987"/>
                  </a:lnTo>
                  <a:lnTo>
                    <a:pt x="299664" y="270660"/>
                  </a:lnTo>
                  <a:lnTo>
                    <a:pt x="267812" y="302850"/>
                  </a:lnTo>
                  <a:lnTo>
                    <a:pt x="237462" y="336500"/>
                  </a:lnTo>
                  <a:lnTo>
                    <a:pt x="208667" y="371555"/>
                  </a:lnTo>
                  <a:lnTo>
                    <a:pt x="181484" y="407958"/>
                  </a:lnTo>
                  <a:lnTo>
                    <a:pt x="155969" y="445654"/>
                  </a:lnTo>
                  <a:lnTo>
                    <a:pt x="132175" y="484586"/>
                  </a:lnTo>
                  <a:lnTo>
                    <a:pt x="110160" y="524699"/>
                  </a:lnTo>
                  <a:lnTo>
                    <a:pt x="89978" y="565935"/>
                  </a:lnTo>
                  <a:lnTo>
                    <a:pt x="71686" y="608240"/>
                  </a:lnTo>
                  <a:lnTo>
                    <a:pt x="55337" y="651557"/>
                  </a:lnTo>
                  <a:lnTo>
                    <a:pt x="40988" y="695830"/>
                  </a:lnTo>
                  <a:lnTo>
                    <a:pt x="28695" y="741004"/>
                  </a:lnTo>
                  <a:lnTo>
                    <a:pt x="18513" y="787021"/>
                  </a:lnTo>
                  <a:lnTo>
                    <a:pt x="10496" y="833826"/>
                  </a:lnTo>
                  <a:lnTo>
                    <a:pt x="4702" y="881362"/>
                  </a:lnTo>
                  <a:lnTo>
                    <a:pt x="1184" y="929575"/>
                  </a:lnTo>
                  <a:lnTo>
                    <a:pt x="0" y="978408"/>
                  </a:lnTo>
                  <a:lnTo>
                    <a:pt x="1184" y="1027240"/>
                  </a:lnTo>
                  <a:lnTo>
                    <a:pt x="4702" y="1075453"/>
                  </a:lnTo>
                  <a:lnTo>
                    <a:pt x="10496" y="1122989"/>
                  </a:lnTo>
                  <a:lnTo>
                    <a:pt x="18513" y="1169794"/>
                  </a:lnTo>
                  <a:lnTo>
                    <a:pt x="28695" y="1215811"/>
                  </a:lnTo>
                  <a:lnTo>
                    <a:pt x="40988" y="1260985"/>
                  </a:lnTo>
                  <a:lnTo>
                    <a:pt x="55337" y="1305258"/>
                  </a:lnTo>
                  <a:lnTo>
                    <a:pt x="71686" y="1348575"/>
                  </a:lnTo>
                  <a:lnTo>
                    <a:pt x="89978" y="1390880"/>
                  </a:lnTo>
                  <a:lnTo>
                    <a:pt x="110160" y="1432116"/>
                  </a:lnTo>
                  <a:lnTo>
                    <a:pt x="132175" y="1472229"/>
                  </a:lnTo>
                  <a:lnTo>
                    <a:pt x="155969" y="1511161"/>
                  </a:lnTo>
                  <a:lnTo>
                    <a:pt x="181484" y="1548857"/>
                  </a:lnTo>
                  <a:lnTo>
                    <a:pt x="208667" y="1585260"/>
                  </a:lnTo>
                  <a:lnTo>
                    <a:pt x="237462" y="1620315"/>
                  </a:lnTo>
                  <a:lnTo>
                    <a:pt x="267812" y="1653965"/>
                  </a:lnTo>
                  <a:lnTo>
                    <a:pt x="299664" y="1686155"/>
                  </a:lnTo>
                  <a:lnTo>
                    <a:pt x="332960" y="1716828"/>
                  </a:lnTo>
                  <a:lnTo>
                    <a:pt x="367647" y="1745929"/>
                  </a:lnTo>
                  <a:lnTo>
                    <a:pt x="403667" y="1773401"/>
                  </a:lnTo>
                  <a:lnTo>
                    <a:pt x="440967" y="1799188"/>
                  </a:lnTo>
                  <a:lnTo>
                    <a:pt x="479489" y="1823234"/>
                  </a:lnTo>
                  <a:lnTo>
                    <a:pt x="519180" y="1845483"/>
                  </a:lnTo>
                  <a:lnTo>
                    <a:pt x="559983" y="1865880"/>
                  </a:lnTo>
                  <a:lnTo>
                    <a:pt x="601843" y="1884367"/>
                  </a:lnTo>
                  <a:lnTo>
                    <a:pt x="644705" y="1900889"/>
                  </a:lnTo>
                  <a:lnTo>
                    <a:pt x="688513" y="1915391"/>
                  </a:lnTo>
                  <a:lnTo>
                    <a:pt x="733211" y="1927815"/>
                  </a:lnTo>
                  <a:lnTo>
                    <a:pt x="778745" y="1938105"/>
                  </a:lnTo>
                  <a:lnTo>
                    <a:pt x="825058" y="1946207"/>
                  </a:lnTo>
                  <a:lnTo>
                    <a:pt x="872095" y="1952063"/>
                  </a:lnTo>
                  <a:lnTo>
                    <a:pt x="919801" y="1955618"/>
                  </a:lnTo>
                  <a:lnTo>
                    <a:pt x="968121" y="1956816"/>
                  </a:lnTo>
                  <a:lnTo>
                    <a:pt x="1016440" y="1955618"/>
                  </a:lnTo>
                  <a:lnTo>
                    <a:pt x="1064146" y="1952063"/>
                  </a:lnTo>
                  <a:lnTo>
                    <a:pt x="1111183" y="1946207"/>
                  </a:lnTo>
                  <a:lnTo>
                    <a:pt x="1157496" y="1938105"/>
                  </a:lnTo>
                  <a:lnTo>
                    <a:pt x="1203030" y="1927815"/>
                  </a:lnTo>
                  <a:lnTo>
                    <a:pt x="1247728" y="1915391"/>
                  </a:lnTo>
                  <a:lnTo>
                    <a:pt x="1291536" y="1900889"/>
                  </a:lnTo>
                  <a:lnTo>
                    <a:pt x="1334398" y="1884367"/>
                  </a:lnTo>
                  <a:lnTo>
                    <a:pt x="1376258" y="1865880"/>
                  </a:lnTo>
                  <a:lnTo>
                    <a:pt x="1417061" y="1845483"/>
                  </a:lnTo>
                  <a:lnTo>
                    <a:pt x="1456752" y="1823234"/>
                  </a:lnTo>
                  <a:lnTo>
                    <a:pt x="1495274" y="1799188"/>
                  </a:lnTo>
                  <a:lnTo>
                    <a:pt x="1532574" y="1773401"/>
                  </a:lnTo>
                  <a:lnTo>
                    <a:pt x="1568594" y="1745929"/>
                  </a:lnTo>
                  <a:lnTo>
                    <a:pt x="1603281" y="1716828"/>
                  </a:lnTo>
                  <a:lnTo>
                    <a:pt x="1636577" y="1686155"/>
                  </a:lnTo>
                  <a:lnTo>
                    <a:pt x="1668429" y="1653965"/>
                  </a:lnTo>
                  <a:lnTo>
                    <a:pt x="1698779" y="1620315"/>
                  </a:lnTo>
                  <a:lnTo>
                    <a:pt x="1727574" y="1585260"/>
                  </a:lnTo>
                  <a:lnTo>
                    <a:pt x="1754757" y="1548857"/>
                  </a:lnTo>
                  <a:lnTo>
                    <a:pt x="1780272" y="1511161"/>
                  </a:lnTo>
                  <a:lnTo>
                    <a:pt x="1804066" y="1472229"/>
                  </a:lnTo>
                  <a:lnTo>
                    <a:pt x="1826081" y="1432116"/>
                  </a:lnTo>
                  <a:lnTo>
                    <a:pt x="1846263" y="1390880"/>
                  </a:lnTo>
                  <a:lnTo>
                    <a:pt x="1864555" y="1348575"/>
                  </a:lnTo>
                  <a:lnTo>
                    <a:pt x="1880904" y="1305258"/>
                  </a:lnTo>
                  <a:lnTo>
                    <a:pt x="1895253" y="1260985"/>
                  </a:lnTo>
                  <a:lnTo>
                    <a:pt x="1907546" y="1215811"/>
                  </a:lnTo>
                  <a:lnTo>
                    <a:pt x="1917728" y="1169794"/>
                  </a:lnTo>
                  <a:lnTo>
                    <a:pt x="1925745" y="1122989"/>
                  </a:lnTo>
                  <a:lnTo>
                    <a:pt x="1931539" y="1075453"/>
                  </a:lnTo>
                  <a:lnTo>
                    <a:pt x="1935057" y="1027240"/>
                  </a:lnTo>
                  <a:lnTo>
                    <a:pt x="1936242" y="978408"/>
                  </a:lnTo>
                  <a:lnTo>
                    <a:pt x="1935057" y="929575"/>
                  </a:lnTo>
                  <a:lnTo>
                    <a:pt x="1931539" y="881362"/>
                  </a:lnTo>
                  <a:lnTo>
                    <a:pt x="1925745" y="833826"/>
                  </a:lnTo>
                  <a:lnTo>
                    <a:pt x="1917728" y="787021"/>
                  </a:lnTo>
                  <a:lnTo>
                    <a:pt x="1907546" y="741004"/>
                  </a:lnTo>
                  <a:lnTo>
                    <a:pt x="1895253" y="695830"/>
                  </a:lnTo>
                  <a:lnTo>
                    <a:pt x="1880904" y="651557"/>
                  </a:lnTo>
                  <a:lnTo>
                    <a:pt x="1864555" y="608240"/>
                  </a:lnTo>
                  <a:lnTo>
                    <a:pt x="1846263" y="565935"/>
                  </a:lnTo>
                  <a:lnTo>
                    <a:pt x="1826081" y="524699"/>
                  </a:lnTo>
                  <a:lnTo>
                    <a:pt x="1804066" y="484586"/>
                  </a:lnTo>
                  <a:lnTo>
                    <a:pt x="1780272" y="445654"/>
                  </a:lnTo>
                  <a:lnTo>
                    <a:pt x="1754757" y="407958"/>
                  </a:lnTo>
                  <a:lnTo>
                    <a:pt x="1727574" y="371555"/>
                  </a:lnTo>
                  <a:lnTo>
                    <a:pt x="1698779" y="336500"/>
                  </a:lnTo>
                  <a:lnTo>
                    <a:pt x="1668429" y="302850"/>
                  </a:lnTo>
                  <a:lnTo>
                    <a:pt x="1636577" y="270660"/>
                  </a:lnTo>
                  <a:lnTo>
                    <a:pt x="1603281" y="239987"/>
                  </a:lnTo>
                  <a:lnTo>
                    <a:pt x="1568594" y="210886"/>
                  </a:lnTo>
                  <a:lnTo>
                    <a:pt x="1532574" y="183414"/>
                  </a:lnTo>
                  <a:lnTo>
                    <a:pt x="1495274" y="157627"/>
                  </a:lnTo>
                  <a:lnTo>
                    <a:pt x="1456752" y="133581"/>
                  </a:lnTo>
                  <a:lnTo>
                    <a:pt x="1417061" y="111332"/>
                  </a:lnTo>
                  <a:lnTo>
                    <a:pt x="1376258" y="90935"/>
                  </a:lnTo>
                  <a:lnTo>
                    <a:pt x="1334398" y="72448"/>
                  </a:lnTo>
                  <a:lnTo>
                    <a:pt x="1291536" y="55926"/>
                  </a:lnTo>
                  <a:lnTo>
                    <a:pt x="1247728" y="41424"/>
                  </a:lnTo>
                  <a:lnTo>
                    <a:pt x="1203030" y="29000"/>
                  </a:lnTo>
                  <a:lnTo>
                    <a:pt x="1157496" y="18710"/>
                  </a:lnTo>
                  <a:lnTo>
                    <a:pt x="1111183" y="10608"/>
                  </a:lnTo>
                  <a:lnTo>
                    <a:pt x="1064146" y="4752"/>
                  </a:lnTo>
                  <a:lnTo>
                    <a:pt x="1016440" y="1197"/>
                  </a:lnTo>
                  <a:lnTo>
                    <a:pt x="968121" y="0"/>
                  </a:lnTo>
                  <a:close/>
                </a:path>
              </a:pathLst>
            </a:custGeom>
            <a:solidFill>
              <a:srgbClr val="C0D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970834" y="3053956"/>
              <a:ext cx="578485" cy="591820"/>
            </a:xfrm>
            <a:custGeom>
              <a:avLst/>
              <a:gdLst/>
              <a:ahLst/>
              <a:cxnLst/>
              <a:rect l="l" t="t" r="r" b="b"/>
              <a:pathLst>
                <a:path w="578485" h="591820">
                  <a:moveTo>
                    <a:pt x="473697" y="173951"/>
                  </a:moveTo>
                  <a:lnTo>
                    <a:pt x="472389" y="167538"/>
                  </a:lnTo>
                  <a:lnTo>
                    <a:pt x="469646" y="163512"/>
                  </a:lnTo>
                  <a:lnTo>
                    <a:pt x="468464" y="161772"/>
                  </a:lnTo>
                  <a:lnTo>
                    <a:pt x="412635" y="106108"/>
                  </a:lnTo>
                  <a:lnTo>
                    <a:pt x="408266" y="104368"/>
                  </a:lnTo>
                  <a:lnTo>
                    <a:pt x="399542" y="104368"/>
                  </a:lnTo>
                  <a:lnTo>
                    <a:pt x="395185" y="106108"/>
                  </a:lnTo>
                  <a:lnTo>
                    <a:pt x="339356" y="161772"/>
                  </a:lnTo>
                  <a:lnTo>
                    <a:pt x="335432" y="167538"/>
                  </a:lnTo>
                  <a:lnTo>
                    <a:pt x="334124" y="173951"/>
                  </a:lnTo>
                  <a:lnTo>
                    <a:pt x="335432" y="180365"/>
                  </a:lnTo>
                  <a:lnTo>
                    <a:pt x="339356" y="186131"/>
                  </a:lnTo>
                  <a:lnTo>
                    <a:pt x="345135" y="190042"/>
                  </a:lnTo>
                  <a:lnTo>
                    <a:pt x="351561" y="191350"/>
                  </a:lnTo>
                  <a:lnTo>
                    <a:pt x="358000" y="190042"/>
                  </a:lnTo>
                  <a:lnTo>
                    <a:pt x="363778" y="186131"/>
                  </a:lnTo>
                  <a:lnTo>
                    <a:pt x="386461" y="163512"/>
                  </a:lnTo>
                  <a:lnTo>
                    <a:pt x="386461" y="270497"/>
                  </a:lnTo>
                  <a:lnTo>
                    <a:pt x="378612" y="278333"/>
                  </a:lnTo>
                  <a:lnTo>
                    <a:pt x="246888" y="278333"/>
                  </a:lnTo>
                  <a:lnTo>
                    <a:pt x="226555" y="282448"/>
                  </a:lnTo>
                  <a:lnTo>
                    <a:pt x="209918" y="293662"/>
                  </a:lnTo>
                  <a:lnTo>
                    <a:pt x="198666" y="310248"/>
                  </a:lnTo>
                  <a:lnTo>
                    <a:pt x="194538" y="330517"/>
                  </a:lnTo>
                  <a:lnTo>
                    <a:pt x="194538" y="350520"/>
                  </a:lnTo>
                  <a:lnTo>
                    <a:pt x="171526" y="361238"/>
                  </a:lnTo>
                  <a:lnTo>
                    <a:pt x="154406" y="378891"/>
                  </a:lnTo>
                  <a:lnTo>
                    <a:pt x="144487" y="401281"/>
                  </a:lnTo>
                  <a:lnTo>
                    <a:pt x="143065" y="426186"/>
                  </a:lnTo>
                  <a:lnTo>
                    <a:pt x="150774" y="450380"/>
                  </a:lnTo>
                  <a:lnTo>
                    <a:pt x="166077" y="469684"/>
                  </a:lnTo>
                  <a:lnTo>
                    <a:pt x="187109" y="482447"/>
                  </a:lnTo>
                  <a:lnTo>
                    <a:pt x="211988" y="487070"/>
                  </a:lnTo>
                  <a:lnTo>
                    <a:pt x="236867" y="482447"/>
                  </a:lnTo>
                  <a:lnTo>
                    <a:pt x="257898" y="469684"/>
                  </a:lnTo>
                  <a:lnTo>
                    <a:pt x="271691" y="452285"/>
                  </a:lnTo>
                  <a:lnTo>
                    <a:pt x="273202" y="450380"/>
                  </a:lnTo>
                  <a:lnTo>
                    <a:pt x="280898" y="426186"/>
                  </a:lnTo>
                  <a:lnTo>
                    <a:pt x="279488" y="400913"/>
                  </a:lnTo>
                  <a:lnTo>
                    <a:pt x="271399" y="382701"/>
                  </a:lnTo>
                  <a:lnTo>
                    <a:pt x="269557" y="378574"/>
                  </a:lnTo>
                  <a:lnTo>
                    <a:pt x="252437" y="361124"/>
                  </a:lnTo>
                  <a:lnTo>
                    <a:pt x="246888" y="358571"/>
                  </a:lnTo>
                  <a:lnTo>
                    <a:pt x="246888" y="417487"/>
                  </a:lnTo>
                  <a:lnTo>
                    <a:pt x="244132" y="430999"/>
                  </a:lnTo>
                  <a:lnTo>
                    <a:pt x="236626" y="442061"/>
                  </a:lnTo>
                  <a:lnTo>
                    <a:pt x="225539" y="449541"/>
                  </a:lnTo>
                  <a:lnTo>
                    <a:pt x="211988" y="452285"/>
                  </a:lnTo>
                  <a:lnTo>
                    <a:pt x="198437" y="449541"/>
                  </a:lnTo>
                  <a:lnTo>
                    <a:pt x="187337" y="442061"/>
                  </a:lnTo>
                  <a:lnTo>
                    <a:pt x="179844" y="430999"/>
                  </a:lnTo>
                  <a:lnTo>
                    <a:pt x="177088" y="417487"/>
                  </a:lnTo>
                  <a:lnTo>
                    <a:pt x="179844" y="403987"/>
                  </a:lnTo>
                  <a:lnTo>
                    <a:pt x="187337" y="392925"/>
                  </a:lnTo>
                  <a:lnTo>
                    <a:pt x="198437" y="385445"/>
                  </a:lnTo>
                  <a:lnTo>
                    <a:pt x="211988" y="382701"/>
                  </a:lnTo>
                  <a:lnTo>
                    <a:pt x="225539" y="385445"/>
                  </a:lnTo>
                  <a:lnTo>
                    <a:pt x="236626" y="392925"/>
                  </a:lnTo>
                  <a:lnTo>
                    <a:pt x="244132" y="403987"/>
                  </a:lnTo>
                  <a:lnTo>
                    <a:pt x="246888" y="417487"/>
                  </a:lnTo>
                  <a:lnTo>
                    <a:pt x="246888" y="358571"/>
                  </a:lnTo>
                  <a:lnTo>
                    <a:pt x="229438" y="350520"/>
                  </a:lnTo>
                  <a:lnTo>
                    <a:pt x="229438" y="320941"/>
                  </a:lnTo>
                  <a:lnTo>
                    <a:pt x="237286" y="313118"/>
                  </a:lnTo>
                  <a:lnTo>
                    <a:pt x="369011" y="313118"/>
                  </a:lnTo>
                  <a:lnTo>
                    <a:pt x="389343" y="309003"/>
                  </a:lnTo>
                  <a:lnTo>
                    <a:pt x="405980" y="297789"/>
                  </a:lnTo>
                  <a:lnTo>
                    <a:pt x="417233" y="281190"/>
                  </a:lnTo>
                  <a:lnTo>
                    <a:pt x="421360" y="260934"/>
                  </a:lnTo>
                  <a:lnTo>
                    <a:pt x="421360" y="163512"/>
                  </a:lnTo>
                  <a:lnTo>
                    <a:pt x="444042" y="186131"/>
                  </a:lnTo>
                  <a:lnTo>
                    <a:pt x="449821" y="190042"/>
                  </a:lnTo>
                  <a:lnTo>
                    <a:pt x="456247" y="191350"/>
                  </a:lnTo>
                  <a:lnTo>
                    <a:pt x="462686" y="190042"/>
                  </a:lnTo>
                  <a:lnTo>
                    <a:pt x="468464" y="186131"/>
                  </a:lnTo>
                  <a:lnTo>
                    <a:pt x="472389" y="180365"/>
                  </a:lnTo>
                  <a:lnTo>
                    <a:pt x="473697" y="173951"/>
                  </a:lnTo>
                  <a:close/>
                </a:path>
                <a:path w="578485" h="591820">
                  <a:moveTo>
                    <a:pt x="578383" y="0"/>
                  </a:moveTo>
                  <a:lnTo>
                    <a:pt x="526046" y="0"/>
                  </a:lnTo>
                  <a:lnTo>
                    <a:pt x="526046" y="52184"/>
                  </a:lnTo>
                  <a:lnTo>
                    <a:pt x="526046" y="539254"/>
                  </a:lnTo>
                  <a:lnTo>
                    <a:pt x="89852" y="539254"/>
                  </a:lnTo>
                  <a:lnTo>
                    <a:pt x="89852" y="52184"/>
                  </a:lnTo>
                  <a:lnTo>
                    <a:pt x="526046" y="52184"/>
                  </a:lnTo>
                  <a:lnTo>
                    <a:pt x="526046" y="0"/>
                  </a:lnTo>
                  <a:lnTo>
                    <a:pt x="37515" y="0"/>
                  </a:lnTo>
                  <a:lnTo>
                    <a:pt x="37515" y="52184"/>
                  </a:lnTo>
                  <a:lnTo>
                    <a:pt x="26174" y="52184"/>
                  </a:lnTo>
                  <a:lnTo>
                    <a:pt x="16598" y="54673"/>
                  </a:lnTo>
                  <a:lnTo>
                    <a:pt x="9156" y="60337"/>
                  </a:lnTo>
                  <a:lnTo>
                    <a:pt x="4330" y="68453"/>
                  </a:lnTo>
                  <a:lnTo>
                    <a:pt x="2616" y="78282"/>
                  </a:lnTo>
                  <a:lnTo>
                    <a:pt x="3962" y="88099"/>
                  </a:lnTo>
                  <a:lnTo>
                    <a:pt x="8826" y="96215"/>
                  </a:lnTo>
                  <a:lnTo>
                    <a:pt x="16484" y="101879"/>
                  </a:lnTo>
                  <a:lnTo>
                    <a:pt x="26174" y="104368"/>
                  </a:lnTo>
                  <a:lnTo>
                    <a:pt x="37515" y="104368"/>
                  </a:lnTo>
                  <a:lnTo>
                    <a:pt x="37515" y="139166"/>
                  </a:lnTo>
                  <a:lnTo>
                    <a:pt x="26174" y="139166"/>
                  </a:lnTo>
                  <a:lnTo>
                    <a:pt x="15824" y="141160"/>
                  </a:lnTo>
                  <a:lnTo>
                    <a:pt x="7518" y="146659"/>
                  </a:lnTo>
                  <a:lnTo>
                    <a:pt x="2006" y="154940"/>
                  </a:lnTo>
                  <a:lnTo>
                    <a:pt x="0" y="165252"/>
                  </a:lnTo>
                  <a:lnTo>
                    <a:pt x="2006" y="175577"/>
                  </a:lnTo>
                  <a:lnTo>
                    <a:pt x="7518" y="183845"/>
                  </a:lnTo>
                  <a:lnTo>
                    <a:pt x="15824" y="189357"/>
                  </a:lnTo>
                  <a:lnTo>
                    <a:pt x="26174" y="191350"/>
                  </a:lnTo>
                  <a:lnTo>
                    <a:pt x="37515" y="191350"/>
                  </a:lnTo>
                  <a:lnTo>
                    <a:pt x="37515" y="226136"/>
                  </a:lnTo>
                  <a:lnTo>
                    <a:pt x="26174" y="226136"/>
                  </a:lnTo>
                  <a:lnTo>
                    <a:pt x="15824" y="228142"/>
                  </a:lnTo>
                  <a:lnTo>
                    <a:pt x="7518" y="233641"/>
                  </a:lnTo>
                  <a:lnTo>
                    <a:pt x="2006" y="241922"/>
                  </a:lnTo>
                  <a:lnTo>
                    <a:pt x="0" y="252234"/>
                  </a:lnTo>
                  <a:lnTo>
                    <a:pt x="2006" y="262547"/>
                  </a:lnTo>
                  <a:lnTo>
                    <a:pt x="7518" y="270827"/>
                  </a:lnTo>
                  <a:lnTo>
                    <a:pt x="15824" y="276326"/>
                  </a:lnTo>
                  <a:lnTo>
                    <a:pt x="26174" y="278333"/>
                  </a:lnTo>
                  <a:lnTo>
                    <a:pt x="37515" y="278333"/>
                  </a:lnTo>
                  <a:lnTo>
                    <a:pt x="37515" y="313118"/>
                  </a:lnTo>
                  <a:lnTo>
                    <a:pt x="26174" y="313118"/>
                  </a:lnTo>
                  <a:lnTo>
                    <a:pt x="15824" y="315112"/>
                  </a:lnTo>
                  <a:lnTo>
                    <a:pt x="7518" y="320624"/>
                  </a:lnTo>
                  <a:lnTo>
                    <a:pt x="2006" y="328891"/>
                  </a:lnTo>
                  <a:lnTo>
                    <a:pt x="0" y="339217"/>
                  </a:lnTo>
                  <a:lnTo>
                    <a:pt x="2006" y="349529"/>
                  </a:lnTo>
                  <a:lnTo>
                    <a:pt x="7518" y="357797"/>
                  </a:lnTo>
                  <a:lnTo>
                    <a:pt x="15824" y="363308"/>
                  </a:lnTo>
                  <a:lnTo>
                    <a:pt x="26174" y="365302"/>
                  </a:lnTo>
                  <a:lnTo>
                    <a:pt x="37515" y="365302"/>
                  </a:lnTo>
                  <a:lnTo>
                    <a:pt x="37515" y="400100"/>
                  </a:lnTo>
                  <a:lnTo>
                    <a:pt x="26174" y="400100"/>
                  </a:lnTo>
                  <a:lnTo>
                    <a:pt x="15824" y="402094"/>
                  </a:lnTo>
                  <a:lnTo>
                    <a:pt x="7518" y="407593"/>
                  </a:lnTo>
                  <a:lnTo>
                    <a:pt x="2006" y="415874"/>
                  </a:lnTo>
                  <a:lnTo>
                    <a:pt x="0" y="426186"/>
                  </a:lnTo>
                  <a:lnTo>
                    <a:pt x="2006" y="436499"/>
                  </a:lnTo>
                  <a:lnTo>
                    <a:pt x="7518" y="444779"/>
                  </a:lnTo>
                  <a:lnTo>
                    <a:pt x="15824" y="450278"/>
                  </a:lnTo>
                  <a:lnTo>
                    <a:pt x="26174" y="452285"/>
                  </a:lnTo>
                  <a:lnTo>
                    <a:pt x="37515" y="452285"/>
                  </a:lnTo>
                  <a:lnTo>
                    <a:pt x="37515" y="487070"/>
                  </a:lnTo>
                  <a:lnTo>
                    <a:pt x="26174" y="487070"/>
                  </a:lnTo>
                  <a:lnTo>
                    <a:pt x="15824" y="489077"/>
                  </a:lnTo>
                  <a:lnTo>
                    <a:pt x="7518" y="494576"/>
                  </a:lnTo>
                  <a:lnTo>
                    <a:pt x="2006" y="502856"/>
                  </a:lnTo>
                  <a:lnTo>
                    <a:pt x="0" y="513168"/>
                  </a:lnTo>
                  <a:lnTo>
                    <a:pt x="2006" y="523481"/>
                  </a:lnTo>
                  <a:lnTo>
                    <a:pt x="7518" y="531761"/>
                  </a:lnTo>
                  <a:lnTo>
                    <a:pt x="15824" y="537260"/>
                  </a:lnTo>
                  <a:lnTo>
                    <a:pt x="26174" y="539254"/>
                  </a:lnTo>
                  <a:lnTo>
                    <a:pt x="37515" y="539254"/>
                  </a:lnTo>
                  <a:lnTo>
                    <a:pt x="37515" y="591451"/>
                  </a:lnTo>
                  <a:lnTo>
                    <a:pt x="578383" y="591451"/>
                  </a:lnTo>
                  <a:lnTo>
                    <a:pt x="57838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04960" y="3401859"/>
              <a:ext cx="139580" cy="139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113037" y="3158321"/>
              <a:ext cx="139580" cy="1391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060473" y="4534827"/>
            <a:ext cx="2421890" cy="79375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L="12700" marR="5080" indent="3175">
              <a:lnSpc>
                <a:spcPts val="1939"/>
              </a:lnSpc>
              <a:spcBef>
                <a:spcPts val="345"/>
              </a:spcBef>
            </a:pPr>
            <a:r>
              <a:rPr dirty="0" sz="1800" spc="-25">
                <a:solidFill>
                  <a:srgbClr val="0071CE"/>
                </a:solidFill>
                <a:latin typeface="Arial"/>
                <a:cs typeface="Arial"/>
              </a:rPr>
              <a:t>STRATEGY  </a:t>
            </a: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DEVELOPMENT and  DEPLOYMENT</a:t>
            </a:r>
            <a:r>
              <a:rPr dirty="0" sz="1800" spc="-7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(OKRs)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31308" y="2377439"/>
            <a:ext cx="1935480" cy="1956435"/>
            <a:chOff x="5131308" y="2377439"/>
            <a:chExt cx="1935480" cy="1956435"/>
          </a:xfrm>
        </p:grpSpPr>
        <p:sp>
          <p:nvSpPr>
            <p:cNvPr id="10" name="object 10"/>
            <p:cNvSpPr/>
            <p:nvPr/>
          </p:nvSpPr>
          <p:spPr>
            <a:xfrm>
              <a:off x="5131308" y="2377439"/>
              <a:ext cx="1935480" cy="1956435"/>
            </a:xfrm>
            <a:custGeom>
              <a:avLst/>
              <a:gdLst/>
              <a:ahLst/>
              <a:cxnLst/>
              <a:rect l="l" t="t" r="r" b="b"/>
              <a:pathLst>
                <a:path w="1935479" h="1956435">
                  <a:moveTo>
                    <a:pt x="967740" y="0"/>
                  </a:moveTo>
                  <a:lnTo>
                    <a:pt x="919440" y="1196"/>
                  </a:lnTo>
                  <a:lnTo>
                    <a:pt x="871753" y="4750"/>
                  </a:lnTo>
                  <a:lnTo>
                    <a:pt x="824734" y="10604"/>
                  </a:lnTo>
                  <a:lnTo>
                    <a:pt x="778440" y="18702"/>
                  </a:lnTo>
                  <a:lnTo>
                    <a:pt x="732924" y="28989"/>
                  </a:lnTo>
                  <a:lnTo>
                    <a:pt x="688244" y="41409"/>
                  </a:lnTo>
                  <a:lnTo>
                    <a:pt x="644454" y="55904"/>
                  </a:lnTo>
                  <a:lnTo>
                    <a:pt x="601609" y="72420"/>
                  </a:lnTo>
                  <a:lnTo>
                    <a:pt x="559765" y="90901"/>
                  </a:lnTo>
                  <a:lnTo>
                    <a:pt x="518978" y="111289"/>
                  </a:lnTo>
                  <a:lnTo>
                    <a:pt x="479303" y="133530"/>
                  </a:lnTo>
                  <a:lnTo>
                    <a:pt x="440795" y="157567"/>
                  </a:lnTo>
                  <a:lnTo>
                    <a:pt x="403511" y="183344"/>
                  </a:lnTo>
                  <a:lnTo>
                    <a:pt x="367504" y="210806"/>
                  </a:lnTo>
                  <a:lnTo>
                    <a:pt x="332831" y="239895"/>
                  </a:lnTo>
                  <a:lnTo>
                    <a:pt x="299548" y="270556"/>
                  </a:lnTo>
                  <a:lnTo>
                    <a:pt x="267709" y="302734"/>
                  </a:lnTo>
                  <a:lnTo>
                    <a:pt x="237370" y="336371"/>
                  </a:lnTo>
                  <a:lnTo>
                    <a:pt x="208587" y="371413"/>
                  </a:lnTo>
                  <a:lnTo>
                    <a:pt x="181415" y="407802"/>
                  </a:lnTo>
                  <a:lnTo>
                    <a:pt x="155909" y="445483"/>
                  </a:lnTo>
                  <a:lnTo>
                    <a:pt x="132125" y="484400"/>
                  </a:lnTo>
                  <a:lnTo>
                    <a:pt x="110118" y="524497"/>
                  </a:lnTo>
                  <a:lnTo>
                    <a:pt x="89944" y="565717"/>
                  </a:lnTo>
                  <a:lnTo>
                    <a:pt x="71658" y="608006"/>
                  </a:lnTo>
                  <a:lnTo>
                    <a:pt x="55316" y="651306"/>
                  </a:lnTo>
                  <a:lnTo>
                    <a:pt x="40973" y="695561"/>
                  </a:lnTo>
                  <a:lnTo>
                    <a:pt x="28684" y="740717"/>
                  </a:lnTo>
                  <a:lnTo>
                    <a:pt x="18506" y="786716"/>
                  </a:lnTo>
                  <a:lnTo>
                    <a:pt x="10492" y="833502"/>
                  </a:lnTo>
                  <a:lnTo>
                    <a:pt x="4700" y="881020"/>
                  </a:lnTo>
                  <a:lnTo>
                    <a:pt x="1184" y="929214"/>
                  </a:lnTo>
                  <a:lnTo>
                    <a:pt x="0" y="978026"/>
                  </a:lnTo>
                  <a:lnTo>
                    <a:pt x="1184" y="1026839"/>
                  </a:lnTo>
                  <a:lnTo>
                    <a:pt x="4700" y="1075033"/>
                  </a:lnTo>
                  <a:lnTo>
                    <a:pt x="10492" y="1122551"/>
                  </a:lnTo>
                  <a:lnTo>
                    <a:pt x="18506" y="1169337"/>
                  </a:lnTo>
                  <a:lnTo>
                    <a:pt x="28684" y="1215336"/>
                  </a:lnTo>
                  <a:lnTo>
                    <a:pt x="40973" y="1260492"/>
                  </a:lnTo>
                  <a:lnTo>
                    <a:pt x="55316" y="1304747"/>
                  </a:lnTo>
                  <a:lnTo>
                    <a:pt x="71658" y="1348047"/>
                  </a:lnTo>
                  <a:lnTo>
                    <a:pt x="89944" y="1390336"/>
                  </a:lnTo>
                  <a:lnTo>
                    <a:pt x="110118" y="1431556"/>
                  </a:lnTo>
                  <a:lnTo>
                    <a:pt x="132125" y="1471653"/>
                  </a:lnTo>
                  <a:lnTo>
                    <a:pt x="155909" y="1510570"/>
                  </a:lnTo>
                  <a:lnTo>
                    <a:pt x="181415" y="1548251"/>
                  </a:lnTo>
                  <a:lnTo>
                    <a:pt x="208587" y="1584640"/>
                  </a:lnTo>
                  <a:lnTo>
                    <a:pt x="237370" y="1619682"/>
                  </a:lnTo>
                  <a:lnTo>
                    <a:pt x="267709" y="1653319"/>
                  </a:lnTo>
                  <a:lnTo>
                    <a:pt x="299548" y="1685497"/>
                  </a:lnTo>
                  <a:lnTo>
                    <a:pt x="332831" y="1716158"/>
                  </a:lnTo>
                  <a:lnTo>
                    <a:pt x="367504" y="1745247"/>
                  </a:lnTo>
                  <a:lnTo>
                    <a:pt x="403511" y="1772709"/>
                  </a:lnTo>
                  <a:lnTo>
                    <a:pt x="440795" y="1798486"/>
                  </a:lnTo>
                  <a:lnTo>
                    <a:pt x="479303" y="1822523"/>
                  </a:lnTo>
                  <a:lnTo>
                    <a:pt x="518978" y="1844764"/>
                  </a:lnTo>
                  <a:lnTo>
                    <a:pt x="559765" y="1865152"/>
                  </a:lnTo>
                  <a:lnTo>
                    <a:pt x="601609" y="1883633"/>
                  </a:lnTo>
                  <a:lnTo>
                    <a:pt x="644454" y="1900149"/>
                  </a:lnTo>
                  <a:lnTo>
                    <a:pt x="688244" y="1914644"/>
                  </a:lnTo>
                  <a:lnTo>
                    <a:pt x="732924" y="1927064"/>
                  </a:lnTo>
                  <a:lnTo>
                    <a:pt x="778440" y="1937351"/>
                  </a:lnTo>
                  <a:lnTo>
                    <a:pt x="824734" y="1945449"/>
                  </a:lnTo>
                  <a:lnTo>
                    <a:pt x="871753" y="1951303"/>
                  </a:lnTo>
                  <a:lnTo>
                    <a:pt x="919440" y="1954857"/>
                  </a:lnTo>
                  <a:lnTo>
                    <a:pt x="967740" y="1956053"/>
                  </a:lnTo>
                  <a:lnTo>
                    <a:pt x="1016039" y="1954857"/>
                  </a:lnTo>
                  <a:lnTo>
                    <a:pt x="1063726" y="1951303"/>
                  </a:lnTo>
                  <a:lnTo>
                    <a:pt x="1110745" y="1945449"/>
                  </a:lnTo>
                  <a:lnTo>
                    <a:pt x="1157039" y="1937351"/>
                  </a:lnTo>
                  <a:lnTo>
                    <a:pt x="1202555" y="1927064"/>
                  </a:lnTo>
                  <a:lnTo>
                    <a:pt x="1247235" y="1914644"/>
                  </a:lnTo>
                  <a:lnTo>
                    <a:pt x="1291025" y="1900149"/>
                  </a:lnTo>
                  <a:lnTo>
                    <a:pt x="1333870" y="1883633"/>
                  </a:lnTo>
                  <a:lnTo>
                    <a:pt x="1375714" y="1865152"/>
                  </a:lnTo>
                  <a:lnTo>
                    <a:pt x="1416501" y="1844764"/>
                  </a:lnTo>
                  <a:lnTo>
                    <a:pt x="1456176" y="1822523"/>
                  </a:lnTo>
                  <a:lnTo>
                    <a:pt x="1494684" y="1798486"/>
                  </a:lnTo>
                  <a:lnTo>
                    <a:pt x="1531968" y="1772709"/>
                  </a:lnTo>
                  <a:lnTo>
                    <a:pt x="1567975" y="1745247"/>
                  </a:lnTo>
                  <a:lnTo>
                    <a:pt x="1602648" y="1716158"/>
                  </a:lnTo>
                  <a:lnTo>
                    <a:pt x="1635931" y="1685497"/>
                  </a:lnTo>
                  <a:lnTo>
                    <a:pt x="1667770" y="1653319"/>
                  </a:lnTo>
                  <a:lnTo>
                    <a:pt x="1698109" y="1619682"/>
                  </a:lnTo>
                  <a:lnTo>
                    <a:pt x="1726892" y="1584640"/>
                  </a:lnTo>
                  <a:lnTo>
                    <a:pt x="1754064" y="1548251"/>
                  </a:lnTo>
                  <a:lnTo>
                    <a:pt x="1779570" y="1510570"/>
                  </a:lnTo>
                  <a:lnTo>
                    <a:pt x="1803354" y="1471653"/>
                  </a:lnTo>
                  <a:lnTo>
                    <a:pt x="1825361" y="1431556"/>
                  </a:lnTo>
                  <a:lnTo>
                    <a:pt x="1845535" y="1390336"/>
                  </a:lnTo>
                  <a:lnTo>
                    <a:pt x="1863821" y="1348047"/>
                  </a:lnTo>
                  <a:lnTo>
                    <a:pt x="1880163" y="1304747"/>
                  </a:lnTo>
                  <a:lnTo>
                    <a:pt x="1894506" y="1260492"/>
                  </a:lnTo>
                  <a:lnTo>
                    <a:pt x="1906795" y="1215336"/>
                  </a:lnTo>
                  <a:lnTo>
                    <a:pt x="1916973" y="1169337"/>
                  </a:lnTo>
                  <a:lnTo>
                    <a:pt x="1924987" y="1122551"/>
                  </a:lnTo>
                  <a:lnTo>
                    <a:pt x="1930779" y="1075033"/>
                  </a:lnTo>
                  <a:lnTo>
                    <a:pt x="1934295" y="1026839"/>
                  </a:lnTo>
                  <a:lnTo>
                    <a:pt x="1935480" y="978026"/>
                  </a:lnTo>
                  <a:lnTo>
                    <a:pt x="1934295" y="929214"/>
                  </a:lnTo>
                  <a:lnTo>
                    <a:pt x="1930779" y="881020"/>
                  </a:lnTo>
                  <a:lnTo>
                    <a:pt x="1924987" y="833502"/>
                  </a:lnTo>
                  <a:lnTo>
                    <a:pt x="1916973" y="786716"/>
                  </a:lnTo>
                  <a:lnTo>
                    <a:pt x="1906795" y="740717"/>
                  </a:lnTo>
                  <a:lnTo>
                    <a:pt x="1894506" y="695561"/>
                  </a:lnTo>
                  <a:lnTo>
                    <a:pt x="1880163" y="651306"/>
                  </a:lnTo>
                  <a:lnTo>
                    <a:pt x="1863821" y="608006"/>
                  </a:lnTo>
                  <a:lnTo>
                    <a:pt x="1845535" y="565717"/>
                  </a:lnTo>
                  <a:lnTo>
                    <a:pt x="1825361" y="524497"/>
                  </a:lnTo>
                  <a:lnTo>
                    <a:pt x="1803354" y="484400"/>
                  </a:lnTo>
                  <a:lnTo>
                    <a:pt x="1779570" y="445483"/>
                  </a:lnTo>
                  <a:lnTo>
                    <a:pt x="1754064" y="407802"/>
                  </a:lnTo>
                  <a:lnTo>
                    <a:pt x="1726892" y="371413"/>
                  </a:lnTo>
                  <a:lnTo>
                    <a:pt x="1698109" y="336371"/>
                  </a:lnTo>
                  <a:lnTo>
                    <a:pt x="1667770" y="302734"/>
                  </a:lnTo>
                  <a:lnTo>
                    <a:pt x="1635931" y="270556"/>
                  </a:lnTo>
                  <a:lnTo>
                    <a:pt x="1602648" y="239895"/>
                  </a:lnTo>
                  <a:lnTo>
                    <a:pt x="1567975" y="210806"/>
                  </a:lnTo>
                  <a:lnTo>
                    <a:pt x="1531968" y="183344"/>
                  </a:lnTo>
                  <a:lnTo>
                    <a:pt x="1494684" y="157567"/>
                  </a:lnTo>
                  <a:lnTo>
                    <a:pt x="1456176" y="133530"/>
                  </a:lnTo>
                  <a:lnTo>
                    <a:pt x="1416501" y="111289"/>
                  </a:lnTo>
                  <a:lnTo>
                    <a:pt x="1375714" y="90901"/>
                  </a:lnTo>
                  <a:lnTo>
                    <a:pt x="1333870" y="72420"/>
                  </a:lnTo>
                  <a:lnTo>
                    <a:pt x="1291025" y="55904"/>
                  </a:lnTo>
                  <a:lnTo>
                    <a:pt x="1247235" y="41409"/>
                  </a:lnTo>
                  <a:lnTo>
                    <a:pt x="1202555" y="28989"/>
                  </a:lnTo>
                  <a:lnTo>
                    <a:pt x="1157039" y="18702"/>
                  </a:lnTo>
                  <a:lnTo>
                    <a:pt x="1110745" y="10604"/>
                  </a:lnTo>
                  <a:lnTo>
                    <a:pt x="1063726" y="4750"/>
                  </a:lnTo>
                  <a:lnTo>
                    <a:pt x="1016039" y="1196"/>
                  </a:lnTo>
                  <a:lnTo>
                    <a:pt x="967740" y="0"/>
                  </a:lnTo>
                  <a:close/>
                </a:path>
              </a:pathLst>
            </a:custGeom>
            <a:solidFill>
              <a:srgbClr val="C0D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45924" y="3053956"/>
              <a:ext cx="698500" cy="591820"/>
            </a:xfrm>
            <a:custGeom>
              <a:avLst/>
              <a:gdLst/>
              <a:ahLst/>
              <a:cxnLst/>
              <a:rect l="l" t="t" r="r" b="b"/>
              <a:pathLst>
                <a:path w="698500" h="591820">
                  <a:moveTo>
                    <a:pt x="174485" y="469684"/>
                  </a:moveTo>
                  <a:lnTo>
                    <a:pt x="0" y="469684"/>
                  </a:lnTo>
                  <a:lnTo>
                    <a:pt x="0" y="591451"/>
                  </a:lnTo>
                  <a:lnTo>
                    <a:pt x="174485" y="591451"/>
                  </a:lnTo>
                  <a:lnTo>
                    <a:pt x="174485" y="469684"/>
                  </a:lnTo>
                  <a:close/>
                </a:path>
                <a:path w="698500" h="591820">
                  <a:moveTo>
                    <a:pt x="436181" y="469684"/>
                  </a:moveTo>
                  <a:lnTo>
                    <a:pt x="261708" y="469684"/>
                  </a:lnTo>
                  <a:lnTo>
                    <a:pt x="261708" y="591451"/>
                  </a:lnTo>
                  <a:lnTo>
                    <a:pt x="436181" y="591451"/>
                  </a:lnTo>
                  <a:lnTo>
                    <a:pt x="436181" y="469684"/>
                  </a:lnTo>
                  <a:close/>
                </a:path>
                <a:path w="698500" h="591820">
                  <a:moveTo>
                    <a:pt x="436181" y="0"/>
                  </a:moveTo>
                  <a:lnTo>
                    <a:pt x="261708" y="0"/>
                  </a:lnTo>
                  <a:lnTo>
                    <a:pt x="261708" y="121767"/>
                  </a:lnTo>
                  <a:lnTo>
                    <a:pt x="436181" y="121767"/>
                  </a:lnTo>
                  <a:lnTo>
                    <a:pt x="436181" y="0"/>
                  </a:lnTo>
                  <a:close/>
                </a:path>
                <a:path w="698500" h="591820">
                  <a:moveTo>
                    <a:pt x="628103" y="278904"/>
                  </a:moveTo>
                  <a:lnTo>
                    <a:pt x="366395" y="278904"/>
                  </a:lnTo>
                  <a:lnTo>
                    <a:pt x="366395" y="157175"/>
                  </a:lnTo>
                  <a:lnTo>
                    <a:pt x="331495" y="157175"/>
                  </a:lnTo>
                  <a:lnTo>
                    <a:pt x="331495" y="278904"/>
                  </a:lnTo>
                  <a:lnTo>
                    <a:pt x="69786" y="278904"/>
                  </a:lnTo>
                  <a:lnTo>
                    <a:pt x="69786" y="313143"/>
                  </a:lnTo>
                  <a:lnTo>
                    <a:pt x="69786" y="434886"/>
                  </a:lnTo>
                  <a:lnTo>
                    <a:pt x="104686" y="434886"/>
                  </a:lnTo>
                  <a:lnTo>
                    <a:pt x="104686" y="313143"/>
                  </a:lnTo>
                  <a:lnTo>
                    <a:pt x="331495" y="313143"/>
                  </a:lnTo>
                  <a:lnTo>
                    <a:pt x="331495" y="434886"/>
                  </a:lnTo>
                  <a:lnTo>
                    <a:pt x="366395" y="434886"/>
                  </a:lnTo>
                  <a:lnTo>
                    <a:pt x="366395" y="313143"/>
                  </a:lnTo>
                  <a:lnTo>
                    <a:pt x="593217" y="313143"/>
                  </a:lnTo>
                  <a:lnTo>
                    <a:pt x="593217" y="434886"/>
                  </a:lnTo>
                  <a:lnTo>
                    <a:pt x="628103" y="434886"/>
                  </a:lnTo>
                  <a:lnTo>
                    <a:pt x="628103" y="313143"/>
                  </a:lnTo>
                  <a:lnTo>
                    <a:pt x="628103" y="278904"/>
                  </a:lnTo>
                  <a:close/>
                </a:path>
                <a:path w="698500" h="591820">
                  <a:moveTo>
                    <a:pt x="697903" y="469684"/>
                  </a:moveTo>
                  <a:lnTo>
                    <a:pt x="523417" y="469684"/>
                  </a:lnTo>
                  <a:lnTo>
                    <a:pt x="523417" y="591451"/>
                  </a:lnTo>
                  <a:lnTo>
                    <a:pt x="697903" y="591451"/>
                  </a:lnTo>
                  <a:lnTo>
                    <a:pt x="697903" y="469684"/>
                  </a:lnTo>
                  <a:close/>
                </a:path>
              </a:pathLst>
            </a:custGeom>
            <a:solidFill>
              <a:srgbClr val="0071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902771" y="4550664"/>
            <a:ext cx="2400935" cy="79375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L="12065" marR="5080">
              <a:lnSpc>
                <a:spcPts val="1939"/>
              </a:lnSpc>
              <a:spcBef>
                <a:spcPts val="345"/>
              </a:spcBef>
            </a:pPr>
            <a:r>
              <a:rPr dirty="0" sz="1800" spc="-20">
                <a:solidFill>
                  <a:srgbClr val="0071CE"/>
                </a:solidFill>
                <a:latin typeface="Arial"/>
                <a:cs typeface="Arial"/>
              </a:rPr>
              <a:t>OPERATIONAL</a:t>
            </a:r>
            <a:r>
              <a:rPr dirty="0" sz="1800" spc="-13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0071CE"/>
                </a:solidFill>
                <a:latin typeface="Arial"/>
                <a:cs typeface="Arial"/>
              </a:rPr>
              <a:t>TOTAL  </a:t>
            </a: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SHAREHOLDER  RETURN</a:t>
            </a:r>
            <a:r>
              <a:rPr dirty="0" sz="1800" spc="-2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(OTSR)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73568" y="2377439"/>
            <a:ext cx="1935480" cy="1956435"/>
            <a:chOff x="7973568" y="2377439"/>
            <a:chExt cx="1935480" cy="1956435"/>
          </a:xfrm>
        </p:grpSpPr>
        <p:sp>
          <p:nvSpPr>
            <p:cNvPr id="14" name="object 14"/>
            <p:cNvSpPr/>
            <p:nvPr/>
          </p:nvSpPr>
          <p:spPr>
            <a:xfrm>
              <a:off x="7973568" y="2377439"/>
              <a:ext cx="1935480" cy="1956435"/>
            </a:xfrm>
            <a:custGeom>
              <a:avLst/>
              <a:gdLst/>
              <a:ahLst/>
              <a:cxnLst/>
              <a:rect l="l" t="t" r="r" b="b"/>
              <a:pathLst>
                <a:path w="1935479" h="1956435">
                  <a:moveTo>
                    <a:pt x="967740" y="0"/>
                  </a:moveTo>
                  <a:lnTo>
                    <a:pt x="919440" y="1196"/>
                  </a:lnTo>
                  <a:lnTo>
                    <a:pt x="871753" y="4750"/>
                  </a:lnTo>
                  <a:lnTo>
                    <a:pt x="824734" y="10604"/>
                  </a:lnTo>
                  <a:lnTo>
                    <a:pt x="778440" y="18702"/>
                  </a:lnTo>
                  <a:lnTo>
                    <a:pt x="732924" y="28989"/>
                  </a:lnTo>
                  <a:lnTo>
                    <a:pt x="688244" y="41409"/>
                  </a:lnTo>
                  <a:lnTo>
                    <a:pt x="644454" y="55904"/>
                  </a:lnTo>
                  <a:lnTo>
                    <a:pt x="601609" y="72420"/>
                  </a:lnTo>
                  <a:lnTo>
                    <a:pt x="559765" y="90901"/>
                  </a:lnTo>
                  <a:lnTo>
                    <a:pt x="518978" y="111289"/>
                  </a:lnTo>
                  <a:lnTo>
                    <a:pt x="479303" y="133530"/>
                  </a:lnTo>
                  <a:lnTo>
                    <a:pt x="440795" y="157567"/>
                  </a:lnTo>
                  <a:lnTo>
                    <a:pt x="403511" y="183344"/>
                  </a:lnTo>
                  <a:lnTo>
                    <a:pt x="367504" y="210806"/>
                  </a:lnTo>
                  <a:lnTo>
                    <a:pt x="332831" y="239895"/>
                  </a:lnTo>
                  <a:lnTo>
                    <a:pt x="299548" y="270556"/>
                  </a:lnTo>
                  <a:lnTo>
                    <a:pt x="267709" y="302734"/>
                  </a:lnTo>
                  <a:lnTo>
                    <a:pt x="237370" y="336371"/>
                  </a:lnTo>
                  <a:lnTo>
                    <a:pt x="208587" y="371413"/>
                  </a:lnTo>
                  <a:lnTo>
                    <a:pt x="181415" y="407802"/>
                  </a:lnTo>
                  <a:lnTo>
                    <a:pt x="155909" y="445483"/>
                  </a:lnTo>
                  <a:lnTo>
                    <a:pt x="132125" y="484400"/>
                  </a:lnTo>
                  <a:lnTo>
                    <a:pt x="110118" y="524497"/>
                  </a:lnTo>
                  <a:lnTo>
                    <a:pt x="89944" y="565717"/>
                  </a:lnTo>
                  <a:lnTo>
                    <a:pt x="71658" y="608006"/>
                  </a:lnTo>
                  <a:lnTo>
                    <a:pt x="55316" y="651306"/>
                  </a:lnTo>
                  <a:lnTo>
                    <a:pt x="40973" y="695561"/>
                  </a:lnTo>
                  <a:lnTo>
                    <a:pt x="28684" y="740717"/>
                  </a:lnTo>
                  <a:lnTo>
                    <a:pt x="18506" y="786716"/>
                  </a:lnTo>
                  <a:lnTo>
                    <a:pt x="10492" y="833502"/>
                  </a:lnTo>
                  <a:lnTo>
                    <a:pt x="4700" y="881020"/>
                  </a:lnTo>
                  <a:lnTo>
                    <a:pt x="1184" y="929214"/>
                  </a:lnTo>
                  <a:lnTo>
                    <a:pt x="0" y="978026"/>
                  </a:lnTo>
                  <a:lnTo>
                    <a:pt x="1184" y="1026839"/>
                  </a:lnTo>
                  <a:lnTo>
                    <a:pt x="4700" y="1075033"/>
                  </a:lnTo>
                  <a:lnTo>
                    <a:pt x="10492" y="1122551"/>
                  </a:lnTo>
                  <a:lnTo>
                    <a:pt x="18506" y="1169337"/>
                  </a:lnTo>
                  <a:lnTo>
                    <a:pt x="28684" y="1215336"/>
                  </a:lnTo>
                  <a:lnTo>
                    <a:pt x="40973" y="1260492"/>
                  </a:lnTo>
                  <a:lnTo>
                    <a:pt x="55316" y="1304747"/>
                  </a:lnTo>
                  <a:lnTo>
                    <a:pt x="71658" y="1348047"/>
                  </a:lnTo>
                  <a:lnTo>
                    <a:pt x="89944" y="1390336"/>
                  </a:lnTo>
                  <a:lnTo>
                    <a:pt x="110118" y="1431556"/>
                  </a:lnTo>
                  <a:lnTo>
                    <a:pt x="132125" y="1471653"/>
                  </a:lnTo>
                  <a:lnTo>
                    <a:pt x="155909" y="1510570"/>
                  </a:lnTo>
                  <a:lnTo>
                    <a:pt x="181415" y="1548251"/>
                  </a:lnTo>
                  <a:lnTo>
                    <a:pt x="208587" y="1584640"/>
                  </a:lnTo>
                  <a:lnTo>
                    <a:pt x="237370" y="1619682"/>
                  </a:lnTo>
                  <a:lnTo>
                    <a:pt x="267709" y="1653319"/>
                  </a:lnTo>
                  <a:lnTo>
                    <a:pt x="299548" y="1685497"/>
                  </a:lnTo>
                  <a:lnTo>
                    <a:pt x="332831" y="1716158"/>
                  </a:lnTo>
                  <a:lnTo>
                    <a:pt x="367504" y="1745247"/>
                  </a:lnTo>
                  <a:lnTo>
                    <a:pt x="403511" y="1772709"/>
                  </a:lnTo>
                  <a:lnTo>
                    <a:pt x="440795" y="1798486"/>
                  </a:lnTo>
                  <a:lnTo>
                    <a:pt x="479303" y="1822523"/>
                  </a:lnTo>
                  <a:lnTo>
                    <a:pt x="518978" y="1844764"/>
                  </a:lnTo>
                  <a:lnTo>
                    <a:pt x="559765" y="1865152"/>
                  </a:lnTo>
                  <a:lnTo>
                    <a:pt x="601609" y="1883633"/>
                  </a:lnTo>
                  <a:lnTo>
                    <a:pt x="644454" y="1900149"/>
                  </a:lnTo>
                  <a:lnTo>
                    <a:pt x="688244" y="1914644"/>
                  </a:lnTo>
                  <a:lnTo>
                    <a:pt x="732924" y="1927064"/>
                  </a:lnTo>
                  <a:lnTo>
                    <a:pt x="778440" y="1937351"/>
                  </a:lnTo>
                  <a:lnTo>
                    <a:pt x="824734" y="1945449"/>
                  </a:lnTo>
                  <a:lnTo>
                    <a:pt x="871753" y="1951303"/>
                  </a:lnTo>
                  <a:lnTo>
                    <a:pt x="919440" y="1954857"/>
                  </a:lnTo>
                  <a:lnTo>
                    <a:pt x="967740" y="1956053"/>
                  </a:lnTo>
                  <a:lnTo>
                    <a:pt x="1016039" y="1954857"/>
                  </a:lnTo>
                  <a:lnTo>
                    <a:pt x="1063726" y="1951303"/>
                  </a:lnTo>
                  <a:lnTo>
                    <a:pt x="1110745" y="1945449"/>
                  </a:lnTo>
                  <a:lnTo>
                    <a:pt x="1157039" y="1937351"/>
                  </a:lnTo>
                  <a:lnTo>
                    <a:pt x="1202555" y="1927064"/>
                  </a:lnTo>
                  <a:lnTo>
                    <a:pt x="1247235" y="1914644"/>
                  </a:lnTo>
                  <a:lnTo>
                    <a:pt x="1291025" y="1900149"/>
                  </a:lnTo>
                  <a:lnTo>
                    <a:pt x="1333870" y="1883633"/>
                  </a:lnTo>
                  <a:lnTo>
                    <a:pt x="1375714" y="1865152"/>
                  </a:lnTo>
                  <a:lnTo>
                    <a:pt x="1416501" y="1844764"/>
                  </a:lnTo>
                  <a:lnTo>
                    <a:pt x="1456176" y="1822523"/>
                  </a:lnTo>
                  <a:lnTo>
                    <a:pt x="1494684" y="1798486"/>
                  </a:lnTo>
                  <a:lnTo>
                    <a:pt x="1531968" y="1772709"/>
                  </a:lnTo>
                  <a:lnTo>
                    <a:pt x="1567975" y="1745247"/>
                  </a:lnTo>
                  <a:lnTo>
                    <a:pt x="1602648" y="1716158"/>
                  </a:lnTo>
                  <a:lnTo>
                    <a:pt x="1635931" y="1685497"/>
                  </a:lnTo>
                  <a:lnTo>
                    <a:pt x="1667770" y="1653319"/>
                  </a:lnTo>
                  <a:lnTo>
                    <a:pt x="1698109" y="1619682"/>
                  </a:lnTo>
                  <a:lnTo>
                    <a:pt x="1726892" y="1584640"/>
                  </a:lnTo>
                  <a:lnTo>
                    <a:pt x="1754064" y="1548251"/>
                  </a:lnTo>
                  <a:lnTo>
                    <a:pt x="1779570" y="1510570"/>
                  </a:lnTo>
                  <a:lnTo>
                    <a:pt x="1803354" y="1471653"/>
                  </a:lnTo>
                  <a:lnTo>
                    <a:pt x="1825361" y="1431556"/>
                  </a:lnTo>
                  <a:lnTo>
                    <a:pt x="1845535" y="1390336"/>
                  </a:lnTo>
                  <a:lnTo>
                    <a:pt x="1863821" y="1348047"/>
                  </a:lnTo>
                  <a:lnTo>
                    <a:pt x="1880163" y="1304747"/>
                  </a:lnTo>
                  <a:lnTo>
                    <a:pt x="1894506" y="1260492"/>
                  </a:lnTo>
                  <a:lnTo>
                    <a:pt x="1906795" y="1215336"/>
                  </a:lnTo>
                  <a:lnTo>
                    <a:pt x="1916973" y="1169337"/>
                  </a:lnTo>
                  <a:lnTo>
                    <a:pt x="1924987" y="1122551"/>
                  </a:lnTo>
                  <a:lnTo>
                    <a:pt x="1930779" y="1075033"/>
                  </a:lnTo>
                  <a:lnTo>
                    <a:pt x="1934295" y="1026839"/>
                  </a:lnTo>
                  <a:lnTo>
                    <a:pt x="1935480" y="978026"/>
                  </a:lnTo>
                  <a:lnTo>
                    <a:pt x="1934295" y="929214"/>
                  </a:lnTo>
                  <a:lnTo>
                    <a:pt x="1930779" y="881020"/>
                  </a:lnTo>
                  <a:lnTo>
                    <a:pt x="1924987" y="833502"/>
                  </a:lnTo>
                  <a:lnTo>
                    <a:pt x="1916973" y="786716"/>
                  </a:lnTo>
                  <a:lnTo>
                    <a:pt x="1906795" y="740717"/>
                  </a:lnTo>
                  <a:lnTo>
                    <a:pt x="1894506" y="695561"/>
                  </a:lnTo>
                  <a:lnTo>
                    <a:pt x="1880163" y="651306"/>
                  </a:lnTo>
                  <a:lnTo>
                    <a:pt x="1863821" y="608006"/>
                  </a:lnTo>
                  <a:lnTo>
                    <a:pt x="1845535" y="565717"/>
                  </a:lnTo>
                  <a:lnTo>
                    <a:pt x="1825361" y="524497"/>
                  </a:lnTo>
                  <a:lnTo>
                    <a:pt x="1803354" y="484400"/>
                  </a:lnTo>
                  <a:lnTo>
                    <a:pt x="1779570" y="445483"/>
                  </a:lnTo>
                  <a:lnTo>
                    <a:pt x="1754064" y="407802"/>
                  </a:lnTo>
                  <a:lnTo>
                    <a:pt x="1726892" y="371413"/>
                  </a:lnTo>
                  <a:lnTo>
                    <a:pt x="1698109" y="336371"/>
                  </a:lnTo>
                  <a:lnTo>
                    <a:pt x="1667770" y="302734"/>
                  </a:lnTo>
                  <a:lnTo>
                    <a:pt x="1635931" y="270556"/>
                  </a:lnTo>
                  <a:lnTo>
                    <a:pt x="1602648" y="239895"/>
                  </a:lnTo>
                  <a:lnTo>
                    <a:pt x="1567975" y="210806"/>
                  </a:lnTo>
                  <a:lnTo>
                    <a:pt x="1531968" y="183344"/>
                  </a:lnTo>
                  <a:lnTo>
                    <a:pt x="1494684" y="157567"/>
                  </a:lnTo>
                  <a:lnTo>
                    <a:pt x="1456176" y="133530"/>
                  </a:lnTo>
                  <a:lnTo>
                    <a:pt x="1416501" y="111289"/>
                  </a:lnTo>
                  <a:lnTo>
                    <a:pt x="1375714" y="90901"/>
                  </a:lnTo>
                  <a:lnTo>
                    <a:pt x="1333870" y="72420"/>
                  </a:lnTo>
                  <a:lnTo>
                    <a:pt x="1291025" y="55904"/>
                  </a:lnTo>
                  <a:lnTo>
                    <a:pt x="1247235" y="41409"/>
                  </a:lnTo>
                  <a:lnTo>
                    <a:pt x="1202555" y="28989"/>
                  </a:lnTo>
                  <a:lnTo>
                    <a:pt x="1157039" y="18702"/>
                  </a:lnTo>
                  <a:lnTo>
                    <a:pt x="1110745" y="10604"/>
                  </a:lnTo>
                  <a:lnTo>
                    <a:pt x="1063726" y="4750"/>
                  </a:lnTo>
                  <a:lnTo>
                    <a:pt x="1016039" y="1196"/>
                  </a:lnTo>
                  <a:lnTo>
                    <a:pt x="967740" y="0"/>
                  </a:lnTo>
                  <a:close/>
                </a:path>
              </a:pathLst>
            </a:custGeom>
            <a:solidFill>
              <a:srgbClr val="C0D2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552533" y="3280090"/>
              <a:ext cx="767715" cy="347980"/>
            </a:xfrm>
            <a:custGeom>
              <a:avLst/>
              <a:gdLst/>
              <a:ahLst/>
              <a:cxnLst/>
              <a:rect l="l" t="t" r="r" b="b"/>
              <a:pathLst>
                <a:path w="767715" h="347979">
                  <a:moveTo>
                    <a:pt x="767684" y="347910"/>
                  </a:moveTo>
                  <a:lnTo>
                    <a:pt x="0" y="347910"/>
                  </a:lnTo>
                  <a:lnTo>
                    <a:pt x="0" y="0"/>
                  </a:lnTo>
                  <a:lnTo>
                    <a:pt x="767684" y="0"/>
                  </a:lnTo>
                  <a:lnTo>
                    <a:pt x="767684" y="52186"/>
                  </a:lnTo>
                  <a:lnTo>
                    <a:pt x="87237" y="52186"/>
                  </a:lnTo>
                  <a:lnTo>
                    <a:pt x="52333" y="86977"/>
                  </a:lnTo>
                  <a:lnTo>
                    <a:pt x="52333" y="260924"/>
                  </a:lnTo>
                  <a:lnTo>
                    <a:pt x="87237" y="295723"/>
                  </a:lnTo>
                  <a:lnTo>
                    <a:pt x="767684" y="295723"/>
                  </a:lnTo>
                  <a:lnTo>
                    <a:pt x="767684" y="347910"/>
                  </a:lnTo>
                  <a:close/>
                </a:path>
                <a:path w="767715" h="347979">
                  <a:moveTo>
                    <a:pt x="767684" y="295723"/>
                  </a:moveTo>
                  <a:lnTo>
                    <a:pt x="689178" y="295723"/>
                  </a:lnTo>
                  <a:lnTo>
                    <a:pt x="715350" y="269621"/>
                  </a:lnTo>
                  <a:lnTo>
                    <a:pt x="715350" y="78279"/>
                  </a:lnTo>
                  <a:lnTo>
                    <a:pt x="689178" y="52186"/>
                  </a:lnTo>
                  <a:lnTo>
                    <a:pt x="767684" y="52186"/>
                  </a:lnTo>
                  <a:lnTo>
                    <a:pt x="767684" y="295723"/>
                  </a:lnTo>
                  <a:close/>
                </a:path>
              </a:pathLst>
            </a:custGeom>
            <a:solidFill>
              <a:srgbClr val="0071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866588" y="3367068"/>
              <a:ext cx="139580" cy="1739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651977" y="3043516"/>
              <a:ext cx="592455" cy="436880"/>
            </a:xfrm>
            <a:custGeom>
              <a:avLst/>
              <a:gdLst/>
              <a:ahLst/>
              <a:cxnLst/>
              <a:rect l="l" t="t" r="r" b="b"/>
              <a:pathLst>
                <a:path w="592454" h="436879">
                  <a:moveTo>
                    <a:pt x="92468" y="410540"/>
                  </a:moveTo>
                  <a:lnTo>
                    <a:pt x="90411" y="400380"/>
                  </a:lnTo>
                  <a:lnTo>
                    <a:pt x="84810" y="392087"/>
                  </a:lnTo>
                  <a:lnTo>
                    <a:pt x="76492" y="386486"/>
                  </a:lnTo>
                  <a:lnTo>
                    <a:pt x="66306" y="384441"/>
                  </a:lnTo>
                  <a:lnTo>
                    <a:pt x="56108" y="386486"/>
                  </a:lnTo>
                  <a:lnTo>
                    <a:pt x="47790" y="392087"/>
                  </a:lnTo>
                  <a:lnTo>
                    <a:pt x="42189" y="400380"/>
                  </a:lnTo>
                  <a:lnTo>
                    <a:pt x="40132" y="410540"/>
                  </a:lnTo>
                  <a:lnTo>
                    <a:pt x="42189" y="420687"/>
                  </a:lnTo>
                  <a:lnTo>
                    <a:pt x="47790" y="428980"/>
                  </a:lnTo>
                  <a:lnTo>
                    <a:pt x="56108" y="434581"/>
                  </a:lnTo>
                  <a:lnTo>
                    <a:pt x="66306" y="436626"/>
                  </a:lnTo>
                  <a:lnTo>
                    <a:pt x="76492" y="434581"/>
                  </a:lnTo>
                  <a:lnTo>
                    <a:pt x="84810" y="428980"/>
                  </a:lnTo>
                  <a:lnTo>
                    <a:pt x="90411" y="420687"/>
                  </a:lnTo>
                  <a:lnTo>
                    <a:pt x="92468" y="410540"/>
                  </a:lnTo>
                  <a:close/>
                </a:path>
                <a:path w="592454" h="436879">
                  <a:moveTo>
                    <a:pt x="505980" y="91325"/>
                  </a:moveTo>
                  <a:lnTo>
                    <a:pt x="469341" y="0"/>
                  </a:lnTo>
                  <a:lnTo>
                    <a:pt x="0" y="191350"/>
                  </a:lnTo>
                  <a:lnTo>
                    <a:pt x="268693" y="138290"/>
                  </a:lnTo>
                  <a:lnTo>
                    <a:pt x="440550" y="68707"/>
                  </a:lnTo>
                  <a:lnTo>
                    <a:pt x="453631" y="101765"/>
                  </a:lnTo>
                  <a:lnTo>
                    <a:pt x="505980" y="91325"/>
                  </a:lnTo>
                  <a:close/>
                </a:path>
                <a:path w="592454" h="436879">
                  <a:moveTo>
                    <a:pt x="528662" y="410540"/>
                  </a:moveTo>
                  <a:lnTo>
                    <a:pt x="526605" y="400380"/>
                  </a:lnTo>
                  <a:lnTo>
                    <a:pt x="520992" y="392087"/>
                  </a:lnTo>
                  <a:lnTo>
                    <a:pt x="512673" y="386486"/>
                  </a:lnTo>
                  <a:lnTo>
                    <a:pt x="502488" y="384441"/>
                  </a:lnTo>
                  <a:lnTo>
                    <a:pt x="492302" y="386486"/>
                  </a:lnTo>
                  <a:lnTo>
                    <a:pt x="483984" y="392087"/>
                  </a:lnTo>
                  <a:lnTo>
                    <a:pt x="478370" y="400380"/>
                  </a:lnTo>
                  <a:lnTo>
                    <a:pt x="476313" y="410540"/>
                  </a:lnTo>
                  <a:lnTo>
                    <a:pt x="478370" y="420687"/>
                  </a:lnTo>
                  <a:lnTo>
                    <a:pt x="483984" y="428980"/>
                  </a:lnTo>
                  <a:lnTo>
                    <a:pt x="492302" y="434581"/>
                  </a:lnTo>
                  <a:lnTo>
                    <a:pt x="502488" y="436626"/>
                  </a:lnTo>
                  <a:lnTo>
                    <a:pt x="512673" y="434581"/>
                  </a:lnTo>
                  <a:lnTo>
                    <a:pt x="520992" y="428980"/>
                  </a:lnTo>
                  <a:lnTo>
                    <a:pt x="526605" y="420687"/>
                  </a:lnTo>
                  <a:lnTo>
                    <a:pt x="528662" y="410540"/>
                  </a:lnTo>
                  <a:close/>
                </a:path>
                <a:path w="592454" h="436879">
                  <a:moveTo>
                    <a:pt x="592340" y="201790"/>
                  </a:moveTo>
                  <a:lnTo>
                    <a:pt x="574890" y="113068"/>
                  </a:lnTo>
                  <a:lnTo>
                    <a:pt x="127368" y="201790"/>
                  </a:lnTo>
                  <a:lnTo>
                    <a:pt x="395185" y="201790"/>
                  </a:lnTo>
                  <a:lnTo>
                    <a:pt x="533019" y="174828"/>
                  </a:lnTo>
                  <a:lnTo>
                    <a:pt x="539127" y="201790"/>
                  </a:lnTo>
                  <a:lnTo>
                    <a:pt x="592340" y="201790"/>
                  </a:lnTo>
                  <a:close/>
                </a:path>
              </a:pathLst>
            </a:custGeom>
            <a:solidFill>
              <a:srgbClr val="0071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242389" y="4438015"/>
            <a:ext cx="1397635" cy="7112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I</a:t>
            </a:r>
            <a:r>
              <a:rPr dirty="0" sz="1800">
                <a:solidFill>
                  <a:srgbClr val="0071CE"/>
                </a:solidFill>
                <a:latin typeface="Arial"/>
                <a:cs typeface="Arial"/>
              </a:rPr>
              <a:t>N</a:t>
            </a: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E</a:t>
            </a: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N</a:t>
            </a: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TIV</a:t>
            </a: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E</a:t>
            </a:r>
            <a:r>
              <a:rPr dirty="0" sz="1800">
                <a:solidFill>
                  <a:srgbClr val="0071CE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1800" spc="-5">
                <a:solidFill>
                  <a:srgbClr val="0071CE"/>
                </a:solidFill>
                <a:latin typeface="Arial"/>
                <a:cs typeface="Arial"/>
              </a:rPr>
              <a:t>($$)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6642836" y="169418"/>
            <a:ext cx="365442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0"/>
              <a:t>Bounded</a:t>
            </a:r>
            <a:r>
              <a:rPr dirty="0" sz="3200" spc="-25"/>
              <a:t> </a:t>
            </a:r>
            <a:r>
              <a:rPr dirty="0" sz="3200" spc="-10"/>
              <a:t>Rationality</a:t>
            </a:r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8715" y="68211"/>
            <a:ext cx="11099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"/>
              <a:t>OKRs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044026" y="514070"/>
            <a:ext cx="8667115" cy="5459730"/>
            <a:chOff x="2044026" y="514070"/>
            <a:chExt cx="8667115" cy="5459730"/>
          </a:xfrm>
        </p:grpSpPr>
        <p:sp>
          <p:nvSpPr>
            <p:cNvPr id="4" name="object 4"/>
            <p:cNvSpPr/>
            <p:nvPr/>
          </p:nvSpPr>
          <p:spPr>
            <a:xfrm>
              <a:off x="2517648" y="914400"/>
              <a:ext cx="7306674" cy="48859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44026" y="514070"/>
              <a:ext cx="8667115" cy="5459730"/>
            </a:xfrm>
            <a:custGeom>
              <a:avLst/>
              <a:gdLst/>
              <a:ahLst/>
              <a:cxnLst/>
              <a:rect l="l" t="t" r="r" b="b"/>
              <a:pathLst>
                <a:path w="8667115" h="5459730">
                  <a:moveTo>
                    <a:pt x="8281276" y="0"/>
                  </a:moveTo>
                  <a:lnTo>
                    <a:pt x="0" y="4793691"/>
                  </a:lnTo>
                  <a:lnTo>
                    <a:pt x="385470" y="5459615"/>
                  </a:lnTo>
                  <a:lnTo>
                    <a:pt x="8666746" y="665924"/>
                  </a:lnTo>
                  <a:lnTo>
                    <a:pt x="82812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257818" y="947559"/>
              <a:ext cx="8069224" cy="48053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787515" y="6003463"/>
            <a:ext cx="2531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414042"/>
                </a:solidFill>
                <a:latin typeface="Arial"/>
                <a:cs typeface="Arial"/>
              </a:rPr>
              <a:t>Source:</a:t>
            </a:r>
            <a:r>
              <a:rPr dirty="0" sz="1200" spc="20">
                <a:solidFill>
                  <a:srgbClr val="414042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1200" spc="-10">
                <a:solidFill>
                  <a:srgbClr val="414042"/>
                </a:solidFill>
                <a:latin typeface="Arial"/>
                <a:cs typeface="Arial"/>
                <a:hlinkClick r:id="rId4"/>
              </a:rPr>
              <a:t>http://www.okrcoaching.com/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70" y="6398196"/>
            <a:ext cx="13906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939293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57223" y="139725"/>
            <a:ext cx="25984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OTSR (du Pont</a:t>
            </a:r>
            <a:r>
              <a:rPr dirty="0" sz="2400" spc="-65"/>
              <a:t> </a:t>
            </a:r>
            <a:r>
              <a:rPr dirty="0" sz="2400" spc="-5"/>
              <a:t>ID)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8021573" y="1308353"/>
            <a:ext cx="1505712" cy="6134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364778" y="1257795"/>
            <a:ext cx="825500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3180">
              <a:lnSpc>
                <a:spcPct val="1076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Sales 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99476" y="3518153"/>
            <a:ext cx="1530096" cy="6134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042516" y="3513201"/>
            <a:ext cx="1461770" cy="5702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349250">
              <a:lnSpc>
                <a:spcPts val="2130"/>
              </a:lnSpc>
              <a:spcBef>
                <a:spcPts val="195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Margin 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veme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34050" y="2527554"/>
            <a:ext cx="3782060" cy="3587115"/>
            <a:chOff x="5734050" y="2527554"/>
            <a:chExt cx="3782060" cy="3587115"/>
          </a:xfrm>
        </p:grpSpPr>
        <p:sp>
          <p:nvSpPr>
            <p:cNvPr id="9" name="object 9"/>
            <p:cNvSpPr/>
            <p:nvPr/>
          </p:nvSpPr>
          <p:spPr>
            <a:xfrm>
              <a:off x="5734050" y="2527554"/>
              <a:ext cx="1507236" cy="6149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010144" y="5499354"/>
              <a:ext cx="1505711" cy="61493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086094" y="2523845"/>
            <a:ext cx="825500" cy="5702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90170">
              <a:lnSpc>
                <a:spcPts val="2130"/>
              </a:lnSpc>
              <a:spcBef>
                <a:spcPts val="195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Profit 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34050" y="1677161"/>
            <a:ext cx="2269490" cy="3307079"/>
            <a:chOff x="5734050" y="1677161"/>
            <a:chExt cx="2269490" cy="3307079"/>
          </a:xfrm>
        </p:grpSpPr>
        <p:sp>
          <p:nvSpPr>
            <p:cNvPr id="13" name="object 13"/>
            <p:cNvSpPr/>
            <p:nvPr/>
          </p:nvSpPr>
          <p:spPr>
            <a:xfrm>
              <a:off x="7248144" y="1677161"/>
              <a:ext cx="755142" cy="117119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261860" y="2820923"/>
              <a:ext cx="741426" cy="101955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34050" y="4370832"/>
              <a:ext cx="1507236" cy="6134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938405" y="4381652"/>
            <a:ext cx="3425190" cy="167767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60020" marR="2261870" indent="-147955">
              <a:lnSpc>
                <a:spcPts val="2000"/>
              </a:lnSpc>
              <a:spcBef>
                <a:spcPts val="300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Cash</a:t>
            </a:r>
            <a:r>
              <a:rPr dirty="0" sz="18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Flow  Growth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Arial"/>
              <a:cs typeface="Arial"/>
            </a:endParaRPr>
          </a:p>
          <a:p>
            <a:pPr marL="2332355" marR="5080" indent="227965">
              <a:lnSpc>
                <a:spcPts val="2080"/>
              </a:lnSpc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Asset 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ff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11523" y="1525524"/>
            <a:ext cx="4192270" cy="4219575"/>
            <a:chOff x="3811523" y="1525524"/>
            <a:chExt cx="4192270" cy="4219575"/>
          </a:xfrm>
        </p:grpSpPr>
        <p:sp>
          <p:nvSpPr>
            <p:cNvPr id="18" name="object 18"/>
            <p:cNvSpPr/>
            <p:nvPr/>
          </p:nvSpPr>
          <p:spPr>
            <a:xfrm>
              <a:off x="7261859" y="4027931"/>
              <a:ext cx="741426" cy="6492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240523" y="1525524"/>
              <a:ext cx="762762" cy="421919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811523" y="3441953"/>
              <a:ext cx="1507236" cy="61493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012793" y="3447097"/>
            <a:ext cx="1104900" cy="5797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23215" marR="5080" indent="-311150">
              <a:lnSpc>
                <a:spcPct val="101899"/>
              </a:lnSpc>
              <a:spcBef>
                <a:spcPts val="55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ing 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TSR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74548" y="1574291"/>
            <a:ext cx="5187950" cy="3042285"/>
            <a:chOff x="574548" y="1574291"/>
            <a:chExt cx="5187950" cy="3042285"/>
          </a:xfrm>
        </p:grpSpPr>
        <p:sp>
          <p:nvSpPr>
            <p:cNvPr id="23" name="object 23"/>
            <p:cNvSpPr/>
            <p:nvPr/>
          </p:nvSpPr>
          <p:spPr>
            <a:xfrm>
              <a:off x="5332476" y="2897124"/>
              <a:ext cx="429768" cy="171907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74548" y="1574291"/>
              <a:ext cx="4720590" cy="57073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53249" y="1070419"/>
            <a:ext cx="18738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du Pont</a:t>
            </a:r>
            <a:r>
              <a:rPr dirty="0" sz="2000" spc="-7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Identity)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99199" y="0"/>
            <a:ext cx="558799" cy="12198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45629" cy="11917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417469" y="11340404"/>
            <a:ext cx="252729" cy="1390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>
                <a:solidFill>
                  <a:srgbClr val="939293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005" y="2152483"/>
            <a:ext cx="309245" cy="21691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OTSR (du Pont</a:t>
            </a:r>
            <a:r>
              <a:rPr dirty="0" sz="2000" spc="-7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ID)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0768" y="4958333"/>
            <a:ext cx="2076450" cy="2268220"/>
            <a:chOff x="810768" y="4958333"/>
            <a:chExt cx="2076450" cy="2268220"/>
          </a:xfrm>
        </p:grpSpPr>
        <p:sp>
          <p:nvSpPr>
            <p:cNvPr id="7" name="object 7"/>
            <p:cNvSpPr/>
            <p:nvPr/>
          </p:nvSpPr>
          <p:spPr>
            <a:xfrm>
              <a:off x="810768" y="4958333"/>
              <a:ext cx="2076450" cy="226771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38200" y="5005577"/>
              <a:ext cx="1981200" cy="2173605"/>
            </a:xfrm>
            <a:custGeom>
              <a:avLst/>
              <a:gdLst/>
              <a:ahLst/>
              <a:cxnLst/>
              <a:rect l="l" t="t" r="r" b="b"/>
              <a:pathLst>
                <a:path w="1981200" h="2173604">
                  <a:moveTo>
                    <a:pt x="0" y="0"/>
                  </a:moveTo>
                  <a:lnTo>
                    <a:pt x="0" y="2173224"/>
                  </a:lnTo>
                  <a:lnTo>
                    <a:pt x="1981200" y="2173223"/>
                  </a:lnTo>
                  <a:lnTo>
                    <a:pt x="1981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38200" y="5005577"/>
              <a:ext cx="1981200" cy="2173605"/>
            </a:xfrm>
            <a:custGeom>
              <a:avLst/>
              <a:gdLst/>
              <a:ahLst/>
              <a:cxnLst/>
              <a:rect l="l" t="t" r="r" b="b"/>
              <a:pathLst>
                <a:path w="1981200" h="2173604">
                  <a:moveTo>
                    <a:pt x="0" y="2173224"/>
                  </a:moveTo>
                  <a:lnTo>
                    <a:pt x="0" y="0"/>
                  </a:lnTo>
                  <a:lnTo>
                    <a:pt x="1981200" y="0"/>
                  </a:lnTo>
                  <a:lnTo>
                    <a:pt x="1981200" y="2173223"/>
                  </a:lnTo>
                  <a:lnTo>
                    <a:pt x="0" y="2173224"/>
                  </a:lnTo>
                  <a:close/>
                </a:path>
              </a:pathLst>
            </a:custGeom>
            <a:ln w="1269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44851" y="5158739"/>
              <a:ext cx="503681" cy="25374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365185" y="5142435"/>
            <a:ext cx="236220" cy="23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15875">
              <a:lnSpc>
                <a:spcPct val="137900"/>
              </a:lnSpc>
              <a:spcBef>
                <a:spcPts val="100"/>
              </a:spcBef>
            </a:pP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Sales  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500" b="1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5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44089" y="6024371"/>
            <a:ext cx="498348" cy="24155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297206" y="6002238"/>
            <a:ext cx="411480" cy="23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95885">
              <a:lnSpc>
                <a:spcPct val="137900"/>
              </a:lnSpc>
              <a:spcBef>
                <a:spcPts val="100"/>
              </a:spcBef>
            </a:pP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Margin  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500" b="1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41042" y="6789419"/>
            <a:ext cx="503681" cy="2537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335670" y="6774180"/>
            <a:ext cx="311785" cy="234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66040">
              <a:lnSpc>
                <a:spcPct val="137200"/>
              </a:lnSpc>
              <a:spcBef>
                <a:spcPts val="100"/>
              </a:spcBef>
            </a:pP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Asset  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ff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cie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5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03425" y="5632703"/>
            <a:ext cx="503681" cy="2545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46682" y="5617276"/>
            <a:ext cx="236220" cy="23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24765">
              <a:lnSpc>
                <a:spcPct val="137900"/>
              </a:lnSpc>
              <a:spcBef>
                <a:spcPts val="100"/>
              </a:spcBef>
            </a:pP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Profit  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500" b="1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03425" y="5311139"/>
            <a:ext cx="744855" cy="1292860"/>
            <a:chOff x="1503425" y="5311139"/>
            <a:chExt cx="744855" cy="1292860"/>
          </a:xfrm>
        </p:grpSpPr>
        <p:sp>
          <p:nvSpPr>
            <p:cNvPr id="19" name="object 19"/>
            <p:cNvSpPr/>
            <p:nvPr/>
          </p:nvSpPr>
          <p:spPr>
            <a:xfrm>
              <a:off x="2000249" y="5311139"/>
              <a:ext cx="247650" cy="45186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04821" y="5756147"/>
              <a:ext cx="243077" cy="39319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503425" y="6349745"/>
              <a:ext cx="503681" cy="25374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588071" y="6334026"/>
            <a:ext cx="328930" cy="23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19" marR="5080" indent="-59055">
              <a:lnSpc>
                <a:spcPct val="137900"/>
              </a:lnSpc>
              <a:spcBef>
                <a:spcPts val="100"/>
              </a:spcBef>
            </a:pP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Cash</a:t>
            </a:r>
            <a:r>
              <a:rPr dirty="0" sz="5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Flow  Growth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79347" y="5252465"/>
            <a:ext cx="1369060" cy="1637664"/>
            <a:chOff x="879347" y="5252465"/>
            <a:chExt cx="1369060" cy="1637664"/>
          </a:xfrm>
        </p:grpSpPr>
        <p:sp>
          <p:nvSpPr>
            <p:cNvPr id="24" name="object 24"/>
            <p:cNvSpPr/>
            <p:nvPr/>
          </p:nvSpPr>
          <p:spPr>
            <a:xfrm>
              <a:off x="2004822" y="6226301"/>
              <a:ext cx="243077" cy="2484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997963" y="5252465"/>
              <a:ext cx="249936" cy="163753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79347" y="5988557"/>
              <a:ext cx="504443" cy="25450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001166" y="5987160"/>
            <a:ext cx="27305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95"/>
              </a:spcBef>
            </a:pP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500" spc="-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n  </a:t>
            </a: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500">
              <a:latin typeface="Arial"/>
              <a:cs typeface="Arial"/>
            </a:endParaRPr>
          </a:p>
          <a:p>
            <a:pPr algn="ctr" marR="3810">
              <a:lnSpc>
                <a:spcPct val="100000"/>
              </a:lnSpc>
            </a:pPr>
            <a:r>
              <a:rPr dirty="0" sz="500" spc="-5" b="1">
                <a:solidFill>
                  <a:srgbClr val="FFFFFF"/>
                </a:solidFill>
                <a:latin typeface="Arial"/>
                <a:cs typeface="Arial"/>
              </a:rPr>
              <a:t>TSR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379232" y="5785865"/>
            <a:ext cx="3495040" cy="4057015"/>
            <a:chOff x="1379232" y="5785865"/>
            <a:chExt cx="3495040" cy="4057015"/>
          </a:xfrm>
        </p:grpSpPr>
        <p:sp>
          <p:nvSpPr>
            <p:cNvPr id="29" name="object 29"/>
            <p:cNvSpPr/>
            <p:nvPr/>
          </p:nvSpPr>
          <p:spPr>
            <a:xfrm>
              <a:off x="1379232" y="5785865"/>
              <a:ext cx="142481" cy="66522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362705" y="8141207"/>
              <a:ext cx="1511046" cy="170154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390138" y="8188451"/>
              <a:ext cx="1416050" cy="1607185"/>
            </a:xfrm>
            <a:custGeom>
              <a:avLst/>
              <a:gdLst/>
              <a:ahLst/>
              <a:cxnLst/>
              <a:rect l="l" t="t" r="r" b="b"/>
              <a:pathLst>
                <a:path w="1416050" h="1607184">
                  <a:moveTo>
                    <a:pt x="0" y="0"/>
                  </a:moveTo>
                  <a:lnTo>
                    <a:pt x="0" y="1607058"/>
                  </a:lnTo>
                  <a:lnTo>
                    <a:pt x="1415796" y="1607058"/>
                  </a:lnTo>
                  <a:lnTo>
                    <a:pt x="14157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390138" y="8188451"/>
              <a:ext cx="1416050" cy="1607185"/>
            </a:xfrm>
            <a:custGeom>
              <a:avLst/>
              <a:gdLst/>
              <a:ahLst/>
              <a:cxnLst/>
              <a:rect l="l" t="t" r="r" b="b"/>
              <a:pathLst>
                <a:path w="1416050" h="1607184">
                  <a:moveTo>
                    <a:pt x="0" y="1607058"/>
                  </a:moveTo>
                  <a:lnTo>
                    <a:pt x="0" y="0"/>
                  </a:lnTo>
                  <a:lnTo>
                    <a:pt x="1415796" y="0"/>
                  </a:lnTo>
                  <a:lnTo>
                    <a:pt x="1415796" y="1607058"/>
                  </a:lnTo>
                  <a:lnTo>
                    <a:pt x="0" y="1607058"/>
                  </a:lnTo>
                  <a:close/>
                </a:path>
              </a:pathLst>
            </a:custGeom>
            <a:ln w="1269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99026" y="8305799"/>
              <a:ext cx="352043" cy="17907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481423" y="8313952"/>
            <a:ext cx="159385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wt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3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394453" y="8941307"/>
            <a:ext cx="357377" cy="17906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443386" y="8949461"/>
            <a:ext cx="262890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Margin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endParaRPr sz="3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396740" y="9511283"/>
            <a:ext cx="351281" cy="1798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463796" y="9519602"/>
            <a:ext cx="206375" cy="148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Asset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Efficiency</a:t>
            </a:r>
            <a:endParaRPr sz="3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69435" y="8656319"/>
            <a:ext cx="352043" cy="17983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968102" y="8664917"/>
            <a:ext cx="159385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wt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869435" y="8403335"/>
            <a:ext cx="528955" cy="962660"/>
            <a:chOff x="3869435" y="8403335"/>
            <a:chExt cx="528955" cy="962660"/>
          </a:xfrm>
        </p:grpSpPr>
        <p:sp>
          <p:nvSpPr>
            <p:cNvPr id="42" name="object 42"/>
            <p:cNvSpPr/>
            <p:nvPr/>
          </p:nvSpPr>
          <p:spPr>
            <a:xfrm>
              <a:off x="4219955" y="8403335"/>
              <a:ext cx="178307" cy="356615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223003" y="8732519"/>
              <a:ext cx="175259" cy="31241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869435" y="9186671"/>
              <a:ext cx="352043" cy="17906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3930891" y="9194685"/>
            <a:ext cx="215900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ash</a:t>
            </a:r>
            <a:r>
              <a:rPr dirty="0" sz="3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300">
              <a:latin typeface="Arial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25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423665" y="8359902"/>
            <a:ext cx="974725" cy="1233170"/>
            <a:chOff x="3423665" y="8359902"/>
            <a:chExt cx="974725" cy="1233170"/>
          </a:xfrm>
        </p:grpSpPr>
        <p:sp>
          <p:nvSpPr>
            <p:cNvPr id="47" name="object 47"/>
            <p:cNvSpPr/>
            <p:nvPr/>
          </p:nvSpPr>
          <p:spPr>
            <a:xfrm>
              <a:off x="4223003" y="9079992"/>
              <a:ext cx="175259" cy="20573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218431" y="8359902"/>
              <a:ext cx="179831" cy="1232916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423665" y="8919210"/>
              <a:ext cx="352043" cy="179831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3520198" y="8927261"/>
            <a:ext cx="1600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" marR="5080" indent="-28575">
              <a:lnSpc>
                <a:spcPct val="100000"/>
              </a:lnSpc>
              <a:spcBef>
                <a:spcPts val="100"/>
              </a:spcBef>
            </a:pP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i  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ng  TSR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362705" y="5249417"/>
            <a:ext cx="1511300" cy="4018915"/>
            <a:chOff x="3362705" y="5249417"/>
            <a:chExt cx="1511300" cy="4018915"/>
          </a:xfrm>
        </p:grpSpPr>
        <p:sp>
          <p:nvSpPr>
            <p:cNvPr id="52" name="object 52"/>
            <p:cNvSpPr/>
            <p:nvPr/>
          </p:nvSpPr>
          <p:spPr>
            <a:xfrm>
              <a:off x="3776472" y="8754617"/>
              <a:ext cx="102107" cy="51358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362705" y="5249417"/>
              <a:ext cx="1511046" cy="170078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390137" y="5296661"/>
              <a:ext cx="1416050" cy="1606550"/>
            </a:xfrm>
            <a:custGeom>
              <a:avLst/>
              <a:gdLst/>
              <a:ahLst/>
              <a:cxnLst/>
              <a:rect l="l" t="t" r="r" b="b"/>
              <a:pathLst>
                <a:path w="1416050" h="1606550">
                  <a:moveTo>
                    <a:pt x="0" y="0"/>
                  </a:moveTo>
                  <a:lnTo>
                    <a:pt x="0" y="1606296"/>
                  </a:lnTo>
                  <a:lnTo>
                    <a:pt x="1415796" y="1606296"/>
                  </a:lnTo>
                  <a:lnTo>
                    <a:pt x="14157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390137" y="5296661"/>
              <a:ext cx="1416050" cy="1606550"/>
            </a:xfrm>
            <a:custGeom>
              <a:avLst/>
              <a:gdLst/>
              <a:ahLst/>
              <a:cxnLst/>
              <a:rect l="l" t="t" r="r" b="b"/>
              <a:pathLst>
                <a:path w="1416050" h="1606550">
                  <a:moveTo>
                    <a:pt x="0" y="1606296"/>
                  </a:moveTo>
                  <a:lnTo>
                    <a:pt x="0" y="0"/>
                  </a:lnTo>
                  <a:lnTo>
                    <a:pt x="1415796" y="0"/>
                  </a:lnTo>
                  <a:lnTo>
                    <a:pt x="1415796" y="1606296"/>
                  </a:lnTo>
                  <a:lnTo>
                    <a:pt x="0" y="1606296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399025" y="5414009"/>
              <a:ext cx="352043" cy="17907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4481423" y="5421693"/>
            <a:ext cx="159385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wt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3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94453" y="6049517"/>
            <a:ext cx="357377" cy="17907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443386" y="6057201"/>
            <a:ext cx="262890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Margin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endParaRPr sz="3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396740" y="6618731"/>
            <a:ext cx="351281" cy="1798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4463808" y="6627355"/>
            <a:ext cx="206375" cy="148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Asset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Efficiency</a:t>
            </a:r>
            <a:endParaRPr sz="3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69435" y="5764529"/>
            <a:ext cx="352043" cy="17907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3968102" y="5772670"/>
            <a:ext cx="159385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wt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869435" y="5511545"/>
            <a:ext cx="528955" cy="962660"/>
            <a:chOff x="3869435" y="5511545"/>
            <a:chExt cx="528955" cy="962660"/>
          </a:xfrm>
        </p:grpSpPr>
        <p:sp>
          <p:nvSpPr>
            <p:cNvPr id="65" name="object 65"/>
            <p:cNvSpPr/>
            <p:nvPr/>
          </p:nvSpPr>
          <p:spPr>
            <a:xfrm>
              <a:off x="4219955" y="5511545"/>
              <a:ext cx="178307" cy="355854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223003" y="5839967"/>
              <a:ext cx="175260" cy="313181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869435" y="6294119"/>
              <a:ext cx="352043" cy="179831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3930891" y="6302438"/>
            <a:ext cx="215900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ash</a:t>
            </a:r>
            <a:r>
              <a:rPr dirty="0" sz="3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300">
              <a:latin typeface="Arial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25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423665" y="5467349"/>
            <a:ext cx="974725" cy="1233805"/>
            <a:chOff x="3423665" y="5467349"/>
            <a:chExt cx="974725" cy="1233805"/>
          </a:xfrm>
        </p:grpSpPr>
        <p:sp>
          <p:nvSpPr>
            <p:cNvPr id="70" name="object 70"/>
            <p:cNvSpPr/>
            <p:nvPr/>
          </p:nvSpPr>
          <p:spPr>
            <a:xfrm>
              <a:off x="4223003" y="6187439"/>
              <a:ext cx="175260" cy="206501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218431" y="5467349"/>
              <a:ext cx="179831" cy="1233677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423665" y="6027419"/>
              <a:ext cx="352043" cy="179070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3520198" y="6035014"/>
            <a:ext cx="1600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" marR="5080" indent="-28575">
              <a:lnSpc>
                <a:spcPct val="100000"/>
              </a:lnSpc>
              <a:spcBef>
                <a:spcPts val="100"/>
              </a:spcBef>
            </a:pP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i  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ng  TSR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3362705" y="2382773"/>
            <a:ext cx="1511300" cy="3994150"/>
            <a:chOff x="3362705" y="2382773"/>
            <a:chExt cx="1511300" cy="3994150"/>
          </a:xfrm>
        </p:grpSpPr>
        <p:sp>
          <p:nvSpPr>
            <p:cNvPr id="75" name="object 75"/>
            <p:cNvSpPr/>
            <p:nvPr/>
          </p:nvSpPr>
          <p:spPr>
            <a:xfrm>
              <a:off x="3776472" y="5862065"/>
              <a:ext cx="102107" cy="514350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362705" y="2382773"/>
              <a:ext cx="1511046" cy="170078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390137" y="2430017"/>
              <a:ext cx="1416050" cy="1606550"/>
            </a:xfrm>
            <a:custGeom>
              <a:avLst/>
              <a:gdLst/>
              <a:ahLst/>
              <a:cxnLst/>
              <a:rect l="l" t="t" r="r" b="b"/>
              <a:pathLst>
                <a:path w="1416050" h="1606550">
                  <a:moveTo>
                    <a:pt x="0" y="0"/>
                  </a:moveTo>
                  <a:lnTo>
                    <a:pt x="0" y="1606296"/>
                  </a:lnTo>
                  <a:lnTo>
                    <a:pt x="1415796" y="1606296"/>
                  </a:lnTo>
                  <a:lnTo>
                    <a:pt x="14157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390137" y="2430017"/>
              <a:ext cx="1416050" cy="1606550"/>
            </a:xfrm>
            <a:custGeom>
              <a:avLst/>
              <a:gdLst/>
              <a:ahLst/>
              <a:cxnLst/>
              <a:rect l="l" t="t" r="r" b="b"/>
              <a:pathLst>
                <a:path w="1416050" h="1606550">
                  <a:moveTo>
                    <a:pt x="0" y="1606296"/>
                  </a:moveTo>
                  <a:lnTo>
                    <a:pt x="0" y="0"/>
                  </a:lnTo>
                  <a:lnTo>
                    <a:pt x="1415795" y="0"/>
                  </a:lnTo>
                  <a:lnTo>
                    <a:pt x="1415796" y="1606296"/>
                  </a:lnTo>
                  <a:lnTo>
                    <a:pt x="0" y="1606296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399025" y="2546603"/>
              <a:ext cx="352043" cy="179831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4481423" y="2554909"/>
            <a:ext cx="159385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wt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3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394453" y="3182111"/>
            <a:ext cx="357377" cy="17983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4443386" y="3190417"/>
            <a:ext cx="262890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Margin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endParaRPr sz="30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96740" y="3752087"/>
            <a:ext cx="351281" cy="17983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463808" y="3760558"/>
            <a:ext cx="206375" cy="148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Asset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Efficiency</a:t>
            </a:r>
            <a:endParaRPr sz="30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869435" y="2897885"/>
            <a:ext cx="352043" cy="17907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3968102" y="2905873"/>
            <a:ext cx="159385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wt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3869435" y="2644901"/>
            <a:ext cx="528955" cy="962025"/>
            <a:chOff x="3869435" y="2644901"/>
            <a:chExt cx="528955" cy="962025"/>
          </a:xfrm>
        </p:grpSpPr>
        <p:sp>
          <p:nvSpPr>
            <p:cNvPr id="88" name="object 88"/>
            <p:cNvSpPr/>
            <p:nvPr/>
          </p:nvSpPr>
          <p:spPr>
            <a:xfrm>
              <a:off x="4219955" y="2644901"/>
              <a:ext cx="178307" cy="355853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223003" y="2973323"/>
              <a:ext cx="175259" cy="313181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869435" y="3427475"/>
              <a:ext cx="352043" cy="179070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3930891" y="3435642"/>
            <a:ext cx="215900" cy="14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ash</a:t>
            </a:r>
            <a:r>
              <a:rPr dirty="0" sz="3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300">
              <a:latin typeface="Arial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250"/>
              </a:spcBef>
            </a:pP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423665" y="2600705"/>
            <a:ext cx="974725" cy="1233805"/>
            <a:chOff x="3423665" y="2600705"/>
            <a:chExt cx="974725" cy="1233805"/>
          </a:xfrm>
        </p:grpSpPr>
        <p:sp>
          <p:nvSpPr>
            <p:cNvPr id="93" name="object 93"/>
            <p:cNvSpPr/>
            <p:nvPr/>
          </p:nvSpPr>
          <p:spPr>
            <a:xfrm>
              <a:off x="4223003" y="3320795"/>
              <a:ext cx="175260" cy="205740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218431" y="2600705"/>
              <a:ext cx="179831" cy="1233677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423665" y="3160775"/>
              <a:ext cx="352043" cy="179070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3520198" y="3168218"/>
            <a:ext cx="1600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" marR="5080" indent="-28575">
              <a:lnSpc>
                <a:spcPct val="100000"/>
              </a:lnSpc>
              <a:spcBef>
                <a:spcPts val="100"/>
              </a:spcBef>
            </a:pP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Op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300" b="1">
                <a:solidFill>
                  <a:srgbClr val="FFFFFF"/>
                </a:solidFill>
                <a:latin typeface="Arial"/>
                <a:cs typeface="Arial"/>
              </a:rPr>
              <a:t>i  </a:t>
            </a:r>
            <a:r>
              <a:rPr dirty="0" sz="300" spc="-5" b="1">
                <a:solidFill>
                  <a:srgbClr val="FFFFFF"/>
                </a:solidFill>
                <a:latin typeface="Arial"/>
                <a:cs typeface="Arial"/>
              </a:rPr>
              <a:t>ng  TSR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3776471" y="2995434"/>
            <a:ext cx="2266315" cy="7371715"/>
            <a:chOff x="3776471" y="2995434"/>
            <a:chExt cx="2266315" cy="7371715"/>
          </a:xfrm>
        </p:grpSpPr>
        <p:sp>
          <p:nvSpPr>
            <p:cNvPr id="98" name="object 98"/>
            <p:cNvSpPr/>
            <p:nvPr/>
          </p:nvSpPr>
          <p:spPr>
            <a:xfrm>
              <a:off x="3776471" y="2995434"/>
              <a:ext cx="102107" cy="514337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5185409" y="9559289"/>
              <a:ext cx="857250" cy="807719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5212841" y="9606533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40">
                  <a:moveTo>
                    <a:pt x="0" y="0"/>
                  </a:moveTo>
                  <a:lnTo>
                    <a:pt x="0" y="713232"/>
                  </a:lnTo>
                  <a:lnTo>
                    <a:pt x="762000" y="713231"/>
                  </a:lnTo>
                  <a:lnTo>
                    <a:pt x="761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5212841" y="9606533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40">
                  <a:moveTo>
                    <a:pt x="0" y="713232"/>
                  </a:moveTo>
                  <a:lnTo>
                    <a:pt x="0" y="0"/>
                  </a:lnTo>
                  <a:lnTo>
                    <a:pt x="761999" y="0"/>
                  </a:lnTo>
                  <a:lnTo>
                    <a:pt x="762000" y="713231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5755385" y="9657587"/>
              <a:ext cx="191262" cy="81534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/>
          <p:cNvSpPr txBox="1"/>
          <p:nvPr/>
        </p:nvSpPr>
        <p:spPr>
          <a:xfrm>
            <a:off x="5808067" y="9657092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5752338" y="9939527"/>
            <a:ext cx="194310" cy="8153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5818567" y="9939235"/>
            <a:ext cx="666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799382" y="9973719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5753861" y="10192511"/>
            <a:ext cx="191262" cy="8153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/>
          <p:nvPr/>
        </p:nvSpPr>
        <p:spPr>
          <a:xfrm>
            <a:off x="5805167" y="10192359"/>
            <a:ext cx="8255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Asset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Eff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cien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10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5469635" y="9813035"/>
            <a:ext cx="192023" cy="8153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5531726" y="9812908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5469635" y="9694164"/>
            <a:ext cx="287020" cy="436245"/>
            <a:chOff x="5469635" y="9694164"/>
            <a:chExt cx="287020" cy="436245"/>
          </a:xfrm>
        </p:grpSpPr>
        <p:sp>
          <p:nvSpPr>
            <p:cNvPr id="112" name="object 112"/>
            <p:cNvSpPr/>
            <p:nvPr/>
          </p:nvSpPr>
          <p:spPr>
            <a:xfrm>
              <a:off x="5658611" y="9694164"/>
              <a:ext cx="97535" cy="173736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5469635" y="10048494"/>
              <a:ext cx="192023" cy="81534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5660897" y="9840468"/>
              <a:ext cx="95250" cy="260603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 txBox="1"/>
          <p:nvPr/>
        </p:nvSpPr>
        <p:spPr>
          <a:xfrm>
            <a:off x="5518861" y="10048099"/>
            <a:ext cx="86995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5230367" y="9674352"/>
            <a:ext cx="525780" cy="563245"/>
            <a:chOff x="5230367" y="9674352"/>
            <a:chExt cx="525780" cy="563245"/>
          </a:xfrm>
        </p:grpSpPr>
        <p:sp>
          <p:nvSpPr>
            <p:cNvPr id="117" name="object 117"/>
            <p:cNvSpPr/>
            <p:nvPr/>
          </p:nvSpPr>
          <p:spPr>
            <a:xfrm>
              <a:off x="5657849" y="9674352"/>
              <a:ext cx="98297" cy="563117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5230367" y="9880092"/>
              <a:ext cx="191262" cy="180594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>
            <a:off x="5308422" y="9865829"/>
            <a:ext cx="3556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00">
              <a:latin typeface="Arial"/>
              <a:cs typeface="Arial"/>
            </a:endParaRPr>
          </a:p>
          <a:p>
            <a:pPr algn="ctr" marL="12700" marR="5715" indent="-1905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p  e  r  a  t  i  n  g  T  S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5185409" y="8592311"/>
            <a:ext cx="857250" cy="1501140"/>
            <a:chOff x="5185409" y="8592311"/>
            <a:chExt cx="857250" cy="1501140"/>
          </a:xfrm>
        </p:grpSpPr>
        <p:sp>
          <p:nvSpPr>
            <p:cNvPr id="121" name="object 121"/>
            <p:cNvSpPr/>
            <p:nvPr/>
          </p:nvSpPr>
          <p:spPr>
            <a:xfrm>
              <a:off x="5420105" y="9849611"/>
              <a:ext cx="57150" cy="243839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5185409" y="8592311"/>
              <a:ext cx="857250" cy="807719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5212841" y="8639555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40">
                  <a:moveTo>
                    <a:pt x="0" y="0"/>
                  </a:moveTo>
                  <a:lnTo>
                    <a:pt x="0" y="713232"/>
                  </a:lnTo>
                  <a:lnTo>
                    <a:pt x="762000" y="713232"/>
                  </a:lnTo>
                  <a:lnTo>
                    <a:pt x="76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5212841" y="8639555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40">
                  <a:moveTo>
                    <a:pt x="0" y="713232"/>
                  </a:moveTo>
                  <a:lnTo>
                    <a:pt x="0" y="0"/>
                  </a:lnTo>
                  <a:lnTo>
                    <a:pt x="762000" y="0"/>
                  </a:lnTo>
                  <a:lnTo>
                    <a:pt x="762000" y="713232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755385" y="8690609"/>
              <a:ext cx="191262" cy="81534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/>
          <p:cNvSpPr txBox="1"/>
          <p:nvPr/>
        </p:nvSpPr>
        <p:spPr>
          <a:xfrm>
            <a:off x="5809790" y="8690482"/>
            <a:ext cx="577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Sal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0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808067" y="8724965"/>
            <a:ext cx="711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5752338" y="8973311"/>
            <a:ext cx="194310" cy="8153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 txBox="1"/>
          <p:nvPr/>
        </p:nvSpPr>
        <p:spPr>
          <a:xfrm>
            <a:off x="5818567" y="8972613"/>
            <a:ext cx="666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5799382" y="9007096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5753861" y="9225533"/>
            <a:ext cx="191262" cy="8229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/>
          <p:nvPr/>
        </p:nvSpPr>
        <p:spPr>
          <a:xfrm>
            <a:off x="5817979" y="9225736"/>
            <a:ext cx="58419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sset</a:t>
            </a:r>
            <a:endParaRPr sz="10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5805167" y="9260051"/>
            <a:ext cx="8255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Eff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cien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100">
              <a:latin typeface="Arial"/>
              <a:cs typeface="Arial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5469635" y="8846819"/>
            <a:ext cx="192023" cy="8153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 txBox="1"/>
          <p:nvPr/>
        </p:nvSpPr>
        <p:spPr>
          <a:xfrm>
            <a:off x="5531726" y="8846286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5469635" y="8727185"/>
            <a:ext cx="287020" cy="436880"/>
            <a:chOff x="5469635" y="8727185"/>
            <a:chExt cx="287020" cy="436880"/>
          </a:xfrm>
        </p:grpSpPr>
        <p:sp>
          <p:nvSpPr>
            <p:cNvPr id="137" name="object 137"/>
            <p:cNvSpPr/>
            <p:nvPr/>
          </p:nvSpPr>
          <p:spPr>
            <a:xfrm>
              <a:off x="5658611" y="8727185"/>
              <a:ext cx="97535" cy="173736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469635" y="9081515"/>
              <a:ext cx="192023" cy="82296"/>
            </a:xfrm>
            <a:prstGeom prst="rect">
              <a:avLst/>
            </a:prstGeom>
            <a:blipFill>
              <a:blip r:embed="rId5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660897" y="8873489"/>
              <a:ext cx="95250" cy="261365"/>
            </a:xfrm>
            <a:prstGeom prst="rect">
              <a:avLst/>
            </a:prstGeom>
            <a:blipFill>
              <a:blip r:embed="rId5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/>
          <p:cNvSpPr txBox="1"/>
          <p:nvPr/>
        </p:nvSpPr>
        <p:spPr>
          <a:xfrm>
            <a:off x="5518861" y="9081477"/>
            <a:ext cx="86995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5230367" y="8708135"/>
            <a:ext cx="525780" cy="563245"/>
            <a:chOff x="5230367" y="8708135"/>
            <a:chExt cx="525780" cy="563245"/>
          </a:xfrm>
        </p:grpSpPr>
        <p:sp>
          <p:nvSpPr>
            <p:cNvPr id="142" name="object 142"/>
            <p:cNvSpPr/>
            <p:nvPr/>
          </p:nvSpPr>
          <p:spPr>
            <a:xfrm>
              <a:off x="5657849" y="8708135"/>
              <a:ext cx="98297" cy="563117"/>
            </a:xfrm>
            <a:prstGeom prst="rect">
              <a:avLst/>
            </a:prstGeom>
            <a:blipFill>
              <a:blip r:embed="rId5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230367" y="8913875"/>
              <a:ext cx="191262" cy="180594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/>
          <p:cNvSpPr txBox="1"/>
          <p:nvPr/>
        </p:nvSpPr>
        <p:spPr>
          <a:xfrm>
            <a:off x="5308422" y="8899207"/>
            <a:ext cx="3556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00">
              <a:latin typeface="Arial"/>
              <a:cs typeface="Arial"/>
            </a:endParaRPr>
          </a:p>
          <a:p>
            <a:pPr algn="ctr" marL="12700" marR="5715" indent="-1905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p  e  r  a  t  i  n  g  T  S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5185409" y="7626095"/>
            <a:ext cx="857250" cy="1501140"/>
            <a:chOff x="5185409" y="7626095"/>
            <a:chExt cx="857250" cy="1501140"/>
          </a:xfrm>
        </p:grpSpPr>
        <p:sp>
          <p:nvSpPr>
            <p:cNvPr id="146" name="object 146"/>
            <p:cNvSpPr/>
            <p:nvPr/>
          </p:nvSpPr>
          <p:spPr>
            <a:xfrm>
              <a:off x="5420105" y="8883395"/>
              <a:ext cx="57150" cy="243839"/>
            </a:xfrm>
            <a:prstGeom prst="rect">
              <a:avLst/>
            </a:prstGeom>
            <a:blipFill>
              <a:blip r:embed="rId5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185409" y="7626095"/>
              <a:ext cx="857250" cy="807719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212841" y="7673339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40">
                  <a:moveTo>
                    <a:pt x="0" y="0"/>
                  </a:moveTo>
                  <a:lnTo>
                    <a:pt x="0" y="713231"/>
                  </a:lnTo>
                  <a:lnTo>
                    <a:pt x="762000" y="713231"/>
                  </a:lnTo>
                  <a:lnTo>
                    <a:pt x="76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5212841" y="7673339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40">
                  <a:moveTo>
                    <a:pt x="0" y="713231"/>
                  </a:moveTo>
                  <a:lnTo>
                    <a:pt x="0" y="0"/>
                  </a:lnTo>
                  <a:lnTo>
                    <a:pt x="762000" y="0"/>
                  </a:lnTo>
                  <a:lnTo>
                    <a:pt x="762000" y="713231"/>
                  </a:lnTo>
                  <a:lnTo>
                    <a:pt x="0" y="713231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5755385" y="7724393"/>
              <a:ext cx="191262" cy="81534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1" name="object 151"/>
          <p:cNvSpPr txBox="1"/>
          <p:nvPr/>
        </p:nvSpPr>
        <p:spPr>
          <a:xfrm>
            <a:off x="5808067" y="7723860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5752338" y="8006333"/>
            <a:ext cx="194310" cy="8153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 txBox="1"/>
          <p:nvPr/>
        </p:nvSpPr>
        <p:spPr>
          <a:xfrm>
            <a:off x="5818567" y="8005991"/>
            <a:ext cx="666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5799382" y="8040474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155" name="object 155"/>
          <p:cNvSpPr/>
          <p:nvPr/>
        </p:nvSpPr>
        <p:spPr>
          <a:xfrm>
            <a:off x="5753861" y="8259317"/>
            <a:ext cx="191262" cy="81534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 txBox="1"/>
          <p:nvPr/>
        </p:nvSpPr>
        <p:spPr>
          <a:xfrm>
            <a:off x="5805167" y="8259114"/>
            <a:ext cx="8255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Asset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Eff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cien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100">
              <a:latin typeface="Arial"/>
              <a:cs typeface="Arial"/>
            </a:endParaRPr>
          </a:p>
        </p:txBody>
      </p:sp>
      <p:sp>
        <p:nvSpPr>
          <p:cNvPr id="157" name="object 157"/>
          <p:cNvSpPr/>
          <p:nvPr/>
        </p:nvSpPr>
        <p:spPr>
          <a:xfrm>
            <a:off x="5469635" y="7879841"/>
            <a:ext cx="192023" cy="81534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 txBox="1"/>
          <p:nvPr/>
        </p:nvSpPr>
        <p:spPr>
          <a:xfrm>
            <a:off x="5531726" y="7879663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5469635" y="7760969"/>
            <a:ext cx="287020" cy="436245"/>
            <a:chOff x="5469635" y="7760969"/>
            <a:chExt cx="287020" cy="436245"/>
          </a:xfrm>
        </p:grpSpPr>
        <p:sp>
          <p:nvSpPr>
            <p:cNvPr id="160" name="object 160"/>
            <p:cNvSpPr/>
            <p:nvPr/>
          </p:nvSpPr>
          <p:spPr>
            <a:xfrm>
              <a:off x="5658611" y="7760969"/>
              <a:ext cx="97535" cy="173736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469635" y="8115299"/>
              <a:ext cx="192023" cy="81534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5660897" y="7906511"/>
              <a:ext cx="95250" cy="261366"/>
            </a:xfrm>
            <a:prstGeom prst="rect">
              <a:avLst/>
            </a:prstGeom>
            <a:blipFill>
              <a:blip r:embed="rId5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3" name="object 163"/>
          <p:cNvSpPr txBox="1"/>
          <p:nvPr/>
        </p:nvSpPr>
        <p:spPr>
          <a:xfrm>
            <a:off x="5518861" y="8114855"/>
            <a:ext cx="86995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64" name="object 164"/>
          <p:cNvGrpSpPr/>
          <p:nvPr/>
        </p:nvGrpSpPr>
        <p:grpSpPr>
          <a:xfrm>
            <a:off x="5230367" y="7741157"/>
            <a:ext cx="525780" cy="563245"/>
            <a:chOff x="5230367" y="7741157"/>
            <a:chExt cx="525780" cy="563245"/>
          </a:xfrm>
        </p:grpSpPr>
        <p:sp>
          <p:nvSpPr>
            <p:cNvPr id="165" name="object 165"/>
            <p:cNvSpPr/>
            <p:nvPr/>
          </p:nvSpPr>
          <p:spPr>
            <a:xfrm>
              <a:off x="5657849" y="7741157"/>
              <a:ext cx="98297" cy="563117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5230367" y="7946897"/>
              <a:ext cx="191262" cy="180594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/>
          <p:cNvSpPr txBox="1"/>
          <p:nvPr/>
        </p:nvSpPr>
        <p:spPr>
          <a:xfrm>
            <a:off x="5308422" y="7932584"/>
            <a:ext cx="3556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00">
              <a:latin typeface="Arial"/>
              <a:cs typeface="Arial"/>
            </a:endParaRPr>
          </a:p>
          <a:p>
            <a:pPr algn="ctr" marL="12700" marR="5715" indent="-1905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p  e  r  a  t  i  n  g  T  S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5177790" y="6675881"/>
            <a:ext cx="857250" cy="1484630"/>
            <a:chOff x="5177790" y="6675881"/>
            <a:chExt cx="857250" cy="1484630"/>
          </a:xfrm>
        </p:grpSpPr>
        <p:sp>
          <p:nvSpPr>
            <p:cNvPr id="169" name="object 169"/>
            <p:cNvSpPr/>
            <p:nvPr/>
          </p:nvSpPr>
          <p:spPr>
            <a:xfrm>
              <a:off x="5420106" y="7916417"/>
              <a:ext cx="57150" cy="243839"/>
            </a:xfrm>
            <a:prstGeom prst="rect">
              <a:avLst/>
            </a:prstGeom>
            <a:blipFill>
              <a:blip r:embed="rId6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5177790" y="6675881"/>
              <a:ext cx="857250" cy="807719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205222" y="6723125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40">
                  <a:moveTo>
                    <a:pt x="0" y="0"/>
                  </a:moveTo>
                  <a:lnTo>
                    <a:pt x="0" y="713232"/>
                  </a:lnTo>
                  <a:lnTo>
                    <a:pt x="762000" y="713232"/>
                  </a:lnTo>
                  <a:lnTo>
                    <a:pt x="76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5205222" y="6723125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40">
                  <a:moveTo>
                    <a:pt x="0" y="713232"/>
                  </a:moveTo>
                  <a:lnTo>
                    <a:pt x="0" y="0"/>
                  </a:lnTo>
                  <a:lnTo>
                    <a:pt x="762000" y="0"/>
                  </a:lnTo>
                  <a:lnTo>
                    <a:pt x="762000" y="713232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747766" y="6774179"/>
              <a:ext cx="191262" cy="81534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4" name="object 174"/>
          <p:cNvSpPr txBox="1"/>
          <p:nvPr/>
        </p:nvSpPr>
        <p:spPr>
          <a:xfrm>
            <a:off x="5802101" y="6773519"/>
            <a:ext cx="577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Sal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00">
              <a:latin typeface="Arial"/>
              <a:cs typeface="Arial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5800378" y="6808003"/>
            <a:ext cx="711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5744717" y="7056119"/>
            <a:ext cx="194310" cy="8153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 txBox="1"/>
          <p:nvPr/>
        </p:nvSpPr>
        <p:spPr>
          <a:xfrm>
            <a:off x="5810878" y="7055662"/>
            <a:ext cx="666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5791693" y="7090146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5746241" y="7309103"/>
            <a:ext cx="191262" cy="81534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 txBox="1"/>
          <p:nvPr/>
        </p:nvSpPr>
        <p:spPr>
          <a:xfrm>
            <a:off x="5797492" y="7308773"/>
            <a:ext cx="8255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Asset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Eff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cien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100">
              <a:latin typeface="Arial"/>
              <a:cs typeface="Arial"/>
            </a:endParaRPr>
          </a:p>
        </p:txBody>
      </p:sp>
      <p:sp>
        <p:nvSpPr>
          <p:cNvPr id="181" name="object 181"/>
          <p:cNvSpPr/>
          <p:nvPr/>
        </p:nvSpPr>
        <p:spPr>
          <a:xfrm>
            <a:off x="5462015" y="6929627"/>
            <a:ext cx="191262" cy="81534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 txBox="1"/>
          <p:nvPr/>
        </p:nvSpPr>
        <p:spPr>
          <a:xfrm>
            <a:off x="5528538" y="6929335"/>
            <a:ext cx="58419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5524030" y="6963832"/>
            <a:ext cx="711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5462015" y="6810755"/>
            <a:ext cx="287020" cy="436245"/>
            <a:chOff x="5462015" y="6810755"/>
            <a:chExt cx="287020" cy="436245"/>
          </a:xfrm>
        </p:grpSpPr>
        <p:sp>
          <p:nvSpPr>
            <p:cNvPr id="185" name="object 185"/>
            <p:cNvSpPr/>
            <p:nvPr/>
          </p:nvSpPr>
          <p:spPr>
            <a:xfrm>
              <a:off x="5650991" y="6810755"/>
              <a:ext cx="97535" cy="173736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462015" y="7165085"/>
              <a:ext cx="191262" cy="81534"/>
            </a:xfrm>
            <a:prstGeom prst="rect">
              <a:avLst/>
            </a:prstGeom>
            <a:blipFill>
              <a:blip r:embed="rId6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652515" y="6956297"/>
              <a:ext cx="96011" cy="261366"/>
            </a:xfrm>
            <a:prstGeom prst="rect">
              <a:avLst/>
            </a:prstGeom>
            <a:blipFill>
              <a:blip r:embed="rId6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/>
          <p:cNvSpPr txBox="1"/>
          <p:nvPr/>
        </p:nvSpPr>
        <p:spPr>
          <a:xfrm>
            <a:off x="5511165" y="7164527"/>
            <a:ext cx="86995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89" name="object 189"/>
          <p:cNvGrpSpPr/>
          <p:nvPr/>
        </p:nvGrpSpPr>
        <p:grpSpPr>
          <a:xfrm>
            <a:off x="5222747" y="6790943"/>
            <a:ext cx="525780" cy="563245"/>
            <a:chOff x="5222747" y="6790943"/>
            <a:chExt cx="525780" cy="563245"/>
          </a:xfrm>
        </p:grpSpPr>
        <p:sp>
          <p:nvSpPr>
            <p:cNvPr id="190" name="object 190"/>
            <p:cNvSpPr/>
            <p:nvPr/>
          </p:nvSpPr>
          <p:spPr>
            <a:xfrm>
              <a:off x="5650229" y="6790943"/>
              <a:ext cx="98297" cy="563117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5222747" y="6996683"/>
              <a:ext cx="191262" cy="180594"/>
            </a:xfrm>
            <a:prstGeom prst="rect">
              <a:avLst/>
            </a:prstGeom>
            <a:blipFill>
              <a:blip r:embed="rId6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2" name="object 192"/>
          <p:cNvSpPr txBox="1"/>
          <p:nvPr/>
        </p:nvSpPr>
        <p:spPr>
          <a:xfrm>
            <a:off x="5300738" y="6982256"/>
            <a:ext cx="3556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00">
              <a:latin typeface="Arial"/>
              <a:cs typeface="Arial"/>
            </a:endParaRPr>
          </a:p>
          <a:p>
            <a:pPr algn="ctr" marL="12700" marR="5715" indent="-1905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p  e  r  a  t  i  n  g  T  S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5177790" y="5708903"/>
            <a:ext cx="857250" cy="1501140"/>
            <a:chOff x="5177790" y="5708903"/>
            <a:chExt cx="857250" cy="1501140"/>
          </a:xfrm>
        </p:grpSpPr>
        <p:sp>
          <p:nvSpPr>
            <p:cNvPr id="194" name="object 194"/>
            <p:cNvSpPr/>
            <p:nvPr/>
          </p:nvSpPr>
          <p:spPr>
            <a:xfrm>
              <a:off x="5412486" y="6966203"/>
              <a:ext cx="56388" cy="243839"/>
            </a:xfrm>
            <a:prstGeom prst="rect">
              <a:avLst/>
            </a:prstGeom>
            <a:blipFill>
              <a:blip r:embed="rId6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177790" y="5708903"/>
              <a:ext cx="857250" cy="807719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205222" y="5756147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0"/>
                  </a:moveTo>
                  <a:lnTo>
                    <a:pt x="0" y="713232"/>
                  </a:lnTo>
                  <a:lnTo>
                    <a:pt x="762000" y="713232"/>
                  </a:lnTo>
                  <a:lnTo>
                    <a:pt x="76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205222" y="5756147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713232"/>
                  </a:moveTo>
                  <a:lnTo>
                    <a:pt x="0" y="0"/>
                  </a:lnTo>
                  <a:lnTo>
                    <a:pt x="762000" y="0"/>
                  </a:lnTo>
                  <a:lnTo>
                    <a:pt x="762000" y="713232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5747766" y="5807201"/>
              <a:ext cx="191262" cy="81534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5802101" y="5806897"/>
            <a:ext cx="577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Sal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00">
              <a:latin typeface="Arial"/>
              <a:cs typeface="Arial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5800378" y="5841380"/>
            <a:ext cx="711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sp>
        <p:nvSpPr>
          <p:cNvPr id="201" name="object 201"/>
          <p:cNvSpPr/>
          <p:nvPr/>
        </p:nvSpPr>
        <p:spPr>
          <a:xfrm>
            <a:off x="5744717" y="6089141"/>
            <a:ext cx="194310" cy="8153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 txBox="1"/>
          <p:nvPr/>
        </p:nvSpPr>
        <p:spPr>
          <a:xfrm>
            <a:off x="5810878" y="6089040"/>
            <a:ext cx="666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5791693" y="6123523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204" name="object 204"/>
          <p:cNvSpPr/>
          <p:nvPr/>
        </p:nvSpPr>
        <p:spPr>
          <a:xfrm>
            <a:off x="5746241" y="6342125"/>
            <a:ext cx="191262" cy="82296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 txBox="1"/>
          <p:nvPr/>
        </p:nvSpPr>
        <p:spPr>
          <a:xfrm>
            <a:off x="5810290" y="6342164"/>
            <a:ext cx="58419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sset</a:t>
            </a:r>
            <a:endParaRPr sz="100">
              <a:latin typeface="Arial"/>
              <a:cs typeface="Arial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5797492" y="6376479"/>
            <a:ext cx="8255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Eff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cien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100">
              <a:latin typeface="Arial"/>
              <a:cs typeface="Arial"/>
            </a:endParaRPr>
          </a:p>
        </p:txBody>
      </p:sp>
      <p:sp>
        <p:nvSpPr>
          <p:cNvPr id="207" name="object 207"/>
          <p:cNvSpPr/>
          <p:nvPr/>
        </p:nvSpPr>
        <p:spPr>
          <a:xfrm>
            <a:off x="5462015" y="5962649"/>
            <a:ext cx="191262" cy="82296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 txBox="1"/>
          <p:nvPr/>
        </p:nvSpPr>
        <p:spPr>
          <a:xfrm>
            <a:off x="5528538" y="5962713"/>
            <a:ext cx="58419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5524030" y="5997209"/>
            <a:ext cx="711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10" name="object 210"/>
          <p:cNvGrpSpPr/>
          <p:nvPr/>
        </p:nvGrpSpPr>
        <p:grpSpPr>
          <a:xfrm>
            <a:off x="5462015" y="5843777"/>
            <a:ext cx="287020" cy="436245"/>
            <a:chOff x="5462015" y="5843777"/>
            <a:chExt cx="287020" cy="436245"/>
          </a:xfrm>
        </p:grpSpPr>
        <p:sp>
          <p:nvSpPr>
            <p:cNvPr id="211" name="object 211"/>
            <p:cNvSpPr/>
            <p:nvPr/>
          </p:nvSpPr>
          <p:spPr>
            <a:xfrm>
              <a:off x="5650991" y="5843777"/>
              <a:ext cx="97535" cy="173736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5462015" y="6198107"/>
              <a:ext cx="191262" cy="81534"/>
            </a:xfrm>
            <a:prstGeom prst="rect">
              <a:avLst/>
            </a:prstGeom>
            <a:blipFill>
              <a:blip r:embed="rId6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5652515" y="5990094"/>
              <a:ext cx="96011" cy="260591"/>
            </a:xfrm>
            <a:prstGeom prst="rect">
              <a:avLst/>
            </a:prstGeom>
            <a:blipFill>
              <a:blip r:embed="rId6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4" name="object 214"/>
          <p:cNvSpPr txBox="1"/>
          <p:nvPr/>
        </p:nvSpPr>
        <p:spPr>
          <a:xfrm>
            <a:off x="5511165" y="6197904"/>
            <a:ext cx="86995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15" name="object 215"/>
          <p:cNvGrpSpPr/>
          <p:nvPr/>
        </p:nvGrpSpPr>
        <p:grpSpPr>
          <a:xfrm>
            <a:off x="5222747" y="5824727"/>
            <a:ext cx="525780" cy="562610"/>
            <a:chOff x="5222747" y="5824727"/>
            <a:chExt cx="525780" cy="562610"/>
          </a:xfrm>
        </p:grpSpPr>
        <p:sp>
          <p:nvSpPr>
            <p:cNvPr id="216" name="object 216"/>
            <p:cNvSpPr/>
            <p:nvPr/>
          </p:nvSpPr>
          <p:spPr>
            <a:xfrm>
              <a:off x="5650229" y="5824727"/>
              <a:ext cx="98297" cy="562356"/>
            </a:xfrm>
            <a:prstGeom prst="rect">
              <a:avLst/>
            </a:prstGeom>
            <a:blipFill>
              <a:blip r:embed="rId6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5222747" y="6029705"/>
              <a:ext cx="191262" cy="181355"/>
            </a:xfrm>
            <a:prstGeom prst="rect">
              <a:avLst/>
            </a:prstGeom>
            <a:blipFill>
              <a:blip r:embed="rId6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8" name="object 218"/>
          <p:cNvSpPr txBox="1"/>
          <p:nvPr/>
        </p:nvSpPr>
        <p:spPr>
          <a:xfrm>
            <a:off x="5300738" y="6015634"/>
            <a:ext cx="3556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00">
              <a:latin typeface="Arial"/>
              <a:cs typeface="Arial"/>
            </a:endParaRPr>
          </a:p>
          <a:p>
            <a:pPr algn="ctr" marL="12700" marR="5715" indent="-1905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p  e  r  a  t  i  n  g  T  S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19" name="object 219"/>
          <p:cNvGrpSpPr/>
          <p:nvPr/>
        </p:nvGrpSpPr>
        <p:grpSpPr>
          <a:xfrm>
            <a:off x="5177790" y="4742687"/>
            <a:ext cx="857250" cy="1500505"/>
            <a:chOff x="5177790" y="4742687"/>
            <a:chExt cx="857250" cy="1500505"/>
          </a:xfrm>
        </p:grpSpPr>
        <p:sp>
          <p:nvSpPr>
            <p:cNvPr id="220" name="object 220"/>
            <p:cNvSpPr/>
            <p:nvPr/>
          </p:nvSpPr>
          <p:spPr>
            <a:xfrm>
              <a:off x="5412486" y="5999987"/>
              <a:ext cx="56388" cy="243078"/>
            </a:xfrm>
            <a:prstGeom prst="rect">
              <a:avLst/>
            </a:prstGeom>
            <a:blipFill>
              <a:blip r:embed="rId7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5177790" y="4742687"/>
              <a:ext cx="857249" cy="807719"/>
            </a:xfrm>
            <a:prstGeom prst="rect">
              <a:avLst/>
            </a:prstGeom>
            <a:blipFill>
              <a:blip r:embed="rId7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5205222" y="4789931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0"/>
                  </a:moveTo>
                  <a:lnTo>
                    <a:pt x="0" y="713231"/>
                  </a:lnTo>
                  <a:lnTo>
                    <a:pt x="762000" y="713231"/>
                  </a:lnTo>
                  <a:lnTo>
                    <a:pt x="76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5205222" y="4789931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713231"/>
                  </a:moveTo>
                  <a:lnTo>
                    <a:pt x="0" y="0"/>
                  </a:lnTo>
                  <a:lnTo>
                    <a:pt x="762000" y="0"/>
                  </a:lnTo>
                  <a:lnTo>
                    <a:pt x="762000" y="713231"/>
                  </a:lnTo>
                  <a:lnTo>
                    <a:pt x="0" y="713231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5747766" y="4840223"/>
              <a:ext cx="191262" cy="82296"/>
            </a:xfrm>
            <a:prstGeom prst="rect">
              <a:avLst/>
            </a:prstGeom>
            <a:blipFill>
              <a:blip r:embed="rId7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5" name="object 225"/>
          <p:cNvSpPr txBox="1"/>
          <p:nvPr/>
        </p:nvSpPr>
        <p:spPr>
          <a:xfrm>
            <a:off x="5800378" y="4840287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sp>
        <p:nvSpPr>
          <p:cNvPr id="226" name="object 226"/>
          <p:cNvSpPr/>
          <p:nvPr/>
        </p:nvSpPr>
        <p:spPr>
          <a:xfrm>
            <a:off x="5744717" y="5122925"/>
            <a:ext cx="194310" cy="8153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 txBox="1"/>
          <p:nvPr/>
        </p:nvSpPr>
        <p:spPr>
          <a:xfrm>
            <a:off x="5810878" y="5122417"/>
            <a:ext cx="666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5791693" y="5156901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229" name="object 229"/>
          <p:cNvSpPr/>
          <p:nvPr/>
        </p:nvSpPr>
        <p:spPr>
          <a:xfrm>
            <a:off x="5746241" y="5375909"/>
            <a:ext cx="191262" cy="81534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 txBox="1"/>
          <p:nvPr/>
        </p:nvSpPr>
        <p:spPr>
          <a:xfrm>
            <a:off x="5797492" y="5375528"/>
            <a:ext cx="8255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Asset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Eff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cien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100">
              <a:latin typeface="Arial"/>
              <a:cs typeface="Arial"/>
            </a:endParaRPr>
          </a:p>
        </p:txBody>
      </p:sp>
      <p:sp>
        <p:nvSpPr>
          <p:cNvPr id="231" name="object 231"/>
          <p:cNvSpPr/>
          <p:nvPr/>
        </p:nvSpPr>
        <p:spPr>
          <a:xfrm>
            <a:off x="5462015" y="4996433"/>
            <a:ext cx="191262" cy="81534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 txBox="1"/>
          <p:nvPr/>
        </p:nvSpPr>
        <p:spPr>
          <a:xfrm>
            <a:off x="5524030" y="4996090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5462015" y="4877561"/>
            <a:ext cx="287020" cy="436245"/>
            <a:chOff x="5462015" y="4877561"/>
            <a:chExt cx="287020" cy="436245"/>
          </a:xfrm>
        </p:grpSpPr>
        <p:sp>
          <p:nvSpPr>
            <p:cNvPr id="234" name="object 234"/>
            <p:cNvSpPr/>
            <p:nvPr/>
          </p:nvSpPr>
          <p:spPr>
            <a:xfrm>
              <a:off x="5650991" y="4877561"/>
              <a:ext cx="97535" cy="172973"/>
            </a:xfrm>
            <a:prstGeom prst="rect">
              <a:avLst/>
            </a:prstGeom>
            <a:blipFill>
              <a:blip r:embed="rId7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5462015" y="5231891"/>
              <a:ext cx="191262" cy="81534"/>
            </a:xfrm>
            <a:prstGeom prst="rect">
              <a:avLst/>
            </a:prstGeom>
            <a:blipFill>
              <a:blip r:embed="rId6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5652515" y="5023103"/>
              <a:ext cx="96011" cy="261366"/>
            </a:xfrm>
            <a:prstGeom prst="rect">
              <a:avLst/>
            </a:prstGeom>
            <a:blipFill>
              <a:blip r:embed="rId6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7" name="object 237"/>
          <p:cNvSpPr txBox="1"/>
          <p:nvPr/>
        </p:nvSpPr>
        <p:spPr>
          <a:xfrm>
            <a:off x="5511165" y="5231282"/>
            <a:ext cx="86995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5222747" y="4857749"/>
            <a:ext cx="525780" cy="563245"/>
            <a:chOff x="5222747" y="4857749"/>
            <a:chExt cx="525780" cy="563245"/>
          </a:xfrm>
        </p:grpSpPr>
        <p:sp>
          <p:nvSpPr>
            <p:cNvPr id="239" name="object 239"/>
            <p:cNvSpPr/>
            <p:nvPr/>
          </p:nvSpPr>
          <p:spPr>
            <a:xfrm>
              <a:off x="5650229" y="4857749"/>
              <a:ext cx="98297" cy="563117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5222747" y="5063489"/>
              <a:ext cx="191262" cy="180594"/>
            </a:xfrm>
            <a:prstGeom prst="rect">
              <a:avLst/>
            </a:prstGeom>
            <a:blipFill>
              <a:blip r:embed="rId6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1" name="object 241"/>
          <p:cNvSpPr txBox="1"/>
          <p:nvPr/>
        </p:nvSpPr>
        <p:spPr>
          <a:xfrm>
            <a:off x="5300738" y="5049011"/>
            <a:ext cx="3556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00">
              <a:latin typeface="Arial"/>
              <a:cs typeface="Arial"/>
            </a:endParaRPr>
          </a:p>
          <a:p>
            <a:pPr algn="ctr" marL="12700" marR="5715" indent="-1905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p  e  r  a  t  i  n  g  T  S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42" name="object 242"/>
          <p:cNvGrpSpPr/>
          <p:nvPr/>
        </p:nvGrpSpPr>
        <p:grpSpPr>
          <a:xfrm>
            <a:off x="5176265" y="3793997"/>
            <a:ext cx="857250" cy="1483360"/>
            <a:chOff x="5176265" y="3793997"/>
            <a:chExt cx="857250" cy="1483360"/>
          </a:xfrm>
        </p:grpSpPr>
        <p:sp>
          <p:nvSpPr>
            <p:cNvPr id="243" name="object 243"/>
            <p:cNvSpPr/>
            <p:nvPr/>
          </p:nvSpPr>
          <p:spPr>
            <a:xfrm>
              <a:off x="5412485" y="5033009"/>
              <a:ext cx="56388" cy="243839"/>
            </a:xfrm>
            <a:prstGeom prst="rect">
              <a:avLst/>
            </a:prstGeom>
            <a:blipFill>
              <a:blip r:embed="rId6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5176265" y="3793997"/>
              <a:ext cx="857249" cy="807719"/>
            </a:xfrm>
            <a:prstGeom prst="rect">
              <a:avLst/>
            </a:prstGeom>
            <a:blipFill>
              <a:blip r:embed="rId7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5203697" y="3841241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0"/>
                  </a:moveTo>
                  <a:lnTo>
                    <a:pt x="0" y="713231"/>
                  </a:lnTo>
                  <a:lnTo>
                    <a:pt x="762000" y="713231"/>
                  </a:lnTo>
                  <a:lnTo>
                    <a:pt x="761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5203697" y="3841241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713231"/>
                  </a:moveTo>
                  <a:lnTo>
                    <a:pt x="0" y="0"/>
                  </a:lnTo>
                  <a:lnTo>
                    <a:pt x="761999" y="0"/>
                  </a:lnTo>
                  <a:lnTo>
                    <a:pt x="762000" y="713231"/>
                  </a:lnTo>
                  <a:lnTo>
                    <a:pt x="0" y="713231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5746241" y="3892295"/>
              <a:ext cx="191262" cy="81534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8" name="object 248"/>
          <p:cNvSpPr txBox="1"/>
          <p:nvPr/>
        </p:nvSpPr>
        <p:spPr>
          <a:xfrm>
            <a:off x="5799080" y="3891838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sp>
        <p:nvSpPr>
          <p:cNvPr id="249" name="object 249"/>
          <p:cNvSpPr/>
          <p:nvPr/>
        </p:nvSpPr>
        <p:spPr>
          <a:xfrm>
            <a:off x="5743955" y="4174235"/>
            <a:ext cx="193547" cy="81534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 txBox="1"/>
          <p:nvPr/>
        </p:nvSpPr>
        <p:spPr>
          <a:xfrm>
            <a:off x="5809580" y="4173968"/>
            <a:ext cx="666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</p:txBody>
      </p:sp>
      <p:sp>
        <p:nvSpPr>
          <p:cNvPr id="251" name="object 251"/>
          <p:cNvSpPr txBox="1"/>
          <p:nvPr/>
        </p:nvSpPr>
        <p:spPr>
          <a:xfrm>
            <a:off x="5790395" y="4208452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252" name="object 252"/>
          <p:cNvSpPr/>
          <p:nvPr/>
        </p:nvSpPr>
        <p:spPr>
          <a:xfrm>
            <a:off x="5744717" y="4427219"/>
            <a:ext cx="191262" cy="81534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 txBox="1"/>
          <p:nvPr/>
        </p:nvSpPr>
        <p:spPr>
          <a:xfrm>
            <a:off x="5796181" y="4427092"/>
            <a:ext cx="8255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Asset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Eff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cien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100">
              <a:latin typeface="Arial"/>
              <a:cs typeface="Arial"/>
            </a:endParaRPr>
          </a:p>
        </p:txBody>
      </p:sp>
      <p:sp>
        <p:nvSpPr>
          <p:cNvPr id="254" name="object 254"/>
          <p:cNvSpPr/>
          <p:nvPr/>
        </p:nvSpPr>
        <p:spPr>
          <a:xfrm>
            <a:off x="5461253" y="4047743"/>
            <a:ext cx="191262" cy="81534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 txBox="1"/>
          <p:nvPr/>
        </p:nvSpPr>
        <p:spPr>
          <a:xfrm>
            <a:off x="5522735" y="4047654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56" name="object 256"/>
          <p:cNvGrpSpPr/>
          <p:nvPr/>
        </p:nvGrpSpPr>
        <p:grpSpPr>
          <a:xfrm>
            <a:off x="5461253" y="3928871"/>
            <a:ext cx="287020" cy="436245"/>
            <a:chOff x="5461253" y="3928871"/>
            <a:chExt cx="287020" cy="436245"/>
          </a:xfrm>
        </p:grpSpPr>
        <p:sp>
          <p:nvSpPr>
            <p:cNvPr id="257" name="object 257"/>
            <p:cNvSpPr/>
            <p:nvPr/>
          </p:nvSpPr>
          <p:spPr>
            <a:xfrm>
              <a:off x="5650229" y="3928871"/>
              <a:ext cx="97535" cy="173736"/>
            </a:xfrm>
            <a:prstGeom prst="rect">
              <a:avLst/>
            </a:prstGeom>
            <a:blipFill>
              <a:blip r:embed="rId7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5461253" y="4283201"/>
              <a:ext cx="191262" cy="81534"/>
            </a:xfrm>
            <a:prstGeom prst="rect">
              <a:avLst/>
            </a:prstGeom>
            <a:blipFill>
              <a:blip r:embed="rId6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5651753" y="4075175"/>
              <a:ext cx="96011" cy="260603"/>
            </a:xfrm>
            <a:prstGeom prst="rect">
              <a:avLst/>
            </a:prstGeom>
            <a:blipFill>
              <a:blip r:embed="rId7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0" name="object 260"/>
          <p:cNvSpPr txBox="1"/>
          <p:nvPr/>
        </p:nvSpPr>
        <p:spPr>
          <a:xfrm>
            <a:off x="5509869" y="4282845"/>
            <a:ext cx="86995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61" name="object 261"/>
          <p:cNvGrpSpPr/>
          <p:nvPr/>
        </p:nvGrpSpPr>
        <p:grpSpPr>
          <a:xfrm>
            <a:off x="5221223" y="3909834"/>
            <a:ext cx="527050" cy="562610"/>
            <a:chOff x="5221223" y="3909834"/>
            <a:chExt cx="527050" cy="562610"/>
          </a:xfrm>
        </p:grpSpPr>
        <p:sp>
          <p:nvSpPr>
            <p:cNvPr id="262" name="object 262"/>
            <p:cNvSpPr/>
            <p:nvPr/>
          </p:nvSpPr>
          <p:spPr>
            <a:xfrm>
              <a:off x="5648705" y="3909834"/>
              <a:ext cx="99060" cy="562343"/>
            </a:xfrm>
            <a:prstGeom prst="rect">
              <a:avLst/>
            </a:prstGeom>
            <a:blipFill>
              <a:blip r:embed="rId7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5221223" y="4114799"/>
              <a:ext cx="191262" cy="180594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4" name="object 264"/>
          <p:cNvSpPr txBox="1"/>
          <p:nvPr/>
        </p:nvSpPr>
        <p:spPr>
          <a:xfrm>
            <a:off x="5299430" y="4100575"/>
            <a:ext cx="3556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00">
              <a:latin typeface="Arial"/>
              <a:cs typeface="Arial"/>
            </a:endParaRPr>
          </a:p>
          <a:p>
            <a:pPr algn="ctr" marL="12700" marR="5715" indent="-1905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p  e  r  a  t  i  n  g  T  S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65" name="object 265"/>
          <p:cNvGrpSpPr/>
          <p:nvPr/>
        </p:nvGrpSpPr>
        <p:grpSpPr>
          <a:xfrm>
            <a:off x="5176265" y="2827019"/>
            <a:ext cx="857250" cy="1501140"/>
            <a:chOff x="5176265" y="2827019"/>
            <a:chExt cx="857250" cy="1501140"/>
          </a:xfrm>
        </p:grpSpPr>
        <p:sp>
          <p:nvSpPr>
            <p:cNvPr id="266" name="object 266"/>
            <p:cNvSpPr/>
            <p:nvPr/>
          </p:nvSpPr>
          <p:spPr>
            <a:xfrm>
              <a:off x="5410961" y="4084319"/>
              <a:ext cx="57150" cy="243839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5176265" y="2827019"/>
              <a:ext cx="857250" cy="807719"/>
            </a:xfrm>
            <a:prstGeom prst="rect">
              <a:avLst/>
            </a:prstGeom>
            <a:blipFill>
              <a:blip r:embed="rId7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5203697" y="2874263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0"/>
                  </a:moveTo>
                  <a:lnTo>
                    <a:pt x="0" y="713231"/>
                  </a:lnTo>
                  <a:lnTo>
                    <a:pt x="761999" y="713231"/>
                  </a:lnTo>
                  <a:lnTo>
                    <a:pt x="761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5203697" y="2874263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713231"/>
                  </a:moveTo>
                  <a:lnTo>
                    <a:pt x="0" y="0"/>
                  </a:lnTo>
                  <a:lnTo>
                    <a:pt x="761999" y="0"/>
                  </a:lnTo>
                  <a:lnTo>
                    <a:pt x="761999" y="713231"/>
                  </a:lnTo>
                  <a:lnTo>
                    <a:pt x="0" y="713231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5746241" y="2925317"/>
              <a:ext cx="191262" cy="81534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1" name="object 271"/>
          <p:cNvSpPr txBox="1"/>
          <p:nvPr/>
        </p:nvSpPr>
        <p:spPr>
          <a:xfrm>
            <a:off x="5800803" y="2925216"/>
            <a:ext cx="577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Sal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00">
              <a:latin typeface="Arial"/>
              <a:cs typeface="Arial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5799080" y="2959699"/>
            <a:ext cx="711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sp>
        <p:nvSpPr>
          <p:cNvPr id="273" name="object 273"/>
          <p:cNvSpPr/>
          <p:nvPr/>
        </p:nvSpPr>
        <p:spPr>
          <a:xfrm>
            <a:off x="5743955" y="3208019"/>
            <a:ext cx="193547" cy="81534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 txBox="1"/>
          <p:nvPr/>
        </p:nvSpPr>
        <p:spPr>
          <a:xfrm>
            <a:off x="5809580" y="3207346"/>
            <a:ext cx="666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</p:txBody>
      </p:sp>
      <p:sp>
        <p:nvSpPr>
          <p:cNvPr id="275" name="object 275"/>
          <p:cNvSpPr txBox="1"/>
          <p:nvPr/>
        </p:nvSpPr>
        <p:spPr>
          <a:xfrm>
            <a:off x="5790395" y="3241830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5744717" y="3461003"/>
            <a:ext cx="191262" cy="81534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 txBox="1"/>
          <p:nvPr/>
        </p:nvSpPr>
        <p:spPr>
          <a:xfrm>
            <a:off x="5808992" y="3460470"/>
            <a:ext cx="58419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sset</a:t>
            </a:r>
            <a:endParaRPr sz="100">
              <a:latin typeface="Arial"/>
              <a:cs typeface="Arial"/>
            </a:endParaRPr>
          </a:p>
        </p:txBody>
      </p:sp>
      <p:sp>
        <p:nvSpPr>
          <p:cNvPr id="278" name="object 278"/>
          <p:cNvSpPr txBox="1"/>
          <p:nvPr/>
        </p:nvSpPr>
        <p:spPr>
          <a:xfrm>
            <a:off x="5796181" y="3494785"/>
            <a:ext cx="8255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Eff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cien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100">
              <a:latin typeface="Arial"/>
              <a:cs typeface="Arial"/>
            </a:endParaRPr>
          </a:p>
        </p:txBody>
      </p:sp>
      <p:sp>
        <p:nvSpPr>
          <p:cNvPr id="279" name="object 279"/>
          <p:cNvSpPr/>
          <p:nvPr/>
        </p:nvSpPr>
        <p:spPr>
          <a:xfrm>
            <a:off x="5461253" y="3081527"/>
            <a:ext cx="191262" cy="81534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 txBox="1"/>
          <p:nvPr/>
        </p:nvSpPr>
        <p:spPr>
          <a:xfrm>
            <a:off x="5522735" y="3081032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81" name="object 281"/>
          <p:cNvGrpSpPr/>
          <p:nvPr/>
        </p:nvGrpSpPr>
        <p:grpSpPr>
          <a:xfrm>
            <a:off x="5461253" y="2961893"/>
            <a:ext cx="287020" cy="436880"/>
            <a:chOff x="5461253" y="2961893"/>
            <a:chExt cx="287020" cy="436880"/>
          </a:xfrm>
        </p:grpSpPr>
        <p:sp>
          <p:nvSpPr>
            <p:cNvPr id="282" name="object 282"/>
            <p:cNvSpPr/>
            <p:nvPr/>
          </p:nvSpPr>
          <p:spPr>
            <a:xfrm>
              <a:off x="5650229" y="2961893"/>
              <a:ext cx="97535" cy="173736"/>
            </a:xfrm>
            <a:prstGeom prst="rect">
              <a:avLst/>
            </a:prstGeom>
            <a:blipFill>
              <a:blip r:embed="rId7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5461253" y="3316223"/>
              <a:ext cx="191262" cy="82296"/>
            </a:xfrm>
            <a:prstGeom prst="rect">
              <a:avLst/>
            </a:prstGeom>
            <a:blipFill>
              <a:blip r:embed="rId8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5651753" y="3108197"/>
              <a:ext cx="96011" cy="261365"/>
            </a:xfrm>
            <a:prstGeom prst="rect">
              <a:avLst/>
            </a:prstGeom>
            <a:blipFill>
              <a:blip r:embed="rId8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5" name="object 285"/>
          <p:cNvSpPr txBox="1"/>
          <p:nvPr/>
        </p:nvSpPr>
        <p:spPr>
          <a:xfrm>
            <a:off x="5509869" y="3316223"/>
            <a:ext cx="86995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5221223" y="2942843"/>
            <a:ext cx="527050" cy="563245"/>
            <a:chOff x="5221223" y="2942843"/>
            <a:chExt cx="527050" cy="563245"/>
          </a:xfrm>
        </p:grpSpPr>
        <p:sp>
          <p:nvSpPr>
            <p:cNvPr id="287" name="object 287"/>
            <p:cNvSpPr/>
            <p:nvPr/>
          </p:nvSpPr>
          <p:spPr>
            <a:xfrm>
              <a:off x="5648705" y="2942843"/>
              <a:ext cx="99060" cy="563117"/>
            </a:xfrm>
            <a:prstGeom prst="rect">
              <a:avLst/>
            </a:prstGeom>
            <a:blipFill>
              <a:blip r:embed="rId8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5221223" y="3148583"/>
              <a:ext cx="191262" cy="180594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9" name="object 289"/>
          <p:cNvSpPr txBox="1"/>
          <p:nvPr/>
        </p:nvSpPr>
        <p:spPr>
          <a:xfrm>
            <a:off x="5299430" y="3133953"/>
            <a:ext cx="3556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00">
              <a:latin typeface="Arial"/>
              <a:cs typeface="Arial"/>
            </a:endParaRPr>
          </a:p>
          <a:p>
            <a:pPr algn="ctr" marL="12700" marR="5715" indent="-1905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p  e  r  a  t  i  n  g  T  S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290" name="object 290"/>
          <p:cNvGrpSpPr/>
          <p:nvPr/>
        </p:nvGrpSpPr>
        <p:grpSpPr>
          <a:xfrm>
            <a:off x="5176265" y="1860803"/>
            <a:ext cx="857250" cy="1501140"/>
            <a:chOff x="5176265" y="1860803"/>
            <a:chExt cx="857250" cy="1501140"/>
          </a:xfrm>
        </p:grpSpPr>
        <p:sp>
          <p:nvSpPr>
            <p:cNvPr id="291" name="object 291"/>
            <p:cNvSpPr/>
            <p:nvPr/>
          </p:nvSpPr>
          <p:spPr>
            <a:xfrm>
              <a:off x="5410961" y="3118103"/>
              <a:ext cx="57150" cy="243839"/>
            </a:xfrm>
            <a:prstGeom prst="rect">
              <a:avLst/>
            </a:prstGeom>
            <a:blipFill>
              <a:blip r:embed="rId5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5176265" y="1860803"/>
              <a:ext cx="857250" cy="807719"/>
            </a:xfrm>
            <a:prstGeom prst="rect">
              <a:avLst/>
            </a:prstGeom>
            <a:blipFill>
              <a:blip r:embed="rId7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5203697" y="1908047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0"/>
                  </a:moveTo>
                  <a:lnTo>
                    <a:pt x="0" y="713231"/>
                  </a:lnTo>
                  <a:lnTo>
                    <a:pt x="761999" y="713231"/>
                  </a:lnTo>
                  <a:lnTo>
                    <a:pt x="761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5203697" y="1908047"/>
              <a:ext cx="762000" cy="713740"/>
            </a:xfrm>
            <a:custGeom>
              <a:avLst/>
              <a:gdLst/>
              <a:ahLst/>
              <a:cxnLst/>
              <a:rect l="l" t="t" r="r" b="b"/>
              <a:pathLst>
                <a:path w="762000" h="713739">
                  <a:moveTo>
                    <a:pt x="0" y="713231"/>
                  </a:moveTo>
                  <a:lnTo>
                    <a:pt x="0" y="0"/>
                  </a:lnTo>
                  <a:lnTo>
                    <a:pt x="761999" y="0"/>
                  </a:lnTo>
                  <a:lnTo>
                    <a:pt x="761999" y="713231"/>
                  </a:lnTo>
                  <a:lnTo>
                    <a:pt x="0" y="713231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5746241" y="1959101"/>
              <a:ext cx="191262" cy="81534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6" name="object 296"/>
          <p:cNvSpPr txBox="1"/>
          <p:nvPr/>
        </p:nvSpPr>
        <p:spPr>
          <a:xfrm>
            <a:off x="5799080" y="1958593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sp>
        <p:nvSpPr>
          <p:cNvPr id="297" name="object 297"/>
          <p:cNvSpPr/>
          <p:nvPr/>
        </p:nvSpPr>
        <p:spPr>
          <a:xfrm>
            <a:off x="5743955" y="2241041"/>
            <a:ext cx="193547" cy="81534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 txBox="1"/>
          <p:nvPr/>
        </p:nvSpPr>
        <p:spPr>
          <a:xfrm>
            <a:off x="5809580" y="2240723"/>
            <a:ext cx="666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</p:txBody>
      </p:sp>
      <p:sp>
        <p:nvSpPr>
          <p:cNvPr id="299" name="object 299"/>
          <p:cNvSpPr txBox="1"/>
          <p:nvPr/>
        </p:nvSpPr>
        <p:spPr>
          <a:xfrm>
            <a:off x="5790395" y="2275221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00">
              <a:latin typeface="Arial"/>
              <a:cs typeface="Arial"/>
            </a:endParaRPr>
          </a:p>
        </p:txBody>
      </p:sp>
      <p:sp>
        <p:nvSpPr>
          <p:cNvPr id="300" name="object 300"/>
          <p:cNvSpPr/>
          <p:nvPr/>
        </p:nvSpPr>
        <p:spPr>
          <a:xfrm>
            <a:off x="5744717" y="2494025"/>
            <a:ext cx="191262" cy="81534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 txBox="1"/>
          <p:nvPr/>
        </p:nvSpPr>
        <p:spPr>
          <a:xfrm>
            <a:off x="5796181" y="2493847"/>
            <a:ext cx="8255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Asset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Eff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cien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cy</a:t>
            </a:r>
            <a:endParaRPr sz="100">
              <a:latin typeface="Arial"/>
              <a:cs typeface="Arial"/>
            </a:endParaRPr>
          </a:p>
        </p:txBody>
      </p:sp>
      <p:sp>
        <p:nvSpPr>
          <p:cNvPr id="302" name="object 302"/>
          <p:cNvSpPr/>
          <p:nvPr/>
        </p:nvSpPr>
        <p:spPr>
          <a:xfrm>
            <a:off x="5461253" y="2114549"/>
            <a:ext cx="191262" cy="81534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 txBox="1"/>
          <p:nvPr/>
        </p:nvSpPr>
        <p:spPr>
          <a:xfrm>
            <a:off x="5522735" y="2114409"/>
            <a:ext cx="71120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304" name="object 304"/>
          <p:cNvGrpSpPr/>
          <p:nvPr/>
        </p:nvGrpSpPr>
        <p:grpSpPr>
          <a:xfrm>
            <a:off x="5461253" y="1995677"/>
            <a:ext cx="287020" cy="436245"/>
            <a:chOff x="5461253" y="1995677"/>
            <a:chExt cx="287020" cy="436245"/>
          </a:xfrm>
        </p:grpSpPr>
        <p:sp>
          <p:nvSpPr>
            <p:cNvPr id="305" name="object 305"/>
            <p:cNvSpPr/>
            <p:nvPr/>
          </p:nvSpPr>
          <p:spPr>
            <a:xfrm>
              <a:off x="5650229" y="1995677"/>
              <a:ext cx="97535" cy="173736"/>
            </a:xfrm>
            <a:prstGeom prst="rect">
              <a:avLst/>
            </a:prstGeom>
            <a:blipFill>
              <a:blip r:embed="rId7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5461253" y="2350007"/>
              <a:ext cx="191262" cy="81534"/>
            </a:xfrm>
            <a:prstGeom prst="rect">
              <a:avLst/>
            </a:prstGeom>
            <a:blipFill>
              <a:blip r:embed="rId6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5651753" y="2141981"/>
              <a:ext cx="96011" cy="260603"/>
            </a:xfrm>
            <a:prstGeom prst="rect">
              <a:avLst/>
            </a:prstGeom>
            <a:blipFill>
              <a:blip r:embed="rId7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8" name="object 308"/>
          <p:cNvSpPr txBox="1"/>
          <p:nvPr/>
        </p:nvSpPr>
        <p:spPr>
          <a:xfrm>
            <a:off x="5509869" y="2349600"/>
            <a:ext cx="86995" cy="7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Cas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Fl</a:t>
            </a: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ow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" spc="-5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309" name="object 309"/>
          <p:cNvGrpSpPr/>
          <p:nvPr/>
        </p:nvGrpSpPr>
        <p:grpSpPr>
          <a:xfrm>
            <a:off x="5221223" y="1975865"/>
            <a:ext cx="527050" cy="563245"/>
            <a:chOff x="5221223" y="1975865"/>
            <a:chExt cx="527050" cy="563245"/>
          </a:xfrm>
        </p:grpSpPr>
        <p:sp>
          <p:nvSpPr>
            <p:cNvPr id="310" name="object 310"/>
            <p:cNvSpPr/>
            <p:nvPr/>
          </p:nvSpPr>
          <p:spPr>
            <a:xfrm>
              <a:off x="5648705" y="1975865"/>
              <a:ext cx="99060" cy="563117"/>
            </a:xfrm>
            <a:prstGeom prst="rect">
              <a:avLst/>
            </a:prstGeom>
            <a:blipFill>
              <a:blip r:embed="rId8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5221223" y="2181605"/>
              <a:ext cx="191261" cy="180594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2" name="object 312"/>
          <p:cNvSpPr txBox="1"/>
          <p:nvPr/>
        </p:nvSpPr>
        <p:spPr>
          <a:xfrm>
            <a:off x="5299430" y="2167330"/>
            <a:ext cx="35560" cy="20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00">
              <a:latin typeface="Arial"/>
              <a:cs typeface="Arial"/>
            </a:endParaRPr>
          </a:p>
          <a:p>
            <a:pPr algn="ctr" marL="12700" marR="5715" indent="-1905">
              <a:lnSpc>
                <a:spcPct val="100000"/>
              </a:lnSpc>
            </a:pP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p  e  r  a  t  i  n  g  T  S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313" name="object 313"/>
          <p:cNvGrpSpPr/>
          <p:nvPr/>
        </p:nvGrpSpPr>
        <p:grpSpPr>
          <a:xfrm>
            <a:off x="2810255" y="2151125"/>
            <a:ext cx="2658110" cy="7821295"/>
            <a:chOff x="2810255" y="2151125"/>
            <a:chExt cx="2658110" cy="7821295"/>
          </a:xfrm>
        </p:grpSpPr>
        <p:sp>
          <p:nvSpPr>
            <p:cNvPr id="314" name="object 314"/>
            <p:cNvSpPr/>
            <p:nvPr/>
          </p:nvSpPr>
          <p:spPr>
            <a:xfrm>
              <a:off x="2819780" y="6091478"/>
              <a:ext cx="570865" cy="2900045"/>
            </a:xfrm>
            <a:custGeom>
              <a:avLst/>
              <a:gdLst/>
              <a:ahLst/>
              <a:cxnLst/>
              <a:rect l="l" t="t" r="r" b="b"/>
              <a:pathLst>
                <a:path w="570864" h="2900045">
                  <a:moveTo>
                    <a:pt x="0" y="0"/>
                  </a:moveTo>
                  <a:lnTo>
                    <a:pt x="40015" y="18517"/>
                  </a:lnTo>
                  <a:lnTo>
                    <a:pt x="66344" y="50330"/>
                  </a:lnTo>
                  <a:lnTo>
                    <a:pt x="92149" y="96478"/>
                  </a:lnTo>
                  <a:lnTo>
                    <a:pt x="117223" y="155901"/>
                  </a:lnTo>
                  <a:lnTo>
                    <a:pt x="141356" y="227536"/>
                  </a:lnTo>
                  <a:lnTo>
                    <a:pt x="153005" y="267601"/>
                  </a:lnTo>
                  <a:lnTo>
                    <a:pt x="164340" y="310321"/>
                  </a:lnTo>
                  <a:lnTo>
                    <a:pt x="175335" y="355563"/>
                  </a:lnTo>
                  <a:lnTo>
                    <a:pt x="185964" y="403194"/>
                  </a:lnTo>
                  <a:lnTo>
                    <a:pt x="196202" y="453082"/>
                  </a:lnTo>
                  <a:lnTo>
                    <a:pt x="206021" y="505093"/>
                  </a:lnTo>
                  <a:lnTo>
                    <a:pt x="215396" y="559096"/>
                  </a:lnTo>
                  <a:lnTo>
                    <a:pt x="224301" y="614957"/>
                  </a:lnTo>
                  <a:lnTo>
                    <a:pt x="232710" y="672544"/>
                  </a:lnTo>
                  <a:lnTo>
                    <a:pt x="240596" y="731724"/>
                  </a:lnTo>
                  <a:lnTo>
                    <a:pt x="247933" y="792363"/>
                  </a:lnTo>
                  <a:lnTo>
                    <a:pt x="254696" y="854331"/>
                  </a:lnTo>
                  <a:lnTo>
                    <a:pt x="260857" y="917493"/>
                  </a:lnTo>
                  <a:lnTo>
                    <a:pt x="266392" y="981717"/>
                  </a:lnTo>
                  <a:lnTo>
                    <a:pt x="271273" y="1046870"/>
                  </a:lnTo>
                  <a:lnTo>
                    <a:pt x="275475" y="1112820"/>
                  </a:lnTo>
                  <a:lnTo>
                    <a:pt x="278972" y="1179433"/>
                  </a:lnTo>
                  <a:lnTo>
                    <a:pt x="281737" y="1246577"/>
                  </a:lnTo>
                  <a:lnTo>
                    <a:pt x="283744" y="1314120"/>
                  </a:lnTo>
                  <a:lnTo>
                    <a:pt x="284968" y="1381929"/>
                  </a:lnTo>
                  <a:lnTo>
                    <a:pt x="285381" y="1449870"/>
                  </a:lnTo>
                  <a:lnTo>
                    <a:pt x="285795" y="1517811"/>
                  </a:lnTo>
                  <a:lnTo>
                    <a:pt x="287018" y="1585619"/>
                  </a:lnTo>
                  <a:lnTo>
                    <a:pt x="289026" y="1653162"/>
                  </a:lnTo>
                  <a:lnTo>
                    <a:pt x="291791" y="1720306"/>
                  </a:lnTo>
                  <a:lnTo>
                    <a:pt x="295287" y="1786920"/>
                  </a:lnTo>
                  <a:lnTo>
                    <a:pt x="299489" y="1852869"/>
                  </a:lnTo>
                  <a:lnTo>
                    <a:pt x="304371" y="1918022"/>
                  </a:lnTo>
                  <a:lnTo>
                    <a:pt x="309905" y="1982246"/>
                  </a:lnTo>
                  <a:lnTo>
                    <a:pt x="316067" y="2045408"/>
                  </a:lnTo>
                  <a:lnTo>
                    <a:pt x="322829" y="2107376"/>
                  </a:lnTo>
                  <a:lnTo>
                    <a:pt x="330167" y="2168016"/>
                  </a:lnTo>
                  <a:lnTo>
                    <a:pt x="338053" y="2227195"/>
                  </a:lnTo>
                  <a:lnTo>
                    <a:pt x="346461" y="2284782"/>
                  </a:lnTo>
                  <a:lnTo>
                    <a:pt x="355366" y="2340643"/>
                  </a:lnTo>
                  <a:lnTo>
                    <a:pt x="364741" y="2394646"/>
                  </a:lnTo>
                  <a:lnTo>
                    <a:pt x="374561" y="2446658"/>
                  </a:lnTo>
                  <a:lnTo>
                    <a:pt x="384798" y="2496545"/>
                  </a:lnTo>
                  <a:lnTo>
                    <a:pt x="395427" y="2544177"/>
                  </a:lnTo>
                  <a:lnTo>
                    <a:pt x="406423" y="2589419"/>
                  </a:lnTo>
                  <a:lnTo>
                    <a:pt x="417758" y="2632138"/>
                  </a:lnTo>
                  <a:lnTo>
                    <a:pt x="429406" y="2672203"/>
                  </a:lnTo>
                  <a:lnTo>
                    <a:pt x="441342" y="2709481"/>
                  </a:lnTo>
                  <a:lnTo>
                    <a:pt x="465972" y="2775142"/>
                  </a:lnTo>
                  <a:lnTo>
                    <a:pt x="491438" y="2828061"/>
                  </a:lnTo>
                  <a:lnTo>
                    <a:pt x="517531" y="2867175"/>
                  </a:lnTo>
                  <a:lnTo>
                    <a:pt x="557389" y="2897638"/>
                  </a:lnTo>
                  <a:lnTo>
                    <a:pt x="570763" y="2899740"/>
                  </a:lnTo>
                </a:path>
              </a:pathLst>
            </a:custGeom>
            <a:ln w="1905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2819780" y="3249980"/>
              <a:ext cx="606425" cy="2849880"/>
            </a:xfrm>
            <a:custGeom>
              <a:avLst/>
              <a:gdLst/>
              <a:ahLst/>
              <a:cxnLst/>
              <a:rect l="l" t="t" r="r" b="b"/>
              <a:pathLst>
                <a:path w="606425" h="2849879">
                  <a:moveTo>
                    <a:pt x="0" y="2841955"/>
                  </a:moveTo>
                  <a:lnTo>
                    <a:pt x="70682" y="2842102"/>
                  </a:lnTo>
                  <a:lnTo>
                    <a:pt x="137403" y="2842508"/>
                  </a:lnTo>
                  <a:lnTo>
                    <a:pt x="196197" y="2843123"/>
                  </a:lnTo>
                  <a:lnTo>
                    <a:pt x="243101" y="2843895"/>
                  </a:lnTo>
                  <a:lnTo>
                    <a:pt x="285381" y="2845701"/>
                  </a:lnTo>
                  <a:lnTo>
                    <a:pt x="296611" y="2846627"/>
                  </a:lnTo>
                  <a:lnTo>
                    <a:pt x="327659" y="2847502"/>
                  </a:lnTo>
                  <a:lnTo>
                    <a:pt x="374561" y="2848275"/>
                  </a:lnTo>
                  <a:lnTo>
                    <a:pt x="433354" y="2848891"/>
                  </a:lnTo>
                  <a:lnTo>
                    <a:pt x="500076" y="2849300"/>
                  </a:lnTo>
                  <a:lnTo>
                    <a:pt x="570763" y="2849448"/>
                  </a:lnTo>
                </a:path>
                <a:path w="606425" h="2849879">
                  <a:moveTo>
                    <a:pt x="0" y="2841955"/>
                  </a:moveTo>
                  <a:lnTo>
                    <a:pt x="43868" y="2822637"/>
                  </a:lnTo>
                  <a:lnTo>
                    <a:pt x="72706" y="2789487"/>
                  </a:lnTo>
                  <a:lnTo>
                    <a:pt x="100934" y="2741455"/>
                  </a:lnTo>
                  <a:lnTo>
                    <a:pt x="128307" y="2679685"/>
                  </a:lnTo>
                  <a:lnTo>
                    <a:pt x="154581" y="2605324"/>
                  </a:lnTo>
                  <a:lnTo>
                    <a:pt x="167230" y="2563779"/>
                  </a:lnTo>
                  <a:lnTo>
                    <a:pt x="179512" y="2519515"/>
                  </a:lnTo>
                  <a:lnTo>
                    <a:pt x="191397" y="2472675"/>
                  </a:lnTo>
                  <a:lnTo>
                    <a:pt x="202855" y="2423403"/>
                  </a:lnTo>
                  <a:lnTo>
                    <a:pt x="213855" y="2371841"/>
                  </a:lnTo>
                  <a:lnTo>
                    <a:pt x="224367" y="2318133"/>
                  </a:lnTo>
                  <a:lnTo>
                    <a:pt x="234360" y="2262421"/>
                  </a:lnTo>
                  <a:lnTo>
                    <a:pt x="243803" y="2204850"/>
                  </a:lnTo>
                  <a:lnTo>
                    <a:pt x="252666" y="2145561"/>
                  </a:lnTo>
                  <a:lnTo>
                    <a:pt x="260919" y="2084698"/>
                  </a:lnTo>
                  <a:lnTo>
                    <a:pt x="268530" y="2022404"/>
                  </a:lnTo>
                  <a:lnTo>
                    <a:pt x="275470" y="1958822"/>
                  </a:lnTo>
                  <a:lnTo>
                    <a:pt x="281708" y="1894096"/>
                  </a:lnTo>
                  <a:lnTo>
                    <a:pt x="287213" y="1828368"/>
                  </a:lnTo>
                  <a:lnTo>
                    <a:pt x="291955" y="1761781"/>
                  </a:lnTo>
                  <a:lnTo>
                    <a:pt x="295903" y="1694479"/>
                  </a:lnTo>
                  <a:lnTo>
                    <a:pt x="299027" y="1626604"/>
                  </a:lnTo>
                  <a:lnTo>
                    <a:pt x="301296" y="1558300"/>
                  </a:lnTo>
                  <a:lnTo>
                    <a:pt x="302680" y="1489710"/>
                  </a:lnTo>
                  <a:lnTo>
                    <a:pt x="303148" y="1420977"/>
                  </a:lnTo>
                  <a:lnTo>
                    <a:pt x="303617" y="1352244"/>
                  </a:lnTo>
                  <a:lnTo>
                    <a:pt x="305001" y="1283654"/>
                  </a:lnTo>
                  <a:lnTo>
                    <a:pt x="307270" y="1215350"/>
                  </a:lnTo>
                  <a:lnTo>
                    <a:pt x="310394" y="1147476"/>
                  </a:lnTo>
                  <a:lnTo>
                    <a:pt x="314342" y="1080173"/>
                  </a:lnTo>
                  <a:lnTo>
                    <a:pt x="319084" y="1013587"/>
                  </a:lnTo>
                  <a:lnTo>
                    <a:pt x="324589" y="947858"/>
                  </a:lnTo>
                  <a:lnTo>
                    <a:pt x="330827" y="883132"/>
                  </a:lnTo>
                  <a:lnTo>
                    <a:pt x="337766" y="819550"/>
                  </a:lnTo>
                  <a:lnTo>
                    <a:pt x="345378" y="757256"/>
                  </a:lnTo>
                  <a:lnTo>
                    <a:pt x="353630" y="696393"/>
                  </a:lnTo>
                  <a:lnTo>
                    <a:pt x="362493" y="637105"/>
                  </a:lnTo>
                  <a:lnTo>
                    <a:pt x="371936" y="579533"/>
                  </a:lnTo>
                  <a:lnTo>
                    <a:pt x="381929" y="523821"/>
                  </a:lnTo>
                  <a:lnTo>
                    <a:pt x="392440" y="470113"/>
                  </a:lnTo>
                  <a:lnTo>
                    <a:pt x="403440" y="418551"/>
                  </a:lnTo>
                  <a:lnTo>
                    <a:pt x="414898" y="369279"/>
                  </a:lnTo>
                  <a:lnTo>
                    <a:pt x="426783" y="322439"/>
                  </a:lnTo>
                  <a:lnTo>
                    <a:pt x="439065" y="278176"/>
                  </a:lnTo>
                  <a:lnTo>
                    <a:pt x="451713" y="236630"/>
                  </a:lnTo>
                  <a:lnTo>
                    <a:pt x="464696" y="197947"/>
                  </a:lnTo>
                  <a:lnTo>
                    <a:pt x="491549" y="129739"/>
                  </a:lnTo>
                  <a:lnTo>
                    <a:pt x="519379" y="74695"/>
                  </a:lnTo>
                  <a:lnTo>
                    <a:pt x="547941" y="33961"/>
                  </a:lnTo>
                  <a:lnTo>
                    <a:pt x="576991" y="8681"/>
                  </a:lnTo>
                  <a:lnTo>
                    <a:pt x="591623" y="2194"/>
                  </a:lnTo>
                  <a:lnTo>
                    <a:pt x="606285" y="0"/>
                  </a:lnTo>
                </a:path>
              </a:pathLst>
            </a:custGeom>
            <a:ln w="1905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4806314" y="8991701"/>
              <a:ext cx="407670" cy="971550"/>
            </a:xfrm>
            <a:custGeom>
              <a:avLst/>
              <a:gdLst/>
              <a:ahLst/>
              <a:cxnLst/>
              <a:rect l="l" t="t" r="r" b="b"/>
              <a:pathLst>
                <a:path w="407670" h="971550">
                  <a:moveTo>
                    <a:pt x="0" y="0"/>
                  </a:moveTo>
                  <a:lnTo>
                    <a:pt x="50449" y="19107"/>
                  </a:lnTo>
                  <a:lnTo>
                    <a:pt x="98069" y="71932"/>
                  </a:lnTo>
                  <a:lnTo>
                    <a:pt x="119934" y="108881"/>
                  </a:lnTo>
                  <a:lnTo>
                    <a:pt x="140031" y="151731"/>
                  </a:lnTo>
                  <a:lnTo>
                    <a:pt x="158007" y="199639"/>
                  </a:lnTo>
                  <a:lnTo>
                    <a:pt x="173507" y="251761"/>
                  </a:lnTo>
                  <a:lnTo>
                    <a:pt x="186178" y="307254"/>
                  </a:lnTo>
                  <a:lnTo>
                    <a:pt x="195667" y="365276"/>
                  </a:lnTo>
                  <a:lnTo>
                    <a:pt x="201619" y="424983"/>
                  </a:lnTo>
                  <a:lnTo>
                    <a:pt x="203682" y="485533"/>
                  </a:lnTo>
                  <a:lnTo>
                    <a:pt x="205745" y="546086"/>
                  </a:lnTo>
                  <a:lnTo>
                    <a:pt x="211696" y="605796"/>
                  </a:lnTo>
                  <a:lnTo>
                    <a:pt x="221184" y="663820"/>
                  </a:lnTo>
                  <a:lnTo>
                    <a:pt x="233854" y="719315"/>
                  </a:lnTo>
                  <a:lnTo>
                    <a:pt x="249353" y="771438"/>
                  </a:lnTo>
                  <a:lnTo>
                    <a:pt x="267327" y="819346"/>
                  </a:lnTo>
                  <a:lnTo>
                    <a:pt x="287422" y="862197"/>
                  </a:lnTo>
                  <a:lnTo>
                    <a:pt x="309286" y="899147"/>
                  </a:lnTo>
                  <a:lnTo>
                    <a:pt x="332564" y="929353"/>
                  </a:lnTo>
                  <a:lnTo>
                    <a:pt x="381951" y="966162"/>
                  </a:lnTo>
                  <a:lnTo>
                    <a:pt x="407352" y="971080"/>
                  </a:lnTo>
                </a:path>
              </a:pathLst>
            </a:custGeom>
            <a:ln w="1905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4806314" y="8029168"/>
              <a:ext cx="407670" cy="967105"/>
            </a:xfrm>
            <a:custGeom>
              <a:avLst/>
              <a:gdLst/>
              <a:ahLst/>
              <a:cxnLst/>
              <a:rect l="l" t="t" r="r" b="b"/>
              <a:pathLst>
                <a:path w="407670" h="967104">
                  <a:moveTo>
                    <a:pt x="0" y="962164"/>
                  </a:moveTo>
                  <a:lnTo>
                    <a:pt x="74787" y="962356"/>
                  </a:lnTo>
                  <a:lnTo>
                    <a:pt x="140025" y="962861"/>
                  </a:lnTo>
                  <a:lnTo>
                    <a:pt x="186167" y="963573"/>
                  </a:lnTo>
                  <a:lnTo>
                    <a:pt x="221173" y="965207"/>
                  </a:lnTo>
                  <a:lnTo>
                    <a:pt x="267320" y="965923"/>
                  </a:lnTo>
                  <a:lnTo>
                    <a:pt x="332562" y="966430"/>
                  </a:lnTo>
                  <a:lnTo>
                    <a:pt x="407352" y="966622"/>
                  </a:lnTo>
                </a:path>
                <a:path w="407670" h="967104">
                  <a:moveTo>
                    <a:pt x="0" y="962164"/>
                  </a:moveTo>
                  <a:lnTo>
                    <a:pt x="50448" y="943233"/>
                  </a:lnTo>
                  <a:lnTo>
                    <a:pt x="98066" y="890893"/>
                  </a:lnTo>
                  <a:lnTo>
                    <a:pt x="119929" y="854283"/>
                  </a:lnTo>
                  <a:lnTo>
                    <a:pt x="140025" y="811826"/>
                  </a:lnTo>
                  <a:lnTo>
                    <a:pt x="157999" y="764358"/>
                  </a:lnTo>
                  <a:lnTo>
                    <a:pt x="173497" y="712714"/>
                  </a:lnTo>
                  <a:lnTo>
                    <a:pt x="186167" y="657728"/>
                  </a:lnTo>
                  <a:lnTo>
                    <a:pt x="195655" y="600236"/>
                  </a:lnTo>
                  <a:lnTo>
                    <a:pt x="201607" y="541074"/>
                  </a:lnTo>
                  <a:lnTo>
                    <a:pt x="203669" y="481075"/>
                  </a:lnTo>
                  <a:lnTo>
                    <a:pt x="205732" y="421080"/>
                  </a:lnTo>
                  <a:lnTo>
                    <a:pt x="211685" y="361920"/>
                  </a:lnTo>
                  <a:lnTo>
                    <a:pt x="221173" y="304430"/>
                  </a:lnTo>
                  <a:lnTo>
                    <a:pt x="233845" y="249446"/>
                  </a:lnTo>
                  <a:lnTo>
                    <a:pt x="249345" y="197803"/>
                  </a:lnTo>
                  <a:lnTo>
                    <a:pt x="267320" y="150336"/>
                  </a:lnTo>
                  <a:lnTo>
                    <a:pt x="287417" y="107880"/>
                  </a:lnTo>
                  <a:lnTo>
                    <a:pt x="309283" y="71270"/>
                  </a:lnTo>
                  <a:lnTo>
                    <a:pt x="356903" y="18931"/>
                  </a:lnTo>
                  <a:lnTo>
                    <a:pt x="381951" y="4872"/>
                  </a:lnTo>
                  <a:lnTo>
                    <a:pt x="407352" y="0"/>
                  </a:lnTo>
                </a:path>
              </a:pathLst>
            </a:custGeom>
            <a:ln w="1905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4806314" y="6075514"/>
              <a:ext cx="407670" cy="971550"/>
            </a:xfrm>
            <a:custGeom>
              <a:avLst/>
              <a:gdLst/>
              <a:ahLst/>
              <a:cxnLst/>
              <a:rect l="l" t="t" r="r" b="b"/>
              <a:pathLst>
                <a:path w="407670" h="971550">
                  <a:moveTo>
                    <a:pt x="0" y="0"/>
                  </a:moveTo>
                  <a:lnTo>
                    <a:pt x="50449" y="19107"/>
                  </a:lnTo>
                  <a:lnTo>
                    <a:pt x="98069" y="71932"/>
                  </a:lnTo>
                  <a:lnTo>
                    <a:pt x="119934" y="108881"/>
                  </a:lnTo>
                  <a:lnTo>
                    <a:pt x="140031" y="151731"/>
                  </a:lnTo>
                  <a:lnTo>
                    <a:pt x="158007" y="199639"/>
                  </a:lnTo>
                  <a:lnTo>
                    <a:pt x="173507" y="251761"/>
                  </a:lnTo>
                  <a:lnTo>
                    <a:pt x="186178" y="307254"/>
                  </a:lnTo>
                  <a:lnTo>
                    <a:pt x="195667" y="365276"/>
                  </a:lnTo>
                  <a:lnTo>
                    <a:pt x="201619" y="424983"/>
                  </a:lnTo>
                  <a:lnTo>
                    <a:pt x="203682" y="485533"/>
                  </a:lnTo>
                  <a:lnTo>
                    <a:pt x="205745" y="546086"/>
                  </a:lnTo>
                  <a:lnTo>
                    <a:pt x="211696" y="605796"/>
                  </a:lnTo>
                  <a:lnTo>
                    <a:pt x="221184" y="663820"/>
                  </a:lnTo>
                  <a:lnTo>
                    <a:pt x="233854" y="719315"/>
                  </a:lnTo>
                  <a:lnTo>
                    <a:pt x="249353" y="771438"/>
                  </a:lnTo>
                  <a:lnTo>
                    <a:pt x="267327" y="819346"/>
                  </a:lnTo>
                  <a:lnTo>
                    <a:pt x="287422" y="862197"/>
                  </a:lnTo>
                  <a:lnTo>
                    <a:pt x="309286" y="899147"/>
                  </a:lnTo>
                  <a:lnTo>
                    <a:pt x="332564" y="929353"/>
                  </a:lnTo>
                  <a:lnTo>
                    <a:pt x="381951" y="966162"/>
                  </a:lnTo>
                  <a:lnTo>
                    <a:pt x="407352" y="971080"/>
                  </a:lnTo>
                </a:path>
              </a:pathLst>
            </a:custGeom>
            <a:ln w="1905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4806314" y="6075159"/>
              <a:ext cx="407670" cy="5080"/>
            </a:xfrm>
            <a:custGeom>
              <a:avLst/>
              <a:gdLst/>
              <a:ahLst/>
              <a:cxnLst/>
              <a:rect l="l" t="t" r="r" b="b"/>
              <a:pathLst>
                <a:path w="407670" h="5079">
                  <a:moveTo>
                    <a:pt x="0" y="0"/>
                  </a:moveTo>
                  <a:lnTo>
                    <a:pt x="74787" y="191"/>
                  </a:lnTo>
                  <a:lnTo>
                    <a:pt x="140025" y="696"/>
                  </a:lnTo>
                  <a:lnTo>
                    <a:pt x="186167" y="1409"/>
                  </a:lnTo>
                  <a:lnTo>
                    <a:pt x="221173" y="3043"/>
                  </a:lnTo>
                  <a:lnTo>
                    <a:pt x="267320" y="3759"/>
                  </a:lnTo>
                  <a:lnTo>
                    <a:pt x="332562" y="4265"/>
                  </a:lnTo>
                  <a:lnTo>
                    <a:pt x="407352" y="4457"/>
                  </a:lnTo>
                </a:path>
              </a:pathLst>
            </a:custGeom>
            <a:ln w="19049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4806314" y="5113641"/>
              <a:ext cx="407670" cy="962660"/>
            </a:xfrm>
            <a:custGeom>
              <a:avLst/>
              <a:gdLst/>
              <a:ahLst/>
              <a:cxnLst/>
              <a:rect l="l" t="t" r="r" b="b"/>
              <a:pathLst>
                <a:path w="407670" h="962660">
                  <a:moveTo>
                    <a:pt x="0" y="962164"/>
                  </a:moveTo>
                  <a:lnTo>
                    <a:pt x="50448" y="943233"/>
                  </a:lnTo>
                  <a:lnTo>
                    <a:pt x="98066" y="890893"/>
                  </a:lnTo>
                  <a:lnTo>
                    <a:pt x="119929" y="854283"/>
                  </a:lnTo>
                  <a:lnTo>
                    <a:pt x="140025" y="811826"/>
                  </a:lnTo>
                  <a:lnTo>
                    <a:pt x="157999" y="764358"/>
                  </a:lnTo>
                  <a:lnTo>
                    <a:pt x="173497" y="712714"/>
                  </a:lnTo>
                  <a:lnTo>
                    <a:pt x="186167" y="657728"/>
                  </a:lnTo>
                  <a:lnTo>
                    <a:pt x="195655" y="600236"/>
                  </a:lnTo>
                  <a:lnTo>
                    <a:pt x="201607" y="541074"/>
                  </a:lnTo>
                  <a:lnTo>
                    <a:pt x="203669" y="481075"/>
                  </a:lnTo>
                  <a:lnTo>
                    <a:pt x="205732" y="421080"/>
                  </a:lnTo>
                  <a:lnTo>
                    <a:pt x="211685" y="361920"/>
                  </a:lnTo>
                  <a:lnTo>
                    <a:pt x="221173" y="304430"/>
                  </a:lnTo>
                  <a:lnTo>
                    <a:pt x="233845" y="249446"/>
                  </a:lnTo>
                  <a:lnTo>
                    <a:pt x="249345" y="197803"/>
                  </a:lnTo>
                  <a:lnTo>
                    <a:pt x="267320" y="150336"/>
                  </a:lnTo>
                  <a:lnTo>
                    <a:pt x="287417" y="107880"/>
                  </a:lnTo>
                  <a:lnTo>
                    <a:pt x="309283" y="71270"/>
                  </a:lnTo>
                  <a:lnTo>
                    <a:pt x="356903" y="18931"/>
                  </a:lnTo>
                  <a:lnTo>
                    <a:pt x="381951" y="4872"/>
                  </a:lnTo>
                  <a:lnTo>
                    <a:pt x="407352" y="0"/>
                  </a:lnTo>
                </a:path>
              </a:pathLst>
            </a:custGeom>
            <a:ln w="1905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4806314" y="3200501"/>
              <a:ext cx="407670" cy="971550"/>
            </a:xfrm>
            <a:custGeom>
              <a:avLst/>
              <a:gdLst/>
              <a:ahLst/>
              <a:cxnLst/>
              <a:rect l="l" t="t" r="r" b="b"/>
              <a:pathLst>
                <a:path w="407670" h="971550">
                  <a:moveTo>
                    <a:pt x="0" y="0"/>
                  </a:moveTo>
                  <a:lnTo>
                    <a:pt x="50449" y="19107"/>
                  </a:lnTo>
                  <a:lnTo>
                    <a:pt x="98069" y="71932"/>
                  </a:lnTo>
                  <a:lnTo>
                    <a:pt x="119934" y="108881"/>
                  </a:lnTo>
                  <a:lnTo>
                    <a:pt x="140031" y="151731"/>
                  </a:lnTo>
                  <a:lnTo>
                    <a:pt x="158007" y="199639"/>
                  </a:lnTo>
                  <a:lnTo>
                    <a:pt x="173507" y="251761"/>
                  </a:lnTo>
                  <a:lnTo>
                    <a:pt x="186178" y="307254"/>
                  </a:lnTo>
                  <a:lnTo>
                    <a:pt x="195667" y="365276"/>
                  </a:lnTo>
                  <a:lnTo>
                    <a:pt x="201619" y="424983"/>
                  </a:lnTo>
                  <a:lnTo>
                    <a:pt x="203682" y="485533"/>
                  </a:lnTo>
                  <a:lnTo>
                    <a:pt x="205745" y="546086"/>
                  </a:lnTo>
                  <a:lnTo>
                    <a:pt x="211696" y="605796"/>
                  </a:lnTo>
                  <a:lnTo>
                    <a:pt x="221184" y="663820"/>
                  </a:lnTo>
                  <a:lnTo>
                    <a:pt x="233854" y="719315"/>
                  </a:lnTo>
                  <a:lnTo>
                    <a:pt x="249353" y="771438"/>
                  </a:lnTo>
                  <a:lnTo>
                    <a:pt x="267327" y="819346"/>
                  </a:lnTo>
                  <a:lnTo>
                    <a:pt x="287422" y="862197"/>
                  </a:lnTo>
                  <a:lnTo>
                    <a:pt x="309286" y="899147"/>
                  </a:lnTo>
                  <a:lnTo>
                    <a:pt x="332564" y="929353"/>
                  </a:lnTo>
                  <a:lnTo>
                    <a:pt x="381951" y="966162"/>
                  </a:lnTo>
                  <a:lnTo>
                    <a:pt x="407352" y="971080"/>
                  </a:lnTo>
                </a:path>
              </a:pathLst>
            </a:custGeom>
            <a:ln w="1905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4806314" y="3200132"/>
              <a:ext cx="407670" cy="5080"/>
            </a:xfrm>
            <a:custGeom>
              <a:avLst/>
              <a:gdLst/>
              <a:ahLst/>
              <a:cxnLst/>
              <a:rect l="l" t="t" r="r" b="b"/>
              <a:pathLst>
                <a:path w="407670" h="5080">
                  <a:moveTo>
                    <a:pt x="0" y="0"/>
                  </a:moveTo>
                  <a:lnTo>
                    <a:pt x="74787" y="191"/>
                  </a:lnTo>
                  <a:lnTo>
                    <a:pt x="140025" y="696"/>
                  </a:lnTo>
                  <a:lnTo>
                    <a:pt x="186167" y="1409"/>
                  </a:lnTo>
                  <a:lnTo>
                    <a:pt x="221173" y="3043"/>
                  </a:lnTo>
                  <a:lnTo>
                    <a:pt x="267320" y="3759"/>
                  </a:lnTo>
                  <a:lnTo>
                    <a:pt x="332562" y="4265"/>
                  </a:lnTo>
                  <a:lnTo>
                    <a:pt x="407352" y="4457"/>
                  </a:lnTo>
                </a:path>
              </a:pathLst>
            </a:custGeom>
            <a:ln w="19049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5410961" y="2151125"/>
              <a:ext cx="57150" cy="243839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4806314" y="2238615"/>
              <a:ext cx="407670" cy="962660"/>
            </a:xfrm>
            <a:custGeom>
              <a:avLst/>
              <a:gdLst/>
              <a:ahLst/>
              <a:cxnLst/>
              <a:rect l="l" t="t" r="r" b="b"/>
              <a:pathLst>
                <a:path w="407670" h="962660">
                  <a:moveTo>
                    <a:pt x="0" y="962164"/>
                  </a:moveTo>
                  <a:lnTo>
                    <a:pt x="50448" y="943233"/>
                  </a:lnTo>
                  <a:lnTo>
                    <a:pt x="98066" y="890893"/>
                  </a:lnTo>
                  <a:lnTo>
                    <a:pt x="119929" y="854283"/>
                  </a:lnTo>
                  <a:lnTo>
                    <a:pt x="140025" y="811826"/>
                  </a:lnTo>
                  <a:lnTo>
                    <a:pt x="157999" y="764358"/>
                  </a:lnTo>
                  <a:lnTo>
                    <a:pt x="173497" y="712714"/>
                  </a:lnTo>
                  <a:lnTo>
                    <a:pt x="186167" y="657728"/>
                  </a:lnTo>
                  <a:lnTo>
                    <a:pt x="195655" y="600236"/>
                  </a:lnTo>
                  <a:lnTo>
                    <a:pt x="201607" y="541074"/>
                  </a:lnTo>
                  <a:lnTo>
                    <a:pt x="203669" y="481075"/>
                  </a:lnTo>
                  <a:lnTo>
                    <a:pt x="205732" y="421080"/>
                  </a:lnTo>
                  <a:lnTo>
                    <a:pt x="211685" y="361920"/>
                  </a:lnTo>
                  <a:lnTo>
                    <a:pt x="221173" y="304430"/>
                  </a:lnTo>
                  <a:lnTo>
                    <a:pt x="233845" y="249446"/>
                  </a:lnTo>
                  <a:lnTo>
                    <a:pt x="249345" y="197803"/>
                  </a:lnTo>
                  <a:lnTo>
                    <a:pt x="267320" y="150336"/>
                  </a:lnTo>
                  <a:lnTo>
                    <a:pt x="287417" y="107880"/>
                  </a:lnTo>
                  <a:lnTo>
                    <a:pt x="309283" y="71270"/>
                  </a:lnTo>
                  <a:lnTo>
                    <a:pt x="356903" y="18931"/>
                  </a:lnTo>
                  <a:lnTo>
                    <a:pt x="381951" y="4872"/>
                  </a:lnTo>
                  <a:lnTo>
                    <a:pt x="407352" y="0"/>
                  </a:lnTo>
                </a:path>
              </a:pathLst>
            </a:custGeom>
            <a:ln w="1905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3808475" y="6874763"/>
              <a:ext cx="691133" cy="1316736"/>
            </a:xfrm>
            <a:prstGeom prst="rect">
              <a:avLst/>
            </a:prstGeom>
            <a:blipFill>
              <a:blip r:embed="rId8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6" name="object 326"/>
          <p:cNvSpPr txBox="1"/>
          <p:nvPr/>
        </p:nvSpPr>
        <p:spPr>
          <a:xfrm>
            <a:off x="4044189" y="7203307"/>
            <a:ext cx="181610" cy="6604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spc="-5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100" spc="-1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dirty="0" sz="11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100" spc="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100" spc="-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7" name="object 327"/>
          <p:cNvSpPr/>
          <p:nvPr/>
        </p:nvSpPr>
        <p:spPr>
          <a:xfrm>
            <a:off x="3792473" y="3994403"/>
            <a:ext cx="691895" cy="1316736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 txBox="1"/>
          <p:nvPr/>
        </p:nvSpPr>
        <p:spPr>
          <a:xfrm>
            <a:off x="4028542" y="4322985"/>
            <a:ext cx="181610" cy="6604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spc="-5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100" spc="-1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dirty="0" sz="1100" spc="-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100" spc="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100" spc="-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9" name="object 329"/>
          <p:cNvSpPr/>
          <p:nvPr/>
        </p:nvSpPr>
        <p:spPr>
          <a:xfrm>
            <a:off x="5445252" y="9148571"/>
            <a:ext cx="395477" cy="668273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 txBox="1"/>
          <p:nvPr/>
        </p:nvSpPr>
        <p:spPr>
          <a:xfrm>
            <a:off x="5521311" y="9427301"/>
            <a:ext cx="181610" cy="1111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1" name="object 331"/>
          <p:cNvSpPr/>
          <p:nvPr/>
        </p:nvSpPr>
        <p:spPr>
          <a:xfrm>
            <a:off x="5445252" y="8173973"/>
            <a:ext cx="395477" cy="667512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 txBox="1"/>
          <p:nvPr/>
        </p:nvSpPr>
        <p:spPr>
          <a:xfrm>
            <a:off x="5521311" y="8452424"/>
            <a:ext cx="181610" cy="1111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3" name="object 333"/>
          <p:cNvSpPr/>
          <p:nvPr/>
        </p:nvSpPr>
        <p:spPr>
          <a:xfrm>
            <a:off x="5445252" y="7200138"/>
            <a:ext cx="395477" cy="667512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 txBox="1"/>
          <p:nvPr/>
        </p:nvSpPr>
        <p:spPr>
          <a:xfrm>
            <a:off x="5521311" y="7478461"/>
            <a:ext cx="181610" cy="1111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5" name="object 335"/>
          <p:cNvSpPr/>
          <p:nvPr/>
        </p:nvSpPr>
        <p:spPr>
          <a:xfrm>
            <a:off x="5445252" y="6261353"/>
            <a:ext cx="395477" cy="668273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 txBox="1"/>
          <p:nvPr/>
        </p:nvSpPr>
        <p:spPr>
          <a:xfrm>
            <a:off x="5521311" y="6540096"/>
            <a:ext cx="181610" cy="1111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7" name="object 337"/>
          <p:cNvSpPr/>
          <p:nvPr/>
        </p:nvSpPr>
        <p:spPr>
          <a:xfrm>
            <a:off x="5445252" y="5287517"/>
            <a:ext cx="395477" cy="667512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 txBox="1"/>
          <p:nvPr/>
        </p:nvSpPr>
        <p:spPr>
          <a:xfrm>
            <a:off x="5521311" y="5565612"/>
            <a:ext cx="181610" cy="1111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9" name="object 339"/>
          <p:cNvSpPr/>
          <p:nvPr/>
        </p:nvSpPr>
        <p:spPr>
          <a:xfrm>
            <a:off x="5445252" y="4312157"/>
            <a:ext cx="395477" cy="667512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 txBox="1"/>
          <p:nvPr/>
        </p:nvSpPr>
        <p:spPr>
          <a:xfrm>
            <a:off x="5521311" y="4590734"/>
            <a:ext cx="181610" cy="1111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1" name="object 341"/>
          <p:cNvSpPr/>
          <p:nvPr/>
        </p:nvSpPr>
        <p:spPr>
          <a:xfrm>
            <a:off x="5445252" y="3378707"/>
            <a:ext cx="395477" cy="667512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 txBox="1"/>
          <p:nvPr/>
        </p:nvSpPr>
        <p:spPr>
          <a:xfrm>
            <a:off x="5521311" y="3657158"/>
            <a:ext cx="181610" cy="1111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3" name="object 343"/>
          <p:cNvSpPr/>
          <p:nvPr/>
        </p:nvSpPr>
        <p:spPr>
          <a:xfrm>
            <a:off x="5445252" y="2399537"/>
            <a:ext cx="395477" cy="667511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 txBox="1"/>
          <p:nvPr/>
        </p:nvSpPr>
        <p:spPr>
          <a:xfrm>
            <a:off x="5521311" y="2677860"/>
            <a:ext cx="181610" cy="1111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5" name="object 345"/>
          <p:cNvSpPr txBox="1"/>
          <p:nvPr/>
        </p:nvSpPr>
        <p:spPr>
          <a:xfrm>
            <a:off x="1174628" y="9171831"/>
            <a:ext cx="1463675" cy="22421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2755"/>
              </a:lnSpc>
            </a:pPr>
            <a:r>
              <a:rPr dirty="0" sz="2400" spc="-5" b="1">
                <a:solidFill>
                  <a:srgbClr val="0071CE"/>
                </a:solidFill>
                <a:latin typeface="Arial"/>
                <a:cs typeface="Arial"/>
              </a:rPr>
              <a:t>Mathematics</a:t>
            </a:r>
            <a:endParaRPr sz="2400">
              <a:latin typeface="Arial"/>
              <a:cs typeface="Arial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2400" spc="-10" b="1">
                <a:solidFill>
                  <a:srgbClr val="0071CE"/>
                </a:solidFill>
                <a:latin typeface="Arial"/>
                <a:cs typeface="Arial"/>
              </a:rPr>
              <a:t>vs         </a:t>
            </a:r>
            <a:r>
              <a:rPr dirty="0" sz="2400" spc="-135" b="1">
                <a:solidFill>
                  <a:srgbClr val="0071CE"/>
                </a:solidFill>
                <a:latin typeface="Arial"/>
                <a:cs typeface="Arial"/>
              </a:rPr>
              <a:t>T</a:t>
            </a:r>
            <a:r>
              <a:rPr dirty="0" sz="2400" b="1">
                <a:solidFill>
                  <a:srgbClr val="0071CE"/>
                </a:solidFill>
                <a:latin typeface="Arial"/>
                <a:cs typeface="Arial"/>
              </a:rPr>
              <a:t>r</a:t>
            </a:r>
            <a:r>
              <a:rPr dirty="0" sz="2400" spc="-5" b="1">
                <a:solidFill>
                  <a:srgbClr val="0071CE"/>
                </a:solidFill>
                <a:latin typeface="Arial"/>
                <a:cs typeface="Arial"/>
              </a:rPr>
              <a:t>ansfo</a:t>
            </a:r>
            <a:r>
              <a:rPr dirty="0" sz="2400" b="1">
                <a:solidFill>
                  <a:srgbClr val="0071CE"/>
                </a:solidFill>
                <a:latin typeface="Arial"/>
                <a:cs typeface="Arial"/>
              </a:rPr>
              <a:t>r</a:t>
            </a:r>
            <a:r>
              <a:rPr dirty="0" sz="2400" b="1">
                <a:solidFill>
                  <a:srgbClr val="0071CE"/>
                </a:solidFill>
                <a:latin typeface="Arial"/>
                <a:cs typeface="Arial"/>
              </a:rPr>
              <a:t>m</a:t>
            </a:r>
            <a:r>
              <a:rPr dirty="0" sz="2400" spc="-5" b="1">
                <a:solidFill>
                  <a:srgbClr val="0071CE"/>
                </a:solidFill>
                <a:latin typeface="Arial"/>
                <a:cs typeface="Arial"/>
              </a:rPr>
              <a:t>ation  </a:t>
            </a:r>
            <a:r>
              <a:rPr dirty="0" sz="2400" spc="-5" b="1">
                <a:solidFill>
                  <a:srgbClr val="0071CE"/>
                </a:solidFill>
                <a:latin typeface="Arial"/>
                <a:cs typeface="Arial"/>
              </a:rPr>
              <a:t>Synergy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6" name="object 346"/>
          <p:cNvSpPr/>
          <p:nvPr/>
        </p:nvSpPr>
        <p:spPr>
          <a:xfrm>
            <a:off x="706056" y="2081936"/>
            <a:ext cx="5459730" cy="8667115"/>
          </a:xfrm>
          <a:custGeom>
            <a:avLst/>
            <a:gdLst/>
            <a:ahLst/>
            <a:cxnLst/>
            <a:rect l="l" t="t" r="r" b="b"/>
            <a:pathLst>
              <a:path w="5459730" h="8667115">
                <a:moveTo>
                  <a:pt x="0" y="385470"/>
                </a:moveTo>
                <a:lnTo>
                  <a:pt x="4793691" y="8666746"/>
                </a:lnTo>
                <a:lnTo>
                  <a:pt x="5459615" y="8281276"/>
                </a:lnTo>
                <a:lnTo>
                  <a:pt x="665924" y="0"/>
                </a:lnTo>
                <a:lnTo>
                  <a:pt x="0" y="3854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1139550" y="2465666"/>
            <a:ext cx="4805387" cy="8069224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47037" y="42354"/>
            <a:ext cx="200977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" b="1">
                <a:latin typeface="Arial"/>
                <a:cs typeface="Arial"/>
              </a:rPr>
              <a:t>I</a:t>
            </a:r>
            <a:r>
              <a:rPr dirty="0" sz="3200" spc="-5" b="1">
                <a:latin typeface="Arial"/>
                <a:cs typeface="Arial"/>
              </a:rPr>
              <a:t>n</a:t>
            </a:r>
            <a:r>
              <a:rPr dirty="0" sz="3200" spc="-10" b="1">
                <a:latin typeface="Arial"/>
                <a:cs typeface="Arial"/>
              </a:rPr>
              <a:t>ce</a:t>
            </a:r>
            <a:r>
              <a:rPr dirty="0" sz="3200" spc="-5" b="1">
                <a:latin typeface="Arial"/>
                <a:cs typeface="Arial"/>
              </a:rPr>
              <a:t>n</a:t>
            </a:r>
            <a:r>
              <a:rPr dirty="0" sz="3200" spc="-10" b="1">
                <a:latin typeface="Arial"/>
                <a:cs typeface="Arial"/>
              </a:rPr>
              <a:t>ti</a:t>
            </a:r>
            <a:r>
              <a:rPr dirty="0" sz="3200" spc="-10" b="1">
                <a:latin typeface="Arial"/>
                <a:cs typeface="Arial"/>
              </a:rPr>
              <a:t>ves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59507" y="762000"/>
            <a:ext cx="7407402" cy="4989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322984" y="5885945"/>
            <a:ext cx="4445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414042"/>
                </a:solidFill>
                <a:latin typeface="Arial"/>
                <a:cs typeface="Arial"/>
              </a:rPr>
              <a:t>Source:</a:t>
            </a:r>
            <a:r>
              <a:rPr dirty="0" sz="1200" spc="-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414042"/>
                </a:solidFill>
                <a:latin typeface="Arial"/>
                <a:cs typeface="Arial"/>
              </a:rPr>
              <a:t>https://compensationmanagementkirimega.blogspot.com/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18957" y="579247"/>
            <a:ext cx="8408035" cy="5699760"/>
            <a:chOff x="1818957" y="579247"/>
            <a:chExt cx="8408035" cy="5699760"/>
          </a:xfrm>
        </p:grpSpPr>
        <p:sp>
          <p:nvSpPr>
            <p:cNvPr id="6" name="object 6"/>
            <p:cNvSpPr/>
            <p:nvPr/>
          </p:nvSpPr>
          <p:spPr>
            <a:xfrm>
              <a:off x="1818957" y="579247"/>
              <a:ext cx="8408035" cy="5699760"/>
            </a:xfrm>
            <a:custGeom>
              <a:avLst/>
              <a:gdLst/>
              <a:ahLst/>
              <a:cxnLst/>
              <a:rect l="l" t="t" r="r" b="b"/>
              <a:pathLst>
                <a:path w="8408035" h="5699760">
                  <a:moveTo>
                    <a:pt x="7683334" y="0"/>
                  </a:moveTo>
                  <a:lnTo>
                    <a:pt x="0" y="4447565"/>
                  </a:lnTo>
                  <a:lnTo>
                    <a:pt x="724687" y="5699493"/>
                  </a:lnTo>
                  <a:lnTo>
                    <a:pt x="8408022" y="1251927"/>
                  </a:lnTo>
                  <a:lnTo>
                    <a:pt x="76833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22892" y="957198"/>
              <a:ext cx="7517232" cy="48004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med">
    <p:fade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5184" y="187998"/>
            <a:ext cx="5503545" cy="635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Systematic </a:t>
            </a:r>
            <a:r>
              <a:rPr dirty="0" sz="4000"/>
              <a:t>vs.</a:t>
            </a:r>
            <a:r>
              <a:rPr dirty="0" sz="4000" spc="-65"/>
              <a:t> </a:t>
            </a:r>
            <a:r>
              <a:rPr dirty="0" sz="4000"/>
              <a:t>Systemic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7343" y="5939264"/>
            <a:ext cx="23215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0071CE"/>
                </a:solidFill>
                <a:latin typeface="Arial"/>
                <a:cs typeface="Arial"/>
              </a:rPr>
              <a:t>Copyright Strategic Venture Planning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57315" y="2003298"/>
            <a:ext cx="4780788" cy="3155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63652" y="577595"/>
            <a:ext cx="5043805" cy="2945130"/>
            <a:chOff x="263652" y="577595"/>
            <a:chExt cx="5043805" cy="2945130"/>
          </a:xfrm>
        </p:grpSpPr>
        <p:sp>
          <p:nvSpPr>
            <p:cNvPr id="6" name="object 6"/>
            <p:cNvSpPr/>
            <p:nvPr/>
          </p:nvSpPr>
          <p:spPr>
            <a:xfrm>
              <a:off x="612647" y="577595"/>
              <a:ext cx="3836670" cy="28514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3652" y="3060953"/>
              <a:ext cx="5043805" cy="462280"/>
            </a:xfrm>
            <a:custGeom>
              <a:avLst/>
              <a:gdLst/>
              <a:ahLst/>
              <a:cxnLst/>
              <a:rect l="l" t="t" r="r" b="b"/>
              <a:pathLst>
                <a:path w="5043805" h="462279">
                  <a:moveTo>
                    <a:pt x="5043678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5043678" y="461772"/>
                  </a:lnTo>
                  <a:lnTo>
                    <a:pt x="50436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42160" y="3085503"/>
            <a:ext cx="4834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Siloed </a:t>
            </a:r>
            <a:r>
              <a:rPr dirty="0" sz="2400" spc="-15">
                <a:solidFill>
                  <a:srgbClr val="0071CE"/>
                </a:solidFill>
                <a:latin typeface="Arial"/>
                <a:cs typeface="Arial"/>
              </a:rPr>
              <a:t>Views </a:t>
            </a: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– Bounded</a:t>
            </a:r>
            <a:r>
              <a:rPr dirty="0" sz="2400" spc="3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Rationality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86361" y="4952365"/>
            <a:ext cx="6492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Shared System </a:t>
            </a:r>
            <a:r>
              <a:rPr dirty="0" sz="2400" spc="-15">
                <a:solidFill>
                  <a:srgbClr val="0071CE"/>
                </a:solidFill>
                <a:latin typeface="Arial"/>
                <a:cs typeface="Arial"/>
              </a:rPr>
              <a:t>View </a:t>
            </a: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– Common Mental</a:t>
            </a:r>
            <a:r>
              <a:rPr dirty="0" sz="2400" spc="3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Models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fade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1631" y="186994"/>
            <a:ext cx="4572635" cy="635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Deming on</a:t>
            </a:r>
            <a:r>
              <a:rPr dirty="0" sz="4000" spc="-105"/>
              <a:t> </a:t>
            </a:r>
            <a:r>
              <a:rPr dirty="0" sz="4000"/>
              <a:t>Systems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27784" y="5888695"/>
            <a:ext cx="382142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0071CE"/>
                </a:solidFill>
                <a:latin typeface="Arial"/>
                <a:cs typeface="Arial"/>
              </a:rPr>
              <a:t>Source: Deming; </a:t>
            </a:r>
            <a:r>
              <a:rPr dirty="0" sz="900">
                <a:solidFill>
                  <a:srgbClr val="0071CE"/>
                </a:solidFill>
                <a:latin typeface="Arial"/>
                <a:cs typeface="Arial"/>
              </a:rPr>
              <a:t>The </a:t>
            </a:r>
            <a:r>
              <a:rPr dirty="0" sz="900" spc="-5">
                <a:solidFill>
                  <a:srgbClr val="0071CE"/>
                </a:solidFill>
                <a:latin typeface="Arial"/>
                <a:cs typeface="Arial"/>
              </a:rPr>
              <a:t>New Economics for Industry, Government,</a:t>
            </a:r>
            <a:r>
              <a:rPr dirty="0" sz="900" spc="7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0071CE"/>
                </a:solidFill>
                <a:latin typeface="Arial"/>
                <a:cs typeface="Arial"/>
              </a:rPr>
              <a:t>Education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8990" y="5931498"/>
            <a:ext cx="23215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0071CE"/>
                </a:solidFill>
                <a:latin typeface="Arial"/>
                <a:cs typeface="Arial"/>
              </a:rPr>
              <a:t>Copyright Strategic Venture Planning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97502" y="4591811"/>
            <a:ext cx="2925318" cy="969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13229" y="1037767"/>
            <a:ext cx="7541895" cy="406146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469900" marR="877569" indent="-457200">
              <a:lnSpc>
                <a:spcPts val="2050"/>
              </a:lnSpc>
              <a:spcBef>
                <a:spcPts val="360"/>
              </a:spcBef>
              <a:buClr>
                <a:srgbClr val="27700A"/>
              </a:buClr>
              <a:buChar char="•"/>
              <a:tabLst>
                <a:tab pos="469265" algn="l"/>
                <a:tab pos="469900" algn="l"/>
              </a:tabLst>
            </a:pPr>
            <a:r>
              <a:rPr dirty="0" sz="1900" spc="-5">
                <a:solidFill>
                  <a:srgbClr val="0071CE"/>
                </a:solidFill>
                <a:latin typeface="Arial"/>
                <a:cs typeface="Arial"/>
              </a:rPr>
              <a:t>The </a:t>
            </a:r>
            <a:r>
              <a:rPr dirty="0" sz="1900" spc="-5" i="1">
                <a:solidFill>
                  <a:srgbClr val="0071CE"/>
                </a:solidFill>
                <a:latin typeface="Arial"/>
                <a:cs typeface="Arial"/>
              </a:rPr>
              <a:t>Appreciation of </a:t>
            </a:r>
            <a:r>
              <a:rPr dirty="0" sz="1900" i="1">
                <a:solidFill>
                  <a:srgbClr val="0071CE"/>
                </a:solidFill>
                <a:latin typeface="Arial"/>
                <a:cs typeface="Arial"/>
              </a:rPr>
              <a:t>a </a:t>
            </a:r>
            <a:r>
              <a:rPr dirty="0" sz="1900" spc="-5" i="1">
                <a:solidFill>
                  <a:srgbClr val="0071CE"/>
                </a:solidFill>
                <a:latin typeface="Arial"/>
                <a:cs typeface="Arial"/>
              </a:rPr>
              <a:t>system </a:t>
            </a:r>
            <a:r>
              <a:rPr dirty="0" sz="1900" spc="-5">
                <a:solidFill>
                  <a:srgbClr val="0071CE"/>
                </a:solidFill>
                <a:latin typeface="Arial"/>
                <a:cs typeface="Arial"/>
              </a:rPr>
              <a:t>involves understanding how </a:t>
            </a:r>
            <a:r>
              <a:rPr dirty="0" u="heavy" sz="1900" spc="-5">
                <a:solidFill>
                  <a:srgbClr val="0071CE"/>
                </a:solidFill>
                <a:uFill>
                  <a:solidFill>
                    <a:srgbClr val="0071CE"/>
                  </a:solidFill>
                </a:uFill>
                <a:latin typeface="Arial"/>
                <a:cs typeface="Arial"/>
              </a:rPr>
              <a:t> interactions</a:t>
            </a:r>
            <a:r>
              <a:rPr dirty="0" sz="1900" spc="-5">
                <a:solidFill>
                  <a:srgbClr val="0071CE"/>
                </a:solidFill>
                <a:latin typeface="Arial"/>
                <a:cs typeface="Arial"/>
              </a:rPr>
              <a:t> (i.e.,</a:t>
            </a:r>
            <a:r>
              <a:rPr dirty="0" sz="1900" spc="2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1900" spc="-5">
                <a:solidFill>
                  <a:srgbClr val="0071CE"/>
                </a:solidFill>
                <a:latin typeface="Arial"/>
                <a:cs typeface="Arial"/>
              </a:rPr>
              <a:t>feedback)</a:t>
            </a:r>
            <a:endParaRPr sz="1900">
              <a:latin typeface="Arial"/>
              <a:cs typeface="Arial"/>
            </a:endParaRPr>
          </a:p>
          <a:p>
            <a:pPr lvl="1" marL="1003300" indent="-381000">
              <a:lnSpc>
                <a:spcPct val="100000"/>
              </a:lnSpc>
              <a:spcBef>
                <a:spcPts val="1585"/>
              </a:spcBef>
              <a:buClr>
                <a:srgbClr val="27700A"/>
              </a:buClr>
              <a:buChar char="–"/>
              <a:tabLst>
                <a:tab pos="1002665" algn="l"/>
                <a:tab pos="1003300" algn="l"/>
              </a:tabLst>
            </a:pP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between the elements of </a:t>
            </a:r>
            <a:r>
              <a:rPr dirty="0" sz="1600">
                <a:solidFill>
                  <a:srgbClr val="0071CE"/>
                </a:solidFill>
                <a:latin typeface="Arial"/>
                <a:cs typeface="Arial"/>
              </a:rPr>
              <a:t>a 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system can </a:t>
            </a:r>
            <a:r>
              <a:rPr dirty="0" u="heavy" sz="1600" spc="-5">
                <a:solidFill>
                  <a:srgbClr val="0071CE"/>
                </a:solidFill>
                <a:uFill>
                  <a:solidFill>
                    <a:srgbClr val="0071CE"/>
                  </a:solidFill>
                </a:uFill>
                <a:latin typeface="Arial"/>
                <a:cs typeface="Arial"/>
              </a:rPr>
              <a:t>result in internal</a:t>
            </a:r>
            <a:r>
              <a:rPr dirty="0" u="heavy" sz="1600" spc="80">
                <a:solidFill>
                  <a:srgbClr val="0071CE"/>
                </a:solidFill>
                <a:uFill>
                  <a:solidFill>
                    <a:srgbClr val="0071CE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600" spc="-5">
                <a:solidFill>
                  <a:srgbClr val="0071CE"/>
                </a:solidFill>
                <a:uFill>
                  <a:solidFill>
                    <a:srgbClr val="0071CE"/>
                  </a:solidFill>
                </a:uFill>
                <a:latin typeface="Arial"/>
                <a:cs typeface="Arial"/>
              </a:rPr>
              <a:t>restrictions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27700A"/>
              </a:buClr>
              <a:buFont typeface="Arial"/>
              <a:buChar char="–"/>
            </a:pPr>
            <a:endParaRPr sz="1550">
              <a:latin typeface="Arial"/>
              <a:cs typeface="Arial"/>
            </a:endParaRPr>
          </a:p>
          <a:p>
            <a:pPr lvl="1" marL="1002665" marR="177165" indent="-381000">
              <a:lnSpc>
                <a:spcPts val="1730"/>
              </a:lnSpc>
              <a:spcBef>
                <a:spcPts val="5"/>
              </a:spcBef>
              <a:buClr>
                <a:srgbClr val="27700A"/>
              </a:buClr>
              <a:buChar char="–"/>
              <a:tabLst>
                <a:tab pos="1002665" algn="l"/>
                <a:tab pos="1003300" algn="l"/>
              </a:tabLst>
            </a:pP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that force the elements in the system to behave as </a:t>
            </a:r>
            <a:r>
              <a:rPr dirty="0" sz="1600">
                <a:solidFill>
                  <a:srgbClr val="0071CE"/>
                </a:solidFill>
                <a:latin typeface="Arial"/>
                <a:cs typeface="Arial"/>
              </a:rPr>
              <a:t>a 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single organisms, </a:t>
            </a:r>
            <a:r>
              <a:rPr dirty="0" u="heavy" sz="1600" spc="-5">
                <a:solidFill>
                  <a:srgbClr val="0071CE"/>
                </a:solidFill>
                <a:uFill>
                  <a:solidFill>
                    <a:srgbClr val="0071CE"/>
                  </a:solidFill>
                </a:uFill>
                <a:latin typeface="Arial"/>
                <a:cs typeface="Arial"/>
              </a:rPr>
              <a:t> not as system elements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FF0000"/>
                </a:solidFill>
                <a:latin typeface="Arial"/>
                <a:cs typeface="Arial"/>
              </a:rPr>
              <a:t>(holons)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, that automatically seeks </a:t>
            </a:r>
            <a:r>
              <a:rPr dirty="0" sz="1600">
                <a:solidFill>
                  <a:srgbClr val="0071CE"/>
                </a:solidFill>
                <a:latin typeface="Arial"/>
                <a:cs typeface="Arial"/>
              </a:rPr>
              <a:t>a 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steady  state </a:t>
            </a:r>
            <a:r>
              <a:rPr dirty="0" sz="1600" spc="-5">
                <a:solidFill>
                  <a:srgbClr val="FF0000"/>
                </a:solidFill>
                <a:latin typeface="Arial"/>
                <a:cs typeface="Arial"/>
              </a:rPr>
              <a:t>(bounded</a:t>
            </a:r>
            <a:r>
              <a:rPr dirty="0" sz="1600" spc="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FF0000"/>
                </a:solidFill>
                <a:latin typeface="Arial"/>
                <a:cs typeface="Arial"/>
              </a:rPr>
              <a:t>rationality)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27700A"/>
              </a:buClr>
              <a:buFont typeface="Arial"/>
              <a:buChar char="–"/>
            </a:pPr>
            <a:endParaRPr sz="1550">
              <a:latin typeface="Arial"/>
              <a:cs typeface="Arial"/>
            </a:endParaRPr>
          </a:p>
          <a:p>
            <a:pPr marL="469265" marR="411480" indent="-457200">
              <a:lnSpc>
                <a:spcPts val="1730"/>
              </a:lnSpc>
              <a:buClr>
                <a:srgbClr val="27700A"/>
              </a:buClr>
              <a:buChar char="•"/>
              <a:tabLst>
                <a:tab pos="469265" algn="l"/>
                <a:tab pos="469900" algn="l"/>
              </a:tabLst>
            </a:pP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It is this “steady </a:t>
            </a:r>
            <a:r>
              <a:rPr dirty="0" sz="1600" spc="-5">
                <a:solidFill>
                  <a:srgbClr val="FF0000"/>
                </a:solidFill>
                <a:latin typeface="Arial"/>
                <a:cs typeface="Arial"/>
              </a:rPr>
              <a:t>(bounded) 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state” that determines the output of the system  rather than the individual</a:t>
            </a:r>
            <a:r>
              <a:rPr dirty="0" sz="1600" spc="2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elements.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•"/>
            </a:pPr>
            <a:endParaRPr sz="1550">
              <a:latin typeface="Arial"/>
              <a:cs typeface="Arial"/>
            </a:endParaRPr>
          </a:p>
          <a:p>
            <a:pPr lvl="1" marL="1002665" marR="5080" indent="-381000">
              <a:lnSpc>
                <a:spcPts val="1730"/>
              </a:lnSpc>
              <a:buClr>
                <a:srgbClr val="27700A"/>
              </a:buClr>
              <a:buChar char="–"/>
              <a:tabLst>
                <a:tab pos="1002665" algn="l"/>
                <a:tab pos="1003300" algn="l"/>
              </a:tabLst>
            </a:pP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Thus it is the structure of the organization (</a:t>
            </a:r>
            <a:r>
              <a:rPr dirty="0" sz="1600" spc="-5">
                <a:solidFill>
                  <a:srgbClr val="FF0000"/>
                </a:solidFill>
                <a:latin typeface="Arial"/>
                <a:cs typeface="Arial"/>
              </a:rPr>
              <a:t>read system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) rather than the  employees, alone, which holds the key to improving the quality of</a:t>
            </a:r>
            <a:r>
              <a:rPr dirty="0" sz="1600" spc="8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71CE"/>
                </a:solidFill>
                <a:latin typeface="Arial"/>
                <a:cs typeface="Arial"/>
              </a:rPr>
              <a:t>output.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50">
              <a:latin typeface="Arial"/>
              <a:cs typeface="Arial"/>
            </a:endParaRPr>
          </a:p>
          <a:p>
            <a:pPr algn="ctr" marL="157480">
              <a:lnSpc>
                <a:spcPct val="100000"/>
              </a:lnSpc>
              <a:spcBef>
                <a:spcPts val="5"/>
              </a:spcBef>
            </a:pP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“Steady</a:t>
            </a:r>
            <a:r>
              <a:rPr dirty="0" sz="2000" spc="-1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State”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8467" y="5437159"/>
            <a:ext cx="279527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 i="1">
                <a:solidFill>
                  <a:srgbClr val="FF0000"/>
                </a:solidFill>
                <a:latin typeface="Arial"/>
                <a:cs typeface="Arial"/>
              </a:rPr>
              <a:t>“The way we/I have always done</a:t>
            </a:r>
            <a:r>
              <a:rPr dirty="0" sz="1400" spc="-6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5" i="1">
                <a:solidFill>
                  <a:srgbClr val="FF0000"/>
                </a:solidFill>
                <a:latin typeface="Arial"/>
                <a:cs typeface="Arial"/>
              </a:rPr>
              <a:t>it”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fade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Three </a:t>
            </a:r>
            <a:r>
              <a:rPr dirty="0"/>
              <a:t>Keys </a:t>
            </a:r>
            <a:r>
              <a:rPr dirty="0" spc="-5"/>
              <a:t>(and challenges)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55723" y="1548650"/>
            <a:ext cx="7307580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buSzPct val="85416"/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Must get C-Suite to think in systems (systemic and  systematic)</a:t>
            </a:r>
            <a:endParaRPr sz="2400">
              <a:latin typeface="Arial"/>
              <a:cs typeface="Arial"/>
            </a:endParaRPr>
          </a:p>
          <a:p>
            <a:pPr lvl="1" marL="927100" indent="-457200">
              <a:lnSpc>
                <a:spcPct val="100000"/>
              </a:lnSpc>
              <a:spcBef>
                <a:spcPts val="1210"/>
              </a:spcBef>
              <a:buSzPct val="85000"/>
              <a:buChar char="•"/>
              <a:tabLst>
                <a:tab pos="926465" algn="l"/>
                <a:tab pos="927100" algn="l"/>
              </a:tabLst>
            </a:pPr>
            <a:r>
              <a:rPr dirty="0" sz="2000" spc="-30">
                <a:solidFill>
                  <a:srgbClr val="0071CE"/>
                </a:solidFill>
                <a:latin typeface="Arial"/>
                <a:cs typeface="Arial"/>
              </a:rPr>
              <a:t>Very</a:t>
            </a:r>
            <a:r>
              <a:rPr dirty="0" sz="2000" spc="-1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rare!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190"/>
              </a:spcBef>
              <a:buSzPct val="85416"/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Must have C-Suite support and</a:t>
            </a:r>
            <a:r>
              <a:rPr dirty="0" sz="2400" spc="3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engagement</a:t>
            </a:r>
            <a:endParaRPr sz="2400">
              <a:latin typeface="Arial"/>
              <a:cs typeface="Arial"/>
            </a:endParaRPr>
          </a:p>
          <a:p>
            <a:pPr lvl="1" marL="927100" indent="-457200">
              <a:lnSpc>
                <a:spcPct val="100000"/>
              </a:lnSpc>
              <a:spcBef>
                <a:spcPts val="1210"/>
              </a:spcBef>
              <a:buSzPct val="85000"/>
              <a:buChar char="•"/>
              <a:tabLst>
                <a:tab pos="926465" algn="l"/>
                <a:tab pos="927100" algn="l"/>
              </a:tabLst>
            </a:pPr>
            <a:r>
              <a:rPr dirty="0" sz="2000" spc="-10">
                <a:solidFill>
                  <a:srgbClr val="0071CE"/>
                </a:solidFill>
                <a:latin typeface="Arial"/>
                <a:cs typeface="Arial"/>
              </a:rPr>
              <a:t>Engagement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is rare and support is usually</a:t>
            </a:r>
            <a:r>
              <a:rPr dirty="0" sz="2000" spc="55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lip-service.</a:t>
            </a:r>
            <a:endParaRPr sz="2000">
              <a:latin typeface="Arial"/>
              <a:cs typeface="Arial"/>
            </a:endParaRPr>
          </a:p>
          <a:p>
            <a:pPr marL="469900" marR="48895" indent="-457200">
              <a:lnSpc>
                <a:spcPct val="100000"/>
              </a:lnSpc>
              <a:spcBef>
                <a:spcPts val="1190"/>
              </a:spcBef>
              <a:buSzPct val="85416"/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Must have compelling reasons for transformation </a:t>
            </a:r>
            <a:r>
              <a:rPr dirty="0" sz="2400">
                <a:solidFill>
                  <a:srgbClr val="0071CE"/>
                </a:solidFill>
                <a:latin typeface="Arial"/>
                <a:cs typeface="Arial"/>
              </a:rPr>
              <a:t>-  </a:t>
            </a: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Strategic, ROI, preferably</a:t>
            </a:r>
            <a:r>
              <a:rPr dirty="0" sz="2400" spc="1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71CE"/>
                </a:solidFill>
                <a:latin typeface="Arial"/>
                <a:cs typeface="Arial"/>
              </a:rPr>
              <a:t>both</a:t>
            </a:r>
            <a:endParaRPr sz="2400">
              <a:latin typeface="Arial"/>
              <a:cs typeface="Arial"/>
            </a:endParaRPr>
          </a:p>
          <a:p>
            <a:pPr lvl="1" marL="927100" marR="44450" indent="-457200">
              <a:lnSpc>
                <a:spcPct val="100000"/>
              </a:lnSpc>
              <a:spcBef>
                <a:spcPts val="1210"/>
              </a:spcBef>
              <a:buSzPct val="85000"/>
              <a:buChar char="•"/>
              <a:tabLst>
                <a:tab pos="926465" algn="l"/>
                <a:tab pos="927100" algn="l"/>
              </a:tabLst>
            </a:pP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Rare, usually aspirational </a:t>
            </a:r>
            <a:r>
              <a:rPr dirty="0" sz="2000" spc="-10">
                <a:solidFill>
                  <a:srgbClr val="0071CE"/>
                </a:solidFill>
                <a:latin typeface="Arial"/>
                <a:cs typeface="Arial"/>
              </a:rPr>
              <a:t>happy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talk and </a:t>
            </a:r>
            <a:r>
              <a:rPr dirty="0" sz="2000" spc="-10">
                <a:solidFill>
                  <a:srgbClr val="0071CE"/>
                </a:solidFill>
                <a:latin typeface="Arial"/>
                <a:cs typeface="Arial"/>
              </a:rPr>
              <a:t>effort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is viewed  as an expense (a corporate tax at the division/local  level), and therefore,</a:t>
            </a:r>
            <a:r>
              <a:rPr dirty="0" sz="2000" spc="-20">
                <a:solidFill>
                  <a:srgbClr val="0071CE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71CE"/>
                </a:solidFill>
                <a:latin typeface="Arial"/>
                <a:cs typeface="Arial"/>
              </a:rPr>
              <a:t>resisted.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8990" y="5929226"/>
            <a:ext cx="23215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0071CE"/>
                </a:solidFill>
                <a:latin typeface="Arial"/>
                <a:cs typeface="Arial"/>
              </a:rPr>
              <a:t>Copyright Strategic Venture Planning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fade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2530" y="616458"/>
            <a:ext cx="1118616" cy="1565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950874" y="5319560"/>
            <a:ext cx="1452880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414042"/>
                </a:solidFill>
                <a:latin typeface="Arial"/>
                <a:cs typeface="Arial"/>
              </a:rPr>
              <a:t>Troy</a:t>
            </a:r>
            <a:r>
              <a:rPr dirty="0" sz="18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Peterson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SSI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80225" y="2441867"/>
            <a:ext cx="1622425" cy="5143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</a:rPr>
              <a:t>Olivier de</a:t>
            </a:r>
            <a:r>
              <a:rPr dirty="0" sz="1800" spc="-60">
                <a:solidFill>
                  <a:srgbClr val="414042"/>
                </a:solidFill>
              </a:rPr>
              <a:t> </a:t>
            </a:r>
            <a:r>
              <a:rPr dirty="0" sz="1800" spc="-10">
                <a:solidFill>
                  <a:srgbClr val="414042"/>
                </a:solidFill>
              </a:rPr>
              <a:t>Weck</a:t>
            </a:r>
            <a:endParaRPr sz="1800"/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400" spc="-5">
                <a:solidFill>
                  <a:srgbClr val="414042"/>
                </a:solidFill>
              </a:rPr>
              <a:t>MIT</a:t>
            </a:r>
            <a:endParaRPr sz="1400"/>
          </a:p>
        </p:txBody>
      </p:sp>
      <p:sp>
        <p:nvSpPr>
          <p:cNvPr id="5" name="object 5"/>
          <p:cNvSpPr txBox="1"/>
          <p:nvPr/>
        </p:nvSpPr>
        <p:spPr>
          <a:xfrm>
            <a:off x="5758560" y="2599385"/>
            <a:ext cx="1563370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Mark</a:t>
            </a:r>
            <a:r>
              <a:rPr dirty="0" sz="1800" spc="-4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Sampson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Siemens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509" y="5322608"/>
            <a:ext cx="1638935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solidFill>
                  <a:srgbClr val="414042"/>
                </a:solidFill>
                <a:latin typeface="Arial"/>
                <a:cs typeface="Arial"/>
              </a:rPr>
              <a:t>Tom</a:t>
            </a:r>
            <a:r>
              <a:rPr dirty="0" sz="1800" spc="-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McDermott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SERC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7244" y="4034878"/>
            <a:ext cx="1183005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David</a:t>
            </a:r>
            <a:r>
              <a:rPr dirty="0" sz="1800" spc="-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Long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400" spc="-10">
                <a:solidFill>
                  <a:srgbClr val="414042"/>
                </a:solidFill>
                <a:latin typeface="Arial"/>
                <a:cs typeface="Arial"/>
              </a:rPr>
              <a:t>Vitech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75482" y="2107692"/>
            <a:ext cx="1306830" cy="17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20546" y="3429000"/>
            <a:ext cx="1085088" cy="16695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96534" y="496823"/>
            <a:ext cx="1287780" cy="18912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57238" y="3703320"/>
            <a:ext cx="1405127" cy="14051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058400" y="3067811"/>
            <a:ext cx="1245870" cy="18691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916985" y="5163997"/>
            <a:ext cx="1666239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Willy</a:t>
            </a:r>
            <a:r>
              <a:rPr dirty="0" sz="1800" spc="-4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Donaldson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SVP/CNU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1404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Willy Donaldson</dc:creator>
  <dc:title>PowerPoint Presentation</dc:title>
  <dcterms:created xsi:type="dcterms:W3CDTF">2021-02-27T16:48:23Z</dcterms:created>
  <dcterms:modified xsi:type="dcterms:W3CDTF">2021-02-27T16:48:23Z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2021-01-21T00:00:00Z</vt:filetime>
  </property>
  <property fmtid="{D5CDD505-2E9C-101B-9397-08002B2CF9AE}" pid="3" name="Creator">
    <vt:lpwstr>Acrobat PDFMaker 11 for PowerPoint</vt:lpwstr>
  </property>
  <property fmtid="{D5CDD505-2E9C-101B-9397-08002B2CF9AE}" pid="4" name="LastSaved">
    <vt:filetime>2021-02-27T00:00:00Z</vt:filetime>
  </property>
</Properties>
</file>
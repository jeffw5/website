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notesSlides/notesSlide2.xml" ContentType="application/vnd.openxmlformats-officedocument.presentationml.notesSlide+xml"/>
  <Override PartName="/ppt/comments/comment8.xml" ContentType="application/vnd.openxmlformats-officedocument.presentationml.comments+xml"/>
  <Override PartName="/ppt/notesSlides/notesSlide3.xml" ContentType="application/vnd.openxmlformats-officedocument.presentationml.notesSlide+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comments/comment12.xml" ContentType="application/vnd.openxmlformats-officedocument.presentationml.comments+xml"/>
  <Override PartName="/ppt/comments/comment13.xml" ContentType="application/vnd.openxmlformats-officedocument.presentationml.comments+xml"/>
  <Override PartName="/ppt/comments/comment14.xml" ContentType="application/vnd.openxmlformats-officedocument.presentationml.comments+xml"/>
  <Override PartName="/ppt/comments/comment15.xml" ContentType="application/vnd.openxmlformats-officedocument.presentationml.comments+xml"/>
  <Override PartName="/ppt/comments/comment16.xml" ContentType="application/vnd.openxmlformats-officedocument.presentationml.comments+xml"/>
  <Override PartName="/ppt/comments/comment17.xml" ContentType="application/vnd.openxmlformats-officedocument.presentationml.comments+xml"/>
  <Override PartName="/ppt/comments/comment18.xml" ContentType="application/vnd.openxmlformats-officedocument.presentationml.comments+xml"/>
  <Override PartName="/ppt/comments/comment19.xml" ContentType="application/vnd.openxmlformats-officedocument.presentationml.comments+xml"/>
  <Override PartName="/ppt/comments/comment20.xml" ContentType="application/vnd.openxmlformats-officedocument.presentationml.comments+xml"/>
  <Override PartName="/ppt/comments/comment21.xml" ContentType="application/vnd.openxmlformats-officedocument.presentationml.comments+xml"/>
  <Override PartName="/ppt/comments/comment22.xml" ContentType="application/vnd.openxmlformats-officedocument.presentationml.comments+xml"/>
  <Override PartName="/ppt/comments/comment23.xml" ContentType="application/vnd.openxmlformats-officedocument.presentationml.comments+xml"/>
  <Override PartName="/ppt/comments/comment2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7" r:id="rId2"/>
    <p:sldId id="262" r:id="rId3"/>
    <p:sldId id="263" r:id="rId4"/>
    <p:sldId id="261" r:id="rId5"/>
    <p:sldId id="264" r:id="rId6"/>
    <p:sldId id="265" r:id="rId7"/>
    <p:sldId id="275" r:id="rId8"/>
    <p:sldId id="274" r:id="rId9"/>
    <p:sldId id="277" r:id="rId10"/>
    <p:sldId id="266" r:id="rId11"/>
    <p:sldId id="272" r:id="rId12"/>
    <p:sldId id="273" r:id="rId13"/>
    <p:sldId id="284" r:id="rId14"/>
    <p:sldId id="280" r:id="rId15"/>
    <p:sldId id="278" r:id="rId16"/>
    <p:sldId id="282" r:id="rId17"/>
    <p:sldId id="283" r:id="rId18"/>
    <p:sldId id="279" r:id="rId19"/>
    <p:sldId id="281" r:id="rId20"/>
    <p:sldId id="267" r:id="rId21"/>
    <p:sldId id="268" r:id="rId22"/>
    <p:sldId id="269" r:id="rId23"/>
    <p:sldId id="270" r:id="rId24"/>
    <p:sldId id="286" r:id="rId25"/>
    <p:sldId id="287" r:id="rId26"/>
    <p:sldId id="289" r:id="rId27"/>
    <p:sldId id="288" r:id="rId28"/>
    <p:sldId id="290" r:id="rId29"/>
    <p:sldId id="298" r:id="rId30"/>
    <p:sldId id="293" r:id="rId31"/>
    <p:sldId id="294" r:id="rId32"/>
    <p:sldId id="296" r:id="rId33"/>
    <p:sldId id="297" r:id="rId34"/>
    <p:sldId id="29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loyd Dugan" initials="LD" lastIdx="31" clrIdx="0">
    <p:extLst>
      <p:ext uri="{19B8F6BF-5375-455C-9EA6-DF929625EA0E}">
        <p15:presenceInfo xmlns:p15="http://schemas.microsoft.com/office/powerpoint/2012/main" userId="e6f53ae63e462bb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43" autoAdjust="0"/>
    <p:restoredTop sz="96433" autoAdjust="0"/>
  </p:normalViewPr>
  <p:slideViewPr>
    <p:cSldViewPr snapToGrid="0">
      <p:cViewPr varScale="1">
        <p:scale>
          <a:sx n="60" d="100"/>
          <a:sy n="60" d="100"/>
        </p:scale>
        <p:origin x="192" y="864"/>
      </p:cViewPr>
      <p:guideLst/>
    </p:cSldViewPr>
  </p:slideViewPr>
  <p:outlineViewPr>
    <p:cViewPr>
      <p:scale>
        <a:sx n="33" d="100"/>
        <a:sy n="33" d="100"/>
      </p:scale>
      <p:origin x="0" y="-1542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12-06T13:36:30.143" idx="1">
    <p:pos x="5628" y="3050"/>
    <p:text>Suggest a short descipription of the changes made.  I've listed a few candidates here, but Jim should confirm/correct.</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8-12-06T13:37:14.342" idx="2">
    <p:pos x="7189" y="622"/>
    <p:text>Need replace with new version, if it has been changed.</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8-12-06T13:41:16.764" idx="3">
    <p:pos x="6874" y="2227"/>
    <p:text>Think we should mention these.</p:text>
    <p:extLst>
      <p:ext uri="{C676402C-5697-4E1C-873F-D02D1690AC5C}">
        <p15:threadingInfo xmlns:p15="http://schemas.microsoft.com/office/powerpoint/2012/main" timeZoneBias="300"/>
      </p:ext>
    </p:extLst>
  </p:cm>
  <p:cm authorId="1" dt="2018-12-06T13:41:44.737" idx="4">
    <p:pos x="6874" y="2323"/>
    <p:text>Need to include, I would think.</p:text>
    <p:extLst>
      <p:ext uri="{C676402C-5697-4E1C-873F-D02D1690AC5C}">
        <p15:threadingInfo xmlns:p15="http://schemas.microsoft.com/office/powerpoint/2012/main" timeZoneBias="300">
          <p15:parentCm authorId="1" idx="3"/>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18-12-06T13:41:53.322" idx="5">
    <p:pos x="4346" y="182"/>
    <p:text>Need replace with new version, if it has been changed.</p:text>
    <p:extLst>
      <p:ext uri="{C676402C-5697-4E1C-873F-D02D1690AC5C}">
        <p15:threadingInfo xmlns:p15="http://schemas.microsoft.com/office/powerpoint/2012/main" timeZoneBias="30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18-12-06T13:42:36.781" idx="6">
    <p:pos x="4461" y="182"/>
    <p:text>Need replace with new version, if it has been changed.</p:text>
    <p:extLst>
      <p:ext uri="{C676402C-5697-4E1C-873F-D02D1690AC5C}">
        <p15:threadingInfo xmlns:p15="http://schemas.microsoft.com/office/powerpoint/2012/main" timeZoneBias="30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18-12-06T13:43:03.291" idx="7">
    <p:pos x="5085" y="182"/>
    <p:text>Has anything changed???</p:text>
    <p:extLst>
      <p:ext uri="{C676402C-5697-4E1C-873F-D02D1690AC5C}">
        <p15:threadingInfo xmlns:p15="http://schemas.microsoft.com/office/powerpoint/2012/main" timeZoneBias="30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18-12-06T13:44:19.680" idx="8">
    <p:pos x="3710" y="616"/>
    <p:text>Need replace with new version, if it has been changed.</p:text>
    <p:extLst>
      <p:ext uri="{C676402C-5697-4E1C-873F-D02D1690AC5C}">
        <p15:threadingInfo xmlns:p15="http://schemas.microsoft.com/office/powerpoint/2012/main" timeZoneBias="300"/>
      </p:ext>
    </p:extLst>
  </p:cm>
  <p:cm authorId="1" dt="2018-12-06T13:44:27.432" idx="9">
    <p:pos x="7431" y="814"/>
    <p:text>I know there are corrections to be discussed here.  Need a few bullets to call this out.</p:text>
    <p:extLst>
      <p:ext uri="{C676402C-5697-4E1C-873F-D02D1690AC5C}">
        <p15:threadingInfo xmlns:p15="http://schemas.microsoft.com/office/powerpoint/2012/main" timeZoneBias="30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18-12-06T13:44:56.778" idx="10">
    <p:pos x="3874" y="698"/>
    <p:text>Need replace with new version, if it has been changed.</p:text>
    <p:extLst>
      <p:ext uri="{C676402C-5697-4E1C-873F-D02D1690AC5C}">
        <p15:threadingInfo xmlns:p15="http://schemas.microsoft.com/office/powerpoint/2012/main" timeZoneBias="30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18-12-06T13:45:09.440" idx="11">
    <p:pos x="3765" y="624"/>
    <p:text>Need replace with new version, if it has been changed.</p:text>
    <p:extLst>
      <p:ext uri="{C676402C-5697-4E1C-873F-D02D1690AC5C}">
        <p15:threadingInfo xmlns:p15="http://schemas.microsoft.com/office/powerpoint/2012/main" timeZoneBias="30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18-12-06T13:45:21.078" idx="12">
    <p:pos x="3928" y="615"/>
    <p:text>Need replace with new version, if it has been changed.</p:text>
    <p:extLst>
      <p:ext uri="{C676402C-5697-4E1C-873F-D02D1690AC5C}">
        <p15:threadingInfo xmlns:p15="http://schemas.microsoft.com/office/powerpoint/2012/main" timeZoneBias="30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18-12-06T13:45:31.719" idx="13">
    <p:pos x="3964" y="600"/>
    <p:text>Need replace with new version, if it has been changed.</p:text>
    <p:extLst>
      <p:ext uri="{C676402C-5697-4E1C-873F-D02D1690AC5C}">
        <p15:threadingInfo xmlns:p15="http://schemas.microsoft.com/office/powerpoint/2012/main" timeZoneBias="300"/>
      </p:ext>
    </p:extLst>
  </p:cm>
  <p:cm authorId="1" dt="2018-12-06T13:45:56.385" idx="14">
    <p:pos x="7415" y="960"/>
    <p:text>I think there were changes here, again just need a bullet or two.</p:text>
    <p:extLst>
      <p:ext uri="{C676402C-5697-4E1C-873F-D02D1690AC5C}">
        <p15:threadingInfo xmlns:p15="http://schemas.microsoft.com/office/powerpoint/2012/main" timeZoneBias="30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1" dt="2018-12-06T13:46:21.498" idx="15">
    <p:pos x="6922" y="604"/>
    <p:text>Need replace with new version, if it has been changed.</p:text>
    <p:extLst>
      <p:ext uri="{C676402C-5697-4E1C-873F-D02D1690AC5C}">
        <p15:threadingInfo xmlns:p15="http://schemas.microsoft.com/office/powerpoint/2012/main" timeZoneBias="30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1" dt="2018-12-06T13:46:36.213" idx="16">
    <p:pos x="6715" y="581"/>
    <p:text>Need replace with new version, if it has been changed.</p:text>
    <p:extLst>
      <p:ext uri="{C676402C-5697-4E1C-873F-D02D1690AC5C}">
        <p15:threadingInfo xmlns:p15="http://schemas.microsoft.com/office/powerpoint/2012/main" timeZoneBias="300"/>
      </p:ext>
    </p:extLst>
  </p:cm>
</p:cmLst>
</file>

<file path=ppt/comments/comment14.xml><?xml version="1.0" encoding="utf-8"?>
<p:cmLst xmlns:a="http://schemas.openxmlformats.org/drawingml/2006/main" xmlns:r="http://schemas.openxmlformats.org/officeDocument/2006/relationships" xmlns:p="http://schemas.openxmlformats.org/presentationml/2006/main">
  <p:cm authorId="1" dt="2018-12-06T13:46:49.893" idx="17">
    <p:pos x="3813" y="746"/>
    <p:text>Need replace with new version, if it has been changed.</p:text>
    <p:extLst>
      <p:ext uri="{C676402C-5697-4E1C-873F-D02D1690AC5C}">
        <p15:threadingInfo xmlns:p15="http://schemas.microsoft.com/office/powerpoint/2012/main" timeZoneBias="300"/>
      </p:ext>
    </p:extLst>
  </p:cm>
</p:cmLst>
</file>

<file path=ppt/comments/comment15.xml><?xml version="1.0" encoding="utf-8"?>
<p:cmLst xmlns:a="http://schemas.openxmlformats.org/drawingml/2006/main" xmlns:r="http://schemas.openxmlformats.org/officeDocument/2006/relationships" xmlns:p="http://schemas.openxmlformats.org/presentationml/2006/main">
  <p:cm authorId="1" dt="2018-12-06T13:47:00.460" idx="18">
    <p:pos x="3847" y="605"/>
    <p:text>Need replace with new version, if it has been changed.</p:text>
    <p:extLst>
      <p:ext uri="{C676402C-5697-4E1C-873F-D02D1690AC5C}">
        <p15:threadingInfo xmlns:p15="http://schemas.microsoft.com/office/powerpoint/2012/main" timeZoneBias="300"/>
      </p:ext>
    </p:extLst>
  </p:cm>
</p:cmLst>
</file>

<file path=ppt/comments/comment16.xml><?xml version="1.0" encoding="utf-8"?>
<p:cmLst xmlns:a="http://schemas.openxmlformats.org/drawingml/2006/main" xmlns:r="http://schemas.openxmlformats.org/officeDocument/2006/relationships" xmlns:p="http://schemas.openxmlformats.org/presentationml/2006/main">
  <p:cm authorId="1" dt="2018-12-06T13:47:30.267" idx="19">
    <p:pos x="7446" y="1834"/>
    <p:text>Does this get changed because of the clarification changes made in the Value Package?</p:text>
    <p:extLst>
      <p:ext uri="{C676402C-5697-4E1C-873F-D02D1690AC5C}">
        <p15:threadingInfo xmlns:p15="http://schemas.microsoft.com/office/powerpoint/2012/main" timeZoneBias="300"/>
      </p:ext>
    </p:extLst>
  </p:cm>
  <p:cm authorId="1" dt="2018-12-06T13:48:02.728" idx="20">
    <p:pos x="6694" y="2534"/>
    <p:text>Same question as above.</p:text>
    <p:extLst>
      <p:ext uri="{C676402C-5697-4E1C-873F-D02D1690AC5C}">
        <p15:threadingInfo xmlns:p15="http://schemas.microsoft.com/office/powerpoint/2012/main" timeZoneBias="300"/>
      </p:ext>
    </p:extLst>
  </p:cm>
</p:cmLst>
</file>

<file path=ppt/comments/comment17.xml><?xml version="1.0" encoding="utf-8"?>
<p:cmLst xmlns:a="http://schemas.openxmlformats.org/drawingml/2006/main" xmlns:r="http://schemas.openxmlformats.org/officeDocument/2006/relationships" xmlns:p="http://schemas.openxmlformats.org/presentationml/2006/main">
  <p:cm authorId="1" dt="2018-12-06T13:50:44.741" idx="21">
    <p:pos x="3891" y="3114"/>
    <p:text>I don't know if it needs this, but I'm suggesting it.</p:text>
    <p:extLst>
      <p:ext uri="{C676402C-5697-4E1C-873F-D02D1690AC5C}">
        <p15:threadingInfo xmlns:p15="http://schemas.microsoft.com/office/powerpoint/2012/main" timeZoneBias="300"/>
      </p:ext>
    </p:extLst>
  </p:cm>
  <p:cm authorId="1" dt="2018-12-06T13:52:48.290" idx="24">
    <p:pos x="7395" y="1207"/>
    <p:text>Need replace with new version, if it has been changed.</p:text>
    <p:extLst>
      <p:ext uri="{C676402C-5697-4E1C-873F-D02D1690AC5C}">
        <p15:threadingInfo xmlns:p15="http://schemas.microsoft.com/office/powerpoint/2012/main" timeZoneBias="300"/>
      </p:ext>
    </p:extLst>
  </p:cm>
</p:cmLst>
</file>

<file path=ppt/comments/comment18.xml><?xml version="1.0" encoding="utf-8"?>
<p:cmLst xmlns:a="http://schemas.openxmlformats.org/drawingml/2006/main" xmlns:r="http://schemas.openxmlformats.org/officeDocument/2006/relationships" xmlns:p="http://schemas.openxmlformats.org/presentationml/2006/main">
  <p:cm authorId="1" dt="2018-12-06T13:51:18.504" idx="22">
    <p:pos x="7327" y="1318"/>
    <p:text>I believe Jim had a few new sources for the changes made in the Value Package, and if so, they could be cited here.</p:text>
    <p:extLst>
      <p:ext uri="{C676402C-5697-4E1C-873F-D02D1690AC5C}">
        <p15:threadingInfo xmlns:p15="http://schemas.microsoft.com/office/powerpoint/2012/main" timeZoneBias="300"/>
      </p:ext>
    </p:extLst>
  </p:cm>
</p:cmLst>
</file>

<file path=ppt/comments/comment19.xml><?xml version="1.0" encoding="utf-8"?>
<p:cmLst xmlns:a="http://schemas.openxmlformats.org/drawingml/2006/main" xmlns:r="http://schemas.openxmlformats.org/officeDocument/2006/relationships" xmlns:p="http://schemas.openxmlformats.org/presentationml/2006/main">
  <p:cm authorId="1" dt="2018-12-06T13:52:23.736" idx="23">
    <p:pos x="1606" y="3219"/>
    <p:text>Just need to confirm this.</p:text>
    <p:extLst>
      <p:ext uri="{C676402C-5697-4E1C-873F-D02D1690AC5C}">
        <p15:threadingInfo xmlns:p15="http://schemas.microsoft.com/office/powerpoint/2012/main" timeZoneBias="300"/>
      </p:ext>
    </p:extLst>
  </p:cm>
</p:cmLst>
</file>

<file path=ppt/comments/comment20.xml><?xml version="1.0" encoding="utf-8"?>
<p:cmLst xmlns:a="http://schemas.openxmlformats.org/drawingml/2006/main" xmlns:r="http://schemas.openxmlformats.org/officeDocument/2006/relationships" xmlns:p="http://schemas.openxmlformats.org/presentationml/2006/main">
  <p:cm authorId="1" dt="2018-12-06T13:53:09.981" idx="25">
    <p:pos x="7361" y="1010"/>
    <p:text>Need replace with new version, if it has been changed.</p:text>
    <p:extLst>
      <p:ext uri="{C676402C-5697-4E1C-873F-D02D1690AC5C}">
        <p15:threadingInfo xmlns:p15="http://schemas.microsoft.com/office/powerpoint/2012/main" timeZoneBias="300"/>
      </p:ext>
    </p:extLst>
  </p:cm>
</p:cmLst>
</file>

<file path=ppt/comments/comment21.xml><?xml version="1.0" encoding="utf-8"?>
<p:cmLst xmlns:a="http://schemas.openxmlformats.org/drawingml/2006/main" xmlns:r="http://schemas.openxmlformats.org/officeDocument/2006/relationships" xmlns:p="http://schemas.openxmlformats.org/presentationml/2006/main">
  <p:cm authorId="1" dt="2018-12-06T13:53:44.050" idx="27">
    <p:pos x="7488" y="615"/>
    <p:text>Need replace with new version, if it has been changed.</p:text>
    <p:extLst>
      <p:ext uri="{C676402C-5697-4E1C-873F-D02D1690AC5C}">
        <p15:threadingInfo xmlns:p15="http://schemas.microsoft.com/office/powerpoint/2012/main" timeZoneBias="300"/>
      </p:ext>
    </p:extLst>
  </p:cm>
</p:cmLst>
</file>

<file path=ppt/comments/comment22.xml><?xml version="1.0" encoding="utf-8"?>
<p:cmLst xmlns:a="http://schemas.openxmlformats.org/drawingml/2006/main" xmlns:r="http://schemas.openxmlformats.org/officeDocument/2006/relationships" xmlns:p="http://schemas.openxmlformats.org/presentationml/2006/main">
  <p:cm authorId="1" dt="2018-12-06T13:53:56.433" idx="28">
    <p:pos x="3911" y="592"/>
    <p:text>Need replace with new version, if it has been changed.</p:text>
    <p:extLst>
      <p:ext uri="{C676402C-5697-4E1C-873F-D02D1690AC5C}">
        <p15:threadingInfo xmlns:p15="http://schemas.microsoft.com/office/powerpoint/2012/main" timeZoneBias="300"/>
      </p:ext>
    </p:extLst>
  </p:cm>
</p:cmLst>
</file>

<file path=ppt/comments/comment23.xml><?xml version="1.0" encoding="utf-8"?>
<p:cmLst xmlns:a="http://schemas.openxmlformats.org/drawingml/2006/main" xmlns:r="http://schemas.openxmlformats.org/officeDocument/2006/relationships" xmlns:p="http://schemas.openxmlformats.org/presentationml/2006/main">
  <p:cm authorId="1" dt="2018-12-06T13:55:15.907" idx="29">
    <p:pos x="10" y="10"/>
    <p:text>Need replace with new version, if it has been changed.</p:text>
    <p:extLst>
      <p:ext uri="{C676402C-5697-4E1C-873F-D02D1690AC5C}">
        <p15:threadingInfo xmlns:p15="http://schemas.microsoft.com/office/powerpoint/2012/main" timeZoneBias="300"/>
      </p:ext>
    </p:extLst>
  </p:cm>
</p:cmLst>
</file>

<file path=ppt/comments/comment24.xml><?xml version="1.0" encoding="utf-8"?>
<p:cmLst xmlns:a="http://schemas.openxmlformats.org/drawingml/2006/main" xmlns:r="http://schemas.openxmlformats.org/officeDocument/2006/relationships" xmlns:p="http://schemas.openxmlformats.org/presentationml/2006/main">
  <p:cm authorId="1" dt="2018-12-06T13:56:48.977" idx="30">
    <p:pos x="1702" y="182"/>
    <p:text/>
    <p:extLst>
      <p:ext uri="{C676402C-5697-4E1C-873F-D02D1690AC5C}">
        <p15:threadingInfo xmlns:p15="http://schemas.microsoft.com/office/powerpoint/2012/main" timeZoneBias="300"/>
      </p:ext>
    </p:extLst>
  </p:cm>
  <p:cm authorId="1" dt="2018-12-06T14:02:32.906" idx="31">
    <p:pos x="1702" y="278"/>
    <p:text>We should have something here.  My suggestion is that the language include a suggestion (even if subtly so) that another round of reconciliation awaits though the first attempt did clarify the differences between submissions that (presumably) won't have to be repeated in the next round (assuming there would be one).</p:text>
    <p:extLst>
      <p:ext uri="{C676402C-5697-4E1C-873F-D02D1690AC5C}">
        <p15:threadingInfo xmlns:p15="http://schemas.microsoft.com/office/powerpoint/2012/main" timeZoneBias="300">
          <p15:parentCm authorId="1" idx="30"/>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7D703-E0BA-4D01-B7D3-E5D5FFBBCED8}" type="datetimeFigureOut">
              <a:rPr lang="en-US" smtClean="0"/>
              <a:t>12/9/18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A9CFB-1422-440D-B95C-F354FF151347}" type="slidenum">
              <a:rPr lang="en-US" smtClean="0"/>
              <a:t>‹#›</a:t>
            </a:fld>
            <a:endParaRPr lang="en-US"/>
          </a:p>
        </p:txBody>
      </p:sp>
    </p:spTree>
    <p:extLst>
      <p:ext uri="{BB962C8B-B14F-4D97-AF65-F5344CB8AC3E}">
        <p14:creationId xmlns:p14="http://schemas.microsoft.com/office/powerpoint/2010/main" val="1362069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54750" cy="3519488"/>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solidFill>
                  <a:prstClr val="black"/>
                </a:solidFill>
              </a:rPr>
              <a:t>Business Architecture Guild</a:t>
            </a:r>
          </a:p>
        </p:txBody>
      </p:sp>
      <p:sp>
        <p:nvSpPr>
          <p:cNvPr id="5" name="Footer Placeholder 4"/>
          <p:cNvSpPr>
            <a:spLocks noGrp="1"/>
          </p:cNvSpPr>
          <p:nvPr>
            <p:ph type="ftr" sz="quarter" idx="11"/>
          </p:nvPr>
        </p:nvSpPr>
        <p:spPr/>
        <p:txBody>
          <a:bodyPr/>
          <a:lstStyle/>
          <a:p>
            <a:r>
              <a:rPr lang="en-US" dirty="0">
                <a:solidFill>
                  <a:prstClr val="black"/>
                </a:solidFill>
              </a:rPr>
              <a:t>Copyright 2012 @ Business Architecture Guild</a:t>
            </a:r>
          </a:p>
        </p:txBody>
      </p:sp>
      <p:sp>
        <p:nvSpPr>
          <p:cNvPr id="6" name="Slide Number Placeholder 5"/>
          <p:cNvSpPr>
            <a:spLocks noGrp="1"/>
          </p:cNvSpPr>
          <p:nvPr>
            <p:ph type="sldNum" sz="quarter" idx="12"/>
          </p:nvPr>
        </p:nvSpPr>
        <p:spPr/>
        <p:txBody>
          <a:bodyPr/>
          <a:lstStyle/>
          <a:p>
            <a:fld id="{D27F5204-EB12-4271-A49D-308523C9B92E}"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1626979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A9CFB-1422-440D-B95C-F354FF151347}" type="slidenum">
              <a:rPr lang="en-US" smtClean="0"/>
              <a:t>12</a:t>
            </a:fld>
            <a:endParaRPr lang="en-US"/>
          </a:p>
        </p:txBody>
      </p:sp>
    </p:spTree>
    <p:extLst>
      <p:ext uri="{BB962C8B-B14F-4D97-AF65-F5344CB8AC3E}">
        <p14:creationId xmlns:p14="http://schemas.microsoft.com/office/powerpoint/2010/main" val="4111327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A9CFB-1422-440D-B95C-F354FF151347}" type="slidenum">
              <a:rPr lang="en-US" smtClean="0"/>
              <a:t>13</a:t>
            </a:fld>
            <a:endParaRPr lang="en-US"/>
          </a:p>
        </p:txBody>
      </p:sp>
    </p:spTree>
    <p:extLst>
      <p:ext uri="{BB962C8B-B14F-4D97-AF65-F5344CB8AC3E}">
        <p14:creationId xmlns:p14="http://schemas.microsoft.com/office/powerpoint/2010/main" val="3344958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Rectangle 16"/>
          <p:cNvSpPr/>
          <p:nvPr userDrawn="1"/>
        </p:nvSpPr>
        <p:spPr>
          <a:xfrm>
            <a:off x="0" y="0"/>
            <a:ext cx="12192000" cy="68580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p:cNvSpPr/>
          <p:nvPr userDrawn="1"/>
        </p:nvSpPr>
        <p:spPr>
          <a:xfrm>
            <a:off x="-1587" y="3523787"/>
            <a:ext cx="12195173" cy="36576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8" name="Rectangle 17"/>
          <p:cNvSpPr/>
          <p:nvPr userDrawn="1"/>
        </p:nvSpPr>
        <p:spPr>
          <a:xfrm>
            <a:off x="0" y="3523129"/>
            <a:ext cx="1950720" cy="3657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6" name="Title 1"/>
          <p:cNvSpPr>
            <a:spLocks noGrp="1"/>
          </p:cNvSpPr>
          <p:nvPr>
            <p:ph type="ctrTitle"/>
          </p:nvPr>
        </p:nvSpPr>
        <p:spPr>
          <a:xfrm>
            <a:off x="2044314" y="2798082"/>
            <a:ext cx="8103372" cy="615553"/>
          </a:xfrm>
          <a:noFill/>
        </p:spPr>
        <p:txBody>
          <a:bodyPr wrap="none" lIns="91440" tIns="0" rIns="91440" bIns="0" anchor="b">
            <a:spAutoFit/>
          </a:bodyPr>
          <a:lstStyle>
            <a:lvl1pPr algn="ctr">
              <a:defRPr sz="4000" b="1">
                <a:solidFill>
                  <a:schemeClr val="bg1"/>
                </a:solidFill>
              </a:defRPr>
            </a:lvl1pPr>
          </a:lstStyle>
          <a:p>
            <a:r>
              <a:rPr lang="en-US" dirty="0"/>
              <a:t>Click to edit Master title style</a:t>
            </a:r>
          </a:p>
        </p:txBody>
      </p:sp>
      <p:sp>
        <p:nvSpPr>
          <p:cNvPr id="39" name="Text Placeholder 38"/>
          <p:cNvSpPr>
            <a:spLocks noGrp="1"/>
          </p:cNvSpPr>
          <p:nvPr>
            <p:ph type="body" sz="quarter" idx="11" hasCustomPrompt="1"/>
          </p:nvPr>
        </p:nvSpPr>
        <p:spPr>
          <a:xfrm>
            <a:off x="3368555" y="3515231"/>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a:t>CLICK TO EDIT MASTER SUBTITLE STYLE</a:t>
            </a:r>
          </a:p>
        </p:txBody>
      </p:sp>
      <p:sp>
        <p:nvSpPr>
          <p:cNvPr id="52" name="Date Placeholder 51"/>
          <p:cNvSpPr>
            <a:spLocks noGrp="1"/>
          </p:cNvSpPr>
          <p:nvPr>
            <p:ph type="dt" sz="half" idx="12"/>
          </p:nvPr>
        </p:nvSpPr>
        <p:spPr/>
        <p:txBody>
          <a:bodyPr/>
          <a:lstStyle/>
          <a:p>
            <a:fld id="{74471169-7FF9-4162-AAF5-2F55EB6A212C}" type="datetime1">
              <a:rPr lang="en-US" smtClean="0">
                <a:solidFill>
                  <a:srgbClr val="FFFFFF">
                    <a:lumMod val="85000"/>
                  </a:srgbClr>
                </a:solidFill>
              </a:rPr>
              <a:pPr/>
              <a:t>12/9/18</a:t>
            </a:fld>
            <a:endParaRPr lang="en-US" dirty="0">
              <a:solidFill>
                <a:srgbClr val="FFFFFF">
                  <a:lumMod val="85000"/>
                </a:srgbClr>
              </a:solidFill>
            </a:endParaRPr>
          </a:p>
        </p:txBody>
      </p:sp>
      <p:sp>
        <p:nvSpPr>
          <p:cNvPr id="53" name="Footer Placeholder 52"/>
          <p:cNvSpPr>
            <a:spLocks noGrp="1"/>
          </p:cNvSpPr>
          <p:nvPr>
            <p:ph type="ftr" sz="quarter" idx="13"/>
          </p:nvPr>
        </p:nvSpPr>
        <p:spPr/>
        <p:txBody>
          <a:bodyPr/>
          <a:lstStyle/>
          <a:p>
            <a:r>
              <a:rPr lang="en-US" dirty="0">
                <a:solidFill>
                  <a:srgbClr val="FFFFFF">
                    <a:lumMod val="85000"/>
                  </a:srgbClr>
                </a:solidFill>
              </a:rPr>
              <a:t>Copyright 2018</a:t>
            </a:r>
          </a:p>
        </p:txBody>
      </p:sp>
      <p:sp>
        <p:nvSpPr>
          <p:cNvPr id="56" name="Slide Number Placeholder 55"/>
          <p:cNvSpPr>
            <a:spLocks noGrp="1"/>
          </p:cNvSpPr>
          <p:nvPr>
            <p:ph type="sldNum" sz="quarter" idx="14"/>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59" name="Rectangle 58"/>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1" name="Rectangle 60"/>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62"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70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00629"/>
            <a:ext cx="10972800" cy="4606207"/>
          </a:xfrm>
        </p:spPr>
        <p:txBody>
          <a:bodyPr>
            <a:normAutofit/>
          </a:bodyPr>
          <a:lstStyle>
            <a:lvl1pPr>
              <a:spcBef>
                <a:spcPts val="0"/>
              </a:spcBef>
              <a:spcAft>
                <a:spcPts val="1200"/>
              </a:spcAft>
              <a:buFont typeface="Arial" panose="020B0604020202020204" pitchFamily="34" charset="0"/>
              <a:buChar char="•"/>
              <a:defRPr sz="2000"/>
            </a:lvl1pPr>
            <a:lvl2pPr>
              <a:spcBef>
                <a:spcPts val="0"/>
              </a:spcBef>
              <a:spcAft>
                <a:spcPts val="1200"/>
              </a:spcAft>
              <a:defRPr sz="2000"/>
            </a:lvl2pPr>
            <a:lvl3pPr>
              <a:spcBef>
                <a:spcPts val="0"/>
              </a:spcBef>
              <a:spcAft>
                <a:spcPts val="1200"/>
              </a:spcAft>
              <a:defRPr sz="2000"/>
            </a:lvl3pPr>
            <a:lvl4pPr>
              <a:spcBef>
                <a:spcPts val="0"/>
              </a:spcBef>
              <a:spcAft>
                <a:spcPts val="1200"/>
              </a:spcAft>
              <a:defRPr sz="2000"/>
            </a:lvl4pPr>
            <a:lvl5pPr>
              <a:spcBef>
                <a:spcPts val="0"/>
              </a:spcBef>
              <a:spcAft>
                <a:spcPts val="1200"/>
              </a:spcAf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6" name="Slide Number Placeholder 5"/>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8" name="Footer Placeholder 7"/>
          <p:cNvSpPr>
            <a:spLocks noGrp="1"/>
          </p:cNvSpPr>
          <p:nvPr>
            <p:ph type="ftr" sz="quarter" idx="13"/>
          </p:nvPr>
        </p:nvSpPr>
        <p:spPr/>
        <p:txBody>
          <a:bodyPr/>
          <a:lstStyle/>
          <a:p>
            <a:r>
              <a:rPr lang="en-US" dirty="0">
                <a:solidFill>
                  <a:srgbClr val="FFFFFF">
                    <a:lumMod val="85000"/>
                  </a:srgbClr>
                </a:solidFill>
              </a:rPr>
              <a:t>Copyright 2018</a:t>
            </a:r>
          </a:p>
        </p:txBody>
      </p:sp>
      <p:sp>
        <p:nvSpPr>
          <p:cNvPr id="9" name="Title 8"/>
          <p:cNvSpPr>
            <a:spLocks noGrp="1"/>
          </p:cNvSpPr>
          <p:nvPr>
            <p:ph type="title"/>
          </p:nvPr>
        </p:nvSpPr>
        <p:spPr>
          <a:xfrm>
            <a:off x="508000" y="226971"/>
            <a:ext cx="9144000" cy="548640"/>
          </a:xfrm>
        </p:spPr>
        <p:txBody>
          <a:bodyPr/>
          <a:lstStyle/>
          <a:p>
            <a:r>
              <a:rPr lang="en-US"/>
              <a:t>Click to edit Master title style</a:t>
            </a:r>
          </a:p>
        </p:txBody>
      </p:sp>
    </p:spTree>
    <p:extLst>
      <p:ext uri="{BB962C8B-B14F-4D97-AF65-F5344CB8AC3E}">
        <p14:creationId xmlns:p14="http://schemas.microsoft.com/office/powerpoint/2010/main" val="1257489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7" name="Rectangle 36"/>
          <p:cNvSpPr/>
          <p:nvPr userDrawn="1"/>
        </p:nvSpPr>
        <p:spPr>
          <a:xfrm>
            <a:off x="0" y="0"/>
            <a:ext cx="12192000" cy="685800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2" name="Rectangle 41"/>
          <p:cNvSpPr/>
          <p:nvPr userDrawn="1"/>
        </p:nvSpPr>
        <p:spPr>
          <a:xfrm>
            <a:off x="0" y="6400800"/>
            <a:ext cx="12192000" cy="45720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Date Placeholder 9"/>
          <p:cNvSpPr>
            <a:spLocks noGrp="1"/>
          </p:cNvSpPr>
          <p:nvPr>
            <p:ph type="dt" sz="half" idx="10"/>
          </p:nvPr>
        </p:nvSpPr>
        <p:spPr/>
        <p:txBody>
          <a:bodyPr/>
          <a:lstStyle/>
          <a:p>
            <a:fld id="{2D39ECCF-E448-4891-85F5-7C39DE103572}" type="datetime1">
              <a:rPr lang="en-US" smtClean="0">
                <a:solidFill>
                  <a:srgbClr val="FFFFFF">
                    <a:lumMod val="85000"/>
                  </a:srgbClr>
                </a:solidFill>
              </a:rPr>
              <a:pPr/>
              <a:t>12/9/18</a:t>
            </a:fld>
            <a:endParaRPr lang="en-US" dirty="0">
              <a:solidFill>
                <a:srgbClr val="FFFFFF">
                  <a:lumMod val="85000"/>
                </a:srgbClr>
              </a:solidFill>
            </a:endParaRPr>
          </a:p>
        </p:txBody>
      </p:sp>
      <p:sp>
        <p:nvSpPr>
          <p:cNvPr id="11" name="Footer Placeholder 10"/>
          <p:cNvSpPr>
            <a:spLocks noGrp="1"/>
          </p:cNvSpPr>
          <p:nvPr>
            <p:ph type="ftr" sz="quarter" idx="11"/>
          </p:nvPr>
        </p:nvSpPr>
        <p:spPr/>
        <p:txBody>
          <a:bodyPr/>
          <a:lstStyle/>
          <a:p>
            <a:r>
              <a:rPr lang="en-US" dirty="0">
                <a:solidFill>
                  <a:srgbClr val="FFFFFF">
                    <a:lumMod val="85000"/>
                  </a:srgbClr>
                </a:solidFill>
              </a:rPr>
              <a:t>Copyright 2018</a:t>
            </a:r>
          </a:p>
        </p:txBody>
      </p:sp>
      <p:sp>
        <p:nvSpPr>
          <p:cNvPr id="12" name="Slide Number Placeholder 11"/>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35" name="Text Placeholder 38"/>
          <p:cNvSpPr>
            <a:spLocks noGrp="1"/>
          </p:cNvSpPr>
          <p:nvPr>
            <p:ph type="body" sz="quarter" idx="13" hasCustomPrompt="1"/>
          </p:nvPr>
        </p:nvSpPr>
        <p:spPr>
          <a:xfrm>
            <a:off x="3368555" y="3515226"/>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a:t>CLICK TO EDIT MASTER SUBTITLE STYLE</a:t>
            </a:r>
          </a:p>
        </p:txBody>
      </p:sp>
      <p:sp>
        <p:nvSpPr>
          <p:cNvPr id="36" name="Title 35"/>
          <p:cNvSpPr>
            <a:spLocks noGrp="1"/>
          </p:cNvSpPr>
          <p:nvPr>
            <p:ph type="title"/>
          </p:nvPr>
        </p:nvSpPr>
        <p:spPr>
          <a:xfrm>
            <a:off x="2044315" y="2798077"/>
            <a:ext cx="8103372" cy="615553"/>
          </a:xfrm>
          <a:noFill/>
        </p:spPr>
        <p:txBody>
          <a:bodyPr vert="horz" wrap="none" lIns="91440" tIns="0" rIns="91440" bIns="0" rtlCol="0" anchor="b">
            <a:spAutoFit/>
          </a:bodyPr>
          <a:lstStyle>
            <a:lvl1pPr>
              <a:defRPr lang="en-US" sz="4000" b="1" dirty="0">
                <a:solidFill>
                  <a:srgbClr val="252E33"/>
                </a:solidFill>
              </a:defRPr>
            </a:lvl1pPr>
          </a:lstStyle>
          <a:p>
            <a:pPr marL="0" lvl="0" algn="ctr"/>
            <a:r>
              <a:rPr lang="en-US" dirty="0"/>
              <a:t>Click to edit Master title style</a:t>
            </a:r>
          </a:p>
        </p:txBody>
      </p:sp>
      <p:sp>
        <p:nvSpPr>
          <p:cNvPr id="38" name="Rectangle 37"/>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5" name="Rectangle 44"/>
          <p:cNvSpPr/>
          <p:nvPr userDrawn="1"/>
        </p:nvSpPr>
        <p:spPr>
          <a:xfrm>
            <a:off x="0" y="548102"/>
            <a:ext cx="12192000" cy="1371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6" name="Rectangle 45"/>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44"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134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79" y="1097279"/>
            <a:ext cx="4616305" cy="4887141"/>
          </a:xfrm>
        </p:spPr>
        <p:txBody>
          <a:bodyPr/>
          <a:lstStyle>
            <a:lvl1pPr>
              <a:spcBef>
                <a:spcPts val="0"/>
              </a:spcBef>
              <a:spcAft>
                <a:spcPts val="1200"/>
              </a:spcAft>
              <a:defRPr sz="2800"/>
            </a:lvl1pPr>
            <a:lvl2pPr>
              <a:spcBef>
                <a:spcPts val="0"/>
              </a:spcBef>
              <a:spcAft>
                <a:spcPts val="1200"/>
              </a:spcAft>
              <a:defRPr sz="2400"/>
            </a:lvl2pPr>
            <a:lvl3pPr>
              <a:spcBef>
                <a:spcPts val="0"/>
              </a:spcBef>
              <a:spcAft>
                <a:spcPts val="1200"/>
              </a:spcAft>
              <a:defRPr sz="2000"/>
            </a:lvl3pPr>
            <a:lvl4pPr>
              <a:spcBef>
                <a:spcPts val="0"/>
              </a:spcBef>
              <a:spcAft>
                <a:spcPts val="1200"/>
              </a:spcAft>
              <a:defRPr sz="1800"/>
            </a:lvl4pPr>
            <a:lvl5pPr>
              <a:spcBef>
                <a:spcPts val="0"/>
              </a:spcBef>
              <a:spcAft>
                <a:spcPts val="1200"/>
              </a:spcAft>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6687" y="1097279"/>
            <a:ext cx="4616305" cy="4887141"/>
          </a:xfrm>
        </p:spPr>
        <p:txBody>
          <a:bodyPr/>
          <a:lstStyle>
            <a:lvl1pPr>
              <a:spcBef>
                <a:spcPts val="0"/>
              </a:spcBef>
              <a:spcAft>
                <a:spcPts val="1200"/>
              </a:spcAft>
              <a:defRPr sz="2800"/>
            </a:lvl1pPr>
            <a:lvl2pPr>
              <a:spcBef>
                <a:spcPts val="0"/>
              </a:spcBef>
              <a:spcAft>
                <a:spcPts val="1200"/>
              </a:spcAft>
              <a:defRPr sz="2400"/>
            </a:lvl2pPr>
            <a:lvl3pPr>
              <a:spcBef>
                <a:spcPts val="0"/>
              </a:spcBef>
              <a:spcAft>
                <a:spcPts val="1200"/>
              </a:spcAft>
              <a:defRPr sz="2000"/>
            </a:lvl3pPr>
            <a:lvl4pPr>
              <a:spcBef>
                <a:spcPts val="0"/>
              </a:spcBef>
              <a:spcAft>
                <a:spcPts val="1200"/>
              </a:spcAft>
              <a:defRPr sz="1800"/>
            </a:lvl4pPr>
            <a:lvl5pPr>
              <a:spcBef>
                <a:spcPts val="0"/>
              </a:spcBef>
              <a:spcAft>
                <a:spcPts val="1200"/>
              </a:spcAft>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a:xfrm>
            <a:off x="508000" y="210637"/>
            <a:ext cx="9144000" cy="548640"/>
          </a:xfrm>
        </p:spPr>
        <p:txBody>
          <a:bodyPr/>
          <a:lstStyle/>
          <a:p>
            <a:r>
              <a:rPr lang="en-US"/>
              <a:t>Click to edit Master title style</a:t>
            </a:r>
          </a:p>
        </p:txBody>
      </p:sp>
      <p:sp>
        <p:nvSpPr>
          <p:cNvPr id="2" name="Date Placeholder 1"/>
          <p:cNvSpPr>
            <a:spLocks noGrp="1"/>
          </p:cNvSpPr>
          <p:nvPr>
            <p:ph type="dt" sz="half" idx="10"/>
          </p:nvPr>
        </p:nvSpPr>
        <p:spPr/>
        <p:txBody>
          <a:bodyPr/>
          <a:lstStyle/>
          <a:p>
            <a:fld id="{3C0EA8C8-5AD2-49F4-90B3-EB22B878A79B}" type="datetime1">
              <a:rPr lang="en-US" smtClean="0">
                <a:solidFill>
                  <a:srgbClr val="FFFFFF">
                    <a:lumMod val="85000"/>
                  </a:srgbClr>
                </a:solidFill>
              </a:rPr>
              <a:pPr/>
              <a:t>12/9/18</a:t>
            </a:fld>
            <a:endParaRPr lang="en-US" dirty="0">
              <a:solidFill>
                <a:srgbClr val="FFFFFF">
                  <a:lumMod val="85000"/>
                </a:srgbClr>
              </a:solidFill>
            </a:endParaRPr>
          </a:p>
        </p:txBody>
      </p:sp>
      <p:sp>
        <p:nvSpPr>
          <p:cNvPr id="9" name="Footer Placeholder 8"/>
          <p:cNvSpPr>
            <a:spLocks noGrp="1"/>
          </p:cNvSpPr>
          <p:nvPr>
            <p:ph type="ftr" sz="quarter" idx="11"/>
          </p:nvPr>
        </p:nvSpPr>
        <p:spPr/>
        <p:txBody>
          <a:bodyPr/>
          <a:lstStyle/>
          <a:p>
            <a:r>
              <a:rPr lang="en-US" dirty="0">
                <a:solidFill>
                  <a:srgbClr val="FFFFFF">
                    <a:lumMod val="85000"/>
                  </a:srgbClr>
                </a:solidFill>
              </a:rPr>
              <a:t>Copyright 2018</a:t>
            </a:r>
          </a:p>
        </p:txBody>
      </p:sp>
      <p:sp>
        <p:nvSpPr>
          <p:cNvPr id="10" name="Slide Number Placeholder 9"/>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Tree>
    <p:extLst>
      <p:ext uri="{BB962C8B-B14F-4D97-AF65-F5344CB8AC3E}">
        <p14:creationId xmlns:p14="http://schemas.microsoft.com/office/powerpoint/2010/main" val="453804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275953"/>
            <a:ext cx="9144000" cy="54864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97280"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4" name="Content Placeholder 3"/>
          <p:cNvSpPr>
            <a:spLocks noGrp="1"/>
          </p:cNvSpPr>
          <p:nvPr>
            <p:ph sz="half" idx="2"/>
          </p:nvPr>
        </p:nvSpPr>
        <p:spPr>
          <a:xfrm>
            <a:off x="1092200"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6688"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6" name="Content Placeholder 5"/>
          <p:cNvSpPr>
            <a:spLocks noGrp="1"/>
          </p:cNvSpPr>
          <p:nvPr>
            <p:ph sz="quarter" idx="4"/>
          </p:nvPr>
        </p:nvSpPr>
        <p:spPr>
          <a:xfrm>
            <a:off x="6266688"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p:txBody>
          <a:bodyPr/>
          <a:lstStyle/>
          <a:p>
            <a:fld id="{42F64FB1-853A-42D0-B8BA-D3BEFE4EF875}" type="datetime1">
              <a:rPr lang="en-US" smtClean="0">
                <a:solidFill>
                  <a:srgbClr val="FFFFFF">
                    <a:lumMod val="85000"/>
                  </a:srgbClr>
                </a:solidFill>
              </a:rPr>
              <a:pPr/>
              <a:t>12/9/18</a:t>
            </a:fld>
            <a:endParaRPr lang="en-US" dirty="0">
              <a:solidFill>
                <a:srgbClr val="FFFFFF">
                  <a:lumMod val="85000"/>
                </a:srgbClr>
              </a:solidFill>
            </a:endParaRPr>
          </a:p>
        </p:txBody>
      </p:sp>
      <p:sp>
        <p:nvSpPr>
          <p:cNvPr id="11" name="Footer Placeholder 10"/>
          <p:cNvSpPr>
            <a:spLocks noGrp="1"/>
          </p:cNvSpPr>
          <p:nvPr>
            <p:ph type="ftr" sz="quarter" idx="11"/>
          </p:nvPr>
        </p:nvSpPr>
        <p:spPr/>
        <p:txBody>
          <a:bodyPr/>
          <a:lstStyle/>
          <a:p>
            <a:r>
              <a:rPr lang="en-US" dirty="0">
                <a:solidFill>
                  <a:srgbClr val="FFFFFF">
                    <a:lumMod val="85000"/>
                  </a:srgbClr>
                </a:solidFill>
              </a:rPr>
              <a:t>Copyright 2018</a:t>
            </a:r>
          </a:p>
        </p:txBody>
      </p:sp>
      <p:sp>
        <p:nvSpPr>
          <p:cNvPr id="12" name="Slide Number Placeholder 11"/>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Tree>
    <p:extLst>
      <p:ext uri="{BB962C8B-B14F-4D97-AF65-F5344CB8AC3E}">
        <p14:creationId xmlns:p14="http://schemas.microsoft.com/office/powerpoint/2010/main" val="1518394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C908BF5-AF5A-4C63-866D-EA341AAD3660}"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Footer Placeholder 3"/>
          <p:cNvSpPr>
            <a:spLocks noGrp="1"/>
          </p:cNvSpPr>
          <p:nvPr>
            <p:ph type="ftr" sz="quarter" idx="11"/>
          </p:nvPr>
        </p:nvSpPr>
        <p:spPr/>
        <p:txBody>
          <a:bodyPr/>
          <a:lstStyle/>
          <a:p>
            <a:r>
              <a:rPr lang="en-US" dirty="0">
                <a:solidFill>
                  <a:srgbClr val="FFFFFF">
                    <a:lumMod val="85000"/>
                  </a:srgbClr>
                </a:solidFill>
              </a:rPr>
              <a:t>Copyright 2018</a:t>
            </a:r>
          </a:p>
        </p:txBody>
      </p:sp>
      <p:sp>
        <p:nvSpPr>
          <p:cNvPr id="5" name="Slide Number Placeholder 4"/>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10" name="Title 9"/>
          <p:cNvSpPr>
            <a:spLocks noGrp="1"/>
          </p:cNvSpPr>
          <p:nvPr>
            <p:ph type="title"/>
          </p:nvPr>
        </p:nvSpPr>
        <p:spPr>
          <a:xfrm>
            <a:off x="508000" y="202472"/>
            <a:ext cx="9144000" cy="548640"/>
          </a:xfrm>
        </p:spPr>
        <p:txBody>
          <a:bodyPr/>
          <a:lstStyle/>
          <a:p>
            <a:r>
              <a:rPr lang="en-US"/>
              <a:t>Click to edit Master title style</a:t>
            </a:r>
          </a:p>
        </p:txBody>
      </p:sp>
    </p:spTree>
    <p:extLst>
      <p:ext uri="{BB962C8B-B14F-4D97-AF65-F5344CB8AC3E}">
        <p14:creationId xmlns:p14="http://schemas.microsoft.com/office/powerpoint/2010/main" val="3472166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CBC657AF-02FA-42B4-9821-4D56E0B3D597}" type="datetime1">
              <a:rPr lang="en-US" smtClean="0">
                <a:solidFill>
                  <a:srgbClr val="FFFFFF">
                    <a:lumMod val="85000"/>
                  </a:srgbClr>
                </a:solidFill>
              </a:rPr>
              <a:pPr/>
              <a:t>12/9/18</a:t>
            </a:fld>
            <a:endParaRPr lang="en-US" dirty="0">
              <a:solidFill>
                <a:srgbClr val="FFFFFF">
                  <a:lumMod val="85000"/>
                </a:srgbClr>
              </a:solidFill>
            </a:endParaRPr>
          </a:p>
        </p:txBody>
      </p:sp>
      <p:sp>
        <p:nvSpPr>
          <p:cNvPr id="7" name="Footer Placeholder 6"/>
          <p:cNvSpPr>
            <a:spLocks noGrp="1"/>
          </p:cNvSpPr>
          <p:nvPr>
            <p:ph type="ftr" sz="quarter" idx="11"/>
          </p:nvPr>
        </p:nvSpPr>
        <p:spPr/>
        <p:txBody>
          <a:bodyPr/>
          <a:lstStyle/>
          <a:p>
            <a:r>
              <a:rPr lang="en-US" dirty="0">
                <a:solidFill>
                  <a:srgbClr val="FFFFFF">
                    <a:lumMod val="85000"/>
                  </a:srgbClr>
                </a:solidFill>
              </a:rPr>
              <a:t>Copyright 2018</a:t>
            </a:r>
          </a:p>
        </p:txBody>
      </p:sp>
      <p:sp>
        <p:nvSpPr>
          <p:cNvPr id="8" name="Slide Number Placeholder 7"/>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9" name="Rectangle 8"/>
          <p:cNvSpPr/>
          <p:nvPr userDrawn="1"/>
        </p:nvSpPr>
        <p:spPr>
          <a:xfrm>
            <a:off x="270933" y="927100"/>
            <a:ext cx="10769600" cy="12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Tree>
    <p:extLst>
      <p:ext uri="{BB962C8B-B14F-4D97-AF65-F5344CB8AC3E}">
        <p14:creationId xmlns:p14="http://schemas.microsoft.com/office/powerpoint/2010/main" val="3786643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6400800"/>
            <a:ext cx="12192000" cy="4572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Placeholder 1"/>
          <p:cNvSpPr>
            <a:spLocks noGrp="1"/>
          </p:cNvSpPr>
          <p:nvPr>
            <p:ph type="title"/>
          </p:nvPr>
        </p:nvSpPr>
        <p:spPr>
          <a:xfrm>
            <a:off x="508000" y="365759"/>
            <a:ext cx="9144000" cy="54864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097280" y="1100629"/>
            <a:ext cx="10027920" cy="44592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2401" y="6440697"/>
            <a:ext cx="748090" cy="184666"/>
          </a:xfrm>
          <a:prstGeom prst="rect">
            <a:avLst/>
          </a:prstGeom>
        </p:spPr>
        <p:txBody>
          <a:bodyPr vert="horz" wrap="none" lIns="0" tIns="0" rIns="0" bIns="0" rtlCol="0" anchor="ctr">
            <a:spAutoFit/>
          </a:bodyPr>
          <a:lstStyle>
            <a:lvl1pPr algn="l">
              <a:defRPr sz="1200">
                <a:solidFill>
                  <a:schemeClr val="bg1">
                    <a:lumMod val="85000"/>
                  </a:schemeClr>
                </a:solidFill>
              </a:defRPr>
            </a:lvl1pPr>
          </a:lstStyle>
          <a:p>
            <a:fld id="{28E75A4E-68D6-4075-9320-A2429A7D7075}" type="datetime1">
              <a:rPr lang="en-US" smtClean="0">
                <a:solidFill>
                  <a:srgbClr val="FFFFFF">
                    <a:lumMod val="85000"/>
                  </a:srgbClr>
                </a:solidFill>
              </a:rPr>
              <a:pPr/>
              <a:t>12/9/18</a:t>
            </a:fld>
            <a:endParaRPr lang="en-US" dirty="0">
              <a:solidFill>
                <a:srgbClr val="FFFFFF">
                  <a:lumMod val="85000"/>
                </a:srgbClr>
              </a:solidFill>
            </a:endParaRPr>
          </a:p>
        </p:txBody>
      </p:sp>
      <p:sp>
        <p:nvSpPr>
          <p:cNvPr id="6" name="Slide Number Placeholder 5"/>
          <p:cNvSpPr>
            <a:spLocks noGrp="1"/>
          </p:cNvSpPr>
          <p:nvPr>
            <p:ph type="sldNum" sz="quarter" idx="4"/>
          </p:nvPr>
        </p:nvSpPr>
        <p:spPr>
          <a:xfrm>
            <a:off x="11772063" y="6440697"/>
            <a:ext cx="157094" cy="184666"/>
          </a:xfrm>
          <a:prstGeom prst="rect">
            <a:avLst/>
          </a:prstGeom>
          <a:ln w="19050">
            <a:noFill/>
          </a:ln>
        </p:spPr>
        <p:txBody>
          <a:bodyPr vert="horz" wrap="none" lIns="0" tIns="0" rIns="0" bIns="0" rtlCol="0" anchor="ctr">
            <a:spAutoFit/>
          </a:bodyPr>
          <a:lstStyle>
            <a:lvl1pPr algn="ctr">
              <a:defRPr sz="1200">
                <a:solidFill>
                  <a:schemeClr val="bg1">
                    <a:lumMod val="85000"/>
                  </a:schemeClr>
                </a:solidFill>
              </a:defRPr>
            </a:lvl1p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pic>
        <p:nvPicPr>
          <p:cNvPr id="1027" name="Picture 3" descr="C:\Users\rou6\Documents\1_ILLUSTRATION\STA ppt\guild\BAGuild_Logo_LightBG.png"/>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t="-1" b="-2867"/>
          <a:stretch/>
        </p:blipFill>
        <p:spPr bwMode="auto">
          <a:xfrm>
            <a:off x="3962400" y="5969852"/>
            <a:ext cx="4267200" cy="43094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rou6\Documents\1_ILLUSTRATION\STA ppt\guild\BAGuild_Badge_NoLetters.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033760" y="304053"/>
            <a:ext cx="853440" cy="686872"/>
          </a:xfrm>
          <a:prstGeom prst="rect">
            <a:avLst/>
          </a:prstGeom>
          <a:noFill/>
          <a:extLst>
            <a:ext uri="{909E8E84-426E-40DD-AFC4-6F175D3DCCD1}">
              <a14:hiddenFill xmlns:a14="http://schemas.microsoft.com/office/drawing/2010/main">
                <a:solidFill>
                  <a:srgbClr val="FFFFFF"/>
                </a:solidFill>
              </a14:hiddenFill>
            </a:ext>
          </a:extLst>
        </p:spPr>
      </p:pic>
      <p:sp>
        <p:nvSpPr>
          <p:cNvPr id="16" name="Footer Placeholder 4"/>
          <p:cNvSpPr>
            <a:spLocks noGrp="1"/>
          </p:cNvSpPr>
          <p:nvPr>
            <p:ph type="ftr" sz="quarter" idx="3"/>
          </p:nvPr>
        </p:nvSpPr>
        <p:spPr>
          <a:xfrm>
            <a:off x="2946400" y="6395870"/>
            <a:ext cx="6299200" cy="274320"/>
          </a:xfrm>
          <a:prstGeom prst="rect">
            <a:avLst/>
          </a:prstGeom>
        </p:spPr>
        <p:txBody>
          <a:bodyPr/>
          <a:lstStyle>
            <a:lvl1pPr algn="ctr">
              <a:defRPr sz="1100">
                <a:solidFill>
                  <a:schemeClr val="bg1">
                    <a:lumMod val="85000"/>
                  </a:schemeClr>
                </a:solidFill>
              </a:defRPr>
            </a:lvl1pPr>
          </a:lstStyle>
          <a:p>
            <a:r>
              <a:rPr lang="en-US" dirty="0">
                <a:solidFill>
                  <a:srgbClr val="FFFFFF">
                    <a:lumMod val="85000"/>
                  </a:srgbClr>
                </a:solidFill>
              </a:rPr>
              <a:t>Copyright 2018</a:t>
            </a:r>
          </a:p>
        </p:txBody>
      </p:sp>
      <p:sp>
        <p:nvSpPr>
          <p:cNvPr id="12" name="Rectangle 11"/>
          <p:cNvSpPr/>
          <p:nvPr userDrawn="1"/>
        </p:nvSpPr>
        <p:spPr>
          <a:xfrm>
            <a:off x="304800" y="958850"/>
            <a:ext cx="11582400" cy="27432"/>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Tree>
    <p:extLst>
      <p:ext uri="{BB962C8B-B14F-4D97-AF65-F5344CB8AC3E}">
        <p14:creationId xmlns:p14="http://schemas.microsoft.com/office/powerpoint/2010/main" val="20410396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omments" Target="../comments/comment8.xml"/></Relationships>
</file>

<file path=ppt/slides/_rels/slide13.xml.rels><?xml version="1.0" encoding="UTF-8" standalone="yes"?>
<Relationships xmlns="http://schemas.openxmlformats.org/package/2006/relationships"><Relationship Id="rId8" Type="http://schemas.openxmlformats.org/officeDocument/2006/relationships/hyperlink" Target="http://www.businessdictionary.com/definition/goal.html" TargetMode="External"/><Relationship Id="rId13" Type="http://schemas.openxmlformats.org/officeDocument/2006/relationships/hyperlink" Target="http://www.businessdictionary.com/definition/accounting.html" TargetMode="External"/><Relationship Id="rId18" Type="http://schemas.openxmlformats.org/officeDocument/2006/relationships/hyperlink" Target="http://www.businessdictionary.com/definition/organizational-chart.html" TargetMode="External"/><Relationship Id="rId3" Type="http://schemas.openxmlformats.org/officeDocument/2006/relationships/image" Target="../media/image14.emf"/><Relationship Id="rId21" Type="http://schemas.openxmlformats.org/officeDocument/2006/relationships/hyperlink" Target="http://www.businessdictionary.com/definition/department.html" TargetMode="External"/><Relationship Id="rId7" Type="http://schemas.openxmlformats.org/officeDocument/2006/relationships/hyperlink" Target="http://www.businessdictionary.com/definition/need.html" TargetMode="External"/><Relationship Id="rId12" Type="http://schemas.openxmlformats.org/officeDocument/2006/relationships/hyperlink" Target="http://www.businessdictionary.com/definition/company.html" TargetMode="External"/><Relationship Id="rId17" Type="http://schemas.openxmlformats.org/officeDocument/2006/relationships/hyperlink" Target="http://www.businessdictionary.com/definition/definite.html" TargetMode="External"/><Relationship Id="rId25" Type="http://schemas.openxmlformats.org/officeDocument/2006/relationships/comments" Target="../comments/comment9.xml"/><Relationship Id="rId2" Type="http://schemas.openxmlformats.org/officeDocument/2006/relationships/notesSlide" Target="../notesSlides/notesSlide3.xml"/><Relationship Id="rId16" Type="http://schemas.openxmlformats.org/officeDocument/2006/relationships/hyperlink" Target="http://www.businessdictionary.com/definition/business-function.html" TargetMode="External"/><Relationship Id="rId20" Type="http://schemas.openxmlformats.org/officeDocument/2006/relationships/hyperlink" Target="http://www.businessdictionary.com/definition/manager.html" TargetMode="External"/><Relationship Id="rId1" Type="http://schemas.openxmlformats.org/officeDocument/2006/relationships/slideLayout" Target="../slideLayouts/slideLayout2.xml"/><Relationship Id="rId6" Type="http://schemas.openxmlformats.org/officeDocument/2006/relationships/hyperlink" Target="http://www.investorwords.com/10302/meet.html" TargetMode="External"/><Relationship Id="rId11" Type="http://schemas.openxmlformats.org/officeDocument/2006/relationships/hyperlink" Target="http://www.businessdictionary.com/definition/segment.html" TargetMode="External"/><Relationship Id="rId24" Type="http://schemas.openxmlformats.org/officeDocument/2006/relationships/hyperlink" Target="http://www.businessdictionary.com/" TargetMode="External"/><Relationship Id="rId5" Type="http://schemas.openxmlformats.org/officeDocument/2006/relationships/hyperlink" Target="http://www.businessdictionary.com/definition/structured.html" TargetMode="External"/><Relationship Id="rId15" Type="http://schemas.openxmlformats.org/officeDocument/2006/relationships/hyperlink" Target="http://www.businessdictionary.com/definition/marketing.html" TargetMode="External"/><Relationship Id="rId23" Type="http://schemas.openxmlformats.org/officeDocument/2006/relationships/hyperlink" Target="http://www.businessdictionary.com/definition/functional-area.html" TargetMode="External"/><Relationship Id="rId10" Type="http://schemas.openxmlformats.org/officeDocument/2006/relationships/hyperlink" Target="http://www.businessdictionary.com/definition/element.html" TargetMode="External"/><Relationship Id="rId19" Type="http://schemas.openxmlformats.org/officeDocument/2006/relationships/hyperlink" Target="http://www.businessdictionary.com/definition/domain.html" TargetMode="External"/><Relationship Id="rId4" Type="http://schemas.openxmlformats.org/officeDocument/2006/relationships/hyperlink" Target="http://www.businessdictionary.com/definition/unit.html" TargetMode="External"/><Relationship Id="rId9" Type="http://schemas.openxmlformats.org/officeDocument/2006/relationships/hyperlink" Target="http://www.businessdictionary.com/definition/continuing.html" TargetMode="External"/><Relationship Id="rId14" Type="http://schemas.openxmlformats.org/officeDocument/2006/relationships/hyperlink" Target="http://www.businessdictionary.com/definition/production.html" TargetMode="External"/><Relationship Id="rId22" Type="http://schemas.openxmlformats.org/officeDocument/2006/relationships/hyperlink" Target="http://www.businessdictionary.com/definition/division.html" TargetMode="External"/></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10.xml"/><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11.xml"/><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12.xml"/><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omments" Target="../comments/comment13.xml"/><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omments" Target="../comments/comment14.xml"/><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omments" Target="../comments/comment15.xml"/><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omments" Target="../comments/comment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omments" Target="../comments/comment17.xml"/><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omg.org/spec/SMM/About-SMM/" TargetMode="External"/><Relationship Id="rId13" Type="http://schemas.openxmlformats.org/officeDocument/2006/relationships/comments" Target="../comments/comment18.xml"/><Relationship Id="rId3" Type="http://schemas.openxmlformats.org/officeDocument/2006/relationships/hyperlink" Target="http://www.businessarchitectureguild.org/?page=002" TargetMode="External"/><Relationship Id="rId7" Type="http://schemas.openxmlformats.org/officeDocument/2006/relationships/hyperlink" Target="http://c.ymcdn.com/sites/www.businessarchitectureguild.org/resource/resmgr/docs/putting_business_into_busine.pdf" TargetMode="External"/><Relationship Id="rId12" Type="http://schemas.openxmlformats.org/officeDocument/2006/relationships/hyperlink" Target="https://www.omg.org/spec/DMN/About-DMN/" TargetMode="External"/><Relationship Id="rId2" Type="http://schemas.openxmlformats.org/officeDocument/2006/relationships/hyperlink" Target="http://www.businessarchitectureguild.org/" TargetMode="External"/><Relationship Id="rId1" Type="http://schemas.openxmlformats.org/officeDocument/2006/relationships/slideLayout" Target="../slideLayouts/slideLayout2.xml"/><Relationship Id="rId6" Type="http://schemas.openxmlformats.org/officeDocument/2006/relationships/hyperlink" Target="http://feapo.org/members/" TargetMode="External"/><Relationship Id="rId11" Type="http://schemas.openxmlformats.org/officeDocument/2006/relationships/hyperlink" Target="https://www.omg.org/spec/CMMN/1.0/About-CMMN/" TargetMode="External"/><Relationship Id="rId5" Type="http://schemas.openxmlformats.org/officeDocument/2006/relationships/hyperlink" Target="http://feapo.org/wp-content/uploads/2018/05/Taxonomy-The-Federation-of-Enterprise-Architecture-Definitions-.pdf" TargetMode="External"/><Relationship Id="rId10" Type="http://schemas.openxmlformats.org/officeDocument/2006/relationships/hyperlink" Target="http://www.omg.org/bpmn/" TargetMode="External"/><Relationship Id="rId4" Type="http://schemas.openxmlformats.org/officeDocument/2006/relationships/hyperlink" Target="http://www.feapo.org/" TargetMode="External"/><Relationship Id="rId9" Type="http://schemas.openxmlformats.org/officeDocument/2006/relationships/hyperlink" Target="https://cdn.ymaws.com/www.businessarchitectureguild.org/resource/resmgr/homann_article_on_capabiliti.pdf" TargetMode="External"/></Relationships>
</file>

<file path=ppt/slides/_rels/slide23.xml.rels><?xml version="1.0" encoding="UTF-8" standalone="yes"?>
<Relationships xmlns="http://schemas.openxmlformats.org/package/2006/relationships"><Relationship Id="rId2" Type="http://schemas.openxmlformats.org/officeDocument/2006/relationships/comments" Target="../comments/comment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omments" Target="../comments/comment20.xml"/><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omments" Target="../comments/comment21.xml"/><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omments" Target="../comments/comment22.xml"/><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omments" Target="../comments/comment23.xml"/><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omments" Target="../comments/comment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8932" y="2137683"/>
            <a:ext cx="10020821" cy="1107996"/>
          </a:xfrm>
        </p:spPr>
        <p:txBody>
          <a:bodyPr wrap="square"/>
          <a:lstStyle/>
          <a:p>
            <a:r>
              <a:rPr lang="en-US" sz="3600" dirty="0"/>
              <a:t>Business Architecture CORE Metamodel Submission Walkthrough</a:t>
            </a:r>
          </a:p>
        </p:txBody>
      </p:sp>
      <p:sp>
        <p:nvSpPr>
          <p:cNvPr id="5" name="Text Placeholder 4"/>
          <p:cNvSpPr>
            <a:spLocks noGrp="1"/>
          </p:cNvSpPr>
          <p:nvPr>
            <p:ph type="body" sz="quarter" idx="11"/>
          </p:nvPr>
        </p:nvSpPr>
        <p:spPr>
          <a:xfrm>
            <a:off x="5091913" y="3515231"/>
            <a:ext cx="2008243" cy="369332"/>
          </a:xfrm>
        </p:spPr>
        <p:txBody>
          <a:bodyPr/>
          <a:lstStyle/>
          <a:p>
            <a:r>
              <a:rPr lang="en-US" dirty="0"/>
              <a:t>June18, 2018</a:t>
            </a:r>
          </a:p>
        </p:txBody>
      </p:sp>
      <p:sp>
        <p:nvSpPr>
          <p:cNvPr id="6" name="Content Placeholder 1"/>
          <p:cNvSpPr txBox="1">
            <a:spLocks/>
          </p:cNvSpPr>
          <p:nvPr/>
        </p:nvSpPr>
        <p:spPr>
          <a:xfrm>
            <a:off x="2131255" y="4264297"/>
            <a:ext cx="8229600" cy="2058127"/>
          </a:xfrm>
          <a:prstGeom prst="rect">
            <a:avLst/>
          </a:prstGeom>
        </p:spPr>
        <p:txBody>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lgn="ctr">
              <a:spcBef>
                <a:spcPts val="600"/>
              </a:spcBef>
            </a:pPr>
            <a:r>
              <a:rPr lang="en-US" sz="1400" dirty="0">
                <a:solidFill>
                  <a:srgbClr val="FFFFFF"/>
                </a:solidFill>
              </a:rPr>
              <a:t>Benchmark Consulting</a:t>
            </a:r>
          </a:p>
          <a:p>
            <a:pPr algn="ctr">
              <a:spcBef>
                <a:spcPts val="600"/>
              </a:spcBef>
            </a:pPr>
            <a:r>
              <a:rPr lang="en-US" sz="1400" dirty="0">
                <a:solidFill>
                  <a:srgbClr val="FFFFFF"/>
                </a:solidFill>
              </a:rPr>
              <a:t>Business Architecture Guild</a:t>
            </a:r>
          </a:p>
          <a:p>
            <a:pPr algn="ctr">
              <a:spcBef>
                <a:spcPts val="600"/>
              </a:spcBef>
            </a:pPr>
            <a:r>
              <a:rPr lang="en-US" sz="1400" dirty="0">
                <a:solidFill>
                  <a:srgbClr val="FFFFFF"/>
                </a:solidFill>
              </a:rPr>
              <a:t>Capsifi</a:t>
            </a:r>
          </a:p>
          <a:p>
            <a:pPr algn="ctr">
              <a:spcBef>
                <a:spcPts val="600"/>
              </a:spcBef>
            </a:pPr>
            <a:r>
              <a:rPr lang="en-US" sz="1400" dirty="0">
                <a:solidFill>
                  <a:srgbClr val="FFFFFF"/>
                </a:solidFill>
              </a:rPr>
              <a:t>Holocentric</a:t>
            </a:r>
          </a:p>
          <a:p>
            <a:pPr algn="ctr">
              <a:spcBef>
                <a:spcPts val="600"/>
              </a:spcBef>
            </a:pPr>
            <a:r>
              <a:rPr lang="en-US" sz="1400" dirty="0">
                <a:solidFill>
                  <a:srgbClr val="FFFFFF"/>
                </a:solidFill>
              </a:rPr>
              <a:t>TSG, Inc. </a:t>
            </a:r>
          </a:p>
          <a:p>
            <a:pPr algn="ctr">
              <a:spcBef>
                <a:spcPts val="600"/>
              </a:spcBef>
            </a:pPr>
            <a:r>
              <a:rPr lang="en-US" sz="1400" dirty="0">
                <a:solidFill>
                  <a:srgbClr val="FFFFFF"/>
                </a:solidFill>
              </a:rPr>
              <a:t>-------------------</a:t>
            </a:r>
          </a:p>
          <a:p>
            <a:pPr algn="ctr">
              <a:spcBef>
                <a:spcPts val="600"/>
              </a:spcBef>
            </a:pPr>
            <a:r>
              <a:rPr lang="en-US" sz="1400" dirty="0">
                <a:solidFill>
                  <a:srgbClr val="FFFFFF"/>
                </a:solidFill>
              </a:rPr>
              <a:t>And a cast of supporters</a:t>
            </a:r>
          </a:p>
        </p:txBody>
      </p:sp>
    </p:spTree>
    <p:extLst>
      <p:ext uri="{BB962C8B-B14F-4D97-AF65-F5344CB8AC3E}">
        <p14:creationId xmlns:p14="http://schemas.microsoft.com/office/powerpoint/2010/main" val="1692143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92480" y="978709"/>
            <a:ext cx="10779760" cy="4975051"/>
          </a:xfrm>
        </p:spPr>
        <p:txBody>
          <a:bodyPr>
            <a:normAutofit fontScale="92500" lnSpcReduction="10000"/>
          </a:bodyPr>
          <a:lstStyle/>
          <a:p>
            <a:r>
              <a:rPr lang="en-US" dirty="0"/>
              <a:t>RFP Summary of Request</a:t>
            </a:r>
          </a:p>
          <a:p>
            <a:r>
              <a:rPr lang="en-US" dirty="0"/>
              <a:t>RFP Examples</a:t>
            </a:r>
            <a:r>
              <a:rPr lang="en-US" baseline="0" dirty="0"/>
              <a:t>: Business Interactions Enabled</a:t>
            </a:r>
            <a:endParaRPr lang="en-US" dirty="0"/>
          </a:p>
          <a:p>
            <a:r>
              <a:rPr lang="en-US" dirty="0"/>
              <a:t>BACM Metamodel Overview</a:t>
            </a:r>
          </a:p>
          <a:p>
            <a:r>
              <a:rPr lang="en-US" baseline="0" dirty="0"/>
              <a:t>RFP</a:t>
            </a:r>
            <a:r>
              <a:rPr lang="en-US" dirty="0"/>
              <a:t> Evaluation Criteria</a:t>
            </a:r>
          </a:p>
          <a:p>
            <a:r>
              <a:rPr lang="en-US" dirty="0"/>
              <a:t>BACM &amp; Base Packages </a:t>
            </a:r>
          </a:p>
          <a:p>
            <a:r>
              <a:rPr lang="en-US" baseline="0" dirty="0"/>
              <a:t>Individual Packages (normative)</a:t>
            </a:r>
          </a:p>
          <a:p>
            <a:pPr lvl="2"/>
            <a:r>
              <a:rPr lang="en-US" sz="1800" dirty="0"/>
              <a:t>Core business architecture domains</a:t>
            </a:r>
          </a:p>
          <a:p>
            <a:pPr lvl="2"/>
            <a:r>
              <a:rPr lang="en-US" sz="1800" baseline="0" dirty="0"/>
              <a:t>Extended</a:t>
            </a:r>
            <a:r>
              <a:rPr lang="en-US" sz="1800" dirty="0"/>
              <a:t> business architecture domains</a:t>
            </a:r>
          </a:p>
          <a:p>
            <a:pPr lvl="2"/>
            <a:r>
              <a:rPr lang="en-US" sz="1800" dirty="0"/>
              <a:t>Normative alignment to business requirements</a:t>
            </a:r>
          </a:p>
          <a:p>
            <a:r>
              <a:rPr lang="en-US" baseline="0" dirty="0"/>
              <a:t>Alignment Guidelines (non-normative)</a:t>
            </a:r>
          </a:p>
          <a:p>
            <a:pPr lvl="2"/>
            <a:r>
              <a:rPr lang="en-US" sz="1800" dirty="0"/>
              <a:t>Alignment package</a:t>
            </a:r>
          </a:p>
          <a:p>
            <a:pPr lvl="2"/>
            <a:r>
              <a:rPr lang="en-US" sz="1800" baseline="0" dirty="0"/>
              <a:t>Alignment to related standards</a:t>
            </a:r>
            <a:r>
              <a:rPr lang="en-US" sz="1800" dirty="0"/>
              <a:t> </a:t>
            </a:r>
            <a:endParaRPr lang="en-US" sz="1800" baseline="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 Review Topics</a:t>
            </a:r>
          </a:p>
        </p:txBody>
      </p:sp>
    </p:spTree>
    <p:extLst>
      <p:ext uri="{BB962C8B-B14F-4D97-AF65-F5344CB8AC3E}">
        <p14:creationId xmlns:p14="http://schemas.microsoft.com/office/powerpoint/2010/main" val="1237935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7016" y="989045"/>
            <a:ext cx="9239188" cy="4990115"/>
          </a:xfrm>
        </p:spPr>
        <p:txBody>
          <a:bodyPr>
            <a:noAutofit/>
          </a:bodyPr>
          <a:lstStyle/>
          <a:p>
            <a:pPr lvl="1">
              <a:spcAft>
                <a:spcPts val="600"/>
              </a:spcAft>
            </a:pPr>
            <a:r>
              <a:rPr lang="en-US" sz="1600" dirty="0"/>
              <a:t>BACM RFP requested a BACM submission for a standard metamodel specification for the practice of business architecture</a:t>
            </a:r>
          </a:p>
          <a:p>
            <a:pPr lvl="1">
              <a:spcAft>
                <a:spcPts val="600"/>
              </a:spcAft>
            </a:pPr>
            <a:r>
              <a:rPr lang="en-US" sz="1600" dirty="0"/>
              <a:t>BACM submission will incent vendors to: </a:t>
            </a:r>
          </a:p>
          <a:p>
            <a:pPr lvl="2">
              <a:spcAft>
                <a:spcPts val="600"/>
              </a:spcAft>
            </a:pPr>
            <a:r>
              <a:rPr lang="en-US" sz="1400" dirty="0"/>
              <a:t>Create tools to support the practice of business architecture</a:t>
            </a:r>
          </a:p>
          <a:p>
            <a:pPr lvl="2">
              <a:spcAft>
                <a:spcPts val="600"/>
              </a:spcAft>
            </a:pPr>
            <a:r>
              <a:rPr lang="en-US" sz="1400" dirty="0"/>
              <a:t>Promote the interchange of business architecture models between tools</a:t>
            </a:r>
          </a:p>
          <a:p>
            <a:pPr lvl="2">
              <a:spcAft>
                <a:spcPts val="600"/>
              </a:spcAft>
            </a:pPr>
            <a:r>
              <a:rPr lang="en-US" sz="1400" dirty="0"/>
              <a:t>Improve the consistency of the practice of business architecture </a:t>
            </a:r>
          </a:p>
          <a:p>
            <a:pPr lvl="2">
              <a:spcAft>
                <a:spcPts val="600"/>
              </a:spcAft>
            </a:pPr>
            <a:r>
              <a:rPr lang="en-US" sz="1400" dirty="0"/>
              <a:t>Enhance repeatability of business analysis results based on business architecture </a:t>
            </a:r>
          </a:p>
          <a:p>
            <a:pPr lvl="1">
              <a:spcAft>
                <a:spcPts val="600"/>
              </a:spcAft>
            </a:pPr>
            <a:r>
              <a:rPr lang="en-US" sz="1600" dirty="0"/>
              <a:t>Scope of BACM submission should include:</a:t>
            </a:r>
          </a:p>
          <a:p>
            <a:pPr lvl="2">
              <a:spcAft>
                <a:spcPts val="600"/>
              </a:spcAft>
            </a:pPr>
            <a:r>
              <a:rPr lang="en-US" sz="1400" dirty="0"/>
              <a:t>“Capability” as a core concept that enables other perspectives to be linked together</a:t>
            </a:r>
          </a:p>
          <a:p>
            <a:pPr lvl="2">
              <a:spcAft>
                <a:spcPts val="600"/>
              </a:spcAft>
            </a:pPr>
            <a:r>
              <a:rPr lang="en-US" sz="1400" dirty="0"/>
              <a:t>Sufficient number of perspectives to allow the creation of adequate business architecture models </a:t>
            </a:r>
          </a:p>
          <a:p>
            <a:pPr lvl="2">
              <a:spcAft>
                <a:spcPts val="600"/>
              </a:spcAft>
            </a:pPr>
            <a:r>
              <a:rPr lang="en-US" sz="1400" dirty="0"/>
              <a:t>Recommended non-mandatory value, information and organization perspectives</a:t>
            </a:r>
          </a:p>
          <a:p>
            <a:pPr lvl="2">
              <a:spcAft>
                <a:spcPts val="600"/>
              </a:spcAft>
            </a:pPr>
            <a:r>
              <a:rPr lang="en-US" sz="1400" dirty="0"/>
              <a:t>Touchpoints that provide usage context as crafted by the submission team</a:t>
            </a:r>
          </a:p>
          <a:p>
            <a:pPr lvl="2">
              <a:spcAft>
                <a:spcPts val="600"/>
              </a:spcAft>
            </a:pPr>
            <a:r>
              <a:rPr lang="en-US" sz="1400" dirty="0"/>
              <a:t>Alignment to related standards</a:t>
            </a:r>
          </a:p>
          <a:p>
            <a:pPr lvl="1">
              <a:spcAft>
                <a:spcPts val="600"/>
              </a:spcAft>
            </a:pPr>
            <a:r>
              <a:rPr lang="en-US" sz="1600" dirty="0">
                <a:solidFill>
                  <a:srgbClr val="FF0000"/>
                </a:solidFill>
              </a:rPr>
              <a:t>Overview of changes made for Revised BACM Submission</a:t>
            </a:r>
          </a:p>
          <a:p>
            <a:pPr lvl="2">
              <a:spcAft>
                <a:spcPts val="600"/>
              </a:spcAft>
            </a:pPr>
            <a:r>
              <a:rPr lang="en-US" sz="1400" dirty="0">
                <a:solidFill>
                  <a:srgbClr val="FF0000"/>
                </a:solidFill>
              </a:rPr>
              <a:t>Clarification on relationships and concepts in the core package for </a:t>
            </a:r>
            <a:r>
              <a:rPr lang="en-US" sz="1400" dirty="0" err="1">
                <a:solidFill>
                  <a:srgbClr val="FF0000"/>
                </a:solidFill>
              </a:rPr>
              <a:t>Capaibility</a:t>
            </a:r>
            <a:endParaRPr lang="en-US" sz="1400" dirty="0">
              <a:solidFill>
                <a:srgbClr val="FF0000"/>
              </a:solidFill>
            </a:endParaRPr>
          </a:p>
          <a:p>
            <a:pPr lvl="2">
              <a:spcAft>
                <a:spcPts val="600"/>
              </a:spcAft>
            </a:pPr>
            <a:r>
              <a:rPr lang="en-US" sz="1400" dirty="0">
                <a:solidFill>
                  <a:srgbClr val="FF0000"/>
                </a:solidFill>
              </a:rPr>
              <a:t>Clarification on relationships and concepts in the peripheral packages, particularly as related to Value and Strategy</a:t>
            </a:r>
          </a:p>
          <a:p>
            <a:pPr lvl="2">
              <a:spcAft>
                <a:spcPts val="600"/>
              </a:spcAft>
            </a:pPr>
            <a:r>
              <a:rPr lang="en-US" sz="1400" dirty="0">
                <a:solidFill>
                  <a:srgbClr val="FF0000"/>
                </a:solidFill>
              </a:rPr>
              <a:t>Added in material describing alignment with UAF</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RFP Request Summary</a:t>
            </a:r>
          </a:p>
        </p:txBody>
      </p:sp>
      <p:pic>
        <p:nvPicPr>
          <p:cNvPr id="1026" name="Picture 3"/>
          <p:cNvPicPr>
            <a:picLocks noChangeAspect="1" noChangeArrowheads="1"/>
          </p:cNvPicPr>
          <p:nvPr/>
        </p:nvPicPr>
        <p:blipFill>
          <a:blip r:embed="rId2" cstate="print">
            <a:lum contrast="40000"/>
            <a:extLst>
              <a:ext uri="{28A0092B-C50C-407E-A947-70E740481C1C}">
                <a14:useLocalDpi xmlns:a14="http://schemas.microsoft.com/office/drawing/2010/main" val="0"/>
              </a:ext>
            </a:extLst>
          </a:blip>
          <a:srcRect/>
          <a:stretch>
            <a:fillRect/>
          </a:stretch>
        </p:blipFill>
        <p:spPr bwMode="auto">
          <a:xfrm>
            <a:off x="8262552" y="1260669"/>
            <a:ext cx="3843973" cy="365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9831863" y="4666916"/>
            <a:ext cx="2053637" cy="600164"/>
          </a:xfrm>
          <a:prstGeom prst="rect">
            <a:avLst/>
          </a:prstGeom>
          <a:noFill/>
        </p:spPr>
        <p:txBody>
          <a:bodyPr wrap="square" rtlCol="0">
            <a:spAutoFit/>
          </a:bodyPr>
          <a:lstStyle/>
          <a:p>
            <a:pPr algn="r"/>
            <a:r>
              <a:rPr lang="en-US" sz="1100" b="1" dirty="0"/>
              <a:t>RFP Figure 1:</a:t>
            </a:r>
          </a:p>
          <a:p>
            <a:pPr algn="r"/>
            <a:r>
              <a:rPr lang="en-US" sz="1100" b="1" dirty="0"/>
              <a:t>Capability Oriented Business Perspective</a:t>
            </a:r>
            <a:endParaRPr lang="en-US" sz="1100" dirty="0"/>
          </a:p>
        </p:txBody>
      </p:sp>
      <p:sp>
        <p:nvSpPr>
          <p:cNvPr id="7" name="Oval 6"/>
          <p:cNvSpPr/>
          <p:nvPr/>
        </p:nvSpPr>
        <p:spPr>
          <a:xfrm>
            <a:off x="9790300" y="2744272"/>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049773" y="2066979"/>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9278552" y="1397550"/>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566350" y="2066979"/>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8336680" y="2934286"/>
            <a:ext cx="817886" cy="667787"/>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8816265" y="3781225"/>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10814984" y="3767552"/>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1236663" y="2945340"/>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9805942" y="4137398"/>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0336370" y="1414607"/>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711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5517" y="1111934"/>
            <a:ext cx="4587074" cy="4932327"/>
          </a:xfrm>
        </p:spPr>
        <p:txBody>
          <a:bodyPr>
            <a:normAutofit/>
          </a:bodyPr>
          <a:lstStyle/>
          <a:p>
            <a:pPr>
              <a:spcAft>
                <a:spcPts val="1800"/>
              </a:spcAft>
            </a:pPr>
            <a:r>
              <a:rPr lang="en-US" sz="1600" b="0" dirty="0"/>
              <a:t>Summary level BACM view </a:t>
            </a:r>
          </a:p>
          <a:p>
            <a:pPr>
              <a:spcAft>
                <a:spcPts val="1800"/>
              </a:spcAft>
            </a:pPr>
            <a:r>
              <a:rPr lang="en-US" sz="1600" b="0" dirty="0"/>
              <a:t>Depicts core and extended domains and associations</a:t>
            </a:r>
          </a:p>
          <a:p>
            <a:pPr>
              <a:spcAft>
                <a:spcPts val="1800"/>
              </a:spcAft>
            </a:pPr>
            <a:r>
              <a:rPr lang="en-US" sz="1600" b="0" dirty="0"/>
              <a:t>Color coding represents being part of the same package</a:t>
            </a:r>
          </a:p>
          <a:p>
            <a:pPr>
              <a:spcAft>
                <a:spcPts val="1800"/>
              </a:spcAft>
            </a:pPr>
            <a:r>
              <a:rPr lang="en-US" sz="1600" b="0" dirty="0"/>
              <a:t>This high-level perspective is not part of submission</a:t>
            </a:r>
          </a:p>
          <a:p>
            <a:pPr>
              <a:spcAft>
                <a:spcPts val="1800"/>
              </a:spcAft>
            </a:pPr>
            <a:r>
              <a:rPr lang="en-US" sz="1600" b="0" dirty="0"/>
              <a:t>This perspective is aligned to the BIZBOK® Guide’s principles and best practices as defined by the Business Architecture Guild</a:t>
            </a:r>
          </a:p>
          <a:p>
            <a:pPr>
              <a:spcAft>
                <a:spcPts val="1800"/>
              </a:spcAft>
            </a:pPr>
            <a:r>
              <a:rPr lang="en-US" sz="1600" b="0" dirty="0"/>
              <a:t>BA Guild’s BIZBOK® Guide represents the collective knowledge and best practices of a global community of close to 3000 member practitioners</a:t>
            </a:r>
          </a:p>
          <a:p>
            <a:pPr>
              <a:spcAft>
                <a:spcPts val="1800"/>
              </a:spcAft>
            </a:pPr>
            <a:endParaRPr lang="en-US" sz="1600"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Summary Perspective </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361" t="1879" b="3046"/>
          <a:stretch/>
        </p:blipFill>
        <p:spPr>
          <a:xfrm>
            <a:off x="4871628" y="986701"/>
            <a:ext cx="6541036" cy="5066270"/>
          </a:xfrm>
          <a:prstGeom prst="rect">
            <a:avLst/>
          </a:prstGeom>
        </p:spPr>
      </p:pic>
      <p:sp>
        <p:nvSpPr>
          <p:cNvPr id="8" name="TextBox 7"/>
          <p:cNvSpPr txBox="1"/>
          <p:nvPr/>
        </p:nvSpPr>
        <p:spPr>
          <a:xfrm>
            <a:off x="8602483" y="5959822"/>
            <a:ext cx="3326674" cy="430887"/>
          </a:xfrm>
          <a:prstGeom prst="rect">
            <a:avLst/>
          </a:prstGeom>
          <a:noFill/>
        </p:spPr>
        <p:txBody>
          <a:bodyPr wrap="square" rtlCol="0">
            <a:spAutoFit/>
          </a:bodyPr>
          <a:lstStyle/>
          <a:p>
            <a:r>
              <a:rPr lang="en-US" sz="1100" b="1" dirty="0"/>
              <a:t>Source: A Guide to the Business Architecture Body of Knowledge® (BIZBOK® Guide), v7.0</a:t>
            </a:r>
          </a:p>
        </p:txBody>
      </p:sp>
    </p:spTree>
    <p:extLst>
      <p:ext uri="{BB962C8B-B14F-4D97-AF65-F5344CB8AC3E}">
        <p14:creationId xmlns:p14="http://schemas.microsoft.com/office/powerpoint/2010/main" val="2912472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spcAft>
                <a:spcPts val="1800"/>
              </a:spcAft>
              <a:buFont typeface="+mj-lt"/>
              <a:buAutoNum type="arabicPeriod"/>
            </a:pPr>
            <a:r>
              <a:rPr lang="en-US" sz="1800" b="1" kern="1200" dirty="0">
                <a:solidFill>
                  <a:schemeClr val="tx1"/>
                </a:solidFill>
                <a:effectLst/>
                <a:latin typeface="+mn-lt"/>
                <a:ea typeface="+mn-ea"/>
                <a:cs typeface="+mn-cs"/>
              </a:rPr>
              <a:t>Submissions shall meet the mandatory requirements (section 6.5)</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Submissions will be evaluated based on the degree to which they meet optional requirements (section 6.6), </a:t>
            </a:r>
            <a:r>
              <a:rPr lang="en-US" sz="1800" dirty="0"/>
              <a:t>where encouraged optional </a:t>
            </a:r>
            <a:r>
              <a:rPr lang="en-US" sz="1800" b="1" kern="1200" dirty="0">
                <a:solidFill>
                  <a:schemeClr val="tx1"/>
                </a:solidFill>
                <a:effectLst/>
                <a:latin typeface="+mn-lt"/>
                <a:ea typeface="+mn-ea"/>
                <a:cs typeface="+mn-cs"/>
              </a:rPr>
              <a:t>content is evaluated higher than other optional content</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Submissions will be evaluated on the linkages between concepts in the </a:t>
            </a:r>
            <a:r>
              <a:rPr lang="en-US" sz="1800" b="1" kern="1200" dirty="0" err="1">
                <a:solidFill>
                  <a:schemeClr val="tx1"/>
                </a:solidFill>
                <a:effectLst/>
                <a:latin typeface="+mn-lt"/>
                <a:ea typeface="+mn-ea"/>
                <a:cs typeface="+mn-cs"/>
              </a:rPr>
              <a:t>metamodels</a:t>
            </a:r>
            <a:r>
              <a:rPr lang="en-US" sz="1800" b="1" kern="1200" dirty="0">
                <a:solidFill>
                  <a:schemeClr val="tx1"/>
                </a:solidFill>
                <a:effectLst/>
                <a:latin typeface="+mn-lt"/>
                <a:ea typeface="+mn-ea"/>
                <a:cs typeface="+mn-cs"/>
              </a:rPr>
              <a:t> and the adequacy of these linkages to express important business relationships</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Submitted mechanisms for model alignment will be evaluated on semantic completeness and precision and its ability to support model integration</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Submitters are required to provide information in their submissions showing that the concepts in their submissions are based on concepts found in business publications and practices</a:t>
            </a:r>
          </a:p>
          <a:p>
            <a:pPr marL="457200" indent="-457200">
              <a:spcAft>
                <a:spcPts val="1800"/>
              </a:spcAft>
              <a:buFont typeface="+mj-lt"/>
              <a:buAutoNum type="arabicPeriod"/>
            </a:pPr>
            <a:r>
              <a:rPr lang="en-US" sz="1800" b="1" kern="1200" dirty="0">
                <a:solidFill>
                  <a:schemeClr val="tx1"/>
                </a:solidFill>
                <a:effectLst/>
                <a:latin typeface="+mn-lt"/>
                <a:ea typeface="+mn-ea"/>
                <a:cs typeface="+mn-cs"/>
              </a:rPr>
              <a:t>Submissions will be evaluated on the quality and completeness of the discussions on alignment with business relevant OMG standard </a:t>
            </a:r>
            <a:r>
              <a:rPr lang="en-US" sz="1800" b="1" kern="1200" dirty="0" err="1">
                <a:solidFill>
                  <a:schemeClr val="tx1"/>
                </a:solidFill>
                <a:effectLst/>
                <a:latin typeface="+mn-lt"/>
                <a:ea typeface="+mn-ea"/>
                <a:cs typeface="+mn-cs"/>
              </a:rPr>
              <a:t>metamodels</a:t>
            </a:r>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a:t>
            </a:r>
            <a:r>
              <a:rPr lang="en-US" baseline="0" dirty="0"/>
              <a:t> Evaluation Criteria</a:t>
            </a:r>
            <a:endParaRPr lang="en-US" dirty="0"/>
          </a:p>
        </p:txBody>
      </p:sp>
    </p:spTree>
    <p:extLst>
      <p:ext uri="{BB962C8B-B14F-4D97-AF65-F5344CB8AC3E}">
        <p14:creationId xmlns:p14="http://schemas.microsoft.com/office/powerpoint/2010/main" val="2620751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970061"/>
            <a:ext cx="10972800" cy="5281433"/>
          </a:xfrm>
        </p:spPr>
        <p:txBody>
          <a:bodyPr>
            <a:noAutofit/>
          </a:bodyPr>
          <a:lstStyle/>
          <a:p>
            <a:pPr>
              <a:spcAft>
                <a:spcPts val="800"/>
              </a:spcAft>
            </a:pPr>
            <a:r>
              <a:rPr lang="en-US" sz="1400" dirty="0"/>
              <a:t>Capability perspective</a:t>
            </a:r>
          </a:p>
          <a:p>
            <a:pPr lvl="2">
              <a:spcAft>
                <a:spcPts val="800"/>
              </a:spcAft>
            </a:pPr>
            <a:r>
              <a:rPr lang="en-US" sz="1400" dirty="0"/>
              <a:t>BACM submission leverages industry standard definition of capability as baseline for BACM (1, 2, 3)</a:t>
            </a:r>
          </a:p>
          <a:p>
            <a:pPr lvl="2">
              <a:spcAft>
                <a:spcPts val="800"/>
              </a:spcAft>
            </a:pPr>
            <a:r>
              <a:rPr lang="en-US" sz="1400" dirty="0"/>
              <a:t>Capability (and related affects) package includes capability concept and instance, outcome and behavioral concepts (2)</a:t>
            </a:r>
          </a:p>
          <a:p>
            <a:pPr lvl="2">
              <a:spcAft>
                <a:spcPts val="800"/>
              </a:spcAft>
            </a:pPr>
            <a:r>
              <a:rPr lang="en-US" sz="1400" dirty="0"/>
              <a:t>Capability aligned to business object perspective via affects package</a:t>
            </a:r>
          </a:p>
          <a:p>
            <a:pPr>
              <a:spcAft>
                <a:spcPts val="800"/>
              </a:spcAft>
            </a:pPr>
            <a:r>
              <a:rPr lang="en-US" sz="1400" dirty="0"/>
              <a:t>Glossary</a:t>
            </a:r>
          </a:p>
          <a:p>
            <a:pPr lvl="2">
              <a:spcAft>
                <a:spcPts val="800"/>
              </a:spcAft>
            </a:pPr>
            <a:r>
              <a:rPr lang="en-US" sz="1400" dirty="0"/>
              <a:t>BACM includes sourced glossary of terms used in submission for all aspects of the metamodel</a:t>
            </a:r>
          </a:p>
          <a:p>
            <a:pPr lvl="2">
              <a:spcAft>
                <a:spcPts val="800"/>
              </a:spcAft>
            </a:pPr>
            <a:r>
              <a:rPr lang="en-US" sz="1400" dirty="0"/>
              <a:t>Term definitions are sourced to original vocabulary source or to the BIZBOK® Guide (2)</a:t>
            </a:r>
          </a:p>
          <a:p>
            <a:pPr>
              <a:spcAft>
                <a:spcPts val="800"/>
              </a:spcAft>
            </a:pPr>
            <a:r>
              <a:rPr lang="en-US" sz="1400" dirty="0"/>
              <a:t>Touchpoint specification mechanism</a:t>
            </a:r>
          </a:p>
          <a:p>
            <a:pPr lvl="2">
              <a:spcAft>
                <a:spcPts val="800"/>
              </a:spcAft>
            </a:pPr>
            <a:r>
              <a:rPr lang="en-US" sz="1400" dirty="0"/>
              <a:t>BACM specifies a model integration mechanism to address touchpoint alignment and model integration </a:t>
            </a:r>
            <a:r>
              <a:rPr lang="en-US" sz="1400" dirty="0">
                <a:solidFill>
                  <a:srgbClr val="FF0000"/>
                </a:solidFill>
              </a:rPr>
              <a:t>(e.g., BPMN, CMMN, DMN)</a:t>
            </a:r>
          </a:p>
          <a:p>
            <a:pPr>
              <a:spcAft>
                <a:spcPts val="800"/>
              </a:spcAft>
            </a:pPr>
            <a:r>
              <a:rPr lang="en-US" sz="1400" dirty="0"/>
              <a:t>Distinguishing Business Architecture elements from similar-named elements in external models</a:t>
            </a:r>
          </a:p>
          <a:p>
            <a:pPr lvl="2">
              <a:spcAft>
                <a:spcPts val="800"/>
              </a:spcAft>
            </a:pPr>
            <a:r>
              <a:rPr lang="en-US" sz="1400" dirty="0"/>
              <a:t>BACM / BMM alignment package aligns terminology for strategy</a:t>
            </a:r>
          </a:p>
          <a:p>
            <a:pPr lvl="2">
              <a:spcAft>
                <a:spcPts val="800"/>
              </a:spcAft>
            </a:pPr>
            <a:r>
              <a:rPr lang="en-US" sz="1400" dirty="0"/>
              <a:t>BACM / TOGAF alignment package aligns terminology for capability usage</a:t>
            </a:r>
          </a:p>
          <a:p>
            <a:pPr lvl="2">
              <a:spcAft>
                <a:spcPts val="800"/>
              </a:spcAft>
            </a:pPr>
            <a:r>
              <a:rPr lang="en-US" sz="1400" dirty="0"/>
              <a:t>BACM / VDML alignment packages align value and capability terminology</a:t>
            </a:r>
          </a:p>
          <a:p>
            <a:pPr lvl="2">
              <a:spcAft>
                <a:spcPts val="800"/>
              </a:spcAft>
            </a:pPr>
            <a:r>
              <a:rPr lang="en-US" sz="1400" strike="sngStrike" dirty="0">
                <a:solidFill>
                  <a:srgbClr val="FF0000"/>
                </a:solidFill>
              </a:rPr>
              <a:t>Additional alignment </a:t>
            </a:r>
            <a:r>
              <a:rPr lang="en-US" sz="1400" dirty="0">
                <a:solidFill>
                  <a:srgbClr val="FF0000"/>
                </a:solidFill>
              </a:rPr>
              <a:t>BACM / UAF</a:t>
            </a:r>
            <a:endParaRPr lang="en-US" sz="1400" strike="sngStrike" dirty="0">
              <a:solidFill>
                <a:srgbClr val="FF0000"/>
              </a:solidFill>
            </a:endParaRPr>
          </a:p>
          <a:p>
            <a:pPr marL="9144" lvl="1" indent="0">
              <a:spcAft>
                <a:spcPts val="600"/>
              </a:spcAft>
              <a:buNone/>
            </a:pPr>
            <a:r>
              <a:rPr lang="en-US" sz="1000" dirty="0"/>
              <a:t>(1) Business Architecture Quick Guide, MK Press, ISBN 0-929652-60-6</a:t>
            </a:r>
          </a:p>
          <a:p>
            <a:pPr marL="9144" lvl="1" indent="0">
              <a:spcAft>
                <a:spcPts val="600"/>
              </a:spcAft>
              <a:buNone/>
            </a:pPr>
            <a:r>
              <a:rPr lang="en-US" sz="1000" dirty="0"/>
              <a:t>(2) A Guide to the Business Architecture Body of Knowledge® (BIZBOK® Guide), Section 2.2, Business Architecture Guild</a:t>
            </a:r>
          </a:p>
          <a:p>
            <a:pPr marL="9144" lvl="1" indent="0">
              <a:spcAft>
                <a:spcPts val="600"/>
              </a:spcAft>
              <a:buNone/>
            </a:pPr>
            <a:r>
              <a:rPr lang="en-US" sz="1000" dirty="0"/>
              <a:t>(3) Open Group Guide, Business Capability, ISBN 1-937218-72-0</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6</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a:t>
            </a:r>
            <a:r>
              <a:rPr lang="en-US" dirty="0"/>
              <a:t> Evaluation</a:t>
            </a:r>
            <a:r>
              <a:rPr lang="en-US" baseline="0" dirty="0"/>
              <a:t> Criteria #1: Mandatory Requirements</a:t>
            </a:r>
            <a:endParaRPr lang="en-US" dirty="0"/>
          </a:p>
        </p:txBody>
      </p:sp>
    </p:spTree>
    <p:extLst>
      <p:ext uri="{BB962C8B-B14F-4D97-AF65-F5344CB8AC3E}">
        <p14:creationId xmlns:p14="http://schemas.microsoft.com/office/powerpoint/2010/main" val="237373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7</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 Summary Package</a:t>
            </a:r>
          </a:p>
        </p:txBody>
      </p:sp>
      <p:pic>
        <p:nvPicPr>
          <p:cNvPr id="8" name="Picture 7"/>
          <p:cNvPicPr/>
          <p:nvPr/>
        </p:nvPicPr>
        <p:blipFill rotWithShape="1">
          <a:blip r:embed="rId2">
            <a:extLst>
              <a:ext uri="{28A0092B-C50C-407E-A947-70E740481C1C}">
                <a14:useLocalDpi xmlns:a14="http://schemas.microsoft.com/office/drawing/2010/main" val="0"/>
              </a:ext>
            </a:extLst>
          </a:blip>
          <a:srcRect b="30226"/>
          <a:stretch/>
        </p:blipFill>
        <p:spPr bwMode="auto">
          <a:xfrm>
            <a:off x="6475412" y="958799"/>
            <a:ext cx="5616575" cy="5177682"/>
          </a:xfrm>
          <a:prstGeom prst="rect">
            <a:avLst/>
          </a:prstGeom>
          <a:noFill/>
          <a:ln>
            <a:noFill/>
          </a:ln>
          <a:extLst>
            <a:ext uri="{53640926-AAD7-44D8-BBD7-CCE9431645EC}">
              <a14:shadowObscured xmlns:a14="http://schemas.microsoft.com/office/drawing/2010/main"/>
            </a:ext>
          </a:extLst>
        </p:spPr>
      </p:pic>
      <p:pic>
        <p:nvPicPr>
          <p:cNvPr id="9" name="Picture 8"/>
          <p:cNvPicPr/>
          <p:nvPr/>
        </p:nvPicPr>
        <p:blipFill rotWithShape="1">
          <a:blip r:embed="rId2">
            <a:extLst>
              <a:ext uri="{28A0092B-C50C-407E-A947-70E740481C1C}">
                <a14:useLocalDpi xmlns:a14="http://schemas.microsoft.com/office/drawing/2010/main" val="0"/>
              </a:ext>
            </a:extLst>
          </a:blip>
          <a:srcRect b="2897"/>
          <a:stretch/>
        </p:blipFill>
        <p:spPr bwMode="auto">
          <a:xfrm>
            <a:off x="288926" y="960621"/>
            <a:ext cx="4283074" cy="5406674"/>
          </a:xfrm>
          <a:prstGeom prst="rect">
            <a:avLst/>
          </a:prstGeom>
          <a:noFill/>
          <a:ln>
            <a:noFill/>
          </a:ln>
          <a:extLst>
            <a:ext uri="{53640926-AAD7-44D8-BBD7-CCE9431645EC}">
              <a14:shadowObscured xmlns:a14="http://schemas.microsoft.com/office/drawing/2010/main"/>
            </a:ext>
          </a:extLst>
        </p:spPr>
      </p:pic>
      <p:sp>
        <p:nvSpPr>
          <p:cNvPr id="10" name="Right Brace 9"/>
          <p:cNvSpPr/>
          <p:nvPr/>
        </p:nvSpPr>
        <p:spPr>
          <a:xfrm>
            <a:off x="4365078" y="1000839"/>
            <a:ext cx="683173" cy="3737026"/>
          </a:xfrm>
          <a:prstGeom prst="rightBrace">
            <a:avLst>
              <a:gd name="adj1" fmla="val 8333"/>
              <a:gd name="adj2" fmla="val 49490"/>
            </a:avLst>
          </a:prstGeom>
          <a:ln w="254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Arrow Connector 11"/>
          <p:cNvCxnSpPr>
            <a:stCxn id="10" idx="1"/>
          </p:cNvCxnSpPr>
          <p:nvPr/>
        </p:nvCxnSpPr>
        <p:spPr>
          <a:xfrm>
            <a:off x="5048251" y="2850293"/>
            <a:ext cx="1598611" cy="40052"/>
          </a:xfrm>
          <a:prstGeom prst="straightConnector1">
            <a:avLst/>
          </a:prstGeom>
          <a:ln w="317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1"/>
          <p:cNvSpPr>
            <a:spLocks noGrp="1"/>
          </p:cNvSpPr>
          <p:nvPr>
            <p:ph idx="1"/>
          </p:nvPr>
        </p:nvSpPr>
        <p:spPr>
          <a:xfrm rot="16200000">
            <a:off x="2705485" y="2273685"/>
            <a:ext cx="4158339" cy="685940"/>
          </a:xfrm>
        </p:spPr>
        <p:txBody>
          <a:bodyPr>
            <a:noAutofit/>
          </a:bodyPr>
          <a:lstStyle/>
          <a:p>
            <a:pPr marL="0" indent="0">
              <a:lnSpc>
                <a:spcPct val="120000"/>
              </a:lnSpc>
              <a:spcAft>
                <a:spcPts val="600"/>
              </a:spcAft>
              <a:buNone/>
            </a:pPr>
            <a:r>
              <a:rPr lang="en-US" sz="1200" dirty="0"/>
              <a:t>Core and extended business architecture perspectives</a:t>
            </a:r>
          </a:p>
        </p:txBody>
      </p:sp>
      <p:sp>
        <p:nvSpPr>
          <p:cNvPr id="13" name="Content Placeholder 1"/>
          <p:cNvSpPr txBox="1">
            <a:spLocks/>
          </p:cNvSpPr>
          <p:nvPr/>
        </p:nvSpPr>
        <p:spPr>
          <a:xfrm>
            <a:off x="5155247" y="2616655"/>
            <a:ext cx="1320165" cy="397823"/>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nSpc>
                <a:spcPct val="120000"/>
              </a:lnSpc>
              <a:spcAft>
                <a:spcPts val="600"/>
              </a:spcAft>
              <a:buFont typeface="Arial" panose="020B0604020202020204" pitchFamily="34" charset="0"/>
              <a:buNone/>
            </a:pPr>
            <a:r>
              <a:rPr lang="en-US" sz="1200" dirty="0"/>
              <a:t>Expanded view</a:t>
            </a:r>
          </a:p>
        </p:txBody>
      </p:sp>
    </p:spTree>
    <p:extLst>
      <p:ext uri="{BB962C8B-B14F-4D97-AF65-F5344CB8AC3E}">
        <p14:creationId xmlns:p14="http://schemas.microsoft.com/office/powerpoint/2010/main" val="2920991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17773" y="3604661"/>
            <a:ext cx="5323102" cy="1919328"/>
          </a:xfrm>
        </p:spPr>
        <p:txBody>
          <a:bodyPr>
            <a:normAutofit/>
          </a:bodyPr>
          <a:lstStyle/>
          <a:p>
            <a:pPr marL="0" indent="0">
              <a:spcAft>
                <a:spcPts val="600"/>
              </a:spcAft>
              <a:buNone/>
            </a:pPr>
            <a:r>
              <a:rPr lang="en-US" sz="1400" u="sng" dirty="0"/>
              <a:t>Capability Package </a:t>
            </a:r>
            <a:r>
              <a:rPr lang="en-US" sz="1400" dirty="0"/>
              <a:t>&amp; </a:t>
            </a:r>
            <a:r>
              <a:rPr lang="en-US" sz="1400" u="sng" dirty="0"/>
              <a:t>Affects Package</a:t>
            </a:r>
          </a:p>
          <a:p>
            <a:pPr>
              <a:spcAft>
                <a:spcPts val="600"/>
              </a:spcAft>
              <a:buFontTx/>
              <a:buChar char="-"/>
            </a:pPr>
            <a:r>
              <a:rPr lang="en-US" sz="1400" dirty="0"/>
              <a:t>Capability and decomposition / composed of relationship</a:t>
            </a:r>
          </a:p>
          <a:p>
            <a:pPr>
              <a:spcAft>
                <a:spcPts val="600"/>
              </a:spcAft>
              <a:buFontTx/>
              <a:buChar char="-"/>
            </a:pPr>
            <a:r>
              <a:rPr lang="en-US" sz="1400" dirty="0"/>
              <a:t>Capability instances realized across an organization</a:t>
            </a:r>
          </a:p>
          <a:p>
            <a:pPr>
              <a:spcAft>
                <a:spcPts val="600"/>
              </a:spcAft>
              <a:buFontTx/>
              <a:buChar char="-"/>
            </a:pPr>
            <a:r>
              <a:rPr lang="en-US" sz="1400" dirty="0"/>
              <a:t>Capability outcomes produced and needed</a:t>
            </a:r>
          </a:p>
          <a:p>
            <a:pPr>
              <a:spcAft>
                <a:spcPts val="600"/>
              </a:spcAft>
              <a:buFontTx/>
              <a:buChar char="-"/>
            </a:pPr>
            <a:r>
              <a:rPr lang="en-US" sz="1400" dirty="0"/>
              <a:t>Affect on outcomes related to business objects</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8</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a:t>
            </a:r>
            <a:r>
              <a:rPr lang="en-US" baseline="0" dirty="0"/>
              <a:t> Capability Package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3580"/>
          <a:stretch/>
        </p:blipFill>
        <p:spPr bwMode="auto">
          <a:xfrm>
            <a:off x="533401" y="931647"/>
            <a:ext cx="5457824" cy="5151204"/>
          </a:xfrm>
          <a:prstGeom prst="rect">
            <a:avLst/>
          </a:prstGeom>
          <a:noFill/>
          <a:ln>
            <a:noFill/>
          </a:ln>
          <a:extLst>
            <a:ext uri="{53640926-AAD7-44D8-BBD7-CCE9431645EC}">
              <a14:shadowObscured xmlns:a14="http://schemas.microsoft.com/office/drawing/2010/main"/>
            </a:ext>
          </a:extLst>
        </p:spPr>
      </p:pic>
      <p:pic>
        <p:nvPicPr>
          <p:cNvPr id="9" name="Picture 8"/>
          <p:cNvPicPr/>
          <p:nvPr/>
        </p:nvPicPr>
        <p:blipFill rotWithShape="1">
          <a:blip r:embed="rId3">
            <a:extLst>
              <a:ext uri="{28A0092B-C50C-407E-A947-70E740481C1C}">
                <a14:useLocalDpi xmlns:a14="http://schemas.microsoft.com/office/drawing/2010/main" val="0"/>
              </a:ext>
            </a:extLst>
          </a:blip>
          <a:srcRect b="4462"/>
          <a:stretch/>
        </p:blipFill>
        <p:spPr bwMode="auto">
          <a:xfrm>
            <a:off x="7243492" y="1368750"/>
            <a:ext cx="4495165" cy="3519170"/>
          </a:xfrm>
          <a:prstGeom prst="rect">
            <a:avLst/>
          </a:prstGeom>
          <a:noFill/>
          <a:ln>
            <a:noFill/>
          </a:ln>
          <a:extLst>
            <a:ext uri="{53640926-AAD7-44D8-BBD7-CCE9431645EC}">
              <a14:shadowObscured xmlns:a14="http://schemas.microsoft.com/office/drawing/2010/main"/>
            </a:ext>
          </a:extLst>
        </p:spPr>
      </p:pic>
      <p:cxnSp>
        <p:nvCxnSpPr>
          <p:cNvPr id="10" name="Straight Arrow Connector 9"/>
          <p:cNvCxnSpPr/>
          <p:nvPr/>
        </p:nvCxnSpPr>
        <p:spPr>
          <a:xfrm flipV="1">
            <a:off x="6655242" y="2833455"/>
            <a:ext cx="1494845" cy="874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3598680" y="3308978"/>
            <a:ext cx="1073426" cy="413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453183" y="5010307"/>
            <a:ext cx="6096000" cy="1083374"/>
          </a:xfrm>
          <a:prstGeom prst="rect">
            <a:avLst/>
          </a:prstGeom>
        </p:spPr>
        <p:txBody>
          <a:bodyPr>
            <a:spAutoFit/>
          </a:bodyPr>
          <a:lstStyle/>
          <a:p>
            <a:pPr algn="just">
              <a:lnSpc>
                <a:spcPct val="115000"/>
              </a:lnSpc>
            </a:pPr>
            <a:r>
              <a:rPr lang="en-US" sz="800" b="1" dirty="0">
                <a:solidFill>
                  <a:srgbClr val="4F81BD"/>
                </a:solidFill>
                <a:latin typeface="Arial" panose="020B0604020202020204" pitchFamily="34" charset="0"/>
                <a:ea typeface="Times New Roman" panose="02020603050405020304" pitchFamily="18" charset="0"/>
                <a:cs typeface="Arial" panose="020B0604020202020204" pitchFamily="34" charset="0"/>
              </a:rPr>
              <a:t>Capability</a:t>
            </a:r>
          </a:p>
          <a:p>
            <a:pPr algn="just">
              <a:lnSpc>
                <a:spcPct val="115000"/>
              </a:lnSpc>
            </a:pPr>
            <a:r>
              <a:rPr lang="en-US" sz="800" dirty="0">
                <a:latin typeface="Arial" panose="020B0604020202020204" pitchFamily="34" charset="0"/>
                <a:ea typeface="Calibri" panose="020F0502020204030204" pitchFamily="34" charset="0"/>
                <a:cs typeface="Arial" panose="020B0604020202020204" pitchFamily="34" charset="0"/>
              </a:rPr>
              <a:t>A particular ability or capacity that a business may possess or exchange to achieve a specific purpose or outcome. </a:t>
            </a:r>
          </a:p>
          <a:p>
            <a:pPr algn="just">
              <a:lnSpc>
                <a:spcPct val="115000"/>
              </a:lnSpc>
            </a:pPr>
            <a:r>
              <a:rPr lang="en-US" sz="800" i="1" dirty="0">
                <a:latin typeface="Arial" panose="020B0604020202020204" pitchFamily="34" charset="0"/>
                <a:ea typeface="Calibri" panose="020F0502020204030204" pitchFamily="34" charset="0"/>
                <a:cs typeface="Arial" panose="020B0604020202020204" pitchFamily="34" charset="0"/>
              </a:rPr>
              <a:t>Source:</a:t>
            </a:r>
            <a:r>
              <a:rPr lang="en-US" sz="800" dirty="0">
                <a:latin typeface="Arial" panose="020B0604020202020204" pitchFamily="34" charset="0"/>
                <a:ea typeface="Calibri" panose="020F0502020204030204" pitchFamily="34" charset="0"/>
                <a:cs typeface="Arial" panose="020B0604020202020204" pitchFamily="34" charset="0"/>
              </a:rPr>
              <a:t> Ulrich </a:t>
            </a:r>
            <a:r>
              <a:rPr lang="en-US" sz="800" dirty="0" err="1">
                <a:latin typeface="Arial" panose="020B0604020202020204" pitchFamily="34" charset="0"/>
                <a:ea typeface="Calibri" panose="020F0502020204030204" pitchFamily="34" charset="0"/>
                <a:cs typeface="Arial" panose="020B0604020202020204" pitchFamily="34" charset="0"/>
              </a:rPr>
              <a:t>Homann</a:t>
            </a:r>
            <a:r>
              <a:rPr lang="en-US" sz="800" dirty="0">
                <a:latin typeface="Arial" panose="020B0604020202020204" pitchFamily="34" charset="0"/>
                <a:ea typeface="Calibri" panose="020F0502020204030204" pitchFamily="34" charset="0"/>
                <a:cs typeface="Arial" panose="020B0604020202020204" pitchFamily="34" charset="0"/>
              </a:rPr>
              <a:t>, “A Business-Oriented Foundation for Service Orientation”, 2006.</a:t>
            </a:r>
          </a:p>
          <a:p>
            <a:pPr algn="just">
              <a:lnSpc>
                <a:spcPct val="115000"/>
              </a:lnSpc>
            </a:pPr>
            <a:endParaRPr lang="en-US" sz="800"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800" b="1" dirty="0">
                <a:solidFill>
                  <a:srgbClr val="4F81BD"/>
                </a:solidFill>
                <a:latin typeface="Arial" panose="020B0604020202020204" pitchFamily="34" charset="0"/>
                <a:ea typeface="Times New Roman" panose="02020603050405020304" pitchFamily="18" charset="0"/>
                <a:cs typeface="Arial" panose="020B0604020202020204" pitchFamily="34" charset="0"/>
              </a:rPr>
              <a:t>Capability Instance</a:t>
            </a:r>
          </a:p>
          <a:p>
            <a:pPr algn="just">
              <a:lnSpc>
                <a:spcPct val="115000"/>
              </a:lnSpc>
            </a:pPr>
            <a:r>
              <a:rPr lang="en-US" sz="800" dirty="0">
                <a:latin typeface="Arial" panose="020B0604020202020204" pitchFamily="34" charset="0"/>
                <a:cs typeface="Arial" panose="020B0604020202020204" pitchFamily="34" charset="0"/>
              </a:rPr>
              <a:t>A specific realization of a capability, as it exists or is envisioned to exist, in the context of a given business unit, value stream stage, or other situational context.</a:t>
            </a:r>
            <a:endParaRPr lang="en-US" sz="800" dirty="0">
              <a:effectLst/>
              <a:latin typeface="Arial" panose="020B0604020202020204" pitchFamily="34" charset="0"/>
              <a:ea typeface="Calibri" panose="020F0502020204030204" pitchFamily="34" charset="0"/>
              <a:cs typeface="Arial" panose="020B0604020202020204" pitchFamily="34" charset="0"/>
            </a:endParaRPr>
          </a:p>
        </p:txBody>
      </p:sp>
      <p:sp>
        <p:nvSpPr>
          <p:cNvPr id="13" name="Rectangle 12"/>
          <p:cNvSpPr/>
          <p:nvPr/>
        </p:nvSpPr>
        <p:spPr>
          <a:xfrm>
            <a:off x="8150087" y="6026351"/>
            <a:ext cx="3916457" cy="200055"/>
          </a:xfrm>
          <a:prstGeom prst="rect">
            <a:avLst/>
          </a:prstGeom>
        </p:spPr>
        <p:txBody>
          <a:bodyPr wrap="none">
            <a:spAutoFit/>
          </a:bodyPr>
          <a:lstStyle/>
          <a:p>
            <a:r>
              <a:rPr lang="en-US" sz="700" i="1" dirty="0">
                <a:latin typeface="Arial" panose="020B0604020202020204" pitchFamily="34" charset="0"/>
                <a:cs typeface="Arial" panose="020B0604020202020204" pitchFamily="34" charset="0"/>
              </a:rPr>
              <a:t>Unless otherwise noted, all definitions sourced: BIZBOK® Guide, Business Architecture Guild </a:t>
            </a:r>
          </a:p>
        </p:txBody>
      </p:sp>
    </p:spTree>
    <p:extLst>
      <p:ext uri="{BB962C8B-B14F-4D97-AF65-F5344CB8AC3E}">
        <p14:creationId xmlns:p14="http://schemas.microsoft.com/office/powerpoint/2010/main" val="492022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80240" y="1269532"/>
            <a:ext cx="5922923" cy="2654577"/>
          </a:xfrm>
        </p:spPr>
        <p:txBody>
          <a:bodyPr>
            <a:noAutofit/>
          </a:bodyPr>
          <a:lstStyle/>
          <a:p>
            <a:r>
              <a:rPr lang="en-US" sz="1400" dirty="0">
                <a:solidFill>
                  <a:srgbClr val="0070C0"/>
                </a:solidFill>
              </a:rPr>
              <a:t>Business Object Package defines an overall pattern that describes the structural relationships that any specific Business Object has in any of the specific conceptual packages in which it participates</a:t>
            </a:r>
          </a:p>
          <a:p>
            <a:r>
              <a:rPr lang="en-US" sz="1400" dirty="0">
                <a:solidFill>
                  <a:srgbClr val="0070C0"/>
                </a:solidFill>
              </a:rPr>
              <a:t>Role Element Class – itself a Business Object – makes explicit the underlying relationships between specific Business Objects in any of the conceptual packages in which those Business Objects participate</a:t>
            </a:r>
          </a:p>
          <a:p>
            <a:r>
              <a:rPr lang="en-US" sz="1400" dirty="0">
                <a:solidFill>
                  <a:srgbClr val="0070C0"/>
                </a:solidFill>
              </a:rPr>
              <a:t>Structural relationships in the Business Object Package provide a tuple template for unambiguously interpreting the content in the conceptual packages as sets of semantic triples (albeit in MOF form)</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9</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a:t>
            </a:r>
            <a:r>
              <a:rPr lang="en-US" baseline="0" dirty="0"/>
              <a:t> Business Object Package</a:t>
            </a:r>
            <a:endParaRPr lang="en-US" dirty="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826190" y="1687926"/>
            <a:ext cx="5269810" cy="2804561"/>
          </a:xfrm>
          <a:prstGeom prst="rect">
            <a:avLst/>
          </a:prstGeom>
          <a:noFill/>
          <a:ln>
            <a:noFill/>
          </a:ln>
        </p:spPr>
      </p:pic>
    </p:spTree>
    <p:extLst>
      <p:ext uri="{BB962C8B-B14F-4D97-AF65-F5344CB8AC3E}">
        <p14:creationId xmlns:p14="http://schemas.microsoft.com/office/powerpoint/2010/main" val="37370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1119679"/>
            <a:ext cx="10829925" cy="4966796"/>
          </a:xfrm>
        </p:spPr>
        <p:txBody>
          <a:bodyPr>
            <a:normAutofit/>
          </a:bodyPr>
          <a:lstStyle/>
          <a:p>
            <a:pPr>
              <a:spcAft>
                <a:spcPts val="1800"/>
              </a:spcAft>
            </a:pPr>
            <a:r>
              <a:rPr lang="en-US" sz="1800" b="1" kern="1200" dirty="0">
                <a:solidFill>
                  <a:schemeClr val="tx1"/>
                </a:solidFill>
                <a:effectLst/>
                <a:latin typeface="+mn-lt"/>
                <a:ea typeface="+mn-ea"/>
                <a:cs typeface="+mn-cs"/>
              </a:rPr>
              <a:t>Submissions will be evaluated based on the degree to which they meet the optional requirements </a:t>
            </a:r>
          </a:p>
          <a:p>
            <a:pPr>
              <a:spcAft>
                <a:spcPts val="1800"/>
              </a:spcAft>
            </a:pPr>
            <a:r>
              <a:rPr lang="en-US" sz="1800" dirty="0"/>
              <a:t>S</a:t>
            </a:r>
            <a:r>
              <a:rPr lang="en-US" sz="1800" b="1" kern="1200" dirty="0">
                <a:solidFill>
                  <a:schemeClr val="tx1"/>
                </a:solidFill>
                <a:effectLst/>
                <a:latin typeface="+mn-lt"/>
                <a:ea typeface="+mn-ea"/>
                <a:cs typeface="+mn-cs"/>
              </a:rPr>
              <a:t>ubmission that includes more optional content will be graded higher, with optional content specifically encouraged by the RFP will be evaluated higher than other optional content</a:t>
            </a:r>
          </a:p>
          <a:p>
            <a:pPr>
              <a:spcAft>
                <a:spcPts val="1800"/>
              </a:spcAft>
            </a:pPr>
            <a:r>
              <a:rPr lang="en-US" sz="1800" dirty="0"/>
              <a:t>Optional content includes value, information and organization perspectives and alignment between capability and these optional perspectives</a:t>
            </a:r>
          </a:p>
          <a:p>
            <a:pPr>
              <a:spcAft>
                <a:spcPts val="1800"/>
              </a:spcAft>
            </a:pPr>
            <a:r>
              <a:rPr lang="en-US" sz="1800" dirty="0"/>
              <a:t>BACM submission incorporates optional content:</a:t>
            </a:r>
          </a:p>
          <a:p>
            <a:pPr lvl="2">
              <a:spcAft>
                <a:spcPts val="1800"/>
              </a:spcAft>
            </a:pPr>
            <a:r>
              <a:rPr lang="en-US" sz="1600" dirty="0"/>
              <a:t>Specified optional content is included via value package, organization package and information package</a:t>
            </a:r>
          </a:p>
          <a:p>
            <a:pPr lvl="2">
              <a:spcAft>
                <a:spcPts val="1800"/>
              </a:spcAft>
            </a:pPr>
            <a:r>
              <a:rPr lang="en-US" sz="1600" dirty="0"/>
              <a:t>Additional optional content is included via stakeholder, product, policy, strategy and initiative packages </a:t>
            </a:r>
          </a:p>
          <a:p>
            <a:pPr lvl="2">
              <a:spcAft>
                <a:spcPts val="1800"/>
              </a:spcAft>
            </a:pPr>
            <a:r>
              <a:rPr lang="en-US" sz="1600" dirty="0"/>
              <a:t>Additional optional content linked to operating model-based, interrelated disciplines include process, decision and case management, requirements and metric analysis </a:t>
            </a:r>
          </a:p>
          <a:p>
            <a:pPr lvl="2">
              <a:spcAft>
                <a:spcPts val="1800"/>
              </a:spcAft>
            </a:pPr>
            <a:r>
              <a:rPr lang="en-US" sz="1600" dirty="0"/>
              <a:t>Interactions between capability and specified and additional optional content is defined across the relevant packages</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10</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#2: Optional Requirements</a:t>
            </a:r>
            <a:endParaRPr lang="en-US" dirty="0"/>
          </a:p>
        </p:txBody>
      </p:sp>
    </p:spTree>
    <p:extLst>
      <p:ext uri="{BB962C8B-B14F-4D97-AF65-F5344CB8AC3E}">
        <p14:creationId xmlns:p14="http://schemas.microsoft.com/office/powerpoint/2010/main" val="3828985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11</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603250" y="214891"/>
            <a:ext cx="9144000" cy="548640"/>
          </a:xfrm>
        </p:spPr>
        <p:txBody>
          <a:bodyPr/>
          <a:lstStyle/>
          <a:p>
            <a:r>
              <a:rPr lang="en-US" dirty="0"/>
              <a:t>BACM Submission - Specified Optional Content:</a:t>
            </a:r>
            <a:r>
              <a:rPr lang="en-US" baseline="0" dirty="0"/>
              <a:t> Value</a:t>
            </a:r>
            <a:r>
              <a:rPr lang="en-US" dirty="0"/>
              <a:t> Perspective</a:t>
            </a:r>
          </a:p>
        </p:txBody>
      </p:sp>
      <p:sp>
        <p:nvSpPr>
          <p:cNvPr id="14" name="Content Placeholder 1"/>
          <p:cNvSpPr txBox="1">
            <a:spLocks/>
          </p:cNvSpPr>
          <p:nvPr/>
        </p:nvSpPr>
        <p:spPr>
          <a:xfrm>
            <a:off x="5947716" y="1292271"/>
            <a:ext cx="5849633" cy="3514572"/>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t>Value Package depicts </a:t>
            </a:r>
          </a:p>
          <a:p>
            <a:pPr>
              <a:buFontTx/>
              <a:buChar char="-"/>
            </a:pPr>
            <a:r>
              <a:rPr lang="en-US" sz="1600" b="0" dirty="0"/>
              <a:t>Aggregation of value items to create a value stream delivered value proposition </a:t>
            </a:r>
          </a:p>
          <a:p>
            <a:pPr>
              <a:buFontTx/>
              <a:buChar char="-"/>
            </a:pPr>
            <a:r>
              <a:rPr lang="en-US" sz="1600" b="0" dirty="0"/>
              <a:t>Association of value receiving stakeholder to value stream and related value proposition</a:t>
            </a:r>
          </a:p>
          <a:p>
            <a:pPr>
              <a:buFontTx/>
              <a:buChar char="-"/>
            </a:pPr>
            <a:r>
              <a:rPr lang="en-US" sz="1600" b="0" dirty="0"/>
              <a:t>Capability enablement of value stream stages</a:t>
            </a:r>
          </a:p>
          <a:p>
            <a:pPr>
              <a:buFontTx/>
              <a:buChar char="-"/>
            </a:pPr>
            <a:r>
              <a:rPr lang="en-US" sz="1600" b="0" dirty="0"/>
              <a:t>Capability outcomes that contribute value item</a:t>
            </a:r>
          </a:p>
          <a:p>
            <a:pPr>
              <a:buFontTx/>
              <a:buChar char="-"/>
            </a:pPr>
            <a:r>
              <a:rPr lang="en-US" sz="1600" b="0" dirty="0"/>
              <a:t>Association between capability and stakeholder value delivery</a:t>
            </a:r>
          </a:p>
        </p:txBody>
      </p:sp>
      <p:pic>
        <p:nvPicPr>
          <p:cNvPr id="8" name="Picture 7"/>
          <p:cNvPicPr/>
          <p:nvPr/>
        </p:nvPicPr>
        <p:blipFill rotWithShape="1">
          <a:blip r:embed="rId2">
            <a:extLst>
              <a:ext uri="{28A0092B-C50C-407E-A947-70E740481C1C}">
                <a14:useLocalDpi xmlns:a14="http://schemas.microsoft.com/office/drawing/2010/main" val="0"/>
              </a:ext>
            </a:extLst>
          </a:blip>
          <a:srcRect r="1332" b="3084"/>
          <a:stretch/>
        </p:blipFill>
        <p:spPr bwMode="auto">
          <a:xfrm>
            <a:off x="214265" y="978011"/>
            <a:ext cx="5675570" cy="5449974"/>
          </a:xfrm>
          <a:prstGeom prst="rect">
            <a:avLst/>
          </a:prstGeom>
          <a:noFill/>
          <a:ln>
            <a:noFill/>
          </a:ln>
          <a:extLst>
            <a:ext uri="{53640926-AAD7-44D8-BBD7-CCE9431645EC}">
              <a14:shadowObscured xmlns:a14="http://schemas.microsoft.com/office/drawing/2010/main"/>
            </a:ext>
          </a:extLst>
        </p:spPr>
      </p:pic>
      <p:sp>
        <p:nvSpPr>
          <p:cNvPr id="2" name="Rectangle 1"/>
          <p:cNvSpPr/>
          <p:nvPr/>
        </p:nvSpPr>
        <p:spPr>
          <a:xfrm>
            <a:off x="5812276" y="4209786"/>
            <a:ext cx="6096000" cy="1769202"/>
          </a:xfrm>
          <a:prstGeom prst="rect">
            <a:avLst/>
          </a:prstGeom>
        </p:spPr>
        <p:txBody>
          <a:bodyPr>
            <a:spAutoFit/>
          </a:bodyPr>
          <a:lstStyle/>
          <a:p>
            <a:pPr algn="just">
              <a:lnSpc>
                <a:spcPct val="115000"/>
              </a:lnSpc>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Item</a:t>
            </a:r>
          </a:p>
          <a:p>
            <a:pPr algn="just">
              <a:lnSpc>
                <a:spcPct val="115000"/>
              </a:lnSpc>
            </a:pPr>
            <a:r>
              <a:rPr lang="en-US" sz="700" dirty="0">
                <a:latin typeface="Arial" panose="020B0604020202020204" pitchFamily="34" charset="0"/>
                <a:ea typeface="Calibri" panose="020F0502020204030204" pitchFamily="34" charset="0"/>
                <a:cs typeface="Arial" panose="020B0604020202020204" pitchFamily="34" charset="0"/>
              </a:rPr>
              <a:t>The judgment of worth, made by an individual or organization, attached to something tangible or intangible and attained in the course of a particular interaction with one or more other parties.</a:t>
            </a:r>
            <a:endParaRPr lang="en-US" sz="700" b="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Proposition</a:t>
            </a:r>
            <a:r>
              <a:rPr lang="en-US" sz="700" dirty="0">
                <a:solidFill>
                  <a:srgbClr val="1F497D"/>
                </a:solidFill>
                <a:latin typeface="Arial" panose="020B0604020202020204" pitchFamily="34" charset="0"/>
                <a:ea typeface="Times New Roman" panose="02020603050405020304" pitchFamily="18" charset="0"/>
                <a:cs typeface="Arial" panose="020B0604020202020204" pitchFamily="34" charset="0"/>
              </a:rPr>
              <a:t> </a:t>
            </a:r>
            <a:endPar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15000"/>
              </a:lnSpc>
            </a:pPr>
            <a:r>
              <a:rPr lang="en-US" sz="700" dirty="0">
                <a:latin typeface="Arial" panose="020B0604020202020204" pitchFamily="34" charset="0"/>
                <a:ea typeface="Calibri" panose="020F0502020204030204" pitchFamily="34" charset="0"/>
                <a:cs typeface="Arial" panose="020B0604020202020204" pitchFamily="34" charset="0"/>
              </a:rPr>
              <a:t>An innovation, service, or feature intended to make a company, product, or service attractive to customers or related stakeholders.</a:t>
            </a:r>
            <a:endParaRPr lang="en-US" sz="700" b="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Stream</a:t>
            </a:r>
          </a:p>
          <a:p>
            <a:pPr algn="just">
              <a:lnSpc>
                <a:spcPct val="115000"/>
              </a:lnSpc>
            </a:pPr>
            <a:r>
              <a:rPr lang="en-US" sz="700" dirty="0">
                <a:latin typeface="Arial" panose="020B0604020202020204" pitchFamily="34" charset="0"/>
                <a:ea typeface="Calibri" panose="020F0502020204030204" pitchFamily="34" charset="0"/>
                <a:cs typeface="Arial" panose="020B0604020202020204" pitchFamily="34" charset="0"/>
              </a:rPr>
              <a:t>An end-to-end collection of activities that create a result for a customer, who may be the ultimate customer or an internal end-user of the value stream.</a:t>
            </a:r>
          </a:p>
          <a:p>
            <a:pPr algn="just">
              <a:lnSpc>
                <a:spcPct val="115000"/>
              </a:lnSpc>
            </a:pPr>
            <a:r>
              <a:rPr lang="en-US" sz="700" i="1" dirty="0">
                <a:latin typeface="Arial" panose="020B0604020202020204" pitchFamily="34" charset="0"/>
                <a:ea typeface="Calibri" panose="020F0502020204030204" pitchFamily="34" charset="0"/>
                <a:cs typeface="Arial" panose="020B0604020202020204" pitchFamily="34" charset="0"/>
              </a:rPr>
              <a:t>Source:</a:t>
            </a:r>
            <a:r>
              <a:rPr lang="en-US" sz="700" dirty="0">
                <a:latin typeface="Arial" panose="020B0604020202020204" pitchFamily="34" charset="0"/>
                <a:ea typeface="Calibri" panose="020F0502020204030204" pitchFamily="34" charset="0"/>
                <a:cs typeface="Arial" panose="020B0604020202020204" pitchFamily="34" charset="0"/>
              </a:rPr>
              <a:t> Ralph Whittle and Conrad Myrick, </a:t>
            </a:r>
            <a:r>
              <a:rPr lang="en-US" sz="700" i="1" dirty="0">
                <a:latin typeface="Arial" panose="020B0604020202020204" pitchFamily="34" charset="0"/>
                <a:ea typeface="Calibri" panose="020F0502020204030204" pitchFamily="34" charset="0"/>
                <a:cs typeface="Arial" panose="020B0604020202020204" pitchFamily="34" charset="0"/>
              </a:rPr>
              <a:t>Enterprise Business Architecture: The Formal Link between Strategy and Results </a:t>
            </a:r>
            <a:r>
              <a:rPr lang="en-US" sz="700" dirty="0">
                <a:latin typeface="Arial" panose="020B0604020202020204" pitchFamily="34" charset="0"/>
                <a:ea typeface="Calibri" panose="020F0502020204030204" pitchFamily="34" charset="0"/>
                <a:cs typeface="Arial" panose="020B0604020202020204" pitchFamily="34" charset="0"/>
              </a:rPr>
              <a:t>(Boca Raton: </a:t>
            </a:r>
            <a:r>
              <a:rPr lang="en-US" sz="700" dirty="0" err="1">
                <a:latin typeface="Arial" panose="020B0604020202020204" pitchFamily="34" charset="0"/>
                <a:ea typeface="Calibri" panose="020F0502020204030204" pitchFamily="34" charset="0"/>
                <a:cs typeface="Arial" panose="020B0604020202020204" pitchFamily="34" charset="0"/>
              </a:rPr>
              <a:t>Auerbach</a:t>
            </a:r>
            <a:r>
              <a:rPr lang="en-US" sz="700" dirty="0">
                <a:latin typeface="Arial" panose="020B0604020202020204" pitchFamily="34" charset="0"/>
                <a:ea typeface="Calibri" panose="020F0502020204030204" pitchFamily="34" charset="0"/>
                <a:cs typeface="Arial" panose="020B0604020202020204" pitchFamily="34" charset="0"/>
              </a:rPr>
              <a:t>, 2005).</a:t>
            </a:r>
          </a:p>
          <a:p>
            <a:pPr marL="457200" marR="0" indent="-457200" algn="just">
              <a:lnSpc>
                <a:spcPct val="115000"/>
              </a:lnSpc>
              <a:spcBef>
                <a:spcPts val="0"/>
              </a:spcBef>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Stream Stage</a:t>
            </a:r>
            <a:endParaRPr lang="en-US" sz="700" dirty="0">
              <a:latin typeface="Arial" panose="020B0604020202020204" pitchFamily="34" charset="0"/>
              <a:ea typeface="Times New Roman" panose="02020603050405020304" pitchFamily="18" charset="0"/>
              <a:cs typeface="Arial" panose="020B0604020202020204" pitchFamily="34" charset="0"/>
            </a:endParaRPr>
          </a:p>
          <a:p>
            <a:pPr marR="0" algn="just">
              <a:lnSpc>
                <a:spcPct val="115000"/>
              </a:lnSpc>
              <a:spcBef>
                <a:spcPts val="0"/>
              </a:spcBef>
            </a:pPr>
            <a:r>
              <a:rPr lang="en-US" sz="700" dirty="0">
                <a:latin typeface="Arial" panose="020B0604020202020204" pitchFamily="34" charset="0"/>
                <a:ea typeface="Calibri" panose="020F0502020204030204" pitchFamily="34" charset="0"/>
                <a:cs typeface="Arial" panose="020B0604020202020204" pitchFamily="34" charset="0"/>
              </a:rPr>
              <a:t>A distinct, identifiable phase or step within a value stream that has a unique name, entrance criteria, exit criteria, and identifiable participating stakeholder(s).</a:t>
            </a:r>
            <a:endParaRPr lang="en-US" sz="700" dirty="0">
              <a:effectLst/>
              <a:latin typeface="Arial" panose="020B0604020202020204" pitchFamily="34" charset="0"/>
              <a:ea typeface="Calibri" panose="020F0502020204030204" pitchFamily="34" charset="0"/>
              <a:cs typeface="Arial" panose="020B0604020202020204" pitchFamily="34" charset="0"/>
            </a:endParaRPr>
          </a:p>
        </p:txBody>
      </p:sp>
      <p:sp>
        <p:nvSpPr>
          <p:cNvPr id="7" name="Rectangle 6"/>
          <p:cNvSpPr/>
          <p:nvPr/>
        </p:nvSpPr>
        <p:spPr>
          <a:xfrm>
            <a:off x="7138352" y="5836599"/>
            <a:ext cx="3916457" cy="200055"/>
          </a:xfrm>
          <a:prstGeom prst="rect">
            <a:avLst/>
          </a:prstGeom>
        </p:spPr>
        <p:txBody>
          <a:bodyPr wrap="none">
            <a:spAutoFit/>
          </a:bodyPr>
          <a:lstStyle/>
          <a:p>
            <a:r>
              <a:rPr lang="en-US" sz="700" i="1" dirty="0">
                <a:latin typeface="Arial" panose="020B0604020202020204" pitchFamily="34" charset="0"/>
                <a:cs typeface="Arial" panose="020B0604020202020204" pitchFamily="34" charset="0"/>
              </a:rPr>
              <a:t>Unless otherwise noted, all definitions sourced: BIZBOK® Guide, Business Architecture Guild </a:t>
            </a:r>
          </a:p>
        </p:txBody>
      </p:sp>
    </p:spTree>
    <p:extLst>
      <p:ext uri="{BB962C8B-B14F-4D97-AF65-F5344CB8AC3E}">
        <p14:creationId xmlns:p14="http://schemas.microsoft.com/office/powerpoint/2010/main" val="1188523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508000" y="264555"/>
            <a:ext cx="10198100" cy="548640"/>
          </a:xfrm>
        </p:spPr>
        <p:txBody>
          <a:bodyPr/>
          <a:lstStyle/>
          <a:p>
            <a:r>
              <a:rPr lang="en-US" sz="2800" kern="1200" cap="all" baseline="0" dirty="0">
                <a:solidFill>
                  <a:schemeClr val="tx1"/>
                </a:solidFill>
                <a:effectLst/>
                <a:latin typeface="+mj-lt"/>
                <a:ea typeface="+mj-ea"/>
                <a:cs typeface="+mj-cs"/>
              </a:rPr>
              <a:t>BACM Submission</a:t>
            </a:r>
            <a:r>
              <a:rPr lang="en-US" dirty="0"/>
              <a:t> - Specified Optional Content:</a:t>
            </a:r>
            <a:r>
              <a:rPr lang="en-US" sz="2800" kern="1200" cap="all" baseline="0" dirty="0">
                <a:solidFill>
                  <a:schemeClr val="tx1"/>
                </a:solidFill>
                <a:effectLst/>
                <a:latin typeface="+mj-lt"/>
                <a:ea typeface="+mj-ea"/>
                <a:cs typeface="+mj-cs"/>
              </a:rPr>
              <a:t> Information Perspective</a:t>
            </a:r>
            <a:endParaRPr lang="en-US" dirty="0"/>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526446" y="1108866"/>
            <a:ext cx="5622889" cy="4450529"/>
          </a:xfrm>
          <a:prstGeom prst="rect">
            <a:avLst/>
          </a:prstGeom>
          <a:noFill/>
          <a:ln>
            <a:noFill/>
          </a:ln>
        </p:spPr>
      </p:pic>
      <p:sp>
        <p:nvSpPr>
          <p:cNvPr id="9" name="Content Placeholder 1"/>
          <p:cNvSpPr txBox="1">
            <a:spLocks/>
          </p:cNvSpPr>
          <p:nvPr/>
        </p:nvSpPr>
        <p:spPr>
          <a:xfrm>
            <a:off x="6192675" y="1900473"/>
            <a:ext cx="5657935" cy="2349563"/>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nSpc>
                <a:spcPct val="120000"/>
              </a:lnSpc>
              <a:spcAft>
                <a:spcPts val="600"/>
              </a:spcAft>
              <a:buFont typeface="Arial" panose="020B0604020202020204" pitchFamily="34" charset="0"/>
              <a:buNone/>
            </a:pPr>
            <a:r>
              <a:rPr lang="en-US" sz="1600" dirty="0"/>
              <a:t>Information Package: </a:t>
            </a:r>
          </a:p>
          <a:p>
            <a:pPr>
              <a:lnSpc>
                <a:spcPct val="120000"/>
              </a:lnSpc>
              <a:spcAft>
                <a:spcPts val="600"/>
              </a:spcAft>
              <a:buFontTx/>
              <a:buChar char="-"/>
            </a:pPr>
            <a:r>
              <a:rPr lang="en-US" sz="1600" b="0" dirty="0"/>
              <a:t>Depicts information concept </a:t>
            </a:r>
          </a:p>
          <a:p>
            <a:pPr>
              <a:lnSpc>
                <a:spcPct val="120000"/>
              </a:lnSpc>
              <a:spcAft>
                <a:spcPts val="600"/>
              </a:spcAft>
              <a:buFontTx/>
              <a:buChar char="-"/>
            </a:pPr>
            <a:r>
              <a:rPr lang="en-US" sz="1600" b="0" dirty="0"/>
              <a:t>Incorporates information type</a:t>
            </a:r>
          </a:p>
          <a:p>
            <a:pPr>
              <a:lnSpc>
                <a:spcPct val="120000"/>
              </a:lnSpc>
              <a:spcAft>
                <a:spcPts val="600"/>
              </a:spcAft>
              <a:buFontTx/>
              <a:buChar char="-"/>
            </a:pPr>
            <a:r>
              <a:rPr lang="en-US" sz="1600" b="0" dirty="0"/>
              <a:t>Makes the business object explicit (which is associated with capability in capability and affects package)</a:t>
            </a:r>
          </a:p>
          <a:p>
            <a:pPr>
              <a:lnSpc>
                <a:spcPct val="120000"/>
              </a:lnSpc>
              <a:spcAft>
                <a:spcPts val="600"/>
              </a:spcAft>
              <a:buFontTx/>
              <a:buChar char="-"/>
            </a:pPr>
            <a:r>
              <a:rPr lang="en-US" sz="1600" b="0" dirty="0"/>
              <a:t>Is linked to capability outcome in capability and affects packages</a:t>
            </a:r>
          </a:p>
          <a:p>
            <a:pPr>
              <a:lnSpc>
                <a:spcPct val="120000"/>
              </a:lnSpc>
              <a:spcAft>
                <a:spcPts val="600"/>
              </a:spcAft>
              <a:buFontTx/>
              <a:buChar char="-"/>
            </a:pPr>
            <a:r>
              <a:rPr lang="en-US" sz="1600" b="0" dirty="0"/>
              <a:t>Allows for relationships among information concepts </a:t>
            </a:r>
          </a:p>
        </p:txBody>
      </p:sp>
      <p:sp>
        <p:nvSpPr>
          <p:cNvPr id="2" name="Rectangle 1"/>
          <p:cNvSpPr/>
          <p:nvPr/>
        </p:nvSpPr>
        <p:spPr>
          <a:xfrm>
            <a:off x="5387547" y="5117512"/>
            <a:ext cx="6096000" cy="764825"/>
          </a:xfrm>
          <a:prstGeom prst="rect">
            <a:avLst/>
          </a:prstGeom>
        </p:spPr>
        <p:txBody>
          <a:bodyPr>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Information Concept</a:t>
            </a:r>
          </a:p>
          <a:p>
            <a:pPr algn="just">
              <a:lnSpc>
                <a:spcPct val="115000"/>
              </a:lnSpc>
            </a:pPr>
            <a:r>
              <a:rPr lang="en-US" sz="1000" dirty="0">
                <a:solidFill>
                  <a:srgbClr val="000000"/>
                </a:solidFill>
                <a:latin typeface="Arial" panose="020B0604020202020204" pitchFamily="34" charset="0"/>
                <a:ea typeface="Calibri" panose="020F0502020204030204" pitchFamily="34" charset="0"/>
                <a:cs typeface="Arial" panose="020B0604020202020204" pitchFamily="34" charset="0"/>
              </a:rPr>
              <a:t>Way in which to represent business terms and semantics within the context of business architecture.</a:t>
            </a:r>
          </a:p>
          <a:p>
            <a:pPr algn="just">
              <a:lnSpc>
                <a:spcPct val="115000"/>
              </a:lnSpc>
            </a:pPr>
            <a:endParaRPr lang="en-US" sz="900" dirty="0">
              <a:latin typeface="Arial" panose="020B0604020202020204" pitchFamily="34" charset="0"/>
              <a:cs typeface="Arial" panose="020B0604020202020204" pitchFamily="34" charset="0"/>
            </a:endParaRPr>
          </a:p>
          <a:p>
            <a:pPr algn="just">
              <a:lnSpc>
                <a:spcPct val="115000"/>
              </a:lnSpc>
            </a:pPr>
            <a:r>
              <a:rPr lang="en-US" sz="900" dirty="0">
                <a:latin typeface="Arial" panose="020B0604020202020204" pitchFamily="34" charset="0"/>
                <a:cs typeface="Arial" panose="020B0604020202020204" pitchFamily="34" charset="0"/>
              </a:rPr>
              <a:t>Source: BIZBOK® Guide, Business Architecture Guild </a:t>
            </a:r>
          </a:p>
        </p:txBody>
      </p:sp>
    </p:spTree>
    <p:extLst>
      <p:ext uri="{BB962C8B-B14F-4D97-AF65-F5344CB8AC3E}">
        <p14:creationId xmlns:p14="http://schemas.microsoft.com/office/powerpoint/2010/main" val="307888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508000" y="264555"/>
            <a:ext cx="10198100" cy="548640"/>
          </a:xfrm>
        </p:spPr>
        <p:txBody>
          <a:bodyPr/>
          <a:lstStyle/>
          <a:p>
            <a:r>
              <a:rPr lang="en-US" sz="2800" kern="1200" cap="all" baseline="0" dirty="0">
                <a:solidFill>
                  <a:schemeClr val="tx1"/>
                </a:solidFill>
                <a:effectLst/>
                <a:latin typeface="+mj-lt"/>
                <a:ea typeface="+mj-ea"/>
                <a:cs typeface="+mj-cs"/>
              </a:rPr>
              <a:t>BACM Submission</a:t>
            </a:r>
            <a:r>
              <a:rPr lang="en-US" dirty="0"/>
              <a:t> - Specified Optional Content:</a:t>
            </a:r>
            <a:r>
              <a:rPr lang="en-US" sz="2800" kern="1200" cap="all" baseline="0" dirty="0">
                <a:solidFill>
                  <a:schemeClr val="tx1"/>
                </a:solidFill>
                <a:effectLst/>
                <a:latin typeface="+mj-lt"/>
                <a:ea typeface="+mj-ea"/>
                <a:cs typeface="+mj-cs"/>
              </a:rPr>
              <a:t> Organization Perspective</a:t>
            </a:r>
            <a:endParaRPr lang="en-US" dirty="0"/>
          </a:p>
        </p:txBody>
      </p:sp>
      <p:pic>
        <p:nvPicPr>
          <p:cNvPr id="10" name="Picture 9"/>
          <p:cNvPicPr/>
          <p:nvPr/>
        </p:nvPicPr>
        <p:blipFill rotWithShape="1">
          <a:blip r:embed="rId3">
            <a:extLst>
              <a:ext uri="{28A0092B-C50C-407E-A947-70E740481C1C}">
                <a14:useLocalDpi xmlns:a14="http://schemas.microsoft.com/office/drawing/2010/main" val="0"/>
              </a:ext>
            </a:extLst>
          </a:blip>
          <a:srcRect b="2814"/>
          <a:stretch/>
        </p:blipFill>
        <p:spPr bwMode="auto">
          <a:xfrm>
            <a:off x="393506" y="990822"/>
            <a:ext cx="5583582" cy="5346367"/>
          </a:xfrm>
          <a:prstGeom prst="rect">
            <a:avLst/>
          </a:prstGeom>
          <a:noFill/>
          <a:ln>
            <a:noFill/>
          </a:ln>
          <a:extLst>
            <a:ext uri="{53640926-AAD7-44D8-BBD7-CCE9431645EC}">
              <a14:shadowObscured xmlns:a14="http://schemas.microsoft.com/office/drawing/2010/main"/>
            </a:ext>
          </a:extLst>
        </p:spPr>
      </p:pic>
      <p:sp>
        <p:nvSpPr>
          <p:cNvPr id="11" name="Content Placeholder 1"/>
          <p:cNvSpPr txBox="1">
            <a:spLocks/>
          </p:cNvSpPr>
          <p:nvPr/>
        </p:nvSpPr>
        <p:spPr>
          <a:xfrm>
            <a:off x="6054811" y="1153045"/>
            <a:ext cx="5772336" cy="4211715"/>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nSpc>
                <a:spcPct val="120000"/>
              </a:lnSpc>
              <a:spcAft>
                <a:spcPts val="600"/>
              </a:spcAft>
              <a:buFont typeface="Arial" panose="020B0604020202020204" pitchFamily="34" charset="0"/>
              <a:buNone/>
            </a:pPr>
            <a:r>
              <a:rPr lang="en-US" sz="1600" dirty="0"/>
              <a:t>Organization Package: </a:t>
            </a:r>
          </a:p>
          <a:p>
            <a:pPr>
              <a:lnSpc>
                <a:spcPct val="120000"/>
              </a:lnSpc>
              <a:spcAft>
                <a:spcPts val="600"/>
              </a:spcAft>
              <a:buFontTx/>
              <a:buChar char="-"/>
            </a:pPr>
            <a:r>
              <a:rPr lang="en-US" sz="1600" b="0" dirty="0"/>
              <a:t>Establishes business unit and collaborative team as basic concepts</a:t>
            </a:r>
          </a:p>
          <a:p>
            <a:pPr>
              <a:lnSpc>
                <a:spcPct val="120000"/>
              </a:lnSpc>
              <a:spcAft>
                <a:spcPts val="600"/>
              </a:spcAft>
              <a:buFontTx/>
              <a:buChar char="-"/>
            </a:pPr>
            <a:r>
              <a:rPr lang="en-US" sz="1600" b="0" dirty="0"/>
              <a:t>Allows for business unit decomposition and use to represent third party perspectives</a:t>
            </a:r>
          </a:p>
          <a:p>
            <a:pPr>
              <a:lnSpc>
                <a:spcPct val="120000"/>
              </a:lnSpc>
              <a:spcAft>
                <a:spcPts val="600"/>
              </a:spcAft>
              <a:buFontTx/>
              <a:buChar char="-"/>
            </a:pPr>
            <a:r>
              <a:rPr lang="en-US" sz="1600" b="0" dirty="0"/>
              <a:t> Associates capability with organization via an instance of a capability</a:t>
            </a:r>
          </a:p>
          <a:p>
            <a:pPr>
              <a:lnSpc>
                <a:spcPct val="120000"/>
              </a:lnSpc>
              <a:spcAft>
                <a:spcPts val="600"/>
              </a:spcAft>
              <a:buFontTx/>
              <a:buChar char="-"/>
            </a:pPr>
            <a:r>
              <a:rPr lang="en-US" sz="1600" b="0" dirty="0"/>
              <a:t>Associates performance goals with policy</a:t>
            </a:r>
          </a:p>
          <a:p>
            <a:pPr>
              <a:lnSpc>
                <a:spcPct val="120000"/>
              </a:lnSpc>
              <a:spcAft>
                <a:spcPts val="600"/>
              </a:spcAft>
              <a:buFontTx/>
              <a:buChar char="-"/>
            </a:pPr>
            <a:r>
              <a:rPr lang="en-US" sz="1600" b="0" dirty="0"/>
              <a:t>Incorporates accountability with role of a decider (stakeholder) </a:t>
            </a:r>
          </a:p>
          <a:p>
            <a:pPr marL="0" indent="0">
              <a:lnSpc>
                <a:spcPct val="120000"/>
              </a:lnSpc>
              <a:spcAft>
                <a:spcPts val="600"/>
              </a:spcAft>
              <a:buNone/>
            </a:pPr>
            <a:endParaRPr lang="en-US" sz="1600" b="0" dirty="0"/>
          </a:p>
        </p:txBody>
      </p:sp>
      <p:sp>
        <p:nvSpPr>
          <p:cNvPr id="2" name="Rectangle 1"/>
          <p:cNvSpPr/>
          <p:nvPr/>
        </p:nvSpPr>
        <p:spPr>
          <a:xfrm>
            <a:off x="6268993" y="4523083"/>
            <a:ext cx="5667633" cy="1678152"/>
          </a:xfrm>
          <a:prstGeom prst="rect">
            <a:avLst/>
          </a:prstGeom>
        </p:spPr>
        <p:txBody>
          <a:bodyPr wrap="square">
            <a:spAutoFit/>
          </a:bodyPr>
          <a:lstStyle/>
          <a:p>
            <a:pPr algn="just">
              <a:lnSpc>
                <a:spcPct val="115000"/>
              </a:lnSpc>
            </a:pPr>
            <a:r>
              <a:rPr lang="en-US" sz="900" b="1" dirty="0">
                <a:solidFill>
                  <a:srgbClr val="4F81BD"/>
                </a:solidFill>
                <a:latin typeface="Arial" panose="020B0604020202020204" pitchFamily="34" charset="0"/>
                <a:ea typeface="Times New Roman" panose="02020603050405020304" pitchFamily="18" charset="0"/>
                <a:cs typeface="Arial" panose="020B0604020202020204" pitchFamily="34" charset="0"/>
              </a:rPr>
              <a:t>Organization</a:t>
            </a:r>
          </a:p>
          <a:p>
            <a:pPr algn="just">
              <a:lnSpc>
                <a:spcPct val="115000"/>
              </a:lnSpc>
            </a:pP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A social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4"/>
              </a:rPr>
              <a:t>unit</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of people, systematically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5"/>
              </a:rPr>
              <a:t>structured</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and managed to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6"/>
              </a:rPr>
              <a:t>meet</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a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7"/>
              </a:rPr>
              <a:t>need</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or to pursue collective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8"/>
              </a:rPr>
              <a:t>goals</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on a </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hlinkClick r:id="rId9"/>
              </a:rPr>
              <a:t>continuing</a:t>
            </a:r>
            <a:r>
              <a:rPr lang="en-US" sz="900" dirty="0">
                <a:solidFill>
                  <a:srgbClr val="000000"/>
                </a:solidFill>
                <a:latin typeface="Arial" panose="020B0604020202020204" pitchFamily="34" charset="0"/>
                <a:ea typeface="Calibri" panose="020F0502020204030204" pitchFamily="34" charset="0"/>
                <a:cs typeface="Arial" panose="020B0604020202020204" pitchFamily="34" charset="0"/>
              </a:rPr>
              <a:t> basis.</a:t>
            </a:r>
            <a:endParaRPr lang="en-US" sz="900" dirty="0">
              <a:latin typeface="Arial" panose="020B0604020202020204" pitchFamily="34" charset="0"/>
              <a:ea typeface="Calibri" panose="020F0502020204030204" pitchFamily="34" charset="0"/>
              <a:cs typeface="Arial" panose="020B0604020202020204" pitchFamily="34" charset="0"/>
            </a:endParaRPr>
          </a:p>
          <a:p>
            <a:endParaRPr lang="en-US" sz="900" dirty="0">
              <a:latin typeface="Arial" panose="020B0604020202020204" pitchFamily="34" charset="0"/>
              <a:cs typeface="Arial" panose="020B0604020202020204" pitchFamily="34" charset="0"/>
            </a:endParaRPr>
          </a:p>
          <a:p>
            <a:pPr hangingPunct="0"/>
            <a:r>
              <a:rPr lang="en-US" sz="900" b="1" dirty="0">
                <a:solidFill>
                  <a:schemeClr val="accent3">
                    <a:lumMod val="75000"/>
                  </a:schemeClr>
                </a:solidFill>
              </a:rPr>
              <a:t>Business Unit</a:t>
            </a:r>
            <a:endParaRPr lang="en-US" sz="900" dirty="0">
              <a:solidFill>
                <a:schemeClr val="accent3">
                  <a:lumMod val="75000"/>
                </a:schemeClr>
              </a:solidFill>
            </a:endParaRPr>
          </a:p>
          <a:p>
            <a:pPr hangingPunct="0"/>
            <a:r>
              <a:rPr lang="en-US" sz="900" dirty="0"/>
              <a:t>A logical </a:t>
            </a:r>
            <a:r>
              <a:rPr lang="en-US" sz="900" dirty="0">
                <a:hlinkClick r:id="rId10"/>
              </a:rPr>
              <a:t>element</a:t>
            </a:r>
            <a:r>
              <a:rPr lang="en-US" sz="900" dirty="0"/>
              <a:t> or </a:t>
            </a:r>
            <a:r>
              <a:rPr lang="en-US" sz="900" dirty="0">
                <a:hlinkClick r:id="rId11"/>
              </a:rPr>
              <a:t>segment</a:t>
            </a:r>
            <a:r>
              <a:rPr lang="en-US" sz="900" dirty="0"/>
              <a:t> of a </a:t>
            </a:r>
            <a:r>
              <a:rPr lang="en-US" sz="900" dirty="0">
                <a:hlinkClick r:id="rId12"/>
              </a:rPr>
              <a:t>company</a:t>
            </a:r>
            <a:r>
              <a:rPr lang="en-US" sz="900" dirty="0"/>
              <a:t> (such as </a:t>
            </a:r>
            <a:r>
              <a:rPr lang="en-US" sz="900" dirty="0">
                <a:hlinkClick r:id="rId13"/>
              </a:rPr>
              <a:t>accounting</a:t>
            </a:r>
            <a:r>
              <a:rPr lang="en-US" sz="900" dirty="0"/>
              <a:t>, </a:t>
            </a:r>
            <a:r>
              <a:rPr lang="en-US" sz="900" dirty="0">
                <a:hlinkClick r:id="rId14"/>
              </a:rPr>
              <a:t>production</a:t>
            </a:r>
            <a:r>
              <a:rPr lang="en-US" sz="900" dirty="0"/>
              <a:t>, </a:t>
            </a:r>
            <a:r>
              <a:rPr lang="en-US" sz="900" dirty="0">
                <a:hlinkClick r:id="rId15"/>
              </a:rPr>
              <a:t>marketing</a:t>
            </a:r>
            <a:r>
              <a:rPr lang="en-US" sz="900" dirty="0"/>
              <a:t>) representing a specific </a:t>
            </a:r>
            <a:r>
              <a:rPr lang="en-US" sz="900" dirty="0">
                <a:hlinkClick r:id="rId16"/>
              </a:rPr>
              <a:t>business function</a:t>
            </a:r>
            <a:r>
              <a:rPr lang="en-US" sz="900" dirty="0"/>
              <a:t>, and a </a:t>
            </a:r>
            <a:r>
              <a:rPr lang="en-US" sz="900" dirty="0">
                <a:hlinkClick r:id="rId17"/>
              </a:rPr>
              <a:t>definite</a:t>
            </a:r>
            <a:r>
              <a:rPr lang="en-US" sz="900" dirty="0"/>
              <a:t> place on the </a:t>
            </a:r>
            <a:r>
              <a:rPr lang="en-US" sz="900" dirty="0">
                <a:hlinkClick r:id="rId18"/>
              </a:rPr>
              <a:t>organizational chart</a:t>
            </a:r>
            <a:r>
              <a:rPr lang="en-US" sz="900" dirty="0"/>
              <a:t>, under the </a:t>
            </a:r>
            <a:r>
              <a:rPr lang="en-US" sz="900" dirty="0">
                <a:hlinkClick r:id="rId19"/>
              </a:rPr>
              <a:t>domain</a:t>
            </a:r>
            <a:r>
              <a:rPr lang="en-US" sz="900" dirty="0"/>
              <a:t> of a </a:t>
            </a:r>
            <a:r>
              <a:rPr lang="en-US" sz="900" dirty="0">
                <a:hlinkClick r:id="rId20"/>
              </a:rPr>
              <a:t>manager</a:t>
            </a:r>
            <a:r>
              <a:rPr lang="en-US" sz="900" dirty="0"/>
              <a:t>. Also called </a:t>
            </a:r>
            <a:r>
              <a:rPr lang="en-US" sz="900" dirty="0">
                <a:hlinkClick r:id="rId21"/>
              </a:rPr>
              <a:t>department</a:t>
            </a:r>
            <a:r>
              <a:rPr lang="en-US" sz="900" dirty="0"/>
              <a:t>, </a:t>
            </a:r>
            <a:r>
              <a:rPr lang="en-US" sz="900" dirty="0">
                <a:hlinkClick r:id="rId22"/>
              </a:rPr>
              <a:t>division</a:t>
            </a:r>
            <a:r>
              <a:rPr lang="en-US" sz="900" dirty="0"/>
              <a:t>, or </a:t>
            </a:r>
            <a:r>
              <a:rPr lang="en-US" sz="900" dirty="0">
                <a:hlinkClick r:id="rId23"/>
              </a:rPr>
              <a:t>functional area</a:t>
            </a:r>
            <a:r>
              <a:rPr lang="en-US" sz="900" dirty="0"/>
              <a:t>.</a:t>
            </a:r>
          </a:p>
          <a:p>
            <a:endParaRPr lang="en-US" sz="1000" i="1" dirty="0">
              <a:latin typeface="Arial" panose="020B0604020202020204" pitchFamily="34" charset="0"/>
              <a:ea typeface="Times New Roman" panose="02020603050405020304" pitchFamily="18" charset="0"/>
              <a:cs typeface="Arial" panose="020B0604020202020204" pitchFamily="34" charset="0"/>
            </a:endParaRPr>
          </a:p>
          <a:p>
            <a:r>
              <a:rPr lang="en-US" sz="800" i="1" dirty="0">
                <a:latin typeface="Arial" panose="020B0604020202020204" pitchFamily="34" charset="0"/>
                <a:ea typeface="Times New Roman" panose="02020603050405020304" pitchFamily="18" charset="0"/>
                <a:cs typeface="Arial" panose="020B0604020202020204" pitchFamily="34" charset="0"/>
              </a:rPr>
              <a:t>Source: </a:t>
            </a:r>
            <a:r>
              <a:rPr lang="en-US" sz="800" dirty="0">
                <a:latin typeface="Arial" panose="020B0604020202020204" pitchFamily="34" charset="0"/>
                <a:ea typeface="Times New Roman" panose="02020603050405020304" pitchFamily="18" charset="0"/>
                <a:cs typeface="Arial" panose="020B0604020202020204" pitchFamily="34" charset="0"/>
                <a:hlinkClick r:id="rId24"/>
              </a:rPr>
              <a:t>www.BusinessDictionary.com</a:t>
            </a:r>
            <a:endParaRPr lang="en-US" sz="800" dirty="0">
              <a:latin typeface="Arial" panose="020B0604020202020204" pitchFamily="34" charset="0"/>
              <a:ea typeface="Times New Roman" panose="02020603050405020304" pitchFamily="18" charset="0"/>
              <a:cs typeface="Arial" panose="020B0604020202020204" pitchFamily="34" charset="0"/>
            </a:endParaRPr>
          </a:p>
          <a:p>
            <a:pPr hangingPunct="0"/>
            <a:endParaRPr lang="en-US" sz="900" dirty="0"/>
          </a:p>
        </p:txBody>
      </p:sp>
    </p:spTree>
    <p:extLst>
      <p:ext uri="{BB962C8B-B14F-4D97-AF65-F5344CB8AC3E}">
        <p14:creationId xmlns:p14="http://schemas.microsoft.com/office/powerpoint/2010/main" val="73238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0" y="1391478"/>
            <a:ext cx="5409537" cy="3315694"/>
          </a:xfrm>
        </p:spPr>
        <p:txBody>
          <a:bodyPr>
            <a:normAutofit/>
          </a:bodyPr>
          <a:lstStyle/>
          <a:p>
            <a:r>
              <a:rPr lang="en-US" sz="1800" dirty="0"/>
              <a:t>Stakeholder Package</a:t>
            </a:r>
          </a:p>
          <a:p>
            <a:pPr lvl="2"/>
            <a:r>
              <a:rPr lang="en-US" sz="1600" dirty="0"/>
              <a:t>Represents value receiving and value contributing stakeholders</a:t>
            </a:r>
          </a:p>
          <a:p>
            <a:pPr lvl="2"/>
            <a:r>
              <a:rPr lang="en-US" sz="1600" dirty="0"/>
              <a:t>Depicts stakeholder association to value stream stage where value is contributed</a:t>
            </a:r>
          </a:p>
          <a:p>
            <a:pPr lvl="2"/>
            <a:r>
              <a:rPr lang="en-US" sz="1600" dirty="0"/>
              <a:t>Associates stakeholder with outcomes that contribute to value items within a value stream stage</a:t>
            </a:r>
          </a:p>
          <a:p>
            <a:pPr lvl="2"/>
            <a:r>
              <a:rPr lang="en-US" sz="1600" dirty="0"/>
              <a:t>Depicts that a (value stream) triggering stakeholder can act in a proxy role for a customer / consumer segment</a:t>
            </a:r>
          </a:p>
          <a:p>
            <a:pPr lvl="2"/>
            <a:endParaRPr lang="en-US" sz="16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Submission: Stakeholder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3331"/>
          <a:stretch/>
        </p:blipFill>
        <p:spPr bwMode="auto">
          <a:xfrm>
            <a:off x="909666" y="975629"/>
            <a:ext cx="5326380" cy="5362575"/>
          </a:xfrm>
          <a:prstGeom prst="rect">
            <a:avLst/>
          </a:prstGeom>
          <a:noFill/>
          <a:ln>
            <a:noFill/>
          </a:ln>
          <a:extLst>
            <a:ext uri="{53640926-AAD7-44D8-BBD7-CCE9431645EC}">
              <a14:shadowObscured xmlns:a14="http://schemas.microsoft.com/office/drawing/2010/main"/>
            </a:ext>
          </a:extLst>
        </p:spPr>
      </p:pic>
      <p:sp>
        <p:nvSpPr>
          <p:cNvPr id="8" name="Rectangle 7"/>
          <p:cNvSpPr/>
          <p:nvPr/>
        </p:nvSpPr>
        <p:spPr>
          <a:xfrm>
            <a:off x="7361905" y="5080259"/>
            <a:ext cx="4349578" cy="884858"/>
          </a:xfrm>
          <a:prstGeom prst="rect">
            <a:avLst/>
          </a:prstGeom>
        </p:spPr>
        <p:txBody>
          <a:bodyPr wrap="square">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Stakeholder</a:t>
            </a:r>
          </a:p>
          <a:p>
            <a:r>
              <a:rPr lang="en-US" sz="1000" dirty="0">
                <a:latin typeface="Arial" panose="020B0604020202020204" pitchFamily="34" charset="0"/>
                <a:ea typeface="Times New Roman" panose="02020603050405020304" pitchFamily="18" charset="0"/>
                <a:cs typeface="Arial" panose="020B0604020202020204" pitchFamily="34" charset="0"/>
              </a:rPr>
              <a:t>An internal or external individual or organization with a vested interest in achieving value through a particular outcome.</a:t>
            </a:r>
          </a:p>
          <a:p>
            <a:endParaRPr lang="en-US" sz="10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Source: BIZBOK® Guide, Business Architecture Guild </a:t>
            </a:r>
          </a:p>
        </p:txBody>
      </p:sp>
    </p:spTree>
    <p:extLst>
      <p:ext uri="{BB962C8B-B14F-4D97-AF65-F5344CB8AC3E}">
        <p14:creationId xmlns:p14="http://schemas.microsoft.com/office/powerpoint/2010/main" val="757815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Submission: Product Perspective</a:t>
            </a:r>
            <a:endParaRPr lang="en-US" dirty="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68683" y="952268"/>
            <a:ext cx="5524163" cy="5041870"/>
          </a:xfrm>
          <a:prstGeom prst="rect">
            <a:avLst/>
          </a:prstGeom>
          <a:noFill/>
          <a:ln>
            <a:noFill/>
          </a:ln>
        </p:spPr>
      </p:pic>
      <p:sp>
        <p:nvSpPr>
          <p:cNvPr id="9" name="Content Placeholder 1"/>
          <p:cNvSpPr>
            <a:spLocks noGrp="1"/>
          </p:cNvSpPr>
          <p:nvPr>
            <p:ph idx="1"/>
          </p:nvPr>
        </p:nvSpPr>
        <p:spPr>
          <a:xfrm>
            <a:off x="6491416" y="1523286"/>
            <a:ext cx="5280647" cy="4277802"/>
          </a:xfrm>
        </p:spPr>
        <p:txBody>
          <a:bodyPr>
            <a:normAutofit/>
          </a:bodyPr>
          <a:lstStyle/>
          <a:p>
            <a:pPr marL="0" indent="0">
              <a:buNone/>
            </a:pPr>
            <a:r>
              <a:rPr lang="en-US" sz="1800" dirty="0"/>
              <a:t>Product Package </a:t>
            </a:r>
            <a:endParaRPr lang="en-US" sz="1600" dirty="0"/>
          </a:p>
          <a:p>
            <a:pPr>
              <a:buFontTx/>
              <a:buChar char="-"/>
            </a:pPr>
            <a:r>
              <a:rPr lang="en-US" sz="1600" b="0" dirty="0"/>
              <a:t>Defines product concept, which includes product and product line</a:t>
            </a:r>
          </a:p>
          <a:p>
            <a:pPr>
              <a:buFontTx/>
              <a:buChar char="-"/>
            </a:pPr>
            <a:r>
              <a:rPr lang="en-US" sz="1600" b="0" dirty="0"/>
              <a:t>Associates product with owning business unit</a:t>
            </a:r>
          </a:p>
          <a:p>
            <a:pPr>
              <a:buFontTx/>
              <a:buChar char="-"/>
            </a:pPr>
            <a:r>
              <a:rPr lang="en-US" sz="1600" b="0" dirty="0"/>
              <a:t>Associates product with enabling capabilities </a:t>
            </a:r>
          </a:p>
          <a:p>
            <a:pPr>
              <a:buFontTx/>
              <a:buChar char="-"/>
            </a:pPr>
            <a:r>
              <a:rPr lang="en-US" sz="1600" b="0" dirty="0"/>
              <a:t>Associates product with information concept, which may manifest as an entitlement</a:t>
            </a:r>
          </a:p>
          <a:p>
            <a:pPr>
              <a:buFontTx/>
              <a:buChar char="-"/>
            </a:pPr>
            <a:r>
              <a:rPr lang="en-US" sz="1600" b="0" dirty="0"/>
              <a:t>Associates product with value proposition</a:t>
            </a:r>
          </a:p>
        </p:txBody>
      </p:sp>
      <p:sp>
        <p:nvSpPr>
          <p:cNvPr id="2" name="Rectangle 1"/>
          <p:cNvSpPr/>
          <p:nvPr/>
        </p:nvSpPr>
        <p:spPr>
          <a:xfrm>
            <a:off x="6491416" y="4894071"/>
            <a:ext cx="5156694" cy="994888"/>
          </a:xfrm>
          <a:prstGeom prst="rect">
            <a:avLst/>
          </a:prstGeom>
        </p:spPr>
        <p:txBody>
          <a:bodyPr wrap="square">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Product</a:t>
            </a:r>
          </a:p>
          <a:p>
            <a:pPr algn="just">
              <a:lnSpc>
                <a:spcPct val="115000"/>
              </a:lnSpc>
            </a:pPr>
            <a:r>
              <a:rPr lang="en-US" sz="1000" dirty="0">
                <a:latin typeface="Arial" panose="020B0604020202020204" pitchFamily="34" charset="0"/>
                <a:ea typeface="Calibri" panose="020F0502020204030204" pitchFamily="34" charset="0"/>
                <a:cs typeface="Arial" panose="020B0604020202020204" pitchFamily="34" charset="0"/>
              </a:rPr>
              <a:t>The overall experience provided by the combination of goods and services to satisfy the customer’s needs.</a:t>
            </a:r>
            <a:endParaRPr lang="en-US" sz="1000" b="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endParaRPr lang="en-US" sz="700" i="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i="1" dirty="0">
                <a:latin typeface="Arial" panose="020B0604020202020204" pitchFamily="34" charset="0"/>
                <a:ea typeface="Calibri" panose="020F0502020204030204" pitchFamily="34" charset="0"/>
                <a:cs typeface="Arial" panose="020B0604020202020204" pitchFamily="34" charset="0"/>
              </a:rPr>
              <a:t>Source: </a:t>
            </a:r>
            <a:r>
              <a:rPr lang="en-US" sz="700" dirty="0">
                <a:latin typeface="Arial" panose="020B0604020202020204" pitchFamily="34" charset="0"/>
                <a:ea typeface="Calibri" panose="020F0502020204030204" pitchFamily="34" charset="0"/>
                <a:cs typeface="Arial" panose="020B0604020202020204" pitchFamily="34" charset="0"/>
              </a:rPr>
              <a:t>Greg </a:t>
            </a:r>
            <a:r>
              <a:rPr lang="en-US" sz="700" dirty="0" err="1">
                <a:latin typeface="Arial" panose="020B0604020202020204" pitchFamily="34" charset="0"/>
                <a:ea typeface="Calibri" panose="020F0502020204030204" pitchFamily="34" charset="0"/>
                <a:cs typeface="Arial" panose="020B0604020202020204" pitchFamily="34" charset="0"/>
              </a:rPr>
              <a:t>Geracie</a:t>
            </a:r>
            <a:r>
              <a:rPr lang="en-US" sz="700" dirty="0">
                <a:latin typeface="Arial" panose="020B0604020202020204" pitchFamily="34" charset="0"/>
                <a:ea typeface="Calibri" panose="020F0502020204030204" pitchFamily="34" charset="0"/>
                <a:cs typeface="Arial" panose="020B0604020202020204" pitchFamily="34" charset="0"/>
              </a:rPr>
              <a:t> and Steven </a:t>
            </a:r>
            <a:r>
              <a:rPr lang="en-US" sz="700" dirty="0" err="1">
                <a:latin typeface="Arial" panose="020B0604020202020204" pitchFamily="34" charset="0"/>
                <a:ea typeface="Calibri" panose="020F0502020204030204" pitchFamily="34" charset="0"/>
                <a:cs typeface="Arial" panose="020B0604020202020204" pitchFamily="34" charset="0"/>
              </a:rPr>
              <a:t>Eppinger</a:t>
            </a:r>
            <a:r>
              <a:rPr lang="en-US" sz="700" dirty="0">
                <a:latin typeface="Arial" panose="020B0604020202020204" pitchFamily="34" charset="0"/>
                <a:ea typeface="Calibri" panose="020F0502020204030204" pitchFamily="34" charset="0"/>
                <a:cs typeface="Arial" panose="020B0604020202020204" pitchFamily="34" charset="0"/>
              </a:rPr>
              <a:t>,</a:t>
            </a:r>
            <a:r>
              <a:rPr lang="en-US" sz="700" i="1" dirty="0">
                <a:latin typeface="Arial" panose="020B0604020202020204" pitchFamily="34" charset="0"/>
                <a:ea typeface="Calibri" panose="020F0502020204030204" pitchFamily="34" charset="0"/>
                <a:cs typeface="Arial" panose="020B0604020202020204" pitchFamily="34" charset="0"/>
              </a:rPr>
              <a:t> The Guide to the Product Management and Marketing Body of Knowledge® (</a:t>
            </a:r>
            <a:r>
              <a:rPr lang="en-US" sz="700" i="1" dirty="0" err="1">
                <a:latin typeface="Arial" panose="020B0604020202020204" pitchFamily="34" charset="0"/>
                <a:ea typeface="Calibri" panose="020F0502020204030204" pitchFamily="34" charset="0"/>
                <a:cs typeface="Arial" panose="020B0604020202020204" pitchFamily="34" charset="0"/>
              </a:rPr>
              <a:t>ProdBOK</a:t>
            </a:r>
            <a:r>
              <a:rPr lang="en-US" sz="700" dirty="0">
                <a:latin typeface="Arial" panose="020B0604020202020204" pitchFamily="34" charset="0"/>
                <a:ea typeface="Calibri" panose="020F0502020204030204" pitchFamily="34" charset="0"/>
                <a:cs typeface="Arial" panose="020B0604020202020204" pitchFamily="34" charset="0"/>
              </a:rPr>
              <a:t>®), Product Marketing and Management, 2013.</a:t>
            </a:r>
            <a:endParaRPr lang="en-US" sz="700" b="1"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36956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16</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738587" y="409849"/>
            <a:ext cx="9144000" cy="548640"/>
          </a:xfrm>
        </p:spPr>
        <p:txBody>
          <a:bodyPr/>
          <a:lstStyle/>
          <a:p>
            <a:r>
              <a:rPr lang="en-US" dirty="0"/>
              <a:t>BACM Submission:</a:t>
            </a:r>
            <a:r>
              <a:rPr lang="en-US" baseline="0" dirty="0"/>
              <a:t> Policy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4110"/>
          <a:stretch/>
        </p:blipFill>
        <p:spPr bwMode="auto">
          <a:xfrm>
            <a:off x="5433990" y="958488"/>
            <a:ext cx="5555284" cy="5437381"/>
          </a:xfrm>
          <a:prstGeom prst="rect">
            <a:avLst/>
          </a:prstGeom>
          <a:noFill/>
          <a:ln>
            <a:noFill/>
          </a:ln>
          <a:extLst>
            <a:ext uri="{53640926-AAD7-44D8-BBD7-CCE9431645EC}">
              <a14:shadowObscured xmlns:a14="http://schemas.microsoft.com/office/drawing/2010/main"/>
            </a:ext>
          </a:extLst>
        </p:spPr>
      </p:pic>
      <p:sp>
        <p:nvSpPr>
          <p:cNvPr id="8" name="Content Placeholder 1"/>
          <p:cNvSpPr>
            <a:spLocks noGrp="1"/>
          </p:cNvSpPr>
          <p:nvPr>
            <p:ph idx="1"/>
          </p:nvPr>
        </p:nvSpPr>
        <p:spPr>
          <a:xfrm>
            <a:off x="652008" y="1696995"/>
            <a:ext cx="4905954" cy="4530809"/>
          </a:xfrm>
        </p:spPr>
        <p:txBody>
          <a:bodyPr>
            <a:normAutofit/>
          </a:bodyPr>
          <a:lstStyle/>
          <a:p>
            <a:pPr marL="0" indent="0">
              <a:buNone/>
            </a:pPr>
            <a:r>
              <a:rPr lang="en-US" sz="1800" dirty="0"/>
              <a:t>Policy Package </a:t>
            </a:r>
          </a:p>
          <a:p>
            <a:pPr>
              <a:buFontTx/>
              <a:buChar char="-"/>
            </a:pPr>
            <a:r>
              <a:rPr lang="en-US" sz="1400" b="0" dirty="0"/>
              <a:t>Represents policy as a focal point for statutes, rules and regulations </a:t>
            </a:r>
          </a:p>
          <a:p>
            <a:pPr>
              <a:buFontTx/>
              <a:buChar char="-"/>
            </a:pPr>
            <a:r>
              <a:rPr lang="en-US" sz="1400" b="0" dirty="0"/>
              <a:t>Associates policy with business unit that adopts it and stakeholder that sets it</a:t>
            </a:r>
          </a:p>
          <a:p>
            <a:pPr>
              <a:buFontTx/>
              <a:buChar char="-"/>
            </a:pPr>
            <a:r>
              <a:rPr lang="en-US" sz="1400" b="0" dirty="0"/>
              <a:t>Associates policy with the capabilities it influences </a:t>
            </a:r>
          </a:p>
          <a:p>
            <a:pPr>
              <a:buFontTx/>
              <a:buChar char="-"/>
            </a:pPr>
            <a:r>
              <a:rPr lang="en-US" sz="1400" b="0" dirty="0"/>
              <a:t>Associates policy with information to which it relates </a:t>
            </a:r>
          </a:p>
        </p:txBody>
      </p:sp>
      <p:sp>
        <p:nvSpPr>
          <p:cNvPr id="2" name="Rectangle 1"/>
          <p:cNvSpPr/>
          <p:nvPr/>
        </p:nvSpPr>
        <p:spPr>
          <a:xfrm>
            <a:off x="627696" y="4520409"/>
            <a:ext cx="4636282" cy="782522"/>
          </a:xfrm>
          <a:prstGeom prst="rect">
            <a:avLst/>
          </a:prstGeom>
        </p:spPr>
        <p:txBody>
          <a:bodyPr wrap="square">
            <a:spAutoFit/>
          </a:bodyPr>
          <a:lstStyle/>
          <a:p>
            <a:pPr algn="just">
              <a:lnSpc>
                <a:spcPct val="115000"/>
              </a:lnSpc>
            </a:pPr>
            <a:r>
              <a:rPr lang="en-US" sz="900" b="1" dirty="0">
                <a:solidFill>
                  <a:srgbClr val="4F81BD"/>
                </a:solidFill>
                <a:latin typeface="Arial" panose="020B0604020202020204" pitchFamily="34" charset="0"/>
                <a:ea typeface="Times New Roman" panose="02020603050405020304" pitchFamily="18" charset="0"/>
                <a:cs typeface="Arial" panose="020B0604020202020204" pitchFamily="34" charset="0"/>
              </a:rPr>
              <a:t>Policy</a:t>
            </a:r>
          </a:p>
          <a:p>
            <a:pPr algn="just">
              <a:lnSpc>
                <a:spcPct val="115000"/>
              </a:lnSpc>
            </a:pPr>
            <a:r>
              <a:rPr lang="en-US" sz="900" dirty="0">
                <a:latin typeface="Arial" panose="020B0604020202020204" pitchFamily="34" charset="0"/>
                <a:ea typeface="Calibri" panose="020F0502020204030204" pitchFamily="34" charset="0"/>
                <a:cs typeface="Arial" panose="020B0604020202020204" pitchFamily="34" charset="0"/>
              </a:rPr>
              <a:t>A course or principle of action adopted or proposed by a government, party, business, or individual.</a:t>
            </a:r>
            <a:endParaRPr lang="en-US" sz="900" i="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endParaRPr lang="en-US" sz="600" i="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600" i="1" dirty="0">
                <a:latin typeface="Arial" panose="020B0604020202020204" pitchFamily="34" charset="0"/>
                <a:ea typeface="Calibri" panose="020F0502020204030204" pitchFamily="34" charset="0"/>
                <a:cs typeface="Arial" panose="020B0604020202020204" pitchFamily="34" charset="0"/>
              </a:rPr>
              <a:t>Source: </a:t>
            </a:r>
            <a:r>
              <a:rPr lang="en-US" sz="600" dirty="0">
                <a:latin typeface="Arial" panose="020B0604020202020204" pitchFamily="34" charset="0"/>
                <a:ea typeface="Calibri" panose="020F0502020204030204" pitchFamily="34" charset="0"/>
                <a:cs typeface="Arial" panose="020B0604020202020204" pitchFamily="34" charset="0"/>
              </a:rPr>
              <a:t>Oxford Dictionaries, Oxford University Press, </a:t>
            </a:r>
            <a:r>
              <a:rPr lang="en-US" sz="600" dirty="0" err="1">
                <a:latin typeface="Arial" panose="020B0604020202020204" pitchFamily="34" charset="0"/>
                <a:ea typeface="Calibri" panose="020F0502020204030204" pitchFamily="34" charset="0"/>
                <a:cs typeface="Arial" panose="020B0604020202020204" pitchFamily="34" charset="0"/>
              </a:rPr>
              <a:t>s.v</a:t>
            </a:r>
            <a:r>
              <a:rPr lang="en-US" sz="600" dirty="0">
                <a:latin typeface="Arial" panose="020B0604020202020204" pitchFamily="34" charset="0"/>
                <a:ea typeface="Calibri" panose="020F0502020204030204" pitchFamily="34" charset="0"/>
                <a:cs typeface="Arial" panose="020B0604020202020204" pitchFamily="34" charset="0"/>
              </a:rPr>
              <a:t>., “Policy”.</a:t>
            </a:r>
            <a:endParaRPr lang="en-US" sz="6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34090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17</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Submission:</a:t>
            </a:r>
            <a:r>
              <a:rPr lang="en-US" baseline="0" dirty="0"/>
              <a:t> Strategy</a:t>
            </a:r>
            <a:r>
              <a:rPr lang="en-US" dirty="0"/>
              <a:t> Perspective</a:t>
            </a:r>
          </a:p>
        </p:txBody>
      </p:sp>
      <p:sp>
        <p:nvSpPr>
          <p:cNvPr id="7" name="Rectangle 6"/>
          <p:cNvSpPr/>
          <p:nvPr/>
        </p:nvSpPr>
        <p:spPr>
          <a:xfrm>
            <a:off x="526446" y="5085561"/>
            <a:ext cx="4934465" cy="764825"/>
          </a:xfrm>
          <a:prstGeom prst="rect">
            <a:avLst/>
          </a:prstGeom>
        </p:spPr>
        <p:txBody>
          <a:bodyPr wrap="square">
            <a:spAutoFit/>
          </a:bodyPr>
          <a:lstStyle/>
          <a:p>
            <a:pPr algn="just">
              <a:lnSpc>
                <a:spcPct val="115000"/>
              </a:lnSpc>
            </a:pPr>
            <a:r>
              <a:rPr lang="en-US" sz="800" b="1" dirty="0">
                <a:solidFill>
                  <a:srgbClr val="4F81BD"/>
                </a:solidFill>
                <a:latin typeface="Arial" panose="020B0604020202020204" pitchFamily="34" charset="0"/>
                <a:ea typeface="Times New Roman" panose="02020603050405020304" pitchFamily="18" charset="0"/>
                <a:cs typeface="Arial" panose="020B0604020202020204" pitchFamily="34" charset="0"/>
              </a:rPr>
              <a:t>Strategy</a:t>
            </a:r>
          </a:p>
          <a:p>
            <a:pPr algn="just">
              <a:lnSpc>
                <a:spcPct val="115000"/>
              </a:lnSpc>
            </a:pPr>
            <a:r>
              <a:rPr lang="en-US" sz="800" dirty="0">
                <a:latin typeface="Arial" panose="020B0604020202020204" pitchFamily="34" charset="0"/>
                <a:ea typeface="Calibri" panose="020F0502020204030204" pitchFamily="34" charset="0"/>
                <a:cs typeface="Arial" panose="020B0604020202020204" pitchFamily="34" charset="0"/>
              </a:rPr>
              <a:t>The pattern or plan that integrates an organization’s major goals, policies, and action sequences into a cohesive whole. </a:t>
            </a:r>
          </a:p>
          <a:p>
            <a:pPr algn="just">
              <a:lnSpc>
                <a:spcPct val="115000"/>
              </a:lnSpc>
            </a:pPr>
            <a:endParaRPr lang="en-US" sz="700" i="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i="1" dirty="0">
                <a:latin typeface="Arial" panose="020B0604020202020204" pitchFamily="34" charset="0"/>
                <a:ea typeface="Calibri" panose="020F0502020204030204" pitchFamily="34" charset="0"/>
                <a:cs typeface="Arial" panose="020B0604020202020204" pitchFamily="34" charset="0"/>
              </a:rPr>
              <a:t>Source: </a:t>
            </a:r>
            <a:r>
              <a:rPr lang="en-US" sz="700" dirty="0">
                <a:latin typeface="Arial" panose="020B0604020202020204" pitchFamily="34" charset="0"/>
                <a:ea typeface="Calibri" panose="020F0502020204030204" pitchFamily="34" charset="0"/>
                <a:cs typeface="Arial" panose="020B0604020202020204" pitchFamily="34" charset="0"/>
              </a:rPr>
              <a:t>J. B. Quinn, </a:t>
            </a:r>
            <a:r>
              <a:rPr lang="en-US" sz="700" i="1" dirty="0">
                <a:latin typeface="Arial" panose="020B0604020202020204" pitchFamily="34" charset="0"/>
                <a:ea typeface="Calibri" panose="020F0502020204030204" pitchFamily="34" charset="0"/>
                <a:cs typeface="Arial" panose="020B0604020202020204" pitchFamily="34" charset="0"/>
              </a:rPr>
              <a:t>Strategies for Change: Logical Incrementalism </a:t>
            </a:r>
            <a:r>
              <a:rPr lang="en-US" sz="700" dirty="0">
                <a:latin typeface="Arial" panose="020B0604020202020204" pitchFamily="34" charset="0"/>
                <a:ea typeface="Calibri" panose="020F0502020204030204" pitchFamily="34" charset="0"/>
                <a:cs typeface="Arial" panose="020B0604020202020204" pitchFamily="34" charset="0"/>
              </a:rPr>
              <a:t>(Homewood: Richard D. Irwin, Inc., 1980).</a:t>
            </a:r>
            <a:endParaRPr lang="en-US" sz="7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8" name="Picture 7"/>
          <p:cNvPicPr/>
          <p:nvPr/>
        </p:nvPicPr>
        <p:blipFill rotWithShape="1">
          <a:blip r:embed="rId2">
            <a:extLst>
              <a:ext uri="{28A0092B-C50C-407E-A947-70E740481C1C}">
                <a14:useLocalDpi xmlns:a14="http://schemas.microsoft.com/office/drawing/2010/main" val="0"/>
              </a:ext>
            </a:extLst>
          </a:blip>
          <a:srcRect b="3705"/>
          <a:stretch/>
        </p:blipFill>
        <p:spPr bwMode="auto">
          <a:xfrm>
            <a:off x="5559767" y="922636"/>
            <a:ext cx="5099997" cy="5258503"/>
          </a:xfrm>
          <a:prstGeom prst="rect">
            <a:avLst/>
          </a:prstGeom>
          <a:noFill/>
          <a:ln>
            <a:noFill/>
          </a:ln>
          <a:extLst>
            <a:ext uri="{53640926-AAD7-44D8-BBD7-CCE9431645EC}">
              <a14:shadowObscured xmlns:a14="http://schemas.microsoft.com/office/drawing/2010/main"/>
            </a:ext>
          </a:extLst>
        </p:spPr>
      </p:pic>
      <p:sp>
        <p:nvSpPr>
          <p:cNvPr id="9" name="Content Placeholder 1"/>
          <p:cNvSpPr>
            <a:spLocks noGrp="1"/>
          </p:cNvSpPr>
          <p:nvPr>
            <p:ph idx="1"/>
          </p:nvPr>
        </p:nvSpPr>
        <p:spPr>
          <a:xfrm>
            <a:off x="652008" y="1696995"/>
            <a:ext cx="4905954" cy="4530809"/>
          </a:xfrm>
        </p:spPr>
        <p:txBody>
          <a:bodyPr>
            <a:normAutofit/>
          </a:bodyPr>
          <a:lstStyle/>
          <a:p>
            <a:pPr marL="0" indent="0">
              <a:buNone/>
            </a:pPr>
            <a:r>
              <a:rPr lang="en-US" sz="1800" dirty="0"/>
              <a:t>Strategy Package </a:t>
            </a:r>
          </a:p>
          <a:p>
            <a:pPr>
              <a:buFontTx/>
              <a:buChar char="-"/>
            </a:pPr>
            <a:r>
              <a:rPr lang="en-US" sz="1400" b="0" dirty="0"/>
              <a:t>Represents strategy as objectives and courses of action, reducing it to a common denominator</a:t>
            </a:r>
          </a:p>
          <a:p>
            <a:pPr>
              <a:buFontTx/>
              <a:buChar char="-"/>
            </a:pPr>
            <a:r>
              <a:rPr lang="en-US" sz="1400" b="0" dirty="0"/>
              <a:t>Associates objective with needs and expected results</a:t>
            </a:r>
          </a:p>
          <a:p>
            <a:pPr>
              <a:buFontTx/>
              <a:buChar char="-"/>
            </a:pPr>
            <a:r>
              <a:rPr lang="en-US" sz="1400" b="0" dirty="0"/>
              <a:t>Associates course of action with needs and expected results </a:t>
            </a:r>
          </a:p>
          <a:p>
            <a:pPr>
              <a:buFontTx/>
              <a:buChar char="-"/>
            </a:pPr>
            <a:r>
              <a:rPr lang="en-US" sz="1400" b="0" dirty="0"/>
              <a:t>Associates objective with change, which impacts capability</a:t>
            </a:r>
          </a:p>
          <a:p>
            <a:pPr>
              <a:buFontTx/>
              <a:buChar char="-"/>
            </a:pPr>
            <a:r>
              <a:rPr lang="en-US" sz="1400" b="0" dirty="0"/>
              <a:t>Associates rationale with change, expected results and needs </a:t>
            </a:r>
          </a:p>
        </p:txBody>
      </p:sp>
    </p:spTree>
    <p:extLst>
      <p:ext uri="{BB962C8B-B14F-4D97-AF65-F5344CB8AC3E}">
        <p14:creationId xmlns:p14="http://schemas.microsoft.com/office/powerpoint/2010/main" val="82551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18</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Submission: Initiative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4474"/>
          <a:stretch/>
        </p:blipFill>
        <p:spPr bwMode="auto">
          <a:xfrm>
            <a:off x="877268" y="1184526"/>
            <a:ext cx="5175189" cy="4287047"/>
          </a:xfrm>
          <a:prstGeom prst="rect">
            <a:avLst/>
          </a:prstGeom>
          <a:noFill/>
          <a:ln>
            <a:noFill/>
          </a:ln>
          <a:extLst>
            <a:ext uri="{53640926-AAD7-44D8-BBD7-CCE9431645EC}">
              <a14:shadowObscured xmlns:a14="http://schemas.microsoft.com/office/drawing/2010/main"/>
            </a:ext>
          </a:extLst>
        </p:spPr>
      </p:pic>
      <p:sp>
        <p:nvSpPr>
          <p:cNvPr id="8" name="Content Placeholder 1"/>
          <p:cNvSpPr>
            <a:spLocks noGrp="1"/>
          </p:cNvSpPr>
          <p:nvPr>
            <p:ph idx="1"/>
          </p:nvPr>
        </p:nvSpPr>
        <p:spPr>
          <a:xfrm>
            <a:off x="6491416" y="1724296"/>
            <a:ext cx="5280647" cy="3747277"/>
          </a:xfrm>
        </p:spPr>
        <p:txBody>
          <a:bodyPr>
            <a:normAutofit/>
          </a:bodyPr>
          <a:lstStyle/>
          <a:p>
            <a:pPr marL="0" indent="0">
              <a:buNone/>
            </a:pPr>
            <a:r>
              <a:rPr lang="en-US" sz="1800" dirty="0"/>
              <a:t>Initiative Package </a:t>
            </a:r>
            <a:endParaRPr lang="en-US" sz="1600" dirty="0"/>
          </a:p>
          <a:p>
            <a:pPr>
              <a:buFontTx/>
              <a:buChar char="-"/>
            </a:pPr>
            <a:r>
              <a:rPr lang="en-US" sz="1600" b="0" dirty="0"/>
              <a:t>Defines initiative to address programs, projects and related funded actions</a:t>
            </a:r>
          </a:p>
          <a:p>
            <a:pPr>
              <a:buFontTx/>
              <a:buChar char="-"/>
            </a:pPr>
            <a:r>
              <a:rPr lang="en-US" sz="1600" b="0" dirty="0"/>
              <a:t>Depicts relation of initiative to business that it impacts and executes it</a:t>
            </a:r>
          </a:p>
          <a:p>
            <a:pPr>
              <a:buFontTx/>
              <a:buChar char="-"/>
            </a:pPr>
            <a:r>
              <a:rPr lang="en-US" sz="1600" b="0" dirty="0"/>
              <a:t>Shows relationship to the objective the initiative meets</a:t>
            </a:r>
          </a:p>
          <a:p>
            <a:pPr>
              <a:buFontTx/>
              <a:buChar char="-"/>
            </a:pPr>
            <a:r>
              <a:rPr lang="en-US" sz="1600" b="0" dirty="0"/>
              <a:t>Identifies relationships between initiative and the capabilities and value stream stages they impact </a:t>
            </a:r>
          </a:p>
          <a:p>
            <a:pPr>
              <a:buFontTx/>
              <a:buChar char="-"/>
            </a:pPr>
            <a:endParaRPr lang="en-US" sz="1600" b="0" dirty="0"/>
          </a:p>
        </p:txBody>
      </p:sp>
      <p:sp>
        <p:nvSpPr>
          <p:cNvPr id="2" name="Rectangle 1"/>
          <p:cNvSpPr/>
          <p:nvPr/>
        </p:nvSpPr>
        <p:spPr>
          <a:xfrm>
            <a:off x="6776070" y="5086419"/>
            <a:ext cx="4659085" cy="729430"/>
          </a:xfrm>
          <a:prstGeom prst="rect">
            <a:avLst/>
          </a:prstGeom>
        </p:spPr>
        <p:txBody>
          <a:bodyPr wrap="square">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Initiative</a:t>
            </a:r>
          </a:p>
          <a:p>
            <a:pPr algn="just">
              <a:lnSpc>
                <a:spcPct val="115000"/>
              </a:lnSpc>
            </a:pPr>
            <a:r>
              <a:rPr lang="en-US" sz="1000" dirty="0">
                <a:latin typeface="Arial" panose="020B0604020202020204" pitchFamily="34" charset="0"/>
                <a:ea typeface="Calibri" panose="020F0502020204030204" pitchFamily="34" charset="0"/>
                <a:cs typeface="Arial" panose="020B0604020202020204" pitchFamily="34" charset="0"/>
              </a:rPr>
              <a:t>A course of action that is being executed or has been selected for execution.</a:t>
            </a:r>
          </a:p>
          <a:p>
            <a:pPr algn="just">
              <a:lnSpc>
                <a:spcPct val="115000"/>
              </a:lnSpc>
            </a:pPr>
            <a:endParaRPr lang="en-US" sz="800" dirty="0">
              <a:latin typeface="Arial" panose="020B0604020202020204" pitchFamily="34" charset="0"/>
              <a:cs typeface="Arial" panose="020B0604020202020204" pitchFamily="34" charset="0"/>
            </a:endParaRPr>
          </a:p>
          <a:p>
            <a:pPr algn="just">
              <a:lnSpc>
                <a:spcPct val="115000"/>
              </a:lnSpc>
            </a:pPr>
            <a:r>
              <a:rPr lang="en-US" sz="800" dirty="0">
                <a:latin typeface="Arial" panose="020B0604020202020204" pitchFamily="34" charset="0"/>
                <a:cs typeface="Arial" panose="020B0604020202020204" pitchFamily="34" charset="0"/>
              </a:rPr>
              <a:t>Source: BIZBOK® Guide, Business Architecture Guild </a:t>
            </a:r>
          </a:p>
        </p:txBody>
      </p:sp>
    </p:spTree>
    <p:extLst>
      <p:ext uri="{BB962C8B-B14F-4D97-AF65-F5344CB8AC3E}">
        <p14:creationId xmlns:p14="http://schemas.microsoft.com/office/powerpoint/2010/main" val="3955508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19</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Submission: Requirements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4930"/>
          <a:stretch/>
        </p:blipFill>
        <p:spPr bwMode="auto">
          <a:xfrm>
            <a:off x="379238" y="960427"/>
            <a:ext cx="5728043" cy="5053194"/>
          </a:xfrm>
          <a:prstGeom prst="rect">
            <a:avLst/>
          </a:prstGeom>
          <a:noFill/>
          <a:ln>
            <a:noFill/>
          </a:ln>
          <a:extLst>
            <a:ext uri="{53640926-AAD7-44D8-BBD7-CCE9431645EC}">
              <a14:shadowObscured xmlns:a14="http://schemas.microsoft.com/office/drawing/2010/main"/>
            </a:ext>
          </a:extLst>
        </p:spPr>
      </p:pic>
      <p:sp>
        <p:nvSpPr>
          <p:cNvPr id="8" name="Content Placeholder 1"/>
          <p:cNvSpPr>
            <a:spLocks noGrp="1"/>
          </p:cNvSpPr>
          <p:nvPr>
            <p:ph idx="1"/>
          </p:nvPr>
        </p:nvSpPr>
        <p:spPr>
          <a:xfrm>
            <a:off x="6209208" y="1071916"/>
            <a:ext cx="5475766" cy="4092889"/>
          </a:xfrm>
        </p:spPr>
        <p:txBody>
          <a:bodyPr>
            <a:normAutofit fontScale="92500" lnSpcReduction="10000"/>
          </a:bodyPr>
          <a:lstStyle/>
          <a:p>
            <a:pPr marL="0" indent="0">
              <a:buNone/>
            </a:pPr>
            <a:r>
              <a:rPr lang="en-US" sz="1800" dirty="0"/>
              <a:t>Requirements Package </a:t>
            </a:r>
            <a:endParaRPr lang="en-US" sz="1600" dirty="0"/>
          </a:p>
          <a:p>
            <a:pPr>
              <a:buFontTx/>
              <a:buChar char="-"/>
            </a:pPr>
            <a:r>
              <a:rPr lang="en-US" sz="1600" b="0" dirty="0"/>
              <a:t>Defines requirement, which represents any need or condition needed by a stakeholder</a:t>
            </a:r>
          </a:p>
          <a:p>
            <a:pPr>
              <a:buFontTx/>
              <a:buChar char="-"/>
            </a:pPr>
            <a:r>
              <a:rPr lang="en-US" sz="1600" b="0" dirty="0"/>
              <a:t>Enables requirements to be reflected at multiple levels</a:t>
            </a:r>
          </a:p>
          <a:p>
            <a:pPr>
              <a:buFontTx/>
              <a:buChar char="-"/>
            </a:pPr>
            <a:r>
              <a:rPr lang="en-US" sz="1600" b="0" dirty="0"/>
              <a:t>Associates requirement with the information it improves and product that it evolves</a:t>
            </a:r>
          </a:p>
          <a:p>
            <a:pPr>
              <a:buFontTx/>
              <a:buChar char="-"/>
            </a:pPr>
            <a:r>
              <a:rPr lang="en-US" sz="1600" b="0" dirty="0"/>
              <a:t>Leverages value stream and value stream stage to bound the scope of the requirement</a:t>
            </a:r>
          </a:p>
          <a:p>
            <a:pPr>
              <a:buFontTx/>
              <a:buChar char="-"/>
            </a:pPr>
            <a:r>
              <a:rPr lang="en-US" sz="1600" b="0" dirty="0"/>
              <a:t>Associates requirement to the stakeholder receiving related value of the requirement</a:t>
            </a:r>
          </a:p>
          <a:p>
            <a:pPr>
              <a:buFontTx/>
              <a:buChar char="-"/>
            </a:pPr>
            <a:r>
              <a:rPr lang="en-US" sz="1600" b="0" dirty="0"/>
              <a:t>Identifies impact of requirement on capability behavior</a:t>
            </a:r>
          </a:p>
          <a:p>
            <a:pPr>
              <a:buFontTx/>
              <a:buChar char="-"/>
            </a:pPr>
            <a:r>
              <a:rPr lang="en-US" sz="1600" b="0" dirty="0"/>
              <a:t>Associates requirement with its rationale </a:t>
            </a:r>
          </a:p>
          <a:p>
            <a:pPr>
              <a:buFontTx/>
              <a:buChar char="-"/>
            </a:pPr>
            <a:r>
              <a:rPr lang="en-US" sz="1600" b="0" dirty="0"/>
              <a:t>Frames requirement by its supporting initiative </a:t>
            </a:r>
          </a:p>
        </p:txBody>
      </p:sp>
      <p:sp>
        <p:nvSpPr>
          <p:cNvPr id="9" name="Rectangle 8"/>
          <p:cNvSpPr/>
          <p:nvPr/>
        </p:nvSpPr>
        <p:spPr>
          <a:xfrm>
            <a:off x="6418217" y="5182224"/>
            <a:ext cx="5277395" cy="806375"/>
          </a:xfrm>
          <a:prstGeom prst="rect">
            <a:avLst/>
          </a:prstGeom>
        </p:spPr>
        <p:txBody>
          <a:bodyPr wrap="square">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Requirement </a:t>
            </a:r>
          </a:p>
          <a:p>
            <a:pPr algn="just">
              <a:lnSpc>
                <a:spcPct val="115000"/>
              </a:lnSpc>
              <a:spcAft>
                <a:spcPts val="600"/>
              </a:spcAft>
            </a:pPr>
            <a:r>
              <a:rPr lang="en-US" sz="1000" dirty="0"/>
              <a:t>A condition or capability needed by a stakeholder to solve a problem or achieve an objective.</a:t>
            </a:r>
            <a:endParaRPr lang="en-US" sz="1000"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800" dirty="0">
                <a:latin typeface="Arial" panose="020B0604020202020204" pitchFamily="34" charset="0"/>
                <a:cs typeface="Arial" panose="020B0604020202020204" pitchFamily="34" charset="0"/>
              </a:rPr>
              <a:t>Source: </a:t>
            </a:r>
            <a:r>
              <a:rPr lang="en-US" sz="800" dirty="0"/>
              <a:t>A Guide to the Business Analysis Body of Knowledge (BABOK) v2.0, International Institute of Business Analysis</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2872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b="1" kern="1200" dirty="0">
                <a:solidFill>
                  <a:schemeClr val="tx1"/>
                </a:solidFill>
                <a:effectLst/>
                <a:latin typeface="+mn-lt"/>
                <a:ea typeface="+mn-ea"/>
                <a:cs typeface="+mn-cs"/>
              </a:rPr>
              <a:t>Submissions will be evaluated on the linkages between concepts in the </a:t>
            </a:r>
            <a:r>
              <a:rPr lang="en-US" sz="2000" b="1" kern="1200" dirty="0" err="1">
                <a:solidFill>
                  <a:schemeClr val="tx1"/>
                </a:solidFill>
                <a:effectLst/>
                <a:latin typeface="+mn-lt"/>
                <a:ea typeface="+mn-ea"/>
                <a:cs typeface="+mn-cs"/>
              </a:rPr>
              <a:t>metamodels</a:t>
            </a:r>
            <a:r>
              <a:rPr lang="en-US" sz="2000" b="1" kern="1200" dirty="0">
                <a:solidFill>
                  <a:schemeClr val="tx1"/>
                </a:solidFill>
                <a:effectLst/>
                <a:latin typeface="+mn-lt"/>
                <a:ea typeface="+mn-ea"/>
                <a:cs typeface="+mn-cs"/>
              </a:rPr>
              <a:t> and on the adequacy of these linkages to express important business relationships</a:t>
            </a:r>
          </a:p>
          <a:p>
            <a:endParaRPr lang="en-US"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20</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#3: concept Linkages </a:t>
            </a:r>
            <a:endParaRPr lang="en-US" dirty="0"/>
          </a:p>
        </p:txBody>
      </p:sp>
      <p:sp>
        <p:nvSpPr>
          <p:cNvPr id="7" name="Content Placeholder 1"/>
          <p:cNvSpPr txBox="1">
            <a:spLocks/>
          </p:cNvSpPr>
          <p:nvPr/>
        </p:nvSpPr>
        <p:spPr>
          <a:xfrm>
            <a:off x="208055" y="1929596"/>
            <a:ext cx="6096003" cy="3852481"/>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buNone/>
            </a:pPr>
            <a:r>
              <a:rPr lang="en-US" sz="1400" dirty="0"/>
              <a:t>BACM RFP suggested following examples of business interactions enabled by touchpoints:</a:t>
            </a:r>
          </a:p>
          <a:p>
            <a:pPr lvl="2"/>
            <a:r>
              <a:rPr lang="en-US" sz="1200" dirty="0"/>
              <a:t>Enable a business to determine strategic objectives impacting certain capabilities </a:t>
            </a:r>
          </a:p>
          <a:p>
            <a:pPr lvl="2">
              <a:spcAft>
                <a:spcPts val="1800"/>
              </a:spcAft>
            </a:pPr>
            <a:r>
              <a:rPr lang="en-US" sz="1200" dirty="0"/>
              <a:t>Articulate capabilities necessary to enable the delivery of customer value</a:t>
            </a:r>
          </a:p>
          <a:p>
            <a:pPr lvl="2"/>
            <a:r>
              <a:rPr lang="en-US" sz="1200" dirty="0"/>
              <a:t>Determine capabilities impacted by a given initiative, program, or project</a:t>
            </a:r>
          </a:p>
          <a:p>
            <a:pPr lvl="2"/>
            <a:r>
              <a:rPr lang="en-US" sz="1200" dirty="0"/>
              <a:t>Understand how business units share capabilities with other business units</a:t>
            </a:r>
          </a:p>
          <a:p>
            <a:pPr lvl="2"/>
            <a:r>
              <a:rPr lang="en-US" sz="1200" dirty="0"/>
              <a:t>Determine capabilities packaged within or needed to enable a product or service</a:t>
            </a:r>
          </a:p>
          <a:p>
            <a:pPr lvl="2">
              <a:spcAft>
                <a:spcPts val="2000"/>
              </a:spcAft>
            </a:pPr>
            <a:r>
              <a:rPr lang="en-US" sz="1200" dirty="0"/>
              <a:t>Show information required as an input to one or more capabilities </a:t>
            </a:r>
          </a:p>
          <a:p>
            <a:pPr lvl="2"/>
            <a:r>
              <a:rPr lang="en-US" sz="1200" dirty="0"/>
              <a:t>Define the capabilities required to deliver a given product or service to a customer</a:t>
            </a:r>
          </a:p>
          <a:p>
            <a:pPr lvl="2"/>
            <a:r>
              <a:rPr lang="en-US" sz="1200" dirty="0"/>
              <a:t>Determine capabilities linked to a given business process</a:t>
            </a:r>
          </a:p>
        </p:txBody>
      </p:sp>
      <p:sp>
        <p:nvSpPr>
          <p:cNvPr id="9" name="Content Placeholder 1"/>
          <p:cNvSpPr txBox="1">
            <a:spLocks/>
          </p:cNvSpPr>
          <p:nvPr/>
        </p:nvSpPr>
        <p:spPr>
          <a:xfrm>
            <a:off x="6206455" y="2530405"/>
            <a:ext cx="5729763" cy="3385754"/>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lvl="2"/>
            <a:r>
              <a:rPr lang="en-US" sz="1200" dirty="0"/>
              <a:t>Strategy package depicts impact on capabilities </a:t>
            </a:r>
          </a:p>
          <a:p>
            <a:pPr lvl="2">
              <a:spcAft>
                <a:spcPts val="600"/>
              </a:spcAft>
            </a:pPr>
            <a:r>
              <a:rPr lang="en-US" sz="1200" dirty="0"/>
              <a:t>Value package shows how capability outcomes contribute to value items, which accrue to customer value propositions </a:t>
            </a:r>
          </a:p>
          <a:p>
            <a:pPr lvl="2"/>
            <a:r>
              <a:rPr lang="en-US" sz="1200" dirty="0"/>
              <a:t>Initiative package depicts how initiatives impact a capability</a:t>
            </a:r>
          </a:p>
          <a:p>
            <a:pPr lvl="2"/>
            <a:r>
              <a:rPr lang="en-US" sz="1200" dirty="0"/>
              <a:t>Organization package depicts how business units have instances of capabilities</a:t>
            </a:r>
          </a:p>
          <a:p>
            <a:pPr lvl="2"/>
            <a:r>
              <a:rPr lang="en-US" sz="1200" dirty="0"/>
              <a:t>Product package highlights how capabilities enable products</a:t>
            </a:r>
          </a:p>
          <a:p>
            <a:pPr lvl="2">
              <a:spcAft>
                <a:spcPts val="400"/>
              </a:spcAft>
            </a:pPr>
            <a:r>
              <a:rPr lang="en-US" sz="1200" dirty="0"/>
              <a:t>Capability outcomes affect business objects, which are represented by information concept</a:t>
            </a:r>
          </a:p>
          <a:p>
            <a:pPr lvl="2"/>
            <a:r>
              <a:rPr lang="en-US" sz="1200" dirty="0"/>
              <a:t>Product package highlights how capabilities enable products</a:t>
            </a:r>
          </a:p>
          <a:p>
            <a:pPr lvl="2"/>
            <a:r>
              <a:rPr lang="en-US" sz="1200" dirty="0">
                <a:solidFill>
                  <a:srgbClr val="0070C0"/>
                </a:solidFill>
              </a:rPr>
              <a:t>BPMN/CMMN/DMN alignment package represents the relationship between a capability instance and an activity in BPMN/</a:t>
            </a:r>
            <a:r>
              <a:rPr lang="en-US" sz="1200" dirty="0" err="1">
                <a:solidFill>
                  <a:srgbClr val="0070C0"/>
                </a:solidFill>
              </a:rPr>
              <a:t>CMMNactivity</a:t>
            </a:r>
            <a:r>
              <a:rPr lang="en-US" sz="1200" dirty="0">
                <a:solidFill>
                  <a:srgbClr val="0070C0"/>
                </a:solidFill>
              </a:rPr>
              <a:t>  </a:t>
            </a:r>
          </a:p>
          <a:p>
            <a:pPr lvl="2"/>
            <a:endParaRPr lang="en-US" sz="1200" dirty="0"/>
          </a:p>
          <a:p>
            <a:pPr lvl="2"/>
            <a:endParaRPr lang="en-US" sz="1200" dirty="0"/>
          </a:p>
        </p:txBody>
      </p:sp>
      <p:cxnSp>
        <p:nvCxnSpPr>
          <p:cNvPr id="13" name="Straight Arrow Connector 12"/>
          <p:cNvCxnSpPr/>
          <p:nvPr/>
        </p:nvCxnSpPr>
        <p:spPr>
          <a:xfrm>
            <a:off x="5963124" y="2654644"/>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963124" y="2996309"/>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963124" y="3426473"/>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970498" y="3768138"/>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990162" y="4082768"/>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960666" y="4436730"/>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980330" y="4854596"/>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980332" y="5193806"/>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6391526" y="1931944"/>
            <a:ext cx="5425017" cy="523220"/>
          </a:xfrm>
          <a:prstGeom prst="rect">
            <a:avLst/>
          </a:prstGeom>
        </p:spPr>
        <p:txBody>
          <a:bodyPr wrap="square">
            <a:spAutoFit/>
          </a:bodyPr>
          <a:lstStyle/>
          <a:p>
            <a:r>
              <a:rPr lang="en-US" sz="1400" b="1" dirty="0"/>
              <a:t>BACM submission enables each of these business interactions and many more to support a wide range of business scenarios</a:t>
            </a:r>
          </a:p>
        </p:txBody>
      </p:sp>
    </p:spTree>
    <p:extLst>
      <p:ext uri="{BB962C8B-B14F-4D97-AF65-F5344CB8AC3E}">
        <p14:creationId xmlns:p14="http://schemas.microsoft.com/office/powerpoint/2010/main" val="2116688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1362" y="1133581"/>
            <a:ext cx="10972800" cy="909405"/>
          </a:xfrm>
        </p:spPr>
        <p:txBody>
          <a:bodyPr>
            <a:normAutofit/>
          </a:bodyPr>
          <a:lstStyle/>
          <a:p>
            <a:pPr marL="0" indent="0">
              <a:buNone/>
            </a:pPr>
            <a:r>
              <a:rPr lang="en-US" sz="1800" b="1" kern="1200" dirty="0">
                <a:solidFill>
                  <a:schemeClr val="tx1"/>
                </a:solidFill>
                <a:effectLst/>
              </a:rPr>
              <a:t>Submitted mechanisms for model alignment will be evaluated on semantic completeness and precision and its ability to support model integration </a:t>
            </a:r>
            <a:r>
              <a:rPr lang="en-US" sz="1800" b="1" kern="1200" dirty="0">
                <a:solidFill>
                  <a:srgbClr val="0070C0"/>
                </a:solidFill>
                <a:effectLst/>
              </a:rPr>
              <a:t>(i.e., integration between a BA model and a foreign model)</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21</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#4: Model Alignment Ability</a:t>
            </a:r>
            <a:endParaRPr lang="en-US" dirty="0"/>
          </a:p>
        </p:txBody>
      </p:sp>
      <p:pic>
        <p:nvPicPr>
          <p:cNvPr id="15" name="Picture 14"/>
          <p:cNvPicPr/>
          <p:nvPr/>
        </p:nvPicPr>
        <p:blipFill rotWithShape="1">
          <a:blip r:embed="rId2">
            <a:extLst>
              <a:ext uri="{28A0092B-C50C-407E-A947-70E740481C1C}">
                <a14:useLocalDpi xmlns:a14="http://schemas.microsoft.com/office/drawing/2010/main" val="0"/>
              </a:ext>
            </a:extLst>
          </a:blip>
          <a:srcRect b="4582"/>
          <a:stretch/>
        </p:blipFill>
        <p:spPr bwMode="auto">
          <a:xfrm>
            <a:off x="5988909" y="1916566"/>
            <a:ext cx="5750010" cy="3454503"/>
          </a:xfrm>
          <a:prstGeom prst="rect">
            <a:avLst/>
          </a:prstGeom>
          <a:noFill/>
          <a:ln>
            <a:noFill/>
          </a:ln>
          <a:extLst>
            <a:ext uri="{53640926-AAD7-44D8-BBD7-CCE9431645EC}">
              <a14:shadowObscured xmlns:a14="http://schemas.microsoft.com/office/drawing/2010/main"/>
            </a:ext>
          </a:extLst>
        </p:spPr>
      </p:pic>
      <p:sp>
        <p:nvSpPr>
          <p:cNvPr id="16" name="Content Placeholder 1"/>
          <p:cNvSpPr txBox="1">
            <a:spLocks/>
          </p:cNvSpPr>
          <p:nvPr/>
        </p:nvSpPr>
        <p:spPr>
          <a:xfrm>
            <a:off x="635531" y="1911177"/>
            <a:ext cx="5691128" cy="4226009"/>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hangingPunct="0">
              <a:buNone/>
            </a:pPr>
            <a:r>
              <a:rPr lang="en-US" sz="1800" dirty="0"/>
              <a:t>Assembler</a:t>
            </a:r>
            <a:endParaRPr lang="en-US" sz="1600" dirty="0"/>
          </a:p>
          <a:p>
            <a:pPr hangingPunct="0"/>
            <a:r>
              <a:rPr lang="en-US" sz="1600" b="0" dirty="0"/>
              <a:t>Model alignment mechanism is realized via an “Assembler” </a:t>
            </a:r>
          </a:p>
          <a:p>
            <a:pPr hangingPunct="0"/>
            <a:r>
              <a:rPr lang="en-US" sz="1600" b="0" dirty="0"/>
              <a:t>When Assembler is realized in a model, the modeler can add properties to the Assembler object (as one would for a UML class) </a:t>
            </a:r>
          </a:p>
          <a:p>
            <a:pPr hangingPunct="0"/>
            <a:r>
              <a:rPr lang="en-US" sz="1600" b="0" dirty="0"/>
              <a:t>The modeler can specify a query as the default value for the query attribute of the object</a:t>
            </a:r>
          </a:p>
          <a:p>
            <a:pPr hangingPunct="0"/>
            <a:r>
              <a:rPr lang="en-US" sz="1600" b="0" dirty="0"/>
              <a:t>The assembler also incorporates the Structured Metrics Metamodel (SMM) for metric analysis</a:t>
            </a:r>
          </a:p>
          <a:p>
            <a:pPr hangingPunct="0"/>
            <a:r>
              <a:rPr lang="en-US" sz="1600" b="0" dirty="0">
                <a:solidFill>
                  <a:srgbClr val="FF0000"/>
                </a:solidFill>
              </a:rPr>
              <a:t>Principal example is using foreign models in BPMN, CMMN, or DMN as the source concept(s) for target concept(s) in a BA Model, but works for mapping to non-standard concepts such as those used in other BA practitioner areas </a:t>
            </a:r>
          </a:p>
          <a:p>
            <a:pPr hangingPunct="0"/>
            <a:endParaRPr lang="en-US" sz="1600" b="0" dirty="0"/>
          </a:p>
          <a:p>
            <a:pPr marL="0" indent="0">
              <a:buFont typeface="Arial" panose="020B0604020202020204" pitchFamily="34" charset="0"/>
              <a:buNone/>
            </a:pPr>
            <a:endParaRPr lang="en-US" sz="1600" b="0" dirty="0"/>
          </a:p>
        </p:txBody>
      </p:sp>
    </p:spTree>
    <p:extLst>
      <p:ext uri="{BB962C8B-B14F-4D97-AF65-F5344CB8AC3E}">
        <p14:creationId xmlns:p14="http://schemas.microsoft.com/office/powerpoint/2010/main" val="1724021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051202"/>
            <a:ext cx="10972800" cy="1889706"/>
          </a:xfrm>
        </p:spPr>
        <p:txBody>
          <a:bodyPr>
            <a:normAutofit/>
          </a:bodyPr>
          <a:lstStyle/>
          <a:p>
            <a:pPr marL="0" marR="0" lvl="0" indent="0" algn="l" defTabSz="914400" rtl="0" eaLnBrk="1" fontAlgn="auto" latinLnBrk="0" hangingPunct="1">
              <a:lnSpc>
                <a:spcPct val="100000"/>
              </a:lnSpc>
              <a:spcBef>
                <a:spcPts val="0"/>
              </a:spcBef>
              <a:spcAft>
                <a:spcPts val="1200"/>
              </a:spcAft>
              <a:buClrTx/>
              <a:buSzTx/>
              <a:buNone/>
              <a:tabLst/>
              <a:defRPr/>
            </a:pPr>
            <a:r>
              <a:rPr lang="en-US" sz="1400" b="1" kern="1200" dirty="0">
                <a:solidFill>
                  <a:schemeClr val="tx1"/>
                </a:solidFill>
                <a:effectLst/>
              </a:rPr>
              <a:t>Submitters required to provide information in their submissions showing that the concepts in their submissions are based on concepts found in business publications and practices. Submissions will be judged by completeness in justifying metamodel concepts by reference to such publications and practices, and by the commonality and quality of referenced publications and practices.</a:t>
            </a:r>
          </a:p>
          <a:p>
            <a:pPr marL="0" indent="0">
              <a:buNone/>
            </a:pPr>
            <a:r>
              <a:rPr lang="en-US" sz="1400" dirty="0"/>
              <a:t>Following source references provide an example of reference section of BACM</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#5: Concept Support from Industry publications &amp; Practice</a:t>
            </a:r>
            <a:r>
              <a:rPr lang="en-US" dirty="0"/>
              <a:t>s</a:t>
            </a:r>
          </a:p>
        </p:txBody>
      </p:sp>
      <p:sp>
        <p:nvSpPr>
          <p:cNvPr id="7" name="Content Placeholder 3"/>
          <p:cNvSpPr txBox="1">
            <a:spLocks/>
          </p:cNvSpPr>
          <p:nvPr/>
        </p:nvSpPr>
        <p:spPr>
          <a:xfrm>
            <a:off x="532020" y="2117124"/>
            <a:ext cx="5448649" cy="3814119"/>
          </a:xfrm>
          <a:prstGeom prst="rect">
            <a:avLst/>
          </a:prstGeom>
        </p:spPr>
        <p:txBody>
          <a:bodyPr>
            <a:no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hangingPunct="0">
              <a:spcBef>
                <a:spcPts val="0"/>
              </a:spcBef>
              <a:spcAft>
                <a:spcPts val="600"/>
              </a:spcAft>
              <a:buFont typeface="+mj-lt"/>
              <a:buAutoNum type="arabicPeriod"/>
            </a:pPr>
            <a:r>
              <a:rPr lang="en-US" sz="800" b="0" dirty="0"/>
              <a:t>Business Architecture Guild®, </a:t>
            </a:r>
            <a:r>
              <a:rPr lang="en-US" sz="800" b="0" u="sng" dirty="0">
                <a:hlinkClick r:id="rId2"/>
              </a:rPr>
              <a:t>www.businessarchitectureguild.org</a:t>
            </a:r>
            <a:endParaRPr lang="en-US" sz="800" b="0" dirty="0"/>
          </a:p>
          <a:p>
            <a:pPr hangingPunct="0">
              <a:spcBef>
                <a:spcPts val="0"/>
              </a:spcBef>
              <a:spcAft>
                <a:spcPts val="600"/>
              </a:spcAft>
              <a:buFont typeface="+mj-lt"/>
              <a:buAutoNum type="arabicPeriod"/>
            </a:pPr>
            <a:r>
              <a:rPr lang="en-US" sz="800" b="0" dirty="0"/>
              <a:t>BIZBOK® Guide, Part 1: Introduction, </a:t>
            </a:r>
            <a:r>
              <a:rPr lang="en-US" sz="800" b="0" u="sng" dirty="0">
                <a:hlinkClick r:id="rId3"/>
              </a:rPr>
              <a:t>http://www.businessarchitectureguild.org/?page=002</a:t>
            </a:r>
            <a:r>
              <a:rPr lang="en-US" sz="800" b="0" u="sng" dirty="0"/>
              <a:t>.</a:t>
            </a:r>
            <a:endParaRPr lang="en-US" sz="800" b="0" dirty="0"/>
          </a:p>
          <a:p>
            <a:pPr hangingPunct="0">
              <a:spcBef>
                <a:spcPts val="0"/>
              </a:spcBef>
              <a:spcAft>
                <a:spcPts val="600"/>
              </a:spcAft>
              <a:buFont typeface="+mj-lt"/>
              <a:buAutoNum type="arabicPeriod"/>
            </a:pPr>
            <a:r>
              <a:rPr lang="en-US" sz="800" b="0" dirty="0"/>
              <a:t>Federation of Enterprise Architecture Professional Organizations (FEAPO), </a:t>
            </a:r>
            <a:r>
              <a:rPr lang="en-US" sz="800" b="0" u="sng" dirty="0">
                <a:hlinkClick r:id="rId4"/>
              </a:rPr>
              <a:t>www.feapo.org</a:t>
            </a:r>
            <a:r>
              <a:rPr lang="en-US" sz="800" b="0" dirty="0"/>
              <a:t>.   </a:t>
            </a:r>
          </a:p>
          <a:p>
            <a:pPr hangingPunct="0">
              <a:spcBef>
                <a:spcPts val="0"/>
              </a:spcBef>
              <a:spcAft>
                <a:spcPts val="600"/>
              </a:spcAft>
              <a:buFont typeface="+mj-lt"/>
              <a:buAutoNum type="arabicPeriod"/>
            </a:pPr>
            <a:r>
              <a:rPr lang="en-US" sz="800" b="0" dirty="0"/>
              <a:t>FEAPO definition of business architecture, FEAPO </a:t>
            </a:r>
            <a:r>
              <a:rPr lang="en-US" sz="800" b="0" dirty="0" err="1"/>
              <a:t>Pulication</a:t>
            </a:r>
            <a:r>
              <a:rPr lang="en-US" sz="800" b="0" dirty="0"/>
              <a:t> Resources, </a:t>
            </a:r>
            <a:r>
              <a:rPr lang="en-US" sz="800" b="0" u="sng" dirty="0">
                <a:hlinkClick r:id="rId5"/>
              </a:rPr>
              <a:t>http://feapo.org/wp-content/uploads/2018/05/Taxonomy-The-Federation-of-Enterprise-Architecture-Definitions-.pdf</a:t>
            </a:r>
            <a:r>
              <a:rPr lang="en-US" sz="800" b="0" dirty="0"/>
              <a:t> </a:t>
            </a:r>
          </a:p>
          <a:p>
            <a:pPr hangingPunct="0">
              <a:spcBef>
                <a:spcPts val="0"/>
              </a:spcBef>
              <a:spcAft>
                <a:spcPts val="600"/>
              </a:spcAft>
              <a:buFont typeface="+mj-lt"/>
              <a:buAutoNum type="arabicPeriod"/>
            </a:pPr>
            <a:r>
              <a:rPr lang="en-US" sz="800" b="0" dirty="0"/>
              <a:t>FEAPO member listing, </a:t>
            </a:r>
            <a:r>
              <a:rPr lang="en-US" sz="800" b="0" u="sng" dirty="0">
                <a:hlinkClick r:id="rId6"/>
              </a:rPr>
              <a:t>http://feapo.org/members/</a:t>
            </a:r>
            <a:r>
              <a:rPr lang="en-US" sz="800" b="0" dirty="0"/>
              <a:t>. </a:t>
            </a:r>
          </a:p>
          <a:p>
            <a:pPr hangingPunct="0">
              <a:spcBef>
                <a:spcPts val="0"/>
              </a:spcBef>
              <a:spcAft>
                <a:spcPts val="600"/>
              </a:spcAft>
              <a:buFont typeface="+mj-lt"/>
              <a:buAutoNum type="arabicPeriod"/>
            </a:pPr>
            <a:r>
              <a:rPr lang="en-US" sz="800" b="0" dirty="0"/>
              <a:t>Business Architecture Quick Guide, MK Press, January 2018, Business Architecture Guild.</a:t>
            </a:r>
          </a:p>
          <a:p>
            <a:pPr hangingPunct="0">
              <a:spcBef>
                <a:spcPts val="0"/>
              </a:spcBef>
              <a:spcAft>
                <a:spcPts val="600"/>
              </a:spcAft>
              <a:buFont typeface="+mj-lt"/>
              <a:buAutoNum type="arabicPeriod"/>
            </a:pPr>
            <a:r>
              <a:rPr lang="en-US" sz="800" b="0" dirty="0"/>
              <a:t>Marne de </a:t>
            </a:r>
            <a:r>
              <a:rPr lang="en-US" sz="800" b="0" dirty="0" err="1"/>
              <a:t>Vries</a:t>
            </a:r>
            <a:r>
              <a:rPr lang="en-US" sz="800" b="0" dirty="0"/>
              <a:t> et al. “A Method for Identifying Process Reuse Opportunities to Enhance the Operating Model”, IEEE International Conference on Industrial Engineering and Engineering Management, 2011. en.wikipedia.org/wiki/</a:t>
            </a:r>
            <a:r>
              <a:rPr lang="en-US" sz="800" b="0" dirty="0" err="1"/>
              <a:t>Operating_model</a:t>
            </a:r>
            <a:r>
              <a:rPr lang="en-US" sz="800" b="0" dirty="0"/>
              <a:t>.</a:t>
            </a:r>
          </a:p>
          <a:p>
            <a:pPr hangingPunct="0">
              <a:spcBef>
                <a:spcPts val="0"/>
              </a:spcBef>
              <a:spcAft>
                <a:spcPts val="600"/>
              </a:spcAft>
              <a:buFont typeface="+mj-lt"/>
              <a:buAutoNum type="arabicPeriod"/>
            </a:pPr>
            <a:r>
              <a:rPr lang="en-US" sz="800" b="0" dirty="0"/>
              <a:t>Business Architecture: Putting “Business” into Enterprise Architecture, R. Soley and W. Ulrich, CXO Insights, May 09, 2016, </a:t>
            </a:r>
            <a:r>
              <a:rPr lang="en-US" sz="800" b="0" u="sng" dirty="0">
                <a:hlinkClick r:id="rId7"/>
              </a:rPr>
              <a:t>http://c.ymcdn.com/sites/www.businessarchitectureguild.org/resource/resmgr/docs/putting_business_into_busine.pdf</a:t>
            </a:r>
            <a:r>
              <a:rPr lang="en-US" sz="800" b="0" dirty="0"/>
              <a:t>. </a:t>
            </a:r>
          </a:p>
          <a:p>
            <a:pPr hangingPunct="0">
              <a:spcBef>
                <a:spcPts val="0"/>
              </a:spcBef>
              <a:spcAft>
                <a:spcPts val="600"/>
              </a:spcAft>
              <a:buFont typeface="+mj-lt"/>
              <a:buAutoNum type="arabicPeriod"/>
            </a:pPr>
            <a:r>
              <a:rPr lang="en-US" sz="800" b="0" dirty="0"/>
              <a:t>“A Business-Oriented Foundation for Service Orientation”, </a:t>
            </a:r>
            <a:r>
              <a:rPr lang="en-US" sz="800" b="0" dirty="0" err="1"/>
              <a:t>Homann</a:t>
            </a:r>
            <a:r>
              <a:rPr lang="en-US" sz="800" b="0" dirty="0"/>
              <a:t>, Ulrich, 2006, http://bit.ly/2faqT67. </a:t>
            </a:r>
          </a:p>
          <a:p>
            <a:pPr hangingPunct="0">
              <a:spcBef>
                <a:spcPts val="0"/>
              </a:spcBef>
              <a:spcAft>
                <a:spcPts val="600"/>
              </a:spcAft>
              <a:buFont typeface="+mj-lt"/>
              <a:buAutoNum type="arabicPeriod"/>
            </a:pPr>
            <a:r>
              <a:rPr lang="en-US" sz="800" b="0" dirty="0"/>
              <a:t>BIZBOK® Guide, Appendix A, Glossary, </a:t>
            </a:r>
            <a:r>
              <a:rPr lang="en-US" sz="800" b="0" u="sng" dirty="0">
                <a:hlinkClick r:id="rId3"/>
              </a:rPr>
              <a:t>http://www.businessarchitectureguild.org/?page=002</a:t>
            </a:r>
            <a:r>
              <a:rPr lang="en-US" sz="800" b="0" u="sng" dirty="0"/>
              <a:t>.</a:t>
            </a:r>
            <a:endParaRPr lang="en-US" sz="800" b="0" dirty="0"/>
          </a:p>
          <a:p>
            <a:pPr hangingPunct="0">
              <a:spcBef>
                <a:spcPts val="0"/>
              </a:spcBef>
              <a:spcAft>
                <a:spcPts val="600"/>
              </a:spcAft>
              <a:buFont typeface="+mj-lt"/>
              <a:buAutoNum type="arabicPeriod"/>
            </a:pPr>
            <a:r>
              <a:rPr lang="en-US" sz="800" b="0" dirty="0"/>
              <a:t>BIZBOK® Guide, Part 1: Introduction, </a:t>
            </a:r>
            <a:r>
              <a:rPr lang="en-US" sz="800" b="0" u="sng" dirty="0">
                <a:hlinkClick r:id="rId3"/>
              </a:rPr>
              <a:t>http://www.businessarchitectureguild.org/?page=002</a:t>
            </a:r>
            <a:r>
              <a:rPr lang="en-US" sz="800" b="0" u="sng" dirty="0"/>
              <a:t>.</a:t>
            </a:r>
            <a:endParaRPr lang="en-US" sz="800" b="0" dirty="0"/>
          </a:p>
          <a:p>
            <a:pPr hangingPunct="0">
              <a:spcBef>
                <a:spcPts val="0"/>
              </a:spcBef>
              <a:spcAft>
                <a:spcPts val="600"/>
              </a:spcAft>
              <a:buFont typeface="+mj-lt"/>
              <a:buAutoNum type="arabicPeriod"/>
            </a:pPr>
            <a:r>
              <a:rPr lang="en-US" sz="800" b="0" dirty="0"/>
              <a:t>BIZBOK® Guide, Appendix A, Glossary, </a:t>
            </a:r>
            <a:r>
              <a:rPr lang="en-US" sz="800" b="0" u="sng" dirty="0">
                <a:hlinkClick r:id="rId3"/>
              </a:rPr>
              <a:t>http://www.businessarchitectureguild.org/?page=002</a:t>
            </a:r>
            <a:r>
              <a:rPr lang="en-US" sz="800" b="0" u="sng" dirty="0"/>
              <a:t>.</a:t>
            </a:r>
            <a:endParaRPr lang="en-US" sz="800" b="0" dirty="0"/>
          </a:p>
          <a:p>
            <a:pPr hangingPunct="0">
              <a:spcBef>
                <a:spcPts val="0"/>
              </a:spcBef>
              <a:spcAft>
                <a:spcPts val="600"/>
              </a:spcAft>
              <a:buFont typeface="+mj-lt"/>
              <a:buAutoNum type="arabicPeriod"/>
            </a:pPr>
            <a:r>
              <a:rPr lang="en-US" sz="800" b="0" i="1" dirty="0"/>
              <a:t>Source: </a:t>
            </a:r>
            <a:r>
              <a:rPr lang="en-US" sz="800" b="0" dirty="0"/>
              <a:t>Greg </a:t>
            </a:r>
            <a:r>
              <a:rPr lang="en-US" sz="800" b="0" dirty="0" err="1"/>
              <a:t>Geracie</a:t>
            </a:r>
            <a:r>
              <a:rPr lang="en-US" sz="800" b="0" dirty="0"/>
              <a:t> and Steven </a:t>
            </a:r>
            <a:r>
              <a:rPr lang="en-US" sz="800" b="0" dirty="0" err="1"/>
              <a:t>Eppinger</a:t>
            </a:r>
            <a:r>
              <a:rPr lang="en-US" sz="800" b="0" dirty="0"/>
              <a:t>,</a:t>
            </a:r>
            <a:r>
              <a:rPr lang="en-US" sz="800" b="0" i="1" dirty="0"/>
              <a:t> The Guide to the Product Management and Marketing Body of Knowledge® (</a:t>
            </a:r>
            <a:r>
              <a:rPr lang="en-US" sz="800" b="0" i="1" dirty="0" err="1"/>
              <a:t>ProdBOK</a:t>
            </a:r>
            <a:r>
              <a:rPr lang="en-US" sz="800" b="0" dirty="0"/>
              <a:t>®), Product Marketing and Management, 2013. </a:t>
            </a:r>
          </a:p>
          <a:p>
            <a:pPr hangingPunct="0">
              <a:spcBef>
                <a:spcPts val="0"/>
              </a:spcBef>
              <a:spcAft>
                <a:spcPts val="600"/>
              </a:spcAft>
              <a:buFont typeface="+mj-lt"/>
              <a:buAutoNum type="arabicPeriod"/>
            </a:pPr>
            <a:r>
              <a:rPr lang="en-US" sz="800" b="0" dirty="0"/>
              <a:t>Oxford Dictionaries, Oxford University Press.</a:t>
            </a:r>
          </a:p>
          <a:p>
            <a:pPr hangingPunct="0">
              <a:spcBef>
                <a:spcPts val="0"/>
              </a:spcBef>
              <a:spcAft>
                <a:spcPts val="600"/>
              </a:spcAft>
              <a:buFont typeface="+mj-lt"/>
              <a:buAutoNum type="arabicPeriod"/>
            </a:pPr>
            <a:r>
              <a:rPr lang="en-US" sz="800" b="0" dirty="0"/>
              <a:t>J. B. Quinn, </a:t>
            </a:r>
            <a:r>
              <a:rPr lang="en-US" sz="800" b="0" i="1" dirty="0"/>
              <a:t>Strategies for Change: Logical Incrementalism</a:t>
            </a:r>
            <a:r>
              <a:rPr lang="en-US" sz="800" b="0" dirty="0"/>
              <a:t> (Homewood: Richard D. Irwin, Inc., 1980).</a:t>
            </a:r>
          </a:p>
        </p:txBody>
      </p:sp>
      <p:sp>
        <p:nvSpPr>
          <p:cNvPr id="8" name="Content Placeholder 5"/>
          <p:cNvSpPr txBox="1">
            <a:spLocks/>
          </p:cNvSpPr>
          <p:nvPr/>
        </p:nvSpPr>
        <p:spPr>
          <a:xfrm>
            <a:off x="6217259" y="2091619"/>
            <a:ext cx="5414567" cy="3740769"/>
          </a:xfrm>
          <a:prstGeom prst="rect">
            <a:avLst/>
          </a:prstGeom>
        </p:spPr>
        <p:txBody>
          <a:bodyPr>
            <a:norm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hangingPunct="0">
              <a:spcBef>
                <a:spcPts val="0"/>
              </a:spcBef>
              <a:spcAft>
                <a:spcPts val="600"/>
              </a:spcAft>
              <a:buFont typeface="+mj-lt"/>
              <a:buAutoNum type="arabicPeriod" startAt="16"/>
            </a:pPr>
            <a:r>
              <a:rPr lang="en-US" sz="800" b="0" dirty="0"/>
              <a:t>BIZBOK® Guide, Appendix A, Glossary, </a:t>
            </a:r>
            <a:r>
              <a:rPr lang="en-US" sz="800" b="0" u="sng" dirty="0">
                <a:hlinkClick r:id="rId3"/>
              </a:rPr>
              <a:t>http://www.businessarchitectureguild.org/?page=002</a:t>
            </a:r>
            <a:r>
              <a:rPr lang="en-US" sz="800" b="0" u="sng" dirty="0"/>
              <a:t>.</a:t>
            </a:r>
            <a:endParaRPr lang="en-US" sz="800" b="0" dirty="0"/>
          </a:p>
          <a:p>
            <a:pPr hangingPunct="0">
              <a:spcBef>
                <a:spcPts val="0"/>
              </a:spcBef>
              <a:spcAft>
                <a:spcPts val="600"/>
              </a:spcAft>
              <a:buFont typeface="+mj-lt"/>
              <a:buAutoNum type="arabicPeriod" startAt="16"/>
            </a:pPr>
            <a:r>
              <a:rPr lang="en-US" sz="800" b="0" dirty="0"/>
              <a:t>A Guide to the Business Analysis Body of Knowledge (BABOK) v2.0, International Institute of Business Analysis</a:t>
            </a:r>
          </a:p>
          <a:p>
            <a:pPr hangingPunct="0">
              <a:spcBef>
                <a:spcPts val="0"/>
              </a:spcBef>
              <a:spcAft>
                <a:spcPts val="600"/>
              </a:spcAft>
              <a:buFont typeface="+mj-lt"/>
              <a:buAutoNum type="arabicPeriod" startAt="16"/>
            </a:pPr>
            <a:r>
              <a:rPr lang="en-US" sz="800" b="0" dirty="0"/>
              <a:t>Structured Metrics Metamodel (SMM) standard, </a:t>
            </a:r>
            <a:r>
              <a:rPr lang="en-US" sz="800" b="0" u="sng" dirty="0">
                <a:hlinkClick r:id="rId8"/>
              </a:rPr>
              <a:t>https://www.omg.org/spec/SMM/About-SMM/</a:t>
            </a:r>
            <a:r>
              <a:rPr lang="en-US" sz="800" b="0" dirty="0"/>
              <a:t>. </a:t>
            </a:r>
          </a:p>
          <a:p>
            <a:pPr hangingPunct="0">
              <a:spcBef>
                <a:spcPts val="0"/>
              </a:spcBef>
              <a:spcAft>
                <a:spcPts val="600"/>
              </a:spcAft>
              <a:buFont typeface="+mj-lt"/>
              <a:buAutoNum type="arabicPeriod" startAt="16"/>
            </a:pPr>
            <a:r>
              <a:rPr lang="en-US" sz="800" b="0" dirty="0"/>
              <a:t>“A Business-Oriented Foundation for Service Orientation”, </a:t>
            </a:r>
            <a:r>
              <a:rPr lang="en-US" sz="800" b="0" dirty="0" err="1"/>
              <a:t>Homann</a:t>
            </a:r>
            <a:r>
              <a:rPr lang="en-US" sz="800" b="0" dirty="0"/>
              <a:t>, Ulrich, 2006, </a:t>
            </a:r>
            <a:r>
              <a:rPr lang="en-US" sz="800" b="0" u="sng" dirty="0">
                <a:hlinkClick r:id="rId9"/>
              </a:rPr>
              <a:t>https://cdn.ymaws.com/www.businessarchitectureguild.org/resource/resmgr/homann_article_on_capabiliti.pdf</a:t>
            </a:r>
            <a:r>
              <a:rPr lang="en-US" sz="800" b="0" dirty="0"/>
              <a:t>.  </a:t>
            </a:r>
          </a:p>
          <a:p>
            <a:pPr hangingPunct="0">
              <a:spcBef>
                <a:spcPts val="0"/>
              </a:spcBef>
              <a:spcAft>
                <a:spcPts val="600"/>
              </a:spcAft>
              <a:buFont typeface="+mj-lt"/>
              <a:buAutoNum type="arabicPeriod" startAt="16"/>
            </a:pPr>
            <a:r>
              <a:rPr lang="en-US" sz="800" b="0" i="1" dirty="0"/>
              <a:t>Enterprise Business Architecture: The Formal Link between Strategy and Results, </a:t>
            </a:r>
            <a:r>
              <a:rPr lang="en-US" sz="800" b="0" dirty="0"/>
              <a:t>Ralph Whittle and Conrad Myrick, Boca Raton: Auerbach, 2005. </a:t>
            </a:r>
          </a:p>
          <a:p>
            <a:pPr hangingPunct="0">
              <a:spcBef>
                <a:spcPts val="0"/>
              </a:spcBef>
              <a:spcAft>
                <a:spcPts val="600"/>
              </a:spcAft>
              <a:buFont typeface="+mj-lt"/>
              <a:buAutoNum type="arabicPeriod" startAt="16"/>
            </a:pPr>
            <a:r>
              <a:rPr lang="en-US" sz="800" b="0" dirty="0"/>
              <a:t>“The Great Transition”, Martin, James, 1995, AMACOM, ISBN-10: 0814403158. </a:t>
            </a:r>
          </a:p>
          <a:p>
            <a:pPr hangingPunct="0">
              <a:spcBef>
                <a:spcPts val="0"/>
              </a:spcBef>
              <a:spcAft>
                <a:spcPts val="600"/>
              </a:spcAft>
              <a:buFont typeface="+mj-lt"/>
              <a:buAutoNum type="arabicPeriod" startAt="16"/>
            </a:pPr>
            <a:r>
              <a:rPr lang="en-US" sz="800" b="0" dirty="0"/>
              <a:t>Source: Alexander Osterwalder and Yves </a:t>
            </a:r>
            <a:r>
              <a:rPr lang="en-US" sz="800" b="0" dirty="0" err="1"/>
              <a:t>Pigneur</a:t>
            </a:r>
            <a:r>
              <a:rPr lang="en-US" sz="800" b="0" dirty="0"/>
              <a:t>, </a:t>
            </a:r>
            <a:r>
              <a:rPr lang="en-US" sz="800" b="0" i="1" dirty="0"/>
              <a:t>Business Model Generation</a:t>
            </a:r>
            <a:r>
              <a:rPr lang="en-US" sz="800" b="0" dirty="0"/>
              <a:t>, Self-Published, 2010, Page 14</a:t>
            </a:r>
          </a:p>
          <a:p>
            <a:pPr hangingPunct="0">
              <a:spcBef>
                <a:spcPts val="0"/>
              </a:spcBef>
              <a:spcAft>
                <a:spcPts val="600"/>
              </a:spcAft>
              <a:buFont typeface="+mj-lt"/>
              <a:buAutoNum type="arabicPeriod" startAt="16"/>
            </a:pPr>
            <a:r>
              <a:rPr lang="en-US" sz="800" b="0" dirty="0"/>
              <a:t>BPMN 2.0 Standard, </a:t>
            </a:r>
            <a:r>
              <a:rPr lang="en-US" sz="800" b="0" u="sng" dirty="0">
                <a:hlinkClick r:id="rId10"/>
              </a:rPr>
              <a:t>http://www.omg.org/bpmn/</a:t>
            </a:r>
            <a:r>
              <a:rPr lang="en-US" sz="800" b="0" dirty="0"/>
              <a:t>. </a:t>
            </a:r>
          </a:p>
          <a:p>
            <a:pPr hangingPunct="0">
              <a:spcBef>
                <a:spcPts val="0"/>
              </a:spcBef>
              <a:spcAft>
                <a:spcPts val="600"/>
              </a:spcAft>
              <a:buFont typeface="+mj-lt"/>
              <a:buAutoNum type="arabicPeriod" startAt="16"/>
            </a:pPr>
            <a:r>
              <a:rPr lang="en-US" sz="800" b="0" dirty="0"/>
              <a:t>CMMN Standard, </a:t>
            </a:r>
            <a:r>
              <a:rPr lang="en-US" sz="800" b="0" u="sng" dirty="0">
                <a:hlinkClick r:id="rId11"/>
              </a:rPr>
              <a:t>https://www.omg.org/spec/CMMN/1.0/About-CMMN/</a:t>
            </a:r>
            <a:r>
              <a:rPr lang="en-US" sz="800" b="0" dirty="0"/>
              <a:t>. </a:t>
            </a:r>
          </a:p>
          <a:p>
            <a:pPr hangingPunct="0">
              <a:spcBef>
                <a:spcPts val="0"/>
              </a:spcBef>
              <a:spcAft>
                <a:spcPts val="600"/>
              </a:spcAft>
              <a:buFont typeface="+mj-lt"/>
              <a:buAutoNum type="arabicPeriod" startAt="16"/>
            </a:pPr>
            <a:r>
              <a:rPr lang="en-US" sz="800" b="0" dirty="0"/>
              <a:t>DMN Standard, </a:t>
            </a:r>
            <a:r>
              <a:rPr lang="en-US" sz="800" b="0" u="sng" dirty="0">
                <a:hlinkClick r:id="rId12"/>
              </a:rPr>
              <a:t>https://www.omg.org/spec/DMN/About-DMN/</a:t>
            </a:r>
            <a:r>
              <a:rPr lang="en-US" sz="800" b="0" dirty="0"/>
              <a:t>. </a:t>
            </a:r>
          </a:p>
          <a:p>
            <a:pPr hangingPunct="0">
              <a:spcBef>
                <a:spcPts val="0"/>
              </a:spcBef>
              <a:spcAft>
                <a:spcPts val="600"/>
              </a:spcAft>
              <a:buFont typeface="+mj-lt"/>
              <a:buAutoNum type="arabicPeriod" startAt="16"/>
            </a:pPr>
            <a:r>
              <a:rPr lang="en-US" sz="800" b="0" dirty="0"/>
              <a:t>Marne de Vries et al. “A Method for Identifying Process Reuse Opportunities to Enhance the Operating Model”, IEEE International Conference on Industrial Engineering and Engineering Management, 2011. en.wikipedia.org/wiki/</a:t>
            </a:r>
            <a:r>
              <a:rPr lang="en-US" sz="800" b="0" dirty="0" err="1"/>
              <a:t>Operating_model</a:t>
            </a:r>
            <a:r>
              <a:rPr lang="en-US" sz="800" b="0" dirty="0"/>
              <a:t>.</a:t>
            </a:r>
          </a:p>
          <a:p>
            <a:pPr hangingPunct="0">
              <a:spcBef>
                <a:spcPts val="0"/>
              </a:spcBef>
              <a:spcAft>
                <a:spcPts val="600"/>
              </a:spcAft>
              <a:buFont typeface="+mj-lt"/>
              <a:buAutoNum type="arabicPeriod" startAt="16"/>
            </a:pPr>
            <a:r>
              <a:rPr lang="en-US" sz="800" b="0" dirty="0"/>
              <a:t>For example, an activity element will be associated with the flow container in which it resides (e.g., a process), but this may or may not be information needed per the methodology applied by the modeler or the tool vendor.</a:t>
            </a:r>
          </a:p>
          <a:p>
            <a:pPr hangingPunct="0">
              <a:spcBef>
                <a:spcPts val="0"/>
              </a:spcBef>
              <a:spcAft>
                <a:spcPts val="600"/>
              </a:spcAft>
              <a:buFont typeface="+mj-lt"/>
              <a:buAutoNum type="arabicPeriod" startAt="16"/>
            </a:pPr>
            <a:r>
              <a:rPr lang="en-US" sz="800" b="0" dirty="0"/>
              <a:t>For example, a data object element will be associated with the activity with which it has a data association, but this may or may not be information needed per the methodology applied by the modeler or the tool vendor.</a:t>
            </a:r>
          </a:p>
          <a:p>
            <a:pPr>
              <a:spcBef>
                <a:spcPts val="0"/>
              </a:spcBef>
              <a:spcAft>
                <a:spcPts val="600"/>
              </a:spcAft>
              <a:buFont typeface="+mj-lt"/>
              <a:buAutoNum type="arabicPeriod" startAt="16"/>
            </a:pPr>
            <a:endParaRPr lang="en-US" sz="800" b="0" dirty="0"/>
          </a:p>
        </p:txBody>
      </p:sp>
    </p:spTree>
    <p:extLst>
      <p:ext uri="{BB962C8B-B14F-4D97-AF65-F5344CB8AC3E}">
        <p14:creationId xmlns:p14="http://schemas.microsoft.com/office/powerpoint/2010/main" val="3392851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000" b="0" kern="1200" dirty="0">
                <a:solidFill>
                  <a:schemeClr val="tx1"/>
                </a:solidFill>
                <a:effectLst/>
              </a:rPr>
              <a:t>Submissions will be evaluated on the quality and completeness of the discussions on alignment with business relevant OMG standard </a:t>
            </a:r>
            <a:r>
              <a:rPr lang="en-US" sz="2000" b="0" kern="1200" dirty="0" err="1">
                <a:solidFill>
                  <a:schemeClr val="tx1"/>
                </a:solidFill>
                <a:effectLst/>
              </a:rPr>
              <a:t>metamodels</a:t>
            </a:r>
            <a:r>
              <a:rPr lang="en-US" sz="2000" b="0" kern="1200" dirty="0">
                <a:solidFill>
                  <a:schemeClr val="tx1"/>
                </a:solidFill>
                <a:effectLst/>
              </a:rPr>
              <a:t> such as VDML, BMM, BPMN, DMN, CMMN and UPDM/UAF (SMM) TOGAF</a:t>
            </a:r>
          </a:p>
          <a:p>
            <a:r>
              <a:rPr lang="en-US" b="0" dirty="0"/>
              <a:t>BACM alignments that follow include: </a:t>
            </a:r>
          </a:p>
          <a:p>
            <a:pPr lvl="3"/>
            <a:r>
              <a:rPr lang="en-US" kern="1200" dirty="0">
                <a:solidFill>
                  <a:schemeClr val="tx1"/>
                </a:solidFill>
                <a:effectLst/>
              </a:rPr>
              <a:t>Business Motivation Model (BMM) alignment (OMG)</a:t>
            </a:r>
          </a:p>
          <a:p>
            <a:pPr lvl="3"/>
            <a:r>
              <a:rPr lang="en-US" dirty="0"/>
              <a:t>TOGAF alignment (capability increment) (Open Group)</a:t>
            </a:r>
          </a:p>
          <a:p>
            <a:pPr lvl="3"/>
            <a:r>
              <a:rPr lang="en-US" dirty="0"/>
              <a:t>Value Delivery Modeling Language (VDML) (OMG)</a:t>
            </a:r>
          </a:p>
          <a:p>
            <a:pPr lvl="3"/>
            <a:r>
              <a:rPr lang="en-US" kern="1200" dirty="0">
                <a:solidFill>
                  <a:schemeClr val="tx1"/>
                </a:solidFill>
                <a:effectLst/>
              </a:rPr>
              <a:t>Business Process Model and Notation (BPMN</a:t>
            </a:r>
            <a:r>
              <a:rPr lang="en-US" dirty="0"/>
              <a:t>) alignment (OMG)</a:t>
            </a:r>
            <a:endParaRPr lang="en-US" kern="1200" dirty="0">
              <a:solidFill>
                <a:schemeClr val="tx1"/>
              </a:solidFill>
              <a:effectLst/>
            </a:endParaRPr>
          </a:p>
          <a:p>
            <a:pPr lvl="3"/>
            <a:r>
              <a:rPr lang="en-US" dirty="0"/>
              <a:t>Decision Management and Notation (DMN) alignment (OMG)</a:t>
            </a:r>
          </a:p>
          <a:p>
            <a:pPr lvl="3"/>
            <a:r>
              <a:rPr lang="en-US" kern="1200" dirty="0">
                <a:solidFill>
                  <a:schemeClr val="tx1"/>
                </a:solidFill>
                <a:effectLst/>
              </a:rPr>
              <a:t>Case Management Model and Notation (CMMN</a:t>
            </a:r>
            <a:r>
              <a:rPr lang="en-US" dirty="0"/>
              <a:t>) (OMG)</a:t>
            </a:r>
          </a:p>
          <a:p>
            <a:pPr lvl="3"/>
            <a:r>
              <a:rPr lang="en-US" kern="1200" dirty="0">
                <a:solidFill>
                  <a:srgbClr val="FF0000"/>
                </a:solidFill>
                <a:effectLst/>
              </a:rPr>
              <a:t>UAF (OMG)</a:t>
            </a:r>
          </a:p>
          <a:p>
            <a:endParaRPr lang="en-US"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BACM Evaluation Criteria #6: OMG Standards Alignment</a:t>
            </a:r>
            <a:endParaRPr lang="en-US" dirty="0"/>
          </a:p>
        </p:txBody>
      </p:sp>
    </p:spTree>
    <p:extLst>
      <p:ext uri="{BB962C8B-B14F-4D97-AF65-F5344CB8AC3E}">
        <p14:creationId xmlns:p14="http://schemas.microsoft.com/office/powerpoint/2010/main" val="2311616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82637"/>
            <a:ext cx="5033319" cy="4606207"/>
          </a:xfrm>
        </p:spPr>
        <p:txBody>
          <a:bodyPr/>
          <a:lstStyle/>
          <a:p>
            <a:pPr marL="0" indent="0">
              <a:spcAft>
                <a:spcPts val="1800"/>
              </a:spcAft>
              <a:buNone/>
            </a:pPr>
            <a:r>
              <a:rPr lang="en-US" dirty="0"/>
              <a:t>BMM Alignment </a:t>
            </a:r>
          </a:p>
          <a:p>
            <a:pPr>
              <a:spcAft>
                <a:spcPts val="1800"/>
              </a:spcAft>
            </a:pPr>
            <a:r>
              <a:rPr lang="en-US" b="0" dirty="0"/>
              <a:t>BMM alignment uses the assembler mechanism to align to two foreign model elements</a:t>
            </a:r>
          </a:p>
          <a:p>
            <a:pPr>
              <a:spcAft>
                <a:spcPts val="1800"/>
              </a:spcAft>
            </a:pPr>
            <a:r>
              <a:rPr lang="en-US" sz="2000" b="0" kern="1200" dirty="0">
                <a:solidFill>
                  <a:schemeClr val="tx1"/>
                </a:solidFill>
                <a:effectLst/>
              </a:rPr>
              <a:t>Strategy package course of action is aligned to BMM course of action</a:t>
            </a:r>
          </a:p>
          <a:p>
            <a:pPr>
              <a:spcAft>
                <a:spcPts val="1800"/>
              </a:spcAft>
            </a:pPr>
            <a:r>
              <a:rPr lang="en-US" b="0" dirty="0"/>
              <a:t>Strategy package objective is aligned to BMM objective </a:t>
            </a:r>
          </a:p>
          <a:p>
            <a:pPr>
              <a:spcAft>
                <a:spcPts val="1800"/>
              </a:spcAft>
            </a:pPr>
            <a:r>
              <a:rPr lang="en-US" sz="2000" b="0" kern="1200" dirty="0">
                <a:solidFill>
                  <a:schemeClr val="tx1"/>
                </a:solidFill>
                <a:effectLst/>
              </a:rPr>
              <a:t>Analysis leverages the SMM</a:t>
            </a:r>
          </a:p>
          <a:p>
            <a:pPr>
              <a:spcAft>
                <a:spcPts val="1800"/>
              </a:spcAft>
            </a:pPr>
            <a:endParaRPr lang="en-US"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OMG Standards Alignment: Business Motivation Model</a:t>
            </a:r>
            <a:r>
              <a:rPr lang="en-US" sz="2800" kern="1200" cap="all" dirty="0">
                <a:solidFill>
                  <a:schemeClr val="tx1"/>
                </a:solidFill>
                <a:effectLst/>
                <a:latin typeface="+mj-lt"/>
                <a:ea typeface="+mj-ea"/>
                <a:cs typeface="+mj-cs"/>
              </a:rPr>
              <a:t> (BMM)</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5632"/>
          <a:stretch/>
        </p:blipFill>
        <p:spPr bwMode="auto">
          <a:xfrm>
            <a:off x="5725299" y="1603140"/>
            <a:ext cx="5959690" cy="303476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60450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17877"/>
            <a:ext cx="5428735" cy="4973467"/>
          </a:xfrm>
        </p:spPr>
        <p:txBody>
          <a:bodyPr>
            <a:normAutofit/>
          </a:bodyPr>
          <a:lstStyle/>
          <a:p>
            <a:pPr marL="0" indent="0">
              <a:spcAft>
                <a:spcPts val="1800"/>
              </a:spcAft>
              <a:buNone/>
            </a:pPr>
            <a:r>
              <a:rPr lang="en-US" sz="1800" b="0" dirty="0"/>
              <a:t>TOGAF Alignment </a:t>
            </a:r>
          </a:p>
          <a:p>
            <a:pPr>
              <a:spcAft>
                <a:spcPts val="1800"/>
              </a:spcAft>
            </a:pPr>
            <a:r>
              <a:rPr lang="en-AU" sz="1600" b="0" dirty="0"/>
              <a:t>BACM is aligned to TOGAF for purposes of capability-based planning</a:t>
            </a:r>
            <a:endParaRPr lang="en-US" sz="1600" b="0" dirty="0"/>
          </a:p>
          <a:p>
            <a:pPr>
              <a:spcAft>
                <a:spcPts val="1800"/>
              </a:spcAft>
            </a:pPr>
            <a:r>
              <a:rPr lang="en-US" sz="1600" b="0" dirty="0"/>
              <a:t>TOGAF incorporates the concept of a capability increment </a:t>
            </a:r>
          </a:p>
          <a:p>
            <a:pPr>
              <a:spcAft>
                <a:spcPts val="1800"/>
              </a:spcAft>
            </a:pPr>
            <a:r>
              <a:rPr lang="en-US" sz="1600" b="0" dirty="0"/>
              <a:t>Capability increment is a version of a capability that represents a change in the performance and maturity of the capability</a:t>
            </a:r>
          </a:p>
          <a:p>
            <a:pPr>
              <a:spcAft>
                <a:spcPts val="1800"/>
              </a:spcAft>
            </a:pPr>
            <a:r>
              <a:rPr lang="en-US" sz="1600" b="0" dirty="0"/>
              <a:t>Capability increment is viewed as a specialization of the Change element defined in the BACM strategy package</a:t>
            </a:r>
          </a:p>
          <a:p>
            <a:pPr>
              <a:spcAft>
                <a:spcPts val="1800"/>
              </a:spcAft>
            </a:pPr>
            <a:r>
              <a:rPr lang="en-US" sz="1600" b="0" dirty="0"/>
              <a:t>Change defines a relationship between a strategy package objective and before and after versions of the capability instance targeted by the change</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OMG Standards Alignment: The Open Group Architecture Framework (TOGAF™) </a:t>
            </a:r>
            <a:endParaRPr lang="en-US" dirty="0"/>
          </a:p>
        </p:txBody>
      </p:sp>
      <p:pic>
        <p:nvPicPr>
          <p:cNvPr id="8" name="Picture 7"/>
          <p:cNvPicPr/>
          <p:nvPr/>
        </p:nvPicPr>
        <p:blipFill rotWithShape="1">
          <a:blip r:embed="rId2">
            <a:extLst>
              <a:ext uri="{28A0092B-C50C-407E-A947-70E740481C1C}">
                <a14:useLocalDpi xmlns:a14="http://schemas.microsoft.com/office/drawing/2010/main" val="0"/>
              </a:ext>
            </a:extLst>
          </a:blip>
          <a:srcRect t="1059" b="835"/>
          <a:stretch/>
        </p:blipFill>
        <p:spPr bwMode="auto">
          <a:xfrm>
            <a:off x="6215575" y="976680"/>
            <a:ext cx="5671820" cy="52959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38766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343328" y="1005515"/>
            <a:ext cx="5428735" cy="4973467"/>
          </a:xfrm>
        </p:spPr>
        <p:txBody>
          <a:bodyPr>
            <a:normAutofit/>
          </a:bodyPr>
          <a:lstStyle/>
          <a:p>
            <a:pPr marL="0" indent="0">
              <a:spcAft>
                <a:spcPts val="1800"/>
              </a:spcAft>
              <a:buNone/>
            </a:pPr>
            <a:r>
              <a:rPr lang="en-US" sz="1800" b="0" dirty="0"/>
              <a:t>VDML Value Alignment </a:t>
            </a:r>
          </a:p>
          <a:p>
            <a:pPr>
              <a:spcAft>
                <a:spcPts val="1800"/>
              </a:spcAft>
            </a:pPr>
            <a:endParaRPr lang="en-AU" sz="1600" b="0" dirty="0"/>
          </a:p>
          <a:p>
            <a:pPr>
              <a:spcAft>
                <a:spcPts val="1800"/>
              </a:spcAft>
            </a:pPr>
            <a:endParaRPr lang="en-AU" sz="1600" b="0" dirty="0"/>
          </a:p>
          <a:p>
            <a:pPr>
              <a:spcAft>
                <a:spcPts val="1800"/>
              </a:spcAft>
            </a:pPr>
            <a:endParaRPr lang="en-US" sz="1600"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26</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OMG Standards Alignment:</a:t>
            </a:r>
            <a:r>
              <a:rPr lang="en-US" sz="2800" kern="1200" cap="all" dirty="0">
                <a:solidFill>
                  <a:schemeClr val="tx1"/>
                </a:solidFill>
                <a:effectLst/>
                <a:latin typeface="+mj-lt"/>
                <a:ea typeface="+mj-ea"/>
                <a:cs typeface="+mj-cs"/>
              </a:rPr>
              <a:t> Value Delivery Modeling Language (VDML) </a:t>
            </a:r>
            <a:endParaRPr lang="en-US" dirty="0"/>
          </a:p>
        </p:txBody>
      </p:sp>
      <p:pic>
        <p:nvPicPr>
          <p:cNvPr id="9" name="Picture 8"/>
          <p:cNvPicPr/>
          <p:nvPr/>
        </p:nvPicPr>
        <p:blipFill rotWithShape="1">
          <a:blip r:embed="rId2">
            <a:extLst>
              <a:ext uri="{28A0092B-C50C-407E-A947-70E740481C1C}">
                <a14:useLocalDpi xmlns:a14="http://schemas.microsoft.com/office/drawing/2010/main" val="0"/>
              </a:ext>
            </a:extLst>
          </a:blip>
          <a:srcRect r="2268" b="4842"/>
          <a:stretch/>
        </p:blipFill>
        <p:spPr bwMode="auto">
          <a:xfrm>
            <a:off x="558114" y="940585"/>
            <a:ext cx="5650590" cy="5497230"/>
          </a:xfrm>
          <a:prstGeom prst="rect">
            <a:avLst/>
          </a:prstGeom>
          <a:noFill/>
          <a:ln w="9525" cap="flat" cmpd="sng" algn="ctr">
            <a:no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04475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343328" y="1005515"/>
            <a:ext cx="5428735" cy="4973467"/>
          </a:xfrm>
        </p:spPr>
        <p:txBody>
          <a:bodyPr>
            <a:normAutofit/>
          </a:bodyPr>
          <a:lstStyle/>
          <a:p>
            <a:pPr marL="0" indent="0">
              <a:spcAft>
                <a:spcPts val="1800"/>
              </a:spcAft>
              <a:buNone/>
            </a:pPr>
            <a:r>
              <a:rPr lang="en-US" sz="1800" b="0" dirty="0"/>
              <a:t>VDML Capability Alignment </a:t>
            </a:r>
          </a:p>
          <a:p>
            <a:pPr>
              <a:spcAft>
                <a:spcPts val="1800"/>
              </a:spcAft>
            </a:pPr>
            <a:endParaRPr lang="en-US" sz="1600"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27</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a:solidFill>
                  <a:schemeClr val="tx1"/>
                </a:solidFill>
                <a:effectLst/>
                <a:latin typeface="+mj-lt"/>
                <a:ea typeface="+mj-ea"/>
                <a:cs typeface="+mj-cs"/>
              </a:rPr>
              <a:t>OMG Standards Alignment:</a:t>
            </a:r>
            <a:r>
              <a:rPr lang="en-US" sz="2800" kern="1200" cap="all" dirty="0">
                <a:solidFill>
                  <a:schemeClr val="tx1"/>
                </a:solidFill>
                <a:effectLst/>
                <a:latin typeface="+mj-lt"/>
                <a:ea typeface="+mj-ea"/>
                <a:cs typeface="+mj-cs"/>
              </a:rPr>
              <a:t> Value Delivery Modeling Language (VDML) </a:t>
            </a:r>
            <a:endParaRPr lang="en-US" dirty="0"/>
          </a:p>
        </p:txBody>
      </p:sp>
      <p:pic>
        <p:nvPicPr>
          <p:cNvPr id="10" name="Picture 9"/>
          <p:cNvPicPr/>
          <p:nvPr/>
        </p:nvPicPr>
        <p:blipFill rotWithShape="1">
          <a:blip r:embed="rId2">
            <a:extLst>
              <a:ext uri="{28A0092B-C50C-407E-A947-70E740481C1C}">
                <a14:useLocalDpi xmlns:a14="http://schemas.microsoft.com/office/drawing/2010/main" val="0"/>
              </a:ext>
            </a:extLst>
          </a:blip>
          <a:srcRect r="2290" b="4896"/>
          <a:stretch/>
        </p:blipFill>
        <p:spPr bwMode="auto">
          <a:xfrm>
            <a:off x="646444" y="970679"/>
            <a:ext cx="5466986" cy="5134030"/>
          </a:xfrm>
          <a:prstGeom prst="rect">
            <a:avLst/>
          </a:prstGeom>
          <a:noFill/>
          <a:ln>
            <a:solidFill>
              <a:schemeClr val="tx1">
                <a:lumMod val="85000"/>
                <a:lumOff val="15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72698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28</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Overview of BPMN, CMMN and DMN Alignment to BACM</a:t>
            </a: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4651" y="1062445"/>
            <a:ext cx="8461829" cy="4929051"/>
          </a:xfrm>
          <a:prstGeom prst="rect">
            <a:avLst/>
          </a:prstGeom>
          <a:noFill/>
        </p:spPr>
      </p:pic>
    </p:spTree>
    <p:extLst>
      <p:ext uri="{BB962C8B-B14F-4D97-AF65-F5344CB8AC3E}">
        <p14:creationId xmlns:p14="http://schemas.microsoft.com/office/powerpoint/2010/main" val="1165911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29</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Touchpoint Alignment Example </a:t>
            </a:r>
            <a:r>
              <a:rPr lang="en-US" dirty="0">
                <a:solidFill>
                  <a:srgbClr val="0070C0"/>
                </a:solidFill>
              </a:rPr>
              <a:t>– BPMN Activity t0 Capability (through Capability instance)</a:t>
            </a: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9561" y="1013504"/>
            <a:ext cx="11202502" cy="4734153"/>
          </a:xfrm>
          <a:prstGeom prst="rect">
            <a:avLst/>
          </a:prstGeom>
          <a:noFill/>
        </p:spPr>
      </p:pic>
      <p:sp>
        <p:nvSpPr>
          <p:cNvPr id="2" name="TextBox 1">
            <a:extLst>
              <a:ext uri="{FF2B5EF4-FFF2-40B4-BE49-F238E27FC236}">
                <a16:creationId xmlns:a16="http://schemas.microsoft.com/office/drawing/2014/main" id="{966D8762-6FE6-4EA6-8115-D9DB9B54C3F9}"/>
              </a:ext>
            </a:extLst>
          </p:cNvPr>
          <p:cNvSpPr txBox="1"/>
          <p:nvPr/>
        </p:nvSpPr>
        <p:spPr>
          <a:xfrm>
            <a:off x="9245600" y="5239825"/>
            <a:ext cx="2946400" cy="1015663"/>
          </a:xfrm>
          <a:prstGeom prst="rect">
            <a:avLst/>
          </a:prstGeom>
          <a:noFill/>
        </p:spPr>
        <p:txBody>
          <a:bodyPr wrap="square" rtlCol="0">
            <a:spAutoFit/>
          </a:bodyPr>
          <a:lstStyle/>
          <a:p>
            <a:r>
              <a:rPr lang="en-US" sz="1200" b="1" dirty="0">
                <a:solidFill>
                  <a:srgbClr val="0070C0"/>
                </a:solidFill>
              </a:rPr>
              <a:t>Note that this example uses the BPMN XML file as the container of the foreign model with XPath used to return a node result, but alternate forms exists (e.g., model in RDF and SPARQL is used)</a:t>
            </a:r>
          </a:p>
        </p:txBody>
      </p:sp>
    </p:spTree>
    <p:extLst>
      <p:ext uri="{BB962C8B-B14F-4D97-AF65-F5344CB8AC3E}">
        <p14:creationId xmlns:p14="http://schemas.microsoft.com/office/powerpoint/2010/main" val="3147106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23409"/>
            <a:ext cx="4123224" cy="4740186"/>
          </a:xfrm>
        </p:spPr>
        <p:txBody>
          <a:bodyPr>
            <a:normAutofit/>
          </a:bodyPr>
          <a:lstStyle/>
          <a:p>
            <a:pPr marL="0" indent="0">
              <a:buNone/>
            </a:pPr>
            <a:r>
              <a:rPr lang="en-US" sz="1800" dirty="0"/>
              <a:t>BPMN Alignment to BACM activity perspective </a:t>
            </a:r>
          </a:p>
          <a:p>
            <a:r>
              <a:rPr lang="en-US" sz="1800" dirty="0">
                <a:solidFill>
                  <a:srgbClr val="0070C0"/>
                </a:solidFill>
              </a:rPr>
              <a:t>Touchpoint Activity is populated by the Activity Assembler from the BPMN model (i.e. the foreign model)</a:t>
            </a:r>
          </a:p>
          <a:p>
            <a:r>
              <a:rPr lang="en-US" sz="1800" dirty="0">
                <a:solidFill>
                  <a:srgbClr val="0070C0"/>
                </a:solidFill>
              </a:rPr>
              <a:t>Activity from the BPMN model can be retrieved with associated elements, as shown in the BPMN MM extract, or with just the Activity-level values</a:t>
            </a:r>
          </a:p>
          <a:p>
            <a:r>
              <a:rPr lang="en-US" sz="1800" dirty="0">
                <a:solidFill>
                  <a:srgbClr val="0070C0"/>
                </a:solidFill>
              </a:rPr>
              <a:t>Touchpoint Activity is mapped to a Capability Instance, which is in turn mapped to a Capability</a:t>
            </a:r>
          </a:p>
          <a:p>
            <a:endParaRPr lang="en-US" sz="1800" dirty="0"/>
          </a:p>
          <a:p>
            <a:endParaRPr lang="en-US" sz="1800" dirty="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30</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to BPMN Alignment: Activity Perspective </a:t>
            </a:r>
          </a:p>
        </p:txBody>
      </p:sp>
      <p:pic>
        <p:nvPicPr>
          <p:cNvPr id="10" name="Picture 9">
            <a:extLst>
              <a:ext uri="{FF2B5EF4-FFF2-40B4-BE49-F238E27FC236}">
                <a16:creationId xmlns:a16="http://schemas.microsoft.com/office/drawing/2014/main" id="{23E51103-E331-42E1-8868-1E410677E967}"/>
              </a:ext>
            </a:extLst>
          </p:cNvPr>
          <p:cNvPicPr/>
          <p:nvPr/>
        </p:nvPicPr>
        <p:blipFill rotWithShape="1">
          <a:blip r:embed="rId2"/>
          <a:srcRect b="4547"/>
          <a:stretch/>
        </p:blipFill>
        <p:spPr bwMode="auto">
          <a:xfrm>
            <a:off x="5573486" y="1000764"/>
            <a:ext cx="6277124" cy="50604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34227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6043" y="1193234"/>
            <a:ext cx="4037331" cy="4740186"/>
          </a:xfrm>
        </p:spPr>
        <p:txBody>
          <a:bodyPr>
            <a:normAutofit fontScale="92500" lnSpcReduction="20000"/>
          </a:bodyPr>
          <a:lstStyle/>
          <a:p>
            <a:pPr marL="0" indent="0">
              <a:buNone/>
            </a:pPr>
            <a:r>
              <a:rPr lang="en-US" sz="1800" dirty="0"/>
              <a:t>BPMN Alignment to BACM state perspective </a:t>
            </a:r>
          </a:p>
          <a:p>
            <a:r>
              <a:rPr lang="en-US" sz="1800" dirty="0">
                <a:solidFill>
                  <a:srgbClr val="0070C0"/>
                </a:solidFill>
              </a:rPr>
              <a:t>Touchpoint State is populated by the State Assembler from the BPMN model (i.e. the foreign model)</a:t>
            </a:r>
          </a:p>
          <a:p>
            <a:r>
              <a:rPr lang="en-US" sz="1800" dirty="0">
                <a:solidFill>
                  <a:srgbClr val="0070C0"/>
                </a:solidFill>
              </a:rPr>
              <a:t>State is seen as data payloads communicated via Events from the BPMN model (shown here) or as Data Objects that have Data Input Associations or Data Output Associations from the BPMN model (not shown here), which can be retrieved with associated elements, as shown in the BPMN MM extract, or with just the Event-level values in the use of Events as the basis for State</a:t>
            </a:r>
          </a:p>
          <a:p>
            <a:r>
              <a:rPr lang="en-US" sz="1800" dirty="0">
                <a:solidFill>
                  <a:srgbClr val="0070C0"/>
                </a:solidFill>
              </a:rPr>
              <a:t>Touchpoint State is mapped to a Outcome, and in the BACM MM Outcome has “produced” and “required’ relationships with Capability</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31</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to BPMN Alignment: State Perspective </a:t>
            </a:r>
          </a:p>
        </p:txBody>
      </p:sp>
      <p:pic>
        <p:nvPicPr>
          <p:cNvPr id="8" name="Picture 7">
            <a:extLst>
              <a:ext uri="{FF2B5EF4-FFF2-40B4-BE49-F238E27FC236}">
                <a16:creationId xmlns:a16="http://schemas.microsoft.com/office/drawing/2014/main" id="{1E488425-481A-4417-9D6B-9F181F024C51}"/>
              </a:ext>
            </a:extLst>
          </p:cNvPr>
          <p:cNvPicPr/>
          <p:nvPr/>
        </p:nvPicPr>
        <p:blipFill rotWithShape="1">
          <a:blip r:embed="rId2"/>
          <a:srcRect l="796" r="1571" b="2939"/>
          <a:stretch/>
        </p:blipFill>
        <p:spPr>
          <a:xfrm>
            <a:off x="4214951" y="984070"/>
            <a:ext cx="7731624" cy="4953276"/>
          </a:xfrm>
          <a:prstGeom prst="rect">
            <a:avLst/>
          </a:prstGeom>
          <a:ln>
            <a:solidFill>
              <a:schemeClr val="bg1">
                <a:lumMod val="75000"/>
              </a:schemeClr>
            </a:solidFill>
          </a:ln>
        </p:spPr>
      </p:pic>
      <p:sp>
        <p:nvSpPr>
          <p:cNvPr id="7" name="TextBox 6">
            <a:extLst>
              <a:ext uri="{FF2B5EF4-FFF2-40B4-BE49-F238E27FC236}">
                <a16:creationId xmlns:a16="http://schemas.microsoft.com/office/drawing/2014/main" id="{2556FF66-2BF9-4DE1-A971-4ECC5339710E}"/>
              </a:ext>
            </a:extLst>
          </p:cNvPr>
          <p:cNvSpPr txBox="1"/>
          <p:nvPr/>
        </p:nvSpPr>
        <p:spPr>
          <a:xfrm>
            <a:off x="5523160" y="2132068"/>
            <a:ext cx="1406062" cy="400110"/>
          </a:xfrm>
          <a:prstGeom prst="rect">
            <a:avLst/>
          </a:prstGeom>
          <a:noFill/>
        </p:spPr>
        <p:txBody>
          <a:bodyPr wrap="square" rtlCol="0">
            <a:spAutoFit/>
          </a:bodyPr>
          <a:lstStyle/>
          <a:p>
            <a:r>
              <a:rPr lang="en-US" sz="1000" b="1" dirty="0">
                <a:solidFill>
                  <a:srgbClr val="FF0000"/>
                </a:solidFill>
              </a:rPr>
              <a:t>Errata – This should have been just “State”</a:t>
            </a:r>
          </a:p>
        </p:txBody>
      </p:sp>
      <p:cxnSp>
        <p:nvCxnSpPr>
          <p:cNvPr id="10" name="Straight Arrow Connector 9">
            <a:extLst>
              <a:ext uri="{FF2B5EF4-FFF2-40B4-BE49-F238E27FC236}">
                <a16:creationId xmlns:a16="http://schemas.microsoft.com/office/drawing/2014/main" id="{C25B406D-FDB5-4A71-96DB-D18BE4E5B29A}"/>
              </a:ext>
            </a:extLst>
          </p:cNvPr>
          <p:cNvCxnSpPr>
            <a:stCxn id="7" idx="0"/>
          </p:cNvCxnSpPr>
          <p:nvPr/>
        </p:nvCxnSpPr>
        <p:spPr>
          <a:xfrm flipV="1">
            <a:off x="6226191" y="1695546"/>
            <a:ext cx="303268" cy="43652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771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147222"/>
            <a:ext cx="4257675" cy="4740186"/>
          </a:xfrm>
        </p:spPr>
        <p:txBody>
          <a:bodyPr>
            <a:normAutofit fontScale="70000" lnSpcReduction="20000"/>
          </a:bodyPr>
          <a:lstStyle/>
          <a:p>
            <a:pPr marL="0" indent="0">
              <a:buNone/>
            </a:pPr>
            <a:r>
              <a:rPr lang="en-US" sz="1800" dirty="0"/>
              <a:t>CMMN Alignment to BACM activity and state perspective </a:t>
            </a:r>
          </a:p>
          <a:p>
            <a:r>
              <a:rPr lang="en-US" sz="1800" dirty="0">
                <a:solidFill>
                  <a:srgbClr val="0070C0"/>
                </a:solidFill>
              </a:rPr>
              <a:t>Touchpoint Activity is populated by the Activity Assembler from the CMMN model (i.e. the foreign model)</a:t>
            </a:r>
          </a:p>
          <a:p>
            <a:r>
              <a:rPr lang="en-US" sz="1800" dirty="0">
                <a:solidFill>
                  <a:srgbClr val="0070C0"/>
                </a:solidFill>
              </a:rPr>
              <a:t>Activity-like elements from the CMMN model (Task, which is similar to a Task in BPMN, or Stage, which is similar to a Subprocess in BPMN) can be retrieved with associated elements, as shown in the CMMN MM extract, or with just the Activity-like-level values</a:t>
            </a:r>
          </a:p>
          <a:p>
            <a:r>
              <a:rPr lang="en-US" sz="1800" dirty="0">
                <a:solidFill>
                  <a:srgbClr val="0070C0"/>
                </a:solidFill>
              </a:rPr>
              <a:t>Touchpoint Activity is mapped to a Capability Instance, which is in turn mapped to a Capability</a:t>
            </a:r>
          </a:p>
          <a:p>
            <a:r>
              <a:rPr lang="en-US" sz="1800" dirty="0">
                <a:solidFill>
                  <a:srgbClr val="0070C0"/>
                </a:solidFill>
              </a:rPr>
              <a:t>Touchpoint State is populated by the State Assembler from the CMMN model (i.e. the foreign model)</a:t>
            </a:r>
          </a:p>
          <a:p>
            <a:r>
              <a:rPr lang="en-US" sz="1800" dirty="0">
                <a:solidFill>
                  <a:srgbClr val="0070C0"/>
                </a:solidFill>
              </a:rPr>
              <a:t>State is seen as data payloads communicated via Events from the CMMN model or as Case File Items from the CMMN model, which can be retrieved with associated elements, as shown in the CMMN MM extract, or with just the Event-level or Case File Item-level values used as the basis for State</a:t>
            </a:r>
          </a:p>
          <a:p>
            <a:r>
              <a:rPr lang="en-US" sz="1800" dirty="0">
                <a:solidFill>
                  <a:srgbClr val="0070C0"/>
                </a:solidFill>
              </a:rPr>
              <a:t>Touchpoint State is mapped to a Outcome, and in the BACM MM Outcome has “produced” and “required’ relationships with Capability</a:t>
            </a:r>
          </a:p>
          <a:p>
            <a:endParaRPr lang="en-US" sz="1800" dirty="0"/>
          </a:p>
          <a:p>
            <a:endParaRPr lang="en-US" sz="1800" dirty="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to CMMN Alignment: State &amp; Activity Perspective </a:t>
            </a:r>
          </a:p>
        </p:txBody>
      </p:sp>
      <p:pic>
        <p:nvPicPr>
          <p:cNvPr id="9" name="Picture 8">
            <a:extLst>
              <a:ext uri="{FF2B5EF4-FFF2-40B4-BE49-F238E27FC236}">
                <a16:creationId xmlns:a16="http://schemas.microsoft.com/office/drawing/2014/main" id="{F0E3FD96-6452-4A01-913B-44A064748FF8}"/>
              </a:ext>
            </a:extLst>
          </p:cNvPr>
          <p:cNvPicPr/>
          <p:nvPr/>
        </p:nvPicPr>
        <p:blipFill rotWithShape="1">
          <a:blip r:embed="rId2"/>
          <a:srcRect r="1474" b="4158"/>
          <a:stretch/>
        </p:blipFill>
        <p:spPr>
          <a:xfrm>
            <a:off x="4336869" y="965335"/>
            <a:ext cx="7707085" cy="4965202"/>
          </a:xfrm>
          <a:prstGeom prst="rect">
            <a:avLst/>
          </a:prstGeom>
          <a:ln>
            <a:solidFill>
              <a:schemeClr val="bg1">
                <a:lumMod val="50000"/>
              </a:schemeClr>
            </a:solidFill>
          </a:ln>
        </p:spPr>
      </p:pic>
    </p:spTree>
    <p:extLst>
      <p:ext uri="{BB962C8B-B14F-4D97-AF65-F5344CB8AC3E}">
        <p14:creationId xmlns:p14="http://schemas.microsoft.com/office/powerpoint/2010/main" val="1860193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9063" y="1166953"/>
            <a:ext cx="4093030" cy="4740186"/>
          </a:xfrm>
        </p:spPr>
        <p:txBody>
          <a:bodyPr>
            <a:normAutofit fontScale="85000" lnSpcReduction="10000"/>
          </a:bodyPr>
          <a:lstStyle/>
          <a:p>
            <a:pPr marL="0" indent="0">
              <a:buNone/>
            </a:pPr>
            <a:r>
              <a:rPr lang="en-US" sz="1800" dirty="0"/>
              <a:t>BPMN Alignment to DMN state perspective </a:t>
            </a:r>
          </a:p>
          <a:p>
            <a:r>
              <a:rPr lang="en-US" sz="1800" dirty="0">
                <a:solidFill>
                  <a:srgbClr val="0070C0"/>
                </a:solidFill>
              </a:rPr>
              <a:t>Touchpoint State is populated by the State Assembler from the DMN model (i.e. the foreign model)</a:t>
            </a:r>
          </a:p>
          <a:p>
            <a:r>
              <a:rPr lang="en-US" sz="1800" dirty="0">
                <a:solidFill>
                  <a:srgbClr val="0070C0"/>
                </a:solidFill>
              </a:rPr>
              <a:t>State is seen as the set of Input Data needed by the Decision and the output of the Decision (i.e., its result), which can be retrieved as shown in the DMN MM extract</a:t>
            </a:r>
          </a:p>
          <a:p>
            <a:r>
              <a:rPr lang="en-US" sz="1800" dirty="0">
                <a:solidFill>
                  <a:srgbClr val="0070C0"/>
                </a:solidFill>
              </a:rPr>
              <a:t>DMN has no Activity-like elements, but instead references a Business Rule Task in BPMN or a Decision Task in CMMN as the nodes in those respective models wherein the Decision is invoked</a:t>
            </a:r>
          </a:p>
          <a:p>
            <a:r>
              <a:rPr lang="en-US" sz="1800" dirty="0">
                <a:solidFill>
                  <a:srgbClr val="0070C0"/>
                </a:solidFill>
              </a:rPr>
              <a:t>Touchpoint State is mapped to a Outcome, and in the BACM MM Outcome has “produced” and “required’ relationships with Capability</a:t>
            </a:r>
          </a:p>
          <a:p>
            <a:pPr marL="0" indent="0">
              <a:buNone/>
            </a:pPr>
            <a:endParaRPr lang="en-US" sz="1800" dirty="0"/>
          </a:p>
          <a:p>
            <a:endParaRPr lang="en-US" sz="1800" dirty="0"/>
          </a:p>
          <a:p>
            <a:endParaRPr lang="en-US" sz="1800" dirty="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BACM to DMN Alignment: State &amp; Activity Perspective </a:t>
            </a:r>
          </a:p>
        </p:txBody>
      </p:sp>
      <p:pic>
        <p:nvPicPr>
          <p:cNvPr id="9" name="Picture 8">
            <a:extLst>
              <a:ext uri="{FF2B5EF4-FFF2-40B4-BE49-F238E27FC236}">
                <a16:creationId xmlns:a16="http://schemas.microsoft.com/office/drawing/2014/main" id="{6A7FE48C-1602-483A-AAE9-EFC920C62AAC}"/>
              </a:ext>
            </a:extLst>
          </p:cNvPr>
          <p:cNvPicPr/>
          <p:nvPr/>
        </p:nvPicPr>
        <p:blipFill rotWithShape="1">
          <a:blip r:embed="rId2"/>
          <a:srcRect b="6124"/>
          <a:stretch/>
        </p:blipFill>
        <p:spPr bwMode="auto">
          <a:xfrm>
            <a:off x="4275908" y="1024062"/>
            <a:ext cx="7853589" cy="4883077"/>
          </a:xfrm>
          <a:prstGeom prst="rect">
            <a:avLst/>
          </a:prstGeom>
          <a:ln w="9525" cap="flat" cmpd="sng" algn="ctr">
            <a:solidFill>
              <a:sysClr val="windowText" lastClr="000000">
                <a:lumMod val="95000"/>
                <a:lumOff val="5000"/>
              </a:sysClr>
            </a:solid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458018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12/9/18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a:t>Conclusion </a:t>
            </a:r>
          </a:p>
        </p:txBody>
      </p:sp>
    </p:spTree>
    <p:extLst>
      <p:ext uri="{BB962C8B-B14F-4D97-AF65-F5344CB8AC3E}">
        <p14:creationId xmlns:p14="http://schemas.microsoft.com/office/powerpoint/2010/main" val="138834984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spDef>
      <a:spPr>
        <a:solidFill>
          <a:srgbClr val="F2541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1788</TotalTime>
  <Words>3933</Words>
  <Application>Microsoft Macintosh PowerPoint</Application>
  <PresentationFormat>Widescreen</PresentationFormat>
  <Paragraphs>434</Paragraphs>
  <Slides>34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Franklin Gothic Book</vt:lpstr>
      <vt:lpstr>Franklin Gothic Medium</vt:lpstr>
      <vt:lpstr>Wingdings</vt:lpstr>
      <vt:lpstr>1_Angles</vt:lpstr>
      <vt:lpstr>Business Architecture CORE Metamodel Submission Walkthrough</vt:lpstr>
      <vt:lpstr>BACM Submission: Review Topics</vt:lpstr>
      <vt:lpstr>BACM RFP Request Summary</vt:lpstr>
      <vt:lpstr>BACM Summary Perspective </vt:lpstr>
      <vt:lpstr>BACM Evaluation Criteria</vt:lpstr>
      <vt:lpstr>BACM Evaluation Criteria #1: Mandatory Requirements</vt:lpstr>
      <vt:lpstr>BACM Submission: Summary Package</vt:lpstr>
      <vt:lpstr>BACM Submission: Capability Package</vt:lpstr>
      <vt:lpstr>BACM Submission: Business Object Package</vt:lpstr>
      <vt:lpstr>BACM Evaluation Criteria #2: Optional Requirements</vt:lpstr>
      <vt:lpstr>BACM Submission - Specified Optional Content: Value Perspective</vt:lpstr>
      <vt:lpstr>BACM Submission - Specified Optional Content: Information Perspective</vt:lpstr>
      <vt:lpstr>BACM Submission - Specified Optional Content: Organization Perspective</vt:lpstr>
      <vt:lpstr>BACM Submission: Stakeholder Perspective</vt:lpstr>
      <vt:lpstr>BACM Submission: Product Perspective</vt:lpstr>
      <vt:lpstr>BACM Submission: Policy Perspective</vt:lpstr>
      <vt:lpstr>BACM Submission: Strategy Perspective</vt:lpstr>
      <vt:lpstr>BACM Submission: Initiative Perspective</vt:lpstr>
      <vt:lpstr>BACM Submission: Requirements Perspective</vt:lpstr>
      <vt:lpstr>BACM Evaluation Criteria #3: concept Linkages </vt:lpstr>
      <vt:lpstr>BACM Evaluation Criteria #4: Model Alignment Ability</vt:lpstr>
      <vt:lpstr>BACM Evaluation Criteria #5: Concept Support from Industry publications &amp; Practices</vt:lpstr>
      <vt:lpstr>BACM Evaluation Criteria #6: OMG Standards Alignment</vt:lpstr>
      <vt:lpstr>OMG Standards Alignment: Business Motivation Model (BMM)</vt:lpstr>
      <vt:lpstr>OMG Standards Alignment: The Open Group Architecture Framework (TOGAF™) </vt:lpstr>
      <vt:lpstr>OMG Standards Alignment: Value Delivery Modeling Language (VDML) </vt:lpstr>
      <vt:lpstr>OMG Standards Alignment: Value Delivery Modeling Language (VDML) </vt:lpstr>
      <vt:lpstr>Overview of BPMN, CMMN and DMN Alignment to BACM</vt:lpstr>
      <vt:lpstr>Touchpoint Alignment Example – BPMN Activity t0 Capability (through Capability instance)</vt:lpstr>
      <vt:lpstr>BACM to BPMN Alignment: Activity Perspective </vt:lpstr>
      <vt:lpstr>BACM to BPMN Alignment: State Perspective </vt:lpstr>
      <vt:lpstr>BACM to CMMN Alignment: State &amp; Activity Perspective </vt:lpstr>
      <vt:lpstr>BACM to DMN Alignment: State &amp; Activity Perspective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 Ulrich</dc:creator>
  <cp:lastModifiedBy>Jeffrey Wallk</cp:lastModifiedBy>
  <cp:revision>396</cp:revision>
  <dcterms:created xsi:type="dcterms:W3CDTF">2018-06-05T15:49:17Z</dcterms:created>
  <dcterms:modified xsi:type="dcterms:W3CDTF">2018-12-10T03:40:56Z</dcterms:modified>
</cp:coreProperties>
</file>
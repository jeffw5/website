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361" r:id="rId1"/>
  </p:sldMasterIdLst>
  <p:notesMasterIdLst>
    <p:notesMasterId r:id="rId33"/>
  </p:notesMasterIdLst>
  <p:handoutMasterIdLst>
    <p:handoutMasterId r:id="rId34"/>
  </p:handoutMasterIdLst>
  <p:sldIdLst>
    <p:sldId id="256" r:id="rId2"/>
    <p:sldId id="3236" r:id="rId3"/>
    <p:sldId id="3046" r:id="rId4"/>
    <p:sldId id="2145" r:id="rId5"/>
    <p:sldId id="3267" r:id="rId6"/>
    <p:sldId id="3201" r:id="rId7"/>
    <p:sldId id="3261" r:id="rId8"/>
    <p:sldId id="3254" r:id="rId9"/>
    <p:sldId id="3050" r:id="rId10"/>
    <p:sldId id="3218" r:id="rId11"/>
    <p:sldId id="3230" r:id="rId12"/>
    <p:sldId id="3238" r:id="rId13"/>
    <p:sldId id="3337" r:id="rId14"/>
    <p:sldId id="3333" r:id="rId15"/>
    <p:sldId id="3334" r:id="rId16"/>
    <p:sldId id="3253" r:id="rId17"/>
    <p:sldId id="3338" r:id="rId18"/>
    <p:sldId id="3262" r:id="rId19"/>
    <p:sldId id="3335" r:id="rId20"/>
    <p:sldId id="3336" r:id="rId21"/>
    <p:sldId id="3339" r:id="rId22"/>
    <p:sldId id="3258" r:id="rId23"/>
    <p:sldId id="3085" r:id="rId24"/>
    <p:sldId id="3086" r:id="rId25"/>
    <p:sldId id="2801" r:id="rId26"/>
    <p:sldId id="3266" r:id="rId27"/>
    <p:sldId id="3265" r:id="rId28"/>
    <p:sldId id="3340" r:id="rId29"/>
    <p:sldId id="3103" r:id="rId30"/>
    <p:sldId id="3147" r:id="rId31"/>
    <p:sldId id="3332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1D3565"/>
    <a:srgbClr val="164C6C"/>
    <a:srgbClr val="4C7596"/>
    <a:srgbClr val="004376"/>
    <a:srgbClr val="141F6E"/>
    <a:srgbClr val="154B6D"/>
    <a:srgbClr val="D0CECE"/>
    <a:srgbClr val="6D6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4" autoAdjust="0"/>
    <p:restoredTop sz="94593"/>
  </p:normalViewPr>
  <p:slideViewPr>
    <p:cSldViewPr>
      <p:cViewPr varScale="1">
        <p:scale>
          <a:sx n="112" d="100"/>
          <a:sy n="112" d="100"/>
        </p:scale>
        <p:origin x="15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9B1FDC2A-9DB6-A84C-9C7F-4425F0B12523}" type="datetimeFigureOut">
              <a:rPr lang="en-US"/>
              <a:pPr>
                <a:defRPr/>
              </a:pPr>
              <a:t>4/3/20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46775B2E-62B8-7042-9362-8F33A738B6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06B424F-E9EC-8D47-997D-9A4CED9F4344}" type="datetimeFigureOut">
              <a:rPr lang="en-US"/>
              <a:pPr>
                <a:defRPr/>
              </a:pPr>
              <a:t>4/3/20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B54089A1-4B95-CB43-8F5B-E8E9E595DD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D8CE61E-D290-4C25-BA64-E8170BBD92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1D9449A-0EE9-408D-834B-889250156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A55E0581-2F91-426C-8D30-2F87A7F48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B7BE5CD-164B-4AD7-8EE8-B9599C429CF6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569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6829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149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white">
          <a:xfrm>
            <a:off x="158750" y="152400"/>
            <a:ext cx="8832850" cy="22669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3">
                <a:shade val="75000"/>
              </a:schemeClr>
            </a:solidFill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2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3" name="Rectangle 12"/>
          <p:cNvSpPr/>
          <p:nvPr userDrawn="1"/>
        </p:nvSpPr>
        <p:spPr>
          <a:xfrm>
            <a:off x="7924800" y="312738"/>
            <a:ext cx="1038225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i="1" dirty="0">
                <a:solidFill>
                  <a:srgbClr val="4472C4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SST</a:t>
            </a:r>
            <a:endParaRPr 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4" name="Group 16"/>
          <p:cNvGrpSpPr>
            <a:grpSpLocks/>
          </p:cNvGrpSpPr>
          <p:nvPr userDrawn="1"/>
        </p:nvGrpSpPr>
        <p:grpSpPr bwMode="auto">
          <a:xfrm>
            <a:off x="293688" y="228600"/>
            <a:ext cx="979041" cy="903287"/>
            <a:chOff x="293319" y="312342"/>
            <a:chExt cx="979437" cy="903357"/>
          </a:xfrm>
          <a:noFill/>
        </p:grpSpPr>
        <p:pic>
          <p:nvPicPr>
            <p:cNvPr id="15" name="Picture 17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29" b="7078"/>
            <a:stretch/>
          </p:blipFill>
          <p:spPr bwMode="auto">
            <a:xfrm>
              <a:off x="293319" y="312342"/>
              <a:ext cx="940200" cy="90335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15"/>
            <p:cNvSpPr/>
            <p:nvPr/>
          </p:nvSpPr>
          <p:spPr>
            <a:xfrm>
              <a:off x="990513" y="557385"/>
              <a:ext cx="282243" cy="3078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000" b="1" i="1" dirty="0">
                  <a:ln w="11113" cap="flat" cmpd="sng" algn="ctr">
                    <a:solidFill>
                      <a:srgbClr val="ED7D31"/>
                    </a:solidFill>
                    <a:prstDash val="solid"/>
                    <a:round/>
                  </a:ln>
                  <a:solidFill>
                    <a:srgbClr val="7030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V2</a:t>
              </a:r>
              <a:endParaRPr lang="en-US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2400" b="0" cap="none" spc="250" baseline="0">
                <a:solidFill>
                  <a:schemeClr val="tx2"/>
                </a:solidFill>
                <a:latin typeface="Tw Cen MT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</p:spPr>
        <p:txBody>
          <a:bodyPr/>
          <a:lstStyle>
            <a:lvl1pPr>
              <a:defRPr sz="4200" b="1" i="0" baseline="0">
                <a:solidFill>
                  <a:srgbClr val="154B6D"/>
                </a:solidFill>
                <a:latin typeface="Corbe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  <a:endParaRPr lang="en-US" dirty="0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2209800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49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758825"/>
          </a:xfrm>
          <a:prstGeom prst="rect">
            <a:avLst/>
          </a:prstGeom>
        </p:spPr>
        <p:txBody>
          <a:bodyPr/>
          <a:lstStyle>
            <a:lvl1pPr>
              <a:defRPr sz="3600" b="1" i="0" baseline="0">
                <a:solidFill>
                  <a:schemeClr val="accent3">
                    <a:shade val="75000"/>
                  </a:schemeClr>
                </a:solidFill>
                <a:latin typeface="Corbe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775323"/>
          </a:xfrm>
        </p:spPr>
        <p:txBody>
          <a:bodyPr/>
          <a:lstStyle>
            <a:lvl1pPr>
              <a:buClr>
                <a:srgbClr val="154B6D"/>
              </a:buClr>
              <a:defRPr sz="2600" baseline="0">
                <a:latin typeface="Tw Cen MT" pitchFamily="34" charset="0"/>
              </a:defRPr>
            </a:lvl1pPr>
            <a:lvl2pPr>
              <a:buClr>
                <a:srgbClr val="154B6D"/>
              </a:buClr>
              <a:defRPr baseline="0">
                <a:latin typeface="Tw Cen MT" pitchFamily="34" charset="0"/>
              </a:defRPr>
            </a:lvl2pPr>
            <a:lvl3pPr>
              <a:buFont typeface="Wingdings" pitchFamily="2" charset="2"/>
              <a:buChar char="§"/>
              <a:defRPr baseline="0">
                <a:latin typeface="Tw Cen MT" pitchFamily="34" charset="0"/>
              </a:defRPr>
            </a:lvl3pPr>
            <a:lvl4pPr>
              <a:buClr>
                <a:srgbClr val="154B6D"/>
              </a:buClr>
              <a:defRPr baseline="0">
                <a:latin typeface="Tw Cen MT" pitchFamily="34" charset="0"/>
              </a:defRPr>
            </a:lvl4pPr>
            <a:lvl5pPr>
              <a:defRPr baseline="0">
                <a:latin typeface="Tw Cen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2414588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340475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055DD-009A-914A-92A6-5A269BE2DE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985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155575" y="2438400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 userDrawn="1"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772400" cy="1524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200" b="1" i="0" cap="none" baseline="0">
                <a:solidFill>
                  <a:srgbClr val="FFFFFF"/>
                </a:solidFill>
                <a:latin typeface="Corbe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D1FD31E-4E44-CA48-8C59-4780920A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3D479A-78EE-0F44-BC48-E95612360B9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309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EC0EE-93EE-2042-B6DB-A0CAF408CC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078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4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8C7EA-B548-C94B-94DE-74FD0CFE4F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503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307975"/>
            <a:ext cx="8534400" cy="758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340475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329E7-CE98-8A43-8C3E-05E80C0D9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33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3" name="Rectangle 19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5" name="Rectangle 21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C3BDD9-E7CC-4E42-9A5F-DABB041D06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92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rgbClr val="164C6C"/>
                </a:solidFill>
              </a:defRPr>
            </a:lvl1pPr>
          </a:lstStyle>
          <a:p>
            <a:pPr>
              <a:defRPr/>
            </a:pPr>
            <a:fld id="{0D40B609-27A1-2A41-8111-DF00B818D9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3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71B5A-C383-944C-84FB-44E9B1331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1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8D033-F23C-BF47-BB70-135787F3F7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032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39039-7FC2-4740-8987-333471878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26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433388"/>
            <a:ext cx="82296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19088" y="1628775"/>
            <a:ext cx="4216400" cy="4294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888" y="1628775"/>
            <a:ext cx="4216400" cy="4294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310188" y="6565900"/>
            <a:ext cx="2895600" cy="182563"/>
          </a:xfrm>
        </p:spPr>
        <p:txBody>
          <a:bodyPr/>
          <a:lstStyle>
            <a:lvl1pPr algn="ctr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49CA1-9AEB-ED4C-941E-EFDFBD4B70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37370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FF"/>
                </a:solidFill>
                <a:latin typeface="Arial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25 March 2020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132013" y="6381750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304800" y="6324600"/>
            <a:ext cx="457200" cy="441325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DD3D479A-78EE-0F44-BC48-E95612360B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7" name="Title Placeholder 1"/>
          <p:cNvSpPr>
            <a:spLocks noGrp="1"/>
          </p:cNvSpPr>
          <p:nvPr>
            <p:ph type="title"/>
          </p:nvPr>
        </p:nvSpPr>
        <p:spPr bwMode="auto">
          <a:xfrm>
            <a:off x="622300" y="152400"/>
            <a:ext cx="78867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293688" y="228600"/>
            <a:ext cx="979041" cy="903287"/>
            <a:chOff x="293319" y="312342"/>
            <a:chExt cx="979437" cy="903357"/>
          </a:xfrm>
          <a:noFill/>
        </p:grpSpPr>
        <p:pic>
          <p:nvPicPr>
            <p:cNvPr id="17" name="Picture 17"/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29" b="7078"/>
            <a:stretch/>
          </p:blipFill>
          <p:spPr bwMode="auto">
            <a:xfrm>
              <a:off x="293319" y="312342"/>
              <a:ext cx="940200" cy="90335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7"/>
            <p:cNvSpPr/>
            <p:nvPr/>
          </p:nvSpPr>
          <p:spPr>
            <a:xfrm>
              <a:off x="990513" y="557385"/>
              <a:ext cx="282243" cy="3078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000" b="1" i="1" dirty="0">
                  <a:ln w="11113" cap="flat" cmpd="sng" algn="ctr">
                    <a:solidFill>
                      <a:srgbClr val="ED7D31"/>
                    </a:solidFill>
                    <a:prstDash val="solid"/>
                    <a:round/>
                  </a:ln>
                  <a:solidFill>
                    <a:srgbClr val="7030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V2</a:t>
              </a:r>
              <a:endParaRPr lang="en-US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9" name="Rectangle 18"/>
          <p:cNvSpPr/>
          <p:nvPr userDrawn="1"/>
        </p:nvSpPr>
        <p:spPr>
          <a:xfrm>
            <a:off x="7924800" y="228600"/>
            <a:ext cx="1038225" cy="83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i="1" dirty="0">
                <a:solidFill>
                  <a:srgbClr val="4472C4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SST</a:t>
            </a:r>
            <a:endParaRPr 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951" r:id="rId1"/>
    <p:sldLayoutId id="2147493952" r:id="rId2"/>
    <p:sldLayoutId id="2147493953" r:id="rId3"/>
    <p:sldLayoutId id="2147493954" r:id="rId4"/>
    <p:sldLayoutId id="2147493955" r:id="rId5"/>
    <p:sldLayoutId id="2147493956" r:id="rId6"/>
    <p:sldLayoutId id="2147493957" r:id="rId7"/>
    <p:sldLayoutId id="2147493958" r:id="rId8"/>
    <p:sldLayoutId id="2147493959" r:id="rId9"/>
    <p:sldLayoutId id="2147493960" r:id="rId10"/>
    <p:sldLayoutId id="2147493961" r:id="rId11"/>
    <p:sldLayoutId id="2147493962" r:id="rId12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164C6C"/>
          </a:solidFill>
          <a:latin typeface="+mn-lt"/>
          <a:ea typeface="MS PGothic" pitchFamily="34" charset="-128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64C6C"/>
          </a:solidFill>
          <a:latin typeface="Corbel" charset="0"/>
          <a:ea typeface="MS PGothic" pitchFamily="34" charset="-128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64C6C"/>
          </a:solidFill>
          <a:latin typeface="Corbel" charset="0"/>
          <a:ea typeface="MS PGothic" pitchFamily="34" charset="-128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64C6C"/>
          </a:solidFill>
          <a:latin typeface="Corbel" charset="0"/>
          <a:ea typeface="MS PGothic" pitchFamily="34" charset="-128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64C6C"/>
          </a:solidFill>
          <a:latin typeface="Corbel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164C6C"/>
          </a:solidFill>
          <a:latin typeface="Consolas" pitchFamily="49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164C6C"/>
          </a:solidFill>
          <a:latin typeface="Consolas" pitchFamily="49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164C6C"/>
          </a:solidFill>
          <a:latin typeface="Consolas" pitchFamily="49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164C6C"/>
          </a:solidFill>
          <a:latin typeface="Consolas" pitchFamily="49" charset="0"/>
        </a:defRPr>
      </a:lvl9pPr>
    </p:titleStyle>
    <p:bodyStyle>
      <a:lvl1pPr marL="27305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charset="2"/>
        <a:buChar char=""/>
        <a:defRPr sz="27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547688" indent="-2730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"/>
        <a:defRPr sz="2200" kern="12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822325" indent="-228600" algn="l" rtl="0" eaLnBrk="1" fontAlgn="base" hangingPunct="1">
        <a:spcBef>
          <a:spcPct val="20000"/>
        </a:spcBef>
        <a:spcAft>
          <a:spcPct val="0"/>
        </a:spcAft>
        <a:buClr>
          <a:srgbClr val="1B587C"/>
        </a:buClr>
        <a:buSzPct val="75000"/>
        <a:buFont typeface="Wingdings 2" charset="2"/>
        <a:buChar char="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096963" indent="-228600" algn="l" rtl="0" eaLnBrk="1" fontAlgn="base" hangingPunct="1">
        <a:spcBef>
          <a:spcPct val="20000"/>
        </a:spcBef>
        <a:spcAft>
          <a:spcPct val="0"/>
        </a:spcAft>
        <a:buClr>
          <a:srgbClr val="4E8542"/>
        </a:buClr>
        <a:buSzPct val="70000"/>
        <a:buFont typeface="Wingdings" charset="2"/>
        <a:buChar char=""/>
        <a:defRPr sz="2000" kern="12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371600" indent="-228600" algn="l" rtl="0" eaLnBrk="1" fontAlgn="base" hangingPunct="1">
        <a:spcBef>
          <a:spcPct val="20000"/>
        </a:spcBef>
        <a:spcAft>
          <a:spcPct val="0"/>
        </a:spcAft>
        <a:buClr>
          <a:srgbClr val="604878"/>
        </a:buClr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d-s@modeldriven.com" TargetMode="External"/><Relationship Id="rId2" Type="http://schemas.openxmlformats.org/officeDocument/2006/relationships/hyperlink" Target="mailto:safriedenthal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manas.bajaj@intercax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s.google.com/forum/#!forum/sysml-v2-relea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sysml2.intercax.com:9000/docs/" TargetMode="External"/><Relationship Id="rId7" Type="http://schemas.openxmlformats.org/officeDocument/2006/relationships/hyperlink" Target="http://sysml2-dev.intercax.com:9000/docs/" TargetMode="External"/><Relationship Id="rId2" Type="http://schemas.openxmlformats.org/officeDocument/2006/relationships/hyperlink" Target="http://sysml2.intercax.com:900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ysml2-dev.intercax.com:9000/" TargetMode="External"/><Relationship Id="rId5" Type="http://schemas.openxmlformats.org/officeDocument/2006/relationships/hyperlink" Target="http://sysml2-sst.intercax.com:9000/docs/" TargetMode="External"/><Relationship Id="rId4" Type="http://schemas.openxmlformats.org/officeDocument/2006/relationships/hyperlink" Target="http://sysml2-sst.intercax.com:9000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Virtual OMG Meeting</a:t>
            </a:r>
          </a:p>
          <a:p>
            <a:r>
              <a:rPr lang="en-US" sz="2800" b="1" dirty="0"/>
              <a:t>ADTF</a:t>
            </a:r>
          </a:p>
          <a:p>
            <a:r>
              <a:rPr lang="en-US" sz="2800" b="1" dirty="0"/>
              <a:t>25 March 2020</a:t>
            </a:r>
          </a:p>
          <a:p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47800"/>
          </a:xfrm>
        </p:spPr>
        <p:txBody>
          <a:bodyPr/>
          <a:lstStyle/>
          <a:p>
            <a:r>
              <a:rPr lang="en-US" sz="3200" dirty="0" err="1"/>
              <a:t>SysML</a:t>
            </a:r>
            <a:r>
              <a:rPr lang="en-US" sz="3200" dirty="0"/>
              <a:t> v2 Submission Team (SST) </a:t>
            </a:r>
            <a:br>
              <a:rPr lang="en-US" sz="3200" dirty="0"/>
            </a:br>
            <a:r>
              <a:rPr lang="en-US" sz="3200" dirty="0" err="1"/>
              <a:t>SysML</a:t>
            </a:r>
            <a:r>
              <a:rPr lang="en-US" sz="3200" dirty="0"/>
              <a:t> v2 Submission Overview &amp;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AC2E1-948C-4413-9523-7D908B0A1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00600"/>
            <a:ext cx="271901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Sanford Friedenthal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70C0"/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safriedenthal@gmail.com</a:t>
            </a:r>
            <a:endParaRPr lang="en-US" altLang="en-US" sz="16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Ed Seidewitz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600" dirty="0">
                <a:solidFill>
                  <a:srgbClr val="0070C0"/>
                </a:solidFill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ed-s@modeldriven.com</a:t>
            </a:r>
            <a:r>
              <a:rPr lang="de-DE" altLang="en-US" sz="16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 err="1">
                <a:latin typeface="Arial" panose="020B0604020202020204" pitchFamily="34" charset="0"/>
              </a:rPr>
              <a:t>Manas</a:t>
            </a:r>
            <a:r>
              <a:rPr lang="en-US" altLang="en-US" sz="1600" dirty="0">
                <a:latin typeface="Arial" panose="020B0604020202020204" pitchFamily="34" charset="0"/>
              </a:rPr>
              <a:t> Bajaj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70C0"/>
                </a:solidFill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manas.bajaj@intercax.com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35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BE6246-B82E-4060-9B00-DD3819B6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Submission Team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369A7-7CDD-461C-93D2-B6514314C7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71041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4B6A-8EFB-8B4C-A7DF-BAE3819C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Submission Team (SST)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FB68A-F97E-2540-8517-40FBF0AB5E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2133600"/>
            <a:ext cx="8001000" cy="2209801"/>
          </a:xfrm>
        </p:spPr>
        <p:txBody>
          <a:bodyPr/>
          <a:lstStyle/>
          <a:p>
            <a:r>
              <a:rPr lang="en-US" altLang="en-US" dirty="0" err="1"/>
              <a:t>SysML</a:t>
            </a:r>
            <a:r>
              <a:rPr lang="en-US" altLang="en-US" dirty="0"/>
              <a:t> v2 Submission Team (SST) formed December 2017</a:t>
            </a:r>
          </a:p>
          <a:p>
            <a:pPr lvl="1"/>
            <a:r>
              <a:rPr lang="en-US" altLang="en-US" dirty="0"/>
              <a:t>Leads: Sandy Friedenthal, Ed Seidewitz</a:t>
            </a:r>
            <a:endParaRPr lang="en-US" dirty="0"/>
          </a:p>
          <a:p>
            <a:r>
              <a:rPr lang="en-US" dirty="0"/>
              <a:t>A broad </a:t>
            </a:r>
            <a:r>
              <a:rPr lang="en-US" altLang="en-US" dirty="0"/>
              <a:t>team of end users, vendors, academics, and government liaisons</a:t>
            </a:r>
          </a:p>
          <a:p>
            <a:pPr lvl="1"/>
            <a:r>
              <a:rPr lang="en-US" dirty="0"/>
              <a:t>Currently over </a:t>
            </a:r>
            <a:r>
              <a:rPr lang="en-US" dirty="0">
                <a:solidFill>
                  <a:srgbClr val="0070C0"/>
                </a:solidFill>
              </a:rPr>
              <a:t>140</a:t>
            </a:r>
            <a:r>
              <a:rPr lang="en-US" dirty="0"/>
              <a:t> members from </a:t>
            </a:r>
            <a:r>
              <a:rPr lang="en-US" dirty="0">
                <a:solidFill>
                  <a:srgbClr val="0070C0"/>
                </a:solidFill>
              </a:rPr>
              <a:t>67</a:t>
            </a:r>
            <a:r>
              <a:rPr lang="en-US" dirty="0"/>
              <a:t> organizations</a:t>
            </a:r>
          </a:p>
          <a:p>
            <a:r>
              <a:rPr lang="en-US" dirty="0"/>
              <a:t>Developing submissions to both RFPs</a:t>
            </a:r>
          </a:p>
          <a:p>
            <a:r>
              <a:rPr lang="en-US" dirty="0"/>
              <a:t>Driven by RFP requirements and user needs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10766-5F39-444C-9E34-B63B9332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x-none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272379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F083-4DAF-4EFC-9172-595FCD83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Track Leads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1DE0E2BF-8AF9-584B-88F1-3EDA7F28D9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689975" cy="457200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Project Management – Ed Seidewitz, Sandy Friedenthal</a:t>
            </a:r>
          </a:p>
          <a:p>
            <a:pPr marL="742950" lvl="1"/>
            <a:r>
              <a:rPr lang="en-US" altLang="en-US" sz="2400" dirty="0">
                <a:latin typeface="Tw Cen MT" panose="020B0602020104020603" pitchFamily="34" charset="77"/>
              </a:rPr>
              <a:t>Infrastructure – John Watson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Requirements V&amp;V – Sandy Friedenthal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Profile Development – Yves Bernard, Tim </a:t>
            </a:r>
            <a:r>
              <a:rPr lang="en-US" altLang="en-US" sz="2800" dirty="0" err="1">
                <a:latin typeface="Tw Cen MT" panose="020B0602020104020603" pitchFamily="34" charset="77"/>
              </a:rPr>
              <a:t>Weilkiens</a:t>
            </a:r>
            <a:endParaRPr lang="en-US" altLang="en-US" sz="2800" dirty="0">
              <a:latin typeface="Tw Cen MT" panose="020B0602020104020603" pitchFamily="34" charset="77"/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Metamodel Development – Chas Galey, Bjorn Cole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API/Services Development – </a:t>
            </a:r>
            <a:r>
              <a:rPr lang="en-US" altLang="en-US" sz="2800" dirty="0" err="1">
                <a:latin typeface="Tw Cen MT" panose="020B0602020104020603" pitchFamily="34" charset="77"/>
              </a:rPr>
              <a:t>Manas</a:t>
            </a:r>
            <a:r>
              <a:rPr lang="en-US" altLang="en-US" sz="2800" dirty="0">
                <a:latin typeface="Tw Cen MT" panose="020B0602020104020603" pitchFamily="34" charset="77"/>
              </a:rPr>
              <a:t> Bajaj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2800" dirty="0">
                <a:latin typeface="Tw Cen MT" panose="020B0602020104020603" pitchFamily="34" charset="77"/>
              </a:rPr>
              <a:t>Pilot Implementation – Ed Seidewitz</a:t>
            </a:r>
          </a:p>
        </p:txBody>
      </p:sp>
      <p:sp>
        <p:nvSpPr>
          <p:cNvPr id="18436" name="Date Placeholder 3">
            <a:extLst>
              <a:ext uri="{FF2B5EF4-FFF2-40B4-BE49-F238E27FC236}">
                <a16:creationId xmlns:a16="http://schemas.microsoft.com/office/drawing/2014/main" id="{D78BA747-DEB2-2945-89DB-83D0D81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2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itchFamily="2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44502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1C4C-71FB-4A59-AB0F-001B0C32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7313"/>
            <a:ext cx="8534400" cy="671512"/>
          </a:xfrm>
        </p:spPr>
        <p:txBody>
          <a:bodyPr/>
          <a:lstStyle/>
          <a:p>
            <a:pPr>
              <a:defRPr/>
            </a:pPr>
            <a:r>
              <a:rPr lang="en-US" dirty="0"/>
              <a:t>SST Participating Organizations</a:t>
            </a:r>
          </a:p>
        </p:txBody>
      </p:sp>
      <p:sp>
        <p:nvSpPr>
          <p:cNvPr id="17411" name="Content Placeholder 7">
            <a:extLst>
              <a:ext uri="{FF2B5EF4-FFF2-40B4-BE49-F238E27FC236}">
                <a16:creationId xmlns:a16="http://schemas.microsoft.com/office/drawing/2014/main" id="{5987D8EB-3EDE-4392-BEF1-DA6EB8A8D0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330325"/>
            <a:ext cx="2898775" cy="4765675"/>
          </a:xfrm>
        </p:spPr>
        <p:txBody>
          <a:bodyPr/>
          <a:lstStyle/>
          <a:p>
            <a:r>
              <a:rPr lang="en-US" altLang="en-US" sz="1200" dirty="0"/>
              <a:t>Aerospace Corp</a:t>
            </a:r>
          </a:p>
          <a:p>
            <a:r>
              <a:rPr lang="en-US" altLang="en-US" sz="1200" dirty="0"/>
              <a:t>Airbus</a:t>
            </a:r>
          </a:p>
          <a:p>
            <a:r>
              <a:rPr lang="en-US" altLang="en-US" sz="1200" dirty="0">
                <a:solidFill>
                  <a:srgbClr val="00B050"/>
                </a:solidFill>
              </a:rPr>
              <a:t>ANSYS </a:t>
            </a:r>
            <a:r>
              <a:rPr lang="en-US" altLang="en-US" sz="1200" dirty="0" err="1">
                <a:solidFill>
                  <a:srgbClr val="00B050"/>
                </a:solidFill>
              </a:rPr>
              <a:t>medini</a:t>
            </a:r>
            <a:endParaRPr lang="en-US" altLang="en-US" sz="1200" dirty="0">
              <a:solidFill>
                <a:srgbClr val="00B050"/>
              </a:solidFill>
            </a:endParaRPr>
          </a:p>
          <a:p>
            <a:r>
              <a:rPr lang="en-US" altLang="en-US" sz="1200" dirty="0">
                <a:solidFill>
                  <a:srgbClr val="00B050"/>
                </a:solidFill>
              </a:rPr>
              <a:t>Aras</a:t>
            </a:r>
          </a:p>
          <a:p>
            <a:r>
              <a:rPr lang="en-US" altLang="en-US" sz="1200" dirty="0">
                <a:solidFill>
                  <a:srgbClr val="0070C0"/>
                </a:solidFill>
              </a:rPr>
              <a:t>Army Aviation &amp; Missile Center</a:t>
            </a:r>
          </a:p>
          <a:p>
            <a:r>
              <a:rPr lang="en-US" altLang="en-US" sz="1200" dirty="0"/>
              <a:t>BAE</a:t>
            </a:r>
          </a:p>
          <a:p>
            <a:r>
              <a:rPr lang="en-US" altLang="en-US" sz="1200" dirty="0" err="1">
                <a:solidFill>
                  <a:srgbClr val="00B050"/>
                </a:solidFill>
              </a:rPr>
              <a:t>BigLever</a:t>
            </a:r>
            <a:r>
              <a:rPr lang="en-US" altLang="en-US" sz="1200" dirty="0">
                <a:solidFill>
                  <a:srgbClr val="00B050"/>
                </a:solidFill>
              </a:rPr>
              <a:t> Software</a:t>
            </a:r>
          </a:p>
          <a:p>
            <a:r>
              <a:rPr lang="en-US" altLang="en-US" sz="1200" dirty="0"/>
              <a:t>Boeing</a:t>
            </a:r>
          </a:p>
          <a:p>
            <a:r>
              <a:rPr lang="en-US" altLang="en-US" sz="1200" dirty="0">
                <a:solidFill>
                  <a:srgbClr val="0070C0"/>
                </a:solidFill>
              </a:rPr>
              <a:t>CCDC Armaments Center</a:t>
            </a:r>
          </a:p>
          <a:p>
            <a:r>
              <a:rPr lang="en-US" altLang="en-US" sz="1200" dirty="0"/>
              <a:t>CEA</a:t>
            </a:r>
          </a:p>
          <a:p>
            <a:r>
              <a:rPr lang="en-US" altLang="en-US" sz="1200" dirty="0">
                <a:solidFill>
                  <a:srgbClr val="00B050"/>
                </a:solidFill>
              </a:rPr>
              <a:t>Contact Software</a:t>
            </a:r>
          </a:p>
          <a:p>
            <a:r>
              <a:rPr lang="en-US" altLang="en-US" sz="1200" dirty="0"/>
              <a:t>Draper Lab</a:t>
            </a:r>
          </a:p>
          <a:p>
            <a:r>
              <a:rPr lang="en-US" altLang="en-US" sz="1200" dirty="0"/>
              <a:t>Elbit Systems of America</a:t>
            </a:r>
          </a:p>
          <a:p>
            <a:r>
              <a:rPr lang="en-US" altLang="en-US" sz="1200" dirty="0">
                <a:solidFill>
                  <a:srgbClr val="C00000"/>
                </a:solidFill>
              </a:rPr>
              <a:t>ESTACA</a:t>
            </a:r>
          </a:p>
          <a:p>
            <a:r>
              <a:rPr lang="en-US" altLang="en-US" sz="1200" strike="sngStrike" dirty="0">
                <a:solidFill>
                  <a:srgbClr val="0070C0"/>
                </a:solidFill>
              </a:rPr>
              <a:t>European Space Agency</a:t>
            </a:r>
          </a:p>
          <a:p>
            <a:r>
              <a:rPr lang="en-US" altLang="en-US" sz="1200" dirty="0"/>
              <a:t>Ford</a:t>
            </a:r>
          </a:p>
          <a:p>
            <a:r>
              <a:rPr lang="en-US" altLang="en-US" sz="1200" dirty="0">
                <a:solidFill>
                  <a:srgbClr val="C00000"/>
                </a:solidFill>
              </a:rPr>
              <a:t>Fraunhofer FOKUS</a:t>
            </a:r>
          </a:p>
          <a:p>
            <a:r>
              <a:rPr lang="en-US" altLang="en-US" sz="1200" dirty="0"/>
              <a:t>General Motors</a:t>
            </a:r>
          </a:p>
          <a:p>
            <a:r>
              <a:rPr lang="en-US" altLang="en-US" sz="1200" dirty="0">
                <a:solidFill>
                  <a:srgbClr val="C00000"/>
                </a:solidFill>
              </a:rPr>
              <a:t>George Mason University</a:t>
            </a:r>
          </a:p>
          <a:p>
            <a:r>
              <a:rPr lang="en-US" altLang="en-US" sz="1200" dirty="0" err="1"/>
              <a:t>GfSE</a:t>
            </a:r>
            <a:endParaRPr lang="en-US" altLang="en-US" sz="1200" dirty="0"/>
          </a:p>
          <a:p>
            <a:r>
              <a:rPr lang="en-US" altLang="en-US" sz="1200" dirty="0">
                <a:solidFill>
                  <a:srgbClr val="C00000"/>
                </a:solidFill>
              </a:rPr>
              <a:t>Georgia Tech/GTRI</a:t>
            </a:r>
          </a:p>
          <a:p>
            <a:r>
              <a:rPr lang="en-US" altLang="en-US" sz="1200" dirty="0">
                <a:solidFill>
                  <a:srgbClr val="00B050"/>
                </a:solidFill>
              </a:rPr>
              <a:t>IBM</a:t>
            </a:r>
          </a:p>
          <a:p>
            <a:r>
              <a:rPr lang="en-US" altLang="en-US" sz="1200" dirty="0">
                <a:solidFill>
                  <a:srgbClr val="00B050"/>
                </a:solidFill>
              </a:rPr>
              <a:t>Idaho National Laboratory</a:t>
            </a:r>
          </a:p>
        </p:txBody>
      </p:sp>
      <p:sp>
        <p:nvSpPr>
          <p:cNvPr id="17412" name="Date Placeholder 3">
            <a:extLst>
              <a:ext uri="{FF2B5EF4-FFF2-40B4-BE49-F238E27FC236}">
                <a16:creationId xmlns:a16="http://schemas.microsoft.com/office/drawing/2014/main" id="{0BB56467-683F-40FC-805A-9FF2F497B42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t>25 March 2020</a:t>
            </a:r>
          </a:p>
        </p:txBody>
      </p:sp>
      <p:sp>
        <p:nvSpPr>
          <p:cNvPr id="17413" name="Content Placeholder 7">
            <a:extLst>
              <a:ext uri="{FF2B5EF4-FFF2-40B4-BE49-F238E27FC236}">
                <a16:creationId xmlns:a16="http://schemas.microsoft.com/office/drawing/2014/main" id="{84736797-6F8A-4056-8AF8-10077ACBF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1327150"/>
            <a:ext cx="289877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547688" indent="-2730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IncQuery</a:t>
            </a: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 Labs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Intercax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Itemis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Jet Propulsion Lab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John Deere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latin typeface="Tw Cen MT" panose="020B0602020104020603" pitchFamily="34" charset="0"/>
              </a:rPr>
              <a:t>Kenntnis</a:t>
            </a:r>
            <a:endParaRPr lang="en-US" altLang="en-US" sz="1200" dirty="0"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LieberLieber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latin typeface="Tw Cen MT" panose="020B0602020104020603" pitchFamily="34" charset="0"/>
              </a:rPr>
              <a:t>Lightstreet</a:t>
            </a:r>
            <a:r>
              <a:rPr lang="en-US" altLang="en-US" sz="1200" dirty="0">
                <a:latin typeface="Tw Cen MT" panose="020B0602020104020603" pitchFamily="34" charset="0"/>
              </a:rPr>
              <a:t> Consulting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Lockheed Martin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LSST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Maplesoft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Mgnite</a:t>
            </a: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 Inc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MITRE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latin typeface="Tw Cen MT" panose="020B0602020104020603" pitchFamily="34" charset="0"/>
              </a:rPr>
              <a:t>ModelAlchemy</a:t>
            </a:r>
            <a:r>
              <a:rPr lang="en-US" altLang="en-US" sz="1200" dirty="0">
                <a:latin typeface="Tw Cen MT" panose="020B0602020104020603" pitchFamily="34" charset="0"/>
              </a:rPr>
              <a:t> Consulting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Model Driven Solutions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Model Foundry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70C0"/>
                </a:solidFill>
                <a:latin typeface="Tw Cen MT" panose="020B0602020104020603" pitchFamily="34" charset="0"/>
              </a:rPr>
              <a:t>NIST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No Magic/Dassault </a:t>
            </a: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Systemes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OAR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Obeo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OOSE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C00000"/>
                </a:solidFill>
                <a:latin typeface="Tw Cen MT" panose="020B0602020104020603" pitchFamily="34" charset="0"/>
              </a:rPr>
              <a:t>Ostfold</a:t>
            </a: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 University College</a:t>
            </a:r>
          </a:p>
        </p:txBody>
      </p:sp>
      <p:sp>
        <p:nvSpPr>
          <p:cNvPr id="17414" name="Content Placeholder 7">
            <a:extLst>
              <a:ext uri="{FF2B5EF4-FFF2-40B4-BE49-F238E27FC236}">
                <a16:creationId xmlns:a16="http://schemas.microsoft.com/office/drawing/2014/main" id="{C9AC5C0E-D733-4E4F-A26C-69CA679A0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5" y="1327150"/>
            <a:ext cx="327977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Phoenix Integration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PTC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Qualtech</a:t>
            </a: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 Systems, Inc (QSI)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Raytheon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Rolls Royce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SAF Consulting *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70C0"/>
                </a:solidFill>
                <a:latin typeface="Tw Cen MT" panose="020B0602020104020603" pitchFamily="34" charset="0"/>
              </a:rPr>
              <a:t>SAIC</a:t>
            </a:r>
            <a:endParaRPr lang="en-US" altLang="en-US" sz="1200" dirty="0"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Siemens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Sierra Nevada Corporation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C00000"/>
                </a:solidFill>
                <a:latin typeface="Tw Cen MT" panose="020B0602020104020603" pitchFamily="34" charset="0"/>
              </a:rPr>
              <a:t>Simula</a:t>
            </a: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 Research Laboratory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Sodius</a:t>
            </a: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1200" dirty="0" err="1">
                <a:solidFill>
                  <a:srgbClr val="00B050"/>
                </a:solidFill>
                <a:latin typeface="Tw Cen MT" panose="020B0602020104020603" pitchFamily="34" charset="0"/>
              </a:rPr>
              <a:t>Willert</a:t>
            </a:r>
            <a:endParaRPr lang="en-US" altLang="en-US" sz="1200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System Strategy *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Tata Consultancy Services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Thales</a:t>
            </a:r>
          </a:p>
          <a:p>
            <a:pPr>
              <a:buClr>
                <a:srgbClr val="154B6D"/>
              </a:buClr>
            </a:pPr>
            <a:r>
              <a:rPr lang="en-US" altLang="en-US" sz="1200" dirty="0" err="1">
                <a:latin typeface="Tw Cen MT" panose="020B0602020104020603" pitchFamily="34" charset="0"/>
              </a:rPr>
              <a:t>Thematix</a:t>
            </a:r>
            <a:endParaRPr lang="en-US" altLang="en-US" sz="1200" dirty="0">
              <a:latin typeface="Tw Cen MT" panose="020B0602020104020603" pitchFamily="34" charset="0"/>
            </a:endParaRP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Tom Sawyer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UFRPE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University of Cantabria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University of Alabama in Huntsville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University of Detroit Mercy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C00000"/>
                </a:solidFill>
                <a:latin typeface="Tw Cen MT" panose="020B0602020104020603" pitchFamily="34" charset="0"/>
              </a:rPr>
              <a:t>University of Kaiserslautern / VPE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solidFill>
                  <a:srgbClr val="00B050"/>
                </a:solidFill>
                <a:latin typeface="Tw Cen MT" panose="020B0602020104020603" pitchFamily="34" charset="0"/>
              </a:rPr>
              <a:t>Vitech</a:t>
            </a:r>
          </a:p>
          <a:p>
            <a:pPr>
              <a:buClr>
                <a:srgbClr val="154B6D"/>
              </a:buClr>
            </a:pPr>
            <a:r>
              <a:rPr lang="en-US" altLang="en-US" sz="1200" dirty="0">
                <a:latin typeface="Tw Cen MT" panose="020B0602020104020603" pitchFamily="34" charset="0"/>
              </a:rPr>
              <a:t>88solutions</a:t>
            </a:r>
          </a:p>
        </p:txBody>
      </p:sp>
      <p:sp>
        <p:nvSpPr>
          <p:cNvPr id="17415" name="TextBox 2">
            <a:extLst>
              <a:ext uri="{FF2B5EF4-FFF2-40B4-BE49-F238E27FC236}">
                <a16:creationId xmlns:a16="http://schemas.microsoft.com/office/drawing/2014/main" id="{A3CD79BA-3B64-4F47-BBBA-B0AE218B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725" y="762000"/>
            <a:ext cx="1565275" cy="46196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Academia/Research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End User</a:t>
            </a:r>
          </a:p>
        </p:txBody>
      </p:sp>
      <p:sp>
        <p:nvSpPr>
          <p:cNvPr id="17416" name="TextBox 2">
            <a:extLst>
              <a:ext uri="{FF2B5EF4-FFF2-40B4-BE49-F238E27FC236}">
                <a16:creationId xmlns:a16="http://schemas.microsoft.com/office/drawing/2014/main" id="{AA902162-653F-4480-9FC6-23189024C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750888"/>
            <a:ext cx="1354138" cy="46196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B050"/>
                </a:solidFill>
                <a:latin typeface="Arial" panose="020B0604020202020204" pitchFamily="34" charset="0"/>
              </a:rPr>
              <a:t>Tool Vendors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70C0"/>
                </a:solidFill>
                <a:latin typeface="Arial" panose="020B0604020202020204" pitchFamily="34" charset="0"/>
              </a:rPr>
              <a:t>Government Rep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A9E672D-98D0-4235-840E-AB213DD37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063" y="762000"/>
            <a:ext cx="1141412" cy="2762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2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INCOSE rep 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B8292F-BB8F-CF4C-A549-A0196A266912}"/>
              </a:ext>
            </a:extLst>
          </p:cNvPr>
          <p:cNvSpPr/>
          <p:nvPr/>
        </p:nvSpPr>
        <p:spPr>
          <a:xfrm>
            <a:off x="5975279" y="1781175"/>
            <a:ext cx="1720921" cy="27622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C18CB7-0D70-0449-9280-95155FEF5391}"/>
              </a:ext>
            </a:extLst>
          </p:cNvPr>
          <p:cNvSpPr/>
          <p:nvPr/>
        </p:nvSpPr>
        <p:spPr>
          <a:xfrm>
            <a:off x="5975278" y="3533775"/>
            <a:ext cx="1720921" cy="27622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0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209-D7B1-4AF3-8CD6-B345D1A7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Elements of </a:t>
            </a:r>
            <a:r>
              <a:rPr lang="en-US" dirty="0" err="1"/>
              <a:t>SysML</a:t>
            </a:r>
            <a:r>
              <a:rPr lang="en-US" dirty="0"/>
              <a:t> 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EDD2-2F9D-4CC5-90CB-AC18365B64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New Metamodel that is not constrained by UML</a:t>
            </a:r>
          </a:p>
          <a:p>
            <a:pPr lvl="1"/>
            <a:r>
              <a:rPr lang="en-US" dirty="0"/>
              <a:t>Grounded in formal semantics</a:t>
            </a:r>
          </a:p>
          <a:p>
            <a:r>
              <a:rPr lang="en-US" dirty="0"/>
              <a:t>Robust visualizations based on flexible view &amp; viewpoint specification and execution</a:t>
            </a:r>
          </a:p>
          <a:p>
            <a:pPr lvl="1"/>
            <a:r>
              <a:rPr lang="en-US" dirty="0"/>
              <a:t>Graphical, Tabular, Textual</a:t>
            </a:r>
          </a:p>
          <a:p>
            <a:r>
              <a:rPr lang="en-US" dirty="0"/>
              <a:t>Standardized API to access the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954A-ADC6-4E30-BA1B-917A459F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210129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7B2B-53A0-499A-837B-C012898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Public Incremental Release</a:t>
            </a:r>
            <a:br>
              <a:rPr lang="en-US" dirty="0"/>
            </a:br>
            <a:r>
              <a:rPr lang="en-US" dirty="0"/>
              <a:t>(2020-03 release)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76DD-3589-454C-B723-628343056C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8515"/>
          </a:xfrm>
        </p:spPr>
        <p:txBody>
          <a:bodyPr>
            <a:normAutofit/>
          </a:bodyPr>
          <a:lstStyle/>
          <a:p>
            <a:r>
              <a:rPr lang="en-US" dirty="0"/>
              <a:t>Publicly available on Google Drive – April 10, 2020</a:t>
            </a:r>
          </a:p>
          <a:p>
            <a:r>
              <a:rPr lang="en-US" dirty="0"/>
              <a:t>Google group for comments and questions</a:t>
            </a:r>
          </a:p>
          <a:p>
            <a:pPr lvl="1"/>
            <a:r>
              <a:rPr lang="en-US" dirty="0">
                <a:hlinkClick r:id="rId2"/>
              </a:rPr>
              <a:t>https://groups.google.com/forum/#!forum/sysml-v2-release</a:t>
            </a:r>
            <a:br>
              <a:rPr lang="en-US" dirty="0"/>
            </a:br>
            <a:r>
              <a:rPr lang="en-US" dirty="0"/>
              <a:t>(to request membership, provide name, affiliation and interest)</a:t>
            </a:r>
          </a:p>
          <a:p>
            <a:r>
              <a:rPr lang="en-US" dirty="0"/>
              <a:t>Content</a:t>
            </a:r>
          </a:p>
          <a:p>
            <a:pPr lvl="1"/>
            <a:r>
              <a:rPr lang="en-US" dirty="0"/>
              <a:t>Read me file (includes installation instructions)</a:t>
            </a:r>
          </a:p>
          <a:p>
            <a:pPr lvl="1"/>
            <a:r>
              <a:rPr lang="en-US" dirty="0"/>
              <a:t>Specification documentation (Parts 1, 2, 3)</a:t>
            </a:r>
          </a:p>
          <a:p>
            <a:pPr lvl="1"/>
            <a:r>
              <a:rPr lang="en-US" dirty="0"/>
              <a:t>Training material for SysML textual notation</a:t>
            </a:r>
          </a:p>
          <a:p>
            <a:pPr lvl="1"/>
            <a:r>
              <a:rPr lang="en-US" dirty="0"/>
              <a:t>Installation file for </a:t>
            </a:r>
            <a:r>
              <a:rPr lang="en-US" dirty="0" err="1"/>
              <a:t>Jupyter</a:t>
            </a:r>
            <a:r>
              <a:rPr lang="en-US" dirty="0"/>
              <a:t> tooling</a:t>
            </a:r>
          </a:p>
          <a:p>
            <a:pPr lvl="1"/>
            <a:r>
              <a:rPr lang="en-US" dirty="0"/>
              <a:t>Installation site for Eclipse plug-in </a:t>
            </a:r>
          </a:p>
          <a:p>
            <a:pPr lvl="1"/>
            <a:r>
              <a:rPr lang="en-US" dirty="0"/>
              <a:t>Web access to Tom Sawyer tooling/repository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A9F07-51E8-4F87-AD63-BD48488E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54629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B0EBA6-44AD-4182-8E6E-9180DA50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Language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FF553-CBC9-4589-8965-F563758E6E2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47861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D963-ED2D-F845-8A00-7CB245A0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Language Architecture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8C1DCD-A974-6046-9453-BE3E01B78BF9}"/>
              </a:ext>
            </a:extLst>
          </p:cNvPr>
          <p:cNvSpPr/>
          <p:nvPr/>
        </p:nvSpPr>
        <p:spPr bwMode="auto">
          <a:xfrm>
            <a:off x="2048861" y="4900981"/>
            <a:ext cx="5013063" cy="14522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3B6B3F-CC03-2C49-B71C-24DA9421F246}"/>
              </a:ext>
            </a:extLst>
          </p:cNvPr>
          <p:cNvSpPr/>
          <p:nvPr/>
        </p:nvSpPr>
        <p:spPr bwMode="auto">
          <a:xfrm>
            <a:off x="2046179" y="1295400"/>
            <a:ext cx="5013063" cy="35087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4766321-7868-F649-AA20-6D3D020E1D39}"/>
              </a:ext>
            </a:extLst>
          </p:cNvPr>
          <p:cNvGrpSpPr/>
          <p:nvPr/>
        </p:nvGrpSpPr>
        <p:grpSpPr>
          <a:xfrm>
            <a:off x="5609327" y="5134959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8D47D5A-DA15-5341-9BDC-88DC04D8C7E9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DE013D4-E0E5-1C4B-9AC6-C9AD9DB45059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88A628-8F7B-BC4D-A4B0-EBC83C6FCCD5}"/>
              </a:ext>
            </a:extLst>
          </p:cNvPr>
          <p:cNvGrpSpPr/>
          <p:nvPr/>
        </p:nvGrpSpPr>
        <p:grpSpPr>
          <a:xfrm>
            <a:off x="5462626" y="5238053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29AB30-80DE-9545-AA56-EC0DE874C797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7A4364-401A-2947-8C26-D6687B0B959F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1F02348-D703-8742-AC3C-AB7DFB06F5C9}"/>
              </a:ext>
            </a:extLst>
          </p:cNvPr>
          <p:cNvGrpSpPr/>
          <p:nvPr/>
        </p:nvGrpSpPr>
        <p:grpSpPr>
          <a:xfrm>
            <a:off x="2293603" y="1381451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EFFB4A-8542-404F-86A4-D22B19F08FFE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Root </a:t>
              </a:r>
              <a:b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</a:b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Syntax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8F6BCA-5BCA-694C-97BA-4D4E85BCC3F8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57317CF-9F86-7143-970B-818A67E9538C}"/>
              </a:ext>
            </a:extLst>
          </p:cNvPr>
          <p:cNvGrpSpPr/>
          <p:nvPr/>
        </p:nvGrpSpPr>
        <p:grpSpPr>
          <a:xfrm>
            <a:off x="2293603" y="2587204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EEC949-CBCB-434D-BB91-CAF5625DCD81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Core</a:t>
              </a:r>
              <a:b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</a:b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Syntax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578C82-7FE5-7746-ACDF-914ED9CC8BF8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9A8684-7810-214E-9CED-B5B8244C139E}"/>
              </a:ext>
            </a:extLst>
          </p:cNvPr>
          <p:cNvGrpSpPr/>
          <p:nvPr/>
        </p:nvGrpSpPr>
        <p:grpSpPr>
          <a:xfrm>
            <a:off x="2293603" y="3791162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6F5123-F867-0547-BA61-9E299E9FF9DE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Kernel Syntax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0D9F87-87C7-3F47-8580-1EBF79664DD5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ACACB7-9AF3-6D43-A620-D0B10C0ABAC2}"/>
              </a:ext>
            </a:extLst>
          </p:cNvPr>
          <p:cNvGrpSpPr/>
          <p:nvPr/>
        </p:nvGrpSpPr>
        <p:grpSpPr>
          <a:xfrm>
            <a:off x="2296285" y="5349216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9B18D1-9DFC-574D-9C49-0B95B107BD74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Systems Syntax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8BFC8D-7389-8446-B76F-86510DBA2D82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C4A43C-2BC6-4041-B29E-1FC0FF815B2B}"/>
              </a:ext>
            </a:extLst>
          </p:cNvPr>
          <p:cNvGrpSpPr/>
          <p:nvPr/>
        </p:nvGrpSpPr>
        <p:grpSpPr>
          <a:xfrm>
            <a:off x="5305751" y="3794750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AA6AC7-50F0-9F4D-A570-81B9ED400AB8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Kernel Model </a:t>
              </a:r>
              <a:r>
                <a:rPr lang="en-US" sz="1200" b="1" dirty="0">
                  <a:latin typeface="Arial" charset="0"/>
                </a:rPr>
                <a:t>Library</a:t>
              </a:r>
              <a:endPara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8A72FD-E07C-D34D-BA72-BA83DFDEAFF3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6D66C4-6914-3C4E-844F-4E53A85734AF}"/>
              </a:ext>
            </a:extLst>
          </p:cNvPr>
          <p:cNvGrpSpPr/>
          <p:nvPr/>
        </p:nvGrpSpPr>
        <p:grpSpPr>
          <a:xfrm>
            <a:off x="5308433" y="5349216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A86635-F742-D64B-AEA7-7838E58C39F6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Systems and Domain Model Libraries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6123010-1B57-A640-AA1F-A4D54EE35FA0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97917D-6546-0F42-8DDF-8057E0E462AD}"/>
              </a:ext>
            </a:extLst>
          </p:cNvPr>
          <p:cNvGrpSpPr/>
          <p:nvPr/>
        </p:nvGrpSpPr>
        <p:grpSpPr>
          <a:xfrm>
            <a:off x="5305751" y="2587204"/>
            <a:ext cx="1194099" cy="840889"/>
            <a:chOff x="1882588" y="1783977"/>
            <a:chExt cx="1194099" cy="840889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61B549-73FC-7F43-8D1E-24004DFD5395}"/>
                </a:ext>
              </a:extLst>
            </p:cNvPr>
            <p:cNvSpPr/>
            <p:nvPr/>
          </p:nvSpPr>
          <p:spPr bwMode="auto">
            <a:xfrm>
              <a:off x="1882588" y="1990165"/>
              <a:ext cx="1194099" cy="634701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Arial" charset="0"/>
                </a:rPr>
                <a:t>Core Semantics</a:t>
              </a:r>
              <a:endPara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EE6AAFD-E158-9445-9314-D68522085DAB}"/>
                </a:ext>
              </a:extLst>
            </p:cNvPr>
            <p:cNvSpPr/>
            <p:nvPr/>
          </p:nvSpPr>
          <p:spPr bwMode="auto">
            <a:xfrm>
              <a:off x="1882588" y="1783977"/>
              <a:ext cx="442857" cy="206188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F79745-8A67-A542-8519-B5EFD4539950}"/>
              </a:ext>
            </a:extLst>
          </p:cNvPr>
          <p:cNvCxnSpPr>
            <a:stCxn id="8" idx="3"/>
            <a:endCxn id="42" idx="1"/>
          </p:cNvCxnSpPr>
          <p:nvPr/>
        </p:nvCxnSpPr>
        <p:spPr bwMode="auto">
          <a:xfrm>
            <a:off x="3487702" y="3110743"/>
            <a:ext cx="18180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DF7375-3D0C-FE49-949F-D11CFDBE254C}"/>
              </a:ext>
            </a:extLst>
          </p:cNvPr>
          <p:cNvCxnSpPr/>
          <p:nvPr/>
        </p:nvCxnSpPr>
        <p:spPr bwMode="auto">
          <a:xfrm>
            <a:off x="3487700" y="4521786"/>
            <a:ext cx="18180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1515C94-E942-B443-BE54-DE9D9E1B5DEE}"/>
              </a:ext>
            </a:extLst>
          </p:cNvPr>
          <p:cNvCxnSpPr/>
          <p:nvPr/>
        </p:nvCxnSpPr>
        <p:spPr bwMode="auto">
          <a:xfrm>
            <a:off x="3490382" y="6098665"/>
            <a:ext cx="18180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4DE6615-1EF3-864F-9390-D10CBA08A4AF}"/>
              </a:ext>
            </a:extLst>
          </p:cNvPr>
          <p:cNvCxnSpPr/>
          <p:nvPr/>
        </p:nvCxnSpPr>
        <p:spPr bwMode="auto">
          <a:xfrm flipH="1">
            <a:off x="3490382" y="5741868"/>
            <a:ext cx="18180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654829-09AE-D44E-BB21-B3488F429BB2}"/>
              </a:ext>
            </a:extLst>
          </p:cNvPr>
          <p:cNvCxnSpPr/>
          <p:nvPr/>
        </p:nvCxnSpPr>
        <p:spPr bwMode="auto">
          <a:xfrm flipH="1">
            <a:off x="3487700" y="4188298"/>
            <a:ext cx="18180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6B956C5-26F0-A34C-BB4A-551A3E698741}"/>
              </a:ext>
            </a:extLst>
          </p:cNvPr>
          <p:cNvSpPr txBox="1"/>
          <p:nvPr/>
        </p:nvSpPr>
        <p:spPr>
          <a:xfrm>
            <a:off x="3882801" y="2639651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semantic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D2347E-76FA-0343-85A7-8DE7923CD064}"/>
              </a:ext>
            </a:extLst>
          </p:cNvPr>
          <p:cNvSpPr txBox="1"/>
          <p:nvPr/>
        </p:nvSpPr>
        <p:spPr>
          <a:xfrm>
            <a:off x="3925038" y="3903227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metamodel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9B699B-DC8B-6748-8C03-0A1E1C28CFBF}"/>
              </a:ext>
            </a:extLst>
          </p:cNvPr>
          <p:cNvSpPr txBox="1"/>
          <p:nvPr/>
        </p:nvSpPr>
        <p:spPr>
          <a:xfrm>
            <a:off x="3746179" y="4252856"/>
            <a:ext cx="1258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semantic library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1DC2DA-E850-6941-AA56-87962B4070FD}"/>
              </a:ext>
            </a:extLst>
          </p:cNvPr>
          <p:cNvSpPr txBox="1"/>
          <p:nvPr/>
        </p:nvSpPr>
        <p:spPr>
          <a:xfrm>
            <a:off x="3927720" y="5469799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metamodel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DE2B75-DF39-F64B-BE0E-D392EE69BF75}"/>
              </a:ext>
            </a:extLst>
          </p:cNvPr>
          <p:cNvSpPr txBox="1"/>
          <p:nvPr/>
        </p:nvSpPr>
        <p:spPr>
          <a:xfrm>
            <a:off x="3748861" y="5819428"/>
            <a:ext cx="1258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semantic library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C7BD850-B9B9-5643-827F-4651E63D7DD2}"/>
              </a:ext>
            </a:extLst>
          </p:cNvPr>
          <p:cNvCxnSpPr>
            <a:stCxn id="11" idx="0"/>
            <a:endCxn id="8" idx="2"/>
          </p:cNvCxnSpPr>
          <p:nvPr/>
        </p:nvCxnSpPr>
        <p:spPr bwMode="auto">
          <a:xfrm flipV="1">
            <a:off x="2890653" y="3428093"/>
            <a:ext cx="0" cy="5692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BB4459B-66DA-C249-A6F4-46189B8703DD}"/>
              </a:ext>
            </a:extLst>
          </p:cNvPr>
          <p:cNvCxnSpPr/>
          <p:nvPr/>
        </p:nvCxnSpPr>
        <p:spPr bwMode="auto">
          <a:xfrm flipV="1">
            <a:off x="2890653" y="2222340"/>
            <a:ext cx="0" cy="5692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4BB92C4-C39D-8941-8526-A3CA41B46E44}"/>
              </a:ext>
            </a:extLst>
          </p:cNvPr>
          <p:cNvCxnSpPr>
            <a:stCxn id="14" idx="0"/>
            <a:endCxn id="11" idx="2"/>
          </p:cNvCxnSpPr>
          <p:nvPr/>
        </p:nvCxnSpPr>
        <p:spPr bwMode="auto">
          <a:xfrm flipH="1" flipV="1">
            <a:off x="2890653" y="4632051"/>
            <a:ext cx="2682" cy="92335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23DDC4B-7CA4-C74F-9BAE-3441B2BEF234}"/>
              </a:ext>
            </a:extLst>
          </p:cNvPr>
          <p:cNvCxnSpPr>
            <a:stCxn id="29" idx="0"/>
            <a:endCxn id="26" idx="2"/>
          </p:cNvCxnSpPr>
          <p:nvPr/>
        </p:nvCxnSpPr>
        <p:spPr bwMode="auto">
          <a:xfrm flipH="1" flipV="1">
            <a:off x="5902801" y="4635639"/>
            <a:ext cx="2682" cy="91976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EA0B28-F462-E642-839E-BC3E0DADF307}"/>
              </a:ext>
            </a:extLst>
          </p:cNvPr>
          <p:cNvSpPr txBox="1"/>
          <p:nvPr/>
        </p:nvSpPr>
        <p:spPr>
          <a:xfrm>
            <a:off x="3337527" y="1255243"/>
            <a:ext cx="2468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/>
              <a:t>Kernel Modeling Language</a:t>
            </a:r>
            <a:br>
              <a:rPr lang="en-US" sz="1400" b="1" i="1" dirty="0"/>
            </a:br>
            <a:r>
              <a:rPr lang="en-US" sz="1400" b="1" i="1" dirty="0"/>
              <a:t>(</a:t>
            </a:r>
            <a:r>
              <a:rPr lang="en-US" sz="1400" b="1" i="1" dirty="0" err="1"/>
              <a:t>KerML</a:t>
            </a:r>
            <a:r>
              <a:rPr lang="en-US" sz="1400" b="1" i="1" dirty="0"/>
              <a:t>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B1D6AF-E940-1343-BE1A-59841BFD4FA8}"/>
              </a:ext>
            </a:extLst>
          </p:cNvPr>
          <p:cNvSpPr txBox="1"/>
          <p:nvPr/>
        </p:nvSpPr>
        <p:spPr>
          <a:xfrm>
            <a:off x="3170959" y="4868116"/>
            <a:ext cx="2648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/>
              <a:t>Systems Modeling Language</a:t>
            </a:r>
            <a:br>
              <a:rPr lang="en-US" sz="1400" b="1" i="1" dirty="0"/>
            </a:br>
            <a:r>
              <a:rPr lang="en-US" sz="1400" b="1" i="1" dirty="0"/>
              <a:t>(SysML)</a:t>
            </a:r>
          </a:p>
        </p:txBody>
      </p:sp>
      <p:sp>
        <p:nvSpPr>
          <p:cNvPr id="70" name="Rounded Rectangular Callout 69">
            <a:extLst>
              <a:ext uri="{FF2B5EF4-FFF2-40B4-BE49-F238E27FC236}">
                <a16:creationId xmlns:a16="http://schemas.microsoft.com/office/drawing/2014/main" id="{8C60EBC4-77F6-9A4C-B918-5AD6162018A2}"/>
              </a:ext>
            </a:extLst>
          </p:cNvPr>
          <p:cNvSpPr/>
          <p:nvPr/>
        </p:nvSpPr>
        <p:spPr bwMode="auto">
          <a:xfrm>
            <a:off x="6806120" y="2357187"/>
            <a:ext cx="2029906" cy="510778"/>
          </a:xfrm>
          <a:prstGeom prst="wedgeRoundRectCallout">
            <a:avLst>
              <a:gd name="adj1" fmla="val -69219"/>
              <a:gd name="adj2" fmla="val 64177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Direct semantic mapping to formal logic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Rounded Rectangular Callout 70">
            <a:extLst>
              <a:ext uri="{FF2B5EF4-FFF2-40B4-BE49-F238E27FC236}">
                <a16:creationId xmlns:a16="http://schemas.microsoft.com/office/drawing/2014/main" id="{7A1332A2-47D3-5E48-8266-C37F83A6CA3B}"/>
              </a:ext>
            </a:extLst>
          </p:cNvPr>
          <p:cNvSpPr/>
          <p:nvPr/>
        </p:nvSpPr>
        <p:spPr bwMode="auto">
          <a:xfrm>
            <a:off x="6781110" y="3347639"/>
            <a:ext cx="2029906" cy="715089"/>
          </a:xfrm>
          <a:prstGeom prst="wedgeRoundRectCallout">
            <a:avLst>
              <a:gd name="adj1" fmla="val -68516"/>
              <a:gd name="adj2" fmla="val 52080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Declarative semantic base elements modeled using </a:t>
            </a:r>
            <a:r>
              <a:rPr lang="en-US" sz="1200" i="1" dirty="0" err="1">
                <a:latin typeface="Arial" charset="0"/>
              </a:rPr>
              <a:t>KerML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Rounded Rectangular Callout 71">
            <a:extLst>
              <a:ext uri="{FF2B5EF4-FFF2-40B4-BE49-F238E27FC236}">
                <a16:creationId xmlns:a16="http://schemas.microsoft.com/office/drawing/2014/main" id="{E98ADA85-59E8-F44B-828D-2CBBDCEC6EF5}"/>
              </a:ext>
            </a:extLst>
          </p:cNvPr>
          <p:cNvSpPr/>
          <p:nvPr/>
        </p:nvSpPr>
        <p:spPr bwMode="auto">
          <a:xfrm>
            <a:off x="6808236" y="4571227"/>
            <a:ext cx="2025107" cy="919401"/>
          </a:xfrm>
          <a:prstGeom prst="wedgeRoundRectCallout">
            <a:avLst>
              <a:gd name="adj1" fmla="val -70535"/>
              <a:gd name="adj2" fmla="val 64772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Declarative semantic base elements and domain-specific libraries modeled using SysML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3" name="Rounded Rectangular Callout 72">
            <a:extLst>
              <a:ext uri="{FF2B5EF4-FFF2-40B4-BE49-F238E27FC236}">
                <a16:creationId xmlns:a16="http://schemas.microsoft.com/office/drawing/2014/main" id="{E5E8E19A-A214-CC49-964B-8D9BAC1489E2}"/>
              </a:ext>
            </a:extLst>
          </p:cNvPr>
          <p:cNvSpPr/>
          <p:nvPr/>
        </p:nvSpPr>
        <p:spPr bwMode="auto">
          <a:xfrm>
            <a:off x="290693" y="2230597"/>
            <a:ext cx="1805358" cy="919401"/>
          </a:xfrm>
          <a:prstGeom prst="wedgeRoundRectCallout">
            <a:avLst>
              <a:gd name="adj1" fmla="val 65317"/>
              <a:gd name="adj2" fmla="val -83629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Root syntactic elements without model-level semantics (e.g., packaging)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AA91CD0-E19D-F94C-875E-0DF2EC9D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173169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3B4AA8-A53F-4F54-BE29-AF021A71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Language Update </a:t>
            </a:r>
            <a:br>
              <a:rPr lang="en-US" dirty="0"/>
            </a:br>
            <a:r>
              <a:rPr lang="en-US" dirty="0"/>
              <a:t>(2020-03 Baseline)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F8576-A827-49A3-91F4-2F0014B2B2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51144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6A3F-72B2-754F-809F-FADFE27D3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Individuals </a:t>
            </a:r>
            <a:br>
              <a:rPr lang="en-US" dirty="0"/>
            </a:br>
            <a:r>
              <a:rPr lang="en-US" dirty="0"/>
              <a:t>Abstract Syntax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66571-0C45-EA41-AEC9-E2A46163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5B076-D1F5-8847-AF12-E3D4780A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25" y="1524000"/>
            <a:ext cx="8305800" cy="465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7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545880-BA5C-CD4F-88FB-BD8E13D94C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57" b="1540"/>
          <a:stretch/>
        </p:blipFill>
        <p:spPr>
          <a:xfrm>
            <a:off x="3023536" y="1371600"/>
            <a:ext cx="5867400" cy="4953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47867-0C12-754A-BFE1-44959DC8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Individuals: Occurrences and Lives </a:t>
            </a:r>
            <a:br>
              <a:rPr lang="en-US" dirty="0"/>
            </a:br>
            <a:r>
              <a:rPr lang="en-US" dirty="0"/>
              <a:t>Model Library (Kernel)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19D15-FEE3-4144-8685-85ED05D2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5FC7B062-787B-A54A-A012-FA3EACCC423C}"/>
              </a:ext>
            </a:extLst>
          </p:cNvPr>
          <p:cNvSpPr/>
          <p:nvPr/>
        </p:nvSpPr>
        <p:spPr bwMode="auto">
          <a:xfrm>
            <a:off x="685800" y="2057400"/>
            <a:ext cx="2476500" cy="919401"/>
          </a:xfrm>
          <a:prstGeom prst="wedgeRoundRectCallout">
            <a:avLst>
              <a:gd name="adj1" fmla="val 57606"/>
              <a:gd name="adj2" fmla="val -78802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Occurrences are things with identity that exist in time and space (4D). Object and Part are specializations of Occurrence.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E220238-6E41-8A46-8C18-9739E33780E0}"/>
              </a:ext>
            </a:extLst>
          </p:cNvPr>
          <p:cNvSpPr/>
          <p:nvPr/>
        </p:nvSpPr>
        <p:spPr bwMode="auto">
          <a:xfrm>
            <a:off x="6185836" y="1371600"/>
            <a:ext cx="2133600" cy="715089"/>
          </a:xfrm>
          <a:prstGeom prst="wedgeRoundRectCallout">
            <a:avLst>
              <a:gd name="adj1" fmla="val -69612"/>
              <a:gd name="adj2" fmla="val 32918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A portion of an occurrence is a portion </a:t>
            </a:r>
            <a:r>
              <a:rPr lang="en-US" sz="1200" i="1" dirty="0"/>
              <a:t>of its extension in time and/or space.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8E15E7D2-634C-1B4F-A339-B323A849E2C0}"/>
              </a:ext>
            </a:extLst>
          </p:cNvPr>
          <p:cNvSpPr/>
          <p:nvPr/>
        </p:nvSpPr>
        <p:spPr bwMode="auto">
          <a:xfrm>
            <a:off x="699436" y="4876800"/>
            <a:ext cx="2449227" cy="919401"/>
          </a:xfrm>
          <a:prstGeom prst="wedgeRoundRectCallout">
            <a:avLst>
              <a:gd name="adj1" fmla="val 58829"/>
              <a:gd name="adj2" fmla="val -87476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A “life” is the maximal portion of an occurrence in time and space (i.e., ”the entire thing over its entire lifetime”).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37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5541-2337-5143-9049-E6FC45C8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Individuals</a:t>
            </a:r>
            <a:br>
              <a:rPr lang="en-US" dirty="0"/>
            </a:br>
            <a:r>
              <a:rPr lang="en-US" dirty="0"/>
              <a:t>Textual Notation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FC4C8-1436-D243-9B51-137E0D3F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993E5-D7A3-014C-B794-A6D510D0CF4F}"/>
              </a:ext>
            </a:extLst>
          </p:cNvPr>
          <p:cNvSpPr/>
          <p:nvPr/>
        </p:nvSpPr>
        <p:spPr>
          <a:xfrm>
            <a:off x="454025" y="1295400"/>
            <a:ext cx="8229600" cy="5037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individual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'Temporal-Spatial Reference_ID1' :&gt; 'Temporal-Spatial Reference';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individual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VehicleRoadContext_ID1 :&gt; </a:t>
            </a:r>
            <a:r>
              <a:rPr lang="en-US" sz="1200" dirty="0" err="1">
                <a:latin typeface="Monaco" pitchFamily="2" charset="77"/>
              </a:rPr>
              <a:t>VehicleRoadContext</a:t>
            </a:r>
            <a:r>
              <a:rPr lang="en-US" sz="1200" dirty="0">
                <a:latin typeface="Monaco" pitchFamily="2" charset="77"/>
              </a:rPr>
              <a:t>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individual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VehicleA_ID1 :&gt; </a:t>
            </a:r>
            <a:r>
              <a:rPr lang="en-US" sz="1200" dirty="0" err="1">
                <a:latin typeface="Monaco" pitchFamily="2" charset="77"/>
              </a:rPr>
              <a:t>VehicleA</a:t>
            </a:r>
            <a:r>
              <a:rPr lang="en-US" sz="1200" dirty="0">
                <a:latin typeface="Monaco" pitchFamily="2" charset="77"/>
              </a:rPr>
              <a:t>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individual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Road_ID1 :&gt; Road;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effectLst/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individual</a:t>
            </a:r>
            <a:r>
              <a:rPr lang="en-US" sz="1200" dirty="0">
                <a:latin typeface="Monaco" pitchFamily="2" charset="77"/>
              </a:rPr>
              <a:t> reference : 'Temporal-Spatial Reference_ID1’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:&gt;&gt; </a:t>
            </a:r>
            <a:r>
              <a:rPr lang="en-US" sz="1200" dirty="0" err="1">
                <a:latin typeface="Monaco" pitchFamily="2" charset="77"/>
              </a:rPr>
              <a:t>referenceTime</a:t>
            </a:r>
            <a:r>
              <a:rPr lang="en-US" sz="1200" dirty="0">
                <a:latin typeface="Monaco" pitchFamily="2" charset="77"/>
              </a:rPr>
              <a:t> = </a:t>
            </a:r>
            <a:r>
              <a:rPr lang="en-US" sz="1200" dirty="0" err="1">
                <a:latin typeface="Monaco" pitchFamily="2" charset="77"/>
              </a:rPr>
              <a:t>DateTime</a:t>
            </a:r>
            <a:r>
              <a:rPr lang="en-US" sz="1200" dirty="0">
                <a:latin typeface="Monaco" pitchFamily="2" charset="77"/>
              </a:rPr>
              <a:t>(…);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snapshot</a:t>
            </a:r>
            <a:r>
              <a:rPr lang="en-US" sz="1200" dirty="0">
                <a:latin typeface="Monaco" pitchFamily="2" charset="77"/>
              </a:rPr>
              <a:t> context_t0 : VehicleRoadContext_ID1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:&gt;&gt; t = t0;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	snapshot</a:t>
            </a:r>
            <a:r>
              <a:rPr lang="en-US" sz="1200" dirty="0">
                <a:latin typeface="Monaco" pitchFamily="2" charset="77"/>
              </a:rPr>
              <a:t> vehicle_ID1_t0 : VehicleA_ID1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mass = m;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position = p0;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velocity = v0;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acceleration = a0;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		exhibit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 err="1">
                <a:latin typeface="Monaco" pitchFamily="2" charset="77"/>
              </a:rPr>
              <a:t>vehicleStates</a:t>
            </a:r>
            <a:r>
              <a:rPr lang="en-US" sz="1200" dirty="0">
                <a:latin typeface="Monaco" pitchFamily="2" charset="77"/>
              </a:rPr>
              <a:t>::on;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	snapshot</a:t>
            </a:r>
            <a:r>
              <a:rPr lang="en-US" sz="1200" dirty="0">
                <a:latin typeface="Monaco" pitchFamily="2" charset="77"/>
              </a:rPr>
              <a:t> road_ID1_t0 : Road_ID1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angle = theta0;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	:&gt;&gt; </a:t>
            </a:r>
            <a:r>
              <a:rPr lang="en-US" sz="1200" dirty="0" err="1">
                <a:latin typeface="Monaco" pitchFamily="2" charset="77"/>
              </a:rPr>
              <a:t>surfaceFriction</a:t>
            </a:r>
            <a:r>
              <a:rPr lang="en-US" sz="1200" dirty="0">
                <a:latin typeface="Monaco" pitchFamily="2" charset="77"/>
              </a:rPr>
              <a:t> = sf0;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	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…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7399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6A3F-72B2-754F-809F-FADFE27D3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</a:t>
            </a:r>
            <a:br>
              <a:rPr lang="en-US" dirty="0"/>
            </a:br>
            <a:r>
              <a:rPr lang="en-US" dirty="0"/>
              <a:t>Abstract Syntax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66571-0C45-EA41-AEC9-E2A46163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75233-0F8C-6349-B2BB-8E113F74F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8" y="1634458"/>
            <a:ext cx="7368794" cy="420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10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2542-2647-C14A-BC49-D03BBF7F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Constraints: Assertion </a:t>
            </a:r>
            <a:br>
              <a:rPr lang="en-US" dirty="0"/>
            </a:br>
            <a:r>
              <a:rPr lang="en-US" dirty="0"/>
              <a:t>Abstract Syntax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6FA41-FA60-3742-AC4A-929FEF43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5A55B-7CB2-3D48-9BD4-2DD36A6F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167830"/>
            <a:ext cx="3365500" cy="2552700"/>
          </a:xfrm>
          <a:prstGeom prst="rect">
            <a:avLst/>
          </a:prstGeom>
        </p:spPr>
      </p:pic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CDD3F02-4DE8-D244-9F9E-0A3C3BAE298B}"/>
              </a:ext>
            </a:extLst>
          </p:cNvPr>
          <p:cNvSpPr/>
          <p:nvPr/>
        </p:nvSpPr>
        <p:spPr bwMode="auto">
          <a:xfrm>
            <a:off x="5492750" y="4498003"/>
            <a:ext cx="2029906" cy="715089"/>
          </a:xfrm>
          <a:prstGeom prst="wedgeRoundRectCallout">
            <a:avLst>
              <a:gd name="adj1" fmla="val -70642"/>
              <a:gd name="adj2" fmla="val -62350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An invariant is a Boolean expression that is asserted to be true.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9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8A6F-7EBD-FD47-BAAF-4FC52BC2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Constraints </a:t>
            </a:r>
            <a:br>
              <a:rPr lang="en-US" dirty="0"/>
            </a:br>
            <a:r>
              <a:rPr lang="en-US" dirty="0"/>
              <a:t>Model Library (Systems)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0AB2F-19A2-6449-BCC9-D53FD9BB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9848A-C821-964F-AE0B-956133796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0" y="2247900"/>
            <a:ext cx="5016500" cy="23622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475C908A-8B9C-AB48-83B9-796FF11BC2B0}"/>
              </a:ext>
            </a:extLst>
          </p:cNvPr>
          <p:cNvSpPr/>
          <p:nvPr/>
        </p:nvSpPr>
        <p:spPr bwMode="auto">
          <a:xfrm>
            <a:off x="3631131" y="4610100"/>
            <a:ext cx="2133600" cy="715089"/>
          </a:xfrm>
          <a:prstGeom prst="wedgeRoundRectCallout">
            <a:avLst>
              <a:gd name="adj1" fmla="val -51043"/>
              <a:gd name="adj2" fmla="val -109162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A constraint check is the evaluation of a constraint, which may be true or false.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331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10CA-45A1-4341-A64E-787C6AA79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  <a:br>
              <a:rPr lang="en-US" dirty="0"/>
            </a:br>
            <a:r>
              <a:rPr lang="en-US" dirty="0"/>
              <a:t>Textual Notation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4F1C8-21B0-1643-BF93-375D5D09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D966C2-9F6E-CD45-BD6D-844F9DE6F2DB}"/>
              </a:ext>
            </a:extLst>
          </p:cNvPr>
          <p:cNvSpPr/>
          <p:nvPr/>
        </p:nvSpPr>
        <p:spPr>
          <a:xfrm>
            <a:off x="457200" y="1697576"/>
            <a:ext cx="822960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constraint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MassAnalysis3 (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 err="1">
                <a:latin typeface="Monaco" pitchFamily="2" charset="77"/>
              </a:rPr>
              <a:t>totalMass</a:t>
            </a:r>
            <a:r>
              <a:rPr lang="en-US" sz="1200" dirty="0">
                <a:latin typeface="Monaco" pitchFamily="2" charset="77"/>
              </a:rPr>
              <a:t> 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, 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 err="1">
                <a:latin typeface="Monaco" pitchFamily="2" charset="77"/>
              </a:rPr>
              <a:t>componentMasses</a:t>
            </a:r>
            <a:r>
              <a:rPr lang="en-US" sz="1200" dirty="0">
                <a:latin typeface="Monaco" pitchFamily="2" charset="77"/>
              </a:rPr>
              <a:t>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[0..*]);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endParaRPr lang="en-US" sz="1200" dirty="0">
              <a:solidFill>
                <a:srgbClr val="7F0055"/>
              </a:solidFill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constraint</a:t>
            </a:r>
            <a:r>
              <a:rPr lang="en-US" sz="1200" dirty="0">
                <a:latin typeface="Monaco" pitchFamily="2" charset="77"/>
              </a:rPr>
              <a:t> massAnalysis3 : MassAnalysis3 (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 err="1">
                <a:latin typeface="Monaco" pitchFamily="2" charset="77"/>
              </a:rPr>
              <a:t>totalMass</a:t>
            </a:r>
            <a:r>
              <a:rPr lang="en-US" sz="1200" dirty="0">
                <a:latin typeface="Monaco" pitchFamily="2" charset="77"/>
              </a:rPr>
              <a:t> 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, 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 err="1">
                <a:latin typeface="Monaco" pitchFamily="2" charset="77"/>
              </a:rPr>
              <a:t>componentMasses</a:t>
            </a:r>
            <a:r>
              <a:rPr lang="en-US" sz="1200" dirty="0">
                <a:latin typeface="Monaco" pitchFamily="2" charset="77"/>
              </a:rPr>
              <a:t>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[0..*]) {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 err="1">
                <a:latin typeface="Monaco" pitchFamily="2" charset="77"/>
              </a:rPr>
              <a:t>totalMass</a:t>
            </a:r>
            <a:r>
              <a:rPr lang="en-US" sz="1200" dirty="0">
                <a:latin typeface="Monaco" pitchFamily="2" charset="77"/>
              </a:rPr>
              <a:t> == sum(</a:t>
            </a:r>
            <a:r>
              <a:rPr lang="en-US" sz="1200" dirty="0" err="1">
                <a:latin typeface="Monaco" pitchFamily="2" charset="77"/>
              </a:rPr>
              <a:t>componentMasses</a:t>
            </a:r>
            <a:r>
              <a:rPr lang="en-US" sz="1200" dirty="0">
                <a:latin typeface="Monaco" pitchFamily="2" charset="77"/>
              </a:rPr>
              <a:t>)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part</a:t>
            </a:r>
            <a:r>
              <a:rPr lang="en-US" sz="1200" dirty="0">
                <a:latin typeface="Monaco" pitchFamily="2" charset="77"/>
              </a:rPr>
              <a:t> vehicle1 : Vehicle {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assert</a:t>
            </a:r>
            <a:r>
              <a:rPr lang="en-US" sz="1200" dirty="0">
                <a:latin typeface="Monaco" pitchFamily="2" charset="77"/>
              </a:rPr>
              <a:t> massAnalysis3 (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	</a:t>
            </a:r>
            <a:r>
              <a:rPr lang="en-US" sz="1200" dirty="0" err="1">
                <a:latin typeface="Monaco" pitchFamily="2" charset="77"/>
              </a:rPr>
              <a:t>totalMass</a:t>
            </a:r>
            <a:r>
              <a:rPr lang="en-US" sz="1200" dirty="0">
                <a:latin typeface="Monaco" pitchFamily="2" charset="77"/>
              </a:rPr>
              <a:t> = mass,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	</a:t>
            </a:r>
            <a:r>
              <a:rPr lang="en-US" sz="1200" dirty="0" err="1">
                <a:latin typeface="Monaco" pitchFamily="2" charset="77"/>
              </a:rPr>
              <a:t>componentMasses</a:t>
            </a:r>
            <a:r>
              <a:rPr lang="en-US" sz="1200" dirty="0">
                <a:latin typeface="Monaco" pitchFamily="2" charset="77"/>
              </a:rPr>
              <a:t> = {engine::mass, </a:t>
            </a:r>
            <a:r>
              <a:rPr lang="en-US" sz="1200" dirty="0" err="1">
                <a:latin typeface="Monaco" pitchFamily="2" charset="77"/>
              </a:rPr>
              <a:t>frontAxleAssembly</a:t>
            </a:r>
            <a:r>
              <a:rPr lang="en-US" sz="1200" dirty="0">
                <a:latin typeface="Monaco" pitchFamily="2" charset="77"/>
              </a:rPr>
              <a:t>::mass, </a:t>
            </a:r>
            <a:r>
              <a:rPr lang="en-US" sz="1200" dirty="0" err="1">
                <a:latin typeface="Monaco" pitchFamily="2" charset="77"/>
              </a:rPr>
              <a:t>rearAxleAssembly</a:t>
            </a:r>
            <a:r>
              <a:rPr lang="en-US" sz="1200" dirty="0">
                <a:latin typeface="Monaco" pitchFamily="2" charset="77"/>
              </a:rPr>
              <a:t>::mass}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);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part</a:t>
            </a:r>
            <a:r>
              <a:rPr lang="en-US" sz="1200" dirty="0">
                <a:latin typeface="Monaco" pitchFamily="2" charset="77"/>
              </a:rPr>
              <a:t> vehicle2 : Vehicle {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assert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constraint</a:t>
            </a:r>
            <a:r>
              <a:rPr lang="en-US" sz="1200" dirty="0">
                <a:latin typeface="Monaco" pitchFamily="2" charset="77"/>
              </a:rPr>
              <a:t> 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		{ mass == engine::mass + </a:t>
            </a:r>
            <a:r>
              <a:rPr lang="en-US" sz="1200" dirty="0" err="1">
                <a:latin typeface="Monaco" pitchFamily="2" charset="77"/>
              </a:rPr>
              <a:t>frontAxleAssembly</a:t>
            </a:r>
            <a:r>
              <a:rPr lang="en-US" sz="1200" dirty="0">
                <a:latin typeface="Monaco" pitchFamily="2" charset="77"/>
              </a:rPr>
              <a:t>::mass + </a:t>
            </a:r>
            <a:r>
              <a:rPr lang="en-US" sz="1200" dirty="0" err="1">
                <a:latin typeface="Monaco" pitchFamily="2" charset="77"/>
              </a:rPr>
              <a:t>rearAxleAssembly</a:t>
            </a:r>
            <a:r>
              <a:rPr lang="en-US" sz="1200" dirty="0">
                <a:latin typeface="Monaco" pitchFamily="2" charset="77"/>
              </a:rPr>
              <a:t>::mass }</a:t>
            </a:r>
          </a:p>
          <a:p>
            <a:pPr>
              <a:tabLst>
                <a:tab pos="225425" algn="l"/>
                <a:tab pos="450850" algn="l"/>
                <a:tab pos="684213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5914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C172-4E46-8643-A4DF-6A4F2D34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</a:t>
            </a:r>
            <a:br>
              <a:rPr lang="en-US" dirty="0"/>
            </a:br>
            <a:r>
              <a:rPr lang="en-US" dirty="0"/>
              <a:t>Abstract Syntax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79096-A155-494F-A226-43C5456A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E2EAB-DAF6-984F-A5DB-D4950499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84" y="1368389"/>
            <a:ext cx="7150481" cy="501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37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B88-236B-3546-8ABA-CE270DFB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Satisfaction </a:t>
            </a:r>
            <a:br>
              <a:rPr lang="en-US" dirty="0"/>
            </a:br>
            <a:r>
              <a:rPr lang="en-US" dirty="0"/>
              <a:t>Abstract Syntax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E5944-9D28-0740-AF55-237091AB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BE93B-9263-5A40-A717-0858CEF30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600200"/>
            <a:ext cx="6375400" cy="4419600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E3BC8BB4-2D8F-094D-8188-461D2812DA15}"/>
              </a:ext>
            </a:extLst>
          </p:cNvPr>
          <p:cNvSpPr/>
          <p:nvPr/>
        </p:nvSpPr>
        <p:spPr bwMode="auto">
          <a:xfrm>
            <a:off x="533400" y="5293280"/>
            <a:ext cx="2057400" cy="919401"/>
          </a:xfrm>
          <a:prstGeom prst="wedgeRoundRectCallout">
            <a:avLst>
              <a:gd name="adj1" fmla="val 73919"/>
              <a:gd name="adj2" fmla="val -44553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The satisfying feature identifies the thing that fills the role of the subject of the requirement.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629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8A6F-7EBD-FD47-BAAF-4FC52BC2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</a:t>
            </a:r>
            <a:br>
              <a:rPr lang="en-US" dirty="0"/>
            </a:br>
            <a:r>
              <a:rPr lang="en-US" dirty="0"/>
              <a:t>Model Library (Systems)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0AB2F-19A2-6449-BCC9-D53FD9BB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62E9F-A0EA-7944-9604-A6BAFD288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33" y="1343538"/>
            <a:ext cx="6670167" cy="4787646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9DA6EC79-93FA-5D47-8E4A-C746E8DF6A4A}"/>
              </a:ext>
            </a:extLst>
          </p:cNvPr>
          <p:cNvSpPr/>
          <p:nvPr/>
        </p:nvSpPr>
        <p:spPr bwMode="auto">
          <a:xfrm>
            <a:off x="228600" y="1676400"/>
            <a:ext cx="2514600" cy="1123712"/>
          </a:xfrm>
          <a:prstGeom prst="wedgeRoundRectCallout">
            <a:avLst>
              <a:gd name="adj1" fmla="val 81013"/>
              <a:gd name="adj2" fmla="val 53583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A requirement check is an evaluation of whether, for a given subject, if all the assumptions are true, then all the required constraints are true.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09FBF52-1984-A64E-B061-BEBEDDB53905}"/>
              </a:ext>
            </a:extLst>
          </p:cNvPr>
          <p:cNvSpPr/>
          <p:nvPr/>
        </p:nvSpPr>
        <p:spPr bwMode="auto">
          <a:xfrm>
            <a:off x="6629400" y="5181600"/>
            <a:ext cx="2302828" cy="1123712"/>
          </a:xfrm>
          <a:prstGeom prst="wedgeRoundRectCallout">
            <a:avLst>
              <a:gd name="adj1" fmla="val -50708"/>
              <a:gd name="adj2" fmla="val -84607"/>
              <a:gd name="adj3" fmla="val 16667"/>
            </a:avLst>
          </a:prstGeom>
          <a:solidFill>
            <a:srgbClr val="FFFFD8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i="1" dirty="0">
                <a:latin typeface="Arial" charset="0"/>
              </a:rPr>
              <a:t>The </a:t>
            </a:r>
            <a:r>
              <a:rPr lang="en-US" sz="1200" i="1" dirty="0"/>
              <a:t>requirement subclasses are tentatively based on the extended requirement stereotypes in Annex E.3 of the SysML v1 specification.</a:t>
            </a:r>
            <a:endParaRPr kumimoji="0" 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632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E1F3-DA8C-6E46-BE8A-3DED295C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br>
              <a:rPr lang="en-US" dirty="0"/>
            </a:br>
            <a:r>
              <a:rPr lang="en-US" dirty="0"/>
              <a:t>Textual Notation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2BF4A-6717-ED4C-BDA3-DC4B187B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3BFDC-026D-0F41-A472-9B36E237D333}"/>
              </a:ext>
            </a:extLst>
          </p:cNvPr>
          <p:cNvSpPr/>
          <p:nvPr/>
        </p:nvSpPr>
        <p:spPr>
          <a:xfrm>
            <a:off x="454025" y="1447800"/>
            <a:ext cx="8229600" cy="4652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requirement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def</a:t>
            </a:r>
            <a:r>
              <a:rPr lang="en-US" sz="1200" dirty="0">
                <a:latin typeface="Monaco" pitchFamily="2" charset="77"/>
              </a:rPr>
              <a:t> "3" </a:t>
            </a:r>
            <a:r>
              <a:rPr lang="en-US" sz="1200" dirty="0" err="1">
                <a:latin typeface="Monaco" pitchFamily="2" charset="77"/>
              </a:rPr>
              <a:t>MassLimitationRequirement</a:t>
            </a:r>
            <a:r>
              <a:rPr lang="en-US" sz="1200" dirty="0">
                <a:latin typeface="Monaco" pitchFamily="2" charset="77"/>
              </a:rPr>
              <a:t>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3F7F5F"/>
                </a:solidFill>
                <a:latin typeface="Monaco" pitchFamily="2" charset="77"/>
              </a:rPr>
              <a:t>	/* The actual mass shall be less than or equal to the required mass. */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solidFill>
                <a:srgbClr val="7F0055"/>
              </a:solidFill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value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 err="1">
                <a:latin typeface="Monaco" pitchFamily="2" charset="77"/>
              </a:rPr>
              <a:t>massActual</a:t>
            </a:r>
            <a:r>
              <a:rPr lang="en-US" sz="1200" dirty="0">
                <a:latin typeface="Monaco" pitchFamily="2" charset="77"/>
              </a:rPr>
              <a:t>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value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 err="1">
                <a:latin typeface="Monaco" pitchFamily="2" charset="77"/>
              </a:rPr>
              <a:t>massReqd</a:t>
            </a:r>
            <a:r>
              <a:rPr lang="en-US" sz="1200" dirty="0">
                <a:latin typeface="Monaco" pitchFamily="2" charset="77"/>
              </a:rPr>
              <a:t>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require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constraint</a:t>
            </a:r>
            <a:r>
              <a:rPr lang="en-US" sz="1200" dirty="0">
                <a:latin typeface="Monaco" pitchFamily="2" charset="77"/>
              </a:rPr>
              <a:t> { </a:t>
            </a:r>
            <a:r>
              <a:rPr lang="en-US" sz="1200" dirty="0" err="1">
                <a:latin typeface="Monaco" pitchFamily="2" charset="77"/>
              </a:rPr>
              <a:t>massActual</a:t>
            </a:r>
            <a:r>
              <a:rPr lang="en-US" sz="1200" dirty="0">
                <a:latin typeface="Monaco" pitchFamily="2" charset="77"/>
              </a:rPr>
              <a:t> &lt;= </a:t>
            </a:r>
            <a:r>
              <a:rPr lang="en-US" sz="1200" dirty="0" err="1">
                <a:latin typeface="Monaco" pitchFamily="2" charset="77"/>
              </a:rPr>
              <a:t>massReqd</a:t>
            </a:r>
            <a:r>
              <a:rPr lang="en-US" sz="1200" dirty="0">
                <a:latin typeface="Monaco" pitchFamily="2" charset="77"/>
              </a:rPr>
              <a:t> 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requirement</a:t>
            </a:r>
            <a:r>
              <a:rPr lang="en-US" sz="1200" dirty="0">
                <a:latin typeface="Monaco" pitchFamily="2" charset="77"/>
              </a:rPr>
              <a:t> "1.1" vehicleMass1: </a:t>
            </a:r>
            <a:r>
              <a:rPr lang="en-US" sz="1200" dirty="0" err="1">
                <a:latin typeface="Monaco" pitchFamily="2" charset="77"/>
              </a:rPr>
              <a:t>MassLimitationRequirement</a:t>
            </a:r>
            <a:r>
              <a:rPr lang="en-US" sz="1200" dirty="0">
                <a:latin typeface="Monaco" pitchFamily="2" charset="77"/>
              </a:rPr>
              <a:t> (vehicle: Vehicle)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3F7F5F"/>
                </a:solidFill>
                <a:latin typeface="Monaco" pitchFamily="2" charset="77"/>
              </a:rPr>
              <a:t>	/* The vehicle mass shall be less than or equal to 2000 </a:t>
            </a:r>
            <a:r>
              <a:rPr lang="en-US" sz="1200" u="sng" dirty="0">
                <a:solidFill>
                  <a:srgbClr val="3F7F5F"/>
                </a:solidFill>
                <a:latin typeface="Monaco" pitchFamily="2" charset="77"/>
              </a:rPr>
              <a:t>kg</a:t>
            </a:r>
            <a:r>
              <a:rPr lang="en-US" sz="1200" dirty="0">
                <a:solidFill>
                  <a:srgbClr val="3F7F5F"/>
                </a:solidFill>
                <a:latin typeface="Monaco" pitchFamily="2" charset="77"/>
              </a:rPr>
              <a:t>. */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solidFill>
                <a:srgbClr val="7F0055"/>
              </a:solidFill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value</a:t>
            </a:r>
            <a:r>
              <a:rPr lang="en-US" sz="1200" dirty="0">
                <a:latin typeface="Monaco" pitchFamily="2" charset="77"/>
              </a:rPr>
              <a:t> :&gt;&gt; </a:t>
            </a:r>
            <a:r>
              <a:rPr lang="en-US" sz="1200" dirty="0" err="1">
                <a:latin typeface="Monaco" pitchFamily="2" charset="77"/>
              </a:rPr>
              <a:t>massActual</a:t>
            </a:r>
            <a:r>
              <a:rPr lang="en-US" sz="1200" dirty="0">
                <a:latin typeface="Monaco" pitchFamily="2" charset="77"/>
              </a:rPr>
              <a:t>: </a:t>
            </a:r>
            <a:r>
              <a:rPr lang="en-US" sz="1200" dirty="0" err="1">
                <a:latin typeface="Monaco" pitchFamily="2" charset="77"/>
              </a:rPr>
              <a:t>MassValue</a:t>
            </a:r>
            <a:r>
              <a:rPr lang="en-US" sz="1200" dirty="0">
                <a:latin typeface="Monaco" pitchFamily="2" charset="77"/>
              </a:rPr>
              <a:t> = vehicle::mass;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value</a:t>
            </a:r>
            <a:r>
              <a:rPr lang="en-US" sz="1200" dirty="0">
                <a:latin typeface="Monaco" pitchFamily="2" charset="77"/>
              </a:rPr>
              <a:t> :&gt;&gt; </a:t>
            </a:r>
            <a:r>
              <a:rPr lang="en-US" sz="1200" dirty="0" err="1">
                <a:latin typeface="Monaco" pitchFamily="2" charset="77"/>
              </a:rPr>
              <a:t>massReqd</a:t>
            </a:r>
            <a:r>
              <a:rPr lang="en-US" sz="1200" dirty="0">
                <a:latin typeface="Monaco" pitchFamily="2" charset="77"/>
              </a:rPr>
              <a:t> = 2000@[kg];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assume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constraint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 err="1">
                <a:latin typeface="Monaco" pitchFamily="2" charset="77"/>
              </a:rPr>
              <a:t>fuelConstraint</a:t>
            </a:r>
            <a:r>
              <a:rPr lang="en-US" sz="1200" dirty="0">
                <a:latin typeface="Monaco" pitchFamily="2" charset="77"/>
              </a:rPr>
              <a:t>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3F7F5F"/>
                </a:solidFill>
                <a:latin typeface="Monaco" pitchFamily="2" charset="77"/>
              </a:rPr>
              <a:t>		/* full fuel tank */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} 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part</a:t>
            </a:r>
            <a:r>
              <a:rPr lang="en-US" sz="1200" dirty="0">
                <a:latin typeface="Monaco" pitchFamily="2" charset="77"/>
              </a:rPr>
              <a:t> 'vehicle1_c1 Specification Context’ {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	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import</a:t>
            </a:r>
            <a:r>
              <a:rPr lang="en-US" sz="1200" dirty="0">
                <a:latin typeface="Monaco" pitchFamily="2" charset="77"/>
              </a:rPr>
              <a:t> 'Vehicle Usages'::vehicle_c1;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	satisfy</a:t>
            </a:r>
            <a:r>
              <a:rPr lang="en-US" sz="1200" dirty="0">
                <a:latin typeface="Monaco" pitchFamily="2" charset="77"/>
              </a:rPr>
              <a:t> vehicleMass1 </a:t>
            </a:r>
            <a:r>
              <a:rPr lang="en-US" sz="1200" dirty="0">
                <a:solidFill>
                  <a:srgbClr val="7F0055"/>
                </a:solidFill>
                <a:latin typeface="Monaco" pitchFamily="2" charset="77"/>
              </a:rPr>
              <a:t>with</a:t>
            </a:r>
            <a:r>
              <a:rPr lang="en-US" sz="1200" dirty="0">
                <a:latin typeface="Monaco" pitchFamily="2" charset="77"/>
              </a:rPr>
              <a:t> vehicle1_c1;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r>
              <a:rPr lang="en-US" sz="1200" dirty="0">
                <a:latin typeface="Monaco" pitchFamily="2" charset="77"/>
              </a:rPr>
              <a:t>}</a:t>
            </a:r>
          </a:p>
          <a:p>
            <a:pPr>
              <a:tabLst>
                <a:tab pos="225425" algn="l"/>
                <a:tab pos="450850" algn="l"/>
                <a:tab pos="684213" algn="l"/>
                <a:tab pos="909638" algn="l"/>
              </a:tabLst>
            </a:pPr>
            <a:endParaRPr lang="en-US" sz="12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3178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3B4AA8-A53F-4F54-BE29-AF021A71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524000"/>
          </a:xfrm>
        </p:spPr>
        <p:txBody>
          <a:bodyPr/>
          <a:lstStyle/>
          <a:p>
            <a:r>
              <a:rPr lang="en-US" dirty="0"/>
              <a:t>SysML v2 API and Services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F8576-A827-49A3-91F4-2F0014B2B2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577109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5">
            <a:extLst>
              <a:ext uri="{FF2B5EF4-FFF2-40B4-BE49-F238E27FC236}">
                <a16:creationId xmlns:a16="http://schemas.microsoft.com/office/drawing/2014/main" id="{7AC9A07E-1CEE-884D-8801-54D57D625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API Architecture – PIM and PSM</a:t>
            </a:r>
          </a:p>
        </p:txBody>
      </p:sp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8112C87A-3B4E-EC4D-BDFD-5596134B23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2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itchFamily="2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t>25 March 2020</a:t>
            </a:r>
          </a:p>
        </p:txBody>
      </p:sp>
      <p:pic>
        <p:nvPicPr>
          <p:cNvPr id="22532" name="Picture 6">
            <a:extLst>
              <a:ext uri="{FF2B5EF4-FFF2-40B4-BE49-F238E27FC236}">
                <a16:creationId xmlns:a16="http://schemas.microsoft.com/office/drawing/2014/main" id="{CFA04C63-08D2-3940-9F95-B46ADC926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1"/>
          <a:stretch>
            <a:fillRect/>
          </a:stretch>
        </p:blipFill>
        <p:spPr bwMode="auto">
          <a:xfrm>
            <a:off x="152400" y="1828800"/>
            <a:ext cx="88392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817E54-6109-6B49-84CA-EF09CFE0BCE6}"/>
              </a:ext>
            </a:extLst>
          </p:cNvPr>
          <p:cNvCxnSpPr>
            <a:cxnSpLocks/>
          </p:cNvCxnSpPr>
          <p:nvPr/>
        </p:nvCxnSpPr>
        <p:spPr>
          <a:xfrm flipV="1">
            <a:off x="2819400" y="2743200"/>
            <a:ext cx="1066800" cy="6858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F94C21-EB32-1A4D-B585-D0A8C318AB66}"/>
              </a:ext>
            </a:extLst>
          </p:cNvPr>
          <p:cNvCxnSpPr>
            <a:cxnSpLocks/>
          </p:cNvCxnSpPr>
          <p:nvPr/>
        </p:nvCxnSpPr>
        <p:spPr>
          <a:xfrm flipH="1" flipV="1">
            <a:off x="4191000" y="2743200"/>
            <a:ext cx="76200" cy="6858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5CED8D-CEFA-AE45-B4C1-52F303EC8120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2743200"/>
            <a:ext cx="762000" cy="609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8BACC7-4801-D747-A321-FC9F8697F088}"/>
              </a:ext>
            </a:extLst>
          </p:cNvPr>
          <p:cNvCxnSpPr>
            <a:cxnSpLocks/>
          </p:cNvCxnSpPr>
          <p:nvPr/>
        </p:nvCxnSpPr>
        <p:spPr>
          <a:xfrm flipH="1" flipV="1">
            <a:off x="5715000" y="2743200"/>
            <a:ext cx="1371600" cy="609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3BFFD6-148C-8945-B5DD-7398C7856182}"/>
              </a:ext>
            </a:extLst>
          </p:cNvPr>
          <p:cNvSpPr txBox="1"/>
          <p:nvPr/>
        </p:nvSpPr>
        <p:spPr>
          <a:xfrm>
            <a:off x="6096000" y="26786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conforms to</a:t>
            </a:r>
          </a:p>
        </p:txBody>
      </p:sp>
    </p:spTree>
    <p:extLst>
      <p:ext uri="{BB962C8B-B14F-4D97-AF65-F5344CB8AC3E}">
        <p14:creationId xmlns:p14="http://schemas.microsoft.com/office/powerpoint/2010/main" val="3067916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7">
            <a:extLst>
              <a:ext uri="{FF2B5EF4-FFF2-40B4-BE49-F238E27FC236}">
                <a16:creationId xmlns:a16="http://schemas.microsoft.com/office/drawing/2014/main" id="{75D05D4F-2871-C842-B074-D2388B06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00013"/>
            <a:ext cx="8534400" cy="758825"/>
          </a:xfrm>
        </p:spPr>
        <p:txBody>
          <a:bodyPr/>
          <a:lstStyle/>
          <a:p>
            <a:r>
              <a:rPr lang="en-US" altLang="en-US" dirty="0"/>
              <a:t>Pilot Implementation</a:t>
            </a:r>
          </a:p>
        </p:txBody>
      </p:sp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387D54F8-B2E4-5A41-96BE-2457B8A786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2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itchFamily="2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t>25 March 2020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966A5D18-6C56-974A-8DB8-5AE7E6B89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219200"/>
            <a:ext cx="90773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D85845-6119-8449-AB19-B1A54527F365}"/>
              </a:ext>
            </a:extLst>
          </p:cNvPr>
          <p:cNvSpPr/>
          <p:nvPr/>
        </p:nvSpPr>
        <p:spPr>
          <a:xfrm>
            <a:off x="7296583" y="4201391"/>
            <a:ext cx="17526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Meta-Model based 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KerML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1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1CA9-DA3A-445A-BC04-C94A6F56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7975"/>
            <a:ext cx="8534400" cy="758825"/>
          </a:xfrm>
        </p:spPr>
        <p:txBody>
          <a:bodyPr/>
          <a:lstStyle/>
          <a:p>
            <a:pPr>
              <a:defRPr/>
            </a:pPr>
            <a:r>
              <a:rPr lang="en-US" sz="3000" dirty="0"/>
              <a:t>SysML v2 API and Services</a:t>
            </a:r>
            <a:br>
              <a:rPr lang="en-US" sz="3000" dirty="0"/>
            </a:br>
            <a:r>
              <a:rPr lang="en-US" sz="3000" dirty="0"/>
              <a:t>RFP Scope</a:t>
            </a:r>
            <a:endParaRPr lang="en-US" sz="3000" dirty="0">
              <a:solidFill>
                <a:srgbClr val="164C8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C71D-94C7-4A00-AB54-4C6B867DBA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03920" cy="4838362"/>
          </a:xfrm>
        </p:spPr>
        <p:txBody>
          <a:bodyPr/>
          <a:lstStyle/>
          <a:p>
            <a:r>
              <a:rPr lang="en-US" sz="1800" dirty="0"/>
              <a:t>Mandatory Services</a:t>
            </a:r>
          </a:p>
          <a:p>
            <a:pPr lvl="1"/>
            <a:r>
              <a:rPr lang="en-US" sz="1800" dirty="0">
                <a:solidFill>
                  <a:srgbClr val="00B050"/>
                </a:solidFill>
              </a:rPr>
              <a:t>Model Navigation, Creation, Update, </a:t>
            </a:r>
            <a:r>
              <a:rPr lang="en-US" sz="1800" dirty="0">
                <a:solidFill>
                  <a:schemeClr val="tx1"/>
                </a:solidFill>
              </a:rPr>
              <a:t>Deletion Services</a:t>
            </a:r>
          </a:p>
          <a:p>
            <a:pPr lvl="1"/>
            <a:r>
              <a:rPr lang="en-US" sz="1800" dirty="0">
                <a:solidFill>
                  <a:srgbClr val="FFC000"/>
                </a:solidFill>
              </a:rPr>
              <a:t>External Relationship Management Service</a:t>
            </a:r>
          </a:p>
          <a:p>
            <a:r>
              <a:rPr lang="en-US" sz="1800" dirty="0"/>
              <a:t>Non-Mandatory Services</a:t>
            </a:r>
          </a:p>
          <a:p>
            <a:pPr lvl="1"/>
            <a:r>
              <a:rPr lang="en-US" sz="1800" dirty="0">
                <a:solidFill>
                  <a:srgbClr val="FFC000"/>
                </a:solidFill>
              </a:rPr>
              <a:t>Model Query Service</a:t>
            </a:r>
          </a:p>
          <a:p>
            <a:pPr lvl="1"/>
            <a:r>
              <a:rPr lang="en-US" sz="1800" dirty="0"/>
              <a:t>Advanced Model Construction Services</a:t>
            </a:r>
          </a:p>
          <a:p>
            <a:pPr lvl="1"/>
            <a:r>
              <a:rPr lang="en-US" sz="1800" dirty="0"/>
              <a:t>Model View and Viewpoint Management Services</a:t>
            </a:r>
          </a:p>
          <a:p>
            <a:pPr lvl="1"/>
            <a:r>
              <a:rPr lang="en-US" sz="1800" dirty="0"/>
              <a:t>Model Analysis Services</a:t>
            </a:r>
          </a:p>
          <a:p>
            <a:pPr lvl="1"/>
            <a:r>
              <a:rPr lang="en-US" sz="1800" dirty="0"/>
              <a:t>Model Management Services</a:t>
            </a:r>
          </a:p>
          <a:p>
            <a:pPr lvl="2"/>
            <a:r>
              <a:rPr lang="en-US" sz="1600" dirty="0">
                <a:solidFill>
                  <a:srgbClr val="00B050"/>
                </a:solidFill>
              </a:rPr>
              <a:t>Versioning Service</a:t>
            </a:r>
          </a:p>
          <a:p>
            <a:pPr lvl="1"/>
            <a:r>
              <a:rPr lang="en-US" sz="1800" dirty="0"/>
              <a:t>Model Transformation Services</a:t>
            </a:r>
          </a:p>
          <a:p>
            <a:pPr lvl="1"/>
            <a:r>
              <a:rPr lang="en-US" sz="1800" dirty="0"/>
              <a:t>General Services – </a:t>
            </a:r>
            <a:r>
              <a:rPr lang="en-US" sz="1800" dirty="0">
                <a:solidFill>
                  <a:srgbClr val="00B050"/>
                </a:solidFill>
              </a:rPr>
              <a:t>Timestamp and UUID generation</a:t>
            </a:r>
            <a:r>
              <a:rPr lang="en-US" sz="1800" dirty="0"/>
              <a:t>, API Call Back</a:t>
            </a:r>
          </a:p>
          <a:p>
            <a:r>
              <a:rPr lang="en-US" sz="2000" dirty="0"/>
              <a:t>API Platform-Specific Models (API PSMs)</a:t>
            </a:r>
          </a:p>
          <a:p>
            <a:pPr lvl="1"/>
            <a:r>
              <a:rPr lang="en-US" sz="1800" dirty="0">
                <a:solidFill>
                  <a:srgbClr val="00B050"/>
                </a:solidFill>
              </a:rPr>
              <a:t>REST/HTTP binding</a:t>
            </a:r>
          </a:p>
          <a:p>
            <a:pPr lvl="1"/>
            <a:r>
              <a:rPr lang="en-US" sz="1800" dirty="0">
                <a:solidFill>
                  <a:srgbClr val="FFC000"/>
                </a:solidFill>
              </a:rPr>
              <a:t>OSLC 3.0 binding</a:t>
            </a:r>
          </a:p>
          <a:p>
            <a:endParaRPr lang="en-US" dirty="0"/>
          </a:p>
        </p:txBody>
      </p:sp>
      <p:sp>
        <p:nvSpPr>
          <p:cNvPr id="54275" name="Date Placeholder 3">
            <a:extLst>
              <a:ext uri="{FF2B5EF4-FFF2-40B4-BE49-F238E27FC236}">
                <a16:creationId xmlns:a16="http://schemas.microsoft.com/office/drawing/2014/main" id="{08D8AB73-B79B-4CFE-8D9E-1F06AA168E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1B587C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4E8542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t>25 March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94D79-0EB9-D74E-AB54-DD02051866DF}"/>
              </a:ext>
            </a:extLst>
          </p:cNvPr>
          <p:cNvSpPr txBox="1"/>
          <p:nvPr/>
        </p:nvSpPr>
        <p:spPr>
          <a:xfrm>
            <a:off x="6716486" y="1447800"/>
            <a:ext cx="2092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rgbClr val="00B050"/>
                </a:solidFill>
              </a:rPr>
              <a:t>Done</a:t>
            </a:r>
          </a:p>
          <a:p>
            <a:pPr algn="r"/>
            <a:r>
              <a:rPr lang="en-US" sz="1400" i="1" dirty="0">
                <a:solidFill>
                  <a:srgbClr val="FFC000"/>
                </a:solidFill>
              </a:rPr>
              <a:t>In-progress</a:t>
            </a:r>
          </a:p>
        </p:txBody>
      </p:sp>
    </p:spTree>
    <p:extLst>
      <p:ext uri="{BB962C8B-B14F-4D97-AF65-F5344CB8AC3E}">
        <p14:creationId xmlns:p14="http://schemas.microsoft.com/office/powerpoint/2010/main" val="3714435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46FE-11F6-714B-B6D0-4D2E0576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meta-model for </a:t>
            </a:r>
            <a:br>
              <a:rPr lang="en-US" dirty="0"/>
            </a:br>
            <a:r>
              <a:rPr lang="en-US" dirty="0"/>
              <a:t>element versioning service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1410A-5C5C-894C-8E9B-A5A58CBA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CD965-0FEB-0C4F-83D4-CF3A0E7554E5}"/>
              </a:ext>
            </a:extLst>
          </p:cNvPr>
          <p:cNvSpPr txBox="1"/>
          <p:nvPr/>
        </p:nvSpPr>
        <p:spPr>
          <a:xfrm>
            <a:off x="205448" y="1258669"/>
            <a:ext cx="8630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Concepts being used for developing PIM and REST/HTTP implementation for element versioning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63000-7D86-1845-A511-670C624A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32000"/>
            <a:ext cx="8669817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81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E994-3C04-6D44-A906-1C0E298F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 API (REST/HTTP)</a:t>
            </a:r>
            <a:br>
              <a:rPr lang="en-US" dirty="0"/>
            </a:br>
            <a:r>
              <a:rPr lang="en-US" sz="3200" i="1" dirty="0"/>
              <a:t>2020-03 version</a:t>
            </a:r>
            <a:endParaRPr lang="en-US" i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64D13-835B-C341-8BE4-31E6FA3F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85F6E-71B4-2C46-84BF-20288138ADB7}"/>
              </a:ext>
            </a:extLst>
          </p:cNvPr>
          <p:cNvSpPr txBox="1"/>
          <p:nvPr/>
        </p:nvSpPr>
        <p:spPr>
          <a:xfrm>
            <a:off x="2971800" y="22860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OpenAPI</a:t>
            </a:r>
            <a:r>
              <a:rPr lang="en-US" i="1" dirty="0"/>
              <a:t> specification (OAI) for REST/HTTP binding of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19A0B-0D29-E74E-ADA1-7B851337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371600"/>
            <a:ext cx="74422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9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1CBF48-2821-2D4C-876C-B1CD4DA2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API Pilot </a:t>
            </a:r>
            <a:r>
              <a:rPr lang="en-US" dirty="0" err="1"/>
              <a:t>Impl</a:t>
            </a:r>
            <a:r>
              <a:rPr lang="en-US" dirty="0"/>
              <a:t>. Servers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914F7E-0DA5-2D42-9F1D-16B29E58F6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295400"/>
            <a:ext cx="8503920" cy="3775323"/>
          </a:xfrm>
        </p:spPr>
        <p:txBody>
          <a:bodyPr/>
          <a:lstStyle/>
          <a:p>
            <a:r>
              <a:rPr lang="en-US" sz="2400" b="1" dirty="0"/>
              <a:t>sysml2</a:t>
            </a:r>
            <a:r>
              <a:rPr lang="en-US" sz="2400" dirty="0"/>
              <a:t> - For public release and use (generally outside SST)</a:t>
            </a:r>
          </a:p>
          <a:p>
            <a:pPr lvl="1"/>
            <a:r>
              <a:rPr lang="en-US" sz="2000" dirty="0"/>
              <a:t>Server URL: </a:t>
            </a:r>
            <a:r>
              <a:rPr lang="en-US" sz="2000" dirty="0">
                <a:hlinkClick r:id="rId2"/>
              </a:rPr>
              <a:t>http://sysml2.intercax.com:9000</a:t>
            </a:r>
            <a:endParaRPr lang="en-US" sz="2000" dirty="0"/>
          </a:p>
          <a:p>
            <a:pPr lvl="1"/>
            <a:r>
              <a:rPr lang="en-US" sz="2000" dirty="0"/>
              <a:t>Swagger doc: </a:t>
            </a:r>
            <a:r>
              <a:rPr lang="en-US" sz="2000" dirty="0">
                <a:hlinkClick r:id="rId3"/>
              </a:rPr>
              <a:t>http://sysml2.intercax.com:9000/docs/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FF9300"/>
                </a:solidFill>
              </a:rPr>
              <a:t>Version deployed: 2019-12</a:t>
            </a:r>
          </a:p>
          <a:p>
            <a:r>
              <a:rPr lang="en-US" sz="2400" b="1" dirty="0"/>
              <a:t>sysml2-sst</a:t>
            </a:r>
            <a:r>
              <a:rPr lang="en-US" sz="2400" dirty="0"/>
              <a:t> - For SST use - baseline for SST users such as those in Tracks 6/2</a:t>
            </a:r>
          </a:p>
          <a:p>
            <a:pPr lvl="1"/>
            <a:r>
              <a:rPr lang="en-US" sz="2000" dirty="0"/>
              <a:t>Server URL: </a:t>
            </a:r>
            <a:r>
              <a:rPr lang="en-US" sz="2000" dirty="0">
                <a:hlinkClick r:id="rId4"/>
              </a:rPr>
              <a:t>http://sysml2-sst.intercax.com:9000</a:t>
            </a:r>
            <a:endParaRPr lang="en-US" sz="2000" dirty="0"/>
          </a:p>
          <a:p>
            <a:pPr lvl="1"/>
            <a:r>
              <a:rPr lang="en-US" sz="2000" dirty="0"/>
              <a:t>Swagger doc: </a:t>
            </a:r>
            <a:r>
              <a:rPr lang="en-US" sz="2000" dirty="0">
                <a:hlinkClick r:id="rId5"/>
              </a:rPr>
              <a:t>http://sysml2-sst.intercax.com:9000/docs/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FF9300"/>
                </a:solidFill>
              </a:rPr>
              <a:t>Version deployed: 2020-02</a:t>
            </a:r>
          </a:p>
          <a:p>
            <a:r>
              <a:rPr lang="en-US" sz="2800" b="1" dirty="0"/>
              <a:t>sysml2-dev</a:t>
            </a:r>
            <a:r>
              <a:rPr lang="en-US" sz="2800" dirty="0"/>
              <a:t> - For SST Track 5 development</a:t>
            </a:r>
          </a:p>
          <a:p>
            <a:pPr lvl="1"/>
            <a:r>
              <a:rPr lang="en-US" sz="2000" dirty="0"/>
              <a:t>Server URL: </a:t>
            </a:r>
            <a:r>
              <a:rPr lang="en-US" sz="2000" dirty="0">
                <a:hlinkClick r:id="rId6"/>
              </a:rPr>
              <a:t>http://sysml2-dev.intercax.com:9000</a:t>
            </a:r>
            <a:endParaRPr lang="en-US" sz="2000" dirty="0"/>
          </a:p>
          <a:p>
            <a:pPr lvl="1"/>
            <a:r>
              <a:rPr lang="en-US" sz="2000" dirty="0"/>
              <a:t>Swagger doc: </a:t>
            </a:r>
            <a:r>
              <a:rPr lang="en-US" sz="2000" dirty="0">
                <a:hlinkClick r:id="rId7"/>
              </a:rPr>
              <a:t>http://sysml2-dev.intercax.com:9000/docs/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FF9300"/>
                </a:solidFill>
              </a:rPr>
              <a:t>Version deployed: 2020-03-RC2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B5E86-C950-B844-AAD4-AB5D97A2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480769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BE6246-B82E-4060-9B00-DD3819B6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Submission Roadmap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369A7-7CDD-461C-93D2-B6514314C7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25 March 2020</a:t>
            </a:r>
          </a:p>
        </p:txBody>
      </p:sp>
    </p:spTree>
    <p:extLst>
      <p:ext uri="{BB962C8B-B14F-4D97-AF65-F5344CB8AC3E}">
        <p14:creationId xmlns:p14="http://schemas.microsoft.com/office/powerpoint/2010/main" val="96347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SST Initial Submission Roadmap</a:t>
            </a:r>
            <a:br>
              <a:rPr lang="en-US" dirty="0"/>
            </a:br>
            <a:r>
              <a:rPr lang="en-US" dirty="0"/>
              <a:t>(2020)</a:t>
            </a:r>
            <a:endParaRPr dirty="0"/>
          </a:p>
        </p:txBody>
      </p:sp>
      <p:sp>
        <p:nvSpPr>
          <p:cNvPr id="288" name="Google Shape;288;p12"/>
          <p:cNvSpPr txBox="1">
            <a:spLocks noGrp="1"/>
          </p:cNvSpPr>
          <p:nvPr>
            <p:ph sz="quarter" idx="1"/>
          </p:nvPr>
        </p:nvSpPr>
        <p:spPr>
          <a:xfrm>
            <a:off x="304800" y="1295400"/>
            <a:ext cx="396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9053" lvl="0" indent="0" algn="l" rtl="0">
              <a:spcBef>
                <a:spcPts val="0"/>
              </a:spcBef>
              <a:spcAft>
                <a:spcPts val="0"/>
              </a:spcAft>
              <a:buClr>
                <a:srgbClr val="154B6D"/>
              </a:buClr>
              <a:buSzPts val="1000"/>
              <a:buNone/>
            </a:pPr>
            <a:r>
              <a:rPr lang="en-US" sz="2000" b="1" dirty="0"/>
              <a:t>1st quarter (Jan – Mar)</a:t>
            </a:r>
            <a:endParaRPr sz="2000" dirty="0"/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Metamodel</a:t>
            </a:r>
            <a:endParaRPr sz="2000" dirty="0"/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00B050"/>
                </a:solidFill>
              </a:rPr>
              <a:t>Individuals and snapshots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00B050"/>
                </a:solidFill>
              </a:rPr>
              <a:t>Constraints (from Analysis)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00B050"/>
                </a:solidFill>
              </a:rPr>
              <a:t>Requirements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FFC000"/>
                </a:solidFill>
              </a:rPr>
              <a:t>Properties, values and expressions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Profile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FFC000"/>
                </a:solidFill>
              </a:rPr>
              <a:t>Initial concept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FFC000"/>
                </a:solidFill>
              </a:rPr>
              <a:t>Parts tree validation case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API/Services</a:t>
            </a:r>
            <a:endParaRPr sz="2000" dirty="0"/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rgbClr val="00B050"/>
                </a:solidFill>
              </a:rPr>
              <a:t>Versioning service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Initial graphical visualization concept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00B050"/>
                </a:solidFill>
              </a:rPr>
              <a:t>March OMG meeting presentation/demonstration</a:t>
            </a:r>
            <a:endParaRPr sz="2000" i="1" dirty="0">
              <a:solidFill>
                <a:srgbClr val="00B050"/>
              </a:solidFill>
            </a:endParaRP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Incremental public release</a:t>
            </a:r>
            <a:endParaRPr sz="2000" dirty="0"/>
          </a:p>
        </p:txBody>
      </p:sp>
      <p:sp>
        <p:nvSpPr>
          <p:cNvPr id="289" name="Google Shape;289;p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March 2020</a:t>
            </a:r>
            <a:endParaRPr/>
          </a:p>
        </p:txBody>
      </p:sp>
      <p:sp>
        <p:nvSpPr>
          <p:cNvPr id="6" name="Google Shape;288;p12">
            <a:extLst>
              <a:ext uri="{FF2B5EF4-FFF2-40B4-BE49-F238E27FC236}">
                <a16:creationId xmlns:a16="http://schemas.microsoft.com/office/drawing/2014/main" id="{A5389459-5BB6-471C-9F34-1727E1CDF4C4}"/>
              </a:ext>
            </a:extLst>
          </p:cNvPr>
          <p:cNvSpPr txBox="1">
            <a:spLocks/>
          </p:cNvSpPr>
          <p:nvPr/>
        </p:nvSpPr>
        <p:spPr bwMode="auto">
          <a:xfrm>
            <a:off x="4267200" y="1295400"/>
            <a:ext cx="4568825" cy="511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27305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54B6D"/>
              </a:buClr>
              <a:buSzPct val="85000"/>
              <a:buFont typeface="Wingdings 2" charset="2"/>
              <a:buChar char=""/>
              <a:defRPr sz="2600" kern="1200" baseline="0">
                <a:solidFill>
                  <a:schemeClr val="tx1"/>
                </a:solidFill>
                <a:latin typeface="Tw Cen MT" pitchFamily="34" charset="0"/>
                <a:ea typeface="MS PGothic" pitchFamily="34" charset="-128"/>
                <a:cs typeface="MS PGothic" charset="0"/>
              </a:defRPr>
            </a:lvl1pPr>
            <a:lvl2pPr marL="54768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54B6D"/>
              </a:buClr>
              <a:buSzPct val="70000"/>
              <a:buFont typeface="Wingdings" charset="2"/>
              <a:buChar char=""/>
              <a:defRPr sz="2200" kern="1200" baseline="0">
                <a:solidFill>
                  <a:schemeClr val="tx2"/>
                </a:solidFill>
                <a:latin typeface="Tw Cen MT" pitchFamily="34" charset="0"/>
                <a:ea typeface="MS PGothic" pitchFamily="34" charset="-128"/>
                <a:cs typeface="MS PGothic" charset="0"/>
              </a:defRPr>
            </a:lvl2pPr>
            <a:lvl3pPr marL="822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B587C"/>
              </a:buClr>
              <a:buSzPct val="75000"/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Tw Cen MT" pitchFamily="34" charset="0"/>
                <a:ea typeface="MS PGothic" pitchFamily="34" charset="-128"/>
                <a:cs typeface="MS PGothic" charset="0"/>
              </a:defRPr>
            </a:lvl3pPr>
            <a:lvl4pPr marL="1096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54B6D"/>
              </a:buClr>
              <a:buSzPct val="70000"/>
              <a:buFont typeface="Wingdings" charset="2"/>
              <a:buChar char=""/>
              <a:defRPr sz="2000" kern="1200" baseline="0">
                <a:solidFill>
                  <a:schemeClr val="tx2"/>
                </a:solidFill>
                <a:latin typeface="Tw Cen MT" pitchFamily="34" charset="0"/>
                <a:ea typeface="MS PGothic" pitchFamily="34" charset="-128"/>
                <a:cs typeface="MS PGothic" charset="0"/>
              </a:defRPr>
            </a:lvl4pPr>
            <a:lvl5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04878"/>
              </a:buClr>
              <a:buChar char="•"/>
              <a:defRPr sz="2000" kern="1200" baseline="0">
                <a:solidFill>
                  <a:schemeClr val="tx1"/>
                </a:solidFill>
                <a:latin typeface="Tw Cen MT" pitchFamily="34" charset="0"/>
                <a:ea typeface="MS PGothic" pitchFamily="34" charset="-128"/>
                <a:cs typeface="MS PGothic" charset="0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053" indent="0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2000" b="1" dirty="0"/>
              <a:t>2nd quarter (Apr – Jun)</a:t>
            </a:r>
            <a:endParaRPr lang="en-US" sz="2000" dirty="0"/>
          </a:p>
          <a:p>
            <a:pPr indent="-265429" eaLnBrk="0" hangingPunct="0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323232"/>
                </a:solidFill>
              </a:rPr>
              <a:t>Metamodel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Analysis &amp; trades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Variant configuration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View and viewpoint </a:t>
            </a:r>
            <a:br>
              <a:rPr lang="en-US" sz="1800" dirty="0"/>
            </a:br>
            <a:r>
              <a:rPr lang="en-US" sz="1800" dirty="0"/>
              <a:t>(supporting graphical and textual notation)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/>
              <a:t>Profile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UML4SysML to </a:t>
            </a:r>
            <a:r>
              <a:rPr lang="en-US" sz="1800" dirty="0" err="1"/>
              <a:t>KerML</a:t>
            </a:r>
            <a:r>
              <a:rPr lang="en-US" sz="1800" dirty="0"/>
              <a:t> transformation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API/Services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External relationship service </a:t>
            </a:r>
            <a:br>
              <a:rPr lang="en-US" sz="1800" dirty="0"/>
            </a:br>
            <a:r>
              <a:rPr lang="en-US" sz="1800" dirty="0"/>
              <a:t>(REST/HTTP and OSLC)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Query service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Traceability to RFP requirements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User Review #2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Initial draft of complete spec documents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June OMG meeting presentation/demonstration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Incremental public release</a:t>
            </a:r>
          </a:p>
        </p:txBody>
      </p:sp>
      <p:sp>
        <p:nvSpPr>
          <p:cNvPr id="7" name="Google Shape;279;p11">
            <a:extLst>
              <a:ext uri="{FF2B5EF4-FFF2-40B4-BE49-F238E27FC236}">
                <a16:creationId xmlns:a16="http://schemas.microsoft.com/office/drawing/2014/main" id="{D33C5E1D-B0CE-DB44-BB3D-9DC717278DFC}"/>
              </a:ext>
            </a:extLst>
          </p:cNvPr>
          <p:cNvSpPr txBox="1"/>
          <p:nvPr/>
        </p:nvSpPr>
        <p:spPr>
          <a:xfrm>
            <a:off x="5486400" y="885449"/>
            <a:ext cx="239918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UPDATED MAR 2020</a:t>
            </a:r>
          </a:p>
        </p:txBody>
      </p:sp>
    </p:spTree>
    <p:extLst>
      <p:ext uri="{BB962C8B-B14F-4D97-AF65-F5344CB8AC3E}">
        <p14:creationId xmlns:p14="http://schemas.microsoft.com/office/powerpoint/2010/main" val="562600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SST Initial Submission Roadmap</a:t>
            </a:r>
            <a:br>
              <a:rPr lang="en-US" dirty="0"/>
            </a:br>
            <a:r>
              <a:rPr lang="en-US" dirty="0"/>
              <a:t>(2020)</a:t>
            </a:r>
            <a:endParaRPr dirty="0"/>
          </a:p>
        </p:txBody>
      </p:sp>
      <p:sp>
        <p:nvSpPr>
          <p:cNvPr id="288" name="Google Shape;288;p12"/>
          <p:cNvSpPr txBox="1">
            <a:spLocks noGrp="1"/>
          </p:cNvSpPr>
          <p:nvPr>
            <p:ph sz="quarter" idx="1"/>
          </p:nvPr>
        </p:nvSpPr>
        <p:spPr>
          <a:xfrm>
            <a:off x="304800" y="1295400"/>
            <a:ext cx="4800600" cy="48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9053" lvl="0" indent="0" algn="l" rtl="0">
              <a:spcBef>
                <a:spcPts val="0"/>
              </a:spcBef>
              <a:spcAft>
                <a:spcPts val="0"/>
              </a:spcAft>
              <a:buClr>
                <a:srgbClr val="154B6D"/>
              </a:buClr>
              <a:buSzPts val="1000"/>
              <a:buNone/>
            </a:pPr>
            <a:r>
              <a:rPr lang="en-US" sz="2000" b="1" dirty="0"/>
              <a:t>3rd quarter (Jul – Sep)</a:t>
            </a:r>
            <a:endParaRPr sz="2000" dirty="0"/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Metamodel</a:t>
            </a:r>
            <a:endParaRPr sz="2000" dirty="0"/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Verification</a:t>
            </a:r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Language extension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/>
              <a:t>Profile</a:t>
            </a:r>
          </a:p>
          <a:p>
            <a:pPr marL="568009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All stereotypes defined</a:t>
            </a:r>
          </a:p>
          <a:p>
            <a:pPr indent="-265429">
              <a:spcBef>
                <a:spcPts val="32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§"/>
            </a:pPr>
            <a:r>
              <a:rPr lang="en-US" sz="2000" dirty="0"/>
              <a:t>API/Services</a:t>
            </a:r>
            <a:endParaRPr sz="2000" dirty="0"/>
          </a:p>
          <a:p>
            <a:pPr marL="617538" lvl="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1800" dirty="0"/>
              <a:t>View and viewpoint service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Precise semantics for time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Viewpoints for standard graphical diagrams </a:t>
            </a:r>
            <a:endParaRPr lang="en-US" sz="2000" dirty="0"/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File-based model interchange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/>
              <a:t>v1 to v2 migration transformation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Initial draft conformance tests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Initial submission (17 Aug)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September OMG meeting submission presentation/demonstration</a:t>
            </a:r>
          </a:p>
          <a:p>
            <a:pPr marL="293371" indent="-285750">
              <a:spcBef>
                <a:spcPts val="320"/>
              </a:spcBef>
              <a:spcAft>
                <a:spcPts val="0"/>
              </a:spcAft>
              <a:buSzPts val="1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Initial submission public release</a:t>
            </a:r>
            <a:endParaRPr sz="2000" dirty="0"/>
          </a:p>
        </p:txBody>
      </p:sp>
      <p:sp>
        <p:nvSpPr>
          <p:cNvPr id="289" name="Google Shape;289;p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March 2020</a:t>
            </a:r>
            <a:endParaRPr/>
          </a:p>
        </p:txBody>
      </p:sp>
      <p:sp>
        <p:nvSpPr>
          <p:cNvPr id="6" name="Google Shape;279;p11">
            <a:extLst>
              <a:ext uri="{FF2B5EF4-FFF2-40B4-BE49-F238E27FC236}">
                <a16:creationId xmlns:a16="http://schemas.microsoft.com/office/drawing/2014/main" id="{2F814725-8509-484B-B1EA-68C84A989250}"/>
              </a:ext>
            </a:extLst>
          </p:cNvPr>
          <p:cNvSpPr txBox="1"/>
          <p:nvPr/>
        </p:nvSpPr>
        <p:spPr>
          <a:xfrm>
            <a:off x="5486400" y="885449"/>
            <a:ext cx="239918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UPDATED MAR 2020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4EF9A-A9B9-5C46-BF02-B063CD17D850}"/>
              </a:ext>
            </a:extLst>
          </p:cNvPr>
          <p:cNvSpPr txBox="1"/>
          <p:nvPr/>
        </p:nvSpPr>
        <p:spPr>
          <a:xfrm>
            <a:off x="4419600" y="4648200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Requesting new initial submission date</a:t>
            </a: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EF5112B9-FF8F-9147-971B-B0B90648FE65}"/>
              </a:ext>
            </a:extLst>
          </p:cNvPr>
          <p:cNvSpPr/>
          <p:nvPr/>
        </p:nvSpPr>
        <p:spPr>
          <a:xfrm>
            <a:off x="3276600" y="4752201"/>
            <a:ext cx="1066800" cy="200799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052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sML v2 Presentation Template" id="{A684029E-EEEC-9441-9842-5B96E84BCBFA}" vid="{22B33614-AD8A-2943-A030-4CA8B5CBD8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SysML v2 Presentation Template</Template>
  <TotalTime>7681</TotalTime>
  <Words>1755</Words>
  <Application>Microsoft Macintosh PowerPoint</Application>
  <PresentationFormat>On-screen Show (4:3)</PresentationFormat>
  <Paragraphs>356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Consolas</vt:lpstr>
      <vt:lpstr>Corbel</vt:lpstr>
      <vt:lpstr>Monaco</vt:lpstr>
      <vt:lpstr>Tw Cen MT</vt:lpstr>
      <vt:lpstr>Wingdings</vt:lpstr>
      <vt:lpstr>Wingdings 2</vt:lpstr>
      <vt:lpstr>Civic</vt:lpstr>
      <vt:lpstr>SysML v2 Submission Team (SST)  SysML v2 Submission Overview &amp; Status</vt:lpstr>
      <vt:lpstr>SysML v2 Submission Team</vt:lpstr>
      <vt:lpstr>SysML v2 Submission Team (SST)</vt:lpstr>
      <vt:lpstr>Track Leads</vt:lpstr>
      <vt:lpstr>SST Participating Organizations</vt:lpstr>
      <vt:lpstr>Key Elements of SysML v2</vt:lpstr>
      <vt:lpstr>Next Public Incremental Release (2020-03 release)</vt:lpstr>
      <vt:lpstr>SysML v2 Language Architecture</vt:lpstr>
      <vt:lpstr>SysML v2 Language Architecture</vt:lpstr>
      <vt:lpstr>SysML v2 Language Update  (2020-03 Baseline)</vt:lpstr>
      <vt:lpstr>Individuals  Abstract Syntax (Systems)</vt:lpstr>
      <vt:lpstr>Individuals: Occurrences and Lives  Model Library (Kernel)</vt:lpstr>
      <vt:lpstr>Individuals Textual Notation</vt:lpstr>
      <vt:lpstr>Constraints  Abstract Syntax (Systems)</vt:lpstr>
      <vt:lpstr>Constraints: Assertion  Abstract Syntax (Systems)</vt:lpstr>
      <vt:lpstr> Constraints  Model Library (Systems) </vt:lpstr>
      <vt:lpstr>Constraints Textual Notation</vt:lpstr>
      <vt:lpstr>Requirements  Abstract Syntax (Systems)</vt:lpstr>
      <vt:lpstr>Requirements: Satisfaction  Abstract Syntax (Systems)</vt:lpstr>
      <vt:lpstr>Requirements  Model Library (Systems)</vt:lpstr>
      <vt:lpstr>Requirements Textual Notation</vt:lpstr>
      <vt:lpstr>SysML v2 API and Services </vt:lpstr>
      <vt:lpstr>API Architecture – PIM and PSM</vt:lpstr>
      <vt:lpstr>Pilot Implementation</vt:lpstr>
      <vt:lpstr>SysML v2 API and Services RFP Scope</vt:lpstr>
      <vt:lpstr>Lifecycle meta-model for  element versioning service</vt:lpstr>
      <vt:lpstr>Versioning API (REST/HTTP) 2020-03 version</vt:lpstr>
      <vt:lpstr>SysML v2 API Pilot Impl. Servers</vt:lpstr>
      <vt:lpstr>Initial Submission Roadmap</vt:lpstr>
      <vt:lpstr>SST Initial Submission Roadmap (2020)</vt:lpstr>
      <vt:lpstr>SST Initial Submission Roadmap (2020)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Sanford</dc:creator>
  <cp:lastModifiedBy>Jeffrey Wallk</cp:lastModifiedBy>
  <cp:revision>221</cp:revision>
  <cp:lastPrinted>2015-03-24T15:04:04Z</cp:lastPrinted>
  <dcterms:created xsi:type="dcterms:W3CDTF">2018-11-25T16:35:05Z</dcterms:created>
  <dcterms:modified xsi:type="dcterms:W3CDTF">2020-04-04T01:44:39Z</dcterms:modified>
</cp:coreProperties>
</file>
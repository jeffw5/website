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1"/>
  </p:notesMasterIdLst>
  <p:handoutMasterIdLst>
    <p:handoutMasterId r:id="rId22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5" d="100"/>
          <a:sy n="75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54DF016-5BD5-4EFC-88CF-21C654E7D25E}">
      <dgm:prSet phldrT="[Text]"/>
      <dgm:spPr/>
      <dgm:t>
        <a:bodyPr/>
        <a:lstStyle/>
        <a:p>
          <a:r>
            <a:rPr lang="en-US" dirty="0" smtClean="0"/>
            <a:t>BOT</a:t>
          </a:r>
          <a:endParaRPr lang="en-US" dirty="0"/>
        </a:p>
      </dgm:t>
    </dgm:pt>
    <dgm:pt modelId="{3D1AE5EE-73B2-4FF5-9F79-0B5ADA83DA6A}" type="parTrans" cxnId="{4F3AAFCE-DFFF-478E-8D3E-DDBE7271AD53}">
      <dgm:prSet/>
      <dgm:spPr/>
      <dgm:t>
        <a:bodyPr/>
        <a:lstStyle/>
        <a:p>
          <a:endParaRPr lang="en-US"/>
        </a:p>
      </dgm:t>
    </dgm:pt>
    <dgm:pt modelId="{7589FA88-C7A5-40C0-A884-E36CE5B4C4E2}" type="sibTrans" cxnId="{4F3AAFCE-DFFF-478E-8D3E-DDBE7271AD53}">
      <dgm:prSet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dirty="0" smtClean="0"/>
            <a:t>BOD</a:t>
          </a:r>
          <a:endParaRPr lang="en-US" dirty="0"/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/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/>
        </a:p>
      </dgm:t>
    </dgm:pt>
    <dgm:pt modelId="{F6D6D062-0F29-43D9-A253-0507B9B54260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Steering Committee</a:t>
          </a:r>
          <a:endParaRPr lang="en-US" dirty="0"/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/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/>
        </a:p>
      </dgm:t>
    </dgm:pt>
    <dgm:pt modelId="{87C26E61-7C43-4524-969A-B9D6B39E873C}">
      <dgm:prSet phldrT="[Text]"/>
      <dgm:spPr/>
      <dgm:t>
        <a:bodyPr/>
        <a:lstStyle/>
        <a:p>
          <a:r>
            <a:rPr lang="en-US" dirty="0" smtClean="0"/>
            <a:t>Program</a:t>
          </a:r>
        </a:p>
        <a:p>
          <a:r>
            <a:rPr lang="en-US" dirty="0" smtClean="0"/>
            <a:t>Director</a:t>
          </a:r>
          <a:endParaRPr lang="en-US" dirty="0"/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/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/>
        </a:p>
      </dgm:t>
    </dgm:pt>
    <dgm:pt modelId="{A27364AF-6F0A-44CC-BD25-8D835547BFB7}">
      <dgm:prSet phldrT="[Text]"/>
      <dgm:spPr/>
      <dgm:t>
        <a:bodyPr/>
        <a:lstStyle/>
        <a:p>
          <a:r>
            <a:rPr lang="en-US" dirty="0" smtClean="0"/>
            <a:t>CAEAP </a:t>
          </a:r>
        </a:p>
        <a:p>
          <a:r>
            <a:rPr lang="en-US" dirty="0" smtClean="0"/>
            <a:t>President</a:t>
          </a:r>
          <a:endParaRPr lang="en-US" dirty="0"/>
        </a:p>
      </dgm:t>
    </dgm:pt>
    <dgm:pt modelId="{A5B58571-CEC0-4A53-97C2-874FAC591D95}" type="parTrans" cxnId="{9C96FC83-867F-4960-B302-2EE061DA97FC}">
      <dgm:prSet/>
      <dgm:spPr/>
      <dgm:t>
        <a:bodyPr/>
        <a:lstStyle/>
        <a:p>
          <a:endParaRPr lang="en-US"/>
        </a:p>
      </dgm:t>
    </dgm:pt>
    <dgm:pt modelId="{91D84EDD-00CD-403E-ADCD-3ACBAF1D509A}" type="sibTrans" cxnId="{9C96FC83-867F-4960-B302-2EE061DA97FC}">
      <dgm:prSet/>
      <dgm:spPr/>
      <dgm:t>
        <a:bodyPr/>
        <a:lstStyle/>
        <a:p>
          <a:endParaRPr lang="en-US"/>
        </a:p>
      </dgm:t>
    </dgm:pt>
    <dgm:pt modelId="{0450E8F6-ACBC-4C83-BCF3-599A7357A3E5}">
      <dgm:prSet phldrT="[Text]"/>
      <dgm:spPr/>
      <dgm:t>
        <a:bodyPr/>
        <a:lstStyle/>
        <a:p>
          <a:r>
            <a:rPr lang="en-US" dirty="0" smtClean="0"/>
            <a:t>CAEAP</a:t>
          </a:r>
        </a:p>
        <a:p>
          <a:r>
            <a:rPr lang="en-US" dirty="0" smtClean="0"/>
            <a:t>President</a:t>
          </a:r>
          <a:endParaRPr lang="en-US" dirty="0"/>
        </a:p>
      </dgm:t>
    </dgm:pt>
    <dgm:pt modelId="{A9BCB028-9D99-4F0A-A2C1-AB3D197DB870}" type="parTrans" cxnId="{F9E854E4-F118-48A4-B34E-50D235BF85C6}">
      <dgm:prSet/>
      <dgm:spPr/>
      <dgm:t>
        <a:bodyPr/>
        <a:lstStyle/>
        <a:p>
          <a:endParaRPr lang="en-US"/>
        </a:p>
      </dgm:t>
    </dgm:pt>
    <dgm:pt modelId="{8F201034-2483-41E5-BCC4-3F84806359FA}" type="sibTrans" cxnId="{F9E854E4-F118-48A4-B34E-50D235BF85C6}">
      <dgm:prSet/>
      <dgm:spPr/>
      <dgm:t>
        <a:bodyPr/>
        <a:lstStyle/>
        <a:p>
          <a:endParaRPr lang="en-US"/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2190FB-B00D-47AE-AB45-E2D23D62B3FF}" type="pres">
      <dgm:prSet presAssocID="{054DF016-5BD5-4EFC-88CF-21C654E7D25E}" presName="root1" presStyleCnt="0"/>
      <dgm:spPr/>
    </dgm:pt>
    <dgm:pt modelId="{24F0EF54-C2EB-4D84-BA98-D2655CED7A54}" type="pres">
      <dgm:prSet presAssocID="{054DF016-5BD5-4EFC-88CF-21C654E7D25E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48DC2C-4250-4547-A318-59125DD0329B}" type="pres">
      <dgm:prSet presAssocID="{054DF016-5BD5-4EFC-88CF-21C654E7D25E}" presName="level2hierChild" presStyleCnt="0"/>
      <dgm:spPr/>
    </dgm:pt>
    <dgm:pt modelId="{A43347C9-403B-4E4D-9795-D148B0768BA5}" type="pres">
      <dgm:prSet presAssocID="{2D240DE1-5A60-4537-9A30-C41684A0F833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2A18E778-11AD-4167-8372-AD7A46808E9E}" type="pres">
      <dgm:prSet presAssocID="{2D240DE1-5A60-4537-9A30-C41684A0F833}" presName="connTx" presStyleLbl="parChTrans1D2" presStyleIdx="0" presStyleCnt="2"/>
      <dgm:spPr/>
      <dgm:t>
        <a:bodyPr/>
        <a:lstStyle/>
        <a:p>
          <a:endParaRPr lang="en-US"/>
        </a:p>
      </dgm:t>
    </dgm:pt>
    <dgm:pt modelId="{23B64296-4573-416C-AB21-27374ECDBFDC}" type="pres">
      <dgm:prSet presAssocID="{EE35D43F-75DA-4C1D-B18E-0A2B36E11905}" presName="root2" presStyleCnt="0"/>
      <dgm:spPr/>
    </dgm:pt>
    <dgm:pt modelId="{D622A0C4-4258-4F4B-AC82-429295C05170}" type="pres">
      <dgm:prSet presAssocID="{EE35D43F-75DA-4C1D-B18E-0A2B36E11905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A34F2A9-07DD-490E-93FD-A45E84203EC3}" type="pres">
      <dgm:prSet presAssocID="{EE35D43F-75DA-4C1D-B18E-0A2B36E11905}" presName="level3hierChild" presStyleCnt="0"/>
      <dgm:spPr/>
    </dgm:pt>
    <dgm:pt modelId="{99221A49-23D2-46C3-8C8A-FB00E4F562BD}" type="pres">
      <dgm:prSet presAssocID="{E517D0C8-4150-4615-8887-6A0CD7D3134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</dgm:pt>
    <dgm:pt modelId="{9D95555D-5936-4E8D-ACCB-27506019A7EE}" type="pres">
      <dgm:prSet presAssocID="{F6D6D062-0F29-43D9-A253-0507B9B54260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</dgm:pt>
    <dgm:pt modelId="{EDF96D6C-5518-4FC8-9121-428AD6D5675C}" type="pres">
      <dgm:prSet presAssocID="{E399F8D2-F1BA-442F-8EEA-C8CE06BB4545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3" presStyleIdx="1" presStyleCnt="3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</dgm:pt>
    <dgm:pt modelId="{A224596F-4C82-45EE-B45F-A7CF519EA4A8}" type="pres">
      <dgm:prSet presAssocID="{87C26E61-7C43-4524-969A-B9D6B39E873C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</dgm:pt>
    <dgm:pt modelId="{A97F2495-3FC0-4BC7-A752-6134EA881013}" type="pres">
      <dgm:prSet presAssocID="{A5B58571-CEC0-4A53-97C2-874FAC591D9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850500D-5567-45AF-9B6C-AFD677DF0431}" type="pres">
      <dgm:prSet presAssocID="{A5B58571-CEC0-4A53-97C2-874FAC591D9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8C43619-51F0-4F44-B047-FEB4D88EB26B}" type="pres">
      <dgm:prSet presAssocID="{A27364AF-6F0A-44CC-BD25-8D835547BFB7}" presName="root2" presStyleCnt="0"/>
      <dgm:spPr/>
    </dgm:pt>
    <dgm:pt modelId="{2BFEA00B-5956-4FCE-A02C-C8983555D6C7}" type="pres">
      <dgm:prSet presAssocID="{A27364AF-6F0A-44CC-BD25-8D835547BFB7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BFB4CFB-E3A8-4EB7-9EB4-8DB63ED3222B}" type="pres">
      <dgm:prSet presAssocID="{A27364AF-6F0A-44CC-BD25-8D835547BFB7}" presName="level3hierChild" presStyleCnt="0"/>
      <dgm:spPr/>
    </dgm:pt>
    <dgm:pt modelId="{8D1E59DD-C1D3-4E92-8036-C384B3314D63}" type="pres">
      <dgm:prSet presAssocID="{A9BCB028-9D99-4F0A-A2C1-AB3D197DB870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D5A5119E-610C-4E34-952F-621AF12FCD4B}" type="pres">
      <dgm:prSet presAssocID="{A9BCB028-9D99-4F0A-A2C1-AB3D197DB870}" presName="connTx" presStyleLbl="parChTrans1D3" presStyleIdx="2" presStyleCnt="3"/>
      <dgm:spPr/>
      <dgm:t>
        <a:bodyPr/>
        <a:lstStyle/>
        <a:p>
          <a:endParaRPr lang="en-US"/>
        </a:p>
      </dgm:t>
    </dgm:pt>
    <dgm:pt modelId="{71FE7AC9-1654-42B5-AAAF-05C0C8A381C5}" type="pres">
      <dgm:prSet presAssocID="{0450E8F6-ACBC-4C83-BCF3-599A7357A3E5}" presName="root2" presStyleCnt="0"/>
      <dgm:spPr/>
    </dgm:pt>
    <dgm:pt modelId="{095B81E4-8826-4564-BD32-098CE3D5FCF0}" type="pres">
      <dgm:prSet presAssocID="{0450E8F6-ACBC-4C83-BCF3-599A7357A3E5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E28BD7-8613-4B5F-86DE-70EEC53EF916}" type="pres">
      <dgm:prSet presAssocID="{0450E8F6-ACBC-4C83-BCF3-599A7357A3E5}" presName="level3hierChild" presStyleCnt="0"/>
      <dgm:spPr/>
    </dgm:pt>
  </dgm:ptLst>
  <dgm:cxnLst>
    <dgm:cxn modelId="{EDFAD589-2529-4086-8501-8B35BB7A3582}" type="presOf" srcId="{A5B58571-CEC0-4A53-97C2-874FAC591D95}" destId="{4850500D-5567-45AF-9B6C-AFD677DF0431}" srcOrd="1" destOrd="0" presId="urn:microsoft.com/office/officeart/2005/8/layout/hierarchy2"/>
    <dgm:cxn modelId="{9C96FC83-867F-4960-B302-2EE061DA97FC}" srcId="{054DF016-5BD5-4EFC-88CF-21C654E7D25E}" destId="{A27364AF-6F0A-44CC-BD25-8D835547BFB7}" srcOrd="1" destOrd="0" parTransId="{A5B58571-CEC0-4A53-97C2-874FAC591D95}" sibTransId="{91D84EDD-00CD-403E-ADCD-3ACBAF1D509A}"/>
    <dgm:cxn modelId="{C476608C-BA9C-4D3C-8020-A196D948C1F5}" srcId="{054DF016-5BD5-4EFC-88CF-21C654E7D25E}" destId="{EE35D43F-75DA-4C1D-B18E-0A2B36E11905}" srcOrd="0" destOrd="0" parTransId="{2D240DE1-5A60-4537-9A30-C41684A0F833}" sibTransId="{5CABC33F-7F29-4496-B917-AE7B0FD239BD}"/>
    <dgm:cxn modelId="{23AB9D35-D577-4501-B5F4-4368E7BEB5AC}" type="presOf" srcId="{E399F8D2-F1BA-442F-8EEA-C8CE06BB4545}" destId="{EDF96D6C-5518-4FC8-9121-428AD6D5675C}" srcOrd="0" destOrd="0" presId="urn:microsoft.com/office/officeart/2005/8/layout/hierarchy2"/>
    <dgm:cxn modelId="{E0CDEA4D-1509-436C-BFA7-8A55AD5644D0}" type="presOf" srcId="{2D240DE1-5A60-4537-9A30-C41684A0F833}" destId="{A43347C9-403B-4E4D-9795-D148B0768BA5}" srcOrd="0" destOrd="0" presId="urn:microsoft.com/office/officeart/2005/8/layout/hierarchy2"/>
    <dgm:cxn modelId="{287FE18A-C184-4FD3-8DDA-37E15ED1AD60}" type="presOf" srcId="{A9BCB028-9D99-4F0A-A2C1-AB3D197DB870}" destId="{8D1E59DD-C1D3-4E92-8036-C384B3314D63}" srcOrd="0" destOrd="0" presId="urn:microsoft.com/office/officeart/2005/8/layout/hierarchy2"/>
    <dgm:cxn modelId="{A5ECCDEE-E37A-4592-BB69-112FF98F1BCB}" type="presOf" srcId="{054DF016-5BD5-4EFC-88CF-21C654E7D25E}" destId="{24F0EF54-C2EB-4D84-BA98-D2655CED7A54}" srcOrd="0" destOrd="0" presId="urn:microsoft.com/office/officeart/2005/8/layout/hierarchy2"/>
    <dgm:cxn modelId="{5954BA86-9E6B-4D58-B065-5ABA2D42A7B8}" type="presOf" srcId="{2D240DE1-5A60-4537-9A30-C41684A0F833}" destId="{2A18E778-11AD-4167-8372-AD7A46808E9E}" srcOrd="1" destOrd="0" presId="urn:microsoft.com/office/officeart/2005/8/layout/hierarchy2"/>
    <dgm:cxn modelId="{AB40FEF7-4002-43BD-9BD7-1E77665ABCFC}" type="presOf" srcId="{E399F8D2-F1BA-442F-8EEA-C8CE06BB4545}" destId="{42B6EB2E-4BDA-4467-A06D-099A8A52351F}" srcOrd="1" destOrd="0" presId="urn:microsoft.com/office/officeart/2005/8/layout/hierarchy2"/>
    <dgm:cxn modelId="{CC14AB3E-E8AA-4513-ADA9-94D9EE3EAB00}" type="presOf" srcId="{E517D0C8-4150-4615-8887-6A0CD7D31349}" destId="{99221A49-23D2-46C3-8C8A-FB00E4F562BD}" srcOrd="0" destOrd="0" presId="urn:microsoft.com/office/officeart/2005/8/layout/hierarchy2"/>
    <dgm:cxn modelId="{38BE815F-F133-4415-B7BE-34F440DC3867}" type="presOf" srcId="{E517D0C8-4150-4615-8887-6A0CD7D31349}" destId="{00B906A1-C230-4C7F-87C3-1BBBEDCFFADF}" srcOrd="1" destOrd="0" presId="urn:microsoft.com/office/officeart/2005/8/layout/hierarchy2"/>
    <dgm:cxn modelId="{751FFE3E-45B5-4148-A583-0D0AF347303E}" type="presOf" srcId="{87C26E61-7C43-4524-969A-B9D6B39E873C}" destId="{A224596F-4C82-45EE-B45F-A7CF519EA4A8}" srcOrd="0" destOrd="0" presId="urn:microsoft.com/office/officeart/2005/8/layout/hierarchy2"/>
    <dgm:cxn modelId="{7387E915-986F-46AA-A932-48BC3EDC2537}" type="presOf" srcId="{A27364AF-6F0A-44CC-BD25-8D835547BFB7}" destId="{2BFEA00B-5956-4FCE-A02C-C8983555D6C7}" srcOrd="0" destOrd="0" presId="urn:microsoft.com/office/officeart/2005/8/layout/hierarchy2"/>
    <dgm:cxn modelId="{5F6AE584-88A6-40F0-805C-1C34BAE1BC34}" type="presOf" srcId="{A5B58571-CEC0-4A53-97C2-874FAC591D95}" destId="{A97F2495-3FC0-4BC7-A752-6134EA881013}" srcOrd="0" destOrd="0" presId="urn:microsoft.com/office/officeart/2005/8/layout/hierarchy2"/>
    <dgm:cxn modelId="{D2B63D2A-857F-447F-91AB-F514ED443C6F}" type="presOf" srcId="{0450E8F6-ACBC-4C83-BCF3-599A7357A3E5}" destId="{095B81E4-8826-4564-BD32-098CE3D5FCF0}" srcOrd="0" destOrd="0" presId="urn:microsoft.com/office/officeart/2005/8/layout/hierarchy2"/>
    <dgm:cxn modelId="{C845098D-FD1D-4A78-B0AB-C50026DEBD39}" type="presOf" srcId="{EE35D43F-75DA-4C1D-B18E-0A2B36E11905}" destId="{D622A0C4-4258-4F4B-AC82-429295C05170}" srcOrd="0" destOrd="0" presId="urn:microsoft.com/office/officeart/2005/8/layout/hierarchy2"/>
    <dgm:cxn modelId="{4F3AAFCE-DFFF-478E-8D3E-DDBE7271AD53}" srcId="{B040E5C4-FC0F-4D0C-B085-E5BD63E46C39}" destId="{054DF016-5BD5-4EFC-88CF-21C654E7D25E}" srcOrd="0" destOrd="0" parTransId="{3D1AE5EE-73B2-4FF5-9F79-0B5ADA83DA6A}" sibTransId="{7589FA88-C7A5-40C0-A884-E36CE5B4C4E2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F9E854E4-F118-48A4-B34E-50D235BF85C6}" srcId="{A27364AF-6F0A-44CC-BD25-8D835547BFB7}" destId="{0450E8F6-ACBC-4C83-BCF3-599A7357A3E5}" srcOrd="0" destOrd="0" parTransId="{A9BCB028-9D99-4F0A-A2C1-AB3D197DB870}" sibTransId="{8F201034-2483-41E5-BCC4-3F84806359FA}"/>
    <dgm:cxn modelId="{0AADA121-19B7-428E-95E5-AD021C94B1CB}" type="presOf" srcId="{A9BCB028-9D99-4F0A-A2C1-AB3D197DB870}" destId="{D5A5119E-610C-4E34-952F-621AF12FCD4B}" srcOrd="1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E14EDCF2-F817-4F5F-80F1-8C81483CF6AD}" type="presOf" srcId="{F6D6D062-0F29-43D9-A253-0507B9B54260}" destId="{9D95555D-5936-4E8D-ACCB-27506019A7EE}" srcOrd="0" destOrd="0" presId="urn:microsoft.com/office/officeart/2005/8/layout/hierarchy2"/>
    <dgm:cxn modelId="{3C02C716-DBB3-40D5-9AF2-34AA693D7D6F}" type="presOf" srcId="{B040E5C4-FC0F-4D0C-B085-E5BD63E46C39}" destId="{312713A3-9FC9-4430-A5B9-DDFD3D77C9B9}" srcOrd="0" destOrd="0" presId="urn:microsoft.com/office/officeart/2005/8/layout/hierarchy2"/>
    <dgm:cxn modelId="{78999D0B-566D-4DB6-B471-0365C8FF4159}" type="presParOf" srcId="{312713A3-9FC9-4430-A5B9-DDFD3D77C9B9}" destId="{2D2190FB-B00D-47AE-AB45-E2D23D62B3FF}" srcOrd="0" destOrd="0" presId="urn:microsoft.com/office/officeart/2005/8/layout/hierarchy2"/>
    <dgm:cxn modelId="{5A82AC7E-8DC3-46F5-830B-6CED9638AA5B}" type="presParOf" srcId="{2D2190FB-B00D-47AE-AB45-E2D23D62B3FF}" destId="{24F0EF54-C2EB-4D84-BA98-D2655CED7A54}" srcOrd="0" destOrd="0" presId="urn:microsoft.com/office/officeart/2005/8/layout/hierarchy2"/>
    <dgm:cxn modelId="{DF4B55DD-D7DD-470D-BEE2-2C616CD1D374}" type="presParOf" srcId="{2D2190FB-B00D-47AE-AB45-E2D23D62B3FF}" destId="{6C48DC2C-4250-4547-A318-59125DD0329B}" srcOrd="1" destOrd="0" presId="urn:microsoft.com/office/officeart/2005/8/layout/hierarchy2"/>
    <dgm:cxn modelId="{3ED56F91-35AF-463D-8361-F3943544EB67}" type="presParOf" srcId="{6C48DC2C-4250-4547-A318-59125DD0329B}" destId="{A43347C9-403B-4E4D-9795-D148B0768BA5}" srcOrd="0" destOrd="0" presId="urn:microsoft.com/office/officeart/2005/8/layout/hierarchy2"/>
    <dgm:cxn modelId="{A4A8227F-4A87-4111-82A6-6976A89E4AC3}" type="presParOf" srcId="{A43347C9-403B-4E4D-9795-D148B0768BA5}" destId="{2A18E778-11AD-4167-8372-AD7A46808E9E}" srcOrd="0" destOrd="0" presId="urn:microsoft.com/office/officeart/2005/8/layout/hierarchy2"/>
    <dgm:cxn modelId="{05DEECC2-FAB0-4DCD-B674-25878882D06A}" type="presParOf" srcId="{6C48DC2C-4250-4547-A318-59125DD0329B}" destId="{23B64296-4573-416C-AB21-27374ECDBFDC}" srcOrd="1" destOrd="0" presId="urn:microsoft.com/office/officeart/2005/8/layout/hierarchy2"/>
    <dgm:cxn modelId="{BF41040D-048C-448C-9BEA-E263DBC2F6D1}" type="presParOf" srcId="{23B64296-4573-416C-AB21-27374ECDBFDC}" destId="{D622A0C4-4258-4F4B-AC82-429295C05170}" srcOrd="0" destOrd="0" presId="urn:microsoft.com/office/officeart/2005/8/layout/hierarchy2"/>
    <dgm:cxn modelId="{23771E7E-27B6-4853-A6C4-37964987DA68}" type="presParOf" srcId="{23B64296-4573-416C-AB21-27374ECDBFDC}" destId="{8A34F2A9-07DD-490E-93FD-A45E84203EC3}" srcOrd="1" destOrd="0" presId="urn:microsoft.com/office/officeart/2005/8/layout/hierarchy2"/>
    <dgm:cxn modelId="{3FA0591B-FED4-4161-9952-31876C279600}" type="presParOf" srcId="{8A34F2A9-07DD-490E-93FD-A45E84203EC3}" destId="{99221A49-23D2-46C3-8C8A-FB00E4F562BD}" srcOrd="0" destOrd="0" presId="urn:microsoft.com/office/officeart/2005/8/layout/hierarchy2"/>
    <dgm:cxn modelId="{9E592916-60B8-4D53-A0A7-4F388CDDB748}" type="presParOf" srcId="{99221A49-23D2-46C3-8C8A-FB00E4F562BD}" destId="{00B906A1-C230-4C7F-87C3-1BBBEDCFFADF}" srcOrd="0" destOrd="0" presId="urn:microsoft.com/office/officeart/2005/8/layout/hierarchy2"/>
    <dgm:cxn modelId="{F87641BA-A609-4472-9F46-14CDFFA59B13}" type="presParOf" srcId="{8A34F2A9-07DD-490E-93FD-A45E84203EC3}" destId="{CA1923FC-CEC8-45A2-A2D1-C8E64F5B18BF}" srcOrd="1" destOrd="0" presId="urn:microsoft.com/office/officeart/2005/8/layout/hierarchy2"/>
    <dgm:cxn modelId="{8F15D048-168F-4015-AFE6-F7EB9914E2EA}" type="presParOf" srcId="{CA1923FC-CEC8-45A2-A2D1-C8E64F5B18BF}" destId="{9D95555D-5936-4E8D-ACCB-27506019A7EE}" srcOrd="0" destOrd="0" presId="urn:microsoft.com/office/officeart/2005/8/layout/hierarchy2"/>
    <dgm:cxn modelId="{239576FF-3CC4-4841-9800-10CDB1355E9D}" type="presParOf" srcId="{CA1923FC-CEC8-45A2-A2D1-C8E64F5B18BF}" destId="{BA122DA3-9E02-4995-A51F-037FD4C01B98}" srcOrd="1" destOrd="0" presId="urn:microsoft.com/office/officeart/2005/8/layout/hierarchy2"/>
    <dgm:cxn modelId="{B6321C40-0443-4832-9AB9-FEB3923B9EF2}" type="presParOf" srcId="{8A34F2A9-07DD-490E-93FD-A45E84203EC3}" destId="{EDF96D6C-5518-4FC8-9121-428AD6D5675C}" srcOrd="2" destOrd="0" presId="urn:microsoft.com/office/officeart/2005/8/layout/hierarchy2"/>
    <dgm:cxn modelId="{57FE8C61-589E-4683-A33A-F1088E0F7295}" type="presParOf" srcId="{EDF96D6C-5518-4FC8-9121-428AD6D5675C}" destId="{42B6EB2E-4BDA-4467-A06D-099A8A52351F}" srcOrd="0" destOrd="0" presId="urn:microsoft.com/office/officeart/2005/8/layout/hierarchy2"/>
    <dgm:cxn modelId="{C3D731DD-5242-49D8-84D1-454388E70084}" type="presParOf" srcId="{8A34F2A9-07DD-490E-93FD-A45E84203EC3}" destId="{FDD2A712-0D9E-4B6C-8BE6-93597BCF349B}" srcOrd="3" destOrd="0" presId="urn:microsoft.com/office/officeart/2005/8/layout/hierarchy2"/>
    <dgm:cxn modelId="{18F5A2DF-508B-482A-9360-034CAF3C8FCA}" type="presParOf" srcId="{FDD2A712-0D9E-4B6C-8BE6-93597BCF349B}" destId="{A224596F-4C82-45EE-B45F-A7CF519EA4A8}" srcOrd="0" destOrd="0" presId="urn:microsoft.com/office/officeart/2005/8/layout/hierarchy2"/>
    <dgm:cxn modelId="{BFD427D9-FE74-4C2A-A6A0-32F848591816}" type="presParOf" srcId="{FDD2A712-0D9E-4B6C-8BE6-93597BCF349B}" destId="{0CDE09AA-A28B-4F76-A741-B7DAC5CDB719}" srcOrd="1" destOrd="0" presId="urn:microsoft.com/office/officeart/2005/8/layout/hierarchy2"/>
    <dgm:cxn modelId="{5C7C2B43-11A2-44FF-9484-2DBE30607106}" type="presParOf" srcId="{6C48DC2C-4250-4547-A318-59125DD0329B}" destId="{A97F2495-3FC0-4BC7-A752-6134EA881013}" srcOrd="2" destOrd="0" presId="urn:microsoft.com/office/officeart/2005/8/layout/hierarchy2"/>
    <dgm:cxn modelId="{4B87FFC1-1181-4D74-87A5-AABB54E8F907}" type="presParOf" srcId="{A97F2495-3FC0-4BC7-A752-6134EA881013}" destId="{4850500D-5567-45AF-9B6C-AFD677DF0431}" srcOrd="0" destOrd="0" presId="urn:microsoft.com/office/officeart/2005/8/layout/hierarchy2"/>
    <dgm:cxn modelId="{3BAED5DD-69B6-45F1-810B-D6675A4E9B8B}" type="presParOf" srcId="{6C48DC2C-4250-4547-A318-59125DD0329B}" destId="{F8C43619-51F0-4F44-B047-FEB4D88EB26B}" srcOrd="3" destOrd="0" presId="urn:microsoft.com/office/officeart/2005/8/layout/hierarchy2"/>
    <dgm:cxn modelId="{F02557AC-177E-47E9-AEA3-130ABD7FB557}" type="presParOf" srcId="{F8C43619-51F0-4F44-B047-FEB4D88EB26B}" destId="{2BFEA00B-5956-4FCE-A02C-C8983555D6C7}" srcOrd="0" destOrd="0" presId="urn:microsoft.com/office/officeart/2005/8/layout/hierarchy2"/>
    <dgm:cxn modelId="{12E9421F-F608-4EE7-89B7-2C96E6983F00}" type="presParOf" srcId="{F8C43619-51F0-4F44-B047-FEB4D88EB26B}" destId="{5BFB4CFB-E3A8-4EB7-9EB4-8DB63ED3222B}" srcOrd="1" destOrd="0" presId="urn:microsoft.com/office/officeart/2005/8/layout/hierarchy2"/>
    <dgm:cxn modelId="{7A12AEB0-F554-4436-95CF-659975D80BFA}" type="presParOf" srcId="{5BFB4CFB-E3A8-4EB7-9EB4-8DB63ED3222B}" destId="{8D1E59DD-C1D3-4E92-8036-C384B3314D63}" srcOrd="0" destOrd="0" presId="urn:microsoft.com/office/officeart/2005/8/layout/hierarchy2"/>
    <dgm:cxn modelId="{66804A67-C239-46D2-9D66-B71B90F4AD7C}" type="presParOf" srcId="{8D1E59DD-C1D3-4E92-8036-C384B3314D63}" destId="{D5A5119E-610C-4E34-952F-621AF12FCD4B}" srcOrd="0" destOrd="0" presId="urn:microsoft.com/office/officeart/2005/8/layout/hierarchy2"/>
    <dgm:cxn modelId="{B36A4A37-ACDF-4DC9-8074-CF6F2212C723}" type="presParOf" srcId="{5BFB4CFB-E3A8-4EB7-9EB4-8DB63ED3222B}" destId="{71FE7AC9-1654-42B5-AAAF-05C0C8A381C5}" srcOrd="1" destOrd="0" presId="urn:microsoft.com/office/officeart/2005/8/layout/hierarchy2"/>
    <dgm:cxn modelId="{342AB22D-9017-4F94-9A52-4A7872007192}" type="presParOf" srcId="{71FE7AC9-1654-42B5-AAAF-05C0C8A381C5}" destId="{095B81E4-8826-4564-BD32-098CE3D5FCF0}" srcOrd="0" destOrd="0" presId="urn:microsoft.com/office/officeart/2005/8/layout/hierarchy2"/>
    <dgm:cxn modelId="{81E75363-E61A-4675-89A9-AB23E1B83FBC}" type="presParOf" srcId="{71FE7AC9-1654-42B5-AAAF-05C0C8A381C5}" destId="{74E28BD7-8613-4B5F-86DE-70EEC53EF91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4F0EF54-C2EB-4D84-BA98-D2655CED7A54}">
      <dsp:nvSpPr>
        <dsp:cNvPr id="0" name=""/>
        <dsp:cNvSpPr/>
      </dsp:nvSpPr>
      <dsp:spPr>
        <a:xfrm>
          <a:off x="631" y="2185312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BOT</a:t>
          </a:r>
          <a:endParaRPr lang="en-US" sz="2000" kern="1200" dirty="0"/>
        </a:p>
      </dsp:txBody>
      <dsp:txXfrm>
        <a:off x="631" y="2185312"/>
        <a:ext cx="2165351" cy="1082675"/>
      </dsp:txXfrm>
    </dsp:sp>
    <dsp:sp modelId="{A43347C9-403B-4E4D-9795-D148B0768BA5}">
      <dsp:nvSpPr>
        <dsp:cNvPr id="0" name=""/>
        <dsp:cNvSpPr/>
      </dsp:nvSpPr>
      <dsp:spPr>
        <a:xfrm rot="18770822">
          <a:off x="1962226" y="2239575"/>
          <a:ext cx="1273654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273654" y="2017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8770822">
        <a:off x="2567212" y="2227905"/>
        <a:ext cx="63682" cy="63682"/>
      </dsp:txXfrm>
    </dsp:sp>
    <dsp:sp modelId="{D622A0C4-4258-4F4B-AC82-429295C05170}">
      <dsp:nvSpPr>
        <dsp:cNvPr id="0" name=""/>
        <dsp:cNvSpPr/>
      </dsp:nvSpPr>
      <dsp:spPr>
        <a:xfrm>
          <a:off x="3032124" y="1251504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BOD</a:t>
          </a:r>
          <a:endParaRPr lang="en-US" sz="2000" kern="1200" dirty="0"/>
        </a:p>
      </dsp:txBody>
      <dsp:txXfrm>
        <a:off x="3032124" y="1251504"/>
        <a:ext cx="2165351" cy="1082675"/>
      </dsp:txXfrm>
    </dsp:sp>
    <dsp:sp modelId="{99221A49-23D2-46C3-8C8A-FB00E4F562BD}">
      <dsp:nvSpPr>
        <dsp:cNvPr id="0" name=""/>
        <dsp:cNvSpPr/>
      </dsp:nvSpPr>
      <dsp:spPr>
        <a:xfrm rot="19457599">
          <a:off x="5097218" y="1461402"/>
          <a:ext cx="1066655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066655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9457599">
        <a:off x="5603879" y="1454907"/>
        <a:ext cx="53332" cy="53332"/>
      </dsp:txXfrm>
    </dsp:sp>
    <dsp:sp modelId="{9D95555D-5936-4E8D-ACCB-27506019A7EE}">
      <dsp:nvSpPr>
        <dsp:cNvPr id="0" name=""/>
        <dsp:cNvSpPr/>
      </dsp:nvSpPr>
      <dsp:spPr>
        <a:xfrm>
          <a:off x="6063616" y="628966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Steering Committee</a:t>
          </a:r>
          <a:endParaRPr lang="en-US" sz="2000" kern="1200" dirty="0"/>
        </a:p>
      </dsp:txBody>
      <dsp:txXfrm>
        <a:off x="6063616" y="628966"/>
        <a:ext cx="2165351" cy="1082675"/>
      </dsp:txXfrm>
    </dsp:sp>
    <dsp:sp modelId="{EDF96D6C-5518-4FC8-9121-428AD6D5675C}">
      <dsp:nvSpPr>
        <dsp:cNvPr id="0" name=""/>
        <dsp:cNvSpPr/>
      </dsp:nvSpPr>
      <dsp:spPr>
        <a:xfrm rot="2142401">
          <a:off x="5097218" y="2083941"/>
          <a:ext cx="1066655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066655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142401">
        <a:off x="5603879" y="2077445"/>
        <a:ext cx="53332" cy="53332"/>
      </dsp:txXfrm>
    </dsp:sp>
    <dsp:sp modelId="{A224596F-4C82-45EE-B45F-A7CF519EA4A8}">
      <dsp:nvSpPr>
        <dsp:cNvPr id="0" name=""/>
        <dsp:cNvSpPr/>
      </dsp:nvSpPr>
      <dsp:spPr>
        <a:xfrm>
          <a:off x="6063616" y="1874043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Program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Director</a:t>
          </a:r>
          <a:endParaRPr lang="en-US" sz="2000" kern="1200" dirty="0"/>
        </a:p>
      </dsp:txBody>
      <dsp:txXfrm>
        <a:off x="6063616" y="1874043"/>
        <a:ext cx="2165351" cy="1082675"/>
      </dsp:txXfrm>
    </dsp:sp>
    <dsp:sp modelId="{A97F2495-3FC0-4BC7-A752-6134EA881013}">
      <dsp:nvSpPr>
        <dsp:cNvPr id="0" name=""/>
        <dsp:cNvSpPr/>
      </dsp:nvSpPr>
      <dsp:spPr>
        <a:xfrm rot="2829178">
          <a:off x="1962226" y="3173383"/>
          <a:ext cx="1273654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1273654" y="2017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2829178">
        <a:off x="2567212" y="3161713"/>
        <a:ext cx="63682" cy="63682"/>
      </dsp:txXfrm>
    </dsp:sp>
    <dsp:sp modelId="{2BFEA00B-5956-4FCE-A02C-C8983555D6C7}">
      <dsp:nvSpPr>
        <dsp:cNvPr id="0" name=""/>
        <dsp:cNvSpPr/>
      </dsp:nvSpPr>
      <dsp:spPr>
        <a:xfrm>
          <a:off x="3032124" y="3119120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CAEAP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President</a:t>
          </a:r>
          <a:endParaRPr lang="en-US" sz="2000" kern="1200" dirty="0"/>
        </a:p>
      </dsp:txBody>
      <dsp:txXfrm>
        <a:off x="3032124" y="3119120"/>
        <a:ext cx="2165351" cy="1082675"/>
      </dsp:txXfrm>
    </dsp:sp>
    <dsp:sp modelId="{8D1E59DD-C1D3-4E92-8036-C384B3314D63}">
      <dsp:nvSpPr>
        <dsp:cNvPr id="0" name=""/>
        <dsp:cNvSpPr/>
      </dsp:nvSpPr>
      <dsp:spPr>
        <a:xfrm>
          <a:off x="5197475" y="3640287"/>
          <a:ext cx="866140" cy="40341"/>
        </a:xfrm>
        <a:custGeom>
          <a:avLst/>
          <a:gdLst/>
          <a:ahLst/>
          <a:cxnLst/>
          <a:rect l="0" t="0" r="0" b="0"/>
          <a:pathLst>
            <a:path>
              <a:moveTo>
                <a:pt x="0" y="20170"/>
              </a:moveTo>
              <a:lnTo>
                <a:pt x="866140" y="2017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8892" y="3638805"/>
        <a:ext cx="43307" cy="43307"/>
      </dsp:txXfrm>
    </dsp:sp>
    <dsp:sp modelId="{095B81E4-8826-4564-BD32-098CE3D5FCF0}">
      <dsp:nvSpPr>
        <dsp:cNvPr id="0" name=""/>
        <dsp:cNvSpPr/>
      </dsp:nvSpPr>
      <dsp:spPr>
        <a:xfrm>
          <a:off x="6063616" y="3119120"/>
          <a:ext cx="2165351" cy="10826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CAEAP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President</a:t>
          </a:r>
          <a:endParaRPr lang="en-US" sz="2000" kern="1200" dirty="0"/>
        </a:p>
      </dsp:txBody>
      <dsp:txXfrm>
        <a:off x="6063616" y="3119120"/>
        <a:ext cx="2165351" cy="1082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9/13/2009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9/13/2009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7EBFD5-6BE7-418E-85A6-2C728D1C360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chemeClr val="bg1">
                    <a:lumMod val="50000"/>
                  </a:schemeClr>
                </a:solidFill>
              </a:rPr>
              <a:t>Developing a model for guiding the development &amp; delivery of superior products &amp; services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Shir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Hadash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Customer Focus Study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Current State</a:t>
            </a:r>
          </a:p>
          <a:p>
            <a:pPr lvl="0"/>
            <a:r>
              <a:rPr lang="en-US" sz="2400" dirty="0" smtClean="0"/>
              <a:t>Objectives</a:t>
            </a:r>
          </a:p>
          <a:p>
            <a:pPr lvl="0"/>
            <a:r>
              <a:rPr lang="en-US" sz="2400" dirty="0" smtClean="0"/>
              <a:t>Benefits</a:t>
            </a:r>
          </a:p>
          <a:p>
            <a:pPr lvl="0"/>
            <a:r>
              <a:rPr lang="en-US" sz="2400" dirty="0" smtClean="0"/>
              <a:t>Program Charter</a:t>
            </a:r>
          </a:p>
          <a:p>
            <a:r>
              <a:rPr lang="en-US" sz="2400" dirty="0" smtClean="0"/>
              <a:t>Program Roadmap</a:t>
            </a:r>
          </a:p>
          <a:p>
            <a:pPr lvl="0"/>
            <a:r>
              <a:rPr lang="en-US" sz="2400" dirty="0" smtClean="0"/>
              <a:t>Program Governance</a:t>
            </a:r>
          </a:p>
          <a:p>
            <a:pPr lvl="0"/>
            <a:r>
              <a:rPr lang="en-US" sz="2400" dirty="0" smtClean="0"/>
              <a:t>Staffing Plan</a:t>
            </a:r>
          </a:p>
          <a:p>
            <a:pPr lvl="0"/>
            <a:r>
              <a:rPr lang="en-US" sz="2400" dirty="0" smtClean="0"/>
              <a:t>Funding Plan</a:t>
            </a:r>
          </a:p>
          <a:p>
            <a:endParaRPr lang="en-US" sz="2400" dirty="0" smtClean="0"/>
          </a:p>
          <a:p>
            <a:r>
              <a:rPr lang="en-US" sz="2400" dirty="0" smtClean="0"/>
              <a:t>Project 1 Overview</a:t>
            </a:r>
            <a:endParaRPr lang="en-US" sz="2400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0" y="5029200"/>
            <a:ext cx="4419600" cy="0"/>
          </a:xfrm>
          <a:prstGeom prst="line">
            <a:avLst/>
          </a:prstGeom>
          <a:ln w="57150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Current State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 smtClean="0"/>
              <a:t>Customer value delivered by EA is difficult to identify and measure.</a:t>
            </a:r>
          </a:p>
          <a:p>
            <a:pPr eaLnBrk="1" hangingPunct="1"/>
            <a:r>
              <a:rPr lang="en-US" sz="2400" dirty="0" smtClean="0"/>
              <a:t>Business case for justifying EA investments is challenging  to create without hard metrics around cost reduction, cycle time reduction, and value enablement.</a:t>
            </a:r>
          </a:p>
          <a:p>
            <a:pPr eaLnBrk="1" hangingPunct="1"/>
            <a:r>
              <a:rPr lang="en-US" sz="2400" dirty="0" smtClean="0"/>
              <a:t>EA resources are inconsistently positioned to influence the planning, investment, and execution around change.</a:t>
            </a:r>
          </a:p>
          <a:p>
            <a:pPr eaLnBrk="1" hangingPunct="1"/>
            <a:r>
              <a:rPr lang="en-US" sz="2400" dirty="0" smtClean="0"/>
              <a:t>Organizations do not know how best to use EA resources to enable and create value for their customers and stakeholders.</a:t>
            </a:r>
          </a:p>
          <a:p>
            <a:pPr eaLnBrk="1" hangingPunct="1"/>
            <a:r>
              <a:rPr lang="en-US" sz="2400" dirty="0" smtClean="0"/>
              <a:t>EA resources do not have a consistent way to assess the impact of their contributions (short term and long term).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Objectives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Create a reference model for defining the EA jobs from which duties, practices, and value are derived.  </a:t>
            </a:r>
          </a:p>
          <a:p>
            <a:pPr eaLnBrk="1" hangingPunct="1"/>
            <a:r>
              <a:rPr lang="en-US" sz="2400" dirty="0" smtClean="0"/>
              <a:t>Build a repository of metrics that CEAEP can use to measure the value that EA delivers to customers (governance).</a:t>
            </a:r>
          </a:p>
          <a:p>
            <a:pPr eaLnBrk="1" hangingPunct="1"/>
            <a:r>
              <a:rPr lang="en-US" sz="2400" dirty="0" smtClean="0"/>
              <a:t>Map the value metrics against the EA services (practices &amp; methodologies) and EA products (tools &amp; deliverables) used to deliver value to customers. </a:t>
            </a:r>
          </a:p>
          <a:p>
            <a:pPr eaLnBrk="1" hangingPunct="1"/>
            <a:r>
              <a:rPr lang="en-US" sz="2400" dirty="0" smtClean="0"/>
              <a:t>Identify opportunities (gaps between what is delivered versus what customers want) to improve EA services &amp; products.</a:t>
            </a:r>
          </a:p>
          <a:p>
            <a:pPr eaLnBrk="1" hangingPunct="1"/>
            <a:r>
              <a:rPr lang="en-US" sz="2400" dirty="0" smtClean="0"/>
              <a:t>Identify products &amp; services that CAEAP can deliver to help:</a:t>
            </a:r>
          </a:p>
          <a:p>
            <a:pPr lvl="1"/>
            <a:r>
              <a:rPr lang="en-US" sz="2000" dirty="0" smtClean="0"/>
              <a:t>Certified EA’s optimize their value delivery</a:t>
            </a:r>
          </a:p>
          <a:p>
            <a:pPr lvl="1"/>
            <a:r>
              <a:rPr lang="en-US" sz="2000" dirty="0" smtClean="0"/>
              <a:t>Stakeholders leverage EA to optimize their value delivery </a:t>
            </a:r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Benefits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Practice:</a:t>
            </a:r>
          </a:p>
          <a:p>
            <a:pPr lvl="1"/>
            <a:r>
              <a:rPr lang="en-US" sz="2000" dirty="0" smtClean="0"/>
              <a:t>EA’s will be able to justify the value of their services by creating measureable lineage from products &amp; services to addressing customer needs.</a:t>
            </a:r>
          </a:p>
          <a:p>
            <a:pPr lvl="0"/>
            <a:r>
              <a:rPr lang="en-US" sz="2400" dirty="0" smtClean="0"/>
              <a:t>Profession:</a:t>
            </a:r>
          </a:p>
          <a:p>
            <a:pPr lvl="1"/>
            <a:r>
              <a:rPr lang="en-US" sz="2000" dirty="0" smtClean="0"/>
              <a:t>CAEAP will be able to align the value gaps with its roadmap to ensure the practices, certification, education, and governance support the unmet customer needs for EA products &amp; services.</a:t>
            </a:r>
          </a:p>
          <a:p>
            <a:pPr lvl="0"/>
            <a:r>
              <a:rPr lang="en-US" sz="2400" dirty="0" smtClean="0"/>
              <a:t>Public:</a:t>
            </a:r>
          </a:p>
          <a:p>
            <a:pPr lvl="1"/>
            <a:r>
              <a:rPr lang="en-US" sz="2000" dirty="0" smtClean="0"/>
              <a:t>Enterprises will be able to understand the need, value, and positioning for EA to augment their own value delivery of products and services.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Program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55146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Program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Developing EA Value Model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CAEAP - 003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August 1</a:t>
                      </a:r>
                      <a:r>
                        <a:rPr kumimoji="0" lang="en-US" sz="11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2009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Sponsor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CAEAP BOD BOT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Director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Program Scope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Design and implement a customer focus framework for capturing and modeling metrics used to model the outcomes for customers and a set of metrics for which to benchmark the products &amp; services delivered by EA practitioners.\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Objectives</a:t>
                      </a:r>
                      <a:endParaRPr kumimoji="0" lang="en-GB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 a customer focus methodology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Define a complete list of jobs performed by an EA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repository of customer outcomes &amp; value metrics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process to prioritize and align the outcomes &amp; metrics with GAPS in CAEAP practices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Institutionalize the customer focus methodology within CAEAP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Develop a licensing program to promote the usage of EA Value metrics &amp; drive revenue for CAEAP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Governance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Establish a steering committee with members from the BOD and Practice Worksttream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 a small team of dedicated trained resources to staff each project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lead will be the Program Director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Steering Committee will approve scope, program objectives, and  project deliverables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(Note:  Each project represents 1 job that will be studied to capture the EA outcomes &amp; value metrics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Q3 2009</a:t>
            </a:r>
          </a:p>
          <a:p>
            <a:pPr lvl="1"/>
            <a:r>
              <a:rPr lang="en-US" sz="2000" dirty="0" smtClean="0"/>
              <a:t>Draft the proposal for the work stream</a:t>
            </a:r>
          </a:p>
          <a:p>
            <a:pPr lvl="1"/>
            <a:r>
              <a:rPr lang="en-US" sz="2000" dirty="0" smtClean="0"/>
              <a:t>Obtain approval from CAEAP leadership</a:t>
            </a:r>
          </a:p>
          <a:p>
            <a:pPr lvl="1"/>
            <a:r>
              <a:rPr lang="en-US" sz="2000" dirty="0" smtClean="0"/>
              <a:t>Build a steering committee for the program</a:t>
            </a:r>
          </a:p>
          <a:p>
            <a:pPr lvl="1"/>
            <a:r>
              <a:rPr lang="en-US" sz="2000" dirty="0" smtClean="0"/>
              <a:t>Secure funding for the first project</a:t>
            </a:r>
          </a:p>
          <a:p>
            <a:pPr lvl="0"/>
            <a:r>
              <a:rPr lang="en-US" sz="2400" dirty="0" smtClean="0"/>
              <a:t>Q4 2009</a:t>
            </a:r>
          </a:p>
          <a:p>
            <a:pPr lvl="1"/>
            <a:r>
              <a:rPr lang="en-US" sz="2000" dirty="0" smtClean="0"/>
              <a:t>Continue securing funding for the project</a:t>
            </a:r>
          </a:p>
          <a:p>
            <a:pPr lvl="1"/>
            <a:r>
              <a:rPr lang="en-US" sz="2000" dirty="0" smtClean="0"/>
              <a:t>Draft resources for the project team</a:t>
            </a:r>
          </a:p>
          <a:p>
            <a:pPr lvl="1"/>
            <a:r>
              <a:rPr lang="en-US" sz="2000" dirty="0" smtClean="0"/>
              <a:t>Finalize project schedule</a:t>
            </a:r>
          </a:p>
          <a:p>
            <a:pPr lvl="1"/>
            <a:r>
              <a:rPr lang="en-US" sz="2000" dirty="0" smtClean="0"/>
              <a:t>Begin work on initial deliverables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Roadmap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 smtClean="0"/>
              <a:t>Q1 2010</a:t>
            </a:r>
          </a:p>
          <a:p>
            <a:pPr lvl="1"/>
            <a:r>
              <a:rPr lang="en-US" sz="2000" dirty="0" smtClean="0"/>
              <a:t>Complete qualitative study for Project 1</a:t>
            </a:r>
          </a:p>
          <a:p>
            <a:pPr lvl="1"/>
            <a:r>
              <a:rPr lang="en-US" sz="2000" dirty="0" smtClean="0"/>
              <a:t>Complete quantitative study for Project 1</a:t>
            </a:r>
          </a:p>
          <a:p>
            <a:pPr lvl="1"/>
            <a:r>
              <a:rPr lang="en-US" sz="2000" dirty="0" smtClean="0"/>
              <a:t>Conduct analysis of Project 1 results</a:t>
            </a:r>
          </a:p>
          <a:p>
            <a:r>
              <a:rPr lang="en-US" sz="2400" dirty="0" smtClean="0"/>
              <a:t>Q2 2010</a:t>
            </a:r>
          </a:p>
          <a:p>
            <a:pPr lvl="1"/>
            <a:r>
              <a:rPr lang="en-US" sz="2000" dirty="0" smtClean="0"/>
              <a:t>Present Project 1 results to CAEAP leadership</a:t>
            </a:r>
          </a:p>
          <a:p>
            <a:pPr lvl="1"/>
            <a:r>
              <a:rPr lang="en-US" sz="2000" dirty="0" smtClean="0"/>
              <a:t>Publish results for Project 1 to Public</a:t>
            </a:r>
          </a:p>
          <a:p>
            <a:pPr lvl="1"/>
            <a:r>
              <a:rPr lang="en-US" sz="2000" dirty="0" smtClean="0"/>
              <a:t>Capture feedback and gauge response</a:t>
            </a:r>
          </a:p>
          <a:p>
            <a:pPr lvl="1"/>
            <a:r>
              <a:rPr lang="en-US" sz="2000" dirty="0" smtClean="0"/>
              <a:t>Review program with Steering Committee for next steps</a:t>
            </a:r>
          </a:p>
          <a:p>
            <a:pPr lvl="1"/>
            <a:r>
              <a:rPr lang="en-US" sz="2000" dirty="0" smtClean="0"/>
              <a:t>Secure funding for additional projects per program</a:t>
            </a:r>
          </a:p>
          <a:p>
            <a:r>
              <a:rPr lang="en-US" sz="2400" dirty="0" smtClean="0"/>
              <a:t>Q3 2010</a:t>
            </a:r>
          </a:p>
          <a:p>
            <a:pPr lvl="1"/>
            <a:r>
              <a:rPr lang="en-US" sz="2000" dirty="0" smtClean="0"/>
              <a:t>Move forward with next project(s)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4830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Jeff Wallk</a:t>
            </a:r>
          </a:p>
          <a:p>
            <a:pPr lvl="1"/>
            <a:r>
              <a:rPr lang="en-US" sz="2000" dirty="0" smtClean="0"/>
              <a:t>Mark Lane</a:t>
            </a:r>
          </a:p>
          <a:p>
            <a:pPr lvl="1"/>
            <a:r>
              <a:rPr lang="en-US" sz="2000" dirty="0" smtClean="0"/>
              <a:t>Greg Black</a:t>
            </a:r>
          </a:p>
          <a:p>
            <a:pPr lvl="1"/>
            <a:r>
              <a:rPr lang="en-US" sz="2000" dirty="0" smtClean="0"/>
              <a:t>Marc </a:t>
            </a:r>
            <a:r>
              <a:rPr lang="en-US" sz="2000" dirty="0" err="1" smtClean="0"/>
              <a:t>Paradis</a:t>
            </a:r>
            <a:endParaRPr lang="en-US" sz="2000" dirty="0" smtClean="0"/>
          </a:p>
          <a:p>
            <a:pPr lvl="1"/>
            <a:r>
              <a:rPr lang="en-US" sz="2000" dirty="0" smtClean="0"/>
              <a:t>Mark </a:t>
            </a:r>
            <a:r>
              <a:rPr lang="en-US" sz="2000" dirty="0" err="1" smtClean="0"/>
              <a:t>Sternberger</a:t>
            </a:r>
            <a:endParaRPr lang="en-US" sz="2000" dirty="0" smtClean="0"/>
          </a:p>
          <a:p>
            <a:pPr lvl="0"/>
            <a:r>
              <a:rPr lang="en-US" sz="2400" dirty="0" smtClean="0"/>
              <a:t>Project Team</a:t>
            </a:r>
          </a:p>
          <a:p>
            <a:pPr lvl="1"/>
            <a:r>
              <a:rPr lang="en-US" sz="2000" dirty="0" smtClean="0"/>
              <a:t>Jeff Wallk    (commitment of 10 hours / week)</a:t>
            </a:r>
          </a:p>
          <a:p>
            <a:pPr lvl="1"/>
            <a:r>
              <a:rPr lang="en-US" sz="2000" dirty="0" smtClean="0"/>
              <a:t>Volunteer 1 (commitment of 6 hours / week)</a:t>
            </a:r>
          </a:p>
          <a:p>
            <a:pPr lvl="1"/>
            <a:r>
              <a:rPr lang="en-US" sz="2000" dirty="0" smtClean="0"/>
              <a:t>Volunteer 2 (commitment of 4 hours / week)</a:t>
            </a:r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Funding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Sell future shares for the licensing for access to the EA value metrics to fund the initial project.</a:t>
            </a:r>
          </a:p>
          <a:p>
            <a:pPr lvl="0"/>
            <a:r>
              <a:rPr lang="en-US" sz="2400" dirty="0" smtClean="0"/>
              <a:t>Initial pricing for licensing of the EA Value Repository has not been set.  However, the value will increase as the data from each project flows in.</a:t>
            </a:r>
          </a:p>
          <a:p>
            <a:pPr lvl="0"/>
            <a:r>
              <a:rPr lang="en-US" sz="2400" dirty="0" smtClean="0"/>
              <a:t>Future shares for access to the repository will be set at:</a:t>
            </a:r>
          </a:p>
          <a:p>
            <a:pPr lvl="1"/>
            <a:r>
              <a:rPr lang="en-US" sz="2000" dirty="0" smtClean="0"/>
              <a:t>$25,000 for enterprise license (3 year access)</a:t>
            </a:r>
          </a:p>
          <a:p>
            <a:r>
              <a:rPr lang="en-US" sz="2400" dirty="0" smtClean="0"/>
              <a:t>Funding for the ongoing program will be established with a more formal licensing model (elaborate further on bullet 3).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62000" y="2209800"/>
            <a:ext cx="7772400" cy="1470025"/>
          </a:xfrm>
        </p:spPr>
        <p:txBody>
          <a:bodyPr/>
          <a:lstStyle/>
          <a:p>
            <a:r>
              <a:rPr lang="en-US" b="1" dirty="0" smtClean="0"/>
              <a:t>Project 1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Define domain model </a:t>
            </a:r>
          </a:p>
          <a:p>
            <a:pPr lvl="0"/>
            <a:r>
              <a:rPr lang="en-US" sz="2400" dirty="0" smtClean="0"/>
              <a:t>Define customer focus methodology</a:t>
            </a:r>
          </a:p>
          <a:p>
            <a:pPr lvl="0"/>
            <a:r>
              <a:rPr lang="en-US" sz="2400" dirty="0" smtClean="0"/>
              <a:t>Define action plan to capture unmet needs</a:t>
            </a:r>
          </a:p>
          <a:p>
            <a:pPr lvl="0"/>
            <a:r>
              <a:rPr lang="en-US" sz="2400" dirty="0" smtClean="0"/>
              <a:t>Begin interviews with key stakeholders</a:t>
            </a:r>
          </a:p>
          <a:p>
            <a:pPr lvl="0"/>
            <a:r>
              <a:rPr lang="en-US" sz="2400" dirty="0" smtClean="0"/>
              <a:t>Complete qualitative analysis</a:t>
            </a:r>
          </a:p>
          <a:p>
            <a:pPr lvl="0"/>
            <a:r>
              <a:rPr lang="en-US" sz="2400" dirty="0" smtClean="0"/>
              <a:t>Draft survey for quantitative analysis</a:t>
            </a:r>
          </a:p>
          <a:p>
            <a:pPr lvl="0"/>
            <a:r>
              <a:rPr lang="en-US" sz="2400" dirty="0" smtClean="0"/>
              <a:t>Conduct survey and capture data </a:t>
            </a:r>
          </a:p>
          <a:p>
            <a:pPr lvl="0"/>
            <a:r>
              <a:rPr lang="en-US" sz="2400" dirty="0" smtClean="0"/>
              <a:t>Present recommendations 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Based on the </a:t>
            </a:r>
            <a:r>
              <a:rPr lang="en-US" sz="2400" b="1" dirty="0" err="1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Strategyn</a:t>
            </a:r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Methodology (see next slides)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What is a Job ?</a:t>
            </a:r>
            <a:endParaRPr lang="en-US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85233"/>
            <a:ext cx="7239000" cy="479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76400"/>
            <a:ext cx="7433408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Model for Relating Jobs &amp; Outcomes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76400"/>
            <a:ext cx="613608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Capturing &amp; Measuring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981200"/>
            <a:ext cx="82470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14400"/>
            <a:ext cx="7391400" cy="503238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Identifying &amp; Prioritizing Opportunities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1166" y="1676400"/>
            <a:ext cx="7029184" cy="496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sz="2400" b="1" dirty="0" smtClean="0"/>
              <a:t>Job of Storing &amp; Retrieving Music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C4A571-B8E2-4EAF-BC3C-919E85F30506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696718"/>
            <a:ext cx="6427787" cy="4856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6590</TotalTime>
  <Words>935</Words>
  <Application>Microsoft Office PowerPoint</Application>
  <PresentationFormat>On-screen Show (4:3)</PresentationFormat>
  <Paragraphs>170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VEG</vt:lpstr>
      <vt:lpstr>Shir Hadash Customer Focus Study</vt:lpstr>
      <vt:lpstr>Outline</vt:lpstr>
      <vt:lpstr>Current State</vt:lpstr>
      <vt:lpstr>Objectives</vt:lpstr>
      <vt:lpstr>Benefits</vt:lpstr>
      <vt:lpstr>Program Charter</vt:lpstr>
      <vt:lpstr>Program Roadmap</vt:lpstr>
      <vt:lpstr>Program Roadmap</vt:lpstr>
      <vt:lpstr>Program Governance</vt:lpstr>
      <vt:lpstr>Staffing Plan</vt:lpstr>
      <vt:lpstr>Funding Plan</vt:lpstr>
      <vt:lpstr>Project 1</vt:lpstr>
      <vt:lpstr>Key Milestones</vt:lpstr>
      <vt:lpstr>What is a Job ?</vt:lpstr>
      <vt:lpstr>What are outcomes ?</vt:lpstr>
      <vt:lpstr>Model for Relating Jobs &amp; Outcomes</vt:lpstr>
      <vt:lpstr>Capturing &amp; Measuring Value</vt:lpstr>
      <vt:lpstr>Identifying &amp; Prioritizing Opportunities</vt:lpstr>
      <vt:lpstr>Example: Job of Storing &amp; Retrieving Music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97</cp:revision>
  <dcterms:created xsi:type="dcterms:W3CDTF">2009-06-09T11:36:35Z</dcterms:created>
  <dcterms:modified xsi:type="dcterms:W3CDTF">2009-09-13T18:56:02Z</dcterms:modified>
</cp:coreProperties>
</file>
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02" r:id="rId1"/>
  </p:sldMasterIdLst>
  <p:notesMasterIdLst>
    <p:notesMasterId r:id="rId19"/>
  </p:notesMasterIdLst>
  <p:handoutMasterIdLst>
    <p:handoutMasterId r:id="rId20"/>
  </p:handoutMasterIdLst>
  <p:sldIdLst>
    <p:sldId id="283" r:id="rId2"/>
    <p:sldId id="258" r:id="rId3"/>
    <p:sldId id="259" r:id="rId4"/>
    <p:sldId id="285" r:id="rId5"/>
    <p:sldId id="286" r:id="rId6"/>
    <p:sldId id="260" r:id="rId7"/>
    <p:sldId id="263" r:id="rId8"/>
    <p:sldId id="262" r:id="rId9"/>
    <p:sldId id="261" r:id="rId10"/>
    <p:sldId id="264" r:id="rId11"/>
    <p:sldId id="266" r:id="rId12"/>
    <p:sldId id="268" r:id="rId13"/>
    <p:sldId id="271" r:id="rId14"/>
    <p:sldId id="276" r:id="rId15"/>
    <p:sldId id="273" r:id="rId16"/>
    <p:sldId id="274" r:id="rId17"/>
    <p:sldId id="284" r:id="rId18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buChar char="•"/>
      <a:defRPr sz="800" b="1" kern="1200">
        <a:solidFill>
          <a:srgbClr val="000000"/>
        </a:solidFill>
        <a:latin typeface="Arial" charset="0"/>
        <a:ea typeface="ＭＳ Ｐゴシック" charset="-128"/>
        <a:cs typeface="+mn-cs"/>
        <a:sym typeface="Arial" charset="0"/>
      </a:defRPr>
    </a:lvl1pPr>
    <a:lvl2pPr marL="319088" indent="138113" algn="ctr" rtl="0" fontAlgn="base">
      <a:spcBef>
        <a:spcPct val="0"/>
      </a:spcBef>
      <a:spcAft>
        <a:spcPct val="0"/>
      </a:spcAft>
      <a:buChar char="•"/>
      <a:defRPr sz="800" b="1" kern="1200">
        <a:solidFill>
          <a:srgbClr val="000000"/>
        </a:solidFill>
        <a:latin typeface="Arial" charset="0"/>
        <a:ea typeface="ＭＳ Ｐゴシック" charset="-128"/>
        <a:cs typeface="+mn-cs"/>
        <a:sym typeface="Arial" charset="0"/>
      </a:defRPr>
    </a:lvl2pPr>
    <a:lvl3pPr marL="639763" indent="274638" algn="ctr" rtl="0" fontAlgn="base">
      <a:spcBef>
        <a:spcPct val="0"/>
      </a:spcBef>
      <a:spcAft>
        <a:spcPct val="0"/>
      </a:spcAft>
      <a:buChar char="•"/>
      <a:defRPr sz="800" b="1" kern="1200">
        <a:solidFill>
          <a:srgbClr val="000000"/>
        </a:solidFill>
        <a:latin typeface="Arial" charset="0"/>
        <a:ea typeface="ＭＳ Ｐゴシック" charset="-128"/>
        <a:cs typeface="+mn-cs"/>
        <a:sym typeface="Arial" charset="0"/>
      </a:defRPr>
    </a:lvl3pPr>
    <a:lvl4pPr marL="962025" indent="409575" algn="ctr" rtl="0" fontAlgn="base">
      <a:spcBef>
        <a:spcPct val="0"/>
      </a:spcBef>
      <a:spcAft>
        <a:spcPct val="0"/>
      </a:spcAft>
      <a:buChar char="•"/>
      <a:defRPr sz="800" b="1" kern="1200">
        <a:solidFill>
          <a:srgbClr val="000000"/>
        </a:solidFill>
        <a:latin typeface="Arial" charset="0"/>
        <a:ea typeface="ＭＳ Ｐゴシック" charset="-128"/>
        <a:cs typeface="+mn-cs"/>
        <a:sym typeface="Arial" charset="0"/>
      </a:defRPr>
    </a:lvl4pPr>
    <a:lvl5pPr marL="1282700" indent="546100" algn="ctr" rtl="0" fontAlgn="base">
      <a:spcBef>
        <a:spcPct val="0"/>
      </a:spcBef>
      <a:spcAft>
        <a:spcPct val="0"/>
      </a:spcAft>
      <a:buChar char="•"/>
      <a:defRPr sz="800" b="1" kern="1200">
        <a:solidFill>
          <a:srgbClr val="000000"/>
        </a:solidFill>
        <a:latin typeface="Arial" charset="0"/>
        <a:ea typeface="ＭＳ Ｐゴシック" charset="-128"/>
        <a:cs typeface="+mn-cs"/>
        <a:sym typeface="Arial" charset="0"/>
      </a:defRPr>
    </a:lvl5pPr>
    <a:lvl6pPr marL="2286000" algn="l" defTabSz="914400" rtl="0" eaLnBrk="1" latinLnBrk="0" hangingPunct="1">
      <a:defRPr sz="800" b="1" kern="1200">
        <a:solidFill>
          <a:srgbClr val="000000"/>
        </a:solidFill>
        <a:latin typeface="Arial" charset="0"/>
        <a:ea typeface="ＭＳ Ｐゴシック" charset="-128"/>
        <a:cs typeface="+mn-cs"/>
        <a:sym typeface="Arial" charset="0"/>
      </a:defRPr>
    </a:lvl6pPr>
    <a:lvl7pPr marL="2743200" algn="l" defTabSz="914400" rtl="0" eaLnBrk="1" latinLnBrk="0" hangingPunct="1">
      <a:defRPr sz="800" b="1" kern="1200">
        <a:solidFill>
          <a:srgbClr val="000000"/>
        </a:solidFill>
        <a:latin typeface="Arial" charset="0"/>
        <a:ea typeface="ＭＳ Ｐゴシック" charset="-128"/>
        <a:cs typeface="+mn-cs"/>
        <a:sym typeface="Arial" charset="0"/>
      </a:defRPr>
    </a:lvl7pPr>
    <a:lvl8pPr marL="3200400" algn="l" defTabSz="914400" rtl="0" eaLnBrk="1" latinLnBrk="0" hangingPunct="1">
      <a:defRPr sz="800" b="1" kern="1200">
        <a:solidFill>
          <a:srgbClr val="000000"/>
        </a:solidFill>
        <a:latin typeface="Arial" charset="0"/>
        <a:ea typeface="ＭＳ Ｐゴシック" charset="-128"/>
        <a:cs typeface="+mn-cs"/>
        <a:sym typeface="Arial" charset="0"/>
      </a:defRPr>
    </a:lvl8pPr>
    <a:lvl9pPr marL="3657600" algn="l" defTabSz="914400" rtl="0" eaLnBrk="1" latinLnBrk="0" hangingPunct="1">
      <a:defRPr sz="800" b="1" kern="1200">
        <a:solidFill>
          <a:srgbClr val="000000"/>
        </a:solidFill>
        <a:latin typeface="Arial" charset="0"/>
        <a:ea typeface="ＭＳ Ｐゴシック" charset="-128"/>
        <a:cs typeface="+mn-cs"/>
        <a:sym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590" autoAdjust="0"/>
    <p:restoredTop sz="94660"/>
  </p:normalViewPr>
  <p:slideViewPr>
    <p:cSldViewPr>
      <p:cViewPr varScale="1">
        <p:scale>
          <a:sx n="120" d="100"/>
          <a:sy n="120" d="100"/>
        </p:scale>
        <p:origin x="22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2874" y="-10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F953B3E-FE0E-4132-8507-9B770972069A}" type="doc">
      <dgm:prSet loTypeId="urn:microsoft.com/office/officeart/2005/8/layout/vProcess5" loCatId="process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7CA238D8-41AA-42D1-A624-A4BE17E3489D}">
      <dgm:prSet phldrT="[Text]"/>
      <dgm:spPr/>
      <dgm:t>
        <a:bodyPr/>
        <a:lstStyle/>
        <a:p>
          <a:r>
            <a:rPr lang="en-US" b="1" dirty="0"/>
            <a:t>Value</a:t>
          </a:r>
        </a:p>
      </dgm:t>
    </dgm:pt>
    <dgm:pt modelId="{6FA72C3A-72F3-40C1-8749-0403B7B19AEC}" type="parTrans" cxnId="{FE37E077-C1FA-4AC5-B890-C36DE75CB9AE}">
      <dgm:prSet/>
      <dgm:spPr/>
      <dgm:t>
        <a:bodyPr/>
        <a:lstStyle/>
        <a:p>
          <a:endParaRPr lang="en-US"/>
        </a:p>
      </dgm:t>
    </dgm:pt>
    <dgm:pt modelId="{1323FBD4-0185-4499-9C77-8B125A9EDECB}" type="sibTrans" cxnId="{FE37E077-C1FA-4AC5-B890-C36DE75CB9AE}">
      <dgm:prSet>
        <dgm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endParaRPr lang="en-US"/>
        </a:p>
      </dgm:t>
    </dgm:pt>
    <dgm:pt modelId="{DBB4C2F7-4009-4772-A287-018D1DFA27A3}">
      <dgm:prSet phldrT="[Text]"/>
      <dgm:spPr/>
      <dgm:t>
        <a:bodyPr/>
        <a:lstStyle/>
        <a:p>
          <a:r>
            <a:rPr lang="en-US" b="1" dirty="0"/>
            <a:t>Quality</a:t>
          </a:r>
        </a:p>
      </dgm:t>
    </dgm:pt>
    <dgm:pt modelId="{36F840AF-7E1B-42F5-9FEA-00725135DC0C}" type="parTrans" cxnId="{44C1A03A-48EE-4CE5-8585-EC265DA22029}">
      <dgm:prSet/>
      <dgm:spPr/>
      <dgm:t>
        <a:bodyPr/>
        <a:lstStyle/>
        <a:p>
          <a:endParaRPr lang="en-US"/>
        </a:p>
      </dgm:t>
    </dgm:pt>
    <dgm:pt modelId="{3EBECECA-EEE9-4671-989E-9D199CD8E4F3}" type="sibTrans" cxnId="{44C1A03A-48EE-4CE5-8585-EC265DA22029}">
      <dgm:prSet>
        <dgm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endParaRPr lang="en-US"/>
        </a:p>
      </dgm:t>
    </dgm:pt>
    <dgm:pt modelId="{797F2B97-E140-44EC-B0A7-251A59CA45CE}">
      <dgm:prSet phldrT="[Text]"/>
      <dgm:spPr/>
      <dgm:t>
        <a:bodyPr/>
        <a:lstStyle/>
        <a:p>
          <a:r>
            <a:rPr lang="en-US" dirty="0"/>
            <a:t>Practitioner-Driven</a:t>
          </a:r>
        </a:p>
      </dgm:t>
    </dgm:pt>
    <dgm:pt modelId="{8D02BC7A-3D51-4B34-9986-C9B1FE3CFFE5}" type="parTrans" cxnId="{3FD6B0BB-80DC-42AB-BEF1-FABF153F6717}">
      <dgm:prSet/>
      <dgm:spPr/>
      <dgm:t>
        <a:bodyPr/>
        <a:lstStyle/>
        <a:p>
          <a:endParaRPr lang="en-US"/>
        </a:p>
      </dgm:t>
    </dgm:pt>
    <dgm:pt modelId="{4215C9C7-68AC-4EC3-8995-A4834E0849E5}" type="sibTrans" cxnId="{3FD6B0BB-80DC-42AB-BEF1-FABF153F6717}">
      <dgm:prSet/>
      <dgm:spPr/>
      <dgm:t>
        <a:bodyPr/>
        <a:lstStyle/>
        <a:p>
          <a:endParaRPr lang="en-US"/>
        </a:p>
      </dgm:t>
    </dgm:pt>
    <dgm:pt modelId="{1D895A9F-66CD-4D6A-87C1-D6070AA2D1F9}">
      <dgm:prSet phldrT="[Text]"/>
      <dgm:spPr/>
      <dgm:t>
        <a:bodyPr/>
        <a:lstStyle/>
        <a:p>
          <a:r>
            <a:rPr lang="en-US" b="1" dirty="0"/>
            <a:t>Results</a:t>
          </a:r>
        </a:p>
      </dgm:t>
    </dgm:pt>
    <dgm:pt modelId="{7AA8497B-C2CC-4C8E-AC5B-345ACBA48BB7}" type="parTrans" cxnId="{FC7A256F-CA42-4098-82B2-7BE13DF4416C}">
      <dgm:prSet/>
      <dgm:spPr/>
      <dgm:t>
        <a:bodyPr/>
        <a:lstStyle/>
        <a:p>
          <a:endParaRPr lang="en-US"/>
        </a:p>
      </dgm:t>
    </dgm:pt>
    <dgm:pt modelId="{EE563ECF-BA11-485C-9105-3B86BDDB9B0B}" type="sibTrans" cxnId="{FC7A256F-CA42-4098-82B2-7BE13DF4416C}">
      <dgm:prSet/>
      <dgm:spPr/>
      <dgm:t>
        <a:bodyPr/>
        <a:lstStyle/>
        <a:p>
          <a:endParaRPr lang="en-US"/>
        </a:p>
      </dgm:t>
    </dgm:pt>
    <dgm:pt modelId="{F8612028-6F88-4858-AC54-F76CAE6CE636}">
      <dgm:prSet phldrT="[Text]"/>
      <dgm:spPr/>
      <dgm:t>
        <a:bodyPr/>
        <a:lstStyle/>
        <a:p>
          <a:r>
            <a:rPr lang="en-US" dirty="0"/>
            <a:t>Provider-Driven</a:t>
          </a:r>
        </a:p>
      </dgm:t>
    </dgm:pt>
    <dgm:pt modelId="{217EE81B-17E9-4ECD-A44B-ECAAC82F554C}" type="parTrans" cxnId="{33939C41-5E32-4666-AB99-99D212C8DF44}">
      <dgm:prSet/>
      <dgm:spPr/>
      <dgm:t>
        <a:bodyPr/>
        <a:lstStyle/>
        <a:p>
          <a:endParaRPr lang="en-US"/>
        </a:p>
      </dgm:t>
    </dgm:pt>
    <dgm:pt modelId="{EBCD7AA3-FFCF-492D-BBCF-DF14AFE4441E}" type="sibTrans" cxnId="{33939C41-5E32-4666-AB99-99D212C8DF44}">
      <dgm:prSet/>
      <dgm:spPr/>
      <dgm:t>
        <a:bodyPr/>
        <a:lstStyle/>
        <a:p>
          <a:endParaRPr lang="en-US"/>
        </a:p>
      </dgm:t>
    </dgm:pt>
    <dgm:pt modelId="{B137D134-E00F-4B03-8649-9260A5728E45}">
      <dgm:prSet phldrT="[Text]"/>
      <dgm:spPr/>
      <dgm:t>
        <a:bodyPr/>
        <a:lstStyle/>
        <a:p>
          <a:r>
            <a:rPr lang="en-US" dirty="0"/>
            <a:t>Patient-Driven</a:t>
          </a:r>
        </a:p>
      </dgm:t>
    </dgm:pt>
    <dgm:pt modelId="{A56E3852-5D08-455E-934F-CC4A209DEBA1}" type="sibTrans" cxnId="{E546E067-D952-4C16-BF55-4CDDE33654ED}">
      <dgm:prSet/>
      <dgm:spPr/>
      <dgm:t>
        <a:bodyPr/>
        <a:lstStyle/>
        <a:p>
          <a:endParaRPr lang="en-US"/>
        </a:p>
      </dgm:t>
    </dgm:pt>
    <dgm:pt modelId="{F18D071C-91F5-4256-9C04-9045C1A99306}" type="parTrans" cxnId="{E546E067-D952-4C16-BF55-4CDDE33654ED}">
      <dgm:prSet/>
      <dgm:spPr/>
      <dgm:t>
        <a:bodyPr/>
        <a:lstStyle/>
        <a:p>
          <a:endParaRPr lang="en-US"/>
        </a:p>
      </dgm:t>
    </dgm:pt>
    <dgm:pt modelId="{1E153542-D7E0-4561-8633-4F9C38EBC364}" type="pres">
      <dgm:prSet presAssocID="{BF953B3E-FE0E-4132-8507-9B770972069A}" presName="outerComposite" presStyleCnt="0">
        <dgm:presLayoutVars>
          <dgm:chMax val="5"/>
          <dgm:dir/>
          <dgm:resizeHandles val="exact"/>
        </dgm:presLayoutVars>
      </dgm:prSet>
      <dgm:spPr/>
    </dgm:pt>
    <dgm:pt modelId="{7C6F8402-BB6D-4E54-A9CD-7AF6DDC9F657}" type="pres">
      <dgm:prSet presAssocID="{BF953B3E-FE0E-4132-8507-9B770972069A}" presName="dummyMaxCanvas" presStyleCnt="0">
        <dgm:presLayoutVars/>
      </dgm:prSet>
      <dgm:spPr/>
    </dgm:pt>
    <dgm:pt modelId="{19112690-9CC1-42CA-92EF-22A5046497D0}" type="pres">
      <dgm:prSet presAssocID="{BF953B3E-FE0E-4132-8507-9B770972069A}" presName="ThreeNodes_1" presStyleLbl="node1" presStyleIdx="0" presStyleCnt="3">
        <dgm:presLayoutVars>
          <dgm:bulletEnabled val="1"/>
        </dgm:presLayoutVars>
      </dgm:prSet>
      <dgm:spPr/>
    </dgm:pt>
    <dgm:pt modelId="{44FCDAAD-01F0-4B5F-AC01-AA624E3EDD7F}" type="pres">
      <dgm:prSet presAssocID="{BF953B3E-FE0E-4132-8507-9B770972069A}" presName="ThreeNodes_2" presStyleLbl="node1" presStyleIdx="1" presStyleCnt="3">
        <dgm:presLayoutVars>
          <dgm:bulletEnabled val="1"/>
        </dgm:presLayoutVars>
      </dgm:prSet>
      <dgm:spPr/>
    </dgm:pt>
    <dgm:pt modelId="{F374B58B-DD19-4846-902F-F2A0A40B53F0}" type="pres">
      <dgm:prSet presAssocID="{BF953B3E-FE0E-4132-8507-9B770972069A}" presName="ThreeNodes_3" presStyleLbl="node1" presStyleIdx="2" presStyleCnt="3">
        <dgm:presLayoutVars>
          <dgm:bulletEnabled val="1"/>
        </dgm:presLayoutVars>
      </dgm:prSet>
      <dgm:spPr/>
    </dgm:pt>
    <dgm:pt modelId="{6A0F8408-68AE-4879-BCBB-6F1D070EBBEC}" type="pres">
      <dgm:prSet presAssocID="{BF953B3E-FE0E-4132-8507-9B770972069A}" presName="ThreeConn_1-2" presStyleLbl="fgAccFollowNode1" presStyleIdx="0" presStyleCnt="2">
        <dgm:presLayoutVars>
          <dgm:bulletEnabled val="1"/>
        </dgm:presLayoutVars>
      </dgm:prSet>
      <dgm:spPr/>
    </dgm:pt>
    <dgm:pt modelId="{BC27DFCF-341C-4832-B707-7562421074B8}" type="pres">
      <dgm:prSet presAssocID="{BF953B3E-FE0E-4132-8507-9B770972069A}" presName="ThreeConn_2-3" presStyleLbl="fgAccFollowNode1" presStyleIdx="1" presStyleCnt="2">
        <dgm:presLayoutVars>
          <dgm:bulletEnabled val="1"/>
        </dgm:presLayoutVars>
      </dgm:prSet>
      <dgm:spPr/>
    </dgm:pt>
    <dgm:pt modelId="{C67EC5E8-DE49-43E0-8D6A-67245C3D29F1}" type="pres">
      <dgm:prSet presAssocID="{BF953B3E-FE0E-4132-8507-9B770972069A}" presName="ThreeNodes_1_text" presStyleLbl="node1" presStyleIdx="2" presStyleCnt="3">
        <dgm:presLayoutVars>
          <dgm:bulletEnabled val="1"/>
        </dgm:presLayoutVars>
      </dgm:prSet>
      <dgm:spPr/>
    </dgm:pt>
    <dgm:pt modelId="{78F0F54D-BDA7-46C0-84B2-112BAAC12E67}" type="pres">
      <dgm:prSet presAssocID="{BF953B3E-FE0E-4132-8507-9B770972069A}" presName="ThreeNodes_2_text" presStyleLbl="node1" presStyleIdx="2" presStyleCnt="3">
        <dgm:presLayoutVars>
          <dgm:bulletEnabled val="1"/>
        </dgm:presLayoutVars>
      </dgm:prSet>
      <dgm:spPr/>
    </dgm:pt>
    <dgm:pt modelId="{55643E70-788A-439F-A22B-D54BB71AE1B4}" type="pres">
      <dgm:prSet presAssocID="{BF953B3E-FE0E-4132-8507-9B770972069A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87865818-BDDA-4894-AC14-FF20E5EDEB6E}" type="presOf" srcId="{797F2B97-E140-44EC-B0A7-251A59CA45CE}" destId="{78F0F54D-BDA7-46C0-84B2-112BAAC12E67}" srcOrd="1" destOrd="1" presId="urn:microsoft.com/office/officeart/2005/8/layout/vProcess5"/>
    <dgm:cxn modelId="{44C1A03A-48EE-4CE5-8585-EC265DA22029}" srcId="{BF953B3E-FE0E-4132-8507-9B770972069A}" destId="{DBB4C2F7-4009-4772-A287-018D1DFA27A3}" srcOrd="1" destOrd="0" parTransId="{36F840AF-7E1B-42F5-9FEA-00725135DC0C}" sibTransId="{3EBECECA-EEE9-4671-989E-9D199CD8E4F3}"/>
    <dgm:cxn modelId="{33939C41-5E32-4666-AB99-99D212C8DF44}" srcId="{1D895A9F-66CD-4D6A-87C1-D6070AA2D1F9}" destId="{F8612028-6F88-4858-AC54-F76CAE6CE636}" srcOrd="0" destOrd="0" parTransId="{217EE81B-17E9-4ECD-A44B-ECAAC82F554C}" sibTransId="{EBCD7AA3-FFCF-492D-BBCF-DF14AFE4441E}"/>
    <dgm:cxn modelId="{A100D246-4654-409B-90DE-70011E0C5EE9}" type="presOf" srcId="{1D895A9F-66CD-4D6A-87C1-D6070AA2D1F9}" destId="{55643E70-788A-439F-A22B-D54BB71AE1B4}" srcOrd="1" destOrd="0" presId="urn:microsoft.com/office/officeart/2005/8/layout/vProcess5"/>
    <dgm:cxn modelId="{9E4B3D65-7867-46DE-984D-9D33B5A89C9B}" type="presOf" srcId="{1323FBD4-0185-4499-9C77-8B125A9EDECB}" destId="{6A0F8408-68AE-4879-BCBB-6F1D070EBBEC}" srcOrd="0" destOrd="0" presId="urn:microsoft.com/office/officeart/2005/8/layout/vProcess5"/>
    <dgm:cxn modelId="{E546E067-D952-4C16-BF55-4CDDE33654ED}" srcId="{7CA238D8-41AA-42D1-A624-A4BE17E3489D}" destId="{B137D134-E00F-4B03-8649-9260A5728E45}" srcOrd="0" destOrd="0" parTransId="{F18D071C-91F5-4256-9C04-9045C1A99306}" sibTransId="{A56E3852-5D08-455E-934F-CC4A209DEBA1}"/>
    <dgm:cxn modelId="{97401368-9CC1-4B46-869A-BFACB2071978}" type="presOf" srcId="{F8612028-6F88-4858-AC54-F76CAE6CE636}" destId="{55643E70-788A-439F-A22B-D54BB71AE1B4}" srcOrd="1" destOrd="1" presId="urn:microsoft.com/office/officeart/2005/8/layout/vProcess5"/>
    <dgm:cxn modelId="{F97A496A-1E42-4619-B712-FA49E8E0FB32}" type="presOf" srcId="{7CA238D8-41AA-42D1-A624-A4BE17E3489D}" destId="{19112690-9CC1-42CA-92EF-22A5046497D0}" srcOrd="0" destOrd="0" presId="urn:microsoft.com/office/officeart/2005/8/layout/vProcess5"/>
    <dgm:cxn modelId="{F9E84F6A-503A-42F0-B977-BE1EE364CC3C}" type="presOf" srcId="{1D895A9F-66CD-4D6A-87C1-D6070AA2D1F9}" destId="{F374B58B-DD19-4846-902F-F2A0A40B53F0}" srcOrd="0" destOrd="0" presId="urn:microsoft.com/office/officeart/2005/8/layout/vProcess5"/>
    <dgm:cxn modelId="{FC7A256F-CA42-4098-82B2-7BE13DF4416C}" srcId="{BF953B3E-FE0E-4132-8507-9B770972069A}" destId="{1D895A9F-66CD-4D6A-87C1-D6070AA2D1F9}" srcOrd="2" destOrd="0" parTransId="{7AA8497B-C2CC-4C8E-AC5B-345ACBA48BB7}" sibTransId="{EE563ECF-BA11-485C-9105-3B86BDDB9B0B}"/>
    <dgm:cxn modelId="{5A4F3D74-1B65-4C6D-8C66-829354959ABF}" type="presOf" srcId="{BF953B3E-FE0E-4132-8507-9B770972069A}" destId="{1E153542-D7E0-4561-8633-4F9C38EBC364}" srcOrd="0" destOrd="0" presId="urn:microsoft.com/office/officeart/2005/8/layout/vProcess5"/>
    <dgm:cxn modelId="{FE37E077-C1FA-4AC5-B890-C36DE75CB9AE}" srcId="{BF953B3E-FE0E-4132-8507-9B770972069A}" destId="{7CA238D8-41AA-42D1-A624-A4BE17E3489D}" srcOrd="0" destOrd="0" parTransId="{6FA72C3A-72F3-40C1-8749-0403B7B19AEC}" sibTransId="{1323FBD4-0185-4499-9C77-8B125A9EDECB}"/>
    <dgm:cxn modelId="{173B5D9E-620E-4448-8430-88D26E18F9DE}" type="presOf" srcId="{DBB4C2F7-4009-4772-A287-018D1DFA27A3}" destId="{78F0F54D-BDA7-46C0-84B2-112BAAC12E67}" srcOrd="1" destOrd="0" presId="urn:microsoft.com/office/officeart/2005/8/layout/vProcess5"/>
    <dgm:cxn modelId="{731BCE9F-5CF2-4AE3-9513-2812FD4ED712}" type="presOf" srcId="{3EBECECA-EEE9-4671-989E-9D199CD8E4F3}" destId="{BC27DFCF-341C-4832-B707-7562421074B8}" srcOrd="0" destOrd="0" presId="urn:microsoft.com/office/officeart/2005/8/layout/vProcess5"/>
    <dgm:cxn modelId="{A3280FA3-4726-4059-BF42-5FD5ABF12655}" type="presOf" srcId="{F8612028-6F88-4858-AC54-F76CAE6CE636}" destId="{F374B58B-DD19-4846-902F-F2A0A40B53F0}" srcOrd="0" destOrd="1" presId="urn:microsoft.com/office/officeart/2005/8/layout/vProcess5"/>
    <dgm:cxn modelId="{3FD6B0BB-80DC-42AB-BEF1-FABF153F6717}" srcId="{DBB4C2F7-4009-4772-A287-018D1DFA27A3}" destId="{797F2B97-E140-44EC-B0A7-251A59CA45CE}" srcOrd="0" destOrd="0" parTransId="{8D02BC7A-3D51-4B34-9986-C9B1FE3CFFE5}" sibTransId="{4215C9C7-68AC-4EC3-8995-A4834E0849E5}"/>
    <dgm:cxn modelId="{8F8183BF-8B88-4B8D-803F-D7F900E37297}" type="presOf" srcId="{DBB4C2F7-4009-4772-A287-018D1DFA27A3}" destId="{44FCDAAD-01F0-4B5F-AC01-AA624E3EDD7F}" srcOrd="0" destOrd="0" presId="urn:microsoft.com/office/officeart/2005/8/layout/vProcess5"/>
    <dgm:cxn modelId="{76AAAAE4-F669-4258-A904-113B696840DB}" type="presOf" srcId="{B137D134-E00F-4B03-8649-9260A5728E45}" destId="{19112690-9CC1-42CA-92EF-22A5046497D0}" srcOrd="0" destOrd="1" presId="urn:microsoft.com/office/officeart/2005/8/layout/vProcess5"/>
    <dgm:cxn modelId="{969F60E9-399F-4721-811C-CFDAFBEEC567}" type="presOf" srcId="{B137D134-E00F-4B03-8649-9260A5728E45}" destId="{C67EC5E8-DE49-43E0-8D6A-67245C3D29F1}" srcOrd="1" destOrd="1" presId="urn:microsoft.com/office/officeart/2005/8/layout/vProcess5"/>
    <dgm:cxn modelId="{FF9EE5F1-4E31-42B8-BD1B-988B7FAE156D}" type="presOf" srcId="{797F2B97-E140-44EC-B0A7-251A59CA45CE}" destId="{44FCDAAD-01F0-4B5F-AC01-AA624E3EDD7F}" srcOrd="0" destOrd="1" presId="urn:microsoft.com/office/officeart/2005/8/layout/vProcess5"/>
    <dgm:cxn modelId="{7E0227FC-4359-4C07-8214-E68641270586}" type="presOf" srcId="{7CA238D8-41AA-42D1-A624-A4BE17E3489D}" destId="{C67EC5E8-DE49-43E0-8D6A-67245C3D29F1}" srcOrd="1" destOrd="0" presId="urn:microsoft.com/office/officeart/2005/8/layout/vProcess5"/>
    <dgm:cxn modelId="{E901AA8A-0F65-45DC-A2F6-0EE385B1D20D}" type="presParOf" srcId="{1E153542-D7E0-4561-8633-4F9C38EBC364}" destId="{7C6F8402-BB6D-4E54-A9CD-7AF6DDC9F657}" srcOrd="0" destOrd="0" presId="urn:microsoft.com/office/officeart/2005/8/layout/vProcess5"/>
    <dgm:cxn modelId="{A2A5C3DC-1495-4C03-AC16-55468342A75D}" type="presParOf" srcId="{1E153542-D7E0-4561-8633-4F9C38EBC364}" destId="{19112690-9CC1-42CA-92EF-22A5046497D0}" srcOrd="1" destOrd="0" presId="urn:microsoft.com/office/officeart/2005/8/layout/vProcess5"/>
    <dgm:cxn modelId="{D09C5166-B240-4F92-B01B-C2D2D7418FF4}" type="presParOf" srcId="{1E153542-D7E0-4561-8633-4F9C38EBC364}" destId="{44FCDAAD-01F0-4B5F-AC01-AA624E3EDD7F}" srcOrd="2" destOrd="0" presId="urn:microsoft.com/office/officeart/2005/8/layout/vProcess5"/>
    <dgm:cxn modelId="{C7F0D368-08B9-4640-A9C7-8E621EEA40D2}" type="presParOf" srcId="{1E153542-D7E0-4561-8633-4F9C38EBC364}" destId="{F374B58B-DD19-4846-902F-F2A0A40B53F0}" srcOrd="3" destOrd="0" presId="urn:microsoft.com/office/officeart/2005/8/layout/vProcess5"/>
    <dgm:cxn modelId="{6232EABD-F989-458B-B70E-EE19AB0398E7}" type="presParOf" srcId="{1E153542-D7E0-4561-8633-4F9C38EBC364}" destId="{6A0F8408-68AE-4879-BCBB-6F1D070EBBEC}" srcOrd="4" destOrd="0" presId="urn:microsoft.com/office/officeart/2005/8/layout/vProcess5"/>
    <dgm:cxn modelId="{A69B442C-0BD6-4B56-89D2-1804C4452C69}" type="presParOf" srcId="{1E153542-D7E0-4561-8633-4F9C38EBC364}" destId="{BC27DFCF-341C-4832-B707-7562421074B8}" srcOrd="5" destOrd="0" presId="urn:microsoft.com/office/officeart/2005/8/layout/vProcess5"/>
    <dgm:cxn modelId="{C2D2757A-C3C9-486D-BF3A-24A6CC6F92A2}" type="presParOf" srcId="{1E153542-D7E0-4561-8633-4F9C38EBC364}" destId="{C67EC5E8-DE49-43E0-8D6A-67245C3D29F1}" srcOrd="6" destOrd="0" presId="urn:microsoft.com/office/officeart/2005/8/layout/vProcess5"/>
    <dgm:cxn modelId="{BF34F124-8C5A-4898-9FDD-DE81493AC9E5}" type="presParOf" srcId="{1E153542-D7E0-4561-8633-4F9C38EBC364}" destId="{78F0F54D-BDA7-46C0-84B2-112BAAC12E67}" srcOrd="7" destOrd="0" presId="urn:microsoft.com/office/officeart/2005/8/layout/vProcess5"/>
    <dgm:cxn modelId="{AB4A6EAE-7A5B-4AC5-B19B-FE987777A098}" type="presParOf" srcId="{1E153542-D7E0-4561-8633-4F9C38EBC364}" destId="{55643E70-788A-439F-A22B-D54BB71AE1B4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20769C5-73DC-4E8A-913F-24C08F2848CC}" type="doc">
      <dgm:prSet loTypeId="urn:microsoft.com/office/officeart/2005/8/layout/funnel1" loCatId="relationship" qsTypeId="urn:microsoft.com/office/officeart/2005/8/quickstyle/3d2#5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AE624CA-334A-4EB5-BD8E-55849449CB58}">
      <dgm:prSet phldrT="[Text]" custT="1"/>
      <dgm:spPr/>
      <dgm:t>
        <a:bodyPr/>
        <a:lstStyle/>
        <a:p>
          <a:r>
            <a:rPr lang="en-US" sz="1050" b="1" dirty="0"/>
            <a:t>Technology</a:t>
          </a:r>
        </a:p>
      </dgm:t>
    </dgm:pt>
    <dgm:pt modelId="{266A8274-3F4A-4440-B921-C6DE3F6B873C}" type="parTrans" cxnId="{0AB85BF0-1CEA-40C6-9CCA-88179EFB89BB}">
      <dgm:prSet/>
      <dgm:spPr/>
      <dgm:t>
        <a:bodyPr/>
        <a:lstStyle/>
        <a:p>
          <a:endParaRPr lang="en-US" b="1"/>
        </a:p>
      </dgm:t>
    </dgm:pt>
    <dgm:pt modelId="{4C230F2A-173C-40BF-A4C2-7E5B13B46B9A}" type="sibTrans" cxnId="{0AB85BF0-1CEA-40C6-9CCA-88179EFB89BB}">
      <dgm:prSet/>
      <dgm:spPr/>
      <dgm:t>
        <a:bodyPr/>
        <a:lstStyle/>
        <a:p>
          <a:endParaRPr lang="en-US" b="1"/>
        </a:p>
      </dgm:t>
    </dgm:pt>
    <dgm:pt modelId="{42874977-2580-429E-9A3F-5B0A5A2948AF}">
      <dgm:prSet phldrT="[Text]" custT="1"/>
      <dgm:spPr/>
      <dgm:t>
        <a:bodyPr/>
        <a:lstStyle/>
        <a:p>
          <a:r>
            <a:rPr lang="en-US" sz="1050" b="1" dirty="0"/>
            <a:t>Ideas</a:t>
          </a:r>
        </a:p>
      </dgm:t>
    </dgm:pt>
    <dgm:pt modelId="{877779FA-F1F3-4080-8170-6F66203C1ADC}" type="parTrans" cxnId="{FAAECAC7-2CFC-4F19-8C5D-6E4D71D6E87D}">
      <dgm:prSet/>
      <dgm:spPr/>
      <dgm:t>
        <a:bodyPr/>
        <a:lstStyle/>
        <a:p>
          <a:endParaRPr lang="en-US" b="1"/>
        </a:p>
      </dgm:t>
    </dgm:pt>
    <dgm:pt modelId="{A81BCB58-7697-467D-9C3B-965DA2A1B17C}" type="sibTrans" cxnId="{FAAECAC7-2CFC-4F19-8C5D-6E4D71D6E87D}">
      <dgm:prSet/>
      <dgm:spPr/>
      <dgm:t>
        <a:bodyPr/>
        <a:lstStyle/>
        <a:p>
          <a:endParaRPr lang="en-US" b="1"/>
        </a:p>
      </dgm:t>
    </dgm:pt>
    <dgm:pt modelId="{973D7B39-D5D2-4B89-A3E7-1C0B9FD794DD}">
      <dgm:prSet phldrT="[Text]"/>
      <dgm:spPr/>
      <dgm:t>
        <a:bodyPr/>
        <a:lstStyle/>
        <a:p>
          <a:r>
            <a:rPr lang="en-US" b="1" dirty="0"/>
            <a:t>Resources</a:t>
          </a:r>
        </a:p>
      </dgm:t>
    </dgm:pt>
    <dgm:pt modelId="{78954B27-6FCF-43C1-85B8-D3D3416E87FB}" type="parTrans" cxnId="{7321EFB7-9943-4AB2-A514-37083402F7F9}">
      <dgm:prSet/>
      <dgm:spPr/>
      <dgm:t>
        <a:bodyPr/>
        <a:lstStyle/>
        <a:p>
          <a:endParaRPr lang="en-US" b="1"/>
        </a:p>
      </dgm:t>
    </dgm:pt>
    <dgm:pt modelId="{5CD25503-0F80-4BCC-9AA0-B017F228E510}" type="sibTrans" cxnId="{7321EFB7-9943-4AB2-A514-37083402F7F9}">
      <dgm:prSet/>
      <dgm:spPr/>
      <dgm:t>
        <a:bodyPr/>
        <a:lstStyle/>
        <a:p>
          <a:endParaRPr lang="en-US" b="1"/>
        </a:p>
      </dgm:t>
    </dgm:pt>
    <dgm:pt modelId="{39749F21-8792-4349-A6A7-BF01EB94F789}">
      <dgm:prSet phldrT="[Text]"/>
      <dgm:spPr/>
      <dgm:t>
        <a:bodyPr/>
        <a:lstStyle/>
        <a:p>
          <a:r>
            <a:rPr lang="en-US" b="1" dirty="0">
              <a:solidFill>
                <a:schemeClr val="tx2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rPr>
            <a:t>Innovation</a:t>
          </a:r>
        </a:p>
      </dgm:t>
    </dgm:pt>
    <dgm:pt modelId="{0D7C5BC1-381F-4F7F-B459-EC668E257A76}" type="parTrans" cxnId="{61A90DDC-A775-406A-BC0A-28A4EA596504}">
      <dgm:prSet/>
      <dgm:spPr/>
      <dgm:t>
        <a:bodyPr/>
        <a:lstStyle/>
        <a:p>
          <a:endParaRPr lang="en-US" b="1"/>
        </a:p>
      </dgm:t>
    </dgm:pt>
    <dgm:pt modelId="{9548677D-661F-4408-85F7-A8238D4F15D7}" type="sibTrans" cxnId="{61A90DDC-A775-406A-BC0A-28A4EA596504}">
      <dgm:prSet/>
      <dgm:spPr/>
      <dgm:t>
        <a:bodyPr/>
        <a:lstStyle/>
        <a:p>
          <a:endParaRPr lang="en-US" b="1"/>
        </a:p>
      </dgm:t>
    </dgm:pt>
    <dgm:pt modelId="{D7B10E75-58CC-4807-BD47-EBDD0F301C5F}" type="pres">
      <dgm:prSet presAssocID="{E20769C5-73DC-4E8A-913F-24C08F2848CC}" presName="Name0" presStyleCnt="0">
        <dgm:presLayoutVars>
          <dgm:chMax val="4"/>
          <dgm:resizeHandles val="exact"/>
        </dgm:presLayoutVars>
      </dgm:prSet>
      <dgm:spPr/>
    </dgm:pt>
    <dgm:pt modelId="{E1C58007-ADFE-400C-A7E7-0C16929F4834}" type="pres">
      <dgm:prSet presAssocID="{E20769C5-73DC-4E8A-913F-24C08F2848CC}" presName="ellipse" presStyleLbl="trBgShp" presStyleIdx="0" presStyleCnt="1"/>
      <dgm:spPr/>
    </dgm:pt>
    <dgm:pt modelId="{BE474BB7-A5E2-4490-A567-03B382957073}" type="pres">
      <dgm:prSet presAssocID="{E20769C5-73DC-4E8A-913F-24C08F2848CC}" presName="arrow1" presStyleLbl="fgShp" presStyleIdx="0" presStyleCnt="1" custLinFactNeighborX="-12222" custLinFactNeighborY="86714"/>
      <dgm:spPr>
        <a:solidFill>
          <a:schemeClr val="bg2">
            <a:lumMod val="50000"/>
          </a:schemeClr>
        </a:solidFill>
      </dgm:spPr>
    </dgm:pt>
    <dgm:pt modelId="{0B61870B-E2AE-47B9-90BE-64D52B77842D}" type="pres">
      <dgm:prSet presAssocID="{E20769C5-73DC-4E8A-913F-24C08F2848CC}" presName="rectangle" presStyleLbl="revTx" presStyleIdx="0" presStyleCnt="1" custScaleX="70370" custLinFactNeighborX="-1852" custLinFactNeighborY="51729">
        <dgm:presLayoutVars>
          <dgm:bulletEnabled val="1"/>
        </dgm:presLayoutVars>
      </dgm:prSet>
      <dgm:spPr/>
    </dgm:pt>
    <dgm:pt modelId="{3260B18C-0F12-415C-B2B5-B0D612D38936}" type="pres">
      <dgm:prSet presAssocID="{42874977-2580-429E-9A3F-5B0A5A2948AF}" presName="item1" presStyleLbl="node1" presStyleIdx="0" presStyleCnt="3" custScaleX="147013" custScaleY="103048" custLinFactNeighborX="-20888">
        <dgm:presLayoutVars>
          <dgm:bulletEnabled val="1"/>
        </dgm:presLayoutVars>
      </dgm:prSet>
      <dgm:spPr/>
    </dgm:pt>
    <dgm:pt modelId="{F96B2562-BEBF-42CE-9FF0-1BBD38426426}" type="pres">
      <dgm:prSet presAssocID="{973D7B39-D5D2-4B89-A3E7-1C0B9FD794DD}" presName="item2" presStyleLbl="node1" presStyleIdx="1" presStyleCnt="3" custScaleX="125185" custScaleY="102179" custLinFactNeighborX="-14816">
        <dgm:presLayoutVars>
          <dgm:bulletEnabled val="1"/>
        </dgm:presLayoutVars>
      </dgm:prSet>
      <dgm:spPr/>
    </dgm:pt>
    <dgm:pt modelId="{1700B4C8-12E4-4D00-876C-94377F786E85}" type="pres">
      <dgm:prSet presAssocID="{39749F21-8792-4349-A6A7-BF01EB94F789}" presName="item3" presStyleLbl="node1" presStyleIdx="2" presStyleCnt="3" custScaleX="125185" custScaleY="102179" custLinFactNeighborX="-14816">
        <dgm:presLayoutVars>
          <dgm:bulletEnabled val="1"/>
        </dgm:presLayoutVars>
      </dgm:prSet>
      <dgm:spPr/>
    </dgm:pt>
    <dgm:pt modelId="{CDFE8F55-FE62-4CE9-AB0C-1431255D3302}" type="pres">
      <dgm:prSet presAssocID="{E20769C5-73DC-4E8A-913F-24C08F2848CC}" presName="funnel" presStyleLbl="trAlignAcc1" presStyleIdx="0" presStyleCnt="1" custScaleY="114285" custLinFactNeighborX="-2381" custLinFactNeighborY="-231"/>
      <dgm:spPr/>
    </dgm:pt>
  </dgm:ptLst>
  <dgm:cxnLst>
    <dgm:cxn modelId="{5B2A9A3C-87A9-4DA5-82DA-B10F00C832A5}" type="presOf" srcId="{973D7B39-D5D2-4B89-A3E7-1C0B9FD794DD}" destId="{3260B18C-0F12-415C-B2B5-B0D612D38936}" srcOrd="0" destOrd="0" presId="urn:microsoft.com/office/officeart/2005/8/layout/funnel1"/>
    <dgm:cxn modelId="{3DE32D3F-1626-4303-B698-83C0BE34096B}" type="presOf" srcId="{E20769C5-73DC-4E8A-913F-24C08F2848CC}" destId="{D7B10E75-58CC-4807-BD47-EBDD0F301C5F}" srcOrd="0" destOrd="0" presId="urn:microsoft.com/office/officeart/2005/8/layout/funnel1"/>
    <dgm:cxn modelId="{58674CAE-D621-42E1-B737-852527C6B949}" type="presOf" srcId="{CAE624CA-334A-4EB5-BD8E-55849449CB58}" destId="{1700B4C8-12E4-4D00-876C-94377F786E85}" srcOrd="0" destOrd="0" presId="urn:microsoft.com/office/officeart/2005/8/layout/funnel1"/>
    <dgm:cxn modelId="{7321EFB7-9943-4AB2-A514-37083402F7F9}" srcId="{E20769C5-73DC-4E8A-913F-24C08F2848CC}" destId="{973D7B39-D5D2-4B89-A3E7-1C0B9FD794DD}" srcOrd="2" destOrd="0" parTransId="{78954B27-6FCF-43C1-85B8-D3D3416E87FB}" sibTransId="{5CD25503-0F80-4BCC-9AA0-B017F228E510}"/>
    <dgm:cxn modelId="{FAAECAC7-2CFC-4F19-8C5D-6E4D71D6E87D}" srcId="{E20769C5-73DC-4E8A-913F-24C08F2848CC}" destId="{42874977-2580-429E-9A3F-5B0A5A2948AF}" srcOrd="1" destOrd="0" parTransId="{877779FA-F1F3-4080-8170-6F66203C1ADC}" sibTransId="{A81BCB58-7697-467D-9C3B-965DA2A1B17C}"/>
    <dgm:cxn modelId="{ECC74AD3-8785-4C6E-A4E5-2BD166B59511}" type="presOf" srcId="{42874977-2580-429E-9A3F-5B0A5A2948AF}" destId="{F96B2562-BEBF-42CE-9FF0-1BBD38426426}" srcOrd="0" destOrd="0" presId="urn:microsoft.com/office/officeart/2005/8/layout/funnel1"/>
    <dgm:cxn modelId="{61A90DDC-A775-406A-BC0A-28A4EA596504}" srcId="{E20769C5-73DC-4E8A-913F-24C08F2848CC}" destId="{39749F21-8792-4349-A6A7-BF01EB94F789}" srcOrd="3" destOrd="0" parTransId="{0D7C5BC1-381F-4F7F-B459-EC668E257A76}" sibTransId="{9548677D-661F-4408-85F7-A8238D4F15D7}"/>
    <dgm:cxn modelId="{19D82CE6-D630-421F-8F02-9CD0A715698A}" type="presOf" srcId="{39749F21-8792-4349-A6A7-BF01EB94F789}" destId="{0B61870B-E2AE-47B9-90BE-64D52B77842D}" srcOrd="0" destOrd="0" presId="urn:microsoft.com/office/officeart/2005/8/layout/funnel1"/>
    <dgm:cxn modelId="{0AB85BF0-1CEA-40C6-9CCA-88179EFB89BB}" srcId="{E20769C5-73DC-4E8A-913F-24C08F2848CC}" destId="{CAE624CA-334A-4EB5-BD8E-55849449CB58}" srcOrd="0" destOrd="0" parTransId="{266A8274-3F4A-4440-B921-C6DE3F6B873C}" sibTransId="{4C230F2A-173C-40BF-A4C2-7E5B13B46B9A}"/>
    <dgm:cxn modelId="{8B5B5923-7CBB-4646-9341-5327389C8121}" type="presParOf" srcId="{D7B10E75-58CC-4807-BD47-EBDD0F301C5F}" destId="{E1C58007-ADFE-400C-A7E7-0C16929F4834}" srcOrd="0" destOrd="0" presId="urn:microsoft.com/office/officeart/2005/8/layout/funnel1"/>
    <dgm:cxn modelId="{0D3B1025-3BEC-4317-8935-CA4F3BC2C2E1}" type="presParOf" srcId="{D7B10E75-58CC-4807-BD47-EBDD0F301C5F}" destId="{BE474BB7-A5E2-4490-A567-03B382957073}" srcOrd="1" destOrd="0" presId="urn:microsoft.com/office/officeart/2005/8/layout/funnel1"/>
    <dgm:cxn modelId="{97D5EDD7-E412-4A1F-BD3F-56F9A82C8C80}" type="presParOf" srcId="{D7B10E75-58CC-4807-BD47-EBDD0F301C5F}" destId="{0B61870B-E2AE-47B9-90BE-64D52B77842D}" srcOrd="2" destOrd="0" presId="urn:microsoft.com/office/officeart/2005/8/layout/funnel1"/>
    <dgm:cxn modelId="{3167C9CD-2B26-4E4A-BF58-006E135C311E}" type="presParOf" srcId="{D7B10E75-58CC-4807-BD47-EBDD0F301C5F}" destId="{3260B18C-0F12-415C-B2B5-B0D612D38936}" srcOrd="3" destOrd="0" presId="urn:microsoft.com/office/officeart/2005/8/layout/funnel1"/>
    <dgm:cxn modelId="{CFB1F51F-15E4-4CD4-B974-616F4E118548}" type="presParOf" srcId="{D7B10E75-58CC-4807-BD47-EBDD0F301C5F}" destId="{F96B2562-BEBF-42CE-9FF0-1BBD38426426}" srcOrd="4" destOrd="0" presId="urn:microsoft.com/office/officeart/2005/8/layout/funnel1"/>
    <dgm:cxn modelId="{F71AB4F8-B302-4D4E-AEB8-2D2229E1561F}" type="presParOf" srcId="{D7B10E75-58CC-4807-BD47-EBDD0F301C5F}" destId="{1700B4C8-12E4-4D00-876C-94377F786E85}" srcOrd="5" destOrd="0" presId="urn:microsoft.com/office/officeart/2005/8/layout/funnel1"/>
    <dgm:cxn modelId="{DAD1A2C4-698E-44C1-800C-01769B43B8C0}" type="presParOf" srcId="{D7B10E75-58CC-4807-BD47-EBDD0F301C5F}" destId="{CDFE8F55-FE62-4CE9-AB0C-1431255D3302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112690-9CC1-42CA-92EF-22A5046497D0}">
      <dsp:nvSpPr>
        <dsp:cNvPr id="0" name=""/>
        <dsp:cNvSpPr/>
      </dsp:nvSpPr>
      <dsp:spPr>
        <a:xfrm>
          <a:off x="0" y="0"/>
          <a:ext cx="5181600" cy="121920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kern="1200" dirty="0"/>
            <a:t>Value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Patient-Driven</a:t>
          </a:r>
        </a:p>
      </dsp:txBody>
      <dsp:txXfrm>
        <a:off x="35709" y="35709"/>
        <a:ext cx="3865988" cy="1147782"/>
      </dsp:txXfrm>
    </dsp:sp>
    <dsp:sp modelId="{44FCDAAD-01F0-4B5F-AC01-AA624E3EDD7F}">
      <dsp:nvSpPr>
        <dsp:cNvPr id="0" name=""/>
        <dsp:cNvSpPr/>
      </dsp:nvSpPr>
      <dsp:spPr>
        <a:xfrm>
          <a:off x="457199" y="1422399"/>
          <a:ext cx="5181600" cy="121920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kern="1200" dirty="0"/>
            <a:t>Quality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Practitioner-Driven</a:t>
          </a:r>
        </a:p>
      </dsp:txBody>
      <dsp:txXfrm>
        <a:off x="492908" y="1458108"/>
        <a:ext cx="3860502" cy="1147782"/>
      </dsp:txXfrm>
    </dsp:sp>
    <dsp:sp modelId="{F374B58B-DD19-4846-902F-F2A0A40B53F0}">
      <dsp:nvSpPr>
        <dsp:cNvPr id="0" name=""/>
        <dsp:cNvSpPr/>
      </dsp:nvSpPr>
      <dsp:spPr>
        <a:xfrm>
          <a:off x="914399" y="2844799"/>
          <a:ext cx="5181600" cy="121920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kern="1200" dirty="0"/>
            <a:t>Results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Provider-Driven</a:t>
          </a:r>
        </a:p>
      </dsp:txBody>
      <dsp:txXfrm>
        <a:off x="950108" y="2880508"/>
        <a:ext cx="3860502" cy="1147782"/>
      </dsp:txXfrm>
    </dsp:sp>
    <dsp:sp modelId="{6A0F8408-68AE-4879-BCBB-6F1D070EBBEC}">
      <dsp:nvSpPr>
        <dsp:cNvPr id="0" name=""/>
        <dsp:cNvSpPr/>
      </dsp:nvSpPr>
      <dsp:spPr>
        <a:xfrm>
          <a:off x="4389120" y="924560"/>
          <a:ext cx="792480" cy="792480"/>
        </a:xfrm>
        <a:prstGeom prst="downArrow">
          <a:avLst>
            <a:gd name="adj1" fmla="val 55000"/>
            <a:gd name="adj2" fmla="val 45000"/>
          </a:avLst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hemeClr val="accent3"/>
        </a:lnRef>
        <a:fillRef idx="3">
          <a:schemeClr val="accent3"/>
        </a:fillRef>
        <a:effectRef idx="3">
          <a:schemeClr val="accent3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4567428" y="924560"/>
        <a:ext cx="435864" cy="596341"/>
      </dsp:txXfrm>
    </dsp:sp>
    <dsp:sp modelId="{BC27DFCF-341C-4832-B707-7562421074B8}">
      <dsp:nvSpPr>
        <dsp:cNvPr id="0" name=""/>
        <dsp:cNvSpPr/>
      </dsp:nvSpPr>
      <dsp:spPr>
        <a:xfrm>
          <a:off x="4846320" y="2338832"/>
          <a:ext cx="792480" cy="792480"/>
        </a:xfrm>
        <a:prstGeom prst="downArrow">
          <a:avLst>
            <a:gd name="adj1" fmla="val 55000"/>
            <a:gd name="adj2" fmla="val 45000"/>
          </a:avLst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hemeClr val="accent3"/>
        </a:lnRef>
        <a:fillRef idx="3">
          <a:schemeClr val="accent3"/>
        </a:fillRef>
        <a:effectRef idx="3">
          <a:schemeClr val="accent3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5024628" y="2338832"/>
        <a:ext cx="435864" cy="59634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C58007-ADFE-400C-A7E7-0C16929F4834}">
      <dsp:nvSpPr>
        <dsp:cNvPr id="0" name=""/>
        <dsp:cNvSpPr/>
      </dsp:nvSpPr>
      <dsp:spPr>
        <a:xfrm>
          <a:off x="605218" y="700719"/>
          <a:ext cx="2211705" cy="768096"/>
        </a:xfrm>
        <a:prstGeom prst="ellipse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52400" prstMaterial="matte"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474BB7-A5E2-4490-A567-03B382957073}">
      <dsp:nvSpPr>
        <dsp:cNvPr id="0" name=""/>
        <dsp:cNvSpPr/>
      </dsp:nvSpPr>
      <dsp:spPr>
        <a:xfrm>
          <a:off x="1447800" y="2819399"/>
          <a:ext cx="428625" cy="274320"/>
        </a:xfrm>
        <a:prstGeom prst="downArrow">
          <a:avLst/>
        </a:prstGeom>
        <a:solidFill>
          <a:schemeClr val="bg2">
            <a:lumMod val="5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B61870B-E2AE-47B9-90BE-64D52B77842D}">
      <dsp:nvSpPr>
        <dsp:cNvPr id="0" name=""/>
        <dsp:cNvSpPr/>
      </dsp:nvSpPr>
      <dsp:spPr>
        <a:xfrm>
          <a:off x="952500" y="3067049"/>
          <a:ext cx="1447792" cy="514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tx2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rPr>
            <a:t>Innovation</a:t>
          </a:r>
        </a:p>
      </dsp:txBody>
      <dsp:txXfrm>
        <a:off x="952500" y="3067049"/>
        <a:ext cx="1447792" cy="514350"/>
      </dsp:txXfrm>
    </dsp:sp>
    <dsp:sp modelId="{3260B18C-0F12-415C-B2B5-B0D612D38936}">
      <dsp:nvSpPr>
        <dsp:cNvPr id="0" name=""/>
        <dsp:cNvSpPr/>
      </dsp:nvSpPr>
      <dsp:spPr>
        <a:xfrm>
          <a:off x="1066804" y="1516378"/>
          <a:ext cx="1134242" cy="795041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/>
            <a:t>Resources</a:t>
          </a:r>
        </a:p>
      </dsp:txBody>
      <dsp:txXfrm>
        <a:off x="1232910" y="1632809"/>
        <a:ext cx="802030" cy="562179"/>
      </dsp:txXfrm>
    </dsp:sp>
    <dsp:sp modelId="{F96B2562-BEBF-42CE-9FF0-1BBD38426426}">
      <dsp:nvSpPr>
        <dsp:cNvPr id="0" name=""/>
        <dsp:cNvSpPr/>
      </dsp:nvSpPr>
      <dsp:spPr>
        <a:xfrm>
          <a:off x="645786" y="940915"/>
          <a:ext cx="965833" cy="788336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b="1" kern="1200" dirty="0"/>
            <a:t>Ideas</a:t>
          </a:r>
        </a:p>
      </dsp:txBody>
      <dsp:txXfrm>
        <a:off x="787229" y="1056364"/>
        <a:ext cx="682947" cy="557438"/>
      </dsp:txXfrm>
    </dsp:sp>
    <dsp:sp modelId="{1700B4C8-12E4-4D00-876C-94377F786E85}">
      <dsp:nvSpPr>
        <dsp:cNvPr id="0" name=""/>
        <dsp:cNvSpPr/>
      </dsp:nvSpPr>
      <dsp:spPr>
        <a:xfrm>
          <a:off x="1434456" y="754378"/>
          <a:ext cx="965833" cy="788336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b="1" kern="1200" dirty="0"/>
            <a:t>Technology</a:t>
          </a:r>
        </a:p>
      </dsp:txBody>
      <dsp:txXfrm>
        <a:off x="1575899" y="869827"/>
        <a:ext cx="682947" cy="557438"/>
      </dsp:txXfrm>
    </dsp:sp>
    <dsp:sp modelId="{CDFE8F55-FE62-4CE9-AB0C-1431255D3302}">
      <dsp:nvSpPr>
        <dsp:cNvPr id="0" name=""/>
        <dsp:cNvSpPr/>
      </dsp:nvSpPr>
      <dsp:spPr>
        <a:xfrm>
          <a:off x="457198" y="464832"/>
          <a:ext cx="2400300" cy="2194546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354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#5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AC04CDA-2352-7841-8C42-477E9A46EF3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9FBB6B-C096-4A40-9C8F-29924DCEBF0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B25B908-AFCC-504D-8947-2488EE70C9B4}" type="datetime1">
              <a:rPr lang="en-US"/>
              <a:pPr>
                <a:defRPr/>
              </a:pPr>
              <a:t>4/23/20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0BD500-CA32-E242-98AA-67F073F5FD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8E73A0-EFE1-7D40-9448-3BD36ACD1E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77304D9E-AF2E-6C46-956A-BD9B9CD3EDF2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7EC52A-4024-1D47-B950-EAEC6B5C510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-110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9D5384-3973-1C4A-95D6-C7DA0815952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10" charset="0"/>
                <a:cs typeface="Arial" charset="0"/>
              </a:defRPr>
            </a:lvl1pPr>
          </a:lstStyle>
          <a:p>
            <a:pPr>
              <a:defRPr/>
            </a:pPr>
            <a:fld id="{46E39AC5-5568-7842-8C86-BCC6CAFFC334}" type="datetime1">
              <a:rPr lang="en-US"/>
              <a:pPr>
                <a:defRPr/>
              </a:pPr>
              <a:t>4/23/20</a:t>
            </a:fld>
            <a:endParaRPr lang="en-US" dirty="0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AEBD192-6F5D-4E48-9014-4CCD2B63EF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74CEE6B-0D90-EF42-88E7-72439D88A0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2B245-FFF9-B044-B728-52CDC45176B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-110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FA5D99-3026-654A-88D8-F362B7F00D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A1697C53-5BE4-F142-85AA-011BFF06F262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>
            <a:extLst>
              <a:ext uri="{FF2B5EF4-FFF2-40B4-BE49-F238E27FC236}">
                <a16:creationId xmlns:a16="http://schemas.microsoft.com/office/drawing/2014/main" id="{01D8A002-2F46-F945-99FD-1A82DA6FDE2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Notes Placeholder 2">
            <a:extLst>
              <a:ext uri="{FF2B5EF4-FFF2-40B4-BE49-F238E27FC236}">
                <a16:creationId xmlns:a16="http://schemas.microsoft.com/office/drawing/2014/main" id="{315850BF-30D1-114E-8BE3-1291A627F84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40964" name="Slide Number Placeholder 3">
            <a:extLst>
              <a:ext uri="{FF2B5EF4-FFF2-40B4-BE49-F238E27FC236}">
                <a16:creationId xmlns:a16="http://schemas.microsoft.com/office/drawing/2014/main" id="{F81ACB83-974A-EF4A-A7C1-D03CD340AE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419D3EE-0FA7-CE48-B0F7-9467A173248D}" type="slidenum">
              <a:rPr lang="en-US" altLang="en-US">
                <a:latin typeface="Calibri" panose="020F0502020204030204" pitchFamily="34" charset="0"/>
              </a:rPr>
              <a:pPr eaLnBrk="1" hangingPunct="1"/>
              <a:t>2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>
            <a:extLst>
              <a:ext uri="{FF2B5EF4-FFF2-40B4-BE49-F238E27FC236}">
                <a16:creationId xmlns:a16="http://schemas.microsoft.com/office/drawing/2014/main" id="{58E61004-0636-2F49-A9C3-74F951D9364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Notes Placeholder 2">
            <a:extLst>
              <a:ext uri="{FF2B5EF4-FFF2-40B4-BE49-F238E27FC236}">
                <a16:creationId xmlns:a16="http://schemas.microsoft.com/office/drawing/2014/main" id="{3A249C23-CB49-CE49-9887-CC08BE2392C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41988" name="Slide Number Placeholder 3">
            <a:extLst>
              <a:ext uri="{FF2B5EF4-FFF2-40B4-BE49-F238E27FC236}">
                <a16:creationId xmlns:a16="http://schemas.microsoft.com/office/drawing/2014/main" id="{A63C0E81-9675-DB4E-98AB-91EF16AEF9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E337B8B-63BE-6841-B486-395A90534FAB}" type="slidenum">
              <a:rPr lang="en-US" altLang="en-US">
                <a:latin typeface="Calibri" panose="020F0502020204030204" pitchFamily="34" charset="0"/>
              </a:rPr>
              <a:pPr eaLnBrk="1" hangingPunct="1"/>
              <a:t>3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>
            <a:extLst>
              <a:ext uri="{FF2B5EF4-FFF2-40B4-BE49-F238E27FC236}">
                <a16:creationId xmlns:a16="http://schemas.microsoft.com/office/drawing/2014/main" id="{58E61004-0636-2F49-A9C3-74F951D9364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Notes Placeholder 2">
            <a:extLst>
              <a:ext uri="{FF2B5EF4-FFF2-40B4-BE49-F238E27FC236}">
                <a16:creationId xmlns:a16="http://schemas.microsoft.com/office/drawing/2014/main" id="{3A249C23-CB49-CE49-9887-CC08BE2392C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41988" name="Slide Number Placeholder 3">
            <a:extLst>
              <a:ext uri="{FF2B5EF4-FFF2-40B4-BE49-F238E27FC236}">
                <a16:creationId xmlns:a16="http://schemas.microsoft.com/office/drawing/2014/main" id="{A63C0E81-9675-DB4E-98AB-91EF16AEF9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E337B8B-63BE-6841-B486-395A90534FAB}" type="slidenum">
              <a:rPr lang="en-US" altLang="en-US">
                <a:latin typeface="Calibri" panose="020F0502020204030204" pitchFamily="34" charset="0"/>
              </a:rPr>
              <a:pPr eaLnBrk="1" hangingPunct="1"/>
              <a:t>4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70730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>
            <a:extLst>
              <a:ext uri="{FF2B5EF4-FFF2-40B4-BE49-F238E27FC236}">
                <a16:creationId xmlns:a16="http://schemas.microsoft.com/office/drawing/2014/main" id="{58E61004-0636-2F49-A9C3-74F951D9364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Notes Placeholder 2">
            <a:extLst>
              <a:ext uri="{FF2B5EF4-FFF2-40B4-BE49-F238E27FC236}">
                <a16:creationId xmlns:a16="http://schemas.microsoft.com/office/drawing/2014/main" id="{3A249C23-CB49-CE49-9887-CC08BE2392C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41988" name="Slide Number Placeholder 3">
            <a:extLst>
              <a:ext uri="{FF2B5EF4-FFF2-40B4-BE49-F238E27FC236}">
                <a16:creationId xmlns:a16="http://schemas.microsoft.com/office/drawing/2014/main" id="{A63C0E81-9675-DB4E-98AB-91EF16AEF9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E337B8B-63BE-6841-B486-395A90534FAB}" type="slidenum">
              <a:rPr lang="en-US" altLang="en-US">
                <a:latin typeface="Calibri" panose="020F0502020204030204" pitchFamily="34" charset="0"/>
              </a:rPr>
              <a:pPr eaLnBrk="1" hangingPunct="1"/>
              <a:t>5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19321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>
            <a:extLst>
              <a:ext uri="{FF2B5EF4-FFF2-40B4-BE49-F238E27FC236}">
                <a16:creationId xmlns:a16="http://schemas.microsoft.com/office/drawing/2014/main" id="{5B98F41D-9C3A-5D47-BD28-51C046D72C8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Notes Placeholder 2">
            <a:extLst>
              <a:ext uri="{FF2B5EF4-FFF2-40B4-BE49-F238E27FC236}">
                <a16:creationId xmlns:a16="http://schemas.microsoft.com/office/drawing/2014/main" id="{1D80EE8D-7B63-EB4A-88B0-6E720F3B581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43012" name="Slide Number Placeholder 3">
            <a:extLst>
              <a:ext uri="{FF2B5EF4-FFF2-40B4-BE49-F238E27FC236}">
                <a16:creationId xmlns:a16="http://schemas.microsoft.com/office/drawing/2014/main" id="{DEFB8AC3-62DB-814B-807E-B71FAA9EB9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E2A017E-F2C0-C941-8A8E-AE106AD4C009}" type="slidenum">
              <a:rPr lang="en-US" altLang="en-US">
                <a:latin typeface="Calibri" panose="020F0502020204030204" pitchFamily="34" charset="0"/>
              </a:rPr>
              <a:pPr eaLnBrk="1" hangingPunct="1"/>
              <a:t>6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>
            <a:extLst>
              <a:ext uri="{FF2B5EF4-FFF2-40B4-BE49-F238E27FC236}">
                <a16:creationId xmlns:a16="http://schemas.microsoft.com/office/drawing/2014/main" id="{E1CCDD79-9246-FB4F-9929-9D13CAFC686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Notes Placeholder 2">
            <a:extLst>
              <a:ext uri="{FF2B5EF4-FFF2-40B4-BE49-F238E27FC236}">
                <a16:creationId xmlns:a16="http://schemas.microsoft.com/office/drawing/2014/main" id="{93927DD2-36A9-494F-B607-25F087BF553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44036" name="Slide Number Placeholder 3">
            <a:extLst>
              <a:ext uri="{FF2B5EF4-FFF2-40B4-BE49-F238E27FC236}">
                <a16:creationId xmlns:a16="http://schemas.microsoft.com/office/drawing/2014/main" id="{ECCDFE41-6166-8846-9176-DC5279CB73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9EF8494-FFA0-E14D-BD54-F7E1A38820FC}" type="slidenum">
              <a:rPr lang="en-US" altLang="en-US">
                <a:latin typeface="Calibri" panose="020F0502020204030204" pitchFamily="34" charset="0"/>
              </a:rPr>
              <a:pPr eaLnBrk="1" hangingPunct="1"/>
              <a:t>7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>
            <a:extLst>
              <a:ext uri="{FF2B5EF4-FFF2-40B4-BE49-F238E27FC236}">
                <a16:creationId xmlns:a16="http://schemas.microsoft.com/office/drawing/2014/main" id="{55AF43FB-63B0-5645-8FD4-3228704856B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Notes Placeholder 2">
            <a:extLst>
              <a:ext uri="{FF2B5EF4-FFF2-40B4-BE49-F238E27FC236}">
                <a16:creationId xmlns:a16="http://schemas.microsoft.com/office/drawing/2014/main" id="{4D024F78-8BF4-3449-A278-659A3D5EE1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45060" name="Slide Number Placeholder 3">
            <a:extLst>
              <a:ext uri="{FF2B5EF4-FFF2-40B4-BE49-F238E27FC236}">
                <a16:creationId xmlns:a16="http://schemas.microsoft.com/office/drawing/2014/main" id="{9E95DED3-1B2A-2C42-8EEE-8EDA378633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D8FB9FC-9C1E-7C4A-8F66-2D923DB3B98C}" type="slidenum">
              <a:rPr lang="en-US" altLang="en-US">
                <a:latin typeface="Calibri" panose="020F0502020204030204" pitchFamily="34" charset="0"/>
              </a:rPr>
              <a:pPr eaLnBrk="1" hangingPunct="1"/>
              <a:t>8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>
            <a:extLst>
              <a:ext uri="{FF2B5EF4-FFF2-40B4-BE49-F238E27FC236}">
                <a16:creationId xmlns:a16="http://schemas.microsoft.com/office/drawing/2014/main" id="{194CCEB3-D970-084E-BB0D-31D82D0060E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Notes Placeholder 2">
            <a:extLst>
              <a:ext uri="{FF2B5EF4-FFF2-40B4-BE49-F238E27FC236}">
                <a16:creationId xmlns:a16="http://schemas.microsoft.com/office/drawing/2014/main" id="{7363B38B-79F7-2444-BEC6-4C3719F25B4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46084" name="Slide Number Placeholder 3">
            <a:extLst>
              <a:ext uri="{FF2B5EF4-FFF2-40B4-BE49-F238E27FC236}">
                <a16:creationId xmlns:a16="http://schemas.microsoft.com/office/drawing/2014/main" id="{ED01367A-6CF4-8A4E-8989-002C1BF56B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94DA81E-4083-F046-AB95-C3BCFCF3CE1E}" type="slidenum">
              <a:rPr lang="en-US" altLang="en-US">
                <a:latin typeface="Calibri" panose="020F0502020204030204" pitchFamily="34" charset="0"/>
              </a:rPr>
              <a:pPr eaLnBrk="1" hangingPunct="1"/>
              <a:t>9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>
            <a:extLst>
              <a:ext uri="{FF2B5EF4-FFF2-40B4-BE49-F238E27FC236}">
                <a16:creationId xmlns:a16="http://schemas.microsoft.com/office/drawing/2014/main" id="{0A9DF54C-8363-8343-A10B-E31CE62AEDE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>
            <a:extLst>
              <a:ext uri="{FF2B5EF4-FFF2-40B4-BE49-F238E27FC236}">
                <a16:creationId xmlns:a16="http://schemas.microsoft.com/office/drawing/2014/main" id="{E86CD006-60B1-9044-8F4F-8599C7204F0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47108" name="Slide Number Placeholder 3">
            <a:extLst>
              <a:ext uri="{FF2B5EF4-FFF2-40B4-BE49-F238E27FC236}">
                <a16:creationId xmlns:a16="http://schemas.microsoft.com/office/drawing/2014/main" id="{F93D06FA-9B90-874E-A951-7D3CEEF371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D4D8B30-056E-1749-833C-44C2C207ED43}" type="slidenum">
              <a:rPr lang="en-US" altLang="en-US">
                <a:latin typeface="Calibri" panose="020F0502020204030204" pitchFamily="34" charset="0"/>
              </a:rPr>
              <a:pPr eaLnBrk="1" hangingPunct="1"/>
              <a:t>10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>
            <a:extLst>
              <a:ext uri="{FF2B5EF4-FFF2-40B4-BE49-F238E27FC236}">
                <a16:creationId xmlns:a16="http://schemas.microsoft.com/office/drawing/2014/main" id="{C3913F30-32AB-BE49-8741-8767C1A9884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Notes Placeholder 2">
            <a:extLst>
              <a:ext uri="{FF2B5EF4-FFF2-40B4-BE49-F238E27FC236}">
                <a16:creationId xmlns:a16="http://schemas.microsoft.com/office/drawing/2014/main" id="{9C4E3B97-2423-F44A-9C66-E3E29F7D2F1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49156" name="Slide Number Placeholder 3">
            <a:extLst>
              <a:ext uri="{FF2B5EF4-FFF2-40B4-BE49-F238E27FC236}">
                <a16:creationId xmlns:a16="http://schemas.microsoft.com/office/drawing/2014/main" id="{2B86C186-D889-DD41-87AA-ABA37129A1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88B4A3F-01CB-7F43-B74F-651EC5CD1929}" type="slidenum">
              <a:rPr lang="en-US" altLang="en-US">
                <a:latin typeface="Calibri" panose="020F0502020204030204" pitchFamily="34" charset="0"/>
              </a:rPr>
              <a:pPr eaLnBrk="1" hangingPunct="1"/>
              <a:t>11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>
            <a:extLst>
              <a:ext uri="{FF2B5EF4-FFF2-40B4-BE49-F238E27FC236}">
                <a16:creationId xmlns:a16="http://schemas.microsoft.com/office/drawing/2014/main" id="{CA67A8CB-F78E-7D40-A77A-B56EA30E01B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3" name="Notes Placeholder 2">
            <a:extLst>
              <a:ext uri="{FF2B5EF4-FFF2-40B4-BE49-F238E27FC236}">
                <a16:creationId xmlns:a16="http://schemas.microsoft.com/office/drawing/2014/main" id="{80F18C63-0C6F-7E49-9446-888D0513203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51204" name="Slide Number Placeholder 3">
            <a:extLst>
              <a:ext uri="{FF2B5EF4-FFF2-40B4-BE49-F238E27FC236}">
                <a16:creationId xmlns:a16="http://schemas.microsoft.com/office/drawing/2014/main" id="{CD23CD34-4EE7-3F41-9A95-DE52835A02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B268AF6-08F6-3A4C-A8A3-7FD37C698D49}" type="slidenum">
              <a:rPr lang="en-US" altLang="en-US">
                <a:latin typeface="Calibri" panose="020F0502020204030204" pitchFamily="34" charset="0"/>
              </a:rPr>
              <a:pPr eaLnBrk="1" hangingPunct="1"/>
              <a:t>12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>
            <a:extLst>
              <a:ext uri="{FF2B5EF4-FFF2-40B4-BE49-F238E27FC236}">
                <a16:creationId xmlns:a16="http://schemas.microsoft.com/office/drawing/2014/main" id="{D2F002F1-F099-FA4E-9C56-B83081ECCA7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Notes Placeholder 2">
            <a:extLst>
              <a:ext uri="{FF2B5EF4-FFF2-40B4-BE49-F238E27FC236}">
                <a16:creationId xmlns:a16="http://schemas.microsoft.com/office/drawing/2014/main" id="{C2DEFB3D-3AAA-B14C-83EB-137EA313D11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52228" name="Slide Number Placeholder 3">
            <a:extLst>
              <a:ext uri="{FF2B5EF4-FFF2-40B4-BE49-F238E27FC236}">
                <a16:creationId xmlns:a16="http://schemas.microsoft.com/office/drawing/2014/main" id="{149665B8-D96B-D843-B5CC-9FD3E09AB0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3EC3F22-2D3A-384E-9DFB-8A478F6859AF}" type="slidenum">
              <a:rPr lang="en-US" altLang="en-US">
                <a:latin typeface="Calibri" panose="020F0502020204030204" pitchFamily="34" charset="0"/>
              </a:rPr>
              <a:pPr eaLnBrk="1" hangingPunct="1"/>
              <a:t>13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>
            <a:extLst>
              <a:ext uri="{FF2B5EF4-FFF2-40B4-BE49-F238E27FC236}">
                <a16:creationId xmlns:a16="http://schemas.microsoft.com/office/drawing/2014/main" id="{D89099E1-E58E-444B-99F3-F93D90D4C40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Notes Placeholder 2">
            <a:extLst>
              <a:ext uri="{FF2B5EF4-FFF2-40B4-BE49-F238E27FC236}">
                <a16:creationId xmlns:a16="http://schemas.microsoft.com/office/drawing/2014/main" id="{666BFB45-7188-A944-9317-73C7518156D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61444" name="Slide Number Placeholder 3">
            <a:extLst>
              <a:ext uri="{FF2B5EF4-FFF2-40B4-BE49-F238E27FC236}">
                <a16:creationId xmlns:a16="http://schemas.microsoft.com/office/drawing/2014/main" id="{C9F1CDA7-9408-5548-A11E-BE0CDA3307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F489683-B435-7443-8BD8-FBE48D32B477}" type="slidenum">
              <a:rPr lang="en-US" altLang="en-US">
                <a:latin typeface="Calibri" panose="020F0502020204030204" pitchFamily="34" charset="0"/>
              </a:rPr>
              <a:pPr eaLnBrk="1" hangingPunct="1"/>
              <a:t>14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>
            <a:extLst>
              <a:ext uri="{FF2B5EF4-FFF2-40B4-BE49-F238E27FC236}">
                <a16:creationId xmlns:a16="http://schemas.microsoft.com/office/drawing/2014/main" id="{EB7BB0A1-17AB-4843-927F-46E5991321C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>
            <a:extLst>
              <a:ext uri="{FF2B5EF4-FFF2-40B4-BE49-F238E27FC236}">
                <a16:creationId xmlns:a16="http://schemas.microsoft.com/office/drawing/2014/main" id="{A6942008-0BAF-E94B-A14C-35625BCAAF4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62468" name="Slide Number Placeholder 3">
            <a:extLst>
              <a:ext uri="{FF2B5EF4-FFF2-40B4-BE49-F238E27FC236}">
                <a16:creationId xmlns:a16="http://schemas.microsoft.com/office/drawing/2014/main" id="{CFE5D1B8-194F-4749-B528-DFFDD6A31C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4062172-1E43-2145-84EB-8F96614491D9}" type="slidenum">
              <a:rPr lang="en-US" altLang="en-US">
                <a:latin typeface="Calibri" panose="020F0502020204030204" pitchFamily="34" charset="0"/>
              </a:rPr>
              <a:pPr eaLnBrk="1" hangingPunct="1"/>
              <a:t>15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>
            <a:extLst>
              <a:ext uri="{FF2B5EF4-FFF2-40B4-BE49-F238E27FC236}">
                <a16:creationId xmlns:a16="http://schemas.microsoft.com/office/drawing/2014/main" id="{922D8D43-515B-3049-837F-A5B069E65A3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>
            <a:extLst>
              <a:ext uri="{FF2B5EF4-FFF2-40B4-BE49-F238E27FC236}">
                <a16:creationId xmlns:a16="http://schemas.microsoft.com/office/drawing/2014/main" id="{52D6EEAB-2843-4145-B12B-3C7B15A5280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64516" name="Slide Number Placeholder 3">
            <a:extLst>
              <a:ext uri="{FF2B5EF4-FFF2-40B4-BE49-F238E27FC236}">
                <a16:creationId xmlns:a16="http://schemas.microsoft.com/office/drawing/2014/main" id="{7D71E7FF-A8D1-3747-8740-8E349FC762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B8BB6D5-0E8D-9A45-936D-6F49B12940CF}" type="slidenum">
              <a:rPr lang="en-US" altLang="en-US">
                <a:latin typeface="Calibri" panose="020F0502020204030204" pitchFamily="34" charset="0"/>
              </a:rPr>
              <a:pPr eaLnBrk="1" hangingPunct="1"/>
              <a:t>16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nablingvalue.com" TargetMode="External"/><Relationship Id="rId2" Type="http://schemas.openxmlformats.org/officeDocument/2006/relationships/image" Target="../media/image3.tif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841" y="1023730"/>
            <a:ext cx="8657167" cy="5178103"/>
          </a:xfrm>
          <a:prstGeom prst="rect">
            <a:avLst/>
          </a:prstGeom>
        </p:spPr>
        <p:txBody>
          <a:bodyPr lIns="91402" tIns="45702" rIns="91402" bIns="45702"/>
          <a:lstStyle>
            <a:lvl1pPr>
              <a:buFont typeface="Wingdings" pitchFamily="2" charset="2"/>
              <a:buChar char="q"/>
              <a:defRPr sz="2000">
                <a:solidFill>
                  <a:schemeClr val="bg2">
                    <a:lumMod val="25000"/>
                  </a:schemeClr>
                </a:solidFill>
              </a:defRPr>
            </a:lvl1pPr>
            <a:lvl2pPr>
              <a:buClr>
                <a:schemeClr val="tx2"/>
              </a:buClr>
              <a:defRPr sz="2000">
                <a:solidFill>
                  <a:schemeClr val="bg2">
                    <a:lumMod val="25000"/>
                  </a:schemeClr>
                </a:solidFill>
              </a:defRPr>
            </a:lvl2pPr>
            <a:lvl3pPr>
              <a:defRPr>
                <a:solidFill>
                  <a:schemeClr val="bg2">
                    <a:lumMod val="25000"/>
                  </a:schemeClr>
                </a:solidFill>
              </a:defRPr>
            </a:lvl3pPr>
            <a:lvl4pPr>
              <a:defRPr>
                <a:solidFill>
                  <a:schemeClr val="bg2">
                    <a:lumMod val="25000"/>
                  </a:schemeClr>
                </a:solidFill>
              </a:defRPr>
            </a:lvl4pPr>
            <a:lvl5pPr>
              <a:defRPr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2196896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155674"/>
            <a:ext cx="7772400" cy="461628"/>
          </a:xfrm>
          <a:prstGeom prst="rect">
            <a:avLst/>
          </a:prstGeom>
        </p:spPr>
        <p:txBody>
          <a:bodyPr anchor="t"/>
          <a:lstStyle>
            <a:lvl1pPr algn="l">
              <a:defRPr sz="1800" b="1" cap="all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75982"/>
            <a:ext cx="7772400" cy="1500187"/>
          </a:xfrm>
          <a:prstGeom prst="rect">
            <a:avLst/>
          </a:prstGeom>
        </p:spPr>
        <p:txBody>
          <a:bodyPr lIns="91402" tIns="45702" rIns="91402" bIns="45702" anchor="b"/>
          <a:lstStyle>
            <a:lvl1pPr marL="0" indent="0">
              <a:buNone/>
              <a:defRPr sz="2400">
                <a:solidFill>
                  <a:srgbClr val="552200"/>
                </a:solidFill>
              </a:defRPr>
            </a:lvl1pPr>
            <a:lvl2pPr marL="457011" indent="0">
              <a:buNone/>
              <a:defRPr sz="1800"/>
            </a:lvl2pPr>
            <a:lvl3pPr marL="914024" indent="0">
              <a:buNone/>
              <a:defRPr sz="1600"/>
            </a:lvl3pPr>
            <a:lvl4pPr marL="1371040" indent="0">
              <a:buNone/>
              <a:defRPr sz="1400"/>
            </a:lvl4pPr>
            <a:lvl5pPr marL="1828052" indent="0">
              <a:buNone/>
              <a:defRPr sz="1400"/>
            </a:lvl5pPr>
            <a:lvl6pPr marL="2285064" indent="0">
              <a:buNone/>
              <a:defRPr sz="1400"/>
            </a:lvl6pPr>
            <a:lvl7pPr marL="2742079" indent="0">
              <a:buNone/>
              <a:defRPr sz="1400"/>
            </a:lvl7pPr>
            <a:lvl8pPr marL="3199088" indent="0">
              <a:buNone/>
              <a:defRPr sz="1400"/>
            </a:lvl8pPr>
            <a:lvl9pPr marL="3656104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3986201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1840A73-D6FC-604C-986A-0F5CB504A4C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4000" cy="3352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vert="horz" wrap="square" lIns="91440" tIns="45720" rIns="91440" bIns="45720" rtlCol="0" anchor="ctr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sz="3200" b="1" dirty="0">
              <a:solidFill>
                <a:schemeClr val="accent4"/>
              </a:solidFill>
            </a:endParaRPr>
          </a:p>
        </p:txBody>
      </p:sp>
      <p:pic>
        <p:nvPicPr>
          <p:cNvPr id="8" name="Picture 7" descr="A drawing of a face&#10;&#10;Description automatically generated">
            <a:extLst>
              <a:ext uri="{FF2B5EF4-FFF2-40B4-BE49-F238E27FC236}">
                <a16:creationId xmlns:a16="http://schemas.microsoft.com/office/drawing/2014/main" id="{BD0B0E53-7E6D-8349-86F9-A6E86A1C62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4163" y="4880083"/>
            <a:ext cx="3404760" cy="902607"/>
          </a:xfrm>
          <a:prstGeom prst="rect">
            <a:avLst/>
          </a:prstGeom>
        </p:spPr>
      </p:pic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F6C85AAB-249F-854D-9EF3-83B9EC32762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787" y="4385812"/>
            <a:ext cx="3190951" cy="1416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583261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86232" y="1012504"/>
            <a:ext cx="4061196" cy="4425950"/>
          </a:xfrm>
          <a:prstGeom prst="rect">
            <a:avLst/>
          </a:prstGeom>
        </p:spPr>
        <p:txBody>
          <a:bodyPr lIns="91402" tIns="45702" rIns="91402" bIns="45702"/>
          <a:lstStyle>
            <a:lvl1pPr>
              <a:buFont typeface="Wingdings" pitchFamily="2" charset="2"/>
              <a:buChar char="q"/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buClr>
                <a:schemeClr val="tx2"/>
              </a:buClr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0"/>
          </p:nvPr>
        </p:nvSpPr>
        <p:spPr>
          <a:xfrm>
            <a:off x="4466187" y="1012504"/>
            <a:ext cx="4138551" cy="4425950"/>
          </a:xfrm>
          <a:prstGeom prst="rect">
            <a:avLst/>
          </a:prstGeom>
        </p:spPr>
        <p:txBody>
          <a:bodyPr lIns="91402" tIns="45702" rIns="91402" bIns="45702"/>
          <a:lstStyle>
            <a:lvl1pPr>
              <a:buFont typeface="Wingdings" pitchFamily="2" charset="2"/>
              <a:buChar char="q"/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buClr>
                <a:schemeClr val="tx2"/>
              </a:buClr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5714169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3070735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act 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CC68684D-F531-3048-A131-29995DC9106B}"/>
              </a:ext>
            </a:extLst>
          </p:cNvPr>
          <p:cNvSpPr txBox="1"/>
          <p:nvPr/>
        </p:nvSpPr>
        <p:spPr>
          <a:xfrm>
            <a:off x="312565" y="2660380"/>
            <a:ext cx="443841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None/>
            </a:pPr>
            <a:r>
              <a:rPr lang="en-US" sz="20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Measure what matters</a:t>
            </a:r>
          </a:p>
          <a:p>
            <a:pPr algn="l">
              <a:buNone/>
            </a:pPr>
            <a:r>
              <a:rPr lang="en-US" sz="20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and deliver the right value</a:t>
            </a:r>
          </a:p>
          <a:p>
            <a:pPr algn="l">
              <a:buNone/>
            </a:pPr>
            <a:r>
              <a:rPr lang="en-US" sz="20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and nurture a winning culture </a:t>
            </a:r>
          </a:p>
          <a:p>
            <a:pPr algn="l">
              <a:buNone/>
            </a:pPr>
            <a:r>
              <a:rPr lang="en-US" sz="20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Proactively manage change &amp; complexity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07A4C4B-AD26-5D4C-8B89-95BA9441A64E}"/>
              </a:ext>
            </a:extLst>
          </p:cNvPr>
          <p:cNvGrpSpPr/>
          <p:nvPr/>
        </p:nvGrpSpPr>
        <p:grpSpPr>
          <a:xfrm>
            <a:off x="5542424" y="2742999"/>
            <a:ext cx="3152511" cy="1158200"/>
            <a:chOff x="1334546" y="2276090"/>
            <a:chExt cx="8755123" cy="3216543"/>
          </a:xfrm>
        </p:grpSpPr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5B280417-1AFB-0449-A448-8D0857B1F41B}"/>
                </a:ext>
              </a:extLst>
            </p:cNvPr>
            <p:cNvSpPr/>
            <p:nvPr/>
          </p:nvSpPr>
          <p:spPr>
            <a:xfrm>
              <a:off x="2210112" y="4386116"/>
              <a:ext cx="7003998" cy="615376"/>
            </a:xfrm>
            <a:prstGeom prst="roundRect">
              <a:avLst/>
            </a:prstGeom>
            <a:solidFill>
              <a:schemeClr val="lt1"/>
            </a:soli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anchor="ctr">
              <a:noAutofit/>
            </a:bodyPr>
            <a:lstStyle/>
            <a:p>
              <a:pPr algn="ctr">
                <a:buNone/>
              </a:pPr>
              <a:r>
                <a:rPr lang="en-US" sz="1000" b="1" dirty="0">
                  <a:solidFill>
                    <a:schemeClr val="tx1"/>
                  </a:solidFill>
                </a:rPr>
                <a:t>Measurement</a:t>
              </a: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72B4AB0-ECCA-204F-A36E-75270097AE6B}"/>
                </a:ext>
              </a:extLst>
            </p:cNvPr>
            <p:cNvGrpSpPr/>
            <p:nvPr/>
          </p:nvGrpSpPr>
          <p:grpSpPr>
            <a:xfrm>
              <a:off x="2169493" y="2276090"/>
              <a:ext cx="7044617" cy="1909749"/>
              <a:chOff x="2958923" y="3635615"/>
              <a:chExt cx="3174613" cy="425610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BE65FD7A-25FD-1741-A34B-5F7BE4BCB26B}"/>
                  </a:ext>
                </a:extLst>
              </p:cNvPr>
              <p:cNvGrpSpPr/>
              <p:nvPr/>
            </p:nvGrpSpPr>
            <p:grpSpPr>
              <a:xfrm>
                <a:off x="2958923" y="3896157"/>
                <a:ext cx="3174613" cy="165068"/>
                <a:chOff x="-40251" y="6353000"/>
                <a:chExt cx="4857122" cy="435304"/>
              </a:xfrm>
            </p:grpSpPr>
            <p:sp>
              <p:nvSpPr>
                <p:cNvPr id="18" name="Shape 157">
                  <a:extLst>
                    <a:ext uri="{FF2B5EF4-FFF2-40B4-BE49-F238E27FC236}">
                      <a16:creationId xmlns:a16="http://schemas.microsoft.com/office/drawing/2014/main" id="{36D5A444-B8A0-3849-B6A3-C7FAD5949406}"/>
                    </a:ext>
                  </a:extLst>
                </p:cNvPr>
                <p:cNvSpPr/>
                <p:nvPr/>
              </p:nvSpPr>
              <p:spPr>
                <a:xfrm>
                  <a:off x="-40251" y="6353015"/>
                  <a:ext cx="1542900" cy="435289"/>
                </a:xfrm>
                <a:prstGeom prst="flowChartAlternateProcess">
                  <a:avLst/>
                </a:prstGeom>
                <a:ln>
                  <a:headEnd type="none" w="sm" len="sm"/>
                  <a:tailEnd type="none" w="sm" len="sm"/>
                </a:ln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spcFirstLastPara="1" wrap="square" lIns="32920" tIns="32920" rIns="32920" bIns="32920" anchor="ctr" anchorCtr="0">
                  <a:noAutofit/>
                </a:bodyPr>
                <a:lstStyle/>
                <a:p>
                  <a:pPr algn="ctr">
                    <a:buNone/>
                  </a:pPr>
                  <a:r>
                    <a:rPr lang="en-US" sz="1000" b="1" dirty="0"/>
                    <a:t>Strategy</a:t>
                  </a:r>
                  <a:endParaRPr sz="1000" b="1" dirty="0"/>
                </a:p>
              </p:txBody>
            </p:sp>
            <p:sp>
              <p:nvSpPr>
                <p:cNvPr id="19" name="Shape 160">
                  <a:extLst>
                    <a:ext uri="{FF2B5EF4-FFF2-40B4-BE49-F238E27FC236}">
                      <a16:creationId xmlns:a16="http://schemas.microsoft.com/office/drawing/2014/main" id="{879F4B2B-8594-C749-925F-D0FCD341EA53}"/>
                    </a:ext>
                  </a:extLst>
                </p:cNvPr>
                <p:cNvSpPr/>
                <p:nvPr/>
              </p:nvSpPr>
              <p:spPr>
                <a:xfrm>
                  <a:off x="1616859" y="6353015"/>
                  <a:ext cx="1542900" cy="435289"/>
                </a:xfrm>
                <a:prstGeom prst="flowChartAlternateProcess">
                  <a:avLst/>
                </a:prstGeom>
                <a:ln>
                  <a:headEnd type="none" w="sm" len="sm"/>
                  <a:tailEnd type="none" w="sm" len="sm"/>
                </a:ln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spcFirstLastPara="1" wrap="square" lIns="32920" tIns="32920" rIns="32920" bIns="32920" anchor="ctr" anchorCtr="0">
                  <a:noAutofit/>
                </a:bodyPr>
                <a:lstStyle/>
                <a:p>
                  <a:pPr algn="ctr">
                    <a:buNone/>
                  </a:pPr>
                  <a:r>
                    <a:rPr lang="en-US" sz="1000" b="1" dirty="0"/>
                    <a:t>Execution</a:t>
                  </a:r>
                  <a:endParaRPr sz="1000" b="1" dirty="0"/>
                </a:p>
              </p:txBody>
            </p:sp>
            <p:sp>
              <p:nvSpPr>
                <p:cNvPr id="20" name="Shape 162">
                  <a:extLst>
                    <a:ext uri="{FF2B5EF4-FFF2-40B4-BE49-F238E27FC236}">
                      <a16:creationId xmlns:a16="http://schemas.microsoft.com/office/drawing/2014/main" id="{17328F3E-0597-8940-8C96-5D1A1C54FBE4}"/>
                    </a:ext>
                  </a:extLst>
                </p:cNvPr>
                <p:cNvSpPr/>
                <p:nvPr/>
              </p:nvSpPr>
              <p:spPr>
                <a:xfrm>
                  <a:off x="3273970" y="6353000"/>
                  <a:ext cx="1542901" cy="435289"/>
                </a:xfrm>
                <a:prstGeom prst="flowChartAlternateProcess">
                  <a:avLst/>
                </a:prstGeom>
                <a:ln>
                  <a:headEnd type="none" w="sm" len="sm"/>
                  <a:tailEnd type="none" w="sm" len="sm"/>
                </a:ln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spcFirstLastPara="1" wrap="square" lIns="32920" tIns="32920" rIns="32920" bIns="32920" anchor="ctr" anchorCtr="0">
                  <a:noAutofit/>
                </a:bodyPr>
                <a:lstStyle/>
                <a:p>
                  <a:pPr algn="ctr">
                    <a:buNone/>
                  </a:pPr>
                  <a:r>
                    <a:rPr lang="en-US" sz="1000" b="1" dirty="0"/>
                    <a:t>Operations</a:t>
                  </a:r>
                  <a:endParaRPr sz="1000" b="1" dirty="0"/>
                </a:p>
              </p:txBody>
            </p:sp>
          </p:grpSp>
          <p:sp>
            <p:nvSpPr>
              <p:cNvPr id="17" name="Shape 163">
                <a:extLst>
                  <a:ext uri="{FF2B5EF4-FFF2-40B4-BE49-F238E27FC236}">
                    <a16:creationId xmlns:a16="http://schemas.microsoft.com/office/drawing/2014/main" id="{52807632-B9E4-D947-858C-AFE2361A7452}"/>
                  </a:ext>
                </a:extLst>
              </p:cNvPr>
              <p:cNvSpPr txBox="1"/>
              <p:nvPr/>
            </p:nvSpPr>
            <p:spPr>
              <a:xfrm>
                <a:off x="3016256" y="3635615"/>
                <a:ext cx="3078252" cy="1080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2920" tIns="32920" rIns="32920" bIns="32920" anchor="t" anchorCtr="0">
                <a:noAutofit/>
              </a:bodyPr>
              <a:lstStyle/>
              <a:p>
                <a:pPr algn="ctr">
                  <a:buNone/>
                </a:pPr>
                <a:r>
                  <a:rPr lang="en-US" sz="1100" b="1" dirty="0">
                    <a:solidFill>
                      <a:srgbClr val="666666"/>
                    </a:solidFill>
                  </a:rPr>
                  <a:t>Biz:DNA©</a:t>
                </a:r>
                <a:endParaRPr sz="1100" b="1" dirty="0">
                  <a:solidFill>
                    <a:srgbClr val="666666"/>
                  </a:solidFill>
                </a:endParaRPr>
              </a:p>
            </p:txBody>
          </p:sp>
        </p:grp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F051A5A-ABEA-434F-817D-372E11D528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20000"/>
            </a:blip>
            <a:stretch>
              <a:fillRect/>
            </a:stretch>
          </p:blipFill>
          <p:spPr>
            <a:xfrm>
              <a:off x="1334546" y="2878996"/>
              <a:ext cx="8755123" cy="2613637"/>
            </a:xfrm>
            <a:prstGeom prst="rect">
              <a:avLst/>
            </a:prstGeom>
          </p:spPr>
        </p:pic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DA54A7A9-3B56-624E-B017-EE5A621DA22B}"/>
              </a:ext>
            </a:extLst>
          </p:cNvPr>
          <p:cNvSpPr txBox="1"/>
          <p:nvPr/>
        </p:nvSpPr>
        <p:spPr>
          <a:xfrm>
            <a:off x="5843069" y="4202352"/>
            <a:ext cx="2988366" cy="562185"/>
          </a:xfrm>
          <a:prstGeom prst="rect">
            <a:avLst/>
          </a:prstGeom>
          <a:noFill/>
        </p:spPr>
        <p:txBody>
          <a:bodyPr wrap="square" lIns="130026" tIns="65014" rIns="130026" bIns="65014" rtlCol="0">
            <a:spAutoFit/>
          </a:bodyPr>
          <a:lstStyle/>
          <a:p>
            <a:pPr algn="l">
              <a:buNone/>
            </a:pPr>
            <a:r>
              <a:rPr lang="en-US" sz="1400" b="0" dirty="0">
                <a:solidFill>
                  <a:srgbClr val="530000"/>
                </a:solidFill>
              </a:rPr>
              <a:t>Phone: (847) 261-4332</a:t>
            </a:r>
          </a:p>
          <a:p>
            <a:pPr algn="l">
              <a:buNone/>
            </a:pPr>
            <a:r>
              <a:rPr lang="en-US" sz="1400" b="0" dirty="0">
                <a:solidFill>
                  <a:srgbClr val="530000"/>
                </a:solidFill>
              </a:rPr>
              <a:t>Online:</a:t>
            </a:r>
            <a:r>
              <a:rPr lang="en-US" sz="1400" b="0" dirty="0"/>
              <a:t> </a:t>
            </a:r>
            <a:r>
              <a:rPr lang="en-US" sz="1400" b="0" dirty="0">
                <a:hlinkClick r:id="rId3"/>
              </a:rPr>
              <a:t>www.enablingvalue.com</a:t>
            </a:r>
            <a:endParaRPr lang="en-US" sz="1400" b="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B7D945-462C-264D-9CAC-085CB242AEB5}"/>
              </a:ext>
            </a:extLst>
          </p:cNvPr>
          <p:cNvSpPr/>
          <p:nvPr/>
        </p:nvSpPr>
        <p:spPr>
          <a:xfrm>
            <a:off x="3577725" y="1163705"/>
            <a:ext cx="198855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800" dirty="0">
                <a:solidFill>
                  <a:srgbClr val="941651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74509728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754560"/>
            <a:ext cx="9144000" cy="215900"/>
          </a:xfrm>
          <a:prstGeom prst="rect">
            <a:avLst/>
          </a:prstGeom>
          <a:gradFill rotWithShape="0">
            <a:gsLst>
              <a:gs pos="0">
                <a:srgbClr val="E8E8E8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02" tIns="45702" rIns="91402" bIns="45702" anchor="ctr">
            <a:spAutoFit/>
          </a:bodyPr>
          <a:lstStyle>
            <a:lvl1pPr eaLnBrk="0" hangingPunct="0">
              <a:defRPr sz="800" b="1">
                <a:solidFill>
                  <a:srgbClr val="000000"/>
                </a:solidFill>
                <a:latin typeface="Arial" charset="0"/>
                <a:ea typeface="ＭＳ Ｐゴシック" charset="-128"/>
                <a:sym typeface="Arial" charset="0"/>
              </a:defRPr>
            </a:lvl1pPr>
            <a:lvl2pPr marL="742950" indent="-285750" eaLnBrk="0" hangingPunct="0">
              <a:defRPr sz="800" b="1">
                <a:solidFill>
                  <a:srgbClr val="000000"/>
                </a:solidFill>
                <a:latin typeface="Arial" charset="0"/>
                <a:ea typeface="ＭＳ Ｐゴシック" charset="-128"/>
                <a:sym typeface="Arial" charset="0"/>
              </a:defRPr>
            </a:lvl2pPr>
            <a:lvl3pPr marL="1143000" indent="-228600" eaLnBrk="0" hangingPunct="0">
              <a:defRPr sz="800" b="1">
                <a:solidFill>
                  <a:srgbClr val="000000"/>
                </a:solidFill>
                <a:latin typeface="Arial" charset="0"/>
                <a:ea typeface="ＭＳ Ｐゴシック" charset="-128"/>
                <a:sym typeface="Arial" charset="0"/>
              </a:defRPr>
            </a:lvl3pPr>
            <a:lvl4pPr marL="1600200" indent="-228600" eaLnBrk="0" hangingPunct="0">
              <a:defRPr sz="800" b="1">
                <a:solidFill>
                  <a:srgbClr val="000000"/>
                </a:solidFill>
                <a:latin typeface="Arial" charset="0"/>
                <a:ea typeface="ＭＳ Ｐゴシック" charset="-128"/>
                <a:sym typeface="Arial" charset="0"/>
              </a:defRPr>
            </a:lvl4pPr>
            <a:lvl5pPr marL="2057400" indent="-228600" eaLnBrk="0" hangingPunct="0">
              <a:defRPr sz="800" b="1">
                <a:solidFill>
                  <a:srgbClr val="000000"/>
                </a:solidFill>
                <a:latin typeface="Arial" charset="0"/>
                <a:ea typeface="ＭＳ Ｐゴシック" charset="-128"/>
                <a:sym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800" b="1">
                <a:solidFill>
                  <a:srgbClr val="000000"/>
                </a:solidFill>
                <a:latin typeface="Arial" charset="0"/>
                <a:ea typeface="ＭＳ Ｐゴシック" charset="-128"/>
                <a:sym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800" b="1">
                <a:solidFill>
                  <a:srgbClr val="000000"/>
                </a:solidFill>
                <a:latin typeface="Arial" charset="0"/>
                <a:ea typeface="ＭＳ Ｐゴシック" charset="-128"/>
                <a:sym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800" b="1">
                <a:solidFill>
                  <a:srgbClr val="000000"/>
                </a:solidFill>
                <a:latin typeface="Arial" charset="0"/>
                <a:ea typeface="ＭＳ Ｐゴシック" charset="-128"/>
                <a:sym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800" b="1">
                <a:solidFill>
                  <a:srgbClr val="000000"/>
                </a:solidFill>
                <a:latin typeface="Arial" charset="0"/>
                <a:ea typeface="ＭＳ Ｐゴシック" charset="-128"/>
                <a:sym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28" name="Rectangle 7"/>
          <p:cNvSpPr>
            <a:spLocks noChangeArrowheads="1"/>
          </p:cNvSpPr>
          <p:nvPr/>
        </p:nvSpPr>
        <p:spPr bwMode="auto">
          <a:xfrm>
            <a:off x="8432500" y="6411912"/>
            <a:ext cx="6858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45702" rIns="0" bIns="45702" anchor="ctr"/>
          <a:lstStyle>
            <a:lvl1pPr eaLnBrk="0" hangingPunct="0">
              <a:defRPr sz="800" b="1">
                <a:solidFill>
                  <a:srgbClr val="000000"/>
                </a:solidFill>
                <a:latin typeface="Arial" charset="0"/>
                <a:ea typeface="ＭＳ Ｐゴシック" charset="-128"/>
                <a:sym typeface="Arial" charset="0"/>
              </a:defRPr>
            </a:lvl1pPr>
            <a:lvl2pPr marL="742950" indent="-285750" eaLnBrk="0" hangingPunct="0">
              <a:defRPr sz="800" b="1">
                <a:solidFill>
                  <a:srgbClr val="000000"/>
                </a:solidFill>
                <a:latin typeface="Arial" charset="0"/>
                <a:ea typeface="ＭＳ Ｐゴシック" charset="-128"/>
                <a:sym typeface="Arial" charset="0"/>
              </a:defRPr>
            </a:lvl2pPr>
            <a:lvl3pPr marL="1143000" indent="-228600" eaLnBrk="0" hangingPunct="0">
              <a:defRPr sz="800" b="1">
                <a:solidFill>
                  <a:srgbClr val="000000"/>
                </a:solidFill>
                <a:latin typeface="Arial" charset="0"/>
                <a:ea typeface="ＭＳ Ｐゴシック" charset="-128"/>
                <a:sym typeface="Arial" charset="0"/>
              </a:defRPr>
            </a:lvl3pPr>
            <a:lvl4pPr marL="1600200" indent="-228600" eaLnBrk="0" hangingPunct="0">
              <a:defRPr sz="800" b="1">
                <a:solidFill>
                  <a:srgbClr val="000000"/>
                </a:solidFill>
                <a:latin typeface="Arial" charset="0"/>
                <a:ea typeface="ＭＳ Ｐゴシック" charset="-128"/>
                <a:sym typeface="Arial" charset="0"/>
              </a:defRPr>
            </a:lvl4pPr>
            <a:lvl5pPr marL="2057400" indent="-228600" eaLnBrk="0" hangingPunct="0">
              <a:defRPr sz="800" b="1">
                <a:solidFill>
                  <a:srgbClr val="000000"/>
                </a:solidFill>
                <a:latin typeface="Arial" charset="0"/>
                <a:ea typeface="ＭＳ Ｐゴシック" charset="-128"/>
                <a:sym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800" b="1">
                <a:solidFill>
                  <a:srgbClr val="000000"/>
                </a:solidFill>
                <a:latin typeface="Arial" charset="0"/>
                <a:ea typeface="ＭＳ Ｐゴシック" charset="-128"/>
                <a:sym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800" b="1">
                <a:solidFill>
                  <a:srgbClr val="000000"/>
                </a:solidFill>
                <a:latin typeface="Arial" charset="0"/>
                <a:ea typeface="ＭＳ Ｐゴシック" charset="-128"/>
                <a:sym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800" b="1">
                <a:solidFill>
                  <a:srgbClr val="000000"/>
                </a:solidFill>
                <a:latin typeface="Arial" charset="0"/>
                <a:ea typeface="ＭＳ Ｐゴシック" charset="-128"/>
                <a:sym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800" b="1">
                <a:solidFill>
                  <a:srgbClr val="000000"/>
                </a:solidFill>
                <a:latin typeface="Arial" charset="0"/>
                <a:ea typeface="ＭＳ Ｐゴシック" charset="-128"/>
                <a:sym typeface="Arial" charset="0"/>
              </a:defRPr>
            </a:lvl9pPr>
          </a:lstStyle>
          <a:p>
            <a:pPr eaLnBrk="1" hangingPunct="1">
              <a:buFontTx/>
              <a:buNone/>
            </a:pPr>
            <a:fld id="{A7B8C90B-5382-E44E-ABB5-66873B329352}" type="slidenum">
              <a:rPr lang="en-US" altLang="en-US" sz="1200" b="1">
                <a:solidFill>
                  <a:schemeClr val="tx1">
                    <a:lumMod val="50000"/>
                    <a:lumOff val="50000"/>
                  </a:schemeClr>
                </a:solidFill>
              </a:rPr>
              <a:pPr eaLnBrk="1" hangingPunct="1">
                <a:buFontTx/>
                <a:buNone/>
              </a:pPr>
              <a:t>‹#›</a:t>
            </a:fld>
            <a:endParaRPr lang="en-US" altLang="en-US" sz="12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6" name="Picture 3" descr="veg logo v5.png">
            <a:extLst>
              <a:ext uri="{FF2B5EF4-FFF2-40B4-BE49-F238E27FC236}">
                <a16:creationId xmlns:a16="http://schemas.microsoft.com/office/drawing/2014/main" id="{35C752D3-AB2C-AE49-BDF6-BEF75B8EA56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00" y="6472605"/>
            <a:ext cx="1477575" cy="338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85296B8-8A78-6A47-8A44-2D6B97FA9EF5}"/>
              </a:ext>
            </a:extLst>
          </p:cNvPr>
          <p:cNvSpPr txBox="1"/>
          <p:nvPr/>
        </p:nvSpPr>
        <p:spPr>
          <a:xfrm>
            <a:off x="2233653" y="6531289"/>
            <a:ext cx="53472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900" b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COPYRIGHT THE VALUE ENABLEMENT GROUP, LLC.  2011-2019.  ALL RIGHTS RESERVED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077C263-7A89-AE46-91CD-211DC0FD8A09}"/>
              </a:ext>
            </a:extLst>
          </p:cNvPr>
          <p:cNvSpPr txBox="1">
            <a:spLocks/>
          </p:cNvSpPr>
          <p:nvPr/>
        </p:nvSpPr>
        <p:spPr>
          <a:xfrm>
            <a:off x="0" y="109"/>
            <a:ext cx="9144000" cy="744836"/>
          </a:xfrm>
          <a:prstGeom prst="rect">
            <a:avLst/>
          </a:prstGeom>
          <a:solidFill>
            <a:schemeClr val="tx2"/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552200"/>
                </a:solidFill>
                <a:latin typeface="+mj-lt"/>
                <a:ea typeface="ＭＳ Ｐゴシック" pitchFamily="-106" charset="-128"/>
                <a:cs typeface="ＭＳ Ｐゴシック" pitchFamily="-106" charset="-128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552200"/>
                </a:solidFill>
                <a:latin typeface="Arial" charset="0"/>
                <a:ea typeface="ＭＳ Ｐゴシック" pitchFamily="-106" charset="-128"/>
                <a:cs typeface="ＭＳ Ｐゴシック" pitchFamily="-106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552200"/>
                </a:solidFill>
                <a:latin typeface="Arial" charset="0"/>
                <a:ea typeface="ＭＳ Ｐゴシック" pitchFamily="-106" charset="-128"/>
                <a:cs typeface="ＭＳ Ｐゴシック" pitchFamily="-106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552200"/>
                </a:solidFill>
                <a:latin typeface="Arial" charset="0"/>
                <a:ea typeface="ＭＳ Ｐゴシック" pitchFamily="-106" charset="-128"/>
                <a:cs typeface="ＭＳ Ｐゴシック" pitchFamily="-106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552200"/>
                </a:solidFill>
                <a:latin typeface="Arial" charset="0"/>
                <a:ea typeface="ＭＳ Ｐゴシック" pitchFamily="-106" charset="-128"/>
                <a:cs typeface="ＭＳ Ｐゴシック" pitchFamily="-106" charset="-128"/>
              </a:defRPr>
            </a:lvl5pPr>
            <a:lvl6pPr marL="457011" algn="l" rtl="0" eaLnBrk="1" fontAlgn="base" hangingPunct="1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445562"/>
                </a:solidFill>
                <a:latin typeface="Arial" charset="0"/>
              </a:defRPr>
            </a:lvl6pPr>
            <a:lvl7pPr marL="914024" algn="l" rtl="0" eaLnBrk="1" fontAlgn="base" hangingPunct="1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445562"/>
                </a:solidFill>
                <a:latin typeface="Arial" charset="0"/>
              </a:defRPr>
            </a:lvl7pPr>
            <a:lvl8pPr marL="1371040" algn="l" rtl="0" eaLnBrk="1" fontAlgn="base" hangingPunct="1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445562"/>
                </a:solidFill>
                <a:latin typeface="Arial" charset="0"/>
              </a:defRPr>
            </a:lvl8pPr>
            <a:lvl9pPr marL="1828052" algn="l" rtl="0" eaLnBrk="1" fontAlgn="base" hangingPunct="1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445562"/>
                </a:solidFill>
                <a:latin typeface="Arial" charset="0"/>
              </a:defRPr>
            </a:lvl9pPr>
          </a:lstStyle>
          <a:p>
            <a:pPr algn="ctr">
              <a:buNone/>
            </a:pPr>
            <a:endParaRPr lang="en-US" sz="2900" kern="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6938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3" r:id="rId1"/>
    <p:sldLayoutId id="2147483904" r:id="rId2"/>
    <p:sldLayoutId id="2147483905" r:id="rId3"/>
    <p:sldLayoutId id="2147483906" r:id="rId4"/>
    <p:sldLayoutId id="2147483907" r:id="rId5"/>
    <p:sldLayoutId id="2147483908" r:id="rId6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552200"/>
          </a:solidFill>
          <a:latin typeface="+mj-lt"/>
          <a:ea typeface="ＭＳ Ｐゴシック" pitchFamily="-106" charset="-128"/>
          <a:cs typeface="ＭＳ Ｐゴシック" pitchFamily="-106" charset="-128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552200"/>
          </a:solidFill>
          <a:latin typeface="Arial" charset="0"/>
          <a:ea typeface="ＭＳ Ｐゴシック" pitchFamily="-106" charset="-128"/>
          <a:cs typeface="ＭＳ Ｐゴシック" pitchFamily="-106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552200"/>
          </a:solidFill>
          <a:latin typeface="Arial" charset="0"/>
          <a:ea typeface="ＭＳ Ｐゴシック" pitchFamily="-106" charset="-128"/>
          <a:cs typeface="ＭＳ Ｐゴシック" pitchFamily="-106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552200"/>
          </a:solidFill>
          <a:latin typeface="Arial" charset="0"/>
          <a:ea typeface="ＭＳ Ｐゴシック" pitchFamily="-106" charset="-128"/>
          <a:cs typeface="ＭＳ Ｐゴシック" pitchFamily="-106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552200"/>
          </a:solidFill>
          <a:latin typeface="Arial" charset="0"/>
          <a:ea typeface="ＭＳ Ｐゴシック" pitchFamily="-106" charset="-128"/>
          <a:cs typeface="ＭＳ Ｐゴシック" pitchFamily="-106" charset="-128"/>
        </a:defRPr>
      </a:lvl5pPr>
      <a:lvl6pPr marL="457011" algn="l" rtl="0" eaLnBrk="1" fontAlgn="base" hangingPunct="1">
        <a:spcBef>
          <a:spcPct val="0"/>
        </a:spcBef>
        <a:spcAft>
          <a:spcPct val="0"/>
        </a:spcAft>
        <a:defRPr sz="2200" b="1">
          <a:solidFill>
            <a:srgbClr val="445562"/>
          </a:solidFill>
          <a:latin typeface="Arial" charset="0"/>
        </a:defRPr>
      </a:lvl6pPr>
      <a:lvl7pPr marL="914024" algn="l" rtl="0" eaLnBrk="1" fontAlgn="base" hangingPunct="1">
        <a:spcBef>
          <a:spcPct val="0"/>
        </a:spcBef>
        <a:spcAft>
          <a:spcPct val="0"/>
        </a:spcAft>
        <a:defRPr sz="2200" b="1">
          <a:solidFill>
            <a:srgbClr val="445562"/>
          </a:solidFill>
          <a:latin typeface="Arial" charset="0"/>
        </a:defRPr>
      </a:lvl7pPr>
      <a:lvl8pPr marL="1371040" algn="l" rtl="0" eaLnBrk="1" fontAlgn="base" hangingPunct="1">
        <a:spcBef>
          <a:spcPct val="0"/>
        </a:spcBef>
        <a:spcAft>
          <a:spcPct val="0"/>
        </a:spcAft>
        <a:defRPr sz="2200" b="1">
          <a:solidFill>
            <a:srgbClr val="445562"/>
          </a:solidFill>
          <a:latin typeface="Arial" charset="0"/>
        </a:defRPr>
      </a:lvl8pPr>
      <a:lvl9pPr marL="1828052" algn="l" rtl="0" eaLnBrk="1" fontAlgn="base" hangingPunct="1">
        <a:spcBef>
          <a:spcPct val="0"/>
        </a:spcBef>
        <a:spcAft>
          <a:spcPct val="0"/>
        </a:spcAft>
        <a:defRPr sz="2200" b="1">
          <a:solidFill>
            <a:srgbClr val="445562"/>
          </a:solidFill>
          <a:latin typeface="Arial" charset="0"/>
        </a:defRPr>
      </a:lvl9pPr>
    </p:titleStyle>
    <p:bodyStyle>
      <a:lvl1pPr marL="339725" indent="-339725" algn="l" rtl="0" eaLnBrk="1" fontAlgn="base" hangingPunct="1">
        <a:spcBef>
          <a:spcPct val="20000"/>
        </a:spcBef>
        <a:spcAft>
          <a:spcPct val="0"/>
        </a:spcAft>
        <a:buFont typeface="Wingdings" charset="2"/>
        <a:buChar char="•"/>
        <a:defRPr sz="1600" b="1">
          <a:solidFill>
            <a:schemeClr val="tx1"/>
          </a:solidFill>
          <a:latin typeface="+mn-lt"/>
          <a:ea typeface="ＭＳ Ｐゴシック" pitchFamily="-106" charset="-128"/>
          <a:cs typeface="ＭＳ Ｐゴシック" pitchFamily="-106" charset="-128"/>
        </a:defRPr>
      </a:lvl1pPr>
      <a:lvl2pPr marL="739775" indent="-280988" algn="l" rtl="0" eaLnBrk="1" fontAlgn="base" hangingPunct="1">
        <a:spcBef>
          <a:spcPct val="20000"/>
        </a:spcBef>
        <a:spcAft>
          <a:spcPct val="0"/>
        </a:spcAft>
        <a:buClr>
          <a:srgbClr val="FD9712"/>
        </a:buClr>
        <a:buFont typeface="Wingdings" charset="2"/>
        <a:buChar char="§"/>
        <a:defRPr sz="1400">
          <a:solidFill>
            <a:schemeClr val="tx1"/>
          </a:solidFill>
          <a:latin typeface="+mn-lt"/>
          <a:ea typeface="ＭＳ Ｐゴシック" pitchFamily="-106" charset="-128"/>
          <a:cs typeface="ＭＳ Ｐゴシック"/>
        </a:defRPr>
      </a:lvl2pPr>
      <a:lvl3pPr marL="1138238" indent="-225425" algn="l" rtl="0" eaLnBrk="1" fontAlgn="base" hangingPunct="1">
        <a:spcBef>
          <a:spcPct val="20000"/>
        </a:spcBef>
        <a:spcAft>
          <a:spcPct val="0"/>
        </a:spcAft>
        <a:buClr>
          <a:srgbClr val="445562"/>
        </a:buClr>
        <a:buFont typeface="Times" charset="0"/>
        <a:buChar char="•"/>
        <a:defRPr sz="1400">
          <a:solidFill>
            <a:schemeClr val="tx1"/>
          </a:solidFill>
          <a:latin typeface="+mn-lt"/>
          <a:ea typeface="ＭＳ Ｐゴシック" pitchFamily="-106" charset="-128"/>
          <a:cs typeface="ＭＳ Ｐゴシック"/>
        </a:defRPr>
      </a:lvl3pPr>
      <a:lvl4pPr marL="1597025" indent="-225425" algn="l" rtl="0" eaLnBrk="1" fontAlgn="base" hangingPunct="1">
        <a:spcBef>
          <a:spcPct val="20000"/>
        </a:spcBef>
        <a:spcAft>
          <a:spcPct val="0"/>
        </a:spcAft>
        <a:buClr>
          <a:srgbClr val="445562"/>
        </a:buClr>
        <a:buFont typeface="Arial" charset="0"/>
        <a:buChar char="»"/>
        <a:defRPr sz="1400">
          <a:solidFill>
            <a:schemeClr val="tx1"/>
          </a:solidFill>
          <a:latin typeface="+mn-lt"/>
          <a:ea typeface="ＭＳ Ｐゴシック" pitchFamily="-106" charset="-128"/>
          <a:cs typeface="ＭＳ Ｐゴシック"/>
        </a:defRPr>
      </a:lvl4pPr>
      <a:lvl5pPr marL="2054225" indent="-225425" algn="l" rtl="0" eaLnBrk="1" fontAlgn="base" hangingPunct="1">
        <a:spcBef>
          <a:spcPct val="20000"/>
        </a:spcBef>
        <a:spcAft>
          <a:spcPct val="0"/>
        </a:spcAft>
        <a:buClr>
          <a:srgbClr val="445562"/>
        </a:buClr>
        <a:buFont typeface="Times" charset="0"/>
        <a:buChar char="•"/>
        <a:defRPr sz="1400">
          <a:solidFill>
            <a:schemeClr val="tx1"/>
          </a:solidFill>
          <a:latin typeface="+mn-lt"/>
          <a:ea typeface="ＭＳ Ｐゴシック" pitchFamily="-106" charset="-128"/>
          <a:cs typeface="ＭＳ Ｐゴシック"/>
        </a:defRPr>
      </a:lvl5pPr>
      <a:lvl6pPr marL="2513573" indent="-228505" algn="l" rtl="0" eaLnBrk="1" fontAlgn="base" hangingPunct="1">
        <a:spcBef>
          <a:spcPct val="20000"/>
        </a:spcBef>
        <a:spcAft>
          <a:spcPct val="0"/>
        </a:spcAft>
        <a:buClr>
          <a:srgbClr val="445562"/>
        </a:buClr>
        <a:buFont typeface="Times" pitchFamily="124" charset="0"/>
        <a:buChar char="•"/>
        <a:defRPr sz="1400">
          <a:solidFill>
            <a:schemeClr val="tx1"/>
          </a:solidFill>
          <a:latin typeface="+mn-lt"/>
        </a:defRPr>
      </a:lvl6pPr>
      <a:lvl7pPr marL="2970584" indent="-228505" algn="l" rtl="0" eaLnBrk="1" fontAlgn="base" hangingPunct="1">
        <a:spcBef>
          <a:spcPct val="20000"/>
        </a:spcBef>
        <a:spcAft>
          <a:spcPct val="0"/>
        </a:spcAft>
        <a:buClr>
          <a:srgbClr val="445562"/>
        </a:buClr>
        <a:buFont typeface="Times" pitchFamily="124" charset="0"/>
        <a:buChar char="•"/>
        <a:defRPr sz="1400">
          <a:solidFill>
            <a:schemeClr val="tx1"/>
          </a:solidFill>
          <a:latin typeface="+mn-lt"/>
        </a:defRPr>
      </a:lvl7pPr>
      <a:lvl8pPr marL="3427598" indent="-228505" algn="l" rtl="0" eaLnBrk="1" fontAlgn="base" hangingPunct="1">
        <a:spcBef>
          <a:spcPct val="20000"/>
        </a:spcBef>
        <a:spcAft>
          <a:spcPct val="0"/>
        </a:spcAft>
        <a:buClr>
          <a:srgbClr val="445562"/>
        </a:buClr>
        <a:buFont typeface="Times" pitchFamily="124" charset="0"/>
        <a:buChar char="•"/>
        <a:defRPr sz="1400">
          <a:solidFill>
            <a:schemeClr val="tx1"/>
          </a:solidFill>
          <a:latin typeface="+mn-lt"/>
        </a:defRPr>
      </a:lvl8pPr>
      <a:lvl9pPr marL="3884609" indent="-228505" algn="l" rtl="0" eaLnBrk="1" fontAlgn="base" hangingPunct="1">
        <a:spcBef>
          <a:spcPct val="20000"/>
        </a:spcBef>
        <a:spcAft>
          <a:spcPct val="0"/>
        </a:spcAft>
        <a:buClr>
          <a:srgbClr val="445562"/>
        </a:buClr>
        <a:buFont typeface="Times" pitchFamily="124" charset="0"/>
        <a:buChar char="•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0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11" algn="l" defTabSz="9140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24" algn="l" defTabSz="9140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040" algn="l" defTabSz="9140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052" algn="l" defTabSz="9140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064" algn="l" defTabSz="9140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079" algn="l" defTabSz="9140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088" algn="l" defTabSz="9140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104" algn="l" defTabSz="9140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iff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7.jpeg"/><Relationship Id="rId4" Type="http://schemas.openxmlformats.org/officeDocument/2006/relationships/diagramLayout" Target="../diagrams/layout1.xml"/><Relationship Id="rId9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0.tiff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7088217-1AF0-DC40-9A4D-DC5646F6D7FF}"/>
              </a:ext>
            </a:extLst>
          </p:cNvPr>
          <p:cNvSpPr/>
          <p:nvPr/>
        </p:nvSpPr>
        <p:spPr>
          <a:xfrm>
            <a:off x="770860" y="965331"/>
            <a:ext cx="760227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000" dirty="0">
                <a:solidFill>
                  <a:schemeClr val="bg1"/>
                </a:solidFill>
              </a:rPr>
              <a:t>Extending AMA’s Value</a:t>
            </a:r>
            <a:br>
              <a:rPr lang="en-US" sz="2800" dirty="0">
                <a:solidFill>
                  <a:srgbClr val="666666"/>
                </a:solidFill>
              </a:rPr>
            </a:br>
            <a:r>
              <a:rPr lang="en-US" sz="1600" dirty="0">
                <a:solidFill>
                  <a:schemeClr val="accent4"/>
                </a:solidFill>
              </a:rPr>
              <a:t>Delivering Meaningful Value for Healthcare</a:t>
            </a:r>
            <a:endParaRPr lang="en-US" sz="2000" dirty="0">
              <a:solidFill>
                <a:schemeClr val="accent4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59A98D-072F-CB47-B921-E65D818C0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8700" y="3429000"/>
            <a:ext cx="2006600" cy="1152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366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3">
            <a:extLst>
              <a:ext uri="{FF2B5EF4-FFF2-40B4-BE49-F238E27FC236}">
                <a16:creationId xmlns:a16="http://schemas.microsoft.com/office/drawing/2014/main" id="{4A796EC3-2634-874E-B1C3-B8AF9C6F2DF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US" sz="2800" b="1" i="1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Implement a value-driven measurement system for healthcare to expand the membership, relevancy, and revenue potential for the AMA.   </a:t>
            </a:r>
          </a:p>
          <a:p>
            <a:pPr marL="457200" lvl="1" indent="0">
              <a:buNone/>
            </a:pPr>
            <a:endParaRPr lang="en-US" sz="2400" b="1" dirty="0">
              <a:latin typeface="Calibri" pitchFamily="34" charset="0"/>
              <a:cs typeface="Calibri" pitchFamily="34" charset="0"/>
            </a:endParaRPr>
          </a:p>
          <a:p>
            <a:pPr lvl="1">
              <a:buFont typeface="Wingdings" pitchFamily="2" charset="2"/>
              <a:buChar char="Ø"/>
            </a:pPr>
            <a:r>
              <a:rPr lang="en-US" b="1" dirty="0">
                <a:latin typeface="Calibri" pitchFamily="34" charset="0"/>
                <a:cs typeface="Calibri" pitchFamily="34" charset="0"/>
              </a:rPr>
              <a:t>To </a:t>
            </a:r>
            <a:r>
              <a:rPr lang="en-US" b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provide a unified vision </a:t>
            </a:r>
            <a:r>
              <a:rPr lang="en-US" b="1" dirty="0">
                <a:latin typeface="Calibri" pitchFamily="34" charset="0"/>
                <a:cs typeface="Calibri" pitchFamily="34" charset="0"/>
              </a:rPr>
              <a:t>for delivering sustainable value for patients, practitioners, and provider.</a:t>
            </a:r>
          </a:p>
          <a:p>
            <a:pPr lvl="1">
              <a:buFont typeface="Wingdings" pitchFamily="2" charset="2"/>
              <a:buChar char="Ø"/>
            </a:pPr>
            <a:r>
              <a:rPr lang="en-US" b="1" dirty="0"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To </a:t>
            </a:r>
            <a:r>
              <a:rPr lang="en-US" b="1" dirty="0">
                <a:solidFill>
                  <a:schemeClr val="accent1"/>
                </a:solidFill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drive innovation </a:t>
            </a:r>
            <a:r>
              <a:rPr lang="en-US" b="1" dirty="0"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&amp; collaboration.</a:t>
            </a:r>
          </a:p>
          <a:p>
            <a:pPr lvl="1">
              <a:buFont typeface="Wingdings" pitchFamily="2" charset="2"/>
              <a:buChar char="Ø"/>
            </a:pPr>
            <a:r>
              <a:rPr lang="en-US" b="1" dirty="0"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To </a:t>
            </a:r>
            <a:r>
              <a:rPr lang="en-US" b="1" dirty="0">
                <a:solidFill>
                  <a:schemeClr val="accent1"/>
                </a:solidFill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guide continuous improvement </a:t>
            </a:r>
            <a:r>
              <a:rPr lang="en-US" b="1" dirty="0"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(quality and efficiency) across the continuum of care.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153B98-E46E-1B42-AC91-140842E1C51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58200" y="6356350"/>
            <a:ext cx="685800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58D7007-DD2E-4D42-AE30-AE544A894DD0}" type="slidenum">
              <a:rPr lang="en-US" altLang="en-US">
                <a:solidFill>
                  <a:srgbClr val="254061"/>
                </a:solidFill>
                <a:latin typeface="Calibri" panose="020F0502020204030204" pitchFamily="34" charset="0"/>
              </a:rPr>
              <a:pPr eaLnBrk="1" hangingPunct="1"/>
              <a:t>2</a:t>
            </a:fld>
            <a:endParaRPr lang="en-US" altLang="en-US">
              <a:solidFill>
                <a:srgbClr val="254061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873FF59-01C0-7D48-9679-2DAB24BCC39C}"/>
              </a:ext>
            </a:extLst>
          </p:cNvPr>
          <p:cNvSpPr/>
          <p:nvPr/>
        </p:nvSpPr>
        <p:spPr>
          <a:xfrm>
            <a:off x="2169042" y="18227"/>
            <a:ext cx="4572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bg1"/>
                </a:solidFill>
              </a:rPr>
              <a:t>Extending AMA’s Value</a:t>
            </a:r>
            <a:br>
              <a:rPr lang="en-US" sz="2400" kern="0" dirty="0">
                <a:solidFill>
                  <a:schemeClr val="bg1"/>
                </a:solidFill>
              </a:rPr>
            </a:br>
            <a:r>
              <a:rPr lang="en-US" sz="1800" kern="0" dirty="0">
                <a:solidFill>
                  <a:schemeClr val="accent4"/>
                </a:solidFill>
              </a:rPr>
              <a:t>Proposal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4C78625-81E9-8F4F-8A20-FB369C18BEDB}"/>
              </a:ext>
            </a:extLst>
          </p:cNvPr>
          <p:cNvSpPr/>
          <p:nvPr/>
        </p:nvSpPr>
        <p:spPr>
          <a:xfrm>
            <a:off x="2169042" y="18227"/>
            <a:ext cx="4572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bg1"/>
                </a:solidFill>
              </a:rPr>
              <a:t>Extending AMA’s Value</a:t>
            </a:r>
            <a:br>
              <a:rPr lang="en-US" sz="2400" kern="0" dirty="0">
                <a:solidFill>
                  <a:schemeClr val="bg1"/>
                </a:solidFill>
              </a:rPr>
            </a:br>
            <a:r>
              <a:rPr lang="en-US" sz="1800" kern="0" dirty="0">
                <a:solidFill>
                  <a:schemeClr val="accent4"/>
                </a:solidFill>
              </a:rPr>
              <a:t>The Vision</a:t>
            </a: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FD88099B-19E6-2D40-B8F2-304D9D3F445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46462855"/>
              </p:ext>
            </p:extLst>
          </p:nvPr>
        </p:nvGraphicFramePr>
        <p:xfrm>
          <a:off x="2286000" y="12192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1" name="Picture 10" descr="business person 2.jpg">
            <a:extLst>
              <a:ext uri="{FF2B5EF4-FFF2-40B4-BE49-F238E27FC236}">
                <a16:creationId xmlns:a16="http://schemas.microsoft.com/office/drawing/2014/main" id="{1EC73411-BBE7-654B-8B8C-A1CA3BD8B24F}"/>
              </a:ext>
            </a:extLst>
          </p:cNvPr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6096000" y="4165600"/>
            <a:ext cx="1057275" cy="1057275"/>
          </a:xfrm>
          <a:prstGeom prst="rect">
            <a:avLst/>
          </a:prstGeom>
        </p:spPr>
      </p:pic>
      <p:pic>
        <p:nvPicPr>
          <p:cNvPr id="12" name="Picture 11" descr="doctor 2.jpg">
            <a:extLst>
              <a:ext uri="{FF2B5EF4-FFF2-40B4-BE49-F238E27FC236}">
                <a16:creationId xmlns:a16="http://schemas.microsoft.com/office/drawing/2014/main" id="{04D759C2-45F4-C148-9F9A-307DC2E1DA92}"/>
              </a:ext>
            </a:extLst>
          </p:cNvPr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5638800" y="2717800"/>
            <a:ext cx="1066800" cy="1066800"/>
          </a:xfrm>
          <a:prstGeom prst="rect">
            <a:avLst/>
          </a:prstGeom>
        </p:spPr>
      </p:pic>
      <p:pic>
        <p:nvPicPr>
          <p:cNvPr id="13" name="Picture 12" descr="patient 2.jpg">
            <a:extLst>
              <a:ext uri="{FF2B5EF4-FFF2-40B4-BE49-F238E27FC236}">
                <a16:creationId xmlns:a16="http://schemas.microsoft.com/office/drawing/2014/main" id="{1D5BF549-270D-DE43-8008-E283037E9F17}"/>
              </a:ext>
            </a:extLst>
          </p:cNvPr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5334000" y="1346200"/>
            <a:ext cx="990600" cy="9906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44240CD-A8C0-DD44-882D-4560F0874C90}"/>
              </a:ext>
            </a:extLst>
          </p:cNvPr>
          <p:cNvSpPr txBox="1"/>
          <p:nvPr/>
        </p:nvSpPr>
        <p:spPr>
          <a:xfrm>
            <a:off x="228600" y="3835400"/>
            <a:ext cx="2362200" cy="138499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buNone/>
            </a:pPr>
            <a:r>
              <a:rPr lang="en-US" sz="1400" b="0" dirty="0"/>
              <a:t>“We continue to pay for lots of medical procedures that don't add to health value and in fact just add costs to the system..”</a:t>
            </a:r>
          </a:p>
          <a:p>
            <a:pPr algn="l">
              <a:buNone/>
            </a:pPr>
            <a:r>
              <a:rPr lang="en-US" sz="1400" b="0" dirty="0"/>
              <a:t>      - Kathleen Sebelius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4C78625-81E9-8F4F-8A20-FB369C18BEDB}"/>
              </a:ext>
            </a:extLst>
          </p:cNvPr>
          <p:cNvSpPr/>
          <p:nvPr/>
        </p:nvSpPr>
        <p:spPr>
          <a:xfrm>
            <a:off x="1790700" y="21748"/>
            <a:ext cx="579120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bg1"/>
                </a:solidFill>
              </a:rPr>
              <a:t>Extending AMA’s Value</a:t>
            </a:r>
            <a:br>
              <a:rPr lang="en-US" sz="2400" kern="0" dirty="0">
                <a:solidFill>
                  <a:schemeClr val="bg1"/>
                </a:solidFill>
              </a:rPr>
            </a:br>
            <a:r>
              <a:rPr lang="en-US" sz="1800" kern="0" dirty="0">
                <a:solidFill>
                  <a:schemeClr val="accent4"/>
                </a:solidFill>
              </a:rPr>
              <a:t>Drive LEAN with Value-Driven Measurement</a:t>
            </a:r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5C092D4D-A6A1-E44F-8F6A-8957C6BF3E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208660" y="3732212"/>
            <a:ext cx="1452739" cy="22098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8" name="Rectangle 9">
            <a:extLst>
              <a:ext uri="{FF2B5EF4-FFF2-40B4-BE49-F238E27FC236}">
                <a16:creationId xmlns:a16="http://schemas.microsoft.com/office/drawing/2014/main" id="{53015F77-F030-1E4B-A261-FA587C586F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066800"/>
            <a:ext cx="83058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533400" marR="0" lvl="0" indent="-5334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1C67"/>
              </a:buClr>
              <a:buSzTx/>
              <a:buFont typeface="Arial" charset="0"/>
              <a:buAutoNum type="arabicPeriod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itchFamily="-110" charset="-128"/>
                <a:cs typeface="Calibri" panose="020F0502020204030204" pitchFamily="34" charset="0"/>
              </a:rPr>
              <a:t>Specify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E128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itchFamily="-110" charset="-128"/>
                <a:cs typeface="Calibri" panose="020F0502020204030204" pitchFamily="34" charset="0"/>
              </a:rPr>
              <a:t>value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itchFamily="-110" charset="-128"/>
                <a:cs typeface="Calibri" panose="020F0502020204030204" pitchFamily="34" charset="0"/>
              </a:rPr>
              <a:t> in the eyes of the 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itchFamily="-110" charset="-128"/>
                <a:cs typeface="Calibri" panose="020F0502020204030204" pitchFamily="34" charset="0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1C67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itchFamily="-110" charset="-128"/>
                <a:cs typeface="Calibri" panose="020F0502020204030204" pitchFamily="34" charset="0"/>
              </a:rPr>
              <a:t>customer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itchFamily="-110" charset="-128"/>
                <a:cs typeface="Calibri" panose="020F0502020204030204" pitchFamily="34" charset="0"/>
              </a:rPr>
              <a:t>.</a:t>
            </a:r>
          </a:p>
          <a:p>
            <a:pPr marL="533400" marR="0" lvl="0" indent="-5334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1C67"/>
              </a:buClr>
              <a:buSzTx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ＭＳ Ｐゴシック" pitchFamily="-110" charset="-128"/>
              <a:cs typeface="Calibri" panose="020F0502020204030204" pitchFamily="34" charset="0"/>
            </a:endParaRPr>
          </a:p>
          <a:p>
            <a:pPr marL="533400" marR="0" lvl="0" indent="-5334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1C67"/>
              </a:buClr>
              <a:buSzTx/>
              <a:buFont typeface="+mj-lt"/>
              <a:buAutoNum type="arabicPeriod" startAt="2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itchFamily="-110" charset="-128"/>
                <a:cs typeface="Calibri" panose="020F0502020204030204" pitchFamily="34" charset="0"/>
              </a:rPr>
              <a:t>Identify the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E128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itchFamily="-110" charset="-128"/>
                <a:cs typeface="Calibri" panose="020F0502020204030204" pitchFamily="34" charset="0"/>
              </a:rPr>
              <a:t>value stream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itchFamily="-110" charset="-128"/>
                <a:cs typeface="Calibri" panose="020F0502020204030204" pitchFamily="34" charset="0"/>
              </a:rPr>
              <a:t> and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itchFamily="-110" charset="-128"/>
                <a:cs typeface="Calibri" panose="020F0502020204030204" pitchFamily="34" charset="0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itchFamily="-110" charset="-128"/>
                <a:cs typeface="Calibri" panose="020F0502020204030204" pitchFamily="34" charset="0"/>
              </a:rPr>
              <a:t> eliminate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E128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itchFamily="-110" charset="-128"/>
                <a:cs typeface="Calibri" panose="020F0502020204030204" pitchFamily="34" charset="0"/>
              </a:rPr>
              <a:t>waste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itchFamily="-110" charset="-128"/>
                <a:cs typeface="Calibri" panose="020F0502020204030204" pitchFamily="34" charset="0"/>
              </a:rPr>
              <a:t>.</a:t>
            </a:r>
          </a:p>
          <a:p>
            <a:pPr marL="533400" marR="0" lvl="0" indent="-5334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1C67"/>
              </a:buClr>
              <a:buSzTx/>
              <a:buFont typeface="Arial" charset="0"/>
              <a:buAutoNum type="arabicPeriod" startAt="2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itchFamily="-110" charset="-128"/>
                <a:cs typeface="Calibri" panose="020F0502020204030204" pitchFamily="34" charset="0"/>
              </a:rPr>
              <a:t>Make value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E128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itchFamily="-110" charset="-128"/>
                <a:cs typeface="Calibri" panose="020F0502020204030204" pitchFamily="34" charset="0"/>
              </a:rPr>
              <a:t>flow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itchFamily="-110" charset="-128"/>
                <a:cs typeface="Calibri" panose="020F0502020204030204" pitchFamily="34" charset="0"/>
              </a:rPr>
              <a:t> at the pull of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itchFamily="-110" charset="-128"/>
                <a:cs typeface="Calibri" panose="020F0502020204030204" pitchFamily="34" charset="0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itchFamily="-110" charset="-128"/>
                <a:cs typeface="Calibri" panose="020F0502020204030204" pitchFamily="34" charset="0"/>
              </a:rPr>
              <a:t> the customer.</a:t>
            </a:r>
          </a:p>
          <a:p>
            <a:pPr marL="533400" marR="0" lvl="0" indent="-5334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1C67"/>
              </a:buClr>
              <a:buSzTx/>
              <a:buFont typeface="Arial" charset="0"/>
              <a:buAutoNum type="arabicPeriod" startAt="2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E128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itchFamily="-110" charset="-128"/>
                <a:cs typeface="Calibri" panose="020F0502020204030204" pitchFamily="34" charset="0"/>
              </a:rPr>
              <a:t>Involve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itchFamily="-110" charset="-128"/>
                <a:cs typeface="Calibri" panose="020F0502020204030204" pitchFamily="34" charset="0"/>
              </a:rPr>
              <a:t> and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E128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itchFamily="-110" charset="-128"/>
                <a:cs typeface="Calibri" panose="020F0502020204030204" pitchFamily="34" charset="0"/>
              </a:rPr>
              <a:t>Empower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itchFamily="-110" charset="-128"/>
                <a:cs typeface="Calibri" panose="020F0502020204030204" pitchFamily="34" charset="0"/>
              </a:rPr>
              <a:t> employees.</a:t>
            </a:r>
          </a:p>
          <a:p>
            <a:pPr marL="533400" lvl="0" indent="-533400" eaLnBrk="0" hangingPunct="0">
              <a:spcBef>
                <a:spcPct val="20000"/>
              </a:spcBef>
              <a:buClr>
                <a:srgbClr val="001C67"/>
              </a:buClr>
              <a:buFont typeface="Arial" charset="0"/>
              <a:buAutoNum type="arabicPeriod" startAt="2"/>
            </a:pPr>
            <a:r>
              <a:rPr lang="en-US" sz="2400" dirty="0">
                <a:solidFill>
                  <a:srgbClr val="E12800"/>
                </a:solidFill>
                <a:latin typeface="Calibri" panose="020F0502020204030204" pitchFamily="34" charset="0"/>
                <a:ea typeface="ＭＳ Ｐゴシック" pitchFamily="-110" charset="-128"/>
                <a:cs typeface="Calibri" panose="020F0502020204030204" pitchFamily="34" charset="0"/>
              </a:rPr>
              <a:t>Continuously</a:t>
            </a:r>
            <a:r>
              <a:rPr lang="en-US" sz="2400" dirty="0">
                <a:latin typeface="Calibri" panose="020F0502020204030204" pitchFamily="34" charset="0"/>
                <a:ea typeface="ＭＳ Ｐゴシック" pitchFamily="-110" charset="-128"/>
                <a:cs typeface="Calibri" panose="020F0502020204030204" pitchFamily="34" charset="0"/>
              </a:rPr>
              <a:t> improve in the </a:t>
            </a:r>
            <a:br>
              <a:rPr lang="en-US" sz="2800" dirty="0">
                <a:latin typeface="Calibri" panose="020F0502020204030204" pitchFamily="34" charset="0"/>
                <a:ea typeface="ＭＳ Ｐゴシック" pitchFamily="-110" charset="-128"/>
                <a:cs typeface="Calibri" panose="020F0502020204030204" pitchFamily="34" charset="0"/>
              </a:rPr>
            </a:br>
            <a:r>
              <a:rPr lang="en-US" sz="2800" dirty="0">
                <a:latin typeface="Calibri" panose="020F0502020204030204" pitchFamily="34" charset="0"/>
                <a:ea typeface="ＭＳ Ｐゴシック" pitchFamily="-110" charset="-128"/>
                <a:cs typeface="Calibri" panose="020F0502020204030204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itchFamily="-110" charset="-128"/>
                <a:cs typeface="Calibri" panose="020F0502020204030204" pitchFamily="34" charset="0"/>
              </a:rPr>
              <a:t>pursuit of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E128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itchFamily="-110" charset="-128"/>
                <a:cs typeface="Calibri" panose="020F0502020204030204" pitchFamily="34" charset="0"/>
              </a:rPr>
              <a:t>perfection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1C67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itchFamily="-110" charset="-128"/>
                <a:cs typeface="Calibri" panose="020F0502020204030204" pitchFamily="34" charset="0"/>
              </a:rPr>
              <a:t>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ＭＳ Ｐゴシック" pitchFamily="-110" charset="-128"/>
              <a:cs typeface="Calibri" panose="020F0502020204030204" pitchFamily="34" charset="0"/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5F90AC7E-891F-C948-A049-CC88C67AF1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086600" y="1065212"/>
            <a:ext cx="154305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AutoShape 4">
            <a:extLst>
              <a:ext uri="{FF2B5EF4-FFF2-40B4-BE49-F238E27FC236}">
                <a16:creationId xmlns:a16="http://schemas.microsoft.com/office/drawing/2014/main" id="{A8DF84C0-A05F-4848-8AD9-C96B0B0A07E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528719" y="3137693"/>
            <a:ext cx="792162" cy="457200"/>
          </a:xfrm>
          <a:prstGeom prst="rightArrow">
            <a:avLst>
              <a:gd name="adj1" fmla="val 50000"/>
              <a:gd name="adj2" fmla="val 52799"/>
            </a:avLst>
          </a:prstGeom>
          <a:ln>
            <a:headEnd/>
            <a:tailEnd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11" name="AutoShape 4">
            <a:extLst>
              <a:ext uri="{FF2B5EF4-FFF2-40B4-BE49-F238E27FC236}">
                <a16:creationId xmlns:a16="http://schemas.microsoft.com/office/drawing/2014/main" id="{C0EBA39B-07C9-3147-A9C6-1B30AC39492E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575719" y="1994693"/>
            <a:ext cx="792162" cy="457200"/>
          </a:xfrm>
          <a:prstGeom prst="rightArrow">
            <a:avLst>
              <a:gd name="adj1" fmla="val 50000"/>
              <a:gd name="adj2" fmla="val 52799"/>
            </a:avLst>
          </a:prstGeom>
          <a:ln>
            <a:headEnd/>
            <a:tailEnd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634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>
            <a:extLst>
              <a:ext uri="{FF2B5EF4-FFF2-40B4-BE49-F238E27FC236}">
                <a16:creationId xmlns:a16="http://schemas.microsoft.com/office/drawing/2014/main" id="{ED2D7951-450D-7146-99A7-F35C7DF875E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43416" y="990600"/>
            <a:ext cx="8657167" cy="5178103"/>
          </a:xfrm>
        </p:spPr>
        <p:txBody>
          <a:bodyPr/>
          <a:lstStyle/>
          <a:p>
            <a:r>
              <a:rPr lang="en-US" sz="2400" b="0" dirty="0"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rPr>
              <a:t>Eroding member base.  </a:t>
            </a:r>
          </a:p>
          <a:p>
            <a:r>
              <a:rPr lang="en-US" sz="2400" b="0" dirty="0"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rPr>
              <a:t>Aging membership.</a:t>
            </a:r>
          </a:p>
          <a:p>
            <a:r>
              <a:rPr lang="en-US" sz="2400" b="0" dirty="0"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rPr>
              <a:t>Decline in revenues from membership.</a:t>
            </a:r>
          </a:p>
          <a:p>
            <a:r>
              <a:rPr lang="en-US" sz="2400" b="0" dirty="0"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rPr>
              <a:t>Not perceived as an innovation leader. </a:t>
            </a:r>
          </a:p>
          <a:p>
            <a:r>
              <a:rPr lang="en-US" sz="2400" b="0" dirty="0"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rPr>
              <a:t>Value across the continuum of care is not measured from a patient (customer) perspective.</a:t>
            </a:r>
          </a:p>
          <a:p>
            <a:r>
              <a:rPr lang="en-US" sz="2400" b="0" dirty="0"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rPr>
              <a:t>Healthcare is fractionalized and becoming more distributed.</a:t>
            </a:r>
          </a:p>
          <a:p>
            <a:r>
              <a:rPr lang="en-US" sz="2400" b="0" dirty="0"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rPr>
              <a:t>The government is trying to lead healthcare reform.</a:t>
            </a:r>
          </a:p>
          <a:p>
            <a:r>
              <a:rPr lang="en-US" sz="2400" b="0" dirty="0"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rPr>
              <a:t>Need for clear leadership to drive reform, innovation, and unification across the healthcare continuum.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C78625-81E9-8F4F-8A20-FB369C18BEDB}"/>
              </a:ext>
            </a:extLst>
          </p:cNvPr>
          <p:cNvSpPr/>
          <p:nvPr/>
        </p:nvSpPr>
        <p:spPr>
          <a:xfrm>
            <a:off x="2169042" y="18227"/>
            <a:ext cx="4572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bg1"/>
                </a:solidFill>
              </a:rPr>
              <a:t>Extending AMA’s Value</a:t>
            </a:r>
            <a:br>
              <a:rPr lang="en-US" sz="2400" kern="0" dirty="0">
                <a:solidFill>
                  <a:schemeClr val="bg1"/>
                </a:solidFill>
              </a:rPr>
            </a:br>
            <a:r>
              <a:rPr lang="en-US" sz="1800" kern="0" dirty="0">
                <a:solidFill>
                  <a:schemeClr val="accent4"/>
                </a:solidFill>
              </a:rPr>
              <a:t>Current Challenges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BA402F-F564-6C4D-AF50-F7318532E698}"/>
              </a:ext>
            </a:extLst>
          </p:cNvPr>
          <p:cNvSpPr txBox="1"/>
          <p:nvPr/>
        </p:nvSpPr>
        <p:spPr>
          <a:xfrm>
            <a:off x="6400800" y="985284"/>
            <a:ext cx="2209800" cy="116955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buNone/>
            </a:pPr>
            <a:r>
              <a:rPr lang="en-US" sz="1400" b="0" dirty="0"/>
              <a:t>“Cost containment doesn't mean a lot unless we also have a corollary of increasing quality.”</a:t>
            </a:r>
          </a:p>
          <a:p>
            <a:pPr algn="l">
              <a:buNone/>
            </a:pPr>
            <a:r>
              <a:rPr lang="en-US" sz="1400" b="0" dirty="0"/>
              <a:t>      - Kathleen Sebelius</a:t>
            </a:r>
          </a:p>
        </p:txBody>
      </p:sp>
    </p:spTree>
    <p:extLst>
      <p:ext uri="{BB962C8B-B14F-4D97-AF65-F5344CB8AC3E}">
        <p14:creationId xmlns:p14="http://schemas.microsoft.com/office/powerpoint/2010/main" val="496792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01EF951C-7A62-9745-8856-A6AAEF4201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416" y="839948"/>
            <a:ext cx="8657167" cy="5178103"/>
          </a:xfrm>
        </p:spPr>
        <p:txBody>
          <a:bodyPr/>
          <a:lstStyle/>
          <a:p>
            <a:r>
              <a:rPr lang="en-US" sz="2400" b="0" dirty="0"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rPr>
              <a:t>A relevant voice that should be heard by the government. </a:t>
            </a:r>
          </a:p>
          <a:p>
            <a:r>
              <a:rPr lang="en-US" sz="2400" b="0" dirty="0"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rPr>
              <a:t>Provide healthcare stakeholders with the following answers: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rPr>
              <a:t>Practitioners are worried about quality, timeliness, and effort of care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rPr>
              <a:t>Patients are worried about quality of care, loss of control, and cost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rPr>
              <a:t>Providers are worried about loss of control and revenue</a:t>
            </a:r>
          </a:p>
          <a:p>
            <a:r>
              <a:rPr lang="en-US" sz="2400" b="0" dirty="0"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rPr>
              <a:t>Opportunity for unifying leadership to provide guidance and direction for change (much of which will be disruptive). </a:t>
            </a:r>
          </a:p>
          <a:p>
            <a:r>
              <a:rPr lang="en-US" sz="2400" b="0" dirty="0"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rPr>
              <a:t>Opportunity to encourage collaboration and cooperation to solve the healthcare needs in the US and across the world.</a:t>
            </a:r>
          </a:p>
          <a:p>
            <a:r>
              <a:rPr lang="en-US" sz="2400" b="0" dirty="0"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rPr>
              <a:t>Opportunity to create a “system” of healthcare guided by consistent value-driven metrics (outcomes).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2215C9-2C1B-7D4E-A421-33B4271A1162}"/>
              </a:ext>
            </a:extLst>
          </p:cNvPr>
          <p:cNvSpPr/>
          <p:nvPr/>
        </p:nvSpPr>
        <p:spPr>
          <a:xfrm>
            <a:off x="2169042" y="18227"/>
            <a:ext cx="4572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bg1"/>
                </a:solidFill>
              </a:rPr>
              <a:t>Extending AMA’s Value</a:t>
            </a:r>
            <a:br>
              <a:rPr lang="en-US" sz="2400" kern="0" dirty="0">
                <a:solidFill>
                  <a:schemeClr val="bg1"/>
                </a:solidFill>
              </a:rPr>
            </a:br>
            <a:r>
              <a:rPr lang="en-US" sz="1800" kern="0" dirty="0">
                <a:solidFill>
                  <a:schemeClr val="accent4"/>
                </a:solidFill>
              </a:rPr>
              <a:t>AMA’s Role in Healthcare Reform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id="{DF43ACA2-0D81-D649-B8B0-32AC3CB19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416" y="1213835"/>
            <a:ext cx="8657167" cy="5178103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b="0" dirty="0"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rPr>
              <a:t>To have affordable healthcare.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0" dirty="0"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rPr>
              <a:t>To have attainable healthcare.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0" dirty="0"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rPr>
              <a:t>To have more accessible healthcare.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0" dirty="0"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rPr>
              <a:t>To have consistent levels of quality (results).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0" dirty="0"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rPr>
              <a:t>To receive a total healthcare experience:</a:t>
            </a:r>
          </a:p>
          <a:p>
            <a:pPr lvl="1">
              <a:buFont typeface="System Font Regular"/>
              <a:buChar char="-"/>
            </a:pPr>
            <a:r>
              <a:rPr lang="en-US" sz="2400" dirty="0"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rPr>
              <a:t>Ensure their functional outcomes met.</a:t>
            </a:r>
          </a:p>
          <a:p>
            <a:pPr lvl="1">
              <a:buFont typeface="System Font Regular"/>
              <a:buChar char="-"/>
            </a:pPr>
            <a:r>
              <a:rPr lang="en-US" sz="2400" dirty="0"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rPr>
              <a:t>Ensure their emotional outcomes met.</a:t>
            </a:r>
          </a:p>
          <a:p>
            <a:pPr lvl="1">
              <a:buFont typeface="System Font Regular"/>
              <a:buChar char="-"/>
            </a:pPr>
            <a:r>
              <a:rPr lang="en-US" sz="2400" dirty="0"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rPr>
              <a:t>Ensure their outcomes are met across the continuum of care (beyond the hospital, into clinics, and into the home).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B22225-01E3-E143-9138-7CDBE6E651D2}"/>
              </a:ext>
            </a:extLst>
          </p:cNvPr>
          <p:cNvSpPr/>
          <p:nvPr/>
        </p:nvSpPr>
        <p:spPr>
          <a:xfrm>
            <a:off x="2169042" y="18227"/>
            <a:ext cx="4572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bg1"/>
                </a:solidFill>
              </a:rPr>
              <a:t>Extending AMA’s Value</a:t>
            </a:r>
            <a:br>
              <a:rPr lang="en-US" sz="2400" kern="0" dirty="0">
                <a:solidFill>
                  <a:schemeClr val="bg1"/>
                </a:solidFill>
              </a:rPr>
            </a:br>
            <a:r>
              <a:rPr lang="en-US" sz="1800" kern="0" dirty="0">
                <a:solidFill>
                  <a:schemeClr val="accent4"/>
                </a:solidFill>
              </a:rPr>
              <a:t>Needs of the Patients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9C03AA-5A20-B14C-89FE-F2480F4474FE}"/>
              </a:ext>
            </a:extLst>
          </p:cNvPr>
          <p:cNvSpPr txBox="1"/>
          <p:nvPr/>
        </p:nvSpPr>
        <p:spPr>
          <a:xfrm>
            <a:off x="6400800" y="1187254"/>
            <a:ext cx="2362200" cy="138499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buNone/>
            </a:pPr>
            <a:r>
              <a:rPr lang="en-US" sz="1400" b="0" dirty="0"/>
              <a:t>“We continue to pay for lots of medical procedures that don't add to health value and in fact just add costs to the system..”</a:t>
            </a:r>
          </a:p>
          <a:p>
            <a:pPr algn="l">
              <a:buNone/>
            </a:pPr>
            <a:r>
              <a:rPr lang="en-US" sz="1400" b="0" dirty="0"/>
              <a:t>      - Kathleen Sebelius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Content Placeholder 2">
            <a:extLst>
              <a:ext uri="{FF2B5EF4-FFF2-40B4-BE49-F238E27FC236}">
                <a16:creationId xmlns:a16="http://schemas.microsoft.com/office/drawing/2014/main" id="{8A307BC8-2C1E-9341-AFBF-E7A9E57739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en-US" sz="2400" b="0" dirty="0"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rPr>
              <a:t>To improve diagnostic capabilities in a cost-effective manner.</a:t>
            </a:r>
          </a:p>
          <a:p>
            <a:pPr>
              <a:buFont typeface="Wingdings" pitchFamily="2" charset="2"/>
              <a:buChar char="§"/>
            </a:pPr>
            <a:r>
              <a:rPr lang="en-US" sz="2400" b="0" dirty="0"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rPr>
              <a:t>To improve clinical processes. </a:t>
            </a:r>
          </a:p>
          <a:p>
            <a:pPr>
              <a:buFont typeface="Wingdings" pitchFamily="2" charset="2"/>
              <a:buChar char="§"/>
            </a:pPr>
            <a:r>
              <a:rPr lang="en-US" sz="2400" b="0" dirty="0"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rPr>
              <a:t>To provide consistent levels of quality.</a:t>
            </a:r>
          </a:p>
          <a:p>
            <a:pPr>
              <a:buFont typeface="Wingdings" pitchFamily="2" charset="2"/>
              <a:buChar char="§"/>
            </a:pPr>
            <a:r>
              <a:rPr lang="en-US" sz="2400" b="0" dirty="0"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rPr>
              <a:t>To move beyond service, where they can deliver a positive  experience. </a:t>
            </a:r>
          </a:p>
          <a:p>
            <a:pPr>
              <a:buFont typeface="Wingdings" pitchFamily="2" charset="2"/>
              <a:buChar char="§"/>
            </a:pPr>
            <a:r>
              <a:rPr lang="en-US" sz="2400" b="0" dirty="0"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rPr>
              <a:t>To be able to reliably measure value for their patients, for themselves as individual practitioners , and for their practices.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A29631A-7D22-A44D-A4AD-8B243B4297AE}"/>
              </a:ext>
            </a:extLst>
          </p:cNvPr>
          <p:cNvSpPr/>
          <p:nvPr/>
        </p:nvSpPr>
        <p:spPr>
          <a:xfrm>
            <a:off x="2169042" y="18227"/>
            <a:ext cx="4572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bg1"/>
                </a:solidFill>
              </a:rPr>
              <a:t>Extending AMA’s Value</a:t>
            </a:r>
            <a:br>
              <a:rPr lang="en-US" sz="2400" kern="0" dirty="0">
                <a:solidFill>
                  <a:schemeClr val="bg1"/>
                </a:solidFill>
              </a:rPr>
            </a:br>
            <a:r>
              <a:rPr lang="en-US" sz="1800" kern="0" dirty="0">
                <a:solidFill>
                  <a:schemeClr val="accent4"/>
                </a:solidFill>
              </a:rPr>
              <a:t>Needs of the Practitioners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CD875556-DFDB-634B-88CE-43171BF0E5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416" y="1066800"/>
            <a:ext cx="8657167" cy="5178103"/>
          </a:xfrm>
        </p:spPr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en-US" sz="2400" b="0" dirty="0"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rPr>
              <a:t>To get pharmaceutical and device manufacturers, insurers, and healthcare suppliers to become aligned, unified and collaboratively focused on a consistent set of outcomes.</a:t>
            </a:r>
          </a:p>
          <a:p>
            <a:pPr>
              <a:buFont typeface="Wingdings" pitchFamily="2" charset="2"/>
              <a:buChar char="§"/>
            </a:pPr>
            <a:r>
              <a:rPr lang="en-US" sz="2400" b="0" dirty="0"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rPr>
              <a:t>To increase collaboration NOT competition.</a:t>
            </a:r>
          </a:p>
          <a:p>
            <a:pPr>
              <a:buFont typeface="Wingdings" pitchFamily="2" charset="2"/>
              <a:buChar char="§"/>
            </a:pPr>
            <a:r>
              <a:rPr lang="en-US" sz="2400" b="0" dirty="0"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rPr>
              <a:t>To understand how to identify, measure and deliver value throughout the healthcare value network.</a:t>
            </a:r>
          </a:p>
          <a:p>
            <a:pPr>
              <a:buFont typeface="Wingdings" pitchFamily="2" charset="2"/>
              <a:buChar char="§"/>
            </a:pPr>
            <a:r>
              <a:rPr lang="en-US" sz="2400" b="0" dirty="0"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rPr>
              <a:t>To move towards a shared revenue model where everyone can still win, but not at the expense of others (esp. the patients &amp; the public).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90A98E-0FC8-E84E-BECA-52DD72CC13CD}"/>
              </a:ext>
            </a:extLst>
          </p:cNvPr>
          <p:cNvSpPr/>
          <p:nvPr/>
        </p:nvSpPr>
        <p:spPr>
          <a:xfrm>
            <a:off x="2169042" y="18227"/>
            <a:ext cx="4572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bg1"/>
                </a:solidFill>
              </a:rPr>
              <a:t>Extending AMA’s Value</a:t>
            </a:r>
            <a:br>
              <a:rPr lang="en-US" sz="2400" kern="0" dirty="0">
                <a:solidFill>
                  <a:schemeClr val="bg1"/>
                </a:solidFill>
              </a:rPr>
            </a:br>
            <a:r>
              <a:rPr lang="en-US" sz="1800" kern="0" dirty="0">
                <a:solidFill>
                  <a:schemeClr val="accent4"/>
                </a:solidFill>
              </a:rPr>
              <a:t>Needs of the Providers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Content Placeholder 2">
            <a:extLst>
              <a:ext uri="{FF2B5EF4-FFF2-40B4-BE49-F238E27FC236}">
                <a16:creationId xmlns:a16="http://schemas.microsoft.com/office/drawing/2014/main" id="{96EB72D9-A1E6-EC4D-9408-55B9F1F014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en-US" sz="2400" b="0" dirty="0"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rPr>
              <a:t>Defining &amp; delivering the prescription for healthcare reform should come from within healthcare (not the government).</a:t>
            </a:r>
          </a:p>
          <a:p>
            <a:pPr>
              <a:buFont typeface="Wingdings" pitchFamily="2" charset="2"/>
              <a:buChar char="§"/>
            </a:pPr>
            <a:r>
              <a:rPr lang="en-US" sz="2400" b="0" dirty="0"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rPr>
              <a:t>Creating a vision for a new healthcare system by forming a collaborative model with healthcare advocacy organizations, institutions, providers and practitioners.</a:t>
            </a:r>
          </a:p>
          <a:p>
            <a:pPr>
              <a:buFont typeface="Wingdings" pitchFamily="2" charset="2"/>
              <a:buChar char="§"/>
            </a:pPr>
            <a:r>
              <a:rPr lang="en-US" sz="2400" b="0" dirty="0"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rPr>
              <a:t>Providing the practitioners with a consistent set of benchmarks for measuring the value they deliver to patients.</a:t>
            </a:r>
          </a:p>
          <a:p>
            <a:pPr>
              <a:buFont typeface="Wingdings" pitchFamily="2" charset="2"/>
              <a:buChar char="§"/>
            </a:pPr>
            <a:r>
              <a:rPr lang="en-US" sz="2400" b="0" dirty="0"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rPr>
              <a:t>Driving open innovation among providers to create a more efficient process for guiding and creating value.</a:t>
            </a:r>
          </a:p>
          <a:p>
            <a:pPr>
              <a:buFont typeface="Wingdings" pitchFamily="2" charset="2"/>
              <a:buChar char="§"/>
            </a:pPr>
            <a:r>
              <a:rPr lang="en-US" sz="2400" b="0" dirty="0"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rPr>
              <a:t>Working collaboratively with the government to guide more efficient and effective funding that drives healthcare reform.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C1700A-54FB-CF46-84C2-AF19ABF6175B}"/>
              </a:ext>
            </a:extLst>
          </p:cNvPr>
          <p:cNvSpPr/>
          <p:nvPr/>
        </p:nvSpPr>
        <p:spPr>
          <a:xfrm>
            <a:off x="2169042" y="18227"/>
            <a:ext cx="4572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bg1"/>
                </a:solidFill>
              </a:rPr>
              <a:t>Extending AMA’s Value</a:t>
            </a:r>
            <a:br>
              <a:rPr lang="en-US" sz="2400" kern="0" dirty="0">
                <a:solidFill>
                  <a:schemeClr val="bg1"/>
                </a:solidFill>
              </a:rPr>
            </a:br>
            <a:r>
              <a:rPr lang="en-US" sz="1800" kern="0" dirty="0">
                <a:solidFill>
                  <a:schemeClr val="accent4"/>
                </a:solidFill>
              </a:rPr>
              <a:t>AMA’s at the forefront of Healthcare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Content Placeholder 2">
            <a:extLst>
              <a:ext uri="{FF2B5EF4-FFF2-40B4-BE49-F238E27FC236}">
                <a16:creationId xmlns:a16="http://schemas.microsoft.com/office/drawing/2014/main" id="{5BF26742-8E6B-674B-AD93-3D7544A70F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en-US" sz="2400" b="0" dirty="0"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rPr>
              <a:t>Establish a program focused on mapping the Jobs &amp; Outcomes across the healthcare domain.</a:t>
            </a:r>
          </a:p>
          <a:p>
            <a:pPr>
              <a:buFont typeface="Wingdings" pitchFamily="2" charset="2"/>
              <a:buChar char="§"/>
            </a:pPr>
            <a:r>
              <a:rPr lang="en-US" sz="2400" b="0" dirty="0"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rPr>
              <a:t>Build a portfolio of unmet needs (opportunities) for improving value delivery to patients and practitioners.</a:t>
            </a:r>
          </a:p>
          <a:p>
            <a:pPr>
              <a:buFont typeface="Wingdings" pitchFamily="2" charset="2"/>
              <a:buChar char="§"/>
            </a:pPr>
            <a:r>
              <a:rPr lang="en-US" sz="2400" b="0" dirty="0"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rPr>
              <a:t>Establish a prioritization model to direct resources in an efficient manner.</a:t>
            </a:r>
          </a:p>
          <a:p>
            <a:pPr>
              <a:buFont typeface="Wingdings" pitchFamily="2" charset="2"/>
              <a:buChar char="§"/>
            </a:pPr>
            <a:r>
              <a:rPr lang="en-US" sz="2400" b="0" dirty="0"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rPr>
              <a:t>Create an open innovation framework using the opportunities to generate ideas that can address the most important (prioritized) unmet needs. </a:t>
            </a:r>
          </a:p>
          <a:p>
            <a:pPr>
              <a:buFont typeface="Wingdings" pitchFamily="2" charset="2"/>
              <a:buChar char="§"/>
            </a:pPr>
            <a:r>
              <a:rPr lang="en-US" sz="2400" b="0" dirty="0"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rPr>
              <a:t>Establish a shared revenue model as part of a collaborative to address unmet needs.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22178C-800A-F747-8E89-F8102FB7A2FE}"/>
              </a:ext>
            </a:extLst>
          </p:cNvPr>
          <p:cNvSpPr/>
          <p:nvPr/>
        </p:nvSpPr>
        <p:spPr>
          <a:xfrm>
            <a:off x="1780124" y="23336"/>
            <a:ext cx="556260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bg1"/>
                </a:solidFill>
              </a:rPr>
              <a:t>Extending AMA’s Value</a:t>
            </a:r>
            <a:br>
              <a:rPr lang="en-US" sz="2400" kern="0" dirty="0">
                <a:solidFill>
                  <a:schemeClr val="bg1"/>
                </a:solidFill>
              </a:rPr>
            </a:br>
            <a:r>
              <a:rPr lang="en-US" sz="1800" kern="0" dirty="0">
                <a:solidFill>
                  <a:schemeClr val="accent4"/>
                </a:solidFill>
              </a:rPr>
              <a:t>Moving from Assumptions to Implementation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82EB29C4-EBA0-7147-88D8-24C3C856B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rPr>
              <a:t>Build a portfolio of jobs &amp; outcomes:</a:t>
            </a:r>
          </a:p>
          <a:p>
            <a:pPr lvl="1"/>
            <a:r>
              <a:rPr lang="en-US" sz="2400" dirty="0"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rPr>
              <a:t>For measuring value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rPr>
              <a:t>*</a:t>
            </a:r>
          </a:p>
          <a:p>
            <a:pPr lvl="1"/>
            <a:r>
              <a:rPr lang="en-US" sz="2400" dirty="0"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rPr>
              <a:t>For driving innovation</a:t>
            </a:r>
          </a:p>
          <a:p>
            <a:pPr lvl="1"/>
            <a:r>
              <a:rPr lang="en-US" sz="2400" dirty="0"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rPr>
              <a:t>For directing efforts to improve quality</a:t>
            </a:r>
          </a:p>
          <a:p>
            <a:pPr lvl="1"/>
            <a:r>
              <a:rPr lang="en-US" sz="2400" dirty="0"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rPr>
              <a:t>For guiding initiatives to reduce cost</a:t>
            </a:r>
          </a:p>
          <a:p>
            <a:pPr lvl="1"/>
            <a:endParaRPr lang="en-US" sz="2400" dirty="0">
              <a:latin typeface="Calibri" panose="020F0502020204030204" pitchFamily="34" charset="0"/>
              <a:ea typeface="ＭＳ Ｐゴシック" pitchFamily="34" charset="-128"/>
              <a:cs typeface="Calibri" panose="020F0502020204030204" pitchFamily="34" charset="0"/>
            </a:endParaRPr>
          </a:p>
          <a:p>
            <a:pPr lvl="1">
              <a:buFont typeface="Arial" charset="0"/>
              <a:buNone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rPr>
              <a:t>* Value is created between the Patient &amp; Practitioner</a:t>
            </a:r>
          </a:p>
          <a:p>
            <a:pPr lvl="1"/>
            <a:endParaRPr lang="en-US" sz="2400" dirty="0">
              <a:latin typeface="Calibri" panose="020F0502020204030204" pitchFamily="34" charset="0"/>
              <a:ea typeface="ＭＳ Ｐゴシック" pitchFamily="34" charset="-128"/>
              <a:cs typeface="Calibri" panose="020F0502020204030204" pitchFamily="34" charset="0"/>
            </a:endParaRPr>
          </a:p>
          <a:p>
            <a:endParaRPr lang="en-US" sz="2400" dirty="0">
              <a:latin typeface="Calibri" panose="020F0502020204030204" pitchFamily="34" charset="0"/>
              <a:ea typeface="ＭＳ Ｐゴシック" pitchFamily="34" charset="-128"/>
              <a:cs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E37148-A0A7-404A-B943-8ECD6304FE51}"/>
              </a:ext>
            </a:extLst>
          </p:cNvPr>
          <p:cNvSpPr/>
          <p:nvPr/>
        </p:nvSpPr>
        <p:spPr>
          <a:xfrm>
            <a:off x="2169042" y="18227"/>
            <a:ext cx="4572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bg1"/>
                </a:solidFill>
              </a:rPr>
              <a:t>Extending AMA’s Value</a:t>
            </a:r>
            <a:br>
              <a:rPr lang="en-US" sz="2400" kern="0" dirty="0">
                <a:solidFill>
                  <a:schemeClr val="bg1"/>
                </a:solidFill>
              </a:rPr>
            </a:br>
            <a:r>
              <a:rPr lang="en-US" sz="1800" kern="0" dirty="0">
                <a:solidFill>
                  <a:schemeClr val="accent4"/>
                </a:solidFill>
              </a:rPr>
              <a:t>Measuring Value for Healthcare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lowchart: Process 18">
            <a:extLst>
              <a:ext uri="{FF2B5EF4-FFF2-40B4-BE49-F238E27FC236}">
                <a16:creationId xmlns:a16="http://schemas.microsoft.com/office/drawing/2014/main" id="{AEFB6F2D-4CC7-FF41-83B4-551771D147DC}"/>
              </a:ext>
            </a:extLst>
          </p:cNvPr>
          <p:cNvSpPr/>
          <p:nvPr/>
        </p:nvSpPr>
        <p:spPr>
          <a:xfrm>
            <a:off x="381000" y="1219200"/>
            <a:ext cx="8382000" cy="4038600"/>
          </a:xfrm>
          <a:prstGeom prst="flowChartProcess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buNone/>
              <a:defRPr/>
            </a:pPr>
            <a:r>
              <a:rPr lang="en-US" sz="2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Healthcare Value Platform</a:t>
            </a:r>
          </a:p>
        </p:txBody>
      </p:sp>
      <p:sp>
        <p:nvSpPr>
          <p:cNvPr id="22" name="Flowchart: Magnetic Disk 21">
            <a:extLst>
              <a:ext uri="{FF2B5EF4-FFF2-40B4-BE49-F238E27FC236}">
                <a16:creationId xmlns:a16="http://schemas.microsoft.com/office/drawing/2014/main" id="{9524DBB4-5FE8-874A-A869-9527FFFE2382}"/>
              </a:ext>
            </a:extLst>
          </p:cNvPr>
          <p:cNvSpPr/>
          <p:nvPr/>
        </p:nvSpPr>
        <p:spPr>
          <a:xfrm>
            <a:off x="609600" y="2209800"/>
            <a:ext cx="1295400" cy="609600"/>
          </a:xfrm>
          <a:prstGeom prst="flowChartMagneticDisk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  <a:defRPr/>
            </a:pPr>
            <a:endParaRPr lang="en-US" sz="1050" b="1" dirty="0"/>
          </a:p>
        </p:txBody>
      </p:sp>
      <p:sp>
        <p:nvSpPr>
          <p:cNvPr id="24" name="Flowchart: Magnetic Disk 23">
            <a:extLst>
              <a:ext uri="{FF2B5EF4-FFF2-40B4-BE49-F238E27FC236}">
                <a16:creationId xmlns:a16="http://schemas.microsoft.com/office/drawing/2014/main" id="{80DB1B65-E7B8-614D-8FAC-607A343FED54}"/>
              </a:ext>
            </a:extLst>
          </p:cNvPr>
          <p:cNvSpPr/>
          <p:nvPr/>
        </p:nvSpPr>
        <p:spPr>
          <a:xfrm>
            <a:off x="762000" y="2362200"/>
            <a:ext cx="1295400" cy="609600"/>
          </a:xfrm>
          <a:prstGeom prst="flowChartMagneticDisk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  <a:defRPr/>
            </a:pPr>
            <a:endParaRPr lang="en-US" sz="1050" b="1" dirty="0"/>
          </a:p>
        </p:txBody>
      </p:sp>
      <p:sp>
        <p:nvSpPr>
          <p:cNvPr id="26" name="Flowchart: Magnetic Disk 25">
            <a:extLst>
              <a:ext uri="{FF2B5EF4-FFF2-40B4-BE49-F238E27FC236}">
                <a16:creationId xmlns:a16="http://schemas.microsoft.com/office/drawing/2014/main" id="{1525D927-9C78-724A-98AD-567148B9E54A}"/>
              </a:ext>
            </a:extLst>
          </p:cNvPr>
          <p:cNvSpPr/>
          <p:nvPr/>
        </p:nvSpPr>
        <p:spPr>
          <a:xfrm>
            <a:off x="914400" y="2514600"/>
            <a:ext cx="1295400" cy="609600"/>
          </a:xfrm>
          <a:prstGeom prst="flowChartMagneticDisk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  <a:defRPr/>
            </a:pPr>
            <a:r>
              <a:rPr lang="en-US" sz="1050" b="1" dirty="0"/>
              <a:t>Outcomes</a:t>
            </a:r>
          </a:p>
        </p:txBody>
      </p:sp>
      <p:sp>
        <p:nvSpPr>
          <p:cNvPr id="28" name="Down Arrow 27">
            <a:extLst>
              <a:ext uri="{FF2B5EF4-FFF2-40B4-BE49-F238E27FC236}">
                <a16:creationId xmlns:a16="http://schemas.microsoft.com/office/drawing/2014/main" id="{C6B1A080-5F01-2E40-A662-0289D6CE7F47}"/>
              </a:ext>
            </a:extLst>
          </p:cNvPr>
          <p:cNvSpPr/>
          <p:nvPr/>
        </p:nvSpPr>
        <p:spPr>
          <a:xfrm rot="16200000">
            <a:off x="2324100" y="3086100"/>
            <a:ext cx="457200" cy="381000"/>
          </a:xfrm>
          <a:prstGeom prst="downArrow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33" name="Flowchart: Magnetic Disk 32">
            <a:extLst>
              <a:ext uri="{FF2B5EF4-FFF2-40B4-BE49-F238E27FC236}">
                <a16:creationId xmlns:a16="http://schemas.microsoft.com/office/drawing/2014/main" id="{AD283BA7-381A-6F47-94FC-8BB048C790FE}"/>
              </a:ext>
            </a:extLst>
          </p:cNvPr>
          <p:cNvSpPr/>
          <p:nvPr/>
        </p:nvSpPr>
        <p:spPr>
          <a:xfrm>
            <a:off x="914400" y="3505200"/>
            <a:ext cx="1295400" cy="838200"/>
          </a:xfrm>
          <a:prstGeom prst="flowChartMagneticDisk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  <a:defRPr/>
            </a:pPr>
            <a:r>
              <a:rPr lang="en-US" sz="1050" b="1" dirty="0"/>
              <a:t>Compliance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7F85559-45EA-0547-8406-8B3C69C1F6FA}"/>
              </a:ext>
            </a:extLst>
          </p:cNvPr>
          <p:cNvSpPr txBox="1"/>
          <p:nvPr/>
        </p:nvSpPr>
        <p:spPr>
          <a:xfrm>
            <a:off x="1104900" y="5389488"/>
            <a:ext cx="6934200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buNone/>
              <a:defRPr/>
            </a:pPr>
            <a:r>
              <a:rPr lang="en-US" sz="1400" i="1" dirty="0">
                <a:solidFill>
                  <a:srgbClr val="C00000"/>
                </a:solidFill>
              </a:rPr>
              <a:t>Value-Driven metrics are used to drive innovation &amp; direct Quality &amp; Efficiency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3DC4206-1877-3F45-BE95-A5E2CEAE80CC}"/>
              </a:ext>
            </a:extLst>
          </p:cNvPr>
          <p:cNvSpPr/>
          <p:nvPr/>
        </p:nvSpPr>
        <p:spPr>
          <a:xfrm>
            <a:off x="2169042" y="18227"/>
            <a:ext cx="4572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bg1"/>
                </a:solidFill>
              </a:rPr>
              <a:t>Extending AMA’s Value</a:t>
            </a:r>
            <a:br>
              <a:rPr lang="en-US" sz="2400" kern="0" dirty="0">
                <a:solidFill>
                  <a:schemeClr val="bg1"/>
                </a:solidFill>
              </a:rPr>
            </a:br>
            <a:r>
              <a:rPr lang="en-US" sz="1800" kern="0" dirty="0">
                <a:solidFill>
                  <a:schemeClr val="accent4"/>
                </a:solidFill>
              </a:rPr>
              <a:t>Enabling Value for Healthcare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22D7A4-72D9-4840-B893-A832D1C6A6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0469" y="2226694"/>
            <a:ext cx="3759868" cy="2099810"/>
          </a:xfrm>
          <a:prstGeom prst="rect">
            <a:avLst/>
          </a:prstGeom>
        </p:spPr>
      </p:pic>
      <p:graphicFrame>
        <p:nvGraphicFramePr>
          <p:cNvPr id="17" name="Diagram 16">
            <a:extLst>
              <a:ext uri="{FF2B5EF4-FFF2-40B4-BE49-F238E27FC236}">
                <a16:creationId xmlns:a16="http://schemas.microsoft.com/office/drawing/2014/main" id="{EB5DDE44-7F22-BA4C-AE2A-1DE740969B3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80032526"/>
              </p:ext>
            </p:extLst>
          </p:nvPr>
        </p:nvGraphicFramePr>
        <p:xfrm>
          <a:off x="1981200" y="1295400"/>
          <a:ext cx="3429000" cy="3784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8" name="Rectangle 17">
            <a:extLst>
              <a:ext uri="{FF2B5EF4-FFF2-40B4-BE49-F238E27FC236}">
                <a16:creationId xmlns:a16="http://schemas.microsoft.com/office/drawing/2014/main" id="{F003FED4-2C6D-024E-8E32-C13F95922C68}"/>
              </a:ext>
            </a:extLst>
          </p:cNvPr>
          <p:cNvSpPr/>
          <p:nvPr/>
        </p:nvSpPr>
        <p:spPr>
          <a:xfrm>
            <a:off x="4953000" y="3886200"/>
            <a:ext cx="2514600" cy="51435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8016" tIns="128016" rIns="128016" bIns="128016" numCol="1" spcCol="1270" anchor="ctr" anchorCtr="0">
            <a:noAutofit/>
          </a:bodyPr>
          <a:lstStyle/>
          <a:p>
            <a:pPr lvl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800" b="1" kern="12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Quality &amp; Efficiency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D67CE3-CDE8-BB47-AEBA-053E89CCA20C}"/>
              </a:ext>
            </a:extLst>
          </p:cNvPr>
          <p:cNvSpPr/>
          <p:nvPr/>
        </p:nvSpPr>
        <p:spPr>
          <a:xfrm>
            <a:off x="2169042" y="18227"/>
            <a:ext cx="4572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bg1"/>
                </a:solidFill>
              </a:rPr>
              <a:t>Extending AMA’s Value</a:t>
            </a:r>
            <a:br>
              <a:rPr lang="en-US" sz="2400" kern="0" dirty="0">
                <a:solidFill>
                  <a:schemeClr val="bg1"/>
                </a:solidFill>
              </a:rPr>
            </a:br>
            <a:r>
              <a:rPr lang="en-US" sz="1800" kern="0" dirty="0">
                <a:solidFill>
                  <a:schemeClr val="accent4"/>
                </a:solidFill>
              </a:rPr>
              <a:t>An Expanded Membership Model</a:t>
            </a:r>
          </a:p>
        </p:txBody>
      </p:sp>
      <p:sp>
        <p:nvSpPr>
          <p:cNvPr id="10" name="Isosceles Triangle 11">
            <a:extLst>
              <a:ext uri="{FF2B5EF4-FFF2-40B4-BE49-F238E27FC236}">
                <a16:creationId xmlns:a16="http://schemas.microsoft.com/office/drawing/2014/main" id="{BE553333-2D25-7349-83AB-26C1D7CBF42C}"/>
              </a:ext>
            </a:extLst>
          </p:cNvPr>
          <p:cNvSpPr/>
          <p:nvPr/>
        </p:nvSpPr>
        <p:spPr>
          <a:xfrm>
            <a:off x="2438400" y="1447800"/>
            <a:ext cx="4953000" cy="4648200"/>
          </a:xfrm>
          <a:prstGeom prst="triangl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8A7ADF34-E7A7-A346-93C7-4457331949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5181600"/>
            <a:ext cx="2057400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5400" b="1" cap="all" dirty="0">
                <a:ln w="9000" cmpd="sng">
                  <a:noFill/>
                  <a:prstDash val="solid"/>
                </a:ln>
                <a:solidFill>
                  <a:schemeClr val="tx2"/>
                </a:solidFill>
                <a:effectLst>
                  <a:reflection blurRad="12700" stA="28000" endPos="45000" dist="1000" dir="5400000" sy="-100000" algn="bl" rotWithShape="0"/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AMA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C8F5DA-038A-C44C-B6BA-9216ED380243}"/>
              </a:ext>
            </a:extLst>
          </p:cNvPr>
          <p:cNvSpPr txBox="1"/>
          <p:nvPr/>
        </p:nvSpPr>
        <p:spPr>
          <a:xfrm>
            <a:off x="381000" y="1524000"/>
            <a:ext cx="2895600" cy="246221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l">
              <a:buNone/>
              <a:defRPr/>
            </a:pPr>
            <a:r>
              <a:rPr lang="en-US" sz="1400" b="0" dirty="0">
                <a:latin typeface="Calibri" panose="020F0502020204030204" pitchFamily="34" charset="0"/>
                <a:cs typeface="Calibri" panose="020F0502020204030204" pitchFamily="34" charset="0"/>
              </a:rPr>
              <a:t>Providing Patients with a way to measure the value they should be receiving for healthcare throughout the continuum</a:t>
            </a:r>
          </a:p>
          <a:p>
            <a:pPr algn="l">
              <a:buNone/>
              <a:defRPr/>
            </a:pPr>
            <a:endParaRPr lang="en-US" sz="14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buNone/>
              <a:defRPr/>
            </a:pPr>
            <a:r>
              <a:rPr lang="en-US" sz="1400" b="0" dirty="0">
                <a:latin typeface="Calibri" panose="020F0502020204030204" pitchFamily="34" charset="0"/>
                <a:cs typeface="Calibri" panose="020F0502020204030204" pitchFamily="34" charset="0"/>
              </a:rPr>
              <a:t>Guiding Practitioners to measure and optimize the value they deliver to Patients</a:t>
            </a:r>
          </a:p>
          <a:p>
            <a:pPr algn="l">
              <a:buNone/>
              <a:defRPr/>
            </a:pPr>
            <a:endParaRPr lang="en-US" sz="14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buNone/>
              <a:defRPr/>
            </a:pPr>
            <a:r>
              <a:rPr lang="en-US" sz="1400" b="0" dirty="0">
                <a:latin typeface="Calibri" panose="020F0502020204030204" pitchFamily="34" charset="0"/>
                <a:cs typeface="Calibri" panose="020F0502020204030204" pitchFamily="34" charset="0"/>
              </a:rPr>
              <a:t>Guiding the Providers to  deliver value to Patients &amp; Practitioners</a:t>
            </a:r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BB4A8C21-770F-044E-AF83-DCE5E06FA4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19600" y="2438400"/>
            <a:ext cx="4295565" cy="28384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2">
            <a:extLst>
              <a:ext uri="{FF2B5EF4-FFF2-40B4-BE49-F238E27FC236}">
                <a16:creationId xmlns:a16="http://schemas.microsoft.com/office/drawing/2014/main" id="{073324E0-900B-E74C-A08D-41AA1A2A32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rPr>
              <a:t>Today…</a:t>
            </a:r>
          </a:p>
          <a:p>
            <a:pPr lvl="1"/>
            <a:r>
              <a:rPr lang="en-US" sz="2400" dirty="0"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rPr>
              <a:t>We rely on a variety of measures to deliver value across an increasingly distributed network of healthcare participants (providers, practitioners)</a:t>
            </a:r>
          </a:p>
          <a:p>
            <a:r>
              <a:rPr lang="en-US" dirty="0"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rPr>
              <a:t>Tomorrow…</a:t>
            </a:r>
          </a:p>
          <a:p>
            <a:pPr lvl="1"/>
            <a:r>
              <a:rPr lang="en-US" sz="2400" dirty="0"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rPr>
              <a:t>We will use patient-driven measures of value to:</a:t>
            </a:r>
          </a:p>
          <a:p>
            <a:pPr lvl="2"/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rPr>
              <a:t>Unify the delivery of value to the patient across the continuum of healthcare </a:t>
            </a:r>
          </a:p>
          <a:p>
            <a:pPr lvl="2"/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rPr>
              <a:t>Ensure continuous improvement efforts focused on quality and results (efficiency and costs) align with value-driven metrics</a:t>
            </a:r>
          </a:p>
          <a:p>
            <a:pPr lvl="2"/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rPr>
              <a:t>Guide providers to build the right products &amp; services for patients and practitioners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6E0719-D38F-5346-BF29-EC0D66D80FC1}"/>
              </a:ext>
            </a:extLst>
          </p:cNvPr>
          <p:cNvSpPr/>
          <p:nvPr/>
        </p:nvSpPr>
        <p:spPr>
          <a:xfrm>
            <a:off x="2169042" y="18227"/>
            <a:ext cx="4572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bg1"/>
                </a:solidFill>
              </a:rPr>
              <a:t>Extending AMA’s Value</a:t>
            </a:r>
            <a:br>
              <a:rPr lang="en-US" sz="2400" kern="0" dirty="0">
                <a:solidFill>
                  <a:schemeClr val="bg1"/>
                </a:solidFill>
              </a:rPr>
            </a:br>
            <a:r>
              <a:rPr lang="en-US" sz="1800" kern="0" dirty="0">
                <a:solidFill>
                  <a:schemeClr val="accent4"/>
                </a:solidFill>
              </a:rPr>
              <a:t>Reducing Costs &amp; Driving Value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Process 3">
            <a:extLst>
              <a:ext uri="{FF2B5EF4-FFF2-40B4-BE49-F238E27FC236}">
                <a16:creationId xmlns:a16="http://schemas.microsoft.com/office/drawing/2014/main" id="{3BF035EE-4F45-A444-9878-408283AAFAF8}"/>
              </a:ext>
            </a:extLst>
          </p:cNvPr>
          <p:cNvSpPr/>
          <p:nvPr/>
        </p:nvSpPr>
        <p:spPr>
          <a:xfrm>
            <a:off x="381000" y="1524000"/>
            <a:ext cx="8382000" cy="4648200"/>
          </a:xfrm>
          <a:prstGeom prst="flowChartProcess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buNone/>
              <a:defRPr/>
            </a:pP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5" name="Pentagon 24">
            <a:extLst>
              <a:ext uri="{FF2B5EF4-FFF2-40B4-BE49-F238E27FC236}">
                <a16:creationId xmlns:a16="http://schemas.microsoft.com/office/drawing/2014/main" id="{AE34CEC3-76AD-CB40-ACA9-F791FF487735}"/>
              </a:ext>
            </a:extLst>
          </p:cNvPr>
          <p:cNvSpPr/>
          <p:nvPr/>
        </p:nvSpPr>
        <p:spPr>
          <a:xfrm>
            <a:off x="406252" y="5721956"/>
            <a:ext cx="7895462" cy="443528"/>
          </a:xfrm>
          <a:prstGeom prst="homePlat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  <a:defRPr/>
            </a:pPr>
            <a:r>
              <a:rPr lang="en-US" sz="2000" b="1" dirty="0"/>
              <a:t>Driving Innovation</a:t>
            </a:r>
          </a:p>
        </p:txBody>
      </p:sp>
      <p:sp>
        <p:nvSpPr>
          <p:cNvPr id="28" name="Pentagon 27">
            <a:extLst>
              <a:ext uri="{FF2B5EF4-FFF2-40B4-BE49-F238E27FC236}">
                <a16:creationId xmlns:a16="http://schemas.microsoft.com/office/drawing/2014/main" id="{931335D5-5379-D849-A1F0-A093B40838C7}"/>
              </a:ext>
            </a:extLst>
          </p:cNvPr>
          <p:cNvSpPr/>
          <p:nvPr/>
        </p:nvSpPr>
        <p:spPr>
          <a:xfrm rot="16200000">
            <a:off x="6287816" y="3710675"/>
            <a:ext cx="4489084" cy="420533"/>
          </a:xfrm>
          <a:prstGeom prst="homePlat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  <a:defRPr/>
            </a:pPr>
            <a:r>
              <a:rPr lang="en-US" sz="2000" b="1" dirty="0"/>
              <a:t>Extending Value</a:t>
            </a:r>
          </a:p>
        </p:txBody>
      </p:sp>
      <p:sp>
        <p:nvSpPr>
          <p:cNvPr id="36876" name="TextBox 31">
            <a:extLst>
              <a:ext uri="{FF2B5EF4-FFF2-40B4-BE49-F238E27FC236}">
                <a16:creationId xmlns:a16="http://schemas.microsoft.com/office/drawing/2014/main" id="{D9031E32-1D99-9340-8A23-70829AA85D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3581400"/>
            <a:ext cx="4800600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68275" indent="-1682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25475" indent="-1682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000" b="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Advocacy Body for:</a:t>
            </a:r>
          </a:p>
          <a:p>
            <a:pPr lvl="1" algn="l" eaLnBrk="1" hangingPunct="1"/>
            <a:r>
              <a:rPr lang="en-US" altLang="en-US" sz="2000" b="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Value enablement</a:t>
            </a:r>
          </a:p>
          <a:p>
            <a:pPr lvl="1" algn="l" eaLnBrk="1" hangingPunct="1"/>
            <a:r>
              <a:rPr lang="en-US" altLang="en-US" sz="2000" b="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Value capture &amp; measurement</a:t>
            </a:r>
          </a:p>
          <a:p>
            <a:pPr lvl="1" algn="l" eaLnBrk="1" hangingPunct="1"/>
            <a:r>
              <a:rPr lang="en-US" altLang="en-US" sz="2000" b="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Collaboration  </a:t>
            </a:r>
          </a:p>
          <a:p>
            <a:pPr lvl="1" algn="l" eaLnBrk="1" hangingPunct="1"/>
            <a:r>
              <a:rPr lang="en-US" altLang="en-US" sz="2000" b="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Unification &amp; cooperation</a:t>
            </a:r>
          </a:p>
          <a:p>
            <a:pPr lvl="1" algn="l" eaLnBrk="1" hangingPunct="1"/>
            <a:r>
              <a:rPr lang="en-US" altLang="en-US" sz="2000" b="0" dirty="0"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Reform &amp; Sustainable </a:t>
            </a:r>
            <a:r>
              <a:rPr lang="en-US" altLang="en-US" sz="16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Innovation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91252F3-F430-F445-B9F7-5984A11668E4}"/>
              </a:ext>
            </a:extLst>
          </p:cNvPr>
          <p:cNvSpPr/>
          <p:nvPr/>
        </p:nvSpPr>
        <p:spPr>
          <a:xfrm>
            <a:off x="1828800" y="18227"/>
            <a:ext cx="586740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bg1"/>
                </a:solidFill>
              </a:rPr>
              <a:t>Extending AMA’s Value</a:t>
            </a:r>
            <a:br>
              <a:rPr lang="en-US" sz="2400" kern="0" dirty="0">
                <a:solidFill>
                  <a:schemeClr val="bg1"/>
                </a:solidFill>
              </a:rPr>
            </a:br>
            <a:r>
              <a:rPr lang="en-US" sz="1800" kern="0" dirty="0">
                <a:solidFill>
                  <a:schemeClr val="accent4"/>
                </a:solidFill>
              </a:rPr>
              <a:t>Positioning the AMA to Lead Healthcare Reform</a:t>
            </a:r>
          </a:p>
        </p:txBody>
      </p:sp>
      <p:pic>
        <p:nvPicPr>
          <p:cNvPr id="30" name="Picture 2">
            <a:extLst>
              <a:ext uri="{FF2B5EF4-FFF2-40B4-BE49-F238E27FC236}">
                <a16:creationId xmlns:a16="http://schemas.microsoft.com/office/drawing/2014/main" id="{E92C6F03-2C18-A64A-B4DD-A4553A3362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1533" y="4140229"/>
            <a:ext cx="1682496" cy="9347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Can 31">
            <a:extLst>
              <a:ext uri="{FF2B5EF4-FFF2-40B4-BE49-F238E27FC236}">
                <a16:creationId xmlns:a16="http://schemas.microsoft.com/office/drawing/2014/main" id="{43123FBA-C572-BC4E-B121-6CB6F3169D7F}"/>
              </a:ext>
            </a:extLst>
          </p:cNvPr>
          <p:cNvSpPr/>
          <p:nvPr/>
        </p:nvSpPr>
        <p:spPr>
          <a:xfrm>
            <a:off x="1828800" y="1600199"/>
            <a:ext cx="4953000" cy="792571"/>
          </a:xfrm>
          <a:prstGeom prst="can">
            <a:avLst/>
          </a:prstGeom>
          <a:scene3d>
            <a:camera prst="orthographicFront"/>
            <a:lightRig rig="threePt" dir="t"/>
          </a:scene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>
              <a:buNone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Value Measurement Repository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F900461C-3F45-0240-8323-49B6CBCB7223}"/>
              </a:ext>
            </a:extLst>
          </p:cNvPr>
          <p:cNvSpPr/>
          <p:nvPr/>
        </p:nvSpPr>
        <p:spPr>
          <a:xfrm>
            <a:off x="1066800" y="2438400"/>
            <a:ext cx="1257300" cy="934720"/>
          </a:xfrm>
          <a:prstGeom prst="roundRect">
            <a:avLst/>
          </a:prstGeom>
          <a:scene3d>
            <a:camera prst="orthographicFront"/>
            <a:lightRig rig="threePt" dir="t"/>
          </a:scene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defTabSz="577850">
              <a:lnSpc>
                <a:spcPct val="90000"/>
              </a:lnSpc>
              <a:spcAft>
                <a:spcPct val="35000"/>
              </a:spcAft>
              <a:buNone/>
              <a:defRPr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Healthcare</a:t>
            </a:r>
          </a:p>
          <a:p>
            <a:pPr defTabSz="577850">
              <a:lnSpc>
                <a:spcPct val="90000"/>
              </a:lnSpc>
              <a:spcAft>
                <a:spcPct val="35000"/>
              </a:spcAft>
              <a:buNone/>
              <a:defRPr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Advocacy</a:t>
            </a:r>
          </a:p>
          <a:p>
            <a:pPr defTabSz="577850">
              <a:lnSpc>
                <a:spcPct val="90000"/>
              </a:lnSpc>
              <a:spcAft>
                <a:spcPct val="35000"/>
              </a:spcAft>
              <a:buNone/>
              <a:defRPr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Groups</a:t>
            </a:r>
            <a:endParaRPr lang="en-US" sz="1400" dirty="0"/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8C1137AB-08A4-AF42-848B-06FA4B11DC97}"/>
              </a:ext>
            </a:extLst>
          </p:cNvPr>
          <p:cNvSpPr/>
          <p:nvPr/>
        </p:nvSpPr>
        <p:spPr>
          <a:xfrm>
            <a:off x="2457450" y="2438400"/>
            <a:ext cx="1257300" cy="934720"/>
          </a:xfrm>
          <a:prstGeom prst="roundRect">
            <a:avLst/>
          </a:prstGeom>
          <a:scene3d>
            <a:camera prst="orthographicFront"/>
            <a:lightRig rig="threePt" dir="t"/>
          </a:scene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defTabSz="577850">
              <a:lnSpc>
                <a:spcPct val="90000"/>
              </a:lnSpc>
              <a:spcAft>
                <a:spcPct val="35000"/>
              </a:spcAft>
              <a:buNone/>
              <a:defRPr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Healthcare</a:t>
            </a:r>
          </a:p>
          <a:p>
            <a:pPr defTabSz="577850">
              <a:lnSpc>
                <a:spcPct val="90000"/>
              </a:lnSpc>
              <a:spcAft>
                <a:spcPct val="35000"/>
              </a:spcAft>
              <a:buNone/>
              <a:defRPr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Disciplines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D37A063B-A16E-7749-90C3-508D10EE338D}"/>
              </a:ext>
            </a:extLst>
          </p:cNvPr>
          <p:cNvSpPr/>
          <p:nvPr/>
        </p:nvSpPr>
        <p:spPr>
          <a:xfrm>
            <a:off x="3848100" y="2438400"/>
            <a:ext cx="1257300" cy="934720"/>
          </a:xfrm>
          <a:prstGeom prst="roundRect">
            <a:avLst/>
          </a:prstGeom>
          <a:scene3d>
            <a:camera prst="orthographicFront"/>
            <a:lightRig rig="threePt" dir="t"/>
          </a:scene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defTabSz="577850">
              <a:lnSpc>
                <a:spcPct val="90000"/>
              </a:lnSpc>
              <a:spcAft>
                <a:spcPct val="35000"/>
              </a:spcAft>
              <a:buNone/>
              <a:defRPr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Healthcare</a:t>
            </a:r>
          </a:p>
          <a:p>
            <a:pPr defTabSz="577850">
              <a:lnSpc>
                <a:spcPct val="90000"/>
              </a:lnSpc>
              <a:spcAft>
                <a:spcPct val="35000"/>
              </a:spcAft>
              <a:buNone/>
              <a:defRPr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Disciplines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5EEAF70E-6AF4-9B41-933F-9FE24D7F56C6}"/>
              </a:ext>
            </a:extLst>
          </p:cNvPr>
          <p:cNvSpPr/>
          <p:nvPr/>
        </p:nvSpPr>
        <p:spPr>
          <a:xfrm>
            <a:off x="5238750" y="2438400"/>
            <a:ext cx="1257300" cy="934720"/>
          </a:xfrm>
          <a:prstGeom prst="roundRect">
            <a:avLst/>
          </a:prstGeom>
          <a:scene3d>
            <a:camera prst="orthographicFront"/>
            <a:lightRig rig="threePt" dir="t"/>
          </a:scene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>
              <a:buNone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Institutions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C4F4E823-7711-374F-BDFD-E9F8DB8C69C5}"/>
              </a:ext>
            </a:extLst>
          </p:cNvPr>
          <p:cNvSpPr/>
          <p:nvPr/>
        </p:nvSpPr>
        <p:spPr>
          <a:xfrm>
            <a:off x="6629400" y="2438400"/>
            <a:ext cx="1257300" cy="934720"/>
          </a:xfrm>
          <a:prstGeom prst="roundRect">
            <a:avLst/>
          </a:prstGeom>
          <a:scene3d>
            <a:camera prst="orthographicFront"/>
            <a:lightRig rig="threePt" dir="t"/>
          </a:scene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>
              <a:buNone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Government Bodies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0931268"/>
      </p:ext>
    </p:extLst>
  </p:cSld>
  <p:clrMapOvr>
    <a:masterClrMapping/>
  </p:clrMapOvr>
</p:sld>
</file>

<file path=ppt/theme/theme1.xml><?xml version="1.0" encoding="utf-8"?>
<a:theme xmlns:a="http://schemas.openxmlformats.org/drawingml/2006/main" name="VALU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VISIA-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NVISIA-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VISIA-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VISIA-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VISIA-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VISIA-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VISIA-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VISIA-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VISIA-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VISIA-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VISIA-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VISIA-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VISIA-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VALUE Template" id="{5EBC2EAD-BBD8-0E42-9DBD-64D62778ADB2}" vid="{8E08604B-B631-6A4A-B4B4-0A36D810C04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VALUE Template</Template>
  <TotalTime>6798</TotalTime>
  <Words>1114</Words>
  <Application>Microsoft Macintosh PowerPoint</Application>
  <PresentationFormat>On-screen Show (4:3)</PresentationFormat>
  <Paragraphs>145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ＭＳ Ｐゴシック</vt:lpstr>
      <vt:lpstr>VALUE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The Value Enablement Group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Value Delivery Model</dc:title>
  <dc:subject/>
  <dc:creator>Jeffrey Wallk</dc:creator>
  <cp:keywords/>
  <dc:description/>
  <cp:lastModifiedBy>Jeffrey Wallk</cp:lastModifiedBy>
  <cp:revision>121</cp:revision>
  <dcterms:created xsi:type="dcterms:W3CDTF">2009-06-09T11:36:35Z</dcterms:created>
  <dcterms:modified xsi:type="dcterms:W3CDTF">2020-04-23T22:26:06Z</dcterms:modified>
  <cp:category/>
</cp:coreProperties>
</file>
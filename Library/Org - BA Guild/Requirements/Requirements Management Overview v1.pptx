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68" r:id="rId1"/>
  </p:sldMasterIdLst>
  <p:sldIdLst>
    <p:sldId id="256" r:id="rId2"/>
    <p:sldId id="261" r:id="rId3"/>
    <p:sldId id="258" r:id="rId4"/>
    <p:sldId id="259" r:id="rId5"/>
    <p:sldId id="262" r:id="rId6"/>
    <p:sldId id="260" r:id="rId7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835" autoAdjust="0"/>
  </p:normalViewPr>
  <p:slideViewPr>
    <p:cSldViewPr snapToGrid="0" snapToObjects="1">
      <p:cViewPr varScale="1">
        <p:scale>
          <a:sx n="102" d="100"/>
          <a:sy n="102" d="100"/>
        </p:scale>
        <p:origin x="-1184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886BB73A-582F-4420-9A14-CB10A2B2E5E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38E4D-051A-41E1-86A4-E56916468FD0}" type="datetimeFigureOut">
              <a:rPr lang="en-US" smtClean="0"/>
              <a:t>8/24/13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8/24/13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Agenda:</a:t>
            </a:r>
          </a:p>
          <a:p>
            <a:pPr lvl="1"/>
            <a:r>
              <a:rPr lang="en-US" dirty="0" smtClean="0"/>
              <a:t>Big Picture</a:t>
            </a:r>
          </a:p>
          <a:p>
            <a:pPr lvl="1"/>
            <a:r>
              <a:rPr lang="en-US" dirty="0" smtClean="0"/>
              <a:t>Current State</a:t>
            </a:r>
          </a:p>
          <a:p>
            <a:pPr lvl="1"/>
            <a:r>
              <a:rPr lang="en-US" dirty="0" smtClean="0"/>
              <a:t>Future State </a:t>
            </a:r>
          </a:p>
          <a:p>
            <a:pPr lvl="1"/>
            <a:r>
              <a:rPr lang="en-US" dirty="0" smtClean="0"/>
              <a:t>Transition from Project Artifacts to Operational Guidance</a:t>
            </a:r>
          </a:p>
          <a:p>
            <a:pPr lvl="1"/>
            <a:r>
              <a:rPr lang="en-US" dirty="0" smtClean="0"/>
              <a:t>SIPOC for Business Analysis (BA)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2376" y="4407931"/>
            <a:ext cx="75330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Customer Needs is a separate discipline that needs to marry up to requirements management.  This is a much larger topic and one that is not well understood (let alone put in put in practice).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separate deck would need to be devoted to outlining this discipline along with the data-driven approach for capturing this information and aligning it with business and domain models.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25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Picture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4" y="1656260"/>
            <a:ext cx="8379108" cy="3799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724" y="5603334"/>
            <a:ext cx="715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The MDR (metadata repository) contains the taxonomies and ontologies for which all requirements must adhere (semantic mappings support all POVs)  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84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Today requirements are :</a:t>
            </a:r>
          </a:p>
          <a:p>
            <a:pPr lvl="1"/>
            <a:r>
              <a:rPr lang="en-US" dirty="0" smtClean="0"/>
              <a:t>drafted as documents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ranslated into artifacts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ecomposed into features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aptured in doc objects, spreadsheets, and models</a:t>
            </a:r>
          </a:p>
          <a:p>
            <a:pPr lvl="1"/>
            <a:endParaRPr lang="en-US" dirty="0"/>
          </a:p>
          <a:p>
            <a:r>
              <a:rPr lang="en-US" dirty="0" smtClean="0"/>
              <a:t>Some challenges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ubject to interpretation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ot easily reused or repurposed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ifficult to achieve consistency </a:t>
            </a:r>
          </a:p>
          <a:p>
            <a:pPr lvl="1"/>
            <a:r>
              <a:rPr lang="en-US" dirty="0"/>
              <a:t>q</a:t>
            </a:r>
            <a:r>
              <a:rPr lang="en-US" dirty="0" smtClean="0"/>
              <a:t>uickly becomes irrelevant (shelf-ware)</a:t>
            </a:r>
          </a:p>
        </p:txBody>
      </p:sp>
    </p:spTree>
    <p:extLst>
      <p:ext uri="{BB962C8B-B14F-4D97-AF65-F5344CB8AC3E}">
        <p14:creationId xmlns:p14="http://schemas.microsoft.com/office/powerpoint/2010/main" val="369917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Tomorrow requirements could be :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rafted as capabilities and features which are aligned with services (business &amp; infrastructure)</a:t>
            </a:r>
          </a:p>
          <a:p>
            <a:pPr lvl="1"/>
            <a:r>
              <a:rPr lang="en-US" dirty="0" smtClean="0"/>
              <a:t>captured as business rules, metadata, metrics, and function points within rules libraries, metadata repository, process models, and analytics models </a:t>
            </a:r>
          </a:p>
          <a:p>
            <a:pPr lvl="1"/>
            <a:endParaRPr lang="en-US" dirty="0"/>
          </a:p>
          <a:p>
            <a:r>
              <a:rPr lang="en-US" dirty="0" smtClean="0"/>
              <a:t>Some of the benefits may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euse of requirements (all levels of granularity)</a:t>
            </a:r>
          </a:p>
          <a:p>
            <a:pPr lvl="1"/>
            <a:r>
              <a:rPr lang="en-US" dirty="0"/>
              <a:t>h</a:t>
            </a:r>
            <a:r>
              <a:rPr lang="en-US" dirty="0" smtClean="0"/>
              <a:t>igh degree of consistency, relevancy, and usability</a:t>
            </a:r>
          </a:p>
          <a:p>
            <a:pPr lvl="1"/>
            <a:r>
              <a:rPr lang="en-US" dirty="0" smtClean="0"/>
              <a:t>Requirements become part of the solution (subject to version management &amp; part of configuration mgmt.)</a:t>
            </a:r>
          </a:p>
        </p:txBody>
      </p:sp>
    </p:spTree>
    <p:extLst>
      <p:ext uri="{BB962C8B-B14F-4D97-AF65-F5344CB8AC3E}">
        <p14:creationId xmlns:p14="http://schemas.microsoft.com/office/powerpoint/2010/main" val="135550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Artifacts to Operational Guidance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Metrics are used for verification and validation to ensure quality of projects (across their lifecycle) are used to:</a:t>
            </a:r>
          </a:p>
          <a:p>
            <a:pPr lvl="1"/>
            <a:r>
              <a:rPr lang="en-US" dirty="0" smtClean="0"/>
              <a:t>control tolerances for all categories of requirements (all levels of granularity) for products, services, and operations across their lifecycles (while in service)</a:t>
            </a:r>
          </a:p>
          <a:p>
            <a:r>
              <a:rPr lang="en-US" dirty="0" smtClean="0"/>
              <a:t>Success Criteria are acceptable thresholds of performance covering (but not limited to):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rojects &amp; test plans (all types of testing)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ontrol charts and certifications</a:t>
            </a:r>
          </a:p>
          <a:p>
            <a:pPr lvl="1"/>
            <a:r>
              <a:rPr lang="en-US" dirty="0" smtClean="0"/>
              <a:t>products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83763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S–IPO-C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B73A-582F-4420-9A14-CB10A2B2E5E8}" type="slidenum">
              <a:rPr lang="en-US" smtClean="0"/>
              <a:t>6</a:t>
            </a:fld>
            <a:endParaRPr 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84163" y="13922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nputs (BAI)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211513" y="1392248"/>
            <a:ext cx="2701925" cy="5080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rocessing (BAP)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6138863" y="13795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utputs (BAO)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6138863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List of Prioritized Features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138863" y="2255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Features by Magnitude 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3225800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ID Skills / Resources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3225800" y="22399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Training on Req. Proc/Method.</a:t>
            </a:r>
          </a:p>
        </p:txBody>
      </p:sp>
      <p:sp>
        <p:nvSpPr>
          <p:cNvPr id="11" name="AutoShape 25"/>
          <p:cNvSpPr>
            <a:spLocks noChangeArrowheads="1"/>
          </p:cNvSpPr>
          <p:nvPr/>
        </p:nvSpPr>
        <p:spPr bwMode="auto">
          <a:xfrm>
            <a:off x="3225800" y="24638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Common Document Template</a:t>
            </a:r>
          </a:p>
        </p:txBody>
      </p:sp>
      <p:sp>
        <p:nvSpPr>
          <p:cNvPr id="12" name="AutoShape 26"/>
          <p:cNvSpPr>
            <a:spLocks noChangeArrowheads="1"/>
          </p:cNvSpPr>
          <p:nvPr/>
        </p:nvSpPr>
        <p:spPr bwMode="auto">
          <a:xfrm>
            <a:off x="3225800" y="268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Publish Glossary</a:t>
            </a:r>
          </a:p>
        </p:txBody>
      </p:sp>
      <p:sp>
        <p:nvSpPr>
          <p:cNvPr id="13" name="AutoShape 27"/>
          <p:cNvSpPr>
            <a:spLocks noChangeArrowheads="1"/>
          </p:cNvSpPr>
          <p:nvPr/>
        </p:nvSpPr>
        <p:spPr bwMode="auto">
          <a:xfrm>
            <a:off x="284163" y="2027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1) Sample reports</a:t>
            </a:r>
          </a:p>
        </p:txBody>
      </p:sp>
      <p:sp>
        <p:nvSpPr>
          <p:cNvPr id="14" name="AutoShape 28"/>
          <p:cNvSpPr>
            <a:spLocks noChangeArrowheads="1"/>
          </p:cNvSpPr>
          <p:nvPr/>
        </p:nvSpPr>
        <p:spPr bwMode="auto">
          <a:xfrm>
            <a:off x="284163" y="2243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2) Prototypes</a:t>
            </a:r>
          </a:p>
        </p:txBody>
      </p:sp>
      <p:sp>
        <p:nvSpPr>
          <p:cNvPr id="15" name="AutoShape 29"/>
          <p:cNvSpPr>
            <a:spLocks noChangeArrowheads="1"/>
          </p:cNvSpPr>
          <p:nvPr/>
        </p:nvSpPr>
        <p:spPr bwMode="auto">
          <a:xfrm>
            <a:off x="284163" y="24590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3) Screen Mock-ups</a:t>
            </a:r>
          </a:p>
        </p:txBody>
      </p:sp>
      <p:sp>
        <p:nvSpPr>
          <p:cNvPr id="16" name="AutoShape 30"/>
          <p:cNvSpPr>
            <a:spLocks noChangeArrowheads="1"/>
          </p:cNvSpPr>
          <p:nvPr/>
        </p:nvSpPr>
        <p:spPr bwMode="auto">
          <a:xfrm>
            <a:off x="284163" y="26749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4) ID Bus. Problem/Need</a:t>
            </a:r>
          </a:p>
        </p:txBody>
      </p:sp>
      <p:sp>
        <p:nvSpPr>
          <p:cNvPr id="17" name="AutoShape 31"/>
          <p:cNvSpPr>
            <a:spLocks noChangeArrowheads="1"/>
          </p:cNvSpPr>
          <p:nvPr/>
        </p:nvSpPr>
        <p:spPr bwMode="auto">
          <a:xfrm>
            <a:off x="284163" y="28908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5) What is client trying to solve?</a:t>
            </a:r>
          </a:p>
        </p:txBody>
      </p:sp>
      <p:sp>
        <p:nvSpPr>
          <p:cNvPr id="18" name="AutoShape 32"/>
          <p:cNvSpPr>
            <a:spLocks noChangeArrowheads="1"/>
          </p:cNvSpPr>
          <p:nvPr/>
        </p:nvSpPr>
        <p:spPr bwMode="auto">
          <a:xfrm>
            <a:off x="284163" y="31067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6) List of prioritized features</a:t>
            </a:r>
          </a:p>
        </p:txBody>
      </p:sp>
      <p:sp>
        <p:nvSpPr>
          <p:cNvPr id="19" name="AutoShape 33"/>
          <p:cNvSpPr>
            <a:spLocks noChangeArrowheads="1"/>
          </p:cNvSpPr>
          <p:nvPr/>
        </p:nvSpPr>
        <p:spPr bwMode="auto">
          <a:xfrm>
            <a:off x="284163" y="33226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7) Strategic Product Roadmap</a:t>
            </a:r>
          </a:p>
        </p:txBody>
      </p:sp>
      <p:sp>
        <p:nvSpPr>
          <p:cNvPr id="20" name="AutoShape 34"/>
          <p:cNvSpPr>
            <a:spLocks noChangeArrowheads="1"/>
          </p:cNvSpPr>
          <p:nvPr/>
        </p:nvSpPr>
        <p:spPr bwMode="auto">
          <a:xfrm>
            <a:off x="284163" y="35385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8) VOC</a:t>
            </a:r>
          </a:p>
        </p:txBody>
      </p:sp>
      <p:sp>
        <p:nvSpPr>
          <p:cNvPr id="21" name="AutoShape 35"/>
          <p:cNvSpPr>
            <a:spLocks noChangeArrowheads="1"/>
          </p:cNvSpPr>
          <p:nvPr/>
        </p:nvSpPr>
        <p:spPr bwMode="auto">
          <a:xfrm>
            <a:off x="284163" y="37544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9) Non-functional Perf. Req.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284163" y="39703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10) SLR</a:t>
            </a:r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284163" y="4186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11) Bus. Rules</a:t>
            </a:r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284163" y="4402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12) Bus. Constraint Assumptions</a:t>
            </a:r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3225800" y="29130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ID Req. Workflow</a:t>
            </a:r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3225800" y="31369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Statistical Analysis</a:t>
            </a:r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3225800" y="33607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Research Tools</a:t>
            </a:r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6138863" y="2484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ID Depend. &amp; Rel. Impact </a:t>
            </a:r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6138863" y="2713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List Business of Assumptions </a:t>
            </a: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6138863" y="2941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Business Process Flow </a:t>
            </a:r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6138863" y="3170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Scope SOW </a:t>
            </a:r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6138863" y="3398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Bus. Constraints </a:t>
            </a:r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138863" y="3627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8) Bus. Rules </a:t>
            </a:r>
          </a:p>
        </p:txBody>
      </p:sp>
      <p:sp>
        <p:nvSpPr>
          <p:cNvPr id="34" name="AutoShape 48"/>
          <p:cNvSpPr>
            <a:spLocks noChangeArrowheads="1"/>
          </p:cNvSpPr>
          <p:nvPr/>
        </p:nvSpPr>
        <p:spPr bwMode="auto">
          <a:xfrm>
            <a:off x="6138863" y="3856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9) Traceability Matrix </a:t>
            </a:r>
          </a:p>
        </p:txBody>
      </p:sp>
      <p:sp>
        <p:nvSpPr>
          <p:cNvPr id="35" name="AutoShape 49"/>
          <p:cNvSpPr>
            <a:spLocks noChangeArrowheads="1"/>
          </p:cNvSpPr>
          <p:nvPr/>
        </p:nvSpPr>
        <p:spPr bwMode="auto">
          <a:xfrm>
            <a:off x="6138863" y="4084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10) Use Case </a:t>
            </a:r>
          </a:p>
        </p:txBody>
      </p:sp>
      <p:sp>
        <p:nvSpPr>
          <p:cNvPr id="36" name="AutoShape 50"/>
          <p:cNvSpPr>
            <a:spLocks noChangeArrowheads="1"/>
          </p:cNvSpPr>
          <p:nvPr/>
        </p:nvSpPr>
        <p:spPr bwMode="auto">
          <a:xfrm>
            <a:off x="6138863" y="4313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11) Storyboards </a:t>
            </a:r>
          </a:p>
        </p:txBody>
      </p:sp>
      <p:sp>
        <p:nvSpPr>
          <p:cNvPr id="37" name="AutoShape 51"/>
          <p:cNvSpPr>
            <a:spLocks noChangeArrowheads="1"/>
          </p:cNvSpPr>
          <p:nvPr/>
        </p:nvSpPr>
        <p:spPr bwMode="auto">
          <a:xfrm>
            <a:off x="6138863" y="4541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12) Test Scenarios </a:t>
            </a:r>
          </a:p>
        </p:txBody>
      </p:sp>
      <p:sp>
        <p:nvSpPr>
          <p:cNvPr id="38" name="AutoShape 52"/>
          <p:cNvSpPr>
            <a:spLocks noChangeArrowheads="1"/>
          </p:cNvSpPr>
          <p:nvPr/>
        </p:nvSpPr>
        <p:spPr bwMode="auto">
          <a:xfrm>
            <a:off x="6138863" y="4770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13) User Documentation </a:t>
            </a:r>
          </a:p>
        </p:txBody>
      </p:sp>
      <p:sp>
        <p:nvSpPr>
          <p:cNvPr id="39" name="AutoShape 53"/>
          <p:cNvSpPr>
            <a:spLocks noChangeArrowheads="1"/>
          </p:cNvSpPr>
          <p:nvPr/>
        </p:nvSpPr>
        <p:spPr bwMode="auto">
          <a:xfrm>
            <a:off x="6138863" y="4999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14) Sample Deliverables </a:t>
            </a:r>
          </a:p>
        </p:txBody>
      </p:sp>
      <p:sp>
        <p:nvSpPr>
          <p:cNvPr id="40" name="AutoShape 54"/>
          <p:cNvSpPr>
            <a:spLocks noChangeArrowheads="1"/>
          </p:cNvSpPr>
          <p:nvPr/>
        </p:nvSpPr>
        <p:spPr bwMode="auto">
          <a:xfrm>
            <a:off x="6138863" y="522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15) Context Diagrams </a:t>
            </a:r>
          </a:p>
        </p:txBody>
      </p:sp>
      <p:sp>
        <p:nvSpPr>
          <p:cNvPr id="41" name="AutoShape 55"/>
          <p:cNvSpPr>
            <a:spLocks noChangeArrowheads="1"/>
          </p:cNvSpPr>
          <p:nvPr/>
        </p:nvSpPr>
        <p:spPr bwMode="auto">
          <a:xfrm>
            <a:off x="6138863" y="5456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16) Architectural Diagrams 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>
            <a:off x="6138863" y="5684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17) Non-functional Req.</a:t>
            </a:r>
          </a:p>
        </p:txBody>
      </p:sp>
      <p:sp>
        <p:nvSpPr>
          <p:cNvPr id="43" name="AutoShape 57"/>
          <p:cNvSpPr>
            <a:spLocks noChangeArrowheads="1"/>
          </p:cNvSpPr>
          <p:nvPr/>
        </p:nvSpPr>
        <p:spPr bwMode="auto">
          <a:xfrm>
            <a:off x="6138863" y="5913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18) Screen Mock Ups </a:t>
            </a:r>
          </a:p>
        </p:txBody>
      </p:sp>
      <p:sp>
        <p:nvSpPr>
          <p:cNvPr id="44" name="AutoShape 58"/>
          <p:cNvSpPr>
            <a:spLocks noChangeArrowheads="1"/>
          </p:cNvSpPr>
          <p:nvPr/>
        </p:nvSpPr>
        <p:spPr bwMode="auto">
          <a:xfrm>
            <a:off x="6138863" y="6142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19) Use Case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936" y="4878874"/>
            <a:ext cx="47190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This is one model for aligning inputs, processes, and outputs for current state business analysis.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new model would need to be proposed for the future state requirements (as depicted in the “big picture” and subsequent slides above.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301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华文新魏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1695</TotalTime>
  <Words>612</Words>
  <Application>Microsoft Macintosh PowerPoint</Application>
  <PresentationFormat>Letter Paper (8.5x11 in)</PresentationFormat>
  <Paragraphs>89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Civic</vt:lpstr>
      <vt:lpstr>Requirements Management</vt:lpstr>
      <vt:lpstr>Big Picture</vt:lpstr>
      <vt:lpstr>Current State</vt:lpstr>
      <vt:lpstr>Future State</vt:lpstr>
      <vt:lpstr>Project Artifacts to Operational Guidance</vt:lpstr>
      <vt:lpstr>S–IPO-C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Management</dc:title>
  <dc:creator>jeffrey wallk</dc:creator>
  <cp:lastModifiedBy>jeffrey wallk</cp:lastModifiedBy>
  <cp:revision>24</cp:revision>
  <dcterms:created xsi:type="dcterms:W3CDTF">2013-08-24T23:38:47Z</dcterms:created>
  <dcterms:modified xsi:type="dcterms:W3CDTF">2013-08-26T03:54:13Z</dcterms:modified>
</cp:coreProperties>
</file>
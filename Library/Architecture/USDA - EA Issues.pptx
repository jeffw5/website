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emf" ContentType="image/x-emf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1"/>
  </p:sldMasterIdLst>
  <p:notesMasterIdLst>
    <p:notesMasterId r:id="rId40"/>
  </p:notesMasterIdLst>
  <p:handoutMasterIdLst>
    <p:handoutMasterId r:id="rId41"/>
  </p:handoutMasterIdLst>
  <p:sldIdLst>
    <p:sldId id="265" r:id="rId2"/>
    <p:sldId id="353" r:id="rId3"/>
    <p:sldId id="332" r:id="rId4"/>
    <p:sldId id="271" r:id="rId5"/>
    <p:sldId id="322" r:id="rId6"/>
    <p:sldId id="321" r:id="rId7"/>
    <p:sldId id="268" r:id="rId8"/>
    <p:sldId id="272" r:id="rId9"/>
    <p:sldId id="269" r:id="rId10"/>
    <p:sldId id="328" r:id="rId11"/>
    <p:sldId id="327" r:id="rId12"/>
    <p:sldId id="260" r:id="rId13"/>
    <p:sldId id="330" r:id="rId14"/>
    <p:sldId id="348" r:id="rId15"/>
    <p:sldId id="350" r:id="rId16"/>
    <p:sldId id="279" r:id="rId17"/>
    <p:sldId id="258" r:id="rId18"/>
    <p:sldId id="335" r:id="rId19"/>
    <p:sldId id="361" r:id="rId20"/>
    <p:sldId id="304" r:id="rId21"/>
    <p:sldId id="291" r:id="rId22"/>
    <p:sldId id="307" r:id="rId23"/>
    <p:sldId id="360" r:id="rId24"/>
    <p:sldId id="362" r:id="rId25"/>
    <p:sldId id="303" r:id="rId26"/>
    <p:sldId id="308" r:id="rId27"/>
    <p:sldId id="355" r:id="rId28"/>
    <p:sldId id="345" r:id="rId29"/>
    <p:sldId id="282" r:id="rId30"/>
    <p:sldId id="357" r:id="rId31"/>
    <p:sldId id="358" r:id="rId32"/>
    <p:sldId id="276" r:id="rId33"/>
    <p:sldId id="280" r:id="rId34"/>
    <p:sldId id="278" r:id="rId35"/>
    <p:sldId id="305" r:id="rId36"/>
    <p:sldId id="317" r:id="rId37"/>
    <p:sldId id="273" r:id="rId38"/>
    <p:sldId id="331" r:id="rId3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973"/>
    <a:srgbClr val="990000"/>
    <a:srgbClr val="66CCFF"/>
    <a:srgbClr val="996633"/>
    <a:srgbClr val="615629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97" autoAdjust="0"/>
    <p:restoredTop sz="90929"/>
  </p:normalViewPr>
  <p:slideViewPr>
    <p:cSldViewPr>
      <p:cViewPr varScale="1">
        <p:scale>
          <a:sx n="71" d="100"/>
          <a:sy n="71" d="100"/>
        </p:scale>
        <p:origin x="-1368" y="-90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78" y="-96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Times New Roman" pitchFamily="18" charset="0"/>
              </a:defRPr>
            </a:lvl1pPr>
          </a:lstStyle>
          <a:p>
            <a:fld id="{EB70013D-1F29-4C7B-8FF8-26A707E27B0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Times New Roman" pitchFamily="18" charset="0"/>
              </a:defRPr>
            </a:lvl1pPr>
          </a:lstStyle>
          <a:p>
            <a:fld id="{2FF73057-1800-44C7-9F4E-B26E2C9E644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9FCC6A-64E2-46A6-974A-FBEC54A4A5E9}" type="slidenum">
              <a:rPr lang="en-US"/>
              <a:pPr/>
              <a:t>1</a:t>
            </a:fld>
            <a:endParaRPr lang="en-US"/>
          </a:p>
        </p:txBody>
      </p:sp>
      <p:sp>
        <p:nvSpPr>
          <p:cNvPr id="1167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E35FCF-BFDB-41F9-86F6-CF00BCA62573}" type="slidenum">
              <a:rPr lang="en-US"/>
              <a:pPr/>
              <a:t>9</a:t>
            </a:fld>
            <a:endParaRPr lang="en-US"/>
          </a:p>
        </p:txBody>
      </p:sp>
      <p:sp>
        <p:nvSpPr>
          <p:cNvPr id="481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External Environment</a:t>
            </a:r>
          </a:p>
          <a:p>
            <a:pPr>
              <a:buFontTx/>
              <a:buChar char="•"/>
            </a:pPr>
            <a:r>
              <a:rPr lang="en-US"/>
              <a:t>Regulations at Federal Level that may change</a:t>
            </a:r>
          </a:p>
          <a:p>
            <a:pPr>
              <a:buFontTx/>
              <a:buChar char="•"/>
            </a:pPr>
            <a:r>
              <a:rPr lang="en-US"/>
              <a:t>Events such as 9/11 causing whole reshuffle of priorities and organizations</a:t>
            </a:r>
          </a:p>
          <a:p>
            <a:pPr>
              <a:buFontTx/>
              <a:buChar char="•"/>
            </a:pPr>
            <a:r>
              <a:rPr lang="en-US"/>
              <a:t>Administration changes</a:t>
            </a:r>
          </a:p>
          <a:p>
            <a:pPr>
              <a:buFontTx/>
              <a:buChar char="•"/>
            </a:pPr>
            <a:r>
              <a:rPr lang="en-US"/>
              <a:t>Weather – more fires</a:t>
            </a:r>
          </a:p>
          <a:p>
            <a:pPr>
              <a:buFontTx/>
              <a:buChar char="•"/>
            </a:pPr>
            <a:r>
              <a:rPr lang="en-US"/>
              <a:t>Labor pool </a:t>
            </a:r>
          </a:p>
          <a:p>
            <a:pPr>
              <a:buFontTx/>
              <a:buChar char="•"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6DE10E-1476-4AC3-BA1F-F955FA5BFB36}" type="slidenum">
              <a:rPr lang="en-US"/>
              <a:pPr/>
              <a:t>11</a:t>
            </a:fld>
            <a:endParaRPr lang="en-US"/>
          </a:p>
        </p:txBody>
      </p:sp>
      <p:sp>
        <p:nvSpPr>
          <p:cNvPr id="1034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/>
              <a:t>3 key elements – process, people, + tools</a:t>
            </a:r>
          </a:p>
          <a:p>
            <a:pPr>
              <a:buFont typeface="Wingdings" pitchFamily="2" charset="2"/>
              <a:buNone/>
            </a:pPr>
            <a:r>
              <a:rPr lang="en-US"/>
              <a:t>Seems like common sense; GAO EA CMM maps closely to this circle; </a:t>
            </a:r>
          </a:p>
          <a:p>
            <a:pPr>
              <a:buFont typeface="Wingdings" pitchFamily="2" charset="2"/>
              <a:buNone/>
            </a:pPr>
            <a:r>
              <a:rPr lang="en-US"/>
              <a:t>No one is doing it; will do a prototype test this summer on OCIO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CDA190-3AA2-4088-ADBB-22B5D65C9BB2}" type="slidenum">
              <a:rPr lang="en-US"/>
              <a:pPr/>
              <a:t>12</a:t>
            </a:fld>
            <a:endParaRPr lang="en-US"/>
          </a:p>
        </p:txBody>
      </p:sp>
      <p:sp>
        <p:nvSpPr>
          <p:cNvPr id="92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Service Component Reference Model includes Applications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777757-8265-4443-B697-F544D33C83AB}" type="slidenum">
              <a:rPr lang="en-US"/>
              <a:pPr/>
              <a:t>13</a:t>
            </a:fld>
            <a:endParaRPr lang="en-US"/>
          </a:p>
        </p:txBody>
      </p:sp>
      <p:sp>
        <p:nvSpPr>
          <p:cNvPr id="1136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65C702-6718-4C1F-9866-D7169B797474}" type="slidenum">
              <a:rPr lang="en-US"/>
              <a:pPr/>
              <a:t>17</a:t>
            </a:fld>
            <a:endParaRPr lang="en-US"/>
          </a:p>
        </p:txBody>
      </p:sp>
      <p:sp>
        <p:nvSpPr>
          <p:cNvPr id="16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also related architectures such as those of state governments, businesses etc.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86BAF1-C670-4950-9282-79064C1E66BD}" type="slidenum">
              <a:rPr lang="en-US"/>
              <a:pPr/>
              <a:t>30</a:t>
            </a:fld>
            <a:endParaRPr lang="en-US"/>
          </a:p>
        </p:txBody>
      </p:sp>
      <p:sp>
        <p:nvSpPr>
          <p:cNvPr id="159746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182688" y="698500"/>
            <a:ext cx="4646612" cy="34845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7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35038" y="4414838"/>
            <a:ext cx="5140325" cy="41830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857" tIns="46429" rIns="92857" bIns="46429"/>
          <a:lstStyle/>
          <a:p>
            <a:r>
              <a:rPr lang="en-US"/>
              <a:t>There are also related architectures such as those of state governments, businesses etc.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73057-1800-44C7-9F4E-B26E2C9E6444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39267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9268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9269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39270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1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2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3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4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5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6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7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8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79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0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1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2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3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4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5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6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7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8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89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0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1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2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3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4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5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6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7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8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9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0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1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2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3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4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5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6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7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8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9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0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1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2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3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4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5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6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7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8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19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20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9321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9322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39323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24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25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26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932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13932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2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3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933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933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9333" name="Rectangle 6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9334" name="Rectangle 7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9335" name="Rectangle 7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593D7FF-F3B9-42EA-B57A-8E7D6252E0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A4B3DE-7ECC-426E-A8BC-9B14E68464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BD45AF-0681-40F4-8B12-AA517C74B8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4488D-4238-4519-95FC-18A6E2D708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8122EB-DA74-49AF-A7E7-504D17FFD7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27C833-6700-4A44-8968-6D45F37EBB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8BD0AA-8A95-4F5A-B2E1-74B9527BC6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355D7D-6BA9-4AD1-A4D4-2C02E6034C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8882C-4D84-4A08-8538-AECB565CC2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D3DA6D-76D8-4292-A37A-A1F98A9105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6046F-C7B6-48B5-8B24-5931E81A54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4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38243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38244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38245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46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47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48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49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0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1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2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3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4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5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6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7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8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59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0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1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2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3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4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5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6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8267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38268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69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0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1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2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3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4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5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6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7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8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79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0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1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2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3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4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5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6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7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8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89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90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91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92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93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94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95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296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38297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9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8299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38300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0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02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8303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38304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8305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8306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38307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AB40B7D-5768-48F8-A3BF-8342FE4E5E4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9084-1653-4123-958C-2EE9B0BA608F}" type="slidenum">
              <a:rPr lang="en-US"/>
              <a:pPr/>
              <a:t>1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600200"/>
            <a:ext cx="7772400" cy="1431925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latin typeface="Arial" charset="0"/>
              </a:rPr>
              <a:t>The USDA Enterprise Architecture Program</a:t>
            </a:r>
            <a:endParaRPr lang="en-US" b="1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ltGray">
          <a:xfrm>
            <a:off x="1752600" y="3962400"/>
            <a:ext cx="5632450" cy="2557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Niles E Hewlett, PMP CEA</a:t>
            </a:r>
          </a:p>
          <a:p>
            <a:pPr algn="ctr"/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Enterprise Architecture Team</a:t>
            </a:r>
          </a:p>
          <a:p>
            <a:pPr algn="ctr"/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USDA-OCIO</a:t>
            </a:r>
            <a:endParaRPr lang="en-US" sz="1000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algn="ctr"/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algn="ctr"/>
            <a:r>
              <a:rPr 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January 25, 2006</a:t>
            </a: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algn="ctr"/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algn="ctr"/>
            <a:endParaRPr lang="en-US" b="1"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203B-A7F6-42CE-AA3A-97A157A39FDA}" type="slidenum">
              <a:rPr lang="en-US"/>
              <a:pPr/>
              <a:t>2</a:t>
            </a:fld>
            <a:endParaRPr lang="en-US"/>
          </a:p>
        </p:txBody>
      </p:sp>
      <p:sp>
        <p:nvSpPr>
          <p:cNvPr id="152578" name="Rectangle 1026"/>
          <p:cNvSpPr>
            <a:spLocks noChangeArrowheads="1"/>
          </p:cNvSpPr>
          <p:nvPr/>
        </p:nvSpPr>
        <p:spPr bwMode="auto">
          <a:xfrm>
            <a:off x="1295400" y="2133600"/>
            <a:ext cx="6934200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>“We have an Enterprise Architecture -- </a:t>
            </a:r>
          </a:p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> We just can’t show it, explain it, share it, </a:t>
            </a:r>
          </a:p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> tell you what’s in it, what it supports, </a:t>
            </a:r>
          </a:p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> or who has what.” </a:t>
            </a:r>
          </a:p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/>
            </a:r>
            <a:br>
              <a:rPr lang="en-US" b="1">
                <a:latin typeface="Arial" charset="0"/>
              </a:rPr>
            </a:br>
            <a:r>
              <a:rPr lang="en-US" b="1">
                <a:latin typeface="Arial" charset="0"/>
              </a:rPr>
              <a:t>					-- Herding Katz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D576-144E-47AA-BD8B-EB43C662FC44}" type="slidenum">
              <a:rPr lang="en-US"/>
              <a:pPr/>
              <a:t>3</a:t>
            </a:fld>
            <a:endParaRPr lang="en-US"/>
          </a:p>
        </p:txBody>
      </p:sp>
      <p:sp>
        <p:nvSpPr>
          <p:cNvPr id="1187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7772400" cy="641350"/>
          </a:xfrm>
        </p:spPr>
        <p:txBody>
          <a:bodyPr/>
          <a:lstStyle/>
          <a:p>
            <a:r>
              <a:rPr lang="en-US" sz="3800">
                <a:solidFill>
                  <a:schemeClr val="tx1"/>
                </a:solidFill>
                <a:latin typeface="Arial" charset="0"/>
              </a:rPr>
              <a:t>What You Need to know about EA</a:t>
            </a:r>
          </a:p>
        </p:txBody>
      </p:sp>
      <p:sp>
        <p:nvSpPr>
          <p:cNvPr id="11878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endParaRPr lang="en-US" sz="24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What is Enterprise Architecture?</a:t>
            </a:r>
          </a:p>
          <a:p>
            <a:pPr>
              <a:lnSpc>
                <a:spcPct val="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What are the OMB Reference Models?</a:t>
            </a:r>
          </a:p>
          <a:p>
            <a:pPr>
              <a:lnSpc>
                <a:spcPct val="50000"/>
              </a:lnSpc>
              <a:buClr>
                <a:schemeClr val="tx1"/>
              </a:buClr>
            </a:pPr>
            <a:endParaRPr lang="en-US" sz="2400">
              <a:latin typeface="Arial" charset="0"/>
            </a:endParaRPr>
          </a:p>
          <a:p>
            <a:pPr>
              <a:lnSpc>
                <a:spcPct val="5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What is the EA Program in USDA?</a:t>
            </a:r>
          </a:p>
          <a:p>
            <a:pPr>
              <a:lnSpc>
                <a:spcPct val="50000"/>
              </a:lnSpc>
              <a:buClr>
                <a:schemeClr val="tx1"/>
              </a:buClr>
            </a:pPr>
            <a:endParaRPr lang="en-US" sz="2400">
              <a:latin typeface="Arial" charset="0"/>
            </a:endParaRPr>
          </a:p>
          <a:p>
            <a:pPr>
              <a:lnSpc>
                <a:spcPct val="5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The USDA EA Repository (EAR)</a:t>
            </a:r>
          </a:p>
          <a:p>
            <a:pPr>
              <a:lnSpc>
                <a:spcPct val="50000"/>
              </a:lnSpc>
              <a:buClr>
                <a:schemeClr val="tx1"/>
              </a:buClr>
            </a:pPr>
            <a:endParaRPr lang="en-US" sz="2400">
              <a:latin typeface="Arial" charset="0"/>
            </a:endParaRPr>
          </a:p>
          <a:p>
            <a:pPr>
              <a:lnSpc>
                <a:spcPct val="5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EA and Capital Planning</a:t>
            </a:r>
          </a:p>
          <a:p>
            <a:pPr>
              <a:lnSpc>
                <a:spcPct val="50000"/>
              </a:lnSpc>
              <a:buClr>
                <a:schemeClr val="tx1"/>
              </a:buClr>
            </a:pPr>
            <a:endParaRPr lang="en-US" sz="2400">
              <a:latin typeface="Arial" charset="0"/>
            </a:endParaRPr>
          </a:p>
          <a:p>
            <a:pPr>
              <a:lnSpc>
                <a:spcPct val="5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18A8F-9BAB-4A0F-8ED8-CB9F9060CBC2}" type="slidenum">
              <a:rPr lang="en-US"/>
              <a:pPr/>
              <a:t>4</a:t>
            </a:fld>
            <a:endParaRPr 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560388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What is an Enterprise?</a:t>
            </a:r>
            <a:endParaRPr lang="en-US"/>
          </a:p>
        </p:txBody>
      </p:sp>
      <p:sp>
        <p:nvSpPr>
          <p:cNvPr id="32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534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An enterprise is “</a:t>
            </a:r>
            <a:r>
              <a:rPr lang="en-US" sz="2400">
                <a:solidFill>
                  <a:srgbClr val="990000"/>
                </a:solidFill>
                <a:latin typeface="Arial" charset="0"/>
              </a:rPr>
              <a:t>The Business</a:t>
            </a:r>
            <a:r>
              <a:rPr lang="en-US" sz="2400">
                <a:latin typeface="Arial" charset="0"/>
              </a:rPr>
              <a:t>” of an organization</a:t>
            </a:r>
          </a:p>
          <a:p>
            <a:pPr>
              <a:lnSpc>
                <a:spcPct val="3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It has a broad scope (it touches…)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customers, staff, and contractors 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the processes and assets used to develop and deliver products and services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the data and information held for use in the business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the mechanisms for providing communications and security </a:t>
            </a:r>
          </a:p>
          <a:p>
            <a:pPr lvl="1">
              <a:lnSpc>
                <a:spcPct val="70000"/>
              </a:lnSpc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To understand an enterprise, we need to understand the mission, strategic objectives, and desired outcomes.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E7D09-5E95-4004-A9D0-BFD7ED37E7F3}" type="slidenum">
              <a:rPr lang="en-US"/>
              <a:pPr/>
              <a:t>5</a:t>
            </a:fld>
            <a:endParaRPr lang="en-US"/>
          </a:p>
        </p:txBody>
      </p:sp>
      <p:sp>
        <p:nvSpPr>
          <p:cNvPr id="952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Concept of Architecture</a:t>
            </a:r>
            <a:endParaRPr lang="en-US"/>
          </a:p>
        </p:txBody>
      </p:sp>
      <p:sp>
        <p:nvSpPr>
          <p:cNvPr id="9523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Enterprise Architecture is not a new idea.</a:t>
            </a:r>
          </a:p>
          <a:p>
            <a:pPr>
              <a:lnSpc>
                <a:spcPct val="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But EA requires some newer visuals in order to communicate.</a:t>
            </a:r>
          </a:p>
          <a:p>
            <a:pPr>
              <a:lnSpc>
                <a:spcPct val="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Examples: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- a house blueprint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- aircraft systems design plans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- a community infrastructure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(communications, gas, electricity, water, roads, etc.)</a:t>
            </a:r>
          </a:p>
          <a:p>
            <a:pPr>
              <a:buFont typeface="Wingdings" pitchFamily="2" charset="2"/>
              <a:buNone/>
            </a:pPr>
            <a:endParaRPr lang="en-US" sz="2800">
              <a:latin typeface="Arial" charset="0"/>
            </a:endParaRPr>
          </a:p>
          <a:p>
            <a:pPr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537-DAB7-4852-BCA2-4B5F323AE5A0}" type="slidenum">
              <a:rPr lang="en-US"/>
              <a:pPr/>
              <a:t>6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Definition:</a:t>
            </a:r>
            <a:endParaRPr lang="en-US" sz="4000">
              <a:latin typeface="Arial" charset="0"/>
            </a:endParaRPr>
          </a:p>
        </p:txBody>
      </p:sp>
      <p:sp>
        <p:nvSpPr>
          <p:cNvPr id="942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An </a:t>
            </a:r>
            <a:r>
              <a:rPr lang="en-US" sz="2400" b="1" u="sng">
                <a:solidFill>
                  <a:srgbClr val="990000"/>
                </a:solidFill>
                <a:latin typeface="Arial" charset="0"/>
              </a:rPr>
              <a:t>Enterprise Architecture</a:t>
            </a:r>
            <a:r>
              <a:rPr lang="en-US" sz="2400" b="1">
                <a:solidFill>
                  <a:srgbClr val="990000"/>
                </a:solidFill>
                <a:latin typeface="Arial" charset="0"/>
              </a:rPr>
              <a:t> (EA)</a:t>
            </a:r>
            <a:r>
              <a:rPr lang="en-US" sz="2400">
                <a:latin typeface="Arial" charset="0"/>
              </a:rPr>
              <a:t> is </a:t>
            </a:r>
            <a:r>
              <a:rPr lang="en-US" sz="2400">
                <a:latin typeface="Arial" charset="0"/>
                <a:cs typeface="Times New Roman" pitchFamily="18" charset="0"/>
              </a:rPr>
              <a:t>a way of organizing an enterprise’s business processes, information needs, and supporting technologies.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cs typeface="Times New Roman" pitchFamily="18" charset="0"/>
              </a:rPr>
              <a:t>EA includes the current state (“As-Is”), the vision of the future state (“To-Be”), and the transition plan of the business as well as technology</a:t>
            </a:r>
            <a:r>
              <a:rPr lang="en-US" sz="3200">
                <a:cs typeface="Times New Roman" pitchFamily="18" charset="0"/>
              </a:rPr>
              <a:t>.</a:t>
            </a:r>
          </a:p>
          <a:p>
            <a:pPr lvl="1">
              <a:lnSpc>
                <a:spcPct val="20000"/>
              </a:lnSpc>
              <a:buFont typeface="Wingdings" pitchFamily="2" charset="2"/>
              <a:buNone/>
            </a:pPr>
            <a:endParaRPr lang="en-US" sz="320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>
                <a:cs typeface="Times New Roman" pitchFamily="18" charset="0"/>
              </a:rPr>
              <a:t>It is another way of managing complexity…</a:t>
            </a:r>
          </a:p>
          <a:p>
            <a:pPr lvl="1">
              <a:lnSpc>
                <a:spcPct val="50000"/>
              </a:lnSpc>
              <a:buFont typeface="Wingdings" pitchFamily="2" charset="2"/>
              <a:buNone/>
            </a:pPr>
            <a:endParaRPr lang="en-US" sz="240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>
                <a:cs typeface="Times New Roman" pitchFamily="18" charset="0"/>
              </a:rPr>
              <a:t>(Not just an IT inventory)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B685-5240-4ECD-BE2D-F7D80BD25B80}" type="slidenum">
              <a:rPr lang="en-US"/>
              <a:pPr/>
              <a:t>7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01638"/>
            <a:ext cx="7772400" cy="1046162"/>
          </a:xfrm>
        </p:spPr>
        <p:txBody>
          <a:bodyPr/>
          <a:lstStyle/>
          <a:p>
            <a:r>
              <a:rPr lang="en-US" sz="3600">
                <a:solidFill>
                  <a:schemeClr val="tx1"/>
                </a:solidFill>
                <a:latin typeface="Arial" charset="0"/>
              </a:rPr>
              <a:t>Why Have an Enterprise Architecture?</a:t>
            </a:r>
          </a:p>
        </p:txBody>
      </p:sp>
      <p:sp>
        <p:nvSpPr>
          <p:cNvPr id="286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To present the current &amp; future vision of the business</a:t>
            </a:r>
          </a:p>
          <a:p>
            <a:pPr>
              <a:lnSpc>
                <a:spcPct val="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To support quality decision making (investment choices) and the impact of changes.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To use information technology to support business operations in a cost-effective manner 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Reduce redundancy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Reuse existing information and software components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Leverage new technology solutions effectively</a:t>
            </a:r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FD79-6C45-466E-A4C5-8B9EC9A14A9B}" type="slidenum">
              <a:rPr lang="en-US"/>
              <a:pPr/>
              <a:t>8</a:t>
            </a:fld>
            <a:endParaRPr lang="en-US"/>
          </a:p>
        </p:txBody>
      </p:sp>
      <p:sp>
        <p:nvSpPr>
          <p:cNvPr id="33794" name="Rectangle 3074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3600">
                <a:solidFill>
                  <a:schemeClr val="tx1"/>
                </a:solidFill>
                <a:latin typeface="Arial" charset="0"/>
              </a:rPr>
              <a:t>And to ...</a:t>
            </a:r>
          </a:p>
        </p:txBody>
      </p:sp>
      <p:sp>
        <p:nvSpPr>
          <p:cNvPr id="33795" name="Rectangle 307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772400" cy="3581400"/>
          </a:xfrm>
        </p:spPr>
        <p:txBody>
          <a:bodyPr/>
          <a:lstStyle/>
          <a:p>
            <a:endParaRPr lang="en-US" sz="20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Promote the sharing of systems and data</a:t>
            </a:r>
          </a:p>
          <a:p>
            <a:pPr>
              <a:lnSpc>
                <a:spcPct val="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Improve ability to integrate data across enterprise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 lvl="1"/>
            <a:r>
              <a:rPr lang="en-US" sz="2400">
                <a:latin typeface="Arial" charset="0"/>
              </a:rPr>
              <a:t>Develop standards </a:t>
            </a:r>
          </a:p>
          <a:p>
            <a:pPr lvl="1"/>
            <a:r>
              <a:rPr lang="en-US" sz="2400">
                <a:latin typeface="Arial" charset="0"/>
              </a:rPr>
              <a:t>Reduce number of application interfaces </a:t>
            </a:r>
          </a:p>
          <a:p>
            <a:pPr lvl="1"/>
            <a:r>
              <a:rPr lang="en-US" sz="2400">
                <a:latin typeface="Arial" charset="0"/>
              </a:rPr>
              <a:t>Identify missing data and plan for its development</a:t>
            </a:r>
          </a:p>
          <a:p>
            <a:endParaRPr lang="en-US" sz="2400">
              <a:latin typeface="Arial" charset="0"/>
            </a:endParaRPr>
          </a:p>
          <a:p>
            <a:pPr lvl="1"/>
            <a:endParaRPr lang="en-US" sz="2000">
              <a:latin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5196-F2C3-4A72-A37C-1A8CCE3DA6BF}" type="slidenum">
              <a:rPr lang="en-US"/>
              <a:pPr/>
              <a:t>9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01638"/>
            <a:ext cx="7772400" cy="1046162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What Drives an Enterprise Architecture?</a:t>
            </a:r>
          </a:p>
        </p:txBody>
      </p:sp>
      <p:sp>
        <p:nvSpPr>
          <p:cNvPr id="296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454525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External environment (Legislation, OMB)</a:t>
            </a:r>
          </a:p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		Clinger-Cohen Act, 1996</a:t>
            </a:r>
          </a:p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Mission of the organization</a:t>
            </a:r>
          </a:p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Business strategy (via strategic plans)</a:t>
            </a:r>
          </a:p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Business models (e.g., e-Gov initiatives)</a:t>
            </a:r>
          </a:p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Technology (including existing and new technologies</a:t>
            </a:r>
            <a:r>
              <a:rPr lang="en-US">
                <a:latin typeface="Arial" charset="0"/>
              </a:rPr>
              <a:t>)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9588-2B4A-4624-A9F3-9A1C53AC9DD7}" type="slidenum">
              <a:rPr lang="en-US"/>
              <a:pPr/>
              <a:t>10</a:t>
            </a:fld>
            <a:endParaRPr lang="en-US"/>
          </a:p>
        </p:txBody>
      </p:sp>
      <p:sp>
        <p:nvSpPr>
          <p:cNvPr id="104450" name="Freeform 1026"/>
          <p:cNvSpPr>
            <a:spLocks/>
          </p:cNvSpPr>
          <p:nvPr/>
        </p:nvSpPr>
        <p:spPr bwMode="auto">
          <a:xfrm>
            <a:off x="2643188" y="2590800"/>
            <a:ext cx="1246187" cy="1108075"/>
          </a:xfrm>
          <a:custGeom>
            <a:avLst/>
            <a:gdLst/>
            <a:ahLst/>
            <a:cxnLst>
              <a:cxn ang="0">
                <a:pos x="768" y="0"/>
              </a:cxn>
              <a:cxn ang="0">
                <a:pos x="0" y="699"/>
              </a:cxn>
              <a:cxn ang="0">
                <a:pos x="1470" y="699"/>
              </a:cxn>
              <a:cxn ang="0">
                <a:pos x="768" y="0"/>
              </a:cxn>
            </a:cxnLst>
            <a:rect l="0" t="0" r="r" b="b"/>
            <a:pathLst>
              <a:path w="1470" h="699">
                <a:moveTo>
                  <a:pt x="768" y="0"/>
                </a:moveTo>
                <a:lnTo>
                  <a:pt x="0" y="699"/>
                </a:lnTo>
                <a:lnTo>
                  <a:pt x="1470" y="699"/>
                </a:lnTo>
                <a:lnTo>
                  <a:pt x="768" y="0"/>
                </a:lnTo>
                <a:close/>
              </a:path>
            </a:pathLst>
          </a:custGeom>
          <a:solidFill>
            <a:srgbClr val="FF6600">
              <a:alpha val="50000"/>
            </a:srgbClr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51" name="Freeform 1027"/>
          <p:cNvSpPr>
            <a:spLocks/>
          </p:cNvSpPr>
          <p:nvPr/>
        </p:nvSpPr>
        <p:spPr bwMode="auto">
          <a:xfrm>
            <a:off x="2159000" y="3698875"/>
            <a:ext cx="2214563" cy="830263"/>
          </a:xfrm>
          <a:custGeom>
            <a:avLst/>
            <a:gdLst/>
            <a:ahLst/>
            <a:cxnLst>
              <a:cxn ang="0">
                <a:pos x="572" y="0"/>
              </a:cxn>
              <a:cxn ang="0">
                <a:pos x="0" y="524"/>
              </a:cxn>
              <a:cxn ang="0">
                <a:pos x="2614" y="524"/>
              </a:cxn>
              <a:cxn ang="0">
                <a:pos x="2042" y="0"/>
              </a:cxn>
              <a:cxn ang="0">
                <a:pos x="572" y="0"/>
              </a:cxn>
            </a:cxnLst>
            <a:rect l="0" t="0" r="r" b="b"/>
            <a:pathLst>
              <a:path w="2614" h="524">
                <a:moveTo>
                  <a:pt x="572" y="0"/>
                </a:moveTo>
                <a:lnTo>
                  <a:pt x="0" y="524"/>
                </a:lnTo>
                <a:lnTo>
                  <a:pt x="2614" y="524"/>
                </a:lnTo>
                <a:lnTo>
                  <a:pt x="2042" y="0"/>
                </a:lnTo>
                <a:lnTo>
                  <a:pt x="572" y="0"/>
                </a:lnTo>
                <a:close/>
              </a:path>
            </a:pathLst>
          </a:custGeom>
          <a:solidFill>
            <a:srgbClr val="FFFF99">
              <a:alpha val="50000"/>
            </a:srgbClr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52" name="Freeform 1028"/>
          <p:cNvSpPr>
            <a:spLocks/>
          </p:cNvSpPr>
          <p:nvPr/>
        </p:nvSpPr>
        <p:spPr bwMode="auto">
          <a:xfrm>
            <a:off x="1693863" y="4529138"/>
            <a:ext cx="3141662" cy="814387"/>
          </a:xfrm>
          <a:custGeom>
            <a:avLst/>
            <a:gdLst/>
            <a:ahLst/>
            <a:cxnLst>
              <a:cxn ang="0">
                <a:pos x="547" y="0"/>
              </a:cxn>
              <a:cxn ang="0">
                <a:pos x="0" y="513"/>
              </a:cxn>
              <a:cxn ang="0">
                <a:pos x="3708" y="513"/>
              </a:cxn>
              <a:cxn ang="0">
                <a:pos x="3161" y="0"/>
              </a:cxn>
              <a:cxn ang="0">
                <a:pos x="547" y="0"/>
              </a:cxn>
            </a:cxnLst>
            <a:rect l="0" t="0" r="r" b="b"/>
            <a:pathLst>
              <a:path w="3708" h="513">
                <a:moveTo>
                  <a:pt x="547" y="0"/>
                </a:moveTo>
                <a:lnTo>
                  <a:pt x="0" y="513"/>
                </a:lnTo>
                <a:lnTo>
                  <a:pt x="3708" y="513"/>
                </a:lnTo>
                <a:lnTo>
                  <a:pt x="3161" y="0"/>
                </a:lnTo>
                <a:lnTo>
                  <a:pt x="547" y="0"/>
                </a:lnTo>
                <a:close/>
              </a:path>
            </a:pathLst>
          </a:custGeom>
          <a:solidFill>
            <a:srgbClr val="CCFFCC">
              <a:alpha val="50000"/>
            </a:srgbClr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53" name="Freeform 1029"/>
          <p:cNvSpPr>
            <a:spLocks/>
          </p:cNvSpPr>
          <p:nvPr/>
        </p:nvSpPr>
        <p:spPr bwMode="auto">
          <a:xfrm>
            <a:off x="1174750" y="5343525"/>
            <a:ext cx="4202113" cy="904875"/>
          </a:xfrm>
          <a:custGeom>
            <a:avLst/>
            <a:gdLst/>
            <a:ahLst/>
            <a:cxnLst>
              <a:cxn ang="0">
                <a:pos x="614" y="0"/>
              </a:cxn>
              <a:cxn ang="0">
                <a:pos x="0" y="571"/>
              </a:cxn>
              <a:cxn ang="0">
                <a:pos x="4960" y="571"/>
              </a:cxn>
              <a:cxn ang="0">
                <a:pos x="4302" y="0"/>
              </a:cxn>
              <a:cxn ang="0">
                <a:pos x="614" y="0"/>
              </a:cxn>
            </a:cxnLst>
            <a:rect l="0" t="0" r="r" b="b"/>
            <a:pathLst>
              <a:path w="4960" h="571">
                <a:moveTo>
                  <a:pt x="614" y="0"/>
                </a:moveTo>
                <a:lnTo>
                  <a:pt x="0" y="571"/>
                </a:lnTo>
                <a:lnTo>
                  <a:pt x="4960" y="571"/>
                </a:lnTo>
                <a:lnTo>
                  <a:pt x="4302" y="0"/>
                </a:lnTo>
                <a:lnTo>
                  <a:pt x="614" y="0"/>
                </a:lnTo>
                <a:close/>
              </a:path>
            </a:pathLst>
          </a:custGeom>
          <a:solidFill>
            <a:srgbClr val="99CCFF">
              <a:alpha val="50000"/>
            </a:srgbClr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54" name="Rectangle 1030"/>
          <p:cNvSpPr>
            <a:spLocks noChangeArrowheads="1"/>
          </p:cNvSpPr>
          <p:nvPr/>
        </p:nvSpPr>
        <p:spPr bwMode="auto">
          <a:xfrm>
            <a:off x="2786063" y="3435350"/>
            <a:ext cx="954087" cy="21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55" name="Rectangle 1031"/>
          <p:cNvSpPr>
            <a:spLocks noChangeArrowheads="1"/>
          </p:cNvSpPr>
          <p:nvPr/>
        </p:nvSpPr>
        <p:spPr bwMode="auto">
          <a:xfrm>
            <a:off x="2954338" y="3351213"/>
            <a:ext cx="7874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/>
            <a:r>
              <a:rPr lang="en-US" sz="1400" b="1">
                <a:solidFill>
                  <a:srgbClr val="000000"/>
                </a:solidFill>
                <a:latin typeface="Arial" charset="0"/>
              </a:rPr>
              <a:t>Business</a:t>
            </a:r>
            <a:endParaRPr lang="en-US" sz="1400">
              <a:latin typeface="Times New Roman" pitchFamily="18" charset="0"/>
            </a:endParaRPr>
          </a:p>
        </p:txBody>
      </p:sp>
      <p:sp>
        <p:nvSpPr>
          <p:cNvPr id="104456" name="Rectangle 1032"/>
          <p:cNvSpPr>
            <a:spLocks noChangeArrowheads="1"/>
          </p:cNvSpPr>
          <p:nvPr/>
        </p:nvSpPr>
        <p:spPr bwMode="auto">
          <a:xfrm>
            <a:off x="2695575" y="4040188"/>
            <a:ext cx="119538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57" name="Rectangle 1033"/>
          <p:cNvSpPr>
            <a:spLocks noChangeArrowheads="1"/>
          </p:cNvSpPr>
          <p:nvPr/>
        </p:nvSpPr>
        <p:spPr bwMode="auto">
          <a:xfrm>
            <a:off x="2817813" y="4911725"/>
            <a:ext cx="9636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/>
            <a:r>
              <a:rPr lang="en-US" sz="1400" b="1">
                <a:solidFill>
                  <a:srgbClr val="000000"/>
                </a:solidFill>
                <a:latin typeface="Arial" charset="0"/>
              </a:rPr>
              <a:t>Application</a:t>
            </a:r>
            <a:endParaRPr lang="en-US" sz="1400">
              <a:latin typeface="Times New Roman" pitchFamily="18" charset="0"/>
            </a:endParaRPr>
          </a:p>
        </p:txBody>
      </p:sp>
      <p:sp>
        <p:nvSpPr>
          <p:cNvPr id="104458" name="Rectangle 1034"/>
          <p:cNvSpPr>
            <a:spLocks noChangeArrowheads="1"/>
          </p:cNvSpPr>
          <p:nvPr/>
        </p:nvSpPr>
        <p:spPr bwMode="auto">
          <a:xfrm>
            <a:off x="2540000" y="4833938"/>
            <a:ext cx="15065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59" name="Rectangle 1035"/>
          <p:cNvSpPr>
            <a:spLocks noChangeArrowheads="1"/>
          </p:cNvSpPr>
          <p:nvPr/>
        </p:nvSpPr>
        <p:spPr bwMode="auto">
          <a:xfrm>
            <a:off x="3067050" y="4040188"/>
            <a:ext cx="384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/>
            <a:r>
              <a:rPr lang="en-US" sz="1400" b="1">
                <a:solidFill>
                  <a:srgbClr val="000000"/>
                </a:solidFill>
                <a:latin typeface="Arial" charset="0"/>
              </a:rPr>
              <a:t>Data</a:t>
            </a:r>
            <a:endParaRPr lang="en-US" sz="1400">
              <a:latin typeface="Times New Roman" pitchFamily="18" charset="0"/>
            </a:endParaRPr>
          </a:p>
        </p:txBody>
      </p:sp>
      <p:sp>
        <p:nvSpPr>
          <p:cNvPr id="104460" name="Rectangle 1036"/>
          <p:cNvSpPr>
            <a:spLocks noChangeArrowheads="1"/>
          </p:cNvSpPr>
          <p:nvPr/>
        </p:nvSpPr>
        <p:spPr bwMode="auto">
          <a:xfrm>
            <a:off x="2597150" y="5694363"/>
            <a:ext cx="1411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04461" name="Rectangle 1037"/>
          <p:cNvSpPr>
            <a:spLocks noChangeArrowheads="1"/>
          </p:cNvSpPr>
          <p:nvPr/>
        </p:nvSpPr>
        <p:spPr bwMode="auto">
          <a:xfrm>
            <a:off x="2792413" y="5778500"/>
            <a:ext cx="9921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/>
            <a:r>
              <a:rPr lang="en-US" sz="1400" b="1">
                <a:solidFill>
                  <a:srgbClr val="000000"/>
                </a:solidFill>
                <a:latin typeface="Arial" charset="0"/>
              </a:rPr>
              <a:t>Technology</a:t>
            </a:r>
            <a:endParaRPr lang="en-US" sz="1400">
              <a:latin typeface="Times New Roman" pitchFamily="18" charset="0"/>
            </a:endParaRPr>
          </a:p>
        </p:txBody>
      </p:sp>
      <p:sp>
        <p:nvSpPr>
          <p:cNvPr id="104462" name="Text Box 1038"/>
          <p:cNvSpPr txBox="1">
            <a:spLocks noChangeArrowheads="1"/>
          </p:cNvSpPr>
          <p:nvPr/>
        </p:nvSpPr>
        <p:spPr bwMode="auto">
          <a:xfrm>
            <a:off x="838200" y="1600200"/>
            <a:ext cx="7620000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Current federal guidance suggests thinking about “layers” of the enterprise architecture.</a:t>
            </a:r>
            <a:endParaRPr lang="en-US" sz="2800">
              <a:latin typeface="Arial" charset="0"/>
              <a:cs typeface="Times New Roman" pitchFamily="18" charset="0"/>
            </a:endParaRPr>
          </a:p>
        </p:txBody>
      </p:sp>
      <p:sp>
        <p:nvSpPr>
          <p:cNvPr id="104463" name="Text Box 1039"/>
          <p:cNvSpPr txBox="1">
            <a:spLocks noChangeArrowheads="1"/>
          </p:cNvSpPr>
          <p:nvPr/>
        </p:nvSpPr>
        <p:spPr bwMode="auto">
          <a:xfrm>
            <a:off x="4572000" y="3043238"/>
            <a:ext cx="30019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en-US" sz="1400" b="1">
                <a:latin typeface="Arial" charset="0"/>
              </a:rPr>
              <a:t>Business</a:t>
            </a:r>
            <a:r>
              <a:rPr lang="en-US" sz="1400">
                <a:latin typeface="Arial" charset="0"/>
              </a:rPr>
              <a:t> processes and activities use … </a:t>
            </a:r>
          </a:p>
        </p:txBody>
      </p:sp>
      <p:sp>
        <p:nvSpPr>
          <p:cNvPr id="104464" name="Text Box 1040"/>
          <p:cNvSpPr txBox="1">
            <a:spLocks noChangeArrowheads="1"/>
          </p:cNvSpPr>
          <p:nvPr/>
        </p:nvSpPr>
        <p:spPr bwMode="auto">
          <a:xfrm>
            <a:off x="5456238" y="4627563"/>
            <a:ext cx="3184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en-US" sz="1400" b="1">
                <a:latin typeface="Arial" charset="0"/>
              </a:rPr>
              <a:t>Applications</a:t>
            </a:r>
            <a:r>
              <a:rPr lang="en-US" sz="1400">
                <a:latin typeface="Arial" charset="0"/>
              </a:rPr>
              <a:t> such as custom or off-the-shelf software tools that run on …</a:t>
            </a:r>
          </a:p>
        </p:txBody>
      </p:sp>
      <p:sp>
        <p:nvSpPr>
          <p:cNvPr id="104465" name="Text Box 1041"/>
          <p:cNvSpPr txBox="1">
            <a:spLocks noChangeArrowheads="1"/>
          </p:cNvSpPr>
          <p:nvPr/>
        </p:nvSpPr>
        <p:spPr bwMode="auto">
          <a:xfrm>
            <a:off x="4986338" y="3778250"/>
            <a:ext cx="34718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en-US" sz="1400" b="1">
                <a:latin typeface="Arial" charset="0"/>
              </a:rPr>
              <a:t>Data</a:t>
            </a:r>
            <a:r>
              <a:rPr lang="en-US" sz="1400">
                <a:latin typeface="Arial" charset="0"/>
              </a:rPr>
              <a:t> that must be collected, organized, safeguarded, and distributed using …</a:t>
            </a:r>
          </a:p>
        </p:txBody>
      </p:sp>
      <p:sp>
        <p:nvSpPr>
          <p:cNvPr id="104466" name="Text Box 1042"/>
          <p:cNvSpPr txBox="1">
            <a:spLocks noChangeArrowheads="1"/>
          </p:cNvSpPr>
          <p:nvPr/>
        </p:nvSpPr>
        <p:spPr bwMode="auto">
          <a:xfrm>
            <a:off x="5638800" y="5462588"/>
            <a:ext cx="30019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en-US" sz="1400" b="1">
                <a:latin typeface="Arial" charset="0"/>
              </a:rPr>
              <a:t>Technology</a:t>
            </a:r>
            <a:r>
              <a:rPr lang="en-US" sz="1400">
                <a:latin typeface="Arial" charset="0"/>
              </a:rPr>
              <a:t> such as computer system and telephone networks.</a:t>
            </a:r>
          </a:p>
        </p:txBody>
      </p:sp>
      <p:sp>
        <p:nvSpPr>
          <p:cNvPr id="104467" name="Line 1043"/>
          <p:cNvSpPr>
            <a:spLocks noChangeShapeType="1"/>
          </p:cNvSpPr>
          <p:nvPr/>
        </p:nvSpPr>
        <p:spPr bwMode="auto">
          <a:xfrm flipH="1">
            <a:off x="3957638" y="33035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68" name="Line 1044"/>
          <p:cNvSpPr>
            <a:spLocks noChangeShapeType="1"/>
          </p:cNvSpPr>
          <p:nvPr/>
        </p:nvSpPr>
        <p:spPr bwMode="auto">
          <a:xfrm flipH="1">
            <a:off x="4373563" y="4038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69" name="Line 1045"/>
          <p:cNvSpPr>
            <a:spLocks noChangeShapeType="1"/>
          </p:cNvSpPr>
          <p:nvPr/>
        </p:nvSpPr>
        <p:spPr bwMode="auto">
          <a:xfrm flipH="1">
            <a:off x="4746625" y="48339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70" name="Line 1046"/>
          <p:cNvSpPr>
            <a:spLocks noChangeShapeType="1"/>
          </p:cNvSpPr>
          <p:nvPr/>
        </p:nvSpPr>
        <p:spPr bwMode="auto">
          <a:xfrm flipH="1">
            <a:off x="5156200" y="569436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71" name="Rectangle 1047"/>
          <p:cNvSpPr>
            <a:spLocks noGrp="1" noChangeArrowheads="1"/>
          </p:cNvSpPr>
          <p:nvPr>
            <p:ph type="title"/>
          </p:nvPr>
        </p:nvSpPr>
        <p:spPr>
          <a:xfrm>
            <a:off x="533400" y="517525"/>
            <a:ext cx="8610600" cy="701675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Layers of the Enterprise Architecture</a:t>
            </a:r>
            <a:endParaRPr lang="en-US" sz="4000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497B2-C6E5-4857-B683-E224EA9D44AD}" type="slidenum">
              <a:rPr lang="en-US"/>
              <a:pPr/>
              <a:t>11</a:t>
            </a:fld>
            <a:endParaRPr lang="en-US"/>
          </a:p>
        </p:txBody>
      </p:sp>
      <p:sp>
        <p:nvSpPr>
          <p:cNvPr id="102402" name="Rectangle 1026"/>
          <p:cNvSpPr>
            <a:spLocks noChangeArrowheads="1"/>
          </p:cNvSpPr>
          <p:nvPr/>
        </p:nvSpPr>
        <p:spPr bwMode="auto">
          <a:xfrm>
            <a:off x="2114550" y="15859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02403" name="Group 1027"/>
          <p:cNvGrpSpPr>
            <a:grpSpLocks/>
          </p:cNvGrpSpPr>
          <p:nvPr/>
        </p:nvGrpSpPr>
        <p:grpSpPr bwMode="auto">
          <a:xfrm>
            <a:off x="1447800" y="1828800"/>
            <a:ext cx="5845175" cy="4652963"/>
            <a:chOff x="916" y="613"/>
            <a:chExt cx="3682" cy="2931"/>
          </a:xfrm>
        </p:grpSpPr>
        <p:sp>
          <p:nvSpPr>
            <p:cNvPr id="102404" name="Freeform 1028"/>
            <p:cNvSpPr>
              <a:spLocks/>
            </p:cNvSpPr>
            <p:nvPr/>
          </p:nvSpPr>
          <p:spPr bwMode="auto">
            <a:xfrm>
              <a:off x="1526" y="727"/>
              <a:ext cx="1223" cy="1035"/>
            </a:xfrm>
            <a:custGeom>
              <a:avLst/>
              <a:gdLst/>
              <a:ahLst/>
              <a:cxnLst>
                <a:cxn ang="0">
                  <a:pos x="0" y="820"/>
                </a:cxn>
                <a:cxn ang="0">
                  <a:pos x="13" y="800"/>
                </a:cxn>
                <a:cxn ang="0">
                  <a:pos x="23" y="782"/>
                </a:cxn>
                <a:cxn ang="0">
                  <a:pos x="33" y="762"/>
                </a:cxn>
                <a:cxn ang="0">
                  <a:pos x="45" y="746"/>
                </a:cxn>
                <a:cxn ang="0">
                  <a:pos x="58" y="728"/>
                </a:cxn>
                <a:cxn ang="0">
                  <a:pos x="73" y="708"/>
                </a:cxn>
                <a:cxn ang="0">
                  <a:pos x="84" y="691"/>
                </a:cxn>
                <a:cxn ang="0">
                  <a:pos x="97" y="672"/>
                </a:cxn>
                <a:cxn ang="0">
                  <a:pos x="114" y="650"/>
                </a:cxn>
                <a:cxn ang="0">
                  <a:pos x="134" y="629"/>
                </a:cxn>
                <a:cxn ang="0">
                  <a:pos x="147" y="612"/>
                </a:cxn>
                <a:cxn ang="0">
                  <a:pos x="165" y="594"/>
                </a:cxn>
                <a:cxn ang="0">
                  <a:pos x="182" y="574"/>
                </a:cxn>
                <a:cxn ang="0">
                  <a:pos x="201" y="553"/>
                </a:cxn>
                <a:cxn ang="0">
                  <a:pos x="220" y="535"/>
                </a:cxn>
                <a:cxn ang="0">
                  <a:pos x="241" y="515"/>
                </a:cxn>
                <a:cxn ang="0">
                  <a:pos x="259" y="498"/>
                </a:cxn>
                <a:cxn ang="0">
                  <a:pos x="282" y="475"/>
                </a:cxn>
                <a:cxn ang="0">
                  <a:pos x="304" y="457"/>
                </a:cxn>
                <a:cxn ang="0">
                  <a:pos x="324" y="441"/>
                </a:cxn>
                <a:cxn ang="0">
                  <a:pos x="347" y="422"/>
                </a:cxn>
                <a:cxn ang="0">
                  <a:pos x="365" y="409"/>
                </a:cxn>
                <a:cxn ang="0">
                  <a:pos x="386" y="393"/>
                </a:cxn>
                <a:cxn ang="0">
                  <a:pos x="409" y="376"/>
                </a:cxn>
                <a:cxn ang="0">
                  <a:pos x="436" y="360"/>
                </a:cxn>
                <a:cxn ang="0">
                  <a:pos x="459" y="345"/>
                </a:cxn>
                <a:cxn ang="0">
                  <a:pos x="484" y="327"/>
                </a:cxn>
                <a:cxn ang="0">
                  <a:pos x="513" y="309"/>
                </a:cxn>
                <a:cxn ang="0">
                  <a:pos x="540" y="292"/>
                </a:cxn>
                <a:cxn ang="0">
                  <a:pos x="569" y="276"/>
                </a:cxn>
                <a:cxn ang="0">
                  <a:pos x="599" y="259"/>
                </a:cxn>
                <a:cxn ang="0">
                  <a:pos x="630" y="244"/>
                </a:cxn>
                <a:cxn ang="0">
                  <a:pos x="663" y="229"/>
                </a:cxn>
                <a:cxn ang="0">
                  <a:pos x="691" y="218"/>
                </a:cxn>
                <a:cxn ang="0">
                  <a:pos x="720" y="205"/>
                </a:cxn>
                <a:cxn ang="0">
                  <a:pos x="751" y="193"/>
                </a:cxn>
                <a:cxn ang="0">
                  <a:pos x="772" y="187"/>
                </a:cxn>
                <a:cxn ang="0">
                  <a:pos x="678" y="0"/>
                </a:cxn>
                <a:cxn ang="0">
                  <a:pos x="1223" y="264"/>
                </a:cxn>
                <a:cxn ang="0">
                  <a:pos x="1081" y="815"/>
                </a:cxn>
                <a:cxn ang="0">
                  <a:pos x="993" y="650"/>
                </a:cxn>
                <a:cxn ang="0">
                  <a:pos x="957" y="665"/>
                </a:cxn>
                <a:cxn ang="0">
                  <a:pos x="922" y="682"/>
                </a:cxn>
                <a:cxn ang="0">
                  <a:pos x="885" y="701"/>
                </a:cxn>
                <a:cxn ang="0">
                  <a:pos x="843" y="724"/>
                </a:cxn>
                <a:cxn ang="0">
                  <a:pos x="812" y="744"/>
                </a:cxn>
                <a:cxn ang="0">
                  <a:pos x="781" y="767"/>
                </a:cxn>
                <a:cxn ang="0">
                  <a:pos x="749" y="789"/>
                </a:cxn>
                <a:cxn ang="0">
                  <a:pos x="721" y="812"/>
                </a:cxn>
                <a:cxn ang="0">
                  <a:pos x="696" y="835"/>
                </a:cxn>
                <a:cxn ang="0">
                  <a:pos x="668" y="860"/>
                </a:cxn>
                <a:cxn ang="0">
                  <a:pos x="645" y="886"/>
                </a:cxn>
                <a:cxn ang="0">
                  <a:pos x="622" y="913"/>
                </a:cxn>
                <a:cxn ang="0">
                  <a:pos x="601" y="934"/>
                </a:cxn>
                <a:cxn ang="0">
                  <a:pos x="578" y="965"/>
                </a:cxn>
                <a:cxn ang="0">
                  <a:pos x="558" y="993"/>
                </a:cxn>
                <a:cxn ang="0">
                  <a:pos x="548" y="1015"/>
                </a:cxn>
                <a:cxn ang="0">
                  <a:pos x="533" y="1035"/>
                </a:cxn>
                <a:cxn ang="0">
                  <a:pos x="0" y="820"/>
                </a:cxn>
              </a:cxnLst>
              <a:rect l="0" t="0" r="r" b="b"/>
              <a:pathLst>
                <a:path w="1223" h="1035">
                  <a:moveTo>
                    <a:pt x="0" y="820"/>
                  </a:moveTo>
                  <a:lnTo>
                    <a:pt x="13" y="800"/>
                  </a:lnTo>
                  <a:lnTo>
                    <a:pt x="23" y="782"/>
                  </a:lnTo>
                  <a:lnTo>
                    <a:pt x="33" y="762"/>
                  </a:lnTo>
                  <a:lnTo>
                    <a:pt x="45" y="746"/>
                  </a:lnTo>
                  <a:lnTo>
                    <a:pt x="58" y="728"/>
                  </a:lnTo>
                  <a:lnTo>
                    <a:pt x="73" y="708"/>
                  </a:lnTo>
                  <a:lnTo>
                    <a:pt x="84" y="691"/>
                  </a:lnTo>
                  <a:lnTo>
                    <a:pt x="97" y="672"/>
                  </a:lnTo>
                  <a:lnTo>
                    <a:pt x="114" y="650"/>
                  </a:lnTo>
                  <a:lnTo>
                    <a:pt x="134" y="629"/>
                  </a:lnTo>
                  <a:lnTo>
                    <a:pt x="147" y="612"/>
                  </a:lnTo>
                  <a:lnTo>
                    <a:pt x="165" y="594"/>
                  </a:lnTo>
                  <a:lnTo>
                    <a:pt x="182" y="574"/>
                  </a:lnTo>
                  <a:lnTo>
                    <a:pt x="201" y="553"/>
                  </a:lnTo>
                  <a:lnTo>
                    <a:pt x="220" y="535"/>
                  </a:lnTo>
                  <a:lnTo>
                    <a:pt x="241" y="515"/>
                  </a:lnTo>
                  <a:lnTo>
                    <a:pt x="259" y="498"/>
                  </a:lnTo>
                  <a:lnTo>
                    <a:pt x="282" y="475"/>
                  </a:lnTo>
                  <a:lnTo>
                    <a:pt x="304" y="457"/>
                  </a:lnTo>
                  <a:lnTo>
                    <a:pt x="324" y="441"/>
                  </a:lnTo>
                  <a:lnTo>
                    <a:pt x="347" y="422"/>
                  </a:lnTo>
                  <a:lnTo>
                    <a:pt x="365" y="409"/>
                  </a:lnTo>
                  <a:lnTo>
                    <a:pt x="386" y="393"/>
                  </a:lnTo>
                  <a:lnTo>
                    <a:pt x="409" y="376"/>
                  </a:lnTo>
                  <a:lnTo>
                    <a:pt x="436" y="360"/>
                  </a:lnTo>
                  <a:lnTo>
                    <a:pt x="459" y="345"/>
                  </a:lnTo>
                  <a:lnTo>
                    <a:pt x="484" y="327"/>
                  </a:lnTo>
                  <a:lnTo>
                    <a:pt x="513" y="309"/>
                  </a:lnTo>
                  <a:lnTo>
                    <a:pt x="540" y="292"/>
                  </a:lnTo>
                  <a:lnTo>
                    <a:pt x="569" y="276"/>
                  </a:lnTo>
                  <a:lnTo>
                    <a:pt x="599" y="259"/>
                  </a:lnTo>
                  <a:lnTo>
                    <a:pt x="630" y="244"/>
                  </a:lnTo>
                  <a:lnTo>
                    <a:pt x="663" y="229"/>
                  </a:lnTo>
                  <a:lnTo>
                    <a:pt x="691" y="218"/>
                  </a:lnTo>
                  <a:lnTo>
                    <a:pt x="720" y="205"/>
                  </a:lnTo>
                  <a:lnTo>
                    <a:pt x="751" y="193"/>
                  </a:lnTo>
                  <a:lnTo>
                    <a:pt x="772" y="187"/>
                  </a:lnTo>
                  <a:lnTo>
                    <a:pt x="678" y="0"/>
                  </a:lnTo>
                  <a:lnTo>
                    <a:pt x="1223" y="264"/>
                  </a:lnTo>
                  <a:lnTo>
                    <a:pt x="1081" y="815"/>
                  </a:lnTo>
                  <a:lnTo>
                    <a:pt x="993" y="650"/>
                  </a:lnTo>
                  <a:lnTo>
                    <a:pt x="957" y="665"/>
                  </a:lnTo>
                  <a:lnTo>
                    <a:pt x="922" y="682"/>
                  </a:lnTo>
                  <a:lnTo>
                    <a:pt x="885" y="701"/>
                  </a:lnTo>
                  <a:lnTo>
                    <a:pt x="843" y="724"/>
                  </a:lnTo>
                  <a:lnTo>
                    <a:pt x="812" y="744"/>
                  </a:lnTo>
                  <a:lnTo>
                    <a:pt x="781" y="767"/>
                  </a:lnTo>
                  <a:lnTo>
                    <a:pt x="749" y="789"/>
                  </a:lnTo>
                  <a:lnTo>
                    <a:pt x="721" y="812"/>
                  </a:lnTo>
                  <a:lnTo>
                    <a:pt x="696" y="835"/>
                  </a:lnTo>
                  <a:lnTo>
                    <a:pt x="668" y="860"/>
                  </a:lnTo>
                  <a:lnTo>
                    <a:pt x="645" y="886"/>
                  </a:lnTo>
                  <a:lnTo>
                    <a:pt x="622" y="913"/>
                  </a:lnTo>
                  <a:lnTo>
                    <a:pt x="601" y="934"/>
                  </a:lnTo>
                  <a:lnTo>
                    <a:pt x="578" y="965"/>
                  </a:lnTo>
                  <a:lnTo>
                    <a:pt x="558" y="993"/>
                  </a:lnTo>
                  <a:lnTo>
                    <a:pt x="548" y="1015"/>
                  </a:lnTo>
                  <a:lnTo>
                    <a:pt x="533" y="1035"/>
                  </a:lnTo>
                  <a:lnTo>
                    <a:pt x="0" y="820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05" name="Freeform 1029"/>
            <p:cNvSpPr>
              <a:spLocks/>
            </p:cNvSpPr>
            <p:nvPr/>
          </p:nvSpPr>
          <p:spPr bwMode="auto">
            <a:xfrm>
              <a:off x="1226" y="1456"/>
              <a:ext cx="1074" cy="1157"/>
            </a:xfrm>
            <a:custGeom>
              <a:avLst/>
              <a:gdLst/>
              <a:ahLst/>
              <a:cxnLst>
                <a:cxn ang="0">
                  <a:pos x="1074" y="479"/>
                </a:cxn>
                <a:cxn ang="0">
                  <a:pos x="802" y="383"/>
                </a:cxn>
                <a:cxn ang="0">
                  <a:pos x="790" y="406"/>
                </a:cxn>
                <a:cxn ang="0">
                  <a:pos x="784" y="426"/>
                </a:cxn>
                <a:cxn ang="0">
                  <a:pos x="777" y="449"/>
                </a:cxn>
                <a:cxn ang="0">
                  <a:pos x="769" y="474"/>
                </a:cxn>
                <a:cxn ang="0">
                  <a:pos x="762" y="504"/>
                </a:cxn>
                <a:cxn ang="0">
                  <a:pos x="757" y="530"/>
                </a:cxn>
                <a:cxn ang="0">
                  <a:pos x="752" y="558"/>
                </a:cxn>
                <a:cxn ang="0">
                  <a:pos x="749" y="588"/>
                </a:cxn>
                <a:cxn ang="0">
                  <a:pos x="746" y="621"/>
                </a:cxn>
                <a:cxn ang="0">
                  <a:pos x="746" y="679"/>
                </a:cxn>
                <a:cxn ang="0">
                  <a:pos x="747" y="708"/>
                </a:cxn>
                <a:cxn ang="0">
                  <a:pos x="749" y="736"/>
                </a:cxn>
                <a:cxn ang="0">
                  <a:pos x="754" y="764"/>
                </a:cxn>
                <a:cxn ang="0">
                  <a:pos x="760" y="792"/>
                </a:cxn>
                <a:cxn ang="0">
                  <a:pos x="767" y="819"/>
                </a:cxn>
                <a:cxn ang="0">
                  <a:pos x="774" y="852"/>
                </a:cxn>
                <a:cxn ang="0">
                  <a:pos x="785" y="881"/>
                </a:cxn>
                <a:cxn ang="0">
                  <a:pos x="270" y="1157"/>
                </a:cxn>
                <a:cxn ang="0">
                  <a:pos x="261" y="1129"/>
                </a:cxn>
                <a:cxn ang="0">
                  <a:pos x="249" y="1104"/>
                </a:cxn>
                <a:cxn ang="0">
                  <a:pos x="241" y="1081"/>
                </a:cxn>
                <a:cxn ang="0">
                  <a:pos x="231" y="1056"/>
                </a:cxn>
                <a:cxn ang="0">
                  <a:pos x="223" y="1035"/>
                </a:cxn>
                <a:cxn ang="0">
                  <a:pos x="213" y="1010"/>
                </a:cxn>
                <a:cxn ang="0">
                  <a:pos x="206" y="989"/>
                </a:cxn>
                <a:cxn ang="0">
                  <a:pos x="201" y="966"/>
                </a:cxn>
                <a:cxn ang="0">
                  <a:pos x="195" y="944"/>
                </a:cxn>
                <a:cxn ang="0">
                  <a:pos x="186" y="916"/>
                </a:cxn>
                <a:cxn ang="0">
                  <a:pos x="181" y="888"/>
                </a:cxn>
                <a:cxn ang="0">
                  <a:pos x="176" y="863"/>
                </a:cxn>
                <a:cxn ang="0">
                  <a:pos x="170" y="839"/>
                </a:cxn>
                <a:cxn ang="0">
                  <a:pos x="166" y="809"/>
                </a:cxn>
                <a:cxn ang="0">
                  <a:pos x="163" y="781"/>
                </a:cxn>
                <a:cxn ang="0">
                  <a:pos x="160" y="748"/>
                </a:cxn>
                <a:cxn ang="0">
                  <a:pos x="157" y="716"/>
                </a:cxn>
                <a:cxn ang="0">
                  <a:pos x="157" y="687"/>
                </a:cxn>
                <a:cxn ang="0">
                  <a:pos x="157" y="654"/>
                </a:cxn>
                <a:cxn ang="0">
                  <a:pos x="157" y="614"/>
                </a:cxn>
                <a:cxn ang="0">
                  <a:pos x="158" y="578"/>
                </a:cxn>
                <a:cxn ang="0">
                  <a:pos x="160" y="553"/>
                </a:cxn>
                <a:cxn ang="0">
                  <a:pos x="163" y="523"/>
                </a:cxn>
                <a:cxn ang="0">
                  <a:pos x="166" y="495"/>
                </a:cxn>
                <a:cxn ang="0">
                  <a:pos x="171" y="462"/>
                </a:cxn>
                <a:cxn ang="0">
                  <a:pos x="176" y="433"/>
                </a:cxn>
                <a:cxn ang="0">
                  <a:pos x="183" y="406"/>
                </a:cxn>
                <a:cxn ang="0">
                  <a:pos x="191" y="373"/>
                </a:cxn>
                <a:cxn ang="0">
                  <a:pos x="199" y="345"/>
                </a:cxn>
                <a:cxn ang="0">
                  <a:pos x="206" y="314"/>
                </a:cxn>
                <a:cxn ang="0">
                  <a:pos x="216" y="287"/>
                </a:cxn>
                <a:cxn ang="0">
                  <a:pos x="228" y="258"/>
                </a:cxn>
                <a:cxn ang="0">
                  <a:pos x="239" y="228"/>
                </a:cxn>
                <a:cxn ang="0">
                  <a:pos x="254" y="192"/>
                </a:cxn>
                <a:cxn ang="0">
                  <a:pos x="0" y="101"/>
                </a:cxn>
                <a:cxn ang="0">
                  <a:pos x="668" y="0"/>
                </a:cxn>
                <a:cxn ang="0">
                  <a:pos x="1074" y="479"/>
                </a:cxn>
              </a:cxnLst>
              <a:rect l="0" t="0" r="r" b="b"/>
              <a:pathLst>
                <a:path w="1074" h="1157">
                  <a:moveTo>
                    <a:pt x="1074" y="479"/>
                  </a:moveTo>
                  <a:lnTo>
                    <a:pt x="802" y="383"/>
                  </a:lnTo>
                  <a:lnTo>
                    <a:pt x="790" y="406"/>
                  </a:lnTo>
                  <a:lnTo>
                    <a:pt x="784" y="426"/>
                  </a:lnTo>
                  <a:lnTo>
                    <a:pt x="777" y="449"/>
                  </a:lnTo>
                  <a:lnTo>
                    <a:pt x="769" y="474"/>
                  </a:lnTo>
                  <a:lnTo>
                    <a:pt x="762" y="504"/>
                  </a:lnTo>
                  <a:lnTo>
                    <a:pt x="757" y="530"/>
                  </a:lnTo>
                  <a:lnTo>
                    <a:pt x="752" y="558"/>
                  </a:lnTo>
                  <a:lnTo>
                    <a:pt x="749" y="588"/>
                  </a:lnTo>
                  <a:lnTo>
                    <a:pt x="746" y="621"/>
                  </a:lnTo>
                  <a:lnTo>
                    <a:pt x="746" y="679"/>
                  </a:lnTo>
                  <a:lnTo>
                    <a:pt x="747" y="708"/>
                  </a:lnTo>
                  <a:lnTo>
                    <a:pt x="749" y="736"/>
                  </a:lnTo>
                  <a:lnTo>
                    <a:pt x="754" y="764"/>
                  </a:lnTo>
                  <a:lnTo>
                    <a:pt x="760" y="792"/>
                  </a:lnTo>
                  <a:lnTo>
                    <a:pt x="767" y="819"/>
                  </a:lnTo>
                  <a:lnTo>
                    <a:pt x="774" y="852"/>
                  </a:lnTo>
                  <a:lnTo>
                    <a:pt x="785" y="881"/>
                  </a:lnTo>
                  <a:lnTo>
                    <a:pt x="270" y="1157"/>
                  </a:lnTo>
                  <a:lnTo>
                    <a:pt x="261" y="1129"/>
                  </a:lnTo>
                  <a:lnTo>
                    <a:pt x="249" y="1104"/>
                  </a:lnTo>
                  <a:lnTo>
                    <a:pt x="241" y="1081"/>
                  </a:lnTo>
                  <a:lnTo>
                    <a:pt x="231" y="1056"/>
                  </a:lnTo>
                  <a:lnTo>
                    <a:pt x="223" y="1035"/>
                  </a:lnTo>
                  <a:lnTo>
                    <a:pt x="213" y="1010"/>
                  </a:lnTo>
                  <a:lnTo>
                    <a:pt x="206" y="989"/>
                  </a:lnTo>
                  <a:lnTo>
                    <a:pt x="201" y="966"/>
                  </a:lnTo>
                  <a:lnTo>
                    <a:pt x="195" y="944"/>
                  </a:lnTo>
                  <a:lnTo>
                    <a:pt x="186" y="916"/>
                  </a:lnTo>
                  <a:lnTo>
                    <a:pt x="181" y="888"/>
                  </a:lnTo>
                  <a:lnTo>
                    <a:pt x="176" y="863"/>
                  </a:lnTo>
                  <a:lnTo>
                    <a:pt x="170" y="839"/>
                  </a:lnTo>
                  <a:lnTo>
                    <a:pt x="166" y="809"/>
                  </a:lnTo>
                  <a:lnTo>
                    <a:pt x="163" y="781"/>
                  </a:lnTo>
                  <a:lnTo>
                    <a:pt x="160" y="748"/>
                  </a:lnTo>
                  <a:lnTo>
                    <a:pt x="157" y="716"/>
                  </a:lnTo>
                  <a:lnTo>
                    <a:pt x="157" y="687"/>
                  </a:lnTo>
                  <a:lnTo>
                    <a:pt x="157" y="654"/>
                  </a:lnTo>
                  <a:lnTo>
                    <a:pt x="157" y="614"/>
                  </a:lnTo>
                  <a:lnTo>
                    <a:pt x="158" y="578"/>
                  </a:lnTo>
                  <a:lnTo>
                    <a:pt x="160" y="553"/>
                  </a:lnTo>
                  <a:lnTo>
                    <a:pt x="163" y="523"/>
                  </a:lnTo>
                  <a:lnTo>
                    <a:pt x="166" y="495"/>
                  </a:lnTo>
                  <a:lnTo>
                    <a:pt x="171" y="462"/>
                  </a:lnTo>
                  <a:lnTo>
                    <a:pt x="176" y="433"/>
                  </a:lnTo>
                  <a:lnTo>
                    <a:pt x="183" y="406"/>
                  </a:lnTo>
                  <a:lnTo>
                    <a:pt x="191" y="373"/>
                  </a:lnTo>
                  <a:lnTo>
                    <a:pt x="199" y="345"/>
                  </a:lnTo>
                  <a:lnTo>
                    <a:pt x="206" y="314"/>
                  </a:lnTo>
                  <a:lnTo>
                    <a:pt x="216" y="287"/>
                  </a:lnTo>
                  <a:lnTo>
                    <a:pt x="228" y="258"/>
                  </a:lnTo>
                  <a:lnTo>
                    <a:pt x="239" y="228"/>
                  </a:lnTo>
                  <a:lnTo>
                    <a:pt x="254" y="192"/>
                  </a:lnTo>
                  <a:lnTo>
                    <a:pt x="0" y="101"/>
                  </a:lnTo>
                  <a:lnTo>
                    <a:pt x="668" y="0"/>
                  </a:lnTo>
                  <a:lnTo>
                    <a:pt x="1074" y="479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06" name="Freeform 1030"/>
            <p:cNvSpPr>
              <a:spLocks/>
            </p:cNvSpPr>
            <p:nvPr/>
          </p:nvSpPr>
          <p:spPr bwMode="auto">
            <a:xfrm>
              <a:off x="1274" y="2295"/>
              <a:ext cx="1222" cy="990"/>
            </a:xfrm>
            <a:custGeom>
              <a:avLst/>
              <a:gdLst/>
              <a:ahLst/>
              <a:cxnLst>
                <a:cxn ang="0">
                  <a:pos x="970" y="990"/>
                </a:cxn>
                <a:cxn ang="0">
                  <a:pos x="945" y="978"/>
                </a:cxn>
                <a:cxn ang="0">
                  <a:pos x="924" y="970"/>
                </a:cxn>
                <a:cxn ang="0">
                  <a:pos x="902" y="960"/>
                </a:cxn>
                <a:cxn ang="0">
                  <a:pos x="882" y="950"/>
                </a:cxn>
                <a:cxn ang="0">
                  <a:pos x="859" y="938"/>
                </a:cxn>
                <a:cxn ang="0">
                  <a:pos x="838" y="929"/>
                </a:cxn>
                <a:cxn ang="0">
                  <a:pos x="818" y="917"/>
                </a:cxn>
                <a:cxn ang="0">
                  <a:pos x="795" y="907"/>
                </a:cxn>
                <a:cxn ang="0">
                  <a:pos x="772" y="892"/>
                </a:cxn>
                <a:cxn ang="0">
                  <a:pos x="744" y="876"/>
                </a:cxn>
                <a:cxn ang="0">
                  <a:pos x="724" y="864"/>
                </a:cxn>
                <a:cxn ang="0">
                  <a:pos x="704" y="849"/>
                </a:cxn>
                <a:cxn ang="0">
                  <a:pos x="679" y="834"/>
                </a:cxn>
                <a:cxn ang="0">
                  <a:pos x="655" y="818"/>
                </a:cxn>
                <a:cxn ang="0">
                  <a:pos x="633" y="801"/>
                </a:cxn>
                <a:cxn ang="0">
                  <a:pos x="610" y="783"/>
                </a:cxn>
                <a:cxn ang="0">
                  <a:pos x="590" y="768"/>
                </a:cxn>
                <a:cxn ang="0">
                  <a:pos x="564" y="749"/>
                </a:cxn>
                <a:cxn ang="0">
                  <a:pos x="541" y="731"/>
                </a:cxn>
                <a:cxn ang="0">
                  <a:pos x="523" y="714"/>
                </a:cxn>
                <a:cxn ang="0">
                  <a:pos x="501" y="694"/>
                </a:cxn>
                <a:cxn ang="0">
                  <a:pos x="486" y="679"/>
                </a:cxn>
                <a:cxn ang="0">
                  <a:pos x="467" y="660"/>
                </a:cxn>
                <a:cxn ang="0">
                  <a:pos x="447" y="641"/>
                </a:cxn>
                <a:cxn ang="0">
                  <a:pos x="427" y="618"/>
                </a:cxn>
                <a:cxn ang="0">
                  <a:pos x="407" y="599"/>
                </a:cxn>
                <a:cxn ang="0">
                  <a:pos x="389" y="579"/>
                </a:cxn>
                <a:cxn ang="0">
                  <a:pos x="368" y="552"/>
                </a:cxn>
                <a:cxn ang="0">
                  <a:pos x="348" y="529"/>
                </a:cxn>
                <a:cxn ang="0">
                  <a:pos x="328" y="504"/>
                </a:cxn>
                <a:cxn ang="0">
                  <a:pos x="308" y="478"/>
                </a:cxn>
                <a:cxn ang="0">
                  <a:pos x="292" y="452"/>
                </a:cxn>
                <a:cxn ang="0">
                  <a:pos x="274" y="424"/>
                </a:cxn>
                <a:cxn ang="0">
                  <a:pos x="260" y="399"/>
                </a:cxn>
                <a:cxn ang="0">
                  <a:pos x="244" y="376"/>
                </a:cxn>
                <a:cxn ang="0">
                  <a:pos x="232" y="351"/>
                </a:cxn>
                <a:cxn ang="0">
                  <a:pos x="0" y="445"/>
                </a:cxn>
                <a:cxn ang="0">
                  <a:pos x="382" y="0"/>
                </a:cxn>
                <a:cxn ang="0">
                  <a:pos x="1033" y="47"/>
                </a:cxn>
                <a:cxn ang="0">
                  <a:pos x="772" y="146"/>
                </a:cxn>
                <a:cxn ang="0">
                  <a:pos x="788" y="174"/>
                </a:cxn>
                <a:cxn ang="0">
                  <a:pos x="807" y="204"/>
                </a:cxn>
                <a:cxn ang="0">
                  <a:pos x="830" y="236"/>
                </a:cxn>
                <a:cxn ang="0">
                  <a:pos x="858" y="272"/>
                </a:cxn>
                <a:cxn ang="0">
                  <a:pos x="881" y="298"/>
                </a:cxn>
                <a:cxn ang="0">
                  <a:pos x="907" y="325"/>
                </a:cxn>
                <a:cxn ang="0">
                  <a:pos x="932" y="351"/>
                </a:cxn>
                <a:cxn ang="0">
                  <a:pos x="958" y="374"/>
                </a:cxn>
                <a:cxn ang="0">
                  <a:pos x="986" y="396"/>
                </a:cxn>
                <a:cxn ang="0">
                  <a:pos x="1018" y="420"/>
                </a:cxn>
                <a:cxn ang="0">
                  <a:pos x="1047" y="440"/>
                </a:cxn>
                <a:cxn ang="0">
                  <a:pos x="1075" y="460"/>
                </a:cxn>
                <a:cxn ang="0">
                  <a:pos x="1104" y="478"/>
                </a:cxn>
                <a:cxn ang="0">
                  <a:pos x="1138" y="496"/>
                </a:cxn>
                <a:cxn ang="0">
                  <a:pos x="1173" y="514"/>
                </a:cxn>
                <a:cxn ang="0">
                  <a:pos x="1199" y="523"/>
                </a:cxn>
                <a:cxn ang="0">
                  <a:pos x="1222" y="534"/>
                </a:cxn>
                <a:cxn ang="0">
                  <a:pos x="970" y="990"/>
                </a:cxn>
              </a:cxnLst>
              <a:rect l="0" t="0" r="r" b="b"/>
              <a:pathLst>
                <a:path w="1222" h="990">
                  <a:moveTo>
                    <a:pt x="970" y="990"/>
                  </a:moveTo>
                  <a:lnTo>
                    <a:pt x="945" y="978"/>
                  </a:lnTo>
                  <a:lnTo>
                    <a:pt x="924" y="970"/>
                  </a:lnTo>
                  <a:lnTo>
                    <a:pt x="902" y="960"/>
                  </a:lnTo>
                  <a:lnTo>
                    <a:pt x="882" y="950"/>
                  </a:lnTo>
                  <a:lnTo>
                    <a:pt x="859" y="938"/>
                  </a:lnTo>
                  <a:lnTo>
                    <a:pt x="838" y="929"/>
                  </a:lnTo>
                  <a:lnTo>
                    <a:pt x="818" y="917"/>
                  </a:lnTo>
                  <a:lnTo>
                    <a:pt x="795" y="907"/>
                  </a:lnTo>
                  <a:lnTo>
                    <a:pt x="772" y="892"/>
                  </a:lnTo>
                  <a:lnTo>
                    <a:pt x="744" y="876"/>
                  </a:lnTo>
                  <a:lnTo>
                    <a:pt x="724" y="864"/>
                  </a:lnTo>
                  <a:lnTo>
                    <a:pt x="704" y="849"/>
                  </a:lnTo>
                  <a:lnTo>
                    <a:pt x="679" y="834"/>
                  </a:lnTo>
                  <a:lnTo>
                    <a:pt x="655" y="818"/>
                  </a:lnTo>
                  <a:lnTo>
                    <a:pt x="633" y="801"/>
                  </a:lnTo>
                  <a:lnTo>
                    <a:pt x="610" y="783"/>
                  </a:lnTo>
                  <a:lnTo>
                    <a:pt x="590" y="768"/>
                  </a:lnTo>
                  <a:lnTo>
                    <a:pt x="564" y="749"/>
                  </a:lnTo>
                  <a:lnTo>
                    <a:pt x="541" y="731"/>
                  </a:lnTo>
                  <a:lnTo>
                    <a:pt x="523" y="714"/>
                  </a:lnTo>
                  <a:lnTo>
                    <a:pt x="501" y="694"/>
                  </a:lnTo>
                  <a:lnTo>
                    <a:pt x="486" y="679"/>
                  </a:lnTo>
                  <a:lnTo>
                    <a:pt x="467" y="660"/>
                  </a:lnTo>
                  <a:lnTo>
                    <a:pt x="447" y="641"/>
                  </a:lnTo>
                  <a:lnTo>
                    <a:pt x="427" y="618"/>
                  </a:lnTo>
                  <a:lnTo>
                    <a:pt x="407" y="599"/>
                  </a:lnTo>
                  <a:lnTo>
                    <a:pt x="389" y="579"/>
                  </a:lnTo>
                  <a:lnTo>
                    <a:pt x="368" y="552"/>
                  </a:lnTo>
                  <a:lnTo>
                    <a:pt x="348" y="529"/>
                  </a:lnTo>
                  <a:lnTo>
                    <a:pt x="328" y="504"/>
                  </a:lnTo>
                  <a:lnTo>
                    <a:pt x="308" y="478"/>
                  </a:lnTo>
                  <a:lnTo>
                    <a:pt x="292" y="452"/>
                  </a:lnTo>
                  <a:lnTo>
                    <a:pt x="274" y="424"/>
                  </a:lnTo>
                  <a:lnTo>
                    <a:pt x="260" y="399"/>
                  </a:lnTo>
                  <a:lnTo>
                    <a:pt x="244" y="376"/>
                  </a:lnTo>
                  <a:lnTo>
                    <a:pt x="232" y="351"/>
                  </a:lnTo>
                  <a:lnTo>
                    <a:pt x="0" y="445"/>
                  </a:lnTo>
                  <a:lnTo>
                    <a:pt x="382" y="0"/>
                  </a:lnTo>
                  <a:lnTo>
                    <a:pt x="1033" y="47"/>
                  </a:lnTo>
                  <a:lnTo>
                    <a:pt x="772" y="146"/>
                  </a:lnTo>
                  <a:lnTo>
                    <a:pt x="788" y="174"/>
                  </a:lnTo>
                  <a:lnTo>
                    <a:pt x="807" y="204"/>
                  </a:lnTo>
                  <a:lnTo>
                    <a:pt x="830" y="236"/>
                  </a:lnTo>
                  <a:lnTo>
                    <a:pt x="858" y="272"/>
                  </a:lnTo>
                  <a:lnTo>
                    <a:pt x="881" y="298"/>
                  </a:lnTo>
                  <a:lnTo>
                    <a:pt x="907" y="325"/>
                  </a:lnTo>
                  <a:lnTo>
                    <a:pt x="932" y="351"/>
                  </a:lnTo>
                  <a:lnTo>
                    <a:pt x="958" y="374"/>
                  </a:lnTo>
                  <a:lnTo>
                    <a:pt x="986" y="396"/>
                  </a:lnTo>
                  <a:lnTo>
                    <a:pt x="1018" y="420"/>
                  </a:lnTo>
                  <a:lnTo>
                    <a:pt x="1047" y="440"/>
                  </a:lnTo>
                  <a:lnTo>
                    <a:pt x="1075" y="460"/>
                  </a:lnTo>
                  <a:lnTo>
                    <a:pt x="1104" y="478"/>
                  </a:lnTo>
                  <a:lnTo>
                    <a:pt x="1138" y="496"/>
                  </a:lnTo>
                  <a:lnTo>
                    <a:pt x="1173" y="514"/>
                  </a:lnTo>
                  <a:lnTo>
                    <a:pt x="1199" y="523"/>
                  </a:lnTo>
                  <a:lnTo>
                    <a:pt x="1222" y="534"/>
                  </a:lnTo>
                  <a:lnTo>
                    <a:pt x="970" y="990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07" name="Freeform 1031"/>
            <p:cNvSpPr>
              <a:spLocks/>
            </p:cNvSpPr>
            <p:nvPr/>
          </p:nvSpPr>
          <p:spPr bwMode="auto">
            <a:xfrm>
              <a:off x="2193" y="2639"/>
              <a:ext cx="1326" cy="905"/>
            </a:xfrm>
            <a:custGeom>
              <a:avLst/>
              <a:gdLst/>
              <a:ahLst/>
              <a:cxnLst>
                <a:cxn ang="0">
                  <a:pos x="531" y="0"/>
                </a:cxn>
                <a:cxn ang="0">
                  <a:pos x="420" y="233"/>
                </a:cxn>
                <a:cxn ang="0">
                  <a:pos x="445" y="243"/>
                </a:cxn>
                <a:cxn ang="0">
                  <a:pos x="470" y="248"/>
                </a:cxn>
                <a:cxn ang="0">
                  <a:pos x="496" y="255"/>
                </a:cxn>
                <a:cxn ang="0">
                  <a:pos x="526" y="261"/>
                </a:cxn>
                <a:cxn ang="0">
                  <a:pos x="561" y="268"/>
                </a:cxn>
                <a:cxn ang="0">
                  <a:pos x="592" y="271"/>
                </a:cxn>
                <a:cxn ang="0">
                  <a:pos x="623" y="274"/>
                </a:cxn>
                <a:cxn ang="0">
                  <a:pos x="660" y="279"/>
                </a:cxn>
                <a:cxn ang="0">
                  <a:pos x="698" y="283"/>
                </a:cxn>
                <a:cxn ang="0">
                  <a:pos x="765" y="283"/>
                </a:cxn>
                <a:cxn ang="0">
                  <a:pos x="802" y="281"/>
                </a:cxn>
                <a:cxn ang="0">
                  <a:pos x="833" y="278"/>
                </a:cxn>
                <a:cxn ang="0">
                  <a:pos x="866" y="273"/>
                </a:cxn>
                <a:cxn ang="0">
                  <a:pos x="899" y="268"/>
                </a:cxn>
                <a:cxn ang="0">
                  <a:pos x="930" y="264"/>
                </a:cxn>
                <a:cxn ang="0">
                  <a:pos x="968" y="256"/>
                </a:cxn>
                <a:cxn ang="0">
                  <a:pos x="1003" y="248"/>
                </a:cxn>
                <a:cxn ang="0">
                  <a:pos x="1326" y="684"/>
                </a:cxn>
                <a:cxn ang="0">
                  <a:pos x="1295" y="695"/>
                </a:cxn>
                <a:cxn ang="0">
                  <a:pos x="1265" y="703"/>
                </a:cxn>
                <a:cxn ang="0">
                  <a:pos x="1239" y="713"/>
                </a:cxn>
                <a:cxn ang="0">
                  <a:pos x="1211" y="720"/>
                </a:cxn>
                <a:cxn ang="0">
                  <a:pos x="1183" y="726"/>
                </a:cxn>
                <a:cxn ang="0">
                  <a:pos x="1155" y="735"/>
                </a:cxn>
                <a:cxn ang="0">
                  <a:pos x="1130" y="740"/>
                </a:cxn>
                <a:cxn ang="0">
                  <a:pos x="1102" y="745"/>
                </a:cxn>
                <a:cxn ang="0">
                  <a:pos x="1077" y="751"/>
                </a:cxn>
                <a:cxn ang="0">
                  <a:pos x="1047" y="758"/>
                </a:cxn>
                <a:cxn ang="0">
                  <a:pos x="1013" y="761"/>
                </a:cxn>
                <a:cxn ang="0">
                  <a:pos x="983" y="768"/>
                </a:cxn>
                <a:cxn ang="0">
                  <a:pos x="952" y="773"/>
                </a:cxn>
                <a:cxn ang="0">
                  <a:pos x="919" y="776"/>
                </a:cxn>
                <a:cxn ang="0">
                  <a:pos x="884" y="779"/>
                </a:cxn>
                <a:cxn ang="0">
                  <a:pos x="846" y="781"/>
                </a:cxn>
                <a:cxn ang="0">
                  <a:pos x="812" y="783"/>
                </a:cxn>
                <a:cxn ang="0">
                  <a:pos x="777" y="783"/>
                </a:cxn>
                <a:cxn ang="0">
                  <a:pos x="737" y="783"/>
                </a:cxn>
                <a:cxn ang="0">
                  <a:pos x="691" y="783"/>
                </a:cxn>
                <a:cxn ang="0">
                  <a:pos x="648" y="783"/>
                </a:cxn>
                <a:cxn ang="0">
                  <a:pos x="618" y="781"/>
                </a:cxn>
                <a:cxn ang="0">
                  <a:pos x="585" y="779"/>
                </a:cxn>
                <a:cxn ang="0">
                  <a:pos x="551" y="776"/>
                </a:cxn>
                <a:cxn ang="0">
                  <a:pos x="511" y="771"/>
                </a:cxn>
                <a:cxn ang="0">
                  <a:pos x="480" y="766"/>
                </a:cxn>
                <a:cxn ang="0">
                  <a:pos x="445" y="761"/>
                </a:cxn>
                <a:cxn ang="0">
                  <a:pos x="407" y="753"/>
                </a:cxn>
                <a:cxn ang="0">
                  <a:pos x="378" y="748"/>
                </a:cxn>
                <a:cxn ang="0">
                  <a:pos x="338" y="740"/>
                </a:cxn>
                <a:cxn ang="0">
                  <a:pos x="307" y="733"/>
                </a:cxn>
                <a:cxn ang="0">
                  <a:pos x="274" y="725"/>
                </a:cxn>
                <a:cxn ang="0">
                  <a:pos x="239" y="713"/>
                </a:cxn>
                <a:cxn ang="0">
                  <a:pos x="196" y="700"/>
                </a:cxn>
                <a:cxn ang="0">
                  <a:pos x="95" y="905"/>
                </a:cxn>
                <a:cxn ang="0">
                  <a:pos x="0" y="325"/>
                </a:cxn>
                <a:cxn ang="0">
                  <a:pos x="531" y="0"/>
                </a:cxn>
              </a:cxnLst>
              <a:rect l="0" t="0" r="r" b="b"/>
              <a:pathLst>
                <a:path w="1326" h="905">
                  <a:moveTo>
                    <a:pt x="531" y="0"/>
                  </a:moveTo>
                  <a:lnTo>
                    <a:pt x="420" y="233"/>
                  </a:lnTo>
                  <a:lnTo>
                    <a:pt x="445" y="243"/>
                  </a:lnTo>
                  <a:lnTo>
                    <a:pt x="470" y="248"/>
                  </a:lnTo>
                  <a:lnTo>
                    <a:pt x="496" y="255"/>
                  </a:lnTo>
                  <a:lnTo>
                    <a:pt x="526" y="261"/>
                  </a:lnTo>
                  <a:lnTo>
                    <a:pt x="561" y="268"/>
                  </a:lnTo>
                  <a:lnTo>
                    <a:pt x="592" y="271"/>
                  </a:lnTo>
                  <a:lnTo>
                    <a:pt x="623" y="274"/>
                  </a:lnTo>
                  <a:lnTo>
                    <a:pt x="660" y="279"/>
                  </a:lnTo>
                  <a:lnTo>
                    <a:pt x="698" y="283"/>
                  </a:lnTo>
                  <a:lnTo>
                    <a:pt x="765" y="283"/>
                  </a:lnTo>
                  <a:lnTo>
                    <a:pt x="802" y="281"/>
                  </a:lnTo>
                  <a:lnTo>
                    <a:pt x="833" y="278"/>
                  </a:lnTo>
                  <a:lnTo>
                    <a:pt x="866" y="273"/>
                  </a:lnTo>
                  <a:lnTo>
                    <a:pt x="899" y="268"/>
                  </a:lnTo>
                  <a:lnTo>
                    <a:pt x="930" y="264"/>
                  </a:lnTo>
                  <a:lnTo>
                    <a:pt x="968" y="256"/>
                  </a:lnTo>
                  <a:lnTo>
                    <a:pt x="1003" y="248"/>
                  </a:lnTo>
                  <a:lnTo>
                    <a:pt x="1326" y="684"/>
                  </a:lnTo>
                  <a:lnTo>
                    <a:pt x="1295" y="695"/>
                  </a:lnTo>
                  <a:lnTo>
                    <a:pt x="1265" y="703"/>
                  </a:lnTo>
                  <a:lnTo>
                    <a:pt x="1239" y="713"/>
                  </a:lnTo>
                  <a:lnTo>
                    <a:pt x="1211" y="720"/>
                  </a:lnTo>
                  <a:lnTo>
                    <a:pt x="1183" y="726"/>
                  </a:lnTo>
                  <a:lnTo>
                    <a:pt x="1155" y="735"/>
                  </a:lnTo>
                  <a:lnTo>
                    <a:pt x="1130" y="740"/>
                  </a:lnTo>
                  <a:lnTo>
                    <a:pt x="1102" y="745"/>
                  </a:lnTo>
                  <a:lnTo>
                    <a:pt x="1077" y="751"/>
                  </a:lnTo>
                  <a:lnTo>
                    <a:pt x="1047" y="758"/>
                  </a:lnTo>
                  <a:lnTo>
                    <a:pt x="1013" y="761"/>
                  </a:lnTo>
                  <a:lnTo>
                    <a:pt x="983" y="768"/>
                  </a:lnTo>
                  <a:lnTo>
                    <a:pt x="952" y="773"/>
                  </a:lnTo>
                  <a:lnTo>
                    <a:pt x="919" y="776"/>
                  </a:lnTo>
                  <a:lnTo>
                    <a:pt x="884" y="779"/>
                  </a:lnTo>
                  <a:lnTo>
                    <a:pt x="846" y="781"/>
                  </a:lnTo>
                  <a:lnTo>
                    <a:pt x="812" y="783"/>
                  </a:lnTo>
                  <a:lnTo>
                    <a:pt x="777" y="783"/>
                  </a:lnTo>
                  <a:lnTo>
                    <a:pt x="737" y="783"/>
                  </a:lnTo>
                  <a:lnTo>
                    <a:pt x="691" y="783"/>
                  </a:lnTo>
                  <a:lnTo>
                    <a:pt x="648" y="783"/>
                  </a:lnTo>
                  <a:lnTo>
                    <a:pt x="618" y="781"/>
                  </a:lnTo>
                  <a:lnTo>
                    <a:pt x="585" y="779"/>
                  </a:lnTo>
                  <a:lnTo>
                    <a:pt x="551" y="776"/>
                  </a:lnTo>
                  <a:lnTo>
                    <a:pt x="511" y="771"/>
                  </a:lnTo>
                  <a:lnTo>
                    <a:pt x="480" y="766"/>
                  </a:lnTo>
                  <a:lnTo>
                    <a:pt x="445" y="761"/>
                  </a:lnTo>
                  <a:lnTo>
                    <a:pt x="407" y="753"/>
                  </a:lnTo>
                  <a:lnTo>
                    <a:pt x="378" y="748"/>
                  </a:lnTo>
                  <a:lnTo>
                    <a:pt x="338" y="740"/>
                  </a:lnTo>
                  <a:lnTo>
                    <a:pt x="307" y="733"/>
                  </a:lnTo>
                  <a:lnTo>
                    <a:pt x="274" y="725"/>
                  </a:lnTo>
                  <a:lnTo>
                    <a:pt x="239" y="713"/>
                  </a:lnTo>
                  <a:lnTo>
                    <a:pt x="196" y="700"/>
                  </a:lnTo>
                  <a:lnTo>
                    <a:pt x="95" y="905"/>
                  </a:lnTo>
                  <a:lnTo>
                    <a:pt x="0" y="325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08" name="Freeform 1032"/>
            <p:cNvSpPr>
              <a:spLocks/>
            </p:cNvSpPr>
            <p:nvPr/>
          </p:nvSpPr>
          <p:spPr bwMode="auto">
            <a:xfrm>
              <a:off x="3148" y="2463"/>
              <a:ext cx="1153" cy="983"/>
            </a:xfrm>
            <a:custGeom>
              <a:avLst/>
              <a:gdLst/>
              <a:ahLst/>
              <a:cxnLst>
                <a:cxn ang="0">
                  <a:pos x="1153" y="216"/>
                </a:cxn>
                <a:cxn ang="0">
                  <a:pos x="1140" y="237"/>
                </a:cxn>
                <a:cxn ang="0">
                  <a:pos x="1130" y="254"/>
                </a:cxn>
                <a:cxn ang="0">
                  <a:pos x="1117" y="274"/>
                </a:cxn>
                <a:cxn ang="0">
                  <a:pos x="1107" y="290"/>
                </a:cxn>
                <a:cxn ang="0">
                  <a:pos x="1096" y="308"/>
                </a:cxn>
                <a:cxn ang="0">
                  <a:pos x="1081" y="328"/>
                </a:cxn>
                <a:cxn ang="0">
                  <a:pos x="1069" y="346"/>
                </a:cxn>
                <a:cxn ang="0">
                  <a:pos x="1054" y="365"/>
                </a:cxn>
                <a:cxn ang="0">
                  <a:pos x="1036" y="384"/>
                </a:cxn>
                <a:cxn ang="0">
                  <a:pos x="1020" y="406"/>
                </a:cxn>
                <a:cxn ang="0">
                  <a:pos x="1007" y="424"/>
                </a:cxn>
                <a:cxn ang="0">
                  <a:pos x="988" y="440"/>
                </a:cxn>
                <a:cxn ang="0">
                  <a:pos x="970" y="464"/>
                </a:cxn>
                <a:cxn ang="0">
                  <a:pos x="950" y="483"/>
                </a:cxn>
                <a:cxn ang="0">
                  <a:pos x="932" y="503"/>
                </a:cxn>
                <a:cxn ang="0">
                  <a:pos x="911" y="523"/>
                </a:cxn>
                <a:cxn ang="0">
                  <a:pos x="893" y="538"/>
                </a:cxn>
                <a:cxn ang="0">
                  <a:pos x="868" y="561"/>
                </a:cxn>
                <a:cxn ang="0">
                  <a:pos x="848" y="581"/>
                </a:cxn>
                <a:cxn ang="0">
                  <a:pos x="828" y="596"/>
                </a:cxn>
                <a:cxn ang="0">
                  <a:pos x="804" y="615"/>
                </a:cxn>
                <a:cxn ang="0">
                  <a:pos x="787" y="629"/>
                </a:cxn>
                <a:cxn ang="0">
                  <a:pos x="764" y="645"/>
                </a:cxn>
                <a:cxn ang="0">
                  <a:pos x="743" y="662"/>
                </a:cxn>
                <a:cxn ang="0">
                  <a:pos x="718" y="678"/>
                </a:cxn>
                <a:cxn ang="0">
                  <a:pos x="695" y="693"/>
                </a:cxn>
                <a:cxn ang="0">
                  <a:pos x="670" y="709"/>
                </a:cxn>
                <a:cxn ang="0">
                  <a:pos x="639" y="728"/>
                </a:cxn>
                <a:cxn ang="0">
                  <a:pos x="612" y="744"/>
                </a:cxn>
                <a:cxn ang="0">
                  <a:pos x="584" y="762"/>
                </a:cxn>
                <a:cxn ang="0">
                  <a:pos x="554" y="779"/>
                </a:cxn>
                <a:cxn ang="0">
                  <a:pos x="521" y="794"/>
                </a:cxn>
                <a:cxn ang="0">
                  <a:pos x="682" y="983"/>
                </a:cxn>
                <a:cxn ang="0">
                  <a:pos x="46" y="741"/>
                </a:cxn>
                <a:cxn ang="0">
                  <a:pos x="0" y="261"/>
                </a:cxn>
                <a:cxn ang="0">
                  <a:pos x="132" y="396"/>
                </a:cxn>
                <a:cxn ang="0">
                  <a:pos x="162" y="383"/>
                </a:cxn>
                <a:cxn ang="0">
                  <a:pos x="191" y="369"/>
                </a:cxn>
                <a:cxn ang="0">
                  <a:pos x="231" y="353"/>
                </a:cxn>
                <a:cxn ang="0">
                  <a:pos x="269" y="335"/>
                </a:cxn>
                <a:cxn ang="0">
                  <a:pos x="309" y="312"/>
                </a:cxn>
                <a:cxn ang="0">
                  <a:pos x="342" y="292"/>
                </a:cxn>
                <a:cxn ang="0">
                  <a:pos x="373" y="269"/>
                </a:cxn>
                <a:cxn ang="0">
                  <a:pos x="404" y="246"/>
                </a:cxn>
                <a:cxn ang="0">
                  <a:pos x="429" y="226"/>
                </a:cxn>
                <a:cxn ang="0">
                  <a:pos x="457" y="201"/>
                </a:cxn>
                <a:cxn ang="0">
                  <a:pos x="485" y="173"/>
                </a:cxn>
                <a:cxn ang="0">
                  <a:pos x="508" y="150"/>
                </a:cxn>
                <a:cxn ang="0">
                  <a:pos x="531" y="124"/>
                </a:cxn>
                <a:cxn ang="0">
                  <a:pos x="553" y="101"/>
                </a:cxn>
                <a:cxn ang="0">
                  <a:pos x="574" y="71"/>
                </a:cxn>
                <a:cxn ang="0">
                  <a:pos x="596" y="43"/>
                </a:cxn>
                <a:cxn ang="0">
                  <a:pos x="606" y="21"/>
                </a:cxn>
                <a:cxn ang="0">
                  <a:pos x="617" y="0"/>
                </a:cxn>
                <a:cxn ang="0">
                  <a:pos x="1153" y="216"/>
                </a:cxn>
              </a:cxnLst>
              <a:rect l="0" t="0" r="r" b="b"/>
              <a:pathLst>
                <a:path w="1153" h="983">
                  <a:moveTo>
                    <a:pt x="1153" y="216"/>
                  </a:moveTo>
                  <a:lnTo>
                    <a:pt x="1140" y="237"/>
                  </a:lnTo>
                  <a:lnTo>
                    <a:pt x="1130" y="254"/>
                  </a:lnTo>
                  <a:lnTo>
                    <a:pt x="1117" y="274"/>
                  </a:lnTo>
                  <a:lnTo>
                    <a:pt x="1107" y="290"/>
                  </a:lnTo>
                  <a:lnTo>
                    <a:pt x="1096" y="308"/>
                  </a:lnTo>
                  <a:lnTo>
                    <a:pt x="1081" y="328"/>
                  </a:lnTo>
                  <a:lnTo>
                    <a:pt x="1069" y="346"/>
                  </a:lnTo>
                  <a:lnTo>
                    <a:pt x="1054" y="365"/>
                  </a:lnTo>
                  <a:lnTo>
                    <a:pt x="1036" y="384"/>
                  </a:lnTo>
                  <a:lnTo>
                    <a:pt x="1020" y="406"/>
                  </a:lnTo>
                  <a:lnTo>
                    <a:pt x="1007" y="424"/>
                  </a:lnTo>
                  <a:lnTo>
                    <a:pt x="988" y="440"/>
                  </a:lnTo>
                  <a:lnTo>
                    <a:pt x="970" y="464"/>
                  </a:lnTo>
                  <a:lnTo>
                    <a:pt x="950" y="483"/>
                  </a:lnTo>
                  <a:lnTo>
                    <a:pt x="932" y="503"/>
                  </a:lnTo>
                  <a:lnTo>
                    <a:pt x="911" y="523"/>
                  </a:lnTo>
                  <a:lnTo>
                    <a:pt x="893" y="538"/>
                  </a:lnTo>
                  <a:lnTo>
                    <a:pt x="868" y="561"/>
                  </a:lnTo>
                  <a:lnTo>
                    <a:pt x="848" y="581"/>
                  </a:lnTo>
                  <a:lnTo>
                    <a:pt x="828" y="596"/>
                  </a:lnTo>
                  <a:lnTo>
                    <a:pt x="804" y="615"/>
                  </a:lnTo>
                  <a:lnTo>
                    <a:pt x="787" y="629"/>
                  </a:lnTo>
                  <a:lnTo>
                    <a:pt x="764" y="645"/>
                  </a:lnTo>
                  <a:lnTo>
                    <a:pt x="743" y="662"/>
                  </a:lnTo>
                  <a:lnTo>
                    <a:pt x="718" y="678"/>
                  </a:lnTo>
                  <a:lnTo>
                    <a:pt x="695" y="693"/>
                  </a:lnTo>
                  <a:lnTo>
                    <a:pt x="670" y="709"/>
                  </a:lnTo>
                  <a:lnTo>
                    <a:pt x="639" y="728"/>
                  </a:lnTo>
                  <a:lnTo>
                    <a:pt x="612" y="744"/>
                  </a:lnTo>
                  <a:lnTo>
                    <a:pt x="584" y="762"/>
                  </a:lnTo>
                  <a:lnTo>
                    <a:pt x="554" y="779"/>
                  </a:lnTo>
                  <a:lnTo>
                    <a:pt x="521" y="794"/>
                  </a:lnTo>
                  <a:lnTo>
                    <a:pt x="682" y="983"/>
                  </a:lnTo>
                  <a:lnTo>
                    <a:pt x="46" y="741"/>
                  </a:lnTo>
                  <a:lnTo>
                    <a:pt x="0" y="261"/>
                  </a:lnTo>
                  <a:lnTo>
                    <a:pt x="132" y="396"/>
                  </a:lnTo>
                  <a:lnTo>
                    <a:pt x="162" y="383"/>
                  </a:lnTo>
                  <a:lnTo>
                    <a:pt x="191" y="369"/>
                  </a:lnTo>
                  <a:lnTo>
                    <a:pt x="231" y="353"/>
                  </a:lnTo>
                  <a:lnTo>
                    <a:pt x="269" y="335"/>
                  </a:lnTo>
                  <a:lnTo>
                    <a:pt x="309" y="312"/>
                  </a:lnTo>
                  <a:lnTo>
                    <a:pt x="342" y="292"/>
                  </a:lnTo>
                  <a:lnTo>
                    <a:pt x="373" y="269"/>
                  </a:lnTo>
                  <a:lnTo>
                    <a:pt x="404" y="246"/>
                  </a:lnTo>
                  <a:lnTo>
                    <a:pt x="429" y="226"/>
                  </a:lnTo>
                  <a:lnTo>
                    <a:pt x="457" y="201"/>
                  </a:lnTo>
                  <a:lnTo>
                    <a:pt x="485" y="173"/>
                  </a:lnTo>
                  <a:lnTo>
                    <a:pt x="508" y="150"/>
                  </a:lnTo>
                  <a:lnTo>
                    <a:pt x="531" y="124"/>
                  </a:lnTo>
                  <a:lnTo>
                    <a:pt x="553" y="101"/>
                  </a:lnTo>
                  <a:lnTo>
                    <a:pt x="574" y="71"/>
                  </a:lnTo>
                  <a:lnTo>
                    <a:pt x="596" y="43"/>
                  </a:lnTo>
                  <a:lnTo>
                    <a:pt x="606" y="21"/>
                  </a:lnTo>
                  <a:lnTo>
                    <a:pt x="617" y="0"/>
                  </a:lnTo>
                  <a:lnTo>
                    <a:pt x="1153" y="216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09" name="Freeform 1033"/>
            <p:cNvSpPr>
              <a:spLocks/>
            </p:cNvSpPr>
            <p:nvPr/>
          </p:nvSpPr>
          <p:spPr bwMode="auto">
            <a:xfrm>
              <a:off x="3534" y="1583"/>
              <a:ext cx="1064" cy="1144"/>
            </a:xfrm>
            <a:custGeom>
              <a:avLst/>
              <a:gdLst/>
              <a:ahLst/>
              <a:cxnLst>
                <a:cxn ang="0">
                  <a:pos x="0" y="726"/>
                </a:cxn>
                <a:cxn ang="0">
                  <a:pos x="264" y="812"/>
                </a:cxn>
                <a:cxn ang="0">
                  <a:pos x="279" y="784"/>
                </a:cxn>
                <a:cxn ang="0">
                  <a:pos x="291" y="756"/>
                </a:cxn>
                <a:cxn ang="0">
                  <a:pos x="297" y="731"/>
                </a:cxn>
                <a:cxn ang="0">
                  <a:pos x="305" y="708"/>
                </a:cxn>
                <a:cxn ang="0">
                  <a:pos x="314" y="684"/>
                </a:cxn>
                <a:cxn ang="0">
                  <a:pos x="320" y="654"/>
                </a:cxn>
                <a:cxn ang="0">
                  <a:pos x="325" y="626"/>
                </a:cxn>
                <a:cxn ang="0">
                  <a:pos x="330" y="599"/>
                </a:cxn>
                <a:cxn ang="0">
                  <a:pos x="333" y="570"/>
                </a:cxn>
                <a:cxn ang="0">
                  <a:pos x="335" y="537"/>
                </a:cxn>
                <a:cxn ang="0">
                  <a:pos x="335" y="479"/>
                </a:cxn>
                <a:cxn ang="0">
                  <a:pos x="333" y="449"/>
                </a:cxn>
                <a:cxn ang="0">
                  <a:pos x="332" y="421"/>
                </a:cxn>
                <a:cxn ang="0">
                  <a:pos x="327" y="393"/>
                </a:cxn>
                <a:cxn ang="0">
                  <a:pos x="320" y="363"/>
                </a:cxn>
                <a:cxn ang="0">
                  <a:pos x="315" y="339"/>
                </a:cxn>
                <a:cxn ang="0">
                  <a:pos x="307" y="306"/>
                </a:cxn>
                <a:cxn ang="0">
                  <a:pos x="296" y="276"/>
                </a:cxn>
                <a:cxn ang="0">
                  <a:pos x="809" y="0"/>
                </a:cxn>
                <a:cxn ang="0">
                  <a:pos x="824" y="28"/>
                </a:cxn>
                <a:cxn ang="0">
                  <a:pos x="833" y="53"/>
                </a:cxn>
                <a:cxn ang="0">
                  <a:pos x="843" y="76"/>
                </a:cxn>
                <a:cxn ang="0">
                  <a:pos x="853" y="99"/>
                </a:cxn>
                <a:cxn ang="0">
                  <a:pos x="860" y="123"/>
                </a:cxn>
                <a:cxn ang="0">
                  <a:pos x="870" y="146"/>
                </a:cxn>
                <a:cxn ang="0">
                  <a:pos x="876" y="169"/>
                </a:cxn>
                <a:cxn ang="0">
                  <a:pos x="883" y="192"/>
                </a:cxn>
                <a:cxn ang="0">
                  <a:pos x="888" y="213"/>
                </a:cxn>
                <a:cxn ang="0">
                  <a:pos x="896" y="240"/>
                </a:cxn>
                <a:cxn ang="0">
                  <a:pos x="901" y="269"/>
                </a:cxn>
                <a:cxn ang="0">
                  <a:pos x="908" y="294"/>
                </a:cxn>
                <a:cxn ang="0">
                  <a:pos x="913" y="319"/>
                </a:cxn>
                <a:cxn ang="0">
                  <a:pos x="918" y="349"/>
                </a:cxn>
                <a:cxn ang="0">
                  <a:pos x="919" y="377"/>
                </a:cxn>
                <a:cxn ang="0">
                  <a:pos x="923" y="410"/>
                </a:cxn>
                <a:cxn ang="0">
                  <a:pos x="926" y="441"/>
                </a:cxn>
                <a:cxn ang="0">
                  <a:pos x="926" y="469"/>
                </a:cxn>
                <a:cxn ang="0">
                  <a:pos x="926" y="502"/>
                </a:cxn>
                <a:cxn ang="0">
                  <a:pos x="926" y="542"/>
                </a:cxn>
                <a:cxn ang="0">
                  <a:pos x="924" y="578"/>
                </a:cxn>
                <a:cxn ang="0">
                  <a:pos x="923" y="604"/>
                </a:cxn>
                <a:cxn ang="0">
                  <a:pos x="919" y="632"/>
                </a:cxn>
                <a:cxn ang="0">
                  <a:pos x="918" y="662"/>
                </a:cxn>
                <a:cxn ang="0">
                  <a:pos x="913" y="695"/>
                </a:cxn>
                <a:cxn ang="0">
                  <a:pos x="906" y="723"/>
                </a:cxn>
                <a:cxn ang="0">
                  <a:pos x="899" y="751"/>
                </a:cxn>
                <a:cxn ang="0">
                  <a:pos x="893" y="784"/>
                </a:cxn>
                <a:cxn ang="0">
                  <a:pos x="883" y="811"/>
                </a:cxn>
                <a:cxn ang="0">
                  <a:pos x="876" y="842"/>
                </a:cxn>
                <a:cxn ang="0">
                  <a:pos x="866" y="872"/>
                </a:cxn>
                <a:cxn ang="0">
                  <a:pos x="855" y="898"/>
                </a:cxn>
                <a:cxn ang="0">
                  <a:pos x="843" y="929"/>
                </a:cxn>
                <a:cxn ang="0">
                  <a:pos x="830" y="964"/>
                </a:cxn>
                <a:cxn ang="0">
                  <a:pos x="814" y="1000"/>
                </a:cxn>
                <a:cxn ang="0">
                  <a:pos x="1064" y="1088"/>
                </a:cxn>
                <a:cxn ang="0">
                  <a:pos x="436" y="1144"/>
                </a:cxn>
                <a:cxn ang="0">
                  <a:pos x="0" y="726"/>
                </a:cxn>
              </a:cxnLst>
              <a:rect l="0" t="0" r="r" b="b"/>
              <a:pathLst>
                <a:path w="1064" h="1144">
                  <a:moveTo>
                    <a:pt x="0" y="726"/>
                  </a:moveTo>
                  <a:lnTo>
                    <a:pt x="264" y="812"/>
                  </a:lnTo>
                  <a:lnTo>
                    <a:pt x="279" y="784"/>
                  </a:lnTo>
                  <a:lnTo>
                    <a:pt x="291" y="756"/>
                  </a:lnTo>
                  <a:lnTo>
                    <a:pt x="297" y="731"/>
                  </a:lnTo>
                  <a:lnTo>
                    <a:pt x="305" y="708"/>
                  </a:lnTo>
                  <a:lnTo>
                    <a:pt x="314" y="684"/>
                  </a:lnTo>
                  <a:lnTo>
                    <a:pt x="320" y="654"/>
                  </a:lnTo>
                  <a:lnTo>
                    <a:pt x="325" y="626"/>
                  </a:lnTo>
                  <a:lnTo>
                    <a:pt x="330" y="599"/>
                  </a:lnTo>
                  <a:lnTo>
                    <a:pt x="333" y="570"/>
                  </a:lnTo>
                  <a:lnTo>
                    <a:pt x="335" y="537"/>
                  </a:lnTo>
                  <a:lnTo>
                    <a:pt x="335" y="479"/>
                  </a:lnTo>
                  <a:lnTo>
                    <a:pt x="333" y="449"/>
                  </a:lnTo>
                  <a:lnTo>
                    <a:pt x="332" y="421"/>
                  </a:lnTo>
                  <a:lnTo>
                    <a:pt x="327" y="393"/>
                  </a:lnTo>
                  <a:lnTo>
                    <a:pt x="320" y="363"/>
                  </a:lnTo>
                  <a:lnTo>
                    <a:pt x="315" y="339"/>
                  </a:lnTo>
                  <a:lnTo>
                    <a:pt x="307" y="306"/>
                  </a:lnTo>
                  <a:lnTo>
                    <a:pt x="296" y="276"/>
                  </a:lnTo>
                  <a:lnTo>
                    <a:pt x="809" y="0"/>
                  </a:lnTo>
                  <a:lnTo>
                    <a:pt x="824" y="28"/>
                  </a:lnTo>
                  <a:lnTo>
                    <a:pt x="833" y="53"/>
                  </a:lnTo>
                  <a:lnTo>
                    <a:pt x="843" y="76"/>
                  </a:lnTo>
                  <a:lnTo>
                    <a:pt x="853" y="99"/>
                  </a:lnTo>
                  <a:lnTo>
                    <a:pt x="860" y="123"/>
                  </a:lnTo>
                  <a:lnTo>
                    <a:pt x="870" y="146"/>
                  </a:lnTo>
                  <a:lnTo>
                    <a:pt x="876" y="169"/>
                  </a:lnTo>
                  <a:lnTo>
                    <a:pt x="883" y="192"/>
                  </a:lnTo>
                  <a:lnTo>
                    <a:pt x="888" y="213"/>
                  </a:lnTo>
                  <a:lnTo>
                    <a:pt x="896" y="240"/>
                  </a:lnTo>
                  <a:lnTo>
                    <a:pt x="901" y="269"/>
                  </a:lnTo>
                  <a:lnTo>
                    <a:pt x="908" y="294"/>
                  </a:lnTo>
                  <a:lnTo>
                    <a:pt x="913" y="319"/>
                  </a:lnTo>
                  <a:lnTo>
                    <a:pt x="918" y="349"/>
                  </a:lnTo>
                  <a:lnTo>
                    <a:pt x="919" y="377"/>
                  </a:lnTo>
                  <a:lnTo>
                    <a:pt x="923" y="410"/>
                  </a:lnTo>
                  <a:lnTo>
                    <a:pt x="926" y="441"/>
                  </a:lnTo>
                  <a:lnTo>
                    <a:pt x="926" y="469"/>
                  </a:lnTo>
                  <a:lnTo>
                    <a:pt x="926" y="502"/>
                  </a:lnTo>
                  <a:lnTo>
                    <a:pt x="926" y="542"/>
                  </a:lnTo>
                  <a:lnTo>
                    <a:pt x="924" y="578"/>
                  </a:lnTo>
                  <a:lnTo>
                    <a:pt x="923" y="604"/>
                  </a:lnTo>
                  <a:lnTo>
                    <a:pt x="919" y="632"/>
                  </a:lnTo>
                  <a:lnTo>
                    <a:pt x="918" y="662"/>
                  </a:lnTo>
                  <a:lnTo>
                    <a:pt x="913" y="695"/>
                  </a:lnTo>
                  <a:lnTo>
                    <a:pt x="906" y="723"/>
                  </a:lnTo>
                  <a:lnTo>
                    <a:pt x="899" y="751"/>
                  </a:lnTo>
                  <a:lnTo>
                    <a:pt x="893" y="784"/>
                  </a:lnTo>
                  <a:lnTo>
                    <a:pt x="883" y="811"/>
                  </a:lnTo>
                  <a:lnTo>
                    <a:pt x="876" y="842"/>
                  </a:lnTo>
                  <a:lnTo>
                    <a:pt x="866" y="872"/>
                  </a:lnTo>
                  <a:lnTo>
                    <a:pt x="855" y="898"/>
                  </a:lnTo>
                  <a:lnTo>
                    <a:pt x="843" y="929"/>
                  </a:lnTo>
                  <a:lnTo>
                    <a:pt x="830" y="964"/>
                  </a:lnTo>
                  <a:lnTo>
                    <a:pt x="814" y="1000"/>
                  </a:lnTo>
                  <a:lnTo>
                    <a:pt x="1064" y="1088"/>
                  </a:lnTo>
                  <a:lnTo>
                    <a:pt x="436" y="1144"/>
                  </a:lnTo>
                  <a:lnTo>
                    <a:pt x="0" y="726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0" name="Freeform 1034"/>
            <p:cNvSpPr>
              <a:spLocks/>
            </p:cNvSpPr>
            <p:nvPr/>
          </p:nvSpPr>
          <p:spPr bwMode="auto">
            <a:xfrm>
              <a:off x="3341" y="922"/>
              <a:ext cx="1243" cy="1006"/>
            </a:xfrm>
            <a:custGeom>
              <a:avLst/>
              <a:gdLst/>
              <a:ahLst/>
              <a:cxnLst>
                <a:cxn ang="0">
                  <a:pos x="253" y="0"/>
                </a:cxn>
                <a:cxn ang="0">
                  <a:pos x="277" y="10"/>
                </a:cxn>
                <a:cxn ang="0">
                  <a:pos x="299" y="20"/>
                </a:cxn>
                <a:cxn ang="0">
                  <a:pos x="320" y="29"/>
                </a:cxn>
                <a:cxn ang="0">
                  <a:pos x="342" y="39"/>
                </a:cxn>
                <a:cxn ang="0">
                  <a:pos x="363" y="49"/>
                </a:cxn>
                <a:cxn ang="0">
                  <a:pos x="383" y="61"/>
                </a:cxn>
                <a:cxn ang="0">
                  <a:pos x="404" y="72"/>
                </a:cxn>
                <a:cxn ang="0">
                  <a:pos x="424" y="82"/>
                </a:cxn>
                <a:cxn ang="0">
                  <a:pos x="449" y="97"/>
                </a:cxn>
                <a:cxn ang="0">
                  <a:pos x="475" y="114"/>
                </a:cxn>
                <a:cxn ang="0">
                  <a:pos x="497" y="125"/>
                </a:cxn>
                <a:cxn ang="0">
                  <a:pos x="517" y="140"/>
                </a:cxn>
                <a:cxn ang="0">
                  <a:pos x="543" y="155"/>
                </a:cxn>
                <a:cxn ang="0">
                  <a:pos x="568" y="171"/>
                </a:cxn>
                <a:cxn ang="0">
                  <a:pos x="589" y="186"/>
                </a:cxn>
                <a:cxn ang="0">
                  <a:pos x="612" y="204"/>
                </a:cxn>
                <a:cxn ang="0">
                  <a:pos x="630" y="219"/>
                </a:cxn>
                <a:cxn ang="0">
                  <a:pos x="657" y="239"/>
                </a:cxn>
                <a:cxn ang="0">
                  <a:pos x="678" y="257"/>
                </a:cxn>
                <a:cxn ang="0">
                  <a:pos x="698" y="275"/>
                </a:cxn>
                <a:cxn ang="0">
                  <a:pos x="720" y="295"/>
                </a:cxn>
                <a:cxn ang="0">
                  <a:pos x="736" y="310"/>
                </a:cxn>
                <a:cxn ang="0">
                  <a:pos x="756" y="328"/>
                </a:cxn>
                <a:cxn ang="0">
                  <a:pos x="774" y="346"/>
                </a:cxn>
                <a:cxn ang="0">
                  <a:pos x="795" y="369"/>
                </a:cxn>
                <a:cxn ang="0">
                  <a:pos x="812" y="389"/>
                </a:cxn>
                <a:cxn ang="0">
                  <a:pos x="832" y="409"/>
                </a:cxn>
                <a:cxn ang="0">
                  <a:pos x="853" y="435"/>
                </a:cxn>
                <a:cxn ang="0">
                  <a:pos x="871" y="458"/>
                </a:cxn>
                <a:cxn ang="0">
                  <a:pos x="891" y="483"/>
                </a:cxn>
                <a:cxn ang="0">
                  <a:pos x="911" y="510"/>
                </a:cxn>
                <a:cxn ang="0">
                  <a:pos x="929" y="536"/>
                </a:cxn>
                <a:cxn ang="0">
                  <a:pos x="947" y="564"/>
                </a:cxn>
                <a:cxn ang="0">
                  <a:pos x="960" y="587"/>
                </a:cxn>
                <a:cxn ang="0">
                  <a:pos x="975" y="610"/>
                </a:cxn>
                <a:cxn ang="0">
                  <a:pos x="988" y="637"/>
                </a:cxn>
                <a:cxn ang="0">
                  <a:pos x="995" y="656"/>
                </a:cxn>
                <a:cxn ang="0">
                  <a:pos x="1243" y="572"/>
                </a:cxn>
                <a:cxn ang="0">
                  <a:pos x="860" y="1006"/>
                </a:cxn>
                <a:cxn ang="0">
                  <a:pos x="180" y="935"/>
                </a:cxn>
                <a:cxn ang="0">
                  <a:pos x="449" y="843"/>
                </a:cxn>
                <a:cxn ang="0">
                  <a:pos x="432" y="813"/>
                </a:cxn>
                <a:cxn ang="0">
                  <a:pos x="414" y="784"/>
                </a:cxn>
                <a:cxn ang="0">
                  <a:pos x="391" y="751"/>
                </a:cxn>
                <a:cxn ang="0">
                  <a:pos x="365" y="718"/>
                </a:cxn>
                <a:cxn ang="0">
                  <a:pos x="342" y="689"/>
                </a:cxn>
                <a:cxn ang="0">
                  <a:pos x="317" y="663"/>
                </a:cxn>
                <a:cxn ang="0">
                  <a:pos x="289" y="637"/>
                </a:cxn>
                <a:cxn ang="0">
                  <a:pos x="262" y="614"/>
                </a:cxn>
                <a:cxn ang="0">
                  <a:pos x="236" y="592"/>
                </a:cxn>
                <a:cxn ang="0">
                  <a:pos x="205" y="567"/>
                </a:cxn>
                <a:cxn ang="0">
                  <a:pos x="175" y="548"/>
                </a:cxn>
                <a:cxn ang="0">
                  <a:pos x="145" y="528"/>
                </a:cxn>
                <a:cxn ang="0">
                  <a:pos x="117" y="510"/>
                </a:cxn>
                <a:cxn ang="0">
                  <a:pos x="83" y="491"/>
                </a:cxn>
                <a:cxn ang="0">
                  <a:pos x="48" y="475"/>
                </a:cxn>
                <a:cxn ang="0">
                  <a:pos x="25" y="465"/>
                </a:cxn>
                <a:cxn ang="0">
                  <a:pos x="0" y="452"/>
                </a:cxn>
                <a:cxn ang="0">
                  <a:pos x="253" y="0"/>
                </a:cxn>
              </a:cxnLst>
              <a:rect l="0" t="0" r="r" b="b"/>
              <a:pathLst>
                <a:path w="1243" h="1006">
                  <a:moveTo>
                    <a:pt x="253" y="0"/>
                  </a:moveTo>
                  <a:lnTo>
                    <a:pt x="277" y="10"/>
                  </a:lnTo>
                  <a:lnTo>
                    <a:pt x="299" y="20"/>
                  </a:lnTo>
                  <a:lnTo>
                    <a:pt x="320" y="29"/>
                  </a:lnTo>
                  <a:lnTo>
                    <a:pt x="342" y="39"/>
                  </a:lnTo>
                  <a:lnTo>
                    <a:pt x="363" y="49"/>
                  </a:lnTo>
                  <a:lnTo>
                    <a:pt x="383" y="61"/>
                  </a:lnTo>
                  <a:lnTo>
                    <a:pt x="404" y="72"/>
                  </a:lnTo>
                  <a:lnTo>
                    <a:pt x="424" y="82"/>
                  </a:lnTo>
                  <a:lnTo>
                    <a:pt x="449" y="97"/>
                  </a:lnTo>
                  <a:lnTo>
                    <a:pt x="475" y="114"/>
                  </a:lnTo>
                  <a:lnTo>
                    <a:pt x="497" y="125"/>
                  </a:lnTo>
                  <a:lnTo>
                    <a:pt x="517" y="140"/>
                  </a:lnTo>
                  <a:lnTo>
                    <a:pt x="543" y="155"/>
                  </a:lnTo>
                  <a:lnTo>
                    <a:pt x="568" y="171"/>
                  </a:lnTo>
                  <a:lnTo>
                    <a:pt x="589" y="186"/>
                  </a:lnTo>
                  <a:lnTo>
                    <a:pt x="612" y="204"/>
                  </a:lnTo>
                  <a:lnTo>
                    <a:pt x="630" y="219"/>
                  </a:lnTo>
                  <a:lnTo>
                    <a:pt x="657" y="239"/>
                  </a:lnTo>
                  <a:lnTo>
                    <a:pt x="678" y="257"/>
                  </a:lnTo>
                  <a:lnTo>
                    <a:pt x="698" y="275"/>
                  </a:lnTo>
                  <a:lnTo>
                    <a:pt x="720" y="295"/>
                  </a:lnTo>
                  <a:lnTo>
                    <a:pt x="736" y="310"/>
                  </a:lnTo>
                  <a:lnTo>
                    <a:pt x="756" y="328"/>
                  </a:lnTo>
                  <a:lnTo>
                    <a:pt x="774" y="346"/>
                  </a:lnTo>
                  <a:lnTo>
                    <a:pt x="795" y="369"/>
                  </a:lnTo>
                  <a:lnTo>
                    <a:pt x="812" y="389"/>
                  </a:lnTo>
                  <a:lnTo>
                    <a:pt x="832" y="409"/>
                  </a:lnTo>
                  <a:lnTo>
                    <a:pt x="853" y="435"/>
                  </a:lnTo>
                  <a:lnTo>
                    <a:pt x="871" y="458"/>
                  </a:lnTo>
                  <a:lnTo>
                    <a:pt x="891" y="483"/>
                  </a:lnTo>
                  <a:lnTo>
                    <a:pt x="911" y="510"/>
                  </a:lnTo>
                  <a:lnTo>
                    <a:pt x="929" y="536"/>
                  </a:lnTo>
                  <a:lnTo>
                    <a:pt x="947" y="564"/>
                  </a:lnTo>
                  <a:lnTo>
                    <a:pt x="960" y="587"/>
                  </a:lnTo>
                  <a:lnTo>
                    <a:pt x="975" y="610"/>
                  </a:lnTo>
                  <a:lnTo>
                    <a:pt x="988" y="637"/>
                  </a:lnTo>
                  <a:lnTo>
                    <a:pt x="995" y="656"/>
                  </a:lnTo>
                  <a:lnTo>
                    <a:pt x="1243" y="572"/>
                  </a:lnTo>
                  <a:lnTo>
                    <a:pt x="860" y="1006"/>
                  </a:lnTo>
                  <a:lnTo>
                    <a:pt x="180" y="935"/>
                  </a:lnTo>
                  <a:lnTo>
                    <a:pt x="449" y="843"/>
                  </a:lnTo>
                  <a:lnTo>
                    <a:pt x="432" y="813"/>
                  </a:lnTo>
                  <a:lnTo>
                    <a:pt x="414" y="784"/>
                  </a:lnTo>
                  <a:lnTo>
                    <a:pt x="391" y="751"/>
                  </a:lnTo>
                  <a:lnTo>
                    <a:pt x="365" y="718"/>
                  </a:lnTo>
                  <a:lnTo>
                    <a:pt x="342" y="689"/>
                  </a:lnTo>
                  <a:lnTo>
                    <a:pt x="317" y="663"/>
                  </a:lnTo>
                  <a:lnTo>
                    <a:pt x="289" y="637"/>
                  </a:lnTo>
                  <a:lnTo>
                    <a:pt x="262" y="614"/>
                  </a:lnTo>
                  <a:lnTo>
                    <a:pt x="236" y="592"/>
                  </a:lnTo>
                  <a:lnTo>
                    <a:pt x="205" y="567"/>
                  </a:lnTo>
                  <a:lnTo>
                    <a:pt x="175" y="548"/>
                  </a:lnTo>
                  <a:lnTo>
                    <a:pt x="145" y="528"/>
                  </a:lnTo>
                  <a:lnTo>
                    <a:pt x="117" y="510"/>
                  </a:lnTo>
                  <a:lnTo>
                    <a:pt x="83" y="491"/>
                  </a:lnTo>
                  <a:lnTo>
                    <a:pt x="48" y="475"/>
                  </a:lnTo>
                  <a:lnTo>
                    <a:pt x="25" y="465"/>
                  </a:lnTo>
                  <a:lnTo>
                    <a:pt x="0" y="452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1" name="Freeform 1035"/>
            <p:cNvSpPr>
              <a:spLocks/>
            </p:cNvSpPr>
            <p:nvPr/>
          </p:nvSpPr>
          <p:spPr bwMode="auto">
            <a:xfrm>
              <a:off x="2472" y="663"/>
              <a:ext cx="1197" cy="828"/>
            </a:xfrm>
            <a:custGeom>
              <a:avLst/>
              <a:gdLst/>
              <a:ahLst/>
              <a:cxnLst>
                <a:cxn ang="0">
                  <a:pos x="638" y="828"/>
                </a:cxn>
                <a:cxn ang="0">
                  <a:pos x="717" y="668"/>
                </a:cxn>
                <a:cxn ang="0">
                  <a:pos x="693" y="661"/>
                </a:cxn>
                <a:cxn ang="0">
                  <a:pos x="665" y="655"/>
                </a:cxn>
                <a:cxn ang="0">
                  <a:pos x="628" y="648"/>
                </a:cxn>
                <a:cxn ang="0">
                  <a:pos x="599" y="645"/>
                </a:cxn>
                <a:cxn ang="0">
                  <a:pos x="566" y="640"/>
                </a:cxn>
                <a:cxn ang="0">
                  <a:pos x="529" y="638"/>
                </a:cxn>
                <a:cxn ang="0">
                  <a:pos x="491" y="635"/>
                </a:cxn>
                <a:cxn ang="0">
                  <a:pos x="424" y="635"/>
                </a:cxn>
                <a:cxn ang="0">
                  <a:pos x="389" y="637"/>
                </a:cxn>
                <a:cxn ang="0">
                  <a:pos x="356" y="640"/>
                </a:cxn>
                <a:cxn ang="0">
                  <a:pos x="325" y="642"/>
                </a:cxn>
                <a:cxn ang="0">
                  <a:pos x="292" y="648"/>
                </a:cxn>
                <a:cxn ang="0">
                  <a:pos x="260" y="653"/>
                </a:cxn>
                <a:cxn ang="0">
                  <a:pos x="222" y="660"/>
                </a:cxn>
                <a:cxn ang="0">
                  <a:pos x="189" y="668"/>
                </a:cxn>
                <a:cxn ang="0">
                  <a:pos x="275" y="328"/>
                </a:cxn>
                <a:cxn ang="0">
                  <a:pos x="0" y="191"/>
                </a:cxn>
                <a:cxn ang="0">
                  <a:pos x="13" y="188"/>
                </a:cxn>
                <a:cxn ang="0">
                  <a:pos x="42" y="180"/>
                </a:cxn>
                <a:cxn ang="0">
                  <a:pos x="64" y="173"/>
                </a:cxn>
                <a:cxn ang="0">
                  <a:pos x="89" y="168"/>
                </a:cxn>
                <a:cxn ang="0">
                  <a:pos x="118" y="161"/>
                </a:cxn>
                <a:cxn ang="0">
                  <a:pos x="143" y="156"/>
                </a:cxn>
                <a:cxn ang="0">
                  <a:pos x="176" y="150"/>
                </a:cxn>
                <a:cxn ang="0">
                  <a:pos x="204" y="147"/>
                </a:cxn>
                <a:cxn ang="0">
                  <a:pos x="237" y="142"/>
                </a:cxn>
                <a:cxn ang="0">
                  <a:pos x="272" y="138"/>
                </a:cxn>
                <a:cxn ang="0">
                  <a:pos x="305" y="135"/>
                </a:cxn>
                <a:cxn ang="0">
                  <a:pos x="343" y="133"/>
                </a:cxn>
                <a:cxn ang="0">
                  <a:pos x="379" y="132"/>
                </a:cxn>
                <a:cxn ang="0">
                  <a:pos x="414" y="132"/>
                </a:cxn>
                <a:cxn ang="0">
                  <a:pos x="452" y="132"/>
                </a:cxn>
                <a:cxn ang="0">
                  <a:pos x="500" y="132"/>
                </a:cxn>
                <a:cxn ang="0">
                  <a:pos x="541" y="132"/>
                </a:cxn>
                <a:cxn ang="0">
                  <a:pos x="569" y="133"/>
                </a:cxn>
                <a:cxn ang="0">
                  <a:pos x="603" y="137"/>
                </a:cxn>
                <a:cxn ang="0">
                  <a:pos x="638" y="138"/>
                </a:cxn>
                <a:cxn ang="0">
                  <a:pos x="676" y="143"/>
                </a:cxn>
                <a:cxn ang="0">
                  <a:pos x="711" y="148"/>
                </a:cxn>
                <a:cxn ang="0">
                  <a:pos x="740" y="153"/>
                </a:cxn>
                <a:cxn ang="0">
                  <a:pos x="782" y="161"/>
                </a:cxn>
                <a:cxn ang="0">
                  <a:pos x="813" y="168"/>
                </a:cxn>
                <a:cxn ang="0">
                  <a:pos x="851" y="176"/>
                </a:cxn>
                <a:cxn ang="0">
                  <a:pos x="881" y="181"/>
                </a:cxn>
                <a:cxn ang="0">
                  <a:pos x="915" y="191"/>
                </a:cxn>
                <a:cxn ang="0">
                  <a:pos x="950" y="201"/>
                </a:cxn>
                <a:cxn ang="0">
                  <a:pos x="1052" y="0"/>
                </a:cxn>
                <a:cxn ang="0">
                  <a:pos x="1197" y="561"/>
                </a:cxn>
                <a:cxn ang="0">
                  <a:pos x="638" y="828"/>
                </a:cxn>
              </a:cxnLst>
              <a:rect l="0" t="0" r="r" b="b"/>
              <a:pathLst>
                <a:path w="1197" h="828">
                  <a:moveTo>
                    <a:pt x="638" y="828"/>
                  </a:moveTo>
                  <a:lnTo>
                    <a:pt x="717" y="668"/>
                  </a:lnTo>
                  <a:lnTo>
                    <a:pt x="693" y="661"/>
                  </a:lnTo>
                  <a:lnTo>
                    <a:pt x="665" y="655"/>
                  </a:lnTo>
                  <a:lnTo>
                    <a:pt x="628" y="648"/>
                  </a:lnTo>
                  <a:lnTo>
                    <a:pt x="599" y="645"/>
                  </a:lnTo>
                  <a:lnTo>
                    <a:pt x="566" y="640"/>
                  </a:lnTo>
                  <a:lnTo>
                    <a:pt x="529" y="638"/>
                  </a:lnTo>
                  <a:lnTo>
                    <a:pt x="491" y="635"/>
                  </a:lnTo>
                  <a:lnTo>
                    <a:pt x="424" y="635"/>
                  </a:lnTo>
                  <a:lnTo>
                    <a:pt x="389" y="637"/>
                  </a:lnTo>
                  <a:lnTo>
                    <a:pt x="356" y="640"/>
                  </a:lnTo>
                  <a:lnTo>
                    <a:pt x="325" y="642"/>
                  </a:lnTo>
                  <a:lnTo>
                    <a:pt x="292" y="648"/>
                  </a:lnTo>
                  <a:lnTo>
                    <a:pt x="260" y="653"/>
                  </a:lnTo>
                  <a:lnTo>
                    <a:pt x="222" y="660"/>
                  </a:lnTo>
                  <a:lnTo>
                    <a:pt x="189" y="668"/>
                  </a:lnTo>
                  <a:lnTo>
                    <a:pt x="275" y="328"/>
                  </a:lnTo>
                  <a:lnTo>
                    <a:pt x="0" y="191"/>
                  </a:lnTo>
                  <a:lnTo>
                    <a:pt x="13" y="188"/>
                  </a:lnTo>
                  <a:lnTo>
                    <a:pt x="42" y="180"/>
                  </a:lnTo>
                  <a:lnTo>
                    <a:pt x="64" y="173"/>
                  </a:lnTo>
                  <a:lnTo>
                    <a:pt x="89" y="168"/>
                  </a:lnTo>
                  <a:lnTo>
                    <a:pt x="118" y="161"/>
                  </a:lnTo>
                  <a:lnTo>
                    <a:pt x="143" y="156"/>
                  </a:lnTo>
                  <a:lnTo>
                    <a:pt x="176" y="150"/>
                  </a:lnTo>
                  <a:lnTo>
                    <a:pt x="204" y="147"/>
                  </a:lnTo>
                  <a:lnTo>
                    <a:pt x="237" y="142"/>
                  </a:lnTo>
                  <a:lnTo>
                    <a:pt x="272" y="138"/>
                  </a:lnTo>
                  <a:lnTo>
                    <a:pt x="305" y="135"/>
                  </a:lnTo>
                  <a:lnTo>
                    <a:pt x="343" y="133"/>
                  </a:lnTo>
                  <a:lnTo>
                    <a:pt x="379" y="132"/>
                  </a:lnTo>
                  <a:lnTo>
                    <a:pt x="414" y="132"/>
                  </a:lnTo>
                  <a:lnTo>
                    <a:pt x="452" y="132"/>
                  </a:lnTo>
                  <a:lnTo>
                    <a:pt x="500" y="132"/>
                  </a:lnTo>
                  <a:lnTo>
                    <a:pt x="541" y="132"/>
                  </a:lnTo>
                  <a:lnTo>
                    <a:pt x="569" y="133"/>
                  </a:lnTo>
                  <a:lnTo>
                    <a:pt x="603" y="137"/>
                  </a:lnTo>
                  <a:lnTo>
                    <a:pt x="638" y="138"/>
                  </a:lnTo>
                  <a:lnTo>
                    <a:pt x="676" y="143"/>
                  </a:lnTo>
                  <a:lnTo>
                    <a:pt x="711" y="148"/>
                  </a:lnTo>
                  <a:lnTo>
                    <a:pt x="740" y="153"/>
                  </a:lnTo>
                  <a:lnTo>
                    <a:pt x="782" y="161"/>
                  </a:lnTo>
                  <a:lnTo>
                    <a:pt x="813" y="168"/>
                  </a:lnTo>
                  <a:lnTo>
                    <a:pt x="851" y="176"/>
                  </a:lnTo>
                  <a:lnTo>
                    <a:pt x="881" y="181"/>
                  </a:lnTo>
                  <a:lnTo>
                    <a:pt x="915" y="191"/>
                  </a:lnTo>
                  <a:lnTo>
                    <a:pt x="950" y="201"/>
                  </a:lnTo>
                  <a:lnTo>
                    <a:pt x="1052" y="0"/>
                  </a:lnTo>
                  <a:lnTo>
                    <a:pt x="1197" y="561"/>
                  </a:lnTo>
                  <a:lnTo>
                    <a:pt x="638" y="828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2" name="Rectangle 1036"/>
            <p:cNvSpPr>
              <a:spLocks noChangeArrowheads="1"/>
            </p:cNvSpPr>
            <p:nvPr/>
          </p:nvSpPr>
          <p:spPr bwMode="auto">
            <a:xfrm>
              <a:off x="2800" y="763"/>
              <a:ext cx="604" cy="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3" name="Rectangle 1037"/>
            <p:cNvSpPr>
              <a:spLocks noChangeArrowheads="1"/>
            </p:cNvSpPr>
            <p:nvPr/>
          </p:nvSpPr>
          <p:spPr bwMode="auto">
            <a:xfrm>
              <a:off x="2932" y="790"/>
              <a:ext cx="275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4" name="Rectangle 1038"/>
            <p:cNvSpPr>
              <a:spLocks noChangeArrowheads="1"/>
            </p:cNvSpPr>
            <p:nvPr/>
          </p:nvSpPr>
          <p:spPr bwMode="auto">
            <a:xfrm>
              <a:off x="2932" y="798"/>
              <a:ext cx="28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Obtain </a:t>
              </a:r>
              <a:endParaRPr lang="en-US"/>
            </a:p>
          </p:txBody>
        </p:sp>
        <p:sp>
          <p:nvSpPr>
            <p:cNvPr id="102415" name="Rectangle 1039"/>
            <p:cNvSpPr>
              <a:spLocks noChangeArrowheads="1"/>
            </p:cNvSpPr>
            <p:nvPr/>
          </p:nvSpPr>
          <p:spPr bwMode="auto">
            <a:xfrm>
              <a:off x="2884" y="910"/>
              <a:ext cx="371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6" name="Rectangle 1040"/>
            <p:cNvSpPr>
              <a:spLocks noChangeArrowheads="1"/>
            </p:cNvSpPr>
            <p:nvPr/>
          </p:nvSpPr>
          <p:spPr bwMode="auto">
            <a:xfrm>
              <a:off x="2884" y="918"/>
              <a:ext cx="38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Executive</a:t>
              </a:r>
              <a:endParaRPr lang="en-US"/>
            </a:p>
          </p:txBody>
        </p:sp>
        <p:sp>
          <p:nvSpPr>
            <p:cNvPr id="102417" name="Rectangle 1041"/>
            <p:cNvSpPr>
              <a:spLocks noChangeArrowheads="1"/>
            </p:cNvSpPr>
            <p:nvPr/>
          </p:nvSpPr>
          <p:spPr bwMode="auto">
            <a:xfrm>
              <a:off x="2848" y="1031"/>
              <a:ext cx="421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8" name="Rectangle 1042"/>
            <p:cNvSpPr>
              <a:spLocks noChangeArrowheads="1"/>
            </p:cNvSpPr>
            <p:nvPr/>
          </p:nvSpPr>
          <p:spPr bwMode="auto">
            <a:xfrm>
              <a:off x="2848" y="1038"/>
              <a:ext cx="16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Buy</a:t>
              </a:r>
              <a:endParaRPr lang="en-US"/>
            </a:p>
          </p:txBody>
        </p:sp>
        <p:sp>
          <p:nvSpPr>
            <p:cNvPr id="102419" name="Rectangle 1043"/>
            <p:cNvSpPr>
              <a:spLocks noChangeArrowheads="1"/>
            </p:cNvSpPr>
            <p:nvPr/>
          </p:nvSpPr>
          <p:spPr bwMode="auto">
            <a:xfrm>
              <a:off x="3001" y="1038"/>
              <a:ext cx="3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/>
            </a:p>
          </p:txBody>
        </p:sp>
        <p:sp>
          <p:nvSpPr>
            <p:cNvPr id="102420" name="Rectangle 1044"/>
            <p:cNvSpPr>
              <a:spLocks noChangeArrowheads="1"/>
            </p:cNvSpPr>
            <p:nvPr/>
          </p:nvSpPr>
          <p:spPr bwMode="auto">
            <a:xfrm>
              <a:off x="3031" y="1038"/>
              <a:ext cx="24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In and</a:t>
              </a:r>
              <a:endParaRPr lang="en-US"/>
            </a:p>
          </p:txBody>
        </p:sp>
        <p:sp>
          <p:nvSpPr>
            <p:cNvPr id="102421" name="Rectangle 1045"/>
            <p:cNvSpPr>
              <a:spLocks noChangeArrowheads="1"/>
            </p:cNvSpPr>
            <p:nvPr/>
          </p:nvSpPr>
          <p:spPr bwMode="auto">
            <a:xfrm>
              <a:off x="2919" y="1149"/>
              <a:ext cx="293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22" name="Rectangle 1046"/>
            <p:cNvSpPr>
              <a:spLocks noChangeArrowheads="1"/>
            </p:cNvSpPr>
            <p:nvPr/>
          </p:nvSpPr>
          <p:spPr bwMode="auto">
            <a:xfrm>
              <a:off x="2919" y="1157"/>
              <a:ext cx="30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Support</a:t>
              </a:r>
              <a:endParaRPr lang="en-US"/>
            </a:p>
          </p:txBody>
        </p:sp>
        <p:sp>
          <p:nvSpPr>
            <p:cNvPr id="102423" name="Rectangle 1047"/>
            <p:cNvSpPr>
              <a:spLocks noChangeArrowheads="1"/>
            </p:cNvSpPr>
            <p:nvPr/>
          </p:nvSpPr>
          <p:spPr bwMode="auto">
            <a:xfrm>
              <a:off x="3557" y="1182"/>
              <a:ext cx="680" cy="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24" name="Rectangle 1048"/>
            <p:cNvSpPr>
              <a:spLocks noChangeArrowheads="1"/>
            </p:cNvSpPr>
            <p:nvPr/>
          </p:nvSpPr>
          <p:spPr bwMode="auto">
            <a:xfrm>
              <a:off x="3676" y="1209"/>
              <a:ext cx="365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25" name="Rectangle 1049"/>
            <p:cNvSpPr>
              <a:spLocks noChangeArrowheads="1"/>
            </p:cNvSpPr>
            <p:nvPr/>
          </p:nvSpPr>
          <p:spPr bwMode="auto">
            <a:xfrm>
              <a:off x="3676" y="1217"/>
              <a:ext cx="37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Establish </a:t>
              </a:r>
              <a:endParaRPr lang="en-US"/>
            </a:p>
          </p:txBody>
        </p:sp>
        <p:sp>
          <p:nvSpPr>
            <p:cNvPr id="102426" name="Rectangle 1050"/>
            <p:cNvSpPr>
              <a:spLocks noChangeArrowheads="1"/>
            </p:cNvSpPr>
            <p:nvPr/>
          </p:nvSpPr>
          <p:spPr bwMode="auto">
            <a:xfrm>
              <a:off x="3603" y="1329"/>
              <a:ext cx="486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27" name="Rectangle 1051"/>
            <p:cNvSpPr>
              <a:spLocks noChangeArrowheads="1"/>
            </p:cNvSpPr>
            <p:nvPr/>
          </p:nvSpPr>
          <p:spPr bwMode="auto">
            <a:xfrm>
              <a:off x="3603" y="1337"/>
              <a:ext cx="50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Management</a:t>
              </a:r>
              <a:endParaRPr lang="en-US"/>
            </a:p>
          </p:txBody>
        </p:sp>
        <p:sp>
          <p:nvSpPr>
            <p:cNvPr id="102428" name="Rectangle 1052"/>
            <p:cNvSpPr>
              <a:spLocks noChangeArrowheads="1"/>
            </p:cNvSpPr>
            <p:nvPr/>
          </p:nvSpPr>
          <p:spPr bwMode="auto">
            <a:xfrm>
              <a:off x="3681" y="1448"/>
              <a:ext cx="34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29" name="Rectangle 1053"/>
            <p:cNvSpPr>
              <a:spLocks noChangeArrowheads="1"/>
            </p:cNvSpPr>
            <p:nvPr/>
          </p:nvSpPr>
          <p:spPr bwMode="auto">
            <a:xfrm>
              <a:off x="3681" y="1456"/>
              <a:ext cx="3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Structure</a:t>
              </a:r>
              <a:endParaRPr lang="en-US"/>
            </a:p>
          </p:txBody>
        </p:sp>
        <p:sp>
          <p:nvSpPr>
            <p:cNvPr id="102430" name="Rectangle 1054"/>
            <p:cNvSpPr>
              <a:spLocks noChangeArrowheads="1"/>
            </p:cNvSpPr>
            <p:nvPr/>
          </p:nvSpPr>
          <p:spPr bwMode="auto">
            <a:xfrm>
              <a:off x="3727" y="1564"/>
              <a:ext cx="46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31" name="Rectangle 1055"/>
            <p:cNvSpPr>
              <a:spLocks noChangeArrowheads="1"/>
            </p:cNvSpPr>
            <p:nvPr/>
          </p:nvSpPr>
          <p:spPr bwMode="auto">
            <a:xfrm>
              <a:off x="3750" y="1571"/>
              <a:ext cx="45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and Control</a:t>
              </a:r>
              <a:endParaRPr lang="en-US"/>
            </a:p>
          </p:txBody>
        </p:sp>
        <p:sp>
          <p:nvSpPr>
            <p:cNvPr id="102432" name="Rectangle 1056"/>
            <p:cNvSpPr>
              <a:spLocks noChangeArrowheads="1"/>
            </p:cNvSpPr>
            <p:nvPr/>
          </p:nvSpPr>
          <p:spPr bwMode="auto">
            <a:xfrm>
              <a:off x="3737" y="1976"/>
              <a:ext cx="734" cy="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33" name="Rectangle 1057"/>
            <p:cNvSpPr>
              <a:spLocks noChangeArrowheads="1"/>
            </p:cNvSpPr>
            <p:nvPr/>
          </p:nvSpPr>
          <p:spPr bwMode="auto">
            <a:xfrm>
              <a:off x="3891" y="2004"/>
              <a:ext cx="36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34" name="Rectangle 1058"/>
            <p:cNvSpPr>
              <a:spLocks noChangeArrowheads="1"/>
            </p:cNvSpPr>
            <p:nvPr/>
          </p:nvSpPr>
          <p:spPr bwMode="auto">
            <a:xfrm>
              <a:off x="3891" y="2012"/>
              <a:ext cx="37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Define an</a:t>
              </a:r>
              <a:endParaRPr lang="en-US"/>
            </a:p>
          </p:txBody>
        </p:sp>
        <p:sp>
          <p:nvSpPr>
            <p:cNvPr id="102435" name="Rectangle 1059"/>
            <p:cNvSpPr>
              <a:spLocks noChangeArrowheads="1"/>
            </p:cNvSpPr>
            <p:nvPr/>
          </p:nvSpPr>
          <p:spPr bwMode="auto">
            <a:xfrm>
              <a:off x="3925" y="2118"/>
              <a:ext cx="46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36" name="Rectangle 1060"/>
            <p:cNvSpPr>
              <a:spLocks noChangeArrowheads="1"/>
            </p:cNvSpPr>
            <p:nvPr/>
          </p:nvSpPr>
          <p:spPr bwMode="auto">
            <a:xfrm>
              <a:off x="3925" y="2126"/>
              <a:ext cx="48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Architecture</a:t>
              </a:r>
              <a:endParaRPr lang="en-US"/>
            </a:p>
          </p:txBody>
        </p:sp>
        <p:sp>
          <p:nvSpPr>
            <p:cNvPr id="102437" name="Rectangle 1061"/>
            <p:cNvSpPr>
              <a:spLocks noChangeArrowheads="1"/>
            </p:cNvSpPr>
            <p:nvPr/>
          </p:nvSpPr>
          <p:spPr bwMode="auto">
            <a:xfrm>
              <a:off x="3935" y="2245"/>
              <a:ext cx="28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38" name="Rectangle 1062"/>
            <p:cNvSpPr>
              <a:spLocks noChangeArrowheads="1"/>
            </p:cNvSpPr>
            <p:nvPr/>
          </p:nvSpPr>
          <p:spPr bwMode="auto">
            <a:xfrm>
              <a:off x="3935" y="2253"/>
              <a:ext cx="29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Process</a:t>
              </a:r>
              <a:endParaRPr lang="en-US"/>
            </a:p>
          </p:txBody>
        </p:sp>
        <p:sp>
          <p:nvSpPr>
            <p:cNvPr id="102439" name="Rectangle 1063"/>
            <p:cNvSpPr>
              <a:spLocks noChangeArrowheads="1"/>
            </p:cNvSpPr>
            <p:nvPr/>
          </p:nvSpPr>
          <p:spPr bwMode="auto">
            <a:xfrm>
              <a:off x="3846" y="2356"/>
              <a:ext cx="523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40" name="Rectangle 1064"/>
            <p:cNvSpPr>
              <a:spLocks noChangeArrowheads="1"/>
            </p:cNvSpPr>
            <p:nvPr/>
          </p:nvSpPr>
          <p:spPr bwMode="auto">
            <a:xfrm>
              <a:off x="3846" y="2363"/>
              <a:ext cx="54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and Approach</a:t>
              </a:r>
              <a:endParaRPr lang="en-US"/>
            </a:p>
          </p:txBody>
        </p:sp>
        <p:sp>
          <p:nvSpPr>
            <p:cNvPr id="102441" name="Rectangle 1065"/>
            <p:cNvSpPr>
              <a:spLocks noChangeArrowheads="1"/>
            </p:cNvSpPr>
            <p:nvPr/>
          </p:nvSpPr>
          <p:spPr bwMode="auto">
            <a:xfrm>
              <a:off x="3255" y="2672"/>
              <a:ext cx="665" cy="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42" name="Rectangle 1066"/>
            <p:cNvSpPr>
              <a:spLocks noChangeArrowheads="1"/>
            </p:cNvSpPr>
            <p:nvPr/>
          </p:nvSpPr>
          <p:spPr bwMode="auto">
            <a:xfrm>
              <a:off x="3435" y="2707"/>
              <a:ext cx="50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43" name="Rectangle 1067"/>
            <p:cNvSpPr>
              <a:spLocks noChangeArrowheads="1"/>
            </p:cNvSpPr>
            <p:nvPr/>
          </p:nvSpPr>
          <p:spPr bwMode="auto">
            <a:xfrm>
              <a:off x="3620" y="2715"/>
              <a:ext cx="32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Develop</a:t>
              </a:r>
              <a:endParaRPr lang="en-US"/>
            </a:p>
          </p:txBody>
        </p:sp>
        <p:sp>
          <p:nvSpPr>
            <p:cNvPr id="102444" name="Rectangle 1068"/>
            <p:cNvSpPr>
              <a:spLocks noChangeArrowheads="1"/>
            </p:cNvSpPr>
            <p:nvPr/>
          </p:nvSpPr>
          <p:spPr bwMode="auto">
            <a:xfrm>
              <a:off x="3325" y="2819"/>
              <a:ext cx="458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45" name="Rectangle 1069"/>
            <p:cNvSpPr>
              <a:spLocks noChangeArrowheads="1"/>
            </p:cNvSpPr>
            <p:nvPr/>
          </p:nvSpPr>
          <p:spPr bwMode="auto">
            <a:xfrm>
              <a:off x="3440" y="2827"/>
              <a:ext cx="35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Baseline </a:t>
              </a:r>
              <a:endParaRPr lang="en-US"/>
            </a:p>
          </p:txBody>
        </p:sp>
        <p:sp>
          <p:nvSpPr>
            <p:cNvPr id="102446" name="Rectangle 1070"/>
            <p:cNvSpPr>
              <a:spLocks noChangeArrowheads="1"/>
            </p:cNvSpPr>
            <p:nvPr/>
          </p:nvSpPr>
          <p:spPr bwMode="auto">
            <a:xfrm>
              <a:off x="3336" y="2940"/>
              <a:ext cx="40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47" name="Rectangle 1071"/>
            <p:cNvSpPr>
              <a:spLocks noChangeArrowheads="1"/>
            </p:cNvSpPr>
            <p:nvPr/>
          </p:nvSpPr>
          <p:spPr bwMode="auto">
            <a:xfrm>
              <a:off x="3359" y="2947"/>
              <a:ext cx="39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Enterprise</a:t>
              </a:r>
              <a:endParaRPr lang="en-US"/>
            </a:p>
          </p:txBody>
        </p:sp>
        <p:sp>
          <p:nvSpPr>
            <p:cNvPr id="102448" name="Rectangle 1072"/>
            <p:cNvSpPr>
              <a:spLocks noChangeArrowheads="1"/>
            </p:cNvSpPr>
            <p:nvPr/>
          </p:nvSpPr>
          <p:spPr bwMode="auto">
            <a:xfrm>
              <a:off x="3303" y="3059"/>
              <a:ext cx="46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49" name="Rectangle 1073"/>
            <p:cNvSpPr>
              <a:spLocks noChangeArrowheads="1"/>
            </p:cNvSpPr>
            <p:nvPr/>
          </p:nvSpPr>
          <p:spPr bwMode="auto">
            <a:xfrm>
              <a:off x="3303" y="3066"/>
              <a:ext cx="48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Architecture</a:t>
              </a:r>
              <a:endParaRPr lang="en-US"/>
            </a:p>
          </p:txBody>
        </p:sp>
        <p:sp>
          <p:nvSpPr>
            <p:cNvPr id="102450" name="Rectangle 1074"/>
            <p:cNvSpPr>
              <a:spLocks noChangeArrowheads="1"/>
            </p:cNvSpPr>
            <p:nvPr/>
          </p:nvSpPr>
          <p:spPr bwMode="auto">
            <a:xfrm>
              <a:off x="2528" y="2870"/>
              <a:ext cx="663" cy="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51" name="Rectangle 1075"/>
            <p:cNvSpPr>
              <a:spLocks noChangeArrowheads="1"/>
            </p:cNvSpPr>
            <p:nvPr/>
          </p:nvSpPr>
          <p:spPr bwMode="auto">
            <a:xfrm>
              <a:off x="2678" y="2918"/>
              <a:ext cx="378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52" name="Rectangle 1076"/>
            <p:cNvSpPr>
              <a:spLocks noChangeArrowheads="1"/>
            </p:cNvSpPr>
            <p:nvPr/>
          </p:nvSpPr>
          <p:spPr bwMode="auto">
            <a:xfrm>
              <a:off x="2678" y="2926"/>
              <a:ext cx="32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Develop</a:t>
              </a:r>
              <a:endParaRPr lang="en-US"/>
            </a:p>
          </p:txBody>
        </p:sp>
        <p:sp>
          <p:nvSpPr>
            <p:cNvPr id="102453" name="Rectangle 1077"/>
            <p:cNvSpPr>
              <a:spLocks noChangeArrowheads="1"/>
            </p:cNvSpPr>
            <p:nvPr/>
          </p:nvSpPr>
          <p:spPr bwMode="auto">
            <a:xfrm>
              <a:off x="2708" y="3019"/>
              <a:ext cx="242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54" name="Rectangle 1078"/>
            <p:cNvSpPr>
              <a:spLocks noChangeArrowheads="1"/>
            </p:cNvSpPr>
            <p:nvPr/>
          </p:nvSpPr>
          <p:spPr bwMode="auto">
            <a:xfrm>
              <a:off x="2708" y="3027"/>
              <a:ext cx="25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Target</a:t>
              </a:r>
              <a:endParaRPr lang="en-US"/>
            </a:p>
          </p:txBody>
        </p:sp>
        <p:sp>
          <p:nvSpPr>
            <p:cNvPr id="102455" name="Rectangle 1079"/>
            <p:cNvSpPr>
              <a:spLocks noChangeArrowheads="1"/>
            </p:cNvSpPr>
            <p:nvPr/>
          </p:nvSpPr>
          <p:spPr bwMode="auto">
            <a:xfrm>
              <a:off x="2609" y="3138"/>
              <a:ext cx="40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56" name="Rectangle 1080"/>
            <p:cNvSpPr>
              <a:spLocks noChangeArrowheads="1"/>
            </p:cNvSpPr>
            <p:nvPr/>
          </p:nvSpPr>
          <p:spPr bwMode="auto">
            <a:xfrm>
              <a:off x="2609" y="3145"/>
              <a:ext cx="42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Enterprise </a:t>
              </a:r>
              <a:endParaRPr lang="en-US"/>
            </a:p>
          </p:txBody>
        </p:sp>
        <p:sp>
          <p:nvSpPr>
            <p:cNvPr id="102457" name="Rectangle 1081"/>
            <p:cNvSpPr>
              <a:spLocks noChangeArrowheads="1"/>
            </p:cNvSpPr>
            <p:nvPr/>
          </p:nvSpPr>
          <p:spPr bwMode="auto">
            <a:xfrm>
              <a:off x="2576" y="3258"/>
              <a:ext cx="463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58" name="Rectangle 1082"/>
            <p:cNvSpPr>
              <a:spLocks noChangeArrowheads="1"/>
            </p:cNvSpPr>
            <p:nvPr/>
          </p:nvSpPr>
          <p:spPr bwMode="auto">
            <a:xfrm>
              <a:off x="2576" y="3266"/>
              <a:ext cx="48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Architecture</a:t>
              </a:r>
              <a:endParaRPr lang="en-US"/>
            </a:p>
          </p:txBody>
        </p:sp>
        <p:sp>
          <p:nvSpPr>
            <p:cNvPr id="102459" name="Rectangle 1083"/>
            <p:cNvSpPr>
              <a:spLocks noChangeArrowheads="1"/>
            </p:cNvSpPr>
            <p:nvPr/>
          </p:nvSpPr>
          <p:spPr bwMode="auto">
            <a:xfrm>
              <a:off x="1708" y="2564"/>
              <a:ext cx="83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60" name="Rectangle 1084"/>
            <p:cNvSpPr>
              <a:spLocks noChangeArrowheads="1"/>
            </p:cNvSpPr>
            <p:nvPr/>
          </p:nvSpPr>
          <p:spPr bwMode="auto">
            <a:xfrm>
              <a:off x="1694" y="2588"/>
              <a:ext cx="453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61" name="Rectangle 1085"/>
            <p:cNvSpPr>
              <a:spLocks noChangeArrowheads="1"/>
            </p:cNvSpPr>
            <p:nvPr/>
          </p:nvSpPr>
          <p:spPr bwMode="auto">
            <a:xfrm>
              <a:off x="1694" y="2596"/>
              <a:ext cx="46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Develop the</a:t>
              </a:r>
              <a:endParaRPr lang="en-US"/>
            </a:p>
          </p:txBody>
        </p:sp>
        <p:sp>
          <p:nvSpPr>
            <p:cNvPr id="102462" name="Rectangle 1086"/>
            <p:cNvSpPr>
              <a:spLocks noChangeArrowheads="1"/>
            </p:cNvSpPr>
            <p:nvPr/>
          </p:nvSpPr>
          <p:spPr bwMode="auto">
            <a:xfrm>
              <a:off x="1668" y="2709"/>
              <a:ext cx="62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63" name="Rectangle 1087"/>
            <p:cNvSpPr>
              <a:spLocks noChangeArrowheads="1"/>
            </p:cNvSpPr>
            <p:nvPr/>
          </p:nvSpPr>
          <p:spPr bwMode="auto">
            <a:xfrm>
              <a:off x="1668" y="2716"/>
              <a:ext cx="64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Sequencing Plan</a:t>
              </a:r>
              <a:endParaRPr lang="en-US"/>
            </a:p>
          </p:txBody>
        </p:sp>
        <p:sp>
          <p:nvSpPr>
            <p:cNvPr id="102464" name="Rectangle 1088"/>
            <p:cNvSpPr>
              <a:spLocks noChangeArrowheads="1"/>
            </p:cNvSpPr>
            <p:nvPr/>
          </p:nvSpPr>
          <p:spPr bwMode="auto">
            <a:xfrm>
              <a:off x="1463" y="1833"/>
              <a:ext cx="664" cy="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65" name="Rectangle 1089"/>
            <p:cNvSpPr>
              <a:spLocks noChangeArrowheads="1"/>
            </p:cNvSpPr>
            <p:nvPr/>
          </p:nvSpPr>
          <p:spPr bwMode="auto">
            <a:xfrm>
              <a:off x="1584" y="1715"/>
              <a:ext cx="147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66" name="Rectangle 1090"/>
            <p:cNvSpPr>
              <a:spLocks noChangeArrowheads="1"/>
            </p:cNvSpPr>
            <p:nvPr/>
          </p:nvSpPr>
          <p:spPr bwMode="auto">
            <a:xfrm>
              <a:off x="1584" y="1723"/>
              <a:ext cx="14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Use</a:t>
              </a:r>
              <a:endParaRPr lang="en-US"/>
            </a:p>
          </p:txBody>
        </p:sp>
        <p:sp>
          <p:nvSpPr>
            <p:cNvPr id="102467" name="Rectangle 1091"/>
            <p:cNvSpPr>
              <a:spLocks noChangeArrowheads="1"/>
            </p:cNvSpPr>
            <p:nvPr/>
          </p:nvSpPr>
          <p:spPr bwMode="auto">
            <a:xfrm>
              <a:off x="1582" y="1834"/>
              <a:ext cx="137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68" name="Rectangle 1092"/>
            <p:cNvSpPr>
              <a:spLocks noChangeArrowheads="1"/>
            </p:cNvSpPr>
            <p:nvPr/>
          </p:nvSpPr>
          <p:spPr bwMode="auto">
            <a:xfrm>
              <a:off x="1582" y="1842"/>
              <a:ext cx="14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the </a:t>
              </a:r>
              <a:endParaRPr lang="en-US"/>
            </a:p>
          </p:txBody>
        </p:sp>
        <p:sp>
          <p:nvSpPr>
            <p:cNvPr id="102469" name="Rectangle 1093"/>
            <p:cNvSpPr>
              <a:spLocks noChangeArrowheads="1"/>
            </p:cNvSpPr>
            <p:nvPr/>
          </p:nvSpPr>
          <p:spPr bwMode="auto">
            <a:xfrm>
              <a:off x="1427" y="1955"/>
              <a:ext cx="381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70" name="Rectangle 1094"/>
            <p:cNvSpPr>
              <a:spLocks noChangeArrowheads="1"/>
            </p:cNvSpPr>
            <p:nvPr/>
          </p:nvSpPr>
          <p:spPr bwMode="auto">
            <a:xfrm>
              <a:off x="1427" y="1962"/>
              <a:ext cx="39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Enterprise</a:t>
              </a:r>
              <a:endParaRPr lang="en-US"/>
            </a:p>
          </p:txBody>
        </p:sp>
        <p:sp>
          <p:nvSpPr>
            <p:cNvPr id="102471" name="Rectangle 1095"/>
            <p:cNvSpPr>
              <a:spLocks noChangeArrowheads="1"/>
            </p:cNvSpPr>
            <p:nvPr/>
          </p:nvSpPr>
          <p:spPr bwMode="auto">
            <a:xfrm>
              <a:off x="1460" y="2075"/>
              <a:ext cx="46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72" name="Rectangle 1096"/>
            <p:cNvSpPr>
              <a:spLocks noChangeArrowheads="1"/>
            </p:cNvSpPr>
            <p:nvPr/>
          </p:nvSpPr>
          <p:spPr bwMode="auto">
            <a:xfrm>
              <a:off x="1460" y="2083"/>
              <a:ext cx="48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Architecture</a:t>
              </a:r>
              <a:endParaRPr lang="en-US"/>
            </a:p>
          </p:txBody>
        </p:sp>
        <p:sp>
          <p:nvSpPr>
            <p:cNvPr id="102473" name="Rectangle 1097"/>
            <p:cNvSpPr>
              <a:spLocks noChangeArrowheads="1"/>
            </p:cNvSpPr>
            <p:nvPr/>
          </p:nvSpPr>
          <p:spPr bwMode="auto">
            <a:xfrm>
              <a:off x="1409" y="1278"/>
              <a:ext cx="1115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74" name="Rectangle 1098"/>
            <p:cNvSpPr>
              <a:spLocks noChangeArrowheads="1"/>
            </p:cNvSpPr>
            <p:nvPr/>
          </p:nvSpPr>
          <p:spPr bwMode="auto">
            <a:xfrm>
              <a:off x="1681" y="1060"/>
              <a:ext cx="865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75" name="Rectangle 1099"/>
            <p:cNvSpPr>
              <a:spLocks noChangeArrowheads="1"/>
            </p:cNvSpPr>
            <p:nvPr/>
          </p:nvSpPr>
          <p:spPr bwMode="auto">
            <a:xfrm>
              <a:off x="2074" y="1068"/>
              <a:ext cx="49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Maintain the</a:t>
              </a:r>
              <a:endParaRPr lang="en-US"/>
            </a:p>
          </p:txBody>
        </p:sp>
        <p:sp>
          <p:nvSpPr>
            <p:cNvPr id="102476" name="Rectangle 1100"/>
            <p:cNvSpPr>
              <a:spLocks noChangeArrowheads="1"/>
            </p:cNvSpPr>
            <p:nvPr/>
          </p:nvSpPr>
          <p:spPr bwMode="auto">
            <a:xfrm>
              <a:off x="1769" y="1181"/>
              <a:ext cx="543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77" name="Rectangle 1101"/>
            <p:cNvSpPr>
              <a:spLocks noChangeArrowheads="1"/>
            </p:cNvSpPr>
            <p:nvPr/>
          </p:nvSpPr>
          <p:spPr bwMode="auto">
            <a:xfrm>
              <a:off x="1907" y="1189"/>
              <a:ext cx="42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Enterprise </a:t>
              </a:r>
              <a:endParaRPr lang="en-US"/>
            </a:p>
          </p:txBody>
        </p:sp>
        <p:sp>
          <p:nvSpPr>
            <p:cNvPr id="102478" name="Rectangle 1102"/>
            <p:cNvSpPr>
              <a:spLocks noChangeArrowheads="1"/>
            </p:cNvSpPr>
            <p:nvPr/>
          </p:nvSpPr>
          <p:spPr bwMode="auto">
            <a:xfrm>
              <a:off x="1813" y="1300"/>
              <a:ext cx="464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79" name="Rectangle 1103"/>
            <p:cNvSpPr>
              <a:spLocks noChangeArrowheads="1"/>
            </p:cNvSpPr>
            <p:nvPr/>
          </p:nvSpPr>
          <p:spPr bwMode="auto">
            <a:xfrm>
              <a:off x="1813" y="1307"/>
              <a:ext cx="48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Architecture</a:t>
              </a:r>
              <a:endParaRPr lang="en-US"/>
            </a:p>
          </p:txBody>
        </p:sp>
        <p:sp>
          <p:nvSpPr>
            <p:cNvPr id="102480" name="Rectangle 1104"/>
            <p:cNvSpPr>
              <a:spLocks noChangeArrowheads="1"/>
            </p:cNvSpPr>
            <p:nvPr/>
          </p:nvSpPr>
          <p:spPr bwMode="auto">
            <a:xfrm>
              <a:off x="2830" y="613"/>
              <a:ext cx="577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81" name="Rectangle 1105"/>
            <p:cNvSpPr>
              <a:spLocks noChangeArrowheads="1"/>
            </p:cNvSpPr>
            <p:nvPr/>
          </p:nvSpPr>
          <p:spPr bwMode="auto">
            <a:xfrm>
              <a:off x="3947" y="2986"/>
              <a:ext cx="498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82" name="Rectangle 1106"/>
            <p:cNvSpPr>
              <a:spLocks noChangeArrowheads="1"/>
            </p:cNvSpPr>
            <p:nvPr/>
          </p:nvSpPr>
          <p:spPr bwMode="auto">
            <a:xfrm>
              <a:off x="2719" y="3324"/>
              <a:ext cx="500" cy="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83" name="Rectangle 1107"/>
            <p:cNvSpPr>
              <a:spLocks noChangeArrowheads="1"/>
            </p:cNvSpPr>
            <p:nvPr/>
          </p:nvSpPr>
          <p:spPr bwMode="auto">
            <a:xfrm>
              <a:off x="1656" y="3101"/>
              <a:ext cx="500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84" name="Rectangle 1108"/>
            <p:cNvSpPr>
              <a:spLocks noChangeArrowheads="1"/>
            </p:cNvSpPr>
            <p:nvPr/>
          </p:nvSpPr>
          <p:spPr bwMode="auto">
            <a:xfrm>
              <a:off x="916" y="2093"/>
              <a:ext cx="498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85" name="Rectangle 1109"/>
            <p:cNvSpPr>
              <a:spLocks noChangeArrowheads="1"/>
            </p:cNvSpPr>
            <p:nvPr/>
          </p:nvSpPr>
          <p:spPr bwMode="auto">
            <a:xfrm>
              <a:off x="1227" y="1235"/>
              <a:ext cx="499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86" name="Rectangle 1110"/>
          <p:cNvSpPr>
            <a:spLocks noGrp="1" noChangeArrowheads="1"/>
          </p:cNvSpPr>
          <p:nvPr>
            <p:ph type="title"/>
          </p:nvPr>
        </p:nvSpPr>
        <p:spPr>
          <a:xfrm>
            <a:off x="609600" y="401638"/>
            <a:ext cx="7772400" cy="1046162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Practical Guide Circle as a Common Reference</a:t>
            </a:r>
            <a:endParaRPr lang="en-US"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04813-BF0D-4306-BE17-3372842C55E4}" type="slidenum">
              <a:rPr lang="en-US"/>
              <a:pPr/>
              <a:t>12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52425"/>
            <a:ext cx="7772400" cy="1095375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What are the OMB</a:t>
            </a:r>
            <a:br>
              <a:rPr lang="en-US" sz="4000">
                <a:solidFill>
                  <a:schemeClr val="tx1"/>
                </a:solidFill>
                <a:latin typeface="Arial" charset="0"/>
              </a:rPr>
            </a:br>
            <a:r>
              <a:rPr lang="en-US" sz="4000">
                <a:solidFill>
                  <a:schemeClr val="tx1"/>
                </a:solidFill>
                <a:latin typeface="Arial" charset="0"/>
              </a:rPr>
              <a:t>FEA Reference Models?</a:t>
            </a:r>
            <a:r>
              <a:rPr lang="en-US" b="1"/>
              <a:t> </a:t>
            </a:r>
          </a:p>
        </p:txBody>
      </p:sp>
      <p:sp>
        <p:nvSpPr>
          <p:cNvPr id="8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54525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Common classification schema for Federal Enterprise Architecture (FEA) – one language across Federal departments</a:t>
            </a:r>
          </a:p>
          <a:p>
            <a:pPr>
              <a:lnSpc>
                <a:spcPct val="4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Five evolving models (schema) 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Performance Reference Model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Business Reference Model 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Service Component Reference Model 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Data Reference Model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Technical Reference Model</a:t>
            </a:r>
          </a:p>
          <a:p>
            <a:pPr lvl="2">
              <a:lnSpc>
                <a:spcPct val="50000"/>
              </a:lnSpc>
              <a:buFont typeface="Wingdings" pitchFamily="2" charset="2"/>
              <a:buNone/>
            </a:pPr>
            <a:endParaRPr lang="en-US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Together models create a framework for Federal decision making on IT investments</a:t>
            </a:r>
          </a:p>
          <a:p>
            <a:pPr lvl="1">
              <a:lnSpc>
                <a:spcPct val="90000"/>
              </a:lnSpc>
            </a:pPr>
            <a:endParaRPr lang="en-US" sz="2400">
              <a:latin typeface="Arial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8FEDC-FA14-4DFA-A25C-6DD20DB04A2A}" type="slidenum">
              <a:rPr lang="en-US"/>
              <a:pPr/>
              <a:t>13</a:t>
            </a:fld>
            <a:endParaRPr 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3375"/>
            <a:ext cx="7772400" cy="641350"/>
          </a:xfrm>
        </p:spPr>
        <p:txBody>
          <a:bodyPr/>
          <a:lstStyle/>
          <a:p>
            <a:r>
              <a:rPr lang="en-US" sz="3600">
                <a:solidFill>
                  <a:schemeClr val="tx1"/>
                </a:solidFill>
                <a:latin typeface="Arial" charset="0"/>
              </a:rPr>
              <a:t>Federal Enterprise Architecture </a:t>
            </a:r>
            <a:endParaRPr lang="en-US" sz="2800"/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609600"/>
            <a:ext cx="73152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EA0A5-BC98-410A-B264-C0744C570CE9}" type="slidenum">
              <a:rPr lang="en-US"/>
              <a:pPr/>
              <a:t>14</a:t>
            </a:fld>
            <a:endParaRPr lang="en-US"/>
          </a:p>
        </p:txBody>
      </p:sp>
      <p:sp>
        <p:nvSpPr>
          <p:cNvPr id="14233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FEA Reference Models</a:t>
            </a:r>
          </a:p>
        </p:txBody>
      </p:sp>
      <p:sp>
        <p:nvSpPr>
          <p:cNvPr id="142339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7772400" cy="4114800"/>
          </a:xfrm>
        </p:spPr>
        <p:txBody>
          <a:bodyPr/>
          <a:lstStyle/>
          <a:p>
            <a:r>
              <a:rPr lang="en-US" sz="2000">
                <a:solidFill>
                  <a:srgbClr val="9B0000"/>
                </a:solidFill>
                <a:latin typeface="Arial" charset="0"/>
              </a:rPr>
              <a:t>Performance Reference Model (PRM)</a:t>
            </a:r>
          </a:p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65"/>
                </a:solidFill>
                <a:latin typeface="Arial" charset="0"/>
              </a:rPr>
              <a:t>	Framework to measure the performance of major IT investments and their contribution to program performance.</a:t>
            </a:r>
          </a:p>
          <a:p>
            <a:pPr>
              <a:lnSpc>
                <a:spcPct val="40000"/>
              </a:lnSpc>
              <a:buFont typeface="Wingdings" pitchFamily="2" charset="2"/>
              <a:buNone/>
            </a:pPr>
            <a:endParaRPr lang="en-US" sz="2000">
              <a:solidFill>
                <a:srgbClr val="000065"/>
              </a:solidFill>
              <a:latin typeface="Arial" charset="0"/>
            </a:endParaRPr>
          </a:p>
          <a:p>
            <a:pPr>
              <a:lnSpc>
                <a:spcPct val="0"/>
              </a:lnSpc>
              <a:buFont typeface="Wingdings" pitchFamily="2" charset="2"/>
              <a:buNone/>
            </a:pPr>
            <a:endParaRPr lang="en-US" sz="2000">
              <a:solidFill>
                <a:srgbClr val="9B0000"/>
              </a:solidFill>
              <a:latin typeface="Arial" charset="0"/>
            </a:endParaRPr>
          </a:p>
          <a:p>
            <a:r>
              <a:rPr lang="en-US" sz="2000">
                <a:solidFill>
                  <a:srgbClr val="9B0000"/>
                </a:solidFill>
                <a:latin typeface="Arial" charset="0"/>
              </a:rPr>
              <a:t>Business Reference Model (BRM)</a:t>
            </a:r>
          </a:p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339B"/>
                </a:solidFill>
                <a:latin typeface="Arial" charset="0"/>
              </a:rPr>
              <a:t>	</a:t>
            </a:r>
            <a:r>
              <a:rPr lang="en-US" sz="2000">
                <a:solidFill>
                  <a:srgbClr val="000065"/>
                </a:solidFill>
                <a:latin typeface="Arial" charset="0"/>
              </a:rPr>
              <a:t>Functional framework for describing business operations of the Federal government independent of the agencies that perform them.</a:t>
            </a:r>
          </a:p>
          <a:p>
            <a:pPr>
              <a:lnSpc>
                <a:spcPct val="30000"/>
              </a:lnSpc>
              <a:buFont typeface="Wingdings" pitchFamily="2" charset="2"/>
              <a:buNone/>
            </a:pPr>
            <a:endParaRPr lang="en-US" sz="2000">
              <a:solidFill>
                <a:srgbClr val="000065"/>
              </a:solidFill>
              <a:latin typeface="Arial" charset="0"/>
            </a:endParaRPr>
          </a:p>
          <a:p>
            <a:r>
              <a:rPr lang="en-US" sz="2000">
                <a:solidFill>
                  <a:srgbClr val="9B0000"/>
                </a:solidFill>
                <a:latin typeface="Arial" charset="0"/>
              </a:rPr>
              <a:t>Service Component Reference Model (SRM)</a:t>
            </a:r>
          </a:p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65"/>
                </a:solidFill>
                <a:latin typeface="Arial" charset="0"/>
              </a:rPr>
              <a:t>	Framework that classifies service components with respect to how they support business and performance objectives.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012-D256-4F96-B38C-B903D9B7ED1E}" type="slidenum">
              <a:rPr lang="en-US"/>
              <a:pPr/>
              <a:t>15</a:t>
            </a:fld>
            <a:endParaRPr lang="en-US"/>
          </a:p>
        </p:txBody>
      </p:sp>
      <p:sp>
        <p:nvSpPr>
          <p:cNvPr id="1443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4387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495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sz="2000">
              <a:solidFill>
                <a:srgbClr val="9B0000"/>
              </a:solidFill>
              <a:latin typeface="Arial" charset="0"/>
            </a:endParaRPr>
          </a:p>
          <a:p>
            <a:r>
              <a:rPr lang="en-US" sz="2000">
                <a:solidFill>
                  <a:srgbClr val="9B0000"/>
                </a:solidFill>
                <a:latin typeface="Arial" charset="0"/>
              </a:rPr>
              <a:t>Data Reference Model (DRM)</a:t>
            </a:r>
          </a:p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353973"/>
                </a:solidFill>
                <a:latin typeface="Arial" charset="0"/>
              </a:rPr>
              <a:t>	</a:t>
            </a:r>
            <a:r>
              <a:rPr lang="en-US" sz="2000">
                <a:solidFill>
                  <a:srgbClr val="000065"/>
                </a:solidFill>
                <a:latin typeface="Arial" charset="0"/>
              </a:rPr>
              <a:t>Model describes, at an aggregate level, the data and information that </a:t>
            </a:r>
            <a:r>
              <a:rPr lang="en-US" sz="2000">
                <a:solidFill>
                  <a:srgbClr val="353973"/>
                </a:solidFill>
                <a:latin typeface="Arial" charset="0"/>
              </a:rPr>
              <a:t>support</a:t>
            </a:r>
            <a:r>
              <a:rPr lang="en-US" sz="2000">
                <a:solidFill>
                  <a:srgbClr val="000065"/>
                </a:solidFill>
                <a:latin typeface="Arial" charset="0"/>
              </a:rPr>
              <a:t> program and business line operations</a:t>
            </a:r>
          </a:p>
          <a:p>
            <a:pPr>
              <a:lnSpc>
                <a:spcPct val="40000"/>
              </a:lnSpc>
              <a:buFont typeface="Wingdings" pitchFamily="2" charset="2"/>
              <a:buNone/>
            </a:pPr>
            <a:endParaRPr lang="en-US" sz="2000">
              <a:solidFill>
                <a:srgbClr val="000065"/>
              </a:solidFill>
              <a:latin typeface="Arial" charset="0"/>
            </a:endParaRPr>
          </a:p>
          <a:p>
            <a:r>
              <a:rPr lang="en-US" sz="2000">
                <a:solidFill>
                  <a:srgbClr val="9B0000"/>
                </a:solidFill>
                <a:latin typeface="Arial" charset="0"/>
              </a:rPr>
              <a:t>Technical Reference Model (TRM)</a:t>
            </a:r>
          </a:p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65"/>
                </a:solidFill>
                <a:latin typeface="Arial" charset="0"/>
              </a:rPr>
              <a:t>	Component, technical framework used to identify the standards, specifications, and technologies that support and enable the delivery of services.</a:t>
            </a:r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sz="2000">
              <a:solidFill>
                <a:srgbClr val="000065"/>
              </a:solidFill>
              <a:latin typeface="Arial" charset="0"/>
            </a:endParaRPr>
          </a:p>
          <a:p>
            <a:r>
              <a:rPr lang="en-US" sz="2000">
                <a:latin typeface="Arial" charset="0"/>
              </a:rPr>
              <a:t>Also, a </a:t>
            </a:r>
            <a:r>
              <a:rPr lang="en-US" sz="2000">
                <a:solidFill>
                  <a:srgbClr val="990000"/>
                </a:solidFill>
                <a:latin typeface="Arial" charset="0"/>
              </a:rPr>
              <a:t>Security &amp; Privacy Profile</a:t>
            </a:r>
            <a:r>
              <a:rPr lang="en-US" sz="2000">
                <a:latin typeface="Arial" charset="0"/>
              </a:rPr>
              <a:t> overlays all the ref models.</a:t>
            </a:r>
            <a:endParaRPr lang="en-US" sz="200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0"/>
              </a:lnSpc>
              <a:buFont typeface="Wingdings" pitchFamily="2" charset="2"/>
              <a:buNone/>
            </a:pPr>
            <a:endParaRPr lang="en-US" sz="2000">
              <a:latin typeface="Arial" charset="0"/>
            </a:endParaRPr>
          </a:p>
          <a:p>
            <a:pPr>
              <a:lnSpc>
                <a:spcPct val="170000"/>
              </a:lnSpc>
            </a:pPr>
            <a:r>
              <a:rPr lang="en-US" sz="2000">
                <a:solidFill>
                  <a:srgbClr val="990000"/>
                </a:solidFill>
                <a:latin typeface="Arial" charset="0"/>
              </a:rPr>
              <a:t>http://www.whitehouse.gov/omb/egov/</a:t>
            </a:r>
          </a:p>
          <a:p>
            <a:endParaRPr lang="en-US" sz="2000">
              <a:solidFill>
                <a:srgbClr val="990000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F8E3-9D28-4830-A7D3-2B1F3421EE49}" type="slidenum">
              <a:rPr lang="en-US"/>
              <a:pPr/>
              <a:t>16</a:t>
            </a:fld>
            <a:endParaRPr lang="en-US"/>
          </a:p>
        </p:txBody>
      </p:sp>
      <p:sp>
        <p:nvSpPr>
          <p:cNvPr id="4096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Who are EA Customers?</a:t>
            </a:r>
            <a:endParaRPr lang="en-US"/>
          </a:p>
        </p:txBody>
      </p:sp>
      <p:sp>
        <p:nvSpPr>
          <p:cNvPr id="40963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495800"/>
          </a:xfrm>
        </p:spPr>
        <p:txBody>
          <a:bodyPr/>
          <a:lstStyle/>
          <a:p>
            <a:pPr>
              <a:lnSpc>
                <a:spcPct val="110000"/>
              </a:lnSpc>
              <a:buClr>
                <a:schemeClr val="tx1"/>
              </a:buClr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Agencies, USDA, and Federal Decision-Makers use  Enterprise Architecture</a:t>
            </a:r>
            <a:endParaRPr lang="en-US" sz="24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to select investments that provide the highest value to the business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to identify unnecessary redundancy in data or systems 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to identify opportunities for integration and reuse of data or systems.</a:t>
            </a:r>
          </a:p>
          <a:p>
            <a:pPr lvl="1">
              <a:lnSpc>
                <a:spcPct val="90000"/>
              </a:lnSpc>
            </a:pPr>
            <a:endParaRPr lang="en-US" sz="20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Project Teams use Enterprise Architecture</a:t>
            </a:r>
            <a:endParaRPr lang="en-US" sz="24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for planning guidance to help build systems that will support USDA in the future 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for technical guidance in developing projects.</a:t>
            </a:r>
          </a:p>
          <a:p>
            <a:pPr lvl="1">
              <a:lnSpc>
                <a:spcPct val="60000"/>
              </a:lnSpc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200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F7364-87AD-4D8D-8809-39B85BF7F2AA}" type="slidenum">
              <a:rPr lang="en-US"/>
              <a:pPr/>
              <a:t>17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USDA EA Framework</a:t>
            </a:r>
            <a:endParaRPr lang="en-US"/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7467600" cy="3802063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Foundation made up of FEAF layers - BDAT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Further categorized by domains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External portions of the architecture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(usually national or federal) 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Common/enterprise USDA-wide portions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</a:rPr>
              <a:t>Agency portions</a:t>
            </a:r>
          </a:p>
          <a:p>
            <a:pPr lvl="1">
              <a:lnSpc>
                <a:spcPct val="40000"/>
              </a:lnSpc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Views can be created by function, by customer,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or by time frame.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D90A-6611-495A-9756-CED0C8EAC272}" type="slidenum">
              <a:rPr lang="en-US"/>
              <a:pPr/>
              <a:t>18</a:t>
            </a:fld>
            <a:endParaRPr lang="en-US"/>
          </a:p>
        </p:txBody>
      </p:sp>
      <p:graphicFrame>
        <p:nvGraphicFramePr>
          <p:cNvPr id="123906" name="Object 1026"/>
          <p:cNvGraphicFramePr>
            <a:graphicFrameLocks noChangeAspect="1"/>
          </p:cNvGraphicFramePr>
          <p:nvPr/>
        </p:nvGraphicFramePr>
        <p:xfrm>
          <a:off x="609600" y="838200"/>
          <a:ext cx="7772400" cy="5029200"/>
        </p:xfrm>
        <a:graphic>
          <a:graphicData uri="http://schemas.openxmlformats.org/presentationml/2006/ole">
            <p:oleObj spid="_x0000_s123906" name="Slide" r:id="rId4" imgW="7771049" imgH="5027603" progId="PowerPoint.Slide.8">
              <p:embed/>
            </p:oleObj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A3437-9333-45B2-BBF2-2C62781F7E65}" type="slidenum">
              <a:rPr lang="en-US"/>
              <a:pPr/>
              <a:t>19</a:t>
            </a:fld>
            <a:endParaRPr lang="en-US"/>
          </a:p>
        </p:txBody>
      </p:sp>
      <p:pic>
        <p:nvPicPr>
          <p:cNvPr id="164866" name="Picture 10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2205038"/>
            <a:ext cx="3567112" cy="2657475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164867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>
                <a:solidFill>
                  <a:schemeClr val="tx1"/>
                </a:solidFill>
                <a:latin typeface="Arial" charset="0"/>
              </a:rPr>
              <a:t>USDA’s Architecture Transitions</a:t>
            </a:r>
          </a:p>
        </p:txBody>
      </p:sp>
      <p:sp>
        <p:nvSpPr>
          <p:cNvPr id="164868" name="Rectangle 102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71550" y="5084763"/>
            <a:ext cx="4681538" cy="12954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/>
              <a:t>Architecture Transitions: </a:t>
            </a:r>
          </a:p>
          <a:p>
            <a:pPr>
              <a:lnSpc>
                <a:spcPct val="80000"/>
              </a:lnSpc>
            </a:pPr>
            <a:r>
              <a:rPr lang="en-US" sz="2400"/>
              <a:t>Integration</a:t>
            </a:r>
          </a:p>
          <a:p>
            <a:pPr>
              <a:lnSpc>
                <a:spcPct val="80000"/>
              </a:lnSpc>
            </a:pPr>
            <a:r>
              <a:rPr lang="en-US" sz="2400"/>
              <a:t>Standardization </a:t>
            </a:r>
          </a:p>
        </p:txBody>
      </p:sp>
      <p:sp>
        <p:nvSpPr>
          <p:cNvPr id="164869" name="Text Box 1029"/>
          <p:cNvSpPr txBox="1">
            <a:spLocks noChangeArrowheads="1"/>
          </p:cNvSpPr>
          <p:nvPr/>
        </p:nvSpPr>
        <p:spPr bwMode="auto">
          <a:xfrm>
            <a:off x="1455738" y="1476375"/>
            <a:ext cx="2228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Arial" charset="0"/>
                <a:cs typeface="Arial" charset="0"/>
              </a:rPr>
              <a:t>Current Architecture</a:t>
            </a:r>
          </a:p>
        </p:txBody>
      </p:sp>
      <p:pic>
        <p:nvPicPr>
          <p:cNvPr id="164870" name="Picture 103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5600" y="2276475"/>
            <a:ext cx="3600450" cy="2681288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164871" name="Rectangle 1031"/>
          <p:cNvSpPr>
            <a:spLocks noChangeArrowheads="1"/>
          </p:cNvSpPr>
          <p:nvPr/>
        </p:nvSpPr>
        <p:spPr bwMode="auto">
          <a:xfrm>
            <a:off x="4284663" y="2709863"/>
            <a:ext cx="89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rial" charset="0"/>
              </a:rPr>
              <a:t>Business</a:t>
            </a:r>
            <a:br>
              <a:rPr lang="en-US" sz="1500">
                <a:solidFill>
                  <a:srgbClr val="FFFFFF"/>
                </a:solidFill>
                <a:latin typeface="Arial" charset="0"/>
              </a:rPr>
            </a:br>
            <a:r>
              <a:rPr lang="en-US" sz="1500">
                <a:solidFill>
                  <a:srgbClr val="FFFFFF"/>
                </a:solidFill>
                <a:latin typeface="Arial" charset="0"/>
              </a:rPr>
              <a:t>Processes</a:t>
            </a:r>
            <a:endParaRPr lang="en-US" sz="3200">
              <a:latin typeface="Times New Roman" pitchFamily="18" charset="0"/>
            </a:endParaRPr>
          </a:p>
        </p:txBody>
      </p:sp>
      <p:sp>
        <p:nvSpPr>
          <p:cNvPr id="164872" name="Rectangle 1032"/>
          <p:cNvSpPr>
            <a:spLocks noChangeArrowheads="1"/>
          </p:cNvSpPr>
          <p:nvPr/>
        </p:nvSpPr>
        <p:spPr bwMode="auto">
          <a:xfrm>
            <a:off x="4135438" y="3644900"/>
            <a:ext cx="1239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500">
                <a:solidFill>
                  <a:srgbClr val="FFFFFF"/>
                </a:solidFill>
                <a:latin typeface="Arial" charset="0"/>
              </a:rPr>
              <a:t>Applications/</a:t>
            </a:r>
          </a:p>
          <a:p>
            <a:pPr algn="ctr"/>
            <a:r>
              <a:rPr lang="en-US" sz="1500">
                <a:solidFill>
                  <a:srgbClr val="FFFFFF"/>
                </a:solidFill>
                <a:latin typeface="Arial" charset="0"/>
              </a:rPr>
              <a:t>Services/ Data</a:t>
            </a:r>
          </a:p>
        </p:txBody>
      </p:sp>
      <p:sp>
        <p:nvSpPr>
          <p:cNvPr id="164873" name="Rectangle 1033"/>
          <p:cNvSpPr>
            <a:spLocks noChangeArrowheads="1"/>
          </p:cNvSpPr>
          <p:nvPr/>
        </p:nvSpPr>
        <p:spPr bwMode="auto">
          <a:xfrm>
            <a:off x="4211638" y="4365625"/>
            <a:ext cx="9874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rial" charset="0"/>
              </a:rPr>
              <a:t>Technology</a:t>
            </a:r>
            <a:endParaRPr lang="en-US" sz="3200">
              <a:latin typeface="Times New Roman" pitchFamily="18" charset="0"/>
            </a:endParaRPr>
          </a:p>
        </p:txBody>
      </p:sp>
      <p:sp>
        <p:nvSpPr>
          <p:cNvPr id="164874" name="Rectangle 1034"/>
          <p:cNvSpPr>
            <a:spLocks noChangeArrowheads="1"/>
          </p:cNvSpPr>
          <p:nvPr/>
        </p:nvSpPr>
        <p:spPr bwMode="auto">
          <a:xfrm>
            <a:off x="5508625" y="1917700"/>
            <a:ext cx="1008063" cy="503238"/>
          </a:xfrm>
          <a:prstGeom prst="rect">
            <a:avLst/>
          </a:prstGeom>
          <a:solidFill>
            <a:srgbClr val="00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000">
                <a:solidFill>
                  <a:srgbClr val="000000"/>
                </a:solidFill>
                <a:latin typeface="Arial" charset="0"/>
              </a:rPr>
              <a:t>Agency</a:t>
            </a:r>
          </a:p>
        </p:txBody>
      </p:sp>
      <p:sp>
        <p:nvSpPr>
          <p:cNvPr id="164875" name="Rectangle 1035"/>
          <p:cNvSpPr>
            <a:spLocks noChangeArrowheads="1"/>
          </p:cNvSpPr>
          <p:nvPr/>
        </p:nvSpPr>
        <p:spPr bwMode="auto">
          <a:xfrm>
            <a:off x="6732588" y="1917700"/>
            <a:ext cx="1008062" cy="504825"/>
          </a:xfrm>
          <a:prstGeom prst="rect">
            <a:avLst/>
          </a:prstGeom>
          <a:solidFill>
            <a:srgbClr val="FFFF66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000">
                <a:solidFill>
                  <a:srgbClr val="000000"/>
                </a:solidFill>
                <a:latin typeface="Arial" charset="0"/>
              </a:rPr>
              <a:t>Common</a:t>
            </a:r>
          </a:p>
          <a:p>
            <a:pPr algn="ctr"/>
            <a:r>
              <a:rPr lang="en-US" sz="1000">
                <a:solidFill>
                  <a:srgbClr val="000000"/>
                </a:solidFill>
                <a:latin typeface="Arial" charset="0"/>
              </a:rPr>
              <a:t>Enterprise-Wide</a:t>
            </a:r>
          </a:p>
        </p:txBody>
      </p:sp>
      <p:sp>
        <p:nvSpPr>
          <p:cNvPr id="164876" name="Rectangle 1036"/>
          <p:cNvSpPr>
            <a:spLocks noChangeArrowheads="1"/>
          </p:cNvSpPr>
          <p:nvPr/>
        </p:nvSpPr>
        <p:spPr bwMode="auto">
          <a:xfrm>
            <a:off x="7885113" y="1916113"/>
            <a:ext cx="1117600" cy="504825"/>
          </a:xfrm>
          <a:prstGeom prst="rect">
            <a:avLst/>
          </a:prstGeom>
          <a:solidFill>
            <a:srgbClr val="FF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000">
                <a:latin typeface="Arial" charset="0"/>
              </a:rPr>
              <a:t>External/</a:t>
            </a:r>
          </a:p>
          <a:p>
            <a:pPr algn="ctr"/>
            <a:r>
              <a:rPr lang="en-US" sz="1000">
                <a:latin typeface="Arial" charset="0"/>
              </a:rPr>
              <a:t>Government-Wide</a:t>
            </a:r>
          </a:p>
        </p:txBody>
      </p:sp>
      <p:sp>
        <p:nvSpPr>
          <p:cNvPr id="164877" name="Rectangle 1037"/>
          <p:cNvSpPr>
            <a:spLocks noChangeArrowheads="1"/>
          </p:cNvSpPr>
          <p:nvPr/>
        </p:nvSpPr>
        <p:spPr bwMode="auto">
          <a:xfrm>
            <a:off x="430213" y="1919288"/>
            <a:ext cx="1008062" cy="503237"/>
          </a:xfrm>
          <a:prstGeom prst="rect">
            <a:avLst/>
          </a:prstGeom>
          <a:solidFill>
            <a:srgbClr val="00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1000">
                <a:solidFill>
                  <a:srgbClr val="000000"/>
                </a:solidFill>
                <a:latin typeface="Arial" charset="0"/>
              </a:rPr>
              <a:t>Agency</a:t>
            </a:r>
          </a:p>
        </p:txBody>
      </p:sp>
      <p:sp>
        <p:nvSpPr>
          <p:cNvPr id="164878" name="Rectangle 1038"/>
          <p:cNvSpPr>
            <a:spLocks noChangeArrowheads="1"/>
          </p:cNvSpPr>
          <p:nvPr/>
        </p:nvSpPr>
        <p:spPr bwMode="auto">
          <a:xfrm>
            <a:off x="1654175" y="1919288"/>
            <a:ext cx="1008063" cy="504825"/>
          </a:xfrm>
          <a:prstGeom prst="rect">
            <a:avLst/>
          </a:prstGeom>
          <a:solidFill>
            <a:srgbClr val="FFFF66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000">
                <a:solidFill>
                  <a:srgbClr val="000000"/>
                </a:solidFill>
                <a:latin typeface="Arial" charset="0"/>
              </a:rPr>
              <a:t>Common</a:t>
            </a:r>
          </a:p>
          <a:p>
            <a:pPr algn="ctr"/>
            <a:r>
              <a:rPr lang="en-US" sz="1000">
                <a:solidFill>
                  <a:srgbClr val="000000"/>
                </a:solidFill>
                <a:latin typeface="Arial" charset="0"/>
              </a:rPr>
              <a:t>Enterprise-Wide</a:t>
            </a:r>
          </a:p>
        </p:txBody>
      </p:sp>
      <p:sp>
        <p:nvSpPr>
          <p:cNvPr id="164879" name="Rectangle 1039"/>
          <p:cNvSpPr>
            <a:spLocks noChangeArrowheads="1"/>
          </p:cNvSpPr>
          <p:nvPr/>
        </p:nvSpPr>
        <p:spPr bwMode="auto">
          <a:xfrm>
            <a:off x="2806700" y="1917700"/>
            <a:ext cx="1117600" cy="504825"/>
          </a:xfrm>
          <a:prstGeom prst="rect">
            <a:avLst/>
          </a:prstGeom>
          <a:solidFill>
            <a:srgbClr val="FF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000">
                <a:latin typeface="Arial" charset="0"/>
              </a:rPr>
              <a:t>External/</a:t>
            </a:r>
          </a:p>
          <a:p>
            <a:pPr algn="ctr"/>
            <a:r>
              <a:rPr lang="en-US" sz="1000">
                <a:latin typeface="Arial" charset="0"/>
              </a:rPr>
              <a:t>Government-Wide</a:t>
            </a:r>
          </a:p>
        </p:txBody>
      </p:sp>
      <p:sp>
        <p:nvSpPr>
          <p:cNvPr id="164880" name="Text Box 1040"/>
          <p:cNvSpPr txBox="1">
            <a:spLocks noChangeArrowheads="1"/>
          </p:cNvSpPr>
          <p:nvPr/>
        </p:nvSpPr>
        <p:spPr bwMode="auto">
          <a:xfrm>
            <a:off x="6011863" y="1477963"/>
            <a:ext cx="212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Arial" charset="0"/>
                <a:cs typeface="Arial" charset="0"/>
              </a:rPr>
              <a:t>Target Architecture</a:t>
            </a:r>
          </a:p>
        </p:txBody>
      </p:sp>
      <p:sp>
        <p:nvSpPr>
          <p:cNvPr id="164881" name="Line 1041"/>
          <p:cNvSpPr>
            <a:spLocks noChangeShapeType="1"/>
          </p:cNvSpPr>
          <p:nvPr/>
        </p:nvSpPr>
        <p:spPr bwMode="auto">
          <a:xfrm>
            <a:off x="4211638" y="3429000"/>
            <a:ext cx="936625" cy="0"/>
          </a:xfrm>
          <a:prstGeom prst="line">
            <a:avLst/>
          </a:prstGeom>
          <a:noFill/>
          <a:ln w="9525">
            <a:solidFill>
              <a:srgbClr val="EAEAEA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882" name="Line 1042"/>
          <p:cNvSpPr>
            <a:spLocks noChangeShapeType="1"/>
          </p:cNvSpPr>
          <p:nvPr/>
        </p:nvSpPr>
        <p:spPr bwMode="auto">
          <a:xfrm>
            <a:off x="4211638" y="4221163"/>
            <a:ext cx="936625" cy="0"/>
          </a:xfrm>
          <a:prstGeom prst="line">
            <a:avLst/>
          </a:prstGeom>
          <a:noFill/>
          <a:ln w="9525">
            <a:solidFill>
              <a:srgbClr val="EAEAEA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883" name="Rectangle 1043"/>
          <p:cNvSpPr>
            <a:spLocks noChangeArrowheads="1"/>
          </p:cNvSpPr>
          <p:nvPr/>
        </p:nvSpPr>
        <p:spPr bwMode="auto">
          <a:xfrm>
            <a:off x="3635375" y="5446713"/>
            <a:ext cx="468153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</a:pPr>
            <a:r>
              <a:rPr lang="en-US"/>
              <a:t>Sharing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</a:pPr>
            <a:r>
              <a:rPr lang="en-US"/>
              <a:t>Consolidated procurement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754A-E84E-4C98-9D54-7350DCDD2473}" type="slidenum">
              <a:rPr lang="en-US"/>
              <a:pPr/>
              <a:t>20</a:t>
            </a:fld>
            <a:endParaRPr 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9788"/>
            <a:ext cx="7772400" cy="608012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In addition…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454525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We are using the </a:t>
            </a:r>
            <a:r>
              <a:rPr lang="en-US" sz="2400" u="sng">
                <a:solidFill>
                  <a:srgbClr val="990000"/>
                </a:solidFill>
                <a:latin typeface="Arial" charset="0"/>
              </a:rPr>
              <a:t>The Open Group Architecture</a:t>
            </a:r>
            <a:r>
              <a:rPr lang="en-US" sz="2400">
                <a:solidFill>
                  <a:srgbClr val="990000"/>
                </a:solidFill>
                <a:latin typeface="Arial" charset="0"/>
              </a:rPr>
              <a:t> </a:t>
            </a:r>
            <a:r>
              <a:rPr lang="en-US" sz="2400" u="sng">
                <a:solidFill>
                  <a:srgbClr val="990000"/>
                </a:solidFill>
                <a:latin typeface="Arial" charset="0"/>
              </a:rPr>
              <a:t>Framework</a:t>
            </a:r>
            <a:r>
              <a:rPr lang="en-US" sz="2400">
                <a:solidFill>
                  <a:srgbClr val="990000"/>
                </a:solidFill>
                <a:latin typeface="Arial" charset="0"/>
              </a:rPr>
              <a:t> (TOGAF)</a:t>
            </a:r>
            <a:r>
              <a:rPr lang="en-US" sz="2400">
                <a:latin typeface="Arial" charset="0"/>
              </a:rPr>
              <a:t> as the Department’s EA Methodology.</a:t>
            </a:r>
          </a:p>
          <a:p>
            <a:pPr>
              <a:lnSpc>
                <a:spcPct val="3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EA Program emphasis is on investment support systems, security and eGovernment projects.</a:t>
            </a:r>
          </a:p>
          <a:p>
            <a:pPr>
              <a:lnSpc>
                <a:spcPct val="3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EA Program Maintenance (data validation)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sz="2400">
                <a:latin typeface="Arial" charset="0"/>
              </a:rPr>
              <a:t>Agency stewards are being assigned to work with EAD staff to keep information current.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sz="2400">
                <a:latin typeface="Arial" charset="0"/>
              </a:rPr>
              <a:t>EAD reviews will be done to ensure compliance.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924F-361B-4C48-ADE0-1B46FC6BB132}" type="slidenum">
              <a:rPr lang="en-US"/>
              <a:pPr/>
              <a:t>21</a:t>
            </a:fld>
            <a:endParaRPr lang="en-US"/>
          </a:p>
        </p:txBody>
      </p:sp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401638"/>
            <a:ext cx="7772400" cy="1046162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USDA Enterprise Configuration Control Board (ECCB)</a:t>
            </a:r>
            <a:endParaRPr lang="en-US"/>
          </a:p>
        </p:txBody>
      </p:sp>
      <p:sp>
        <p:nvSpPr>
          <p:cNvPr id="6041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ECCB was established in April 2004.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solidFill>
                <a:srgbClr val="990000"/>
              </a:solidFill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ECCB Responsibilities: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Establish and maintain enterprise architecture configuration control processes.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Recommend policy to CIO for adoption of  enterprise-wide standards.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Review project architecture impact analyses as to effect on target architecture and transition plans.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Ensure consistency in agency-level architectures.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8BBF-08E4-429B-B747-ECD225701932}" type="slidenum">
              <a:rPr lang="en-US"/>
              <a:pPr/>
              <a:t>22</a:t>
            </a:fld>
            <a:endParaRPr lang="en-US"/>
          </a:p>
        </p:txBody>
      </p:sp>
      <p:sp>
        <p:nvSpPr>
          <p:cNvPr id="788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ECCB Goals </a:t>
            </a:r>
            <a:endParaRPr lang="en-US"/>
          </a:p>
        </p:txBody>
      </p:sp>
      <p:sp>
        <p:nvSpPr>
          <p:cNvPr id="78851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454525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Establish department-wide EA configuration controls and strategies.</a:t>
            </a: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Identify and recommend changes regarding new enterprise-wide standards.	</a:t>
            </a: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Work with the CIO to improve the maturity level of the architecture discipline within USDA. </a:t>
            </a: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Ensure department transition plans are aligned with changing business needs and strategic priorities. </a:t>
            </a: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Identify opportunities for Enterprise-wide</a:t>
            </a:r>
          </a:p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IT acquisitions.	</a:t>
            </a:r>
            <a:endParaRPr lang="en-US" sz="2000">
              <a:latin typeface="Arial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1924-1A30-4FBC-BC7D-05D882E7943C}" type="slidenum">
              <a:rPr lang="en-US"/>
              <a:pPr/>
              <a:t>23</a:t>
            </a:fld>
            <a:endParaRPr lang="en-US"/>
          </a:p>
        </p:txBody>
      </p:sp>
      <p:sp>
        <p:nvSpPr>
          <p:cNvPr id="162818" name="Rectangle 2050"/>
          <p:cNvSpPr>
            <a:spLocks noChangeArrowheads="1"/>
          </p:cNvSpPr>
          <p:nvPr/>
        </p:nvSpPr>
        <p:spPr bwMode="auto">
          <a:xfrm>
            <a:off x="6858000" y="1447800"/>
            <a:ext cx="2016125" cy="475297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19" name="Rectangle 2051"/>
          <p:cNvSpPr>
            <a:spLocks noChangeArrowheads="1"/>
          </p:cNvSpPr>
          <p:nvPr/>
        </p:nvSpPr>
        <p:spPr bwMode="auto">
          <a:xfrm>
            <a:off x="2971800" y="1447800"/>
            <a:ext cx="3889375" cy="47529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0" name="Rectangle 2052"/>
          <p:cNvSpPr>
            <a:spLocks noChangeArrowheads="1"/>
          </p:cNvSpPr>
          <p:nvPr/>
        </p:nvSpPr>
        <p:spPr bwMode="auto">
          <a:xfrm>
            <a:off x="179388" y="1412875"/>
            <a:ext cx="2808287" cy="47529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1" name="AutoShape 2053"/>
          <p:cNvSpPr>
            <a:spLocks noChangeArrowheads="1"/>
          </p:cNvSpPr>
          <p:nvPr/>
        </p:nvSpPr>
        <p:spPr bwMode="auto">
          <a:xfrm>
            <a:off x="250825" y="836613"/>
            <a:ext cx="2736850" cy="650875"/>
          </a:xfrm>
          <a:prstGeom prst="leftRightArrow">
            <a:avLst>
              <a:gd name="adj1" fmla="val 50000"/>
              <a:gd name="adj2" fmla="val 84098"/>
            </a:avLst>
          </a:prstGeom>
          <a:gradFill rotWithShape="1">
            <a:gsLst>
              <a:gs pos="0">
                <a:schemeClr val="accent2"/>
              </a:gs>
              <a:gs pos="50000">
                <a:schemeClr val="bg1"/>
              </a:gs>
              <a:gs pos="100000">
                <a:schemeClr val="accent2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sz="1800" b="1">
                <a:latin typeface="Arial" charset="0"/>
                <a:cs typeface="Arial" charset="0"/>
              </a:rPr>
              <a:t>Agency</a:t>
            </a:r>
          </a:p>
        </p:txBody>
      </p:sp>
      <p:sp>
        <p:nvSpPr>
          <p:cNvPr id="162822" name="AutoShape 2054"/>
          <p:cNvSpPr>
            <a:spLocks noChangeArrowheads="1"/>
          </p:cNvSpPr>
          <p:nvPr/>
        </p:nvSpPr>
        <p:spPr bwMode="auto">
          <a:xfrm>
            <a:off x="6877050" y="836613"/>
            <a:ext cx="2016125" cy="650875"/>
          </a:xfrm>
          <a:prstGeom prst="leftRightArrow">
            <a:avLst>
              <a:gd name="adj1" fmla="val 50000"/>
              <a:gd name="adj2" fmla="val 61951"/>
            </a:avLst>
          </a:prstGeom>
          <a:gradFill rotWithShape="1">
            <a:gsLst>
              <a:gs pos="0">
                <a:schemeClr val="accent2"/>
              </a:gs>
              <a:gs pos="50000">
                <a:schemeClr val="bg1"/>
              </a:gs>
              <a:gs pos="100000">
                <a:schemeClr val="accent2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sz="1800" b="1">
                <a:latin typeface="Arial" charset="0"/>
                <a:cs typeface="Arial" charset="0"/>
              </a:rPr>
              <a:t>External</a:t>
            </a:r>
          </a:p>
        </p:txBody>
      </p:sp>
      <p:sp>
        <p:nvSpPr>
          <p:cNvPr id="162823" name="AutoShape 2055"/>
          <p:cNvSpPr>
            <a:spLocks noChangeArrowheads="1"/>
          </p:cNvSpPr>
          <p:nvPr/>
        </p:nvSpPr>
        <p:spPr bwMode="auto">
          <a:xfrm>
            <a:off x="2987675" y="765175"/>
            <a:ext cx="3889375" cy="752475"/>
          </a:xfrm>
          <a:prstGeom prst="leftRightArrow">
            <a:avLst>
              <a:gd name="adj1" fmla="val 50000"/>
              <a:gd name="adj2" fmla="val 103376"/>
            </a:avLst>
          </a:prstGeom>
          <a:gradFill rotWithShape="1">
            <a:gsLst>
              <a:gs pos="0">
                <a:schemeClr val="accent2"/>
              </a:gs>
              <a:gs pos="50000">
                <a:schemeClr val="bg1"/>
              </a:gs>
              <a:gs pos="100000">
                <a:schemeClr val="accent2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 sz="1600" b="1">
                <a:latin typeface="Arial" charset="0"/>
                <a:cs typeface="Arial" charset="0"/>
              </a:rPr>
              <a:t> Common Enterprise Wide</a:t>
            </a:r>
          </a:p>
        </p:txBody>
      </p:sp>
      <p:sp>
        <p:nvSpPr>
          <p:cNvPr id="162824" name="Rectangle 2056"/>
          <p:cNvSpPr>
            <a:spLocks noChangeArrowheads="1"/>
          </p:cNvSpPr>
          <p:nvPr/>
        </p:nvSpPr>
        <p:spPr bwMode="auto">
          <a:xfrm>
            <a:off x="3492500" y="1484313"/>
            <a:ext cx="3240088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E-Board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(Oversight)</a:t>
            </a:r>
          </a:p>
        </p:txBody>
      </p:sp>
      <p:sp>
        <p:nvSpPr>
          <p:cNvPr id="162825" name="Rectangle 2057"/>
          <p:cNvSpPr>
            <a:spLocks noChangeArrowheads="1"/>
          </p:cNvSpPr>
          <p:nvPr/>
        </p:nvSpPr>
        <p:spPr bwMode="auto">
          <a:xfrm>
            <a:off x="3348038" y="2830513"/>
            <a:ext cx="936625" cy="4318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USDA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ECCB</a:t>
            </a:r>
          </a:p>
        </p:txBody>
      </p:sp>
      <p:sp>
        <p:nvSpPr>
          <p:cNvPr id="162826" name="Rectangle 2058"/>
          <p:cNvSpPr>
            <a:spLocks noChangeArrowheads="1"/>
          </p:cNvSpPr>
          <p:nvPr/>
        </p:nvSpPr>
        <p:spPr bwMode="auto">
          <a:xfrm>
            <a:off x="3316288" y="3544888"/>
            <a:ext cx="995362" cy="46672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E-SCCB’s</a:t>
            </a:r>
          </a:p>
          <a:p>
            <a:pPr algn="ctr"/>
            <a:r>
              <a:rPr lang="en-US" sz="1000">
                <a:latin typeface="Arial" charset="0"/>
                <a:cs typeface="Arial" charset="0"/>
              </a:rPr>
              <a:t>(e.g., CFMS)</a:t>
            </a:r>
          </a:p>
        </p:txBody>
      </p:sp>
      <p:sp>
        <p:nvSpPr>
          <p:cNvPr id="162827" name="Rectangle 2059"/>
          <p:cNvSpPr>
            <a:spLocks noChangeArrowheads="1"/>
          </p:cNvSpPr>
          <p:nvPr/>
        </p:nvSpPr>
        <p:spPr bwMode="auto">
          <a:xfrm>
            <a:off x="3348038" y="4791075"/>
            <a:ext cx="936625" cy="4318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EA Forum</a:t>
            </a:r>
          </a:p>
        </p:txBody>
      </p:sp>
      <p:sp>
        <p:nvSpPr>
          <p:cNvPr id="162828" name="Rectangle 2060"/>
          <p:cNvSpPr>
            <a:spLocks noChangeArrowheads="1"/>
          </p:cNvSpPr>
          <p:nvPr/>
        </p:nvSpPr>
        <p:spPr bwMode="auto">
          <a:xfrm>
            <a:off x="4643438" y="2133600"/>
            <a:ext cx="9366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CIO</a:t>
            </a:r>
          </a:p>
        </p:txBody>
      </p:sp>
      <p:sp>
        <p:nvSpPr>
          <p:cNvPr id="162829" name="Rectangle 2061"/>
          <p:cNvSpPr>
            <a:spLocks noChangeArrowheads="1"/>
          </p:cNvSpPr>
          <p:nvPr/>
        </p:nvSpPr>
        <p:spPr bwMode="auto">
          <a:xfrm>
            <a:off x="5761038" y="2828925"/>
            <a:ext cx="9366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Deputy </a:t>
            </a:r>
            <a:br>
              <a:rPr lang="en-US" sz="1400">
                <a:latin typeface="Arial" charset="0"/>
                <a:cs typeface="Arial" charset="0"/>
              </a:rPr>
            </a:br>
            <a:r>
              <a:rPr lang="en-US" sz="1400">
                <a:latin typeface="Arial" charset="0"/>
                <a:cs typeface="Arial" charset="0"/>
              </a:rPr>
              <a:t>CIO</a:t>
            </a:r>
          </a:p>
        </p:txBody>
      </p:sp>
      <p:sp>
        <p:nvSpPr>
          <p:cNvPr id="162830" name="Rectangle 2062"/>
          <p:cNvSpPr>
            <a:spLocks noChangeArrowheads="1"/>
          </p:cNvSpPr>
          <p:nvPr/>
        </p:nvSpPr>
        <p:spPr bwMode="auto">
          <a:xfrm>
            <a:off x="7086600" y="5149850"/>
            <a:ext cx="1600200" cy="7715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1400">
                <a:latin typeface="Arial" charset="0"/>
                <a:cs typeface="Arial" charset="0"/>
              </a:rPr>
              <a:t>Fed Arch Groups </a:t>
            </a:r>
          </a:p>
          <a:p>
            <a:r>
              <a:rPr lang="en-US" sz="1000">
                <a:latin typeface="Arial" charset="0"/>
                <a:cs typeface="Arial" charset="0"/>
              </a:rPr>
              <a:t>(e.g., FM LoB, Fed Health, Nat’l Wildland Fire)</a:t>
            </a:r>
          </a:p>
        </p:txBody>
      </p:sp>
      <p:sp>
        <p:nvSpPr>
          <p:cNvPr id="162831" name="Rectangle 2063"/>
          <p:cNvSpPr>
            <a:spLocks noChangeArrowheads="1"/>
          </p:cNvSpPr>
          <p:nvPr/>
        </p:nvSpPr>
        <p:spPr bwMode="auto">
          <a:xfrm>
            <a:off x="7200900" y="4144963"/>
            <a:ext cx="1357313" cy="679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Ext Standards 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Groups</a:t>
            </a:r>
          </a:p>
          <a:p>
            <a:pPr algn="ctr"/>
            <a:r>
              <a:rPr lang="en-US" sz="1000">
                <a:latin typeface="Arial" charset="0"/>
                <a:cs typeface="Arial" charset="0"/>
              </a:rPr>
              <a:t>(e.g.,SAFECOM)</a:t>
            </a:r>
          </a:p>
        </p:txBody>
      </p:sp>
      <p:sp>
        <p:nvSpPr>
          <p:cNvPr id="162832" name="Rectangle 2064"/>
          <p:cNvSpPr>
            <a:spLocks noChangeArrowheads="1"/>
          </p:cNvSpPr>
          <p:nvPr/>
        </p:nvSpPr>
        <p:spPr bwMode="auto">
          <a:xfrm>
            <a:off x="4673600" y="3514725"/>
            <a:ext cx="9366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Assoc. </a:t>
            </a:r>
            <a:br>
              <a:rPr lang="en-US" sz="1400">
                <a:latin typeface="Arial" charset="0"/>
                <a:cs typeface="Arial" charset="0"/>
              </a:rPr>
            </a:br>
            <a:r>
              <a:rPr lang="en-US" sz="1400">
                <a:latin typeface="Arial" charset="0"/>
                <a:cs typeface="Arial" charset="0"/>
              </a:rPr>
              <a:t>CIO’s/IO</a:t>
            </a:r>
          </a:p>
        </p:txBody>
      </p:sp>
      <p:sp>
        <p:nvSpPr>
          <p:cNvPr id="162833" name="Rectangle 2065"/>
          <p:cNvSpPr>
            <a:spLocks noChangeArrowheads="1"/>
          </p:cNvSpPr>
          <p:nvPr/>
        </p:nvSpPr>
        <p:spPr bwMode="auto">
          <a:xfrm>
            <a:off x="4264025" y="4206875"/>
            <a:ext cx="1768475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IT Domain Arch.</a:t>
            </a:r>
          </a:p>
          <a:p>
            <a:pPr algn="ctr"/>
            <a:r>
              <a:rPr lang="en-US" sz="1000">
                <a:latin typeface="Arial" charset="0"/>
                <a:cs typeface="Arial" charset="0"/>
              </a:rPr>
              <a:t>Tech Rev Board (e.g., UTN)</a:t>
            </a:r>
          </a:p>
        </p:txBody>
      </p:sp>
      <p:sp>
        <p:nvSpPr>
          <p:cNvPr id="162834" name="Rectangle 2066"/>
          <p:cNvSpPr>
            <a:spLocks noChangeArrowheads="1"/>
          </p:cNvSpPr>
          <p:nvPr/>
        </p:nvSpPr>
        <p:spPr bwMode="auto">
          <a:xfrm>
            <a:off x="5724525" y="4741863"/>
            <a:ext cx="1001713" cy="52705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Enterprise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Arch. Div.</a:t>
            </a:r>
          </a:p>
        </p:txBody>
      </p:sp>
      <p:sp>
        <p:nvSpPr>
          <p:cNvPr id="162835" name="Rectangle 2067"/>
          <p:cNvSpPr>
            <a:spLocks noChangeArrowheads="1"/>
          </p:cNvSpPr>
          <p:nvPr/>
        </p:nvSpPr>
        <p:spPr bwMode="auto">
          <a:xfrm>
            <a:off x="5761038" y="3500438"/>
            <a:ext cx="9366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Assoc. </a:t>
            </a:r>
            <a:br>
              <a:rPr lang="en-US" sz="1400">
                <a:latin typeface="Arial" charset="0"/>
                <a:cs typeface="Arial" charset="0"/>
              </a:rPr>
            </a:br>
            <a:r>
              <a:rPr lang="en-US" sz="1400">
                <a:latin typeface="Arial" charset="0"/>
                <a:cs typeface="Arial" charset="0"/>
              </a:rPr>
              <a:t>CIO/ IRM</a:t>
            </a:r>
          </a:p>
        </p:txBody>
      </p:sp>
      <p:sp>
        <p:nvSpPr>
          <p:cNvPr id="162836" name="Rectangle 2068"/>
          <p:cNvSpPr>
            <a:spLocks noChangeArrowheads="1"/>
          </p:cNvSpPr>
          <p:nvPr/>
        </p:nvSpPr>
        <p:spPr bwMode="auto">
          <a:xfrm>
            <a:off x="2268538" y="2084388"/>
            <a:ext cx="1325562" cy="527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IT Leadership </a:t>
            </a:r>
            <a:br>
              <a:rPr lang="en-US" sz="1400">
                <a:latin typeface="Arial" charset="0"/>
                <a:cs typeface="Arial" charset="0"/>
              </a:rPr>
            </a:br>
            <a:r>
              <a:rPr lang="en-US" sz="1400">
                <a:latin typeface="Arial" charset="0"/>
                <a:cs typeface="Arial" charset="0"/>
              </a:rPr>
              <a:t>Council</a:t>
            </a:r>
          </a:p>
        </p:txBody>
      </p:sp>
      <p:sp>
        <p:nvSpPr>
          <p:cNvPr id="162837" name="Rectangle 2069"/>
          <p:cNvSpPr>
            <a:spLocks noChangeArrowheads="1"/>
          </p:cNvSpPr>
          <p:nvPr/>
        </p:nvSpPr>
        <p:spPr bwMode="auto">
          <a:xfrm>
            <a:off x="323850" y="2132013"/>
            <a:ext cx="9366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Agency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CIO’s</a:t>
            </a:r>
          </a:p>
        </p:txBody>
      </p:sp>
      <p:sp>
        <p:nvSpPr>
          <p:cNvPr id="162838" name="Rectangle 2070"/>
          <p:cNvSpPr>
            <a:spLocks noChangeArrowheads="1"/>
          </p:cNvSpPr>
          <p:nvPr/>
        </p:nvSpPr>
        <p:spPr bwMode="auto">
          <a:xfrm>
            <a:off x="1579563" y="3213100"/>
            <a:ext cx="973137" cy="739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Agency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Staff Off </a:t>
            </a:r>
            <a:br>
              <a:rPr lang="en-US" sz="1400">
                <a:latin typeface="Arial" charset="0"/>
                <a:cs typeface="Arial" charset="0"/>
              </a:rPr>
            </a:br>
            <a:r>
              <a:rPr lang="en-US" sz="1400">
                <a:latin typeface="Arial" charset="0"/>
                <a:cs typeface="Arial" charset="0"/>
              </a:rPr>
              <a:t>Architects</a:t>
            </a:r>
          </a:p>
        </p:txBody>
      </p:sp>
      <p:sp>
        <p:nvSpPr>
          <p:cNvPr id="162839" name="Rectangle 2071"/>
          <p:cNvSpPr>
            <a:spLocks noChangeArrowheads="1"/>
          </p:cNvSpPr>
          <p:nvPr/>
        </p:nvSpPr>
        <p:spPr bwMode="auto">
          <a:xfrm>
            <a:off x="381000" y="3500438"/>
            <a:ext cx="922338" cy="739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LOB and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Program </a:t>
            </a:r>
            <a:br>
              <a:rPr lang="en-US" sz="1400">
                <a:latin typeface="Arial" charset="0"/>
                <a:cs typeface="Arial" charset="0"/>
              </a:rPr>
            </a:br>
            <a:r>
              <a:rPr lang="en-US" sz="1400">
                <a:latin typeface="Arial" charset="0"/>
                <a:cs typeface="Arial" charset="0"/>
              </a:rPr>
              <a:t>Mgt</a:t>
            </a:r>
          </a:p>
        </p:txBody>
      </p:sp>
      <p:sp>
        <p:nvSpPr>
          <p:cNvPr id="162840" name="Rectangle 2072"/>
          <p:cNvSpPr>
            <a:spLocks noChangeArrowheads="1"/>
          </p:cNvSpPr>
          <p:nvPr/>
        </p:nvSpPr>
        <p:spPr bwMode="auto">
          <a:xfrm>
            <a:off x="1576388" y="4437063"/>
            <a:ext cx="981075" cy="527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Program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Managers</a:t>
            </a:r>
          </a:p>
        </p:txBody>
      </p:sp>
      <p:sp>
        <p:nvSpPr>
          <p:cNvPr id="162841" name="Rectangle 2073"/>
          <p:cNvSpPr>
            <a:spLocks noChangeArrowheads="1"/>
          </p:cNvSpPr>
          <p:nvPr/>
        </p:nvSpPr>
        <p:spPr bwMode="auto">
          <a:xfrm>
            <a:off x="1692275" y="5300663"/>
            <a:ext cx="746125" cy="527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Project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Teams</a:t>
            </a:r>
          </a:p>
        </p:txBody>
      </p:sp>
      <p:sp>
        <p:nvSpPr>
          <p:cNvPr id="162842" name="Rectangle 2074"/>
          <p:cNvSpPr>
            <a:spLocks noChangeArrowheads="1"/>
          </p:cNvSpPr>
          <p:nvPr/>
        </p:nvSpPr>
        <p:spPr bwMode="auto">
          <a:xfrm>
            <a:off x="7416800" y="1752600"/>
            <a:ext cx="9366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Fed CIO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Council</a:t>
            </a:r>
          </a:p>
        </p:txBody>
      </p:sp>
      <p:sp>
        <p:nvSpPr>
          <p:cNvPr id="162843" name="Rectangle 2075"/>
          <p:cNvSpPr>
            <a:spLocks noChangeArrowheads="1"/>
          </p:cNvSpPr>
          <p:nvPr/>
        </p:nvSpPr>
        <p:spPr bwMode="auto">
          <a:xfrm>
            <a:off x="7527925" y="3178175"/>
            <a:ext cx="712788" cy="301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AIC</a:t>
            </a:r>
          </a:p>
        </p:txBody>
      </p:sp>
      <p:sp>
        <p:nvSpPr>
          <p:cNvPr id="162844" name="Rectangle 2076"/>
          <p:cNvSpPr>
            <a:spLocks noChangeArrowheads="1"/>
          </p:cNvSpPr>
          <p:nvPr/>
        </p:nvSpPr>
        <p:spPr bwMode="auto">
          <a:xfrm>
            <a:off x="7391400" y="3581400"/>
            <a:ext cx="1008063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FEA PMO</a:t>
            </a:r>
          </a:p>
        </p:txBody>
      </p:sp>
      <p:sp>
        <p:nvSpPr>
          <p:cNvPr id="162845" name="Line 2077"/>
          <p:cNvSpPr>
            <a:spLocks noChangeShapeType="1"/>
          </p:cNvSpPr>
          <p:nvPr/>
        </p:nvSpPr>
        <p:spPr bwMode="auto">
          <a:xfrm>
            <a:off x="323850" y="6308725"/>
            <a:ext cx="5762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2846" name="Text Box 2078"/>
          <p:cNvSpPr txBox="1">
            <a:spLocks noChangeArrowheads="1"/>
          </p:cNvSpPr>
          <p:nvPr/>
        </p:nvSpPr>
        <p:spPr bwMode="auto">
          <a:xfrm>
            <a:off x="900113" y="6165850"/>
            <a:ext cx="139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charset="0"/>
                <a:cs typeface="Arial" charset="0"/>
              </a:rPr>
              <a:t>Direct Authority</a:t>
            </a:r>
          </a:p>
        </p:txBody>
      </p:sp>
      <p:cxnSp>
        <p:nvCxnSpPr>
          <p:cNvPr id="162849" name="AutoShape 2081"/>
          <p:cNvCxnSpPr>
            <a:cxnSpLocks noChangeShapeType="1"/>
            <a:stCxn id="162828" idx="0"/>
            <a:endCxn id="162824" idx="2"/>
          </p:cNvCxnSpPr>
          <p:nvPr/>
        </p:nvCxnSpPr>
        <p:spPr bwMode="auto">
          <a:xfrm flipV="1">
            <a:off x="5111750" y="1916113"/>
            <a:ext cx="1588" cy="217487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cxnSp>
        <p:nvCxnSpPr>
          <p:cNvPr id="162850" name="AutoShape 2082"/>
          <p:cNvCxnSpPr>
            <a:cxnSpLocks noChangeShapeType="1"/>
            <a:stCxn id="162842" idx="2"/>
            <a:endCxn id="162843" idx="0"/>
          </p:cNvCxnSpPr>
          <p:nvPr/>
        </p:nvCxnSpPr>
        <p:spPr bwMode="auto">
          <a:xfrm>
            <a:off x="7885113" y="2184400"/>
            <a:ext cx="0" cy="993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2851" name="AutoShape 2083"/>
          <p:cNvCxnSpPr>
            <a:cxnSpLocks noChangeShapeType="1"/>
            <a:stCxn id="162844" idx="0"/>
            <a:endCxn id="162843" idx="2"/>
          </p:cNvCxnSpPr>
          <p:nvPr/>
        </p:nvCxnSpPr>
        <p:spPr bwMode="auto">
          <a:xfrm flipH="1" flipV="1">
            <a:off x="7885113" y="3479800"/>
            <a:ext cx="11112" cy="101600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cxnSp>
        <p:nvCxnSpPr>
          <p:cNvPr id="162852" name="AutoShape 2084"/>
          <p:cNvCxnSpPr>
            <a:cxnSpLocks noChangeShapeType="1"/>
            <a:stCxn id="162835" idx="3"/>
            <a:endCxn id="162843" idx="1"/>
          </p:cNvCxnSpPr>
          <p:nvPr/>
        </p:nvCxnSpPr>
        <p:spPr bwMode="auto">
          <a:xfrm flipV="1">
            <a:off x="6697663" y="3328988"/>
            <a:ext cx="830262" cy="387350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cxnSp>
        <p:nvCxnSpPr>
          <p:cNvPr id="162853" name="AutoShape 2085"/>
          <p:cNvCxnSpPr>
            <a:cxnSpLocks noChangeShapeType="1"/>
            <a:stCxn id="162828" idx="3"/>
            <a:endCxn id="162842" idx="1"/>
          </p:cNvCxnSpPr>
          <p:nvPr/>
        </p:nvCxnSpPr>
        <p:spPr bwMode="auto">
          <a:xfrm flipV="1">
            <a:off x="5580063" y="1968500"/>
            <a:ext cx="1836737" cy="381000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cxnSp>
        <p:nvCxnSpPr>
          <p:cNvPr id="162854" name="AutoShape 2086"/>
          <p:cNvCxnSpPr>
            <a:cxnSpLocks noChangeShapeType="1"/>
            <a:stCxn id="162829" idx="2"/>
            <a:endCxn id="162835" idx="0"/>
          </p:cNvCxnSpPr>
          <p:nvPr/>
        </p:nvCxnSpPr>
        <p:spPr bwMode="auto">
          <a:xfrm>
            <a:off x="6229350" y="3260725"/>
            <a:ext cx="0" cy="239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2855" name="AutoShape 2087"/>
          <p:cNvCxnSpPr>
            <a:cxnSpLocks noChangeShapeType="1"/>
            <a:stCxn id="162829" idx="2"/>
            <a:endCxn id="162832" idx="0"/>
          </p:cNvCxnSpPr>
          <p:nvPr/>
        </p:nvCxnSpPr>
        <p:spPr bwMode="auto">
          <a:xfrm rot="5400000">
            <a:off x="5558632" y="2844006"/>
            <a:ext cx="254000" cy="10874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cxnSp>
        <p:nvCxnSpPr>
          <p:cNvPr id="162856" name="AutoShape 2088"/>
          <p:cNvCxnSpPr>
            <a:cxnSpLocks noChangeShapeType="1"/>
            <a:stCxn id="162832" idx="2"/>
            <a:endCxn id="162833" idx="0"/>
          </p:cNvCxnSpPr>
          <p:nvPr/>
        </p:nvCxnSpPr>
        <p:spPr bwMode="auto">
          <a:xfrm>
            <a:off x="5141913" y="3946525"/>
            <a:ext cx="6350" cy="260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2857" name="AutoShape 2089"/>
          <p:cNvCxnSpPr>
            <a:cxnSpLocks noChangeShapeType="1"/>
            <a:stCxn id="162838" idx="2"/>
            <a:endCxn id="162840" idx="0"/>
          </p:cNvCxnSpPr>
          <p:nvPr/>
        </p:nvCxnSpPr>
        <p:spPr bwMode="auto">
          <a:xfrm>
            <a:off x="2066925" y="3952875"/>
            <a:ext cx="0" cy="484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2858" name="AutoShape 2090"/>
          <p:cNvCxnSpPr>
            <a:cxnSpLocks noChangeShapeType="1"/>
            <a:stCxn id="162840" idx="2"/>
            <a:endCxn id="162841" idx="0"/>
          </p:cNvCxnSpPr>
          <p:nvPr/>
        </p:nvCxnSpPr>
        <p:spPr bwMode="auto">
          <a:xfrm flipH="1">
            <a:off x="2065338" y="4964113"/>
            <a:ext cx="1587" cy="336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2859" name="AutoShape 2091"/>
          <p:cNvCxnSpPr>
            <a:cxnSpLocks noChangeShapeType="1"/>
            <a:stCxn id="162839" idx="2"/>
            <a:endCxn id="162840" idx="0"/>
          </p:cNvCxnSpPr>
          <p:nvPr/>
        </p:nvCxnSpPr>
        <p:spPr bwMode="auto">
          <a:xfrm rot="16200000" flipH="1">
            <a:off x="1356519" y="3726657"/>
            <a:ext cx="196850" cy="12239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cxnSp>
        <p:nvCxnSpPr>
          <p:cNvPr id="162860" name="AutoShape 2092"/>
          <p:cNvCxnSpPr>
            <a:cxnSpLocks noChangeShapeType="1"/>
            <a:stCxn id="162835" idx="2"/>
            <a:endCxn id="162834" idx="0"/>
          </p:cNvCxnSpPr>
          <p:nvPr/>
        </p:nvCxnSpPr>
        <p:spPr bwMode="auto">
          <a:xfrm flipH="1">
            <a:off x="6226175" y="3932238"/>
            <a:ext cx="3175" cy="809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2861" name="AutoShape 2093"/>
          <p:cNvCxnSpPr>
            <a:cxnSpLocks noChangeShapeType="1"/>
            <a:stCxn id="162841" idx="3"/>
            <a:endCxn id="162826" idx="1"/>
          </p:cNvCxnSpPr>
          <p:nvPr/>
        </p:nvCxnSpPr>
        <p:spPr bwMode="auto">
          <a:xfrm flipV="1">
            <a:off x="2438400" y="3778250"/>
            <a:ext cx="877888" cy="1785938"/>
          </a:xfrm>
          <a:prstGeom prst="bentConnector3">
            <a:avLst>
              <a:gd name="adj1" fmla="val 49907"/>
            </a:avLst>
          </a:prstGeom>
          <a:noFill/>
          <a:ln w="38100">
            <a:solidFill>
              <a:srgbClr val="3399FF"/>
            </a:solidFill>
            <a:prstDash val="dash"/>
            <a:miter lim="800000"/>
            <a:headEnd/>
            <a:tailEnd type="triangle" w="med" len="med"/>
          </a:ln>
          <a:effectLst/>
        </p:spPr>
      </p:cxnSp>
      <p:cxnSp>
        <p:nvCxnSpPr>
          <p:cNvPr id="162862" name="AutoShape 2094"/>
          <p:cNvCxnSpPr>
            <a:cxnSpLocks noChangeShapeType="1"/>
            <a:stCxn id="162834" idx="3"/>
            <a:endCxn id="162831" idx="1"/>
          </p:cNvCxnSpPr>
          <p:nvPr/>
        </p:nvCxnSpPr>
        <p:spPr bwMode="auto">
          <a:xfrm flipV="1">
            <a:off x="6726238" y="4484688"/>
            <a:ext cx="474662" cy="520700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162863" name="Rectangle 2095"/>
          <p:cNvSpPr>
            <a:spLocks noChangeArrowheads="1"/>
          </p:cNvSpPr>
          <p:nvPr/>
        </p:nvSpPr>
        <p:spPr bwMode="auto">
          <a:xfrm>
            <a:off x="2555875" y="6308725"/>
            <a:ext cx="360363" cy="14287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64" name="Text Box 2096"/>
          <p:cNvSpPr txBox="1">
            <a:spLocks noChangeArrowheads="1"/>
          </p:cNvSpPr>
          <p:nvPr/>
        </p:nvSpPr>
        <p:spPr bwMode="auto">
          <a:xfrm>
            <a:off x="2987675" y="6237288"/>
            <a:ext cx="306228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Arial" charset="0"/>
                <a:cs typeface="Arial" charset="0"/>
              </a:rPr>
              <a:t>EA Governance</a:t>
            </a:r>
            <a:r>
              <a:rPr lang="en-US" sz="1400">
                <a:solidFill>
                  <a:schemeClr val="bg1"/>
                </a:solidFill>
                <a:latin typeface="Arial" charset="0"/>
                <a:cs typeface="Arial" charset="0"/>
              </a:rPr>
              <a:t> Governance Boards</a:t>
            </a:r>
          </a:p>
        </p:txBody>
      </p:sp>
      <p:cxnSp>
        <p:nvCxnSpPr>
          <p:cNvPr id="162865" name="AutoShape 2097"/>
          <p:cNvCxnSpPr>
            <a:cxnSpLocks noChangeShapeType="1"/>
            <a:stCxn id="162834" idx="2"/>
            <a:endCxn id="162830" idx="1"/>
          </p:cNvCxnSpPr>
          <p:nvPr/>
        </p:nvCxnSpPr>
        <p:spPr bwMode="auto">
          <a:xfrm rot="16200000" flipH="1">
            <a:off x="6523038" y="4972050"/>
            <a:ext cx="266700" cy="860425"/>
          </a:xfrm>
          <a:prstGeom prst="bentConnector2">
            <a:avLst/>
          </a:prstGeom>
          <a:noFill/>
          <a:ln w="38100">
            <a:solidFill>
              <a:srgbClr val="3399FF"/>
            </a:solidFill>
            <a:prstDash val="dash"/>
            <a:miter lim="800000"/>
            <a:headEnd/>
            <a:tailEnd type="triangle" w="med" len="med"/>
          </a:ln>
          <a:effectLst/>
        </p:spPr>
      </p:cxnSp>
      <p:sp>
        <p:nvSpPr>
          <p:cNvPr id="162866" name="Rectangle 2098"/>
          <p:cNvSpPr>
            <a:spLocks noChangeArrowheads="1"/>
          </p:cNvSpPr>
          <p:nvPr/>
        </p:nvSpPr>
        <p:spPr bwMode="auto">
          <a:xfrm>
            <a:off x="5219700" y="6308725"/>
            <a:ext cx="360363" cy="142875"/>
          </a:xfrm>
          <a:prstGeom prst="rect">
            <a:avLst/>
          </a:prstGeom>
          <a:solidFill>
            <a:srgbClr val="66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67" name="Text Box 2099"/>
          <p:cNvSpPr txBox="1">
            <a:spLocks noChangeArrowheads="1"/>
          </p:cNvSpPr>
          <p:nvPr/>
        </p:nvSpPr>
        <p:spPr bwMode="auto">
          <a:xfrm>
            <a:off x="5651500" y="6237288"/>
            <a:ext cx="20685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Arial" charset="0"/>
                <a:cs typeface="Arial" charset="0"/>
              </a:rPr>
              <a:t>EA Guidance</a:t>
            </a:r>
            <a:r>
              <a:rPr lang="en-US" sz="140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1400">
                <a:latin typeface="Arial" charset="0"/>
                <a:cs typeface="Arial" charset="0"/>
              </a:rPr>
              <a:t>&amp; Support</a:t>
            </a:r>
          </a:p>
        </p:txBody>
      </p:sp>
      <p:cxnSp>
        <p:nvCxnSpPr>
          <p:cNvPr id="162868" name="AutoShape 2100"/>
          <p:cNvCxnSpPr>
            <a:cxnSpLocks noChangeShapeType="1"/>
            <a:stCxn id="162829" idx="1"/>
            <a:endCxn id="162825" idx="3"/>
          </p:cNvCxnSpPr>
          <p:nvPr/>
        </p:nvCxnSpPr>
        <p:spPr bwMode="auto">
          <a:xfrm flipH="1">
            <a:off x="4284663" y="3044825"/>
            <a:ext cx="1476375" cy="1588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cxnSp>
        <p:nvCxnSpPr>
          <p:cNvPr id="162869" name="AutoShape 2101"/>
          <p:cNvCxnSpPr>
            <a:cxnSpLocks noChangeShapeType="1"/>
          </p:cNvCxnSpPr>
          <p:nvPr/>
        </p:nvCxnSpPr>
        <p:spPr bwMode="auto">
          <a:xfrm>
            <a:off x="2514600" y="3581400"/>
            <a:ext cx="795338" cy="1423988"/>
          </a:xfrm>
          <a:prstGeom prst="bentConnector3">
            <a:avLst>
              <a:gd name="adj1" fmla="val 37125"/>
            </a:avLst>
          </a:prstGeom>
          <a:noFill/>
          <a:ln w="38100">
            <a:solidFill>
              <a:srgbClr val="3399FF"/>
            </a:solidFill>
            <a:prstDash val="dash"/>
            <a:miter lim="800000"/>
            <a:headEnd/>
            <a:tailEnd type="triangle" w="med" len="med"/>
          </a:ln>
          <a:effectLst/>
        </p:spPr>
      </p:cxnSp>
      <p:cxnSp>
        <p:nvCxnSpPr>
          <p:cNvPr id="162870" name="AutoShape 2102"/>
          <p:cNvCxnSpPr>
            <a:cxnSpLocks noChangeShapeType="1"/>
            <a:stCxn id="162834" idx="1"/>
            <a:endCxn id="162827" idx="3"/>
          </p:cNvCxnSpPr>
          <p:nvPr/>
        </p:nvCxnSpPr>
        <p:spPr bwMode="auto">
          <a:xfrm flipH="1">
            <a:off x="4284663" y="5005388"/>
            <a:ext cx="1439862" cy="1587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162871" name="Rectangle 2103"/>
          <p:cNvSpPr>
            <a:spLocks noChangeArrowheads="1"/>
          </p:cNvSpPr>
          <p:nvPr/>
        </p:nvSpPr>
        <p:spPr bwMode="auto">
          <a:xfrm>
            <a:off x="395288" y="2830513"/>
            <a:ext cx="785812" cy="52705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>
                <a:latin typeface="Arial" charset="0"/>
                <a:cs typeface="Arial" charset="0"/>
              </a:rPr>
              <a:t>Agency</a:t>
            </a:r>
          </a:p>
          <a:p>
            <a:pPr algn="ctr"/>
            <a:r>
              <a:rPr lang="en-US" sz="1400">
                <a:latin typeface="Arial" charset="0"/>
                <a:cs typeface="Arial" charset="0"/>
              </a:rPr>
              <a:t>CCB</a:t>
            </a:r>
          </a:p>
        </p:txBody>
      </p:sp>
      <p:cxnSp>
        <p:nvCxnSpPr>
          <p:cNvPr id="162872" name="AutoShape 2104"/>
          <p:cNvCxnSpPr>
            <a:cxnSpLocks noChangeShapeType="1"/>
            <a:stCxn id="162837" idx="2"/>
            <a:endCxn id="162871" idx="0"/>
          </p:cNvCxnSpPr>
          <p:nvPr/>
        </p:nvCxnSpPr>
        <p:spPr bwMode="auto">
          <a:xfrm flipH="1">
            <a:off x="788988" y="2563813"/>
            <a:ext cx="3175" cy="266700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cxnSp>
        <p:nvCxnSpPr>
          <p:cNvPr id="162873" name="AutoShape 2105"/>
          <p:cNvCxnSpPr>
            <a:cxnSpLocks noChangeShapeType="1"/>
            <a:stCxn id="162838" idx="1"/>
            <a:endCxn id="162871" idx="3"/>
          </p:cNvCxnSpPr>
          <p:nvPr/>
        </p:nvCxnSpPr>
        <p:spPr bwMode="auto">
          <a:xfrm rot="10800000">
            <a:off x="1181100" y="3094038"/>
            <a:ext cx="398463" cy="488950"/>
          </a:xfrm>
          <a:prstGeom prst="bentConnector3">
            <a:avLst>
              <a:gd name="adj1" fmla="val 50199"/>
            </a:avLst>
          </a:prstGeom>
          <a:noFill/>
          <a:ln w="38100">
            <a:solidFill>
              <a:srgbClr val="3399FF"/>
            </a:solidFill>
            <a:prstDash val="dash"/>
            <a:miter lim="800000"/>
            <a:headEnd/>
            <a:tailEnd type="triangle" w="med" len="med"/>
          </a:ln>
          <a:effectLst/>
        </p:spPr>
      </p:cxnSp>
      <p:cxnSp>
        <p:nvCxnSpPr>
          <p:cNvPr id="162874" name="AutoShape 2106"/>
          <p:cNvCxnSpPr>
            <a:cxnSpLocks noChangeShapeType="1"/>
            <a:stCxn id="162828" idx="2"/>
            <a:endCxn id="162829" idx="0"/>
          </p:cNvCxnSpPr>
          <p:nvPr/>
        </p:nvCxnSpPr>
        <p:spPr bwMode="auto">
          <a:xfrm rot="16200000" flipH="1">
            <a:off x="5538787" y="2138363"/>
            <a:ext cx="263525" cy="11176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62875" name="AutoShape 2107"/>
          <p:cNvCxnSpPr>
            <a:cxnSpLocks noChangeShapeType="1"/>
            <a:stCxn id="162828" idx="1"/>
            <a:endCxn id="162836" idx="3"/>
          </p:cNvCxnSpPr>
          <p:nvPr/>
        </p:nvCxnSpPr>
        <p:spPr bwMode="auto">
          <a:xfrm flipH="1" flipV="1">
            <a:off x="3594100" y="2347913"/>
            <a:ext cx="10493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62876" name="Line 2108"/>
          <p:cNvSpPr>
            <a:spLocks noChangeShapeType="1"/>
          </p:cNvSpPr>
          <p:nvPr/>
        </p:nvSpPr>
        <p:spPr bwMode="auto">
          <a:xfrm>
            <a:off x="3810000" y="1905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162877" name="AutoShape 2109"/>
          <p:cNvCxnSpPr>
            <a:cxnSpLocks noChangeShapeType="1"/>
            <a:stCxn id="162837" idx="3"/>
            <a:endCxn id="162836" idx="1"/>
          </p:cNvCxnSpPr>
          <p:nvPr/>
        </p:nvCxnSpPr>
        <p:spPr bwMode="auto">
          <a:xfrm>
            <a:off x="1260475" y="2347913"/>
            <a:ext cx="1008063" cy="0"/>
          </a:xfrm>
          <a:prstGeom prst="straightConnector1">
            <a:avLst/>
          </a:prstGeom>
          <a:noFill/>
          <a:ln w="38100">
            <a:solidFill>
              <a:srgbClr val="3399FF"/>
            </a:solidFill>
            <a:prstDash val="dash"/>
            <a:round/>
            <a:headEnd/>
            <a:tailEnd type="triangle" w="med" len="med"/>
          </a:ln>
          <a:effectLst/>
        </p:spPr>
      </p:cxnSp>
      <p:cxnSp>
        <p:nvCxnSpPr>
          <p:cNvPr id="162878" name="AutoShape 2110"/>
          <p:cNvCxnSpPr>
            <a:cxnSpLocks noChangeShapeType="1"/>
            <a:stCxn id="162837" idx="2"/>
            <a:endCxn id="162838" idx="0"/>
          </p:cNvCxnSpPr>
          <p:nvPr/>
        </p:nvCxnSpPr>
        <p:spPr bwMode="auto">
          <a:xfrm rot="16200000" flipH="1">
            <a:off x="1104900" y="2251076"/>
            <a:ext cx="649287" cy="1274762"/>
          </a:xfrm>
          <a:prstGeom prst="bentConnector3">
            <a:avLst>
              <a:gd name="adj1" fmla="val 1197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sp>
        <p:nvSpPr>
          <p:cNvPr id="162879" name="Line 2111"/>
          <p:cNvSpPr>
            <a:spLocks noChangeShapeType="1"/>
          </p:cNvSpPr>
          <p:nvPr/>
        </p:nvSpPr>
        <p:spPr bwMode="auto">
          <a:xfrm>
            <a:off x="3810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2880" name="Rectangle 2112"/>
          <p:cNvSpPr>
            <a:spLocks noChangeArrowheads="1"/>
          </p:cNvSpPr>
          <p:nvPr/>
        </p:nvSpPr>
        <p:spPr bwMode="auto">
          <a:xfrm>
            <a:off x="4724400" y="5562600"/>
            <a:ext cx="1295400" cy="4318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>
                <a:latin typeface="Arial" charset="0"/>
                <a:cs typeface="Arial" charset="0"/>
              </a:rPr>
              <a:t>EAR Users Group</a:t>
            </a:r>
          </a:p>
        </p:txBody>
      </p:sp>
      <p:sp>
        <p:nvSpPr>
          <p:cNvPr id="162881" name="Rectangle 2113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457200"/>
          </a:xfrm>
        </p:spPr>
        <p:txBody>
          <a:bodyPr/>
          <a:lstStyle/>
          <a:p>
            <a:pPr algn="ctr"/>
            <a:r>
              <a:rPr lang="en-US" sz="3200">
                <a:solidFill>
                  <a:schemeClr val="tx1"/>
                </a:solidFill>
                <a:latin typeface="Arial" charset="0"/>
              </a:rPr>
              <a:t>USDA EA Governance Model</a:t>
            </a:r>
          </a:p>
        </p:txBody>
      </p:sp>
      <p:sp>
        <p:nvSpPr>
          <p:cNvPr id="162882" name="Line 2114"/>
          <p:cNvSpPr>
            <a:spLocks noChangeShapeType="1"/>
          </p:cNvSpPr>
          <p:nvPr/>
        </p:nvSpPr>
        <p:spPr bwMode="auto">
          <a:xfrm>
            <a:off x="5867400" y="525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 advClick="0" advTm="17000">
    <p:randomBa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EF92-2F70-470F-A5C1-58B1479068BE}" type="slidenum">
              <a:rPr lang="en-US"/>
              <a:pPr/>
              <a:t>24</a:t>
            </a:fld>
            <a:endParaRPr lang="en-US"/>
          </a:p>
        </p:txBody>
      </p:sp>
      <p:sp>
        <p:nvSpPr>
          <p:cNvPr id="1679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839788"/>
            <a:ext cx="7772400" cy="608012"/>
          </a:xfrm>
        </p:spPr>
        <p:txBody>
          <a:bodyPr/>
          <a:lstStyle/>
          <a:p>
            <a:r>
              <a:rPr lang="en-US" b="1"/>
              <a:t> </a:t>
            </a:r>
            <a:r>
              <a:rPr lang="en-US" sz="4000">
                <a:solidFill>
                  <a:schemeClr val="tx1"/>
                </a:solidFill>
                <a:latin typeface="Arial" charset="0"/>
              </a:rPr>
              <a:t>EA Performance Requirements</a:t>
            </a:r>
            <a:r>
              <a:rPr lang="en-US" sz="4000">
                <a:latin typeface="Arial" charset="0"/>
              </a:rPr>
              <a:t> </a:t>
            </a:r>
          </a:p>
        </p:txBody>
      </p:sp>
      <p:sp>
        <p:nvSpPr>
          <p:cNvPr id="16793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4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For the FY 2006, OMB is emphasizing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	4 things: 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800">
              <a:latin typeface="Arial" charset="0"/>
            </a:endParaRPr>
          </a:p>
          <a:p>
            <a:pPr>
              <a:lnSpc>
                <a:spcPct val="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800">
              <a:latin typeface="Arial" charset="0"/>
            </a:endParaRPr>
          </a:p>
          <a:p>
            <a:pPr>
              <a:lnSpc>
                <a:spcPct val="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8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</a:rPr>
              <a:t>Architecture </a:t>
            </a:r>
            <a:r>
              <a:rPr lang="en-US" b="1">
                <a:latin typeface="Arial" charset="0"/>
              </a:rPr>
              <a:t>completion</a:t>
            </a:r>
          </a:p>
          <a:p>
            <a:pPr lvl="1">
              <a:lnSpc>
                <a:spcPct val="40000"/>
              </a:lnSpc>
              <a:buFont typeface="Wingdings" pitchFamily="2" charset="2"/>
              <a:buNone/>
            </a:pPr>
            <a:endParaRPr lang="en-US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</a:rPr>
              <a:t>Architecture </a:t>
            </a:r>
            <a:r>
              <a:rPr lang="en-US" b="1">
                <a:latin typeface="Arial" charset="0"/>
              </a:rPr>
              <a:t>use</a:t>
            </a:r>
          </a:p>
          <a:p>
            <a:pPr lvl="1">
              <a:lnSpc>
                <a:spcPct val="40000"/>
              </a:lnSpc>
              <a:buFont typeface="Wingdings" pitchFamily="2" charset="2"/>
              <a:buNone/>
            </a:pPr>
            <a:endParaRPr lang="en-US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</a:rPr>
              <a:t>Architecture </a:t>
            </a:r>
            <a:r>
              <a:rPr lang="en-US" b="1">
                <a:latin typeface="Arial" charset="0"/>
              </a:rPr>
              <a:t>results</a:t>
            </a:r>
          </a:p>
          <a:p>
            <a:pPr lvl="1">
              <a:lnSpc>
                <a:spcPct val="40000"/>
              </a:lnSpc>
              <a:buFont typeface="Wingdings" pitchFamily="2" charset="2"/>
              <a:buNone/>
            </a:pPr>
            <a:endParaRPr lang="en-US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</a:rPr>
              <a:t>Architecture </a:t>
            </a:r>
            <a:r>
              <a:rPr lang="en-US" b="1">
                <a:latin typeface="Arial" charset="0"/>
              </a:rPr>
              <a:t>policy alignment</a:t>
            </a:r>
            <a:r>
              <a:rPr lang="en-US">
                <a:latin typeface="Arial" charset="0"/>
              </a:rPr>
              <a:t>. </a:t>
            </a:r>
          </a:p>
          <a:p>
            <a:pPr>
              <a:lnSpc>
                <a:spcPct val="5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800">
              <a:latin typeface="Arial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     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7659-F0C8-4270-92C9-05279E0F1198}" type="slidenum">
              <a:rPr lang="en-US"/>
              <a:pPr/>
              <a:t>25</a:t>
            </a:fld>
            <a:endParaRPr lang="en-US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Arial" charset="0"/>
              </a:rPr>
              <a:t>EA Program - 2006</a:t>
            </a:r>
            <a:endParaRPr lang="en-US"/>
          </a:p>
        </p:txBody>
      </p:sp>
      <p:sp>
        <p:nvSpPr>
          <p:cNvPr id="747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772400" cy="4454525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The EA Division</a:t>
            </a:r>
            <a:r>
              <a:rPr lang="en-US" sz="2400">
                <a:latin typeface="Arial" charset="0"/>
              </a:rPr>
              <a:t> 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Has pre-populated the EA tool with C&amp;A system data and CPIC investment information.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Has provided basic training of the content stewards.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Is currently migrating data to a newer version of the EA Repository (EAR).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Agencies</a:t>
            </a:r>
            <a:r>
              <a:rPr lang="en-US" sz="2400">
                <a:latin typeface="Arial" charset="0"/>
              </a:rPr>
              <a:t> 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Over this past summer and fall, were updating, validating, and adding information in the EA tool with views of current and target architectures.</a:t>
            </a:r>
            <a:endParaRPr lang="en-US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20000"/>
              </a:lnSpc>
              <a:buClr>
                <a:schemeClr val="tx1"/>
              </a:buClr>
            </a:pPr>
            <a:endParaRPr lang="en-US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We have established a users group in support of the tool.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523E-325D-465C-B2DF-1222262EAD79}" type="slidenum">
              <a:rPr lang="en-US"/>
              <a:pPr/>
              <a:t>26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USDA EA Repository -- Adaptive</a:t>
            </a:r>
            <a:endParaRPr lang="en-US"/>
          </a:p>
        </p:txBody>
      </p:sp>
      <p:sp>
        <p:nvSpPr>
          <p:cNvPr id="79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The EA Repository is being used to collect current &amp; target architecture information: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>
                <a:latin typeface="Arial" charset="0"/>
              </a:rPr>
              <a:t>Applications, Systems, &amp; Component Information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>
                <a:latin typeface="Arial" charset="0"/>
              </a:rPr>
              <a:t>Business functions, processes, and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>
                <a:latin typeface="Arial" charset="0"/>
              </a:rPr>
              <a:t>	Information Flow Diagrams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>
                <a:latin typeface="Arial" charset="0"/>
              </a:rPr>
              <a:t>Data Models &amp; Data Dictionary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>
                <a:latin typeface="Arial" charset="0"/>
              </a:rPr>
              <a:t>External Interface Descriptions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>
                <a:latin typeface="Arial" charset="0"/>
              </a:rPr>
              <a:t>Technical Designs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>
                <a:latin typeface="Arial" charset="0"/>
              </a:rPr>
              <a:t>Data &amp; Technology Standards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15D0-CF60-4CC6-951F-D237687390A0}" type="slidenum">
              <a:rPr lang="en-US"/>
              <a:pPr/>
              <a:t>27</a:t>
            </a:fld>
            <a:endParaRPr lang="en-US"/>
          </a:p>
        </p:txBody>
      </p:sp>
      <p:pic>
        <p:nvPicPr>
          <p:cNvPr id="156674" name="Picture 2" descr="BusinesPlan Concepts in Adaptiv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914400"/>
            <a:ext cx="8229600" cy="549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3650-4FB1-4DE3-ADAA-342287E1BFD3}" type="slidenum">
              <a:rPr lang="en-US"/>
              <a:pPr/>
              <a:t>28</a:t>
            </a:fld>
            <a:endParaRPr lang="en-US"/>
          </a:p>
        </p:txBody>
      </p:sp>
      <p:sp>
        <p:nvSpPr>
          <p:cNvPr id="1351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839788"/>
            <a:ext cx="7772400" cy="608012"/>
          </a:xfrm>
        </p:spPr>
        <p:txBody>
          <a:bodyPr/>
          <a:lstStyle/>
          <a:p>
            <a:pPr marL="609600" indent="-609600"/>
            <a:r>
              <a:rPr lang="en-US" sz="4000">
                <a:solidFill>
                  <a:schemeClr val="tx1"/>
                </a:solidFill>
                <a:latin typeface="Arial" charset="0"/>
              </a:rPr>
              <a:t>Overview of EAR Governance</a:t>
            </a:r>
          </a:p>
        </p:txBody>
      </p:sp>
      <p:pic>
        <p:nvPicPr>
          <p:cNvPr id="135171" name="Picture 102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371600"/>
            <a:ext cx="6911975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B3E42-E435-4195-A5CB-63164B165791}" type="slidenum">
              <a:rPr lang="en-US"/>
              <a:pPr/>
              <a:t>29</a:t>
            </a:fld>
            <a:endParaRPr lang="en-US"/>
          </a:p>
        </p:txBody>
      </p:sp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7772400" cy="1371600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Agency Architectures</a:t>
            </a:r>
            <a:r>
              <a:rPr lang="en-US" sz="4000" b="1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4000" b="1">
                <a:solidFill>
                  <a:schemeClr val="tx1"/>
                </a:solidFill>
                <a:latin typeface="Arial" charset="0"/>
              </a:rPr>
            </a:br>
            <a:endParaRPr lang="en-US" b="1"/>
          </a:p>
        </p:txBody>
      </p:sp>
      <p:sp>
        <p:nvSpPr>
          <p:cNvPr id="45060" name="Rectangle 1028"/>
          <p:cNvSpPr>
            <a:spLocks noChangeArrowheads="1"/>
          </p:cNvSpPr>
          <p:nvPr/>
        </p:nvSpPr>
        <p:spPr bwMode="auto">
          <a:xfrm>
            <a:off x="-1676400" y="3810000"/>
            <a:ext cx="7543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endParaRPr lang="en-US" b="1">
              <a:latin typeface="Times New Roman" pitchFamily="18" charset="0"/>
            </a:endParaRPr>
          </a:p>
        </p:txBody>
      </p:sp>
      <p:sp>
        <p:nvSpPr>
          <p:cNvPr id="45061" name="Rectangle 1029"/>
          <p:cNvSpPr>
            <a:spLocks noChangeArrowheads="1"/>
          </p:cNvSpPr>
          <p:nvPr/>
        </p:nvSpPr>
        <p:spPr bwMode="auto">
          <a:xfrm>
            <a:off x="685800" y="2362200"/>
            <a:ext cx="8001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800">
                <a:latin typeface="Arial" charset="0"/>
              </a:rPr>
              <a:t>Agency architectures are part of the USDA architecture (They will be regularly imported into central USDA architecture repository).</a:t>
            </a:r>
          </a:p>
          <a:p>
            <a:endParaRPr lang="en-US" sz="2800">
              <a:latin typeface="Arial" charset="0"/>
            </a:endParaRPr>
          </a:p>
          <a:p>
            <a:r>
              <a:rPr lang="en-US" sz="2800">
                <a:latin typeface="Arial" charset="0"/>
              </a:rPr>
              <a:t>Agency architectures must include cross references to FEA framework (OMB reference models) for Federal decision making.</a:t>
            </a:r>
          </a:p>
          <a:p>
            <a:endParaRPr lang="en-US" sz="2800">
              <a:latin typeface="Times New Roman" pitchFamily="18" charset="0"/>
            </a:endParaRPr>
          </a:p>
          <a:p>
            <a:r>
              <a:rPr lang="en-US" sz="2000">
                <a:latin typeface="Times New Roman" pitchFamily="18" charset="0"/>
              </a:rPr>
              <a:t>     </a:t>
            </a:r>
          </a:p>
          <a:p>
            <a:endParaRPr lang="en-US" sz="28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82F3-078D-4CAF-9810-A8D7F1653962}" type="slidenum">
              <a:rPr lang="en-US"/>
              <a:pPr/>
              <a:t>30</a:t>
            </a:fld>
            <a:endParaRPr lang="en-US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How can PMs use the EAR?</a:t>
            </a:r>
            <a:endParaRPr lang="en-US"/>
          </a:p>
        </p:txBody>
      </p:sp>
      <p:sp>
        <p:nvSpPr>
          <p:cNvPr id="1587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7467600" cy="3802063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To develop system requirements aligned to the USDA Strategic Plan &amp; Agency Plans</a:t>
            </a:r>
          </a:p>
          <a:p>
            <a:pPr>
              <a:lnSpc>
                <a:spcPct val="1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8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To identify similar systems – current/future</a:t>
            </a:r>
            <a:endParaRPr lang="en-US">
              <a:latin typeface="Arial" charset="0"/>
            </a:endParaRPr>
          </a:p>
          <a:p>
            <a:pPr lvl="1">
              <a:lnSpc>
                <a:spcPct val="40000"/>
              </a:lnSpc>
              <a:buFont typeface="Wingdings" pitchFamily="2" charset="2"/>
              <a:buNone/>
            </a:pPr>
            <a:endParaRPr lang="en-US" sz="14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To develop project level architectures aligned with USDA’s EA.</a:t>
            </a:r>
          </a:p>
          <a:p>
            <a:pPr>
              <a:buClr>
                <a:schemeClr val="tx1"/>
              </a:buClr>
            </a:pPr>
            <a:r>
              <a:rPr lang="en-US" sz="2800">
                <a:latin typeface="Arial" charset="0"/>
              </a:rPr>
              <a:t>To obtain information to support the projects business case.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2313-D3B1-49D1-A703-142DF55F70AB}" type="slidenum">
              <a:rPr lang="en-US"/>
              <a:pPr/>
              <a:t>31</a:t>
            </a:fld>
            <a:endParaRPr lang="en-US"/>
          </a:p>
        </p:txBody>
      </p:sp>
      <p:sp>
        <p:nvSpPr>
          <p:cNvPr id="160770" name="Text Box 2"/>
          <p:cNvSpPr txBox="1">
            <a:spLocks noChangeArrowheads="1"/>
          </p:cNvSpPr>
          <p:nvPr/>
        </p:nvSpPr>
        <p:spPr bwMode="ltGray">
          <a:xfrm>
            <a:off x="2133600" y="304800"/>
            <a:ext cx="489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CPIC 300 Process and Enterprise Architecture</a:t>
            </a:r>
          </a:p>
        </p:txBody>
      </p:sp>
      <p:sp>
        <p:nvSpPr>
          <p:cNvPr id="160771" name="Text Box 3"/>
          <p:cNvSpPr txBox="1">
            <a:spLocks noChangeArrowheads="1"/>
          </p:cNvSpPr>
          <p:nvPr/>
        </p:nvSpPr>
        <p:spPr bwMode="ltGray">
          <a:xfrm>
            <a:off x="685800" y="5638800"/>
            <a:ext cx="3124200" cy="650875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latin typeface="Arial" charset="0"/>
              </a:rPr>
              <a:t>Business Need Identified and Documented</a:t>
            </a:r>
          </a:p>
        </p:txBody>
      </p:sp>
      <p:sp>
        <p:nvSpPr>
          <p:cNvPr id="160772" name="Text Box 4"/>
          <p:cNvSpPr txBox="1">
            <a:spLocks noChangeArrowheads="1"/>
          </p:cNvSpPr>
          <p:nvPr/>
        </p:nvSpPr>
        <p:spPr bwMode="ltGray">
          <a:xfrm>
            <a:off x="4724400" y="4191000"/>
            <a:ext cx="1703388" cy="106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Arial" charset="0"/>
              </a:rPr>
              <a:t>Enterprise </a:t>
            </a:r>
          </a:p>
          <a:p>
            <a:pPr algn="ctr"/>
            <a:r>
              <a:rPr lang="en-US" sz="1800">
                <a:latin typeface="Arial" charset="0"/>
              </a:rPr>
              <a:t>Repository </a:t>
            </a:r>
          </a:p>
          <a:p>
            <a:pPr algn="ctr"/>
            <a:r>
              <a:rPr lang="en-US" sz="1800">
                <a:latin typeface="Arial" charset="0"/>
              </a:rPr>
              <a:t>Tool</a:t>
            </a:r>
          </a:p>
          <a:p>
            <a:pPr algn="ctr"/>
            <a:r>
              <a:rPr lang="en-US" sz="1000">
                <a:latin typeface="Arial" charset="0"/>
              </a:rPr>
              <a:t>(Holds Project Arch. Plans)</a:t>
            </a:r>
          </a:p>
        </p:txBody>
      </p:sp>
      <p:sp>
        <p:nvSpPr>
          <p:cNvPr id="160773" name="Text Box 5"/>
          <p:cNvSpPr txBox="1">
            <a:spLocks noChangeArrowheads="1"/>
          </p:cNvSpPr>
          <p:nvPr/>
        </p:nvSpPr>
        <p:spPr bwMode="ltGray">
          <a:xfrm>
            <a:off x="685800" y="3962400"/>
            <a:ext cx="3200400" cy="137795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 i="1">
                <a:latin typeface="Arial" charset="0"/>
              </a:rPr>
              <a:t>Project Offices performs Initial architecture check</a:t>
            </a:r>
            <a:r>
              <a:rPr lang="en-US" sz="1400" i="1">
                <a:latin typeface="Arial" charset="0"/>
              </a:rPr>
              <a:t> for possible redundancy with existing systems/data, compliance with enterprise plans, and identification of relevant standards</a:t>
            </a:r>
          </a:p>
        </p:txBody>
      </p:sp>
      <p:sp>
        <p:nvSpPr>
          <p:cNvPr id="160774" name="Text Box 6"/>
          <p:cNvSpPr txBox="1">
            <a:spLocks noChangeArrowheads="1"/>
          </p:cNvSpPr>
          <p:nvPr/>
        </p:nvSpPr>
        <p:spPr bwMode="ltGray">
          <a:xfrm>
            <a:off x="609600" y="914400"/>
            <a:ext cx="3276600" cy="9525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 i="1">
                <a:latin typeface="Arial" charset="0"/>
              </a:rPr>
              <a:t>Project Office develops business </a:t>
            </a:r>
          </a:p>
          <a:p>
            <a:r>
              <a:rPr lang="en-US" sz="1400" b="1" i="1">
                <a:latin typeface="Arial" charset="0"/>
              </a:rPr>
              <a:t>case (300)</a:t>
            </a:r>
            <a:r>
              <a:rPr lang="en-US" sz="1400" i="1">
                <a:latin typeface="Arial" charset="0"/>
              </a:rPr>
              <a:t> – prepares</a:t>
            </a:r>
          </a:p>
          <a:p>
            <a:r>
              <a:rPr lang="en-US" sz="1400" i="1">
                <a:latin typeface="Arial" charset="0"/>
              </a:rPr>
              <a:t>justifications for any proposed exceptions to architecture</a:t>
            </a:r>
          </a:p>
        </p:txBody>
      </p:sp>
      <p:sp>
        <p:nvSpPr>
          <p:cNvPr id="160775" name="Oval 7"/>
          <p:cNvSpPr>
            <a:spLocks noChangeArrowheads="1"/>
          </p:cNvSpPr>
          <p:nvPr/>
        </p:nvSpPr>
        <p:spPr bwMode="ltGray">
          <a:xfrm>
            <a:off x="4495800" y="4114800"/>
            <a:ext cx="2209800" cy="144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76" name="Line 8"/>
          <p:cNvSpPr>
            <a:spLocks noChangeShapeType="1"/>
          </p:cNvSpPr>
          <p:nvPr/>
        </p:nvSpPr>
        <p:spPr bwMode="ltGray">
          <a:xfrm flipV="1">
            <a:off x="2209800" y="5410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77" name="Text Box 9"/>
          <p:cNvSpPr txBox="1">
            <a:spLocks noChangeArrowheads="1"/>
          </p:cNvSpPr>
          <p:nvPr/>
        </p:nvSpPr>
        <p:spPr bwMode="ltGray">
          <a:xfrm>
            <a:off x="7391400" y="3352800"/>
            <a:ext cx="1295400" cy="156845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i="1">
                <a:latin typeface="Arial" charset="0"/>
              </a:rPr>
              <a:t>Enterprise Architecture Updated (including approved exceptions)</a:t>
            </a:r>
          </a:p>
        </p:txBody>
      </p:sp>
      <p:sp>
        <p:nvSpPr>
          <p:cNvPr id="160778" name="Line 10"/>
          <p:cNvSpPr>
            <a:spLocks noChangeShapeType="1"/>
          </p:cNvSpPr>
          <p:nvPr/>
        </p:nvSpPr>
        <p:spPr bwMode="ltGray">
          <a:xfrm flipV="1">
            <a:off x="5181600" y="2514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79" name="Line 11"/>
          <p:cNvSpPr>
            <a:spLocks noChangeShapeType="1"/>
          </p:cNvSpPr>
          <p:nvPr/>
        </p:nvSpPr>
        <p:spPr bwMode="ltGray">
          <a:xfrm flipH="1">
            <a:off x="38862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80" name="Text Box 12"/>
          <p:cNvSpPr txBox="1">
            <a:spLocks noChangeArrowheads="1"/>
          </p:cNvSpPr>
          <p:nvPr/>
        </p:nvSpPr>
        <p:spPr bwMode="ltGray">
          <a:xfrm>
            <a:off x="4191000" y="914400"/>
            <a:ext cx="2438400" cy="156845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i="1">
                <a:latin typeface="Arial" charset="0"/>
              </a:rPr>
              <a:t>OCIO Review of Business Case –Includes review of Project Architecture Plan by EAD and preparation of Impact Analysis</a:t>
            </a:r>
          </a:p>
        </p:txBody>
      </p:sp>
      <p:sp>
        <p:nvSpPr>
          <p:cNvPr id="160781" name="Text Box 13"/>
          <p:cNvSpPr txBox="1">
            <a:spLocks noChangeArrowheads="1"/>
          </p:cNvSpPr>
          <p:nvPr/>
        </p:nvSpPr>
        <p:spPr bwMode="ltGray">
          <a:xfrm>
            <a:off x="7467600" y="914400"/>
            <a:ext cx="11430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latin typeface="Arial" charset="0"/>
              </a:rPr>
              <a:t>E-Board</a:t>
            </a:r>
          </a:p>
          <a:p>
            <a:pPr algn="ctr"/>
            <a:r>
              <a:rPr lang="en-US" sz="1800">
                <a:latin typeface="Arial" charset="0"/>
              </a:rPr>
              <a:t>Decision</a:t>
            </a:r>
          </a:p>
        </p:txBody>
      </p:sp>
      <p:sp>
        <p:nvSpPr>
          <p:cNvPr id="160782" name="Text Box 14"/>
          <p:cNvSpPr txBox="1">
            <a:spLocks noChangeArrowheads="1"/>
          </p:cNvSpPr>
          <p:nvPr/>
        </p:nvSpPr>
        <p:spPr bwMode="ltGray">
          <a:xfrm>
            <a:off x="7391400" y="2057400"/>
            <a:ext cx="1235075" cy="59055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i="1">
                <a:latin typeface="Arial" charset="0"/>
              </a:rPr>
              <a:t>Investment</a:t>
            </a:r>
          </a:p>
          <a:p>
            <a:r>
              <a:rPr lang="en-US" sz="1600" i="1">
                <a:latin typeface="Arial" charset="0"/>
              </a:rPr>
              <a:t>Approved</a:t>
            </a:r>
          </a:p>
        </p:txBody>
      </p:sp>
      <p:sp>
        <p:nvSpPr>
          <p:cNvPr id="160783" name="Text Box 15"/>
          <p:cNvSpPr txBox="1">
            <a:spLocks noChangeArrowheads="1"/>
          </p:cNvSpPr>
          <p:nvPr/>
        </p:nvSpPr>
        <p:spPr bwMode="ltGray">
          <a:xfrm>
            <a:off x="1600200" y="6324600"/>
            <a:ext cx="1225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Start Here</a:t>
            </a:r>
          </a:p>
        </p:txBody>
      </p:sp>
      <p:sp>
        <p:nvSpPr>
          <p:cNvPr id="160784" name="Line 16"/>
          <p:cNvSpPr>
            <a:spLocks noChangeShapeType="1"/>
          </p:cNvSpPr>
          <p:nvPr/>
        </p:nvSpPr>
        <p:spPr bwMode="ltGray">
          <a:xfrm>
            <a:off x="3886200" y="4953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85" name="Line 17"/>
          <p:cNvSpPr>
            <a:spLocks noChangeShapeType="1"/>
          </p:cNvSpPr>
          <p:nvPr/>
        </p:nvSpPr>
        <p:spPr bwMode="ltGray">
          <a:xfrm flipH="1">
            <a:off x="5410200" y="2514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86" name="Line 18"/>
          <p:cNvSpPr>
            <a:spLocks noChangeShapeType="1"/>
          </p:cNvSpPr>
          <p:nvPr/>
        </p:nvSpPr>
        <p:spPr bwMode="ltGray">
          <a:xfrm flipV="1">
            <a:off x="2133600" y="1905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87" name="Line 19"/>
          <p:cNvSpPr>
            <a:spLocks noChangeShapeType="1"/>
          </p:cNvSpPr>
          <p:nvPr/>
        </p:nvSpPr>
        <p:spPr bwMode="ltGray">
          <a:xfrm>
            <a:off x="8001000" y="2667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88" name="Line 20"/>
          <p:cNvSpPr>
            <a:spLocks noChangeShapeType="1"/>
          </p:cNvSpPr>
          <p:nvPr/>
        </p:nvSpPr>
        <p:spPr bwMode="ltGray">
          <a:xfrm flipH="1">
            <a:off x="6629400" y="42672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89" name="Text Box 21"/>
          <p:cNvSpPr txBox="1">
            <a:spLocks noChangeArrowheads="1"/>
          </p:cNvSpPr>
          <p:nvPr/>
        </p:nvSpPr>
        <p:spPr bwMode="ltGray">
          <a:xfrm>
            <a:off x="685800" y="2133600"/>
            <a:ext cx="3200400" cy="1590675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1" i="1">
                <a:latin typeface="Arial" charset="0"/>
              </a:rPr>
              <a:t>Project Office develops Architecture Plan for Project within</a:t>
            </a:r>
          </a:p>
          <a:p>
            <a:r>
              <a:rPr lang="en-US" sz="1400" b="1" i="1">
                <a:latin typeface="Arial" charset="0"/>
              </a:rPr>
              <a:t>Repository</a:t>
            </a:r>
          </a:p>
          <a:p>
            <a:r>
              <a:rPr lang="en-US" sz="1400" i="1">
                <a:latin typeface="Arial" charset="0"/>
              </a:rPr>
              <a:t>(Plan includes proposed applications and systems, standards to be used, explanation of why proposed technologies were selected, etc.)</a:t>
            </a:r>
          </a:p>
        </p:txBody>
      </p:sp>
      <p:sp>
        <p:nvSpPr>
          <p:cNvPr id="160790" name="Line 22"/>
          <p:cNvSpPr>
            <a:spLocks noChangeShapeType="1"/>
          </p:cNvSpPr>
          <p:nvPr/>
        </p:nvSpPr>
        <p:spPr bwMode="ltGray">
          <a:xfrm>
            <a:off x="3962400" y="34290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91" name="Line 23"/>
          <p:cNvSpPr>
            <a:spLocks noChangeShapeType="1"/>
          </p:cNvSpPr>
          <p:nvPr/>
        </p:nvSpPr>
        <p:spPr bwMode="ltGray">
          <a:xfrm flipV="1">
            <a:off x="21336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92" name="Line 24"/>
          <p:cNvSpPr>
            <a:spLocks noChangeShapeType="1"/>
          </p:cNvSpPr>
          <p:nvPr/>
        </p:nvSpPr>
        <p:spPr bwMode="ltGray">
          <a:xfrm>
            <a:off x="3886200" y="1371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93" name="Line 25"/>
          <p:cNvSpPr>
            <a:spLocks noChangeShapeType="1"/>
          </p:cNvSpPr>
          <p:nvPr/>
        </p:nvSpPr>
        <p:spPr bwMode="ltGray">
          <a:xfrm>
            <a:off x="6629400" y="1295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0794" name="Line 26"/>
          <p:cNvSpPr>
            <a:spLocks noChangeShapeType="1"/>
          </p:cNvSpPr>
          <p:nvPr/>
        </p:nvSpPr>
        <p:spPr bwMode="ltGray">
          <a:xfrm>
            <a:off x="8001000" y="160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BB8E0-1FD4-4E9B-A6FB-575FC32337ED}" type="slidenum">
              <a:rPr lang="en-US"/>
              <a:pPr/>
              <a:t>32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01638"/>
            <a:ext cx="7772400" cy="1046162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How Does EA Support the Capital Planning Process?</a:t>
            </a:r>
            <a:endParaRPr lang="en-US" sz="4000"/>
          </a:p>
        </p:txBody>
      </p:sp>
      <p:sp>
        <p:nvSpPr>
          <p:cNvPr id="37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Pre-select (Business Alignment)</a:t>
            </a:r>
            <a:endParaRPr lang="en-US" sz="2400">
              <a:latin typeface="Arial" charset="0"/>
            </a:endParaRP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Does investment fit the USDA target architecture? 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Does the investment duplicate other USDA/Agency functions or processes?  </a:t>
            </a:r>
          </a:p>
          <a:p>
            <a:pPr lvl="1">
              <a:lnSpc>
                <a:spcPct val="40000"/>
              </a:lnSpc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Select (Business Alignment)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Are data design, hardware and software selections, security planning, and telecommunications design in alignment with existing standards and the target architecture?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If not, has the ECCB approved an alternative?</a:t>
            </a:r>
          </a:p>
          <a:p>
            <a:pPr lvl="1"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B4CB3-FA74-4F62-9E73-9A40FF45DB8B}" type="slidenum">
              <a:rPr lang="en-US"/>
              <a:pPr/>
              <a:t>33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endParaRPr lang="en-US" sz="4000" b="1"/>
          </a:p>
        </p:txBody>
      </p:sp>
      <p:sp>
        <p:nvSpPr>
          <p:cNvPr id="419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534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Control (Technical Alignment)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Is development in alignment with existing standards and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Arial" charset="0"/>
              </a:rPr>
              <a:t>	the target vision?</a:t>
            </a:r>
          </a:p>
          <a:p>
            <a:pPr lvl="1">
              <a:lnSpc>
                <a:spcPct val="20000"/>
              </a:lnSpc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Evaluate and Steady State (Architecture Assessment)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How is the project architecture working? 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Is an EA assessment included in Post-Implementation Review? 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Are there plans for upgrades or retirement of the investment to meet the new, target architecture?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Arial" charset="0"/>
              </a:rPr>
              <a:t>Are systems integration or interfaces being planned? </a:t>
            </a:r>
          </a:p>
          <a:p>
            <a:pPr lvl="1">
              <a:lnSpc>
                <a:spcPct val="60000"/>
              </a:lnSpc>
              <a:buFont typeface="Wingdings" pitchFamily="2" charset="2"/>
              <a:buNone/>
            </a:pPr>
            <a:endParaRPr lang="en-US" sz="2000">
              <a:latin typeface="Arial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solidFill>
                  <a:srgbClr val="990000"/>
                </a:solidFill>
                <a:latin typeface="Arial" charset="0"/>
              </a:rPr>
              <a:t>These are some of the questions being asked during the review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solidFill>
                  <a:srgbClr val="990000"/>
                </a:solidFill>
                <a:latin typeface="Arial" charset="0"/>
              </a:rPr>
              <a:t>of waivers by OCIO.</a:t>
            </a:r>
          </a:p>
          <a:p>
            <a:pPr lvl="1">
              <a:lnSpc>
                <a:spcPct val="90000"/>
              </a:lnSpc>
            </a:pPr>
            <a:endParaRPr lang="en-US" sz="2000">
              <a:latin typeface="Arial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E98E-88DA-4B57-8539-AF765899381D}" type="slidenum">
              <a:rPr lang="en-US"/>
              <a:pPr/>
              <a:t>34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01638"/>
            <a:ext cx="7772400" cy="1046162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How is USDA EA Built and Maintained?</a:t>
            </a:r>
            <a:endParaRPr lang="en-US" sz="4000"/>
          </a:p>
        </p:txBody>
      </p:sp>
      <p:sp>
        <p:nvSpPr>
          <p:cNvPr id="399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9248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It is built by Agencies and OCIO working together.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EA changes and the adoption of new standards are managed by the ECCB. 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Investment oversight is provided by the E-Board.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	(CIO and Business Executives)</a:t>
            </a:r>
          </a:p>
          <a:p>
            <a:pPr>
              <a:lnSpc>
                <a:spcPct val="3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EA compliance and alignment with target architecture and transition plans is assured through architecture reviews and the CPIC/waiver processes.</a:t>
            </a:r>
          </a:p>
          <a:p>
            <a:pPr>
              <a:lnSpc>
                <a:spcPct val="90000"/>
              </a:lnSpc>
            </a:pPr>
            <a:endParaRPr lang="en-US" sz="2400">
              <a:latin typeface="Arial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A0333-595E-4303-8BD3-2C80EED57C17}" type="slidenum">
              <a:rPr lang="en-US"/>
              <a:pPr/>
              <a:t>35</a:t>
            </a:fld>
            <a:endParaRPr lang="en-US"/>
          </a:p>
        </p:txBody>
      </p:sp>
      <p:sp>
        <p:nvSpPr>
          <p:cNvPr id="76802" name="Rectangle 3074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USDA EA Accomplishments</a:t>
            </a:r>
          </a:p>
        </p:txBody>
      </p:sp>
      <p:sp>
        <p:nvSpPr>
          <p:cNvPr id="76803" name="Rectangle 307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39211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Established BPA support program 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Developed an EA Concept of Operations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Established a Enterprise Configuration Control Board (ECCB) for governance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Selected an EA Repository (Adaptive)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Assisted with the establishment of EA Principles for the Department.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800">
                <a:latin typeface="Arial" charset="0"/>
              </a:rPr>
              <a:t>Currently, implementing the EAR and its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	training program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endParaRPr lang="en-US" sz="28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8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endParaRPr lang="en-US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DDBB5-6105-4713-A5EE-20A353B34F47}" type="slidenum">
              <a:rPr lang="en-US"/>
              <a:pPr/>
              <a:t>36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36625"/>
            <a:ext cx="7772400" cy="511175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Challenges to EA Success</a:t>
            </a:r>
          </a:p>
        </p:txBody>
      </p:sp>
      <p:sp>
        <p:nvSpPr>
          <p:cNvPr id="890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en-US" sz="2400">
                <a:solidFill>
                  <a:srgbClr val="990000"/>
                </a:solidFill>
                <a:latin typeface="Arial" charset="0"/>
              </a:rPr>
              <a:t>The EA Program needs:</a:t>
            </a:r>
            <a:endParaRPr lang="en-US" sz="2400">
              <a:latin typeface="Arial" charset="0"/>
            </a:endParaRP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Sustained Senior Management commitment and $upport for the program and governance process.</a:t>
            </a: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A refresh of EA program and policy documentation to reflect changes in the EA Program – This is not the first EA effort that USDA has undertaken.  (1997, 2000, 2003, 2006)</a:t>
            </a:r>
          </a:p>
          <a:p>
            <a:pPr>
              <a:buClr>
                <a:schemeClr val="tx1"/>
              </a:buClr>
            </a:pPr>
            <a:r>
              <a:rPr lang="en-US" sz="2400">
                <a:latin typeface="Arial" charset="0"/>
              </a:rPr>
              <a:t>Agencies to commit time and resources to their EA program development and to the EA Repository.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4A021-CB5F-4D8B-89AF-734B048C8817}" type="slidenum">
              <a:rPr lang="en-US"/>
              <a:pPr/>
              <a:t>37</a:t>
            </a:fld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87413"/>
            <a:ext cx="7772400" cy="560387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Summary</a:t>
            </a:r>
            <a:endParaRPr lang="en-US"/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Enterprise Architecture development is a best practice.  It is more than just IT.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We do not do it just because it is required by law, regulation, or the CPIC process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We practice EA because the world is changing very rapidly; business is changing, and our technology decisions must support our business. 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>
                <a:latin typeface="Arial" charset="0"/>
              </a:rPr>
              <a:t>We need continued commitment at all levels to make USDA’s EA Program successful.</a:t>
            </a:r>
            <a:endParaRPr lang="en-US" sz="2800">
              <a:latin typeface="Arial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F609-0CA3-42AA-8BEB-97F4C0057710}" type="slidenum">
              <a:rPr lang="en-US"/>
              <a:pPr/>
              <a:t>38</a:t>
            </a:fld>
            <a:endParaRPr lang="en-US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676400"/>
            <a:ext cx="7772400" cy="2835275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rial" charset="0"/>
              </a:rPr>
              <a:t>Thank you.</a:t>
            </a:r>
            <a:r>
              <a:rPr lang="en-US" sz="4000">
                <a:latin typeface="Arial" charset="0"/>
              </a:rPr>
              <a:t/>
            </a:r>
            <a:br>
              <a:rPr lang="en-US" sz="4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4000">
                <a:solidFill>
                  <a:schemeClr val="tx1"/>
                </a:solidFill>
                <a:latin typeface="Arial" charset="0"/>
              </a:rPr>
              <a:t>Questions and Comments</a:t>
            </a:r>
            <a:r>
              <a:rPr lang="en-US" sz="4000">
                <a:latin typeface="Arial" charset="0"/>
              </a:rPr>
              <a:t> </a:t>
            </a:r>
            <a:br>
              <a:rPr lang="en-US" sz="4000">
                <a:latin typeface="Arial" charset="0"/>
              </a:rPr>
            </a:br>
            <a:r>
              <a:rPr lang="en-US" sz="4000">
                <a:latin typeface="Arial" charset="0"/>
              </a:rPr>
              <a:t/>
            </a:r>
            <a:br>
              <a:rPr lang="en-US" sz="4000">
                <a:latin typeface="Arial" charset="0"/>
              </a:rPr>
            </a:br>
            <a:endParaRPr lang="en-US" sz="4000">
              <a:latin typeface="Arial" charset="0"/>
            </a:endParaRPr>
          </a:p>
        </p:txBody>
      </p:sp>
      <p:sp>
        <p:nvSpPr>
          <p:cNvPr id="114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3200400"/>
            <a:ext cx="7772400" cy="445452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endParaRPr lang="en-US" sz="2800">
              <a:solidFill>
                <a:srgbClr val="66CCFF"/>
              </a:solidFill>
              <a:latin typeface="Arial" charset="0"/>
            </a:endParaRPr>
          </a:p>
          <a:p>
            <a:pPr algn="ctr">
              <a:buFont typeface="Wingdings" pitchFamily="2" charset="2"/>
              <a:buNone/>
            </a:pPr>
            <a:endParaRPr lang="en-US" sz="2800">
              <a:solidFill>
                <a:srgbClr val="66CCFF"/>
              </a:solidFill>
              <a:latin typeface="Arial" charset="0"/>
            </a:endParaRPr>
          </a:p>
          <a:p>
            <a:pPr algn="ctr">
              <a:buFont typeface="Wingdings" pitchFamily="2" charset="2"/>
              <a:buNone/>
            </a:pPr>
            <a:endParaRPr lang="en-US" sz="2800">
              <a:solidFill>
                <a:srgbClr val="66CCFF"/>
              </a:solidFill>
              <a:latin typeface="Arial" charset="0"/>
            </a:endParaRPr>
          </a:p>
          <a:p>
            <a:pPr algn="ctr"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niles.hewlett@usda.gov</a:t>
            </a:r>
          </a:p>
          <a:p>
            <a:pPr algn="ctr"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(202) 205-3735</a:t>
            </a:r>
          </a:p>
          <a:p>
            <a:pPr>
              <a:buFont typeface="Wingdings" pitchFamily="2" charset="2"/>
              <a:buNone/>
            </a:pPr>
            <a:endParaRPr lang="en-US" sz="2800">
              <a:latin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2939</TotalTime>
  <Words>1782</Words>
  <Application>Microsoft Office PowerPoint</Application>
  <PresentationFormat>On-screen Show (4:3)</PresentationFormat>
  <Paragraphs>492</Paragraphs>
  <Slides>38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Times New Roman</vt:lpstr>
      <vt:lpstr>Tahoma</vt:lpstr>
      <vt:lpstr>Wingdings</vt:lpstr>
      <vt:lpstr>Arial</vt:lpstr>
      <vt:lpstr>Blueprint</vt:lpstr>
      <vt:lpstr>Microsoft Office PowerPoint 97-2003 Slide</vt:lpstr>
      <vt:lpstr>The USDA Enterprise Architecture Program</vt:lpstr>
      <vt:lpstr>Slide 2</vt:lpstr>
      <vt:lpstr>What You Need to know about EA</vt:lpstr>
      <vt:lpstr>What is an Enterprise?</vt:lpstr>
      <vt:lpstr>Concept of Architecture</vt:lpstr>
      <vt:lpstr>Definition:</vt:lpstr>
      <vt:lpstr>Why Have an Enterprise Architecture?</vt:lpstr>
      <vt:lpstr>And to ...</vt:lpstr>
      <vt:lpstr>What Drives an Enterprise Architecture?</vt:lpstr>
      <vt:lpstr>Layers of the Enterprise Architecture</vt:lpstr>
      <vt:lpstr>Practical Guide Circle as a Common Reference</vt:lpstr>
      <vt:lpstr>What are the OMB FEA Reference Models? </vt:lpstr>
      <vt:lpstr>Federal Enterprise Architecture </vt:lpstr>
      <vt:lpstr>FEA Reference Models</vt:lpstr>
      <vt:lpstr>Slide 15</vt:lpstr>
      <vt:lpstr>Who are EA Customers?</vt:lpstr>
      <vt:lpstr>USDA EA Framework</vt:lpstr>
      <vt:lpstr>Slide 18</vt:lpstr>
      <vt:lpstr>USDA’s Architecture Transitions</vt:lpstr>
      <vt:lpstr>In addition…</vt:lpstr>
      <vt:lpstr>USDA Enterprise Configuration Control Board (ECCB)</vt:lpstr>
      <vt:lpstr>ECCB Goals </vt:lpstr>
      <vt:lpstr>USDA EA Governance Model</vt:lpstr>
      <vt:lpstr> EA Performance Requirements </vt:lpstr>
      <vt:lpstr>EA Program - 2006</vt:lpstr>
      <vt:lpstr>USDA EA Repository -- Adaptive</vt:lpstr>
      <vt:lpstr>Slide 27</vt:lpstr>
      <vt:lpstr>Overview of EAR Governance</vt:lpstr>
      <vt:lpstr>Agency Architectures </vt:lpstr>
      <vt:lpstr>How can PMs use the EAR?</vt:lpstr>
      <vt:lpstr>Slide 31</vt:lpstr>
      <vt:lpstr>How Does EA Support the Capital Planning Process?</vt:lpstr>
      <vt:lpstr>Slide 33</vt:lpstr>
      <vt:lpstr>How is USDA EA Built and Maintained?</vt:lpstr>
      <vt:lpstr>USDA EA Accomplishments</vt:lpstr>
      <vt:lpstr>Challenges to EA Success</vt:lpstr>
      <vt:lpstr>Summary</vt:lpstr>
      <vt:lpstr>Thank you.  Questions and Comments   </vt:lpstr>
    </vt:vector>
  </TitlesOfParts>
  <Company>USDA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Architecture  Current Issues</dc:title>
  <dc:creator>USDA</dc:creator>
  <cp:lastModifiedBy>JEFF</cp:lastModifiedBy>
  <cp:revision>235</cp:revision>
  <cp:lastPrinted>2005-04-11T00:13:51Z</cp:lastPrinted>
  <dcterms:created xsi:type="dcterms:W3CDTF">2003-04-01T21:47:03Z</dcterms:created>
  <dcterms:modified xsi:type="dcterms:W3CDTF">2010-04-03T14:31:57Z</dcterms:modified>
</cp:coreProperties>
</file>
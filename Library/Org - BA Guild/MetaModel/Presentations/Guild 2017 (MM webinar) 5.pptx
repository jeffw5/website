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21"/>
  </p:notesMasterIdLst>
  <p:handoutMasterIdLst>
    <p:handoutMasterId r:id="rId22"/>
  </p:handoutMasterIdLst>
  <p:sldIdLst>
    <p:sldId id="272" r:id="rId2"/>
    <p:sldId id="273" r:id="rId3"/>
    <p:sldId id="278" r:id="rId4"/>
    <p:sldId id="270" r:id="rId5"/>
    <p:sldId id="271" r:id="rId6"/>
    <p:sldId id="274" r:id="rId7"/>
    <p:sldId id="275" r:id="rId8"/>
    <p:sldId id="262" r:id="rId9"/>
    <p:sldId id="268" r:id="rId10"/>
    <p:sldId id="263" r:id="rId11"/>
    <p:sldId id="266" r:id="rId12"/>
    <p:sldId id="279" r:id="rId13"/>
    <p:sldId id="280" r:id="rId14"/>
    <p:sldId id="276" r:id="rId15"/>
    <p:sldId id="265" r:id="rId16"/>
    <p:sldId id="267" r:id="rId17"/>
    <p:sldId id="277" r:id="rId18"/>
    <p:sldId id="26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74" userDrawn="1">
          <p15:clr>
            <a:srgbClr val="A4A3A4"/>
          </p15:clr>
        </p15:guide>
        <p15:guide id="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25413"/>
    <a:srgbClr val="00C49E"/>
    <a:srgbClr val="252E33"/>
    <a:srgbClr val="3F4E56"/>
    <a:srgbClr val="0000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74"/>
    <p:restoredTop sz="74969" autoAdjust="0"/>
  </p:normalViewPr>
  <p:slideViewPr>
    <p:cSldViewPr snapToGrid="0">
      <p:cViewPr varScale="1">
        <p:scale>
          <a:sx n="81" d="100"/>
          <a:sy n="81" d="100"/>
        </p:scale>
        <p:origin x="184" y="576"/>
      </p:cViewPr>
      <p:guideLst>
        <p:guide orient="horz" pos="1774"/>
        <p:guide/>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Business Architecture Guild</a:t>
            </a: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02DA1F-A37C-41D2-82C0-7922EAA70BF9}" type="datetimeFigureOut">
              <a:rPr lang="en-US" smtClean="0"/>
              <a:t>3/15/17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Copyright 2012 @ Business Architecture Guild</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3447DD-8410-4B48-BF9F-010B3E13D3FA}" type="slidenum">
              <a:rPr lang="en-US" smtClean="0"/>
              <a:t>‹#›</a:t>
            </a:fld>
            <a:endParaRPr lang="en-US" dirty="0"/>
          </a:p>
        </p:txBody>
      </p:sp>
    </p:spTree>
    <p:extLst>
      <p:ext uri="{BB962C8B-B14F-4D97-AF65-F5344CB8AC3E}">
        <p14:creationId xmlns:p14="http://schemas.microsoft.com/office/powerpoint/2010/main" val="203006644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Business Architecture Guild</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978605-75FF-4090-82E1-8992D952D785}" type="datetimeFigureOut">
              <a:rPr lang="en-US" smtClean="0"/>
              <a:t>3/15/17</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Copyright 2012 @ Business Architecture Guild</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7F5204-EB12-4271-A49D-308523C9B92E}" type="slidenum">
              <a:rPr lang="en-US" smtClean="0"/>
              <a:t>‹#›</a:t>
            </a:fld>
            <a:endParaRPr lang="en-US" dirty="0"/>
          </a:p>
        </p:txBody>
      </p:sp>
    </p:spTree>
    <p:extLst>
      <p:ext uri="{BB962C8B-B14F-4D97-AF65-F5344CB8AC3E}">
        <p14:creationId xmlns:p14="http://schemas.microsoft.com/office/powerpoint/2010/main" val="169309127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a:t>
            </a:fld>
            <a:endParaRPr lang="en-US" dirty="0"/>
          </a:p>
        </p:txBody>
      </p:sp>
    </p:spTree>
    <p:extLst>
      <p:ext uri="{BB962C8B-B14F-4D97-AF65-F5344CB8AC3E}">
        <p14:creationId xmlns:p14="http://schemas.microsoft.com/office/powerpoint/2010/main" val="704460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4</a:t>
            </a:fld>
            <a:endParaRPr lang="en-US" dirty="0"/>
          </a:p>
        </p:txBody>
      </p:sp>
    </p:spTree>
    <p:extLst>
      <p:ext uri="{BB962C8B-B14F-4D97-AF65-F5344CB8AC3E}">
        <p14:creationId xmlns:p14="http://schemas.microsoft.com/office/powerpoint/2010/main" val="260946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r>
              <a:rPr lang="en-US" baseline="0" dirty="0" smtClean="0"/>
              <a:t> few years old, this earlier rendering provides a starting point showing the key concepts embodied in the BIZBOK</a:t>
            </a:r>
          </a:p>
          <a:p>
            <a:r>
              <a:rPr lang="en-US" baseline="0" dirty="0" smtClean="0"/>
              <a:t>Relationships were informed by the BIZBOK, though they are not exhaustive (Appendix B4 explores these in greater detail)</a:t>
            </a:r>
          </a:p>
          <a:p>
            <a:r>
              <a:rPr lang="en-US" baseline="0" dirty="0" smtClean="0"/>
              <a:t>The challenge with this earlier model is that all concepts have “equal footing”, which can open the door to inconsistencies for architects and business SMEs</a:t>
            </a:r>
          </a:p>
          <a:p>
            <a:r>
              <a:rPr lang="en-US" baseline="0" dirty="0" smtClean="0"/>
              <a:t>When the current MM team embarked on the next generation model for the BIZBOK, we wanted to address some of these concerns to avoid multiple perspectives driving the business strategy for an organization</a:t>
            </a:r>
          </a:p>
          <a:p>
            <a:r>
              <a:rPr lang="en-US" baseline="0" dirty="0" smtClean="0"/>
              <a:t>We’ll walk through the next generation model in a few slides and discuss how we addressed these concerns</a:t>
            </a:r>
            <a:endParaRPr lang="en-US" dirty="0" smtClean="0"/>
          </a:p>
          <a:p>
            <a:endParaRPr lang="en-US" dirty="0"/>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6</a:t>
            </a:fld>
            <a:endParaRPr lang="en-US" dirty="0"/>
          </a:p>
        </p:txBody>
      </p:sp>
    </p:spTree>
    <p:extLst>
      <p:ext uri="{BB962C8B-B14F-4D97-AF65-F5344CB8AC3E}">
        <p14:creationId xmlns:p14="http://schemas.microsoft.com/office/powerpoint/2010/main" val="930503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core concepts of the current</a:t>
            </a:r>
            <a:r>
              <a:rPr lang="en-US" baseline="0" dirty="0" smtClean="0"/>
              <a:t> generation BA MM will be familiar to members of the Guild who have read the BIZBOK.</a:t>
            </a:r>
          </a:p>
          <a:p>
            <a:r>
              <a:rPr lang="en-US" baseline="0" dirty="0" smtClean="0"/>
              <a:t>The same 4 concepts can be found on the first diagram in Part 1.</a:t>
            </a:r>
          </a:p>
          <a:p>
            <a:r>
              <a:rPr lang="en-US" baseline="0" dirty="0" smtClean="0"/>
              <a:t>The primary difference is that we made Capability a “1</a:t>
            </a:r>
            <a:r>
              <a:rPr lang="en-US" baseline="30000" dirty="0" smtClean="0"/>
              <a:t>st</a:t>
            </a:r>
            <a:r>
              <a:rPr lang="en-US" baseline="0" dirty="0" smtClean="0"/>
              <a:t> Class Citizen” in the next gen MM. </a:t>
            </a:r>
          </a:p>
          <a:p>
            <a:r>
              <a:rPr lang="en-US" baseline="0" dirty="0" smtClean="0"/>
              <a:t>This purposeful change ensures that capability is the starting point for aligning perspectives across the business architecture</a:t>
            </a:r>
          </a:p>
          <a:p>
            <a:r>
              <a:rPr lang="en-US" baseline="0" dirty="0" smtClean="0"/>
              <a:t>The alignment is achieved using relationships that are contextualized by semantics to address each perspective. </a:t>
            </a:r>
          </a:p>
          <a:p>
            <a:r>
              <a:rPr lang="en-US" baseline="0" dirty="0" smtClean="0"/>
              <a:t>The easy part is identifying the concepts, the hard part is defining the relationships that allows the business architect to incorporate the semantic context</a:t>
            </a:r>
            <a:r>
              <a:rPr lang="mr-IN" baseline="0" dirty="0" smtClean="0"/>
              <a:t>…</a:t>
            </a:r>
            <a:endParaRPr lang="en-US" dirty="0"/>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10</a:t>
            </a:fld>
            <a:endParaRPr lang="en-US" dirty="0"/>
          </a:p>
        </p:txBody>
      </p:sp>
    </p:spTree>
    <p:extLst>
      <p:ext uri="{BB962C8B-B14F-4D97-AF65-F5344CB8AC3E}">
        <p14:creationId xmlns:p14="http://schemas.microsoft.com/office/powerpoint/2010/main" val="999230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Capability Package:</a:t>
            </a:r>
          </a:p>
          <a:p>
            <a:pPr marL="171450" indent="-171450">
              <a:buFontTx/>
              <a:buChar char="-"/>
            </a:pPr>
            <a:r>
              <a:rPr lang="en-US" dirty="0" smtClean="0"/>
              <a:t>Capabilities can be composed</a:t>
            </a:r>
            <a:r>
              <a:rPr lang="en-US" baseline="0" dirty="0" smtClean="0"/>
              <a:t> of one or more capabilities (supporting levels of granularity)</a:t>
            </a:r>
          </a:p>
          <a:p>
            <a:pPr marL="171450" indent="-171450">
              <a:buFontTx/>
              <a:buChar char="-"/>
            </a:pPr>
            <a:r>
              <a:rPr lang="en-US" baseline="0" dirty="0" smtClean="0"/>
              <a:t>Capability Maps rely on to support top-down (decomposition) or bottom-up (composition) of capabilities </a:t>
            </a:r>
          </a:p>
          <a:p>
            <a:pPr marL="171450" indent="-171450">
              <a:buFontTx/>
              <a:buChar char="-"/>
            </a:pPr>
            <a:r>
              <a:rPr lang="en-US" baseline="0" dirty="0" smtClean="0"/>
              <a:t>We are exploring Capability Instance as a mechanism to provide a future alignment to Processes, Events, and Activities (any of which can trigger )</a:t>
            </a:r>
          </a:p>
          <a:p>
            <a:pPr marL="171450" indent="-171450">
              <a:buFontTx/>
              <a:buChar char="-"/>
            </a:pPr>
            <a:r>
              <a:rPr lang="en-US" baseline="0" dirty="0" smtClean="0"/>
              <a:t>We’re currently exploring an assembly capability as there are many scenarios (and variable) to consider once you step down into the Process Realm</a:t>
            </a:r>
          </a:p>
          <a:p>
            <a:pPr marL="171450" indent="-171450">
              <a:buFontTx/>
              <a:buChar char="-"/>
            </a:pPr>
            <a:r>
              <a:rPr lang="en-US" dirty="0" smtClean="0"/>
              <a:t>One or more Capability</a:t>
            </a:r>
            <a:r>
              <a:rPr lang="en-US" baseline="0" dirty="0" smtClean="0"/>
              <a:t> Instances can be associated with a Capability</a:t>
            </a:r>
          </a:p>
          <a:p>
            <a:pPr marL="171450" indent="-171450">
              <a:buFontTx/>
              <a:buChar char="-"/>
            </a:pPr>
            <a:r>
              <a:rPr lang="en-US" baseline="0" dirty="0" smtClean="0"/>
              <a:t>Required Outcomes suggest those imposed by compliance driven stakeholders (directly or indirectly)</a:t>
            </a:r>
          </a:p>
          <a:p>
            <a:pPr marL="171450" indent="-171450">
              <a:buFontTx/>
              <a:buChar char="-"/>
            </a:pPr>
            <a:r>
              <a:rPr lang="en-US" baseline="0" dirty="0" smtClean="0"/>
              <a:t>Whereas Produced Outcomes are what actually get delivered by a Capability (again, with varying levels of granularity)</a:t>
            </a:r>
          </a:p>
          <a:p>
            <a:pPr marL="171450" indent="-171450">
              <a:buFontTx/>
              <a:buChar char="-"/>
            </a:pPr>
            <a:r>
              <a:rPr lang="en-US" baseline="0" dirty="0" smtClean="0"/>
              <a:t>The Informative Outcome provides a hook into the Information Package where we can explore the nuances of context (informed by semantic expressions supporting individual perspectives)</a:t>
            </a:r>
            <a:endParaRPr lang="en-US" dirty="0" smtClean="0"/>
          </a:p>
          <a:p>
            <a:endParaRPr lang="en-US" dirty="0" smtClean="0"/>
          </a:p>
          <a:p>
            <a:r>
              <a:rPr lang="en-US" b="1" dirty="0" smtClean="0"/>
              <a:t>Information Package:</a:t>
            </a:r>
          </a:p>
          <a:p>
            <a:pPr marL="171450" indent="-171450">
              <a:buFontTx/>
              <a:buChar char="-"/>
            </a:pPr>
            <a:r>
              <a:rPr lang="en-US" b="0" baseline="0" dirty="0" smtClean="0"/>
              <a:t>The Information Domain contextualizes the data and information associated with the organization’s business model and verticals they participate in</a:t>
            </a:r>
          </a:p>
          <a:p>
            <a:pPr marL="171450" indent="-171450">
              <a:buFontTx/>
              <a:buChar char="-"/>
            </a:pPr>
            <a:r>
              <a:rPr lang="en-US" b="0" baseline="0" dirty="0" smtClean="0"/>
              <a:t>The meta class (Distinguished Individuals) provides a reference to stakeholders and supports the alignment between Informative Outcomes and Value Proposition to arrive at perspective for a specific individual</a:t>
            </a:r>
          </a:p>
          <a:p>
            <a:pPr marL="171450" indent="-171450">
              <a:buFontTx/>
              <a:buChar char="-"/>
            </a:pPr>
            <a:r>
              <a:rPr lang="en-US" b="0" baseline="0" dirty="0" smtClean="0"/>
              <a:t>This package is evolving as we continue to iterate the Organization package on the next slide </a:t>
            </a:r>
          </a:p>
          <a:p>
            <a:pPr marL="171450" indent="-171450">
              <a:buFontTx/>
              <a:buChar char="-"/>
            </a:pPr>
            <a:endParaRPr lang="en-US" b="0" dirty="0"/>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12</a:t>
            </a:fld>
            <a:endParaRPr lang="en-US" dirty="0"/>
          </a:p>
        </p:txBody>
      </p:sp>
    </p:spTree>
    <p:extLst>
      <p:ext uri="{BB962C8B-B14F-4D97-AF65-F5344CB8AC3E}">
        <p14:creationId xmlns:p14="http://schemas.microsoft.com/office/powerpoint/2010/main" val="92086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 Package: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We’re using the term “organization” versus “party” (which is traditional in data modeling / data architecture discussions)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Think of organization as an ”</a:t>
            </a:r>
            <a:r>
              <a:rPr lang="en-US" b="0" baseline="0" dirty="0" err="1" smtClean="0"/>
              <a:t>uber</a:t>
            </a:r>
            <a:r>
              <a:rPr lang="en-US" b="0" baseline="0" dirty="0" smtClean="0"/>
              <a:t>” social unit of individuals and groupings of individuals (defined business areas, business units, various org structures, collaborative structures, and virtual teams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We stepped back from focusing on Business Unit to provide more of a logical element / segment of a company which (typically) ties to business goals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Again, we’re still iterating this package (trying to resist the temptation to infuse strategy / strategic elements into the Org Package)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This loosely coupled set of structures supports traditional command &amp; control, federated models and even extends nicely into social networks</a:t>
            </a:r>
            <a:endParaRPr lang="en-US" b="0" dirty="0" smtClean="0"/>
          </a:p>
          <a:p>
            <a:endParaRPr lang="en-US" dirty="0" smtClean="0"/>
          </a:p>
          <a:p>
            <a:endParaRPr lang="en-US" dirty="0" smtClean="0"/>
          </a:p>
          <a:p>
            <a:r>
              <a:rPr lang="en-US" b="1" dirty="0" smtClean="0"/>
              <a:t>Value</a:t>
            </a:r>
            <a:r>
              <a:rPr lang="en-US" b="1" baseline="0" dirty="0" smtClean="0"/>
              <a:t> Package: </a:t>
            </a:r>
          </a:p>
          <a:p>
            <a:pPr marL="171450" indent="-171450">
              <a:buFontTx/>
              <a:buChar char="-"/>
            </a:pPr>
            <a:r>
              <a:rPr lang="en-US" baseline="0" dirty="0" smtClean="0"/>
              <a:t>Value Stream is a composition of Value Stream Stages (not an aggregate)</a:t>
            </a:r>
          </a:p>
          <a:p>
            <a:pPr marL="171450" indent="-171450">
              <a:buFontTx/>
              <a:buChar char="-"/>
            </a:pPr>
            <a:r>
              <a:rPr lang="en-US" baseline="0" dirty="0" smtClean="0"/>
              <a:t>Value Stream Stage is comprised of Value Items</a:t>
            </a:r>
          </a:p>
          <a:p>
            <a:pPr marL="171450" indent="-171450">
              <a:buFontTx/>
              <a:buChar char="-"/>
            </a:pPr>
            <a:r>
              <a:rPr lang="en-US" baseline="0" dirty="0" smtClean="0"/>
              <a:t>Value Streams can have many stakeholders (and perspectives)</a:t>
            </a:r>
          </a:p>
          <a:p>
            <a:pPr marL="171450" indent="-171450">
              <a:buFontTx/>
              <a:buChar char="-"/>
            </a:pPr>
            <a:r>
              <a:rPr lang="en-US" baseline="0" dirty="0" smtClean="0"/>
              <a:t>Which is why we associated Value Proposition with Stakeholder</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smtClean="0"/>
              <a:t>Stakeholders (customers) typically interact with Value Items which are generated from Value Streams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smtClean="0"/>
              <a:t>However, some Stakeholders (supply chain and value chain partners) may interact at the Value Stream Stage</a:t>
            </a:r>
            <a:endParaRPr lang="en-US" baseline="0" dirty="0" smtClean="0"/>
          </a:p>
          <a:p>
            <a:pPr marL="171450" indent="-171450">
              <a:buFontTx/>
              <a:buChar char="-"/>
            </a:pPr>
            <a:r>
              <a:rPr lang="en-US" baseline="0" dirty="0" smtClean="0"/>
              <a:t>The interpretation of Value is through the Stakeholder’s perspective as they interact with the Value Item (presumably a product or service)</a:t>
            </a:r>
          </a:p>
          <a:p>
            <a:pPr marL="171450" indent="-171450">
              <a:buFontTx/>
              <a:buChar char="-"/>
            </a:pPr>
            <a:endParaRPr lang="en-US" baseline="0" dirty="0" smtClean="0"/>
          </a:p>
          <a:p>
            <a:pPr marL="171450" indent="-171450">
              <a:buFontTx/>
              <a:buChar char="-"/>
            </a:pPr>
            <a:r>
              <a:rPr lang="en-US" baseline="0" dirty="0" smtClean="0"/>
              <a:t>Note: There are various “event” that may trigger processes that can impact a Value Stream Stage (e.g. market forces, environmental changes, political changes, etc.) We are working through ways to express those in some of our future efforts</a:t>
            </a:r>
            <a:r>
              <a:rPr lang="mr-IN" baseline="0" dirty="0" smtClean="0"/>
              <a:t>…</a:t>
            </a:r>
            <a:endParaRPr lang="en-US" baseline="0" dirty="0" smtClean="0"/>
          </a:p>
          <a:p>
            <a:pPr marL="171450" indent="-171450">
              <a:buFontTx/>
              <a:buChar char="-"/>
            </a:pPr>
            <a:endParaRPr lang="en-US" baseline="0" dirty="0" smtClean="0"/>
          </a:p>
          <a:p>
            <a:pPr marL="171450" indent="-171450">
              <a:buFontTx/>
              <a:buChar char="-"/>
            </a:pPr>
            <a:r>
              <a:rPr lang="en-US" baseline="0" dirty="0" smtClean="0"/>
              <a:t>We hope to provide another update in Q3/Q4 timeframe.</a:t>
            </a:r>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13</a:t>
            </a:fld>
            <a:endParaRPr lang="en-US" dirty="0"/>
          </a:p>
        </p:txBody>
      </p:sp>
    </p:spTree>
    <p:extLst>
      <p:ext uri="{BB962C8B-B14F-4D97-AF65-F5344CB8AC3E}">
        <p14:creationId xmlns:p14="http://schemas.microsoft.com/office/powerpoint/2010/main" val="789420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16</a:t>
            </a:fld>
            <a:endParaRPr lang="en-US" dirty="0"/>
          </a:p>
        </p:txBody>
      </p:sp>
    </p:spTree>
    <p:extLst>
      <p:ext uri="{BB962C8B-B14F-4D97-AF65-F5344CB8AC3E}">
        <p14:creationId xmlns:p14="http://schemas.microsoft.com/office/powerpoint/2010/main" val="1731279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Question 1:</a:t>
            </a:r>
          </a:p>
          <a:p>
            <a:r>
              <a:rPr lang="en-US" sz="1200" b="0" i="0" kern="1200" dirty="0" smtClean="0">
                <a:solidFill>
                  <a:schemeClr val="tx1"/>
                </a:solidFill>
                <a:effectLst/>
                <a:latin typeface="+mn-lt"/>
                <a:ea typeface="+mn-ea"/>
                <a:cs typeface="+mn-cs"/>
              </a:rPr>
              <a:t>We can say that the group will be posting updates to members of the group on a regular basis, but only publishing to the wider audience when we make updates to the BIZBOK.  If a Guild member reaches out to ask specifically for an update, we can handle these on a 1:1 basis.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Question 2:</a:t>
            </a:r>
          </a:p>
          <a:p>
            <a:r>
              <a:rPr lang="en-US" sz="1200" b="0" i="0" kern="1200" dirty="0" smtClean="0">
                <a:solidFill>
                  <a:schemeClr val="tx1"/>
                </a:solidFill>
                <a:effectLst/>
                <a:latin typeface="+mn-lt"/>
                <a:ea typeface="+mn-ea"/>
                <a:cs typeface="+mn-cs"/>
              </a:rPr>
              <a:t>I don’t see much risk to using the MM before it becomes a standard. Any changes are likely to be minor, but the concepts still hold. A separate topic that the team needs to discus is just exactly how would any architect leverage a MM, since it’s an abstracted reference model and they would need to be familiar with a progression of modeling disciplines (conceptual -&gt; logical -&gt; physical), which would actually be an interesting webinar unto itself.</a:t>
            </a:r>
            <a:endParaRPr lang="en-US" sz="1200" b="0" i="0" kern="1200" dirty="0">
              <a:solidFill>
                <a:schemeClr val="tx1"/>
              </a:solidFill>
              <a:effectLst/>
              <a:latin typeface="+mn-lt"/>
              <a:ea typeface="+mn-ea"/>
              <a:cs typeface="+mn-cs"/>
            </a:endParaRPr>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19</a:t>
            </a:fld>
            <a:endParaRPr lang="en-US" dirty="0"/>
          </a:p>
        </p:txBody>
      </p:sp>
    </p:spTree>
    <p:extLst>
      <p:ext uri="{BB962C8B-B14F-4D97-AF65-F5344CB8AC3E}">
        <p14:creationId xmlns:p14="http://schemas.microsoft.com/office/powerpoint/2010/main" val="817630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6" name="Rectangle 15"/>
          <p:cNvSpPr/>
          <p:nvPr userDrawn="1"/>
        </p:nvSpPr>
        <p:spPr>
          <a:xfrm>
            <a:off x="-1587" y="3523787"/>
            <a:ext cx="12195173"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Rectangle 17"/>
          <p:cNvSpPr/>
          <p:nvPr userDrawn="1"/>
        </p:nvSpPr>
        <p:spPr>
          <a:xfrm>
            <a:off x="0" y="3523129"/>
            <a:ext cx="195072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6" name="Title 1"/>
          <p:cNvSpPr>
            <a:spLocks noGrp="1"/>
          </p:cNvSpPr>
          <p:nvPr>
            <p:ph type="ctrTitle"/>
          </p:nvPr>
        </p:nvSpPr>
        <p:spPr>
          <a:xfrm>
            <a:off x="2044314" y="2798082"/>
            <a:ext cx="8103372" cy="615553"/>
          </a:xfrm>
          <a:noFill/>
        </p:spPr>
        <p:txBody>
          <a:bodyPr wrap="none" lIns="91440" tIns="0" rIns="91440" bIns="0" anchor="b">
            <a:spAutoFit/>
          </a:bodyPr>
          <a:lstStyle>
            <a:lvl1pPr algn="ctr">
              <a:defRPr sz="4000" b="1">
                <a:solidFill>
                  <a:schemeClr val="bg1"/>
                </a:solidFill>
              </a:defRPr>
            </a:lvl1pPr>
          </a:lstStyle>
          <a:p>
            <a:r>
              <a:rPr lang="en-US" dirty="0" smtClean="0"/>
              <a:t>Click to edit Master title style</a:t>
            </a:r>
            <a:endParaRPr lang="en-US" dirty="0"/>
          </a:p>
        </p:txBody>
      </p:sp>
      <p:sp>
        <p:nvSpPr>
          <p:cNvPr id="39" name="Text Placeholder 38"/>
          <p:cNvSpPr>
            <a:spLocks noGrp="1"/>
          </p:cNvSpPr>
          <p:nvPr>
            <p:ph type="body" sz="quarter" idx="11" hasCustomPrompt="1"/>
          </p:nvPr>
        </p:nvSpPr>
        <p:spPr>
          <a:xfrm>
            <a:off x="3368555" y="3515231"/>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52" name="Date Placeholder 51"/>
          <p:cNvSpPr>
            <a:spLocks noGrp="1"/>
          </p:cNvSpPr>
          <p:nvPr>
            <p:ph type="dt" sz="half" idx="12"/>
          </p:nvPr>
        </p:nvSpPr>
        <p:spPr/>
        <p:txBody>
          <a:bodyPr/>
          <a:lstStyle/>
          <a:p>
            <a:fld id="{5913EAD0-FE42-479E-BFD1-82A4FA54F9B8}" type="datetime1">
              <a:rPr lang="en-US" smtClean="0"/>
              <a:t>3/15/17</a:t>
            </a:fld>
            <a:endParaRPr lang="en-US" dirty="0"/>
          </a:p>
        </p:txBody>
      </p:sp>
      <p:sp>
        <p:nvSpPr>
          <p:cNvPr id="53" name="Footer Placeholder 52"/>
          <p:cNvSpPr>
            <a:spLocks noGrp="1"/>
          </p:cNvSpPr>
          <p:nvPr>
            <p:ph type="ftr" sz="quarter" idx="13"/>
          </p:nvPr>
        </p:nvSpPr>
        <p:spPr/>
        <p:txBody>
          <a:bodyPr/>
          <a:lstStyle/>
          <a:p>
            <a:r>
              <a:rPr lang="en-US" dirty="0" smtClean="0"/>
              <a:t>Copyright 2017</a:t>
            </a:r>
            <a:endParaRPr lang="en-US" dirty="0"/>
          </a:p>
        </p:txBody>
      </p:sp>
      <p:sp>
        <p:nvSpPr>
          <p:cNvPr id="56" name="Slide Number Placeholder 55"/>
          <p:cNvSpPr>
            <a:spLocks noGrp="1"/>
          </p:cNvSpPr>
          <p:nvPr>
            <p:ph type="sldNum" sz="quarter" idx="14"/>
          </p:nvPr>
        </p:nvSpPr>
        <p:spPr/>
        <p:txBody>
          <a:bodyPr/>
          <a:lstStyle/>
          <a:p>
            <a:fld id="{8D059518-4F10-4CC2-99CC-9CA73E170347}" type="slidenum">
              <a:rPr lang="en-US" smtClean="0"/>
              <a:pPr/>
              <a:t>‹#›</a:t>
            </a:fld>
            <a:endParaRPr lang="en-US" dirty="0"/>
          </a:p>
        </p:txBody>
      </p:sp>
      <p:sp>
        <p:nvSpPr>
          <p:cNvPr id="59" name="Rectangle 58"/>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1" name="Rectangle 60"/>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381912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00629"/>
            <a:ext cx="10972800" cy="3579849"/>
          </a:xfrm>
        </p:spPr>
        <p:txBody>
          <a:bodyPr>
            <a:normAutofit/>
          </a:bodyPr>
          <a:lstStyle>
            <a:lvl1pPr>
              <a:defRPr sz="2000"/>
            </a:lvl1pPr>
            <a:lvl2pPr>
              <a:defRPr sz="2000"/>
            </a:lvl2pPr>
            <a:lvl3pPr>
              <a:defRPr sz="20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1A099F0-A5F1-4ED5-9377-F6752109C662}" type="datetime1">
              <a:rPr lang="en-US" smtClean="0"/>
              <a:t>3/15/17</a:t>
            </a:fld>
            <a:endParaRPr lang="en-US" dirty="0"/>
          </a:p>
        </p:txBody>
      </p:sp>
      <p:sp>
        <p:nvSpPr>
          <p:cNvPr id="6" name="Slide Number Placeholder 5"/>
          <p:cNvSpPr>
            <a:spLocks noGrp="1"/>
          </p:cNvSpPr>
          <p:nvPr>
            <p:ph type="sldNum" sz="quarter" idx="12"/>
          </p:nvPr>
        </p:nvSpPr>
        <p:spPr/>
        <p:txBody>
          <a:bodyPr/>
          <a:lstStyle/>
          <a:p>
            <a:fld id="{8D059518-4F10-4CC2-99CC-9CA73E170347}" type="slidenum">
              <a:rPr lang="en-US" smtClean="0"/>
              <a:t>‹#›</a:t>
            </a:fld>
            <a:endParaRPr lang="en-US" dirty="0"/>
          </a:p>
        </p:txBody>
      </p:sp>
      <p:sp>
        <p:nvSpPr>
          <p:cNvPr id="8" name="Footer Placeholder 7"/>
          <p:cNvSpPr>
            <a:spLocks noGrp="1"/>
          </p:cNvSpPr>
          <p:nvPr>
            <p:ph type="ftr" sz="quarter" idx="13"/>
          </p:nvPr>
        </p:nvSpPr>
        <p:spPr/>
        <p:txBody>
          <a:bodyPr/>
          <a:lstStyle/>
          <a:p>
            <a:r>
              <a:rPr lang="en-US" dirty="0" smtClean="0"/>
              <a:t>Copyright 2017</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6424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12192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2" name="Rectangle 41"/>
          <p:cNvSpPr/>
          <p:nvPr userDrawn="1"/>
        </p:nvSpPr>
        <p:spPr>
          <a:xfrm>
            <a:off x="0" y="6400800"/>
            <a:ext cx="12192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Date Placeholder 9"/>
          <p:cNvSpPr>
            <a:spLocks noGrp="1"/>
          </p:cNvSpPr>
          <p:nvPr>
            <p:ph type="dt" sz="half" idx="10"/>
          </p:nvPr>
        </p:nvSpPr>
        <p:spPr/>
        <p:txBody>
          <a:bodyPr/>
          <a:lstStyle/>
          <a:p>
            <a:fld id="{07D23D1F-8B6B-46FD-90B9-289ACA433332}" type="datetime1">
              <a:rPr lang="en-US" smtClean="0"/>
              <a:t>3/15/17</a:t>
            </a:fld>
            <a:endParaRPr lang="en-US" dirty="0"/>
          </a:p>
        </p:txBody>
      </p:sp>
      <p:sp>
        <p:nvSpPr>
          <p:cNvPr id="11" name="Footer Placeholder 10"/>
          <p:cNvSpPr>
            <a:spLocks noGrp="1"/>
          </p:cNvSpPr>
          <p:nvPr>
            <p:ph type="ftr" sz="quarter" idx="11"/>
          </p:nvPr>
        </p:nvSpPr>
        <p:spPr/>
        <p:txBody>
          <a:bodyPr/>
          <a:lstStyle/>
          <a:p>
            <a:r>
              <a:rPr lang="en-US" dirty="0" smtClean="0"/>
              <a:t>Copyright 2017</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
        <p:nvSpPr>
          <p:cNvPr id="35" name="Text Placeholder 38"/>
          <p:cNvSpPr>
            <a:spLocks noGrp="1"/>
          </p:cNvSpPr>
          <p:nvPr>
            <p:ph type="body" sz="quarter" idx="13" hasCustomPrompt="1"/>
          </p:nvPr>
        </p:nvSpPr>
        <p:spPr>
          <a:xfrm>
            <a:off x="3368555" y="3515226"/>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36" name="Title 35"/>
          <p:cNvSpPr>
            <a:spLocks noGrp="1"/>
          </p:cNvSpPr>
          <p:nvPr>
            <p:ph type="title"/>
          </p:nvPr>
        </p:nvSpPr>
        <p:spPr>
          <a:xfrm>
            <a:off x="2044315" y="2798077"/>
            <a:ext cx="8103372"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smtClean="0"/>
              <a:t>Click to edit Master title style</a:t>
            </a:r>
            <a:endParaRPr lang="en-US" dirty="0"/>
          </a:p>
        </p:txBody>
      </p:sp>
      <p:sp>
        <p:nvSpPr>
          <p:cNvPr id="38" name="Rectangle 37"/>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5" name="Rectangle 44"/>
          <p:cNvSpPr/>
          <p:nvPr userDrawn="1"/>
        </p:nvSpPr>
        <p:spPr>
          <a:xfrm>
            <a:off x="0" y="548102"/>
            <a:ext cx="12192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6" name="Rectangle 45"/>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353290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80" y="1097280"/>
            <a:ext cx="42672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66688" y="1097280"/>
            <a:ext cx="42672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992FE3BD-E6E5-415F-8D6E-D2B3F7C63698}" type="datetime1">
              <a:rPr lang="en-US" smtClean="0"/>
              <a:t>3/15/17</a:t>
            </a:fld>
            <a:endParaRPr lang="en-US" dirty="0"/>
          </a:p>
        </p:txBody>
      </p:sp>
      <p:sp>
        <p:nvSpPr>
          <p:cNvPr id="9" name="Footer Placeholder 8"/>
          <p:cNvSpPr>
            <a:spLocks noGrp="1"/>
          </p:cNvSpPr>
          <p:nvPr>
            <p:ph type="ftr" sz="quarter" idx="11"/>
          </p:nvPr>
        </p:nvSpPr>
        <p:spPr/>
        <p:txBody>
          <a:bodyPr/>
          <a:lstStyle/>
          <a:p>
            <a:r>
              <a:rPr lang="en-US" dirty="0" smtClean="0"/>
              <a:t>Copyright 2017</a:t>
            </a:r>
            <a:endParaRPr lang="en-US" dirty="0"/>
          </a:p>
        </p:txBody>
      </p:sp>
      <p:sp>
        <p:nvSpPr>
          <p:cNvPr id="10" name="Slide Number Placeholder 9"/>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257081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97280"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1092200"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66688"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6266688"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0"/>
          </p:nvPr>
        </p:nvSpPr>
        <p:spPr/>
        <p:txBody>
          <a:bodyPr/>
          <a:lstStyle/>
          <a:p>
            <a:fld id="{992FE3BD-E6E5-415F-8D6E-D2B3F7C63698}" type="datetime1">
              <a:rPr lang="en-US" smtClean="0"/>
              <a:t>3/15/17</a:t>
            </a:fld>
            <a:endParaRPr lang="en-US" dirty="0"/>
          </a:p>
        </p:txBody>
      </p:sp>
      <p:sp>
        <p:nvSpPr>
          <p:cNvPr id="11" name="Footer Placeholder 10"/>
          <p:cNvSpPr>
            <a:spLocks noGrp="1"/>
          </p:cNvSpPr>
          <p:nvPr>
            <p:ph type="ftr" sz="quarter" idx="11"/>
          </p:nvPr>
        </p:nvSpPr>
        <p:spPr/>
        <p:txBody>
          <a:bodyPr/>
          <a:lstStyle/>
          <a:p>
            <a:r>
              <a:rPr lang="en-US" dirty="0" smtClean="0"/>
              <a:t>Copyright 2017</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1848723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2FE3BD-E6E5-415F-8D6E-D2B3F7C63698}" type="datetime1">
              <a:rPr lang="en-US" smtClean="0"/>
              <a:t>3/15/17</a:t>
            </a:fld>
            <a:endParaRPr lang="en-US" dirty="0"/>
          </a:p>
        </p:txBody>
      </p:sp>
      <p:sp>
        <p:nvSpPr>
          <p:cNvPr id="4" name="Footer Placeholder 3"/>
          <p:cNvSpPr>
            <a:spLocks noGrp="1"/>
          </p:cNvSpPr>
          <p:nvPr>
            <p:ph type="ftr" sz="quarter" idx="11"/>
          </p:nvPr>
        </p:nvSpPr>
        <p:spPr/>
        <p:txBody>
          <a:bodyPr/>
          <a:lstStyle/>
          <a:p>
            <a:r>
              <a:rPr lang="en-US" dirty="0" smtClean="0"/>
              <a:t>Copyright 2017</a:t>
            </a:r>
            <a:endParaRPr lang="en-US" dirty="0"/>
          </a:p>
        </p:txBody>
      </p:sp>
      <p:sp>
        <p:nvSpPr>
          <p:cNvPr id="5" name="Slide Number Placeholder 4"/>
          <p:cNvSpPr>
            <a:spLocks noGrp="1"/>
          </p:cNvSpPr>
          <p:nvPr>
            <p:ph type="sldNum" sz="quarter" idx="12"/>
          </p:nvPr>
        </p:nvSpPr>
        <p:spPr/>
        <p:txBody>
          <a:bodyPr/>
          <a:lstStyle/>
          <a:p>
            <a:fld id="{8D059518-4F10-4CC2-99CC-9CA73E170347}" type="slidenum">
              <a:rPr lang="en-US" smtClean="0"/>
              <a:pPr/>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3752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992FE3BD-E6E5-415F-8D6E-D2B3F7C63698}" type="datetime1">
              <a:rPr lang="en-US" smtClean="0"/>
              <a:t>3/15/17</a:t>
            </a:fld>
            <a:endParaRPr lang="en-US" dirty="0"/>
          </a:p>
        </p:txBody>
      </p:sp>
      <p:sp>
        <p:nvSpPr>
          <p:cNvPr id="7" name="Footer Placeholder 6"/>
          <p:cNvSpPr>
            <a:spLocks noGrp="1"/>
          </p:cNvSpPr>
          <p:nvPr>
            <p:ph type="ftr" sz="quarter" idx="11"/>
          </p:nvPr>
        </p:nvSpPr>
        <p:spPr/>
        <p:txBody>
          <a:bodyPr/>
          <a:lstStyle/>
          <a:p>
            <a:r>
              <a:rPr lang="en-US" dirty="0" smtClean="0"/>
              <a:t>Copyright 2017</a:t>
            </a:r>
            <a:endParaRPr lang="en-US" dirty="0"/>
          </a:p>
        </p:txBody>
      </p:sp>
      <p:sp>
        <p:nvSpPr>
          <p:cNvPr id="8" name="Slide Number Placeholder 7"/>
          <p:cNvSpPr>
            <a:spLocks noGrp="1"/>
          </p:cNvSpPr>
          <p:nvPr>
            <p:ph type="sldNum" sz="quarter" idx="12"/>
          </p:nvPr>
        </p:nvSpPr>
        <p:spPr/>
        <p:txBody>
          <a:bodyPr/>
          <a:lstStyle/>
          <a:p>
            <a:fld id="{8D059518-4F10-4CC2-99CC-9CA73E170347}" type="slidenum">
              <a:rPr lang="en-US" smtClean="0"/>
              <a:pPr/>
              <a:t>‹#›</a:t>
            </a:fld>
            <a:endParaRPr lang="en-US" dirty="0"/>
          </a:p>
        </p:txBody>
      </p:sp>
      <p:sp>
        <p:nvSpPr>
          <p:cNvPr id="9" name="Rectangle 8"/>
          <p:cNvSpPr/>
          <p:nvPr userDrawn="1"/>
        </p:nvSpPr>
        <p:spPr>
          <a:xfrm>
            <a:off x="270933" y="927100"/>
            <a:ext cx="107696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5316299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3.png"/><Relationship Id="rId10"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12192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Placeholder 1"/>
          <p:cNvSpPr>
            <a:spLocks noGrp="1"/>
          </p:cNvSpPr>
          <p:nvPr>
            <p:ph type="title"/>
          </p:nvPr>
        </p:nvSpPr>
        <p:spPr>
          <a:xfrm>
            <a:off x="508000" y="365759"/>
            <a:ext cx="9144000" cy="54864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097280" y="1100629"/>
            <a:ext cx="10027920" cy="357984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52401" y="6440697"/>
            <a:ext cx="750270"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992FE3BD-E6E5-415F-8D6E-D2B3F7C63698}" type="datetime1">
              <a:rPr lang="en-US" smtClean="0"/>
              <a:t>3/15/17</a:t>
            </a:fld>
            <a:endParaRPr lang="en-US" dirty="0"/>
          </a:p>
        </p:txBody>
      </p:sp>
      <p:sp>
        <p:nvSpPr>
          <p:cNvPr id="6" name="Slide Number Placeholder 5"/>
          <p:cNvSpPr>
            <a:spLocks noGrp="1"/>
          </p:cNvSpPr>
          <p:nvPr>
            <p:ph type="sldNum" sz="quarter" idx="4"/>
          </p:nvPr>
        </p:nvSpPr>
        <p:spPr>
          <a:xfrm>
            <a:off x="11772063" y="6440697"/>
            <a:ext cx="157094"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pPr/>
              <a:t>‹#›</a:t>
            </a:fld>
            <a:endParaRPr lang="en-US" dirty="0"/>
          </a:p>
        </p:txBody>
      </p:sp>
      <p:pic>
        <p:nvPicPr>
          <p:cNvPr id="1027" name="Picture 3" descr="C:\Users\rou6\Documents\1_ILLUSTRATION\STA ppt\guild\BAGuild_Logo_LightBG.png"/>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t="-1" b="-2867"/>
          <a:stretch/>
        </p:blipFill>
        <p:spPr bwMode="auto">
          <a:xfrm>
            <a:off x="3962400" y="5969852"/>
            <a:ext cx="4267200" cy="430949"/>
          </a:xfrm>
          <a:prstGeom prst="rect">
            <a:avLst/>
          </a:prstGeom>
          <a:noFill/>
          <a:extLst>
            <a:ext uri="{909E8E84-426E-40dd-AFC4-6F175D3DCCD1}">
              <a14:hiddenFill xmlns="" xmlns:a14="http://schemas.microsoft.com/office/drawing/2010/main">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033760" y="304053"/>
            <a:ext cx="853440" cy="686872"/>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Footer Placeholder 4"/>
          <p:cNvSpPr>
            <a:spLocks noGrp="1"/>
          </p:cNvSpPr>
          <p:nvPr>
            <p:ph type="ftr" sz="quarter" idx="3"/>
          </p:nvPr>
        </p:nvSpPr>
        <p:spPr>
          <a:xfrm>
            <a:off x="2946400" y="6395870"/>
            <a:ext cx="6299200" cy="274320"/>
          </a:xfrm>
          <a:prstGeom prst="rect">
            <a:avLst/>
          </a:prstGeom>
        </p:spPr>
        <p:txBody>
          <a:bodyPr/>
          <a:lstStyle>
            <a:lvl1pPr algn="ctr">
              <a:defRPr sz="1100">
                <a:solidFill>
                  <a:schemeClr val="bg1">
                    <a:lumMod val="85000"/>
                  </a:schemeClr>
                </a:solidFill>
              </a:defRPr>
            </a:lvl1pPr>
          </a:lstStyle>
          <a:p>
            <a:r>
              <a:rPr lang="en-US" dirty="0" smtClean="0"/>
              <a:t>Copyright 2017</a:t>
            </a:r>
            <a:endParaRPr lang="en-US" dirty="0"/>
          </a:p>
        </p:txBody>
      </p:sp>
      <p:sp>
        <p:nvSpPr>
          <p:cNvPr id="12" name="Rectangle 11"/>
          <p:cNvSpPr/>
          <p:nvPr userDrawn="1"/>
        </p:nvSpPr>
        <p:spPr>
          <a:xfrm>
            <a:off x="304800" y="958850"/>
            <a:ext cx="115824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82167721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Lst>
  <p:timing>
    <p:tnLst>
      <p:par>
        <p:cTn id="1" dur="indefinite" restart="never" nodeType="tmRoot"/>
      </p:par>
    </p:tnLst>
  </p:timing>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cid:4DBC9F8D-BEF1-4230-8A54-274AB7F2DC6D" TargetMode="External"/><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tif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tiff"/></Relationships>
</file>

<file path=ppt/slides/_rels/slide12.xml.rels><?xml version="1.0" encoding="UTF-8" standalone="yes"?>
<Relationships xmlns="http://schemas.openxmlformats.org/package/2006/relationships"><Relationship Id="rId3" Type="http://schemas.openxmlformats.org/officeDocument/2006/relationships/image" Target="../media/image9.tiff"/><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tiff"/><Relationship Id="rId4" Type="http://schemas.openxmlformats.org/officeDocument/2006/relationships/image" Target="../media/image15.tiff"/><Relationship Id="rId5" Type="http://schemas.openxmlformats.org/officeDocument/2006/relationships/image" Target="../media/image16.tiff"/><Relationship Id="rId6" Type="http://schemas.openxmlformats.org/officeDocument/2006/relationships/image" Target="../media/image17.tiff"/><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tiff"/><Relationship Id="rId10"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www.businessarchitectureguild.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88462" y="2270818"/>
            <a:ext cx="5932714" cy="1231106"/>
          </a:xfrm>
        </p:spPr>
        <p:txBody>
          <a:bodyPr/>
          <a:lstStyle/>
          <a:p>
            <a:r>
              <a:rPr lang="en-US" dirty="0" smtClean="0"/>
              <a:t>Business Architecture</a:t>
            </a:r>
            <a:br>
              <a:rPr lang="en-US" dirty="0" smtClean="0"/>
            </a:br>
            <a:r>
              <a:rPr lang="en-US" dirty="0" smtClean="0"/>
              <a:t>Metamodel Update</a:t>
            </a:r>
            <a:endParaRPr lang="en-US" dirty="0"/>
          </a:p>
        </p:txBody>
      </p:sp>
      <p:sp>
        <p:nvSpPr>
          <p:cNvPr id="3" name="Text Placeholder 2"/>
          <p:cNvSpPr>
            <a:spLocks noGrp="1"/>
          </p:cNvSpPr>
          <p:nvPr>
            <p:ph type="body" sz="quarter" idx="11"/>
          </p:nvPr>
        </p:nvSpPr>
        <p:spPr>
          <a:xfrm>
            <a:off x="4617551" y="3515231"/>
            <a:ext cx="2956899" cy="369332"/>
          </a:xfrm>
        </p:spPr>
        <p:txBody>
          <a:bodyPr/>
          <a:lstStyle/>
          <a:p>
            <a:r>
              <a:rPr lang="en-US" dirty="0"/>
              <a:t>2017 Summit Update</a:t>
            </a:r>
          </a:p>
        </p:txBody>
      </p:sp>
    </p:spTree>
    <p:extLst>
      <p:ext uri="{BB962C8B-B14F-4D97-AF65-F5344CB8AC3E}">
        <p14:creationId xmlns:p14="http://schemas.microsoft.com/office/powerpoint/2010/main" val="27954331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panose="020B0604020202020204" pitchFamily="34" charset="0"/>
              <a:buChar char="•"/>
            </a:pPr>
            <a:r>
              <a:rPr lang="en-US" sz="2400" dirty="0"/>
              <a:t>Business </a:t>
            </a:r>
            <a:r>
              <a:rPr lang="en-US" sz="2400" dirty="0" smtClean="0"/>
              <a:t>architecture framework </a:t>
            </a:r>
            <a:r>
              <a:rPr lang="en-US" sz="2400" dirty="0"/>
              <a:t>recap</a:t>
            </a:r>
          </a:p>
          <a:p>
            <a:pPr>
              <a:buFont typeface="Arial" panose="020B0604020202020204" pitchFamily="34" charset="0"/>
              <a:buChar char="•"/>
            </a:pPr>
            <a:r>
              <a:rPr lang="en-US" sz="2400" dirty="0"/>
              <a:t>Business architecture knowledgebase</a:t>
            </a:r>
          </a:p>
          <a:p>
            <a:pPr>
              <a:buFont typeface="Arial" panose="020B0604020202020204" pitchFamily="34" charset="0"/>
              <a:buChar char="•"/>
            </a:pPr>
            <a:r>
              <a:rPr lang="en-US" sz="2400" dirty="0"/>
              <a:t>Knowledgebase and metamodel requirements</a:t>
            </a:r>
          </a:p>
          <a:p>
            <a:pPr>
              <a:buFont typeface="Arial" panose="020B0604020202020204" pitchFamily="34" charset="0"/>
              <a:buChar char="•"/>
            </a:pPr>
            <a:r>
              <a:rPr lang="en-US" sz="2400" dirty="0"/>
              <a:t>Sample metamodel from BIZBOK® Guide</a:t>
            </a:r>
          </a:p>
          <a:p>
            <a:pPr>
              <a:buFont typeface="Arial" panose="020B0604020202020204" pitchFamily="34" charset="0"/>
              <a:buChar char="•"/>
            </a:pPr>
            <a:r>
              <a:rPr lang="en-US" sz="2400" dirty="0"/>
              <a:t>What the </a:t>
            </a:r>
            <a:r>
              <a:rPr lang="en-US" sz="2400" dirty="0" smtClean="0"/>
              <a:t>Business Architecture Guild </a:t>
            </a:r>
            <a:r>
              <a:rPr lang="en-US" sz="2400" dirty="0"/>
              <a:t>is doing to standardize metamodel views</a:t>
            </a:r>
          </a:p>
        </p:txBody>
      </p:sp>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2</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Overview</a:t>
            </a:r>
            <a:endParaRPr lang="en-US" dirty="0"/>
          </a:p>
        </p:txBody>
      </p:sp>
    </p:spTree>
    <p:extLst>
      <p:ext uri="{BB962C8B-B14F-4D97-AF65-F5344CB8AC3E}">
        <p14:creationId xmlns:p14="http://schemas.microsoft.com/office/powerpoint/2010/main" val="3774276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2926" y="1740709"/>
            <a:ext cx="10871394" cy="3579849"/>
          </a:xfrm>
        </p:spPr>
        <p:txBody>
          <a:bodyPr/>
          <a:lstStyle/>
          <a:p>
            <a:pPr>
              <a:spcBef>
                <a:spcPts val="1800"/>
              </a:spcBef>
              <a:buFont typeface="Arial" panose="020B0604020202020204" pitchFamily="34" charset="0"/>
              <a:buChar char="•"/>
            </a:pPr>
            <a:r>
              <a:rPr lang="en-US" dirty="0"/>
              <a:t>Goal – create an international standard for a business architecture metamodel that aligns to </a:t>
            </a:r>
            <a:r>
              <a:rPr lang="en-US" dirty="0" smtClean="0"/>
              <a:t>and </a:t>
            </a:r>
            <a:r>
              <a:rPr lang="en-US" dirty="0"/>
              <a:t>implements the underlying metamodel in the BIZBOK® Guide</a:t>
            </a:r>
          </a:p>
          <a:p>
            <a:pPr>
              <a:spcBef>
                <a:spcPts val="1800"/>
              </a:spcBef>
              <a:buFont typeface="Arial" panose="020B0604020202020204" pitchFamily="34" charset="0"/>
              <a:buChar char="•"/>
            </a:pPr>
            <a:r>
              <a:rPr lang="en-US" dirty="0" smtClean="0"/>
              <a:t>The Win – any tool aligned to a standard metamodel based on BIZBOK® Guide can input and export and ideally represent standard business architecture representations as defined by best practices in the BIZBOK® Guide </a:t>
            </a:r>
          </a:p>
          <a:p>
            <a:pPr>
              <a:spcBef>
                <a:spcPts val="1800"/>
              </a:spcBef>
              <a:buFont typeface="Arial" panose="020B0604020202020204" pitchFamily="34" charset="0"/>
              <a:buChar char="•"/>
            </a:pPr>
            <a:r>
              <a:rPr lang="en-US" dirty="0" smtClean="0"/>
              <a:t>Tools will align more readily to best practices and reduce customization often required by in-house teams</a:t>
            </a:r>
          </a:p>
          <a:p>
            <a:pPr>
              <a:spcBef>
                <a:spcPts val="1800"/>
              </a:spcBef>
              <a:buFont typeface="Arial" panose="020B0604020202020204" pitchFamily="34" charset="0"/>
              <a:buChar char="•"/>
            </a:pPr>
            <a:r>
              <a:rPr lang="en-US" dirty="0" smtClean="0"/>
              <a:t>Business architecture work will be streamlined and expedited </a:t>
            </a:r>
            <a:endParaRPr lang="en-US" dirty="0"/>
          </a:p>
        </p:txBody>
      </p:sp>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3</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The Value Proposition</a:t>
            </a:r>
            <a:endParaRPr lang="en-US" dirty="0"/>
          </a:p>
        </p:txBody>
      </p:sp>
    </p:spTree>
    <p:extLst>
      <p:ext uri="{BB962C8B-B14F-4D97-AF65-F5344CB8AC3E}">
        <p14:creationId xmlns:p14="http://schemas.microsoft.com/office/powerpoint/2010/main" val="3283683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3/15/17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pPr/>
              <a:t>4</a:t>
            </a:fld>
            <a:endParaRPr lang="en-US" dirty="0"/>
          </a:p>
        </p:txBody>
      </p:sp>
      <p:sp>
        <p:nvSpPr>
          <p:cNvPr id="5" name="Title 4"/>
          <p:cNvSpPr>
            <a:spLocks noGrp="1"/>
          </p:cNvSpPr>
          <p:nvPr>
            <p:ph type="title"/>
          </p:nvPr>
        </p:nvSpPr>
        <p:spPr>
          <a:xfrm>
            <a:off x="1957980" y="259630"/>
            <a:ext cx="6858000" cy="548640"/>
          </a:xfrm>
        </p:spPr>
        <p:txBody>
          <a:bodyPr/>
          <a:lstStyle/>
          <a:p>
            <a:r>
              <a:rPr lang="en-US" dirty="0" smtClean="0"/>
              <a:t>Business Architecture Framework Relies on Robust Knowledgebase</a:t>
            </a:r>
            <a:endParaRPr lang="en-US" dirty="0"/>
          </a:p>
        </p:txBody>
      </p:sp>
      <p:sp>
        <p:nvSpPr>
          <p:cNvPr id="6" name="Content Placeholder 3"/>
          <p:cNvSpPr txBox="1">
            <a:spLocks/>
          </p:cNvSpPr>
          <p:nvPr/>
        </p:nvSpPr>
        <p:spPr>
          <a:xfrm>
            <a:off x="1319351" y="5017206"/>
            <a:ext cx="9586348" cy="1025702"/>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2">
              <a:lnSpc>
                <a:spcPct val="100000"/>
              </a:lnSpc>
              <a:spcBef>
                <a:spcPts val="0"/>
              </a:spcBef>
              <a:spcAft>
                <a:spcPts val="400"/>
              </a:spcAft>
              <a:buClr>
                <a:schemeClr val="bg2"/>
              </a:buClr>
              <a:buSzPct val="50000"/>
              <a:buFont typeface="Wingdings" charset="2"/>
              <a:buChar char="u"/>
            </a:pPr>
            <a:r>
              <a:rPr lang="en-US" altLang="en-US" sz="1600" dirty="0"/>
              <a:t>Knowledgebase: Manages business architecture metadata and relationships in easily accessed facility</a:t>
            </a:r>
          </a:p>
          <a:p>
            <a:pPr marL="228600" lvl="2">
              <a:lnSpc>
                <a:spcPct val="100000"/>
              </a:lnSpc>
              <a:spcBef>
                <a:spcPts val="0"/>
              </a:spcBef>
              <a:spcAft>
                <a:spcPts val="400"/>
              </a:spcAft>
              <a:buClr>
                <a:schemeClr val="bg2"/>
              </a:buClr>
              <a:buSzPct val="50000"/>
              <a:buFont typeface="Wingdings" charset="2"/>
              <a:buChar char="u"/>
            </a:pPr>
            <a:r>
              <a:rPr lang="en-US" altLang="en-US" sz="1600" dirty="0"/>
              <a:t>Blueprints: On demand and ad hoc business architecture diagrams, extracts and reporting</a:t>
            </a:r>
          </a:p>
          <a:p>
            <a:pPr marL="228600" lvl="2">
              <a:lnSpc>
                <a:spcPct val="100000"/>
              </a:lnSpc>
              <a:spcBef>
                <a:spcPts val="0"/>
              </a:spcBef>
              <a:spcAft>
                <a:spcPts val="400"/>
              </a:spcAft>
              <a:buClr>
                <a:schemeClr val="bg2"/>
              </a:buClr>
              <a:buSzPct val="50000"/>
              <a:buFont typeface="Wingdings" charset="2"/>
              <a:buChar char="u"/>
            </a:pPr>
            <a:r>
              <a:rPr lang="en-US" altLang="en-US" sz="1600" dirty="0"/>
              <a:t>Scenarios: Specific business context shaped by business objectives, related challenges, action items, plans</a:t>
            </a:r>
          </a:p>
        </p:txBody>
      </p:sp>
      <p:sp>
        <p:nvSpPr>
          <p:cNvPr id="7" name="TextBox 6"/>
          <p:cNvSpPr txBox="1"/>
          <p:nvPr/>
        </p:nvSpPr>
        <p:spPr>
          <a:xfrm>
            <a:off x="7924178" y="4484011"/>
            <a:ext cx="2642843" cy="415498"/>
          </a:xfrm>
          <a:prstGeom prst="rect">
            <a:avLst/>
          </a:prstGeom>
          <a:noFill/>
        </p:spPr>
        <p:txBody>
          <a:bodyPr wrap="square" rtlCol="0">
            <a:spAutoFit/>
          </a:bodyPr>
          <a:lstStyle/>
          <a:p>
            <a:r>
              <a:rPr lang="en-US" sz="1050" i="1" dirty="0"/>
              <a:t>Source of Basic </a:t>
            </a:r>
            <a:r>
              <a:rPr lang="en-US" sz="1050" i="1" dirty="0" smtClean="0"/>
              <a:t>Framework: </a:t>
            </a:r>
          </a:p>
          <a:p>
            <a:r>
              <a:rPr lang="en-US" sz="1050" i="1" dirty="0" smtClean="0"/>
              <a:t>(BIZBOK® Guide)</a:t>
            </a:r>
            <a:endParaRPr lang="en-US" sz="1050" dirty="0">
              <a:solidFill>
                <a:schemeClr val="bg2">
                  <a:lumMod val="25000"/>
                </a:schemeClr>
              </a:solidFill>
            </a:endParaRPr>
          </a:p>
        </p:txBody>
      </p:sp>
      <p:pic>
        <p:nvPicPr>
          <p:cNvPr id="8" name="Picture 7"/>
          <p:cNvPicPr>
            <a:picLocks noChangeAspect="1"/>
          </p:cNvPicPr>
          <p:nvPr/>
        </p:nvPicPr>
        <p:blipFill>
          <a:blip r:embed="rId3"/>
          <a:stretch>
            <a:fillRect/>
          </a:stretch>
        </p:blipFill>
        <p:spPr>
          <a:xfrm>
            <a:off x="1972493" y="1043664"/>
            <a:ext cx="7590242" cy="4005419"/>
          </a:xfrm>
          <a:prstGeom prst="rect">
            <a:avLst/>
          </a:prstGeom>
        </p:spPr>
      </p:pic>
      <p:cxnSp>
        <p:nvCxnSpPr>
          <p:cNvPr id="10" name="Straight Arrow Connector 9"/>
          <p:cNvCxnSpPr/>
          <p:nvPr/>
        </p:nvCxnSpPr>
        <p:spPr>
          <a:xfrm flipH="1">
            <a:off x="6917726" y="1666526"/>
            <a:ext cx="1540475" cy="551935"/>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421219" y="1127878"/>
            <a:ext cx="2590770" cy="707886"/>
          </a:xfrm>
          <a:prstGeom prst="rect">
            <a:avLst/>
          </a:prstGeom>
          <a:noFill/>
        </p:spPr>
        <p:txBody>
          <a:bodyPr wrap="square" rtlCol="0">
            <a:spAutoFit/>
          </a:bodyPr>
          <a:lstStyle/>
          <a:p>
            <a:r>
              <a:rPr lang="en-US" sz="2000" i="1" dirty="0" smtClean="0"/>
              <a:t>Business Architecture Knowledgebase</a:t>
            </a:r>
            <a:endParaRPr lang="en-US" sz="2000" dirty="0">
              <a:solidFill>
                <a:schemeClr val="bg2">
                  <a:lumMod val="25000"/>
                </a:schemeClr>
              </a:solidFill>
            </a:endParaRPr>
          </a:p>
        </p:txBody>
      </p:sp>
    </p:spTree>
    <p:extLst>
      <p:ext uri="{BB962C8B-B14F-4D97-AF65-F5344CB8AC3E}">
        <p14:creationId xmlns:p14="http://schemas.microsoft.com/office/powerpoint/2010/main" val="225217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3/15/17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pPr/>
              <a:t>5</a:t>
            </a:fld>
            <a:endParaRPr lang="en-US" dirty="0"/>
          </a:p>
        </p:txBody>
      </p:sp>
      <p:sp>
        <p:nvSpPr>
          <p:cNvPr id="5" name="Title 4"/>
          <p:cNvSpPr>
            <a:spLocks noGrp="1"/>
          </p:cNvSpPr>
          <p:nvPr>
            <p:ph type="title"/>
          </p:nvPr>
        </p:nvSpPr>
        <p:spPr>
          <a:xfrm>
            <a:off x="1005840" y="242191"/>
            <a:ext cx="8843554" cy="548640"/>
          </a:xfrm>
        </p:spPr>
        <p:txBody>
          <a:bodyPr/>
          <a:lstStyle/>
          <a:p>
            <a:r>
              <a:rPr lang="en-US" dirty="0" smtClean="0"/>
              <a:t>Knowledgebase is Based on BIZBOK® Guide’s Underlying MEtamodel</a:t>
            </a:r>
            <a:endParaRPr lang="en-US" dirty="0"/>
          </a:p>
        </p:txBody>
      </p:sp>
      <p:sp>
        <p:nvSpPr>
          <p:cNvPr id="6" name="Content Placeholder 2"/>
          <p:cNvSpPr txBox="1">
            <a:spLocks/>
          </p:cNvSpPr>
          <p:nvPr/>
        </p:nvSpPr>
        <p:spPr>
          <a:xfrm>
            <a:off x="1110346" y="1357681"/>
            <a:ext cx="9953894" cy="4437756"/>
          </a:xfrm>
          <a:prstGeom prst="rect">
            <a:avLst/>
          </a:prstGeom>
        </p:spPr>
        <p:txBody>
          <a:bodyPr>
            <a:no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spcBef>
                <a:spcPts val="0"/>
              </a:spcBef>
              <a:spcAft>
                <a:spcPts val="1200"/>
              </a:spcAft>
              <a:buFont typeface="Arial" panose="020B0604020202020204" pitchFamily="34" charset="0"/>
              <a:buChar char="•"/>
              <a:defRPr/>
            </a:pPr>
            <a:r>
              <a:rPr lang="en-US" sz="2000" dirty="0">
                <a:cs typeface="Arial" panose="020B0604020202020204" pitchFamily="34" charset="0"/>
              </a:rPr>
              <a:t>Business architecture </a:t>
            </a:r>
            <a:r>
              <a:rPr lang="en-US" sz="2000" dirty="0" smtClean="0">
                <a:cs typeface="Arial" panose="020B0604020202020204" pitchFamily="34" charset="0"/>
              </a:rPr>
              <a:t>maps </a:t>
            </a:r>
            <a:r>
              <a:rPr lang="en-US" sz="2000" dirty="0">
                <a:cs typeface="Arial" panose="020B0604020202020204" pitchFamily="34" charset="0"/>
              </a:rPr>
              <a:t>various business </a:t>
            </a:r>
            <a:r>
              <a:rPr lang="en-US" sz="2000" dirty="0" smtClean="0">
                <a:cs typeface="Arial" panose="020B0604020202020204" pitchFamily="34" charset="0"/>
              </a:rPr>
              <a:t>domains that </a:t>
            </a:r>
            <a:r>
              <a:rPr lang="en-US" sz="2000" dirty="0">
                <a:cs typeface="Arial" panose="020B0604020202020204" pitchFamily="34" charset="0"/>
              </a:rPr>
              <a:t>need to be accessible in a wide variety of ways</a:t>
            </a:r>
          </a:p>
          <a:p>
            <a:pPr>
              <a:spcBef>
                <a:spcPts val="0"/>
              </a:spcBef>
              <a:spcAft>
                <a:spcPts val="1200"/>
              </a:spcAft>
              <a:buFont typeface="Arial" panose="020B0604020202020204" pitchFamily="34" charset="0"/>
              <a:buChar char="•"/>
              <a:defRPr/>
            </a:pPr>
            <a:r>
              <a:rPr lang="en-US" sz="2000" dirty="0">
                <a:cs typeface="Arial" panose="020B0604020202020204" pitchFamily="34" charset="0"/>
              </a:rPr>
              <a:t>This perspective is reflected in the BIZBOK® Guide’s </a:t>
            </a:r>
            <a:r>
              <a:rPr lang="en-US" sz="2000" dirty="0" smtClean="0">
                <a:cs typeface="Arial" panose="020B0604020202020204" pitchFamily="34" charset="0"/>
              </a:rPr>
              <a:t>business architecture framework</a:t>
            </a:r>
            <a:endParaRPr lang="en-US" sz="2000" dirty="0">
              <a:cs typeface="Arial" panose="020B0604020202020204" pitchFamily="34" charset="0"/>
            </a:endParaRPr>
          </a:p>
          <a:p>
            <a:pPr>
              <a:spcBef>
                <a:spcPts val="0"/>
              </a:spcBef>
              <a:spcAft>
                <a:spcPts val="1200"/>
              </a:spcAft>
              <a:buFont typeface="Arial" panose="020B0604020202020204" pitchFamily="34" charset="0"/>
              <a:buChar char="•"/>
              <a:defRPr/>
            </a:pPr>
            <a:r>
              <a:rPr lang="en-US" sz="2000" dirty="0">
                <a:cs typeface="Arial" panose="020B0604020202020204" pitchFamily="34" charset="0"/>
              </a:rPr>
              <a:t>Managing a well-articulated business architecture requires a robust knowledgebase – the centerpiece of that framework</a:t>
            </a:r>
          </a:p>
          <a:p>
            <a:pPr>
              <a:spcBef>
                <a:spcPts val="0"/>
              </a:spcBef>
              <a:spcAft>
                <a:spcPts val="1200"/>
              </a:spcAft>
              <a:buFont typeface="Arial" panose="020B0604020202020204" pitchFamily="34" charset="0"/>
              <a:buChar char="•"/>
              <a:defRPr/>
            </a:pPr>
            <a:r>
              <a:rPr lang="en-US" sz="2000" dirty="0">
                <a:cs typeface="Arial" panose="020B0604020202020204" pitchFamily="34" charset="0"/>
              </a:rPr>
              <a:t>Best practices and emerging standards dictate basic relationships</a:t>
            </a:r>
          </a:p>
          <a:p>
            <a:pPr lvl="2">
              <a:spcBef>
                <a:spcPts val="0"/>
              </a:spcBef>
              <a:spcAft>
                <a:spcPts val="1200"/>
              </a:spcAft>
              <a:buFont typeface="Arial" panose="020B0604020202020204" pitchFamily="34" charset="0"/>
              <a:buChar char="•"/>
              <a:defRPr/>
            </a:pPr>
            <a:r>
              <a:rPr lang="en-US" sz="1800" dirty="0">
                <a:cs typeface="Arial" panose="020B0604020202020204" pitchFamily="34" charset="0"/>
              </a:rPr>
              <a:t>Repositories, databases and third party software enable management of knowledgebase</a:t>
            </a:r>
          </a:p>
          <a:p>
            <a:pPr lvl="2">
              <a:spcBef>
                <a:spcPts val="0"/>
              </a:spcBef>
              <a:spcAft>
                <a:spcPts val="1200"/>
              </a:spcAft>
              <a:buFont typeface="Arial" panose="020B0604020202020204" pitchFamily="34" charset="0"/>
              <a:buChar char="•"/>
              <a:defRPr/>
            </a:pPr>
            <a:r>
              <a:rPr lang="en-US" sz="1800" dirty="0">
                <a:cs typeface="Arial" panose="020B0604020202020204" pitchFamily="34" charset="0"/>
              </a:rPr>
              <a:t>Best practices are evolving into standards for managing this information</a:t>
            </a:r>
          </a:p>
          <a:p>
            <a:pPr lvl="2">
              <a:spcBef>
                <a:spcPts val="0"/>
              </a:spcBef>
              <a:spcAft>
                <a:spcPts val="1200"/>
              </a:spcAft>
              <a:buFont typeface="Arial" panose="020B0604020202020204" pitchFamily="34" charset="0"/>
              <a:buChar char="•"/>
              <a:defRPr/>
            </a:pPr>
            <a:r>
              <a:rPr lang="en-US" sz="1800" dirty="0">
                <a:cs typeface="Arial" panose="020B0604020202020204" pitchFamily="34" charset="0"/>
              </a:rPr>
              <a:t>In all cases a robust metamodel </a:t>
            </a:r>
            <a:r>
              <a:rPr lang="en-US" sz="1800" dirty="0" smtClean="0">
                <a:cs typeface="Arial" panose="020B0604020202020204" pitchFamily="34" charset="0"/>
              </a:rPr>
              <a:t>is needed to </a:t>
            </a:r>
            <a:r>
              <a:rPr lang="en-US" sz="1800" dirty="0">
                <a:cs typeface="Arial" panose="020B0604020202020204" pitchFamily="34" charset="0"/>
              </a:rPr>
              <a:t>enable </a:t>
            </a:r>
            <a:r>
              <a:rPr lang="en-US" sz="1800" dirty="0" smtClean="0">
                <a:cs typeface="Arial" panose="020B0604020202020204" pitchFamily="34" charset="0"/>
              </a:rPr>
              <a:t>tool </a:t>
            </a:r>
            <a:r>
              <a:rPr lang="en-US" sz="1800" dirty="0">
                <a:cs typeface="Arial" panose="020B0604020202020204" pitchFamily="34" charset="0"/>
              </a:rPr>
              <a:t>vendors and practitioners to represent, exchange and disseminate standard business architecture blueprints and related representations </a:t>
            </a:r>
          </a:p>
        </p:txBody>
      </p:sp>
    </p:spTree>
    <p:extLst>
      <p:ext uri="{BB962C8B-B14F-4D97-AF65-F5344CB8AC3E}">
        <p14:creationId xmlns:p14="http://schemas.microsoft.com/office/powerpoint/2010/main" val="4257142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3/15/17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pPr/>
              <a:t>6</a:t>
            </a:fld>
            <a:endParaRPr lang="en-US" dirty="0"/>
          </a:p>
        </p:txBody>
      </p:sp>
      <p:sp>
        <p:nvSpPr>
          <p:cNvPr id="5" name="Title 4"/>
          <p:cNvSpPr>
            <a:spLocks noGrp="1"/>
          </p:cNvSpPr>
          <p:nvPr>
            <p:ph type="title"/>
          </p:nvPr>
        </p:nvSpPr>
        <p:spPr>
          <a:xfrm>
            <a:off x="952745" y="316331"/>
            <a:ext cx="8766021" cy="548640"/>
          </a:xfrm>
        </p:spPr>
        <p:txBody>
          <a:bodyPr/>
          <a:lstStyle/>
          <a:p>
            <a:r>
              <a:rPr lang="en-US" dirty="0" smtClean="0"/>
              <a:t>Sample Early Stage Metamodel from BIZBOK® Guide Part 5</a:t>
            </a:r>
            <a:endParaRPr lang="en-US" dirty="0"/>
          </a:p>
        </p:txBody>
      </p:sp>
      <p:sp>
        <p:nvSpPr>
          <p:cNvPr id="6" name="TextBox 5"/>
          <p:cNvSpPr txBox="1"/>
          <p:nvPr/>
        </p:nvSpPr>
        <p:spPr>
          <a:xfrm>
            <a:off x="8623530" y="5839106"/>
            <a:ext cx="2190471" cy="276999"/>
          </a:xfrm>
          <a:prstGeom prst="rect">
            <a:avLst/>
          </a:prstGeom>
          <a:noFill/>
        </p:spPr>
        <p:txBody>
          <a:bodyPr wrap="none" rtlCol="0">
            <a:spAutoFit/>
          </a:bodyPr>
          <a:lstStyle/>
          <a:p>
            <a:r>
              <a:rPr lang="en-US" sz="1200" dirty="0"/>
              <a:t>Source: BIZBOK® Guide Part 5</a:t>
            </a:r>
          </a:p>
        </p:txBody>
      </p:sp>
      <p:sp>
        <p:nvSpPr>
          <p:cNvPr id="7" name="TextBox 6"/>
          <p:cNvSpPr txBox="1"/>
          <p:nvPr/>
        </p:nvSpPr>
        <p:spPr>
          <a:xfrm>
            <a:off x="1798728" y="5538625"/>
            <a:ext cx="8136971" cy="369332"/>
          </a:xfrm>
          <a:prstGeom prst="rect">
            <a:avLst/>
          </a:prstGeom>
          <a:noFill/>
        </p:spPr>
        <p:txBody>
          <a:bodyPr wrap="none" rtlCol="0">
            <a:spAutoFit/>
          </a:bodyPr>
          <a:lstStyle/>
          <a:p>
            <a:r>
              <a:rPr lang="en-US" dirty="0"/>
              <a:t>Sample metamodel depicting relationships among business architecture artifacts </a:t>
            </a:r>
          </a:p>
        </p:txBody>
      </p:sp>
      <p:pic>
        <p:nvPicPr>
          <p:cNvPr id="8" name="Picture 7" descr="cid:4DBC9F8D-BEF1-4230-8A54-274AB7F2DC6D"/>
          <p:cNvPicPr/>
          <p:nvPr/>
        </p:nvPicPr>
        <p:blipFill rotWithShape="1">
          <a:blip r:embed="rId3" r:link="rId4">
            <a:extLst>
              <a:ext uri="{28A0092B-C50C-407E-A947-70E740481C1C}">
                <a14:useLocalDpi xmlns:a14="http://schemas.microsoft.com/office/drawing/2010/main" val="0"/>
              </a:ext>
            </a:extLst>
          </a:blip>
          <a:srcRect l="1924" t="1931" r="2285" b="2790"/>
          <a:stretch/>
        </p:blipFill>
        <p:spPr bwMode="auto">
          <a:xfrm>
            <a:off x="1357694" y="1072769"/>
            <a:ext cx="9667358" cy="447891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542095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693813" y="1100629"/>
            <a:ext cx="9631680" cy="4814140"/>
          </a:xfrm>
        </p:spPr>
        <p:txBody>
          <a:bodyPr>
            <a:normAutofit/>
          </a:bodyPr>
          <a:lstStyle/>
          <a:p>
            <a:pPr>
              <a:buFont typeface="Arial" charset="0"/>
              <a:buChar char="•"/>
            </a:pPr>
            <a:r>
              <a:rPr lang="en-US" dirty="0"/>
              <a:t>Metamodel Design</a:t>
            </a:r>
          </a:p>
          <a:p>
            <a:pPr lvl="2">
              <a:buFont typeface="Arial" charset="0"/>
              <a:buChar char="•"/>
            </a:pPr>
            <a:r>
              <a:rPr lang="en-US" dirty="0"/>
              <a:t>Inviting international participants</a:t>
            </a:r>
          </a:p>
          <a:p>
            <a:pPr lvl="2">
              <a:buFont typeface="Arial" charset="0"/>
              <a:buChar char="•"/>
            </a:pPr>
            <a:r>
              <a:rPr lang="en-US" dirty="0"/>
              <a:t>Finalizing the core mappings</a:t>
            </a:r>
          </a:p>
          <a:p>
            <a:pPr lvl="2">
              <a:buFont typeface="Arial" charset="0"/>
              <a:buChar char="•"/>
            </a:pPr>
            <a:r>
              <a:rPr lang="en-US" dirty="0"/>
              <a:t>Drafting the penumbra</a:t>
            </a:r>
          </a:p>
          <a:p>
            <a:pPr>
              <a:buFont typeface="Arial" charset="0"/>
              <a:buChar char="•"/>
            </a:pPr>
            <a:r>
              <a:rPr lang="en-US" dirty="0" smtClean="0"/>
              <a:t>Object Management Group</a:t>
            </a:r>
          </a:p>
          <a:p>
            <a:pPr lvl="2">
              <a:buFont typeface="Arial" charset="0"/>
              <a:buChar char="•"/>
            </a:pPr>
            <a:r>
              <a:rPr lang="en-US" dirty="0" smtClean="0"/>
              <a:t>OMG Business Architecture Metamodel RFP drafted </a:t>
            </a:r>
          </a:p>
          <a:p>
            <a:pPr lvl="2">
              <a:buFont typeface="Arial" charset="0"/>
              <a:buChar char="•"/>
            </a:pPr>
            <a:r>
              <a:rPr lang="en-US" dirty="0" smtClean="0"/>
              <a:t>Targeting standard submissions for 2018</a:t>
            </a:r>
          </a:p>
          <a:p>
            <a:pPr>
              <a:buFont typeface="Arial" charset="0"/>
              <a:buChar char="•"/>
            </a:pPr>
            <a:r>
              <a:rPr lang="en-US" dirty="0" smtClean="0"/>
              <a:t>Open Group</a:t>
            </a:r>
            <a:endParaRPr lang="en-US" dirty="0"/>
          </a:p>
          <a:p>
            <a:pPr lvl="2">
              <a:buFont typeface="Arial" charset="0"/>
              <a:buChar char="•"/>
            </a:pPr>
            <a:r>
              <a:rPr lang="en-US" dirty="0" smtClean="0"/>
              <a:t>Guild is active member working on business architecture efforts</a:t>
            </a:r>
            <a:endParaRPr lang="en-US" dirty="0"/>
          </a:p>
          <a:p>
            <a:pPr lvl="2">
              <a:buFont typeface="Arial" charset="0"/>
              <a:buChar char="•"/>
            </a:pPr>
            <a:r>
              <a:rPr lang="en-US" dirty="0" smtClean="0"/>
              <a:t>Contributing recommendations to update Open Group TOGAF™ content model</a:t>
            </a:r>
            <a:endParaRPr lang="en-US" dirty="0"/>
          </a:p>
          <a:p>
            <a:pPr>
              <a:buFont typeface="Arial" charset="0"/>
              <a:buChar char="•"/>
            </a:pPr>
            <a:r>
              <a:rPr lang="en-US" dirty="0" smtClean="0"/>
              <a:t>Vendor Engagement</a:t>
            </a:r>
          </a:p>
          <a:p>
            <a:pPr lvl="2">
              <a:buFont typeface="Arial" charset="0"/>
              <a:buChar char="•"/>
            </a:pPr>
            <a:r>
              <a:rPr lang="en-US" dirty="0" smtClean="0"/>
              <a:t>Collaborating with tool vendors on metamodel design</a:t>
            </a:r>
          </a:p>
          <a:p>
            <a:pPr lvl="2">
              <a:buFont typeface="Arial" charset="0"/>
              <a:buChar char="•"/>
            </a:pPr>
            <a:r>
              <a:rPr lang="en-US" dirty="0" smtClean="0"/>
              <a:t>Inviting vendors to join Guild in a formal submission response</a:t>
            </a:r>
            <a:endParaRPr lang="en-US" dirty="0"/>
          </a:p>
        </p:txBody>
      </p:sp>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7</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a:xfrm>
            <a:off x="1136468" y="289024"/>
            <a:ext cx="9287691" cy="548640"/>
          </a:xfrm>
        </p:spPr>
        <p:txBody>
          <a:bodyPr/>
          <a:lstStyle/>
          <a:p>
            <a:r>
              <a:rPr lang="en-US" dirty="0" smtClean="0"/>
              <a:t>Current Work in Progress by Guild Metamodel Team</a:t>
            </a:r>
            <a:endParaRPr lang="en-US" dirty="0"/>
          </a:p>
        </p:txBody>
      </p:sp>
    </p:spTree>
    <p:extLst>
      <p:ext uri="{BB962C8B-B14F-4D97-AF65-F5344CB8AC3E}">
        <p14:creationId xmlns:p14="http://schemas.microsoft.com/office/powerpoint/2010/main" val="30522269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8</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Metamodel Team Roadmap (2017/2018 Timeline)</a:t>
            </a:r>
            <a:endParaRPr lang="en-US" dirty="0"/>
          </a:p>
        </p:txBody>
      </p:sp>
      <p:sp>
        <p:nvSpPr>
          <p:cNvPr id="8" name="Content Placeholder 7"/>
          <p:cNvSpPr>
            <a:spLocks noGrp="1"/>
          </p:cNvSpPr>
          <p:nvPr>
            <p:ph idx="1"/>
          </p:nvPr>
        </p:nvSpPr>
        <p:spPr>
          <a:xfrm>
            <a:off x="902671" y="4413764"/>
            <a:ext cx="10239946" cy="1564744"/>
          </a:xfrm>
        </p:spPr>
        <p:txBody>
          <a:bodyPr>
            <a:normAutofit/>
          </a:bodyPr>
          <a:lstStyle/>
          <a:p>
            <a:pPr marL="0" indent="0"/>
            <a:r>
              <a:rPr lang="en-US" sz="1800" b="0" dirty="0"/>
              <a:t>The team is working on multiple threads. Much work and time was spent in the last 12-18 months incorporating new thinking and approach for the m</a:t>
            </a:r>
            <a:r>
              <a:rPr lang="en-US" sz="1800" b="0" dirty="0" smtClean="0"/>
              <a:t>etamodel, </a:t>
            </a:r>
            <a:r>
              <a:rPr lang="en-US" sz="1800" b="0" dirty="0"/>
              <a:t>engaging constituencies in OMG to socialize and build consensus towards a </a:t>
            </a:r>
            <a:r>
              <a:rPr lang="en-US" sz="1800" b="0" dirty="0" smtClean="0"/>
              <a:t>Business Architecture Metamodel </a:t>
            </a:r>
            <a:r>
              <a:rPr lang="en-US" sz="1800" b="0" dirty="0"/>
              <a:t>RFP, and working with the vendor community to outline opportunities for ongoing collaboration and participation for the future.</a:t>
            </a:r>
          </a:p>
        </p:txBody>
      </p:sp>
      <p:sp>
        <p:nvSpPr>
          <p:cNvPr id="9" name="Rounded Rectangle 8"/>
          <p:cNvSpPr/>
          <p:nvPr/>
        </p:nvSpPr>
        <p:spPr>
          <a:xfrm>
            <a:off x="1971939" y="1636134"/>
            <a:ext cx="1627996"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1" dirty="0">
                <a:solidFill>
                  <a:schemeClr val="tx1"/>
                </a:solidFill>
              </a:rPr>
              <a:t>OMG RFP</a:t>
            </a:r>
          </a:p>
        </p:txBody>
      </p:sp>
      <p:sp>
        <p:nvSpPr>
          <p:cNvPr id="10" name="Rounded Rectangle 9"/>
          <p:cNvSpPr/>
          <p:nvPr/>
        </p:nvSpPr>
        <p:spPr>
          <a:xfrm>
            <a:off x="3599935" y="1636134"/>
            <a:ext cx="6757514"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1" dirty="0">
                <a:solidFill>
                  <a:schemeClr val="tx1"/>
                </a:solidFill>
              </a:rPr>
              <a:t>RFP Response</a:t>
            </a:r>
          </a:p>
        </p:txBody>
      </p:sp>
      <p:sp>
        <p:nvSpPr>
          <p:cNvPr id="11" name="Rounded Rectangle 10"/>
          <p:cNvSpPr/>
          <p:nvPr/>
        </p:nvSpPr>
        <p:spPr>
          <a:xfrm>
            <a:off x="3229239" y="2104545"/>
            <a:ext cx="1219199"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Core</a:t>
            </a:r>
          </a:p>
        </p:txBody>
      </p:sp>
      <p:sp>
        <p:nvSpPr>
          <p:cNvPr id="12" name="Rounded Rectangle 11"/>
          <p:cNvSpPr/>
          <p:nvPr/>
        </p:nvSpPr>
        <p:spPr>
          <a:xfrm>
            <a:off x="6874476" y="3044211"/>
            <a:ext cx="3443707" cy="457200"/>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chemeClr val="tx1"/>
                </a:solidFill>
              </a:rPr>
              <a:t>BIZBOK® Updates</a:t>
            </a:r>
          </a:p>
        </p:txBody>
      </p:sp>
      <p:sp>
        <p:nvSpPr>
          <p:cNvPr id="13" name="Rounded Rectangle 12"/>
          <p:cNvSpPr/>
          <p:nvPr/>
        </p:nvSpPr>
        <p:spPr>
          <a:xfrm>
            <a:off x="1971940" y="3506969"/>
            <a:ext cx="7486478" cy="457200"/>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solidFill>
                  <a:schemeClr val="tx1"/>
                </a:solidFill>
              </a:rPr>
              <a:t>Vendor Engagement</a:t>
            </a:r>
          </a:p>
        </p:txBody>
      </p:sp>
      <p:sp>
        <p:nvSpPr>
          <p:cNvPr id="15" name="Rounded Rectangle 14"/>
          <p:cNvSpPr/>
          <p:nvPr/>
        </p:nvSpPr>
        <p:spPr>
          <a:xfrm>
            <a:off x="1971940" y="2104545"/>
            <a:ext cx="1257299"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MM Design</a:t>
            </a:r>
          </a:p>
        </p:txBody>
      </p:sp>
      <p:sp>
        <p:nvSpPr>
          <p:cNvPr id="16" name="Rounded Rectangle 15"/>
          <p:cNvSpPr/>
          <p:nvPr/>
        </p:nvSpPr>
        <p:spPr>
          <a:xfrm>
            <a:off x="4474181" y="2098872"/>
            <a:ext cx="2289085"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Penumbra</a:t>
            </a:r>
          </a:p>
        </p:txBody>
      </p:sp>
      <p:sp>
        <p:nvSpPr>
          <p:cNvPr id="17" name="Rounded Rectangle 16"/>
          <p:cNvSpPr/>
          <p:nvPr/>
        </p:nvSpPr>
        <p:spPr>
          <a:xfrm>
            <a:off x="4448438" y="2573967"/>
            <a:ext cx="5009980"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Extensions</a:t>
            </a:r>
          </a:p>
        </p:txBody>
      </p:sp>
      <p:cxnSp>
        <p:nvCxnSpPr>
          <p:cNvPr id="7" name="Straight Connector 6"/>
          <p:cNvCxnSpPr/>
          <p:nvPr/>
        </p:nvCxnSpPr>
        <p:spPr>
          <a:xfrm>
            <a:off x="1756716" y="1305749"/>
            <a:ext cx="860073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8" name="Straight Connector 17"/>
          <p:cNvCxnSpPr/>
          <p:nvPr/>
        </p:nvCxnSpPr>
        <p:spPr>
          <a:xfrm>
            <a:off x="1771130"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1" name="Straight Connector 20"/>
          <p:cNvCxnSpPr/>
          <p:nvPr/>
        </p:nvCxnSpPr>
        <p:spPr>
          <a:xfrm>
            <a:off x="3690554"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2" name="Straight Connector 21"/>
          <p:cNvCxnSpPr/>
          <p:nvPr/>
        </p:nvCxnSpPr>
        <p:spPr>
          <a:xfrm>
            <a:off x="7673552"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3" name="Straight Connector 22"/>
          <p:cNvCxnSpPr/>
          <p:nvPr/>
        </p:nvCxnSpPr>
        <p:spPr>
          <a:xfrm>
            <a:off x="9297777"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4" name="Straight Connector 23"/>
          <p:cNvCxnSpPr/>
          <p:nvPr/>
        </p:nvCxnSpPr>
        <p:spPr>
          <a:xfrm>
            <a:off x="5682053"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sp>
        <p:nvSpPr>
          <p:cNvPr id="26" name="TextBox 25"/>
          <p:cNvSpPr txBox="1"/>
          <p:nvPr/>
        </p:nvSpPr>
        <p:spPr>
          <a:xfrm>
            <a:off x="2292176" y="999726"/>
            <a:ext cx="889686" cy="369332"/>
          </a:xfrm>
          <a:prstGeom prst="rect">
            <a:avLst/>
          </a:prstGeom>
          <a:noFill/>
        </p:spPr>
        <p:txBody>
          <a:bodyPr wrap="square" rtlCol="0">
            <a:spAutoFit/>
          </a:bodyPr>
          <a:lstStyle/>
          <a:p>
            <a:pPr algn="ctr"/>
            <a:r>
              <a:rPr lang="en-US" b="1" dirty="0">
                <a:solidFill>
                  <a:schemeClr val="accent5">
                    <a:lumMod val="50000"/>
                  </a:schemeClr>
                </a:solidFill>
              </a:rPr>
              <a:t>Q1</a:t>
            </a:r>
          </a:p>
        </p:txBody>
      </p:sp>
      <p:sp>
        <p:nvSpPr>
          <p:cNvPr id="27" name="TextBox 26"/>
          <p:cNvSpPr txBox="1"/>
          <p:nvPr/>
        </p:nvSpPr>
        <p:spPr>
          <a:xfrm>
            <a:off x="4271318" y="999726"/>
            <a:ext cx="889686" cy="369332"/>
          </a:xfrm>
          <a:prstGeom prst="rect">
            <a:avLst/>
          </a:prstGeom>
          <a:noFill/>
        </p:spPr>
        <p:txBody>
          <a:bodyPr wrap="square" rtlCol="0">
            <a:spAutoFit/>
          </a:bodyPr>
          <a:lstStyle/>
          <a:p>
            <a:pPr algn="ctr"/>
            <a:r>
              <a:rPr lang="en-US" b="1" dirty="0">
                <a:solidFill>
                  <a:schemeClr val="accent5">
                    <a:lumMod val="50000"/>
                  </a:schemeClr>
                </a:solidFill>
              </a:rPr>
              <a:t>Q2</a:t>
            </a:r>
          </a:p>
        </p:txBody>
      </p:sp>
      <p:sp>
        <p:nvSpPr>
          <p:cNvPr id="28" name="TextBox 27"/>
          <p:cNvSpPr txBox="1"/>
          <p:nvPr/>
        </p:nvSpPr>
        <p:spPr>
          <a:xfrm>
            <a:off x="6396004" y="999726"/>
            <a:ext cx="889686" cy="369332"/>
          </a:xfrm>
          <a:prstGeom prst="rect">
            <a:avLst/>
          </a:prstGeom>
          <a:noFill/>
        </p:spPr>
        <p:txBody>
          <a:bodyPr wrap="square" rtlCol="0">
            <a:spAutoFit/>
          </a:bodyPr>
          <a:lstStyle/>
          <a:p>
            <a:pPr algn="ctr"/>
            <a:r>
              <a:rPr lang="en-US" b="1" dirty="0">
                <a:solidFill>
                  <a:schemeClr val="accent5">
                    <a:lumMod val="50000"/>
                  </a:schemeClr>
                </a:solidFill>
              </a:rPr>
              <a:t>Q3</a:t>
            </a:r>
          </a:p>
        </p:txBody>
      </p:sp>
      <p:sp>
        <p:nvSpPr>
          <p:cNvPr id="29" name="TextBox 28"/>
          <p:cNvSpPr txBox="1"/>
          <p:nvPr/>
        </p:nvSpPr>
        <p:spPr>
          <a:xfrm>
            <a:off x="8090252" y="999726"/>
            <a:ext cx="889686" cy="369332"/>
          </a:xfrm>
          <a:prstGeom prst="rect">
            <a:avLst/>
          </a:prstGeom>
          <a:noFill/>
        </p:spPr>
        <p:txBody>
          <a:bodyPr wrap="square" rtlCol="0">
            <a:spAutoFit/>
          </a:bodyPr>
          <a:lstStyle/>
          <a:p>
            <a:pPr algn="ctr"/>
            <a:r>
              <a:rPr lang="en-US" b="1" dirty="0">
                <a:solidFill>
                  <a:schemeClr val="accent5">
                    <a:lumMod val="50000"/>
                  </a:schemeClr>
                </a:solidFill>
              </a:rPr>
              <a:t>Q4</a:t>
            </a:r>
          </a:p>
        </p:txBody>
      </p:sp>
      <p:sp>
        <p:nvSpPr>
          <p:cNvPr id="30" name="TextBox 29"/>
          <p:cNvSpPr txBox="1"/>
          <p:nvPr/>
        </p:nvSpPr>
        <p:spPr>
          <a:xfrm>
            <a:off x="9339657" y="999726"/>
            <a:ext cx="889686" cy="369332"/>
          </a:xfrm>
          <a:prstGeom prst="rect">
            <a:avLst/>
          </a:prstGeom>
          <a:noFill/>
        </p:spPr>
        <p:txBody>
          <a:bodyPr wrap="square" rtlCol="0">
            <a:spAutoFit/>
          </a:bodyPr>
          <a:lstStyle/>
          <a:p>
            <a:pPr algn="ctr"/>
            <a:r>
              <a:rPr lang="en-US" b="1" dirty="0">
                <a:solidFill>
                  <a:schemeClr val="accent5">
                    <a:lumMod val="50000"/>
                  </a:schemeClr>
                </a:solidFill>
              </a:rPr>
              <a:t>Q1</a:t>
            </a:r>
          </a:p>
        </p:txBody>
      </p:sp>
    </p:spTree>
    <p:extLst>
      <p:ext uri="{BB962C8B-B14F-4D97-AF65-F5344CB8AC3E}">
        <p14:creationId xmlns:p14="http://schemas.microsoft.com/office/powerpoint/2010/main" val="4874997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9</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Capability as the centerpiece</a:t>
            </a:r>
            <a:endParaRPr lang="en-US" dirty="0"/>
          </a:p>
        </p:txBody>
      </p:sp>
      <p:sp>
        <p:nvSpPr>
          <p:cNvPr id="8" name="Content Placeholder 7"/>
          <p:cNvSpPr>
            <a:spLocks noGrp="1"/>
          </p:cNvSpPr>
          <p:nvPr>
            <p:ph idx="1"/>
          </p:nvPr>
        </p:nvSpPr>
        <p:spPr>
          <a:xfrm>
            <a:off x="1265646" y="1516220"/>
            <a:ext cx="9890034" cy="4270626"/>
          </a:xfrm>
        </p:spPr>
        <p:txBody>
          <a:bodyPr>
            <a:noAutofit/>
          </a:bodyPr>
          <a:lstStyle/>
          <a:p>
            <a:pPr marL="0" indent="0">
              <a:spcBef>
                <a:spcPts val="1200"/>
              </a:spcBef>
              <a:spcAft>
                <a:spcPts val="600"/>
              </a:spcAft>
            </a:pPr>
            <a:r>
              <a:rPr lang="en-US" sz="2400" dirty="0"/>
              <a:t>Capability is the natural starting point for a </a:t>
            </a:r>
            <a:r>
              <a:rPr lang="en-US" sz="2400" dirty="0" smtClean="0"/>
              <a:t>business architecture </a:t>
            </a:r>
            <a:r>
              <a:rPr lang="en-US" sz="2400" dirty="0"/>
              <a:t>because it describes “what” a business does in a way that supports analysis of various related business management concerns by: </a:t>
            </a:r>
          </a:p>
          <a:p>
            <a:pPr marL="579438" lvl="2" indent="-341313">
              <a:spcBef>
                <a:spcPts val="1200"/>
              </a:spcBef>
              <a:spcAft>
                <a:spcPts val="600"/>
              </a:spcAft>
              <a:buClr>
                <a:schemeClr val="accent6"/>
              </a:buClr>
              <a:buFont typeface="Wingdings" charset="2"/>
              <a:buChar char="v"/>
            </a:pPr>
            <a:r>
              <a:rPr lang="en-US" sz="2400" dirty="0"/>
              <a:t>Engaging business and operational stakeholders about their relevant concerns (current state), and </a:t>
            </a:r>
          </a:p>
          <a:p>
            <a:pPr marL="579438" lvl="2" indent="-341313">
              <a:spcBef>
                <a:spcPts val="1200"/>
              </a:spcBef>
              <a:spcAft>
                <a:spcPts val="600"/>
              </a:spcAft>
              <a:buClr>
                <a:schemeClr val="accent6"/>
              </a:buClr>
              <a:buFont typeface="Wingdings" charset="2"/>
              <a:buChar char="v"/>
            </a:pPr>
            <a:r>
              <a:rPr lang="en-US" sz="2400" dirty="0"/>
              <a:t>Guiding them towards a progressive set of steps to achieve their goals and objectives (strategy) for the </a:t>
            </a:r>
            <a:r>
              <a:rPr lang="en-US" sz="2400" dirty="0" smtClean="0"/>
              <a:t>short-term and long </a:t>
            </a:r>
            <a:r>
              <a:rPr lang="en-US" sz="2400" dirty="0"/>
              <a:t>term (future states)</a:t>
            </a:r>
          </a:p>
        </p:txBody>
      </p:sp>
    </p:spTree>
    <p:extLst>
      <p:ext uri="{BB962C8B-B14F-4D97-AF65-F5344CB8AC3E}">
        <p14:creationId xmlns:p14="http://schemas.microsoft.com/office/powerpoint/2010/main" val="14738515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763310" y="6440697"/>
            <a:ext cx="174600" cy="184666"/>
          </a:xfrm>
        </p:spPr>
        <p:txBody>
          <a:bodyPr/>
          <a:lstStyle/>
          <a:p>
            <a:fld id="{8D059518-4F10-4CC2-99CC-9CA73E170347}" type="slidenum">
              <a:rPr lang="en-US" smtClean="0"/>
              <a:t>10</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a:xfrm>
            <a:off x="1905000" y="365759"/>
            <a:ext cx="7866529" cy="548640"/>
          </a:xfrm>
        </p:spPr>
        <p:txBody>
          <a:bodyPr/>
          <a:lstStyle/>
          <a:p>
            <a:r>
              <a:rPr lang="en-US" dirty="0" smtClean="0"/>
              <a:t>BIZBOK® Based, Layered MetaModel View</a:t>
            </a:r>
            <a:endParaRPr lang="en-US" dirty="0"/>
          </a:p>
        </p:txBody>
      </p:sp>
      <p:pic>
        <p:nvPicPr>
          <p:cNvPr id="2" name="Picture 1"/>
          <p:cNvPicPr>
            <a:picLocks noChangeAspect="1"/>
          </p:cNvPicPr>
          <p:nvPr/>
        </p:nvPicPr>
        <p:blipFill>
          <a:blip r:embed="rId3"/>
          <a:stretch>
            <a:fillRect/>
          </a:stretch>
        </p:blipFill>
        <p:spPr>
          <a:xfrm>
            <a:off x="1796684" y="1147603"/>
            <a:ext cx="7674754" cy="4738042"/>
          </a:xfrm>
          <a:prstGeom prst="rect">
            <a:avLst/>
          </a:prstGeom>
        </p:spPr>
      </p:pic>
      <p:sp>
        <p:nvSpPr>
          <p:cNvPr id="7" name="TextBox 6"/>
          <p:cNvSpPr txBox="1"/>
          <p:nvPr/>
        </p:nvSpPr>
        <p:spPr>
          <a:xfrm>
            <a:off x="7899041" y="3390840"/>
            <a:ext cx="2678806" cy="584775"/>
          </a:xfrm>
          <a:prstGeom prst="rect">
            <a:avLst/>
          </a:prstGeom>
          <a:noFill/>
        </p:spPr>
        <p:txBody>
          <a:bodyPr wrap="square" rtlCol="0">
            <a:spAutoFit/>
          </a:bodyPr>
          <a:lstStyle/>
          <a:p>
            <a:r>
              <a:rPr lang="en-US" sz="1600" dirty="0"/>
              <a:t>Represents “core” business architecture domains</a:t>
            </a:r>
          </a:p>
        </p:txBody>
      </p:sp>
      <p:sp>
        <p:nvSpPr>
          <p:cNvPr id="8" name="Right Arrow 7"/>
          <p:cNvSpPr/>
          <p:nvPr/>
        </p:nvSpPr>
        <p:spPr>
          <a:xfrm rot="10800000">
            <a:off x="6727066" y="3615004"/>
            <a:ext cx="1262129" cy="231820"/>
          </a:xfrm>
          <a:prstGeom prst="rightArrow">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9884101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2CAECBC-A02B-4AAF-96EF-C1FB7CCADF94}" type="datetime1">
              <a:rPr lang="en-US" smtClean="0"/>
              <a:pPr/>
              <a:t>3/15/17</a:t>
            </a:fld>
            <a:endParaRPr lang="en-US" dirty="0"/>
          </a:p>
        </p:txBody>
      </p:sp>
      <p:sp>
        <p:nvSpPr>
          <p:cNvPr id="4" name="Slide Number Placeholder 3"/>
          <p:cNvSpPr>
            <a:spLocks noGrp="1"/>
          </p:cNvSpPr>
          <p:nvPr>
            <p:ph type="sldNum" sz="quarter" idx="12"/>
          </p:nvPr>
        </p:nvSpPr>
        <p:spPr>
          <a:xfrm>
            <a:off x="11762220" y="6440697"/>
            <a:ext cx="176780" cy="184666"/>
          </a:xfrm>
        </p:spPr>
        <p:txBody>
          <a:bodyPr/>
          <a:lstStyle/>
          <a:p>
            <a:fld id="{8D059518-4F10-4CC2-99CC-9CA73E170347}" type="slidenum">
              <a:rPr lang="en-US" smtClean="0"/>
              <a:pPr/>
              <a:t>11</a:t>
            </a:fld>
            <a:endParaRPr lang="en-US" dirty="0"/>
          </a:p>
        </p:txBody>
      </p:sp>
      <p:sp>
        <p:nvSpPr>
          <p:cNvPr id="17" name="Footer Placeholder 16"/>
          <p:cNvSpPr>
            <a:spLocks noGrp="1"/>
          </p:cNvSpPr>
          <p:nvPr>
            <p:ph type="ftr" sz="quarter" idx="13"/>
          </p:nvPr>
        </p:nvSpPr>
        <p:spPr/>
        <p:txBody>
          <a:bodyPr/>
          <a:lstStyle/>
          <a:p>
            <a:r>
              <a:rPr lang="en-US" dirty="0" smtClean="0"/>
              <a:t>Copyright 2017</a:t>
            </a:r>
            <a:endParaRPr lang="en-US" dirty="0"/>
          </a:p>
        </p:txBody>
      </p:sp>
      <p:sp>
        <p:nvSpPr>
          <p:cNvPr id="12" name="Title 11"/>
          <p:cNvSpPr>
            <a:spLocks noGrp="1"/>
          </p:cNvSpPr>
          <p:nvPr>
            <p:ph type="title"/>
          </p:nvPr>
        </p:nvSpPr>
        <p:spPr/>
        <p:txBody>
          <a:bodyPr/>
          <a:lstStyle/>
          <a:p>
            <a:r>
              <a:rPr lang="en-US" dirty="0" smtClean="0"/>
              <a:t>First 2 layers of metamodel</a:t>
            </a:r>
            <a:endParaRPr lang="en-US" dirty="0"/>
          </a:p>
        </p:txBody>
      </p:sp>
      <p:sp>
        <p:nvSpPr>
          <p:cNvPr id="7" name="Trapezoid 6"/>
          <p:cNvSpPr/>
          <p:nvPr/>
        </p:nvSpPr>
        <p:spPr>
          <a:xfrm rot="16852770">
            <a:off x="4970754" y="1283666"/>
            <a:ext cx="2467686" cy="3509291"/>
          </a:xfrm>
          <a:prstGeom prst="trapezoid">
            <a:avLst>
              <a:gd name="adj" fmla="val 4304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86986166"/>
              </p:ext>
            </p:extLst>
          </p:nvPr>
        </p:nvGraphicFramePr>
        <p:xfrm>
          <a:off x="7517027" y="2112277"/>
          <a:ext cx="2585823" cy="2468880"/>
        </p:xfrm>
        <a:graphic>
          <a:graphicData uri="http://schemas.openxmlformats.org/drawingml/2006/table">
            <a:tbl>
              <a:tblPr>
                <a:tableStyleId>{8799B23B-EC83-4686-B30A-512413B5E67A}</a:tableStyleId>
              </a:tblPr>
              <a:tblGrid>
                <a:gridCol w="2585823"/>
              </a:tblGrid>
              <a:tr h="0">
                <a:tc>
                  <a:txBody>
                    <a:bodyPr/>
                    <a:lstStyle/>
                    <a:p>
                      <a:pPr algn="l" fontAlgn="b"/>
                      <a:r>
                        <a:rPr lang="en-US" sz="1200" u="none" strike="noStrike" dirty="0">
                          <a:effectLst/>
                        </a:rPr>
                        <a:t>Business Strategy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Initiative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Product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Stakeholder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Policy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BPM and Management </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Case Management</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Business Performance Mgmt. </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Requirements Alignment</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bl>
          </a:graphicData>
        </a:graphic>
      </p:graphicFrame>
      <p:sp>
        <p:nvSpPr>
          <p:cNvPr id="8" name="TextBox 7"/>
          <p:cNvSpPr txBox="1"/>
          <p:nvPr/>
        </p:nvSpPr>
        <p:spPr>
          <a:xfrm>
            <a:off x="7928920" y="1742944"/>
            <a:ext cx="1791730" cy="369332"/>
          </a:xfrm>
          <a:prstGeom prst="rect">
            <a:avLst/>
          </a:prstGeom>
          <a:noFill/>
        </p:spPr>
        <p:txBody>
          <a:bodyPr wrap="square" rtlCol="0">
            <a:spAutoFit/>
          </a:bodyPr>
          <a:lstStyle/>
          <a:p>
            <a:pPr algn="ctr"/>
            <a:r>
              <a:rPr lang="en-US" dirty="0"/>
              <a:t>Penumbra</a:t>
            </a:r>
          </a:p>
        </p:txBody>
      </p:sp>
      <p:sp>
        <p:nvSpPr>
          <p:cNvPr id="14" name="Trapezoid 13"/>
          <p:cNvSpPr/>
          <p:nvPr/>
        </p:nvSpPr>
        <p:spPr>
          <a:xfrm>
            <a:off x="2750330" y="3204964"/>
            <a:ext cx="1912287" cy="1154676"/>
          </a:xfrm>
          <a:prstGeom prst="trapezoid">
            <a:avLst>
              <a:gd name="adj" fmla="val 72283"/>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a:stretch>
            <a:fillRect/>
          </a:stretch>
        </p:blipFill>
        <p:spPr>
          <a:xfrm>
            <a:off x="2108387" y="1496343"/>
            <a:ext cx="3250826" cy="2006911"/>
          </a:xfrm>
          <a:prstGeom prst="rect">
            <a:avLst/>
          </a:prstGeom>
        </p:spPr>
      </p:pic>
      <p:graphicFrame>
        <p:nvGraphicFramePr>
          <p:cNvPr id="15" name="Content Placeholder 5"/>
          <p:cNvGraphicFramePr>
            <a:graphicFrameLocks/>
          </p:cNvGraphicFramePr>
          <p:nvPr>
            <p:extLst>
              <p:ext uri="{D42A27DB-BD31-4B8C-83A1-F6EECF244321}">
                <p14:modId xmlns:p14="http://schemas.microsoft.com/office/powerpoint/2010/main" val="594739324"/>
              </p:ext>
            </p:extLst>
          </p:nvPr>
        </p:nvGraphicFramePr>
        <p:xfrm>
          <a:off x="1793788" y="4756993"/>
          <a:ext cx="4005649" cy="1280160"/>
        </p:xfrm>
        <a:graphic>
          <a:graphicData uri="http://schemas.openxmlformats.org/drawingml/2006/table">
            <a:tbl>
              <a:tblPr>
                <a:tableStyleId>{8799B23B-EC83-4686-B30A-512413B5E67A}</a:tableStyleId>
              </a:tblPr>
              <a:tblGrid>
                <a:gridCol w="4005649"/>
              </a:tblGrid>
              <a:tr h="0">
                <a:tc>
                  <a:txBody>
                    <a:bodyPr/>
                    <a:lstStyle/>
                    <a:p>
                      <a:pPr algn="l" fontAlgn="b"/>
                      <a:r>
                        <a:rPr lang="en-US" sz="1200" u="none" strike="noStrike" dirty="0" smtClean="0">
                          <a:ln>
                            <a:noFill/>
                          </a:ln>
                          <a:effectLst/>
                        </a:rPr>
                        <a:t>Capability </a:t>
                      </a:r>
                      <a:r>
                        <a:rPr lang="mr-IN" sz="1200" u="none" strike="noStrike" dirty="0" smtClean="0">
                          <a:ln>
                            <a:noFill/>
                          </a:ln>
                          <a:effectLst/>
                        </a:rPr>
                        <a:t>–</a:t>
                      </a:r>
                      <a:r>
                        <a:rPr lang="en-US" sz="1200" u="none" strike="noStrike" dirty="0" smtClean="0">
                          <a:ln>
                            <a:noFill/>
                          </a:ln>
                          <a:effectLst/>
                        </a:rPr>
                        <a:t> Centerpiece defines WHAT the business does</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smtClean="0">
                          <a:ln>
                            <a:noFill/>
                          </a:ln>
                          <a:effectLst/>
                        </a:rPr>
                        <a:t>Value </a:t>
                      </a:r>
                      <a:r>
                        <a:rPr lang="mr-IN" sz="1200" u="none" strike="noStrike" dirty="0" smtClean="0">
                          <a:ln>
                            <a:noFill/>
                          </a:ln>
                          <a:effectLst/>
                        </a:rPr>
                        <a:t>–</a:t>
                      </a:r>
                      <a:r>
                        <a:rPr lang="en-US" sz="1200" u="none" strike="noStrike" dirty="0" smtClean="0">
                          <a:ln>
                            <a:noFill/>
                          </a:ln>
                          <a:effectLst/>
                        </a:rPr>
                        <a:t> defines</a:t>
                      </a:r>
                      <a:r>
                        <a:rPr lang="en-US" sz="1200" u="none" strike="noStrike" baseline="0" dirty="0" smtClean="0">
                          <a:ln>
                            <a:noFill/>
                          </a:ln>
                          <a:effectLst/>
                        </a:rPr>
                        <a:t> </a:t>
                      </a:r>
                      <a:r>
                        <a:rPr lang="en-US" sz="1200" u="none" strike="noStrike" dirty="0" smtClean="0">
                          <a:ln>
                            <a:noFill/>
                          </a:ln>
                          <a:effectLst/>
                        </a:rPr>
                        <a:t>WHY the business</a:t>
                      </a:r>
                      <a:r>
                        <a:rPr lang="en-US" sz="1200" u="none" strike="noStrike" baseline="0" dirty="0" smtClean="0">
                          <a:ln>
                            <a:noFill/>
                          </a:ln>
                          <a:effectLst/>
                        </a:rPr>
                        <a:t> has the capabilities</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smtClean="0">
                          <a:ln>
                            <a:noFill/>
                          </a:ln>
                          <a:effectLst/>
                        </a:rPr>
                        <a:t>Information </a:t>
                      </a:r>
                      <a:r>
                        <a:rPr lang="mr-IN" sz="1200" u="none" strike="noStrike" dirty="0" smtClean="0">
                          <a:ln>
                            <a:noFill/>
                          </a:ln>
                          <a:effectLst/>
                        </a:rPr>
                        <a:t>–</a:t>
                      </a:r>
                      <a:r>
                        <a:rPr lang="en-US" sz="1200" u="none" strike="noStrike" dirty="0" smtClean="0">
                          <a:ln>
                            <a:noFill/>
                          </a:ln>
                          <a:effectLst/>
                        </a:rPr>
                        <a:t> HOW we build alignment</a:t>
                      </a:r>
                      <a:r>
                        <a:rPr lang="en-US" sz="1200" u="none" strike="noStrike" baseline="0" dirty="0" smtClean="0">
                          <a:ln>
                            <a:noFill/>
                          </a:ln>
                          <a:effectLst/>
                        </a:rPr>
                        <a:t> between</a:t>
                      </a:r>
                      <a:r>
                        <a:rPr lang="en-US" sz="1200" u="none" strike="noStrike" dirty="0" smtClean="0">
                          <a:ln>
                            <a:noFill/>
                          </a:ln>
                          <a:effectLst/>
                        </a:rPr>
                        <a:t> Capability,</a:t>
                      </a:r>
                      <a:r>
                        <a:rPr lang="en-US" sz="1200" u="none" strike="noStrike" baseline="0" dirty="0" smtClean="0">
                          <a:ln>
                            <a:noFill/>
                          </a:ln>
                          <a:effectLst/>
                        </a:rPr>
                        <a:t> Value, and Organization</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smtClean="0">
                          <a:ln>
                            <a:noFill/>
                          </a:ln>
                          <a:effectLst/>
                        </a:rPr>
                        <a:t>Organization </a:t>
                      </a:r>
                      <a:r>
                        <a:rPr lang="mr-IN" sz="1200" u="none" strike="noStrike" dirty="0" smtClean="0">
                          <a:ln>
                            <a:noFill/>
                          </a:ln>
                          <a:effectLst/>
                        </a:rPr>
                        <a:t>–</a:t>
                      </a:r>
                      <a:r>
                        <a:rPr lang="en-US" sz="1200" u="none" strike="noStrike" baseline="0" dirty="0" smtClean="0">
                          <a:ln>
                            <a:noFill/>
                          </a:ln>
                          <a:effectLst/>
                        </a:rPr>
                        <a:t> HOW we align resources to deliver value</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bl>
          </a:graphicData>
        </a:graphic>
      </p:graphicFrame>
      <p:sp>
        <p:nvSpPr>
          <p:cNvPr id="16" name="TextBox 15"/>
          <p:cNvSpPr txBox="1"/>
          <p:nvPr/>
        </p:nvSpPr>
        <p:spPr>
          <a:xfrm>
            <a:off x="2909494" y="4376561"/>
            <a:ext cx="1791730" cy="369332"/>
          </a:xfrm>
          <a:prstGeom prst="rect">
            <a:avLst/>
          </a:prstGeom>
          <a:noFill/>
        </p:spPr>
        <p:txBody>
          <a:bodyPr wrap="square" rtlCol="0">
            <a:spAutoFit/>
          </a:bodyPr>
          <a:lstStyle/>
          <a:p>
            <a:pPr algn="ctr"/>
            <a:r>
              <a:rPr lang="en-US" dirty="0"/>
              <a:t>Core</a:t>
            </a:r>
          </a:p>
        </p:txBody>
      </p:sp>
    </p:spTree>
    <p:extLst>
      <p:ext uri="{BB962C8B-B14F-4D97-AF65-F5344CB8AC3E}">
        <p14:creationId xmlns:p14="http://schemas.microsoft.com/office/powerpoint/2010/main" val="529180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t>12</a:t>
            </a:fld>
            <a:endParaRPr lang="en-US" dirty="0"/>
          </a:p>
        </p:txBody>
      </p:sp>
      <p:sp>
        <p:nvSpPr>
          <p:cNvPr id="5" name="Footer Placeholder 4"/>
          <p:cNvSpPr>
            <a:spLocks noGrp="1"/>
          </p:cNvSpPr>
          <p:nvPr>
            <p:ph type="ftr" sz="quarter" idx="13"/>
          </p:nvPr>
        </p:nvSpPr>
        <p:spPr/>
        <p:txBody>
          <a:bodyPr/>
          <a:lstStyle/>
          <a:p>
            <a:r>
              <a:rPr lang="en-US" smtClean="0"/>
              <a:t>Copyright 2017</a:t>
            </a:r>
            <a:endParaRPr lang="en-US" dirty="0"/>
          </a:p>
        </p:txBody>
      </p:sp>
      <p:sp>
        <p:nvSpPr>
          <p:cNvPr id="6" name="Title 5"/>
          <p:cNvSpPr>
            <a:spLocks noGrp="1"/>
          </p:cNvSpPr>
          <p:nvPr>
            <p:ph type="title"/>
          </p:nvPr>
        </p:nvSpPr>
        <p:spPr>
          <a:xfrm>
            <a:off x="508000" y="277143"/>
            <a:ext cx="9824720" cy="548640"/>
          </a:xfrm>
        </p:spPr>
        <p:txBody>
          <a:bodyPr/>
          <a:lstStyle/>
          <a:p>
            <a:r>
              <a:rPr lang="en-US" dirty="0"/>
              <a:t>Draft Metamodel Packages for core Business Architecture Domain Packages</a:t>
            </a:r>
          </a:p>
        </p:txBody>
      </p:sp>
      <p:pic>
        <p:nvPicPr>
          <p:cNvPr id="7" name="Picture 6"/>
          <p:cNvPicPr>
            <a:picLocks noChangeAspect="1"/>
          </p:cNvPicPr>
          <p:nvPr/>
        </p:nvPicPr>
        <p:blipFill>
          <a:blip r:embed="rId3"/>
          <a:stretch>
            <a:fillRect/>
          </a:stretch>
        </p:blipFill>
        <p:spPr>
          <a:xfrm>
            <a:off x="409222" y="2325511"/>
            <a:ext cx="6273264" cy="3444522"/>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7915" y="1317007"/>
            <a:ext cx="5101242" cy="2498179"/>
          </a:xfrm>
          <a:prstGeom prst="rect">
            <a:avLst/>
          </a:prstGeom>
        </p:spPr>
      </p:pic>
      <p:sp>
        <p:nvSpPr>
          <p:cNvPr id="12" name="TextBox 11"/>
          <p:cNvSpPr txBox="1"/>
          <p:nvPr/>
        </p:nvSpPr>
        <p:spPr>
          <a:xfrm>
            <a:off x="393053" y="1879795"/>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Capability Package</a:t>
            </a:r>
            <a:endParaRPr lang="en-US" dirty="0">
              <a:effectLst>
                <a:outerShdw blurRad="38100" dist="38100" dir="2700000" algn="tl">
                  <a:srgbClr val="000000">
                    <a:alpha val="43137"/>
                  </a:srgbClr>
                </a:outerShdw>
              </a:effectLst>
            </a:endParaRPr>
          </a:p>
        </p:txBody>
      </p:sp>
      <p:sp>
        <p:nvSpPr>
          <p:cNvPr id="13" name="TextBox 12"/>
          <p:cNvSpPr txBox="1"/>
          <p:nvPr/>
        </p:nvSpPr>
        <p:spPr>
          <a:xfrm>
            <a:off x="6822463" y="3863106"/>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Information Package</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93594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t>13</a:t>
            </a:fld>
            <a:endParaRPr lang="en-US" dirty="0"/>
          </a:p>
        </p:txBody>
      </p:sp>
      <p:sp>
        <p:nvSpPr>
          <p:cNvPr id="5" name="Footer Placeholder 4"/>
          <p:cNvSpPr>
            <a:spLocks noGrp="1"/>
          </p:cNvSpPr>
          <p:nvPr>
            <p:ph type="ftr" sz="quarter" idx="13"/>
          </p:nvPr>
        </p:nvSpPr>
        <p:spPr/>
        <p:txBody>
          <a:bodyPr/>
          <a:lstStyle/>
          <a:p>
            <a:r>
              <a:rPr lang="en-US" smtClean="0"/>
              <a:t>Copyright 2017</a:t>
            </a:r>
            <a:endParaRPr lang="en-US" dirty="0"/>
          </a:p>
        </p:txBody>
      </p:sp>
      <p:sp>
        <p:nvSpPr>
          <p:cNvPr id="6" name="Title 5"/>
          <p:cNvSpPr>
            <a:spLocks noGrp="1"/>
          </p:cNvSpPr>
          <p:nvPr>
            <p:ph type="title"/>
          </p:nvPr>
        </p:nvSpPr>
        <p:spPr>
          <a:xfrm>
            <a:off x="417518" y="231321"/>
            <a:ext cx="9824720" cy="548640"/>
          </a:xfrm>
        </p:spPr>
        <p:txBody>
          <a:bodyPr/>
          <a:lstStyle/>
          <a:p>
            <a:r>
              <a:rPr lang="en-US" dirty="0" smtClean="0"/>
              <a:t>Draft Metamodel Packages for core Business Architecture Domain Packages</a:t>
            </a:r>
            <a:endParaRPr lang="en-US" dirty="0"/>
          </a:p>
        </p:txBody>
      </p:sp>
      <p:sp>
        <p:nvSpPr>
          <p:cNvPr id="8" name="TextBox 7"/>
          <p:cNvSpPr txBox="1"/>
          <p:nvPr/>
        </p:nvSpPr>
        <p:spPr>
          <a:xfrm>
            <a:off x="6105256" y="5673403"/>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Value Stream Package</a:t>
            </a:r>
            <a:endParaRPr lang="en-US" dirty="0">
              <a:effectLst>
                <a:outerShdw blurRad="38100" dist="38100" dir="2700000" algn="tl">
                  <a:srgbClr val="000000">
                    <a:alpha val="43137"/>
                  </a:srgbClr>
                </a:outerShdw>
              </a:effectLst>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84" y="2402492"/>
            <a:ext cx="5817713" cy="3287108"/>
          </a:xfrm>
          <a:prstGeom prst="rect">
            <a:avLst/>
          </a:prstGeom>
        </p:spPr>
      </p:pic>
      <p:pic>
        <p:nvPicPr>
          <p:cNvPr id="10" name="Picture 2" descr="Inline imag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05256" y="1067443"/>
            <a:ext cx="5965132" cy="468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223184" y="1894897"/>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Organization Package</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910433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3/15/17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760842" y="6440697"/>
            <a:ext cx="179537" cy="184666"/>
          </a:xfrm>
        </p:spPr>
        <p:txBody>
          <a:bodyPr/>
          <a:lstStyle/>
          <a:p>
            <a:fld id="{8D059518-4F10-4CC2-99CC-9CA73E170347}" type="slidenum">
              <a:rPr lang="en-US" smtClean="0"/>
              <a:pPr/>
              <a:t>14</a:t>
            </a:fld>
            <a:endParaRPr lang="en-US" dirty="0"/>
          </a:p>
        </p:txBody>
      </p:sp>
      <p:sp>
        <p:nvSpPr>
          <p:cNvPr id="5" name="Title 4"/>
          <p:cNvSpPr>
            <a:spLocks noGrp="1"/>
          </p:cNvSpPr>
          <p:nvPr>
            <p:ph type="title"/>
          </p:nvPr>
        </p:nvSpPr>
        <p:spPr>
          <a:xfrm>
            <a:off x="1227909" y="247555"/>
            <a:ext cx="9339941" cy="548640"/>
          </a:xfrm>
        </p:spPr>
        <p:txBody>
          <a:bodyPr/>
          <a:lstStyle/>
          <a:p>
            <a:r>
              <a:rPr lang="en-US" dirty="0" smtClean="0"/>
              <a:t>OMG RFP View of Business Architecture Metamodel Response Requirements </a:t>
            </a:r>
            <a:endParaRPr lang="en-US" dirty="0"/>
          </a:p>
        </p:txBody>
      </p:sp>
      <p:pic>
        <p:nvPicPr>
          <p:cNvPr id="102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0312" y="1023347"/>
            <a:ext cx="5540886" cy="5000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443820" y="4594454"/>
            <a:ext cx="2778229" cy="646331"/>
          </a:xfrm>
          <a:prstGeom prst="rect">
            <a:avLst/>
          </a:prstGeom>
        </p:spPr>
        <p:txBody>
          <a:bodyPr wrap="square">
            <a:spAutoFit/>
          </a:bodyPr>
          <a:lstStyle/>
          <a:p>
            <a:pPr algn="ctr"/>
            <a:r>
              <a:rPr lang="en-GB" b="1" dirty="0">
                <a:latin typeface="Times New Roman" panose="02020603050405020304" pitchFamily="18" charset="0"/>
                <a:ea typeface="Times New Roman" panose="02020603050405020304" pitchFamily="18" charset="0"/>
              </a:rPr>
              <a:t>Capability Oriented Business Perspective</a:t>
            </a:r>
            <a:endParaRPr lang="en-US" dirty="0">
              <a:latin typeface="Times New Roman" panose="02020603050405020304" pitchFamily="18" charset="0"/>
              <a:ea typeface="Times New Roman" panose="02020603050405020304" pitchFamily="18" charset="0"/>
            </a:endParaRPr>
          </a:p>
        </p:txBody>
      </p:sp>
      <p:sp>
        <p:nvSpPr>
          <p:cNvPr id="7" name="Rectangle 6"/>
          <p:cNvSpPr/>
          <p:nvPr/>
        </p:nvSpPr>
        <p:spPr>
          <a:xfrm>
            <a:off x="902671" y="1315957"/>
            <a:ext cx="3319378" cy="184963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1200"/>
              </a:spcBef>
              <a:buFont typeface="Arial" panose="020B0604020202020204" pitchFamily="34" charset="0"/>
              <a:buChar char="•"/>
            </a:pPr>
            <a:r>
              <a:rPr lang="en-US" dirty="0">
                <a:solidFill>
                  <a:schemeClr val="tx1"/>
                </a:solidFill>
              </a:rPr>
              <a:t>Capability required</a:t>
            </a:r>
          </a:p>
          <a:p>
            <a:pPr marL="285750" indent="-285750">
              <a:spcBef>
                <a:spcPts val="1200"/>
              </a:spcBef>
              <a:buFont typeface="Arial" panose="020B0604020202020204" pitchFamily="34" charset="0"/>
              <a:buChar char="•"/>
            </a:pPr>
            <a:r>
              <a:rPr lang="en-US" dirty="0">
                <a:solidFill>
                  <a:schemeClr val="tx1"/>
                </a:solidFill>
              </a:rPr>
              <a:t>Other representations desired</a:t>
            </a:r>
          </a:p>
          <a:p>
            <a:pPr marL="285750" indent="-285750">
              <a:spcBef>
                <a:spcPts val="1200"/>
              </a:spcBef>
              <a:buFont typeface="Arial" panose="020B0604020202020204" pitchFamily="34" charset="0"/>
              <a:buChar char="•"/>
            </a:pPr>
            <a:r>
              <a:rPr lang="en-US" dirty="0">
                <a:solidFill>
                  <a:schemeClr val="tx1"/>
                </a:solidFill>
              </a:rPr>
              <a:t>Must interface with existing standards</a:t>
            </a:r>
          </a:p>
        </p:txBody>
      </p:sp>
      <p:cxnSp>
        <p:nvCxnSpPr>
          <p:cNvPr id="9" name="Straight Arrow Connector 8"/>
          <p:cNvCxnSpPr/>
          <p:nvPr/>
        </p:nvCxnSpPr>
        <p:spPr>
          <a:xfrm flipV="1">
            <a:off x="4060312" y="3523643"/>
            <a:ext cx="2614808" cy="1296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589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Scenario-Driven Business Architecture MetaModeling</a:t>
            </a:r>
            <a:endParaRPr lang="en-US" dirty="0"/>
          </a:p>
        </p:txBody>
      </p:sp>
      <p:sp>
        <p:nvSpPr>
          <p:cNvPr id="3" name="Content Placeholder 2"/>
          <p:cNvSpPr>
            <a:spLocks noGrp="1"/>
          </p:cNvSpPr>
          <p:nvPr>
            <p:ph idx="1"/>
          </p:nvPr>
        </p:nvSpPr>
        <p:spPr>
          <a:xfrm>
            <a:off x="1267097" y="1370954"/>
            <a:ext cx="9261566" cy="858794"/>
          </a:xfrm>
        </p:spPr>
        <p:txBody>
          <a:bodyPr>
            <a:noAutofit/>
          </a:bodyPr>
          <a:lstStyle/>
          <a:p>
            <a:pPr marL="0" lvl="0" indent="0"/>
            <a:r>
              <a:rPr lang="en-US" dirty="0" smtClean="0"/>
              <a:t>The business architecture metamodel was derived from business architecture best practices as outlined in the BIZBOK® Guide and the organizations by leveraging common business scenarios</a:t>
            </a:r>
          </a:p>
        </p:txBody>
      </p:sp>
      <p:sp>
        <p:nvSpPr>
          <p:cNvPr id="4" name="Content Placeholder 2"/>
          <p:cNvSpPr txBox="1">
            <a:spLocks/>
          </p:cNvSpPr>
          <p:nvPr/>
        </p:nvSpPr>
        <p:spPr>
          <a:xfrm>
            <a:off x="1267097" y="2686303"/>
            <a:ext cx="9130937" cy="2209799"/>
          </a:xfrm>
          <a:prstGeom prst="rect">
            <a:avLst/>
          </a:prstGeom>
        </p:spPr>
        <p:txBody>
          <a:bodyPr vert="horz" lIns="91440" tIns="45720" rIns="91440" bIns="45720" numCol="2" rtlCol="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Investment Analysis</a:t>
            </a:r>
          </a:p>
          <a:p>
            <a:r>
              <a:rPr lang="en-US" dirty="0"/>
              <a:t>Shift to Customer Centric Business Model</a:t>
            </a:r>
          </a:p>
          <a:p>
            <a:r>
              <a:rPr lang="en-US" dirty="0"/>
              <a:t>Merger &amp; Acquisition Analysis</a:t>
            </a:r>
          </a:p>
          <a:p>
            <a:r>
              <a:rPr lang="en-US" dirty="0"/>
              <a:t>New Product/Service Rollout</a:t>
            </a:r>
          </a:p>
          <a:p>
            <a:r>
              <a:rPr lang="en-US" dirty="0"/>
              <a:t>Globalization </a:t>
            </a:r>
          </a:p>
          <a:p>
            <a:r>
              <a:rPr lang="en-US" dirty="0"/>
              <a:t>Business Capability </a:t>
            </a:r>
          </a:p>
          <a:p>
            <a:r>
              <a:rPr lang="en-US" dirty="0"/>
              <a:t>Outsourcing</a:t>
            </a:r>
          </a:p>
          <a:p>
            <a:r>
              <a:rPr lang="en-US" dirty="0"/>
              <a:t>Supply Chain Streamlining </a:t>
            </a:r>
          </a:p>
          <a:p>
            <a:r>
              <a:rPr lang="en-US" dirty="0"/>
              <a:t>Divestiture</a:t>
            </a:r>
          </a:p>
          <a:p>
            <a:r>
              <a:rPr lang="en-US" dirty="0"/>
              <a:t>Regulatory Compliance </a:t>
            </a:r>
          </a:p>
          <a:p>
            <a:r>
              <a:rPr lang="en-US" dirty="0"/>
              <a:t>Change Management</a:t>
            </a:r>
          </a:p>
          <a:p>
            <a:r>
              <a:rPr lang="en-US" dirty="0"/>
              <a:t>Operational Cost Reduction </a:t>
            </a:r>
          </a:p>
          <a:p>
            <a:r>
              <a:rPr lang="en-US" dirty="0"/>
              <a:t>Joint Venture Deployment</a:t>
            </a:r>
          </a:p>
        </p:txBody>
      </p:sp>
      <p:sp>
        <p:nvSpPr>
          <p:cNvPr id="5" name="Date Placeholder 4"/>
          <p:cNvSpPr>
            <a:spLocks noGrp="1"/>
          </p:cNvSpPr>
          <p:nvPr>
            <p:ph type="dt" sz="half" idx="10"/>
          </p:nvPr>
        </p:nvSpPr>
        <p:spPr/>
        <p:txBody>
          <a:bodyPr/>
          <a:lstStyle/>
          <a:p>
            <a:fld id="{07CFF152-005F-4D94-91F4-54D46561C73D}" type="datetime1">
              <a:rPr lang="en-US" smtClean="0"/>
              <a:t>3/15/17</a:t>
            </a:fld>
            <a:endParaRPr lang="en-US" dirty="0"/>
          </a:p>
        </p:txBody>
      </p:sp>
      <p:sp>
        <p:nvSpPr>
          <p:cNvPr id="7" name="Slide Number Placeholder 6"/>
          <p:cNvSpPr>
            <a:spLocks noGrp="1"/>
          </p:cNvSpPr>
          <p:nvPr>
            <p:ph type="sldNum" sz="quarter" idx="12"/>
          </p:nvPr>
        </p:nvSpPr>
        <p:spPr>
          <a:xfrm>
            <a:off x="11761515" y="6440697"/>
            <a:ext cx="178190" cy="184666"/>
          </a:xfrm>
        </p:spPr>
        <p:txBody>
          <a:bodyPr/>
          <a:lstStyle/>
          <a:p>
            <a:fld id="{C8701F13-D499-404E-A11B-CE66F4C6465F}" type="slidenum">
              <a:rPr lang="en-US" smtClean="0"/>
              <a:t>15</a:t>
            </a:fld>
            <a:endParaRPr lang="en-US" dirty="0"/>
          </a:p>
        </p:txBody>
      </p:sp>
    </p:spTree>
    <p:extLst>
      <p:ext uri="{BB962C8B-B14F-4D97-AF65-F5344CB8AC3E}">
        <p14:creationId xmlns:p14="http://schemas.microsoft.com/office/powerpoint/2010/main" val="6756016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Vendor Engagement – Discussion Engagement</a:t>
            </a:r>
            <a:endParaRPr lang="en-US" dirty="0"/>
          </a:p>
        </p:txBody>
      </p:sp>
      <p:sp>
        <p:nvSpPr>
          <p:cNvPr id="3" name="Content Placeholder 2"/>
          <p:cNvSpPr>
            <a:spLocks noGrp="1"/>
          </p:cNvSpPr>
          <p:nvPr>
            <p:ph idx="1"/>
          </p:nvPr>
        </p:nvSpPr>
        <p:spPr>
          <a:xfrm>
            <a:off x="728539" y="1272740"/>
            <a:ext cx="4831344" cy="4419600"/>
          </a:xfrm>
        </p:spPr>
        <p:txBody>
          <a:bodyPr>
            <a:noAutofit/>
          </a:bodyPr>
          <a:lstStyle/>
          <a:p>
            <a:pPr marL="0" indent="0">
              <a:lnSpc>
                <a:spcPct val="120000"/>
              </a:lnSpc>
              <a:spcBef>
                <a:spcPts val="1200"/>
              </a:spcBef>
            </a:pPr>
            <a:r>
              <a:rPr lang="en-US" sz="1600" dirty="0"/>
              <a:t>Variations for candidate metamodel have been adopted, are under review for adoption, or have been or are being user implemented across numerous tool vendors </a:t>
            </a:r>
          </a:p>
          <a:p>
            <a:pPr marL="0" indent="0">
              <a:lnSpc>
                <a:spcPct val="120000"/>
              </a:lnSpc>
              <a:spcBef>
                <a:spcPts val="1200"/>
              </a:spcBef>
            </a:pPr>
            <a:r>
              <a:rPr lang="en-US" sz="1600" dirty="0"/>
              <a:t>Candidate metamodel is based on the concepts captured across practitioner communities, as embodied in the BIZBOK® Guide, which has wide adoption across government, institutions, commercial, and non-profit (US &amp; International)</a:t>
            </a:r>
          </a:p>
          <a:p>
            <a:pPr marL="0" indent="0">
              <a:lnSpc>
                <a:spcPct val="120000"/>
              </a:lnSpc>
              <a:spcBef>
                <a:spcPts val="1200"/>
              </a:spcBef>
            </a:pPr>
            <a:r>
              <a:rPr lang="en-US" sz="1600" dirty="0"/>
              <a:t>Next steps – Guild will engage with vendor community in more focused ways to submit a response to the OMG RFP</a:t>
            </a:r>
          </a:p>
        </p:txBody>
      </p:sp>
      <p:pic>
        <p:nvPicPr>
          <p:cNvPr id="7" name="Picture 6"/>
          <p:cNvPicPr>
            <a:picLocks noChangeAspect="1"/>
          </p:cNvPicPr>
          <p:nvPr/>
        </p:nvPicPr>
        <p:blipFill>
          <a:blip r:embed="rId3"/>
          <a:stretch>
            <a:fillRect/>
          </a:stretch>
        </p:blipFill>
        <p:spPr>
          <a:xfrm>
            <a:off x="8556233" y="1424070"/>
            <a:ext cx="1734886" cy="1237864"/>
          </a:xfrm>
          <a:prstGeom prst="rect">
            <a:avLst/>
          </a:prstGeom>
        </p:spPr>
      </p:pic>
      <p:pic>
        <p:nvPicPr>
          <p:cNvPr id="8" name="Picture 7"/>
          <p:cNvPicPr>
            <a:picLocks noChangeAspect="1"/>
          </p:cNvPicPr>
          <p:nvPr/>
        </p:nvPicPr>
        <p:blipFill rotWithShape="1">
          <a:blip r:embed="rId4"/>
          <a:srcRect r="22173"/>
          <a:stretch/>
        </p:blipFill>
        <p:spPr>
          <a:xfrm>
            <a:off x="7978148" y="3171605"/>
            <a:ext cx="2461252" cy="858982"/>
          </a:xfrm>
          <a:prstGeom prst="rect">
            <a:avLst/>
          </a:prstGeom>
        </p:spPr>
      </p:pic>
      <p:pic>
        <p:nvPicPr>
          <p:cNvPr id="9" name="Picture 8"/>
          <p:cNvPicPr>
            <a:picLocks noChangeAspect="1"/>
          </p:cNvPicPr>
          <p:nvPr/>
        </p:nvPicPr>
        <p:blipFill>
          <a:blip r:embed="rId5"/>
          <a:stretch>
            <a:fillRect/>
          </a:stretch>
        </p:blipFill>
        <p:spPr>
          <a:xfrm>
            <a:off x="7824113" y="4412532"/>
            <a:ext cx="2258322" cy="836415"/>
          </a:xfrm>
          <a:prstGeom prst="rect">
            <a:avLst/>
          </a:prstGeom>
        </p:spPr>
      </p:pic>
      <p:pic>
        <p:nvPicPr>
          <p:cNvPr id="10" name="Picture 9"/>
          <p:cNvPicPr>
            <a:picLocks noChangeAspect="1"/>
          </p:cNvPicPr>
          <p:nvPr/>
        </p:nvPicPr>
        <p:blipFill>
          <a:blip r:embed="rId6"/>
          <a:stretch>
            <a:fillRect/>
          </a:stretch>
        </p:blipFill>
        <p:spPr>
          <a:xfrm>
            <a:off x="6319595" y="1072974"/>
            <a:ext cx="1837765" cy="1150357"/>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79204" y="3930609"/>
            <a:ext cx="1807211" cy="481923"/>
          </a:xfrm>
          <a:prstGeom prst="rect">
            <a:avLst/>
          </a:prstGeom>
        </p:spPr>
      </p:pic>
      <p:pic>
        <p:nvPicPr>
          <p:cNvPr id="13" name="Picture 12"/>
          <p:cNvPicPr>
            <a:picLocks noChangeAspect="1"/>
          </p:cNvPicPr>
          <p:nvPr/>
        </p:nvPicPr>
        <p:blipFill>
          <a:blip r:embed="rId8"/>
          <a:stretch>
            <a:fillRect/>
          </a:stretch>
        </p:blipFill>
        <p:spPr>
          <a:xfrm>
            <a:off x="5697581" y="2748000"/>
            <a:ext cx="2209800" cy="447675"/>
          </a:xfrm>
          <a:prstGeom prst="rect">
            <a:avLst/>
          </a:prstGeom>
        </p:spPr>
      </p:pic>
      <p:pic>
        <p:nvPicPr>
          <p:cNvPr id="14" name="Picture 13"/>
          <p:cNvPicPr>
            <a:picLocks noChangeAspect="1"/>
          </p:cNvPicPr>
          <p:nvPr/>
        </p:nvPicPr>
        <p:blipFill>
          <a:blip r:embed="rId9"/>
          <a:stretch>
            <a:fillRect/>
          </a:stretch>
        </p:blipFill>
        <p:spPr>
          <a:xfrm>
            <a:off x="5126364" y="4830739"/>
            <a:ext cx="1752600" cy="707531"/>
          </a:xfrm>
          <a:prstGeom prst="rect">
            <a:avLst/>
          </a:prstGeom>
        </p:spPr>
      </p:pic>
      <p:pic>
        <p:nvPicPr>
          <p:cNvPr id="4" name="Picture 3"/>
          <p:cNvPicPr>
            <a:picLocks noChangeAspect="1"/>
          </p:cNvPicPr>
          <p:nvPr/>
        </p:nvPicPr>
        <p:blipFill>
          <a:blip r:embed="rId10"/>
          <a:stretch>
            <a:fillRect/>
          </a:stretch>
        </p:blipFill>
        <p:spPr>
          <a:xfrm>
            <a:off x="8607943" y="5473265"/>
            <a:ext cx="1209675" cy="438150"/>
          </a:xfrm>
          <a:prstGeom prst="rect">
            <a:avLst/>
          </a:prstGeom>
        </p:spPr>
      </p:pic>
    </p:spTree>
    <p:extLst>
      <p:ext uri="{BB962C8B-B14F-4D97-AF65-F5344CB8AC3E}">
        <p14:creationId xmlns:p14="http://schemas.microsoft.com/office/powerpoint/2010/main" val="7024721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spcBef>
                <a:spcPts val="2400"/>
              </a:spcBef>
              <a:buFont typeface="Arial" panose="020B0604020202020204" pitchFamily="34" charset="0"/>
              <a:buChar char="•"/>
            </a:pPr>
            <a:r>
              <a:rPr lang="en-US" sz="2400" dirty="0" smtClean="0"/>
              <a:t>Guild engaged with OMG for long-term to work on rollout and evolution of a standard metamodel</a:t>
            </a:r>
          </a:p>
          <a:p>
            <a:pPr>
              <a:spcBef>
                <a:spcPts val="2400"/>
              </a:spcBef>
              <a:buFont typeface="Arial" panose="020B0604020202020204" pitchFamily="34" charset="0"/>
              <a:buChar char="•"/>
            </a:pPr>
            <a:r>
              <a:rPr lang="en-US" sz="2400" dirty="0" smtClean="0"/>
              <a:t>Guild also a member of Open Group to influence TOGAF® and its content model</a:t>
            </a:r>
          </a:p>
          <a:p>
            <a:pPr>
              <a:spcBef>
                <a:spcPts val="2400"/>
              </a:spcBef>
              <a:buFont typeface="Arial" panose="020B0604020202020204" pitchFamily="34" charset="0"/>
              <a:buChar char="•"/>
            </a:pPr>
            <a:r>
              <a:rPr lang="en-US" sz="2400" dirty="0" smtClean="0"/>
              <a:t>Guild team has created a UML Profile for BIZBOK® for UML based tools</a:t>
            </a:r>
          </a:p>
          <a:p>
            <a:pPr lvl="2">
              <a:spcBef>
                <a:spcPts val="2400"/>
              </a:spcBef>
              <a:buFont typeface="Arial" panose="020B0604020202020204" pitchFamily="34" charset="0"/>
              <a:buChar char="•"/>
            </a:pPr>
            <a:r>
              <a:rPr lang="en-US" sz="2400" dirty="0" smtClean="0"/>
              <a:t>This could be standardized as well and aligns to the Guild metamodel</a:t>
            </a:r>
            <a:endParaRPr lang="en-US" sz="2400" dirty="0"/>
          </a:p>
        </p:txBody>
      </p:sp>
      <p:sp>
        <p:nvSpPr>
          <p:cNvPr id="3" name="Date Placeholder 2"/>
          <p:cNvSpPr>
            <a:spLocks noGrp="1"/>
          </p:cNvSpPr>
          <p:nvPr>
            <p:ph type="dt" sz="half" idx="10"/>
          </p:nvPr>
        </p:nvSpPr>
        <p:spPr/>
        <p:txBody>
          <a:bodyPr/>
          <a:lstStyle/>
          <a:p>
            <a:fld id="{51A099F0-A5F1-4ED5-9377-F6752109C662}" type="datetime1">
              <a:rPr lang="en-US" smtClean="0"/>
              <a:t>3/15/17</a:t>
            </a:fld>
            <a:endParaRPr lang="en-US" dirty="0"/>
          </a:p>
        </p:txBody>
      </p:sp>
      <p:sp>
        <p:nvSpPr>
          <p:cNvPr id="4" name="Slide Number Placeholder 3"/>
          <p:cNvSpPr>
            <a:spLocks noGrp="1"/>
          </p:cNvSpPr>
          <p:nvPr>
            <p:ph type="sldNum" sz="quarter" idx="12"/>
          </p:nvPr>
        </p:nvSpPr>
        <p:spPr>
          <a:xfrm>
            <a:off x="11761932" y="6440697"/>
            <a:ext cx="177356" cy="184666"/>
          </a:xfrm>
        </p:spPr>
        <p:txBody>
          <a:bodyPr/>
          <a:lstStyle/>
          <a:p>
            <a:fld id="{8D059518-4F10-4CC2-99CC-9CA73E170347}" type="slidenum">
              <a:rPr lang="en-US" smtClean="0"/>
              <a:t>17</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Related Standards and Tool Work</a:t>
            </a:r>
            <a:endParaRPr lang="en-US" dirty="0"/>
          </a:p>
        </p:txBody>
      </p:sp>
    </p:spTree>
    <p:extLst>
      <p:ext uri="{BB962C8B-B14F-4D97-AF65-F5344CB8AC3E}">
        <p14:creationId xmlns:p14="http://schemas.microsoft.com/office/powerpoint/2010/main" val="4616267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857B1AF-C811-49A0-AC28-BC2743A8A5B8}" type="datetime1">
              <a:rPr lang="en-US" smtClean="0"/>
              <a:t>3/15/17</a:t>
            </a:fld>
            <a:endParaRPr lang="en-US" dirty="0"/>
          </a:p>
        </p:txBody>
      </p:sp>
      <p:sp>
        <p:nvSpPr>
          <p:cNvPr id="17" name="Footer Placeholder 16"/>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763471" y="6440697"/>
            <a:ext cx="174278" cy="184666"/>
          </a:xfrm>
        </p:spPr>
        <p:txBody>
          <a:bodyPr/>
          <a:lstStyle/>
          <a:p>
            <a:fld id="{8D059518-4F10-4CC2-99CC-9CA73E170347}" type="slidenum">
              <a:rPr lang="en-US" smtClean="0"/>
              <a:pPr/>
              <a:t>18</a:t>
            </a:fld>
            <a:endParaRPr lang="en-US" dirty="0"/>
          </a:p>
        </p:txBody>
      </p:sp>
      <p:sp>
        <p:nvSpPr>
          <p:cNvPr id="19" name="Text Placeholder 18"/>
          <p:cNvSpPr>
            <a:spLocks noGrp="1"/>
          </p:cNvSpPr>
          <p:nvPr>
            <p:ph type="body" sz="quarter" idx="13"/>
          </p:nvPr>
        </p:nvSpPr>
        <p:spPr>
          <a:xfrm>
            <a:off x="1947044" y="3767024"/>
            <a:ext cx="8149988" cy="1887696"/>
          </a:xfrm>
        </p:spPr>
        <p:txBody>
          <a:bodyPr/>
          <a:lstStyle/>
          <a:p>
            <a:r>
              <a:rPr lang="en-US" dirty="0" smtClean="0"/>
              <a:t>We are looking for additional participants to accelerate </a:t>
            </a:r>
          </a:p>
          <a:p>
            <a:r>
              <a:rPr lang="en-US" dirty="0" smtClean="0"/>
              <a:t>our efforts on this landmark work plan. Please contact the </a:t>
            </a:r>
          </a:p>
          <a:p>
            <a:r>
              <a:rPr lang="en-US" dirty="0" smtClean="0"/>
              <a:t>Team Leader (Jeffrey Wallk) on the Guild Site (see link)</a:t>
            </a:r>
          </a:p>
          <a:p>
            <a:endParaRPr lang="en-US" dirty="0" smtClean="0"/>
          </a:p>
          <a:p>
            <a:r>
              <a:rPr lang="en-US" dirty="0"/>
              <a:t>(</a:t>
            </a:r>
            <a:r>
              <a:rPr lang="en-US" dirty="0">
                <a:hlinkClick r:id="rId2"/>
              </a:rPr>
              <a:t>http://</a:t>
            </a:r>
            <a:r>
              <a:rPr lang="en-US" dirty="0" smtClean="0">
                <a:hlinkClick r:id="rId2"/>
              </a:rPr>
              <a:t>www.businessarchitectureguild.org</a:t>
            </a:r>
            <a:r>
              <a:rPr lang="en-US" dirty="0" smtClean="0"/>
              <a:t>)</a:t>
            </a:r>
            <a:endParaRPr lang="en-US" dirty="0"/>
          </a:p>
        </p:txBody>
      </p:sp>
      <p:sp>
        <p:nvSpPr>
          <p:cNvPr id="18" name="Title 17"/>
          <p:cNvSpPr>
            <a:spLocks noGrp="1"/>
          </p:cNvSpPr>
          <p:nvPr>
            <p:ph type="title"/>
          </p:nvPr>
        </p:nvSpPr>
        <p:spPr>
          <a:xfrm>
            <a:off x="2044315" y="2798077"/>
            <a:ext cx="2744211" cy="615553"/>
          </a:xfrm>
        </p:spPr>
        <p:txBody>
          <a:bodyPr/>
          <a:lstStyle/>
          <a:p>
            <a:r>
              <a:rPr lang="en-US" dirty="0" smtClean="0"/>
              <a:t>Thank you</a:t>
            </a:r>
            <a:endParaRPr lang="en-US" dirty="0"/>
          </a:p>
        </p:txBody>
      </p:sp>
    </p:spTree>
    <p:extLst>
      <p:ext uri="{BB962C8B-B14F-4D97-AF65-F5344CB8AC3E}">
        <p14:creationId xmlns:p14="http://schemas.microsoft.com/office/powerpoint/2010/main" val="41558210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D23D1F-8B6B-46FD-90B9-289ACA433332}" type="datetime1">
              <a:rPr lang="en-US" smtClean="0"/>
              <a:t>3/15/17</a:t>
            </a:fld>
            <a:endParaRPr lang="en-US" dirty="0"/>
          </a:p>
        </p:txBody>
      </p:sp>
      <p:sp>
        <p:nvSpPr>
          <p:cNvPr id="3" name="Footer Placeholder 2"/>
          <p:cNvSpPr>
            <a:spLocks noGrp="1"/>
          </p:cNvSpPr>
          <p:nvPr>
            <p:ph type="ftr" sz="quarter" idx="11"/>
          </p:nvPr>
        </p:nvSpPr>
        <p:spPr/>
        <p:txBody>
          <a:bodyPr/>
          <a:lstStyle/>
          <a:p>
            <a:r>
              <a:rPr lang="en-US" smtClean="0"/>
              <a:t>Copyright 2017</a:t>
            </a:r>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19</a:t>
            </a:fld>
            <a:endParaRPr lang="en-US" dirty="0"/>
          </a:p>
        </p:txBody>
      </p:sp>
      <p:sp>
        <p:nvSpPr>
          <p:cNvPr id="7" name="Title 6"/>
          <p:cNvSpPr>
            <a:spLocks noGrp="1"/>
          </p:cNvSpPr>
          <p:nvPr>
            <p:ph type="title"/>
          </p:nvPr>
        </p:nvSpPr>
        <p:spPr/>
        <p:txBody>
          <a:bodyPr/>
          <a:lstStyle/>
          <a:p>
            <a:r>
              <a:rPr lang="en-US" dirty="0" smtClean="0"/>
              <a:t>Questions</a:t>
            </a:r>
            <a:r>
              <a:rPr lang="mr-IN" dirty="0" smtClean="0"/>
              <a:t>…</a:t>
            </a:r>
            <a:r>
              <a:rPr lang="en-US" dirty="0" smtClean="0"/>
              <a:t>.</a:t>
            </a:r>
            <a:endParaRPr lang="en-US" dirty="0"/>
          </a:p>
        </p:txBody>
      </p:sp>
      <p:sp>
        <p:nvSpPr>
          <p:cNvPr id="8" name="Rectangle 7"/>
          <p:cNvSpPr/>
          <p:nvPr/>
        </p:nvSpPr>
        <p:spPr>
          <a:xfrm>
            <a:off x="761999" y="1305342"/>
            <a:ext cx="10806545" cy="2585323"/>
          </a:xfrm>
          <a:prstGeom prst="rect">
            <a:avLst/>
          </a:prstGeom>
        </p:spPr>
        <p:txBody>
          <a:bodyPr wrap="square">
            <a:spAutoFit/>
          </a:bodyPr>
          <a:lstStyle/>
          <a:p>
            <a:pPr indent="-228600"/>
            <a:r>
              <a:rPr lang="en-US" dirty="0">
                <a:solidFill>
                  <a:srgbClr val="000000"/>
                </a:solidFill>
                <a:latin typeface="Helvetica" charset="0"/>
              </a:rPr>
              <a:t>1.</a:t>
            </a:r>
            <a:r>
              <a:rPr lang="en-US" sz="800" dirty="0">
                <a:solidFill>
                  <a:srgbClr val="000000"/>
                </a:solidFill>
                <a:latin typeface="Times New Roman" charset="0"/>
              </a:rPr>
              <a:t>     </a:t>
            </a:r>
            <a:r>
              <a:rPr lang="en-US" dirty="0">
                <a:solidFill>
                  <a:srgbClr val="000000"/>
                </a:solidFill>
                <a:latin typeface="Helvetica" charset="0"/>
              </a:rPr>
              <a:t>When can we get a look at the Guild’s business architecture </a:t>
            </a:r>
            <a:r>
              <a:rPr lang="en-US" dirty="0" err="1">
                <a:solidFill>
                  <a:srgbClr val="000000"/>
                </a:solidFill>
                <a:latin typeface="Helvetica" charset="0"/>
              </a:rPr>
              <a:t>metamodel</a:t>
            </a:r>
            <a:r>
              <a:rPr lang="en-US" dirty="0">
                <a:solidFill>
                  <a:srgbClr val="000000"/>
                </a:solidFill>
                <a:latin typeface="Helvetica" charset="0"/>
              </a:rPr>
              <a:t>?  </a:t>
            </a:r>
            <a:endParaRPr lang="en-US" sz="2800" dirty="0">
              <a:solidFill>
                <a:srgbClr val="000000"/>
              </a:solidFill>
              <a:latin typeface="Times New Roman" charset="0"/>
            </a:endParaRPr>
          </a:p>
          <a:p>
            <a:pPr indent="-228600"/>
            <a:r>
              <a:rPr lang="en-US" dirty="0">
                <a:solidFill>
                  <a:srgbClr val="000000"/>
                </a:solidFill>
                <a:latin typeface="Helvetica" charset="0"/>
              </a:rPr>
              <a:t>2.</a:t>
            </a:r>
            <a:r>
              <a:rPr lang="en-US" sz="800" dirty="0">
                <a:solidFill>
                  <a:srgbClr val="000000"/>
                </a:solidFill>
                <a:latin typeface="Times New Roman" charset="0"/>
              </a:rPr>
              <a:t>     </a:t>
            </a:r>
            <a:r>
              <a:rPr lang="en-US" dirty="0">
                <a:solidFill>
                  <a:srgbClr val="000000"/>
                </a:solidFill>
                <a:latin typeface="Helvetica" charset="0"/>
              </a:rPr>
              <a:t>Can I start using the business architecture </a:t>
            </a:r>
            <a:r>
              <a:rPr lang="en-US" dirty="0" err="1">
                <a:solidFill>
                  <a:srgbClr val="000000"/>
                </a:solidFill>
                <a:latin typeface="Helvetica" charset="0"/>
              </a:rPr>
              <a:t>metamodel</a:t>
            </a:r>
            <a:r>
              <a:rPr lang="en-US" dirty="0">
                <a:solidFill>
                  <a:srgbClr val="000000"/>
                </a:solidFill>
                <a:latin typeface="Helvetica" charset="0"/>
              </a:rPr>
              <a:t> before it’s a standard ? Any risks in doing so?</a:t>
            </a:r>
            <a:endParaRPr lang="en-US" sz="2800" dirty="0">
              <a:solidFill>
                <a:srgbClr val="000000"/>
              </a:solidFill>
              <a:latin typeface="Times New Roman" charset="0"/>
            </a:endParaRPr>
          </a:p>
          <a:p>
            <a:pPr indent="-228600"/>
            <a:r>
              <a:rPr lang="en-US" dirty="0">
                <a:solidFill>
                  <a:srgbClr val="000000"/>
                </a:solidFill>
                <a:latin typeface="Helvetica" charset="0"/>
              </a:rPr>
              <a:t>3.</a:t>
            </a:r>
            <a:r>
              <a:rPr lang="en-US" sz="800" dirty="0">
                <a:solidFill>
                  <a:srgbClr val="000000"/>
                </a:solidFill>
                <a:latin typeface="Times New Roman" charset="0"/>
              </a:rPr>
              <a:t>     </a:t>
            </a:r>
            <a:r>
              <a:rPr lang="en-US" dirty="0">
                <a:solidFill>
                  <a:srgbClr val="000000"/>
                </a:solidFill>
                <a:latin typeface="Helvetica" charset="0"/>
              </a:rPr>
              <a:t>How do you plan on aligning the business architecture </a:t>
            </a:r>
            <a:r>
              <a:rPr lang="en-US" dirty="0" err="1">
                <a:solidFill>
                  <a:srgbClr val="000000"/>
                </a:solidFill>
                <a:latin typeface="Helvetica" charset="0"/>
              </a:rPr>
              <a:t>metamodel</a:t>
            </a:r>
            <a:r>
              <a:rPr lang="en-US" dirty="0">
                <a:solidFill>
                  <a:srgbClr val="000000"/>
                </a:solidFill>
                <a:latin typeface="Helvetica" charset="0"/>
              </a:rPr>
              <a:t> with preexisting OMG </a:t>
            </a:r>
            <a:r>
              <a:rPr lang="en-US" dirty="0" err="1">
                <a:solidFill>
                  <a:srgbClr val="000000"/>
                </a:solidFill>
                <a:latin typeface="Helvetica" charset="0"/>
              </a:rPr>
              <a:t>metamodel</a:t>
            </a:r>
            <a:r>
              <a:rPr lang="en-US" dirty="0">
                <a:solidFill>
                  <a:srgbClr val="000000"/>
                </a:solidFill>
                <a:latin typeface="Helvetica" charset="0"/>
              </a:rPr>
              <a:t> standards?</a:t>
            </a:r>
            <a:endParaRPr lang="en-US" sz="2800" dirty="0">
              <a:solidFill>
                <a:srgbClr val="000000"/>
              </a:solidFill>
              <a:latin typeface="Times New Roman" charset="0"/>
            </a:endParaRPr>
          </a:p>
          <a:p>
            <a:pPr indent="-228600"/>
            <a:r>
              <a:rPr lang="en-US" dirty="0">
                <a:solidFill>
                  <a:srgbClr val="000000"/>
                </a:solidFill>
                <a:latin typeface="Helvetica" charset="0"/>
              </a:rPr>
              <a:t>4.</a:t>
            </a:r>
            <a:r>
              <a:rPr lang="en-US" sz="800" dirty="0">
                <a:solidFill>
                  <a:srgbClr val="000000"/>
                </a:solidFill>
                <a:latin typeface="Times New Roman" charset="0"/>
              </a:rPr>
              <a:t>     </a:t>
            </a:r>
            <a:r>
              <a:rPr lang="en-US" dirty="0">
                <a:solidFill>
                  <a:srgbClr val="000000"/>
                </a:solidFill>
                <a:latin typeface="Helvetica" charset="0"/>
              </a:rPr>
              <a:t>Is there any guidance for selecting a modeling tool suited for business architecture based in part on </a:t>
            </a:r>
            <a:r>
              <a:rPr lang="en-US" dirty="0" err="1">
                <a:solidFill>
                  <a:srgbClr val="000000"/>
                </a:solidFill>
                <a:latin typeface="Helvetica" charset="0"/>
              </a:rPr>
              <a:t>metamodel</a:t>
            </a:r>
            <a:r>
              <a:rPr lang="en-US" dirty="0">
                <a:solidFill>
                  <a:srgbClr val="000000"/>
                </a:solidFill>
                <a:latin typeface="Helvetica" charset="0"/>
              </a:rPr>
              <a:t> alignment?</a:t>
            </a:r>
            <a:endParaRPr lang="en-US" sz="2800" dirty="0">
              <a:solidFill>
                <a:srgbClr val="000000"/>
              </a:solidFill>
              <a:latin typeface="Times New Roman" charset="0"/>
            </a:endParaRPr>
          </a:p>
          <a:p>
            <a:pPr indent="-228600"/>
            <a:r>
              <a:rPr lang="en-US" dirty="0">
                <a:solidFill>
                  <a:srgbClr val="000000"/>
                </a:solidFill>
                <a:latin typeface="Helvetica" charset="0"/>
              </a:rPr>
              <a:t>5.</a:t>
            </a:r>
            <a:r>
              <a:rPr lang="en-US" sz="800" dirty="0">
                <a:solidFill>
                  <a:srgbClr val="000000"/>
                </a:solidFill>
                <a:latin typeface="Times New Roman" charset="0"/>
              </a:rPr>
              <a:t>     </a:t>
            </a:r>
            <a:r>
              <a:rPr lang="en-US" dirty="0">
                <a:solidFill>
                  <a:srgbClr val="000000"/>
                </a:solidFill>
                <a:latin typeface="Helvetica" charset="0"/>
              </a:rPr>
              <a:t>How should an architect leverage the business architecture </a:t>
            </a:r>
            <a:r>
              <a:rPr lang="en-US" dirty="0" err="1">
                <a:solidFill>
                  <a:srgbClr val="000000"/>
                </a:solidFill>
                <a:latin typeface="Helvetica" charset="0"/>
              </a:rPr>
              <a:t>metamodel</a:t>
            </a:r>
            <a:r>
              <a:rPr lang="en-US" dirty="0">
                <a:solidFill>
                  <a:srgbClr val="000000"/>
                </a:solidFill>
                <a:latin typeface="Helvetica" charset="0"/>
              </a:rPr>
              <a:t> on projects? </a:t>
            </a:r>
            <a:endParaRPr lang="en-US" sz="2800" dirty="0">
              <a:solidFill>
                <a:srgbClr val="000000"/>
              </a:solidFill>
              <a:latin typeface="Times New Roman" charset="0"/>
            </a:endParaRPr>
          </a:p>
          <a:p>
            <a:pPr indent="-228600"/>
            <a:r>
              <a:rPr lang="en-US" dirty="0">
                <a:solidFill>
                  <a:srgbClr val="000000"/>
                </a:solidFill>
                <a:latin typeface="Helvetica" charset="0"/>
              </a:rPr>
              <a:t>6.</a:t>
            </a:r>
            <a:r>
              <a:rPr lang="en-US" sz="800" dirty="0">
                <a:solidFill>
                  <a:srgbClr val="000000"/>
                </a:solidFill>
                <a:latin typeface="Times New Roman" charset="0"/>
              </a:rPr>
              <a:t>     </a:t>
            </a:r>
            <a:r>
              <a:rPr lang="en-US" dirty="0">
                <a:solidFill>
                  <a:srgbClr val="000000"/>
                </a:solidFill>
                <a:latin typeface="Helvetica" charset="0"/>
              </a:rPr>
              <a:t>Is there any guidance for selecting a modeling tool suited for business architecture for projects?</a:t>
            </a:r>
            <a:endParaRPr lang="en-US" sz="2800" dirty="0">
              <a:solidFill>
                <a:srgbClr val="000000"/>
              </a:solidFill>
              <a:latin typeface="Times New Roman" charset="0"/>
            </a:endParaRPr>
          </a:p>
          <a:p>
            <a:pPr indent="-228600"/>
            <a:r>
              <a:rPr lang="en-US" dirty="0">
                <a:solidFill>
                  <a:srgbClr val="000000"/>
                </a:solidFill>
                <a:latin typeface="Helvetica" charset="0"/>
              </a:rPr>
              <a:t>7.</a:t>
            </a:r>
            <a:r>
              <a:rPr lang="en-US" sz="800" dirty="0">
                <a:solidFill>
                  <a:srgbClr val="000000"/>
                </a:solidFill>
                <a:latin typeface="Times New Roman" charset="0"/>
              </a:rPr>
              <a:t>     </a:t>
            </a:r>
            <a:r>
              <a:rPr lang="en-US" dirty="0">
                <a:solidFill>
                  <a:srgbClr val="000000"/>
                </a:solidFill>
                <a:latin typeface="Helvetica" charset="0"/>
              </a:rPr>
              <a:t>How will the business architecture </a:t>
            </a:r>
            <a:r>
              <a:rPr lang="en-US" dirty="0" err="1">
                <a:solidFill>
                  <a:srgbClr val="000000"/>
                </a:solidFill>
                <a:latin typeface="Helvetica" charset="0"/>
              </a:rPr>
              <a:t>metamodel</a:t>
            </a:r>
            <a:r>
              <a:rPr lang="en-US" dirty="0">
                <a:solidFill>
                  <a:srgbClr val="000000"/>
                </a:solidFill>
                <a:latin typeface="Helvetica" charset="0"/>
              </a:rPr>
              <a:t> help us align and/or optimize our IT portfolio ?</a:t>
            </a:r>
            <a:endParaRPr lang="en-US" sz="2800" dirty="0">
              <a:solidFill>
                <a:srgbClr val="000000"/>
              </a:solidFill>
              <a:latin typeface="Times New Roman" charset="0"/>
            </a:endParaRPr>
          </a:p>
        </p:txBody>
      </p:sp>
    </p:spTree>
    <p:extLst>
      <p:ext uri="{BB962C8B-B14F-4D97-AF65-F5344CB8AC3E}">
        <p14:creationId xmlns:p14="http://schemas.microsoft.com/office/powerpoint/2010/main" val="17895801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1457</TotalTime>
  <Words>1893</Words>
  <Application>Microsoft Macintosh PowerPoint</Application>
  <PresentationFormat>Widescreen</PresentationFormat>
  <Paragraphs>253</Paragraphs>
  <Slides>19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Calibri</vt:lpstr>
      <vt:lpstr>Franklin Gothic Book</vt:lpstr>
      <vt:lpstr>Franklin Gothic Medium</vt:lpstr>
      <vt:lpstr>Helvetica</vt:lpstr>
      <vt:lpstr>Mangal</vt:lpstr>
      <vt:lpstr>Times New Roman</vt:lpstr>
      <vt:lpstr>Tunga</vt:lpstr>
      <vt:lpstr>Wingdings</vt:lpstr>
      <vt:lpstr>Arial</vt:lpstr>
      <vt:lpstr>1_Angles</vt:lpstr>
      <vt:lpstr>Business Architecture Metamodel Update</vt:lpstr>
      <vt:lpstr>Overview</vt:lpstr>
      <vt:lpstr>The Value Proposition</vt:lpstr>
      <vt:lpstr>Business Architecture Framework Relies on Robust Knowledgebase</vt:lpstr>
      <vt:lpstr>Knowledgebase is Based on BIZBOK® Guide’s Underlying MEtamodel</vt:lpstr>
      <vt:lpstr>Sample Early Stage Metamodel from BIZBOK® Guide Part 5</vt:lpstr>
      <vt:lpstr>Current Work in Progress by Guild Metamodel Team</vt:lpstr>
      <vt:lpstr>Metamodel Team Roadmap (2017/2018 Timeline)</vt:lpstr>
      <vt:lpstr>Capability as the centerpiece</vt:lpstr>
      <vt:lpstr>BIZBOK® Based, Layered MetaModel View</vt:lpstr>
      <vt:lpstr>First 2 layers of metamodel</vt:lpstr>
      <vt:lpstr>Draft Metamodel Packages for core Business Architecture Domain Packages</vt:lpstr>
      <vt:lpstr>Draft Metamodel Packages for core Business Architecture Domain Packages</vt:lpstr>
      <vt:lpstr>OMG RFP View of Business Architecture Metamodel Response Requirements </vt:lpstr>
      <vt:lpstr>Scenario-Driven Business Architecture MetaModeling</vt:lpstr>
      <vt:lpstr>Vendor Engagement – Discussion Engagement</vt:lpstr>
      <vt:lpstr>Related Standards and Tool Work</vt:lpstr>
      <vt:lpstr>Thank you</vt:lpstr>
      <vt:lpstr>Questions….</vt:lpstr>
    </vt:vector>
  </TitlesOfParts>
  <Company>Toshiba</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kathy</dc:creator>
  <cp:lastModifiedBy>Jeffrey Wallk</cp:lastModifiedBy>
  <cp:revision>136</cp:revision>
  <dcterms:created xsi:type="dcterms:W3CDTF">2012-10-06T17:50:46Z</dcterms:created>
  <dcterms:modified xsi:type="dcterms:W3CDTF">2017-03-15T17:56:30Z</dcterms:modified>
</cp:coreProperties>
</file>
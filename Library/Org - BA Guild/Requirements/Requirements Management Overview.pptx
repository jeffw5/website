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6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835" autoAdjust="0"/>
  </p:normalViewPr>
  <p:slideViewPr>
    <p:cSldViewPr snapToGrid="0" snapToObjects="1">
      <p:cViewPr varScale="1">
        <p:scale>
          <a:sx n="102" d="100"/>
          <a:sy n="102" d="100"/>
        </p:scale>
        <p:origin x="-118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8/24/13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Agenda:</a:t>
            </a:r>
          </a:p>
          <a:p>
            <a:pPr lvl="1"/>
            <a:r>
              <a:rPr lang="en-US" dirty="0" smtClean="0"/>
              <a:t>Big Picture</a:t>
            </a:r>
          </a:p>
          <a:p>
            <a:pPr lvl="1"/>
            <a:r>
              <a:rPr lang="en-US" dirty="0" smtClean="0"/>
              <a:t>Current State</a:t>
            </a:r>
          </a:p>
          <a:p>
            <a:pPr lvl="1"/>
            <a:r>
              <a:rPr lang="en-US" dirty="0" smtClean="0"/>
              <a:t>Future State </a:t>
            </a:r>
          </a:p>
          <a:p>
            <a:pPr lvl="1"/>
            <a:r>
              <a:rPr lang="en-US" dirty="0" smtClean="0"/>
              <a:t>Transition from Project Artifacts to Operational Guidance</a:t>
            </a:r>
          </a:p>
          <a:p>
            <a:pPr lvl="1"/>
            <a:r>
              <a:rPr lang="en-US" dirty="0" smtClean="0"/>
              <a:t>SIPOC for Business Analysis (BA)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2376" y="4407931"/>
            <a:ext cx="75330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Note: Customer Needs is a separate discipline that needs to marry up to requirements management.  This is a much larger topic and one that is not well understood (let alone put in put in practice).  </a:t>
            </a:r>
          </a:p>
          <a:p>
            <a:pPr algn="l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A separate deck would need to be devoted to outlining this discipline along with the data-driven approach for capturing this information and aligning it with business and domain models.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25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>
            <a:off x="-826464" y="4817230"/>
            <a:ext cx="15440738" cy="290242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>
              <a:buNone/>
            </a:pPr>
            <a:r>
              <a:rPr lang="en-US" sz="2000" dirty="0" smtClean="0"/>
              <a:t>Architecture (Implementation)</a:t>
            </a:r>
            <a:endParaRPr lang="en-US" sz="2000" dirty="0"/>
          </a:p>
        </p:txBody>
      </p:sp>
      <p:sp>
        <p:nvSpPr>
          <p:cNvPr id="31" name="Rounded Rectangle 30"/>
          <p:cNvSpPr/>
          <p:nvPr/>
        </p:nvSpPr>
        <p:spPr>
          <a:xfrm>
            <a:off x="-826464" y="3527260"/>
            <a:ext cx="10683539" cy="128997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>
              <a:buNone/>
            </a:pPr>
            <a:r>
              <a:rPr lang="en-US" sz="2000" dirty="0" smtClean="0"/>
              <a:t>Architecture (Application, Information, Technical, Operational)</a:t>
            </a:r>
            <a:endParaRPr lang="en-US" sz="2000" dirty="0"/>
          </a:p>
        </p:txBody>
      </p:sp>
      <p:sp>
        <p:nvSpPr>
          <p:cNvPr id="30" name="Rounded Rectangle 29"/>
          <p:cNvSpPr/>
          <p:nvPr/>
        </p:nvSpPr>
        <p:spPr>
          <a:xfrm>
            <a:off x="-826464" y="786075"/>
            <a:ext cx="10683539" cy="274118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2400" dirty="0" smtClean="0"/>
              <a:t>Requirements (Future State)</a:t>
            </a:r>
            <a:endParaRPr lang="en-US" sz="2400" dirty="0"/>
          </a:p>
        </p:txBody>
      </p:sp>
      <p:sp>
        <p:nvSpPr>
          <p:cNvPr id="29" name="Rectangle 28"/>
          <p:cNvSpPr/>
          <p:nvPr/>
        </p:nvSpPr>
        <p:spPr>
          <a:xfrm>
            <a:off x="-236456" y="5151946"/>
            <a:ext cx="14387105" cy="167292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Lifecycle Management (Product, Services, Processes, Software, Data, Information)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Picture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36351" y="1501746"/>
            <a:ext cx="2675304" cy="3512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Customer Needs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3720" y="1501746"/>
            <a:ext cx="2283467" cy="3512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Business Needs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64055" y="1501746"/>
            <a:ext cx="2675304" cy="3512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Compliance Needs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3720" y="2544750"/>
            <a:ext cx="7975639" cy="3512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Models (Rules, Processes, Metrics, Analytics, Metadata)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6322" y="3152941"/>
            <a:ext cx="1580863" cy="78382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Rules Engine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94166" y="3152942"/>
            <a:ext cx="1360904" cy="78382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BPM Engine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05823" y="3152942"/>
            <a:ext cx="1360904" cy="78382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Analytics Engine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6164" y="3152941"/>
            <a:ext cx="1743021" cy="78382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Metadata Repository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3976" y="2022460"/>
            <a:ext cx="7975639" cy="3512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Models (Services, Capabilities, Features, Needs)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4232" y="5749443"/>
            <a:ext cx="1580863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Ideation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52206" y="5749443"/>
            <a:ext cx="1580863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Invention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60180" y="5749443"/>
            <a:ext cx="1580863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Evaluation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8154" y="5749443"/>
            <a:ext cx="1580863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Execution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76128" y="5749443"/>
            <a:ext cx="1580863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Testing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84102" y="5749443"/>
            <a:ext cx="2218788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Implementation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430000" y="5749443"/>
            <a:ext cx="2218788" cy="7838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Gap Assessment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430000" y="2084167"/>
            <a:ext cx="2218788" cy="78382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Continuous Improvement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/>
          <p:cNvCxnSpPr>
            <a:endCxn id="22" idx="2"/>
          </p:cNvCxnSpPr>
          <p:nvPr/>
        </p:nvCxnSpPr>
        <p:spPr>
          <a:xfrm flipV="1">
            <a:off x="12539394" y="2867992"/>
            <a:ext cx="0" cy="2881451"/>
          </a:xfrm>
          <a:prstGeom prst="straightConnector1">
            <a:avLst/>
          </a:prstGeom>
          <a:ln w="381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1"/>
          </p:cNvCxnSpPr>
          <p:nvPr/>
        </p:nvCxnSpPr>
        <p:spPr>
          <a:xfrm flipH="1">
            <a:off x="8724900" y="2476080"/>
            <a:ext cx="2705100" cy="0"/>
          </a:xfrm>
          <a:prstGeom prst="straightConnector1">
            <a:avLst/>
          </a:prstGeom>
          <a:ln w="381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97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Picture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4" y="1656260"/>
            <a:ext cx="8379108" cy="37999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724" y="5603334"/>
            <a:ext cx="7159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Note: The MDR (metadata repository) contains the taxonomies and ontologies for which all requirements must adhere (semantic mappings support all POVs)  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38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Today requirements are :</a:t>
            </a:r>
          </a:p>
          <a:p>
            <a:pPr lvl="1"/>
            <a:r>
              <a:rPr lang="en-US" dirty="0" smtClean="0"/>
              <a:t>drafted as documents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ranslated into artifacts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ecomposed into features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aptured in doc objects, spreadsheets, and models</a:t>
            </a:r>
          </a:p>
          <a:p>
            <a:pPr lvl="1"/>
            <a:endParaRPr lang="en-US" dirty="0"/>
          </a:p>
          <a:p>
            <a:r>
              <a:rPr lang="en-US" dirty="0" smtClean="0"/>
              <a:t>Some challenges include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ubject to interpretation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ot easily reused or repurposed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ifficult to achieve consistency </a:t>
            </a:r>
          </a:p>
          <a:p>
            <a:pPr lvl="1"/>
            <a:r>
              <a:rPr lang="en-US" dirty="0"/>
              <a:t>q</a:t>
            </a:r>
            <a:r>
              <a:rPr lang="en-US" dirty="0" smtClean="0"/>
              <a:t>uickly becomes irrelevant (shelf-ware)</a:t>
            </a:r>
          </a:p>
        </p:txBody>
      </p:sp>
    </p:spTree>
    <p:extLst>
      <p:ext uri="{BB962C8B-B14F-4D97-AF65-F5344CB8AC3E}">
        <p14:creationId xmlns:p14="http://schemas.microsoft.com/office/powerpoint/2010/main" val="369917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State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Tomorrow requirements could be :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rafted as capabilities and features which are aligned with services (business &amp; infrastructure)</a:t>
            </a:r>
          </a:p>
          <a:p>
            <a:pPr lvl="1"/>
            <a:r>
              <a:rPr lang="en-US" dirty="0" smtClean="0"/>
              <a:t>captured as business rules, metadata, metrics, and function points within rules libraries, metadata repository, process models, and analytics models </a:t>
            </a:r>
          </a:p>
          <a:p>
            <a:pPr lvl="1"/>
            <a:endParaRPr lang="en-US" dirty="0"/>
          </a:p>
          <a:p>
            <a:r>
              <a:rPr lang="en-US" dirty="0" smtClean="0"/>
              <a:t>Some of the benefits may include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euse of requirements (all levels of granularity)</a:t>
            </a:r>
          </a:p>
          <a:p>
            <a:pPr lvl="1"/>
            <a:r>
              <a:rPr lang="en-US" dirty="0"/>
              <a:t>h</a:t>
            </a:r>
            <a:r>
              <a:rPr lang="en-US" dirty="0" smtClean="0"/>
              <a:t>igh degree of consistency, relevancy, and usability</a:t>
            </a:r>
          </a:p>
          <a:p>
            <a:pPr lvl="1"/>
            <a:r>
              <a:rPr lang="en-US" dirty="0" smtClean="0"/>
              <a:t>Requirements become part of the solution (subject to version management &amp; part of configuration mgmt.)</a:t>
            </a:r>
          </a:p>
        </p:txBody>
      </p:sp>
    </p:spTree>
    <p:extLst>
      <p:ext uri="{BB962C8B-B14F-4D97-AF65-F5344CB8AC3E}">
        <p14:creationId xmlns:p14="http://schemas.microsoft.com/office/powerpoint/2010/main" val="135550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Artifacts to Operational Guidance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Metrics are used for verification and validation to ensure quality of projects (across their lifecycle) are used to:</a:t>
            </a:r>
          </a:p>
          <a:p>
            <a:pPr lvl="1"/>
            <a:r>
              <a:rPr lang="en-US" dirty="0" smtClean="0"/>
              <a:t>control tolerances for all categories of requirements (all levels of granularity) for products, services, and operations across their lifecycles (while in service)</a:t>
            </a:r>
          </a:p>
          <a:p>
            <a:r>
              <a:rPr lang="en-US" dirty="0" smtClean="0"/>
              <a:t>Success Criteria are acceptable thresholds of performance covering (but not limited to):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rojects &amp; test plans (all types of testing)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ontrol charts and certifications</a:t>
            </a:r>
          </a:p>
          <a:p>
            <a:pPr lvl="1"/>
            <a:r>
              <a:rPr lang="en-US" dirty="0" smtClean="0"/>
              <a:t>products &amp; services</a:t>
            </a:r>
          </a:p>
        </p:txBody>
      </p:sp>
    </p:spTree>
    <p:extLst>
      <p:ext uri="{BB962C8B-B14F-4D97-AF65-F5344CB8AC3E}">
        <p14:creationId xmlns:p14="http://schemas.microsoft.com/office/powerpoint/2010/main" val="83763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S–IPO-C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7</a:t>
            </a:fld>
            <a:endParaRPr 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84163" y="13922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nputs (BAI)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211513" y="1392248"/>
            <a:ext cx="2701925" cy="5080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rocessing (BAP)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6138863" y="13795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utputs (BAO)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6138863" y="2027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List of Prioritized Features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6138863" y="2255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Features by Magnitude 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3225800" y="2027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ID Skills / Resources</a:t>
            </a: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3225800" y="2239973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Training on Req. Proc/Method.</a:t>
            </a:r>
          </a:p>
        </p:txBody>
      </p:sp>
      <p:sp>
        <p:nvSpPr>
          <p:cNvPr id="11" name="AutoShape 25"/>
          <p:cNvSpPr>
            <a:spLocks noChangeArrowheads="1"/>
          </p:cNvSpPr>
          <p:nvPr/>
        </p:nvSpPr>
        <p:spPr bwMode="auto">
          <a:xfrm>
            <a:off x="3225800" y="2463810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Common Document Template</a:t>
            </a:r>
          </a:p>
        </p:txBody>
      </p:sp>
      <p:sp>
        <p:nvSpPr>
          <p:cNvPr id="12" name="AutoShape 26"/>
          <p:cNvSpPr>
            <a:spLocks noChangeArrowheads="1"/>
          </p:cNvSpPr>
          <p:nvPr/>
        </p:nvSpPr>
        <p:spPr bwMode="auto">
          <a:xfrm>
            <a:off x="3225800" y="2687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Publish Glossary</a:t>
            </a:r>
          </a:p>
        </p:txBody>
      </p:sp>
      <p:sp>
        <p:nvSpPr>
          <p:cNvPr id="13" name="AutoShape 27"/>
          <p:cNvSpPr>
            <a:spLocks noChangeArrowheads="1"/>
          </p:cNvSpPr>
          <p:nvPr/>
        </p:nvSpPr>
        <p:spPr bwMode="auto">
          <a:xfrm>
            <a:off x="284163" y="20272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1) Sample reports</a:t>
            </a:r>
          </a:p>
        </p:txBody>
      </p:sp>
      <p:sp>
        <p:nvSpPr>
          <p:cNvPr id="14" name="AutoShape 28"/>
          <p:cNvSpPr>
            <a:spLocks noChangeArrowheads="1"/>
          </p:cNvSpPr>
          <p:nvPr/>
        </p:nvSpPr>
        <p:spPr bwMode="auto">
          <a:xfrm>
            <a:off x="284163" y="22431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2) Prototypes</a:t>
            </a:r>
          </a:p>
        </p:txBody>
      </p:sp>
      <p:sp>
        <p:nvSpPr>
          <p:cNvPr id="15" name="AutoShape 29"/>
          <p:cNvSpPr>
            <a:spLocks noChangeArrowheads="1"/>
          </p:cNvSpPr>
          <p:nvPr/>
        </p:nvSpPr>
        <p:spPr bwMode="auto">
          <a:xfrm>
            <a:off x="284163" y="24590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3) Screen Mock-ups</a:t>
            </a:r>
          </a:p>
        </p:txBody>
      </p:sp>
      <p:sp>
        <p:nvSpPr>
          <p:cNvPr id="16" name="AutoShape 30"/>
          <p:cNvSpPr>
            <a:spLocks noChangeArrowheads="1"/>
          </p:cNvSpPr>
          <p:nvPr/>
        </p:nvSpPr>
        <p:spPr bwMode="auto">
          <a:xfrm>
            <a:off x="284163" y="26749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4) ID Bus. Problem/Need</a:t>
            </a:r>
          </a:p>
        </p:txBody>
      </p:sp>
      <p:sp>
        <p:nvSpPr>
          <p:cNvPr id="17" name="AutoShape 31"/>
          <p:cNvSpPr>
            <a:spLocks noChangeArrowheads="1"/>
          </p:cNvSpPr>
          <p:nvPr/>
        </p:nvSpPr>
        <p:spPr bwMode="auto">
          <a:xfrm>
            <a:off x="284163" y="28908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5) What is client trying to solve?</a:t>
            </a:r>
          </a:p>
        </p:txBody>
      </p:sp>
      <p:sp>
        <p:nvSpPr>
          <p:cNvPr id="18" name="AutoShape 32"/>
          <p:cNvSpPr>
            <a:spLocks noChangeArrowheads="1"/>
          </p:cNvSpPr>
          <p:nvPr/>
        </p:nvSpPr>
        <p:spPr bwMode="auto">
          <a:xfrm>
            <a:off x="284163" y="31067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6) List of prioritized features</a:t>
            </a:r>
          </a:p>
        </p:txBody>
      </p:sp>
      <p:sp>
        <p:nvSpPr>
          <p:cNvPr id="19" name="AutoShape 33"/>
          <p:cNvSpPr>
            <a:spLocks noChangeArrowheads="1"/>
          </p:cNvSpPr>
          <p:nvPr/>
        </p:nvSpPr>
        <p:spPr bwMode="auto">
          <a:xfrm>
            <a:off x="284163" y="33226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7) Strategic Product Roadmap</a:t>
            </a:r>
          </a:p>
        </p:txBody>
      </p:sp>
      <p:sp>
        <p:nvSpPr>
          <p:cNvPr id="20" name="AutoShape 34"/>
          <p:cNvSpPr>
            <a:spLocks noChangeArrowheads="1"/>
          </p:cNvSpPr>
          <p:nvPr/>
        </p:nvSpPr>
        <p:spPr bwMode="auto">
          <a:xfrm>
            <a:off x="284163" y="35385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8) VOC</a:t>
            </a:r>
          </a:p>
        </p:txBody>
      </p:sp>
      <p:sp>
        <p:nvSpPr>
          <p:cNvPr id="21" name="AutoShape 35"/>
          <p:cNvSpPr>
            <a:spLocks noChangeArrowheads="1"/>
          </p:cNvSpPr>
          <p:nvPr/>
        </p:nvSpPr>
        <p:spPr bwMode="auto">
          <a:xfrm>
            <a:off x="284163" y="37544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9) Non-functional Perf. Req.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284163" y="39703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10) SLR</a:t>
            </a:r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284163" y="41862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11) Bus. Rules</a:t>
            </a:r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284163" y="44021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12) Bus. Constraint Assumptions</a:t>
            </a:r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3225800" y="2913073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ID Req. Workflow</a:t>
            </a:r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3225800" y="3136910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Statistical Analysis</a:t>
            </a:r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3225800" y="33607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Research Tools</a:t>
            </a:r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6138863" y="2484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ID Depend. &amp; Rel. Impact </a:t>
            </a:r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6138863" y="2713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List Business of Assumptions </a:t>
            </a:r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6138863" y="2941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Business Process Flow </a:t>
            </a:r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6138863" y="3170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Scope SOW </a:t>
            </a:r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6138863" y="3398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Bus. Constraints </a:t>
            </a:r>
          </a:p>
        </p:txBody>
      </p:sp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6138863" y="3627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8) Bus. Rules </a:t>
            </a:r>
          </a:p>
        </p:txBody>
      </p:sp>
      <p:sp>
        <p:nvSpPr>
          <p:cNvPr id="34" name="AutoShape 48"/>
          <p:cNvSpPr>
            <a:spLocks noChangeArrowheads="1"/>
          </p:cNvSpPr>
          <p:nvPr/>
        </p:nvSpPr>
        <p:spPr bwMode="auto">
          <a:xfrm>
            <a:off x="6138863" y="3856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9) Traceability Matrix </a:t>
            </a:r>
          </a:p>
        </p:txBody>
      </p:sp>
      <p:sp>
        <p:nvSpPr>
          <p:cNvPr id="35" name="AutoShape 49"/>
          <p:cNvSpPr>
            <a:spLocks noChangeArrowheads="1"/>
          </p:cNvSpPr>
          <p:nvPr/>
        </p:nvSpPr>
        <p:spPr bwMode="auto">
          <a:xfrm>
            <a:off x="6138863" y="4084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10) Use Case </a:t>
            </a:r>
          </a:p>
        </p:txBody>
      </p:sp>
      <p:sp>
        <p:nvSpPr>
          <p:cNvPr id="36" name="AutoShape 50"/>
          <p:cNvSpPr>
            <a:spLocks noChangeArrowheads="1"/>
          </p:cNvSpPr>
          <p:nvPr/>
        </p:nvSpPr>
        <p:spPr bwMode="auto">
          <a:xfrm>
            <a:off x="6138863" y="4313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11) Storyboards </a:t>
            </a:r>
          </a:p>
        </p:txBody>
      </p:sp>
      <p:sp>
        <p:nvSpPr>
          <p:cNvPr id="37" name="AutoShape 51"/>
          <p:cNvSpPr>
            <a:spLocks noChangeArrowheads="1"/>
          </p:cNvSpPr>
          <p:nvPr/>
        </p:nvSpPr>
        <p:spPr bwMode="auto">
          <a:xfrm>
            <a:off x="6138863" y="4541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12) Test Scenarios </a:t>
            </a:r>
          </a:p>
        </p:txBody>
      </p:sp>
      <p:sp>
        <p:nvSpPr>
          <p:cNvPr id="38" name="AutoShape 52"/>
          <p:cNvSpPr>
            <a:spLocks noChangeArrowheads="1"/>
          </p:cNvSpPr>
          <p:nvPr/>
        </p:nvSpPr>
        <p:spPr bwMode="auto">
          <a:xfrm>
            <a:off x="6138863" y="4770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13) User Documentation </a:t>
            </a:r>
          </a:p>
        </p:txBody>
      </p:sp>
      <p:sp>
        <p:nvSpPr>
          <p:cNvPr id="39" name="AutoShape 53"/>
          <p:cNvSpPr>
            <a:spLocks noChangeArrowheads="1"/>
          </p:cNvSpPr>
          <p:nvPr/>
        </p:nvSpPr>
        <p:spPr bwMode="auto">
          <a:xfrm>
            <a:off x="6138863" y="4999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14) Sample Deliverables </a:t>
            </a:r>
          </a:p>
        </p:txBody>
      </p:sp>
      <p:sp>
        <p:nvSpPr>
          <p:cNvPr id="40" name="AutoShape 54"/>
          <p:cNvSpPr>
            <a:spLocks noChangeArrowheads="1"/>
          </p:cNvSpPr>
          <p:nvPr/>
        </p:nvSpPr>
        <p:spPr bwMode="auto">
          <a:xfrm>
            <a:off x="6138863" y="5227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15) Context Diagrams </a:t>
            </a:r>
          </a:p>
        </p:txBody>
      </p:sp>
      <p:sp>
        <p:nvSpPr>
          <p:cNvPr id="41" name="AutoShape 55"/>
          <p:cNvSpPr>
            <a:spLocks noChangeArrowheads="1"/>
          </p:cNvSpPr>
          <p:nvPr/>
        </p:nvSpPr>
        <p:spPr bwMode="auto">
          <a:xfrm>
            <a:off x="6138863" y="5456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16) Architectural Diagrams </a:t>
            </a:r>
          </a:p>
        </p:txBody>
      </p:sp>
      <p:sp>
        <p:nvSpPr>
          <p:cNvPr id="42" name="AutoShape 56"/>
          <p:cNvSpPr>
            <a:spLocks noChangeArrowheads="1"/>
          </p:cNvSpPr>
          <p:nvPr/>
        </p:nvSpPr>
        <p:spPr bwMode="auto">
          <a:xfrm>
            <a:off x="6138863" y="5684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17) Non-functional Req.</a:t>
            </a:r>
          </a:p>
        </p:txBody>
      </p:sp>
      <p:sp>
        <p:nvSpPr>
          <p:cNvPr id="43" name="AutoShape 57"/>
          <p:cNvSpPr>
            <a:spLocks noChangeArrowheads="1"/>
          </p:cNvSpPr>
          <p:nvPr/>
        </p:nvSpPr>
        <p:spPr bwMode="auto">
          <a:xfrm>
            <a:off x="6138863" y="5913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18) Screen Mock Ups </a:t>
            </a:r>
          </a:p>
        </p:txBody>
      </p:sp>
      <p:sp>
        <p:nvSpPr>
          <p:cNvPr id="44" name="AutoShape 58"/>
          <p:cNvSpPr>
            <a:spLocks noChangeArrowheads="1"/>
          </p:cNvSpPr>
          <p:nvPr/>
        </p:nvSpPr>
        <p:spPr bwMode="auto">
          <a:xfrm>
            <a:off x="6138863" y="6142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19) Use Case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3936" y="4878874"/>
            <a:ext cx="47190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This is one model for aligning inputs, processes, and outputs for current state business analysis.  </a:t>
            </a:r>
          </a:p>
          <a:p>
            <a:pPr algn="l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A new model would need to be proposed for the future state requirements (as depicted in the “big picture” and subsequent slides above.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301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华文新魏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1695</TotalTime>
  <Words>694</Words>
  <Application>Microsoft Macintosh PowerPoint</Application>
  <PresentationFormat>Letter Paper (8.5x11 in)</PresentationFormat>
  <Paragraphs>111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Civic</vt:lpstr>
      <vt:lpstr>Requirements Management</vt:lpstr>
      <vt:lpstr>Big Picture</vt:lpstr>
      <vt:lpstr>Big Picture</vt:lpstr>
      <vt:lpstr>Current State</vt:lpstr>
      <vt:lpstr>Future State</vt:lpstr>
      <vt:lpstr>Project Artifacts to Operational Guidance</vt:lpstr>
      <vt:lpstr>S–IPO-C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Management</dc:title>
  <dc:creator>jeffrey wallk</dc:creator>
  <cp:lastModifiedBy>jeffrey wallk</cp:lastModifiedBy>
  <cp:revision>23</cp:revision>
  <dcterms:created xsi:type="dcterms:W3CDTF">2013-08-24T23:38:47Z</dcterms:created>
  <dcterms:modified xsi:type="dcterms:W3CDTF">2013-08-26T03:53:53Z</dcterms:modified>
</cp:coreProperties>
</file>
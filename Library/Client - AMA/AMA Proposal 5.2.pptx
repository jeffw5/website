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27"/>
  </p:notesMasterIdLst>
  <p:handoutMasterIdLst>
    <p:handoutMasterId r:id="rId28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69" r:id="rId15"/>
    <p:sldId id="275" r:id="rId16"/>
    <p:sldId id="272" r:id="rId17"/>
    <p:sldId id="278" r:id="rId18"/>
    <p:sldId id="279" r:id="rId19"/>
    <p:sldId id="280" r:id="rId20"/>
    <p:sldId id="281" r:id="rId21"/>
    <p:sldId id="276" r:id="rId22"/>
    <p:sldId id="273" r:id="rId23"/>
    <p:sldId id="270" r:id="rId24"/>
    <p:sldId id="274" r:id="rId25"/>
    <p:sldId id="277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77" autoAdjust="0"/>
    <p:restoredTop sz="94660"/>
  </p:normalViewPr>
  <p:slideViewPr>
    <p:cSldViewPr>
      <p:cViewPr varScale="1">
        <p:scale>
          <a:sx n="71" d="100"/>
          <a:sy n="7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/>
      <dgm:spPr/>
      <dgm:t>
        <a:bodyPr/>
        <a:lstStyle/>
        <a:p>
          <a:r>
            <a:rPr lang="en-US" b="1" dirty="0" smtClean="0"/>
            <a:t>Technology</a:t>
          </a:r>
          <a:endParaRPr lang="en-US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/>
      <dgm:spPr/>
      <dgm:t>
        <a:bodyPr/>
        <a:lstStyle/>
        <a:p>
          <a:r>
            <a:rPr lang="en-US" b="1" dirty="0" smtClean="0"/>
            <a:t>Ideas</a:t>
          </a:r>
          <a:endParaRPr lang="en-US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/>
            <a:t>Priorities</a:t>
          </a:r>
          <a:endParaRPr lang="en-US" b="1" dirty="0"/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/>
      <dgm:spPr/>
    </dgm:pt>
    <dgm:pt modelId="{0B61870B-E2AE-47B9-90BE-64D52B77842D}" type="pres">
      <dgm:prSet presAssocID="{E20769C5-73DC-4E8A-913F-24C08F2848CC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/>
      <dgm:spPr/>
    </dgm:pt>
  </dgm:ptLst>
  <dgm:cxnLst>
    <dgm:cxn modelId="{4B53DBB6-96D7-41B4-A2E5-982BEEBCE3A0}" type="presOf" srcId="{42874977-2580-429E-9A3F-5B0A5A2948AF}" destId="{F96B2562-BEBF-42CE-9FF0-1BBD38426426}" srcOrd="0" destOrd="0" presId="urn:microsoft.com/office/officeart/2005/8/layout/funnel1"/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D77E5467-4B2D-4E44-8363-CF295ED35EEB}" type="presOf" srcId="{CAE624CA-334A-4EB5-BD8E-55849449CB58}" destId="{1700B4C8-12E4-4D00-876C-94377F786E85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D1D8F734-6FC9-46FB-8AAB-1793374DB0BF}" type="presOf" srcId="{E20769C5-73DC-4E8A-913F-24C08F2848CC}" destId="{D7B10E75-58CC-4807-BD47-EBDD0F301C5F}" srcOrd="0" destOrd="0" presId="urn:microsoft.com/office/officeart/2005/8/layout/funnel1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E28D9035-97C4-41EB-8003-12D940579F40}" type="presOf" srcId="{973D7B39-D5D2-4B89-A3E7-1C0B9FD794DD}" destId="{3260B18C-0F12-415C-B2B5-B0D612D38936}" srcOrd="0" destOrd="0" presId="urn:microsoft.com/office/officeart/2005/8/layout/funnel1"/>
    <dgm:cxn modelId="{8393CDFA-7965-4B5A-AE99-BE90C5410D45}" type="presOf" srcId="{39749F21-8792-4349-A6A7-BF01EB94F789}" destId="{0B61870B-E2AE-47B9-90BE-64D52B77842D}" srcOrd="0" destOrd="0" presId="urn:microsoft.com/office/officeart/2005/8/layout/funnel1"/>
    <dgm:cxn modelId="{39E7F857-758C-428F-A175-1A5EC0C01116}" type="presParOf" srcId="{D7B10E75-58CC-4807-BD47-EBDD0F301C5F}" destId="{E1C58007-ADFE-400C-A7E7-0C16929F4834}" srcOrd="0" destOrd="0" presId="urn:microsoft.com/office/officeart/2005/8/layout/funnel1"/>
    <dgm:cxn modelId="{EAC90AC9-29FF-40D5-95C8-716C03FEFD61}" type="presParOf" srcId="{D7B10E75-58CC-4807-BD47-EBDD0F301C5F}" destId="{BE474BB7-A5E2-4490-A567-03B382957073}" srcOrd="1" destOrd="0" presId="urn:microsoft.com/office/officeart/2005/8/layout/funnel1"/>
    <dgm:cxn modelId="{EFA693D5-1402-4ADF-8C9C-844B8D56F919}" type="presParOf" srcId="{D7B10E75-58CC-4807-BD47-EBDD0F301C5F}" destId="{0B61870B-E2AE-47B9-90BE-64D52B77842D}" srcOrd="2" destOrd="0" presId="urn:microsoft.com/office/officeart/2005/8/layout/funnel1"/>
    <dgm:cxn modelId="{4EB44B82-6C04-4875-8068-46CAF77CD5C6}" type="presParOf" srcId="{D7B10E75-58CC-4807-BD47-EBDD0F301C5F}" destId="{3260B18C-0F12-415C-B2B5-B0D612D38936}" srcOrd="3" destOrd="0" presId="urn:microsoft.com/office/officeart/2005/8/layout/funnel1"/>
    <dgm:cxn modelId="{03ABA694-FF55-4D5A-9D65-0DA8B61C6F37}" type="presParOf" srcId="{D7B10E75-58CC-4807-BD47-EBDD0F301C5F}" destId="{F96B2562-BEBF-42CE-9FF0-1BBD38426426}" srcOrd="4" destOrd="0" presId="urn:microsoft.com/office/officeart/2005/8/layout/funnel1"/>
    <dgm:cxn modelId="{C9E7B409-92C8-48B4-8BA3-AC57E3DF8873}" type="presParOf" srcId="{D7B10E75-58CC-4807-BD47-EBDD0F301C5F}" destId="{1700B4C8-12E4-4D00-876C-94377F786E85}" srcOrd="5" destOrd="0" presId="urn:microsoft.com/office/officeart/2005/8/layout/funnel1"/>
    <dgm:cxn modelId="{632CC4FB-1988-4F8D-99C3-B8B6227AE55F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Concept Development</a:t>
          </a:r>
          <a:endParaRPr lang="en-US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Transitioning</a:t>
          </a:r>
        </a:p>
        <a:p>
          <a:r>
            <a:rPr lang="en-US" dirty="0" smtClean="0"/>
            <a:t>To </a:t>
          </a:r>
        </a:p>
        <a:p>
          <a:r>
            <a:rPr lang="en-US" dirty="0" smtClean="0"/>
            <a:t>Portfolio</a:t>
          </a:r>
          <a:endParaRPr lang="en-US" dirty="0"/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Execution</a:t>
          </a:r>
        </a:p>
        <a:p>
          <a:r>
            <a:rPr lang="en-US" dirty="0" smtClean="0"/>
            <a:t>Thru</a:t>
          </a:r>
        </a:p>
        <a:p>
          <a:r>
            <a:rPr lang="en-US" dirty="0" smtClean="0"/>
            <a:t>Value Release</a:t>
          </a:r>
          <a:endParaRPr lang="en-US" dirty="0"/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E32315AD-287F-4C5A-8178-9C12FB284AE9}" type="presOf" srcId="{5DCEAD6A-2995-470E-B294-EFE25C7FA270}" destId="{0564D69C-C697-46C9-AFEA-F63178C739BD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CA40C782-E768-4900-8453-D6EEBE7A0856}" type="presOf" srcId="{673AE5C1-39E1-47D6-9713-8CA9BE6EA1DA}" destId="{F6218397-5286-4BF9-91BC-3A8217C085AF}" srcOrd="0" destOrd="0" presId="urn:microsoft.com/office/officeart/2005/8/layout/hProcess9"/>
    <dgm:cxn modelId="{204E9FB7-1034-451D-879A-529763B18033}" type="presOf" srcId="{56F0B946-F863-43B5-9AE7-3ED2571CC1F7}" destId="{D195289F-4E10-4B57-8C58-6BB3CB9CCF4B}" srcOrd="0" destOrd="0" presId="urn:microsoft.com/office/officeart/2005/8/layout/hProcess9"/>
    <dgm:cxn modelId="{331C9E4D-3B97-454D-B6E3-904B6713F6FD}" type="presOf" srcId="{F75D5E40-C0EA-4FAA-9275-3C70938E00EE}" destId="{EDBBB759-F01A-4C3B-A1A8-D2C8F1E5A578}" srcOrd="0" destOrd="0" presId="urn:microsoft.com/office/officeart/2005/8/layout/hProcess9"/>
    <dgm:cxn modelId="{EC5932F4-A118-4A15-9D10-E01638BB7D78}" type="presParOf" srcId="{F6218397-5286-4BF9-91BC-3A8217C085AF}" destId="{57B6F08F-F180-42E5-86EE-1F47EC70A8B7}" srcOrd="0" destOrd="0" presId="urn:microsoft.com/office/officeart/2005/8/layout/hProcess9"/>
    <dgm:cxn modelId="{A5FAB8E3-7753-469D-A4B6-B4EDCEDE9CF5}" type="presParOf" srcId="{F6218397-5286-4BF9-91BC-3A8217C085AF}" destId="{ED339E6A-99DE-44B5-8942-676116993976}" srcOrd="1" destOrd="0" presId="urn:microsoft.com/office/officeart/2005/8/layout/hProcess9"/>
    <dgm:cxn modelId="{75F663C9-0005-4388-B97F-4E789864985E}" type="presParOf" srcId="{ED339E6A-99DE-44B5-8942-676116993976}" destId="{D195289F-4E10-4B57-8C58-6BB3CB9CCF4B}" srcOrd="0" destOrd="0" presId="urn:microsoft.com/office/officeart/2005/8/layout/hProcess9"/>
    <dgm:cxn modelId="{4E10D462-BE8B-4A56-BC43-1A58D4C9567B}" type="presParOf" srcId="{ED339E6A-99DE-44B5-8942-676116993976}" destId="{B5A6657B-DFA9-42AD-BD72-82BAEBF8B87E}" srcOrd="1" destOrd="0" presId="urn:microsoft.com/office/officeart/2005/8/layout/hProcess9"/>
    <dgm:cxn modelId="{7F3B2439-53D4-4760-A727-A26725EC6599}" type="presParOf" srcId="{ED339E6A-99DE-44B5-8942-676116993976}" destId="{EDBBB759-F01A-4C3B-A1A8-D2C8F1E5A578}" srcOrd="2" destOrd="0" presId="urn:microsoft.com/office/officeart/2005/8/layout/hProcess9"/>
    <dgm:cxn modelId="{929A9DDA-E11C-4BFE-AF26-B168B9AE7B5A}" type="presParOf" srcId="{ED339E6A-99DE-44B5-8942-676116993976}" destId="{7E687DF4-201B-4FB8-B89C-9863D30313FA}" srcOrd="3" destOrd="0" presId="urn:microsoft.com/office/officeart/2005/8/layout/hProcess9"/>
    <dgm:cxn modelId="{5DE68921-0322-4125-8026-012E7DCF02D4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417CDC-9B3A-41AC-A68E-E0C6538CA504}" type="doc">
      <dgm:prSet loTypeId="urn:microsoft.com/office/officeart/2005/8/layout/pyramid2" loCatId="list" qsTypeId="urn:microsoft.com/office/officeart/2005/8/quickstyle/3d2" qsCatId="3D" csTypeId="urn:microsoft.com/office/officeart/2005/8/colors/accent1_2" csCatId="accent1" phldr="1"/>
      <dgm:spPr/>
    </dgm:pt>
    <dgm:pt modelId="{191EE3EC-BB60-4377-95CE-6E6D00913C3A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Providers</a:t>
          </a:r>
        </a:p>
        <a:p>
          <a:r>
            <a:rPr lang="en-US" sz="1600" dirty="0" smtClean="0"/>
            <a:t>(Drugs, Devices, Information)</a:t>
          </a:r>
          <a:endParaRPr lang="en-US" sz="1600" dirty="0"/>
        </a:p>
      </dgm:t>
    </dgm:pt>
    <dgm:pt modelId="{3D42F666-0AC1-48EA-B662-A2637E04720E}" type="parTrans" cxnId="{4A43FAB6-8196-4282-85FB-B7DA60189965}">
      <dgm:prSet/>
      <dgm:spPr/>
      <dgm:t>
        <a:bodyPr/>
        <a:lstStyle/>
        <a:p>
          <a:endParaRPr lang="en-US"/>
        </a:p>
      </dgm:t>
    </dgm:pt>
    <dgm:pt modelId="{270EBC4A-3809-4540-A8C6-5524DC656566}" type="sibTrans" cxnId="{4A43FAB6-8196-4282-85FB-B7DA60189965}">
      <dgm:prSet/>
      <dgm:spPr/>
      <dgm:t>
        <a:bodyPr/>
        <a:lstStyle/>
        <a:p>
          <a:endParaRPr lang="en-US"/>
        </a:p>
      </dgm:t>
    </dgm:pt>
    <dgm:pt modelId="{8073C779-336E-46C9-860C-3C4F4AECF67F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Practitioners</a:t>
          </a:r>
        </a:p>
        <a:p>
          <a:r>
            <a:rPr lang="en-US" sz="1600" dirty="0" smtClean="0"/>
            <a:t>(Physicians, Nurses, Caretakers)</a:t>
          </a:r>
        </a:p>
      </dgm:t>
    </dgm:pt>
    <dgm:pt modelId="{D18E08F7-BE13-423C-87FA-86610643765B}" type="parTrans" cxnId="{81E2B122-2507-4BB7-BF7D-71765D73ACB2}">
      <dgm:prSet/>
      <dgm:spPr/>
      <dgm:t>
        <a:bodyPr/>
        <a:lstStyle/>
        <a:p>
          <a:endParaRPr lang="en-US"/>
        </a:p>
      </dgm:t>
    </dgm:pt>
    <dgm:pt modelId="{48F132AB-0353-48BF-9CBD-9B16492A0344}" type="sibTrans" cxnId="{81E2B122-2507-4BB7-BF7D-71765D73ACB2}">
      <dgm:prSet/>
      <dgm:spPr/>
      <dgm:t>
        <a:bodyPr/>
        <a:lstStyle/>
        <a:p>
          <a:endParaRPr lang="en-US"/>
        </a:p>
      </dgm:t>
    </dgm:pt>
    <dgm:pt modelId="{1492EAF2-D809-4557-BCF4-56061EA4F8E2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Patients</a:t>
          </a:r>
        </a:p>
        <a:p>
          <a:r>
            <a:rPr lang="en-US" sz="1600" dirty="0" smtClean="0"/>
            <a:t>(Hospitals, Alt. Sites, Home)</a:t>
          </a:r>
          <a:endParaRPr lang="en-US" sz="1600" dirty="0"/>
        </a:p>
      </dgm:t>
    </dgm:pt>
    <dgm:pt modelId="{183B7E30-9B71-4473-8BFB-DAAC4ADB2067}" type="parTrans" cxnId="{2D51AA2C-141E-439A-8FFF-1FEAB01AA1C1}">
      <dgm:prSet/>
      <dgm:spPr/>
      <dgm:t>
        <a:bodyPr/>
        <a:lstStyle/>
        <a:p>
          <a:endParaRPr lang="en-US"/>
        </a:p>
      </dgm:t>
    </dgm:pt>
    <dgm:pt modelId="{099E7165-6B32-4034-A1B3-509FF272EE67}" type="sibTrans" cxnId="{2D51AA2C-141E-439A-8FFF-1FEAB01AA1C1}">
      <dgm:prSet/>
      <dgm:spPr/>
      <dgm:t>
        <a:bodyPr/>
        <a:lstStyle/>
        <a:p>
          <a:endParaRPr lang="en-US"/>
        </a:p>
      </dgm:t>
    </dgm:pt>
    <dgm:pt modelId="{2EEF81A0-E70C-4C7C-B4B0-9EE9E25D31EE}" type="pres">
      <dgm:prSet presAssocID="{AF417CDC-9B3A-41AC-A68E-E0C6538CA504}" presName="compositeShape" presStyleCnt="0">
        <dgm:presLayoutVars>
          <dgm:dir/>
          <dgm:resizeHandles/>
        </dgm:presLayoutVars>
      </dgm:prSet>
      <dgm:spPr/>
    </dgm:pt>
    <dgm:pt modelId="{C17817A9-C4DE-49BF-8C1D-4124E047DFB9}" type="pres">
      <dgm:prSet presAssocID="{AF417CDC-9B3A-41AC-A68E-E0C6538CA504}" presName="pyramid" presStyleLbl="node1" presStyleIdx="0" presStyleCnt="1"/>
      <dgm:spPr/>
    </dgm:pt>
    <dgm:pt modelId="{97D661A3-DA34-4970-9A0D-34E97679DFC9}" type="pres">
      <dgm:prSet presAssocID="{AF417CDC-9B3A-41AC-A68E-E0C6538CA504}" presName="theList" presStyleCnt="0"/>
      <dgm:spPr/>
    </dgm:pt>
    <dgm:pt modelId="{2D970AC9-46C8-4548-96E5-DA10D684460C}" type="pres">
      <dgm:prSet presAssocID="{191EE3EC-BB60-4377-95CE-6E6D00913C3A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9EF443-F792-497B-BD71-3BD6E3ACADF1}" type="pres">
      <dgm:prSet presAssocID="{191EE3EC-BB60-4377-95CE-6E6D00913C3A}" presName="aSpace" presStyleCnt="0"/>
      <dgm:spPr/>
    </dgm:pt>
    <dgm:pt modelId="{4BA2D08E-3F37-4C9B-AF1A-AF070EDB1AF8}" type="pres">
      <dgm:prSet presAssocID="{8073C779-336E-46C9-860C-3C4F4AECF67F}" presName="aNode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8BBD7D-9B64-4267-B8C1-9603A80ED08A}" type="pres">
      <dgm:prSet presAssocID="{8073C779-336E-46C9-860C-3C4F4AECF67F}" presName="aSpace" presStyleCnt="0"/>
      <dgm:spPr/>
    </dgm:pt>
    <dgm:pt modelId="{14F6B660-5636-4F93-AFFF-4992B4D5718E}" type="pres">
      <dgm:prSet presAssocID="{1492EAF2-D809-4557-BCF4-56061EA4F8E2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EECE6D-C2CC-44A0-8C2D-5AFED59F01F4}" type="pres">
      <dgm:prSet presAssocID="{1492EAF2-D809-4557-BCF4-56061EA4F8E2}" presName="aSpace" presStyleCnt="0"/>
      <dgm:spPr/>
    </dgm:pt>
  </dgm:ptLst>
  <dgm:cxnLst>
    <dgm:cxn modelId="{6EE1283D-151F-4334-BE97-8BA325C33E19}" type="presOf" srcId="{8073C779-336E-46C9-860C-3C4F4AECF67F}" destId="{4BA2D08E-3F37-4C9B-AF1A-AF070EDB1AF8}" srcOrd="0" destOrd="0" presId="urn:microsoft.com/office/officeart/2005/8/layout/pyramid2"/>
    <dgm:cxn modelId="{B21148E8-00C8-445D-8697-F59E1E03C256}" type="presOf" srcId="{1492EAF2-D809-4557-BCF4-56061EA4F8E2}" destId="{14F6B660-5636-4F93-AFFF-4992B4D5718E}" srcOrd="0" destOrd="0" presId="urn:microsoft.com/office/officeart/2005/8/layout/pyramid2"/>
    <dgm:cxn modelId="{2A3543EF-EECA-4063-B47E-944D0AFFD8E6}" type="presOf" srcId="{191EE3EC-BB60-4377-95CE-6E6D00913C3A}" destId="{2D970AC9-46C8-4548-96E5-DA10D684460C}" srcOrd="0" destOrd="0" presId="urn:microsoft.com/office/officeart/2005/8/layout/pyramid2"/>
    <dgm:cxn modelId="{81E2B122-2507-4BB7-BF7D-71765D73ACB2}" srcId="{AF417CDC-9B3A-41AC-A68E-E0C6538CA504}" destId="{8073C779-336E-46C9-860C-3C4F4AECF67F}" srcOrd="1" destOrd="0" parTransId="{D18E08F7-BE13-423C-87FA-86610643765B}" sibTransId="{48F132AB-0353-48BF-9CBD-9B16492A0344}"/>
    <dgm:cxn modelId="{2D51AA2C-141E-439A-8FFF-1FEAB01AA1C1}" srcId="{AF417CDC-9B3A-41AC-A68E-E0C6538CA504}" destId="{1492EAF2-D809-4557-BCF4-56061EA4F8E2}" srcOrd="2" destOrd="0" parTransId="{183B7E30-9B71-4473-8BFB-DAAC4ADB2067}" sibTransId="{099E7165-6B32-4034-A1B3-509FF272EE67}"/>
    <dgm:cxn modelId="{4A43FAB6-8196-4282-85FB-B7DA60189965}" srcId="{AF417CDC-9B3A-41AC-A68E-E0C6538CA504}" destId="{191EE3EC-BB60-4377-95CE-6E6D00913C3A}" srcOrd="0" destOrd="0" parTransId="{3D42F666-0AC1-48EA-B662-A2637E04720E}" sibTransId="{270EBC4A-3809-4540-A8C6-5524DC656566}"/>
    <dgm:cxn modelId="{A3810F14-2E91-4EA1-BCB2-AC96034E6470}" type="presOf" srcId="{AF417CDC-9B3A-41AC-A68E-E0C6538CA504}" destId="{2EEF81A0-E70C-4C7C-B4B0-9EE9E25D31EE}" srcOrd="0" destOrd="0" presId="urn:microsoft.com/office/officeart/2005/8/layout/pyramid2"/>
    <dgm:cxn modelId="{0B165261-116B-4D1A-87BC-37B61811503F}" type="presParOf" srcId="{2EEF81A0-E70C-4C7C-B4B0-9EE9E25D31EE}" destId="{C17817A9-C4DE-49BF-8C1D-4124E047DFB9}" srcOrd="0" destOrd="0" presId="urn:microsoft.com/office/officeart/2005/8/layout/pyramid2"/>
    <dgm:cxn modelId="{FB8A4268-3D48-4448-9650-B9C8A141CF74}" type="presParOf" srcId="{2EEF81A0-E70C-4C7C-B4B0-9EE9E25D31EE}" destId="{97D661A3-DA34-4970-9A0D-34E97679DFC9}" srcOrd="1" destOrd="0" presId="urn:microsoft.com/office/officeart/2005/8/layout/pyramid2"/>
    <dgm:cxn modelId="{05801D98-F778-4CE6-8F00-E17A83516C84}" type="presParOf" srcId="{97D661A3-DA34-4970-9A0D-34E97679DFC9}" destId="{2D970AC9-46C8-4548-96E5-DA10D684460C}" srcOrd="0" destOrd="0" presId="urn:microsoft.com/office/officeart/2005/8/layout/pyramid2"/>
    <dgm:cxn modelId="{343A1CF6-5F6E-497D-9525-2564AAEADF10}" type="presParOf" srcId="{97D661A3-DA34-4970-9A0D-34E97679DFC9}" destId="{CA9EF443-F792-497B-BD71-3BD6E3ACADF1}" srcOrd="1" destOrd="0" presId="urn:microsoft.com/office/officeart/2005/8/layout/pyramid2"/>
    <dgm:cxn modelId="{CF6937C1-C0CE-4E04-868A-C37B73B83DC4}" type="presParOf" srcId="{97D661A3-DA34-4970-9A0D-34E97679DFC9}" destId="{4BA2D08E-3F37-4C9B-AF1A-AF070EDB1AF8}" srcOrd="2" destOrd="0" presId="urn:microsoft.com/office/officeart/2005/8/layout/pyramid2"/>
    <dgm:cxn modelId="{7E515947-360E-44CF-A9A2-9F501487D519}" type="presParOf" srcId="{97D661A3-DA34-4970-9A0D-34E97679DFC9}" destId="{C68BBD7D-9B64-4267-B8C1-9603A80ED08A}" srcOrd="3" destOrd="0" presId="urn:microsoft.com/office/officeart/2005/8/layout/pyramid2"/>
    <dgm:cxn modelId="{E75545B6-7F3D-452A-91AC-19079E9B6816}" type="presParOf" srcId="{97D661A3-DA34-4970-9A0D-34E97679DFC9}" destId="{14F6B660-5636-4F93-AFFF-4992B4D5718E}" srcOrd="4" destOrd="0" presId="urn:microsoft.com/office/officeart/2005/8/layout/pyramid2"/>
    <dgm:cxn modelId="{AE182FC0-3601-4561-809A-046D6969CE1D}" type="presParOf" srcId="{97D661A3-DA34-4970-9A0D-34E97679DFC9}" destId="{28EECE6D-C2CC-44A0-8C2D-5AFED59F01F4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9C8D6C-34E9-4C0C-BCBD-DFB9CDC55631}" type="doc">
      <dgm:prSet loTypeId="urn:microsoft.com/office/officeart/2005/8/layout/cycle2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EF2CA6-CB89-4C75-A47A-2A8DFD1700AB}">
      <dgm:prSet phldrT="[Text]"/>
      <dgm:spPr/>
      <dgm:t>
        <a:bodyPr/>
        <a:lstStyle/>
        <a:p>
          <a:r>
            <a:rPr lang="en-US" b="1" dirty="0" smtClean="0"/>
            <a:t>Open</a:t>
          </a:r>
        </a:p>
        <a:p>
          <a:r>
            <a:rPr lang="en-US" b="1" dirty="0" smtClean="0"/>
            <a:t>Innovation</a:t>
          </a:r>
        </a:p>
      </dgm:t>
    </dgm:pt>
    <dgm:pt modelId="{A3F52EF7-CA2D-472D-8953-5740FD3FBE89}" type="parTrans" cxnId="{942F4963-0A6B-48E7-946E-2C992B3B8FC9}">
      <dgm:prSet/>
      <dgm:spPr/>
      <dgm:t>
        <a:bodyPr/>
        <a:lstStyle/>
        <a:p>
          <a:endParaRPr lang="en-US" b="1"/>
        </a:p>
      </dgm:t>
    </dgm:pt>
    <dgm:pt modelId="{D6F595D2-470C-401C-A533-3E80B84244AA}" type="sibTrans" cxnId="{942F4963-0A6B-48E7-946E-2C992B3B8FC9}">
      <dgm:prSet/>
      <dgm:spPr/>
      <dgm:t>
        <a:bodyPr/>
        <a:lstStyle/>
        <a:p>
          <a:endParaRPr lang="en-US" b="1"/>
        </a:p>
      </dgm:t>
    </dgm:pt>
    <dgm:pt modelId="{F1CE9FE8-D255-4002-AFE1-7D2B290D77A4}">
      <dgm:prSet phldrT="[Text]"/>
      <dgm:spPr/>
      <dgm:t>
        <a:bodyPr/>
        <a:lstStyle/>
        <a:p>
          <a:r>
            <a:rPr lang="en-US" b="1" dirty="0" smtClean="0"/>
            <a:t>Centrally Managed</a:t>
          </a:r>
        </a:p>
        <a:p>
          <a:r>
            <a:rPr lang="en-US" b="1" dirty="0" smtClean="0"/>
            <a:t>IP</a:t>
          </a:r>
          <a:endParaRPr lang="en-US" b="1" dirty="0"/>
        </a:p>
      </dgm:t>
    </dgm:pt>
    <dgm:pt modelId="{837CB7C6-C7B3-4BFD-ACFC-982D4024BC99}" type="parTrans" cxnId="{FA575F71-8581-4A58-AEF3-CAE277D8A3C2}">
      <dgm:prSet/>
      <dgm:spPr/>
      <dgm:t>
        <a:bodyPr/>
        <a:lstStyle/>
        <a:p>
          <a:endParaRPr lang="en-US" b="1"/>
        </a:p>
      </dgm:t>
    </dgm:pt>
    <dgm:pt modelId="{ACC9FE0A-FD41-47FD-A639-30E1D7390D3C}" type="sibTrans" cxnId="{FA575F71-8581-4A58-AEF3-CAE277D8A3C2}">
      <dgm:prSet/>
      <dgm:spPr/>
      <dgm:t>
        <a:bodyPr/>
        <a:lstStyle/>
        <a:p>
          <a:endParaRPr lang="en-US" b="1"/>
        </a:p>
      </dgm:t>
    </dgm:pt>
    <dgm:pt modelId="{6C0CCD30-116E-48B1-9F0C-6D8A7EE2F2A8}">
      <dgm:prSet phldrT="[Text]"/>
      <dgm:spPr/>
      <dgm:t>
        <a:bodyPr/>
        <a:lstStyle/>
        <a:p>
          <a:r>
            <a:rPr lang="en-US" b="1" dirty="0" smtClean="0"/>
            <a:t>Shared Revenue</a:t>
          </a:r>
        </a:p>
        <a:p>
          <a:r>
            <a:rPr lang="en-US" b="1" dirty="0" smtClean="0"/>
            <a:t>Model</a:t>
          </a:r>
          <a:endParaRPr lang="en-US" b="1" dirty="0"/>
        </a:p>
      </dgm:t>
    </dgm:pt>
    <dgm:pt modelId="{7BFB56C1-5DF6-4B62-AB93-3B39A607FA40}" type="parTrans" cxnId="{C3A24AA5-16D5-45F1-8779-944E0168864C}">
      <dgm:prSet/>
      <dgm:spPr/>
      <dgm:t>
        <a:bodyPr/>
        <a:lstStyle/>
        <a:p>
          <a:endParaRPr lang="en-US" b="1"/>
        </a:p>
      </dgm:t>
    </dgm:pt>
    <dgm:pt modelId="{55E28E46-380A-467B-AE34-589B0252C611}" type="sibTrans" cxnId="{C3A24AA5-16D5-45F1-8779-944E0168864C}">
      <dgm:prSet/>
      <dgm:spPr/>
      <dgm:t>
        <a:bodyPr/>
        <a:lstStyle/>
        <a:p>
          <a:endParaRPr lang="en-US" b="1"/>
        </a:p>
      </dgm:t>
    </dgm:pt>
    <dgm:pt modelId="{2D59D820-0CB4-4E1F-92BB-95FFDD082F73}">
      <dgm:prSet phldrT="[Text]"/>
      <dgm:spPr/>
      <dgm:t>
        <a:bodyPr/>
        <a:lstStyle/>
        <a:p>
          <a:r>
            <a:rPr lang="en-US" b="1" dirty="0" smtClean="0"/>
            <a:t>Results Driven</a:t>
          </a:r>
        </a:p>
        <a:p>
          <a:r>
            <a:rPr lang="en-US" b="1" dirty="0" smtClean="0"/>
            <a:t>Prioritization</a:t>
          </a:r>
          <a:endParaRPr lang="en-US" b="1" dirty="0"/>
        </a:p>
      </dgm:t>
    </dgm:pt>
    <dgm:pt modelId="{C2B488C5-AEE0-4401-9F78-4FE5885DBF01}" type="parTrans" cxnId="{7FA7DB79-3252-4DB3-BCAC-5F0D4ACC17E4}">
      <dgm:prSet/>
      <dgm:spPr/>
      <dgm:t>
        <a:bodyPr/>
        <a:lstStyle/>
        <a:p>
          <a:endParaRPr lang="en-US" b="1"/>
        </a:p>
      </dgm:t>
    </dgm:pt>
    <dgm:pt modelId="{45C84ECF-EE1B-4B49-8EF8-7CAEF2A5F7D7}" type="sibTrans" cxnId="{7FA7DB79-3252-4DB3-BCAC-5F0D4ACC17E4}">
      <dgm:prSet/>
      <dgm:spPr/>
      <dgm:t>
        <a:bodyPr/>
        <a:lstStyle/>
        <a:p>
          <a:endParaRPr lang="en-US" b="1"/>
        </a:p>
      </dgm:t>
    </dgm:pt>
    <dgm:pt modelId="{723CC3D7-5D8F-4BE3-AE6D-CE228595E268}">
      <dgm:prSet phldrT="[Text]"/>
      <dgm:spPr/>
      <dgm:t>
        <a:bodyPr/>
        <a:lstStyle/>
        <a:p>
          <a:r>
            <a:rPr lang="en-US" b="1" dirty="0" smtClean="0"/>
            <a:t>Collaborative</a:t>
          </a:r>
          <a:endParaRPr lang="en-US" b="1" dirty="0"/>
        </a:p>
      </dgm:t>
    </dgm:pt>
    <dgm:pt modelId="{74A6BA20-7C3E-42CE-BD8E-68EC414F7D96}" type="parTrans" cxnId="{2CC842B8-E7B4-45A5-9307-2995A321F13B}">
      <dgm:prSet/>
      <dgm:spPr/>
      <dgm:t>
        <a:bodyPr/>
        <a:lstStyle/>
        <a:p>
          <a:endParaRPr lang="en-US" b="1"/>
        </a:p>
      </dgm:t>
    </dgm:pt>
    <dgm:pt modelId="{73A865D5-5B91-4B22-BA06-C26D9BCB2EE5}" type="sibTrans" cxnId="{2CC842B8-E7B4-45A5-9307-2995A321F13B}">
      <dgm:prSet/>
      <dgm:spPr/>
      <dgm:t>
        <a:bodyPr/>
        <a:lstStyle/>
        <a:p>
          <a:endParaRPr lang="en-US" b="1"/>
        </a:p>
      </dgm:t>
    </dgm:pt>
    <dgm:pt modelId="{DEEF388A-0A0E-4C93-AF3E-70FF1B41590B}" type="pres">
      <dgm:prSet presAssocID="{6C9C8D6C-34E9-4C0C-BCBD-DFB9CDC5563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6CB6EE8-F817-48B1-A2A4-7074F5E20ADC}" type="pres">
      <dgm:prSet presAssocID="{D9EF2CA6-CB89-4C75-A47A-2A8DFD1700AB}" presName="node" presStyleLbl="node1" presStyleIdx="0" presStyleCnt="5" custRadScaleRad="100074" custRadScaleInc="-15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314FF0-C3D4-4067-9A96-DAE7F230A6B3}" type="pres">
      <dgm:prSet presAssocID="{D6F595D2-470C-401C-A533-3E80B84244AA}" presName="sibTrans" presStyleLbl="sibTrans2D1" presStyleIdx="0" presStyleCnt="5"/>
      <dgm:spPr/>
      <dgm:t>
        <a:bodyPr/>
        <a:lstStyle/>
        <a:p>
          <a:endParaRPr lang="en-US"/>
        </a:p>
      </dgm:t>
    </dgm:pt>
    <dgm:pt modelId="{07AFC6E7-B973-46CA-8BED-AD11916A26C6}" type="pres">
      <dgm:prSet presAssocID="{D6F595D2-470C-401C-A533-3E80B84244AA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0BB1AB6A-657E-4BE7-B826-04310CB87FD6}" type="pres">
      <dgm:prSet presAssocID="{F1CE9FE8-D255-4002-AFE1-7D2B290D77A4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2113D7-D3E7-4CB9-BC98-536F54DAF21C}" type="pres">
      <dgm:prSet presAssocID="{ACC9FE0A-FD41-47FD-A639-30E1D7390D3C}" presName="sibTrans" presStyleLbl="sibTrans2D1" presStyleIdx="1" presStyleCnt="5"/>
      <dgm:spPr/>
      <dgm:t>
        <a:bodyPr/>
        <a:lstStyle/>
        <a:p>
          <a:endParaRPr lang="en-US"/>
        </a:p>
      </dgm:t>
    </dgm:pt>
    <dgm:pt modelId="{F38FA08F-FE08-42BB-8EE8-5C1C65DF85EB}" type="pres">
      <dgm:prSet presAssocID="{ACC9FE0A-FD41-47FD-A639-30E1D7390D3C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A7C42B21-429E-4C68-A376-78D2C78D89EA}" type="pres">
      <dgm:prSet presAssocID="{6C0CCD30-116E-48B1-9F0C-6D8A7EE2F2A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18EA10-55B7-4FA2-B1AF-880978BD726E}" type="pres">
      <dgm:prSet presAssocID="{55E28E46-380A-467B-AE34-589B0252C611}" presName="sibTrans" presStyleLbl="sibTrans2D1" presStyleIdx="2" presStyleCnt="5"/>
      <dgm:spPr/>
      <dgm:t>
        <a:bodyPr/>
        <a:lstStyle/>
        <a:p>
          <a:endParaRPr lang="en-US"/>
        </a:p>
      </dgm:t>
    </dgm:pt>
    <dgm:pt modelId="{A2460FAC-F0F1-4820-B573-16079F413D80}" type="pres">
      <dgm:prSet presAssocID="{55E28E46-380A-467B-AE34-589B0252C611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225F2983-0321-4A3D-86C7-7E3CCDC569BC}" type="pres">
      <dgm:prSet presAssocID="{2D59D820-0CB4-4E1F-92BB-95FFDD082F73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D0551F-936B-4658-B33F-A836AF1BBB65}" type="pres">
      <dgm:prSet presAssocID="{45C84ECF-EE1B-4B49-8EF8-7CAEF2A5F7D7}" presName="sibTrans" presStyleLbl="sibTrans2D1" presStyleIdx="3" presStyleCnt="5"/>
      <dgm:spPr/>
      <dgm:t>
        <a:bodyPr/>
        <a:lstStyle/>
        <a:p>
          <a:endParaRPr lang="en-US"/>
        </a:p>
      </dgm:t>
    </dgm:pt>
    <dgm:pt modelId="{DBEDE08A-D6E8-4108-896E-C113DB47C979}" type="pres">
      <dgm:prSet presAssocID="{45C84ECF-EE1B-4B49-8EF8-7CAEF2A5F7D7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C3DD57C0-4A46-47E8-A3EB-683924E5F05E}" type="pres">
      <dgm:prSet presAssocID="{723CC3D7-5D8F-4BE3-AE6D-CE228595E268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5E6119-54FA-4530-870F-778E283C0BD5}" type="pres">
      <dgm:prSet presAssocID="{73A865D5-5B91-4B22-BA06-C26D9BCB2EE5}" presName="sibTrans" presStyleLbl="sibTrans2D1" presStyleIdx="4" presStyleCnt="5"/>
      <dgm:spPr/>
      <dgm:t>
        <a:bodyPr/>
        <a:lstStyle/>
        <a:p>
          <a:endParaRPr lang="en-US"/>
        </a:p>
      </dgm:t>
    </dgm:pt>
    <dgm:pt modelId="{DBE7C2DC-A3D5-4950-9D16-A38DF0EA4010}" type="pres">
      <dgm:prSet presAssocID="{73A865D5-5B91-4B22-BA06-C26D9BCB2EE5}" presName="connectorText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354CA971-1877-4963-A2BB-135428611037}" type="presOf" srcId="{D6F595D2-470C-401C-A533-3E80B84244AA}" destId="{07AFC6E7-B973-46CA-8BED-AD11916A26C6}" srcOrd="1" destOrd="0" presId="urn:microsoft.com/office/officeart/2005/8/layout/cycle2"/>
    <dgm:cxn modelId="{2F0F4320-A845-4B39-A254-718A2EC4D76D}" type="presOf" srcId="{723CC3D7-5D8F-4BE3-AE6D-CE228595E268}" destId="{C3DD57C0-4A46-47E8-A3EB-683924E5F05E}" srcOrd="0" destOrd="0" presId="urn:microsoft.com/office/officeart/2005/8/layout/cycle2"/>
    <dgm:cxn modelId="{40AE9B77-7F91-4AFC-B4EF-7DB8A399F384}" type="presOf" srcId="{45C84ECF-EE1B-4B49-8EF8-7CAEF2A5F7D7}" destId="{DBEDE08A-D6E8-4108-896E-C113DB47C979}" srcOrd="1" destOrd="0" presId="urn:microsoft.com/office/officeart/2005/8/layout/cycle2"/>
    <dgm:cxn modelId="{BEAAD8BD-30BA-4EF6-BFC1-3830F4C2C98E}" type="presOf" srcId="{2D59D820-0CB4-4E1F-92BB-95FFDD082F73}" destId="{225F2983-0321-4A3D-86C7-7E3CCDC569BC}" srcOrd="0" destOrd="0" presId="urn:microsoft.com/office/officeart/2005/8/layout/cycle2"/>
    <dgm:cxn modelId="{A4433A16-48F6-48F7-856A-9E9BBDBC49AC}" type="presOf" srcId="{ACC9FE0A-FD41-47FD-A639-30E1D7390D3C}" destId="{F38FA08F-FE08-42BB-8EE8-5C1C65DF85EB}" srcOrd="1" destOrd="0" presId="urn:microsoft.com/office/officeart/2005/8/layout/cycle2"/>
    <dgm:cxn modelId="{3993E6AF-50BE-4607-805C-75760156EC02}" type="presOf" srcId="{F1CE9FE8-D255-4002-AFE1-7D2B290D77A4}" destId="{0BB1AB6A-657E-4BE7-B826-04310CB87FD6}" srcOrd="0" destOrd="0" presId="urn:microsoft.com/office/officeart/2005/8/layout/cycle2"/>
    <dgm:cxn modelId="{16240303-29ED-48F1-815A-801CD3FCE4B6}" type="presOf" srcId="{D6F595D2-470C-401C-A533-3E80B84244AA}" destId="{E7314FF0-C3D4-4067-9A96-DAE7F230A6B3}" srcOrd="0" destOrd="0" presId="urn:microsoft.com/office/officeart/2005/8/layout/cycle2"/>
    <dgm:cxn modelId="{7FA7DB79-3252-4DB3-BCAC-5F0D4ACC17E4}" srcId="{6C9C8D6C-34E9-4C0C-BCBD-DFB9CDC55631}" destId="{2D59D820-0CB4-4E1F-92BB-95FFDD082F73}" srcOrd="3" destOrd="0" parTransId="{C2B488C5-AEE0-4401-9F78-4FE5885DBF01}" sibTransId="{45C84ECF-EE1B-4B49-8EF8-7CAEF2A5F7D7}"/>
    <dgm:cxn modelId="{A5D684EA-FA1B-4B67-96D9-057DFD770C82}" type="presOf" srcId="{73A865D5-5B91-4B22-BA06-C26D9BCB2EE5}" destId="{C25E6119-54FA-4530-870F-778E283C0BD5}" srcOrd="0" destOrd="0" presId="urn:microsoft.com/office/officeart/2005/8/layout/cycle2"/>
    <dgm:cxn modelId="{22E91B80-EB3C-4B23-9285-E5669527C98B}" type="presOf" srcId="{73A865D5-5B91-4B22-BA06-C26D9BCB2EE5}" destId="{DBE7C2DC-A3D5-4950-9D16-A38DF0EA4010}" srcOrd="1" destOrd="0" presId="urn:microsoft.com/office/officeart/2005/8/layout/cycle2"/>
    <dgm:cxn modelId="{C3A24AA5-16D5-45F1-8779-944E0168864C}" srcId="{6C9C8D6C-34E9-4C0C-BCBD-DFB9CDC55631}" destId="{6C0CCD30-116E-48B1-9F0C-6D8A7EE2F2A8}" srcOrd="2" destOrd="0" parTransId="{7BFB56C1-5DF6-4B62-AB93-3B39A607FA40}" sibTransId="{55E28E46-380A-467B-AE34-589B0252C611}"/>
    <dgm:cxn modelId="{BBD36A24-62F4-4BBB-8A9A-ABDF574E79E5}" type="presOf" srcId="{45C84ECF-EE1B-4B49-8EF8-7CAEF2A5F7D7}" destId="{A7D0551F-936B-4658-B33F-A836AF1BBB65}" srcOrd="0" destOrd="0" presId="urn:microsoft.com/office/officeart/2005/8/layout/cycle2"/>
    <dgm:cxn modelId="{2CC842B8-E7B4-45A5-9307-2995A321F13B}" srcId="{6C9C8D6C-34E9-4C0C-BCBD-DFB9CDC55631}" destId="{723CC3D7-5D8F-4BE3-AE6D-CE228595E268}" srcOrd="4" destOrd="0" parTransId="{74A6BA20-7C3E-42CE-BD8E-68EC414F7D96}" sibTransId="{73A865D5-5B91-4B22-BA06-C26D9BCB2EE5}"/>
    <dgm:cxn modelId="{EB97AD3A-498F-4DEE-8DB0-4306A85AB3C9}" type="presOf" srcId="{55E28E46-380A-467B-AE34-589B0252C611}" destId="{A2460FAC-F0F1-4820-B573-16079F413D80}" srcOrd="1" destOrd="0" presId="urn:microsoft.com/office/officeart/2005/8/layout/cycle2"/>
    <dgm:cxn modelId="{942F4963-0A6B-48E7-946E-2C992B3B8FC9}" srcId="{6C9C8D6C-34E9-4C0C-BCBD-DFB9CDC55631}" destId="{D9EF2CA6-CB89-4C75-A47A-2A8DFD1700AB}" srcOrd="0" destOrd="0" parTransId="{A3F52EF7-CA2D-472D-8953-5740FD3FBE89}" sibTransId="{D6F595D2-470C-401C-A533-3E80B84244AA}"/>
    <dgm:cxn modelId="{FD46FCC0-5F65-4239-BD84-E4CF0C41C15D}" type="presOf" srcId="{ACC9FE0A-FD41-47FD-A639-30E1D7390D3C}" destId="{3D2113D7-D3E7-4CB9-BC98-536F54DAF21C}" srcOrd="0" destOrd="0" presId="urn:microsoft.com/office/officeart/2005/8/layout/cycle2"/>
    <dgm:cxn modelId="{2E9F8112-EA74-4A02-98C1-4F11FA857FC1}" type="presOf" srcId="{6C0CCD30-116E-48B1-9F0C-6D8A7EE2F2A8}" destId="{A7C42B21-429E-4C68-A376-78D2C78D89EA}" srcOrd="0" destOrd="0" presId="urn:microsoft.com/office/officeart/2005/8/layout/cycle2"/>
    <dgm:cxn modelId="{FA575F71-8581-4A58-AEF3-CAE277D8A3C2}" srcId="{6C9C8D6C-34E9-4C0C-BCBD-DFB9CDC55631}" destId="{F1CE9FE8-D255-4002-AFE1-7D2B290D77A4}" srcOrd="1" destOrd="0" parTransId="{837CB7C6-C7B3-4BFD-ACFC-982D4024BC99}" sibTransId="{ACC9FE0A-FD41-47FD-A639-30E1D7390D3C}"/>
    <dgm:cxn modelId="{BF0A08F2-C4C5-4986-9A44-D6184141B56C}" type="presOf" srcId="{D9EF2CA6-CB89-4C75-A47A-2A8DFD1700AB}" destId="{C6CB6EE8-F817-48B1-A2A4-7074F5E20ADC}" srcOrd="0" destOrd="0" presId="urn:microsoft.com/office/officeart/2005/8/layout/cycle2"/>
    <dgm:cxn modelId="{527A875E-E385-47CD-8952-55931BB9A674}" type="presOf" srcId="{6C9C8D6C-34E9-4C0C-BCBD-DFB9CDC55631}" destId="{DEEF388A-0A0E-4C93-AF3E-70FF1B41590B}" srcOrd="0" destOrd="0" presId="urn:microsoft.com/office/officeart/2005/8/layout/cycle2"/>
    <dgm:cxn modelId="{DEBC7E03-93FB-455E-A071-64973BD961FC}" type="presOf" srcId="{55E28E46-380A-467B-AE34-589B0252C611}" destId="{3B18EA10-55B7-4FA2-B1AF-880978BD726E}" srcOrd="0" destOrd="0" presId="urn:microsoft.com/office/officeart/2005/8/layout/cycle2"/>
    <dgm:cxn modelId="{CDA1EE88-11E2-4EC0-AE42-A66B374CC6C5}" type="presParOf" srcId="{DEEF388A-0A0E-4C93-AF3E-70FF1B41590B}" destId="{C6CB6EE8-F817-48B1-A2A4-7074F5E20ADC}" srcOrd="0" destOrd="0" presId="urn:microsoft.com/office/officeart/2005/8/layout/cycle2"/>
    <dgm:cxn modelId="{384275B7-3A04-47A5-9376-DE05C176A2AF}" type="presParOf" srcId="{DEEF388A-0A0E-4C93-AF3E-70FF1B41590B}" destId="{E7314FF0-C3D4-4067-9A96-DAE7F230A6B3}" srcOrd="1" destOrd="0" presId="urn:microsoft.com/office/officeart/2005/8/layout/cycle2"/>
    <dgm:cxn modelId="{906E51E1-C2BD-41F3-9085-DA0DD5B15883}" type="presParOf" srcId="{E7314FF0-C3D4-4067-9A96-DAE7F230A6B3}" destId="{07AFC6E7-B973-46CA-8BED-AD11916A26C6}" srcOrd="0" destOrd="0" presId="urn:microsoft.com/office/officeart/2005/8/layout/cycle2"/>
    <dgm:cxn modelId="{BAC8B3E8-4AB5-4B3A-A4E3-FC8998F28E31}" type="presParOf" srcId="{DEEF388A-0A0E-4C93-AF3E-70FF1B41590B}" destId="{0BB1AB6A-657E-4BE7-B826-04310CB87FD6}" srcOrd="2" destOrd="0" presId="urn:microsoft.com/office/officeart/2005/8/layout/cycle2"/>
    <dgm:cxn modelId="{B8A525C4-97F4-4F56-B22F-BBD412A68A9F}" type="presParOf" srcId="{DEEF388A-0A0E-4C93-AF3E-70FF1B41590B}" destId="{3D2113D7-D3E7-4CB9-BC98-536F54DAF21C}" srcOrd="3" destOrd="0" presId="urn:microsoft.com/office/officeart/2005/8/layout/cycle2"/>
    <dgm:cxn modelId="{27640018-03E2-4291-9E02-B26E2CAD521E}" type="presParOf" srcId="{3D2113D7-D3E7-4CB9-BC98-536F54DAF21C}" destId="{F38FA08F-FE08-42BB-8EE8-5C1C65DF85EB}" srcOrd="0" destOrd="0" presId="urn:microsoft.com/office/officeart/2005/8/layout/cycle2"/>
    <dgm:cxn modelId="{F3C70AF2-4B0B-4EC7-8496-5214102AEA4D}" type="presParOf" srcId="{DEEF388A-0A0E-4C93-AF3E-70FF1B41590B}" destId="{A7C42B21-429E-4C68-A376-78D2C78D89EA}" srcOrd="4" destOrd="0" presId="urn:microsoft.com/office/officeart/2005/8/layout/cycle2"/>
    <dgm:cxn modelId="{72433398-358C-4442-8C4B-4458D10A0976}" type="presParOf" srcId="{DEEF388A-0A0E-4C93-AF3E-70FF1B41590B}" destId="{3B18EA10-55B7-4FA2-B1AF-880978BD726E}" srcOrd="5" destOrd="0" presId="urn:microsoft.com/office/officeart/2005/8/layout/cycle2"/>
    <dgm:cxn modelId="{E51D4CC2-133A-4FE9-ACF4-3818F46EA74C}" type="presParOf" srcId="{3B18EA10-55B7-4FA2-B1AF-880978BD726E}" destId="{A2460FAC-F0F1-4820-B573-16079F413D80}" srcOrd="0" destOrd="0" presId="urn:microsoft.com/office/officeart/2005/8/layout/cycle2"/>
    <dgm:cxn modelId="{1455D5C1-1EF9-472B-8793-F63B0CBE85D5}" type="presParOf" srcId="{DEEF388A-0A0E-4C93-AF3E-70FF1B41590B}" destId="{225F2983-0321-4A3D-86C7-7E3CCDC569BC}" srcOrd="6" destOrd="0" presId="urn:microsoft.com/office/officeart/2005/8/layout/cycle2"/>
    <dgm:cxn modelId="{19A8F474-9B9B-4827-ADA6-31B060D6EB0B}" type="presParOf" srcId="{DEEF388A-0A0E-4C93-AF3E-70FF1B41590B}" destId="{A7D0551F-936B-4658-B33F-A836AF1BBB65}" srcOrd="7" destOrd="0" presId="urn:microsoft.com/office/officeart/2005/8/layout/cycle2"/>
    <dgm:cxn modelId="{07C6B696-880E-46EC-8FDA-05F191B9B0B7}" type="presParOf" srcId="{A7D0551F-936B-4658-B33F-A836AF1BBB65}" destId="{DBEDE08A-D6E8-4108-896E-C113DB47C979}" srcOrd="0" destOrd="0" presId="urn:microsoft.com/office/officeart/2005/8/layout/cycle2"/>
    <dgm:cxn modelId="{6AA42819-08B5-4E7B-8073-86DDDE16BD8B}" type="presParOf" srcId="{DEEF388A-0A0E-4C93-AF3E-70FF1B41590B}" destId="{C3DD57C0-4A46-47E8-A3EB-683924E5F05E}" srcOrd="8" destOrd="0" presId="urn:microsoft.com/office/officeart/2005/8/layout/cycle2"/>
    <dgm:cxn modelId="{D3716DF0-E003-43E5-9030-54E7DAB89203}" type="presParOf" srcId="{DEEF388A-0A0E-4C93-AF3E-70FF1B41590B}" destId="{C25E6119-54FA-4530-870F-778E283C0BD5}" srcOrd="9" destOrd="0" presId="urn:microsoft.com/office/officeart/2005/8/layout/cycle2"/>
    <dgm:cxn modelId="{BE3A3D76-1DB0-4B4E-8776-675E69D4A176}" type="presParOf" srcId="{C25E6119-54FA-4530-870F-778E283C0BD5}" destId="{DBE7C2DC-A3D5-4950-9D16-A38DF0EA4010}" srcOrd="0" destOrd="0" presId="urn:microsoft.com/office/officeart/2005/8/layout/cycle2"/>
  </dgm:cxnLst>
  <dgm:bg>
    <a:gradFill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5400000" scaled="0"/>
    </a:gradFill>
  </dgm:bg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632142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500187" y="251294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685799" y="2732405"/>
          <a:ext cx="2057400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Priorities</a:t>
          </a:r>
          <a:endParaRPr lang="en-US" sz="1800" b="1" kern="1200" dirty="0"/>
        </a:p>
      </dsp:txBody>
      <dsp:txXfrm>
        <a:off x="685799" y="2732405"/>
        <a:ext cx="2057400" cy="514350"/>
      </dsp:txXfrm>
    </dsp:sp>
    <dsp:sp modelId="{3260B18C-0F12-415C-B2B5-B0D612D38936}">
      <dsp:nvSpPr>
        <dsp:cNvPr id="0" name=""/>
        <dsp:cNvSpPr/>
      </dsp:nvSpPr>
      <dsp:spPr>
        <a:xfrm>
          <a:off x="1409318" y="1459560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Resources</a:t>
          </a:r>
          <a:endParaRPr lang="en-US" sz="800" b="1" kern="1200" dirty="0"/>
        </a:p>
      </dsp:txBody>
      <dsp:txXfrm>
        <a:off x="1409318" y="1459560"/>
        <a:ext cx="771525" cy="771525"/>
      </dsp:txXfrm>
    </dsp:sp>
    <dsp:sp modelId="{F96B2562-BEBF-42CE-9FF0-1BBD38426426}">
      <dsp:nvSpPr>
        <dsp:cNvPr id="0" name=""/>
        <dsp:cNvSpPr/>
      </dsp:nvSpPr>
      <dsp:spPr>
        <a:xfrm>
          <a:off x="857249" y="880745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Ideas</a:t>
          </a:r>
          <a:endParaRPr lang="en-US" sz="800" b="1" kern="1200" dirty="0"/>
        </a:p>
      </dsp:txBody>
      <dsp:txXfrm>
        <a:off x="857249" y="880745"/>
        <a:ext cx="771525" cy="771525"/>
      </dsp:txXfrm>
    </dsp:sp>
    <dsp:sp modelId="{1700B4C8-12E4-4D00-876C-94377F786E85}">
      <dsp:nvSpPr>
        <dsp:cNvPr id="0" name=""/>
        <dsp:cNvSpPr/>
      </dsp:nvSpPr>
      <dsp:spPr>
        <a:xfrm>
          <a:off x="1645920" y="694207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Technology</a:t>
          </a:r>
          <a:endParaRPr lang="en-US" sz="800" b="1" kern="1200" dirty="0"/>
        </a:p>
      </dsp:txBody>
      <dsp:txXfrm>
        <a:off x="1645920" y="694207"/>
        <a:ext cx="771525" cy="771525"/>
      </dsp:txXfrm>
    </dsp:sp>
    <dsp:sp modelId="{CDFE8F55-FE62-4CE9-AB0C-1431255D3302}">
      <dsp:nvSpPr>
        <dsp:cNvPr id="0" name=""/>
        <dsp:cNvSpPr/>
      </dsp:nvSpPr>
      <dsp:spPr>
        <a:xfrm>
          <a:off x="514349" y="537845"/>
          <a:ext cx="2400300" cy="1920240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457210" y="0"/>
          <a:ext cx="3562350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14201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Concept Development</a:t>
          </a:r>
          <a:endParaRPr lang="en-US" sz="1300" kern="1200" dirty="0"/>
        </a:p>
      </dsp:txBody>
      <dsp:txXfrm>
        <a:off x="142019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5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Transitioning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To 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Portfolio</a:t>
          </a:r>
          <a:endParaRPr lang="en-US" sz="1300" kern="1200" dirty="0"/>
        </a:p>
      </dsp:txBody>
      <dsp:txXfrm>
        <a:off x="1466850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79168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Execution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Thru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Value Release</a:t>
          </a:r>
          <a:endParaRPr lang="en-US" sz="1300" kern="1200" dirty="0"/>
        </a:p>
      </dsp:txBody>
      <dsp:txXfrm>
        <a:off x="2791680" y="701040"/>
        <a:ext cx="1257300" cy="93472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17817A9-C4DE-49BF-8C1D-4124E047DFB9}">
      <dsp:nvSpPr>
        <dsp:cNvPr id="0" name=""/>
        <dsp:cNvSpPr/>
      </dsp:nvSpPr>
      <dsp:spPr>
        <a:xfrm>
          <a:off x="530859" y="0"/>
          <a:ext cx="4775200" cy="4775200"/>
        </a:xfrm>
        <a:prstGeom prst="triangl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970AC9-46C8-4548-96E5-DA10D684460C}">
      <dsp:nvSpPr>
        <dsp:cNvPr id="0" name=""/>
        <dsp:cNvSpPr/>
      </dsp:nvSpPr>
      <dsp:spPr>
        <a:xfrm>
          <a:off x="2918459" y="480084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Providers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(Drugs, Devices, Information)</a:t>
          </a:r>
          <a:endParaRPr lang="en-US" sz="1600" kern="1200" dirty="0"/>
        </a:p>
      </dsp:txBody>
      <dsp:txXfrm>
        <a:off x="2918459" y="480084"/>
        <a:ext cx="3103880" cy="1130379"/>
      </dsp:txXfrm>
    </dsp:sp>
    <dsp:sp modelId="{4BA2D08E-3F37-4C9B-AF1A-AF070EDB1AF8}">
      <dsp:nvSpPr>
        <dsp:cNvPr id="0" name=""/>
        <dsp:cNvSpPr/>
      </dsp:nvSpPr>
      <dsp:spPr>
        <a:xfrm>
          <a:off x="2918459" y="1751761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Practitioners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(Physicians, Nurses, Caretakers)</a:t>
          </a:r>
        </a:p>
      </dsp:txBody>
      <dsp:txXfrm>
        <a:off x="2918459" y="1751761"/>
        <a:ext cx="3103880" cy="1130379"/>
      </dsp:txXfrm>
    </dsp:sp>
    <dsp:sp modelId="{14F6B660-5636-4F93-AFFF-4992B4D5718E}">
      <dsp:nvSpPr>
        <dsp:cNvPr id="0" name=""/>
        <dsp:cNvSpPr/>
      </dsp:nvSpPr>
      <dsp:spPr>
        <a:xfrm>
          <a:off x="2918459" y="3023438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Patients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(Hospitals, Alt. Sites, Home)</a:t>
          </a:r>
          <a:endParaRPr lang="en-US" sz="1600" kern="1200" dirty="0"/>
        </a:p>
      </dsp:txBody>
      <dsp:txXfrm>
        <a:off x="2918459" y="3023438"/>
        <a:ext cx="3103880" cy="1130379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6CB6EE8-F817-48B1-A2A4-7074F5E20ADC}">
      <dsp:nvSpPr>
        <dsp:cNvPr id="0" name=""/>
        <dsp:cNvSpPr/>
      </dsp:nvSpPr>
      <dsp:spPr>
        <a:xfrm>
          <a:off x="2057396" y="0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Open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Innovation</a:t>
          </a:r>
        </a:p>
      </dsp:txBody>
      <dsp:txXfrm>
        <a:off x="2057396" y="0"/>
        <a:ext cx="1188950" cy="1188950"/>
      </dsp:txXfrm>
    </dsp:sp>
    <dsp:sp modelId="{E7314FF0-C3D4-4067-9A96-DAE7F230A6B3}">
      <dsp:nvSpPr>
        <dsp:cNvPr id="0" name=""/>
        <dsp:cNvSpPr/>
      </dsp:nvSpPr>
      <dsp:spPr>
        <a:xfrm rot="2144603">
          <a:off x="3212635" y="913462"/>
          <a:ext cx="32242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2144603">
        <a:off x="3212635" y="913462"/>
        <a:ext cx="322428" cy="401270"/>
      </dsp:txXfrm>
    </dsp:sp>
    <dsp:sp modelId="{0BB1AB6A-657E-4BE7-B826-04310CB87FD6}">
      <dsp:nvSpPr>
        <dsp:cNvPr id="0" name=""/>
        <dsp:cNvSpPr/>
      </dsp:nvSpPr>
      <dsp:spPr>
        <a:xfrm>
          <a:off x="3516165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Centrally Managed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IP</a:t>
          </a:r>
          <a:endParaRPr lang="en-US" sz="1100" b="1" kern="1200" dirty="0"/>
        </a:p>
      </dsp:txBody>
      <dsp:txXfrm>
        <a:off x="3516165" y="1049907"/>
        <a:ext cx="1188950" cy="1188950"/>
      </dsp:txXfrm>
    </dsp:sp>
    <dsp:sp modelId="{3D2113D7-D3E7-4CB9-BC98-536F54DAF21C}">
      <dsp:nvSpPr>
        <dsp:cNvPr id="0" name=""/>
        <dsp:cNvSpPr/>
      </dsp:nvSpPr>
      <dsp:spPr>
        <a:xfrm rot="6480000">
          <a:off x="3679885" y="228380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6480000">
        <a:off x="3679885" y="2283802"/>
        <a:ext cx="315608" cy="401270"/>
      </dsp:txXfrm>
    </dsp:sp>
    <dsp:sp modelId="{A7C42B21-429E-4C68-A376-78D2C78D89EA}">
      <dsp:nvSpPr>
        <dsp:cNvPr id="0" name=""/>
        <dsp:cNvSpPr/>
      </dsp:nvSpPr>
      <dsp:spPr>
        <a:xfrm>
          <a:off x="2964743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Shared Revenue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Model</a:t>
          </a:r>
          <a:endParaRPr lang="en-US" sz="1100" b="1" kern="1200" dirty="0"/>
        </a:p>
      </dsp:txBody>
      <dsp:txXfrm>
        <a:off x="2964743" y="2747008"/>
        <a:ext cx="1188950" cy="1188950"/>
      </dsp:txXfrm>
    </dsp:sp>
    <dsp:sp modelId="{3B18EA10-55B7-4FA2-B1AF-880978BD726E}">
      <dsp:nvSpPr>
        <dsp:cNvPr id="0" name=""/>
        <dsp:cNvSpPr/>
      </dsp:nvSpPr>
      <dsp:spPr>
        <a:xfrm rot="10800000">
          <a:off x="2518128" y="3140848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10800000">
        <a:off x="2518128" y="3140848"/>
        <a:ext cx="315608" cy="401270"/>
      </dsp:txXfrm>
    </dsp:sp>
    <dsp:sp modelId="{225F2983-0321-4A3D-86C7-7E3CCDC569BC}">
      <dsp:nvSpPr>
        <dsp:cNvPr id="0" name=""/>
        <dsp:cNvSpPr/>
      </dsp:nvSpPr>
      <dsp:spPr>
        <a:xfrm>
          <a:off x="1180305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Results Driven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Prioritization</a:t>
          </a:r>
          <a:endParaRPr lang="en-US" sz="1100" b="1" kern="1200" dirty="0"/>
        </a:p>
      </dsp:txBody>
      <dsp:txXfrm>
        <a:off x="1180305" y="2747008"/>
        <a:ext cx="1188950" cy="1188950"/>
      </dsp:txXfrm>
    </dsp:sp>
    <dsp:sp modelId="{A7D0551F-936B-4658-B33F-A836AF1BBB65}">
      <dsp:nvSpPr>
        <dsp:cNvPr id="0" name=""/>
        <dsp:cNvSpPr/>
      </dsp:nvSpPr>
      <dsp:spPr>
        <a:xfrm rot="15120000">
          <a:off x="1344026" y="230079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15120000">
        <a:off x="1344026" y="2300792"/>
        <a:ext cx="315608" cy="401270"/>
      </dsp:txXfrm>
    </dsp:sp>
    <dsp:sp modelId="{C3DD57C0-4A46-47E8-A3EB-683924E5F05E}">
      <dsp:nvSpPr>
        <dsp:cNvPr id="0" name=""/>
        <dsp:cNvSpPr/>
      </dsp:nvSpPr>
      <dsp:spPr>
        <a:xfrm>
          <a:off x="628884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Collaborative</a:t>
          </a:r>
          <a:endParaRPr lang="en-US" sz="1100" b="1" kern="1200" dirty="0"/>
        </a:p>
      </dsp:txBody>
      <dsp:txXfrm>
        <a:off x="628884" y="1049907"/>
        <a:ext cx="1188950" cy="1188950"/>
      </dsp:txXfrm>
    </dsp:sp>
    <dsp:sp modelId="{C25E6119-54FA-4530-870F-778E283C0BD5}">
      <dsp:nvSpPr>
        <dsp:cNvPr id="0" name=""/>
        <dsp:cNvSpPr/>
      </dsp:nvSpPr>
      <dsp:spPr>
        <a:xfrm rot="19421124">
          <a:off x="1775828" y="923980"/>
          <a:ext cx="309460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19421124">
        <a:off x="1775828" y="923980"/>
        <a:ext cx="309460" cy="401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E478425-4FD2-43EE-91BD-BCFC307291F8}" type="datetime1">
              <a:rPr lang="en-US"/>
              <a:pPr/>
              <a:t>8/19/2009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54E737C-C255-453C-8F0B-6BB8CAB56B1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fld id="{38B5F877-A15A-47D9-96AB-6BF40B71EAB5}" type="datetime1">
              <a:rPr lang="en-US"/>
              <a:pPr/>
              <a:t>8/19/2009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fld id="{E35D1681-EA57-4A8E-9AFA-5549DF72F7B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C0F159D-9258-4456-ACAD-B6DC6063ED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8D26F5A-CFD1-4443-B8D2-F55750699CD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9600DA93-BED3-4A2E-ADB3-D5CB6E2791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14D7C4C-8711-4B79-B9CE-B36453064FD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ACD7AF8B-134D-4BBB-9775-B72507E5DA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FA082BF2-F9F0-4E7A-85DC-6DCB549857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315F2CE5-EFFD-41CE-84A4-989AB2A3B7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14BD375D-7C67-4B13-A1C2-407AAEC3B3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D17112B3-EAB6-4BF2-A057-568461F473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A4F57B9A-091F-4719-AA80-C17736E8F1D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fld id="{98D26F5A-CFD1-4443-B8D2-F55750699CD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A New Value Proposition</a:t>
            </a:r>
            <a:br>
              <a:rPr lang="en-US" b="1" smtClean="0"/>
            </a:br>
            <a:r>
              <a:rPr lang="en-US" b="1" smtClean="0"/>
              <a:t>for the AMA</a:t>
            </a:r>
          </a:p>
        </p:txBody>
      </p:sp>
      <p:pic>
        <p:nvPicPr>
          <p:cNvPr id="1433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7413" y="3733800"/>
            <a:ext cx="2744787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Outline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Current Challenges</a:t>
            </a:r>
          </a:p>
          <a:p>
            <a:pPr eaLnBrk="1" hangingPunct="1"/>
            <a:r>
              <a:rPr lang="en-US" sz="2400" dirty="0" smtClean="0"/>
              <a:t>AMA’s Role in Healthcare Reform</a:t>
            </a:r>
          </a:p>
          <a:p>
            <a:pPr eaLnBrk="1" hangingPunct="1"/>
            <a:r>
              <a:rPr lang="en-US" sz="2400" dirty="0" smtClean="0"/>
              <a:t>Needs of the providers, practitioners, and patients</a:t>
            </a:r>
          </a:p>
          <a:p>
            <a:pPr eaLnBrk="1" hangingPunct="1"/>
            <a:r>
              <a:rPr lang="en-US" sz="2400" dirty="0" smtClean="0"/>
              <a:t>Measuring value and enabling value throughout healthcare</a:t>
            </a:r>
          </a:p>
          <a:p>
            <a:pPr eaLnBrk="1" hangingPunct="1"/>
            <a:r>
              <a:rPr lang="en-US" sz="2400" dirty="0" smtClean="0"/>
              <a:t>Engaging providers, practitioners, and patients</a:t>
            </a:r>
          </a:p>
          <a:p>
            <a:pPr eaLnBrk="1" hangingPunct="1"/>
            <a:r>
              <a:rPr lang="en-US" sz="2400" dirty="0" smtClean="0"/>
              <a:t>Expanding the reach and membership of the AMA</a:t>
            </a:r>
          </a:p>
          <a:p>
            <a:pPr eaLnBrk="1" hangingPunct="1"/>
            <a:r>
              <a:rPr lang="en-US" sz="2400" dirty="0" smtClean="0"/>
              <a:t>Moving towards a new business model</a:t>
            </a:r>
          </a:p>
          <a:p>
            <a:pPr eaLnBrk="1" hangingPunct="1"/>
            <a:endParaRPr lang="en-US" sz="2400" dirty="0" smtClean="0"/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914400" y="4572000"/>
            <a:ext cx="57150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Current Challenges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Eroding member base.  </a:t>
            </a:r>
          </a:p>
          <a:p>
            <a:pPr eaLnBrk="1" hangingPunct="1"/>
            <a:r>
              <a:rPr lang="en-US" sz="2400" dirty="0" smtClean="0"/>
              <a:t>Aging membership.</a:t>
            </a:r>
          </a:p>
          <a:p>
            <a:pPr eaLnBrk="1" hangingPunct="1"/>
            <a:r>
              <a:rPr lang="en-US" sz="2400" dirty="0" smtClean="0"/>
              <a:t>Decline </a:t>
            </a:r>
            <a:r>
              <a:rPr lang="en-US" sz="2400" dirty="0" smtClean="0"/>
              <a:t>in revenues.</a:t>
            </a:r>
            <a:endParaRPr lang="en-US" sz="2400" dirty="0" smtClean="0"/>
          </a:p>
          <a:p>
            <a:pPr eaLnBrk="1" hangingPunct="1"/>
            <a:r>
              <a:rPr lang="en-US" sz="2400" dirty="0" smtClean="0"/>
              <a:t>Not perceived as an innovation leader. </a:t>
            </a:r>
          </a:p>
          <a:p>
            <a:pPr eaLnBrk="1" hangingPunct="1"/>
            <a:r>
              <a:rPr lang="en-US" sz="2400" dirty="0" smtClean="0"/>
              <a:t>Healthcare is fractionalized across the continuum of care.</a:t>
            </a:r>
          </a:p>
          <a:p>
            <a:pPr eaLnBrk="1" hangingPunct="1"/>
            <a:r>
              <a:rPr lang="en-US" sz="2400" dirty="0" smtClean="0"/>
              <a:t>The government is trying to lead healthcare reform;  Best done by providers, practitioners and patients.</a:t>
            </a:r>
          </a:p>
          <a:p>
            <a:pPr eaLnBrk="1" hangingPunct="1"/>
            <a:r>
              <a:rPr lang="en-US" sz="2400" dirty="0" smtClean="0"/>
              <a:t>Need </a:t>
            </a:r>
            <a:r>
              <a:rPr lang="en-US" sz="2400" dirty="0" smtClean="0"/>
              <a:t>for clear leadership to drive reform, innovation, and unification across the heatlhcare continuum.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AMA’s Role in Healthcare Reform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Still a relevant voice that should be heard by the government. </a:t>
            </a:r>
          </a:p>
          <a:p>
            <a:r>
              <a:rPr lang="en-US" sz="2400" dirty="0" smtClean="0"/>
              <a:t>The stakeholders are looking for answers:</a:t>
            </a:r>
          </a:p>
          <a:p>
            <a:pPr lvl="1"/>
            <a:r>
              <a:rPr lang="en-US" sz="2000" dirty="0" smtClean="0"/>
              <a:t>Practitioners are worried about quality, timeliness, and effort of care</a:t>
            </a:r>
          </a:p>
          <a:p>
            <a:pPr lvl="1"/>
            <a:r>
              <a:rPr lang="en-US" sz="2000" dirty="0" smtClean="0"/>
              <a:t>Providers are worried about loss of control and revenue</a:t>
            </a:r>
          </a:p>
          <a:p>
            <a:pPr lvl="1"/>
            <a:r>
              <a:rPr lang="en-US" sz="2000" dirty="0" smtClean="0"/>
              <a:t>Patients are worried about quality of care, loss of control, and cost</a:t>
            </a:r>
          </a:p>
          <a:p>
            <a:r>
              <a:rPr lang="en-US" sz="2400" dirty="0" smtClean="0"/>
              <a:t>Opportunity for unifying leadership to provide guidance and direction for change (much of which will be disruptive). </a:t>
            </a:r>
          </a:p>
          <a:p>
            <a:r>
              <a:rPr lang="en-US" sz="2400" dirty="0" smtClean="0"/>
              <a:t>Opportunity to encourage collaboration and cooperation to solve the healthcare needs in the US and across the world.</a:t>
            </a:r>
          </a:p>
          <a:p>
            <a:r>
              <a:rPr lang="en-US" sz="2400" dirty="0" smtClean="0"/>
              <a:t>Opportunity to create a “system” of healthcare guided by consistent value-driven metrics (outcomes).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dirty="0" smtClean="0"/>
              <a:t>To get pharmaceutical and device manufacturers, insurers, and healthcare suppliers to become aligned, unified and collaboratively </a:t>
            </a:r>
            <a:r>
              <a:rPr lang="en-US" sz="2400" dirty="0" smtClean="0"/>
              <a:t>focused </a:t>
            </a:r>
            <a:r>
              <a:rPr lang="en-US" sz="2400" dirty="0" smtClean="0"/>
              <a:t>on a consistent set of outcomes.</a:t>
            </a:r>
          </a:p>
          <a:p>
            <a:r>
              <a:rPr lang="en-US" sz="2400" dirty="0" smtClean="0"/>
              <a:t>To increase collaboration NOT competition.</a:t>
            </a:r>
          </a:p>
          <a:p>
            <a:r>
              <a:rPr lang="en-US" sz="2400" dirty="0" smtClean="0"/>
              <a:t>To understand how to identify, measure and deliver value throughout the healthcare value network.</a:t>
            </a:r>
          </a:p>
          <a:p>
            <a:r>
              <a:rPr lang="en-US" sz="2400" dirty="0" smtClean="0"/>
              <a:t>To move towards a shared revenue model where everyone can still win, but not at the expense of others (esp. the patients &amp; the public).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Needs of the Practitioners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To improve diagnostic capabilities in a cost effective manner.</a:t>
            </a:r>
          </a:p>
          <a:p>
            <a:r>
              <a:rPr lang="en-US" sz="2400" dirty="0" smtClean="0"/>
              <a:t>To improve clinical processes. </a:t>
            </a:r>
          </a:p>
          <a:p>
            <a:r>
              <a:rPr lang="en-US" sz="2400" dirty="0" smtClean="0"/>
              <a:t>To provide consistent levels of quality.</a:t>
            </a:r>
          </a:p>
          <a:p>
            <a:r>
              <a:rPr lang="en-US" sz="2400" dirty="0" smtClean="0"/>
              <a:t>To move beyond service, where they can deliver a positive  experience. </a:t>
            </a:r>
          </a:p>
          <a:p>
            <a:r>
              <a:rPr lang="en-US" sz="2400" dirty="0" smtClean="0"/>
              <a:t>To be able to reliably measure value for their patients, for themselves as individual practitioners , and for their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Needs of the Patients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sz="2400" dirty="0" smtClean="0"/>
              <a:t>To have affordable healthcare.</a:t>
            </a:r>
          </a:p>
          <a:p>
            <a:r>
              <a:rPr lang="en-US" sz="2400" dirty="0" smtClean="0"/>
              <a:t>To have attainable healthcare.</a:t>
            </a:r>
          </a:p>
          <a:p>
            <a:r>
              <a:rPr lang="en-US" sz="2400" dirty="0" smtClean="0"/>
              <a:t>To have more accessible healthcare. </a:t>
            </a:r>
          </a:p>
          <a:p>
            <a:r>
              <a:rPr lang="en-US" sz="2400" dirty="0" smtClean="0"/>
              <a:t>To have consistent levels of quality (results).</a:t>
            </a:r>
          </a:p>
          <a:p>
            <a:r>
              <a:rPr lang="en-US" sz="2400" dirty="0" smtClean="0"/>
              <a:t>To receive a total healthcare experience:</a:t>
            </a:r>
          </a:p>
          <a:p>
            <a:pPr lvl="1"/>
            <a:r>
              <a:rPr lang="en-US" sz="2400" dirty="0" smtClean="0"/>
              <a:t>Ensure their functional outcomes met.</a:t>
            </a:r>
          </a:p>
          <a:p>
            <a:pPr lvl="1"/>
            <a:r>
              <a:rPr lang="en-US" sz="2400" dirty="0" smtClean="0"/>
              <a:t>Ensure their emotional outcomes met.</a:t>
            </a:r>
          </a:p>
          <a:p>
            <a:pPr lvl="1"/>
            <a:r>
              <a:rPr lang="en-US" sz="2400" dirty="0" smtClean="0"/>
              <a:t>Ensure their outcomes are met across the continuum of care (beyond the hospital, into clinics, and into the home).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AMA’s Opportunity to enable Value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Innovate current business model to address the needs of the providers, practitioners, and the patients (3Ps).</a:t>
            </a:r>
          </a:p>
          <a:p>
            <a:r>
              <a:rPr lang="en-US" sz="2400" dirty="0" smtClean="0"/>
              <a:t>Use a disciplined process to capture and assess the needs of the 3Ps in a quantifiable manner.</a:t>
            </a:r>
          </a:p>
          <a:p>
            <a:r>
              <a:rPr lang="en-US" sz="2400" dirty="0" smtClean="0"/>
              <a:t>Provide a centralized repository of unbiased needs of the 3Ps to identify opportunities for measuring &amp; creating value in US healthcare.</a:t>
            </a:r>
          </a:p>
          <a:p>
            <a:r>
              <a:rPr lang="en-US" sz="2400" dirty="0" smtClean="0"/>
              <a:t>License the information in a repository to the 3Ps to build a self-sustaining model for improving value delivery in healthcare</a:t>
            </a:r>
          </a:p>
          <a:p>
            <a:r>
              <a:rPr lang="en-US" sz="2400" dirty="0" smtClean="0"/>
              <a:t>Guide (and possibly drive) innovation in healthcare to create new value while reducing the overall costs for the 3Ps.</a:t>
            </a:r>
          </a:p>
          <a:p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 at the forefront of Healthcare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sz="2400" dirty="0" smtClean="0"/>
              <a:t>Defining &amp; delivering the prescription for healthcare reform should come from within healthcare (not the government).</a:t>
            </a:r>
          </a:p>
          <a:p>
            <a:r>
              <a:rPr lang="en-US" sz="2400" dirty="0" smtClean="0"/>
              <a:t>Creating a vision for a new healthcare system by forming a collaborative model with healthcare advocacy organizations, institutions, providers and practitioners.</a:t>
            </a:r>
          </a:p>
          <a:p>
            <a:r>
              <a:rPr lang="en-US" sz="2400" dirty="0" smtClean="0"/>
              <a:t>Providing the practitioners with a consistent set of benchmarks for measuring the value they deliver to patients.</a:t>
            </a:r>
          </a:p>
          <a:p>
            <a:r>
              <a:rPr lang="en-US" sz="2400" dirty="0" smtClean="0"/>
              <a:t>Driving open innovation </a:t>
            </a:r>
            <a:r>
              <a:rPr lang="en-US" sz="2400" dirty="0" smtClean="0"/>
              <a:t>among </a:t>
            </a:r>
            <a:r>
              <a:rPr lang="en-US" sz="2400" dirty="0" smtClean="0"/>
              <a:t>providers to create a more efficient process for guiding and creating value.</a:t>
            </a:r>
          </a:p>
          <a:p>
            <a:r>
              <a:rPr lang="en-US" sz="2400" dirty="0" smtClean="0"/>
              <a:t>Working collaboratively with the government to guide more efficient and effective funding that drives healthcare reform.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Moving from Assumptions to Implementation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Establish a program focused on mapping the Jobs &amp; Outcomes across the healthcare domain.</a:t>
            </a:r>
          </a:p>
          <a:p>
            <a:r>
              <a:rPr lang="en-US" sz="2400" dirty="0" smtClean="0"/>
              <a:t>Build a portfolio of unmet needs (opportunities) for improving value delivery to patients and practitioners.</a:t>
            </a:r>
          </a:p>
          <a:p>
            <a:r>
              <a:rPr lang="en-US" sz="2400" dirty="0" smtClean="0"/>
              <a:t>Establish a prioritization model to direct resources in an efficient manner.</a:t>
            </a:r>
          </a:p>
          <a:p>
            <a:r>
              <a:rPr lang="en-US" sz="2400" dirty="0" smtClean="0"/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dirty="0" smtClean="0"/>
              <a:t>Establish a shared revenue model as part of a collaborative to address unmet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Process 8"/>
          <p:cNvSpPr/>
          <p:nvPr/>
        </p:nvSpPr>
        <p:spPr>
          <a:xfrm>
            <a:off x="1981200" y="2971800"/>
            <a:ext cx="4876800" cy="2514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Federated Portfolio of  Jobs &amp; Outcomes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 Measurement Platform for Healthcare</a:t>
            </a:r>
            <a:endParaRPr lang="en-US" dirty="0"/>
          </a:p>
        </p:txBody>
      </p:sp>
      <p:sp>
        <p:nvSpPr>
          <p:cNvPr id="5" name="Flowchart: Magnetic Disk 4"/>
          <p:cNvSpPr/>
          <p:nvPr/>
        </p:nvSpPr>
        <p:spPr>
          <a:xfrm>
            <a:off x="4724400" y="38100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6" name="Flowchart: Magnetic Disk 5"/>
          <p:cNvSpPr/>
          <p:nvPr/>
        </p:nvSpPr>
        <p:spPr>
          <a:xfrm>
            <a:off x="4876800" y="39624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7" name="Flowchart: Magnetic Disk 6"/>
          <p:cNvSpPr/>
          <p:nvPr/>
        </p:nvSpPr>
        <p:spPr>
          <a:xfrm>
            <a:off x="5029200" y="41148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Outcomes</a:t>
            </a:r>
            <a:endParaRPr lang="en-US" b="1" dirty="0"/>
          </a:p>
        </p:txBody>
      </p:sp>
      <p:sp>
        <p:nvSpPr>
          <p:cNvPr id="8" name="Flowchart: Magnetic Disk 7"/>
          <p:cNvSpPr/>
          <p:nvPr/>
        </p:nvSpPr>
        <p:spPr>
          <a:xfrm>
            <a:off x="2819400" y="3962400"/>
            <a:ext cx="9906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Jobs</a:t>
            </a:r>
            <a:endParaRPr lang="en-US" b="1" dirty="0"/>
          </a:p>
        </p:txBody>
      </p:sp>
      <p:sp>
        <p:nvSpPr>
          <p:cNvPr id="10" name="Flowchart: Process 9"/>
          <p:cNvSpPr/>
          <p:nvPr/>
        </p:nvSpPr>
        <p:spPr>
          <a:xfrm>
            <a:off x="609600" y="1371600"/>
            <a:ext cx="7848600" cy="10668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Healthcare Domains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5240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Prevention</a:t>
            </a:r>
            <a:endParaRPr lang="en-US" b="1" dirty="0"/>
          </a:p>
        </p:txBody>
      </p:sp>
      <p:sp>
        <p:nvSpPr>
          <p:cNvPr id="16" name="Rounded Rectangle 15"/>
          <p:cNvSpPr/>
          <p:nvPr/>
        </p:nvSpPr>
        <p:spPr>
          <a:xfrm>
            <a:off x="2971800" y="17526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Diagnostics</a:t>
            </a:r>
            <a:endParaRPr lang="en-US" b="1" dirty="0"/>
          </a:p>
        </p:txBody>
      </p:sp>
      <p:sp>
        <p:nvSpPr>
          <p:cNvPr id="17" name="Rounded Rectangle 16"/>
          <p:cNvSpPr/>
          <p:nvPr/>
        </p:nvSpPr>
        <p:spPr>
          <a:xfrm>
            <a:off x="44958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Treatment</a:t>
            </a:r>
            <a:endParaRPr lang="en-US" b="1" dirty="0"/>
          </a:p>
        </p:txBody>
      </p:sp>
      <p:sp>
        <p:nvSpPr>
          <p:cNvPr id="18" name="Rounded Rectangle 17"/>
          <p:cNvSpPr/>
          <p:nvPr/>
        </p:nvSpPr>
        <p:spPr>
          <a:xfrm>
            <a:off x="5943600" y="1752600"/>
            <a:ext cx="15240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Maintenance</a:t>
            </a:r>
            <a:endParaRPr lang="en-US" b="1" dirty="0"/>
          </a:p>
        </p:txBody>
      </p:sp>
      <p:sp>
        <p:nvSpPr>
          <p:cNvPr id="20" name="Down Arrow 19"/>
          <p:cNvSpPr/>
          <p:nvPr/>
        </p:nvSpPr>
        <p:spPr>
          <a:xfrm>
            <a:off x="4191000" y="25146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 rot="16200000">
            <a:off x="4076700" y="40005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124200" y="3276600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(Patients &amp; Practitioners)</a:t>
            </a:r>
            <a:endParaRPr lang="en-US" sz="1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838200" y="5715000"/>
            <a:ext cx="693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Value is measured through Outcomes =&gt; Outcomes are used to enable value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Measuring Value for Healthcare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Build a portfolio of jobs &amp; outcomes:</a:t>
            </a:r>
          </a:p>
          <a:p>
            <a:pPr lvl="1"/>
            <a:r>
              <a:rPr lang="en-US" dirty="0" smtClean="0"/>
              <a:t>For measuring value</a:t>
            </a:r>
          </a:p>
          <a:p>
            <a:pPr lvl="1"/>
            <a:r>
              <a:rPr lang="en-US" dirty="0" smtClean="0"/>
              <a:t>For capturing customer* needs</a:t>
            </a:r>
          </a:p>
          <a:p>
            <a:pPr lvl="1"/>
            <a:r>
              <a:rPr lang="en-US" dirty="0" smtClean="0"/>
              <a:t>For guiding innovation</a:t>
            </a:r>
          </a:p>
          <a:p>
            <a:pPr lvl="1"/>
            <a:endParaRPr lang="en-US" dirty="0" smtClean="0"/>
          </a:p>
          <a:p>
            <a:pPr lvl="1">
              <a:buNone/>
            </a:pPr>
            <a:r>
              <a:rPr lang="en-US" dirty="0" smtClean="0"/>
              <a:t>* The focus is on Patients and Providers in the Healthcare Value Network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Enabling Value for Healthcare</a:t>
            </a:r>
            <a:endParaRPr lang="en-US" dirty="0"/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3820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Healthcare Value Platform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Outcomes</a:t>
            </a:r>
            <a:endParaRPr lang="en-US" b="1" dirty="0"/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Compliance</a:t>
            </a:r>
          </a:p>
          <a:p>
            <a:pPr algn="ctr"/>
            <a:r>
              <a:rPr lang="en-US" b="1" dirty="0" smtClean="0"/>
              <a:t>Rules</a:t>
            </a:r>
            <a:endParaRPr lang="en-US" b="1" dirty="0"/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838200" y="5715000"/>
            <a:ext cx="693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Efficient value delivery for transforming healthcare and driving value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Enabling Value for Healthcare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Build an innovation portfolio to drive value by:</a:t>
            </a:r>
          </a:p>
          <a:p>
            <a:pPr lvl="1"/>
            <a:r>
              <a:rPr lang="en-US" sz="2400" dirty="0" smtClean="0"/>
              <a:t>Creating a portfolio of outcomes that can be used by the 3 Ps to measure value.</a:t>
            </a:r>
          </a:p>
          <a:p>
            <a:pPr lvl="1"/>
            <a:r>
              <a:rPr lang="en-US" sz="2400" dirty="0" smtClean="0"/>
              <a:t>Creating a portfolio of opportunities (IP)*.</a:t>
            </a:r>
          </a:p>
          <a:p>
            <a:pPr lvl="1"/>
            <a:r>
              <a:rPr lang="en-US" sz="2400" dirty="0" smtClean="0"/>
              <a:t>Leveraging open innovation to create a portfolio of ideas to address unmet needs.</a:t>
            </a:r>
          </a:p>
          <a:p>
            <a:pPr lvl="1"/>
            <a:r>
              <a:rPr lang="en-US" sz="2400" dirty="0" smtClean="0"/>
              <a:t>Engaging innovators in a collaborative effort to create new products and services to solve the most important needs in healthcare.</a:t>
            </a:r>
          </a:p>
          <a:p>
            <a:pPr lvl="1"/>
            <a:r>
              <a:rPr lang="en-US" sz="2400" dirty="0" smtClean="0"/>
              <a:t>Aligning sustainable value delivery within a system of healthcare.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Engaging Providers &amp; Innovators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/>
          <a:lstStyle/>
          <a:p>
            <a:r>
              <a:rPr lang="en-US" dirty="0" smtClean="0"/>
              <a:t>Identifying priorities for healthcare upfront can:</a:t>
            </a:r>
          </a:p>
          <a:p>
            <a:pPr lvl="1"/>
            <a:r>
              <a:rPr lang="en-US" dirty="0" smtClean="0"/>
              <a:t>Reduce the risks for investments in new products and services.</a:t>
            </a:r>
          </a:p>
          <a:p>
            <a:pPr lvl="1"/>
            <a:r>
              <a:rPr lang="en-US" dirty="0" smtClean="0"/>
              <a:t>Focus 3</a:t>
            </a:r>
            <a:r>
              <a:rPr lang="en-US" baseline="30000" dirty="0" smtClean="0"/>
              <a:t>rd</a:t>
            </a:r>
            <a:r>
              <a:rPr lang="en-US" dirty="0" smtClean="0"/>
              <a:t> party resources more efficiently.</a:t>
            </a:r>
          </a:p>
          <a:p>
            <a:pPr lvl="1"/>
            <a:r>
              <a:rPr lang="en-US" dirty="0" smtClean="0"/>
              <a:t>Reduce the costs associated with investment planning.</a:t>
            </a:r>
          </a:p>
          <a:p>
            <a:pPr lvl="1"/>
            <a:r>
              <a:rPr lang="en-US" dirty="0" smtClean="0"/>
              <a:t>Reduce the cycle time for new products &amp; services addressing the most important needs in healthcare.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Engaging Providers &amp; Innovators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458200" cy="4830763"/>
          </a:xfrm>
        </p:spPr>
        <p:txBody>
          <a:bodyPr/>
          <a:lstStyle/>
          <a:p>
            <a:r>
              <a:rPr lang="en-US" dirty="0" smtClean="0"/>
              <a:t>Using a managed IP model will:</a:t>
            </a:r>
          </a:p>
          <a:p>
            <a:pPr lvl="1"/>
            <a:r>
              <a:rPr lang="en-US" dirty="0" smtClean="0"/>
              <a:t>Encourage open innovation to leverage mindshare across all disciplines to solve the healthcare needs.</a:t>
            </a:r>
          </a:p>
          <a:p>
            <a:pPr lvl="1"/>
            <a:r>
              <a:rPr lang="en-US" dirty="0" smtClean="0"/>
              <a:t>Promote collaboration instead of competition for new products &amp; services to:</a:t>
            </a:r>
          </a:p>
          <a:p>
            <a:pPr lvl="2"/>
            <a:r>
              <a:rPr lang="en-US" dirty="0" smtClean="0"/>
              <a:t>Bring new efficiencies to research and development.</a:t>
            </a:r>
          </a:p>
          <a:p>
            <a:pPr lvl="2"/>
            <a:r>
              <a:rPr lang="en-US" dirty="0" smtClean="0"/>
              <a:t>Reduce the costs and cycle time.</a:t>
            </a:r>
          </a:p>
          <a:p>
            <a:pPr lvl="2"/>
            <a:r>
              <a:rPr lang="en-US" dirty="0" smtClean="0"/>
              <a:t>Level </a:t>
            </a:r>
            <a:r>
              <a:rPr lang="en-US" dirty="0" smtClean="0"/>
              <a:t>the intellectual capital (IC) playing field for all providers </a:t>
            </a:r>
            <a:r>
              <a:rPr lang="en-US" dirty="0" smtClean="0"/>
              <a:t>and innovators.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Engaging Practitioners &amp; Patients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458200" cy="4830763"/>
          </a:xfrm>
        </p:spPr>
        <p:txBody>
          <a:bodyPr/>
          <a:lstStyle/>
          <a:p>
            <a:r>
              <a:rPr lang="en-US" dirty="0" smtClean="0"/>
              <a:t>Using a repository of outcomes will:</a:t>
            </a:r>
          </a:p>
          <a:p>
            <a:pPr lvl="1"/>
            <a:r>
              <a:rPr lang="en-US" dirty="0" smtClean="0"/>
              <a:t>Provide practitioners with a consistent set of metrics for measuring value with precision:</a:t>
            </a:r>
          </a:p>
          <a:p>
            <a:pPr lvl="2"/>
            <a:r>
              <a:rPr lang="en-US" dirty="0" smtClean="0"/>
              <a:t>Covering the realm of healthcare locations (hospitals, clinics, alternate site, and home)</a:t>
            </a:r>
          </a:p>
          <a:p>
            <a:pPr lvl="2"/>
            <a:r>
              <a:rPr lang="en-US" dirty="0" smtClean="0"/>
              <a:t>Covering the breadth of healthcare practitioners (physicians, nurses, pharmacists, specialists, etc.)</a:t>
            </a:r>
          </a:p>
          <a:p>
            <a:pPr lvl="2"/>
            <a:r>
              <a:rPr lang="en-US" dirty="0" smtClean="0"/>
              <a:t>Covering the flow of patients and the care they receive across the continuum of healthcare</a:t>
            </a:r>
          </a:p>
          <a:p>
            <a:pPr lvl="1"/>
            <a:r>
              <a:rPr lang="en-US" dirty="0" smtClean="0"/>
              <a:t>Provide the AMA with a consistent benchmark for evaluating healthcare products and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Engaging Practitioners &amp; Patients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458200" cy="4830763"/>
          </a:xfrm>
        </p:spPr>
        <p:txBody>
          <a:bodyPr/>
          <a:lstStyle/>
          <a:p>
            <a:r>
              <a:rPr lang="en-US" dirty="0" smtClean="0"/>
              <a:t>Using a repository of outcomes will:</a:t>
            </a:r>
          </a:p>
          <a:p>
            <a:pPr lvl="1"/>
            <a:r>
              <a:rPr lang="en-US" dirty="0" smtClean="0"/>
              <a:t>Provide patients with a consistent benchmark for selecting </a:t>
            </a:r>
            <a:r>
              <a:rPr lang="en-US" dirty="0" smtClean="0"/>
              <a:t>products, services, and practitioners </a:t>
            </a:r>
            <a:r>
              <a:rPr lang="en-US" dirty="0" smtClean="0"/>
              <a:t>to meet their healthcare needs.</a:t>
            </a:r>
          </a:p>
          <a:p>
            <a:pPr lvl="1"/>
            <a:r>
              <a:rPr lang="en-US" dirty="0" smtClean="0"/>
              <a:t>Provide </a:t>
            </a:r>
            <a:r>
              <a:rPr lang="en-US" dirty="0" smtClean="0"/>
              <a:t>consistent </a:t>
            </a:r>
            <a:r>
              <a:rPr lang="en-US" dirty="0" smtClean="0"/>
              <a:t>outcomes </a:t>
            </a:r>
            <a:r>
              <a:rPr lang="en-US" dirty="0" smtClean="0"/>
              <a:t>and quality of care from prevention to support (continuum of care) for all patients.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Expanding the AMA membership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458200" cy="4830763"/>
          </a:xfrm>
        </p:spPr>
        <p:txBody>
          <a:bodyPr/>
          <a:lstStyle/>
          <a:p>
            <a:r>
              <a:rPr lang="en-US" dirty="0" smtClean="0"/>
              <a:t>Access to the </a:t>
            </a:r>
            <a:r>
              <a:rPr lang="en-US" dirty="0" smtClean="0"/>
              <a:t>information in the </a:t>
            </a:r>
            <a:r>
              <a:rPr lang="en-US" dirty="0" smtClean="0"/>
              <a:t>AMA </a:t>
            </a:r>
            <a:r>
              <a:rPr lang="en-US" dirty="0" smtClean="0"/>
              <a:t>intellectual property (IP) </a:t>
            </a:r>
            <a:r>
              <a:rPr lang="en-US" dirty="0" smtClean="0"/>
              <a:t>repository </a:t>
            </a:r>
            <a:r>
              <a:rPr lang="en-US" dirty="0" smtClean="0"/>
              <a:t>will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Draw providers </a:t>
            </a:r>
            <a:r>
              <a:rPr lang="en-US" dirty="0" smtClean="0"/>
              <a:t>so they can</a:t>
            </a:r>
            <a:r>
              <a:rPr lang="en-US" dirty="0" smtClean="0"/>
              <a:t> optimize their IC processes </a:t>
            </a:r>
            <a:r>
              <a:rPr lang="en-US" dirty="0" smtClean="0"/>
              <a:t>to deliver more efficient and effective value to practitioners and patients.</a:t>
            </a:r>
          </a:p>
          <a:p>
            <a:pPr lvl="1"/>
            <a:r>
              <a:rPr lang="en-US" dirty="0" smtClean="0"/>
              <a:t>Draw patients </a:t>
            </a:r>
            <a:r>
              <a:rPr lang="en-US" dirty="0" smtClean="0"/>
              <a:t>so </a:t>
            </a:r>
            <a:r>
              <a:rPr lang="en-US" dirty="0" smtClean="0"/>
              <a:t>they can review value-driven measures about providers, practitioners, products and services to make informed choices about their healthcare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Expanding the AMA membership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458200" cy="4830763"/>
          </a:xfrm>
        </p:spPr>
        <p:txBody>
          <a:bodyPr/>
          <a:lstStyle/>
          <a:p>
            <a:r>
              <a:rPr lang="en-US" dirty="0" smtClean="0"/>
              <a:t>Access to the information in the AMA intellectual property (IP) repository will:</a:t>
            </a:r>
          </a:p>
          <a:p>
            <a:pPr lvl="1"/>
            <a:r>
              <a:rPr lang="en-US" dirty="0" smtClean="0"/>
              <a:t>Draw </a:t>
            </a:r>
            <a:r>
              <a:rPr lang="en-US" dirty="0" smtClean="0"/>
              <a:t>practitioners </a:t>
            </a:r>
            <a:r>
              <a:rPr lang="en-US" dirty="0" smtClean="0"/>
              <a:t>so they can more efficiently and effectively </a:t>
            </a:r>
            <a:r>
              <a:rPr lang="en-US" dirty="0" smtClean="0"/>
              <a:t>review </a:t>
            </a:r>
            <a:r>
              <a:rPr lang="en-US" dirty="0" smtClean="0"/>
              <a:t>and select products </a:t>
            </a:r>
            <a:r>
              <a:rPr lang="en-US" dirty="0" smtClean="0"/>
              <a:t>and services that </a:t>
            </a:r>
            <a:r>
              <a:rPr lang="en-US" dirty="0" smtClean="0"/>
              <a:t>can help </a:t>
            </a:r>
            <a:r>
              <a:rPr lang="en-US" dirty="0" smtClean="0"/>
              <a:t>them </a:t>
            </a:r>
            <a:r>
              <a:rPr lang="en-US" dirty="0" smtClean="0"/>
              <a:t>meet the patient outcomes.</a:t>
            </a:r>
            <a:endParaRPr lang="en-US" dirty="0" smtClean="0"/>
          </a:p>
          <a:p>
            <a:pPr lvl="1"/>
            <a:r>
              <a:rPr lang="en-US" dirty="0" smtClean="0"/>
              <a:t>Draw membership from private and public sectors who are interested </a:t>
            </a:r>
            <a:r>
              <a:rPr lang="en-US" dirty="0" smtClean="0"/>
              <a:t>in leveraging information </a:t>
            </a:r>
            <a:r>
              <a:rPr lang="en-US" dirty="0" smtClean="0"/>
              <a:t>to optimize care for their employees.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Expanded Membership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828800" y="1371600"/>
          <a:ext cx="6553200" cy="477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124200" y="5334000"/>
            <a:ext cx="198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AMA</a:t>
            </a:r>
            <a:endParaRPr lang="en-US" sz="4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Guiding the Providers to deliver value to Patients &amp; Practitioners</a:t>
            </a:r>
          </a:p>
          <a:p>
            <a:endParaRPr lang="en-US" sz="1400" dirty="0" smtClean="0"/>
          </a:p>
          <a:p>
            <a:r>
              <a:rPr lang="en-US" sz="1400" dirty="0" smtClean="0"/>
              <a:t>Guiding Practitioners to measure and optimize the value they deliver to Patients</a:t>
            </a:r>
          </a:p>
          <a:p>
            <a:endParaRPr lang="en-US" sz="1400" dirty="0" smtClean="0"/>
          </a:p>
          <a:p>
            <a:r>
              <a:rPr lang="en-US" sz="1400" dirty="0" smtClean="0"/>
              <a:t>Providing Patients with a way to measure the value they should be receiving for healthcare throughout the continuum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Reducing Costs &amp; Driving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dirty="0" smtClean="0"/>
              <a:t>Today…</a:t>
            </a:r>
          </a:p>
          <a:p>
            <a:pPr lvl="1"/>
            <a:r>
              <a:rPr lang="en-US" dirty="0" smtClean="0"/>
              <a:t>Every company creates value based on their own perceived understanding of customer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  <a:r>
              <a:rPr lang="en-US" dirty="0" smtClean="0"/>
              <a:t> needs.</a:t>
            </a:r>
          </a:p>
          <a:p>
            <a:r>
              <a:rPr lang="en-US" dirty="0" smtClean="0"/>
              <a:t>Tomorrow…</a:t>
            </a:r>
          </a:p>
          <a:p>
            <a:pPr lvl="1"/>
            <a:r>
              <a:rPr lang="en-US" dirty="0" smtClean="0"/>
              <a:t>The AMA can provide a beacon of leadership to:</a:t>
            </a:r>
          </a:p>
          <a:p>
            <a:pPr lvl="2"/>
            <a:r>
              <a:rPr lang="en-US" dirty="0" smtClean="0"/>
              <a:t>Understand customer needs throughout healthcare</a:t>
            </a:r>
          </a:p>
          <a:p>
            <a:pPr lvl="2"/>
            <a:r>
              <a:rPr lang="en-US" dirty="0" smtClean="0"/>
              <a:t>Guide providers to build the right products &amp; services</a:t>
            </a:r>
          </a:p>
          <a:p>
            <a:pPr lvl="2"/>
            <a:r>
              <a:rPr lang="en-US" dirty="0" smtClean="0"/>
              <a:t>Deliver value to customers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  <a:r>
              <a:rPr lang="en-US" dirty="0" smtClean="0"/>
              <a:t> throughout the healthcare continuum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743200" y="5715000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* Practitioners &amp; Patients</a:t>
            </a:r>
            <a:endParaRPr 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New Business Model for Creating Value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1905000" y="1752600"/>
          <a:ext cx="5334000" cy="393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886200" y="3429000"/>
            <a:ext cx="1371600" cy="761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1752601"/>
            <a:ext cx="1752600" cy="3886200"/>
          </a:xfrm>
        </p:spPr>
        <p:txBody>
          <a:bodyPr/>
          <a:lstStyle/>
          <a:p>
            <a:pPr marL="168275" indent="-168275"/>
            <a:r>
              <a:rPr lang="en-US" sz="1400" dirty="0" smtClean="0"/>
              <a:t>Provides new value creation</a:t>
            </a:r>
          </a:p>
          <a:p>
            <a:pPr marL="168275" indent="-168275"/>
            <a:r>
              <a:rPr lang="en-US" sz="1400" dirty="0" smtClean="0"/>
              <a:t>Repositioned for leading healthcare change</a:t>
            </a:r>
          </a:p>
          <a:p>
            <a:pPr marL="168275" indent="-168275"/>
            <a:r>
              <a:rPr lang="en-US" sz="1400" dirty="0" smtClean="0"/>
              <a:t>Relevant to all Providers, Practitioners, and Patients</a:t>
            </a:r>
          </a:p>
          <a:p>
            <a:pPr marL="168275" indent="-168275"/>
            <a:r>
              <a:rPr lang="en-US" sz="1400" dirty="0" smtClean="0"/>
              <a:t>Provides thought leadership for guiding change and innovation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239000" y="1752601"/>
            <a:ext cx="17526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68275" marR="0" lvl="0" indent="-1682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Orchestrates a unified value network for delivering efficient, affordable, and accessible healthcare to meet the unmet needs of customers </a:t>
            </a:r>
          </a:p>
          <a:p>
            <a:pPr marL="168275" marR="0" lvl="0" indent="-1682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400" noProof="0" dirty="0" smtClean="0">
                <a:latin typeface="+mn-lt"/>
                <a:ea typeface="ＭＳ Ｐゴシック" pitchFamily="-110" charset="-128"/>
                <a:cs typeface="+mn-cs"/>
              </a:rPr>
              <a:t>Ensures value can be measured, improved,  and sustained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Positioning the AMA to Lead Healthcare Reform</a:t>
            </a:r>
            <a:endParaRPr lang="en-US" dirty="0"/>
          </a:p>
        </p:txBody>
      </p:sp>
      <p:sp>
        <p:nvSpPr>
          <p:cNvPr id="4" name="Flowchart: Process 3"/>
          <p:cNvSpPr/>
          <p:nvPr/>
        </p:nvSpPr>
        <p:spPr>
          <a:xfrm>
            <a:off x="381000" y="1524000"/>
            <a:ext cx="8382000" cy="46482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133600" y="1600200"/>
            <a:ext cx="4648200" cy="53340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6" name="Rounded Rectangle 5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AMA (Globally Focused)</a:t>
              </a:r>
              <a:endParaRPr lang="en-US" sz="1300" b="1" kern="12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0668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9" name="Rounded Rectangle 8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Healthcare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Advocacy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Groups</a:t>
              </a:r>
              <a:endParaRPr lang="en-US" sz="1300" b="1" kern="12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438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2" name="Rounded Rectangle 1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Healthcare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Disciplines</a:t>
              </a:r>
              <a:endParaRPr lang="en-US" sz="1300" b="1" kern="12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8481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5" name="Rounded Rectangle 14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Providers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(Products &amp; Services)</a:t>
              </a:r>
              <a:endParaRPr lang="en-US" sz="1300" b="1" kern="12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2197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8" name="Rounded Rectangle 17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Institutions</a:t>
              </a:r>
              <a:endParaRPr lang="en-US" sz="1300" b="1" kern="1200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629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22" name="Rounded Rectangle 2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Government Bodies</a:t>
              </a:r>
              <a:endParaRPr lang="en-US" sz="1300" b="1" kern="1200" dirty="0"/>
            </a:p>
          </p:txBody>
        </p:sp>
      </p:grpSp>
      <p:sp>
        <p:nvSpPr>
          <p:cNvPr id="25" name="Pentagon 24"/>
          <p:cNvSpPr/>
          <p:nvPr/>
        </p:nvSpPr>
        <p:spPr>
          <a:xfrm>
            <a:off x="381000" y="5562600"/>
            <a:ext cx="7543800" cy="609600"/>
          </a:xfrm>
          <a:prstGeom prst="homePlate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Driving Innovation</a:t>
            </a:r>
            <a:endParaRPr lang="en-US" b="1" dirty="0"/>
          </a:p>
        </p:txBody>
      </p:sp>
      <p:sp>
        <p:nvSpPr>
          <p:cNvPr id="28" name="Pentagon 27"/>
          <p:cNvSpPr/>
          <p:nvPr/>
        </p:nvSpPr>
        <p:spPr>
          <a:xfrm rot="16200000">
            <a:off x="6057900" y="3467100"/>
            <a:ext cx="4648200" cy="762000"/>
          </a:xfrm>
          <a:prstGeom prst="homePlat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Enabling Value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2133600" y="3581400"/>
            <a:ext cx="4800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8275" indent="-168275">
              <a:buFont typeface="Arial" pitchFamily="34" charset="0"/>
              <a:buChar char="•"/>
            </a:pPr>
            <a:r>
              <a:rPr lang="en-US" b="1" i="1" dirty="0" smtClean="0"/>
              <a:t>Advocacy Body for: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Value enablement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Value capture &amp; measurement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Collaboration  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Unification &amp; cooperation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Reform &amp; Sustainable Innovation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Prepared by </a:t>
            </a:r>
          </a:p>
          <a:p>
            <a:pPr lvl="1"/>
            <a:r>
              <a:rPr lang="en-US" dirty="0" smtClean="0"/>
              <a:t>Jeffrey Wallk (Managing Partner)</a:t>
            </a:r>
          </a:p>
          <a:p>
            <a:pPr lvl="1"/>
            <a:r>
              <a:rPr lang="en-US" dirty="0" smtClean="0"/>
              <a:t>Helene Sigman (Principle Consultant)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6577</TotalTime>
  <Words>1634</Words>
  <Application>Microsoft Office PowerPoint</Application>
  <PresentationFormat>On-screen Show (4:3)</PresentationFormat>
  <Paragraphs>248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VEG</vt:lpstr>
      <vt:lpstr>A New Value Proposition for the AMA</vt:lpstr>
      <vt:lpstr>Outline</vt:lpstr>
      <vt:lpstr>Current Challenges</vt:lpstr>
      <vt:lpstr>AMA’s Role in Healthcare Reform</vt:lpstr>
      <vt:lpstr>Needs of the Providers</vt:lpstr>
      <vt:lpstr>Needs of the Practitioners</vt:lpstr>
      <vt:lpstr>Needs of the Patients</vt:lpstr>
      <vt:lpstr>AMA’s Opportunity to enable Value</vt:lpstr>
      <vt:lpstr>AMA at the forefront of Healthcare</vt:lpstr>
      <vt:lpstr>Moving from Assumptions to Implementation</vt:lpstr>
      <vt:lpstr>Value Measurement Platform for Healthcare</vt:lpstr>
      <vt:lpstr>Measuring Value for Healthcare</vt:lpstr>
      <vt:lpstr>Enabling Value for Healthcare</vt:lpstr>
      <vt:lpstr>Enabling Value for Healthcare</vt:lpstr>
      <vt:lpstr>Engaging Providers &amp; Innovators</vt:lpstr>
      <vt:lpstr>Engaging Providers &amp; Innovators</vt:lpstr>
      <vt:lpstr>Engaging Practitioners &amp; Patients</vt:lpstr>
      <vt:lpstr>Engaging Practitioners &amp; Patients</vt:lpstr>
      <vt:lpstr>Expanding the AMA membership model</vt:lpstr>
      <vt:lpstr>Expanding the AMA membership model</vt:lpstr>
      <vt:lpstr>An Expanded Membership Model</vt:lpstr>
      <vt:lpstr>Reducing Costs &amp; Driving Value</vt:lpstr>
      <vt:lpstr>A New Business Model for Creating Value</vt:lpstr>
      <vt:lpstr>Positioning the AMA to Lead Healthcare Reform</vt:lpstr>
      <vt:lpstr>Thank You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jw</cp:lastModifiedBy>
  <cp:revision>96</cp:revision>
  <dcterms:created xsi:type="dcterms:W3CDTF">2009-06-09T11:36:35Z</dcterms:created>
  <dcterms:modified xsi:type="dcterms:W3CDTF">2009-08-19T18:44:23Z</dcterms:modified>
</cp:coreProperties>
</file>
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3" r:id="rId1"/>
    <p:sldMasterId id="2147483851" r:id="rId2"/>
  </p:sldMasterIdLst>
  <p:sldIdLst>
    <p:sldId id="258" r:id="rId3"/>
    <p:sldId id="257" r:id="rId4"/>
    <p:sldId id="259" r:id="rId5"/>
  </p:sldIdLst>
  <p:sldSz cx="9144000" cy="6858000" type="letter"/>
  <p:notesSz cx="7102475" cy="10234613"/>
  <p:defaultTextStyle>
    <a:defPPr>
      <a:defRPr lang="en-US"/>
    </a:defPPr>
    <a:lvl1pPr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1pPr>
    <a:lvl2pPr marL="319088" indent="138113"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2pPr>
    <a:lvl3pPr marL="639763" indent="274638"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3pPr>
    <a:lvl4pPr marL="962025" indent="409575"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4pPr>
    <a:lvl5pPr marL="1282700" indent="546100"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5pPr>
    <a:lvl6pPr marL="2286000" algn="l" defTabSz="457200" rtl="0" eaLnBrk="1" latinLnBrk="0" hangingPunct="1"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6pPr>
    <a:lvl7pPr marL="2743200" algn="l" defTabSz="457200" rtl="0" eaLnBrk="1" latinLnBrk="0" hangingPunct="1"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7pPr>
    <a:lvl8pPr marL="3200400" algn="l" defTabSz="457200" rtl="0" eaLnBrk="1" latinLnBrk="0" hangingPunct="1"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8pPr>
    <a:lvl9pPr marL="3657600" algn="l" defTabSz="457200" rtl="0" eaLnBrk="1" latinLnBrk="0" hangingPunct="1"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893" autoAdjust="0"/>
  </p:normalViewPr>
  <p:slideViewPr>
    <p:cSldViewPr snapToGrid="0" snapToObjects="1">
      <p:cViewPr>
        <p:scale>
          <a:sx n="54" d="100"/>
          <a:sy n="54" d="100"/>
        </p:scale>
        <p:origin x="-1464" y="-9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5664" y="360182"/>
            <a:ext cx="5577527" cy="4602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841" y="1397000"/>
            <a:ext cx="8657167" cy="4804833"/>
          </a:xfrm>
          <a:prstGeom prst="rect">
            <a:avLst/>
          </a:prstGeom>
        </p:spPr>
        <p:txBody>
          <a:bodyPr lIns="91402" tIns="45702" rIns="91402" bIns="45702"/>
          <a:lstStyle>
            <a:lvl1pPr>
              <a:buFont typeface="Wingdings" pitchFamily="2" charset="2"/>
              <a:buChar char="q"/>
              <a:defRPr sz="2400">
                <a:solidFill>
                  <a:schemeClr val="bg2">
                    <a:lumMod val="25000"/>
                  </a:schemeClr>
                </a:solidFill>
              </a:defRPr>
            </a:lvl1pPr>
            <a:lvl2pPr>
              <a:buClr>
                <a:schemeClr val="tx2"/>
              </a:buClr>
              <a:defRPr sz="20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097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155674"/>
            <a:ext cx="7772400" cy="523220"/>
          </a:xfrm>
        </p:spPr>
        <p:txBody>
          <a:bodyPr anchor="t"/>
          <a:lstStyle>
            <a:lvl1pPr algn="l">
              <a:defRPr sz="2800" b="1" cap="all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655495"/>
            <a:ext cx="7772400" cy="1500187"/>
          </a:xfrm>
          <a:prstGeom prst="rect">
            <a:avLst/>
          </a:prstGeom>
        </p:spPr>
        <p:txBody>
          <a:bodyPr lIns="91402" tIns="45702" rIns="91402" bIns="45702" anchor="b"/>
          <a:lstStyle>
            <a:lvl1pPr marL="0" indent="0">
              <a:buNone/>
              <a:defRPr sz="4000">
                <a:solidFill>
                  <a:srgbClr val="552200"/>
                </a:solidFill>
              </a:defRPr>
            </a:lvl1pPr>
            <a:lvl2pPr marL="457011" indent="0">
              <a:buNone/>
              <a:defRPr sz="1800"/>
            </a:lvl2pPr>
            <a:lvl3pPr marL="914024" indent="0">
              <a:buNone/>
              <a:defRPr sz="1600"/>
            </a:lvl3pPr>
            <a:lvl4pPr marL="1371040" indent="0">
              <a:buNone/>
              <a:defRPr sz="1400"/>
            </a:lvl4pPr>
            <a:lvl5pPr marL="1828052" indent="0">
              <a:buNone/>
              <a:defRPr sz="1400"/>
            </a:lvl5pPr>
            <a:lvl6pPr marL="2285064" indent="0">
              <a:buNone/>
              <a:defRPr sz="1400"/>
            </a:lvl6pPr>
            <a:lvl7pPr marL="2742079" indent="0">
              <a:buNone/>
              <a:defRPr sz="1400"/>
            </a:lvl7pPr>
            <a:lvl8pPr marL="3199088" indent="0">
              <a:buNone/>
              <a:defRPr sz="1400"/>
            </a:lvl8pPr>
            <a:lvl9pPr marL="3656104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614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Whi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veg logo v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25" y="606425"/>
            <a:ext cx="5413375" cy="12176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8"/>
          <p:cNvSpPr>
            <a:spLocks noChangeArrowheads="1"/>
          </p:cNvSpPr>
          <p:nvPr userDrawn="1"/>
        </p:nvSpPr>
        <p:spPr bwMode="auto">
          <a:xfrm>
            <a:off x="0" y="5959475"/>
            <a:ext cx="3070225" cy="8985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l">
              <a:buFontTx/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1" y="2955405"/>
            <a:ext cx="5570525" cy="553998"/>
          </a:xfrm>
        </p:spPr>
        <p:txBody>
          <a:bodyPr/>
          <a:lstStyle>
            <a:lvl1pPr algn="l">
              <a:defRPr sz="3000" b="1">
                <a:solidFill>
                  <a:srgbClr val="552200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1" y="3959353"/>
            <a:ext cx="5570525" cy="1773936"/>
          </a:xfrm>
          <a:prstGeom prst="rect">
            <a:avLst/>
          </a:prstGeom>
        </p:spPr>
        <p:txBody>
          <a:bodyPr lIns="91402" tIns="45702" rIns="91402" bIns="45702">
            <a:normAutofit/>
          </a:bodyPr>
          <a:lstStyle>
            <a:lvl1pPr marL="0" indent="0" algn="l">
              <a:buNone/>
              <a:defRPr sz="1600" b="1">
                <a:solidFill>
                  <a:srgbClr val="7F7F7F"/>
                </a:solidFill>
                <a:latin typeface="Arial" pitchFamily="34" charset="0"/>
                <a:cs typeface="Arial" pitchFamily="34" charset="0"/>
              </a:defRPr>
            </a:lvl1pPr>
            <a:lvl2pPr marL="457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0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0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10909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68301" y="1670050"/>
            <a:ext cx="4061196" cy="4425950"/>
          </a:xfrm>
          <a:prstGeom prst="rect">
            <a:avLst/>
          </a:prstGeom>
        </p:spPr>
        <p:txBody>
          <a:bodyPr lIns="91402" tIns="45702" rIns="91402" bIns="45702"/>
          <a:lstStyle>
            <a:lvl1pPr>
              <a:buFont typeface="Wingdings" pitchFamily="2" charset="2"/>
              <a:buChar char="q"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buClr>
                <a:schemeClr val="tx2"/>
              </a:buClr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0"/>
          </p:nvPr>
        </p:nvSpPr>
        <p:spPr>
          <a:xfrm>
            <a:off x="4548256" y="1670050"/>
            <a:ext cx="4138551" cy="4425950"/>
          </a:xfrm>
          <a:prstGeom prst="rect">
            <a:avLst/>
          </a:prstGeom>
        </p:spPr>
        <p:txBody>
          <a:bodyPr lIns="91402" tIns="45702" rIns="91402" bIns="45702"/>
          <a:lstStyle>
            <a:lvl1pPr>
              <a:buFont typeface="Wingdings" pitchFamily="2" charset="2"/>
              <a:buChar char="q"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buClr>
                <a:schemeClr val="tx2"/>
              </a:buClr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498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319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5664" y="360182"/>
            <a:ext cx="5577527" cy="460221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841" y="1397000"/>
            <a:ext cx="8657167" cy="4804833"/>
          </a:xfrm>
          <a:prstGeom prst="rect">
            <a:avLst/>
          </a:prstGeom>
        </p:spPr>
        <p:txBody>
          <a:bodyPr lIns="91402" tIns="45702" rIns="91402" bIns="45702"/>
          <a:lstStyle>
            <a:lvl1pPr>
              <a:buFont typeface="Wingdings" pitchFamily="2" charset="2"/>
              <a:buChar char="q"/>
              <a:defRPr sz="2400">
                <a:solidFill>
                  <a:schemeClr val="bg2">
                    <a:lumMod val="25000"/>
                  </a:schemeClr>
                </a:solidFill>
              </a:defRPr>
            </a:lvl1pPr>
            <a:lvl2pPr>
              <a:buClr>
                <a:schemeClr val="tx2"/>
              </a:buClr>
              <a:defRPr sz="20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097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1730375"/>
            <a:ext cx="9144000" cy="215900"/>
          </a:xfrm>
          <a:prstGeom prst="rect">
            <a:avLst/>
          </a:prstGeom>
          <a:gradFill rotWithShape="0">
            <a:gsLst>
              <a:gs pos="0">
                <a:srgbClr val="E8E8E8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2" tIns="45702" rIns="91402" bIns="45702" anchor="ctr">
            <a:spAutoFit/>
          </a:bodyPr>
          <a:lstStyle/>
          <a:p>
            <a:endParaRPr lang="en-US"/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38238" y="349250"/>
            <a:ext cx="71580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02" tIns="45702" rIns="91402" bIns="45702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28" name="Rectangle 7"/>
          <p:cNvSpPr>
            <a:spLocks noChangeArrowheads="1"/>
          </p:cNvSpPr>
          <p:nvPr/>
        </p:nvSpPr>
        <p:spPr bwMode="auto">
          <a:xfrm>
            <a:off x="8458200" y="6397625"/>
            <a:ext cx="685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45702" rIns="0" bIns="45702" anchor="ctr"/>
          <a:lstStyle/>
          <a:p>
            <a:pPr>
              <a:buFontTx/>
              <a:buNone/>
            </a:pPr>
            <a:fld id="{FD8812A5-7706-AF45-9670-B8F2030C16DF}" type="slidenum">
              <a:rPr lang="en-US" sz="2000">
                <a:solidFill>
                  <a:srgbClr val="552200"/>
                </a:solidFill>
              </a:rPr>
              <a:pPr>
                <a:buFontTx/>
                <a:buNone/>
              </a:pPr>
              <a:t>‹#›</a:t>
            </a:fld>
            <a:endParaRPr lang="en-US" sz="2000">
              <a:solidFill>
                <a:srgbClr val="552200"/>
              </a:solidFill>
            </a:endParaRPr>
          </a:p>
        </p:txBody>
      </p:sp>
      <p:sp>
        <p:nvSpPr>
          <p:cNvPr id="1029" name="Content Placeholder 2"/>
          <p:cNvSpPr txBox="1">
            <a:spLocks/>
          </p:cNvSpPr>
          <p:nvPr/>
        </p:nvSpPr>
        <p:spPr bwMode="auto">
          <a:xfrm>
            <a:off x="368300" y="1670050"/>
            <a:ext cx="8318500" cy="4425950"/>
          </a:xfrm>
          <a:prstGeom prst="rect">
            <a:avLst/>
          </a:prstGeom>
          <a:noFill/>
          <a:ln>
            <a:noFill/>
          </a:ln>
          <a:extLst/>
        </p:spPr>
        <p:txBody>
          <a:bodyPr lIns="91402" tIns="45702" rIns="91402" bIns="45702"/>
          <a:lstStyle>
            <a:lvl1pPr marL="342900" indent="-342900" eaLnBrk="0" hangingPunct="0">
              <a:defRPr sz="1600" b="1">
                <a:solidFill>
                  <a:schemeClr val="bg1"/>
                </a:solidFill>
                <a:latin typeface="Arial" pitchFamily="34" charset="0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Arial" pitchFamily="34" charset="0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Arial" pitchFamily="34" charset="0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Arial" pitchFamily="34" charset="0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bg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bg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bg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bg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Wingdings" pitchFamily="2" charset="2"/>
              <a:buChar char="q"/>
              <a:defRPr/>
            </a:pPr>
            <a:endParaRPr lang="en-US" sz="1400" b="0" dirty="0" smtClean="0">
              <a:solidFill>
                <a:srgbClr val="262626"/>
              </a:solidFill>
              <a:ea typeface="ＭＳ Ｐゴシック" pitchFamily="34" charset="-128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0" y="1033995"/>
            <a:ext cx="9144000" cy="1076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02" tIns="45702" rIns="91402" bIns="45702" anchor="ctr">
            <a:spAutoFit/>
          </a:bodyPr>
          <a:lstStyle/>
          <a:p>
            <a:pPr>
              <a:defRPr/>
            </a:pPr>
            <a:endParaRPr lang="en-US" sz="100" dirty="0">
              <a:solidFill>
                <a:schemeClr val="bg1"/>
              </a:solidFill>
            </a:endParaRPr>
          </a:p>
        </p:txBody>
      </p:sp>
      <p:pic>
        <p:nvPicPr>
          <p:cNvPr id="1033" name="Picture 3" descr="veg logo v5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96025"/>
            <a:ext cx="2449513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50" r:id="rId3"/>
    <p:sldLayoutId id="2147483848" r:id="rId4"/>
    <p:sldLayoutId id="2147483849" r:id="rId5"/>
  </p:sldLayoutIdLst>
  <p:timing>
    <p:tnLst>
      <p:par>
        <p:cTn xmlns:p14="http://schemas.microsoft.com/office/powerpoint/2010/main"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552200"/>
          </a:solidFill>
          <a:latin typeface="+mj-lt"/>
          <a:ea typeface="ＭＳ Ｐゴシック" pitchFamily="-106" charset="-128"/>
          <a:cs typeface="ＭＳ Ｐゴシック" pitchFamily="-106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552200"/>
          </a:solidFill>
          <a:latin typeface="Arial" charset="0"/>
          <a:ea typeface="ＭＳ Ｐゴシック" pitchFamily="-106" charset="-128"/>
          <a:cs typeface="ＭＳ Ｐゴシック" pitchFamily="-106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552200"/>
          </a:solidFill>
          <a:latin typeface="Arial" charset="0"/>
          <a:ea typeface="ＭＳ Ｐゴシック" pitchFamily="-106" charset="-128"/>
          <a:cs typeface="ＭＳ Ｐゴシック" pitchFamily="-106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552200"/>
          </a:solidFill>
          <a:latin typeface="Arial" charset="0"/>
          <a:ea typeface="ＭＳ Ｐゴシック" pitchFamily="-106" charset="-128"/>
          <a:cs typeface="ＭＳ Ｐゴシック" pitchFamily="-106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552200"/>
          </a:solidFill>
          <a:latin typeface="Arial" charset="0"/>
          <a:ea typeface="ＭＳ Ｐゴシック" pitchFamily="-106" charset="-128"/>
          <a:cs typeface="ＭＳ Ｐゴシック" pitchFamily="-106" charset="-128"/>
        </a:defRPr>
      </a:lvl5pPr>
      <a:lvl6pPr marL="457011"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445562"/>
          </a:solidFill>
          <a:latin typeface="Arial" charset="0"/>
        </a:defRPr>
      </a:lvl6pPr>
      <a:lvl7pPr marL="914024"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445562"/>
          </a:solidFill>
          <a:latin typeface="Arial" charset="0"/>
        </a:defRPr>
      </a:lvl7pPr>
      <a:lvl8pPr marL="1371040"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445562"/>
          </a:solidFill>
          <a:latin typeface="Arial" charset="0"/>
        </a:defRPr>
      </a:lvl8pPr>
      <a:lvl9pPr marL="1828052"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445562"/>
          </a:solidFill>
          <a:latin typeface="Arial" charset="0"/>
        </a:defRPr>
      </a:lvl9pPr>
    </p:titleStyle>
    <p:bodyStyle>
      <a:lvl1pPr marL="339725" indent="-339725" algn="l" rtl="0" eaLnBrk="1" fontAlgn="base" hangingPunct="1">
        <a:spcBef>
          <a:spcPct val="20000"/>
        </a:spcBef>
        <a:spcAft>
          <a:spcPct val="0"/>
        </a:spcAft>
        <a:buFont typeface="Wingdings" charset="0"/>
        <a:buChar char="•"/>
        <a:defRPr sz="1600" b="1">
          <a:solidFill>
            <a:schemeClr val="tx1"/>
          </a:solidFill>
          <a:latin typeface="+mn-lt"/>
          <a:ea typeface="ＭＳ Ｐゴシック" pitchFamily="-106" charset="-128"/>
          <a:cs typeface="ＭＳ Ｐゴシック" pitchFamily="-106" charset="-128"/>
        </a:defRPr>
      </a:lvl1pPr>
      <a:lvl2pPr marL="739775" indent="-280988" algn="l" rtl="0" eaLnBrk="1" fontAlgn="base" hangingPunct="1">
        <a:spcBef>
          <a:spcPct val="20000"/>
        </a:spcBef>
        <a:spcAft>
          <a:spcPct val="0"/>
        </a:spcAft>
        <a:buClr>
          <a:srgbClr val="FD9712"/>
        </a:buClr>
        <a:buFont typeface="Wingdings" charset="0"/>
        <a:buChar char="§"/>
        <a:defRPr sz="1400">
          <a:solidFill>
            <a:schemeClr val="tx1"/>
          </a:solidFill>
          <a:latin typeface="+mn-lt"/>
          <a:ea typeface="ＭＳ Ｐゴシック" pitchFamily="-106" charset="-128"/>
          <a:cs typeface="ＭＳ Ｐゴシック"/>
        </a:defRPr>
      </a:lvl2pPr>
      <a:lvl3pPr marL="1138238" indent="-22542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charset="0"/>
        <a:buChar char="•"/>
        <a:defRPr sz="1400">
          <a:solidFill>
            <a:schemeClr val="tx1"/>
          </a:solidFill>
          <a:latin typeface="+mn-lt"/>
          <a:ea typeface="ＭＳ Ｐゴシック" pitchFamily="-106" charset="-128"/>
          <a:cs typeface="ＭＳ Ｐゴシック"/>
        </a:defRPr>
      </a:lvl3pPr>
      <a:lvl4pPr marL="1597025" indent="-22542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Arial" charset="0"/>
        <a:buChar char="»"/>
        <a:defRPr sz="1400">
          <a:solidFill>
            <a:schemeClr val="tx1"/>
          </a:solidFill>
          <a:latin typeface="+mn-lt"/>
          <a:ea typeface="ＭＳ Ｐゴシック" pitchFamily="-106" charset="-128"/>
          <a:cs typeface="ＭＳ Ｐゴシック"/>
        </a:defRPr>
      </a:lvl4pPr>
      <a:lvl5pPr marL="2054225" indent="-22542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charset="0"/>
        <a:buChar char="•"/>
        <a:defRPr sz="1400">
          <a:solidFill>
            <a:schemeClr val="tx1"/>
          </a:solidFill>
          <a:latin typeface="+mn-lt"/>
          <a:ea typeface="ＭＳ Ｐゴシック" pitchFamily="-106" charset="-128"/>
          <a:cs typeface="ＭＳ Ｐゴシック"/>
        </a:defRPr>
      </a:lvl5pPr>
      <a:lvl6pPr marL="2513573" indent="-22850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pitchFamily="124" charset="0"/>
        <a:buChar char="•"/>
        <a:defRPr sz="1400">
          <a:solidFill>
            <a:schemeClr val="tx1"/>
          </a:solidFill>
          <a:latin typeface="+mn-lt"/>
        </a:defRPr>
      </a:lvl6pPr>
      <a:lvl7pPr marL="2970584" indent="-22850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pitchFamily="124" charset="0"/>
        <a:buChar char="•"/>
        <a:defRPr sz="1400">
          <a:solidFill>
            <a:schemeClr val="tx1"/>
          </a:solidFill>
          <a:latin typeface="+mn-lt"/>
        </a:defRPr>
      </a:lvl7pPr>
      <a:lvl8pPr marL="3427598" indent="-22850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pitchFamily="124" charset="0"/>
        <a:buChar char="•"/>
        <a:defRPr sz="1400">
          <a:solidFill>
            <a:schemeClr val="tx1"/>
          </a:solidFill>
          <a:latin typeface="+mn-lt"/>
        </a:defRPr>
      </a:lvl8pPr>
      <a:lvl9pPr marL="3884609" indent="-22850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pitchFamily="124" charset="0"/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11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24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040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052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064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079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088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104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-382255"/>
            <a:ext cx="7886700" cy="682986"/>
          </a:xfrm>
        </p:spPr>
        <p:txBody>
          <a:bodyPr>
            <a:noAutofit/>
          </a:bodyPr>
          <a:lstStyle/>
          <a:p>
            <a:r>
              <a:rPr lang="en-US" sz="2000" dirty="0" smtClean="0"/>
              <a:t>Business Architecture Aligns POV across an organization and between organizations (verticals &amp; horizontals)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776" y="7865178"/>
            <a:ext cx="8473195" cy="104252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200" dirty="0" smtClean="0"/>
              <a:t>Requirements are framed by the strategy they implement, seen through stakeholder value perspective (value stream) and what the business has the ability to do to deliver that value (capability)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200" dirty="0" smtClean="0"/>
              <a:t>Requirements are additionally bound by investment, project and stakeholder focus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200" dirty="0" smtClean="0"/>
              <a:t>Other perspectives for framing, such as product and service, may be exposed using business architecture</a:t>
            </a:r>
            <a:endParaRPr lang="en-US" sz="1200" dirty="0"/>
          </a:p>
        </p:txBody>
      </p:sp>
      <p:sp>
        <p:nvSpPr>
          <p:cNvPr id="4" name="Rectangle 3"/>
          <p:cNvSpPr/>
          <p:nvPr/>
        </p:nvSpPr>
        <p:spPr>
          <a:xfrm>
            <a:off x="1267265" y="1687238"/>
            <a:ext cx="1147334" cy="685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Strategy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792365" y="3223886"/>
            <a:ext cx="1201363" cy="11042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Requirement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657044" y="3757392"/>
            <a:ext cx="1097492" cy="685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Internal</a:t>
            </a:r>
          </a:p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Stakeholder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62138" y="1793030"/>
            <a:ext cx="1201363" cy="685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Value Stream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34729" y="2702605"/>
            <a:ext cx="1086947" cy="7212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Capability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41708" y="2261597"/>
            <a:ext cx="1201363" cy="685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Value Stream Stage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4163501" y="2195270"/>
            <a:ext cx="378207" cy="2989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 i="1" dirty="0"/>
          </a:p>
        </p:txBody>
      </p:sp>
      <p:sp>
        <p:nvSpPr>
          <p:cNvPr id="11" name="Right Arrow 10"/>
          <p:cNvSpPr/>
          <p:nvPr/>
        </p:nvSpPr>
        <p:spPr>
          <a:xfrm>
            <a:off x="5754448" y="2656030"/>
            <a:ext cx="480281" cy="3104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 i="1" dirty="0"/>
          </a:p>
        </p:txBody>
      </p:sp>
      <p:sp>
        <p:nvSpPr>
          <p:cNvPr id="12" name="Right Arrow 11"/>
          <p:cNvSpPr/>
          <p:nvPr/>
        </p:nvSpPr>
        <p:spPr>
          <a:xfrm>
            <a:off x="2414599" y="1870835"/>
            <a:ext cx="546410" cy="3047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 i="1" dirty="0"/>
          </a:p>
        </p:txBody>
      </p:sp>
      <p:sp>
        <p:nvSpPr>
          <p:cNvPr id="16" name="Right Arrow 15"/>
          <p:cNvSpPr/>
          <p:nvPr/>
        </p:nvSpPr>
        <p:spPr>
          <a:xfrm>
            <a:off x="7321676" y="3145912"/>
            <a:ext cx="464012" cy="3030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 i="1" dirty="0"/>
          </a:p>
        </p:txBody>
      </p:sp>
      <p:sp>
        <p:nvSpPr>
          <p:cNvPr id="17" name="Rectangle 16"/>
          <p:cNvSpPr/>
          <p:nvPr/>
        </p:nvSpPr>
        <p:spPr>
          <a:xfrm>
            <a:off x="2833723" y="983717"/>
            <a:ext cx="1532308" cy="2049436"/>
          </a:xfrm>
          <a:prstGeom prst="rect">
            <a:avLst/>
          </a:prstGeom>
          <a:noFill/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1400" b="0" i="1" dirty="0" smtClean="0">
                <a:solidFill>
                  <a:srgbClr val="000000"/>
                </a:solidFill>
              </a:rPr>
              <a:t>Customer Perspective</a:t>
            </a:r>
            <a:endParaRPr lang="en-US" sz="1400" b="0" i="1" dirty="0">
              <a:solidFill>
                <a:srgbClr val="00000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077519" y="983717"/>
            <a:ext cx="1358201" cy="2773673"/>
          </a:xfrm>
          <a:prstGeom prst="rect">
            <a:avLst/>
          </a:prstGeom>
          <a:noFill/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1400" b="0" i="1" dirty="0" smtClean="0">
                <a:solidFill>
                  <a:srgbClr val="000000"/>
                </a:solidFill>
              </a:rPr>
              <a:t>What an Organization Provides</a:t>
            </a:r>
            <a:endParaRPr lang="en-US" sz="1400" b="0" i="1" dirty="0">
              <a:solidFill>
                <a:srgbClr val="000000"/>
              </a:solidFill>
            </a:endParaRPr>
          </a:p>
        </p:txBody>
      </p:sp>
      <p:sp>
        <p:nvSpPr>
          <p:cNvPr id="23" name="Down Arrow 22"/>
          <p:cNvSpPr/>
          <p:nvPr/>
        </p:nvSpPr>
        <p:spPr>
          <a:xfrm flipV="1">
            <a:off x="5069287" y="2947395"/>
            <a:ext cx="274320" cy="80999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/>
          </a:p>
        </p:txBody>
      </p:sp>
      <p:sp>
        <p:nvSpPr>
          <p:cNvPr id="24" name="Right Arrow 23"/>
          <p:cNvSpPr/>
          <p:nvPr/>
        </p:nvSpPr>
        <p:spPr>
          <a:xfrm>
            <a:off x="5754536" y="3997258"/>
            <a:ext cx="2031153" cy="2707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 i="1" dirty="0"/>
          </a:p>
        </p:txBody>
      </p:sp>
      <p:sp>
        <p:nvSpPr>
          <p:cNvPr id="25" name="Rectangle 24"/>
          <p:cNvSpPr/>
          <p:nvPr/>
        </p:nvSpPr>
        <p:spPr>
          <a:xfrm>
            <a:off x="7577581" y="983717"/>
            <a:ext cx="1689737" cy="2049436"/>
          </a:xfrm>
          <a:prstGeom prst="rect">
            <a:avLst/>
          </a:prstGeom>
          <a:noFill/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1400" b="0" i="1" dirty="0">
                <a:solidFill>
                  <a:srgbClr val="000000"/>
                </a:solidFill>
              </a:rPr>
              <a:t>Investment &amp; Solution</a:t>
            </a:r>
          </a:p>
          <a:p>
            <a:pPr>
              <a:buNone/>
            </a:pPr>
            <a:r>
              <a:rPr lang="en-US" sz="1400" b="0" i="1" dirty="0">
                <a:solidFill>
                  <a:srgbClr val="000000"/>
                </a:solidFill>
              </a:rPr>
              <a:t>Perspective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7012" y="2100127"/>
            <a:ext cx="1086947" cy="7307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Initiative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28" name="Down Arrow 27"/>
          <p:cNvSpPr/>
          <p:nvPr/>
        </p:nvSpPr>
        <p:spPr>
          <a:xfrm>
            <a:off x="8272737" y="2830924"/>
            <a:ext cx="274320" cy="39296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/>
          </a:p>
        </p:txBody>
      </p:sp>
      <p:sp>
        <p:nvSpPr>
          <p:cNvPr id="29" name="Rectangle 28"/>
          <p:cNvSpPr/>
          <p:nvPr/>
        </p:nvSpPr>
        <p:spPr>
          <a:xfrm>
            <a:off x="1002551" y="983717"/>
            <a:ext cx="1702550" cy="2049435"/>
          </a:xfrm>
          <a:prstGeom prst="rect">
            <a:avLst/>
          </a:prstGeom>
          <a:noFill/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1400" b="0" i="1" dirty="0">
                <a:solidFill>
                  <a:srgbClr val="000000"/>
                </a:solidFill>
              </a:rPr>
              <a:t>Strategic Perspective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61378" y="983717"/>
            <a:ext cx="1494631" cy="3910802"/>
          </a:xfrm>
          <a:prstGeom prst="rect">
            <a:avLst/>
          </a:prstGeom>
          <a:noFill/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1400" b="0" i="1" dirty="0" smtClean="0">
                <a:solidFill>
                  <a:srgbClr val="000000"/>
                </a:solidFill>
              </a:rPr>
              <a:t>Internal Stakeholder   </a:t>
            </a:r>
          </a:p>
          <a:p>
            <a:pPr>
              <a:buNone/>
            </a:pPr>
            <a:r>
              <a:rPr lang="en-US" sz="1100" b="0" i="1" dirty="0" smtClean="0">
                <a:solidFill>
                  <a:srgbClr val="000000"/>
                </a:solidFill>
              </a:rPr>
              <a:t>(X-Functional) </a:t>
            </a:r>
            <a:r>
              <a:rPr lang="en-US" sz="1400" b="0" i="1" dirty="0" smtClean="0">
                <a:solidFill>
                  <a:srgbClr val="000000"/>
                </a:solidFill>
              </a:rPr>
              <a:t>Perspective</a:t>
            </a:r>
            <a:endParaRPr lang="en-US" sz="1400" b="0" i="1" dirty="0">
              <a:solidFill>
                <a:srgbClr val="000000"/>
              </a:solidFill>
            </a:endParaRPr>
          </a:p>
        </p:txBody>
      </p:sp>
      <p:sp>
        <p:nvSpPr>
          <p:cNvPr id="32" name="Right Arrow 31"/>
          <p:cNvSpPr/>
          <p:nvPr/>
        </p:nvSpPr>
        <p:spPr>
          <a:xfrm>
            <a:off x="5747911" y="2246168"/>
            <a:ext cx="2103441" cy="2386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 i="1" dirty="0"/>
          </a:p>
        </p:txBody>
      </p:sp>
      <p:sp>
        <p:nvSpPr>
          <p:cNvPr id="34" name="Right Arrow 33"/>
          <p:cNvSpPr/>
          <p:nvPr/>
        </p:nvSpPr>
        <p:spPr>
          <a:xfrm>
            <a:off x="7321676" y="2681089"/>
            <a:ext cx="529675" cy="2462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 i="1" dirty="0"/>
          </a:p>
        </p:txBody>
      </p:sp>
      <p:sp>
        <p:nvSpPr>
          <p:cNvPr id="35" name="Rectangle 34"/>
          <p:cNvSpPr/>
          <p:nvPr/>
        </p:nvSpPr>
        <p:spPr>
          <a:xfrm>
            <a:off x="1208251" y="3737821"/>
            <a:ext cx="1307154" cy="685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Business Entity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971195" y="3145911"/>
            <a:ext cx="1702550" cy="1748607"/>
          </a:xfrm>
          <a:prstGeom prst="rect">
            <a:avLst/>
          </a:prstGeom>
          <a:noFill/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>
              <a:buNone/>
            </a:pPr>
            <a:r>
              <a:rPr lang="en-US" sz="1400" b="0" i="1" dirty="0">
                <a:solidFill>
                  <a:srgbClr val="000000"/>
                </a:solidFill>
              </a:rPr>
              <a:t>BU &amp; LOB Perspective</a:t>
            </a:r>
          </a:p>
        </p:txBody>
      </p:sp>
      <p:sp>
        <p:nvSpPr>
          <p:cNvPr id="37" name="Down Arrow 36"/>
          <p:cNvSpPr/>
          <p:nvPr/>
        </p:nvSpPr>
        <p:spPr>
          <a:xfrm flipV="1">
            <a:off x="1732913" y="2373036"/>
            <a:ext cx="274320" cy="136478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/>
          </a:p>
        </p:txBody>
      </p:sp>
      <p:sp>
        <p:nvSpPr>
          <p:cNvPr id="38" name="Right Arrow 37"/>
          <p:cNvSpPr/>
          <p:nvPr/>
        </p:nvSpPr>
        <p:spPr>
          <a:xfrm>
            <a:off x="2515404" y="4000934"/>
            <a:ext cx="2141640" cy="2670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 i="1" dirty="0"/>
          </a:p>
        </p:txBody>
      </p:sp>
      <p:sp>
        <p:nvSpPr>
          <p:cNvPr id="39" name="Rectangle 38"/>
          <p:cNvSpPr/>
          <p:nvPr/>
        </p:nvSpPr>
        <p:spPr>
          <a:xfrm>
            <a:off x="-2329754" y="1331332"/>
            <a:ext cx="1582673" cy="3810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Customer Needs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-2329754" y="1795032"/>
            <a:ext cx="1582673" cy="3810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Compliance Needs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-2329754" y="2259230"/>
            <a:ext cx="1582673" cy="5716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Business</a:t>
            </a:r>
          </a:p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Stakeholder Needs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43" name="Right Arrow 42"/>
          <p:cNvSpPr/>
          <p:nvPr/>
        </p:nvSpPr>
        <p:spPr>
          <a:xfrm>
            <a:off x="817198" y="1886268"/>
            <a:ext cx="425166" cy="3047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 i="1" dirty="0"/>
          </a:p>
        </p:txBody>
      </p:sp>
      <p:sp>
        <p:nvSpPr>
          <p:cNvPr id="44" name="Rectangle 43"/>
          <p:cNvSpPr/>
          <p:nvPr/>
        </p:nvSpPr>
        <p:spPr>
          <a:xfrm>
            <a:off x="-2527632" y="983717"/>
            <a:ext cx="1945538" cy="2049435"/>
          </a:xfrm>
          <a:prstGeom prst="rect">
            <a:avLst/>
          </a:prstGeom>
          <a:noFill/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buNone/>
            </a:pPr>
            <a:r>
              <a:rPr lang="en-US" sz="1400" b="0" i="1" dirty="0" smtClean="0">
                <a:solidFill>
                  <a:srgbClr val="000000"/>
                </a:solidFill>
              </a:rPr>
              <a:t>Customer Perspective</a:t>
            </a:r>
            <a:endParaRPr lang="en-US" sz="1400" b="0" i="1" dirty="0">
              <a:solidFill>
                <a:srgbClr val="000000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-240350" y="1761350"/>
            <a:ext cx="1057547" cy="5349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Desired Outcomes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46" name="Right Arrow 45"/>
          <p:cNvSpPr/>
          <p:nvPr/>
        </p:nvSpPr>
        <p:spPr>
          <a:xfrm>
            <a:off x="-747081" y="1862634"/>
            <a:ext cx="506731" cy="304722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 i="1" dirty="0"/>
          </a:p>
        </p:txBody>
      </p:sp>
      <p:sp>
        <p:nvSpPr>
          <p:cNvPr id="47" name="Rectangle 46"/>
          <p:cNvSpPr/>
          <p:nvPr/>
        </p:nvSpPr>
        <p:spPr>
          <a:xfrm>
            <a:off x="-527273" y="983717"/>
            <a:ext cx="1453479" cy="2049435"/>
          </a:xfrm>
          <a:prstGeom prst="rect">
            <a:avLst/>
          </a:prstGeom>
          <a:noFill/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buNone/>
            </a:pPr>
            <a:r>
              <a:rPr lang="en-US" sz="1400" b="0" i="1" dirty="0" smtClean="0">
                <a:solidFill>
                  <a:srgbClr val="000000"/>
                </a:solidFill>
              </a:rPr>
              <a:t>What a Customer Wants</a:t>
            </a:r>
            <a:endParaRPr lang="en-US" sz="1400" b="0" i="1" dirty="0">
              <a:solidFill>
                <a:srgbClr val="000000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7589428" y="3145912"/>
            <a:ext cx="1689737" cy="1748607"/>
          </a:xfrm>
          <a:prstGeom prst="rect">
            <a:avLst/>
          </a:prstGeom>
          <a:noFill/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>
              <a:buNone/>
            </a:pPr>
            <a:r>
              <a:rPr lang="en-US" sz="1400" b="0" i="1" dirty="0" smtClean="0">
                <a:solidFill>
                  <a:srgbClr val="000000"/>
                </a:solidFill>
              </a:rPr>
              <a:t>Value (Capability) Gap Perspective</a:t>
            </a:r>
            <a:endParaRPr lang="en-US" sz="1400" b="0" i="1" dirty="0">
              <a:solidFill>
                <a:srgbClr val="000000"/>
              </a:solidFill>
            </a:endParaRPr>
          </a:p>
        </p:txBody>
      </p:sp>
      <p:sp>
        <p:nvSpPr>
          <p:cNvPr id="50" name="Right Arrow 49"/>
          <p:cNvSpPr/>
          <p:nvPr/>
        </p:nvSpPr>
        <p:spPr>
          <a:xfrm>
            <a:off x="-2527634" y="300725"/>
            <a:ext cx="5232735" cy="539484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dirty="0" smtClean="0"/>
              <a:t>WHY</a:t>
            </a:r>
            <a:endParaRPr lang="en-US" sz="1800" dirty="0"/>
          </a:p>
        </p:txBody>
      </p:sp>
      <p:sp>
        <p:nvSpPr>
          <p:cNvPr id="51" name="Right Arrow 50"/>
          <p:cNvSpPr/>
          <p:nvPr/>
        </p:nvSpPr>
        <p:spPr>
          <a:xfrm>
            <a:off x="2826144" y="300725"/>
            <a:ext cx="6441173" cy="539484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dirty="0" smtClean="0"/>
              <a:t>WHAT</a:t>
            </a:r>
            <a:endParaRPr lang="en-US" sz="1800" dirty="0"/>
          </a:p>
        </p:txBody>
      </p:sp>
      <p:sp>
        <p:nvSpPr>
          <p:cNvPr id="53" name="Left Arrow 52"/>
          <p:cNvSpPr/>
          <p:nvPr/>
        </p:nvSpPr>
        <p:spPr>
          <a:xfrm>
            <a:off x="-2329754" y="6858000"/>
            <a:ext cx="11473754" cy="539484"/>
          </a:xfrm>
          <a:prstGeom prst="lef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dirty="0" smtClean="0"/>
              <a:t>HOW</a:t>
            </a:r>
            <a:endParaRPr lang="en-US" sz="1800" dirty="0"/>
          </a:p>
        </p:txBody>
      </p:sp>
      <p:sp>
        <p:nvSpPr>
          <p:cNvPr id="54" name="Rectangle 53"/>
          <p:cNvSpPr/>
          <p:nvPr/>
        </p:nvSpPr>
        <p:spPr>
          <a:xfrm>
            <a:off x="971196" y="5022196"/>
            <a:ext cx="8296122" cy="1704485"/>
          </a:xfrm>
          <a:prstGeom prst="rect">
            <a:avLst/>
          </a:prstGeom>
          <a:noFill/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>
              <a:buNone/>
            </a:pPr>
            <a:r>
              <a:rPr lang="en-US" sz="1400" b="0" i="1" dirty="0" smtClean="0">
                <a:solidFill>
                  <a:srgbClr val="000000"/>
                </a:solidFill>
              </a:rPr>
              <a:t>Execution Delivery Perspective</a:t>
            </a:r>
            <a:endParaRPr lang="en-US" sz="1400" b="0" i="1" dirty="0">
              <a:solidFill>
                <a:srgbClr val="000000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7792365" y="5558682"/>
            <a:ext cx="1201364" cy="685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Solution Architecture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56" name="Down Arrow 55"/>
          <p:cNvSpPr/>
          <p:nvPr/>
        </p:nvSpPr>
        <p:spPr>
          <a:xfrm>
            <a:off x="8287977" y="4904448"/>
            <a:ext cx="274320" cy="65423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/>
          </a:p>
        </p:txBody>
      </p:sp>
      <p:sp>
        <p:nvSpPr>
          <p:cNvPr id="57" name="Rectangle 56"/>
          <p:cNvSpPr/>
          <p:nvPr/>
        </p:nvSpPr>
        <p:spPr>
          <a:xfrm>
            <a:off x="4657044" y="5558681"/>
            <a:ext cx="1201364" cy="685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Solution Delivery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58" name="Down Arrow 57"/>
          <p:cNvSpPr/>
          <p:nvPr/>
        </p:nvSpPr>
        <p:spPr>
          <a:xfrm rot="5400000">
            <a:off x="6684888" y="4953725"/>
            <a:ext cx="274320" cy="19272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/>
          </a:p>
        </p:txBody>
      </p:sp>
      <p:sp>
        <p:nvSpPr>
          <p:cNvPr id="59" name="Rectangle 58"/>
          <p:cNvSpPr/>
          <p:nvPr/>
        </p:nvSpPr>
        <p:spPr>
          <a:xfrm>
            <a:off x="1208250" y="5558682"/>
            <a:ext cx="1617894" cy="685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Product &amp; Service Portfolio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60" name="Down Arrow 59"/>
          <p:cNvSpPr/>
          <p:nvPr/>
        </p:nvSpPr>
        <p:spPr>
          <a:xfrm rot="5400000">
            <a:off x="3595892" y="5018036"/>
            <a:ext cx="274320" cy="179865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/>
          </a:p>
        </p:txBody>
      </p:sp>
      <p:sp>
        <p:nvSpPr>
          <p:cNvPr id="61" name="Rectangle 60"/>
          <p:cNvSpPr/>
          <p:nvPr/>
        </p:nvSpPr>
        <p:spPr>
          <a:xfrm>
            <a:off x="-2329755" y="5558681"/>
            <a:ext cx="1582673" cy="685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Product &amp; Service Delivery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-2329755" y="3925070"/>
            <a:ext cx="1582673" cy="685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Product &amp; Service Support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63" name="Down Arrow 62"/>
          <p:cNvSpPr/>
          <p:nvPr/>
        </p:nvSpPr>
        <p:spPr>
          <a:xfrm rot="5400000">
            <a:off x="93425" y="4939699"/>
            <a:ext cx="274320" cy="195533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/>
          </a:p>
        </p:txBody>
      </p:sp>
      <p:sp>
        <p:nvSpPr>
          <p:cNvPr id="64" name="Down Arrow 63"/>
          <p:cNvSpPr/>
          <p:nvPr/>
        </p:nvSpPr>
        <p:spPr>
          <a:xfrm flipV="1">
            <a:off x="-1687312" y="4610870"/>
            <a:ext cx="274320" cy="9316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/>
          </a:p>
        </p:txBody>
      </p:sp>
      <p:sp>
        <p:nvSpPr>
          <p:cNvPr id="65" name="Down Arrow 64"/>
          <p:cNvSpPr/>
          <p:nvPr/>
        </p:nvSpPr>
        <p:spPr>
          <a:xfrm flipV="1">
            <a:off x="-1672072" y="2830924"/>
            <a:ext cx="274320" cy="108183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/>
          </a:p>
        </p:txBody>
      </p:sp>
      <p:sp>
        <p:nvSpPr>
          <p:cNvPr id="66" name="Rectangle 65"/>
          <p:cNvSpPr/>
          <p:nvPr/>
        </p:nvSpPr>
        <p:spPr>
          <a:xfrm>
            <a:off x="-2523347" y="3146061"/>
            <a:ext cx="3340544" cy="3580619"/>
          </a:xfrm>
          <a:prstGeom prst="rect">
            <a:avLst/>
          </a:prstGeom>
          <a:noFill/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>
              <a:buNone/>
            </a:pPr>
            <a:r>
              <a:rPr lang="en-US" sz="1400" b="0" i="1" dirty="0" smtClean="0">
                <a:solidFill>
                  <a:srgbClr val="000000"/>
                </a:solidFill>
              </a:rPr>
              <a:t>Operations Perspective</a:t>
            </a:r>
            <a:endParaRPr lang="en-US" sz="1400" b="0" i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44083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02"/>
            <a:ext cx="7886700" cy="682986"/>
          </a:xfrm>
        </p:spPr>
        <p:txBody>
          <a:bodyPr>
            <a:noAutofit/>
          </a:bodyPr>
          <a:lstStyle/>
          <a:p>
            <a:r>
              <a:rPr lang="en-US" sz="2000" dirty="0" smtClean="0"/>
              <a:t>Business Architecture Aligns POV across an organization and between organizations (verticals &amp; horizontals)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776" y="5688941"/>
            <a:ext cx="8473195" cy="104252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200" dirty="0" smtClean="0"/>
              <a:t>Requirements are framed by the strategy they implement, seen through stakeholder value perspective (value stream) and what the business has the ability to do to deliver that value (capability)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200" dirty="0" smtClean="0"/>
              <a:t>Requirements are additionally bound by investment, project and stakeholder focus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200" dirty="0" smtClean="0"/>
              <a:t>Other perspectives for framing, such as product and service, may be exposed using business architecture</a:t>
            </a:r>
            <a:endParaRPr lang="en-US" sz="12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76" y="934701"/>
            <a:ext cx="7884321" cy="4779397"/>
          </a:xfrm>
          <a:prstGeom prst="rect">
            <a:avLst/>
          </a:prstGeom>
        </p:spPr>
      </p:pic>
      <p:sp>
        <p:nvSpPr>
          <p:cNvPr id="14" name="Rounded Rectangular Callout 13"/>
          <p:cNvSpPr/>
          <p:nvPr/>
        </p:nvSpPr>
        <p:spPr>
          <a:xfrm>
            <a:off x="-2006741" y="0"/>
            <a:ext cx="2006742" cy="1175993"/>
          </a:xfrm>
          <a:prstGeom prst="wedgeRoundRectCallout">
            <a:avLst>
              <a:gd name="adj1" fmla="val 146354"/>
              <a:gd name="adj2" fmla="val 93167"/>
              <a:gd name="adj3" fmla="val 16667"/>
            </a:avLst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dirty="0" smtClean="0">
                <a:solidFill>
                  <a:schemeClr val="tx1"/>
                </a:solidFill>
              </a:rPr>
              <a:t>What a customer wants  </a:t>
            </a:r>
            <a:r>
              <a:rPr lang="en-US" sz="1800" i="1" dirty="0" smtClean="0">
                <a:solidFill>
                  <a:schemeClr val="tx1"/>
                </a:solidFill>
              </a:rPr>
              <a:t>(not asks)</a:t>
            </a:r>
            <a:endParaRPr lang="en-US" sz="1800" i="1" dirty="0">
              <a:solidFill>
                <a:schemeClr val="tx1"/>
              </a:solidFill>
            </a:endParaRPr>
          </a:p>
        </p:txBody>
      </p:sp>
      <p:sp>
        <p:nvSpPr>
          <p:cNvPr id="67" name="Rounded Rectangular Callout 66"/>
          <p:cNvSpPr/>
          <p:nvPr/>
        </p:nvSpPr>
        <p:spPr>
          <a:xfrm>
            <a:off x="1769238" y="-705596"/>
            <a:ext cx="3053478" cy="1409606"/>
          </a:xfrm>
          <a:prstGeom prst="wedgeRoundRectCallout">
            <a:avLst>
              <a:gd name="adj1" fmla="val 32556"/>
              <a:gd name="adj2" fmla="val 137100"/>
              <a:gd name="adj3" fmla="val 16667"/>
            </a:avLst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dirty="0" smtClean="0">
                <a:solidFill>
                  <a:schemeClr val="tx1"/>
                </a:solidFill>
              </a:rPr>
              <a:t>The Value Stream embodies what we need to deliver to address stakeholder needs</a:t>
            </a:r>
            <a:endParaRPr lang="en-US" sz="1800" i="1" dirty="0">
              <a:solidFill>
                <a:schemeClr val="tx1"/>
              </a:solidFill>
            </a:endParaRPr>
          </a:p>
        </p:txBody>
      </p:sp>
      <p:sp>
        <p:nvSpPr>
          <p:cNvPr id="68" name="Rounded Rectangular Callout 67"/>
          <p:cNvSpPr/>
          <p:nvPr/>
        </p:nvSpPr>
        <p:spPr>
          <a:xfrm>
            <a:off x="6819785" y="-938416"/>
            <a:ext cx="4107549" cy="1740904"/>
          </a:xfrm>
          <a:prstGeom prst="wedgeRoundRectCallout">
            <a:avLst>
              <a:gd name="adj1" fmla="val -72815"/>
              <a:gd name="adj2" fmla="val 126393"/>
              <a:gd name="adj3" fmla="val 16667"/>
            </a:avLst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dirty="0" smtClean="0">
                <a:solidFill>
                  <a:schemeClr val="tx1"/>
                </a:solidFill>
              </a:rPr>
              <a:t>The Value Stream Stages embody the separation of concerns within the organization for aligning capabilities, resources, and assets to meet the needs for external &amp; internal stakeholders per each value stream</a:t>
            </a:r>
            <a:endParaRPr lang="en-US" sz="1800" i="1" dirty="0">
              <a:solidFill>
                <a:schemeClr val="tx1"/>
              </a:solidFill>
            </a:endParaRPr>
          </a:p>
        </p:txBody>
      </p:sp>
      <p:sp>
        <p:nvSpPr>
          <p:cNvPr id="9" name="Rounded Rectangular Callout 8"/>
          <p:cNvSpPr/>
          <p:nvPr/>
        </p:nvSpPr>
        <p:spPr>
          <a:xfrm>
            <a:off x="-2430039" y="2869423"/>
            <a:ext cx="2430039" cy="1567991"/>
          </a:xfrm>
          <a:prstGeom prst="wedgeRoundRectCallout">
            <a:avLst>
              <a:gd name="adj1" fmla="val 189569"/>
              <a:gd name="adj2" fmla="val -49500"/>
              <a:gd name="adj3" fmla="val 16667"/>
            </a:avLst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dirty="0" smtClean="0">
                <a:solidFill>
                  <a:schemeClr val="tx1"/>
                </a:solidFill>
              </a:rPr>
              <a:t>Business Entities will shape the Strategy</a:t>
            </a:r>
          </a:p>
          <a:p>
            <a:pPr algn="ctr">
              <a:buNone/>
            </a:pPr>
            <a:r>
              <a:rPr lang="en-US" sz="1800" i="1" dirty="0" smtClean="0">
                <a:solidFill>
                  <a:schemeClr val="tx1"/>
                </a:solidFill>
              </a:rPr>
              <a:t>(this is where business innovation typically occurs)</a:t>
            </a:r>
            <a:endParaRPr lang="en-US" sz="1800" i="1" dirty="0">
              <a:solidFill>
                <a:schemeClr val="tx1"/>
              </a:solidFill>
            </a:endParaRPr>
          </a:p>
        </p:txBody>
      </p:sp>
      <p:sp>
        <p:nvSpPr>
          <p:cNvPr id="10" name="Rounded Rectangular Callout 9"/>
          <p:cNvSpPr/>
          <p:nvPr/>
        </p:nvSpPr>
        <p:spPr>
          <a:xfrm>
            <a:off x="8515350" y="2582786"/>
            <a:ext cx="3352645" cy="1567991"/>
          </a:xfrm>
          <a:prstGeom prst="wedgeRoundRectCallout">
            <a:avLst>
              <a:gd name="adj1" fmla="val -131216"/>
              <a:gd name="adj2" fmla="val -24500"/>
              <a:gd name="adj3" fmla="val 16667"/>
            </a:avLst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dirty="0" smtClean="0">
                <a:solidFill>
                  <a:schemeClr val="tx1"/>
                </a:solidFill>
              </a:rPr>
              <a:t>The Internal Stakeholders will shape the capabilities (beyond level 1) in the Value Stream Stages (via their resources, assets, &amp; processes)</a:t>
            </a:r>
            <a:endParaRPr lang="en-US" sz="1800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76939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92"/>
          <p:cNvSpPr/>
          <p:nvPr/>
        </p:nvSpPr>
        <p:spPr>
          <a:xfrm>
            <a:off x="-2093416" y="-305716"/>
            <a:ext cx="15030266" cy="82307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4474880" y="326261"/>
            <a:ext cx="2601130" cy="1480546"/>
            <a:chOff x="797627" y="837395"/>
            <a:chExt cx="1441379" cy="1480546"/>
          </a:xfrm>
        </p:grpSpPr>
        <p:sp>
          <p:nvSpPr>
            <p:cNvPr id="5" name="Rectangle 4"/>
            <p:cNvSpPr/>
            <p:nvPr/>
          </p:nvSpPr>
          <p:spPr>
            <a:xfrm>
              <a:off x="797627" y="1137911"/>
              <a:ext cx="1441379" cy="11800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buNone/>
              </a:pPr>
              <a:r>
                <a:rPr lang="en-US" sz="1400" b="0" dirty="0" smtClean="0">
                  <a:solidFill>
                    <a:schemeClr val="tx1"/>
                  </a:solidFill>
                </a:rPr>
                <a:t>Programs</a:t>
              </a:r>
            </a:p>
            <a:p>
              <a:pPr algn="l">
                <a:buNone/>
              </a:pPr>
              <a:r>
                <a:rPr lang="en-US" sz="1400" b="0" dirty="0">
                  <a:solidFill>
                    <a:schemeClr val="tx1"/>
                  </a:solidFill>
                </a:rPr>
                <a:t> </a:t>
              </a:r>
              <a:r>
                <a:rPr lang="en-US" sz="1400" b="0" dirty="0" smtClean="0">
                  <a:solidFill>
                    <a:schemeClr val="tx1"/>
                  </a:solidFill>
                </a:rPr>
                <a:t>    Projects</a:t>
              </a:r>
            </a:p>
            <a:p>
              <a:pPr algn="l">
                <a:buNone/>
              </a:pPr>
              <a:r>
                <a:rPr lang="en-US" sz="1400" b="0" dirty="0">
                  <a:solidFill>
                    <a:schemeClr val="tx1"/>
                  </a:solidFill>
                </a:rPr>
                <a:t> </a:t>
              </a:r>
              <a:r>
                <a:rPr lang="en-US" sz="1400" b="0" dirty="0" smtClean="0">
                  <a:solidFill>
                    <a:schemeClr val="tx1"/>
                  </a:solidFill>
                </a:rPr>
                <a:t>        Activities</a:t>
              </a:r>
            </a:p>
            <a:p>
              <a:pPr algn="l">
                <a:buNone/>
              </a:pPr>
              <a:r>
                <a:rPr lang="en-US" sz="1400" b="0" dirty="0">
                  <a:solidFill>
                    <a:schemeClr val="tx1"/>
                  </a:solidFill>
                </a:rPr>
                <a:t> </a:t>
              </a:r>
              <a:r>
                <a:rPr lang="en-US" sz="1400" b="0" dirty="0" smtClean="0">
                  <a:solidFill>
                    <a:schemeClr val="tx1"/>
                  </a:solidFill>
                </a:rPr>
                <a:t>            </a:t>
              </a:r>
              <a:r>
                <a:rPr lang="en-US" sz="1400" b="0" dirty="0" smtClean="0">
                  <a:solidFill>
                    <a:schemeClr val="tx1"/>
                  </a:solidFill>
                </a:rPr>
                <a:t>Tasks</a:t>
              </a:r>
              <a:endParaRPr lang="en-US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97627" y="837395"/>
              <a:ext cx="1441379" cy="276999"/>
            </a:xfrm>
            <a:prstGeom prst="rect">
              <a:avLst/>
            </a:prstGeom>
            <a:solidFill>
              <a:srgbClr val="FFCDCD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buNone/>
              </a:pPr>
              <a:r>
                <a:rPr lang="en-US" sz="1200" dirty="0" smtClean="0"/>
                <a:t>Initiatives</a:t>
              </a:r>
              <a:endParaRPr lang="en-US" sz="1200" dirty="0"/>
            </a:p>
          </p:txBody>
        </p:sp>
      </p:grpSp>
      <p:grpSp>
        <p:nvGrpSpPr>
          <p:cNvPr id="91" name="Group 90"/>
          <p:cNvGrpSpPr/>
          <p:nvPr/>
        </p:nvGrpSpPr>
        <p:grpSpPr>
          <a:xfrm>
            <a:off x="-1494094" y="2129904"/>
            <a:ext cx="2152697" cy="1360350"/>
            <a:chOff x="-1494094" y="2129904"/>
            <a:chExt cx="2152697" cy="1360350"/>
          </a:xfrm>
        </p:grpSpPr>
        <p:sp>
          <p:nvSpPr>
            <p:cNvPr id="4" name="Rectangle 3"/>
            <p:cNvSpPr/>
            <p:nvPr/>
          </p:nvSpPr>
          <p:spPr>
            <a:xfrm>
              <a:off x="-1494094" y="2616821"/>
              <a:ext cx="2152697" cy="8734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0" dirty="0" smtClean="0">
                  <a:solidFill>
                    <a:schemeClr val="tx1"/>
                  </a:solidFill>
                </a:rPr>
                <a:t>Gap Assessment</a:t>
              </a:r>
            </a:p>
            <a:p>
              <a:pPr algn="ctr">
                <a:buNone/>
              </a:pPr>
              <a:r>
                <a:rPr lang="en-US" sz="1400" b="0" dirty="0" smtClean="0">
                  <a:solidFill>
                    <a:schemeClr val="tx1"/>
                  </a:solidFill>
                </a:rPr>
                <a:t>(Needs vs. Capabilities)</a:t>
              </a:r>
              <a:endParaRPr lang="en-US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-1494094" y="2129904"/>
              <a:ext cx="2152697" cy="486918"/>
            </a:xfrm>
            <a:prstGeom prst="rect">
              <a:avLst/>
            </a:prstGeom>
            <a:solidFill>
              <a:srgbClr val="FFCDCD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buNone/>
              </a:pPr>
              <a:r>
                <a:rPr lang="en-US" sz="1200" dirty="0" smtClean="0"/>
                <a:t>Goals &amp; Objectives</a:t>
              </a:r>
              <a:endParaRPr lang="en-US" sz="1200" dirty="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10923527" y="2397192"/>
            <a:ext cx="1441379" cy="832990"/>
            <a:chOff x="2391406" y="2183120"/>
            <a:chExt cx="1441379" cy="832990"/>
          </a:xfrm>
        </p:grpSpPr>
        <p:sp>
          <p:nvSpPr>
            <p:cNvPr id="9" name="Rectangle 8"/>
            <p:cNvSpPr/>
            <p:nvPr/>
          </p:nvSpPr>
          <p:spPr>
            <a:xfrm>
              <a:off x="2391406" y="2460119"/>
              <a:ext cx="1441379" cy="55599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0" dirty="0" smtClean="0">
                  <a:solidFill>
                    <a:schemeClr val="tx1"/>
                  </a:solidFill>
                </a:rPr>
                <a:t>Un-Planned </a:t>
              </a:r>
              <a:r>
                <a:rPr lang="en-US" sz="1400" b="0" dirty="0" smtClean="0">
                  <a:solidFill>
                    <a:schemeClr val="tx1"/>
                  </a:solidFill>
                </a:rPr>
                <a:t>Outcomes</a:t>
              </a:r>
              <a:endParaRPr lang="en-US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391406" y="2183120"/>
              <a:ext cx="1441379" cy="276999"/>
            </a:xfrm>
            <a:prstGeom prst="rect">
              <a:avLst/>
            </a:prstGeom>
            <a:solidFill>
              <a:srgbClr val="FFCDCD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buNone/>
              </a:pPr>
              <a:r>
                <a:rPr lang="en-US" sz="1200" dirty="0" smtClean="0"/>
                <a:t>Risks</a:t>
              </a:r>
              <a:endParaRPr lang="en-US" sz="1200" dirty="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-1494094" y="766143"/>
            <a:ext cx="2152697" cy="996583"/>
            <a:chOff x="2391406" y="860912"/>
            <a:chExt cx="1441379" cy="996583"/>
          </a:xfrm>
        </p:grpSpPr>
        <p:sp>
          <p:nvSpPr>
            <p:cNvPr id="15" name="Rectangle 14"/>
            <p:cNvSpPr/>
            <p:nvPr/>
          </p:nvSpPr>
          <p:spPr>
            <a:xfrm>
              <a:off x="2391406" y="1137911"/>
              <a:ext cx="1441379" cy="71958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0" dirty="0" smtClean="0">
                  <a:solidFill>
                    <a:schemeClr val="tx1"/>
                  </a:solidFill>
                </a:rPr>
                <a:t>Customers </a:t>
              </a:r>
            </a:p>
            <a:p>
              <a:pPr algn="ctr">
                <a:buNone/>
              </a:pPr>
              <a:r>
                <a:rPr lang="en-US" sz="1400" b="0" dirty="0" smtClean="0">
                  <a:solidFill>
                    <a:schemeClr val="tx1"/>
                  </a:solidFill>
                </a:rPr>
                <a:t>Compliance</a:t>
              </a:r>
            </a:p>
            <a:p>
              <a:pPr algn="ctr">
                <a:buNone/>
              </a:pPr>
              <a:r>
                <a:rPr lang="en-US" sz="1400" b="0" dirty="0" smtClean="0">
                  <a:solidFill>
                    <a:schemeClr val="tx1"/>
                  </a:solidFill>
                </a:rPr>
                <a:t>Stakeholders</a:t>
              </a:r>
              <a:endParaRPr lang="en-US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391406" y="860912"/>
              <a:ext cx="1441379" cy="276999"/>
            </a:xfrm>
            <a:prstGeom prst="rect">
              <a:avLst/>
            </a:prstGeom>
            <a:solidFill>
              <a:srgbClr val="FFCDCD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buNone/>
              </a:pPr>
              <a:r>
                <a:rPr lang="en-US" sz="1200" dirty="0" smtClean="0"/>
                <a:t>Desired Outcomes</a:t>
              </a:r>
              <a:endParaRPr lang="en-US" sz="1200" dirty="0"/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8091411" y="1146434"/>
            <a:ext cx="2339182" cy="2097399"/>
            <a:chOff x="4427885" y="5019015"/>
            <a:chExt cx="2573186" cy="2097399"/>
          </a:xfrm>
        </p:grpSpPr>
        <p:sp>
          <p:nvSpPr>
            <p:cNvPr id="22" name="Rectangle 21"/>
            <p:cNvSpPr/>
            <p:nvPr/>
          </p:nvSpPr>
          <p:spPr>
            <a:xfrm>
              <a:off x="4427885" y="5480680"/>
              <a:ext cx="2573186" cy="534918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0" dirty="0" smtClean="0">
                  <a:solidFill>
                    <a:schemeClr val="tx1"/>
                  </a:solidFill>
                </a:rPr>
                <a:t>Business Processes</a:t>
              </a:r>
              <a:endParaRPr lang="en-US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427885" y="5019015"/>
              <a:ext cx="2573186" cy="461665"/>
            </a:xfrm>
            <a:prstGeom prst="rect">
              <a:avLst/>
            </a:prstGeom>
            <a:solidFill>
              <a:srgbClr val="FFCDCD"/>
            </a:solidFill>
            <a:ln>
              <a:solidFill>
                <a:srgbClr val="000000"/>
              </a:solidFill>
            </a:ln>
          </p:spPr>
          <p:txBody>
            <a:bodyPr wrap="square" rtlCol="0" anchor="ctr">
              <a:spAutoFit/>
            </a:bodyPr>
            <a:lstStyle/>
            <a:p>
              <a:pPr>
                <a:buNone/>
              </a:pPr>
              <a:r>
                <a:rPr lang="en-US" sz="1200" dirty="0" smtClean="0"/>
                <a:t>Operational Portfolios for delivering Value Streams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427885" y="6020241"/>
              <a:ext cx="2573186" cy="376328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0" dirty="0" smtClean="0">
                  <a:solidFill>
                    <a:schemeClr val="tx1"/>
                  </a:solidFill>
                </a:rPr>
                <a:t>Products</a:t>
              </a:r>
              <a:endParaRPr lang="en-US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427885" y="6401212"/>
              <a:ext cx="2573186" cy="334231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0" dirty="0" smtClean="0">
                  <a:solidFill>
                    <a:schemeClr val="tx1"/>
                  </a:solidFill>
                </a:rPr>
                <a:t>Services</a:t>
              </a:r>
              <a:endParaRPr lang="en-US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4427885" y="6740086"/>
              <a:ext cx="2573186" cy="376328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0" dirty="0" smtClean="0">
                  <a:solidFill>
                    <a:schemeClr val="tx1"/>
                  </a:solidFill>
                </a:rPr>
                <a:t>Information</a:t>
              </a:r>
              <a:endParaRPr lang="en-US" sz="1400" b="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3" name="Group 82"/>
          <p:cNvGrpSpPr/>
          <p:nvPr/>
        </p:nvGrpSpPr>
        <p:grpSpPr>
          <a:xfrm>
            <a:off x="3995098" y="5301454"/>
            <a:ext cx="3377521" cy="1618425"/>
            <a:chOff x="3995098" y="5207386"/>
            <a:chExt cx="3377521" cy="1618425"/>
          </a:xfrm>
        </p:grpSpPr>
        <p:sp>
          <p:nvSpPr>
            <p:cNvPr id="37" name="Rectangle 36"/>
            <p:cNvSpPr/>
            <p:nvPr/>
          </p:nvSpPr>
          <p:spPr>
            <a:xfrm>
              <a:off x="3995098" y="5483779"/>
              <a:ext cx="3377521" cy="44774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0" dirty="0" smtClean="0">
                  <a:solidFill>
                    <a:schemeClr val="tx1"/>
                  </a:solidFill>
                </a:rPr>
                <a:t>Monitoring, Instrumentation</a:t>
              </a:r>
              <a:endParaRPr lang="en-US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995098" y="5207386"/>
              <a:ext cx="3377521" cy="276999"/>
            </a:xfrm>
            <a:prstGeom prst="rect">
              <a:avLst/>
            </a:prstGeom>
            <a:solidFill>
              <a:srgbClr val="FFCDCD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buNone/>
              </a:pPr>
              <a:r>
                <a:rPr lang="en-US" sz="1200" dirty="0" smtClean="0"/>
                <a:t>Measures</a:t>
              </a:r>
              <a:endParaRPr lang="en-US" sz="1200" dirty="0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995098" y="5930921"/>
              <a:ext cx="3377521" cy="44774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0" dirty="0" smtClean="0">
                  <a:solidFill>
                    <a:schemeClr val="tx1"/>
                  </a:solidFill>
                </a:rPr>
                <a:t>Metrics, KPIs &amp; Alerts</a:t>
              </a:r>
              <a:endParaRPr lang="en-US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995098" y="6378063"/>
              <a:ext cx="3377521" cy="44774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0" dirty="0" smtClean="0">
                  <a:solidFill>
                    <a:schemeClr val="tx1"/>
                  </a:solidFill>
                </a:rPr>
                <a:t>Analytics &amp; Reports</a:t>
              </a:r>
              <a:endParaRPr lang="en-US" sz="1400" b="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10923527" y="1249127"/>
            <a:ext cx="1441379" cy="832990"/>
            <a:chOff x="2391406" y="2183120"/>
            <a:chExt cx="1441379" cy="832990"/>
          </a:xfrm>
        </p:grpSpPr>
        <p:sp>
          <p:nvSpPr>
            <p:cNvPr id="46" name="Rectangle 45"/>
            <p:cNvSpPr/>
            <p:nvPr/>
          </p:nvSpPr>
          <p:spPr>
            <a:xfrm>
              <a:off x="2391406" y="2460119"/>
              <a:ext cx="1441379" cy="55599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0" dirty="0" smtClean="0">
                  <a:solidFill>
                    <a:schemeClr val="tx1"/>
                  </a:solidFill>
                </a:rPr>
                <a:t>Capabilities</a:t>
              </a:r>
              <a:endParaRPr lang="en-US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391406" y="2183120"/>
              <a:ext cx="1441379" cy="276999"/>
            </a:xfrm>
            <a:prstGeom prst="rect">
              <a:avLst/>
            </a:prstGeom>
            <a:solidFill>
              <a:srgbClr val="FFCDCD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buNone/>
              </a:pPr>
              <a:r>
                <a:rPr lang="en-US" sz="1200" dirty="0" smtClean="0"/>
                <a:t>Value</a:t>
              </a:r>
              <a:endParaRPr lang="en-US" sz="1200" dirty="0"/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4470899" y="2082870"/>
            <a:ext cx="2609091" cy="2143814"/>
            <a:chOff x="7165958" y="220450"/>
            <a:chExt cx="1443581" cy="2143814"/>
          </a:xfrm>
        </p:grpSpPr>
        <p:sp>
          <p:nvSpPr>
            <p:cNvPr id="31" name="Rectangle 30"/>
            <p:cNvSpPr/>
            <p:nvPr/>
          </p:nvSpPr>
          <p:spPr>
            <a:xfrm>
              <a:off x="7165958" y="775452"/>
              <a:ext cx="1441379" cy="39514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buNone/>
              </a:pPr>
              <a:r>
                <a:rPr lang="en-US" sz="1400" b="0" dirty="0" smtClean="0">
                  <a:solidFill>
                    <a:schemeClr val="tx1"/>
                  </a:solidFill>
                </a:rPr>
                <a:t>Human Assets</a:t>
              </a:r>
              <a:endParaRPr lang="en-US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165959" y="220450"/>
              <a:ext cx="1441379" cy="555002"/>
            </a:xfrm>
            <a:prstGeom prst="rect">
              <a:avLst/>
            </a:prstGeom>
            <a:solidFill>
              <a:srgbClr val="FFCDCD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>
                <a:buNone/>
              </a:pPr>
              <a:r>
                <a:rPr lang="en-US" sz="1200" dirty="0" smtClean="0"/>
                <a:t>Organizational &amp; 3</a:t>
              </a:r>
              <a:r>
                <a:rPr lang="en-US" sz="1200" baseline="30000" dirty="0" smtClean="0"/>
                <a:t>rd</a:t>
              </a:r>
              <a:r>
                <a:rPr lang="en-US" sz="1200" dirty="0" smtClean="0"/>
                <a:t> Party Portfolios of Assets</a:t>
              </a:r>
              <a:endParaRPr lang="en-US" sz="1200" dirty="0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7165958" y="1173340"/>
              <a:ext cx="1441379" cy="39514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buNone/>
              </a:pPr>
              <a:r>
                <a:rPr lang="en-US" sz="1400" b="0" dirty="0" smtClean="0">
                  <a:solidFill>
                    <a:schemeClr val="tx1"/>
                  </a:solidFill>
                </a:rPr>
                <a:t>Physical Assets</a:t>
              </a:r>
              <a:endParaRPr lang="en-US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7168160" y="1571228"/>
              <a:ext cx="1441379" cy="39514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buNone/>
              </a:pPr>
              <a:r>
                <a:rPr lang="en-US" sz="1400" b="0" dirty="0" smtClean="0">
                  <a:solidFill>
                    <a:schemeClr val="tx1"/>
                  </a:solidFill>
                </a:rPr>
                <a:t>Logical Assets</a:t>
              </a:r>
              <a:endParaRPr lang="en-US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7168160" y="1969115"/>
              <a:ext cx="1441379" cy="39514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buNone/>
              </a:pPr>
              <a:r>
                <a:rPr lang="en-US" sz="1400" b="0" dirty="0" smtClean="0">
                  <a:solidFill>
                    <a:schemeClr val="tx1"/>
                  </a:solidFill>
                </a:rPr>
                <a:t>Financial Assets</a:t>
              </a:r>
              <a:endParaRPr lang="en-US" sz="1400" b="0" dirty="0">
                <a:solidFill>
                  <a:schemeClr val="tx1"/>
                </a:solidFill>
              </a:endParaRPr>
            </a:p>
          </p:txBody>
        </p:sp>
      </p:grpSp>
      <p:sp>
        <p:nvSpPr>
          <p:cNvPr id="61" name="Rectangle 60"/>
          <p:cNvSpPr/>
          <p:nvPr/>
        </p:nvSpPr>
        <p:spPr>
          <a:xfrm>
            <a:off x="3790923" y="60000"/>
            <a:ext cx="3877100" cy="4901981"/>
          </a:xfrm>
          <a:prstGeom prst="rect">
            <a:avLst/>
          </a:prstGeom>
          <a:noFill/>
          <a:ln w="28575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-1798045" y="60001"/>
            <a:ext cx="5400791" cy="4901981"/>
          </a:xfrm>
          <a:prstGeom prst="rect">
            <a:avLst/>
          </a:prstGeom>
          <a:noFill/>
          <a:ln w="28575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7868677" y="62382"/>
            <a:ext cx="4832955" cy="4901981"/>
          </a:xfrm>
          <a:prstGeom prst="rect">
            <a:avLst/>
          </a:prstGeom>
          <a:noFill/>
          <a:ln w="28575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4" name="Group 83"/>
          <p:cNvGrpSpPr/>
          <p:nvPr/>
        </p:nvGrpSpPr>
        <p:grpSpPr>
          <a:xfrm>
            <a:off x="1100667" y="999004"/>
            <a:ext cx="2223324" cy="2261799"/>
            <a:chOff x="-674419" y="2448566"/>
            <a:chExt cx="3377521" cy="2261799"/>
          </a:xfrm>
        </p:grpSpPr>
        <p:sp>
          <p:nvSpPr>
            <p:cNvPr id="72" name="Rectangle 71"/>
            <p:cNvSpPr/>
            <p:nvPr/>
          </p:nvSpPr>
          <p:spPr>
            <a:xfrm>
              <a:off x="-674419" y="2724959"/>
              <a:ext cx="3377521" cy="44774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0" dirty="0" smtClean="0">
                  <a:solidFill>
                    <a:schemeClr val="tx1"/>
                  </a:solidFill>
                </a:rPr>
                <a:t>Decisions</a:t>
              </a:r>
              <a:endParaRPr lang="en-US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-674419" y="2448566"/>
              <a:ext cx="3377521" cy="276999"/>
            </a:xfrm>
            <a:prstGeom prst="rect">
              <a:avLst/>
            </a:prstGeom>
            <a:solidFill>
              <a:srgbClr val="FFCDCD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buNone/>
              </a:pPr>
              <a:r>
                <a:rPr lang="en-US" sz="1200" dirty="0" smtClean="0"/>
                <a:t>Planning</a:t>
              </a:r>
              <a:endParaRPr lang="en-US" sz="1200" dirty="0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-674419" y="3172101"/>
              <a:ext cx="3377521" cy="44774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0" dirty="0" smtClean="0">
                  <a:solidFill>
                    <a:schemeClr val="tx1"/>
                  </a:solidFill>
                </a:rPr>
                <a:t>Priorities</a:t>
              </a:r>
              <a:endParaRPr lang="en-US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-674419" y="3619243"/>
              <a:ext cx="3377521" cy="109112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0" dirty="0" smtClean="0">
                  <a:solidFill>
                    <a:schemeClr val="tx1"/>
                  </a:solidFill>
                </a:rPr>
                <a:t>Functional Plans</a:t>
              </a:r>
            </a:p>
            <a:p>
              <a:pPr algn="ctr">
                <a:buNone/>
              </a:pPr>
              <a:r>
                <a:rPr lang="en-US" sz="1400" b="0" dirty="0" smtClean="0">
                  <a:solidFill>
                    <a:schemeClr val="tx1"/>
                  </a:solidFill>
                </a:rPr>
                <a:t>Operational Plans</a:t>
              </a:r>
            </a:p>
            <a:p>
              <a:pPr algn="ctr">
                <a:buNone/>
              </a:pPr>
              <a:r>
                <a:rPr lang="en-US" sz="1400" b="0" dirty="0" smtClean="0">
                  <a:solidFill>
                    <a:schemeClr val="tx1"/>
                  </a:solidFill>
                </a:rPr>
                <a:t>Dept. / Div. Plans</a:t>
              </a:r>
            </a:p>
            <a:p>
              <a:pPr algn="ctr">
                <a:buNone/>
              </a:pPr>
              <a:r>
                <a:rPr lang="en-US" sz="1400" b="0" dirty="0" smtClean="0">
                  <a:solidFill>
                    <a:schemeClr val="tx1"/>
                  </a:solidFill>
                </a:rPr>
                <a:t>LOB Plans</a:t>
              </a:r>
            </a:p>
            <a:p>
              <a:pPr algn="ctr">
                <a:buNone/>
              </a:pPr>
              <a:r>
                <a:rPr lang="en-US" sz="1400" b="0" dirty="0" smtClean="0">
                  <a:solidFill>
                    <a:schemeClr val="tx1"/>
                  </a:solidFill>
                </a:rPr>
                <a:t>Organization Plans</a:t>
              </a:r>
              <a:endParaRPr lang="en-US" sz="1400" b="0" dirty="0">
                <a:solidFill>
                  <a:schemeClr val="tx1"/>
                </a:solidFill>
              </a:endParaRPr>
            </a:p>
          </p:txBody>
        </p:sp>
      </p:grpSp>
      <p:sp>
        <p:nvSpPr>
          <p:cNvPr id="92" name="Rectangle 91"/>
          <p:cNvSpPr/>
          <p:nvPr/>
        </p:nvSpPr>
        <p:spPr>
          <a:xfrm>
            <a:off x="-1798045" y="5114381"/>
            <a:ext cx="14499677" cy="2528481"/>
          </a:xfrm>
          <a:prstGeom prst="rect">
            <a:avLst/>
          </a:prstGeom>
          <a:noFill/>
          <a:ln w="28575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/>
          <p:cNvSpPr txBox="1"/>
          <p:nvPr/>
        </p:nvSpPr>
        <p:spPr>
          <a:xfrm>
            <a:off x="-1152557" y="4358371"/>
            <a:ext cx="41868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400" dirty="0" smtClean="0">
                <a:solidFill>
                  <a:schemeClr val="accent1"/>
                </a:solidFill>
              </a:rPr>
              <a:t>Value Gap Assessment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4168301" y="4435765"/>
            <a:ext cx="33585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400" dirty="0" smtClean="0">
                <a:solidFill>
                  <a:schemeClr val="accent1"/>
                </a:solidFill>
              </a:rPr>
              <a:t>Value Gap Closure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9136908" y="4367786"/>
            <a:ext cx="2587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400" dirty="0" smtClean="0">
                <a:solidFill>
                  <a:schemeClr val="accent1"/>
                </a:solidFill>
              </a:rPr>
              <a:t>Value Delivery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3790923" y="7087129"/>
            <a:ext cx="3735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400" dirty="0" smtClean="0">
                <a:solidFill>
                  <a:srgbClr val="4F81BD"/>
                </a:solidFill>
              </a:rPr>
              <a:t>Value Measurement</a:t>
            </a:r>
            <a:endParaRPr lang="en-US" sz="2400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370224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VISIA-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NVISIA-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VISIA-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VISIA-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VISIA-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VISIA-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VISIA-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Diagram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104</TotalTime>
  <Words>428</Words>
  <Application>Microsoft Macintosh PowerPoint</Application>
  <PresentationFormat>Letter Paper (8.5x11 in)</PresentationFormat>
  <Paragraphs>91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Default Theme</vt:lpstr>
      <vt:lpstr>Diagram Master</vt:lpstr>
      <vt:lpstr>Business Architecture Aligns POV across an organization and between organizations (verticals &amp; horizontals)</vt:lpstr>
      <vt:lpstr>Business Architecture Aligns POV across an organization and between organizations (verticals &amp; horizontals)</vt:lpstr>
      <vt:lpstr>PowerPoint Presentation</vt:lpstr>
    </vt:vector>
  </TitlesOfParts>
  <Company>The Value Enablement Group, LLC.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Architecture Aligns POV across an organization and between organizations (verticals &amp; horizontals)</dc:title>
  <dc:creator>jeffrey wallk</dc:creator>
  <cp:lastModifiedBy>jeffrey wallk</cp:lastModifiedBy>
  <cp:revision>14</cp:revision>
  <dcterms:created xsi:type="dcterms:W3CDTF">2014-03-14T21:54:49Z</dcterms:created>
  <dcterms:modified xsi:type="dcterms:W3CDTF">2014-04-07T21:27:12Z</dcterms:modified>
</cp:coreProperties>
</file>
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"/>
  </p:notesMasterIdLst>
  <p:handoutMasterIdLst>
    <p:handoutMasterId r:id="rId11"/>
  </p:handoutMasterIdLst>
  <p:sldIdLst>
    <p:sldId id="260" r:id="rId2"/>
    <p:sldId id="257" r:id="rId3"/>
    <p:sldId id="261" r:id="rId4"/>
    <p:sldId id="262" r:id="rId5"/>
    <p:sldId id="263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CC"/>
    <a:srgbClr val="336699"/>
    <a:srgbClr val="6699FF"/>
  </p:clrMru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224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A38F86-9A72-4B86-AA24-0B22792D67E8}" type="doc">
      <dgm:prSet loTypeId="urn:microsoft.com/office/officeart/2005/8/layout/orgChart1" loCatId="hierarchy" qsTypeId="urn:microsoft.com/office/officeart/2005/8/quickstyle/simple5" qsCatId="simple" csTypeId="urn:microsoft.com/office/officeart/2005/8/colors/colorful5" csCatId="colorful" phldr="1"/>
      <dgm:spPr/>
    </dgm:pt>
    <dgm:pt modelId="{312EC4C5-5193-4360-9485-14E678C20F51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2000" b="1" i="0" u="none" strike="noStrike" cap="none" normalizeH="0" baseline="0" dirty="0" smtClean="0">
              <a:ln/>
              <a:effectLst/>
              <a:latin typeface="Arial" charset="0"/>
              <a:cs typeface="Arial" charset="0"/>
            </a:rPr>
            <a:t>Board</a:t>
          </a:r>
        </a:p>
      </dgm:t>
    </dgm:pt>
    <dgm:pt modelId="{8BD4CC53-148E-4A2F-B001-DC185CFDB893}" type="parTrans" cxnId="{97DE951C-F9F2-47B7-9229-56641D379E62}">
      <dgm:prSet/>
      <dgm:spPr/>
      <dgm:t>
        <a:bodyPr/>
        <a:lstStyle/>
        <a:p>
          <a:endParaRPr lang="en-US"/>
        </a:p>
      </dgm:t>
    </dgm:pt>
    <dgm:pt modelId="{0B0D3AD5-511D-491A-8A39-BDDC5CA60273}" type="sibTrans" cxnId="{97DE951C-F9F2-47B7-9229-56641D379E62}">
      <dgm:prSet/>
      <dgm:spPr/>
      <dgm:t>
        <a:bodyPr/>
        <a:lstStyle/>
        <a:p>
          <a:endParaRPr lang="en-US"/>
        </a:p>
      </dgm:t>
    </dgm:pt>
    <dgm:pt modelId="{74DD38D8-3EC7-4078-8156-72AD9C9566D6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2100" b="1" i="0" u="none" strike="noStrike" cap="none" normalizeH="0" baseline="0" dirty="0" smtClean="0">
              <a:ln/>
              <a:effectLst/>
              <a:latin typeface="Arial" charset="0"/>
              <a:cs typeface="Arial" charset="0"/>
            </a:rPr>
            <a:t>Marketing</a:t>
          </a:r>
        </a:p>
      </dgm:t>
    </dgm:pt>
    <dgm:pt modelId="{A17748EB-353D-47A0-9EAE-86B8FAEBF753}" type="parTrans" cxnId="{DDF42F64-2C3B-4680-80D1-17C4C138C3DF}">
      <dgm:prSet/>
      <dgm:spPr/>
      <dgm:t>
        <a:bodyPr/>
        <a:lstStyle/>
        <a:p>
          <a:endParaRPr lang="en-US"/>
        </a:p>
      </dgm:t>
    </dgm:pt>
    <dgm:pt modelId="{B593C022-321B-42D4-BDA5-3353D8AE4905}" type="sibTrans" cxnId="{DDF42F64-2C3B-4680-80D1-17C4C138C3DF}">
      <dgm:prSet/>
      <dgm:spPr/>
      <dgm:t>
        <a:bodyPr/>
        <a:lstStyle/>
        <a:p>
          <a:endParaRPr lang="en-US"/>
        </a:p>
      </dgm:t>
    </dgm:pt>
    <dgm:pt modelId="{B0E4C94B-84E8-4A19-A40F-5CF9AA2DFFDD}">
      <dgm:prSet custT="1"/>
      <dgm:spPr/>
      <dgm:t>
        <a:bodyPr/>
        <a:lstStyle/>
        <a:p>
          <a:r>
            <a:rPr kumimoji="0" lang="en-US" sz="2100" b="1" i="0" u="none" strike="noStrike" cap="none" normalizeH="0" baseline="0" dirty="0" smtClean="0">
              <a:ln/>
              <a:effectLst/>
              <a:latin typeface="Arial" charset="0"/>
              <a:cs typeface="Arial" charset="0"/>
            </a:rPr>
            <a:t>Membership</a:t>
          </a:r>
          <a:endParaRPr lang="en-US" sz="2100" dirty="0"/>
        </a:p>
      </dgm:t>
    </dgm:pt>
    <dgm:pt modelId="{EF100EA8-DD41-4F60-A6F3-4A218BAD8BF0}" type="parTrans" cxnId="{5C0680A5-F56C-4F85-B0D0-F1DA0E34D7CB}">
      <dgm:prSet/>
      <dgm:spPr/>
      <dgm:t>
        <a:bodyPr/>
        <a:lstStyle/>
        <a:p>
          <a:endParaRPr lang="en-US"/>
        </a:p>
      </dgm:t>
    </dgm:pt>
    <dgm:pt modelId="{FCEFFB22-57CB-43F6-90E7-E879214CCF3E}" type="sibTrans" cxnId="{5C0680A5-F56C-4F85-B0D0-F1DA0E34D7CB}">
      <dgm:prSet/>
      <dgm:spPr/>
      <dgm:t>
        <a:bodyPr/>
        <a:lstStyle/>
        <a:p>
          <a:endParaRPr lang="en-US"/>
        </a:p>
      </dgm:t>
    </dgm:pt>
    <dgm:pt modelId="{4C423F4D-C6EF-4F31-AB69-00EF2AE56FE0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2100" b="1" i="0" u="none" strike="noStrike" cap="none" normalizeH="0" baseline="0" dirty="0" smtClean="0">
              <a:ln/>
              <a:effectLst/>
              <a:latin typeface="Arial" charset="0"/>
              <a:cs typeface="Arial" charset="0"/>
            </a:rPr>
            <a:t>Community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400" b="1" i="0" u="none" strike="noStrike" cap="none" normalizeH="0" baseline="0" dirty="0" smtClean="0">
              <a:ln/>
              <a:effectLst/>
              <a:latin typeface="Arial" charset="0"/>
              <a:cs typeface="Arial" charset="0"/>
            </a:rPr>
            <a:t>In-reach &amp; Outreach</a:t>
          </a:r>
          <a:endParaRPr lang="en-US" dirty="0"/>
        </a:p>
      </dgm:t>
    </dgm:pt>
    <dgm:pt modelId="{AD1512F8-C13A-4AD0-9D6C-EA4057AF086B}" type="parTrans" cxnId="{FC94FE0C-B4B9-4E0C-AA5A-564174A4C300}">
      <dgm:prSet/>
      <dgm:spPr/>
      <dgm:t>
        <a:bodyPr/>
        <a:lstStyle/>
        <a:p>
          <a:endParaRPr lang="en-US"/>
        </a:p>
      </dgm:t>
    </dgm:pt>
    <dgm:pt modelId="{3A4C6987-6EE9-46A7-8E2D-8111544B8DC9}" type="sibTrans" cxnId="{FC94FE0C-B4B9-4E0C-AA5A-564174A4C300}">
      <dgm:prSet/>
      <dgm:spPr/>
      <dgm:t>
        <a:bodyPr/>
        <a:lstStyle/>
        <a:p>
          <a:endParaRPr lang="en-US"/>
        </a:p>
      </dgm:t>
    </dgm:pt>
    <dgm:pt modelId="{351DA7E5-27CF-4DAB-B376-0054EA8338B2}" type="pres">
      <dgm:prSet presAssocID="{86A38F86-9A72-4B86-AA24-0B22792D67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E03A499-FBAF-401F-B7E4-679C649054B7}" type="pres">
      <dgm:prSet presAssocID="{312EC4C5-5193-4360-9485-14E678C20F51}" presName="hierRoot1" presStyleCnt="0">
        <dgm:presLayoutVars>
          <dgm:hierBranch/>
        </dgm:presLayoutVars>
      </dgm:prSet>
      <dgm:spPr/>
    </dgm:pt>
    <dgm:pt modelId="{65FEA2AA-ED6D-4B53-B31D-AA896DD646A0}" type="pres">
      <dgm:prSet presAssocID="{312EC4C5-5193-4360-9485-14E678C20F51}" presName="rootComposite1" presStyleCnt="0"/>
      <dgm:spPr/>
    </dgm:pt>
    <dgm:pt modelId="{1428B508-7D8F-48E1-80B8-DFC3F1E7B4F2}" type="pres">
      <dgm:prSet presAssocID="{312EC4C5-5193-4360-9485-14E678C20F51}" presName="rootText1" presStyleLbl="node0" presStyleIdx="0" presStyleCnt="1">
        <dgm:presLayoutVars>
          <dgm:chPref val="3"/>
        </dgm:presLayoutVars>
      </dgm:prSet>
      <dgm:spPr/>
    </dgm:pt>
    <dgm:pt modelId="{BFD68C5A-B257-4C44-86A6-FFFC64BD88B3}" type="pres">
      <dgm:prSet presAssocID="{312EC4C5-5193-4360-9485-14E678C20F51}" presName="rootConnector1" presStyleLbl="node1" presStyleIdx="0" presStyleCnt="0"/>
      <dgm:spPr/>
    </dgm:pt>
    <dgm:pt modelId="{4B21FFD7-672E-4AA9-A2FD-A60886442F71}" type="pres">
      <dgm:prSet presAssocID="{312EC4C5-5193-4360-9485-14E678C20F51}" presName="hierChild2" presStyleCnt="0"/>
      <dgm:spPr/>
    </dgm:pt>
    <dgm:pt modelId="{ADC355E0-8ABC-409F-9D0E-25CBF2A33B6C}" type="pres">
      <dgm:prSet presAssocID="{A17748EB-353D-47A0-9EAE-86B8FAEBF753}" presName="Name35" presStyleLbl="parChTrans1D2" presStyleIdx="0" presStyleCnt="3"/>
      <dgm:spPr/>
    </dgm:pt>
    <dgm:pt modelId="{419C39DE-0F84-4057-A33B-FFB125F02706}" type="pres">
      <dgm:prSet presAssocID="{74DD38D8-3EC7-4078-8156-72AD9C9566D6}" presName="hierRoot2" presStyleCnt="0">
        <dgm:presLayoutVars>
          <dgm:hierBranch/>
        </dgm:presLayoutVars>
      </dgm:prSet>
      <dgm:spPr/>
    </dgm:pt>
    <dgm:pt modelId="{80F0352E-D5DB-49AE-97AF-1767FB95C700}" type="pres">
      <dgm:prSet presAssocID="{74DD38D8-3EC7-4078-8156-72AD9C9566D6}" presName="rootComposite" presStyleCnt="0"/>
      <dgm:spPr/>
    </dgm:pt>
    <dgm:pt modelId="{7BD7500E-1A42-4C67-9BE5-3CC5AD3ECFCC}" type="pres">
      <dgm:prSet presAssocID="{74DD38D8-3EC7-4078-8156-72AD9C9566D6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21146D-7E34-48D6-BBA7-DC829AA91991}" type="pres">
      <dgm:prSet presAssocID="{74DD38D8-3EC7-4078-8156-72AD9C9566D6}" presName="rootConnector" presStyleLbl="node2" presStyleIdx="0" presStyleCnt="3"/>
      <dgm:spPr/>
    </dgm:pt>
    <dgm:pt modelId="{80F260CA-8AFC-4700-83A6-2ADD05541BBB}" type="pres">
      <dgm:prSet presAssocID="{74DD38D8-3EC7-4078-8156-72AD9C9566D6}" presName="hierChild4" presStyleCnt="0"/>
      <dgm:spPr/>
    </dgm:pt>
    <dgm:pt modelId="{FF658CFF-7240-47CA-BEEE-0009E0B61C97}" type="pres">
      <dgm:prSet presAssocID="{74DD38D8-3EC7-4078-8156-72AD9C9566D6}" presName="hierChild5" presStyleCnt="0"/>
      <dgm:spPr/>
    </dgm:pt>
    <dgm:pt modelId="{256B826D-9147-47EF-B933-886250FBACB7}" type="pres">
      <dgm:prSet presAssocID="{EF100EA8-DD41-4F60-A6F3-4A218BAD8BF0}" presName="Name35" presStyleLbl="parChTrans1D2" presStyleIdx="1" presStyleCnt="3"/>
      <dgm:spPr/>
    </dgm:pt>
    <dgm:pt modelId="{FB3DB020-BC97-4AD3-A765-A48CB7A08D30}" type="pres">
      <dgm:prSet presAssocID="{B0E4C94B-84E8-4A19-A40F-5CF9AA2DFFDD}" presName="hierRoot2" presStyleCnt="0">
        <dgm:presLayoutVars>
          <dgm:hierBranch val="init"/>
        </dgm:presLayoutVars>
      </dgm:prSet>
      <dgm:spPr/>
    </dgm:pt>
    <dgm:pt modelId="{717B0DB2-CBD5-4CB3-B22C-C6EBF55BE5C5}" type="pres">
      <dgm:prSet presAssocID="{B0E4C94B-84E8-4A19-A40F-5CF9AA2DFFDD}" presName="rootComposite" presStyleCnt="0"/>
      <dgm:spPr/>
    </dgm:pt>
    <dgm:pt modelId="{48AD8FA0-E72E-4AC4-9750-A56331306065}" type="pres">
      <dgm:prSet presAssocID="{B0E4C94B-84E8-4A19-A40F-5CF9AA2DFFDD}" presName="rootText" presStyleLbl="node2" presStyleIdx="1" presStyleCnt="3">
        <dgm:presLayoutVars>
          <dgm:chPref val="3"/>
        </dgm:presLayoutVars>
      </dgm:prSet>
      <dgm:spPr/>
    </dgm:pt>
    <dgm:pt modelId="{7ED80467-ECDC-4A68-A598-EB58CB642A8A}" type="pres">
      <dgm:prSet presAssocID="{B0E4C94B-84E8-4A19-A40F-5CF9AA2DFFDD}" presName="rootConnector" presStyleLbl="node2" presStyleIdx="1" presStyleCnt="3"/>
      <dgm:spPr/>
    </dgm:pt>
    <dgm:pt modelId="{44E2F775-C9F5-4D12-A93C-77EECC914268}" type="pres">
      <dgm:prSet presAssocID="{B0E4C94B-84E8-4A19-A40F-5CF9AA2DFFDD}" presName="hierChild4" presStyleCnt="0"/>
      <dgm:spPr/>
    </dgm:pt>
    <dgm:pt modelId="{E9FFC624-6CF2-4C55-80C2-6D05E3DE14A3}" type="pres">
      <dgm:prSet presAssocID="{B0E4C94B-84E8-4A19-A40F-5CF9AA2DFFDD}" presName="hierChild5" presStyleCnt="0"/>
      <dgm:spPr/>
    </dgm:pt>
    <dgm:pt modelId="{596CE81E-735F-43C0-ADE7-06857FAA5F86}" type="pres">
      <dgm:prSet presAssocID="{AD1512F8-C13A-4AD0-9D6C-EA4057AF086B}" presName="Name35" presStyleLbl="parChTrans1D2" presStyleIdx="2" presStyleCnt="3"/>
      <dgm:spPr/>
    </dgm:pt>
    <dgm:pt modelId="{886F041D-5CC9-4508-B445-DE6E76A92B6D}" type="pres">
      <dgm:prSet presAssocID="{4C423F4D-C6EF-4F31-AB69-00EF2AE56FE0}" presName="hierRoot2" presStyleCnt="0">
        <dgm:presLayoutVars>
          <dgm:hierBranch val="init"/>
        </dgm:presLayoutVars>
      </dgm:prSet>
      <dgm:spPr/>
    </dgm:pt>
    <dgm:pt modelId="{1BAA08B6-716F-482D-8B3E-688A13B7E765}" type="pres">
      <dgm:prSet presAssocID="{4C423F4D-C6EF-4F31-AB69-00EF2AE56FE0}" presName="rootComposite" presStyleCnt="0"/>
      <dgm:spPr/>
    </dgm:pt>
    <dgm:pt modelId="{C94A45E0-A372-45B2-B3DF-51D180D32DAE}" type="pres">
      <dgm:prSet presAssocID="{4C423F4D-C6EF-4F31-AB69-00EF2AE56FE0}" presName="rootText" presStyleLbl="node2" presStyleIdx="2" presStyleCnt="3">
        <dgm:presLayoutVars>
          <dgm:chPref val="3"/>
        </dgm:presLayoutVars>
      </dgm:prSet>
      <dgm:spPr/>
    </dgm:pt>
    <dgm:pt modelId="{AD31298A-1E44-4CA5-858F-AE00E6111F98}" type="pres">
      <dgm:prSet presAssocID="{4C423F4D-C6EF-4F31-AB69-00EF2AE56FE0}" presName="rootConnector" presStyleLbl="node2" presStyleIdx="2" presStyleCnt="3"/>
      <dgm:spPr/>
    </dgm:pt>
    <dgm:pt modelId="{DC3DAA1C-1B56-48C4-A2EC-2B18076790DD}" type="pres">
      <dgm:prSet presAssocID="{4C423F4D-C6EF-4F31-AB69-00EF2AE56FE0}" presName="hierChild4" presStyleCnt="0"/>
      <dgm:spPr/>
    </dgm:pt>
    <dgm:pt modelId="{2FEA066D-117D-4CF8-A786-B35D33F7A00B}" type="pres">
      <dgm:prSet presAssocID="{4C423F4D-C6EF-4F31-AB69-00EF2AE56FE0}" presName="hierChild5" presStyleCnt="0"/>
      <dgm:spPr/>
    </dgm:pt>
    <dgm:pt modelId="{A09DA9F3-E6BC-4AB1-8BE0-1F4EA456067C}" type="pres">
      <dgm:prSet presAssocID="{312EC4C5-5193-4360-9485-14E678C20F51}" presName="hierChild3" presStyleCnt="0"/>
      <dgm:spPr/>
    </dgm:pt>
  </dgm:ptLst>
  <dgm:cxnLst>
    <dgm:cxn modelId="{1807B6D7-CF1B-45C4-BEFE-114BBB965252}" type="presOf" srcId="{4C423F4D-C6EF-4F31-AB69-00EF2AE56FE0}" destId="{AD31298A-1E44-4CA5-858F-AE00E6111F98}" srcOrd="1" destOrd="0" presId="urn:microsoft.com/office/officeart/2005/8/layout/orgChart1"/>
    <dgm:cxn modelId="{D8D88D6C-5A0F-4870-B270-05D3ECF4246C}" type="presOf" srcId="{A17748EB-353D-47A0-9EAE-86B8FAEBF753}" destId="{ADC355E0-8ABC-409F-9D0E-25CBF2A33B6C}" srcOrd="0" destOrd="0" presId="urn:microsoft.com/office/officeart/2005/8/layout/orgChart1"/>
    <dgm:cxn modelId="{FC94FE0C-B4B9-4E0C-AA5A-564174A4C300}" srcId="{312EC4C5-5193-4360-9485-14E678C20F51}" destId="{4C423F4D-C6EF-4F31-AB69-00EF2AE56FE0}" srcOrd="2" destOrd="0" parTransId="{AD1512F8-C13A-4AD0-9D6C-EA4057AF086B}" sibTransId="{3A4C6987-6EE9-46A7-8E2D-8111544B8DC9}"/>
    <dgm:cxn modelId="{E38485D2-35EC-4F32-B5DF-34BDABBF5457}" type="presOf" srcId="{312EC4C5-5193-4360-9485-14E678C20F51}" destId="{BFD68C5A-B257-4C44-86A6-FFFC64BD88B3}" srcOrd="1" destOrd="0" presId="urn:microsoft.com/office/officeart/2005/8/layout/orgChart1"/>
    <dgm:cxn modelId="{B11FF879-3A66-4934-B275-1DBC5F4AFFF8}" type="presOf" srcId="{312EC4C5-5193-4360-9485-14E678C20F51}" destId="{1428B508-7D8F-48E1-80B8-DFC3F1E7B4F2}" srcOrd="0" destOrd="0" presId="urn:microsoft.com/office/officeart/2005/8/layout/orgChart1"/>
    <dgm:cxn modelId="{0BD5F1B3-49E7-44BE-A850-020B580010A6}" type="presOf" srcId="{86A38F86-9A72-4B86-AA24-0B22792D67E8}" destId="{351DA7E5-27CF-4DAB-B376-0054EA8338B2}" srcOrd="0" destOrd="0" presId="urn:microsoft.com/office/officeart/2005/8/layout/orgChart1"/>
    <dgm:cxn modelId="{488DA68F-04AC-4BAA-A33F-F0C933543879}" type="presOf" srcId="{74DD38D8-3EC7-4078-8156-72AD9C9566D6}" destId="{7BD7500E-1A42-4C67-9BE5-3CC5AD3ECFCC}" srcOrd="0" destOrd="0" presId="urn:microsoft.com/office/officeart/2005/8/layout/orgChart1"/>
    <dgm:cxn modelId="{3FC27CDA-3223-4ADF-A50A-7CC00EE37E79}" type="presOf" srcId="{AD1512F8-C13A-4AD0-9D6C-EA4057AF086B}" destId="{596CE81E-735F-43C0-ADE7-06857FAA5F86}" srcOrd="0" destOrd="0" presId="urn:microsoft.com/office/officeart/2005/8/layout/orgChart1"/>
    <dgm:cxn modelId="{264E2FB7-166E-4F3B-8C1C-137E83D0ACF9}" type="presOf" srcId="{74DD38D8-3EC7-4078-8156-72AD9C9566D6}" destId="{E421146D-7E34-48D6-BBA7-DC829AA91991}" srcOrd="1" destOrd="0" presId="urn:microsoft.com/office/officeart/2005/8/layout/orgChart1"/>
    <dgm:cxn modelId="{10A70501-E54D-4A4F-AE97-A3A79FE5A95B}" type="presOf" srcId="{4C423F4D-C6EF-4F31-AB69-00EF2AE56FE0}" destId="{C94A45E0-A372-45B2-B3DF-51D180D32DAE}" srcOrd="0" destOrd="0" presId="urn:microsoft.com/office/officeart/2005/8/layout/orgChart1"/>
    <dgm:cxn modelId="{5C0680A5-F56C-4F85-B0D0-F1DA0E34D7CB}" srcId="{312EC4C5-5193-4360-9485-14E678C20F51}" destId="{B0E4C94B-84E8-4A19-A40F-5CF9AA2DFFDD}" srcOrd="1" destOrd="0" parTransId="{EF100EA8-DD41-4F60-A6F3-4A218BAD8BF0}" sibTransId="{FCEFFB22-57CB-43F6-90E7-E879214CCF3E}"/>
    <dgm:cxn modelId="{97DE951C-F9F2-47B7-9229-56641D379E62}" srcId="{86A38F86-9A72-4B86-AA24-0B22792D67E8}" destId="{312EC4C5-5193-4360-9485-14E678C20F51}" srcOrd="0" destOrd="0" parTransId="{8BD4CC53-148E-4A2F-B001-DC185CFDB893}" sibTransId="{0B0D3AD5-511D-491A-8A39-BDDC5CA60273}"/>
    <dgm:cxn modelId="{787AA0B8-6876-42E8-962E-0462F25DF53E}" type="presOf" srcId="{B0E4C94B-84E8-4A19-A40F-5CF9AA2DFFDD}" destId="{48AD8FA0-E72E-4AC4-9750-A56331306065}" srcOrd="0" destOrd="0" presId="urn:microsoft.com/office/officeart/2005/8/layout/orgChart1"/>
    <dgm:cxn modelId="{A16D0D2E-7A47-492B-8647-C78EE71AF519}" type="presOf" srcId="{EF100EA8-DD41-4F60-A6F3-4A218BAD8BF0}" destId="{256B826D-9147-47EF-B933-886250FBACB7}" srcOrd="0" destOrd="0" presId="urn:microsoft.com/office/officeart/2005/8/layout/orgChart1"/>
    <dgm:cxn modelId="{EB4F81F7-701F-4126-87F3-C28912AB85F3}" type="presOf" srcId="{B0E4C94B-84E8-4A19-A40F-5CF9AA2DFFDD}" destId="{7ED80467-ECDC-4A68-A598-EB58CB642A8A}" srcOrd="1" destOrd="0" presId="urn:microsoft.com/office/officeart/2005/8/layout/orgChart1"/>
    <dgm:cxn modelId="{DDF42F64-2C3B-4680-80D1-17C4C138C3DF}" srcId="{312EC4C5-5193-4360-9485-14E678C20F51}" destId="{74DD38D8-3EC7-4078-8156-72AD9C9566D6}" srcOrd="0" destOrd="0" parTransId="{A17748EB-353D-47A0-9EAE-86B8FAEBF753}" sibTransId="{B593C022-321B-42D4-BDA5-3353D8AE4905}"/>
    <dgm:cxn modelId="{9C9BF103-7759-4607-A83A-2CE3257F82B3}" type="presParOf" srcId="{351DA7E5-27CF-4DAB-B376-0054EA8338B2}" destId="{0E03A499-FBAF-401F-B7E4-679C649054B7}" srcOrd="0" destOrd="0" presId="urn:microsoft.com/office/officeart/2005/8/layout/orgChart1"/>
    <dgm:cxn modelId="{D677028D-D1FF-487E-8297-2C475262681A}" type="presParOf" srcId="{0E03A499-FBAF-401F-B7E4-679C649054B7}" destId="{65FEA2AA-ED6D-4B53-B31D-AA896DD646A0}" srcOrd="0" destOrd="0" presId="urn:microsoft.com/office/officeart/2005/8/layout/orgChart1"/>
    <dgm:cxn modelId="{CCF9CFFB-E652-4CA4-B44F-40F3B6599CA8}" type="presParOf" srcId="{65FEA2AA-ED6D-4B53-B31D-AA896DD646A0}" destId="{1428B508-7D8F-48E1-80B8-DFC3F1E7B4F2}" srcOrd="0" destOrd="0" presId="urn:microsoft.com/office/officeart/2005/8/layout/orgChart1"/>
    <dgm:cxn modelId="{248FAFB7-AC4B-4073-A1EB-132191145D0B}" type="presParOf" srcId="{65FEA2AA-ED6D-4B53-B31D-AA896DD646A0}" destId="{BFD68C5A-B257-4C44-86A6-FFFC64BD88B3}" srcOrd="1" destOrd="0" presId="urn:microsoft.com/office/officeart/2005/8/layout/orgChart1"/>
    <dgm:cxn modelId="{1FF18395-B181-4469-8227-08FE4C5349BD}" type="presParOf" srcId="{0E03A499-FBAF-401F-B7E4-679C649054B7}" destId="{4B21FFD7-672E-4AA9-A2FD-A60886442F71}" srcOrd="1" destOrd="0" presId="urn:microsoft.com/office/officeart/2005/8/layout/orgChart1"/>
    <dgm:cxn modelId="{3286A44A-21B9-4767-A5ED-4F80C7CDB359}" type="presParOf" srcId="{4B21FFD7-672E-4AA9-A2FD-A60886442F71}" destId="{ADC355E0-8ABC-409F-9D0E-25CBF2A33B6C}" srcOrd="0" destOrd="0" presId="urn:microsoft.com/office/officeart/2005/8/layout/orgChart1"/>
    <dgm:cxn modelId="{03B04CE4-D85B-45EF-B917-6F7072056E5B}" type="presParOf" srcId="{4B21FFD7-672E-4AA9-A2FD-A60886442F71}" destId="{419C39DE-0F84-4057-A33B-FFB125F02706}" srcOrd="1" destOrd="0" presId="urn:microsoft.com/office/officeart/2005/8/layout/orgChart1"/>
    <dgm:cxn modelId="{B817333C-18D3-4A57-9D92-71312B1E3CFF}" type="presParOf" srcId="{419C39DE-0F84-4057-A33B-FFB125F02706}" destId="{80F0352E-D5DB-49AE-97AF-1767FB95C700}" srcOrd="0" destOrd="0" presId="urn:microsoft.com/office/officeart/2005/8/layout/orgChart1"/>
    <dgm:cxn modelId="{68A77A29-48D0-4DF5-A397-A26FD24D3DF0}" type="presParOf" srcId="{80F0352E-D5DB-49AE-97AF-1767FB95C700}" destId="{7BD7500E-1A42-4C67-9BE5-3CC5AD3ECFCC}" srcOrd="0" destOrd="0" presId="urn:microsoft.com/office/officeart/2005/8/layout/orgChart1"/>
    <dgm:cxn modelId="{08D60770-FB0E-4299-A13F-489A04F43A04}" type="presParOf" srcId="{80F0352E-D5DB-49AE-97AF-1767FB95C700}" destId="{E421146D-7E34-48D6-BBA7-DC829AA91991}" srcOrd="1" destOrd="0" presId="urn:microsoft.com/office/officeart/2005/8/layout/orgChart1"/>
    <dgm:cxn modelId="{126708BC-51A6-48B5-BCC3-60F95194D563}" type="presParOf" srcId="{419C39DE-0F84-4057-A33B-FFB125F02706}" destId="{80F260CA-8AFC-4700-83A6-2ADD05541BBB}" srcOrd="1" destOrd="0" presId="urn:microsoft.com/office/officeart/2005/8/layout/orgChart1"/>
    <dgm:cxn modelId="{EB96C288-822B-447C-AB19-F3D9F6CAA3AA}" type="presParOf" srcId="{419C39DE-0F84-4057-A33B-FFB125F02706}" destId="{FF658CFF-7240-47CA-BEEE-0009E0B61C97}" srcOrd="2" destOrd="0" presId="urn:microsoft.com/office/officeart/2005/8/layout/orgChart1"/>
    <dgm:cxn modelId="{4BB01BB6-734A-4D67-AF9C-BFD411FC57B5}" type="presParOf" srcId="{4B21FFD7-672E-4AA9-A2FD-A60886442F71}" destId="{256B826D-9147-47EF-B933-886250FBACB7}" srcOrd="2" destOrd="0" presId="urn:microsoft.com/office/officeart/2005/8/layout/orgChart1"/>
    <dgm:cxn modelId="{D05C0B4E-CE70-4813-B4D7-3399F6253985}" type="presParOf" srcId="{4B21FFD7-672E-4AA9-A2FD-A60886442F71}" destId="{FB3DB020-BC97-4AD3-A765-A48CB7A08D30}" srcOrd="3" destOrd="0" presId="urn:microsoft.com/office/officeart/2005/8/layout/orgChart1"/>
    <dgm:cxn modelId="{FD7FCE7D-A709-4D18-A15C-012D7D929EA3}" type="presParOf" srcId="{FB3DB020-BC97-4AD3-A765-A48CB7A08D30}" destId="{717B0DB2-CBD5-4CB3-B22C-C6EBF55BE5C5}" srcOrd="0" destOrd="0" presId="urn:microsoft.com/office/officeart/2005/8/layout/orgChart1"/>
    <dgm:cxn modelId="{07501A8B-A885-4E48-961B-95F18A14F3FC}" type="presParOf" srcId="{717B0DB2-CBD5-4CB3-B22C-C6EBF55BE5C5}" destId="{48AD8FA0-E72E-4AC4-9750-A56331306065}" srcOrd="0" destOrd="0" presId="urn:microsoft.com/office/officeart/2005/8/layout/orgChart1"/>
    <dgm:cxn modelId="{463F9B32-919F-4C88-9F02-978DFC26AF52}" type="presParOf" srcId="{717B0DB2-CBD5-4CB3-B22C-C6EBF55BE5C5}" destId="{7ED80467-ECDC-4A68-A598-EB58CB642A8A}" srcOrd="1" destOrd="0" presId="urn:microsoft.com/office/officeart/2005/8/layout/orgChart1"/>
    <dgm:cxn modelId="{293E057A-0462-437D-A091-B04ABA1A9249}" type="presParOf" srcId="{FB3DB020-BC97-4AD3-A765-A48CB7A08D30}" destId="{44E2F775-C9F5-4D12-A93C-77EECC914268}" srcOrd="1" destOrd="0" presId="urn:microsoft.com/office/officeart/2005/8/layout/orgChart1"/>
    <dgm:cxn modelId="{CBD2E524-A9BF-4162-BD83-8834A08145D4}" type="presParOf" srcId="{FB3DB020-BC97-4AD3-A765-A48CB7A08D30}" destId="{E9FFC624-6CF2-4C55-80C2-6D05E3DE14A3}" srcOrd="2" destOrd="0" presId="urn:microsoft.com/office/officeart/2005/8/layout/orgChart1"/>
    <dgm:cxn modelId="{A77EC920-6AAE-4718-BA31-B9E0482C3C0E}" type="presParOf" srcId="{4B21FFD7-672E-4AA9-A2FD-A60886442F71}" destId="{596CE81E-735F-43C0-ADE7-06857FAA5F86}" srcOrd="4" destOrd="0" presId="urn:microsoft.com/office/officeart/2005/8/layout/orgChart1"/>
    <dgm:cxn modelId="{234B8ACF-40DC-4193-B14D-BC7B01130B3E}" type="presParOf" srcId="{4B21FFD7-672E-4AA9-A2FD-A60886442F71}" destId="{886F041D-5CC9-4508-B445-DE6E76A92B6D}" srcOrd="5" destOrd="0" presId="urn:microsoft.com/office/officeart/2005/8/layout/orgChart1"/>
    <dgm:cxn modelId="{F0F3C8B1-3E88-4614-8321-F56478E0B11C}" type="presParOf" srcId="{886F041D-5CC9-4508-B445-DE6E76A92B6D}" destId="{1BAA08B6-716F-482D-8B3E-688A13B7E765}" srcOrd="0" destOrd="0" presId="urn:microsoft.com/office/officeart/2005/8/layout/orgChart1"/>
    <dgm:cxn modelId="{8894D95A-02CD-4DA1-8BC0-E2C151923E06}" type="presParOf" srcId="{1BAA08B6-716F-482D-8B3E-688A13B7E765}" destId="{C94A45E0-A372-45B2-B3DF-51D180D32DAE}" srcOrd="0" destOrd="0" presId="urn:microsoft.com/office/officeart/2005/8/layout/orgChart1"/>
    <dgm:cxn modelId="{4E4459AB-EB79-4A1A-8EAC-A9646D11FCB4}" type="presParOf" srcId="{1BAA08B6-716F-482D-8B3E-688A13B7E765}" destId="{AD31298A-1E44-4CA5-858F-AE00E6111F98}" srcOrd="1" destOrd="0" presId="urn:microsoft.com/office/officeart/2005/8/layout/orgChart1"/>
    <dgm:cxn modelId="{A5AB6C99-4A96-4825-AA52-D519F6A0F81B}" type="presParOf" srcId="{886F041D-5CC9-4508-B445-DE6E76A92B6D}" destId="{DC3DAA1C-1B56-48C4-A2EC-2B18076790DD}" srcOrd="1" destOrd="0" presId="urn:microsoft.com/office/officeart/2005/8/layout/orgChart1"/>
    <dgm:cxn modelId="{C47960E1-A190-4EE9-9502-C2DA8CAA3A4E}" type="presParOf" srcId="{886F041D-5CC9-4508-B445-DE6E76A92B6D}" destId="{2FEA066D-117D-4CF8-A786-B35D33F7A00B}" srcOrd="2" destOrd="0" presId="urn:microsoft.com/office/officeart/2005/8/layout/orgChart1"/>
    <dgm:cxn modelId="{F8634854-A9A3-415C-9864-D68EAA151D5D}" type="presParOf" srcId="{0E03A499-FBAF-401F-B7E4-679C649054B7}" destId="{A09DA9F3-E6BC-4AB1-8BE0-1F4EA456067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96CE81E-735F-43C0-ADE7-06857FAA5F86}">
      <dsp:nvSpPr>
        <dsp:cNvPr id="0" name=""/>
        <dsp:cNvSpPr/>
      </dsp:nvSpPr>
      <dsp:spPr>
        <a:xfrm>
          <a:off x="3813968" y="989457"/>
          <a:ext cx="2391389" cy="4150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517"/>
              </a:lnTo>
              <a:lnTo>
                <a:pt x="2391389" y="207517"/>
              </a:lnTo>
              <a:lnTo>
                <a:pt x="2391389" y="41503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B826D-9147-47EF-B933-886250FBACB7}">
      <dsp:nvSpPr>
        <dsp:cNvPr id="0" name=""/>
        <dsp:cNvSpPr/>
      </dsp:nvSpPr>
      <dsp:spPr>
        <a:xfrm>
          <a:off x="3768248" y="989457"/>
          <a:ext cx="91440" cy="4150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503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C355E0-8ABC-409F-9D0E-25CBF2A33B6C}">
      <dsp:nvSpPr>
        <dsp:cNvPr id="0" name=""/>
        <dsp:cNvSpPr/>
      </dsp:nvSpPr>
      <dsp:spPr>
        <a:xfrm>
          <a:off x="1422579" y="989457"/>
          <a:ext cx="2391389" cy="415034"/>
        </a:xfrm>
        <a:custGeom>
          <a:avLst/>
          <a:gdLst/>
          <a:ahLst/>
          <a:cxnLst/>
          <a:rect l="0" t="0" r="0" b="0"/>
          <a:pathLst>
            <a:path>
              <a:moveTo>
                <a:pt x="2391389" y="0"/>
              </a:moveTo>
              <a:lnTo>
                <a:pt x="2391389" y="207517"/>
              </a:lnTo>
              <a:lnTo>
                <a:pt x="0" y="207517"/>
              </a:lnTo>
              <a:lnTo>
                <a:pt x="0" y="41503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28B508-7D8F-48E1-80B8-DFC3F1E7B4F2}">
      <dsp:nvSpPr>
        <dsp:cNvPr id="0" name=""/>
        <dsp:cNvSpPr/>
      </dsp:nvSpPr>
      <dsp:spPr>
        <a:xfrm>
          <a:off x="2825791" y="1280"/>
          <a:ext cx="1976354" cy="98817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2000" b="1" i="0" u="none" strike="noStrike" kern="1200" cap="none" normalizeH="0" baseline="0" dirty="0" smtClean="0">
              <a:ln/>
              <a:effectLst/>
              <a:latin typeface="Arial" charset="0"/>
              <a:cs typeface="Arial" charset="0"/>
            </a:rPr>
            <a:t>Board</a:t>
          </a:r>
        </a:p>
      </dsp:txBody>
      <dsp:txXfrm>
        <a:off x="2825791" y="1280"/>
        <a:ext cx="1976354" cy="988177"/>
      </dsp:txXfrm>
    </dsp:sp>
    <dsp:sp modelId="{7BD7500E-1A42-4C67-9BE5-3CC5AD3ECFCC}">
      <dsp:nvSpPr>
        <dsp:cNvPr id="0" name=""/>
        <dsp:cNvSpPr/>
      </dsp:nvSpPr>
      <dsp:spPr>
        <a:xfrm>
          <a:off x="434402" y="1404492"/>
          <a:ext cx="1976354" cy="98817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2100" b="1" i="0" u="none" strike="noStrike" kern="1200" cap="none" normalizeH="0" baseline="0" dirty="0" smtClean="0">
              <a:ln/>
              <a:effectLst/>
              <a:latin typeface="Arial" charset="0"/>
              <a:cs typeface="Arial" charset="0"/>
            </a:rPr>
            <a:t>Marketing</a:t>
          </a:r>
        </a:p>
      </dsp:txBody>
      <dsp:txXfrm>
        <a:off x="434402" y="1404492"/>
        <a:ext cx="1976354" cy="988177"/>
      </dsp:txXfrm>
    </dsp:sp>
    <dsp:sp modelId="{48AD8FA0-E72E-4AC4-9750-A56331306065}">
      <dsp:nvSpPr>
        <dsp:cNvPr id="0" name=""/>
        <dsp:cNvSpPr/>
      </dsp:nvSpPr>
      <dsp:spPr>
        <a:xfrm>
          <a:off x="2825791" y="1404492"/>
          <a:ext cx="1976354" cy="98817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2100" b="1" i="0" u="none" strike="noStrike" kern="1200" cap="none" normalizeH="0" baseline="0" dirty="0" smtClean="0">
              <a:ln/>
              <a:effectLst/>
              <a:latin typeface="Arial" charset="0"/>
              <a:cs typeface="Arial" charset="0"/>
            </a:rPr>
            <a:t>Membership</a:t>
          </a:r>
          <a:endParaRPr lang="en-US" sz="2100" kern="1200" dirty="0"/>
        </a:p>
      </dsp:txBody>
      <dsp:txXfrm>
        <a:off x="2825791" y="1404492"/>
        <a:ext cx="1976354" cy="988177"/>
      </dsp:txXfrm>
    </dsp:sp>
    <dsp:sp modelId="{C94A45E0-A372-45B2-B3DF-51D180D32DAE}">
      <dsp:nvSpPr>
        <dsp:cNvPr id="0" name=""/>
        <dsp:cNvSpPr/>
      </dsp:nvSpPr>
      <dsp:spPr>
        <a:xfrm>
          <a:off x="5217180" y="1404492"/>
          <a:ext cx="1976354" cy="98817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2100" b="1" i="0" u="none" strike="noStrike" kern="1200" cap="none" normalizeH="0" baseline="0" dirty="0" smtClean="0">
              <a:ln/>
              <a:effectLst/>
              <a:latin typeface="Arial" charset="0"/>
              <a:cs typeface="Arial" charset="0"/>
            </a:rPr>
            <a:t>Community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sz="1400" b="1" i="0" u="none" strike="noStrike" kern="1200" cap="none" normalizeH="0" baseline="0" dirty="0" smtClean="0">
              <a:ln/>
              <a:effectLst/>
              <a:latin typeface="Arial" charset="0"/>
              <a:cs typeface="Arial" charset="0"/>
            </a:rPr>
            <a:t>In-reach &amp; Outreach</a:t>
          </a:r>
          <a:endParaRPr lang="en-US" kern="1200" dirty="0"/>
        </a:p>
      </dsp:txBody>
      <dsp:txXfrm>
        <a:off x="5217180" y="1404492"/>
        <a:ext cx="1976354" cy="988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Calibri" pitchFamily="34" charset="0"/>
              </a:defRPr>
            </a:lvl1pPr>
          </a:lstStyle>
          <a:p>
            <a:fld id="{7D524133-9349-45CF-80FA-CBE70059BA37}" type="datetimeFigureOut">
              <a:rPr lang="en-US"/>
              <a:pPr/>
              <a:t>8/26/2009</a:t>
            </a:fld>
            <a:endParaRPr lang="en-US"/>
          </a:p>
        </p:txBody>
      </p:sp>
      <p:sp>
        <p:nvSpPr>
          <p:cNvPr id="185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185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Calibri" pitchFamily="34" charset="0"/>
              </a:defRPr>
            </a:lvl1pPr>
          </a:lstStyle>
          <a:p>
            <a:fld id="{19CE1433-CA4B-4E4E-AAAF-E0C5FF5A3F7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3A6B5-1686-4A8A-8244-0C73F5D21184}" type="datetimeFigureOut">
              <a:rPr lang="en-US" smtClean="0"/>
              <a:pPr/>
              <a:t>8/26/2009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F2E70-CD4E-4C31-B172-F4485811A65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F2E70-CD4E-4C31-B172-F4485811A65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69" name="Picture 17" descr="SH Star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15200" y="5486400"/>
            <a:ext cx="1828800" cy="1371600"/>
          </a:xfrm>
          <a:prstGeom prst="rect">
            <a:avLst/>
          </a:prstGeom>
          <a:noFill/>
        </p:spPr>
      </p:pic>
      <p:sp>
        <p:nvSpPr>
          <p:cNvPr id="23571" name="Rectangle 19" descr="Stationery"/>
          <p:cNvSpPr>
            <a:spLocks noChangeArrowheads="1"/>
          </p:cNvSpPr>
          <p:nvPr userDrawn="1"/>
        </p:nvSpPr>
        <p:spPr bwMode="auto">
          <a:xfrm>
            <a:off x="0" y="0"/>
            <a:ext cx="533400" cy="2133600"/>
          </a:xfrm>
          <a:prstGeom prst="rect">
            <a:avLst/>
          </a:prstGeom>
          <a:blipFill dpi="0" rotWithShape="1">
            <a:blip r:embed="rId15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Rectangle 20" descr="Paper bag"/>
          <p:cNvSpPr>
            <a:spLocks noChangeArrowheads="1"/>
          </p:cNvSpPr>
          <p:nvPr userDrawn="1"/>
        </p:nvSpPr>
        <p:spPr bwMode="auto">
          <a:xfrm>
            <a:off x="0" y="2100263"/>
            <a:ext cx="533400" cy="4757737"/>
          </a:xfrm>
          <a:prstGeom prst="rect">
            <a:avLst/>
          </a:prstGeom>
          <a:blipFill dpi="0" rotWithShape="1">
            <a:blip r:embed="rId16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>
    <p:randomBar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234950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100">
          <a:solidFill>
            <a:schemeClr val="tx1"/>
          </a:solidFill>
          <a:latin typeface="+mn-lt"/>
        </a:defRPr>
      </a:lvl2pPr>
      <a:lvl3pPr marL="1147763" indent="-23336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900">
          <a:solidFill>
            <a:schemeClr val="tx1"/>
          </a:solidFill>
          <a:latin typeface="+mn-lt"/>
        </a:defRPr>
      </a:lvl3pPr>
      <a:lvl4pPr marL="1604963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1900">
          <a:solidFill>
            <a:schemeClr val="tx1"/>
          </a:solidFill>
          <a:latin typeface="+mn-lt"/>
        </a:defRPr>
      </a:lvl4pPr>
      <a:lvl5pPr marL="2062163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1900">
          <a:solidFill>
            <a:schemeClr val="tx1"/>
          </a:solidFill>
          <a:latin typeface="+mn-lt"/>
        </a:defRPr>
      </a:lvl5pPr>
      <a:lvl6pPr marL="2519363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1900">
          <a:solidFill>
            <a:schemeClr val="tx1"/>
          </a:solidFill>
          <a:latin typeface="+mn-lt"/>
        </a:defRPr>
      </a:lvl6pPr>
      <a:lvl7pPr marL="2976563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1900">
          <a:solidFill>
            <a:schemeClr val="tx1"/>
          </a:solidFill>
          <a:latin typeface="+mn-lt"/>
        </a:defRPr>
      </a:lvl7pPr>
      <a:lvl8pPr marL="3433763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1900">
          <a:solidFill>
            <a:schemeClr val="tx1"/>
          </a:solidFill>
          <a:latin typeface="+mn-lt"/>
        </a:defRPr>
      </a:lvl8pPr>
      <a:lvl9pPr marL="3890963" indent="-2349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1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87" name="Rectangle 15"/>
          <p:cNvSpPr>
            <a:spLocks noChangeArrowheads="1"/>
          </p:cNvSpPr>
          <p:nvPr/>
        </p:nvSpPr>
        <p:spPr bwMode="auto">
          <a:xfrm>
            <a:off x="457200" y="381000"/>
            <a:ext cx="7620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800" dirty="0" smtClean="0">
                <a:latin typeface="Garamond" pitchFamily="18" charset="0"/>
              </a:rPr>
              <a:t>SH Idea Portfolio (2009)</a:t>
            </a:r>
            <a:endParaRPr lang="en-US" sz="4800" dirty="0">
              <a:latin typeface="Garamond" pitchFamily="18" charset="0"/>
            </a:endParaRPr>
          </a:p>
        </p:txBody>
      </p:sp>
      <p:sp>
        <p:nvSpPr>
          <p:cNvPr id="207888" name="Rectangle 16"/>
          <p:cNvSpPr>
            <a:spLocks noChangeArrowheads="1"/>
          </p:cNvSpPr>
          <p:nvPr/>
        </p:nvSpPr>
        <p:spPr bwMode="auto">
          <a:xfrm>
            <a:off x="609600" y="5029200"/>
            <a:ext cx="6096000" cy="1143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200" i="1">
                <a:solidFill>
                  <a:srgbClr val="336699"/>
                </a:solidFill>
                <a:latin typeface="Garamond" pitchFamily="18" charset="0"/>
              </a:rPr>
              <a:t>“Inspiring Meaningful and </a:t>
            </a:r>
            <a:br>
              <a:rPr lang="en-US" sz="3200" i="1">
                <a:solidFill>
                  <a:srgbClr val="336699"/>
                </a:solidFill>
                <a:latin typeface="Garamond" pitchFamily="18" charset="0"/>
              </a:rPr>
            </a:br>
            <a:r>
              <a:rPr lang="en-US" sz="3200" i="1">
                <a:solidFill>
                  <a:srgbClr val="336699"/>
                </a:solidFill>
                <a:latin typeface="Garamond" pitchFamily="18" charset="0"/>
              </a:rPr>
              <a:t>       Contemporary Jewish Living”</a:t>
            </a:r>
          </a:p>
        </p:txBody>
      </p:sp>
    </p:spTree>
  </p:cSld>
  <p:clrMapOvr>
    <a:masterClrMapping/>
  </p:clrMapOvr>
  <p:transition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433388"/>
            <a:ext cx="7620000" cy="60960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Focus Areas </a:t>
            </a:r>
            <a:endParaRPr lang="en-US" dirty="0"/>
          </a:p>
        </p:txBody>
      </p:sp>
      <p:graphicFrame>
        <p:nvGraphicFramePr>
          <p:cNvPr id="9" name="Diagram 8"/>
          <p:cNvGraphicFramePr/>
          <p:nvPr/>
        </p:nvGraphicFramePr>
        <p:xfrm>
          <a:off x="838200" y="1371600"/>
          <a:ext cx="7627938" cy="2393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List of Ideas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1" y="838219"/>
          <a:ext cx="8458198" cy="5957920"/>
        </p:xfrm>
        <a:graphic>
          <a:graphicData uri="http://schemas.openxmlformats.org/drawingml/2006/table">
            <a:tbl>
              <a:tblPr/>
              <a:tblGrid>
                <a:gridCol w="3847297"/>
                <a:gridCol w="783875"/>
                <a:gridCol w="819916"/>
                <a:gridCol w="858209"/>
                <a:gridCol w="858209"/>
                <a:gridCol w="858209"/>
                <a:gridCol w="432483"/>
              </a:tblGrid>
              <a:tr h="3961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Ideas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Membership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Impact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(1=Low, 5=High)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Do-Ability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(1=Hard, 5=Easy)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Capture customer insights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37732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Create a common theme each year that resonates through all the programs and messaging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Improve our presence at Folk Arts Festivals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Promote our HH services (ex. This I Believe, This I Remember)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Need metrics to gauge our success (what gets measured, gets done)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Pursue social action opportunities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Promote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inreach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and outreach as part of each event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Hold a job/networking event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Get members more actively involved (promote participation)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Hold neighborhood get-togethers (where each member brings someone)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Promote our biggest asset (our community)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Get a building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Have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Lahaka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perform at one service each month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Do the "little things" that SH leaders used to do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Use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Facebook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to reach out to members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BoD and members need to be ambassodors for SH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Do a lox box Sunday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Ask every member to commit to attend one service (so we always have a minyan)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Reduce our focus on a building (distracted us from our core purpose)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Ask members to attend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Selichot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when they buy HH Tickets (send out letter)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Get Board members to commit to one or more goals each year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Improve our positioning messages to differentiate ourselves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Get members to know each other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Do a talent show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Create a volunteer / consideration agreement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206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Get members to talk about why they are at SH (during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Selichot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Promote the talent that each person brings to SH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B05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866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 a billboard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206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B05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874" marR="4874" marT="48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Idea Review</a:t>
            </a:r>
            <a:endParaRPr lang="en-US" dirty="0"/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err="1" smtClean="0"/>
              <a:t>BoD</a:t>
            </a:r>
            <a:r>
              <a:rPr lang="en-US" dirty="0" smtClean="0"/>
              <a:t> need to review each idea and verify the assigned areas of impact as well as the impact &amp; do-ability.  </a:t>
            </a:r>
            <a:r>
              <a:rPr lang="en-US" dirty="0" smtClean="0"/>
              <a:t> </a:t>
            </a:r>
            <a:r>
              <a:rPr lang="en-US" dirty="0" smtClean="0"/>
              <a:t>This needs to be done as a group exercise where we can engage individuals and hear their arguments collectively.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Note: Some of the ideas are too vague</a:t>
            </a:r>
          </a:p>
          <a:p>
            <a:pPr lvl="2"/>
            <a:r>
              <a:rPr lang="en-US" dirty="0" smtClean="0"/>
              <a:t>Each idea must be an actionable statement that someone can read and clearly understand what must be done.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Note</a:t>
            </a:r>
            <a:r>
              <a:rPr lang="en-US" dirty="0" smtClean="0"/>
              <a:t>: </a:t>
            </a:r>
            <a:r>
              <a:rPr lang="en-US" dirty="0" smtClean="0"/>
              <a:t>May want to exclude the building idea</a:t>
            </a:r>
          </a:p>
          <a:p>
            <a:pPr lvl="2"/>
            <a:r>
              <a:rPr lang="en-US" dirty="0" smtClean="0"/>
              <a:t>The idea of getting a building is probably not an </a:t>
            </a:r>
            <a:r>
              <a:rPr lang="en-US" dirty="0" err="1" smtClean="0"/>
              <a:t>an</a:t>
            </a:r>
            <a:r>
              <a:rPr lang="en-US" dirty="0" smtClean="0"/>
              <a:t> idea that we can pursue in the foreseeable future given our limited funding capabilities.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Note</a:t>
            </a:r>
            <a:r>
              <a:rPr lang="en-US" dirty="0" smtClean="0"/>
              <a:t>: Do-ability encompasses (cost, time, feasibility)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ransition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Managing Expectations</a:t>
            </a:r>
            <a:endParaRPr lang="en-US" dirty="0"/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Need to identify the needs we are going to address by each idea.  We can use a simple matrix, but there should be some level of traceability to justify each idea.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Each idea needs to have some quantifiable measure for us to assess the value so that we can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Prioritize it amongst the other ideas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Assess the level of success we achieved 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Need to draft a communication that explains to the membership the ideas that we plan on implementing, their justification (expressed in opportunities to address unmet needs as well as impact we hope to achieve)</a:t>
            </a:r>
            <a:endParaRPr lang="en-US" dirty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Establishing priorities </a:t>
            </a:r>
            <a:r>
              <a:rPr lang="en-US" dirty="0"/>
              <a:t>for </a:t>
            </a:r>
            <a:r>
              <a:rPr lang="en-US" dirty="0" smtClean="0"/>
              <a:t>2009 - 2010</a:t>
            </a:r>
            <a:endParaRPr lang="en-US" dirty="0"/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err="1" smtClean="0"/>
              <a:t>BoD</a:t>
            </a:r>
            <a:r>
              <a:rPr lang="en-US" dirty="0" smtClean="0"/>
              <a:t> to agree on clear &amp; measureable goals for the 2009-2010.  These are important for setting up the criteria used for evaluating </a:t>
            </a:r>
            <a:r>
              <a:rPr lang="en-US" dirty="0" smtClean="0"/>
              <a:t>&amp; prioritizing ideas.</a:t>
            </a:r>
          </a:p>
          <a:p>
            <a:endParaRPr lang="en-US" dirty="0" smtClean="0"/>
          </a:p>
          <a:p>
            <a:r>
              <a:rPr lang="en-US" dirty="0" err="1" smtClean="0"/>
              <a:t>BoD</a:t>
            </a:r>
            <a:r>
              <a:rPr lang="en-US" dirty="0" smtClean="0"/>
              <a:t> to review the list of “cleansed” ideas to determine the timelines for accomplishing each idea</a:t>
            </a:r>
          </a:p>
          <a:p>
            <a:pPr lvl="1"/>
            <a:r>
              <a:rPr lang="en-US" dirty="0" smtClean="0"/>
              <a:t>Short Term (just do it – requires little or no authorization)</a:t>
            </a:r>
          </a:p>
          <a:p>
            <a:pPr lvl="1"/>
            <a:r>
              <a:rPr lang="en-US" dirty="0" smtClean="0"/>
              <a:t>Middle Term (Requires no funding but resources &amp; planning)</a:t>
            </a:r>
          </a:p>
          <a:p>
            <a:pPr lvl="1"/>
            <a:r>
              <a:rPr lang="en-US" dirty="0" smtClean="0"/>
              <a:t>Long Term (Requires allocation of funds and significant effort)</a:t>
            </a:r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BoD</a:t>
            </a:r>
            <a:r>
              <a:rPr lang="en-US" dirty="0" smtClean="0"/>
              <a:t> to determine which ideas will be pursued this year given cost &amp; resource constraints</a:t>
            </a:r>
          </a:p>
        </p:txBody>
      </p:sp>
    </p:spTree>
  </p:cSld>
  <p:clrMapOvr>
    <a:masterClrMapping/>
  </p:clrMapOvr>
  <p:transition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Ownership &amp; Accountability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BoD</a:t>
            </a:r>
            <a:r>
              <a:rPr lang="en-US" dirty="0" smtClean="0"/>
              <a:t> will each be assigned one or more ideas.  Most important ideas (highest priority) will be assigned ownership and staffing first.  </a:t>
            </a:r>
          </a:p>
          <a:p>
            <a:r>
              <a:rPr lang="en-US" dirty="0" smtClean="0"/>
              <a:t>The rest will be relegated to second tier and third tier status based on bandwidth of leadership and availability of resources (human &amp; financial)</a:t>
            </a:r>
          </a:p>
          <a:p>
            <a:r>
              <a:rPr lang="en-US" dirty="0" smtClean="0"/>
              <a:t>One </a:t>
            </a:r>
            <a:r>
              <a:rPr lang="en-US" dirty="0" err="1" smtClean="0"/>
              <a:t>BoD</a:t>
            </a:r>
            <a:r>
              <a:rPr lang="en-US" dirty="0" smtClean="0"/>
              <a:t> will be assigned as the single owner for an idea  and must provide a plan for completing the idea at next Board meeting.</a:t>
            </a:r>
          </a:p>
          <a:p>
            <a:r>
              <a:rPr lang="en-US" dirty="0" smtClean="0"/>
              <a:t>Progress &amp; Risks will be managed in subsequent board meetings to ensure ideas are tracking to schedule.</a:t>
            </a:r>
            <a:endParaRPr lang="en-US" dirty="0"/>
          </a:p>
        </p:txBody>
      </p:sp>
    </p:spTree>
  </p:cSld>
  <p:clrMapOvr>
    <a:masterClrMapping/>
  </p:clrMapOvr>
  <p:transition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BoD</a:t>
            </a:r>
            <a:r>
              <a:rPr lang="en-US" dirty="0" smtClean="0"/>
              <a:t> review the ideas and content captured in this deck</a:t>
            </a:r>
          </a:p>
          <a:p>
            <a:endParaRPr lang="en-US" dirty="0" smtClean="0"/>
          </a:p>
          <a:p>
            <a:r>
              <a:rPr lang="en-US" dirty="0" err="1" smtClean="0"/>
              <a:t>BoD</a:t>
            </a:r>
            <a:r>
              <a:rPr lang="en-US" dirty="0" smtClean="0"/>
              <a:t> agree upon the suggested action items throughout</a:t>
            </a:r>
          </a:p>
          <a:p>
            <a:endParaRPr lang="en-US" dirty="0" smtClean="0"/>
          </a:p>
          <a:p>
            <a:r>
              <a:rPr lang="en-US" dirty="0" err="1" smtClean="0"/>
              <a:t>BoD</a:t>
            </a:r>
            <a:r>
              <a:rPr lang="en-US" dirty="0" smtClean="0"/>
              <a:t> finalize this deck and solidify an action plan for the organization accompanied by a communication plan to manage expectations of the membership.</a:t>
            </a:r>
            <a:endParaRPr lang="en-US" dirty="0"/>
          </a:p>
        </p:txBody>
      </p:sp>
    </p:spTree>
  </p:cSld>
  <p:clrMapOvr>
    <a:masterClrMapping/>
  </p:clrMapOvr>
  <p:transition>
    <p:randomBar dir="vert"/>
  </p:transition>
</p:sld>
</file>

<file path=ppt/theme/theme1.xml><?xml version="1.0" encoding="utf-8"?>
<a:theme xmlns:a="http://schemas.openxmlformats.org/drawingml/2006/main" name="1_Blank">
  <a:themeElements>
    <a:clrScheme name="">
      <a:dk1>
        <a:srgbClr val="000000"/>
      </a:dk1>
      <a:lt1>
        <a:srgbClr val="FFFFFF"/>
      </a:lt1>
      <a:dk2>
        <a:srgbClr val="4F2070"/>
      </a:dk2>
      <a:lt2>
        <a:srgbClr val="B3B3B3"/>
      </a:lt2>
      <a:accent1>
        <a:srgbClr val="999999"/>
      </a:accent1>
      <a:accent2>
        <a:srgbClr val="A8C995"/>
      </a:accent2>
      <a:accent3>
        <a:srgbClr val="FFFFFF"/>
      </a:accent3>
      <a:accent4>
        <a:srgbClr val="000000"/>
      </a:accent4>
      <a:accent5>
        <a:srgbClr val="CACACA"/>
      </a:accent5>
      <a:accent6>
        <a:srgbClr val="98B687"/>
      </a:accent6>
      <a:hlink>
        <a:srgbClr val="D15B05"/>
      </a:hlink>
      <a:folHlink>
        <a:srgbClr val="51B5E0"/>
      </a:folHlink>
    </a:clrScheme>
    <a:fontScheme name="1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Blank 1">
        <a:dk1>
          <a:srgbClr val="737373"/>
        </a:dk1>
        <a:lt1>
          <a:srgbClr val="FFFFFF"/>
        </a:lt1>
        <a:dk2>
          <a:srgbClr val="4F2070"/>
        </a:dk2>
        <a:lt2>
          <a:srgbClr val="D9D9D9"/>
        </a:lt2>
        <a:accent1>
          <a:srgbClr val="51B6E1"/>
        </a:accent1>
        <a:accent2>
          <a:srgbClr val="D15904"/>
        </a:accent2>
        <a:accent3>
          <a:srgbClr val="FFFFFF"/>
        </a:accent3>
        <a:accent4>
          <a:srgbClr val="616161"/>
        </a:accent4>
        <a:accent5>
          <a:srgbClr val="B3D7EE"/>
        </a:accent5>
        <a:accent6>
          <a:srgbClr val="BD5003"/>
        </a:accent6>
        <a:hlink>
          <a:srgbClr val="D16404"/>
        </a:hlink>
        <a:folHlink>
          <a:srgbClr val="CAE32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558</TotalTime>
  <Words>880</Words>
  <Application>Microsoft Office PowerPoint</Application>
  <PresentationFormat>On-screen Show (4:3)</PresentationFormat>
  <Paragraphs>258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Wingdings</vt:lpstr>
      <vt:lpstr>Garamond</vt:lpstr>
      <vt:lpstr>Times</vt:lpstr>
      <vt:lpstr>1_Blank</vt:lpstr>
      <vt:lpstr>Slide 1</vt:lpstr>
      <vt:lpstr>Focus Areas </vt:lpstr>
      <vt:lpstr>List of Ideas</vt:lpstr>
      <vt:lpstr>Idea Review</vt:lpstr>
      <vt:lpstr>Managing Expectations</vt:lpstr>
      <vt:lpstr>Establishing priorities for 2009 - 2010</vt:lpstr>
      <vt:lpstr>Ownership &amp; Accountability</vt:lpstr>
      <vt:lpstr>Next Steps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JW</dc:creator>
  <cp:lastModifiedBy>jw</cp:lastModifiedBy>
  <cp:revision>13</cp:revision>
  <dcterms:created xsi:type="dcterms:W3CDTF">2009-04-12T00:38:48Z</dcterms:created>
  <dcterms:modified xsi:type="dcterms:W3CDTF">2009-08-26T14:20:31Z</dcterms:modified>
</cp:coreProperties>
</file>
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  <p:sldMasterId id="2147483851" r:id="rId2"/>
  </p:sldMasterIdLst>
  <p:sldIdLst>
    <p:sldId id="257" r:id="rId3"/>
  </p:sldIdLst>
  <p:sldSz cx="9144000" cy="6858000" type="letter"/>
  <p:notesSz cx="7102475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1pPr>
    <a:lvl2pPr marL="319088" indent="138113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2pPr>
    <a:lvl3pPr marL="639763" indent="274638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3pPr>
    <a:lvl4pPr marL="962025" indent="409575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4pPr>
    <a:lvl5pPr marL="1282700" indent="546100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5pPr>
    <a:lvl6pPr marL="22860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6pPr>
    <a:lvl7pPr marL="27432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7pPr>
    <a:lvl8pPr marL="32004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8pPr>
    <a:lvl9pPr marL="36576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152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55674"/>
            <a:ext cx="7772400" cy="523220"/>
          </a:xfrm>
        </p:spPr>
        <p:txBody>
          <a:bodyPr anchor="t"/>
          <a:lstStyle>
            <a:lvl1pPr algn="l">
              <a:defRPr sz="2800" b="1" cap="all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655495"/>
            <a:ext cx="7772400" cy="1500187"/>
          </a:xfrm>
          <a:prstGeom prst="rect">
            <a:avLst/>
          </a:prstGeom>
        </p:spPr>
        <p:txBody>
          <a:bodyPr lIns="91402" tIns="45702" rIns="91402" bIns="45702" anchor="b"/>
          <a:lstStyle>
            <a:lvl1pPr marL="0" indent="0">
              <a:buNone/>
              <a:defRPr sz="4000">
                <a:solidFill>
                  <a:srgbClr val="552200"/>
                </a:solidFill>
              </a:defRPr>
            </a:lvl1pPr>
            <a:lvl2pPr marL="457011" indent="0">
              <a:buNone/>
              <a:defRPr sz="1800"/>
            </a:lvl2pPr>
            <a:lvl3pPr marL="914024" indent="0">
              <a:buNone/>
              <a:defRPr sz="1600"/>
            </a:lvl3pPr>
            <a:lvl4pPr marL="1371040" indent="0">
              <a:buNone/>
              <a:defRPr sz="1400"/>
            </a:lvl4pPr>
            <a:lvl5pPr marL="1828052" indent="0">
              <a:buNone/>
              <a:defRPr sz="1400"/>
            </a:lvl5pPr>
            <a:lvl6pPr marL="2285064" indent="0">
              <a:buNone/>
              <a:defRPr sz="1400"/>
            </a:lvl6pPr>
            <a:lvl7pPr marL="2742079" indent="0">
              <a:buNone/>
              <a:defRPr sz="1400"/>
            </a:lvl7pPr>
            <a:lvl8pPr marL="3199088" indent="0">
              <a:buNone/>
              <a:defRPr sz="1400"/>
            </a:lvl8pPr>
            <a:lvl9pPr marL="365610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veg logo v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25" y="606425"/>
            <a:ext cx="5413375" cy="12176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/>
          <p:cNvSpPr>
            <a:spLocks noChangeArrowheads="1"/>
          </p:cNvSpPr>
          <p:nvPr userDrawn="1"/>
        </p:nvSpPr>
        <p:spPr bwMode="auto">
          <a:xfrm>
            <a:off x="0" y="5959475"/>
            <a:ext cx="3070225" cy="898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l">
              <a:buFontTx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2955405"/>
            <a:ext cx="5570525" cy="553998"/>
          </a:xfrm>
        </p:spPr>
        <p:txBody>
          <a:bodyPr/>
          <a:lstStyle>
            <a:lvl1pPr algn="l">
              <a:defRPr sz="3000" b="1">
                <a:solidFill>
                  <a:srgbClr val="5522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1" y="3959353"/>
            <a:ext cx="5570525" cy="1773936"/>
          </a:xfrm>
          <a:prstGeom prst="rect">
            <a:avLst/>
          </a:prstGeom>
        </p:spPr>
        <p:txBody>
          <a:bodyPr lIns="91402" tIns="45702" rIns="91402" bIns="45702">
            <a:normAutofit/>
          </a:bodyPr>
          <a:lstStyle>
            <a:lvl1pPr marL="0" indent="0" algn="l">
              <a:buNone/>
              <a:defRPr sz="1600" b="1">
                <a:solidFill>
                  <a:srgbClr val="7F7F7F"/>
                </a:solidFill>
                <a:latin typeface="Arial" pitchFamily="34" charset="0"/>
                <a:cs typeface="Arial" pitchFamily="34" charset="0"/>
              </a:defRPr>
            </a:lvl1pPr>
            <a:lvl2pPr marL="457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0909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8301" y="1670050"/>
            <a:ext cx="4061196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4548256" y="1670050"/>
            <a:ext cx="4138551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9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1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730375"/>
            <a:ext cx="9144000" cy="215900"/>
          </a:xfrm>
          <a:prstGeom prst="rect">
            <a:avLst/>
          </a:prstGeom>
          <a:gradFill rotWithShape="0">
            <a:gsLst>
              <a:gs pos="0">
                <a:srgbClr val="E8E8E8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2" tIns="45702" rIns="91402" bIns="45702" anchor="ctr">
            <a:spAutoFit/>
          </a:bodyPr>
          <a:lstStyle/>
          <a:p>
            <a:endParaRPr 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38238" y="349250"/>
            <a:ext cx="7158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02" tIns="45702" rIns="91402" bIns="4570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8458200" y="6397625"/>
            <a:ext cx="685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02" rIns="0" bIns="45702" anchor="ctr"/>
          <a:lstStyle/>
          <a:p>
            <a:pPr>
              <a:buFontTx/>
              <a:buNone/>
            </a:pPr>
            <a:fld id="{FD8812A5-7706-AF45-9670-B8F2030C16DF}" type="slidenum">
              <a:rPr lang="en-US" sz="2000">
                <a:solidFill>
                  <a:srgbClr val="552200"/>
                </a:solidFill>
              </a:rPr>
              <a:pPr>
                <a:buFontTx/>
                <a:buNone/>
              </a:pPr>
              <a:t>‹#›</a:t>
            </a:fld>
            <a:endParaRPr lang="en-US" sz="2000">
              <a:solidFill>
                <a:srgbClr val="552200"/>
              </a:solidFill>
            </a:endParaRPr>
          </a:p>
        </p:txBody>
      </p:sp>
      <p:sp>
        <p:nvSpPr>
          <p:cNvPr id="1029" name="Content Placeholder 2"/>
          <p:cNvSpPr txBox="1">
            <a:spLocks/>
          </p:cNvSpPr>
          <p:nvPr/>
        </p:nvSpPr>
        <p:spPr bwMode="auto">
          <a:xfrm>
            <a:off x="368300" y="1670050"/>
            <a:ext cx="8318500" cy="4425950"/>
          </a:xfrm>
          <a:prstGeom prst="rect">
            <a:avLst/>
          </a:prstGeom>
          <a:noFill/>
          <a:ln>
            <a:noFill/>
          </a:ln>
          <a:extLst/>
        </p:spPr>
        <p:txBody>
          <a:bodyPr lIns="91402" tIns="45702" rIns="91402" bIns="45702"/>
          <a:lstStyle>
            <a:lvl1pPr marL="342900" indent="-3429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en-US" sz="1400" b="0" dirty="0" smtClean="0">
              <a:solidFill>
                <a:srgbClr val="262626"/>
              </a:solidFill>
              <a:ea typeface="ＭＳ Ｐゴシック" pitchFamily="34" charset="-128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0" y="1033995"/>
            <a:ext cx="9144000" cy="1076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02" tIns="45702" rIns="91402" bIns="45702" anchor="ctr">
            <a:spAutoFit/>
          </a:bodyPr>
          <a:lstStyle/>
          <a:p>
            <a:pPr>
              <a:defRPr/>
            </a:pPr>
            <a:endParaRPr lang="en-US" sz="100" dirty="0">
              <a:solidFill>
                <a:schemeClr val="bg1"/>
              </a:solidFill>
            </a:endParaRPr>
          </a:p>
        </p:txBody>
      </p:sp>
      <p:pic>
        <p:nvPicPr>
          <p:cNvPr id="1033" name="Picture 3" descr="veg logo v5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6025"/>
            <a:ext cx="2449513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50" r:id="rId3"/>
    <p:sldLayoutId id="2147483848" r:id="rId4"/>
    <p:sldLayoutId id="2147483849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5pPr>
      <a:lvl6pPr marL="457011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6pPr>
      <a:lvl7pPr marL="914024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7pPr>
      <a:lvl8pPr marL="137104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8pPr>
      <a:lvl9pPr marL="1828052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9pPr>
    </p:titleStyle>
    <p:bodyStyle>
      <a:lvl1pPr marL="339725" indent="-339725" algn="l" rtl="0" eaLnBrk="1" fontAlgn="base" hangingPunct="1">
        <a:spcBef>
          <a:spcPct val="20000"/>
        </a:spcBef>
        <a:spcAft>
          <a:spcPct val="0"/>
        </a:spcAft>
        <a:buFont typeface="Wingdings" charset="0"/>
        <a:buChar char="•"/>
        <a:defRPr sz="1600"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39775" indent="-280988" algn="l" rtl="0" eaLnBrk="1" fontAlgn="base" hangingPunct="1">
        <a:spcBef>
          <a:spcPct val="20000"/>
        </a:spcBef>
        <a:spcAft>
          <a:spcPct val="0"/>
        </a:spcAft>
        <a:buClr>
          <a:srgbClr val="FD9712"/>
        </a:buClr>
        <a:buFont typeface="Wingdings" charset="0"/>
        <a:buChar char="§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2pPr>
      <a:lvl3pPr marL="1138238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Arial" charset="0"/>
        <a:buChar char="»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4pPr>
      <a:lvl5pPr marL="20542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5pPr>
      <a:lvl6pPr marL="2513573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6pPr>
      <a:lvl7pPr marL="2970584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7pPr>
      <a:lvl8pPr marL="3427598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8pPr>
      <a:lvl9pPr marL="3884609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11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2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052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06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079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088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10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Rectangle 1200"/>
          <p:cNvSpPr/>
          <p:nvPr/>
        </p:nvSpPr>
        <p:spPr>
          <a:xfrm>
            <a:off x="200638" y="1290356"/>
            <a:ext cx="1136511" cy="18697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Customer </a:t>
            </a:r>
          </a:p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Perspective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98" name="Rectangle 297"/>
          <p:cNvSpPr/>
          <p:nvPr/>
        </p:nvSpPr>
        <p:spPr>
          <a:xfrm>
            <a:off x="1454019" y="1284103"/>
            <a:ext cx="1136511" cy="18760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Customer </a:t>
            </a:r>
          </a:p>
          <a:p>
            <a:pPr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Asks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99" name="Rectangle 298"/>
          <p:cNvSpPr/>
          <p:nvPr/>
        </p:nvSpPr>
        <p:spPr>
          <a:xfrm>
            <a:off x="2709338" y="1294462"/>
            <a:ext cx="1136511" cy="18760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Strategic</a:t>
            </a:r>
            <a:endParaRPr lang="en-US" sz="10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Perspective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0" name="Rectangle 299"/>
          <p:cNvSpPr/>
          <p:nvPr/>
        </p:nvSpPr>
        <p:spPr>
          <a:xfrm>
            <a:off x="3958685" y="1286437"/>
            <a:ext cx="1136511" cy="18840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>
                <a:solidFill>
                  <a:schemeClr val="tx1"/>
                </a:solidFill>
              </a:rPr>
              <a:t>Customer </a:t>
            </a:r>
          </a:p>
          <a:p>
            <a:pPr>
              <a:buNone/>
            </a:pPr>
            <a:r>
              <a:rPr lang="en-US" sz="1000">
                <a:solidFill>
                  <a:schemeClr val="tx1"/>
                </a:solidFill>
              </a:rPr>
              <a:t>Perspective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1" name="Rectangle 300"/>
          <p:cNvSpPr/>
          <p:nvPr/>
        </p:nvSpPr>
        <p:spPr>
          <a:xfrm>
            <a:off x="5208032" y="1291871"/>
            <a:ext cx="1136511" cy="30607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Internal Stakeholder</a:t>
            </a:r>
          </a:p>
          <a:p>
            <a:pPr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Perspective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2" name="Rectangle 301"/>
          <p:cNvSpPr/>
          <p:nvPr/>
        </p:nvSpPr>
        <p:spPr>
          <a:xfrm>
            <a:off x="6457379" y="1294462"/>
            <a:ext cx="1136511" cy="30581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What the </a:t>
            </a:r>
            <a:r>
              <a:rPr lang="en-US" sz="1000" dirty="0" smtClean="0">
                <a:solidFill>
                  <a:schemeClr val="tx1"/>
                </a:solidFill>
              </a:rPr>
              <a:t>Organization has the Ability to do 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3" name="Rectangle 302"/>
          <p:cNvSpPr/>
          <p:nvPr/>
        </p:nvSpPr>
        <p:spPr>
          <a:xfrm>
            <a:off x="7707977" y="1290356"/>
            <a:ext cx="1136511" cy="18760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Investment &amp; Solution</a:t>
            </a:r>
          </a:p>
          <a:p>
            <a:pPr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Perspective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02" name="Rounded Rectangle 1201"/>
          <p:cNvSpPr/>
          <p:nvPr/>
        </p:nvSpPr>
        <p:spPr>
          <a:xfrm>
            <a:off x="314938" y="1793593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Customer Needs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5" name="Rounded Rectangle 304"/>
          <p:cNvSpPr/>
          <p:nvPr/>
        </p:nvSpPr>
        <p:spPr>
          <a:xfrm>
            <a:off x="314938" y="2187910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Compliance Needs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6" name="Rounded Rectangle 305"/>
          <p:cNvSpPr/>
          <p:nvPr/>
        </p:nvSpPr>
        <p:spPr>
          <a:xfrm>
            <a:off x="298040" y="2569567"/>
            <a:ext cx="919190" cy="47608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Business Stakeholder Needs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7" name="Rounded Rectangle 306"/>
          <p:cNvSpPr/>
          <p:nvPr/>
        </p:nvSpPr>
        <p:spPr>
          <a:xfrm>
            <a:off x="1565666" y="2065523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Desired</a:t>
            </a:r>
          </a:p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Outcomes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8" name="Rounded Rectangle 307"/>
          <p:cNvSpPr/>
          <p:nvPr/>
        </p:nvSpPr>
        <p:spPr>
          <a:xfrm>
            <a:off x="2821136" y="1793593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Business Strategy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9" name="Rounded Rectangle 308"/>
          <p:cNvSpPr/>
          <p:nvPr/>
        </p:nvSpPr>
        <p:spPr>
          <a:xfrm>
            <a:off x="2821137" y="2187910"/>
            <a:ext cx="919190" cy="47608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Initiative / Product Roadmaps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11" name="Rounded Rectangle 310"/>
          <p:cNvSpPr/>
          <p:nvPr/>
        </p:nvSpPr>
        <p:spPr>
          <a:xfrm>
            <a:off x="4041095" y="2069818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Value Stream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12" name="Rounded Rectangle 311"/>
          <p:cNvSpPr/>
          <p:nvPr/>
        </p:nvSpPr>
        <p:spPr>
          <a:xfrm>
            <a:off x="5316692" y="2406403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Value Stream Stage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14" name="Rounded Rectangle 313"/>
          <p:cNvSpPr/>
          <p:nvPr/>
        </p:nvSpPr>
        <p:spPr>
          <a:xfrm>
            <a:off x="7834783" y="1793593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Initiative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03" name="Pentagon 1202"/>
          <p:cNvSpPr/>
          <p:nvPr/>
        </p:nvSpPr>
        <p:spPr>
          <a:xfrm>
            <a:off x="213640" y="904593"/>
            <a:ext cx="3602972" cy="276225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06" name="Chevron 1205"/>
          <p:cNvSpPr/>
          <p:nvPr/>
        </p:nvSpPr>
        <p:spPr>
          <a:xfrm>
            <a:off x="3958684" y="904593"/>
            <a:ext cx="4885803" cy="276225"/>
          </a:xfrm>
          <a:prstGeom prst="chevron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</a:t>
            </a:r>
            <a:endParaRPr 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10" name="Straight Arrow Connector 1209"/>
          <p:cNvCxnSpPr>
            <a:stCxn id="1201" idx="3"/>
            <a:endCxn id="307" idx="1"/>
          </p:cNvCxnSpPr>
          <p:nvPr/>
        </p:nvCxnSpPr>
        <p:spPr>
          <a:xfrm>
            <a:off x="1337149" y="2225235"/>
            <a:ext cx="228517" cy="345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/>
          <p:cNvCxnSpPr>
            <a:stCxn id="307" idx="3"/>
            <a:endCxn id="299" idx="1"/>
          </p:cNvCxnSpPr>
          <p:nvPr/>
        </p:nvCxnSpPr>
        <p:spPr>
          <a:xfrm>
            <a:off x="2484856" y="2228687"/>
            <a:ext cx="224482" cy="378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/>
          <p:cNvCxnSpPr>
            <a:stCxn id="299" idx="3"/>
            <a:endCxn id="311" idx="1"/>
          </p:cNvCxnSpPr>
          <p:nvPr/>
        </p:nvCxnSpPr>
        <p:spPr>
          <a:xfrm>
            <a:off x="3845849" y="2232467"/>
            <a:ext cx="195246" cy="51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Elbow Connector 1067"/>
          <p:cNvCxnSpPr>
            <a:stCxn id="311" idx="2"/>
            <a:endCxn id="312" idx="1"/>
          </p:cNvCxnSpPr>
          <p:nvPr/>
        </p:nvCxnSpPr>
        <p:spPr>
          <a:xfrm rot="16200000" flipH="1">
            <a:off x="4821981" y="2074855"/>
            <a:ext cx="173421" cy="816002"/>
          </a:xfrm>
          <a:prstGeom prst="bentConnector2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Arrow Connector 333"/>
          <p:cNvCxnSpPr>
            <a:stCxn id="301" idx="3"/>
            <a:endCxn id="313" idx="1"/>
          </p:cNvCxnSpPr>
          <p:nvPr/>
        </p:nvCxnSpPr>
        <p:spPr>
          <a:xfrm flipV="1">
            <a:off x="6344543" y="2822256"/>
            <a:ext cx="222122" cy="1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Arrow Connector 339"/>
          <p:cNvCxnSpPr>
            <a:endCxn id="314" idx="1"/>
          </p:cNvCxnSpPr>
          <p:nvPr/>
        </p:nvCxnSpPr>
        <p:spPr>
          <a:xfrm>
            <a:off x="6353107" y="1955718"/>
            <a:ext cx="1481676" cy="1039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Rounded Rectangle 343"/>
          <p:cNvSpPr/>
          <p:nvPr/>
        </p:nvSpPr>
        <p:spPr>
          <a:xfrm>
            <a:off x="5316693" y="3444394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Internal Stakeholder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45" name="Rectangle 344"/>
          <p:cNvSpPr/>
          <p:nvPr/>
        </p:nvSpPr>
        <p:spPr>
          <a:xfrm>
            <a:off x="7707977" y="3223684"/>
            <a:ext cx="1136511" cy="1128959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000"/>
              <a:t>Value (Capability) Gap Perspective</a:t>
            </a:r>
            <a:endParaRPr lang="en-US" sz="1000" dirty="0"/>
          </a:p>
        </p:txBody>
      </p:sp>
      <p:sp>
        <p:nvSpPr>
          <p:cNvPr id="346" name="Rounded Rectangle 345"/>
          <p:cNvSpPr/>
          <p:nvPr/>
        </p:nvSpPr>
        <p:spPr>
          <a:xfrm>
            <a:off x="7816637" y="3444842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Requirement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347" name="Straight Arrow Connector 346"/>
          <p:cNvCxnSpPr>
            <a:stCxn id="314" idx="2"/>
            <a:endCxn id="346" idx="0"/>
          </p:cNvCxnSpPr>
          <p:nvPr/>
        </p:nvCxnSpPr>
        <p:spPr>
          <a:xfrm flipH="1">
            <a:off x="8276232" y="2119921"/>
            <a:ext cx="18146" cy="1324921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/>
          <p:cNvCxnSpPr>
            <a:stCxn id="344" idx="3"/>
            <a:endCxn id="346" idx="1"/>
          </p:cNvCxnSpPr>
          <p:nvPr/>
        </p:nvCxnSpPr>
        <p:spPr>
          <a:xfrm>
            <a:off x="6235883" y="3607558"/>
            <a:ext cx="1580754" cy="448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Elbow Connector 355"/>
          <p:cNvCxnSpPr>
            <a:stCxn id="313" idx="2"/>
          </p:cNvCxnSpPr>
          <p:nvPr/>
        </p:nvCxnSpPr>
        <p:spPr>
          <a:xfrm rot="16200000" flipH="1">
            <a:off x="7142567" y="2869112"/>
            <a:ext cx="458974" cy="691589"/>
          </a:xfrm>
          <a:prstGeom prst="bentConnector2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Rounded Rectangle 312"/>
          <p:cNvSpPr/>
          <p:nvPr/>
        </p:nvSpPr>
        <p:spPr>
          <a:xfrm>
            <a:off x="6566665" y="2659092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Capability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363" name="Elbow Connector 362"/>
          <p:cNvCxnSpPr>
            <a:stCxn id="313" idx="0"/>
          </p:cNvCxnSpPr>
          <p:nvPr/>
        </p:nvCxnSpPr>
        <p:spPr>
          <a:xfrm rot="5400000" flipH="1" flipV="1">
            <a:off x="7155912" y="2097154"/>
            <a:ext cx="432286" cy="691590"/>
          </a:xfrm>
          <a:prstGeom prst="bentConnector2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Rectangle 365"/>
          <p:cNvSpPr/>
          <p:nvPr/>
        </p:nvSpPr>
        <p:spPr>
          <a:xfrm>
            <a:off x="2708087" y="3231971"/>
            <a:ext cx="1136511" cy="11206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Business-wide </a:t>
            </a: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Perspective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67" name="Rounded Rectangle 366"/>
          <p:cNvSpPr/>
          <p:nvPr/>
        </p:nvSpPr>
        <p:spPr>
          <a:xfrm>
            <a:off x="2816747" y="3444394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Business Unit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368" name="Straight Arrow Connector 367"/>
          <p:cNvCxnSpPr>
            <a:stCxn id="367" idx="3"/>
            <a:endCxn id="344" idx="1"/>
          </p:cNvCxnSpPr>
          <p:nvPr/>
        </p:nvCxnSpPr>
        <p:spPr>
          <a:xfrm>
            <a:off x="3735937" y="3607558"/>
            <a:ext cx="1580756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Rectangle 370"/>
          <p:cNvSpPr/>
          <p:nvPr/>
        </p:nvSpPr>
        <p:spPr>
          <a:xfrm>
            <a:off x="213640" y="3231971"/>
            <a:ext cx="2385786" cy="2303145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Operations Perspective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72" name="Rounded Rectangle 371"/>
          <p:cNvSpPr/>
          <p:nvPr/>
        </p:nvSpPr>
        <p:spPr>
          <a:xfrm>
            <a:off x="298040" y="3504071"/>
            <a:ext cx="919190" cy="56628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Product &amp; Service</a:t>
            </a: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Support</a:t>
            </a:r>
          </a:p>
        </p:txBody>
      </p:sp>
      <p:sp>
        <p:nvSpPr>
          <p:cNvPr id="373" name="Rounded Rectangle 372"/>
          <p:cNvSpPr/>
          <p:nvPr/>
        </p:nvSpPr>
        <p:spPr>
          <a:xfrm>
            <a:off x="1451407" y="4691637"/>
            <a:ext cx="919190" cy="56628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Product &amp; Service</a:t>
            </a: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Delivery</a:t>
            </a:r>
          </a:p>
        </p:txBody>
      </p:sp>
      <p:cxnSp>
        <p:nvCxnSpPr>
          <p:cNvPr id="382" name="Straight Arrow Connector 381"/>
          <p:cNvCxnSpPr>
            <a:stCxn id="372" idx="0"/>
            <a:endCxn id="306" idx="2"/>
          </p:cNvCxnSpPr>
          <p:nvPr/>
        </p:nvCxnSpPr>
        <p:spPr>
          <a:xfrm flipV="1">
            <a:off x="757635" y="3045652"/>
            <a:ext cx="0" cy="458419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Rectangle 385"/>
          <p:cNvSpPr/>
          <p:nvPr/>
        </p:nvSpPr>
        <p:spPr>
          <a:xfrm>
            <a:off x="2709338" y="4414445"/>
            <a:ext cx="6153295" cy="112067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Execution &amp; Delivery Perspective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390" name="Elbow Connector 389"/>
          <p:cNvCxnSpPr>
            <a:stCxn id="373" idx="1"/>
            <a:endCxn id="372" idx="2"/>
          </p:cNvCxnSpPr>
          <p:nvPr/>
        </p:nvCxnSpPr>
        <p:spPr>
          <a:xfrm rot="10800000">
            <a:off x="757635" y="4070356"/>
            <a:ext cx="693772" cy="904424"/>
          </a:xfrm>
          <a:prstGeom prst="bentConnector2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7" name="Rounded Rectangle 396"/>
          <p:cNvSpPr/>
          <p:nvPr/>
        </p:nvSpPr>
        <p:spPr>
          <a:xfrm>
            <a:off x="7816637" y="4816257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Business Unit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98" name="Rounded Rectangle 397"/>
          <p:cNvSpPr/>
          <p:nvPr/>
        </p:nvSpPr>
        <p:spPr>
          <a:xfrm>
            <a:off x="5326390" y="4816257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Business Unit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99" name="Rounded Rectangle 398"/>
          <p:cNvSpPr/>
          <p:nvPr/>
        </p:nvSpPr>
        <p:spPr>
          <a:xfrm>
            <a:off x="3090979" y="4816257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 smtClean="0">
                <a:solidFill>
                  <a:schemeClr val="tx1"/>
                </a:solidFill>
              </a:rPr>
              <a:t>Business Unit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400" name="Straight Arrow Connector 399"/>
          <p:cNvCxnSpPr>
            <a:stCxn id="345" idx="2"/>
            <a:endCxn id="397" idx="0"/>
          </p:cNvCxnSpPr>
          <p:nvPr/>
        </p:nvCxnSpPr>
        <p:spPr>
          <a:xfrm flipH="1">
            <a:off x="8276232" y="4352643"/>
            <a:ext cx="1" cy="463614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/>
          <p:cNvCxnSpPr>
            <a:stCxn id="397" idx="1"/>
            <a:endCxn id="398" idx="3"/>
          </p:cNvCxnSpPr>
          <p:nvPr/>
        </p:nvCxnSpPr>
        <p:spPr>
          <a:xfrm flipH="1">
            <a:off x="6245580" y="4979421"/>
            <a:ext cx="1571057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Arrow Connector 405"/>
          <p:cNvCxnSpPr>
            <a:stCxn id="398" idx="1"/>
            <a:endCxn id="399" idx="3"/>
          </p:cNvCxnSpPr>
          <p:nvPr/>
        </p:nvCxnSpPr>
        <p:spPr>
          <a:xfrm flipH="1">
            <a:off x="4010169" y="4979421"/>
            <a:ext cx="1316221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/>
          <p:cNvCxnSpPr>
            <a:stCxn id="399" idx="1"/>
            <a:endCxn id="373" idx="3"/>
          </p:cNvCxnSpPr>
          <p:nvPr/>
        </p:nvCxnSpPr>
        <p:spPr>
          <a:xfrm flipH="1" flipV="1">
            <a:off x="2370597" y="4974780"/>
            <a:ext cx="720382" cy="4641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1" name="Group 320"/>
          <p:cNvGrpSpPr/>
          <p:nvPr/>
        </p:nvGrpSpPr>
        <p:grpSpPr>
          <a:xfrm>
            <a:off x="213640" y="5630864"/>
            <a:ext cx="8643849" cy="285468"/>
            <a:chOff x="266661" y="5069171"/>
            <a:chExt cx="8643849" cy="285468"/>
          </a:xfrm>
          <a:solidFill>
            <a:srgbClr val="7F7F7F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18" name="Pentagon 317"/>
            <p:cNvSpPr/>
            <p:nvPr/>
          </p:nvSpPr>
          <p:spPr>
            <a:xfrm rot="10800000">
              <a:off x="266661" y="5069171"/>
              <a:ext cx="8643849" cy="285467"/>
            </a:xfrm>
            <a:prstGeom prst="homePlat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dirty="0"/>
            </a:p>
          </p:txBody>
        </p:sp>
        <p:sp>
          <p:nvSpPr>
            <p:cNvPr id="319" name="TextBox 318"/>
            <p:cNvSpPr txBox="1"/>
            <p:nvPr/>
          </p:nvSpPr>
          <p:spPr>
            <a:xfrm>
              <a:off x="4273025" y="5077640"/>
              <a:ext cx="561372" cy="27699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12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HOW</a:t>
              </a:r>
              <a:endParaRPr lang="en-US" sz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769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VISIA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VISIA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agram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94</TotalTime>
  <Words>81</Words>
  <Application>Microsoft Office PowerPoint</Application>
  <PresentationFormat>Letter Paper (8.5x11 in)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MS PGothic</vt:lpstr>
      <vt:lpstr>Arial</vt:lpstr>
      <vt:lpstr>Calibri</vt:lpstr>
      <vt:lpstr>Times</vt:lpstr>
      <vt:lpstr>Wingdings</vt:lpstr>
      <vt:lpstr>Default Theme</vt:lpstr>
      <vt:lpstr>Diagram Master</vt:lpstr>
      <vt:lpstr>PowerPoint Presentation</vt:lpstr>
    </vt:vector>
  </TitlesOfParts>
  <Company>The Value Enablement Group, LLC.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Architecture Aligns POV across an organization and between organizations (verticals &amp; horizontals)</dc:title>
  <dc:creator>jeffrey wallk</dc:creator>
  <cp:lastModifiedBy>Eric Spellman</cp:lastModifiedBy>
  <cp:revision>16</cp:revision>
  <dcterms:created xsi:type="dcterms:W3CDTF">2014-03-14T21:54:49Z</dcterms:created>
  <dcterms:modified xsi:type="dcterms:W3CDTF">2014-03-23T00:56:24Z</dcterms:modified>
</cp:coreProperties>
</file>
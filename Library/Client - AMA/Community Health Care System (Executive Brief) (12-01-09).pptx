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306" r:id="rId4"/>
    <p:sldId id="307" r:id="rId5"/>
    <p:sldId id="308" r:id="rId6"/>
    <p:sldId id="309" r:id="rId7"/>
    <p:sldId id="311" r:id="rId8"/>
    <p:sldId id="312" r:id="rId9"/>
    <p:sldId id="313" r:id="rId10"/>
    <p:sldId id="314" r:id="rId11"/>
    <p:sldId id="277" r:id="rId12"/>
    <p:sldId id="283" r:id="rId13"/>
    <p:sldId id="284" r:id="rId14"/>
    <p:sldId id="315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23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C39E0C-409E-499E-A066-B09A77E59F99}" type="presOf" srcId="{7CA238D8-41AA-42D1-A624-A4BE17E3489D}" destId="{C67EC5E8-DE49-43E0-8D6A-67245C3D29F1}" srcOrd="1" destOrd="0" presId="urn:microsoft.com/office/officeart/2005/8/layout/vProcess5"/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7B1C84E5-41AE-4B1C-A51A-304B209AEB10}" type="presOf" srcId="{DBB4C2F7-4009-4772-A287-018D1DFA27A3}" destId="{78F0F54D-BDA7-46C0-84B2-112BAAC12E67}" srcOrd="1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0A3E0E45-B624-4356-B81C-30839B24F11F}" type="presOf" srcId="{F8612028-6F88-4858-AC54-F76CAE6CE636}" destId="{F374B58B-DD19-4846-902F-F2A0A40B53F0}" srcOrd="0" destOrd="1" presId="urn:microsoft.com/office/officeart/2005/8/layout/vProcess5"/>
    <dgm:cxn modelId="{5E4C8615-363F-4D43-9132-140217DF08BF}" type="presOf" srcId="{1D895A9F-66CD-4D6A-87C1-D6070AA2D1F9}" destId="{55643E70-788A-439F-A22B-D54BB71AE1B4}" srcOrd="1" destOrd="0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88FDCB47-221C-46F5-8D3E-D9D0A3BFCAE8}" type="presOf" srcId="{DBB4C2F7-4009-4772-A287-018D1DFA27A3}" destId="{44FCDAAD-01F0-4B5F-AC01-AA624E3EDD7F}" srcOrd="0" destOrd="0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B3AA4A58-BD30-4369-9C90-ABC3FA9D9B5E}" type="presOf" srcId="{1D895A9F-66CD-4D6A-87C1-D6070AA2D1F9}" destId="{F374B58B-DD19-4846-902F-F2A0A40B53F0}" srcOrd="0" destOrd="0" presId="urn:microsoft.com/office/officeart/2005/8/layout/vProcess5"/>
    <dgm:cxn modelId="{A2E4DC98-179A-4AC2-A25F-7BE11AD663AA}" type="presOf" srcId="{3EBECECA-EEE9-4671-989E-9D199CD8E4F3}" destId="{BC27DFCF-341C-4832-B707-7562421074B8}" srcOrd="0" destOrd="0" presId="urn:microsoft.com/office/officeart/2005/8/layout/vProcess5"/>
    <dgm:cxn modelId="{318C3011-DD1B-4CC5-BBD7-2BCE0BA5F109}" type="presOf" srcId="{BF953B3E-FE0E-4132-8507-9B770972069A}" destId="{1E153542-D7E0-4561-8633-4F9C38EBC364}" srcOrd="0" destOrd="0" presId="urn:microsoft.com/office/officeart/2005/8/layout/vProcess5"/>
    <dgm:cxn modelId="{78FFFAF4-A2B4-404B-B314-43CB47A5DBAD}" type="presOf" srcId="{1323FBD4-0185-4499-9C77-8B125A9EDECB}" destId="{6A0F8408-68AE-4879-BCBB-6F1D070EBBEC}" srcOrd="0" destOrd="0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0B11FB20-F812-4F50-837F-60E9F08A801D}" type="presOf" srcId="{F8612028-6F88-4858-AC54-F76CAE6CE636}" destId="{55643E70-788A-439F-A22B-D54BB71AE1B4}" srcOrd="1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ED0DEEBB-0039-4345-97F3-89EE58325517}" type="presOf" srcId="{B137D134-E00F-4B03-8649-9260A5728E45}" destId="{C67EC5E8-DE49-43E0-8D6A-67245C3D29F1}" srcOrd="1" destOrd="1" presId="urn:microsoft.com/office/officeart/2005/8/layout/vProcess5"/>
    <dgm:cxn modelId="{084965CE-B948-41BD-8C45-13F022DA0807}" type="presOf" srcId="{797F2B97-E140-44EC-B0A7-251A59CA45CE}" destId="{78F0F54D-BDA7-46C0-84B2-112BAAC12E67}" srcOrd="1" destOrd="1" presId="urn:microsoft.com/office/officeart/2005/8/layout/vProcess5"/>
    <dgm:cxn modelId="{1FF41F56-B8CB-46FE-A12A-5CC3C0A44847}" type="presOf" srcId="{797F2B97-E140-44EC-B0A7-251A59CA45CE}" destId="{44FCDAAD-01F0-4B5F-AC01-AA624E3EDD7F}" srcOrd="0" destOrd="1" presId="urn:microsoft.com/office/officeart/2005/8/layout/vProcess5"/>
    <dgm:cxn modelId="{4853799E-7977-4716-8F14-8347D415FD80}" type="presOf" srcId="{B137D134-E00F-4B03-8649-9260A5728E45}" destId="{19112690-9CC1-42CA-92EF-22A5046497D0}" srcOrd="0" destOrd="1" presId="urn:microsoft.com/office/officeart/2005/8/layout/vProcess5"/>
    <dgm:cxn modelId="{A418437F-C91B-4FB7-B005-397E3F7EA769}" type="presOf" srcId="{7CA238D8-41AA-42D1-A624-A4BE17E3489D}" destId="{19112690-9CC1-42CA-92EF-22A5046497D0}" srcOrd="0" destOrd="0" presId="urn:microsoft.com/office/officeart/2005/8/layout/vProcess5"/>
    <dgm:cxn modelId="{CC315817-A8E5-4444-89FE-9AEF83F0065D}" type="presParOf" srcId="{1E153542-D7E0-4561-8633-4F9C38EBC364}" destId="{7C6F8402-BB6D-4E54-A9CD-7AF6DDC9F657}" srcOrd="0" destOrd="0" presId="urn:microsoft.com/office/officeart/2005/8/layout/vProcess5"/>
    <dgm:cxn modelId="{53A276B2-C56D-48AA-A145-3366007F1F3B}" type="presParOf" srcId="{1E153542-D7E0-4561-8633-4F9C38EBC364}" destId="{19112690-9CC1-42CA-92EF-22A5046497D0}" srcOrd="1" destOrd="0" presId="urn:microsoft.com/office/officeart/2005/8/layout/vProcess5"/>
    <dgm:cxn modelId="{5011C9C9-663B-40C7-9ADD-FBCD4E788359}" type="presParOf" srcId="{1E153542-D7E0-4561-8633-4F9C38EBC364}" destId="{44FCDAAD-01F0-4B5F-AC01-AA624E3EDD7F}" srcOrd="2" destOrd="0" presId="urn:microsoft.com/office/officeart/2005/8/layout/vProcess5"/>
    <dgm:cxn modelId="{7E16B21F-FA24-40FA-9182-84BF6FBDAEA5}" type="presParOf" srcId="{1E153542-D7E0-4561-8633-4F9C38EBC364}" destId="{F374B58B-DD19-4846-902F-F2A0A40B53F0}" srcOrd="3" destOrd="0" presId="urn:microsoft.com/office/officeart/2005/8/layout/vProcess5"/>
    <dgm:cxn modelId="{9D66A8BC-2D21-4C8B-B66F-BCAB8DE5D142}" type="presParOf" srcId="{1E153542-D7E0-4561-8633-4F9C38EBC364}" destId="{6A0F8408-68AE-4879-BCBB-6F1D070EBBEC}" srcOrd="4" destOrd="0" presId="urn:microsoft.com/office/officeart/2005/8/layout/vProcess5"/>
    <dgm:cxn modelId="{FFB1AA6D-4C78-4A96-8A90-44529D5724F4}" type="presParOf" srcId="{1E153542-D7E0-4561-8633-4F9C38EBC364}" destId="{BC27DFCF-341C-4832-B707-7562421074B8}" srcOrd="5" destOrd="0" presId="urn:microsoft.com/office/officeart/2005/8/layout/vProcess5"/>
    <dgm:cxn modelId="{461FFDEE-E8B2-47CC-9DF0-D6D7DA0C430E}" type="presParOf" srcId="{1E153542-D7E0-4561-8633-4F9C38EBC364}" destId="{C67EC5E8-DE49-43E0-8D6A-67245C3D29F1}" srcOrd="6" destOrd="0" presId="urn:microsoft.com/office/officeart/2005/8/layout/vProcess5"/>
    <dgm:cxn modelId="{2FA81E3E-B403-4CDD-B545-CBA4AF22F6F5}" type="presParOf" srcId="{1E153542-D7E0-4561-8633-4F9C38EBC364}" destId="{78F0F54D-BDA7-46C0-84B2-112BAAC12E67}" srcOrd="7" destOrd="0" presId="urn:microsoft.com/office/officeart/2005/8/layout/vProcess5"/>
    <dgm:cxn modelId="{B95312C8-790B-4A48-BFAD-1B6C5E275753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716799BA-ECBC-48CC-9874-0324F33AF11A}" type="presOf" srcId="{39749F21-8792-4349-A6A7-BF01EB94F789}" destId="{0B61870B-E2AE-47B9-90BE-64D52B77842D}" srcOrd="0" destOrd="0" presId="urn:microsoft.com/office/officeart/2005/8/layout/funnel1"/>
    <dgm:cxn modelId="{92ECECAC-0546-4913-9A3A-4EF5CB14B533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87C9B43D-B3E5-4592-8FB2-E4D6BD873C9A}" type="presOf" srcId="{CAE624CA-334A-4EB5-BD8E-55849449CB58}" destId="{1700B4C8-12E4-4D00-876C-94377F786E85}" srcOrd="0" destOrd="0" presId="urn:microsoft.com/office/officeart/2005/8/layout/funnel1"/>
    <dgm:cxn modelId="{717C08D3-60C5-4EA7-8397-08C59B4965F9}" type="presOf" srcId="{E20769C5-73DC-4E8A-913F-24C08F2848CC}" destId="{D7B10E75-58CC-4807-BD47-EBDD0F301C5F}" srcOrd="0" destOrd="0" presId="urn:microsoft.com/office/officeart/2005/8/layout/funnel1"/>
    <dgm:cxn modelId="{841CA123-AC0B-4F79-973E-B1E9F9E56E2F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3B53AA57-753E-42D7-AD96-002A2FB8B7DA}" type="presParOf" srcId="{D7B10E75-58CC-4807-BD47-EBDD0F301C5F}" destId="{E1C58007-ADFE-400C-A7E7-0C16929F4834}" srcOrd="0" destOrd="0" presId="urn:microsoft.com/office/officeart/2005/8/layout/funnel1"/>
    <dgm:cxn modelId="{ECC0A3A0-699C-4AF6-A03F-04FB6A483A7B}" type="presParOf" srcId="{D7B10E75-58CC-4807-BD47-EBDD0F301C5F}" destId="{BE474BB7-A5E2-4490-A567-03B382957073}" srcOrd="1" destOrd="0" presId="urn:microsoft.com/office/officeart/2005/8/layout/funnel1"/>
    <dgm:cxn modelId="{F0727630-8D16-46AB-84D9-FC1244121FD6}" type="presParOf" srcId="{D7B10E75-58CC-4807-BD47-EBDD0F301C5F}" destId="{0B61870B-E2AE-47B9-90BE-64D52B77842D}" srcOrd="2" destOrd="0" presId="urn:microsoft.com/office/officeart/2005/8/layout/funnel1"/>
    <dgm:cxn modelId="{CF3B60FA-F2F8-4601-99C6-43C81A5D6956}" type="presParOf" srcId="{D7B10E75-58CC-4807-BD47-EBDD0F301C5F}" destId="{3260B18C-0F12-415C-B2B5-B0D612D38936}" srcOrd="3" destOrd="0" presId="urn:microsoft.com/office/officeart/2005/8/layout/funnel1"/>
    <dgm:cxn modelId="{9A01B11B-2EC6-497C-A399-40556FF35A18}" type="presParOf" srcId="{D7B10E75-58CC-4807-BD47-EBDD0F301C5F}" destId="{F96B2562-BEBF-42CE-9FF0-1BBD38426426}" srcOrd="4" destOrd="0" presId="urn:microsoft.com/office/officeart/2005/8/layout/funnel1"/>
    <dgm:cxn modelId="{E9F20009-C217-45DB-9595-3B9BD6713196}" type="presParOf" srcId="{D7B10E75-58CC-4807-BD47-EBDD0F301C5F}" destId="{1700B4C8-12E4-4D00-876C-94377F786E85}" srcOrd="5" destOrd="0" presId="urn:microsoft.com/office/officeart/2005/8/layout/funnel1"/>
    <dgm:cxn modelId="{07D0DC80-41A4-4E0F-93C4-0080A5BA93F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091C9F-75E0-4B44-B1A9-3160362D5F81}" type="presOf" srcId="{673AE5C1-39E1-47D6-9713-8CA9BE6EA1DA}" destId="{F6218397-5286-4BF9-91BC-3A8217C085AF}" srcOrd="0" destOrd="0" presId="urn:microsoft.com/office/officeart/2005/8/layout/hProcess9"/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5C680419-DD83-4503-BA2D-2E379F2DD5FE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DFDDFED3-8F27-440D-A2A9-9DDF8C8625D7}" type="presOf" srcId="{56F0B946-F863-43B5-9AE7-3ED2571CC1F7}" destId="{D195289F-4E10-4B57-8C58-6BB3CB9CCF4B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2CB541E4-E337-4476-8F7A-3529FE284804}" type="presOf" srcId="{F75D5E40-C0EA-4FAA-9275-3C70938E00EE}" destId="{EDBBB759-F01A-4C3B-A1A8-D2C8F1E5A578}" srcOrd="0" destOrd="0" presId="urn:microsoft.com/office/officeart/2005/8/layout/hProcess9"/>
    <dgm:cxn modelId="{FFC382BE-22EE-426B-8406-B3A18E73C4C8}" type="presParOf" srcId="{F6218397-5286-4BF9-91BC-3A8217C085AF}" destId="{57B6F08F-F180-42E5-86EE-1F47EC70A8B7}" srcOrd="0" destOrd="0" presId="urn:microsoft.com/office/officeart/2005/8/layout/hProcess9"/>
    <dgm:cxn modelId="{CB6B4620-20C4-4C9F-B5C7-0F07D42C0B73}" type="presParOf" srcId="{F6218397-5286-4BF9-91BC-3A8217C085AF}" destId="{ED339E6A-99DE-44B5-8942-676116993976}" srcOrd="1" destOrd="0" presId="urn:microsoft.com/office/officeart/2005/8/layout/hProcess9"/>
    <dgm:cxn modelId="{12733E99-1122-44DB-9ED1-1ABF551F99E9}" type="presParOf" srcId="{ED339E6A-99DE-44B5-8942-676116993976}" destId="{D195289F-4E10-4B57-8C58-6BB3CB9CCF4B}" srcOrd="0" destOrd="0" presId="urn:microsoft.com/office/officeart/2005/8/layout/hProcess9"/>
    <dgm:cxn modelId="{E6B2645D-1192-40DC-8A24-58D35780A063}" type="presParOf" srcId="{ED339E6A-99DE-44B5-8942-676116993976}" destId="{B5A6657B-DFA9-42AD-BD72-82BAEBF8B87E}" srcOrd="1" destOrd="0" presId="urn:microsoft.com/office/officeart/2005/8/layout/hProcess9"/>
    <dgm:cxn modelId="{7D762745-A5B2-4BB7-89DD-969865BA5FF9}" type="presParOf" srcId="{ED339E6A-99DE-44B5-8942-676116993976}" destId="{EDBBB759-F01A-4C3B-A1A8-D2C8F1E5A578}" srcOrd="2" destOrd="0" presId="urn:microsoft.com/office/officeart/2005/8/layout/hProcess9"/>
    <dgm:cxn modelId="{DC4F8DED-0552-4162-ACE3-75248E44C2F5}" type="presParOf" srcId="{ED339E6A-99DE-44B5-8942-676116993976}" destId="{7E687DF4-201B-4FB8-B89C-9863D30313FA}" srcOrd="3" destOrd="0" presId="urn:microsoft.com/office/officeart/2005/8/layout/hProcess9"/>
    <dgm:cxn modelId="{BE7E1053-5C78-4125-B199-8D47436714AE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12/6/2009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12/6/2009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1AF67C-D2CD-4594-AF10-4A5A19833DD6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Value-Driven </a:t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Healthcare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50292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eorgia" pitchFamily="18" charset="0"/>
              </a:rPr>
              <a:t>Where Value is Measured in the eyes of the patient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Georgia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4191000"/>
            <a:ext cx="2286000" cy="206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3276600"/>
            <a:ext cx="341947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</a:t>
            </a:r>
          </a:p>
          <a:p>
            <a:pPr>
              <a:buNone/>
            </a:pPr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	Define a new approach for measuring the value of healthcare (using a patient-driven model) 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provide a unified vision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continuous improvement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efficiency) across the continuum of care</a:t>
            </a:r>
            <a:endParaRPr lang="en-US" sz="2000" dirty="0" smtClean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5257800"/>
            <a:ext cx="63246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447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3942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29464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5748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38800"/>
            <a:ext cx="8001000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“Health care organizations are increasingly concerned with looking beyond financial performance measures, while focusing on how to deliver higher quality care “</a:t>
            </a:r>
          </a:p>
          <a:p>
            <a:r>
              <a:rPr lang="en-US" sz="1400" dirty="0" smtClean="0"/>
              <a:t>      - Love, Dianne, Revere, Lee, and Black, Ken. (2008), </a:t>
            </a:r>
            <a:r>
              <a:rPr lang="en-US" sz="1400" i="1" dirty="0" smtClean="0"/>
              <a:t>Journal of Health Care Finance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functional outcomes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emotional outcomes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 smtClean="0"/>
              <a:t>      - Kathleen Sebelius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smtClean="0">
                <a:ea typeface="ＭＳ Ｐゴシック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smtClean="0">
                <a:ea typeface="ＭＳ Ｐゴシック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sz="2400" smtClean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An Expanded Membership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</a:t>
            </a:r>
            <a:r>
              <a:rPr lang="en-US" sz="1400" dirty="0" smtClean="0"/>
              <a:t> deliver </a:t>
            </a:r>
            <a:r>
              <a:rPr lang="en-US" sz="1400" dirty="0"/>
              <a:t>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4572000"/>
            <a:ext cx="1600200" cy="144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smtClean="0">
                <a:ea typeface="ＭＳ Ｐゴシック" pitchFamily="34" charset="-128"/>
              </a:rPr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driving innovation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directing efforts to improve quality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initiatives to reduce cost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Value is created between the Patient &amp; Practitioner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0C1908-C799-40F3-B9F5-8A581B6D6BB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Healthcare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P.K. Rastogi, </a:t>
            </a:r>
            <a:r>
              <a:rPr lang="en-US" dirty="0" err="1" smtClean="0">
                <a:ea typeface="ＭＳ Ｐゴシック" pitchFamily="34" charset="-128"/>
              </a:rPr>
              <a:t>Phd</a:t>
            </a:r>
            <a:r>
              <a:rPr lang="en-US" dirty="0" smtClean="0">
                <a:ea typeface="ＭＳ Ｐゴシック" pitchFamily="34" charset="-128"/>
              </a:rPr>
              <a:t> (Strategic Partner)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39EC71-A283-4AC2-9E01-2218A6BF410B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30425"/>
            <a:ext cx="6248400" cy="2365375"/>
          </a:xfrm>
        </p:spPr>
        <p:txBody>
          <a:bodyPr/>
          <a:lstStyle/>
          <a:p>
            <a:pPr algn="l"/>
            <a:r>
              <a:rPr lang="en-US" sz="3200" b="1" i="1" dirty="0" smtClean="0">
                <a:solidFill>
                  <a:schemeClr val="tx2">
                    <a:lumMod val="75000"/>
                  </a:schemeClr>
                </a:solidFill>
              </a:rPr>
              <a:t>Management Consulting firm dedicated to helping clients identify &amp; create sustainable value for their customers &amp; stakeholders.</a:t>
            </a:r>
            <a:endParaRPr lang="en-US" sz="32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Services</a:t>
            </a:r>
          </a:p>
        </p:txBody>
      </p:sp>
      <p:sp>
        <p:nvSpPr>
          <p:cNvPr id="4" name="AutoShape 71"/>
          <p:cNvSpPr>
            <a:spLocks noChangeArrowheads="1"/>
          </p:cNvSpPr>
          <p:nvPr/>
        </p:nvSpPr>
        <p:spPr bwMode="auto">
          <a:xfrm>
            <a:off x="381000" y="1296988"/>
            <a:ext cx="19812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0070C0"/>
                </a:solidFill>
                <a:cs typeface="Times New Roman" pitchFamily="18" charset="0"/>
              </a:rPr>
              <a:t>Enabling 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Institutionalize Customer Focus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Portfolio Mgmt for Customer Needs, Ideas, &amp; opportunities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into the ideation pipeline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Aligning Value Platforms with Technology Platforms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5" name="AutoShape 71"/>
          <p:cNvSpPr>
            <a:spLocks noChangeArrowheads="1"/>
          </p:cNvSpPr>
          <p:nvPr/>
        </p:nvSpPr>
        <p:spPr bwMode="auto">
          <a:xfrm>
            <a:off x="4572000" y="1296988"/>
            <a:ext cx="1981200" cy="3735387"/>
          </a:xfrm>
          <a:prstGeom prst="flowChartAlternateProcess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A45200"/>
                </a:solidFill>
                <a:cs typeface="Times New Roman" pitchFamily="18" charset="0"/>
              </a:rPr>
              <a:t>Enabling Operational Excellence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Model-driven outcomes (beyond BPM)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Infuse Quality &amp; continuous learning into all processes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Make technology transparent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&amp; productivity thru an outcome focus</a:t>
            </a:r>
          </a:p>
        </p:txBody>
      </p:sp>
      <p:sp>
        <p:nvSpPr>
          <p:cNvPr id="6" name="AutoShape 71"/>
          <p:cNvSpPr>
            <a:spLocks noChangeArrowheads="1"/>
          </p:cNvSpPr>
          <p:nvPr/>
        </p:nvSpPr>
        <p:spPr bwMode="auto">
          <a:xfrm>
            <a:off x="6629400" y="1296988"/>
            <a:ext cx="21336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cs typeface="Times New Roman" pitchFamily="18" charset="0"/>
              </a:rPr>
              <a:t>Enabling Business Models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Profiling risk to create opportunity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Collaboration as a core competency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disruptive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Fail </a:t>
            </a:r>
            <a:r>
              <a:rPr lang="en-US" sz="1400" dirty="0" smtClean="0">
                <a:cs typeface="Times New Roman" pitchFamily="18" charset="0"/>
              </a:rPr>
              <a:t>Fast Forward </a:t>
            </a:r>
            <a:r>
              <a:rPr lang="en-US" sz="1400" dirty="0">
                <a:cs typeface="Times New Roman" pitchFamily="18" charset="0"/>
              </a:rPr>
              <a:t>to achieve growth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Embracing change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for sustainable value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7" name="AutoShape 71"/>
          <p:cNvSpPr>
            <a:spLocks noChangeArrowheads="1"/>
          </p:cNvSpPr>
          <p:nvPr/>
        </p:nvSpPr>
        <p:spPr bwMode="auto">
          <a:xfrm>
            <a:off x="2438400" y="1295400"/>
            <a:ext cx="2057400" cy="3735388"/>
          </a:xfrm>
          <a:prstGeom prst="flowChartAlternateProcess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4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4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7030A0"/>
                </a:solidFill>
                <a:cs typeface="Times New Roman" pitchFamily="18" charset="0"/>
              </a:rPr>
              <a:t>Enabling Adaptation &amp; Agility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 products &amp; services for agility and adaptability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reuse of assets thru holistic portfolio Mgmt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Quality to enable change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Optimize Platforms  Change Mgmt Platform for sustainable value</a:t>
            </a:r>
          </a:p>
        </p:txBody>
      </p:sp>
      <p:sp>
        <p:nvSpPr>
          <p:cNvPr id="8" name="AutoShape 71"/>
          <p:cNvSpPr>
            <a:spLocks noChangeArrowheads="1"/>
          </p:cNvSpPr>
          <p:nvPr/>
        </p:nvSpPr>
        <p:spPr bwMode="auto">
          <a:xfrm>
            <a:off x="381000" y="5106988"/>
            <a:ext cx="8382000" cy="1295400"/>
          </a:xfrm>
          <a:prstGeom prst="flowChartAlternateProces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2"/>
                </a:solidFill>
                <a:cs typeface="Times New Roman" pitchFamily="18" charset="0"/>
              </a:rPr>
              <a:t>Enabling  Knowledge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data to enhance knowledge capture (explicit &amp; tacit information)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Integrating information and insights to enable knowledge consumption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Designing platforms for sustainable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FH AUGSBURG_V3.PPT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A439A8-4C49-4635-BBC1-7DBC44860E27}" type="slidenum">
              <a:rPr lang="de-DE"/>
              <a:pPr>
                <a:defRPr/>
              </a:pPr>
              <a:t>14</a:t>
            </a:fld>
            <a:endParaRPr lang="de-DE" dirty="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Expertise</a:t>
            </a: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6172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Technical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31115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Operational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76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Strategic</a:t>
            </a:r>
            <a:endParaRPr lang="en-GB" altLang="en-GB" sz="2400" b="1" dirty="0"/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228600" y="1912938"/>
            <a:ext cx="2590800" cy="14065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Driving Change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Strategic Planning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Business Model Innovation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Enterprise Architecture</a:t>
            </a:r>
            <a:endParaRPr lang="en-GB" altLang="en-GB" sz="1400" b="1" dirty="0"/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278188" y="4648200"/>
            <a:ext cx="2590800" cy="9794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  <a:buClr>
                <a:srgbClr val="0099FF"/>
              </a:buClr>
            </a:pPr>
            <a:r>
              <a:rPr lang="en-GB" altLang="en-GB" sz="1600" b="1" dirty="0" smtClean="0"/>
              <a:t>Driving Quality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600" b="1" dirty="0"/>
              <a:t> </a:t>
            </a:r>
            <a:r>
              <a:rPr lang="en-GB" altLang="en-GB" sz="1400" b="1" dirty="0" smtClean="0"/>
              <a:t>Six Sigma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Lean &amp; Kaizen</a:t>
            </a:r>
            <a:endParaRPr lang="en-GB" altLang="en-GB" sz="1400" b="1" dirty="0"/>
          </a:p>
        </p:txBody>
      </p:sp>
      <p:sp>
        <p:nvSpPr>
          <p:cNvPr id="23563" name="Rectangle 9"/>
          <p:cNvSpPr>
            <a:spLocks noChangeArrowheads="1"/>
          </p:cNvSpPr>
          <p:nvPr/>
        </p:nvSpPr>
        <p:spPr bwMode="auto">
          <a:xfrm>
            <a:off x="6324600" y="3481387"/>
            <a:ext cx="2590800" cy="200501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Driving Agility &amp; Scale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Technology Platforms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Alignment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Optimization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Service Level Management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Agile Delivery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Adaptable Design</a:t>
            </a:r>
            <a:endParaRPr lang="en-GB" altLang="en-GB" sz="1400" b="1" dirty="0"/>
          </a:p>
        </p:txBody>
      </p:sp>
      <p:sp>
        <p:nvSpPr>
          <p:cNvPr id="23564" name="Rectangle 10"/>
          <p:cNvSpPr>
            <a:spLocks noChangeArrowheads="1"/>
          </p:cNvSpPr>
          <p:nvPr/>
        </p:nvSpPr>
        <p:spPr bwMode="auto">
          <a:xfrm>
            <a:off x="228600" y="3463925"/>
            <a:ext cx="2590800" cy="2022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92075" indent="-92075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b="1" dirty="0" smtClean="0"/>
              <a:t>Driving </a:t>
            </a:r>
            <a:r>
              <a:rPr lang="en-GB" altLang="en-GB" sz="1600" b="1" dirty="0" smtClean="0"/>
              <a:t>Customer Value</a:t>
            </a:r>
            <a:endParaRPr lang="en-GB" altLang="en-GB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100" b="1" dirty="0"/>
              <a:t> </a:t>
            </a:r>
            <a:r>
              <a:rPr lang="en-GB" altLang="en-GB" sz="1400" b="1" dirty="0" smtClean="0"/>
              <a:t>Customer Focus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Market Assessment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Value Platforms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Investment Planning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Product Roadmaps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  <a:endParaRPr lang="en-GB" altLang="en-GB" sz="1400" b="1" dirty="0"/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3263900" y="1912938"/>
            <a:ext cx="2590800" cy="8731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/>
              <a:t>Driving Innovation</a:t>
            </a:r>
            <a:endParaRPr lang="en-GB" altLang="en-GB" sz="16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Driving Innovation</a:t>
            </a:r>
            <a:endParaRPr lang="en-GB" altLang="en-GB" sz="14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Continuous Improvement</a:t>
            </a:r>
            <a:endParaRPr lang="en-GB" altLang="en-GB" sz="1400" b="1" dirty="0"/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3263900" y="2871788"/>
            <a:ext cx="2590800" cy="17002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Driving Growth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Prioritization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Resource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Product Design - Testing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Execution Management</a:t>
            </a:r>
            <a:endParaRPr lang="en-GB" altLang="en-GB" sz="1400" b="1" dirty="0"/>
          </a:p>
        </p:txBody>
      </p:sp>
      <p:sp>
        <p:nvSpPr>
          <p:cNvPr id="23567" name="Rectangle 13"/>
          <p:cNvSpPr>
            <a:spLocks noChangeArrowheads="1"/>
          </p:cNvSpPr>
          <p:nvPr/>
        </p:nvSpPr>
        <p:spPr bwMode="auto">
          <a:xfrm>
            <a:off x="6324600" y="1912938"/>
            <a:ext cx="2590800" cy="14398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/>
              <a:t>Driving Sustainability</a:t>
            </a:r>
            <a:endParaRPr lang="en-GB" altLang="en-GB" sz="16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Process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Metric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Integration Platforms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Knowledge Management </a:t>
            </a:r>
            <a:endParaRPr lang="en-GB" altLang="en-GB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10475</TotalTime>
  <Words>838</Words>
  <Application>Microsoft Office PowerPoint</Application>
  <PresentationFormat>On-screen Show (4:3)</PresentationFormat>
  <Paragraphs>171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VEG</vt:lpstr>
      <vt:lpstr>Value-Driven  Model for Healthcare </vt:lpstr>
      <vt:lpstr>Proposal</vt:lpstr>
      <vt:lpstr>The Vision</vt:lpstr>
      <vt:lpstr>Needs of the Patients</vt:lpstr>
      <vt:lpstr>Needs of the Practitioners</vt:lpstr>
      <vt:lpstr>Needs of the Providers</vt:lpstr>
      <vt:lpstr>An Expanded Membership Model</vt:lpstr>
      <vt:lpstr>Moving from Assumptions to Implementation</vt:lpstr>
      <vt:lpstr>Measuring Value for Healthcare</vt:lpstr>
      <vt:lpstr>Enabling Value for Healthcare</vt:lpstr>
      <vt:lpstr>Thank You</vt:lpstr>
      <vt:lpstr>Management Consulting firm dedicated to helping clients identify &amp; create sustainable value for their customers &amp; stakeholders.</vt:lpstr>
      <vt:lpstr>Our Services</vt:lpstr>
      <vt:lpstr>Our Expertise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225</cp:revision>
  <dcterms:created xsi:type="dcterms:W3CDTF">2009-06-09T11:36:35Z</dcterms:created>
  <dcterms:modified xsi:type="dcterms:W3CDTF">2009-12-06T21:41:13Z</dcterms:modified>
</cp:coreProperties>
</file>
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5"/>
  </p:notesMasterIdLst>
  <p:handoutMasterIdLst>
    <p:handoutMasterId r:id="rId36"/>
  </p:handoutMasterIdLst>
  <p:sldIdLst>
    <p:sldId id="257" r:id="rId2"/>
    <p:sldId id="258" r:id="rId3"/>
    <p:sldId id="283" r:id="rId4"/>
    <p:sldId id="284" r:id="rId5"/>
    <p:sldId id="286" r:id="rId6"/>
    <p:sldId id="285" r:id="rId7"/>
    <p:sldId id="288" r:id="rId8"/>
    <p:sldId id="289" r:id="rId9"/>
    <p:sldId id="259" r:id="rId10"/>
    <p:sldId id="260" r:id="rId11"/>
    <p:sldId id="263" r:id="rId12"/>
    <p:sldId id="262" r:id="rId13"/>
    <p:sldId id="261" r:id="rId14"/>
    <p:sldId id="264" r:id="rId15"/>
    <p:sldId id="265" r:id="rId16"/>
    <p:sldId id="266" r:id="rId17"/>
    <p:sldId id="267" r:id="rId18"/>
    <p:sldId id="268" r:id="rId19"/>
    <p:sldId id="271" r:id="rId20"/>
    <p:sldId id="280" r:id="rId21"/>
    <p:sldId id="281" r:id="rId22"/>
    <p:sldId id="282" r:id="rId23"/>
    <p:sldId id="276" r:id="rId24"/>
    <p:sldId id="287" r:id="rId25"/>
    <p:sldId id="274" r:id="rId26"/>
    <p:sldId id="277" r:id="rId27"/>
    <p:sldId id="296" r:id="rId28"/>
    <p:sldId id="290" r:id="rId29"/>
    <p:sldId id="295" r:id="rId30"/>
    <p:sldId id="291" r:id="rId31"/>
    <p:sldId id="292" r:id="rId32"/>
    <p:sldId id="293" r:id="rId33"/>
    <p:sldId id="294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8F8183BF-8B88-4B8D-803F-D7F900E37297}" type="presOf" srcId="{DBB4C2F7-4009-4772-A287-018D1DFA27A3}" destId="{44FCDAAD-01F0-4B5F-AC01-AA624E3EDD7F}" srcOrd="0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F97A496A-1E42-4619-B712-FA49E8E0FB32}" type="presOf" srcId="{7CA238D8-41AA-42D1-A624-A4BE17E3489D}" destId="{19112690-9CC1-42CA-92EF-22A5046497D0}" srcOrd="0" destOrd="0" presId="urn:microsoft.com/office/officeart/2005/8/layout/vProcess5"/>
    <dgm:cxn modelId="{97401368-9CC1-4B46-869A-BFACB2071978}" type="presOf" srcId="{F8612028-6F88-4858-AC54-F76CAE6CE636}" destId="{55643E70-788A-439F-A22B-D54BB71AE1B4}" srcOrd="1" destOrd="1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173B5D9E-620E-4448-8430-88D26E18F9DE}" type="presOf" srcId="{DBB4C2F7-4009-4772-A287-018D1DFA27A3}" destId="{78F0F54D-BDA7-46C0-84B2-112BAAC12E67}" srcOrd="1" destOrd="0" presId="urn:microsoft.com/office/officeart/2005/8/layout/vProcess5"/>
    <dgm:cxn modelId="{969F60E9-399F-4721-811C-CFDAFBEEC567}" type="presOf" srcId="{B137D134-E00F-4B03-8649-9260A5728E45}" destId="{C67EC5E8-DE49-43E0-8D6A-67245C3D29F1}" srcOrd="1" destOrd="1" presId="urn:microsoft.com/office/officeart/2005/8/layout/vProcess5"/>
    <dgm:cxn modelId="{5A4F3D74-1B65-4C6D-8C66-829354959ABF}" type="presOf" srcId="{BF953B3E-FE0E-4132-8507-9B770972069A}" destId="{1E153542-D7E0-4561-8633-4F9C38EBC364}" srcOrd="0" destOrd="0" presId="urn:microsoft.com/office/officeart/2005/8/layout/vProcess5"/>
    <dgm:cxn modelId="{87865818-BDDA-4894-AC14-FF20E5EDEB6E}" type="presOf" srcId="{797F2B97-E140-44EC-B0A7-251A59CA45CE}" destId="{78F0F54D-BDA7-46C0-84B2-112BAAC12E67}" srcOrd="1" destOrd="1" presId="urn:microsoft.com/office/officeart/2005/8/layout/vProcess5"/>
    <dgm:cxn modelId="{FF9EE5F1-4E31-42B8-BD1B-988B7FAE156D}" type="presOf" srcId="{797F2B97-E140-44EC-B0A7-251A59CA45CE}" destId="{44FCDAAD-01F0-4B5F-AC01-AA624E3EDD7F}" srcOrd="0" destOrd="1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76AAAAE4-F669-4258-A904-113B696840DB}" type="presOf" srcId="{B137D134-E00F-4B03-8649-9260A5728E45}" destId="{19112690-9CC1-42CA-92EF-22A5046497D0}" srcOrd="0" destOrd="1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7E0227FC-4359-4C07-8214-E68641270586}" type="presOf" srcId="{7CA238D8-41AA-42D1-A624-A4BE17E3489D}" destId="{C67EC5E8-DE49-43E0-8D6A-67245C3D29F1}" srcOrd="1" destOrd="0" presId="urn:microsoft.com/office/officeart/2005/8/layout/vProcess5"/>
    <dgm:cxn modelId="{A100D246-4654-409B-90DE-70011E0C5EE9}" type="presOf" srcId="{1D895A9F-66CD-4D6A-87C1-D6070AA2D1F9}" destId="{55643E70-788A-439F-A22B-D54BB71AE1B4}" srcOrd="1" destOrd="0" presId="urn:microsoft.com/office/officeart/2005/8/layout/vProcess5"/>
    <dgm:cxn modelId="{A3280FA3-4726-4059-BF42-5FD5ABF12655}" type="presOf" srcId="{F8612028-6F88-4858-AC54-F76CAE6CE636}" destId="{F374B58B-DD19-4846-902F-F2A0A40B53F0}" srcOrd="0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731BCE9F-5CF2-4AE3-9513-2812FD4ED712}" type="presOf" srcId="{3EBECECA-EEE9-4671-989E-9D199CD8E4F3}" destId="{BC27DFCF-341C-4832-B707-7562421074B8}" srcOrd="0" destOrd="0" presId="urn:microsoft.com/office/officeart/2005/8/layout/vProcess5"/>
    <dgm:cxn modelId="{F9E84F6A-503A-42F0-B977-BE1EE364CC3C}" type="presOf" srcId="{1D895A9F-66CD-4D6A-87C1-D6070AA2D1F9}" destId="{F374B58B-DD19-4846-902F-F2A0A40B53F0}" srcOrd="0" destOrd="0" presId="urn:microsoft.com/office/officeart/2005/8/layout/vProcess5"/>
    <dgm:cxn modelId="{9E4B3D65-7867-46DE-984D-9D33B5A89C9B}" type="presOf" srcId="{1323FBD4-0185-4499-9C77-8B125A9EDECB}" destId="{6A0F8408-68AE-4879-BCBB-6F1D070EBBEC}" srcOrd="0" destOrd="0" presId="urn:microsoft.com/office/officeart/2005/8/layout/vProcess5"/>
    <dgm:cxn modelId="{E901AA8A-0F65-45DC-A2F6-0EE385B1D20D}" type="presParOf" srcId="{1E153542-D7E0-4561-8633-4F9C38EBC364}" destId="{7C6F8402-BB6D-4E54-A9CD-7AF6DDC9F657}" srcOrd="0" destOrd="0" presId="urn:microsoft.com/office/officeart/2005/8/layout/vProcess5"/>
    <dgm:cxn modelId="{A2A5C3DC-1495-4C03-AC16-55468342A75D}" type="presParOf" srcId="{1E153542-D7E0-4561-8633-4F9C38EBC364}" destId="{19112690-9CC1-42CA-92EF-22A5046497D0}" srcOrd="1" destOrd="0" presId="urn:microsoft.com/office/officeart/2005/8/layout/vProcess5"/>
    <dgm:cxn modelId="{D09C5166-B240-4F92-B01B-C2D2D7418FF4}" type="presParOf" srcId="{1E153542-D7E0-4561-8633-4F9C38EBC364}" destId="{44FCDAAD-01F0-4B5F-AC01-AA624E3EDD7F}" srcOrd="2" destOrd="0" presId="urn:microsoft.com/office/officeart/2005/8/layout/vProcess5"/>
    <dgm:cxn modelId="{C7F0D368-08B9-4640-A9C7-8E621EEA40D2}" type="presParOf" srcId="{1E153542-D7E0-4561-8633-4F9C38EBC364}" destId="{F374B58B-DD19-4846-902F-F2A0A40B53F0}" srcOrd="3" destOrd="0" presId="urn:microsoft.com/office/officeart/2005/8/layout/vProcess5"/>
    <dgm:cxn modelId="{6232EABD-F989-458B-B70E-EE19AB0398E7}" type="presParOf" srcId="{1E153542-D7E0-4561-8633-4F9C38EBC364}" destId="{6A0F8408-68AE-4879-BCBB-6F1D070EBBEC}" srcOrd="4" destOrd="0" presId="urn:microsoft.com/office/officeart/2005/8/layout/vProcess5"/>
    <dgm:cxn modelId="{A69B442C-0BD6-4B56-89D2-1804C4452C69}" type="presParOf" srcId="{1E153542-D7E0-4561-8633-4F9C38EBC364}" destId="{BC27DFCF-341C-4832-B707-7562421074B8}" srcOrd="5" destOrd="0" presId="urn:microsoft.com/office/officeart/2005/8/layout/vProcess5"/>
    <dgm:cxn modelId="{C2D2757A-C3C9-486D-BF3A-24A6CC6F92A2}" type="presParOf" srcId="{1E153542-D7E0-4561-8633-4F9C38EBC364}" destId="{C67EC5E8-DE49-43E0-8D6A-67245C3D29F1}" srcOrd="6" destOrd="0" presId="urn:microsoft.com/office/officeart/2005/8/layout/vProcess5"/>
    <dgm:cxn modelId="{BF34F124-8C5A-4898-9FDD-DE81493AC9E5}" type="presParOf" srcId="{1E153542-D7E0-4561-8633-4F9C38EBC364}" destId="{78F0F54D-BDA7-46C0-84B2-112BAAC12E67}" srcOrd="7" destOrd="0" presId="urn:microsoft.com/office/officeart/2005/8/layout/vProcess5"/>
    <dgm:cxn modelId="{AB4A6EAE-7A5B-4AC5-B19B-FE987777A098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3DE32D3F-1626-4303-B698-83C0BE34096B}" type="presOf" srcId="{E20769C5-73DC-4E8A-913F-24C08F2848CC}" destId="{D7B10E75-58CC-4807-BD47-EBDD0F301C5F}" srcOrd="0" destOrd="0" presId="urn:microsoft.com/office/officeart/2005/8/layout/funnel1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58674CAE-D621-42E1-B737-852527C6B949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19D82CE6-D630-421F-8F02-9CD0A715698A}" type="presOf" srcId="{39749F21-8792-4349-A6A7-BF01EB94F789}" destId="{0B61870B-E2AE-47B9-90BE-64D52B77842D}" srcOrd="0" destOrd="0" presId="urn:microsoft.com/office/officeart/2005/8/layout/funnel1"/>
    <dgm:cxn modelId="{ECC74AD3-8785-4C6E-A4E5-2BD166B59511}" type="presOf" srcId="{42874977-2580-429E-9A3F-5B0A5A2948AF}" destId="{F96B2562-BEBF-42CE-9FF0-1BBD38426426}" srcOrd="0" destOrd="0" presId="urn:microsoft.com/office/officeart/2005/8/layout/funnel1"/>
    <dgm:cxn modelId="{5B2A9A3C-87A9-4DA5-82DA-B10F00C832A5}" type="presOf" srcId="{973D7B39-D5D2-4B89-A3E7-1C0B9FD794DD}" destId="{3260B18C-0F12-415C-B2B5-B0D612D38936}" srcOrd="0" destOrd="0" presId="urn:microsoft.com/office/officeart/2005/8/layout/funnel1"/>
    <dgm:cxn modelId="{8B5B5923-7CBB-4646-9341-5327389C8121}" type="presParOf" srcId="{D7B10E75-58CC-4807-BD47-EBDD0F301C5F}" destId="{E1C58007-ADFE-400C-A7E7-0C16929F4834}" srcOrd="0" destOrd="0" presId="urn:microsoft.com/office/officeart/2005/8/layout/funnel1"/>
    <dgm:cxn modelId="{0D3B1025-3BEC-4317-8935-CA4F3BC2C2E1}" type="presParOf" srcId="{D7B10E75-58CC-4807-BD47-EBDD0F301C5F}" destId="{BE474BB7-A5E2-4490-A567-03B382957073}" srcOrd="1" destOrd="0" presId="urn:microsoft.com/office/officeart/2005/8/layout/funnel1"/>
    <dgm:cxn modelId="{97D5EDD7-E412-4A1F-BD3F-56F9A82C8C80}" type="presParOf" srcId="{D7B10E75-58CC-4807-BD47-EBDD0F301C5F}" destId="{0B61870B-E2AE-47B9-90BE-64D52B77842D}" srcOrd="2" destOrd="0" presId="urn:microsoft.com/office/officeart/2005/8/layout/funnel1"/>
    <dgm:cxn modelId="{3167C9CD-2B26-4E4A-BF58-006E135C311E}" type="presParOf" srcId="{D7B10E75-58CC-4807-BD47-EBDD0F301C5F}" destId="{3260B18C-0F12-415C-B2B5-B0D612D38936}" srcOrd="3" destOrd="0" presId="urn:microsoft.com/office/officeart/2005/8/layout/funnel1"/>
    <dgm:cxn modelId="{CFB1F51F-15E4-4CD4-B974-616F4E118548}" type="presParOf" srcId="{D7B10E75-58CC-4807-BD47-EBDD0F301C5F}" destId="{F96B2562-BEBF-42CE-9FF0-1BBD38426426}" srcOrd="4" destOrd="0" presId="urn:microsoft.com/office/officeart/2005/8/layout/funnel1"/>
    <dgm:cxn modelId="{F71AB4F8-B302-4D4E-AEB8-2D2229E1561F}" type="presParOf" srcId="{D7B10E75-58CC-4807-BD47-EBDD0F301C5F}" destId="{1700B4C8-12E4-4D00-876C-94377F786E85}" srcOrd="5" destOrd="0" presId="urn:microsoft.com/office/officeart/2005/8/layout/funnel1"/>
    <dgm:cxn modelId="{DAD1A2C4-698E-44C1-800C-01769B43B8C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5BB735-D62C-4A9F-9EA6-3D7C29558420}" type="presOf" srcId="{673AE5C1-39E1-47D6-9713-8CA9BE6EA1DA}" destId="{F6218397-5286-4BF9-91BC-3A8217C085AF}" srcOrd="0" destOrd="0" presId="urn:microsoft.com/office/officeart/2005/8/layout/hProcess9"/>
    <dgm:cxn modelId="{03E435AB-0AAF-4281-8868-DDED2AEDC476}" type="presOf" srcId="{5DCEAD6A-2995-470E-B294-EFE25C7FA270}" destId="{0564D69C-C697-46C9-AFEA-F63178C739BD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C4D08A56-6610-46D8-822B-E2656EEB3F47}" type="presOf" srcId="{56F0B946-F863-43B5-9AE7-3ED2571CC1F7}" destId="{D195289F-4E10-4B57-8C58-6BB3CB9CCF4B}" srcOrd="0" destOrd="0" presId="urn:microsoft.com/office/officeart/2005/8/layout/hProcess9"/>
    <dgm:cxn modelId="{84B97C2C-EF37-4E3C-8C22-167013D915EC}" type="presOf" srcId="{F75D5E40-C0EA-4FAA-9275-3C70938E00EE}" destId="{EDBBB759-F01A-4C3B-A1A8-D2C8F1E5A578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143FF3-D2F9-40D7-A686-892FA7BAE482}" type="presParOf" srcId="{F6218397-5286-4BF9-91BC-3A8217C085AF}" destId="{57B6F08F-F180-42E5-86EE-1F47EC70A8B7}" srcOrd="0" destOrd="0" presId="urn:microsoft.com/office/officeart/2005/8/layout/hProcess9"/>
    <dgm:cxn modelId="{33DCACD1-1374-445F-B4E0-ADD7E6590037}" type="presParOf" srcId="{F6218397-5286-4BF9-91BC-3A8217C085AF}" destId="{ED339E6A-99DE-44B5-8942-676116993976}" srcOrd="1" destOrd="0" presId="urn:microsoft.com/office/officeart/2005/8/layout/hProcess9"/>
    <dgm:cxn modelId="{DB23A0A1-B316-4F74-AA80-1D4F8729C208}" type="presParOf" srcId="{ED339E6A-99DE-44B5-8942-676116993976}" destId="{D195289F-4E10-4B57-8C58-6BB3CB9CCF4B}" srcOrd="0" destOrd="0" presId="urn:microsoft.com/office/officeart/2005/8/layout/hProcess9"/>
    <dgm:cxn modelId="{FF11F6E7-8BA4-4984-92CB-21FC6FEDA47B}" type="presParOf" srcId="{ED339E6A-99DE-44B5-8942-676116993976}" destId="{B5A6657B-DFA9-42AD-BD72-82BAEBF8B87E}" srcOrd="1" destOrd="0" presId="urn:microsoft.com/office/officeart/2005/8/layout/hProcess9"/>
    <dgm:cxn modelId="{960AECA3-3429-493F-97DC-E2C8CA120FF2}" type="presParOf" srcId="{ED339E6A-99DE-44B5-8942-676116993976}" destId="{EDBBB759-F01A-4C3B-A1A8-D2C8F1E5A578}" srcOrd="2" destOrd="0" presId="urn:microsoft.com/office/officeart/2005/8/layout/hProcess9"/>
    <dgm:cxn modelId="{E4112049-8ED3-4149-A1B6-A3D3DF078CF9}" type="presParOf" srcId="{ED339E6A-99DE-44B5-8942-676116993976}" destId="{7E687DF4-201B-4FB8-B89C-9863D30313FA}" srcOrd="3" destOrd="0" presId="urn:microsoft.com/office/officeart/2005/8/layout/hProcess9"/>
    <dgm:cxn modelId="{059E70AD-CF31-4471-9245-93B04D08FB2A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(Hospitals, Clinics, Home)</a:t>
          </a:r>
          <a:endParaRPr lang="en-US" sz="11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b="1" dirty="0" smtClean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39A99F79-5D35-4664-8246-8EB1C6931EE0}" type="presOf" srcId="{8073C779-336E-46C9-860C-3C4F4AECF67F}" destId="{4BA2D08E-3F37-4C9B-AF1A-AF070EDB1AF8}" srcOrd="0" destOrd="0" presId="urn:microsoft.com/office/officeart/2005/8/layout/pyramid2"/>
    <dgm:cxn modelId="{8DDB00B6-E781-4931-9A4E-0B44146A389E}" type="presOf" srcId="{AF417CDC-9B3A-41AC-A68E-E0C6538CA504}" destId="{2EEF81A0-E70C-4C7C-B4B0-9EE9E25D31EE}" srcOrd="0" destOrd="0" presId="urn:microsoft.com/office/officeart/2005/8/layout/pyramid2"/>
    <dgm:cxn modelId="{E4351BDA-7D9C-4255-8F57-C43BEDBBFC32}" type="presOf" srcId="{1492EAF2-D809-4557-BCF4-56061EA4F8E2}" destId="{14F6B660-5636-4F93-AFFF-4992B4D5718E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398594D9-A9E1-4F99-A042-30145852A049}" type="presOf" srcId="{191EE3EC-BB60-4377-95CE-6E6D00913C3A}" destId="{2D970AC9-46C8-4548-96E5-DA10D684460C}" srcOrd="0" destOrd="0" presId="urn:microsoft.com/office/officeart/2005/8/layout/pyramid2"/>
    <dgm:cxn modelId="{0D439D35-8B1E-44C9-86B1-DCE475E7E220}" type="presParOf" srcId="{2EEF81A0-E70C-4C7C-B4B0-9EE9E25D31EE}" destId="{C17817A9-C4DE-49BF-8C1D-4124E047DFB9}" srcOrd="0" destOrd="0" presId="urn:microsoft.com/office/officeart/2005/8/layout/pyramid2"/>
    <dgm:cxn modelId="{E1CFC57A-BD91-4327-B8A4-FE77ABCD8C80}" type="presParOf" srcId="{2EEF81A0-E70C-4C7C-B4B0-9EE9E25D31EE}" destId="{97D661A3-DA34-4970-9A0D-34E97679DFC9}" srcOrd="1" destOrd="0" presId="urn:microsoft.com/office/officeart/2005/8/layout/pyramid2"/>
    <dgm:cxn modelId="{C5EE8A20-B7EC-4276-8ADA-00F63056D388}" type="presParOf" srcId="{97D661A3-DA34-4970-9A0D-34E97679DFC9}" destId="{2D970AC9-46C8-4548-96E5-DA10D684460C}" srcOrd="0" destOrd="0" presId="urn:microsoft.com/office/officeart/2005/8/layout/pyramid2"/>
    <dgm:cxn modelId="{9D2D6C07-A8AD-477C-92B7-C1FEB488A174}" type="presParOf" srcId="{97D661A3-DA34-4970-9A0D-34E97679DFC9}" destId="{CA9EF443-F792-497B-BD71-3BD6E3ACADF1}" srcOrd="1" destOrd="0" presId="urn:microsoft.com/office/officeart/2005/8/layout/pyramid2"/>
    <dgm:cxn modelId="{3DFEFCA2-7F5A-452F-99C9-CF35F745D61B}" type="presParOf" srcId="{97D661A3-DA34-4970-9A0D-34E97679DFC9}" destId="{4BA2D08E-3F37-4C9B-AF1A-AF070EDB1AF8}" srcOrd="2" destOrd="0" presId="urn:microsoft.com/office/officeart/2005/8/layout/pyramid2"/>
    <dgm:cxn modelId="{974D3470-7177-4790-A83C-DA9D821AFC11}" type="presParOf" srcId="{97D661A3-DA34-4970-9A0D-34E97679DFC9}" destId="{C68BBD7D-9B64-4267-B8C1-9603A80ED08A}" srcOrd="3" destOrd="0" presId="urn:microsoft.com/office/officeart/2005/8/layout/pyramid2"/>
    <dgm:cxn modelId="{05665C7D-08F6-45F2-9CEC-28045EA08FCF}" type="presParOf" srcId="{97D661A3-DA34-4970-9A0D-34E97679DFC9}" destId="{14F6B660-5636-4F93-AFFF-4992B4D5718E}" srcOrd="4" destOrd="0" presId="urn:microsoft.com/office/officeart/2005/8/layout/pyramid2"/>
    <dgm:cxn modelId="{C76DD01E-29E0-49B4-82BD-C2ED22F8A849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 custT="1"/>
      <dgm:spPr/>
      <dgm:t>
        <a:bodyPr/>
        <a:lstStyle/>
        <a:p>
          <a:r>
            <a:rPr lang="en-US" sz="1200" b="1" dirty="0" smtClean="0"/>
            <a:t>Patient-Driven Value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Open Innovation</a:t>
          </a:r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Unified Model for Value Delivery</a:t>
          </a:r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Delivering Value to patients &amp; practitioners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F61B15F7-BBE9-4A10-97B7-B8E153ECC9AF}" type="presOf" srcId="{6C9C8D6C-34E9-4C0C-BCBD-DFB9CDC55631}" destId="{DEEF388A-0A0E-4C93-AF3E-70FF1B41590B}" srcOrd="0" destOrd="0" presId="urn:microsoft.com/office/officeart/2005/8/layout/cycle2"/>
    <dgm:cxn modelId="{FD4CBC54-4546-4DB0-8C3D-AF15BEDDAA06}" type="presOf" srcId="{55E28E46-380A-467B-AE34-589B0252C611}" destId="{A2460FAC-F0F1-4820-B573-16079F413D80}" srcOrd="1" destOrd="0" presId="urn:microsoft.com/office/officeart/2005/8/layout/cycle2"/>
    <dgm:cxn modelId="{A9D4C647-AD6C-44E5-B64E-AC063B353F16}" type="presOf" srcId="{45C84ECF-EE1B-4B49-8EF8-7CAEF2A5F7D7}" destId="{DBEDE08A-D6E8-4108-896E-C113DB47C979}" srcOrd="1" destOrd="0" presId="urn:microsoft.com/office/officeart/2005/8/layout/cycle2"/>
    <dgm:cxn modelId="{43D6A710-E50B-47C5-B18A-C9DEB03377F1}" type="presOf" srcId="{2D59D820-0CB4-4E1F-92BB-95FFDD082F73}" destId="{225F2983-0321-4A3D-86C7-7E3CCDC569BC}" srcOrd="0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A0C8180A-B1DF-4463-922F-4D491A12D41F}" type="presOf" srcId="{F1CE9FE8-D255-4002-AFE1-7D2B290D77A4}" destId="{0BB1AB6A-657E-4BE7-B826-04310CB87FD6}" srcOrd="0" destOrd="0" presId="urn:microsoft.com/office/officeart/2005/8/layout/cycle2"/>
    <dgm:cxn modelId="{877B3571-115C-4631-A17D-E37B7977A563}" type="presOf" srcId="{73A865D5-5B91-4B22-BA06-C26D9BCB2EE5}" destId="{DBE7C2DC-A3D5-4950-9D16-A38DF0EA4010}" srcOrd="1" destOrd="0" presId="urn:microsoft.com/office/officeart/2005/8/layout/cycle2"/>
    <dgm:cxn modelId="{3081DEA0-B1F0-4C16-A501-3368A6ECA559}" type="presOf" srcId="{6C0CCD30-116E-48B1-9F0C-6D8A7EE2F2A8}" destId="{A7C42B21-429E-4C68-A376-78D2C78D89EA}" srcOrd="0" destOrd="0" presId="urn:microsoft.com/office/officeart/2005/8/layout/cycle2"/>
    <dgm:cxn modelId="{66C64D79-C003-45C6-82EA-B18CA25CDA2F}" type="presOf" srcId="{D9EF2CA6-CB89-4C75-A47A-2A8DFD1700AB}" destId="{C6CB6EE8-F817-48B1-A2A4-7074F5E20ADC}" srcOrd="0" destOrd="0" presId="urn:microsoft.com/office/officeart/2005/8/layout/cycle2"/>
    <dgm:cxn modelId="{6EB96197-CE76-4D76-BE57-FCA894D83908}" type="presOf" srcId="{73A865D5-5B91-4B22-BA06-C26D9BCB2EE5}" destId="{C25E6119-54FA-4530-870F-778E283C0BD5}" srcOrd="0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D0DC4484-EEA6-4535-945D-EB9020CADBE0}" type="presOf" srcId="{55E28E46-380A-467B-AE34-589B0252C611}" destId="{3B18EA10-55B7-4FA2-B1AF-880978BD726E}" srcOrd="0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233BC69C-5DA8-46DE-B662-60E81459AB2C}" type="presOf" srcId="{ACC9FE0A-FD41-47FD-A639-30E1D7390D3C}" destId="{3D2113D7-D3E7-4CB9-BC98-536F54DAF21C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23BCA254-A74D-47B0-BF70-A43B0183CBF4}" type="presOf" srcId="{723CC3D7-5D8F-4BE3-AE6D-CE228595E268}" destId="{C3DD57C0-4A46-47E8-A3EB-683924E5F05E}" srcOrd="0" destOrd="0" presId="urn:microsoft.com/office/officeart/2005/8/layout/cycle2"/>
    <dgm:cxn modelId="{9604AAA5-80E9-43CE-97D1-B68BBDB787E3}" type="presOf" srcId="{45C84ECF-EE1B-4B49-8EF8-7CAEF2A5F7D7}" destId="{A7D0551F-936B-4658-B33F-A836AF1BBB65}" srcOrd="0" destOrd="0" presId="urn:microsoft.com/office/officeart/2005/8/layout/cycle2"/>
    <dgm:cxn modelId="{8036129A-54D7-48CA-AD61-893F9DD577F5}" type="presOf" srcId="{ACC9FE0A-FD41-47FD-A639-30E1D7390D3C}" destId="{F38FA08F-FE08-42BB-8EE8-5C1C65DF85EB}" srcOrd="1" destOrd="0" presId="urn:microsoft.com/office/officeart/2005/8/layout/cycle2"/>
    <dgm:cxn modelId="{FBEEC537-167A-43A1-AE65-BD615DF3C866}" type="presOf" srcId="{D6F595D2-470C-401C-A533-3E80B84244AA}" destId="{E7314FF0-C3D4-4067-9A96-DAE7F230A6B3}" srcOrd="0" destOrd="0" presId="urn:microsoft.com/office/officeart/2005/8/layout/cycle2"/>
    <dgm:cxn modelId="{81FABC51-BB0B-47D9-87A2-172C83A3E2DB}" type="presOf" srcId="{D6F595D2-470C-401C-A533-3E80B84244AA}" destId="{07AFC6E7-B973-46CA-8BED-AD11916A26C6}" srcOrd="1" destOrd="0" presId="urn:microsoft.com/office/officeart/2005/8/layout/cycle2"/>
    <dgm:cxn modelId="{21C5E0C3-BB7D-4979-8B8B-0FA161A694BA}" type="presParOf" srcId="{DEEF388A-0A0E-4C93-AF3E-70FF1B41590B}" destId="{C6CB6EE8-F817-48B1-A2A4-7074F5E20ADC}" srcOrd="0" destOrd="0" presId="urn:microsoft.com/office/officeart/2005/8/layout/cycle2"/>
    <dgm:cxn modelId="{81F9353A-3609-4D62-B570-59A16ECC2B20}" type="presParOf" srcId="{DEEF388A-0A0E-4C93-AF3E-70FF1B41590B}" destId="{E7314FF0-C3D4-4067-9A96-DAE7F230A6B3}" srcOrd="1" destOrd="0" presId="urn:microsoft.com/office/officeart/2005/8/layout/cycle2"/>
    <dgm:cxn modelId="{115224A2-3BA1-4B82-9CDC-6FEDAACA9B9D}" type="presParOf" srcId="{E7314FF0-C3D4-4067-9A96-DAE7F230A6B3}" destId="{07AFC6E7-B973-46CA-8BED-AD11916A26C6}" srcOrd="0" destOrd="0" presId="urn:microsoft.com/office/officeart/2005/8/layout/cycle2"/>
    <dgm:cxn modelId="{9EEDBC0B-4E4C-44BF-855E-E8C6E12F6772}" type="presParOf" srcId="{DEEF388A-0A0E-4C93-AF3E-70FF1B41590B}" destId="{0BB1AB6A-657E-4BE7-B826-04310CB87FD6}" srcOrd="2" destOrd="0" presId="urn:microsoft.com/office/officeart/2005/8/layout/cycle2"/>
    <dgm:cxn modelId="{361D616F-AC6B-41BA-B127-5B47DEF81869}" type="presParOf" srcId="{DEEF388A-0A0E-4C93-AF3E-70FF1B41590B}" destId="{3D2113D7-D3E7-4CB9-BC98-536F54DAF21C}" srcOrd="3" destOrd="0" presId="urn:microsoft.com/office/officeart/2005/8/layout/cycle2"/>
    <dgm:cxn modelId="{60539281-FE2C-4123-9DC6-6D0FF52E2107}" type="presParOf" srcId="{3D2113D7-D3E7-4CB9-BC98-536F54DAF21C}" destId="{F38FA08F-FE08-42BB-8EE8-5C1C65DF85EB}" srcOrd="0" destOrd="0" presId="urn:microsoft.com/office/officeart/2005/8/layout/cycle2"/>
    <dgm:cxn modelId="{4A99C1CC-404D-41C9-A6C0-063B1497CA47}" type="presParOf" srcId="{DEEF388A-0A0E-4C93-AF3E-70FF1B41590B}" destId="{A7C42B21-429E-4C68-A376-78D2C78D89EA}" srcOrd="4" destOrd="0" presId="urn:microsoft.com/office/officeart/2005/8/layout/cycle2"/>
    <dgm:cxn modelId="{280507A8-0746-4856-94C2-F42DDE29D021}" type="presParOf" srcId="{DEEF388A-0A0E-4C93-AF3E-70FF1B41590B}" destId="{3B18EA10-55B7-4FA2-B1AF-880978BD726E}" srcOrd="5" destOrd="0" presId="urn:microsoft.com/office/officeart/2005/8/layout/cycle2"/>
    <dgm:cxn modelId="{AFD285A1-EF27-49B0-8948-97CB5C80D6E2}" type="presParOf" srcId="{3B18EA10-55B7-4FA2-B1AF-880978BD726E}" destId="{A2460FAC-F0F1-4820-B573-16079F413D80}" srcOrd="0" destOrd="0" presId="urn:microsoft.com/office/officeart/2005/8/layout/cycle2"/>
    <dgm:cxn modelId="{D0288578-C07C-4C33-931B-DCDB3AF15687}" type="presParOf" srcId="{DEEF388A-0A0E-4C93-AF3E-70FF1B41590B}" destId="{225F2983-0321-4A3D-86C7-7E3CCDC569BC}" srcOrd="6" destOrd="0" presId="urn:microsoft.com/office/officeart/2005/8/layout/cycle2"/>
    <dgm:cxn modelId="{2CF64B39-5C66-4D72-AA1D-D5ED01B9E915}" type="presParOf" srcId="{DEEF388A-0A0E-4C93-AF3E-70FF1B41590B}" destId="{A7D0551F-936B-4658-B33F-A836AF1BBB65}" srcOrd="7" destOrd="0" presId="urn:microsoft.com/office/officeart/2005/8/layout/cycle2"/>
    <dgm:cxn modelId="{8217857B-17D4-4614-A238-2D0E213C9D55}" type="presParOf" srcId="{A7D0551F-936B-4658-B33F-A836AF1BBB65}" destId="{DBEDE08A-D6E8-4108-896E-C113DB47C979}" srcOrd="0" destOrd="0" presId="urn:microsoft.com/office/officeart/2005/8/layout/cycle2"/>
    <dgm:cxn modelId="{CB1DED35-9029-4554-B1B0-17703D9322C9}" type="presParOf" srcId="{DEEF388A-0A0E-4C93-AF3E-70FF1B41590B}" destId="{C3DD57C0-4A46-47E8-A3EB-683924E5F05E}" srcOrd="8" destOrd="0" presId="urn:microsoft.com/office/officeart/2005/8/layout/cycle2"/>
    <dgm:cxn modelId="{C829E94B-A5BD-4DDD-9286-427DEA5CA6CD}" type="presParOf" srcId="{DEEF388A-0A0E-4C93-AF3E-70FF1B41590B}" destId="{C25E6119-54FA-4530-870F-778E283C0BD5}" srcOrd="9" destOrd="0" presId="urn:microsoft.com/office/officeart/2005/8/layout/cycle2"/>
    <dgm:cxn modelId="{AA5AB509-38D4-40BD-9F34-CB1CEEE3590F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(Hospitals, Clinics, Home)</a:t>
          </a:r>
          <a:endParaRPr lang="en-US" sz="11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b="1" kern="1200" dirty="0" smtClean="0"/>
        </a:p>
      </dsp:txBody>
      <dsp:txXfrm>
        <a:off x="2918459" y="3023438"/>
        <a:ext cx="3103880" cy="1130379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Patient-Driven Value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 dirty="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Centrally Managed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IP</a:t>
          </a:r>
          <a:endParaRPr lang="en-US" sz="12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 dirty="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Open Innovation</a:t>
          </a:r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 dirty="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Unified Model for Value Delivery</a:t>
          </a:r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 dirty="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Delivering Value to patients &amp; practitioners</a:t>
          </a:r>
          <a:endParaRPr lang="en-US" sz="12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b="1" kern="1200" dirty="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11/16/2009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11/16/2009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086183-1692-4BAB-89CE-8EA69FACF634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3D3CBC6-F5AA-4348-B7D9-B3FADBD1B434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6487A0-066A-4A22-8DFD-9A39B981C7E8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2860BF-E294-4513-9F1C-003FAAC914C4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12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13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4A4B3E2-1E34-4EF9-9A7E-A4067E62EFF7}" type="slidenum">
              <a:rPr lang="en-US" smtClean="0">
                <a:latin typeface="Calibri" pitchFamily="34" charset="0"/>
              </a:rPr>
              <a:pPr/>
              <a:t>14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BD134A0-657D-41F1-9E66-AB3AE6B97A02}" type="slidenum">
              <a:rPr lang="en-US" smtClean="0">
                <a:latin typeface="Calibri" pitchFamily="34" charset="0"/>
              </a:rPr>
              <a:pPr/>
              <a:t>15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16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0790383-45CA-4CD5-8729-5E7E160FEA9E}" type="slidenum">
              <a:rPr lang="en-US" smtClean="0">
                <a:latin typeface="Calibri" pitchFamily="34" charset="0"/>
              </a:rPr>
              <a:pPr/>
              <a:t>17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18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ECE5D9-5A0A-4418-92D1-268FF9E0136E}" type="slidenum">
              <a:rPr lang="en-US" smtClean="0">
                <a:latin typeface="Calibri" pitchFamily="34" charset="0"/>
              </a:rPr>
              <a:pPr/>
              <a:t>20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7414B17-DBC5-49B9-BC38-938737C892B6}" type="slidenum">
              <a:rPr lang="en-US" smtClean="0">
                <a:latin typeface="Calibri" pitchFamily="34" charset="0"/>
              </a:rPr>
              <a:pPr/>
              <a:t>21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02842C4-B5FB-45E6-AA90-9B8ABB03A485}" type="slidenum">
              <a:rPr lang="en-US" smtClean="0">
                <a:latin typeface="Calibri" pitchFamily="34" charset="0"/>
              </a:rPr>
              <a:pPr/>
              <a:t>22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F5B4E5-F26D-41E2-B832-7E86140F3804}" type="slidenum">
              <a:rPr lang="en-US" smtClean="0">
                <a:latin typeface="Calibri" pitchFamily="34" charset="0"/>
              </a:rPr>
              <a:pPr/>
              <a:t>24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DD206A6-4065-45FB-8162-EF7FB979AD68}" type="slidenum">
              <a:rPr lang="en-US" smtClean="0">
                <a:latin typeface="Calibri" pitchFamily="34" charset="0"/>
              </a:rPr>
              <a:pPr/>
              <a:t>25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24FB15-D4DD-42F5-8CEF-6AFF62F6DDF1}" type="slidenum">
              <a:rPr lang="en-US" smtClean="0">
                <a:latin typeface="Calibri" pitchFamily="34" charset="0"/>
              </a:rPr>
              <a:pPr/>
              <a:t>26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C2B3F5-6F9B-4CB9-8D11-1CB8B4199FB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88FE6EC-BDDD-41F3-A74E-C9E3CB4E92EB}" type="slidenum">
              <a:rPr lang="en-US" smtClean="0">
                <a:latin typeface="Calibri" pitchFamily="34" charset="0"/>
              </a:rPr>
              <a:pPr/>
              <a:t>28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BD479A0-53BD-49BB-BCB1-ABFFB18456FB}" type="slidenum">
              <a:rPr lang="en-US" smtClean="0">
                <a:latin typeface="Calibri" pitchFamily="34" charset="0"/>
              </a:rPr>
              <a:pPr/>
              <a:t>29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5ECB098-E09F-4B0C-9BC3-DDA016431734}" type="slidenum">
              <a:rPr lang="en-US" smtClean="0">
                <a:latin typeface="Calibri" pitchFamily="34" charset="0"/>
              </a:rPr>
              <a:pPr/>
              <a:t>30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E63A027-8C6A-49F5-BB79-76DF6C100230}" type="slidenum">
              <a:rPr lang="en-US" smtClean="0">
                <a:latin typeface="Calibri" pitchFamily="34" charset="0"/>
              </a:rPr>
              <a:pPr/>
              <a:t>31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9DDF72B-5EA0-495D-8930-8533AE619135}" type="slidenum">
              <a:rPr lang="en-US" smtClean="0">
                <a:latin typeface="Calibri" pitchFamily="34" charset="0"/>
              </a:rPr>
              <a:pPr/>
              <a:t>32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68DDBE-254F-490B-9DC3-C67FEE585140}" type="slidenum">
              <a:rPr lang="en-US" smtClean="0">
                <a:latin typeface="Calibri" pitchFamily="34" charset="0"/>
              </a:rPr>
              <a:pPr/>
              <a:t>33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ea typeface="ＭＳ Ｐゴシック" pitchFamily="34" charset="-128"/>
              </a:rPr>
              <a:t>A New Value Proposition</a:t>
            </a:r>
            <a:br>
              <a:rPr lang="en-US" b="1" smtClean="0">
                <a:ea typeface="ＭＳ Ｐゴシック" pitchFamily="34" charset="-128"/>
              </a:rPr>
            </a:br>
            <a:r>
              <a:rPr lang="en-US" b="1" smtClean="0">
                <a:ea typeface="ＭＳ Ｐゴシック" pitchFamily="34" charset="-128"/>
              </a:rPr>
              <a:t>for the AMA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Outline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ea typeface="ＭＳ Ｐゴシック" pitchFamily="34" charset="-128"/>
              </a:rPr>
              <a:t>Current Challenges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AMA’s Role in Healthcare Reform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Needs of the providers, practitioners, and patients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Measuring value and enabling value throughout healthcare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Engaging providers, practitioners, and patients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Expanding the reach and membership of the AMA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Moving towards a new business model</a:t>
            </a:r>
          </a:p>
          <a:p>
            <a:pPr eaLnBrk="1" hangingPunct="1"/>
            <a:endParaRPr lang="en-US" sz="2400" smtClean="0">
              <a:ea typeface="ＭＳ Ｐゴシック" pitchFamily="34" charset="-128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914400" y="4572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5B0CAF-C440-466F-B397-0B53DD39014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The Goal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Define a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unified vision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providers: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1400" b="1" dirty="0" smtClean="0">
              <a:latin typeface="Calibri" pitchFamily="34" charset="0"/>
              <a:cs typeface="Calibri" pitchFamily="34" charset="0"/>
            </a:endParaRPr>
          </a:p>
          <a:p>
            <a:pPr marL="1371600" lvl="2" indent="-457200">
              <a:buFont typeface="Wingdings" pitchFamily="2" charset="2"/>
              <a:buChar char="q"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unify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distributed “system” of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healthcare with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patient-driven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value.</a:t>
            </a:r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pPr marL="1371600" lvl="2" indent="-457200">
              <a:buFont typeface="Wingdings" pitchFamily="2" charset="2"/>
              <a:buChar char="q"/>
            </a:pPr>
            <a:r>
              <a:rPr lang="en-US" sz="28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8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&amp; </a:t>
            </a:r>
            <a:r>
              <a:rPr lang="en-US" sz="28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collaboration.</a:t>
            </a:r>
          </a:p>
          <a:p>
            <a:pPr marL="1371600" lvl="2" indent="-457200">
              <a:buFont typeface="Wingdings" pitchFamily="2" charset="2"/>
              <a:buChar char="q"/>
            </a:pPr>
            <a:r>
              <a:rPr lang="en-US" sz="28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align c</a:t>
            </a:r>
            <a:r>
              <a:rPr lang="en-US" sz="28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ontinuous </a:t>
            </a:r>
            <a:r>
              <a:rPr lang="en-US" sz="28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improvement </a:t>
            </a:r>
            <a:r>
              <a:rPr lang="en-US" sz="28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(quality and results) across the continuum of care.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651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5974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31496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778000"/>
            <a:ext cx="9906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 LEAN with Value-Driven Measurement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4860" y="4038600"/>
            <a:ext cx="1452739" cy="2209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609600" y="1373188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Specify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customer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Identify the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 stream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eliminate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waste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Make value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Involve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Empower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employees.</a:t>
            </a:r>
          </a:p>
          <a:p>
            <a:pPr marL="533400" lvl="0" indent="-533400" eaLnBrk="0" hangingPunct="0">
              <a:spcBef>
                <a:spcPct val="20000"/>
              </a:spcBef>
              <a:buClr>
                <a:srgbClr val="001C67"/>
              </a:buClr>
              <a:buFont typeface="Arial" charset="0"/>
              <a:buAutoNum type="arabicPeriod" startAt="2"/>
            </a:pPr>
            <a:r>
              <a:rPr lang="en-US" sz="2400" dirty="0" smtClean="0">
                <a:solidFill>
                  <a:srgbClr val="E12800"/>
                </a:solidFill>
                <a:ea typeface="ＭＳ Ｐゴシック" pitchFamily="-110" charset="-128"/>
              </a:rPr>
              <a:t>Continuously</a:t>
            </a:r>
            <a:r>
              <a:rPr lang="en-US" sz="2400" dirty="0" smtClean="0">
                <a:ea typeface="ＭＳ Ｐゴシック" pitchFamily="-110" charset="-128"/>
              </a:rPr>
              <a:t> improve in the </a:t>
            </a:r>
            <a:r>
              <a:rPr lang="en-US" sz="2800" dirty="0" smtClean="0">
                <a:ea typeface="ＭＳ Ｐゴシック" pitchFamily="-110" charset="-128"/>
              </a:rPr>
              <a:t/>
            </a:r>
            <a:br>
              <a:rPr lang="en-US" sz="2800" dirty="0" smtClean="0">
                <a:ea typeface="ＭＳ Ｐゴシック" pitchFamily="-110" charset="-128"/>
              </a:rPr>
            </a:br>
            <a:r>
              <a:rPr lang="en-US" sz="2800" dirty="0" smtClean="0">
                <a:ea typeface="ＭＳ Ｐゴシック" pitchFamily="-110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pursuit of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perfection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371600"/>
            <a:ext cx="1543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AutoShape 4"/>
          <p:cNvSpPr>
            <a:spLocks noChangeArrowheads="1"/>
          </p:cNvSpPr>
          <p:nvPr/>
        </p:nvSpPr>
        <p:spPr bwMode="auto">
          <a:xfrm rot="5400000">
            <a:off x="7604919" y="3444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 rot="5400000">
            <a:off x="2651919" y="2301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from Results-Driven to Value-Driven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228600" y="1371600"/>
            <a:ext cx="3962400" cy="4800600"/>
          </a:xfrm>
          <a:prstGeom prst="rect">
            <a:avLst/>
          </a:prstGeom>
          <a:ln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Batch Thinking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	</a:t>
            </a: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Utilization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Keep expensive assets heavily utilized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Machines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Doctors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Queue Patients up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Convenience for staff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4495800" y="1371600"/>
            <a:ext cx="4267200" cy="480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lang="en-US" sz="2800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Patient Flow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lang="en-US" sz="2800" dirty="0" smtClean="0">
              <a:solidFill>
                <a:schemeClr val="tx1"/>
              </a:solidFill>
              <a:latin typeface="+mn-lt"/>
              <a:ea typeface="ＭＳ Ｐゴシック" pitchFamily="-110" charset="-128"/>
              <a:cs typeface="+mn-cs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u="sng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Desired Outcomes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amount of time that patients are left waiting in corridors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likelihood that staff are rushing procedures (i.e. due to batch loading of orders)</a:t>
            </a:r>
            <a:endParaRPr lang="en-US" sz="2000" dirty="0" smtClean="0">
              <a:solidFill>
                <a:schemeClr val="tx1"/>
              </a:solidFill>
              <a:ea typeface="ＭＳ Ｐゴシック" pitchFamily="-110" charset="-128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lang="en-US" sz="2800" u="sng" dirty="0" smtClean="0">
              <a:latin typeface="+mn-lt"/>
              <a:ea typeface="ＭＳ Ｐゴシック" pitchFamily="-110" charset="-128"/>
              <a:cs typeface="+mn-cs"/>
            </a:endParaRPr>
          </a:p>
          <a:p>
            <a:pPr marL="1257300" lvl="2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kumimoji="0" lang="en-US" sz="20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3733800" y="3581400"/>
            <a:ext cx="1249362" cy="6096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Defects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the wrong label is placed on a patient’s fluid sample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Overproduction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blood is drawn from patients when they are sleeping (i.e. during 4am shifts)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retrieve inventory.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inventory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information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001000" y="2057400"/>
            <a:ext cx="5621338" cy="4235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6350" algn="l" eaLnBrk="1" hangingPunct="1">
              <a:spcBef>
                <a:spcPct val="40000"/>
              </a:spcBef>
            </a:pPr>
            <a:endParaRPr lang="en-US" sz="2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5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Efficiency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fill a centrifuge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supply on hand for inventory (i.e. 50 weeks of supply)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distance a </a:t>
                      </a:r>
                      <a:r>
                        <a:rPr lang="en-US" sz="2000" i="0" dirty="0" err="1" smtClean="0"/>
                        <a:t>pharma</a:t>
                      </a:r>
                      <a:r>
                        <a:rPr lang="en-US" sz="2000" i="0" dirty="0" smtClean="0"/>
                        <a:t> Technician needs to walk to retrieve a printout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expired inventory is retrieved (i.e. Date/Time stamp is not used)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Human Potential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ideas are not considered when submitted by staff (i.e. Med Techs, RN’s ideas for improvement are often ignored)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Eroding member base. 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Aging </a:t>
            </a:r>
            <a:r>
              <a:rPr lang="en-US" sz="2400" dirty="0" smtClean="0">
                <a:ea typeface="ＭＳ Ｐゴシック" pitchFamily="34" charset="-128"/>
              </a:rPr>
              <a:t>membership.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Decline in </a:t>
            </a:r>
            <a:r>
              <a:rPr lang="en-US" sz="2400" dirty="0" smtClean="0">
                <a:ea typeface="ＭＳ Ｐゴシック" pitchFamily="34" charset="-128"/>
              </a:rPr>
              <a:t>revenues from membership.</a:t>
            </a:r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Not perceived as an innovation leader. </a:t>
            </a:r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Value across the continuum of care is not measured from a patient (customer) perspective.</a:t>
            </a:r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is fractionalized </a:t>
            </a:r>
            <a:r>
              <a:rPr lang="en-US" sz="2400" dirty="0" smtClean="0">
                <a:ea typeface="ＭＳ Ｐゴシック" pitchFamily="34" charset="-128"/>
              </a:rPr>
              <a:t>and becoming more distributed.</a:t>
            </a:r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Need for clear leadership to drive reform, innovation, and unification across the healthcare continuum.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3895AA-5A0D-4A2D-B0AA-2BADCF071D5D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AMA’s Role in Healthcare Reform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A relevant voice that should be heard by the government. </a:t>
            </a:r>
          </a:p>
          <a:p>
            <a:r>
              <a:rPr lang="en-US" sz="2400" smtClean="0">
                <a:ea typeface="ＭＳ Ｐゴシック" pitchFamily="34" charset="-128"/>
              </a:rPr>
              <a:t>Provide healthcare stakeholders with the following answers:</a:t>
            </a:r>
          </a:p>
          <a:p>
            <a:pPr lvl="1"/>
            <a:r>
              <a:rPr lang="en-US" sz="2000" smtClean="0">
                <a:ea typeface="ＭＳ Ｐゴシック" pitchFamily="34" charset="-128"/>
              </a:rPr>
              <a:t>Practitioners are worried about quality, timeliness, and effort of care</a:t>
            </a:r>
          </a:p>
          <a:p>
            <a:pPr lvl="1"/>
            <a:r>
              <a:rPr lang="en-US" sz="2000" smtClean="0">
                <a:ea typeface="ＭＳ Ｐゴシック" pitchFamily="34" charset="-128"/>
              </a:rPr>
              <a:t>Patients are worried about quality of care, loss of control, and cost</a:t>
            </a:r>
          </a:p>
          <a:p>
            <a:pPr lvl="1"/>
            <a:r>
              <a:rPr lang="en-US" sz="2000" smtClean="0">
                <a:ea typeface="ＭＳ Ｐゴシック" pitchFamily="34" charset="-128"/>
              </a:rPr>
              <a:t>Providers are worried about loss of control and revenue</a:t>
            </a:r>
          </a:p>
          <a:p>
            <a:r>
              <a:rPr lang="en-US" sz="2400" smtClean="0">
                <a:ea typeface="ＭＳ Ｐゴシック" pitchFamily="34" charset="-128"/>
              </a:rPr>
              <a:t>Opportunity for unifying leadership to provide guidance and direction for change (much of which will be disruptive). </a:t>
            </a:r>
          </a:p>
          <a:p>
            <a:r>
              <a:rPr lang="en-US" sz="2400" smtClean="0">
                <a:ea typeface="ＭＳ Ｐゴシック" pitchFamily="34" charset="-128"/>
              </a:rPr>
              <a:t>Opportunity to encourage collaboration and cooperation to solve the healthcare needs in the US and across the world.</a:t>
            </a:r>
          </a:p>
          <a:p>
            <a:r>
              <a:rPr lang="en-US" sz="2400" smtClean="0">
                <a:ea typeface="ＭＳ Ｐゴシック" pitchFamily="34" charset="-128"/>
              </a:rPr>
              <a:t>Opportunity to create a “system” of healthcare guided by consistent value-driven metrics (outcomes).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4A389A-525C-4005-8C8B-B939A4EADC11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AMA’s Opportunity to enable Value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Innovate current business model to address the needs of the patients, practitioners, and the providers (3Ps).</a:t>
            </a:r>
          </a:p>
          <a:p>
            <a:r>
              <a:rPr lang="en-US" sz="2400" smtClean="0">
                <a:ea typeface="ＭＳ Ｐゴシック" pitchFamily="34" charset="-128"/>
              </a:rPr>
              <a:t>Use a disciplined process to capture and assess the needs of the 3Ps in a quantifiable manner.</a:t>
            </a:r>
          </a:p>
          <a:p>
            <a:r>
              <a:rPr lang="en-US" sz="2400" smtClean="0">
                <a:ea typeface="ＭＳ Ｐゴシック" pitchFamily="34" charset="-128"/>
              </a:rPr>
              <a:t>Provide a centralized repository of unbiased needs of the 3Ps to identify opportunities for measuring &amp; creating value in US healthcare.</a:t>
            </a:r>
          </a:p>
          <a:p>
            <a:r>
              <a:rPr lang="en-US" sz="2400" smtClean="0">
                <a:ea typeface="ＭＳ Ｐゴシック" pitchFamily="34" charset="-128"/>
              </a:rPr>
              <a:t>License the repository information to the 3Ps to build a self-sustaining model for improving value delivery in healthcare</a:t>
            </a:r>
          </a:p>
          <a:p>
            <a:r>
              <a:rPr lang="en-US" sz="2400" smtClean="0">
                <a:ea typeface="ＭＳ Ｐゴシック" pitchFamily="34" charset="-128"/>
              </a:rPr>
              <a:t>Guide (and possibly drive) innovation in healthcare to create new value, while reducing the overall costs for the 3Ps.</a:t>
            </a:r>
          </a:p>
          <a:p>
            <a:endParaRPr lang="en-US" sz="240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7DBE9C-1FB6-454E-9C39-8FDB77653A96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AMA at the forefront of Healthcare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281EFA-00CE-46BE-8631-FFAAC4DB71EC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Federated Portfolio of  Jobs &amp; Outcomes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Value Measurement Platform for Healthcare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Jobs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Maintenance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543" name="TextBox 22"/>
          <p:cNvSpPr txBox="1">
            <a:spLocks noChangeArrowheads="1"/>
          </p:cNvSpPr>
          <p:nvPr/>
        </p:nvSpPr>
        <p:spPr bwMode="auto">
          <a:xfrm>
            <a:off x="3124200" y="32766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b="1"/>
              <a:t>(Patients &amp; Practitioners)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ADAE4B-5343-4831-AFAE-CCB36FADC835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measuring value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capturing customer* needs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For guiding innovation</a:t>
            </a:r>
          </a:p>
          <a:p>
            <a:pPr lvl="1"/>
            <a:endParaRPr lang="en-US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mtClean="0">
                <a:ea typeface="ＭＳ Ｐゴシック" pitchFamily="34" charset="-128"/>
              </a:rPr>
              <a:t>* The focus is on Patients and Practitioners in the Healthcare Value Network</a:t>
            </a:r>
          </a:p>
          <a:p>
            <a:pPr lvl="1"/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Value 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Compliance</a:t>
            </a:r>
          </a:p>
          <a:p>
            <a:pPr algn="ctr">
              <a:defRPr/>
            </a:pPr>
            <a:r>
              <a:rPr lang="en-US" b="1" dirty="0"/>
              <a:t>Rules</a:t>
            </a:r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Expanding the AMA membership model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pPr lvl="1">
              <a:buFont typeface="Arial" charset="0"/>
              <a:buNone/>
            </a:pPr>
            <a:endParaRPr lang="en-US" smtClean="0">
              <a:ea typeface="ＭＳ Ｐゴシック" pitchFamily="34" charset="-128"/>
            </a:endParaRPr>
          </a:p>
          <a:p>
            <a:r>
              <a:rPr lang="en-US" smtClean="0">
                <a:ea typeface="ＭＳ Ｐゴシック" pitchFamily="34" charset="-128"/>
              </a:rPr>
              <a:t>The AMA intellectual property (IP) repository will provide the AMA with a unique value proposition to secure existing members and draw additional participants from across the healthcare value network (including patients) to expand the AMA’s membership and revenue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45B332-D875-471A-A868-B25EBA0D27AC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Expanding the AMA membership model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Access to the information in the AMA intellectual property (IP) repository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Draw patients so they can review value-driven measures about providers, practitioners, products and services to make informed choices about their healthcare needs.</a:t>
            </a:r>
          </a:p>
          <a:p>
            <a:pPr lvl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34C8D4-A2D8-4B7D-8716-873C5CF796EA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Expanding the AMA membership model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Access to the information in the AMA intellectual property (IP) repository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Draw membership from private and public sectors who are interested in leveraging information 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09ACD2-57CB-4C2C-AD7C-98A9FCA486DE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An Expanded Membership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3124200" y="5334000"/>
            <a:ext cx="19812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000" b="1"/>
              <a:t>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deliver value to Patients &amp; Practitioners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Reducing Costs &amp; Driving Value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382000" cy="48307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Today…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We rely on a variety of measures to deliver value across an increasingly distributed network of healthcare participants (providers, practitioners)</a:t>
            </a:r>
          </a:p>
          <a:p>
            <a:r>
              <a:rPr lang="en-US" dirty="0" smtClean="0">
                <a:ea typeface="ＭＳ Ｐゴシック" pitchFamily="34" charset="-128"/>
              </a:rPr>
              <a:t>Tomorrow…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We will use patient-driven measures of value to:</a:t>
            </a:r>
          </a:p>
          <a:p>
            <a:pPr lvl="2"/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ea typeface="ＭＳ Ｐゴシック" pitchFamily="34" charset="-128"/>
              </a:rPr>
              <a:t>Unify the delivery of value to the patient across the continuum of healthcare </a:t>
            </a:r>
          </a:p>
          <a:p>
            <a:pPr lvl="2"/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ea typeface="ＭＳ Ｐゴシック" pitchFamily="34" charset="-128"/>
              </a:rPr>
              <a:t>Ensure continuous improvement efforts focused on quality and results (efficiency and costs) align with value-driven metrics</a:t>
            </a:r>
          </a:p>
          <a:p>
            <a:pPr lvl="2"/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ea typeface="ＭＳ Ｐゴシック" pitchFamily="34" charset="-128"/>
              </a:rPr>
              <a:t>Guide providers to build the right products &amp; services for patients and practitioners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7E1118-0852-4AC8-91A9-217F90E4AFFC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Positioning the AMA to Lead Healthcare Reform</a:t>
            </a:r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000" b="1" dirty="0" smtClean="0"/>
                <a:t>Value Measurement Repository</a:t>
              </a:r>
              <a:endParaRPr lang="en-US" sz="2000" b="1" dirty="0"/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Groups</a:t>
              </a:r>
            </a:p>
          </p:txBody>
        </p:sp>
      </p:grpSp>
      <p:grpSp>
        <p:nvGrpSpPr>
          <p:cNvPr id="5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8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1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4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Driving Innovation</a:t>
            </a:r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Enabling Value</a:t>
            </a:r>
          </a:p>
        </p:txBody>
      </p:sp>
      <p:sp>
        <p:nvSpPr>
          <p:cNvPr id="36876" name="TextBox 31"/>
          <p:cNvSpPr txBox="1">
            <a:spLocks noChangeArrowheads="1"/>
          </p:cNvSpPr>
          <p:nvPr/>
        </p:nvSpPr>
        <p:spPr bwMode="auto">
          <a:xfrm>
            <a:off x="2133600" y="35814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>
              <a:buFont typeface="Arial" charset="0"/>
              <a:buChar char="•"/>
            </a:pPr>
            <a:r>
              <a:rPr lang="en-US" b="1" i="1"/>
              <a:t>Advocacy Body for: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enablement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capture &amp; measurement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Collaboration  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Unification &amp; cooperation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CC7B3-9E59-44FA-A58F-7CCD5509C5CE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4114800"/>
            <a:ext cx="137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Helene Sigman (Strategic Partner)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990685-1496-41A7-8D7C-6CE4810F3A23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2209800"/>
            <a:ext cx="7772400" cy="1470025"/>
          </a:xfrm>
        </p:spPr>
        <p:txBody>
          <a:bodyPr/>
          <a:lstStyle/>
          <a:p>
            <a:r>
              <a:rPr lang="en-US" b="1" dirty="0" smtClean="0"/>
              <a:t>A New Business </a:t>
            </a:r>
            <a:r>
              <a:rPr lang="en-US" b="1" dirty="0" smtClean="0"/>
              <a:t>Model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7766A0-4E7E-4346-9845-753A3E560A48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17520" y="3429000"/>
            <a:ext cx="384048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>
                <a:ea typeface="ＭＳ Ｐゴシック" pitchFamily="34" charset="-128"/>
              </a:rPr>
              <a:t>Build an innovation portfolio to drive value by: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outcomes that can be used by the 3 Ps to measure value.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opportunities (IP)*.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Leveraging open innovation to create a portfolio of ideas to address unmet needs.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Aligning sustainable value delivery within a system of healthcare.</a:t>
            </a:r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2340AF-5E54-46A3-8218-DD162714B538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New Business Model for Creating Value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6200" y="3429000"/>
            <a:ext cx="1371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5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new value creation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Repositioned for leading healthcare change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Relevant to all Providers, Practitioners, and Patients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0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4B4332-5B7B-498B-8DF8-CC4C69EB8CCC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Identifying priorities for healthcare upfront can: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risks for investments in new products and services.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Focus 3</a:t>
            </a:r>
            <a:r>
              <a:rPr lang="en-US" baseline="30000" smtClean="0">
                <a:ea typeface="ＭＳ Ｐゴシック" pitchFamily="34" charset="-128"/>
              </a:rPr>
              <a:t>rd</a:t>
            </a:r>
            <a:r>
              <a:rPr lang="en-US" smtClean="0">
                <a:ea typeface="ＭＳ Ｐゴシック" pitchFamily="34" charset="-128"/>
              </a:rPr>
              <a:t> party resources more efficiently.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costs associated with investment planning.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5E20D0-13BC-414A-8E09-EB2AEE62B14D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managed IP model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Encourage open innovation to leverage mindshare across all disciplines to solve the healthcare needs.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Promote collaboration instead of competition for new products &amp; services to: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Bring new efficiencies to research and development.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Reduce the costs and cycle time.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Level the intellectual capital (IC) playing field for all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A2F41DF-7734-420C-B649-5D8FE6BAA008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Provide practitioners with a consistent set of metrics for measuring value with precision: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Covering the realm of healthcare locations (hospitals, clinics, alternate site, and home)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Covering the breadth of healthcare practitioners (physicians, nurses, pharmacists, specialists, etc.)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Covering the flow of patients and the care they receive across the continuum of healthcare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Provide the AMA 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D6475E-5F34-4BA6-B2EE-F3045064CF11}" type="slidenum">
              <a:rPr lang="en-US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Provide consistent outcomes and quality of care from prevention to support (continuum of care) for all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EC75BF-74AF-43E8-846C-DEE348993A72}" type="slidenum">
              <a:rPr lang="en-US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6680</TotalTime>
  <Words>2022</Words>
  <Application>Microsoft Office PowerPoint</Application>
  <PresentationFormat>On-screen Show (4:3)</PresentationFormat>
  <Paragraphs>325</Paragraphs>
  <Slides>33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VEG</vt:lpstr>
      <vt:lpstr>A New Value Proposition for the AMA</vt:lpstr>
      <vt:lpstr>Outline</vt:lpstr>
      <vt:lpstr>The Goal</vt:lpstr>
      <vt:lpstr>The Vision</vt:lpstr>
      <vt:lpstr>Drive LEAN with Value-Driven Measurement</vt:lpstr>
      <vt:lpstr>Moving from Results-Driven to Value-Driven</vt:lpstr>
      <vt:lpstr>Examples of Desired Outcomes</vt:lpstr>
      <vt:lpstr>Examples of Desired Outcomes</vt:lpstr>
      <vt:lpstr>Current Challenges</vt:lpstr>
      <vt:lpstr>AMA’s Role in Healthcare Reform</vt:lpstr>
      <vt:lpstr>Needs of the Patients</vt:lpstr>
      <vt:lpstr>Needs of the Practitioners</vt:lpstr>
      <vt:lpstr>Needs of the Providers</vt:lpstr>
      <vt:lpstr>AMA’s Opportunity to enable Value</vt:lpstr>
      <vt:lpstr>AMA at the forefront of Healthcare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Expanding the AMA membership model</vt:lpstr>
      <vt:lpstr>Expanding the AMA membership model</vt:lpstr>
      <vt:lpstr>Expanding the AMA membership model</vt:lpstr>
      <vt:lpstr>An Expanded Membership Model</vt:lpstr>
      <vt:lpstr>Reducing Costs &amp; Driving Value</vt:lpstr>
      <vt:lpstr>Positioning the AMA to Lead Healthcare Reform</vt:lpstr>
      <vt:lpstr>Thank You</vt:lpstr>
      <vt:lpstr>A New Business Model</vt:lpstr>
      <vt:lpstr>Enabling Value for Healthcare</vt:lpstr>
      <vt:lpstr>A New Business Model for Creating Value</vt:lpstr>
      <vt:lpstr>Engaging Providers &amp; Innovators</vt:lpstr>
      <vt:lpstr>Engaging Providers &amp; Innovators</vt:lpstr>
      <vt:lpstr>Engaging Practitioners &amp; Patients</vt:lpstr>
      <vt:lpstr>Engaging Practitioners &amp; Patients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115</cp:revision>
  <dcterms:created xsi:type="dcterms:W3CDTF">2009-06-09T11:36:35Z</dcterms:created>
  <dcterms:modified xsi:type="dcterms:W3CDTF">2009-11-16T22:57:11Z</dcterms:modified>
</cp:coreProperties>
</file>
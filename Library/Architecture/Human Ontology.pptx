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67.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Override PartName="/ppt/notesSlides/notesSlide68.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notesSlides/notesSlide37.xml" ContentType="application/vnd.openxmlformats-officedocument.presentationml.notesSlide+xml"/>
  <Override PartName="/ppt/notesSlides/notesSlide55.xml" ContentType="application/vnd.openxmlformats-officedocument.presentationml.notes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74"/>
  </p:notesMasterIdLst>
  <p:handoutMasterIdLst>
    <p:handoutMasterId r:id="rId75"/>
  </p:handoutMasterIdLst>
  <p:sldIdLst>
    <p:sldId id="266" r:id="rId2"/>
    <p:sldId id="324" r:id="rId3"/>
    <p:sldId id="323" r:id="rId4"/>
    <p:sldId id="257" r:id="rId5"/>
    <p:sldId id="256" r:id="rId6"/>
    <p:sldId id="258" r:id="rId7"/>
    <p:sldId id="259" r:id="rId8"/>
    <p:sldId id="270" r:id="rId9"/>
    <p:sldId id="260" r:id="rId10"/>
    <p:sldId id="261" r:id="rId11"/>
    <p:sldId id="321" r:id="rId12"/>
    <p:sldId id="264" r:id="rId13"/>
    <p:sldId id="262" r:id="rId14"/>
    <p:sldId id="269" r:id="rId15"/>
    <p:sldId id="263" r:id="rId16"/>
    <p:sldId id="265" r:id="rId17"/>
    <p:sldId id="267" r:id="rId18"/>
    <p:sldId id="272" r:id="rId19"/>
    <p:sldId id="268" r:id="rId20"/>
    <p:sldId id="271" r:id="rId21"/>
    <p:sldId id="273" r:id="rId22"/>
    <p:sldId id="274" r:id="rId23"/>
    <p:sldId id="275" r:id="rId24"/>
    <p:sldId id="276" r:id="rId25"/>
    <p:sldId id="277" r:id="rId26"/>
    <p:sldId id="278" r:id="rId27"/>
    <p:sldId id="279" r:id="rId28"/>
    <p:sldId id="280" r:id="rId29"/>
    <p:sldId id="281" r:id="rId30"/>
    <p:sldId id="284" r:id="rId31"/>
    <p:sldId id="285" r:id="rId32"/>
    <p:sldId id="286" r:id="rId33"/>
    <p:sldId id="288" r:id="rId34"/>
    <p:sldId id="287" r:id="rId35"/>
    <p:sldId id="283" r:id="rId36"/>
    <p:sldId id="282" r:id="rId37"/>
    <p:sldId id="289" r:id="rId38"/>
    <p:sldId id="292" r:id="rId39"/>
    <p:sldId id="290" r:id="rId40"/>
    <p:sldId id="291" r:id="rId41"/>
    <p:sldId id="293" r:id="rId42"/>
    <p:sldId id="294" r:id="rId43"/>
    <p:sldId id="295" r:id="rId44"/>
    <p:sldId id="296" r:id="rId45"/>
    <p:sldId id="297" r:id="rId46"/>
    <p:sldId id="306" r:id="rId47"/>
    <p:sldId id="307" r:id="rId48"/>
    <p:sldId id="308" r:id="rId49"/>
    <p:sldId id="314" r:id="rId50"/>
    <p:sldId id="325" r:id="rId51"/>
    <p:sldId id="302" r:id="rId52"/>
    <p:sldId id="300" r:id="rId53"/>
    <p:sldId id="298" r:id="rId54"/>
    <p:sldId id="299" r:id="rId55"/>
    <p:sldId id="303" r:id="rId56"/>
    <p:sldId id="305" r:id="rId57"/>
    <p:sldId id="304" r:id="rId58"/>
    <p:sldId id="312" r:id="rId59"/>
    <p:sldId id="320" r:id="rId60"/>
    <p:sldId id="315" r:id="rId61"/>
    <p:sldId id="319" r:id="rId62"/>
    <p:sldId id="316" r:id="rId63"/>
    <p:sldId id="313" r:id="rId64"/>
    <p:sldId id="318" r:id="rId65"/>
    <p:sldId id="309" r:id="rId66"/>
    <p:sldId id="317" r:id="rId67"/>
    <p:sldId id="326" r:id="rId68"/>
    <p:sldId id="327" r:id="rId69"/>
    <p:sldId id="322" r:id="rId70"/>
    <p:sldId id="310" r:id="rId71"/>
    <p:sldId id="311" r:id="rId72"/>
    <p:sldId id="328" r:id="rId73"/>
  </p:sldIdLst>
  <p:sldSz cx="9144000" cy="6858000" type="screen4x3"/>
  <p:notesSz cx="6858000" cy="9774238"/>
  <p:defaultTextStyle>
    <a:defPPr>
      <a:defRPr lang="en-GB"/>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6600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5" d="100"/>
          <a:sy n="75" d="100"/>
        </p:scale>
        <p:origin x="-123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407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88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GB"/>
          </a:p>
        </p:txBody>
      </p:sp>
      <p:sp>
        <p:nvSpPr>
          <p:cNvPr id="44035" name="Rectangle 3"/>
          <p:cNvSpPr>
            <a:spLocks noGrp="1" noChangeArrowheads="1"/>
          </p:cNvSpPr>
          <p:nvPr>
            <p:ph type="dt" sz="quarter" idx="1"/>
          </p:nvPr>
        </p:nvSpPr>
        <p:spPr bwMode="auto">
          <a:xfrm>
            <a:off x="3886200" y="0"/>
            <a:ext cx="2971800" cy="488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44036" name="Rectangle 4"/>
          <p:cNvSpPr>
            <a:spLocks noGrp="1" noChangeArrowheads="1"/>
          </p:cNvSpPr>
          <p:nvPr>
            <p:ph type="ftr" sz="quarter" idx="2"/>
          </p:nvPr>
        </p:nvSpPr>
        <p:spPr bwMode="auto">
          <a:xfrm>
            <a:off x="0" y="9285288"/>
            <a:ext cx="2971800" cy="4889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GB"/>
          </a:p>
        </p:txBody>
      </p:sp>
      <p:sp>
        <p:nvSpPr>
          <p:cNvPr id="44037" name="Rectangle 5"/>
          <p:cNvSpPr>
            <a:spLocks noGrp="1" noChangeArrowheads="1"/>
          </p:cNvSpPr>
          <p:nvPr>
            <p:ph type="sldNum" sz="quarter" idx="3"/>
          </p:nvPr>
        </p:nvSpPr>
        <p:spPr bwMode="auto">
          <a:xfrm>
            <a:off x="3886200" y="9285288"/>
            <a:ext cx="2971800" cy="4889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AD7A29D9-10D4-44A3-A6FD-FAE66D218500}" type="slidenum">
              <a:rPr lang="en-GB"/>
              <a:pPr/>
              <a:t>‹#›</a:t>
            </a:fld>
            <a:endParaRPr lang="en-GB"/>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5838" y="733425"/>
            <a:ext cx="4886325" cy="3665538"/>
          </a:xfrm>
          <a:prstGeom prst="rect">
            <a:avLst/>
          </a:prstGeom>
          <a:noFill/>
          <a:ln w="12700">
            <a:solidFill>
              <a:prstClr val="black"/>
            </a:solidFill>
          </a:ln>
        </p:spPr>
      </p:sp>
      <p:sp>
        <p:nvSpPr>
          <p:cNvPr id="3" name="Notes Placeholder 2"/>
          <p:cNvSpPr>
            <a:spLocks noGrp="1"/>
          </p:cNvSpPr>
          <p:nvPr>
            <p:ph type="body" idx="1"/>
          </p:nvPr>
        </p:nvSpPr>
        <p:spPr>
          <a:xfrm>
            <a:off x="685800" y="4643438"/>
            <a:ext cx="5486400" cy="4397375"/>
          </a:xfrm>
          <a:prstGeom prst="rect">
            <a:avLst/>
          </a:prstGeom>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p:cNvSpPr>
            <a:spLocks noChangeArrowheads="1"/>
          </p:cNvSpPr>
          <p:nvPr/>
        </p:nvSpPr>
        <p:spPr bwMode="auto">
          <a:xfrm>
            <a:off x="0" y="0"/>
            <a:ext cx="4572000" cy="6858000"/>
          </a:xfrm>
          <a:prstGeom prst="rect">
            <a:avLst/>
          </a:prstGeom>
          <a:solidFill>
            <a:schemeClr val="accent1"/>
          </a:solidFill>
          <a:ln w="9525">
            <a:noFill/>
            <a:miter lim="800000"/>
            <a:headEnd/>
            <a:tailEnd/>
          </a:ln>
          <a:effectLst/>
        </p:spPr>
        <p:txBody>
          <a:bodyPr wrap="none" anchor="ctr"/>
          <a:lstStyle/>
          <a:p>
            <a:pPr algn="ctr"/>
            <a:endParaRPr kumimoji="1" lang="en-AU"/>
          </a:p>
        </p:txBody>
      </p:sp>
      <p:sp>
        <p:nvSpPr>
          <p:cNvPr id="5123" name="AutoShape 3"/>
          <p:cNvSpPr>
            <a:spLocks noChangeArrowheads="1"/>
          </p:cNvSpPr>
          <p:nvPr/>
        </p:nvSpPr>
        <p:spPr bwMode="auto">
          <a:xfrm>
            <a:off x="685800" y="990600"/>
            <a:ext cx="5181600" cy="1905000"/>
          </a:xfrm>
          <a:prstGeom prst="roundRect">
            <a:avLst>
              <a:gd name="adj" fmla="val 50000"/>
            </a:avLst>
          </a:prstGeom>
          <a:solidFill>
            <a:schemeClr val="bg1"/>
          </a:solidFill>
          <a:ln w="9525">
            <a:noFill/>
            <a:round/>
            <a:headEnd/>
            <a:tailEnd/>
          </a:ln>
          <a:effectLst/>
        </p:spPr>
        <p:txBody>
          <a:bodyPr wrap="none" anchor="ctr"/>
          <a:lstStyle/>
          <a:p>
            <a:pPr algn="ctr"/>
            <a:endParaRPr kumimoji="1" lang="en-AU"/>
          </a:p>
        </p:txBody>
      </p:sp>
      <p:sp>
        <p:nvSpPr>
          <p:cNvPr id="5124" name="Rectangle 4"/>
          <p:cNvSpPr>
            <a:spLocks noGrp="1" noChangeArrowheads="1"/>
          </p:cNvSpPr>
          <p:nvPr>
            <p:ph type="subTitle" idx="1"/>
          </p:nvPr>
        </p:nvSpPr>
        <p:spPr>
          <a:xfrm>
            <a:off x="4673600" y="2927350"/>
            <a:ext cx="3657600" cy="1822450"/>
          </a:xfrm>
        </p:spPr>
        <p:txBody>
          <a:bodyPr anchor="b"/>
          <a:lstStyle>
            <a:lvl1pPr marL="0" indent="0">
              <a:buFont typeface="Wingdings" pitchFamily="2" charset="2"/>
              <a:buNone/>
              <a:defRPr>
                <a:solidFill>
                  <a:schemeClr val="tx2"/>
                </a:solidFill>
              </a:defRPr>
            </a:lvl1pPr>
          </a:lstStyle>
          <a:p>
            <a:r>
              <a:rPr lang="en-GB"/>
              <a:t>Click to edit Master subtitle style</a:t>
            </a:r>
          </a:p>
        </p:txBody>
      </p:sp>
      <p:grpSp>
        <p:nvGrpSpPr>
          <p:cNvPr id="5125" name="Group 5"/>
          <p:cNvGrpSpPr>
            <a:grpSpLocks/>
          </p:cNvGrpSpPr>
          <p:nvPr/>
        </p:nvGrpSpPr>
        <p:grpSpPr bwMode="auto">
          <a:xfrm>
            <a:off x="3632200" y="4889500"/>
            <a:ext cx="4876800" cy="319088"/>
            <a:chOff x="2288" y="3080"/>
            <a:chExt cx="3072" cy="201"/>
          </a:xfrm>
        </p:grpSpPr>
        <p:sp>
          <p:nvSpPr>
            <p:cNvPr id="5126" name="AutoShape 6"/>
            <p:cNvSpPr>
              <a:spLocks noChangeArrowheads="1"/>
            </p:cNvSpPr>
            <p:nvPr/>
          </p:nvSpPr>
          <p:spPr bwMode="auto">
            <a:xfrm flipH="1">
              <a:off x="2288" y="3080"/>
              <a:ext cx="2914" cy="200"/>
            </a:xfrm>
            <a:prstGeom prst="roundRect">
              <a:avLst>
                <a:gd name="adj" fmla="val 0"/>
              </a:avLst>
            </a:prstGeom>
            <a:solidFill>
              <a:schemeClr val="bg2"/>
            </a:solidFill>
            <a:ln w="9525">
              <a:noFill/>
              <a:round/>
              <a:headEnd/>
              <a:tailEnd/>
            </a:ln>
            <a:effectLst/>
          </p:spPr>
          <p:txBody>
            <a:bodyPr wrap="none" anchor="ctr"/>
            <a:lstStyle/>
            <a:p>
              <a:endParaRPr lang="en-US"/>
            </a:p>
          </p:txBody>
        </p:sp>
        <p:sp>
          <p:nvSpPr>
            <p:cNvPr id="5127" name="AutoShape 7"/>
            <p:cNvSpPr>
              <a:spLocks noChangeArrowheads="1"/>
            </p:cNvSpPr>
            <p:nvPr/>
          </p:nvSpPr>
          <p:spPr bwMode="auto">
            <a:xfrm>
              <a:off x="5196" y="3080"/>
              <a:ext cx="164" cy="201"/>
            </a:xfrm>
            <a:prstGeom prst="flowChartDelay">
              <a:avLst/>
            </a:prstGeom>
            <a:solidFill>
              <a:schemeClr val="bg2"/>
            </a:solidFill>
            <a:ln w="9525">
              <a:noFill/>
              <a:miter lim="800000"/>
              <a:headEnd/>
              <a:tailEnd/>
            </a:ln>
            <a:effectLst/>
          </p:spPr>
          <p:txBody>
            <a:bodyPr wrap="none" anchor="ctr"/>
            <a:lstStyle/>
            <a:p>
              <a:endParaRPr lang="en-US"/>
            </a:p>
          </p:txBody>
        </p:sp>
      </p:grpSp>
      <p:sp>
        <p:nvSpPr>
          <p:cNvPr id="5128" name="Rectangle 8"/>
          <p:cNvSpPr>
            <a:spLocks noGrp="1" noChangeArrowheads="1"/>
          </p:cNvSpPr>
          <p:nvPr>
            <p:ph type="dt" sz="quarter" idx="2"/>
          </p:nvPr>
        </p:nvSpPr>
        <p:spPr>
          <a:xfrm>
            <a:off x="2667000" y="6553200"/>
            <a:ext cx="1905000" cy="304800"/>
          </a:xfrm>
        </p:spPr>
        <p:txBody>
          <a:bodyPr/>
          <a:lstStyle>
            <a:lvl1pPr>
              <a:defRPr>
                <a:solidFill>
                  <a:schemeClr val="bg1"/>
                </a:solidFill>
              </a:defRPr>
            </a:lvl1pPr>
          </a:lstStyle>
          <a:p>
            <a:endParaRPr lang="en-GB"/>
          </a:p>
        </p:txBody>
      </p:sp>
      <p:sp>
        <p:nvSpPr>
          <p:cNvPr id="5129" name="Rectangle 9"/>
          <p:cNvSpPr>
            <a:spLocks noGrp="1" noChangeArrowheads="1"/>
          </p:cNvSpPr>
          <p:nvPr>
            <p:ph type="ftr" sz="quarter" idx="3"/>
          </p:nvPr>
        </p:nvSpPr>
        <p:spPr>
          <a:xfrm>
            <a:off x="5195888" y="6553200"/>
            <a:ext cx="3279775" cy="304800"/>
          </a:xfrm>
        </p:spPr>
        <p:txBody>
          <a:bodyPr/>
          <a:lstStyle>
            <a:lvl1pPr algn="r">
              <a:defRPr/>
            </a:lvl1pPr>
          </a:lstStyle>
          <a:p>
            <a:endParaRPr lang="en-GB"/>
          </a:p>
        </p:txBody>
      </p:sp>
      <p:sp>
        <p:nvSpPr>
          <p:cNvPr id="5130" name="Rectangle 10"/>
          <p:cNvSpPr>
            <a:spLocks noGrp="1" noChangeArrowheads="1"/>
          </p:cNvSpPr>
          <p:nvPr>
            <p:ph type="sldNum" sz="quarter" idx="4"/>
          </p:nvPr>
        </p:nvSpPr>
        <p:spPr>
          <a:xfrm>
            <a:off x="9525" y="6359525"/>
            <a:ext cx="587375" cy="488950"/>
          </a:xfrm>
        </p:spPr>
        <p:txBody>
          <a:bodyPr anchorCtr="0"/>
          <a:lstStyle>
            <a:lvl1pPr>
              <a:defRPr/>
            </a:lvl1pPr>
          </a:lstStyle>
          <a:p>
            <a:fld id="{E493C8AF-49BF-416D-A936-E50DA853E5F1}" type="slidenum">
              <a:rPr lang="en-GB"/>
              <a:pPr/>
              <a:t>‹#›</a:t>
            </a:fld>
            <a:endParaRPr lang="en-GB"/>
          </a:p>
        </p:txBody>
      </p:sp>
      <p:sp>
        <p:nvSpPr>
          <p:cNvPr id="5131" name="Rectangle 11"/>
          <p:cNvSpPr>
            <a:spLocks noGrp="1" noChangeArrowheads="1"/>
          </p:cNvSpPr>
          <p:nvPr>
            <p:ph type="ctrTitle" sz="quarter"/>
          </p:nvPr>
        </p:nvSpPr>
        <p:spPr>
          <a:xfrm>
            <a:off x="936625" y="1425575"/>
            <a:ext cx="7772400" cy="1143000"/>
          </a:xfrm>
        </p:spPr>
        <p:txBody>
          <a:bodyPr anchor="ctr"/>
          <a:lstStyle>
            <a:lvl1pPr algn="ctr">
              <a:defRPr>
                <a:solidFill>
                  <a:schemeClr val="tx1"/>
                </a:solidFill>
              </a:defRPr>
            </a:lvl1pPr>
          </a:lstStyle>
          <a:p>
            <a:r>
              <a:rPr lang="en-GB"/>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3D6A20EC-031A-480A-8D3B-6CC15CAAC96D}" type="slidenum">
              <a:rPr lang="en-GB"/>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7F217B13-C3A9-4BCB-9430-D27154FE5E17}" type="slidenum">
              <a:rPr lang="en-GB"/>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2362200"/>
            <a:ext cx="39243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91100" y="2362200"/>
            <a:ext cx="39243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A41EE98D-8627-403D-AB6F-7CF2FEA2DB12}" type="slidenum">
              <a:rPr lang="en-GB"/>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GB"/>
          </a:p>
        </p:txBody>
      </p:sp>
      <p:sp>
        <p:nvSpPr>
          <p:cNvPr id="8" name="Footer Placeholder 7"/>
          <p:cNvSpPr>
            <a:spLocks noGrp="1"/>
          </p:cNvSpPr>
          <p:nvPr>
            <p:ph type="ftr" sz="quarter" idx="11"/>
          </p:nvPr>
        </p:nvSpPr>
        <p:spPr/>
        <p:txBody>
          <a:bodyPr/>
          <a:lstStyle>
            <a:lvl1pPr>
              <a:defRPr/>
            </a:lvl1pPr>
          </a:lstStyle>
          <a:p>
            <a:endParaRPr lang="en-GB"/>
          </a:p>
        </p:txBody>
      </p:sp>
      <p:sp>
        <p:nvSpPr>
          <p:cNvPr id="9" name="Slide Number Placeholder 8"/>
          <p:cNvSpPr>
            <a:spLocks noGrp="1"/>
          </p:cNvSpPr>
          <p:nvPr>
            <p:ph type="sldNum" sz="quarter" idx="12"/>
          </p:nvPr>
        </p:nvSpPr>
        <p:spPr/>
        <p:txBody>
          <a:bodyPr/>
          <a:lstStyle>
            <a:lvl1pPr>
              <a:defRPr/>
            </a:lvl1pPr>
          </a:lstStyle>
          <a:p>
            <a:fld id="{92B47743-19E8-4F27-8DB1-B88B68B68D61}" type="slidenum">
              <a:rPr lang="en-GB"/>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GB"/>
          </a:p>
        </p:txBody>
      </p:sp>
      <p:sp>
        <p:nvSpPr>
          <p:cNvPr id="4" name="Footer Placeholder 3"/>
          <p:cNvSpPr>
            <a:spLocks noGrp="1"/>
          </p:cNvSpPr>
          <p:nvPr>
            <p:ph type="ftr" sz="quarter" idx="11"/>
          </p:nvPr>
        </p:nvSpPr>
        <p:spPr/>
        <p:txBody>
          <a:bodyPr/>
          <a:lstStyle>
            <a:lvl1pPr>
              <a:defRPr/>
            </a:lvl1pPr>
          </a:lstStyle>
          <a:p>
            <a:endParaRPr lang="en-GB"/>
          </a:p>
        </p:txBody>
      </p:sp>
      <p:sp>
        <p:nvSpPr>
          <p:cNvPr id="5" name="Slide Number Placeholder 4"/>
          <p:cNvSpPr>
            <a:spLocks noGrp="1"/>
          </p:cNvSpPr>
          <p:nvPr>
            <p:ph type="sldNum" sz="quarter" idx="12"/>
          </p:nvPr>
        </p:nvSpPr>
        <p:spPr/>
        <p:txBody>
          <a:bodyPr/>
          <a:lstStyle>
            <a:lvl1pPr>
              <a:defRPr/>
            </a:lvl1pPr>
          </a:lstStyle>
          <a:p>
            <a:fld id="{792BA3B2-B875-410C-A23A-A911E85DD784}" type="slidenum">
              <a:rPr lang="en-GB"/>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Footer Placeholder 2"/>
          <p:cNvSpPr>
            <a:spLocks noGrp="1"/>
          </p:cNvSpPr>
          <p:nvPr>
            <p:ph type="ftr" sz="quarter" idx="11"/>
          </p:nvPr>
        </p:nvSpPr>
        <p:spPr/>
        <p:txBody>
          <a:bodyPr/>
          <a:lstStyle>
            <a:lvl1pPr>
              <a:defRPr/>
            </a:lvl1pPr>
          </a:lstStyle>
          <a:p>
            <a:endParaRPr lang="en-GB"/>
          </a:p>
        </p:txBody>
      </p:sp>
      <p:sp>
        <p:nvSpPr>
          <p:cNvPr id="4" name="Slide Number Placeholder 3"/>
          <p:cNvSpPr>
            <a:spLocks noGrp="1"/>
          </p:cNvSpPr>
          <p:nvPr>
            <p:ph type="sldNum" sz="quarter" idx="12"/>
          </p:nvPr>
        </p:nvSpPr>
        <p:spPr/>
        <p:txBody>
          <a:bodyPr/>
          <a:lstStyle>
            <a:lvl1pPr>
              <a:defRPr/>
            </a:lvl1pPr>
          </a:lstStyle>
          <a:p>
            <a:fld id="{199AE72D-2C25-4996-8089-7F85A15AF82E}" type="slidenum">
              <a:rPr lang="en-GB"/>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0D156DF2-8C5C-451A-97C7-AC14D5C17BA8}" type="slidenum">
              <a:rPr lang="en-GB"/>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78574A67-5462-492C-9AF9-59255D95ACC7}" type="slidenum">
              <a:rPr lang="en-GB"/>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FC47C994-E8F5-4FA0-9DDB-2E64CBDBDB3B}" type="slidenum">
              <a:rPr lang="en-GB"/>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5150" y="762000"/>
            <a:ext cx="2000250" cy="5334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762000"/>
            <a:ext cx="5848350" cy="533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0E72141C-87CF-487D-88C6-31834C9E39BA}"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0" y="0"/>
            <a:ext cx="3200400" cy="6858000"/>
            <a:chOff x="0" y="0"/>
            <a:chExt cx="2016" cy="4320"/>
          </a:xfrm>
        </p:grpSpPr>
        <p:sp>
          <p:nvSpPr>
            <p:cNvPr id="4099" name="Rectangle 3"/>
            <p:cNvSpPr>
              <a:spLocks noChangeArrowheads="1"/>
            </p:cNvSpPr>
            <p:nvPr/>
          </p:nvSpPr>
          <p:spPr bwMode="auto">
            <a:xfrm>
              <a:off x="0" y="0"/>
              <a:ext cx="480" cy="4320"/>
            </a:xfrm>
            <a:prstGeom prst="rect">
              <a:avLst/>
            </a:prstGeom>
            <a:solidFill>
              <a:schemeClr val="accent1"/>
            </a:solidFill>
            <a:ln w="9525">
              <a:noFill/>
              <a:miter lim="800000"/>
              <a:headEnd/>
              <a:tailEnd/>
            </a:ln>
            <a:effectLst/>
          </p:spPr>
          <p:txBody>
            <a:bodyPr wrap="none" anchor="ctr"/>
            <a:lstStyle/>
            <a:p>
              <a:endParaRPr lang="en-US"/>
            </a:p>
          </p:txBody>
        </p:sp>
        <p:sp>
          <p:nvSpPr>
            <p:cNvPr id="4100" name="Rectangle 4"/>
            <p:cNvSpPr>
              <a:spLocks noChangeArrowheads="1"/>
            </p:cNvSpPr>
            <p:nvPr/>
          </p:nvSpPr>
          <p:spPr bwMode="auto">
            <a:xfrm>
              <a:off x="432" y="0"/>
              <a:ext cx="1584" cy="672"/>
            </a:xfrm>
            <a:prstGeom prst="rect">
              <a:avLst/>
            </a:prstGeom>
            <a:solidFill>
              <a:schemeClr val="accent1"/>
            </a:solidFill>
            <a:ln w="9525">
              <a:noFill/>
              <a:miter lim="800000"/>
              <a:headEnd/>
              <a:tailEnd/>
            </a:ln>
            <a:effectLst/>
          </p:spPr>
          <p:txBody>
            <a:bodyPr wrap="none" anchor="ctr"/>
            <a:lstStyle/>
            <a:p>
              <a:endParaRPr lang="en-US"/>
            </a:p>
          </p:txBody>
        </p:sp>
      </p:grpSp>
      <p:sp>
        <p:nvSpPr>
          <p:cNvPr id="4101" name="AutoShape 5"/>
          <p:cNvSpPr>
            <a:spLocks noChangeArrowheads="1"/>
          </p:cNvSpPr>
          <p:nvPr/>
        </p:nvSpPr>
        <p:spPr bwMode="auto">
          <a:xfrm>
            <a:off x="762000" y="762000"/>
            <a:ext cx="5105400" cy="609600"/>
          </a:xfrm>
          <a:prstGeom prst="roundRect">
            <a:avLst>
              <a:gd name="adj" fmla="val 50000"/>
            </a:avLst>
          </a:prstGeom>
          <a:solidFill>
            <a:schemeClr val="bg1"/>
          </a:solidFill>
          <a:ln w="9525">
            <a:noFill/>
            <a:round/>
            <a:headEnd/>
            <a:tailEnd/>
          </a:ln>
          <a:effectLst/>
        </p:spPr>
        <p:txBody>
          <a:bodyPr wrap="none" anchor="ctr"/>
          <a:lstStyle/>
          <a:p>
            <a:pPr algn="ctr"/>
            <a:endParaRPr kumimoji="1" lang="en-AU"/>
          </a:p>
        </p:txBody>
      </p:sp>
      <p:sp>
        <p:nvSpPr>
          <p:cNvPr id="4102" name="Rectangle 6"/>
          <p:cNvSpPr>
            <a:spLocks noGrp="1" noChangeArrowheads="1"/>
          </p:cNvSpPr>
          <p:nvPr>
            <p:ph type="title"/>
          </p:nvPr>
        </p:nvSpPr>
        <p:spPr bwMode="auto">
          <a:xfrm>
            <a:off x="914400" y="762000"/>
            <a:ext cx="80010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GB" smtClean="0"/>
              <a:t>Click to edit Master title style</a:t>
            </a:r>
          </a:p>
        </p:txBody>
      </p:sp>
      <p:sp>
        <p:nvSpPr>
          <p:cNvPr id="4103" name="Rectangle 7"/>
          <p:cNvSpPr>
            <a:spLocks noGrp="1" noChangeArrowheads="1"/>
          </p:cNvSpPr>
          <p:nvPr>
            <p:ph type="body" idx="1"/>
          </p:nvPr>
        </p:nvSpPr>
        <p:spPr bwMode="auto">
          <a:xfrm>
            <a:off x="914400" y="2362200"/>
            <a:ext cx="8001000" cy="3733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4104" name="Rectangle 8"/>
          <p:cNvSpPr>
            <a:spLocks noGrp="1" noChangeArrowheads="1"/>
          </p:cNvSpPr>
          <p:nvPr>
            <p:ph type="dt" sz="half" idx="2"/>
          </p:nvPr>
        </p:nvSpPr>
        <p:spPr bwMode="auto">
          <a:xfrm>
            <a:off x="7010400" y="6553200"/>
            <a:ext cx="19050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lgn="r">
              <a:defRPr sz="1400">
                <a:latin typeface="+mn-lt"/>
              </a:defRPr>
            </a:lvl1pPr>
          </a:lstStyle>
          <a:p>
            <a:endParaRPr lang="en-GB"/>
          </a:p>
        </p:txBody>
      </p:sp>
      <p:sp>
        <p:nvSpPr>
          <p:cNvPr id="4105" name="Rectangle 9"/>
          <p:cNvSpPr>
            <a:spLocks noGrp="1" noChangeArrowheads="1"/>
          </p:cNvSpPr>
          <p:nvPr>
            <p:ph type="ftr" sz="quarter" idx="3"/>
          </p:nvPr>
        </p:nvSpPr>
        <p:spPr bwMode="auto">
          <a:xfrm>
            <a:off x="2936875" y="6529388"/>
            <a:ext cx="28956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lgn="ctr">
              <a:defRPr sz="1400">
                <a:latin typeface="+mn-lt"/>
              </a:defRPr>
            </a:lvl1pPr>
          </a:lstStyle>
          <a:p>
            <a:endParaRPr lang="en-GB"/>
          </a:p>
        </p:txBody>
      </p:sp>
      <p:sp>
        <p:nvSpPr>
          <p:cNvPr id="4106" name="Rectangle 10"/>
          <p:cNvSpPr>
            <a:spLocks noGrp="1" noChangeArrowheads="1"/>
          </p:cNvSpPr>
          <p:nvPr>
            <p:ph type="sldNum" sz="quarter" idx="4"/>
          </p:nvPr>
        </p:nvSpPr>
        <p:spPr bwMode="auto">
          <a:xfrm>
            <a:off x="84138" y="63436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spAutoFit/>
          </a:bodyPr>
          <a:lstStyle>
            <a:lvl1pPr>
              <a:defRPr sz="2600" b="1">
                <a:solidFill>
                  <a:schemeClr val="bg1"/>
                </a:solidFill>
                <a:latin typeface="+mn-lt"/>
              </a:defRPr>
            </a:lvl1pPr>
          </a:lstStyle>
          <a:p>
            <a:fld id="{519D6225-C2F8-4917-AC85-FE0B99B7A24C}" type="slidenum">
              <a:rPr lang="en-GB"/>
              <a:pPr/>
              <a:t>‹#›</a:t>
            </a:fld>
            <a:endParaRPr lang="en-GB"/>
          </a:p>
        </p:txBody>
      </p:sp>
      <p:grpSp>
        <p:nvGrpSpPr>
          <p:cNvPr id="4107" name="Group 11"/>
          <p:cNvGrpSpPr>
            <a:grpSpLocks/>
          </p:cNvGrpSpPr>
          <p:nvPr/>
        </p:nvGrpSpPr>
        <p:grpSpPr bwMode="auto">
          <a:xfrm>
            <a:off x="228600" y="1981200"/>
            <a:ext cx="7391400" cy="319088"/>
            <a:chOff x="144" y="1248"/>
            <a:chExt cx="4656" cy="201"/>
          </a:xfrm>
        </p:grpSpPr>
        <p:sp>
          <p:nvSpPr>
            <p:cNvPr id="4108" name="AutoShape 12"/>
            <p:cNvSpPr>
              <a:spLocks noChangeArrowheads="1"/>
            </p:cNvSpPr>
            <p:nvPr/>
          </p:nvSpPr>
          <p:spPr bwMode="auto">
            <a:xfrm>
              <a:off x="384" y="1248"/>
              <a:ext cx="4416" cy="200"/>
            </a:xfrm>
            <a:prstGeom prst="roundRect">
              <a:avLst>
                <a:gd name="adj" fmla="val 0"/>
              </a:avLst>
            </a:prstGeom>
            <a:solidFill>
              <a:schemeClr val="bg2"/>
            </a:solidFill>
            <a:ln w="9525">
              <a:noFill/>
              <a:round/>
              <a:headEnd/>
              <a:tailEnd/>
            </a:ln>
            <a:effectLst/>
          </p:spPr>
          <p:txBody>
            <a:bodyPr wrap="none" anchor="ctr"/>
            <a:lstStyle/>
            <a:p>
              <a:endParaRPr lang="en-US"/>
            </a:p>
          </p:txBody>
        </p:sp>
        <p:sp>
          <p:nvSpPr>
            <p:cNvPr id="4109" name="AutoShape 13"/>
            <p:cNvSpPr>
              <a:spLocks noChangeArrowheads="1"/>
            </p:cNvSpPr>
            <p:nvPr/>
          </p:nvSpPr>
          <p:spPr bwMode="auto">
            <a:xfrm flipH="1">
              <a:off x="144" y="1248"/>
              <a:ext cx="248" cy="201"/>
            </a:xfrm>
            <a:prstGeom prst="flowChartDelay">
              <a:avLst/>
            </a:prstGeom>
            <a:solidFill>
              <a:schemeClr val="bg2"/>
            </a:solidFill>
            <a:ln w="9525">
              <a:noFill/>
              <a:miter lim="800000"/>
              <a:headEnd/>
              <a:tailEnd/>
            </a:ln>
            <a:effectLst/>
          </p:spPr>
          <p:txBody>
            <a:bodyPr wrap="none" anchor="ctr"/>
            <a:lstStyle/>
            <a:p>
              <a:endParaRPr lang="en-US"/>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rtl="0" fontAlgn="base">
        <a:lnSpc>
          <a:spcPct val="90000"/>
        </a:lnSpc>
        <a:spcBef>
          <a:spcPct val="0"/>
        </a:spcBef>
        <a:spcAft>
          <a:spcPct val="0"/>
        </a:spcAft>
        <a:defRPr sz="3600" b="1">
          <a:solidFill>
            <a:schemeClr val="tx2"/>
          </a:solidFill>
          <a:latin typeface="+mj-lt"/>
          <a:ea typeface="+mj-ea"/>
          <a:cs typeface="+mj-cs"/>
        </a:defRPr>
      </a:lvl1pPr>
      <a:lvl2pPr algn="l" rtl="0" fontAlgn="base">
        <a:lnSpc>
          <a:spcPct val="90000"/>
        </a:lnSpc>
        <a:spcBef>
          <a:spcPct val="0"/>
        </a:spcBef>
        <a:spcAft>
          <a:spcPct val="0"/>
        </a:spcAft>
        <a:defRPr sz="3600" b="1">
          <a:solidFill>
            <a:schemeClr val="tx2"/>
          </a:solidFill>
          <a:latin typeface="Arial" charset="0"/>
        </a:defRPr>
      </a:lvl2pPr>
      <a:lvl3pPr algn="l" rtl="0" fontAlgn="base">
        <a:lnSpc>
          <a:spcPct val="90000"/>
        </a:lnSpc>
        <a:spcBef>
          <a:spcPct val="0"/>
        </a:spcBef>
        <a:spcAft>
          <a:spcPct val="0"/>
        </a:spcAft>
        <a:defRPr sz="3600" b="1">
          <a:solidFill>
            <a:schemeClr val="tx2"/>
          </a:solidFill>
          <a:latin typeface="Arial" charset="0"/>
        </a:defRPr>
      </a:lvl3pPr>
      <a:lvl4pPr algn="l" rtl="0" fontAlgn="base">
        <a:lnSpc>
          <a:spcPct val="90000"/>
        </a:lnSpc>
        <a:spcBef>
          <a:spcPct val="0"/>
        </a:spcBef>
        <a:spcAft>
          <a:spcPct val="0"/>
        </a:spcAft>
        <a:defRPr sz="3600" b="1">
          <a:solidFill>
            <a:schemeClr val="tx2"/>
          </a:solidFill>
          <a:latin typeface="Arial" charset="0"/>
        </a:defRPr>
      </a:lvl4pPr>
      <a:lvl5pPr algn="l" rtl="0" fontAlgn="base">
        <a:lnSpc>
          <a:spcPct val="90000"/>
        </a:lnSpc>
        <a:spcBef>
          <a:spcPct val="0"/>
        </a:spcBef>
        <a:spcAft>
          <a:spcPct val="0"/>
        </a:spcAft>
        <a:defRPr sz="3600" b="1">
          <a:solidFill>
            <a:schemeClr val="tx2"/>
          </a:solidFill>
          <a:latin typeface="Arial"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fontAlgn="base">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sz="2400">
          <a:solidFill>
            <a:schemeClr val="tx1"/>
          </a:solidFill>
          <a:latin typeface="+mn-lt"/>
        </a:defRPr>
      </a:lvl2pPr>
      <a:lvl3pPr marL="1143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fontAlgn="base">
        <a:spcBef>
          <a:spcPct val="20000"/>
        </a:spcBef>
        <a:spcAft>
          <a:spcPct val="0"/>
        </a:spcAft>
        <a:buClr>
          <a:schemeClr val="tx1"/>
        </a:buClr>
        <a:buSzPct val="80000"/>
        <a:buChar char="–"/>
        <a:defRPr>
          <a:solidFill>
            <a:schemeClr val="tx1"/>
          </a:solidFill>
          <a:latin typeface="+mn-lt"/>
        </a:defRPr>
      </a:lvl4pPr>
      <a:lvl5pPr marL="20574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ChangeArrowheads="1"/>
          </p:cNvSpPr>
          <p:nvPr>
            <p:ph type="ctrTitle"/>
          </p:nvPr>
        </p:nvSpPr>
        <p:spPr/>
        <p:txBody>
          <a:bodyPr/>
          <a:lstStyle/>
          <a:p>
            <a:r>
              <a:rPr lang="en-US" sz="4400">
                <a:solidFill>
                  <a:srgbClr val="660066"/>
                </a:solidFill>
              </a:rPr>
              <a:t>Human Ontology or</a:t>
            </a:r>
            <a:br>
              <a:rPr lang="en-US" sz="4400">
                <a:solidFill>
                  <a:srgbClr val="660066"/>
                </a:solidFill>
              </a:rPr>
            </a:br>
            <a:r>
              <a:rPr lang="en-US" sz="4400">
                <a:solidFill>
                  <a:srgbClr val="660066"/>
                </a:solidFill>
              </a:rPr>
              <a:t>Human Genomics ? </a:t>
            </a:r>
            <a:endParaRPr lang="en-GB" sz="4400">
              <a:solidFill>
                <a:srgbClr val="660066"/>
              </a:solidFill>
            </a:endParaRPr>
          </a:p>
        </p:txBody>
      </p:sp>
      <p:sp>
        <p:nvSpPr>
          <p:cNvPr id="15363" name="Rectangle 1027"/>
          <p:cNvSpPr>
            <a:spLocks noGrp="1" noChangeArrowheads="1"/>
          </p:cNvSpPr>
          <p:nvPr>
            <p:ph type="subTitle" idx="1"/>
          </p:nvPr>
        </p:nvSpPr>
        <p:spPr/>
        <p:txBody>
          <a:bodyPr/>
          <a:lstStyle/>
          <a:p>
            <a:r>
              <a:rPr lang="en-US"/>
              <a:t>Heidegger’s Health Warning to Humanity</a:t>
            </a:r>
            <a:endParaRPr lang="en-GB"/>
          </a:p>
        </p:txBody>
      </p:sp>
      <p:sp>
        <p:nvSpPr>
          <p:cNvPr id="15364" name="Text Box 1028"/>
          <p:cNvSpPr txBox="1">
            <a:spLocks noChangeArrowheads="1"/>
          </p:cNvSpPr>
          <p:nvPr/>
        </p:nvSpPr>
        <p:spPr bwMode="auto">
          <a:xfrm>
            <a:off x="4876800" y="5562600"/>
            <a:ext cx="3429000" cy="457200"/>
          </a:xfrm>
          <a:prstGeom prst="rect">
            <a:avLst/>
          </a:prstGeom>
          <a:noFill/>
          <a:ln w="9525">
            <a:noFill/>
            <a:miter lim="800000"/>
            <a:headEnd/>
            <a:tailEnd/>
          </a:ln>
          <a:effectLst/>
        </p:spPr>
        <p:txBody>
          <a:bodyPr>
            <a:spAutoFit/>
          </a:bodyPr>
          <a:lstStyle/>
          <a:p>
            <a:pPr>
              <a:spcBef>
                <a:spcPct val="50000"/>
              </a:spcBef>
            </a:pPr>
            <a:r>
              <a:rPr lang="en-US" b="1">
                <a:latin typeface="Arial" charset="0"/>
              </a:rPr>
              <a:t>Peter Wilberg</a:t>
            </a:r>
            <a:endParaRPr lang="en-GB" b="1">
              <a:latin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solidFill>
                  <a:srgbClr val="660066"/>
                </a:solidFill>
              </a:rPr>
              <a:t>Philosophy and Medicine</a:t>
            </a:r>
            <a:endParaRPr lang="en-GB">
              <a:solidFill>
                <a:srgbClr val="660066"/>
              </a:solidFill>
            </a:endParaRPr>
          </a:p>
        </p:txBody>
      </p:sp>
      <p:sp>
        <p:nvSpPr>
          <p:cNvPr id="83971" name="Rectangle 3"/>
          <p:cNvSpPr>
            <a:spLocks noGrp="1" noChangeArrowheads="1"/>
          </p:cNvSpPr>
          <p:nvPr>
            <p:ph type="body" idx="1"/>
          </p:nvPr>
        </p:nvSpPr>
        <p:spPr/>
        <p:txBody>
          <a:bodyPr/>
          <a:lstStyle/>
          <a:p>
            <a:pPr algn="just">
              <a:lnSpc>
                <a:spcPct val="90000"/>
              </a:lnSpc>
            </a:pPr>
            <a:r>
              <a:rPr lang="en-GB" sz="2400"/>
              <a:t>The foundations of both Western and Eastern medicine lie not in science </a:t>
            </a:r>
            <a:r>
              <a:rPr lang="en-US" sz="2400"/>
              <a:t>or biology </a:t>
            </a:r>
            <a:r>
              <a:rPr lang="en-GB" sz="2400"/>
              <a:t>but in </a:t>
            </a:r>
            <a:r>
              <a:rPr lang="en-GB" sz="2400" b="1"/>
              <a:t>philosophy.</a:t>
            </a:r>
            <a:endParaRPr lang="en-US" sz="2400" b="1"/>
          </a:p>
          <a:p>
            <a:pPr algn="just">
              <a:lnSpc>
                <a:spcPct val="90000"/>
              </a:lnSpc>
            </a:pPr>
            <a:r>
              <a:rPr lang="en-GB" sz="2400"/>
              <a:t>‘Philosophy’</a:t>
            </a:r>
            <a:r>
              <a:rPr lang="en-US" sz="2400"/>
              <a:t> is a word of Greek origin</a:t>
            </a:r>
            <a:r>
              <a:rPr lang="en-GB" sz="2400"/>
              <a:t>, and the Greek physician was above a </a:t>
            </a:r>
            <a:r>
              <a:rPr lang="en-GB" sz="2400" b="1"/>
              <a:t>philosopher physician</a:t>
            </a:r>
            <a:r>
              <a:rPr lang="en-GB" sz="2400"/>
              <a:t> (</a:t>
            </a:r>
            <a:r>
              <a:rPr lang="en-US" sz="2400" i="1"/>
              <a:t>i</a:t>
            </a:r>
            <a:r>
              <a:rPr lang="en-GB" sz="2400" i="1"/>
              <a:t>atrophilosophos</a:t>
            </a:r>
            <a:r>
              <a:rPr lang="en-GB" sz="2400"/>
              <a:t>)</a:t>
            </a:r>
            <a:r>
              <a:rPr lang="en-US" sz="2400"/>
              <a:t>. </a:t>
            </a:r>
          </a:p>
          <a:p>
            <a:pPr algn="just">
              <a:lnSpc>
                <a:spcPct val="90000"/>
              </a:lnSpc>
            </a:pPr>
            <a:r>
              <a:rPr lang="en-GB" sz="2400"/>
              <a:t>Hippocrates, the founder of Western medicine, regarded </a:t>
            </a:r>
            <a:r>
              <a:rPr lang="en-US" sz="2400"/>
              <a:t>philosophical training </a:t>
            </a:r>
            <a:r>
              <a:rPr lang="en-GB" sz="2400"/>
              <a:t>as the </a:t>
            </a:r>
            <a:r>
              <a:rPr lang="en-GB" sz="2400" b="1"/>
              <a:t>essential foundation</a:t>
            </a:r>
            <a:r>
              <a:rPr lang="en-GB" sz="2400"/>
              <a:t> for training as a physician</a:t>
            </a:r>
            <a:r>
              <a:rPr lang="en-US" sz="2400"/>
              <a:t>.</a:t>
            </a:r>
            <a:r>
              <a:rPr lang="en-GB" sz="2400"/>
              <a:t> </a:t>
            </a:r>
            <a:endParaRPr lang="en-US" sz="2400"/>
          </a:p>
          <a:p>
            <a:pPr algn="just">
              <a:lnSpc>
                <a:spcPct val="90000"/>
              </a:lnSpc>
            </a:pPr>
            <a:r>
              <a:rPr lang="en-GB" sz="2400"/>
              <a:t>In China and India, as in ancient Greece, philosophy was understood as the art, not only of thinking</a:t>
            </a:r>
            <a:r>
              <a:rPr lang="en-US" sz="2400"/>
              <a:t>.</a:t>
            </a:r>
            <a:r>
              <a:rPr lang="en-GB" sz="2400"/>
              <a:t> but of </a:t>
            </a:r>
            <a:r>
              <a:rPr lang="en-GB" sz="2400" b="1"/>
              <a:t>living</a:t>
            </a:r>
            <a:r>
              <a:rPr lang="en-GB" sz="2400"/>
              <a:t> – </a:t>
            </a:r>
            <a:r>
              <a:rPr lang="en-US" sz="2400"/>
              <a:t>central to the life of the human being – a life irreducible to ‘biology’ of the human body.</a:t>
            </a:r>
          </a:p>
          <a:p>
            <a:pPr algn="just">
              <a:lnSpc>
                <a:spcPct val="90000"/>
              </a:lnSpc>
            </a:pPr>
            <a:endParaRPr lang="en-US" sz="2400"/>
          </a:p>
          <a:p>
            <a:pPr algn="just">
              <a:lnSpc>
                <a:spcPct val="90000"/>
              </a:lnSpc>
            </a:pPr>
            <a:endParaRPr lang="en-US" sz="2400"/>
          </a:p>
          <a:p>
            <a:pPr algn="just">
              <a:lnSpc>
                <a:spcPct val="90000"/>
              </a:lnSpc>
            </a:pPr>
            <a:endParaRPr lang="en-US" sz="2400"/>
          </a:p>
          <a:p>
            <a:pPr algn="just">
              <a:lnSpc>
                <a:spcPct val="90000"/>
              </a:lnSpc>
              <a:buFont typeface="Wingdings" pitchFamily="2" charset="2"/>
              <a:buNone/>
            </a:pPr>
            <a:r>
              <a:rPr lang="en-US" sz="1800"/>
              <a:t>      </a:t>
            </a:r>
            <a:endParaRPr lang="en-GB"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solidFill>
                  <a:srgbClr val="660066"/>
                </a:solidFill>
              </a:rPr>
              <a:t>Human Genomics</a:t>
            </a:r>
            <a:endParaRPr lang="en-GB">
              <a:solidFill>
                <a:srgbClr val="660066"/>
              </a:solidFill>
            </a:endParaRPr>
          </a:p>
        </p:txBody>
      </p:sp>
      <p:sp>
        <p:nvSpPr>
          <p:cNvPr id="82947" name="Rectangle 3"/>
          <p:cNvSpPr>
            <a:spLocks noGrp="1" noChangeArrowheads="1"/>
          </p:cNvSpPr>
          <p:nvPr>
            <p:ph type="body" idx="1"/>
          </p:nvPr>
        </p:nvSpPr>
        <p:spPr/>
        <p:txBody>
          <a:bodyPr/>
          <a:lstStyle/>
          <a:p>
            <a:pPr>
              <a:lnSpc>
                <a:spcPct val="90000"/>
              </a:lnSpc>
            </a:pPr>
            <a:r>
              <a:rPr lang="en-US" sz="2000" b="1"/>
              <a:t>Human Genomics</a:t>
            </a:r>
            <a:r>
              <a:rPr lang="en-US" sz="2000"/>
              <a:t> brings to its ultimate expression the domination of a scientific and technological world outlook that:</a:t>
            </a:r>
          </a:p>
          <a:p>
            <a:pPr lvl="1">
              <a:lnSpc>
                <a:spcPct val="90000"/>
              </a:lnSpc>
              <a:buFontTx/>
              <a:buAutoNum type="arabicPeriod"/>
            </a:pPr>
            <a:r>
              <a:rPr lang="en-US" sz="2000"/>
              <a:t>reduces human beings to their biology,</a:t>
            </a:r>
          </a:p>
          <a:p>
            <a:pPr lvl="1">
              <a:lnSpc>
                <a:spcPct val="90000"/>
              </a:lnSpc>
              <a:buFontTx/>
              <a:buAutoNum type="arabicPeriod"/>
            </a:pPr>
            <a:r>
              <a:rPr lang="en-US" sz="2000"/>
              <a:t>turns them into objects of their own biotechnology</a:t>
            </a:r>
          </a:p>
          <a:p>
            <a:pPr lvl="1">
              <a:lnSpc>
                <a:spcPct val="90000"/>
              </a:lnSpc>
              <a:buFontTx/>
              <a:buAutoNum type="arabicPeriod"/>
            </a:pPr>
            <a:r>
              <a:rPr lang="en-US" sz="2000"/>
              <a:t>seeks the </a:t>
            </a:r>
            <a:r>
              <a:rPr lang="en-US" sz="2000" b="1"/>
              <a:t>medicalisation </a:t>
            </a:r>
            <a:r>
              <a:rPr lang="en-US" sz="2000"/>
              <a:t>and quasi-military ‘conquest’ of all human suffering and dis-ease, thus denying it any personal, social or spiritual </a:t>
            </a:r>
            <a:r>
              <a:rPr lang="en-US" sz="2000" b="1"/>
              <a:t>meaning</a:t>
            </a:r>
            <a:r>
              <a:rPr lang="en-US" sz="2000"/>
              <a:t>.</a:t>
            </a:r>
          </a:p>
          <a:p>
            <a:pPr>
              <a:lnSpc>
                <a:spcPct val="90000"/>
              </a:lnSpc>
              <a:buSzPct val="145000"/>
              <a:buFontTx/>
              <a:buChar char="•"/>
            </a:pPr>
            <a:r>
              <a:rPr lang="en-US" sz="2000"/>
              <a:t>It has its origins in the bio-medical and eugenic models of social health propagated by Nazi physicians and psychiatrists –who provided Hitler with a model for the Final Solution for the supposed Jewish ‘virus’ or ‘cancer’ affecting the social body. </a:t>
            </a:r>
          </a:p>
          <a:p>
            <a:pPr>
              <a:lnSpc>
                <a:spcPct val="90000"/>
              </a:lnSpc>
              <a:buSzPct val="145000"/>
              <a:buFontTx/>
              <a:buChar char="•"/>
            </a:pPr>
            <a:r>
              <a:rPr lang="en-US" sz="2000"/>
              <a:t>Heidegger’s philosophy was the most profound challenge to Nazi racial-biological philosophy and the understanding of politics and as ‘applied biology’.</a:t>
            </a:r>
          </a:p>
          <a:p>
            <a:pPr>
              <a:lnSpc>
                <a:spcPct val="90000"/>
              </a:lnSpc>
              <a:buSzPct val="145000"/>
              <a:buFontTx/>
              <a:buNone/>
            </a:pPr>
            <a:r>
              <a:rPr lang="en-US" sz="2400"/>
              <a:t>  </a:t>
            </a:r>
          </a:p>
          <a:p>
            <a:pPr lvl="1">
              <a:lnSpc>
                <a:spcPct val="90000"/>
              </a:lnSpc>
              <a:buFontTx/>
              <a:buAutoNum type="arabicPeriod"/>
            </a:pPr>
            <a:endParaRPr lang="en-US" sz="2000"/>
          </a:p>
          <a:p>
            <a:pPr lvl="1">
              <a:lnSpc>
                <a:spcPct val="90000"/>
              </a:lnSpc>
              <a:buFontTx/>
              <a:buAutoNum type="arabicPeriod"/>
            </a:pPr>
            <a:endParaRPr lang="en-GB" sz="2000"/>
          </a:p>
          <a:p>
            <a:pPr>
              <a:lnSpc>
                <a:spcPct val="90000"/>
              </a:lnSpc>
            </a:pPr>
            <a:endParaRPr lang="en-GB"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US">
                <a:solidFill>
                  <a:srgbClr val="660066"/>
                </a:solidFill>
              </a:rPr>
              <a:t>What is Human Ontology?</a:t>
            </a:r>
            <a:endParaRPr lang="en-GB">
              <a:solidFill>
                <a:srgbClr val="660066"/>
              </a:solidFill>
            </a:endParaRPr>
          </a:p>
        </p:txBody>
      </p:sp>
      <p:sp>
        <p:nvSpPr>
          <p:cNvPr id="1027" name="Rectangle 3"/>
          <p:cNvSpPr>
            <a:spLocks noGrp="1" noChangeArrowheads="1"/>
          </p:cNvSpPr>
          <p:nvPr>
            <p:ph type="body" idx="1"/>
          </p:nvPr>
        </p:nvSpPr>
        <p:spPr/>
        <p:txBody>
          <a:bodyPr/>
          <a:lstStyle/>
          <a:p>
            <a:pPr>
              <a:lnSpc>
                <a:spcPct val="90000"/>
              </a:lnSpc>
            </a:pPr>
            <a:r>
              <a:rPr lang="en-US" sz="2000" b="1" dirty="0"/>
              <a:t>Human Ontology</a:t>
            </a:r>
            <a:r>
              <a:rPr lang="en-US" sz="2000" dirty="0"/>
              <a:t> is a new philosophical foundation for the human and natural sciences in general, and for our understanding of health and sickness in particular.</a:t>
            </a:r>
          </a:p>
          <a:p>
            <a:pPr>
              <a:lnSpc>
                <a:spcPct val="90000"/>
              </a:lnSpc>
            </a:pPr>
            <a:r>
              <a:rPr lang="en-US" sz="2000" dirty="0"/>
              <a:t>The term ‘ontology’ derives from the Greek </a:t>
            </a:r>
            <a:r>
              <a:rPr lang="en-US" sz="2000" i="1" dirty="0" err="1"/>
              <a:t>ontos</a:t>
            </a:r>
            <a:r>
              <a:rPr lang="en-US" sz="2000" dirty="0"/>
              <a:t> – being. ‘Ontology’ is the science of beings </a:t>
            </a:r>
            <a:r>
              <a:rPr lang="en-US" sz="2000" i="1" dirty="0"/>
              <a:t>as such</a:t>
            </a:r>
            <a:r>
              <a:rPr lang="en-US" sz="2000" dirty="0"/>
              <a:t>.</a:t>
            </a:r>
          </a:p>
          <a:p>
            <a:pPr>
              <a:lnSpc>
                <a:spcPct val="90000"/>
              </a:lnSpc>
            </a:pPr>
            <a:r>
              <a:rPr lang="en-US" sz="2000" dirty="0"/>
              <a:t>The basis of </a:t>
            </a:r>
            <a:r>
              <a:rPr lang="en-US" sz="2000" b="1" dirty="0"/>
              <a:t>Human Ontology</a:t>
            </a:r>
            <a:r>
              <a:rPr lang="en-US" sz="2000" dirty="0"/>
              <a:t> is a fundamental distinction between the human </a:t>
            </a:r>
            <a:r>
              <a:rPr lang="en-US" sz="2000" b="1" dirty="0"/>
              <a:t>body</a:t>
            </a:r>
            <a:r>
              <a:rPr lang="en-US" sz="2000" dirty="0"/>
              <a:t> and </a:t>
            </a:r>
            <a:r>
              <a:rPr lang="en-US" sz="2000" b="1" dirty="0"/>
              <a:t>mind</a:t>
            </a:r>
            <a:r>
              <a:rPr lang="en-US" sz="2000" dirty="0"/>
              <a:t> on the one hand, and the inner human </a:t>
            </a:r>
            <a:r>
              <a:rPr lang="en-US" sz="2000" b="1" dirty="0"/>
              <a:t>being</a:t>
            </a:r>
            <a:r>
              <a:rPr lang="en-US" sz="2000" dirty="0"/>
              <a:t> on the other. </a:t>
            </a:r>
          </a:p>
          <a:p>
            <a:pPr>
              <a:lnSpc>
                <a:spcPct val="90000"/>
              </a:lnSpc>
            </a:pPr>
            <a:r>
              <a:rPr lang="en-US" sz="2000" dirty="0"/>
              <a:t>Its fundamental principle is that the inner human being </a:t>
            </a:r>
            <a:r>
              <a:rPr lang="en-US" sz="2000" b="1" dirty="0"/>
              <a:t>cannot be reduced</a:t>
            </a:r>
            <a:r>
              <a:rPr lang="en-US" sz="2000" dirty="0"/>
              <a:t> to a set of bodily processes or cognitive </a:t>
            </a:r>
            <a:r>
              <a:rPr lang="en-US" sz="2000" dirty="0" err="1"/>
              <a:t>behaviours</a:t>
            </a:r>
            <a:r>
              <a:rPr lang="en-US" sz="2000" dirty="0"/>
              <a:t>, biological genes or unconscious drives. The inner human being is not some bodily ‘thing’ at all (an “It”) but ‘some-one’: a being or “Thou”.</a:t>
            </a:r>
            <a:r>
              <a:rPr lang="en-US" sz="2400" dirty="0"/>
              <a:t> </a:t>
            </a:r>
            <a:endParaRPr lang="en-GB"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solidFill>
                  <a:srgbClr val="660066"/>
                </a:solidFill>
              </a:rPr>
              <a:t>Human Ontology</a:t>
            </a:r>
            <a:br>
              <a:rPr lang="en-US">
                <a:solidFill>
                  <a:srgbClr val="660066"/>
                </a:solidFill>
              </a:rPr>
            </a:br>
            <a:r>
              <a:rPr lang="en-US">
                <a:solidFill>
                  <a:srgbClr val="660066"/>
                </a:solidFill>
              </a:rPr>
              <a:t>and Human Genomics </a:t>
            </a:r>
            <a:endParaRPr lang="en-GB">
              <a:solidFill>
                <a:srgbClr val="660066"/>
              </a:solidFill>
            </a:endParaRPr>
          </a:p>
        </p:txBody>
      </p:sp>
      <p:sp>
        <p:nvSpPr>
          <p:cNvPr id="3075" name="Rectangle 3"/>
          <p:cNvSpPr>
            <a:spLocks noGrp="1" noChangeArrowheads="1"/>
          </p:cNvSpPr>
          <p:nvPr>
            <p:ph type="body" idx="1"/>
          </p:nvPr>
        </p:nvSpPr>
        <p:spPr/>
        <p:txBody>
          <a:bodyPr/>
          <a:lstStyle/>
          <a:p>
            <a:pPr marL="457200" indent="-457200">
              <a:lnSpc>
                <a:spcPct val="90000"/>
              </a:lnSpc>
            </a:pPr>
            <a:r>
              <a:rPr lang="en-US" sz="2400" b="1"/>
              <a:t>Human Ontology</a:t>
            </a:r>
            <a:r>
              <a:rPr lang="en-US" sz="2400"/>
              <a:t> is a radical philosophical </a:t>
            </a:r>
            <a:r>
              <a:rPr lang="en-US" sz="2400" b="1"/>
              <a:t>antigen</a:t>
            </a:r>
            <a:r>
              <a:rPr lang="en-US" sz="2400"/>
              <a:t> to the new </a:t>
            </a:r>
            <a:r>
              <a:rPr lang="en-US" sz="2400" b="1"/>
              <a:t>gospel</a:t>
            </a:r>
            <a:r>
              <a:rPr lang="en-US" sz="2400"/>
              <a:t> of medical science and molecular biology– the </a:t>
            </a:r>
            <a:r>
              <a:rPr lang="en-US" sz="2400" b="1"/>
              <a:t>human genome</a:t>
            </a:r>
            <a:r>
              <a:rPr lang="en-US" sz="2400"/>
              <a:t>.</a:t>
            </a:r>
          </a:p>
          <a:p>
            <a:pPr marL="457200" indent="-457200">
              <a:lnSpc>
                <a:spcPct val="90000"/>
              </a:lnSpc>
            </a:pPr>
            <a:r>
              <a:rPr lang="en-US" sz="2400"/>
              <a:t>It has its origins in the thinking of Martin Heidegger, and in his wish that this thinking would</a:t>
            </a:r>
            <a:r>
              <a:rPr lang="en-GB" sz="2400">
                <a:solidFill>
                  <a:srgbClr val="000000"/>
                </a:solidFill>
                <a:effectLst>
                  <a:outerShdw blurRad="38100" dist="38100" dir="2700000" algn="tl">
                    <a:srgbClr val="C0C0C0"/>
                  </a:outerShdw>
                </a:effectLst>
                <a:latin typeface="Rockwell Light" pitchFamily="18" charset="0"/>
                <a:cs typeface="Arial" charset="0"/>
              </a:rPr>
              <a:t> </a:t>
            </a:r>
            <a:r>
              <a:rPr lang="en-GB" sz="2400" b="1">
                <a:latin typeface="Rockwell Light" pitchFamily="18" charset="0"/>
                <a:cs typeface="Arial" charset="0"/>
              </a:rPr>
              <a:t>“escape the confines of the philosopher’s study and become of benefit to wider</a:t>
            </a:r>
            <a:r>
              <a:rPr lang="en-US" sz="2400" b="1">
                <a:latin typeface="Rockwell Light" pitchFamily="18" charset="0"/>
                <a:cs typeface="Arial" charset="0"/>
              </a:rPr>
              <a:t> </a:t>
            </a:r>
            <a:r>
              <a:rPr lang="en-GB" sz="2400" b="1">
                <a:latin typeface="Rockwell Light" pitchFamily="18" charset="0"/>
                <a:cs typeface="Arial" charset="0"/>
              </a:rPr>
              <a:t>circles, in particular to a large number of suffering human beings”</a:t>
            </a:r>
            <a:r>
              <a:rPr lang="en-GB" sz="2400" b="1">
                <a:cs typeface="Times New Roman" charset="0"/>
              </a:rPr>
              <a:t> </a:t>
            </a:r>
            <a:endParaRPr lang="en-US" sz="2400" b="1">
              <a:cs typeface="Times New Roman" charset="0"/>
            </a:endParaRPr>
          </a:p>
          <a:p>
            <a:pPr marL="457200" indent="-457200">
              <a:lnSpc>
                <a:spcPct val="90000"/>
              </a:lnSpc>
            </a:pPr>
            <a:r>
              <a:rPr lang="en-US" sz="2400" b="1">
                <a:cs typeface="Times New Roman" charset="0"/>
              </a:rPr>
              <a:t>Heidegger</a:t>
            </a:r>
            <a:r>
              <a:rPr lang="en-US" sz="2400">
                <a:cs typeface="Times New Roman" charset="0"/>
              </a:rPr>
              <a:t> was the first philosopher to challenge the fundamental preconceptions that lie behind the genetic-biological explanations of illness, and to warn of the dangers of its application.</a:t>
            </a:r>
            <a:r>
              <a:rPr lang="en-GB" sz="2400">
                <a:cs typeface="Times New Roman" charset="0"/>
              </a:rPr>
              <a:t> </a:t>
            </a:r>
          </a:p>
          <a:p>
            <a:pPr marL="457200" indent="-457200">
              <a:lnSpc>
                <a:spcPct val="90000"/>
              </a:lnSpc>
            </a:pPr>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solidFill>
                  <a:srgbClr val="660066"/>
                </a:solidFill>
              </a:rPr>
              <a:t>Bioethics: the false debate</a:t>
            </a:r>
            <a:endParaRPr lang="en-GB">
              <a:solidFill>
                <a:srgbClr val="660066"/>
              </a:solidFill>
            </a:endParaRPr>
          </a:p>
        </p:txBody>
      </p:sp>
      <p:sp>
        <p:nvSpPr>
          <p:cNvPr id="6147" name="Rectangle 3"/>
          <p:cNvSpPr>
            <a:spLocks noGrp="1" noChangeArrowheads="1"/>
          </p:cNvSpPr>
          <p:nvPr>
            <p:ph type="body" idx="1"/>
          </p:nvPr>
        </p:nvSpPr>
        <p:spPr/>
        <p:txBody>
          <a:bodyPr/>
          <a:lstStyle/>
          <a:p>
            <a:pPr>
              <a:lnSpc>
                <a:spcPct val="90000"/>
              </a:lnSpc>
            </a:pPr>
            <a:r>
              <a:rPr lang="en-US" sz="2400"/>
              <a:t>Bioethics is dominated by an entirely </a:t>
            </a:r>
            <a:r>
              <a:rPr lang="en-US" sz="2400" b="1"/>
              <a:t>false debate</a:t>
            </a:r>
            <a:r>
              <a:rPr lang="en-US" sz="2400"/>
              <a:t> between those who emphasise the potential medical benefits of genetic research in ‘conquering’ disease. And those who question the </a:t>
            </a:r>
            <a:r>
              <a:rPr lang="en-US" sz="2400" b="1"/>
              <a:t>means</a:t>
            </a:r>
            <a:r>
              <a:rPr lang="en-US" sz="2400"/>
              <a:t> used to achieve this </a:t>
            </a:r>
            <a:r>
              <a:rPr lang="en-US" sz="2400" b="1"/>
              <a:t>end</a:t>
            </a:r>
            <a:r>
              <a:rPr lang="en-US" sz="2400"/>
              <a:t> (for example the cloning of embryos).</a:t>
            </a:r>
          </a:p>
          <a:p>
            <a:pPr>
              <a:lnSpc>
                <a:spcPct val="90000"/>
              </a:lnSpc>
            </a:pPr>
            <a:r>
              <a:rPr lang="en-US" sz="2400"/>
              <a:t>No one stops to questions the </a:t>
            </a:r>
            <a:r>
              <a:rPr lang="en-US" sz="2400" b="1"/>
              <a:t>end itself</a:t>
            </a:r>
            <a:r>
              <a:rPr lang="en-US" sz="2400"/>
              <a:t> – the attempt to achieve a ‘final solution’ to disease, and thereby eliminate all bodily and behavioural expressions of human suffering and </a:t>
            </a:r>
            <a:r>
              <a:rPr lang="en-US" sz="2400" b="1"/>
              <a:t>dis-ease </a:t>
            </a:r>
            <a:r>
              <a:rPr lang="en-US" sz="2400"/>
              <a:t>- whatever its origin. </a:t>
            </a:r>
          </a:p>
          <a:p>
            <a:pPr>
              <a:lnSpc>
                <a:spcPct val="90000"/>
              </a:lnSpc>
            </a:pPr>
            <a:r>
              <a:rPr lang="en-US" sz="2400"/>
              <a:t>Nor does anyone question the </a:t>
            </a:r>
            <a:r>
              <a:rPr lang="en-US" sz="2400" b="1"/>
              <a:t>basic assumptions</a:t>
            </a:r>
            <a:r>
              <a:rPr lang="en-US" sz="2400"/>
              <a:t> of the ‘science’ used to achieve this end: the reduction of human beings and human behaviour to human biology. </a:t>
            </a:r>
          </a:p>
          <a:p>
            <a:pPr>
              <a:lnSpc>
                <a:spcPct val="90000"/>
              </a:lnSpc>
            </a:pPr>
            <a:endParaRPr lang="en-GB"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solidFill>
                  <a:srgbClr val="660066"/>
                </a:solidFill>
              </a:rPr>
              <a:t>The Metaphysical Basis </a:t>
            </a:r>
            <a:br>
              <a:rPr lang="en-US">
                <a:solidFill>
                  <a:srgbClr val="660066"/>
                </a:solidFill>
              </a:rPr>
            </a:br>
            <a:r>
              <a:rPr lang="en-US">
                <a:solidFill>
                  <a:srgbClr val="660066"/>
                </a:solidFill>
              </a:rPr>
              <a:t>of Human Genomics</a:t>
            </a:r>
            <a:endParaRPr lang="en-GB">
              <a:solidFill>
                <a:srgbClr val="660066"/>
              </a:solidFill>
            </a:endParaRPr>
          </a:p>
        </p:txBody>
      </p:sp>
      <p:sp>
        <p:nvSpPr>
          <p:cNvPr id="7171" name="Rectangle 3"/>
          <p:cNvSpPr>
            <a:spLocks noGrp="1" noChangeArrowheads="1"/>
          </p:cNvSpPr>
          <p:nvPr>
            <p:ph type="body" idx="1"/>
          </p:nvPr>
        </p:nvSpPr>
        <p:spPr/>
        <p:txBody>
          <a:bodyPr/>
          <a:lstStyle/>
          <a:p>
            <a:pPr>
              <a:lnSpc>
                <a:spcPct val="90000"/>
              </a:lnSpc>
            </a:pPr>
            <a:r>
              <a:rPr lang="en-US" sz="2400"/>
              <a:t>The metaphysical basis of Human Genomics is </a:t>
            </a:r>
            <a:r>
              <a:rPr lang="en-US" sz="2400" b="1"/>
              <a:t>bio-ontology</a:t>
            </a:r>
            <a:r>
              <a:rPr lang="en-US" sz="2400"/>
              <a:t>: the reduction of the human being to the human body and brain.</a:t>
            </a:r>
          </a:p>
          <a:p>
            <a:pPr>
              <a:lnSpc>
                <a:spcPct val="90000"/>
              </a:lnSpc>
            </a:pPr>
            <a:r>
              <a:rPr lang="en-US" sz="2400"/>
              <a:t>A genuinely scientific approach to human health is a genuinely human science of the body. The basis of such a science is not </a:t>
            </a:r>
            <a:r>
              <a:rPr lang="en-US" sz="2400" b="1"/>
              <a:t>bio-ontology</a:t>
            </a:r>
            <a:r>
              <a:rPr lang="en-US" sz="2400"/>
              <a:t> but </a:t>
            </a:r>
            <a:r>
              <a:rPr lang="en-US" sz="2400" b="1"/>
              <a:t>onto-biology</a:t>
            </a:r>
            <a:r>
              <a:rPr lang="en-US" sz="2400"/>
              <a:t>.</a:t>
            </a:r>
          </a:p>
          <a:p>
            <a:pPr>
              <a:lnSpc>
                <a:spcPct val="90000"/>
              </a:lnSpc>
            </a:pPr>
            <a:r>
              <a:rPr lang="en-US" sz="2400" b="1"/>
              <a:t>Onto-biology</a:t>
            </a:r>
            <a:r>
              <a:rPr lang="en-US" sz="2400"/>
              <a:t> is the scientific expression of Human Ontology - the recognition that the human being and human awareness is not a mysterious by-product of the human body and brain. Rather the </a:t>
            </a:r>
            <a:r>
              <a:rPr lang="en-US" sz="2400" b="1"/>
              <a:t>human body</a:t>
            </a:r>
            <a:r>
              <a:rPr lang="en-US" sz="2400"/>
              <a:t> is an </a:t>
            </a:r>
            <a:r>
              <a:rPr lang="en-US" sz="2400" b="1"/>
              <a:t>embodiment </a:t>
            </a:r>
            <a:r>
              <a:rPr lang="en-US" sz="2400"/>
              <a:t>of the </a:t>
            </a:r>
            <a:r>
              <a:rPr lang="en-US" sz="2400" b="1"/>
              <a:t>human</a:t>
            </a:r>
            <a:r>
              <a:rPr lang="en-US" sz="2400"/>
              <a:t> </a:t>
            </a:r>
            <a:r>
              <a:rPr lang="en-US" sz="2400" b="1"/>
              <a:t>being </a:t>
            </a:r>
            <a:r>
              <a:rPr lang="en-US" sz="2400"/>
              <a:t>– its living biological language.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solidFill>
                  <a:srgbClr val="660066"/>
                </a:solidFill>
              </a:rPr>
              <a:t>Bio-ontology vs Onto-biology</a:t>
            </a:r>
            <a:endParaRPr lang="en-GB">
              <a:solidFill>
                <a:srgbClr val="660066"/>
              </a:solidFill>
            </a:endParaRPr>
          </a:p>
        </p:txBody>
      </p:sp>
      <p:sp>
        <p:nvSpPr>
          <p:cNvPr id="20483" name="Rectangle 3"/>
          <p:cNvSpPr>
            <a:spLocks noGrp="1" noChangeArrowheads="1"/>
          </p:cNvSpPr>
          <p:nvPr>
            <p:ph type="body" sz="half" idx="1"/>
          </p:nvPr>
        </p:nvSpPr>
        <p:spPr/>
        <p:txBody>
          <a:bodyPr/>
          <a:lstStyle/>
          <a:p>
            <a:pPr algn="ctr">
              <a:lnSpc>
                <a:spcPct val="90000"/>
              </a:lnSpc>
              <a:buFont typeface="Wingdings" pitchFamily="2" charset="2"/>
              <a:buNone/>
            </a:pPr>
            <a:r>
              <a:rPr lang="en-US" b="1"/>
              <a:t>Bio-ontology</a:t>
            </a:r>
          </a:p>
          <a:p>
            <a:pPr>
              <a:lnSpc>
                <a:spcPct val="90000"/>
              </a:lnSpc>
            </a:pPr>
            <a:r>
              <a:rPr lang="en-US" sz="2000"/>
              <a:t>We </a:t>
            </a:r>
            <a:r>
              <a:rPr lang="en-US" sz="2000" b="1"/>
              <a:t>are</a:t>
            </a:r>
            <a:r>
              <a:rPr lang="en-US" sz="2000"/>
              <a:t> our bodies. As beings we are by-products of our bodies.</a:t>
            </a:r>
          </a:p>
          <a:p>
            <a:pPr>
              <a:lnSpc>
                <a:spcPct val="90000"/>
              </a:lnSpc>
            </a:pPr>
            <a:r>
              <a:rPr lang="en-US" sz="2000"/>
              <a:t>It is </a:t>
            </a:r>
            <a:r>
              <a:rPr lang="en-US" sz="2000" b="1"/>
              <a:t>bodies and brains</a:t>
            </a:r>
            <a:r>
              <a:rPr lang="en-US" sz="2000"/>
              <a:t> that see and hear, think and feel, act and speak.</a:t>
            </a:r>
          </a:p>
          <a:p>
            <a:pPr>
              <a:lnSpc>
                <a:spcPct val="90000"/>
              </a:lnSpc>
            </a:pPr>
            <a:r>
              <a:rPr lang="en-US" sz="2000"/>
              <a:t>All diseases are the product of biological  dysfunctions and genetic predispositions. </a:t>
            </a:r>
          </a:p>
          <a:p>
            <a:pPr>
              <a:lnSpc>
                <a:spcPct val="90000"/>
              </a:lnSpc>
            </a:pPr>
            <a:r>
              <a:rPr lang="en-US" sz="2000"/>
              <a:t>The body is programmed by a biological master language.</a:t>
            </a:r>
          </a:p>
          <a:p>
            <a:pPr>
              <a:lnSpc>
                <a:spcPct val="90000"/>
              </a:lnSpc>
              <a:buFont typeface="Wingdings" pitchFamily="2" charset="2"/>
              <a:buNone/>
            </a:pPr>
            <a:endParaRPr lang="en-GB" sz="2000"/>
          </a:p>
        </p:txBody>
      </p:sp>
      <p:sp>
        <p:nvSpPr>
          <p:cNvPr id="20484" name="Rectangle 4"/>
          <p:cNvSpPr>
            <a:spLocks noGrp="1" noChangeArrowheads="1"/>
          </p:cNvSpPr>
          <p:nvPr>
            <p:ph type="body" sz="half" idx="2"/>
          </p:nvPr>
        </p:nvSpPr>
        <p:spPr/>
        <p:txBody>
          <a:bodyPr/>
          <a:lstStyle/>
          <a:p>
            <a:pPr algn="ctr">
              <a:lnSpc>
                <a:spcPct val="90000"/>
              </a:lnSpc>
              <a:buFont typeface="Wingdings" pitchFamily="2" charset="2"/>
              <a:buNone/>
            </a:pPr>
            <a:r>
              <a:rPr lang="en-US" b="1"/>
              <a:t>Onto-biology</a:t>
            </a:r>
          </a:p>
          <a:p>
            <a:pPr>
              <a:lnSpc>
                <a:spcPct val="90000"/>
              </a:lnSpc>
            </a:pPr>
            <a:r>
              <a:rPr lang="en-US" sz="2000"/>
              <a:t>Our bodies are a part of what we are - an embodiment of our being </a:t>
            </a:r>
          </a:p>
          <a:p>
            <a:pPr>
              <a:lnSpc>
                <a:spcPct val="90000"/>
              </a:lnSpc>
            </a:pPr>
            <a:r>
              <a:rPr lang="en-US" sz="2000"/>
              <a:t>It is not bodies or brains but </a:t>
            </a:r>
            <a:r>
              <a:rPr lang="en-US" sz="2000" b="1"/>
              <a:t>beings</a:t>
            </a:r>
            <a:r>
              <a:rPr lang="en-US" sz="2000"/>
              <a:t> that see and hear, think and feel, act and speak.</a:t>
            </a:r>
          </a:p>
          <a:p>
            <a:pPr>
              <a:lnSpc>
                <a:spcPct val="90000"/>
              </a:lnSpc>
            </a:pPr>
            <a:r>
              <a:rPr lang="en-US" sz="2000"/>
              <a:t>All diseases are the embodiment of an inner </a:t>
            </a:r>
            <a:r>
              <a:rPr lang="en-US" sz="2000" b="1"/>
              <a:t>dis-ease</a:t>
            </a:r>
            <a:r>
              <a:rPr lang="en-US" sz="2000"/>
              <a:t> of the human being. </a:t>
            </a:r>
          </a:p>
          <a:p>
            <a:pPr>
              <a:lnSpc>
                <a:spcPct val="90000"/>
              </a:lnSpc>
            </a:pPr>
            <a:r>
              <a:rPr lang="en-US" sz="2000"/>
              <a:t>The body is a living biological language of the human being.</a:t>
            </a:r>
            <a:endParaRPr lang="en-GB"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solidFill>
                  <a:srgbClr val="660066"/>
                </a:solidFill>
              </a:rPr>
              <a:t>Decoding the “Book of Life”</a:t>
            </a:r>
            <a:endParaRPr lang="en-GB">
              <a:solidFill>
                <a:srgbClr val="660066"/>
              </a:solidFill>
            </a:endParaRPr>
          </a:p>
        </p:txBody>
      </p:sp>
      <p:sp>
        <p:nvSpPr>
          <p:cNvPr id="8195" name="Rectangle 3"/>
          <p:cNvSpPr>
            <a:spLocks noGrp="1" noChangeArrowheads="1"/>
          </p:cNvSpPr>
          <p:nvPr>
            <p:ph type="body" idx="1"/>
          </p:nvPr>
        </p:nvSpPr>
        <p:spPr/>
        <p:txBody>
          <a:bodyPr/>
          <a:lstStyle/>
          <a:p>
            <a:pPr marL="457200" indent="-457200">
              <a:lnSpc>
                <a:spcPct val="90000"/>
              </a:lnSpc>
            </a:pPr>
            <a:r>
              <a:rPr lang="en-US" sz="2400"/>
              <a:t>Human Genomics </a:t>
            </a:r>
            <a:r>
              <a:rPr lang="en-US" sz="2400" b="1"/>
              <a:t>also</a:t>
            </a:r>
            <a:r>
              <a:rPr lang="en-US" sz="2400"/>
              <a:t> rests on an understanding of the human body as a biological language – but a language without </a:t>
            </a:r>
            <a:r>
              <a:rPr lang="en-US" sz="2400" b="1"/>
              <a:t>meaning</a:t>
            </a:r>
            <a:r>
              <a:rPr lang="en-US" sz="2400"/>
              <a:t> and without a </a:t>
            </a:r>
            <a:r>
              <a:rPr lang="en-US" sz="2400" b="1"/>
              <a:t>speaker</a:t>
            </a:r>
            <a:r>
              <a:rPr lang="en-US" sz="2400"/>
              <a:t>.</a:t>
            </a:r>
          </a:p>
          <a:p>
            <a:pPr marL="457200" indent="-457200">
              <a:lnSpc>
                <a:spcPct val="90000"/>
              </a:lnSpc>
            </a:pPr>
            <a:r>
              <a:rPr lang="en-US" sz="2400"/>
              <a:t>Its claim is that we can ‘decode’ the ‘book of life’ by understanding its molecular constituents and structure. This is equivalent to claiming that we can understand a book by:</a:t>
            </a:r>
          </a:p>
          <a:p>
            <a:pPr marL="838200" lvl="1" indent="-381000">
              <a:lnSpc>
                <a:spcPct val="90000"/>
              </a:lnSpc>
              <a:buFontTx/>
              <a:buAutoNum type="arabicPeriod"/>
            </a:pPr>
            <a:r>
              <a:rPr lang="en-US" sz="2000" b="1"/>
              <a:t>‘scientifically’ analysing the ink marks on its pages, </a:t>
            </a:r>
          </a:p>
          <a:p>
            <a:pPr marL="838200" lvl="1" indent="-381000">
              <a:lnSpc>
                <a:spcPct val="90000"/>
              </a:lnSpc>
              <a:buFontTx/>
              <a:buAutoNum type="arabicPeriod"/>
            </a:pPr>
            <a:r>
              <a:rPr lang="en-US" sz="2000" b="1"/>
              <a:t> identifying a basic alphabet of these marks</a:t>
            </a:r>
          </a:p>
          <a:p>
            <a:pPr marL="838200" lvl="1" indent="-381000">
              <a:lnSpc>
                <a:spcPct val="90000"/>
              </a:lnSpc>
              <a:buFontTx/>
              <a:buAutoNum type="arabicPeriod"/>
            </a:pPr>
            <a:r>
              <a:rPr lang="en-US" sz="2000" b="1"/>
              <a:t> cataloguing their combinations and permutations, </a:t>
            </a:r>
          </a:p>
          <a:p>
            <a:pPr marL="838200" lvl="1" indent="-381000">
              <a:lnSpc>
                <a:spcPct val="90000"/>
              </a:lnSpc>
              <a:buFontTx/>
              <a:buAutoNum type="arabicPeriod"/>
            </a:pPr>
            <a:r>
              <a:rPr lang="en-US" sz="2000" b="1"/>
              <a:t>seeking to explain how these permutations produce whole sentences, paragraphs and chapters – indeed the whole book.</a:t>
            </a:r>
            <a:endParaRPr lang="en-GB" sz="2000" b="1"/>
          </a:p>
          <a:p>
            <a:pPr marL="457200" indent="-457200">
              <a:lnSpc>
                <a:spcPct val="90000"/>
              </a:lnSpc>
              <a:buFont typeface="Wingdings" pitchFamily="2" charset="2"/>
              <a:buAutoNum type="arabicPeriod"/>
            </a:pPr>
            <a:endParaRPr lang="en-US" sz="2400" b="1"/>
          </a:p>
          <a:p>
            <a:pPr marL="457200" indent="-457200">
              <a:lnSpc>
                <a:spcPct val="90000"/>
              </a:lnSpc>
            </a:pPr>
            <a:r>
              <a:rPr lang="en-US" sz="2400"/>
              <a:t>A text is the two-dimensional surface of an multi-dimensional world of meaning. Molecular biology reduces the ‘book of life’ to its fleshly three-dimensional text.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solidFill>
                  <a:srgbClr val="660066"/>
                </a:solidFill>
              </a:rPr>
              <a:t> The Myths of Molecular Biology</a:t>
            </a:r>
            <a:endParaRPr lang="en-GB">
              <a:solidFill>
                <a:srgbClr val="660066"/>
              </a:solidFill>
            </a:endParaRPr>
          </a:p>
        </p:txBody>
      </p:sp>
      <p:sp>
        <p:nvSpPr>
          <p:cNvPr id="9219" name="Rectangle 3"/>
          <p:cNvSpPr>
            <a:spLocks noGrp="1" noChangeArrowheads="1"/>
          </p:cNvSpPr>
          <p:nvPr>
            <p:ph type="body" idx="1"/>
          </p:nvPr>
        </p:nvSpPr>
        <p:spPr/>
        <p:txBody>
          <a:bodyPr/>
          <a:lstStyle/>
          <a:p>
            <a:pPr>
              <a:lnSpc>
                <a:spcPct val="90000"/>
              </a:lnSpc>
            </a:pPr>
            <a:r>
              <a:rPr lang="en-US" sz="2400"/>
              <a:t>We do not understand a text because our brains ‘decode’ the ink marks on the page and manufacture a meaning from them. </a:t>
            </a:r>
          </a:p>
          <a:p>
            <a:pPr>
              <a:lnSpc>
                <a:spcPct val="90000"/>
              </a:lnSpc>
            </a:pPr>
            <a:r>
              <a:rPr lang="en-US" sz="2400"/>
              <a:t>A text is the visible two-dimensional surface of an invisible, but multi-dimensional world of </a:t>
            </a:r>
            <a:r>
              <a:rPr lang="en-US" sz="2400" b="1"/>
              <a:t>meaning. </a:t>
            </a:r>
            <a:r>
              <a:rPr lang="en-US" sz="2400"/>
              <a:t>We understand the text, because as </a:t>
            </a:r>
            <a:r>
              <a:rPr lang="en-US" sz="2400" b="1"/>
              <a:t>beings</a:t>
            </a:r>
            <a:r>
              <a:rPr lang="en-US" sz="2400"/>
              <a:t>, we already dwell </a:t>
            </a:r>
            <a:r>
              <a:rPr lang="en-US" sz="2400" b="1"/>
              <a:t>within</a:t>
            </a:r>
            <a:r>
              <a:rPr lang="en-US" sz="2400"/>
              <a:t> the world of meaning it expresses.</a:t>
            </a:r>
          </a:p>
          <a:p>
            <a:pPr>
              <a:lnSpc>
                <a:spcPct val="90000"/>
              </a:lnSpc>
            </a:pPr>
            <a:r>
              <a:rPr lang="en-US" sz="2400" b="1"/>
              <a:t>Human Genomics</a:t>
            </a:r>
            <a:r>
              <a:rPr lang="en-US" sz="2400"/>
              <a:t> rest on myths – </a:t>
            </a:r>
          </a:p>
          <a:p>
            <a:pPr lvl="1">
              <a:lnSpc>
                <a:spcPct val="90000"/>
              </a:lnSpc>
            </a:pPr>
            <a:r>
              <a:rPr lang="en-US" sz="2000"/>
              <a:t>the myth that we can reduce the </a:t>
            </a:r>
            <a:r>
              <a:rPr lang="en-US" sz="2000" b="1"/>
              <a:t>meaning</a:t>
            </a:r>
            <a:r>
              <a:rPr lang="en-US" sz="2000"/>
              <a:t> of human existence, human health and human disease to its </a:t>
            </a:r>
            <a:r>
              <a:rPr lang="en-US" sz="2000" b="1"/>
              <a:t>three-dimensional</a:t>
            </a:r>
            <a:r>
              <a:rPr lang="en-US" sz="2000"/>
              <a:t>, </a:t>
            </a:r>
            <a:r>
              <a:rPr lang="en-US" sz="2000" b="1"/>
              <a:t>molecular text</a:t>
            </a:r>
            <a:r>
              <a:rPr lang="en-US" sz="2000"/>
              <a:t>. </a:t>
            </a:r>
          </a:p>
          <a:p>
            <a:pPr lvl="1">
              <a:lnSpc>
                <a:spcPct val="90000"/>
              </a:lnSpc>
            </a:pPr>
            <a:r>
              <a:rPr lang="en-US" sz="2000"/>
              <a:t>The myth that human meaning and the the human being are </a:t>
            </a:r>
            <a:r>
              <a:rPr lang="en-US" sz="2000" b="1"/>
              <a:t>products </a:t>
            </a:r>
            <a:r>
              <a:rPr lang="en-US" sz="2000"/>
              <a:t>of this text.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ln/>
        </p:spPr>
        <p:txBody>
          <a:bodyPr/>
          <a:lstStyle/>
          <a:p>
            <a:r>
              <a:rPr lang="en-US">
                <a:solidFill>
                  <a:srgbClr val="660066"/>
                </a:solidFill>
              </a:rPr>
              <a:t>The llliteracy of Modern Science</a:t>
            </a:r>
            <a:endParaRPr lang="en-GB">
              <a:solidFill>
                <a:srgbClr val="660066"/>
              </a:solidFill>
            </a:endParaRPr>
          </a:p>
        </p:txBody>
      </p:sp>
      <p:sp>
        <p:nvSpPr>
          <p:cNvPr id="80899" name="Rectangle 3"/>
          <p:cNvSpPr>
            <a:spLocks noGrp="1" noChangeArrowheads="1"/>
          </p:cNvSpPr>
          <p:nvPr>
            <p:ph type="body" idx="1"/>
          </p:nvPr>
        </p:nvSpPr>
        <p:spPr/>
        <p:txBody>
          <a:bodyPr/>
          <a:lstStyle/>
          <a:p>
            <a:pPr>
              <a:lnSpc>
                <a:spcPct val="90000"/>
              </a:lnSpc>
            </a:pPr>
            <a:r>
              <a:rPr lang="en-US" sz="1800"/>
              <a:t>We can no more find scientific ‘evidence’ of the human </a:t>
            </a:r>
            <a:r>
              <a:rPr lang="en-US" sz="1800" b="1"/>
              <a:t>being</a:t>
            </a:r>
            <a:r>
              <a:rPr lang="en-US" sz="1800"/>
              <a:t> by medical research into the human </a:t>
            </a:r>
            <a:r>
              <a:rPr lang="en-US" sz="1800" b="1"/>
              <a:t>body</a:t>
            </a:r>
            <a:r>
              <a:rPr lang="en-US" sz="1800"/>
              <a:t> or </a:t>
            </a:r>
            <a:r>
              <a:rPr lang="en-US" sz="1800" b="1"/>
              <a:t>brain</a:t>
            </a:r>
            <a:r>
              <a:rPr lang="en-US" sz="1800"/>
              <a:t> than we can find evidence of human meaning in a text by chemical analysis of its ink and paper or mathematical analysis the patterns of ink marks on the page.</a:t>
            </a:r>
          </a:p>
          <a:p>
            <a:pPr>
              <a:lnSpc>
                <a:spcPct val="90000"/>
              </a:lnSpc>
            </a:pPr>
            <a:r>
              <a:rPr lang="en-US" sz="1800"/>
              <a:t>Today’s scientists and academics can no more be persuaded of the existence of an invisible ‘spiritual world’ – a world of </a:t>
            </a:r>
            <a:r>
              <a:rPr lang="en-US" sz="1800" b="1"/>
              <a:t>beings</a:t>
            </a:r>
            <a:r>
              <a:rPr lang="en-US" sz="1800"/>
              <a:t> rather than of </a:t>
            </a:r>
            <a:r>
              <a:rPr lang="en-US" sz="1800" b="1"/>
              <a:t>bodies </a:t>
            </a:r>
            <a:r>
              <a:rPr lang="en-US" sz="1800"/>
              <a:t>in space and time – than can an illiterate be persuaded that behind the material ink marks on a page is an invisible and multi-dimensional world of meaning. </a:t>
            </a:r>
          </a:p>
          <a:p>
            <a:pPr>
              <a:lnSpc>
                <a:spcPct val="90000"/>
              </a:lnSpc>
            </a:pPr>
            <a:r>
              <a:rPr lang="en-US" sz="1800"/>
              <a:t>Modern science is both literate and illiterate. Literate because it takes its own verbal concepts literally, its own theoretical models and representations of reality as reality. It is illiterate because the modern scientist has no inkling of what it means to </a:t>
            </a:r>
            <a:r>
              <a:rPr lang="en-US" sz="1800" b="1"/>
              <a:t>read </a:t>
            </a:r>
            <a:r>
              <a:rPr lang="en-US" sz="1800"/>
              <a:t>the book of nature, to truly understand natural phenomena and processes as languages. </a:t>
            </a:r>
            <a:endParaRPr lang="en-GB"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solidFill>
                  <a:srgbClr val="660066"/>
                </a:solidFill>
              </a:rPr>
              <a:t>The Myth of The Human Genome</a:t>
            </a:r>
            <a:endParaRPr lang="en-GB">
              <a:solidFill>
                <a:srgbClr val="660066"/>
              </a:solidFill>
            </a:endParaRPr>
          </a:p>
        </p:txBody>
      </p:sp>
      <p:sp>
        <p:nvSpPr>
          <p:cNvPr id="12291" name="Rectangle 3"/>
          <p:cNvSpPr>
            <a:spLocks noGrp="1" noChangeArrowheads="1"/>
          </p:cNvSpPr>
          <p:nvPr>
            <p:ph type="body" idx="1"/>
          </p:nvPr>
        </p:nvSpPr>
        <p:spPr/>
        <p:txBody>
          <a:bodyPr/>
          <a:lstStyle/>
          <a:p>
            <a:pPr>
              <a:lnSpc>
                <a:spcPct val="90000"/>
              </a:lnSpc>
            </a:pPr>
            <a:r>
              <a:rPr lang="en-GB" sz="2400"/>
              <a:t>The geneticist R.C. Lewontin has pointed out that </a:t>
            </a:r>
            <a:r>
              <a:rPr lang="en-US" sz="2400"/>
              <a:t>‘the </a:t>
            </a:r>
            <a:r>
              <a:rPr lang="en-GB" sz="2400"/>
              <a:t>human genome</a:t>
            </a:r>
            <a:r>
              <a:rPr lang="en-US" sz="2400"/>
              <a:t>’ is itself a scientific myth</a:t>
            </a:r>
            <a:r>
              <a:rPr lang="en-GB" sz="2400"/>
              <a:t>. </a:t>
            </a:r>
            <a:r>
              <a:rPr lang="en-US" sz="2400"/>
              <a:t>For e</a:t>
            </a:r>
            <a:r>
              <a:rPr lang="en-GB" sz="2400"/>
              <a:t>ach </a:t>
            </a:r>
            <a:r>
              <a:rPr lang="en-US" sz="2400"/>
              <a:t>individual’s </a:t>
            </a:r>
            <a:r>
              <a:rPr lang="en-GB" sz="2400"/>
              <a:t>DNA differs fro</a:t>
            </a:r>
            <a:r>
              <a:rPr lang="en-US" sz="2400"/>
              <a:t>m </a:t>
            </a:r>
            <a:r>
              <a:rPr lang="en-GB" sz="2400"/>
              <a:t>others by around three million nucleotides. According to Lewontin: </a:t>
            </a:r>
          </a:p>
          <a:p>
            <a:pPr>
              <a:lnSpc>
                <a:spcPct val="90000"/>
              </a:lnSpc>
              <a:buFont typeface="Wingdings" pitchFamily="2" charset="2"/>
              <a:buNone/>
            </a:pPr>
            <a:r>
              <a:rPr lang="en-GB" sz="1800" b="1"/>
              <a:t>  </a:t>
            </a:r>
            <a:r>
              <a:rPr lang="en-US" sz="1800" b="1"/>
              <a:t>     </a:t>
            </a:r>
            <a:r>
              <a:rPr lang="en-GB" sz="2000"/>
              <a:t>“The final catalogue of “the” human DNA sequence will be a mosaic of some hypothetical average person corresponding to no one.”</a:t>
            </a:r>
            <a:r>
              <a:rPr lang="en-US" sz="2000"/>
              <a:t> </a:t>
            </a:r>
            <a:r>
              <a:rPr lang="en-GB" sz="2000"/>
              <a:t>“Because there is no single, standard, “normal” DNA sequence that we all share, observed differences between sick and well people, cannot, in themselves, reveal the genetic cause of a disorder.”</a:t>
            </a:r>
            <a:r>
              <a:rPr lang="en-US" sz="2000"/>
              <a:t> “..all of us carry one copy, inherited from one parent, of mutations that would result in genetic disease if we had inherited two copies. No one is free of these, so the catalogue of the standard human genome will contain…some fatally misspelled sequences which code for defective proteints or no proteins at all.”</a:t>
            </a:r>
            <a:endParaRPr lang="en-GB" sz="2000"/>
          </a:p>
          <a:p>
            <a:pPr>
              <a:lnSpc>
                <a:spcPct val="90000"/>
              </a:lnSpc>
            </a:pPr>
            <a:endParaRPr lang="en-GB" sz="2000"/>
          </a:p>
          <a:p>
            <a:pPr>
              <a:lnSpc>
                <a:spcPct val="90000"/>
              </a:lnSpc>
            </a:pPr>
            <a:endParaRPr lang="en-GB"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solidFill>
                  <a:srgbClr val="660066"/>
                </a:solidFill>
              </a:rPr>
              <a:t>Biological Fact or </a:t>
            </a:r>
            <a:br>
              <a:rPr lang="en-US">
                <a:solidFill>
                  <a:srgbClr val="660066"/>
                </a:solidFill>
              </a:rPr>
            </a:br>
            <a:r>
              <a:rPr lang="en-US">
                <a:solidFill>
                  <a:srgbClr val="660066"/>
                </a:solidFill>
              </a:rPr>
              <a:t>Ideological Metaphor?</a:t>
            </a:r>
            <a:endParaRPr lang="en-GB">
              <a:solidFill>
                <a:srgbClr val="660066"/>
              </a:solidFill>
            </a:endParaRPr>
          </a:p>
        </p:txBody>
      </p:sp>
      <p:sp>
        <p:nvSpPr>
          <p:cNvPr id="10243" name="Rectangle 3"/>
          <p:cNvSpPr>
            <a:spLocks noGrp="1" noChangeArrowheads="1"/>
          </p:cNvSpPr>
          <p:nvPr>
            <p:ph type="body" idx="1"/>
          </p:nvPr>
        </p:nvSpPr>
        <p:spPr/>
        <p:txBody>
          <a:bodyPr/>
          <a:lstStyle/>
          <a:p>
            <a:pPr>
              <a:lnSpc>
                <a:spcPct val="90000"/>
              </a:lnSpc>
            </a:pPr>
            <a:r>
              <a:rPr lang="en-US" sz="2400"/>
              <a:t>We tends to assume that Human Genomics is based on empirically proven,</a:t>
            </a:r>
            <a:r>
              <a:rPr lang="en-US" sz="2400" b="1"/>
              <a:t> biological</a:t>
            </a:r>
            <a:r>
              <a:rPr lang="en-US" sz="2400"/>
              <a:t> </a:t>
            </a:r>
            <a:r>
              <a:rPr lang="en-US" sz="2400" b="1"/>
              <a:t>facts</a:t>
            </a:r>
            <a:r>
              <a:rPr lang="en-US" sz="2400"/>
              <a:t>, whereas in fact, its basis is false</a:t>
            </a:r>
            <a:r>
              <a:rPr lang="en-US" sz="2400" b="1"/>
              <a:t>  metaphors</a:t>
            </a:r>
            <a:r>
              <a:rPr lang="en-US" sz="2400"/>
              <a:t> then are then taken as literal ‘facts’ – in particular the linguistic metaphor of a ‘book of life’ without meaning and without an author. </a:t>
            </a:r>
          </a:p>
          <a:p>
            <a:pPr>
              <a:lnSpc>
                <a:spcPct val="90000"/>
              </a:lnSpc>
            </a:pPr>
            <a:r>
              <a:rPr lang="en-US" sz="2400"/>
              <a:t>Talk of a ‘book of life’, of genetic ‘instructions’, that are ‘read’, of cellular ‘communication’, a molecular ‘master language’ etc. belong to the sphere of </a:t>
            </a:r>
            <a:r>
              <a:rPr lang="en-US" sz="2400" b="1"/>
              <a:t>biosemiotics</a:t>
            </a:r>
            <a:r>
              <a:rPr lang="en-US" sz="2400"/>
              <a:t> the understanding of molecular structure as an autonomous </a:t>
            </a:r>
            <a:r>
              <a:rPr lang="en-US" sz="2400" b="1"/>
              <a:t>sign system</a:t>
            </a:r>
            <a:r>
              <a:rPr lang="en-US" sz="2400"/>
              <a:t> without any semantic dimension – a molecular text without any inner dimensions of meaning.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solidFill>
                  <a:srgbClr val="660066"/>
                </a:solidFill>
              </a:rPr>
              <a:t>Linguistic Fallacies of Genomics</a:t>
            </a:r>
            <a:endParaRPr lang="en-GB">
              <a:solidFill>
                <a:srgbClr val="660066"/>
              </a:solidFill>
            </a:endParaRPr>
          </a:p>
        </p:txBody>
      </p:sp>
      <p:sp>
        <p:nvSpPr>
          <p:cNvPr id="19459" name="Rectangle 3"/>
          <p:cNvSpPr>
            <a:spLocks noGrp="1" noChangeArrowheads="1"/>
          </p:cNvSpPr>
          <p:nvPr>
            <p:ph type="body" idx="1"/>
          </p:nvPr>
        </p:nvSpPr>
        <p:spPr/>
        <p:txBody>
          <a:bodyPr/>
          <a:lstStyle/>
          <a:p>
            <a:pPr>
              <a:lnSpc>
                <a:spcPct val="90000"/>
              </a:lnSpc>
            </a:pPr>
            <a:r>
              <a:rPr lang="en-US" sz="2400"/>
              <a:t>The linguistic metaphors employed in molecular biology conceal a number of basic linguistic fallacies. </a:t>
            </a:r>
          </a:p>
          <a:p>
            <a:pPr lvl="1">
              <a:lnSpc>
                <a:spcPct val="90000"/>
              </a:lnSpc>
            </a:pPr>
            <a:r>
              <a:rPr lang="en-US" sz="2000"/>
              <a:t>We can no more say that the ‘causes’ of disease lie in missing or ‘mispelled’ genetic sequences that we can say that the ‘causes’ of a poor text lies in its bad language or misspellings.</a:t>
            </a:r>
          </a:p>
          <a:p>
            <a:pPr lvl="1">
              <a:lnSpc>
                <a:spcPct val="90000"/>
              </a:lnSpc>
            </a:pPr>
            <a:r>
              <a:rPr lang="en-US" sz="2000"/>
              <a:t>We can no more predict a person’s </a:t>
            </a:r>
            <a:r>
              <a:rPr lang="en-AU" sz="2000"/>
              <a:t>behaviour</a:t>
            </a:r>
            <a:r>
              <a:rPr lang="en-US" sz="2000"/>
              <a:t> or bodily functioning by analysing their genes that we can predict what they will </a:t>
            </a:r>
            <a:r>
              <a:rPr lang="en-US" sz="2000" b="1"/>
              <a:t>say </a:t>
            </a:r>
            <a:r>
              <a:rPr lang="en-US" sz="2000"/>
              <a:t>by analysing their alphabet or vocabulary.</a:t>
            </a:r>
          </a:p>
          <a:p>
            <a:pPr lvl="1">
              <a:lnSpc>
                <a:spcPct val="90000"/>
              </a:lnSpc>
            </a:pPr>
            <a:r>
              <a:rPr lang="en-US" sz="2000"/>
              <a:t>Just as words mean different things in different contexts so are genetic ‘instructions’ read differently by the body in different molecular, cellular, organic, natural and social environments.</a:t>
            </a:r>
          </a:p>
          <a:p>
            <a:pPr lvl="1">
              <a:lnSpc>
                <a:spcPct val="90000"/>
              </a:lnSpc>
            </a:pPr>
            <a:r>
              <a:rPr lang="en-US" sz="2000"/>
              <a:t>All that genetic science can ‘prove’ is that if certain letters are missing then certain words cannot be spoken or may be physiologically ‘mispronounced’.</a:t>
            </a:r>
          </a:p>
          <a:p>
            <a:pPr>
              <a:lnSpc>
                <a:spcPct val="90000"/>
              </a:lnSpc>
            </a:pPr>
            <a:endParaRPr lang="en-GB"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solidFill>
                  <a:srgbClr val="660066"/>
                </a:solidFill>
              </a:rPr>
              <a:t>Normal and ‘Abnormal’</a:t>
            </a:r>
            <a:endParaRPr lang="en-GB"/>
          </a:p>
        </p:txBody>
      </p:sp>
      <p:sp>
        <p:nvSpPr>
          <p:cNvPr id="11267" name="Rectangle 3"/>
          <p:cNvSpPr>
            <a:spLocks noGrp="1" noChangeArrowheads="1"/>
          </p:cNvSpPr>
          <p:nvPr>
            <p:ph type="body" idx="1"/>
          </p:nvPr>
        </p:nvSpPr>
        <p:spPr/>
        <p:txBody>
          <a:bodyPr/>
          <a:lstStyle/>
          <a:p>
            <a:pPr>
              <a:lnSpc>
                <a:spcPct val="90000"/>
              </a:lnSpc>
            </a:pPr>
            <a:r>
              <a:rPr lang="en-US" sz="2400"/>
              <a:t>A language is composed of a </a:t>
            </a:r>
            <a:r>
              <a:rPr lang="en-US" sz="2400" b="1"/>
              <a:t>finite</a:t>
            </a:r>
            <a:r>
              <a:rPr lang="en-US" sz="2400"/>
              <a:t> verbal alphabet and vocabulary but grants </a:t>
            </a:r>
            <a:r>
              <a:rPr lang="en-US" sz="2400" b="1"/>
              <a:t>infinite </a:t>
            </a:r>
            <a:r>
              <a:rPr lang="en-US" sz="2400"/>
              <a:t>potentials for the expression of meaning. The purpose of words is not to ‘generate’ standard, well-formed sentences but to give form to potential meanings, in ‘unstandard’ or apparently ‘abnormal’ a way. </a:t>
            </a:r>
          </a:p>
          <a:p>
            <a:pPr>
              <a:lnSpc>
                <a:spcPct val="90000"/>
              </a:lnSpc>
            </a:pPr>
            <a:r>
              <a:rPr lang="en-US" sz="2400"/>
              <a:t>A body is  composed of a </a:t>
            </a:r>
            <a:r>
              <a:rPr lang="en-US" sz="2400" b="1"/>
              <a:t>finite</a:t>
            </a:r>
            <a:r>
              <a:rPr lang="en-US" sz="2400"/>
              <a:t> genetic alphabet and vocabulary but can give expression to </a:t>
            </a:r>
            <a:r>
              <a:rPr lang="en-US" sz="2400" b="1"/>
              <a:t>infinite </a:t>
            </a:r>
            <a:r>
              <a:rPr lang="en-US" sz="2400"/>
              <a:t>potentials and propensities of being The purpose of our genes as is not to ‘generate’ standard, ‘well-formed’ bodies and brains. It is to give bodily form to unique individual potentials and propensities of being, in however ‘unstandard’ or apparently ‘abnormal’ a way.</a:t>
            </a:r>
          </a:p>
          <a:p>
            <a:pPr>
              <a:lnSpc>
                <a:spcPct val="90000"/>
              </a:lnSpc>
              <a:buFont typeface="Wingdings" pitchFamily="2" charset="2"/>
              <a:buNone/>
            </a:pPr>
            <a:endParaRPr lang="en-GB"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solidFill>
                  <a:srgbClr val="660066"/>
                </a:solidFill>
              </a:rPr>
              <a:t>‘Normality’ and Eugenic Cleansing</a:t>
            </a:r>
            <a:endParaRPr lang="en-GB">
              <a:solidFill>
                <a:srgbClr val="660066"/>
              </a:solidFill>
            </a:endParaRPr>
          </a:p>
        </p:txBody>
      </p:sp>
      <p:sp>
        <p:nvSpPr>
          <p:cNvPr id="14339" name="Rectangle 3"/>
          <p:cNvSpPr>
            <a:spLocks noGrp="1" noChangeArrowheads="1"/>
          </p:cNvSpPr>
          <p:nvPr>
            <p:ph type="body" idx="1"/>
          </p:nvPr>
        </p:nvSpPr>
        <p:spPr/>
        <p:txBody>
          <a:bodyPr/>
          <a:lstStyle/>
          <a:p>
            <a:pPr>
              <a:lnSpc>
                <a:spcPct val="90000"/>
              </a:lnSpc>
            </a:pPr>
            <a:r>
              <a:rPr lang="en-US" sz="2400"/>
              <a:t>From the standpoint of </a:t>
            </a:r>
            <a:r>
              <a:rPr lang="en-US" sz="2400" b="1"/>
              <a:t>Human Genomics</a:t>
            </a:r>
            <a:r>
              <a:rPr lang="en-US" sz="2400"/>
              <a:t>, a Down’s syndrome child is genetically ‘abnormal’, whereas an adult President who drops nuclear bombs on Hiroshima and Nagasiki is genetically ‘normal’. </a:t>
            </a:r>
          </a:p>
          <a:p>
            <a:pPr>
              <a:lnSpc>
                <a:spcPct val="90000"/>
              </a:lnSpc>
            </a:pPr>
            <a:r>
              <a:rPr lang="en-US" sz="2400"/>
              <a:t>From the standpoint of </a:t>
            </a:r>
            <a:r>
              <a:rPr lang="en-US" sz="2400" b="1"/>
              <a:t>Human Genomics</a:t>
            </a:r>
            <a:r>
              <a:rPr lang="en-US" sz="2400"/>
              <a:t>, the human race can and should be </a:t>
            </a:r>
            <a:r>
              <a:rPr lang="en-US" sz="2400" b="1"/>
              <a:t>eugenically cleansed</a:t>
            </a:r>
            <a:r>
              <a:rPr lang="en-US" sz="2400"/>
              <a:t> of abnormalities – it is ethically acceptable not to give birth, for example, to a child with Down’s syndrome.</a:t>
            </a:r>
          </a:p>
          <a:p>
            <a:pPr>
              <a:lnSpc>
                <a:spcPct val="90000"/>
              </a:lnSpc>
            </a:pPr>
            <a:r>
              <a:rPr lang="en-US" sz="2400"/>
              <a:t>From the standpoint of </a:t>
            </a:r>
            <a:r>
              <a:rPr lang="en-US" sz="2400" b="1"/>
              <a:t>Human Ontology</a:t>
            </a:r>
            <a:r>
              <a:rPr lang="en-US" sz="2400"/>
              <a:t>, any limitation on </a:t>
            </a:r>
            <a:r>
              <a:rPr lang="en-US" sz="2400" b="1"/>
              <a:t>human</a:t>
            </a:r>
            <a:r>
              <a:rPr lang="en-US" sz="2400"/>
              <a:t> </a:t>
            </a:r>
            <a:r>
              <a:rPr lang="en-US" sz="2400" b="1"/>
              <a:t>genetic diversity</a:t>
            </a:r>
            <a:r>
              <a:rPr lang="en-US" sz="2400"/>
              <a:t> will ultimately block the</a:t>
            </a:r>
            <a:r>
              <a:rPr lang="en-US" sz="2400" b="1"/>
              <a:t> </a:t>
            </a:r>
            <a:r>
              <a:rPr lang="en-US" sz="2400"/>
              <a:t>expression of</a:t>
            </a:r>
            <a:r>
              <a:rPr lang="en-US" sz="2400" b="1"/>
              <a:t> human genetic potentials</a:t>
            </a:r>
            <a:r>
              <a:rPr lang="en-US" sz="2400"/>
              <a:t> - a race that cannot produce individuals </a:t>
            </a:r>
            <a:r>
              <a:rPr lang="en-US" sz="2400" i="1"/>
              <a:t>thought of</a:t>
            </a:r>
            <a:r>
              <a:rPr lang="en-US" sz="2400"/>
              <a:t> as ‘mad’ or ‘handicapped’ will produce no ‘genius’ either.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solidFill>
                  <a:srgbClr val="660066"/>
                </a:solidFill>
              </a:rPr>
              <a:t>A Molecular ‘Master Language’?</a:t>
            </a:r>
            <a:endParaRPr lang="en-GB">
              <a:solidFill>
                <a:srgbClr val="660066"/>
              </a:solidFill>
            </a:endParaRPr>
          </a:p>
        </p:txBody>
      </p:sp>
      <p:sp>
        <p:nvSpPr>
          <p:cNvPr id="17411" name="Rectangle 3"/>
          <p:cNvSpPr>
            <a:spLocks noGrp="1" noChangeArrowheads="1"/>
          </p:cNvSpPr>
          <p:nvPr>
            <p:ph type="body" idx="1"/>
          </p:nvPr>
        </p:nvSpPr>
        <p:spPr/>
        <p:txBody>
          <a:bodyPr/>
          <a:lstStyle/>
          <a:p>
            <a:pPr marL="457200" indent="-457200">
              <a:lnSpc>
                <a:spcPct val="90000"/>
              </a:lnSpc>
            </a:pPr>
            <a:r>
              <a:rPr lang="en-GB" sz="2400"/>
              <a:t>DNA is often compared to a molecular ‘master language’ </a:t>
            </a:r>
            <a:r>
              <a:rPr lang="en-US" sz="2400"/>
              <a:t>informing the structure of all living organisms. This is misleading comparison which reveals a basic misunderstanding of language:</a:t>
            </a:r>
          </a:p>
          <a:p>
            <a:pPr marL="457200" indent="-457200">
              <a:lnSpc>
                <a:spcPct val="90000"/>
              </a:lnSpc>
            </a:pPr>
            <a:r>
              <a:rPr lang="en-US" sz="2000"/>
              <a:t>Organisms and their biological structures, like languages and their syntactic structures, are shaped by complex </a:t>
            </a:r>
            <a:r>
              <a:rPr lang="en-US" sz="2000" b="1"/>
              <a:t>organising patterns</a:t>
            </a:r>
            <a:r>
              <a:rPr lang="en-US" sz="2000"/>
              <a:t>. These organising patterns, however, cannot be identified with their expression or representation any </a:t>
            </a:r>
            <a:r>
              <a:rPr lang="en-US" sz="2000" b="1"/>
              <a:t>one </a:t>
            </a:r>
            <a:r>
              <a:rPr lang="en-US" sz="2000"/>
              <a:t>structure or set of structures, biological or syntactic.</a:t>
            </a:r>
          </a:p>
          <a:p>
            <a:pPr marL="457200" indent="-457200">
              <a:lnSpc>
                <a:spcPct val="90000"/>
              </a:lnSpc>
            </a:pPr>
            <a:r>
              <a:rPr lang="en-US" sz="2000"/>
              <a:t>To believe that one </a:t>
            </a:r>
            <a:r>
              <a:rPr lang="en-US" sz="2000" b="1"/>
              <a:t>master molecule</a:t>
            </a:r>
            <a:r>
              <a:rPr lang="en-US" sz="2000"/>
              <a:t> in-forms all others is like believing that one </a:t>
            </a:r>
            <a:r>
              <a:rPr lang="en-US" sz="2000" b="1"/>
              <a:t>master sentence</a:t>
            </a:r>
            <a:r>
              <a:rPr lang="en-US" sz="2000"/>
              <a:t>, </a:t>
            </a:r>
            <a:r>
              <a:rPr lang="en-US" sz="2000" b="1"/>
              <a:t>master text</a:t>
            </a:r>
            <a:r>
              <a:rPr lang="en-US" sz="2000"/>
              <a:t> or </a:t>
            </a:r>
            <a:r>
              <a:rPr lang="en-US" sz="2000" b="1"/>
              <a:t>master language</a:t>
            </a:r>
            <a:r>
              <a:rPr lang="en-US" sz="2000"/>
              <a:t> can provide the</a:t>
            </a:r>
            <a:r>
              <a:rPr lang="en-US" sz="2000" b="1"/>
              <a:t> key</a:t>
            </a:r>
            <a:r>
              <a:rPr lang="en-US" sz="2000"/>
              <a:t> to understanding the structure of </a:t>
            </a:r>
            <a:r>
              <a:rPr lang="en-US" sz="2000" b="1"/>
              <a:t>all other sentences, texts and languages</a:t>
            </a:r>
            <a:r>
              <a:rPr lang="en-US" sz="2000"/>
              <a:t>. This is like claiming that one poem exists that expresses the inner nuances all others. </a:t>
            </a:r>
            <a:endParaRPr lang="en-GB"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solidFill>
                  <a:srgbClr val="660066"/>
                </a:solidFill>
              </a:rPr>
              <a:t>The New Eugenics</a:t>
            </a:r>
            <a:endParaRPr lang="en-GB">
              <a:solidFill>
                <a:srgbClr val="660066"/>
              </a:solidFill>
            </a:endParaRPr>
          </a:p>
        </p:txBody>
      </p:sp>
      <p:sp>
        <p:nvSpPr>
          <p:cNvPr id="23555" name="Rectangle 3"/>
          <p:cNvSpPr>
            <a:spLocks noGrp="1" noChangeArrowheads="1"/>
          </p:cNvSpPr>
          <p:nvPr>
            <p:ph type="body" idx="1"/>
          </p:nvPr>
        </p:nvSpPr>
        <p:spPr/>
        <p:txBody>
          <a:bodyPr/>
          <a:lstStyle/>
          <a:p>
            <a:pPr>
              <a:lnSpc>
                <a:spcPct val="90000"/>
              </a:lnSpc>
            </a:pPr>
            <a:r>
              <a:rPr lang="en-GB" sz="2400"/>
              <a:t>The idea that we can use genetic engineering or gene therapies to eliminate undesirable bodily or behavioural traits is </a:t>
            </a:r>
            <a:r>
              <a:rPr lang="en-GB" sz="2400" b="1"/>
              <a:t>eugenic</a:t>
            </a:r>
            <a:r>
              <a:rPr lang="en-GB" sz="2400"/>
              <a:t> in principle.</a:t>
            </a:r>
          </a:p>
          <a:p>
            <a:pPr>
              <a:lnSpc>
                <a:spcPct val="90000"/>
              </a:lnSpc>
            </a:pPr>
            <a:r>
              <a:rPr lang="en-GB" sz="2400"/>
              <a:t>It assumes that a world without ‘abnormalites’ such as Down’s syndrome, blindness or the hearing of voices would be a </a:t>
            </a:r>
            <a:r>
              <a:rPr lang="en-GB" sz="2400" b="1"/>
              <a:t>healthier </a:t>
            </a:r>
            <a:r>
              <a:rPr lang="en-GB" sz="2400"/>
              <a:t>world rather than an emotionally </a:t>
            </a:r>
            <a:r>
              <a:rPr lang="en-US" sz="2400"/>
              <a:t>and</a:t>
            </a:r>
            <a:r>
              <a:rPr lang="en-GB" sz="2400"/>
              <a:t> experientially </a:t>
            </a:r>
            <a:r>
              <a:rPr lang="en-GB" sz="2400" b="1"/>
              <a:t>poorer</a:t>
            </a:r>
            <a:r>
              <a:rPr lang="en-GB" sz="2400"/>
              <a:t> world. </a:t>
            </a:r>
          </a:p>
          <a:p>
            <a:pPr>
              <a:lnSpc>
                <a:spcPct val="90000"/>
              </a:lnSpc>
            </a:pPr>
            <a:r>
              <a:rPr lang="en-GB" sz="2400"/>
              <a:t>It assumes</a:t>
            </a:r>
            <a:r>
              <a:rPr lang="en-US" sz="2400"/>
              <a:t> (in contradiction to its own Darwinist principles)</a:t>
            </a:r>
            <a:r>
              <a:rPr lang="en-GB" sz="2400"/>
              <a:t> that inherited abnormalities serve no </a:t>
            </a:r>
            <a:r>
              <a:rPr lang="en-GB" sz="2400" b="1"/>
              <a:t>positive function</a:t>
            </a:r>
            <a:r>
              <a:rPr lang="en-GB" sz="2400"/>
              <a:t> in human evolution - for example </a:t>
            </a:r>
            <a:r>
              <a:rPr lang="en-US" sz="2400"/>
              <a:t>by providing a </a:t>
            </a:r>
            <a:r>
              <a:rPr lang="en-US" sz="2400" b="1"/>
              <a:t>biological </a:t>
            </a:r>
            <a:r>
              <a:rPr lang="en-GB" sz="2400"/>
              <a:t>balance to dominant </a:t>
            </a:r>
            <a:r>
              <a:rPr lang="en-GB" sz="2400" b="1"/>
              <a:t>social </a:t>
            </a:r>
            <a:r>
              <a:rPr lang="en-GB" sz="2400"/>
              <a:t>concepts of health and normality.</a:t>
            </a:r>
          </a:p>
          <a:p>
            <a:pPr>
              <a:lnSpc>
                <a:spcPct val="90000"/>
              </a:lnSpc>
              <a:buFont typeface="Wingdings" pitchFamily="2" charset="2"/>
              <a:buNone/>
            </a:pPr>
            <a:endParaRPr lang="en-GB"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solidFill>
                  <a:srgbClr val="660066"/>
                </a:solidFill>
              </a:rPr>
              <a:t>A Genomic Master Race?</a:t>
            </a:r>
            <a:endParaRPr lang="en-GB">
              <a:solidFill>
                <a:srgbClr val="660066"/>
              </a:solidFill>
            </a:endParaRPr>
          </a:p>
        </p:txBody>
      </p:sp>
      <p:sp>
        <p:nvSpPr>
          <p:cNvPr id="18435" name="Rectangle 3"/>
          <p:cNvSpPr>
            <a:spLocks noGrp="1" noChangeArrowheads="1"/>
          </p:cNvSpPr>
          <p:nvPr>
            <p:ph type="body" idx="1"/>
          </p:nvPr>
        </p:nvSpPr>
        <p:spPr/>
        <p:txBody>
          <a:bodyPr/>
          <a:lstStyle/>
          <a:p>
            <a:pPr>
              <a:lnSpc>
                <a:spcPct val="90000"/>
              </a:lnSpc>
            </a:pPr>
            <a:r>
              <a:rPr lang="en-US" sz="2400"/>
              <a:t>The implicit goal of the </a:t>
            </a:r>
            <a:r>
              <a:rPr lang="en-US" sz="2400" b="1"/>
              <a:t>Human Genome Project</a:t>
            </a:r>
            <a:r>
              <a:rPr lang="en-US" sz="2400"/>
              <a:t> is ‘eugenic cleansing’ – the elimination of undesirable bodily and behavioural traits.</a:t>
            </a:r>
          </a:p>
          <a:p>
            <a:pPr>
              <a:lnSpc>
                <a:spcPct val="90000"/>
              </a:lnSpc>
            </a:pPr>
            <a:r>
              <a:rPr lang="en-US" sz="2400"/>
              <a:t>This is tantamount to the creation of a genomic ‘master race’, genetically incapable of giving any bodily or behavioural expression to all inner dis-ease.</a:t>
            </a:r>
          </a:p>
          <a:p>
            <a:pPr>
              <a:lnSpc>
                <a:spcPct val="90000"/>
              </a:lnSpc>
            </a:pPr>
            <a:r>
              <a:rPr lang="en-US" sz="2400"/>
              <a:t>Such a ‘master race’ of ‘designer’ human beings,would were it possible to create one, actually lack an essential capacity of </a:t>
            </a:r>
            <a:r>
              <a:rPr lang="en-US" sz="2400" b="1"/>
              <a:t>human </a:t>
            </a:r>
            <a:r>
              <a:rPr lang="en-US" sz="2400"/>
              <a:t>being – the capacity to suffer dis-ease, and through suffering, discover and give birth to new potentials of being. </a:t>
            </a:r>
            <a:endParaRPr lang="en-GB"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solidFill>
                  <a:srgbClr val="660066"/>
                </a:solidFill>
              </a:rPr>
              <a:t>Dehumanising Science</a:t>
            </a:r>
            <a:endParaRPr lang="en-GB">
              <a:solidFill>
                <a:srgbClr val="660066"/>
              </a:solidFill>
            </a:endParaRPr>
          </a:p>
        </p:txBody>
      </p:sp>
      <p:sp>
        <p:nvSpPr>
          <p:cNvPr id="22531" name="Rectangle 3"/>
          <p:cNvSpPr>
            <a:spLocks noGrp="1" noChangeArrowheads="1"/>
          </p:cNvSpPr>
          <p:nvPr>
            <p:ph type="body" idx="1"/>
          </p:nvPr>
        </p:nvSpPr>
        <p:spPr/>
        <p:txBody>
          <a:bodyPr/>
          <a:lstStyle/>
          <a:p>
            <a:pPr>
              <a:lnSpc>
                <a:spcPct val="90000"/>
              </a:lnSpc>
            </a:pPr>
            <a:r>
              <a:rPr lang="en-US" sz="2000"/>
              <a:t>The piles of fused and stiffened corpses produced by the Nazi gas chambers are a potent symbol of what it means to reduce individual human beings to their bodies and reduce the latter to anonymous, dehumanised objects. Human Genomics is also inherently and essentially </a:t>
            </a:r>
            <a:r>
              <a:rPr lang="en-US" sz="2000" b="1"/>
              <a:t>dehumanising</a:t>
            </a:r>
            <a:r>
              <a:rPr lang="en-US" sz="2000"/>
              <a:t> in its basic philosophy:</a:t>
            </a:r>
          </a:p>
          <a:p>
            <a:pPr lvl="1">
              <a:lnSpc>
                <a:spcPct val="90000"/>
              </a:lnSpc>
            </a:pPr>
            <a:r>
              <a:rPr lang="en-US" sz="1800" b="1"/>
              <a:t>reducing human individuality to biological identity</a:t>
            </a:r>
          </a:p>
          <a:p>
            <a:pPr lvl="1">
              <a:lnSpc>
                <a:spcPct val="90000"/>
              </a:lnSpc>
            </a:pPr>
            <a:r>
              <a:rPr lang="en-US" sz="1800" b="1"/>
              <a:t>reducing the patient to a ‘case’ of some generic or genetic disease</a:t>
            </a:r>
          </a:p>
          <a:p>
            <a:pPr lvl="1">
              <a:lnSpc>
                <a:spcPct val="90000"/>
              </a:lnSpc>
            </a:pPr>
            <a:r>
              <a:rPr lang="en-US" sz="1800" b="1"/>
              <a:t>reducing child-bearing to gene bearing </a:t>
            </a:r>
          </a:p>
          <a:p>
            <a:pPr lvl="1">
              <a:lnSpc>
                <a:spcPct val="90000"/>
              </a:lnSpc>
            </a:pPr>
            <a:r>
              <a:rPr lang="en-US" sz="1800" b="1"/>
              <a:t>reducing women to embryo factories</a:t>
            </a:r>
          </a:p>
          <a:p>
            <a:pPr lvl="1">
              <a:lnSpc>
                <a:spcPct val="90000"/>
              </a:lnSpc>
            </a:pPr>
            <a:r>
              <a:rPr lang="en-US" sz="1800" b="1"/>
              <a:t>Reducing human and animal life to a standing reserve of genetic raw materials for standardised manufacturing processes.</a:t>
            </a:r>
          </a:p>
          <a:p>
            <a:pPr lvl="1">
              <a:lnSpc>
                <a:spcPct val="90000"/>
              </a:lnSpc>
            </a:pPr>
            <a:r>
              <a:rPr lang="en-US" sz="1800" b="1"/>
              <a:t>Turning the human being into an object of biotechnology for corporate profit. </a:t>
            </a:r>
          </a:p>
          <a:p>
            <a:pPr>
              <a:lnSpc>
                <a:spcPct val="90000"/>
              </a:lnSpc>
            </a:pPr>
            <a:endParaRPr lang="en-GB" sz="24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solidFill>
                  <a:srgbClr val="660066"/>
                </a:solidFill>
              </a:rPr>
              <a:t>Human Genomics </a:t>
            </a:r>
            <a:br>
              <a:rPr lang="en-US">
                <a:solidFill>
                  <a:srgbClr val="660066"/>
                </a:solidFill>
              </a:rPr>
            </a:br>
            <a:r>
              <a:rPr lang="en-US">
                <a:solidFill>
                  <a:srgbClr val="660066"/>
                </a:solidFill>
              </a:rPr>
              <a:t>and the Holocaust</a:t>
            </a:r>
            <a:endParaRPr lang="en-GB">
              <a:solidFill>
                <a:srgbClr val="660066"/>
              </a:solidFill>
            </a:endParaRPr>
          </a:p>
        </p:txBody>
      </p:sp>
      <p:sp>
        <p:nvSpPr>
          <p:cNvPr id="24579" name="Rectangle 3"/>
          <p:cNvSpPr>
            <a:spLocks noGrp="1" noChangeArrowheads="1"/>
          </p:cNvSpPr>
          <p:nvPr>
            <p:ph type="body" idx="1"/>
          </p:nvPr>
        </p:nvSpPr>
        <p:spPr/>
        <p:txBody>
          <a:bodyPr/>
          <a:lstStyle/>
          <a:p>
            <a:pPr>
              <a:lnSpc>
                <a:spcPct val="90000"/>
              </a:lnSpc>
            </a:pPr>
            <a:r>
              <a:rPr lang="en-US" sz="2000"/>
              <a:t>The Nazi state was the first to set as its aim the eradication of inherited diseases.</a:t>
            </a:r>
          </a:p>
          <a:p>
            <a:pPr>
              <a:lnSpc>
                <a:spcPct val="90000"/>
              </a:lnSpc>
            </a:pPr>
            <a:r>
              <a:rPr lang="en-US" sz="2000"/>
              <a:t>The Nazi state was the first to introduce universal genetic testing through ‘health courts’ with the power to enforce sterilisation. </a:t>
            </a:r>
          </a:p>
          <a:p>
            <a:pPr>
              <a:lnSpc>
                <a:spcPct val="90000"/>
              </a:lnSpc>
            </a:pPr>
            <a:r>
              <a:rPr lang="en-US" sz="2000"/>
              <a:t>Hitler did not impose an irrational racial-biological ideology on the medical profession. On the contrary, he was persuaded by leading </a:t>
            </a:r>
            <a:r>
              <a:rPr lang="en-US" sz="2000" b="1"/>
              <a:t>geneticists</a:t>
            </a:r>
            <a:r>
              <a:rPr lang="en-US" sz="2000"/>
              <a:t> such as Ernst Rudin that forced sterilisation and gas chambers were the only ‘rational solution’ to inherited disease and disability.</a:t>
            </a:r>
          </a:p>
          <a:p>
            <a:pPr>
              <a:lnSpc>
                <a:spcPct val="90000"/>
              </a:lnSpc>
            </a:pPr>
            <a:r>
              <a:rPr lang="en-US" sz="2000"/>
              <a:t>The first gas chambers built were for the disabled and those considered mentally abnormal.</a:t>
            </a:r>
          </a:p>
          <a:p>
            <a:pPr>
              <a:lnSpc>
                <a:spcPct val="90000"/>
              </a:lnSpc>
            </a:pPr>
            <a:r>
              <a:rPr lang="en-US" sz="2000"/>
              <a:t>They were the first human beings to be branded as sub-human: ‘lives not worth living’.</a:t>
            </a:r>
          </a:p>
          <a:p>
            <a:pPr>
              <a:lnSpc>
                <a:spcPct val="90000"/>
              </a:lnSpc>
            </a:pPr>
            <a:endParaRPr lang="en-GB"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solidFill>
                  <a:srgbClr val="660066"/>
                </a:solidFill>
              </a:rPr>
              <a:t>Human Genomics and</a:t>
            </a:r>
            <a:br>
              <a:rPr lang="en-US">
                <a:solidFill>
                  <a:srgbClr val="660066"/>
                </a:solidFill>
              </a:rPr>
            </a:br>
            <a:r>
              <a:rPr lang="en-US">
                <a:solidFill>
                  <a:srgbClr val="660066"/>
                </a:solidFill>
              </a:rPr>
              <a:t>Corporate Health Fascism</a:t>
            </a:r>
            <a:endParaRPr lang="en-GB">
              <a:solidFill>
                <a:srgbClr val="660066"/>
              </a:solidFill>
            </a:endParaRPr>
          </a:p>
        </p:txBody>
      </p:sp>
      <p:sp>
        <p:nvSpPr>
          <p:cNvPr id="25603" name="Rectangle 3"/>
          <p:cNvSpPr>
            <a:spLocks noGrp="1" noChangeArrowheads="1"/>
          </p:cNvSpPr>
          <p:nvPr>
            <p:ph type="body" idx="1"/>
          </p:nvPr>
        </p:nvSpPr>
        <p:spPr/>
        <p:txBody>
          <a:bodyPr/>
          <a:lstStyle/>
          <a:p>
            <a:r>
              <a:rPr lang="en-US" sz="2000"/>
              <a:t>The aim of the genomic research, like that of the Nazi state is the eradication of inherited diseases and disabilities. </a:t>
            </a:r>
          </a:p>
          <a:p>
            <a:r>
              <a:rPr lang="en-US" sz="2000"/>
              <a:t>Today it is not the state but private corporations that promote genetic testing and selection.</a:t>
            </a:r>
          </a:p>
          <a:p>
            <a:r>
              <a:rPr lang="en-US" sz="2000"/>
              <a:t>30% of US corporation already impose genetic testing. 7% select personnel according to the results of genetic testing. </a:t>
            </a:r>
          </a:p>
          <a:p>
            <a:r>
              <a:rPr lang="en-US" sz="2000"/>
              <a:t>Genomic research has opened up a new market to exploit the fears of pregnant couples, encourage genetic testing and facilitate the termination of lives deemed ‘not worth living’.</a:t>
            </a:r>
          </a:p>
          <a:p>
            <a:endParaRPr lang="en-GB"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solidFill>
                  <a:srgbClr val="660066"/>
                </a:solidFill>
              </a:rPr>
              <a:t>Health Fascism and </a:t>
            </a:r>
            <a:br>
              <a:rPr lang="en-US">
                <a:solidFill>
                  <a:srgbClr val="660066"/>
                </a:solidFill>
              </a:rPr>
            </a:br>
            <a:r>
              <a:rPr lang="en-US">
                <a:solidFill>
                  <a:srgbClr val="660066"/>
                </a:solidFill>
              </a:rPr>
              <a:t>Health Profiteering</a:t>
            </a:r>
            <a:endParaRPr lang="en-GB">
              <a:solidFill>
                <a:srgbClr val="660066"/>
              </a:solidFill>
            </a:endParaRPr>
          </a:p>
        </p:txBody>
      </p:sp>
      <p:sp>
        <p:nvSpPr>
          <p:cNvPr id="26627" name="Rectangle 3"/>
          <p:cNvSpPr>
            <a:spLocks noGrp="1" noChangeArrowheads="1"/>
          </p:cNvSpPr>
          <p:nvPr>
            <p:ph type="body" idx="1"/>
          </p:nvPr>
        </p:nvSpPr>
        <p:spPr/>
        <p:txBody>
          <a:bodyPr/>
          <a:lstStyle/>
          <a:p>
            <a:r>
              <a:rPr lang="en-GB" sz="2000"/>
              <a:t>The </a:t>
            </a:r>
            <a:r>
              <a:rPr lang="en-GB" sz="2000" b="1"/>
              <a:t>fetish</a:t>
            </a:r>
            <a:r>
              <a:rPr lang="en-GB" sz="2000"/>
              <a:t> made of health and fitness</a:t>
            </a:r>
            <a:r>
              <a:rPr lang="en-US" sz="2000"/>
              <a:t> in the media</a:t>
            </a:r>
            <a:r>
              <a:rPr lang="en-GB" sz="2000"/>
              <a:t> is</a:t>
            </a:r>
            <a:r>
              <a:rPr lang="en-US" sz="2000"/>
              <a:t> itself a</a:t>
            </a:r>
            <a:r>
              <a:rPr lang="en-GB" sz="2000"/>
              <a:t> </a:t>
            </a:r>
            <a:r>
              <a:rPr lang="en-US" sz="2000" b="1"/>
              <a:t>symptom </a:t>
            </a:r>
            <a:r>
              <a:rPr lang="en-GB" sz="2000"/>
              <a:t>of a fundamental </a:t>
            </a:r>
            <a:r>
              <a:rPr lang="en-GB" sz="2000" b="1"/>
              <a:t>sickness of society</a:t>
            </a:r>
            <a:r>
              <a:rPr lang="en-US" sz="2000"/>
              <a:t> and serves the commodification and corporate marketing of new health products.</a:t>
            </a:r>
            <a:endParaRPr lang="en-GB" sz="2000"/>
          </a:p>
          <a:p>
            <a:r>
              <a:rPr lang="en-GB" sz="2000"/>
              <a:t>The </a:t>
            </a:r>
            <a:r>
              <a:rPr lang="en-GB" sz="2000" b="1"/>
              <a:t>medicalisation</a:t>
            </a:r>
            <a:r>
              <a:rPr lang="en-GB" sz="2000"/>
              <a:t> </a:t>
            </a:r>
            <a:r>
              <a:rPr lang="en-US" sz="2000"/>
              <a:t>and </a:t>
            </a:r>
            <a:r>
              <a:rPr lang="en-US" sz="2000" b="1"/>
              <a:t>medication</a:t>
            </a:r>
            <a:r>
              <a:rPr lang="en-US" sz="2000"/>
              <a:t> </a:t>
            </a:r>
            <a:r>
              <a:rPr lang="en-GB" sz="2000"/>
              <a:t>of human dis-ease and distress and the </a:t>
            </a:r>
            <a:r>
              <a:rPr lang="en-US" sz="2000"/>
              <a:t>medical construction </a:t>
            </a:r>
            <a:r>
              <a:rPr lang="en-GB" sz="2000"/>
              <a:t>of new ‘diseases’ is the basis of </a:t>
            </a:r>
            <a:r>
              <a:rPr lang="en-US" sz="2000" b="1"/>
              <a:t>health </a:t>
            </a:r>
            <a:r>
              <a:rPr lang="en-GB" sz="2000" b="1"/>
              <a:t>profiteering</a:t>
            </a:r>
            <a:r>
              <a:rPr lang="en-GB" sz="2000"/>
              <a:t> and </a:t>
            </a:r>
            <a:r>
              <a:rPr lang="en-US" sz="2000" b="1"/>
              <a:t>health </a:t>
            </a:r>
            <a:r>
              <a:rPr lang="en-GB" sz="2000" b="1"/>
              <a:t>fascism</a:t>
            </a:r>
            <a:r>
              <a:rPr lang="en-US" sz="2000"/>
              <a:t>.</a:t>
            </a:r>
          </a:p>
          <a:p>
            <a:r>
              <a:rPr lang="en-US" sz="2000" b="1"/>
              <a:t>Health </a:t>
            </a:r>
            <a:r>
              <a:rPr lang="en-GB" sz="2000" b="1"/>
              <a:t>fascism</a:t>
            </a:r>
            <a:r>
              <a:rPr lang="en-GB" sz="2000"/>
              <a:t> is the organised promotion and/or enforcement of pharmaceutical, behavioural and genetic ‘therapies’ for disease and disorders irrespective of the underlying dis-ease they express. </a:t>
            </a:r>
            <a:endParaRPr lang="en-US" sz="2000"/>
          </a:p>
          <a:p>
            <a:r>
              <a:rPr lang="en-US" sz="2000" b="1"/>
              <a:t>Health </a:t>
            </a:r>
            <a:r>
              <a:rPr lang="en-GB" sz="2000" b="1"/>
              <a:t>profiteering</a:t>
            </a:r>
            <a:r>
              <a:rPr lang="en-GB" sz="2000"/>
              <a:t> is the transformation of human suffering into a ever-more profitable market for the corporate health industry.</a:t>
            </a:r>
          </a:p>
          <a:p>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solidFill>
                  <a:srgbClr val="660066"/>
                </a:solidFill>
              </a:rPr>
              <a:t>The Hidden Medical Holocaust</a:t>
            </a:r>
            <a:endParaRPr lang="en-GB">
              <a:solidFill>
                <a:srgbClr val="660066"/>
              </a:solidFill>
            </a:endParaRPr>
          </a:p>
        </p:txBody>
      </p:sp>
      <p:sp>
        <p:nvSpPr>
          <p:cNvPr id="27651" name="Rectangle 3"/>
          <p:cNvSpPr>
            <a:spLocks noGrp="1" noChangeArrowheads="1"/>
          </p:cNvSpPr>
          <p:nvPr>
            <p:ph type="body" idx="1"/>
          </p:nvPr>
        </p:nvSpPr>
        <p:spPr/>
        <p:txBody>
          <a:bodyPr/>
          <a:lstStyle/>
          <a:p>
            <a:pPr>
              <a:lnSpc>
                <a:spcPct val="90000"/>
              </a:lnSpc>
            </a:pPr>
            <a:r>
              <a:rPr lang="en-GB" sz="2000" b="1"/>
              <a:t>Medical treatment</a:t>
            </a:r>
            <a:r>
              <a:rPr lang="en-GB" sz="2000"/>
              <a:t> itself is one of the largest single</a:t>
            </a:r>
            <a:r>
              <a:rPr lang="en-US" sz="2000" b="1"/>
              <a:t> medical</a:t>
            </a:r>
            <a:r>
              <a:rPr lang="en-GB" sz="2000" b="1"/>
              <a:t> causes </a:t>
            </a:r>
            <a:r>
              <a:rPr lang="en-GB" sz="2000"/>
              <a:t>of death after heart disease, strokes </a:t>
            </a:r>
            <a:r>
              <a:rPr lang="en-US" sz="2000"/>
              <a:t>aids </a:t>
            </a:r>
            <a:r>
              <a:rPr lang="en-GB" sz="2000"/>
              <a:t>and cance</a:t>
            </a:r>
            <a:r>
              <a:rPr lang="en-US" sz="2000"/>
              <a:t>r. </a:t>
            </a:r>
          </a:p>
          <a:p>
            <a:pPr>
              <a:lnSpc>
                <a:spcPct val="90000"/>
              </a:lnSpc>
            </a:pPr>
            <a:r>
              <a:rPr lang="en-GB" sz="2000"/>
              <a:t>The life-expectancy of </a:t>
            </a:r>
            <a:r>
              <a:rPr lang="en-GB" sz="2000" b="1"/>
              <a:t>untreated</a:t>
            </a:r>
            <a:r>
              <a:rPr lang="en-GB" sz="2000"/>
              <a:t> cancer patients is over nine years longer than those</a:t>
            </a:r>
            <a:r>
              <a:rPr lang="en-US" sz="2000"/>
              <a:t> who are medically</a:t>
            </a:r>
            <a:r>
              <a:rPr lang="en-GB" sz="2000"/>
              <a:t> treated with chemotherapy and radiotherapy.</a:t>
            </a:r>
            <a:endParaRPr lang="en-US" sz="2000"/>
          </a:p>
          <a:p>
            <a:pPr>
              <a:lnSpc>
                <a:spcPct val="90000"/>
              </a:lnSpc>
            </a:pPr>
            <a:r>
              <a:rPr lang="en-US" sz="2000" b="1"/>
              <a:t>Vaccination</a:t>
            </a:r>
            <a:r>
              <a:rPr lang="en-US" sz="2000"/>
              <a:t> is a major cause of </a:t>
            </a:r>
            <a:r>
              <a:rPr lang="en-US" sz="2000" b="1"/>
              <a:t>immune malfunctioning</a:t>
            </a:r>
            <a:r>
              <a:rPr lang="en-US" sz="2000"/>
              <a:t>. </a:t>
            </a:r>
          </a:p>
          <a:p>
            <a:pPr>
              <a:lnSpc>
                <a:spcPct val="90000"/>
              </a:lnSpc>
            </a:pPr>
            <a:r>
              <a:rPr lang="en-GB" sz="2000" b="1"/>
              <a:t>Psychiatric</a:t>
            </a:r>
            <a:r>
              <a:rPr lang="en-US" sz="2000" b="1"/>
              <a:t> and mental health</a:t>
            </a:r>
            <a:r>
              <a:rPr lang="en-GB" sz="2000" b="1"/>
              <a:t> services</a:t>
            </a:r>
            <a:r>
              <a:rPr lang="en-GB" sz="2000"/>
              <a:t> are the largest organised dealers of addictive and brain-damaging drugs</a:t>
            </a:r>
            <a:r>
              <a:rPr lang="en-US" sz="2000"/>
              <a:t>, condemning many patients to straitjacketing with life-long ineradicable side-effects such as tardive dyskinesia. </a:t>
            </a:r>
          </a:p>
          <a:p>
            <a:pPr>
              <a:lnSpc>
                <a:spcPct val="90000"/>
              </a:lnSpc>
            </a:pPr>
            <a:r>
              <a:rPr lang="en-GB" sz="2000"/>
              <a:t>In 60-90% of cases </a:t>
            </a:r>
            <a:r>
              <a:rPr lang="en-GB" sz="2000" b="1"/>
              <a:t>placebos</a:t>
            </a:r>
            <a:r>
              <a:rPr lang="en-GB" sz="2000"/>
              <a:t> </a:t>
            </a:r>
            <a:r>
              <a:rPr lang="en-US" sz="2000"/>
              <a:t>have been shown to be</a:t>
            </a:r>
            <a:r>
              <a:rPr lang="en-GB" sz="2000"/>
              <a:t> </a:t>
            </a:r>
            <a:r>
              <a:rPr lang="en-US" sz="2000"/>
              <a:t>equally </a:t>
            </a:r>
            <a:r>
              <a:rPr lang="en-GB" sz="2000"/>
              <a:t>or more effective than pharmaceutical medications </a:t>
            </a:r>
            <a:r>
              <a:rPr lang="en-US" sz="2000"/>
              <a:t>but</a:t>
            </a:r>
            <a:r>
              <a:rPr lang="en-GB" sz="2000"/>
              <a:t> without their side-effects</a:t>
            </a:r>
            <a:r>
              <a:rPr lang="en-US" sz="2000"/>
              <a:t> – or </a:t>
            </a:r>
            <a:r>
              <a:rPr lang="en-US" sz="2000" b="1"/>
              <a:t>profitability</a:t>
            </a:r>
            <a:r>
              <a:rPr lang="en-US" sz="200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solidFill>
                  <a:srgbClr val="660066"/>
                </a:solidFill>
              </a:rPr>
              <a:t>A New Genomic Holocaust?</a:t>
            </a:r>
            <a:endParaRPr lang="en-GB">
              <a:solidFill>
                <a:srgbClr val="660066"/>
              </a:solidFill>
            </a:endParaRPr>
          </a:p>
        </p:txBody>
      </p:sp>
      <p:sp>
        <p:nvSpPr>
          <p:cNvPr id="28675" name="Rectangle 3"/>
          <p:cNvSpPr>
            <a:spLocks noGrp="1" noChangeArrowheads="1"/>
          </p:cNvSpPr>
          <p:nvPr>
            <p:ph type="body" idx="1"/>
          </p:nvPr>
        </p:nvSpPr>
        <p:spPr/>
        <p:txBody>
          <a:bodyPr/>
          <a:lstStyle/>
          <a:p>
            <a:pPr>
              <a:lnSpc>
                <a:spcPct val="90000"/>
              </a:lnSpc>
            </a:pPr>
            <a:r>
              <a:rPr lang="en-US" sz="2400"/>
              <a:t>Already gene-therapy has resulted directly in deaths of the patients treated. </a:t>
            </a:r>
          </a:p>
          <a:p>
            <a:pPr>
              <a:lnSpc>
                <a:spcPct val="90000"/>
              </a:lnSpc>
            </a:pPr>
            <a:r>
              <a:rPr lang="en-US" sz="2400"/>
              <a:t>The consequences of attempted human cloning are fraught with dangers.</a:t>
            </a:r>
          </a:p>
          <a:p>
            <a:pPr>
              <a:lnSpc>
                <a:spcPct val="90000"/>
              </a:lnSpc>
            </a:pPr>
            <a:r>
              <a:rPr lang="en-US" sz="2400"/>
              <a:t> </a:t>
            </a:r>
            <a:r>
              <a:rPr lang="en-GB" sz="2400" b="1"/>
              <a:t>“Gene implantation may affect not only the cells of our temporary bodies, our somatic cells, but the bodies of future generations through accidental changes in the germ cells of our reproductive organs….any miscalculation of the effects of the implanted DNA would be wreaked on our descendents to the remotest time.”</a:t>
            </a:r>
            <a:r>
              <a:rPr lang="en-US" sz="2400"/>
              <a:t>  </a:t>
            </a:r>
            <a:r>
              <a:rPr lang="en-GB" sz="2000"/>
              <a:t>R.C.Lewontin</a:t>
            </a:r>
            <a:endParaRPr lang="en-GB"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solidFill>
                  <a:srgbClr val="660066"/>
                </a:solidFill>
              </a:rPr>
              <a:t>Doctors of Infamy</a:t>
            </a:r>
            <a:endParaRPr lang="en-GB">
              <a:solidFill>
                <a:srgbClr val="660066"/>
              </a:solidFill>
            </a:endParaRPr>
          </a:p>
        </p:txBody>
      </p:sp>
      <p:sp>
        <p:nvSpPr>
          <p:cNvPr id="29699" name="Rectangle 3"/>
          <p:cNvSpPr>
            <a:spLocks noGrp="1" noChangeArrowheads="1"/>
          </p:cNvSpPr>
          <p:nvPr>
            <p:ph type="body" idx="1"/>
          </p:nvPr>
        </p:nvSpPr>
        <p:spPr/>
        <p:txBody>
          <a:bodyPr/>
          <a:lstStyle/>
          <a:p>
            <a:pPr>
              <a:lnSpc>
                <a:spcPct val="90000"/>
              </a:lnSpc>
              <a:spcBef>
                <a:spcPct val="50000"/>
              </a:spcBef>
              <a:buClrTx/>
              <a:buSzPct val="175000"/>
              <a:buFontTx/>
              <a:buChar char="•"/>
            </a:pPr>
            <a:r>
              <a:rPr lang="en-US" sz="2400"/>
              <a:t>In the aftermath of the Holocaust, a book entitled </a:t>
            </a:r>
            <a:r>
              <a:rPr lang="en-GB" sz="2400"/>
              <a:t>“Doctors of Infamy”</a:t>
            </a:r>
            <a:r>
              <a:rPr lang="en-US" sz="2400"/>
              <a:t> </a:t>
            </a:r>
            <a:r>
              <a:rPr lang="en-GB" sz="2400"/>
              <a:t>documented</a:t>
            </a:r>
            <a:r>
              <a:rPr lang="en-US" sz="2400"/>
              <a:t> medical abuses in the Third Reich. Amongst its conclusions was the following statement:</a:t>
            </a:r>
            <a:endParaRPr lang="en-GB" sz="2400"/>
          </a:p>
          <a:p>
            <a:pPr>
              <a:lnSpc>
                <a:spcPct val="90000"/>
              </a:lnSpc>
              <a:spcBef>
                <a:spcPct val="50000"/>
              </a:spcBef>
              <a:buClrTx/>
              <a:buSzTx/>
              <a:buFontTx/>
              <a:buNone/>
            </a:pPr>
            <a:r>
              <a:rPr lang="en-US" sz="2400" b="1">
                <a:solidFill>
                  <a:schemeClr val="tx2"/>
                </a:solidFill>
              </a:rPr>
              <a:t>    </a:t>
            </a:r>
            <a:r>
              <a:rPr lang="en-US" sz="2400">
                <a:solidFill>
                  <a:schemeClr val="tx2"/>
                </a:solidFill>
              </a:rPr>
              <a:t>“</a:t>
            </a:r>
            <a:r>
              <a:rPr lang="en-GB" sz="2400"/>
              <a:t>There is not much difference whether a human being is looked on as a ‘case’ or as a number to be tattooed on the arm. </a:t>
            </a:r>
            <a:endParaRPr lang="en-US" sz="2400"/>
          </a:p>
          <a:p>
            <a:pPr>
              <a:lnSpc>
                <a:spcPct val="90000"/>
              </a:lnSpc>
              <a:spcBef>
                <a:spcPct val="50000"/>
              </a:spcBef>
              <a:buClrTx/>
              <a:buSzTx/>
              <a:buFontTx/>
              <a:buNone/>
            </a:pPr>
            <a:r>
              <a:rPr lang="en-US" sz="2400"/>
              <a:t>    </a:t>
            </a:r>
            <a:r>
              <a:rPr lang="en-GB" sz="2400"/>
              <a:t>These are but two aspects of an age without mercy…This is the alchemy of the modern age, the transmutation of subject into object, or man into thing…</a:t>
            </a:r>
            <a:r>
              <a:rPr lang="en-US" sz="2400"/>
              <a:t>”</a:t>
            </a:r>
            <a:endParaRPr lang="en-GB" sz="2400"/>
          </a:p>
          <a:p>
            <a:pPr>
              <a:lnSpc>
                <a:spcPct val="90000"/>
              </a:lnSpc>
            </a:pPr>
            <a:endParaRPr lang="en-GB" sz="2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solidFill>
                  <a:srgbClr val="660066"/>
                </a:solidFill>
              </a:rPr>
              <a:t>Post-Holocaust Medicine</a:t>
            </a:r>
            <a:endParaRPr lang="en-GB">
              <a:solidFill>
                <a:srgbClr val="660066"/>
              </a:solidFill>
            </a:endParaRPr>
          </a:p>
        </p:txBody>
      </p:sp>
      <p:sp>
        <p:nvSpPr>
          <p:cNvPr id="30723" name="Rectangle 3"/>
          <p:cNvSpPr>
            <a:spLocks noGrp="1" noChangeArrowheads="1"/>
          </p:cNvSpPr>
          <p:nvPr>
            <p:ph type="body" idx="1"/>
          </p:nvPr>
        </p:nvSpPr>
        <p:spPr/>
        <p:txBody>
          <a:bodyPr/>
          <a:lstStyle/>
          <a:p>
            <a:pPr>
              <a:lnSpc>
                <a:spcPct val="90000"/>
              </a:lnSpc>
            </a:pPr>
            <a:r>
              <a:rPr lang="en-US" sz="2000" b="1"/>
              <a:t>Human Ontology</a:t>
            </a:r>
            <a:r>
              <a:rPr lang="en-US" sz="2000"/>
              <a:t> </a:t>
            </a:r>
            <a:r>
              <a:rPr lang="en-GB" sz="2000"/>
              <a:t>has its origins in the work of the German philosopher Martin Heidegger</a:t>
            </a:r>
            <a:r>
              <a:rPr lang="en-US" sz="2000"/>
              <a:t>.</a:t>
            </a:r>
          </a:p>
          <a:p>
            <a:pPr>
              <a:lnSpc>
                <a:spcPct val="90000"/>
              </a:lnSpc>
            </a:pPr>
            <a:r>
              <a:rPr lang="en-GB" sz="2000"/>
              <a:t>Between 1959 and 1972 the Swiss psychiatrist  Medard Boss organised a series of informal dialogues between Heidegger and a circle of physicians and psychiatrists</a:t>
            </a:r>
            <a:r>
              <a:rPr lang="en-US" sz="2000"/>
              <a:t> - </a:t>
            </a:r>
            <a:r>
              <a:rPr lang="en-GB" sz="2000"/>
              <a:t>the Zollikon Seminars. </a:t>
            </a:r>
            <a:endParaRPr lang="en-US" sz="2000"/>
          </a:p>
          <a:p>
            <a:pPr>
              <a:lnSpc>
                <a:spcPct val="90000"/>
              </a:lnSpc>
            </a:pPr>
            <a:r>
              <a:rPr lang="en-GB" sz="2000"/>
              <a:t>Their aim was to enlist Heidegger’s help in questioning the basic assumptions  </a:t>
            </a:r>
            <a:r>
              <a:rPr lang="en-US" sz="2000"/>
              <a:t>of the </a:t>
            </a:r>
            <a:r>
              <a:rPr lang="en-GB" sz="2000"/>
              <a:t>modern medical-scientific understanding of the </a:t>
            </a:r>
            <a:r>
              <a:rPr lang="en-GB" sz="2000" b="1"/>
              <a:t>human body</a:t>
            </a:r>
            <a:r>
              <a:rPr lang="en-GB" sz="2000"/>
              <a:t> and its relation to the </a:t>
            </a:r>
            <a:r>
              <a:rPr lang="en-GB" sz="2000" b="1"/>
              <a:t>human being</a:t>
            </a:r>
            <a:r>
              <a:rPr lang="en-GB" sz="2000"/>
              <a:t>. </a:t>
            </a:r>
            <a:endParaRPr lang="en-US" sz="2000"/>
          </a:p>
          <a:p>
            <a:pPr>
              <a:lnSpc>
                <a:spcPct val="90000"/>
              </a:lnSpc>
            </a:pPr>
            <a:r>
              <a:rPr lang="en-US" sz="2000"/>
              <a:t>It was Heidegger’s hope that in this way </a:t>
            </a:r>
            <a:r>
              <a:rPr lang="en-GB" sz="2000"/>
              <a:t>his </a:t>
            </a:r>
            <a:r>
              <a:rPr lang="en-US" sz="2000"/>
              <a:t>work </a:t>
            </a:r>
            <a:r>
              <a:rPr lang="en-GB" sz="2000"/>
              <a:t>would </a:t>
            </a:r>
            <a:endParaRPr lang="en-US" sz="2000"/>
          </a:p>
          <a:p>
            <a:pPr>
              <a:lnSpc>
                <a:spcPct val="90000"/>
              </a:lnSpc>
              <a:buFont typeface="Wingdings" pitchFamily="2" charset="2"/>
              <a:buNone/>
            </a:pPr>
            <a:r>
              <a:rPr lang="en-US" sz="2000" b="1"/>
              <a:t>    </a:t>
            </a:r>
            <a:r>
              <a:rPr lang="en-GB" sz="2000" b="1"/>
              <a:t>“escape the confines of the philosopher’s study and become of benefit to wider</a:t>
            </a:r>
            <a:r>
              <a:rPr lang="en-US" sz="2000" b="1"/>
              <a:t> </a:t>
            </a:r>
            <a:r>
              <a:rPr lang="en-GB" sz="2000" b="1"/>
              <a:t>circles, in particular to a large number of suffering human beings”.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solidFill>
                  <a:srgbClr val="660066"/>
                </a:solidFill>
              </a:rPr>
              <a:t>From the Zollikon Seminars</a:t>
            </a:r>
            <a:endParaRPr lang="en-GB">
              <a:solidFill>
                <a:srgbClr val="660066"/>
              </a:solidFill>
            </a:endParaRPr>
          </a:p>
        </p:txBody>
      </p:sp>
      <p:sp>
        <p:nvSpPr>
          <p:cNvPr id="31747" name="Rectangle 3"/>
          <p:cNvSpPr>
            <a:spLocks noGrp="1" noChangeArrowheads="1"/>
          </p:cNvSpPr>
          <p:nvPr>
            <p:ph type="body" idx="1"/>
          </p:nvPr>
        </p:nvSpPr>
        <p:spPr/>
        <p:txBody>
          <a:bodyPr/>
          <a:lstStyle/>
          <a:p>
            <a:pPr>
              <a:lnSpc>
                <a:spcPct val="90000"/>
              </a:lnSpc>
            </a:pPr>
            <a:r>
              <a:rPr lang="en-US" sz="2400"/>
              <a:t>According to Martin Heidegger what</a:t>
            </a:r>
            <a:r>
              <a:rPr lang="en-GB" sz="2400"/>
              <a:t> today passes as ‘science’ is</a:t>
            </a:r>
            <a:r>
              <a:rPr lang="en-US" sz="2400"/>
              <a:t>: </a:t>
            </a:r>
          </a:p>
          <a:p>
            <a:pPr>
              <a:lnSpc>
                <a:spcPct val="90000"/>
              </a:lnSpc>
              <a:buFont typeface="Wingdings" pitchFamily="2" charset="2"/>
              <a:buNone/>
            </a:pPr>
            <a:r>
              <a:rPr lang="en-US" sz="2400" b="1"/>
              <a:t>    </a:t>
            </a:r>
            <a:r>
              <a:rPr lang="en-GB" sz="2000" b="1"/>
              <a:t>“…..to a quite unimaginable degree, through and through dogmatic; dealing with un-thought-through conceptions and preconceptions. It is of the highest importance that there be thinking physicians, who are not of a mind to leave the field for the scientific technologists.”</a:t>
            </a:r>
            <a:endParaRPr lang="en-US" sz="2000" b="1"/>
          </a:p>
          <a:p>
            <a:pPr>
              <a:lnSpc>
                <a:spcPct val="90000"/>
              </a:lnSpc>
            </a:pPr>
            <a:r>
              <a:rPr lang="en-US" sz="2400"/>
              <a:t>In particular, Heidegger argued that</a:t>
            </a:r>
            <a:r>
              <a:rPr lang="en-US" sz="2400" b="1"/>
              <a:t> </a:t>
            </a:r>
            <a:r>
              <a:rPr lang="en-US" sz="2000" b="1"/>
              <a:t>“The essential realm in which biology moves can never be grounded in biology as a science..” </a:t>
            </a:r>
            <a:r>
              <a:rPr lang="en-US" sz="2400"/>
              <a:t>for this is to confuse the measurable aspects of the human body and human biology with the lived body- the human body as it is experienced from within by the human being.</a:t>
            </a:r>
            <a:endParaRPr lang="en-GB"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solidFill>
                  <a:srgbClr val="660066"/>
                </a:solidFill>
              </a:rPr>
              <a:t>Heidegger on Genetics</a:t>
            </a:r>
            <a:endParaRPr lang="en-GB">
              <a:solidFill>
                <a:srgbClr val="660066"/>
              </a:solidFill>
            </a:endParaRPr>
          </a:p>
        </p:txBody>
      </p:sp>
      <p:sp>
        <p:nvSpPr>
          <p:cNvPr id="32771" name="Rectangle 3"/>
          <p:cNvSpPr>
            <a:spLocks noGrp="1" noChangeArrowheads="1"/>
          </p:cNvSpPr>
          <p:nvPr>
            <p:ph type="body" idx="1"/>
          </p:nvPr>
        </p:nvSpPr>
        <p:spPr/>
        <p:txBody>
          <a:bodyPr/>
          <a:lstStyle/>
          <a:p>
            <a:pPr algn="just">
              <a:lnSpc>
                <a:spcPct val="90000"/>
              </a:lnSpc>
              <a:spcBef>
                <a:spcPct val="0"/>
              </a:spcBef>
              <a:buClrTx/>
              <a:buSzPct val="175000"/>
              <a:buFontTx/>
              <a:buChar char="•"/>
            </a:pPr>
            <a:r>
              <a:rPr lang="en-US" sz="2000"/>
              <a:t>Heidegger anticipated the importance that genetics would assume modern medicine, but saw in the genetic explanation of illness a failure to address a basic question - what ‘illness’ essentially is? </a:t>
            </a:r>
          </a:p>
          <a:p>
            <a:pPr algn="just">
              <a:lnSpc>
                <a:spcPct val="90000"/>
              </a:lnSpc>
              <a:spcBef>
                <a:spcPct val="0"/>
              </a:spcBef>
              <a:buClrTx/>
              <a:buSzPct val="175000"/>
              <a:buFontTx/>
              <a:buChar char="•"/>
            </a:pPr>
            <a:endParaRPr lang="en-US" sz="2000">
              <a:solidFill>
                <a:schemeClr val="hlink"/>
              </a:solidFill>
            </a:endParaRPr>
          </a:p>
          <a:p>
            <a:pPr algn="just">
              <a:lnSpc>
                <a:spcPct val="90000"/>
              </a:lnSpc>
              <a:spcBef>
                <a:spcPct val="0"/>
              </a:spcBef>
              <a:buClrTx/>
              <a:buSzTx/>
              <a:buFontTx/>
              <a:buNone/>
            </a:pPr>
            <a:r>
              <a:rPr lang="en-US" sz="1800" b="1">
                <a:solidFill>
                  <a:schemeClr val="hlink"/>
                </a:solidFill>
              </a:rPr>
              <a:t>    </a:t>
            </a:r>
            <a:r>
              <a:rPr lang="en-US" sz="1800" b="1"/>
              <a:t>“</a:t>
            </a:r>
            <a:r>
              <a:rPr lang="en-GB" sz="1800" b="1"/>
              <a:t>The significance, indeed the necessity of the genetic approach is clear to everyone. It seems self-evident. But it suffers from a deficit which is all too easil</a:t>
            </a:r>
            <a:r>
              <a:rPr lang="en-US" sz="1800" b="1"/>
              <a:t>y and therefore all too often </a:t>
            </a:r>
            <a:r>
              <a:rPr lang="en-GB" sz="1800" b="1"/>
              <a:t>overlooked. To be in a position to explain an illness genetically, we need first of all to explain what the illness in itself </a:t>
            </a:r>
            <a:r>
              <a:rPr lang="en-GB" sz="1800" b="1" u="sng"/>
              <a:t>is</a:t>
            </a:r>
            <a:r>
              <a:rPr lang="en-GB" sz="1800" b="1"/>
              <a:t>. It may be that a true understanding of the essence of an illness…prohibits all causal-genetic explanation….Those who wish to stick rigidly to genetic explanation, without first of all clarifying the essence of that which they wish to explain, can be compared to people who wish to reach a goal, without first of all bringing this goal in view. </a:t>
            </a:r>
            <a:r>
              <a:rPr lang="en-GB" sz="1800" b="1" u="sng"/>
              <a:t>All explanation reaches only so far as the explication of that which is to be explained</a:t>
            </a:r>
            <a:r>
              <a:rPr lang="en-GB" sz="1800" b="1"/>
              <a:t>.</a:t>
            </a:r>
            <a:r>
              <a:rPr lang="en-US" sz="1800" b="1"/>
              <a:t>”</a:t>
            </a:r>
            <a:endParaRPr lang="en-GB" sz="1800" b="1"/>
          </a:p>
          <a:p>
            <a:pPr>
              <a:lnSpc>
                <a:spcPct val="90000"/>
              </a:lnSpc>
              <a:buFont typeface="Wingdings" pitchFamily="2" charset="2"/>
              <a:buNone/>
            </a:pPr>
            <a:endParaRPr lang="en-GB" sz="18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solidFill>
                  <a:srgbClr val="660066"/>
                </a:solidFill>
              </a:rPr>
              <a:t>What is ‘Illness’ ?</a:t>
            </a:r>
            <a:endParaRPr lang="en-GB">
              <a:solidFill>
                <a:srgbClr val="660066"/>
              </a:solidFill>
            </a:endParaRPr>
          </a:p>
        </p:txBody>
      </p:sp>
      <p:sp>
        <p:nvSpPr>
          <p:cNvPr id="35843" name="Rectangle 3"/>
          <p:cNvSpPr>
            <a:spLocks noGrp="1" noChangeArrowheads="1"/>
          </p:cNvSpPr>
          <p:nvPr>
            <p:ph type="body" idx="1"/>
          </p:nvPr>
        </p:nvSpPr>
        <p:spPr>
          <a:xfrm>
            <a:off x="914400" y="2362200"/>
            <a:ext cx="8001000" cy="4114800"/>
          </a:xfrm>
        </p:spPr>
        <p:txBody>
          <a:bodyPr/>
          <a:lstStyle/>
          <a:p>
            <a:pPr>
              <a:lnSpc>
                <a:spcPct val="90000"/>
              </a:lnSpc>
            </a:pPr>
            <a:r>
              <a:rPr lang="en-US" sz="2000"/>
              <a:t>We cannot explain the ‘causes’ of illness without asking the more basic question: what </a:t>
            </a:r>
            <a:r>
              <a:rPr lang="en-US" sz="2000" b="1"/>
              <a:t>is</a:t>
            </a:r>
            <a:r>
              <a:rPr lang="en-US" sz="2000"/>
              <a:t> illness? The question “what is illness” cannot be answered without distinguishing its measurable and immeasurable dimensions.</a:t>
            </a:r>
          </a:p>
          <a:p>
            <a:pPr>
              <a:lnSpc>
                <a:spcPct val="90000"/>
              </a:lnSpc>
            </a:pPr>
            <a:r>
              <a:rPr lang="en-US" sz="2000"/>
              <a:t>Medical diagnosis and treatment depends entirely on </a:t>
            </a:r>
            <a:r>
              <a:rPr lang="en-US" sz="2000" b="1"/>
              <a:t>measurable </a:t>
            </a:r>
            <a:r>
              <a:rPr lang="en-US" sz="2000"/>
              <a:t>aspects of the patient’s bodily functioning. This is a relatively new phenomena – at the time of the French Revolution physicians who begin to introduce methods of measurement such as thermometry were regarded as quacks. </a:t>
            </a:r>
          </a:p>
          <a:p>
            <a:pPr>
              <a:lnSpc>
                <a:spcPct val="90000"/>
              </a:lnSpc>
            </a:pPr>
            <a:r>
              <a:rPr lang="en-US" sz="2000"/>
              <a:t>Blood pressure can be measured but not life pressures. Heart functioning can be measured but not </a:t>
            </a:r>
            <a:r>
              <a:rPr lang="en-US" sz="2000" b="1"/>
              <a:t>loss of heart or</a:t>
            </a:r>
            <a:r>
              <a:rPr lang="en-US" sz="2000"/>
              <a:t> </a:t>
            </a:r>
            <a:r>
              <a:rPr lang="en-US" sz="2000" b="1"/>
              <a:t>heartbreak, heartlessness or disheartenment</a:t>
            </a:r>
            <a:r>
              <a:rPr lang="en-US" sz="2000"/>
              <a:t>. The patient’s</a:t>
            </a:r>
            <a:r>
              <a:rPr lang="en-US" sz="2000" b="1"/>
              <a:t> experience</a:t>
            </a:r>
            <a:r>
              <a:rPr lang="en-US" sz="2000"/>
              <a:t> of dis-ease, in the form of pain of discomfort, emotional distress or depression, is not in itself anything </a:t>
            </a:r>
            <a:r>
              <a:rPr lang="en-US" sz="2000" b="1"/>
              <a:t>measurable</a:t>
            </a:r>
            <a:r>
              <a:rPr lang="en-US" sz="200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solidFill>
                  <a:srgbClr val="660066"/>
                </a:solidFill>
              </a:rPr>
              <a:t>The Limits of Measurement</a:t>
            </a:r>
            <a:endParaRPr lang="en-GB">
              <a:solidFill>
                <a:srgbClr val="660066"/>
              </a:solidFill>
            </a:endParaRPr>
          </a:p>
        </p:txBody>
      </p:sp>
      <p:sp>
        <p:nvSpPr>
          <p:cNvPr id="36867" name="Rectangle 3"/>
          <p:cNvSpPr>
            <a:spLocks noGrp="1" noChangeArrowheads="1"/>
          </p:cNvSpPr>
          <p:nvPr>
            <p:ph type="body" idx="1"/>
          </p:nvPr>
        </p:nvSpPr>
        <p:spPr/>
        <p:txBody>
          <a:bodyPr/>
          <a:lstStyle/>
          <a:p>
            <a:r>
              <a:rPr lang="en-US" sz="2000" b="1"/>
              <a:t>“How does one measure grief? Obviously we cannot measure it at all. Why not? Were we to apply a method of measurement to grief, this would go against the meaning of grief and we would rule out in advance the grief as grief.”</a:t>
            </a:r>
            <a:r>
              <a:rPr lang="en-US" sz="2000"/>
              <a:t> </a:t>
            </a:r>
          </a:p>
          <a:p>
            <a:pPr>
              <a:buFont typeface="Wingdings" pitchFamily="2" charset="2"/>
              <a:buNone/>
            </a:pPr>
            <a:r>
              <a:rPr lang="en-US" sz="2000" b="1"/>
              <a:t>    </a:t>
            </a:r>
            <a:r>
              <a:rPr lang="en-US" sz="2000"/>
              <a:t>Martin Heidegger</a:t>
            </a:r>
          </a:p>
          <a:p>
            <a:pPr>
              <a:buFont typeface="Wingdings" pitchFamily="2" charset="2"/>
              <a:buNone/>
            </a:pPr>
            <a:endParaRPr lang="en-US" sz="2000"/>
          </a:p>
          <a:p>
            <a:r>
              <a:rPr lang="en-US" sz="2000" b="1"/>
              <a:t>“One cannot measure tears; rather when one measure one measures at best a fluid and its drops but not tears….To what do tears belong? Are they something somatic or something psychic? Neither one nor the other.”   </a:t>
            </a:r>
          </a:p>
          <a:p>
            <a:pPr>
              <a:buFont typeface="Wingdings" pitchFamily="2" charset="2"/>
              <a:buNone/>
            </a:pPr>
            <a:r>
              <a:rPr lang="en-US" sz="2000" b="1"/>
              <a:t>     </a:t>
            </a:r>
            <a:r>
              <a:rPr lang="en-US" sz="2000"/>
              <a:t>Martin Heidegger</a:t>
            </a:r>
            <a:endParaRPr lang="en-GB" sz="2000"/>
          </a:p>
          <a:p>
            <a:endParaRPr lang="en-GB"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solidFill>
                  <a:srgbClr val="660066"/>
                </a:solidFill>
              </a:rPr>
              <a:t>The Denial of Meaning</a:t>
            </a:r>
            <a:endParaRPr lang="en-GB">
              <a:solidFill>
                <a:srgbClr val="660066"/>
              </a:solidFill>
            </a:endParaRPr>
          </a:p>
        </p:txBody>
      </p:sp>
      <p:sp>
        <p:nvSpPr>
          <p:cNvPr id="37891" name="Rectangle 3"/>
          <p:cNvSpPr>
            <a:spLocks noGrp="1" noChangeArrowheads="1"/>
          </p:cNvSpPr>
          <p:nvPr>
            <p:ph type="body" idx="1"/>
          </p:nvPr>
        </p:nvSpPr>
        <p:spPr/>
        <p:txBody>
          <a:bodyPr/>
          <a:lstStyle/>
          <a:p>
            <a:pPr>
              <a:lnSpc>
                <a:spcPct val="90000"/>
              </a:lnSpc>
            </a:pPr>
            <a:r>
              <a:rPr lang="en-US" sz="2000"/>
              <a:t>The patient’s experience of dis-ease - of distress, discomfort or despair - is the </a:t>
            </a:r>
            <a:r>
              <a:rPr lang="en-US" sz="2000" b="1"/>
              <a:t>immeasurable</a:t>
            </a:r>
            <a:r>
              <a:rPr lang="en-US" sz="2000"/>
              <a:t> dimension of illness, one which always bears with it a specific </a:t>
            </a:r>
            <a:r>
              <a:rPr lang="en-US" sz="2000" b="1"/>
              <a:t>meaning</a:t>
            </a:r>
            <a:r>
              <a:rPr lang="en-US" sz="2000"/>
              <a:t> for the patient. </a:t>
            </a:r>
          </a:p>
          <a:p>
            <a:pPr>
              <a:lnSpc>
                <a:spcPct val="90000"/>
              </a:lnSpc>
            </a:pPr>
            <a:r>
              <a:rPr lang="en-US" sz="2000"/>
              <a:t>The central, most axiomatic assumption on which medical theory and practice is that </a:t>
            </a:r>
            <a:r>
              <a:rPr lang="en-US" sz="2000" b="1"/>
              <a:t>illness has no meaning</a:t>
            </a:r>
            <a:r>
              <a:rPr lang="en-US" sz="2000"/>
              <a:t>. </a:t>
            </a:r>
          </a:p>
          <a:p>
            <a:pPr>
              <a:lnSpc>
                <a:spcPct val="90000"/>
              </a:lnSpc>
            </a:pPr>
            <a:r>
              <a:rPr lang="en-US" sz="2000"/>
              <a:t>The axiom of </a:t>
            </a:r>
            <a:r>
              <a:rPr lang="en-US" sz="2000" b="1"/>
              <a:t>no meaning</a:t>
            </a:r>
            <a:r>
              <a:rPr lang="en-US" sz="2000"/>
              <a:t> runs directly contrary to human experience of illness – which always arises at specific times in our lives, in a specific existential context, and always has a particular significance for us in that context, affecting our lives in specific ways. </a:t>
            </a:r>
          </a:p>
          <a:p>
            <a:pPr>
              <a:lnSpc>
                <a:spcPct val="90000"/>
              </a:lnSpc>
            </a:pPr>
            <a:r>
              <a:rPr lang="en-US" sz="2000"/>
              <a:t>Different people experiences the same outward symptoms in different ways. Just as the same words and symbols </a:t>
            </a:r>
            <a:r>
              <a:rPr lang="en-US" sz="2000" b="1"/>
              <a:t>express </a:t>
            </a:r>
            <a:r>
              <a:rPr lang="en-US" sz="2000"/>
              <a:t>different meanings for different people, so do the same symptoms also </a:t>
            </a:r>
            <a:r>
              <a:rPr lang="en-US" sz="2000" b="1"/>
              <a:t>embody</a:t>
            </a:r>
            <a:r>
              <a:rPr lang="en-US" sz="2000"/>
              <a:t> different meanings for different people.</a:t>
            </a:r>
            <a:r>
              <a:rPr lang="en-US" sz="1800"/>
              <a:t> </a:t>
            </a:r>
            <a:endParaRPr lang="en-GB" sz="1800"/>
          </a:p>
          <a:p>
            <a:pPr>
              <a:lnSpc>
                <a:spcPct val="90000"/>
              </a:lnSpc>
            </a:pPr>
            <a:endParaRPr lang="en-GB"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solidFill>
                  <a:srgbClr val="660066"/>
                </a:solidFill>
              </a:rPr>
              <a:t>Psychiatric Psychosis</a:t>
            </a:r>
            <a:endParaRPr lang="en-GB">
              <a:solidFill>
                <a:srgbClr val="660066"/>
              </a:solidFill>
            </a:endParaRPr>
          </a:p>
        </p:txBody>
      </p:sp>
      <p:sp>
        <p:nvSpPr>
          <p:cNvPr id="39939" name="Rectangle 3"/>
          <p:cNvSpPr>
            <a:spLocks noGrp="1" noChangeArrowheads="1"/>
          </p:cNvSpPr>
          <p:nvPr>
            <p:ph type="body" idx="1"/>
          </p:nvPr>
        </p:nvSpPr>
        <p:spPr/>
        <p:txBody>
          <a:bodyPr/>
          <a:lstStyle/>
          <a:p>
            <a:pPr>
              <a:lnSpc>
                <a:spcPct val="90000"/>
              </a:lnSpc>
            </a:pPr>
            <a:r>
              <a:rPr lang="en-US" sz="2000"/>
              <a:t>A individual who takes his own fantasies as literal truth - believing for example that there is a bomb in his belly is regarded as psychotic. </a:t>
            </a:r>
          </a:p>
          <a:p>
            <a:pPr>
              <a:lnSpc>
                <a:spcPct val="90000"/>
              </a:lnSpc>
            </a:pPr>
            <a:r>
              <a:rPr lang="en-US" sz="2000"/>
              <a:t>A psychiatrist who takes his own words as names for actually existing things – seeing ‘depression’ for example as a chemical imbalance in the brain – is regarded as normal, even though there is not a shred of evidence to support this fantasy.</a:t>
            </a:r>
          </a:p>
          <a:p>
            <a:pPr>
              <a:lnSpc>
                <a:spcPct val="90000"/>
              </a:lnSpc>
            </a:pPr>
            <a:r>
              <a:rPr lang="en-US" sz="2000"/>
              <a:t>Both the </a:t>
            </a:r>
            <a:r>
              <a:rPr lang="en-US" sz="2000" b="1"/>
              <a:t>psychotic</a:t>
            </a:r>
            <a:r>
              <a:rPr lang="en-US" sz="2000"/>
              <a:t> and the </a:t>
            </a:r>
            <a:r>
              <a:rPr lang="en-US" sz="2000" b="1"/>
              <a:t>psychiatrist</a:t>
            </a:r>
            <a:r>
              <a:rPr lang="en-US" sz="2000"/>
              <a:t> adopt a </a:t>
            </a:r>
            <a:r>
              <a:rPr lang="en-US" sz="2000" b="1"/>
              <a:t>paranoid </a:t>
            </a:r>
            <a:r>
              <a:rPr lang="en-US" sz="2000"/>
              <a:t>explanation of illness, attributing its cause to a ‘bad object’.</a:t>
            </a:r>
          </a:p>
          <a:p>
            <a:pPr lvl="1">
              <a:lnSpc>
                <a:spcPct val="90000"/>
              </a:lnSpc>
            </a:pPr>
            <a:r>
              <a:rPr lang="en-US" sz="2000"/>
              <a:t>The psychotic explains his own fears as a result of some ‘thing’. the bomb in his belly. </a:t>
            </a:r>
          </a:p>
          <a:p>
            <a:pPr lvl="1">
              <a:lnSpc>
                <a:spcPct val="90000"/>
              </a:lnSpc>
            </a:pPr>
            <a:r>
              <a:rPr lang="en-US" sz="2000"/>
              <a:t>The psychiatrist explains another person’s unhappiness as the result of some thing, a chemical imbalance in the patient’s brain.</a:t>
            </a:r>
            <a:endParaRPr lang="en-GB"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solidFill>
                  <a:srgbClr val="660066"/>
                </a:solidFill>
              </a:rPr>
              <a:t>Language, Meaning and Being</a:t>
            </a:r>
            <a:endParaRPr lang="en-GB">
              <a:solidFill>
                <a:srgbClr val="660066"/>
              </a:solidFill>
            </a:endParaRPr>
          </a:p>
        </p:txBody>
      </p:sp>
      <p:sp>
        <p:nvSpPr>
          <p:cNvPr id="38915" name="Rectangle 3"/>
          <p:cNvSpPr>
            <a:spLocks noGrp="1" noChangeArrowheads="1"/>
          </p:cNvSpPr>
          <p:nvPr>
            <p:ph type="body" idx="1"/>
          </p:nvPr>
        </p:nvSpPr>
        <p:spPr/>
        <p:txBody>
          <a:bodyPr/>
          <a:lstStyle/>
          <a:p>
            <a:pPr>
              <a:lnSpc>
                <a:spcPct val="90000"/>
              </a:lnSpc>
            </a:pPr>
            <a:r>
              <a:rPr lang="en-US" sz="2000"/>
              <a:t>The denial that it has any meaning is an expression of bio-ontological basis of modern medicine – the assumption that it is bodies or brains that get ill rather than human beings. </a:t>
            </a:r>
          </a:p>
          <a:p>
            <a:pPr>
              <a:lnSpc>
                <a:spcPct val="90000"/>
              </a:lnSpc>
            </a:pPr>
            <a:r>
              <a:rPr lang="en-US" sz="2000"/>
              <a:t>The medical focus on use of X-rays and blood test to determine the measurable dimensions of disease is equivalent to subjecting a person’s utterances to detailed phonological or linguistic analysis without any attention to their meaning - to what they are </a:t>
            </a:r>
            <a:r>
              <a:rPr lang="en-US" sz="2000" b="1"/>
              <a:t>saying</a:t>
            </a:r>
            <a:r>
              <a:rPr lang="en-US" sz="2000"/>
              <a:t>.</a:t>
            </a:r>
          </a:p>
          <a:p>
            <a:pPr>
              <a:lnSpc>
                <a:spcPct val="90000"/>
              </a:lnSpc>
            </a:pPr>
            <a:r>
              <a:rPr lang="en-US" sz="2000"/>
              <a:t>Reducing illness to a thing is equivalent to reducing the written or spoken word to a thing – a measurable physical phenomena. </a:t>
            </a:r>
          </a:p>
          <a:p>
            <a:pPr>
              <a:lnSpc>
                <a:spcPct val="90000"/>
              </a:lnSpc>
            </a:pPr>
            <a:r>
              <a:rPr lang="en-US" sz="2000"/>
              <a:t>Medical science is a prime example of </a:t>
            </a:r>
            <a:r>
              <a:rPr lang="en-US" sz="2000" b="1"/>
              <a:t>scientific literalism</a:t>
            </a:r>
            <a:r>
              <a:rPr lang="en-US" sz="2000"/>
              <a:t>: taking diagnostic labels as words for actual ‘things’ – disease entities - whilst at the same failing to understand the symptoms of illness as words, as bearers of meaning and not just as things.  </a:t>
            </a:r>
            <a:endParaRPr lang="en-GB" sz="2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solidFill>
                  <a:srgbClr val="660066"/>
                </a:solidFill>
              </a:rPr>
              <a:t>Illegitimate Medical Causes</a:t>
            </a:r>
            <a:endParaRPr lang="en-GB">
              <a:solidFill>
                <a:srgbClr val="660066"/>
              </a:solidFill>
            </a:endParaRPr>
          </a:p>
        </p:txBody>
      </p:sp>
      <p:sp>
        <p:nvSpPr>
          <p:cNvPr id="34819" name="Rectangle 3"/>
          <p:cNvSpPr>
            <a:spLocks noGrp="1" noChangeArrowheads="1"/>
          </p:cNvSpPr>
          <p:nvPr>
            <p:ph type="body" idx="1"/>
          </p:nvPr>
        </p:nvSpPr>
        <p:spPr/>
        <p:txBody>
          <a:bodyPr/>
          <a:lstStyle/>
          <a:p>
            <a:pPr>
              <a:lnSpc>
                <a:spcPct val="90000"/>
              </a:lnSpc>
            </a:pPr>
            <a:r>
              <a:rPr lang="en-GB" sz="2000"/>
              <a:t>The fact that a particular bacillus is always present with a particular illness does not prove that </a:t>
            </a:r>
            <a:r>
              <a:rPr lang="en-US" sz="2000"/>
              <a:t>it </a:t>
            </a:r>
            <a:r>
              <a:rPr lang="en-GB" sz="2000" b="1"/>
              <a:t>cause</a:t>
            </a:r>
            <a:r>
              <a:rPr lang="en-US" sz="2000" b="1"/>
              <a:t>s</a:t>
            </a:r>
            <a:r>
              <a:rPr lang="en-GB" sz="2000"/>
              <a:t> the illness. </a:t>
            </a:r>
          </a:p>
          <a:p>
            <a:pPr>
              <a:lnSpc>
                <a:spcPct val="90000"/>
              </a:lnSpc>
            </a:pPr>
            <a:r>
              <a:rPr lang="en-GB" sz="2000"/>
              <a:t>Most major infectious diseases such as tuberculosis declined in the 19th century</a:t>
            </a:r>
            <a:r>
              <a:rPr lang="en-US" sz="2000"/>
              <a:t> </a:t>
            </a:r>
            <a:r>
              <a:rPr lang="en-GB" sz="2000"/>
              <a:t>due to improvements in </a:t>
            </a:r>
            <a:r>
              <a:rPr lang="en-US" sz="2000"/>
              <a:t>housing and </a:t>
            </a:r>
            <a:r>
              <a:rPr lang="en-GB" sz="2000"/>
              <a:t>nutrition</a:t>
            </a:r>
            <a:r>
              <a:rPr lang="en-US" sz="2000"/>
              <a:t> – </a:t>
            </a:r>
            <a:r>
              <a:rPr lang="en-GB" sz="2000"/>
              <a:t>well before the germ theory of disease</a:t>
            </a:r>
            <a:r>
              <a:rPr lang="en-US" sz="2000"/>
              <a:t> </a:t>
            </a:r>
            <a:r>
              <a:rPr lang="en-US" sz="2000" b="1"/>
              <a:t>causation</a:t>
            </a:r>
            <a:r>
              <a:rPr lang="en-GB" sz="2000"/>
              <a:t> was invented and antibiotics discovered</a:t>
            </a:r>
            <a:r>
              <a:rPr lang="en-US" sz="2000"/>
              <a:t>.</a:t>
            </a:r>
          </a:p>
          <a:p>
            <a:pPr>
              <a:lnSpc>
                <a:spcPct val="90000"/>
              </a:lnSpc>
            </a:pPr>
            <a:r>
              <a:rPr lang="en-GB" sz="2000"/>
              <a:t>Most cardiovascular diseases and cancers are not </a:t>
            </a:r>
            <a:r>
              <a:rPr lang="en-GB" sz="2000" b="1"/>
              <a:t>caused</a:t>
            </a:r>
            <a:r>
              <a:rPr lang="en-GB" sz="2000"/>
              <a:t> either by viruses or defective genes.</a:t>
            </a:r>
          </a:p>
          <a:p>
            <a:pPr>
              <a:lnSpc>
                <a:spcPct val="90000"/>
              </a:lnSpc>
            </a:pPr>
            <a:r>
              <a:rPr lang="en-GB" sz="2000"/>
              <a:t>Only</a:t>
            </a:r>
            <a:r>
              <a:rPr lang="en-US" sz="2000"/>
              <a:t> a few</a:t>
            </a:r>
            <a:r>
              <a:rPr lang="en-GB" sz="2000"/>
              <a:t> rare diseases are clearly linked to defective genes. Yet no explanation exist for how these genes </a:t>
            </a:r>
            <a:r>
              <a:rPr lang="en-GB" sz="2000" b="1"/>
              <a:t>cause </a:t>
            </a:r>
            <a:r>
              <a:rPr lang="en-GB" sz="2000"/>
              <a:t>the diseases.</a:t>
            </a:r>
          </a:p>
          <a:p>
            <a:pPr>
              <a:lnSpc>
                <a:spcPct val="90000"/>
              </a:lnSpc>
            </a:pPr>
            <a:r>
              <a:rPr lang="en-GB" sz="2000"/>
              <a:t>The relation between genes and protein production is a </a:t>
            </a:r>
            <a:r>
              <a:rPr lang="en-US" sz="2000"/>
              <a:t>reciprocal or </a:t>
            </a:r>
            <a:r>
              <a:rPr lang="en-GB" sz="2000" b="1"/>
              <a:t>dialectical</a:t>
            </a:r>
            <a:r>
              <a:rPr lang="en-GB" sz="2000"/>
              <a:t> relation and not a relation of</a:t>
            </a:r>
            <a:r>
              <a:rPr lang="en-US" sz="2000"/>
              <a:t> linear</a:t>
            </a:r>
            <a:r>
              <a:rPr lang="en-GB" sz="2000"/>
              <a:t> one-way </a:t>
            </a:r>
            <a:r>
              <a:rPr lang="en-GB" sz="2000" b="1"/>
              <a:t>causa</a:t>
            </a:r>
            <a:r>
              <a:rPr lang="en-US" sz="2000" b="1"/>
              <a:t>tion</a:t>
            </a:r>
            <a:r>
              <a:rPr lang="en-US" sz="2000"/>
              <a:t>. </a:t>
            </a:r>
          </a:p>
          <a:p>
            <a:pPr>
              <a:lnSpc>
                <a:spcPct val="90000"/>
              </a:lnSpc>
            </a:pPr>
            <a:endParaRPr lang="en-GB"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solidFill>
                  <a:srgbClr val="660066"/>
                </a:solidFill>
              </a:rPr>
              <a:t>Beyond Causality</a:t>
            </a:r>
            <a:endParaRPr lang="en-GB">
              <a:solidFill>
                <a:srgbClr val="660066"/>
              </a:solidFill>
            </a:endParaRPr>
          </a:p>
        </p:txBody>
      </p:sp>
      <p:sp>
        <p:nvSpPr>
          <p:cNvPr id="33795" name="Rectangle 3"/>
          <p:cNvSpPr>
            <a:spLocks noGrp="1" noChangeArrowheads="1"/>
          </p:cNvSpPr>
          <p:nvPr>
            <p:ph type="body" idx="1"/>
          </p:nvPr>
        </p:nvSpPr>
        <p:spPr/>
        <p:txBody>
          <a:bodyPr/>
          <a:lstStyle/>
          <a:p>
            <a:pPr marL="457200" indent="-457200">
              <a:lnSpc>
                <a:spcPct val="90000"/>
              </a:lnSpc>
            </a:pPr>
            <a:r>
              <a:rPr lang="en-US" sz="2400"/>
              <a:t>Causal explanations of illness are the major sources of legitimisation of medical theory and practice. </a:t>
            </a:r>
          </a:p>
          <a:p>
            <a:pPr marL="457200" indent="-457200">
              <a:lnSpc>
                <a:spcPct val="90000"/>
              </a:lnSpc>
            </a:pPr>
            <a:r>
              <a:rPr lang="en-US" sz="2400"/>
              <a:t>The causal model of explanation can be challenged on a number of grounds:</a:t>
            </a:r>
          </a:p>
          <a:p>
            <a:pPr marL="838200" lvl="1" indent="-381000">
              <a:lnSpc>
                <a:spcPct val="90000"/>
              </a:lnSpc>
              <a:buFontTx/>
              <a:buAutoNum type="arabicPeriod"/>
            </a:pPr>
            <a:r>
              <a:rPr lang="en-US" sz="2000"/>
              <a:t>It fails to distinguish between measurable aspects of disease and its immeasurable dimensions - the patient’s inner experience of dis-ease and the meaning it holds for them.</a:t>
            </a:r>
          </a:p>
          <a:p>
            <a:pPr marL="838200" lvl="1" indent="-381000">
              <a:lnSpc>
                <a:spcPct val="90000"/>
              </a:lnSpc>
              <a:buFontTx/>
              <a:buAutoNum type="arabicPeriod"/>
            </a:pPr>
            <a:r>
              <a:rPr lang="en-US" sz="2000"/>
              <a:t>It posits the existence of distinct disease entities, assuming that just because we have word for a disease, the latter denotes an actual ‘thing’. </a:t>
            </a:r>
          </a:p>
          <a:p>
            <a:pPr marL="838200" lvl="1" indent="-381000">
              <a:lnSpc>
                <a:spcPct val="90000"/>
              </a:lnSpc>
              <a:buFontTx/>
              <a:buAutoNum type="arabicPeriod"/>
            </a:pPr>
            <a:r>
              <a:rPr lang="en-US" sz="2000"/>
              <a:t>It fails to explain why the supposed ‘causes’ of particular illnesses do not bring about the same results in in different individuals – why specific individuals do not get cancer from smoking or do not get infected during epidemics.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solidFill>
                  <a:srgbClr val="660066"/>
                </a:solidFill>
              </a:rPr>
              <a:t>Physics and Phenomenology</a:t>
            </a:r>
            <a:endParaRPr lang="en-GB">
              <a:solidFill>
                <a:srgbClr val="660066"/>
              </a:solidFill>
            </a:endParaRPr>
          </a:p>
        </p:txBody>
      </p:sp>
      <p:sp>
        <p:nvSpPr>
          <p:cNvPr id="40963" name="Rectangle 3"/>
          <p:cNvSpPr>
            <a:spLocks noGrp="1" noChangeArrowheads="1"/>
          </p:cNvSpPr>
          <p:nvPr>
            <p:ph type="body" idx="1"/>
          </p:nvPr>
        </p:nvSpPr>
        <p:spPr/>
        <p:txBody>
          <a:bodyPr/>
          <a:lstStyle/>
          <a:p>
            <a:pPr>
              <a:lnSpc>
                <a:spcPct val="90000"/>
              </a:lnSpc>
            </a:pPr>
            <a:r>
              <a:rPr lang="en-US" sz="2000" b="1"/>
              <a:t>Physical science</a:t>
            </a:r>
            <a:r>
              <a:rPr lang="en-US" sz="2000"/>
              <a:t> and physical-scientific approaches to medicine assume a world of pre-given ‘things’ independent of our own awareness of them.</a:t>
            </a:r>
          </a:p>
          <a:p>
            <a:pPr>
              <a:lnSpc>
                <a:spcPct val="90000"/>
              </a:lnSpc>
            </a:pPr>
            <a:r>
              <a:rPr lang="en-US" sz="2000"/>
              <a:t>It is based on a belief in miracles – the miraculous emergence of aware beings from an otherwise non-aware universe of bodies in space and time. </a:t>
            </a:r>
          </a:p>
          <a:p>
            <a:pPr>
              <a:lnSpc>
                <a:spcPct val="90000"/>
              </a:lnSpc>
            </a:pPr>
            <a:r>
              <a:rPr lang="en-US" sz="2000"/>
              <a:t>The terms ‘physics’ and ‘physical’ come from the Greek verb </a:t>
            </a:r>
            <a:r>
              <a:rPr lang="en-US" sz="2000" i="1"/>
              <a:t>phuei</a:t>
            </a:r>
            <a:r>
              <a:rPr lang="en-US" sz="2000"/>
              <a:t>n – to emerge or arise.</a:t>
            </a:r>
          </a:p>
          <a:p>
            <a:pPr>
              <a:lnSpc>
                <a:spcPct val="90000"/>
              </a:lnSpc>
            </a:pPr>
            <a:r>
              <a:rPr lang="en-US" sz="2000"/>
              <a:t>From the point of view of physical science, awareness as such is a mere ‘epiphenomenon’. </a:t>
            </a:r>
          </a:p>
          <a:p>
            <a:pPr>
              <a:lnSpc>
                <a:spcPct val="90000"/>
              </a:lnSpc>
            </a:pPr>
            <a:r>
              <a:rPr lang="en-US" sz="2000"/>
              <a:t>From the point of view of</a:t>
            </a:r>
            <a:r>
              <a:rPr lang="en-US" sz="2000" b="1"/>
              <a:t> Phenomenological science</a:t>
            </a:r>
            <a:r>
              <a:rPr lang="en-US" sz="2000"/>
              <a:t> on the other hand, the world </a:t>
            </a:r>
            <a:r>
              <a:rPr lang="en-US" sz="2000" b="1"/>
              <a:t>is</a:t>
            </a:r>
            <a:r>
              <a:rPr lang="en-US" sz="2000"/>
              <a:t> the world as we are aware of it, and every localised ‘thing’ in that world is a phenomenon emerging or arising (phuein) within a non-localised </a:t>
            </a:r>
            <a:r>
              <a:rPr lang="en-US" sz="2000" b="1"/>
              <a:t>field</a:t>
            </a:r>
            <a:r>
              <a:rPr lang="en-US" sz="2000"/>
              <a:t> of awareness.</a:t>
            </a:r>
            <a:r>
              <a:rPr lang="en-US" sz="2400"/>
              <a:t> </a:t>
            </a:r>
            <a:endParaRPr lang="en-GB"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solidFill>
                  <a:srgbClr val="660066"/>
                </a:solidFill>
              </a:rPr>
              <a:t>The Two Basic Laws of Phenomenological Science</a:t>
            </a:r>
            <a:endParaRPr lang="en-GB">
              <a:solidFill>
                <a:srgbClr val="660066"/>
              </a:solidFill>
            </a:endParaRPr>
          </a:p>
        </p:txBody>
      </p:sp>
      <p:sp>
        <p:nvSpPr>
          <p:cNvPr id="46083" name="Rectangle 3"/>
          <p:cNvSpPr>
            <a:spLocks noGrp="1" noChangeArrowheads="1"/>
          </p:cNvSpPr>
          <p:nvPr>
            <p:ph type="body" idx="1"/>
          </p:nvPr>
        </p:nvSpPr>
        <p:spPr>
          <a:ln/>
        </p:spPr>
        <p:txBody>
          <a:bodyPr/>
          <a:lstStyle/>
          <a:p>
            <a:pPr marL="457200" indent="-457200" algn="just">
              <a:lnSpc>
                <a:spcPct val="90000"/>
              </a:lnSpc>
            </a:pPr>
            <a:r>
              <a:rPr lang="en-US" sz="1800">
                <a:cs typeface="Times New Roman" charset="0"/>
              </a:rPr>
              <a:t>1)  </a:t>
            </a:r>
            <a:r>
              <a:rPr lang="en-US" sz="1800" b="1">
                <a:cs typeface="Times New Roman" charset="0"/>
              </a:rPr>
              <a:t>Fields of awareness cannot be reduced to or explained by the phenomena that manifest within them.</a:t>
            </a:r>
            <a:r>
              <a:rPr lang="en-US" sz="1800">
                <a:cs typeface="Times New Roman" charset="0"/>
              </a:rPr>
              <a:t> To do so is equivalent to claiming that a dream or nightmare was ‘caused’ by a an event monster that happened to appear within it. The dream or nightmare is not a set of phenomena but the field of awareness from and within which these events emerge. It makes no more sense to understand the human body as a product of the biological events and processes occurring within it than it does to explain dreaming as a ‘result’ of the events we dream.</a:t>
            </a:r>
          </a:p>
          <a:p>
            <a:pPr marL="457200" indent="-457200" algn="just">
              <a:lnSpc>
                <a:spcPct val="90000"/>
              </a:lnSpc>
            </a:pPr>
            <a:r>
              <a:rPr lang="en-US" sz="1800">
                <a:cs typeface="Times New Roman" charset="0"/>
              </a:rPr>
              <a:t> 2) </a:t>
            </a:r>
            <a:r>
              <a:rPr lang="en-US" sz="1800" b="1">
                <a:cs typeface="Times New Roman" charset="0"/>
              </a:rPr>
              <a:t>A given phenomenon cannot be said to by ‘caused’ by other phenomenon emerging in the same field of awareness.</a:t>
            </a:r>
            <a:r>
              <a:rPr lang="en-US" sz="1800">
                <a:cs typeface="Times New Roman" charset="0"/>
              </a:rPr>
              <a:t> A monster in a nightmare cannot be said to be caused by other objects or events in that same nightmare. Similarly, it makes no more sense to claim that events in one part of the body ‘cause’ changes in another part than it does to claim that certain events in a dream are ‘caused’ by other events in that same dream. </a:t>
            </a:r>
            <a:endParaRPr lang="en-GB" sz="1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solidFill>
                  <a:srgbClr val="660066"/>
                </a:solidFill>
              </a:rPr>
              <a:t>Physical &amp; Primordial Phenomena</a:t>
            </a:r>
            <a:endParaRPr lang="en-GB">
              <a:solidFill>
                <a:srgbClr val="660066"/>
              </a:solidFill>
            </a:endParaRPr>
          </a:p>
        </p:txBody>
      </p:sp>
      <p:sp>
        <p:nvSpPr>
          <p:cNvPr id="41987" name="Rectangle 3"/>
          <p:cNvSpPr>
            <a:spLocks noGrp="1" noChangeArrowheads="1"/>
          </p:cNvSpPr>
          <p:nvPr>
            <p:ph type="body" idx="1"/>
          </p:nvPr>
        </p:nvSpPr>
        <p:spPr/>
        <p:txBody>
          <a:bodyPr/>
          <a:lstStyle/>
          <a:p>
            <a:pPr>
              <a:lnSpc>
                <a:spcPct val="90000"/>
              </a:lnSpc>
            </a:pPr>
            <a:r>
              <a:rPr lang="en-US" sz="2000" b="1"/>
              <a:t>Physical science</a:t>
            </a:r>
            <a:r>
              <a:rPr lang="en-US" sz="2000"/>
              <a:t> offers causal explanations of </a:t>
            </a:r>
            <a:r>
              <a:rPr lang="en-US" sz="2000" b="1"/>
              <a:t>physical phenomena</a:t>
            </a:r>
            <a:r>
              <a:rPr lang="en-US" sz="2000"/>
              <a:t> but does not begin by recognising them as phenomena arising (</a:t>
            </a:r>
            <a:r>
              <a:rPr lang="en-US" sz="2000" i="1"/>
              <a:t>phuein</a:t>
            </a:r>
            <a:r>
              <a:rPr lang="en-US" sz="2000"/>
              <a:t>) within a field of awareness.</a:t>
            </a:r>
          </a:p>
          <a:p>
            <a:pPr>
              <a:lnSpc>
                <a:spcPct val="90000"/>
              </a:lnSpc>
            </a:pPr>
            <a:r>
              <a:rPr lang="en-US" sz="2000" b="1"/>
              <a:t>Phenomenological science</a:t>
            </a:r>
            <a:r>
              <a:rPr lang="en-US" sz="2000"/>
              <a:t> distinguishes between physical phenomena on the one hand and primordial phenomena on the other.</a:t>
            </a:r>
          </a:p>
          <a:p>
            <a:pPr>
              <a:lnSpc>
                <a:spcPct val="90000"/>
              </a:lnSpc>
            </a:pPr>
            <a:r>
              <a:rPr lang="en-US" sz="2000"/>
              <a:t>The term ‘phenomenon’ comes from the Greek verb </a:t>
            </a:r>
            <a:r>
              <a:rPr lang="en-US" sz="2000" i="1"/>
              <a:t>phainesthai </a:t>
            </a:r>
            <a:r>
              <a:rPr lang="en-US" sz="2000"/>
              <a:t>– to ‘shine forth’ or ‘come to light’.</a:t>
            </a:r>
          </a:p>
          <a:p>
            <a:pPr>
              <a:lnSpc>
                <a:spcPct val="90000"/>
              </a:lnSpc>
            </a:pPr>
            <a:r>
              <a:rPr lang="en-US" sz="2000"/>
              <a:t>A </a:t>
            </a:r>
            <a:r>
              <a:rPr lang="en-US" sz="2000" b="1"/>
              <a:t>physical phenomenon</a:t>
            </a:r>
            <a:r>
              <a:rPr lang="en-US" sz="2000"/>
              <a:t> is something present in our field of awareness  (for example a a word we hear spoken)</a:t>
            </a:r>
          </a:p>
          <a:p>
            <a:pPr>
              <a:lnSpc>
                <a:spcPct val="90000"/>
              </a:lnSpc>
            </a:pPr>
            <a:r>
              <a:rPr lang="en-US" sz="2000"/>
              <a:t>A </a:t>
            </a:r>
            <a:r>
              <a:rPr lang="en-US" sz="2000" b="1"/>
              <a:t>primordial phenomenon</a:t>
            </a:r>
            <a:r>
              <a:rPr lang="en-US" sz="2000"/>
              <a:t> is a phenomenon in the primordial sense – that which </a:t>
            </a:r>
            <a:r>
              <a:rPr lang="en-US" sz="2000" b="1"/>
              <a:t>comes to light</a:t>
            </a:r>
            <a:r>
              <a:rPr lang="en-US" sz="2000"/>
              <a:t> in our awareness through the physical phenomenon (for example the meaning that comes to light through the spoken word). </a:t>
            </a:r>
          </a:p>
          <a:p>
            <a:pPr>
              <a:lnSpc>
                <a:spcPct val="90000"/>
              </a:lnSpc>
            </a:pPr>
            <a:endParaRPr lang="en-US" sz="2000"/>
          </a:p>
          <a:p>
            <a:pPr>
              <a:lnSpc>
                <a:spcPct val="90000"/>
              </a:lnSpc>
            </a:pPr>
            <a:endParaRPr lang="en-GB"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p:cNvSpPr>
            <a:spLocks noGrp="1" noChangeArrowheads="1"/>
          </p:cNvSpPr>
          <p:nvPr>
            <p:ph type="title"/>
          </p:nvPr>
        </p:nvSpPr>
        <p:spPr/>
        <p:txBody>
          <a:bodyPr/>
          <a:lstStyle/>
          <a:p>
            <a:r>
              <a:rPr lang="en-US">
                <a:solidFill>
                  <a:srgbClr val="660066"/>
                </a:solidFill>
              </a:rPr>
              <a:t>Phenomenological Medicine</a:t>
            </a:r>
            <a:endParaRPr lang="en-GB">
              <a:solidFill>
                <a:srgbClr val="660066"/>
              </a:solidFill>
            </a:endParaRPr>
          </a:p>
        </p:txBody>
      </p:sp>
      <p:sp>
        <p:nvSpPr>
          <p:cNvPr id="45059" name="Rectangle 1027"/>
          <p:cNvSpPr>
            <a:spLocks noGrp="1" noChangeArrowheads="1"/>
          </p:cNvSpPr>
          <p:nvPr>
            <p:ph type="body" idx="1"/>
          </p:nvPr>
        </p:nvSpPr>
        <p:spPr/>
        <p:txBody>
          <a:bodyPr/>
          <a:lstStyle/>
          <a:p>
            <a:r>
              <a:rPr lang="en-US" sz="2000"/>
              <a:t>We can study illness and the human body itself as a purely </a:t>
            </a:r>
            <a:r>
              <a:rPr lang="en-US" sz="2000" b="1"/>
              <a:t>physical phenomena</a:t>
            </a:r>
            <a:r>
              <a:rPr lang="en-US" sz="2000"/>
              <a:t> or as a </a:t>
            </a:r>
            <a:r>
              <a:rPr lang="en-US" sz="2000" b="1"/>
              <a:t>primordial phenomenon.</a:t>
            </a:r>
          </a:p>
          <a:p>
            <a:r>
              <a:rPr lang="en-US" sz="2000"/>
              <a:t>Understood </a:t>
            </a:r>
            <a:r>
              <a:rPr lang="en-US" sz="2000" b="1"/>
              <a:t>phenomenologically</a:t>
            </a:r>
            <a:r>
              <a:rPr lang="en-US" sz="2000"/>
              <a:t>, all physical events and processes are languages – bearers of meaning. The human body itself is a living biological </a:t>
            </a:r>
            <a:r>
              <a:rPr lang="en-US" sz="2000" b="1"/>
              <a:t>language</a:t>
            </a:r>
            <a:r>
              <a:rPr lang="en-US" sz="2000"/>
              <a:t> of the individual human </a:t>
            </a:r>
            <a:r>
              <a:rPr lang="en-US" sz="2000" b="1"/>
              <a:t>being</a:t>
            </a:r>
            <a:r>
              <a:rPr lang="en-US" sz="2000"/>
              <a:t>, and all its ailments are meaningful expressions of that being.</a:t>
            </a:r>
          </a:p>
          <a:p>
            <a:r>
              <a:rPr lang="en-US" sz="2000"/>
              <a:t>A </a:t>
            </a:r>
            <a:r>
              <a:rPr lang="en-US" sz="2000" b="1"/>
              <a:t>phenomenological</a:t>
            </a:r>
            <a:r>
              <a:rPr lang="en-US" sz="2000"/>
              <a:t> approach to medicine is one which seeks an understanding of illness as a primordial phenomenon – exploring what particular symptoms </a:t>
            </a:r>
            <a:r>
              <a:rPr lang="en-US" sz="2000" b="1"/>
              <a:t>brings to light</a:t>
            </a:r>
            <a:r>
              <a:rPr lang="en-US" sz="2000"/>
              <a:t> as an expressions of the individual human </a:t>
            </a:r>
            <a:r>
              <a:rPr lang="en-US" sz="2000" b="1"/>
              <a:t>being</a:t>
            </a:r>
            <a:r>
              <a:rPr lang="en-US" sz="2000"/>
              <a:t>. </a:t>
            </a:r>
            <a:endParaRPr lang="en-GB" sz="2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solidFill>
                  <a:srgbClr val="660066"/>
                </a:solidFill>
              </a:rPr>
              <a:t>The Physical Body and </a:t>
            </a:r>
            <a:br>
              <a:rPr lang="en-US">
                <a:solidFill>
                  <a:srgbClr val="660066"/>
                </a:solidFill>
              </a:rPr>
            </a:br>
            <a:r>
              <a:rPr lang="en-US">
                <a:solidFill>
                  <a:srgbClr val="660066"/>
                </a:solidFill>
              </a:rPr>
              <a:t>the Phenomenal Body</a:t>
            </a:r>
            <a:endParaRPr lang="en-GB">
              <a:solidFill>
                <a:srgbClr val="660066"/>
              </a:solidFill>
            </a:endParaRPr>
          </a:p>
        </p:txBody>
      </p:sp>
      <p:sp>
        <p:nvSpPr>
          <p:cNvPr id="47107" name="Rectangle 3"/>
          <p:cNvSpPr>
            <a:spLocks noGrp="1" noChangeArrowheads="1"/>
          </p:cNvSpPr>
          <p:nvPr>
            <p:ph type="body" idx="1"/>
          </p:nvPr>
        </p:nvSpPr>
        <p:spPr/>
        <p:txBody>
          <a:bodyPr/>
          <a:lstStyle/>
          <a:p>
            <a:pPr marL="457200" indent="-457200"/>
            <a:r>
              <a:rPr lang="en-US" sz="2400"/>
              <a:t>Today there is not a single form of medicine, orthodox or ‘alternative’ that does not confuse the physical body with the phenomenal body.</a:t>
            </a:r>
          </a:p>
          <a:p>
            <a:pPr marL="457200" indent="-457200"/>
            <a:r>
              <a:rPr lang="en-US" sz="2400"/>
              <a:t>The </a:t>
            </a:r>
            <a:r>
              <a:rPr lang="en-US" sz="2400" b="1"/>
              <a:t>physical body</a:t>
            </a:r>
            <a:r>
              <a:rPr lang="en-US" sz="2400"/>
              <a:t> is the body as perceived from without. The </a:t>
            </a:r>
            <a:r>
              <a:rPr lang="en-US" sz="2400" b="1"/>
              <a:t>phenomenal body</a:t>
            </a:r>
            <a:r>
              <a:rPr lang="en-US" sz="2400"/>
              <a:t> is a unified body of awareness. It unites two field of awareness:</a:t>
            </a:r>
          </a:p>
          <a:p>
            <a:pPr marL="457200" indent="-457200">
              <a:buFont typeface="Wingdings" pitchFamily="2" charset="2"/>
              <a:buAutoNum type="arabicPeriod"/>
            </a:pPr>
            <a:r>
              <a:rPr lang="en-US" sz="2400"/>
              <a:t>the </a:t>
            </a:r>
            <a:r>
              <a:rPr lang="en-US" sz="2400" b="1"/>
              <a:t>inner field</a:t>
            </a:r>
            <a:r>
              <a:rPr lang="en-US" sz="2400"/>
              <a:t> of our internal bodily </a:t>
            </a:r>
            <a:r>
              <a:rPr lang="en-US" sz="2400" b="1"/>
              <a:t>self</a:t>
            </a:r>
            <a:r>
              <a:rPr lang="en-US" sz="2400"/>
              <a:t>-awareness</a:t>
            </a:r>
          </a:p>
          <a:p>
            <a:pPr marL="457200" indent="-457200">
              <a:buFont typeface="Wingdings" pitchFamily="2" charset="2"/>
              <a:buAutoNum type="arabicPeriod"/>
            </a:pPr>
            <a:r>
              <a:rPr lang="en-US" sz="2400"/>
              <a:t>The </a:t>
            </a:r>
            <a:r>
              <a:rPr lang="en-US" sz="2400" b="1"/>
              <a:t>outer field</a:t>
            </a:r>
            <a:r>
              <a:rPr lang="en-US" sz="2400"/>
              <a:t> of our body’s own sensory awareness of the external </a:t>
            </a:r>
            <a:r>
              <a:rPr lang="en-US" sz="2400" b="1"/>
              <a:t>world.</a:t>
            </a:r>
            <a:endParaRPr lang="en-GB" sz="2400" b="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solidFill>
                  <a:srgbClr val="660066"/>
                </a:solidFill>
              </a:rPr>
              <a:t>Heidegger on the Human Body</a:t>
            </a:r>
            <a:endParaRPr lang="en-GB">
              <a:solidFill>
                <a:srgbClr val="660066"/>
              </a:solidFill>
            </a:endParaRPr>
          </a:p>
        </p:txBody>
      </p:sp>
      <p:sp>
        <p:nvSpPr>
          <p:cNvPr id="48131" name="Rectangle 3"/>
          <p:cNvSpPr>
            <a:spLocks noGrp="1" noChangeArrowheads="1"/>
          </p:cNvSpPr>
          <p:nvPr>
            <p:ph type="body" idx="1"/>
          </p:nvPr>
        </p:nvSpPr>
        <p:spPr/>
        <p:txBody>
          <a:bodyPr/>
          <a:lstStyle/>
          <a:p>
            <a:pPr>
              <a:lnSpc>
                <a:spcPct val="90000"/>
              </a:lnSpc>
            </a:pPr>
            <a:r>
              <a:rPr lang="en-US" sz="2000"/>
              <a:t>In German there are two words for the body: </a:t>
            </a:r>
            <a:r>
              <a:rPr lang="en-US" sz="2000" b="1"/>
              <a:t>K</a:t>
            </a:r>
            <a:r>
              <a:rPr lang="de-DE" sz="2000" b="1"/>
              <a:t>ö</a:t>
            </a:r>
            <a:r>
              <a:rPr lang="en-US" sz="2000" b="1"/>
              <a:t>rper </a:t>
            </a:r>
            <a:r>
              <a:rPr lang="en-US" sz="2000"/>
              <a:t>and </a:t>
            </a:r>
            <a:r>
              <a:rPr lang="en-US" sz="2000" b="1"/>
              <a:t>Leib </a:t>
            </a:r>
            <a:r>
              <a:rPr lang="en-US" sz="2000"/>
              <a:t>(related to </a:t>
            </a:r>
            <a:r>
              <a:rPr lang="en-US" sz="2000" b="1"/>
              <a:t>Leben</a:t>
            </a:r>
            <a:r>
              <a:rPr lang="en-US" sz="2000"/>
              <a:t> – ‘life’). Heidegger used these two words to distinguish the the </a:t>
            </a:r>
            <a:r>
              <a:rPr lang="en-US" sz="2000" b="1"/>
              <a:t>physical body</a:t>
            </a:r>
            <a:r>
              <a:rPr lang="en-US" sz="2000"/>
              <a:t> on the one hand and the </a:t>
            </a:r>
            <a:r>
              <a:rPr lang="en-US" sz="2000" b="1"/>
              <a:t>phenomenal body</a:t>
            </a:r>
            <a:r>
              <a:rPr lang="en-US" sz="2000"/>
              <a:t> or ‘lived body’ - on the other.</a:t>
            </a:r>
          </a:p>
          <a:p>
            <a:pPr>
              <a:lnSpc>
                <a:spcPct val="90000"/>
              </a:lnSpc>
            </a:pPr>
            <a:r>
              <a:rPr lang="en-US" sz="2000" b="1"/>
              <a:t>“The lived body (</a:t>
            </a:r>
            <a:r>
              <a:rPr lang="en-US" sz="2000" b="1" i="1"/>
              <a:t>Leib</a:t>
            </a:r>
            <a:r>
              <a:rPr lang="en-US" sz="2000" b="1"/>
              <a:t>) is certainly no thing, no physical body (</a:t>
            </a:r>
            <a:r>
              <a:rPr lang="en-US" sz="2000" b="1" i="1"/>
              <a:t>Körper</a:t>
            </a:r>
            <a:r>
              <a:rPr lang="en-US" sz="2000" b="1"/>
              <a:t>), but every body; in other words the body as Leib is always my body.”</a:t>
            </a:r>
            <a:r>
              <a:rPr lang="en-US" sz="2000"/>
              <a:t> By this he meant that our awareness of our own bodies and of other bodies in our environment are not separate. </a:t>
            </a:r>
          </a:p>
          <a:p>
            <a:pPr>
              <a:lnSpc>
                <a:spcPct val="90000"/>
              </a:lnSpc>
            </a:pPr>
            <a:r>
              <a:rPr lang="en-US" sz="2000"/>
              <a:t>Our awareness of other bodies affects our own bodily self-awareness and vice versa. Next to a tall or heavy body our own bodies feel small and light. Our awareness of other bodies is part of our own bodily self-awareness. Our awareness of light and warmth around us on a is a bodily awareness that does.</a:t>
            </a:r>
          </a:p>
          <a:p>
            <a:pPr>
              <a:lnSpc>
                <a:spcPct val="90000"/>
              </a:lnSpc>
            </a:pPr>
            <a:endParaRPr lang="en-GB" sz="2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solidFill>
                  <a:srgbClr val="660066"/>
                </a:solidFill>
              </a:rPr>
              <a:t>The Unbounded Body</a:t>
            </a:r>
            <a:endParaRPr lang="en-GB">
              <a:solidFill>
                <a:srgbClr val="660066"/>
              </a:solidFill>
            </a:endParaRPr>
          </a:p>
        </p:txBody>
      </p:sp>
      <p:sp>
        <p:nvSpPr>
          <p:cNvPr id="49155" name="Rectangle 3"/>
          <p:cNvSpPr>
            <a:spLocks noGrp="1" noChangeArrowheads="1"/>
          </p:cNvSpPr>
          <p:nvPr>
            <p:ph type="body" idx="1"/>
          </p:nvPr>
        </p:nvSpPr>
        <p:spPr/>
        <p:txBody>
          <a:bodyPr/>
          <a:lstStyle/>
          <a:p>
            <a:pPr>
              <a:lnSpc>
                <a:spcPct val="90000"/>
              </a:lnSpc>
            </a:pPr>
            <a:r>
              <a:rPr lang="en-GB" sz="2000">
                <a:cs typeface="Times New Roman" charset="0"/>
              </a:rPr>
              <a:t>“When I direct someone towards a windowsill with a gesture of my right hand, my bodily existence as a human being does not end at the tip of my index finger. While perceiving the windowsill….I extend myself bodily far beyond this fingertip to that windowsill. In fact, bodily I reach out even further than this to touch all the phenomena, present or merely visualised, represented ones.”</a:t>
            </a:r>
            <a:endParaRPr lang="en-US" sz="2000">
              <a:cs typeface="Times New Roman" charset="0"/>
            </a:endParaRPr>
          </a:p>
          <a:p>
            <a:pPr>
              <a:lnSpc>
                <a:spcPct val="90000"/>
              </a:lnSpc>
              <a:buFont typeface="Wingdings" pitchFamily="2" charset="2"/>
              <a:buNone/>
            </a:pPr>
            <a:r>
              <a:rPr lang="en-US" sz="2000">
                <a:cs typeface="Times New Roman" charset="0"/>
              </a:rPr>
              <a:t>     Martin Heidegger</a:t>
            </a:r>
            <a:r>
              <a:rPr lang="en-GB" sz="2000"/>
              <a:t> </a:t>
            </a:r>
            <a:endParaRPr lang="en-US" sz="2000"/>
          </a:p>
          <a:p>
            <a:pPr>
              <a:lnSpc>
                <a:spcPct val="90000"/>
              </a:lnSpc>
            </a:pPr>
            <a:r>
              <a:rPr lang="en-US" sz="2000"/>
              <a:t>The </a:t>
            </a:r>
            <a:r>
              <a:rPr lang="en-US" sz="2000" b="1"/>
              <a:t>phenomenal body</a:t>
            </a:r>
            <a:r>
              <a:rPr lang="en-US" sz="2000"/>
              <a:t> is not a volume in space externally bounded by the dimensions of the </a:t>
            </a:r>
            <a:r>
              <a:rPr lang="en-US" sz="2000" b="1"/>
              <a:t>physical body</a:t>
            </a:r>
            <a:r>
              <a:rPr lang="en-US" sz="2000"/>
              <a:t>. When we look at a distant object in space our phenomenal body extends  to embrace that object in its outer field of awareness. </a:t>
            </a:r>
          </a:p>
          <a:p>
            <a:pPr>
              <a:lnSpc>
                <a:spcPct val="90000"/>
              </a:lnSpc>
            </a:pPr>
            <a:r>
              <a:rPr lang="en-US" sz="2000"/>
              <a:t>The </a:t>
            </a:r>
            <a:r>
              <a:rPr lang="en-US" sz="2000" b="1"/>
              <a:t>phenomenal body</a:t>
            </a:r>
            <a:r>
              <a:rPr lang="en-US" sz="2000"/>
              <a:t> is neither externally nor internally bounded by the physical body. The psychic interiority or aware withinness of of our bodies links us with the insideness or withinness of the things and people around us.</a:t>
            </a:r>
            <a:endParaRPr lang="en-US" sz="2400"/>
          </a:p>
          <a:p>
            <a:pPr>
              <a:lnSpc>
                <a:spcPct val="90000"/>
              </a:lnSpc>
            </a:pPr>
            <a:endParaRPr lang="en-GB" sz="2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solidFill>
                  <a:srgbClr val="660066"/>
                </a:solidFill>
              </a:rPr>
              <a:t>Illness and the Phenomenal Body</a:t>
            </a:r>
            <a:endParaRPr lang="en-GB">
              <a:solidFill>
                <a:srgbClr val="660066"/>
              </a:solidFill>
            </a:endParaRPr>
          </a:p>
        </p:txBody>
      </p:sp>
      <p:sp>
        <p:nvSpPr>
          <p:cNvPr id="50179" name="Rectangle 3"/>
          <p:cNvSpPr>
            <a:spLocks noGrp="1" noChangeArrowheads="1"/>
          </p:cNvSpPr>
          <p:nvPr>
            <p:ph type="body" idx="1"/>
          </p:nvPr>
        </p:nvSpPr>
        <p:spPr/>
        <p:txBody>
          <a:bodyPr/>
          <a:lstStyle/>
          <a:p>
            <a:pPr>
              <a:lnSpc>
                <a:spcPct val="90000"/>
              </a:lnSpc>
            </a:pPr>
            <a:r>
              <a:rPr lang="en-US" sz="2000"/>
              <a:t>The </a:t>
            </a:r>
            <a:r>
              <a:rPr lang="en-US" sz="2000" b="1"/>
              <a:t>phenomenal body</a:t>
            </a:r>
            <a:r>
              <a:rPr lang="en-US" sz="2000"/>
              <a:t> has no measurable </a:t>
            </a:r>
            <a:r>
              <a:rPr lang="en-US" sz="2000" b="1"/>
              <a:t>physical </a:t>
            </a:r>
            <a:r>
              <a:rPr lang="en-US" sz="2000"/>
              <a:t>dimensions. But it is the site of all the immeasurable dimensions of illness. A person can feel fat whilst being measurably thin. We can locate a pain or discomfort in the physical body and identify nerve signals that travel to the brain from that part of the body. But our awareness of a localised pain or discomfort does not itself have a physical location in our bodies or brains. </a:t>
            </a:r>
          </a:p>
          <a:p>
            <a:pPr>
              <a:lnSpc>
                <a:spcPct val="90000"/>
              </a:lnSpc>
            </a:pPr>
            <a:r>
              <a:rPr lang="en-US" sz="2000" b="1"/>
              <a:t>Being</a:t>
            </a:r>
            <a:r>
              <a:rPr lang="en-US" sz="2000"/>
              <a:t> in pain is an experience of a human </a:t>
            </a:r>
            <a:r>
              <a:rPr lang="en-US" sz="2000" b="1"/>
              <a:t>being</a:t>
            </a:r>
            <a:r>
              <a:rPr lang="en-US" sz="2000"/>
              <a:t> not of their physical body. All diseases of the physical body and physical mind are the manifestation of an inner </a:t>
            </a:r>
            <a:r>
              <a:rPr lang="en-US" sz="2000" b="1"/>
              <a:t>dis-ease</a:t>
            </a:r>
            <a:r>
              <a:rPr lang="en-US" sz="2000"/>
              <a:t> of the human being, experienced through the </a:t>
            </a:r>
            <a:r>
              <a:rPr lang="en-US" sz="2000" b="1"/>
              <a:t>phenomenal body</a:t>
            </a:r>
            <a:r>
              <a:rPr lang="en-US" sz="2000"/>
              <a:t>.</a:t>
            </a:r>
          </a:p>
          <a:p>
            <a:pPr>
              <a:lnSpc>
                <a:spcPct val="90000"/>
              </a:lnSpc>
            </a:pPr>
            <a:r>
              <a:rPr lang="en-US" sz="2000"/>
              <a:t>Awareness is always an awareness of ourselves in relation to something or someone other than self. Dis-ease is not a thing. It is a felt </a:t>
            </a:r>
            <a:r>
              <a:rPr lang="en-US" sz="2000" b="1"/>
              <a:t>relation</a:t>
            </a:r>
            <a:r>
              <a:rPr lang="en-US" sz="2000"/>
              <a:t> to the world and to aspects of ourselves we experience as foreign, alien or ‘other than self’.</a:t>
            </a:r>
          </a:p>
          <a:p>
            <a:pPr>
              <a:lnSpc>
                <a:spcPct val="90000"/>
              </a:lnSpc>
            </a:pPr>
            <a:endParaRPr lang="en-GB" sz="2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solidFill>
                  <a:srgbClr val="660066"/>
                </a:solidFill>
              </a:rPr>
              <a:t>The Phenomenology of Illness</a:t>
            </a:r>
            <a:endParaRPr lang="en-GB">
              <a:solidFill>
                <a:srgbClr val="660066"/>
              </a:solidFill>
            </a:endParaRPr>
          </a:p>
        </p:txBody>
      </p:sp>
      <p:sp>
        <p:nvSpPr>
          <p:cNvPr id="51203" name="Rectangle 3"/>
          <p:cNvSpPr>
            <a:spLocks noGrp="1" noChangeArrowheads="1"/>
          </p:cNvSpPr>
          <p:nvPr>
            <p:ph type="body" idx="1"/>
          </p:nvPr>
        </p:nvSpPr>
        <p:spPr/>
        <p:txBody>
          <a:bodyPr/>
          <a:lstStyle/>
          <a:p>
            <a:pPr>
              <a:lnSpc>
                <a:spcPct val="90000"/>
              </a:lnSpc>
            </a:pPr>
            <a:r>
              <a:rPr lang="en-US" sz="2400"/>
              <a:t>When we are ill, we do not ‘feel ourselves’. Our bodies or minds feel foreign or alien to us.</a:t>
            </a:r>
          </a:p>
          <a:p>
            <a:pPr>
              <a:lnSpc>
                <a:spcPct val="90000"/>
              </a:lnSpc>
            </a:pPr>
            <a:r>
              <a:rPr lang="en-US" sz="2400" b="1"/>
              <a:t>Biological medicine</a:t>
            </a:r>
            <a:r>
              <a:rPr lang="en-US" sz="2400"/>
              <a:t> attributes this sense of foreigness to ‘foreign bodies’ such as microroganisms, viruses or ‘non-self’ cells affecting the physical body.</a:t>
            </a:r>
          </a:p>
          <a:p>
            <a:pPr>
              <a:lnSpc>
                <a:spcPct val="90000"/>
              </a:lnSpc>
            </a:pPr>
            <a:r>
              <a:rPr lang="en-US" sz="2400" b="1"/>
              <a:t>Phenomenological medicine</a:t>
            </a:r>
            <a:r>
              <a:rPr lang="en-US" sz="2400"/>
              <a:t> understands illness itself as a natural part of the health process – a process that begins with not feeling ourselves and ends with feeling and fully incorporating another self – an aspect of ourselves we previously experienced as foreign or ‘non-self’.</a:t>
            </a:r>
          </a:p>
          <a:p>
            <a:pPr>
              <a:lnSpc>
                <a:spcPct val="90000"/>
              </a:lnSpc>
              <a:buFont typeface="Wingdings" pitchFamily="2" charset="2"/>
              <a:buNone/>
            </a:pPr>
            <a:endParaRPr lang="en-GB"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solidFill>
                  <a:srgbClr val="660066"/>
                </a:solidFill>
              </a:rPr>
              <a:t>Nazism and Biological Medicine</a:t>
            </a:r>
            <a:endParaRPr lang="en-GB">
              <a:solidFill>
                <a:srgbClr val="660066"/>
              </a:solidFill>
            </a:endParaRPr>
          </a:p>
        </p:txBody>
      </p:sp>
      <p:sp>
        <p:nvSpPr>
          <p:cNvPr id="60419" name="Rectangle 3"/>
          <p:cNvSpPr>
            <a:spLocks noGrp="1" noChangeArrowheads="1"/>
          </p:cNvSpPr>
          <p:nvPr>
            <p:ph type="body" idx="1"/>
          </p:nvPr>
        </p:nvSpPr>
        <p:spPr/>
        <p:txBody>
          <a:bodyPr/>
          <a:lstStyle/>
          <a:p>
            <a:r>
              <a:rPr lang="en-US" sz="2000"/>
              <a:t>Nazism understood itself as applied biology: the application of a biomedical model to the diagnosis and treatment of social ills – seeing the Jews as a virus or cancer in the social body. </a:t>
            </a:r>
          </a:p>
          <a:p>
            <a:r>
              <a:rPr lang="en-US" sz="2000"/>
              <a:t>The basis of the biomedical model does not lie in not </a:t>
            </a:r>
            <a:r>
              <a:rPr lang="en-US" sz="2000" b="1"/>
              <a:t>empirical facts</a:t>
            </a:r>
            <a:r>
              <a:rPr lang="en-US" sz="2000"/>
              <a:t> but </a:t>
            </a:r>
            <a:r>
              <a:rPr lang="en-US" sz="2000" b="1"/>
              <a:t>military metaphors</a:t>
            </a:r>
            <a:r>
              <a:rPr lang="en-US" sz="2000"/>
              <a:t>: the idea of healing as a war against ‘foreign’ elements in the individual or social body. </a:t>
            </a:r>
          </a:p>
          <a:p>
            <a:r>
              <a:rPr lang="en-US" sz="2000"/>
              <a:t>The ideal of this model is one of an individual or society genetically cleansed or immunologically ‘defended’’ against ‘foreign bodies ie. against all undigestible experiences of </a:t>
            </a:r>
            <a:r>
              <a:rPr lang="en-US" sz="2000" b="1"/>
              <a:t>othernes</a:t>
            </a:r>
            <a:r>
              <a:rPr lang="en-US" sz="2000"/>
              <a:t>s which the human being cannot assimilate and incorporate.</a:t>
            </a:r>
            <a:endParaRPr lang="en-GB" sz="2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solidFill>
                  <a:srgbClr val="660066"/>
                </a:solidFill>
              </a:rPr>
              <a:t>The Militarisation of Medicine</a:t>
            </a:r>
            <a:endParaRPr lang="en-GB">
              <a:solidFill>
                <a:srgbClr val="660066"/>
              </a:solidFill>
            </a:endParaRPr>
          </a:p>
        </p:txBody>
      </p:sp>
      <p:sp>
        <p:nvSpPr>
          <p:cNvPr id="61443" name="Rectangle 3"/>
          <p:cNvSpPr>
            <a:spLocks noGrp="1" noChangeArrowheads="1"/>
          </p:cNvSpPr>
          <p:nvPr>
            <p:ph type="body" idx="1"/>
          </p:nvPr>
        </p:nvSpPr>
        <p:spPr/>
        <p:txBody>
          <a:bodyPr/>
          <a:lstStyle/>
          <a:p>
            <a:pPr>
              <a:lnSpc>
                <a:spcPct val="90000"/>
              </a:lnSpc>
            </a:pPr>
            <a:r>
              <a:rPr lang="en-US" sz="2400"/>
              <a:t>The language of immunological science is replete with military metaphors:</a:t>
            </a:r>
          </a:p>
          <a:p>
            <a:pPr>
              <a:lnSpc>
                <a:spcPct val="90000"/>
              </a:lnSpc>
              <a:buFont typeface="Wingdings" pitchFamily="2" charset="2"/>
              <a:buNone/>
            </a:pPr>
            <a:endParaRPr lang="en-US" sz="2000" b="1"/>
          </a:p>
          <a:p>
            <a:pPr>
              <a:lnSpc>
                <a:spcPct val="90000"/>
              </a:lnSpc>
              <a:buFont typeface="Wingdings" pitchFamily="2" charset="2"/>
              <a:buNone/>
            </a:pPr>
            <a:r>
              <a:rPr lang="en-US" sz="2000" b="1"/>
              <a:t>    </a:t>
            </a:r>
            <a:r>
              <a:rPr lang="en-US" sz="2000"/>
              <a:t>“[W]hen immune </a:t>
            </a:r>
            <a:r>
              <a:rPr lang="en-US" sz="2000" b="1"/>
              <a:t>defenders</a:t>
            </a:r>
            <a:r>
              <a:rPr lang="en-US" sz="2000"/>
              <a:t> encounter cells or organisms carrying molecules that say ‘foreign’, the </a:t>
            </a:r>
            <a:r>
              <a:rPr lang="en-US" sz="2000" b="1"/>
              <a:t>immune troops</a:t>
            </a:r>
            <a:r>
              <a:rPr lang="en-US" sz="2000"/>
              <a:t> move quickly to </a:t>
            </a:r>
            <a:r>
              <a:rPr lang="en-US" sz="2000" b="1"/>
              <a:t>eliminate the intruders</a:t>
            </a:r>
            <a:r>
              <a:rPr lang="en-US" sz="2000"/>
              <a:t>.” </a:t>
            </a:r>
          </a:p>
          <a:p>
            <a:pPr>
              <a:lnSpc>
                <a:spcPct val="90000"/>
              </a:lnSpc>
              <a:buFont typeface="Wingdings" pitchFamily="2" charset="2"/>
              <a:buNone/>
            </a:pPr>
            <a:endParaRPr lang="en-US" sz="2000"/>
          </a:p>
          <a:p>
            <a:pPr>
              <a:lnSpc>
                <a:spcPct val="90000"/>
              </a:lnSpc>
              <a:buFont typeface="Wingdings" pitchFamily="2" charset="2"/>
              <a:buNone/>
            </a:pPr>
            <a:r>
              <a:rPr lang="en-US" sz="2000"/>
              <a:t>    “The immune system </a:t>
            </a:r>
            <a:r>
              <a:rPr lang="en-US" sz="2000" b="1"/>
              <a:t>stockpiles</a:t>
            </a:r>
            <a:r>
              <a:rPr lang="en-US" sz="2000"/>
              <a:t> a tremendous </a:t>
            </a:r>
            <a:r>
              <a:rPr lang="en-US" sz="2000" b="1"/>
              <a:t>arsenal</a:t>
            </a:r>
            <a:r>
              <a:rPr lang="en-US" sz="2000"/>
              <a:t> of cells. Some </a:t>
            </a:r>
            <a:r>
              <a:rPr lang="en-US" sz="2000" b="1"/>
              <a:t>staff the general defenses</a:t>
            </a:r>
            <a:r>
              <a:rPr lang="en-US" sz="2000"/>
              <a:t>, while others are </a:t>
            </a:r>
            <a:r>
              <a:rPr lang="en-US" sz="2000" b="1"/>
              <a:t>trained on</a:t>
            </a:r>
            <a:r>
              <a:rPr lang="en-US" sz="2000"/>
              <a:t> highly specific </a:t>
            </a:r>
            <a:r>
              <a:rPr lang="en-US" sz="2000" b="1"/>
              <a:t>targets</a:t>
            </a:r>
            <a:r>
              <a:rPr lang="en-US" sz="2000"/>
              <a:t>.”</a:t>
            </a:r>
          </a:p>
          <a:p>
            <a:pPr>
              <a:lnSpc>
                <a:spcPct val="90000"/>
              </a:lnSpc>
              <a:buFont typeface="Wingdings" pitchFamily="2" charset="2"/>
              <a:buNone/>
            </a:pPr>
            <a:endParaRPr lang="en-US" sz="2000"/>
          </a:p>
          <a:p>
            <a:pPr>
              <a:lnSpc>
                <a:spcPct val="90000"/>
              </a:lnSpc>
              <a:buFont typeface="Wingdings" pitchFamily="2" charset="2"/>
              <a:buNone/>
            </a:pPr>
            <a:r>
              <a:rPr lang="en-US" sz="2000"/>
              <a:t>    (from teaching material on immunology)</a:t>
            </a:r>
          </a:p>
          <a:p>
            <a:pPr>
              <a:lnSpc>
                <a:spcPct val="90000"/>
              </a:lnSpc>
              <a:buFont typeface="Wingdings" pitchFamily="2" charset="2"/>
              <a:buNone/>
            </a:pPr>
            <a:endParaRPr lang="en-US" sz="2000"/>
          </a:p>
          <a:p>
            <a:pPr>
              <a:lnSpc>
                <a:spcPct val="90000"/>
              </a:lnSpc>
              <a:buFont typeface="Wingdings" pitchFamily="2" charset="2"/>
              <a:buNone/>
            </a:pPr>
            <a:endParaRPr lang="en-US" sz="2000" b="1"/>
          </a:p>
          <a:p>
            <a:pPr>
              <a:lnSpc>
                <a:spcPct val="90000"/>
              </a:lnSpc>
            </a:pPr>
            <a:endParaRPr lang="en-US" sz="2400"/>
          </a:p>
          <a:p>
            <a:pPr>
              <a:lnSpc>
                <a:spcPct val="90000"/>
              </a:lnSpc>
            </a:pPr>
            <a:endParaRPr lang="en-GB"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solidFill>
                  <a:srgbClr val="660066"/>
                </a:solidFill>
              </a:rPr>
              <a:t>The False Metaphors </a:t>
            </a:r>
            <a:br>
              <a:rPr lang="en-US">
                <a:solidFill>
                  <a:srgbClr val="660066"/>
                </a:solidFill>
              </a:rPr>
            </a:br>
            <a:r>
              <a:rPr lang="en-US">
                <a:solidFill>
                  <a:srgbClr val="660066"/>
                </a:solidFill>
              </a:rPr>
              <a:t>of Immunology</a:t>
            </a:r>
            <a:endParaRPr lang="en-GB">
              <a:solidFill>
                <a:srgbClr val="660066"/>
              </a:solidFill>
            </a:endParaRPr>
          </a:p>
        </p:txBody>
      </p:sp>
      <p:sp>
        <p:nvSpPr>
          <p:cNvPr id="62467" name="Rectangle 3"/>
          <p:cNvSpPr>
            <a:spLocks noGrp="1" noChangeArrowheads="1"/>
          </p:cNvSpPr>
          <p:nvPr>
            <p:ph type="body" idx="1"/>
          </p:nvPr>
        </p:nvSpPr>
        <p:spPr/>
        <p:txBody>
          <a:bodyPr/>
          <a:lstStyle/>
          <a:p>
            <a:pPr>
              <a:lnSpc>
                <a:spcPct val="90000"/>
              </a:lnSpc>
            </a:pPr>
            <a:r>
              <a:rPr lang="en-US" sz="2000"/>
              <a:t>The </a:t>
            </a:r>
            <a:r>
              <a:rPr lang="en-US" sz="2000" b="1"/>
              <a:t>facts </a:t>
            </a:r>
            <a:r>
              <a:rPr lang="en-US" sz="2000"/>
              <a:t>of immunological science run directly counter to the </a:t>
            </a:r>
            <a:r>
              <a:rPr lang="en-US" sz="2000" b="1"/>
              <a:t>metaphors</a:t>
            </a:r>
            <a:r>
              <a:rPr lang="en-US" sz="2000"/>
              <a:t> used to describe immune functioning.The immune system works not by ‘hunting out’, ‘attacking’ or ‘destroying’ foreign bodies or ‘antigens’ but by searching for cells with a specific molecular </a:t>
            </a:r>
            <a:r>
              <a:rPr lang="en-US" sz="2000" b="1"/>
              <a:t>affinit</a:t>
            </a:r>
            <a:r>
              <a:rPr lang="en-US" sz="2000"/>
              <a:t>y to those antigens - one that allows them to be assimilated and incorporated by the body. </a:t>
            </a:r>
          </a:p>
          <a:p>
            <a:pPr>
              <a:lnSpc>
                <a:spcPct val="90000"/>
              </a:lnSpc>
            </a:pPr>
            <a:r>
              <a:rPr lang="en-US" sz="2000"/>
              <a:t>All the discomforting symptoms of viral or bacterial infection are </a:t>
            </a:r>
            <a:r>
              <a:rPr lang="en-US" sz="2000" b="1"/>
              <a:t>not </a:t>
            </a:r>
            <a:r>
              <a:rPr lang="en-US" sz="2000"/>
              <a:t>produced by the viruses or bacteria themselves but by the body’s own struggle to assimilate and incorporate them. </a:t>
            </a:r>
          </a:p>
          <a:p>
            <a:pPr>
              <a:lnSpc>
                <a:spcPct val="90000"/>
              </a:lnSpc>
            </a:pPr>
            <a:r>
              <a:rPr lang="en-US" sz="2000"/>
              <a:t>This struggle is the biological expression of the individual’s struggle to </a:t>
            </a:r>
            <a:r>
              <a:rPr lang="en-US" sz="2000" b="1"/>
              <a:t>assimilate </a:t>
            </a:r>
            <a:r>
              <a:rPr lang="en-US" sz="2000"/>
              <a:t>and </a:t>
            </a:r>
            <a:r>
              <a:rPr lang="en-US" sz="2000" b="1"/>
              <a:t>incorporate</a:t>
            </a:r>
            <a:r>
              <a:rPr lang="en-US" sz="2000"/>
              <a:t> experiences that appear initially to threaten their identity or sense of self – and thus to require mental ‘defences’.</a:t>
            </a:r>
            <a:r>
              <a:rPr lang="en-US" sz="2000" b="1"/>
              <a:t> </a:t>
            </a:r>
            <a:r>
              <a:rPr lang="en-US" sz="2000"/>
              <a:t>It is</a:t>
            </a:r>
            <a:r>
              <a:rPr lang="en-US" sz="2000" b="1"/>
              <a:t> over-activity </a:t>
            </a:r>
            <a:r>
              <a:rPr lang="en-US" sz="2000"/>
              <a:t>of the individual’s </a:t>
            </a:r>
            <a:r>
              <a:rPr lang="en-US" sz="2000" b="1"/>
              <a:t>mental defences</a:t>
            </a:r>
            <a:r>
              <a:rPr lang="en-US" sz="2000"/>
              <a:t> that weakens the body’s </a:t>
            </a:r>
            <a:r>
              <a:rPr lang="en-US" sz="2000" b="1"/>
              <a:t>immune functioning</a:t>
            </a:r>
            <a:r>
              <a:rPr lang="en-US" sz="2000"/>
              <a:t> – its ability to assimilate and incorporate foreign bodies.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solidFill>
                  <a:srgbClr val="660066"/>
                </a:solidFill>
              </a:rPr>
              <a:t>From Militarism to Maieusis</a:t>
            </a:r>
            <a:endParaRPr lang="en-GB">
              <a:solidFill>
                <a:srgbClr val="660066"/>
              </a:solidFill>
            </a:endParaRPr>
          </a:p>
        </p:txBody>
      </p:sp>
      <p:sp>
        <p:nvSpPr>
          <p:cNvPr id="71683" name="Rectangle 3"/>
          <p:cNvSpPr>
            <a:spLocks noGrp="1" noChangeArrowheads="1"/>
          </p:cNvSpPr>
          <p:nvPr>
            <p:ph type="body" idx="1"/>
          </p:nvPr>
        </p:nvSpPr>
        <p:spPr/>
        <p:txBody>
          <a:bodyPr/>
          <a:lstStyle/>
          <a:p>
            <a:pPr>
              <a:lnSpc>
                <a:spcPct val="90000"/>
              </a:lnSpc>
            </a:pPr>
            <a:r>
              <a:rPr lang="en-US" sz="2000"/>
              <a:t>Pregnancy is not an illness, but illness</a:t>
            </a:r>
            <a:r>
              <a:rPr lang="en-US" sz="2000" b="1"/>
              <a:t>. </a:t>
            </a:r>
            <a:r>
              <a:rPr lang="en-US" sz="2000"/>
              <a:t>understood phenomenology, is a form of pregnancy – a natural part of the </a:t>
            </a:r>
            <a:r>
              <a:rPr lang="en-US" sz="2000" b="1"/>
              <a:t>health process</a:t>
            </a:r>
            <a:r>
              <a:rPr lang="en-US" sz="2000"/>
              <a:t> by which we gestate and give birth to unborn and hitherto ‘foreign’ aspects of our inner being. </a:t>
            </a:r>
          </a:p>
          <a:p>
            <a:pPr>
              <a:lnSpc>
                <a:spcPct val="90000"/>
              </a:lnSpc>
            </a:pPr>
            <a:r>
              <a:rPr lang="en-US" sz="2000"/>
              <a:t>The term ‘maieusis’ comes from the Greek </a:t>
            </a:r>
            <a:r>
              <a:rPr lang="en-US" sz="2000" i="1"/>
              <a:t>maieuesthai</a:t>
            </a:r>
            <a:r>
              <a:rPr lang="en-US" sz="2000"/>
              <a:t> – to ‘act as a midwife’. The </a:t>
            </a:r>
            <a:r>
              <a:rPr lang="en-US" sz="2000" b="1"/>
              <a:t>healing process</a:t>
            </a:r>
            <a:r>
              <a:rPr lang="en-US" sz="2000"/>
              <a:t> is one in which we act as midwives to ourselves – not by using medicine to bring about changes in our bodies but by allowing our bodies to bring about changes in us.</a:t>
            </a:r>
          </a:p>
          <a:p>
            <a:pPr>
              <a:lnSpc>
                <a:spcPct val="90000"/>
              </a:lnSpc>
            </a:pPr>
            <a:r>
              <a:rPr lang="en-US" sz="2000"/>
              <a:t>The </a:t>
            </a:r>
            <a:r>
              <a:rPr lang="en-US" sz="2000" b="1"/>
              <a:t>military metaphors</a:t>
            </a:r>
            <a:r>
              <a:rPr lang="en-US" sz="2000"/>
              <a:t> of biological medicine treat healing as a </a:t>
            </a:r>
            <a:r>
              <a:rPr lang="en-US" sz="2000" b="1"/>
              <a:t>war</a:t>
            </a:r>
            <a:r>
              <a:rPr lang="en-US" sz="2000"/>
              <a:t> against suffering and disease. Medical ‘cure’ of </a:t>
            </a:r>
            <a:r>
              <a:rPr lang="en-US" sz="2000" b="1"/>
              <a:t>disease</a:t>
            </a:r>
            <a:r>
              <a:rPr lang="en-US" sz="2000"/>
              <a:t> is a bodily </a:t>
            </a:r>
            <a:r>
              <a:rPr lang="en-US" sz="2000" b="1"/>
              <a:t>abortion</a:t>
            </a:r>
            <a:r>
              <a:rPr lang="en-US" sz="2000"/>
              <a:t> of all that lies pregnant in our </a:t>
            </a:r>
            <a:r>
              <a:rPr lang="en-US" sz="2000" b="1"/>
              <a:t>dis-ease</a:t>
            </a:r>
            <a:r>
              <a:rPr lang="en-US" sz="2000"/>
              <a:t>. </a:t>
            </a:r>
          </a:p>
          <a:p>
            <a:pPr>
              <a:lnSpc>
                <a:spcPct val="90000"/>
              </a:lnSpc>
            </a:pPr>
            <a:r>
              <a:rPr lang="en-US" sz="2000" b="1"/>
              <a:t>Suffering disease</a:t>
            </a:r>
            <a:r>
              <a:rPr lang="en-US" sz="2000"/>
              <a:t> is not the same as </a:t>
            </a:r>
            <a:r>
              <a:rPr lang="en-US" sz="2000" b="1"/>
              <a:t>bearing dis-ease</a:t>
            </a:r>
            <a:r>
              <a:rPr lang="en-US" sz="2000"/>
              <a:t>. We suffer disease to the extent that we are unable to bear dis-ease: - letting it give birth to a new inner bearing towards the world. </a:t>
            </a:r>
            <a:endParaRPr lang="en-GB" sz="20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solidFill>
                  <a:srgbClr val="660066"/>
                </a:solidFill>
              </a:rPr>
              <a:t>Collateral Damage</a:t>
            </a:r>
            <a:endParaRPr lang="en-GB">
              <a:solidFill>
                <a:srgbClr val="660066"/>
              </a:solidFill>
            </a:endParaRPr>
          </a:p>
        </p:txBody>
      </p:sp>
      <p:sp>
        <p:nvSpPr>
          <p:cNvPr id="84995" name="Rectangle 3"/>
          <p:cNvSpPr>
            <a:spLocks noGrp="1" noChangeArrowheads="1"/>
          </p:cNvSpPr>
          <p:nvPr>
            <p:ph type="body" idx="1"/>
          </p:nvPr>
        </p:nvSpPr>
        <p:spPr/>
        <p:txBody>
          <a:bodyPr/>
          <a:lstStyle/>
          <a:p>
            <a:pPr marL="533400" indent="-533400">
              <a:lnSpc>
                <a:spcPct val="90000"/>
              </a:lnSpc>
            </a:pPr>
            <a:r>
              <a:rPr lang="en-US" sz="2400"/>
              <a:t>The assumed benefits of modern medicine must be weighed against its sickening effects. For the empirical facts are that:</a:t>
            </a:r>
          </a:p>
          <a:p>
            <a:pPr marL="914400" lvl="1" indent="-457200">
              <a:lnSpc>
                <a:spcPct val="90000"/>
              </a:lnSpc>
              <a:buFont typeface="Wingdings" pitchFamily="2" charset="2"/>
              <a:buAutoNum type="arabicPeriod"/>
            </a:pPr>
            <a:r>
              <a:rPr lang="en-US" sz="2000"/>
              <a:t>Medical treatment itself is the single largest cause of death after coronary disease, stroke, cancer and AIDS.</a:t>
            </a:r>
          </a:p>
          <a:p>
            <a:pPr marL="914400" lvl="1" indent="-457200">
              <a:lnSpc>
                <a:spcPct val="90000"/>
              </a:lnSpc>
              <a:buFont typeface="Wingdings" pitchFamily="2" charset="2"/>
              <a:buAutoNum type="arabicPeriod"/>
            </a:pPr>
            <a:r>
              <a:rPr lang="en-US" sz="2000"/>
              <a:t>The life-expectancy of untreated cancer patients is higher that that of treated ones.</a:t>
            </a:r>
          </a:p>
          <a:p>
            <a:pPr marL="914400" lvl="1" indent="-457200">
              <a:lnSpc>
                <a:spcPct val="90000"/>
              </a:lnSpc>
              <a:buFont typeface="Wingdings" pitchFamily="2" charset="2"/>
              <a:buAutoNum type="arabicPeriod"/>
            </a:pPr>
            <a:r>
              <a:rPr lang="en-US" sz="2000"/>
              <a:t>There is no statistical evidence for the effectiveness of costly intensive care units.</a:t>
            </a:r>
          </a:p>
          <a:p>
            <a:pPr marL="914400" lvl="1" indent="-457200">
              <a:lnSpc>
                <a:spcPct val="90000"/>
              </a:lnSpc>
              <a:buFont typeface="Wingdings" pitchFamily="2" charset="2"/>
              <a:buAutoNum type="arabicPeriod"/>
            </a:pPr>
            <a:r>
              <a:rPr lang="en-US" sz="2000"/>
              <a:t>“Neither the proportion of doctors in a population nor the clinical tools at their disposal nor the number of hospital beds is a causal factor in the striking changes in overall patterns of disease.” (Ivan Illich)</a:t>
            </a:r>
          </a:p>
          <a:p>
            <a:pPr marL="533400" indent="-533400">
              <a:lnSpc>
                <a:spcPct val="90000"/>
              </a:lnSpc>
              <a:buFont typeface="Wingdings" pitchFamily="2" charset="2"/>
              <a:buNone/>
            </a:pPr>
            <a:r>
              <a:rPr lang="en-US" sz="2400"/>
              <a:t>    </a:t>
            </a:r>
            <a:endParaRPr lang="en-GB" sz="2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solidFill>
                  <a:srgbClr val="660066"/>
                </a:solidFill>
              </a:rPr>
              <a:t>The Ontology of Illness</a:t>
            </a:r>
            <a:endParaRPr lang="en-GB">
              <a:solidFill>
                <a:srgbClr val="660066"/>
              </a:solidFill>
            </a:endParaRPr>
          </a:p>
        </p:txBody>
      </p:sp>
      <p:sp>
        <p:nvSpPr>
          <p:cNvPr id="56323" name="Rectangle 3"/>
          <p:cNvSpPr>
            <a:spLocks noGrp="1" noChangeArrowheads="1"/>
          </p:cNvSpPr>
          <p:nvPr>
            <p:ph type="body" idx="1"/>
          </p:nvPr>
        </p:nvSpPr>
        <p:spPr/>
        <p:txBody>
          <a:bodyPr/>
          <a:lstStyle/>
          <a:p>
            <a:pPr>
              <a:lnSpc>
                <a:spcPct val="90000"/>
              </a:lnSpc>
            </a:pPr>
            <a:r>
              <a:rPr lang="en-US" sz="2000"/>
              <a:t>Physical medicine seeks the causes of illness in organic damage and dysfunction.</a:t>
            </a:r>
          </a:p>
          <a:p>
            <a:pPr>
              <a:lnSpc>
                <a:spcPct val="90000"/>
              </a:lnSpc>
            </a:pPr>
            <a:r>
              <a:rPr lang="en-US" sz="2000"/>
              <a:t>In doing so it ignores the distinction between </a:t>
            </a:r>
            <a:r>
              <a:rPr lang="en-US" sz="2000" b="1"/>
              <a:t>functions</a:t>
            </a:r>
            <a:r>
              <a:rPr lang="en-US" sz="2000"/>
              <a:t> belonging to </a:t>
            </a:r>
            <a:r>
              <a:rPr lang="en-US" sz="2000" b="1"/>
              <a:t>the</a:t>
            </a:r>
            <a:r>
              <a:rPr lang="en-US" sz="2000"/>
              <a:t> </a:t>
            </a:r>
            <a:r>
              <a:rPr lang="en-US" sz="2000" b="1"/>
              <a:t>human body </a:t>
            </a:r>
            <a:r>
              <a:rPr lang="en-US" sz="2000"/>
              <a:t>and its organs </a:t>
            </a:r>
            <a:r>
              <a:rPr lang="en-US" sz="2000" b="1"/>
              <a:t>capacities</a:t>
            </a:r>
            <a:r>
              <a:rPr lang="en-US" sz="2000"/>
              <a:t> that belong to the </a:t>
            </a:r>
            <a:r>
              <a:rPr lang="en-US" sz="2000" b="1"/>
              <a:t>human being – </a:t>
            </a:r>
            <a:r>
              <a:rPr lang="en-US" sz="2000"/>
              <a:t>for example the capacity to breathe in, absorb and digest new experiences and extract </a:t>
            </a:r>
            <a:r>
              <a:rPr lang="en-US" sz="2000" b="1"/>
              <a:t>meaning</a:t>
            </a:r>
            <a:r>
              <a:rPr lang="en-US" sz="2000"/>
              <a:t> from them.</a:t>
            </a:r>
          </a:p>
          <a:p>
            <a:pPr>
              <a:lnSpc>
                <a:spcPct val="90000"/>
              </a:lnSpc>
            </a:pPr>
            <a:r>
              <a:rPr lang="en-US" sz="2000"/>
              <a:t>The word ‘organ’ comes from the Greek </a:t>
            </a:r>
            <a:r>
              <a:rPr lang="en-US" sz="2000" i="1"/>
              <a:t>organon </a:t>
            </a:r>
            <a:r>
              <a:rPr lang="en-US" sz="2000"/>
              <a:t>– meaning an tool or instrument in general or a musical instrument in particular.</a:t>
            </a:r>
          </a:p>
          <a:p>
            <a:pPr>
              <a:lnSpc>
                <a:spcPct val="90000"/>
              </a:lnSpc>
            </a:pPr>
            <a:r>
              <a:rPr lang="en-US" sz="2000"/>
              <a:t>A tool such as a pen has </a:t>
            </a:r>
            <a:r>
              <a:rPr lang="en-US" sz="2000" b="1"/>
              <a:t>functions</a:t>
            </a:r>
            <a:r>
              <a:rPr lang="en-US" sz="2000"/>
              <a:t> but not </a:t>
            </a:r>
            <a:r>
              <a:rPr lang="en-US" sz="2000" b="1"/>
              <a:t>capacities</a:t>
            </a:r>
            <a:r>
              <a:rPr lang="en-US" sz="2000"/>
              <a:t>. It functions as a tool of writing but has itself no capacity to write.</a:t>
            </a:r>
          </a:p>
          <a:p>
            <a:pPr>
              <a:lnSpc>
                <a:spcPct val="90000"/>
              </a:lnSpc>
            </a:pPr>
            <a:r>
              <a:rPr lang="en-US" sz="2000"/>
              <a:t>Similarly, bodily organs possess </a:t>
            </a:r>
            <a:r>
              <a:rPr lang="en-US" sz="2000" b="1"/>
              <a:t>functions</a:t>
            </a:r>
            <a:r>
              <a:rPr lang="en-US" sz="2000"/>
              <a:t> but not </a:t>
            </a:r>
            <a:r>
              <a:rPr lang="en-US" sz="2000" b="1"/>
              <a:t>capacities</a:t>
            </a:r>
            <a:r>
              <a:rPr lang="en-US" sz="2000"/>
              <a:t>. Capacities belong to the human </a:t>
            </a:r>
            <a:r>
              <a:rPr lang="en-US" sz="2000" b="1"/>
              <a:t>being</a:t>
            </a:r>
            <a:r>
              <a:rPr lang="en-US" sz="2000"/>
              <a:t> not the human </a:t>
            </a:r>
            <a:r>
              <a:rPr lang="en-US" sz="2000" b="1"/>
              <a:t>body, and </a:t>
            </a:r>
            <a:r>
              <a:rPr lang="en-US" sz="2000"/>
              <a:t>are shaped by the human organism.</a:t>
            </a:r>
            <a:r>
              <a:rPr lang="en-US" sz="2000" b="1"/>
              <a:t> </a:t>
            </a:r>
            <a:r>
              <a:rPr lang="en-US" sz="2000"/>
              <a:t> </a:t>
            </a:r>
          </a:p>
          <a:p>
            <a:pPr>
              <a:lnSpc>
                <a:spcPct val="90000"/>
              </a:lnSpc>
            </a:pPr>
            <a:endParaRPr lang="en-GB" sz="20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ln/>
        </p:spPr>
        <p:txBody>
          <a:bodyPr/>
          <a:lstStyle/>
          <a:p>
            <a:r>
              <a:rPr lang="en-US">
                <a:solidFill>
                  <a:srgbClr val="660066"/>
                </a:solidFill>
              </a:rPr>
              <a:t>Organs and Organisms</a:t>
            </a:r>
            <a:endParaRPr lang="en-GB">
              <a:solidFill>
                <a:srgbClr val="660066"/>
              </a:solidFill>
            </a:endParaRPr>
          </a:p>
        </p:txBody>
      </p:sp>
      <p:sp>
        <p:nvSpPr>
          <p:cNvPr id="54275" name="Rectangle 3"/>
          <p:cNvSpPr>
            <a:spLocks noGrp="1" noChangeArrowheads="1"/>
          </p:cNvSpPr>
          <p:nvPr>
            <p:ph type="body" idx="1"/>
          </p:nvPr>
        </p:nvSpPr>
        <p:spPr/>
        <p:txBody>
          <a:bodyPr/>
          <a:lstStyle/>
          <a:p>
            <a:pPr>
              <a:lnSpc>
                <a:spcPct val="90000"/>
              </a:lnSpc>
            </a:pPr>
            <a:r>
              <a:rPr lang="en-US" sz="2400">
                <a:cs typeface="Times New Roman" charset="0"/>
              </a:rPr>
              <a:t>According to Heidegger “..we cannot say that the organ has capacities, but must say that the capacity has organs.” </a:t>
            </a:r>
          </a:p>
          <a:p>
            <a:pPr>
              <a:lnSpc>
                <a:spcPct val="90000"/>
              </a:lnSpc>
            </a:pPr>
            <a:r>
              <a:rPr lang="en-US" sz="2400">
                <a:cs typeface="Times New Roman" charset="0"/>
              </a:rPr>
              <a:t>The organ does not ‘possess’ a capacity but is “in the possession of a capacity” – subservient to it in the same way that the pen is subservient to our capacity to write.</a:t>
            </a:r>
          </a:p>
          <a:p>
            <a:pPr>
              <a:lnSpc>
                <a:spcPct val="90000"/>
              </a:lnSpc>
            </a:pPr>
            <a:r>
              <a:rPr lang="en-US" sz="2400">
                <a:cs typeface="Times New Roman" charset="0"/>
              </a:rPr>
              <a:t>For Heidegger life itself is essentially </a:t>
            </a:r>
            <a:r>
              <a:rPr lang="en-US" sz="2400" u="sng">
                <a:cs typeface="Times New Roman" charset="0"/>
              </a:rPr>
              <a:t>capability</a:t>
            </a:r>
            <a:r>
              <a:rPr lang="en-US" sz="2400">
                <a:cs typeface="Times New Roman" charset="0"/>
              </a:rPr>
              <a:t> (</a:t>
            </a:r>
            <a:r>
              <a:rPr lang="en-US" sz="2400" i="1">
                <a:cs typeface="Times New Roman" charset="0"/>
              </a:rPr>
              <a:t>Fähigkeit</a:t>
            </a:r>
            <a:r>
              <a:rPr lang="en-US" sz="2400">
                <a:cs typeface="Times New Roman" charset="0"/>
              </a:rPr>
              <a:t>). </a:t>
            </a:r>
            <a:r>
              <a:rPr lang="en-US" sz="2400" b="1">
                <a:cs typeface="Times New Roman" charset="0"/>
              </a:rPr>
              <a:t>“This capability, articulating itself into capacities creating organs characterizes the organism as such.” </a:t>
            </a:r>
            <a:endParaRPr lang="en-GB" sz="2400" b="1">
              <a:cs typeface="Times New Roman"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solidFill>
                  <a:srgbClr val="660066"/>
                </a:solidFill>
              </a:rPr>
              <a:t>Human Ontology and </a:t>
            </a:r>
            <a:br>
              <a:rPr lang="en-US">
                <a:solidFill>
                  <a:srgbClr val="660066"/>
                </a:solidFill>
              </a:rPr>
            </a:br>
            <a:r>
              <a:rPr lang="en-US">
                <a:solidFill>
                  <a:srgbClr val="660066"/>
                </a:solidFill>
              </a:rPr>
              <a:t>the Human Organism</a:t>
            </a:r>
            <a:endParaRPr lang="en-GB">
              <a:solidFill>
                <a:srgbClr val="660066"/>
              </a:solidFill>
            </a:endParaRPr>
          </a:p>
        </p:txBody>
      </p:sp>
      <p:sp>
        <p:nvSpPr>
          <p:cNvPr id="52227" name="Rectangle 3"/>
          <p:cNvSpPr>
            <a:spLocks noGrp="1" noChangeArrowheads="1"/>
          </p:cNvSpPr>
          <p:nvPr>
            <p:ph type="body" idx="1"/>
          </p:nvPr>
        </p:nvSpPr>
        <p:spPr/>
        <p:txBody>
          <a:bodyPr/>
          <a:lstStyle/>
          <a:p>
            <a:pPr>
              <a:lnSpc>
                <a:spcPct val="90000"/>
              </a:lnSpc>
            </a:pPr>
            <a:r>
              <a:rPr lang="en-US" sz="2000"/>
              <a:t>The </a:t>
            </a:r>
            <a:r>
              <a:rPr lang="en-US" sz="2000" b="1"/>
              <a:t>human organism</a:t>
            </a:r>
            <a:r>
              <a:rPr lang="en-US" sz="2000"/>
              <a:t> is neither the </a:t>
            </a:r>
            <a:r>
              <a:rPr lang="en-US" sz="2000" b="1"/>
              <a:t>physical body</a:t>
            </a:r>
            <a:r>
              <a:rPr lang="en-US" sz="2000"/>
              <a:t> nor the </a:t>
            </a:r>
            <a:r>
              <a:rPr lang="en-US" sz="2000" b="1"/>
              <a:t>phenomenal body</a:t>
            </a:r>
            <a:r>
              <a:rPr lang="en-US" sz="2000"/>
              <a:t> but is made up of organising patterns and flows of awareness that shape our physical perception of the world and our physical actions within it.</a:t>
            </a:r>
          </a:p>
          <a:p>
            <a:pPr>
              <a:lnSpc>
                <a:spcPct val="90000"/>
              </a:lnSpc>
            </a:pPr>
            <a:r>
              <a:rPr lang="en-US" sz="2000"/>
              <a:t>It is through these organising patterns and flows of awareness that we embody our innate </a:t>
            </a:r>
            <a:r>
              <a:rPr lang="en-US" sz="2000" b="1"/>
              <a:t>capacities</a:t>
            </a:r>
            <a:r>
              <a:rPr lang="en-US" sz="2000"/>
              <a:t> as human beings – expressing them in organised patterns of physical action and perception.</a:t>
            </a:r>
          </a:p>
          <a:p>
            <a:pPr>
              <a:lnSpc>
                <a:spcPct val="90000"/>
              </a:lnSpc>
            </a:pPr>
            <a:r>
              <a:rPr lang="en-US" sz="2000"/>
              <a:t>Physiology in the deepest sense is the </a:t>
            </a:r>
            <a:r>
              <a:rPr lang="en-US" sz="2000" i="1"/>
              <a:t>logos</a:t>
            </a:r>
            <a:r>
              <a:rPr lang="en-US" sz="2000"/>
              <a:t> or organising pattern of </a:t>
            </a:r>
            <a:r>
              <a:rPr lang="en-US" sz="2000" i="1"/>
              <a:t>phusis</a:t>
            </a:r>
            <a:r>
              <a:rPr lang="en-US" sz="2000"/>
              <a:t> – our life or </a:t>
            </a:r>
            <a:r>
              <a:rPr lang="en-US" sz="2000" b="1"/>
              <a:t>movedness</a:t>
            </a:r>
            <a:r>
              <a:rPr lang="en-US" sz="2000"/>
              <a:t> as living </a:t>
            </a:r>
            <a:r>
              <a:rPr lang="en-US" sz="2000" b="1"/>
              <a:t>beings</a:t>
            </a:r>
            <a:r>
              <a:rPr lang="en-US" sz="2000"/>
              <a:t>. </a:t>
            </a:r>
          </a:p>
          <a:p>
            <a:pPr>
              <a:lnSpc>
                <a:spcPct val="90000"/>
              </a:lnSpc>
            </a:pPr>
            <a:r>
              <a:rPr lang="en-US" sz="2000">
                <a:cs typeface="Times New Roman" charset="0"/>
              </a:rPr>
              <a:t>The essential character of this movedness, according to Heidegger, is a self-unfolding, which, like that of the plant or tree,  is at the same time a rooting or grounding movement of “going-back-into-itself”. These two basic movements of our being – that of </a:t>
            </a:r>
            <a:r>
              <a:rPr lang="en-US" sz="2000" b="1">
                <a:cs typeface="Times New Roman" charset="0"/>
              </a:rPr>
              <a:t>self-unfolding</a:t>
            </a:r>
            <a:r>
              <a:rPr lang="en-US" sz="2000">
                <a:cs typeface="Times New Roman" charset="0"/>
              </a:rPr>
              <a:t> and </a:t>
            </a:r>
            <a:r>
              <a:rPr lang="en-US" sz="2000" b="1">
                <a:cs typeface="Times New Roman" charset="0"/>
              </a:rPr>
              <a:t>going back into ourselves</a:t>
            </a:r>
            <a:r>
              <a:rPr lang="en-US" sz="2000">
                <a:cs typeface="Times New Roman" charset="0"/>
              </a:rPr>
              <a:t>, are the basis of all human capacities and the true life of the human organism. </a:t>
            </a:r>
            <a:endParaRPr lang="en-US" sz="2000"/>
          </a:p>
          <a:p>
            <a:pPr>
              <a:lnSpc>
                <a:spcPct val="90000"/>
              </a:lnSpc>
            </a:pPr>
            <a:endParaRPr lang="en-US" sz="2000"/>
          </a:p>
          <a:p>
            <a:pPr>
              <a:lnSpc>
                <a:spcPct val="90000"/>
              </a:lnSpc>
            </a:pPr>
            <a:endParaRPr lang="en-US" sz="2000"/>
          </a:p>
          <a:p>
            <a:pPr>
              <a:lnSpc>
                <a:spcPct val="90000"/>
              </a:lnSpc>
            </a:pPr>
            <a:endParaRPr lang="en-US" sz="2000"/>
          </a:p>
          <a:p>
            <a:pPr>
              <a:lnSpc>
                <a:spcPct val="90000"/>
              </a:lnSpc>
            </a:pPr>
            <a:endParaRPr lang="en-GB" sz="2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solidFill>
                  <a:srgbClr val="660066"/>
                </a:solidFill>
              </a:rPr>
              <a:t>Ontodynamic Physiology</a:t>
            </a:r>
            <a:endParaRPr lang="en-GB">
              <a:solidFill>
                <a:srgbClr val="660066"/>
              </a:solidFill>
            </a:endParaRPr>
          </a:p>
        </p:txBody>
      </p:sp>
      <p:sp>
        <p:nvSpPr>
          <p:cNvPr id="53251" name="Rectangle 3"/>
          <p:cNvSpPr>
            <a:spLocks noGrp="1" noChangeArrowheads="1"/>
          </p:cNvSpPr>
          <p:nvPr>
            <p:ph type="body" idx="1"/>
          </p:nvPr>
        </p:nvSpPr>
        <p:spPr/>
        <p:txBody>
          <a:bodyPr/>
          <a:lstStyle/>
          <a:p>
            <a:pPr>
              <a:lnSpc>
                <a:spcPct val="90000"/>
              </a:lnSpc>
            </a:pPr>
            <a:r>
              <a:rPr lang="en-US" sz="2000">
                <a:cs typeface="Times New Roman" charset="0"/>
              </a:rPr>
              <a:t>According to Heidegger “</a:t>
            </a:r>
            <a:r>
              <a:rPr lang="en-US" sz="2000" b="1">
                <a:cs typeface="Times New Roman" charset="0"/>
              </a:rPr>
              <a:t>We</a:t>
            </a:r>
            <a:r>
              <a:rPr lang="en-US" sz="2000">
                <a:cs typeface="Times New Roman" charset="0"/>
              </a:rPr>
              <a:t> hear, not the ear.” And what is true of hearing is true of all our bodily senses and physiological functions. We see not the eye. We breathe, not our lungs. We think, not our brains. Breathing and metabolism, like seeing and hearing – are capacities not functions. </a:t>
            </a:r>
          </a:p>
          <a:p>
            <a:pPr>
              <a:lnSpc>
                <a:spcPct val="90000"/>
              </a:lnSpc>
            </a:pPr>
            <a:r>
              <a:rPr lang="en-US" sz="2000">
                <a:cs typeface="Times New Roman" charset="0"/>
              </a:rPr>
              <a:t>It is not bodies or brains that possess these capacities - that see and hear, think and feel, breathe and metabolise – but beings.</a:t>
            </a:r>
          </a:p>
          <a:p>
            <a:pPr>
              <a:lnSpc>
                <a:spcPct val="90000"/>
              </a:lnSpc>
            </a:pPr>
            <a:r>
              <a:rPr lang="en-US" sz="2000" b="1">
                <a:cs typeface="Times New Roman" charset="0"/>
              </a:rPr>
              <a:t>Ontophysiology</a:t>
            </a:r>
            <a:r>
              <a:rPr lang="en-US" sz="2000">
                <a:cs typeface="Times New Roman" charset="0"/>
              </a:rPr>
              <a:t> is an </a:t>
            </a:r>
            <a:r>
              <a:rPr lang="en-US" sz="2000" b="1">
                <a:cs typeface="Times New Roman" charset="0"/>
              </a:rPr>
              <a:t>ontological</a:t>
            </a:r>
            <a:r>
              <a:rPr lang="en-US" sz="2000">
                <a:cs typeface="Times New Roman" charset="0"/>
              </a:rPr>
              <a:t> understanding of human </a:t>
            </a:r>
            <a:r>
              <a:rPr lang="en-US" sz="2000" b="1">
                <a:cs typeface="Times New Roman" charset="0"/>
              </a:rPr>
              <a:t>physiology</a:t>
            </a:r>
            <a:r>
              <a:rPr lang="en-US" sz="2000">
                <a:cs typeface="Times New Roman" charset="0"/>
              </a:rPr>
              <a:t> - the understanding that all physical, organic functions of our bodies are the embodiment of inner capacities of our being.</a:t>
            </a:r>
          </a:p>
          <a:p>
            <a:pPr>
              <a:lnSpc>
                <a:spcPct val="90000"/>
              </a:lnSpc>
            </a:pPr>
            <a:r>
              <a:rPr lang="en-US" sz="2000">
                <a:cs typeface="Times New Roman" charset="0"/>
              </a:rPr>
              <a:t>We do not hear because we have ears. We have ears we possess the capacity to hear. Similarly, we do not think because we have brains - and nor is it our brains that think. The functioning of our brains is the physical embodiment of capacity as beings, to think. </a:t>
            </a:r>
          </a:p>
          <a:p>
            <a:pPr>
              <a:lnSpc>
                <a:spcPct val="90000"/>
              </a:lnSpc>
            </a:pPr>
            <a:endParaRPr lang="en-GB" sz="2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solidFill>
                  <a:srgbClr val="660066"/>
                </a:solidFill>
              </a:rPr>
              <a:t>Heidegger on the Brain</a:t>
            </a:r>
            <a:endParaRPr lang="en-GB">
              <a:solidFill>
                <a:srgbClr val="660066"/>
              </a:solidFill>
            </a:endParaRPr>
          </a:p>
        </p:txBody>
      </p:sp>
      <p:sp>
        <p:nvSpPr>
          <p:cNvPr id="57347" name="Rectangle 3"/>
          <p:cNvSpPr>
            <a:spLocks noGrp="1" noChangeArrowheads="1"/>
          </p:cNvSpPr>
          <p:nvPr>
            <p:ph type="body" idx="1"/>
          </p:nvPr>
        </p:nvSpPr>
        <p:spPr/>
        <p:txBody>
          <a:bodyPr/>
          <a:lstStyle/>
          <a:p>
            <a:pPr algn="just">
              <a:lnSpc>
                <a:spcPct val="90000"/>
              </a:lnSpc>
            </a:pPr>
            <a:r>
              <a:rPr lang="en-US" sz="2000" b="1">
                <a:cs typeface="Times New Roman" charset="0"/>
              </a:rPr>
              <a:t>Ontodynamic Physiology</a:t>
            </a:r>
            <a:r>
              <a:rPr lang="en-US" sz="2000">
                <a:cs typeface="Times New Roman" charset="0"/>
              </a:rPr>
              <a:t> runs directly contrary to the idea that it is </a:t>
            </a:r>
            <a:r>
              <a:rPr lang="en-US" sz="2000" b="1">
                <a:cs typeface="Times New Roman" charset="0"/>
              </a:rPr>
              <a:t>brains</a:t>
            </a:r>
            <a:r>
              <a:rPr lang="en-US" sz="2000">
                <a:cs typeface="Times New Roman" charset="0"/>
              </a:rPr>
              <a:t> that think, and that mental illness is caused by </a:t>
            </a:r>
            <a:r>
              <a:rPr lang="en-US" sz="2000" b="1">
                <a:cs typeface="Times New Roman" charset="0"/>
              </a:rPr>
              <a:t>brain dysfunction</a:t>
            </a:r>
            <a:r>
              <a:rPr lang="en-US" sz="2000">
                <a:cs typeface="Times New Roman" charset="0"/>
              </a:rPr>
              <a:t>.</a:t>
            </a:r>
          </a:p>
          <a:p>
            <a:pPr algn="just">
              <a:lnSpc>
                <a:spcPct val="90000"/>
              </a:lnSpc>
            </a:pPr>
            <a:r>
              <a:rPr lang="en-US" sz="2000">
                <a:cs typeface="Times New Roman" charset="0"/>
              </a:rPr>
              <a:t>“When it is claimed that brain research is a scientific foundation for our understanding of human beings, the claim implies that the true and real relationship of one human being to another is an interaction of brain processes, and that in brain research itself, nothing else is happening but that one brain is in some way ‘informing’ another.Then, for example, the statue of a god in the Akropolis museum, viewed during the term break, that is to say outside the research work, is in reality and truth nothing but the meeting of a brain process in the observer with the product of a brain process, the statue exhibited. Reassuring us, during the holidays, that this is not what is really implied, means living with a certain double or triple accounting that clearly doesn’t rest easily with the much faulted rigour of science.”</a:t>
            </a:r>
            <a:endParaRPr lang="en-GB" sz="2000">
              <a:cs typeface="Times New Roman" charset="0"/>
            </a:endParaRPr>
          </a:p>
          <a:p>
            <a:pPr>
              <a:lnSpc>
                <a:spcPct val="90000"/>
              </a:lnSpc>
            </a:pPr>
            <a:endParaRPr lang="en-GB" sz="2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solidFill>
                  <a:srgbClr val="660066"/>
                </a:solidFill>
              </a:rPr>
              <a:t>Heidegger on Thinking</a:t>
            </a:r>
            <a:endParaRPr lang="en-GB">
              <a:solidFill>
                <a:srgbClr val="660066"/>
              </a:solidFill>
            </a:endParaRPr>
          </a:p>
        </p:txBody>
      </p:sp>
      <p:sp>
        <p:nvSpPr>
          <p:cNvPr id="59395" name="Rectangle 3"/>
          <p:cNvSpPr>
            <a:spLocks noGrp="1" noChangeArrowheads="1"/>
          </p:cNvSpPr>
          <p:nvPr>
            <p:ph type="body" idx="1"/>
          </p:nvPr>
        </p:nvSpPr>
        <p:spPr/>
        <p:txBody>
          <a:bodyPr/>
          <a:lstStyle/>
          <a:p>
            <a:pPr>
              <a:lnSpc>
                <a:spcPct val="90000"/>
              </a:lnSpc>
            </a:pPr>
            <a:r>
              <a:rPr lang="en-US" sz="2000"/>
              <a:t>Heidegger describes thinking itself not as a </a:t>
            </a:r>
            <a:r>
              <a:rPr lang="en-US" sz="2000" b="1"/>
              <a:t>function</a:t>
            </a:r>
            <a:r>
              <a:rPr lang="en-US" sz="2000"/>
              <a:t> of the brain but as “a listening that brings something into view “ ie. brings it to light in our field of awareness through a type of inner seeing and hearing He emphasised however, that his was no mere ‘metaphorical’ understanding of the nature of thinking, for seeing and hearing are not essentially physical capacities of our eyes and ears but capacities of our being – and of thought itself. </a:t>
            </a:r>
          </a:p>
          <a:p>
            <a:pPr>
              <a:lnSpc>
                <a:spcPct val="90000"/>
              </a:lnSpc>
            </a:pPr>
            <a:r>
              <a:rPr lang="en-US" sz="2000" b="1">
                <a:cs typeface="Times New Roman" charset="0"/>
              </a:rPr>
              <a:t>“If we take thinking to be a sort of hearing and seeing, then sensible hearing and seeing is taken up and over into the realm of nonsensory perception…In Greek such a transposing is called </a:t>
            </a:r>
            <a:r>
              <a:rPr lang="en-US" sz="2000" b="1" i="1">
                <a:cs typeface="Times New Roman" charset="0"/>
              </a:rPr>
              <a:t>metaphorein…</a:t>
            </a:r>
            <a:r>
              <a:rPr lang="en-US" sz="2000" b="1">
                <a:cs typeface="Times New Roman" charset="0"/>
              </a:rPr>
              <a:t>So thinking may be called a hearing and a listening, a viewing and a bringing into view, only in a metaphorical sense. Who says “may” here? Those who assert that hearing with the ears and seeing with the eyes is genuine hearing and seeing.”</a:t>
            </a:r>
            <a:br>
              <a:rPr lang="en-US" sz="2000" b="1">
                <a:cs typeface="Times New Roman" charset="0"/>
              </a:rPr>
            </a:br>
            <a:r>
              <a:rPr lang="en-US" sz="2000" b="1">
                <a:solidFill>
                  <a:srgbClr val="000000"/>
                </a:solidFill>
                <a:cs typeface="Times New Roman" charset="0"/>
              </a:rPr>
              <a:t> </a:t>
            </a:r>
            <a:r>
              <a:rPr lang="en-US" sz="2400" b="1">
                <a:solidFill>
                  <a:srgbClr val="000000"/>
                </a:solidFill>
                <a:cs typeface="Times New Roman" charset="0"/>
              </a:rPr>
              <a:t> </a:t>
            </a:r>
            <a:endParaRPr lang="en-GB" sz="2400" b="1">
              <a:solidFill>
                <a:srgbClr val="000000"/>
              </a:solidFill>
              <a:cs typeface="Times New Roman" charset="0"/>
            </a:endParaRPr>
          </a:p>
          <a:p>
            <a:pPr>
              <a:lnSpc>
                <a:spcPct val="90000"/>
              </a:lnSpc>
            </a:pPr>
            <a:endParaRPr lang="en-GB" sz="2400" b="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solidFill>
                  <a:srgbClr val="660066"/>
                </a:solidFill>
              </a:rPr>
              <a:t>Ontodynamic Psychology</a:t>
            </a:r>
            <a:endParaRPr lang="en-GB">
              <a:solidFill>
                <a:srgbClr val="660066"/>
              </a:solidFill>
            </a:endParaRPr>
          </a:p>
        </p:txBody>
      </p:sp>
      <p:sp>
        <p:nvSpPr>
          <p:cNvPr id="58371" name="Rectangle 3"/>
          <p:cNvSpPr>
            <a:spLocks noGrp="1" noChangeArrowheads="1"/>
          </p:cNvSpPr>
          <p:nvPr>
            <p:ph type="body" idx="1"/>
          </p:nvPr>
        </p:nvSpPr>
        <p:spPr/>
        <p:txBody>
          <a:bodyPr/>
          <a:lstStyle/>
          <a:p>
            <a:r>
              <a:rPr lang="en-US" sz="2000" b="1"/>
              <a:t>Biopsychiatry</a:t>
            </a:r>
            <a:r>
              <a:rPr lang="en-US" sz="2000"/>
              <a:t> treats mental illnesses as diseases of the brain with a genetic basis. </a:t>
            </a:r>
          </a:p>
          <a:p>
            <a:r>
              <a:rPr lang="en-US" sz="2000"/>
              <a:t>But the ‘effectiveness’ of psychopharmacological drugs in treating mental illness lies only in their capacity to distort or suppress brain functioning – often with damaging results. </a:t>
            </a:r>
          </a:p>
          <a:p>
            <a:r>
              <a:rPr lang="en-US" sz="2000" b="1"/>
              <a:t>Human Ontology</a:t>
            </a:r>
            <a:r>
              <a:rPr lang="en-US" sz="2000"/>
              <a:t> understands mental illnesses as an expression of states of being not disorders of the brain. </a:t>
            </a:r>
          </a:p>
          <a:p>
            <a:r>
              <a:rPr lang="en-US" sz="2000"/>
              <a:t>Brain activity itself is the expression of mental-emotional activity and not the other way round, </a:t>
            </a:r>
            <a:r>
              <a:rPr lang="en-US" sz="2000" b="1"/>
              <a:t>unless </a:t>
            </a:r>
            <a:r>
              <a:rPr lang="en-US" sz="2000"/>
              <a:t>brain functioning is not itself artificially interfered with and damaged through the use of psychiatric drugs.</a:t>
            </a:r>
            <a:r>
              <a:rPr lang="en-US" sz="2400"/>
              <a:t>  </a:t>
            </a:r>
          </a:p>
          <a:p>
            <a:pPr>
              <a:buFont typeface="Wingdings" pitchFamily="2" charset="2"/>
              <a:buNone/>
            </a:pPr>
            <a:endParaRPr lang="en-GB" sz="2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solidFill>
                  <a:srgbClr val="660066"/>
                </a:solidFill>
              </a:rPr>
              <a:t>Ontodynamic Psychology</a:t>
            </a:r>
            <a:endParaRPr lang="en-GB">
              <a:solidFill>
                <a:srgbClr val="660066"/>
              </a:solidFill>
            </a:endParaRPr>
          </a:p>
        </p:txBody>
      </p:sp>
      <p:sp>
        <p:nvSpPr>
          <p:cNvPr id="68611" name="Rectangle 3"/>
          <p:cNvSpPr>
            <a:spLocks noGrp="1" noChangeArrowheads="1"/>
          </p:cNvSpPr>
          <p:nvPr>
            <p:ph type="body" idx="1"/>
          </p:nvPr>
        </p:nvSpPr>
        <p:spPr/>
        <p:txBody>
          <a:bodyPr/>
          <a:lstStyle/>
          <a:p>
            <a:pPr>
              <a:lnSpc>
                <a:spcPct val="90000"/>
              </a:lnSpc>
            </a:pPr>
            <a:r>
              <a:rPr lang="en-US" sz="2000"/>
              <a:t>We can </a:t>
            </a:r>
            <a:r>
              <a:rPr lang="en-US" sz="2000" b="1"/>
              <a:t>be</a:t>
            </a:r>
            <a:r>
              <a:rPr lang="en-US" sz="2000"/>
              <a:t> in a certain state without </a:t>
            </a:r>
            <a:r>
              <a:rPr lang="en-US" sz="2000" b="1"/>
              <a:t>feeling</a:t>
            </a:r>
            <a:r>
              <a:rPr lang="en-US" sz="2000"/>
              <a:t> that state of being – without feeling how we </a:t>
            </a:r>
            <a:r>
              <a:rPr lang="en-US" sz="2000" b="1"/>
              <a:t>are</a:t>
            </a:r>
            <a:r>
              <a:rPr lang="en-US" sz="2000"/>
              <a:t>. Feeling how we are means letting our awareness follow one of two basic</a:t>
            </a:r>
            <a:r>
              <a:rPr lang="en-US" sz="2000" b="1"/>
              <a:t> movements </a:t>
            </a:r>
            <a:r>
              <a:rPr lang="en-US" sz="2000"/>
              <a:t>– the movement in towards the self and the movement out towards the world.</a:t>
            </a:r>
          </a:p>
          <a:p>
            <a:pPr>
              <a:lnSpc>
                <a:spcPct val="90000"/>
              </a:lnSpc>
            </a:pPr>
            <a:r>
              <a:rPr lang="en-US" sz="2000"/>
              <a:t>Western psychology is based on the myth that life as such is essentially an energetic movement out towards the world, and that the ‘introspective’ movement </a:t>
            </a:r>
            <a:r>
              <a:rPr lang="en-US" sz="2000" b="1"/>
              <a:t>in</a:t>
            </a:r>
            <a:r>
              <a:rPr lang="en-US" sz="2000"/>
              <a:t> leads ultimately to a dead end of depressive withdrawal, regression and ultimately, death. </a:t>
            </a:r>
          </a:p>
          <a:p>
            <a:pPr>
              <a:lnSpc>
                <a:spcPct val="90000"/>
              </a:lnSpc>
            </a:pPr>
            <a:r>
              <a:rPr lang="en-US" sz="2000" b="1"/>
              <a:t>Ontodynamic Psychology </a:t>
            </a:r>
            <a:r>
              <a:rPr lang="en-US" sz="2000"/>
              <a:t>understands the movement </a:t>
            </a:r>
            <a:r>
              <a:rPr lang="en-US" sz="2000" b="1"/>
              <a:t>in</a:t>
            </a:r>
            <a:r>
              <a:rPr lang="en-US" sz="2000"/>
              <a:t> as the necessary condition, not only for the restoration of organismic vitality (for example through sleep) but for experiencing healthy </a:t>
            </a:r>
            <a:r>
              <a:rPr lang="en-US" sz="2000" b="1"/>
              <a:t>inner contact</a:t>
            </a:r>
            <a:r>
              <a:rPr lang="en-US" sz="2000"/>
              <a:t> with our own being and other beings, a healthy and fulfilling </a:t>
            </a:r>
            <a:r>
              <a:rPr lang="en-US" sz="2000" b="1"/>
              <a:t>inner relation</a:t>
            </a:r>
            <a:r>
              <a:rPr lang="en-US" sz="2000"/>
              <a:t> to both self and world. It is the lack of this healthy inner contact with ourselves and others that is the basis of both physical and mental ill-health. </a:t>
            </a:r>
          </a:p>
          <a:p>
            <a:pPr>
              <a:lnSpc>
                <a:spcPct val="90000"/>
              </a:lnSpc>
              <a:buFont typeface="Wingdings" pitchFamily="2" charset="2"/>
              <a:buNone/>
            </a:pPr>
            <a:endParaRPr lang="en-US" sz="2000"/>
          </a:p>
          <a:p>
            <a:pPr>
              <a:lnSpc>
                <a:spcPct val="90000"/>
              </a:lnSpc>
            </a:pPr>
            <a:endParaRPr lang="en-GB" sz="2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solidFill>
                  <a:srgbClr val="660066"/>
                </a:solidFill>
              </a:rPr>
              <a:t>From Genetic Medicine </a:t>
            </a:r>
            <a:br>
              <a:rPr lang="en-US">
                <a:solidFill>
                  <a:srgbClr val="660066"/>
                </a:solidFill>
              </a:rPr>
            </a:br>
            <a:r>
              <a:rPr lang="en-US">
                <a:solidFill>
                  <a:srgbClr val="660066"/>
                </a:solidFill>
              </a:rPr>
              <a:t>to Organismic Medicine</a:t>
            </a:r>
            <a:endParaRPr lang="en-GB">
              <a:solidFill>
                <a:srgbClr val="660066"/>
              </a:solidFill>
            </a:endParaRPr>
          </a:p>
        </p:txBody>
      </p:sp>
      <p:sp>
        <p:nvSpPr>
          <p:cNvPr id="79875" name="Rectangle 3"/>
          <p:cNvSpPr>
            <a:spLocks noGrp="1" noChangeArrowheads="1"/>
          </p:cNvSpPr>
          <p:nvPr>
            <p:ph type="body" idx="1"/>
          </p:nvPr>
        </p:nvSpPr>
        <p:spPr/>
        <p:txBody>
          <a:bodyPr/>
          <a:lstStyle/>
          <a:p>
            <a:pPr>
              <a:lnSpc>
                <a:spcPct val="90000"/>
              </a:lnSpc>
            </a:pPr>
            <a:r>
              <a:rPr lang="en-US" sz="2000" b="1"/>
              <a:t>Organismic Medicine</a:t>
            </a:r>
            <a:r>
              <a:rPr lang="en-US" sz="2000"/>
              <a:t> is a phenomenological exploration of the relation between physiological functions and ontological capacities: the dynamic flows of awareness through which we relate as beings to the world. Each of these dynamic flows of awareness has its own organising pattern.  </a:t>
            </a:r>
          </a:p>
          <a:p>
            <a:pPr>
              <a:lnSpc>
                <a:spcPct val="90000"/>
              </a:lnSpc>
            </a:pPr>
            <a:r>
              <a:rPr lang="en-US" sz="2000"/>
              <a:t>Respiration, for example, is not merely a physiological function through which oxygen is absorbed from the air and fed into the bloodstream. It is the embodiment of a organismic capacity, as beings, to breathe in our awareness of the world, and in turn allow our awareness to flow out into the atmospheric field around us.</a:t>
            </a:r>
          </a:p>
          <a:p>
            <a:pPr>
              <a:lnSpc>
                <a:spcPct val="90000"/>
              </a:lnSpc>
            </a:pPr>
            <a:r>
              <a:rPr lang="en-US" sz="2000" b="1"/>
              <a:t>Organismic Medicine</a:t>
            </a:r>
            <a:r>
              <a:rPr lang="en-US" sz="2000"/>
              <a:t> does not locate the ‘cause’ of respiratory disorders in the respiratory </a:t>
            </a:r>
            <a:r>
              <a:rPr lang="en-US" sz="2000" b="1"/>
              <a:t>organs</a:t>
            </a:r>
            <a:r>
              <a:rPr lang="en-US" sz="2000"/>
              <a:t> but understands them as disturbances or respiratory functions as the inhibition of a specific </a:t>
            </a:r>
            <a:r>
              <a:rPr lang="en-US" sz="2000" b="1"/>
              <a:t>organismic capacity</a:t>
            </a:r>
            <a:r>
              <a:rPr lang="en-US" sz="2000"/>
              <a:t> – our capacity to experience and embody a this rhythmically patterned flow of awareness. </a:t>
            </a:r>
            <a:endParaRPr lang="en-GB" sz="20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solidFill>
                  <a:srgbClr val="660066"/>
                </a:solidFill>
              </a:rPr>
              <a:t>The True Nature of </a:t>
            </a:r>
            <a:br>
              <a:rPr lang="en-US">
                <a:solidFill>
                  <a:srgbClr val="660066"/>
                </a:solidFill>
              </a:rPr>
            </a:br>
            <a:r>
              <a:rPr lang="en-US">
                <a:solidFill>
                  <a:srgbClr val="660066"/>
                </a:solidFill>
              </a:rPr>
              <a:t>the Human Organism</a:t>
            </a:r>
            <a:endParaRPr lang="en-GB">
              <a:solidFill>
                <a:srgbClr val="660066"/>
              </a:solidFill>
            </a:endParaRPr>
          </a:p>
        </p:txBody>
      </p:sp>
      <p:sp>
        <p:nvSpPr>
          <p:cNvPr id="73731" name="Rectangle 3"/>
          <p:cNvSpPr>
            <a:spLocks noGrp="1" noChangeArrowheads="1"/>
          </p:cNvSpPr>
          <p:nvPr>
            <p:ph type="body" idx="1"/>
          </p:nvPr>
        </p:nvSpPr>
        <p:spPr/>
        <p:txBody>
          <a:bodyPr/>
          <a:lstStyle/>
          <a:p>
            <a:pPr>
              <a:lnSpc>
                <a:spcPct val="90000"/>
              </a:lnSpc>
            </a:pPr>
            <a:r>
              <a:rPr lang="en-US" sz="2000"/>
              <a:t>Before birth we dwell in our mother’s womb. After birth we continue to dwell in the womb of our own </a:t>
            </a:r>
            <a:r>
              <a:rPr lang="en-US" sz="2000" b="1"/>
              <a:t>organism</a:t>
            </a:r>
            <a:r>
              <a:rPr lang="en-US" sz="2000"/>
              <a:t> or ‘mother- body’ (German </a:t>
            </a:r>
            <a:r>
              <a:rPr lang="en-US" sz="2000" i="1"/>
              <a:t>Mutterleib</a:t>
            </a:r>
            <a:r>
              <a:rPr lang="en-US" sz="2000"/>
              <a:t>), a womb filled with the fluid medium of </a:t>
            </a:r>
            <a:r>
              <a:rPr lang="en-US" sz="2000" b="1"/>
              <a:t>feeling tone</a:t>
            </a:r>
            <a:r>
              <a:rPr lang="en-US" sz="2000"/>
              <a:t> – felt tones of being that permeate our field or ‘feeld’ of awareness, colouring both our self-awareness and our awareness of the world.   </a:t>
            </a:r>
          </a:p>
          <a:p>
            <a:pPr>
              <a:lnSpc>
                <a:spcPct val="90000"/>
              </a:lnSpc>
            </a:pPr>
            <a:r>
              <a:rPr lang="en-US" sz="2000"/>
              <a:t>The organism as mother-body is a living matrix of organising patterns and flows of awareness, comparable to musical scores from which we constantly give birth to our own bodies.</a:t>
            </a:r>
          </a:p>
          <a:p>
            <a:pPr>
              <a:lnSpc>
                <a:spcPct val="90000"/>
              </a:lnSpc>
            </a:pPr>
            <a:r>
              <a:rPr lang="en-US" sz="2000"/>
              <a:t>We do do by giving form to feeling tones – embodying them in cell and organ tone, muscle and skin tone, and expressing them in the tone of our voice and of our gestures, our words and deeds.</a:t>
            </a:r>
          </a:p>
          <a:p>
            <a:pPr>
              <a:lnSpc>
                <a:spcPct val="90000"/>
              </a:lnSpc>
            </a:pPr>
            <a:r>
              <a:rPr lang="en-US" sz="2000"/>
              <a:t>The mind is the </a:t>
            </a:r>
            <a:r>
              <a:rPr lang="en-US" sz="2000" b="1"/>
              <a:t>musculature</a:t>
            </a:r>
            <a:r>
              <a:rPr lang="en-US" sz="2000"/>
              <a:t> of the human organism. Sensation is its outermost skin. Feeling tone is its fluid or ‘humoral’ substance.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solidFill>
                  <a:srgbClr val="660066"/>
                </a:solidFill>
              </a:rPr>
              <a:t>Gender, Genomics and </a:t>
            </a:r>
            <a:br>
              <a:rPr lang="en-US">
                <a:solidFill>
                  <a:srgbClr val="660066"/>
                </a:solidFill>
              </a:rPr>
            </a:br>
            <a:r>
              <a:rPr lang="en-US">
                <a:solidFill>
                  <a:srgbClr val="660066"/>
                </a:solidFill>
              </a:rPr>
              <a:t>the Human Organism</a:t>
            </a:r>
            <a:endParaRPr lang="en-GB">
              <a:solidFill>
                <a:srgbClr val="660066"/>
              </a:solidFill>
            </a:endParaRPr>
          </a:p>
        </p:txBody>
      </p:sp>
      <p:sp>
        <p:nvSpPr>
          <p:cNvPr id="77827" name="Rectangle 3"/>
          <p:cNvSpPr>
            <a:spLocks noGrp="1" noChangeArrowheads="1"/>
          </p:cNvSpPr>
          <p:nvPr>
            <p:ph type="body" idx="1"/>
          </p:nvPr>
        </p:nvSpPr>
        <p:spPr/>
        <p:txBody>
          <a:bodyPr/>
          <a:lstStyle/>
          <a:p>
            <a:pPr>
              <a:lnSpc>
                <a:spcPct val="90000"/>
              </a:lnSpc>
            </a:pPr>
            <a:r>
              <a:rPr lang="en-US" sz="2000"/>
              <a:t>In the past women were treated as mere bearers of the male seed, and if possible, male progeny.  </a:t>
            </a:r>
          </a:p>
          <a:p>
            <a:pPr>
              <a:lnSpc>
                <a:spcPct val="90000"/>
              </a:lnSpc>
            </a:pPr>
            <a:r>
              <a:rPr lang="en-US" sz="2000" b="1"/>
              <a:t>Human Genomics</a:t>
            </a:r>
            <a:r>
              <a:rPr lang="en-US" sz="2000"/>
              <a:t> now places womankind in the role not of child bearers but as gene bearers.</a:t>
            </a:r>
          </a:p>
          <a:p>
            <a:pPr>
              <a:lnSpc>
                <a:spcPct val="90000"/>
              </a:lnSpc>
            </a:pPr>
            <a:r>
              <a:rPr lang="en-US" sz="2000"/>
              <a:t>Pre-scientific medicine identified the human organism with the womb or uterus – understanding illness as a </a:t>
            </a:r>
            <a:r>
              <a:rPr lang="en-US" sz="2000" i="1"/>
              <a:t>hysteria</a:t>
            </a:r>
            <a:r>
              <a:rPr lang="en-US" sz="2000"/>
              <a:t>, a ‘troubled womb’ that could affect both men or women but which the latter were naturally more sensitive too. Healing meant dissolving sold obstructions and restoring ‘humoral’ </a:t>
            </a:r>
            <a:r>
              <a:rPr lang="en-US" sz="2000" b="1"/>
              <a:t>fluidity</a:t>
            </a:r>
            <a:r>
              <a:rPr lang="en-US" sz="2000"/>
              <a:t> to the felt body.</a:t>
            </a:r>
          </a:p>
          <a:p>
            <a:pPr>
              <a:lnSpc>
                <a:spcPct val="90000"/>
              </a:lnSpc>
            </a:pPr>
            <a:r>
              <a:rPr lang="en-US" sz="2000"/>
              <a:t> </a:t>
            </a:r>
            <a:r>
              <a:rPr lang="en-US" sz="2000" b="1"/>
              <a:t>Human Genomics</a:t>
            </a:r>
            <a:r>
              <a:rPr lang="en-US" sz="2000"/>
              <a:t> and scientific medicine now understands the womb as a mere incubator of cellular and genetic raw materials, and illness as a mere failure of structural-genetic programming.</a:t>
            </a:r>
          </a:p>
          <a:p>
            <a:pPr>
              <a:lnSpc>
                <a:spcPct val="90000"/>
              </a:lnSpc>
            </a:pPr>
            <a:r>
              <a:rPr lang="en-US" sz="2000"/>
              <a:t>Medical treatments that seek to affect how a human beings feel from without - by manipulating the body’s chemistry or genes - essentially </a:t>
            </a:r>
            <a:r>
              <a:rPr lang="en-US" sz="2000" b="1"/>
              <a:t>violations</a:t>
            </a:r>
            <a:r>
              <a:rPr lang="en-US" sz="2000"/>
              <a:t> of the mother body or organism. </a:t>
            </a:r>
            <a:endParaRPr lang="en-GB" sz="2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noFill/>
        </p:spPr>
        <p:txBody>
          <a:bodyPr/>
          <a:lstStyle/>
          <a:p>
            <a:r>
              <a:rPr lang="en-US">
                <a:solidFill>
                  <a:srgbClr val="660066"/>
                </a:solidFill>
              </a:rPr>
              <a:t>Bodying as Organismic Activity</a:t>
            </a:r>
            <a:endParaRPr lang="en-GB">
              <a:solidFill>
                <a:srgbClr val="660066"/>
              </a:solidFill>
            </a:endParaRPr>
          </a:p>
        </p:txBody>
      </p:sp>
      <p:sp>
        <p:nvSpPr>
          <p:cNvPr id="74755" name="Rectangle 3"/>
          <p:cNvSpPr>
            <a:spLocks noGrp="1" noChangeArrowheads="1"/>
          </p:cNvSpPr>
          <p:nvPr>
            <p:ph type="body" idx="1"/>
          </p:nvPr>
        </p:nvSpPr>
        <p:spPr/>
        <p:txBody>
          <a:bodyPr/>
          <a:lstStyle/>
          <a:p>
            <a:pPr algn="just" eaLnBrk="0" hangingPunct="0">
              <a:lnSpc>
                <a:spcPct val="90000"/>
              </a:lnSpc>
            </a:pPr>
            <a:r>
              <a:rPr lang="en-US" sz="2000">
                <a:cs typeface="Times New Roman" charset="0"/>
              </a:rPr>
              <a:t>“We know by now a great deal – almost more than we can encompass – about what we call the body, without having seriously thought about what </a:t>
            </a:r>
            <a:r>
              <a:rPr lang="en-US" sz="2000" b="1">
                <a:cs typeface="Times New Roman" charset="0"/>
              </a:rPr>
              <a:t>bodying</a:t>
            </a:r>
            <a:r>
              <a:rPr lang="en-US" sz="2000">
                <a:cs typeface="Times New Roman" charset="0"/>
              </a:rPr>
              <a:t> is. It is something more and different from merely ‘carrying a body around with one’.”</a:t>
            </a:r>
            <a:r>
              <a:rPr lang="en-US" sz="2000">
                <a:solidFill>
                  <a:schemeClr val="hlink"/>
                </a:solidFill>
                <a:latin typeface="Rockwell Light" pitchFamily="18" charset="0"/>
                <a:cs typeface="Times New Roman" charset="0"/>
              </a:rPr>
              <a:t> </a:t>
            </a:r>
          </a:p>
          <a:p>
            <a:pPr algn="just" eaLnBrk="0" hangingPunct="0">
              <a:lnSpc>
                <a:spcPct val="90000"/>
              </a:lnSpc>
            </a:pPr>
            <a:r>
              <a:rPr lang="en-US" sz="2000">
                <a:cs typeface="Times New Roman" charset="0"/>
              </a:rPr>
              <a:t>Biological medicine understands the body as a living ‘thing’ rather than as a basic capacity of the </a:t>
            </a:r>
            <a:r>
              <a:rPr lang="en-US" sz="2000" b="1">
                <a:cs typeface="Times New Roman" charset="0"/>
              </a:rPr>
              <a:t>human organism</a:t>
            </a:r>
            <a:r>
              <a:rPr lang="en-US" sz="2000">
                <a:cs typeface="Times New Roman" charset="0"/>
              </a:rPr>
              <a:t> - the capacity for bodying inner patterns and flows of awareness. </a:t>
            </a:r>
          </a:p>
          <a:p>
            <a:pPr algn="just" eaLnBrk="0" hangingPunct="0">
              <a:lnSpc>
                <a:spcPct val="90000"/>
              </a:lnSpc>
            </a:pPr>
            <a:r>
              <a:rPr lang="en-US" sz="2000">
                <a:cs typeface="Times New Roman" charset="0"/>
              </a:rPr>
              <a:t>At the heart of this activity is feeling. </a:t>
            </a:r>
            <a:r>
              <a:rPr lang="en-GB" sz="2000" b="1">
                <a:cs typeface="Times New Roman" charset="0"/>
              </a:rPr>
              <a:t>“Every feeling is an embodiment attuned in this or that way, a mood that embodies in this or that way.”</a:t>
            </a:r>
            <a:r>
              <a:rPr lang="en-GB" sz="2000">
                <a:cs typeface="Times New Roman" charset="0"/>
              </a:rPr>
              <a:t> (Heidegger). </a:t>
            </a:r>
            <a:endParaRPr lang="en-US" sz="2000">
              <a:cs typeface="Times New Roman" charset="0"/>
            </a:endParaRPr>
          </a:p>
          <a:p>
            <a:pPr algn="just" eaLnBrk="0" hangingPunct="0">
              <a:lnSpc>
                <a:spcPct val="90000"/>
              </a:lnSpc>
            </a:pPr>
            <a:r>
              <a:rPr lang="en-GB" sz="2000">
                <a:cs typeface="Times New Roman" charset="0"/>
              </a:rPr>
              <a:t>Actively </a:t>
            </a:r>
            <a:r>
              <a:rPr lang="en-GB" sz="2000" b="1">
                <a:cs typeface="Times New Roman" charset="0"/>
              </a:rPr>
              <a:t>bodying</a:t>
            </a:r>
            <a:r>
              <a:rPr lang="en-GB" sz="2000" i="1">
                <a:cs typeface="Times New Roman" charset="0"/>
              </a:rPr>
              <a:t> </a:t>
            </a:r>
            <a:r>
              <a:rPr lang="en-GB" sz="2000">
                <a:cs typeface="Times New Roman" charset="0"/>
              </a:rPr>
              <a:t>feelings is not be confused with what psychoanalysts </a:t>
            </a:r>
            <a:r>
              <a:rPr lang="en-US" sz="2000">
                <a:cs typeface="Times New Roman" charset="0"/>
              </a:rPr>
              <a:t>call ‘somatisation’. It is the capacity to embody the to the specific mood or tone of feeling underlying a given mental and emotional state. Feeling tones are not emotions – they are felt tones or chords of feeling that permeate our awareness. </a:t>
            </a:r>
          </a:p>
          <a:p>
            <a:pPr algn="just" eaLnBrk="0" hangingPunct="0">
              <a:lnSpc>
                <a:spcPct val="90000"/>
              </a:lnSpc>
            </a:pPr>
            <a:endParaRPr lang="en-GB" sz="2000">
              <a:cs typeface="Times New Roman"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solidFill>
                  <a:srgbClr val="660066"/>
                </a:solidFill>
              </a:rPr>
              <a:t>From Gene Therapy </a:t>
            </a:r>
            <a:br>
              <a:rPr lang="en-US">
                <a:solidFill>
                  <a:srgbClr val="660066"/>
                </a:solidFill>
              </a:rPr>
            </a:br>
            <a:r>
              <a:rPr lang="en-US">
                <a:solidFill>
                  <a:srgbClr val="660066"/>
                </a:solidFill>
              </a:rPr>
              <a:t>to Organismic Healing</a:t>
            </a:r>
            <a:endParaRPr lang="en-GB">
              <a:solidFill>
                <a:srgbClr val="660066"/>
              </a:solidFill>
            </a:endParaRPr>
          </a:p>
        </p:txBody>
      </p:sp>
      <p:sp>
        <p:nvSpPr>
          <p:cNvPr id="69635" name="Rectangle 3"/>
          <p:cNvSpPr>
            <a:spLocks noGrp="1" noChangeArrowheads="1"/>
          </p:cNvSpPr>
          <p:nvPr>
            <p:ph type="body" idx="1"/>
          </p:nvPr>
        </p:nvSpPr>
        <p:spPr/>
        <p:txBody>
          <a:bodyPr/>
          <a:lstStyle/>
          <a:p>
            <a:pPr>
              <a:lnSpc>
                <a:spcPct val="90000"/>
              </a:lnSpc>
            </a:pPr>
            <a:r>
              <a:rPr lang="en-US" sz="2000" b="1"/>
              <a:t>Ontodynamic Physiology</a:t>
            </a:r>
            <a:r>
              <a:rPr lang="en-US" sz="2000"/>
              <a:t> and </a:t>
            </a:r>
            <a:r>
              <a:rPr lang="en-US" sz="2000" b="1"/>
              <a:t>Ontodynamic Psychology</a:t>
            </a:r>
            <a:r>
              <a:rPr lang="en-US" sz="2000"/>
              <a:t> provide the foundations for new methods of </a:t>
            </a:r>
            <a:r>
              <a:rPr lang="en-US" sz="2000" b="1"/>
              <a:t>Organismic Healing</a:t>
            </a:r>
            <a:r>
              <a:rPr lang="en-US" sz="2000"/>
              <a:t>.</a:t>
            </a:r>
          </a:p>
          <a:p>
            <a:pPr>
              <a:lnSpc>
                <a:spcPct val="90000"/>
              </a:lnSpc>
            </a:pPr>
            <a:r>
              <a:rPr lang="en-US" sz="2000" b="1"/>
              <a:t>Biological medicine and psychiatry</a:t>
            </a:r>
            <a:r>
              <a:rPr lang="en-US" sz="2000"/>
              <a:t> separate the patient as a human being from their own symptoms, reducing them to ‘cases’ of specific functional or organic, physical or mental, bodily or behavioural disorders. The healer-patient relationship is a purely external relationship, in which the patient’s problems are turned into a clinical object.</a:t>
            </a:r>
          </a:p>
          <a:p>
            <a:pPr>
              <a:lnSpc>
                <a:spcPct val="90000"/>
              </a:lnSpc>
            </a:pPr>
            <a:r>
              <a:rPr lang="en-US" sz="2000" b="1"/>
              <a:t>Organismic Healing</a:t>
            </a:r>
            <a:r>
              <a:rPr lang="en-US" sz="2000"/>
              <a:t> is based on healer’s capacity to directly receive and respond to the patient as a human being, using his or her own organism as a medium of resonant attunement and resonant inner contact and communication with the patient. Its aim is not to cure disease but to resonate and respond to the patient’s inner </a:t>
            </a:r>
            <a:r>
              <a:rPr lang="en-US" sz="2000" b="1"/>
              <a:t>dis-ease.</a:t>
            </a:r>
            <a:r>
              <a:rPr lang="en-US" sz="2000"/>
              <a:t> </a:t>
            </a:r>
          </a:p>
          <a:p>
            <a:pPr>
              <a:lnSpc>
                <a:spcPct val="90000"/>
              </a:lnSpc>
            </a:pPr>
            <a:endParaRPr lang="en-GB" sz="20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solidFill>
                  <a:srgbClr val="660066"/>
                </a:solidFill>
              </a:rPr>
              <a:t>The Aims of Organismic Healing</a:t>
            </a:r>
            <a:endParaRPr lang="en-GB">
              <a:solidFill>
                <a:srgbClr val="660066"/>
              </a:solidFill>
            </a:endParaRPr>
          </a:p>
        </p:txBody>
      </p:sp>
      <p:sp>
        <p:nvSpPr>
          <p:cNvPr id="76803" name="Rectangle 3"/>
          <p:cNvSpPr>
            <a:spLocks noGrp="1" noChangeArrowheads="1"/>
          </p:cNvSpPr>
          <p:nvPr>
            <p:ph type="body" idx="1"/>
          </p:nvPr>
        </p:nvSpPr>
        <p:spPr/>
        <p:txBody>
          <a:bodyPr/>
          <a:lstStyle/>
          <a:p>
            <a:pPr marL="533400" indent="-533400">
              <a:lnSpc>
                <a:spcPct val="90000"/>
              </a:lnSpc>
              <a:buFont typeface="Wingdings" pitchFamily="2" charset="2"/>
              <a:buNone/>
            </a:pPr>
            <a:r>
              <a:rPr lang="en-US" sz="2400"/>
              <a:t>The aim of organismic healing is to help the patient to:</a:t>
            </a:r>
          </a:p>
          <a:p>
            <a:pPr marL="533400" indent="-533400">
              <a:lnSpc>
                <a:spcPct val="90000"/>
              </a:lnSpc>
              <a:buFont typeface="Wingdings" pitchFamily="2" charset="2"/>
              <a:buAutoNum type="arabicPeriod"/>
            </a:pPr>
            <a:r>
              <a:rPr lang="en-US" sz="2000" b="1"/>
              <a:t>Understand</a:t>
            </a:r>
            <a:r>
              <a:rPr lang="en-US" sz="2000"/>
              <a:t> their dis-ease ‘maieutically’ - as a form of organismic pregnancy allowing them to feel and embody new aspects of their inner being. </a:t>
            </a:r>
          </a:p>
          <a:p>
            <a:pPr marL="533400" indent="-533400">
              <a:lnSpc>
                <a:spcPct val="90000"/>
              </a:lnSpc>
              <a:buFont typeface="Wingdings" pitchFamily="2" charset="2"/>
              <a:buAutoNum type="arabicPeriod"/>
            </a:pPr>
            <a:r>
              <a:rPr lang="en-US" sz="2000" b="1"/>
              <a:t>Actively attune to and body </a:t>
            </a:r>
            <a:r>
              <a:rPr lang="en-US" sz="2000"/>
              <a:t>their own feeling tones and states of being rather than expressing them in bodily and behaviourial symptoms.</a:t>
            </a:r>
          </a:p>
          <a:p>
            <a:pPr marL="533400" indent="-533400">
              <a:lnSpc>
                <a:spcPct val="90000"/>
              </a:lnSpc>
              <a:buFont typeface="Wingdings" pitchFamily="2" charset="2"/>
              <a:buAutoNum type="arabicPeriod"/>
            </a:pPr>
            <a:r>
              <a:rPr lang="en-US" sz="2000" b="1"/>
              <a:t>Balance and harmonise</a:t>
            </a:r>
            <a:r>
              <a:rPr lang="en-US" sz="2000"/>
              <a:t> the two basic movements of awareness that constitute the very  life of the human</a:t>
            </a:r>
            <a:r>
              <a:rPr lang="en-US" sz="2000" b="1"/>
              <a:t> </a:t>
            </a:r>
            <a:r>
              <a:rPr lang="en-US" sz="2000"/>
              <a:t>organism – the movement in and the movement out.</a:t>
            </a:r>
            <a:r>
              <a:rPr lang="en-US" sz="1800"/>
              <a:t> </a:t>
            </a:r>
          </a:p>
          <a:p>
            <a:pPr marL="533400" indent="-533400">
              <a:lnSpc>
                <a:spcPct val="90000"/>
              </a:lnSpc>
              <a:buFont typeface="Wingdings" pitchFamily="2" charset="2"/>
              <a:buAutoNum type="arabicPeriod"/>
            </a:pPr>
            <a:r>
              <a:rPr lang="en-US" sz="2000" b="1"/>
              <a:t>Establish and sustain</a:t>
            </a:r>
            <a:r>
              <a:rPr lang="en-US" sz="2000"/>
              <a:t> a resonant inner contact with themselves and others through an inward movement of awareness that reaches down to their ‘inner ground’ – allowing them to resonate with the fundamental tone or </a:t>
            </a:r>
            <a:r>
              <a:rPr lang="en-US" sz="2000" i="1"/>
              <a:t>Grundstimmung</a:t>
            </a:r>
            <a:r>
              <a:rPr lang="en-US" sz="2000"/>
              <a:t> of their own being.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solidFill>
                  <a:srgbClr val="660066"/>
                </a:solidFill>
              </a:rPr>
              <a:t>The Topsy-Turvy World of Medicine</a:t>
            </a:r>
            <a:endParaRPr lang="en-GB">
              <a:solidFill>
                <a:srgbClr val="660066"/>
              </a:solidFill>
            </a:endParaRPr>
          </a:p>
        </p:txBody>
      </p:sp>
      <p:sp>
        <p:nvSpPr>
          <p:cNvPr id="64515" name="Rectangle 3"/>
          <p:cNvSpPr>
            <a:spLocks noGrp="1" noChangeArrowheads="1"/>
          </p:cNvSpPr>
          <p:nvPr>
            <p:ph type="body" idx="1"/>
          </p:nvPr>
        </p:nvSpPr>
        <p:spPr/>
        <p:txBody>
          <a:bodyPr/>
          <a:lstStyle/>
          <a:p>
            <a:pPr>
              <a:lnSpc>
                <a:spcPct val="90000"/>
              </a:lnSpc>
            </a:pPr>
            <a:r>
              <a:rPr lang="en-US" sz="2000"/>
              <a:t>In the </a:t>
            </a:r>
            <a:r>
              <a:rPr lang="en-US" sz="2000" b="1"/>
              <a:t>topsy-turvy</a:t>
            </a:r>
            <a:r>
              <a:rPr lang="en-US" sz="2000"/>
              <a:t> world of biological medicine it is not beings but bodies that move, not beings but brains that think - ‘causing’ us as human beings them to feel and move in the way we do. </a:t>
            </a:r>
          </a:p>
          <a:p>
            <a:pPr>
              <a:lnSpc>
                <a:spcPct val="90000"/>
              </a:lnSpc>
            </a:pPr>
            <a:r>
              <a:rPr lang="en-US" sz="2000" b="1"/>
              <a:t>Human Genomics</a:t>
            </a:r>
            <a:r>
              <a:rPr lang="en-US" sz="2000"/>
              <a:t> reduces the human being to the human body and brain, and reduces the latter to its genetic ‘programming’. DNA is considered a molecular code of “instructions” for “making” a human being. </a:t>
            </a:r>
          </a:p>
          <a:p>
            <a:pPr>
              <a:lnSpc>
                <a:spcPct val="90000"/>
              </a:lnSpc>
            </a:pPr>
            <a:r>
              <a:rPr lang="en-US" sz="2000"/>
              <a:t>In doing so, it </a:t>
            </a:r>
            <a:r>
              <a:rPr lang="en-US" sz="2000" b="1"/>
              <a:t>turns reality on its head</a:t>
            </a:r>
            <a:r>
              <a:rPr lang="en-US" sz="2000"/>
              <a:t>, attributing characteristics belonging essentially to </a:t>
            </a:r>
            <a:r>
              <a:rPr lang="en-US" sz="2000" b="1"/>
              <a:t>beings</a:t>
            </a:r>
            <a:r>
              <a:rPr lang="en-US" sz="2000"/>
              <a:t> (for example the the capacity to think and communicate instructions) to things - to material </a:t>
            </a:r>
            <a:r>
              <a:rPr lang="en-US" sz="2000" b="1"/>
              <a:t>bodies</a:t>
            </a:r>
            <a:r>
              <a:rPr lang="en-US" sz="2000"/>
              <a:t> in space and time. </a:t>
            </a:r>
          </a:p>
          <a:p>
            <a:pPr>
              <a:lnSpc>
                <a:spcPct val="90000"/>
              </a:lnSpc>
            </a:pPr>
            <a:r>
              <a:rPr lang="en-US" sz="2000"/>
              <a:t>It identifies the </a:t>
            </a:r>
            <a:r>
              <a:rPr lang="en-US" sz="2000" b="1"/>
              <a:t>organising matrix</a:t>
            </a:r>
            <a:r>
              <a:rPr lang="en-US" sz="2000"/>
              <a:t> of the the human organism with </a:t>
            </a:r>
            <a:r>
              <a:rPr lang="en-US" sz="2000" b="1"/>
              <a:t>molecular structures</a:t>
            </a:r>
            <a:r>
              <a:rPr lang="en-US" sz="2000"/>
              <a:t> of the human body, rather than understanding the latter as one expression of the former.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solidFill>
                  <a:srgbClr val="660066"/>
                </a:solidFill>
              </a:rPr>
              <a:t>The Hubris of Medical Knowledge</a:t>
            </a:r>
            <a:endParaRPr lang="en-GB">
              <a:solidFill>
                <a:srgbClr val="660066"/>
              </a:solidFill>
            </a:endParaRPr>
          </a:p>
        </p:txBody>
      </p:sp>
      <p:sp>
        <p:nvSpPr>
          <p:cNvPr id="75779" name="Rectangle 3"/>
          <p:cNvSpPr>
            <a:spLocks noGrp="1" noChangeArrowheads="1"/>
          </p:cNvSpPr>
          <p:nvPr>
            <p:ph type="body" idx="1"/>
          </p:nvPr>
        </p:nvSpPr>
        <p:spPr/>
        <p:txBody>
          <a:bodyPr/>
          <a:lstStyle/>
          <a:p>
            <a:pPr algn="just" eaLnBrk="0" hangingPunct="0">
              <a:lnSpc>
                <a:spcPct val="90000"/>
              </a:lnSpc>
            </a:pPr>
            <a:r>
              <a:rPr lang="en-US" sz="2000" b="1"/>
              <a:t>Human Genomics</a:t>
            </a:r>
            <a:r>
              <a:rPr lang="en-US" sz="2000"/>
              <a:t> is the ultimate expression of what Ivan Illich called medical </a:t>
            </a:r>
            <a:r>
              <a:rPr lang="en-US" sz="2000" i="1"/>
              <a:t>hubris</a:t>
            </a:r>
            <a:r>
              <a:rPr lang="en-US" sz="2000"/>
              <a:t> – the arrogance of believing that ultimately, we can know all there is to know about the human body, and become ultimate technical masters of all biological processes.</a:t>
            </a:r>
          </a:p>
          <a:p>
            <a:pPr algn="just" eaLnBrk="0" hangingPunct="0">
              <a:lnSpc>
                <a:spcPct val="90000"/>
              </a:lnSpc>
            </a:pPr>
            <a:r>
              <a:rPr lang="en-US" sz="2000"/>
              <a:t>Medical knowledge of or about the body consists itself of bodies of concepts that remain fundamentally unquestioned and which ignores the fundamental question of what sort of </a:t>
            </a:r>
            <a:r>
              <a:rPr lang="en-US" sz="2000" b="1"/>
              <a:t>relation to the body </a:t>
            </a:r>
            <a:r>
              <a:rPr lang="en-US" sz="2000"/>
              <a:t>constitutes genuine ‘knowing’.</a:t>
            </a:r>
          </a:p>
          <a:p>
            <a:pPr algn="just" eaLnBrk="0" hangingPunct="0">
              <a:lnSpc>
                <a:spcPct val="90000"/>
              </a:lnSpc>
            </a:pPr>
            <a:r>
              <a:rPr lang="en-US" sz="2000"/>
              <a:t>Is it a relation in which the human body is turned into a clinical object for an unrelated observer or one in which the body itself is understood as a body</a:t>
            </a:r>
            <a:r>
              <a:rPr lang="en-US" sz="2000" b="1"/>
              <a:t> of </a:t>
            </a:r>
            <a:r>
              <a:rPr lang="en-US" sz="2000"/>
              <a:t>inner knowing – of molecular, cellular and organic awareness.</a:t>
            </a:r>
          </a:p>
          <a:p>
            <a:pPr algn="just" eaLnBrk="0" hangingPunct="0">
              <a:lnSpc>
                <a:spcPct val="90000"/>
              </a:lnSpc>
            </a:pPr>
            <a:r>
              <a:rPr lang="en-US" sz="2000"/>
              <a:t>“T</a:t>
            </a:r>
            <a:r>
              <a:rPr lang="en-GB" sz="2000"/>
              <a:t>he relation that distinguishes knowing is always the one in which </a:t>
            </a:r>
            <a:r>
              <a:rPr lang="en-GB" sz="2000" b="1"/>
              <a:t>we ourselves</a:t>
            </a:r>
            <a:r>
              <a:rPr lang="en-GB" sz="2000"/>
              <a:t> are related and in which the relation </a:t>
            </a:r>
            <a:r>
              <a:rPr lang="en-GB" sz="2000" b="1"/>
              <a:t>vibrates</a:t>
            </a:r>
            <a:r>
              <a:rPr lang="en-GB" sz="2000"/>
              <a:t> through our basic comportment.”</a:t>
            </a:r>
            <a:r>
              <a:rPr lang="en-US" sz="2000"/>
              <a:t> Martin Heidegger</a:t>
            </a:r>
            <a:endParaRPr lang="en-US" sz="2400"/>
          </a:p>
          <a:p>
            <a:pPr algn="just" eaLnBrk="0" hangingPunct="0">
              <a:lnSpc>
                <a:spcPct val="90000"/>
              </a:lnSpc>
              <a:buFont typeface="Wingdings" pitchFamily="2" charset="2"/>
              <a:buNone/>
            </a:pPr>
            <a:r>
              <a:rPr lang="en-US" sz="2400"/>
              <a:t> </a:t>
            </a:r>
          </a:p>
          <a:p>
            <a:pPr algn="just" eaLnBrk="0" hangingPunct="0">
              <a:lnSpc>
                <a:spcPct val="90000"/>
              </a:lnSpc>
              <a:buClrTx/>
              <a:buSzTx/>
              <a:buFontTx/>
              <a:buNone/>
            </a:pPr>
            <a:r>
              <a:rPr lang="en-US" sz="2400"/>
              <a:t>     </a:t>
            </a:r>
            <a:endParaRPr lang="en-GB" sz="2400" b="1">
              <a:solidFill>
                <a:schemeClr val="hlink"/>
              </a:solidFill>
            </a:endParaRPr>
          </a:p>
          <a:p>
            <a:pPr>
              <a:lnSpc>
                <a:spcPct val="90000"/>
              </a:lnSpc>
            </a:pPr>
            <a:endParaRPr lang="en-GB"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solidFill>
                  <a:srgbClr val="660066"/>
                </a:solidFill>
              </a:rPr>
              <a:t>Medical Nemesis</a:t>
            </a:r>
            <a:endParaRPr lang="en-GB">
              <a:solidFill>
                <a:srgbClr val="660066"/>
              </a:solidFill>
            </a:endParaRPr>
          </a:p>
        </p:txBody>
      </p:sp>
      <p:sp>
        <p:nvSpPr>
          <p:cNvPr id="86019" name="Rectangle 3"/>
          <p:cNvSpPr>
            <a:spLocks noGrp="1" noChangeArrowheads="1"/>
          </p:cNvSpPr>
          <p:nvPr>
            <p:ph type="body" idx="1"/>
          </p:nvPr>
        </p:nvSpPr>
        <p:spPr/>
        <p:txBody>
          <a:bodyPr/>
          <a:lstStyle/>
          <a:p>
            <a:pPr>
              <a:lnSpc>
                <a:spcPct val="90000"/>
              </a:lnSpc>
            </a:pPr>
            <a:r>
              <a:rPr lang="en-US" sz="2000"/>
              <a:t>The price that patients pay for </a:t>
            </a:r>
            <a:r>
              <a:rPr lang="en-US" sz="2000" b="1"/>
              <a:t>medical</a:t>
            </a:r>
            <a:r>
              <a:rPr lang="en-US" sz="2000"/>
              <a:t> </a:t>
            </a:r>
            <a:r>
              <a:rPr lang="en-US" sz="2000" b="1"/>
              <a:t>hubris</a:t>
            </a:r>
            <a:r>
              <a:rPr lang="en-US" sz="2000"/>
              <a:t> is a high one. </a:t>
            </a:r>
            <a:r>
              <a:rPr lang="en-US" sz="2000" b="1"/>
              <a:t>Ivan Illich</a:t>
            </a:r>
            <a:r>
              <a:rPr lang="en-US" sz="2000"/>
              <a:t>, in his book entitled </a:t>
            </a:r>
            <a:r>
              <a:rPr lang="en-US" sz="2000" b="1"/>
              <a:t>Medical Nemesis</a:t>
            </a:r>
            <a:r>
              <a:rPr lang="en-US" sz="2000"/>
              <a:t> analyses in detail the sickening effects of modern medicine.</a:t>
            </a:r>
          </a:p>
          <a:p>
            <a:pPr algn="just">
              <a:lnSpc>
                <a:spcPct val="90000"/>
              </a:lnSpc>
            </a:pPr>
            <a:r>
              <a:rPr lang="en-US" sz="2000">
                <a:cs typeface="Times New Roman" charset="0"/>
              </a:rPr>
              <a:t>“</a:t>
            </a:r>
            <a:r>
              <a:rPr lang="en-US" sz="2000" b="1">
                <a:cs typeface="Times New Roman" charset="0"/>
              </a:rPr>
              <a:t>The medical establishment has become a major threat to health. The disabling impact of professional control over medicine has reached the proportions of an epidemic. </a:t>
            </a:r>
            <a:r>
              <a:rPr lang="en-US" sz="2000" b="1" i="1">
                <a:cs typeface="Times New Roman" charset="0"/>
              </a:rPr>
              <a:t>Iatrogenesis</a:t>
            </a:r>
            <a:r>
              <a:rPr lang="en-US" sz="2000" b="1">
                <a:cs typeface="Times New Roman" charset="0"/>
              </a:rPr>
              <a:t>, the name for this new epidemic, comes from </a:t>
            </a:r>
            <a:r>
              <a:rPr lang="en-US" sz="2000" b="1" i="1">
                <a:cs typeface="Times New Roman" charset="0"/>
              </a:rPr>
              <a:t>iatros</a:t>
            </a:r>
            <a:r>
              <a:rPr lang="en-US" sz="2000" b="1">
                <a:cs typeface="Times New Roman" charset="0"/>
              </a:rPr>
              <a:t>, the Greek word for ‘physician’, and </a:t>
            </a:r>
            <a:r>
              <a:rPr lang="en-US" sz="2000" b="1" i="1">
                <a:cs typeface="Times New Roman" charset="0"/>
              </a:rPr>
              <a:t>genesis</a:t>
            </a:r>
            <a:r>
              <a:rPr lang="en-US" sz="2000" b="1">
                <a:cs typeface="Times New Roman" charset="0"/>
              </a:rPr>
              <a:t>, meaning ‘origin’….A professional and physician-based health-care system that has grown beyond critical bounds is sickening for three reasons: it must produce clinical damage that outweighs its potential benefits; it cannot but enhance even as it obscures the political conditions that render society unhealthy; and it tends to expropriate the power of the individual to heal himself and shape his or her environment.”</a:t>
            </a:r>
            <a:endParaRPr lang="en-GB" sz="2000" b="1">
              <a:latin typeface="Rockwell Light" pitchFamily="18" charset="0"/>
              <a:cs typeface="Times New Roman" charset="0"/>
            </a:endParaRPr>
          </a:p>
          <a:p>
            <a:pPr>
              <a:lnSpc>
                <a:spcPct val="90000"/>
              </a:lnSpc>
            </a:pPr>
            <a:endParaRPr lang="en-GB" sz="2000" b="1"/>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solidFill>
                  <a:srgbClr val="660066"/>
                </a:solidFill>
              </a:rPr>
              <a:t>Illich on Iatrogenesis</a:t>
            </a:r>
            <a:endParaRPr lang="en-GB">
              <a:solidFill>
                <a:srgbClr val="660066"/>
              </a:solidFill>
            </a:endParaRPr>
          </a:p>
        </p:txBody>
      </p:sp>
      <p:sp>
        <p:nvSpPr>
          <p:cNvPr id="87043" name="Rectangle 3"/>
          <p:cNvSpPr>
            <a:spLocks noGrp="1" noChangeArrowheads="1"/>
          </p:cNvSpPr>
          <p:nvPr>
            <p:ph type="body" idx="1"/>
          </p:nvPr>
        </p:nvSpPr>
        <p:spPr/>
        <p:txBody>
          <a:bodyPr/>
          <a:lstStyle/>
          <a:p>
            <a:pPr algn="just">
              <a:lnSpc>
                <a:spcPct val="90000"/>
              </a:lnSpc>
            </a:pPr>
            <a:r>
              <a:rPr lang="en-US" sz="2000" b="1">
                <a:cs typeface="Times New Roman" charset="0"/>
              </a:rPr>
              <a:t>“clinical iatrogenic</a:t>
            </a:r>
            <a:r>
              <a:rPr lang="en-US" sz="2000">
                <a:cs typeface="Times New Roman" charset="0"/>
              </a:rPr>
              <a:t> disease comprises all clinical conditions for which remedies, physicians or hospitals are the pathogens, or ‘sickening’ agents. </a:t>
            </a:r>
          </a:p>
          <a:p>
            <a:pPr algn="just">
              <a:lnSpc>
                <a:spcPct val="90000"/>
              </a:lnSpc>
            </a:pPr>
            <a:r>
              <a:rPr lang="en-US" sz="2000" b="1">
                <a:cs typeface="Times New Roman" charset="0"/>
              </a:rPr>
              <a:t>“social iatrogenesis</a:t>
            </a:r>
            <a:r>
              <a:rPr lang="en-US" sz="2000">
                <a:cs typeface="Times New Roman" charset="0"/>
              </a:rPr>
              <a:t>…obtains when medical bureaucracy creates ill-health by increasing stress, by multiplying disabling dependence…by lowering the levels of tolerance for discomfort or pain, by reducing the leeway that people are wont to concede to an individual when he suffers, and by abolishing even the right to self-care. [It] is at work when…all suffering is hospitalized and homes become inhospitable to birth, sickness and death.”</a:t>
            </a:r>
          </a:p>
          <a:p>
            <a:pPr>
              <a:lnSpc>
                <a:spcPct val="90000"/>
              </a:lnSpc>
            </a:pPr>
            <a:r>
              <a:rPr lang="en-US" sz="1800" b="1">
                <a:cs typeface="Times New Roman" charset="0"/>
              </a:rPr>
              <a:t>“ cultural iatrogenesis</a:t>
            </a:r>
            <a:r>
              <a:rPr lang="en-US" sz="1800">
                <a:cs typeface="Times New Roman" charset="0"/>
              </a:rPr>
              <a:t>…consists in the paralysis of healthy responses to suffering, impairment and death. It occurs when people accept health management on the engineering model, when they conspire in an attempt to produce, as if it were a commodity, something called ‘better health’.” </a:t>
            </a:r>
          </a:p>
          <a:p>
            <a:pPr algn="just">
              <a:lnSpc>
                <a:spcPct val="90000"/>
              </a:lnSpc>
            </a:pPr>
            <a:endParaRPr lang="en-GB" sz="2400">
              <a:latin typeface="Rockwell Light" pitchFamily="18" charset="0"/>
              <a:cs typeface="Times New Roman"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solidFill>
                  <a:srgbClr val="660066"/>
                </a:solidFill>
              </a:rPr>
              <a:t>The Gospel of the Human Genome</a:t>
            </a:r>
            <a:endParaRPr lang="en-GB">
              <a:solidFill>
                <a:srgbClr val="660066"/>
              </a:solidFill>
            </a:endParaRPr>
          </a:p>
        </p:txBody>
      </p:sp>
      <p:sp>
        <p:nvSpPr>
          <p:cNvPr id="81923" name="Rectangle 3"/>
          <p:cNvSpPr>
            <a:spLocks noGrp="1" noChangeArrowheads="1"/>
          </p:cNvSpPr>
          <p:nvPr>
            <p:ph type="body" idx="1"/>
          </p:nvPr>
        </p:nvSpPr>
        <p:spPr>
          <a:xfrm>
            <a:off x="1143000" y="2362200"/>
            <a:ext cx="8001000" cy="3733800"/>
          </a:xfrm>
        </p:spPr>
        <p:txBody>
          <a:bodyPr/>
          <a:lstStyle/>
          <a:p>
            <a:pPr>
              <a:lnSpc>
                <a:spcPct val="90000"/>
              </a:lnSpc>
            </a:pPr>
            <a:r>
              <a:rPr lang="en-US" sz="2000" b="1"/>
              <a:t>Human Genomics</a:t>
            </a:r>
            <a:r>
              <a:rPr lang="en-US" sz="2000"/>
              <a:t> has become the medical-scientific </a:t>
            </a:r>
            <a:r>
              <a:rPr lang="en-US" sz="2000" b="1"/>
              <a:t>religion</a:t>
            </a:r>
            <a:r>
              <a:rPr lang="en-US" sz="2000"/>
              <a:t> of the new millennium, replacing the </a:t>
            </a:r>
            <a:r>
              <a:rPr lang="en-US" sz="2000" b="1"/>
              <a:t>Book of Genesis</a:t>
            </a:r>
            <a:r>
              <a:rPr lang="en-US" sz="2000"/>
              <a:t> with with </a:t>
            </a:r>
            <a:r>
              <a:rPr lang="en-US" sz="2000" b="1"/>
              <a:t>Gospel of Genetics</a:t>
            </a:r>
            <a:r>
              <a:rPr lang="en-US" sz="2000"/>
              <a:t>.</a:t>
            </a:r>
          </a:p>
          <a:p>
            <a:pPr>
              <a:lnSpc>
                <a:spcPct val="90000"/>
              </a:lnSpc>
            </a:pPr>
            <a:r>
              <a:rPr lang="en-US" sz="2000"/>
              <a:t>This is a</a:t>
            </a:r>
            <a:r>
              <a:rPr lang="en-GB" sz="2000"/>
              <a:t> </a:t>
            </a:r>
            <a:r>
              <a:rPr lang="en-US" sz="2000"/>
              <a:t> </a:t>
            </a:r>
            <a:r>
              <a:rPr lang="en-GB" sz="2000" b="1"/>
              <a:t>pseudo-</a:t>
            </a:r>
            <a:r>
              <a:rPr lang="en-US" sz="2000" b="1"/>
              <a:t>scientific</a:t>
            </a:r>
            <a:r>
              <a:rPr lang="en-US" sz="2000"/>
              <a:t> religion </a:t>
            </a:r>
            <a:r>
              <a:rPr lang="en-GB" sz="2000"/>
              <a:t>and a </a:t>
            </a:r>
            <a:r>
              <a:rPr lang="en-GB" sz="2000" b="1"/>
              <a:t>pseudo-religio</a:t>
            </a:r>
            <a:r>
              <a:rPr lang="en-US" sz="2000" b="1"/>
              <a:t>us</a:t>
            </a:r>
            <a:r>
              <a:rPr lang="en-US" sz="2000"/>
              <a:t> science, a seemingly beneficial </a:t>
            </a:r>
            <a:r>
              <a:rPr lang="en-US" sz="2000" b="1"/>
              <a:t>scientology</a:t>
            </a:r>
            <a:r>
              <a:rPr lang="en-US" sz="2000"/>
              <a:t>. </a:t>
            </a:r>
          </a:p>
          <a:p>
            <a:pPr>
              <a:lnSpc>
                <a:spcPct val="90000"/>
              </a:lnSpc>
            </a:pPr>
            <a:r>
              <a:rPr lang="en-US" sz="2000"/>
              <a:t>The biotech labs are its corporate</a:t>
            </a:r>
            <a:r>
              <a:rPr lang="en-US" sz="2000" b="1"/>
              <a:t> temples</a:t>
            </a:r>
            <a:r>
              <a:rPr lang="en-US" sz="2000"/>
              <a:t>.  Its credo is that we are </a:t>
            </a:r>
            <a:r>
              <a:rPr lang="en-US" sz="2000" b="1"/>
              <a:t>creations </a:t>
            </a:r>
            <a:r>
              <a:rPr lang="en-US" sz="2000"/>
              <a:t>of our genes.</a:t>
            </a:r>
            <a:r>
              <a:rPr lang="en-US" sz="2000" b="1"/>
              <a:t>  </a:t>
            </a:r>
            <a:r>
              <a:rPr lang="en-US" sz="2000"/>
              <a:t>Its holy book is the </a:t>
            </a:r>
            <a:r>
              <a:rPr lang="en-US" sz="2000" b="1"/>
              <a:t>Human Genome</a:t>
            </a:r>
            <a:r>
              <a:rPr lang="en-US" sz="2000"/>
              <a:t> – understood as a ‘book of life’ </a:t>
            </a:r>
            <a:r>
              <a:rPr lang="en-US" sz="2000" b="1"/>
              <a:t>produced by its own alphabet</a:t>
            </a:r>
            <a:r>
              <a:rPr lang="en-US" sz="2000"/>
              <a:t> but lacking any author or inner dimensions of meaning.</a:t>
            </a:r>
          </a:p>
          <a:p>
            <a:pPr>
              <a:lnSpc>
                <a:spcPct val="90000"/>
              </a:lnSpc>
            </a:pPr>
            <a:r>
              <a:rPr lang="en-US" sz="2000"/>
              <a:t>Marketing and the mass</a:t>
            </a:r>
            <a:r>
              <a:rPr lang="en-GB" sz="2000"/>
              <a:t> media are the messengers of its </a:t>
            </a:r>
            <a:r>
              <a:rPr lang="en-GB" sz="2000" b="1"/>
              <a:t>Good News</a:t>
            </a:r>
            <a:r>
              <a:rPr lang="en-US" sz="2000" b="1"/>
              <a:t>. </a:t>
            </a:r>
            <a:r>
              <a:rPr lang="en-US" sz="2000"/>
              <a:t>Its</a:t>
            </a:r>
            <a:r>
              <a:rPr lang="en-GB" sz="2000" b="1"/>
              <a:t> </a:t>
            </a:r>
            <a:r>
              <a:rPr lang="en-US" sz="2000"/>
              <a:t>false promise is </a:t>
            </a:r>
            <a:r>
              <a:rPr lang="en-GB" sz="2000" b="1"/>
              <a:t>salvation</a:t>
            </a:r>
            <a:r>
              <a:rPr lang="en-GB" sz="2000"/>
              <a:t> from all </a:t>
            </a:r>
            <a:r>
              <a:rPr lang="en-US" sz="2000"/>
              <a:t>disease through gene technology. </a:t>
            </a:r>
          </a:p>
          <a:p>
            <a:pPr>
              <a:lnSpc>
                <a:spcPct val="90000"/>
              </a:lnSpc>
            </a:pPr>
            <a:r>
              <a:rPr lang="en-US" sz="2000"/>
              <a:t>Its true</a:t>
            </a:r>
            <a:r>
              <a:rPr lang="en-US" sz="2000" b="1"/>
              <a:t> </a:t>
            </a:r>
            <a:r>
              <a:rPr lang="en-US" sz="2000"/>
              <a:t>agenda – to turn the sickness of human relations in capitalist society into a source of corporate profit - by eliminating all bodily and behaviourial expression of </a:t>
            </a:r>
            <a:r>
              <a:rPr lang="en-US" sz="2000" b="1"/>
              <a:t>dis-ease</a:t>
            </a:r>
            <a:r>
              <a:rPr lang="en-US" sz="2000"/>
              <a:t>. </a:t>
            </a:r>
            <a:endParaRPr lang="en-US" sz="24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solidFill>
                  <a:srgbClr val="660066"/>
                </a:solidFill>
              </a:rPr>
              <a:t>Summary</a:t>
            </a:r>
            <a:endParaRPr lang="en-GB">
              <a:solidFill>
                <a:srgbClr val="660066"/>
              </a:solidFill>
            </a:endParaRPr>
          </a:p>
        </p:txBody>
      </p:sp>
      <p:sp>
        <p:nvSpPr>
          <p:cNvPr id="65539" name="Rectangle 3"/>
          <p:cNvSpPr>
            <a:spLocks noGrp="1" noChangeArrowheads="1"/>
          </p:cNvSpPr>
          <p:nvPr>
            <p:ph type="body" idx="1"/>
          </p:nvPr>
        </p:nvSpPr>
        <p:spPr/>
        <p:txBody>
          <a:bodyPr/>
          <a:lstStyle/>
          <a:p>
            <a:pPr marL="533400" indent="-533400">
              <a:lnSpc>
                <a:spcPct val="90000"/>
              </a:lnSpc>
            </a:pPr>
            <a:r>
              <a:rPr lang="en-US" sz="2400" b="1"/>
              <a:t>Human Ontology, Ontodynamic Physiology and Psychology, </a:t>
            </a:r>
            <a:r>
              <a:rPr lang="en-US" sz="2400"/>
              <a:t>lay the basis for a truly </a:t>
            </a:r>
            <a:r>
              <a:rPr lang="en-US" sz="2400" b="1"/>
              <a:t>human</a:t>
            </a:r>
            <a:r>
              <a:rPr lang="en-US" sz="2400"/>
              <a:t> approach to health and healing: for </a:t>
            </a:r>
            <a:r>
              <a:rPr lang="en-US" sz="2400" b="1"/>
              <a:t>Organismic Medicine</a:t>
            </a:r>
            <a:r>
              <a:rPr lang="en-US" sz="2400"/>
              <a:t> and </a:t>
            </a:r>
            <a:r>
              <a:rPr lang="en-US" sz="2400" b="1"/>
              <a:t>Healing</a:t>
            </a:r>
            <a:r>
              <a:rPr lang="en-US" sz="2400"/>
              <a:t>.</a:t>
            </a:r>
          </a:p>
          <a:p>
            <a:pPr marL="533400" indent="-533400">
              <a:lnSpc>
                <a:spcPct val="90000"/>
              </a:lnSpc>
            </a:pPr>
            <a:r>
              <a:rPr lang="en-US" sz="2400"/>
              <a:t>At the heart of</a:t>
            </a:r>
            <a:r>
              <a:rPr lang="en-US" sz="2400" b="1"/>
              <a:t> Human Ontology </a:t>
            </a:r>
            <a:r>
              <a:rPr lang="en-US" sz="2400"/>
              <a:t>are a number of basic distinctions obliterated by the medical scientific world outlook.</a:t>
            </a:r>
          </a:p>
          <a:p>
            <a:pPr marL="914400" lvl="1" indent="-457200">
              <a:lnSpc>
                <a:spcPct val="90000"/>
              </a:lnSpc>
              <a:buFontTx/>
              <a:buAutoNum type="arabicPeriod"/>
            </a:pPr>
            <a:r>
              <a:rPr lang="en-US" sz="2000" b="1"/>
              <a:t>between the human body and the human being, </a:t>
            </a:r>
          </a:p>
          <a:p>
            <a:pPr marL="914400" lvl="1" indent="-457200">
              <a:lnSpc>
                <a:spcPct val="90000"/>
              </a:lnSpc>
              <a:buFontTx/>
              <a:buAutoNum type="arabicPeriod"/>
            </a:pPr>
            <a:r>
              <a:rPr lang="en-US" sz="2000" b="1"/>
              <a:t>between physical science and phenomenological science, </a:t>
            </a:r>
          </a:p>
          <a:p>
            <a:pPr marL="914400" lvl="1" indent="-457200">
              <a:lnSpc>
                <a:spcPct val="90000"/>
              </a:lnSpc>
              <a:buFontTx/>
              <a:buAutoNum type="arabicPeriod"/>
            </a:pPr>
            <a:r>
              <a:rPr lang="en-US" sz="2000" b="1"/>
              <a:t>between the physical body and the phenomenal body</a:t>
            </a:r>
          </a:p>
          <a:p>
            <a:pPr marL="914400" lvl="1" indent="-457200">
              <a:lnSpc>
                <a:spcPct val="90000"/>
              </a:lnSpc>
              <a:buFontTx/>
              <a:buAutoNum type="arabicPeriod"/>
            </a:pPr>
            <a:r>
              <a:rPr lang="en-US" sz="2000" b="1"/>
              <a:t>between organic functions and the human organism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solidFill>
                  <a:srgbClr val="660066"/>
                </a:solidFill>
              </a:rPr>
              <a:t>Heidegger’s Health Warning</a:t>
            </a:r>
            <a:endParaRPr lang="en-GB">
              <a:solidFill>
                <a:srgbClr val="660066"/>
              </a:solidFill>
            </a:endParaRPr>
          </a:p>
        </p:txBody>
      </p:sp>
      <p:sp>
        <p:nvSpPr>
          <p:cNvPr id="66563" name="Rectangle 3"/>
          <p:cNvSpPr>
            <a:spLocks noGrp="1" noChangeArrowheads="1"/>
          </p:cNvSpPr>
          <p:nvPr>
            <p:ph type="body" idx="1"/>
          </p:nvPr>
        </p:nvSpPr>
        <p:spPr/>
        <p:txBody>
          <a:bodyPr/>
          <a:lstStyle/>
          <a:p>
            <a:pPr marL="533400" indent="-533400">
              <a:lnSpc>
                <a:spcPct val="90000"/>
              </a:lnSpc>
              <a:buFont typeface="Wingdings" pitchFamily="2" charset="2"/>
              <a:buNone/>
            </a:pPr>
            <a:r>
              <a:rPr lang="en-US"/>
              <a:t>     “Sometimes it seems as if modern humanity were rushing headlong towards this goal of </a:t>
            </a:r>
            <a:r>
              <a:rPr lang="en-US" i="1"/>
              <a:t>producing itself technologically</a:t>
            </a:r>
            <a:r>
              <a:rPr lang="en-US"/>
              <a:t>. If humanity achieves this, it will have exploded itself, ie. its </a:t>
            </a:r>
            <a:r>
              <a:rPr lang="en-US" i="1"/>
              <a:t>essence</a:t>
            </a:r>
            <a:r>
              <a:rPr lang="en-US"/>
              <a:t> qua </a:t>
            </a:r>
            <a:r>
              <a:rPr lang="en-US" i="1"/>
              <a:t>subjectivity</a:t>
            </a:r>
            <a:r>
              <a:rPr lang="en-US"/>
              <a:t>, into thin air, into a region where the absolutely meaningless is valued as the one and only ‘meaning’ and where preserving this value appears as the human ‘domination’ of the globe.”</a:t>
            </a:r>
            <a:endParaRPr lang="en-GB"/>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solidFill>
                  <a:srgbClr val="660066"/>
                </a:solidFill>
              </a:rPr>
              <a:t>References</a:t>
            </a:r>
            <a:endParaRPr lang="en-GB">
              <a:solidFill>
                <a:srgbClr val="660066"/>
              </a:solidFill>
            </a:endParaRPr>
          </a:p>
        </p:txBody>
      </p:sp>
      <p:sp>
        <p:nvSpPr>
          <p:cNvPr id="90115" name="Rectangle 3"/>
          <p:cNvSpPr>
            <a:spLocks noGrp="1" noChangeArrowheads="1"/>
          </p:cNvSpPr>
          <p:nvPr>
            <p:ph type="body" idx="1"/>
          </p:nvPr>
        </p:nvSpPr>
        <p:spPr/>
        <p:txBody>
          <a:bodyPr/>
          <a:lstStyle/>
          <a:p>
            <a:pPr>
              <a:lnSpc>
                <a:spcPct val="90000"/>
              </a:lnSpc>
              <a:buFont typeface="Wingdings" pitchFamily="2" charset="2"/>
              <a:buNone/>
            </a:pPr>
            <a:r>
              <a:rPr lang="en-US" sz="2400" b="1"/>
              <a:t>Martin Heidegger:</a:t>
            </a:r>
            <a:r>
              <a:rPr lang="en-US" sz="2400"/>
              <a:t> </a:t>
            </a:r>
          </a:p>
          <a:p>
            <a:pPr>
              <a:lnSpc>
                <a:spcPct val="90000"/>
              </a:lnSpc>
              <a:buFont typeface="Wingdings" pitchFamily="2" charset="2"/>
              <a:buNone/>
            </a:pPr>
            <a:r>
              <a:rPr lang="en-US" sz="2400"/>
              <a:t>The Zollikon Seminars</a:t>
            </a:r>
          </a:p>
          <a:p>
            <a:pPr>
              <a:lnSpc>
                <a:spcPct val="90000"/>
              </a:lnSpc>
              <a:buFont typeface="Wingdings" pitchFamily="2" charset="2"/>
              <a:buNone/>
            </a:pPr>
            <a:r>
              <a:rPr lang="en-US" sz="2400"/>
              <a:t>The Principle of Reason</a:t>
            </a:r>
          </a:p>
          <a:p>
            <a:pPr>
              <a:lnSpc>
                <a:spcPct val="90000"/>
              </a:lnSpc>
              <a:buFont typeface="Wingdings" pitchFamily="2" charset="2"/>
              <a:buNone/>
            </a:pPr>
            <a:r>
              <a:rPr lang="en-US" sz="2400" b="1"/>
              <a:t>Ivan Illich</a:t>
            </a:r>
            <a:r>
              <a:rPr lang="en-US" sz="2400"/>
              <a:t>: </a:t>
            </a:r>
          </a:p>
          <a:p>
            <a:pPr>
              <a:lnSpc>
                <a:spcPct val="90000"/>
              </a:lnSpc>
              <a:buFont typeface="Wingdings" pitchFamily="2" charset="2"/>
              <a:buNone/>
            </a:pPr>
            <a:r>
              <a:rPr lang="en-US" sz="2400"/>
              <a:t>Medical Nemesis: The Expropriation of Health</a:t>
            </a:r>
          </a:p>
          <a:p>
            <a:pPr>
              <a:lnSpc>
                <a:spcPct val="90000"/>
              </a:lnSpc>
              <a:buFont typeface="Wingdings" pitchFamily="2" charset="2"/>
              <a:buNone/>
            </a:pPr>
            <a:r>
              <a:rPr lang="en-US" sz="2400" b="1"/>
              <a:t>Alfred I. Tauber:</a:t>
            </a:r>
          </a:p>
          <a:p>
            <a:pPr>
              <a:lnSpc>
                <a:spcPct val="90000"/>
              </a:lnSpc>
              <a:buFont typeface="Wingdings" pitchFamily="2" charset="2"/>
              <a:buNone/>
            </a:pPr>
            <a:r>
              <a:rPr lang="en-US" sz="2400"/>
              <a:t>The Immune Self</a:t>
            </a:r>
          </a:p>
          <a:p>
            <a:pPr>
              <a:lnSpc>
                <a:spcPct val="90000"/>
              </a:lnSpc>
              <a:buFont typeface="Wingdings" pitchFamily="2" charset="2"/>
              <a:buNone/>
            </a:pPr>
            <a:r>
              <a:rPr lang="en-US" sz="2400" b="1"/>
              <a:t>Lily E. Kay</a:t>
            </a:r>
          </a:p>
          <a:p>
            <a:pPr>
              <a:lnSpc>
                <a:spcPct val="90000"/>
              </a:lnSpc>
              <a:buFont typeface="Wingdings" pitchFamily="2" charset="2"/>
              <a:buNone/>
            </a:pPr>
            <a:r>
              <a:rPr lang="en-US" sz="2400"/>
              <a:t>Who Wrote the Book of Life?</a:t>
            </a:r>
            <a:endParaRPr lang="en-GB" sz="2400"/>
          </a:p>
        </p:txBody>
      </p:sp>
    </p:spTree>
  </p:cSld>
  <p:clrMapOvr>
    <a:masterClrMapping/>
  </p:clrMapOvr>
</p:sld>
</file>

<file path=ppt/theme/theme1.xml><?xml version="1.0" encoding="utf-8"?>
<a:theme xmlns:a="http://schemas.openxmlformats.org/drawingml/2006/main" name="Capsules">
  <a:themeElements>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Capsules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Capsules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Designs\Capsules.pot</Template>
  <TotalTime>1366</TotalTime>
  <Words>9203</Words>
  <Application>Microsoft Office PowerPoint</Application>
  <PresentationFormat>On-screen Show (4:3)</PresentationFormat>
  <Paragraphs>371</Paragraphs>
  <Slides>72</Slides>
  <Notes>71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Times New Roman</vt:lpstr>
      <vt:lpstr>Arial</vt:lpstr>
      <vt:lpstr>Wingdings</vt:lpstr>
      <vt:lpstr>Rockwell Light</vt:lpstr>
      <vt:lpstr>Capsules</vt:lpstr>
      <vt:lpstr>Human Ontology or Human Genomics ? </vt:lpstr>
      <vt:lpstr>Philosophy and Medicine</vt:lpstr>
      <vt:lpstr>Human Genomics</vt:lpstr>
      <vt:lpstr>What is Human Ontology?</vt:lpstr>
      <vt:lpstr>Human Ontology and Human Genomics </vt:lpstr>
      <vt:lpstr>Bioethics: the false debate</vt:lpstr>
      <vt:lpstr>The Metaphysical Basis  of Human Genomics</vt:lpstr>
      <vt:lpstr>Bio-ontology vs Onto-biology</vt:lpstr>
      <vt:lpstr>Decoding the “Book of Life”</vt:lpstr>
      <vt:lpstr> The Myths of Molecular Biology</vt:lpstr>
      <vt:lpstr>The llliteracy of Modern Science</vt:lpstr>
      <vt:lpstr>The Myth of The Human Genome</vt:lpstr>
      <vt:lpstr>Biological Fact or  Ideological Metaphor?</vt:lpstr>
      <vt:lpstr>Linguistic Fallacies of Genomics</vt:lpstr>
      <vt:lpstr>Normal and ‘Abnormal’</vt:lpstr>
      <vt:lpstr>‘Normality’ and Eugenic Cleansing</vt:lpstr>
      <vt:lpstr>A Molecular ‘Master Language’?</vt:lpstr>
      <vt:lpstr>The New Eugenics</vt:lpstr>
      <vt:lpstr>A Genomic Master Race?</vt:lpstr>
      <vt:lpstr>Dehumanising Science</vt:lpstr>
      <vt:lpstr>Human Genomics  and the Holocaust</vt:lpstr>
      <vt:lpstr>Human Genomics and Corporate Health Fascism</vt:lpstr>
      <vt:lpstr>Health Fascism and  Health Profiteering</vt:lpstr>
      <vt:lpstr>The Hidden Medical Holocaust</vt:lpstr>
      <vt:lpstr>A New Genomic Holocaust?</vt:lpstr>
      <vt:lpstr>Doctors of Infamy</vt:lpstr>
      <vt:lpstr>Post-Holocaust Medicine</vt:lpstr>
      <vt:lpstr>From the Zollikon Seminars</vt:lpstr>
      <vt:lpstr>Heidegger on Genetics</vt:lpstr>
      <vt:lpstr>What is ‘Illness’ ?</vt:lpstr>
      <vt:lpstr>The Limits of Measurement</vt:lpstr>
      <vt:lpstr>The Denial of Meaning</vt:lpstr>
      <vt:lpstr>Psychiatric Psychosis</vt:lpstr>
      <vt:lpstr>Language, Meaning and Being</vt:lpstr>
      <vt:lpstr>Illegitimate Medical Causes</vt:lpstr>
      <vt:lpstr>Beyond Causality</vt:lpstr>
      <vt:lpstr>Physics and Phenomenology</vt:lpstr>
      <vt:lpstr>The Two Basic Laws of Phenomenological Science</vt:lpstr>
      <vt:lpstr>Physical &amp; Primordial Phenomena</vt:lpstr>
      <vt:lpstr>Phenomenological Medicine</vt:lpstr>
      <vt:lpstr>The Physical Body and  the Phenomenal Body</vt:lpstr>
      <vt:lpstr>Heidegger on the Human Body</vt:lpstr>
      <vt:lpstr>The Unbounded Body</vt:lpstr>
      <vt:lpstr>Illness and the Phenomenal Body</vt:lpstr>
      <vt:lpstr>The Phenomenology of Illness</vt:lpstr>
      <vt:lpstr>Nazism and Biological Medicine</vt:lpstr>
      <vt:lpstr>The Militarisation of Medicine</vt:lpstr>
      <vt:lpstr>The False Metaphors  of Immunology</vt:lpstr>
      <vt:lpstr>From Militarism to Maieusis</vt:lpstr>
      <vt:lpstr>Collateral Damage</vt:lpstr>
      <vt:lpstr>The Ontology of Illness</vt:lpstr>
      <vt:lpstr>Organs and Organisms</vt:lpstr>
      <vt:lpstr>Human Ontology and  the Human Organism</vt:lpstr>
      <vt:lpstr>Ontodynamic Physiology</vt:lpstr>
      <vt:lpstr>Heidegger on the Brain</vt:lpstr>
      <vt:lpstr>Heidegger on Thinking</vt:lpstr>
      <vt:lpstr>Ontodynamic Psychology</vt:lpstr>
      <vt:lpstr>Ontodynamic Psychology</vt:lpstr>
      <vt:lpstr>From Genetic Medicine  to Organismic Medicine</vt:lpstr>
      <vt:lpstr>The True Nature of  the Human Organism</vt:lpstr>
      <vt:lpstr>Gender, Genomics and  the Human Organism</vt:lpstr>
      <vt:lpstr>Bodying as Organismic Activity</vt:lpstr>
      <vt:lpstr>From Gene Therapy  to Organismic Healing</vt:lpstr>
      <vt:lpstr>The Aims of Organismic Healing</vt:lpstr>
      <vt:lpstr>The Topsy-Turvy World of Medicine</vt:lpstr>
      <vt:lpstr>The Hubris of Medical Knowledge</vt:lpstr>
      <vt:lpstr>Medical Nemesis</vt:lpstr>
      <vt:lpstr>Illich on Iatrogenesis</vt:lpstr>
      <vt:lpstr>The Gospel of the Human Genome</vt:lpstr>
      <vt:lpstr>Summary</vt:lpstr>
      <vt:lpstr>Heidegger’s Health Warning</vt:lpstr>
      <vt:lpstr>References</vt:lpstr>
    </vt:vector>
  </TitlesOfParts>
  <Company>LENS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Ontology or  Human Genomics ?</dc:title>
  <dc:creator>HPWilberg</dc:creator>
  <cp:lastModifiedBy>JEFF</cp:lastModifiedBy>
  <cp:revision>98</cp:revision>
  <dcterms:created xsi:type="dcterms:W3CDTF">2001-08-07T08:43:17Z</dcterms:created>
  <dcterms:modified xsi:type="dcterms:W3CDTF">2010-03-14T04:39:20Z</dcterms:modified>
</cp:coreProperties>
</file>
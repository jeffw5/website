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91" r:id="rId1"/>
    <p:sldMasterId id="2147483897" r:id="rId2"/>
  </p:sldMasterIdLst>
  <p:sldIdLst>
    <p:sldId id="256" r:id="rId3"/>
    <p:sldId id="257" r:id="rId4"/>
    <p:sldId id="261" r:id="rId5"/>
    <p:sldId id="263" r:id="rId6"/>
    <p:sldId id="265" r:id="rId7"/>
    <p:sldId id="264" r:id="rId8"/>
    <p:sldId id="258" r:id="rId9"/>
    <p:sldId id="259" r:id="rId10"/>
    <p:sldId id="262" r:id="rId11"/>
    <p:sldId id="260" r:id="rId12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835" autoAdjust="0"/>
  </p:normalViewPr>
  <p:slideViewPr>
    <p:cSldViewPr snapToGrid="0" snapToObjects="1">
      <p:cViewPr>
        <p:scale>
          <a:sx n="103" d="100"/>
          <a:sy n="103" d="100"/>
        </p:scale>
        <p:origin x="-1272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238" y="349250"/>
            <a:ext cx="7158037" cy="46037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4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  <a:extLst/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 smtClean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Agenda:</a:t>
            </a:r>
          </a:p>
          <a:p>
            <a:pPr lvl="1"/>
            <a:r>
              <a:rPr lang="en-US" dirty="0" smtClean="0"/>
              <a:t>Big Picture</a:t>
            </a:r>
          </a:p>
          <a:p>
            <a:pPr lvl="1"/>
            <a:r>
              <a:rPr lang="en-US" dirty="0" smtClean="0"/>
              <a:t>Current State</a:t>
            </a:r>
          </a:p>
          <a:p>
            <a:pPr lvl="1"/>
            <a:r>
              <a:rPr lang="en-US" dirty="0" smtClean="0"/>
              <a:t>Future State </a:t>
            </a:r>
          </a:p>
          <a:p>
            <a:pPr lvl="1"/>
            <a:r>
              <a:rPr lang="en-US" dirty="0" smtClean="0"/>
              <a:t>Transition from Project Artifacts to Operational Guidance</a:t>
            </a:r>
          </a:p>
          <a:p>
            <a:pPr lvl="1"/>
            <a:r>
              <a:rPr lang="en-US" dirty="0" smtClean="0"/>
              <a:t>SIPOC for Business Analysis (BA)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2376" y="4407931"/>
            <a:ext cx="75330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Note: Customer Needs is a separate discipline that needs to marry up to requirements management.  This is a much larger topic and one that is not well understood (let alone put in put in practice).  </a:t>
            </a:r>
          </a:p>
          <a:p>
            <a:pPr algn="l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A separate deck would need to be devoted to outlining this discipline along with the data-driven approach for capturing this information and aligning it with business and domain models.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25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>
            <a:off x="-826464" y="4817230"/>
            <a:ext cx="15440738" cy="290242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>
              <a:buNone/>
            </a:pPr>
            <a:r>
              <a:rPr lang="en-US" sz="2800" dirty="0" smtClean="0"/>
              <a:t>Architecture (Implementation)</a:t>
            </a:r>
            <a:endParaRPr lang="en-US" sz="2800" dirty="0"/>
          </a:p>
        </p:txBody>
      </p:sp>
      <p:sp>
        <p:nvSpPr>
          <p:cNvPr id="31" name="Rounded Rectangle 30"/>
          <p:cNvSpPr/>
          <p:nvPr/>
        </p:nvSpPr>
        <p:spPr>
          <a:xfrm>
            <a:off x="-826464" y="3527260"/>
            <a:ext cx="10683539" cy="1289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>
              <a:buNone/>
            </a:pPr>
            <a:r>
              <a:rPr lang="en-US" sz="2400" dirty="0" smtClean="0"/>
              <a:t>Architecture (Application, Information, Technical, Operational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30" name="Rounded Rectangle 29"/>
          <p:cNvSpPr/>
          <p:nvPr/>
        </p:nvSpPr>
        <p:spPr>
          <a:xfrm>
            <a:off x="-826464" y="410826"/>
            <a:ext cx="10683539" cy="311643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2800" dirty="0" smtClean="0"/>
              <a:t>Requirements (Future State)</a:t>
            </a:r>
            <a:endParaRPr lang="en-US" sz="2800" dirty="0"/>
          </a:p>
        </p:txBody>
      </p:sp>
      <p:sp>
        <p:nvSpPr>
          <p:cNvPr id="29" name="Rectangle 28"/>
          <p:cNvSpPr/>
          <p:nvPr/>
        </p:nvSpPr>
        <p:spPr>
          <a:xfrm>
            <a:off x="-236456" y="5151946"/>
            <a:ext cx="14387105" cy="167292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2000" dirty="0" smtClean="0">
                <a:solidFill>
                  <a:schemeClr val="tx1"/>
                </a:solidFill>
              </a:rPr>
              <a:t>Lifecycle Management (Product, Services, Processes, Software, Data, Information)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351" y="1371028"/>
            <a:ext cx="2675304" cy="35125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Customer Needs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3720" y="1371028"/>
            <a:ext cx="2283467" cy="35125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Business Needs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64055" y="1371028"/>
            <a:ext cx="2675304" cy="35125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Compliance Needs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3720" y="2414032"/>
            <a:ext cx="7975639" cy="35125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Models (Rules, Processes, Metrics, Analytics, Metadata)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6322" y="3152941"/>
            <a:ext cx="1580863" cy="783825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Rules Engine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94166" y="3152942"/>
            <a:ext cx="1360904" cy="783824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BPM Engine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05823" y="3152942"/>
            <a:ext cx="1360904" cy="783824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Analytics Engine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6164" y="3152941"/>
            <a:ext cx="1743021" cy="783824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Metadata Repository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3976" y="1891742"/>
            <a:ext cx="7975639" cy="35125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chemeClr val="tx1"/>
                </a:solidFill>
              </a:rPr>
              <a:t>Models (Services, Capabilities, Features, Needs)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4232" y="5749443"/>
            <a:ext cx="1580863" cy="783825"/>
          </a:xfrm>
          <a:prstGeom prst="rect">
            <a:avLst/>
          </a:prstGeom>
          <a:solidFill>
            <a:schemeClr val="accent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Ideation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52206" y="5749443"/>
            <a:ext cx="1580863" cy="783825"/>
          </a:xfrm>
          <a:prstGeom prst="rect">
            <a:avLst/>
          </a:prstGeom>
          <a:solidFill>
            <a:schemeClr val="accent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Invention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960180" y="5749443"/>
            <a:ext cx="1580863" cy="783825"/>
          </a:xfrm>
          <a:prstGeom prst="rect">
            <a:avLst/>
          </a:prstGeom>
          <a:solidFill>
            <a:schemeClr val="accent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Evaluation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68154" y="5749443"/>
            <a:ext cx="1580863" cy="783825"/>
          </a:xfrm>
          <a:prstGeom prst="rect">
            <a:avLst/>
          </a:prstGeom>
          <a:solidFill>
            <a:schemeClr val="accent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Execution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76128" y="5749443"/>
            <a:ext cx="1580863" cy="783825"/>
          </a:xfrm>
          <a:prstGeom prst="rect">
            <a:avLst/>
          </a:prstGeom>
          <a:solidFill>
            <a:schemeClr val="accent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Testing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84102" y="5749443"/>
            <a:ext cx="2218788" cy="783825"/>
          </a:xfrm>
          <a:prstGeom prst="rect">
            <a:avLst/>
          </a:prstGeom>
          <a:solidFill>
            <a:schemeClr val="accent3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Implementation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430000" y="5749443"/>
            <a:ext cx="2218788" cy="783825"/>
          </a:xfrm>
          <a:prstGeom prst="rect">
            <a:avLst/>
          </a:prstGeom>
          <a:solidFill>
            <a:srgbClr val="9BBB59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Gap Assessment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430000" y="2084167"/>
            <a:ext cx="2218788" cy="78382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>
                <a:solidFill>
                  <a:srgbClr val="000000"/>
                </a:solidFill>
              </a:rPr>
              <a:t>Continuous Improvement</a:t>
            </a:r>
            <a:endParaRPr lang="en-US" sz="1800" dirty="0">
              <a:solidFill>
                <a:srgbClr val="000000"/>
              </a:solidFill>
            </a:endParaRPr>
          </a:p>
        </p:txBody>
      </p:sp>
      <p:cxnSp>
        <p:nvCxnSpPr>
          <p:cNvPr id="24" name="Straight Arrow Connector 23"/>
          <p:cNvCxnSpPr>
            <a:endCxn id="22" idx="2"/>
          </p:cNvCxnSpPr>
          <p:nvPr/>
        </p:nvCxnSpPr>
        <p:spPr>
          <a:xfrm flipV="1">
            <a:off x="12539394" y="2867992"/>
            <a:ext cx="0" cy="2881451"/>
          </a:xfrm>
          <a:prstGeom prst="straightConnector1">
            <a:avLst/>
          </a:prstGeom>
          <a:ln w="381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1"/>
          </p:cNvCxnSpPr>
          <p:nvPr/>
        </p:nvCxnSpPr>
        <p:spPr>
          <a:xfrm flipH="1">
            <a:off x="8724900" y="2476080"/>
            <a:ext cx="2705100" cy="0"/>
          </a:xfrm>
          <a:prstGeom prst="straightConnector1">
            <a:avLst/>
          </a:prstGeom>
          <a:ln w="38100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97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 Picture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4" y="1656260"/>
            <a:ext cx="8379108" cy="37999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5724" y="5603334"/>
            <a:ext cx="7159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Note: The MDR (metadata repository) contains the taxonomies and ontologies for which all requirements must adhere (semantic mappings support all POVs)  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38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382255"/>
            <a:ext cx="7886700" cy="682986"/>
          </a:xfrm>
        </p:spPr>
        <p:txBody>
          <a:bodyPr>
            <a:noAutofit/>
          </a:bodyPr>
          <a:lstStyle/>
          <a:p>
            <a:r>
              <a:rPr lang="en-US" sz="2000" dirty="0" smtClean="0"/>
              <a:t>Business Architecture </a:t>
            </a:r>
            <a:r>
              <a:rPr lang="en-US" sz="2000" dirty="0" smtClean="0"/>
              <a:t>Aligns POV across an organization and between organizations (verticals &amp; horizontals)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7865178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framed by the strategy they implement, seen through stakeholder value perspective (value stream) and what the business has the ability to do to deliver that value (capability)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Requirements are additionally bound by investment, project and stakeholder focus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dirty="0" smtClean="0"/>
              <a:t>Other perspectives for framing, such as product and service, may be exposed using business architecture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1267265" y="1687238"/>
            <a:ext cx="114733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Strategy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92365" y="3223886"/>
            <a:ext cx="1201363" cy="11042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Requirement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57044" y="3757392"/>
            <a:ext cx="1097492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Internal</a:t>
            </a:r>
          </a:p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Stakeholder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962138" y="1793030"/>
            <a:ext cx="120136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Value Stream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4729" y="2702605"/>
            <a:ext cx="1086947" cy="7212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Capability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41708" y="2261597"/>
            <a:ext cx="120136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Value Stream Stage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4163501" y="2195270"/>
            <a:ext cx="378207" cy="298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1" name="Right Arrow 10"/>
          <p:cNvSpPr/>
          <p:nvPr/>
        </p:nvSpPr>
        <p:spPr>
          <a:xfrm>
            <a:off x="5754448" y="2656030"/>
            <a:ext cx="480281" cy="3104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2" name="Right Arrow 11"/>
          <p:cNvSpPr/>
          <p:nvPr/>
        </p:nvSpPr>
        <p:spPr>
          <a:xfrm>
            <a:off x="2414599" y="1870835"/>
            <a:ext cx="546410" cy="304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6" name="Right Arrow 15"/>
          <p:cNvSpPr/>
          <p:nvPr/>
        </p:nvSpPr>
        <p:spPr>
          <a:xfrm>
            <a:off x="7321676" y="3145912"/>
            <a:ext cx="464012" cy="3030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17" name="Rectangle 16"/>
          <p:cNvSpPr/>
          <p:nvPr/>
        </p:nvSpPr>
        <p:spPr>
          <a:xfrm>
            <a:off x="2833723" y="983717"/>
            <a:ext cx="1532308" cy="2049436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Customer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77519" y="983717"/>
            <a:ext cx="1358201" cy="2773673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What an Organization Provides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3" name="Down Arrow 22"/>
          <p:cNvSpPr/>
          <p:nvPr/>
        </p:nvSpPr>
        <p:spPr>
          <a:xfrm flipV="1">
            <a:off x="5069287" y="2947395"/>
            <a:ext cx="274320" cy="8099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24" name="Right Arrow 23"/>
          <p:cNvSpPr/>
          <p:nvPr/>
        </p:nvSpPr>
        <p:spPr>
          <a:xfrm>
            <a:off x="5754536" y="3997258"/>
            <a:ext cx="2031153" cy="270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25" name="Rectangle 24"/>
          <p:cNvSpPr/>
          <p:nvPr/>
        </p:nvSpPr>
        <p:spPr>
          <a:xfrm>
            <a:off x="7577581" y="983717"/>
            <a:ext cx="1689737" cy="2049436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Investment &amp; Solution</a:t>
            </a:r>
          </a:p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67012" y="2100127"/>
            <a:ext cx="1086947" cy="7307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Initiative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28" name="Down Arrow 27"/>
          <p:cNvSpPr/>
          <p:nvPr/>
        </p:nvSpPr>
        <p:spPr>
          <a:xfrm>
            <a:off x="8272737" y="2830924"/>
            <a:ext cx="274320" cy="3929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29" name="Rectangle 28"/>
          <p:cNvSpPr/>
          <p:nvPr/>
        </p:nvSpPr>
        <p:spPr>
          <a:xfrm>
            <a:off x="1002551" y="983717"/>
            <a:ext cx="1702550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Strategic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461378" y="983717"/>
            <a:ext cx="1494631" cy="3910802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Internal Stakeholder   </a:t>
            </a:r>
          </a:p>
          <a:p>
            <a:pPr>
              <a:buNone/>
            </a:pPr>
            <a:r>
              <a:rPr lang="en-US" sz="1100" b="0" i="1" dirty="0" smtClean="0">
                <a:solidFill>
                  <a:srgbClr val="000000"/>
                </a:solidFill>
              </a:rPr>
              <a:t>(X-Functional) </a:t>
            </a:r>
            <a:r>
              <a:rPr lang="en-US" sz="1400" b="0" i="1" dirty="0" smtClean="0">
                <a:solidFill>
                  <a:srgbClr val="000000"/>
                </a:solidFill>
              </a:rPr>
              <a:t>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5747911" y="2246168"/>
            <a:ext cx="2103441" cy="2386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4" name="Right Arrow 33"/>
          <p:cNvSpPr/>
          <p:nvPr/>
        </p:nvSpPr>
        <p:spPr>
          <a:xfrm>
            <a:off x="7321676" y="2681089"/>
            <a:ext cx="529675" cy="246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5" name="Rectangle 34"/>
          <p:cNvSpPr/>
          <p:nvPr/>
        </p:nvSpPr>
        <p:spPr>
          <a:xfrm>
            <a:off x="1208251" y="3737821"/>
            <a:ext cx="130715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Business </a:t>
            </a:r>
            <a:r>
              <a:rPr lang="en-US" sz="1400" b="0" dirty="0" smtClean="0">
                <a:solidFill>
                  <a:schemeClr val="tx1"/>
                </a:solidFill>
              </a:rPr>
              <a:t>Entity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71195" y="3145911"/>
            <a:ext cx="1702550" cy="1748607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>
                <a:solidFill>
                  <a:srgbClr val="000000"/>
                </a:solidFill>
              </a:rPr>
              <a:t>BU &amp; LOB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37" name="Down Arrow 36"/>
          <p:cNvSpPr/>
          <p:nvPr/>
        </p:nvSpPr>
        <p:spPr>
          <a:xfrm flipV="1">
            <a:off x="1732913" y="2373036"/>
            <a:ext cx="274320" cy="13647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38" name="Right Arrow 37"/>
          <p:cNvSpPr/>
          <p:nvPr/>
        </p:nvSpPr>
        <p:spPr>
          <a:xfrm>
            <a:off x="2515404" y="4000934"/>
            <a:ext cx="2141640" cy="267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39" name="Rectangle 38"/>
          <p:cNvSpPr/>
          <p:nvPr/>
        </p:nvSpPr>
        <p:spPr>
          <a:xfrm>
            <a:off x="-2329754" y="1331332"/>
            <a:ext cx="1582673" cy="381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Customer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-2329754" y="1795032"/>
            <a:ext cx="1582673" cy="381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Compliance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-2329754" y="2259230"/>
            <a:ext cx="1582673" cy="5716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Business</a:t>
            </a:r>
          </a:p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Stakeholder</a:t>
            </a:r>
            <a:r>
              <a:rPr lang="en-US" sz="1400" b="0" dirty="0" smtClean="0">
                <a:solidFill>
                  <a:schemeClr val="tx1"/>
                </a:solidFill>
              </a:rPr>
              <a:t> Needs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817198" y="1886268"/>
            <a:ext cx="425166" cy="304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44" name="Rectangle 43"/>
          <p:cNvSpPr/>
          <p:nvPr/>
        </p:nvSpPr>
        <p:spPr>
          <a:xfrm>
            <a:off x="-2527632" y="983717"/>
            <a:ext cx="1945538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Customer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-240350" y="1761350"/>
            <a:ext cx="1057547" cy="5349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Desired Outcomes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6" name="Right Arrow 45"/>
          <p:cNvSpPr/>
          <p:nvPr/>
        </p:nvSpPr>
        <p:spPr>
          <a:xfrm>
            <a:off x="-747081" y="1862634"/>
            <a:ext cx="506731" cy="304722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 i="1" dirty="0"/>
          </a:p>
        </p:txBody>
      </p:sp>
      <p:sp>
        <p:nvSpPr>
          <p:cNvPr id="47" name="Rectangle 46"/>
          <p:cNvSpPr/>
          <p:nvPr/>
        </p:nvSpPr>
        <p:spPr>
          <a:xfrm>
            <a:off x="-527273" y="983717"/>
            <a:ext cx="1453479" cy="204943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What a Customer Wants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589428" y="3145912"/>
            <a:ext cx="1689737" cy="1748607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Value (Capability) Gap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50" name="Right Arrow 49"/>
          <p:cNvSpPr/>
          <p:nvPr/>
        </p:nvSpPr>
        <p:spPr>
          <a:xfrm>
            <a:off x="-2527634" y="300725"/>
            <a:ext cx="5232735" cy="5394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WHY</a:t>
            </a:r>
            <a:endParaRPr lang="en-US" sz="1800" dirty="0"/>
          </a:p>
        </p:txBody>
      </p:sp>
      <p:sp>
        <p:nvSpPr>
          <p:cNvPr id="51" name="Right Arrow 50"/>
          <p:cNvSpPr/>
          <p:nvPr/>
        </p:nvSpPr>
        <p:spPr>
          <a:xfrm>
            <a:off x="2826144" y="300725"/>
            <a:ext cx="6441173" cy="53948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WHAT</a:t>
            </a:r>
            <a:endParaRPr lang="en-US" sz="1800" dirty="0"/>
          </a:p>
        </p:txBody>
      </p:sp>
      <p:sp>
        <p:nvSpPr>
          <p:cNvPr id="53" name="Left Arrow 52"/>
          <p:cNvSpPr/>
          <p:nvPr/>
        </p:nvSpPr>
        <p:spPr>
          <a:xfrm>
            <a:off x="-2329754" y="6858000"/>
            <a:ext cx="11473754" cy="539484"/>
          </a:xfrm>
          <a:prstGeom prst="lef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dirty="0" smtClean="0"/>
              <a:t>HOW</a:t>
            </a:r>
            <a:endParaRPr lang="en-US" sz="1800" dirty="0"/>
          </a:p>
        </p:txBody>
      </p:sp>
      <p:sp>
        <p:nvSpPr>
          <p:cNvPr id="54" name="Rectangle 53"/>
          <p:cNvSpPr/>
          <p:nvPr/>
        </p:nvSpPr>
        <p:spPr>
          <a:xfrm>
            <a:off x="971196" y="5022196"/>
            <a:ext cx="8296122" cy="1704485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Execution Delivery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92365" y="5558682"/>
            <a:ext cx="120136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Solution Architecture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6" name="Down Arrow 55"/>
          <p:cNvSpPr/>
          <p:nvPr/>
        </p:nvSpPr>
        <p:spPr>
          <a:xfrm>
            <a:off x="8287977" y="4904448"/>
            <a:ext cx="274320" cy="6542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57" name="Rectangle 56"/>
          <p:cNvSpPr/>
          <p:nvPr/>
        </p:nvSpPr>
        <p:spPr>
          <a:xfrm>
            <a:off x="4657044" y="5558681"/>
            <a:ext cx="120136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Solution Delivery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58" name="Down Arrow 57"/>
          <p:cNvSpPr/>
          <p:nvPr/>
        </p:nvSpPr>
        <p:spPr>
          <a:xfrm rot="5400000">
            <a:off x="6684888" y="4953725"/>
            <a:ext cx="274320" cy="19272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59" name="Rectangle 58"/>
          <p:cNvSpPr/>
          <p:nvPr/>
        </p:nvSpPr>
        <p:spPr>
          <a:xfrm>
            <a:off x="1208250" y="5558682"/>
            <a:ext cx="1617894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Portfolio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0" name="Down Arrow 59"/>
          <p:cNvSpPr/>
          <p:nvPr/>
        </p:nvSpPr>
        <p:spPr>
          <a:xfrm rot="5400000">
            <a:off x="3595892" y="5018036"/>
            <a:ext cx="274320" cy="17986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1" name="Rectangle 60"/>
          <p:cNvSpPr/>
          <p:nvPr/>
        </p:nvSpPr>
        <p:spPr>
          <a:xfrm>
            <a:off x="-2329755" y="5558681"/>
            <a:ext cx="158267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Delivery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-2329755" y="3925070"/>
            <a:ext cx="1582673" cy="685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0" dirty="0" smtClean="0">
                <a:solidFill>
                  <a:schemeClr val="tx1"/>
                </a:solidFill>
              </a:rPr>
              <a:t>Product &amp; Service Support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63" name="Down Arrow 62"/>
          <p:cNvSpPr/>
          <p:nvPr/>
        </p:nvSpPr>
        <p:spPr>
          <a:xfrm rot="5400000">
            <a:off x="93425" y="4939699"/>
            <a:ext cx="274320" cy="19553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4" name="Down Arrow 63"/>
          <p:cNvSpPr/>
          <p:nvPr/>
        </p:nvSpPr>
        <p:spPr>
          <a:xfrm flipV="1">
            <a:off x="-1687312" y="4610870"/>
            <a:ext cx="274320" cy="9316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5" name="Down Arrow 64"/>
          <p:cNvSpPr/>
          <p:nvPr/>
        </p:nvSpPr>
        <p:spPr>
          <a:xfrm flipV="1">
            <a:off x="-1672072" y="2830924"/>
            <a:ext cx="274320" cy="10818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400" b="0"/>
          </a:p>
        </p:txBody>
      </p:sp>
      <p:sp>
        <p:nvSpPr>
          <p:cNvPr id="66" name="Rectangle 65"/>
          <p:cNvSpPr/>
          <p:nvPr/>
        </p:nvSpPr>
        <p:spPr>
          <a:xfrm>
            <a:off x="-2523347" y="3146061"/>
            <a:ext cx="3340544" cy="3580619"/>
          </a:xfrm>
          <a:prstGeom prst="rect">
            <a:avLst/>
          </a:prstGeom>
          <a:noFill/>
          <a:ln w="158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400" b="0" i="1" dirty="0" smtClean="0">
                <a:solidFill>
                  <a:srgbClr val="000000"/>
                </a:solidFill>
              </a:rPr>
              <a:t>Operations Perspective</a:t>
            </a:r>
            <a:endParaRPr lang="en-US" sz="1400" b="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8001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7441"/>
            <a:ext cx="7886700" cy="421550"/>
          </a:xfrm>
        </p:spPr>
        <p:txBody>
          <a:bodyPr>
            <a:noAutofit/>
          </a:bodyPr>
          <a:lstStyle/>
          <a:p>
            <a:r>
              <a:rPr lang="en-US" sz="2000" dirty="0" smtClean="0"/>
              <a:t>Business Architecture </a:t>
            </a:r>
            <a:r>
              <a:rPr lang="en-US" sz="2000" dirty="0" smtClean="0"/>
              <a:t>Aligns WHY, WHAT, &amp; HOW across all POVs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5628164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 smtClean="0"/>
              <a:t>Requirements </a:t>
            </a:r>
            <a:r>
              <a:rPr lang="en-US" sz="1200" b="1" dirty="0" smtClean="0"/>
              <a:t>are framed </a:t>
            </a:r>
            <a:r>
              <a:rPr lang="en-US" sz="1200" b="1" dirty="0" smtClean="0"/>
              <a:t>and aligned using business architecture to ensure they address the perspectives (POVs).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 smtClean="0"/>
              <a:t>When requirements are properly framed, they align </a:t>
            </a:r>
            <a:r>
              <a:rPr lang="en-US" sz="1200" b="1" dirty="0" smtClean="0"/>
              <a:t>strategy and execution to ensure the right value is </a:t>
            </a:r>
            <a:r>
              <a:rPr lang="en-US" sz="1200" b="1" dirty="0" smtClean="0"/>
              <a:t>delivered through the products and services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 smtClean="0"/>
              <a:t>Business architecture provides a consistent framework for aligning what customers want against what the organization provides as well as driving continuous improvement in value delivery (by closing the right value &amp; capability gaps</a:t>
            </a:r>
            <a:endParaRPr lang="en-US" sz="1200" b="1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6" y="598991"/>
            <a:ext cx="8296364" cy="502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03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731"/>
            <a:ext cx="7886700" cy="539095"/>
          </a:xfrm>
        </p:spPr>
        <p:txBody>
          <a:bodyPr>
            <a:noAutofit/>
          </a:bodyPr>
          <a:lstStyle/>
          <a:p>
            <a:r>
              <a:rPr lang="en-US" sz="2400" dirty="0" smtClean="0"/>
              <a:t>Business Architecture Offers Multiple Perspectives on Requirements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338" y="5095810"/>
            <a:ext cx="8473195" cy="16744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 smtClean="0"/>
              <a:t>Requirements are framed by the strategy they implement, seen through stakeholder value perspective (value stream) and what the business has the ability to do to deliver that value (capability)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 smtClean="0"/>
              <a:t>Requirements are additionally bound by investment, project and stakeholder focus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 smtClean="0"/>
              <a:t>Other perspectives for framing, such as product and service, may be exposed using business architecture</a:t>
            </a:r>
            <a:endParaRPr lang="en-US" sz="16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435338" y="1234730"/>
            <a:ext cx="8355353" cy="3659789"/>
            <a:chOff x="614681" y="1234730"/>
            <a:chExt cx="7907610" cy="3659789"/>
          </a:xfrm>
        </p:grpSpPr>
        <p:sp>
          <p:nvSpPr>
            <p:cNvPr id="4" name="Rectangle 3"/>
            <p:cNvSpPr/>
            <p:nvPr/>
          </p:nvSpPr>
          <p:spPr>
            <a:xfrm>
              <a:off x="989595" y="1568470"/>
              <a:ext cx="1085851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Strategy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7004773" y="3223886"/>
              <a:ext cx="1136985" cy="11042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Requirement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037466" y="3757392"/>
              <a:ext cx="1038680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Stakeholder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33386" y="1793030"/>
              <a:ext cx="1136985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Value Stream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53879" y="2702605"/>
              <a:ext cx="1028700" cy="7212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Capability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28310" y="2261597"/>
              <a:ext cx="1136985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Value Stream Stage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570371" y="2195270"/>
              <a:ext cx="357940" cy="29899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076063" y="2656030"/>
              <a:ext cx="357940" cy="31045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2075446" y="1752067"/>
              <a:ext cx="357940" cy="30472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4681" y="4342884"/>
              <a:ext cx="18503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Organization Perspective</a:t>
              </a:r>
              <a:endParaRPr lang="en-US" sz="1100" b="0" i="1" dirty="0">
                <a:latin typeface="+mn-lt"/>
              </a:endParaRP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6502455" y="3145912"/>
              <a:ext cx="495999" cy="30308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32317" y="1540041"/>
              <a:ext cx="2643746" cy="193734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77285" y="3033153"/>
              <a:ext cx="18503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Stakeholder Value Perspective</a:t>
              </a:r>
              <a:endParaRPr lang="en-US" sz="1100" b="0" i="1" dirty="0">
                <a:latin typeface="+mn-lt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76062" y="3501641"/>
              <a:ext cx="18503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What a Business Does</a:t>
              </a:r>
              <a:endParaRPr lang="en-US" sz="1100" b="0" i="1" dirty="0">
                <a:latin typeface="+mn-lt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81821" y="2506919"/>
              <a:ext cx="1285418" cy="13467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3" name="Down Arrow 22"/>
            <p:cNvSpPr/>
            <p:nvPr/>
          </p:nvSpPr>
          <p:spPr>
            <a:xfrm flipV="1">
              <a:off x="4427619" y="2947395"/>
              <a:ext cx="244317" cy="80999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076146" y="4025333"/>
              <a:ext cx="1922308" cy="2707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26397" y="1548393"/>
              <a:ext cx="1368482" cy="14678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075419" y="2100127"/>
              <a:ext cx="1028700" cy="7307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Initiative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71957" y="1521871"/>
              <a:ext cx="18503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Investment &amp; Solution</a:t>
              </a:r>
            </a:p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Perspective</a:t>
              </a:r>
              <a:endParaRPr lang="en-US" sz="1100" b="0" i="1" dirty="0">
                <a:latin typeface="+mn-lt"/>
              </a:endParaRPr>
            </a:p>
          </p:txBody>
        </p:sp>
        <p:sp>
          <p:nvSpPr>
            <p:cNvPr id="28" name="Down Arrow 27"/>
            <p:cNvSpPr/>
            <p:nvPr/>
          </p:nvSpPr>
          <p:spPr>
            <a:xfrm>
              <a:off x="7533593" y="2799282"/>
              <a:ext cx="184661" cy="42460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37491" y="1234730"/>
              <a:ext cx="1368482" cy="14678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3157" y="1252153"/>
              <a:ext cx="1460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Strategic Perspective</a:t>
              </a:r>
              <a:endParaRPr lang="en-US" sz="1100" b="0" i="1" dirty="0">
                <a:latin typeface="+mn-lt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852285" y="3728901"/>
              <a:ext cx="1414537" cy="116561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5069876" y="2246168"/>
              <a:ext cx="2017574" cy="2386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34" name="Right Arrow 33"/>
            <p:cNvSpPr/>
            <p:nvPr/>
          </p:nvSpPr>
          <p:spPr>
            <a:xfrm>
              <a:off x="6485017" y="2681089"/>
              <a:ext cx="575582" cy="24625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33743" y="3587413"/>
              <a:ext cx="1237107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 smtClean="0">
                  <a:solidFill>
                    <a:schemeClr val="tx1"/>
                  </a:solidFill>
                </a:rPr>
                <a:t>Business Unit</a:t>
              </a:r>
              <a:endParaRPr lang="en-US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55539" y="3231972"/>
              <a:ext cx="1368482" cy="14678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7" name="Down Arrow 36"/>
            <p:cNvSpPr/>
            <p:nvPr/>
          </p:nvSpPr>
          <p:spPr>
            <a:xfrm flipV="1">
              <a:off x="1459966" y="2246167"/>
              <a:ext cx="153212" cy="13412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2170849" y="4000934"/>
              <a:ext cx="1876091" cy="2670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684896" y="4424769"/>
              <a:ext cx="17792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 smtClean="0">
                  <a:latin typeface="+mn-lt"/>
                </a:rPr>
                <a:t>3</a:t>
              </a:r>
              <a:r>
                <a:rPr lang="en-US" sz="1100" b="0" i="1" baseline="30000" dirty="0" smtClean="0">
                  <a:latin typeface="+mn-lt"/>
                </a:rPr>
                <a:t>rd</a:t>
              </a:r>
              <a:r>
                <a:rPr lang="en-US" sz="1100" b="0" i="1" dirty="0">
                  <a:latin typeface="+mn-lt"/>
                </a:rPr>
                <a:t> </a:t>
              </a:r>
              <a:r>
                <a:rPr lang="en-US" sz="1100" b="0" i="1" dirty="0" smtClean="0">
                  <a:latin typeface="+mn-lt"/>
                </a:rPr>
                <a:t>Party &amp; Internal Stakeholder Perspective</a:t>
              </a:r>
              <a:endParaRPr lang="en-US" sz="1100" b="0" i="1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47366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Today requirements are :</a:t>
            </a:r>
          </a:p>
          <a:p>
            <a:pPr lvl="1"/>
            <a:r>
              <a:rPr lang="en-US" dirty="0" smtClean="0"/>
              <a:t>drafted as documents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ranslated into artifacts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ecomposed into features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aptured in doc objects, spreadsheets, and models</a:t>
            </a:r>
          </a:p>
          <a:p>
            <a:pPr lvl="1"/>
            <a:endParaRPr lang="en-US" dirty="0"/>
          </a:p>
          <a:p>
            <a:r>
              <a:rPr lang="en-US" dirty="0" smtClean="0"/>
              <a:t>Some challenges include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ubject to interpretation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ot easily reused or repurposed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ifficult to achieve consistency </a:t>
            </a:r>
          </a:p>
          <a:p>
            <a:pPr lvl="1"/>
            <a:r>
              <a:rPr lang="en-US" dirty="0"/>
              <a:t>q</a:t>
            </a:r>
            <a:r>
              <a:rPr lang="en-US" dirty="0" smtClean="0"/>
              <a:t>uickly becomes irrelevant (shelf-ware)</a:t>
            </a:r>
          </a:p>
        </p:txBody>
      </p:sp>
    </p:spTree>
    <p:extLst>
      <p:ext uri="{BB962C8B-B14F-4D97-AF65-F5344CB8AC3E}">
        <p14:creationId xmlns:p14="http://schemas.microsoft.com/office/powerpoint/2010/main" val="369917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State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Tomorrow requirements could be :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rafted as capabilities and features which are aligned with services (business &amp; infrastructure)</a:t>
            </a:r>
          </a:p>
          <a:p>
            <a:pPr lvl="1"/>
            <a:r>
              <a:rPr lang="en-US" dirty="0" smtClean="0"/>
              <a:t>captured as business rules, metadata, metrics, and function points within rules libraries, metadata repository, process models, and analytics models </a:t>
            </a:r>
          </a:p>
          <a:p>
            <a:pPr lvl="1"/>
            <a:endParaRPr lang="en-US" dirty="0"/>
          </a:p>
          <a:p>
            <a:r>
              <a:rPr lang="en-US" dirty="0" smtClean="0"/>
              <a:t>Some of the benefits may include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euse of requirements (all levels of granularity)</a:t>
            </a:r>
          </a:p>
          <a:p>
            <a:pPr lvl="1"/>
            <a:r>
              <a:rPr lang="en-US" dirty="0"/>
              <a:t>h</a:t>
            </a:r>
            <a:r>
              <a:rPr lang="en-US" dirty="0" smtClean="0"/>
              <a:t>igh degree of consistency, relevancy, and usability</a:t>
            </a:r>
          </a:p>
          <a:p>
            <a:pPr lvl="1"/>
            <a:r>
              <a:rPr lang="en-US" dirty="0" smtClean="0"/>
              <a:t>Requirements become part of the solution (subject to version management &amp; part of configuration mgmt.)</a:t>
            </a:r>
          </a:p>
        </p:txBody>
      </p:sp>
    </p:spTree>
    <p:extLst>
      <p:ext uri="{BB962C8B-B14F-4D97-AF65-F5344CB8AC3E}">
        <p14:creationId xmlns:p14="http://schemas.microsoft.com/office/powerpoint/2010/main" val="1355506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Artifacts to Operational Guidance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Metrics are used for verification and validation to ensure quality of projects (across their lifecycle) are used to:</a:t>
            </a:r>
          </a:p>
          <a:p>
            <a:pPr lvl="1"/>
            <a:r>
              <a:rPr lang="en-US" dirty="0" smtClean="0"/>
              <a:t>control tolerances for all categories of requirements (all levels of granularity) for products, services, and operations across their lifecycles (while in service)</a:t>
            </a:r>
          </a:p>
          <a:p>
            <a:r>
              <a:rPr lang="en-US" dirty="0" smtClean="0"/>
              <a:t>Success Criteria are acceptable thresholds of performance covering (but not limited to):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rojects &amp; test plans (all types of testing)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ontrol charts and certifications</a:t>
            </a:r>
          </a:p>
          <a:p>
            <a:pPr lvl="1"/>
            <a:r>
              <a:rPr lang="en-US" dirty="0" smtClean="0"/>
              <a:t>products &amp; services</a:t>
            </a:r>
          </a:p>
        </p:txBody>
      </p:sp>
    </p:spTree>
    <p:extLst>
      <p:ext uri="{BB962C8B-B14F-4D97-AF65-F5344CB8AC3E}">
        <p14:creationId xmlns:p14="http://schemas.microsoft.com/office/powerpoint/2010/main" val="83763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S–IPO-C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10</a:t>
            </a:fld>
            <a:endParaRPr 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84163" y="13922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nputs (BAI)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211513" y="1392248"/>
            <a:ext cx="2701925" cy="5080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rocessing (BAP)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6138863" y="13795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utputs (BAO)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6138863" y="2027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List of Prioritized Features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6138863" y="2255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Features by Magnitude 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3225800" y="2027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ID Skills / Resources</a:t>
            </a: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3225800" y="2239973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Training on Req. Proc/Method.</a:t>
            </a:r>
          </a:p>
        </p:txBody>
      </p:sp>
      <p:sp>
        <p:nvSpPr>
          <p:cNvPr id="11" name="AutoShape 25"/>
          <p:cNvSpPr>
            <a:spLocks noChangeArrowheads="1"/>
          </p:cNvSpPr>
          <p:nvPr/>
        </p:nvSpPr>
        <p:spPr bwMode="auto">
          <a:xfrm>
            <a:off x="3225800" y="2463810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Common Document Template</a:t>
            </a:r>
          </a:p>
        </p:txBody>
      </p:sp>
      <p:sp>
        <p:nvSpPr>
          <p:cNvPr id="12" name="AutoShape 26"/>
          <p:cNvSpPr>
            <a:spLocks noChangeArrowheads="1"/>
          </p:cNvSpPr>
          <p:nvPr/>
        </p:nvSpPr>
        <p:spPr bwMode="auto">
          <a:xfrm>
            <a:off x="3225800" y="2687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Publish Glossary</a:t>
            </a:r>
          </a:p>
        </p:txBody>
      </p:sp>
      <p:sp>
        <p:nvSpPr>
          <p:cNvPr id="13" name="AutoShape 27"/>
          <p:cNvSpPr>
            <a:spLocks noChangeArrowheads="1"/>
          </p:cNvSpPr>
          <p:nvPr/>
        </p:nvSpPr>
        <p:spPr bwMode="auto">
          <a:xfrm>
            <a:off x="284163" y="20272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1) Sample reports</a:t>
            </a:r>
          </a:p>
        </p:txBody>
      </p:sp>
      <p:sp>
        <p:nvSpPr>
          <p:cNvPr id="14" name="AutoShape 28"/>
          <p:cNvSpPr>
            <a:spLocks noChangeArrowheads="1"/>
          </p:cNvSpPr>
          <p:nvPr/>
        </p:nvSpPr>
        <p:spPr bwMode="auto">
          <a:xfrm>
            <a:off x="284163" y="22431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2) Prototypes</a:t>
            </a:r>
          </a:p>
        </p:txBody>
      </p:sp>
      <p:sp>
        <p:nvSpPr>
          <p:cNvPr id="15" name="AutoShape 29"/>
          <p:cNvSpPr>
            <a:spLocks noChangeArrowheads="1"/>
          </p:cNvSpPr>
          <p:nvPr/>
        </p:nvSpPr>
        <p:spPr bwMode="auto">
          <a:xfrm>
            <a:off x="284163" y="24590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3) Screen Mock-ups</a:t>
            </a:r>
          </a:p>
        </p:txBody>
      </p:sp>
      <p:sp>
        <p:nvSpPr>
          <p:cNvPr id="16" name="AutoShape 30"/>
          <p:cNvSpPr>
            <a:spLocks noChangeArrowheads="1"/>
          </p:cNvSpPr>
          <p:nvPr/>
        </p:nvSpPr>
        <p:spPr bwMode="auto">
          <a:xfrm>
            <a:off x="284163" y="26749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4) ID Bus. Problem/Need</a:t>
            </a:r>
          </a:p>
        </p:txBody>
      </p:sp>
      <p:sp>
        <p:nvSpPr>
          <p:cNvPr id="17" name="AutoShape 31"/>
          <p:cNvSpPr>
            <a:spLocks noChangeArrowheads="1"/>
          </p:cNvSpPr>
          <p:nvPr/>
        </p:nvSpPr>
        <p:spPr bwMode="auto">
          <a:xfrm>
            <a:off x="284163" y="28908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5) What is client trying to solve?</a:t>
            </a:r>
          </a:p>
        </p:txBody>
      </p:sp>
      <p:sp>
        <p:nvSpPr>
          <p:cNvPr id="18" name="AutoShape 32"/>
          <p:cNvSpPr>
            <a:spLocks noChangeArrowheads="1"/>
          </p:cNvSpPr>
          <p:nvPr/>
        </p:nvSpPr>
        <p:spPr bwMode="auto">
          <a:xfrm>
            <a:off x="284163" y="31067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6) List of prioritized features</a:t>
            </a:r>
          </a:p>
        </p:txBody>
      </p:sp>
      <p:sp>
        <p:nvSpPr>
          <p:cNvPr id="19" name="AutoShape 33"/>
          <p:cNvSpPr>
            <a:spLocks noChangeArrowheads="1"/>
          </p:cNvSpPr>
          <p:nvPr/>
        </p:nvSpPr>
        <p:spPr bwMode="auto">
          <a:xfrm>
            <a:off x="284163" y="33226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7) Strategic Product Roadmap</a:t>
            </a:r>
          </a:p>
        </p:txBody>
      </p:sp>
      <p:sp>
        <p:nvSpPr>
          <p:cNvPr id="20" name="AutoShape 34"/>
          <p:cNvSpPr>
            <a:spLocks noChangeArrowheads="1"/>
          </p:cNvSpPr>
          <p:nvPr/>
        </p:nvSpPr>
        <p:spPr bwMode="auto">
          <a:xfrm>
            <a:off x="284163" y="35385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8) VOC</a:t>
            </a:r>
          </a:p>
        </p:txBody>
      </p:sp>
      <p:sp>
        <p:nvSpPr>
          <p:cNvPr id="21" name="AutoShape 35"/>
          <p:cNvSpPr>
            <a:spLocks noChangeArrowheads="1"/>
          </p:cNvSpPr>
          <p:nvPr/>
        </p:nvSpPr>
        <p:spPr bwMode="auto">
          <a:xfrm>
            <a:off x="284163" y="37544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9) Non-functional Perf. Req.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284163" y="39703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10) SLR</a:t>
            </a:r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284163" y="41862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latin typeface="Arial" pitchFamily="34" charset="0"/>
                <a:cs typeface="Arial" pitchFamily="34" charset="0"/>
              </a:rPr>
              <a:t>11) Bus. Rules</a:t>
            </a:r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284163" y="4402148"/>
            <a:ext cx="2663825" cy="228600"/>
          </a:xfrm>
          <a:prstGeom prst="flowChartAlternateProcess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12) Bus. Constraint Assumptions</a:t>
            </a:r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3225800" y="2913073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ID Req. Workflow</a:t>
            </a:r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3225800" y="3136910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Statistical Analysis</a:t>
            </a:r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3225800" y="33607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Research Tools</a:t>
            </a:r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6138863" y="2484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ID Depend. &amp; Rel. Impact </a:t>
            </a:r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6138863" y="2713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List Business of Assumptions </a:t>
            </a:r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6138863" y="2941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Business Process Flow </a:t>
            </a:r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6138863" y="3170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Scope SOW </a:t>
            </a:r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6138863" y="3398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Bus. Constraints </a:t>
            </a:r>
          </a:p>
        </p:txBody>
      </p:sp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6138863" y="3627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8) Bus. Rules </a:t>
            </a:r>
          </a:p>
        </p:txBody>
      </p:sp>
      <p:sp>
        <p:nvSpPr>
          <p:cNvPr id="34" name="AutoShape 48"/>
          <p:cNvSpPr>
            <a:spLocks noChangeArrowheads="1"/>
          </p:cNvSpPr>
          <p:nvPr/>
        </p:nvSpPr>
        <p:spPr bwMode="auto">
          <a:xfrm>
            <a:off x="6138863" y="3856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9) Traceability Matrix </a:t>
            </a:r>
          </a:p>
        </p:txBody>
      </p:sp>
      <p:sp>
        <p:nvSpPr>
          <p:cNvPr id="35" name="AutoShape 49"/>
          <p:cNvSpPr>
            <a:spLocks noChangeArrowheads="1"/>
          </p:cNvSpPr>
          <p:nvPr/>
        </p:nvSpPr>
        <p:spPr bwMode="auto">
          <a:xfrm>
            <a:off x="6138863" y="4084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10) Use Case </a:t>
            </a:r>
          </a:p>
        </p:txBody>
      </p:sp>
      <p:sp>
        <p:nvSpPr>
          <p:cNvPr id="36" name="AutoShape 50"/>
          <p:cNvSpPr>
            <a:spLocks noChangeArrowheads="1"/>
          </p:cNvSpPr>
          <p:nvPr/>
        </p:nvSpPr>
        <p:spPr bwMode="auto">
          <a:xfrm>
            <a:off x="6138863" y="4313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11) Storyboards </a:t>
            </a:r>
          </a:p>
        </p:txBody>
      </p:sp>
      <p:sp>
        <p:nvSpPr>
          <p:cNvPr id="37" name="AutoShape 51"/>
          <p:cNvSpPr>
            <a:spLocks noChangeArrowheads="1"/>
          </p:cNvSpPr>
          <p:nvPr/>
        </p:nvSpPr>
        <p:spPr bwMode="auto">
          <a:xfrm>
            <a:off x="6138863" y="4541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12) Test Scenarios </a:t>
            </a:r>
          </a:p>
        </p:txBody>
      </p:sp>
      <p:sp>
        <p:nvSpPr>
          <p:cNvPr id="38" name="AutoShape 52"/>
          <p:cNvSpPr>
            <a:spLocks noChangeArrowheads="1"/>
          </p:cNvSpPr>
          <p:nvPr/>
        </p:nvSpPr>
        <p:spPr bwMode="auto">
          <a:xfrm>
            <a:off x="6138863" y="4770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13) User Documentation </a:t>
            </a:r>
          </a:p>
        </p:txBody>
      </p:sp>
      <p:sp>
        <p:nvSpPr>
          <p:cNvPr id="39" name="AutoShape 53"/>
          <p:cNvSpPr>
            <a:spLocks noChangeArrowheads="1"/>
          </p:cNvSpPr>
          <p:nvPr/>
        </p:nvSpPr>
        <p:spPr bwMode="auto">
          <a:xfrm>
            <a:off x="6138863" y="4999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14) Sample Deliverables </a:t>
            </a:r>
          </a:p>
        </p:txBody>
      </p:sp>
      <p:sp>
        <p:nvSpPr>
          <p:cNvPr id="40" name="AutoShape 54"/>
          <p:cNvSpPr>
            <a:spLocks noChangeArrowheads="1"/>
          </p:cNvSpPr>
          <p:nvPr/>
        </p:nvSpPr>
        <p:spPr bwMode="auto">
          <a:xfrm>
            <a:off x="6138863" y="52276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15) Context Diagrams </a:t>
            </a:r>
          </a:p>
        </p:txBody>
      </p:sp>
      <p:sp>
        <p:nvSpPr>
          <p:cNvPr id="41" name="AutoShape 55"/>
          <p:cNvSpPr>
            <a:spLocks noChangeArrowheads="1"/>
          </p:cNvSpPr>
          <p:nvPr/>
        </p:nvSpPr>
        <p:spPr bwMode="auto">
          <a:xfrm>
            <a:off x="6138863" y="54562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16) Architectural Diagrams </a:t>
            </a:r>
          </a:p>
        </p:txBody>
      </p:sp>
      <p:sp>
        <p:nvSpPr>
          <p:cNvPr id="42" name="AutoShape 56"/>
          <p:cNvSpPr>
            <a:spLocks noChangeArrowheads="1"/>
          </p:cNvSpPr>
          <p:nvPr/>
        </p:nvSpPr>
        <p:spPr bwMode="auto">
          <a:xfrm>
            <a:off x="6138863" y="56848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17) Non-functional Req.</a:t>
            </a:r>
          </a:p>
        </p:txBody>
      </p:sp>
      <p:sp>
        <p:nvSpPr>
          <p:cNvPr id="43" name="AutoShape 57"/>
          <p:cNvSpPr>
            <a:spLocks noChangeArrowheads="1"/>
          </p:cNvSpPr>
          <p:nvPr/>
        </p:nvSpPr>
        <p:spPr bwMode="auto">
          <a:xfrm>
            <a:off x="6138863" y="59134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18) Screen Mock Ups </a:t>
            </a:r>
          </a:p>
        </p:txBody>
      </p:sp>
      <p:sp>
        <p:nvSpPr>
          <p:cNvPr id="44" name="AutoShape 58"/>
          <p:cNvSpPr>
            <a:spLocks noChangeArrowheads="1"/>
          </p:cNvSpPr>
          <p:nvPr/>
        </p:nvSpPr>
        <p:spPr bwMode="auto">
          <a:xfrm>
            <a:off x="6138863" y="6142048"/>
            <a:ext cx="2663825" cy="2286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19) Use Case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3936" y="4878874"/>
            <a:ext cx="47190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This is one model for aligning inputs, processes, and outputs for current state business analysis.  </a:t>
            </a:r>
          </a:p>
          <a:p>
            <a:pPr algn="l">
              <a:buNone/>
            </a:pPr>
            <a:endParaRPr lang="en-US" sz="1400" dirty="0">
              <a:solidFill>
                <a:srgbClr val="0000FF"/>
              </a:solidFill>
            </a:endParaRPr>
          </a:p>
          <a:p>
            <a:pPr algn="l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A new model would need to be proposed for the future state requirements (as depicted in the “big picture” and subsequent slides above.</a:t>
            </a:r>
            <a:endParaRPr lang="en-US" sz="1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30152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2016</TotalTime>
  <Words>1040</Words>
  <Application>Microsoft Macintosh PowerPoint</Application>
  <PresentationFormat>Letter Paper (8.5x11 in)</PresentationFormat>
  <Paragraphs>172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Default Theme</vt:lpstr>
      <vt:lpstr>Diagram Master</vt:lpstr>
      <vt:lpstr>Requirements Management</vt:lpstr>
      <vt:lpstr>PowerPoint Presentation</vt:lpstr>
      <vt:lpstr>Big Picture</vt:lpstr>
      <vt:lpstr>Business Architecture Aligns POV across an organization and between organizations (verticals &amp; horizontals)</vt:lpstr>
      <vt:lpstr>Business Architecture Aligns WHY, WHAT, &amp; HOW across all POVs</vt:lpstr>
      <vt:lpstr>Business Architecture Offers Multiple Perspectives on Requirements</vt:lpstr>
      <vt:lpstr>Current State</vt:lpstr>
      <vt:lpstr>Future State</vt:lpstr>
      <vt:lpstr>Project Artifacts to Operational Guidance</vt:lpstr>
      <vt:lpstr>S–IPO-C</vt:lpstr>
    </vt:vector>
  </TitlesOfParts>
  <Company>The Value Enablement Group,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Management</dc:title>
  <dc:creator>jeffrey wallk</dc:creator>
  <cp:lastModifiedBy>jeffrey wallk</cp:lastModifiedBy>
  <cp:revision>40</cp:revision>
  <dcterms:created xsi:type="dcterms:W3CDTF">2013-08-24T23:38:47Z</dcterms:created>
  <dcterms:modified xsi:type="dcterms:W3CDTF">2014-03-13T09:23:37Z</dcterms:modified>
</cp:coreProperties>
</file>
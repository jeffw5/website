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r>
              <a:rPr dirty="0" spc="-5"/>
              <a:t>1</a:t>
            </a:r>
          </a:p>
          <a:p>
            <a:pPr marL="38100">
              <a:lnSpc>
                <a:spcPct val="100000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1">
                <a:solidFill>
                  <a:srgbClr val="971B1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1404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r>
              <a:rPr dirty="0" spc="-5"/>
              <a:t>1</a:t>
            </a:r>
          </a:p>
          <a:p>
            <a:pPr marL="38100">
              <a:lnSpc>
                <a:spcPct val="100000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1">
                <a:solidFill>
                  <a:srgbClr val="971B1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310629" y="1885314"/>
            <a:ext cx="5166995" cy="3562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1404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r>
              <a:rPr dirty="0" spc="-5"/>
              <a:t>1</a:t>
            </a:r>
          </a:p>
          <a:p>
            <a:pPr marL="38100">
              <a:lnSpc>
                <a:spcPct val="100000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0" i="1">
                <a:solidFill>
                  <a:srgbClr val="971B1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r>
              <a:rPr dirty="0" spc="-5"/>
              <a:t>1</a:t>
            </a:r>
          </a:p>
          <a:p>
            <a:pPr marL="38100">
              <a:lnSpc>
                <a:spcPct val="100000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r>
              <a:rPr dirty="0" spc="-5"/>
              <a:t>1</a:t>
            </a:r>
          </a:p>
          <a:p>
            <a:pPr marL="38100">
              <a:lnSpc>
                <a:spcPct val="100000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292847"/>
            <a:ext cx="12198095" cy="56514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1029246" y="32052"/>
            <a:ext cx="1168849" cy="94327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0852404" y="4847844"/>
            <a:ext cx="1345691" cy="173583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9124" y="214630"/>
            <a:ext cx="9436100" cy="838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0" i="1">
                <a:solidFill>
                  <a:srgbClr val="971B1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9124" y="1580514"/>
            <a:ext cx="10026650" cy="2404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1404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3819" y="6385964"/>
            <a:ext cx="189229" cy="4959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929292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64"/>
              </a:lnSpc>
            </a:pPr>
            <a:r>
              <a:rPr dirty="0" spc="-5"/>
              <a:t>1</a:t>
            </a:r>
          </a:p>
          <a:p>
            <a:pPr marL="38100">
              <a:lnSpc>
                <a:spcPct val="100000"/>
              </a:lnSpc>
            </a:pPr>
            <a:fld id="{81D60167-4931-47E6-BA6A-407CBD079E47}" type="slidenum">
              <a:rPr dirty="0" spc="-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incose.org/iw2021/" TargetMode="Externa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aic.com/digital-engineering" TargetMode="External"/><Relationship Id="rId3" Type="http://schemas.openxmlformats.org/officeDocument/2006/relationships/hyperlink" Target="mailto:digitalengineering@saic.com" TargetMode="External"/><Relationship Id="rId4" Type="http://schemas.openxmlformats.org/officeDocument/2006/relationships/image" Target="../media/image19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aic.com/digital-engineering-validation-tool" TargetMode="External"/><Relationship Id="rId3" Type="http://schemas.openxmlformats.org/officeDocument/2006/relationships/image" Target="../media/image19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incose.org/iw2021/" TargetMode="External"/><Relationship Id="rId3" Type="http://schemas.openxmlformats.org/officeDocument/2006/relationships/image" Target="../media/image20.png"/><Relationship Id="rId4" Type="http://schemas.openxmlformats.org/officeDocument/2006/relationships/image" Target="../media/image6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8708" y="5652617"/>
            <a:ext cx="7078980" cy="1106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180" marR="2884805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Michael J.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Vinarcik,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ESEP-Acq, </a:t>
            </a:r>
            <a:r>
              <a:rPr dirty="0" sz="1700" spc="-45">
                <a:solidFill>
                  <a:srgbClr val="414042"/>
                </a:solidFill>
                <a:latin typeface="Arial"/>
                <a:cs typeface="Arial"/>
              </a:rPr>
              <a:t>P.E.,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FESD  Chief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Systems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 Engineer</a:t>
            </a:r>
            <a:endParaRPr sz="1700">
              <a:latin typeface="Arial"/>
              <a:cs typeface="Arial"/>
            </a:endParaRPr>
          </a:p>
          <a:p>
            <a:pPr marL="43180">
              <a:lnSpc>
                <a:spcPts val="2030"/>
              </a:lnSpc>
              <a:spcBef>
                <a:spcPts val="5"/>
              </a:spcBef>
            </a:pP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SAIC </a:t>
            </a:r>
            <a:r>
              <a:rPr dirty="0" sz="1700" spc="-20">
                <a:solidFill>
                  <a:srgbClr val="414042"/>
                </a:solidFill>
                <a:latin typeface="Arial"/>
                <a:cs typeface="Arial"/>
              </a:rPr>
              <a:t>Strategy, </a:t>
            </a:r>
            <a:r>
              <a:rPr dirty="0" sz="1700" spc="-5">
                <a:solidFill>
                  <a:srgbClr val="414042"/>
                </a:solidFill>
                <a:latin typeface="Arial"/>
                <a:cs typeface="Arial"/>
              </a:rPr>
              <a:t>Growth,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and Innovation Organization (Digital</a:t>
            </a:r>
            <a:r>
              <a:rPr dirty="0" sz="1700" spc="8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414042"/>
                </a:solidFill>
                <a:latin typeface="Arial"/>
                <a:cs typeface="Arial"/>
              </a:rPr>
              <a:t>Engineering)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ts val="2390"/>
              </a:lnSpc>
            </a:pPr>
            <a:r>
              <a:rPr dirty="0" sz="2000" spc="-65">
                <a:solidFill>
                  <a:srgbClr val="414042"/>
                </a:solidFill>
                <a:latin typeface="Noto Sans"/>
                <a:cs typeface="Noto Sans"/>
                <a:hlinkClick r:id="rId2"/>
              </a:rPr>
              <a:t>www.incose.org/iw2021/</a:t>
            </a:r>
            <a:endParaRPr sz="2000">
              <a:latin typeface="Noto Sans"/>
              <a:cs typeface="Noto San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26114" y="5479885"/>
            <a:ext cx="3138170" cy="139700"/>
            <a:chOff x="326114" y="5479885"/>
            <a:chExt cx="3138170" cy="139700"/>
          </a:xfrm>
        </p:grpSpPr>
        <p:sp>
          <p:nvSpPr>
            <p:cNvPr id="4" name="object 4"/>
            <p:cNvSpPr/>
            <p:nvPr/>
          </p:nvSpPr>
          <p:spPr>
            <a:xfrm>
              <a:off x="326114" y="5479885"/>
              <a:ext cx="3138046" cy="13960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59663" y="5532120"/>
              <a:ext cx="3074035" cy="0"/>
            </a:xfrm>
            <a:custGeom>
              <a:avLst/>
              <a:gdLst/>
              <a:ahLst/>
              <a:cxnLst/>
              <a:rect l="l" t="t" r="r" b="b"/>
              <a:pathLst>
                <a:path w="3074035" h="0">
                  <a:moveTo>
                    <a:pt x="0" y="0"/>
                  </a:moveTo>
                  <a:lnTo>
                    <a:pt x="3074035" y="0"/>
                  </a:lnTo>
                </a:path>
              </a:pathLst>
            </a:custGeom>
            <a:ln w="76200">
              <a:solidFill>
                <a:srgbClr val="971B1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10729255" y="4884461"/>
            <a:ext cx="1381900" cy="19735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888471" y="5605678"/>
            <a:ext cx="1195070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414042"/>
                </a:solidFill>
                <a:latin typeface="Arial Black"/>
                <a:cs typeface="Arial Black"/>
              </a:rPr>
              <a:t>Lig</a:t>
            </a:r>
            <a:r>
              <a:rPr dirty="0" sz="1800" spc="-10">
                <a:solidFill>
                  <a:srgbClr val="414042"/>
                </a:solidFill>
                <a:latin typeface="Arial Black"/>
                <a:cs typeface="Arial Black"/>
              </a:rPr>
              <a:t>h</a:t>
            </a:r>
            <a:r>
              <a:rPr dirty="0" sz="1800">
                <a:solidFill>
                  <a:srgbClr val="414042"/>
                </a:solidFill>
                <a:latin typeface="Arial Black"/>
                <a:cs typeface="Arial Black"/>
              </a:rPr>
              <a:t>tning</a:t>
            </a:r>
            <a:endParaRPr sz="1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720851"/>
            <a:ext cx="12173711" cy="16550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69188" y="2972561"/>
            <a:ext cx="10364470" cy="2494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25">
                <a:solidFill>
                  <a:srgbClr val="971B1E"/>
                </a:solidFill>
                <a:latin typeface="Arial"/>
                <a:cs typeface="Arial"/>
              </a:rPr>
              <a:t>Treadstone </a:t>
            </a:r>
            <a:r>
              <a:rPr dirty="0" sz="5400">
                <a:solidFill>
                  <a:srgbClr val="971B1E"/>
                </a:solidFill>
                <a:latin typeface="Arial"/>
                <a:cs typeface="Arial"/>
              </a:rPr>
              <a:t>+</a:t>
            </a:r>
            <a:r>
              <a:rPr dirty="0" sz="5400" spc="10">
                <a:solidFill>
                  <a:srgbClr val="971B1E"/>
                </a:solidFill>
                <a:latin typeface="Arial"/>
                <a:cs typeface="Arial"/>
              </a:rPr>
              <a:t> </a:t>
            </a:r>
            <a:r>
              <a:rPr dirty="0" sz="5400">
                <a:solidFill>
                  <a:srgbClr val="971B1E"/>
                </a:solidFill>
                <a:latin typeface="Arial"/>
                <a:cs typeface="Arial"/>
              </a:rPr>
              <a:t>1:</a:t>
            </a:r>
            <a:endParaRPr sz="5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5400">
                <a:solidFill>
                  <a:srgbClr val="971B1E"/>
                </a:solidFill>
                <a:latin typeface="Arial"/>
                <a:cs typeface="Arial"/>
              </a:rPr>
              <a:t>The First </a:t>
            </a:r>
            <a:r>
              <a:rPr dirty="0" sz="5400" spc="-5">
                <a:solidFill>
                  <a:srgbClr val="971B1E"/>
                </a:solidFill>
                <a:latin typeface="Arial"/>
                <a:cs typeface="Arial"/>
              </a:rPr>
              <a:t>Anniversary </a:t>
            </a:r>
            <a:r>
              <a:rPr dirty="0" sz="5400">
                <a:solidFill>
                  <a:srgbClr val="971B1E"/>
                </a:solidFill>
                <a:latin typeface="Arial"/>
                <a:cs typeface="Arial"/>
              </a:rPr>
              <a:t>of the SAIC  Digital </a:t>
            </a:r>
            <a:r>
              <a:rPr dirty="0" sz="5400" spc="-5">
                <a:solidFill>
                  <a:srgbClr val="971B1E"/>
                </a:solidFill>
                <a:latin typeface="Arial"/>
                <a:cs typeface="Arial"/>
              </a:rPr>
              <a:t>Engineering </a:t>
            </a:r>
            <a:r>
              <a:rPr dirty="0" sz="5400" spc="-45">
                <a:solidFill>
                  <a:srgbClr val="971B1E"/>
                </a:solidFill>
                <a:latin typeface="Arial"/>
                <a:cs typeface="Arial"/>
              </a:rPr>
              <a:t>Validation</a:t>
            </a:r>
            <a:r>
              <a:rPr dirty="0" sz="5400" spc="-150">
                <a:solidFill>
                  <a:srgbClr val="971B1E"/>
                </a:solidFill>
                <a:latin typeface="Arial"/>
                <a:cs typeface="Arial"/>
              </a:rPr>
              <a:t> Tool</a:t>
            </a:r>
            <a:endParaRPr sz="5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9177" y="78486"/>
            <a:ext cx="1021905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23240" marR="5080" indent="-511175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414042"/>
                </a:solidFill>
                <a:latin typeface="Carlito"/>
                <a:cs typeface="Carlito"/>
              </a:rPr>
              <a:t>This </a:t>
            </a:r>
            <a:r>
              <a:rPr dirty="0" sz="1600" spc="-10">
                <a:solidFill>
                  <a:srgbClr val="414042"/>
                </a:solidFill>
                <a:latin typeface="Carlito"/>
                <a:cs typeface="Carlito"/>
              </a:rPr>
              <a:t>presentation consists </a:t>
            </a:r>
            <a:r>
              <a:rPr dirty="0" sz="1600" spc="-5">
                <a:solidFill>
                  <a:srgbClr val="414042"/>
                </a:solidFill>
                <a:latin typeface="Carlito"/>
                <a:cs typeface="Carlito"/>
              </a:rPr>
              <a:t>of SAIC </a:t>
            </a:r>
            <a:r>
              <a:rPr dirty="0" sz="1600" spc="-10">
                <a:solidFill>
                  <a:srgbClr val="414042"/>
                </a:solidFill>
                <a:latin typeface="Carlito"/>
                <a:cs typeface="Carlito"/>
              </a:rPr>
              <a:t>general </a:t>
            </a:r>
            <a:r>
              <a:rPr dirty="0" sz="1600" spc="-5">
                <a:solidFill>
                  <a:srgbClr val="414042"/>
                </a:solidFill>
                <a:latin typeface="Carlito"/>
                <a:cs typeface="Carlito"/>
              </a:rPr>
              <a:t>capabilities </a:t>
            </a:r>
            <a:r>
              <a:rPr dirty="0" sz="1600" spc="-10">
                <a:solidFill>
                  <a:srgbClr val="414042"/>
                </a:solidFill>
                <a:latin typeface="Carlito"/>
                <a:cs typeface="Carlito"/>
              </a:rPr>
              <a:t>information that does not contain controlled technical </a:t>
            </a:r>
            <a:r>
              <a:rPr dirty="0" sz="1600" spc="-15">
                <a:solidFill>
                  <a:srgbClr val="414042"/>
                </a:solidFill>
                <a:latin typeface="Carlito"/>
                <a:cs typeface="Carlito"/>
              </a:rPr>
              <a:t>data </a:t>
            </a:r>
            <a:r>
              <a:rPr dirty="0" sz="1600" spc="-5">
                <a:solidFill>
                  <a:srgbClr val="414042"/>
                </a:solidFill>
                <a:latin typeface="Carlito"/>
                <a:cs typeface="Carlito"/>
              </a:rPr>
              <a:t>as </a:t>
            </a:r>
            <a:r>
              <a:rPr dirty="0" sz="1600">
                <a:solidFill>
                  <a:srgbClr val="414042"/>
                </a:solidFill>
                <a:latin typeface="Carlito"/>
                <a:cs typeface="Carlito"/>
              </a:rPr>
              <a:t>defined  </a:t>
            </a:r>
            <a:r>
              <a:rPr dirty="0" sz="1600" spc="-10">
                <a:solidFill>
                  <a:srgbClr val="414042"/>
                </a:solidFill>
                <a:latin typeface="Carlito"/>
                <a:cs typeface="Carlito"/>
              </a:rPr>
              <a:t>by </a:t>
            </a:r>
            <a:r>
              <a:rPr dirty="0" sz="1600" spc="-5">
                <a:solidFill>
                  <a:srgbClr val="414042"/>
                </a:solidFill>
                <a:latin typeface="Carlito"/>
                <a:cs typeface="Carlito"/>
              </a:rPr>
              <a:t>the </a:t>
            </a:r>
            <a:r>
              <a:rPr dirty="0" sz="1600" spc="-10">
                <a:solidFill>
                  <a:srgbClr val="414042"/>
                </a:solidFill>
                <a:latin typeface="Carlito"/>
                <a:cs typeface="Carlito"/>
              </a:rPr>
              <a:t>International </a:t>
            </a:r>
            <a:r>
              <a:rPr dirty="0" sz="1600" spc="-25">
                <a:solidFill>
                  <a:srgbClr val="414042"/>
                </a:solidFill>
                <a:latin typeface="Carlito"/>
                <a:cs typeface="Carlito"/>
              </a:rPr>
              <a:t>Traffic </a:t>
            </a:r>
            <a:r>
              <a:rPr dirty="0" sz="1600" spc="-5">
                <a:solidFill>
                  <a:srgbClr val="414042"/>
                </a:solidFill>
                <a:latin typeface="Carlito"/>
                <a:cs typeface="Carlito"/>
              </a:rPr>
              <a:t>in Arms </a:t>
            </a:r>
            <a:r>
              <a:rPr dirty="0" sz="1600" spc="-25">
                <a:solidFill>
                  <a:srgbClr val="414042"/>
                </a:solidFill>
                <a:latin typeface="Carlito"/>
                <a:cs typeface="Carlito"/>
              </a:rPr>
              <a:t>(ITAR) </a:t>
            </a:r>
            <a:r>
              <a:rPr dirty="0" sz="1600" spc="-15">
                <a:solidFill>
                  <a:srgbClr val="414042"/>
                </a:solidFill>
                <a:latin typeface="Carlito"/>
                <a:cs typeface="Carlito"/>
              </a:rPr>
              <a:t>Part </a:t>
            </a:r>
            <a:r>
              <a:rPr dirty="0" sz="1600" spc="-10">
                <a:solidFill>
                  <a:srgbClr val="414042"/>
                </a:solidFill>
                <a:latin typeface="Carlito"/>
                <a:cs typeface="Carlito"/>
              </a:rPr>
              <a:t>120.10 </a:t>
            </a:r>
            <a:r>
              <a:rPr dirty="0" sz="1600" spc="-5">
                <a:solidFill>
                  <a:srgbClr val="414042"/>
                </a:solidFill>
                <a:latin typeface="Carlito"/>
                <a:cs typeface="Carlito"/>
              </a:rPr>
              <a:t>or </a:t>
            </a:r>
            <a:r>
              <a:rPr dirty="0" sz="1600" spc="-10">
                <a:solidFill>
                  <a:srgbClr val="414042"/>
                </a:solidFill>
                <a:latin typeface="Carlito"/>
                <a:cs typeface="Carlito"/>
              </a:rPr>
              <a:t>Export Administration Regulations (EAR) </a:t>
            </a:r>
            <a:r>
              <a:rPr dirty="0" sz="1600" spc="-15">
                <a:solidFill>
                  <a:srgbClr val="414042"/>
                </a:solidFill>
                <a:latin typeface="Carlito"/>
                <a:cs typeface="Carlito"/>
              </a:rPr>
              <a:t>Part</a:t>
            </a:r>
            <a:r>
              <a:rPr dirty="0" sz="1600" spc="250">
                <a:solidFill>
                  <a:srgbClr val="414042"/>
                </a:solidFill>
                <a:latin typeface="Carlito"/>
                <a:cs typeface="Carlito"/>
              </a:rPr>
              <a:t> </a:t>
            </a:r>
            <a:r>
              <a:rPr dirty="0" sz="1600">
                <a:solidFill>
                  <a:srgbClr val="414042"/>
                </a:solidFill>
                <a:latin typeface="Carlito"/>
                <a:cs typeface="Carlito"/>
              </a:rPr>
              <a:t>734.7-11.</a:t>
            </a:r>
            <a:endParaRPr sz="1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48694" y="5445909"/>
            <a:ext cx="911860" cy="67818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5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48" y="0"/>
            <a:ext cx="12191999" cy="68579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12572" y="58623"/>
            <a:ext cx="4290695" cy="10020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i="0">
                <a:latin typeface="Arial"/>
                <a:cs typeface="Arial"/>
              </a:rPr>
              <a:t>Status</a:t>
            </a:r>
            <a:r>
              <a:rPr dirty="0" sz="3200" spc="-15" i="0">
                <a:latin typeface="Arial"/>
                <a:cs typeface="Arial"/>
              </a:rPr>
              <a:t> </a:t>
            </a:r>
            <a:r>
              <a:rPr dirty="0" sz="3200" spc="-5" i="0">
                <a:latin typeface="Arial"/>
                <a:cs typeface="Arial"/>
              </a:rPr>
              <a:t>Quo: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3200" spc="-5" i="0">
                <a:latin typeface="Arial"/>
                <a:cs typeface="Arial"/>
              </a:rPr>
              <a:t>Document-Intensive</a:t>
            </a:r>
            <a:r>
              <a:rPr dirty="0" sz="3200" spc="-55" i="0">
                <a:latin typeface="Arial"/>
                <a:cs typeface="Arial"/>
              </a:rPr>
              <a:t> </a:t>
            </a:r>
            <a:r>
              <a:rPr dirty="0" sz="3200" i="0">
                <a:latin typeface="Arial"/>
                <a:cs typeface="Arial"/>
              </a:rPr>
              <a:t>SE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265" y="1580514"/>
            <a:ext cx="3851275" cy="3338829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241300" marR="253365" indent="-228600">
              <a:lnSpc>
                <a:spcPts val="1920"/>
              </a:lnSpc>
              <a:spcBef>
                <a:spcPts val="565"/>
              </a:spcBef>
              <a:buChar char="•"/>
              <a:tabLst>
                <a:tab pos="240665" algn="l"/>
                <a:tab pos="241300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Leads to siloed,</a:t>
            </a:r>
            <a:r>
              <a:rPr dirty="0" sz="2000" spc="-10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disconnected 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views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of a</a:t>
            </a:r>
            <a:r>
              <a:rPr dirty="0" sz="2000" spc="-4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system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ts val="2160"/>
              </a:lnSpc>
              <a:spcBef>
                <a:spcPts val="1614"/>
              </a:spcBef>
              <a:buChar char="•"/>
              <a:tabLst>
                <a:tab pos="240665" algn="l"/>
                <a:tab pos="241300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No guarantee of</a:t>
            </a:r>
            <a:r>
              <a:rPr dirty="0" sz="2000" spc="-8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consistency</a:t>
            </a:r>
            <a:endParaRPr sz="2000">
              <a:latin typeface="Arial"/>
              <a:cs typeface="Arial"/>
            </a:endParaRPr>
          </a:p>
          <a:p>
            <a:pPr marL="241300">
              <a:lnSpc>
                <a:spcPts val="2160"/>
              </a:lnSpc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between requirements or</a:t>
            </a:r>
            <a:r>
              <a:rPr dirty="0" sz="2000" spc="-12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views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00">
              <a:latin typeface="Arial"/>
              <a:cs typeface="Arial"/>
            </a:endParaRPr>
          </a:p>
          <a:p>
            <a:pPr marL="241300" marR="5080" indent="-228600">
              <a:lnSpc>
                <a:spcPct val="80000"/>
              </a:lnSpc>
              <a:buChar char="•"/>
              <a:tabLst>
                <a:tab pos="240665" algn="l"/>
                <a:tab pos="241300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Often delivered as PDFs,</a:t>
            </a:r>
            <a:r>
              <a:rPr dirty="0" sz="2000" spc="-13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Excel,  or other disjointed</a:t>
            </a:r>
            <a:r>
              <a:rPr dirty="0" sz="2000" spc="-7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artifacts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1595"/>
              </a:spcBef>
              <a:buChar char="•"/>
              <a:tabLst>
                <a:tab pos="240665" algn="l"/>
                <a:tab pos="241300" algn="l"/>
              </a:tabLst>
            </a:pP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Difficult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to review</a:t>
            </a:r>
            <a:r>
              <a:rPr dirty="0" sz="2000" spc="-6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thoroughly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Arial"/>
              <a:cs typeface="Arial"/>
            </a:endParaRPr>
          </a:p>
          <a:p>
            <a:pPr marL="779145" marR="510540" indent="251460">
              <a:lnSpc>
                <a:spcPct val="80000"/>
              </a:lnSpc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A coherent picture  is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difficult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to</a:t>
            </a:r>
            <a:r>
              <a:rPr dirty="0" sz="2000" spc="-8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assemble!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220" y="6488684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929292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1144"/>
            <a:ext cx="5886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M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B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S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E</a:t>
            </a:r>
            <a:endParaRPr sz="14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26114" y="5047107"/>
            <a:ext cx="3138170" cy="139700"/>
            <a:chOff x="326114" y="5047107"/>
            <a:chExt cx="3138170" cy="139700"/>
          </a:xfrm>
        </p:grpSpPr>
        <p:sp>
          <p:nvSpPr>
            <p:cNvPr id="4" name="object 4"/>
            <p:cNvSpPr/>
            <p:nvPr/>
          </p:nvSpPr>
          <p:spPr>
            <a:xfrm>
              <a:off x="326114" y="5047107"/>
              <a:ext cx="3138046" cy="13960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59663" y="5099304"/>
              <a:ext cx="3074035" cy="0"/>
            </a:xfrm>
            <a:custGeom>
              <a:avLst/>
              <a:gdLst/>
              <a:ahLst/>
              <a:cxnLst/>
              <a:rect l="l" t="t" r="r" b="b"/>
              <a:pathLst>
                <a:path w="3074035" h="0">
                  <a:moveTo>
                    <a:pt x="0" y="0"/>
                  </a:moveTo>
                  <a:lnTo>
                    <a:pt x="3074035" y="0"/>
                  </a:lnTo>
                </a:path>
              </a:pathLst>
            </a:custGeom>
            <a:ln w="76200">
              <a:solidFill>
                <a:srgbClr val="971B1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9188" y="4090238"/>
            <a:ext cx="8244205" cy="9404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i="0">
                <a:latin typeface="Arial"/>
                <a:cs typeface="Arial"/>
              </a:rPr>
              <a:t>How Modeling Can</a:t>
            </a:r>
            <a:r>
              <a:rPr dirty="0" sz="6000" spc="-95" i="0">
                <a:latin typeface="Arial"/>
                <a:cs typeface="Arial"/>
              </a:rPr>
              <a:t> </a:t>
            </a:r>
            <a:r>
              <a:rPr dirty="0" sz="6000" i="0">
                <a:latin typeface="Arial"/>
                <a:cs typeface="Arial"/>
              </a:rPr>
              <a:t>Help</a:t>
            </a:r>
            <a:endParaRPr sz="6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35994" y="5646569"/>
            <a:ext cx="937260" cy="49022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4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5"/>
              <a:t>Lessons Learned and </a:t>
            </a:r>
            <a:r>
              <a:rPr dirty="0" spc="10"/>
              <a:t>Recommended </a:t>
            </a:r>
            <a:r>
              <a:rPr dirty="0" spc="5"/>
              <a:t>Best</a:t>
            </a:r>
            <a:r>
              <a:rPr dirty="0" spc="140"/>
              <a:t> </a:t>
            </a:r>
            <a:r>
              <a:rPr dirty="0" spc="5"/>
              <a:t>Practices</a:t>
            </a: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pc="5"/>
              <a:t>from Model-Based Systems </a:t>
            </a:r>
            <a:r>
              <a:rPr dirty="0"/>
              <a:t>Engineering </a:t>
            </a:r>
            <a:r>
              <a:rPr dirty="0" spc="5"/>
              <a:t>(MBSE) </a:t>
            </a:r>
            <a:r>
              <a:rPr dirty="0"/>
              <a:t>Pilot</a:t>
            </a:r>
            <a:r>
              <a:rPr dirty="0" spc="120"/>
              <a:t> </a:t>
            </a:r>
            <a:r>
              <a:rPr dirty="0" spc="5"/>
              <a:t>Projects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76629" y="5385032"/>
            <a:ext cx="1423670" cy="3098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out</a:t>
            </a:r>
            <a:r>
              <a:rPr dirty="0" sz="2000" spc="-80" b="1">
                <a:solidFill>
                  <a:srgbClr val="EB8F91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errors.”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35994" y="5433209"/>
            <a:ext cx="937260" cy="70358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220" y="6507884"/>
            <a:ext cx="138430" cy="2520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z="1600" spc="-5">
                <a:solidFill>
                  <a:srgbClr val="929292"/>
                </a:solidFill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9124" y="835149"/>
            <a:ext cx="10646410" cy="4612640"/>
          </a:xfrm>
          <a:prstGeom prst="rect">
            <a:avLst/>
          </a:prstGeom>
        </p:spPr>
        <p:txBody>
          <a:bodyPr wrap="square" lIns="0" tIns="2082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40"/>
              </a:spcBef>
            </a:pPr>
            <a:r>
              <a:rPr dirty="0" sz="2650" spc="5">
                <a:solidFill>
                  <a:srgbClr val="971B1E"/>
                </a:solidFill>
                <a:latin typeface="Arial"/>
                <a:cs typeface="Arial"/>
              </a:rPr>
              <a:t>Ryan </a:t>
            </a:r>
            <a:r>
              <a:rPr dirty="0" sz="2650">
                <a:solidFill>
                  <a:srgbClr val="971B1E"/>
                </a:solidFill>
                <a:latin typeface="Arial"/>
                <a:cs typeface="Arial"/>
              </a:rPr>
              <a:t>Noguchi, </a:t>
            </a:r>
            <a:r>
              <a:rPr dirty="0" sz="2650" spc="5">
                <a:solidFill>
                  <a:srgbClr val="971B1E"/>
                </a:solidFill>
                <a:latin typeface="Arial"/>
                <a:cs typeface="Arial"/>
              </a:rPr>
              <a:t>Aerospace Corporation</a:t>
            </a:r>
            <a:r>
              <a:rPr dirty="0" sz="2650" spc="30">
                <a:solidFill>
                  <a:srgbClr val="971B1E"/>
                </a:solidFill>
                <a:latin typeface="Arial"/>
                <a:cs typeface="Arial"/>
              </a:rPr>
              <a:t> </a:t>
            </a:r>
            <a:r>
              <a:rPr dirty="0" sz="2650">
                <a:solidFill>
                  <a:srgbClr val="971B1E"/>
                </a:solidFill>
                <a:latin typeface="Arial"/>
                <a:cs typeface="Arial"/>
              </a:rPr>
              <a:t>(2016)</a:t>
            </a:r>
            <a:endParaRPr sz="2650">
              <a:latin typeface="Arial"/>
              <a:cs typeface="Arial"/>
            </a:endParaRPr>
          </a:p>
          <a:p>
            <a:pPr marL="469900" indent="-457834">
              <a:lnSpc>
                <a:spcPts val="2160"/>
              </a:lnSpc>
              <a:spcBef>
                <a:spcPts val="115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The Ability to Interrogate the</a:t>
            </a:r>
            <a:r>
              <a:rPr dirty="0" sz="2000" spc="-21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Data:</a:t>
            </a:r>
            <a:endParaRPr sz="2000">
              <a:latin typeface="Arial"/>
              <a:cs typeface="Arial"/>
            </a:endParaRPr>
          </a:p>
          <a:p>
            <a:pPr marL="469900" marR="62230">
              <a:lnSpc>
                <a:spcPct val="80000"/>
              </a:lnSpc>
              <a:spcBef>
                <a:spcPts val="240"/>
              </a:spcBef>
            </a:pP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“The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modeling tools provide mechanisms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for users to query the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model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to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navigate 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this “mesh” of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elements,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attributes,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and relationships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to obtain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more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focused</a:t>
            </a:r>
            <a:r>
              <a:rPr dirty="0" sz="2000" spc="-165" b="1">
                <a:solidFill>
                  <a:srgbClr val="EB8F91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slices 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of insight into the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architecture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of the</a:t>
            </a:r>
            <a:r>
              <a:rPr dirty="0" sz="2000" spc="-120" b="1">
                <a:solidFill>
                  <a:srgbClr val="EB8F91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EB8F91"/>
                </a:solidFill>
                <a:latin typeface="Arial"/>
                <a:cs typeface="Arial"/>
              </a:rPr>
              <a:t>system.”</a:t>
            </a:r>
            <a:endParaRPr sz="2000">
              <a:latin typeface="Arial"/>
              <a:cs typeface="Arial"/>
            </a:endParaRPr>
          </a:p>
          <a:p>
            <a:pPr marL="469900" indent="-457834">
              <a:lnSpc>
                <a:spcPts val="216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An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Increased Focus on</a:t>
            </a:r>
            <a:r>
              <a:rPr dirty="0" sz="2000" spc="-9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Content/Data:</a:t>
            </a:r>
            <a:endParaRPr sz="2000">
              <a:latin typeface="Arial"/>
              <a:cs typeface="Arial"/>
            </a:endParaRPr>
          </a:p>
          <a:p>
            <a:pPr marL="469900" marR="424815">
              <a:lnSpc>
                <a:spcPts val="1920"/>
              </a:lnSpc>
              <a:spcBef>
                <a:spcPts val="225"/>
              </a:spcBef>
            </a:pP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“Stakeholders and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practitioners often did not understand the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implications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of</a:t>
            </a:r>
            <a:r>
              <a:rPr dirty="0" sz="2000" spc="-120" b="1">
                <a:solidFill>
                  <a:srgbClr val="EB8F9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this 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new approach,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or take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advantage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of the benefits it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can</a:t>
            </a:r>
            <a:r>
              <a:rPr dirty="0" sz="2000" spc="-150" b="1">
                <a:solidFill>
                  <a:srgbClr val="EB8F91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provide.”</a:t>
            </a:r>
            <a:endParaRPr sz="2000">
              <a:latin typeface="Arial"/>
              <a:cs typeface="Arial"/>
            </a:endParaRPr>
          </a:p>
          <a:p>
            <a:pPr marL="469900" indent="-457834">
              <a:lnSpc>
                <a:spcPts val="2160"/>
              </a:lnSpc>
              <a:spcBef>
                <a:spcPts val="2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Automated</a:t>
            </a:r>
            <a:r>
              <a:rPr dirty="0" sz="2000" spc="-3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Reviews:</a:t>
            </a:r>
            <a:endParaRPr sz="2000">
              <a:latin typeface="Arial"/>
              <a:cs typeface="Arial"/>
            </a:endParaRPr>
          </a:p>
          <a:p>
            <a:pPr marL="469900" marR="5080">
              <a:lnSpc>
                <a:spcPct val="80000"/>
              </a:lnSpc>
              <a:spcBef>
                <a:spcPts val="240"/>
              </a:spcBef>
            </a:pP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“…many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syntactical errors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that </a:t>
            </a:r>
            <a:r>
              <a:rPr dirty="0" sz="2000" spc="5" b="1">
                <a:solidFill>
                  <a:srgbClr val="EB8F91"/>
                </a:solidFill>
                <a:latin typeface="Arial"/>
                <a:cs typeface="Arial"/>
              </a:rPr>
              <a:t>would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have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been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caught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had they used the built-in  model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validation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capabilities of their tools, but the problem </a:t>
            </a:r>
            <a:r>
              <a:rPr dirty="0" sz="2000" spc="5" b="1">
                <a:solidFill>
                  <a:srgbClr val="EB8F91"/>
                </a:solidFill>
                <a:latin typeface="Arial"/>
                <a:cs typeface="Arial"/>
              </a:rPr>
              <a:t>would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also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have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been 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apparent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upon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visual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inspection by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an experienced modeler…it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is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critical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that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model 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reviews be performed frequently by experienced modelers, particularly to check for  semantic mistakes—those that </a:t>
            </a:r>
            <a:r>
              <a:rPr dirty="0" sz="2000" spc="5" b="1">
                <a:solidFill>
                  <a:srgbClr val="EB8F91"/>
                </a:solidFill>
                <a:latin typeface="Arial"/>
                <a:cs typeface="Arial"/>
              </a:rPr>
              <a:t>won’t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be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caught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by the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modeling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tools’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validation  checks…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Model reviews performed in a briefing format or through static captures of  the model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(typically </a:t>
            </a:r>
            <a:r>
              <a:rPr dirty="0" sz="2000" spc="-10" b="1">
                <a:solidFill>
                  <a:srgbClr val="EB8F91"/>
                </a:solidFill>
                <a:latin typeface="Arial"/>
                <a:cs typeface="Arial"/>
              </a:rPr>
              <a:t>via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PDF files or HTML files) are much less </a:t>
            </a:r>
            <a:r>
              <a:rPr dirty="0" sz="2000" spc="-5" b="1">
                <a:solidFill>
                  <a:srgbClr val="EB8F91"/>
                </a:solidFill>
                <a:latin typeface="Arial"/>
                <a:cs typeface="Arial"/>
              </a:rPr>
              <a:t>effective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at</a:t>
            </a:r>
            <a:r>
              <a:rPr dirty="0" sz="2000" spc="-204" b="1">
                <a:solidFill>
                  <a:srgbClr val="EB8F91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EB8F91"/>
                </a:solidFill>
                <a:latin typeface="Arial"/>
                <a:cs typeface="Arial"/>
              </a:rPr>
              <a:t>ferreting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483234"/>
            <a:ext cx="804989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86860" algn="l"/>
              </a:tabLst>
            </a:pPr>
            <a:r>
              <a:rPr dirty="0" sz="4400" i="0">
                <a:latin typeface="Arial"/>
                <a:cs typeface="Arial"/>
              </a:rPr>
              <a:t>Our</a:t>
            </a:r>
            <a:r>
              <a:rPr dirty="0" sz="4400" spc="10" i="0">
                <a:latin typeface="Arial"/>
                <a:cs typeface="Arial"/>
              </a:rPr>
              <a:t> </a:t>
            </a:r>
            <a:r>
              <a:rPr dirty="0" sz="4400" i="0">
                <a:latin typeface="Arial"/>
                <a:cs typeface="Arial"/>
              </a:rPr>
              <a:t>Challenge:	MBSE</a:t>
            </a:r>
            <a:r>
              <a:rPr dirty="0" sz="4400" spc="-50" i="0">
                <a:latin typeface="Arial"/>
                <a:cs typeface="Arial"/>
              </a:rPr>
              <a:t> </a:t>
            </a:r>
            <a:r>
              <a:rPr dirty="0" sz="4400" i="0">
                <a:latin typeface="Arial"/>
                <a:cs typeface="Arial"/>
              </a:rPr>
              <a:t>Missteps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3023" y="1607060"/>
            <a:ext cx="4758380" cy="43324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310629" y="1560702"/>
            <a:ext cx="5163185" cy="362966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469900" marR="5080" indent="-457834">
              <a:lnSpc>
                <a:spcPts val="2500"/>
              </a:lnSpc>
              <a:spcBef>
                <a:spcPts val="70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MBSE </a:t>
            </a:r>
            <a:r>
              <a:rPr dirty="0" sz="2600" spc="-10">
                <a:solidFill>
                  <a:srgbClr val="414042"/>
                </a:solidFill>
                <a:latin typeface="Arial"/>
                <a:cs typeface="Arial"/>
              </a:rPr>
              <a:t>efforts </a:t>
            </a: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stall because</a:t>
            </a:r>
            <a:r>
              <a:rPr dirty="0" sz="2600" spc="-4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they  fail to grasp the opportunities  inherent in </a:t>
            </a:r>
            <a:r>
              <a:rPr dirty="0" sz="2600" spc="-5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new</a:t>
            </a:r>
            <a:r>
              <a:rPr dirty="0" sz="2600" spc="-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approach</a:t>
            </a:r>
            <a:endParaRPr sz="2600">
              <a:latin typeface="Arial"/>
              <a:cs typeface="Arial"/>
            </a:endParaRPr>
          </a:p>
          <a:p>
            <a:pPr lvl="1" marL="1003300" indent="-381635">
              <a:lnSpc>
                <a:spcPts val="2375"/>
              </a:lnSpc>
              <a:spcBef>
                <a:spcPts val="15"/>
              </a:spcBef>
              <a:buChar char="–"/>
              <a:tabLst>
                <a:tab pos="1003300" algn="l"/>
                <a:tab pos="1003935" algn="l"/>
              </a:tabLst>
            </a:pPr>
            <a:r>
              <a:rPr dirty="0" sz="2200" spc="-5">
                <a:solidFill>
                  <a:srgbClr val="414042"/>
                </a:solidFill>
                <a:latin typeface="Arial"/>
                <a:cs typeface="Arial"/>
              </a:rPr>
              <a:t>Confounding the </a:t>
            </a:r>
            <a:r>
              <a:rPr dirty="0" sz="2200" spc="-5" i="1">
                <a:solidFill>
                  <a:srgbClr val="414042"/>
                </a:solidFill>
                <a:latin typeface="Arial"/>
                <a:cs typeface="Arial"/>
              </a:rPr>
              <a:t>outcome</a:t>
            </a:r>
            <a:r>
              <a:rPr dirty="0" sz="2200" spc="55" i="1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200" spc="-5">
                <a:solidFill>
                  <a:srgbClr val="414042"/>
                </a:solidFill>
                <a:latin typeface="Arial"/>
                <a:cs typeface="Arial"/>
              </a:rPr>
              <a:t>with</a:t>
            </a:r>
            <a:endParaRPr sz="2200">
              <a:latin typeface="Arial"/>
              <a:cs typeface="Arial"/>
            </a:endParaRPr>
          </a:p>
          <a:p>
            <a:pPr marL="1003300">
              <a:lnSpc>
                <a:spcPts val="2375"/>
              </a:lnSpc>
            </a:pPr>
            <a:r>
              <a:rPr dirty="0" sz="2200" spc="-5">
                <a:solidFill>
                  <a:srgbClr val="414042"/>
                </a:solidFill>
                <a:latin typeface="Arial"/>
                <a:cs typeface="Arial"/>
              </a:rPr>
              <a:t>the</a:t>
            </a:r>
            <a:r>
              <a:rPr dirty="0" sz="220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200" spc="-10" i="1">
                <a:solidFill>
                  <a:srgbClr val="414042"/>
                </a:solidFill>
                <a:latin typeface="Arial"/>
                <a:cs typeface="Arial"/>
              </a:rPr>
              <a:t>means</a:t>
            </a:r>
            <a:endParaRPr sz="2200">
              <a:latin typeface="Arial"/>
              <a:cs typeface="Arial"/>
            </a:endParaRPr>
          </a:p>
          <a:p>
            <a:pPr lvl="1" marL="1003300" marR="1169670" indent="-381000">
              <a:lnSpc>
                <a:spcPct val="80000"/>
              </a:lnSpc>
              <a:spcBef>
                <a:spcPts val="525"/>
              </a:spcBef>
              <a:buChar char="–"/>
              <a:tabLst>
                <a:tab pos="1003300" algn="l"/>
                <a:tab pos="1003935" algn="l"/>
              </a:tabLst>
            </a:pPr>
            <a:r>
              <a:rPr dirty="0" sz="2200" spc="-5">
                <a:solidFill>
                  <a:srgbClr val="414042"/>
                </a:solidFill>
                <a:latin typeface="Arial"/>
                <a:cs typeface="Arial"/>
              </a:rPr>
              <a:t>Excessive focus on  diagrams/views vs.</a:t>
            </a:r>
            <a:r>
              <a:rPr dirty="0" sz="2200" spc="-1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200" spc="-5">
                <a:solidFill>
                  <a:srgbClr val="414042"/>
                </a:solidFill>
                <a:latin typeface="Arial"/>
                <a:cs typeface="Arial"/>
              </a:rPr>
              <a:t>data</a:t>
            </a:r>
            <a:endParaRPr sz="2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414042"/>
              </a:buClr>
              <a:buFont typeface="Arial"/>
              <a:buChar char="–"/>
            </a:pPr>
            <a:endParaRPr sz="2800">
              <a:latin typeface="Arial"/>
              <a:cs typeface="Arial"/>
            </a:endParaRPr>
          </a:p>
          <a:p>
            <a:pPr algn="just" marL="469900" marR="106680" indent="-457834">
              <a:lnSpc>
                <a:spcPts val="2500"/>
              </a:lnSpc>
              <a:buChar char="•"/>
              <a:tabLst>
                <a:tab pos="470534" algn="l"/>
              </a:tabLst>
            </a:pP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Models </a:t>
            </a:r>
            <a:r>
              <a:rPr dirty="0" sz="2600" i="1">
                <a:solidFill>
                  <a:srgbClr val="414042"/>
                </a:solidFill>
                <a:latin typeface="Arial"/>
                <a:cs typeface="Arial"/>
              </a:rPr>
              <a:t>can </a:t>
            </a: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be more</a:t>
            </a:r>
            <a:r>
              <a:rPr dirty="0" sz="2600" spc="-5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consistent  and coherent…but </a:t>
            </a:r>
            <a:r>
              <a:rPr dirty="0" sz="2600" spc="-5">
                <a:solidFill>
                  <a:srgbClr val="414042"/>
                </a:solidFill>
                <a:latin typeface="Arial"/>
                <a:cs typeface="Arial"/>
              </a:rPr>
              <a:t>it </a:t>
            </a: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takes skill  and </a:t>
            </a:r>
            <a:r>
              <a:rPr dirty="0" sz="2600" spc="-10">
                <a:solidFill>
                  <a:srgbClr val="414042"/>
                </a:solidFill>
                <a:latin typeface="Arial"/>
                <a:cs typeface="Arial"/>
              </a:rPr>
              <a:t>effort </a:t>
            </a: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to achieve that</a:t>
            </a:r>
            <a:r>
              <a:rPr dirty="0" sz="2600" spc="-2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600">
                <a:solidFill>
                  <a:srgbClr val="414042"/>
                </a:solidFill>
                <a:latin typeface="Arial"/>
                <a:cs typeface="Arial"/>
              </a:rPr>
              <a:t>end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35994" y="5433209"/>
            <a:ext cx="937260" cy="70358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220" y="6507884"/>
            <a:ext cx="138430" cy="2520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z="1600" spc="-5">
                <a:solidFill>
                  <a:srgbClr val="929292"/>
                </a:solidFill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6114" y="5047107"/>
            <a:ext cx="3138170" cy="139700"/>
            <a:chOff x="326114" y="5047107"/>
            <a:chExt cx="3138170" cy="139700"/>
          </a:xfrm>
        </p:grpSpPr>
        <p:sp>
          <p:nvSpPr>
            <p:cNvPr id="3" name="object 3"/>
            <p:cNvSpPr/>
            <p:nvPr/>
          </p:nvSpPr>
          <p:spPr>
            <a:xfrm>
              <a:off x="326114" y="5047107"/>
              <a:ext cx="3138046" cy="13960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59663" y="5099304"/>
              <a:ext cx="3074035" cy="0"/>
            </a:xfrm>
            <a:custGeom>
              <a:avLst/>
              <a:gdLst/>
              <a:ahLst/>
              <a:cxnLst/>
              <a:rect l="l" t="t" r="r" b="b"/>
              <a:pathLst>
                <a:path w="3074035" h="0">
                  <a:moveTo>
                    <a:pt x="0" y="0"/>
                  </a:moveTo>
                  <a:lnTo>
                    <a:pt x="3074035" y="0"/>
                  </a:lnTo>
                </a:path>
              </a:pathLst>
            </a:custGeom>
            <a:ln w="76200">
              <a:solidFill>
                <a:srgbClr val="971B1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69188" y="4090238"/>
            <a:ext cx="10064115" cy="9404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25" i="0">
                <a:latin typeface="Arial"/>
                <a:cs typeface="Arial"/>
              </a:rPr>
              <a:t>SAIC’s </a:t>
            </a:r>
            <a:r>
              <a:rPr dirty="0" sz="6000" i="0">
                <a:latin typeface="Arial"/>
                <a:cs typeface="Arial"/>
              </a:rPr>
              <a:t>SysML </a:t>
            </a:r>
            <a:r>
              <a:rPr dirty="0" sz="6000" spc="-5" i="0">
                <a:latin typeface="Arial"/>
                <a:cs typeface="Arial"/>
              </a:rPr>
              <a:t>Modeling</a:t>
            </a:r>
            <a:r>
              <a:rPr dirty="0" sz="6000" spc="-250" i="0">
                <a:latin typeface="Arial"/>
                <a:cs typeface="Arial"/>
              </a:rPr>
              <a:t> </a:t>
            </a:r>
            <a:r>
              <a:rPr dirty="0" sz="6000" i="0">
                <a:latin typeface="Arial"/>
                <a:cs typeface="Arial"/>
              </a:rPr>
              <a:t>Style</a:t>
            </a:r>
            <a:endParaRPr sz="6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35994" y="5433209"/>
            <a:ext cx="937260" cy="70358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0783" y="1546986"/>
            <a:ext cx="10932160" cy="4063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 marR="414020" indent="412750">
              <a:lnSpc>
                <a:spcPct val="110000"/>
              </a:lnSpc>
              <a:spcBef>
                <a:spcPts val="100"/>
              </a:spcBef>
            </a:pPr>
            <a:r>
              <a:rPr dirty="0" sz="3000">
                <a:solidFill>
                  <a:srgbClr val="414042"/>
                </a:solidFill>
                <a:latin typeface="Arial"/>
                <a:cs typeface="Arial"/>
              </a:rPr>
              <a:t>“…this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involves </a:t>
            </a:r>
            <a:r>
              <a:rPr dirty="0" sz="3000">
                <a:solidFill>
                  <a:srgbClr val="414042"/>
                </a:solidFill>
                <a:latin typeface="Arial"/>
                <a:cs typeface="Arial"/>
              </a:rPr>
              <a:t>a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willingness </a:t>
            </a:r>
            <a:r>
              <a:rPr dirty="0" sz="3000">
                <a:solidFill>
                  <a:srgbClr val="414042"/>
                </a:solidFill>
                <a:latin typeface="Arial"/>
                <a:cs typeface="Arial"/>
              </a:rPr>
              <a:t>to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trade </a:t>
            </a:r>
            <a:r>
              <a:rPr dirty="0" sz="3000" spc="-20">
                <a:solidFill>
                  <a:srgbClr val="414042"/>
                </a:solidFill>
                <a:latin typeface="Arial"/>
                <a:cs typeface="Arial"/>
              </a:rPr>
              <a:t>off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theoretical purity  or future perfection in </a:t>
            </a:r>
            <a:r>
              <a:rPr dirty="0" sz="3000">
                <a:solidFill>
                  <a:srgbClr val="414042"/>
                </a:solidFill>
                <a:latin typeface="Arial"/>
                <a:cs typeface="Arial"/>
              </a:rPr>
              <a:t>favor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of getting </a:t>
            </a:r>
            <a:r>
              <a:rPr dirty="0" sz="3000" spc="-10">
                <a:solidFill>
                  <a:srgbClr val="414042"/>
                </a:solidFill>
                <a:latin typeface="Arial"/>
                <a:cs typeface="Arial"/>
              </a:rPr>
              <a:t>things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done </a:t>
            </a:r>
            <a:r>
              <a:rPr dirty="0" sz="3000" spc="-35">
                <a:solidFill>
                  <a:srgbClr val="414042"/>
                </a:solidFill>
                <a:latin typeface="Arial"/>
                <a:cs typeface="Arial"/>
              </a:rPr>
              <a:t>today.”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p.</a:t>
            </a:r>
            <a:r>
              <a:rPr dirty="0" sz="3000" spc="-2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26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50">
              <a:latin typeface="Arial"/>
              <a:cs typeface="Arial"/>
            </a:endParaRPr>
          </a:p>
          <a:p>
            <a:pPr algn="ctr" marR="388620">
              <a:lnSpc>
                <a:spcPts val="3420"/>
              </a:lnSpc>
              <a:spcBef>
                <a:spcPts val="5"/>
              </a:spcBef>
            </a:pPr>
            <a:r>
              <a:rPr dirty="0" sz="3000">
                <a:solidFill>
                  <a:srgbClr val="414042"/>
                </a:solidFill>
                <a:latin typeface="Arial"/>
                <a:cs typeface="Arial"/>
              </a:rPr>
              <a:t>“…a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willingness </a:t>
            </a:r>
            <a:r>
              <a:rPr dirty="0" sz="3000">
                <a:solidFill>
                  <a:srgbClr val="414042"/>
                </a:solidFill>
                <a:latin typeface="Arial"/>
                <a:cs typeface="Arial"/>
              </a:rPr>
              <a:t>to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experiment and be proven</a:t>
            </a:r>
            <a:r>
              <a:rPr dirty="0" sz="3000" spc="-11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wrong.</a:t>
            </a:r>
            <a:endParaRPr sz="3000">
              <a:latin typeface="Arial"/>
              <a:cs typeface="Arial"/>
            </a:endParaRPr>
          </a:p>
          <a:p>
            <a:pPr algn="ctr" marR="387985">
              <a:lnSpc>
                <a:spcPts val="3240"/>
              </a:lnSpc>
            </a:pP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This means we try </a:t>
            </a:r>
            <a:r>
              <a:rPr dirty="0" sz="3000" spc="-10">
                <a:solidFill>
                  <a:srgbClr val="414042"/>
                </a:solidFill>
                <a:latin typeface="Arial"/>
                <a:cs typeface="Arial"/>
              </a:rPr>
              <a:t>stuff. </a:t>
            </a:r>
            <a:r>
              <a:rPr dirty="0" sz="3000" spc="-25">
                <a:solidFill>
                  <a:srgbClr val="414042"/>
                </a:solidFill>
                <a:latin typeface="Arial"/>
                <a:cs typeface="Arial"/>
              </a:rPr>
              <a:t>We</a:t>
            </a:r>
            <a:r>
              <a:rPr dirty="0" sz="3000" spc="3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fail.</a:t>
            </a:r>
            <a:endParaRPr sz="3000">
              <a:latin typeface="Arial"/>
              <a:cs typeface="Arial"/>
            </a:endParaRPr>
          </a:p>
          <a:p>
            <a:pPr algn="ctr" marL="1786889" marR="2174875">
              <a:lnSpc>
                <a:spcPts val="3240"/>
              </a:lnSpc>
              <a:spcBef>
                <a:spcPts val="229"/>
              </a:spcBef>
            </a:pP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Then we use </a:t>
            </a:r>
            <a:r>
              <a:rPr dirty="0" sz="3000" spc="-1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3000">
                <a:solidFill>
                  <a:srgbClr val="414042"/>
                </a:solidFill>
                <a:latin typeface="Arial"/>
                <a:cs typeface="Arial"/>
              </a:rPr>
              <a:t>lessons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from </a:t>
            </a:r>
            <a:r>
              <a:rPr dirty="0" sz="3000">
                <a:solidFill>
                  <a:srgbClr val="414042"/>
                </a:solidFill>
                <a:latin typeface="Arial"/>
                <a:cs typeface="Arial"/>
              </a:rPr>
              <a:t>that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failure  in </a:t>
            </a:r>
            <a:r>
              <a:rPr dirty="0" sz="30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next </a:t>
            </a:r>
            <a:r>
              <a:rPr dirty="0" sz="3000" spc="-10">
                <a:solidFill>
                  <a:srgbClr val="414042"/>
                </a:solidFill>
                <a:latin typeface="Arial"/>
                <a:cs typeface="Arial"/>
              </a:rPr>
              <a:t>experiment.”</a:t>
            </a:r>
            <a:r>
              <a:rPr dirty="0" sz="3000" spc="-3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3000" spc="-5">
                <a:solidFill>
                  <a:srgbClr val="414042"/>
                </a:solidFill>
                <a:latin typeface="Arial"/>
                <a:cs typeface="Arial"/>
              </a:rPr>
              <a:t>p.27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050">
              <a:latin typeface="Arial"/>
              <a:cs typeface="Arial"/>
            </a:endParaRPr>
          </a:p>
          <a:p>
            <a:pPr marL="529590">
              <a:lnSpc>
                <a:spcPct val="100000"/>
              </a:lnSpc>
            </a:pPr>
            <a:r>
              <a:rPr dirty="0" sz="2200" spc="-5" i="1">
                <a:solidFill>
                  <a:srgbClr val="414042"/>
                </a:solidFill>
                <a:latin typeface="Arial"/>
                <a:cs typeface="Arial"/>
              </a:rPr>
              <a:t>Apprenticeship Patterns: Guidance </a:t>
            </a:r>
            <a:r>
              <a:rPr dirty="0" sz="2200" i="1">
                <a:solidFill>
                  <a:srgbClr val="414042"/>
                </a:solidFill>
                <a:latin typeface="Arial"/>
                <a:cs typeface="Arial"/>
              </a:rPr>
              <a:t>for </a:t>
            </a:r>
            <a:r>
              <a:rPr dirty="0" sz="2200" spc="-5" i="1">
                <a:solidFill>
                  <a:srgbClr val="414042"/>
                </a:solidFill>
                <a:latin typeface="Arial"/>
                <a:cs typeface="Arial"/>
              </a:rPr>
              <a:t>the Aspiring Software Craftsman (2009)</a:t>
            </a:r>
            <a:r>
              <a:rPr dirty="0" sz="2200" spc="229" i="1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baseline="-31746" sz="2100" spc="-7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baseline="-31746" sz="21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66135" y="5644898"/>
            <a:ext cx="6689725" cy="3371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530"/>
              </a:lnSpc>
            </a:pPr>
            <a:r>
              <a:rPr dirty="0" sz="2200" spc="-5" i="1">
                <a:solidFill>
                  <a:srgbClr val="414042"/>
                </a:solidFill>
                <a:latin typeface="Arial"/>
                <a:cs typeface="Arial"/>
              </a:rPr>
              <a:t>David H. Hoover &amp; Adewale Oshineye. </a:t>
            </a:r>
            <a:r>
              <a:rPr dirty="0" sz="2200" spc="-10" i="1">
                <a:solidFill>
                  <a:srgbClr val="414042"/>
                </a:solidFill>
                <a:latin typeface="Arial"/>
                <a:cs typeface="Arial"/>
              </a:rPr>
              <a:t>O’Reilly</a:t>
            </a:r>
            <a:r>
              <a:rPr dirty="0" sz="2200" spc="-30" i="1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200" spc="-5" i="1">
                <a:solidFill>
                  <a:srgbClr val="414042"/>
                </a:solidFill>
                <a:latin typeface="Arial"/>
                <a:cs typeface="Arial"/>
              </a:rPr>
              <a:t>Media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35994" y="5646569"/>
            <a:ext cx="937260" cy="49022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4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220" y="6507884"/>
            <a:ext cx="138430" cy="2520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z="1600" spc="-5">
                <a:solidFill>
                  <a:srgbClr val="929292"/>
                </a:solidFill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515238"/>
            <a:ext cx="1056068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5" i="0">
                <a:latin typeface="Arial"/>
                <a:cs typeface="Arial"/>
              </a:rPr>
              <a:t>SAIC’s </a:t>
            </a:r>
            <a:r>
              <a:rPr dirty="0" sz="4000" i="0">
                <a:latin typeface="Arial"/>
                <a:cs typeface="Arial"/>
              </a:rPr>
              <a:t>SysML </a:t>
            </a:r>
            <a:r>
              <a:rPr dirty="0" sz="4000" spc="-10" i="0">
                <a:latin typeface="Arial"/>
                <a:cs typeface="Arial"/>
              </a:rPr>
              <a:t>Modeling </a:t>
            </a:r>
            <a:r>
              <a:rPr dirty="0" sz="4000" spc="-5" i="0">
                <a:latin typeface="Arial"/>
                <a:cs typeface="Arial"/>
              </a:rPr>
              <a:t>Style </a:t>
            </a:r>
            <a:r>
              <a:rPr dirty="0" sz="4000" spc="-10" i="0">
                <a:latin typeface="Arial"/>
                <a:cs typeface="Arial"/>
              </a:rPr>
              <a:t>and</a:t>
            </a:r>
            <a:r>
              <a:rPr dirty="0" sz="4000" spc="-55" i="0">
                <a:latin typeface="Arial"/>
                <a:cs typeface="Arial"/>
              </a:rPr>
              <a:t> </a:t>
            </a:r>
            <a:r>
              <a:rPr dirty="0" sz="4000" spc="-5" i="0">
                <a:latin typeface="Arial"/>
                <a:cs typeface="Arial"/>
              </a:rPr>
              <a:t>Pragmatism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1144"/>
            <a:ext cx="5886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M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B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S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E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6629" y="5613632"/>
            <a:ext cx="1738630" cy="3098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15"/>
              </a:lnSpc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decomposition.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35994" y="5646569"/>
            <a:ext cx="937260" cy="49022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4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220" y="6507884"/>
            <a:ext cx="138430" cy="2520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z="1600" spc="-5">
                <a:solidFill>
                  <a:srgbClr val="929292"/>
                </a:solidFill>
                <a:latin typeface="Arial"/>
                <a:cs typeface="Arial"/>
              </a:rPr>
              <a:t>9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483234"/>
            <a:ext cx="739394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0" i="0">
                <a:latin typeface="Arial"/>
                <a:cs typeface="Arial"/>
              </a:rPr>
              <a:t>SAIC’s </a:t>
            </a:r>
            <a:r>
              <a:rPr dirty="0" sz="4400" i="0">
                <a:latin typeface="Arial"/>
                <a:cs typeface="Arial"/>
              </a:rPr>
              <a:t>SysML Modeling</a:t>
            </a:r>
            <a:r>
              <a:rPr dirty="0" sz="4400" spc="-240" i="0">
                <a:latin typeface="Arial"/>
                <a:cs typeface="Arial"/>
              </a:rPr>
              <a:t> </a:t>
            </a:r>
            <a:r>
              <a:rPr dirty="0" sz="4400" i="0">
                <a:latin typeface="Arial"/>
                <a:cs typeface="Arial"/>
              </a:rPr>
              <a:t>Style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9124" y="1580514"/>
            <a:ext cx="10357485" cy="2771140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469900" marR="5080" indent="-457834">
              <a:lnSpc>
                <a:spcPts val="1920"/>
              </a:lnSpc>
              <a:spcBef>
                <a:spcPts val="56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Focused on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integration of behavior and structure through the creation of</a:t>
            </a:r>
            <a:r>
              <a:rPr dirty="0" sz="2000" spc="-21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well-formed  blocks:</a:t>
            </a:r>
            <a:endParaRPr sz="2000">
              <a:latin typeface="Arial"/>
              <a:cs typeface="Arial"/>
            </a:endParaRPr>
          </a:p>
          <a:p>
            <a:pPr lvl="1" marL="1003300" indent="-381635">
              <a:lnSpc>
                <a:spcPct val="100000"/>
              </a:lnSpc>
              <a:spcBef>
                <a:spcPts val="25"/>
              </a:spcBef>
              <a:buChar char="–"/>
              <a:tabLst>
                <a:tab pos="1003300" algn="l"/>
                <a:tab pos="1003935" algn="l"/>
              </a:tabLst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Behaviors</a:t>
            </a:r>
            <a:endParaRPr sz="1800">
              <a:latin typeface="Arial"/>
              <a:cs typeface="Arial"/>
            </a:endParaRPr>
          </a:p>
          <a:p>
            <a:pPr lvl="2" marL="1536700" indent="-305435">
              <a:lnSpc>
                <a:spcPct val="100000"/>
              </a:lnSpc>
              <a:spcBef>
                <a:spcPts val="15"/>
              </a:spcBef>
              <a:buChar char="•"/>
              <a:tabLst>
                <a:tab pos="1536700" algn="l"/>
                <a:tab pos="1537335" algn="l"/>
              </a:tabLst>
            </a:pPr>
            <a:r>
              <a:rPr dirty="0" sz="1500">
                <a:solidFill>
                  <a:srgbClr val="414042"/>
                </a:solidFill>
                <a:latin typeface="Arial"/>
                <a:cs typeface="Arial"/>
              </a:rPr>
              <a:t>Operations </a:t>
            </a:r>
            <a:r>
              <a:rPr dirty="0" sz="1500" spc="-5">
                <a:solidFill>
                  <a:srgbClr val="414042"/>
                </a:solidFill>
                <a:latin typeface="Arial"/>
                <a:cs typeface="Arial"/>
              </a:rPr>
              <a:t>(what </a:t>
            </a:r>
            <a:r>
              <a:rPr dirty="0" sz="1500">
                <a:solidFill>
                  <a:srgbClr val="414042"/>
                </a:solidFill>
                <a:latin typeface="Arial"/>
                <a:cs typeface="Arial"/>
              </a:rPr>
              <a:t>functions the block </a:t>
            </a:r>
            <a:r>
              <a:rPr dirty="0" sz="1500" i="1">
                <a:solidFill>
                  <a:srgbClr val="414042"/>
                </a:solidFill>
                <a:latin typeface="Arial"/>
                <a:cs typeface="Arial"/>
              </a:rPr>
              <a:t>can </a:t>
            </a:r>
            <a:r>
              <a:rPr dirty="0" sz="1500" spc="-5">
                <a:solidFill>
                  <a:srgbClr val="414042"/>
                </a:solidFill>
                <a:latin typeface="Arial"/>
                <a:cs typeface="Arial"/>
              </a:rPr>
              <a:t>do) </a:t>
            </a:r>
            <a:r>
              <a:rPr dirty="0" sz="1500">
                <a:solidFill>
                  <a:srgbClr val="414042"/>
                </a:solidFill>
                <a:latin typeface="Arial"/>
                <a:cs typeface="Arial"/>
              </a:rPr>
              <a:t>+ Parameters </a:t>
            </a:r>
            <a:r>
              <a:rPr dirty="0" sz="1500" spc="-5">
                <a:solidFill>
                  <a:srgbClr val="414042"/>
                </a:solidFill>
                <a:latin typeface="Arial"/>
                <a:cs typeface="Arial"/>
              </a:rPr>
              <a:t>(inputs/outputs </a:t>
            </a:r>
            <a:r>
              <a:rPr dirty="0" sz="1500">
                <a:solidFill>
                  <a:srgbClr val="414042"/>
                </a:solidFill>
                <a:latin typeface="Arial"/>
                <a:cs typeface="Arial"/>
              </a:rPr>
              <a:t>of </a:t>
            </a:r>
            <a:r>
              <a:rPr dirty="0" sz="1500" spc="-5">
                <a:solidFill>
                  <a:srgbClr val="414042"/>
                </a:solidFill>
                <a:latin typeface="Arial"/>
                <a:cs typeface="Arial"/>
              </a:rPr>
              <a:t>each</a:t>
            </a:r>
            <a:r>
              <a:rPr dirty="0" sz="1500" spc="-16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414042"/>
                </a:solidFill>
                <a:latin typeface="Arial"/>
                <a:cs typeface="Arial"/>
              </a:rPr>
              <a:t>function)</a:t>
            </a:r>
            <a:endParaRPr sz="1500">
              <a:latin typeface="Arial"/>
              <a:cs typeface="Arial"/>
            </a:endParaRPr>
          </a:p>
          <a:p>
            <a:pPr lvl="2" marL="1536700" indent="-305435">
              <a:lnSpc>
                <a:spcPts val="1795"/>
              </a:lnSpc>
              <a:buChar char="•"/>
              <a:tabLst>
                <a:tab pos="1536700" algn="l"/>
                <a:tab pos="1537335" algn="l"/>
              </a:tabLst>
            </a:pPr>
            <a:r>
              <a:rPr dirty="0" sz="1500">
                <a:solidFill>
                  <a:srgbClr val="414042"/>
                </a:solidFill>
                <a:latin typeface="Arial"/>
                <a:cs typeface="Arial"/>
              </a:rPr>
              <a:t>State machine </a:t>
            </a:r>
            <a:r>
              <a:rPr dirty="0" sz="1500" spc="-5">
                <a:solidFill>
                  <a:srgbClr val="414042"/>
                </a:solidFill>
                <a:latin typeface="Arial"/>
                <a:cs typeface="Arial"/>
              </a:rPr>
              <a:t>(what </a:t>
            </a:r>
            <a:r>
              <a:rPr dirty="0" sz="1500">
                <a:solidFill>
                  <a:srgbClr val="414042"/>
                </a:solidFill>
                <a:latin typeface="Arial"/>
                <a:cs typeface="Arial"/>
              </a:rPr>
              <a:t>the block </a:t>
            </a:r>
            <a:r>
              <a:rPr dirty="0" sz="1500" i="1">
                <a:solidFill>
                  <a:srgbClr val="414042"/>
                </a:solidFill>
                <a:latin typeface="Arial"/>
                <a:cs typeface="Arial"/>
              </a:rPr>
              <a:t>does </a:t>
            </a:r>
            <a:r>
              <a:rPr dirty="0" sz="1500">
                <a:solidFill>
                  <a:srgbClr val="414042"/>
                </a:solidFill>
                <a:latin typeface="Arial"/>
                <a:cs typeface="Arial"/>
              </a:rPr>
              <a:t>under </a:t>
            </a:r>
            <a:r>
              <a:rPr dirty="0" sz="1500" spc="-5">
                <a:solidFill>
                  <a:srgbClr val="414042"/>
                </a:solidFill>
                <a:latin typeface="Arial"/>
                <a:cs typeface="Arial"/>
              </a:rPr>
              <a:t>various</a:t>
            </a:r>
            <a:r>
              <a:rPr dirty="0" sz="1500" spc="-9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414042"/>
                </a:solidFill>
                <a:latin typeface="Arial"/>
                <a:cs typeface="Arial"/>
              </a:rPr>
              <a:t>conditions)</a:t>
            </a:r>
            <a:endParaRPr sz="1500">
              <a:latin typeface="Arial"/>
              <a:cs typeface="Arial"/>
            </a:endParaRPr>
          </a:p>
          <a:p>
            <a:pPr lvl="1" marL="1003300" indent="-381635">
              <a:lnSpc>
                <a:spcPts val="2155"/>
              </a:lnSpc>
              <a:buChar char="–"/>
              <a:tabLst>
                <a:tab pos="1003300" algn="l"/>
                <a:tab pos="1003935" algn="l"/>
              </a:tabLst>
            </a:pP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Structure</a:t>
            </a:r>
            <a:endParaRPr sz="1800">
              <a:latin typeface="Arial"/>
              <a:cs typeface="Arial"/>
            </a:endParaRPr>
          </a:p>
          <a:p>
            <a:pPr lvl="2" marL="1536700" indent="-305435">
              <a:lnSpc>
                <a:spcPct val="100000"/>
              </a:lnSpc>
              <a:spcBef>
                <a:spcPts val="10"/>
              </a:spcBef>
              <a:buChar char="•"/>
              <a:tabLst>
                <a:tab pos="1536700" algn="l"/>
                <a:tab pos="1537335" algn="l"/>
              </a:tabLst>
            </a:pPr>
            <a:r>
              <a:rPr dirty="0" sz="1500" spc="-5">
                <a:solidFill>
                  <a:srgbClr val="414042"/>
                </a:solidFill>
                <a:latin typeface="Arial"/>
                <a:cs typeface="Arial"/>
              </a:rPr>
              <a:t>Part </a:t>
            </a:r>
            <a:r>
              <a:rPr dirty="0" sz="1500">
                <a:solidFill>
                  <a:srgbClr val="414042"/>
                </a:solidFill>
                <a:latin typeface="Arial"/>
                <a:cs typeface="Arial"/>
              </a:rPr>
              <a:t>properties defining its</a:t>
            </a:r>
            <a:r>
              <a:rPr dirty="0" sz="1500" spc="-7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500" spc="-5">
                <a:solidFill>
                  <a:srgbClr val="414042"/>
                </a:solidFill>
                <a:latin typeface="Arial"/>
                <a:cs typeface="Arial"/>
              </a:rPr>
              <a:t>components</a:t>
            </a:r>
            <a:endParaRPr sz="1500">
              <a:latin typeface="Arial"/>
              <a:cs typeface="Arial"/>
            </a:endParaRPr>
          </a:p>
          <a:p>
            <a:pPr lvl="2" marL="1536700" indent="-305435">
              <a:lnSpc>
                <a:spcPct val="100000"/>
              </a:lnSpc>
              <a:buChar char="•"/>
              <a:tabLst>
                <a:tab pos="1536700" algn="l"/>
                <a:tab pos="1537335" algn="l"/>
              </a:tabLst>
            </a:pPr>
            <a:r>
              <a:rPr dirty="0" sz="1500" spc="-5">
                <a:solidFill>
                  <a:srgbClr val="414042"/>
                </a:solidFill>
                <a:latin typeface="Arial"/>
                <a:cs typeface="Arial"/>
              </a:rPr>
              <a:t>Proxy </a:t>
            </a:r>
            <a:r>
              <a:rPr dirty="0" sz="1500">
                <a:solidFill>
                  <a:srgbClr val="414042"/>
                </a:solidFill>
                <a:latin typeface="Arial"/>
                <a:cs typeface="Arial"/>
              </a:rPr>
              <a:t>ports defining </a:t>
            </a:r>
            <a:r>
              <a:rPr dirty="0" sz="1500" spc="-5">
                <a:solidFill>
                  <a:srgbClr val="414042"/>
                </a:solidFill>
                <a:latin typeface="Arial"/>
                <a:cs typeface="Arial"/>
              </a:rPr>
              <a:t>what can flow </a:t>
            </a:r>
            <a:r>
              <a:rPr dirty="0" sz="1500">
                <a:solidFill>
                  <a:srgbClr val="414042"/>
                </a:solidFill>
                <a:latin typeface="Arial"/>
                <a:cs typeface="Arial"/>
              </a:rPr>
              <a:t>into/out of the</a:t>
            </a:r>
            <a:r>
              <a:rPr dirty="0" sz="1500" spc="-114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414042"/>
                </a:solidFill>
                <a:latin typeface="Arial"/>
                <a:cs typeface="Arial"/>
              </a:rPr>
              <a:t>block</a:t>
            </a:r>
            <a:endParaRPr sz="1500">
              <a:latin typeface="Arial"/>
              <a:cs typeface="Arial"/>
            </a:endParaRPr>
          </a:p>
          <a:p>
            <a:pPr lvl="2" marL="1536700" indent="-305435">
              <a:lnSpc>
                <a:spcPct val="100000"/>
              </a:lnSpc>
              <a:buChar char="•"/>
              <a:tabLst>
                <a:tab pos="1536700" algn="l"/>
                <a:tab pos="1537335" algn="l"/>
              </a:tabLst>
            </a:pPr>
            <a:r>
              <a:rPr dirty="0" sz="1500">
                <a:solidFill>
                  <a:srgbClr val="414042"/>
                </a:solidFill>
                <a:latin typeface="Arial"/>
                <a:cs typeface="Arial"/>
              </a:rPr>
              <a:t>Internal block diagram</a:t>
            </a:r>
            <a:r>
              <a:rPr dirty="0" sz="1500" spc="-7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414042"/>
                </a:solidFill>
                <a:latin typeface="Arial"/>
                <a:cs typeface="Arial"/>
              </a:rPr>
              <a:t>(optional)</a:t>
            </a:r>
            <a:endParaRPr sz="1500">
              <a:latin typeface="Arial"/>
              <a:cs typeface="Arial"/>
            </a:endParaRPr>
          </a:p>
          <a:p>
            <a:pPr lvl="2" marL="1536700" indent="-305435">
              <a:lnSpc>
                <a:spcPts val="1795"/>
              </a:lnSpc>
              <a:buChar char="•"/>
              <a:tabLst>
                <a:tab pos="1536700" algn="l"/>
                <a:tab pos="1537335" algn="l"/>
              </a:tabLst>
            </a:pPr>
            <a:r>
              <a:rPr dirty="0" sz="1500">
                <a:solidFill>
                  <a:srgbClr val="414042"/>
                </a:solidFill>
                <a:latin typeface="Arial"/>
                <a:cs typeface="Arial"/>
              </a:rPr>
              <a:t>Item </a:t>
            </a:r>
            <a:r>
              <a:rPr dirty="0" sz="1500" spc="-5">
                <a:solidFill>
                  <a:srgbClr val="414042"/>
                </a:solidFill>
                <a:latin typeface="Arial"/>
                <a:cs typeface="Arial"/>
              </a:rPr>
              <a:t>flows </a:t>
            </a:r>
            <a:r>
              <a:rPr dirty="0" sz="1500">
                <a:solidFill>
                  <a:srgbClr val="414042"/>
                </a:solidFill>
                <a:latin typeface="Arial"/>
                <a:cs typeface="Arial"/>
              </a:rPr>
              <a:t>/ flow sets defining </a:t>
            </a:r>
            <a:r>
              <a:rPr dirty="0" sz="1500" spc="-5">
                <a:solidFill>
                  <a:srgbClr val="414042"/>
                </a:solidFill>
                <a:latin typeface="Arial"/>
                <a:cs typeface="Arial"/>
              </a:rPr>
              <a:t>flows into/within </a:t>
            </a:r>
            <a:r>
              <a:rPr dirty="0" sz="15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500" spc="-5">
                <a:solidFill>
                  <a:srgbClr val="414042"/>
                </a:solidFill>
                <a:latin typeface="Arial"/>
                <a:cs typeface="Arial"/>
              </a:rPr>
              <a:t>block’s</a:t>
            </a:r>
            <a:r>
              <a:rPr dirty="0" sz="1500" spc="-12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414042"/>
                </a:solidFill>
                <a:latin typeface="Arial"/>
                <a:cs typeface="Arial"/>
              </a:rPr>
              <a:t>structure</a:t>
            </a:r>
            <a:endParaRPr sz="1500">
              <a:latin typeface="Arial"/>
              <a:cs typeface="Arial"/>
            </a:endParaRPr>
          </a:p>
          <a:p>
            <a:pPr lvl="1" marL="1003300" indent="-381635">
              <a:lnSpc>
                <a:spcPts val="2155"/>
              </a:lnSpc>
              <a:buChar char="–"/>
              <a:tabLst>
                <a:tab pos="1003300" algn="l"/>
                <a:tab pos="1003935" algn="l"/>
              </a:tabLst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Attributes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9124" y="4327397"/>
            <a:ext cx="9878695" cy="1349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36700" indent="-305435">
              <a:lnSpc>
                <a:spcPts val="1789"/>
              </a:lnSpc>
              <a:spcBef>
                <a:spcPts val="100"/>
              </a:spcBef>
              <a:buChar char="•"/>
              <a:tabLst>
                <a:tab pos="1536700" algn="l"/>
                <a:tab pos="1537335" algn="l"/>
              </a:tabLst>
            </a:pPr>
            <a:r>
              <a:rPr dirty="0" sz="1500" spc="-25">
                <a:solidFill>
                  <a:srgbClr val="414042"/>
                </a:solidFill>
                <a:latin typeface="Arial"/>
                <a:cs typeface="Arial"/>
              </a:rPr>
              <a:t>Value </a:t>
            </a:r>
            <a:r>
              <a:rPr dirty="0" sz="1500">
                <a:solidFill>
                  <a:srgbClr val="414042"/>
                </a:solidFill>
                <a:latin typeface="Arial"/>
                <a:cs typeface="Arial"/>
              </a:rPr>
              <a:t>properties defining </a:t>
            </a:r>
            <a:r>
              <a:rPr dirty="0" sz="1500" spc="-5">
                <a:solidFill>
                  <a:srgbClr val="414042"/>
                </a:solidFill>
                <a:latin typeface="Arial"/>
                <a:cs typeface="Arial"/>
              </a:rPr>
              <a:t>characteristics </a:t>
            </a:r>
            <a:r>
              <a:rPr dirty="0" sz="1500">
                <a:solidFill>
                  <a:srgbClr val="414042"/>
                </a:solidFill>
                <a:latin typeface="Arial"/>
                <a:cs typeface="Arial"/>
              </a:rPr>
              <a:t>of</a:t>
            </a:r>
            <a:r>
              <a:rPr dirty="0" sz="1500" spc="-9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414042"/>
                </a:solidFill>
                <a:latin typeface="Arial"/>
                <a:cs typeface="Arial"/>
              </a:rPr>
              <a:t>interest</a:t>
            </a:r>
            <a:endParaRPr sz="1500">
              <a:latin typeface="Arial"/>
              <a:cs typeface="Arial"/>
            </a:endParaRPr>
          </a:p>
          <a:p>
            <a:pPr marL="469900" marR="5080" indent="-457834">
              <a:lnSpc>
                <a:spcPts val="1920"/>
              </a:lnSpc>
              <a:spcBef>
                <a:spcPts val="45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The focus on operations as the atomic behavioral element eliminates ambiguity</a:t>
            </a:r>
            <a:r>
              <a:rPr dirty="0" sz="2000" spc="-21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(1:1  ownership) and facilitates metachain</a:t>
            </a:r>
            <a:r>
              <a:rPr dirty="0" sz="2000" spc="-114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queries.</a:t>
            </a:r>
            <a:endParaRPr sz="2000">
              <a:latin typeface="Arial"/>
              <a:cs typeface="Arial"/>
            </a:endParaRPr>
          </a:p>
          <a:p>
            <a:pPr marL="469900" indent="-457834">
              <a:lnSpc>
                <a:spcPts val="2160"/>
              </a:lnSpc>
              <a:spcBef>
                <a:spcPts val="2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The use of signals as conveyed elements, inputs/outputs (parameters), and</a:t>
            </a:r>
            <a:r>
              <a:rPr dirty="0" sz="2000" spc="-22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triggers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ts val="2160"/>
              </a:lnSpc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enables a richer understanding of system behavior than traditional</a:t>
            </a:r>
            <a:r>
              <a:rPr dirty="0" sz="2000" spc="-20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functional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1144"/>
            <a:ext cx="93726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220" y="6385964"/>
            <a:ext cx="138430" cy="4959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z="1600" spc="-5">
                <a:solidFill>
                  <a:srgbClr val="929292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solidFill>
                  <a:srgbClr val="929292"/>
                </a:solidFill>
                <a:latin typeface="Arial"/>
                <a:cs typeface="Arial"/>
              </a:rPr>
              <a:t>0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483234"/>
            <a:ext cx="739394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0" i="0">
                <a:latin typeface="Arial"/>
                <a:cs typeface="Arial"/>
              </a:rPr>
              <a:t>SAIC’s </a:t>
            </a:r>
            <a:r>
              <a:rPr dirty="0" sz="4400" i="0">
                <a:latin typeface="Arial"/>
                <a:cs typeface="Arial"/>
              </a:rPr>
              <a:t>SysML Modeling</a:t>
            </a:r>
            <a:r>
              <a:rPr dirty="0" sz="4400" spc="-240" i="0">
                <a:latin typeface="Arial"/>
                <a:cs typeface="Arial"/>
              </a:rPr>
              <a:t> </a:t>
            </a:r>
            <a:r>
              <a:rPr dirty="0" sz="4400" i="0">
                <a:latin typeface="Arial"/>
                <a:cs typeface="Arial"/>
              </a:rPr>
              <a:t>Style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9124" y="1580514"/>
            <a:ext cx="9297670" cy="2556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Limited to a subset of</a:t>
            </a:r>
            <a:r>
              <a:rPr dirty="0" sz="2000" spc="-10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SysML:</a:t>
            </a:r>
            <a:endParaRPr sz="2000">
              <a:latin typeface="Arial"/>
              <a:cs typeface="Arial"/>
            </a:endParaRPr>
          </a:p>
          <a:p>
            <a:pPr lvl="1" marL="1003300" indent="-381635">
              <a:lnSpc>
                <a:spcPct val="100000"/>
              </a:lnSpc>
              <a:spcBef>
                <a:spcPts val="5"/>
              </a:spcBef>
              <a:buChar char="–"/>
              <a:tabLst>
                <a:tab pos="1003300" algn="l"/>
                <a:tab pos="1003935" algn="l"/>
              </a:tabLst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All ports are </a:t>
            </a:r>
            <a:r>
              <a:rPr dirty="0" sz="1800" spc="-10">
                <a:solidFill>
                  <a:srgbClr val="414042"/>
                </a:solidFill>
                <a:latin typeface="Arial"/>
                <a:cs typeface="Arial"/>
              </a:rPr>
              <a:t>proxy</a:t>
            </a:r>
            <a:r>
              <a:rPr dirty="0" sz="1800" spc="2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ports</a:t>
            </a:r>
            <a:endParaRPr sz="1800">
              <a:latin typeface="Arial"/>
              <a:cs typeface="Arial"/>
            </a:endParaRPr>
          </a:p>
          <a:p>
            <a:pPr lvl="1" marL="1003300" indent="-381635">
              <a:lnSpc>
                <a:spcPct val="100000"/>
              </a:lnSpc>
              <a:buChar char="–"/>
              <a:tabLst>
                <a:tab pos="1003300" algn="l"/>
                <a:tab pos="1003935" algn="l"/>
              </a:tabLst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Reference properties, allocations, and </a:t>
            </a:r>
            <a:r>
              <a:rPr dirty="0" sz="1800" spc="-10">
                <a:solidFill>
                  <a:srgbClr val="414042"/>
                </a:solidFill>
                <a:latin typeface="Arial"/>
                <a:cs typeface="Arial"/>
              </a:rPr>
              <a:t>swimlanes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are</a:t>
            </a:r>
            <a:r>
              <a:rPr dirty="0" sz="1800" spc="13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prohibited</a:t>
            </a:r>
            <a:endParaRPr sz="1800">
              <a:latin typeface="Arial"/>
              <a:cs typeface="Arial"/>
            </a:endParaRPr>
          </a:p>
          <a:p>
            <a:pPr lvl="1" marL="1003300" indent="-381635">
              <a:lnSpc>
                <a:spcPts val="2155"/>
              </a:lnSpc>
              <a:buChar char="–"/>
              <a:tabLst>
                <a:tab pos="1003300" algn="l"/>
                <a:tab pos="1003935" algn="l"/>
              </a:tabLst>
            </a:pP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Item </a:t>
            </a:r>
            <a:r>
              <a:rPr dirty="0" sz="1800" spc="-10">
                <a:solidFill>
                  <a:srgbClr val="414042"/>
                </a:solidFill>
                <a:latin typeface="Arial"/>
                <a:cs typeface="Arial"/>
              </a:rPr>
              <a:t>flows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are used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to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integrate behavioral and structural</a:t>
            </a:r>
            <a:r>
              <a:rPr dirty="0" sz="1800" spc="11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414042"/>
                </a:solidFill>
                <a:latin typeface="Arial"/>
                <a:cs typeface="Arial"/>
              </a:rPr>
              <a:t>views</a:t>
            </a:r>
            <a:endParaRPr sz="1800">
              <a:latin typeface="Arial"/>
              <a:cs typeface="Arial"/>
            </a:endParaRPr>
          </a:p>
          <a:p>
            <a:pPr marL="469900" indent="-457834">
              <a:lnSpc>
                <a:spcPts val="2395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A minimal set of customizations is</a:t>
            </a:r>
            <a:r>
              <a:rPr dirty="0" sz="2000" spc="-229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used:</a:t>
            </a:r>
            <a:endParaRPr sz="2000">
              <a:latin typeface="Arial"/>
              <a:cs typeface="Arial"/>
            </a:endParaRPr>
          </a:p>
          <a:p>
            <a:pPr lvl="1" marL="1003300" indent="-381635">
              <a:lnSpc>
                <a:spcPct val="100000"/>
              </a:lnSpc>
              <a:spcBef>
                <a:spcPts val="10"/>
              </a:spcBef>
              <a:buChar char="–"/>
              <a:tabLst>
                <a:tab pos="1003300" algn="l"/>
                <a:tab pos="1003935" algn="l"/>
              </a:tabLst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&lt;&lt;logical&gt;&gt; and &lt;&lt;physical&gt;&gt; stereotypes are used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to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separate abstraction</a:t>
            </a:r>
            <a:r>
              <a:rPr dirty="0" sz="1800" spc="14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levels</a:t>
            </a:r>
            <a:endParaRPr sz="1800">
              <a:latin typeface="Arial"/>
              <a:cs typeface="Arial"/>
            </a:endParaRPr>
          </a:p>
          <a:p>
            <a:pPr lvl="1" marL="1003300" indent="-381635">
              <a:lnSpc>
                <a:spcPts val="2155"/>
              </a:lnSpc>
              <a:buChar char="–"/>
              <a:tabLst>
                <a:tab pos="1003300" algn="l"/>
                <a:tab pos="1003935" algn="l"/>
              </a:tabLst>
            </a:pP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&lt;&lt;flow set&gt;&gt;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customizations allow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linking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of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deeply nested</a:t>
            </a:r>
            <a:r>
              <a:rPr dirty="0" sz="1800" spc="4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parts/ports</a:t>
            </a:r>
            <a:endParaRPr sz="1800">
              <a:latin typeface="Arial"/>
              <a:cs typeface="Arial"/>
            </a:endParaRPr>
          </a:p>
          <a:p>
            <a:pPr marL="469900" indent="-457834">
              <a:lnSpc>
                <a:spcPts val="2155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The style focuses on usage and inferences </a:t>
            </a:r>
            <a:r>
              <a:rPr dirty="0" sz="2000" i="1">
                <a:solidFill>
                  <a:srgbClr val="414042"/>
                </a:solidFill>
                <a:latin typeface="Arial"/>
                <a:cs typeface="Arial"/>
              </a:rPr>
              <a:t>from usage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, not manual creation</a:t>
            </a:r>
            <a:r>
              <a:rPr dirty="0" sz="2000" spc="-22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of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ts val="2160"/>
              </a:lnSpc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relationships: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9055" y="4112514"/>
            <a:ext cx="10144760" cy="150749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393700" marR="208279" indent="-381000">
              <a:lnSpc>
                <a:spcPct val="80000"/>
              </a:lnSpc>
              <a:spcBef>
                <a:spcPts val="530"/>
              </a:spcBef>
              <a:buChar char="–"/>
              <a:tabLst>
                <a:tab pos="393065" algn="l"/>
                <a:tab pos="393700" algn="l"/>
              </a:tabLst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Example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1: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Calling an operation on an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activity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diagram </a:t>
            </a:r>
            <a:r>
              <a:rPr dirty="0" sz="1800" spc="-15">
                <a:solidFill>
                  <a:srgbClr val="414042"/>
                </a:solidFill>
                <a:latin typeface="Arial"/>
                <a:cs typeface="Arial"/>
              </a:rPr>
              <a:t>allows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inference that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block that  </a:t>
            </a:r>
            <a:r>
              <a:rPr dirty="0" sz="1800" spc="-15">
                <a:solidFill>
                  <a:srgbClr val="414042"/>
                </a:solidFill>
                <a:latin typeface="Arial"/>
                <a:cs typeface="Arial"/>
              </a:rPr>
              <a:t>owns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operation participates in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</a:t>
            </a:r>
            <a:r>
              <a:rPr dirty="0" sz="1800" spc="7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activity</a:t>
            </a:r>
            <a:endParaRPr sz="1800">
              <a:latin typeface="Arial"/>
              <a:cs typeface="Arial"/>
            </a:endParaRPr>
          </a:p>
          <a:p>
            <a:pPr marL="393700" marR="5080" indent="-381000">
              <a:lnSpc>
                <a:spcPct val="80000"/>
              </a:lnSpc>
              <a:spcBef>
                <a:spcPts val="430"/>
              </a:spcBef>
              <a:buChar char="–"/>
              <a:tabLst>
                <a:tab pos="393065" algn="l"/>
                <a:tab pos="393700" algn="l"/>
              </a:tabLst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Example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2: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Realizing an object flow </a:t>
            </a:r>
            <a:r>
              <a:rPr dirty="0" sz="1800" spc="-15">
                <a:solidFill>
                  <a:srgbClr val="414042"/>
                </a:solidFill>
                <a:latin typeface="Arial"/>
                <a:cs typeface="Arial"/>
              </a:rPr>
              <a:t>with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an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item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flow establishes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source/target port (so send  and accept events can infer </a:t>
            </a:r>
            <a:r>
              <a:rPr dirty="0" sz="1800" spc="-5" i="1">
                <a:solidFill>
                  <a:srgbClr val="414042"/>
                </a:solidFill>
                <a:latin typeface="Arial"/>
                <a:cs typeface="Arial"/>
              </a:rPr>
              <a:t>ports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and</a:t>
            </a:r>
            <a:r>
              <a:rPr dirty="0" sz="1800" spc="6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 i="1">
                <a:solidFill>
                  <a:srgbClr val="414042"/>
                </a:solidFill>
                <a:latin typeface="Arial"/>
                <a:cs typeface="Arial"/>
              </a:rPr>
              <a:t>parts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393700" indent="-381000">
              <a:lnSpc>
                <a:spcPts val="1945"/>
              </a:lnSpc>
              <a:buChar char="–"/>
              <a:tabLst>
                <a:tab pos="393065" algn="l"/>
                <a:tab pos="393700" algn="l"/>
              </a:tabLst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Example 3: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calling of </a:t>
            </a:r>
            <a:r>
              <a:rPr dirty="0" sz="1800" spc="-10">
                <a:solidFill>
                  <a:srgbClr val="414042"/>
                </a:solidFill>
                <a:latin typeface="Arial"/>
                <a:cs typeface="Arial"/>
              </a:rPr>
              <a:t>operations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in state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do/entry/exit or transition </a:t>
            </a:r>
            <a:r>
              <a:rPr dirty="0" sz="1800" spc="-10">
                <a:solidFill>
                  <a:srgbClr val="414042"/>
                </a:solidFill>
                <a:latin typeface="Arial"/>
                <a:cs typeface="Arial"/>
              </a:rPr>
              <a:t>behaviors</a:t>
            </a:r>
            <a:r>
              <a:rPr dirty="0" sz="1800" spc="12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414042"/>
                </a:solidFill>
                <a:latin typeface="Arial"/>
                <a:cs typeface="Arial"/>
              </a:rPr>
              <a:t>allows</a:t>
            </a:r>
            <a:endParaRPr sz="1800">
              <a:latin typeface="Arial"/>
              <a:cs typeface="Arial"/>
            </a:endParaRPr>
          </a:p>
          <a:p>
            <a:pPr marL="393700">
              <a:lnSpc>
                <a:spcPts val="1945"/>
              </a:lnSpc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inference of </a:t>
            </a:r>
            <a:r>
              <a:rPr dirty="0" sz="1800" spc="-15">
                <a:solidFill>
                  <a:srgbClr val="414042"/>
                </a:solidFill>
                <a:latin typeface="Arial"/>
                <a:cs typeface="Arial"/>
              </a:rPr>
              <a:t>what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states/transitions are able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to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support mission threads (activities)…or</a:t>
            </a:r>
            <a:r>
              <a:rPr dirty="0" sz="1800" spc="17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10054" y="5539232"/>
            <a:ext cx="17513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impact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failures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1144"/>
            <a:ext cx="93726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26114" y="5047107"/>
            <a:ext cx="3138170" cy="139700"/>
            <a:chOff x="326114" y="5047107"/>
            <a:chExt cx="3138170" cy="139700"/>
          </a:xfrm>
        </p:grpSpPr>
        <p:sp>
          <p:nvSpPr>
            <p:cNvPr id="4" name="object 4"/>
            <p:cNvSpPr/>
            <p:nvPr/>
          </p:nvSpPr>
          <p:spPr>
            <a:xfrm>
              <a:off x="326114" y="5047107"/>
              <a:ext cx="3138046" cy="13960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59663" y="5099304"/>
              <a:ext cx="3074035" cy="0"/>
            </a:xfrm>
            <a:custGeom>
              <a:avLst/>
              <a:gdLst/>
              <a:ahLst/>
              <a:cxnLst/>
              <a:rect l="l" t="t" r="r" b="b"/>
              <a:pathLst>
                <a:path w="3074035" h="0">
                  <a:moveTo>
                    <a:pt x="0" y="0"/>
                  </a:moveTo>
                  <a:lnTo>
                    <a:pt x="3074035" y="0"/>
                  </a:lnTo>
                </a:path>
              </a:pathLst>
            </a:custGeom>
            <a:ln w="76200">
              <a:solidFill>
                <a:srgbClr val="971B1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9188" y="3362070"/>
            <a:ext cx="8054975" cy="16719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5400" spc="-20" i="0">
                <a:latin typeface="Arial"/>
                <a:cs typeface="Arial"/>
              </a:rPr>
              <a:t>SAIC’s </a:t>
            </a:r>
            <a:r>
              <a:rPr dirty="0" sz="5400" spc="-5" i="0">
                <a:latin typeface="Arial"/>
                <a:cs typeface="Arial"/>
              </a:rPr>
              <a:t>Digital</a:t>
            </a:r>
            <a:r>
              <a:rPr dirty="0" sz="5400" spc="-60" i="0">
                <a:latin typeface="Arial"/>
                <a:cs typeface="Arial"/>
              </a:rPr>
              <a:t> </a:t>
            </a:r>
            <a:r>
              <a:rPr dirty="0" sz="5400" i="0">
                <a:latin typeface="Arial"/>
                <a:cs typeface="Arial"/>
              </a:rPr>
              <a:t>Engineering  </a:t>
            </a:r>
            <a:r>
              <a:rPr dirty="0" sz="5400" spc="-40" i="0">
                <a:latin typeface="Arial"/>
                <a:cs typeface="Arial"/>
              </a:rPr>
              <a:t>Validation</a:t>
            </a:r>
            <a:r>
              <a:rPr dirty="0" sz="5400" spc="-130" i="0">
                <a:latin typeface="Arial"/>
                <a:cs typeface="Arial"/>
              </a:rPr>
              <a:t> </a:t>
            </a:r>
            <a:r>
              <a:rPr dirty="0" sz="5400" spc="-150" i="0">
                <a:latin typeface="Arial"/>
                <a:cs typeface="Arial"/>
              </a:rPr>
              <a:t>Tool</a:t>
            </a:r>
            <a:endParaRPr sz="5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1144"/>
            <a:ext cx="93726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r>
              <a:rPr dirty="0" spc="-5"/>
              <a:t>1</a:t>
            </a:r>
          </a:p>
          <a:p>
            <a:pPr marL="38100">
              <a:lnSpc>
                <a:spcPct val="100000"/>
              </a:lnSpc>
            </a:pPr>
            <a:r>
              <a:rPr dirty="0" spc="-5"/>
              <a:t>2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483234"/>
            <a:ext cx="992251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i="0">
                <a:latin typeface="Arial"/>
                <a:cs typeface="Arial"/>
              </a:rPr>
              <a:t>SAIC Digital Engineering </a:t>
            </a:r>
            <a:r>
              <a:rPr dirty="0" sz="4400" spc="-35" i="0">
                <a:latin typeface="Arial"/>
                <a:cs typeface="Arial"/>
              </a:rPr>
              <a:t>Validation</a:t>
            </a:r>
            <a:r>
              <a:rPr dirty="0" sz="4400" spc="-105" i="0">
                <a:latin typeface="Arial"/>
                <a:cs typeface="Arial"/>
              </a:rPr>
              <a:t> </a:t>
            </a:r>
            <a:r>
              <a:rPr dirty="0" sz="4400" spc="-125" i="0">
                <a:latin typeface="Arial"/>
                <a:cs typeface="Arial"/>
              </a:rPr>
              <a:t>Tool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9124" y="1642998"/>
            <a:ext cx="10209530" cy="3648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5080" indent="-457834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469900" algn="l"/>
                <a:tab pos="470534" algn="l"/>
                <a:tab pos="5154930" algn="l"/>
              </a:tabLst>
            </a:pPr>
            <a:r>
              <a:rPr dirty="0" sz="1800" spc="-5" i="1">
                <a:solidFill>
                  <a:srgbClr val="414042"/>
                </a:solidFill>
                <a:latin typeface="Arial"/>
                <a:cs typeface="Arial"/>
              </a:rPr>
              <a:t>Shipshape and Bristol Fashion: Model Documentation and Curation </a:t>
            </a:r>
            <a:r>
              <a:rPr dirty="0" sz="1800" i="1">
                <a:solidFill>
                  <a:srgbClr val="414042"/>
                </a:solidFill>
                <a:latin typeface="Arial"/>
                <a:cs typeface="Arial"/>
              </a:rPr>
              <a:t>to </a:t>
            </a:r>
            <a:r>
              <a:rPr dirty="0" sz="1800" spc="-5" i="1">
                <a:solidFill>
                  <a:srgbClr val="414042"/>
                </a:solidFill>
                <a:latin typeface="Arial"/>
                <a:cs typeface="Arial"/>
              </a:rPr>
              <a:t>Facilitate Reuse 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(Vinarcik/Jugovic, 2019 NDIA Systems and Mission Engineering Conference) discussed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use  of automated validation in</a:t>
            </a:r>
            <a:r>
              <a:rPr dirty="0" sz="1800" spc="5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systems</a:t>
            </a:r>
            <a:r>
              <a:rPr dirty="0" sz="1800" spc="3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modeling:	“When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a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model passes validation, </a:t>
            </a:r>
            <a:r>
              <a:rPr dirty="0" sz="1800" spc="-10">
                <a:solidFill>
                  <a:srgbClr val="414042"/>
                </a:solidFill>
                <a:latin typeface="Arial"/>
                <a:cs typeface="Arial"/>
              </a:rPr>
              <a:t>you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KNOW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it is  </a:t>
            </a:r>
            <a:r>
              <a:rPr dirty="0" sz="1800" spc="-15">
                <a:solidFill>
                  <a:srgbClr val="414042"/>
                </a:solidFill>
                <a:latin typeface="Arial"/>
                <a:cs typeface="Arial"/>
              </a:rPr>
              <a:t>compliant…Validation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is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fast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and consistent, Seconds/Minutes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vs.</a:t>
            </a:r>
            <a:r>
              <a:rPr dirty="0" sz="1800" spc="10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Hours”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414042"/>
              </a:buClr>
              <a:buFont typeface="Arial"/>
              <a:buChar char="•"/>
            </a:pPr>
            <a:endParaRPr sz="26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SAIC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released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its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Digital Engineering </a:t>
            </a:r>
            <a:r>
              <a:rPr dirty="0" sz="1800" spc="-20">
                <a:solidFill>
                  <a:srgbClr val="414042"/>
                </a:solidFill>
                <a:latin typeface="Arial"/>
                <a:cs typeface="Arial"/>
              </a:rPr>
              <a:t>Validation </a:t>
            </a:r>
            <a:r>
              <a:rPr dirty="0" sz="1800" spc="-55">
                <a:solidFill>
                  <a:srgbClr val="414042"/>
                </a:solidFill>
                <a:latin typeface="Arial"/>
                <a:cs typeface="Arial"/>
              </a:rPr>
              <a:t>Tool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in December</a:t>
            </a:r>
            <a:r>
              <a:rPr dirty="0" sz="1800" spc="13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2019:</a:t>
            </a:r>
            <a:endParaRPr sz="1800">
              <a:latin typeface="Arial"/>
              <a:cs typeface="Arial"/>
            </a:endParaRPr>
          </a:p>
          <a:p>
            <a:pPr lvl="1" marL="1003300" indent="-381635">
              <a:lnSpc>
                <a:spcPct val="100000"/>
              </a:lnSpc>
              <a:spcBef>
                <a:spcPts val="390"/>
              </a:spcBef>
              <a:buChar char="–"/>
              <a:tabLst>
                <a:tab pos="1003300" algn="l"/>
                <a:tab pos="1003935" algn="l"/>
              </a:tabLst>
            </a:pP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V1.0 (December 2019—126</a:t>
            </a:r>
            <a:r>
              <a:rPr dirty="0" sz="1600" spc="3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rules):</a:t>
            </a:r>
            <a:endParaRPr sz="1600">
              <a:latin typeface="Arial"/>
              <a:cs typeface="Arial"/>
            </a:endParaRPr>
          </a:p>
          <a:p>
            <a:pPr lvl="2" marL="1536700" indent="-305435">
              <a:lnSpc>
                <a:spcPct val="100000"/>
              </a:lnSpc>
              <a:spcBef>
                <a:spcPts val="335"/>
              </a:spcBef>
              <a:buChar char="•"/>
              <a:tabLst>
                <a:tab pos="1536700" algn="l"/>
                <a:tab pos="1537335" algn="l"/>
              </a:tabLst>
            </a:pPr>
            <a:r>
              <a:rPr dirty="0" sz="1400">
                <a:solidFill>
                  <a:srgbClr val="414042"/>
                </a:solidFill>
                <a:latin typeface="Arial"/>
                <a:cs typeface="Arial"/>
              </a:rPr>
              <a:t>Initial</a:t>
            </a:r>
            <a:r>
              <a:rPr dirty="0" sz="1400" spc="-3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414042"/>
                </a:solidFill>
                <a:latin typeface="Arial"/>
                <a:cs typeface="Arial"/>
              </a:rPr>
              <a:t>customizations</a:t>
            </a:r>
            <a:endParaRPr sz="1400">
              <a:latin typeface="Arial"/>
              <a:cs typeface="Arial"/>
            </a:endParaRPr>
          </a:p>
          <a:p>
            <a:pPr lvl="2" marL="1536700" indent="-305435">
              <a:lnSpc>
                <a:spcPct val="100000"/>
              </a:lnSpc>
              <a:spcBef>
                <a:spcPts val="335"/>
              </a:spcBef>
              <a:buChar char="•"/>
              <a:tabLst>
                <a:tab pos="1536700" algn="l"/>
                <a:tab pos="1537335" algn="l"/>
              </a:tabLst>
            </a:pPr>
            <a:r>
              <a:rPr dirty="0" sz="1400" spc="-5">
                <a:solidFill>
                  <a:srgbClr val="414042"/>
                </a:solidFill>
                <a:latin typeface="Arial"/>
                <a:cs typeface="Arial"/>
              </a:rPr>
              <a:t>Videos</a:t>
            </a:r>
            <a:endParaRPr sz="1400">
              <a:latin typeface="Arial"/>
              <a:cs typeface="Arial"/>
            </a:endParaRPr>
          </a:p>
          <a:p>
            <a:pPr marL="622300">
              <a:lnSpc>
                <a:spcPct val="100000"/>
              </a:lnSpc>
              <a:spcBef>
                <a:spcPts val="390"/>
              </a:spcBef>
              <a:tabLst>
                <a:tab pos="1003300" algn="l"/>
              </a:tabLst>
            </a:pP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–	V1.5 (April 2020—153</a:t>
            </a:r>
            <a:r>
              <a:rPr dirty="0" sz="1600" spc="2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rules)</a:t>
            </a:r>
            <a:endParaRPr sz="1600">
              <a:latin typeface="Arial"/>
              <a:cs typeface="Arial"/>
            </a:endParaRPr>
          </a:p>
          <a:p>
            <a:pPr lvl="2" marL="1536700" indent="-305435">
              <a:lnSpc>
                <a:spcPct val="100000"/>
              </a:lnSpc>
              <a:spcBef>
                <a:spcPts val="334"/>
              </a:spcBef>
              <a:buChar char="•"/>
              <a:tabLst>
                <a:tab pos="1536700" algn="l"/>
                <a:tab pos="1537335" algn="l"/>
              </a:tabLst>
            </a:pPr>
            <a:r>
              <a:rPr dirty="0" sz="1400" spc="-5">
                <a:solidFill>
                  <a:srgbClr val="414042"/>
                </a:solidFill>
                <a:latin typeface="Arial"/>
                <a:cs typeface="Arial"/>
              </a:rPr>
              <a:t>Model-based Style</a:t>
            </a:r>
            <a:r>
              <a:rPr dirty="0" sz="1400" spc="-4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14042"/>
                </a:solidFill>
                <a:latin typeface="Arial"/>
                <a:cs typeface="Arial"/>
              </a:rPr>
              <a:t>Guide</a:t>
            </a:r>
            <a:endParaRPr sz="1400">
              <a:latin typeface="Arial"/>
              <a:cs typeface="Arial"/>
            </a:endParaRPr>
          </a:p>
          <a:p>
            <a:pPr lvl="2" marL="1536700" indent="-305435">
              <a:lnSpc>
                <a:spcPct val="100000"/>
              </a:lnSpc>
              <a:spcBef>
                <a:spcPts val="335"/>
              </a:spcBef>
              <a:buChar char="•"/>
              <a:tabLst>
                <a:tab pos="1536700" algn="l"/>
                <a:tab pos="1537335" algn="l"/>
              </a:tabLst>
            </a:pPr>
            <a:r>
              <a:rPr dirty="0" sz="1400" spc="-5">
                <a:solidFill>
                  <a:srgbClr val="414042"/>
                </a:solidFill>
                <a:latin typeface="Arial"/>
                <a:cs typeface="Arial"/>
              </a:rPr>
              <a:t>Example </a:t>
            </a:r>
            <a:r>
              <a:rPr dirty="0" sz="1400">
                <a:solidFill>
                  <a:srgbClr val="414042"/>
                </a:solidFill>
                <a:latin typeface="Arial"/>
                <a:cs typeface="Arial"/>
              </a:rPr>
              <a:t>model (</a:t>
            </a:r>
            <a:r>
              <a:rPr dirty="0" sz="1400" i="1">
                <a:solidFill>
                  <a:srgbClr val="414042"/>
                </a:solidFill>
                <a:latin typeface="Arial"/>
                <a:cs typeface="Arial"/>
              </a:rPr>
              <a:t>Ranger </a:t>
            </a:r>
            <a:r>
              <a:rPr dirty="0" sz="1400">
                <a:solidFill>
                  <a:srgbClr val="414042"/>
                </a:solidFill>
                <a:latin typeface="Arial"/>
                <a:cs typeface="Arial"/>
              </a:rPr>
              <a:t>lunar</a:t>
            </a:r>
            <a:r>
              <a:rPr dirty="0" sz="1400" spc="-8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14042"/>
                </a:solidFill>
                <a:latin typeface="Arial"/>
                <a:cs typeface="Arial"/>
              </a:rPr>
              <a:t>probe)</a:t>
            </a:r>
            <a:endParaRPr sz="1400">
              <a:latin typeface="Arial"/>
              <a:cs typeface="Arial"/>
            </a:endParaRPr>
          </a:p>
          <a:p>
            <a:pPr lvl="2" marL="1536700" indent="-305435">
              <a:lnSpc>
                <a:spcPct val="100000"/>
              </a:lnSpc>
              <a:spcBef>
                <a:spcPts val="335"/>
              </a:spcBef>
              <a:buChar char="•"/>
              <a:tabLst>
                <a:tab pos="1536700" algn="l"/>
                <a:tab pos="1537335" algn="l"/>
              </a:tabLst>
            </a:pPr>
            <a:r>
              <a:rPr dirty="0" sz="1400">
                <a:solidFill>
                  <a:srgbClr val="414042"/>
                </a:solidFill>
                <a:latin typeface="Arial"/>
                <a:cs typeface="Arial"/>
              </a:rPr>
              <a:t>Rhapsody</a:t>
            </a:r>
            <a:r>
              <a:rPr dirty="0" sz="1400" spc="-4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14042"/>
                </a:solidFill>
                <a:latin typeface="Arial"/>
                <a:cs typeface="Arial"/>
              </a:rPr>
              <a:t>rules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9055" y="5315203"/>
            <a:ext cx="31959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3065" algn="l"/>
              </a:tabLst>
            </a:pP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–	V1.6 (August 2020—164</a:t>
            </a:r>
            <a:r>
              <a:rPr dirty="0" sz="1600" spc="1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rules)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38654" y="5600191"/>
            <a:ext cx="34886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100"/>
              </a:spcBef>
              <a:buChar char="•"/>
              <a:tabLst>
                <a:tab pos="316865" algn="l"/>
                <a:tab pos="317500" algn="l"/>
              </a:tabLst>
            </a:pPr>
            <a:r>
              <a:rPr dirty="0" sz="1400" spc="-5">
                <a:solidFill>
                  <a:srgbClr val="414042"/>
                </a:solidFill>
                <a:latin typeface="Arial"/>
                <a:cs typeface="Arial"/>
              </a:rPr>
              <a:t>Classification/Data </a:t>
            </a:r>
            <a:r>
              <a:rPr dirty="0" sz="1400">
                <a:solidFill>
                  <a:srgbClr val="414042"/>
                </a:solidFill>
                <a:latin typeface="Arial"/>
                <a:cs typeface="Arial"/>
              </a:rPr>
              <a:t>Rights</a:t>
            </a:r>
            <a:r>
              <a:rPr dirty="0" sz="1400" spc="-5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414042"/>
                </a:solidFill>
                <a:latin typeface="Arial"/>
                <a:cs typeface="Arial"/>
              </a:rPr>
              <a:t>customization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9055" y="5816375"/>
            <a:ext cx="3285490" cy="57213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470"/>
              </a:spcBef>
              <a:buChar char="–"/>
              <a:tabLst>
                <a:tab pos="393065" algn="l"/>
                <a:tab pos="393700" algn="l"/>
              </a:tabLst>
            </a:pP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V1.7 (January 2021—184</a:t>
            </a:r>
            <a:r>
              <a:rPr dirty="0" sz="160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rules)</a:t>
            </a:r>
            <a:endParaRPr sz="1600">
              <a:latin typeface="Arial"/>
              <a:cs typeface="Arial"/>
            </a:endParaRPr>
          </a:p>
          <a:p>
            <a:pPr lvl="1" marL="927100" indent="-304800">
              <a:lnSpc>
                <a:spcPct val="100000"/>
              </a:lnSpc>
              <a:spcBef>
                <a:spcPts val="330"/>
              </a:spcBef>
              <a:buChar char="•"/>
              <a:tabLst>
                <a:tab pos="926465" algn="l"/>
                <a:tab pos="927100" algn="l"/>
              </a:tabLst>
            </a:pPr>
            <a:r>
              <a:rPr dirty="0" sz="1400" spc="-5">
                <a:solidFill>
                  <a:srgbClr val="414042"/>
                </a:solidFill>
                <a:latin typeface="Arial"/>
                <a:cs typeface="Arial"/>
              </a:rPr>
              <a:t>FMEA</a:t>
            </a:r>
            <a:r>
              <a:rPr dirty="0" sz="1400" spc="-8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400" spc="-5">
                <a:solidFill>
                  <a:srgbClr val="414042"/>
                </a:solidFill>
                <a:latin typeface="Arial"/>
                <a:cs typeface="Arial"/>
              </a:rPr>
              <a:t>customization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1144"/>
            <a:ext cx="93726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89357"/>
            <a:ext cx="10125075" cy="149034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i="0">
                <a:latin typeface="Arial"/>
                <a:cs typeface="Arial"/>
              </a:rPr>
              <a:t>2020 </a:t>
            </a:r>
            <a:r>
              <a:rPr dirty="0" sz="3200" i="0">
                <a:latin typeface="Arial"/>
                <a:cs typeface="Arial"/>
              </a:rPr>
              <a:t>ASEE</a:t>
            </a:r>
            <a:r>
              <a:rPr dirty="0" sz="3200" spc="-190" i="0">
                <a:latin typeface="Arial"/>
                <a:cs typeface="Arial"/>
              </a:rPr>
              <a:t> </a:t>
            </a:r>
            <a:r>
              <a:rPr dirty="0" sz="3200" i="0">
                <a:latin typeface="Arial"/>
                <a:cs typeface="Arial"/>
              </a:rPr>
              <a:t>Paper:</a:t>
            </a:r>
            <a:endParaRPr sz="3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  <a:tabLst>
                <a:tab pos="2358390" algn="l"/>
              </a:tabLst>
            </a:pPr>
            <a:r>
              <a:rPr dirty="0" sz="3200" spc="-25"/>
              <a:t>Treadstone:	</a:t>
            </a:r>
            <a:r>
              <a:rPr dirty="0" sz="3200"/>
              <a:t>A Process for Improving </a:t>
            </a:r>
            <a:r>
              <a:rPr dirty="0" sz="3200" spc="-5"/>
              <a:t>Modeling</a:t>
            </a:r>
            <a:r>
              <a:rPr dirty="0" sz="3200" spc="-210"/>
              <a:t> </a:t>
            </a:r>
            <a:r>
              <a:rPr dirty="0" sz="3200"/>
              <a:t>Prowess  </a:t>
            </a:r>
            <a:r>
              <a:rPr dirty="0" sz="3200" i="1"/>
              <a:t>Using </a:t>
            </a:r>
            <a:r>
              <a:rPr dirty="0" sz="3200" spc="-15" i="1"/>
              <a:t>Validation</a:t>
            </a:r>
            <a:r>
              <a:rPr dirty="0" sz="3200" spc="-50" i="1"/>
              <a:t> </a:t>
            </a:r>
            <a:r>
              <a:rPr dirty="0" sz="3200" i="1"/>
              <a:t>Rules</a:t>
            </a:r>
            <a:endParaRPr sz="3200"/>
          </a:p>
        </p:txBody>
      </p:sp>
      <p:sp>
        <p:nvSpPr>
          <p:cNvPr id="4" name="object 4"/>
          <p:cNvSpPr/>
          <p:nvPr/>
        </p:nvSpPr>
        <p:spPr>
          <a:xfrm>
            <a:off x="3049523" y="1600200"/>
            <a:ext cx="6099048" cy="45262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r>
              <a:rPr dirty="0" spc="-5"/>
              <a:t>1</a:t>
            </a:r>
          </a:p>
          <a:p>
            <a:pPr marL="38100">
              <a:lnSpc>
                <a:spcPct val="100000"/>
              </a:lnSpc>
            </a:pPr>
            <a:r>
              <a:rPr dirty="0" spc="-5"/>
              <a:t>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1144"/>
            <a:ext cx="93726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26114" y="5047107"/>
            <a:ext cx="3138170" cy="139700"/>
            <a:chOff x="326114" y="5047107"/>
            <a:chExt cx="3138170" cy="139700"/>
          </a:xfrm>
        </p:grpSpPr>
        <p:sp>
          <p:nvSpPr>
            <p:cNvPr id="4" name="object 4"/>
            <p:cNvSpPr/>
            <p:nvPr/>
          </p:nvSpPr>
          <p:spPr>
            <a:xfrm>
              <a:off x="326114" y="5047107"/>
              <a:ext cx="3138046" cy="13960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59663" y="5099304"/>
              <a:ext cx="3074035" cy="0"/>
            </a:xfrm>
            <a:custGeom>
              <a:avLst/>
              <a:gdLst/>
              <a:ahLst/>
              <a:cxnLst/>
              <a:rect l="l" t="t" r="r" b="b"/>
              <a:pathLst>
                <a:path w="3074035" h="0">
                  <a:moveTo>
                    <a:pt x="0" y="0"/>
                  </a:moveTo>
                  <a:lnTo>
                    <a:pt x="3074035" y="0"/>
                  </a:lnTo>
                </a:path>
              </a:pathLst>
            </a:custGeom>
            <a:ln w="76200">
              <a:solidFill>
                <a:srgbClr val="971B1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9188" y="3362070"/>
            <a:ext cx="10351770" cy="16719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5400" spc="-5" i="0">
                <a:latin typeface="Arial"/>
                <a:cs typeface="Arial"/>
              </a:rPr>
              <a:t>Classification </a:t>
            </a:r>
            <a:r>
              <a:rPr dirty="0" sz="5400" i="0">
                <a:latin typeface="Arial"/>
                <a:cs typeface="Arial"/>
              </a:rPr>
              <a:t>/ </a:t>
            </a:r>
            <a:r>
              <a:rPr dirty="0" sz="5400" spc="-5" i="0">
                <a:latin typeface="Arial"/>
                <a:cs typeface="Arial"/>
              </a:rPr>
              <a:t>Data Rights Profile  </a:t>
            </a:r>
            <a:r>
              <a:rPr dirty="0" sz="5400" i="0">
                <a:latin typeface="Arial"/>
                <a:cs typeface="Arial"/>
              </a:rPr>
              <a:t>FMEA</a:t>
            </a:r>
            <a:r>
              <a:rPr dirty="0" sz="5400" spc="-315" i="0">
                <a:latin typeface="Arial"/>
                <a:cs typeface="Arial"/>
              </a:rPr>
              <a:t> </a:t>
            </a:r>
            <a:r>
              <a:rPr dirty="0" sz="5400" i="0">
                <a:latin typeface="Arial"/>
                <a:cs typeface="Arial"/>
              </a:rPr>
              <a:t>Profile</a:t>
            </a:r>
            <a:endParaRPr sz="5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1144"/>
            <a:ext cx="93726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547242"/>
            <a:ext cx="1075182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04205" algn="l"/>
              </a:tabLst>
            </a:pPr>
            <a:r>
              <a:rPr dirty="0" sz="3600" i="0">
                <a:latin typeface="Arial"/>
                <a:cs typeface="Arial"/>
              </a:rPr>
              <a:t>SAIC Classification</a:t>
            </a:r>
            <a:r>
              <a:rPr dirty="0" sz="3600" spc="-20" i="0">
                <a:latin typeface="Arial"/>
                <a:cs typeface="Arial"/>
              </a:rPr>
              <a:t> </a:t>
            </a:r>
            <a:r>
              <a:rPr dirty="0" sz="3600" i="0">
                <a:latin typeface="Arial"/>
                <a:cs typeface="Arial"/>
              </a:rPr>
              <a:t>Profile:	Restriction</a:t>
            </a:r>
            <a:r>
              <a:rPr dirty="0" sz="3600" spc="-80" i="0">
                <a:latin typeface="Arial"/>
                <a:cs typeface="Arial"/>
              </a:rPr>
              <a:t> </a:t>
            </a:r>
            <a:r>
              <a:rPr dirty="0" sz="3600" i="0">
                <a:latin typeface="Arial"/>
                <a:cs typeface="Arial"/>
              </a:rPr>
              <a:t>Relationships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64435" y="1601724"/>
            <a:ext cx="8270748" cy="45232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r>
              <a:rPr dirty="0" spc="-5"/>
              <a:t>1</a:t>
            </a:r>
          </a:p>
          <a:p>
            <a:pPr marL="38100">
              <a:lnSpc>
                <a:spcPct val="100000"/>
              </a:lnSpc>
            </a:pPr>
            <a:r>
              <a:rPr dirty="0" spc="-5"/>
              <a:t>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1144"/>
            <a:ext cx="93726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210438"/>
            <a:ext cx="10279380" cy="12446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i="0">
                <a:latin typeface="Arial"/>
                <a:cs typeface="Arial"/>
              </a:rPr>
              <a:t>SAIC </a:t>
            </a:r>
            <a:r>
              <a:rPr dirty="0" sz="4000" i="0">
                <a:latin typeface="Arial"/>
                <a:cs typeface="Arial"/>
              </a:rPr>
              <a:t>Classification</a:t>
            </a:r>
            <a:r>
              <a:rPr dirty="0" sz="4000" spc="-10" i="0">
                <a:latin typeface="Arial"/>
                <a:cs typeface="Arial"/>
              </a:rPr>
              <a:t> </a:t>
            </a:r>
            <a:r>
              <a:rPr dirty="0" sz="4000" spc="-5" i="0">
                <a:latin typeface="Arial"/>
                <a:cs typeface="Arial"/>
              </a:rPr>
              <a:t>Profile: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4000" spc="-5" i="0">
                <a:latin typeface="Arial"/>
                <a:cs typeface="Arial"/>
              </a:rPr>
              <a:t>Inherent </a:t>
            </a:r>
            <a:r>
              <a:rPr dirty="0" sz="4000" i="0">
                <a:latin typeface="Arial"/>
                <a:cs typeface="Arial"/>
              </a:rPr>
              <a:t>Classification/Data </a:t>
            </a:r>
            <a:r>
              <a:rPr dirty="0" sz="4000" spc="-5" i="0">
                <a:latin typeface="Arial"/>
                <a:cs typeface="Arial"/>
              </a:rPr>
              <a:t>Rights</a:t>
            </a:r>
            <a:r>
              <a:rPr dirty="0" sz="4000" spc="45" i="0">
                <a:latin typeface="Arial"/>
                <a:cs typeface="Arial"/>
              </a:rPr>
              <a:t> </a:t>
            </a:r>
            <a:r>
              <a:rPr dirty="0" sz="4000" spc="-5" i="0">
                <a:latin typeface="Arial"/>
                <a:cs typeface="Arial"/>
              </a:rPr>
              <a:t>Properties</a:t>
            </a:r>
            <a:endParaRPr sz="40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9600" y="1522475"/>
            <a:ext cx="10979150" cy="4526280"/>
            <a:chOff x="609600" y="1522475"/>
            <a:chExt cx="10979150" cy="4526280"/>
          </a:xfrm>
        </p:grpSpPr>
        <p:sp>
          <p:nvSpPr>
            <p:cNvPr id="5" name="object 5"/>
            <p:cNvSpPr/>
            <p:nvPr/>
          </p:nvSpPr>
          <p:spPr>
            <a:xfrm>
              <a:off x="609600" y="1522475"/>
              <a:ext cx="5503164" cy="452628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188463" y="3523487"/>
              <a:ext cx="9400032" cy="6903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631941" y="4213859"/>
              <a:ext cx="845185" cy="635635"/>
            </a:xfrm>
            <a:custGeom>
              <a:avLst/>
              <a:gdLst/>
              <a:ahLst/>
              <a:cxnLst/>
              <a:rect l="l" t="t" r="r" b="b"/>
              <a:pathLst>
                <a:path w="845185" h="635635">
                  <a:moveTo>
                    <a:pt x="780157" y="40635"/>
                  </a:moveTo>
                  <a:lnTo>
                    <a:pt x="0" y="625220"/>
                  </a:lnTo>
                  <a:lnTo>
                    <a:pt x="7620" y="635381"/>
                  </a:lnTo>
                  <a:lnTo>
                    <a:pt x="787777" y="50795"/>
                  </a:lnTo>
                  <a:lnTo>
                    <a:pt x="780157" y="40635"/>
                  </a:lnTo>
                  <a:close/>
                </a:path>
                <a:path w="845185" h="635635">
                  <a:moveTo>
                    <a:pt x="828421" y="33019"/>
                  </a:moveTo>
                  <a:lnTo>
                    <a:pt x="790321" y="33019"/>
                  </a:lnTo>
                  <a:lnTo>
                    <a:pt x="797941" y="43179"/>
                  </a:lnTo>
                  <a:lnTo>
                    <a:pt x="787777" y="50795"/>
                  </a:lnTo>
                  <a:lnTo>
                    <a:pt x="806831" y="76200"/>
                  </a:lnTo>
                  <a:lnTo>
                    <a:pt x="828421" y="33019"/>
                  </a:lnTo>
                  <a:close/>
                </a:path>
                <a:path w="845185" h="635635">
                  <a:moveTo>
                    <a:pt x="790321" y="33019"/>
                  </a:moveTo>
                  <a:lnTo>
                    <a:pt x="780157" y="40635"/>
                  </a:lnTo>
                  <a:lnTo>
                    <a:pt x="787777" y="50795"/>
                  </a:lnTo>
                  <a:lnTo>
                    <a:pt x="797941" y="43179"/>
                  </a:lnTo>
                  <a:lnTo>
                    <a:pt x="790321" y="33019"/>
                  </a:lnTo>
                  <a:close/>
                </a:path>
                <a:path w="845185" h="635635">
                  <a:moveTo>
                    <a:pt x="844931" y="0"/>
                  </a:moveTo>
                  <a:lnTo>
                    <a:pt x="761111" y="15239"/>
                  </a:lnTo>
                  <a:lnTo>
                    <a:pt x="780157" y="40635"/>
                  </a:lnTo>
                  <a:lnTo>
                    <a:pt x="790321" y="33019"/>
                  </a:lnTo>
                  <a:lnTo>
                    <a:pt x="828421" y="33019"/>
                  </a:lnTo>
                  <a:lnTo>
                    <a:pt x="844931" y="0"/>
                  </a:lnTo>
                  <a:close/>
                </a:path>
              </a:pathLst>
            </a:custGeom>
            <a:solidFill>
              <a:srgbClr val="9717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r>
              <a:rPr dirty="0" spc="-5"/>
              <a:t>1</a:t>
            </a:r>
          </a:p>
          <a:p>
            <a:pPr marL="38100">
              <a:lnSpc>
                <a:spcPct val="100000"/>
              </a:lnSpc>
            </a:pPr>
            <a:r>
              <a:rPr dirty="0" spc="-5"/>
              <a:t>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1144"/>
            <a:ext cx="93726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483234"/>
            <a:ext cx="652335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i="0">
                <a:latin typeface="Arial"/>
                <a:cs typeface="Arial"/>
              </a:rPr>
              <a:t>SAIC Classification</a:t>
            </a:r>
            <a:r>
              <a:rPr dirty="0" sz="4400" spc="-65" i="0">
                <a:latin typeface="Arial"/>
                <a:cs typeface="Arial"/>
              </a:rPr>
              <a:t> </a:t>
            </a:r>
            <a:r>
              <a:rPr dirty="0" sz="4400" i="0">
                <a:latin typeface="Arial"/>
                <a:cs typeface="Arial"/>
              </a:rPr>
              <a:t>Profile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8533" y="1632186"/>
            <a:ext cx="5323687" cy="44565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201155" y="1603247"/>
            <a:ext cx="5387340" cy="29641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r>
              <a:rPr dirty="0" spc="-5"/>
              <a:t>1</a:t>
            </a:r>
          </a:p>
          <a:p>
            <a:pPr marL="38100">
              <a:lnSpc>
                <a:spcPct val="100000"/>
              </a:lnSpc>
            </a:pPr>
            <a:r>
              <a:rPr dirty="0" spc="-5"/>
              <a:t>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1144"/>
            <a:ext cx="93726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631657" y="1439377"/>
            <a:ext cx="11212195" cy="4482465"/>
            <a:chOff x="631657" y="1439377"/>
            <a:chExt cx="11212195" cy="4482465"/>
          </a:xfrm>
        </p:grpSpPr>
        <p:sp>
          <p:nvSpPr>
            <p:cNvPr id="4" name="object 4"/>
            <p:cNvSpPr/>
            <p:nvPr/>
          </p:nvSpPr>
          <p:spPr>
            <a:xfrm>
              <a:off x="6057899" y="1463626"/>
              <a:ext cx="5785946" cy="332478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31657" y="1439377"/>
              <a:ext cx="5399772" cy="448216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622035" y="1491996"/>
              <a:ext cx="955675" cy="646430"/>
            </a:xfrm>
            <a:custGeom>
              <a:avLst/>
              <a:gdLst/>
              <a:ahLst/>
              <a:cxnLst/>
              <a:rect l="l" t="t" r="r" b="b"/>
              <a:pathLst>
                <a:path w="955675" h="646430">
                  <a:moveTo>
                    <a:pt x="632460" y="0"/>
                  </a:moveTo>
                  <a:lnTo>
                    <a:pt x="632460" y="161543"/>
                  </a:lnTo>
                  <a:lnTo>
                    <a:pt x="0" y="161543"/>
                  </a:lnTo>
                  <a:lnTo>
                    <a:pt x="0" y="484631"/>
                  </a:lnTo>
                  <a:lnTo>
                    <a:pt x="632460" y="484631"/>
                  </a:lnTo>
                  <a:lnTo>
                    <a:pt x="632460" y="646176"/>
                  </a:lnTo>
                  <a:lnTo>
                    <a:pt x="955547" y="323088"/>
                  </a:lnTo>
                  <a:lnTo>
                    <a:pt x="632460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19124" y="483234"/>
            <a:ext cx="475234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i="0">
                <a:latin typeface="Arial"/>
                <a:cs typeface="Arial"/>
              </a:rPr>
              <a:t>SAIC FMEA</a:t>
            </a:r>
            <a:r>
              <a:rPr dirty="0" sz="4400" spc="-295" i="0">
                <a:latin typeface="Arial"/>
                <a:cs typeface="Arial"/>
              </a:rPr>
              <a:t> </a:t>
            </a:r>
            <a:r>
              <a:rPr dirty="0" sz="4400" i="0">
                <a:latin typeface="Arial"/>
                <a:cs typeface="Arial"/>
              </a:rPr>
              <a:t>Profile</a:t>
            </a:r>
            <a:endParaRPr sz="4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r>
              <a:rPr dirty="0" spc="-5"/>
              <a:t>1</a:t>
            </a:r>
          </a:p>
          <a:p>
            <a:pPr marL="38100">
              <a:lnSpc>
                <a:spcPct val="100000"/>
              </a:lnSpc>
            </a:pPr>
            <a:r>
              <a:rPr dirty="0" spc="-5"/>
              <a:t>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1144"/>
            <a:ext cx="93726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210438"/>
            <a:ext cx="9457055" cy="12446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i="0">
                <a:latin typeface="Arial"/>
                <a:cs typeface="Arial"/>
              </a:rPr>
              <a:t>SAIC FMEA</a:t>
            </a:r>
            <a:r>
              <a:rPr dirty="0" sz="4000" spc="-215" i="0">
                <a:latin typeface="Arial"/>
                <a:cs typeface="Arial"/>
              </a:rPr>
              <a:t> </a:t>
            </a:r>
            <a:r>
              <a:rPr dirty="0" sz="4000" spc="-5" i="0">
                <a:latin typeface="Arial"/>
                <a:cs typeface="Arial"/>
              </a:rPr>
              <a:t>Profile: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4000" spc="-5" i="0">
                <a:latin typeface="Arial"/>
                <a:cs typeface="Arial"/>
              </a:rPr>
              <a:t>State and Mission-Thread Driven</a:t>
            </a:r>
            <a:r>
              <a:rPr dirty="0" sz="4000" spc="-130" i="0">
                <a:latin typeface="Arial"/>
                <a:cs typeface="Arial"/>
              </a:rPr>
              <a:t> </a:t>
            </a:r>
            <a:r>
              <a:rPr dirty="0" sz="4000" spc="-5" i="0">
                <a:latin typeface="Arial"/>
                <a:cs typeface="Arial"/>
              </a:rPr>
              <a:t>Analysis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9600" y="1591055"/>
            <a:ext cx="10530840" cy="38008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r>
              <a:rPr dirty="0" spc="-5"/>
              <a:t>1</a:t>
            </a:r>
          </a:p>
          <a:p>
            <a:pPr marL="38100">
              <a:lnSpc>
                <a:spcPct val="100000"/>
              </a:lnSpc>
            </a:pPr>
            <a:r>
              <a:rPr dirty="0" spc="-5"/>
              <a:t>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9124" y="547242"/>
            <a:ext cx="97624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31640" algn="l"/>
              </a:tabLst>
            </a:pPr>
            <a:r>
              <a:rPr dirty="0" sz="3600" i="0">
                <a:latin typeface="Arial"/>
                <a:cs typeface="Arial"/>
              </a:rPr>
              <a:t>SAIC FMEA</a:t>
            </a:r>
            <a:r>
              <a:rPr dirty="0" sz="3600" spc="-200" i="0">
                <a:latin typeface="Arial"/>
                <a:cs typeface="Arial"/>
              </a:rPr>
              <a:t> </a:t>
            </a:r>
            <a:r>
              <a:rPr dirty="0" sz="3600" i="0">
                <a:latin typeface="Arial"/>
                <a:cs typeface="Arial"/>
              </a:rPr>
              <a:t>Profile:	Automatic </a:t>
            </a:r>
            <a:r>
              <a:rPr dirty="0" sz="3600" spc="-5" i="0">
                <a:latin typeface="Arial"/>
                <a:cs typeface="Arial"/>
              </a:rPr>
              <a:t>RPN</a:t>
            </a:r>
            <a:r>
              <a:rPr dirty="0" sz="3600" spc="-65" i="0">
                <a:latin typeface="Arial"/>
                <a:cs typeface="Arial"/>
              </a:rPr>
              <a:t> </a:t>
            </a:r>
            <a:r>
              <a:rPr dirty="0" sz="3600" i="0">
                <a:latin typeface="Arial"/>
                <a:cs typeface="Arial"/>
              </a:rPr>
              <a:t>Calculation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9600" y="2295144"/>
            <a:ext cx="10978896" cy="23942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135994" y="5433209"/>
            <a:ext cx="937260" cy="70358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220" y="6385964"/>
            <a:ext cx="138430" cy="4959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z="1600" spc="-5">
                <a:solidFill>
                  <a:srgbClr val="929292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solidFill>
                  <a:srgbClr val="929292"/>
                </a:solidFill>
                <a:latin typeface="Arial"/>
                <a:cs typeface="Arial"/>
              </a:rPr>
              <a:t>0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292847"/>
            <a:ext cx="12198095" cy="565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029246" y="32052"/>
            <a:ext cx="1168849" cy="9432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852404" y="4847844"/>
            <a:ext cx="1345691" cy="17358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1135994" y="5451144"/>
            <a:ext cx="93726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26114" y="5047107"/>
            <a:ext cx="3138170" cy="139700"/>
            <a:chOff x="326114" y="5047107"/>
            <a:chExt cx="3138170" cy="139700"/>
          </a:xfrm>
        </p:grpSpPr>
        <p:sp>
          <p:nvSpPr>
            <p:cNvPr id="7" name="object 7"/>
            <p:cNvSpPr/>
            <p:nvPr/>
          </p:nvSpPr>
          <p:spPr>
            <a:xfrm>
              <a:off x="326114" y="5047107"/>
              <a:ext cx="3138046" cy="13960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59663" y="5099304"/>
              <a:ext cx="3074035" cy="0"/>
            </a:xfrm>
            <a:custGeom>
              <a:avLst/>
              <a:gdLst/>
              <a:ahLst/>
              <a:cxnLst/>
              <a:rect l="l" t="t" r="r" b="b"/>
              <a:pathLst>
                <a:path w="3074035" h="0">
                  <a:moveTo>
                    <a:pt x="0" y="0"/>
                  </a:moveTo>
                  <a:lnTo>
                    <a:pt x="3074035" y="0"/>
                  </a:lnTo>
                </a:path>
              </a:pathLst>
            </a:custGeom>
            <a:ln w="76200">
              <a:solidFill>
                <a:srgbClr val="971B1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69188" y="2512212"/>
            <a:ext cx="10587355" cy="252158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  <a:tabLst>
                <a:tab pos="2361565" algn="l"/>
              </a:tabLst>
            </a:pPr>
            <a:r>
              <a:rPr dirty="0" sz="2200" spc="-5">
                <a:solidFill>
                  <a:srgbClr val="414042"/>
                </a:solidFill>
                <a:latin typeface="Arial"/>
                <a:cs typeface="Arial"/>
              </a:rPr>
              <a:t>From</a:t>
            </a:r>
            <a:r>
              <a:rPr dirty="0" sz="2200" spc="4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200" spc="-20" i="1">
                <a:solidFill>
                  <a:srgbClr val="414042"/>
                </a:solidFill>
                <a:latin typeface="Arial"/>
                <a:cs typeface="Arial"/>
              </a:rPr>
              <a:t>Treadstone:	</a:t>
            </a:r>
            <a:r>
              <a:rPr dirty="0" sz="2200" spc="-5" i="1">
                <a:solidFill>
                  <a:srgbClr val="414042"/>
                </a:solidFill>
                <a:latin typeface="Arial"/>
                <a:cs typeface="Arial"/>
              </a:rPr>
              <a:t>A Process for Improving Modeling Prowess Using </a:t>
            </a:r>
            <a:r>
              <a:rPr dirty="0" sz="2200" spc="-10" i="1">
                <a:solidFill>
                  <a:srgbClr val="414042"/>
                </a:solidFill>
                <a:latin typeface="Arial"/>
                <a:cs typeface="Arial"/>
              </a:rPr>
              <a:t>Validation</a:t>
            </a:r>
            <a:r>
              <a:rPr dirty="0" sz="2200" spc="40" i="1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200" spc="-5" i="1">
                <a:solidFill>
                  <a:srgbClr val="414042"/>
                </a:solidFill>
                <a:latin typeface="Arial"/>
                <a:cs typeface="Arial"/>
              </a:rPr>
              <a:t>Rules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2200" spc="-5">
                <a:solidFill>
                  <a:srgbClr val="414042"/>
                </a:solidFill>
                <a:latin typeface="Arial"/>
                <a:cs typeface="Arial"/>
              </a:rPr>
              <a:t>2020 American Society for Engineering Education Annual</a:t>
            </a:r>
            <a:r>
              <a:rPr dirty="0" sz="2200" spc="-17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200" spc="-5">
                <a:solidFill>
                  <a:srgbClr val="414042"/>
                </a:solidFill>
                <a:latin typeface="Arial"/>
                <a:cs typeface="Arial"/>
              </a:rPr>
              <a:t>Conference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5400" spc="-80">
                <a:solidFill>
                  <a:srgbClr val="971B1E"/>
                </a:solidFill>
                <a:latin typeface="Arial"/>
                <a:cs typeface="Arial"/>
              </a:rPr>
              <a:t>Teaching </a:t>
            </a:r>
            <a:r>
              <a:rPr dirty="0" sz="5400">
                <a:solidFill>
                  <a:srgbClr val="971B1E"/>
                </a:solidFill>
                <a:latin typeface="Arial"/>
                <a:cs typeface="Arial"/>
              </a:rPr>
              <a:t>SysML</a:t>
            </a:r>
            <a:r>
              <a:rPr dirty="0" sz="5400" spc="-145">
                <a:solidFill>
                  <a:srgbClr val="971B1E"/>
                </a:solidFill>
                <a:latin typeface="Arial"/>
                <a:cs typeface="Arial"/>
              </a:rPr>
              <a:t> </a:t>
            </a:r>
            <a:r>
              <a:rPr dirty="0" sz="5400" spc="-5">
                <a:solidFill>
                  <a:srgbClr val="971B1E"/>
                </a:solidFill>
                <a:latin typeface="Arial"/>
                <a:cs typeface="Arial"/>
              </a:rPr>
              <a:t>Modeling</a:t>
            </a:r>
            <a:endParaRPr sz="5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5400">
                <a:solidFill>
                  <a:srgbClr val="971B1E"/>
                </a:solidFill>
                <a:latin typeface="Arial"/>
                <a:cs typeface="Arial"/>
              </a:rPr>
              <a:t>at the University </a:t>
            </a:r>
            <a:r>
              <a:rPr dirty="0" sz="5400" spc="-10">
                <a:solidFill>
                  <a:srgbClr val="971B1E"/>
                </a:solidFill>
                <a:latin typeface="Arial"/>
                <a:cs typeface="Arial"/>
              </a:rPr>
              <a:t>of </a:t>
            </a:r>
            <a:r>
              <a:rPr dirty="0" sz="5400">
                <a:solidFill>
                  <a:srgbClr val="971B1E"/>
                </a:solidFill>
                <a:latin typeface="Arial"/>
                <a:cs typeface="Arial"/>
              </a:rPr>
              <a:t>Detroit</a:t>
            </a:r>
            <a:r>
              <a:rPr dirty="0" sz="5400" spc="-55">
                <a:solidFill>
                  <a:srgbClr val="971B1E"/>
                </a:solidFill>
                <a:latin typeface="Arial"/>
                <a:cs typeface="Arial"/>
              </a:rPr>
              <a:t> </a:t>
            </a:r>
            <a:r>
              <a:rPr dirty="0" sz="5400" spc="-5">
                <a:solidFill>
                  <a:srgbClr val="971B1E"/>
                </a:solidFill>
                <a:latin typeface="Arial"/>
                <a:cs typeface="Arial"/>
              </a:rPr>
              <a:t>Mercy</a:t>
            </a:r>
            <a:endParaRPr sz="5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1144"/>
            <a:ext cx="5886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M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B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S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E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r>
              <a:rPr dirty="0" spc="-5"/>
              <a:t>2</a:t>
            </a:r>
          </a:p>
          <a:p>
            <a:pPr marL="38100">
              <a:lnSpc>
                <a:spcPct val="100000"/>
              </a:lnSpc>
            </a:pPr>
            <a:r>
              <a:rPr dirty="0" spc="-5"/>
              <a:t>2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547242"/>
            <a:ext cx="979360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i="0">
                <a:latin typeface="Arial"/>
                <a:cs typeface="Arial"/>
              </a:rPr>
              <a:t>Pedagogy of the SysML Modeling Class at</a:t>
            </a:r>
            <a:r>
              <a:rPr dirty="0" sz="3600" spc="-240" i="0">
                <a:latin typeface="Arial"/>
                <a:cs typeface="Arial"/>
              </a:rPr>
              <a:t> </a:t>
            </a:r>
            <a:r>
              <a:rPr dirty="0" sz="3600" i="0">
                <a:latin typeface="Arial"/>
                <a:cs typeface="Arial"/>
              </a:rPr>
              <a:t>UDM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9124" y="1580514"/>
            <a:ext cx="4141470" cy="1489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414042"/>
                </a:solidFill>
                <a:latin typeface="Arial"/>
                <a:cs typeface="Arial"/>
              </a:rPr>
              <a:t>Phase</a:t>
            </a:r>
            <a:r>
              <a:rPr dirty="0" sz="2000" spc="-20" b="1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414042"/>
                </a:solidFill>
                <a:latin typeface="Arial"/>
                <a:cs typeface="Arial"/>
              </a:rPr>
              <a:t>I:</a:t>
            </a:r>
            <a:endParaRPr sz="20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Construction of small</a:t>
            </a:r>
            <a:r>
              <a:rPr dirty="0" sz="2000" spc="-9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models</a:t>
            </a:r>
            <a:endParaRPr sz="20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Creation of simple</a:t>
            </a:r>
            <a:r>
              <a:rPr dirty="0" sz="2000" spc="-6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diagrams</a:t>
            </a:r>
            <a:endParaRPr sz="2000">
              <a:latin typeface="Arial"/>
              <a:cs typeface="Arial"/>
            </a:endParaRPr>
          </a:p>
          <a:p>
            <a:pPr marL="469900" indent="-457834">
              <a:lnSpc>
                <a:spcPts val="216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Experience with collaboration</a:t>
            </a:r>
            <a:r>
              <a:rPr dirty="0" sz="2000" spc="-11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on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ts val="2160"/>
              </a:lnSpc>
            </a:pPr>
            <a:r>
              <a:rPr dirty="0" sz="2000" spc="-30">
                <a:solidFill>
                  <a:srgbClr val="414042"/>
                </a:solidFill>
                <a:latin typeface="Arial"/>
                <a:cs typeface="Arial"/>
              </a:rPr>
              <a:t>TeamWork</a:t>
            </a:r>
            <a:r>
              <a:rPr dirty="0" sz="2000" spc="-5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Cloud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10629" y="1580514"/>
            <a:ext cx="106934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414042"/>
                </a:solidFill>
                <a:latin typeface="Arial"/>
                <a:cs typeface="Arial"/>
              </a:rPr>
              <a:t>Phase</a:t>
            </a:r>
            <a:r>
              <a:rPr dirty="0" sz="2000" spc="-85" b="1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414042"/>
                </a:solidFill>
                <a:latin typeface="Arial"/>
                <a:cs typeface="Arial"/>
              </a:rPr>
              <a:t>II: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71755" rIns="0" bIns="0" rtlCol="0" vert="horz">
            <a:spAutoFit/>
          </a:bodyPr>
          <a:lstStyle/>
          <a:p>
            <a:pPr marL="469900" marR="140970" indent="-457834">
              <a:lnSpc>
                <a:spcPts val="1920"/>
              </a:lnSpc>
              <a:spcBef>
                <a:spcPts val="56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/>
              <a:t>Collaborative modeling of</a:t>
            </a:r>
            <a:r>
              <a:rPr dirty="0" spc="-50"/>
              <a:t> </a:t>
            </a:r>
            <a:r>
              <a:rPr dirty="0" spc="-5"/>
              <a:t>representative  </a:t>
            </a:r>
            <a:r>
              <a:rPr dirty="0"/>
              <a:t>systems</a:t>
            </a:r>
          </a:p>
          <a:p>
            <a:pPr marL="469900" marR="5080" indent="-457834">
              <a:lnSpc>
                <a:spcPts val="1920"/>
              </a:lnSpc>
              <a:spcBef>
                <a:spcPts val="48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/>
              <a:t>Focused on experiencing the subtleties</a:t>
            </a:r>
            <a:r>
              <a:rPr dirty="0" spc="-150"/>
              <a:t> </a:t>
            </a:r>
            <a:r>
              <a:rPr dirty="0"/>
              <a:t>of  working together on a large system  model</a:t>
            </a:r>
          </a:p>
          <a:p>
            <a:pPr marL="469900" marR="1388110" indent="-457834">
              <a:lnSpc>
                <a:spcPts val="1920"/>
              </a:lnSpc>
              <a:spcBef>
                <a:spcPts val="484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/>
              <a:t>Showcases best practices</a:t>
            </a:r>
            <a:r>
              <a:rPr dirty="0" spc="-140"/>
              <a:t> </a:t>
            </a:r>
            <a:r>
              <a:rPr dirty="0"/>
              <a:t>for  collaboration</a:t>
            </a:r>
          </a:p>
          <a:p>
            <a:pPr marL="469900" marR="468630" indent="-457834">
              <a:lnSpc>
                <a:spcPct val="80000"/>
              </a:lnSpc>
              <a:spcBef>
                <a:spcPts val="49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/>
              <a:t>Cultivates a visceral understanding</a:t>
            </a:r>
            <a:r>
              <a:rPr dirty="0" spc="-135"/>
              <a:t> </a:t>
            </a:r>
            <a:r>
              <a:rPr dirty="0"/>
              <a:t>of  how modeling tools work and how to  make a model serve a systems  engineering</a:t>
            </a:r>
            <a:r>
              <a:rPr dirty="0" spc="-30"/>
              <a:t> </a:t>
            </a:r>
            <a:r>
              <a:rPr dirty="0" spc="-10"/>
              <a:t>effort</a:t>
            </a: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414042"/>
              </a:buClr>
              <a:buFont typeface="Arial"/>
              <a:buChar char="•"/>
            </a:pPr>
            <a:endParaRPr sz="2050"/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/>
              <a:t>Past topics for Phase II include</a:t>
            </a:r>
            <a:r>
              <a:rPr dirty="0" spc="-150"/>
              <a:t> </a:t>
            </a:r>
            <a:r>
              <a:rPr dirty="0"/>
              <a:t>notional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68210" y="5360923"/>
            <a:ext cx="41332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nuclear submarines, next</a:t>
            </a:r>
            <a:r>
              <a:rPr dirty="0" sz="2000" spc="-13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generation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68210" y="5604764"/>
            <a:ext cx="530479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275"/>
              </a:lnSpc>
              <a:spcBef>
                <a:spcPts val="100"/>
              </a:spcBef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Mars orbiters, and simulated Mars</a:t>
            </a:r>
            <a:r>
              <a:rPr dirty="0" sz="2000" spc="-155">
                <a:solidFill>
                  <a:srgbClr val="414042"/>
                </a:solidFill>
                <a:latin typeface="Arial"/>
                <a:cs typeface="Arial"/>
              </a:rPr>
              <a:t> rove</a:t>
            </a:r>
            <a:r>
              <a:rPr dirty="0" baseline="5952" sz="2100" spc="-232">
                <a:solidFill>
                  <a:srgbClr val="414042"/>
                </a:solidFill>
                <a:latin typeface="Arial Black"/>
                <a:cs typeface="Arial Black"/>
              </a:rPr>
              <a:t>L</a:t>
            </a:r>
            <a:r>
              <a:rPr dirty="0" sz="2000" spc="-155">
                <a:solidFill>
                  <a:srgbClr val="414042"/>
                </a:solidFill>
                <a:latin typeface="Arial"/>
                <a:cs typeface="Arial"/>
              </a:rPr>
              <a:t>rs</a:t>
            </a:r>
            <a:r>
              <a:rPr dirty="0" baseline="5952" sz="2100" spc="-232">
                <a:solidFill>
                  <a:srgbClr val="414042"/>
                </a:solidFill>
                <a:latin typeface="Arial Black"/>
                <a:cs typeface="Arial Black"/>
              </a:rPr>
              <a:t>ig</a:t>
            </a:r>
            <a:r>
              <a:rPr dirty="0" sz="2000" spc="-155">
                <a:solidFill>
                  <a:srgbClr val="414042"/>
                </a:solidFill>
                <a:latin typeface="Arial"/>
                <a:cs typeface="Arial"/>
              </a:rPr>
              <a:t>.</a:t>
            </a:r>
            <a:r>
              <a:rPr dirty="0" baseline="5952" sz="2100" spc="-232">
                <a:solidFill>
                  <a:srgbClr val="414042"/>
                </a:solidFill>
                <a:latin typeface="Arial Black"/>
                <a:cs typeface="Arial Black"/>
              </a:rPr>
              <a:t>htning</a:t>
            </a:r>
            <a:endParaRPr baseline="5952" sz="2100">
              <a:latin typeface="Arial Black"/>
              <a:cs typeface="Arial Black"/>
            </a:endParaRPr>
          </a:p>
          <a:p>
            <a:pPr algn="r" marR="306705">
              <a:lnSpc>
                <a:spcPts val="1555"/>
              </a:lnSpc>
            </a:pPr>
            <a:r>
              <a:rPr dirty="0" sz="1400" spc="-40">
                <a:solidFill>
                  <a:srgbClr val="414042"/>
                </a:solidFill>
                <a:latin typeface="Arial Black"/>
                <a:cs typeface="Arial Black"/>
              </a:rPr>
              <a:t>R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8546" y="3800347"/>
            <a:ext cx="5763895" cy="173291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“</a:t>
            </a:r>
            <a:r>
              <a:rPr dirty="0" sz="1600" spc="-5">
                <a:solidFill>
                  <a:srgbClr val="006BB5"/>
                </a:solidFill>
                <a:latin typeface="Arial"/>
                <a:cs typeface="Arial"/>
              </a:rPr>
              <a:t>System modeling is not a conceptually simple</a:t>
            </a:r>
            <a:r>
              <a:rPr dirty="0" sz="1600" spc="20">
                <a:solidFill>
                  <a:srgbClr val="006BB5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6BB5"/>
                </a:solidFill>
                <a:latin typeface="Arial"/>
                <a:cs typeface="Arial"/>
              </a:rPr>
              <a:t>or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dirty="0" sz="1600" spc="-5">
                <a:solidFill>
                  <a:srgbClr val="006BB5"/>
                </a:solidFill>
                <a:latin typeface="Arial"/>
                <a:cs typeface="Arial"/>
              </a:rPr>
              <a:t>straightforward task…building models using these tools is </a:t>
            </a:r>
            <a:r>
              <a:rPr dirty="0" sz="1600" spc="-10">
                <a:solidFill>
                  <a:srgbClr val="006BB5"/>
                </a:solidFill>
                <a:latin typeface="Arial"/>
                <a:cs typeface="Arial"/>
              </a:rPr>
              <a:t>not  always </a:t>
            </a:r>
            <a:r>
              <a:rPr dirty="0" sz="1600" spc="-5">
                <a:solidFill>
                  <a:srgbClr val="006BB5"/>
                </a:solidFill>
                <a:latin typeface="Arial"/>
                <a:cs typeface="Arial"/>
              </a:rPr>
              <a:t>straightforward, and like software programming, is a skill  that not </a:t>
            </a:r>
            <a:r>
              <a:rPr dirty="0" sz="1600" spc="-10">
                <a:solidFill>
                  <a:srgbClr val="006BB5"/>
                </a:solidFill>
                <a:latin typeface="Arial"/>
                <a:cs typeface="Arial"/>
              </a:rPr>
              <a:t>everyone </a:t>
            </a:r>
            <a:r>
              <a:rPr dirty="0" sz="1600" spc="-5">
                <a:solidFill>
                  <a:srgbClr val="006BB5"/>
                </a:solidFill>
                <a:latin typeface="Arial"/>
                <a:cs typeface="Arial"/>
              </a:rPr>
              <a:t>can learn equally</a:t>
            </a:r>
            <a:r>
              <a:rPr dirty="0" sz="1600" spc="65">
                <a:solidFill>
                  <a:srgbClr val="006BB5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6BB5"/>
                </a:solidFill>
                <a:latin typeface="Arial"/>
                <a:cs typeface="Arial"/>
              </a:rPr>
              <a:t>well.</a:t>
            </a: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”</a:t>
            </a:r>
            <a:endParaRPr sz="1600">
              <a:latin typeface="Arial"/>
              <a:cs typeface="Arial"/>
            </a:endParaRPr>
          </a:p>
          <a:p>
            <a:pPr marL="622300" marR="140970">
              <a:lnSpc>
                <a:spcPct val="100000"/>
              </a:lnSpc>
            </a:pP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R. A. Noguchi, </a:t>
            </a:r>
            <a:r>
              <a:rPr dirty="0" sz="1600" spc="-5" i="1">
                <a:solidFill>
                  <a:srgbClr val="414042"/>
                </a:solidFill>
                <a:latin typeface="Arial"/>
                <a:cs typeface="Arial"/>
              </a:rPr>
              <a:t>Lessons Learned and Recommended  </a:t>
            </a:r>
            <a:r>
              <a:rPr dirty="0" sz="1600" spc="-5" i="1">
                <a:solidFill>
                  <a:srgbClr val="414042"/>
                </a:solidFill>
                <a:latin typeface="Arial"/>
                <a:cs typeface="Arial"/>
              </a:rPr>
              <a:t>Best Practices from Model-Based Systems Engineering  (MBSE) Pilot Projects</a:t>
            </a: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, Aerospace Corporation,</a:t>
            </a:r>
            <a:r>
              <a:rPr dirty="0" sz="1600" spc="-2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414042"/>
                </a:solidFill>
                <a:latin typeface="Arial"/>
                <a:cs typeface="Arial"/>
              </a:rPr>
              <a:t>2016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1144"/>
            <a:ext cx="93726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r>
              <a:rPr dirty="0" spc="-5"/>
              <a:t>2</a:t>
            </a:r>
          </a:p>
          <a:p>
            <a:pPr marL="38100">
              <a:lnSpc>
                <a:spcPct val="100000"/>
              </a:lnSpc>
            </a:pPr>
            <a:r>
              <a:rPr dirty="0" spc="-5"/>
              <a:t>3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483234"/>
            <a:ext cx="469328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i="0">
                <a:latin typeface="Arial"/>
                <a:cs typeface="Arial"/>
              </a:rPr>
              <a:t>Managing Phase</a:t>
            </a:r>
            <a:r>
              <a:rPr dirty="0" sz="4400" spc="-50" i="0">
                <a:latin typeface="Arial"/>
                <a:cs typeface="Arial"/>
              </a:rPr>
              <a:t> </a:t>
            </a:r>
            <a:r>
              <a:rPr dirty="0" sz="4400" i="0">
                <a:latin typeface="Arial"/>
                <a:cs typeface="Arial"/>
              </a:rPr>
              <a:t>II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9124" y="1568323"/>
            <a:ext cx="10125075" cy="329311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67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Classroom sessions are suspended, and a laboratory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format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is</a:t>
            </a:r>
            <a:r>
              <a:rPr dirty="0" sz="2400" spc="18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adopted</a:t>
            </a:r>
            <a:endParaRPr sz="24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57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400" spc="-15">
                <a:solidFill>
                  <a:srgbClr val="414042"/>
                </a:solidFill>
                <a:latin typeface="Arial"/>
                <a:cs typeface="Arial"/>
              </a:rPr>
              <a:t>Weekly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meetings are conducted with each</a:t>
            </a:r>
            <a:r>
              <a:rPr dirty="0" sz="2400" spc="8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team</a:t>
            </a:r>
            <a:endParaRPr sz="2400">
              <a:latin typeface="Arial"/>
              <a:cs typeface="Arial"/>
            </a:endParaRPr>
          </a:p>
          <a:p>
            <a:pPr lvl="1" marL="1003300" indent="-381635">
              <a:lnSpc>
                <a:spcPct val="100000"/>
              </a:lnSpc>
              <a:spcBef>
                <a:spcPts val="555"/>
              </a:spcBef>
              <a:buChar char="–"/>
              <a:tabLst>
                <a:tab pos="1003300" algn="l"/>
                <a:tab pos="1003935" algn="l"/>
              </a:tabLst>
            </a:pPr>
            <a:r>
              <a:rPr dirty="0" sz="2100" spc="20">
                <a:solidFill>
                  <a:srgbClr val="414042"/>
                </a:solidFill>
                <a:latin typeface="Arial"/>
                <a:cs typeface="Arial"/>
              </a:rPr>
              <a:t>Answer</a:t>
            </a:r>
            <a:r>
              <a:rPr dirty="0" sz="2100" spc="-1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100" spc="15">
                <a:solidFill>
                  <a:srgbClr val="414042"/>
                </a:solidFill>
                <a:latin typeface="Arial"/>
                <a:cs typeface="Arial"/>
              </a:rPr>
              <a:t>questions</a:t>
            </a:r>
            <a:endParaRPr sz="2100">
              <a:latin typeface="Arial"/>
              <a:cs typeface="Arial"/>
            </a:endParaRPr>
          </a:p>
          <a:p>
            <a:pPr lvl="1" marL="1003300" indent="-381635">
              <a:lnSpc>
                <a:spcPct val="100000"/>
              </a:lnSpc>
              <a:spcBef>
                <a:spcPts val="540"/>
              </a:spcBef>
              <a:buChar char="–"/>
              <a:tabLst>
                <a:tab pos="1003300" algn="l"/>
                <a:tab pos="1003935" algn="l"/>
              </a:tabLst>
            </a:pPr>
            <a:r>
              <a:rPr dirty="0" sz="2100" spc="20">
                <a:solidFill>
                  <a:srgbClr val="414042"/>
                </a:solidFill>
                <a:latin typeface="Arial"/>
                <a:cs typeface="Arial"/>
              </a:rPr>
              <a:t>Recommend </a:t>
            </a:r>
            <a:r>
              <a:rPr dirty="0" sz="2100" spc="15">
                <a:solidFill>
                  <a:srgbClr val="414042"/>
                </a:solidFill>
                <a:latin typeface="Arial"/>
                <a:cs typeface="Arial"/>
              </a:rPr>
              <a:t>next</a:t>
            </a:r>
            <a:r>
              <a:rPr dirty="0" sz="2100" spc="-5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100" spc="15">
                <a:solidFill>
                  <a:srgbClr val="414042"/>
                </a:solidFill>
                <a:latin typeface="Arial"/>
                <a:cs typeface="Arial"/>
              </a:rPr>
              <a:t>steps</a:t>
            </a:r>
            <a:endParaRPr sz="2100">
              <a:latin typeface="Arial"/>
              <a:cs typeface="Arial"/>
            </a:endParaRPr>
          </a:p>
          <a:p>
            <a:pPr lvl="1" marL="1003300" indent="-381635">
              <a:lnSpc>
                <a:spcPct val="100000"/>
              </a:lnSpc>
              <a:spcBef>
                <a:spcPts val="550"/>
              </a:spcBef>
              <a:buChar char="–"/>
              <a:tabLst>
                <a:tab pos="1003300" algn="l"/>
                <a:tab pos="1003935" algn="l"/>
              </a:tabLst>
            </a:pPr>
            <a:r>
              <a:rPr dirty="0" sz="2100" spc="15">
                <a:solidFill>
                  <a:srgbClr val="414042"/>
                </a:solidFill>
                <a:latin typeface="Arial"/>
                <a:cs typeface="Arial"/>
              </a:rPr>
              <a:t>Shepherd </a:t>
            </a:r>
            <a:r>
              <a:rPr dirty="0" sz="2100" spc="1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2100" spc="15">
                <a:solidFill>
                  <a:srgbClr val="414042"/>
                </a:solidFill>
                <a:latin typeface="Arial"/>
                <a:cs typeface="Arial"/>
              </a:rPr>
              <a:t>team to</a:t>
            </a:r>
            <a:r>
              <a:rPr dirty="0" sz="2100" spc="-4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100" spc="15">
                <a:solidFill>
                  <a:srgbClr val="414042"/>
                </a:solidFill>
                <a:latin typeface="Arial"/>
                <a:cs typeface="Arial"/>
              </a:rPr>
              <a:t>completion</a:t>
            </a:r>
            <a:endParaRPr sz="2100">
              <a:latin typeface="Arial"/>
              <a:cs typeface="Arial"/>
            </a:endParaRPr>
          </a:p>
          <a:p>
            <a:pPr algn="r" marL="457200" marR="1444625" indent="-457200">
              <a:lnSpc>
                <a:spcPct val="100000"/>
              </a:lnSpc>
              <a:spcBef>
                <a:spcPts val="575"/>
              </a:spcBef>
              <a:buChar char="•"/>
              <a:tabLst>
                <a:tab pos="457200" algn="l"/>
                <a:tab pos="470534" algn="l"/>
              </a:tabLst>
            </a:pP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Instructor serves as a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senior modeler/reviewer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for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each</a:t>
            </a:r>
            <a:r>
              <a:rPr dirty="0" sz="2400" spc="3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team</a:t>
            </a:r>
            <a:endParaRPr sz="2400">
              <a:latin typeface="Arial"/>
              <a:cs typeface="Arial"/>
            </a:endParaRPr>
          </a:p>
          <a:p>
            <a:pPr algn="r" lvl="1" marL="380365" marR="1398270" indent="-380365">
              <a:lnSpc>
                <a:spcPct val="100000"/>
              </a:lnSpc>
              <a:spcBef>
                <a:spcPts val="555"/>
              </a:spcBef>
              <a:buChar char="–"/>
              <a:tabLst>
                <a:tab pos="380365" algn="l"/>
                <a:tab pos="381000" algn="l"/>
              </a:tabLst>
            </a:pPr>
            <a:r>
              <a:rPr dirty="0" sz="2100" spc="15">
                <a:solidFill>
                  <a:srgbClr val="414042"/>
                </a:solidFill>
                <a:latin typeface="Arial"/>
                <a:cs typeface="Arial"/>
              </a:rPr>
              <a:t>Excessive time spent on semantic issues and method</a:t>
            </a:r>
            <a:r>
              <a:rPr dirty="0" sz="2100" spc="-17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100" spc="15">
                <a:solidFill>
                  <a:srgbClr val="414042"/>
                </a:solidFill>
                <a:latin typeface="Arial"/>
                <a:cs typeface="Arial"/>
              </a:rPr>
              <a:t>deviations</a:t>
            </a:r>
            <a:endParaRPr sz="2100">
              <a:latin typeface="Arial"/>
              <a:cs typeface="Arial"/>
            </a:endParaRPr>
          </a:p>
          <a:p>
            <a:pPr lvl="1" marL="1003300" indent="-381635">
              <a:lnSpc>
                <a:spcPct val="100000"/>
              </a:lnSpc>
              <a:spcBef>
                <a:spcPts val="555"/>
              </a:spcBef>
              <a:buChar char="–"/>
              <a:tabLst>
                <a:tab pos="1003300" algn="l"/>
                <a:tab pos="1003935" algn="l"/>
              </a:tabLst>
            </a:pPr>
            <a:r>
              <a:rPr dirty="0" sz="2100" spc="15">
                <a:solidFill>
                  <a:srgbClr val="414042"/>
                </a:solidFill>
                <a:latin typeface="Arial"/>
                <a:cs typeface="Arial"/>
              </a:rPr>
              <a:t>Less time available </a:t>
            </a:r>
            <a:r>
              <a:rPr dirty="0" sz="2100" spc="10">
                <a:solidFill>
                  <a:srgbClr val="414042"/>
                </a:solidFill>
                <a:latin typeface="Arial"/>
                <a:cs typeface="Arial"/>
              </a:rPr>
              <a:t>for </a:t>
            </a:r>
            <a:r>
              <a:rPr dirty="0" sz="2100" spc="15">
                <a:solidFill>
                  <a:srgbClr val="414042"/>
                </a:solidFill>
                <a:latin typeface="Arial"/>
                <a:cs typeface="Arial"/>
              </a:rPr>
              <a:t>focusing on </a:t>
            </a:r>
            <a:r>
              <a:rPr dirty="0" sz="2100" spc="10">
                <a:solidFill>
                  <a:srgbClr val="414042"/>
                </a:solidFill>
                <a:latin typeface="Arial"/>
                <a:cs typeface="Arial"/>
              </a:rPr>
              <a:t>the intellectual</a:t>
            </a:r>
            <a:r>
              <a:rPr dirty="0" sz="2100" spc="-16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100" spc="15">
                <a:solidFill>
                  <a:srgbClr val="414042"/>
                </a:solidFill>
                <a:latin typeface="Arial"/>
                <a:cs typeface="Arial"/>
              </a:rPr>
              <a:t>content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1144"/>
            <a:ext cx="93726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r>
              <a:rPr dirty="0" spc="-5"/>
              <a:t>2</a:t>
            </a:r>
          </a:p>
          <a:p>
            <a:pPr marL="38100">
              <a:lnSpc>
                <a:spcPct val="100000"/>
              </a:lnSpc>
            </a:pPr>
            <a:r>
              <a:rPr dirty="0" spc="-5"/>
              <a:t>4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515238"/>
            <a:ext cx="1065022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i="0">
                <a:latin typeface="Arial"/>
                <a:cs typeface="Arial"/>
              </a:rPr>
              <a:t>Pre-Release Digital Engineering </a:t>
            </a:r>
            <a:r>
              <a:rPr dirty="0" sz="4000" spc="-35" i="0">
                <a:latin typeface="Arial"/>
                <a:cs typeface="Arial"/>
              </a:rPr>
              <a:t>Validation</a:t>
            </a:r>
            <a:r>
              <a:rPr dirty="0" sz="4000" spc="45" i="0">
                <a:latin typeface="Arial"/>
                <a:cs typeface="Arial"/>
              </a:rPr>
              <a:t> </a:t>
            </a:r>
            <a:r>
              <a:rPr dirty="0" sz="4000" spc="-120" i="0">
                <a:latin typeface="Arial"/>
                <a:cs typeface="Arial"/>
              </a:rPr>
              <a:t>Tool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9124" y="1639950"/>
            <a:ext cx="10581640" cy="358775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469900" marR="62865" indent="-457834">
              <a:lnSpc>
                <a:spcPct val="100800"/>
              </a:lnSpc>
              <a:spcBef>
                <a:spcPts val="8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650" spc="5">
                <a:solidFill>
                  <a:srgbClr val="414042"/>
                </a:solidFill>
                <a:latin typeface="Arial"/>
                <a:cs typeface="Arial"/>
              </a:rPr>
              <a:t>A </a:t>
            </a:r>
            <a:r>
              <a:rPr dirty="0" sz="2650">
                <a:solidFill>
                  <a:srgbClr val="414042"/>
                </a:solidFill>
                <a:latin typeface="Arial"/>
                <a:cs typeface="Arial"/>
              </a:rPr>
              <a:t>pre-release version </a:t>
            </a:r>
            <a:r>
              <a:rPr dirty="0" sz="2650" spc="5">
                <a:solidFill>
                  <a:srgbClr val="414042"/>
                </a:solidFill>
                <a:latin typeface="Arial"/>
                <a:cs typeface="Arial"/>
              </a:rPr>
              <a:t>of the </a:t>
            </a:r>
            <a:r>
              <a:rPr dirty="0" sz="2650">
                <a:solidFill>
                  <a:srgbClr val="414042"/>
                </a:solidFill>
                <a:latin typeface="Arial"/>
                <a:cs typeface="Arial"/>
              </a:rPr>
              <a:t>Digital Engineering </a:t>
            </a:r>
            <a:r>
              <a:rPr dirty="0" sz="2650" spc="-20">
                <a:solidFill>
                  <a:srgbClr val="414042"/>
                </a:solidFill>
                <a:latin typeface="Arial"/>
                <a:cs typeface="Arial"/>
              </a:rPr>
              <a:t>Validation </a:t>
            </a:r>
            <a:r>
              <a:rPr dirty="0" sz="2650" spc="-75">
                <a:solidFill>
                  <a:srgbClr val="414042"/>
                </a:solidFill>
                <a:latin typeface="Arial"/>
                <a:cs typeface="Arial"/>
              </a:rPr>
              <a:t>Tool </a:t>
            </a:r>
            <a:r>
              <a:rPr dirty="0" sz="2650">
                <a:solidFill>
                  <a:srgbClr val="414042"/>
                </a:solidFill>
                <a:latin typeface="Arial"/>
                <a:cs typeface="Arial"/>
              </a:rPr>
              <a:t>was  used during </a:t>
            </a:r>
            <a:r>
              <a:rPr dirty="0" sz="2650" spc="5">
                <a:solidFill>
                  <a:srgbClr val="414042"/>
                </a:solidFill>
                <a:latin typeface="Arial"/>
                <a:cs typeface="Arial"/>
              </a:rPr>
              <a:t>the Fall </a:t>
            </a:r>
            <a:r>
              <a:rPr dirty="0" sz="2650" spc="-5">
                <a:solidFill>
                  <a:srgbClr val="414042"/>
                </a:solidFill>
                <a:latin typeface="Arial"/>
                <a:cs typeface="Arial"/>
              </a:rPr>
              <a:t>2019</a:t>
            </a:r>
            <a:r>
              <a:rPr dirty="0" sz="2650" spc="8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650" spc="5">
                <a:solidFill>
                  <a:srgbClr val="414042"/>
                </a:solidFill>
                <a:latin typeface="Arial"/>
                <a:cs typeface="Arial"/>
              </a:rPr>
              <a:t>term.</a:t>
            </a:r>
            <a:endParaRPr sz="2650">
              <a:latin typeface="Arial"/>
              <a:cs typeface="Arial"/>
            </a:endParaRPr>
          </a:p>
          <a:p>
            <a:pPr marL="469900" marR="5080" indent="-457834">
              <a:lnSpc>
                <a:spcPct val="100800"/>
              </a:lnSpc>
              <a:spcBef>
                <a:spcPts val="63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650" spc="5">
                <a:solidFill>
                  <a:srgbClr val="414042"/>
                </a:solidFill>
                <a:latin typeface="Arial"/>
                <a:cs typeface="Arial"/>
              </a:rPr>
              <a:t>This </a:t>
            </a:r>
            <a:r>
              <a:rPr dirty="0" sz="2650">
                <a:solidFill>
                  <a:srgbClr val="414042"/>
                </a:solidFill>
                <a:latin typeface="Arial"/>
                <a:cs typeface="Arial"/>
              </a:rPr>
              <a:t>allowed encoding of </a:t>
            </a:r>
            <a:r>
              <a:rPr dirty="0" sz="2650" spc="5">
                <a:solidFill>
                  <a:srgbClr val="414042"/>
                </a:solidFill>
                <a:latin typeface="Arial"/>
                <a:cs typeface="Arial"/>
              </a:rPr>
              <a:t>the instructor’s </a:t>
            </a:r>
            <a:r>
              <a:rPr dirty="0" sz="2650">
                <a:solidFill>
                  <a:srgbClr val="414042"/>
                </a:solidFill>
                <a:latin typeface="Arial"/>
                <a:cs typeface="Arial"/>
              </a:rPr>
              <a:t>knowledge/review process  and enabled rapid grading/review </a:t>
            </a:r>
            <a:r>
              <a:rPr dirty="0" sz="2650" spc="5">
                <a:solidFill>
                  <a:srgbClr val="414042"/>
                </a:solidFill>
                <a:latin typeface="Arial"/>
                <a:cs typeface="Arial"/>
              </a:rPr>
              <a:t>of</a:t>
            </a:r>
            <a:r>
              <a:rPr dirty="0" sz="2650" spc="14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650" spc="5">
                <a:solidFill>
                  <a:srgbClr val="414042"/>
                </a:solidFill>
                <a:latin typeface="Arial"/>
                <a:cs typeface="Arial"/>
              </a:rPr>
              <a:t>assignments.</a:t>
            </a:r>
            <a:endParaRPr sz="265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66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650">
                <a:solidFill>
                  <a:srgbClr val="414042"/>
                </a:solidFill>
                <a:latin typeface="Arial"/>
                <a:cs typeface="Arial"/>
              </a:rPr>
              <a:t>Model errors </a:t>
            </a:r>
            <a:r>
              <a:rPr dirty="0" sz="2650" spc="5">
                <a:solidFill>
                  <a:srgbClr val="414042"/>
                </a:solidFill>
                <a:latin typeface="Arial"/>
                <a:cs typeface="Arial"/>
              </a:rPr>
              <a:t>that </a:t>
            </a:r>
            <a:r>
              <a:rPr dirty="0" sz="2650">
                <a:solidFill>
                  <a:srgbClr val="414042"/>
                </a:solidFill>
                <a:latin typeface="Arial"/>
                <a:cs typeface="Arial"/>
              </a:rPr>
              <a:t>“leaked” past rules spawned new</a:t>
            </a:r>
            <a:r>
              <a:rPr dirty="0" sz="2650" spc="21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650">
                <a:solidFill>
                  <a:srgbClr val="414042"/>
                </a:solidFill>
                <a:latin typeface="Arial"/>
                <a:cs typeface="Arial"/>
              </a:rPr>
              <a:t>rules.</a:t>
            </a:r>
            <a:endParaRPr sz="265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66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650" spc="5">
                <a:solidFill>
                  <a:srgbClr val="414042"/>
                </a:solidFill>
                <a:latin typeface="Arial"/>
                <a:cs typeface="Arial"/>
              </a:rPr>
              <a:t>Automation </a:t>
            </a:r>
            <a:r>
              <a:rPr dirty="0" sz="2650">
                <a:solidFill>
                  <a:srgbClr val="414042"/>
                </a:solidFill>
                <a:latin typeface="Arial"/>
                <a:cs typeface="Arial"/>
              </a:rPr>
              <a:t>is</a:t>
            </a:r>
            <a:r>
              <a:rPr dirty="0" sz="2650" spc="2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650">
                <a:solidFill>
                  <a:srgbClr val="414042"/>
                </a:solidFill>
                <a:latin typeface="Arial"/>
                <a:cs typeface="Arial"/>
              </a:rPr>
              <a:t>important:</a:t>
            </a:r>
            <a:endParaRPr sz="2650">
              <a:latin typeface="Arial"/>
              <a:cs typeface="Arial"/>
            </a:endParaRPr>
          </a:p>
          <a:p>
            <a:pPr lvl="1" marL="1003300" indent="-381635">
              <a:lnSpc>
                <a:spcPct val="100000"/>
              </a:lnSpc>
              <a:spcBef>
                <a:spcPts val="585"/>
              </a:spcBef>
              <a:buChar char="–"/>
              <a:tabLst>
                <a:tab pos="1003300" algn="l"/>
                <a:tab pos="1003935" algn="l"/>
              </a:tabLst>
            </a:pP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21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students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Fall</a:t>
            </a:r>
            <a:r>
              <a:rPr dirty="0" sz="2400" spc="-5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2019</a:t>
            </a:r>
            <a:endParaRPr sz="2400">
              <a:latin typeface="Arial"/>
              <a:cs typeface="Arial"/>
            </a:endParaRPr>
          </a:p>
          <a:p>
            <a:pPr lvl="1" marL="1003300" indent="-381635">
              <a:lnSpc>
                <a:spcPct val="100000"/>
              </a:lnSpc>
              <a:spcBef>
                <a:spcPts val="575"/>
              </a:spcBef>
              <a:buChar char="–"/>
              <a:tabLst>
                <a:tab pos="1003300" algn="l"/>
                <a:tab pos="1003935" algn="l"/>
              </a:tabLst>
            </a:pP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40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students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Fall</a:t>
            </a:r>
            <a:r>
              <a:rPr dirty="0" sz="2400" spc="-5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2020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1144"/>
            <a:ext cx="93726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r>
              <a:rPr dirty="0" spc="-5"/>
              <a:t>2</a:t>
            </a:r>
          </a:p>
          <a:p>
            <a:pPr marL="38100">
              <a:lnSpc>
                <a:spcPct val="100000"/>
              </a:lnSpc>
            </a:pPr>
            <a:r>
              <a:rPr dirty="0" spc="-5"/>
              <a:t>5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577722"/>
            <a:ext cx="970597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306955" algn="l"/>
              </a:tabLst>
            </a:pPr>
            <a:r>
              <a:rPr dirty="0" sz="3200" i="0">
                <a:latin typeface="Arial"/>
                <a:cs typeface="Arial"/>
              </a:rPr>
              <a:t>2019</a:t>
            </a:r>
            <a:r>
              <a:rPr dirty="0" sz="3200" spc="-75" i="0">
                <a:latin typeface="Arial"/>
                <a:cs typeface="Arial"/>
              </a:rPr>
              <a:t> </a:t>
            </a:r>
            <a:r>
              <a:rPr dirty="0" sz="3200" spc="-60" i="0">
                <a:latin typeface="Arial"/>
                <a:cs typeface="Arial"/>
              </a:rPr>
              <a:t>Topic:	</a:t>
            </a:r>
            <a:r>
              <a:rPr dirty="0" sz="3200" i="0">
                <a:latin typeface="Arial"/>
                <a:cs typeface="Arial"/>
              </a:rPr>
              <a:t>Mars Society University Rover</a:t>
            </a:r>
            <a:r>
              <a:rPr dirty="0" sz="3200" spc="-110" i="0">
                <a:latin typeface="Arial"/>
                <a:cs typeface="Arial"/>
              </a:rPr>
              <a:t> </a:t>
            </a:r>
            <a:r>
              <a:rPr dirty="0" sz="3200" i="0">
                <a:latin typeface="Arial"/>
                <a:cs typeface="Arial"/>
              </a:rPr>
              <a:t>Challenge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9124" y="1639950"/>
            <a:ext cx="10617835" cy="313118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469900" marR="612140" indent="-457834">
              <a:lnSpc>
                <a:spcPct val="100800"/>
              </a:lnSpc>
              <a:spcBef>
                <a:spcPts val="8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650">
                <a:solidFill>
                  <a:srgbClr val="414042"/>
                </a:solidFill>
                <a:latin typeface="Arial"/>
                <a:cs typeface="Arial"/>
              </a:rPr>
              <a:t>College competition </a:t>
            </a:r>
            <a:r>
              <a:rPr dirty="0" sz="2650" spc="5">
                <a:solidFill>
                  <a:srgbClr val="414042"/>
                </a:solidFill>
                <a:latin typeface="Arial"/>
                <a:cs typeface="Arial"/>
              </a:rPr>
              <a:t>run by the Mars </a:t>
            </a:r>
            <a:r>
              <a:rPr dirty="0" sz="2650">
                <a:solidFill>
                  <a:srgbClr val="414042"/>
                </a:solidFill>
                <a:latin typeface="Arial"/>
                <a:cs typeface="Arial"/>
              </a:rPr>
              <a:t>Society (includes </a:t>
            </a:r>
            <a:r>
              <a:rPr dirty="0" sz="2650" spc="5">
                <a:solidFill>
                  <a:srgbClr val="414042"/>
                </a:solidFill>
                <a:latin typeface="Arial"/>
                <a:cs typeface="Arial"/>
              </a:rPr>
              <a:t>testing in  Utah</a:t>
            </a:r>
            <a:r>
              <a:rPr dirty="0" sz="2650">
                <a:solidFill>
                  <a:srgbClr val="414042"/>
                </a:solidFill>
                <a:latin typeface="Arial"/>
                <a:cs typeface="Arial"/>
              </a:rPr>
              <a:t> desert)</a:t>
            </a:r>
            <a:endParaRPr sz="265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66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650" spc="5">
                <a:solidFill>
                  <a:srgbClr val="414042"/>
                </a:solidFill>
                <a:latin typeface="Arial"/>
                <a:cs typeface="Arial"/>
              </a:rPr>
              <a:t>2020 </a:t>
            </a:r>
            <a:r>
              <a:rPr dirty="0" sz="2650">
                <a:solidFill>
                  <a:srgbClr val="414042"/>
                </a:solidFill>
                <a:latin typeface="Arial"/>
                <a:cs typeface="Arial"/>
              </a:rPr>
              <a:t>challenge consisted </a:t>
            </a:r>
            <a:r>
              <a:rPr dirty="0" sz="2650" spc="5">
                <a:solidFill>
                  <a:srgbClr val="414042"/>
                </a:solidFill>
                <a:latin typeface="Arial"/>
                <a:cs typeface="Arial"/>
              </a:rPr>
              <a:t>of 79 </a:t>
            </a:r>
            <a:r>
              <a:rPr dirty="0" sz="2650">
                <a:solidFill>
                  <a:srgbClr val="414042"/>
                </a:solidFill>
                <a:latin typeface="Arial"/>
                <a:cs typeface="Arial"/>
              </a:rPr>
              <a:t>requirements and these</a:t>
            </a:r>
            <a:r>
              <a:rPr dirty="0" sz="2650" spc="33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650">
                <a:solidFill>
                  <a:srgbClr val="414042"/>
                </a:solidFill>
                <a:latin typeface="Arial"/>
                <a:cs typeface="Arial"/>
              </a:rPr>
              <a:t>milestones:</a:t>
            </a:r>
            <a:endParaRPr sz="2650">
              <a:latin typeface="Arial"/>
              <a:cs typeface="Arial"/>
            </a:endParaRPr>
          </a:p>
          <a:p>
            <a:pPr lvl="1" marL="1003300" indent="-381635">
              <a:lnSpc>
                <a:spcPct val="100000"/>
              </a:lnSpc>
              <a:spcBef>
                <a:spcPts val="590"/>
              </a:spcBef>
              <a:buChar char="–"/>
              <a:tabLst>
                <a:tab pos="1003300" algn="l"/>
                <a:tab pos="1003935" algn="l"/>
              </a:tabLst>
            </a:pP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Preliminary Design Review</a:t>
            </a:r>
            <a:r>
              <a:rPr dirty="0" sz="2400" spc="8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(PDR)</a:t>
            </a:r>
            <a:endParaRPr sz="2400">
              <a:latin typeface="Arial"/>
              <a:cs typeface="Arial"/>
            </a:endParaRPr>
          </a:p>
          <a:p>
            <a:pPr lvl="1" marL="1003300" indent="-381635">
              <a:lnSpc>
                <a:spcPct val="100000"/>
              </a:lnSpc>
              <a:spcBef>
                <a:spcPts val="575"/>
              </a:spcBef>
              <a:buChar char="–"/>
              <a:tabLst>
                <a:tab pos="1003300" algn="l"/>
                <a:tab pos="1003935" algn="l"/>
              </a:tabLst>
            </a:pP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System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Acceptance Review</a:t>
            </a:r>
            <a:r>
              <a:rPr dirty="0" sz="2400" spc="-11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(SAR)</a:t>
            </a:r>
            <a:endParaRPr sz="2400">
              <a:latin typeface="Arial"/>
              <a:cs typeface="Arial"/>
            </a:endParaRPr>
          </a:p>
          <a:p>
            <a:pPr lvl="1" marL="1003300" indent="-381635">
              <a:lnSpc>
                <a:spcPct val="100000"/>
              </a:lnSpc>
              <a:spcBef>
                <a:spcPts val="575"/>
              </a:spcBef>
              <a:buChar char="–"/>
              <a:tabLst>
                <a:tab pos="1003300" algn="l"/>
                <a:tab pos="1003935" algn="l"/>
              </a:tabLst>
            </a:pP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Science</a:t>
            </a:r>
            <a:r>
              <a:rPr dirty="0" sz="2400" spc="1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Plan</a:t>
            </a:r>
            <a:endParaRPr sz="2400">
              <a:latin typeface="Arial"/>
              <a:cs typeface="Arial"/>
            </a:endParaRPr>
          </a:p>
          <a:p>
            <a:pPr marL="469900" indent="-457834">
              <a:lnSpc>
                <a:spcPct val="100000"/>
              </a:lnSpc>
              <a:spcBef>
                <a:spcPts val="65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650" spc="5">
                <a:solidFill>
                  <a:srgbClr val="414042"/>
                </a:solidFill>
                <a:latin typeface="Arial"/>
                <a:cs typeface="Arial"/>
              </a:rPr>
              <a:t>36 teams </a:t>
            </a:r>
            <a:r>
              <a:rPr dirty="0" sz="2650">
                <a:solidFill>
                  <a:srgbClr val="414042"/>
                </a:solidFill>
                <a:latin typeface="Arial"/>
                <a:cs typeface="Arial"/>
              </a:rPr>
              <a:t>passed </a:t>
            </a:r>
            <a:r>
              <a:rPr dirty="0" sz="2650" spc="5">
                <a:solidFill>
                  <a:srgbClr val="414042"/>
                </a:solidFill>
                <a:latin typeface="Arial"/>
                <a:cs typeface="Arial"/>
              </a:rPr>
              <a:t>SAR </a:t>
            </a:r>
            <a:r>
              <a:rPr dirty="0" sz="2650">
                <a:solidFill>
                  <a:srgbClr val="414042"/>
                </a:solidFill>
                <a:latin typeface="Arial"/>
                <a:cs typeface="Arial"/>
              </a:rPr>
              <a:t>(competition cancelled due </a:t>
            </a:r>
            <a:r>
              <a:rPr dirty="0" sz="2650" spc="5">
                <a:solidFill>
                  <a:srgbClr val="414042"/>
                </a:solidFill>
                <a:latin typeface="Arial"/>
                <a:cs typeface="Arial"/>
              </a:rPr>
              <a:t>to</a:t>
            </a:r>
            <a:r>
              <a:rPr dirty="0" sz="2650" spc="20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650" spc="5">
                <a:solidFill>
                  <a:srgbClr val="414042"/>
                </a:solidFill>
                <a:latin typeface="Arial"/>
                <a:cs typeface="Arial"/>
              </a:rPr>
              <a:t>COVID-19)</a:t>
            </a:r>
            <a:endParaRPr sz="2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9124" y="5315203"/>
            <a:ext cx="6278245" cy="4318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1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650" spc="5">
                <a:solidFill>
                  <a:srgbClr val="414042"/>
                </a:solidFill>
                <a:latin typeface="Arial"/>
                <a:cs typeface="Arial"/>
              </a:rPr>
              <a:t>How </a:t>
            </a:r>
            <a:r>
              <a:rPr dirty="0" sz="2650">
                <a:solidFill>
                  <a:srgbClr val="414042"/>
                </a:solidFill>
                <a:latin typeface="Arial"/>
                <a:cs typeface="Arial"/>
              </a:rPr>
              <a:t>complete were </a:t>
            </a:r>
            <a:r>
              <a:rPr dirty="0" sz="2650" spc="5">
                <a:solidFill>
                  <a:srgbClr val="414042"/>
                </a:solidFill>
                <a:latin typeface="Arial"/>
                <a:cs typeface="Arial"/>
              </a:rPr>
              <a:t>the</a:t>
            </a:r>
            <a:r>
              <a:rPr dirty="0" sz="2650" spc="10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650">
                <a:solidFill>
                  <a:srgbClr val="414042"/>
                </a:solidFill>
                <a:latin typeface="Arial"/>
                <a:cs typeface="Arial"/>
              </a:rPr>
              <a:t>requirements?</a:t>
            </a:r>
            <a:endParaRPr sz="2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1144"/>
            <a:ext cx="93726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r>
              <a:rPr dirty="0" spc="-5"/>
              <a:t>2</a:t>
            </a:r>
          </a:p>
          <a:p>
            <a:pPr marL="38100">
              <a:lnSpc>
                <a:spcPct val="100000"/>
              </a:lnSpc>
            </a:pPr>
            <a:r>
              <a:rPr dirty="0" spc="-5"/>
              <a:t>6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483234"/>
            <a:ext cx="1008951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i="0">
                <a:latin typeface="Arial"/>
                <a:cs typeface="Arial"/>
              </a:rPr>
              <a:t>Requirements Count / Increase By</a:t>
            </a:r>
            <a:r>
              <a:rPr dirty="0" sz="4400" spc="-105" i="0">
                <a:latin typeface="Arial"/>
                <a:cs typeface="Arial"/>
              </a:rPr>
              <a:t> </a:t>
            </a:r>
            <a:r>
              <a:rPr dirty="0" sz="4400" spc="-125" i="0">
                <a:latin typeface="Arial"/>
                <a:cs typeface="Arial"/>
              </a:rPr>
              <a:t>Team</a:t>
            </a:r>
            <a:endParaRPr sz="4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03250" y="1593850"/>
          <a:ext cx="11000105" cy="3641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48505"/>
                <a:gridCol w="1751964"/>
                <a:gridCol w="1611630"/>
                <a:gridCol w="3068954"/>
              </a:tblGrid>
              <a:tr h="664845"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600" spc="-4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Team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71B1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6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Initial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71B1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Final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71B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%</a:t>
                      </a:r>
                      <a:r>
                        <a:rPr dirty="0" sz="2600" spc="-1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6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Increase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71B1E"/>
                    </a:solidFill>
                  </a:tcPr>
                </a:tc>
              </a:tr>
              <a:tr h="493902"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6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Curiosity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6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76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6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205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6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170%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</a:tr>
              <a:tr h="493902"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6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JARS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6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76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6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216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6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184%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</a:tr>
              <a:tr h="493903"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6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Strike Force</a:t>
                      </a:r>
                      <a:r>
                        <a:rPr dirty="0" sz="2600" spc="-18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6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Alpha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6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76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6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142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6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87%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</a:tr>
              <a:tr h="493902"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600" spc="-7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Team</a:t>
                      </a:r>
                      <a:r>
                        <a:rPr dirty="0" sz="2600" spc="-1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6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Bolt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6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76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6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172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26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126%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</a:tr>
              <a:tr h="493903"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600" spc="-7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Team</a:t>
                      </a:r>
                      <a:r>
                        <a:rPr dirty="0" sz="2600" spc="-2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6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Chimps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6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76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6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284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6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274%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</a:tr>
              <a:tr h="493902">
                <a:tc>
                  <a:txBody>
                    <a:bodyPr/>
                    <a:lstStyle/>
                    <a:p>
                      <a:pPr marL="14859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600" spc="-7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Team</a:t>
                      </a:r>
                      <a:r>
                        <a:rPr dirty="0" sz="2600" spc="-2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600" spc="-2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Voodoo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6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76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600" spc="-6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110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26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45%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45668" y="5149722"/>
            <a:ext cx="909002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Growth driven by use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of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extended requirement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types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and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two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rules:  all requirements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must </a:t>
            </a:r>
            <a:r>
              <a:rPr dirty="0" sz="2400" spc="-10">
                <a:solidFill>
                  <a:srgbClr val="414042"/>
                </a:solidFill>
                <a:latin typeface="Arial"/>
                <a:cs typeface="Arial"/>
              </a:rPr>
              <a:t>be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satisfied and</a:t>
            </a:r>
            <a:r>
              <a:rPr dirty="0" sz="2400" spc="6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verified.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1144"/>
            <a:ext cx="93726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r>
              <a:rPr dirty="0" spc="-5"/>
              <a:t>2</a:t>
            </a:r>
          </a:p>
          <a:p>
            <a:pPr marL="38100">
              <a:lnSpc>
                <a:spcPct val="100000"/>
              </a:lnSpc>
            </a:pPr>
            <a:r>
              <a:rPr dirty="0" spc="-5"/>
              <a:t>7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483234"/>
            <a:ext cx="907542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i="0">
                <a:latin typeface="Arial"/>
                <a:cs typeface="Arial"/>
              </a:rPr>
              <a:t>Fall 2019 Model </a:t>
            </a:r>
            <a:r>
              <a:rPr dirty="0" sz="4400" spc="5" i="0">
                <a:latin typeface="Arial"/>
                <a:cs typeface="Arial"/>
              </a:rPr>
              <a:t>Size vs.</a:t>
            </a:r>
            <a:r>
              <a:rPr dirty="0" sz="4400" spc="-80" i="0">
                <a:latin typeface="Arial"/>
                <a:cs typeface="Arial"/>
              </a:rPr>
              <a:t> </a:t>
            </a:r>
            <a:r>
              <a:rPr dirty="0" sz="4400" i="0">
                <a:latin typeface="Arial"/>
                <a:cs typeface="Arial"/>
              </a:rPr>
              <a:t>Checkpoint</a:t>
            </a:r>
            <a:endParaRPr sz="4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03250" y="1593850"/>
          <a:ext cx="10998200" cy="3406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63825"/>
                <a:gridCol w="1130300"/>
                <a:gridCol w="1685289"/>
                <a:gridCol w="1145539"/>
                <a:gridCol w="1781810"/>
                <a:gridCol w="932179"/>
                <a:gridCol w="671195"/>
                <a:gridCol w="967740"/>
              </a:tblGrid>
              <a:tr h="378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71B1E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marL="635">
                        <a:lnSpc>
                          <a:spcPts val="2825"/>
                        </a:lnSpc>
                        <a:spcBef>
                          <a:spcPts val="55"/>
                        </a:spcBef>
                      </a:pPr>
                      <a:r>
                        <a:rPr dirty="0" sz="2400" spc="-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Model</a:t>
                      </a:r>
                      <a:r>
                        <a:rPr dirty="0" sz="24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Elements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71B1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 marL="629920">
                        <a:lnSpc>
                          <a:spcPts val="2825"/>
                        </a:lnSpc>
                        <a:spcBef>
                          <a:spcPts val="55"/>
                        </a:spcBef>
                      </a:pPr>
                      <a:r>
                        <a:rPr dirty="0" sz="2400" spc="-2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Validation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71B1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442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marL="13335">
                        <a:lnSpc>
                          <a:spcPts val="2820"/>
                        </a:lnSpc>
                      </a:pPr>
                      <a:r>
                        <a:rPr dirty="0" sz="2400" spc="-7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Team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71B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820"/>
                        </a:lnSpc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Initial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ts val="2820"/>
                        </a:lnSpc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Checkpoint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ts val="2820"/>
                        </a:lnSpc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Final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820"/>
                        </a:lnSpc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End </a:t>
                      </a:r>
                      <a:r>
                        <a:rPr dirty="0" sz="24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2400" spc="-9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7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Term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ctr" marL="635">
                        <a:lnSpc>
                          <a:spcPts val="2820"/>
                        </a:lnSpc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Errors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ts val="2820"/>
                        </a:lnSpc>
                      </a:pPr>
                      <a:r>
                        <a:rPr dirty="0" sz="24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Info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ctr" marL="1905">
                        <a:lnSpc>
                          <a:spcPts val="2820"/>
                        </a:lnSpc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Pages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</a:tr>
              <a:tr h="378460">
                <a:tc>
                  <a:txBody>
                    <a:bodyPr/>
                    <a:lstStyle/>
                    <a:p>
                      <a:pPr marL="13335">
                        <a:lnSpc>
                          <a:spcPts val="2825"/>
                        </a:lnSpc>
                        <a:spcBef>
                          <a:spcPts val="55"/>
                        </a:spcBef>
                      </a:pPr>
                      <a:r>
                        <a:rPr dirty="0" sz="2400" spc="-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Curiosity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71B1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2825"/>
                        </a:lnSpc>
                        <a:spcBef>
                          <a:spcPts val="55"/>
                        </a:spcBef>
                      </a:pPr>
                      <a:r>
                        <a:rPr dirty="0" sz="24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8,587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825"/>
                        </a:lnSpc>
                        <a:spcBef>
                          <a:spcPts val="55"/>
                        </a:spcBef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22,550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825"/>
                        </a:lnSpc>
                        <a:spcBef>
                          <a:spcPts val="55"/>
                        </a:spcBef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17,588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2825"/>
                        </a:lnSpc>
                        <a:spcBef>
                          <a:spcPts val="55"/>
                        </a:spcBef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21,483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825"/>
                        </a:lnSpc>
                        <a:spcBef>
                          <a:spcPts val="55"/>
                        </a:spcBef>
                      </a:pPr>
                      <a:r>
                        <a:rPr dirty="0" sz="24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2825"/>
                        </a:lnSpc>
                        <a:spcBef>
                          <a:spcPts val="55"/>
                        </a:spcBef>
                      </a:pPr>
                      <a:r>
                        <a:rPr dirty="0" sz="24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2825"/>
                        </a:lnSpc>
                        <a:spcBef>
                          <a:spcPts val="55"/>
                        </a:spcBef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198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</a:tr>
              <a:tr h="378460">
                <a:tc>
                  <a:txBody>
                    <a:bodyPr/>
                    <a:lstStyle/>
                    <a:p>
                      <a:pPr marL="13335">
                        <a:lnSpc>
                          <a:spcPts val="2820"/>
                        </a:lnSpc>
                        <a:spcBef>
                          <a:spcPts val="55"/>
                        </a:spcBef>
                      </a:pPr>
                      <a:r>
                        <a:rPr dirty="0" sz="2400" spc="-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JARS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71B1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2820"/>
                        </a:lnSpc>
                        <a:spcBef>
                          <a:spcPts val="55"/>
                        </a:spcBef>
                      </a:pPr>
                      <a:r>
                        <a:rPr dirty="0" sz="24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9,548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820"/>
                        </a:lnSpc>
                        <a:spcBef>
                          <a:spcPts val="55"/>
                        </a:spcBef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16,291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820"/>
                        </a:lnSpc>
                        <a:spcBef>
                          <a:spcPts val="55"/>
                        </a:spcBef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18,357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2820"/>
                        </a:lnSpc>
                        <a:spcBef>
                          <a:spcPts val="55"/>
                        </a:spcBef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21,905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820"/>
                        </a:lnSpc>
                        <a:spcBef>
                          <a:spcPts val="55"/>
                        </a:spcBef>
                      </a:pPr>
                      <a:r>
                        <a:rPr dirty="0" sz="24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2820"/>
                        </a:lnSpc>
                        <a:spcBef>
                          <a:spcPts val="55"/>
                        </a:spcBef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214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2820"/>
                        </a:lnSpc>
                        <a:spcBef>
                          <a:spcPts val="55"/>
                        </a:spcBef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237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</a:tr>
              <a:tr h="378460">
                <a:tc>
                  <a:txBody>
                    <a:bodyPr/>
                    <a:lstStyle/>
                    <a:p>
                      <a:pPr marL="13335">
                        <a:lnSpc>
                          <a:spcPts val="2820"/>
                        </a:lnSpc>
                        <a:spcBef>
                          <a:spcPts val="55"/>
                        </a:spcBef>
                      </a:pPr>
                      <a:r>
                        <a:rPr dirty="0" sz="24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Strike Force</a:t>
                      </a:r>
                      <a:r>
                        <a:rPr dirty="0" sz="2400" spc="-19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Alpha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71B1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2820"/>
                        </a:lnSpc>
                        <a:spcBef>
                          <a:spcPts val="55"/>
                        </a:spcBef>
                      </a:pPr>
                      <a:r>
                        <a:rPr dirty="0" sz="24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7,070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2820"/>
                        </a:lnSpc>
                        <a:spcBef>
                          <a:spcPts val="55"/>
                        </a:spcBef>
                      </a:pPr>
                      <a:r>
                        <a:rPr dirty="0" sz="24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8,963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820"/>
                        </a:lnSpc>
                        <a:spcBef>
                          <a:spcPts val="55"/>
                        </a:spcBef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13,351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2820"/>
                        </a:lnSpc>
                        <a:spcBef>
                          <a:spcPts val="55"/>
                        </a:spcBef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16,204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820"/>
                        </a:lnSpc>
                        <a:spcBef>
                          <a:spcPts val="55"/>
                        </a:spcBef>
                      </a:pPr>
                      <a:r>
                        <a:rPr dirty="0" sz="24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2820"/>
                        </a:lnSpc>
                        <a:spcBef>
                          <a:spcPts val="55"/>
                        </a:spcBef>
                      </a:pPr>
                      <a:r>
                        <a:rPr dirty="0" sz="24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2820"/>
                        </a:lnSpc>
                        <a:spcBef>
                          <a:spcPts val="55"/>
                        </a:spcBef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193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</a:tr>
              <a:tr h="378459">
                <a:tc>
                  <a:txBody>
                    <a:bodyPr/>
                    <a:lstStyle/>
                    <a:p>
                      <a:pPr marL="13335">
                        <a:lnSpc>
                          <a:spcPts val="2820"/>
                        </a:lnSpc>
                        <a:spcBef>
                          <a:spcPts val="55"/>
                        </a:spcBef>
                      </a:pPr>
                      <a:r>
                        <a:rPr dirty="0" sz="2400" spc="-7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Team</a:t>
                      </a:r>
                      <a:r>
                        <a:rPr dirty="0" sz="2400" spc="-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Bolt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71B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20"/>
                        </a:lnSpc>
                        <a:spcBef>
                          <a:spcPts val="55"/>
                        </a:spcBef>
                      </a:pPr>
                      <a:r>
                        <a:rPr dirty="0" sz="24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8,,262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820"/>
                        </a:lnSpc>
                        <a:spcBef>
                          <a:spcPts val="55"/>
                        </a:spcBef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19,440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820"/>
                        </a:lnSpc>
                        <a:spcBef>
                          <a:spcPts val="55"/>
                        </a:spcBef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15,206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2820"/>
                        </a:lnSpc>
                        <a:spcBef>
                          <a:spcPts val="55"/>
                        </a:spcBef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17,773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820"/>
                        </a:lnSpc>
                        <a:spcBef>
                          <a:spcPts val="55"/>
                        </a:spcBef>
                      </a:pPr>
                      <a:r>
                        <a:rPr dirty="0" sz="24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2820"/>
                        </a:lnSpc>
                        <a:spcBef>
                          <a:spcPts val="55"/>
                        </a:spcBef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39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2820"/>
                        </a:lnSpc>
                        <a:spcBef>
                          <a:spcPts val="55"/>
                        </a:spcBef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199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69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</a:tr>
              <a:tr h="378460">
                <a:tc>
                  <a:txBody>
                    <a:bodyPr/>
                    <a:lstStyle/>
                    <a:p>
                      <a:pPr marL="13335">
                        <a:lnSpc>
                          <a:spcPts val="2820"/>
                        </a:lnSpc>
                        <a:spcBef>
                          <a:spcPts val="60"/>
                        </a:spcBef>
                      </a:pPr>
                      <a:r>
                        <a:rPr dirty="0" sz="2400" spc="-7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Team</a:t>
                      </a:r>
                      <a:r>
                        <a:rPr dirty="0" sz="240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Chimps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71B1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820"/>
                        </a:lnSpc>
                        <a:spcBef>
                          <a:spcPts val="60"/>
                        </a:spcBef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10,015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820"/>
                        </a:lnSpc>
                        <a:spcBef>
                          <a:spcPts val="60"/>
                        </a:spcBef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22,050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820"/>
                        </a:lnSpc>
                        <a:spcBef>
                          <a:spcPts val="60"/>
                        </a:spcBef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18,732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2820"/>
                        </a:lnSpc>
                        <a:spcBef>
                          <a:spcPts val="60"/>
                        </a:spcBef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21,768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820"/>
                        </a:lnSpc>
                        <a:spcBef>
                          <a:spcPts val="60"/>
                        </a:spcBef>
                      </a:pPr>
                      <a:r>
                        <a:rPr dirty="0" sz="24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2820"/>
                        </a:lnSpc>
                        <a:spcBef>
                          <a:spcPts val="60"/>
                        </a:spcBef>
                      </a:pPr>
                      <a:r>
                        <a:rPr dirty="0" sz="24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2820"/>
                        </a:lnSpc>
                        <a:spcBef>
                          <a:spcPts val="60"/>
                        </a:spcBef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242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</a:tr>
              <a:tr h="378459">
                <a:tc>
                  <a:txBody>
                    <a:bodyPr/>
                    <a:lstStyle/>
                    <a:p>
                      <a:pPr marL="13335">
                        <a:lnSpc>
                          <a:spcPts val="2820"/>
                        </a:lnSpc>
                        <a:spcBef>
                          <a:spcPts val="60"/>
                        </a:spcBef>
                      </a:pPr>
                      <a:r>
                        <a:rPr dirty="0" sz="2400" spc="-7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Team</a:t>
                      </a:r>
                      <a:r>
                        <a:rPr dirty="0" sz="240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3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Voodoo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71B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20"/>
                        </a:lnSpc>
                        <a:spcBef>
                          <a:spcPts val="60"/>
                        </a:spcBef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5664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2820"/>
                        </a:lnSpc>
                        <a:spcBef>
                          <a:spcPts val="60"/>
                        </a:spcBef>
                      </a:pPr>
                      <a:r>
                        <a:rPr dirty="0" sz="24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8,583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20"/>
                        </a:lnSpc>
                        <a:spcBef>
                          <a:spcPts val="60"/>
                        </a:spcBef>
                      </a:pPr>
                      <a:r>
                        <a:rPr dirty="0" sz="24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9,846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2820"/>
                        </a:lnSpc>
                        <a:spcBef>
                          <a:spcPts val="60"/>
                        </a:spcBef>
                      </a:pPr>
                      <a:r>
                        <a:rPr dirty="0" sz="2400" spc="-3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11,836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2820"/>
                        </a:lnSpc>
                        <a:spcBef>
                          <a:spcPts val="60"/>
                        </a:spcBef>
                      </a:pPr>
                      <a:r>
                        <a:rPr dirty="0" sz="24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2820"/>
                        </a:lnSpc>
                        <a:spcBef>
                          <a:spcPts val="60"/>
                        </a:spcBef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76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2820"/>
                        </a:lnSpc>
                        <a:spcBef>
                          <a:spcPts val="60"/>
                        </a:spcBef>
                      </a:pPr>
                      <a:r>
                        <a:rPr dirty="0" sz="2400" spc="-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175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762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88340" y="5222240"/>
            <a:ext cx="990473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03605" algn="l"/>
              </a:tabLst>
            </a:pP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Note:	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The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ruleset grew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from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72 rules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at </a:t>
            </a:r>
            <a:r>
              <a:rPr dirty="0" sz="2400" spc="-10">
                <a:solidFill>
                  <a:srgbClr val="414042"/>
                </a:solidFill>
                <a:latin typeface="Arial"/>
                <a:cs typeface="Arial"/>
              </a:rPr>
              <a:t>kickoff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to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127 rules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at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completion  Rules instability led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to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rework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in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addition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to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model</a:t>
            </a:r>
            <a:r>
              <a:rPr dirty="0" sz="2400" spc="114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maturation/growth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1144"/>
            <a:ext cx="93726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r>
              <a:rPr dirty="0" spc="-5"/>
              <a:t>2</a:t>
            </a:r>
          </a:p>
          <a:p>
            <a:pPr marL="38100">
              <a:lnSpc>
                <a:spcPct val="100000"/>
              </a:lnSpc>
            </a:pPr>
            <a:r>
              <a:rPr dirty="0" spc="-5"/>
              <a:t>8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483234"/>
            <a:ext cx="552767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780030" algn="l"/>
              </a:tabLst>
            </a:pPr>
            <a:r>
              <a:rPr dirty="0" sz="4400" i="0">
                <a:latin typeface="Arial"/>
                <a:cs typeface="Arial"/>
              </a:rPr>
              <a:t>Fall</a:t>
            </a:r>
            <a:r>
              <a:rPr dirty="0" sz="4400" spc="10" i="0">
                <a:latin typeface="Arial"/>
                <a:cs typeface="Arial"/>
              </a:rPr>
              <a:t> </a:t>
            </a:r>
            <a:r>
              <a:rPr dirty="0" sz="4400" i="0">
                <a:latin typeface="Arial"/>
                <a:cs typeface="Arial"/>
              </a:rPr>
              <a:t>2020:	Mars</a:t>
            </a:r>
            <a:r>
              <a:rPr dirty="0" sz="4400" spc="-85" i="0">
                <a:latin typeface="Arial"/>
                <a:cs typeface="Arial"/>
              </a:rPr>
              <a:t> </a:t>
            </a:r>
            <a:r>
              <a:rPr dirty="0" sz="4400" i="0">
                <a:latin typeface="Arial"/>
                <a:cs typeface="Arial"/>
              </a:rPr>
              <a:t>Octet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9124" y="1568322"/>
            <a:ext cx="8400415" cy="3135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Federated model used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to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integrate eight individual</a:t>
            </a:r>
            <a:r>
              <a:rPr dirty="0" sz="2400" spc="17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models:</a:t>
            </a:r>
            <a:endParaRPr sz="2400">
              <a:latin typeface="Arial"/>
              <a:cs typeface="Arial"/>
            </a:endParaRPr>
          </a:p>
          <a:p>
            <a:pPr lvl="1" marL="1003300" indent="-381635">
              <a:lnSpc>
                <a:spcPct val="100000"/>
              </a:lnSpc>
              <a:buChar char="–"/>
              <a:tabLst>
                <a:tab pos="1003300" algn="l"/>
                <a:tab pos="1003935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Collection</a:t>
            </a:r>
            <a:r>
              <a:rPr dirty="0" sz="2000" spc="-9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Rover</a:t>
            </a:r>
            <a:endParaRPr sz="2000">
              <a:latin typeface="Arial"/>
              <a:cs typeface="Arial"/>
            </a:endParaRPr>
          </a:p>
          <a:p>
            <a:pPr lvl="1" marL="1003300" indent="-381635">
              <a:lnSpc>
                <a:spcPct val="100000"/>
              </a:lnSpc>
              <a:buChar char="–"/>
              <a:tabLst>
                <a:tab pos="1003300" algn="l"/>
                <a:tab pos="1003935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Retrieval</a:t>
            </a:r>
            <a:r>
              <a:rPr dirty="0" sz="2000" spc="-10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Lander</a:t>
            </a:r>
            <a:endParaRPr sz="2000">
              <a:latin typeface="Arial"/>
              <a:cs typeface="Arial"/>
            </a:endParaRPr>
          </a:p>
          <a:p>
            <a:pPr lvl="1" marL="1003300" indent="-381635">
              <a:lnSpc>
                <a:spcPct val="100000"/>
              </a:lnSpc>
              <a:buChar char="–"/>
              <a:tabLst>
                <a:tab pos="1003300" algn="l"/>
                <a:tab pos="1003935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Fetch</a:t>
            </a:r>
            <a:r>
              <a:rPr dirty="0" sz="2000" spc="-3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Rover</a:t>
            </a:r>
            <a:endParaRPr sz="2000">
              <a:latin typeface="Arial"/>
              <a:cs typeface="Arial"/>
            </a:endParaRPr>
          </a:p>
          <a:p>
            <a:pPr lvl="1" marL="1003300" indent="-381635">
              <a:lnSpc>
                <a:spcPct val="100000"/>
              </a:lnSpc>
              <a:spcBef>
                <a:spcPts val="5"/>
              </a:spcBef>
              <a:buChar char="–"/>
              <a:tabLst>
                <a:tab pos="1003300" algn="l"/>
                <a:tab pos="1003935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Ascent</a:t>
            </a:r>
            <a:r>
              <a:rPr dirty="0" sz="2000" spc="-3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Rocket</a:t>
            </a:r>
            <a:endParaRPr sz="2000">
              <a:latin typeface="Arial"/>
              <a:cs typeface="Arial"/>
            </a:endParaRPr>
          </a:p>
          <a:p>
            <a:pPr lvl="1" marL="1003300" indent="-381635">
              <a:lnSpc>
                <a:spcPct val="100000"/>
              </a:lnSpc>
              <a:buChar char="–"/>
              <a:tabLst>
                <a:tab pos="1003300" algn="l"/>
                <a:tab pos="1003935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Return</a:t>
            </a:r>
            <a:r>
              <a:rPr dirty="0" sz="2000" spc="-3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Orbiter</a:t>
            </a:r>
            <a:endParaRPr sz="2000">
              <a:latin typeface="Arial"/>
              <a:cs typeface="Arial"/>
            </a:endParaRPr>
          </a:p>
          <a:p>
            <a:pPr lvl="1" marL="1003300" indent="-381635">
              <a:lnSpc>
                <a:spcPct val="100000"/>
              </a:lnSpc>
              <a:buChar char="–"/>
              <a:tabLst>
                <a:tab pos="1003300" algn="l"/>
                <a:tab pos="1003935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Mars Expedition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Ice</a:t>
            </a:r>
            <a:r>
              <a:rPr dirty="0" sz="2000" spc="-5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Mapper</a:t>
            </a:r>
            <a:endParaRPr sz="2000">
              <a:latin typeface="Arial"/>
              <a:cs typeface="Arial"/>
            </a:endParaRPr>
          </a:p>
          <a:p>
            <a:pPr lvl="1" marL="1003300" indent="-381635">
              <a:lnSpc>
                <a:spcPct val="100000"/>
              </a:lnSpc>
              <a:buChar char="–"/>
              <a:tabLst>
                <a:tab pos="1003300" algn="l"/>
                <a:tab pos="1003935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Mars</a:t>
            </a:r>
            <a:r>
              <a:rPr dirty="0" sz="2000" spc="-3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414042"/>
                </a:solidFill>
                <a:latin typeface="Arial"/>
                <a:cs typeface="Arial"/>
              </a:rPr>
              <a:t>NAVCOM</a:t>
            </a:r>
            <a:endParaRPr sz="2000">
              <a:latin typeface="Arial"/>
              <a:cs typeface="Arial"/>
            </a:endParaRPr>
          </a:p>
          <a:p>
            <a:pPr lvl="1" marL="1003300" indent="-381635">
              <a:lnSpc>
                <a:spcPct val="100000"/>
              </a:lnSpc>
              <a:spcBef>
                <a:spcPts val="5"/>
              </a:spcBef>
              <a:buChar char="–"/>
              <a:tabLst>
                <a:tab pos="1003300" algn="l"/>
                <a:tab pos="1003935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Mission Control/Deep Space</a:t>
            </a:r>
            <a:r>
              <a:rPr dirty="0" sz="2000" spc="-8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Network</a:t>
            </a:r>
            <a:endParaRPr sz="2000">
              <a:latin typeface="Arial"/>
              <a:cs typeface="Arial"/>
            </a:endParaRPr>
          </a:p>
          <a:p>
            <a:pPr lvl="1" marL="1003300" indent="-381635">
              <a:lnSpc>
                <a:spcPct val="100000"/>
              </a:lnSpc>
              <a:buChar char="–"/>
              <a:tabLst>
                <a:tab pos="1003300" algn="l"/>
                <a:tab pos="1003935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Integration</a:t>
            </a:r>
            <a:r>
              <a:rPr dirty="0" sz="2000" spc="-5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Model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9124" y="5043373"/>
            <a:ext cx="9267825" cy="684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834">
              <a:lnSpc>
                <a:spcPts val="2595"/>
              </a:lnSpc>
              <a:spcBef>
                <a:spcPts val="100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Models were based upon publicly available mission websites</a:t>
            </a:r>
            <a:r>
              <a:rPr dirty="0" sz="2400" spc="22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and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ts val="2595"/>
              </a:lnSpc>
            </a:pP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documents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1144"/>
            <a:ext cx="93726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64"/>
              </a:lnSpc>
            </a:pPr>
            <a:r>
              <a:rPr dirty="0" spc="-5"/>
              <a:t>2</a:t>
            </a:r>
          </a:p>
          <a:p>
            <a:pPr marL="38100">
              <a:lnSpc>
                <a:spcPct val="100000"/>
              </a:lnSpc>
            </a:pPr>
            <a:r>
              <a:rPr dirty="0" spc="-5"/>
              <a:t>9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547242"/>
            <a:ext cx="986155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18145" algn="l"/>
              </a:tabLst>
            </a:pPr>
            <a:r>
              <a:rPr dirty="0" sz="3600" spc="-5" i="0">
                <a:latin typeface="Arial"/>
                <a:cs typeface="Arial"/>
              </a:rPr>
              <a:t>Mars </a:t>
            </a:r>
            <a:r>
              <a:rPr dirty="0" sz="3600" i="0">
                <a:latin typeface="Arial"/>
                <a:cs typeface="Arial"/>
              </a:rPr>
              <a:t>Octet Model </a:t>
            </a:r>
            <a:r>
              <a:rPr dirty="0" sz="3600" spc="-5" i="0">
                <a:latin typeface="Arial"/>
                <a:cs typeface="Arial"/>
              </a:rPr>
              <a:t>Sizes (3</a:t>
            </a:r>
            <a:r>
              <a:rPr dirty="0" sz="3600" spc="50" i="0">
                <a:latin typeface="Arial"/>
                <a:cs typeface="Arial"/>
              </a:rPr>
              <a:t> </a:t>
            </a:r>
            <a:r>
              <a:rPr dirty="0" sz="3600" i="0">
                <a:latin typeface="Arial"/>
                <a:cs typeface="Arial"/>
              </a:rPr>
              <a:t>DEC</a:t>
            </a:r>
            <a:r>
              <a:rPr dirty="0" sz="3600" spc="10" i="0">
                <a:latin typeface="Arial"/>
                <a:cs typeface="Arial"/>
              </a:rPr>
              <a:t> </a:t>
            </a:r>
            <a:r>
              <a:rPr dirty="0" sz="3600" i="0">
                <a:latin typeface="Arial"/>
                <a:cs typeface="Arial"/>
              </a:rPr>
              <a:t>2020:	</a:t>
            </a:r>
            <a:r>
              <a:rPr dirty="0" sz="3600" spc="-5" i="0">
                <a:latin typeface="Arial"/>
                <a:cs typeface="Arial"/>
              </a:rPr>
              <a:t>74</a:t>
            </a:r>
            <a:r>
              <a:rPr dirty="0" sz="3600" spc="-80" i="0">
                <a:latin typeface="Arial"/>
                <a:cs typeface="Arial"/>
              </a:rPr>
              <a:t> </a:t>
            </a:r>
            <a:r>
              <a:rPr dirty="0" sz="3600" i="0">
                <a:latin typeface="Arial"/>
                <a:cs typeface="Arial"/>
              </a:rPr>
              <a:t>Days)</a:t>
            </a:r>
            <a:endParaRPr sz="36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64107" y="1624711"/>
          <a:ext cx="9476740" cy="3825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81195"/>
                <a:gridCol w="1948179"/>
                <a:gridCol w="1010284"/>
                <a:gridCol w="1024254"/>
                <a:gridCol w="994409"/>
              </a:tblGrid>
              <a:tr h="381253"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Model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71B1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Info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71B1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Errors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71B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5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Size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71B1E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b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Pages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71B1E"/>
                    </a:solidFill>
                  </a:tcPr>
                </a:tc>
              </a:tr>
              <a:tr h="381254"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Collection</a:t>
                      </a:r>
                      <a:r>
                        <a:rPr dirty="0" sz="2000" spc="-2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Rover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25,614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246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</a:tr>
              <a:tr h="381126"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Retrieval</a:t>
                      </a:r>
                      <a:r>
                        <a:rPr dirty="0" sz="2000" spc="-2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Lander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2000" spc="-2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11,259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153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</a:tr>
              <a:tr h="381253"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Fetch</a:t>
                      </a:r>
                      <a:r>
                        <a:rPr dirty="0" sz="2000" spc="-3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Rover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15,343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139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</a:tr>
              <a:tr h="381253"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Ascent</a:t>
                      </a:r>
                      <a:r>
                        <a:rPr dirty="0" sz="2000" spc="-3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Rocket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23,721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301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</a:tr>
              <a:tr h="381254"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Return</a:t>
                      </a:r>
                      <a:r>
                        <a:rPr dirty="0" sz="2000" spc="-3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Orbiter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16,572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 spc="-5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117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</a:tr>
              <a:tr h="381127"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Mars Expedition Ice</a:t>
                      </a:r>
                      <a:r>
                        <a:rPr dirty="0" sz="2000" spc="-6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Mapper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24,970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243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</a:tr>
              <a:tr h="381253"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Mars</a:t>
                      </a:r>
                      <a:r>
                        <a:rPr dirty="0" sz="2000" spc="-25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 NAVCOM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72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167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18,127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262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</a:tr>
              <a:tr h="381254"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Mission Control/Deep Space</a:t>
                      </a:r>
                      <a:r>
                        <a:rPr dirty="0" sz="2000" spc="-1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Network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474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12,271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148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7E7"/>
                    </a:solidFill>
                  </a:tcPr>
                </a:tc>
              </a:tr>
              <a:tr h="381126"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Integration</a:t>
                      </a:r>
                      <a:r>
                        <a:rPr dirty="0" sz="2000" spc="-5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Model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5,892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2000">
                          <a:solidFill>
                            <a:srgbClr val="414042"/>
                          </a:solidFill>
                          <a:latin typeface="Arial"/>
                          <a:cs typeface="Arial"/>
                        </a:rPr>
                        <a:t>1,651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DCC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1144"/>
            <a:ext cx="5886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M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B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S</a:t>
            </a: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E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35994" y="5646569"/>
            <a:ext cx="937260" cy="49022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24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220" y="6385964"/>
            <a:ext cx="138430" cy="4959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z="1600" spc="-5">
                <a:solidFill>
                  <a:srgbClr val="929292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solidFill>
                  <a:srgbClr val="929292"/>
                </a:solidFill>
                <a:latin typeface="Arial"/>
                <a:cs typeface="Arial"/>
              </a:rPr>
              <a:t>0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483234"/>
            <a:ext cx="752157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13100" algn="l"/>
              </a:tabLst>
            </a:pPr>
            <a:r>
              <a:rPr dirty="0" sz="4400" i="0">
                <a:latin typeface="Arial"/>
                <a:cs typeface="Arial"/>
              </a:rPr>
              <a:t>Mars</a:t>
            </a:r>
            <a:r>
              <a:rPr dirty="0" sz="4400" spc="25" i="0">
                <a:latin typeface="Arial"/>
                <a:cs typeface="Arial"/>
              </a:rPr>
              <a:t> </a:t>
            </a:r>
            <a:r>
              <a:rPr dirty="0" sz="4400" spc="-5" i="0">
                <a:latin typeface="Arial"/>
                <a:cs typeface="Arial"/>
              </a:rPr>
              <a:t>Octet:	</a:t>
            </a:r>
            <a:r>
              <a:rPr dirty="0" sz="4400" i="0">
                <a:latin typeface="Arial"/>
                <a:cs typeface="Arial"/>
              </a:rPr>
              <a:t>Lessons</a:t>
            </a:r>
            <a:r>
              <a:rPr dirty="0" sz="4400" spc="-45" i="0">
                <a:latin typeface="Arial"/>
                <a:cs typeface="Arial"/>
              </a:rPr>
              <a:t> </a:t>
            </a:r>
            <a:r>
              <a:rPr dirty="0" sz="4400" i="0">
                <a:latin typeface="Arial"/>
                <a:cs typeface="Arial"/>
              </a:rPr>
              <a:t>Learned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5"/>
              </a:spcBef>
              <a:buChar char="•"/>
              <a:tabLst>
                <a:tab pos="469900" algn="l"/>
                <a:tab pos="470534" algn="l"/>
              </a:tabLst>
            </a:pPr>
            <a:r>
              <a:rPr dirty="0"/>
              <a:t>Rules stability reduced rework (174 at start, 184 at</a:t>
            </a:r>
            <a:r>
              <a:rPr dirty="0" spc="-220"/>
              <a:t> </a:t>
            </a:r>
            <a:r>
              <a:rPr dirty="0"/>
              <a:t>conclusion)</a:t>
            </a: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/>
              <a:t>Six mission models are 0/0 (zero info/zero</a:t>
            </a:r>
            <a:r>
              <a:rPr dirty="0" spc="-170"/>
              <a:t> </a:t>
            </a:r>
            <a:r>
              <a:rPr dirty="0"/>
              <a:t>errors)</a:t>
            </a:r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 spc="-5"/>
              <a:t>“Flow-heavy” </a:t>
            </a:r>
            <a:r>
              <a:rPr dirty="0"/>
              <a:t>communications models </a:t>
            </a:r>
            <a:r>
              <a:rPr dirty="0" spc="-5"/>
              <a:t>have</a:t>
            </a:r>
            <a:r>
              <a:rPr dirty="0" spc="-110"/>
              <a:t> </a:t>
            </a:r>
            <a:r>
              <a:rPr dirty="0"/>
              <a:t>errors:</a:t>
            </a:r>
          </a:p>
          <a:p>
            <a:pPr lvl="1" marL="1003300" indent="-381635">
              <a:lnSpc>
                <a:spcPct val="100000"/>
              </a:lnSpc>
              <a:spcBef>
                <a:spcPts val="5"/>
              </a:spcBef>
              <a:buChar char="–"/>
              <a:tabLst>
                <a:tab pos="1003300" algn="l"/>
                <a:tab pos="1003935" algn="l"/>
              </a:tabLst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Late “freeze” of interfaces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/ </a:t>
            </a:r>
            <a:r>
              <a:rPr dirty="0" sz="1800" spc="-10">
                <a:solidFill>
                  <a:srgbClr val="414042"/>
                </a:solidFill>
                <a:latin typeface="Arial"/>
                <a:cs typeface="Arial"/>
              </a:rPr>
              <a:t>flows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to</a:t>
            </a:r>
            <a:r>
              <a:rPr dirty="0" sz="1800" spc="7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414042"/>
                </a:solidFill>
                <a:latin typeface="Arial"/>
                <a:cs typeface="Arial"/>
              </a:rPr>
              <a:t>boundaries</a:t>
            </a:r>
            <a:endParaRPr sz="1800">
              <a:latin typeface="Arial"/>
              <a:cs typeface="Arial"/>
            </a:endParaRPr>
          </a:p>
          <a:p>
            <a:pPr lvl="1" marL="1003300" indent="-381635">
              <a:lnSpc>
                <a:spcPts val="2155"/>
              </a:lnSpc>
              <a:spcBef>
                <a:spcPts val="5"/>
              </a:spcBef>
              <a:buChar char="–"/>
              <a:tabLst>
                <a:tab pos="1003300" algn="l"/>
                <a:tab pos="1003935" algn="l"/>
              </a:tabLst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Late introduction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of </a:t>
            </a:r>
            <a:r>
              <a:rPr dirty="0" sz="1800" spc="-15">
                <a:solidFill>
                  <a:srgbClr val="414042"/>
                </a:solidFill>
                <a:latin typeface="Arial"/>
                <a:cs typeface="Arial"/>
              </a:rPr>
              <a:t>two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rules that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test for </a:t>
            </a:r>
            <a:r>
              <a:rPr dirty="0" sz="1800" spc="-10">
                <a:solidFill>
                  <a:srgbClr val="414042"/>
                </a:solidFill>
                <a:latin typeface="Arial"/>
                <a:cs typeface="Arial"/>
              </a:rPr>
              <a:t>conveyed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signal loss/gain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at</a:t>
            </a:r>
            <a:r>
              <a:rPr dirty="0" sz="1800" spc="18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interfaces</a:t>
            </a:r>
            <a:endParaRPr sz="1800">
              <a:latin typeface="Arial"/>
              <a:cs typeface="Arial"/>
            </a:endParaRPr>
          </a:p>
          <a:p>
            <a:pPr marL="469900" indent="-457834">
              <a:lnSpc>
                <a:spcPts val="2395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/>
              <a:t>Bug in </a:t>
            </a:r>
            <a:r>
              <a:rPr dirty="0" spc="-30"/>
              <a:t>TeamWork </a:t>
            </a:r>
            <a:r>
              <a:rPr dirty="0"/>
              <a:t>Cloud model synchronization caused spurious recovered</a:t>
            </a:r>
            <a:r>
              <a:rPr dirty="0" spc="-220"/>
              <a:t> </a:t>
            </a:r>
            <a:r>
              <a:rPr dirty="0"/>
              <a:t>elements</a:t>
            </a: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414042"/>
              </a:buClr>
              <a:buFont typeface="Arial"/>
              <a:buChar char="•"/>
            </a:pPr>
            <a:endParaRPr sz="2050"/>
          </a:p>
          <a:p>
            <a:pPr marL="469900" indent="-457834">
              <a:lnSpc>
                <a:spcPct val="100000"/>
              </a:lnSpc>
              <a:buChar char="•"/>
              <a:tabLst>
                <a:tab pos="469900" algn="l"/>
                <a:tab pos="470534" algn="l"/>
              </a:tabLst>
            </a:pPr>
            <a:r>
              <a:rPr dirty="0"/>
              <a:t>Outcome: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29055" y="3959428"/>
            <a:ext cx="8049895" cy="16725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100"/>
              </a:spcBef>
              <a:buChar char="–"/>
              <a:tabLst>
                <a:tab pos="393065" algn="l"/>
                <a:tab pos="393700" algn="l"/>
              </a:tabLst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40</a:t>
            </a:r>
            <a:r>
              <a:rPr dirty="0" sz="1800" spc="-1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Students</a:t>
            </a:r>
            <a:endParaRPr sz="1800">
              <a:latin typeface="Arial"/>
              <a:cs typeface="Arial"/>
            </a:endParaRPr>
          </a:p>
          <a:p>
            <a:pPr marL="393700" indent="-381000">
              <a:lnSpc>
                <a:spcPct val="100000"/>
              </a:lnSpc>
              <a:spcBef>
                <a:spcPts val="5"/>
              </a:spcBef>
              <a:buChar char="–"/>
              <a:tabLst>
                <a:tab pos="393065" algn="l"/>
                <a:tab pos="393700" algn="l"/>
              </a:tabLst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74</a:t>
            </a:r>
            <a:r>
              <a:rPr dirty="0" sz="1800" spc="-1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414042"/>
                </a:solidFill>
                <a:latin typeface="Arial"/>
                <a:cs typeface="Arial"/>
              </a:rPr>
              <a:t>Days</a:t>
            </a:r>
            <a:endParaRPr sz="1800">
              <a:latin typeface="Arial"/>
              <a:cs typeface="Arial"/>
            </a:endParaRPr>
          </a:p>
          <a:p>
            <a:pPr marL="393700" indent="-381000">
              <a:lnSpc>
                <a:spcPct val="100000"/>
              </a:lnSpc>
              <a:buChar char="–"/>
              <a:tabLst>
                <a:tab pos="393065" algn="l"/>
                <a:tab pos="393700" algn="l"/>
              </a:tabLst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153,769 model</a:t>
            </a:r>
            <a:r>
              <a:rPr dirty="0" sz="1800" spc="1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elements</a:t>
            </a:r>
            <a:endParaRPr sz="1800">
              <a:latin typeface="Arial"/>
              <a:cs typeface="Arial"/>
            </a:endParaRPr>
          </a:p>
          <a:p>
            <a:pPr marL="393700" indent="-381000">
              <a:lnSpc>
                <a:spcPct val="100000"/>
              </a:lnSpc>
              <a:buChar char="–"/>
              <a:tabLst>
                <a:tab pos="393065" algn="l"/>
                <a:tab pos="393700" algn="l"/>
              </a:tabLst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3,260 pages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of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content (Requirements Reports used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to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generate this</a:t>
            </a:r>
            <a:r>
              <a:rPr dirty="0" sz="1800" spc="12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count)</a:t>
            </a:r>
            <a:endParaRPr sz="1800">
              <a:latin typeface="Arial"/>
              <a:cs typeface="Arial"/>
            </a:endParaRPr>
          </a:p>
          <a:p>
            <a:pPr marL="393700" indent="-381000">
              <a:lnSpc>
                <a:spcPct val="100000"/>
              </a:lnSpc>
              <a:buChar char="–"/>
              <a:tabLst>
                <a:tab pos="393065" algn="l"/>
                <a:tab pos="393700" algn="l"/>
              </a:tabLst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Fully integrated and consistent mission</a:t>
            </a:r>
            <a:r>
              <a:rPr dirty="0" sz="1800" spc="5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models</a:t>
            </a:r>
            <a:endParaRPr sz="1800">
              <a:latin typeface="Arial"/>
              <a:cs typeface="Arial"/>
            </a:endParaRPr>
          </a:p>
          <a:p>
            <a:pPr marL="393700" indent="-381000">
              <a:lnSpc>
                <a:spcPct val="100000"/>
              </a:lnSpc>
              <a:buChar char="–"/>
              <a:tabLst>
                <a:tab pos="393065" algn="l"/>
                <a:tab pos="393700" algn="l"/>
              </a:tabLst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Communications/integration models not fully</a:t>
            </a:r>
            <a:r>
              <a:rPr dirty="0" sz="1800" spc="7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matured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1144"/>
            <a:ext cx="93726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26114" y="5047107"/>
            <a:ext cx="3138170" cy="139700"/>
            <a:chOff x="326114" y="5047107"/>
            <a:chExt cx="3138170" cy="139700"/>
          </a:xfrm>
        </p:grpSpPr>
        <p:sp>
          <p:nvSpPr>
            <p:cNvPr id="4" name="object 4"/>
            <p:cNvSpPr/>
            <p:nvPr/>
          </p:nvSpPr>
          <p:spPr>
            <a:xfrm>
              <a:off x="326114" y="5047107"/>
              <a:ext cx="3138046" cy="13960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59663" y="5099304"/>
              <a:ext cx="3074035" cy="0"/>
            </a:xfrm>
            <a:custGeom>
              <a:avLst/>
              <a:gdLst/>
              <a:ahLst/>
              <a:cxnLst/>
              <a:rect l="l" t="t" r="r" b="b"/>
              <a:pathLst>
                <a:path w="3074035" h="0">
                  <a:moveTo>
                    <a:pt x="0" y="0"/>
                  </a:moveTo>
                  <a:lnTo>
                    <a:pt x="3074035" y="0"/>
                  </a:lnTo>
                </a:path>
              </a:pathLst>
            </a:custGeom>
            <a:ln w="76200">
              <a:solidFill>
                <a:srgbClr val="971B1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9188" y="4090238"/>
            <a:ext cx="3796029" cy="9404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i="0">
                <a:latin typeface="Arial"/>
                <a:cs typeface="Arial"/>
              </a:rPr>
              <a:t>Conclusion</a:t>
            </a:r>
            <a:endParaRPr sz="6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9220" y="1580514"/>
            <a:ext cx="11964035" cy="52990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079500" indent="-457834">
              <a:lnSpc>
                <a:spcPct val="100000"/>
              </a:lnSpc>
              <a:spcBef>
                <a:spcPts val="105"/>
              </a:spcBef>
              <a:buChar char="•"/>
              <a:tabLst>
                <a:tab pos="1079500" algn="l"/>
                <a:tab pos="1080135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Automated validation rules have a significant impact on model</a:t>
            </a:r>
            <a:r>
              <a:rPr dirty="0" sz="2000" spc="-17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quality</a:t>
            </a:r>
            <a:endParaRPr sz="2000">
              <a:latin typeface="Arial"/>
              <a:cs typeface="Arial"/>
            </a:endParaRPr>
          </a:p>
          <a:p>
            <a:pPr marL="1079500" marR="1156970" indent="-457834">
              <a:lnSpc>
                <a:spcPts val="1920"/>
              </a:lnSpc>
              <a:spcBef>
                <a:spcPts val="459"/>
              </a:spcBef>
              <a:buChar char="•"/>
              <a:tabLst>
                <a:tab pos="1079500" algn="l"/>
                <a:tab pos="1080135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Rules must be tested with real-world modeling to detect corner cases/bugs and</a:t>
            </a:r>
            <a:r>
              <a:rPr dirty="0" sz="2000" spc="-25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ensure  usefulness</a:t>
            </a:r>
            <a:endParaRPr sz="2000">
              <a:latin typeface="Arial"/>
              <a:cs typeface="Arial"/>
            </a:endParaRPr>
          </a:p>
          <a:p>
            <a:pPr marL="1079500" indent="-457834">
              <a:lnSpc>
                <a:spcPts val="2160"/>
              </a:lnSpc>
              <a:spcBef>
                <a:spcPts val="20"/>
              </a:spcBef>
              <a:buChar char="•"/>
              <a:tabLst>
                <a:tab pos="1079500" algn="l"/>
                <a:tab pos="1080135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Hands-on modeling (in a laboratory format supported by automated validation)</a:t>
            </a:r>
            <a:r>
              <a:rPr dirty="0" sz="2000" spc="-26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enables</a:t>
            </a:r>
            <a:endParaRPr sz="2000">
              <a:latin typeface="Arial"/>
              <a:cs typeface="Arial"/>
            </a:endParaRPr>
          </a:p>
          <a:p>
            <a:pPr marL="1079500">
              <a:lnSpc>
                <a:spcPts val="2160"/>
              </a:lnSpc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novices to rapidly develop skill and confidence (and generate high-quality</a:t>
            </a:r>
            <a:r>
              <a:rPr dirty="0" sz="2000" spc="-18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models)</a:t>
            </a:r>
            <a:endParaRPr sz="2000">
              <a:latin typeface="Arial"/>
              <a:cs typeface="Arial"/>
            </a:endParaRPr>
          </a:p>
          <a:p>
            <a:pPr marL="1079500" marR="967740" indent="-457834">
              <a:lnSpc>
                <a:spcPct val="80000"/>
              </a:lnSpc>
              <a:spcBef>
                <a:spcPts val="480"/>
              </a:spcBef>
              <a:buChar char="•"/>
              <a:tabLst>
                <a:tab pos="1079500" algn="l"/>
                <a:tab pos="1080135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Relationship-based analysis has impact and traceability advantages vs. </a:t>
            </a:r>
            <a:r>
              <a:rPr dirty="0" sz="2000" spc="5">
                <a:solidFill>
                  <a:srgbClr val="414042"/>
                </a:solidFill>
                <a:latin typeface="Arial"/>
                <a:cs typeface="Arial"/>
              </a:rPr>
              <a:t>tag-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or</a:t>
            </a:r>
            <a:r>
              <a:rPr dirty="0" sz="2000" spc="-204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property-  based</a:t>
            </a:r>
            <a:r>
              <a:rPr dirty="0" sz="2000" spc="-3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approaches</a:t>
            </a:r>
            <a:endParaRPr sz="2000">
              <a:latin typeface="Arial"/>
              <a:cs typeface="Arial"/>
            </a:endParaRPr>
          </a:p>
          <a:p>
            <a:pPr marL="1079500" indent="-457834">
              <a:lnSpc>
                <a:spcPct val="100000"/>
              </a:lnSpc>
              <a:buChar char="•"/>
              <a:tabLst>
                <a:tab pos="1079500" algn="l"/>
                <a:tab pos="1080135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Real-time integration of multiple system models is facilitated by automated</a:t>
            </a:r>
            <a:r>
              <a:rPr dirty="0" sz="2000" spc="-19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validation</a:t>
            </a:r>
            <a:endParaRPr sz="2000">
              <a:latin typeface="Arial"/>
              <a:cs typeface="Arial"/>
            </a:endParaRPr>
          </a:p>
          <a:p>
            <a:pPr marL="1232535">
              <a:lnSpc>
                <a:spcPts val="1945"/>
              </a:lnSpc>
              <a:spcBef>
                <a:spcPts val="10"/>
              </a:spcBef>
              <a:tabLst>
                <a:tab pos="1612900" algn="l"/>
              </a:tabLst>
            </a:pP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–	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Good systems </a:t>
            </a:r>
            <a:r>
              <a:rPr dirty="0" sz="1800" spc="-10">
                <a:solidFill>
                  <a:srgbClr val="414042"/>
                </a:solidFill>
                <a:latin typeface="Arial"/>
                <a:cs typeface="Arial"/>
              </a:rPr>
              <a:t>engineering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practices can reduce pain points (such </a:t>
            </a:r>
            <a:r>
              <a:rPr dirty="0" sz="1800">
                <a:solidFill>
                  <a:srgbClr val="414042"/>
                </a:solidFill>
                <a:latin typeface="Arial"/>
                <a:cs typeface="Arial"/>
              </a:rPr>
              <a:t>as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late</a:t>
            </a:r>
            <a:r>
              <a:rPr dirty="0" sz="1800" spc="130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interface/flow</a:t>
            </a:r>
            <a:endParaRPr sz="1800">
              <a:latin typeface="Arial"/>
              <a:cs typeface="Arial"/>
            </a:endParaRPr>
          </a:p>
          <a:p>
            <a:pPr marL="1613535">
              <a:lnSpc>
                <a:spcPts val="1945"/>
              </a:lnSpc>
            </a:pPr>
            <a:r>
              <a:rPr dirty="0" sz="1800" spc="-5">
                <a:solidFill>
                  <a:srgbClr val="414042"/>
                </a:solidFill>
                <a:latin typeface="Arial"/>
                <a:cs typeface="Arial"/>
              </a:rPr>
              <a:t>changes)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50">
              <a:latin typeface="Arial"/>
              <a:cs typeface="Arial"/>
            </a:endParaRPr>
          </a:p>
          <a:p>
            <a:pPr marL="1079500" indent="-457834">
              <a:lnSpc>
                <a:spcPct val="100000"/>
              </a:lnSpc>
              <a:buChar char="•"/>
              <a:tabLst>
                <a:tab pos="1079500" algn="l"/>
                <a:tab pos="1080135" algn="l"/>
              </a:tabLst>
            </a:pPr>
            <a:r>
              <a:rPr dirty="0" sz="2000">
                <a:solidFill>
                  <a:srgbClr val="414042"/>
                </a:solidFill>
                <a:latin typeface="Arial"/>
                <a:cs typeface="Arial"/>
              </a:rPr>
              <a:t>Mars Octet models will be published at</a:t>
            </a:r>
            <a:r>
              <a:rPr dirty="0" sz="2000" spc="-114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414042"/>
                </a:solidFill>
                <a:latin typeface="Arial"/>
                <a:cs typeface="Arial"/>
              </a:rPr>
              <a:t>https://hypermodeling.systems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Arial"/>
              <a:cs typeface="Arial"/>
            </a:endParaRPr>
          </a:p>
          <a:p>
            <a:pPr marL="11039475">
              <a:lnSpc>
                <a:spcPct val="100000"/>
              </a:lnSpc>
              <a:spcBef>
                <a:spcPts val="1495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1039475" marR="5080">
              <a:lnSpc>
                <a:spcPct val="100000"/>
              </a:lnSpc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5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 spc="-5">
                <a:solidFill>
                  <a:srgbClr val="929292"/>
                </a:solidFill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 spc="-5">
                <a:solidFill>
                  <a:srgbClr val="929292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483234"/>
            <a:ext cx="279463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i="0">
                <a:latin typeface="Arial"/>
                <a:cs typeface="Arial"/>
              </a:rPr>
              <a:t>Conclusion</a:t>
            </a:r>
            <a:endParaRPr sz="4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1144"/>
            <a:ext cx="93726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483234"/>
            <a:ext cx="618172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i="0">
                <a:latin typeface="Arial"/>
                <a:cs typeface="Arial"/>
              </a:rPr>
              <a:t>SAIC Digital</a:t>
            </a:r>
            <a:r>
              <a:rPr dirty="0" sz="4400" spc="-65" i="0">
                <a:latin typeface="Arial"/>
                <a:cs typeface="Arial"/>
              </a:rPr>
              <a:t> </a:t>
            </a:r>
            <a:r>
              <a:rPr dirty="0" sz="4400" i="0">
                <a:latin typeface="Arial"/>
                <a:cs typeface="Arial"/>
              </a:rPr>
              <a:t>Engineering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64553" y="3324602"/>
            <a:ext cx="4857750" cy="90296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540">
              <a:lnSpc>
                <a:spcPct val="120000"/>
              </a:lnSpc>
              <a:spcBef>
                <a:spcPts val="95"/>
              </a:spcBef>
            </a:pP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Online: </a:t>
            </a:r>
            <a:r>
              <a:rPr dirty="0" u="heavy" sz="24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saic.com/digital-engineering </a:t>
            </a:r>
            <a:r>
              <a:rPr dirty="0" sz="2400" spc="-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Email:</a:t>
            </a:r>
            <a:r>
              <a:rPr dirty="0" sz="2400" spc="25">
                <a:solidFill>
                  <a:srgbClr val="414042"/>
                </a:solidFill>
                <a:latin typeface="Arial"/>
                <a:cs typeface="Arial"/>
              </a:rPr>
              <a:t> </a:t>
            </a:r>
            <a:r>
              <a:rPr dirty="0" u="heavy" sz="24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3"/>
              </a:rPr>
              <a:t>digitalengineering@saic.com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9347" y="1400555"/>
            <a:ext cx="4847844" cy="49255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827007" y="6444131"/>
            <a:ext cx="25654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r>
              <a:rPr dirty="0" sz="1200" spc="35">
                <a:solidFill>
                  <a:srgbClr val="003863"/>
                </a:solidFill>
                <a:latin typeface="Arial"/>
                <a:cs typeface="Arial"/>
              </a:rPr>
              <a:t>33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35994" y="5451144"/>
            <a:ext cx="93726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4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124" y="483234"/>
            <a:ext cx="618172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i="0">
                <a:latin typeface="Arial"/>
                <a:cs typeface="Arial"/>
              </a:rPr>
              <a:t>SAIC Digital</a:t>
            </a:r>
            <a:r>
              <a:rPr dirty="0" sz="4400" spc="-65" i="0">
                <a:latin typeface="Arial"/>
                <a:cs typeface="Arial"/>
              </a:rPr>
              <a:t> </a:t>
            </a:r>
            <a:r>
              <a:rPr dirty="0" sz="4400" i="0">
                <a:latin typeface="Arial"/>
                <a:cs typeface="Arial"/>
              </a:rPr>
              <a:t>Engineering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80175" y="2885313"/>
            <a:ext cx="4829810" cy="126936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algn="ctr" marL="12700" marR="5080">
              <a:lnSpc>
                <a:spcPct val="110000"/>
              </a:lnSpc>
              <a:spcBef>
                <a:spcPts val="385"/>
              </a:spcBef>
            </a:pP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SAIC DE Profile </a:t>
            </a:r>
            <a:r>
              <a:rPr dirty="0" sz="2400">
                <a:solidFill>
                  <a:srgbClr val="414042"/>
                </a:solidFill>
                <a:latin typeface="Arial"/>
                <a:cs typeface="Arial"/>
              </a:rPr>
              <a:t>&amp; </a:t>
            </a:r>
            <a:r>
              <a:rPr dirty="0" sz="2400" spc="-25">
                <a:solidFill>
                  <a:srgbClr val="414042"/>
                </a:solidFill>
                <a:latin typeface="Arial"/>
                <a:cs typeface="Arial"/>
              </a:rPr>
              <a:t>Validation </a:t>
            </a:r>
            <a:r>
              <a:rPr dirty="0" sz="2400" spc="-5">
                <a:solidFill>
                  <a:srgbClr val="414042"/>
                </a:solidFill>
                <a:latin typeface="Arial"/>
                <a:cs typeface="Arial"/>
              </a:rPr>
              <a:t>Rules:  </a:t>
            </a:r>
            <a:r>
              <a:rPr dirty="0" u="heavy" sz="2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https://www.saic.com/digital- </a:t>
            </a:r>
            <a:r>
              <a:rPr dirty="0" sz="2400" spc="-10">
                <a:solidFill>
                  <a:srgbClr val="0000FF"/>
                </a:solidFill>
                <a:latin typeface="Arial"/>
                <a:cs typeface="Arial"/>
                <a:hlinkClick r:id="rId2"/>
              </a:rPr>
              <a:t> </a:t>
            </a:r>
            <a:r>
              <a:rPr dirty="0" u="heavy" sz="24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engineering-validation-tool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9347" y="1400555"/>
            <a:ext cx="4847844" cy="49255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827007" y="6444131"/>
            <a:ext cx="256540" cy="198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ct val="100000"/>
              </a:lnSpc>
            </a:pPr>
            <a:r>
              <a:rPr dirty="0" sz="1200" spc="35">
                <a:solidFill>
                  <a:srgbClr val="003863"/>
                </a:solidFill>
                <a:latin typeface="Arial"/>
                <a:cs typeface="Arial"/>
              </a:rPr>
              <a:t>34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90109" y="3776852"/>
            <a:ext cx="28117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65">
                <a:solidFill>
                  <a:srgbClr val="414042"/>
                </a:solidFill>
                <a:latin typeface="Noto Sans"/>
                <a:cs typeface="Noto Sans"/>
                <a:hlinkClick r:id="rId2"/>
              </a:rPr>
              <a:t>www.incose.org/iw2021/</a:t>
            </a:r>
            <a:endParaRPr sz="2000">
              <a:latin typeface="Noto Sans"/>
              <a:cs typeface="Noto San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595274" y="4736591"/>
            <a:ext cx="1387584" cy="21214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756138" y="5458764"/>
            <a:ext cx="119443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414042"/>
                </a:solidFill>
                <a:latin typeface="Arial Black"/>
                <a:cs typeface="Arial Black"/>
              </a:rPr>
              <a:t>MBSE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</a:pPr>
            <a:r>
              <a:rPr dirty="0" sz="1800">
                <a:solidFill>
                  <a:srgbClr val="414042"/>
                </a:solidFill>
                <a:latin typeface="Arial Black"/>
                <a:cs typeface="Arial Black"/>
              </a:rPr>
              <a:t>Lightning  </a:t>
            </a:r>
            <a:r>
              <a:rPr dirty="0" sz="1800" spc="-10">
                <a:solidFill>
                  <a:srgbClr val="414042"/>
                </a:solidFill>
                <a:latin typeface="Arial Black"/>
                <a:cs typeface="Arial Black"/>
              </a:rPr>
              <a:t>Round</a:t>
            </a:r>
            <a:endParaRPr sz="180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720851"/>
            <a:ext cx="12173711" cy="16550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Sampson, Mark (DI SW LCS PMT ENT)</dc:creator>
  <cp:keywords>C_Unrestricted</cp:keywords>
  <dc:title>PowerPoint Presentation</dc:title>
  <dcterms:created xsi:type="dcterms:W3CDTF">2021-02-27T17:18:24Z</dcterms:created>
  <dcterms:modified xsi:type="dcterms:W3CDTF">2021-02-27T17:18:24Z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2021-01-25T00:00:00Z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2021-02-27T00:00:00Z</vt:filetime>
  </property>
</Properties>
</file>
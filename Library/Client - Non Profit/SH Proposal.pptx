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25"/>
  </p:notesMasterIdLst>
  <p:handoutMasterIdLst>
    <p:handoutMasterId r:id="rId26"/>
  </p:handoutMasterIdLst>
  <p:sldIdLst>
    <p:sldId id="257" r:id="rId2"/>
    <p:sldId id="259" r:id="rId3"/>
    <p:sldId id="260" r:id="rId4"/>
    <p:sldId id="261" r:id="rId5"/>
    <p:sldId id="278" r:id="rId6"/>
    <p:sldId id="277" r:id="rId7"/>
    <p:sldId id="262" r:id="rId8"/>
    <p:sldId id="269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9" r:id="rId17"/>
    <p:sldId id="28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22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F1C953-683D-4088-B683-ED0026710479}" type="doc">
      <dgm:prSet loTypeId="urn:microsoft.com/office/officeart/2005/8/layout/cycle2" loCatId="cycle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F00EE7C-C6BF-4788-B495-EBC2D1355610}">
      <dgm:prSet phldrT="[Text]"/>
      <dgm:spPr/>
      <dgm:t>
        <a:bodyPr/>
        <a:lstStyle/>
        <a:p>
          <a:r>
            <a:rPr lang="en-US" dirty="0" smtClean="0"/>
            <a:t>Understand customer needs</a:t>
          </a:r>
          <a:endParaRPr lang="en-US" dirty="0"/>
        </a:p>
      </dgm:t>
    </dgm:pt>
    <dgm:pt modelId="{0CA1898E-7CCC-4A37-B4A9-27F9058C1944}" type="parTrans" cxnId="{02BB1136-E784-453C-B453-B61987C800AE}">
      <dgm:prSet/>
      <dgm:spPr/>
      <dgm:t>
        <a:bodyPr/>
        <a:lstStyle/>
        <a:p>
          <a:endParaRPr lang="en-US"/>
        </a:p>
      </dgm:t>
    </dgm:pt>
    <dgm:pt modelId="{4351AA6A-6588-437F-9EF1-00B7587CD630}" type="sibTrans" cxnId="{02BB1136-E784-453C-B453-B61987C800AE}">
      <dgm:prSet/>
      <dgm:spPr/>
      <dgm:t>
        <a:bodyPr/>
        <a:lstStyle/>
        <a:p>
          <a:endParaRPr lang="en-US"/>
        </a:p>
      </dgm:t>
    </dgm:pt>
    <dgm:pt modelId="{BDDA0868-A651-4628-AB31-E7599A9965E7}">
      <dgm:prSet phldrT="[Text]"/>
      <dgm:spPr/>
      <dgm:t>
        <a:bodyPr/>
        <a:lstStyle/>
        <a:p>
          <a:r>
            <a:rPr lang="en-US" dirty="0" smtClean="0"/>
            <a:t>Identify Opportunities</a:t>
          </a:r>
        </a:p>
        <a:p>
          <a:r>
            <a:rPr lang="en-US" dirty="0" smtClean="0"/>
            <a:t>(Prioritize)</a:t>
          </a:r>
          <a:endParaRPr lang="en-US" dirty="0"/>
        </a:p>
      </dgm:t>
    </dgm:pt>
    <dgm:pt modelId="{46EE4510-D58B-4B92-8E25-CCCFA2E5974D}" type="parTrans" cxnId="{AFFAF5DB-74F8-41F2-BB1D-81B2A9AE8579}">
      <dgm:prSet/>
      <dgm:spPr/>
      <dgm:t>
        <a:bodyPr/>
        <a:lstStyle/>
        <a:p>
          <a:endParaRPr lang="en-US"/>
        </a:p>
      </dgm:t>
    </dgm:pt>
    <dgm:pt modelId="{103F1819-1CB4-4050-9CD4-DC116FD69E7E}" type="sibTrans" cxnId="{AFFAF5DB-74F8-41F2-BB1D-81B2A9AE8579}">
      <dgm:prSet/>
      <dgm:spPr/>
      <dgm:t>
        <a:bodyPr/>
        <a:lstStyle/>
        <a:p>
          <a:endParaRPr lang="en-US"/>
        </a:p>
      </dgm:t>
    </dgm:pt>
    <dgm:pt modelId="{A6A0B341-5910-4101-87F9-FF5B1697CB52}">
      <dgm:prSet phldrT="[Text]"/>
      <dgm:spPr/>
      <dgm:t>
        <a:bodyPr/>
        <a:lstStyle/>
        <a:p>
          <a:r>
            <a:rPr lang="en-US" dirty="0" smtClean="0"/>
            <a:t>Generate ideas</a:t>
          </a:r>
        </a:p>
      </dgm:t>
    </dgm:pt>
    <dgm:pt modelId="{1CAB2EE6-E4BD-42EF-8C0D-1FBB84A3A124}" type="parTrans" cxnId="{750F00FB-98AC-4E39-9590-75185B6D607B}">
      <dgm:prSet/>
      <dgm:spPr/>
      <dgm:t>
        <a:bodyPr/>
        <a:lstStyle/>
        <a:p>
          <a:endParaRPr lang="en-US"/>
        </a:p>
      </dgm:t>
    </dgm:pt>
    <dgm:pt modelId="{761DD8F7-7F86-4D69-9099-717780D5516F}" type="sibTrans" cxnId="{750F00FB-98AC-4E39-9590-75185B6D607B}">
      <dgm:prSet/>
      <dgm:spPr/>
      <dgm:t>
        <a:bodyPr/>
        <a:lstStyle/>
        <a:p>
          <a:endParaRPr lang="en-US"/>
        </a:p>
      </dgm:t>
    </dgm:pt>
    <dgm:pt modelId="{B220CC37-C9F5-4BBD-B2E3-0CD258B6BA5F}">
      <dgm:prSet phldrT="[Text]"/>
      <dgm:spPr/>
      <dgm:t>
        <a:bodyPr/>
        <a:lstStyle/>
        <a:p>
          <a:r>
            <a:rPr lang="en-US" dirty="0" smtClean="0"/>
            <a:t>Create new products &amp; services</a:t>
          </a:r>
          <a:endParaRPr lang="en-US" dirty="0"/>
        </a:p>
      </dgm:t>
    </dgm:pt>
    <dgm:pt modelId="{D03F1CA6-853B-48B8-B6F7-106769F54046}" type="parTrans" cxnId="{414C510B-1727-4F67-A396-CF06BBDBC53A}">
      <dgm:prSet/>
      <dgm:spPr/>
      <dgm:t>
        <a:bodyPr/>
        <a:lstStyle/>
        <a:p>
          <a:endParaRPr lang="en-US"/>
        </a:p>
      </dgm:t>
    </dgm:pt>
    <dgm:pt modelId="{EF31C52F-CC56-40C5-9F18-B176E12DEEDF}" type="sibTrans" cxnId="{414C510B-1727-4F67-A396-CF06BBDBC53A}">
      <dgm:prSet/>
      <dgm:spPr/>
      <dgm:t>
        <a:bodyPr/>
        <a:lstStyle/>
        <a:p>
          <a:endParaRPr lang="en-US"/>
        </a:p>
      </dgm:t>
    </dgm:pt>
    <dgm:pt modelId="{94E70A04-9A22-4031-B248-B5A6171B22FD}">
      <dgm:prSet phldrT="[Text]"/>
      <dgm:spPr/>
      <dgm:t>
        <a:bodyPr/>
        <a:lstStyle/>
        <a:p>
          <a:r>
            <a:rPr lang="en-US" dirty="0" smtClean="0"/>
            <a:t>Deliver new value to customers</a:t>
          </a:r>
          <a:endParaRPr lang="en-US" dirty="0"/>
        </a:p>
      </dgm:t>
    </dgm:pt>
    <dgm:pt modelId="{0C6198C0-BB0B-4356-8494-3F5A15345869}" type="parTrans" cxnId="{F7570D80-4405-4563-868E-9F16A23E7901}">
      <dgm:prSet/>
      <dgm:spPr/>
      <dgm:t>
        <a:bodyPr/>
        <a:lstStyle/>
        <a:p>
          <a:endParaRPr lang="en-US"/>
        </a:p>
      </dgm:t>
    </dgm:pt>
    <dgm:pt modelId="{33E6532D-93F0-4902-985C-AF286E07510C}" type="sibTrans" cxnId="{F7570D80-4405-4563-868E-9F16A23E7901}">
      <dgm:prSet/>
      <dgm:spPr/>
      <dgm:t>
        <a:bodyPr/>
        <a:lstStyle/>
        <a:p>
          <a:endParaRPr lang="en-US"/>
        </a:p>
      </dgm:t>
    </dgm:pt>
    <dgm:pt modelId="{497FEB9C-1F6E-4039-AFF9-8A8D025721CA}" type="pres">
      <dgm:prSet presAssocID="{D2F1C953-683D-4088-B683-ED0026710479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523900B-3BC9-411A-BCB4-D4352CC3F35B}" type="pres">
      <dgm:prSet presAssocID="{3F00EE7C-C6BF-4788-B495-EBC2D1355610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7E1B99-B19A-4C3E-8DE0-9CB2FBB8C7BB}" type="pres">
      <dgm:prSet presAssocID="{4351AA6A-6588-437F-9EF1-00B7587CD630}" presName="sibTrans" presStyleLbl="sibTrans2D1" presStyleIdx="0" presStyleCnt="5"/>
      <dgm:spPr/>
      <dgm:t>
        <a:bodyPr/>
        <a:lstStyle/>
        <a:p>
          <a:endParaRPr lang="en-US"/>
        </a:p>
      </dgm:t>
    </dgm:pt>
    <dgm:pt modelId="{962808C7-709D-402E-A89E-13878BD580BB}" type="pres">
      <dgm:prSet presAssocID="{4351AA6A-6588-437F-9EF1-00B7587CD630}" presName="connectorText" presStyleLbl="sibTrans2D1" presStyleIdx="0" presStyleCnt="5"/>
      <dgm:spPr/>
      <dgm:t>
        <a:bodyPr/>
        <a:lstStyle/>
        <a:p>
          <a:endParaRPr lang="en-US"/>
        </a:p>
      </dgm:t>
    </dgm:pt>
    <dgm:pt modelId="{86405B2D-B58C-4655-B231-296ECA2450B6}" type="pres">
      <dgm:prSet presAssocID="{BDDA0868-A651-4628-AB31-E7599A9965E7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3D2E0CE-9118-435C-87FD-550896A6B06B}" type="pres">
      <dgm:prSet presAssocID="{103F1819-1CB4-4050-9CD4-DC116FD69E7E}" presName="sibTrans" presStyleLbl="sibTrans2D1" presStyleIdx="1" presStyleCnt="5"/>
      <dgm:spPr/>
      <dgm:t>
        <a:bodyPr/>
        <a:lstStyle/>
        <a:p>
          <a:endParaRPr lang="en-US"/>
        </a:p>
      </dgm:t>
    </dgm:pt>
    <dgm:pt modelId="{12D5B357-3CEB-4155-9AE0-1960C9583127}" type="pres">
      <dgm:prSet presAssocID="{103F1819-1CB4-4050-9CD4-DC116FD69E7E}" presName="connectorText" presStyleLbl="sibTrans2D1" presStyleIdx="1" presStyleCnt="5"/>
      <dgm:spPr/>
      <dgm:t>
        <a:bodyPr/>
        <a:lstStyle/>
        <a:p>
          <a:endParaRPr lang="en-US"/>
        </a:p>
      </dgm:t>
    </dgm:pt>
    <dgm:pt modelId="{BB703441-137E-4A76-A2D8-4E06EDED0FB3}" type="pres">
      <dgm:prSet presAssocID="{A6A0B341-5910-4101-87F9-FF5B1697CB52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22E680-3FFC-4306-8C17-CD647D2D1482}" type="pres">
      <dgm:prSet presAssocID="{761DD8F7-7F86-4D69-9099-717780D5516F}" presName="sibTrans" presStyleLbl="sibTrans2D1" presStyleIdx="2" presStyleCnt="5"/>
      <dgm:spPr/>
      <dgm:t>
        <a:bodyPr/>
        <a:lstStyle/>
        <a:p>
          <a:endParaRPr lang="en-US"/>
        </a:p>
      </dgm:t>
    </dgm:pt>
    <dgm:pt modelId="{4FC36524-AA7A-430F-875C-FA53F5C6F193}" type="pres">
      <dgm:prSet presAssocID="{761DD8F7-7F86-4D69-9099-717780D5516F}" presName="connectorText" presStyleLbl="sibTrans2D1" presStyleIdx="2" presStyleCnt="5"/>
      <dgm:spPr/>
      <dgm:t>
        <a:bodyPr/>
        <a:lstStyle/>
        <a:p>
          <a:endParaRPr lang="en-US"/>
        </a:p>
      </dgm:t>
    </dgm:pt>
    <dgm:pt modelId="{DE0E4490-5B6B-4DF6-8003-41A40346987B}" type="pres">
      <dgm:prSet presAssocID="{B220CC37-C9F5-4BBD-B2E3-0CD258B6BA5F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D31225-DADC-4704-BF21-50E72B0837E2}" type="pres">
      <dgm:prSet presAssocID="{EF31C52F-CC56-40C5-9F18-B176E12DEEDF}" presName="sibTrans" presStyleLbl="sibTrans2D1" presStyleIdx="3" presStyleCnt="5"/>
      <dgm:spPr/>
      <dgm:t>
        <a:bodyPr/>
        <a:lstStyle/>
        <a:p>
          <a:endParaRPr lang="en-US"/>
        </a:p>
      </dgm:t>
    </dgm:pt>
    <dgm:pt modelId="{DBC1EB23-2485-420A-A20B-7EB22A44C549}" type="pres">
      <dgm:prSet presAssocID="{EF31C52F-CC56-40C5-9F18-B176E12DEEDF}" presName="connectorText" presStyleLbl="sibTrans2D1" presStyleIdx="3" presStyleCnt="5"/>
      <dgm:spPr/>
      <dgm:t>
        <a:bodyPr/>
        <a:lstStyle/>
        <a:p>
          <a:endParaRPr lang="en-US"/>
        </a:p>
      </dgm:t>
    </dgm:pt>
    <dgm:pt modelId="{3473AB72-C731-4197-97DD-DB412536D07B}" type="pres">
      <dgm:prSet presAssocID="{94E70A04-9A22-4031-B248-B5A6171B22FD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B587B91-C2E4-40AC-8B45-43B723A1E6C7}" type="pres">
      <dgm:prSet presAssocID="{33E6532D-93F0-4902-985C-AF286E07510C}" presName="sibTrans" presStyleLbl="sibTrans2D1" presStyleIdx="4" presStyleCnt="5"/>
      <dgm:spPr/>
      <dgm:t>
        <a:bodyPr/>
        <a:lstStyle/>
        <a:p>
          <a:endParaRPr lang="en-US"/>
        </a:p>
      </dgm:t>
    </dgm:pt>
    <dgm:pt modelId="{D8A58FF5-BF02-4C3D-9EF9-BA7F9A8F4613}" type="pres">
      <dgm:prSet presAssocID="{33E6532D-93F0-4902-985C-AF286E07510C}" presName="connectorText" presStyleLbl="sibTrans2D1" presStyleIdx="4" presStyleCnt="5"/>
      <dgm:spPr/>
      <dgm:t>
        <a:bodyPr/>
        <a:lstStyle/>
        <a:p>
          <a:endParaRPr lang="en-US"/>
        </a:p>
      </dgm:t>
    </dgm:pt>
  </dgm:ptLst>
  <dgm:cxnLst>
    <dgm:cxn modelId="{C8372B13-536E-45C7-BE55-70A238CC5EA1}" type="presOf" srcId="{3F00EE7C-C6BF-4788-B495-EBC2D1355610}" destId="{0523900B-3BC9-411A-BCB4-D4352CC3F35B}" srcOrd="0" destOrd="0" presId="urn:microsoft.com/office/officeart/2005/8/layout/cycle2"/>
    <dgm:cxn modelId="{AFFAF5DB-74F8-41F2-BB1D-81B2A9AE8579}" srcId="{D2F1C953-683D-4088-B683-ED0026710479}" destId="{BDDA0868-A651-4628-AB31-E7599A9965E7}" srcOrd="1" destOrd="0" parTransId="{46EE4510-D58B-4B92-8E25-CCCFA2E5974D}" sibTransId="{103F1819-1CB4-4050-9CD4-DC116FD69E7E}"/>
    <dgm:cxn modelId="{214851A6-95D0-4278-90C5-91AD13B42DDF}" type="presOf" srcId="{103F1819-1CB4-4050-9CD4-DC116FD69E7E}" destId="{53D2E0CE-9118-435C-87FD-550896A6B06B}" srcOrd="0" destOrd="0" presId="urn:microsoft.com/office/officeart/2005/8/layout/cycle2"/>
    <dgm:cxn modelId="{0397E886-4D51-4B31-A296-8A9F0570B1FC}" type="presOf" srcId="{4351AA6A-6588-437F-9EF1-00B7587CD630}" destId="{A17E1B99-B19A-4C3E-8DE0-9CB2FBB8C7BB}" srcOrd="0" destOrd="0" presId="urn:microsoft.com/office/officeart/2005/8/layout/cycle2"/>
    <dgm:cxn modelId="{02BB1136-E784-453C-B453-B61987C800AE}" srcId="{D2F1C953-683D-4088-B683-ED0026710479}" destId="{3F00EE7C-C6BF-4788-B495-EBC2D1355610}" srcOrd="0" destOrd="0" parTransId="{0CA1898E-7CCC-4A37-B4A9-27F9058C1944}" sibTransId="{4351AA6A-6588-437F-9EF1-00B7587CD630}"/>
    <dgm:cxn modelId="{750F00FB-98AC-4E39-9590-75185B6D607B}" srcId="{D2F1C953-683D-4088-B683-ED0026710479}" destId="{A6A0B341-5910-4101-87F9-FF5B1697CB52}" srcOrd="2" destOrd="0" parTransId="{1CAB2EE6-E4BD-42EF-8C0D-1FBB84A3A124}" sibTransId="{761DD8F7-7F86-4D69-9099-717780D5516F}"/>
    <dgm:cxn modelId="{0E7E20C7-61AB-4FFE-A8DC-45F214896AA8}" type="presOf" srcId="{B220CC37-C9F5-4BBD-B2E3-0CD258B6BA5F}" destId="{DE0E4490-5B6B-4DF6-8003-41A40346987B}" srcOrd="0" destOrd="0" presId="urn:microsoft.com/office/officeart/2005/8/layout/cycle2"/>
    <dgm:cxn modelId="{6C2AE101-0FEC-4C9F-B68E-F4A8C4404B2F}" type="presOf" srcId="{761DD8F7-7F86-4D69-9099-717780D5516F}" destId="{4FC36524-AA7A-430F-875C-FA53F5C6F193}" srcOrd="1" destOrd="0" presId="urn:microsoft.com/office/officeart/2005/8/layout/cycle2"/>
    <dgm:cxn modelId="{7FBF70EC-7621-456F-B422-2B49DAF18092}" type="presOf" srcId="{A6A0B341-5910-4101-87F9-FF5B1697CB52}" destId="{BB703441-137E-4A76-A2D8-4E06EDED0FB3}" srcOrd="0" destOrd="0" presId="urn:microsoft.com/office/officeart/2005/8/layout/cycle2"/>
    <dgm:cxn modelId="{2C5B1BEE-4E1A-41BC-9861-AA92E73130DE}" type="presOf" srcId="{BDDA0868-A651-4628-AB31-E7599A9965E7}" destId="{86405B2D-B58C-4655-B231-296ECA2450B6}" srcOrd="0" destOrd="0" presId="urn:microsoft.com/office/officeart/2005/8/layout/cycle2"/>
    <dgm:cxn modelId="{9A1FFA74-1A5A-4EFD-AD2E-9C50EE29FBB2}" type="presOf" srcId="{EF31C52F-CC56-40C5-9F18-B176E12DEEDF}" destId="{DBC1EB23-2485-420A-A20B-7EB22A44C549}" srcOrd="1" destOrd="0" presId="urn:microsoft.com/office/officeart/2005/8/layout/cycle2"/>
    <dgm:cxn modelId="{FD260979-83F1-42F2-9EE6-EC2DDE1EBB3D}" type="presOf" srcId="{94E70A04-9A22-4031-B248-B5A6171B22FD}" destId="{3473AB72-C731-4197-97DD-DB412536D07B}" srcOrd="0" destOrd="0" presId="urn:microsoft.com/office/officeart/2005/8/layout/cycle2"/>
    <dgm:cxn modelId="{266D035A-D922-49EB-9A1F-1EA3B7121E11}" type="presOf" srcId="{761DD8F7-7F86-4D69-9099-717780D5516F}" destId="{3D22E680-3FFC-4306-8C17-CD647D2D1482}" srcOrd="0" destOrd="0" presId="urn:microsoft.com/office/officeart/2005/8/layout/cycle2"/>
    <dgm:cxn modelId="{8171910D-DA13-4BCA-86AB-946DFBA87A34}" type="presOf" srcId="{D2F1C953-683D-4088-B683-ED0026710479}" destId="{497FEB9C-1F6E-4039-AFF9-8A8D025721CA}" srcOrd="0" destOrd="0" presId="urn:microsoft.com/office/officeart/2005/8/layout/cycle2"/>
    <dgm:cxn modelId="{1F1969CB-D43E-4438-84C3-D0728218C485}" type="presOf" srcId="{103F1819-1CB4-4050-9CD4-DC116FD69E7E}" destId="{12D5B357-3CEB-4155-9AE0-1960C9583127}" srcOrd="1" destOrd="0" presId="urn:microsoft.com/office/officeart/2005/8/layout/cycle2"/>
    <dgm:cxn modelId="{BC4B8A1D-DD85-4C84-8401-27201C577F86}" type="presOf" srcId="{4351AA6A-6588-437F-9EF1-00B7587CD630}" destId="{962808C7-709D-402E-A89E-13878BD580BB}" srcOrd="1" destOrd="0" presId="urn:microsoft.com/office/officeart/2005/8/layout/cycle2"/>
    <dgm:cxn modelId="{86F65195-938B-47D7-9D59-10A56C710FEF}" type="presOf" srcId="{33E6532D-93F0-4902-985C-AF286E07510C}" destId="{D8A58FF5-BF02-4C3D-9EF9-BA7F9A8F4613}" srcOrd="1" destOrd="0" presId="urn:microsoft.com/office/officeart/2005/8/layout/cycle2"/>
    <dgm:cxn modelId="{0F3B2950-7688-4C8C-8E35-3B145CA791FD}" type="presOf" srcId="{33E6532D-93F0-4902-985C-AF286E07510C}" destId="{1B587B91-C2E4-40AC-8B45-43B723A1E6C7}" srcOrd="0" destOrd="0" presId="urn:microsoft.com/office/officeart/2005/8/layout/cycle2"/>
    <dgm:cxn modelId="{414C510B-1727-4F67-A396-CF06BBDBC53A}" srcId="{D2F1C953-683D-4088-B683-ED0026710479}" destId="{B220CC37-C9F5-4BBD-B2E3-0CD258B6BA5F}" srcOrd="3" destOrd="0" parTransId="{D03F1CA6-853B-48B8-B6F7-106769F54046}" sibTransId="{EF31C52F-CC56-40C5-9F18-B176E12DEEDF}"/>
    <dgm:cxn modelId="{F7570D80-4405-4563-868E-9F16A23E7901}" srcId="{D2F1C953-683D-4088-B683-ED0026710479}" destId="{94E70A04-9A22-4031-B248-B5A6171B22FD}" srcOrd="4" destOrd="0" parTransId="{0C6198C0-BB0B-4356-8494-3F5A15345869}" sibTransId="{33E6532D-93F0-4902-985C-AF286E07510C}"/>
    <dgm:cxn modelId="{FEFCE90D-0C4A-490A-9A70-0D43AF2C6D8B}" type="presOf" srcId="{EF31C52F-CC56-40C5-9F18-B176E12DEEDF}" destId="{6AD31225-DADC-4704-BF21-50E72B0837E2}" srcOrd="0" destOrd="0" presId="urn:microsoft.com/office/officeart/2005/8/layout/cycle2"/>
    <dgm:cxn modelId="{17ADF938-D9CB-407F-AB5C-4B2A7FE23DBD}" type="presParOf" srcId="{497FEB9C-1F6E-4039-AFF9-8A8D025721CA}" destId="{0523900B-3BC9-411A-BCB4-D4352CC3F35B}" srcOrd="0" destOrd="0" presId="urn:microsoft.com/office/officeart/2005/8/layout/cycle2"/>
    <dgm:cxn modelId="{CB16633E-EC80-48DB-884A-B8FBF13C2931}" type="presParOf" srcId="{497FEB9C-1F6E-4039-AFF9-8A8D025721CA}" destId="{A17E1B99-B19A-4C3E-8DE0-9CB2FBB8C7BB}" srcOrd="1" destOrd="0" presId="urn:microsoft.com/office/officeart/2005/8/layout/cycle2"/>
    <dgm:cxn modelId="{BD297706-3DCD-4253-B449-F587BA5AB5BB}" type="presParOf" srcId="{A17E1B99-B19A-4C3E-8DE0-9CB2FBB8C7BB}" destId="{962808C7-709D-402E-A89E-13878BD580BB}" srcOrd="0" destOrd="0" presId="urn:microsoft.com/office/officeart/2005/8/layout/cycle2"/>
    <dgm:cxn modelId="{11A98EE3-8E46-40DA-B11C-557348F25C8F}" type="presParOf" srcId="{497FEB9C-1F6E-4039-AFF9-8A8D025721CA}" destId="{86405B2D-B58C-4655-B231-296ECA2450B6}" srcOrd="2" destOrd="0" presId="urn:microsoft.com/office/officeart/2005/8/layout/cycle2"/>
    <dgm:cxn modelId="{10315EB0-84AA-4B3F-8258-90B4EA442331}" type="presParOf" srcId="{497FEB9C-1F6E-4039-AFF9-8A8D025721CA}" destId="{53D2E0CE-9118-435C-87FD-550896A6B06B}" srcOrd="3" destOrd="0" presId="urn:microsoft.com/office/officeart/2005/8/layout/cycle2"/>
    <dgm:cxn modelId="{FE02B21B-BB1B-4B77-BB11-6970B1E0B30E}" type="presParOf" srcId="{53D2E0CE-9118-435C-87FD-550896A6B06B}" destId="{12D5B357-3CEB-4155-9AE0-1960C9583127}" srcOrd="0" destOrd="0" presId="urn:microsoft.com/office/officeart/2005/8/layout/cycle2"/>
    <dgm:cxn modelId="{6945231D-53A8-403D-BDFC-79CC89AF726A}" type="presParOf" srcId="{497FEB9C-1F6E-4039-AFF9-8A8D025721CA}" destId="{BB703441-137E-4A76-A2D8-4E06EDED0FB3}" srcOrd="4" destOrd="0" presId="urn:microsoft.com/office/officeart/2005/8/layout/cycle2"/>
    <dgm:cxn modelId="{98B630E4-528D-4131-B2A5-9A16677DC600}" type="presParOf" srcId="{497FEB9C-1F6E-4039-AFF9-8A8D025721CA}" destId="{3D22E680-3FFC-4306-8C17-CD647D2D1482}" srcOrd="5" destOrd="0" presId="urn:microsoft.com/office/officeart/2005/8/layout/cycle2"/>
    <dgm:cxn modelId="{F59D8DC8-BF8B-442D-A06C-9A7DB073DBB2}" type="presParOf" srcId="{3D22E680-3FFC-4306-8C17-CD647D2D1482}" destId="{4FC36524-AA7A-430F-875C-FA53F5C6F193}" srcOrd="0" destOrd="0" presId="urn:microsoft.com/office/officeart/2005/8/layout/cycle2"/>
    <dgm:cxn modelId="{86E952A6-6D6C-4D59-9ED6-FF83A4628C16}" type="presParOf" srcId="{497FEB9C-1F6E-4039-AFF9-8A8D025721CA}" destId="{DE0E4490-5B6B-4DF6-8003-41A40346987B}" srcOrd="6" destOrd="0" presId="urn:microsoft.com/office/officeart/2005/8/layout/cycle2"/>
    <dgm:cxn modelId="{A86D32C0-7B40-480A-BBFA-18ECF2FDDD24}" type="presParOf" srcId="{497FEB9C-1F6E-4039-AFF9-8A8D025721CA}" destId="{6AD31225-DADC-4704-BF21-50E72B0837E2}" srcOrd="7" destOrd="0" presId="urn:microsoft.com/office/officeart/2005/8/layout/cycle2"/>
    <dgm:cxn modelId="{4AFEE8A7-6B46-4F0A-B6CD-8CF64A3D10F4}" type="presParOf" srcId="{6AD31225-DADC-4704-BF21-50E72B0837E2}" destId="{DBC1EB23-2485-420A-A20B-7EB22A44C549}" srcOrd="0" destOrd="0" presId="urn:microsoft.com/office/officeart/2005/8/layout/cycle2"/>
    <dgm:cxn modelId="{112ADAC4-D962-4B15-AC6E-EADE904F693C}" type="presParOf" srcId="{497FEB9C-1F6E-4039-AFF9-8A8D025721CA}" destId="{3473AB72-C731-4197-97DD-DB412536D07B}" srcOrd="8" destOrd="0" presId="urn:microsoft.com/office/officeart/2005/8/layout/cycle2"/>
    <dgm:cxn modelId="{C3DE2AA1-61CB-430B-9B54-6EE46D1D4E1A}" type="presParOf" srcId="{497FEB9C-1F6E-4039-AFF9-8A8D025721CA}" destId="{1B587B91-C2E4-40AC-8B45-43B723A1E6C7}" srcOrd="9" destOrd="0" presId="urn:microsoft.com/office/officeart/2005/8/layout/cycle2"/>
    <dgm:cxn modelId="{AA3D50D5-315F-4741-BCDD-F6F9F8915C58}" type="presParOf" srcId="{1B587B91-C2E4-40AC-8B45-43B723A1E6C7}" destId="{D8A58FF5-BF02-4C3D-9EF9-BA7F9A8F4613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040E5C4-FC0F-4D0C-B085-E5BD63E46C39}" type="doc">
      <dgm:prSet loTypeId="urn:microsoft.com/office/officeart/2005/8/layout/hierarchy2" loCatId="hierarchy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E35D43F-75DA-4C1D-B18E-0A2B36E11905}">
      <dgm:prSet phldrT="[Text]"/>
      <dgm:spPr/>
      <dgm:t>
        <a:bodyPr/>
        <a:lstStyle/>
        <a:p>
          <a:r>
            <a:rPr lang="en-US" dirty="0" smtClean="0"/>
            <a:t>BOD</a:t>
          </a:r>
          <a:endParaRPr lang="en-US" dirty="0"/>
        </a:p>
      </dgm:t>
    </dgm:pt>
    <dgm:pt modelId="{2D240DE1-5A60-4537-9A30-C41684A0F833}" type="parTrans" cxnId="{C476608C-BA9C-4D3C-8020-A196D948C1F5}">
      <dgm:prSet/>
      <dgm:spPr/>
      <dgm:t>
        <a:bodyPr/>
        <a:lstStyle/>
        <a:p>
          <a:endParaRPr lang="en-US"/>
        </a:p>
      </dgm:t>
    </dgm:pt>
    <dgm:pt modelId="{5CABC33F-7F29-4496-B917-AE7B0FD239BD}" type="sibTrans" cxnId="{C476608C-BA9C-4D3C-8020-A196D948C1F5}">
      <dgm:prSet/>
      <dgm:spPr/>
      <dgm:t>
        <a:bodyPr/>
        <a:lstStyle/>
        <a:p>
          <a:endParaRPr lang="en-US"/>
        </a:p>
      </dgm:t>
    </dgm:pt>
    <dgm:pt modelId="{F6D6D062-0F29-43D9-A253-0507B9B54260}">
      <dgm:prSet phldrT="[Text]"/>
      <dgm:spPr/>
      <dgm:t>
        <a:bodyPr/>
        <a:lstStyle/>
        <a:p>
          <a:r>
            <a:rPr lang="en-US" dirty="0" smtClean="0"/>
            <a:t>Program</a:t>
          </a:r>
        </a:p>
        <a:p>
          <a:r>
            <a:rPr lang="en-US" dirty="0" smtClean="0"/>
            <a:t>Steering Committee</a:t>
          </a:r>
          <a:endParaRPr lang="en-US" dirty="0"/>
        </a:p>
      </dgm:t>
    </dgm:pt>
    <dgm:pt modelId="{E517D0C8-4150-4615-8887-6A0CD7D31349}" type="parTrans" cxnId="{97DD3BEE-D1FF-4A67-A68F-A65A73ACFFF1}">
      <dgm:prSet/>
      <dgm:spPr/>
      <dgm:t>
        <a:bodyPr/>
        <a:lstStyle/>
        <a:p>
          <a:endParaRPr lang="en-US"/>
        </a:p>
      </dgm:t>
    </dgm:pt>
    <dgm:pt modelId="{D0F5D919-0993-4643-A0DB-E2BA4D5A73F4}" type="sibTrans" cxnId="{97DD3BEE-D1FF-4A67-A68F-A65A73ACFFF1}">
      <dgm:prSet/>
      <dgm:spPr/>
      <dgm:t>
        <a:bodyPr/>
        <a:lstStyle/>
        <a:p>
          <a:endParaRPr lang="en-US"/>
        </a:p>
      </dgm:t>
    </dgm:pt>
    <dgm:pt modelId="{87C26E61-7C43-4524-969A-B9D6B39E873C}">
      <dgm:prSet phldrT="[Text]"/>
      <dgm:spPr/>
      <dgm:t>
        <a:bodyPr/>
        <a:lstStyle/>
        <a:p>
          <a:r>
            <a:rPr lang="en-US" dirty="0" smtClean="0"/>
            <a:t>Program</a:t>
          </a:r>
        </a:p>
        <a:p>
          <a:r>
            <a:rPr lang="en-US" dirty="0" smtClean="0"/>
            <a:t>Director</a:t>
          </a:r>
          <a:endParaRPr lang="en-US" dirty="0"/>
        </a:p>
      </dgm:t>
    </dgm:pt>
    <dgm:pt modelId="{E399F8D2-F1BA-442F-8EEA-C8CE06BB4545}" type="parTrans" cxnId="{4B5DC15A-F6BF-44F3-AA69-A8E53F50D8B8}">
      <dgm:prSet/>
      <dgm:spPr/>
      <dgm:t>
        <a:bodyPr/>
        <a:lstStyle/>
        <a:p>
          <a:endParaRPr lang="en-US"/>
        </a:p>
      </dgm:t>
    </dgm:pt>
    <dgm:pt modelId="{C4331C3B-8CCA-45DA-85B7-8624F36FE703}" type="sibTrans" cxnId="{4B5DC15A-F6BF-44F3-AA69-A8E53F50D8B8}">
      <dgm:prSet/>
      <dgm:spPr/>
      <dgm:t>
        <a:bodyPr/>
        <a:lstStyle/>
        <a:p>
          <a:endParaRPr lang="en-US"/>
        </a:p>
      </dgm:t>
    </dgm:pt>
    <dgm:pt modelId="{312713A3-9FC9-4430-A5B9-DDFD3D77C9B9}" type="pres">
      <dgm:prSet presAssocID="{B040E5C4-FC0F-4D0C-B085-E5BD63E46C39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D405BD8-4CAC-4A85-8136-A7B714B8B44F}" type="pres">
      <dgm:prSet presAssocID="{EE35D43F-75DA-4C1D-B18E-0A2B36E11905}" presName="root1" presStyleCnt="0"/>
      <dgm:spPr/>
    </dgm:pt>
    <dgm:pt modelId="{5B588B2C-778A-4A6C-99ED-675214BD35D9}" type="pres">
      <dgm:prSet presAssocID="{EE35D43F-75DA-4C1D-B18E-0A2B36E11905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1B9CA6D-C738-4D8C-B9B5-CE4BA2B80D25}" type="pres">
      <dgm:prSet presAssocID="{EE35D43F-75DA-4C1D-B18E-0A2B36E11905}" presName="level2hierChild" presStyleCnt="0"/>
      <dgm:spPr/>
    </dgm:pt>
    <dgm:pt modelId="{99221A49-23D2-46C3-8C8A-FB00E4F562BD}" type="pres">
      <dgm:prSet presAssocID="{E517D0C8-4150-4615-8887-6A0CD7D31349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00B906A1-C230-4C7F-87C3-1BBBEDCFFADF}" type="pres">
      <dgm:prSet presAssocID="{E517D0C8-4150-4615-8887-6A0CD7D31349}" presName="connTx" presStyleLbl="parChTrans1D2" presStyleIdx="0" presStyleCnt="2"/>
      <dgm:spPr/>
      <dgm:t>
        <a:bodyPr/>
        <a:lstStyle/>
        <a:p>
          <a:endParaRPr lang="en-US"/>
        </a:p>
      </dgm:t>
    </dgm:pt>
    <dgm:pt modelId="{CA1923FC-CEC8-45A2-A2D1-C8E64F5B18BF}" type="pres">
      <dgm:prSet presAssocID="{F6D6D062-0F29-43D9-A253-0507B9B54260}" presName="root2" presStyleCnt="0"/>
      <dgm:spPr/>
    </dgm:pt>
    <dgm:pt modelId="{9D95555D-5936-4E8D-ACCB-27506019A7EE}" type="pres">
      <dgm:prSet presAssocID="{F6D6D062-0F29-43D9-A253-0507B9B54260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A122DA3-9E02-4995-A51F-037FD4C01B98}" type="pres">
      <dgm:prSet presAssocID="{F6D6D062-0F29-43D9-A253-0507B9B54260}" presName="level3hierChild" presStyleCnt="0"/>
      <dgm:spPr/>
    </dgm:pt>
    <dgm:pt modelId="{EDF96D6C-5518-4FC8-9121-428AD6D5675C}" type="pres">
      <dgm:prSet presAssocID="{E399F8D2-F1BA-442F-8EEA-C8CE06BB4545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42B6EB2E-4BDA-4467-A06D-099A8A52351F}" type="pres">
      <dgm:prSet presAssocID="{E399F8D2-F1BA-442F-8EEA-C8CE06BB4545}" presName="connTx" presStyleLbl="parChTrans1D2" presStyleIdx="1" presStyleCnt="2"/>
      <dgm:spPr/>
      <dgm:t>
        <a:bodyPr/>
        <a:lstStyle/>
        <a:p>
          <a:endParaRPr lang="en-US"/>
        </a:p>
      </dgm:t>
    </dgm:pt>
    <dgm:pt modelId="{FDD2A712-0D9E-4B6C-8BE6-93597BCF349B}" type="pres">
      <dgm:prSet presAssocID="{87C26E61-7C43-4524-969A-B9D6B39E873C}" presName="root2" presStyleCnt="0"/>
      <dgm:spPr/>
    </dgm:pt>
    <dgm:pt modelId="{A224596F-4C82-45EE-B45F-A7CF519EA4A8}" type="pres">
      <dgm:prSet presAssocID="{87C26E61-7C43-4524-969A-B9D6B39E873C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CDE09AA-A28B-4F76-A741-B7DAC5CDB719}" type="pres">
      <dgm:prSet presAssocID="{87C26E61-7C43-4524-969A-B9D6B39E873C}" presName="level3hierChild" presStyleCnt="0"/>
      <dgm:spPr/>
    </dgm:pt>
  </dgm:ptLst>
  <dgm:cxnLst>
    <dgm:cxn modelId="{FA2DF9CC-5C3C-4FF3-A312-BFDE401D59FF}" type="presOf" srcId="{EE35D43F-75DA-4C1D-B18E-0A2B36E11905}" destId="{5B588B2C-778A-4A6C-99ED-675214BD35D9}" srcOrd="0" destOrd="0" presId="urn:microsoft.com/office/officeart/2005/8/layout/hierarchy2"/>
    <dgm:cxn modelId="{05A8D53C-1DBD-4886-A874-35EF79E975BB}" type="presOf" srcId="{B040E5C4-FC0F-4D0C-B085-E5BD63E46C39}" destId="{312713A3-9FC9-4430-A5B9-DDFD3D77C9B9}" srcOrd="0" destOrd="0" presId="urn:microsoft.com/office/officeart/2005/8/layout/hierarchy2"/>
    <dgm:cxn modelId="{C476608C-BA9C-4D3C-8020-A196D948C1F5}" srcId="{B040E5C4-FC0F-4D0C-B085-E5BD63E46C39}" destId="{EE35D43F-75DA-4C1D-B18E-0A2B36E11905}" srcOrd="0" destOrd="0" parTransId="{2D240DE1-5A60-4537-9A30-C41684A0F833}" sibTransId="{5CABC33F-7F29-4496-B917-AE7B0FD239BD}"/>
    <dgm:cxn modelId="{075419DF-00BF-4CD5-9C19-DA5ECD4DCAB5}" type="presOf" srcId="{E517D0C8-4150-4615-8887-6A0CD7D31349}" destId="{99221A49-23D2-46C3-8C8A-FB00E4F562BD}" srcOrd="0" destOrd="0" presId="urn:microsoft.com/office/officeart/2005/8/layout/hierarchy2"/>
    <dgm:cxn modelId="{97DD3BEE-D1FF-4A67-A68F-A65A73ACFFF1}" srcId="{EE35D43F-75DA-4C1D-B18E-0A2B36E11905}" destId="{F6D6D062-0F29-43D9-A253-0507B9B54260}" srcOrd="0" destOrd="0" parTransId="{E517D0C8-4150-4615-8887-6A0CD7D31349}" sibTransId="{D0F5D919-0993-4643-A0DB-E2BA4D5A73F4}"/>
    <dgm:cxn modelId="{E4B90617-4967-4D2D-8D15-F2E8926E1400}" type="presOf" srcId="{E517D0C8-4150-4615-8887-6A0CD7D31349}" destId="{00B906A1-C230-4C7F-87C3-1BBBEDCFFADF}" srcOrd="1" destOrd="0" presId="urn:microsoft.com/office/officeart/2005/8/layout/hierarchy2"/>
    <dgm:cxn modelId="{2145427A-18D9-4E3F-BA8C-BA24F9947379}" type="presOf" srcId="{E399F8D2-F1BA-442F-8EEA-C8CE06BB4545}" destId="{42B6EB2E-4BDA-4467-A06D-099A8A52351F}" srcOrd="1" destOrd="0" presId="urn:microsoft.com/office/officeart/2005/8/layout/hierarchy2"/>
    <dgm:cxn modelId="{4B5DC15A-F6BF-44F3-AA69-A8E53F50D8B8}" srcId="{EE35D43F-75DA-4C1D-B18E-0A2B36E11905}" destId="{87C26E61-7C43-4524-969A-B9D6B39E873C}" srcOrd="1" destOrd="0" parTransId="{E399F8D2-F1BA-442F-8EEA-C8CE06BB4545}" sibTransId="{C4331C3B-8CCA-45DA-85B7-8624F36FE703}"/>
    <dgm:cxn modelId="{4EB1FB09-51D0-4D44-AEC4-C1DC0539067E}" type="presOf" srcId="{87C26E61-7C43-4524-969A-B9D6B39E873C}" destId="{A224596F-4C82-45EE-B45F-A7CF519EA4A8}" srcOrd="0" destOrd="0" presId="urn:microsoft.com/office/officeart/2005/8/layout/hierarchy2"/>
    <dgm:cxn modelId="{40A36593-A284-4FAA-BDA3-24D1D1477521}" type="presOf" srcId="{F6D6D062-0F29-43D9-A253-0507B9B54260}" destId="{9D95555D-5936-4E8D-ACCB-27506019A7EE}" srcOrd="0" destOrd="0" presId="urn:microsoft.com/office/officeart/2005/8/layout/hierarchy2"/>
    <dgm:cxn modelId="{3271E216-EA93-40FB-BC7D-93FBE6121EF2}" type="presOf" srcId="{E399F8D2-F1BA-442F-8EEA-C8CE06BB4545}" destId="{EDF96D6C-5518-4FC8-9121-428AD6D5675C}" srcOrd="0" destOrd="0" presId="urn:microsoft.com/office/officeart/2005/8/layout/hierarchy2"/>
    <dgm:cxn modelId="{1F90A4A0-AE27-4D61-8A05-F97B2B7DBF15}" type="presParOf" srcId="{312713A3-9FC9-4430-A5B9-DDFD3D77C9B9}" destId="{FD405BD8-4CAC-4A85-8136-A7B714B8B44F}" srcOrd="0" destOrd="0" presId="urn:microsoft.com/office/officeart/2005/8/layout/hierarchy2"/>
    <dgm:cxn modelId="{620BE35C-F70F-4ECA-A145-92B1DBA88055}" type="presParOf" srcId="{FD405BD8-4CAC-4A85-8136-A7B714B8B44F}" destId="{5B588B2C-778A-4A6C-99ED-675214BD35D9}" srcOrd="0" destOrd="0" presId="urn:microsoft.com/office/officeart/2005/8/layout/hierarchy2"/>
    <dgm:cxn modelId="{90AFC7A9-F0A8-4B64-83AE-F91F2948E443}" type="presParOf" srcId="{FD405BD8-4CAC-4A85-8136-A7B714B8B44F}" destId="{61B9CA6D-C738-4D8C-B9B5-CE4BA2B80D25}" srcOrd="1" destOrd="0" presId="urn:microsoft.com/office/officeart/2005/8/layout/hierarchy2"/>
    <dgm:cxn modelId="{C389EEAD-11AE-4F38-B22B-5FA5B09FFFD2}" type="presParOf" srcId="{61B9CA6D-C738-4D8C-B9B5-CE4BA2B80D25}" destId="{99221A49-23D2-46C3-8C8A-FB00E4F562BD}" srcOrd="0" destOrd="0" presId="urn:microsoft.com/office/officeart/2005/8/layout/hierarchy2"/>
    <dgm:cxn modelId="{3F7C3D3A-0DEB-4F0F-B3E6-876B5291C23C}" type="presParOf" srcId="{99221A49-23D2-46C3-8C8A-FB00E4F562BD}" destId="{00B906A1-C230-4C7F-87C3-1BBBEDCFFADF}" srcOrd="0" destOrd="0" presId="urn:microsoft.com/office/officeart/2005/8/layout/hierarchy2"/>
    <dgm:cxn modelId="{198DCE24-5D30-4A6A-B146-E155F6E5718C}" type="presParOf" srcId="{61B9CA6D-C738-4D8C-B9B5-CE4BA2B80D25}" destId="{CA1923FC-CEC8-45A2-A2D1-C8E64F5B18BF}" srcOrd="1" destOrd="0" presId="urn:microsoft.com/office/officeart/2005/8/layout/hierarchy2"/>
    <dgm:cxn modelId="{036F45DA-CDBF-4103-A4E4-7F4B727EBB03}" type="presParOf" srcId="{CA1923FC-CEC8-45A2-A2D1-C8E64F5B18BF}" destId="{9D95555D-5936-4E8D-ACCB-27506019A7EE}" srcOrd="0" destOrd="0" presId="urn:microsoft.com/office/officeart/2005/8/layout/hierarchy2"/>
    <dgm:cxn modelId="{A78D4340-B9FA-4A87-808B-4D1A2A9BADAF}" type="presParOf" srcId="{CA1923FC-CEC8-45A2-A2D1-C8E64F5B18BF}" destId="{BA122DA3-9E02-4995-A51F-037FD4C01B98}" srcOrd="1" destOrd="0" presId="urn:microsoft.com/office/officeart/2005/8/layout/hierarchy2"/>
    <dgm:cxn modelId="{FD034BC1-3E9B-4352-AB29-F1F337C9C840}" type="presParOf" srcId="{61B9CA6D-C738-4D8C-B9B5-CE4BA2B80D25}" destId="{EDF96D6C-5518-4FC8-9121-428AD6D5675C}" srcOrd="2" destOrd="0" presId="urn:microsoft.com/office/officeart/2005/8/layout/hierarchy2"/>
    <dgm:cxn modelId="{AC6D1F56-42C1-4181-88F0-6FAD8340597D}" type="presParOf" srcId="{EDF96D6C-5518-4FC8-9121-428AD6D5675C}" destId="{42B6EB2E-4BDA-4467-A06D-099A8A52351F}" srcOrd="0" destOrd="0" presId="urn:microsoft.com/office/officeart/2005/8/layout/hierarchy2"/>
    <dgm:cxn modelId="{E74AB8AF-FC74-4C32-81D2-6B9EA1650B71}" type="presParOf" srcId="{61B9CA6D-C738-4D8C-B9B5-CE4BA2B80D25}" destId="{FDD2A712-0D9E-4B6C-8BE6-93597BCF349B}" srcOrd="3" destOrd="0" presId="urn:microsoft.com/office/officeart/2005/8/layout/hierarchy2"/>
    <dgm:cxn modelId="{D3B21E0E-9D76-473A-9B14-490F8E856376}" type="presParOf" srcId="{FDD2A712-0D9E-4B6C-8BE6-93597BCF349B}" destId="{A224596F-4C82-45EE-B45F-A7CF519EA4A8}" srcOrd="0" destOrd="0" presId="urn:microsoft.com/office/officeart/2005/8/layout/hierarchy2"/>
    <dgm:cxn modelId="{3BDCCFAE-81F8-42EE-8CFF-838054A86A50}" type="presParOf" srcId="{FDD2A712-0D9E-4B6C-8BE6-93597BCF349B}" destId="{0CDE09AA-A28B-4F76-A741-B7DAC5CDB71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523900B-3BC9-411A-BCB4-D4352CC3F35B}">
      <dsp:nvSpPr>
        <dsp:cNvPr id="0" name=""/>
        <dsp:cNvSpPr/>
      </dsp:nvSpPr>
      <dsp:spPr>
        <a:xfrm>
          <a:off x="2875452" y="642"/>
          <a:ext cx="1488095" cy="1488095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Understand customer needs</a:t>
          </a:r>
          <a:endParaRPr lang="en-US" sz="1400" kern="1200" dirty="0"/>
        </a:p>
      </dsp:txBody>
      <dsp:txXfrm>
        <a:off x="2875452" y="642"/>
        <a:ext cx="1488095" cy="1488095"/>
      </dsp:txXfrm>
    </dsp:sp>
    <dsp:sp modelId="{A17E1B99-B19A-4C3E-8DE0-9CB2FBB8C7BB}">
      <dsp:nvSpPr>
        <dsp:cNvPr id="0" name=""/>
        <dsp:cNvSpPr/>
      </dsp:nvSpPr>
      <dsp:spPr>
        <a:xfrm rot="2160000">
          <a:off x="4316492" y="1143636"/>
          <a:ext cx="395483" cy="5022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100" kern="1200"/>
        </a:p>
      </dsp:txBody>
      <dsp:txXfrm rot="2160000">
        <a:off x="4316492" y="1143636"/>
        <a:ext cx="395483" cy="502232"/>
      </dsp:txXfrm>
    </dsp:sp>
    <dsp:sp modelId="{86405B2D-B58C-4655-B231-296ECA2450B6}">
      <dsp:nvSpPr>
        <dsp:cNvPr id="0" name=""/>
        <dsp:cNvSpPr/>
      </dsp:nvSpPr>
      <dsp:spPr>
        <a:xfrm>
          <a:off x="4683031" y="1313925"/>
          <a:ext cx="1488095" cy="1488095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Identify Opportunities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(Prioritize)</a:t>
          </a:r>
          <a:endParaRPr lang="en-US" sz="1400" kern="1200" dirty="0"/>
        </a:p>
      </dsp:txBody>
      <dsp:txXfrm>
        <a:off x="4683031" y="1313925"/>
        <a:ext cx="1488095" cy="1488095"/>
      </dsp:txXfrm>
    </dsp:sp>
    <dsp:sp modelId="{53D2E0CE-9118-435C-87FD-550896A6B06B}">
      <dsp:nvSpPr>
        <dsp:cNvPr id="0" name=""/>
        <dsp:cNvSpPr/>
      </dsp:nvSpPr>
      <dsp:spPr>
        <a:xfrm rot="6480000">
          <a:off x="4887579" y="2858680"/>
          <a:ext cx="395483" cy="5022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100" kern="1200"/>
        </a:p>
      </dsp:txBody>
      <dsp:txXfrm rot="6480000">
        <a:off x="4887579" y="2858680"/>
        <a:ext cx="395483" cy="502232"/>
      </dsp:txXfrm>
    </dsp:sp>
    <dsp:sp modelId="{BB703441-137E-4A76-A2D8-4E06EDED0FB3}">
      <dsp:nvSpPr>
        <dsp:cNvPr id="0" name=""/>
        <dsp:cNvSpPr/>
      </dsp:nvSpPr>
      <dsp:spPr>
        <a:xfrm>
          <a:off x="3992597" y="3438862"/>
          <a:ext cx="1488095" cy="1488095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Generate ideas</a:t>
          </a:r>
        </a:p>
      </dsp:txBody>
      <dsp:txXfrm>
        <a:off x="3992597" y="3438862"/>
        <a:ext cx="1488095" cy="1488095"/>
      </dsp:txXfrm>
    </dsp:sp>
    <dsp:sp modelId="{3D22E680-3FFC-4306-8C17-CD647D2D1482}">
      <dsp:nvSpPr>
        <dsp:cNvPr id="0" name=""/>
        <dsp:cNvSpPr/>
      </dsp:nvSpPr>
      <dsp:spPr>
        <a:xfrm rot="10800000">
          <a:off x="3432951" y="3931793"/>
          <a:ext cx="395483" cy="5022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100" kern="1200"/>
        </a:p>
      </dsp:txBody>
      <dsp:txXfrm rot="10800000">
        <a:off x="3432951" y="3931793"/>
        <a:ext cx="395483" cy="502232"/>
      </dsp:txXfrm>
    </dsp:sp>
    <dsp:sp modelId="{DE0E4490-5B6B-4DF6-8003-41A40346987B}">
      <dsp:nvSpPr>
        <dsp:cNvPr id="0" name=""/>
        <dsp:cNvSpPr/>
      </dsp:nvSpPr>
      <dsp:spPr>
        <a:xfrm>
          <a:off x="1758307" y="3438862"/>
          <a:ext cx="1488095" cy="1488095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Create new products &amp; services</a:t>
          </a:r>
          <a:endParaRPr lang="en-US" sz="1400" kern="1200" dirty="0"/>
        </a:p>
      </dsp:txBody>
      <dsp:txXfrm>
        <a:off x="1758307" y="3438862"/>
        <a:ext cx="1488095" cy="1488095"/>
      </dsp:txXfrm>
    </dsp:sp>
    <dsp:sp modelId="{6AD31225-DADC-4704-BF21-50E72B0837E2}">
      <dsp:nvSpPr>
        <dsp:cNvPr id="0" name=""/>
        <dsp:cNvSpPr/>
      </dsp:nvSpPr>
      <dsp:spPr>
        <a:xfrm rot="15120000">
          <a:off x="1962854" y="2879970"/>
          <a:ext cx="395483" cy="5022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100" kern="1200"/>
        </a:p>
      </dsp:txBody>
      <dsp:txXfrm rot="15120000">
        <a:off x="1962854" y="2879970"/>
        <a:ext cx="395483" cy="502232"/>
      </dsp:txXfrm>
    </dsp:sp>
    <dsp:sp modelId="{3473AB72-C731-4197-97DD-DB412536D07B}">
      <dsp:nvSpPr>
        <dsp:cNvPr id="0" name=""/>
        <dsp:cNvSpPr/>
      </dsp:nvSpPr>
      <dsp:spPr>
        <a:xfrm>
          <a:off x="1067873" y="1313925"/>
          <a:ext cx="1488095" cy="1488095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Deliver new value to customers</a:t>
          </a:r>
          <a:endParaRPr lang="en-US" sz="1400" kern="1200" dirty="0"/>
        </a:p>
      </dsp:txBody>
      <dsp:txXfrm>
        <a:off x="1067873" y="1313925"/>
        <a:ext cx="1488095" cy="1488095"/>
      </dsp:txXfrm>
    </dsp:sp>
    <dsp:sp modelId="{1B587B91-C2E4-40AC-8B45-43B723A1E6C7}">
      <dsp:nvSpPr>
        <dsp:cNvPr id="0" name=""/>
        <dsp:cNvSpPr/>
      </dsp:nvSpPr>
      <dsp:spPr>
        <a:xfrm rot="19440000">
          <a:off x="2508913" y="1156794"/>
          <a:ext cx="395483" cy="5022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100" kern="1200"/>
        </a:p>
      </dsp:txBody>
      <dsp:txXfrm rot="19440000">
        <a:off x="2508913" y="1156794"/>
        <a:ext cx="395483" cy="502232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B588B2C-778A-4A6C-99ED-675214BD35D9}">
      <dsp:nvSpPr>
        <dsp:cNvPr id="0" name=""/>
        <dsp:cNvSpPr/>
      </dsp:nvSpPr>
      <dsp:spPr>
        <a:xfrm>
          <a:off x="3452" y="1273894"/>
          <a:ext cx="2981622" cy="14908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BOD</a:t>
          </a:r>
          <a:endParaRPr lang="en-US" sz="2800" kern="1200" dirty="0"/>
        </a:p>
      </dsp:txBody>
      <dsp:txXfrm>
        <a:off x="3452" y="1273894"/>
        <a:ext cx="2981622" cy="1490811"/>
      </dsp:txXfrm>
    </dsp:sp>
    <dsp:sp modelId="{99221A49-23D2-46C3-8C8A-FB00E4F562BD}">
      <dsp:nvSpPr>
        <dsp:cNvPr id="0" name=""/>
        <dsp:cNvSpPr/>
      </dsp:nvSpPr>
      <dsp:spPr>
        <a:xfrm rot="19457599">
          <a:off x="2847024" y="1557469"/>
          <a:ext cx="1468751" cy="66445"/>
        </a:xfrm>
        <a:custGeom>
          <a:avLst/>
          <a:gdLst/>
          <a:ahLst/>
          <a:cxnLst/>
          <a:rect l="0" t="0" r="0" b="0"/>
          <a:pathLst>
            <a:path>
              <a:moveTo>
                <a:pt x="0" y="33222"/>
              </a:moveTo>
              <a:lnTo>
                <a:pt x="1468751" y="3322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9457599">
        <a:off x="3544681" y="1553972"/>
        <a:ext cx="73437" cy="73437"/>
      </dsp:txXfrm>
    </dsp:sp>
    <dsp:sp modelId="{9D95555D-5936-4E8D-ACCB-27506019A7EE}">
      <dsp:nvSpPr>
        <dsp:cNvPr id="0" name=""/>
        <dsp:cNvSpPr/>
      </dsp:nvSpPr>
      <dsp:spPr>
        <a:xfrm>
          <a:off x="4177724" y="416677"/>
          <a:ext cx="2981622" cy="14908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Program</a:t>
          </a:r>
        </a:p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Steering Committee</a:t>
          </a:r>
          <a:endParaRPr lang="en-US" sz="2800" kern="1200" dirty="0"/>
        </a:p>
      </dsp:txBody>
      <dsp:txXfrm>
        <a:off x="4177724" y="416677"/>
        <a:ext cx="2981622" cy="1490811"/>
      </dsp:txXfrm>
    </dsp:sp>
    <dsp:sp modelId="{EDF96D6C-5518-4FC8-9121-428AD6D5675C}">
      <dsp:nvSpPr>
        <dsp:cNvPr id="0" name=""/>
        <dsp:cNvSpPr/>
      </dsp:nvSpPr>
      <dsp:spPr>
        <a:xfrm rot="2142401">
          <a:off x="2847024" y="2414685"/>
          <a:ext cx="1468751" cy="66445"/>
        </a:xfrm>
        <a:custGeom>
          <a:avLst/>
          <a:gdLst/>
          <a:ahLst/>
          <a:cxnLst/>
          <a:rect l="0" t="0" r="0" b="0"/>
          <a:pathLst>
            <a:path>
              <a:moveTo>
                <a:pt x="0" y="33222"/>
              </a:moveTo>
              <a:lnTo>
                <a:pt x="1468751" y="3322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2142401">
        <a:off x="3544681" y="2411189"/>
        <a:ext cx="73437" cy="73437"/>
      </dsp:txXfrm>
    </dsp:sp>
    <dsp:sp modelId="{A224596F-4C82-45EE-B45F-A7CF519EA4A8}">
      <dsp:nvSpPr>
        <dsp:cNvPr id="0" name=""/>
        <dsp:cNvSpPr/>
      </dsp:nvSpPr>
      <dsp:spPr>
        <a:xfrm>
          <a:off x="4177724" y="2131110"/>
          <a:ext cx="2981622" cy="14908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Program</a:t>
          </a:r>
        </a:p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Director</a:t>
          </a:r>
          <a:endParaRPr lang="en-US" sz="2800" kern="1200" dirty="0"/>
        </a:p>
      </dsp:txBody>
      <dsp:txXfrm>
        <a:off x="4177724" y="2131110"/>
        <a:ext cx="2981622" cy="14908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0DB8C4-3BD2-47FE-B88A-0472FB3FC17F}" type="datetimeFigureOut">
              <a:rPr lang="en-US"/>
              <a:pPr>
                <a:defRPr/>
              </a:pPr>
              <a:t>7/25/2009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3D4289C-8493-4E63-AF53-D90E3BD50D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6EE55AA-28B4-4551-B527-B786BD651246}" type="datetimeFigureOut">
              <a:rPr lang="en-US"/>
              <a:pPr>
                <a:defRPr/>
              </a:pPr>
              <a:t>7/25/2009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FDE667A-B541-42EB-AFA1-818156A26A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>
                <a:cs typeface="Arial" pitchFamily="34" charset="0"/>
              </a:rPr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cs typeface="+mn-cs"/>
              </a:rPr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9F18F26-F0A7-4867-9B50-B61B56729298}" type="datetimeFigureOut">
              <a:rPr lang="en-US"/>
              <a:pPr>
                <a:defRPr/>
              </a:pPr>
              <a:t>7/25/2009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69B1A13B-7143-457F-9A83-279316F5E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>
                <a:cs typeface="Arial" pitchFamily="34" charset="0"/>
              </a:rPr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4761283-92D1-465A-A9DE-39C1FE64F1B0}" type="datetimeFigureOut">
              <a:rPr lang="en-US"/>
              <a:pPr>
                <a:defRPr/>
              </a:pPr>
              <a:t>7/25/2009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EA57725-A5CD-4197-8D5F-07A59FCA78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DB4570B-824E-4710-9FE7-4999F7678D30}" type="datetimeFigureOut">
              <a:rPr lang="en-US"/>
              <a:pPr>
                <a:defRPr/>
              </a:pPr>
              <a:t>7/25/2009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8D5D752D-DB20-4E61-9C42-04CC536BC0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118F216-1DCA-4CBA-98DA-01F0A8D357B0}" type="datetimeFigureOut">
              <a:rPr lang="en-US"/>
              <a:pPr>
                <a:defRPr/>
              </a:pPr>
              <a:t>7/25/2009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86D9F4F0-59D6-4DAE-9DC1-E2C1EA9AEE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09276F0D-77EE-4E97-972A-77DC7C07586C}" type="datetimeFigureOut">
              <a:rPr lang="en-US"/>
              <a:pPr>
                <a:defRPr/>
              </a:pPr>
              <a:t>7/25/2009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9F7AB826-232E-4629-97E5-A4AD76A053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8403592-4301-49FE-AB1B-72F22E9A6758}" type="datetimeFigureOut">
              <a:rPr lang="en-US"/>
              <a:pPr>
                <a:defRPr/>
              </a:pPr>
              <a:t>7/25/2009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00D9CA1-F449-4B62-9FEE-53124E9D81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90ED000F-6DD7-4B8F-B405-AB2F688E2F27}" type="datetimeFigureOut">
              <a:rPr lang="en-US"/>
              <a:pPr>
                <a:defRPr/>
              </a:pPr>
              <a:t>7/25/2009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EDD0FC1-BF73-4473-9C32-E5565BB691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A3246C29-74FE-4BDE-BB7E-48B722A004D5}" type="datetimeFigureOut">
              <a:rPr lang="en-US"/>
              <a:pPr>
                <a:defRPr/>
              </a:pPr>
              <a:t>7/25/2009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D638F575-5C92-4641-AC7D-93565BB5F4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1E62F3E-EB45-4360-8B66-20490B5DFFFD}" type="datetimeFigureOut">
              <a:rPr lang="en-US"/>
              <a:pPr>
                <a:defRPr/>
              </a:pPr>
              <a:t>7/25/2009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6879031-AAC8-4347-9B22-7765580863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8B29E5D2-6DAA-4C51-856A-06DF7B1863BD}" type="datetimeFigureOut">
              <a:rPr lang="en-US"/>
              <a:pPr>
                <a:defRPr/>
              </a:pPr>
              <a:t>7/25/2009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9003868-752D-4AF2-80DC-EFC2BFBF8C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2C23AB1-A186-4D17-B0BE-DBDC6EFF55B7}" type="datetimeFigureOut">
              <a:rPr lang="en-US"/>
              <a:pPr>
                <a:defRPr/>
              </a:pPr>
              <a:t>7/25/2009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2">
                    <a:shade val="5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40CFA1D-0092-447C-A60E-2973D07A72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Shir Hadash</a:t>
            </a:r>
            <a:br>
              <a:rPr lang="en-US" b="1" dirty="0" smtClean="0"/>
            </a:br>
            <a:r>
              <a:rPr lang="en-US" b="1" dirty="0" smtClean="0"/>
              <a:t>Customer Focus Study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2800" y="3657600"/>
            <a:ext cx="2878710" cy="2366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>
                <a:latin typeface="+mj-lt"/>
                <a:ea typeface="+mj-ea"/>
                <a:cs typeface="+mj-cs"/>
              </a:rPr>
              <a:t>Outline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Current State</a:t>
            </a:r>
          </a:p>
          <a:p>
            <a:pPr lvl="0"/>
            <a:r>
              <a:rPr lang="en-US" sz="2400" dirty="0" smtClean="0"/>
              <a:t>Objectives</a:t>
            </a:r>
          </a:p>
          <a:p>
            <a:pPr lvl="0"/>
            <a:r>
              <a:rPr lang="en-US" sz="2400" dirty="0" smtClean="0"/>
              <a:t>Benefits</a:t>
            </a:r>
          </a:p>
          <a:p>
            <a:pPr lvl="0"/>
            <a:r>
              <a:rPr lang="en-US" sz="2400" dirty="0" smtClean="0"/>
              <a:t>Program Charter</a:t>
            </a:r>
          </a:p>
          <a:p>
            <a:r>
              <a:rPr lang="en-US" sz="2400" dirty="0" smtClean="0"/>
              <a:t>Program Roadmap</a:t>
            </a:r>
          </a:p>
          <a:p>
            <a:pPr lvl="0"/>
            <a:r>
              <a:rPr lang="en-US" sz="2400" dirty="0" smtClean="0"/>
              <a:t>Program Governance</a:t>
            </a:r>
          </a:p>
          <a:p>
            <a:pPr lvl="0"/>
            <a:r>
              <a:rPr lang="en-US" sz="2400" dirty="0" smtClean="0"/>
              <a:t>Staffing Plan</a:t>
            </a:r>
          </a:p>
          <a:p>
            <a:pPr lvl="0"/>
            <a:r>
              <a:rPr lang="en-US" sz="2400" dirty="0" smtClean="0"/>
              <a:t>Funding Plan</a:t>
            </a:r>
          </a:p>
          <a:p>
            <a:endParaRPr lang="en-US" sz="2400" dirty="0" smtClean="0"/>
          </a:p>
          <a:p>
            <a:r>
              <a:rPr lang="en-US" sz="2400" dirty="0" smtClean="0"/>
              <a:t>Project 1 Overview</a:t>
            </a:r>
            <a:endParaRPr lang="en-US" sz="2400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57200" y="5029200"/>
            <a:ext cx="4419600" cy="0"/>
          </a:xfrm>
          <a:prstGeom prst="line">
            <a:avLst/>
          </a:prstGeom>
          <a:ln w="57150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Current State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95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400" dirty="0" smtClean="0"/>
              <a:t>Shir Hadash is located in one of the most densely populated Jewish areas in the nation, yet it continues to struggle with attracting new members.</a:t>
            </a:r>
          </a:p>
          <a:p>
            <a:pPr eaLnBrk="1" hangingPunct="1"/>
            <a:r>
              <a:rPr lang="en-US" sz="2400" dirty="0" smtClean="0"/>
              <a:t>Membership retention continues to plague the organization (especially with families who bar/bat mitzvah their children). </a:t>
            </a:r>
          </a:p>
          <a:p>
            <a:pPr eaLnBrk="1" hangingPunct="1"/>
            <a:r>
              <a:rPr lang="en-US" sz="2400" dirty="0" smtClean="0"/>
              <a:t>The value proposition for products &amp; services is not clear.</a:t>
            </a:r>
          </a:p>
          <a:p>
            <a:pPr eaLnBrk="1" hangingPunct="1"/>
            <a:r>
              <a:rPr lang="en-US" sz="2400" dirty="0" smtClean="0"/>
              <a:t>Reconstructionist congregations are based on participation, but most of the volunteers come from the same individuals.</a:t>
            </a:r>
          </a:p>
          <a:p>
            <a:pPr eaLnBrk="1" hangingPunct="1"/>
            <a:r>
              <a:rPr lang="en-US" sz="2400" dirty="0" smtClean="0"/>
              <a:t>The current economic downturn has put increased pressure on our budget and revenue opportunities.</a:t>
            </a:r>
          </a:p>
          <a:p>
            <a:pPr eaLnBrk="1" hangingPunct="1"/>
            <a:r>
              <a:rPr lang="en-US" sz="2400" dirty="0" smtClean="0"/>
              <a:t>We are not able to pursue a building due to our limited financial capabilities.</a:t>
            </a:r>
          </a:p>
          <a:p>
            <a:pPr eaLnBrk="1" hangingPunct="1"/>
            <a:endParaRPr lang="en-US" sz="24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Objectives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Leverage a disciplined approach for understanding what customers (member, prior members, and non-members) want from a Reconstructionist Congregation.</a:t>
            </a:r>
          </a:p>
          <a:p>
            <a:r>
              <a:rPr lang="en-US" sz="2400" dirty="0" smtClean="0"/>
              <a:t>Build a repeatable process for SH to measure how well their products &amp; service address the desired customer outcomes.</a:t>
            </a:r>
          </a:p>
          <a:p>
            <a:pPr eaLnBrk="1" hangingPunct="1"/>
            <a:r>
              <a:rPr lang="en-US" sz="2400" dirty="0" smtClean="0"/>
              <a:t>Rationalize the existing products &amp; services to assess how well SH is addressing the value needs of customers today. </a:t>
            </a:r>
          </a:p>
          <a:p>
            <a:pPr eaLnBrk="1" hangingPunct="1"/>
            <a:r>
              <a:rPr lang="en-US" sz="2400" dirty="0" smtClean="0"/>
              <a:t>Provide a discipline for SH leadership to identify and prioritize future opportunities to build loyalty with existing members and attract new members.</a:t>
            </a:r>
          </a:p>
          <a:p>
            <a:pPr eaLnBrk="1" hangingPunct="1"/>
            <a:r>
              <a:rPr lang="en-US" sz="2400" dirty="0" smtClean="0"/>
              <a:t>Introduce a set of tools for SH leadership to create the right products &amp; services to address the future opportunities.</a:t>
            </a:r>
          </a:p>
          <a:p>
            <a:pPr eaLnBrk="1" hangingPunct="1"/>
            <a:endParaRPr lang="en-US" sz="24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Scope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president &amp; board of directors approved the following 3 areas to be studied:</a:t>
            </a:r>
          </a:p>
          <a:p>
            <a:pPr lvl="1"/>
            <a:r>
              <a:rPr lang="en-US" sz="2000" dirty="0" smtClean="0"/>
              <a:t>Religious Services</a:t>
            </a:r>
          </a:p>
          <a:p>
            <a:pPr lvl="2"/>
            <a:r>
              <a:rPr lang="en-US" sz="1800" dirty="0" smtClean="0"/>
              <a:t>Friday night services</a:t>
            </a:r>
          </a:p>
          <a:p>
            <a:pPr lvl="2"/>
            <a:r>
              <a:rPr lang="en-US" sz="1800" dirty="0" smtClean="0"/>
              <a:t>High Holiday services</a:t>
            </a:r>
          </a:p>
          <a:p>
            <a:pPr lvl="2"/>
            <a:r>
              <a:rPr lang="en-US" sz="1800" dirty="0" smtClean="0"/>
              <a:t>Bar/Bat Mitzvah services</a:t>
            </a:r>
          </a:p>
          <a:p>
            <a:pPr lvl="1"/>
            <a:r>
              <a:rPr lang="en-US" sz="2000" dirty="0" smtClean="0"/>
              <a:t>Community Services</a:t>
            </a:r>
          </a:p>
          <a:p>
            <a:pPr lvl="2"/>
            <a:r>
              <a:rPr lang="en-US" sz="1800" dirty="0" smtClean="0"/>
              <a:t>Membership outreach </a:t>
            </a:r>
          </a:p>
          <a:p>
            <a:pPr lvl="2"/>
            <a:r>
              <a:rPr lang="en-US" sz="1800" dirty="0" smtClean="0"/>
              <a:t>Membership </a:t>
            </a:r>
            <a:r>
              <a:rPr lang="en-US" sz="1800" dirty="0" err="1" smtClean="0"/>
              <a:t>inreach</a:t>
            </a:r>
            <a:endParaRPr lang="en-US" sz="1800" dirty="0" smtClean="0"/>
          </a:p>
          <a:p>
            <a:pPr lvl="1"/>
            <a:r>
              <a:rPr lang="en-US" sz="2000" dirty="0" smtClean="0"/>
              <a:t>Educational Services</a:t>
            </a:r>
          </a:p>
          <a:p>
            <a:pPr lvl="2"/>
            <a:r>
              <a:rPr lang="en-US" sz="1800" dirty="0" smtClean="0"/>
              <a:t>Religious School</a:t>
            </a:r>
          </a:p>
          <a:p>
            <a:pPr lvl="2"/>
            <a:r>
              <a:rPr lang="en-US" sz="1800" dirty="0" smtClean="0"/>
              <a:t>Continuing education for post mitzvah</a:t>
            </a:r>
          </a:p>
          <a:p>
            <a:pPr lvl="2"/>
            <a:r>
              <a:rPr lang="en-US" sz="1800" dirty="0" smtClean="0"/>
              <a:t>Continuing education for adults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Approach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990600" y="1397000"/>
          <a:ext cx="723900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Benefits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Improve the value delivered by SH for:</a:t>
            </a:r>
          </a:p>
          <a:p>
            <a:pPr lvl="1"/>
            <a:r>
              <a:rPr lang="en-US" sz="2000" dirty="0" smtClean="0"/>
              <a:t>Religious Services</a:t>
            </a:r>
            <a:endParaRPr lang="en-US" sz="1600" dirty="0" smtClean="0"/>
          </a:p>
          <a:p>
            <a:pPr lvl="1"/>
            <a:r>
              <a:rPr lang="en-US" sz="2000" dirty="0" smtClean="0"/>
              <a:t>Community Services</a:t>
            </a:r>
          </a:p>
          <a:p>
            <a:pPr lvl="1"/>
            <a:r>
              <a:rPr lang="en-US" sz="2000" dirty="0" smtClean="0"/>
              <a:t>Education Services</a:t>
            </a:r>
          </a:p>
          <a:p>
            <a:r>
              <a:rPr lang="en-US" sz="2400" dirty="0" smtClean="0"/>
              <a:t>Provide SH with a disciplined and repeatable process for measuring the value of their services (w/in the above scope) going forward.  </a:t>
            </a:r>
          </a:p>
          <a:p>
            <a:r>
              <a:rPr lang="en-US" sz="2400" dirty="0" smtClean="0"/>
              <a:t>Leverage available resources in a more efficient manner to build a loyalty program for improving membership retention and attracting prior members and new members.</a:t>
            </a:r>
          </a:p>
          <a:p>
            <a:r>
              <a:rPr lang="en-US" sz="2400" dirty="0" smtClean="0"/>
              <a:t>Establish a pipeline of opportunities to engage SH leaders and members to create new ideas used to deliver new products &amp; services in the future. 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275BC4-3E8D-4536-AC7F-3B31C1E880D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838200" y="2282825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Project</a:t>
            </a:r>
            <a:r>
              <a:rPr kumimoji="0" lang="en-US" sz="4800" b="1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Overview</a:t>
            </a:r>
            <a:endParaRPr kumimoji="0" lang="en-US" sz="48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/>
              <a:t>Program Charter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  <p:graphicFrame>
        <p:nvGraphicFramePr>
          <p:cNvPr id="6" name="Group 951"/>
          <p:cNvGraphicFramePr>
            <a:graphicFrameLocks noGrp="1"/>
          </p:cNvGraphicFramePr>
          <p:nvPr/>
        </p:nvGraphicFramePr>
        <p:xfrm>
          <a:off x="152400" y="1752601"/>
          <a:ext cx="8839200" cy="4453213"/>
        </p:xfrm>
        <a:graphic>
          <a:graphicData uri="http://schemas.openxmlformats.org/drawingml/2006/table">
            <a:tbl>
              <a:tblPr/>
              <a:tblGrid>
                <a:gridCol w="1448170"/>
                <a:gridCol w="2971430"/>
                <a:gridCol w="1524452"/>
                <a:gridCol w="2895148"/>
              </a:tblGrid>
              <a:tr h="522700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Program Charter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Developing New Products &amp; Services to drive membership for SH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4378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Number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SH - 001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Charter Date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August 21</a:t>
                      </a:r>
                      <a:r>
                        <a:rPr kumimoji="0" lang="en-US" sz="11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2009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4378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Program Sponsor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SH Board of Directors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Program Director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Jeff Wallk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905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Program Scope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Design and implement a customer focus framework for capturing and modeling metrics used to model the outcomes for customers and a set of metrics for which to benchmark the products &amp; services delivered by EA practitioners.\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349475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Objectives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Implement a customer focus methodology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Create a reference model for identifying customer outcomes and metrics for measuring value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Define a complete list of jobs performed by members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Create a repository of customer outcomes &amp; value metrics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Develop a process to prioritize and align the outcomes &amp; metrics with GAPS in products &amp; services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Develop a licensing program to promote the usage of outcomes &amp; drive revenue for CAEAP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85562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Governance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Establish a steering committee with members from the BOD and Practice Worksttream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Create a small team of dedicated trained resources to staff each project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lead will be the Program Director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Steering Committee will approve scope, program objectives, and  project deliverables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(Note:  Each project represents 1 job that will be studied to capture the outcomes &amp; value metrics 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Program Roadmap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Q3 2009</a:t>
            </a:r>
          </a:p>
          <a:p>
            <a:pPr lvl="1"/>
            <a:r>
              <a:rPr lang="en-US" sz="2000" dirty="0" smtClean="0"/>
              <a:t>Draft the proposal for the work stream</a:t>
            </a:r>
          </a:p>
          <a:p>
            <a:pPr lvl="1"/>
            <a:r>
              <a:rPr lang="en-US" sz="2000" dirty="0" smtClean="0"/>
              <a:t>Obtain approval from SH leadership</a:t>
            </a:r>
          </a:p>
          <a:p>
            <a:pPr lvl="1"/>
            <a:r>
              <a:rPr lang="en-US" sz="2000" dirty="0" smtClean="0"/>
              <a:t>Build a steering committee for the program</a:t>
            </a:r>
          </a:p>
          <a:p>
            <a:pPr lvl="1"/>
            <a:r>
              <a:rPr lang="en-US" sz="2000" dirty="0" smtClean="0"/>
              <a:t>Finalize scope for the program</a:t>
            </a:r>
          </a:p>
          <a:p>
            <a:pPr lvl="0"/>
            <a:r>
              <a:rPr lang="en-US" sz="2400" dirty="0" smtClean="0"/>
              <a:t>Q4 2009</a:t>
            </a:r>
          </a:p>
          <a:p>
            <a:pPr lvl="1"/>
            <a:r>
              <a:rPr lang="en-US" sz="2000" dirty="0" smtClean="0"/>
              <a:t>Conduct a Job Study (w/ program scope)</a:t>
            </a:r>
          </a:p>
          <a:p>
            <a:pPr lvl="1"/>
            <a:r>
              <a:rPr lang="en-US" sz="2000" dirty="0" smtClean="0"/>
              <a:t>Prioritize the list of jobs </a:t>
            </a:r>
          </a:p>
          <a:p>
            <a:pPr lvl="1"/>
            <a:r>
              <a:rPr lang="en-US" sz="2000" dirty="0" smtClean="0"/>
              <a:t>Communicate to </a:t>
            </a:r>
            <a:r>
              <a:rPr lang="en-US" sz="2000" smtClean="0"/>
              <a:t>the organization</a:t>
            </a:r>
          </a:p>
          <a:p>
            <a:pPr lvl="1"/>
            <a:r>
              <a:rPr lang="en-US" sz="2000" dirty="0" smtClean="0"/>
              <a:t>Finalize project schedule </a:t>
            </a:r>
          </a:p>
          <a:p>
            <a:pPr lvl="1"/>
            <a:r>
              <a:rPr lang="en-US" sz="2000" dirty="0" smtClean="0"/>
              <a:t>Draft resources for the project team</a:t>
            </a:r>
          </a:p>
          <a:p>
            <a:pPr lvl="1"/>
            <a:r>
              <a:rPr lang="en-US" sz="2000" dirty="0" smtClean="0"/>
              <a:t>Begin work on initial deliverables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Program Roadmap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400" dirty="0" smtClean="0"/>
              <a:t>Q1 2010</a:t>
            </a:r>
          </a:p>
          <a:p>
            <a:pPr lvl="1"/>
            <a:r>
              <a:rPr lang="en-US" sz="2000" dirty="0" smtClean="0"/>
              <a:t>Complete qualitative study for Project 1</a:t>
            </a:r>
          </a:p>
          <a:p>
            <a:pPr lvl="1"/>
            <a:r>
              <a:rPr lang="en-US" sz="2000" dirty="0" smtClean="0"/>
              <a:t>Complete quantitative study for Project 1</a:t>
            </a:r>
          </a:p>
          <a:p>
            <a:pPr lvl="1"/>
            <a:r>
              <a:rPr lang="en-US" sz="2000" dirty="0" smtClean="0"/>
              <a:t>Conduct analysis of Project 1 results</a:t>
            </a:r>
          </a:p>
          <a:p>
            <a:pPr lvl="1"/>
            <a:r>
              <a:rPr lang="en-US" sz="2000" dirty="0" smtClean="0"/>
              <a:t>Present Project 1 results to SH leadership</a:t>
            </a:r>
          </a:p>
          <a:p>
            <a:pPr lvl="1"/>
            <a:r>
              <a:rPr lang="en-US" sz="2000" dirty="0" smtClean="0"/>
              <a:t>Publish results for Project 1 to Public</a:t>
            </a:r>
          </a:p>
          <a:p>
            <a:pPr lvl="1"/>
            <a:r>
              <a:rPr lang="en-US" sz="2000" dirty="0" smtClean="0"/>
              <a:t>Conduct ideation to identify new products &amp; services</a:t>
            </a:r>
          </a:p>
          <a:p>
            <a:pPr lvl="1"/>
            <a:r>
              <a:rPr lang="en-US" sz="2000" dirty="0" smtClean="0"/>
              <a:t>Present ideas to SH Board for review &amp; approval</a:t>
            </a:r>
          </a:p>
          <a:p>
            <a:r>
              <a:rPr lang="en-US" sz="2400" dirty="0" smtClean="0"/>
              <a:t>Q2 2010</a:t>
            </a:r>
          </a:p>
          <a:p>
            <a:pPr lvl="1"/>
            <a:r>
              <a:rPr lang="en-US" sz="2000" dirty="0" smtClean="0"/>
              <a:t>Develop new products &amp; services</a:t>
            </a:r>
          </a:p>
          <a:p>
            <a:pPr lvl="1"/>
            <a:r>
              <a:rPr lang="en-US" sz="2000" dirty="0" smtClean="0"/>
              <a:t>Move forward with next project(s)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Program Governance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143000" y="1600200"/>
          <a:ext cx="7162800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Staffing Plan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Steering Committee</a:t>
            </a:r>
          </a:p>
          <a:p>
            <a:pPr lvl="1"/>
            <a:r>
              <a:rPr lang="en-US" sz="2000" dirty="0" smtClean="0"/>
              <a:t>Jeff Wallk</a:t>
            </a:r>
          </a:p>
          <a:p>
            <a:pPr lvl="1"/>
            <a:r>
              <a:rPr lang="en-US" sz="2000" dirty="0" smtClean="0"/>
              <a:t>Kaye </a:t>
            </a:r>
            <a:r>
              <a:rPr lang="en-US" sz="2000" dirty="0" err="1" smtClean="0"/>
              <a:t>Kharach</a:t>
            </a:r>
            <a:endParaRPr lang="en-US" sz="2000" dirty="0" smtClean="0"/>
          </a:p>
          <a:p>
            <a:pPr lvl="1"/>
            <a:r>
              <a:rPr lang="en-US" sz="2000" dirty="0" smtClean="0"/>
              <a:t>Molly Michaels</a:t>
            </a:r>
          </a:p>
          <a:p>
            <a:pPr lvl="1"/>
            <a:r>
              <a:rPr lang="en-US" sz="2000" dirty="0" smtClean="0"/>
              <a:t>Jill </a:t>
            </a:r>
            <a:r>
              <a:rPr lang="en-US" sz="2000" dirty="0" err="1" smtClean="0"/>
              <a:t>Antoni</a:t>
            </a:r>
            <a:endParaRPr lang="en-US" sz="2000" dirty="0" smtClean="0"/>
          </a:p>
          <a:p>
            <a:pPr lvl="1"/>
            <a:r>
              <a:rPr lang="en-US" sz="2000" dirty="0" smtClean="0"/>
              <a:t>Melanie Andes</a:t>
            </a:r>
          </a:p>
          <a:p>
            <a:pPr lvl="1"/>
            <a:endParaRPr lang="en-US" sz="2000" dirty="0" smtClean="0"/>
          </a:p>
          <a:p>
            <a:pPr lvl="0"/>
            <a:r>
              <a:rPr lang="en-US" sz="2400" dirty="0" smtClean="0"/>
              <a:t>Project Team</a:t>
            </a:r>
          </a:p>
          <a:p>
            <a:pPr lvl="1"/>
            <a:r>
              <a:rPr lang="en-US" sz="2000" dirty="0" smtClean="0"/>
              <a:t>Jeff Wallk    (commitment of 10 hours / week)</a:t>
            </a:r>
          </a:p>
          <a:p>
            <a:pPr lvl="1"/>
            <a:r>
              <a:rPr lang="en-US" sz="2000" dirty="0" smtClean="0"/>
              <a:t>Volunteer 1 (commitment of 6 hours / week)</a:t>
            </a:r>
          </a:p>
          <a:p>
            <a:pPr lvl="1"/>
            <a:r>
              <a:rPr lang="en-US" sz="2000" dirty="0" smtClean="0"/>
              <a:t>Volunteer 2 (commitment of 4 hours / week)</a:t>
            </a:r>
          </a:p>
          <a:p>
            <a:pPr lvl="1"/>
            <a:endParaRPr lang="en-US" sz="20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Funding Plan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The project is positioned as a zero cost since SH has no available funding dollars for the study in 2009.   However, there are other options we may want to pursue:</a:t>
            </a:r>
            <a:endParaRPr lang="en-US" sz="2400" dirty="0" smtClean="0"/>
          </a:p>
          <a:p>
            <a:pPr lvl="0">
              <a:buNone/>
            </a:pPr>
            <a:endParaRPr lang="en-US" sz="2400" dirty="0" smtClean="0"/>
          </a:p>
          <a:p>
            <a:pPr lvl="1"/>
            <a:r>
              <a:rPr lang="en-US" sz="2000" dirty="0" smtClean="0"/>
              <a:t>Reach out to JRF (Jewish Reconstructionist Federation) for funding and/or grant monies.</a:t>
            </a:r>
          </a:p>
          <a:p>
            <a:pPr lvl="2"/>
            <a:r>
              <a:rPr lang="en-US" sz="1600" dirty="0" smtClean="0"/>
              <a:t>Value prop (share insights w/ JRF, doesn’t impact existing members)</a:t>
            </a:r>
            <a:endParaRPr lang="en-US" sz="1600" dirty="0" smtClean="0"/>
          </a:p>
          <a:p>
            <a:pPr lvl="1"/>
            <a:r>
              <a:rPr lang="en-US" sz="2000" dirty="0" smtClean="0"/>
              <a:t>Seek funding from the existing membership</a:t>
            </a:r>
          </a:p>
          <a:p>
            <a:pPr lvl="2"/>
            <a:r>
              <a:rPr lang="en-US" sz="1600" dirty="0" smtClean="0"/>
              <a:t>Value prop (better products &amp; service delivery)</a:t>
            </a:r>
            <a:endParaRPr lang="en-US" sz="1600" dirty="0" smtClean="0"/>
          </a:p>
          <a:p>
            <a:pPr lvl="1"/>
            <a:r>
              <a:rPr lang="en-US" sz="2000" dirty="0" smtClean="0"/>
              <a:t>Seek funding from Government sources (grant money)</a:t>
            </a:r>
            <a:endParaRPr lang="en-US" sz="1200" dirty="0" smtClean="0"/>
          </a:p>
          <a:p>
            <a:pPr lvl="2"/>
            <a:r>
              <a:rPr lang="en-US" sz="1600" dirty="0" smtClean="0"/>
              <a:t>Value prop (doesn’t impact existing members)</a:t>
            </a:r>
          </a:p>
          <a:p>
            <a:pPr lvl="1"/>
            <a:r>
              <a:rPr lang="en-US" sz="2000" dirty="0" smtClean="0"/>
              <a:t>Obtain funding in the 2010 budget</a:t>
            </a:r>
          </a:p>
          <a:p>
            <a:pPr lvl="2"/>
            <a:r>
              <a:rPr lang="en-US" sz="1600" dirty="0" smtClean="0"/>
              <a:t>Long shot…but might be worth a shot if we can demonstrate value in 2009.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Key Milestones &amp; </a:t>
            </a:r>
            <a:r>
              <a:rPr lang="en-US" kern="1200" dirty="0" err="1" smtClean="0">
                <a:latin typeface="+mj-lt"/>
                <a:ea typeface="+mj-ea"/>
                <a:cs typeface="+mj-cs"/>
              </a:rPr>
              <a:t>Delierables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Qualitative Phase:</a:t>
            </a:r>
          </a:p>
          <a:p>
            <a:pPr lvl="1"/>
            <a:r>
              <a:rPr lang="en-US" sz="2000" dirty="0" smtClean="0"/>
              <a:t>Job Study for Project Scope</a:t>
            </a:r>
          </a:p>
          <a:p>
            <a:pPr lvl="1"/>
            <a:r>
              <a:rPr lang="en-US" sz="2000" dirty="0" smtClean="0"/>
              <a:t>Prioritize the jobs to study</a:t>
            </a:r>
          </a:p>
          <a:p>
            <a:pPr lvl="1"/>
            <a:r>
              <a:rPr lang="en-US" sz="2000" dirty="0" smtClean="0"/>
              <a:t>Develop an interview plan</a:t>
            </a:r>
          </a:p>
          <a:p>
            <a:pPr lvl="1"/>
            <a:r>
              <a:rPr lang="en-US" sz="2000" dirty="0" smtClean="0"/>
              <a:t>Conduct interviews (capture outcomes)</a:t>
            </a:r>
          </a:p>
          <a:p>
            <a:pPr lvl="1"/>
            <a:r>
              <a:rPr lang="en-US" sz="2000" dirty="0" smtClean="0"/>
              <a:t>Analyze outcomes &amp; complete analysis</a:t>
            </a:r>
          </a:p>
          <a:p>
            <a:pPr lvl="0"/>
            <a:r>
              <a:rPr lang="en-US" sz="2400" dirty="0" smtClean="0"/>
              <a:t>Quantitative Phase:</a:t>
            </a:r>
          </a:p>
          <a:p>
            <a:pPr lvl="1"/>
            <a:r>
              <a:rPr lang="en-US" sz="2000" dirty="0" smtClean="0"/>
              <a:t>Draft survey (using outcomes)</a:t>
            </a:r>
          </a:p>
          <a:p>
            <a:pPr lvl="1"/>
            <a:r>
              <a:rPr lang="en-US" sz="2000" dirty="0" smtClean="0"/>
              <a:t>Conduct survey (measure outcomes)</a:t>
            </a:r>
          </a:p>
          <a:p>
            <a:pPr lvl="1"/>
            <a:r>
              <a:rPr lang="en-US" sz="2000" dirty="0" smtClean="0"/>
              <a:t>Analyze results &amp; identify opportunities</a:t>
            </a:r>
          </a:p>
          <a:p>
            <a:pPr lvl="0"/>
            <a:r>
              <a:rPr lang="en-US" sz="2400" dirty="0" smtClean="0"/>
              <a:t>Present findings to Board of Directors (BOD)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705600" y="1676400"/>
            <a:ext cx="1447800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>
              <a:buNone/>
            </a:pPr>
            <a:r>
              <a:rPr lang="en-US" sz="14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Based on the </a:t>
            </a:r>
            <a:r>
              <a:rPr lang="en-US" sz="1400" b="1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Strategyn</a:t>
            </a:r>
            <a:r>
              <a:rPr lang="en-US" sz="14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Methodology (see appendix)</a:t>
            </a:r>
            <a:endParaRPr lang="en-US" sz="1400" b="1" dirty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Key Milestones &amp; </a:t>
            </a:r>
            <a:r>
              <a:rPr lang="en-US" kern="1200" dirty="0" err="1" smtClean="0">
                <a:latin typeface="+mj-lt"/>
                <a:ea typeface="+mj-ea"/>
                <a:cs typeface="+mj-cs"/>
              </a:rPr>
              <a:t>Delierables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Establishing the opportunity pipeline</a:t>
            </a:r>
          </a:p>
          <a:p>
            <a:pPr lvl="1"/>
            <a:r>
              <a:rPr lang="en-US" sz="2000" dirty="0" smtClean="0"/>
              <a:t>Prioritize the list of opportunities</a:t>
            </a:r>
          </a:p>
          <a:p>
            <a:pPr lvl="1"/>
            <a:r>
              <a:rPr lang="en-US" sz="2000" dirty="0" smtClean="0"/>
              <a:t>Introduce tools for generating ideas (to address opportunities)</a:t>
            </a:r>
          </a:p>
          <a:p>
            <a:pPr lvl="1"/>
            <a:r>
              <a:rPr lang="en-US" sz="2000" dirty="0" smtClean="0"/>
              <a:t>Conduct an open innovation competition (to generate ideas)</a:t>
            </a:r>
          </a:p>
          <a:p>
            <a:pPr lvl="1"/>
            <a:r>
              <a:rPr lang="en-US" sz="2000" dirty="0" smtClean="0"/>
              <a:t>Steering Committee to select the best ideas </a:t>
            </a:r>
          </a:p>
          <a:p>
            <a:pPr lvl="2"/>
            <a:r>
              <a:rPr lang="en-US" sz="1600" dirty="0" smtClean="0"/>
              <a:t>Provide recognition to contestants</a:t>
            </a:r>
          </a:p>
          <a:p>
            <a:pPr lvl="2"/>
            <a:r>
              <a:rPr lang="en-US" sz="1600" dirty="0" smtClean="0"/>
              <a:t>Select the best ideas &amp; agree upon list of recommendations to pursue</a:t>
            </a:r>
          </a:p>
          <a:p>
            <a:pPr lvl="1"/>
            <a:r>
              <a:rPr lang="en-US" sz="2000" dirty="0" smtClean="0"/>
              <a:t>Present top ideas to SH Board with recommendations</a:t>
            </a:r>
          </a:p>
          <a:p>
            <a:r>
              <a:rPr lang="en-US" sz="2400" dirty="0" smtClean="0"/>
              <a:t>Transition ideas to innovation</a:t>
            </a:r>
          </a:p>
          <a:p>
            <a:pPr lvl="1"/>
            <a:r>
              <a:rPr lang="en-US" sz="2000" dirty="0" smtClean="0"/>
              <a:t>Gain board approval to pursue recommendations</a:t>
            </a:r>
          </a:p>
          <a:p>
            <a:pPr lvl="1"/>
            <a:r>
              <a:rPr lang="en-US" sz="2000" dirty="0" smtClean="0"/>
              <a:t>Board assigns ownership to develop &amp; implement changes</a:t>
            </a:r>
          </a:p>
          <a:p>
            <a:pPr lvl="2"/>
            <a:r>
              <a:rPr lang="en-US" sz="1600" dirty="0" smtClean="0"/>
              <a:t>Create new products &amp; services</a:t>
            </a:r>
          </a:p>
          <a:p>
            <a:pPr lvl="2"/>
            <a:r>
              <a:rPr lang="en-US" sz="1600" dirty="0" smtClean="0"/>
              <a:t>Modify existing products &amp; services</a:t>
            </a:r>
          </a:p>
          <a:p>
            <a:pPr lvl="2"/>
            <a:r>
              <a:rPr lang="en-US" sz="1600" dirty="0" smtClean="0"/>
              <a:t>Eliminate existing products &amp; services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275BC4-3E8D-4536-AC7F-3B31C1E880D7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838200" y="2282825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Appendix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dirty="0" smtClean="0">
                <a:solidFill>
                  <a:schemeClr val="tx2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(Overview of </a:t>
            </a:r>
            <a:r>
              <a:rPr lang="en-US" sz="2400" b="1" kern="0" dirty="0" err="1" smtClean="0">
                <a:solidFill>
                  <a:schemeClr val="tx2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Strategyn</a:t>
            </a:r>
            <a:r>
              <a:rPr lang="en-US" sz="2400" b="1" kern="0" dirty="0" smtClean="0">
                <a:solidFill>
                  <a:schemeClr val="tx2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Methodology)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What is a Job ?</a:t>
            </a:r>
            <a:endParaRPr lang="en-US" sz="4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275BC4-3E8D-4536-AC7F-3B31C1E880D7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685233"/>
            <a:ext cx="7239000" cy="4791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outcomes 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676400"/>
            <a:ext cx="7433408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Model for Relating Jobs &amp; Outcomes</a:t>
            </a:r>
            <a:endParaRPr lang="en-US" sz="3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676400"/>
            <a:ext cx="6136087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Capturing &amp; Measuring Value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981200"/>
            <a:ext cx="8247063" cy="399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Identifying &amp; Prioritizing Opportunities</a:t>
            </a:r>
            <a:endParaRPr lang="en-US" sz="3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1166" y="1676400"/>
            <a:ext cx="7029184" cy="496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</a:t>
            </a:r>
            <a:r>
              <a:rPr lang="en-US" sz="2400" b="1" dirty="0" smtClean="0"/>
              <a:t>Job of Storing &amp; Retrieving Music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696718"/>
            <a:ext cx="6427787" cy="4856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5099</TotalTime>
  <Words>1123</Words>
  <Application>Microsoft Office PowerPoint</Application>
  <PresentationFormat>On-screen Show (4:3)</PresentationFormat>
  <Paragraphs>190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VEG</vt:lpstr>
      <vt:lpstr>Shir Hadash Customer Focus Study</vt:lpstr>
      <vt:lpstr>Outline</vt:lpstr>
      <vt:lpstr>Current State</vt:lpstr>
      <vt:lpstr>Objectives</vt:lpstr>
      <vt:lpstr>Scope</vt:lpstr>
      <vt:lpstr>Approach</vt:lpstr>
      <vt:lpstr>Benefits</vt:lpstr>
      <vt:lpstr>Slide 8</vt:lpstr>
      <vt:lpstr>Program Charter</vt:lpstr>
      <vt:lpstr>Program Roadmap</vt:lpstr>
      <vt:lpstr>Program Roadmap</vt:lpstr>
      <vt:lpstr>Program Governance</vt:lpstr>
      <vt:lpstr>Staffing Plan</vt:lpstr>
      <vt:lpstr>Funding Plan</vt:lpstr>
      <vt:lpstr>Key Milestones &amp; Delierables</vt:lpstr>
      <vt:lpstr>Key Milestones &amp; Delierables</vt:lpstr>
      <vt:lpstr>Slide 17</vt:lpstr>
      <vt:lpstr>What is a Job ?</vt:lpstr>
      <vt:lpstr>What are outcomes ?</vt:lpstr>
      <vt:lpstr>Model for Relating Jobs &amp; Outcomes</vt:lpstr>
      <vt:lpstr>Capturing &amp; Measuring Value</vt:lpstr>
      <vt:lpstr>Identifying &amp; Prioritizing Opportunities</vt:lpstr>
      <vt:lpstr>Example: Job of Storing &amp; Retrieving Music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jw</cp:lastModifiedBy>
  <cp:revision>28</cp:revision>
  <dcterms:created xsi:type="dcterms:W3CDTF">2009-06-09T11:36:35Z</dcterms:created>
  <dcterms:modified xsi:type="dcterms:W3CDTF">2009-07-25T16:23:13Z</dcterms:modified>
</cp:coreProperties>
</file>